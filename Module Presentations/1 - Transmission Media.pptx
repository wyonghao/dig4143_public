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71"/>
  </p:notesMasterIdLst>
  <p:handoutMasterIdLst>
    <p:handoutMasterId r:id="rId72"/>
  </p:handoutMasterIdLst>
  <p:sldIdLst>
    <p:sldId id="256" r:id="rId3"/>
    <p:sldId id="676" r:id="rId4"/>
    <p:sldId id="447" r:id="rId5"/>
    <p:sldId id="599" r:id="rId6"/>
    <p:sldId id="601" r:id="rId7"/>
    <p:sldId id="292" r:id="rId8"/>
    <p:sldId id="293" r:id="rId9"/>
    <p:sldId id="294" r:id="rId10"/>
    <p:sldId id="295" r:id="rId11"/>
    <p:sldId id="673" r:id="rId12"/>
    <p:sldId id="296" r:id="rId13"/>
    <p:sldId id="297" r:id="rId14"/>
    <p:sldId id="298" r:id="rId15"/>
    <p:sldId id="299" r:id="rId16"/>
    <p:sldId id="660" r:id="rId17"/>
    <p:sldId id="658" r:id="rId18"/>
    <p:sldId id="300" r:id="rId19"/>
    <p:sldId id="301" r:id="rId20"/>
    <p:sldId id="302" r:id="rId21"/>
    <p:sldId id="661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647" r:id="rId36"/>
    <p:sldId id="318" r:id="rId37"/>
    <p:sldId id="670" r:id="rId38"/>
    <p:sldId id="669" r:id="rId39"/>
    <p:sldId id="319" r:id="rId40"/>
    <p:sldId id="320" r:id="rId41"/>
    <p:sldId id="674" r:id="rId42"/>
    <p:sldId id="421" r:id="rId43"/>
    <p:sldId id="322" r:id="rId44"/>
    <p:sldId id="435" r:id="rId45"/>
    <p:sldId id="436" r:id="rId46"/>
    <p:sldId id="424" r:id="rId47"/>
    <p:sldId id="425" r:id="rId48"/>
    <p:sldId id="426" r:id="rId49"/>
    <p:sldId id="668" r:id="rId50"/>
    <p:sldId id="665" r:id="rId51"/>
    <p:sldId id="675" r:id="rId52"/>
    <p:sldId id="321" r:id="rId53"/>
    <p:sldId id="652" r:id="rId54"/>
    <p:sldId id="325" r:id="rId55"/>
    <p:sldId id="324" r:id="rId56"/>
    <p:sldId id="335" r:id="rId57"/>
    <p:sldId id="336" r:id="rId58"/>
    <p:sldId id="672" r:id="rId59"/>
    <p:sldId id="278" r:id="rId60"/>
    <p:sldId id="283" r:id="rId61"/>
    <p:sldId id="284" r:id="rId62"/>
    <p:sldId id="285" r:id="rId63"/>
    <p:sldId id="286" r:id="rId64"/>
    <p:sldId id="287" r:id="rId65"/>
    <p:sldId id="288" r:id="rId66"/>
    <p:sldId id="289" r:id="rId67"/>
    <p:sldId id="290" r:id="rId68"/>
    <p:sldId id="291" r:id="rId69"/>
    <p:sldId id="281" r:id="rId70"/>
  </p:sldIdLst>
  <p:sldSz cx="9144000" cy="6858000" type="screen4x3"/>
  <p:notesSz cx="6797675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800000"/>
    <a:srgbClr val="FFFFCC"/>
    <a:srgbClr val="CCECFF"/>
    <a:srgbClr val="99CCFF"/>
    <a:srgbClr val="663300"/>
    <a:srgbClr val="99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83F06-64F5-48E7-AB06-769D3F54CD6E}" v="3" dt="2021-04-19T06:59:41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9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84"/>
      </p:cViewPr>
      <p:guideLst>
        <p:guide orient="horz" pos="232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104"/>
    </p:cViewPr>
  </p:sorterViewPr>
  <p:notesViewPr>
    <p:cSldViewPr snapToGrid="0">
      <p:cViewPr varScale="1">
        <p:scale>
          <a:sx n="65" d="100"/>
          <a:sy n="65" d="100"/>
        </p:scale>
        <p:origin x="-1092" y="-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 Foss" userId="09ac0925-c8bb-438c-a205-6311faa2bcaf" providerId="ADAL" clId="{4D8BD32B-1251-495F-9574-2DBED19454ED}"/>
    <pc:docChg chg="modNotesMaster modHandout">
      <pc:chgData name="Jeremy Foss" userId="09ac0925-c8bb-438c-a205-6311faa2bcaf" providerId="ADAL" clId="{4D8BD32B-1251-495F-9574-2DBED19454ED}" dt="2019-04-15T07:25:29.922" v="0"/>
      <pc:docMkLst>
        <pc:docMk/>
      </pc:docMkLst>
    </pc:docChg>
  </pc:docChgLst>
  <pc:docChgLst>
    <pc:chgData name="Jeremy" userId="09ac0925-c8bb-438c-a205-6311faa2bcaf" providerId="ADAL" clId="{82A7DFF9-224C-4963-8C42-22EB4BDCA2A3}"/>
    <pc:docChg chg="custSel delSld modSld">
      <pc:chgData name="Jeremy" userId="09ac0925-c8bb-438c-a205-6311faa2bcaf" providerId="ADAL" clId="{82A7DFF9-224C-4963-8C42-22EB4BDCA2A3}" dt="2020-04-28T08:01:36.233" v="7" actId="20577"/>
      <pc:docMkLst>
        <pc:docMk/>
      </pc:docMkLst>
      <pc:sldChg chg="delSp modSp mod">
        <pc:chgData name="Jeremy" userId="09ac0925-c8bb-438c-a205-6311faa2bcaf" providerId="ADAL" clId="{82A7DFF9-224C-4963-8C42-22EB4BDCA2A3}" dt="2020-04-28T08:01:36.233" v="7" actId="20577"/>
        <pc:sldMkLst>
          <pc:docMk/>
          <pc:sldMk cId="0" sldId="256"/>
        </pc:sldMkLst>
        <pc:spChg chg="del">
          <ac:chgData name="Jeremy" userId="09ac0925-c8bb-438c-a205-6311faa2bcaf" providerId="ADAL" clId="{82A7DFF9-224C-4963-8C42-22EB4BDCA2A3}" dt="2020-04-08T08:29:17.924" v="1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Jeremy" userId="09ac0925-c8bb-438c-a205-6311faa2bcaf" providerId="ADAL" clId="{82A7DFF9-224C-4963-8C42-22EB4BDCA2A3}" dt="2020-04-28T08:01:36.233" v="7" actId="20577"/>
          <ac:spMkLst>
            <pc:docMk/>
            <pc:sldMk cId="0" sldId="256"/>
            <ac:spMk id="6147" creationId="{00000000-0000-0000-0000-000000000000}"/>
          </ac:spMkLst>
        </pc:spChg>
      </pc:sldChg>
      <pc:sldChg chg="del">
        <pc:chgData name="Jeremy" userId="09ac0925-c8bb-438c-a205-6311faa2bcaf" providerId="ADAL" clId="{82A7DFF9-224C-4963-8C42-22EB4BDCA2A3}" dt="2020-04-08T08:28:59.495" v="0" actId="47"/>
        <pc:sldMkLst>
          <pc:docMk/>
          <pc:sldMk cId="2195592668" sldId="606"/>
        </pc:sldMkLst>
      </pc:sldChg>
      <pc:sldChg chg="del">
        <pc:chgData name="Jeremy" userId="09ac0925-c8bb-438c-a205-6311faa2bcaf" providerId="ADAL" clId="{82A7DFF9-224C-4963-8C42-22EB4BDCA2A3}" dt="2020-04-08T08:28:59.495" v="0" actId="47"/>
        <pc:sldMkLst>
          <pc:docMk/>
          <pc:sldMk cId="1939975298" sldId="632"/>
        </pc:sldMkLst>
      </pc:sldChg>
      <pc:sldChg chg="del">
        <pc:chgData name="Jeremy" userId="09ac0925-c8bb-438c-a205-6311faa2bcaf" providerId="ADAL" clId="{82A7DFF9-224C-4963-8C42-22EB4BDCA2A3}" dt="2020-04-08T08:28:59.495" v="0" actId="47"/>
        <pc:sldMkLst>
          <pc:docMk/>
          <pc:sldMk cId="747180126" sldId="634"/>
        </pc:sldMkLst>
      </pc:sldChg>
      <pc:sldChg chg="del">
        <pc:chgData name="Jeremy" userId="09ac0925-c8bb-438c-a205-6311faa2bcaf" providerId="ADAL" clId="{82A7DFF9-224C-4963-8C42-22EB4BDCA2A3}" dt="2020-04-08T08:28:59.495" v="0" actId="47"/>
        <pc:sldMkLst>
          <pc:docMk/>
          <pc:sldMk cId="2096267076" sldId="636"/>
        </pc:sldMkLst>
      </pc:sldChg>
      <pc:sldChg chg="del">
        <pc:chgData name="Jeremy" userId="09ac0925-c8bb-438c-a205-6311faa2bcaf" providerId="ADAL" clId="{82A7DFF9-224C-4963-8C42-22EB4BDCA2A3}" dt="2020-04-08T08:28:59.495" v="0" actId="47"/>
        <pc:sldMkLst>
          <pc:docMk/>
          <pc:sldMk cId="3037403618" sldId="651"/>
        </pc:sldMkLst>
      </pc:sldChg>
      <pc:sldChg chg="del">
        <pc:chgData name="Jeremy" userId="09ac0925-c8bb-438c-a205-6311faa2bcaf" providerId="ADAL" clId="{82A7DFF9-224C-4963-8C42-22EB4BDCA2A3}" dt="2020-04-08T08:28:59.495" v="0" actId="47"/>
        <pc:sldMkLst>
          <pc:docMk/>
          <pc:sldMk cId="2921362366" sldId="653"/>
        </pc:sldMkLst>
      </pc:sldChg>
    </pc:docChg>
  </pc:docChgLst>
  <pc:docChgLst>
    <pc:chgData name="Jeremy Foss" userId="09ac0925-c8bb-438c-a205-6311faa2bcaf" providerId="ADAL" clId="{CCE83F06-64F5-48E7-AB06-769D3F54CD6E}"/>
    <pc:docChg chg="custSel addSld modSld sldOrd">
      <pc:chgData name="Jeremy Foss" userId="09ac0925-c8bb-438c-a205-6311faa2bcaf" providerId="ADAL" clId="{CCE83F06-64F5-48E7-AB06-769D3F54CD6E}" dt="2021-04-19T06:59:52.961" v="18" actId="478"/>
      <pc:docMkLst>
        <pc:docMk/>
      </pc:docMkLst>
      <pc:sldChg chg="delSp modSp mod">
        <pc:chgData name="Jeremy Foss" userId="09ac0925-c8bb-438c-a205-6311faa2bcaf" providerId="ADAL" clId="{CCE83F06-64F5-48E7-AB06-769D3F54CD6E}" dt="2021-04-19T06:59:52.961" v="18" actId="478"/>
        <pc:sldMkLst>
          <pc:docMk/>
          <pc:sldMk cId="2656744395" sldId="285"/>
        </pc:sldMkLst>
        <pc:spChg chg="del mod">
          <ac:chgData name="Jeremy Foss" userId="09ac0925-c8bb-438c-a205-6311faa2bcaf" providerId="ADAL" clId="{CCE83F06-64F5-48E7-AB06-769D3F54CD6E}" dt="2021-04-19T06:59:52.961" v="18" actId="478"/>
          <ac:spMkLst>
            <pc:docMk/>
            <pc:sldMk cId="2656744395" sldId="285"/>
            <ac:spMk id="5" creationId="{00000000-0000-0000-0000-000000000000}"/>
          </ac:spMkLst>
        </pc:spChg>
      </pc:sldChg>
      <pc:sldChg chg="delSp modSp mod">
        <pc:chgData name="Jeremy Foss" userId="09ac0925-c8bb-438c-a205-6311faa2bcaf" providerId="ADAL" clId="{CCE83F06-64F5-48E7-AB06-769D3F54CD6E}" dt="2021-04-19T06:58:08.779" v="13" actId="478"/>
        <pc:sldMkLst>
          <pc:docMk/>
          <pc:sldMk cId="2045153570" sldId="436"/>
        </pc:sldMkLst>
        <pc:spChg chg="del mod">
          <ac:chgData name="Jeremy Foss" userId="09ac0925-c8bb-438c-a205-6311faa2bcaf" providerId="ADAL" clId="{CCE83F06-64F5-48E7-AB06-769D3F54CD6E}" dt="2021-04-19T06:58:08.779" v="13" actId="478"/>
          <ac:spMkLst>
            <pc:docMk/>
            <pc:sldMk cId="2045153570" sldId="436"/>
            <ac:spMk id="5" creationId="{00000000-0000-0000-0000-000000000000}"/>
          </ac:spMkLst>
        </pc:spChg>
        <pc:spChg chg="del">
          <ac:chgData name="Jeremy Foss" userId="09ac0925-c8bb-438c-a205-6311faa2bcaf" providerId="ADAL" clId="{CCE83F06-64F5-48E7-AB06-769D3F54CD6E}" dt="2021-04-19T06:58:08.154" v="12" actId="478"/>
          <ac:spMkLst>
            <pc:docMk/>
            <pc:sldMk cId="2045153570" sldId="436"/>
            <ac:spMk id="6" creationId="{00000000-0000-0000-0000-000000000000}"/>
          </ac:spMkLst>
        </pc:spChg>
      </pc:sldChg>
      <pc:sldChg chg="add">
        <pc:chgData name="Jeremy Foss" userId="09ac0925-c8bb-438c-a205-6311faa2bcaf" providerId="ADAL" clId="{CCE83F06-64F5-48E7-AB06-769D3F54CD6E}" dt="2021-04-01T15:46:42.378" v="0"/>
        <pc:sldMkLst>
          <pc:docMk/>
          <pc:sldMk cId="1531936741" sldId="447"/>
        </pc:sldMkLst>
      </pc:sldChg>
      <pc:sldChg chg="modSp add mod">
        <pc:chgData name="Jeremy Foss" userId="09ac0925-c8bb-438c-a205-6311faa2bcaf" providerId="ADAL" clId="{CCE83F06-64F5-48E7-AB06-769D3F54CD6E}" dt="2021-04-01T15:47:58.314" v="6" actId="207"/>
        <pc:sldMkLst>
          <pc:docMk/>
          <pc:sldMk cId="3048499744" sldId="599"/>
        </pc:sldMkLst>
        <pc:spChg chg="mod">
          <ac:chgData name="Jeremy Foss" userId="09ac0925-c8bb-438c-a205-6311faa2bcaf" providerId="ADAL" clId="{CCE83F06-64F5-48E7-AB06-769D3F54CD6E}" dt="2021-04-01T15:47:58.314" v="6" actId="207"/>
          <ac:spMkLst>
            <pc:docMk/>
            <pc:sldMk cId="3048499744" sldId="599"/>
            <ac:spMk id="5" creationId="{F19633AA-1839-469E-B052-5CD19EF8F33D}"/>
          </ac:spMkLst>
        </pc:spChg>
      </pc:sldChg>
      <pc:sldChg chg="modSp add mod">
        <pc:chgData name="Jeremy Foss" userId="09ac0925-c8bb-438c-a205-6311faa2bcaf" providerId="ADAL" clId="{CCE83F06-64F5-48E7-AB06-769D3F54CD6E}" dt="2021-04-01T15:46:59.883" v="1" actId="6549"/>
        <pc:sldMkLst>
          <pc:docMk/>
          <pc:sldMk cId="3046491307" sldId="601"/>
        </pc:sldMkLst>
        <pc:spChg chg="mod">
          <ac:chgData name="Jeremy Foss" userId="09ac0925-c8bb-438c-a205-6311faa2bcaf" providerId="ADAL" clId="{CCE83F06-64F5-48E7-AB06-769D3F54CD6E}" dt="2021-04-01T15:46:59.883" v="1" actId="6549"/>
          <ac:spMkLst>
            <pc:docMk/>
            <pc:sldMk cId="3046491307" sldId="601"/>
            <ac:spMk id="2" creationId="{878854CC-54D8-4D39-A59A-93ED5F559DDD}"/>
          </ac:spMkLst>
        </pc:spChg>
      </pc:sldChg>
      <pc:sldChg chg="delSp mod">
        <pc:chgData name="Jeremy Foss" userId="09ac0925-c8bb-438c-a205-6311faa2bcaf" providerId="ADAL" clId="{CCE83F06-64F5-48E7-AB06-769D3F54CD6E}" dt="2021-04-19T06:56:54.643" v="9" actId="478"/>
        <pc:sldMkLst>
          <pc:docMk/>
          <pc:sldMk cId="3330491516" sldId="658"/>
        </pc:sldMkLst>
        <pc:spChg chg="del">
          <ac:chgData name="Jeremy Foss" userId="09ac0925-c8bb-438c-a205-6311faa2bcaf" providerId="ADAL" clId="{CCE83F06-64F5-48E7-AB06-769D3F54CD6E}" dt="2021-04-19T06:56:54.643" v="9" actId="478"/>
          <ac:spMkLst>
            <pc:docMk/>
            <pc:sldMk cId="3330491516" sldId="658"/>
            <ac:spMk id="6" creationId="{00000000-0000-0000-0000-000000000000}"/>
          </ac:spMkLst>
        </pc:spChg>
      </pc:sldChg>
      <pc:sldChg chg="delSp mod ord">
        <pc:chgData name="Jeremy Foss" userId="09ac0925-c8bb-438c-a205-6311faa2bcaf" providerId="ADAL" clId="{CCE83F06-64F5-48E7-AB06-769D3F54CD6E}" dt="2021-04-19T06:57:32.263" v="10" actId="478"/>
        <pc:sldMkLst>
          <pc:docMk/>
          <pc:sldMk cId="1542438973" sldId="670"/>
        </pc:sldMkLst>
        <pc:spChg chg="del">
          <ac:chgData name="Jeremy Foss" userId="09ac0925-c8bb-438c-a205-6311faa2bcaf" providerId="ADAL" clId="{CCE83F06-64F5-48E7-AB06-769D3F54CD6E}" dt="2021-04-19T06:57:32.263" v="10" actId="478"/>
          <ac:spMkLst>
            <pc:docMk/>
            <pc:sldMk cId="1542438973" sldId="670"/>
            <ac:spMk id="3" creationId="{00000000-0000-0000-0000-000000000000}"/>
          </ac:spMkLst>
        </pc:spChg>
      </pc:sldChg>
      <pc:sldChg chg="modSp mod">
        <pc:chgData name="Jeremy Foss" userId="09ac0925-c8bb-438c-a205-6311faa2bcaf" providerId="ADAL" clId="{CCE83F06-64F5-48E7-AB06-769D3F54CD6E}" dt="2021-04-19T06:59:27.361" v="16" actId="207"/>
        <pc:sldMkLst>
          <pc:docMk/>
          <pc:sldMk cId="1715449881" sldId="672"/>
        </pc:sldMkLst>
        <pc:spChg chg="mod">
          <ac:chgData name="Jeremy Foss" userId="09ac0925-c8bb-438c-a205-6311faa2bcaf" providerId="ADAL" clId="{CCE83F06-64F5-48E7-AB06-769D3F54CD6E}" dt="2021-04-19T06:59:27.361" v="16" actId="207"/>
          <ac:spMkLst>
            <pc:docMk/>
            <pc:sldMk cId="1715449881" sldId="672"/>
            <ac:spMk id="4" creationId="{872B2CAF-3C99-430A-B54B-755ED4E01A25}"/>
          </ac:spMkLst>
        </pc:spChg>
      </pc:sldChg>
      <pc:sldChg chg="add">
        <pc:chgData name="Jeremy Foss" userId="09ac0925-c8bb-438c-a205-6311faa2bcaf" providerId="ADAL" clId="{CCE83F06-64F5-48E7-AB06-769D3F54CD6E}" dt="2021-04-01T15:46:42.378" v="0"/>
        <pc:sldMkLst>
          <pc:docMk/>
          <pc:sldMk cId="2114507683" sldId="6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CF019E-1375-4D69-90D7-05D62CCBD7E5}" type="datetimeFigureOut">
              <a:rPr lang="en-US"/>
              <a:pPr>
                <a:defRPr/>
              </a:pPr>
              <a:t>4/19/2021</a:t>
            </a:fld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0E66841-25FA-4912-8AB9-E1C40B086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82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5907"/>
            <a:ext cx="4984962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FA0F4D4-A3A6-48C1-B1F1-4280E9CA5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817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32FAAA-12F3-4BC2-A6AB-5F2151B69C26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6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182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0238B-0726-474E-B974-88CBDE8C0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416D4-773B-48A2-8963-76985CBDF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CD34A-EAD6-4A2B-83C8-A41A7A636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F47E-1FAC-4F39-B0C2-6BDEE08DC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F5F79-2FCA-49FD-9F46-111551135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5E2EB-362B-43CF-A641-DDD132543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EFDB2-3113-4A37-B07C-D041BB6DF6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4BBE9-EDC8-4FC6-8E4A-9557837D9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7EF81-6B76-4DEC-98FB-1D4D8A5EAB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B5DE6-76C7-4CED-BEDC-D3B153CD27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64A3C-67AD-4626-8890-8B49EF23B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 rot="10800000" flipH="1">
            <a:off x="0" y="0"/>
            <a:ext cx="9144000" cy="457200"/>
          </a:xfrm>
          <a:prstGeom prst="rect">
            <a:avLst/>
          </a:prstGeom>
          <a:gradFill rotWithShape="0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0" y="6400800"/>
            <a:ext cx="9144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8" name="Rectangle 9"/>
          <p:cNvSpPr>
            <a:spLocks noChangeArrowheads="1"/>
          </p:cNvSpPr>
          <p:nvPr/>
        </p:nvSpPr>
        <p:spPr bwMode="auto">
          <a:xfrm>
            <a:off x="2387600" y="6591300"/>
            <a:ext cx="439261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GB" sz="1200" dirty="0">
                <a:solidFill>
                  <a:srgbClr val="000066"/>
                </a:solidFill>
              </a:rPr>
              <a:t> Broadcast Technology UG1</a:t>
            </a:r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solidFill>
                  <a:srgbClr val="000066"/>
                </a:solidFill>
              </a:rPr>
              <a:t>jeremy.foss@bcu.ac.uk</a:t>
            </a:r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5868988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200">
              <a:solidFill>
                <a:srgbClr val="000066"/>
              </a:solidFill>
            </a:endParaRPr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 bwMode="auto">
          <a:xfrm>
            <a:off x="0" y="0"/>
            <a:ext cx="3492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200" b="1">
              <a:solidFill>
                <a:srgbClr val="000066"/>
              </a:solidFill>
            </a:endParaRPr>
          </a:p>
          <a:p>
            <a:pPr>
              <a:defRPr/>
            </a:pPr>
            <a:endParaRPr lang="en-GB" sz="1200">
              <a:solidFill>
                <a:srgbClr val="000066"/>
              </a:solidFill>
            </a:endParaRPr>
          </a:p>
        </p:txBody>
      </p:sp>
      <p:sp>
        <p:nvSpPr>
          <p:cNvPr id="1032" name="Rectangle 15"/>
          <p:cNvSpPr>
            <a:spLocks noChangeArrowheads="1"/>
          </p:cNvSpPr>
          <p:nvPr userDrawn="1"/>
        </p:nvSpPr>
        <p:spPr bwMode="auto">
          <a:xfrm>
            <a:off x="624840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GB" sz="1200">
                <a:solidFill>
                  <a:srgbClr val="000066"/>
                </a:solidFill>
              </a:rPr>
              <a:t>Jerry Foss, CEng, MIET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6144C6-4CBB-464E-8B86-D02262D719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8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watch?feature=player_embedded&amp;v=ecxKfZ3ATwg" TargetMode="External"/><Relationship Id="rId3" Type="http://schemas.openxmlformats.org/officeDocument/2006/relationships/hyperlink" Target="http://www.thevalvepage.com/valvetek/uhfvalve/uhfvalve.htm" TargetMode="External"/><Relationship Id="rId7" Type="http://schemas.openxmlformats.org/officeDocument/2006/relationships/hyperlink" Target="http://www.theonlineengineer.org/TheOLEBLOG/radio-waves-a-tutorial/" TargetMode="External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theonlineengineer.org/TheOLEBLOG/how-iots-work-a-tutorial-2/" TargetMode="External"/><Relationship Id="rId5" Type="http://schemas.openxmlformats.org/officeDocument/2006/relationships/hyperlink" Target="http://www.lbl.gov/MicroWorlds/ALSTool/ALS_Components/RFSystem/" TargetMode="External"/><Relationship Id="rId4" Type="http://schemas.openxmlformats.org/officeDocument/2006/relationships/hyperlink" Target="http://steveblank.com/category/secret-history-of-silicon-valley/page/2/" TargetMode="External"/><Relationship Id="rId9" Type="http://schemas.openxmlformats.org/officeDocument/2006/relationships/image" Target="../media/image5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s://www.youtube.com/watch?v=fx0asm1kvRw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oleObject" Target="../embeddings/oleObject14.bin"/><Relationship Id="rId18" Type="http://schemas.openxmlformats.org/officeDocument/2006/relationships/oleObject" Target="../embeddings/oleObject18.bin"/><Relationship Id="rId3" Type="http://schemas.openxmlformats.org/officeDocument/2006/relationships/image" Target="../media/image68.png"/><Relationship Id="rId7" Type="http://schemas.openxmlformats.org/officeDocument/2006/relationships/oleObject" Target="../embeddings/oleObject8.bin"/><Relationship Id="rId12" Type="http://schemas.openxmlformats.org/officeDocument/2006/relationships/oleObject" Target="../embeddings/oleObject13.bin"/><Relationship Id="rId17" Type="http://schemas.openxmlformats.org/officeDocument/2006/relationships/oleObject" Target="../embeddings/oleObject17.bin"/><Relationship Id="rId2" Type="http://schemas.openxmlformats.org/officeDocument/2006/relationships/oleObject" Target="../embeddings/oleObject5.bin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oleObject" Target="../embeddings/oleObject12.bin"/><Relationship Id="rId5" Type="http://schemas.openxmlformats.org/officeDocument/2006/relationships/image" Target="../media/image69.png"/><Relationship Id="rId15" Type="http://schemas.openxmlformats.org/officeDocument/2006/relationships/oleObject" Target="../embeddings/oleObject16.bin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71.gif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10.bin"/><Relationship Id="rId14" Type="http://schemas.openxmlformats.org/officeDocument/2006/relationships/oleObject" Target="../embeddings/oleObject15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oleObject" Target="../embeddings/oleObject27.bin"/><Relationship Id="rId18" Type="http://schemas.openxmlformats.org/officeDocument/2006/relationships/oleObject" Target="../embeddings/oleObject31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70.png"/><Relationship Id="rId2" Type="http://schemas.openxmlformats.org/officeDocument/2006/relationships/image" Target="../media/image72.png"/><Relationship Id="rId16" Type="http://schemas.openxmlformats.org/officeDocument/2006/relationships/oleObject" Target="../embeddings/oleObject30.bin"/><Relationship Id="rId20" Type="http://schemas.openxmlformats.org/officeDocument/2006/relationships/image" Target="../media/image71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9.bin"/><Relationship Id="rId10" Type="http://schemas.openxmlformats.org/officeDocument/2006/relationships/oleObject" Target="../embeddings/oleObject24.bin"/><Relationship Id="rId19" Type="http://schemas.openxmlformats.org/officeDocument/2006/relationships/oleObject" Target="../embeddings/oleObject32.bin"/><Relationship Id="rId4" Type="http://schemas.openxmlformats.org/officeDocument/2006/relationships/image" Target="../media/image68.png"/><Relationship Id="rId9" Type="http://schemas.openxmlformats.org/officeDocument/2006/relationships/oleObject" Target="../embeddings/oleObject23.bin"/><Relationship Id="rId14" Type="http://schemas.openxmlformats.org/officeDocument/2006/relationships/oleObject" Target="../embeddings/oleObject28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71.gif"/><Relationship Id="rId3" Type="http://schemas.openxmlformats.org/officeDocument/2006/relationships/image" Target="../media/image68.png"/><Relationship Id="rId7" Type="http://schemas.openxmlformats.org/officeDocument/2006/relationships/oleObject" Target="../embeddings/oleObject36.bin"/><Relationship Id="rId12" Type="http://schemas.openxmlformats.org/officeDocument/2006/relationships/oleObject" Target="../embeddings/oleObject41.bin"/><Relationship Id="rId17" Type="http://schemas.openxmlformats.org/officeDocument/2006/relationships/oleObject" Target="../embeddings/oleObject45.bin"/><Relationship Id="rId2" Type="http://schemas.openxmlformats.org/officeDocument/2006/relationships/oleObject" Target="../embeddings/oleObject33.bin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11" Type="http://schemas.openxmlformats.org/officeDocument/2006/relationships/oleObject" Target="../embeddings/oleObject40.bin"/><Relationship Id="rId5" Type="http://schemas.openxmlformats.org/officeDocument/2006/relationships/image" Target="../media/image69.png"/><Relationship Id="rId15" Type="http://schemas.openxmlformats.org/officeDocument/2006/relationships/oleObject" Target="../embeddings/oleObject44.bin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73.png"/><Relationship Id="rId4" Type="http://schemas.openxmlformats.org/officeDocument/2006/relationships/oleObject" Target="../embeddings/oleObject34.bin"/><Relationship Id="rId9" Type="http://schemas.openxmlformats.org/officeDocument/2006/relationships/oleObject" Target="../embeddings/oleObject38.bin"/><Relationship Id="rId14" Type="http://schemas.openxmlformats.org/officeDocument/2006/relationships/oleObject" Target="../embeddings/oleObject43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oleObject" Target="../embeddings/oleObject55.bin"/><Relationship Id="rId18" Type="http://schemas.openxmlformats.org/officeDocument/2006/relationships/oleObject" Target="../embeddings/oleObject59.bin"/><Relationship Id="rId3" Type="http://schemas.openxmlformats.org/officeDocument/2006/relationships/image" Target="../media/image68.png"/><Relationship Id="rId7" Type="http://schemas.openxmlformats.org/officeDocument/2006/relationships/oleObject" Target="../embeddings/oleObject49.bin"/><Relationship Id="rId12" Type="http://schemas.openxmlformats.org/officeDocument/2006/relationships/oleObject" Target="../embeddings/oleObject54.bin"/><Relationship Id="rId17" Type="http://schemas.openxmlformats.org/officeDocument/2006/relationships/oleObject" Target="../embeddings/oleObject58.bin"/><Relationship Id="rId2" Type="http://schemas.openxmlformats.org/officeDocument/2006/relationships/oleObject" Target="../embeddings/oleObject46.bin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11" Type="http://schemas.openxmlformats.org/officeDocument/2006/relationships/oleObject" Target="../embeddings/oleObject53.bin"/><Relationship Id="rId5" Type="http://schemas.openxmlformats.org/officeDocument/2006/relationships/image" Target="../media/image69.png"/><Relationship Id="rId15" Type="http://schemas.openxmlformats.org/officeDocument/2006/relationships/oleObject" Target="../embeddings/oleObject57.bin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71.gif"/><Relationship Id="rId4" Type="http://schemas.openxmlformats.org/officeDocument/2006/relationships/oleObject" Target="../embeddings/oleObject47.bin"/><Relationship Id="rId9" Type="http://schemas.openxmlformats.org/officeDocument/2006/relationships/oleObject" Target="../embeddings/oleObject51.bin"/><Relationship Id="rId14" Type="http://schemas.openxmlformats.org/officeDocument/2006/relationships/oleObject" Target="../embeddings/oleObject56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oleObject" Target="../embeddings/oleObject69.bin"/><Relationship Id="rId18" Type="http://schemas.openxmlformats.org/officeDocument/2006/relationships/oleObject" Target="../embeddings/oleObject73.bin"/><Relationship Id="rId3" Type="http://schemas.openxmlformats.org/officeDocument/2006/relationships/image" Target="../media/image68.png"/><Relationship Id="rId7" Type="http://schemas.openxmlformats.org/officeDocument/2006/relationships/oleObject" Target="../embeddings/oleObject63.bin"/><Relationship Id="rId12" Type="http://schemas.openxmlformats.org/officeDocument/2006/relationships/oleObject" Target="../embeddings/oleObject68.bin"/><Relationship Id="rId17" Type="http://schemas.openxmlformats.org/officeDocument/2006/relationships/oleObject" Target="../embeddings/oleObject72.bin"/><Relationship Id="rId2" Type="http://schemas.openxmlformats.org/officeDocument/2006/relationships/oleObject" Target="../embeddings/oleObject60.bin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11" Type="http://schemas.openxmlformats.org/officeDocument/2006/relationships/oleObject" Target="../embeddings/oleObject67.bin"/><Relationship Id="rId5" Type="http://schemas.openxmlformats.org/officeDocument/2006/relationships/image" Target="../media/image69.png"/><Relationship Id="rId15" Type="http://schemas.openxmlformats.org/officeDocument/2006/relationships/oleObject" Target="../embeddings/oleObject71.bin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71.gif"/><Relationship Id="rId4" Type="http://schemas.openxmlformats.org/officeDocument/2006/relationships/oleObject" Target="../embeddings/oleObject61.bin"/><Relationship Id="rId9" Type="http://schemas.openxmlformats.org/officeDocument/2006/relationships/oleObject" Target="../embeddings/oleObject65.bin"/><Relationship Id="rId14" Type="http://schemas.openxmlformats.org/officeDocument/2006/relationships/oleObject" Target="../embeddings/oleObject70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oleObject" Target="../embeddings/oleObject83.bin"/><Relationship Id="rId18" Type="http://schemas.openxmlformats.org/officeDocument/2006/relationships/oleObject" Target="../embeddings/oleObject87.bin"/><Relationship Id="rId3" Type="http://schemas.openxmlformats.org/officeDocument/2006/relationships/image" Target="../media/image68.png"/><Relationship Id="rId7" Type="http://schemas.openxmlformats.org/officeDocument/2006/relationships/oleObject" Target="../embeddings/oleObject77.bin"/><Relationship Id="rId12" Type="http://schemas.openxmlformats.org/officeDocument/2006/relationships/oleObject" Target="../embeddings/oleObject82.bin"/><Relationship Id="rId17" Type="http://schemas.openxmlformats.org/officeDocument/2006/relationships/oleObject" Target="../embeddings/oleObject86.bin"/><Relationship Id="rId2" Type="http://schemas.openxmlformats.org/officeDocument/2006/relationships/oleObject" Target="../embeddings/oleObject74.bin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6.bin"/><Relationship Id="rId11" Type="http://schemas.openxmlformats.org/officeDocument/2006/relationships/oleObject" Target="../embeddings/oleObject81.bin"/><Relationship Id="rId5" Type="http://schemas.openxmlformats.org/officeDocument/2006/relationships/image" Target="../media/image69.png"/><Relationship Id="rId15" Type="http://schemas.openxmlformats.org/officeDocument/2006/relationships/oleObject" Target="../embeddings/oleObject85.bin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71.gif"/><Relationship Id="rId4" Type="http://schemas.openxmlformats.org/officeDocument/2006/relationships/oleObject" Target="../embeddings/oleObject75.bin"/><Relationship Id="rId9" Type="http://schemas.openxmlformats.org/officeDocument/2006/relationships/oleObject" Target="../embeddings/oleObject79.bin"/><Relationship Id="rId14" Type="http://schemas.openxmlformats.org/officeDocument/2006/relationships/oleObject" Target="../embeddings/oleObject84.bin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6147" name="Text Box 9"/>
          <p:cNvSpPr txBox="1">
            <a:spLocks noChangeArrowheads="1"/>
          </p:cNvSpPr>
          <p:nvPr/>
        </p:nvSpPr>
        <p:spPr bwMode="auto">
          <a:xfrm>
            <a:off x="612775" y="2058988"/>
            <a:ext cx="856138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dirty="0"/>
              <a:t>Broadcast Technology UG1</a:t>
            </a:r>
          </a:p>
          <a:p>
            <a:endParaRPr lang="en-GB" sz="2800" b="1" dirty="0"/>
          </a:p>
          <a:p>
            <a:r>
              <a:rPr lang="en-GB" sz="3200" dirty="0"/>
              <a:t>1</a:t>
            </a:r>
            <a:r>
              <a:rPr lang="en-GB" sz="3200"/>
              <a:t>: Transmission Media</a:t>
            </a:r>
            <a:endParaRPr lang="en-GB" sz="3200" dirty="0"/>
          </a:p>
          <a:p>
            <a:endParaRPr lang="en-GB" sz="32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jeremy.foss@bcu.ac.uk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1CAE11-5578-43C5-985F-54B63AAC9C31}"/>
              </a:ext>
            </a:extLst>
          </p:cNvPr>
          <p:cNvSpPr txBox="1"/>
          <p:nvPr/>
        </p:nvSpPr>
        <p:spPr>
          <a:xfrm>
            <a:off x="385763" y="2391021"/>
            <a:ext cx="76209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/>
              <a:t>The Context …</a:t>
            </a:r>
            <a:endParaRPr lang="en-GB" sz="8000" b="1" dirty="0"/>
          </a:p>
        </p:txBody>
      </p:sp>
    </p:spTree>
    <p:extLst>
      <p:ext uri="{BB962C8B-B14F-4D97-AF65-F5344CB8AC3E}">
        <p14:creationId xmlns:p14="http://schemas.microsoft.com/office/powerpoint/2010/main" val="2114507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-2154" y="114778"/>
            <a:ext cx="9144000" cy="66048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5763" y="333375"/>
            <a:ext cx="4347713" cy="41712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Information Transmission, Signal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763" y="937671"/>
            <a:ext cx="1857105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688" y="1877951"/>
            <a:ext cx="186573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Source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2210" y="2757845"/>
            <a:ext cx="1865732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Channel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200" y="3657603"/>
            <a:ext cx="1865732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Modulation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2940675" y="4162786"/>
            <a:ext cx="3963908" cy="1700094"/>
          </a:xfrm>
          <a:prstGeom prst="leftRightArrow">
            <a:avLst>
              <a:gd name="adj1" fmla="val 66957"/>
              <a:gd name="adj2" fmla="val 44442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4972" y="4874658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95000"/>
                  </a:schemeClr>
                </a:solidFill>
                <a:latin typeface="Jokerman" pitchFamily="82" charset="0"/>
              </a:rPr>
              <a:t>Interference</a:t>
            </a:r>
          </a:p>
        </p:txBody>
      </p:sp>
      <p:sp>
        <p:nvSpPr>
          <p:cNvPr id="13" name="TextBox 12"/>
          <p:cNvSpPr txBox="1"/>
          <p:nvPr/>
        </p:nvSpPr>
        <p:spPr>
          <a:xfrm rot="1201976">
            <a:off x="4374713" y="4861695"/>
            <a:ext cx="1639019" cy="5154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prstTxWarp prst="textDeflateBottom">
              <a:avLst>
                <a:gd name="adj" fmla="val 27778"/>
              </a:avLst>
            </a:prstTxWarp>
            <a:spAutoFit/>
          </a:bodyPr>
          <a:lstStyle/>
          <a:p>
            <a:pPr algn="ctr"/>
            <a:r>
              <a:rPr lang="en-GB" sz="600">
                <a:solidFill>
                  <a:schemeClr val="tx1">
                    <a:lumMod val="65000"/>
                    <a:lumOff val="35000"/>
                  </a:schemeClr>
                </a:solidFill>
              </a:rPr>
              <a:t>Phase Distortion</a:t>
            </a:r>
            <a:endParaRPr lang="en-GB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rot="21138891">
            <a:off x="3664185" y="4950145"/>
            <a:ext cx="221941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prstTxWarp prst="textFadeRight">
              <a:avLst>
                <a:gd name="adj" fmla="val 47451"/>
              </a:avLst>
            </a:prstTxWarp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Attenuation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5129" y="3594609"/>
            <a:ext cx="1865732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Demodulation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0790" y="2654327"/>
            <a:ext cx="201238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Channel Decoding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8321" y="920418"/>
            <a:ext cx="1857105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In</a:t>
            </a:r>
            <a:r>
              <a:rPr lang="en-GB" sz="1400" dirty="0"/>
              <a:t>f</a:t>
            </a:r>
            <a:r>
              <a:rPr lang="en-GB" sz="1600" dirty="0"/>
              <a:t>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1726" y="1791686"/>
            <a:ext cx="186573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Source Decoding</a:t>
            </a:r>
          </a:p>
        </p:txBody>
      </p:sp>
      <p:sp>
        <p:nvSpPr>
          <p:cNvPr id="20" name="Down Arrow 19"/>
          <p:cNvSpPr/>
          <p:nvPr/>
        </p:nvSpPr>
        <p:spPr>
          <a:xfrm rot="19897828">
            <a:off x="1140503" y="1327783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1" name="Down Arrow 20"/>
          <p:cNvSpPr/>
          <p:nvPr/>
        </p:nvSpPr>
        <p:spPr>
          <a:xfrm rot="19721716">
            <a:off x="1502812" y="2276689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2" name="Down Arrow 21"/>
          <p:cNvSpPr/>
          <p:nvPr/>
        </p:nvSpPr>
        <p:spPr>
          <a:xfrm rot="19357593">
            <a:off x="2349203" y="3188482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3" name="Down Arrow 22"/>
          <p:cNvSpPr/>
          <p:nvPr/>
        </p:nvSpPr>
        <p:spPr>
          <a:xfrm rot="18821757">
            <a:off x="3143437" y="4048315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4" name="Down Arrow 23"/>
          <p:cNvSpPr/>
          <p:nvPr/>
        </p:nvSpPr>
        <p:spPr>
          <a:xfrm rot="13504202">
            <a:off x="6117946" y="3993347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5" name="Down Arrow 24"/>
          <p:cNvSpPr/>
          <p:nvPr/>
        </p:nvSpPr>
        <p:spPr>
          <a:xfrm rot="12329093">
            <a:off x="6661408" y="3009938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6" name="Down Arrow 25"/>
          <p:cNvSpPr/>
          <p:nvPr/>
        </p:nvSpPr>
        <p:spPr>
          <a:xfrm rot="12028605">
            <a:off x="6946081" y="2138668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7" name="Down Arrow 26"/>
          <p:cNvSpPr/>
          <p:nvPr/>
        </p:nvSpPr>
        <p:spPr>
          <a:xfrm rot="11747874">
            <a:off x="7325645" y="1276026"/>
            <a:ext cx="441798" cy="461232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98940" y="3104107"/>
            <a:ext cx="1371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bit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1916" y="4413664"/>
            <a:ext cx="221941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Transmission Link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0384" y="1154866"/>
            <a:ext cx="25807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/>
            <a:r>
              <a:rPr lang="en-GB" sz="1400" i="1" dirty="0">
                <a:solidFill>
                  <a:srgbClr val="FFFF00"/>
                </a:solidFill>
              </a:rPr>
              <a:t>Source Information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coded data in as small space as possible (compressed, etc)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31216" y="3913649"/>
            <a:ext cx="21274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signal received – reverse processes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9160" y="5887202"/>
            <a:ext cx="47178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transmission is subject to noise interference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cs typeface="Lucida Sans Unicode" pitchFamily="34" charset="0"/>
              </a:rPr>
              <a:t>aim – to approach the Shannon Limit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60" y="2851898"/>
            <a:ext cx="250629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/>
            <a:r>
              <a:rPr lang="en-GB" sz="1400" i="1" dirty="0">
                <a:solidFill>
                  <a:schemeClr val="bg1"/>
                </a:solidFill>
              </a:rPr>
              <a:t>Channel coding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appropriate error protection method</a:t>
            </a:r>
          </a:p>
          <a:p>
            <a:pPr marL="182563" indent="-182563"/>
            <a:r>
              <a:rPr lang="en-GB" sz="140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	... depends on channel characteristics</a:t>
            </a:r>
          </a:p>
          <a:p>
            <a:pPr marL="182563" indent="-182563"/>
            <a:endParaRPr lang="en-GB" sz="1400" dirty="0">
              <a:solidFill>
                <a:schemeClr val="bg1"/>
              </a:solidFill>
              <a:latin typeface="Lucida Sans Unicode" pitchFamily="34" charset="0"/>
              <a:cs typeface="Lucida Sans Unicode" pitchFamily="34" charset="0"/>
            </a:endParaRPr>
          </a:p>
          <a:p>
            <a:pPr marL="182563" indent="-182563">
              <a:buFont typeface="Arial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modulation on to carrier</a:t>
            </a:r>
          </a:p>
        </p:txBody>
      </p:sp>
      <p:sp>
        <p:nvSpPr>
          <p:cNvPr id="41" name="Rectangle 40"/>
          <p:cNvSpPr/>
          <p:nvPr/>
        </p:nvSpPr>
        <p:spPr>
          <a:xfrm flipV="1">
            <a:off x="0" y="6525344"/>
            <a:ext cx="9144000" cy="332656"/>
          </a:xfrm>
          <a:prstGeom prst="rect">
            <a:avLst/>
          </a:prstGeom>
          <a:gradFill>
            <a:gsLst>
              <a:gs pos="0">
                <a:schemeClr val="tx1"/>
              </a:gs>
              <a:gs pos="65000">
                <a:srgbClr val="25A0AD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0"/>
          </a:gradFill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9525"/>
            <a:ext cx="9144000" cy="323850"/>
          </a:xfrm>
          <a:prstGeom prst="rect">
            <a:avLst/>
          </a:prstGeom>
          <a:gradFill>
            <a:gsLst>
              <a:gs pos="0">
                <a:schemeClr val="tx1"/>
              </a:gs>
              <a:gs pos="65000">
                <a:srgbClr val="25A0AD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0"/>
          </a:gradFill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0" y="6581001"/>
            <a:ext cx="18918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rPr>
              <a:t>jeremy.foss@bcu.ac.uk</a:t>
            </a:r>
          </a:p>
        </p:txBody>
      </p:sp>
      <p:sp>
        <p:nvSpPr>
          <p:cNvPr id="45" name="Rectangle 44"/>
          <p:cNvSpPr/>
          <p:nvPr/>
        </p:nvSpPr>
        <p:spPr>
          <a:xfrm flipV="1">
            <a:off x="8172400" y="6597351"/>
            <a:ext cx="971598" cy="260646"/>
          </a:xfrm>
          <a:prstGeom prst="rect">
            <a:avLst/>
          </a:prstGeom>
          <a:gradFill>
            <a:gsLst>
              <a:gs pos="0">
                <a:schemeClr val="tx1">
                  <a:alpha val="56000"/>
                </a:schemeClr>
              </a:gs>
              <a:gs pos="13000">
                <a:srgbClr val="25A0AD"/>
              </a:gs>
              <a:gs pos="100000">
                <a:schemeClr val="bg1"/>
              </a:gs>
            </a:gsLst>
            <a:lin ang="5400000" scaled="0"/>
          </a:gra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6580645"/>
            <a:ext cx="971600" cy="269368"/>
          </a:xfrm>
          <a:prstGeom prst="rect">
            <a:avLst/>
          </a:prstGeom>
        </p:spPr>
      </p:pic>
      <p:cxnSp>
        <p:nvCxnSpPr>
          <p:cNvPr id="37" name="Straight Arrow Connector 36"/>
          <p:cNvCxnSpPr/>
          <p:nvPr/>
        </p:nvCxnSpPr>
        <p:spPr>
          <a:xfrm flipH="1">
            <a:off x="2577709" y="1490647"/>
            <a:ext cx="336430" cy="31055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94923" y="4749523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chemeClr val="bg1">
                    <a:lumMod val="50000"/>
                  </a:schemeClr>
                </a:solidFill>
                <a:latin typeface="Gadugi" panose="020B0502040204020203" pitchFamily="34" charset="0"/>
              </a:rPr>
              <a:t>Crosstalk</a:t>
            </a:r>
            <a:endParaRPr lang="en-GB" sz="2400" dirty="0">
              <a:solidFill>
                <a:schemeClr val="bg1">
                  <a:lumMod val="50000"/>
                </a:schemeClr>
              </a:solidFill>
              <a:latin typeface="Gadugi" panose="020B0502040204020203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42652" y="4699750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chemeClr val="bg1"/>
                </a:solidFill>
                <a:latin typeface="High Tower Text" panose="02040502050506030303" pitchFamily="18" charset="0"/>
              </a:rPr>
              <a:t>Crosstalk</a:t>
            </a:r>
            <a:endParaRPr lang="en-GB" sz="2400" dirty="0">
              <a:solidFill>
                <a:schemeClr val="bg1"/>
              </a:solidFill>
              <a:latin typeface="High Tower Text" panose="02040502050506030303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B69CC1-715D-447D-9632-FC5B15F24AF7}"/>
              </a:ext>
            </a:extLst>
          </p:cNvPr>
          <p:cNvSpPr txBox="1"/>
          <p:nvPr/>
        </p:nvSpPr>
        <p:spPr>
          <a:xfrm>
            <a:off x="4517789" y="5010469"/>
            <a:ext cx="96692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latin typeface="IrisUPC" panose="020B0502040204020203" pitchFamily="34" charset="-34"/>
                <a:cs typeface="IrisUPC" panose="020B0502040204020203" pitchFamily="34" charset="-34"/>
              </a:rPr>
              <a:t>jitter</a:t>
            </a:r>
            <a:endParaRPr lang="en-GB" sz="4000" dirty="0">
              <a:latin typeface="IrisUPC" panose="020B0502040204020203" pitchFamily="34" charset="-34"/>
              <a:cs typeface="IrisUPC" panose="020B0502040204020203" pitchFamily="34" charset="-34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8FC120-682A-4878-B391-8A75C6E92074}"/>
              </a:ext>
            </a:extLst>
          </p:cNvPr>
          <p:cNvSpPr txBox="1"/>
          <p:nvPr/>
        </p:nvSpPr>
        <p:spPr>
          <a:xfrm>
            <a:off x="3924629" y="3871841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>
                <a:solidFill>
                  <a:schemeClr val="bg1">
                    <a:lumMod val="95000"/>
                  </a:schemeClr>
                </a:solidFill>
                <a:latin typeface="Juice ITC" panose="04040403040A02020202" pitchFamily="82" charset="0"/>
              </a:rPr>
              <a:t>NOISE</a:t>
            </a:r>
            <a:endParaRPr lang="en-GB" sz="2400" b="1" dirty="0">
              <a:solidFill>
                <a:schemeClr val="bg1">
                  <a:lumMod val="95000"/>
                </a:schemeClr>
              </a:solidFill>
              <a:latin typeface="Juice ITC" panose="04040403040A02020202" pitchFamily="8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DA5E2A-982D-42BA-B01A-5B5E13DAFAEA}"/>
              </a:ext>
            </a:extLst>
          </p:cNvPr>
          <p:cNvSpPr txBox="1"/>
          <p:nvPr/>
        </p:nvSpPr>
        <p:spPr>
          <a:xfrm>
            <a:off x="6068912" y="5547060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chemeClr val="bg1">
                    <a:lumMod val="95000"/>
                  </a:schemeClr>
                </a:solidFill>
                <a:latin typeface="Mistral" panose="03090702030407020403" pitchFamily="66" charset="0"/>
              </a:rPr>
              <a:t>NOISE</a:t>
            </a:r>
            <a:endParaRPr lang="en-GB" sz="2400" dirty="0">
              <a:solidFill>
                <a:schemeClr val="bg1">
                  <a:lumMod val="95000"/>
                </a:schemeClr>
              </a:solidFill>
              <a:latin typeface="Mistral" panose="03090702030407020403" pitchFamily="66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C4ACF6-8025-4BA7-9AC0-75858C042EAC}"/>
              </a:ext>
            </a:extLst>
          </p:cNvPr>
          <p:cNvSpPr txBox="1"/>
          <p:nvPr/>
        </p:nvSpPr>
        <p:spPr>
          <a:xfrm>
            <a:off x="1414310" y="5526447"/>
            <a:ext cx="226073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solidFill>
                  <a:schemeClr val="bg1">
                    <a:lumMod val="95000"/>
                  </a:schemeClr>
                </a:solidFill>
                <a:latin typeface="Modern Love Grunge" panose="020B0604020202020204" pitchFamily="82" charset="0"/>
              </a:rPr>
              <a:t>NOISE</a:t>
            </a:r>
            <a:endParaRPr lang="en-GB" sz="2400" dirty="0">
              <a:solidFill>
                <a:schemeClr val="bg1">
                  <a:lumMod val="95000"/>
                </a:schemeClr>
              </a:solidFill>
              <a:latin typeface="Modern Love Grunge" panose="020B0604020202020204" pitchFamily="82" charset="0"/>
            </a:endParaRPr>
          </a:p>
        </p:txBody>
      </p:sp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0BB5E9E6-86B0-4954-A054-8CBDAAD168CA}"/>
              </a:ext>
            </a:extLst>
          </p:cNvPr>
          <p:cNvSpPr/>
          <p:nvPr/>
        </p:nvSpPr>
        <p:spPr>
          <a:xfrm>
            <a:off x="6338845" y="5131260"/>
            <a:ext cx="884398" cy="338237"/>
          </a:xfrm>
          <a:prstGeom prst="curvedUpArrow">
            <a:avLst/>
          </a:prstGeom>
          <a:solidFill>
            <a:srgbClr val="92D050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2" name="Arrow: Curved Up 51">
            <a:extLst>
              <a:ext uri="{FF2B5EF4-FFF2-40B4-BE49-F238E27FC236}">
                <a16:creationId xmlns:a16="http://schemas.microsoft.com/office/drawing/2014/main" id="{90764815-D07B-4E27-ACE1-BCC1014C3C5A}"/>
              </a:ext>
            </a:extLst>
          </p:cNvPr>
          <p:cNvSpPr/>
          <p:nvPr/>
        </p:nvSpPr>
        <p:spPr>
          <a:xfrm flipH="1" flipV="1">
            <a:off x="6268918" y="4474101"/>
            <a:ext cx="894883" cy="338554"/>
          </a:xfrm>
          <a:prstGeom prst="curvedUpArrow">
            <a:avLst/>
          </a:prstGeom>
          <a:solidFill>
            <a:srgbClr val="92D050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30DCCEC6-E6BD-4E13-8053-9E34B1847193}"/>
              </a:ext>
            </a:extLst>
          </p:cNvPr>
          <p:cNvSpPr/>
          <p:nvPr/>
        </p:nvSpPr>
        <p:spPr>
          <a:xfrm rot="18594353">
            <a:off x="2969623" y="5323769"/>
            <a:ext cx="780794" cy="448852"/>
          </a:xfrm>
          <a:prstGeom prst="lightningBol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3" name="Lightning Bolt 52">
            <a:extLst>
              <a:ext uri="{FF2B5EF4-FFF2-40B4-BE49-F238E27FC236}">
                <a16:creationId xmlns:a16="http://schemas.microsoft.com/office/drawing/2014/main" id="{AE89B5F6-0B19-4ABA-ABED-3A112BF68798}"/>
              </a:ext>
            </a:extLst>
          </p:cNvPr>
          <p:cNvSpPr/>
          <p:nvPr/>
        </p:nvSpPr>
        <p:spPr>
          <a:xfrm rot="3421618">
            <a:off x="4433219" y="4338433"/>
            <a:ext cx="808896" cy="362775"/>
          </a:xfrm>
          <a:prstGeom prst="lightningBol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4" name="Lightning Bolt 53">
            <a:extLst>
              <a:ext uri="{FF2B5EF4-FFF2-40B4-BE49-F238E27FC236}">
                <a16:creationId xmlns:a16="http://schemas.microsoft.com/office/drawing/2014/main" id="{2BB37C49-F8E1-4DF2-8B7F-C60C00FBA85B}"/>
              </a:ext>
            </a:extLst>
          </p:cNvPr>
          <p:cNvSpPr/>
          <p:nvPr/>
        </p:nvSpPr>
        <p:spPr>
          <a:xfrm rot="10513570">
            <a:off x="5978108" y="5333445"/>
            <a:ext cx="874171" cy="439664"/>
          </a:xfrm>
          <a:prstGeom prst="lightningBol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5" name="Lightning Bolt 54">
            <a:extLst>
              <a:ext uri="{FF2B5EF4-FFF2-40B4-BE49-F238E27FC236}">
                <a16:creationId xmlns:a16="http://schemas.microsoft.com/office/drawing/2014/main" id="{604137B0-16E8-4668-A4B6-480D8FDA3F6C}"/>
              </a:ext>
            </a:extLst>
          </p:cNvPr>
          <p:cNvSpPr/>
          <p:nvPr/>
        </p:nvSpPr>
        <p:spPr>
          <a:xfrm rot="18594353">
            <a:off x="2661543" y="4732272"/>
            <a:ext cx="884029" cy="631686"/>
          </a:xfrm>
          <a:prstGeom prst="lightningBol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936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0627" y="1236590"/>
            <a:ext cx="139592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dirty="0"/>
              <a:t>Video Packets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627" y="1596630"/>
            <a:ext cx="139592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dirty="0"/>
              <a:t>Audio Packets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627" y="1956670"/>
            <a:ext cx="139592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1400" dirty="0"/>
              <a:t>Data Packets</a:t>
            </a:r>
          </a:p>
        </p:txBody>
      </p:sp>
      <p:cxnSp>
        <p:nvCxnSpPr>
          <p:cNvPr id="13" name="Straight Connector 12"/>
          <p:cNvCxnSpPr>
            <a:stCxn id="3" idx="3"/>
          </p:cNvCxnSpPr>
          <p:nvPr/>
        </p:nvCxnSpPr>
        <p:spPr>
          <a:xfrm>
            <a:off x="1836554" y="139047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836554" y="17316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836554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cxnSpLocks/>
          </p:cNvCxnSpPr>
          <p:nvPr/>
        </p:nvCxnSpPr>
        <p:spPr>
          <a:xfrm>
            <a:off x="2585447" y="1731601"/>
            <a:ext cx="27003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2855484" y="1596630"/>
            <a:ext cx="540072" cy="939273"/>
          </a:xfrm>
          <a:custGeom>
            <a:avLst/>
            <a:gdLst>
              <a:gd name="connsiteX0" fmla="*/ 0 w 379562"/>
              <a:gd name="connsiteY0" fmla="*/ 0 h 1017917"/>
              <a:gd name="connsiteX1" fmla="*/ 0 w 379562"/>
              <a:gd name="connsiteY1" fmla="*/ 1017917 h 1017917"/>
              <a:gd name="connsiteX2" fmla="*/ 379562 w 379562"/>
              <a:gd name="connsiteY2" fmla="*/ 871268 h 1017917"/>
              <a:gd name="connsiteX3" fmla="*/ 379562 w 379562"/>
              <a:gd name="connsiteY3" fmla="*/ 163902 h 1017917"/>
              <a:gd name="connsiteX4" fmla="*/ 0 w 379562"/>
              <a:gd name="connsiteY4" fmla="*/ 0 h 101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562" h="1017917">
                <a:moveTo>
                  <a:pt x="0" y="0"/>
                </a:moveTo>
                <a:lnTo>
                  <a:pt x="0" y="1017917"/>
                </a:lnTo>
                <a:lnTo>
                  <a:pt x="379562" y="871268"/>
                </a:lnTo>
                <a:lnTo>
                  <a:pt x="379562" y="1639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TS </a:t>
            </a:r>
            <a:r>
              <a:rPr lang="en-GB" sz="1100" dirty="0" err="1">
                <a:latin typeface="Lucida Sans Unicode" pitchFamily="34" charset="0"/>
                <a:cs typeface="Lucida Sans Unicode" pitchFamily="34" charset="0"/>
              </a:rPr>
              <a:t>Mux</a:t>
            </a:r>
            <a:endParaRPr lang="en-GB" sz="11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28" name="Straight Connector 27"/>
          <p:cNvCxnSpPr>
            <a:cxnSpLocks/>
          </p:cNvCxnSpPr>
          <p:nvPr/>
        </p:nvCxnSpPr>
        <p:spPr>
          <a:xfrm>
            <a:off x="2713483" y="1904407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cxnSpLocks/>
          </p:cNvCxnSpPr>
          <p:nvPr/>
        </p:nvCxnSpPr>
        <p:spPr>
          <a:xfrm>
            <a:off x="2713483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</p:cNvCxnSpPr>
          <p:nvPr/>
        </p:nvCxnSpPr>
        <p:spPr>
          <a:xfrm>
            <a:off x="2713483" y="2264455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/>
          </p:cNvCxnSpPr>
          <p:nvPr/>
        </p:nvCxnSpPr>
        <p:spPr>
          <a:xfrm>
            <a:off x="2713483" y="2451697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537557" y="1805366"/>
            <a:ext cx="108014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600" dirty="0" err="1"/>
              <a:t>Mux</a:t>
            </a:r>
            <a:r>
              <a:rPr lang="en-GB" sz="1600" dirty="0"/>
              <a:t> </a:t>
            </a:r>
            <a:r>
              <a:rPr lang="en-GB" sz="1200" dirty="0"/>
              <a:t>adaptation, scrambling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9701" y="1805366"/>
            <a:ext cx="1156191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b">
            <a:noAutofit/>
          </a:bodyPr>
          <a:lstStyle/>
          <a:p>
            <a:pPr algn="ctr"/>
            <a:r>
              <a:rPr lang="en-GB" sz="1400" dirty="0"/>
              <a:t>Error Correction</a:t>
            </a:r>
          </a:p>
          <a:p>
            <a:pPr algn="ctr"/>
            <a:r>
              <a:rPr lang="en-GB" sz="1050" dirty="0"/>
              <a:t>Block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7893" y="1805366"/>
            <a:ext cx="108014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b">
            <a:noAutofit/>
          </a:bodyPr>
          <a:lstStyle/>
          <a:p>
            <a:pPr algn="ctr"/>
            <a:endParaRPr lang="en-GB" sz="1200" dirty="0"/>
          </a:p>
          <a:p>
            <a:pPr algn="ctr"/>
            <a:r>
              <a:rPr lang="en-GB" sz="1200" dirty="0"/>
              <a:t>Interleaving</a:t>
            </a:r>
          </a:p>
          <a:p>
            <a:pPr algn="ctr"/>
            <a:r>
              <a:rPr lang="en-GB" sz="1100" dirty="0"/>
              <a:t>(against long errors)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395556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617701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915892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280038" y="1805366"/>
            <a:ext cx="108014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600" dirty="0"/>
              <a:t>FEC</a:t>
            </a:r>
            <a:endParaRPr lang="en-GB" sz="1200" dirty="0"/>
          </a:p>
          <a:p>
            <a:pPr algn="ctr"/>
            <a:r>
              <a:rPr lang="en-GB" sz="1050" dirty="0" err="1"/>
              <a:t>Convolutional</a:t>
            </a:r>
            <a:endParaRPr lang="en-GB" sz="1050" dirty="0"/>
          </a:p>
          <a:p>
            <a:pPr algn="ctr"/>
            <a:r>
              <a:rPr lang="en-GB" sz="1050" dirty="0"/>
              <a:t>coding</a:t>
            </a:r>
            <a:endParaRPr lang="en-GB" sz="12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7138037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75344" y="3945018"/>
            <a:ext cx="108014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b">
            <a:noAutofit/>
          </a:bodyPr>
          <a:lstStyle/>
          <a:p>
            <a:pPr algn="ctr"/>
            <a:endParaRPr lang="en-GB" sz="1200" dirty="0"/>
          </a:p>
          <a:p>
            <a:pPr algn="ctr"/>
            <a:r>
              <a:rPr lang="en-GB" sz="1200" dirty="0"/>
              <a:t>Interleaving</a:t>
            </a:r>
          </a:p>
          <a:p>
            <a:pPr algn="ctr"/>
            <a:r>
              <a:rPr lang="en-GB" sz="1100" dirty="0"/>
              <a:t>(against burst errors)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733343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1955488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360182" y="2091649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8502183" y="2091649"/>
            <a:ext cx="0" cy="720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33281" y="3531841"/>
            <a:ext cx="62" cy="6994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733281" y="2811745"/>
            <a:ext cx="7768904" cy="7200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097489" y="3945018"/>
            <a:ext cx="886092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 err="1"/>
              <a:t>Mapper</a:t>
            </a:r>
            <a:endParaRPr lang="en-GB" sz="1200" dirty="0"/>
          </a:p>
          <a:p>
            <a:pPr algn="ctr"/>
            <a:r>
              <a:rPr lang="en-GB" sz="1100" dirty="0"/>
              <a:t>(IQ symbols)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2964632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106632" y="3945018"/>
            <a:ext cx="97105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/>
              <a:t>Frame</a:t>
            </a:r>
            <a:r>
              <a:rPr lang="en-GB" sz="1100" dirty="0"/>
              <a:t> adaptation</a:t>
            </a:r>
          </a:p>
          <a:p>
            <a:pPr algn="ctr"/>
            <a:r>
              <a:rPr lang="en-GB" sz="1100" dirty="0"/>
              <a:t>symbols</a:t>
            </a:r>
          </a:p>
        </p:txBody>
      </p:sp>
      <p:cxnSp>
        <p:nvCxnSpPr>
          <p:cNvPr id="57" name="Straight Connector 56"/>
          <p:cNvCxnSpPr/>
          <p:nvPr/>
        </p:nvCxnSpPr>
        <p:spPr>
          <a:xfrm>
            <a:off x="4077692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219693" y="3945018"/>
            <a:ext cx="97105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/>
              <a:t>Pilot, TPS </a:t>
            </a:r>
            <a:r>
              <a:rPr lang="en-GB" sz="1200" dirty="0"/>
              <a:t>signals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5190752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32753" y="3945018"/>
            <a:ext cx="97105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/>
              <a:t>OFDM</a:t>
            </a:r>
            <a:endParaRPr lang="en-GB" sz="1200" dirty="0"/>
          </a:p>
          <a:p>
            <a:pPr algn="ctr"/>
            <a:r>
              <a:rPr lang="en-GB" sz="1100" dirty="0"/>
              <a:t>Modulation</a:t>
            </a:r>
          </a:p>
        </p:txBody>
      </p:sp>
      <p:cxnSp>
        <p:nvCxnSpPr>
          <p:cNvPr id="61" name="Straight Connector 60"/>
          <p:cNvCxnSpPr/>
          <p:nvPr/>
        </p:nvCxnSpPr>
        <p:spPr>
          <a:xfrm>
            <a:off x="6314025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456026" y="3945018"/>
            <a:ext cx="97105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400" dirty="0"/>
              <a:t>Guard interval </a:t>
            </a:r>
            <a:r>
              <a:rPr lang="en-GB" sz="1200" dirty="0"/>
              <a:t>insertion</a:t>
            </a:r>
            <a:endParaRPr lang="en-GB" sz="1100" dirty="0"/>
          </a:p>
        </p:txBody>
      </p:sp>
      <p:cxnSp>
        <p:nvCxnSpPr>
          <p:cNvPr id="64" name="Straight Connector 63"/>
          <p:cNvCxnSpPr/>
          <p:nvPr/>
        </p:nvCxnSpPr>
        <p:spPr>
          <a:xfrm>
            <a:off x="7432192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574193" y="3945018"/>
            <a:ext cx="971059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1200" dirty="0"/>
              <a:t>DAC for </a:t>
            </a:r>
            <a:r>
              <a:rPr lang="en-GB" sz="1200" dirty="0" err="1"/>
              <a:t>Tx</a:t>
            </a:r>
            <a:endParaRPr lang="en-GB" sz="1100" dirty="0"/>
          </a:p>
        </p:txBody>
      </p:sp>
      <p:sp>
        <p:nvSpPr>
          <p:cNvPr id="72" name="Rectangle 71"/>
          <p:cNvSpPr/>
          <p:nvPr/>
        </p:nvSpPr>
        <p:spPr>
          <a:xfrm>
            <a:off x="385763" y="333375"/>
            <a:ext cx="5232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DVB Transmission </a:t>
            </a:r>
            <a:r>
              <a:rPr lang="en-GB" sz="2400" b="1" dirty="0" err="1">
                <a:latin typeface="Lucida Sans Unicode" pitchFamily="34" charset="0"/>
                <a:cs typeface="Lucida Sans Unicode" pitchFamily="34" charset="0"/>
              </a:rPr>
              <a:t>Playout</a:t>
            </a:r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 System</a:t>
            </a:r>
          </a:p>
        </p:txBody>
      </p:sp>
      <p:cxnSp>
        <p:nvCxnSpPr>
          <p:cNvPr id="73" name="Straight Connector 72"/>
          <p:cNvCxnSpPr/>
          <p:nvPr/>
        </p:nvCxnSpPr>
        <p:spPr>
          <a:xfrm>
            <a:off x="8545252" y="4231301"/>
            <a:ext cx="1420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038754" y="5432226"/>
            <a:ext cx="926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Antenna,</a:t>
            </a:r>
          </a:p>
          <a:p>
            <a:pPr algn="ctr"/>
            <a:r>
              <a:rPr lang="en-GB" sz="1200" dirty="0"/>
              <a:t>Cable, </a:t>
            </a:r>
          </a:p>
          <a:p>
            <a:pPr algn="ctr"/>
            <a:r>
              <a:rPr lang="en-GB" sz="1200" dirty="0"/>
              <a:t>Sat uplink</a:t>
            </a:r>
          </a:p>
        </p:txBody>
      </p:sp>
      <p:cxnSp>
        <p:nvCxnSpPr>
          <p:cNvPr id="75" name="Straight Connector 74"/>
          <p:cNvCxnSpPr/>
          <p:nvPr/>
        </p:nvCxnSpPr>
        <p:spPr>
          <a:xfrm>
            <a:off x="8687253" y="4241619"/>
            <a:ext cx="62" cy="6994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8687253" y="4792009"/>
            <a:ext cx="62" cy="64021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40258" y="795040"/>
            <a:ext cx="49391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(Based on DVB-T, but –C, -S and –H are similar)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26426" y="4662188"/>
            <a:ext cx="997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QPSK, QAM, </a:t>
            </a:r>
            <a:r>
              <a:rPr lang="en-GB" sz="1100" dirty="0" err="1"/>
              <a:t>etc</a:t>
            </a:r>
            <a:endParaRPr lang="en-GB" sz="1100" dirty="0"/>
          </a:p>
        </p:txBody>
      </p:sp>
      <p:sp>
        <p:nvSpPr>
          <p:cNvPr id="48" name="TextBox 47"/>
          <p:cNvSpPr txBox="1"/>
          <p:nvPr/>
        </p:nvSpPr>
        <p:spPr>
          <a:xfrm>
            <a:off x="3035632" y="4706033"/>
            <a:ext cx="112609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Blocks (1512 – 6048 </a:t>
            </a:r>
            <a:r>
              <a:rPr lang="en-GB" sz="1000" dirty="0" err="1"/>
              <a:t>sy</a:t>
            </a:r>
            <a:r>
              <a:rPr lang="en-GB" sz="1000" dirty="0"/>
              <a:t>/block)</a:t>
            </a:r>
          </a:p>
          <a:p>
            <a:r>
              <a:rPr lang="en-GB" sz="1000" dirty="0"/>
              <a:t>of symbols →</a:t>
            </a:r>
          </a:p>
          <a:p>
            <a:r>
              <a:rPr lang="en-GB" sz="1000" dirty="0"/>
              <a:t>frames (68 blocks)</a:t>
            </a:r>
          </a:p>
          <a:p>
            <a:r>
              <a:rPr lang="en-GB" sz="1000" dirty="0"/>
              <a:t>(4frames =</a:t>
            </a:r>
            <a:r>
              <a:rPr lang="en-GB" sz="1000" dirty="0" err="1"/>
              <a:t>superframe</a:t>
            </a:r>
            <a:r>
              <a:rPr lang="en-GB" sz="1000" dirty="0"/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658" y="4706033"/>
            <a:ext cx="1126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Transmission parameters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72370" y="4730707"/>
            <a:ext cx="11260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carriers, 2k – 32k (for T2</a:t>
            </a:r>
          </a:p>
          <a:p>
            <a:r>
              <a:rPr lang="en-GB" sz="1000" dirty="0"/>
              <a:t>channel b/w = </a:t>
            </a:r>
          </a:p>
          <a:p>
            <a:r>
              <a:rPr lang="en-GB" sz="1000" dirty="0"/>
              <a:t>1.7 to 10MHz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50515" y="4730707"/>
            <a:ext cx="1126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includes cyclic prefix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9701" y="2554348"/>
            <a:ext cx="16908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FEC – Outer …….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80038" y="2545493"/>
            <a:ext cx="920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FEC – Inner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633AA-1839-469E-B052-5CD19EF8F33D}"/>
              </a:ext>
            </a:extLst>
          </p:cNvPr>
          <p:cNvSpPr txBox="1"/>
          <p:nvPr/>
        </p:nvSpPr>
        <p:spPr>
          <a:xfrm rot="5400000">
            <a:off x="1619069" y="1514396"/>
            <a:ext cx="1456716" cy="7174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GB" sz="1400" b="1">
              <a:solidFill>
                <a:srgbClr val="FF0000"/>
              </a:solidFill>
            </a:endParaRPr>
          </a:p>
          <a:p>
            <a:pPr algn="ctr"/>
            <a:r>
              <a:rPr lang="en-GB" sz="1400"/>
              <a:t>COMPRESSION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48499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8854CC-54D8-4D39-A59A-93ED5F559DDD}"/>
              </a:ext>
            </a:extLst>
          </p:cNvPr>
          <p:cNvSpPr txBox="1"/>
          <p:nvPr/>
        </p:nvSpPr>
        <p:spPr>
          <a:xfrm>
            <a:off x="385763" y="2295989"/>
            <a:ext cx="7654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8000" b="1"/>
              <a:t>Back to Basics</a:t>
            </a:r>
          </a:p>
        </p:txBody>
      </p:sp>
    </p:spTree>
    <p:extLst>
      <p:ext uri="{BB962C8B-B14F-4D97-AF65-F5344CB8AC3E}">
        <p14:creationId xmlns:p14="http://schemas.microsoft.com/office/powerpoint/2010/main" val="3046491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3700" y="1713782"/>
            <a:ext cx="817884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Lucida Sans Unicode" pitchFamily="34" charset="0"/>
                <a:cs typeface="Lucida Sans Unicode" pitchFamily="34" charset="0"/>
              </a:rPr>
              <a:t>Transmission</a:t>
            </a:r>
          </a:p>
          <a:p>
            <a:r>
              <a:rPr lang="en-GB" sz="9600" b="1" dirty="0">
                <a:latin typeface="Lucida Sans Unicode" pitchFamily="34" charset="0"/>
                <a:cs typeface="Lucida Sans Unicode" pitchFamily="34" charset="0"/>
              </a:rPr>
              <a:t>Media</a:t>
            </a:r>
          </a:p>
        </p:txBody>
      </p:sp>
    </p:spTree>
    <p:extLst>
      <p:ext uri="{BB962C8B-B14F-4D97-AF65-F5344CB8AC3E}">
        <p14:creationId xmlns:p14="http://schemas.microsoft.com/office/powerpoint/2010/main" val="161494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288" y="1116674"/>
            <a:ext cx="6558171" cy="4221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Types of Transmission Media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Multiplexing - FDM, TDM, Statistical</a:t>
            </a:r>
          </a:p>
          <a:p>
            <a:pPr lvl="1">
              <a:lnSpc>
                <a:spcPts val="2300"/>
              </a:lnSpc>
            </a:pPr>
            <a:r>
              <a:rPr lang="en-GB" sz="1600" i="1" dirty="0">
                <a:latin typeface="Lucida Sans Unicode" pitchFamily="34" charset="0"/>
              </a:rPr>
              <a:t>* introduction only – will be covered in depth later on 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Cables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Twisted Pair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Coaxial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Fibre Optic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Wave Division Multiplexing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Radio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Spectrum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Transmitter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EM Wave, Radio Waves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Propagation through lower and upper atmosphere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Broadcast Transmitter Technologies (valves)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95288" y="331788"/>
            <a:ext cx="31726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Transmission Media</a:t>
            </a:r>
          </a:p>
        </p:txBody>
      </p:sp>
    </p:spTree>
    <p:extLst>
      <p:ext uri="{BB962C8B-B14F-4D97-AF65-F5344CB8AC3E}">
        <p14:creationId xmlns:p14="http://schemas.microsoft.com/office/powerpoint/2010/main" val="367713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ChangeArrowheads="1"/>
          </p:cNvSpPr>
          <p:nvPr/>
        </p:nvSpPr>
        <p:spPr bwMode="auto">
          <a:xfrm>
            <a:off x="395288" y="1050735"/>
            <a:ext cx="8067675" cy="68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</a:rPr>
              <a:t>“Guided”: The waves are guided along a physical path</a:t>
            </a:r>
          </a:p>
          <a:p>
            <a:pPr marL="180975" indent="-180975"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</a:rPr>
              <a:t>“Unguided”: The medium transmits the waves but does not guide them</a:t>
            </a: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395288" y="331788"/>
            <a:ext cx="454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Types of Transmission Media</a:t>
            </a:r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393700" y="2944783"/>
            <a:ext cx="8440737" cy="2746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</a:rPr>
              <a:t>Direct Link: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The signal is propagated directly from transmitter to receiver (perhaps through amplifiers/repeaters)</a:t>
            </a:r>
          </a:p>
          <a:p>
            <a:pPr marL="180975" indent="-180975">
              <a:lnSpc>
                <a:spcPts val="2300"/>
              </a:lnSpc>
            </a:pPr>
            <a:endParaRPr lang="en-GB" sz="1600" dirty="0">
              <a:latin typeface="Lucida Sans Unicode" pitchFamily="34" charset="0"/>
            </a:endParaRPr>
          </a:p>
          <a:p>
            <a:pPr marL="180975" indent="-180975"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</a:rPr>
              <a:t>Point-to-Point: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A guided medium that provides a direct link between two and only two devices</a:t>
            </a:r>
          </a:p>
          <a:p>
            <a:pPr marL="180975" indent="-180975">
              <a:lnSpc>
                <a:spcPts val="2300"/>
              </a:lnSpc>
            </a:pPr>
            <a:endParaRPr lang="en-GB" sz="1600" dirty="0">
              <a:latin typeface="Lucida Sans Unicode" pitchFamily="34" charset="0"/>
            </a:endParaRPr>
          </a:p>
          <a:p>
            <a:pPr marL="180975" indent="-180975"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</a:rPr>
              <a:t>Multipoint: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A guided medium that is shared by more than two devices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393700" y="2314545"/>
            <a:ext cx="44903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000" b="1" dirty="0">
                <a:latin typeface="Lucida Sans Unicode" pitchFamily="34" charset="0"/>
              </a:rPr>
              <a:t>Types of Transmission Connection</a:t>
            </a:r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4551363" y="6273800"/>
            <a:ext cx="459263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sz="1100" i="1" dirty="0">
                <a:latin typeface="Lucida Sans Unicode" pitchFamily="34" charset="0"/>
              </a:rPr>
              <a:t>ref – </a:t>
            </a:r>
            <a:r>
              <a:rPr lang="en-GB" sz="1100" i="1" dirty="0" err="1">
                <a:latin typeface="Lucida Sans Unicode" pitchFamily="34" charset="0"/>
              </a:rPr>
              <a:t>Prof.</a:t>
            </a:r>
            <a:r>
              <a:rPr lang="en-GB" sz="1100" i="1" dirty="0">
                <a:latin typeface="Lucida Sans Unicode" pitchFamily="34" charset="0"/>
              </a:rPr>
              <a:t> David Bernstein,  James Madison University</a:t>
            </a:r>
          </a:p>
        </p:txBody>
      </p:sp>
    </p:spTree>
    <p:extLst>
      <p:ext uri="{BB962C8B-B14F-4D97-AF65-F5344CB8AC3E}">
        <p14:creationId xmlns:p14="http://schemas.microsoft.com/office/powerpoint/2010/main" val="470505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ChangeArrowheads="1"/>
          </p:cNvSpPr>
          <p:nvPr/>
        </p:nvSpPr>
        <p:spPr bwMode="auto">
          <a:xfrm>
            <a:off x="395288" y="331788"/>
            <a:ext cx="2933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Twisted Pair Cable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31788"/>
            <a:ext cx="335280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395288" y="809625"/>
            <a:ext cx="5240337" cy="215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Two insulated copper wires that are twisted together (which results in cancellation of induced interference; cancellation of radiated interference, hence reduces radiation)</a:t>
            </a:r>
          </a:p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The individual pairs can be shielded (STP) or unshielded (UTP)</a:t>
            </a:r>
          </a:p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The cable can also be shielded (S/STP)</a:t>
            </a:r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395288" y="3023956"/>
            <a:ext cx="8386762" cy="348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b="1" dirty="0">
                <a:latin typeface="Lucida Sans Unicode" pitchFamily="34" charset="0"/>
              </a:rPr>
              <a:t>Categories (CAT ...)</a:t>
            </a:r>
          </a:p>
          <a:p>
            <a:pPr lvl="1">
              <a:lnSpc>
                <a:spcPts val="2300"/>
              </a:lnSpc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1 	- primarily for voice</a:t>
            </a:r>
          </a:p>
          <a:p>
            <a:pPr lvl="1">
              <a:lnSpc>
                <a:spcPts val="2300"/>
              </a:lnSpc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2 	- 4Mbps</a:t>
            </a:r>
          </a:p>
          <a:p>
            <a:pPr lvl="1">
              <a:lnSpc>
                <a:spcPts val="2300"/>
              </a:lnSpc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3 	- 16MHz bandwidth; 10Mb/s</a:t>
            </a:r>
          </a:p>
          <a:p>
            <a:pPr lvl="1">
              <a:lnSpc>
                <a:spcPts val="2300"/>
              </a:lnSpc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4 	- 20MHz bandwidth; 16Mb/s</a:t>
            </a:r>
          </a:p>
          <a:p>
            <a:pPr lvl="1">
              <a:lnSpc>
                <a:spcPts val="2300"/>
              </a:lnSpc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5	- 100MHz bandwidth; 100Mb/s (4 pairs/cable)</a:t>
            </a:r>
          </a:p>
          <a:p>
            <a:pPr lvl="1">
              <a:lnSpc>
                <a:spcPts val="2300"/>
              </a:lnSpc>
              <a:buAutoNum type="arabicPlain" startAt="6"/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 	- 400MHz bandwidth; 1Gb/s (4 pairs/cable)</a:t>
            </a:r>
          </a:p>
          <a:p>
            <a:pPr lvl="1">
              <a:lnSpc>
                <a:spcPts val="2300"/>
              </a:lnSpc>
              <a:buAutoNum type="arabicPlain" startAt="6"/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 	- 600MHz bandwidth (1GHz for Augmented); 10Gb/s</a:t>
            </a:r>
          </a:p>
          <a:p>
            <a:pPr lvl="1">
              <a:lnSpc>
                <a:spcPts val="2300"/>
              </a:lnSpc>
              <a:buAutoNum type="arabicPlain" startAt="6"/>
              <a:tabLst>
                <a:tab pos="990600" algn="l"/>
              </a:tabLst>
            </a:pPr>
            <a:r>
              <a:rPr lang="en-GB" sz="1600" dirty="0">
                <a:latin typeface="Lucida Sans Unicode" pitchFamily="34" charset="0"/>
              </a:rPr>
              <a:t> 	- 1.2GHz bandwidth </a:t>
            </a:r>
          </a:p>
          <a:p>
            <a:pPr lvl="1"/>
            <a:endParaRPr lang="en-GB" sz="1600" dirty="0">
              <a:latin typeface="Lucida Sans Unicode" pitchFamily="34" charset="0"/>
            </a:endParaRPr>
          </a:p>
          <a:p>
            <a:r>
              <a:rPr lang="en-GB" sz="1600" dirty="0">
                <a:latin typeface="Lucida Sans Unicode" pitchFamily="34" charset="0"/>
              </a:rPr>
              <a:t>Common Uses:</a:t>
            </a:r>
          </a:p>
          <a:p>
            <a:pPr lvl="1"/>
            <a:r>
              <a:rPr lang="en-GB" sz="1600" dirty="0">
                <a:latin typeface="Lucida Sans Unicode" pitchFamily="34" charset="0"/>
              </a:rPr>
              <a:t>Voice Telephony,  various Digital Subscriber Line (</a:t>
            </a:r>
            <a:r>
              <a:rPr lang="en-GB" sz="1600" dirty="0" err="1">
                <a:latin typeface="Lucida Sans Unicode" pitchFamily="34" charset="0"/>
              </a:rPr>
              <a:t>xDSL</a:t>
            </a:r>
            <a:r>
              <a:rPr lang="en-GB" sz="1600" dirty="0">
                <a:latin typeface="Lucida Sans Unicode" pitchFamily="34" charset="0"/>
              </a:rPr>
              <a:t>), LANs</a:t>
            </a:r>
          </a:p>
        </p:txBody>
      </p:sp>
      <p:pic>
        <p:nvPicPr>
          <p:cNvPr id="25604" name="Picture 4" descr="http://www.nanhua.info/upfiles/CAT7.jpg"/>
          <p:cNvPicPr>
            <a:picLocks noChangeAspect="1" noChangeArrowheads="1"/>
          </p:cNvPicPr>
          <p:nvPr/>
        </p:nvPicPr>
        <p:blipFill>
          <a:blip r:embed="rId3" cstate="print"/>
          <a:srcRect t="26354" b="27526"/>
          <a:stretch>
            <a:fillRect/>
          </a:stretch>
        </p:blipFill>
        <p:spPr bwMode="auto">
          <a:xfrm>
            <a:off x="5061857" y="2843935"/>
            <a:ext cx="4082143" cy="157517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6912260" y="4239090"/>
            <a:ext cx="19352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CAT 7 – Screen Shielded Twisted Pair (SSTP) </a:t>
            </a:r>
          </a:p>
          <a:p>
            <a:endParaRPr lang="en-GB" sz="1400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036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AB6478-9AA3-44F9-8913-867D0202BA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106"/>
          <a:stretch/>
        </p:blipFill>
        <p:spPr>
          <a:xfrm>
            <a:off x="395288" y="1340729"/>
            <a:ext cx="5010150" cy="31503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F09F88-AA71-4ED0-8E0F-DAD04855105E}"/>
              </a:ext>
            </a:extLst>
          </p:cNvPr>
          <p:cNvSpPr txBox="1"/>
          <p:nvPr/>
        </p:nvSpPr>
        <p:spPr>
          <a:xfrm>
            <a:off x="1871700" y="2510858"/>
            <a:ext cx="1762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latin typeface="Lucida Sans Unicode" pitchFamily="34" charset="0"/>
              </a:rPr>
              <a:t>Untwisted cable</a:t>
            </a: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B90B4-B013-4F6C-ACE9-D7F6DE6FA000}"/>
              </a:ext>
            </a:extLst>
          </p:cNvPr>
          <p:cNvSpPr txBox="1"/>
          <p:nvPr/>
        </p:nvSpPr>
        <p:spPr>
          <a:xfrm>
            <a:off x="1979902" y="4221048"/>
            <a:ext cx="1545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latin typeface="Lucida Sans Unicode" pitchFamily="34" charset="0"/>
              </a:rPr>
              <a:t>Twisted cable</a:t>
            </a:r>
            <a:endParaRPr lang="en-GB" sz="1600" dirty="0">
              <a:latin typeface="Lucida Sans Unicode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796C77-8F84-4806-B33A-BE7FB9F078FD}"/>
              </a:ext>
            </a:extLst>
          </p:cNvPr>
          <p:cNvCxnSpPr/>
          <p:nvPr/>
        </p:nvCxnSpPr>
        <p:spPr>
          <a:xfrm>
            <a:off x="585322" y="4982689"/>
            <a:ext cx="450050" cy="0"/>
          </a:xfrm>
          <a:prstGeom prst="straightConnector1">
            <a:avLst/>
          </a:prstGeom>
          <a:ln w="57150">
            <a:solidFill>
              <a:srgbClr val="3E14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AAB80F-A318-4CFB-8961-E70B2D8B1EDD}"/>
              </a:ext>
            </a:extLst>
          </p:cNvPr>
          <p:cNvCxnSpPr/>
          <p:nvPr/>
        </p:nvCxnSpPr>
        <p:spPr>
          <a:xfrm>
            <a:off x="585322" y="5342729"/>
            <a:ext cx="45005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CCAD0AF-BEFA-471E-81FD-9A9AE3FE751A}"/>
              </a:ext>
            </a:extLst>
          </p:cNvPr>
          <p:cNvSpPr txBox="1"/>
          <p:nvPr/>
        </p:nvSpPr>
        <p:spPr>
          <a:xfrm>
            <a:off x="1170387" y="4813412"/>
            <a:ext cx="1588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latin typeface="Lucida Sans Unicode" pitchFamily="34" charset="0"/>
              </a:rPr>
              <a:t>Magnetic field</a:t>
            </a: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D39AF-DC27-47F3-A76B-B603A3924ECC}"/>
              </a:ext>
            </a:extLst>
          </p:cNvPr>
          <p:cNvSpPr txBox="1"/>
          <p:nvPr/>
        </p:nvSpPr>
        <p:spPr>
          <a:xfrm>
            <a:off x="1170386" y="5250686"/>
            <a:ext cx="2355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latin typeface="Lucida Sans Unicode" pitchFamily="34" charset="0"/>
              </a:rPr>
              <a:t>Induced noise current</a:t>
            </a: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6613A8-B306-462F-B22F-1B0413639AF5}"/>
              </a:ext>
            </a:extLst>
          </p:cNvPr>
          <p:cNvSpPr/>
          <p:nvPr/>
        </p:nvSpPr>
        <p:spPr>
          <a:xfrm>
            <a:off x="5696961" y="1169071"/>
            <a:ext cx="293427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11111"/>
                </a:solidFill>
                <a:latin typeface="Roboto"/>
              </a:rPr>
              <a:t>Noise generated by magnetic fields from the environment.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11111"/>
                </a:solidFill>
                <a:latin typeface="Roboto"/>
              </a:rPr>
              <a:t>noise current is the result of that magnetic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11111"/>
                </a:solidFill>
                <a:latin typeface="Roboto"/>
              </a:rPr>
              <a:t>straight cable - all noise current flows same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11111"/>
                </a:solidFill>
                <a:latin typeface="Roboto"/>
              </a:rPr>
              <a:t>twisted cable – in alternate twists noise current is the opposite from the current in other twists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7D90E05-5904-4BEA-8976-8D63E1B2C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1788"/>
            <a:ext cx="2933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Twisted Pair Cable</a:t>
            </a:r>
          </a:p>
        </p:txBody>
      </p:sp>
    </p:spTree>
    <p:extLst>
      <p:ext uri="{BB962C8B-B14F-4D97-AF65-F5344CB8AC3E}">
        <p14:creationId xmlns:p14="http://schemas.microsoft.com/office/powerpoint/2010/main" val="2477411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31788"/>
            <a:ext cx="335280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395288" y="331788"/>
            <a:ext cx="2933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Twisted Pair Cable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395288" y="989013"/>
            <a:ext cx="5070475" cy="387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sz="1600" b="1" dirty="0">
                <a:latin typeface="Lucida Sans Unicode" pitchFamily="34" charset="0"/>
              </a:rPr>
              <a:t>Advantages: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High availability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Low installation cost</a:t>
            </a:r>
          </a:p>
          <a:p>
            <a:pPr marL="180975" indent="-180975">
              <a:lnSpc>
                <a:spcPct val="150000"/>
              </a:lnSpc>
            </a:pPr>
            <a:endParaRPr lang="en-GB" sz="1600" dirty="0">
              <a:latin typeface="Lucida Sans Unicode" pitchFamily="34" charset="0"/>
            </a:endParaRPr>
          </a:p>
          <a:p>
            <a:pPr marL="180975" indent="-180975">
              <a:lnSpc>
                <a:spcPct val="150000"/>
              </a:lnSpc>
            </a:pPr>
            <a:r>
              <a:rPr lang="en-GB" sz="1600" b="1" dirty="0">
                <a:latin typeface="Lucida Sans Unicode" pitchFamily="34" charset="0"/>
              </a:rPr>
              <a:t>Disadvantages: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Usable frequency spectrum is small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Limited data rates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Limited range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High </a:t>
            </a:r>
            <a:r>
              <a:rPr lang="en-GB" sz="1600" dirty="0" err="1">
                <a:latin typeface="Lucida Sans Unicode" pitchFamily="34" charset="0"/>
              </a:rPr>
              <a:t>suceptibility</a:t>
            </a:r>
            <a:r>
              <a:rPr lang="en-GB" sz="1600" dirty="0">
                <a:latin typeface="Lucida Sans Unicode" pitchFamily="34" charset="0"/>
              </a:rPr>
              <a:t> to electromagnetic and radio frequency interference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4551363" y="6273800"/>
            <a:ext cx="45926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sz="1200" i="1" dirty="0">
                <a:latin typeface="Lucida Sans Unicode" pitchFamily="34" charset="0"/>
              </a:rPr>
              <a:t>ref – </a:t>
            </a:r>
            <a:r>
              <a:rPr lang="en-GB" sz="1200" i="1" dirty="0" err="1">
                <a:latin typeface="Lucida Sans Unicode" pitchFamily="34" charset="0"/>
              </a:rPr>
              <a:t>Prof.</a:t>
            </a:r>
            <a:r>
              <a:rPr lang="en-GB" sz="1200" i="1" dirty="0">
                <a:latin typeface="Lucida Sans Unicode" pitchFamily="34" charset="0"/>
              </a:rPr>
              <a:t> David Bernstein,  James Madison University</a:t>
            </a:r>
          </a:p>
        </p:txBody>
      </p:sp>
    </p:spTree>
    <p:extLst>
      <p:ext uri="{BB962C8B-B14F-4D97-AF65-F5344CB8AC3E}">
        <p14:creationId xmlns:p14="http://schemas.microsoft.com/office/powerpoint/2010/main" val="4030452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31788"/>
            <a:ext cx="335280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1"/>
          <p:cNvSpPr>
            <a:spLocks noChangeArrowheads="1"/>
          </p:cNvSpPr>
          <p:nvPr/>
        </p:nvSpPr>
        <p:spPr bwMode="auto">
          <a:xfrm>
            <a:off x="395288" y="842735"/>
            <a:ext cx="5178425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74625" indent="-174625"/>
            <a:r>
              <a:rPr lang="en-GB" sz="1600" b="1" dirty="0">
                <a:latin typeface="Lucida Sans Unicode" pitchFamily="34" charset="0"/>
              </a:rPr>
              <a:t>In balanced pair operation - </a:t>
            </a:r>
          </a:p>
          <a:p>
            <a:r>
              <a:rPr lang="en-GB" sz="1600" i="1" dirty="0">
                <a:latin typeface="Lucida Sans Unicode" pitchFamily="34" charset="0"/>
              </a:rPr>
              <a:t>Differential mode transmission -</a:t>
            </a:r>
          </a:p>
          <a:p>
            <a:pPr marL="174625" indent="-174625">
              <a:buFont typeface="Arial" charset="0"/>
              <a:buChar char="•"/>
            </a:pPr>
            <a:r>
              <a:rPr lang="en-GB" sz="1600" u="sng" dirty="0">
                <a:latin typeface="Lucida Sans Unicode" pitchFamily="34" charset="0"/>
              </a:rPr>
              <a:t>differential</a:t>
            </a:r>
            <a:r>
              <a:rPr lang="en-GB" sz="1600" dirty="0">
                <a:latin typeface="Lucida Sans Unicode" pitchFamily="34" charset="0"/>
              </a:rPr>
              <a:t> signals; receiver detects the </a:t>
            </a:r>
            <a:r>
              <a:rPr lang="en-GB" sz="1600" u="sng" dirty="0">
                <a:latin typeface="Lucida Sans Unicode" pitchFamily="34" charset="0"/>
              </a:rPr>
              <a:t>difference</a:t>
            </a:r>
            <a:r>
              <a:rPr lang="en-GB" sz="1600" dirty="0">
                <a:latin typeface="Lucida Sans Unicode" pitchFamily="34" charset="0"/>
              </a:rPr>
              <a:t> between the two </a:t>
            </a:r>
          </a:p>
          <a:p>
            <a:pPr marL="174625" indent="-174625"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noise signals tend to couple to both wires equally</a:t>
            </a:r>
          </a:p>
          <a:p>
            <a:pPr marL="174625" indent="-174625"/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	∴ </a:t>
            </a:r>
            <a:r>
              <a:rPr lang="en-GB" sz="1600" dirty="0">
                <a:latin typeface="Lucida Sans Unicode" pitchFamily="34" charset="0"/>
              </a:rPr>
              <a:t>noise produces a common signal in each conductor </a:t>
            </a:r>
          </a:p>
          <a:p>
            <a:pPr marL="174625" indent="-174625"/>
            <a:r>
              <a:rPr lang="en-GB" sz="1600" dirty="0">
                <a:latin typeface="Lucida Sans Unicode" pitchFamily="34" charset="0"/>
              </a:rPr>
              <a:t>	- which is cancelled at the receiver </a:t>
            </a:r>
          </a:p>
          <a:p>
            <a:endParaRPr lang="en-GB" sz="1600" dirty="0">
              <a:latin typeface="Lucida Sans Unicode" pitchFamily="34" charset="0"/>
            </a:endParaRPr>
          </a:p>
          <a:p>
            <a:r>
              <a:rPr lang="en-GB" sz="1200" dirty="0">
                <a:latin typeface="Lucida Sans Unicode" pitchFamily="34" charset="0"/>
              </a:rPr>
              <a:t>(not effective when the noise source is close to the signal wires; closer wire will couple with the noise more strongly) </a:t>
            </a: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395288" y="331788"/>
            <a:ext cx="2933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Twisted Pair Cable</a:t>
            </a:r>
          </a:p>
        </p:txBody>
      </p:sp>
      <p:sp>
        <p:nvSpPr>
          <p:cNvPr id="12294" name="Rectangle 5"/>
          <p:cNvSpPr>
            <a:spLocks noChangeArrowheads="1"/>
          </p:cNvSpPr>
          <p:nvPr/>
        </p:nvSpPr>
        <p:spPr bwMode="auto">
          <a:xfrm>
            <a:off x="6070600" y="3146425"/>
            <a:ext cx="28495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74625" indent="-174625"/>
            <a:r>
              <a:rPr lang="en-GB" sz="1600" dirty="0">
                <a:latin typeface="Lucida Sans Unicode" pitchFamily="34" charset="0"/>
              </a:rPr>
              <a:t>Twist rate </a:t>
            </a:r>
          </a:p>
          <a:p>
            <a:pPr marL="174625" indent="-174625"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more twists the better (usually) 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7" y="4464407"/>
            <a:ext cx="5804120" cy="1609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06272" y="4338734"/>
            <a:ext cx="2919917" cy="2071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95288" y="6253038"/>
            <a:ext cx="510977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dirty="0">
                <a:latin typeface="Lucida Sans Unicode" pitchFamily="34" charset="0"/>
              </a:rPr>
              <a:t>http://www.extron.com/company/article.aspx?id=utptechnology</a:t>
            </a:r>
          </a:p>
        </p:txBody>
      </p:sp>
    </p:spTree>
    <p:extLst>
      <p:ext uri="{BB962C8B-B14F-4D97-AF65-F5344CB8AC3E}">
        <p14:creationId xmlns:p14="http://schemas.microsoft.com/office/powerpoint/2010/main" val="1321747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288" y="331788"/>
            <a:ext cx="2933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Twisted Pair Cable</a:t>
            </a:r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433664"/>
            <a:ext cx="4590661" cy="2974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6" name="Picture 8"/>
          <p:cNvPicPr>
            <a:picLocks noChangeAspect="1" noChangeArrowheads="1"/>
          </p:cNvPicPr>
          <p:nvPr/>
        </p:nvPicPr>
        <p:blipFill>
          <a:blip r:embed="rId3" cstate="print"/>
          <a:srcRect t="11655"/>
          <a:stretch>
            <a:fillRect/>
          </a:stretch>
        </p:blipFill>
        <p:spPr bwMode="auto">
          <a:xfrm>
            <a:off x="395288" y="1194318"/>
            <a:ext cx="2246733" cy="1484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7" name="Picture 9"/>
          <p:cNvPicPr>
            <a:picLocks noChangeAspect="1" noChangeArrowheads="1"/>
          </p:cNvPicPr>
          <p:nvPr/>
        </p:nvPicPr>
        <p:blipFill>
          <a:blip r:embed="rId4" cstate="print"/>
          <a:srcRect t="14077"/>
          <a:stretch>
            <a:fillRect/>
          </a:stretch>
        </p:blipFill>
        <p:spPr bwMode="auto">
          <a:xfrm>
            <a:off x="4660543" y="4898571"/>
            <a:ext cx="2310275" cy="142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95288" y="858416"/>
            <a:ext cx="3049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latin typeface="Lucida Sans Unicode" pitchFamily="34" charset="0"/>
              </a:rPr>
              <a:t>UTP: Unshielded twisted pair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5288" y="4398057"/>
            <a:ext cx="5389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STP</a:t>
            </a:r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31788"/>
            <a:ext cx="335280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6070600" y="3146425"/>
            <a:ext cx="28495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74625" indent="-174625"/>
            <a:r>
              <a:rPr lang="en-GB" sz="1600" dirty="0">
                <a:latin typeface="Lucida Sans Unicode" pitchFamily="34" charset="0"/>
              </a:rPr>
              <a:t>Twist rate </a:t>
            </a:r>
          </a:p>
          <a:p>
            <a:pPr marL="174625" indent="-174625"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more twists the better (usually)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5288" y="2956221"/>
            <a:ext cx="31783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1600" b="1" dirty="0">
                <a:solidFill>
                  <a:srgbClr val="000000"/>
                </a:solidFill>
                <a:latin typeface="Lucida Sans Unicode" pitchFamily="34" charset="0"/>
              </a:rPr>
              <a:t>STP: Shielded twisted pair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7019" y="1449584"/>
            <a:ext cx="5709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UTP</a:t>
            </a:r>
          </a:p>
        </p:txBody>
      </p:sp>
    </p:spTree>
    <p:extLst>
      <p:ext uri="{BB962C8B-B14F-4D97-AF65-F5344CB8AC3E}">
        <p14:creationId xmlns:p14="http://schemas.microsoft.com/office/powerpoint/2010/main" val="2146684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95288" y="331788"/>
            <a:ext cx="2933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Twisted Pair Cable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95288" y="1007270"/>
            <a:ext cx="474587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b="1" dirty="0"/>
              <a:t>Telecommunication cables pairs in the same cable adjacent for many miles</a:t>
            </a:r>
          </a:p>
          <a:p>
            <a:r>
              <a:rPr lang="en-GB" dirty="0"/>
              <a:t>... one pair can induce crosstalk in another</a:t>
            </a:r>
          </a:p>
          <a:p>
            <a:r>
              <a:rPr lang="en-GB" dirty="0"/>
              <a:t> </a:t>
            </a:r>
          </a:p>
          <a:p>
            <a:pPr>
              <a:buFont typeface="Arial" charset="0"/>
              <a:buChar char="•"/>
            </a:pPr>
            <a:r>
              <a:rPr lang="en-GB" dirty="0"/>
              <a:t>each half twist the wire nearest to the noise-source is exchanged</a:t>
            </a:r>
          </a:p>
          <a:p>
            <a:pPr>
              <a:buFont typeface="Arial" charset="0"/>
              <a:buChar char="•"/>
            </a:pPr>
            <a:endParaRPr lang="en-GB" dirty="0"/>
          </a:p>
          <a:p>
            <a:pPr>
              <a:buFont typeface="Arial" charset="0"/>
              <a:buChar char="•"/>
            </a:pPr>
            <a:r>
              <a:rPr lang="en-GB" dirty="0"/>
              <a:t>also reduces electromagnetic radiation from the cable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3136" y="331788"/>
            <a:ext cx="3498980" cy="5905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0800000">
            <a:off x="395287" y="4081663"/>
            <a:ext cx="2921661" cy="224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5869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288" y="1133745"/>
            <a:ext cx="8055895" cy="3926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/>
              <a:t>10BASE-T  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transmission at 10 Mb/s on unshielded twisted-pair cabling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defines various aspects of running Ethernet on this cabling.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>
              <a:lnSpc>
                <a:spcPts val="2300"/>
              </a:lnSpc>
            </a:pPr>
            <a:r>
              <a:rPr lang="en-GB"/>
              <a:t>100BASE-T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transmission at 100 Mb/s on unshielded twisted-pair cabling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defines various aspects of running baseband Ethernet on this cabling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>
              <a:lnSpc>
                <a:spcPts val="2300"/>
              </a:lnSpc>
            </a:pPr>
            <a:r>
              <a:rPr lang="en-GB"/>
              <a:t>1000BASE-T (gigabit Ethernet) transmission at 1000 Mb/s on unshielded twisted-pair cabling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/>
              <a:t>defines various aspects of running baseband Ethernet on this cabling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288" y="331788"/>
            <a:ext cx="76530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IEEE Cable Standards for Ethernet on Twisted Pair </a:t>
            </a:r>
          </a:p>
        </p:txBody>
      </p:sp>
    </p:spTree>
    <p:extLst>
      <p:ext uri="{BB962C8B-B14F-4D97-AF65-F5344CB8AC3E}">
        <p14:creationId xmlns:p14="http://schemas.microsoft.com/office/powerpoint/2010/main" val="1718104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386535" y="873296"/>
            <a:ext cx="7872412" cy="2785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>
              <a:buFontTx/>
              <a:buChar char="•"/>
            </a:pPr>
            <a:r>
              <a:rPr lang="en-US" sz="1600" b="1" dirty="0"/>
              <a:t>Frequency dependent attenuation and dispersion</a:t>
            </a:r>
          </a:p>
          <a:p>
            <a:pPr marL="179388" indent="-179388"/>
            <a:r>
              <a:rPr lang="en-US" sz="1600" dirty="0"/>
              <a:t>	… </a:t>
            </a:r>
            <a:r>
              <a:rPr lang="en-US" sz="1600" dirty="0" err="1"/>
              <a:t>Intersymbol</a:t>
            </a:r>
            <a:r>
              <a:rPr lang="en-US" sz="1600" dirty="0"/>
              <a:t> Interference (ISI)</a:t>
            </a:r>
          </a:p>
          <a:p>
            <a:pPr marL="179388" indent="-179388"/>
            <a:endParaRPr lang="en-US" sz="1000" dirty="0"/>
          </a:p>
          <a:p>
            <a:pPr marL="179388" indent="-179388">
              <a:buFontTx/>
              <a:buChar char="•"/>
            </a:pPr>
            <a:r>
              <a:rPr lang="en-US" sz="1600" b="1" dirty="0"/>
              <a:t>Coupling between wires in same and adjacent binders</a:t>
            </a:r>
          </a:p>
          <a:p>
            <a:pPr marL="179388" indent="-179388"/>
            <a:r>
              <a:rPr lang="en-US" sz="1600" dirty="0"/>
              <a:t>	… crosstalk 	- near-end cross-talk = NEXT</a:t>
            </a:r>
          </a:p>
          <a:p>
            <a:pPr marL="179388" indent="-179388"/>
            <a:r>
              <a:rPr lang="en-US" sz="1600" dirty="0"/>
              <a:t>		 	- far-end cross-talk = FEXT</a:t>
            </a:r>
          </a:p>
          <a:p>
            <a:pPr marL="179388" indent="-179388">
              <a:buFontTx/>
              <a:buChar char="•"/>
            </a:pPr>
            <a:endParaRPr lang="en-US" sz="1050" b="1" dirty="0"/>
          </a:p>
          <a:p>
            <a:pPr marL="179388" indent="-179388">
              <a:buFontTx/>
              <a:buChar char="•"/>
            </a:pPr>
            <a:r>
              <a:rPr lang="en-US" sz="1600" b="1" dirty="0"/>
              <a:t>Bridged taps and gauge transitions</a:t>
            </a:r>
          </a:p>
          <a:p>
            <a:pPr marL="179388" indent="-179388"/>
            <a:r>
              <a:rPr lang="en-US" sz="1600" dirty="0"/>
              <a:t>	… reflections : pulse distortion (ISI)</a:t>
            </a:r>
          </a:p>
          <a:p>
            <a:pPr marL="179388" indent="-179388">
              <a:buFontTx/>
              <a:buChar char="•"/>
            </a:pPr>
            <a:endParaRPr lang="en-US" sz="1050" b="1" dirty="0"/>
          </a:p>
          <a:p>
            <a:pPr marL="179388" indent="-179388">
              <a:buFontTx/>
              <a:buChar char="•"/>
            </a:pPr>
            <a:r>
              <a:rPr lang="en-US" sz="1600" b="1" dirty="0"/>
              <a:t>Impulsive noise : high bursts of short duration </a:t>
            </a:r>
            <a:r>
              <a:rPr lang="en-US" sz="1600" dirty="0"/>
              <a:t>(10 ms - 1 ms)</a:t>
            </a:r>
          </a:p>
          <a:p>
            <a:pPr marL="179388" indent="-179388"/>
            <a:endParaRPr lang="en-US" sz="1600" dirty="0"/>
          </a:p>
        </p:txBody>
      </p:sp>
      <p:sp>
        <p:nvSpPr>
          <p:cNvPr id="3" name="Rectangle 22"/>
          <p:cNvSpPr>
            <a:spLocks noChangeArrowheads="1"/>
          </p:cNvSpPr>
          <p:nvPr/>
        </p:nvSpPr>
        <p:spPr bwMode="auto">
          <a:xfrm>
            <a:off x="403718" y="334464"/>
            <a:ext cx="774218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Signal Issues on Twisted Pairs at High Frequencies</a:t>
            </a:r>
          </a:p>
        </p:txBody>
      </p:sp>
      <p:pic>
        <p:nvPicPr>
          <p:cNvPr id="4" name="Picture 2" descr="http://www.sortius-is-a-geek.com/wp-content/uploads/2013/03/nc2000_08c0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0520" y="3393576"/>
            <a:ext cx="4144795" cy="279689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68793" y="3528591"/>
            <a:ext cx="4266722" cy="2439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buFontTx/>
              <a:buChar char="•"/>
            </a:pPr>
            <a:r>
              <a:rPr lang="en-US" sz="1600" b="1" dirty="0"/>
              <a:t>Impedance mismatch between hybrid and line impedance</a:t>
            </a:r>
          </a:p>
          <a:p>
            <a:pPr marL="179388" indent="-179388"/>
            <a:r>
              <a:rPr lang="en-US" sz="1600" dirty="0"/>
              <a:t>	… reflections (echo)</a:t>
            </a:r>
          </a:p>
          <a:p>
            <a:pPr marL="179388" indent="-179388"/>
            <a:endParaRPr lang="en-US" sz="1050" dirty="0"/>
          </a:p>
          <a:p>
            <a:pPr marL="179388" indent="-179388">
              <a:buFontTx/>
              <a:buChar char="•"/>
            </a:pPr>
            <a:r>
              <a:rPr lang="en-US" sz="1600" b="1" dirty="0"/>
              <a:t>RFI interference: AM broadcast &amp; amateur radio</a:t>
            </a:r>
          </a:p>
          <a:p>
            <a:pPr marL="179388" indent="-179388"/>
            <a:r>
              <a:rPr lang="en-US" sz="1600" dirty="0"/>
              <a:t>	… ingress &amp; egress</a:t>
            </a:r>
          </a:p>
          <a:p>
            <a:pPr marL="179388" indent="-179388"/>
            <a:endParaRPr lang="en-US" sz="1000" dirty="0"/>
          </a:p>
          <a:p>
            <a:pPr marL="179388" indent="-179388"/>
            <a:r>
              <a:rPr lang="en-US" sz="1600" dirty="0"/>
              <a:t>All these require a highly adaptive transceiver (at each end)</a:t>
            </a:r>
          </a:p>
        </p:txBody>
      </p:sp>
    </p:spTree>
    <p:extLst>
      <p:ext uri="{BB962C8B-B14F-4D97-AF65-F5344CB8AC3E}">
        <p14:creationId xmlns:p14="http://schemas.microsoft.com/office/powerpoint/2010/main" val="3330491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ChangeArrowheads="1"/>
          </p:cNvSpPr>
          <p:nvPr/>
        </p:nvSpPr>
        <p:spPr bwMode="auto">
          <a:xfrm>
            <a:off x="395288" y="331788"/>
            <a:ext cx="2232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Coaxial Cable</a:t>
            </a: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395288" y="3700444"/>
            <a:ext cx="40367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A (thick) copper wire surrounded by an insulator and an outer conductor</a:t>
            </a:r>
          </a:p>
        </p:txBody>
      </p:sp>
      <p:sp>
        <p:nvSpPr>
          <p:cNvPr id="13317" name="TextBox 5"/>
          <p:cNvSpPr txBox="1">
            <a:spLocks noChangeArrowheads="1"/>
          </p:cNvSpPr>
          <p:nvPr/>
        </p:nvSpPr>
        <p:spPr bwMode="auto">
          <a:xfrm>
            <a:off x="4977065" y="502912"/>
            <a:ext cx="3827462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180975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GB" b="1" dirty="0"/>
              <a:t>Common Types: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RG-6 - 1.00mm core, 75 </a:t>
            </a:r>
            <a:r>
              <a:rPr lang="el-GR" dirty="0"/>
              <a:t>Ω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RG-59 - 0.81mm core, 75 </a:t>
            </a:r>
            <a:r>
              <a:rPr lang="el-GR" dirty="0"/>
              <a:t>Ω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RG-58 - 0.90mm core, 50 </a:t>
            </a:r>
            <a:r>
              <a:rPr lang="el-GR" dirty="0"/>
              <a:t>Ω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RG-8 - 2.17mm core, 50 </a:t>
            </a:r>
            <a:r>
              <a:rPr lang="el-GR" dirty="0"/>
              <a:t>Ω</a:t>
            </a:r>
            <a:endParaRPr lang="en-GB" dirty="0"/>
          </a:p>
          <a:p>
            <a:pPr lvl="1">
              <a:lnSpc>
                <a:spcPts val="2300"/>
              </a:lnSpc>
              <a:buFont typeface="Arial" charset="0"/>
              <a:buChar char="•"/>
            </a:pPr>
            <a:endParaRPr lang="el-GR" dirty="0"/>
          </a:p>
          <a:p>
            <a:pPr>
              <a:lnSpc>
                <a:spcPts val="2300"/>
              </a:lnSpc>
            </a:pPr>
            <a:r>
              <a:rPr lang="en-GB" b="1" dirty="0"/>
              <a:t>Common Uses: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Applications for RF signals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Cable TV (Old: RG-59; New: RG-6)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Ethernet (RG-58: 10Base2; RG-8: 10Base5)</a:t>
            </a:r>
          </a:p>
          <a:p>
            <a:pPr lvl="1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connecting radio transmitter feeds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93700" y="4388761"/>
            <a:ext cx="8263520" cy="215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80975" indent="-180975">
              <a:lnSpc>
                <a:spcPts val="2300"/>
              </a:lnSpc>
            </a:pPr>
            <a:r>
              <a:rPr lang="en-GB" sz="1600" b="1" dirty="0">
                <a:latin typeface="Lucida Sans Unicode" pitchFamily="34" charset="0"/>
              </a:rPr>
              <a:t>Advantages: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High capacity (370-1000 times more than twisted pair)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Low susceptibility to noise and crosstalk (because of shielding)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endParaRPr lang="en-GB" sz="1600" dirty="0">
              <a:latin typeface="Lucida Sans Unicode" pitchFamily="34" charset="0"/>
            </a:endParaRPr>
          </a:p>
          <a:p>
            <a:pPr marL="180975" indent="-180975">
              <a:lnSpc>
                <a:spcPts val="2300"/>
              </a:lnSpc>
            </a:pPr>
            <a:r>
              <a:rPr lang="en-GB" sz="1600" b="1" dirty="0">
                <a:latin typeface="Lucida Sans Unicode" pitchFamily="34" charset="0"/>
              </a:rPr>
              <a:t>Disadvantages: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Noise on the return path</a:t>
            </a:r>
          </a:p>
          <a:p>
            <a:pPr marL="1809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High installation cost</a:t>
            </a:r>
          </a:p>
        </p:txBody>
      </p:sp>
      <p:pic>
        <p:nvPicPr>
          <p:cNvPr id="8" name="Picture 7" descr="https://users.cs.jmu.edu/bernstdh/web/common/lectures/images/coaxial-cable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72381"/>
            <a:ext cx="3900487" cy="270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2155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395288" y="331788"/>
            <a:ext cx="2232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Coaxial Cable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2630" y="606490"/>
            <a:ext cx="408680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dimensions of the cable are controlled to give a precise, constant conductor spacing</a:t>
            </a:r>
          </a:p>
          <a:p>
            <a:pPr marL="177800" indent="-177800">
              <a:lnSpc>
                <a:spcPts val="24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</a:endParaRPr>
          </a:p>
          <a:p>
            <a:pPr marL="177800" indent="-177800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needed to function efficiently as a radio frequency transmission line</a:t>
            </a:r>
          </a:p>
          <a:p>
            <a:pPr marL="177800" indent="-177800">
              <a:lnSpc>
                <a:spcPts val="24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</a:endParaRPr>
          </a:p>
          <a:p>
            <a:pPr marL="177800" indent="-177800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electric and magnetic fields are confined to the dielectric with little leakage outside the shield</a:t>
            </a:r>
          </a:p>
          <a:p>
            <a:pPr marL="177800" indent="-177800">
              <a:lnSpc>
                <a:spcPts val="24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</a:endParaRPr>
          </a:p>
          <a:p>
            <a:pPr marL="177800" indent="-177800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electric and magnetic fields outside the cable are largely kept from causing interference to signals inside the cable</a:t>
            </a:r>
          </a:p>
          <a:p>
            <a:pPr marL="177800" indent="-177800">
              <a:lnSpc>
                <a:spcPts val="24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</a:endParaRPr>
          </a:p>
          <a:p>
            <a:pPr marL="177800" indent="-177800">
              <a:lnSpc>
                <a:spcPts val="24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design of cable to control the electrical transmission properties ...</a:t>
            </a:r>
          </a:p>
        </p:txBody>
      </p:sp>
      <p:pic>
        <p:nvPicPr>
          <p:cNvPr id="20482" name="Picture 2" descr="http://www.electriciansupplies.com.au/shop/images/IMGP3849.JPG"/>
          <p:cNvPicPr>
            <a:picLocks noChangeAspect="1" noChangeArrowheads="1"/>
          </p:cNvPicPr>
          <p:nvPr/>
        </p:nvPicPr>
        <p:blipFill>
          <a:blip r:embed="rId2" cstate="print"/>
          <a:srcRect b="20982"/>
          <a:stretch>
            <a:fillRect/>
          </a:stretch>
        </p:blipFill>
        <p:spPr bwMode="auto">
          <a:xfrm>
            <a:off x="395288" y="4620740"/>
            <a:ext cx="3763055" cy="1592491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95288" y="4689140"/>
            <a:ext cx="3681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ucida Sans Unicode" pitchFamily="34" charset="0"/>
              </a:rPr>
              <a:t>compare to standard shielded cable</a:t>
            </a:r>
          </a:p>
        </p:txBody>
      </p:sp>
      <p:pic>
        <p:nvPicPr>
          <p:cNvPr id="8" name="Picture 7" descr="https://users.cs.jmu.edu/bernstdh/web/common/lectures/images/coaxial-cable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72381"/>
            <a:ext cx="3900487" cy="270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0859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95288" y="331788"/>
            <a:ext cx="2232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Coaxial Cable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28436" y="1646173"/>
            <a:ext cx="3754307" cy="214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197151" y="512763"/>
            <a:ext cx="3603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All cables have electrical properties - they are not just short-circuits between 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288" y="4139682"/>
            <a:ext cx="827246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Electrical properties of any cable pair: </a:t>
            </a:r>
          </a:p>
          <a:p>
            <a:pPr marL="630238" indent="-265113"/>
            <a:r>
              <a:rPr lang="en-GB" sz="1600" dirty="0">
                <a:latin typeface="Lucida Sans Unicode" pitchFamily="34" charset="0"/>
              </a:rPr>
              <a:t>R: </a:t>
            </a:r>
            <a:r>
              <a:rPr lang="en-GB" sz="1600" u="sng" dirty="0">
                <a:latin typeface="Lucida Sans Unicode" pitchFamily="34" charset="0"/>
              </a:rPr>
              <a:t>resistance</a:t>
            </a:r>
            <a:r>
              <a:rPr lang="en-GB" sz="1600" dirty="0">
                <a:latin typeface="Lucida Sans Unicode" pitchFamily="34" charset="0"/>
              </a:rPr>
              <a:t> along the cable</a:t>
            </a:r>
          </a:p>
          <a:p>
            <a:pPr marL="630238" indent="-265113"/>
            <a:r>
              <a:rPr lang="en-GB" sz="1600" dirty="0">
                <a:latin typeface="Lucida Sans Unicode" pitchFamily="34" charset="0"/>
              </a:rPr>
              <a:t>L: signals cause </a:t>
            </a:r>
            <a:r>
              <a:rPr lang="en-GB" sz="1600" u="sng" dirty="0">
                <a:latin typeface="Lucida Sans Unicode" pitchFamily="34" charset="0"/>
              </a:rPr>
              <a:t>inductance</a:t>
            </a:r>
            <a:r>
              <a:rPr lang="en-GB" sz="1600" dirty="0">
                <a:latin typeface="Lucida Sans Unicode" pitchFamily="34" charset="0"/>
              </a:rPr>
              <a:t> along the length of the cable</a:t>
            </a:r>
          </a:p>
          <a:p>
            <a:pPr marL="630238" indent="-265113"/>
            <a:r>
              <a:rPr lang="en-GB" sz="1600" dirty="0">
                <a:latin typeface="Lucida Sans Unicode" pitchFamily="34" charset="0"/>
              </a:rPr>
              <a:t>G: </a:t>
            </a:r>
            <a:r>
              <a:rPr lang="en-GB" sz="1600" u="sng" dirty="0">
                <a:latin typeface="Lucida Sans Unicode" pitchFamily="34" charset="0"/>
              </a:rPr>
              <a:t>conductance</a:t>
            </a:r>
            <a:r>
              <a:rPr lang="en-GB" sz="1600" dirty="0">
                <a:latin typeface="Lucida Sans Unicode" pitchFamily="34" charset="0"/>
              </a:rPr>
              <a:t> - a certain amount of leakage, similar to a high resistance between the conductors</a:t>
            </a:r>
          </a:p>
          <a:p>
            <a:pPr marL="630238" indent="-265113"/>
            <a:r>
              <a:rPr lang="en-GB" sz="1600" dirty="0">
                <a:latin typeface="Lucida Sans Unicode" pitchFamily="34" charset="0"/>
              </a:rPr>
              <a:t>C: </a:t>
            </a:r>
            <a:r>
              <a:rPr lang="en-GB" sz="1600" u="sng" dirty="0">
                <a:latin typeface="Lucida Sans Unicode" pitchFamily="34" charset="0"/>
              </a:rPr>
              <a:t>capacitance</a:t>
            </a:r>
            <a:r>
              <a:rPr lang="en-GB" sz="1600" dirty="0">
                <a:latin typeface="Lucida Sans Unicode" pitchFamily="34" charset="0"/>
              </a:rPr>
              <a:t> between the two conductors</a:t>
            </a:r>
          </a:p>
          <a:p>
            <a:endParaRPr lang="en-GB" sz="1600" dirty="0">
              <a:latin typeface="Lucida Sans Unicode" pitchFamily="34" charset="0"/>
            </a:endParaRPr>
          </a:p>
          <a:p>
            <a:r>
              <a:rPr lang="en-GB" sz="1600" dirty="0">
                <a:latin typeface="Lucida Sans Unicode" pitchFamily="34" charset="0"/>
              </a:rPr>
              <a:t>Coax cable is designed to control these parameters</a:t>
            </a:r>
          </a:p>
        </p:txBody>
      </p:sp>
      <p:pic>
        <p:nvPicPr>
          <p:cNvPr id="8" name="Picture 7" descr="https://users.cs.jmu.edu/bernstdh/web/common/lectures/images/coaxial-cable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72381"/>
            <a:ext cx="3900487" cy="270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3235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95288" y="331788"/>
            <a:ext cx="2232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Coaxial Cable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28436" y="1646173"/>
            <a:ext cx="3754307" cy="214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197151" y="512763"/>
            <a:ext cx="3603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All cables have electrical properties - they are not just short-circuits between equipment</a:t>
            </a:r>
          </a:p>
        </p:txBody>
      </p:sp>
      <p:pic>
        <p:nvPicPr>
          <p:cNvPr id="6" name="Picture 5" descr="https://users.cs.jmu.edu/bernstdh/web/common/lectures/images/coaxial-cable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72381"/>
            <a:ext cx="3900487" cy="270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479354" y="4779150"/>
            <a:ext cx="8321746" cy="927747"/>
            <a:chOff x="476545" y="4644133"/>
            <a:chExt cx="8321746" cy="92774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545" y="4644135"/>
              <a:ext cx="1619532" cy="92774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7547" y="4644135"/>
              <a:ext cx="1619532" cy="927745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8549" y="4644134"/>
              <a:ext cx="1619532" cy="92774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9551" y="4644134"/>
              <a:ext cx="1619532" cy="927745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7757" y="4644134"/>
              <a:ext cx="1619532" cy="92774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8759" y="4644133"/>
              <a:ext cx="1619532" cy="927745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/>
        </p:nvSpPr>
        <p:spPr>
          <a:xfrm>
            <a:off x="413974" y="4363651"/>
            <a:ext cx="7173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latin typeface="Lucida Sans Unicode" pitchFamily="34" charset="0"/>
              </a:rPr>
              <a:t>All cables are effectively a (mathematically) complex circuit of distributed impedance sections</a:t>
            </a:r>
            <a:endParaRPr lang="en-GB" sz="1200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869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95288" y="331788"/>
            <a:ext cx="2232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Coaxial Cable</a:t>
            </a:r>
          </a:p>
        </p:txBody>
      </p:sp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01283" y="545064"/>
            <a:ext cx="245745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34070" y="3894364"/>
            <a:ext cx="2245178" cy="2245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93548" y="3959678"/>
            <a:ext cx="2133212" cy="213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589037" y="2416629"/>
            <a:ext cx="2335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Double shielded coax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6686" y="6139543"/>
            <a:ext cx="4297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Coax female socket         Coax male plug</a:t>
            </a:r>
          </a:p>
        </p:txBody>
      </p:sp>
      <p:pic>
        <p:nvPicPr>
          <p:cNvPr id="9" name="Picture 8" descr="https://users.cs.jmu.edu/bernstdh/web/common/lectures/images/coaxial-cable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72381"/>
            <a:ext cx="3900487" cy="270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8946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648408"/>
            <a:ext cx="2782466" cy="2047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5785" y="992931"/>
            <a:ext cx="2893267" cy="289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5288" y="331788"/>
            <a:ext cx="2232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Coaxial Cable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288" y="4291693"/>
            <a:ext cx="85192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Lucida Sans Unicode" pitchFamily="34" charset="0"/>
              </a:rPr>
              <a:t>Splitting signals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simple 2-into-1 can cause impedance imbalance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splitters should normally terminate each cable and combine in an impedance-balanced circuit, especially at high RF feeds</a:t>
            </a:r>
          </a:p>
        </p:txBody>
      </p:sp>
    </p:spTree>
    <p:extLst>
      <p:ext uri="{BB962C8B-B14F-4D97-AF65-F5344CB8AC3E}">
        <p14:creationId xmlns:p14="http://schemas.microsoft.com/office/powerpoint/2010/main" val="715574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450" y="331788"/>
            <a:ext cx="9011550" cy="3830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5288" y="331788"/>
            <a:ext cx="2760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Fibre Optic Cable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347238" y="2916499"/>
            <a:ext cx="4572000" cy="1220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>
              <a:lnSpc>
                <a:spcPts val="22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A thin glass core surrounded by cladding that reflects light into the core</a:t>
            </a:r>
          </a:p>
          <a:p>
            <a:pPr marL="180975" indent="-180975">
              <a:lnSpc>
                <a:spcPts val="22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surrounded by a protective plastic buffer/jacket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694098" y="4956049"/>
            <a:ext cx="2449902" cy="1259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ts val="2300"/>
              </a:lnSpc>
              <a:defRPr/>
            </a:pPr>
            <a:r>
              <a:rPr lang="en-GB" sz="1600" b="1" dirty="0">
                <a:latin typeface="Lucida Sans Unicode" pitchFamily="34" charset="0"/>
              </a:rPr>
              <a:t>Common Uses:</a:t>
            </a:r>
          </a:p>
          <a:p>
            <a:pPr marL="180975" lvl="1" indent="-180975">
              <a:lnSpc>
                <a:spcPts val="2300"/>
              </a:lnSpc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Cable TV</a:t>
            </a:r>
          </a:p>
          <a:p>
            <a:pPr marL="180975" lvl="1" indent="-180975">
              <a:lnSpc>
                <a:spcPts val="2300"/>
              </a:lnSpc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Voice Telephony</a:t>
            </a:r>
          </a:p>
          <a:p>
            <a:pPr marL="180975" lvl="1" indent="-180975">
              <a:lnSpc>
                <a:spcPts val="2300"/>
              </a:lnSpc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Ethernet</a:t>
            </a:r>
          </a:p>
        </p:txBody>
      </p:sp>
      <p:pic>
        <p:nvPicPr>
          <p:cNvPr id="349194" name="Picture 10" descr="http://www.multicominc.com/images/smfiberfron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72929" y="4330461"/>
            <a:ext cx="2181225" cy="2009775"/>
          </a:xfrm>
          <a:prstGeom prst="rect">
            <a:avLst/>
          </a:prstGeom>
          <a:noFill/>
        </p:spPr>
      </p:pic>
      <p:pic>
        <p:nvPicPr>
          <p:cNvPr id="349193" name="Picture 9" descr="http://www.multicominc.com/images/smfibe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3700" y="4573826"/>
            <a:ext cx="2847975" cy="150495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5020574" y="6003984"/>
            <a:ext cx="1039067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Lucida Sans Unicode" pitchFamily="34" charset="0"/>
              </a:rPr>
              <a:t>9 – 62.5m</a:t>
            </a:r>
            <a:r>
              <a:rPr lang="el-GR" sz="1200" dirty="0">
                <a:latin typeface="Lucida Sans Unicode" pitchFamily="34" charset="0"/>
              </a:rPr>
              <a:t>μ</a:t>
            </a:r>
            <a:endParaRPr lang="en-GB" sz="1200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7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4776" y="1606163"/>
            <a:ext cx="2254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>
                <a:latin typeface="Lucida Sans Unicode" pitchFamily="34" charset="0"/>
              </a:rPr>
              <a:t>Fibre for local distribution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2336995" y="1923510"/>
            <a:ext cx="2060765" cy="6734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9059" name="Picture 3"/>
          <p:cNvPicPr>
            <a:picLocks noChangeAspect="1" noChangeArrowheads="1"/>
          </p:cNvPicPr>
          <p:nvPr/>
        </p:nvPicPr>
        <p:blipFill>
          <a:blip r:embed="rId3" cstate="print"/>
          <a:srcRect t="12345"/>
          <a:stretch>
            <a:fillRect/>
          </a:stretch>
        </p:blipFill>
        <p:spPr bwMode="auto">
          <a:xfrm>
            <a:off x="2788920" y="466960"/>
            <a:ext cx="6355080" cy="41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93700" y="5931876"/>
            <a:ext cx="81141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err="1"/>
              <a:t>MicroCore</a:t>
            </a:r>
            <a:r>
              <a:rPr lang="en-GB" sz="1600" dirty="0"/>
              <a:t> Blown Fibre Cable – for air-blown installation (using existing ducts, e.g. replacing existing cable plant)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95288" y="331788"/>
            <a:ext cx="2760662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Fibre Optic Cable</a:t>
            </a:r>
          </a:p>
        </p:txBody>
      </p:sp>
    </p:spTree>
    <p:extLst>
      <p:ext uri="{BB962C8B-B14F-4D97-AF65-F5344CB8AC3E}">
        <p14:creationId xmlns:p14="http://schemas.microsoft.com/office/powerpoint/2010/main" val="3421616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ChangeArrowheads="1"/>
          </p:cNvSpPr>
          <p:nvPr/>
        </p:nvSpPr>
        <p:spPr bwMode="auto">
          <a:xfrm>
            <a:off x="395288" y="331788"/>
            <a:ext cx="2760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Fibre Optic 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288" y="893763"/>
            <a:ext cx="4099199" cy="21852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80975" indent="-180975">
              <a:lnSpc>
                <a:spcPct val="150000"/>
              </a:lnSpc>
              <a:defRPr/>
            </a:pPr>
            <a:r>
              <a:rPr lang="en-GB" sz="1600" b="1" dirty="0">
                <a:latin typeface="Lucida Sans Unicode" pitchFamily="34" charset="0"/>
              </a:rPr>
              <a:t>Common Wavelengths (in the infrared):</a:t>
            </a:r>
          </a:p>
          <a:p>
            <a:pPr marL="180975" lvl="1" indent="-180975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850nm (i.e., 0.85 </a:t>
            </a:r>
            <a:r>
              <a:rPr lang="en-GB" sz="1600" dirty="0" err="1">
                <a:latin typeface="Lucida Sans Unicode" pitchFamily="34" charset="0"/>
              </a:rPr>
              <a:t>μm</a:t>
            </a:r>
            <a:r>
              <a:rPr lang="en-GB" sz="1600" dirty="0">
                <a:latin typeface="Lucida Sans Unicode" pitchFamily="34" charset="0"/>
              </a:rPr>
              <a:t> )</a:t>
            </a:r>
          </a:p>
          <a:p>
            <a:pPr marL="180975" lvl="1" indent="-180975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1300nm (i.e., 1.30 </a:t>
            </a:r>
            <a:r>
              <a:rPr lang="en-GB" sz="1600" dirty="0" err="1">
                <a:latin typeface="Lucida Sans Unicode" pitchFamily="34" charset="0"/>
              </a:rPr>
              <a:t>μm</a:t>
            </a:r>
            <a:r>
              <a:rPr lang="en-GB" sz="1600" dirty="0">
                <a:latin typeface="Lucida Sans Unicode" pitchFamily="34" charset="0"/>
              </a:rPr>
              <a:t> )</a:t>
            </a:r>
          </a:p>
          <a:p>
            <a:pPr marL="180975" lvl="1" indent="-180975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1550nm (i.e., 1.55 </a:t>
            </a:r>
            <a:r>
              <a:rPr lang="en-GB" sz="1600" dirty="0" err="1">
                <a:latin typeface="Lucida Sans Unicode" pitchFamily="34" charset="0"/>
              </a:rPr>
              <a:t>μm</a:t>
            </a:r>
            <a:r>
              <a:rPr lang="en-GB" sz="1600" dirty="0">
                <a:latin typeface="Lucida Sans Unicode" pitchFamily="34" charset="0"/>
              </a:rPr>
              <a:t> )</a:t>
            </a:r>
          </a:p>
          <a:p>
            <a:pPr marL="180975" indent="-180975">
              <a:lnSpc>
                <a:spcPct val="150000"/>
              </a:lnSpc>
              <a:defRPr/>
            </a:pPr>
            <a:endParaRPr lang="en-GB" sz="1600" dirty="0">
              <a:latin typeface="Lucida Sans Unicode" pitchFamily="34" charset="0"/>
            </a:endParaRPr>
          </a:p>
          <a:p>
            <a:pPr>
              <a:defRPr/>
            </a:pP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4211638" y="1773238"/>
            <a:ext cx="3844925" cy="415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0975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180975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b="1" dirty="0"/>
              <a:t>Advantages: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Low cost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High capacity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Thin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Low interference/degradation</a:t>
            </a:r>
          </a:p>
          <a:p>
            <a:pPr>
              <a:lnSpc>
                <a:spcPct val="150000"/>
              </a:lnSpc>
            </a:pPr>
            <a:endParaRPr lang="en-GB" b="1" dirty="0"/>
          </a:p>
          <a:p>
            <a:pPr>
              <a:lnSpc>
                <a:spcPct val="150000"/>
              </a:lnSpc>
            </a:pPr>
            <a:r>
              <a:rPr lang="en-GB" b="1" dirty="0"/>
              <a:t>Disadvantages: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Has a minimum radius for bending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Each </a:t>
            </a:r>
            <a:r>
              <a:rPr lang="en-GB" dirty="0" err="1"/>
              <a:t>fiber</a:t>
            </a:r>
            <a:r>
              <a:rPr lang="en-GB" dirty="0"/>
              <a:t> is one-way</a:t>
            </a:r>
          </a:p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High cost of interfaces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3605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9" name="Picture 4" descr="http://www.fiberoptics4sale.com/wordpress/wp-content/uploads/2009/02/plasticopticalfib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68860"/>
            <a:ext cx="5995358" cy="468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047117" y="331788"/>
            <a:ext cx="3096883" cy="1077218"/>
          </a:xfrm>
          <a:prstGeom prst="rect">
            <a:avLst/>
          </a:prstGeom>
          <a:solidFill>
            <a:schemeClr val="tx1">
              <a:alpha val="28000"/>
            </a:schemeClr>
          </a:solidFill>
        </p:spPr>
        <p:txBody>
          <a:bodyPr wrap="square" rtlCol="0">
            <a:spAutoFit/>
          </a:bodyPr>
          <a:lstStyle/>
          <a:p>
            <a:pPr marL="182563" indent="-182563">
              <a:buFont typeface="Arial" pitchFamily="34" charset="0"/>
              <a:buChar char="•"/>
            </a:pPr>
            <a:r>
              <a:rPr lang="en-GB" sz="1600" b="1" dirty="0">
                <a:solidFill>
                  <a:srgbClr val="FFFF00"/>
                </a:solidFill>
                <a:latin typeface="Lucida Sans Unicode" pitchFamily="34" charset="0"/>
              </a:rPr>
              <a:t>Wavelengths of light used for signal carriers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600" b="1" dirty="0">
                <a:solidFill>
                  <a:srgbClr val="FFFF00"/>
                </a:solidFill>
                <a:latin typeface="Lucida Sans Unicode" pitchFamily="34" charset="0"/>
              </a:rPr>
              <a:t>may be a number of colours - WDM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27" name="Rectangle 26"/>
            <p:cNvSpPr/>
            <p:nvPr/>
          </p:nvSpPr>
          <p:spPr bwMode="auto">
            <a:xfrm>
              <a:off x="0" y="0"/>
              <a:ext cx="5967155" cy="2258870"/>
            </a:xfrm>
            <a:prstGeom prst="rect">
              <a:avLst/>
            </a:prstGeom>
            <a:solidFill>
              <a:srgbClr val="3330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 anchor="ctr">
              <a:noAutofit/>
            </a:bodyPr>
            <a:lstStyle/>
            <a:p>
              <a:pPr marL="179388" indent="-179388" algn="ctr"/>
              <a:endParaRPr lang="en-GB" sz="1600" b="1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4149305" y="4623758"/>
              <a:ext cx="4994695" cy="223424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 anchor="ctr">
              <a:noAutofit/>
            </a:bodyPr>
            <a:lstStyle/>
            <a:p>
              <a:pPr marL="179388" indent="-179388" algn="ctr"/>
              <a:endParaRPr lang="en-GB" sz="1600" b="1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5136628" y="4786772"/>
              <a:ext cx="3620186" cy="1380820"/>
            </a:xfrm>
            <a:custGeom>
              <a:avLst/>
              <a:gdLst>
                <a:gd name="connsiteX0" fmla="*/ 0 w 2958860"/>
                <a:gd name="connsiteY0" fmla="*/ 0 h 1043796"/>
                <a:gd name="connsiteX1" fmla="*/ 1112807 w 2958860"/>
                <a:gd name="connsiteY1" fmla="*/ 232913 h 1043796"/>
                <a:gd name="connsiteX2" fmla="*/ 1639019 w 2958860"/>
                <a:gd name="connsiteY2" fmla="*/ 681487 h 1043796"/>
                <a:gd name="connsiteX3" fmla="*/ 2260120 w 2958860"/>
                <a:gd name="connsiteY3" fmla="*/ 983411 h 1043796"/>
                <a:gd name="connsiteX4" fmla="*/ 2958860 w 2958860"/>
                <a:gd name="connsiteY4" fmla="*/ 1043796 h 1043796"/>
                <a:gd name="connsiteX0" fmla="*/ 0 w 2958860"/>
                <a:gd name="connsiteY0" fmla="*/ 0 h 1043796"/>
                <a:gd name="connsiteX1" fmla="*/ 1112807 w 2958860"/>
                <a:gd name="connsiteY1" fmla="*/ 232913 h 1043796"/>
                <a:gd name="connsiteX2" fmla="*/ 1647645 w 2958860"/>
                <a:gd name="connsiteY2" fmla="*/ 802257 h 1043796"/>
                <a:gd name="connsiteX3" fmla="*/ 2260120 w 2958860"/>
                <a:gd name="connsiteY3" fmla="*/ 983411 h 1043796"/>
                <a:gd name="connsiteX4" fmla="*/ 2958860 w 2958860"/>
                <a:gd name="connsiteY4" fmla="*/ 1043796 h 1043796"/>
                <a:gd name="connsiteX0" fmla="*/ 0 w 2958860"/>
                <a:gd name="connsiteY0" fmla="*/ 0 h 1153064"/>
                <a:gd name="connsiteX1" fmla="*/ 1112807 w 2958860"/>
                <a:gd name="connsiteY1" fmla="*/ 232913 h 1153064"/>
                <a:gd name="connsiteX2" fmla="*/ 1647645 w 2958860"/>
                <a:gd name="connsiteY2" fmla="*/ 802257 h 1153064"/>
                <a:gd name="connsiteX3" fmla="*/ 2355011 w 2958860"/>
                <a:gd name="connsiteY3" fmla="*/ 1112807 h 1153064"/>
                <a:gd name="connsiteX4" fmla="*/ 2958860 w 2958860"/>
                <a:gd name="connsiteY4" fmla="*/ 1043796 h 1153064"/>
                <a:gd name="connsiteX0" fmla="*/ 0 w 3105509"/>
                <a:gd name="connsiteY0" fmla="*/ 0 h 1199071"/>
                <a:gd name="connsiteX1" fmla="*/ 1112807 w 3105509"/>
                <a:gd name="connsiteY1" fmla="*/ 232913 h 1199071"/>
                <a:gd name="connsiteX2" fmla="*/ 1647645 w 3105509"/>
                <a:gd name="connsiteY2" fmla="*/ 802257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199071"/>
                <a:gd name="connsiteX1" fmla="*/ 1190445 w 3105509"/>
                <a:gd name="connsiteY1" fmla="*/ 207034 h 1199071"/>
                <a:gd name="connsiteX2" fmla="*/ 1647645 w 3105509"/>
                <a:gd name="connsiteY2" fmla="*/ 802257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199071"/>
                <a:gd name="connsiteX1" fmla="*/ 1190445 w 3105509"/>
                <a:gd name="connsiteY1" fmla="*/ 207034 h 1199071"/>
                <a:gd name="connsiteX2" fmla="*/ 1768415 w 3105509"/>
                <a:gd name="connsiteY2" fmla="*/ 948906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206260"/>
                <a:gd name="connsiteX1" fmla="*/ 1190445 w 3105509"/>
                <a:gd name="connsiteY1" fmla="*/ 207034 h 1206260"/>
                <a:gd name="connsiteX2" fmla="*/ 1768415 w 3105509"/>
                <a:gd name="connsiteY2" fmla="*/ 948906 h 1206260"/>
                <a:gd name="connsiteX3" fmla="*/ 2363638 w 3105509"/>
                <a:gd name="connsiteY3" fmla="*/ 1164566 h 1206260"/>
                <a:gd name="connsiteX4" fmla="*/ 3105509 w 3105509"/>
                <a:gd name="connsiteY4" fmla="*/ 1199071 h 1206260"/>
                <a:gd name="connsiteX0" fmla="*/ 0 w 3105509"/>
                <a:gd name="connsiteY0" fmla="*/ 0 h 1220637"/>
                <a:gd name="connsiteX1" fmla="*/ 1190445 w 3105509"/>
                <a:gd name="connsiteY1" fmla="*/ 207034 h 1220637"/>
                <a:gd name="connsiteX2" fmla="*/ 1682151 w 3105509"/>
                <a:gd name="connsiteY2" fmla="*/ 862642 h 1220637"/>
                <a:gd name="connsiteX3" fmla="*/ 2363638 w 3105509"/>
                <a:gd name="connsiteY3" fmla="*/ 1164566 h 1220637"/>
                <a:gd name="connsiteX4" fmla="*/ 3105509 w 3105509"/>
                <a:gd name="connsiteY4" fmla="*/ 1199071 h 1220637"/>
                <a:gd name="connsiteX0" fmla="*/ 0 w 3105509"/>
                <a:gd name="connsiteY0" fmla="*/ 0 h 1220637"/>
                <a:gd name="connsiteX1" fmla="*/ 1095554 w 3105509"/>
                <a:gd name="connsiteY1" fmla="*/ 146649 h 1220637"/>
                <a:gd name="connsiteX2" fmla="*/ 1682151 w 3105509"/>
                <a:gd name="connsiteY2" fmla="*/ 862642 h 1220637"/>
                <a:gd name="connsiteX3" fmla="*/ 2363638 w 3105509"/>
                <a:gd name="connsiteY3" fmla="*/ 1164566 h 1220637"/>
                <a:gd name="connsiteX4" fmla="*/ 3105509 w 3105509"/>
                <a:gd name="connsiteY4" fmla="*/ 1199071 h 1220637"/>
                <a:gd name="connsiteX0" fmla="*/ 0 w 3105509"/>
                <a:gd name="connsiteY0" fmla="*/ 0 h 1229264"/>
                <a:gd name="connsiteX1" fmla="*/ 1095554 w 3105509"/>
                <a:gd name="connsiteY1" fmla="*/ 146649 h 1229264"/>
                <a:gd name="connsiteX2" fmla="*/ 1682151 w 3105509"/>
                <a:gd name="connsiteY2" fmla="*/ 862642 h 1229264"/>
                <a:gd name="connsiteX3" fmla="*/ 2061713 w 3105509"/>
                <a:gd name="connsiteY3" fmla="*/ 1173193 h 1229264"/>
                <a:gd name="connsiteX4" fmla="*/ 3105509 w 3105509"/>
                <a:gd name="connsiteY4" fmla="*/ 1199071 h 1229264"/>
                <a:gd name="connsiteX0" fmla="*/ 0 w 3105509"/>
                <a:gd name="connsiteY0" fmla="*/ 0 h 1259457"/>
                <a:gd name="connsiteX1" fmla="*/ 1095554 w 3105509"/>
                <a:gd name="connsiteY1" fmla="*/ 146649 h 1259457"/>
                <a:gd name="connsiteX2" fmla="*/ 1535502 w 3105509"/>
                <a:gd name="connsiteY2" fmla="*/ 681488 h 1259457"/>
                <a:gd name="connsiteX3" fmla="*/ 2061713 w 3105509"/>
                <a:gd name="connsiteY3" fmla="*/ 1173193 h 1259457"/>
                <a:gd name="connsiteX4" fmla="*/ 3105509 w 3105509"/>
                <a:gd name="connsiteY4" fmla="*/ 1199071 h 1259457"/>
                <a:gd name="connsiteX0" fmla="*/ 0 w 3105509"/>
                <a:gd name="connsiteY0" fmla="*/ 1437 h 1260894"/>
                <a:gd name="connsiteX1" fmla="*/ 966158 w 3105509"/>
                <a:gd name="connsiteY1" fmla="*/ 113581 h 1260894"/>
                <a:gd name="connsiteX2" fmla="*/ 1535502 w 3105509"/>
                <a:gd name="connsiteY2" fmla="*/ 682925 h 1260894"/>
                <a:gd name="connsiteX3" fmla="*/ 2061713 w 3105509"/>
                <a:gd name="connsiteY3" fmla="*/ 1174630 h 1260894"/>
                <a:gd name="connsiteX4" fmla="*/ 3105509 w 3105509"/>
                <a:gd name="connsiteY4" fmla="*/ 1200508 h 1260894"/>
                <a:gd name="connsiteX0" fmla="*/ 0 w 3105509"/>
                <a:gd name="connsiteY0" fmla="*/ 1437 h 1217761"/>
                <a:gd name="connsiteX1" fmla="*/ 966158 w 3105509"/>
                <a:gd name="connsiteY1" fmla="*/ 113581 h 1217761"/>
                <a:gd name="connsiteX2" fmla="*/ 1535502 w 3105509"/>
                <a:gd name="connsiteY2" fmla="*/ 682925 h 1217761"/>
                <a:gd name="connsiteX3" fmla="*/ 2078966 w 3105509"/>
                <a:gd name="connsiteY3" fmla="*/ 1131497 h 1217761"/>
                <a:gd name="connsiteX4" fmla="*/ 3105509 w 3105509"/>
                <a:gd name="connsiteY4" fmla="*/ 1200508 h 1217761"/>
                <a:gd name="connsiteX0" fmla="*/ 0 w 3105509"/>
                <a:gd name="connsiteY0" fmla="*/ 0 h 1216324"/>
                <a:gd name="connsiteX1" fmla="*/ 983411 w 3105509"/>
                <a:gd name="connsiteY1" fmla="*/ 155276 h 1216324"/>
                <a:gd name="connsiteX2" fmla="*/ 1535502 w 3105509"/>
                <a:gd name="connsiteY2" fmla="*/ 681488 h 1216324"/>
                <a:gd name="connsiteX3" fmla="*/ 2078966 w 3105509"/>
                <a:gd name="connsiteY3" fmla="*/ 1130060 h 1216324"/>
                <a:gd name="connsiteX4" fmla="*/ 3105509 w 3105509"/>
                <a:gd name="connsiteY4" fmla="*/ 1199071 h 1216324"/>
                <a:gd name="connsiteX0" fmla="*/ 120770 w 3226279"/>
                <a:gd name="connsiteY0" fmla="*/ 25881 h 1242205"/>
                <a:gd name="connsiteX1" fmla="*/ 163902 w 3226279"/>
                <a:gd name="connsiteY1" fmla="*/ 25879 h 1242205"/>
                <a:gd name="connsiteX2" fmla="*/ 1104181 w 3226279"/>
                <a:gd name="connsiteY2" fmla="*/ 181157 h 1242205"/>
                <a:gd name="connsiteX3" fmla="*/ 1656272 w 3226279"/>
                <a:gd name="connsiteY3" fmla="*/ 707369 h 1242205"/>
                <a:gd name="connsiteX4" fmla="*/ 2199736 w 3226279"/>
                <a:gd name="connsiteY4" fmla="*/ 1155941 h 1242205"/>
                <a:gd name="connsiteX5" fmla="*/ 3226279 w 3226279"/>
                <a:gd name="connsiteY5" fmla="*/ 1224952 h 1242205"/>
                <a:gd name="connsiteX0" fmla="*/ 120770 w 3226279"/>
                <a:gd name="connsiteY0" fmla="*/ 25881 h 1242205"/>
                <a:gd name="connsiteX1" fmla="*/ 163902 w 3226279"/>
                <a:gd name="connsiteY1" fmla="*/ 25879 h 1242205"/>
                <a:gd name="connsiteX2" fmla="*/ 690113 w 3226279"/>
                <a:gd name="connsiteY2" fmla="*/ 43132 h 1242205"/>
                <a:gd name="connsiteX3" fmla="*/ 1104181 w 3226279"/>
                <a:gd name="connsiteY3" fmla="*/ 181157 h 1242205"/>
                <a:gd name="connsiteX4" fmla="*/ 1656272 w 3226279"/>
                <a:gd name="connsiteY4" fmla="*/ 707369 h 1242205"/>
                <a:gd name="connsiteX5" fmla="*/ 2199736 w 3226279"/>
                <a:gd name="connsiteY5" fmla="*/ 1155941 h 1242205"/>
                <a:gd name="connsiteX6" fmla="*/ 3226279 w 3226279"/>
                <a:gd name="connsiteY6" fmla="*/ 1224952 h 124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6279" h="1242205">
                  <a:moveTo>
                    <a:pt x="120770" y="25881"/>
                  </a:moveTo>
                  <a:cubicBezTo>
                    <a:pt x="130834" y="25881"/>
                    <a:pt x="0" y="0"/>
                    <a:pt x="163902" y="25879"/>
                  </a:cubicBezTo>
                  <a:cubicBezTo>
                    <a:pt x="250166" y="35943"/>
                    <a:pt x="533400" y="17252"/>
                    <a:pt x="690113" y="43132"/>
                  </a:cubicBezTo>
                  <a:cubicBezTo>
                    <a:pt x="846826" y="69012"/>
                    <a:pt x="943154" y="70451"/>
                    <a:pt x="1104181" y="181157"/>
                  </a:cubicBezTo>
                  <a:cubicBezTo>
                    <a:pt x="1265208" y="291863"/>
                    <a:pt x="1473680" y="544905"/>
                    <a:pt x="1656272" y="707369"/>
                  </a:cubicBezTo>
                  <a:cubicBezTo>
                    <a:pt x="1838864" y="869833"/>
                    <a:pt x="1938068" y="1069677"/>
                    <a:pt x="2199736" y="1155941"/>
                  </a:cubicBezTo>
                  <a:cubicBezTo>
                    <a:pt x="2461404" y="1242205"/>
                    <a:pt x="3226279" y="1224952"/>
                    <a:pt x="3226279" y="1224952"/>
                  </a:cubicBezTo>
                </a:path>
              </a:pathLst>
            </a:custGeom>
            <a:ln w="25400">
              <a:solidFill>
                <a:srgbClr val="40C5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078550" y="5199099"/>
              <a:ext cx="3620186" cy="1380819"/>
            </a:xfrm>
            <a:custGeom>
              <a:avLst/>
              <a:gdLst>
                <a:gd name="connsiteX0" fmla="*/ 0 w 2958860"/>
                <a:gd name="connsiteY0" fmla="*/ 0 h 1043796"/>
                <a:gd name="connsiteX1" fmla="*/ 1112807 w 2958860"/>
                <a:gd name="connsiteY1" fmla="*/ 232913 h 1043796"/>
                <a:gd name="connsiteX2" fmla="*/ 1639019 w 2958860"/>
                <a:gd name="connsiteY2" fmla="*/ 681487 h 1043796"/>
                <a:gd name="connsiteX3" fmla="*/ 2260120 w 2958860"/>
                <a:gd name="connsiteY3" fmla="*/ 983411 h 1043796"/>
                <a:gd name="connsiteX4" fmla="*/ 2958860 w 2958860"/>
                <a:gd name="connsiteY4" fmla="*/ 1043796 h 1043796"/>
                <a:gd name="connsiteX0" fmla="*/ 0 w 2958860"/>
                <a:gd name="connsiteY0" fmla="*/ 0 h 1043796"/>
                <a:gd name="connsiteX1" fmla="*/ 1112807 w 2958860"/>
                <a:gd name="connsiteY1" fmla="*/ 232913 h 1043796"/>
                <a:gd name="connsiteX2" fmla="*/ 1647645 w 2958860"/>
                <a:gd name="connsiteY2" fmla="*/ 802257 h 1043796"/>
                <a:gd name="connsiteX3" fmla="*/ 2260120 w 2958860"/>
                <a:gd name="connsiteY3" fmla="*/ 983411 h 1043796"/>
                <a:gd name="connsiteX4" fmla="*/ 2958860 w 2958860"/>
                <a:gd name="connsiteY4" fmla="*/ 1043796 h 1043796"/>
                <a:gd name="connsiteX0" fmla="*/ 0 w 2958860"/>
                <a:gd name="connsiteY0" fmla="*/ 0 h 1153064"/>
                <a:gd name="connsiteX1" fmla="*/ 1112807 w 2958860"/>
                <a:gd name="connsiteY1" fmla="*/ 232913 h 1153064"/>
                <a:gd name="connsiteX2" fmla="*/ 1647645 w 2958860"/>
                <a:gd name="connsiteY2" fmla="*/ 802257 h 1153064"/>
                <a:gd name="connsiteX3" fmla="*/ 2355011 w 2958860"/>
                <a:gd name="connsiteY3" fmla="*/ 1112807 h 1153064"/>
                <a:gd name="connsiteX4" fmla="*/ 2958860 w 2958860"/>
                <a:gd name="connsiteY4" fmla="*/ 1043796 h 1153064"/>
                <a:gd name="connsiteX0" fmla="*/ 0 w 3105509"/>
                <a:gd name="connsiteY0" fmla="*/ 0 h 1199071"/>
                <a:gd name="connsiteX1" fmla="*/ 1112807 w 3105509"/>
                <a:gd name="connsiteY1" fmla="*/ 232913 h 1199071"/>
                <a:gd name="connsiteX2" fmla="*/ 1647645 w 3105509"/>
                <a:gd name="connsiteY2" fmla="*/ 802257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199071"/>
                <a:gd name="connsiteX1" fmla="*/ 1190445 w 3105509"/>
                <a:gd name="connsiteY1" fmla="*/ 207034 h 1199071"/>
                <a:gd name="connsiteX2" fmla="*/ 1647645 w 3105509"/>
                <a:gd name="connsiteY2" fmla="*/ 802257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199071"/>
                <a:gd name="connsiteX1" fmla="*/ 1190445 w 3105509"/>
                <a:gd name="connsiteY1" fmla="*/ 207034 h 1199071"/>
                <a:gd name="connsiteX2" fmla="*/ 1768415 w 3105509"/>
                <a:gd name="connsiteY2" fmla="*/ 948906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206260"/>
                <a:gd name="connsiteX1" fmla="*/ 1190445 w 3105509"/>
                <a:gd name="connsiteY1" fmla="*/ 207034 h 1206260"/>
                <a:gd name="connsiteX2" fmla="*/ 1768415 w 3105509"/>
                <a:gd name="connsiteY2" fmla="*/ 948906 h 1206260"/>
                <a:gd name="connsiteX3" fmla="*/ 2363638 w 3105509"/>
                <a:gd name="connsiteY3" fmla="*/ 1164566 h 1206260"/>
                <a:gd name="connsiteX4" fmla="*/ 3105509 w 3105509"/>
                <a:gd name="connsiteY4" fmla="*/ 1199071 h 1206260"/>
                <a:gd name="connsiteX0" fmla="*/ 0 w 3105509"/>
                <a:gd name="connsiteY0" fmla="*/ 0 h 1220637"/>
                <a:gd name="connsiteX1" fmla="*/ 1190445 w 3105509"/>
                <a:gd name="connsiteY1" fmla="*/ 207034 h 1220637"/>
                <a:gd name="connsiteX2" fmla="*/ 1682151 w 3105509"/>
                <a:gd name="connsiteY2" fmla="*/ 862642 h 1220637"/>
                <a:gd name="connsiteX3" fmla="*/ 2363638 w 3105509"/>
                <a:gd name="connsiteY3" fmla="*/ 1164566 h 1220637"/>
                <a:gd name="connsiteX4" fmla="*/ 3105509 w 3105509"/>
                <a:gd name="connsiteY4" fmla="*/ 1199071 h 1220637"/>
                <a:gd name="connsiteX0" fmla="*/ 0 w 3105509"/>
                <a:gd name="connsiteY0" fmla="*/ 0 h 1220637"/>
                <a:gd name="connsiteX1" fmla="*/ 1095554 w 3105509"/>
                <a:gd name="connsiteY1" fmla="*/ 146649 h 1220637"/>
                <a:gd name="connsiteX2" fmla="*/ 1682151 w 3105509"/>
                <a:gd name="connsiteY2" fmla="*/ 862642 h 1220637"/>
                <a:gd name="connsiteX3" fmla="*/ 2363638 w 3105509"/>
                <a:gd name="connsiteY3" fmla="*/ 1164566 h 1220637"/>
                <a:gd name="connsiteX4" fmla="*/ 3105509 w 3105509"/>
                <a:gd name="connsiteY4" fmla="*/ 1199071 h 1220637"/>
                <a:gd name="connsiteX0" fmla="*/ 0 w 3105509"/>
                <a:gd name="connsiteY0" fmla="*/ 0 h 1229264"/>
                <a:gd name="connsiteX1" fmla="*/ 1095554 w 3105509"/>
                <a:gd name="connsiteY1" fmla="*/ 146649 h 1229264"/>
                <a:gd name="connsiteX2" fmla="*/ 1682151 w 3105509"/>
                <a:gd name="connsiteY2" fmla="*/ 862642 h 1229264"/>
                <a:gd name="connsiteX3" fmla="*/ 2061713 w 3105509"/>
                <a:gd name="connsiteY3" fmla="*/ 1173193 h 1229264"/>
                <a:gd name="connsiteX4" fmla="*/ 3105509 w 3105509"/>
                <a:gd name="connsiteY4" fmla="*/ 1199071 h 1229264"/>
                <a:gd name="connsiteX0" fmla="*/ 0 w 3105509"/>
                <a:gd name="connsiteY0" fmla="*/ 0 h 1259457"/>
                <a:gd name="connsiteX1" fmla="*/ 1095554 w 3105509"/>
                <a:gd name="connsiteY1" fmla="*/ 146649 h 1259457"/>
                <a:gd name="connsiteX2" fmla="*/ 1535502 w 3105509"/>
                <a:gd name="connsiteY2" fmla="*/ 681488 h 1259457"/>
                <a:gd name="connsiteX3" fmla="*/ 2061713 w 3105509"/>
                <a:gd name="connsiteY3" fmla="*/ 1173193 h 1259457"/>
                <a:gd name="connsiteX4" fmla="*/ 3105509 w 3105509"/>
                <a:gd name="connsiteY4" fmla="*/ 1199071 h 1259457"/>
                <a:gd name="connsiteX0" fmla="*/ 0 w 3105509"/>
                <a:gd name="connsiteY0" fmla="*/ 1437 h 1260894"/>
                <a:gd name="connsiteX1" fmla="*/ 966158 w 3105509"/>
                <a:gd name="connsiteY1" fmla="*/ 113581 h 1260894"/>
                <a:gd name="connsiteX2" fmla="*/ 1535502 w 3105509"/>
                <a:gd name="connsiteY2" fmla="*/ 682925 h 1260894"/>
                <a:gd name="connsiteX3" fmla="*/ 2061713 w 3105509"/>
                <a:gd name="connsiteY3" fmla="*/ 1174630 h 1260894"/>
                <a:gd name="connsiteX4" fmla="*/ 3105509 w 3105509"/>
                <a:gd name="connsiteY4" fmla="*/ 1200508 h 1260894"/>
                <a:gd name="connsiteX0" fmla="*/ 0 w 3105509"/>
                <a:gd name="connsiteY0" fmla="*/ 1437 h 1217761"/>
                <a:gd name="connsiteX1" fmla="*/ 966158 w 3105509"/>
                <a:gd name="connsiteY1" fmla="*/ 113581 h 1217761"/>
                <a:gd name="connsiteX2" fmla="*/ 1535502 w 3105509"/>
                <a:gd name="connsiteY2" fmla="*/ 682925 h 1217761"/>
                <a:gd name="connsiteX3" fmla="*/ 2078966 w 3105509"/>
                <a:gd name="connsiteY3" fmla="*/ 1131497 h 1217761"/>
                <a:gd name="connsiteX4" fmla="*/ 3105509 w 3105509"/>
                <a:gd name="connsiteY4" fmla="*/ 1200508 h 1217761"/>
                <a:gd name="connsiteX0" fmla="*/ 0 w 3105509"/>
                <a:gd name="connsiteY0" fmla="*/ 0 h 1216324"/>
                <a:gd name="connsiteX1" fmla="*/ 983411 w 3105509"/>
                <a:gd name="connsiteY1" fmla="*/ 155276 h 1216324"/>
                <a:gd name="connsiteX2" fmla="*/ 1535502 w 3105509"/>
                <a:gd name="connsiteY2" fmla="*/ 681488 h 1216324"/>
                <a:gd name="connsiteX3" fmla="*/ 2078966 w 3105509"/>
                <a:gd name="connsiteY3" fmla="*/ 1130060 h 1216324"/>
                <a:gd name="connsiteX4" fmla="*/ 3105509 w 3105509"/>
                <a:gd name="connsiteY4" fmla="*/ 1199071 h 1216324"/>
                <a:gd name="connsiteX0" fmla="*/ 120770 w 3226279"/>
                <a:gd name="connsiteY0" fmla="*/ 25881 h 1242205"/>
                <a:gd name="connsiteX1" fmla="*/ 163902 w 3226279"/>
                <a:gd name="connsiteY1" fmla="*/ 25879 h 1242205"/>
                <a:gd name="connsiteX2" fmla="*/ 1104181 w 3226279"/>
                <a:gd name="connsiteY2" fmla="*/ 181157 h 1242205"/>
                <a:gd name="connsiteX3" fmla="*/ 1656272 w 3226279"/>
                <a:gd name="connsiteY3" fmla="*/ 707369 h 1242205"/>
                <a:gd name="connsiteX4" fmla="*/ 2199736 w 3226279"/>
                <a:gd name="connsiteY4" fmla="*/ 1155941 h 1242205"/>
                <a:gd name="connsiteX5" fmla="*/ 3226279 w 3226279"/>
                <a:gd name="connsiteY5" fmla="*/ 1224952 h 1242205"/>
                <a:gd name="connsiteX0" fmla="*/ 120770 w 3226279"/>
                <a:gd name="connsiteY0" fmla="*/ 25881 h 1242205"/>
                <a:gd name="connsiteX1" fmla="*/ 163902 w 3226279"/>
                <a:gd name="connsiteY1" fmla="*/ 25879 h 1242205"/>
                <a:gd name="connsiteX2" fmla="*/ 690113 w 3226279"/>
                <a:gd name="connsiteY2" fmla="*/ 43132 h 1242205"/>
                <a:gd name="connsiteX3" fmla="*/ 1104181 w 3226279"/>
                <a:gd name="connsiteY3" fmla="*/ 181157 h 1242205"/>
                <a:gd name="connsiteX4" fmla="*/ 1656272 w 3226279"/>
                <a:gd name="connsiteY4" fmla="*/ 707369 h 1242205"/>
                <a:gd name="connsiteX5" fmla="*/ 2199736 w 3226279"/>
                <a:gd name="connsiteY5" fmla="*/ 1155941 h 1242205"/>
                <a:gd name="connsiteX6" fmla="*/ 3226279 w 3226279"/>
                <a:gd name="connsiteY6" fmla="*/ 1224952 h 1242205"/>
                <a:gd name="connsiteX0" fmla="*/ 120770 w 3226279"/>
                <a:gd name="connsiteY0" fmla="*/ 25881 h 1233578"/>
                <a:gd name="connsiteX1" fmla="*/ 163902 w 3226279"/>
                <a:gd name="connsiteY1" fmla="*/ 25879 h 1233578"/>
                <a:gd name="connsiteX2" fmla="*/ 690113 w 3226279"/>
                <a:gd name="connsiteY2" fmla="*/ 43132 h 1233578"/>
                <a:gd name="connsiteX3" fmla="*/ 1104181 w 3226279"/>
                <a:gd name="connsiteY3" fmla="*/ 181157 h 1233578"/>
                <a:gd name="connsiteX4" fmla="*/ 1544129 w 3226279"/>
                <a:gd name="connsiteY4" fmla="*/ 759128 h 1233578"/>
                <a:gd name="connsiteX5" fmla="*/ 2199736 w 3226279"/>
                <a:gd name="connsiteY5" fmla="*/ 1155941 h 1233578"/>
                <a:gd name="connsiteX6" fmla="*/ 3226279 w 3226279"/>
                <a:gd name="connsiteY6" fmla="*/ 1224952 h 1233578"/>
                <a:gd name="connsiteX0" fmla="*/ 120770 w 3226279"/>
                <a:gd name="connsiteY0" fmla="*/ 25881 h 1242204"/>
                <a:gd name="connsiteX1" fmla="*/ 163902 w 3226279"/>
                <a:gd name="connsiteY1" fmla="*/ 25879 h 1242204"/>
                <a:gd name="connsiteX2" fmla="*/ 690113 w 3226279"/>
                <a:gd name="connsiteY2" fmla="*/ 43132 h 1242204"/>
                <a:gd name="connsiteX3" fmla="*/ 1104181 w 3226279"/>
                <a:gd name="connsiteY3" fmla="*/ 181157 h 1242204"/>
                <a:gd name="connsiteX4" fmla="*/ 1544129 w 3226279"/>
                <a:gd name="connsiteY4" fmla="*/ 759128 h 1242204"/>
                <a:gd name="connsiteX5" fmla="*/ 2053087 w 3226279"/>
                <a:gd name="connsiteY5" fmla="*/ 1164567 h 1242204"/>
                <a:gd name="connsiteX6" fmla="*/ 3226279 w 3226279"/>
                <a:gd name="connsiteY6" fmla="*/ 1224952 h 1242204"/>
                <a:gd name="connsiteX0" fmla="*/ 120770 w 3226279"/>
                <a:gd name="connsiteY0" fmla="*/ 25881 h 1242204"/>
                <a:gd name="connsiteX1" fmla="*/ 163902 w 3226279"/>
                <a:gd name="connsiteY1" fmla="*/ 25879 h 1242204"/>
                <a:gd name="connsiteX2" fmla="*/ 690113 w 3226279"/>
                <a:gd name="connsiteY2" fmla="*/ 43132 h 1242204"/>
                <a:gd name="connsiteX3" fmla="*/ 1061049 w 3226279"/>
                <a:gd name="connsiteY3" fmla="*/ 224290 h 1242204"/>
                <a:gd name="connsiteX4" fmla="*/ 1544129 w 3226279"/>
                <a:gd name="connsiteY4" fmla="*/ 759128 h 1242204"/>
                <a:gd name="connsiteX5" fmla="*/ 2053087 w 3226279"/>
                <a:gd name="connsiteY5" fmla="*/ 1164567 h 1242204"/>
                <a:gd name="connsiteX6" fmla="*/ 3226279 w 3226279"/>
                <a:gd name="connsiteY6" fmla="*/ 1224952 h 1242204"/>
                <a:gd name="connsiteX0" fmla="*/ 120770 w 3226279"/>
                <a:gd name="connsiteY0" fmla="*/ 25881 h 1242204"/>
                <a:gd name="connsiteX1" fmla="*/ 163902 w 3226279"/>
                <a:gd name="connsiteY1" fmla="*/ 25879 h 1242204"/>
                <a:gd name="connsiteX2" fmla="*/ 690113 w 3226279"/>
                <a:gd name="connsiteY2" fmla="*/ 43132 h 1242204"/>
                <a:gd name="connsiteX3" fmla="*/ 1035170 w 3226279"/>
                <a:gd name="connsiteY3" fmla="*/ 258796 h 1242204"/>
                <a:gd name="connsiteX4" fmla="*/ 1544129 w 3226279"/>
                <a:gd name="connsiteY4" fmla="*/ 759128 h 1242204"/>
                <a:gd name="connsiteX5" fmla="*/ 2053087 w 3226279"/>
                <a:gd name="connsiteY5" fmla="*/ 1164567 h 1242204"/>
                <a:gd name="connsiteX6" fmla="*/ 3226279 w 3226279"/>
                <a:gd name="connsiteY6" fmla="*/ 1224952 h 12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6279" h="1242204">
                  <a:moveTo>
                    <a:pt x="120770" y="25881"/>
                  </a:moveTo>
                  <a:cubicBezTo>
                    <a:pt x="130834" y="25881"/>
                    <a:pt x="0" y="0"/>
                    <a:pt x="163902" y="25879"/>
                  </a:cubicBezTo>
                  <a:cubicBezTo>
                    <a:pt x="250166" y="35943"/>
                    <a:pt x="544902" y="4313"/>
                    <a:pt x="690113" y="43132"/>
                  </a:cubicBezTo>
                  <a:cubicBezTo>
                    <a:pt x="835324" y="81951"/>
                    <a:pt x="892834" y="139463"/>
                    <a:pt x="1035170" y="258796"/>
                  </a:cubicBezTo>
                  <a:cubicBezTo>
                    <a:pt x="1177506" y="378129"/>
                    <a:pt x="1374476" y="608166"/>
                    <a:pt x="1544129" y="759128"/>
                  </a:cubicBezTo>
                  <a:cubicBezTo>
                    <a:pt x="1713782" y="910090"/>
                    <a:pt x="1772729" y="1086930"/>
                    <a:pt x="2053087" y="1164567"/>
                  </a:cubicBezTo>
                  <a:cubicBezTo>
                    <a:pt x="2333445" y="1242204"/>
                    <a:pt x="3226279" y="1224952"/>
                    <a:pt x="3226279" y="1224952"/>
                  </a:cubicBezTo>
                </a:path>
              </a:pathLst>
            </a:custGeom>
            <a:ln w="25400">
              <a:solidFill>
                <a:srgbClr val="40C5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4962394" y="4901841"/>
              <a:ext cx="629177" cy="306849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5630290" y="4930607"/>
              <a:ext cx="590458" cy="306849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220748" y="4930607"/>
              <a:ext cx="96796" cy="62328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6356263" y="5477182"/>
              <a:ext cx="532379" cy="7671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6849924" y="5505949"/>
              <a:ext cx="29039" cy="57534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6840244" y="6023756"/>
              <a:ext cx="609818" cy="5753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 flipV="1">
              <a:off x="7459743" y="6042936"/>
              <a:ext cx="77437" cy="46986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7546859" y="6119649"/>
              <a:ext cx="522701" cy="39314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8069560" y="6167592"/>
              <a:ext cx="503342" cy="40274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 37"/>
            <p:cNvSpPr/>
            <p:nvPr/>
          </p:nvSpPr>
          <p:spPr>
            <a:xfrm>
              <a:off x="5175346" y="4767595"/>
              <a:ext cx="3620186" cy="1380820"/>
            </a:xfrm>
            <a:custGeom>
              <a:avLst/>
              <a:gdLst>
                <a:gd name="connsiteX0" fmla="*/ 0 w 2958860"/>
                <a:gd name="connsiteY0" fmla="*/ 0 h 1043796"/>
                <a:gd name="connsiteX1" fmla="*/ 1112807 w 2958860"/>
                <a:gd name="connsiteY1" fmla="*/ 232913 h 1043796"/>
                <a:gd name="connsiteX2" fmla="*/ 1639019 w 2958860"/>
                <a:gd name="connsiteY2" fmla="*/ 681487 h 1043796"/>
                <a:gd name="connsiteX3" fmla="*/ 2260120 w 2958860"/>
                <a:gd name="connsiteY3" fmla="*/ 983411 h 1043796"/>
                <a:gd name="connsiteX4" fmla="*/ 2958860 w 2958860"/>
                <a:gd name="connsiteY4" fmla="*/ 1043796 h 1043796"/>
                <a:gd name="connsiteX0" fmla="*/ 0 w 2958860"/>
                <a:gd name="connsiteY0" fmla="*/ 0 h 1043796"/>
                <a:gd name="connsiteX1" fmla="*/ 1112807 w 2958860"/>
                <a:gd name="connsiteY1" fmla="*/ 232913 h 1043796"/>
                <a:gd name="connsiteX2" fmla="*/ 1647645 w 2958860"/>
                <a:gd name="connsiteY2" fmla="*/ 802257 h 1043796"/>
                <a:gd name="connsiteX3" fmla="*/ 2260120 w 2958860"/>
                <a:gd name="connsiteY3" fmla="*/ 983411 h 1043796"/>
                <a:gd name="connsiteX4" fmla="*/ 2958860 w 2958860"/>
                <a:gd name="connsiteY4" fmla="*/ 1043796 h 1043796"/>
                <a:gd name="connsiteX0" fmla="*/ 0 w 2958860"/>
                <a:gd name="connsiteY0" fmla="*/ 0 h 1153064"/>
                <a:gd name="connsiteX1" fmla="*/ 1112807 w 2958860"/>
                <a:gd name="connsiteY1" fmla="*/ 232913 h 1153064"/>
                <a:gd name="connsiteX2" fmla="*/ 1647645 w 2958860"/>
                <a:gd name="connsiteY2" fmla="*/ 802257 h 1153064"/>
                <a:gd name="connsiteX3" fmla="*/ 2355011 w 2958860"/>
                <a:gd name="connsiteY3" fmla="*/ 1112807 h 1153064"/>
                <a:gd name="connsiteX4" fmla="*/ 2958860 w 2958860"/>
                <a:gd name="connsiteY4" fmla="*/ 1043796 h 1153064"/>
                <a:gd name="connsiteX0" fmla="*/ 0 w 3105509"/>
                <a:gd name="connsiteY0" fmla="*/ 0 h 1199071"/>
                <a:gd name="connsiteX1" fmla="*/ 1112807 w 3105509"/>
                <a:gd name="connsiteY1" fmla="*/ 232913 h 1199071"/>
                <a:gd name="connsiteX2" fmla="*/ 1647645 w 3105509"/>
                <a:gd name="connsiteY2" fmla="*/ 802257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199071"/>
                <a:gd name="connsiteX1" fmla="*/ 1190445 w 3105509"/>
                <a:gd name="connsiteY1" fmla="*/ 207034 h 1199071"/>
                <a:gd name="connsiteX2" fmla="*/ 1647645 w 3105509"/>
                <a:gd name="connsiteY2" fmla="*/ 802257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199071"/>
                <a:gd name="connsiteX1" fmla="*/ 1190445 w 3105509"/>
                <a:gd name="connsiteY1" fmla="*/ 207034 h 1199071"/>
                <a:gd name="connsiteX2" fmla="*/ 1768415 w 3105509"/>
                <a:gd name="connsiteY2" fmla="*/ 948906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206260"/>
                <a:gd name="connsiteX1" fmla="*/ 1190445 w 3105509"/>
                <a:gd name="connsiteY1" fmla="*/ 207034 h 1206260"/>
                <a:gd name="connsiteX2" fmla="*/ 1768415 w 3105509"/>
                <a:gd name="connsiteY2" fmla="*/ 948906 h 1206260"/>
                <a:gd name="connsiteX3" fmla="*/ 2363638 w 3105509"/>
                <a:gd name="connsiteY3" fmla="*/ 1164566 h 1206260"/>
                <a:gd name="connsiteX4" fmla="*/ 3105509 w 3105509"/>
                <a:gd name="connsiteY4" fmla="*/ 1199071 h 1206260"/>
                <a:gd name="connsiteX0" fmla="*/ 0 w 3105509"/>
                <a:gd name="connsiteY0" fmla="*/ 0 h 1220637"/>
                <a:gd name="connsiteX1" fmla="*/ 1190445 w 3105509"/>
                <a:gd name="connsiteY1" fmla="*/ 207034 h 1220637"/>
                <a:gd name="connsiteX2" fmla="*/ 1682151 w 3105509"/>
                <a:gd name="connsiteY2" fmla="*/ 862642 h 1220637"/>
                <a:gd name="connsiteX3" fmla="*/ 2363638 w 3105509"/>
                <a:gd name="connsiteY3" fmla="*/ 1164566 h 1220637"/>
                <a:gd name="connsiteX4" fmla="*/ 3105509 w 3105509"/>
                <a:gd name="connsiteY4" fmla="*/ 1199071 h 1220637"/>
                <a:gd name="connsiteX0" fmla="*/ 0 w 3105509"/>
                <a:gd name="connsiteY0" fmla="*/ 0 h 1220637"/>
                <a:gd name="connsiteX1" fmla="*/ 1095554 w 3105509"/>
                <a:gd name="connsiteY1" fmla="*/ 146649 h 1220637"/>
                <a:gd name="connsiteX2" fmla="*/ 1682151 w 3105509"/>
                <a:gd name="connsiteY2" fmla="*/ 862642 h 1220637"/>
                <a:gd name="connsiteX3" fmla="*/ 2363638 w 3105509"/>
                <a:gd name="connsiteY3" fmla="*/ 1164566 h 1220637"/>
                <a:gd name="connsiteX4" fmla="*/ 3105509 w 3105509"/>
                <a:gd name="connsiteY4" fmla="*/ 1199071 h 1220637"/>
                <a:gd name="connsiteX0" fmla="*/ 0 w 3105509"/>
                <a:gd name="connsiteY0" fmla="*/ 0 h 1229264"/>
                <a:gd name="connsiteX1" fmla="*/ 1095554 w 3105509"/>
                <a:gd name="connsiteY1" fmla="*/ 146649 h 1229264"/>
                <a:gd name="connsiteX2" fmla="*/ 1682151 w 3105509"/>
                <a:gd name="connsiteY2" fmla="*/ 862642 h 1229264"/>
                <a:gd name="connsiteX3" fmla="*/ 2061713 w 3105509"/>
                <a:gd name="connsiteY3" fmla="*/ 1173193 h 1229264"/>
                <a:gd name="connsiteX4" fmla="*/ 3105509 w 3105509"/>
                <a:gd name="connsiteY4" fmla="*/ 1199071 h 1229264"/>
                <a:gd name="connsiteX0" fmla="*/ 0 w 3105509"/>
                <a:gd name="connsiteY0" fmla="*/ 0 h 1259457"/>
                <a:gd name="connsiteX1" fmla="*/ 1095554 w 3105509"/>
                <a:gd name="connsiteY1" fmla="*/ 146649 h 1259457"/>
                <a:gd name="connsiteX2" fmla="*/ 1535502 w 3105509"/>
                <a:gd name="connsiteY2" fmla="*/ 681488 h 1259457"/>
                <a:gd name="connsiteX3" fmla="*/ 2061713 w 3105509"/>
                <a:gd name="connsiteY3" fmla="*/ 1173193 h 1259457"/>
                <a:gd name="connsiteX4" fmla="*/ 3105509 w 3105509"/>
                <a:gd name="connsiteY4" fmla="*/ 1199071 h 1259457"/>
                <a:gd name="connsiteX0" fmla="*/ 0 w 3105509"/>
                <a:gd name="connsiteY0" fmla="*/ 1437 h 1260894"/>
                <a:gd name="connsiteX1" fmla="*/ 966158 w 3105509"/>
                <a:gd name="connsiteY1" fmla="*/ 113581 h 1260894"/>
                <a:gd name="connsiteX2" fmla="*/ 1535502 w 3105509"/>
                <a:gd name="connsiteY2" fmla="*/ 682925 h 1260894"/>
                <a:gd name="connsiteX3" fmla="*/ 2061713 w 3105509"/>
                <a:gd name="connsiteY3" fmla="*/ 1174630 h 1260894"/>
                <a:gd name="connsiteX4" fmla="*/ 3105509 w 3105509"/>
                <a:gd name="connsiteY4" fmla="*/ 1200508 h 1260894"/>
                <a:gd name="connsiteX0" fmla="*/ 0 w 3105509"/>
                <a:gd name="connsiteY0" fmla="*/ 1437 h 1217761"/>
                <a:gd name="connsiteX1" fmla="*/ 966158 w 3105509"/>
                <a:gd name="connsiteY1" fmla="*/ 113581 h 1217761"/>
                <a:gd name="connsiteX2" fmla="*/ 1535502 w 3105509"/>
                <a:gd name="connsiteY2" fmla="*/ 682925 h 1217761"/>
                <a:gd name="connsiteX3" fmla="*/ 2078966 w 3105509"/>
                <a:gd name="connsiteY3" fmla="*/ 1131497 h 1217761"/>
                <a:gd name="connsiteX4" fmla="*/ 3105509 w 3105509"/>
                <a:gd name="connsiteY4" fmla="*/ 1200508 h 1217761"/>
                <a:gd name="connsiteX0" fmla="*/ 0 w 3105509"/>
                <a:gd name="connsiteY0" fmla="*/ 0 h 1216324"/>
                <a:gd name="connsiteX1" fmla="*/ 983411 w 3105509"/>
                <a:gd name="connsiteY1" fmla="*/ 155276 h 1216324"/>
                <a:gd name="connsiteX2" fmla="*/ 1535502 w 3105509"/>
                <a:gd name="connsiteY2" fmla="*/ 681488 h 1216324"/>
                <a:gd name="connsiteX3" fmla="*/ 2078966 w 3105509"/>
                <a:gd name="connsiteY3" fmla="*/ 1130060 h 1216324"/>
                <a:gd name="connsiteX4" fmla="*/ 3105509 w 3105509"/>
                <a:gd name="connsiteY4" fmla="*/ 1199071 h 1216324"/>
                <a:gd name="connsiteX0" fmla="*/ 120770 w 3226279"/>
                <a:gd name="connsiteY0" fmla="*/ 25881 h 1242205"/>
                <a:gd name="connsiteX1" fmla="*/ 163902 w 3226279"/>
                <a:gd name="connsiteY1" fmla="*/ 25879 h 1242205"/>
                <a:gd name="connsiteX2" fmla="*/ 1104181 w 3226279"/>
                <a:gd name="connsiteY2" fmla="*/ 181157 h 1242205"/>
                <a:gd name="connsiteX3" fmla="*/ 1656272 w 3226279"/>
                <a:gd name="connsiteY3" fmla="*/ 707369 h 1242205"/>
                <a:gd name="connsiteX4" fmla="*/ 2199736 w 3226279"/>
                <a:gd name="connsiteY4" fmla="*/ 1155941 h 1242205"/>
                <a:gd name="connsiteX5" fmla="*/ 3226279 w 3226279"/>
                <a:gd name="connsiteY5" fmla="*/ 1224952 h 1242205"/>
                <a:gd name="connsiteX0" fmla="*/ 120770 w 3226279"/>
                <a:gd name="connsiteY0" fmla="*/ 25881 h 1242205"/>
                <a:gd name="connsiteX1" fmla="*/ 163902 w 3226279"/>
                <a:gd name="connsiteY1" fmla="*/ 25879 h 1242205"/>
                <a:gd name="connsiteX2" fmla="*/ 690113 w 3226279"/>
                <a:gd name="connsiteY2" fmla="*/ 43132 h 1242205"/>
                <a:gd name="connsiteX3" fmla="*/ 1104181 w 3226279"/>
                <a:gd name="connsiteY3" fmla="*/ 181157 h 1242205"/>
                <a:gd name="connsiteX4" fmla="*/ 1656272 w 3226279"/>
                <a:gd name="connsiteY4" fmla="*/ 707369 h 1242205"/>
                <a:gd name="connsiteX5" fmla="*/ 2199736 w 3226279"/>
                <a:gd name="connsiteY5" fmla="*/ 1155941 h 1242205"/>
                <a:gd name="connsiteX6" fmla="*/ 3226279 w 3226279"/>
                <a:gd name="connsiteY6" fmla="*/ 1224952 h 124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6279" h="1242205">
                  <a:moveTo>
                    <a:pt x="120770" y="25881"/>
                  </a:moveTo>
                  <a:cubicBezTo>
                    <a:pt x="130834" y="25881"/>
                    <a:pt x="0" y="0"/>
                    <a:pt x="163902" y="25879"/>
                  </a:cubicBezTo>
                  <a:cubicBezTo>
                    <a:pt x="250166" y="35943"/>
                    <a:pt x="533400" y="17252"/>
                    <a:pt x="690113" y="43132"/>
                  </a:cubicBezTo>
                  <a:cubicBezTo>
                    <a:pt x="846826" y="69012"/>
                    <a:pt x="943154" y="70451"/>
                    <a:pt x="1104181" y="181157"/>
                  </a:cubicBezTo>
                  <a:cubicBezTo>
                    <a:pt x="1265208" y="291863"/>
                    <a:pt x="1473680" y="544905"/>
                    <a:pt x="1656272" y="707369"/>
                  </a:cubicBezTo>
                  <a:cubicBezTo>
                    <a:pt x="1838864" y="869833"/>
                    <a:pt x="1938068" y="1069677"/>
                    <a:pt x="2199736" y="1155941"/>
                  </a:cubicBezTo>
                  <a:cubicBezTo>
                    <a:pt x="2461404" y="1242205"/>
                    <a:pt x="3226279" y="1224952"/>
                    <a:pt x="3226279" y="1224952"/>
                  </a:cubicBezTo>
                </a:path>
              </a:pathLst>
            </a:custGeom>
            <a:ln w="50800">
              <a:solidFill>
                <a:srgbClr val="40C5EE">
                  <a:alpha val="39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5059192" y="5227867"/>
              <a:ext cx="3620186" cy="1380819"/>
            </a:xfrm>
            <a:custGeom>
              <a:avLst/>
              <a:gdLst>
                <a:gd name="connsiteX0" fmla="*/ 0 w 2958860"/>
                <a:gd name="connsiteY0" fmla="*/ 0 h 1043796"/>
                <a:gd name="connsiteX1" fmla="*/ 1112807 w 2958860"/>
                <a:gd name="connsiteY1" fmla="*/ 232913 h 1043796"/>
                <a:gd name="connsiteX2" fmla="*/ 1639019 w 2958860"/>
                <a:gd name="connsiteY2" fmla="*/ 681487 h 1043796"/>
                <a:gd name="connsiteX3" fmla="*/ 2260120 w 2958860"/>
                <a:gd name="connsiteY3" fmla="*/ 983411 h 1043796"/>
                <a:gd name="connsiteX4" fmla="*/ 2958860 w 2958860"/>
                <a:gd name="connsiteY4" fmla="*/ 1043796 h 1043796"/>
                <a:gd name="connsiteX0" fmla="*/ 0 w 2958860"/>
                <a:gd name="connsiteY0" fmla="*/ 0 h 1043796"/>
                <a:gd name="connsiteX1" fmla="*/ 1112807 w 2958860"/>
                <a:gd name="connsiteY1" fmla="*/ 232913 h 1043796"/>
                <a:gd name="connsiteX2" fmla="*/ 1647645 w 2958860"/>
                <a:gd name="connsiteY2" fmla="*/ 802257 h 1043796"/>
                <a:gd name="connsiteX3" fmla="*/ 2260120 w 2958860"/>
                <a:gd name="connsiteY3" fmla="*/ 983411 h 1043796"/>
                <a:gd name="connsiteX4" fmla="*/ 2958860 w 2958860"/>
                <a:gd name="connsiteY4" fmla="*/ 1043796 h 1043796"/>
                <a:gd name="connsiteX0" fmla="*/ 0 w 2958860"/>
                <a:gd name="connsiteY0" fmla="*/ 0 h 1153064"/>
                <a:gd name="connsiteX1" fmla="*/ 1112807 w 2958860"/>
                <a:gd name="connsiteY1" fmla="*/ 232913 h 1153064"/>
                <a:gd name="connsiteX2" fmla="*/ 1647645 w 2958860"/>
                <a:gd name="connsiteY2" fmla="*/ 802257 h 1153064"/>
                <a:gd name="connsiteX3" fmla="*/ 2355011 w 2958860"/>
                <a:gd name="connsiteY3" fmla="*/ 1112807 h 1153064"/>
                <a:gd name="connsiteX4" fmla="*/ 2958860 w 2958860"/>
                <a:gd name="connsiteY4" fmla="*/ 1043796 h 1153064"/>
                <a:gd name="connsiteX0" fmla="*/ 0 w 3105509"/>
                <a:gd name="connsiteY0" fmla="*/ 0 h 1199071"/>
                <a:gd name="connsiteX1" fmla="*/ 1112807 w 3105509"/>
                <a:gd name="connsiteY1" fmla="*/ 232913 h 1199071"/>
                <a:gd name="connsiteX2" fmla="*/ 1647645 w 3105509"/>
                <a:gd name="connsiteY2" fmla="*/ 802257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199071"/>
                <a:gd name="connsiteX1" fmla="*/ 1190445 w 3105509"/>
                <a:gd name="connsiteY1" fmla="*/ 207034 h 1199071"/>
                <a:gd name="connsiteX2" fmla="*/ 1647645 w 3105509"/>
                <a:gd name="connsiteY2" fmla="*/ 802257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199071"/>
                <a:gd name="connsiteX1" fmla="*/ 1190445 w 3105509"/>
                <a:gd name="connsiteY1" fmla="*/ 207034 h 1199071"/>
                <a:gd name="connsiteX2" fmla="*/ 1768415 w 3105509"/>
                <a:gd name="connsiteY2" fmla="*/ 948906 h 1199071"/>
                <a:gd name="connsiteX3" fmla="*/ 2355011 w 3105509"/>
                <a:gd name="connsiteY3" fmla="*/ 1112807 h 1199071"/>
                <a:gd name="connsiteX4" fmla="*/ 3105509 w 3105509"/>
                <a:gd name="connsiteY4" fmla="*/ 1199071 h 1199071"/>
                <a:gd name="connsiteX0" fmla="*/ 0 w 3105509"/>
                <a:gd name="connsiteY0" fmla="*/ 0 h 1206260"/>
                <a:gd name="connsiteX1" fmla="*/ 1190445 w 3105509"/>
                <a:gd name="connsiteY1" fmla="*/ 207034 h 1206260"/>
                <a:gd name="connsiteX2" fmla="*/ 1768415 w 3105509"/>
                <a:gd name="connsiteY2" fmla="*/ 948906 h 1206260"/>
                <a:gd name="connsiteX3" fmla="*/ 2363638 w 3105509"/>
                <a:gd name="connsiteY3" fmla="*/ 1164566 h 1206260"/>
                <a:gd name="connsiteX4" fmla="*/ 3105509 w 3105509"/>
                <a:gd name="connsiteY4" fmla="*/ 1199071 h 1206260"/>
                <a:gd name="connsiteX0" fmla="*/ 0 w 3105509"/>
                <a:gd name="connsiteY0" fmla="*/ 0 h 1220637"/>
                <a:gd name="connsiteX1" fmla="*/ 1190445 w 3105509"/>
                <a:gd name="connsiteY1" fmla="*/ 207034 h 1220637"/>
                <a:gd name="connsiteX2" fmla="*/ 1682151 w 3105509"/>
                <a:gd name="connsiteY2" fmla="*/ 862642 h 1220637"/>
                <a:gd name="connsiteX3" fmla="*/ 2363638 w 3105509"/>
                <a:gd name="connsiteY3" fmla="*/ 1164566 h 1220637"/>
                <a:gd name="connsiteX4" fmla="*/ 3105509 w 3105509"/>
                <a:gd name="connsiteY4" fmla="*/ 1199071 h 1220637"/>
                <a:gd name="connsiteX0" fmla="*/ 0 w 3105509"/>
                <a:gd name="connsiteY0" fmla="*/ 0 h 1220637"/>
                <a:gd name="connsiteX1" fmla="*/ 1095554 w 3105509"/>
                <a:gd name="connsiteY1" fmla="*/ 146649 h 1220637"/>
                <a:gd name="connsiteX2" fmla="*/ 1682151 w 3105509"/>
                <a:gd name="connsiteY2" fmla="*/ 862642 h 1220637"/>
                <a:gd name="connsiteX3" fmla="*/ 2363638 w 3105509"/>
                <a:gd name="connsiteY3" fmla="*/ 1164566 h 1220637"/>
                <a:gd name="connsiteX4" fmla="*/ 3105509 w 3105509"/>
                <a:gd name="connsiteY4" fmla="*/ 1199071 h 1220637"/>
                <a:gd name="connsiteX0" fmla="*/ 0 w 3105509"/>
                <a:gd name="connsiteY0" fmla="*/ 0 h 1229264"/>
                <a:gd name="connsiteX1" fmla="*/ 1095554 w 3105509"/>
                <a:gd name="connsiteY1" fmla="*/ 146649 h 1229264"/>
                <a:gd name="connsiteX2" fmla="*/ 1682151 w 3105509"/>
                <a:gd name="connsiteY2" fmla="*/ 862642 h 1229264"/>
                <a:gd name="connsiteX3" fmla="*/ 2061713 w 3105509"/>
                <a:gd name="connsiteY3" fmla="*/ 1173193 h 1229264"/>
                <a:gd name="connsiteX4" fmla="*/ 3105509 w 3105509"/>
                <a:gd name="connsiteY4" fmla="*/ 1199071 h 1229264"/>
                <a:gd name="connsiteX0" fmla="*/ 0 w 3105509"/>
                <a:gd name="connsiteY0" fmla="*/ 0 h 1259457"/>
                <a:gd name="connsiteX1" fmla="*/ 1095554 w 3105509"/>
                <a:gd name="connsiteY1" fmla="*/ 146649 h 1259457"/>
                <a:gd name="connsiteX2" fmla="*/ 1535502 w 3105509"/>
                <a:gd name="connsiteY2" fmla="*/ 681488 h 1259457"/>
                <a:gd name="connsiteX3" fmla="*/ 2061713 w 3105509"/>
                <a:gd name="connsiteY3" fmla="*/ 1173193 h 1259457"/>
                <a:gd name="connsiteX4" fmla="*/ 3105509 w 3105509"/>
                <a:gd name="connsiteY4" fmla="*/ 1199071 h 1259457"/>
                <a:gd name="connsiteX0" fmla="*/ 0 w 3105509"/>
                <a:gd name="connsiteY0" fmla="*/ 1437 h 1260894"/>
                <a:gd name="connsiteX1" fmla="*/ 966158 w 3105509"/>
                <a:gd name="connsiteY1" fmla="*/ 113581 h 1260894"/>
                <a:gd name="connsiteX2" fmla="*/ 1535502 w 3105509"/>
                <a:gd name="connsiteY2" fmla="*/ 682925 h 1260894"/>
                <a:gd name="connsiteX3" fmla="*/ 2061713 w 3105509"/>
                <a:gd name="connsiteY3" fmla="*/ 1174630 h 1260894"/>
                <a:gd name="connsiteX4" fmla="*/ 3105509 w 3105509"/>
                <a:gd name="connsiteY4" fmla="*/ 1200508 h 1260894"/>
                <a:gd name="connsiteX0" fmla="*/ 0 w 3105509"/>
                <a:gd name="connsiteY0" fmla="*/ 1437 h 1217761"/>
                <a:gd name="connsiteX1" fmla="*/ 966158 w 3105509"/>
                <a:gd name="connsiteY1" fmla="*/ 113581 h 1217761"/>
                <a:gd name="connsiteX2" fmla="*/ 1535502 w 3105509"/>
                <a:gd name="connsiteY2" fmla="*/ 682925 h 1217761"/>
                <a:gd name="connsiteX3" fmla="*/ 2078966 w 3105509"/>
                <a:gd name="connsiteY3" fmla="*/ 1131497 h 1217761"/>
                <a:gd name="connsiteX4" fmla="*/ 3105509 w 3105509"/>
                <a:gd name="connsiteY4" fmla="*/ 1200508 h 1217761"/>
                <a:gd name="connsiteX0" fmla="*/ 0 w 3105509"/>
                <a:gd name="connsiteY0" fmla="*/ 0 h 1216324"/>
                <a:gd name="connsiteX1" fmla="*/ 983411 w 3105509"/>
                <a:gd name="connsiteY1" fmla="*/ 155276 h 1216324"/>
                <a:gd name="connsiteX2" fmla="*/ 1535502 w 3105509"/>
                <a:gd name="connsiteY2" fmla="*/ 681488 h 1216324"/>
                <a:gd name="connsiteX3" fmla="*/ 2078966 w 3105509"/>
                <a:gd name="connsiteY3" fmla="*/ 1130060 h 1216324"/>
                <a:gd name="connsiteX4" fmla="*/ 3105509 w 3105509"/>
                <a:gd name="connsiteY4" fmla="*/ 1199071 h 1216324"/>
                <a:gd name="connsiteX0" fmla="*/ 120770 w 3226279"/>
                <a:gd name="connsiteY0" fmla="*/ 25881 h 1242205"/>
                <a:gd name="connsiteX1" fmla="*/ 163902 w 3226279"/>
                <a:gd name="connsiteY1" fmla="*/ 25879 h 1242205"/>
                <a:gd name="connsiteX2" fmla="*/ 1104181 w 3226279"/>
                <a:gd name="connsiteY2" fmla="*/ 181157 h 1242205"/>
                <a:gd name="connsiteX3" fmla="*/ 1656272 w 3226279"/>
                <a:gd name="connsiteY3" fmla="*/ 707369 h 1242205"/>
                <a:gd name="connsiteX4" fmla="*/ 2199736 w 3226279"/>
                <a:gd name="connsiteY4" fmla="*/ 1155941 h 1242205"/>
                <a:gd name="connsiteX5" fmla="*/ 3226279 w 3226279"/>
                <a:gd name="connsiteY5" fmla="*/ 1224952 h 1242205"/>
                <a:gd name="connsiteX0" fmla="*/ 120770 w 3226279"/>
                <a:gd name="connsiteY0" fmla="*/ 25881 h 1242205"/>
                <a:gd name="connsiteX1" fmla="*/ 163902 w 3226279"/>
                <a:gd name="connsiteY1" fmla="*/ 25879 h 1242205"/>
                <a:gd name="connsiteX2" fmla="*/ 690113 w 3226279"/>
                <a:gd name="connsiteY2" fmla="*/ 43132 h 1242205"/>
                <a:gd name="connsiteX3" fmla="*/ 1104181 w 3226279"/>
                <a:gd name="connsiteY3" fmla="*/ 181157 h 1242205"/>
                <a:gd name="connsiteX4" fmla="*/ 1656272 w 3226279"/>
                <a:gd name="connsiteY4" fmla="*/ 707369 h 1242205"/>
                <a:gd name="connsiteX5" fmla="*/ 2199736 w 3226279"/>
                <a:gd name="connsiteY5" fmla="*/ 1155941 h 1242205"/>
                <a:gd name="connsiteX6" fmla="*/ 3226279 w 3226279"/>
                <a:gd name="connsiteY6" fmla="*/ 1224952 h 1242205"/>
                <a:gd name="connsiteX0" fmla="*/ 120770 w 3226279"/>
                <a:gd name="connsiteY0" fmla="*/ 25881 h 1233578"/>
                <a:gd name="connsiteX1" fmla="*/ 163902 w 3226279"/>
                <a:gd name="connsiteY1" fmla="*/ 25879 h 1233578"/>
                <a:gd name="connsiteX2" fmla="*/ 690113 w 3226279"/>
                <a:gd name="connsiteY2" fmla="*/ 43132 h 1233578"/>
                <a:gd name="connsiteX3" fmla="*/ 1104181 w 3226279"/>
                <a:gd name="connsiteY3" fmla="*/ 181157 h 1233578"/>
                <a:gd name="connsiteX4" fmla="*/ 1544129 w 3226279"/>
                <a:gd name="connsiteY4" fmla="*/ 759128 h 1233578"/>
                <a:gd name="connsiteX5" fmla="*/ 2199736 w 3226279"/>
                <a:gd name="connsiteY5" fmla="*/ 1155941 h 1233578"/>
                <a:gd name="connsiteX6" fmla="*/ 3226279 w 3226279"/>
                <a:gd name="connsiteY6" fmla="*/ 1224952 h 1233578"/>
                <a:gd name="connsiteX0" fmla="*/ 120770 w 3226279"/>
                <a:gd name="connsiteY0" fmla="*/ 25881 h 1242204"/>
                <a:gd name="connsiteX1" fmla="*/ 163902 w 3226279"/>
                <a:gd name="connsiteY1" fmla="*/ 25879 h 1242204"/>
                <a:gd name="connsiteX2" fmla="*/ 690113 w 3226279"/>
                <a:gd name="connsiteY2" fmla="*/ 43132 h 1242204"/>
                <a:gd name="connsiteX3" fmla="*/ 1104181 w 3226279"/>
                <a:gd name="connsiteY3" fmla="*/ 181157 h 1242204"/>
                <a:gd name="connsiteX4" fmla="*/ 1544129 w 3226279"/>
                <a:gd name="connsiteY4" fmla="*/ 759128 h 1242204"/>
                <a:gd name="connsiteX5" fmla="*/ 2053087 w 3226279"/>
                <a:gd name="connsiteY5" fmla="*/ 1164567 h 1242204"/>
                <a:gd name="connsiteX6" fmla="*/ 3226279 w 3226279"/>
                <a:gd name="connsiteY6" fmla="*/ 1224952 h 1242204"/>
                <a:gd name="connsiteX0" fmla="*/ 120770 w 3226279"/>
                <a:gd name="connsiteY0" fmla="*/ 25881 h 1242204"/>
                <a:gd name="connsiteX1" fmla="*/ 163902 w 3226279"/>
                <a:gd name="connsiteY1" fmla="*/ 25879 h 1242204"/>
                <a:gd name="connsiteX2" fmla="*/ 690113 w 3226279"/>
                <a:gd name="connsiteY2" fmla="*/ 43132 h 1242204"/>
                <a:gd name="connsiteX3" fmla="*/ 1061049 w 3226279"/>
                <a:gd name="connsiteY3" fmla="*/ 224290 h 1242204"/>
                <a:gd name="connsiteX4" fmla="*/ 1544129 w 3226279"/>
                <a:gd name="connsiteY4" fmla="*/ 759128 h 1242204"/>
                <a:gd name="connsiteX5" fmla="*/ 2053087 w 3226279"/>
                <a:gd name="connsiteY5" fmla="*/ 1164567 h 1242204"/>
                <a:gd name="connsiteX6" fmla="*/ 3226279 w 3226279"/>
                <a:gd name="connsiteY6" fmla="*/ 1224952 h 1242204"/>
                <a:gd name="connsiteX0" fmla="*/ 120770 w 3226279"/>
                <a:gd name="connsiteY0" fmla="*/ 25881 h 1242204"/>
                <a:gd name="connsiteX1" fmla="*/ 163902 w 3226279"/>
                <a:gd name="connsiteY1" fmla="*/ 25879 h 1242204"/>
                <a:gd name="connsiteX2" fmla="*/ 690113 w 3226279"/>
                <a:gd name="connsiteY2" fmla="*/ 43132 h 1242204"/>
                <a:gd name="connsiteX3" fmla="*/ 1035170 w 3226279"/>
                <a:gd name="connsiteY3" fmla="*/ 258796 h 1242204"/>
                <a:gd name="connsiteX4" fmla="*/ 1544129 w 3226279"/>
                <a:gd name="connsiteY4" fmla="*/ 759128 h 1242204"/>
                <a:gd name="connsiteX5" fmla="*/ 2053087 w 3226279"/>
                <a:gd name="connsiteY5" fmla="*/ 1164567 h 1242204"/>
                <a:gd name="connsiteX6" fmla="*/ 3226279 w 3226279"/>
                <a:gd name="connsiteY6" fmla="*/ 1224952 h 12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6279" h="1242204">
                  <a:moveTo>
                    <a:pt x="120770" y="25881"/>
                  </a:moveTo>
                  <a:cubicBezTo>
                    <a:pt x="130834" y="25881"/>
                    <a:pt x="0" y="0"/>
                    <a:pt x="163902" y="25879"/>
                  </a:cubicBezTo>
                  <a:cubicBezTo>
                    <a:pt x="250166" y="35943"/>
                    <a:pt x="544902" y="4313"/>
                    <a:pt x="690113" y="43132"/>
                  </a:cubicBezTo>
                  <a:cubicBezTo>
                    <a:pt x="835324" y="81951"/>
                    <a:pt x="892834" y="139463"/>
                    <a:pt x="1035170" y="258796"/>
                  </a:cubicBezTo>
                  <a:cubicBezTo>
                    <a:pt x="1177506" y="378129"/>
                    <a:pt x="1374476" y="608166"/>
                    <a:pt x="1544129" y="759128"/>
                  </a:cubicBezTo>
                  <a:cubicBezTo>
                    <a:pt x="1713782" y="910090"/>
                    <a:pt x="1772729" y="1086930"/>
                    <a:pt x="2053087" y="1164567"/>
                  </a:cubicBezTo>
                  <a:cubicBezTo>
                    <a:pt x="2333445" y="1242204"/>
                    <a:pt x="3226279" y="1224952"/>
                    <a:pt x="3226279" y="1224952"/>
                  </a:cubicBezTo>
                </a:path>
              </a:pathLst>
            </a:custGeom>
            <a:ln w="50800">
              <a:solidFill>
                <a:srgbClr val="40C5EE">
                  <a:alpha val="5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8553541" y="6282661"/>
              <a:ext cx="522701" cy="27808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5049511" y="4940197"/>
              <a:ext cx="203273" cy="10547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7546860" y="5707320"/>
              <a:ext cx="764815" cy="376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>
                  <a:solidFill>
                    <a:srgbClr val="40C5EE"/>
                  </a:solidFill>
                  <a:latin typeface="Lucida Sans Unicode" pitchFamily="34" charset="0"/>
                </a:rPr>
                <a:t>Fibre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168665" y="4681294"/>
              <a:ext cx="929245" cy="650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rgbClr val="FF0000"/>
                  </a:solidFill>
                  <a:latin typeface="Lucida Sans Unicode" pitchFamily="34" charset="0"/>
                </a:rPr>
                <a:t>Light Signal</a:t>
              </a:r>
            </a:p>
          </p:txBody>
        </p:sp>
      </p:grpSp>
      <p:pic>
        <p:nvPicPr>
          <p:cNvPr id="7" name="Picture 5" descr="Fibre-optic broadband"/>
          <p:cNvPicPr>
            <a:picLocks noChangeAspect="1" noChangeArrowheads="1"/>
          </p:cNvPicPr>
          <p:nvPr/>
        </p:nvPicPr>
        <p:blipFill>
          <a:blip r:embed="rId3" cstate="print"/>
          <a:srcRect r="18014"/>
          <a:stretch>
            <a:fillRect/>
          </a:stretch>
        </p:blipFill>
        <p:spPr bwMode="auto">
          <a:xfrm rot="5400000">
            <a:off x="5143698" y="726975"/>
            <a:ext cx="4717271" cy="3283329"/>
          </a:xfrm>
          <a:prstGeom prst="rect">
            <a:avLst/>
          </a:prstGeom>
          <a:noFill/>
        </p:spPr>
      </p:pic>
      <p:sp>
        <p:nvSpPr>
          <p:cNvPr id="16386" name="Rectangle 1"/>
          <p:cNvSpPr>
            <a:spLocks noChangeArrowheads="1"/>
          </p:cNvSpPr>
          <p:nvPr/>
        </p:nvSpPr>
        <p:spPr bwMode="auto">
          <a:xfrm>
            <a:off x="395288" y="331788"/>
            <a:ext cx="2760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  <a:latin typeface="Lucida Sans Unicode" pitchFamily="34" charset="0"/>
              </a:rPr>
              <a:t>Fibre Optic Cable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93700" y="745585"/>
            <a:ext cx="4737429" cy="188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80975" indent="-180975">
              <a:lnSpc>
                <a:spcPts val="2000"/>
              </a:lnSpc>
              <a:buFont typeface="Arial" charset="0"/>
              <a:buChar char="•"/>
            </a:pPr>
            <a:r>
              <a:rPr lang="en-GB" sz="1600" dirty="0">
                <a:solidFill>
                  <a:srgbClr val="FFFF00"/>
                </a:solidFill>
                <a:latin typeface="Lucida Sans Unicode" pitchFamily="34" charset="0"/>
              </a:rPr>
              <a:t>Light is laser LED; </a:t>
            </a:r>
          </a:p>
          <a:p>
            <a:pPr marL="638175" lvl="1" indent="-180975">
              <a:lnSpc>
                <a:spcPts val="2000"/>
              </a:lnSpc>
              <a:buFont typeface="Arial" charset="0"/>
              <a:buChar char="•"/>
            </a:pPr>
            <a:r>
              <a:rPr lang="en-GB" sz="1600" b="1" i="1" dirty="0">
                <a:solidFill>
                  <a:srgbClr val="FFFF00"/>
                </a:solidFill>
                <a:latin typeface="Lucida Sans Unicode" pitchFamily="34" charset="0"/>
              </a:rPr>
              <a:t>laser light is a single frequency</a:t>
            </a:r>
          </a:p>
          <a:p>
            <a:pPr marL="638175" lvl="1" indent="-180975">
              <a:lnSpc>
                <a:spcPts val="2000"/>
              </a:lnSpc>
            </a:pPr>
            <a:r>
              <a:rPr lang="en-GB" sz="1600" b="1" i="1" dirty="0">
                <a:solidFill>
                  <a:srgbClr val="FFFF00"/>
                </a:solidFill>
                <a:latin typeface="Lucida Sans Unicode" pitchFamily="34" charset="0"/>
              </a:rPr>
              <a:t>	... (i.e. a single wavelength)</a:t>
            </a:r>
          </a:p>
          <a:p>
            <a:pPr marL="180975" indent="-180975">
              <a:lnSpc>
                <a:spcPts val="2000"/>
              </a:lnSpc>
              <a:buFont typeface="Arial" charset="0"/>
              <a:buChar char="•"/>
            </a:pPr>
            <a:r>
              <a:rPr lang="en-GB" sz="1600" dirty="0">
                <a:solidFill>
                  <a:srgbClr val="FFFF00"/>
                </a:solidFill>
                <a:latin typeface="Lucida Sans Unicode" pitchFamily="34" charset="0"/>
              </a:rPr>
              <a:t>Reflections: Internal reflection of the glass fibre</a:t>
            </a:r>
          </a:p>
          <a:p>
            <a:pPr marL="180975" indent="-180975">
              <a:lnSpc>
                <a:spcPts val="2000"/>
              </a:lnSpc>
              <a:buFont typeface="Arial" charset="0"/>
              <a:buChar char="•"/>
            </a:pPr>
            <a:r>
              <a:rPr lang="en-GB" sz="1600" dirty="0">
                <a:solidFill>
                  <a:srgbClr val="FFFF00"/>
                </a:solidFill>
                <a:latin typeface="Lucida Sans Unicode" pitchFamily="34" charset="0"/>
              </a:rPr>
              <a:t>Signal degrades due to impurities in the glass</a:t>
            </a:r>
          </a:p>
        </p:txBody>
      </p:sp>
    </p:spTree>
    <p:extLst>
      <p:ext uri="{BB962C8B-B14F-4D97-AF65-F5344CB8AC3E}">
        <p14:creationId xmlns:p14="http://schemas.microsoft.com/office/powerpoint/2010/main" val="2795076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581890" y="3057201"/>
            <a:ext cx="211523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GB" sz="1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76745" y="2798930"/>
            <a:ext cx="135015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Lucida Sans Unicode" pitchFamily="34" charset="0"/>
              </a:rPr>
              <a:t>Electrical to Light Conversion</a:t>
            </a:r>
          </a:p>
          <a:p>
            <a:pPr algn="ctr"/>
            <a:r>
              <a:rPr lang="en-GB" sz="1200" dirty="0">
                <a:latin typeface="Lucida Sans Unicode" pitchFamily="34" charset="0"/>
              </a:rPr>
              <a:t>(O/E)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7115" y="2798930"/>
            <a:ext cx="135015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Lucida Sans Unicode" pitchFamily="34" charset="0"/>
              </a:rPr>
              <a:t>Light  to Electrical  Conversion</a:t>
            </a:r>
          </a:p>
          <a:p>
            <a:pPr algn="ctr"/>
            <a:r>
              <a:rPr lang="en-GB" sz="1200" dirty="0">
                <a:latin typeface="Lucida Sans Unicode" pitchFamily="34" charset="0"/>
              </a:rPr>
              <a:t>(O/E)</a:t>
            </a:r>
          </a:p>
        </p:txBody>
      </p:sp>
      <p:cxnSp>
        <p:nvCxnSpPr>
          <p:cNvPr id="8" name="Straight Connector 7"/>
          <p:cNvCxnSpPr>
            <a:stCxn id="4" idx="3"/>
          </p:cNvCxnSpPr>
          <p:nvPr/>
        </p:nvCxnSpPr>
        <p:spPr>
          <a:xfrm flipV="1">
            <a:off x="3626895" y="3113965"/>
            <a:ext cx="360040" cy="10046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986935" y="3079414"/>
            <a:ext cx="540060" cy="30458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481990" y="3113965"/>
            <a:ext cx="810090" cy="27003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5" idx="1"/>
          </p:cNvCxnSpPr>
          <p:nvPr/>
        </p:nvCxnSpPr>
        <p:spPr>
          <a:xfrm>
            <a:off x="5337085" y="3113965"/>
            <a:ext cx="270030" cy="10046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1016605" y="3023955"/>
            <a:ext cx="810090" cy="225025"/>
            <a:chOff x="611560" y="4194085"/>
            <a:chExt cx="810090" cy="225025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611560" y="4419110"/>
              <a:ext cx="27003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881590" y="4194085"/>
              <a:ext cx="0" cy="22502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51620" y="4419110"/>
              <a:ext cx="27003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881590" y="4194085"/>
              <a:ext cx="27003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151620" y="4194085"/>
              <a:ext cx="0" cy="22502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7137285" y="3113965"/>
            <a:ext cx="810090" cy="225025"/>
            <a:chOff x="611560" y="4194085"/>
            <a:chExt cx="810090" cy="225025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611560" y="4419110"/>
              <a:ext cx="27003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881590" y="4194085"/>
              <a:ext cx="0" cy="22502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151620" y="4419110"/>
              <a:ext cx="27003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881590" y="4194085"/>
              <a:ext cx="27003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151620" y="4194085"/>
              <a:ext cx="0" cy="22502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3626895" y="2438890"/>
            <a:ext cx="810090" cy="225025"/>
            <a:chOff x="611560" y="4194085"/>
            <a:chExt cx="810090" cy="225025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611560" y="4419110"/>
              <a:ext cx="27003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881590" y="4194085"/>
              <a:ext cx="0" cy="22502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1620" y="4419110"/>
              <a:ext cx="27003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881590" y="4194085"/>
              <a:ext cx="27003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1151620" y="4194085"/>
              <a:ext cx="0" cy="22502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Freeform 41"/>
          <p:cNvSpPr/>
          <p:nvPr/>
        </p:nvSpPr>
        <p:spPr>
          <a:xfrm>
            <a:off x="4932040" y="2483895"/>
            <a:ext cx="740795" cy="161914"/>
          </a:xfrm>
          <a:custGeom>
            <a:avLst/>
            <a:gdLst>
              <a:gd name="connsiteX0" fmla="*/ 0 w 1333500"/>
              <a:gd name="connsiteY0" fmla="*/ 381000 h 391934"/>
              <a:gd name="connsiteX1" fmla="*/ 171450 w 1333500"/>
              <a:gd name="connsiteY1" fmla="*/ 371475 h 391934"/>
              <a:gd name="connsiteX2" fmla="*/ 200025 w 1333500"/>
              <a:gd name="connsiteY2" fmla="*/ 342900 h 391934"/>
              <a:gd name="connsiteX3" fmla="*/ 228600 w 1333500"/>
              <a:gd name="connsiteY3" fmla="*/ 323850 h 391934"/>
              <a:gd name="connsiteX4" fmla="*/ 266700 w 1333500"/>
              <a:gd name="connsiteY4" fmla="*/ 266700 h 391934"/>
              <a:gd name="connsiteX5" fmla="*/ 276225 w 1333500"/>
              <a:gd name="connsiteY5" fmla="*/ 228600 h 391934"/>
              <a:gd name="connsiteX6" fmla="*/ 295275 w 1333500"/>
              <a:gd name="connsiteY6" fmla="*/ 171450 h 391934"/>
              <a:gd name="connsiteX7" fmla="*/ 342900 w 1333500"/>
              <a:gd name="connsiteY7" fmla="*/ 85725 h 391934"/>
              <a:gd name="connsiteX8" fmla="*/ 409575 w 1333500"/>
              <a:gd name="connsiteY8" fmla="*/ 38100 h 391934"/>
              <a:gd name="connsiteX9" fmla="*/ 504825 w 1333500"/>
              <a:gd name="connsiteY9" fmla="*/ 9525 h 391934"/>
              <a:gd name="connsiteX10" fmla="*/ 533400 w 1333500"/>
              <a:gd name="connsiteY10" fmla="*/ 0 h 391934"/>
              <a:gd name="connsiteX11" fmla="*/ 628650 w 1333500"/>
              <a:gd name="connsiteY11" fmla="*/ 19050 h 391934"/>
              <a:gd name="connsiteX12" fmla="*/ 695325 w 1333500"/>
              <a:gd name="connsiteY12" fmla="*/ 38100 h 391934"/>
              <a:gd name="connsiteX13" fmla="*/ 723900 w 1333500"/>
              <a:gd name="connsiteY13" fmla="*/ 57150 h 391934"/>
              <a:gd name="connsiteX14" fmla="*/ 742950 w 1333500"/>
              <a:gd name="connsiteY14" fmla="*/ 85725 h 391934"/>
              <a:gd name="connsiteX15" fmla="*/ 771525 w 1333500"/>
              <a:gd name="connsiteY15" fmla="*/ 123825 h 391934"/>
              <a:gd name="connsiteX16" fmla="*/ 800100 w 1333500"/>
              <a:gd name="connsiteY16" fmla="*/ 152400 h 391934"/>
              <a:gd name="connsiteX17" fmla="*/ 819150 w 1333500"/>
              <a:gd name="connsiteY17" fmla="*/ 190500 h 391934"/>
              <a:gd name="connsiteX18" fmla="*/ 838200 w 1333500"/>
              <a:gd name="connsiteY18" fmla="*/ 219075 h 391934"/>
              <a:gd name="connsiteX19" fmla="*/ 866775 w 1333500"/>
              <a:gd name="connsiteY19" fmla="*/ 276225 h 391934"/>
              <a:gd name="connsiteX20" fmla="*/ 895350 w 1333500"/>
              <a:gd name="connsiteY20" fmla="*/ 285750 h 391934"/>
              <a:gd name="connsiteX21" fmla="*/ 914400 w 1333500"/>
              <a:gd name="connsiteY21" fmla="*/ 314325 h 391934"/>
              <a:gd name="connsiteX22" fmla="*/ 1019175 w 1333500"/>
              <a:gd name="connsiteY22" fmla="*/ 342900 h 391934"/>
              <a:gd name="connsiteX23" fmla="*/ 1057275 w 1333500"/>
              <a:gd name="connsiteY23" fmla="*/ 361950 h 391934"/>
              <a:gd name="connsiteX24" fmla="*/ 1085850 w 1333500"/>
              <a:gd name="connsiteY24" fmla="*/ 381000 h 391934"/>
              <a:gd name="connsiteX25" fmla="*/ 1333500 w 1333500"/>
              <a:gd name="connsiteY25" fmla="*/ 390525 h 39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333500" h="391934">
                <a:moveTo>
                  <a:pt x="0" y="381000"/>
                </a:moveTo>
                <a:cubicBezTo>
                  <a:pt x="57150" y="377825"/>
                  <a:pt x="115223" y="382185"/>
                  <a:pt x="171450" y="371475"/>
                </a:cubicBezTo>
                <a:cubicBezTo>
                  <a:pt x="184682" y="368955"/>
                  <a:pt x="189677" y="351524"/>
                  <a:pt x="200025" y="342900"/>
                </a:cubicBezTo>
                <a:cubicBezTo>
                  <a:pt x="208819" y="335571"/>
                  <a:pt x="219075" y="330200"/>
                  <a:pt x="228600" y="323850"/>
                </a:cubicBezTo>
                <a:cubicBezTo>
                  <a:pt x="241300" y="304800"/>
                  <a:pt x="261147" y="288912"/>
                  <a:pt x="266700" y="266700"/>
                </a:cubicBezTo>
                <a:cubicBezTo>
                  <a:pt x="269875" y="254000"/>
                  <a:pt x="272463" y="241139"/>
                  <a:pt x="276225" y="228600"/>
                </a:cubicBezTo>
                <a:cubicBezTo>
                  <a:pt x="281995" y="209366"/>
                  <a:pt x="288925" y="190500"/>
                  <a:pt x="295275" y="171450"/>
                </a:cubicBezTo>
                <a:cubicBezTo>
                  <a:pt x="305657" y="140305"/>
                  <a:pt x="313787" y="107560"/>
                  <a:pt x="342900" y="85725"/>
                </a:cubicBezTo>
                <a:cubicBezTo>
                  <a:pt x="348017" y="81887"/>
                  <a:pt x="398179" y="43165"/>
                  <a:pt x="409575" y="38100"/>
                </a:cubicBezTo>
                <a:cubicBezTo>
                  <a:pt x="450319" y="19992"/>
                  <a:pt x="466036" y="20608"/>
                  <a:pt x="504825" y="9525"/>
                </a:cubicBezTo>
                <a:cubicBezTo>
                  <a:pt x="514479" y="6767"/>
                  <a:pt x="523875" y="3175"/>
                  <a:pt x="533400" y="0"/>
                </a:cubicBezTo>
                <a:cubicBezTo>
                  <a:pt x="565150" y="6350"/>
                  <a:pt x="597933" y="8811"/>
                  <a:pt x="628650" y="19050"/>
                </a:cubicBezTo>
                <a:cubicBezTo>
                  <a:pt x="669644" y="32715"/>
                  <a:pt x="647485" y="26140"/>
                  <a:pt x="695325" y="38100"/>
                </a:cubicBezTo>
                <a:cubicBezTo>
                  <a:pt x="704850" y="44450"/>
                  <a:pt x="715805" y="49055"/>
                  <a:pt x="723900" y="57150"/>
                </a:cubicBezTo>
                <a:cubicBezTo>
                  <a:pt x="731995" y="65245"/>
                  <a:pt x="736296" y="76410"/>
                  <a:pt x="742950" y="85725"/>
                </a:cubicBezTo>
                <a:cubicBezTo>
                  <a:pt x="752177" y="98643"/>
                  <a:pt x="761194" y="111772"/>
                  <a:pt x="771525" y="123825"/>
                </a:cubicBezTo>
                <a:cubicBezTo>
                  <a:pt x="780291" y="134052"/>
                  <a:pt x="792270" y="141439"/>
                  <a:pt x="800100" y="152400"/>
                </a:cubicBezTo>
                <a:cubicBezTo>
                  <a:pt x="808353" y="163954"/>
                  <a:pt x="812105" y="178172"/>
                  <a:pt x="819150" y="190500"/>
                </a:cubicBezTo>
                <a:cubicBezTo>
                  <a:pt x="824830" y="200439"/>
                  <a:pt x="833080" y="208836"/>
                  <a:pt x="838200" y="219075"/>
                </a:cubicBezTo>
                <a:cubicBezTo>
                  <a:pt x="849704" y="242082"/>
                  <a:pt x="844027" y="258027"/>
                  <a:pt x="866775" y="276225"/>
                </a:cubicBezTo>
                <a:cubicBezTo>
                  <a:pt x="874615" y="282497"/>
                  <a:pt x="885825" y="282575"/>
                  <a:pt x="895350" y="285750"/>
                </a:cubicBezTo>
                <a:cubicBezTo>
                  <a:pt x="901700" y="295275"/>
                  <a:pt x="904692" y="308258"/>
                  <a:pt x="914400" y="314325"/>
                </a:cubicBezTo>
                <a:cubicBezTo>
                  <a:pt x="937148" y="328542"/>
                  <a:pt x="991978" y="337461"/>
                  <a:pt x="1019175" y="342900"/>
                </a:cubicBezTo>
                <a:cubicBezTo>
                  <a:pt x="1031875" y="349250"/>
                  <a:pt x="1044947" y="354905"/>
                  <a:pt x="1057275" y="361950"/>
                </a:cubicBezTo>
                <a:cubicBezTo>
                  <a:pt x="1067214" y="367630"/>
                  <a:pt x="1074517" y="379381"/>
                  <a:pt x="1085850" y="381000"/>
                </a:cubicBezTo>
                <a:cubicBezTo>
                  <a:pt x="1162388" y="391934"/>
                  <a:pt x="1253434" y="390525"/>
                  <a:pt x="1333500" y="390525"/>
                </a:cubicBezTo>
              </a:path>
            </a:pathLst>
          </a:cu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4436985" y="2528900"/>
            <a:ext cx="450050" cy="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2"/>
          <p:cNvSpPr>
            <a:spLocks noChangeArrowheads="1"/>
          </p:cNvSpPr>
          <p:nvPr/>
        </p:nvSpPr>
        <p:spPr bwMode="auto">
          <a:xfrm>
            <a:off x="395288" y="331788"/>
            <a:ext cx="2760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Fibre Optic Cable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5287" y="1088740"/>
            <a:ext cx="80921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defRPr/>
            </a:pPr>
            <a:r>
              <a:rPr lang="en-GB" dirty="0">
                <a:latin typeface="Lucida Sans Unicode" pitchFamily="34" charset="0"/>
              </a:rPr>
              <a:t>Transparent glass or plastic fibres </a:t>
            </a:r>
          </a:p>
          <a:p>
            <a:pPr>
              <a:buFontTx/>
              <a:buChar char="-"/>
              <a:defRPr/>
            </a:pPr>
            <a:r>
              <a:rPr lang="en-GB" dirty="0">
                <a:latin typeface="Lucida Sans Unicode" pitchFamily="34" charset="0"/>
              </a:rPr>
              <a:t>allow light to be guided from one end to the other with minimal loss</a:t>
            </a:r>
          </a:p>
        </p:txBody>
      </p:sp>
    </p:spTree>
    <p:extLst>
      <p:ext uri="{BB962C8B-B14F-4D97-AF65-F5344CB8AC3E}">
        <p14:creationId xmlns:p14="http://schemas.microsoft.com/office/powerpoint/2010/main" val="2450800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862013"/>
            <a:ext cx="8472487" cy="1849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300"/>
              </a:lnSpc>
              <a:defRPr/>
            </a:pPr>
            <a:r>
              <a:rPr lang="en-GB" sz="1600" b="1" dirty="0">
                <a:latin typeface="Lucida Sans Unicode" pitchFamily="34" charset="0"/>
              </a:rPr>
              <a:t>Total Internal Reflection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Light passing from one medium (m</a:t>
            </a:r>
            <a:r>
              <a:rPr lang="en-GB" sz="1600" baseline="-25000" dirty="0">
                <a:latin typeface="Lucida Sans Unicode" pitchFamily="34" charset="0"/>
              </a:rPr>
              <a:t>1</a:t>
            </a:r>
            <a:r>
              <a:rPr lang="en-GB" sz="1600" dirty="0">
                <a:latin typeface="Lucida Sans Unicode" pitchFamily="34" charset="0"/>
              </a:rPr>
              <a:t>) to another (m</a:t>
            </a:r>
            <a:r>
              <a:rPr lang="en-GB" sz="1600" baseline="-25000" dirty="0">
                <a:latin typeface="Lucida Sans Unicode" pitchFamily="34" charset="0"/>
              </a:rPr>
              <a:t>2</a:t>
            </a:r>
            <a:r>
              <a:rPr lang="en-GB" sz="1600" dirty="0">
                <a:latin typeface="Lucida Sans Unicode" pitchFamily="34" charset="0"/>
              </a:rPr>
              <a:t>) with lower index of refraction (</a:t>
            </a:r>
            <a:r>
              <a:rPr lang="en-GB" sz="1600" dirty="0" err="1">
                <a:latin typeface="Lucida Sans Unicode" pitchFamily="34" charset="0"/>
              </a:rPr>
              <a:t>r</a:t>
            </a:r>
            <a:r>
              <a:rPr lang="en-GB" sz="1200" dirty="0" err="1">
                <a:latin typeface="Lucida Sans Unicode" pitchFamily="34" charset="0"/>
              </a:rPr>
              <a:t>i</a:t>
            </a:r>
            <a:r>
              <a:rPr lang="en-GB" sz="1600" dirty="0">
                <a:latin typeface="Lucida Sans Unicode" pitchFamily="34" charset="0"/>
              </a:rPr>
              <a:t>) bends away from the normal line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At the </a:t>
            </a:r>
            <a:r>
              <a:rPr lang="en-GB" sz="1600" b="1" dirty="0">
                <a:latin typeface="Lucida Sans Unicode" pitchFamily="34" charset="0"/>
              </a:rPr>
              <a:t>critical angle</a:t>
            </a:r>
            <a:r>
              <a:rPr lang="en-GB" sz="1600" dirty="0">
                <a:latin typeface="Lucida Sans Unicode" pitchFamily="34" charset="0"/>
              </a:rPr>
              <a:t>, defined by sin ( θ ) = n</a:t>
            </a:r>
            <a:r>
              <a:rPr lang="en-GB" sz="1600" baseline="-25000" dirty="0">
                <a:latin typeface="Lucida Sans Unicode" pitchFamily="34" charset="0"/>
              </a:rPr>
              <a:t>1 </a:t>
            </a:r>
            <a:r>
              <a:rPr lang="en-GB" sz="1600" dirty="0">
                <a:latin typeface="Lucida Sans Unicode" pitchFamily="34" charset="0"/>
              </a:rPr>
              <a:t>. n</a:t>
            </a:r>
            <a:r>
              <a:rPr lang="en-GB" sz="1600" baseline="-25000" dirty="0">
                <a:latin typeface="Lucida Sans Unicode" pitchFamily="34" charset="0"/>
              </a:rPr>
              <a:t>2</a:t>
            </a:r>
            <a:r>
              <a:rPr lang="en-GB" sz="1600" dirty="0">
                <a:latin typeface="Lucida Sans Unicode" pitchFamily="34" charset="0"/>
              </a:rPr>
              <a:t>, the refracted light will not go into the second medium but will travel along the border</a:t>
            </a:r>
          </a:p>
          <a:p>
            <a:pPr>
              <a:lnSpc>
                <a:spcPts val="2300"/>
              </a:lnSpc>
              <a:defRPr/>
            </a:pP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395288" y="331788"/>
            <a:ext cx="2760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Fibre Optic Cable</a:t>
            </a:r>
          </a:p>
        </p:txBody>
      </p:sp>
      <p:pic>
        <p:nvPicPr>
          <p:cNvPr id="17412" name="Picture 2" descr="Total Internal Reflecti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485" y="2849892"/>
            <a:ext cx="4441825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1324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915988"/>
            <a:ext cx="305158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  <a:defRPr/>
            </a:pPr>
            <a:endParaRPr lang="en-GB" sz="1600" dirty="0">
              <a:latin typeface="Lucida Sans Unicode" pitchFamily="34" charset="0"/>
            </a:endParaRPr>
          </a:p>
          <a:p>
            <a:pPr>
              <a:defRPr/>
            </a:pPr>
            <a:r>
              <a:rPr lang="en-GB" sz="1600" dirty="0">
                <a:latin typeface="Lucida Sans Unicode" pitchFamily="34" charset="0"/>
              </a:rPr>
              <a:t>Three types of fibre optic cable commonly used: </a:t>
            </a:r>
          </a:p>
          <a:p>
            <a:pPr>
              <a:defRPr/>
            </a:pPr>
            <a:endParaRPr lang="en-GB" sz="1600" dirty="0">
              <a:latin typeface="Lucida Sans Unicode" pitchFamily="34" charset="0"/>
            </a:endParaRPr>
          </a:p>
          <a:p>
            <a:pPr>
              <a:defRPr/>
            </a:pPr>
            <a:r>
              <a:rPr lang="en-GB" sz="1600" b="1">
                <a:latin typeface="Lucida Sans Unicode" pitchFamily="34" charset="0"/>
              </a:rPr>
              <a:t>Multimode - MMF</a:t>
            </a:r>
            <a:endParaRPr lang="en-GB" sz="1600" b="1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600">
                <a:latin typeface="Lucida Sans Unicode" pitchFamily="34" charset="0"/>
              </a:rPr>
              <a:t>many rays (modes)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core = 62.5 microns</a:t>
            </a:r>
          </a:p>
          <a:p>
            <a:pPr lvl="1">
              <a:defRPr/>
            </a:pPr>
            <a:r>
              <a:rPr lang="en-GB">
                <a:latin typeface="Lucida Sans Unicode" pitchFamily="34" charset="0"/>
              </a:rPr>
              <a:t>(some 50 microns)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LED and laser sources 850, 1300nm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LANs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graded index ~2GHz b/w</a:t>
            </a:r>
          </a:p>
          <a:p>
            <a:pPr defTabSz="447675">
              <a:defRPr/>
            </a:pPr>
            <a:r>
              <a:rPr lang="en-GB"/>
              <a:t>	step index is rare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endParaRPr lang="en-GB" sz="1600" dirty="0">
              <a:latin typeface="Lucida Sans Unicode" pitchFamily="34" charset="0"/>
            </a:endParaRPr>
          </a:p>
          <a:p>
            <a:pPr>
              <a:defRPr/>
            </a:pPr>
            <a:r>
              <a:rPr lang="en-GB" b="1"/>
              <a:t>S</a:t>
            </a:r>
            <a:r>
              <a:rPr lang="en-GB" sz="1600" b="1">
                <a:latin typeface="Lucida Sans Unicode" pitchFamily="34" charset="0"/>
              </a:rPr>
              <a:t>ingle mode - SMF</a:t>
            </a:r>
            <a:endParaRPr lang="en-GB" sz="1600" b="1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600">
                <a:latin typeface="Lucida Sans Unicode" pitchFamily="34" charset="0"/>
              </a:rPr>
              <a:t>single ray (mode)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core = 9 microns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600">
                <a:latin typeface="Lucida Sans Unicode" pitchFamily="34" charset="0"/>
              </a:rPr>
              <a:t>telephony</a:t>
            </a:r>
            <a:r>
              <a:rPr lang="en-GB"/>
              <a:t>, CATV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600">
                <a:latin typeface="Lucida Sans Unicode" pitchFamily="34" charset="0"/>
              </a:rPr>
              <a:t>laser @ 1300, 1550 nm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/>
              <a:t>b/w ~ 100THz</a:t>
            </a:r>
            <a:endParaRPr lang="en-GB" sz="1600">
              <a:latin typeface="Lucida Sans Unicode" pitchFamily="34" charset="0"/>
            </a:endParaRPr>
          </a:p>
          <a:p>
            <a:pPr>
              <a:defRPr/>
            </a:pPr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95288" y="331788"/>
            <a:ext cx="2760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Fibre Optic Cable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800" y="1231887"/>
            <a:ext cx="5405200" cy="5032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Left Brace 6"/>
          <p:cNvSpPr/>
          <p:nvPr/>
        </p:nvSpPr>
        <p:spPr>
          <a:xfrm>
            <a:off x="3356865" y="1366902"/>
            <a:ext cx="315035" cy="2700300"/>
          </a:xfrm>
          <a:prstGeom prst="leftBrace">
            <a:avLst>
              <a:gd name="adj1" fmla="val 41255"/>
              <a:gd name="adj2" fmla="val 5141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Brace 7"/>
          <p:cNvSpPr/>
          <p:nvPr/>
        </p:nvSpPr>
        <p:spPr>
          <a:xfrm>
            <a:off x="3356865" y="4607262"/>
            <a:ext cx="315035" cy="1350150"/>
          </a:xfrm>
          <a:prstGeom prst="leftBrace">
            <a:avLst>
              <a:gd name="adj1" fmla="val 41255"/>
              <a:gd name="adj2" fmla="val 4506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12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818710"/>
            <a:ext cx="613649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/>
              <a:t>Step-Index Multimode </a:t>
            </a:r>
            <a:r>
              <a:rPr lang="en-GB" sz="1600" b="1" dirty="0" err="1"/>
              <a:t>Fiber</a:t>
            </a:r>
            <a:r>
              <a:rPr lang="en-GB" sz="1600" dirty="0"/>
              <a:t>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large core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some rays direct - others zigzag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dirty="0"/>
              <a:t>arrive separately ∴ pulse spreads out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dirty="0"/>
              <a:t>leave space … prevent overlapping </a:t>
            </a:r>
          </a:p>
          <a:p>
            <a:pPr marL="1095375" lvl="2" indent="-180975">
              <a:buFont typeface="Arial" pitchFamily="34" charset="0"/>
              <a:buChar char="•"/>
            </a:pPr>
            <a:r>
              <a:rPr lang="en-GB" sz="1600" dirty="0"/>
              <a:t>limits data rate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for short(</a:t>
            </a:r>
            <a:r>
              <a:rPr lang="en-GB" sz="1600" dirty="0" err="1"/>
              <a:t>er</a:t>
            </a:r>
            <a:r>
              <a:rPr lang="en-GB" sz="1600" dirty="0"/>
              <a:t>) distances, &lt;2km,  LANs, SANs, </a:t>
            </a:r>
          </a:p>
          <a:p>
            <a:pPr marL="638175" lvl="1" indent="-180975"/>
            <a:r>
              <a:rPr lang="en-GB" sz="1600" dirty="0"/>
              <a:t>data </a:t>
            </a:r>
            <a:r>
              <a:rPr lang="en-GB" sz="1600" dirty="0" err="1"/>
              <a:t>centers</a:t>
            </a:r>
            <a:r>
              <a:rPr lang="en-GB" sz="1600" dirty="0"/>
              <a:t> etc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79"/>
          <a:stretch/>
        </p:blipFill>
        <p:spPr bwMode="auto">
          <a:xfrm>
            <a:off x="6581955" y="998730"/>
            <a:ext cx="2562045" cy="2430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95288" y="2978950"/>
            <a:ext cx="605023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/>
              <a:t>Graded-Index Multimode </a:t>
            </a:r>
            <a:r>
              <a:rPr lang="en-GB" sz="1600" b="1" dirty="0" err="1"/>
              <a:t>Fiber</a:t>
            </a:r>
            <a:r>
              <a:rPr lang="en-GB" sz="1600" dirty="0"/>
              <a:t>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refractive index </a:t>
            </a:r>
            <a:r>
              <a:rPr lang="en-GB" sz="1600" u="sng" dirty="0"/>
              <a:t>reduces</a:t>
            </a:r>
            <a:r>
              <a:rPr lang="en-GB" sz="1600" dirty="0"/>
              <a:t> from the centre 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dirty="0"/>
              <a:t>centre: higher index </a:t>
            </a:r>
          </a:p>
          <a:p>
            <a:pPr marL="1095375" lvl="2" indent="-180975">
              <a:buFont typeface="Arial" pitchFamily="34" charset="0"/>
              <a:buChar char="•"/>
            </a:pPr>
            <a:r>
              <a:rPr lang="en-GB" sz="1600" dirty="0"/>
              <a:t>rays travel more slowly than those further out </a:t>
            </a:r>
          </a:p>
          <a:p>
            <a:pPr marL="1095375" lvl="2" indent="-180975">
              <a:buFont typeface="Arial" pitchFamily="34" charset="0"/>
              <a:buChar char="•"/>
            </a:pPr>
            <a:r>
              <a:rPr lang="en-GB" sz="1600" dirty="0"/>
              <a:t>rays curve helically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600" dirty="0"/>
              <a:t>edge rays – </a:t>
            </a:r>
            <a:r>
              <a:rPr lang="en-GB" sz="1600" dirty="0" err="1"/>
              <a:t>zig-zag</a:t>
            </a:r>
            <a:endParaRPr lang="en-GB" sz="1600" dirty="0"/>
          </a:p>
          <a:p>
            <a:pPr marL="182563" indent="-182563">
              <a:buFont typeface="Arial" pitchFamily="34" charset="0"/>
              <a:buChar char="•"/>
            </a:pPr>
            <a:r>
              <a:rPr lang="en-GB" sz="1600" dirty="0"/>
              <a:t>edge rays and central rays travel (more) equal distances</a:t>
            </a:r>
          </a:p>
          <a:p>
            <a:pPr marL="180975" indent="-180975"/>
            <a:r>
              <a:rPr lang="en-GB" sz="1600" dirty="0"/>
              <a:t>	∴  pulse suffers less dispersion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  <a:p>
            <a:pPr marL="180975" lvl="1" indent="-180975"/>
            <a:r>
              <a:rPr lang="en-GB" sz="1600" i="1" dirty="0"/>
              <a:t>Typically</a:t>
            </a:r>
            <a:r>
              <a:rPr lang="en-GB" sz="1600" dirty="0"/>
              <a:t> use LEDs as source 850-1310 nm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lower cost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higher loss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higher loss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5288" y="331788"/>
            <a:ext cx="51315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Fibre Optical Multimode, Indexes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581890" y="1088740"/>
            <a:ext cx="2655295" cy="3150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761910" y="2798931"/>
            <a:ext cx="2520280" cy="36003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http://www.multicominc.com/wp-content/uploads/2014/08/fiber-optic-cable-internal-structure-multimod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82090" y="4869160"/>
            <a:ext cx="3343275" cy="1514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30465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155" name="Picture 3" descr="http://www.multicominc.com/images/smfiberfro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1781" y="4183811"/>
            <a:ext cx="2181225" cy="2009775"/>
          </a:xfrm>
          <a:prstGeom prst="rect">
            <a:avLst/>
          </a:prstGeom>
          <a:noFill/>
        </p:spPr>
      </p:pic>
      <p:pic>
        <p:nvPicPr>
          <p:cNvPr id="433154" name="Picture 2" descr="http://www.multicominc.com/images/smfib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0251" y="4458479"/>
            <a:ext cx="2847975" cy="150495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95288" y="908720"/>
            <a:ext cx="588849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small diameter core: 9</a:t>
            </a:r>
            <a:r>
              <a:rPr lang="el-GR" sz="1600" dirty="0"/>
              <a:t>μ</a:t>
            </a:r>
            <a:r>
              <a:rPr lang="en-GB" sz="1600" dirty="0"/>
              <a:t>m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allows only one mode of light to propagate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dirty="0"/>
              <a:t>number of light reflections created as the light passes through the core decreases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dirty="0"/>
              <a:t>lowers attenuation 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dirty="0"/>
              <a:t>signal can travel further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dirty="0"/>
              <a:t>high precision packaging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typically used in </a:t>
            </a:r>
            <a:r>
              <a:rPr lang="en-GB" sz="1600" b="1" dirty="0"/>
              <a:t>long distance &gt;60km; </a:t>
            </a:r>
            <a:r>
              <a:rPr lang="en-GB" sz="1600" dirty="0"/>
              <a:t>WAN, MAN 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600" dirty="0"/>
              <a:t>higher bandwidth runs by </a:t>
            </a:r>
            <a:r>
              <a:rPr lang="en-GB" sz="1600" dirty="0" err="1"/>
              <a:t>Telcos</a:t>
            </a:r>
            <a:r>
              <a:rPr lang="en-GB" sz="1600" dirty="0"/>
              <a:t>, CATV companies</a:t>
            </a:r>
          </a:p>
          <a:p>
            <a:pPr marL="638175" lvl="1" indent="-180975">
              <a:buFont typeface="Arial" pitchFamily="34" charset="0"/>
              <a:buChar char="•"/>
            </a:pPr>
            <a:endParaRPr lang="en-GB" sz="1600" dirty="0"/>
          </a:p>
          <a:p>
            <a:pPr marL="0" lvl="1"/>
            <a:r>
              <a:rPr lang="en-GB" sz="1600" dirty="0"/>
              <a:t>Typically use lasers as source</a:t>
            </a:r>
          </a:p>
          <a:p>
            <a:pPr marL="638175" lvl="1" indent="-180975">
              <a:buFont typeface="Arial" pitchFamily="34" charset="0"/>
              <a:buChar char="•"/>
            </a:pPr>
            <a:endParaRPr lang="en-GB" sz="1600" dirty="0"/>
          </a:p>
        </p:txBody>
      </p:sp>
      <p:sp>
        <p:nvSpPr>
          <p:cNvPr id="7" name="Rectangle 6"/>
          <p:cNvSpPr/>
          <p:nvPr/>
        </p:nvSpPr>
        <p:spPr>
          <a:xfrm>
            <a:off x="393700" y="331788"/>
            <a:ext cx="40975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Fibre Optics - </a:t>
            </a:r>
            <a:r>
              <a:rPr lang="en-GB" sz="2400" b="1" dirty="0" err="1"/>
              <a:t>Singlemode</a:t>
            </a:r>
            <a:endParaRPr lang="en-GB" sz="2400" b="1" dirty="0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08"/>
          <a:stretch/>
        </p:blipFill>
        <p:spPr bwMode="auto">
          <a:xfrm>
            <a:off x="6581955" y="458670"/>
            <a:ext cx="2562045" cy="1198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0092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 descr="fiber typ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988840"/>
            <a:ext cx="3328265" cy="3490057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95288" y="998730"/>
            <a:ext cx="31866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Summary of Modes and dispersion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700" y="331788"/>
            <a:ext cx="19816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Fibre Optics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1980" y="638690"/>
            <a:ext cx="4572000" cy="49244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0975" indent="-180975"/>
            <a:r>
              <a:rPr lang="en-GB" sz="1600" dirty="0"/>
              <a:t>Most fibres 125um outside diameter 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  <a:p>
            <a:pPr marL="180975" indent="-180975"/>
            <a:r>
              <a:rPr lang="en-GB" sz="1600" dirty="0"/>
              <a:t>MMF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larger core: 50 or  62.5um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wavelengths: 850 and 1300 nm 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  <a:p>
            <a:pPr marL="180975" indent="-180975"/>
            <a:r>
              <a:rPr lang="en-GB" sz="1600" dirty="0"/>
              <a:t>SMF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smaller core ~9um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  <a:p>
            <a:pPr marL="180975" indent="-180975"/>
            <a:r>
              <a:rPr lang="en-GB" sz="1600" dirty="0"/>
              <a:t>Plastic Optical Fibre (POF)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large core ~1mm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usually step index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short, low speed 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  <a:p>
            <a:pPr marL="180975" indent="-180975"/>
            <a:r>
              <a:rPr lang="en-GB" sz="1600" dirty="0"/>
              <a:t>PCS, HCS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PCS plastic clad silica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HCS hard clad silica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smaller glass core ~200um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thin plastic cladding</a:t>
            </a:r>
          </a:p>
        </p:txBody>
      </p:sp>
    </p:spTree>
    <p:extLst>
      <p:ext uri="{BB962C8B-B14F-4D97-AF65-F5344CB8AC3E}">
        <p14:creationId xmlns:p14="http://schemas.microsoft.com/office/powerpoint/2010/main" val="3004118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2" descr="http://4.bp.blogspot.com/-JX1XmTTJ6oM/UAx9gyZMbdI/AAAAAAAABgE/iaTx6rSWQ-g/s1600/Modal+Dispers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1538790"/>
            <a:ext cx="9001125" cy="3743325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93700" y="331788"/>
            <a:ext cx="5564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Fibre Optics – Chromatic Dispersion</a:t>
            </a:r>
          </a:p>
        </p:txBody>
      </p:sp>
    </p:spTree>
    <p:extLst>
      <p:ext uri="{BB962C8B-B14F-4D97-AF65-F5344CB8AC3E}">
        <p14:creationId xmlns:p14="http://schemas.microsoft.com/office/powerpoint/2010/main" val="26807364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896086"/>
            <a:ext cx="764611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sz="1600"/>
              <a:t>CATV</a:t>
            </a:r>
            <a:endParaRPr lang="en-GB" sz="1600" dirty="0"/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sz="1600" dirty="0"/>
          </a:p>
          <a:p>
            <a:pPr marL="180975" indent="-180975">
              <a:lnSpc>
                <a:spcPct val="150000"/>
              </a:lnSpc>
            </a:pPr>
            <a:r>
              <a:rPr lang="en-GB" sz="1600" dirty="0"/>
              <a:t>Most CATV </a:t>
            </a:r>
            <a:r>
              <a:rPr lang="en-GB" sz="1600"/>
              <a:t>applications </a:t>
            </a:r>
          </a:p>
          <a:p>
            <a:pPr marL="180975" indent="-180975">
              <a:lnSpc>
                <a:spcPct val="150000"/>
              </a:lnSpc>
            </a:pPr>
            <a:r>
              <a:rPr lang="en-GB" sz="1600"/>
              <a:t>	both </a:t>
            </a:r>
            <a:r>
              <a:rPr lang="en-GB" sz="1600" dirty="0"/>
              <a:t>single mode and multimode </a:t>
            </a:r>
            <a:r>
              <a:rPr lang="en-GB" sz="1600"/>
              <a:t>signals </a:t>
            </a:r>
          </a:p>
          <a:p>
            <a:pPr marL="180975" indent="-180975">
              <a:lnSpc>
                <a:spcPct val="150000"/>
              </a:lnSpc>
            </a:pPr>
            <a:r>
              <a:rPr lang="en-GB" sz="1600"/>
              <a:t>	within </a:t>
            </a:r>
            <a:r>
              <a:rPr lang="en-GB" sz="1600" dirty="0"/>
              <a:t>different areas of the network: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sz="1600"/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/>
              <a:t>Headend </a:t>
            </a:r>
            <a:r>
              <a:rPr lang="en-GB" sz="1600" dirty="0"/>
              <a:t>–to- fibre nodes: Single Mode fibre 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/>
              <a:t>then </a:t>
            </a:r>
            <a:r>
              <a:rPr lang="en-GB" sz="1600" dirty="0"/>
              <a:t>converted to multimode for remaining outward distribution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3700" y="331788"/>
            <a:ext cx="2903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CATV Fibre Optics</a:t>
            </a:r>
          </a:p>
        </p:txBody>
      </p:sp>
    </p:spTree>
    <p:extLst>
      <p:ext uri="{BB962C8B-B14F-4D97-AF65-F5344CB8AC3E}">
        <p14:creationId xmlns:p14="http://schemas.microsoft.com/office/powerpoint/2010/main" val="829206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2"/>
          <p:cNvSpPr txBox="1">
            <a:spLocks noChangeArrowheads="1"/>
          </p:cNvSpPr>
          <p:nvPr/>
        </p:nvSpPr>
        <p:spPr bwMode="auto">
          <a:xfrm>
            <a:off x="395288" y="331788"/>
            <a:ext cx="5314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WDM – Wave Division Multiplexing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288" y="777875"/>
            <a:ext cx="7547259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dirty="0">
                <a:latin typeface="Lucida Sans Unicode" pitchFamily="34" charset="0"/>
              </a:rPr>
              <a:t>A number of multiplexes (each of many channels) are carried on one fibre</a:t>
            </a:r>
          </a:p>
          <a:p>
            <a:pPr marL="174625" indent="-174625"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Each multiplex is a string of data, each </a:t>
            </a:r>
            <a:r>
              <a:rPr lang="en-GB" sz="1600">
                <a:latin typeface="Lucida Sans Unicode" pitchFamily="34" charset="0"/>
              </a:rPr>
              <a:t>on its </a:t>
            </a:r>
            <a:r>
              <a:rPr lang="en-GB" sz="1600" dirty="0">
                <a:latin typeface="Lucida Sans Unicode" pitchFamily="34" charset="0"/>
              </a:rPr>
              <a:t>own wavelength</a:t>
            </a:r>
          </a:p>
          <a:p>
            <a:pPr marL="174625" indent="-174625"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Uses single mode fibre</a:t>
            </a:r>
          </a:p>
          <a:p>
            <a:pPr>
              <a:defRPr/>
            </a:pPr>
            <a:endParaRPr lang="en-GB" sz="1600" dirty="0">
              <a:latin typeface="Lucida Sans Unicode" pitchFamily="34" charset="0"/>
            </a:endParaRPr>
          </a:p>
        </p:txBody>
      </p:sp>
      <p:pic>
        <p:nvPicPr>
          <p:cNvPr id="3078" name="Picture 6" descr="Wavelength Division Multiplex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3262" y="2406770"/>
            <a:ext cx="7575230" cy="2972101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862640" y="2372264"/>
            <a:ext cx="125083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4647" y="2389517"/>
            <a:ext cx="125083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Receivers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896" y="3416060"/>
            <a:ext cx="125083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Fibre Optic </a:t>
            </a:r>
          </a:p>
        </p:txBody>
      </p:sp>
    </p:spTree>
    <p:extLst>
      <p:ext uri="{BB962C8B-B14F-4D97-AF65-F5344CB8AC3E}">
        <p14:creationId xmlns:p14="http://schemas.microsoft.com/office/powerpoint/2010/main" val="1983934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witched, Routed Ethernet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73" y="824639"/>
            <a:ext cx="7745262" cy="542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95288" y="341011"/>
            <a:ext cx="2433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333333"/>
                </a:solidFill>
              </a:rPr>
              <a:t>Fibre Networks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5424389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2320" y="953725"/>
            <a:ext cx="837093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network infrastructure  - mixture of cabling, switches and repeaters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no data  = no light: ‘dark’ .. not in use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333333"/>
              </a:solidFill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Originally - When Networks Planned / Built: 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usually overestimate cabling required, so many fibres dark, for future expansion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333333"/>
              </a:solidFill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Plus, now - Dark Fibre often leased from network providers and operators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client create / operate their own privately-operated optical fibre network 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 .. rather than just leasing bandwidth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333333"/>
              </a:solidFill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Could be dark fibre rings, point to point or point-to-multipoint configurations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clients aim for high performance, a high security, superfast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better signal strength 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more immune to interference than fibre on traditional networks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333333"/>
              </a:solidFill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DWDM (Dense Wavelength Division Multiplexing) 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key in the development of Dark Fibre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multiple data signals are transmitted simultaneously, different wavelengths 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333333"/>
                </a:solidFill>
              </a:rPr>
              <a:t>higher capacity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333333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288" y="341011"/>
            <a:ext cx="1834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333333"/>
                </a:solidFill>
              </a:rPr>
              <a:t>Dark Fibre 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179570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"/>
          <p:cNvSpPr>
            <a:spLocks noChangeArrowheads="1"/>
          </p:cNvSpPr>
          <p:nvPr/>
        </p:nvSpPr>
        <p:spPr bwMode="auto">
          <a:xfrm>
            <a:off x="395288" y="1941513"/>
            <a:ext cx="2963862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sz="1600" b="1" dirty="0">
                <a:latin typeface="Lucida Sans Unicode" pitchFamily="34" charset="0"/>
              </a:rPr>
              <a:t>HF and VF Bands: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Tend to be absorbed by the Earth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Can be bounced off of the ionosphere (called </a:t>
            </a:r>
            <a:r>
              <a:rPr lang="en-GB" sz="1600" i="1" dirty="0">
                <a:latin typeface="Lucida Sans Unicode" pitchFamily="34" charset="0"/>
              </a:rPr>
              <a:t>sky wave </a:t>
            </a:r>
            <a:r>
              <a:rPr lang="en-GB" sz="1600" i="1" dirty="0" err="1">
                <a:latin typeface="Lucida Sans Unicode" pitchFamily="34" charset="0"/>
              </a:rPr>
              <a:t>propogation</a:t>
            </a:r>
            <a:r>
              <a:rPr lang="en-GB" sz="1600" dirty="0">
                <a:latin typeface="Lucida Sans Unicode" pitchFamily="34" charset="0"/>
              </a:rPr>
              <a:t>)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endParaRPr lang="en-GB" sz="1600" dirty="0">
              <a:latin typeface="Lucida Sans Unicode" pitchFamily="34" charset="0"/>
            </a:endParaRPr>
          </a:p>
          <a:p>
            <a:pPr marL="180975" indent="-180975">
              <a:lnSpc>
                <a:spcPct val="150000"/>
              </a:lnSpc>
            </a:pPr>
            <a:r>
              <a:rPr lang="en-GB" sz="1600" b="1" dirty="0">
                <a:latin typeface="Lucida Sans Unicode" pitchFamily="34" charset="0"/>
              </a:rPr>
              <a:t>VLF, LF and MF Bands: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Range of about 1000km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Penetrate buildings</a:t>
            </a:r>
          </a:p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Omnidirectional</a:t>
            </a:r>
            <a:endParaRPr lang="en-GB" sz="1600" b="1" dirty="0">
              <a:latin typeface="Lucida Sans Unicode" pitchFamily="34" charset="0"/>
            </a:endParaRPr>
          </a:p>
        </p:txBody>
      </p:sp>
      <p:sp>
        <p:nvSpPr>
          <p:cNvPr id="1029" name="Rectangle 2"/>
          <p:cNvSpPr>
            <a:spLocks noChangeArrowheads="1"/>
          </p:cNvSpPr>
          <p:nvPr/>
        </p:nvSpPr>
        <p:spPr bwMode="auto">
          <a:xfrm>
            <a:off x="395288" y="331788"/>
            <a:ext cx="279435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Electromagnetic </a:t>
            </a:r>
          </a:p>
          <a:p>
            <a:r>
              <a:rPr lang="en-GB" sz="2400" b="1" dirty="0">
                <a:latin typeface="Lucida Sans Unicode" pitchFamily="34" charset="0"/>
              </a:rPr>
              <a:t>Spectrum; </a:t>
            </a:r>
          </a:p>
          <a:p>
            <a:r>
              <a:rPr lang="en-GB" sz="2400" b="1" dirty="0">
                <a:latin typeface="Lucida Sans Unicode" pitchFamily="34" charset="0"/>
              </a:rPr>
              <a:t>Radio – LF to VHF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603625" y="314325"/>
            <a:ext cx="5543552" cy="6088063"/>
            <a:chOff x="3603625" y="314325"/>
            <a:chExt cx="5543552" cy="6088063"/>
          </a:xfrm>
        </p:grpSpPr>
        <p:grpSp>
          <p:nvGrpSpPr>
            <p:cNvPr id="3" name="Group 27"/>
            <p:cNvGrpSpPr>
              <a:grpSpLocks/>
            </p:cNvGrpSpPr>
            <p:nvPr/>
          </p:nvGrpSpPr>
          <p:grpSpPr bwMode="auto">
            <a:xfrm>
              <a:off x="3905251" y="314325"/>
              <a:ext cx="5241926" cy="6088063"/>
              <a:chOff x="2460" y="198"/>
              <a:chExt cx="3302" cy="3835"/>
            </a:xfrm>
          </p:grpSpPr>
          <p:pic>
            <p:nvPicPr>
              <p:cNvPr id="1042" name="Picture 4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11" t="7071" r="3595" b="6842"/>
              <a:stretch>
                <a:fillRect/>
              </a:stretch>
            </p:blipFill>
            <p:spPr bwMode="auto">
              <a:xfrm>
                <a:off x="2669" y="198"/>
                <a:ext cx="3093" cy="38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" name="Group 17"/>
              <p:cNvGrpSpPr>
                <a:grpSpLocks/>
              </p:cNvGrpSpPr>
              <p:nvPr/>
            </p:nvGrpSpPr>
            <p:grpSpPr bwMode="auto">
              <a:xfrm>
                <a:off x="2460" y="328"/>
                <a:ext cx="222" cy="3690"/>
                <a:chOff x="5346" y="341"/>
                <a:chExt cx="222" cy="3690"/>
              </a:xfrm>
            </p:grpSpPr>
            <p:sp>
              <p:nvSpPr>
                <p:cNvPr id="1045" name="Freeform 14"/>
                <p:cNvSpPr>
                  <a:spLocks/>
                </p:cNvSpPr>
                <p:nvPr/>
              </p:nvSpPr>
              <p:spPr bwMode="auto">
                <a:xfrm>
                  <a:off x="5349" y="638"/>
                  <a:ext cx="219" cy="3393"/>
                </a:xfrm>
                <a:custGeom>
                  <a:avLst/>
                  <a:gdLst>
                    <a:gd name="T0" fmla="*/ 0 w 219"/>
                    <a:gd name="T1" fmla="*/ 0 h 3393"/>
                    <a:gd name="T2" fmla="*/ 207 w 219"/>
                    <a:gd name="T3" fmla="*/ 49 h 3393"/>
                    <a:gd name="T4" fmla="*/ 9 w 219"/>
                    <a:gd name="T5" fmla="*/ 100 h 3393"/>
                    <a:gd name="T6" fmla="*/ 207 w 219"/>
                    <a:gd name="T7" fmla="*/ 153 h 3393"/>
                    <a:gd name="T8" fmla="*/ 9 w 219"/>
                    <a:gd name="T9" fmla="*/ 205 h 3393"/>
                    <a:gd name="T10" fmla="*/ 207 w 219"/>
                    <a:gd name="T11" fmla="*/ 284 h 3393"/>
                    <a:gd name="T12" fmla="*/ 9 w 219"/>
                    <a:gd name="T13" fmla="*/ 362 h 3393"/>
                    <a:gd name="T14" fmla="*/ 212 w 219"/>
                    <a:gd name="T15" fmla="*/ 441 h 3393"/>
                    <a:gd name="T16" fmla="*/ 9 w 219"/>
                    <a:gd name="T17" fmla="*/ 544 h 3393"/>
                    <a:gd name="T18" fmla="*/ 205 w 219"/>
                    <a:gd name="T19" fmla="*/ 656 h 3393"/>
                    <a:gd name="T20" fmla="*/ 37 w 219"/>
                    <a:gd name="T21" fmla="*/ 806 h 3393"/>
                    <a:gd name="T22" fmla="*/ 205 w 219"/>
                    <a:gd name="T23" fmla="*/ 954 h 3393"/>
                    <a:gd name="T24" fmla="*/ 37 w 219"/>
                    <a:gd name="T25" fmla="*/ 1094 h 3393"/>
                    <a:gd name="T26" fmla="*/ 219 w 219"/>
                    <a:gd name="T27" fmla="*/ 1231 h 3393"/>
                    <a:gd name="T28" fmla="*/ 37 w 219"/>
                    <a:gd name="T29" fmla="*/ 1355 h 3393"/>
                    <a:gd name="T30" fmla="*/ 207 w 219"/>
                    <a:gd name="T31" fmla="*/ 1486 h 3393"/>
                    <a:gd name="T32" fmla="*/ 37 w 219"/>
                    <a:gd name="T33" fmla="*/ 1668 h 3393"/>
                    <a:gd name="T34" fmla="*/ 179 w 219"/>
                    <a:gd name="T35" fmla="*/ 1825 h 3393"/>
                    <a:gd name="T36" fmla="*/ 9 w 219"/>
                    <a:gd name="T37" fmla="*/ 2034 h 3393"/>
                    <a:gd name="T38" fmla="*/ 207 w 219"/>
                    <a:gd name="T39" fmla="*/ 2269 h 3393"/>
                    <a:gd name="T40" fmla="*/ 9 w 219"/>
                    <a:gd name="T41" fmla="*/ 2557 h 3393"/>
                    <a:gd name="T42" fmla="*/ 179 w 219"/>
                    <a:gd name="T43" fmla="*/ 2845 h 3393"/>
                    <a:gd name="T44" fmla="*/ 37 w 219"/>
                    <a:gd name="T45" fmla="*/ 3185 h 3393"/>
                    <a:gd name="T46" fmla="*/ 207 w 219"/>
                    <a:gd name="T47" fmla="*/ 3393 h 339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219"/>
                    <a:gd name="T73" fmla="*/ 0 h 3393"/>
                    <a:gd name="T74" fmla="*/ 219 w 219"/>
                    <a:gd name="T75" fmla="*/ 3393 h 3393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219" h="3393">
                      <a:moveTo>
                        <a:pt x="0" y="0"/>
                      </a:moveTo>
                      <a:cubicBezTo>
                        <a:pt x="35" y="8"/>
                        <a:pt x="205" y="32"/>
                        <a:pt x="207" y="49"/>
                      </a:cubicBezTo>
                      <a:cubicBezTo>
                        <a:pt x="209" y="66"/>
                        <a:pt x="9" y="83"/>
                        <a:pt x="9" y="100"/>
                      </a:cubicBezTo>
                      <a:cubicBezTo>
                        <a:pt x="9" y="118"/>
                        <a:pt x="207" y="135"/>
                        <a:pt x="207" y="153"/>
                      </a:cubicBezTo>
                      <a:cubicBezTo>
                        <a:pt x="207" y="170"/>
                        <a:pt x="9" y="183"/>
                        <a:pt x="9" y="205"/>
                      </a:cubicBezTo>
                      <a:cubicBezTo>
                        <a:pt x="9" y="227"/>
                        <a:pt x="207" y="258"/>
                        <a:pt x="207" y="284"/>
                      </a:cubicBezTo>
                      <a:cubicBezTo>
                        <a:pt x="207" y="309"/>
                        <a:pt x="8" y="336"/>
                        <a:pt x="9" y="362"/>
                      </a:cubicBezTo>
                      <a:cubicBezTo>
                        <a:pt x="10" y="388"/>
                        <a:pt x="212" y="411"/>
                        <a:pt x="212" y="441"/>
                      </a:cubicBezTo>
                      <a:cubicBezTo>
                        <a:pt x="212" y="472"/>
                        <a:pt x="10" y="509"/>
                        <a:pt x="9" y="544"/>
                      </a:cubicBezTo>
                      <a:cubicBezTo>
                        <a:pt x="8" y="580"/>
                        <a:pt x="200" y="613"/>
                        <a:pt x="205" y="656"/>
                      </a:cubicBezTo>
                      <a:cubicBezTo>
                        <a:pt x="210" y="699"/>
                        <a:pt x="37" y="757"/>
                        <a:pt x="37" y="806"/>
                      </a:cubicBezTo>
                      <a:cubicBezTo>
                        <a:pt x="37" y="856"/>
                        <a:pt x="205" y="906"/>
                        <a:pt x="205" y="954"/>
                      </a:cubicBezTo>
                      <a:cubicBezTo>
                        <a:pt x="205" y="1002"/>
                        <a:pt x="35" y="1048"/>
                        <a:pt x="37" y="1094"/>
                      </a:cubicBezTo>
                      <a:cubicBezTo>
                        <a:pt x="39" y="1140"/>
                        <a:pt x="219" y="1188"/>
                        <a:pt x="219" y="1231"/>
                      </a:cubicBezTo>
                      <a:cubicBezTo>
                        <a:pt x="219" y="1275"/>
                        <a:pt x="39" y="1312"/>
                        <a:pt x="37" y="1355"/>
                      </a:cubicBezTo>
                      <a:cubicBezTo>
                        <a:pt x="35" y="1397"/>
                        <a:pt x="207" y="1433"/>
                        <a:pt x="207" y="1486"/>
                      </a:cubicBezTo>
                      <a:cubicBezTo>
                        <a:pt x="207" y="1538"/>
                        <a:pt x="42" y="1612"/>
                        <a:pt x="37" y="1668"/>
                      </a:cubicBezTo>
                      <a:cubicBezTo>
                        <a:pt x="32" y="1724"/>
                        <a:pt x="184" y="1764"/>
                        <a:pt x="179" y="1825"/>
                      </a:cubicBezTo>
                      <a:cubicBezTo>
                        <a:pt x="174" y="1886"/>
                        <a:pt x="4" y="1960"/>
                        <a:pt x="9" y="2034"/>
                      </a:cubicBezTo>
                      <a:cubicBezTo>
                        <a:pt x="14" y="2108"/>
                        <a:pt x="207" y="2183"/>
                        <a:pt x="207" y="2269"/>
                      </a:cubicBezTo>
                      <a:cubicBezTo>
                        <a:pt x="207" y="2356"/>
                        <a:pt x="14" y="2461"/>
                        <a:pt x="9" y="2557"/>
                      </a:cubicBezTo>
                      <a:cubicBezTo>
                        <a:pt x="4" y="2653"/>
                        <a:pt x="174" y="2740"/>
                        <a:pt x="179" y="2845"/>
                      </a:cubicBezTo>
                      <a:cubicBezTo>
                        <a:pt x="184" y="2949"/>
                        <a:pt x="32" y="3093"/>
                        <a:pt x="37" y="3185"/>
                      </a:cubicBezTo>
                      <a:cubicBezTo>
                        <a:pt x="42" y="3276"/>
                        <a:pt x="124" y="3334"/>
                        <a:pt x="207" y="3393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 dirty="0">
                    <a:latin typeface="Lucida Sans Unicode" pitchFamily="34" charset="0"/>
                  </a:endParaRPr>
                </a:p>
              </p:txBody>
            </p:sp>
            <p:sp>
              <p:nvSpPr>
                <p:cNvPr id="1046" name="Freeform 16"/>
                <p:cNvSpPr>
                  <a:spLocks/>
                </p:cNvSpPr>
                <p:nvPr/>
              </p:nvSpPr>
              <p:spPr bwMode="auto">
                <a:xfrm>
                  <a:off x="5346" y="341"/>
                  <a:ext cx="208" cy="297"/>
                </a:xfrm>
                <a:custGeom>
                  <a:avLst/>
                  <a:gdLst>
                    <a:gd name="T0" fmla="*/ 30 w 208"/>
                    <a:gd name="T1" fmla="*/ 297 h 297"/>
                    <a:gd name="T2" fmla="*/ 200 w 208"/>
                    <a:gd name="T3" fmla="*/ 260 h 297"/>
                    <a:gd name="T4" fmla="*/ 25 w 208"/>
                    <a:gd name="T5" fmla="*/ 235 h 297"/>
                    <a:gd name="T6" fmla="*/ 208 w 208"/>
                    <a:gd name="T7" fmla="*/ 194 h 297"/>
                    <a:gd name="T8" fmla="*/ 25 w 208"/>
                    <a:gd name="T9" fmla="*/ 180 h 297"/>
                    <a:gd name="T10" fmla="*/ 200 w 208"/>
                    <a:gd name="T11" fmla="*/ 146 h 297"/>
                    <a:gd name="T12" fmla="*/ 4 w 208"/>
                    <a:gd name="T13" fmla="*/ 146 h 297"/>
                    <a:gd name="T14" fmla="*/ 200 w 208"/>
                    <a:gd name="T15" fmla="*/ 118 h 297"/>
                    <a:gd name="T16" fmla="*/ 4 w 208"/>
                    <a:gd name="T17" fmla="*/ 118 h 297"/>
                    <a:gd name="T18" fmla="*/ 200 w 208"/>
                    <a:gd name="T19" fmla="*/ 90 h 297"/>
                    <a:gd name="T20" fmla="*/ 4 w 208"/>
                    <a:gd name="T21" fmla="*/ 90 h 297"/>
                    <a:gd name="T22" fmla="*/ 176 w 208"/>
                    <a:gd name="T23" fmla="*/ 61 h 297"/>
                    <a:gd name="T24" fmla="*/ 4 w 208"/>
                    <a:gd name="T25" fmla="*/ 61 h 297"/>
                    <a:gd name="T26" fmla="*/ 200 w 208"/>
                    <a:gd name="T27" fmla="*/ 61 h 297"/>
                    <a:gd name="T28" fmla="*/ 4 w 208"/>
                    <a:gd name="T29" fmla="*/ 61 h 297"/>
                    <a:gd name="T30" fmla="*/ 200 w 208"/>
                    <a:gd name="T31" fmla="*/ 33 h 297"/>
                    <a:gd name="T32" fmla="*/ 28 w 208"/>
                    <a:gd name="T33" fmla="*/ 33 h 297"/>
                    <a:gd name="T34" fmla="*/ 200 w 208"/>
                    <a:gd name="T35" fmla="*/ 5 h 297"/>
                    <a:gd name="T36" fmla="*/ 4 w 208"/>
                    <a:gd name="T37" fmla="*/ 5 h 29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208"/>
                    <a:gd name="T58" fmla="*/ 0 h 297"/>
                    <a:gd name="T59" fmla="*/ 208 w 208"/>
                    <a:gd name="T60" fmla="*/ 297 h 297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208" h="297">
                      <a:moveTo>
                        <a:pt x="30" y="297"/>
                      </a:moveTo>
                      <a:cubicBezTo>
                        <a:pt x="60" y="291"/>
                        <a:pt x="201" y="270"/>
                        <a:pt x="200" y="260"/>
                      </a:cubicBezTo>
                      <a:cubicBezTo>
                        <a:pt x="199" y="250"/>
                        <a:pt x="23" y="246"/>
                        <a:pt x="25" y="235"/>
                      </a:cubicBezTo>
                      <a:cubicBezTo>
                        <a:pt x="27" y="224"/>
                        <a:pt x="208" y="203"/>
                        <a:pt x="208" y="194"/>
                      </a:cubicBezTo>
                      <a:cubicBezTo>
                        <a:pt x="208" y="185"/>
                        <a:pt x="27" y="188"/>
                        <a:pt x="25" y="180"/>
                      </a:cubicBezTo>
                      <a:cubicBezTo>
                        <a:pt x="23" y="172"/>
                        <a:pt x="204" y="152"/>
                        <a:pt x="200" y="146"/>
                      </a:cubicBezTo>
                      <a:cubicBezTo>
                        <a:pt x="197" y="140"/>
                        <a:pt x="4" y="151"/>
                        <a:pt x="4" y="146"/>
                      </a:cubicBezTo>
                      <a:cubicBezTo>
                        <a:pt x="4" y="141"/>
                        <a:pt x="200" y="123"/>
                        <a:pt x="200" y="118"/>
                      </a:cubicBezTo>
                      <a:cubicBezTo>
                        <a:pt x="200" y="113"/>
                        <a:pt x="4" y="123"/>
                        <a:pt x="4" y="118"/>
                      </a:cubicBezTo>
                      <a:cubicBezTo>
                        <a:pt x="4" y="113"/>
                        <a:pt x="200" y="95"/>
                        <a:pt x="200" y="90"/>
                      </a:cubicBezTo>
                      <a:cubicBezTo>
                        <a:pt x="200" y="85"/>
                        <a:pt x="9" y="95"/>
                        <a:pt x="4" y="90"/>
                      </a:cubicBezTo>
                      <a:cubicBezTo>
                        <a:pt x="0" y="85"/>
                        <a:pt x="176" y="66"/>
                        <a:pt x="176" y="61"/>
                      </a:cubicBezTo>
                      <a:cubicBezTo>
                        <a:pt x="176" y="56"/>
                        <a:pt x="0" y="61"/>
                        <a:pt x="4" y="61"/>
                      </a:cubicBezTo>
                      <a:cubicBezTo>
                        <a:pt x="9" y="61"/>
                        <a:pt x="200" y="61"/>
                        <a:pt x="200" y="61"/>
                      </a:cubicBezTo>
                      <a:cubicBezTo>
                        <a:pt x="200" y="61"/>
                        <a:pt x="4" y="66"/>
                        <a:pt x="4" y="61"/>
                      </a:cubicBezTo>
                      <a:cubicBezTo>
                        <a:pt x="4" y="56"/>
                        <a:pt x="196" y="38"/>
                        <a:pt x="200" y="33"/>
                      </a:cubicBezTo>
                      <a:cubicBezTo>
                        <a:pt x="205" y="28"/>
                        <a:pt x="28" y="38"/>
                        <a:pt x="28" y="33"/>
                      </a:cubicBezTo>
                      <a:cubicBezTo>
                        <a:pt x="28" y="28"/>
                        <a:pt x="205" y="10"/>
                        <a:pt x="200" y="5"/>
                      </a:cubicBezTo>
                      <a:cubicBezTo>
                        <a:pt x="196" y="0"/>
                        <a:pt x="33" y="5"/>
                        <a:pt x="4" y="5"/>
                      </a:cubicBez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 dirty="0">
                    <a:latin typeface="Lucida Sans Unicode" pitchFamily="34" charset="0"/>
                  </a:endParaRPr>
                </a:p>
              </p:txBody>
            </p:sp>
          </p:grpSp>
          <p:sp>
            <p:nvSpPr>
              <p:cNvPr id="1044" name="Rectangle 18"/>
              <p:cNvSpPr>
                <a:spLocks noChangeArrowheads="1"/>
              </p:cNvSpPr>
              <p:nvPr/>
            </p:nvSpPr>
            <p:spPr bwMode="auto">
              <a:xfrm>
                <a:off x="3696" y="1769"/>
                <a:ext cx="597" cy="96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Lucida Sans Unicode" pitchFamily="34" charset="0"/>
                </a:endParaRPr>
              </a:p>
            </p:txBody>
          </p:sp>
        </p:grpSp>
        <p:sp>
          <p:nvSpPr>
            <p:cNvPr id="1033" name="Text Box 20"/>
            <p:cNvSpPr txBox="1">
              <a:spLocks noChangeArrowheads="1"/>
            </p:cNvSpPr>
            <p:nvPr/>
          </p:nvSpPr>
          <p:spPr bwMode="auto">
            <a:xfrm rot="5400000">
              <a:off x="2383631" y="3109119"/>
              <a:ext cx="27146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higher freqs = shorter wavelength</a:t>
              </a:r>
            </a:p>
          </p:txBody>
        </p:sp>
        <p:sp>
          <p:nvSpPr>
            <p:cNvPr id="1034" name="Line 21"/>
            <p:cNvSpPr>
              <a:spLocks noChangeShapeType="1"/>
            </p:cNvSpPr>
            <p:nvPr/>
          </p:nvSpPr>
          <p:spPr bwMode="auto">
            <a:xfrm flipV="1">
              <a:off x="3760788" y="1216025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1035" name="Line 24"/>
            <p:cNvSpPr>
              <a:spLocks noChangeShapeType="1"/>
            </p:cNvSpPr>
            <p:nvPr/>
          </p:nvSpPr>
          <p:spPr bwMode="auto">
            <a:xfrm flipH="1" flipV="1">
              <a:off x="4819650" y="522288"/>
              <a:ext cx="2767013" cy="16351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grpSp>
          <p:nvGrpSpPr>
            <p:cNvPr id="5" name="Group 35"/>
            <p:cNvGrpSpPr>
              <a:grpSpLocks/>
            </p:cNvGrpSpPr>
            <p:nvPr/>
          </p:nvGrpSpPr>
          <p:grpSpPr bwMode="auto">
            <a:xfrm>
              <a:off x="7405689" y="371475"/>
              <a:ext cx="1738312" cy="5761042"/>
              <a:chOff x="4665" y="424"/>
              <a:chExt cx="1095" cy="3629"/>
            </a:xfrm>
          </p:grpSpPr>
          <p:sp>
            <p:nvSpPr>
              <p:cNvPr id="1041" name="Text Box 22"/>
              <p:cNvSpPr txBox="1">
                <a:spLocks noChangeArrowheads="1"/>
              </p:cNvSpPr>
              <p:nvPr/>
            </p:nvSpPr>
            <p:spPr bwMode="auto">
              <a:xfrm>
                <a:off x="4763" y="424"/>
                <a:ext cx="997" cy="404"/>
              </a:xfrm>
              <a:prstGeom prst="rect">
                <a:avLst/>
              </a:prstGeom>
              <a:solidFill>
                <a:srgbClr val="CC99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000" dirty="0"/>
                  <a:t>nm=nanometres</a:t>
                </a:r>
              </a:p>
              <a:p>
                <a:r>
                  <a:rPr lang="en-GB" sz="1000" dirty="0"/>
                  <a:t>= 10</a:t>
                </a:r>
                <a:r>
                  <a:rPr lang="en-GB" sz="1000" baseline="30000" dirty="0"/>
                  <a:t>-9</a:t>
                </a:r>
                <a:r>
                  <a:rPr lang="en-GB" sz="1000" dirty="0"/>
                  <a:t> meters</a:t>
                </a:r>
              </a:p>
              <a:p>
                <a:endParaRPr lang="en-GB" dirty="0">
                  <a:latin typeface="Times New Roman" pitchFamily="18" charset="0"/>
                </a:endParaRPr>
              </a:p>
            </p:txBody>
          </p:sp>
          <p:graphicFrame>
            <p:nvGraphicFramePr>
              <p:cNvPr id="1027" name="Object 25"/>
              <p:cNvGraphicFramePr>
                <a:graphicFrameLocks noChangeAspect="1"/>
              </p:cNvGraphicFramePr>
              <p:nvPr/>
            </p:nvGraphicFramePr>
            <p:xfrm>
              <a:off x="4772" y="639"/>
              <a:ext cx="988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638300" imgH="419100" progId="Equation.3">
                      <p:embed/>
                    </p:oleObj>
                  </mc:Choice>
                  <mc:Fallback>
                    <p:oleObj name="Equation" r:id="rId3" imgW="1638300" imgH="419100" progId="Equation.3">
                      <p:embed/>
                      <p:pic>
                        <p:nvPicPr>
                          <p:cNvPr id="1027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72" y="639"/>
                            <a:ext cx="988" cy="253"/>
                          </a:xfrm>
                          <a:prstGeom prst="rect">
                            <a:avLst/>
                          </a:prstGeom>
                          <a:solidFill>
                            <a:srgbClr val="CC99F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Text Box 22"/>
              <p:cNvSpPr txBox="1">
                <a:spLocks noChangeArrowheads="1"/>
              </p:cNvSpPr>
              <p:nvPr/>
            </p:nvSpPr>
            <p:spPr bwMode="auto">
              <a:xfrm>
                <a:off x="4665" y="3622"/>
                <a:ext cx="877" cy="431"/>
              </a:xfrm>
              <a:prstGeom prst="rect">
                <a:avLst/>
              </a:prstGeom>
              <a:solidFill>
                <a:srgbClr val="CC99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Lucida Sans Unicode" pitchFamily="34" charset="0"/>
                  </a:defRPr>
                </a:lvl9pPr>
              </a:lstStyle>
              <a:p>
                <a:r>
                  <a:rPr lang="en-GB" sz="1000" i="1" dirty="0"/>
                  <a:t>Audio wavelengths  (not EM) – shown for comparison</a:t>
                </a:r>
                <a:endParaRPr lang="en-GB" dirty="0">
                  <a:latin typeface="Times New Roman" pitchFamily="18" charset="0"/>
                </a:endParaRPr>
              </a:p>
            </p:txBody>
          </p:sp>
        </p:grpSp>
        <p:sp>
          <p:nvSpPr>
            <p:cNvPr id="1037" name="Text Box 30"/>
            <p:cNvSpPr txBox="1">
              <a:spLocks noChangeArrowheads="1"/>
            </p:cNvSpPr>
            <p:nvPr/>
          </p:nvSpPr>
          <p:spPr bwMode="auto">
            <a:xfrm>
              <a:off x="7561263" y="3856038"/>
              <a:ext cx="1582737" cy="1006475"/>
            </a:xfrm>
            <a:prstGeom prst="rect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l-GR" sz="1000" dirty="0">
                  <a:cs typeface="Lucida Sans Unicode" pitchFamily="34" charset="0"/>
                </a:rPr>
                <a:t>μ</a:t>
              </a:r>
              <a:r>
                <a:rPr lang="en-GB" sz="1000" dirty="0"/>
                <a:t>m=micrometres</a:t>
              </a:r>
            </a:p>
            <a:p>
              <a:r>
                <a:rPr lang="en-GB" sz="1000" dirty="0"/>
                <a:t>= 10</a:t>
              </a:r>
              <a:r>
                <a:rPr lang="en-GB" sz="1000" baseline="30000" dirty="0"/>
                <a:t>-6</a:t>
              </a:r>
              <a:r>
                <a:rPr lang="en-GB" sz="1000" dirty="0"/>
                <a:t> meters</a:t>
              </a:r>
            </a:p>
            <a:p>
              <a:endParaRPr lang="en-GB" sz="1000" dirty="0"/>
            </a:p>
            <a:p>
              <a:endParaRPr lang="en-GB" sz="1000" dirty="0"/>
            </a:p>
            <a:p>
              <a:endParaRPr lang="en-GB" sz="1000" dirty="0"/>
            </a:p>
            <a:p>
              <a:r>
                <a:rPr lang="en-GB" sz="1000" dirty="0"/>
                <a:t>(a millionth)</a:t>
              </a:r>
            </a:p>
          </p:txBody>
        </p:sp>
        <p:graphicFrame>
          <p:nvGraphicFramePr>
            <p:cNvPr id="1026" name="Object 31"/>
            <p:cNvGraphicFramePr>
              <a:graphicFrameLocks noChangeAspect="1"/>
            </p:cNvGraphicFramePr>
            <p:nvPr/>
          </p:nvGraphicFramePr>
          <p:xfrm>
            <a:off x="7726363" y="4197350"/>
            <a:ext cx="1265237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320227" imgH="418918" progId="Equation.3">
                    <p:embed/>
                  </p:oleObj>
                </mc:Choice>
                <mc:Fallback>
                  <p:oleObj name="Equation" r:id="rId5" imgW="1320227" imgH="418918" progId="Equation.3">
                    <p:embed/>
                    <p:pic>
                      <p:nvPicPr>
                        <p:cNvPr id="1026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6363" y="4197350"/>
                          <a:ext cx="1265237" cy="401638"/>
                        </a:xfrm>
                        <a:prstGeom prst="rect">
                          <a:avLst/>
                        </a:prstGeom>
                        <a:solidFill>
                          <a:srgbClr val="CC99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8" name="Line 32"/>
            <p:cNvSpPr>
              <a:spLocks noChangeShapeType="1"/>
            </p:cNvSpPr>
            <p:nvPr/>
          </p:nvSpPr>
          <p:spPr bwMode="auto">
            <a:xfrm flipH="1" flipV="1">
              <a:off x="4694238" y="3152775"/>
              <a:ext cx="2867025" cy="8651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1039" name="Text Box 37"/>
            <p:cNvSpPr txBox="1">
              <a:spLocks noChangeArrowheads="1"/>
            </p:cNvSpPr>
            <p:nvPr/>
          </p:nvSpPr>
          <p:spPr bwMode="auto">
            <a:xfrm>
              <a:off x="7561263" y="1392238"/>
              <a:ext cx="1582737" cy="396875"/>
            </a:xfrm>
            <a:prstGeom prst="rect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 sz="1000"/>
                <a:t>Angstrom Unit = </a:t>
              </a:r>
            </a:p>
            <a:p>
              <a:r>
                <a:rPr lang="en-GB" sz="1000"/>
                <a:t>= 10</a:t>
              </a:r>
              <a:r>
                <a:rPr lang="en-GB" sz="1000" baseline="30000"/>
                <a:t>-8</a:t>
              </a:r>
              <a:r>
                <a:rPr lang="en-GB" sz="1000"/>
                <a:t> meters</a:t>
              </a:r>
              <a:endParaRPr lang="en-GB" dirty="0">
                <a:latin typeface="Times New Roman" pitchFamily="18" charset="0"/>
              </a:endParaRPr>
            </a:p>
          </p:txBody>
        </p:sp>
        <p:sp>
          <p:nvSpPr>
            <p:cNvPr id="1040" name="Line 39"/>
            <p:cNvSpPr>
              <a:spLocks noChangeShapeType="1"/>
            </p:cNvSpPr>
            <p:nvPr/>
          </p:nvSpPr>
          <p:spPr bwMode="auto">
            <a:xfrm flipH="1">
              <a:off x="5129213" y="1552575"/>
              <a:ext cx="2422525" cy="10953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25" name="Freeform 24"/>
          <p:cNvSpPr/>
          <p:nvPr/>
        </p:nvSpPr>
        <p:spPr bwMode="auto">
          <a:xfrm>
            <a:off x="3211513" y="2562225"/>
            <a:ext cx="3698875" cy="3540125"/>
          </a:xfrm>
          <a:custGeom>
            <a:avLst/>
            <a:gdLst>
              <a:gd name="connsiteX0" fmla="*/ 3700130 w 3700130"/>
              <a:gd name="connsiteY0" fmla="*/ 1552353 h 3306725"/>
              <a:gd name="connsiteX1" fmla="*/ 0 w 3700130"/>
              <a:gd name="connsiteY1" fmla="*/ 0 h 3306725"/>
              <a:gd name="connsiteX2" fmla="*/ 287079 w 3700130"/>
              <a:gd name="connsiteY2" fmla="*/ 1690577 h 3306725"/>
              <a:gd name="connsiteX3" fmla="*/ 0 w 3700130"/>
              <a:gd name="connsiteY3" fmla="*/ 3306725 h 3306725"/>
              <a:gd name="connsiteX4" fmla="*/ 3700130 w 3700130"/>
              <a:gd name="connsiteY4" fmla="*/ 2477386 h 3306725"/>
              <a:gd name="connsiteX5" fmla="*/ 3700130 w 3700130"/>
              <a:gd name="connsiteY5" fmla="*/ 1552353 h 330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0130" h="3306725">
                <a:moveTo>
                  <a:pt x="3700130" y="1552353"/>
                </a:moveTo>
                <a:lnTo>
                  <a:pt x="0" y="0"/>
                </a:lnTo>
                <a:lnTo>
                  <a:pt x="287079" y="1690577"/>
                </a:lnTo>
                <a:lnTo>
                  <a:pt x="0" y="3306725"/>
                </a:lnTo>
                <a:lnTo>
                  <a:pt x="3700130" y="2477386"/>
                </a:lnTo>
                <a:lnTo>
                  <a:pt x="3700130" y="1552353"/>
                </a:lnTo>
                <a:close/>
              </a:path>
            </a:pathLst>
          </a:custGeom>
          <a:gradFill>
            <a:gsLst>
              <a:gs pos="0">
                <a:schemeClr val="accent1">
                  <a:tint val="66000"/>
                  <a:satMod val="160000"/>
                  <a:alpha val="6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solidFill>
              <a:schemeClr val="accent5">
                <a:lumMod val="75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 dirty="0">
              <a:latin typeface="Lucida Sans Unicode" pitchFamily="34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7315200" y="5443268"/>
            <a:ext cx="0" cy="672860"/>
          </a:xfrm>
          <a:prstGeom prst="straightConnector1">
            <a:avLst/>
          </a:prstGeom>
          <a:ln w="22225">
            <a:solidFill>
              <a:schemeClr val="tx2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4071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2"/>
          <p:cNvSpPr>
            <a:spLocks noChangeArrowheads="1"/>
          </p:cNvSpPr>
          <p:nvPr/>
        </p:nvSpPr>
        <p:spPr bwMode="auto">
          <a:xfrm>
            <a:off x="395288" y="892175"/>
            <a:ext cx="3900487" cy="48885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 defTabSz="180975">
              <a:lnSpc>
                <a:spcPts val="2200"/>
              </a:lnSpc>
              <a:tabLst>
                <a:tab pos="265113" algn="l"/>
              </a:tabLst>
            </a:pPr>
            <a:r>
              <a:rPr lang="en-GB" sz="1600" b="1" dirty="0">
                <a:latin typeface="Lucida Sans Unicode" pitchFamily="34" charset="0"/>
              </a:rPr>
              <a:t>Properties:</a:t>
            </a:r>
          </a:p>
          <a:p>
            <a:pPr marL="180975" lvl="1" indent="-180975" defTabSz="180975">
              <a:lnSpc>
                <a:spcPts val="2200"/>
              </a:lnSpc>
              <a:buFont typeface="Arial" charset="0"/>
              <a:buChar char="•"/>
              <a:tabLst>
                <a:tab pos="265113" algn="l"/>
              </a:tabLst>
            </a:pPr>
            <a:r>
              <a:rPr lang="en-GB" sz="1600" dirty="0">
                <a:latin typeface="Lucida Sans Unicode" pitchFamily="34" charset="0"/>
              </a:rPr>
              <a:t>Travel in a nearly straight line</a:t>
            </a:r>
          </a:p>
          <a:p>
            <a:pPr marL="180975" lvl="1" indent="-180975" defTabSz="180975">
              <a:lnSpc>
                <a:spcPts val="2200"/>
              </a:lnSpc>
              <a:buFont typeface="Arial" charset="0"/>
              <a:buChar char="•"/>
              <a:tabLst>
                <a:tab pos="265113" algn="l"/>
              </a:tabLst>
            </a:pPr>
            <a:r>
              <a:rPr lang="en-GB" sz="1600" dirty="0">
                <a:latin typeface="Lucida Sans Unicode" pitchFamily="34" charset="0"/>
              </a:rPr>
              <a:t>Can be narrowly focused (by a parabolic antenna)</a:t>
            </a:r>
          </a:p>
          <a:p>
            <a:pPr marL="180975" lvl="1" indent="-180975" defTabSz="180975">
              <a:lnSpc>
                <a:spcPts val="2200"/>
              </a:lnSpc>
              <a:buFont typeface="Arial" charset="0"/>
              <a:buChar char="•"/>
              <a:tabLst>
                <a:tab pos="265113" algn="l"/>
              </a:tabLst>
            </a:pPr>
            <a:r>
              <a:rPr lang="en-GB" sz="1600" dirty="0">
                <a:latin typeface="Lucida Sans Unicode" pitchFamily="34" charset="0"/>
              </a:rPr>
              <a:t>High signal to noise ratio</a:t>
            </a:r>
          </a:p>
          <a:p>
            <a:pPr marL="180975" lvl="1" indent="-180975" defTabSz="180975">
              <a:lnSpc>
                <a:spcPts val="2200"/>
              </a:lnSpc>
              <a:buFont typeface="Arial" charset="0"/>
              <a:buChar char="•"/>
              <a:tabLst>
                <a:tab pos="265113" algn="l"/>
              </a:tabLst>
            </a:pPr>
            <a:r>
              <a:rPr lang="en-GB" sz="1600" dirty="0">
                <a:latin typeface="Lucida Sans Unicode" pitchFamily="34" charset="0"/>
              </a:rPr>
              <a:t>Little interference</a:t>
            </a:r>
          </a:p>
          <a:p>
            <a:pPr marL="180975" lvl="1" indent="-180975" defTabSz="180975">
              <a:lnSpc>
                <a:spcPts val="2200"/>
              </a:lnSpc>
              <a:buFont typeface="Arial" charset="0"/>
              <a:buChar char="•"/>
              <a:tabLst>
                <a:tab pos="265113" algn="l"/>
              </a:tabLst>
            </a:pPr>
            <a:r>
              <a:rPr lang="en-GB" sz="1600" dirty="0">
                <a:latin typeface="Lucida Sans Unicode" pitchFamily="34" charset="0"/>
              </a:rPr>
              <a:t>Low penetration</a:t>
            </a:r>
          </a:p>
          <a:p>
            <a:pPr marL="446088" lvl="3" indent="-180975" defTabSz="180975">
              <a:lnSpc>
                <a:spcPts val="2200"/>
              </a:lnSpc>
              <a:buFont typeface="Arial" charset="0"/>
              <a:buChar char="•"/>
              <a:tabLst>
                <a:tab pos="265113" algn="l"/>
              </a:tabLst>
            </a:pPr>
            <a:r>
              <a:rPr lang="en-GB" sz="1600" dirty="0">
                <a:latin typeface="Lucida Sans Unicode" pitchFamily="34" charset="0"/>
              </a:rPr>
              <a:t>Do not pass through buildings</a:t>
            </a:r>
          </a:p>
          <a:p>
            <a:pPr marL="446088" lvl="3" indent="-180975" defTabSz="180975">
              <a:lnSpc>
                <a:spcPts val="2200"/>
              </a:lnSpc>
              <a:buFont typeface="Arial" charset="0"/>
              <a:buChar char="•"/>
              <a:tabLst>
                <a:tab pos="265113" algn="l"/>
              </a:tabLst>
            </a:pPr>
            <a:r>
              <a:rPr lang="en-GB" sz="1600" dirty="0">
                <a:latin typeface="Lucida Sans Unicode" pitchFamily="34" charset="0"/>
              </a:rPr>
              <a:t>At 4GHz and above, the waves are very short and can be absorbed by water (e.g., rain)</a:t>
            </a:r>
          </a:p>
          <a:p>
            <a:pPr marL="446088" lvl="3" indent="-180975" defTabSz="180975">
              <a:lnSpc>
                <a:spcPts val="2200"/>
              </a:lnSpc>
              <a:buFont typeface="Arial" charset="0"/>
              <a:buChar char="•"/>
              <a:tabLst>
                <a:tab pos="265113" algn="l"/>
              </a:tabLst>
            </a:pPr>
            <a:r>
              <a:rPr lang="en-GB" sz="1600" dirty="0">
                <a:latin typeface="Lucida Sans Unicode" pitchFamily="34" charset="0"/>
              </a:rPr>
              <a:t>At 60GHz the waves can be absorbed by oxygen</a:t>
            </a:r>
          </a:p>
          <a:p>
            <a:pPr marL="180975" indent="-180975" defTabSz="180975">
              <a:lnSpc>
                <a:spcPts val="2200"/>
              </a:lnSpc>
              <a:tabLst>
                <a:tab pos="265113" algn="l"/>
              </a:tabLst>
            </a:pPr>
            <a:endParaRPr lang="en-GB" sz="1600" b="1" dirty="0">
              <a:latin typeface="Lucida Sans Unicode" pitchFamily="34" charset="0"/>
            </a:endParaRPr>
          </a:p>
          <a:p>
            <a:pPr marL="180975" indent="-180975" defTabSz="180975">
              <a:lnSpc>
                <a:spcPts val="2200"/>
              </a:lnSpc>
              <a:tabLst>
                <a:tab pos="265113" algn="l"/>
              </a:tabLst>
            </a:pPr>
            <a:r>
              <a:rPr lang="en-GB" sz="1600" b="1" dirty="0">
                <a:latin typeface="Lucida Sans Unicode" pitchFamily="34" charset="0"/>
              </a:rPr>
              <a:t>Range:</a:t>
            </a:r>
          </a:p>
          <a:p>
            <a:pPr marL="180975" lvl="1" indent="-180975" defTabSz="180975">
              <a:lnSpc>
                <a:spcPts val="2200"/>
              </a:lnSpc>
              <a:buFont typeface="Arial" charset="0"/>
              <a:buChar char="•"/>
              <a:tabLst>
                <a:tab pos="265113" algn="l"/>
              </a:tabLst>
            </a:pPr>
            <a:r>
              <a:rPr lang="en-GB" sz="1600" dirty="0">
                <a:latin typeface="Lucida Sans Unicode" pitchFamily="34" charset="0"/>
              </a:rPr>
              <a:t>2GHz-6GHz: 70km</a:t>
            </a:r>
          </a:p>
          <a:p>
            <a:pPr marL="180975" lvl="1" indent="-180975" defTabSz="180975">
              <a:lnSpc>
                <a:spcPts val="2200"/>
              </a:lnSpc>
              <a:buFont typeface="Arial" charset="0"/>
              <a:buChar char="•"/>
              <a:tabLst>
                <a:tab pos="265113" algn="l"/>
              </a:tabLst>
            </a:pPr>
            <a:r>
              <a:rPr lang="en-GB" sz="1600" dirty="0">
                <a:latin typeface="Lucida Sans Unicode" pitchFamily="34" charset="0"/>
              </a:rPr>
              <a:t>18GHz-45GHz: 1.6-8km</a:t>
            </a:r>
          </a:p>
        </p:txBody>
      </p:sp>
      <p:sp>
        <p:nvSpPr>
          <p:cNvPr id="2052" name="Rectangle 1"/>
          <p:cNvSpPr>
            <a:spLocks noChangeArrowheads="1"/>
          </p:cNvSpPr>
          <p:nvPr/>
        </p:nvSpPr>
        <p:spPr bwMode="auto">
          <a:xfrm>
            <a:off x="395288" y="331788"/>
            <a:ext cx="2960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Radio - Microwave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905251" y="314325"/>
            <a:ext cx="5241926" cy="6088063"/>
            <a:chOff x="3905251" y="314325"/>
            <a:chExt cx="5241926" cy="6088063"/>
          </a:xfrm>
        </p:grpSpPr>
        <p:grpSp>
          <p:nvGrpSpPr>
            <p:cNvPr id="3" name="Group 27"/>
            <p:cNvGrpSpPr>
              <a:grpSpLocks/>
            </p:cNvGrpSpPr>
            <p:nvPr/>
          </p:nvGrpSpPr>
          <p:grpSpPr bwMode="auto">
            <a:xfrm>
              <a:off x="3905251" y="314325"/>
              <a:ext cx="5241926" cy="6088063"/>
              <a:chOff x="2460" y="198"/>
              <a:chExt cx="3302" cy="3835"/>
            </a:xfrm>
          </p:grpSpPr>
          <p:pic>
            <p:nvPicPr>
              <p:cNvPr id="2067" name="Picture 4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11" t="7071" r="3595" b="6842"/>
              <a:stretch>
                <a:fillRect/>
              </a:stretch>
            </p:blipFill>
            <p:spPr bwMode="auto">
              <a:xfrm>
                <a:off x="2669" y="198"/>
                <a:ext cx="3093" cy="38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" name="Group 17"/>
              <p:cNvGrpSpPr>
                <a:grpSpLocks/>
              </p:cNvGrpSpPr>
              <p:nvPr/>
            </p:nvGrpSpPr>
            <p:grpSpPr bwMode="auto">
              <a:xfrm>
                <a:off x="2460" y="328"/>
                <a:ext cx="222" cy="3690"/>
                <a:chOff x="5346" y="341"/>
                <a:chExt cx="222" cy="3690"/>
              </a:xfrm>
            </p:grpSpPr>
            <p:sp>
              <p:nvSpPr>
                <p:cNvPr id="2070" name="Freeform 14"/>
                <p:cNvSpPr>
                  <a:spLocks/>
                </p:cNvSpPr>
                <p:nvPr/>
              </p:nvSpPr>
              <p:spPr bwMode="auto">
                <a:xfrm>
                  <a:off x="5349" y="638"/>
                  <a:ext cx="219" cy="3393"/>
                </a:xfrm>
                <a:custGeom>
                  <a:avLst/>
                  <a:gdLst>
                    <a:gd name="T0" fmla="*/ 0 w 219"/>
                    <a:gd name="T1" fmla="*/ 0 h 3393"/>
                    <a:gd name="T2" fmla="*/ 207 w 219"/>
                    <a:gd name="T3" fmla="*/ 49 h 3393"/>
                    <a:gd name="T4" fmla="*/ 9 w 219"/>
                    <a:gd name="T5" fmla="*/ 100 h 3393"/>
                    <a:gd name="T6" fmla="*/ 207 w 219"/>
                    <a:gd name="T7" fmla="*/ 153 h 3393"/>
                    <a:gd name="T8" fmla="*/ 9 w 219"/>
                    <a:gd name="T9" fmla="*/ 205 h 3393"/>
                    <a:gd name="T10" fmla="*/ 207 w 219"/>
                    <a:gd name="T11" fmla="*/ 284 h 3393"/>
                    <a:gd name="T12" fmla="*/ 9 w 219"/>
                    <a:gd name="T13" fmla="*/ 362 h 3393"/>
                    <a:gd name="T14" fmla="*/ 212 w 219"/>
                    <a:gd name="T15" fmla="*/ 441 h 3393"/>
                    <a:gd name="T16" fmla="*/ 9 w 219"/>
                    <a:gd name="T17" fmla="*/ 544 h 3393"/>
                    <a:gd name="T18" fmla="*/ 205 w 219"/>
                    <a:gd name="T19" fmla="*/ 656 h 3393"/>
                    <a:gd name="T20" fmla="*/ 37 w 219"/>
                    <a:gd name="T21" fmla="*/ 806 h 3393"/>
                    <a:gd name="T22" fmla="*/ 205 w 219"/>
                    <a:gd name="T23" fmla="*/ 954 h 3393"/>
                    <a:gd name="T24" fmla="*/ 37 w 219"/>
                    <a:gd name="T25" fmla="*/ 1094 h 3393"/>
                    <a:gd name="T26" fmla="*/ 219 w 219"/>
                    <a:gd name="T27" fmla="*/ 1231 h 3393"/>
                    <a:gd name="T28" fmla="*/ 37 w 219"/>
                    <a:gd name="T29" fmla="*/ 1355 h 3393"/>
                    <a:gd name="T30" fmla="*/ 207 w 219"/>
                    <a:gd name="T31" fmla="*/ 1486 h 3393"/>
                    <a:gd name="T32" fmla="*/ 37 w 219"/>
                    <a:gd name="T33" fmla="*/ 1668 h 3393"/>
                    <a:gd name="T34" fmla="*/ 179 w 219"/>
                    <a:gd name="T35" fmla="*/ 1825 h 3393"/>
                    <a:gd name="T36" fmla="*/ 9 w 219"/>
                    <a:gd name="T37" fmla="*/ 2034 h 3393"/>
                    <a:gd name="T38" fmla="*/ 207 w 219"/>
                    <a:gd name="T39" fmla="*/ 2269 h 3393"/>
                    <a:gd name="T40" fmla="*/ 9 w 219"/>
                    <a:gd name="T41" fmla="*/ 2557 h 3393"/>
                    <a:gd name="T42" fmla="*/ 179 w 219"/>
                    <a:gd name="T43" fmla="*/ 2845 h 3393"/>
                    <a:gd name="T44" fmla="*/ 37 w 219"/>
                    <a:gd name="T45" fmla="*/ 3185 h 3393"/>
                    <a:gd name="T46" fmla="*/ 207 w 219"/>
                    <a:gd name="T47" fmla="*/ 3393 h 339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219"/>
                    <a:gd name="T73" fmla="*/ 0 h 3393"/>
                    <a:gd name="T74" fmla="*/ 219 w 219"/>
                    <a:gd name="T75" fmla="*/ 3393 h 3393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219" h="3393">
                      <a:moveTo>
                        <a:pt x="0" y="0"/>
                      </a:moveTo>
                      <a:cubicBezTo>
                        <a:pt x="35" y="8"/>
                        <a:pt x="205" y="32"/>
                        <a:pt x="207" y="49"/>
                      </a:cubicBezTo>
                      <a:cubicBezTo>
                        <a:pt x="209" y="66"/>
                        <a:pt x="9" y="83"/>
                        <a:pt x="9" y="100"/>
                      </a:cubicBezTo>
                      <a:cubicBezTo>
                        <a:pt x="9" y="118"/>
                        <a:pt x="207" y="135"/>
                        <a:pt x="207" y="153"/>
                      </a:cubicBezTo>
                      <a:cubicBezTo>
                        <a:pt x="207" y="170"/>
                        <a:pt x="9" y="183"/>
                        <a:pt x="9" y="205"/>
                      </a:cubicBezTo>
                      <a:cubicBezTo>
                        <a:pt x="9" y="227"/>
                        <a:pt x="207" y="258"/>
                        <a:pt x="207" y="284"/>
                      </a:cubicBezTo>
                      <a:cubicBezTo>
                        <a:pt x="207" y="309"/>
                        <a:pt x="8" y="336"/>
                        <a:pt x="9" y="362"/>
                      </a:cubicBezTo>
                      <a:cubicBezTo>
                        <a:pt x="10" y="388"/>
                        <a:pt x="212" y="411"/>
                        <a:pt x="212" y="441"/>
                      </a:cubicBezTo>
                      <a:cubicBezTo>
                        <a:pt x="212" y="472"/>
                        <a:pt x="10" y="509"/>
                        <a:pt x="9" y="544"/>
                      </a:cubicBezTo>
                      <a:cubicBezTo>
                        <a:pt x="8" y="580"/>
                        <a:pt x="200" y="613"/>
                        <a:pt x="205" y="656"/>
                      </a:cubicBezTo>
                      <a:cubicBezTo>
                        <a:pt x="210" y="699"/>
                        <a:pt x="37" y="757"/>
                        <a:pt x="37" y="806"/>
                      </a:cubicBezTo>
                      <a:cubicBezTo>
                        <a:pt x="37" y="856"/>
                        <a:pt x="205" y="906"/>
                        <a:pt x="205" y="954"/>
                      </a:cubicBezTo>
                      <a:cubicBezTo>
                        <a:pt x="205" y="1002"/>
                        <a:pt x="35" y="1048"/>
                        <a:pt x="37" y="1094"/>
                      </a:cubicBezTo>
                      <a:cubicBezTo>
                        <a:pt x="39" y="1140"/>
                        <a:pt x="219" y="1188"/>
                        <a:pt x="219" y="1231"/>
                      </a:cubicBezTo>
                      <a:cubicBezTo>
                        <a:pt x="219" y="1275"/>
                        <a:pt x="39" y="1312"/>
                        <a:pt x="37" y="1355"/>
                      </a:cubicBezTo>
                      <a:cubicBezTo>
                        <a:pt x="35" y="1397"/>
                        <a:pt x="207" y="1433"/>
                        <a:pt x="207" y="1486"/>
                      </a:cubicBezTo>
                      <a:cubicBezTo>
                        <a:pt x="207" y="1538"/>
                        <a:pt x="42" y="1612"/>
                        <a:pt x="37" y="1668"/>
                      </a:cubicBezTo>
                      <a:cubicBezTo>
                        <a:pt x="32" y="1724"/>
                        <a:pt x="184" y="1764"/>
                        <a:pt x="179" y="1825"/>
                      </a:cubicBezTo>
                      <a:cubicBezTo>
                        <a:pt x="174" y="1886"/>
                        <a:pt x="4" y="1960"/>
                        <a:pt x="9" y="2034"/>
                      </a:cubicBezTo>
                      <a:cubicBezTo>
                        <a:pt x="14" y="2108"/>
                        <a:pt x="207" y="2183"/>
                        <a:pt x="207" y="2269"/>
                      </a:cubicBezTo>
                      <a:cubicBezTo>
                        <a:pt x="207" y="2356"/>
                        <a:pt x="14" y="2461"/>
                        <a:pt x="9" y="2557"/>
                      </a:cubicBezTo>
                      <a:cubicBezTo>
                        <a:pt x="4" y="2653"/>
                        <a:pt x="174" y="2740"/>
                        <a:pt x="179" y="2845"/>
                      </a:cubicBezTo>
                      <a:cubicBezTo>
                        <a:pt x="184" y="2949"/>
                        <a:pt x="32" y="3093"/>
                        <a:pt x="37" y="3185"/>
                      </a:cubicBezTo>
                      <a:cubicBezTo>
                        <a:pt x="42" y="3276"/>
                        <a:pt x="124" y="3334"/>
                        <a:pt x="207" y="3393"/>
                      </a:cubicBezTo>
                    </a:path>
                  </a:pathLst>
                </a:custGeom>
                <a:noFill/>
                <a:ln w="28575">
                  <a:solidFill>
                    <a:schemeClr val="accent6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 dirty="0">
                    <a:latin typeface="Lucida Sans Unicode" pitchFamily="34" charset="0"/>
                  </a:endParaRPr>
                </a:p>
              </p:txBody>
            </p:sp>
            <p:sp>
              <p:nvSpPr>
                <p:cNvPr id="2071" name="Freeform 16"/>
                <p:cNvSpPr>
                  <a:spLocks/>
                </p:cNvSpPr>
                <p:nvPr/>
              </p:nvSpPr>
              <p:spPr bwMode="auto">
                <a:xfrm>
                  <a:off x="5346" y="341"/>
                  <a:ext cx="208" cy="297"/>
                </a:xfrm>
                <a:custGeom>
                  <a:avLst/>
                  <a:gdLst>
                    <a:gd name="T0" fmla="*/ 30 w 208"/>
                    <a:gd name="T1" fmla="*/ 297 h 297"/>
                    <a:gd name="T2" fmla="*/ 200 w 208"/>
                    <a:gd name="T3" fmla="*/ 260 h 297"/>
                    <a:gd name="T4" fmla="*/ 25 w 208"/>
                    <a:gd name="T5" fmla="*/ 235 h 297"/>
                    <a:gd name="T6" fmla="*/ 208 w 208"/>
                    <a:gd name="T7" fmla="*/ 194 h 297"/>
                    <a:gd name="T8" fmla="*/ 25 w 208"/>
                    <a:gd name="T9" fmla="*/ 180 h 297"/>
                    <a:gd name="T10" fmla="*/ 200 w 208"/>
                    <a:gd name="T11" fmla="*/ 146 h 297"/>
                    <a:gd name="T12" fmla="*/ 4 w 208"/>
                    <a:gd name="T13" fmla="*/ 146 h 297"/>
                    <a:gd name="T14" fmla="*/ 200 w 208"/>
                    <a:gd name="T15" fmla="*/ 118 h 297"/>
                    <a:gd name="T16" fmla="*/ 4 w 208"/>
                    <a:gd name="T17" fmla="*/ 118 h 297"/>
                    <a:gd name="T18" fmla="*/ 200 w 208"/>
                    <a:gd name="T19" fmla="*/ 90 h 297"/>
                    <a:gd name="T20" fmla="*/ 4 w 208"/>
                    <a:gd name="T21" fmla="*/ 90 h 297"/>
                    <a:gd name="T22" fmla="*/ 176 w 208"/>
                    <a:gd name="T23" fmla="*/ 61 h 297"/>
                    <a:gd name="T24" fmla="*/ 4 w 208"/>
                    <a:gd name="T25" fmla="*/ 61 h 297"/>
                    <a:gd name="T26" fmla="*/ 200 w 208"/>
                    <a:gd name="T27" fmla="*/ 61 h 297"/>
                    <a:gd name="T28" fmla="*/ 4 w 208"/>
                    <a:gd name="T29" fmla="*/ 61 h 297"/>
                    <a:gd name="T30" fmla="*/ 200 w 208"/>
                    <a:gd name="T31" fmla="*/ 33 h 297"/>
                    <a:gd name="T32" fmla="*/ 28 w 208"/>
                    <a:gd name="T33" fmla="*/ 33 h 297"/>
                    <a:gd name="T34" fmla="*/ 200 w 208"/>
                    <a:gd name="T35" fmla="*/ 5 h 297"/>
                    <a:gd name="T36" fmla="*/ 4 w 208"/>
                    <a:gd name="T37" fmla="*/ 5 h 29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208"/>
                    <a:gd name="T58" fmla="*/ 0 h 297"/>
                    <a:gd name="T59" fmla="*/ 208 w 208"/>
                    <a:gd name="T60" fmla="*/ 297 h 297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208" h="297">
                      <a:moveTo>
                        <a:pt x="30" y="297"/>
                      </a:moveTo>
                      <a:cubicBezTo>
                        <a:pt x="60" y="291"/>
                        <a:pt x="201" y="270"/>
                        <a:pt x="200" y="260"/>
                      </a:cubicBezTo>
                      <a:cubicBezTo>
                        <a:pt x="199" y="250"/>
                        <a:pt x="23" y="246"/>
                        <a:pt x="25" y="235"/>
                      </a:cubicBezTo>
                      <a:cubicBezTo>
                        <a:pt x="27" y="224"/>
                        <a:pt x="208" y="203"/>
                        <a:pt x="208" y="194"/>
                      </a:cubicBezTo>
                      <a:cubicBezTo>
                        <a:pt x="208" y="185"/>
                        <a:pt x="27" y="188"/>
                        <a:pt x="25" y="180"/>
                      </a:cubicBezTo>
                      <a:cubicBezTo>
                        <a:pt x="23" y="172"/>
                        <a:pt x="204" y="152"/>
                        <a:pt x="200" y="146"/>
                      </a:cubicBezTo>
                      <a:cubicBezTo>
                        <a:pt x="197" y="140"/>
                        <a:pt x="4" y="151"/>
                        <a:pt x="4" y="146"/>
                      </a:cubicBezTo>
                      <a:cubicBezTo>
                        <a:pt x="4" y="141"/>
                        <a:pt x="200" y="123"/>
                        <a:pt x="200" y="118"/>
                      </a:cubicBezTo>
                      <a:cubicBezTo>
                        <a:pt x="200" y="113"/>
                        <a:pt x="4" y="123"/>
                        <a:pt x="4" y="118"/>
                      </a:cubicBezTo>
                      <a:cubicBezTo>
                        <a:pt x="4" y="113"/>
                        <a:pt x="200" y="95"/>
                        <a:pt x="200" y="90"/>
                      </a:cubicBezTo>
                      <a:cubicBezTo>
                        <a:pt x="200" y="85"/>
                        <a:pt x="9" y="95"/>
                        <a:pt x="4" y="90"/>
                      </a:cubicBezTo>
                      <a:cubicBezTo>
                        <a:pt x="0" y="85"/>
                        <a:pt x="176" y="66"/>
                        <a:pt x="176" y="61"/>
                      </a:cubicBezTo>
                      <a:cubicBezTo>
                        <a:pt x="176" y="56"/>
                        <a:pt x="0" y="61"/>
                        <a:pt x="4" y="61"/>
                      </a:cubicBezTo>
                      <a:cubicBezTo>
                        <a:pt x="9" y="61"/>
                        <a:pt x="200" y="61"/>
                        <a:pt x="200" y="61"/>
                      </a:cubicBezTo>
                      <a:cubicBezTo>
                        <a:pt x="200" y="61"/>
                        <a:pt x="4" y="66"/>
                        <a:pt x="4" y="61"/>
                      </a:cubicBezTo>
                      <a:cubicBezTo>
                        <a:pt x="4" y="56"/>
                        <a:pt x="196" y="38"/>
                        <a:pt x="200" y="33"/>
                      </a:cubicBezTo>
                      <a:cubicBezTo>
                        <a:pt x="205" y="28"/>
                        <a:pt x="28" y="38"/>
                        <a:pt x="28" y="33"/>
                      </a:cubicBezTo>
                      <a:cubicBezTo>
                        <a:pt x="28" y="28"/>
                        <a:pt x="205" y="10"/>
                        <a:pt x="200" y="5"/>
                      </a:cubicBezTo>
                      <a:cubicBezTo>
                        <a:pt x="196" y="0"/>
                        <a:pt x="33" y="5"/>
                        <a:pt x="4" y="5"/>
                      </a:cubicBezTo>
                    </a:path>
                  </a:pathLst>
                </a:custGeom>
                <a:noFill/>
                <a:ln w="28575">
                  <a:solidFill>
                    <a:schemeClr val="accent6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 dirty="0">
                    <a:latin typeface="Lucida Sans Unicode" pitchFamily="34" charset="0"/>
                  </a:endParaRPr>
                </a:p>
              </p:txBody>
            </p:sp>
          </p:grpSp>
          <p:sp>
            <p:nvSpPr>
              <p:cNvPr id="2069" name="Rectangle 18"/>
              <p:cNvSpPr>
                <a:spLocks noChangeArrowheads="1"/>
              </p:cNvSpPr>
              <p:nvPr/>
            </p:nvSpPr>
            <p:spPr bwMode="auto">
              <a:xfrm>
                <a:off x="3696" y="1769"/>
                <a:ext cx="597" cy="96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latin typeface="Lucida Sans Unicode" pitchFamily="34" charset="0"/>
                </a:endParaRPr>
              </a:p>
            </p:txBody>
          </p:sp>
        </p:grpSp>
        <p:sp>
          <p:nvSpPr>
            <p:cNvPr id="2060" name="Line 24"/>
            <p:cNvSpPr>
              <a:spLocks noChangeShapeType="1"/>
            </p:cNvSpPr>
            <p:nvPr/>
          </p:nvSpPr>
          <p:spPr bwMode="auto">
            <a:xfrm flipH="1" flipV="1">
              <a:off x="4819650" y="522288"/>
              <a:ext cx="2767013" cy="16351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063" name="Line 32"/>
            <p:cNvSpPr>
              <a:spLocks noChangeShapeType="1"/>
            </p:cNvSpPr>
            <p:nvPr/>
          </p:nvSpPr>
          <p:spPr bwMode="auto">
            <a:xfrm flipH="1" flipV="1">
              <a:off x="4694238" y="3152775"/>
              <a:ext cx="2867025" cy="8651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065" name="Line 39"/>
            <p:cNvSpPr>
              <a:spLocks noChangeShapeType="1"/>
            </p:cNvSpPr>
            <p:nvPr/>
          </p:nvSpPr>
          <p:spPr bwMode="auto">
            <a:xfrm flipH="1">
              <a:off x="5129213" y="1552575"/>
              <a:ext cx="2422525" cy="10953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22" name="Freeform 21"/>
          <p:cNvSpPr/>
          <p:nvPr/>
        </p:nvSpPr>
        <p:spPr bwMode="auto">
          <a:xfrm>
            <a:off x="3338513" y="1041400"/>
            <a:ext cx="2530475" cy="4551363"/>
          </a:xfrm>
          <a:custGeom>
            <a:avLst/>
            <a:gdLst>
              <a:gd name="connsiteX0" fmla="*/ 3700130 w 3700130"/>
              <a:gd name="connsiteY0" fmla="*/ 1552353 h 3306725"/>
              <a:gd name="connsiteX1" fmla="*/ 0 w 3700130"/>
              <a:gd name="connsiteY1" fmla="*/ 0 h 3306725"/>
              <a:gd name="connsiteX2" fmla="*/ 287079 w 3700130"/>
              <a:gd name="connsiteY2" fmla="*/ 1690577 h 3306725"/>
              <a:gd name="connsiteX3" fmla="*/ 0 w 3700130"/>
              <a:gd name="connsiteY3" fmla="*/ 3306725 h 3306725"/>
              <a:gd name="connsiteX4" fmla="*/ 3700130 w 3700130"/>
              <a:gd name="connsiteY4" fmla="*/ 2477386 h 3306725"/>
              <a:gd name="connsiteX5" fmla="*/ 3700130 w 3700130"/>
              <a:gd name="connsiteY5" fmla="*/ 1552353 h 3306725"/>
              <a:gd name="connsiteX0" fmla="*/ 3700130 w 3700130"/>
              <a:gd name="connsiteY0" fmla="*/ 2566415 h 4320787"/>
              <a:gd name="connsiteX1" fmla="*/ 1594884 w 3700130"/>
              <a:gd name="connsiteY1" fmla="*/ 0 h 4320787"/>
              <a:gd name="connsiteX2" fmla="*/ 287079 w 3700130"/>
              <a:gd name="connsiteY2" fmla="*/ 2704639 h 4320787"/>
              <a:gd name="connsiteX3" fmla="*/ 0 w 3700130"/>
              <a:gd name="connsiteY3" fmla="*/ 4320787 h 4320787"/>
              <a:gd name="connsiteX4" fmla="*/ 3700130 w 3700130"/>
              <a:gd name="connsiteY4" fmla="*/ 3491448 h 4320787"/>
              <a:gd name="connsiteX5" fmla="*/ 3700130 w 3700130"/>
              <a:gd name="connsiteY5" fmla="*/ 2566415 h 4320787"/>
              <a:gd name="connsiteX0" fmla="*/ 3413051 w 3413051"/>
              <a:gd name="connsiteY0" fmla="*/ 2566415 h 4100339"/>
              <a:gd name="connsiteX1" fmla="*/ 1307805 w 3413051"/>
              <a:gd name="connsiteY1" fmla="*/ 0 h 4100339"/>
              <a:gd name="connsiteX2" fmla="*/ 0 w 3413051"/>
              <a:gd name="connsiteY2" fmla="*/ 2704639 h 4100339"/>
              <a:gd name="connsiteX3" fmla="*/ 1435396 w 3413051"/>
              <a:gd name="connsiteY3" fmla="*/ 4100339 h 4100339"/>
              <a:gd name="connsiteX4" fmla="*/ 3413051 w 3413051"/>
              <a:gd name="connsiteY4" fmla="*/ 3491448 h 4100339"/>
              <a:gd name="connsiteX5" fmla="*/ 3413051 w 3413051"/>
              <a:gd name="connsiteY5" fmla="*/ 2566415 h 4100339"/>
              <a:gd name="connsiteX0" fmla="*/ 2105246 w 2105246"/>
              <a:gd name="connsiteY0" fmla="*/ 2566415 h 4100339"/>
              <a:gd name="connsiteX1" fmla="*/ 0 w 2105246"/>
              <a:gd name="connsiteY1" fmla="*/ 0 h 4100339"/>
              <a:gd name="connsiteX2" fmla="*/ 467832 w 2105246"/>
              <a:gd name="connsiteY2" fmla="*/ 2208630 h 4100339"/>
              <a:gd name="connsiteX3" fmla="*/ 127591 w 2105246"/>
              <a:gd name="connsiteY3" fmla="*/ 4100339 h 4100339"/>
              <a:gd name="connsiteX4" fmla="*/ 2105246 w 2105246"/>
              <a:gd name="connsiteY4" fmla="*/ 3491448 h 4100339"/>
              <a:gd name="connsiteX5" fmla="*/ 2105246 w 2105246"/>
              <a:gd name="connsiteY5" fmla="*/ 2566415 h 4100339"/>
              <a:gd name="connsiteX0" fmla="*/ 2105246 w 2105246"/>
              <a:gd name="connsiteY0" fmla="*/ 2566415 h 4100339"/>
              <a:gd name="connsiteX1" fmla="*/ 0 w 2105246"/>
              <a:gd name="connsiteY1" fmla="*/ 0 h 4100339"/>
              <a:gd name="connsiteX2" fmla="*/ 372139 w 2105246"/>
              <a:gd name="connsiteY2" fmla="*/ 2230675 h 4100339"/>
              <a:gd name="connsiteX3" fmla="*/ 127591 w 2105246"/>
              <a:gd name="connsiteY3" fmla="*/ 4100339 h 4100339"/>
              <a:gd name="connsiteX4" fmla="*/ 2105246 w 2105246"/>
              <a:gd name="connsiteY4" fmla="*/ 3491448 h 4100339"/>
              <a:gd name="connsiteX5" fmla="*/ 2105246 w 2105246"/>
              <a:gd name="connsiteY5" fmla="*/ 2566415 h 4100339"/>
              <a:gd name="connsiteX0" fmla="*/ 2105246 w 2105246"/>
              <a:gd name="connsiteY0" fmla="*/ 2566415 h 4188518"/>
              <a:gd name="connsiteX1" fmla="*/ 0 w 2105246"/>
              <a:gd name="connsiteY1" fmla="*/ 0 h 4188518"/>
              <a:gd name="connsiteX2" fmla="*/ 372139 w 2105246"/>
              <a:gd name="connsiteY2" fmla="*/ 2230675 h 4188518"/>
              <a:gd name="connsiteX3" fmla="*/ 1 w 2105246"/>
              <a:gd name="connsiteY3" fmla="*/ 4188518 h 4188518"/>
              <a:gd name="connsiteX4" fmla="*/ 2105246 w 2105246"/>
              <a:gd name="connsiteY4" fmla="*/ 3491448 h 4188518"/>
              <a:gd name="connsiteX5" fmla="*/ 2105246 w 2105246"/>
              <a:gd name="connsiteY5" fmla="*/ 2566415 h 4188518"/>
              <a:gd name="connsiteX0" fmla="*/ 2456119 w 2456119"/>
              <a:gd name="connsiteY0" fmla="*/ 2566415 h 4089316"/>
              <a:gd name="connsiteX1" fmla="*/ 350873 w 2456119"/>
              <a:gd name="connsiteY1" fmla="*/ 0 h 4089316"/>
              <a:gd name="connsiteX2" fmla="*/ 723012 w 2456119"/>
              <a:gd name="connsiteY2" fmla="*/ 2230675 h 4089316"/>
              <a:gd name="connsiteX3" fmla="*/ 0 w 2456119"/>
              <a:gd name="connsiteY3" fmla="*/ 4089316 h 4089316"/>
              <a:gd name="connsiteX4" fmla="*/ 2456119 w 2456119"/>
              <a:gd name="connsiteY4" fmla="*/ 3491448 h 4089316"/>
              <a:gd name="connsiteX5" fmla="*/ 2456119 w 2456119"/>
              <a:gd name="connsiteY5" fmla="*/ 2566415 h 4089316"/>
              <a:gd name="connsiteX0" fmla="*/ 2456119 w 2456119"/>
              <a:gd name="connsiteY0" fmla="*/ 2775841 h 4089316"/>
              <a:gd name="connsiteX1" fmla="*/ 350873 w 2456119"/>
              <a:gd name="connsiteY1" fmla="*/ 0 h 4089316"/>
              <a:gd name="connsiteX2" fmla="*/ 723012 w 2456119"/>
              <a:gd name="connsiteY2" fmla="*/ 2230675 h 4089316"/>
              <a:gd name="connsiteX3" fmla="*/ 0 w 2456119"/>
              <a:gd name="connsiteY3" fmla="*/ 4089316 h 4089316"/>
              <a:gd name="connsiteX4" fmla="*/ 2456119 w 2456119"/>
              <a:gd name="connsiteY4" fmla="*/ 3491448 h 4089316"/>
              <a:gd name="connsiteX5" fmla="*/ 2456119 w 2456119"/>
              <a:gd name="connsiteY5" fmla="*/ 2775841 h 4089316"/>
              <a:gd name="connsiteX0" fmla="*/ 2530546 w 2530546"/>
              <a:gd name="connsiteY0" fmla="*/ 2775841 h 4717594"/>
              <a:gd name="connsiteX1" fmla="*/ 425300 w 2530546"/>
              <a:gd name="connsiteY1" fmla="*/ 0 h 4717594"/>
              <a:gd name="connsiteX2" fmla="*/ 797439 w 2530546"/>
              <a:gd name="connsiteY2" fmla="*/ 2230675 h 4717594"/>
              <a:gd name="connsiteX3" fmla="*/ 0 w 2530546"/>
              <a:gd name="connsiteY3" fmla="*/ 4717594 h 4717594"/>
              <a:gd name="connsiteX4" fmla="*/ 2530546 w 2530546"/>
              <a:gd name="connsiteY4" fmla="*/ 3491448 h 4717594"/>
              <a:gd name="connsiteX5" fmla="*/ 2530546 w 2530546"/>
              <a:gd name="connsiteY5" fmla="*/ 2775841 h 4717594"/>
              <a:gd name="connsiteX0" fmla="*/ 2530546 w 2530546"/>
              <a:gd name="connsiteY0" fmla="*/ 2775841 h 4717594"/>
              <a:gd name="connsiteX1" fmla="*/ 425300 w 2530546"/>
              <a:gd name="connsiteY1" fmla="*/ 0 h 4717594"/>
              <a:gd name="connsiteX2" fmla="*/ 776173 w 2530546"/>
              <a:gd name="connsiteY2" fmla="*/ 2440100 h 4717594"/>
              <a:gd name="connsiteX3" fmla="*/ 0 w 2530546"/>
              <a:gd name="connsiteY3" fmla="*/ 4717594 h 4717594"/>
              <a:gd name="connsiteX4" fmla="*/ 2530546 w 2530546"/>
              <a:gd name="connsiteY4" fmla="*/ 3491448 h 4717594"/>
              <a:gd name="connsiteX5" fmla="*/ 2530546 w 2530546"/>
              <a:gd name="connsiteY5" fmla="*/ 2775841 h 471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30546" h="4717594">
                <a:moveTo>
                  <a:pt x="2530546" y="2775841"/>
                </a:moveTo>
                <a:lnTo>
                  <a:pt x="425300" y="0"/>
                </a:lnTo>
                <a:lnTo>
                  <a:pt x="776173" y="2440100"/>
                </a:lnTo>
                <a:lnTo>
                  <a:pt x="0" y="4717594"/>
                </a:lnTo>
                <a:lnTo>
                  <a:pt x="2530546" y="3491448"/>
                </a:lnTo>
                <a:lnTo>
                  <a:pt x="2530546" y="2775841"/>
                </a:lnTo>
                <a:close/>
              </a:path>
            </a:pathLst>
          </a:custGeom>
          <a:gradFill>
            <a:gsLst>
              <a:gs pos="0">
                <a:schemeClr val="accent1">
                  <a:tint val="66000"/>
                  <a:satMod val="160000"/>
                  <a:alpha val="6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solidFill>
              <a:schemeClr val="accent5">
                <a:lumMod val="75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 dirty="0">
              <a:latin typeface="Lucida Sans Unicode" pitchFamily="34" charset="0"/>
            </a:endParaRP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7405989" y="5448450"/>
            <a:ext cx="1392956" cy="684932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000" i="1" dirty="0"/>
              <a:t>Audio wavelengths  (not EM) – shown for comparison</a:t>
            </a:r>
            <a:endParaRPr lang="en-GB" dirty="0">
              <a:latin typeface="Times New Roman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7315200" y="5443268"/>
            <a:ext cx="0" cy="672860"/>
          </a:xfrm>
          <a:prstGeom prst="straightConnector1">
            <a:avLst/>
          </a:prstGeom>
          <a:ln w="22225">
            <a:solidFill>
              <a:schemeClr val="tx2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30"/>
          <p:cNvSpPr txBox="1">
            <a:spLocks noChangeArrowheads="1"/>
          </p:cNvSpPr>
          <p:nvPr/>
        </p:nvSpPr>
        <p:spPr bwMode="auto">
          <a:xfrm>
            <a:off x="7561263" y="3856038"/>
            <a:ext cx="1582737" cy="1006475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l-GR" sz="1000" dirty="0">
                <a:cs typeface="Lucida Sans Unicode" pitchFamily="34" charset="0"/>
              </a:rPr>
              <a:t>μ</a:t>
            </a:r>
            <a:r>
              <a:rPr lang="en-GB" sz="1000" dirty="0"/>
              <a:t>m=micrometres</a:t>
            </a:r>
          </a:p>
          <a:p>
            <a:r>
              <a:rPr lang="en-GB" sz="1000" dirty="0"/>
              <a:t>= 10</a:t>
            </a:r>
            <a:r>
              <a:rPr lang="en-GB" sz="1000" baseline="30000" dirty="0"/>
              <a:t>-6</a:t>
            </a:r>
            <a:r>
              <a:rPr lang="en-GB" sz="1000" dirty="0"/>
              <a:t> meters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000" dirty="0"/>
              <a:t>(a millionth)</a:t>
            </a:r>
          </a:p>
        </p:txBody>
      </p:sp>
      <p:graphicFrame>
        <p:nvGraphicFramePr>
          <p:cNvPr id="28" name="Object 31"/>
          <p:cNvGraphicFramePr>
            <a:graphicFrameLocks noChangeAspect="1"/>
          </p:cNvGraphicFramePr>
          <p:nvPr/>
        </p:nvGraphicFramePr>
        <p:xfrm>
          <a:off x="7726363" y="4197350"/>
          <a:ext cx="126523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227" imgH="418918" progId="Equation.3">
                  <p:embed/>
                </p:oleObj>
              </mc:Choice>
              <mc:Fallback>
                <p:oleObj name="Equation" r:id="rId3" imgW="1320227" imgH="418918" progId="Equation.3">
                  <p:embed/>
                  <p:pic>
                    <p:nvPicPr>
                      <p:cNvPr id="28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6363" y="4197350"/>
                        <a:ext cx="1265237" cy="401638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37"/>
          <p:cNvSpPr txBox="1">
            <a:spLocks noChangeArrowheads="1"/>
          </p:cNvSpPr>
          <p:nvPr/>
        </p:nvSpPr>
        <p:spPr bwMode="auto">
          <a:xfrm>
            <a:off x="7561263" y="1392238"/>
            <a:ext cx="1582737" cy="396875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000"/>
              <a:t>Angstrom Unit = </a:t>
            </a:r>
          </a:p>
          <a:p>
            <a:r>
              <a:rPr lang="en-GB" sz="1000"/>
              <a:t>= 10</a:t>
            </a:r>
            <a:r>
              <a:rPr lang="en-GB" sz="1000" baseline="30000"/>
              <a:t>-8</a:t>
            </a:r>
            <a:r>
              <a:rPr lang="en-GB" sz="1000"/>
              <a:t> meters</a:t>
            </a:r>
            <a:endParaRPr lang="en-GB" dirty="0">
              <a:latin typeface="Times New Roman" pitchFamily="18" charset="0"/>
            </a:endParaRPr>
          </a:p>
        </p:txBody>
      </p:sp>
      <p:sp>
        <p:nvSpPr>
          <p:cNvPr id="30" name="Text Box 22"/>
          <p:cNvSpPr txBox="1">
            <a:spLocks noChangeArrowheads="1"/>
          </p:cNvSpPr>
          <p:nvPr/>
        </p:nvSpPr>
        <p:spPr bwMode="auto">
          <a:xfrm>
            <a:off x="7561264" y="371475"/>
            <a:ext cx="1582737" cy="641351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000" dirty="0"/>
              <a:t>nm=nanometres</a:t>
            </a:r>
          </a:p>
          <a:p>
            <a:r>
              <a:rPr lang="en-GB" sz="1000" dirty="0"/>
              <a:t>= 10</a:t>
            </a:r>
            <a:r>
              <a:rPr lang="en-GB" sz="1000" baseline="30000" dirty="0"/>
              <a:t>-9</a:t>
            </a:r>
            <a:r>
              <a:rPr lang="en-GB" sz="1000" dirty="0"/>
              <a:t> meters</a:t>
            </a:r>
          </a:p>
          <a:p>
            <a:endParaRPr lang="en-GB" dirty="0">
              <a:latin typeface="Times New Roman" pitchFamily="18" charset="0"/>
            </a:endParaRPr>
          </a:p>
        </p:txBody>
      </p:sp>
      <p:graphicFrame>
        <p:nvGraphicFramePr>
          <p:cNvPr id="31" name="Object 25"/>
          <p:cNvGraphicFramePr>
            <a:graphicFrameLocks noChangeAspect="1"/>
          </p:cNvGraphicFramePr>
          <p:nvPr/>
        </p:nvGraphicFramePr>
        <p:xfrm>
          <a:off x="7575551" y="712788"/>
          <a:ext cx="156845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8300" imgH="419100" progId="Equation.3">
                  <p:embed/>
                </p:oleObj>
              </mc:Choice>
              <mc:Fallback>
                <p:oleObj name="Equation" r:id="rId5" imgW="1638300" imgH="419100" progId="Equation.3">
                  <p:embed/>
                  <p:pic>
                    <p:nvPicPr>
                      <p:cNvPr id="3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5551" y="712788"/>
                        <a:ext cx="1568450" cy="401638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21199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4"/>
          <p:cNvSpPr>
            <a:spLocks/>
          </p:cNvSpPr>
          <p:nvPr/>
        </p:nvSpPr>
        <p:spPr bwMode="auto">
          <a:xfrm rot="10800000">
            <a:off x="3361626" y="1358768"/>
            <a:ext cx="347663" cy="4410491"/>
          </a:xfrm>
          <a:custGeom>
            <a:avLst/>
            <a:gdLst>
              <a:gd name="T0" fmla="*/ 0 w 219"/>
              <a:gd name="T1" fmla="*/ 0 h 3393"/>
              <a:gd name="T2" fmla="*/ 207 w 219"/>
              <a:gd name="T3" fmla="*/ 49 h 3393"/>
              <a:gd name="T4" fmla="*/ 9 w 219"/>
              <a:gd name="T5" fmla="*/ 100 h 3393"/>
              <a:gd name="T6" fmla="*/ 207 w 219"/>
              <a:gd name="T7" fmla="*/ 153 h 3393"/>
              <a:gd name="T8" fmla="*/ 9 w 219"/>
              <a:gd name="T9" fmla="*/ 205 h 3393"/>
              <a:gd name="T10" fmla="*/ 207 w 219"/>
              <a:gd name="T11" fmla="*/ 284 h 3393"/>
              <a:gd name="T12" fmla="*/ 9 w 219"/>
              <a:gd name="T13" fmla="*/ 362 h 3393"/>
              <a:gd name="T14" fmla="*/ 212 w 219"/>
              <a:gd name="T15" fmla="*/ 441 h 3393"/>
              <a:gd name="T16" fmla="*/ 9 w 219"/>
              <a:gd name="T17" fmla="*/ 544 h 3393"/>
              <a:gd name="T18" fmla="*/ 205 w 219"/>
              <a:gd name="T19" fmla="*/ 656 h 3393"/>
              <a:gd name="T20" fmla="*/ 37 w 219"/>
              <a:gd name="T21" fmla="*/ 806 h 3393"/>
              <a:gd name="T22" fmla="*/ 205 w 219"/>
              <a:gd name="T23" fmla="*/ 954 h 3393"/>
              <a:gd name="T24" fmla="*/ 37 w 219"/>
              <a:gd name="T25" fmla="*/ 1094 h 3393"/>
              <a:gd name="T26" fmla="*/ 219 w 219"/>
              <a:gd name="T27" fmla="*/ 1231 h 3393"/>
              <a:gd name="T28" fmla="*/ 37 w 219"/>
              <a:gd name="T29" fmla="*/ 1355 h 3393"/>
              <a:gd name="T30" fmla="*/ 207 w 219"/>
              <a:gd name="T31" fmla="*/ 1486 h 3393"/>
              <a:gd name="T32" fmla="*/ 37 w 219"/>
              <a:gd name="T33" fmla="*/ 1668 h 3393"/>
              <a:gd name="T34" fmla="*/ 179 w 219"/>
              <a:gd name="T35" fmla="*/ 1825 h 3393"/>
              <a:gd name="T36" fmla="*/ 9 w 219"/>
              <a:gd name="T37" fmla="*/ 2034 h 3393"/>
              <a:gd name="T38" fmla="*/ 207 w 219"/>
              <a:gd name="T39" fmla="*/ 2269 h 3393"/>
              <a:gd name="T40" fmla="*/ 9 w 219"/>
              <a:gd name="T41" fmla="*/ 2557 h 3393"/>
              <a:gd name="T42" fmla="*/ 179 w 219"/>
              <a:gd name="T43" fmla="*/ 2845 h 3393"/>
              <a:gd name="T44" fmla="*/ 37 w 219"/>
              <a:gd name="T45" fmla="*/ 3185 h 3393"/>
              <a:gd name="T46" fmla="*/ 207 w 219"/>
              <a:gd name="T47" fmla="*/ 3393 h 3393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219"/>
              <a:gd name="T73" fmla="*/ 0 h 3393"/>
              <a:gd name="T74" fmla="*/ 219 w 219"/>
              <a:gd name="T75" fmla="*/ 3393 h 3393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219" h="3393">
                <a:moveTo>
                  <a:pt x="0" y="0"/>
                </a:moveTo>
                <a:cubicBezTo>
                  <a:pt x="35" y="8"/>
                  <a:pt x="205" y="32"/>
                  <a:pt x="207" y="49"/>
                </a:cubicBezTo>
                <a:cubicBezTo>
                  <a:pt x="209" y="66"/>
                  <a:pt x="9" y="83"/>
                  <a:pt x="9" y="100"/>
                </a:cubicBezTo>
                <a:cubicBezTo>
                  <a:pt x="9" y="118"/>
                  <a:pt x="207" y="135"/>
                  <a:pt x="207" y="153"/>
                </a:cubicBezTo>
                <a:cubicBezTo>
                  <a:pt x="207" y="170"/>
                  <a:pt x="9" y="183"/>
                  <a:pt x="9" y="205"/>
                </a:cubicBezTo>
                <a:cubicBezTo>
                  <a:pt x="9" y="227"/>
                  <a:pt x="207" y="258"/>
                  <a:pt x="207" y="284"/>
                </a:cubicBezTo>
                <a:cubicBezTo>
                  <a:pt x="207" y="309"/>
                  <a:pt x="8" y="336"/>
                  <a:pt x="9" y="362"/>
                </a:cubicBezTo>
                <a:cubicBezTo>
                  <a:pt x="10" y="388"/>
                  <a:pt x="212" y="411"/>
                  <a:pt x="212" y="441"/>
                </a:cubicBezTo>
                <a:cubicBezTo>
                  <a:pt x="212" y="472"/>
                  <a:pt x="10" y="509"/>
                  <a:pt x="9" y="544"/>
                </a:cubicBezTo>
                <a:cubicBezTo>
                  <a:pt x="8" y="580"/>
                  <a:pt x="200" y="613"/>
                  <a:pt x="205" y="656"/>
                </a:cubicBezTo>
                <a:cubicBezTo>
                  <a:pt x="210" y="699"/>
                  <a:pt x="37" y="757"/>
                  <a:pt x="37" y="806"/>
                </a:cubicBezTo>
                <a:cubicBezTo>
                  <a:pt x="37" y="856"/>
                  <a:pt x="205" y="906"/>
                  <a:pt x="205" y="954"/>
                </a:cubicBezTo>
                <a:cubicBezTo>
                  <a:pt x="205" y="1002"/>
                  <a:pt x="35" y="1048"/>
                  <a:pt x="37" y="1094"/>
                </a:cubicBezTo>
                <a:cubicBezTo>
                  <a:pt x="39" y="1140"/>
                  <a:pt x="219" y="1188"/>
                  <a:pt x="219" y="1231"/>
                </a:cubicBezTo>
                <a:cubicBezTo>
                  <a:pt x="219" y="1275"/>
                  <a:pt x="39" y="1312"/>
                  <a:pt x="37" y="1355"/>
                </a:cubicBezTo>
                <a:cubicBezTo>
                  <a:pt x="35" y="1397"/>
                  <a:pt x="207" y="1433"/>
                  <a:pt x="207" y="1486"/>
                </a:cubicBezTo>
                <a:cubicBezTo>
                  <a:pt x="207" y="1538"/>
                  <a:pt x="42" y="1612"/>
                  <a:pt x="37" y="1668"/>
                </a:cubicBezTo>
                <a:cubicBezTo>
                  <a:pt x="32" y="1724"/>
                  <a:pt x="184" y="1764"/>
                  <a:pt x="179" y="1825"/>
                </a:cubicBezTo>
                <a:cubicBezTo>
                  <a:pt x="174" y="1886"/>
                  <a:pt x="4" y="1960"/>
                  <a:pt x="9" y="2034"/>
                </a:cubicBezTo>
                <a:cubicBezTo>
                  <a:pt x="14" y="2108"/>
                  <a:pt x="207" y="2183"/>
                  <a:pt x="207" y="2269"/>
                </a:cubicBezTo>
                <a:cubicBezTo>
                  <a:pt x="207" y="2356"/>
                  <a:pt x="14" y="2461"/>
                  <a:pt x="9" y="2557"/>
                </a:cubicBezTo>
                <a:cubicBezTo>
                  <a:pt x="4" y="2653"/>
                  <a:pt x="174" y="2740"/>
                  <a:pt x="179" y="2845"/>
                </a:cubicBezTo>
                <a:cubicBezTo>
                  <a:pt x="184" y="2949"/>
                  <a:pt x="32" y="3093"/>
                  <a:pt x="37" y="3185"/>
                </a:cubicBezTo>
                <a:cubicBezTo>
                  <a:pt x="42" y="3276"/>
                  <a:pt x="124" y="3334"/>
                  <a:pt x="207" y="3393"/>
                </a:cubicBezTo>
              </a:path>
            </a:pathLst>
          </a:custGeom>
          <a:noFill/>
          <a:ln w="28575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" name="Freeform 16"/>
          <p:cNvSpPr>
            <a:spLocks/>
          </p:cNvSpPr>
          <p:nvPr/>
        </p:nvSpPr>
        <p:spPr bwMode="auto">
          <a:xfrm rot="10800000">
            <a:off x="3401870" y="5792827"/>
            <a:ext cx="330200" cy="471488"/>
          </a:xfrm>
          <a:custGeom>
            <a:avLst/>
            <a:gdLst>
              <a:gd name="T0" fmla="*/ 30 w 208"/>
              <a:gd name="T1" fmla="*/ 297 h 297"/>
              <a:gd name="T2" fmla="*/ 200 w 208"/>
              <a:gd name="T3" fmla="*/ 260 h 297"/>
              <a:gd name="T4" fmla="*/ 25 w 208"/>
              <a:gd name="T5" fmla="*/ 235 h 297"/>
              <a:gd name="T6" fmla="*/ 208 w 208"/>
              <a:gd name="T7" fmla="*/ 194 h 297"/>
              <a:gd name="T8" fmla="*/ 25 w 208"/>
              <a:gd name="T9" fmla="*/ 180 h 297"/>
              <a:gd name="T10" fmla="*/ 200 w 208"/>
              <a:gd name="T11" fmla="*/ 146 h 297"/>
              <a:gd name="T12" fmla="*/ 4 w 208"/>
              <a:gd name="T13" fmla="*/ 146 h 297"/>
              <a:gd name="T14" fmla="*/ 200 w 208"/>
              <a:gd name="T15" fmla="*/ 118 h 297"/>
              <a:gd name="T16" fmla="*/ 4 w 208"/>
              <a:gd name="T17" fmla="*/ 118 h 297"/>
              <a:gd name="T18" fmla="*/ 200 w 208"/>
              <a:gd name="T19" fmla="*/ 90 h 297"/>
              <a:gd name="T20" fmla="*/ 4 w 208"/>
              <a:gd name="T21" fmla="*/ 90 h 297"/>
              <a:gd name="T22" fmla="*/ 176 w 208"/>
              <a:gd name="T23" fmla="*/ 61 h 297"/>
              <a:gd name="T24" fmla="*/ 4 w 208"/>
              <a:gd name="T25" fmla="*/ 61 h 297"/>
              <a:gd name="T26" fmla="*/ 200 w 208"/>
              <a:gd name="T27" fmla="*/ 61 h 297"/>
              <a:gd name="T28" fmla="*/ 4 w 208"/>
              <a:gd name="T29" fmla="*/ 61 h 297"/>
              <a:gd name="T30" fmla="*/ 200 w 208"/>
              <a:gd name="T31" fmla="*/ 33 h 297"/>
              <a:gd name="T32" fmla="*/ 28 w 208"/>
              <a:gd name="T33" fmla="*/ 33 h 297"/>
              <a:gd name="T34" fmla="*/ 200 w 208"/>
              <a:gd name="T35" fmla="*/ 5 h 297"/>
              <a:gd name="T36" fmla="*/ 4 w 208"/>
              <a:gd name="T37" fmla="*/ 5 h 29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08"/>
              <a:gd name="T58" fmla="*/ 0 h 297"/>
              <a:gd name="T59" fmla="*/ 208 w 208"/>
              <a:gd name="T60" fmla="*/ 297 h 297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08" h="297">
                <a:moveTo>
                  <a:pt x="30" y="297"/>
                </a:moveTo>
                <a:cubicBezTo>
                  <a:pt x="60" y="291"/>
                  <a:pt x="201" y="270"/>
                  <a:pt x="200" y="260"/>
                </a:cubicBezTo>
                <a:cubicBezTo>
                  <a:pt x="199" y="250"/>
                  <a:pt x="23" y="246"/>
                  <a:pt x="25" y="235"/>
                </a:cubicBezTo>
                <a:cubicBezTo>
                  <a:pt x="27" y="224"/>
                  <a:pt x="208" y="203"/>
                  <a:pt x="208" y="194"/>
                </a:cubicBezTo>
                <a:cubicBezTo>
                  <a:pt x="208" y="185"/>
                  <a:pt x="27" y="188"/>
                  <a:pt x="25" y="180"/>
                </a:cubicBezTo>
                <a:cubicBezTo>
                  <a:pt x="23" y="172"/>
                  <a:pt x="204" y="152"/>
                  <a:pt x="200" y="146"/>
                </a:cubicBezTo>
                <a:cubicBezTo>
                  <a:pt x="197" y="140"/>
                  <a:pt x="4" y="151"/>
                  <a:pt x="4" y="146"/>
                </a:cubicBezTo>
                <a:cubicBezTo>
                  <a:pt x="4" y="141"/>
                  <a:pt x="200" y="123"/>
                  <a:pt x="200" y="118"/>
                </a:cubicBezTo>
                <a:cubicBezTo>
                  <a:pt x="200" y="113"/>
                  <a:pt x="4" y="123"/>
                  <a:pt x="4" y="118"/>
                </a:cubicBezTo>
                <a:cubicBezTo>
                  <a:pt x="4" y="113"/>
                  <a:pt x="200" y="95"/>
                  <a:pt x="200" y="90"/>
                </a:cubicBezTo>
                <a:cubicBezTo>
                  <a:pt x="200" y="85"/>
                  <a:pt x="9" y="95"/>
                  <a:pt x="4" y="90"/>
                </a:cubicBezTo>
                <a:cubicBezTo>
                  <a:pt x="0" y="85"/>
                  <a:pt x="176" y="66"/>
                  <a:pt x="176" y="61"/>
                </a:cubicBezTo>
                <a:cubicBezTo>
                  <a:pt x="176" y="56"/>
                  <a:pt x="0" y="61"/>
                  <a:pt x="4" y="61"/>
                </a:cubicBezTo>
                <a:cubicBezTo>
                  <a:pt x="9" y="61"/>
                  <a:pt x="200" y="61"/>
                  <a:pt x="200" y="61"/>
                </a:cubicBezTo>
                <a:cubicBezTo>
                  <a:pt x="200" y="61"/>
                  <a:pt x="4" y="66"/>
                  <a:pt x="4" y="61"/>
                </a:cubicBezTo>
                <a:cubicBezTo>
                  <a:pt x="4" y="56"/>
                  <a:pt x="196" y="38"/>
                  <a:pt x="200" y="33"/>
                </a:cubicBezTo>
                <a:cubicBezTo>
                  <a:pt x="205" y="28"/>
                  <a:pt x="28" y="38"/>
                  <a:pt x="28" y="33"/>
                </a:cubicBezTo>
                <a:cubicBezTo>
                  <a:pt x="28" y="28"/>
                  <a:pt x="205" y="10"/>
                  <a:pt x="200" y="5"/>
                </a:cubicBezTo>
                <a:cubicBezTo>
                  <a:pt x="196" y="0"/>
                  <a:pt x="33" y="5"/>
                  <a:pt x="4" y="5"/>
                </a:cubicBezTo>
              </a:path>
            </a:pathLst>
          </a:custGeom>
          <a:noFill/>
          <a:ln w="28575">
            <a:solidFill>
              <a:schemeClr val="accent6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427038" y="1031473"/>
            <a:ext cx="8528617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b="1" u="sng" dirty="0">
                <a:latin typeface="Lucida Sans Unicode" pitchFamily="34" charset="0"/>
              </a:rPr>
              <a:t>BAND	</a:t>
            </a:r>
            <a:r>
              <a:rPr lang="en-GB" sz="1500" b="1" u="sng" dirty="0" err="1">
                <a:latin typeface="Lucida Sans Unicode" pitchFamily="34" charset="0"/>
              </a:rPr>
              <a:t>Freqs</a:t>
            </a:r>
            <a:r>
              <a:rPr lang="en-GB" sz="1500" b="1" u="sng" dirty="0">
                <a:latin typeface="Lucida Sans Unicode" pitchFamily="34" charset="0"/>
              </a:rPr>
              <a:t>, MHz	Typical usage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endParaRPr lang="en-GB" sz="1500" dirty="0">
              <a:latin typeface="Lucida Sans Unicode" pitchFamily="34" charset="0"/>
            </a:endParaRP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LW	0.14 - 0.28	BBC Radio 4 LW (0.198MHz)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MW	0.58 - 1.6	Medium Wave Radio Stations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HF 	     3 - 26	special broadcast services, popular for Pirate radio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CB 	   26 - 28	CB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Low VHF 	29.7 - 47	Military, Model aircraft, hospital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Band I 	   47 - 68	old TN band; now alarms, cordless phones, car alarms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Low Band 	   68 - 87.5	Military, emergency services, private business radio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FM, Band II 	87.5 - 108	FM radio broadcast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Air Band 	108 - 137	Aero </a:t>
            </a:r>
            <a:r>
              <a:rPr lang="en-GB" sz="1500" dirty="0" err="1">
                <a:latin typeface="Lucida Sans Unicode" pitchFamily="34" charset="0"/>
              </a:rPr>
              <a:t>comms</a:t>
            </a:r>
            <a:r>
              <a:rPr lang="en-GB" sz="1500" dirty="0">
                <a:latin typeface="Lucida Sans Unicode" pitchFamily="34" charset="0"/>
              </a:rPr>
              <a:t>, navigation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Mid Band 	137 - 165	Military, police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Marine Band 	156 - 163	Marine, ports, navigation, distress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High Band 	165 - 174	Medical, telemetry, theatres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Band III 	174 - 230	special applications, </a:t>
            </a:r>
            <a:r>
              <a:rPr lang="en-GB" sz="1500" dirty="0" err="1">
                <a:latin typeface="Lucida Sans Unicode" pitchFamily="34" charset="0"/>
              </a:rPr>
              <a:t>eg</a:t>
            </a:r>
            <a:r>
              <a:rPr lang="en-GB" sz="1500" dirty="0">
                <a:latin typeface="Lucida Sans Unicode" pitchFamily="34" charset="0"/>
              </a:rPr>
              <a:t> via JFMG </a:t>
            </a:r>
            <a:r>
              <a:rPr lang="en-GB" sz="1500" dirty="0" err="1">
                <a:latin typeface="Lucida Sans Unicode" pitchFamily="34" charset="0"/>
              </a:rPr>
              <a:t>freq</a:t>
            </a:r>
            <a:r>
              <a:rPr lang="en-GB" sz="1500" dirty="0">
                <a:latin typeface="Lucida Sans Unicode" pitchFamily="34" charset="0"/>
              </a:rPr>
              <a:t> allocation 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NATO Band 	230 - 400	NATO, space shuttle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UHF1 &amp; 2 	400 - 470	Navigation, repeaters, telemetry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TV, Bands IV &amp; V 	470 - 854	TV broadcasting, PAL, SECAM</a:t>
            </a:r>
            <a:endParaRPr lang="en-GB" sz="1500" b="1" dirty="0">
              <a:latin typeface="Lucida Sans Unicode" pitchFamily="34" charset="0"/>
            </a:endParaRP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GSM &amp; mobile 	854 - 960	GSM mobile, aero, navigation, astronomy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Amateur 23cm 	   1.2GHz	Amateur use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Microwaves 	    1 - 300GHz	Communications links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Ku TV Band 	10.7-12.75GHz 	</a:t>
            </a:r>
            <a:r>
              <a:rPr lang="en-GB" sz="1500" dirty="0" err="1">
                <a:latin typeface="Lucida Sans Unicode" pitchFamily="34" charset="0"/>
              </a:rPr>
              <a:t>Comms</a:t>
            </a:r>
            <a:r>
              <a:rPr lang="en-GB" sz="1500" dirty="0">
                <a:latin typeface="Lucida Sans Unicode" pitchFamily="34" charset="0"/>
              </a:rPr>
              <a:t>, satellite support</a:t>
            </a:r>
          </a:p>
          <a:p>
            <a:pPr defTabSz="1525588">
              <a:tabLst>
                <a:tab pos="1620838" algn="l"/>
                <a:tab pos="3240088" algn="l"/>
              </a:tabLst>
            </a:pPr>
            <a:r>
              <a:rPr lang="en-GB" sz="1500" dirty="0">
                <a:latin typeface="Lucida Sans Unicode" pitchFamily="34" charset="0"/>
              </a:rPr>
              <a:t>Visible Spectrum 	</a:t>
            </a:r>
            <a:endParaRPr lang="en-GB" sz="1400" dirty="0">
              <a:latin typeface="Lucida Sans Unicode" pitchFamily="34" charset="0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427038" y="381000"/>
            <a:ext cx="6315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>
                <a:latin typeface="Lucida Sans Unicode" pitchFamily="34" charset="0"/>
              </a:rPr>
              <a:t>Radio and TV Frequency Band Allocations</a:t>
            </a:r>
          </a:p>
        </p:txBody>
      </p:sp>
    </p:spTree>
    <p:extLst>
      <p:ext uri="{BB962C8B-B14F-4D97-AF65-F5344CB8AC3E}">
        <p14:creationId xmlns:p14="http://schemas.microsoft.com/office/powerpoint/2010/main" val="6824039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288" y="331788"/>
            <a:ext cx="4980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TV/Radio Broadcast Transmitter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395288" y="3142642"/>
            <a:ext cx="5129212" cy="2219325"/>
            <a:chOff x="395288" y="1485900"/>
            <a:chExt cx="5129212" cy="2219325"/>
          </a:xfrm>
        </p:grpSpPr>
        <p:sp>
          <p:nvSpPr>
            <p:cNvPr id="5" name="TextBox 4"/>
            <p:cNvSpPr txBox="1"/>
            <p:nvPr/>
          </p:nvSpPr>
          <p:spPr>
            <a:xfrm>
              <a:off x="395288" y="1485900"/>
              <a:ext cx="7986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sound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5288" y="2095500"/>
              <a:ext cx="7200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video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 bwMode="auto">
            <a:xfrm flipV="1">
              <a:off x="1193905" y="2238375"/>
              <a:ext cx="806345" cy="73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2" name="Straight Arrow Connector 11"/>
            <p:cNvCxnSpPr/>
            <p:nvPr/>
          </p:nvCxnSpPr>
          <p:spPr bwMode="auto">
            <a:xfrm flipV="1">
              <a:off x="1174855" y="1638300"/>
              <a:ext cx="806345" cy="73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3" name="Right Brace 12"/>
            <p:cNvSpPr/>
            <p:nvPr/>
          </p:nvSpPr>
          <p:spPr bwMode="auto">
            <a:xfrm>
              <a:off x="2066925" y="1600200"/>
              <a:ext cx="142874" cy="676275"/>
            </a:xfrm>
            <a:prstGeom prst="rightBrace">
              <a:avLst>
                <a:gd name="adj1" fmla="val 38063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 bwMode="auto">
            <a:xfrm>
              <a:off x="2305050" y="1933575"/>
              <a:ext cx="92392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6" name="TextBox 15"/>
            <p:cNvSpPr txBox="1"/>
            <p:nvPr/>
          </p:nvSpPr>
          <p:spPr>
            <a:xfrm>
              <a:off x="395288" y="2933700"/>
              <a:ext cx="10278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CARRIER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 bwMode="auto">
            <a:xfrm flipV="1">
              <a:off x="1495425" y="3067050"/>
              <a:ext cx="1733550" cy="952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1" name="TextBox 20"/>
            <p:cNvSpPr txBox="1"/>
            <p:nvPr/>
          </p:nvSpPr>
          <p:spPr>
            <a:xfrm>
              <a:off x="3290888" y="1647825"/>
              <a:ext cx="1342034" cy="205740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</a:endParaRPr>
            </a:p>
            <a:p>
              <a:pPr algn="ctr"/>
              <a:endParaRPr lang="en-GB" sz="1600" dirty="0">
                <a:latin typeface="Lucida Sans Unicode" pitchFamily="34" charset="0"/>
              </a:endParaRPr>
            </a:p>
            <a:p>
              <a:pPr algn="ctr"/>
              <a:endParaRPr lang="en-GB" sz="1600" dirty="0">
                <a:latin typeface="Lucida Sans Unicode" pitchFamily="34" charset="0"/>
              </a:endParaRPr>
            </a:p>
            <a:p>
              <a:pPr algn="ctr"/>
              <a:r>
                <a:rPr lang="en-GB" sz="1600" dirty="0">
                  <a:latin typeface="Lucida Sans Unicode" pitchFamily="34" charset="0"/>
                </a:rPr>
                <a:t>MODLATOR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 bwMode="auto">
            <a:xfrm>
              <a:off x="4676775" y="2533650"/>
              <a:ext cx="84772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9" name="Group 48"/>
          <p:cNvGrpSpPr/>
          <p:nvPr/>
        </p:nvGrpSpPr>
        <p:grpSpPr>
          <a:xfrm>
            <a:off x="5586413" y="1931380"/>
            <a:ext cx="2605087" cy="3430587"/>
            <a:chOff x="5586413" y="274638"/>
            <a:chExt cx="2605087" cy="3430587"/>
          </a:xfrm>
        </p:grpSpPr>
        <p:sp>
          <p:nvSpPr>
            <p:cNvPr id="25" name="TextBox 24"/>
            <p:cNvSpPr txBox="1"/>
            <p:nvPr/>
          </p:nvSpPr>
          <p:spPr>
            <a:xfrm>
              <a:off x="5586413" y="1647825"/>
              <a:ext cx="1342034" cy="205740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</a:endParaRPr>
            </a:p>
            <a:p>
              <a:pPr algn="ctr"/>
              <a:endParaRPr lang="en-GB" sz="1600" dirty="0">
                <a:latin typeface="Lucida Sans Unicode" pitchFamily="34" charset="0"/>
              </a:endParaRPr>
            </a:p>
            <a:p>
              <a:pPr algn="ctr"/>
              <a:r>
                <a:rPr lang="en-GB" sz="1600" dirty="0">
                  <a:latin typeface="Lucida Sans Unicode" pitchFamily="34" charset="0"/>
                </a:rPr>
                <a:t>OUTPUT POWER STAGE</a:t>
              </a:r>
            </a:p>
          </p:txBody>
        </p:sp>
        <p:cxnSp>
          <p:nvCxnSpPr>
            <p:cNvPr id="26" name="Straight Arrow Connector 25"/>
            <p:cNvCxnSpPr/>
            <p:nvPr/>
          </p:nvCxnSpPr>
          <p:spPr bwMode="auto">
            <a:xfrm>
              <a:off x="6943725" y="2495550"/>
              <a:ext cx="84772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7" name="Straight Arrow Connector 26"/>
            <p:cNvCxnSpPr/>
            <p:nvPr/>
          </p:nvCxnSpPr>
          <p:spPr bwMode="auto">
            <a:xfrm flipH="1" flipV="1">
              <a:off x="7753350" y="752475"/>
              <a:ext cx="9525" cy="17526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215063" y="1028700"/>
              <a:ext cx="11641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ANTENNA</a:t>
              </a: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7848602" y="504825"/>
              <a:ext cx="133351" cy="514349"/>
              <a:chOff x="5162548" y="4362449"/>
              <a:chExt cx="304802" cy="923925"/>
            </a:xfrm>
          </p:grpSpPr>
          <p:sp>
            <p:nvSpPr>
              <p:cNvPr id="34" name="Arc 33"/>
              <p:cNvSpPr/>
              <p:nvPr/>
            </p:nvSpPr>
            <p:spPr bwMode="auto">
              <a:xfrm>
                <a:off x="5210175" y="4457699"/>
                <a:ext cx="257175" cy="761999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Sans Unicode" pitchFamily="34" charset="0"/>
                </a:endParaRPr>
              </a:p>
            </p:txBody>
          </p:sp>
          <p:sp>
            <p:nvSpPr>
              <p:cNvPr id="35" name="Arc 34"/>
              <p:cNvSpPr/>
              <p:nvPr/>
            </p:nvSpPr>
            <p:spPr bwMode="auto">
              <a:xfrm flipV="1">
                <a:off x="5162548" y="4362449"/>
                <a:ext cx="304800" cy="923925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Sans Unicode" pitchFamily="34" charset="0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8001000" y="274638"/>
              <a:ext cx="190500" cy="914400"/>
              <a:chOff x="5162550" y="4362449"/>
              <a:chExt cx="304800" cy="923925"/>
            </a:xfrm>
          </p:grpSpPr>
          <p:sp>
            <p:nvSpPr>
              <p:cNvPr id="41" name="Arc 40"/>
              <p:cNvSpPr/>
              <p:nvPr/>
            </p:nvSpPr>
            <p:spPr bwMode="auto">
              <a:xfrm>
                <a:off x="5210174" y="4457700"/>
                <a:ext cx="257175" cy="762000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Sans Unicode" pitchFamily="34" charset="0"/>
                </a:endParaRPr>
              </a:p>
            </p:txBody>
          </p:sp>
          <p:sp>
            <p:nvSpPr>
              <p:cNvPr id="42" name="Arc 41"/>
              <p:cNvSpPr/>
              <p:nvPr/>
            </p:nvSpPr>
            <p:spPr bwMode="auto">
              <a:xfrm flipV="1">
                <a:off x="5162550" y="4362449"/>
                <a:ext cx="304800" cy="923925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Sans Unicode" pitchFamily="34" charset="0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 flipH="1">
              <a:off x="7524750" y="533400"/>
              <a:ext cx="133350" cy="514349"/>
              <a:chOff x="5162550" y="4362449"/>
              <a:chExt cx="304800" cy="923925"/>
            </a:xfrm>
          </p:grpSpPr>
          <p:sp>
            <p:nvSpPr>
              <p:cNvPr id="44" name="Arc 43"/>
              <p:cNvSpPr/>
              <p:nvPr/>
            </p:nvSpPr>
            <p:spPr bwMode="auto">
              <a:xfrm>
                <a:off x="5210174" y="4457700"/>
                <a:ext cx="257175" cy="762000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Sans Unicode" pitchFamily="34" charset="0"/>
                </a:endParaRPr>
              </a:p>
            </p:txBody>
          </p:sp>
          <p:sp>
            <p:nvSpPr>
              <p:cNvPr id="45" name="Arc 44"/>
              <p:cNvSpPr/>
              <p:nvPr/>
            </p:nvSpPr>
            <p:spPr bwMode="auto">
              <a:xfrm flipV="1">
                <a:off x="5162550" y="4362449"/>
                <a:ext cx="304800" cy="923925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Sans Unicode" pitchFamily="34" charset="0"/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 flipH="1">
              <a:off x="7324725" y="331788"/>
              <a:ext cx="190500" cy="914400"/>
              <a:chOff x="5162550" y="4362449"/>
              <a:chExt cx="304800" cy="923925"/>
            </a:xfrm>
          </p:grpSpPr>
          <p:sp>
            <p:nvSpPr>
              <p:cNvPr id="47" name="Arc 46"/>
              <p:cNvSpPr/>
              <p:nvPr/>
            </p:nvSpPr>
            <p:spPr bwMode="auto">
              <a:xfrm>
                <a:off x="5210174" y="4457700"/>
                <a:ext cx="257175" cy="762000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Sans Unicode" pitchFamily="34" charset="0"/>
                </a:endParaRPr>
              </a:p>
            </p:txBody>
          </p:sp>
          <p:sp>
            <p:nvSpPr>
              <p:cNvPr id="48" name="Arc 47"/>
              <p:cNvSpPr/>
              <p:nvPr/>
            </p:nvSpPr>
            <p:spPr bwMode="auto">
              <a:xfrm flipV="1">
                <a:off x="5162550" y="4362449"/>
                <a:ext cx="304800" cy="923925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Sans Unicode" pitchFamily="34" charset="0"/>
                </a:endParaRPr>
              </a:p>
            </p:txBody>
          </p:sp>
        </p:grpSp>
      </p:grpSp>
      <p:sp>
        <p:nvSpPr>
          <p:cNvPr id="51" name="TextBox 50"/>
          <p:cNvSpPr txBox="1"/>
          <p:nvPr/>
        </p:nvSpPr>
        <p:spPr>
          <a:xfrm>
            <a:off x="4622664" y="852185"/>
            <a:ext cx="4268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indent="-174625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electromagnetic energy from output signal is propagated from the antenna</a:t>
            </a:r>
          </a:p>
          <a:p>
            <a:pPr marL="174625" indent="-174625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may be unidirectional, or focussed in particular direction by antenna design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8389" y="5433710"/>
            <a:ext cx="4268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indent="-174625"/>
            <a:r>
              <a:rPr lang="en-GB" sz="1600" dirty="0">
                <a:latin typeface="Lucida Sans Unicode" pitchFamily="34" charset="0"/>
              </a:rPr>
              <a:t>Output stage </a:t>
            </a:r>
          </a:p>
          <a:p>
            <a:pPr marL="174625" indent="-174625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small transmitters – may be solid state</a:t>
            </a:r>
          </a:p>
          <a:p>
            <a:pPr marL="174625" indent="-174625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large transmitters – valves more efficient</a:t>
            </a:r>
          </a:p>
        </p:txBody>
      </p:sp>
    </p:spTree>
    <p:extLst>
      <p:ext uri="{BB962C8B-B14F-4D97-AF65-F5344CB8AC3E}">
        <p14:creationId xmlns:p14="http://schemas.microsoft.com/office/powerpoint/2010/main" val="29024799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0"/>
          <a:stretch/>
        </p:blipFill>
        <p:spPr bwMode="auto">
          <a:xfrm>
            <a:off x="-9656" y="0"/>
            <a:ext cx="915365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25448" y="5558319"/>
            <a:ext cx="3123342" cy="1077218"/>
          </a:xfrm>
          <a:prstGeom prst="rect">
            <a:avLst/>
          </a:prstGeom>
          <a:solidFill>
            <a:schemeClr val="tx1">
              <a:alpha val="29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FFFF00"/>
                </a:solidFill>
                <a:latin typeface="Lucida Sans Unicode" pitchFamily="34" charset="0"/>
              </a:rPr>
              <a:t>NEC DTU-52 Transmitter equipment, Winter Hill, UK, for </a:t>
            </a:r>
            <a:r>
              <a:rPr lang="en-GB" sz="1600" b="1" dirty="0" err="1">
                <a:solidFill>
                  <a:srgbClr val="FFFF00"/>
                </a:solidFill>
                <a:latin typeface="Lucida Sans Unicode" pitchFamily="34" charset="0"/>
              </a:rPr>
              <a:t>Arquiva</a:t>
            </a:r>
            <a:r>
              <a:rPr lang="en-GB" sz="1600" b="1" dirty="0">
                <a:solidFill>
                  <a:srgbClr val="FFFF00"/>
                </a:solidFill>
                <a:latin typeface="Lucida Sans Unicode" pitchFamily="34" charset="0"/>
              </a:rPr>
              <a:t>, transmission provider for UK terrestrial TV </a:t>
            </a:r>
          </a:p>
        </p:txBody>
      </p:sp>
    </p:spTree>
    <p:extLst>
      <p:ext uri="{BB962C8B-B14F-4D97-AF65-F5344CB8AC3E}">
        <p14:creationId xmlns:p14="http://schemas.microsoft.com/office/powerpoint/2010/main" val="5462096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2237" name="Rectangle 13"/>
          <p:cNvSpPr>
            <a:spLocks noChangeArrowheads="1"/>
          </p:cNvSpPr>
          <p:nvPr/>
        </p:nvSpPr>
        <p:spPr bwMode="auto">
          <a:xfrm>
            <a:off x="0" y="3244334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 dirty="0">
              <a:latin typeface="Lucida Sans Unicode" pitchFamily="34" charset="0"/>
            </a:endParaRPr>
          </a:p>
        </p:txBody>
      </p:sp>
      <p:pic>
        <p:nvPicPr>
          <p:cNvPr id="52232" name="Picture 8" descr="OC0811004_ElectroWaves"/>
          <p:cNvPicPr>
            <a:picLocks noChangeAspect="1" noChangeArrowheads="1"/>
          </p:cNvPicPr>
          <p:nvPr/>
        </p:nvPicPr>
        <p:blipFill>
          <a:blip r:embed="rId2" cstate="print"/>
          <a:srcRect b="15929"/>
          <a:stretch>
            <a:fillRect/>
          </a:stretch>
        </p:blipFill>
        <p:spPr bwMode="auto">
          <a:xfrm>
            <a:off x="395288" y="1503077"/>
            <a:ext cx="4762500" cy="4003871"/>
          </a:xfrm>
          <a:prstGeom prst="rect">
            <a:avLst/>
          </a:prstGeom>
          <a:noFill/>
        </p:spPr>
      </p:pic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6054725" y="5634245"/>
            <a:ext cx="3089275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200" dirty="0">
                <a:solidFill>
                  <a:srgbClr val="FFFF00"/>
                </a:solidFill>
                <a:latin typeface="Lucida Sans Unicode" pitchFamily="34" charset="0"/>
              </a:rPr>
              <a:t>(left) http://learn.uci.edu/oo/getOCWPage.php?course=OC0811004&amp;lesson=005&amp;topic=002&amp;page=21</a:t>
            </a:r>
          </a:p>
        </p:txBody>
      </p:sp>
      <p:sp>
        <p:nvSpPr>
          <p:cNvPr id="52235" name="Rectangle 9"/>
          <p:cNvSpPr>
            <a:spLocks noChangeArrowheads="1"/>
          </p:cNvSpPr>
          <p:nvPr/>
        </p:nvSpPr>
        <p:spPr bwMode="auto">
          <a:xfrm>
            <a:off x="395288" y="333623"/>
            <a:ext cx="3403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  <a:latin typeface="Lucida Sans Unicode" pitchFamily="34" charset="0"/>
              </a:rPr>
              <a:t>Electromagnetic Wave</a:t>
            </a:r>
          </a:p>
        </p:txBody>
      </p:sp>
      <p:sp>
        <p:nvSpPr>
          <p:cNvPr id="52236" name="Rectangle 8"/>
          <p:cNvSpPr>
            <a:spLocks noChangeArrowheads="1"/>
          </p:cNvSpPr>
          <p:nvPr/>
        </p:nvSpPr>
        <p:spPr bwMode="auto">
          <a:xfrm>
            <a:off x="5165725" y="1347502"/>
            <a:ext cx="3762375" cy="2238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>
              <a:lnSpc>
                <a:spcPct val="110000"/>
              </a:lnSpc>
              <a:buFontTx/>
              <a:buChar char="•"/>
            </a:pPr>
            <a:r>
              <a:rPr lang="en-GB" sz="1600" dirty="0">
                <a:solidFill>
                  <a:srgbClr val="FFFF00"/>
                </a:solidFill>
                <a:latin typeface="Lucida Sans Unicode" pitchFamily="34" charset="0"/>
              </a:rPr>
              <a:t>alternating electrical current produces an electric and magnetic field that are also alternating</a:t>
            </a:r>
          </a:p>
          <a:p>
            <a:pPr marL="174625" indent="-174625">
              <a:lnSpc>
                <a:spcPct val="110000"/>
              </a:lnSpc>
              <a:buFontTx/>
              <a:buChar char="•"/>
            </a:pPr>
            <a:r>
              <a:rPr lang="en-GB" sz="1600" dirty="0">
                <a:solidFill>
                  <a:srgbClr val="FFFF00"/>
                </a:solidFill>
                <a:latin typeface="Lucida Sans Unicode" pitchFamily="34" charset="0"/>
              </a:rPr>
              <a:t>the wave of the electric field and the wave of the magnetic field are propagated perpendicularly to the direction of propagation and to each other</a:t>
            </a:r>
          </a:p>
        </p:txBody>
      </p:sp>
    </p:spTree>
    <p:extLst>
      <p:ext uri="{BB962C8B-B14F-4D97-AF65-F5344CB8AC3E}">
        <p14:creationId xmlns:p14="http://schemas.microsoft.com/office/powerpoint/2010/main" val="30106818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395288" y="333623"/>
            <a:ext cx="3403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Electromagnetic Wave</a:t>
            </a: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790823"/>
            <a:ext cx="6867525" cy="497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2291137" y="1756881"/>
            <a:ext cx="4191856" cy="26507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045153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404938" y="615950"/>
            <a:ext cx="5803900" cy="5949950"/>
            <a:chOff x="239" y="396"/>
            <a:chExt cx="3656" cy="3748"/>
          </a:xfrm>
        </p:grpSpPr>
        <p:sp>
          <p:nvSpPr>
            <p:cNvPr id="29719" name="Oval 3"/>
            <p:cNvSpPr>
              <a:spLocks noChangeArrowheads="1"/>
            </p:cNvSpPr>
            <p:nvPr/>
          </p:nvSpPr>
          <p:spPr bwMode="auto">
            <a:xfrm>
              <a:off x="1727" y="2012"/>
              <a:ext cx="571" cy="56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20" name="Oval 4"/>
            <p:cNvSpPr>
              <a:spLocks noChangeArrowheads="1"/>
            </p:cNvSpPr>
            <p:nvPr/>
          </p:nvSpPr>
          <p:spPr bwMode="auto">
            <a:xfrm>
              <a:off x="1625" y="1888"/>
              <a:ext cx="768" cy="791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21" name="Oval 5"/>
            <p:cNvSpPr>
              <a:spLocks noChangeArrowheads="1"/>
            </p:cNvSpPr>
            <p:nvPr/>
          </p:nvSpPr>
          <p:spPr bwMode="auto">
            <a:xfrm>
              <a:off x="1530" y="1763"/>
              <a:ext cx="965" cy="104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22" name="Oval 6"/>
            <p:cNvSpPr>
              <a:spLocks noChangeArrowheads="1"/>
            </p:cNvSpPr>
            <p:nvPr/>
          </p:nvSpPr>
          <p:spPr bwMode="auto">
            <a:xfrm>
              <a:off x="1413" y="1602"/>
              <a:ext cx="1199" cy="1333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23" name="Oval 7"/>
            <p:cNvSpPr>
              <a:spLocks noChangeArrowheads="1"/>
            </p:cNvSpPr>
            <p:nvPr/>
          </p:nvSpPr>
          <p:spPr bwMode="auto">
            <a:xfrm>
              <a:off x="1252" y="1449"/>
              <a:ext cx="1513" cy="1626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24" name="Oval 8"/>
            <p:cNvSpPr>
              <a:spLocks noChangeArrowheads="1"/>
            </p:cNvSpPr>
            <p:nvPr/>
          </p:nvSpPr>
          <p:spPr bwMode="auto">
            <a:xfrm>
              <a:off x="1120" y="1295"/>
              <a:ext cx="1798" cy="1919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25" name="Oval 9"/>
            <p:cNvSpPr>
              <a:spLocks noChangeArrowheads="1"/>
            </p:cNvSpPr>
            <p:nvPr/>
          </p:nvSpPr>
          <p:spPr bwMode="auto">
            <a:xfrm>
              <a:off x="973" y="1141"/>
              <a:ext cx="2083" cy="2233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26" name="Oval 10"/>
            <p:cNvSpPr>
              <a:spLocks noChangeArrowheads="1"/>
            </p:cNvSpPr>
            <p:nvPr/>
          </p:nvSpPr>
          <p:spPr bwMode="auto">
            <a:xfrm>
              <a:off x="841" y="1002"/>
              <a:ext cx="2361" cy="2526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27" name="Oval 11"/>
            <p:cNvSpPr>
              <a:spLocks noChangeArrowheads="1"/>
            </p:cNvSpPr>
            <p:nvPr/>
          </p:nvSpPr>
          <p:spPr bwMode="auto">
            <a:xfrm>
              <a:off x="673" y="857"/>
              <a:ext cx="2653" cy="2847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28" name="Oval 12"/>
            <p:cNvSpPr>
              <a:spLocks noChangeArrowheads="1"/>
            </p:cNvSpPr>
            <p:nvPr/>
          </p:nvSpPr>
          <p:spPr bwMode="auto">
            <a:xfrm>
              <a:off x="512" y="703"/>
              <a:ext cx="3004" cy="3163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29" name="Oval 13"/>
            <p:cNvSpPr>
              <a:spLocks noChangeArrowheads="1"/>
            </p:cNvSpPr>
            <p:nvPr/>
          </p:nvSpPr>
          <p:spPr bwMode="auto">
            <a:xfrm>
              <a:off x="380" y="564"/>
              <a:ext cx="3312" cy="3448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30" name="Oval 14"/>
            <p:cNvSpPr>
              <a:spLocks noChangeArrowheads="1"/>
            </p:cNvSpPr>
            <p:nvPr/>
          </p:nvSpPr>
          <p:spPr bwMode="auto">
            <a:xfrm>
              <a:off x="239" y="396"/>
              <a:ext cx="3656" cy="3748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</p:grpSp>
      <p:sp>
        <p:nvSpPr>
          <p:cNvPr id="29699" name="Rectangle 15"/>
          <p:cNvSpPr>
            <a:spLocks noChangeArrowheads="1"/>
          </p:cNvSpPr>
          <p:nvPr/>
        </p:nvSpPr>
        <p:spPr bwMode="auto">
          <a:xfrm>
            <a:off x="557213" y="6099175"/>
            <a:ext cx="8391525" cy="5000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222224" name="Rectangle 16"/>
          <p:cNvSpPr>
            <a:spLocks noChangeArrowheads="1"/>
          </p:cNvSpPr>
          <p:nvPr/>
        </p:nvSpPr>
        <p:spPr bwMode="auto">
          <a:xfrm>
            <a:off x="379413" y="862013"/>
            <a:ext cx="7443787" cy="1803400"/>
          </a:xfrm>
          <a:prstGeom prst="rect">
            <a:avLst/>
          </a:prstGeom>
          <a:solidFill>
            <a:schemeClr val="bg1">
              <a:alpha val="79999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95263" indent="-195263"/>
            <a:r>
              <a:rPr lang="en-GB" sz="1600" b="1" dirty="0">
                <a:latin typeface="Lucida Sans Unicode" pitchFamily="34" charset="0"/>
              </a:rPr>
              <a:t>Transmitter - generates radio-frequency energy</a:t>
            </a:r>
            <a:endParaRPr lang="en-GB" sz="1600" dirty="0">
              <a:latin typeface="Lucida Sans Unicode" pitchFamily="34" charset="0"/>
            </a:endParaRPr>
          </a:p>
          <a:p>
            <a:pPr marL="195263" indent="-195263">
              <a:buFontTx/>
              <a:buChar char="•"/>
            </a:pPr>
            <a:r>
              <a:rPr lang="en-GB" sz="1600" dirty="0">
                <a:latin typeface="Lucida Sans Unicode" pitchFamily="34" charset="0"/>
              </a:rPr>
              <a:t>energy travels through a transmission line to an antenna</a:t>
            </a:r>
          </a:p>
          <a:p>
            <a:pPr marL="195263" indent="-195263">
              <a:buFontTx/>
              <a:buChar char="•"/>
            </a:pPr>
            <a:r>
              <a:rPr lang="en-GB" sz="1600" dirty="0">
                <a:latin typeface="Lucida Sans Unicode" pitchFamily="34" charset="0"/>
              </a:rPr>
              <a:t>antenna converts the energy into radio waves </a:t>
            </a:r>
          </a:p>
          <a:p>
            <a:pPr marL="195263" indent="-195263">
              <a:buFontTx/>
              <a:buChar char="•"/>
            </a:pPr>
            <a:r>
              <a:rPr lang="en-GB" sz="1600" dirty="0">
                <a:latin typeface="Lucida Sans Unicode" pitchFamily="34" charset="0"/>
              </a:rPr>
              <a:t>radio waves radiate into space from the antenna at the speed of light</a:t>
            </a:r>
          </a:p>
          <a:p>
            <a:pPr marL="195263" indent="-195263">
              <a:buFontTx/>
              <a:buChar char="•"/>
            </a:pPr>
            <a:r>
              <a:rPr lang="en-GB" sz="1600" dirty="0">
                <a:latin typeface="Lucida Sans Unicode" pitchFamily="34" charset="0"/>
              </a:rPr>
              <a:t>radio waves travel through the atmosphere or space until they are either reflected by an object or absorbed</a:t>
            </a:r>
          </a:p>
          <a:p>
            <a:pPr marL="195263" indent="-195263"/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29701" name="Rectangle 17"/>
          <p:cNvSpPr>
            <a:spLocks noChangeArrowheads="1"/>
          </p:cNvSpPr>
          <p:nvPr/>
        </p:nvSpPr>
        <p:spPr bwMode="auto">
          <a:xfrm>
            <a:off x="379413" y="381000"/>
            <a:ext cx="5603875" cy="457200"/>
          </a:xfrm>
          <a:prstGeom prst="rect">
            <a:avLst/>
          </a:prstGeom>
          <a:solidFill>
            <a:srgbClr val="FFFFFF">
              <a:alpha val="79999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Radio Waves - Basic Antenna</a:t>
            </a:r>
            <a:r>
              <a:rPr lang="en-GB" sz="1400" dirty="0">
                <a:latin typeface="Lucida Sans Unicode" pitchFamily="34" charset="0"/>
              </a:rPr>
              <a:t> </a:t>
            </a:r>
          </a:p>
        </p:txBody>
      </p:sp>
      <p:sp>
        <p:nvSpPr>
          <p:cNvPr id="222226" name="Rectangle 18"/>
          <p:cNvSpPr>
            <a:spLocks noChangeArrowheads="1"/>
          </p:cNvSpPr>
          <p:nvPr/>
        </p:nvSpPr>
        <p:spPr bwMode="auto">
          <a:xfrm>
            <a:off x="4662488" y="2484438"/>
            <a:ext cx="4481512" cy="1558925"/>
          </a:xfrm>
          <a:prstGeom prst="rect">
            <a:avLst/>
          </a:prstGeom>
          <a:solidFill>
            <a:srgbClr val="FFFFFF">
              <a:alpha val="79999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95263" indent="-195263"/>
            <a:r>
              <a:rPr lang="en-GB" sz="1600" b="1" dirty="0">
                <a:latin typeface="Lucida Sans Unicode" pitchFamily="34" charset="0"/>
              </a:rPr>
              <a:t>Receiving antenna</a:t>
            </a:r>
            <a:r>
              <a:rPr lang="en-GB" sz="1600" dirty="0">
                <a:latin typeface="Lucida Sans Unicode" pitchFamily="34" charset="0"/>
              </a:rPr>
              <a:t> </a:t>
            </a:r>
          </a:p>
          <a:p>
            <a:pPr marL="195263" indent="-195263">
              <a:buFontTx/>
              <a:buChar char="•"/>
            </a:pPr>
            <a:r>
              <a:rPr lang="en-GB" sz="1600" dirty="0">
                <a:latin typeface="Lucida Sans Unicode" pitchFamily="34" charset="0"/>
              </a:rPr>
              <a:t>in the path of the radio waves</a:t>
            </a:r>
          </a:p>
          <a:p>
            <a:pPr marL="195263" indent="-195263">
              <a:buFontTx/>
              <a:buChar char="•"/>
            </a:pPr>
            <a:r>
              <a:rPr lang="en-GB" sz="1600" dirty="0">
                <a:latin typeface="Lucida Sans Unicode" pitchFamily="34" charset="0"/>
              </a:rPr>
              <a:t>absorbs part of the waves and converts them to energy</a:t>
            </a:r>
          </a:p>
          <a:p>
            <a:pPr marL="195263" indent="-195263">
              <a:buFontTx/>
              <a:buChar char="•"/>
            </a:pPr>
            <a:r>
              <a:rPr lang="en-GB" sz="1600" dirty="0">
                <a:latin typeface="Lucida Sans Unicode" pitchFamily="34" charset="0"/>
              </a:rPr>
              <a:t>energy travels through transmission line </a:t>
            </a:r>
          </a:p>
          <a:p>
            <a:pPr marL="195263" indent="-195263">
              <a:buFontTx/>
              <a:buChar char="•"/>
            </a:pPr>
            <a:r>
              <a:rPr lang="en-GB" sz="1600" dirty="0">
                <a:latin typeface="Lucida Sans Unicode" pitchFamily="34" charset="0"/>
              </a:rPr>
              <a:t>fed to a receiver</a:t>
            </a:r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1608138" y="3306763"/>
            <a:ext cx="7340600" cy="2849562"/>
            <a:chOff x="1013" y="2083"/>
            <a:chExt cx="4624" cy="1795"/>
          </a:xfrm>
        </p:grpSpPr>
        <p:sp>
          <p:nvSpPr>
            <p:cNvPr id="29704" name="Freeform 20"/>
            <p:cNvSpPr>
              <a:spLocks/>
            </p:cNvSpPr>
            <p:nvPr/>
          </p:nvSpPr>
          <p:spPr bwMode="auto">
            <a:xfrm>
              <a:off x="1013" y="3189"/>
              <a:ext cx="4624" cy="689"/>
            </a:xfrm>
            <a:custGeom>
              <a:avLst/>
              <a:gdLst>
                <a:gd name="T0" fmla="*/ 7 w 4624"/>
                <a:gd name="T1" fmla="*/ 77 h 689"/>
                <a:gd name="T2" fmla="*/ 81 w 4624"/>
                <a:gd name="T3" fmla="*/ 54 h 689"/>
                <a:gd name="T4" fmla="*/ 250 w 4624"/>
                <a:gd name="T5" fmla="*/ 70 h 689"/>
                <a:gd name="T6" fmla="*/ 406 w 4624"/>
                <a:gd name="T7" fmla="*/ 77 h 689"/>
                <a:gd name="T8" fmla="*/ 457 w 4624"/>
                <a:gd name="T9" fmla="*/ 24 h 689"/>
                <a:gd name="T10" fmla="*/ 687 w 4624"/>
                <a:gd name="T11" fmla="*/ 100 h 689"/>
                <a:gd name="T12" fmla="*/ 1167 w 4624"/>
                <a:gd name="T13" fmla="*/ 93 h 689"/>
                <a:gd name="T14" fmla="*/ 1292 w 4624"/>
                <a:gd name="T15" fmla="*/ 40 h 689"/>
                <a:gd name="T16" fmla="*/ 1366 w 4624"/>
                <a:gd name="T17" fmla="*/ 63 h 689"/>
                <a:gd name="T18" fmla="*/ 1588 w 4624"/>
                <a:gd name="T19" fmla="*/ 85 h 689"/>
                <a:gd name="T20" fmla="*/ 1669 w 4624"/>
                <a:gd name="T21" fmla="*/ 77 h 689"/>
                <a:gd name="T22" fmla="*/ 2142 w 4624"/>
                <a:gd name="T23" fmla="*/ 85 h 689"/>
                <a:gd name="T24" fmla="*/ 2475 w 4624"/>
                <a:gd name="T25" fmla="*/ 93 h 689"/>
                <a:gd name="T26" fmla="*/ 2519 w 4624"/>
                <a:gd name="T27" fmla="*/ 85 h 689"/>
                <a:gd name="T28" fmla="*/ 2526 w 4624"/>
                <a:gd name="T29" fmla="*/ 63 h 689"/>
                <a:gd name="T30" fmla="*/ 2570 w 4624"/>
                <a:gd name="T31" fmla="*/ 31 h 689"/>
                <a:gd name="T32" fmla="*/ 2704 w 4624"/>
                <a:gd name="T33" fmla="*/ 54 h 689"/>
                <a:gd name="T34" fmla="*/ 2777 w 4624"/>
                <a:gd name="T35" fmla="*/ 47 h 689"/>
                <a:gd name="T36" fmla="*/ 2911 w 4624"/>
                <a:gd name="T37" fmla="*/ 54 h 689"/>
                <a:gd name="T38" fmla="*/ 2925 w 4624"/>
                <a:gd name="T39" fmla="*/ 77 h 689"/>
                <a:gd name="T40" fmla="*/ 2976 w 4624"/>
                <a:gd name="T41" fmla="*/ 85 h 689"/>
                <a:gd name="T42" fmla="*/ 3117 w 4624"/>
                <a:gd name="T43" fmla="*/ 54 h 689"/>
                <a:gd name="T44" fmla="*/ 3161 w 4624"/>
                <a:gd name="T45" fmla="*/ 63 h 689"/>
                <a:gd name="T46" fmla="*/ 3287 w 4624"/>
                <a:gd name="T47" fmla="*/ 70 h 689"/>
                <a:gd name="T48" fmla="*/ 3361 w 4624"/>
                <a:gd name="T49" fmla="*/ 93 h 689"/>
                <a:gd name="T50" fmla="*/ 3405 w 4624"/>
                <a:gd name="T51" fmla="*/ 108 h 689"/>
                <a:gd name="T52" fmla="*/ 3885 w 4624"/>
                <a:gd name="T53" fmla="*/ 123 h 689"/>
                <a:gd name="T54" fmla="*/ 4247 w 4624"/>
                <a:gd name="T55" fmla="*/ 100 h 689"/>
                <a:gd name="T56" fmla="*/ 4381 w 4624"/>
                <a:gd name="T57" fmla="*/ 93 h 689"/>
                <a:gd name="T58" fmla="*/ 4543 w 4624"/>
                <a:gd name="T59" fmla="*/ 70 h 689"/>
                <a:gd name="T60" fmla="*/ 4557 w 4624"/>
                <a:gd name="T61" fmla="*/ 47 h 689"/>
                <a:gd name="T62" fmla="*/ 4580 w 4624"/>
                <a:gd name="T63" fmla="*/ 40 h 689"/>
                <a:gd name="T64" fmla="*/ 4624 w 4624"/>
                <a:gd name="T65" fmla="*/ 24 h 689"/>
                <a:gd name="T66" fmla="*/ 4624 w 4624"/>
                <a:gd name="T67" fmla="*/ 689 h 689"/>
                <a:gd name="T68" fmla="*/ 0 w 4624"/>
                <a:gd name="T69" fmla="*/ 681 h 689"/>
                <a:gd name="T70" fmla="*/ 7 w 4624"/>
                <a:gd name="T71" fmla="*/ 77 h 6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24"/>
                <a:gd name="T109" fmla="*/ 0 h 689"/>
                <a:gd name="T110" fmla="*/ 4624 w 4624"/>
                <a:gd name="T111" fmla="*/ 689 h 68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24" h="689">
                  <a:moveTo>
                    <a:pt x="7" y="77"/>
                  </a:moveTo>
                  <a:cubicBezTo>
                    <a:pt x="62" y="60"/>
                    <a:pt x="36" y="67"/>
                    <a:pt x="81" y="54"/>
                  </a:cubicBezTo>
                  <a:cubicBezTo>
                    <a:pt x="178" y="81"/>
                    <a:pt x="82" y="80"/>
                    <a:pt x="250" y="70"/>
                  </a:cubicBezTo>
                  <a:cubicBezTo>
                    <a:pt x="303" y="33"/>
                    <a:pt x="348" y="58"/>
                    <a:pt x="406" y="77"/>
                  </a:cubicBezTo>
                  <a:cubicBezTo>
                    <a:pt x="450" y="66"/>
                    <a:pt x="434" y="62"/>
                    <a:pt x="457" y="24"/>
                  </a:cubicBezTo>
                  <a:cubicBezTo>
                    <a:pt x="534" y="50"/>
                    <a:pt x="608" y="80"/>
                    <a:pt x="687" y="100"/>
                  </a:cubicBezTo>
                  <a:cubicBezTo>
                    <a:pt x="902" y="94"/>
                    <a:pt x="964" y="85"/>
                    <a:pt x="1167" y="93"/>
                  </a:cubicBezTo>
                  <a:cubicBezTo>
                    <a:pt x="1251" y="85"/>
                    <a:pt x="1254" y="98"/>
                    <a:pt x="1292" y="40"/>
                  </a:cubicBezTo>
                  <a:cubicBezTo>
                    <a:pt x="1318" y="46"/>
                    <a:pt x="1342" y="53"/>
                    <a:pt x="1366" y="63"/>
                  </a:cubicBezTo>
                  <a:cubicBezTo>
                    <a:pt x="1440" y="51"/>
                    <a:pt x="1513" y="78"/>
                    <a:pt x="1588" y="85"/>
                  </a:cubicBezTo>
                  <a:cubicBezTo>
                    <a:pt x="1627" y="94"/>
                    <a:pt x="1634" y="89"/>
                    <a:pt x="1669" y="77"/>
                  </a:cubicBezTo>
                  <a:cubicBezTo>
                    <a:pt x="1827" y="92"/>
                    <a:pt x="1984" y="95"/>
                    <a:pt x="2142" y="85"/>
                  </a:cubicBezTo>
                  <a:cubicBezTo>
                    <a:pt x="2248" y="49"/>
                    <a:pt x="2370" y="53"/>
                    <a:pt x="2475" y="93"/>
                  </a:cubicBezTo>
                  <a:cubicBezTo>
                    <a:pt x="2490" y="90"/>
                    <a:pt x="2506" y="92"/>
                    <a:pt x="2519" y="85"/>
                  </a:cubicBezTo>
                  <a:cubicBezTo>
                    <a:pt x="2525" y="80"/>
                    <a:pt x="2522" y="69"/>
                    <a:pt x="2526" y="63"/>
                  </a:cubicBezTo>
                  <a:cubicBezTo>
                    <a:pt x="2542" y="39"/>
                    <a:pt x="2547" y="40"/>
                    <a:pt x="2570" y="31"/>
                  </a:cubicBezTo>
                  <a:cubicBezTo>
                    <a:pt x="2620" y="50"/>
                    <a:pt x="2642" y="49"/>
                    <a:pt x="2704" y="54"/>
                  </a:cubicBezTo>
                  <a:cubicBezTo>
                    <a:pt x="2733" y="65"/>
                    <a:pt x="2749" y="56"/>
                    <a:pt x="2777" y="47"/>
                  </a:cubicBezTo>
                  <a:cubicBezTo>
                    <a:pt x="2822" y="49"/>
                    <a:pt x="2867" y="45"/>
                    <a:pt x="2911" y="54"/>
                  </a:cubicBezTo>
                  <a:cubicBezTo>
                    <a:pt x="2920" y="56"/>
                    <a:pt x="2917" y="73"/>
                    <a:pt x="2925" y="77"/>
                  </a:cubicBezTo>
                  <a:cubicBezTo>
                    <a:pt x="2941" y="85"/>
                    <a:pt x="2959" y="82"/>
                    <a:pt x="2976" y="85"/>
                  </a:cubicBezTo>
                  <a:cubicBezTo>
                    <a:pt x="3049" y="78"/>
                    <a:pt x="3060" y="76"/>
                    <a:pt x="3117" y="54"/>
                  </a:cubicBezTo>
                  <a:cubicBezTo>
                    <a:pt x="3132" y="57"/>
                    <a:pt x="3146" y="62"/>
                    <a:pt x="3161" y="63"/>
                  </a:cubicBezTo>
                  <a:cubicBezTo>
                    <a:pt x="3203" y="67"/>
                    <a:pt x="3246" y="65"/>
                    <a:pt x="3287" y="70"/>
                  </a:cubicBezTo>
                  <a:cubicBezTo>
                    <a:pt x="3313" y="73"/>
                    <a:pt x="3337" y="86"/>
                    <a:pt x="3361" y="93"/>
                  </a:cubicBezTo>
                  <a:cubicBezTo>
                    <a:pt x="3376" y="97"/>
                    <a:pt x="3405" y="108"/>
                    <a:pt x="3405" y="108"/>
                  </a:cubicBezTo>
                  <a:cubicBezTo>
                    <a:pt x="3567" y="99"/>
                    <a:pt x="3722" y="118"/>
                    <a:pt x="3885" y="123"/>
                  </a:cubicBezTo>
                  <a:cubicBezTo>
                    <a:pt x="4062" y="118"/>
                    <a:pt x="4105" y="112"/>
                    <a:pt x="4247" y="100"/>
                  </a:cubicBezTo>
                  <a:cubicBezTo>
                    <a:pt x="4273" y="92"/>
                    <a:pt x="4363" y="95"/>
                    <a:pt x="4381" y="93"/>
                  </a:cubicBezTo>
                  <a:cubicBezTo>
                    <a:pt x="4465" y="47"/>
                    <a:pt x="4333" y="113"/>
                    <a:pt x="4543" y="70"/>
                  </a:cubicBezTo>
                  <a:cubicBezTo>
                    <a:pt x="4552" y="68"/>
                    <a:pt x="4550" y="52"/>
                    <a:pt x="4557" y="47"/>
                  </a:cubicBezTo>
                  <a:cubicBezTo>
                    <a:pt x="4563" y="42"/>
                    <a:pt x="4573" y="42"/>
                    <a:pt x="4580" y="40"/>
                  </a:cubicBezTo>
                  <a:cubicBezTo>
                    <a:pt x="4584" y="37"/>
                    <a:pt x="4624" y="0"/>
                    <a:pt x="4624" y="24"/>
                  </a:cubicBezTo>
                  <a:lnTo>
                    <a:pt x="4624" y="689"/>
                  </a:lnTo>
                  <a:lnTo>
                    <a:pt x="0" y="681"/>
                  </a:lnTo>
                  <a:lnTo>
                    <a:pt x="7" y="77"/>
                  </a:lnTo>
                  <a:close/>
                </a:path>
              </a:pathLst>
            </a:custGeom>
            <a:solidFill>
              <a:srgbClr val="663300"/>
            </a:solidFill>
            <a:ln w="9525">
              <a:solidFill>
                <a:srgbClr val="66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9705" name="Line 21"/>
            <p:cNvSpPr>
              <a:spLocks noChangeShapeType="1"/>
            </p:cNvSpPr>
            <p:nvPr/>
          </p:nvSpPr>
          <p:spPr bwMode="auto">
            <a:xfrm>
              <a:off x="2674" y="2386"/>
              <a:ext cx="0" cy="9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9706" name="Text Box 22"/>
            <p:cNvSpPr txBox="1">
              <a:spLocks noChangeArrowheads="1"/>
            </p:cNvSpPr>
            <p:nvPr/>
          </p:nvSpPr>
          <p:spPr bwMode="auto">
            <a:xfrm>
              <a:off x="1452" y="2999"/>
              <a:ext cx="804" cy="332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 dirty="0">
                  <a:latin typeface="Lucida Sans Unicode" pitchFamily="34" charset="0"/>
                </a:rPr>
                <a:t>Transmitter Station</a:t>
              </a:r>
            </a:p>
          </p:txBody>
        </p:sp>
        <p:sp>
          <p:nvSpPr>
            <p:cNvPr id="29707" name="Line 23"/>
            <p:cNvSpPr>
              <a:spLocks noChangeShapeType="1"/>
            </p:cNvSpPr>
            <p:nvPr/>
          </p:nvSpPr>
          <p:spPr bwMode="auto">
            <a:xfrm>
              <a:off x="2249" y="3161"/>
              <a:ext cx="41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9708" name="Text Box 24"/>
            <p:cNvSpPr txBox="1">
              <a:spLocks noChangeArrowheads="1"/>
            </p:cNvSpPr>
            <p:nvPr/>
          </p:nvSpPr>
          <p:spPr bwMode="auto">
            <a:xfrm>
              <a:off x="4628" y="3050"/>
              <a:ext cx="804" cy="332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 dirty="0">
                  <a:latin typeface="Lucida Sans Unicode" pitchFamily="34" charset="0"/>
                </a:rPr>
                <a:t>Receiver Station</a:t>
              </a:r>
            </a:p>
          </p:txBody>
        </p:sp>
        <p:sp>
          <p:nvSpPr>
            <p:cNvPr id="29709" name="Line 25"/>
            <p:cNvSpPr>
              <a:spLocks noChangeShapeType="1"/>
            </p:cNvSpPr>
            <p:nvPr/>
          </p:nvSpPr>
          <p:spPr bwMode="auto">
            <a:xfrm flipV="1">
              <a:off x="4312" y="3219"/>
              <a:ext cx="32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9710" name="Line 26"/>
            <p:cNvSpPr>
              <a:spLocks noChangeShapeType="1"/>
            </p:cNvSpPr>
            <p:nvPr/>
          </p:nvSpPr>
          <p:spPr bwMode="auto">
            <a:xfrm flipV="1">
              <a:off x="4305" y="2854"/>
              <a:ext cx="1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9711" name="AutoShape 27"/>
            <p:cNvSpPr>
              <a:spLocks noChangeArrowheads="1"/>
            </p:cNvSpPr>
            <p:nvPr/>
          </p:nvSpPr>
          <p:spPr bwMode="auto">
            <a:xfrm flipV="1">
              <a:off x="4232" y="2708"/>
              <a:ext cx="168" cy="16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9712" name="Text Box 28"/>
            <p:cNvSpPr txBox="1">
              <a:spLocks noChangeArrowheads="1"/>
            </p:cNvSpPr>
            <p:nvPr/>
          </p:nvSpPr>
          <p:spPr bwMode="auto">
            <a:xfrm>
              <a:off x="1979" y="3482"/>
              <a:ext cx="9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Lucida Sans Unicode" pitchFamily="34" charset="0"/>
                </a:rPr>
                <a:t>Transmission line</a:t>
              </a:r>
              <a:endParaRPr lang="en-GB" sz="1400" dirty="0">
                <a:latin typeface="Lucida Sans Unicode" pitchFamily="34" charset="0"/>
              </a:endParaRPr>
            </a:p>
          </p:txBody>
        </p:sp>
        <p:sp>
          <p:nvSpPr>
            <p:cNvPr id="29713" name="Line 29"/>
            <p:cNvSpPr>
              <a:spLocks noChangeShapeType="1"/>
            </p:cNvSpPr>
            <p:nvPr/>
          </p:nvSpPr>
          <p:spPr bwMode="auto">
            <a:xfrm flipH="1" flipV="1">
              <a:off x="2410" y="3175"/>
              <a:ext cx="22" cy="3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9714" name="Line 30"/>
            <p:cNvSpPr>
              <a:spLocks noChangeShapeType="1"/>
            </p:cNvSpPr>
            <p:nvPr/>
          </p:nvSpPr>
          <p:spPr bwMode="auto">
            <a:xfrm flipH="1" flipV="1">
              <a:off x="4444" y="3226"/>
              <a:ext cx="8" cy="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9715" name="Text Box 31"/>
            <p:cNvSpPr txBox="1">
              <a:spLocks noChangeArrowheads="1"/>
            </p:cNvSpPr>
            <p:nvPr/>
          </p:nvSpPr>
          <p:spPr bwMode="auto">
            <a:xfrm>
              <a:off x="1863" y="2083"/>
              <a:ext cx="794" cy="33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 dirty="0">
                  <a:latin typeface="Lucida Sans Unicode" pitchFamily="34" charset="0"/>
                </a:rPr>
                <a:t>Transmitter</a:t>
              </a:r>
            </a:p>
            <a:p>
              <a:pPr algn="ctr"/>
              <a:r>
                <a:rPr lang="en-GB" sz="1400" dirty="0">
                  <a:latin typeface="Lucida Sans Unicode" pitchFamily="34" charset="0"/>
                </a:rPr>
                <a:t>Antenna</a:t>
              </a:r>
            </a:p>
          </p:txBody>
        </p:sp>
        <p:sp>
          <p:nvSpPr>
            <p:cNvPr id="29716" name="Text Box 32"/>
            <p:cNvSpPr txBox="1">
              <a:spLocks noChangeArrowheads="1"/>
            </p:cNvSpPr>
            <p:nvPr/>
          </p:nvSpPr>
          <p:spPr bwMode="auto">
            <a:xfrm>
              <a:off x="4444" y="2536"/>
              <a:ext cx="906" cy="33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400" dirty="0">
                  <a:latin typeface="Lucida Sans Unicode" pitchFamily="34" charset="0"/>
                </a:rPr>
                <a:t>Receiver</a:t>
              </a:r>
            </a:p>
            <a:p>
              <a:r>
                <a:rPr lang="en-GB" sz="1400" dirty="0">
                  <a:latin typeface="Lucida Sans Unicode" pitchFamily="34" charset="0"/>
                </a:rPr>
                <a:t>Antenna</a:t>
              </a:r>
            </a:p>
          </p:txBody>
        </p:sp>
        <p:sp>
          <p:nvSpPr>
            <p:cNvPr id="29717" name="Text Box 33"/>
            <p:cNvSpPr txBox="1">
              <a:spLocks noChangeArrowheads="1"/>
            </p:cNvSpPr>
            <p:nvPr/>
          </p:nvSpPr>
          <p:spPr bwMode="auto">
            <a:xfrm>
              <a:off x="4064" y="3475"/>
              <a:ext cx="9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Lucida Sans Unicode" pitchFamily="34" charset="0"/>
                </a:rPr>
                <a:t>Transmission line</a:t>
              </a:r>
              <a:endParaRPr lang="en-GB" sz="1400" dirty="0">
                <a:latin typeface="Lucida Sans Unicode" pitchFamily="34" charset="0"/>
              </a:endParaRPr>
            </a:p>
          </p:txBody>
        </p:sp>
        <p:sp>
          <p:nvSpPr>
            <p:cNvPr id="29718" name="AutoShape 34"/>
            <p:cNvSpPr>
              <a:spLocks noChangeArrowheads="1"/>
            </p:cNvSpPr>
            <p:nvPr/>
          </p:nvSpPr>
          <p:spPr bwMode="auto">
            <a:xfrm flipV="1">
              <a:off x="2592" y="2231"/>
              <a:ext cx="168" cy="16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726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24" grpId="0" animBg="1" autoUpdateAnimBg="0"/>
      <p:bldP spid="222226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404938" y="615950"/>
            <a:ext cx="5803900" cy="5949950"/>
            <a:chOff x="239" y="396"/>
            <a:chExt cx="3656" cy="3748"/>
          </a:xfrm>
        </p:grpSpPr>
        <p:sp>
          <p:nvSpPr>
            <p:cNvPr id="30744" name="Oval 3"/>
            <p:cNvSpPr>
              <a:spLocks noChangeArrowheads="1"/>
            </p:cNvSpPr>
            <p:nvPr/>
          </p:nvSpPr>
          <p:spPr bwMode="auto">
            <a:xfrm>
              <a:off x="1727" y="2012"/>
              <a:ext cx="571" cy="56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45" name="Oval 4"/>
            <p:cNvSpPr>
              <a:spLocks noChangeArrowheads="1"/>
            </p:cNvSpPr>
            <p:nvPr/>
          </p:nvSpPr>
          <p:spPr bwMode="auto">
            <a:xfrm>
              <a:off x="1625" y="1888"/>
              <a:ext cx="768" cy="791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46" name="Oval 5"/>
            <p:cNvSpPr>
              <a:spLocks noChangeArrowheads="1"/>
            </p:cNvSpPr>
            <p:nvPr/>
          </p:nvSpPr>
          <p:spPr bwMode="auto">
            <a:xfrm>
              <a:off x="1530" y="1763"/>
              <a:ext cx="965" cy="104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47" name="Oval 6"/>
            <p:cNvSpPr>
              <a:spLocks noChangeArrowheads="1"/>
            </p:cNvSpPr>
            <p:nvPr/>
          </p:nvSpPr>
          <p:spPr bwMode="auto">
            <a:xfrm>
              <a:off x="1413" y="1602"/>
              <a:ext cx="1199" cy="1333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48" name="Oval 7"/>
            <p:cNvSpPr>
              <a:spLocks noChangeArrowheads="1"/>
            </p:cNvSpPr>
            <p:nvPr/>
          </p:nvSpPr>
          <p:spPr bwMode="auto">
            <a:xfrm>
              <a:off x="1252" y="1449"/>
              <a:ext cx="1513" cy="1626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49" name="Oval 8"/>
            <p:cNvSpPr>
              <a:spLocks noChangeArrowheads="1"/>
            </p:cNvSpPr>
            <p:nvPr/>
          </p:nvSpPr>
          <p:spPr bwMode="auto">
            <a:xfrm>
              <a:off x="1120" y="1295"/>
              <a:ext cx="1798" cy="1919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50" name="Oval 9"/>
            <p:cNvSpPr>
              <a:spLocks noChangeArrowheads="1"/>
            </p:cNvSpPr>
            <p:nvPr/>
          </p:nvSpPr>
          <p:spPr bwMode="auto">
            <a:xfrm>
              <a:off x="973" y="1141"/>
              <a:ext cx="2083" cy="2233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51" name="Oval 10"/>
            <p:cNvSpPr>
              <a:spLocks noChangeArrowheads="1"/>
            </p:cNvSpPr>
            <p:nvPr/>
          </p:nvSpPr>
          <p:spPr bwMode="auto">
            <a:xfrm>
              <a:off x="841" y="1002"/>
              <a:ext cx="2361" cy="2526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52" name="Oval 11"/>
            <p:cNvSpPr>
              <a:spLocks noChangeArrowheads="1"/>
            </p:cNvSpPr>
            <p:nvPr/>
          </p:nvSpPr>
          <p:spPr bwMode="auto">
            <a:xfrm>
              <a:off x="673" y="857"/>
              <a:ext cx="2653" cy="2847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53" name="Oval 12"/>
            <p:cNvSpPr>
              <a:spLocks noChangeArrowheads="1"/>
            </p:cNvSpPr>
            <p:nvPr/>
          </p:nvSpPr>
          <p:spPr bwMode="auto">
            <a:xfrm>
              <a:off x="512" y="703"/>
              <a:ext cx="3004" cy="3163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54" name="Oval 13"/>
            <p:cNvSpPr>
              <a:spLocks noChangeArrowheads="1"/>
            </p:cNvSpPr>
            <p:nvPr/>
          </p:nvSpPr>
          <p:spPr bwMode="auto">
            <a:xfrm>
              <a:off x="380" y="564"/>
              <a:ext cx="3312" cy="3448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55" name="Oval 14"/>
            <p:cNvSpPr>
              <a:spLocks noChangeArrowheads="1"/>
            </p:cNvSpPr>
            <p:nvPr/>
          </p:nvSpPr>
          <p:spPr bwMode="auto">
            <a:xfrm>
              <a:off x="239" y="396"/>
              <a:ext cx="3656" cy="3748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</p:grpSp>
      <p:sp>
        <p:nvSpPr>
          <p:cNvPr id="30723" name="Rectangle 15"/>
          <p:cNvSpPr>
            <a:spLocks noChangeArrowheads="1"/>
          </p:cNvSpPr>
          <p:nvPr/>
        </p:nvSpPr>
        <p:spPr bwMode="auto">
          <a:xfrm>
            <a:off x="379413" y="381000"/>
            <a:ext cx="2540000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Basic Antenna</a:t>
            </a:r>
            <a:r>
              <a:rPr lang="en-GB" sz="1400" dirty="0">
                <a:latin typeface="Lucida Sans Unicode" pitchFamily="34" charset="0"/>
              </a:rPr>
              <a:t> </a:t>
            </a:r>
          </a:p>
          <a:p>
            <a:endParaRPr lang="en-GB" sz="1400" dirty="0">
              <a:latin typeface="Lucida Sans Unicode" pitchFamily="34" charset="0"/>
            </a:endParaRPr>
          </a:p>
        </p:txBody>
      </p:sp>
      <p:sp>
        <p:nvSpPr>
          <p:cNvPr id="30724" name="Rectangle 16"/>
          <p:cNvSpPr>
            <a:spLocks noChangeArrowheads="1"/>
          </p:cNvSpPr>
          <p:nvPr/>
        </p:nvSpPr>
        <p:spPr bwMode="auto">
          <a:xfrm>
            <a:off x="557213" y="6099175"/>
            <a:ext cx="8391525" cy="5000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30725" name="Freeform 17"/>
          <p:cNvSpPr>
            <a:spLocks/>
          </p:cNvSpPr>
          <p:nvPr/>
        </p:nvSpPr>
        <p:spPr bwMode="auto">
          <a:xfrm>
            <a:off x="6007100" y="3956050"/>
            <a:ext cx="1222375" cy="1160463"/>
          </a:xfrm>
          <a:custGeom>
            <a:avLst/>
            <a:gdLst>
              <a:gd name="T0" fmla="*/ 2147483647 w 770"/>
              <a:gd name="T1" fmla="*/ 0 h 731"/>
              <a:gd name="T2" fmla="*/ 2147483647 w 770"/>
              <a:gd name="T3" fmla="*/ 2147483647 h 731"/>
              <a:gd name="T4" fmla="*/ 2147483647 w 770"/>
              <a:gd name="T5" fmla="*/ 2147483647 h 731"/>
              <a:gd name="T6" fmla="*/ 2147483647 w 770"/>
              <a:gd name="T7" fmla="*/ 2147483647 h 731"/>
              <a:gd name="T8" fmla="*/ 0 w 770"/>
              <a:gd name="T9" fmla="*/ 2147483647 h 7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0"/>
              <a:gd name="T16" fmla="*/ 0 h 731"/>
              <a:gd name="T17" fmla="*/ 770 w 770"/>
              <a:gd name="T18" fmla="*/ 731 h 7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0" h="731">
                <a:moveTo>
                  <a:pt x="54" y="0"/>
                </a:moveTo>
                <a:lnTo>
                  <a:pt x="770" y="92"/>
                </a:lnTo>
                <a:lnTo>
                  <a:pt x="570" y="731"/>
                </a:lnTo>
                <a:lnTo>
                  <a:pt x="131" y="685"/>
                </a:lnTo>
                <a:lnTo>
                  <a:pt x="0" y="15"/>
                </a:ln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 dirty="0">
              <a:latin typeface="Lucida Sans Unicode" pitchFamily="34" charset="0"/>
            </a:endParaRPr>
          </a:p>
        </p:txBody>
      </p:sp>
      <p:pic>
        <p:nvPicPr>
          <p:cNvPr id="30726" name="Picture 1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5113" y="3911600"/>
            <a:ext cx="1295400" cy="135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 Box 19"/>
          <p:cNvSpPr txBox="1">
            <a:spLocks noChangeArrowheads="1"/>
          </p:cNvSpPr>
          <p:nvPr/>
        </p:nvSpPr>
        <p:spPr bwMode="auto">
          <a:xfrm>
            <a:off x="420688" y="952500"/>
            <a:ext cx="4710112" cy="581025"/>
          </a:xfrm>
          <a:prstGeom prst="rect">
            <a:avLst/>
          </a:prstGeom>
          <a:solidFill>
            <a:srgbClr val="FFFFFF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Wet foliage can cause problems in reception</a:t>
            </a:r>
          </a:p>
          <a:p>
            <a:r>
              <a:rPr lang="en-GB" sz="1600" dirty="0">
                <a:latin typeface="Lucida Sans Unicode" pitchFamily="34" charset="0"/>
              </a:rPr>
              <a:t>… especially for higher frequencies</a:t>
            </a:r>
            <a:endParaRPr lang="en-GB" sz="1600" dirty="0">
              <a:latin typeface="Times New Roman" pitchFamily="18" charset="0"/>
            </a:endParaRP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1608138" y="3306763"/>
            <a:ext cx="7346950" cy="2849562"/>
            <a:chOff x="1013" y="2083"/>
            <a:chExt cx="4628" cy="1795"/>
          </a:xfrm>
        </p:grpSpPr>
        <p:sp>
          <p:nvSpPr>
            <p:cNvPr id="30729" name="Freeform 21"/>
            <p:cNvSpPr>
              <a:spLocks/>
            </p:cNvSpPr>
            <p:nvPr/>
          </p:nvSpPr>
          <p:spPr bwMode="auto">
            <a:xfrm>
              <a:off x="1013" y="3189"/>
              <a:ext cx="4624" cy="689"/>
            </a:xfrm>
            <a:custGeom>
              <a:avLst/>
              <a:gdLst>
                <a:gd name="T0" fmla="*/ 7 w 4624"/>
                <a:gd name="T1" fmla="*/ 77 h 689"/>
                <a:gd name="T2" fmla="*/ 81 w 4624"/>
                <a:gd name="T3" fmla="*/ 54 h 689"/>
                <a:gd name="T4" fmla="*/ 250 w 4624"/>
                <a:gd name="T5" fmla="*/ 70 h 689"/>
                <a:gd name="T6" fmla="*/ 406 w 4624"/>
                <a:gd name="T7" fmla="*/ 77 h 689"/>
                <a:gd name="T8" fmla="*/ 457 w 4624"/>
                <a:gd name="T9" fmla="*/ 24 h 689"/>
                <a:gd name="T10" fmla="*/ 687 w 4624"/>
                <a:gd name="T11" fmla="*/ 100 h 689"/>
                <a:gd name="T12" fmla="*/ 1167 w 4624"/>
                <a:gd name="T13" fmla="*/ 93 h 689"/>
                <a:gd name="T14" fmla="*/ 1292 w 4624"/>
                <a:gd name="T15" fmla="*/ 40 h 689"/>
                <a:gd name="T16" fmla="*/ 1366 w 4624"/>
                <a:gd name="T17" fmla="*/ 63 h 689"/>
                <a:gd name="T18" fmla="*/ 1588 w 4624"/>
                <a:gd name="T19" fmla="*/ 85 h 689"/>
                <a:gd name="T20" fmla="*/ 1669 w 4624"/>
                <a:gd name="T21" fmla="*/ 77 h 689"/>
                <a:gd name="T22" fmla="*/ 2142 w 4624"/>
                <a:gd name="T23" fmla="*/ 85 h 689"/>
                <a:gd name="T24" fmla="*/ 2475 w 4624"/>
                <a:gd name="T25" fmla="*/ 93 h 689"/>
                <a:gd name="T26" fmla="*/ 2519 w 4624"/>
                <a:gd name="T27" fmla="*/ 85 h 689"/>
                <a:gd name="T28" fmla="*/ 2526 w 4624"/>
                <a:gd name="T29" fmla="*/ 63 h 689"/>
                <a:gd name="T30" fmla="*/ 2570 w 4624"/>
                <a:gd name="T31" fmla="*/ 31 h 689"/>
                <a:gd name="T32" fmla="*/ 2704 w 4624"/>
                <a:gd name="T33" fmla="*/ 54 h 689"/>
                <a:gd name="T34" fmla="*/ 2777 w 4624"/>
                <a:gd name="T35" fmla="*/ 47 h 689"/>
                <a:gd name="T36" fmla="*/ 2911 w 4624"/>
                <a:gd name="T37" fmla="*/ 54 h 689"/>
                <a:gd name="T38" fmla="*/ 2925 w 4624"/>
                <a:gd name="T39" fmla="*/ 77 h 689"/>
                <a:gd name="T40" fmla="*/ 2976 w 4624"/>
                <a:gd name="T41" fmla="*/ 85 h 689"/>
                <a:gd name="T42" fmla="*/ 3117 w 4624"/>
                <a:gd name="T43" fmla="*/ 54 h 689"/>
                <a:gd name="T44" fmla="*/ 3161 w 4624"/>
                <a:gd name="T45" fmla="*/ 63 h 689"/>
                <a:gd name="T46" fmla="*/ 3287 w 4624"/>
                <a:gd name="T47" fmla="*/ 70 h 689"/>
                <a:gd name="T48" fmla="*/ 3361 w 4624"/>
                <a:gd name="T49" fmla="*/ 93 h 689"/>
                <a:gd name="T50" fmla="*/ 3405 w 4624"/>
                <a:gd name="T51" fmla="*/ 108 h 689"/>
                <a:gd name="T52" fmla="*/ 3885 w 4624"/>
                <a:gd name="T53" fmla="*/ 123 h 689"/>
                <a:gd name="T54" fmla="*/ 4247 w 4624"/>
                <a:gd name="T55" fmla="*/ 100 h 689"/>
                <a:gd name="T56" fmla="*/ 4381 w 4624"/>
                <a:gd name="T57" fmla="*/ 93 h 689"/>
                <a:gd name="T58" fmla="*/ 4543 w 4624"/>
                <a:gd name="T59" fmla="*/ 70 h 689"/>
                <a:gd name="T60" fmla="*/ 4557 w 4624"/>
                <a:gd name="T61" fmla="*/ 47 h 689"/>
                <a:gd name="T62" fmla="*/ 4580 w 4624"/>
                <a:gd name="T63" fmla="*/ 40 h 689"/>
                <a:gd name="T64" fmla="*/ 4624 w 4624"/>
                <a:gd name="T65" fmla="*/ 24 h 689"/>
                <a:gd name="T66" fmla="*/ 4624 w 4624"/>
                <a:gd name="T67" fmla="*/ 689 h 689"/>
                <a:gd name="T68" fmla="*/ 0 w 4624"/>
                <a:gd name="T69" fmla="*/ 681 h 689"/>
                <a:gd name="T70" fmla="*/ 7 w 4624"/>
                <a:gd name="T71" fmla="*/ 77 h 6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24"/>
                <a:gd name="T109" fmla="*/ 0 h 689"/>
                <a:gd name="T110" fmla="*/ 4624 w 4624"/>
                <a:gd name="T111" fmla="*/ 689 h 68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24" h="689">
                  <a:moveTo>
                    <a:pt x="7" y="77"/>
                  </a:moveTo>
                  <a:cubicBezTo>
                    <a:pt x="62" y="60"/>
                    <a:pt x="36" y="67"/>
                    <a:pt x="81" y="54"/>
                  </a:cubicBezTo>
                  <a:cubicBezTo>
                    <a:pt x="178" y="81"/>
                    <a:pt x="82" y="80"/>
                    <a:pt x="250" y="70"/>
                  </a:cubicBezTo>
                  <a:cubicBezTo>
                    <a:pt x="303" y="33"/>
                    <a:pt x="348" y="58"/>
                    <a:pt x="406" y="77"/>
                  </a:cubicBezTo>
                  <a:cubicBezTo>
                    <a:pt x="450" y="66"/>
                    <a:pt x="434" y="62"/>
                    <a:pt x="457" y="24"/>
                  </a:cubicBezTo>
                  <a:cubicBezTo>
                    <a:pt x="534" y="50"/>
                    <a:pt x="608" y="80"/>
                    <a:pt x="687" y="100"/>
                  </a:cubicBezTo>
                  <a:cubicBezTo>
                    <a:pt x="902" y="94"/>
                    <a:pt x="964" y="85"/>
                    <a:pt x="1167" y="93"/>
                  </a:cubicBezTo>
                  <a:cubicBezTo>
                    <a:pt x="1251" y="85"/>
                    <a:pt x="1254" y="98"/>
                    <a:pt x="1292" y="40"/>
                  </a:cubicBezTo>
                  <a:cubicBezTo>
                    <a:pt x="1318" y="46"/>
                    <a:pt x="1342" y="53"/>
                    <a:pt x="1366" y="63"/>
                  </a:cubicBezTo>
                  <a:cubicBezTo>
                    <a:pt x="1440" y="51"/>
                    <a:pt x="1513" y="78"/>
                    <a:pt x="1588" y="85"/>
                  </a:cubicBezTo>
                  <a:cubicBezTo>
                    <a:pt x="1627" y="94"/>
                    <a:pt x="1634" y="89"/>
                    <a:pt x="1669" y="77"/>
                  </a:cubicBezTo>
                  <a:cubicBezTo>
                    <a:pt x="1827" y="92"/>
                    <a:pt x="1984" y="95"/>
                    <a:pt x="2142" y="85"/>
                  </a:cubicBezTo>
                  <a:cubicBezTo>
                    <a:pt x="2248" y="49"/>
                    <a:pt x="2370" y="53"/>
                    <a:pt x="2475" y="93"/>
                  </a:cubicBezTo>
                  <a:cubicBezTo>
                    <a:pt x="2490" y="90"/>
                    <a:pt x="2506" y="92"/>
                    <a:pt x="2519" y="85"/>
                  </a:cubicBezTo>
                  <a:cubicBezTo>
                    <a:pt x="2525" y="80"/>
                    <a:pt x="2522" y="69"/>
                    <a:pt x="2526" y="63"/>
                  </a:cubicBezTo>
                  <a:cubicBezTo>
                    <a:pt x="2542" y="39"/>
                    <a:pt x="2547" y="40"/>
                    <a:pt x="2570" y="31"/>
                  </a:cubicBezTo>
                  <a:cubicBezTo>
                    <a:pt x="2620" y="50"/>
                    <a:pt x="2642" y="49"/>
                    <a:pt x="2704" y="54"/>
                  </a:cubicBezTo>
                  <a:cubicBezTo>
                    <a:pt x="2733" y="65"/>
                    <a:pt x="2749" y="56"/>
                    <a:pt x="2777" y="47"/>
                  </a:cubicBezTo>
                  <a:cubicBezTo>
                    <a:pt x="2822" y="49"/>
                    <a:pt x="2867" y="45"/>
                    <a:pt x="2911" y="54"/>
                  </a:cubicBezTo>
                  <a:cubicBezTo>
                    <a:pt x="2920" y="56"/>
                    <a:pt x="2917" y="73"/>
                    <a:pt x="2925" y="77"/>
                  </a:cubicBezTo>
                  <a:cubicBezTo>
                    <a:pt x="2941" y="85"/>
                    <a:pt x="2959" y="82"/>
                    <a:pt x="2976" y="85"/>
                  </a:cubicBezTo>
                  <a:cubicBezTo>
                    <a:pt x="3049" y="78"/>
                    <a:pt x="3060" y="76"/>
                    <a:pt x="3117" y="54"/>
                  </a:cubicBezTo>
                  <a:cubicBezTo>
                    <a:pt x="3132" y="57"/>
                    <a:pt x="3146" y="62"/>
                    <a:pt x="3161" y="63"/>
                  </a:cubicBezTo>
                  <a:cubicBezTo>
                    <a:pt x="3203" y="67"/>
                    <a:pt x="3246" y="65"/>
                    <a:pt x="3287" y="70"/>
                  </a:cubicBezTo>
                  <a:cubicBezTo>
                    <a:pt x="3313" y="73"/>
                    <a:pt x="3337" y="86"/>
                    <a:pt x="3361" y="93"/>
                  </a:cubicBezTo>
                  <a:cubicBezTo>
                    <a:pt x="3376" y="97"/>
                    <a:pt x="3405" y="108"/>
                    <a:pt x="3405" y="108"/>
                  </a:cubicBezTo>
                  <a:cubicBezTo>
                    <a:pt x="3567" y="99"/>
                    <a:pt x="3722" y="118"/>
                    <a:pt x="3885" y="123"/>
                  </a:cubicBezTo>
                  <a:cubicBezTo>
                    <a:pt x="4062" y="118"/>
                    <a:pt x="4105" y="112"/>
                    <a:pt x="4247" y="100"/>
                  </a:cubicBezTo>
                  <a:cubicBezTo>
                    <a:pt x="4273" y="92"/>
                    <a:pt x="4363" y="95"/>
                    <a:pt x="4381" y="93"/>
                  </a:cubicBezTo>
                  <a:cubicBezTo>
                    <a:pt x="4465" y="47"/>
                    <a:pt x="4333" y="113"/>
                    <a:pt x="4543" y="70"/>
                  </a:cubicBezTo>
                  <a:cubicBezTo>
                    <a:pt x="4552" y="68"/>
                    <a:pt x="4550" y="52"/>
                    <a:pt x="4557" y="47"/>
                  </a:cubicBezTo>
                  <a:cubicBezTo>
                    <a:pt x="4563" y="42"/>
                    <a:pt x="4573" y="42"/>
                    <a:pt x="4580" y="40"/>
                  </a:cubicBezTo>
                  <a:cubicBezTo>
                    <a:pt x="4584" y="37"/>
                    <a:pt x="4624" y="0"/>
                    <a:pt x="4624" y="24"/>
                  </a:cubicBezTo>
                  <a:lnTo>
                    <a:pt x="4624" y="689"/>
                  </a:lnTo>
                  <a:lnTo>
                    <a:pt x="0" y="681"/>
                  </a:lnTo>
                  <a:lnTo>
                    <a:pt x="7" y="77"/>
                  </a:lnTo>
                  <a:close/>
                </a:path>
              </a:pathLst>
            </a:custGeom>
            <a:solidFill>
              <a:srgbClr val="663300"/>
            </a:solidFill>
            <a:ln w="9525">
              <a:solidFill>
                <a:srgbClr val="66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30730" name="Line 22"/>
            <p:cNvSpPr>
              <a:spLocks noChangeShapeType="1"/>
            </p:cNvSpPr>
            <p:nvPr/>
          </p:nvSpPr>
          <p:spPr bwMode="auto">
            <a:xfrm>
              <a:off x="2674" y="2386"/>
              <a:ext cx="0" cy="9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30731" name="Text Box 23"/>
            <p:cNvSpPr txBox="1">
              <a:spLocks noChangeArrowheads="1"/>
            </p:cNvSpPr>
            <p:nvPr/>
          </p:nvSpPr>
          <p:spPr bwMode="auto">
            <a:xfrm>
              <a:off x="1452" y="2999"/>
              <a:ext cx="804" cy="332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 dirty="0">
                  <a:latin typeface="Lucida Sans Unicode" pitchFamily="34" charset="0"/>
                </a:rPr>
                <a:t>Transmitter Station</a:t>
              </a:r>
            </a:p>
          </p:txBody>
        </p:sp>
        <p:sp>
          <p:nvSpPr>
            <p:cNvPr id="30732" name="Line 24"/>
            <p:cNvSpPr>
              <a:spLocks noChangeShapeType="1"/>
            </p:cNvSpPr>
            <p:nvPr/>
          </p:nvSpPr>
          <p:spPr bwMode="auto">
            <a:xfrm>
              <a:off x="2249" y="3161"/>
              <a:ext cx="4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30733" name="Text Box 25"/>
            <p:cNvSpPr txBox="1">
              <a:spLocks noChangeArrowheads="1"/>
            </p:cNvSpPr>
            <p:nvPr/>
          </p:nvSpPr>
          <p:spPr bwMode="auto">
            <a:xfrm>
              <a:off x="4628" y="3050"/>
              <a:ext cx="804" cy="332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 dirty="0">
                  <a:latin typeface="Lucida Sans Unicode" pitchFamily="34" charset="0"/>
                </a:rPr>
                <a:t>Receiver Station</a:t>
              </a:r>
            </a:p>
          </p:txBody>
        </p:sp>
        <p:sp>
          <p:nvSpPr>
            <p:cNvPr id="30734" name="Line 26"/>
            <p:cNvSpPr>
              <a:spLocks noChangeShapeType="1"/>
            </p:cNvSpPr>
            <p:nvPr/>
          </p:nvSpPr>
          <p:spPr bwMode="auto">
            <a:xfrm flipV="1">
              <a:off x="4312" y="3219"/>
              <a:ext cx="32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30735" name="Line 27"/>
            <p:cNvSpPr>
              <a:spLocks noChangeShapeType="1"/>
            </p:cNvSpPr>
            <p:nvPr/>
          </p:nvSpPr>
          <p:spPr bwMode="auto">
            <a:xfrm flipV="1">
              <a:off x="4305" y="2854"/>
              <a:ext cx="1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30736" name="AutoShape 28"/>
            <p:cNvSpPr>
              <a:spLocks noChangeArrowheads="1"/>
            </p:cNvSpPr>
            <p:nvPr/>
          </p:nvSpPr>
          <p:spPr bwMode="auto">
            <a:xfrm flipV="1">
              <a:off x="4232" y="2708"/>
              <a:ext cx="168" cy="16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0737" name="Text Box 29"/>
            <p:cNvSpPr txBox="1">
              <a:spLocks noChangeArrowheads="1"/>
            </p:cNvSpPr>
            <p:nvPr/>
          </p:nvSpPr>
          <p:spPr bwMode="auto">
            <a:xfrm>
              <a:off x="1979" y="3482"/>
              <a:ext cx="9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Lucida Sans Unicode" pitchFamily="34" charset="0"/>
                </a:rPr>
                <a:t>Transmission line</a:t>
              </a:r>
              <a:endParaRPr lang="en-GB" sz="1400" dirty="0">
                <a:latin typeface="Lucida Sans Unicode" pitchFamily="34" charset="0"/>
              </a:endParaRPr>
            </a:p>
          </p:txBody>
        </p:sp>
        <p:sp>
          <p:nvSpPr>
            <p:cNvPr id="30738" name="Line 30"/>
            <p:cNvSpPr>
              <a:spLocks noChangeShapeType="1"/>
            </p:cNvSpPr>
            <p:nvPr/>
          </p:nvSpPr>
          <p:spPr bwMode="auto">
            <a:xfrm flipH="1" flipV="1">
              <a:off x="2410" y="3175"/>
              <a:ext cx="22" cy="3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30739" name="Line 31"/>
            <p:cNvSpPr>
              <a:spLocks noChangeShapeType="1"/>
            </p:cNvSpPr>
            <p:nvPr/>
          </p:nvSpPr>
          <p:spPr bwMode="auto">
            <a:xfrm flipH="1" flipV="1">
              <a:off x="4444" y="3226"/>
              <a:ext cx="8" cy="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30740" name="Text Box 32"/>
            <p:cNvSpPr txBox="1">
              <a:spLocks noChangeArrowheads="1"/>
            </p:cNvSpPr>
            <p:nvPr/>
          </p:nvSpPr>
          <p:spPr bwMode="auto">
            <a:xfrm>
              <a:off x="1751" y="2083"/>
              <a:ext cx="906" cy="33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 dirty="0">
                  <a:latin typeface="Lucida Sans Unicode" pitchFamily="34" charset="0"/>
                </a:rPr>
                <a:t>Transmitter</a:t>
              </a:r>
            </a:p>
            <a:p>
              <a:pPr algn="ctr"/>
              <a:r>
                <a:rPr lang="en-GB" sz="1400" dirty="0">
                  <a:latin typeface="Lucida Sans Unicode" pitchFamily="34" charset="0"/>
                </a:rPr>
                <a:t>Antenna</a:t>
              </a:r>
            </a:p>
          </p:txBody>
        </p:sp>
        <p:sp>
          <p:nvSpPr>
            <p:cNvPr id="30741" name="Text Box 33"/>
            <p:cNvSpPr txBox="1">
              <a:spLocks noChangeArrowheads="1"/>
            </p:cNvSpPr>
            <p:nvPr/>
          </p:nvSpPr>
          <p:spPr bwMode="auto">
            <a:xfrm>
              <a:off x="4635" y="2198"/>
              <a:ext cx="1006" cy="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 dirty="0">
                  <a:latin typeface="Lucida Sans Unicode" pitchFamily="34" charset="0"/>
                </a:rPr>
                <a:t>Receiver</a:t>
              </a:r>
            </a:p>
            <a:p>
              <a:pPr algn="ctr"/>
              <a:r>
                <a:rPr lang="en-GB" sz="1400" dirty="0">
                  <a:latin typeface="Lucida Sans Unicode" pitchFamily="34" charset="0"/>
                </a:rPr>
                <a:t>Antenna in “shadow” of tree (especially when wet)</a:t>
              </a:r>
            </a:p>
          </p:txBody>
        </p:sp>
        <p:sp>
          <p:nvSpPr>
            <p:cNvPr id="30742" name="Text Box 34"/>
            <p:cNvSpPr txBox="1">
              <a:spLocks noChangeArrowheads="1"/>
            </p:cNvSpPr>
            <p:nvPr/>
          </p:nvSpPr>
          <p:spPr bwMode="auto">
            <a:xfrm>
              <a:off x="4064" y="3475"/>
              <a:ext cx="9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Lucida Sans Unicode" pitchFamily="34" charset="0"/>
                </a:rPr>
                <a:t>Transmission line</a:t>
              </a:r>
              <a:endParaRPr lang="en-GB" sz="1400" dirty="0">
                <a:latin typeface="Lucida Sans Unicode" pitchFamily="34" charset="0"/>
              </a:endParaRPr>
            </a:p>
          </p:txBody>
        </p:sp>
        <p:sp>
          <p:nvSpPr>
            <p:cNvPr id="30743" name="AutoShape 35"/>
            <p:cNvSpPr>
              <a:spLocks noChangeArrowheads="1"/>
            </p:cNvSpPr>
            <p:nvPr/>
          </p:nvSpPr>
          <p:spPr bwMode="auto">
            <a:xfrm flipV="1">
              <a:off x="2592" y="2231"/>
              <a:ext cx="168" cy="16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76466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565825"/>
            <a:ext cx="2589332" cy="14334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488" y="3561308"/>
            <a:ext cx="2716687" cy="14334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205" y="3570766"/>
            <a:ext cx="2587497" cy="14334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7072" y="5103362"/>
            <a:ext cx="2685369" cy="13590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4338" y="5085331"/>
            <a:ext cx="2553137" cy="13590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2777" y="938697"/>
            <a:ext cx="2720565" cy="20832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2180" y="953725"/>
            <a:ext cx="2622795" cy="20531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5288" y="331788"/>
            <a:ext cx="6561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latin typeface="Lucida Sans Unicode" pitchFamily="34" charset="0"/>
              </a:rPr>
              <a:t>Radio Transmission and Reception</a:t>
            </a:r>
            <a:endParaRPr lang="en-GB" sz="2400" b="1" dirty="0">
              <a:latin typeface="Lucida Sans Unicode" pitchFamily="34" charset="0"/>
            </a:endParaRPr>
          </a:p>
        </p:txBody>
      </p:sp>
      <p:pic>
        <p:nvPicPr>
          <p:cNvPr id="4098" name="Picture 2" descr="https://upload.wikimedia.org/wikipedia/commons/d/da/Felder_um_Dipol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881724"/>
            <a:ext cx="2497460" cy="203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288" y="2921316"/>
            <a:ext cx="2794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solidFill>
                  <a:srgbClr val="0070C0"/>
                </a:solidFill>
                <a:latin typeface="Lucida Sans Unicode" pitchFamily="34" charset="0"/>
              </a:rPr>
              <a:t>Electric </a:t>
            </a:r>
            <a:r>
              <a:rPr lang="en-GB" sz="1200">
                <a:latin typeface="Lucida Sans Unicode" pitchFamily="34" charset="0"/>
              </a:rPr>
              <a:t>and </a:t>
            </a:r>
            <a:r>
              <a:rPr lang="en-GB" sz="1200" b="1">
                <a:solidFill>
                  <a:srgbClr val="FF0000"/>
                </a:solidFill>
                <a:latin typeface="Lucida Sans Unicode" pitchFamily="34" charset="0"/>
              </a:rPr>
              <a:t>magnetic</a:t>
            </a:r>
            <a:r>
              <a:rPr lang="en-GB" sz="1200">
                <a:latin typeface="Lucida Sans Unicode" pitchFamily="34" charset="0"/>
              </a:rPr>
              <a:t> fields generated by a dipole antenna</a:t>
            </a:r>
            <a:endParaRPr lang="en-GB" sz="1200" dirty="0">
              <a:latin typeface="Lucida Sans Unicode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87072" y="3095721"/>
            <a:ext cx="5452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solidFill>
                  <a:srgbClr val="0070C0"/>
                </a:solidFill>
                <a:latin typeface="Lucida Sans Unicode" pitchFamily="34" charset="0"/>
              </a:rPr>
              <a:t>Radiating electrical field from transmitter </a:t>
            </a:r>
            <a:endParaRPr lang="en-GB" sz="1200" dirty="0">
              <a:latin typeface="Lucida Sans Unicode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8879" y="5360778"/>
            <a:ext cx="2170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>
                <a:latin typeface="Lucida Sans Unicode" pitchFamily="34" charset="0"/>
              </a:rPr>
              <a:t>Induced electric and magnetic fields in receiver</a:t>
            </a:r>
          </a:p>
          <a:p>
            <a:r>
              <a:rPr lang="en-GB" sz="1200">
                <a:latin typeface="Lucida Sans Unicode" pitchFamily="34" charset="0"/>
              </a:rPr>
              <a:t>Note charge and current directions</a:t>
            </a:r>
            <a:endParaRPr lang="en-GB" sz="1200" dirty="0">
              <a:latin typeface="Lucida Sans Unicode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9859" y="5924520"/>
            <a:ext cx="2170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200" dirty="0">
              <a:latin typeface="Lucida Sans Unicode" pitchFamily="34" charset="0"/>
            </a:endParaRPr>
          </a:p>
        </p:txBody>
      </p:sp>
      <p:sp>
        <p:nvSpPr>
          <p:cNvPr id="3" name="Arrow: Right 2"/>
          <p:cNvSpPr/>
          <p:nvPr/>
        </p:nvSpPr>
        <p:spPr>
          <a:xfrm>
            <a:off x="3154998" y="3789040"/>
            <a:ext cx="360040" cy="477284"/>
          </a:xfrm>
          <a:prstGeom prst="rightArrow">
            <a:avLst>
              <a:gd name="adj1" fmla="val 50000"/>
              <a:gd name="adj2" fmla="val 66931"/>
            </a:avLst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GB" sz="1600" b="1" dirty="0"/>
          </a:p>
        </p:txBody>
      </p:sp>
      <p:sp>
        <p:nvSpPr>
          <p:cNvPr id="16" name="Arrow: Right 15"/>
          <p:cNvSpPr/>
          <p:nvPr/>
        </p:nvSpPr>
        <p:spPr>
          <a:xfrm>
            <a:off x="6141758" y="3751741"/>
            <a:ext cx="360040" cy="477284"/>
          </a:xfrm>
          <a:prstGeom prst="rightArrow">
            <a:avLst>
              <a:gd name="adj1" fmla="val 50000"/>
              <a:gd name="adj2" fmla="val 66931"/>
            </a:avLst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GB" sz="1600" b="1" dirty="0"/>
          </a:p>
        </p:txBody>
      </p:sp>
      <p:sp>
        <p:nvSpPr>
          <p:cNvPr id="17" name="Arrow: Right 16"/>
          <p:cNvSpPr/>
          <p:nvPr/>
        </p:nvSpPr>
        <p:spPr>
          <a:xfrm>
            <a:off x="6000995" y="5286156"/>
            <a:ext cx="360040" cy="477284"/>
          </a:xfrm>
          <a:prstGeom prst="rightArrow">
            <a:avLst>
              <a:gd name="adj1" fmla="val 50000"/>
              <a:gd name="adj2" fmla="val 66931"/>
            </a:avLst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37210488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://www.data.jma.go.jp/mscweb/en/himawari89/himawari_cast/fig/polarization_en.png">
            <a:extLst>
              <a:ext uri="{FF2B5EF4-FFF2-40B4-BE49-F238E27FC236}">
                <a16:creationId xmlns:a16="http://schemas.microsoft.com/office/drawing/2014/main" id="{2EE43A4F-B0A5-48B7-B4AA-67A13AE66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957" y="793452"/>
            <a:ext cx="6164926" cy="252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https://dreamdth.com/proxy.php?image=http%3A%2F%2Fi.imgur.com%2FgSJZ49e.png&amp;hash=6e6fe438b9bfbe967a1663e1ca64e1e8">
            <a:extLst>
              <a:ext uri="{FF2B5EF4-FFF2-40B4-BE49-F238E27FC236}">
                <a16:creationId xmlns:a16="http://schemas.microsoft.com/office/drawing/2014/main" id="{CAFB3F2B-7AF5-4491-BE09-2B66FB671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540" y="4767812"/>
            <a:ext cx="398145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B8645B-3B83-41C1-9D45-66FD812540CE}"/>
              </a:ext>
            </a:extLst>
          </p:cNvPr>
          <p:cNvSpPr/>
          <p:nvPr/>
        </p:nvSpPr>
        <p:spPr>
          <a:xfrm>
            <a:off x="383448" y="3184800"/>
            <a:ext cx="4939017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47425D"/>
                </a:solidFill>
              </a:rPr>
              <a:t>Antenna Power Gain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 dirty="0"/>
              <a:t>combination of directivity and electrical efficiency 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 dirty="0"/>
              <a:t>Transmitting antenna - how well the antenna converts input power into radio waves headed in a specified direction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 dirty="0"/>
              <a:t>Receiving antenna - how well the antenna converts radio waves arriving from a specified direction into electrical power</a:t>
            </a:r>
          </a:p>
          <a:p>
            <a:endParaRPr lang="en-GB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395288" y="331788"/>
            <a:ext cx="6561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Radio Transmission and Reception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3449" y="1149432"/>
            <a:ext cx="35553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Antenna / transmission polarisation</a:t>
            </a:r>
          </a:p>
        </p:txBody>
      </p:sp>
    </p:spTree>
    <p:extLst>
      <p:ext uri="{BB962C8B-B14F-4D97-AF65-F5344CB8AC3E}">
        <p14:creationId xmlns:p14="http://schemas.microsoft.com/office/powerpoint/2010/main" val="3661254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9144001" cy="6867128"/>
          </a:xfrm>
          <a:prstGeom prst="rect">
            <a:avLst/>
          </a:prstGeom>
          <a:gradFill rotWithShape="1">
            <a:gsLst>
              <a:gs pos="8000">
                <a:schemeClr val="tx2">
                  <a:lumMod val="50000"/>
                </a:schemeClr>
              </a:gs>
              <a:gs pos="68000">
                <a:srgbClr val="00B0F0"/>
              </a:gs>
            </a:gsLst>
            <a:lin ang="540000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377859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  <a:latin typeface="Lucida Sans Unicode" pitchFamily="34" charset="0"/>
              </a:rPr>
              <a:t>Radio </a:t>
            </a:r>
            <a:r>
              <a:rPr lang="en-GB" sz="2400" b="1">
                <a:solidFill>
                  <a:srgbClr val="FFFF00"/>
                </a:solidFill>
                <a:latin typeface="Lucida Sans Unicode" pitchFamily="34" charset="0"/>
              </a:rPr>
              <a:t>Wave Propagation</a:t>
            </a:r>
            <a:endParaRPr lang="en-GB" sz="2400" b="1" dirty="0">
              <a:solidFill>
                <a:srgbClr val="FFFF00"/>
              </a:solidFill>
              <a:latin typeface="Lucida Sans Unicode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288" y="1141454"/>
            <a:ext cx="832592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For reception, antenna length at least </a:t>
            </a:r>
            <a:r>
              <a:rPr lang="el-GR" dirty="0">
                <a:solidFill>
                  <a:srgbClr val="FFFF00"/>
                </a:solidFill>
              </a:rPr>
              <a:t>λ</a:t>
            </a:r>
            <a:r>
              <a:rPr lang="en-GB" dirty="0">
                <a:solidFill>
                  <a:srgbClr val="FFFF00"/>
                </a:solidFill>
              </a:rPr>
              <a:t>/4</a:t>
            </a:r>
          </a:p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b="1" dirty="0">
                <a:solidFill>
                  <a:srgbClr val="FFFF00"/>
                </a:solidFill>
              </a:rPr>
              <a:t>Low </a:t>
            </a:r>
            <a:r>
              <a:rPr lang="en-GB" b="1" dirty="0" err="1">
                <a:solidFill>
                  <a:srgbClr val="FFFF00"/>
                </a:solidFill>
              </a:rPr>
              <a:t>freq</a:t>
            </a:r>
            <a:r>
              <a:rPr lang="en-GB" b="1" dirty="0">
                <a:solidFill>
                  <a:srgbClr val="FFFF00"/>
                </a:solidFill>
              </a:rPr>
              <a:t> (e.g. AM services)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earth ground has strong influence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induce current in ground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attenuated by </a:t>
            </a:r>
            <a:r>
              <a:rPr lang="en-GB" dirty="0" err="1">
                <a:solidFill>
                  <a:srgbClr val="FFFF00"/>
                </a:solidFill>
              </a:rPr>
              <a:t>absorbtion</a:t>
            </a:r>
            <a:r>
              <a:rPr lang="en-GB" dirty="0">
                <a:solidFill>
                  <a:srgbClr val="FFFF00"/>
                </a:solidFill>
              </a:rPr>
              <a:t> in earth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attenuation increases with increase in </a:t>
            </a:r>
            <a:r>
              <a:rPr lang="en-GB" dirty="0" err="1">
                <a:solidFill>
                  <a:srgbClr val="FFFF00"/>
                </a:solidFill>
              </a:rPr>
              <a:t>freq</a:t>
            </a:r>
            <a:endParaRPr lang="en-GB" dirty="0">
              <a:solidFill>
                <a:srgbClr val="FFFF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maximum range depends on … </a:t>
            </a:r>
          </a:p>
          <a:p>
            <a:pPr lvl="2"/>
            <a:r>
              <a:rPr lang="en-GB" dirty="0">
                <a:solidFill>
                  <a:srgbClr val="FFFF00"/>
                </a:solidFill>
              </a:rPr>
              <a:t>transmitted power, frequency (&lt; few MHz)</a:t>
            </a:r>
          </a:p>
          <a:p>
            <a:endParaRPr lang="en-GB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en-GB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en-GB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en-GB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GB" b="1" dirty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Higher Frequencies – VHF, UHF</a:t>
            </a:r>
          </a:p>
          <a:p>
            <a:r>
              <a:rPr lang="en-GB" dirty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Waves can be refracted off Troposphere </a:t>
            </a:r>
          </a:p>
          <a:p>
            <a:r>
              <a:rPr lang="en-GB" dirty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	(lowest of atmospheric layers)</a:t>
            </a:r>
          </a:p>
          <a:p>
            <a:r>
              <a:rPr lang="en-GB" dirty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refraction due to atmospheric </a:t>
            </a:r>
            <a:r>
              <a:rPr lang="en-GB" dirty="0" err="1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rerfractive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 </a:t>
            </a:r>
            <a:r>
              <a:rPr lang="en-GB" dirty="0" err="1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indeces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 </a:t>
            </a:r>
          </a:p>
          <a:p>
            <a:r>
              <a:rPr lang="en-GB" dirty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	(so not a guaranteed performance due to changing weather)</a:t>
            </a:r>
          </a:p>
          <a:p>
            <a:r>
              <a:rPr lang="en-GB" i="1" dirty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			… see </a:t>
            </a:r>
            <a:r>
              <a:rPr lang="en-GB" i="1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rPr>
              <a:t>later …</a:t>
            </a:r>
            <a:endParaRPr lang="en-GB" b="1" dirty="0">
              <a:solidFill>
                <a:schemeClr val="tx2">
                  <a:lumMod val="50000"/>
                </a:schemeClr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ight Brace 3"/>
          <p:cNvSpPr/>
          <p:nvPr/>
        </p:nvSpPr>
        <p:spPr>
          <a:xfrm>
            <a:off x="6147175" y="1989003"/>
            <a:ext cx="315035" cy="1530007"/>
          </a:xfrm>
          <a:prstGeom prst="rightBrace">
            <a:avLst>
              <a:gd name="adj1" fmla="val 26474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97937" y="2521062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latin typeface="Lucida Sans Unicode" pitchFamily="34" charset="0"/>
              </a:rPr>
              <a:t>Surface Waves</a:t>
            </a:r>
          </a:p>
        </p:txBody>
      </p:sp>
    </p:spTree>
    <p:extLst>
      <p:ext uri="{BB962C8B-B14F-4D97-AF65-F5344CB8AC3E}">
        <p14:creationId xmlns:p14="http://schemas.microsoft.com/office/powerpoint/2010/main" val="19312539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ChangeArrowheads="1"/>
          </p:cNvSpPr>
          <p:nvPr/>
        </p:nvSpPr>
        <p:spPr bwMode="auto">
          <a:xfrm>
            <a:off x="439738" y="954088"/>
            <a:ext cx="8447087" cy="18158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/>
            <a:r>
              <a:rPr lang="en-GB" sz="1600" b="1" dirty="0">
                <a:solidFill>
                  <a:srgbClr val="000066"/>
                </a:solidFill>
                <a:latin typeface="Lucida Sans Unicode" pitchFamily="34" charset="0"/>
              </a:rPr>
              <a:t>Ground waves </a:t>
            </a:r>
          </a:p>
          <a:p>
            <a:pPr marL="174625" indent="-174625">
              <a:buFontTx/>
              <a:buChar char="•"/>
            </a:pPr>
            <a:r>
              <a:rPr lang="en-GB" sz="1600" dirty="0">
                <a:solidFill>
                  <a:srgbClr val="000066"/>
                </a:solidFill>
                <a:latin typeface="Lucida Sans Unicode" pitchFamily="34" charset="0"/>
              </a:rPr>
              <a:t>propagate along the earth surface, close to </a:t>
            </a:r>
            <a:r>
              <a:rPr lang="en-GB" sz="1600">
                <a:solidFill>
                  <a:srgbClr val="000066"/>
                </a:solidFill>
                <a:latin typeface="Lucida Sans Unicode" pitchFamily="34" charset="0"/>
              </a:rPr>
              <a:t>the ground</a:t>
            </a:r>
          </a:p>
          <a:p>
            <a:pPr marL="631825" lvl="1" indent="-174625">
              <a:buFontTx/>
              <a:buChar char="•"/>
            </a:pPr>
            <a:r>
              <a:rPr lang="en-GB" sz="1600">
                <a:solidFill>
                  <a:srgbClr val="000066"/>
                </a:solidFill>
                <a:latin typeface="Lucida Sans Unicode" pitchFamily="34" charset="0"/>
              </a:rPr>
              <a:t>(never </a:t>
            </a:r>
            <a:r>
              <a:rPr lang="en-GB" sz="1600" dirty="0">
                <a:solidFill>
                  <a:srgbClr val="000066"/>
                </a:solidFill>
                <a:latin typeface="Lucida Sans Unicode" pitchFamily="34" charset="0"/>
              </a:rPr>
              <a:t>reach </a:t>
            </a:r>
            <a:r>
              <a:rPr lang="en-GB" sz="1600">
                <a:solidFill>
                  <a:srgbClr val="000066"/>
                </a:solidFill>
                <a:latin typeface="Lucida Sans Unicode" pitchFamily="34" charset="0"/>
              </a:rPr>
              <a:t>the ionosphere)</a:t>
            </a:r>
            <a:endParaRPr lang="en-GB" sz="1600" dirty="0">
              <a:solidFill>
                <a:srgbClr val="000066"/>
              </a:solidFill>
              <a:latin typeface="Lucida Sans Unicode" pitchFamily="34" charset="0"/>
            </a:endParaRPr>
          </a:p>
          <a:p>
            <a:pPr marL="174625" indent="-174625">
              <a:buFontTx/>
              <a:buChar char="•"/>
            </a:pPr>
            <a:r>
              <a:rPr lang="en-GB" sz="1600" dirty="0">
                <a:solidFill>
                  <a:srgbClr val="000066"/>
                </a:solidFill>
                <a:latin typeface="Lucida Sans Unicode" pitchFamily="34" charset="0"/>
              </a:rPr>
              <a:t>typically travel 150Km in daytime</a:t>
            </a:r>
          </a:p>
          <a:p>
            <a:pPr marL="174625" indent="-174625">
              <a:buFontTx/>
              <a:buChar char="•"/>
            </a:pPr>
            <a:r>
              <a:rPr lang="en-GB" sz="1600" dirty="0">
                <a:solidFill>
                  <a:srgbClr val="000066"/>
                </a:solidFill>
                <a:latin typeface="Lucida Sans Unicode" pitchFamily="34" charset="0"/>
              </a:rPr>
              <a:t>higher </a:t>
            </a:r>
            <a:r>
              <a:rPr lang="en-GB" sz="1600" dirty="0" err="1">
                <a:solidFill>
                  <a:srgbClr val="000066"/>
                </a:solidFill>
                <a:latin typeface="Lucida Sans Unicode" pitchFamily="34" charset="0"/>
              </a:rPr>
              <a:t>freqs</a:t>
            </a:r>
            <a:r>
              <a:rPr lang="en-GB" sz="1600" dirty="0">
                <a:solidFill>
                  <a:srgbClr val="000066"/>
                </a:solidFill>
                <a:latin typeface="Lucida Sans Unicode" pitchFamily="34" charset="0"/>
              </a:rPr>
              <a:t> are subject to a high attenuation </a:t>
            </a:r>
          </a:p>
          <a:p>
            <a:pPr lvl="1"/>
            <a:r>
              <a:rPr lang="en-GB" sz="1600" dirty="0">
                <a:solidFill>
                  <a:srgbClr val="000066"/>
                </a:solidFill>
                <a:latin typeface="Lucida Sans Unicode" pitchFamily="34" charset="0"/>
              </a:rPr>
              <a:t>… travel less than 15 km (at 30 MHz)</a:t>
            </a:r>
          </a:p>
          <a:p>
            <a:pPr marL="174625" indent="-174625">
              <a:buFontTx/>
              <a:buChar char="•"/>
            </a:pPr>
            <a:r>
              <a:rPr lang="en-GB" sz="1600" dirty="0">
                <a:solidFill>
                  <a:srgbClr val="000066"/>
                </a:solidFill>
                <a:latin typeface="Lucida Sans Unicode" pitchFamily="34" charset="0"/>
              </a:rPr>
              <a:t>mainly for low frequencies below 1.8 MHz (MW, LW and VLF) </a:t>
            </a:r>
          </a:p>
        </p:txBody>
      </p:sp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395288" y="331788"/>
            <a:ext cx="377859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Radio </a:t>
            </a:r>
            <a:r>
              <a:rPr lang="en-GB" sz="2400" b="1">
                <a:latin typeface="Lucida Sans Unicode" pitchFamily="34" charset="0"/>
              </a:rPr>
              <a:t>Wave Propagation</a:t>
            </a:r>
            <a:endParaRPr lang="en-GB" sz="2400" b="1" dirty="0">
              <a:latin typeface="Lucida Sans Unicode" pitchFamily="34" charset="0"/>
            </a:endParaRPr>
          </a:p>
        </p:txBody>
      </p:sp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395288" y="3259197"/>
            <a:ext cx="3231607" cy="280076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4625" indent="-174625"/>
            <a:r>
              <a:rPr lang="en-GB" sz="1600" b="1" dirty="0">
                <a:solidFill>
                  <a:srgbClr val="000066"/>
                </a:solidFill>
                <a:latin typeface="Lucida Sans Unicode" pitchFamily="34" charset="0"/>
              </a:rPr>
              <a:t>Space waves / Line of Sight</a:t>
            </a:r>
          </a:p>
          <a:p>
            <a:pPr marL="174625" indent="-174625">
              <a:buFontTx/>
              <a:buChar char="•"/>
            </a:pPr>
            <a:r>
              <a:rPr lang="en-GB" sz="1600" dirty="0">
                <a:solidFill>
                  <a:srgbClr val="000066"/>
                </a:solidFill>
                <a:latin typeface="Lucida Sans Unicode" pitchFamily="34" charset="0"/>
              </a:rPr>
              <a:t>directly from antenna to another without reflection on the ground</a:t>
            </a:r>
          </a:p>
          <a:p>
            <a:pPr marL="174625" indent="-174625">
              <a:buFontTx/>
              <a:buChar char="•"/>
            </a:pPr>
            <a:r>
              <a:rPr lang="en-GB" sz="1600" dirty="0">
                <a:solidFill>
                  <a:srgbClr val="000066"/>
                </a:solidFill>
                <a:latin typeface="Lucida Sans Unicode" pitchFamily="34" charset="0"/>
              </a:rPr>
              <a:t>also assisted by waves bending near the ground (curved path on earth </a:t>
            </a:r>
            <a:r>
              <a:rPr lang="en-GB" sz="1600">
                <a:solidFill>
                  <a:srgbClr val="000066"/>
                </a:solidFill>
                <a:latin typeface="Lucida Sans Unicode" pitchFamily="34" charset="0"/>
              </a:rPr>
              <a:t>surface)</a:t>
            </a:r>
          </a:p>
          <a:p>
            <a:pPr marL="174625" indent="-174625">
              <a:buFontTx/>
              <a:buChar char="•"/>
            </a:pPr>
            <a:endParaRPr lang="en-GB" sz="1600">
              <a:solidFill>
                <a:srgbClr val="000066"/>
              </a:solidFill>
              <a:latin typeface="Lucida Sans Unicode" pitchFamily="34" charset="0"/>
            </a:endParaRPr>
          </a:p>
          <a:p>
            <a:pPr marL="174625" indent="-174625">
              <a:buFontTx/>
              <a:buChar char="•"/>
            </a:pPr>
            <a:r>
              <a:rPr lang="en-GB" sz="1600">
                <a:solidFill>
                  <a:srgbClr val="000066"/>
                </a:solidFill>
                <a:latin typeface="Lucida Sans Unicode" pitchFamily="34" charset="0"/>
              </a:rPr>
              <a:t>Sky wave propagation: </a:t>
            </a:r>
          </a:p>
          <a:p>
            <a:pPr lvl="1"/>
            <a:r>
              <a:rPr lang="en-GB" sz="1600">
                <a:solidFill>
                  <a:srgbClr val="000066"/>
                </a:solidFill>
                <a:latin typeface="Lucida Sans Unicode" pitchFamily="34" charset="0"/>
              </a:rPr>
              <a:t>next slide ...</a:t>
            </a:r>
            <a:endParaRPr lang="en-GB" sz="1600" dirty="0">
              <a:solidFill>
                <a:srgbClr val="000066"/>
              </a:solidFill>
              <a:latin typeface="Lucida Sans Unicode" pitchFamily="34" charset="0"/>
            </a:endParaRPr>
          </a:p>
        </p:txBody>
      </p:sp>
      <p:pic>
        <p:nvPicPr>
          <p:cNvPr id="3277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5225" y="3784600"/>
            <a:ext cx="5438775" cy="3073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64693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86175" y="2348881"/>
            <a:ext cx="5457825" cy="393127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1747" name="Text Box 6"/>
          <p:cNvSpPr txBox="1">
            <a:spLocks noChangeArrowheads="1"/>
          </p:cNvSpPr>
          <p:nvPr/>
        </p:nvSpPr>
        <p:spPr bwMode="auto">
          <a:xfrm>
            <a:off x="380770" y="793453"/>
            <a:ext cx="8553450" cy="14219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 defTabSz="265113">
              <a:lnSpc>
                <a:spcPct val="110000"/>
              </a:lnSpc>
            </a:pPr>
            <a:r>
              <a:rPr lang="en-GB" sz="1600" b="1" dirty="0">
                <a:solidFill>
                  <a:srgbClr val="000066"/>
                </a:solidFill>
                <a:latin typeface="Lucida Sans Unicode" pitchFamily="34" charset="0"/>
              </a:rPr>
              <a:t>Troposphere </a:t>
            </a:r>
          </a:p>
          <a:p>
            <a:pPr marL="176213" indent="-176213" defTabSz="265113">
              <a:lnSpc>
                <a:spcPct val="110000"/>
              </a:lnSpc>
              <a:buFontTx/>
              <a:buChar char="•"/>
            </a:pPr>
            <a:r>
              <a:rPr lang="en-US" sz="1600" dirty="0">
                <a:solidFill>
                  <a:srgbClr val="000066"/>
                </a:solidFill>
                <a:latin typeface="Lucida Sans Unicode" pitchFamily="34" charset="0"/>
              </a:rPr>
              <a:t>where all weather takes place; rising and falling packets of air</a:t>
            </a:r>
          </a:p>
          <a:p>
            <a:pPr marL="176213" indent="-176213" defTabSz="265113">
              <a:lnSpc>
                <a:spcPct val="110000"/>
              </a:lnSpc>
              <a:buFontTx/>
              <a:buChar char="•"/>
            </a:pPr>
            <a:r>
              <a:rPr lang="en-US" sz="1600" dirty="0">
                <a:solidFill>
                  <a:srgbClr val="000066"/>
                </a:solidFill>
                <a:latin typeface="Lucida Sans Unicode" pitchFamily="34" charset="0"/>
              </a:rPr>
              <a:t>air pressure at the top of the troposphere is only 10% of that at sea level (0.1 atmospheres) </a:t>
            </a:r>
          </a:p>
          <a:p>
            <a:pPr marL="176213" indent="-176213" defTabSz="265113"/>
            <a:endParaRPr lang="en-GB" sz="1600" dirty="0">
              <a:solidFill>
                <a:srgbClr val="000066"/>
              </a:solidFill>
              <a:latin typeface="Lucida Sans Unicode" pitchFamily="34" charset="0"/>
            </a:endParaRPr>
          </a:p>
        </p:txBody>
      </p:sp>
      <p:sp>
        <p:nvSpPr>
          <p:cNvPr id="31748" name="Text Box 7"/>
          <p:cNvSpPr txBox="1">
            <a:spLocks noChangeArrowheads="1"/>
          </p:cNvSpPr>
          <p:nvPr/>
        </p:nvSpPr>
        <p:spPr bwMode="auto">
          <a:xfrm>
            <a:off x="395288" y="331788"/>
            <a:ext cx="377859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Radio </a:t>
            </a:r>
            <a:r>
              <a:rPr lang="en-GB" sz="2400" b="1">
                <a:latin typeface="Lucida Sans Unicode" pitchFamily="34" charset="0"/>
              </a:rPr>
              <a:t>Wave Propagation</a:t>
            </a:r>
            <a:endParaRPr lang="en-GB" sz="2400" b="1" dirty="0">
              <a:latin typeface="Lucida Sans Unicode" pitchFamily="34" charset="0"/>
            </a:endParaRPr>
          </a:p>
        </p:txBody>
      </p:sp>
      <p:sp>
        <p:nvSpPr>
          <p:cNvPr id="31749" name="Rectangle 9"/>
          <p:cNvSpPr>
            <a:spLocks noChangeArrowheads="1"/>
          </p:cNvSpPr>
          <p:nvPr/>
        </p:nvSpPr>
        <p:spPr bwMode="auto">
          <a:xfrm>
            <a:off x="380770" y="2078850"/>
            <a:ext cx="3156115" cy="36132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6213" indent="-176213">
              <a:lnSpc>
                <a:spcPct val="110000"/>
              </a:lnSpc>
            </a:pPr>
            <a:r>
              <a:rPr lang="en-US" sz="1600" b="1" dirty="0">
                <a:solidFill>
                  <a:srgbClr val="000066"/>
                </a:solidFill>
                <a:latin typeface="Lucida Sans Unicode" pitchFamily="34" charset="0"/>
              </a:rPr>
              <a:t>Stratosphere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US" sz="1600" dirty="0">
                <a:solidFill>
                  <a:srgbClr val="000066"/>
                </a:solidFill>
                <a:latin typeface="Lucida Sans Unicode" pitchFamily="34" charset="0"/>
              </a:rPr>
              <a:t>air flow is mostly horizontal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US" sz="1600" dirty="0">
                <a:solidFill>
                  <a:srgbClr val="000066"/>
                </a:solidFill>
                <a:latin typeface="Lucida Sans Unicode" pitchFamily="34" charset="0"/>
              </a:rPr>
              <a:t>thin </a:t>
            </a:r>
            <a:r>
              <a:rPr lang="en-US" sz="1600" b="1" dirty="0">
                <a:solidFill>
                  <a:srgbClr val="000066"/>
                </a:solidFill>
                <a:latin typeface="Lucida Sans Unicode" pitchFamily="34" charset="0"/>
              </a:rPr>
              <a:t>ozone layer</a:t>
            </a:r>
            <a:r>
              <a:rPr lang="en-US" sz="1600" dirty="0">
                <a:solidFill>
                  <a:srgbClr val="000066"/>
                </a:solidFill>
                <a:latin typeface="Lucida Sans Unicode" pitchFamily="34" charset="0"/>
              </a:rPr>
              <a:t> in the upper stratosphere </a:t>
            </a:r>
          </a:p>
          <a:p>
            <a:pPr marL="360363" lvl="1" indent="-171450">
              <a:lnSpc>
                <a:spcPct val="110000"/>
              </a:lnSpc>
              <a:buFontTx/>
              <a:buChar char="•"/>
            </a:pPr>
            <a:r>
              <a:rPr lang="en-US" sz="1600" dirty="0">
                <a:solidFill>
                  <a:srgbClr val="000066"/>
                </a:solidFill>
                <a:latin typeface="Lucida Sans Unicode" pitchFamily="34" charset="0"/>
              </a:rPr>
              <a:t>high concentration of ozone</a:t>
            </a:r>
          </a:p>
          <a:p>
            <a:pPr marL="360363" lvl="1" indent="-171450">
              <a:lnSpc>
                <a:spcPct val="110000"/>
              </a:lnSpc>
              <a:buFontTx/>
              <a:buChar char="•"/>
            </a:pPr>
            <a:r>
              <a:rPr lang="en-US" sz="1600" dirty="0">
                <a:solidFill>
                  <a:srgbClr val="000066"/>
                </a:solidFill>
                <a:latin typeface="Lucida Sans Unicode" pitchFamily="34" charset="0"/>
              </a:rPr>
              <a:t>warm: absorbs UV radiation from the Sun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endParaRPr lang="en-US" sz="1600" dirty="0">
              <a:solidFill>
                <a:srgbClr val="000066"/>
              </a:solidFill>
              <a:latin typeface="Lucida Sans Unicode" pitchFamily="34" charset="0"/>
            </a:endParaRPr>
          </a:p>
          <a:p>
            <a:pPr marL="176213" indent="-176213">
              <a:lnSpc>
                <a:spcPct val="110000"/>
              </a:lnSpc>
            </a:pPr>
            <a:r>
              <a:rPr lang="en-US" sz="1600" b="1" dirty="0">
                <a:solidFill>
                  <a:srgbClr val="000066"/>
                </a:solidFill>
                <a:latin typeface="Lucida Sans Unicode" pitchFamily="34" charset="0"/>
              </a:rPr>
              <a:t>Ionosphere </a:t>
            </a:r>
          </a:p>
          <a:p>
            <a:pPr marL="176213" indent="-176213">
              <a:lnSpc>
                <a:spcPct val="110000"/>
              </a:lnSpc>
              <a:buFontTx/>
              <a:buChar char="•"/>
            </a:pPr>
            <a:r>
              <a:rPr lang="en-US" sz="1600" dirty="0">
                <a:solidFill>
                  <a:srgbClr val="000066"/>
                </a:solidFill>
                <a:latin typeface="Lucida Sans Unicode" pitchFamily="34" charset="0"/>
              </a:rPr>
              <a:t>(generally) ionized by solar radiation (∴ aurora) </a:t>
            </a:r>
          </a:p>
          <a:p>
            <a:pPr>
              <a:lnSpc>
                <a:spcPct val="110000"/>
              </a:lnSpc>
            </a:pPr>
            <a:endParaRPr lang="en-US" sz="1600" dirty="0">
              <a:solidFill>
                <a:srgbClr val="000066"/>
              </a:solidFill>
              <a:latin typeface="Lucida Sans Unicode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 rot="1258737">
            <a:off x="7757937" y="3838668"/>
            <a:ext cx="1215397" cy="307777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  <a:latin typeface="Lucida Sans Unicode" pitchFamily="34" charset="0"/>
              </a:rPr>
              <a:t>Ionosphere </a:t>
            </a:r>
            <a:endParaRPr lang="en-GB" dirty="0">
              <a:solidFill>
                <a:srgbClr val="FFFF00"/>
              </a:solidFill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  <a:latin typeface="Lucida Sans Unicode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 rot="597512">
            <a:off x="6591767" y="4368021"/>
            <a:ext cx="1289135" cy="307777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  <a:latin typeface="Lucida Sans Unicode" pitchFamily="34" charset="0"/>
              </a:rPr>
              <a:t>Stratosphere</a:t>
            </a:r>
            <a:endParaRPr lang="en-GB" dirty="0">
              <a:solidFill>
                <a:srgbClr val="FFFF00"/>
              </a:solidFill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  <a:latin typeface="Lucida Sans Unicode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736348" y="4786291"/>
            <a:ext cx="1297150" cy="307777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ucida Sans Unicode" pitchFamily="34" charset="0"/>
              </a:rPr>
              <a:t>Troposphere</a:t>
            </a:r>
            <a:endParaRPr lang="en-GB" dirty="0"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Lucida Sans Unicode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 rot="803101">
            <a:off x="7396123" y="4211302"/>
            <a:ext cx="1231427" cy="307777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  <a:latin typeface="Lucida Sans Unicode" pitchFamily="34" charset="0"/>
              </a:rPr>
              <a:t>Mesosphere</a:t>
            </a:r>
            <a:endParaRPr lang="en-GB" dirty="0">
              <a:solidFill>
                <a:srgbClr val="FFFF00"/>
              </a:solidFill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  <a:latin typeface="Lucida Sans Unicode" pitchFamily="34" charset="0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8316160" y="4197552"/>
            <a:ext cx="587583" cy="144331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7960474" y="4645950"/>
            <a:ext cx="329124" cy="782612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7450642" y="4741332"/>
            <a:ext cx="130644" cy="51046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988493" y="4940179"/>
            <a:ext cx="45005" cy="21175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 rot="1317439">
            <a:off x="7820256" y="4036689"/>
            <a:ext cx="1071127" cy="215444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sz="8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  <a:latin typeface="Lucida Sans Unicode" pitchFamily="34" charset="0"/>
              </a:rPr>
              <a:t>~85km – 1000km</a:t>
            </a:r>
            <a:endParaRPr lang="en-GB" sz="1000" dirty="0">
              <a:solidFill>
                <a:srgbClr val="FFFF00"/>
              </a:solidFill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  <a:latin typeface="Lucida Sans Unicode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 rot="882095">
            <a:off x="7538267" y="4390035"/>
            <a:ext cx="939681" cy="215444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sz="8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  <a:latin typeface="Lucida Sans Unicode" pitchFamily="34" charset="0"/>
              </a:rPr>
              <a:t>~45km – 85km</a:t>
            </a:r>
            <a:endParaRPr lang="en-GB" sz="1000" dirty="0">
              <a:solidFill>
                <a:srgbClr val="FFFF00"/>
              </a:solidFill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  <a:latin typeface="Lucida Sans Unicode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 rot="508085">
            <a:off x="6719320" y="4524386"/>
            <a:ext cx="939681" cy="215444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sz="8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  <a:latin typeface="Lucida Sans Unicode" pitchFamily="34" charset="0"/>
              </a:rPr>
              <a:t>~12km – 45km</a:t>
            </a:r>
            <a:endParaRPr lang="en-GB" sz="1000" dirty="0">
              <a:solidFill>
                <a:srgbClr val="FFFF00"/>
              </a:solidFill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  <a:latin typeface="Lucida Sans Unicode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37683" y="4994364"/>
            <a:ext cx="670376" cy="215444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sz="8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  <a:latin typeface="Lucida Sans Unicode" pitchFamily="34" charset="0"/>
              </a:rPr>
              <a:t>to ~12km</a:t>
            </a:r>
            <a:endParaRPr lang="en-GB" sz="1000" dirty="0">
              <a:solidFill>
                <a:srgbClr val="FFFF00"/>
              </a:solidFill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1493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0" y="-17748"/>
            <a:ext cx="9144001" cy="6867128"/>
          </a:xfrm>
          <a:prstGeom prst="rect">
            <a:avLst/>
          </a:prstGeom>
          <a:gradFill rotWithShape="1">
            <a:gsLst>
              <a:gs pos="8000">
                <a:schemeClr val="tx2">
                  <a:lumMod val="50000"/>
                </a:schemeClr>
              </a:gs>
              <a:gs pos="68000">
                <a:srgbClr val="00B0F0"/>
              </a:gs>
            </a:gsLst>
            <a:lin ang="540000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-828600" y="2618910"/>
            <a:ext cx="10820401" cy="7298553"/>
            <a:chOff x="-423" y="1741"/>
            <a:chExt cx="6816" cy="3677"/>
          </a:xfrm>
        </p:grpSpPr>
        <p:pic>
          <p:nvPicPr>
            <p:cNvPr id="4" name="Picture 6" descr="atmos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53" y="3292"/>
              <a:ext cx="1861" cy="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AutoShape 7"/>
            <p:cNvSpPr>
              <a:spLocks noChangeArrowheads="1"/>
            </p:cNvSpPr>
            <p:nvPr/>
          </p:nvSpPr>
          <p:spPr bwMode="auto">
            <a:xfrm>
              <a:off x="581" y="2797"/>
              <a:ext cx="4759" cy="2621"/>
            </a:xfrm>
            <a:custGeom>
              <a:avLst/>
              <a:gdLst>
                <a:gd name="T0" fmla="*/ 25 w 21600"/>
                <a:gd name="T1" fmla="*/ 0 h 21600"/>
                <a:gd name="T2" fmla="*/ 13 w 21600"/>
                <a:gd name="T3" fmla="*/ 0 h 21600"/>
                <a:gd name="T4" fmla="*/ 25 w 21600"/>
                <a:gd name="T5" fmla="*/ 0 h 21600"/>
                <a:gd name="T6" fmla="*/ 38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95 w 21600"/>
                <a:gd name="T13" fmla="*/ 0 h 21600"/>
                <a:gd name="T14" fmla="*/ 18205 w 21600"/>
                <a:gd name="T15" fmla="*/ 369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4" y="2522"/>
                  </a:moveTo>
                  <a:cubicBezTo>
                    <a:pt x="7176" y="1551"/>
                    <a:pt x="8969" y="1036"/>
                    <a:pt x="10800" y="1037"/>
                  </a:cubicBezTo>
                  <a:cubicBezTo>
                    <a:pt x="12630" y="1037"/>
                    <a:pt x="14423" y="1551"/>
                    <a:pt x="15975" y="2522"/>
                  </a:cubicBezTo>
                  <a:lnTo>
                    <a:pt x="16525" y="1642"/>
                  </a:lnTo>
                  <a:cubicBezTo>
                    <a:pt x="14808" y="569"/>
                    <a:pt x="12824" y="-1"/>
                    <a:pt x="10799" y="0"/>
                  </a:cubicBezTo>
                  <a:cubicBezTo>
                    <a:pt x="8775" y="0"/>
                    <a:pt x="6791" y="569"/>
                    <a:pt x="5074" y="1642"/>
                  </a:cubicBezTo>
                  <a:close/>
                </a:path>
              </a:pathLst>
            </a:custGeom>
            <a:gradFill rotWithShape="1">
              <a:gsLst>
                <a:gs pos="0">
                  <a:schemeClr val="hlink"/>
                </a:gs>
                <a:gs pos="100000">
                  <a:schemeClr val="bg2">
                    <a:alpha val="89998"/>
                  </a:schemeClr>
                </a:gs>
              </a:gsLst>
              <a:lin ang="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6" name="AutoShape 8"/>
            <p:cNvSpPr>
              <a:spLocks noChangeArrowheads="1"/>
            </p:cNvSpPr>
            <p:nvPr/>
          </p:nvSpPr>
          <p:spPr bwMode="auto">
            <a:xfrm>
              <a:off x="417" y="2324"/>
              <a:ext cx="5116" cy="2676"/>
            </a:xfrm>
            <a:custGeom>
              <a:avLst/>
              <a:gdLst>
                <a:gd name="T0" fmla="*/ 34 w 21600"/>
                <a:gd name="T1" fmla="*/ 0 h 21600"/>
                <a:gd name="T2" fmla="*/ 14 w 21600"/>
                <a:gd name="T3" fmla="*/ 1 h 21600"/>
                <a:gd name="T4" fmla="*/ 34 w 21600"/>
                <a:gd name="T5" fmla="*/ 0 h 21600"/>
                <a:gd name="T6" fmla="*/ 54 w 21600"/>
                <a:gd name="T7" fmla="*/ 1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369 w 21600"/>
                <a:gd name="T13" fmla="*/ 0 h 21600"/>
                <a:gd name="T14" fmla="*/ 19231 w 21600"/>
                <a:gd name="T15" fmla="*/ 482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4737" y="3414"/>
                  </a:moveTo>
                  <a:cubicBezTo>
                    <a:pt x="6446" y="2011"/>
                    <a:pt x="8589" y="1244"/>
                    <a:pt x="10800" y="1245"/>
                  </a:cubicBezTo>
                  <a:cubicBezTo>
                    <a:pt x="13010" y="1245"/>
                    <a:pt x="15153" y="2011"/>
                    <a:pt x="16862" y="3414"/>
                  </a:cubicBezTo>
                  <a:lnTo>
                    <a:pt x="17652" y="2452"/>
                  </a:lnTo>
                  <a:cubicBezTo>
                    <a:pt x="15720" y="866"/>
                    <a:pt x="13299" y="-1"/>
                    <a:pt x="10799" y="0"/>
                  </a:cubicBezTo>
                  <a:cubicBezTo>
                    <a:pt x="8300" y="0"/>
                    <a:pt x="5879" y="866"/>
                    <a:pt x="3947" y="2452"/>
                  </a:cubicBezTo>
                  <a:close/>
                </a:path>
              </a:pathLst>
            </a:custGeom>
            <a:gradFill rotWithShape="1">
              <a:gsLst>
                <a:gs pos="0">
                  <a:schemeClr val="hlink">
                    <a:alpha val="89998"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7" name="AutoShape 9"/>
            <p:cNvSpPr>
              <a:spLocks noChangeArrowheads="1"/>
            </p:cNvSpPr>
            <p:nvPr/>
          </p:nvSpPr>
          <p:spPr bwMode="auto">
            <a:xfrm>
              <a:off x="-423" y="1904"/>
              <a:ext cx="6816" cy="2882"/>
            </a:xfrm>
            <a:custGeom>
              <a:avLst/>
              <a:gdLst>
                <a:gd name="T0" fmla="*/ 107 w 21600"/>
                <a:gd name="T1" fmla="*/ 0 h 21600"/>
                <a:gd name="T2" fmla="*/ 43 w 21600"/>
                <a:gd name="T3" fmla="*/ 1 h 21600"/>
                <a:gd name="T4" fmla="*/ 107 w 21600"/>
                <a:gd name="T5" fmla="*/ 0 h 21600"/>
                <a:gd name="T6" fmla="*/ 171 w 21600"/>
                <a:gd name="T7" fmla="*/ 1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364 w 21600"/>
                <a:gd name="T13" fmla="*/ 0 h 21600"/>
                <a:gd name="T14" fmla="*/ 19236 w 21600"/>
                <a:gd name="T15" fmla="*/ 48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4719" y="3403"/>
                  </a:moveTo>
                  <a:cubicBezTo>
                    <a:pt x="6432" y="1995"/>
                    <a:pt x="8582" y="1224"/>
                    <a:pt x="10800" y="1225"/>
                  </a:cubicBezTo>
                  <a:cubicBezTo>
                    <a:pt x="13017" y="1225"/>
                    <a:pt x="15167" y="1995"/>
                    <a:pt x="16880" y="3403"/>
                  </a:cubicBezTo>
                  <a:lnTo>
                    <a:pt x="17658" y="2457"/>
                  </a:lnTo>
                  <a:cubicBezTo>
                    <a:pt x="15725" y="868"/>
                    <a:pt x="13301" y="-1"/>
                    <a:pt x="10799" y="0"/>
                  </a:cubicBezTo>
                  <a:cubicBezTo>
                    <a:pt x="8298" y="0"/>
                    <a:pt x="5874" y="868"/>
                    <a:pt x="3941" y="2457"/>
                  </a:cubicBezTo>
                  <a:close/>
                </a:path>
              </a:pathLst>
            </a:custGeom>
            <a:gradFill rotWithShape="1">
              <a:gsLst>
                <a:gs pos="0">
                  <a:schemeClr val="hlink">
                    <a:alpha val="89998"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 flipV="1">
              <a:off x="2626" y="2900"/>
              <a:ext cx="453" cy="254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V="1">
              <a:off x="2297" y="2488"/>
              <a:ext cx="713" cy="693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3017" y="2488"/>
              <a:ext cx="528" cy="85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 flipV="1">
              <a:off x="2071" y="2015"/>
              <a:ext cx="919" cy="1345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>
              <a:off x="2997" y="2015"/>
              <a:ext cx="714" cy="1385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 flipV="1">
              <a:off x="1845" y="1768"/>
              <a:ext cx="747" cy="17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1025" y="3345"/>
              <a:ext cx="1100" cy="36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Transmitter antennae</a:t>
              </a:r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 rot="19258751">
              <a:off x="2210" y="3438"/>
              <a:ext cx="680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400" b="1" dirty="0">
                  <a:solidFill>
                    <a:srgbClr val="FFFF00"/>
                  </a:solidFill>
                  <a:latin typeface="Lucida Sans Unicode" pitchFamily="34" charset="0"/>
                </a:rPr>
                <a:t>increasing</a:t>
              </a:r>
            </a:p>
            <a:p>
              <a:r>
                <a:rPr lang="en-GB" sz="1400" b="1" dirty="0">
                  <a:solidFill>
                    <a:srgbClr val="FFFF00"/>
                  </a:solidFill>
                  <a:latin typeface="Lucida Sans Unicode" pitchFamily="34" charset="0"/>
                </a:rPr>
                <a:t>frequency</a:t>
              </a:r>
            </a:p>
          </p:txBody>
        </p:sp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607" y="2702"/>
              <a:ext cx="1100" cy="36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600" b="1" dirty="0">
                  <a:latin typeface="Lucida Sans Unicode" pitchFamily="34" charset="0"/>
                </a:rPr>
                <a:t>Ionosphere layers</a:t>
              </a:r>
            </a:p>
          </p:txBody>
        </p:sp>
        <p:sp>
          <p:nvSpPr>
            <p:cNvPr id="17" name="Text Box 19"/>
            <p:cNvSpPr txBox="1">
              <a:spLocks noChangeArrowheads="1"/>
            </p:cNvSpPr>
            <p:nvPr/>
          </p:nvSpPr>
          <p:spPr bwMode="auto">
            <a:xfrm>
              <a:off x="4290" y="2838"/>
              <a:ext cx="1100" cy="98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600" dirty="0">
                  <a:latin typeface="Lucida Sans Unicode" pitchFamily="34" charset="0"/>
                </a:rPr>
                <a:t>signals can “bounce” off the ionosphere and reach further round the earth</a:t>
              </a:r>
            </a:p>
          </p:txBody>
        </p:sp>
        <p:sp>
          <p:nvSpPr>
            <p:cNvPr id="18" name="AutoShape 20"/>
            <p:cNvSpPr>
              <a:spLocks noChangeArrowheads="1"/>
            </p:cNvSpPr>
            <p:nvPr/>
          </p:nvSpPr>
          <p:spPr bwMode="auto">
            <a:xfrm rot="-3010918">
              <a:off x="1880" y="3517"/>
              <a:ext cx="109" cy="288"/>
            </a:xfrm>
            <a:prstGeom prst="triangle">
              <a:avLst>
                <a:gd name="adj" fmla="val 50458"/>
              </a:avLst>
            </a:prstGeom>
            <a:solidFill>
              <a:srgbClr val="B2B2B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19" name="AutoShape 21"/>
            <p:cNvSpPr>
              <a:spLocks noChangeArrowheads="1"/>
            </p:cNvSpPr>
            <p:nvPr/>
          </p:nvSpPr>
          <p:spPr bwMode="auto">
            <a:xfrm rot="-2401700">
              <a:off x="2059" y="3325"/>
              <a:ext cx="109" cy="288"/>
            </a:xfrm>
            <a:prstGeom prst="triangle">
              <a:avLst>
                <a:gd name="adj" fmla="val 50458"/>
              </a:avLst>
            </a:prstGeom>
            <a:solidFill>
              <a:srgbClr val="B2B2B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0" name="AutoShape 22"/>
            <p:cNvSpPr>
              <a:spLocks noChangeArrowheads="1"/>
            </p:cNvSpPr>
            <p:nvPr/>
          </p:nvSpPr>
          <p:spPr bwMode="auto">
            <a:xfrm rot="-1811652">
              <a:off x="2279" y="3160"/>
              <a:ext cx="109" cy="288"/>
            </a:xfrm>
            <a:prstGeom prst="triangle">
              <a:avLst>
                <a:gd name="adj" fmla="val 50458"/>
              </a:avLst>
            </a:prstGeom>
            <a:solidFill>
              <a:srgbClr val="B2B2B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1" name="AutoShape 23"/>
            <p:cNvSpPr>
              <a:spLocks noChangeArrowheads="1"/>
            </p:cNvSpPr>
            <p:nvPr/>
          </p:nvSpPr>
          <p:spPr bwMode="auto">
            <a:xfrm rot="-1292276">
              <a:off x="2561" y="3071"/>
              <a:ext cx="109" cy="288"/>
            </a:xfrm>
            <a:prstGeom prst="triangle">
              <a:avLst>
                <a:gd name="adj" fmla="val 50458"/>
              </a:avLst>
            </a:prstGeom>
            <a:solidFill>
              <a:srgbClr val="B2B2B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 flipH="1">
              <a:off x="2078" y="3689"/>
              <a:ext cx="178" cy="172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 flipV="1">
              <a:off x="1844" y="1741"/>
              <a:ext cx="756" cy="1832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395288" y="863715"/>
            <a:ext cx="7756525" cy="1292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/>
            <a:r>
              <a:rPr lang="en-GB" sz="1600" b="1" dirty="0">
                <a:solidFill>
                  <a:srgbClr val="FFFF00"/>
                </a:solidFill>
                <a:latin typeface="Lucida Sans Unicode" pitchFamily="34" charset="0"/>
              </a:rPr>
              <a:t>Refraction </a:t>
            </a:r>
          </a:p>
          <a:p>
            <a:pPr marL="174625" indent="-174625">
              <a:buFontTx/>
              <a:buChar char="•"/>
            </a:pPr>
            <a:r>
              <a:rPr lang="en-GB" sz="1600" dirty="0">
                <a:solidFill>
                  <a:srgbClr val="FFFF00"/>
                </a:solidFill>
                <a:latin typeface="Lucida Sans Unicode" pitchFamily="34" charset="0"/>
              </a:rPr>
              <a:t>bending of waves passing through different media (air or ionosphere) </a:t>
            </a:r>
          </a:p>
          <a:p>
            <a:pPr marL="174625" indent="-174625">
              <a:buFontTx/>
              <a:buChar char="•"/>
            </a:pPr>
            <a:r>
              <a:rPr lang="en-GB" sz="1600" dirty="0">
                <a:solidFill>
                  <a:srgbClr val="FFFF00"/>
                </a:solidFill>
                <a:latin typeface="Lucida Sans Unicode" pitchFamily="34" charset="0"/>
              </a:rPr>
              <a:t>produces variation in the velocity of waves </a:t>
            </a:r>
          </a:p>
          <a:p>
            <a:pPr marL="174625" indent="-174625">
              <a:buFontTx/>
              <a:buChar char="•"/>
            </a:pPr>
            <a:r>
              <a:rPr lang="en-GB" sz="1600" dirty="0" err="1">
                <a:solidFill>
                  <a:srgbClr val="FFFF00"/>
                </a:solidFill>
                <a:latin typeface="Lucida Sans Unicode" pitchFamily="34" charset="0"/>
              </a:rPr>
              <a:t>Ionospheric</a:t>
            </a:r>
            <a:r>
              <a:rPr lang="en-GB" sz="1600" dirty="0">
                <a:solidFill>
                  <a:srgbClr val="FFFF00"/>
                </a:solidFill>
                <a:latin typeface="Lucida Sans Unicode" pitchFamily="34" charset="0"/>
              </a:rPr>
              <a:t> scatter</a:t>
            </a:r>
          </a:p>
          <a:p>
            <a:pPr lvl="1">
              <a:buFontTx/>
              <a:buChar char="•"/>
            </a:pPr>
            <a:r>
              <a:rPr lang="en-GB" sz="1400">
                <a:solidFill>
                  <a:srgbClr val="FFFF00"/>
                </a:solidFill>
                <a:latin typeface="Lucida Sans Unicode" pitchFamily="34" charset="0"/>
              </a:rPr>
              <a:t> Ionosphere </a:t>
            </a:r>
            <a:r>
              <a:rPr lang="en-GB" sz="1400" dirty="0">
                <a:solidFill>
                  <a:srgbClr val="FFFF00"/>
                </a:solidFill>
                <a:latin typeface="Lucida Sans Unicode" pitchFamily="34" charset="0"/>
              </a:rPr>
              <a:t>– ~80Km – 600Km+ above the earth </a:t>
            </a:r>
          </a:p>
        </p:txBody>
      </p:sp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428625" y="371475"/>
            <a:ext cx="37433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  <a:latin typeface="Lucida Sans Unicode" pitchFamily="34" charset="0"/>
              </a:rPr>
              <a:t>Radio Wave Propagation</a:t>
            </a:r>
          </a:p>
        </p:txBody>
      </p:sp>
    </p:spTree>
    <p:extLst>
      <p:ext uri="{BB962C8B-B14F-4D97-AF65-F5344CB8AC3E}">
        <p14:creationId xmlns:p14="http://schemas.microsoft.com/office/powerpoint/2010/main" val="11413574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428625" y="371475"/>
            <a:ext cx="655339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Radio </a:t>
            </a:r>
            <a:r>
              <a:rPr lang="en-GB" sz="2400" b="1">
                <a:latin typeface="Lucida Sans Unicode" pitchFamily="34" charset="0"/>
              </a:rPr>
              <a:t>Wave Propagation - Localised Issues</a:t>
            </a:r>
            <a:endParaRPr lang="en-GB" sz="2400" b="1" dirty="0">
              <a:latin typeface="Lucida Sans Unicode" pitchFamily="34" charset="0"/>
            </a:endParaRPr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68675" y="2525713"/>
            <a:ext cx="5775325" cy="38242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379413" y="1122363"/>
            <a:ext cx="7102475" cy="155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/>
            <a:r>
              <a:rPr lang="en-GB" sz="1600" b="1" dirty="0">
                <a:latin typeface="Lucida Sans Unicode" pitchFamily="34" charset="0"/>
              </a:rPr>
              <a:t>Diffraction </a:t>
            </a:r>
          </a:p>
          <a:p>
            <a:pPr marL="174625" indent="-174625">
              <a:buFontTx/>
              <a:buChar char="•"/>
            </a:pPr>
            <a:r>
              <a:rPr lang="en-GB" sz="1600" dirty="0">
                <a:latin typeface="Lucida Sans Unicode" pitchFamily="34" charset="0"/>
              </a:rPr>
              <a:t>location is out of sight of transmitter (e.g. - behind a hill) </a:t>
            </a:r>
          </a:p>
          <a:p>
            <a:pPr marL="631825" lvl="1" indent="-174625">
              <a:buFontTx/>
              <a:buChar char="•"/>
            </a:pPr>
            <a:r>
              <a:rPr lang="en-GB" sz="1600" dirty="0">
                <a:latin typeface="Lucida Sans Unicode" pitchFamily="34" charset="0"/>
              </a:rPr>
              <a:t>can receive transmissions (but reduced) </a:t>
            </a:r>
          </a:p>
          <a:p>
            <a:pPr marL="631825" lvl="1" indent="-174625">
              <a:buFontTx/>
              <a:buChar char="•"/>
            </a:pPr>
            <a:endParaRPr lang="en-GB" sz="1600" dirty="0">
              <a:latin typeface="Lucida Sans Unicode" pitchFamily="34" charset="0"/>
            </a:endParaRPr>
          </a:p>
          <a:p>
            <a:pPr marL="174625" indent="-174625">
              <a:buFontTx/>
              <a:buChar char="•"/>
            </a:pPr>
            <a:r>
              <a:rPr lang="en-GB" sz="1600" dirty="0">
                <a:latin typeface="Lucida Sans Unicode" pitchFamily="34" charset="0"/>
              </a:rPr>
              <a:t>(although HF will more likely reach due to refraction or reflection in the upper atmosphere)</a:t>
            </a:r>
          </a:p>
        </p:txBody>
      </p:sp>
    </p:spTree>
    <p:extLst>
      <p:ext uri="{BB962C8B-B14F-4D97-AF65-F5344CB8AC3E}">
        <p14:creationId xmlns:p14="http://schemas.microsoft.com/office/powerpoint/2010/main" val="1529120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"/>
          <p:cNvSpPr txBox="1">
            <a:spLocks noChangeArrowheads="1"/>
          </p:cNvSpPr>
          <p:nvPr/>
        </p:nvSpPr>
        <p:spPr bwMode="auto">
          <a:xfrm>
            <a:off x="428625" y="323655"/>
            <a:ext cx="37433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Radio Wave Propagation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95288" y="892175"/>
            <a:ext cx="7737475" cy="28019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358775" algn="l"/>
              </a:tabLst>
              <a:defRPr/>
            </a:pPr>
            <a:r>
              <a:rPr lang="en-GB" sz="1600" b="1" dirty="0">
                <a:latin typeface="Lucida Sans Unicode" pitchFamily="34" charset="0"/>
              </a:rPr>
              <a:t>Reflection </a:t>
            </a:r>
          </a:p>
          <a:p>
            <a:pPr marL="180975" indent="-180975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similar to light</a:t>
            </a:r>
          </a:p>
          <a:p>
            <a:pPr marL="180975" indent="-180975">
              <a:buFontTx/>
              <a:buChar char="•"/>
              <a:tabLst>
                <a:tab pos="358775" algn="l"/>
              </a:tabLst>
              <a:defRPr/>
            </a:pPr>
            <a:endParaRPr lang="en-GB" sz="1600" dirty="0">
              <a:latin typeface="Lucida Sans Unicode" pitchFamily="34" charset="0"/>
            </a:endParaRPr>
          </a:p>
          <a:p>
            <a:pPr marL="180975" indent="-180975">
              <a:tabLst>
                <a:tab pos="358775" algn="l"/>
              </a:tabLst>
              <a:defRPr/>
            </a:pPr>
            <a:r>
              <a:rPr lang="en-GB" sz="1600" u="sng" dirty="0">
                <a:latin typeface="Lucida Sans Unicode" pitchFamily="34" charset="0"/>
              </a:rPr>
              <a:t>for long wavelengths</a:t>
            </a:r>
            <a:r>
              <a:rPr lang="en-GB" sz="1600" dirty="0">
                <a:latin typeface="Lucida Sans Unicode" pitchFamily="34" charset="0"/>
              </a:rPr>
              <a:t> (80m+)</a:t>
            </a:r>
          </a:p>
          <a:p>
            <a:pPr marL="180975" indent="-180975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small obstacles (cars, trees) have little effect</a:t>
            </a:r>
          </a:p>
          <a:p>
            <a:pPr marL="627063" lvl="1" indent="-169863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objects small compared to the wavelength, can't reflect the energy</a:t>
            </a:r>
          </a:p>
          <a:p>
            <a:pPr marL="627063" lvl="1" indent="-169863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long waves are reflected by the ground ... but also penetrate </a:t>
            </a:r>
          </a:p>
          <a:p>
            <a:pPr lvl="1">
              <a:buFontTx/>
              <a:buChar char="•"/>
              <a:tabLst>
                <a:tab pos="358775" algn="l"/>
              </a:tabLst>
              <a:defRPr/>
            </a:pPr>
            <a:endParaRPr lang="en-GB" sz="1600" dirty="0">
              <a:latin typeface="Lucida Sans Unicode" pitchFamily="34" charset="0"/>
            </a:endParaRPr>
          </a:p>
          <a:p>
            <a:pPr>
              <a:tabLst>
                <a:tab pos="358775" algn="l"/>
              </a:tabLst>
              <a:defRPr/>
            </a:pPr>
            <a:r>
              <a:rPr lang="en-GB" sz="1600" u="sng" dirty="0">
                <a:latin typeface="Lucida Sans Unicode" pitchFamily="34" charset="0"/>
              </a:rPr>
              <a:t>short wavelengths </a:t>
            </a:r>
            <a:r>
              <a:rPr lang="en-GB" sz="1600" dirty="0">
                <a:latin typeface="Lucida Sans Unicode" pitchFamily="34" charset="0"/>
              </a:rPr>
              <a:t>- V/UHF waves (2m - 70cm) </a:t>
            </a:r>
          </a:p>
          <a:p>
            <a:pPr marL="180975" indent="-180975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very sensitive to small obstacles</a:t>
            </a:r>
          </a:p>
          <a:p>
            <a:pPr marL="180975" indent="-180975">
              <a:buFont typeface="Arial" pitchFamily="34" charset="0"/>
              <a:buChar char="•"/>
              <a:tabLst>
                <a:tab pos="358775" algn="l"/>
              </a:tabLst>
              <a:defRPr/>
            </a:pPr>
            <a:r>
              <a:rPr lang="en-GB" sz="1600" dirty="0">
                <a:latin typeface="Lucida Sans Unicode" pitchFamily="34" charset="0"/>
              </a:rPr>
              <a:t>metal objects can be used as reflectors </a:t>
            </a:r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27525" y="3590925"/>
            <a:ext cx="4816475" cy="282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39738" y="4508500"/>
            <a:ext cx="397576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400" dirty="0">
                <a:latin typeface="Lucida Sans Unicode" pitchFamily="34" charset="0"/>
              </a:rPr>
              <a:t>Reflections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400" dirty="0">
                <a:latin typeface="Lucida Sans Unicode" pitchFamily="34" charset="0"/>
              </a:rPr>
              <a:t>e.g. </a:t>
            </a:r>
            <a:r>
              <a:rPr lang="en-GB" sz="1400" dirty="0" err="1">
                <a:latin typeface="Lucida Sans Unicode" pitchFamily="34" charset="0"/>
              </a:rPr>
              <a:t>wi-fi</a:t>
            </a:r>
            <a:r>
              <a:rPr lang="en-GB" sz="1400" dirty="0">
                <a:latin typeface="Lucida Sans Unicode" pitchFamily="34" charset="0"/>
              </a:rPr>
              <a:t> in metal framed buildings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400" dirty="0">
                <a:latin typeface="Lucida Sans Unicode" pitchFamily="34" charset="0"/>
              </a:rPr>
              <a:t>radio waves reflect and interact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1400" dirty="0">
                <a:latin typeface="Lucida Sans Unicode" pitchFamily="34" charset="0"/>
              </a:rPr>
              <a:t>could cause stronger or weaker reception</a:t>
            </a:r>
            <a:endParaRPr lang="en-US" sz="1400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0201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3700" y="832869"/>
            <a:ext cx="6700838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Lucida Sans Unicode" pitchFamily="34" charset="0"/>
              </a:rPr>
              <a:t>Years ago - </a:t>
            </a:r>
            <a:r>
              <a:rPr lang="en-US" sz="1600" dirty="0" err="1">
                <a:latin typeface="Lucida Sans Unicode" pitchFamily="34" charset="0"/>
              </a:rPr>
              <a:t>tetrode</a:t>
            </a:r>
            <a:r>
              <a:rPr lang="en-US" sz="1600" dirty="0">
                <a:latin typeface="Lucida Sans Unicode" pitchFamily="34" charset="0"/>
              </a:rPr>
              <a:t> and pentode valves mainly used on V.H.F. and U.H.F. </a:t>
            </a:r>
          </a:p>
          <a:p>
            <a:endParaRPr lang="en-US" sz="1600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US" sz="1600" dirty="0">
                <a:latin typeface="Lucida Sans Unicode" pitchFamily="34" charset="0"/>
              </a:rPr>
              <a:t>Over years, broadcast on higher frequencies - dimensions of the electrodes decreased in order to reduce their effect on the tuned circuits</a:t>
            </a:r>
          </a:p>
          <a:p>
            <a:pPr marL="180975" indent="-180975"/>
            <a:r>
              <a:rPr lang="en-US" sz="1600" dirty="0">
                <a:latin typeface="Lucida Sans Unicode"/>
                <a:cs typeface="Lucida Sans Unicode"/>
              </a:rPr>
              <a:t>	∴ </a:t>
            </a:r>
            <a:r>
              <a:rPr lang="en-US" sz="1600" dirty="0">
                <a:latin typeface="Lucida Sans Unicode" pitchFamily="34" charset="0"/>
              </a:rPr>
              <a:t>reduction in power 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600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US" sz="1600" dirty="0">
                <a:latin typeface="Lucida Sans Unicode" pitchFamily="34" charset="0"/>
              </a:rPr>
              <a:t>Magnetron developed, </a:t>
            </a:r>
          </a:p>
          <a:p>
            <a:r>
              <a:rPr lang="en-US" sz="1600" dirty="0">
                <a:latin typeface="Lucida Sans Unicode" pitchFamily="34" charset="0"/>
              </a:rPr>
              <a:t>	then klystron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600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</a:pPr>
            <a:endParaRPr lang="en-US" sz="1600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</a:pPr>
            <a:endParaRPr lang="en-US" sz="1600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</a:pPr>
            <a:endParaRPr lang="en-US" sz="1600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US" sz="1600" dirty="0">
                <a:latin typeface="Lucida Sans Unicode" pitchFamily="34" charset="0"/>
              </a:rPr>
              <a:t>Now – more efficient Inductive Output Tubes (IOT) or </a:t>
            </a:r>
            <a:r>
              <a:rPr lang="en-US" sz="1600" dirty="0" err="1">
                <a:latin typeface="Lucida Sans Unicode" pitchFamily="34" charset="0"/>
              </a:rPr>
              <a:t>Klystrdes</a:t>
            </a:r>
            <a:r>
              <a:rPr lang="en-US" sz="1600" dirty="0">
                <a:latin typeface="Lucida Sans Unicode" pitchFamily="34" charset="0"/>
              </a:rPr>
              <a:t> (right)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capable of producing power output up to about 30 kW continuous and 7 MW pulsed and gains of 20 - 23 dB at frequencies up to about a GHz</a:t>
            </a:r>
            <a:endParaRPr lang="en-US" sz="1600" dirty="0">
              <a:latin typeface="Lucida Sans Unicode" pitchFamily="34" charset="0"/>
            </a:endParaRPr>
          </a:p>
        </p:txBody>
      </p:sp>
      <p:pic>
        <p:nvPicPr>
          <p:cNvPr id="79876" name="Picture 4" descr="File:IO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4075" y="673100"/>
            <a:ext cx="1533525" cy="5695950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395288" y="331788"/>
            <a:ext cx="541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Broadcast Output Power Stages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93700" y="5757294"/>
            <a:ext cx="4133295" cy="767571"/>
            <a:chOff x="393005" y="5490974"/>
            <a:chExt cx="5941120" cy="767571"/>
          </a:xfrm>
          <a:solidFill>
            <a:schemeClr val="accent2"/>
          </a:solidFill>
        </p:grpSpPr>
        <p:sp>
          <p:nvSpPr>
            <p:cNvPr id="5" name="Rectangle 4"/>
            <p:cNvSpPr/>
            <p:nvPr/>
          </p:nvSpPr>
          <p:spPr>
            <a:xfrm>
              <a:off x="395288" y="5595600"/>
              <a:ext cx="4572000" cy="184666"/>
            </a:xfrm>
            <a:prstGeom prst="rect">
              <a:avLst/>
            </a:prstGeom>
            <a:grpFill/>
          </p:spPr>
          <p:txBody>
            <a:bodyPr>
              <a:spAutoFit/>
            </a:bodyPr>
            <a:lstStyle/>
            <a:p>
              <a:r>
                <a:rPr lang="en-GB" sz="600" dirty="0">
                  <a:latin typeface="Lucida Sans Unicode" pitchFamily="34" charset="0"/>
                  <a:hlinkClick r:id="rId3"/>
                </a:rPr>
                <a:t>http://www.thevalvepage.com/valvetek/uhfvalve/uhfvalve.htm</a:t>
              </a:r>
              <a:r>
                <a:rPr lang="en-GB" sz="600" dirty="0">
                  <a:latin typeface="Lucida Sans Unicode" pitchFamily="34" charset="0"/>
                </a:rPr>
                <a:t> 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95288" y="5845586"/>
              <a:ext cx="4981575" cy="18466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GB" sz="600" dirty="0">
                  <a:latin typeface="Lucida Sans Unicode" pitchFamily="34" charset="0"/>
                  <a:hlinkClick r:id="rId4"/>
                </a:rPr>
                <a:t>http://steveblank.com/category/secret-history-of-silicon-valley/page/2/</a:t>
              </a:r>
              <a:r>
                <a:rPr lang="en-GB" sz="600" dirty="0">
                  <a:latin typeface="Lucida Sans Unicode" pitchFamily="34" charset="0"/>
                </a:rPr>
                <a:t> 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93005" y="5720987"/>
              <a:ext cx="4800599" cy="18466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GB" sz="600" dirty="0">
                  <a:latin typeface="Lucida Sans Unicode" pitchFamily="34" charset="0"/>
                  <a:hlinkClick r:id="rId5"/>
                </a:rPr>
                <a:t>http://www.lbl.gov/MicroWorlds/ALSTool/ALS_Components/RFSystem/</a:t>
              </a:r>
              <a:r>
                <a:rPr lang="en-GB" sz="600" dirty="0">
                  <a:latin typeface="Lucida Sans Unicode" pitchFamily="34" charset="0"/>
                </a:rPr>
                <a:t> 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5288" y="5949280"/>
              <a:ext cx="5938837" cy="18466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GB" sz="600" dirty="0">
                  <a:latin typeface="Lucida Sans Unicode" pitchFamily="34" charset="0"/>
                  <a:hlinkClick r:id="rId6"/>
                </a:rPr>
                <a:t>http://www.theonlineengineer.org/TheOLEBLOG/how-iots-work-a-tutorial-2/</a:t>
              </a:r>
              <a:r>
                <a:rPr lang="en-GB" sz="600" dirty="0">
                  <a:latin typeface="Lucida Sans Unicode" pitchFamily="34" charset="0"/>
                </a:rPr>
                <a:t> </a:t>
              </a:r>
            </a:p>
          </p:txBody>
        </p:sp>
        <p:sp>
          <p:nvSpPr>
            <p:cNvPr id="2" name="Rectangle 1"/>
            <p:cNvSpPr/>
            <p:nvPr/>
          </p:nvSpPr>
          <p:spPr>
            <a:xfrm>
              <a:off x="395288" y="5490974"/>
              <a:ext cx="4572000" cy="184666"/>
            </a:xfrm>
            <a:prstGeom prst="rect">
              <a:avLst/>
            </a:prstGeom>
            <a:grpFill/>
          </p:spPr>
          <p:txBody>
            <a:bodyPr>
              <a:spAutoFit/>
            </a:bodyPr>
            <a:lstStyle/>
            <a:p>
              <a:r>
                <a:rPr lang="en-GB" sz="600" dirty="0">
                  <a:latin typeface="Lucida Sans Unicode" pitchFamily="34" charset="0"/>
                  <a:hlinkClick r:id="rId7"/>
                </a:rPr>
                <a:t>http://www.theonlineengineer.org/TheOLEBLOG/radio-waves-a-tutorial/</a:t>
              </a:r>
              <a:r>
                <a:rPr lang="en-GB" sz="600" dirty="0">
                  <a:latin typeface="Lucida Sans Unicode" pitchFamily="34" charset="0"/>
                </a:rPr>
                <a:t> 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393005" y="6073879"/>
              <a:ext cx="4572000" cy="184666"/>
            </a:xfrm>
            <a:prstGeom prst="rect">
              <a:avLst/>
            </a:prstGeom>
            <a:grpFill/>
          </p:spPr>
          <p:txBody>
            <a:bodyPr>
              <a:spAutoFit/>
            </a:bodyPr>
            <a:lstStyle/>
            <a:p>
              <a:r>
                <a:rPr lang="en-GB" sz="600" dirty="0">
                  <a:latin typeface="Lucida Sans Unicode" pitchFamily="34" charset="0"/>
                  <a:hlinkClick r:id="rId8"/>
                </a:rPr>
                <a:t>http://www.youtube.com/watch?feature=player_embedded&amp;v=ecxKfZ3ATwg</a:t>
              </a:r>
              <a:r>
                <a:rPr lang="en-GB" sz="600" dirty="0">
                  <a:latin typeface="Lucida Sans Unicode" pitchFamily="34" charset="0"/>
                </a:rPr>
                <a:t> </a:t>
              </a:r>
            </a:p>
          </p:txBody>
        </p:sp>
      </p:grp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589" y="2502041"/>
            <a:ext cx="4240221" cy="1807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32195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http://cdn.recombu.com/digital/1.91/images/news/M10191/191_w67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96343" y="-1"/>
            <a:ext cx="5747657" cy="4315032"/>
          </a:xfrm>
          <a:prstGeom prst="rect">
            <a:avLst/>
          </a:prstGeom>
          <a:noFill/>
        </p:spPr>
      </p:pic>
      <p:pic>
        <p:nvPicPr>
          <p:cNvPr id="97282" name="Picture 2" descr="File:WDET-FM transmitte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93547" y="3670160"/>
            <a:ext cx="4250453" cy="3187840"/>
          </a:xfrm>
          <a:prstGeom prst="rect">
            <a:avLst/>
          </a:prstGeom>
          <a:noFill/>
        </p:spPr>
      </p:pic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1" y="2910520"/>
            <a:ext cx="3848519" cy="3947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95287" y="331788"/>
            <a:ext cx="3413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Broadcast </a:t>
            </a:r>
            <a:r>
              <a:rPr lang="en-GB" sz="2400" b="1" dirty="0" err="1">
                <a:latin typeface="Lucida Sans Unicode" pitchFamily="34" charset="0"/>
              </a:rPr>
              <a:t>Headend</a:t>
            </a:r>
            <a:r>
              <a:rPr lang="en-GB" sz="2400" b="1" dirty="0">
                <a:latin typeface="Lucida Sans Unicode" pitchFamily="34" charset="0"/>
              </a:rPr>
              <a:t> Transmitter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288" y="1115368"/>
            <a:ext cx="307139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IOTs – High power devices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Need special management for cooling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Air Conditioned environment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Water-cooled circuits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Safety features</a:t>
            </a:r>
          </a:p>
        </p:txBody>
      </p:sp>
    </p:spTree>
    <p:extLst>
      <p:ext uri="{BB962C8B-B14F-4D97-AF65-F5344CB8AC3E}">
        <p14:creationId xmlns:p14="http://schemas.microsoft.com/office/powerpoint/2010/main" val="37798268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2B2CAF-3C99-430A-B54B-755ED4E01A25}"/>
              </a:ext>
            </a:extLst>
          </p:cNvPr>
          <p:cNvSpPr/>
          <p:nvPr/>
        </p:nvSpPr>
        <p:spPr>
          <a:xfrm>
            <a:off x="0" y="5769260"/>
            <a:ext cx="1880955" cy="600164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GB" sz="1100">
                <a:hlinkClick r:id="rId2"/>
              </a:rPr>
              <a:t>https://www.youtube.com/watch?v=fx0asm1kvRw</a:t>
            </a:r>
            <a:r>
              <a:rPr lang="en-GB" sz="110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3E478-C5E9-44DF-9F12-D374563CE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20" y="1376362"/>
            <a:ext cx="6391275" cy="41052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B7816D-B780-4DD5-89A9-F99D84B11248}"/>
              </a:ext>
            </a:extLst>
          </p:cNvPr>
          <p:cNvSpPr/>
          <p:nvPr/>
        </p:nvSpPr>
        <p:spPr>
          <a:xfrm>
            <a:off x="395288" y="331788"/>
            <a:ext cx="24689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</a:rPr>
              <a:t>How IOTs Work</a:t>
            </a: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17154498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68.media.tumblr.com/3a08f3947b016dbac889a97c1eae06c7/tumblr_noe42t9Xdv1uvcudho1_128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8003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8775" y="2685522"/>
            <a:ext cx="707918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b="1" dirty="0"/>
              <a:t>The Signal Path</a:t>
            </a:r>
            <a:endParaRPr lang="en-GB" sz="7200" dirty="0"/>
          </a:p>
        </p:txBody>
      </p:sp>
    </p:spTree>
    <p:extLst>
      <p:ext uri="{BB962C8B-B14F-4D97-AF65-F5344CB8AC3E}">
        <p14:creationId xmlns:p14="http://schemas.microsoft.com/office/powerpoint/2010/main" val="22983351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ight Arrow 90"/>
          <p:cNvSpPr/>
          <p:nvPr/>
        </p:nvSpPr>
        <p:spPr>
          <a:xfrm rot="18925465">
            <a:off x="7390450" y="934785"/>
            <a:ext cx="720080" cy="324036"/>
          </a:xfrm>
          <a:prstGeom prst="rightArrow">
            <a:avLst>
              <a:gd name="adj1" fmla="val 50000"/>
              <a:gd name="adj2" fmla="val 101063"/>
            </a:avLst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92" name="Right Arrow 91"/>
          <p:cNvSpPr/>
          <p:nvPr/>
        </p:nvSpPr>
        <p:spPr>
          <a:xfrm rot="18925465">
            <a:off x="7786494" y="934786"/>
            <a:ext cx="720080" cy="324036"/>
          </a:xfrm>
          <a:prstGeom prst="rightArrow">
            <a:avLst>
              <a:gd name="adj1" fmla="val 50000"/>
              <a:gd name="adj2" fmla="val 101063"/>
            </a:avLst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316" y="5625245"/>
            <a:ext cx="1504950" cy="414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01670" y="3168871"/>
            <a:ext cx="1080120" cy="743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ACQUISITION</a:t>
            </a: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61811" y="3168871"/>
            <a:ext cx="702078" cy="7532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LOGGING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06915" y="3168871"/>
            <a:ext cx="585065" cy="7532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INGEST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3168871"/>
            <a:ext cx="630070" cy="753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MEDIA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STORE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07115" y="3168871"/>
            <a:ext cx="810090" cy="762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DELIVERY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19972" y="1206653"/>
            <a:ext cx="1152128" cy="5732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PRODUCTION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7115" y="2178761"/>
            <a:ext cx="900100" cy="762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SCHEDULE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CREATION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56765" y="5589240"/>
            <a:ext cx="3530567" cy="5400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200" b="1" dirty="0">
                <a:latin typeface="Lucida Sans Unicode" pitchFamily="34" charset="0"/>
                <a:cs typeface="Lucida Sans Unicode" pitchFamily="34" charset="0"/>
              </a:rPr>
              <a:t>ARCHIVE</a:t>
            </a:r>
            <a:endParaRPr lang="en-GB" sz="105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96236" y="2384884"/>
            <a:ext cx="1125125" cy="15760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AUTOMATION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&amp; PLAYOUT</a:t>
            </a:r>
          </a:p>
          <a:p>
            <a:pPr algn="ctr"/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EPG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CREATION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35307" y="1340768"/>
            <a:ext cx="1017114" cy="7626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CODING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&amp;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MULTIPLEX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7380312" y="5049180"/>
            <a:ext cx="1503167" cy="953206"/>
            <a:chOff x="7362310" y="4689140"/>
            <a:chExt cx="1575175" cy="953206"/>
          </a:xfrm>
        </p:grpSpPr>
        <p:pic>
          <p:nvPicPr>
            <p:cNvPr id="12" name="Picture 40" descr="http://www.clker.com/cliparts/0/P/X/P/D/E/cloud-hi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62310" y="4689140"/>
              <a:ext cx="1575175" cy="953206"/>
            </a:xfrm>
            <a:prstGeom prst="rect">
              <a:avLst/>
            </a:prstGeom>
            <a:noFill/>
          </p:spPr>
        </p:pic>
        <p:sp>
          <p:nvSpPr>
            <p:cNvPr id="13" name="TextBox 12"/>
            <p:cNvSpPr txBox="1"/>
            <p:nvPr/>
          </p:nvSpPr>
          <p:spPr>
            <a:xfrm>
              <a:off x="7632340" y="5049180"/>
              <a:ext cx="1035115" cy="36004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>
                <a:lnSpc>
                  <a:spcPts val="2300"/>
                </a:lnSpc>
              </a:pPr>
              <a:r>
                <a:rPr lang="en-GB" sz="1400" b="1" dirty="0">
                  <a:latin typeface="Lucida Sans Unicode" pitchFamily="34" charset="0"/>
                  <a:cs typeface="Lucida Sans Unicode" pitchFamily="34" charset="0"/>
                </a:rPr>
                <a:t>INTERNET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516216" y="4185084"/>
            <a:ext cx="729078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Streaming</a:t>
            </a:r>
          </a:p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Encoding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6216" y="4860159"/>
            <a:ext cx="729078" cy="573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 err="1">
                <a:latin typeface="Lucida Sans Unicode" pitchFamily="34" charset="0"/>
                <a:cs typeface="Lucida Sans Unicode" pitchFamily="34" charset="0"/>
              </a:rPr>
              <a:t>iPlayer</a:t>
            </a: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</a:t>
            </a:r>
          </a:p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Website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16216" y="5535234"/>
            <a:ext cx="729078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CDN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60332" y="4221088"/>
            <a:ext cx="990110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Live Feeds</a:t>
            </a:r>
          </a:p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Studios</a:t>
            </a:r>
          </a:p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OBs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3700" y="963626"/>
            <a:ext cx="990110" cy="6632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Low end /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Domestic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 /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DSLRs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3700" y="1773716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News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3700" y="2358781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Hi-End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3700" y="2943845"/>
            <a:ext cx="990110" cy="675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Digital 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Cinema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Cameras +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Recorders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3700" y="3753936"/>
            <a:ext cx="990110" cy="5850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Multi-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Camera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Studio / OB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3700" y="4474017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Other 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Material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3700" y="5059081"/>
            <a:ext cx="990110" cy="45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Data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Input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79812" y="2430789"/>
            <a:ext cx="684076" cy="45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Data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Input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27984" y="4302997"/>
            <a:ext cx="1170130" cy="5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Data Store</a:t>
            </a:r>
          </a:p>
          <a:p>
            <a:pPr algn="ctr"/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Database</a:t>
            </a:r>
            <a:endParaRPr lang="en-GB" sz="105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95836" y="95462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Edit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95836" y="131466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Grading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95836" y="167470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Graphics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77145" y="1098641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Effects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77145" y="1458681"/>
            <a:ext cx="855095" cy="360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Audio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Dubbing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376645" y="3393896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6" idx="3"/>
            <a:endCxn id="2" idx="2"/>
          </p:cNvCxnSpPr>
          <p:nvPr/>
        </p:nvCxnSpPr>
        <p:spPr>
          <a:xfrm flipV="1">
            <a:off x="1383810" y="3912834"/>
            <a:ext cx="757920" cy="137127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1367644" y="3906953"/>
            <a:ext cx="538224" cy="9001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376645" y="2538801"/>
            <a:ext cx="270030" cy="63007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376645" y="1953736"/>
            <a:ext cx="540060" cy="121513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" idx="0"/>
          </p:cNvCxnSpPr>
          <p:nvPr/>
        </p:nvCxnSpPr>
        <p:spPr>
          <a:xfrm>
            <a:off x="1376645" y="1278661"/>
            <a:ext cx="765085" cy="189021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1376645" y="1503686"/>
            <a:ext cx="720080" cy="171019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1376645" y="2133756"/>
            <a:ext cx="450050" cy="103511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1376645" y="2718821"/>
            <a:ext cx="225025" cy="49505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1331640" y="3483906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1331640" y="3906953"/>
            <a:ext cx="729081" cy="1278141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1367644" y="3870950"/>
            <a:ext cx="441049" cy="720079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24" idx="3"/>
          </p:cNvCxnSpPr>
          <p:nvPr/>
        </p:nvCxnSpPr>
        <p:spPr>
          <a:xfrm flipV="1">
            <a:off x="1383810" y="3762938"/>
            <a:ext cx="208859" cy="283531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2663788" y="3438901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2645786" y="3528911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6444208" y="3474905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6399203" y="3564915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4355976" y="3510909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5184068" y="3510909"/>
            <a:ext cx="405045" cy="466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27" idx="2"/>
            <a:endCxn id="3" idx="0"/>
          </p:cNvCxnSpPr>
          <p:nvPr/>
        </p:nvCxnSpPr>
        <p:spPr>
          <a:xfrm flipH="1">
            <a:off x="3212850" y="2880839"/>
            <a:ext cx="9000" cy="28803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3572889" y="3474905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3545886" y="3564915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2447764" y="3906953"/>
            <a:ext cx="504056" cy="168228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2555776" y="3906953"/>
            <a:ext cx="521379" cy="1651009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4067944" y="3906953"/>
            <a:ext cx="36004" cy="1718291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3959932" y="3933056"/>
            <a:ext cx="36004" cy="165618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393700" y="329648"/>
            <a:ext cx="7962436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Broadcast and Production Workflow (BBC Schematic)</a:t>
            </a:r>
          </a:p>
          <a:p>
            <a:pPr>
              <a:lnSpc>
                <a:spcPts val="1200"/>
              </a:lnSpc>
            </a:pPr>
            <a:r>
              <a:rPr lang="en-GB" i="1" dirty="0"/>
              <a:t>(review from week 8)</a:t>
            </a:r>
            <a:r>
              <a:rPr lang="en-GB" sz="2400" b="1" dirty="0"/>
              <a:t> </a:t>
            </a:r>
            <a:endParaRPr lang="en-GB" sz="2400" dirty="0"/>
          </a:p>
        </p:txBody>
      </p:sp>
      <p:cxnSp>
        <p:nvCxnSpPr>
          <p:cNvPr id="102" name="Straight Arrow Connector 101"/>
          <p:cNvCxnSpPr/>
          <p:nvPr/>
        </p:nvCxnSpPr>
        <p:spPr>
          <a:xfrm>
            <a:off x="4247964" y="3897052"/>
            <a:ext cx="396044" cy="43204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flipV="1">
            <a:off x="5508104" y="3897052"/>
            <a:ext cx="216024" cy="43204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5400092" y="2564904"/>
            <a:ext cx="0" cy="172819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>
            <a:off x="5292080" y="1772816"/>
            <a:ext cx="0" cy="252028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endCxn id="8" idx="1"/>
          </p:cNvCxnSpPr>
          <p:nvPr/>
        </p:nvCxnSpPr>
        <p:spPr>
          <a:xfrm flipV="1">
            <a:off x="5400092" y="2560073"/>
            <a:ext cx="207023" cy="483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7" idx="2"/>
            <a:endCxn id="5" idx="0"/>
          </p:cNvCxnSpPr>
          <p:nvPr/>
        </p:nvCxnSpPr>
        <p:spPr>
          <a:xfrm flipH="1">
            <a:off x="4887035" y="1779927"/>
            <a:ext cx="9001" cy="1388944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>
            <a:off x="6480212" y="2564904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flipV="1">
            <a:off x="7488324" y="2096852"/>
            <a:ext cx="0" cy="28803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560332" y="2096852"/>
            <a:ext cx="0" cy="288032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>
            <a:off x="7740352" y="3969060"/>
            <a:ext cx="0" cy="252028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4" idx="3"/>
          </p:cNvCxnSpPr>
          <p:nvPr/>
        </p:nvCxnSpPr>
        <p:spPr>
          <a:xfrm flipH="1">
            <a:off x="7245294" y="4471721"/>
            <a:ext cx="297035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04148" y="3933056"/>
            <a:ext cx="0" cy="1656184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5796136" y="3933056"/>
            <a:ext cx="0" cy="165618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6120172" y="5877272"/>
            <a:ext cx="396044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>
            <a:off x="6120172" y="3933056"/>
            <a:ext cx="0" cy="1944216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endCxn id="17" idx="1"/>
          </p:cNvCxnSpPr>
          <p:nvPr/>
        </p:nvCxnSpPr>
        <p:spPr>
          <a:xfrm flipV="1">
            <a:off x="6228184" y="5146796"/>
            <a:ext cx="288032" cy="1039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/>
          <p:cNvCxnSpPr/>
          <p:nvPr/>
        </p:nvCxnSpPr>
        <p:spPr>
          <a:xfrm>
            <a:off x="6228184" y="3933056"/>
            <a:ext cx="0" cy="122413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>
            <a:off x="7209296" y="4653136"/>
            <a:ext cx="675072" cy="648072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>
            <a:stCxn id="18" idx="3"/>
          </p:cNvCxnSpPr>
          <p:nvPr/>
        </p:nvCxnSpPr>
        <p:spPr>
          <a:xfrm flipV="1">
            <a:off x="7245294" y="5733256"/>
            <a:ext cx="279034" cy="8861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>
            <a:stCxn id="17" idx="3"/>
          </p:cNvCxnSpPr>
          <p:nvPr/>
        </p:nvCxnSpPr>
        <p:spPr>
          <a:xfrm>
            <a:off x="7245294" y="5146796"/>
            <a:ext cx="387046" cy="29842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>
            <a:stCxn id="33" idx="3"/>
          </p:cNvCxnSpPr>
          <p:nvPr/>
        </p:nvCxnSpPr>
        <p:spPr>
          <a:xfrm flipV="1">
            <a:off x="3950931" y="1628800"/>
            <a:ext cx="369041" cy="18092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>
            <a:stCxn id="32" idx="3"/>
          </p:cNvCxnSpPr>
          <p:nvPr/>
        </p:nvCxnSpPr>
        <p:spPr>
          <a:xfrm>
            <a:off x="3950931" y="1449680"/>
            <a:ext cx="378042" cy="71108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/>
          <p:cNvCxnSpPr>
            <a:stCxn id="31" idx="3"/>
          </p:cNvCxnSpPr>
          <p:nvPr/>
        </p:nvCxnSpPr>
        <p:spPr>
          <a:xfrm>
            <a:off x="3950931" y="1089640"/>
            <a:ext cx="387043" cy="286232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/>
          <p:nvPr/>
        </p:nvCxnSpPr>
        <p:spPr>
          <a:xfrm flipV="1">
            <a:off x="5436096" y="1266960"/>
            <a:ext cx="459051" cy="73808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/>
          <p:cNvCxnSpPr/>
          <p:nvPr/>
        </p:nvCxnSpPr>
        <p:spPr>
          <a:xfrm>
            <a:off x="5436096" y="1628800"/>
            <a:ext cx="459051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/>
          <p:nvPr/>
        </p:nvCxnSpPr>
        <p:spPr>
          <a:xfrm>
            <a:off x="393700" y="6201308"/>
            <a:ext cx="397880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angle 224"/>
          <p:cNvSpPr/>
          <p:nvPr/>
        </p:nvSpPr>
        <p:spPr>
          <a:xfrm>
            <a:off x="9046" y="320281"/>
            <a:ext cx="9144000" cy="609348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227" name="Straight Arrow Connector 226"/>
          <p:cNvCxnSpPr/>
          <p:nvPr/>
        </p:nvCxnSpPr>
        <p:spPr>
          <a:xfrm>
            <a:off x="393700" y="5913276"/>
            <a:ext cx="39788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/>
          <p:cNvCxnSpPr/>
          <p:nvPr/>
        </p:nvCxnSpPr>
        <p:spPr>
          <a:xfrm>
            <a:off x="393700" y="6057292"/>
            <a:ext cx="39788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791580" y="5805264"/>
            <a:ext cx="914400" cy="5400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Media</a:t>
            </a:r>
          </a:p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Metadata</a:t>
            </a:r>
          </a:p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Both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2320" y="800708"/>
            <a:ext cx="1188132" cy="360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ts val="2300"/>
              </a:lnSpc>
            </a:pPr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Transmission</a:t>
            </a:r>
          </a:p>
        </p:txBody>
      </p:sp>
    </p:spTree>
    <p:extLst>
      <p:ext uri="{BB962C8B-B14F-4D97-AF65-F5344CB8AC3E}">
        <p14:creationId xmlns:p14="http://schemas.microsoft.com/office/powerpoint/2010/main" val="4733361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385763" y="908720"/>
            <a:ext cx="8497839" cy="4725525"/>
            <a:chOff x="385763" y="908720"/>
            <a:chExt cx="8497839" cy="4725525"/>
          </a:xfrm>
        </p:grpSpPr>
        <p:pic>
          <p:nvPicPr>
            <p:cNvPr id="19460" name="Picture 4" descr="http://www.cisco.com/assets/sol/sp/msb/contrib/figure_01_msb_contribution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85763" y="908720"/>
              <a:ext cx="8484733" cy="4725525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>
              <a:off x="385763" y="953725"/>
              <a:ext cx="8497839" cy="3872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GB" sz="1200" dirty="0">
                  <a:latin typeface="Lucida Sans Unicode" pitchFamily="34" charset="0"/>
                  <a:cs typeface="Lucida Sans Unicode" pitchFamily="34" charset="0"/>
                </a:rPr>
                <a:t>Production             Contribution                                                        Distribution                            Consumption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385762" y="323850"/>
            <a:ext cx="57164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Contribution and Distribution</a:t>
            </a:r>
          </a:p>
        </p:txBody>
      </p:sp>
    </p:spTree>
    <p:extLst>
      <p:ext uri="{BB962C8B-B14F-4D97-AF65-F5344CB8AC3E}">
        <p14:creationId xmlns:p14="http://schemas.microsoft.com/office/powerpoint/2010/main" val="26567443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loud 70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" name="Group 68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70" name="Rectangle 69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2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72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3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74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74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5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75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7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8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8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82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84" name="Rectangle 83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7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86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8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88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8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8" name="Group 89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91" name="Rectangle 9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9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9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9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9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" name="Group 96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98" name="Rectangle 97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1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0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10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02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102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104" name="Cloud 103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12" name="Group 104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106" name="Rectangle 10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10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1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11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112" name="TextBox 3"/>
          <p:cNvSpPr txBox="1"/>
          <p:nvPr/>
        </p:nvSpPr>
        <p:spPr>
          <a:xfrm>
            <a:off x="381000" y="333375"/>
            <a:ext cx="2951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</a:t>
            </a:r>
          </a:p>
        </p:txBody>
      </p:sp>
      <p:sp>
        <p:nvSpPr>
          <p:cNvPr id="113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14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6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119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0" name="Up-Down Arrow 119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14" name="Group 122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5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126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12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28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12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130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131" name="Straight Arrow Connector 130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2" name="TextBox 131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End Users</a:t>
            </a:r>
          </a:p>
        </p:txBody>
      </p:sp>
      <p:sp>
        <p:nvSpPr>
          <p:cNvPr id="134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pic>
        <p:nvPicPr>
          <p:cNvPr id="144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145" name="Straight Connector 144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1" name="Up-Down Arrow 150"/>
          <p:cNvSpPr/>
          <p:nvPr/>
        </p:nvSpPr>
        <p:spPr bwMode="auto">
          <a:xfrm rot="17823815">
            <a:off x="3994952" y="2015231"/>
            <a:ext cx="1376038" cy="3160450"/>
          </a:xfrm>
          <a:prstGeom prst="upDownArrow">
            <a:avLst/>
          </a:prstGeom>
          <a:solidFill>
            <a:srgbClr val="E3CAC1"/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551067" y="2796466"/>
            <a:ext cx="226536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Distribution Network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Satellite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Cable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Telco Broadband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Terrestrial TV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Web (OTT)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Mobile</a:t>
            </a:r>
          </a:p>
        </p:txBody>
      </p:sp>
    </p:spTree>
    <p:extLst>
      <p:ext uri="{BB962C8B-B14F-4D97-AF65-F5344CB8AC3E}">
        <p14:creationId xmlns:p14="http://schemas.microsoft.com/office/powerpoint/2010/main" val="3808260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loud 69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72" name="Picture 4"/>
          <p:cNvPicPr>
            <a:picLocks noChangeAspect="1" noChangeArrowheads="1"/>
          </p:cNvPicPr>
          <p:nvPr/>
        </p:nvPicPr>
        <p:blipFill>
          <a:blip r:embed="rId2" cstate="print"/>
          <a:srcRect t="22121"/>
          <a:stretch>
            <a:fillRect/>
          </a:stretch>
        </p:blipFill>
        <p:spPr bwMode="auto">
          <a:xfrm>
            <a:off x="2938509" y="333376"/>
            <a:ext cx="5287575" cy="34435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" name="Group 3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5" name="Rectangle 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3" imgW="1714739" imgH="1714739" progId="">
                      <p:embed/>
                    </p:oleObj>
                  </mc:Choice>
                  <mc:Fallback>
                    <p:oleObj name="Photo Editor Photo" r:id="rId3" imgW="1714739" imgH="1714739" progId="">
                      <p:embed/>
                      <p:pic>
                        <p:nvPicPr>
                          <p:cNvPr id="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5" imgW="1714739" imgH="1133633" progId="">
                      <p:embed/>
                    </p:oleObj>
                  </mc:Choice>
                  <mc:Fallback>
                    <p:oleObj name="Photo Editor Photo" r:id="rId5" imgW="1714739" imgH="1133633" progId="">
                      <p:embed/>
                      <p:pic>
                        <p:nvPicPr>
                          <p:cNvPr id="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10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714739" progId="">
                      <p:embed/>
                    </p:oleObj>
                  </mc:Choice>
                  <mc:Fallback>
                    <p:oleObj name="Photo Editor Photo" r:id="rId7" imgW="1714739" imgH="1714739" progId="">
                      <p:embed/>
                      <p:pic>
                        <p:nvPicPr>
                          <p:cNvPr id="1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133633" progId="">
                      <p:embed/>
                    </p:oleObj>
                  </mc:Choice>
                  <mc:Fallback>
                    <p:oleObj name="Photo Editor Photo" r:id="rId8" imgW="1714739" imgH="1133633" progId="">
                      <p:embed/>
                      <p:pic>
                        <p:nvPicPr>
                          <p:cNvPr id="1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" name="Group 17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9" name="Rectangle 18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1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714739" progId="">
                      <p:embed/>
                    </p:oleObj>
                  </mc:Choice>
                  <mc:Fallback>
                    <p:oleObj name="Photo Editor Photo" r:id="rId9" imgW="1714739" imgH="1714739" progId="">
                      <p:embed/>
                      <p:pic>
                        <p:nvPicPr>
                          <p:cNvPr id="2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3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133633" progId="">
                      <p:embed/>
                    </p:oleObj>
                  </mc:Choice>
                  <mc:Fallback>
                    <p:oleObj name="Photo Editor Photo" r:id="rId10" imgW="1714739" imgH="1133633" progId="">
                      <p:embed/>
                      <p:pic>
                        <p:nvPicPr>
                          <p:cNvPr id="2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8" name="Group 24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6" name="Rectangle 2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714739" progId="">
                      <p:embed/>
                    </p:oleObj>
                  </mc:Choice>
                  <mc:Fallback>
                    <p:oleObj name="Photo Editor Photo" r:id="rId11" imgW="1714739" imgH="1714739" progId="">
                      <p:embed/>
                      <p:pic>
                        <p:nvPicPr>
                          <p:cNvPr id="2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133633" progId="">
                      <p:embed/>
                    </p:oleObj>
                  </mc:Choice>
                  <mc:Fallback>
                    <p:oleObj name="Photo Editor Photo" r:id="rId12" imgW="1714739" imgH="1133633" progId="">
                      <p:embed/>
                      <p:pic>
                        <p:nvPicPr>
                          <p:cNvPr id="3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" name="Group 31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7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714739" progId="">
                      <p:embed/>
                    </p:oleObj>
                  </mc:Choice>
                  <mc:Fallback>
                    <p:oleObj name="Photo Editor Photo" r:id="rId13" imgW="1714739" imgH="1714739" progId="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133633" progId="">
                      <p:embed/>
                    </p:oleObj>
                  </mc:Choice>
                  <mc:Fallback>
                    <p:oleObj name="Photo Editor Photo" r:id="rId14" imgW="1714739" imgH="1133633" progId="">
                      <p:embed/>
                      <p:pic>
                        <p:nvPicPr>
                          <p:cNvPr id="3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9" name="Cloud 38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32" name="Group 39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1" name="Rectangle 4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4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714739" progId="">
                      <p:embed/>
                    </p:oleObj>
                  </mc:Choice>
                  <mc:Fallback>
                    <p:oleObj name="Photo Editor Photo" r:id="rId15" imgW="1714739" imgH="1714739" progId="">
                      <p:embed/>
                      <p:pic>
                        <p:nvPicPr>
                          <p:cNvPr id="4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6" imgW="1714739" imgH="1133633" progId="">
                      <p:embed/>
                    </p:oleObj>
                  </mc:Choice>
                  <mc:Fallback>
                    <p:oleObj name="Photo Editor Photo" r:id="rId16" imgW="1714739" imgH="1133633" progId="">
                      <p:embed/>
                      <p:pic>
                        <p:nvPicPr>
                          <p:cNvPr id="4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45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TextBox 3"/>
          <p:cNvSpPr txBox="1"/>
          <p:nvPr/>
        </p:nvSpPr>
        <p:spPr>
          <a:xfrm>
            <a:off x="381000" y="333375"/>
            <a:ext cx="7651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...                            ... Satellite</a:t>
            </a:r>
          </a:p>
        </p:txBody>
      </p:sp>
      <p:sp>
        <p:nvSpPr>
          <p:cNvPr id="48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3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4" name="Up-Down Arrow 53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40" name="Group 55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7" name="Rectangle 56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2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59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714739" progId="">
                      <p:embed/>
                    </p:oleObj>
                  </mc:Choice>
                  <mc:Fallback>
                    <p:oleObj name="Photo Editor Photo" r:id="rId18" imgW="1714739" imgH="1714739" progId="">
                      <p:embed/>
                      <p:pic>
                        <p:nvPicPr>
                          <p:cNvPr id="5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61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9" imgW="1714739" imgH="1133633" progId="">
                      <p:embed/>
                    </p:oleObj>
                  </mc:Choice>
                  <mc:Fallback>
                    <p:oleObj name="Photo Editor Photo" r:id="rId19" imgW="1714739" imgH="1133633" progId="">
                      <p:embed/>
                      <p:pic>
                        <p:nvPicPr>
                          <p:cNvPr id="6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3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4" name="Straight Arrow Connector 63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End Users</a:t>
            </a:r>
          </a:p>
        </p:txBody>
      </p:sp>
      <p:sp>
        <p:nvSpPr>
          <p:cNvPr id="66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pic>
        <p:nvPicPr>
          <p:cNvPr id="67" name="Picture 23" descr="C:\Users\jdfoss\Desktop\Clipboard01.gif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68" name="Straight Connector 67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3" name="Freeform 72"/>
          <p:cNvSpPr/>
          <p:nvPr/>
        </p:nvSpPr>
        <p:spPr bwMode="auto">
          <a:xfrm>
            <a:off x="6381907" y="3178206"/>
            <a:ext cx="1279522" cy="1875337"/>
          </a:xfrm>
          <a:custGeom>
            <a:avLst/>
            <a:gdLst>
              <a:gd name="connsiteX0" fmla="*/ 1279522 w 1279522"/>
              <a:gd name="connsiteY0" fmla="*/ 0 h 1875337"/>
              <a:gd name="connsiteX1" fmla="*/ 1270644 w 1279522"/>
              <a:gd name="connsiteY1" fmla="*/ 26633 h 1875337"/>
              <a:gd name="connsiteX2" fmla="*/ 1217378 w 1279522"/>
              <a:gd name="connsiteY2" fmla="*/ 44388 h 1875337"/>
              <a:gd name="connsiteX3" fmla="*/ 1190745 w 1279522"/>
              <a:gd name="connsiteY3" fmla="*/ 53266 h 1875337"/>
              <a:gd name="connsiteX4" fmla="*/ 871149 w 1279522"/>
              <a:gd name="connsiteY4" fmla="*/ 62144 h 1875337"/>
              <a:gd name="connsiteX5" fmla="*/ 853394 w 1279522"/>
              <a:gd name="connsiteY5" fmla="*/ 88777 h 1875337"/>
              <a:gd name="connsiteX6" fmla="*/ 835639 w 1279522"/>
              <a:gd name="connsiteY6" fmla="*/ 142043 h 1875337"/>
              <a:gd name="connsiteX7" fmla="*/ 817883 w 1279522"/>
              <a:gd name="connsiteY7" fmla="*/ 168676 h 1875337"/>
              <a:gd name="connsiteX8" fmla="*/ 764617 w 1279522"/>
              <a:gd name="connsiteY8" fmla="*/ 177553 h 1875337"/>
              <a:gd name="connsiteX9" fmla="*/ 542676 w 1279522"/>
              <a:gd name="connsiteY9" fmla="*/ 186431 h 1875337"/>
              <a:gd name="connsiteX10" fmla="*/ 533798 w 1279522"/>
              <a:gd name="connsiteY10" fmla="*/ 213064 h 1875337"/>
              <a:gd name="connsiteX11" fmla="*/ 524920 w 1279522"/>
              <a:gd name="connsiteY11" fmla="*/ 301841 h 1875337"/>
              <a:gd name="connsiteX12" fmla="*/ 471654 w 1279522"/>
              <a:gd name="connsiteY12" fmla="*/ 355107 h 1875337"/>
              <a:gd name="connsiteX13" fmla="*/ 453899 w 1279522"/>
              <a:gd name="connsiteY13" fmla="*/ 381740 h 1875337"/>
              <a:gd name="connsiteX14" fmla="*/ 400633 w 1279522"/>
              <a:gd name="connsiteY14" fmla="*/ 408373 h 1875337"/>
              <a:gd name="connsiteX15" fmla="*/ 338489 w 1279522"/>
              <a:gd name="connsiteY15" fmla="*/ 479394 h 1875337"/>
              <a:gd name="connsiteX16" fmla="*/ 329611 w 1279522"/>
              <a:gd name="connsiteY16" fmla="*/ 506027 h 1875337"/>
              <a:gd name="connsiteX17" fmla="*/ 320734 w 1279522"/>
              <a:gd name="connsiteY17" fmla="*/ 550415 h 1875337"/>
              <a:gd name="connsiteX18" fmla="*/ 302978 w 1279522"/>
              <a:gd name="connsiteY18" fmla="*/ 577048 h 1875337"/>
              <a:gd name="connsiteX19" fmla="*/ 258590 w 1279522"/>
              <a:gd name="connsiteY19" fmla="*/ 621437 h 1875337"/>
              <a:gd name="connsiteX20" fmla="*/ 223079 w 1279522"/>
              <a:gd name="connsiteY20" fmla="*/ 692458 h 1875337"/>
              <a:gd name="connsiteX21" fmla="*/ 205324 w 1279522"/>
              <a:gd name="connsiteY21" fmla="*/ 763479 h 1875337"/>
              <a:gd name="connsiteX22" fmla="*/ 196446 w 1279522"/>
              <a:gd name="connsiteY22" fmla="*/ 852256 h 1875337"/>
              <a:gd name="connsiteX23" fmla="*/ 169813 w 1279522"/>
              <a:gd name="connsiteY23" fmla="*/ 870011 h 1875337"/>
              <a:gd name="connsiteX24" fmla="*/ 107670 w 1279522"/>
              <a:gd name="connsiteY24" fmla="*/ 941033 h 1875337"/>
              <a:gd name="connsiteX25" fmla="*/ 89914 w 1279522"/>
              <a:gd name="connsiteY25" fmla="*/ 994299 h 1875337"/>
              <a:gd name="connsiteX26" fmla="*/ 72159 w 1279522"/>
              <a:gd name="connsiteY26" fmla="*/ 1065320 h 1875337"/>
              <a:gd name="connsiteX27" fmla="*/ 54404 w 1279522"/>
              <a:gd name="connsiteY27" fmla="*/ 1083076 h 1875337"/>
              <a:gd name="connsiteX28" fmla="*/ 45526 w 1279522"/>
              <a:gd name="connsiteY28" fmla="*/ 1207363 h 1875337"/>
              <a:gd name="connsiteX29" fmla="*/ 27771 w 1279522"/>
              <a:gd name="connsiteY29" fmla="*/ 1349406 h 1875337"/>
              <a:gd name="connsiteX30" fmla="*/ 10015 w 1279522"/>
              <a:gd name="connsiteY30" fmla="*/ 1376039 h 1875337"/>
              <a:gd name="connsiteX31" fmla="*/ 36648 w 1279522"/>
              <a:gd name="connsiteY31" fmla="*/ 1509204 h 1875337"/>
              <a:gd name="connsiteX32" fmla="*/ 54404 w 1279522"/>
              <a:gd name="connsiteY32" fmla="*/ 1526959 h 1875337"/>
              <a:gd name="connsiteX33" fmla="*/ 45526 w 1279522"/>
              <a:gd name="connsiteY33" fmla="*/ 1580225 h 1875337"/>
              <a:gd name="connsiteX34" fmla="*/ 18893 w 1279522"/>
              <a:gd name="connsiteY34" fmla="*/ 1597980 h 1875337"/>
              <a:gd name="connsiteX35" fmla="*/ 1138 w 1279522"/>
              <a:gd name="connsiteY35" fmla="*/ 1651246 h 1875337"/>
              <a:gd name="connsiteX36" fmla="*/ 10015 w 1279522"/>
              <a:gd name="connsiteY36" fmla="*/ 1686757 h 1875337"/>
              <a:gd name="connsiteX37" fmla="*/ 18893 w 1279522"/>
              <a:gd name="connsiteY37" fmla="*/ 1713390 h 1875337"/>
              <a:gd name="connsiteX38" fmla="*/ 45526 w 1279522"/>
              <a:gd name="connsiteY38" fmla="*/ 1802167 h 1875337"/>
              <a:gd name="connsiteX39" fmla="*/ 54404 w 1279522"/>
              <a:gd name="connsiteY39" fmla="*/ 1828800 h 1875337"/>
              <a:gd name="connsiteX40" fmla="*/ 81037 w 1279522"/>
              <a:gd name="connsiteY40" fmla="*/ 1846555 h 1875337"/>
              <a:gd name="connsiteX41" fmla="*/ 134303 w 1279522"/>
              <a:gd name="connsiteY41" fmla="*/ 1873188 h 1875337"/>
              <a:gd name="connsiteX42" fmla="*/ 231957 w 1279522"/>
              <a:gd name="connsiteY42" fmla="*/ 1864311 h 1875337"/>
              <a:gd name="connsiteX43" fmla="*/ 285223 w 1279522"/>
              <a:gd name="connsiteY43" fmla="*/ 1846555 h 1875337"/>
              <a:gd name="connsiteX44" fmla="*/ 311856 w 1279522"/>
              <a:gd name="connsiteY44" fmla="*/ 1837677 h 1875337"/>
              <a:gd name="connsiteX45" fmla="*/ 329611 w 1279522"/>
              <a:gd name="connsiteY45" fmla="*/ 1837677 h 1875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79522" h="1875337">
                <a:moveTo>
                  <a:pt x="1279522" y="0"/>
                </a:moveTo>
                <a:cubicBezTo>
                  <a:pt x="1276563" y="8878"/>
                  <a:pt x="1278259" y="21194"/>
                  <a:pt x="1270644" y="26633"/>
                </a:cubicBezTo>
                <a:cubicBezTo>
                  <a:pt x="1255414" y="37511"/>
                  <a:pt x="1235133" y="38470"/>
                  <a:pt x="1217378" y="44388"/>
                </a:cubicBezTo>
                <a:cubicBezTo>
                  <a:pt x="1208500" y="47347"/>
                  <a:pt x="1200099" y="53006"/>
                  <a:pt x="1190745" y="53266"/>
                </a:cubicBezTo>
                <a:lnTo>
                  <a:pt x="871149" y="62144"/>
                </a:lnTo>
                <a:cubicBezTo>
                  <a:pt x="865231" y="71022"/>
                  <a:pt x="857727" y="79027"/>
                  <a:pt x="853394" y="88777"/>
                </a:cubicBezTo>
                <a:cubicBezTo>
                  <a:pt x="845793" y="105880"/>
                  <a:pt x="846021" y="126471"/>
                  <a:pt x="835639" y="142043"/>
                </a:cubicBezTo>
                <a:cubicBezTo>
                  <a:pt x="829720" y="150921"/>
                  <a:pt x="827426" y="163904"/>
                  <a:pt x="817883" y="168676"/>
                </a:cubicBezTo>
                <a:cubicBezTo>
                  <a:pt x="801783" y="176726"/>
                  <a:pt x="782580" y="176394"/>
                  <a:pt x="764617" y="177553"/>
                </a:cubicBezTo>
                <a:cubicBezTo>
                  <a:pt x="690731" y="182320"/>
                  <a:pt x="616656" y="183472"/>
                  <a:pt x="542676" y="186431"/>
                </a:cubicBezTo>
                <a:cubicBezTo>
                  <a:pt x="539717" y="195309"/>
                  <a:pt x="535221" y="203815"/>
                  <a:pt x="533798" y="213064"/>
                </a:cubicBezTo>
                <a:cubicBezTo>
                  <a:pt x="529276" y="242458"/>
                  <a:pt x="533090" y="273245"/>
                  <a:pt x="524920" y="301841"/>
                </a:cubicBezTo>
                <a:cubicBezTo>
                  <a:pt x="517147" y="329045"/>
                  <a:pt x="492380" y="341289"/>
                  <a:pt x="471654" y="355107"/>
                </a:cubicBezTo>
                <a:cubicBezTo>
                  <a:pt x="465736" y="363985"/>
                  <a:pt x="461444" y="374195"/>
                  <a:pt x="453899" y="381740"/>
                </a:cubicBezTo>
                <a:cubicBezTo>
                  <a:pt x="436690" y="398949"/>
                  <a:pt x="422293" y="401153"/>
                  <a:pt x="400633" y="408373"/>
                </a:cubicBezTo>
                <a:cubicBezTo>
                  <a:pt x="377489" y="431516"/>
                  <a:pt x="353171" y="450030"/>
                  <a:pt x="338489" y="479394"/>
                </a:cubicBezTo>
                <a:cubicBezTo>
                  <a:pt x="334304" y="487764"/>
                  <a:pt x="331881" y="496948"/>
                  <a:pt x="329611" y="506027"/>
                </a:cubicBezTo>
                <a:cubicBezTo>
                  <a:pt x="325951" y="520665"/>
                  <a:pt x="326032" y="536287"/>
                  <a:pt x="320734" y="550415"/>
                </a:cubicBezTo>
                <a:cubicBezTo>
                  <a:pt x="316988" y="560405"/>
                  <a:pt x="310004" y="569018"/>
                  <a:pt x="302978" y="577048"/>
                </a:cubicBezTo>
                <a:cubicBezTo>
                  <a:pt x="289199" y="592796"/>
                  <a:pt x="258590" y="621437"/>
                  <a:pt x="258590" y="621437"/>
                </a:cubicBezTo>
                <a:cubicBezTo>
                  <a:pt x="238188" y="682644"/>
                  <a:pt x="254069" y="661469"/>
                  <a:pt x="223079" y="692458"/>
                </a:cubicBezTo>
                <a:cubicBezTo>
                  <a:pt x="213122" y="722331"/>
                  <a:pt x="210085" y="727773"/>
                  <a:pt x="205324" y="763479"/>
                </a:cubicBezTo>
                <a:cubicBezTo>
                  <a:pt x="201393" y="792958"/>
                  <a:pt x="205851" y="824042"/>
                  <a:pt x="196446" y="852256"/>
                </a:cubicBezTo>
                <a:cubicBezTo>
                  <a:pt x="193072" y="862378"/>
                  <a:pt x="177843" y="862985"/>
                  <a:pt x="169813" y="870011"/>
                </a:cubicBezTo>
                <a:cubicBezTo>
                  <a:pt x="154010" y="883838"/>
                  <a:pt x="118609" y="916420"/>
                  <a:pt x="107670" y="941033"/>
                </a:cubicBezTo>
                <a:cubicBezTo>
                  <a:pt x="100069" y="958136"/>
                  <a:pt x="93584" y="975947"/>
                  <a:pt x="89914" y="994299"/>
                </a:cubicBezTo>
                <a:cubicBezTo>
                  <a:pt x="88004" y="1003851"/>
                  <a:pt x="80350" y="1051668"/>
                  <a:pt x="72159" y="1065320"/>
                </a:cubicBezTo>
                <a:cubicBezTo>
                  <a:pt x="67853" y="1072497"/>
                  <a:pt x="60322" y="1077157"/>
                  <a:pt x="54404" y="1083076"/>
                </a:cubicBezTo>
                <a:cubicBezTo>
                  <a:pt x="29103" y="1158976"/>
                  <a:pt x="34326" y="1117771"/>
                  <a:pt x="45526" y="1207363"/>
                </a:cubicBezTo>
                <a:cubicBezTo>
                  <a:pt x="43833" y="1229373"/>
                  <a:pt x="46932" y="1311084"/>
                  <a:pt x="27771" y="1349406"/>
                </a:cubicBezTo>
                <a:cubicBezTo>
                  <a:pt x="22999" y="1358949"/>
                  <a:pt x="15934" y="1367161"/>
                  <a:pt x="10015" y="1376039"/>
                </a:cubicBezTo>
                <a:cubicBezTo>
                  <a:pt x="16864" y="1458226"/>
                  <a:pt x="0" y="1463395"/>
                  <a:pt x="36648" y="1509204"/>
                </a:cubicBezTo>
                <a:cubicBezTo>
                  <a:pt x="41877" y="1515740"/>
                  <a:pt x="48485" y="1521041"/>
                  <a:pt x="54404" y="1526959"/>
                </a:cubicBezTo>
                <a:cubicBezTo>
                  <a:pt x="51445" y="1544714"/>
                  <a:pt x="53576" y="1564125"/>
                  <a:pt x="45526" y="1580225"/>
                </a:cubicBezTo>
                <a:cubicBezTo>
                  <a:pt x="40754" y="1589768"/>
                  <a:pt x="24548" y="1588932"/>
                  <a:pt x="18893" y="1597980"/>
                </a:cubicBezTo>
                <a:cubicBezTo>
                  <a:pt x="8974" y="1613851"/>
                  <a:pt x="1138" y="1651246"/>
                  <a:pt x="1138" y="1651246"/>
                </a:cubicBezTo>
                <a:cubicBezTo>
                  <a:pt x="4097" y="1663083"/>
                  <a:pt x="6663" y="1675025"/>
                  <a:pt x="10015" y="1686757"/>
                </a:cubicBezTo>
                <a:cubicBezTo>
                  <a:pt x="12586" y="1695755"/>
                  <a:pt x="17219" y="1704183"/>
                  <a:pt x="18893" y="1713390"/>
                </a:cubicBezTo>
                <a:cubicBezTo>
                  <a:pt x="34318" y="1798226"/>
                  <a:pt x="8969" y="1765608"/>
                  <a:pt x="45526" y="1802167"/>
                </a:cubicBezTo>
                <a:cubicBezTo>
                  <a:pt x="48485" y="1811045"/>
                  <a:pt x="48558" y="1821493"/>
                  <a:pt x="54404" y="1828800"/>
                </a:cubicBezTo>
                <a:cubicBezTo>
                  <a:pt x="61069" y="1837131"/>
                  <a:pt x="72706" y="1839890"/>
                  <a:pt x="81037" y="1846555"/>
                </a:cubicBezTo>
                <a:cubicBezTo>
                  <a:pt x="117014" y="1875337"/>
                  <a:pt x="76685" y="1858785"/>
                  <a:pt x="134303" y="1873188"/>
                </a:cubicBezTo>
                <a:cubicBezTo>
                  <a:pt x="166854" y="1870229"/>
                  <a:pt x="199769" y="1869991"/>
                  <a:pt x="231957" y="1864311"/>
                </a:cubicBezTo>
                <a:cubicBezTo>
                  <a:pt x="250388" y="1861058"/>
                  <a:pt x="267468" y="1852474"/>
                  <a:pt x="285223" y="1846555"/>
                </a:cubicBezTo>
                <a:cubicBezTo>
                  <a:pt x="294101" y="1843596"/>
                  <a:pt x="302498" y="1837677"/>
                  <a:pt x="311856" y="1837677"/>
                </a:cubicBezTo>
                <a:lnTo>
                  <a:pt x="329611" y="1837677"/>
                </a:lnTo>
              </a:path>
            </a:pathLst>
          </a:custGeom>
          <a:noFill/>
          <a:ln w="762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384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loud 68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6" name="Rectangle 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1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11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3" name="Rectangle 1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" name="Group 18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20" name="Rectangle 19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2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2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2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4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4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4" name="Group 25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7" name="Rectangle 2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9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3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1" name="Group 32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4" name="Rectangle 33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6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6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8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0" name="Cloud 39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28" name="Group 40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2" name="Rectangle 4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3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" name="Rectangle 46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8" name="TextBox 3"/>
          <p:cNvSpPr txBox="1"/>
          <p:nvPr/>
        </p:nvSpPr>
        <p:spPr>
          <a:xfrm>
            <a:off x="381000" y="333375"/>
            <a:ext cx="7064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- Digital Terrestrial (DTTV)</a:t>
            </a:r>
          </a:p>
        </p:txBody>
      </p:sp>
      <p:sp>
        <p:nvSpPr>
          <p:cNvPr id="49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4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Up-Down Arrow 54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35" name="Group 56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8" name="Rectangle 57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1" name="Group 32"/>
            <p:cNvGrpSpPr/>
            <p:nvPr/>
          </p:nvGrpSpPr>
          <p:grpSpPr>
            <a:xfrm>
              <a:off x="7549992" y="5132495"/>
              <a:ext cx="1247775" cy="1393611"/>
              <a:chOff x="7549992" y="5132495"/>
              <a:chExt cx="1247775" cy="1393611"/>
            </a:xfrm>
          </p:grpSpPr>
          <p:graphicFrame>
            <p:nvGraphicFramePr>
              <p:cNvPr id="60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6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4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sp>
        <p:nvSpPr>
          <p:cNvPr id="66" name="TextBox 65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67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pic>
        <p:nvPicPr>
          <p:cNvPr id="68" name="Picture 23" descr="C:\Users\jdfoss\Desktop\Clipboard01.gif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pic>
        <p:nvPicPr>
          <p:cNvPr id="94224" name="Picture 16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3136916" y="1688746"/>
            <a:ext cx="56197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Arc 72"/>
          <p:cNvSpPr/>
          <p:nvPr/>
        </p:nvSpPr>
        <p:spPr bwMode="auto">
          <a:xfrm rot="4801966">
            <a:off x="3365606" y="2389279"/>
            <a:ext cx="1711449" cy="1391424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4" name="Arc 73"/>
          <p:cNvSpPr/>
          <p:nvPr/>
        </p:nvSpPr>
        <p:spPr bwMode="auto">
          <a:xfrm rot="5150297">
            <a:off x="3201487" y="2075336"/>
            <a:ext cx="2721194" cy="1867442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5" name="Arc 74"/>
          <p:cNvSpPr/>
          <p:nvPr/>
        </p:nvSpPr>
        <p:spPr bwMode="auto">
          <a:xfrm rot="5150297">
            <a:off x="3089487" y="1827733"/>
            <a:ext cx="4120066" cy="2203689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6" name="Arc 75"/>
          <p:cNvSpPr/>
          <p:nvPr/>
        </p:nvSpPr>
        <p:spPr bwMode="auto">
          <a:xfrm rot="4810395">
            <a:off x="3595557" y="2557576"/>
            <a:ext cx="864053" cy="910417"/>
          </a:xfrm>
          <a:prstGeom prst="arc">
            <a:avLst/>
          </a:prstGeom>
          <a:noFill/>
          <a:ln w="571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7418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2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85" name="Rectangle 8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8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8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9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98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00" name="Rectangle 99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8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2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02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04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04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5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" name="Group 105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07" name="Rectangle 10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2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0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10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1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11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3" name="Group 72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74" name="Rectangle 73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5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6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76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78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78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7" name="Group 64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66" name="Rectangle 6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8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6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6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7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7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96" name="Cloud 95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19" name="Group 35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37" name="Rectangle 36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9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39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1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" name="TextBox 3"/>
          <p:cNvSpPr txBox="1"/>
          <p:nvPr/>
        </p:nvSpPr>
        <p:spPr>
          <a:xfrm>
            <a:off x="381000" y="333375"/>
            <a:ext cx="4139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– Cable</a:t>
            </a:r>
          </a:p>
        </p:txBody>
      </p:sp>
      <p:sp>
        <p:nvSpPr>
          <p:cNvPr id="11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loud 4"/>
          <p:cNvSpPr/>
          <p:nvPr/>
        </p:nvSpPr>
        <p:spPr bwMode="auto">
          <a:xfrm rot="11051792">
            <a:off x="2241767" y="2138875"/>
            <a:ext cx="4109617" cy="2623626"/>
          </a:xfrm>
          <a:prstGeom prst="cloud">
            <a:avLst/>
          </a:prstGeom>
          <a:gradFill flip="none" rotWithShape="1">
            <a:gsLst>
              <a:gs pos="0">
                <a:srgbClr val="FFCC99">
                  <a:shade val="30000"/>
                  <a:satMod val="115000"/>
                </a:srgbClr>
              </a:gs>
              <a:gs pos="50000">
                <a:srgbClr val="FFCC99">
                  <a:shade val="67500"/>
                  <a:satMod val="115000"/>
                </a:srgbClr>
              </a:gs>
              <a:gs pos="100000">
                <a:srgbClr val="FFCC99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21" name="Cloud 20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25" name="Up-Down Arrow 24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" name="Up-Down Arrow 27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36785" y="3248980"/>
            <a:ext cx="27972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Network Managed and Operated by Network Provider / Operator</a:t>
            </a:r>
          </a:p>
          <a:p>
            <a:pPr algn="ctr"/>
            <a:r>
              <a:rPr lang="en-GB" sz="1600" dirty="0"/>
              <a:t> - Routing, Switching, etc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23" name="Group 34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34" name="Rectangle 33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4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48130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48130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8131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48131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8" name="Straight Arrow Connector 67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0" name="TextBox 89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41830" y="2798930"/>
            <a:ext cx="279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Cable Network</a:t>
            </a: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sp>
        <p:nvSpPr>
          <p:cNvPr id="93" name="Cloud 92"/>
          <p:cNvSpPr/>
          <p:nvPr/>
        </p:nvSpPr>
        <p:spPr bwMode="auto">
          <a:xfrm rot="11051792">
            <a:off x="5701416" y="3028351"/>
            <a:ext cx="1023013" cy="637061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4" name="Cloud 93"/>
          <p:cNvSpPr/>
          <p:nvPr/>
        </p:nvSpPr>
        <p:spPr bwMode="auto">
          <a:xfrm rot="11051792">
            <a:off x="5577129" y="3534378"/>
            <a:ext cx="1023013" cy="637061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5" name="Cloud 94"/>
          <p:cNvSpPr/>
          <p:nvPr/>
        </p:nvSpPr>
        <p:spPr bwMode="auto">
          <a:xfrm rot="11051792">
            <a:off x="5399575" y="3907240"/>
            <a:ext cx="1023013" cy="637061"/>
          </a:xfrm>
          <a:prstGeom prst="cloud">
            <a:avLst/>
          </a:prstGeom>
          <a:gradFill flip="none" rotWithShape="1">
            <a:gsLst>
              <a:gs pos="0">
                <a:srgbClr val="E3CAC1">
                  <a:shade val="30000"/>
                  <a:satMod val="115000"/>
                </a:srgbClr>
              </a:gs>
              <a:gs pos="50000">
                <a:srgbClr val="E3CAC1">
                  <a:shade val="67500"/>
                  <a:satMod val="115000"/>
                </a:srgbClr>
              </a:gs>
              <a:gs pos="100000">
                <a:srgbClr val="E3CAC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18157754">
            <a:off x="5170608" y="3623875"/>
            <a:ext cx="1826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Access Network</a:t>
            </a:r>
          </a:p>
        </p:txBody>
      </p:sp>
      <p:cxnSp>
        <p:nvCxnSpPr>
          <p:cNvPr id="79" name="Straight Arrow Connector 78"/>
          <p:cNvCxnSpPr/>
          <p:nvPr/>
        </p:nvCxnSpPr>
        <p:spPr bwMode="auto">
          <a:xfrm>
            <a:off x="6604986" y="3462293"/>
            <a:ext cx="488272" cy="21306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0" name="Straight Arrow Connector 79"/>
          <p:cNvCxnSpPr/>
          <p:nvPr/>
        </p:nvCxnSpPr>
        <p:spPr bwMode="auto">
          <a:xfrm>
            <a:off x="6533964" y="3595459"/>
            <a:ext cx="461640" cy="16867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2" name="Straight Arrow Connector 81"/>
          <p:cNvCxnSpPr/>
          <p:nvPr/>
        </p:nvCxnSpPr>
        <p:spPr bwMode="auto">
          <a:xfrm>
            <a:off x="6454065" y="3657602"/>
            <a:ext cx="470518" cy="221940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8" name="Straight Arrow Connector 87"/>
          <p:cNvCxnSpPr/>
          <p:nvPr/>
        </p:nvCxnSpPr>
        <p:spPr bwMode="auto">
          <a:xfrm>
            <a:off x="5965793" y="4332305"/>
            <a:ext cx="852257" cy="568169"/>
          </a:xfrm>
          <a:prstGeom prst="straightConnector1">
            <a:avLst/>
          </a:prstGeom>
          <a:noFill/>
          <a:ln w="762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84" name="Straight Arrow Connector 83"/>
          <p:cNvCxnSpPr/>
          <p:nvPr/>
        </p:nvCxnSpPr>
        <p:spPr bwMode="auto">
          <a:xfrm>
            <a:off x="6383045" y="3808520"/>
            <a:ext cx="461638" cy="292963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pic>
        <p:nvPicPr>
          <p:cNvPr id="48151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125" name="Straight Connector 124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Straight Connector 125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448835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2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5" name="Rectangle 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" name="Group 98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8" name="Group 105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9" name="Rectangle 18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1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3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" name="Group 72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6" name="Rectangle 2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7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3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2" name="Group 64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4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9" name="Cloud 38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40" name="Group 35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1" name="Rectangle 4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2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TextBox 46"/>
          <p:cNvSpPr txBox="1"/>
          <p:nvPr/>
        </p:nvSpPr>
        <p:spPr>
          <a:xfrm>
            <a:off x="381000" y="333375"/>
            <a:ext cx="8550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– IPTV - Telco Broadband, </a:t>
            </a:r>
            <a:r>
              <a:rPr lang="en-GB" sz="2400" b="1" dirty="0">
                <a:solidFill>
                  <a:schemeClr val="bg1">
                    <a:lumMod val="65000"/>
                  </a:schemeClr>
                </a:solidFill>
              </a:rPr>
              <a:t>OTT/Web</a:t>
            </a:r>
          </a:p>
        </p:txBody>
      </p:sp>
      <p:sp>
        <p:nvSpPr>
          <p:cNvPr id="48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Cloud 49"/>
          <p:cNvSpPr/>
          <p:nvPr/>
        </p:nvSpPr>
        <p:spPr bwMode="auto">
          <a:xfrm rot="11051792">
            <a:off x="2241767" y="2138875"/>
            <a:ext cx="4109617" cy="2623626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1000" y="4509857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36785" y="3248980"/>
            <a:ext cx="27972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Network Managed and Operated by Network Provider / Operator</a:t>
            </a:r>
          </a:p>
          <a:p>
            <a:pPr algn="ctr"/>
            <a:r>
              <a:rPr lang="en-GB" sz="1600" dirty="0"/>
              <a:t> - Routing, Switching, etc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58" name="Group 34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9" name="Rectangle 58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0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61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6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63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6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6" name="Straight Arrow Connector 65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41830" y="2798930"/>
            <a:ext cx="279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Network Core</a:t>
            </a:r>
          </a:p>
        </p:txBody>
      </p:sp>
      <p:sp>
        <p:nvSpPr>
          <p:cNvPr id="69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sp>
        <p:nvSpPr>
          <p:cNvPr id="70" name="Cloud 69"/>
          <p:cNvSpPr/>
          <p:nvPr/>
        </p:nvSpPr>
        <p:spPr bwMode="auto">
          <a:xfrm rot="11051792">
            <a:off x="5701416" y="3028351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1" name="Cloud 70"/>
          <p:cNvSpPr/>
          <p:nvPr/>
        </p:nvSpPr>
        <p:spPr bwMode="auto">
          <a:xfrm rot="11051792">
            <a:off x="5577129" y="3534378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2" name="Cloud 71"/>
          <p:cNvSpPr/>
          <p:nvPr/>
        </p:nvSpPr>
        <p:spPr bwMode="auto">
          <a:xfrm rot="11051792">
            <a:off x="5399575" y="3907240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 rot="18157754">
            <a:off x="5170608" y="3623875"/>
            <a:ext cx="1826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Access Network</a:t>
            </a:r>
          </a:p>
        </p:txBody>
      </p:sp>
      <p:cxnSp>
        <p:nvCxnSpPr>
          <p:cNvPr id="74" name="Straight Arrow Connector 73"/>
          <p:cNvCxnSpPr/>
          <p:nvPr/>
        </p:nvCxnSpPr>
        <p:spPr bwMode="auto">
          <a:xfrm>
            <a:off x="6604986" y="3462293"/>
            <a:ext cx="488272" cy="21306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5" name="Straight Arrow Connector 74"/>
          <p:cNvCxnSpPr/>
          <p:nvPr/>
        </p:nvCxnSpPr>
        <p:spPr bwMode="auto">
          <a:xfrm>
            <a:off x="6533964" y="3595459"/>
            <a:ext cx="461640" cy="16867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6" name="Straight Arrow Connector 75"/>
          <p:cNvCxnSpPr/>
          <p:nvPr/>
        </p:nvCxnSpPr>
        <p:spPr bwMode="auto">
          <a:xfrm>
            <a:off x="6454065" y="3657602"/>
            <a:ext cx="470518" cy="221940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7" name="Straight Arrow Connector 76"/>
          <p:cNvCxnSpPr/>
          <p:nvPr/>
        </p:nvCxnSpPr>
        <p:spPr bwMode="auto">
          <a:xfrm>
            <a:off x="5965793" y="4332305"/>
            <a:ext cx="852257" cy="568169"/>
          </a:xfrm>
          <a:prstGeom prst="straightConnector1">
            <a:avLst/>
          </a:prstGeom>
          <a:noFill/>
          <a:ln w="762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8" name="Straight Arrow Connector 77"/>
          <p:cNvCxnSpPr/>
          <p:nvPr/>
        </p:nvCxnSpPr>
        <p:spPr bwMode="auto">
          <a:xfrm>
            <a:off x="6383045" y="3808520"/>
            <a:ext cx="461638" cy="292963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pic>
        <p:nvPicPr>
          <p:cNvPr id="79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80" name="Straight Connector 79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7" name="Freeform 86"/>
          <p:cNvSpPr/>
          <p:nvPr/>
        </p:nvSpPr>
        <p:spPr bwMode="auto">
          <a:xfrm>
            <a:off x="2667650" y="1138467"/>
            <a:ext cx="4677228" cy="1996069"/>
          </a:xfrm>
          <a:custGeom>
            <a:avLst/>
            <a:gdLst>
              <a:gd name="connsiteX0" fmla="*/ 535258 w 4293219"/>
              <a:gd name="connsiteY0" fmla="*/ 0 h 1996069"/>
              <a:gd name="connsiteX1" fmla="*/ 1616927 w 4293219"/>
              <a:gd name="connsiteY1" fmla="*/ 44605 h 1996069"/>
              <a:gd name="connsiteX2" fmla="*/ 2352907 w 4293219"/>
              <a:gd name="connsiteY2" fmla="*/ 211874 h 1996069"/>
              <a:gd name="connsiteX3" fmla="*/ 2966224 w 4293219"/>
              <a:gd name="connsiteY3" fmla="*/ 490654 h 1996069"/>
              <a:gd name="connsiteX4" fmla="*/ 3490332 w 4293219"/>
              <a:gd name="connsiteY4" fmla="*/ 825191 h 1996069"/>
              <a:gd name="connsiteX5" fmla="*/ 3958683 w 4293219"/>
              <a:gd name="connsiteY5" fmla="*/ 1315844 h 1996069"/>
              <a:gd name="connsiteX6" fmla="*/ 4125951 w 4293219"/>
              <a:gd name="connsiteY6" fmla="*/ 1126274 h 1996069"/>
              <a:gd name="connsiteX7" fmla="*/ 4293219 w 4293219"/>
              <a:gd name="connsiteY7" fmla="*/ 1996069 h 1996069"/>
              <a:gd name="connsiteX8" fmla="*/ 3412273 w 4293219"/>
              <a:gd name="connsiteY8" fmla="*/ 1739591 h 1996069"/>
              <a:gd name="connsiteX9" fmla="*/ 3624146 w 4293219"/>
              <a:gd name="connsiteY9" fmla="*/ 1628079 h 1996069"/>
              <a:gd name="connsiteX10" fmla="*/ 3245005 w 4293219"/>
              <a:gd name="connsiteY10" fmla="*/ 1126274 h 1996069"/>
              <a:gd name="connsiteX11" fmla="*/ 2653990 w 4293219"/>
              <a:gd name="connsiteY11" fmla="*/ 847493 h 1996069"/>
              <a:gd name="connsiteX12" fmla="*/ 1906858 w 4293219"/>
              <a:gd name="connsiteY12" fmla="*/ 613318 h 1996069"/>
              <a:gd name="connsiteX13" fmla="*/ 1527717 w 4293219"/>
              <a:gd name="connsiteY13" fmla="*/ 635620 h 1996069"/>
              <a:gd name="connsiteX14" fmla="*/ 925551 w 4293219"/>
              <a:gd name="connsiteY14" fmla="*/ 724830 h 1996069"/>
              <a:gd name="connsiteX15" fmla="*/ 546410 w 4293219"/>
              <a:gd name="connsiteY15" fmla="*/ 892098 h 1996069"/>
              <a:gd name="connsiteX16" fmla="*/ 211873 w 4293219"/>
              <a:gd name="connsiteY16" fmla="*/ 1048215 h 1996069"/>
              <a:gd name="connsiteX17" fmla="*/ 55756 w 4293219"/>
              <a:gd name="connsiteY17" fmla="*/ 323386 h 1996069"/>
              <a:gd name="connsiteX18" fmla="*/ 0 w 4293219"/>
              <a:gd name="connsiteY18" fmla="*/ 55757 h 1996069"/>
              <a:gd name="connsiteX19" fmla="*/ 535258 w 4293219"/>
              <a:gd name="connsiteY19" fmla="*/ 0 h 199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93219" h="1996069">
                <a:moveTo>
                  <a:pt x="535258" y="0"/>
                </a:moveTo>
                <a:lnTo>
                  <a:pt x="1616927" y="44605"/>
                </a:lnTo>
                <a:lnTo>
                  <a:pt x="2352907" y="211874"/>
                </a:lnTo>
                <a:lnTo>
                  <a:pt x="2966224" y="490654"/>
                </a:lnTo>
                <a:lnTo>
                  <a:pt x="3490332" y="825191"/>
                </a:lnTo>
                <a:lnTo>
                  <a:pt x="3958683" y="1315844"/>
                </a:lnTo>
                <a:lnTo>
                  <a:pt x="4125951" y="1126274"/>
                </a:lnTo>
                <a:lnTo>
                  <a:pt x="4293219" y="1996069"/>
                </a:lnTo>
                <a:lnTo>
                  <a:pt x="3412273" y="1739591"/>
                </a:lnTo>
                <a:lnTo>
                  <a:pt x="3624146" y="1628079"/>
                </a:lnTo>
                <a:lnTo>
                  <a:pt x="3245005" y="1126274"/>
                </a:lnTo>
                <a:lnTo>
                  <a:pt x="2653990" y="847493"/>
                </a:lnTo>
                <a:lnTo>
                  <a:pt x="1906858" y="613318"/>
                </a:lnTo>
                <a:lnTo>
                  <a:pt x="1527717" y="635620"/>
                </a:lnTo>
                <a:lnTo>
                  <a:pt x="925551" y="724830"/>
                </a:lnTo>
                <a:lnTo>
                  <a:pt x="546410" y="892098"/>
                </a:lnTo>
                <a:lnTo>
                  <a:pt x="211873" y="1048215"/>
                </a:lnTo>
                <a:lnTo>
                  <a:pt x="55756" y="323386"/>
                </a:lnTo>
                <a:lnTo>
                  <a:pt x="0" y="55757"/>
                </a:lnTo>
                <a:lnTo>
                  <a:pt x="535258" y="0"/>
                </a:lnTo>
                <a:close/>
              </a:path>
            </a:pathLst>
          </a:custGeom>
          <a:solidFill>
            <a:srgbClr val="663300">
              <a:alpha val="6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2" name="Cloud 51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4" name="Up-Down Arrow 53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5" name="Up-Down Arrow 54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 rot="585289">
            <a:off x="4050623" y="1439102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Telco Broadband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7182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2"/>
          <p:cNvGrpSpPr/>
          <p:nvPr/>
        </p:nvGrpSpPr>
        <p:grpSpPr>
          <a:xfrm>
            <a:off x="7066628" y="3710865"/>
            <a:ext cx="1740020" cy="2388094"/>
            <a:chOff x="7057748" y="4039340"/>
            <a:chExt cx="1953087" cy="2396971"/>
          </a:xfrm>
        </p:grpSpPr>
        <p:sp>
          <p:nvSpPr>
            <p:cNvPr id="5" name="Rectangle 4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6" name="Group 85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7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2" imgW="1714739" imgH="1714739" progId="">
                      <p:embed/>
                    </p:oleObj>
                  </mc:Choice>
                  <mc:Fallback>
                    <p:oleObj name="Photo Editor Photo" r:id="rId2" imgW="1714739" imgH="1714739" progId="">
                      <p:embed/>
                      <p:pic>
                        <p:nvPicPr>
                          <p:cNvPr id="7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9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4" imgW="1714739" imgH="1133633" progId="">
                      <p:embed/>
                    </p:oleObj>
                  </mc:Choice>
                  <mc:Fallback>
                    <p:oleObj name="Photo Editor Photo" r:id="rId4" imgW="1714739" imgH="1133633" progId="">
                      <p:embed/>
                      <p:pic>
                        <p:nvPicPr>
                          <p:cNvPr id="9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1" name="Group 98"/>
          <p:cNvGrpSpPr/>
          <p:nvPr/>
        </p:nvGrpSpPr>
        <p:grpSpPr>
          <a:xfrm>
            <a:off x="7013362" y="3773009"/>
            <a:ext cx="1740020" cy="2388094"/>
            <a:chOff x="7057748" y="4039340"/>
            <a:chExt cx="1953087" cy="2396971"/>
          </a:xfrm>
        </p:grpSpPr>
        <p:sp>
          <p:nvSpPr>
            <p:cNvPr id="12" name="Rectangle 11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13" name="Group 100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14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6" imgW="1714739" imgH="1714739" progId="">
                      <p:embed/>
                    </p:oleObj>
                  </mc:Choice>
                  <mc:Fallback>
                    <p:oleObj name="Photo Editor Photo" r:id="rId6" imgW="1714739" imgH="1714739" progId="">
                      <p:embed/>
                      <p:pic>
                        <p:nvPicPr>
                          <p:cNvPr id="1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16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7" imgW="1714739" imgH="1133633" progId="">
                      <p:embed/>
                    </p:oleObj>
                  </mc:Choice>
                  <mc:Fallback>
                    <p:oleObj name="Photo Editor Photo" r:id="rId7" imgW="1714739" imgH="1133633" progId="">
                      <p:embed/>
                      <p:pic>
                        <p:nvPicPr>
                          <p:cNvPr id="16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8" name="Group 105"/>
          <p:cNvGrpSpPr/>
          <p:nvPr/>
        </p:nvGrpSpPr>
        <p:grpSpPr>
          <a:xfrm>
            <a:off x="6933463" y="3844030"/>
            <a:ext cx="1740020" cy="2388094"/>
            <a:chOff x="7057748" y="4039340"/>
            <a:chExt cx="1953087" cy="2396971"/>
          </a:xfrm>
        </p:grpSpPr>
        <p:sp>
          <p:nvSpPr>
            <p:cNvPr id="19" name="Rectangle 18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0" name="Group 10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1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8" imgW="1714739" imgH="1714739" progId="">
                      <p:embed/>
                    </p:oleObj>
                  </mc:Choice>
                  <mc:Fallback>
                    <p:oleObj name="Photo Editor Photo" r:id="rId8" imgW="1714739" imgH="1714739" progId="">
                      <p:embed/>
                      <p:pic>
                        <p:nvPicPr>
                          <p:cNvPr id="21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23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9" imgW="1714739" imgH="1133633" progId="">
                      <p:embed/>
                    </p:oleObj>
                  </mc:Choice>
                  <mc:Fallback>
                    <p:oleObj name="Photo Editor Photo" r:id="rId9" imgW="1714739" imgH="1133633" progId="">
                      <p:embed/>
                      <p:pic>
                        <p:nvPicPr>
                          <p:cNvPr id="23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" name="Group 72"/>
          <p:cNvGrpSpPr/>
          <p:nvPr/>
        </p:nvGrpSpPr>
        <p:grpSpPr>
          <a:xfrm>
            <a:off x="6862441" y="3923929"/>
            <a:ext cx="1740020" cy="2388094"/>
            <a:chOff x="7057748" y="4039340"/>
            <a:chExt cx="1953087" cy="2396971"/>
          </a:xfrm>
        </p:grpSpPr>
        <p:sp>
          <p:nvSpPr>
            <p:cNvPr id="26" name="Rectangle 25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27" name="Group 74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28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0" imgW="1714739" imgH="1714739" progId="">
                      <p:embed/>
                    </p:oleObj>
                  </mc:Choice>
                  <mc:Fallback>
                    <p:oleObj name="Photo Editor Photo" r:id="rId10" imgW="1714739" imgH="1714739" progId="">
                      <p:embed/>
                      <p:pic>
                        <p:nvPicPr>
                          <p:cNvPr id="2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0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1" imgW="1714739" imgH="1133633" progId="">
                      <p:embed/>
                    </p:oleObj>
                  </mc:Choice>
                  <mc:Fallback>
                    <p:oleObj name="Photo Editor Photo" r:id="rId11" imgW="1714739" imgH="1133633" progId="">
                      <p:embed/>
                      <p:pic>
                        <p:nvPicPr>
                          <p:cNvPr id="3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2" name="Group 64"/>
          <p:cNvGrpSpPr/>
          <p:nvPr/>
        </p:nvGrpSpPr>
        <p:grpSpPr>
          <a:xfrm>
            <a:off x="6809175" y="3986073"/>
            <a:ext cx="1740020" cy="2388094"/>
            <a:chOff x="7057748" y="4039340"/>
            <a:chExt cx="1953087" cy="239697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34" name="Group 66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35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2" imgW="1714739" imgH="1714739" progId="">
                      <p:embed/>
                    </p:oleObj>
                  </mc:Choice>
                  <mc:Fallback>
                    <p:oleObj name="Photo Editor Photo" r:id="rId12" imgW="1714739" imgH="1714739" progId="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37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3" imgW="1714739" imgH="1133633" progId="">
                      <p:embed/>
                    </p:oleObj>
                  </mc:Choice>
                  <mc:Fallback>
                    <p:oleObj name="Photo Editor Photo" r:id="rId13" imgW="1714739" imgH="1133633" progId="">
                      <p:embed/>
                      <p:pic>
                        <p:nvPicPr>
                          <p:cNvPr id="37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39" name="Cloud 38"/>
          <p:cNvSpPr/>
          <p:nvPr/>
        </p:nvSpPr>
        <p:spPr bwMode="auto">
          <a:xfrm rot="11051792">
            <a:off x="221206" y="911036"/>
            <a:ext cx="2821780" cy="2420596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40" name="Group 35"/>
          <p:cNvGrpSpPr/>
          <p:nvPr/>
        </p:nvGrpSpPr>
        <p:grpSpPr>
          <a:xfrm>
            <a:off x="6729276" y="4057094"/>
            <a:ext cx="1740020" cy="2388094"/>
            <a:chOff x="7057748" y="4039340"/>
            <a:chExt cx="1953087" cy="2396971"/>
          </a:xfrm>
        </p:grpSpPr>
        <p:sp>
          <p:nvSpPr>
            <p:cNvPr id="41" name="Rectangle 40"/>
            <p:cNvSpPr/>
            <p:nvPr/>
          </p:nvSpPr>
          <p:spPr bwMode="auto">
            <a:xfrm>
              <a:off x="7057748" y="4039340"/>
              <a:ext cx="1953087" cy="239697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42" name="Group 37"/>
            <p:cNvGrpSpPr/>
            <p:nvPr/>
          </p:nvGrpSpPr>
          <p:grpSpPr>
            <a:xfrm>
              <a:off x="7125021" y="4114085"/>
              <a:ext cx="1781802" cy="2249676"/>
              <a:chOff x="7125021" y="4114085"/>
              <a:chExt cx="1781802" cy="2249676"/>
            </a:xfrm>
          </p:grpSpPr>
          <p:graphicFrame>
            <p:nvGraphicFramePr>
              <p:cNvPr id="43" name="Object 111"/>
              <p:cNvGraphicFramePr>
                <a:graphicFrameLocks noChangeAspect="1"/>
              </p:cNvGraphicFramePr>
              <p:nvPr/>
            </p:nvGraphicFramePr>
            <p:xfrm>
              <a:off x="7659048" y="5115986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4" imgW="1714739" imgH="1714739" progId="">
                      <p:embed/>
                    </p:oleObj>
                  </mc:Choice>
                  <mc:Fallback>
                    <p:oleObj name="Photo Editor Photo" r:id="rId14" imgW="1714739" imgH="1714739" progId="">
                      <p:embed/>
                      <p:pic>
                        <p:nvPicPr>
                          <p:cNvPr id="43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9048" y="5115986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221185" y="4761005"/>
                <a:ext cx="111125" cy="850900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45" name="Object 116"/>
              <p:cNvGraphicFramePr>
                <a:graphicFrameLocks noChangeAspect="1"/>
              </p:cNvGraphicFramePr>
              <p:nvPr/>
            </p:nvGraphicFramePr>
            <p:xfrm>
              <a:off x="7871020" y="4114085"/>
              <a:ext cx="990600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5" imgW="1714739" imgH="1133633" progId="">
                      <p:embed/>
                    </p:oleObj>
                  </mc:Choice>
                  <mc:Fallback>
                    <p:oleObj name="Photo Editor Photo" r:id="rId15" imgW="1714739" imgH="1133633" progId="">
                      <p:embed/>
                      <p:pic>
                        <p:nvPicPr>
                          <p:cNvPr id="45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71020" y="4114085"/>
                            <a:ext cx="990600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47" name="TextBox 46"/>
          <p:cNvSpPr txBox="1"/>
          <p:nvPr/>
        </p:nvSpPr>
        <p:spPr>
          <a:xfrm>
            <a:off x="381000" y="333375"/>
            <a:ext cx="8550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Media Distribution – IPTV - Telco Broadband, OTT/Web</a:t>
            </a:r>
          </a:p>
        </p:txBody>
      </p:sp>
      <p:sp>
        <p:nvSpPr>
          <p:cNvPr id="48" name="Rectangle 26"/>
          <p:cNvSpPr>
            <a:spLocks noChangeArrowheads="1"/>
          </p:cNvSpPr>
          <p:nvPr/>
        </p:nvSpPr>
        <p:spPr bwMode="auto">
          <a:xfrm>
            <a:off x="1095725" y="1975335"/>
            <a:ext cx="7397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" y="1149105"/>
            <a:ext cx="2575264" cy="1931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Cloud 49"/>
          <p:cNvSpPr/>
          <p:nvPr/>
        </p:nvSpPr>
        <p:spPr bwMode="auto">
          <a:xfrm rot="11051792">
            <a:off x="2241767" y="2138875"/>
            <a:ext cx="4109617" cy="2623626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Text Box 29"/>
          <p:cNvSpPr txBox="1">
            <a:spLocks noChangeArrowheads="1"/>
          </p:cNvSpPr>
          <p:nvPr/>
        </p:nvSpPr>
        <p:spPr bwMode="auto">
          <a:xfrm>
            <a:off x="1642457" y="1698431"/>
            <a:ext cx="113625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rgbClr val="FFFF00"/>
                </a:solidFill>
              </a:rPr>
              <a:t>VOD and 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Various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Functions</a:t>
            </a:r>
          </a:p>
          <a:p>
            <a:r>
              <a:rPr lang="en-GB" sz="1100" b="1" dirty="0">
                <a:solidFill>
                  <a:srgbClr val="FFFF00"/>
                </a:solidFill>
              </a:rPr>
              <a:t>(Servers, etc)</a:t>
            </a:r>
          </a:p>
          <a:p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19666" y="4555690"/>
            <a:ext cx="19062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Access to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WWW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Telephone N/W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GB" sz="1600" dirty="0"/>
              <a:t>Ingest of Media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36785" y="3248980"/>
            <a:ext cx="27972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Network Managed and Operated by Network Provider / Operator</a:t>
            </a:r>
          </a:p>
          <a:p>
            <a:pPr algn="ctr"/>
            <a:r>
              <a:rPr lang="en-GB" sz="1600" dirty="0"/>
              <a:t> - Routing, Switching, etc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3418" y="5397623"/>
            <a:ext cx="12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Network Access Equipment</a:t>
            </a:r>
          </a:p>
        </p:txBody>
      </p:sp>
      <p:grpSp>
        <p:nvGrpSpPr>
          <p:cNvPr id="55" name="Group 34"/>
          <p:cNvGrpSpPr/>
          <p:nvPr/>
        </p:nvGrpSpPr>
        <p:grpSpPr>
          <a:xfrm>
            <a:off x="6649374" y="4136995"/>
            <a:ext cx="1748901" cy="2361460"/>
            <a:chOff x="7037918" y="4039340"/>
            <a:chExt cx="1953087" cy="2540216"/>
          </a:xfrm>
        </p:grpSpPr>
        <p:sp>
          <p:nvSpPr>
            <p:cNvPr id="56" name="Rectangle 55"/>
            <p:cNvSpPr/>
            <p:nvPr/>
          </p:nvSpPr>
          <p:spPr bwMode="auto">
            <a:xfrm>
              <a:off x="7037918" y="4039340"/>
              <a:ext cx="1953087" cy="2540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grpSp>
          <p:nvGrpSpPr>
            <p:cNvPr id="57" name="Group 32"/>
            <p:cNvGrpSpPr/>
            <p:nvPr/>
          </p:nvGrpSpPr>
          <p:grpSpPr>
            <a:xfrm>
              <a:off x="7125021" y="4448324"/>
              <a:ext cx="1746512" cy="2077782"/>
              <a:chOff x="7125021" y="4448324"/>
              <a:chExt cx="1746512" cy="2077782"/>
            </a:xfrm>
          </p:grpSpPr>
          <p:graphicFrame>
            <p:nvGraphicFramePr>
              <p:cNvPr id="58" name="Object 111"/>
              <p:cNvGraphicFramePr>
                <a:graphicFrameLocks noChangeAspect="1"/>
              </p:cNvGraphicFramePr>
              <p:nvPr/>
            </p:nvGraphicFramePr>
            <p:xfrm>
              <a:off x="7549992" y="5278331"/>
              <a:ext cx="1247775" cy="1247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7" imgW="1714739" imgH="1714739" progId="">
                      <p:embed/>
                    </p:oleObj>
                  </mc:Choice>
                  <mc:Fallback>
                    <p:oleObj name="Photo Editor Photo" r:id="rId17" imgW="1714739" imgH="1714739" progId="">
                      <p:embed/>
                      <p:pic>
                        <p:nvPicPr>
                          <p:cNvPr id="58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49992" y="5278331"/>
                            <a:ext cx="1247775" cy="12477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" name="Rectangle 112"/>
              <p:cNvSpPr>
                <a:spLocks noChangeArrowheads="1"/>
              </p:cNvSpPr>
              <p:nvPr/>
            </p:nvSpPr>
            <p:spPr bwMode="auto">
              <a:xfrm rot="16200000" flipV="1">
                <a:off x="8062558" y="4971098"/>
                <a:ext cx="111125" cy="850899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graphicFrame>
            <p:nvGraphicFramePr>
              <p:cNvPr id="60" name="Object 116"/>
              <p:cNvGraphicFramePr>
                <a:graphicFrameLocks noChangeAspect="1"/>
              </p:cNvGraphicFramePr>
              <p:nvPr/>
            </p:nvGraphicFramePr>
            <p:xfrm>
              <a:off x="7880934" y="4448324"/>
              <a:ext cx="990599" cy="655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Photo Editor Photo" r:id="rId18" imgW="1714739" imgH="1133633" progId="">
                      <p:embed/>
                    </p:oleObj>
                  </mc:Choice>
                  <mc:Fallback>
                    <p:oleObj name="Photo Editor Photo" r:id="rId18" imgW="1714739" imgH="1133633" progId="">
                      <p:embed/>
                      <p:pic>
                        <p:nvPicPr>
                          <p:cNvPr id="6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0934" y="4448324"/>
                            <a:ext cx="990599" cy="6556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" name="Rectangle 110"/>
              <p:cNvSpPr>
                <a:spLocks noChangeArrowheads="1"/>
              </p:cNvSpPr>
              <p:nvPr/>
            </p:nvSpPr>
            <p:spPr bwMode="auto">
              <a:xfrm>
                <a:off x="7125021" y="4596901"/>
                <a:ext cx="169863" cy="998537"/>
              </a:xfrm>
              <a:prstGeom prst="rect">
                <a:avLst/>
              </a:prstGeom>
              <a:gradFill rotWithShape="0">
                <a:gsLst>
                  <a:gs pos="0">
                    <a:srgbClr val="556271"/>
                  </a:gs>
                  <a:gs pos="50000">
                    <a:srgbClr val="B2B2B2"/>
                  </a:gs>
                  <a:gs pos="100000">
                    <a:srgbClr val="556271"/>
                  </a:gs>
                </a:gsLst>
                <a:lin ang="2700000" scaled="1"/>
              </a:gra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556271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en-US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7685384" y="5132495"/>
                <a:ext cx="1018112" cy="297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FFFF00"/>
                    </a:solidFill>
                  </a:rPr>
                  <a:t>STB, etc</a:t>
                </a:r>
              </a:p>
            </p:txBody>
          </p:sp>
        </p:grpSp>
      </p:grpSp>
      <p:cxnSp>
        <p:nvCxnSpPr>
          <p:cNvPr id="63" name="Straight Arrow Connector 62"/>
          <p:cNvCxnSpPr/>
          <p:nvPr/>
        </p:nvCxnSpPr>
        <p:spPr bwMode="auto">
          <a:xfrm flipV="1">
            <a:off x="6516210" y="5388746"/>
            <a:ext cx="292962" cy="221941"/>
          </a:xfrm>
          <a:prstGeom prst="straightConnector1">
            <a:avLst/>
          </a:prstGeom>
          <a:noFill/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7146523" y="3292285"/>
            <a:ext cx="16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End Users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41830" y="2798930"/>
            <a:ext cx="279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Network Core</a:t>
            </a:r>
          </a:p>
        </p:txBody>
      </p:sp>
      <p:sp>
        <p:nvSpPr>
          <p:cNvPr id="66" name="Text Box 31"/>
          <p:cNvSpPr txBox="1">
            <a:spLocks noChangeArrowheads="1"/>
          </p:cNvSpPr>
          <p:nvPr/>
        </p:nvSpPr>
        <p:spPr bwMode="auto">
          <a:xfrm>
            <a:off x="381000" y="1149341"/>
            <a:ext cx="16049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Video Head-End</a:t>
            </a:r>
            <a:endParaRPr lang="en-GB" sz="1400" dirty="0">
              <a:solidFill>
                <a:srgbClr val="FFFF00"/>
              </a:solidFill>
            </a:endParaRPr>
          </a:p>
        </p:txBody>
      </p:sp>
      <p:sp>
        <p:nvSpPr>
          <p:cNvPr id="67" name="Cloud 66"/>
          <p:cNvSpPr/>
          <p:nvPr/>
        </p:nvSpPr>
        <p:spPr bwMode="auto">
          <a:xfrm rot="11051792">
            <a:off x="5701416" y="3028351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8" name="Cloud 67"/>
          <p:cNvSpPr/>
          <p:nvPr/>
        </p:nvSpPr>
        <p:spPr bwMode="auto">
          <a:xfrm rot="11051792">
            <a:off x="5577129" y="3534378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9" name="Cloud 68"/>
          <p:cNvSpPr/>
          <p:nvPr/>
        </p:nvSpPr>
        <p:spPr bwMode="auto">
          <a:xfrm rot="11051792">
            <a:off x="5399575" y="3907240"/>
            <a:ext cx="1023013" cy="637061"/>
          </a:xfrm>
          <a:prstGeom prst="cloud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 rot="18157754">
            <a:off x="5170608" y="3623875"/>
            <a:ext cx="1826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Access Network</a:t>
            </a:r>
          </a:p>
        </p:txBody>
      </p:sp>
      <p:cxnSp>
        <p:nvCxnSpPr>
          <p:cNvPr id="71" name="Straight Arrow Connector 70"/>
          <p:cNvCxnSpPr/>
          <p:nvPr/>
        </p:nvCxnSpPr>
        <p:spPr bwMode="auto">
          <a:xfrm>
            <a:off x="6604986" y="3462293"/>
            <a:ext cx="488272" cy="21306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2" name="Straight Arrow Connector 71"/>
          <p:cNvCxnSpPr/>
          <p:nvPr/>
        </p:nvCxnSpPr>
        <p:spPr bwMode="auto">
          <a:xfrm>
            <a:off x="6533964" y="3595459"/>
            <a:ext cx="461640" cy="168672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3" name="Straight Arrow Connector 72"/>
          <p:cNvCxnSpPr/>
          <p:nvPr/>
        </p:nvCxnSpPr>
        <p:spPr bwMode="auto">
          <a:xfrm>
            <a:off x="6454065" y="3657602"/>
            <a:ext cx="470518" cy="221940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65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4" name="Straight Arrow Connector 73"/>
          <p:cNvCxnSpPr/>
          <p:nvPr/>
        </p:nvCxnSpPr>
        <p:spPr bwMode="auto">
          <a:xfrm>
            <a:off x="5965793" y="4332305"/>
            <a:ext cx="852257" cy="568169"/>
          </a:xfrm>
          <a:prstGeom prst="straightConnector1">
            <a:avLst/>
          </a:prstGeom>
          <a:noFill/>
          <a:ln w="762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5" name="Straight Arrow Connector 74"/>
          <p:cNvCxnSpPr/>
          <p:nvPr/>
        </p:nvCxnSpPr>
        <p:spPr bwMode="auto">
          <a:xfrm>
            <a:off x="6383045" y="3808520"/>
            <a:ext cx="461638" cy="292963"/>
          </a:xfrm>
          <a:prstGeom prst="straightConnector1">
            <a:avLst/>
          </a:prstGeom>
          <a:noFill/>
          <a:ln w="38100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arrow"/>
            <a:tailEnd type="arrow"/>
          </a:ln>
          <a:effectLst/>
        </p:spPr>
      </p:cxnSp>
      <p:pic>
        <p:nvPicPr>
          <p:cNvPr id="76" name="Picture 23" descr="C:\Users\jdfoss\Desktop\Clipboard01.gif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23193" y="4200807"/>
            <a:ext cx="407782" cy="407782"/>
          </a:xfrm>
          <a:prstGeom prst="rect">
            <a:avLst/>
          </a:prstGeom>
          <a:noFill/>
        </p:spPr>
      </p:pic>
      <p:cxnSp>
        <p:nvCxnSpPr>
          <p:cNvPr id="77" name="Straight Connector 76"/>
          <p:cNvCxnSpPr/>
          <p:nvPr/>
        </p:nvCxnSpPr>
        <p:spPr bwMode="auto">
          <a:xfrm>
            <a:off x="7052650" y="4852657"/>
            <a:ext cx="443619" cy="1810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/>
          <p:nvPr/>
        </p:nvCxnSpPr>
        <p:spPr bwMode="auto">
          <a:xfrm>
            <a:off x="7034544" y="4943194"/>
            <a:ext cx="516046" cy="24444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" name="Freeform 78"/>
          <p:cNvSpPr/>
          <p:nvPr/>
        </p:nvSpPr>
        <p:spPr bwMode="auto">
          <a:xfrm>
            <a:off x="2667650" y="1138467"/>
            <a:ext cx="4677228" cy="1996069"/>
          </a:xfrm>
          <a:custGeom>
            <a:avLst/>
            <a:gdLst>
              <a:gd name="connsiteX0" fmla="*/ 535258 w 4293219"/>
              <a:gd name="connsiteY0" fmla="*/ 0 h 1996069"/>
              <a:gd name="connsiteX1" fmla="*/ 1616927 w 4293219"/>
              <a:gd name="connsiteY1" fmla="*/ 44605 h 1996069"/>
              <a:gd name="connsiteX2" fmla="*/ 2352907 w 4293219"/>
              <a:gd name="connsiteY2" fmla="*/ 211874 h 1996069"/>
              <a:gd name="connsiteX3" fmla="*/ 2966224 w 4293219"/>
              <a:gd name="connsiteY3" fmla="*/ 490654 h 1996069"/>
              <a:gd name="connsiteX4" fmla="*/ 3490332 w 4293219"/>
              <a:gd name="connsiteY4" fmla="*/ 825191 h 1996069"/>
              <a:gd name="connsiteX5" fmla="*/ 3958683 w 4293219"/>
              <a:gd name="connsiteY5" fmla="*/ 1315844 h 1996069"/>
              <a:gd name="connsiteX6" fmla="*/ 4125951 w 4293219"/>
              <a:gd name="connsiteY6" fmla="*/ 1126274 h 1996069"/>
              <a:gd name="connsiteX7" fmla="*/ 4293219 w 4293219"/>
              <a:gd name="connsiteY7" fmla="*/ 1996069 h 1996069"/>
              <a:gd name="connsiteX8" fmla="*/ 3412273 w 4293219"/>
              <a:gd name="connsiteY8" fmla="*/ 1739591 h 1996069"/>
              <a:gd name="connsiteX9" fmla="*/ 3624146 w 4293219"/>
              <a:gd name="connsiteY9" fmla="*/ 1628079 h 1996069"/>
              <a:gd name="connsiteX10" fmla="*/ 3245005 w 4293219"/>
              <a:gd name="connsiteY10" fmla="*/ 1126274 h 1996069"/>
              <a:gd name="connsiteX11" fmla="*/ 2653990 w 4293219"/>
              <a:gd name="connsiteY11" fmla="*/ 847493 h 1996069"/>
              <a:gd name="connsiteX12" fmla="*/ 1906858 w 4293219"/>
              <a:gd name="connsiteY12" fmla="*/ 613318 h 1996069"/>
              <a:gd name="connsiteX13" fmla="*/ 1527717 w 4293219"/>
              <a:gd name="connsiteY13" fmla="*/ 635620 h 1996069"/>
              <a:gd name="connsiteX14" fmla="*/ 925551 w 4293219"/>
              <a:gd name="connsiteY14" fmla="*/ 724830 h 1996069"/>
              <a:gd name="connsiteX15" fmla="*/ 546410 w 4293219"/>
              <a:gd name="connsiteY15" fmla="*/ 892098 h 1996069"/>
              <a:gd name="connsiteX16" fmla="*/ 211873 w 4293219"/>
              <a:gd name="connsiteY16" fmla="*/ 1048215 h 1996069"/>
              <a:gd name="connsiteX17" fmla="*/ 55756 w 4293219"/>
              <a:gd name="connsiteY17" fmla="*/ 323386 h 1996069"/>
              <a:gd name="connsiteX18" fmla="*/ 0 w 4293219"/>
              <a:gd name="connsiteY18" fmla="*/ 55757 h 1996069"/>
              <a:gd name="connsiteX19" fmla="*/ 535258 w 4293219"/>
              <a:gd name="connsiteY19" fmla="*/ 0 h 199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93219" h="1996069">
                <a:moveTo>
                  <a:pt x="535258" y="0"/>
                </a:moveTo>
                <a:lnTo>
                  <a:pt x="1616927" y="44605"/>
                </a:lnTo>
                <a:lnTo>
                  <a:pt x="2352907" y="211874"/>
                </a:lnTo>
                <a:lnTo>
                  <a:pt x="2966224" y="490654"/>
                </a:lnTo>
                <a:lnTo>
                  <a:pt x="3490332" y="825191"/>
                </a:lnTo>
                <a:lnTo>
                  <a:pt x="3958683" y="1315844"/>
                </a:lnTo>
                <a:lnTo>
                  <a:pt x="4125951" y="1126274"/>
                </a:lnTo>
                <a:lnTo>
                  <a:pt x="4293219" y="1996069"/>
                </a:lnTo>
                <a:lnTo>
                  <a:pt x="3412273" y="1739591"/>
                </a:lnTo>
                <a:lnTo>
                  <a:pt x="3624146" y="1628079"/>
                </a:lnTo>
                <a:lnTo>
                  <a:pt x="3245005" y="1126274"/>
                </a:lnTo>
                <a:lnTo>
                  <a:pt x="2653990" y="847493"/>
                </a:lnTo>
                <a:lnTo>
                  <a:pt x="1906858" y="613318"/>
                </a:lnTo>
                <a:lnTo>
                  <a:pt x="1527717" y="635620"/>
                </a:lnTo>
                <a:lnTo>
                  <a:pt x="925551" y="724830"/>
                </a:lnTo>
                <a:lnTo>
                  <a:pt x="546410" y="892098"/>
                </a:lnTo>
                <a:lnTo>
                  <a:pt x="211873" y="1048215"/>
                </a:lnTo>
                <a:lnTo>
                  <a:pt x="55756" y="323386"/>
                </a:lnTo>
                <a:lnTo>
                  <a:pt x="0" y="55757"/>
                </a:lnTo>
                <a:lnTo>
                  <a:pt x="535258" y="0"/>
                </a:lnTo>
                <a:close/>
              </a:path>
            </a:pathLst>
          </a:custGeom>
          <a:solidFill>
            <a:srgbClr val="FF6600">
              <a:alpha val="6666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0" name="Freeform 79"/>
          <p:cNvSpPr/>
          <p:nvPr/>
        </p:nvSpPr>
        <p:spPr bwMode="auto">
          <a:xfrm>
            <a:off x="1887166" y="2129306"/>
            <a:ext cx="4714183" cy="2293106"/>
          </a:xfrm>
          <a:custGeom>
            <a:avLst/>
            <a:gdLst>
              <a:gd name="connsiteX0" fmla="*/ 0 w 4750419"/>
              <a:gd name="connsiteY0" fmla="*/ 1315844 h 2319454"/>
              <a:gd name="connsiteX1" fmla="*/ 301083 w 4750419"/>
              <a:gd name="connsiteY1" fmla="*/ 635620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2007220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25551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2007220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25551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2007220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71278 w 4750419"/>
              <a:gd name="connsiteY11" fmla="*/ 1717288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1929161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60127 w 4750419"/>
              <a:gd name="connsiteY11" fmla="*/ 1761893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70917 w 4750419"/>
              <a:gd name="connsiteY15" fmla="*/ 1929161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60127 w 4750419"/>
              <a:gd name="connsiteY11" fmla="*/ 1761893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59765 w 4750419"/>
              <a:gd name="connsiteY15" fmla="*/ 1940313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15522 w 4750419"/>
              <a:gd name="connsiteY11" fmla="*/ 1694986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59765 w 4750419"/>
              <a:gd name="connsiteY15" fmla="*/ 1940313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750419"/>
              <a:gd name="connsiteY0" fmla="*/ 1315844 h 2319454"/>
              <a:gd name="connsiteX1" fmla="*/ 301083 w 4750419"/>
              <a:gd name="connsiteY1" fmla="*/ 769434 h 2319454"/>
              <a:gd name="connsiteX2" fmla="*/ 646770 w 4750419"/>
              <a:gd name="connsiteY2" fmla="*/ 446049 h 2319454"/>
              <a:gd name="connsiteX3" fmla="*/ 1148575 w 4750419"/>
              <a:gd name="connsiteY3" fmla="*/ 211873 h 2319454"/>
              <a:gd name="connsiteX4" fmla="*/ 1605775 w 4750419"/>
              <a:gd name="connsiteY4" fmla="*/ 89210 h 2319454"/>
              <a:gd name="connsiteX5" fmla="*/ 2207941 w 4750419"/>
              <a:gd name="connsiteY5" fmla="*/ 0 h 2319454"/>
              <a:gd name="connsiteX6" fmla="*/ 2687444 w 4750419"/>
              <a:gd name="connsiteY6" fmla="*/ 55756 h 2319454"/>
              <a:gd name="connsiteX7" fmla="*/ 3233853 w 4750419"/>
              <a:gd name="connsiteY7" fmla="*/ 289932 h 2319454"/>
              <a:gd name="connsiteX8" fmla="*/ 3635297 w 4750419"/>
              <a:gd name="connsiteY8" fmla="*/ 535259 h 2319454"/>
              <a:gd name="connsiteX9" fmla="*/ 3958683 w 4750419"/>
              <a:gd name="connsiteY9" fmla="*/ 925551 h 2319454"/>
              <a:gd name="connsiteX10" fmla="*/ 4248614 w 4750419"/>
              <a:gd name="connsiteY10" fmla="*/ 1483112 h 2319454"/>
              <a:gd name="connsiteX11" fmla="*/ 4315522 w 4750419"/>
              <a:gd name="connsiteY11" fmla="*/ 1694986 h 2319454"/>
              <a:gd name="connsiteX12" fmla="*/ 4471639 w 4750419"/>
              <a:gd name="connsiteY12" fmla="*/ 1460810 h 2319454"/>
              <a:gd name="connsiteX13" fmla="*/ 4750419 w 4750419"/>
              <a:gd name="connsiteY13" fmla="*/ 2319454 h 2319454"/>
              <a:gd name="connsiteX14" fmla="*/ 3958683 w 4750419"/>
              <a:gd name="connsiteY14" fmla="*/ 2141034 h 2319454"/>
              <a:gd name="connsiteX15" fmla="*/ 4248614 w 4750419"/>
              <a:gd name="connsiteY15" fmla="*/ 1817649 h 2319454"/>
              <a:gd name="connsiteX16" fmla="*/ 4159405 w 4750419"/>
              <a:gd name="connsiteY16" fmla="*/ 1683834 h 2319454"/>
              <a:gd name="connsiteX17" fmla="*/ 3824868 w 4750419"/>
              <a:gd name="connsiteY17" fmla="*/ 1182029 h 2319454"/>
              <a:gd name="connsiteX18" fmla="*/ 3479180 w 4750419"/>
              <a:gd name="connsiteY18" fmla="*/ 825190 h 2319454"/>
              <a:gd name="connsiteX19" fmla="*/ 3010829 w 4750419"/>
              <a:gd name="connsiteY19" fmla="*/ 579863 h 2319454"/>
              <a:gd name="connsiteX20" fmla="*/ 2364058 w 4750419"/>
              <a:gd name="connsiteY20" fmla="*/ 423746 h 2319454"/>
              <a:gd name="connsiteX21" fmla="*/ 1973765 w 4750419"/>
              <a:gd name="connsiteY21" fmla="*/ 479502 h 2319454"/>
              <a:gd name="connsiteX22" fmla="*/ 1449658 w 4750419"/>
              <a:gd name="connsiteY22" fmla="*/ 568712 h 2319454"/>
              <a:gd name="connsiteX23" fmla="*/ 1003609 w 4750419"/>
              <a:gd name="connsiteY23" fmla="*/ 747132 h 2319454"/>
              <a:gd name="connsiteX24" fmla="*/ 802887 w 4750419"/>
              <a:gd name="connsiteY24" fmla="*/ 959005 h 2319454"/>
              <a:gd name="connsiteX25" fmla="*/ 691375 w 4750419"/>
              <a:gd name="connsiteY25" fmla="*/ 1293541 h 2319454"/>
              <a:gd name="connsiteX26" fmla="*/ 557561 w 4750419"/>
              <a:gd name="connsiteY26" fmla="*/ 1672683 h 2319454"/>
              <a:gd name="connsiteX27" fmla="*/ 0 w 4750419"/>
              <a:gd name="connsiteY27" fmla="*/ 1315844 h 2319454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15522 w 4560848"/>
              <a:gd name="connsiteY11" fmla="*/ 1694986 h 2286001"/>
              <a:gd name="connsiteX12" fmla="*/ 4471639 w 4560848"/>
              <a:gd name="connsiteY12" fmla="*/ 1460810 h 2286001"/>
              <a:gd name="connsiteX13" fmla="*/ 4560848 w 4560848"/>
              <a:gd name="connsiteY13" fmla="*/ 2286001 h 2286001"/>
              <a:gd name="connsiteX14" fmla="*/ 3958683 w 4560848"/>
              <a:gd name="connsiteY14" fmla="*/ 214103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15522 w 4560848"/>
              <a:gd name="connsiteY11" fmla="*/ 1694986 h 2286001"/>
              <a:gd name="connsiteX12" fmla="*/ 4471639 w 4560848"/>
              <a:gd name="connsiteY12" fmla="*/ 1460810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15522 w 4560848"/>
              <a:gd name="connsiteY11" fmla="*/ 1694986 h 2286001"/>
              <a:gd name="connsiteX12" fmla="*/ 4527395 w 4560848"/>
              <a:gd name="connsiteY12" fmla="*/ 1583474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60126 w 4560848"/>
              <a:gd name="connsiteY11" fmla="*/ 1761893 h 2286001"/>
              <a:gd name="connsiteX12" fmla="*/ 4527395 w 4560848"/>
              <a:gd name="connsiteY12" fmla="*/ 1583474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48614 w 4560848"/>
              <a:gd name="connsiteY15" fmla="*/ 1817649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  <a:gd name="connsiteX0" fmla="*/ 0 w 4560848"/>
              <a:gd name="connsiteY0" fmla="*/ 1315844 h 2286001"/>
              <a:gd name="connsiteX1" fmla="*/ 301083 w 4560848"/>
              <a:gd name="connsiteY1" fmla="*/ 769434 h 2286001"/>
              <a:gd name="connsiteX2" fmla="*/ 646770 w 4560848"/>
              <a:gd name="connsiteY2" fmla="*/ 446049 h 2286001"/>
              <a:gd name="connsiteX3" fmla="*/ 1148575 w 4560848"/>
              <a:gd name="connsiteY3" fmla="*/ 211873 h 2286001"/>
              <a:gd name="connsiteX4" fmla="*/ 1605775 w 4560848"/>
              <a:gd name="connsiteY4" fmla="*/ 89210 h 2286001"/>
              <a:gd name="connsiteX5" fmla="*/ 2207941 w 4560848"/>
              <a:gd name="connsiteY5" fmla="*/ 0 h 2286001"/>
              <a:gd name="connsiteX6" fmla="*/ 2687444 w 4560848"/>
              <a:gd name="connsiteY6" fmla="*/ 55756 h 2286001"/>
              <a:gd name="connsiteX7" fmla="*/ 3233853 w 4560848"/>
              <a:gd name="connsiteY7" fmla="*/ 289932 h 2286001"/>
              <a:gd name="connsiteX8" fmla="*/ 3635297 w 4560848"/>
              <a:gd name="connsiteY8" fmla="*/ 535259 h 2286001"/>
              <a:gd name="connsiteX9" fmla="*/ 3958683 w 4560848"/>
              <a:gd name="connsiteY9" fmla="*/ 925551 h 2286001"/>
              <a:gd name="connsiteX10" fmla="*/ 4248614 w 4560848"/>
              <a:gd name="connsiteY10" fmla="*/ 1483112 h 2286001"/>
              <a:gd name="connsiteX11" fmla="*/ 4360126 w 4560848"/>
              <a:gd name="connsiteY11" fmla="*/ 1761893 h 2286001"/>
              <a:gd name="connsiteX12" fmla="*/ 4527395 w 4560848"/>
              <a:gd name="connsiteY12" fmla="*/ 1583474 h 2286001"/>
              <a:gd name="connsiteX13" fmla="*/ 4560848 w 4560848"/>
              <a:gd name="connsiteY13" fmla="*/ 2286001 h 2286001"/>
              <a:gd name="connsiteX14" fmla="*/ 3947532 w 4560848"/>
              <a:gd name="connsiteY14" fmla="*/ 1962614 h 2286001"/>
              <a:gd name="connsiteX15" fmla="*/ 4226312 w 4560848"/>
              <a:gd name="connsiteY15" fmla="*/ 1873405 h 2286001"/>
              <a:gd name="connsiteX16" fmla="*/ 4159405 w 4560848"/>
              <a:gd name="connsiteY16" fmla="*/ 1683834 h 2286001"/>
              <a:gd name="connsiteX17" fmla="*/ 3824868 w 4560848"/>
              <a:gd name="connsiteY17" fmla="*/ 1182029 h 2286001"/>
              <a:gd name="connsiteX18" fmla="*/ 3479180 w 4560848"/>
              <a:gd name="connsiteY18" fmla="*/ 825190 h 2286001"/>
              <a:gd name="connsiteX19" fmla="*/ 3010829 w 4560848"/>
              <a:gd name="connsiteY19" fmla="*/ 579863 h 2286001"/>
              <a:gd name="connsiteX20" fmla="*/ 2364058 w 4560848"/>
              <a:gd name="connsiteY20" fmla="*/ 423746 h 2286001"/>
              <a:gd name="connsiteX21" fmla="*/ 1973765 w 4560848"/>
              <a:gd name="connsiteY21" fmla="*/ 479502 h 2286001"/>
              <a:gd name="connsiteX22" fmla="*/ 1449658 w 4560848"/>
              <a:gd name="connsiteY22" fmla="*/ 568712 h 2286001"/>
              <a:gd name="connsiteX23" fmla="*/ 1003609 w 4560848"/>
              <a:gd name="connsiteY23" fmla="*/ 747132 h 2286001"/>
              <a:gd name="connsiteX24" fmla="*/ 802887 w 4560848"/>
              <a:gd name="connsiteY24" fmla="*/ 959005 h 2286001"/>
              <a:gd name="connsiteX25" fmla="*/ 691375 w 4560848"/>
              <a:gd name="connsiteY25" fmla="*/ 1293541 h 2286001"/>
              <a:gd name="connsiteX26" fmla="*/ 557561 w 4560848"/>
              <a:gd name="connsiteY26" fmla="*/ 1672683 h 2286001"/>
              <a:gd name="connsiteX27" fmla="*/ 0 w 4560848"/>
              <a:gd name="connsiteY27" fmla="*/ 1315844 h 22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560848" h="2286001">
                <a:moveTo>
                  <a:pt x="0" y="1315844"/>
                </a:moveTo>
                <a:lnTo>
                  <a:pt x="301083" y="769434"/>
                </a:lnTo>
                <a:lnTo>
                  <a:pt x="646770" y="446049"/>
                </a:lnTo>
                <a:lnTo>
                  <a:pt x="1148575" y="211873"/>
                </a:lnTo>
                <a:lnTo>
                  <a:pt x="1605775" y="89210"/>
                </a:lnTo>
                <a:lnTo>
                  <a:pt x="2207941" y="0"/>
                </a:lnTo>
                <a:lnTo>
                  <a:pt x="2687444" y="55756"/>
                </a:lnTo>
                <a:lnTo>
                  <a:pt x="3233853" y="289932"/>
                </a:lnTo>
                <a:lnTo>
                  <a:pt x="3635297" y="535259"/>
                </a:lnTo>
                <a:lnTo>
                  <a:pt x="3958683" y="925551"/>
                </a:lnTo>
                <a:cubicBezTo>
                  <a:pt x="4055327" y="1111405"/>
                  <a:pt x="4181707" y="1343722"/>
                  <a:pt x="4248614" y="1483112"/>
                </a:cubicBezTo>
                <a:cubicBezTo>
                  <a:pt x="4315521" y="1622502"/>
                  <a:pt x="4322955" y="1668966"/>
                  <a:pt x="4360126" y="1761893"/>
                </a:cubicBezTo>
                <a:lnTo>
                  <a:pt x="4527395" y="1583474"/>
                </a:lnTo>
                <a:lnTo>
                  <a:pt x="4560848" y="2286001"/>
                </a:lnTo>
                <a:lnTo>
                  <a:pt x="3947532" y="1962614"/>
                </a:lnTo>
                <a:lnTo>
                  <a:pt x="4226312" y="1873405"/>
                </a:lnTo>
                <a:lnTo>
                  <a:pt x="4159405" y="1683834"/>
                </a:lnTo>
                <a:lnTo>
                  <a:pt x="3824868" y="1182029"/>
                </a:lnTo>
                <a:lnTo>
                  <a:pt x="3479180" y="825190"/>
                </a:lnTo>
                <a:lnTo>
                  <a:pt x="3010829" y="579863"/>
                </a:lnTo>
                <a:lnTo>
                  <a:pt x="2364058" y="423746"/>
                </a:lnTo>
                <a:lnTo>
                  <a:pt x="1973765" y="479502"/>
                </a:lnTo>
                <a:lnTo>
                  <a:pt x="1449658" y="568712"/>
                </a:lnTo>
                <a:lnTo>
                  <a:pt x="1003609" y="747132"/>
                </a:lnTo>
                <a:lnTo>
                  <a:pt x="802887" y="959005"/>
                </a:lnTo>
                <a:lnTo>
                  <a:pt x="691375" y="1293541"/>
                </a:lnTo>
                <a:lnTo>
                  <a:pt x="557561" y="1672683"/>
                </a:lnTo>
                <a:lnTo>
                  <a:pt x="0" y="1315844"/>
                </a:lnTo>
                <a:close/>
              </a:path>
            </a:pathLst>
          </a:custGeom>
          <a:solidFill>
            <a:srgbClr val="FF6600">
              <a:alpha val="6666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1" name="Cloud 80"/>
          <p:cNvSpPr/>
          <p:nvPr/>
        </p:nvSpPr>
        <p:spPr bwMode="auto">
          <a:xfrm rot="11051792">
            <a:off x="927918" y="3364846"/>
            <a:ext cx="1644625" cy="935170"/>
          </a:xfrm>
          <a:prstGeom prst="cloud">
            <a:avLst/>
          </a:prstGeom>
          <a:solidFill>
            <a:srgbClr val="E3CAC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2" name="Up-Down Arrow 81"/>
          <p:cNvSpPr/>
          <p:nvPr/>
        </p:nvSpPr>
        <p:spPr bwMode="auto">
          <a:xfrm>
            <a:off x="1455937" y="2911876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3" name="Up-Down Arrow 82"/>
          <p:cNvSpPr/>
          <p:nvPr/>
        </p:nvSpPr>
        <p:spPr bwMode="auto">
          <a:xfrm>
            <a:off x="1553592" y="4163627"/>
            <a:ext cx="417251" cy="683582"/>
          </a:xfrm>
          <a:prstGeom prst="upDownArrow">
            <a:avLst/>
          </a:prstGeom>
          <a:solidFill>
            <a:srgbClr val="5D748D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4" name="Freeform 83"/>
          <p:cNvSpPr/>
          <p:nvPr/>
        </p:nvSpPr>
        <p:spPr bwMode="auto">
          <a:xfrm rot="13451154">
            <a:off x="1458340" y="4017614"/>
            <a:ext cx="2233939" cy="1121549"/>
          </a:xfrm>
          <a:custGeom>
            <a:avLst/>
            <a:gdLst>
              <a:gd name="connsiteX0" fmla="*/ 535258 w 4293219"/>
              <a:gd name="connsiteY0" fmla="*/ 0 h 1996069"/>
              <a:gd name="connsiteX1" fmla="*/ 1616927 w 4293219"/>
              <a:gd name="connsiteY1" fmla="*/ 44605 h 1996069"/>
              <a:gd name="connsiteX2" fmla="*/ 2352907 w 4293219"/>
              <a:gd name="connsiteY2" fmla="*/ 211874 h 1996069"/>
              <a:gd name="connsiteX3" fmla="*/ 2966224 w 4293219"/>
              <a:gd name="connsiteY3" fmla="*/ 490654 h 1996069"/>
              <a:gd name="connsiteX4" fmla="*/ 3490332 w 4293219"/>
              <a:gd name="connsiteY4" fmla="*/ 825191 h 1996069"/>
              <a:gd name="connsiteX5" fmla="*/ 3958683 w 4293219"/>
              <a:gd name="connsiteY5" fmla="*/ 1315844 h 1996069"/>
              <a:gd name="connsiteX6" fmla="*/ 4125951 w 4293219"/>
              <a:gd name="connsiteY6" fmla="*/ 1126274 h 1996069"/>
              <a:gd name="connsiteX7" fmla="*/ 4293219 w 4293219"/>
              <a:gd name="connsiteY7" fmla="*/ 1996069 h 1996069"/>
              <a:gd name="connsiteX8" fmla="*/ 3412273 w 4293219"/>
              <a:gd name="connsiteY8" fmla="*/ 1739591 h 1996069"/>
              <a:gd name="connsiteX9" fmla="*/ 3624146 w 4293219"/>
              <a:gd name="connsiteY9" fmla="*/ 1628079 h 1996069"/>
              <a:gd name="connsiteX10" fmla="*/ 3245005 w 4293219"/>
              <a:gd name="connsiteY10" fmla="*/ 1126274 h 1996069"/>
              <a:gd name="connsiteX11" fmla="*/ 2653990 w 4293219"/>
              <a:gd name="connsiteY11" fmla="*/ 847493 h 1996069"/>
              <a:gd name="connsiteX12" fmla="*/ 1906858 w 4293219"/>
              <a:gd name="connsiteY12" fmla="*/ 613318 h 1996069"/>
              <a:gd name="connsiteX13" fmla="*/ 1527717 w 4293219"/>
              <a:gd name="connsiteY13" fmla="*/ 635620 h 1996069"/>
              <a:gd name="connsiteX14" fmla="*/ 925551 w 4293219"/>
              <a:gd name="connsiteY14" fmla="*/ 724830 h 1996069"/>
              <a:gd name="connsiteX15" fmla="*/ 546410 w 4293219"/>
              <a:gd name="connsiteY15" fmla="*/ 892098 h 1996069"/>
              <a:gd name="connsiteX16" fmla="*/ 211873 w 4293219"/>
              <a:gd name="connsiteY16" fmla="*/ 1048215 h 1996069"/>
              <a:gd name="connsiteX17" fmla="*/ 55756 w 4293219"/>
              <a:gd name="connsiteY17" fmla="*/ 323386 h 1996069"/>
              <a:gd name="connsiteX18" fmla="*/ 0 w 4293219"/>
              <a:gd name="connsiteY18" fmla="*/ 55757 h 1996069"/>
              <a:gd name="connsiteX19" fmla="*/ 535258 w 4293219"/>
              <a:gd name="connsiteY19" fmla="*/ 0 h 199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93219" h="1996069">
                <a:moveTo>
                  <a:pt x="535258" y="0"/>
                </a:moveTo>
                <a:lnTo>
                  <a:pt x="1616927" y="44605"/>
                </a:lnTo>
                <a:lnTo>
                  <a:pt x="2352907" y="211874"/>
                </a:lnTo>
                <a:lnTo>
                  <a:pt x="2966224" y="490654"/>
                </a:lnTo>
                <a:lnTo>
                  <a:pt x="3490332" y="825191"/>
                </a:lnTo>
                <a:lnTo>
                  <a:pt x="3958683" y="1315844"/>
                </a:lnTo>
                <a:lnTo>
                  <a:pt x="4125951" y="1126274"/>
                </a:lnTo>
                <a:lnTo>
                  <a:pt x="4293219" y="1996069"/>
                </a:lnTo>
                <a:lnTo>
                  <a:pt x="3412273" y="1739591"/>
                </a:lnTo>
                <a:lnTo>
                  <a:pt x="3624146" y="1628079"/>
                </a:lnTo>
                <a:lnTo>
                  <a:pt x="3245005" y="1126274"/>
                </a:lnTo>
                <a:lnTo>
                  <a:pt x="2653990" y="847493"/>
                </a:lnTo>
                <a:lnTo>
                  <a:pt x="1906858" y="613318"/>
                </a:lnTo>
                <a:lnTo>
                  <a:pt x="1527717" y="635620"/>
                </a:lnTo>
                <a:lnTo>
                  <a:pt x="925551" y="724830"/>
                </a:lnTo>
                <a:lnTo>
                  <a:pt x="546410" y="892098"/>
                </a:lnTo>
                <a:lnTo>
                  <a:pt x="211873" y="1048215"/>
                </a:lnTo>
                <a:lnTo>
                  <a:pt x="55756" y="323386"/>
                </a:lnTo>
                <a:lnTo>
                  <a:pt x="0" y="55757"/>
                </a:lnTo>
                <a:lnTo>
                  <a:pt x="535258" y="0"/>
                </a:lnTo>
                <a:close/>
              </a:path>
            </a:pathLst>
          </a:custGeom>
          <a:solidFill>
            <a:srgbClr val="FF6600">
              <a:alpha val="66667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 rot="585289">
            <a:off x="4050623" y="1439102"/>
            <a:ext cx="1859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Telco Broadband</a:t>
            </a:r>
            <a:endParaRPr lang="en-GB" dirty="0"/>
          </a:p>
        </p:txBody>
      </p:sp>
      <p:sp>
        <p:nvSpPr>
          <p:cNvPr id="87" name="TextBox 86"/>
          <p:cNvSpPr txBox="1"/>
          <p:nvPr/>
        </p:nvSpPr>
        <p:spPr>
          <a:xfrm rot="18739639">
            <a:off x="2303445" y="2807016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OTT</a:t>
            </a:r>
            <a:endParaRPr lang="en-GB" dirty="0"/>
          </a:p>
        </p:txBody>
      </p:sp>
      <p:sp>
        <p:nvSpPr>
          <p:cNvPr id="88" name="TextBox 87"/>
          <p:cNvSpPr txBox="1"/>
          <p:nvPr/>
        </p:nvSpPr>
        <p:spPr>
          <a:xfrm rot="2889109">
            <a:off x="2145977" y="4770386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OTT</a:t>
            </a:r>
            <a:endParaRPr lang="en-GB" dirty="0"/>
          </a:p>
        </p:txBody>
      </p:sp>
      <p:sp>
        <p:nvSpPr>
          <p:cNvPr id="85" name="TextBox 84"/>
          <p:cNvSpPr txBox="1"/>
          <p:nvPr/>
        </p:nvSpPr>
        <p:spPr>
          <a:xfrm>
            <a:off x="2925218" y="5317725"/>
            <a:ext cx="1605776" cy="492443"/>
          </a:xfrm>
          <a:prstGeom prst="rect">
            <a:avLst/>
          </a:pr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300" dirty="0"/>
              <a:t>WEB-BASED VIDEO PROVIDER </a:t>
            </a:r>
          </a:p>
        </p:txBody>
      </p:sp>
    </p:spTree>
    <p:extLst>
      <p:ext uri="{BB962C8B-B14F-4D97-AF65-F5344CB8AC3E}">
        <p14:creationId xmlns:p14="http://schemas.microsoft.com/office/powerpoint/2010/main" val="589004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4" name="Picture 2" descr="maxresdefault.jpg (1280×720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" r="3572" b="2062"/>
          <a:stretch/>
        </p:blipFill>
        <p:spPr bwMode="auto">
          <a:xfrm>
            <a:off x="0" y="933061"/>
            <a:ext cx="9150162" cy="51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85113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1159</TotalTime>
  <Words>4082</Words>
  <Application>Microsoft Office PowerPoint</Application>
  <PresentationFormat>On-screen Show (4:3)</PresentationFormat>
  <Paragraphs>840</Paragraphs>
  <Slides>68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68</vt:i4>
      </vt:variant>
    </vt:vector>
  </HeadingPairs>
  <TitlesOfParts>
    <vt:vector size="83" baseType="lpstr">
      <vt:lpstr>Arial</vt:lpstr>
      <vt:lpstr>Gadugi</vt:lpstr>
      <vt:lpstr>High Tower Text</vt:lpstr>
      <vt:lpstr>IrisUPC</vt:lpstr>
      <vt:lpstr>Jokerman</vt:lpstr>
      <vt:lpstr>Juice ITC</vt:lpstr>
      <vt:lpstr>Lucida Sans Unicode</vt:lpstr>
      <vt:lpstr>Mistral</vt:lpstr>
      <vt:lpstr>Modern Love Grunge</vt:lpstr>
      <vt:lpstr>Roboto</vt:lpstr>
      <vt:lpstr>Times New Roman</vt:lpstr>
      <vt:lpstr>Template</vt:lpstr>
      <vt:lpstr>Custom Design</vt:lpstr>
      <vt:lpstr>Equation</vt:lpstr>
      <vt:lpstr>Photo Editor Photo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n/a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JFoss</dc:creator>
  <cp:lastModifiedBy>Jeremy Foss</cp:lastModifiedBy>
  <cp:revision>118</cp:revision>
  <cp:lastPrinted>2019-04-15T07:32:08Z</cp:lastPrinted>
  <dcterms:created xsi:type="dcterms:W3CDTF">2006-09-10T21:25:56Z</dcterms:created>
  <dcterms:modified xsi:type="dcterms:W3CDTF">2021-04-19T07:00:05Z</dcterms:modified>
</cp:coreProperties>
</file>