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43"/>
  </p:notesMasterIdLst>
  <p:handoutMasterIdLst>
    <p:handoutMasterId r:id="rId44"/>
  </p:handoutMasterIdLst>
  <p:sldIdLst>
    <p:sldId id="256" r:id="rId3"/>
    <p:sldId id="308" r:id="rId4"/>
    <p:sldId id="309" r:id="rId5"/>
    <p:sldId id="258" r:id="rId6"/>
    <p:sldId id="259" r:id="rId7"/>
    <p:sldId id="260" r:id="rId8"/>
    <p:sldId id="261" r:id="rId9"/>
    <p:sldId id="303" r:id="rId10"/>
    <p:sldId id="304" r:id="rId11"/>
    <p:sldId id="306" r:id="rId12"/>
    <p:sldId id="300" r:id="rId13"/>
    <p:sldId id="264" r:id="rId14"/>
    <p:sldId id="266" r:id="rId15"/>
    <p:sldId id="267" r:id="rId16"/>
    <p:sldId id="307" r:id="rId17"/>
    <p:sldId id="269" r:id="rId18"/>
    <p:sldId id="270" r:id="rId19"/>
    <p:sldId id="272" r:id="rId20"/>
    <p:sldId id="314" r:id="rId21"/>
    <p:sldId id="313" r:id="rId22"/>
    <p:sldId id="273" r:id="rId23"/>
    <p:sldId id="274" r:id="rId24"/>
    <p:sldId id="275" r:id="rId25"/>
    <p:sldId id="276" r:id="rId26"/>
    <p:sldId id="277" r:id="rId27"/>
    <p:sldId id="280" r:id="rId28"/>
    <p:sldId id="281" r:id="rId29"/>
    <p:sldId id="282" r:id="rId30"/>
    <p:sldId id="301" r:id="rId31"/>
    <p:sldId id="283" r:id="rId32"/>
    <p:sldId id="284" r:id="rId33"/>
    <p:sldId id="285" r:id="rId34"/>
    <p:sldId id="905" r:id="rId35"/>
    <p:sldId id="286" r:id="rId36"/>
    <p:sldId id="291" r:id="rId37"/>
    <p:sldId id="294" r:id="rId38"/>
    <p:sldId id="295" r:id="rId39"/>
    <p:sldId id="296" r:id="rId40"/>
    <p:sldId id="305" r:id="rId41"/>
    <p:sldId id="298" r:id="rId42"/>
  </p:sldIdLst>
  <p:sldSz cx="9144000" cy="6858000" type="screen4x3"/>
  <p:notesSz cx="6797675" cy="9928225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229DBFF-8306-4631-A6EE-56D72A87A192}">
          <p14:sldIdLst>
            <p14:sldId id="256"/>
            <p14:sldId id="308"/>
            <p14:sldId id="309"/>
            <p14:sldId id="258"/>
            <p14:sldId id="259"/>
            <p14:sldId id="260"/>
            <p14:sldId id="261"/>
            <p14:sldId id="303"/>
            <p14:sldId id="304"/>
            <p14:sldId id="306"/>
            <p14:sldId id="300"/>
            <p14:sldId id="264"/>
            <p14:sldId id="266"/>
            <p14:sldId id="267"/>
            <p14:sldId id="307"/>
            <p14:sldId id="269"/>
            <p14:sldId id="270"/>
            <p14:sldId id="272"/>
            <p14:sldId id="314"/>
            <p14:sldId id="313"/>
            <p14:sldId id="273"/>
            <p14:sldId id="274"/>
            <p14:sldId id="275"/>
            <p14:sldId id="276"/>
            <p14:sldId id="277"/>
            <p14:sldId id="280"/>
            <p14:sldId id="281"/>
            <p14:sldId id="282"/>
            <p14:sldId id="301"/>
            <p14:sldId id="283"/>
            <p14:sldId id="284"/>
            <p14:sldId id="285"/>
            <p14:sldId id="905"/>
            <p14:sldId id="286"/>
            <p14:sldId id="291"/>
            <p14:sldId id="294"/>
            <p14:sldId id="295"/>
            <p14:sldId id="296"/>
            <p14:sldId id="305"/>
            <p14:sldId id="298"/>
          </p14:sldIdLst>
        </p14:section>
        <p14:section name="Untitled Section" id="{BC9BB248-2099-4944-9BCA-82977D62DC9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2" pos="24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996633"/>
    <a:srgbClr val="FFE05B"/>
    <a:srgbClr val="FFCC66"/>
    <a:srgbClr val="800000"/>
    <a:srgbClr val="FFFFCC"/>
    <a:srgbClr val="CCECFF"/>
    <a:srgbClr val="99CCFF"/>
    <a:srgbClr val="6633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0054A1-C4D1-4217-A069-EE187CE4CB1C}" v="6" dt="2021-06-08T10:29:50.3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7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20" y="96"/>
      </p:cViewPr>
      <p:guideLst>
        <p:guide orient="horz" pos="232"/>
        <p:guide pos="24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5592"/>
    </p:cViewPr>
  </p:sorterViewPr>
  <p:notesViewPr>
    <p:cSldViewPr snapToGrid="0">
      <p:cViewPr varScale="1">
        <p:scale>
          <a:sx n="65" d="100"/>
          <a:sy n="65" d="100"/>
        </p:scale>
        <p:origin x="-1092" y="-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y Foss" userId="09ac0925-c8bb-438c-a205-6311faa2bcaf" providerId="ADAL" clId="{934C42F0-E8C0-420F-BCC5-B7DA20BD6DC2}"/>
    <pc:docChg chg="modSld sldOrd">
      <pc:chgData name="Jeremy Foss" userId="09ac0925-c8bb-438c-a205-6311faa2bcaf" providerId="ADAL" clId="{934C42F0-E8C0-420F-BCC5-B7DA20BD6DC2}" dt="2019-05-13T19:45:04.264" v="0"/>
      <pc:docMkLst>
        <pc:docMk/>
      </pc:docMkLst>
      <pc:sldChg chg="ord">
        <pc:chgData name="Jeremy Foss" userId="09ac0925-c8bb-438c-a205-6311faa2bcaf" providerId="ADAL" clId="{934C42F0-E8C0-420F-BCC5-B7DA20BD6DC2}" dt="2019-05-13T19:45:04.264" v="0"/>
        <pc:sldMkLst>
          <pc:docMk/>
          <pc:sldMk cId="201712937" sldId="314"/>
        </pc:sldMkLst>
      </pc:sldChg>
    </pc:docChg>
  </pc:docChgLst>
  <pc:docChgLst>
    <pc:chgData name="Jeremy Foss" userId="09ac0925-c8bb-438c-a205-6311faa2bcaf" providerId="ADAL" clId="{A80054A1-C4D1-4217-A069-EE187CE4CB1C}"/>
    <pc:docChg chg="addSld delSld modSld modSection">
      <pc:chgData name="Jeremy Foss" userId="09ac0925-c8bb-438c-a205-6311faa2bcaf" providerId="ADAL" clId="{A80054A1-C4D1-4217-A069-EE187CE4CB1C}" dt="2021-06-08T21:36:49.447" v="12" actId="2696"/>
      <pc:docMkLst>
        <pc:docMk/>
      </pc:docMkLst>
      <pc:sldChg chg="addSp delSp modSp">
        <pc:chgData name="Jeremy Foss" userId="09ac0925-c8bb-438c-a205-6311faa2bcaf" providerId="ADAL" clId="{A80054A1-C4D1-4217-A069-EE187CE4CB1C}" dt="2021-06-08T10:29:50.344" v="9" actId="478"/>
        <pc:sldMkLst>
          <pc:docMk/>
          <pc:sldMk cId="2785098844" sldId="285"/>
        </pc:sldMkLst>
        <pc:picChg chg="add del mod">
          <ac:chgData name="Jeremy Foss" userId="09ac0925-c8bb-438c-a205-6311faa2bcaf" providerId="ADAL" clId="{A80054A1-C4D1-4217-A069-EE187CE4CB1C}" dt="2021-06-08T10:29:50.344" v="9" actId="478"/>
          <ac:picMkLst>
            <pc:docMk/>
            <pc:sldMk cId="2785098844" sldId="285"/>
            <ac:picMk id="5305" creationId="{00000000-0000-0000-0000-000000000000}"/>
          </ac:picMkLst>
        </pc:picChg>
      </pc:sldChg>
      <pc:sldChg chg="del">
        <pc:chgData name="Jeremy Foss" userId="09ac0925-c8bb-438c-a205-6311faa2bcaf" providerId="ADAL" clId="{A80054A1-C4D1-4217-A069-EE187CE4CB1C}" dt="2021-06-08T10:28:22.813" v="5" actId="47"/>
        <pc:sldMkLst>
          <pc:docMk/>
          <pc:sldMk cId="51033779" sldId="292"/>
        </pc:sldMkLst>
      </pc:sldChg>
      <pc:sldChg chg="del">
        <pc:chgData name="Jeremy Foss" userId="09ac0925-c8bb-438c-a205-6311faa2bcaf" providerId="ADAL" clId="{A80054A1-C4D1-4217-A069-EE187CE4CB1C}" dt="2021-06-08T10:28:22.813" v="5" actId="47"/>
        <pc:sldMkLst>
          <pc:docMk/>
          <pc:sldMk cId="199543574" sldId="293"/>
        </pc:sldMkLst>
      </pc:sldChg>
      <pc:sldChg chg="modSp del mod">
        <pc:chgData name="Jeremy Foss" userId="09ac0925-c8bb-438c-a205-6311faa2bcaf" providerId="ADAL" clId="{A80054A1-C4D1-4217-A069-EE187CE4CB1C}" dt="2021-06-08T21:36:49.447" v="12" actId="2696"/>
        <pc:sldMkLst>
          <pc:docMk/>
          <pc:sldMk cId="3737626060" sldId="302"/>
        </pc:sldMkLst>
        <pc:spChg chg="mod">
          <ac:chgData name="Jeremy Foss" userId="09ac0925-c8bb-438c-a205-6311faa2bcaf" providerId="ADAL" clId="{A80054A1-C4D1-4217-A069-EE187CE4CB1C}" dt="2021-06-08T21:36:36.998" v="11" actId="6549"/>
          <ac:spMkLst>
            <pc:docMk/>
            <pc:sldMk cId="3737626060" sldId="302"/>
            <ac:spMk id="5" creationId="{00000000-0000-0000-0000-000000000000}"/>
          </ac:spMkLst>
        </pc:spChg>
        <pc:spChg chg="mod">
          <ac:chgData name="Jeremy Foss" userId="09ac0925-c8bb-438c-a205-6311faa2bcaf" providerId="ADAL" clId="{A80054A1-C4D1-4217-A069-EE187CE4CB1C}" dt="2021-06-08T21:36:22.122" v="10" actId="20577"/>
          <ac:spMkLst>
            <pc:docMk/>
            <pc:sldMk cId="3737626060" sldId="302"/>
            <ac:spMk id="6" creationId="{00000000-0000-0000-0000-000000000000}"/>
          </ac:spMkLst>
        </pc:spChg>
      </pc:sldChg>
      <pc:sldChg chg="modSp del mod">
        <pc:chgData name="Jeremy Foss" userId="09ac0925-c8bb-438c-a205-6311faa2bcaf" providerId="ADAL" clId="{A80054A1-C4D1-4217-A069-EE187CE4CB1C}" dt="2021-06-08T10:28:22.813" v="5" actId="47"/>
        <pc:sldMkLst>
          <pc:docMk/>
          <pc:sldMk cId="193093489" sldId="315"/>
        </pc:sldMkLst>
        <pc:spChg chg="mod">
          <ac:chgData name="Jeremy Foss" userId="09ac0925-c8bb-438c-a205-6311faa2bcaf" providerId="ADAL" clId="{A80054A1-C4D1-4217-A069-EE187CE4CB1C}" dt="2021-06-08T10:27:58.660" v="2" actId="1076"/>
          <ac:spMkLst>
            <pc:docMk/>
            <pc:sldMk cId="193093489" sldId="315"/>
            <ac:spMk id="5" creationId="{00000000-0000-0000-0000-000000000000}"/>
          </ac:spMkLst>
        </pc:spChg>
        <pc:picChg chg="mod">
          <ac:chgData name="Jeremy Foss" userId="09ac0925-c8bb-438c-a205-6311faa2bcaf" providerId="ADAL" clId="{A80054A1-C4D1-4217-A069-EE187CE4CB1C}" dt="2021-06-08T10:28:01.248" v="3" actId="1076"/>
          <ac:picMkLst>
            <pc:docMk/>
            <pc:sldMk cId="193093489" sldId="315"/>
            <ac:picMk id="6" creationId="{00000000-0000-0000-0000-000000000000}"/>
          </ac:picMkLst>
        </pc:picChg>
        <pc:picChg chg="mod">
          <ac:chgData name="Jeremy Foss" userId="09ac0925-c8bb-438c-a205-6311faa2bcaf" providerId="ADAL" clId="{A80054A1-C4D1-4217-A069-EE187CE4CB1C}" dt="2021-06-08T10:28:02.904" v="4" actId="1076"/>
          <ac:picMkLst>
            <pc:docMk/>
            <pc:sldMk cId="193093489" sldId="315"/>
            <ac:picMk id="10242" creationId="{00000000-0000-0000-0000-000000000000}"/>
          </ac:picMkLst>
        </pc:picChg>
      </pc:sldChg>
      <pc:sldChg chg="add">
        <pc:chgData name="Jeremy Foss" userId="09ac0925-c8bb-438c-a205-6311faa2bcaf" providerId="ADAL" clId="{A80054A1-C4D1-4217-A069-EE187CE4CB1C}" dt="2021-06-08T10:29:39.617" v="7"/>
        <pc:sldMkLst>
          <pc:docMk/>
          <pc:sldMk cId="2950985856" sldId="905"/>
        </pc:sldMkLst>
      </pc:sldChg>
    </pc:docChg>
  </pc:docChgLst>
  <pc:docChgLst>
    <pc:chgData name="Jeremy Foss" userId="09ac0925-c8bb-438c-a205-6311faa2bcaf" providerId="ADAL" clId="{1C4BF7E9-F1BD-463B-BE61-218F791D277D}"/>
    <pc:docChg chg="custSel addSld delSld modSld sldOrd modSection modNotesMaster modHandout">
      <pc:chgData name="Jeremy Foss" userId="09ac0925-c8bb-438c-a205-6311faa2bcaf" providerId="ADAL" clId="{1C4BF7E9-F1BD-463B-BE61-218F791D277D}" dt="2019-05-13T14:05:37.789" v="8"/>
      <pc:docMkLst>
        <pc:docMk/>
      </pc:docMkLst>
      <pc:sldChg chg="del">
        <pc:chgData name="Jeremy Foss" userId="09ac0925-c8bb-438c-a205-6311faa2bcaf" providerId="ADAL" clId="{1C4BF7E9-F1BD-463B-BE61-218F791D277D}" dt="2019-05-13T14:04:25.027" v="1" actId="2696"/>
        <pc:sldMkLst>
          <pc:docMk/>
          <pc:sldMk cId="236803538" sldId="279"/>
        </pc:sldMkLst>
      </pc:sldChg>
      <pc:sldChg chg="modNotes">
        <pc:chgData name="Jeremy Foss" userId="09ac0925-c8bb-438c-a205-6311faa2bcaf" providerId="ADAL" clId="{1C4BF7E9-F1BD-463B-BE61-218F791D277D}" dt="2019-05-13T14:05:37.789" v="8"/>
        <pc:sldMkLst>
          <pc:docMk/>
          <pc:sldMk cId="3735952647" sldId="281"/>
        </pc:sldMkLst>
      </pc:sldChg>
      <pc:sldChg chg="modNotes">
        <pc:chgData name="Jeremy Foss" userId="09ac0925-c8bb-438c-a205-6311faa2bcaf" providerId="ADAL" clId="{1C4BF7E9-F1BD-463B-BE61-218F791D277D}" dt="2019-05-13T14:05:37.789" v="8"/>
        <pc:sldMkLst>
          <pc:docMk/>
          <pc:sldMk cId="2785098844" sldId="285"/>
        </pc:sldMkLst>
      </pc:sldChg>
      <pc:sldChg chg="modNotes">
        <pc:chgData name="Jeremy Foss" userId="09ac0925-c8bb-438c-a205-6311faa2bcaf" providerId="ADAL" clId="{1C4BF7E9-F1BD-463B-BE61-218F791D277D}" dt="2019-05-13T14:05:37.789" v="8"/>
        <pc:sldMkLst>
          <pc:docMk/>
          <pc:sldMk cId="673688255" sldId="291"/>
        </pc:sldMkLst>
      </pc:sldChg>
      <pc:sldChg chg="del">
        <pc:chgData name="Jeremy Foss" userId="09ac0925-c8bb-438c-a205-6311faa2bcaf" providerId="ADAL" clId="{1C4BF7E9-F1BD-463B-BE61-218F791D277D}" dt="2019-05-13T14:04:27.171" v="2" actId="2696"/>
        <pc:sldMkLst>
          <pc:docMk/>
          <pc:sldMk cId="3860065483" sldId="310"/>
        </pc:sldMkLst>
      </pc:sldChg>
      <pc:sldChg chg="del">
        <pc:chgData name="Jeremy Foss" userId="09ac0925-c8bb-438c-a205-6311faa2bcaf" providerId="ADAL" clId="{1C4BF7E9-F1BD-463B-BE61-218F791D277D}" dt="2019-05-13T14:04:06.563" v="0" actId="2696"/>
        <pc:sldMkLst>
          <pc:docMk/>
          <pc:sldMk cId="1311468510" sldId="311"/>
        </pc:sldMkLst>
      </pc:sldChg>
      <pc:sldChg chg="del">
        <pc:chgData name="Jeremy Foss" userId="09ac0925-c8bb-438c-a205-6311faa2bcaf" providerId="ADAL" clId="{1C4BF7E9-F1BD-463B-BE61-218F791D277D}" dt="2019-05-13T14:05:02.401" v="3" actId="2696"/>
        <pc:sldMkLst>
          <pc:docMk/>
          <pc:sldMk cId="652186342" sldId="312"/>
        </pc:sldMkLst>
      </pc:sldChg>
      <pc:sldChg chg="add ord">
        <pc:chgData name="Jeremy Foss" userId="09ac0925-c8bb-438c-a205-6311faa2bcaf" providerId="ADAL" clId="{1C4BF7E9-F1BD-463B-BE61-218F791D277D}" dt="2019-05-13T14:05:25.285" v="7"/>
        <pc:sldMkLst>
          <pc:docMk/>
          <pc:sldMk cId="306419404" sldId="313"/>
        </pc:sldMkLst>
      </pc:sldChg>
      <pc:sldChg chg="del">
        <pc:chgData name="Jeremy Foss" userId="09ac0925-c8bb-438c-a205-6311faa2bcaf" providerId="ADAL" clId="{1C4BF7E9-F1BD-463B-BE61-218F791D277D}" dt="2019-05-13T14:05:06.094" v="4" actId="2696"/>
        <pc:sldMkLst>
          <pc:docMk/>
          <pc:sldMk cId="751637222" sldId="313"/>
        </pc:sldMkLst>
      </pc:sldChg>
      <pc:sldChg chg="add ord">
        <pc:chgData name="Jeremy Foss" userId="09ac0925-c8bb-438c-a205-6311faa2bcaf" providerId="ADAL" clId="{1C4BF7E9-F1BD-463B-BE61-218F791D277D}" dt="2019-05-13T14:05:25.285" v="7"/>
        <pc:sldMkLst>
          <pc:docMk/>
          <pc:sldMk cId="201712937" sldId="314"/>
        </pc:sldMkLst>
      </pc:sldChg>
      <pc:sldChg chg="del">
        <pc:chgData name="Jeremy Foss" userId="09ac0925-c8bb-438c-a205-6311faa2bcaf" providerId="ADAL" clId="{1C4BF7E9-F1BD-463B-BE61-218F791D277D}" dt="2019-05-13T14:05:06.109" v="5" actId="2696"/>
        <pc:sldMkLst>
          <pc:docMk/>
          <pc:sldMk cId="3697081988" sldId="31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FCF019E-1375-4D69-90D7-05D62CCBD7E5}" type="datetimeFigureOut">
              <a:rPr lang="en-US"/>
              <a:pPr>
                <a:defRPr/>
              </a:pPr>
              <a:t>6/8/2021</a:t>
            </a:fld>
            <a:endParaRPr 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0E66841-25FA-4912-8AB9-E1C40B0866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0822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016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357" y="4715907"/>
            <a:ext cx="4984962" cy="4467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814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016" y="9431814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FA0F4D4-A3A6-48C1-B1F1-4280E9CA50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18174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32FAAA-12F3-4BC2-A6AB-5F2151B69C26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86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fld id="{B17CDBB4-DCD3-4950-8CBE-F54F99C1004D}" type="slidenum">
              <a:rPr lang="en-GB" sz="1200" smtClean="0"/>
              <a:pPr/>
              <a:t>16</a:t>
            </a:fld>
            <a:endParaRPr lang="en-GB" sz="12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91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fld id="{B17CDBB4-DCD3-4950-8CBE-F54F99C1004D}" type="slidenum">
              <a:rPr lang="en-GB" sz="1200" smtClean="0"/>
              <a:pPr/>
              <a:t>17</a:t>
            </a:fld>
            <a:endParaRPr lang="en-GB" sz="12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05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fld id="{B17CDBB4-DCD3-4950-8CBE-F54F99C1004D}" type="slidenum">
              <a:rPr lang="en-GB" sz="1200" smtClean="0"/>
              <a:pPr/>
              <a:t>19</a:t>
            </a:fld>
            <a:endParaRPr lang="en-GB" sz="12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30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fld id="{BED42573-1AE4-48D4-8351-830D963039EB}" type="slidenum">
              <a:rPr lang="en-GB" sz="1200" smtClean="0"/>
              <a:pPr/>
              <a:t>27</a:t>
            </a:fld>
            <a:endParaRPr lang="en-GB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1475" y="627063"/>
            <a:ext cx="5380038" cy="4037012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endParaRPr lang="en-GB" sz="2000" b="1" i="1">
              <a:latin typeface="Tahoma" pitchFamily="34" charset="0"/>
            </a:endParaRPr>
          </a:p>
          <a:p>
            <a:pPr algn="r"/>
            <a:endParaRPr lang="en-GB" sz="2000" b="1" i="1">
              <a:latin typeface="Tahoma" pitchFamily="34" charset="0"/>
            </a:endParaRPr>
          </a:p>
          <a:p>
            <a:pPr algn="r"/>
            <a:endParaRPr lang="en-GB" sz="2000" b="1" i="1">
              <a:latin typeface="Tahoma" pitchFamily="34" charset="0"/>
            </a:endParaRPr>
          </a:p>
          <a:p>
            <a:pPr algn="r"/>
            <a:endParaRPr lang="en-GB" sz="2000" b="1" i="1">
              <a:latin typeface="Tahoma" pitchFamily="34" charset="0"/>
            </a:endParaRPr>
          </a:p>
          <a:p>
            <a:pPr algn="r"/>
            <a:endParaRPr lang="en-GB" sz="2000" b="1" i="1">
              <a:latin typeface="Tahoma" pitchFamily="34" charset="0"/>
            </a:endParaRPr>
          </a:p>
          <a:p>
            <a:pPr algn="r"/>
            <a:endParaRPr lang="en-GB" sz="2000" b="1" i="1">
              <a:latin typeface="Tahoma" pitchFamily="34" charset="0"/>
            </a:endParaRPr>
          </a:p>
          <a:p>
            <a:pPr algn="r"/>
            <a:endParaRPr lang="en-GB" sz="2000" b="1" i="1">
              <a:latin typeface="Tahoma" pitchFamily="34" charset="0"/>
            </a:endParaRPr>
          </a:p>
          <a:p>
            <a:pPr algn="r"/>
            <a:endParaRPr lang="en-GB" sz="2000" b="1" i="1">
              <a:latin typeface="Tahoma" pitchFamily="34" charset="0"/>
            </a:endParaRPr>
          </a:p>
          <a:p>
            <a:pPr algn="r"/>
            <a:r>
              <a:rPr lang="en-GB" sz="2000" b="1" i="1">
                <a:latin typeface="Tahoma" pitchFamily="34" charset="0"/>
              </a:rPr>
              <a:t>-----------------------------------------</a:t>
            </a:r>
          </a:p>
          <a:p>
            <a:pPr algn="r"/>
            <a:r>
              <a:rPr lang="en-GB" sz="2000" b="1" i="1">
                <a:latin typeface="Tahoma" pitchFamily="34" charset="0"/>
              </a:rPr>
              <a:t>&gt;&gt; CMTS</a:t>
            </a:r>
            <a:endParaRPr lang="en-GB" sz="1000" b="1" i="1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88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E9FBCC-54B6-4EBE-814E-98F849CABBA7}" type="slidenum">
              <a:rPr lang="en-US" smtClean="0">
                <a:latin typeface="Arial" charset="0"/>
              </a:rPr>
              <a:pPr/>
              <a:t>32</a:t>
            </a:fld>
            <a:endParaRPr lang="en-US">
              <a:latin typeface="Arial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2125" y="627063"/>
            <a:ext cx="3943350" cy="2959100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597" y="3677179"/>
            <a:ext cx="5452406" cy="6726545"/>
          </a:xfrm>
          <a:noFill/>
          <a:ln/>
        </p:spPr>
        <p:txBody>
          <a:bodyPr/>
          <a:lstStyle/>
          <a:p>
            <a:pPr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 b="1" u="sng">
                <a:latin typeface="Arial" charset="0"/>
              </a:rPr>
              <a:t>IP services</a:t>
            </a:r>
          </a:p>
          <a:p>
            <a:pPr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 b="1">
                <a:latin typeface="Arial" charset="0"/>
              </a:rPr>
              <a:t>&gt;&gt;&gt;&gt;</a:t>
            </a:r>
            <a:r>
              <a:rPr lang="en-GB" sz="1800">
                <a:latin typeface="Arial" charset="0"/>
              </a:rPr>
              <a:t>	- SSw  </a:t>
            </a:r>
          </a:p>
          <a:p>
            <a:pPr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 b="1">
                <a:latin typeface="Arial" charset="0"/>
              </a:rPr>
              <a:t>&gt;&gt;&gt;&gt;</a:t>
            </a:r>
            <a:r>
              <a:rPr lang="en-GB" sz="1800">
                <a:latin typeface="Arial" charset="0"/>
              </a:rPr>
              <a:t>	- www  </a:t>
            </a:r>
          </a:p>
          <a:p>
            <a:pPr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 b="1">
                <a:latin typeface="Arial" charset="0"/>
              </a:rPr>
              <a:t>&gt;&gt;&gt;&gt;</a:t>
            </a:r>
            <a:r>
              <a:rPr lang="en-GB" sz="1800">
                <a:latin typeface="Arial" charset="0"/>
              </a:rPr>
              <a:t>	- Walled Garden    </a:t>
            </a:r>
          </a:p>
          <a:p>
            <a:pPr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 b="1">
                <a:latin typeface="Arial" charset="0"/>
              </a:rPr>
              <a:t>&gt;&gt;&gt;&gt;</a:t>
            </a:r>
            <a:r>
              <a:rPr lang="en-GB" sz="1800">
                <a:latin typeface="Arial" charset="0"/>
              </a:rPr>
              <a:t>	-  video headend</a:t>
            </a:r>
          </a:p>
          <a:p>
            <a:pPr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>
                <a:latin typeface="Arial" charset="0"/>
              </a:rPr>
              <a:t>		</a:t>
            </a:r>
          </a:p>
          <a:p>
            <a:pPr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 u="sng">
                <a:latin typeface="Arial" charset="0"/>
              </a:rPr>
              <a:t>&gt;&gt;&gt;&gt; </a:t>
            </a:r>
            <a:r>
              <a:rPr lang="en-GB" sz="1800" b="1" u="sng">
                <a:latin typeface="Arial" charset="0"/>
              </a:rPr>
              <a:t>Network</a:t>
            </a:r>
          </a:p>
          <a:p>
            <a:pPr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>
                <a:latin typeface="Arial" charset="0"/>
              </a:rPr>
              <a:t>- (MSAN)   </a:t>
            </a:r>
          </a:p>
          <a:p>
            <a:pPr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>
                <a:latin typeface="Arial" charset="0"/>
              </a:rPr>
              <a:t>IP  Router</a:t>
            </a:r>
          </a:p>
          <a:p>
            <a:pPr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>
                <a:latin typeface="Arial" charset="0"/>
              </a:rPr>
              <a:t>- ASX4000, BXR 48000</a:t>
            </a:r>
          </a:p>
          <a:p>
            <a:pPr eaLnBrk="1" hangingPunct="1">
              <a:tabLst>
                <a:tab pos="195263" algn="l"/>
                <a:tab pos="377825" algn="l"/>
                <a:tab pos="574675" algn="l"/>
              </a:tabLst>
            </a:pPr>
            <a:endParaRPr lang="en-GB">
              <a:latin typeface="Arial" charset="0"/>
            </a:endParaRPr>
          </a:p>
          <a:p>
            <a:pPr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 b="1" u="sng">
                <a:latin typeface="Arial" charset="0"/>
              </a:rPr>
              <a:t>&gt;&gt;&gt;&gt; B-RAS</a:t>
            </a:r>
            <a:endParaRPr lang="en-GB">
              <a:latin typeface="Arial" charset="0"/>
            </a:endParaRPr>
          </a:p>
          <a:p>
            <a:pPr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>
                <a:latin typeface="Arial" charset="0"/>
              </a:rPr>
              <a:t>migrate to edge - to MSAN</a:t>
            </a:r>
            <a:endParaRPr lang="en-GB">
              <a:latin typeface="Arial" charset="0"/>
            </a:endParaRPr>
          </a:p>
          <a:p>
            <a:pPr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 b="1" i="1">
                <a:latin typeface="Arial" charset="0"/>
              </a:rPr>
              <a:t>	[more later]</a:t>
            </a:r>
            <a:endParaRPr lang="en-GB">
              <a:latin typeface="Arial" charset="0"/>
            </a:endParaRPr>
          </a:p>
          <a:p>
            <a:pPr algn="r"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 b="1" i="1">
                <a:latin typeface="Arial" charset="0"/>
              </a:rPr>
              <a:t>---------------------</a:t>
            </a:r>
          </a:p>
          <a:p>
            <a:pPr algn="r" eaLnBrk="1" hangingPunct="1">
              <a:tabLst>
                <a:tab pos="195263" algn="l"/>
                <a:tab pos="377825" algn="l"/>
                <a:tab pos="574675" algn="l"/>
              </a:tabLst>
            </a:pPr>
            <a:r>
              <a:rPr lang="en-GB" sz="1800" b="1" i="1">
                <a:latin typeface="Arial" charset="0"/>
              </a:rPr>
              <a:t>Second Mile - Ethernet</a:t>
            </a:r>
          </a:p>
        </p:txBody>
      </p:sp>
    </p:spTree>
    <p:extLst>
      <p:ext uri="{BB962C8B-B14F-4D97-AF65-F5344CB8AC3E}">
        <p14:creationId xmlns:p14="http://schemas.microsoft.com/office/powerpoint/2010/main" val="1315116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4398B7-A7F5-431B-A560-18814FEF55E3}" type="slidenum">
              <a:rPr lang="en-US" smtClean="0">
                <a:latin typeface="Arial" charset="0"/>
              </a:rPr>
              <a:pPr/>
              <a:t>35</a:t>
            </a:fld>
            <a:endParaRPr lang="en-US">
              <a:latin typeface="Arial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54038" y="627063"/>
            <a:ext cx="3944937" cy="295910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597" y="3766865"/>
            <a:ext cx="5452406" cy="6636858"/>
          </a:xfrm>
          <a:noFill/>
          <a:ln/>
        </p:spPr>
        <p:txBody>
          <a:bodyPr/>
          <a:lstStyle/>
          <a:p>
            <a:pPr eaLnBrk="1" hangingPunct="1"/>
            <a:r>
              <a:rPr lang="en-GB" sz="1800">
                <a:latin typeface="Arial" charset="0"/>
              </a:rPr>
              <a:t>How much access bandwidth?</a:t>
            </a:r>
          </a:p>
          <a:p>
            <a:pPr eaLnBrk="1" hangingPunct="1"/>
            <a:endParaRPr lang="en-GB" sz="1800">
              <a:latin typeface="Arial" charset="0"/>
            </a:endParaRPr>
          </a:p>
          <a:p>
            <a:pPr eaLnBrk="1" hangingPunct="1"/>
            <a:r>
              <a:rPr lang="en-GB" sz="1800">
                <a:latin typeface="Arial" charset="0"/>
              </a:rPr>
              <a:t>- 100Mbs common in far east</a:t>
            </a:r>
          </a:p>
          <a:p>
            <a:pPr eaLnBrk="1" hangingPunct="1"/>
            <a:r>
              <a:rPr lang="en-GB" sz="1800">
                <a:latin typeface="Arial" charset="0"/>
              </a:rPr>
              <a:t>- 1Gbs in HK</a:t>
            </a:r>
          </a:p>
          <a:p>
            <a:pPr eaLnBrk="1" hangingPunct="1"/>
            <a:r>
              <a:rPr lang="en-GB" sz="1800">
                <a:latin typeface="Arial" charset="0"/>
              </a:rPr>
              <a:t>- (what do they do with it?) </a:t>
            </a:r>
          </a:p>
          <a:p>
            <a:pPr eaLnBrk="1" hangingPunct="1"/>
            <a:r>
              <a:rPr lang="en-GB" sz="1800">
                <a:latin typeface="Arial" charset="0"/>
              </a:rPr>
              <a:t>... instantaneous transfer of entire contents of HD </a:t>
            </a:r>
          </a:p>
          <a:p>
            <a:pPr eaLnBrk="1" hangingPunct="1"/>
            <a:r>
              <a:rPr lang="en-GB" sz="1800">
                <a:latin typeface="Arial" charset="0"/>
              </a:rPr>
              <a:t>... data back up</a:t>
            </a:r>
          </a:p>
          <a:p>
            <a:pPr eaLnBrk="1" hangingPunct="1"/>
            <a:r>
              <a:rPr lang="en-GB" sz="1800">
                <a:latin typeface="Arial" charset="0"/>
              </a:rPr>
              <a:t>====================</a:t>
            </a:r>
          </a:p>
          <a:p>
            <a:pPr eaLnBrk="1" hangingPunct="1"/>
            <a:endParaRPr lang="en-GB" sz="1800" i="1">
              <a:latin typeface="Arial" charset="0"/>
            </a:endParaRPr>
          </a:p>
          <a:p>
            <a:pPr eaLnBrk="1" hangingPunct="1"/>
            <a:r>
              <a:rPr lang="en-GB" sz="1800" i="1">
                <a:latin typeface="Arial" charset="0"/>
              </a:rPr>
              <a:t>Value Model - Players - Introduce some scenarios</a:t>
            </a:r>
            <a:endParaRPr lang="en-GB" sz="1800">
              <a:latin typeface="Arial" charset="0"/>
            </a:endParaRPr>
          </a:p>
          <a:p>
            <a:pPr eaLnBrk="1" hangingPunct="1"/>
            <a:endParaRPr lang="en-GB" sz="2400">
              <a:latin typeface="Arial" charset="0"/>
            </a:endParaRPr>
          </a:p>
          <a:p>
            <a:pPr eaLnBrk="1" hangingPunct="1"/>
            <a:endParaRPr lang="en-GB" sz="2400">
              <a:latin typeface="Arial" charset="0"/>
            </a:endParaRPr>
          </a:p>
          <a:p>
            <a:pPr algn="r" eaLnBrk="1" hangingPunct="1"/>
            <a:r>
              <a:rPr lang="en-GB" sz="1800" b="1" i="1">
                <a:latin typeface="Arial" charset="0"/>
              </a:rPr>
              <a:t>-----------------------------------------</a:t>
            </a:r>
            <a:endParaRPr lang="en-GB" sz="2400">
              <a:latin typeface="Arial" charset="0"/>
            </a:endParaRPr>
          </a:p>
          <a:p>
            <a:pPr algn="r" eaLnBrk="1" hangingPunct="1"/>
            <a:r>
              <a:rPr lang="en-GB" sz="1800" b="1" i="1">
                <a:latin typeface="Arial" charset="0"/>
              </a:rPr>
              <a:t>Media Industry Models</a:t>
            </a:r>
          </a:p>
        </p:txBody>
      </p:sp>
    </p:spTree>
    <p:extLst>
      <p:ext uri="{BB962C8B-B14F-4D97-AF65-F5344CB8AC3E}">
        <p14:creationId xmlns:p14="http://schemas.microsoft.com/office/powerpoint/2010/main" val="4026403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0238B-0726-474E-B974-88CBDE8C0C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F416D4-773B-48A2-8963-76985CBDF9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FCD34A-EAD6-4A2B-83C8-A41A7A6369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F2F47E-1FAC-4F39-B0C2-6BDEE08DC1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FF5F79-2FCA-49FD-9F46-111551135F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55E2EB-362B-43CF-A641-DDD1325436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6EFDB2-3113-4A37-B07C-D041BB6DF6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4BBE9-EDC8-4FC6-8E4A-9557837D9B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77EF81-6B76-4DEC-98FB-1D4D8A5EAB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FB5DE6-76C7-4CED-BEDC-D3B153CD27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464A3C-67AD-4626-8890-8B49EF23BC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 rot="10800000" flipH="1">
            <a:off x="0" y="0"/>
            <a:ext cx="9144000" cy="457200"/>
          </a:xfrm>
          <a:prstGeom prst="rect">
            <a:avLst/>
          </a:prstGeom>
          <a:gradFill rotWithShape="0">
            <a:gsLst>
              <a:gs pos="0">
                <a:srgbClr val="CCCCFF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0" y="6400800"/>
            <a:ext cx="9144000" cy="457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CCC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8" name="Rectangle 9"/>
          <p:cNvSpPr>
            <a:spLocks noChangeArrowheads="1"/>
          </p:cNvSpPr>
          <p:nvPr/>
        </p:nvSpPr>
        <p:spPr bwMode="auto">
          <a:xfrm>
            <a:off x="2387600" y="6591300"/>
            <a:ext cx="4392613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GB" sz="1200" dirty="0">
                <a:solidFill>
                  <a:srgbClr val="000066"/>
                </a:solidFill>
              </a:rPr>
              <a:t> Broadcast Technology UG1</a:t>
            </a:r>
          </a:p>
        </p:txBody>
      </p:sp>
      <p:sp>
        <p:nvSpPr>
          <p:cNvPr id="1029" name="Rectangle 10"/>
          <p:cNvSpPr>
            <a:spLocks noChangeArrowheads="1"/>
          </p:cNvSpPr>
          <p:nvPr/>
        </p:nvSpPr>
        <p:spPr bwMode="auto">
          <a:xfrm>
            <a:off x="0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GB" sz="1200">
                <a:solidFill>
                  <a:srgbClr val="000066"/>
                </a:solidFill>
              </a:rPr>
              <a:t>jeremy.foss@bcu.ac.uk</a:t>
            </a:r>
          </a:p>
        </p:txBody>
      </p:sp>
      <p:sp>
        <p:nvSpPr>
          <p:cNvPr id="1030" name="Rectangle 11"/>
          <p:cNvSpPr>
            <a:spLocks noChangeArrowheads="1"/>
          </p:cNvSpPr>
          <p:nvPr/>
        </p:nvSpPr>
        <p:spPr bwMode="auto">
          <a:xfrm>
            <a:off x="5868988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200">
              <a:solidFill>
                <a:srgbClr val="000066"/>
              </a:solidFill>
            </a:endParaRPr>
          </a:p>
        </p:txBody>
      </p:sp>
      <p:sp>
        <p:nvSpPr>
          <p:cNvPr id="1031" name="Rectangle 13"/>
          <p:cNvSpPr>
            <a:spLocks noChangeArrowheads="1"/>
          </p:cNvSpPr>
          <p:nvPr/>
        </p:nvSpPr>
        <p:spPr bwMode="auto">
          <a:xfrm>
            <a:off x="0" y="0"/>
            <a:ext cx="3492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200" b="1">
              <a:solidFill>
                <a:srgbClr val="000066"/>
              </a:solidFill>
            </a:endParaRPr>
          </a:p>
          <a:p>
            <a:pPr>
              <a:defRPr/>
            </a:pPr>
            <a:endParaRPr lang="en-GB" sz="1200">
              <a:solidFill>
                <a:srgbClr val="000066"/>
              </a:solidFill>
            </a:endParaRPr>
          </a:p>
        </p:txBody>
      </p:sp>
      <p:sp>
        <p:nvSpPr>
          <p:cNvPr id="1032" name="Rectangle 15"/>
          <p:cNvSpPr>
            <a:spLocks noChangeArrowheads="1"/>
          </p:cNvSpPr>
          <p:nvPr userDrawn="1"/>
        </p:nvSpPr>
        <p:spPr bwMode="auto">
          <a:xfrm>
            <a:off x="6248400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r>
              <a:rPr lang="en-GB" sz="1200">
                <a:solidFill>
                  <a:srgbClr val="000066"/>
                </a:solidFill>
              </a:rPr>
              <a:t>Jerry Foss, CEng, MIET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28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28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28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16144C6-4CBB-464E-8B86-D02262D719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cisco.com/c/en/us/solutions/service-provider/distribution/index.html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oleObject" Target="../embeddings/oleObject10.bin"/><Relationship Id="rId18" Type="http://schemas.openxmlformats.org/officeDocument/2006/relationships/oleObject" Target="../embeddings/oleObject14.bin"/><Relationship Id="rId3" Type="http://schemas.openxmlformats.org/officeDocument/2006/relationships/image" Target="../media/image2.png"/><Relationship Id="rId7" Type="http://schemas.openxmlformats.org/officeDocument/2006/relationships/oleObject" Target="../embeddings/oleObject4.bin"/><Relationship Id="rId12" Type="http://schemas.openxmlformats.org/officeDocument/2006/relationships/oleObject" Target="../embeddings/oleObject9.bin"/><Relationship Id="rId17" Type="http://schemas.openxmlformats.org/officeDocument/2006/relationships/oleObject" Target="../embeddings/oleObject13.bin"/><Relationship Id="rId2" Type="http://schemas.openxmlformats.org/officeDocument/2006/relationships/oleObject" Target="../embeddings/oleObject1.bin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8.bin"/><Relationship Id="rId5" Type="http://schemas.openxmlformats.org/officeDocument/2006/relationships/image" Target="../media/image3.png"/><Relationship Id="rId15" Type="http://schemas.openxmlformats.org/officeDocument/2006/relationships/oleObject" Target="../embeddings/oleObject12.bin"/><Relationship Id="rId10" Type="http://schemas.openxmlformats.org/officeDocument/2006/relationships/oleObject" Target="../embeddings/oleObject7.bin"/><Relationship Id="rId19" Type="http://schemas.openxmlformats.org/officeDocument/2006/relationships/image" Target="../media/image5.gif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6.bin"/><Relationship Id="rId14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oleObject" Target="../embeddings/oleObject23.bin"/><Relationship Id="rId18" Type="http://schemas.openxmlformats.org/officeDocument/2006/relationships/oleObject" Target="../embeddings/oleObject27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4.png"/><Relationship Id="rId2" Type="http://schemas.openxmlformats.org/officeDocument/2006/relationships/image" Target="../media/image6.png"/><Relationship Id="rId16" Type="http://schemas.openxmlformats.org/officeDocument/2006/relationships/oleObject" Target="../embeddings/oleObject26.bin"/><Relationship Id="rId20" Type="http://schemas.openxmlformats.org/officeDocument/2006/relationships/image" Target="../media/image5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5.bin"/><Relationship Id="rId10" Type="http://schemas.openxmlformats.org/officeDocument/2006/relationships/oleObject" Target="../embeddings/oleObject20.bin"/><Relationship Id="rId19" Type="http://schemas.openxmlformats.org/officeDocument/2006/relationships/oleObject" Target="../embeddings/oleObject28.bin"/><Relationship Id="rId4" Type="http://schemas.openxmlformats.org/officeDocument/2006/relationships/image" Target="../media/image2.png"/><Relationship Id="rId9" Type="http://schemas.openxmlformats.org/officeDocument/2006/relationships/oleObject" Target="../embeddings/oleObject19.bin"/><Relationship Id="rId14" Type="http://schemas.openxmlformats.org/officeDocument/2006/relationships/oleObject" Target="../embeddings/oleObject2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5.gif"/><Relationship Id="rId3" Type="http://schemas.openxmlformats.org/officeDocument/2006/relationships/image" Target="../media/image2.png"/><Relationship Id="rId7" Type="http://schemas.openxmlformats.org/officeDocument/2006/relationships/oleObject" Target="../embeddings/oleObject32.bin"/><Relationship Id="rId12" Type="http://schemas.openxmlformats.org/officeDocument/2006/relationships/oleObject" Target="../embeddings/oleObject37.bin"/><Relationship Id="rId17" Type="http://schemas.openxmlformats.org/officeDocument/2006/relationships/oleObject" Target="../embeddings/oleObject41.bin"/><Relationship Id="rId2" Type="http://schemas.openxmlformats.org/officeDocument/2006/relationships/oleObject" Target="../embeddings/oleObject29.bin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1.bin"/><Relationship Id="rId11" Type="http://schemas.openxmlformats.org/officeDocument/2006/relationships/oleObject" Target="../embeddings/oleObject36.bin"/><Relationship Id="rId5" Type="http://schemas.openxmlformats.org/officeDocument/2006/relationships/image" Target="../media/image3.png"/><Relationship Id="rId15" Type="http://schemas.openxmlformats.org/officeDocument/2006/relationships/oleObject" Target="../embeddings/oleObject40.bin"/><Relationship Id="rId10" Type="http://schemas.openxmlformats.org/officeDocument/2006/relationships/oleObject" Target="../embeddings/oleObject35.bin"/><Relationship Id="rId19" Type="http://schemas.openxmlformats.org/officeDocument/2006/relationships/image" Target="../media/image7.png"/><Relationship Id="rId4" Type="http://schemas.openxmlformats.org/officeDocument/2006/relationships/oleObject" Target="../embeddings/oleObject30.bin"/><Relationship Id="rId9" Type="http://schemas.openxmlformats.org/officeDocument/2006/relationships/oleObject" Target="../embeddings/oleObject34.bin"/><Relationship Id="rId14" Type="http://schemas.openxmlformats.org/officeDocument/2006/relationships/oleObject" Target="../embeddings/oleObject39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13" Type="http://schemas.openxmlformats.org/officeDocument/2006/relationships/oleObject" Target="../embeddings/oleObject51.bin"/><Relationship Id="rId18" Type="http://schemas.openxmlformats.org/officeDocument/2006/relationships/oleObject" Target="../embeddings/oleObject55.bin"/><Relationship Id="rId3" Type="http://schemas.openxmlformats.org/officeDocument/2006/relationships/image" Target="../media/image2.png"/><Relationship Id="rId7" Type="http://schemas.openxmlformats.org/officeDocument/2006/relationships/oleObject" Target="../embeddings/oleObject45.bin"/><Relationship Id="rId12" Type="http://schemas.openxmlformats.org/officeDocument/2006/relationships/oleObject" Target="../embeddings/oleObject50.bin"/><Relationship Id="rId17" Type="http://schemas.openxmlformats.org/officeDocument/2006/relationships/oleObject" Target="../embeddings/oleObject54.bin"/><Relationship Id="rId2" Type="http://schemas.openxmlformats.org/officeDocument/2006/relationships/oleObject" Target="../embeddings/oleObject42.bin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4.bin"/><Relationship Id="rId11" Type="http://schemas.openxmlformats.org/officeDocument/2006/relationships/oleObject" Target="../embeddings/oleObject49.bin"/><Relationship Id="rId5" Type="http://schemas.openxmlformats.org/officeDocument/2006/relationships/image" Target="../media/image3.png"/><Relationship Id="rId15" Type="http://schemas.openxmlformats.org/officeDocument/2006/relationships/oleObject" Target="../embeddings/oleObject53.bin"/><Relationship Id="rId10" Type="http://schemas.openxmlformats.org/officeDocument/2006/relationships/oleObject" Target="../embeddings/oleObject48.bin"/><Relationship Id="rId19" Type="http://schemas.openxmlformats.org/officeDocument/2006/relationships/image" Target="../media/image5.gif"/><Relationship Id="rId4" Type="http://schemas.openxmlformats.org/officeDocument/2006/relationships/oleObject" Target="../embeddings/oleObject43.bin"/><Relationship Id="rId9" Type="http://schemas.openxmlformats.org/officeDocument/2006/relationships/oleObject" Target="../embeddings/oleObject47.bin"/><Relationship Id="rId14" Type="http://schemas.openxmlformats.org/officeDocument/2006/relationships/oleObject" Target="../embeddings/oleObject5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oleObject" Target="../embeddings/oleObject65.bin"/><Relationship Id="rId1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oleObject" Target="../embeddings/oleObject59.bin"/><Relationship Id="rId12" Type="http://schemas.openxmlformats.org/officeDocument/2006/relationships/oleObject" Target="../embeddings/oleObject64.bin"/><Relationship Id="rId17" Type="http://schemas.openxmlformats.org/officeDocument/2006/relationships/oleObject" Target="../embeddings/oleObject69.bin"/><Relationship Id="rId2" Type="http://schemas.openxmlformats.org/officeDocument/2006/relationships/oleObject" Target="../embeddings/oleObject56.bin"/><Relationship Id="rId16" Type="http://schemas.openxmlformats.org/officeDocument/2006/relationships/oleObject" Target="../embeddings/oleObject6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8.bin"/><Relationship Id="rId11" Type="http://schemas.openxmlformats.org/officeDocument/2006/relationships/oleObject" Target="../embeddings/oleObject63.bin"/><Relationship Id="rId5" Type="http://schemas.openxmlformats.org/officeDocument/2006/relationships/image" Target="../media/image3.png"/><Relationship Id="rId15" Type="http://schemas.openxmlformats.org/officeDocument/2006/relationships/oleObject" Target="../embeddings/oleObject67.bin"/><Relationship Id="rId10" Type="http://schemas.openxmlformats.org/officeDocument/2006/relationships/oleObject" Target="../embeddings/oleObject62.bin"/><Relationship Id="rId19" Type="http://schemas.openxmlformats.org/officeDocument/2006/relationships/image" Target="../media/image5.gif"/><Relationship Id="rId4" Type="http://schemas.openxmlformats.org/officeDocument/2006/relationships/oleObject" Target="../embeddings/oleObject57.bin"/><Relationship Id="rId9" Type="http://schemas.openxmlformats.org/officeDocument/2006/relationships/oleObject" Target="../embeddings/oleObject61.bin"/><Relationship Id="rId14" Type="http://schemas.openxmlformats.org/officeDocument/2006/relationships/oleObject" Target="../embeddings/oleObject6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13" Type="http://schemas.openxmlformats.org/officeDocument/2006/relationships/oleObject" Target="../embeddings/oleObject79.bin"/><Relationship Id="rId18" Type="http://schemas.openxmlformats.org/officeDocument/2006/relationships/oleObject" Target="../embeddings/oleObject83.bin"/><Relationship Id="rId3" Type="http://schemas.openxmlformats.org/officeDocument/2006/relationships/image" Target="../media/image2.png"/><Relationship Id="rId7" Type="http://schemas.openxmlformats.org/officeDocument/2006/relationships/oleObject" Target="../embeddings/oleObject73.bin"/><Relationship Id="rId12" Type="http://schemas.openxmlformats.org/officeDocument/2006/relationships/oleObject" Target="../embeddings/oleObject78.bin"/><Relationship Id="rId17" Type="http://schemas.openxmlformats.org/officeDocument/2006/relationships/oleObject" Target="../embeddings/oleObject82.bin"/><Relationship Id="rId2" Type="http://schemas.openxmlformats.org/officeDocument/2006/relationships/oleObject" Target="../embeddings/oleObject70.bin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2.bin"/><Relationship Id="rId11" Type="http://schemas.openxmlformats.org/officeDocument/2006/relationships/oleObject" Target="../embeddings/oleObject77.bin"/><Relationship Id="rId5" Type="http://schemas.openxmlformats.org/officeDocument/2006/relationships/image" Target="../media/image3.png"/><Relationship Id="rId15" Type="http://schemas.openxmlformats.org/officeDocument/2006/relationships/oleObject" Target="../embeddings/oleObject81.bin"/><Relationship Id="rId10" Type="http://schemas.openxmlformats.org/officeDocument/2006/relationships/oleObject" Target="../embeddings/oleObject76.bin"/><Relationship Id="rId19" Type="http://schemas.openxmlformats.org/officeDocument/2006/relationships/image" Target="../media/image5.gif"/><Relationship Id="rId4" Type="http://schemas.openxmlformats.org/officeDocument/2006/relationships/oleObject" Target="../embeddings/oleObject71.bin"/><Relationship Id="rId9" Type="http://schemas.openxmlformats.org/officeDocument/2006/relationships/oleObject" Target="../embeddings/oleObject75.bin"/><Relationship Id="rId14" Type="http://schemas.openxmlformats.org/officeDocument/2006/relationships/oleObject" Target="../embeddings/oleObject80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8.bin"/><Relationship Id="rId13" Type="http://schemas.openxmlformats.org/officeDocument/2006/relationships/oleObject" Target="../embeddings/oleObject93.bin"/><Relationship Id="rId18" Type="http://schemas.openxmlformats.org/officeDocument/2006/relationships/oleObject" Target="../embeddings/oleObject97.bin"/><Relationship Id="rId3" Type="http://schemas.openxmlformats.org/officeDocument/2006/relationships/image" Target="../media/image2.png"/><Relationship Id="rId7" Type="http://schemas.openxmlformats.org/officeDocument/2006/relationships/oleObject" Target="../embeddings/oleObject87.bin"/><Relationship Id="rId12" Type="http://schemas.openxmlformats.org/officeDocument/2006/relationships/oleObject" Target="../embeddings/oleObject92.bin"/><Relationship Id="rId17" Type="http://schemas.openxmlformats.org/officeDocument/2006/relationships/oleObject" Target="../embeddings/oleObject96.bin"/><Relationship Id="rId2" Type="http://schemas.openxmlformats.org/officeDocument/2006/relationships/oleObject" Target="../embeddings/oleObject84.bin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6.bin"/><Relationship Id="rId11" Type="http://schemas.openxmlformats.org/officeDocument/2006/relationships/oleObject" Target="../embeddings/oleObject91.bin"/><Relationship Id="rId5" Type="http://schemas.openxmlformats.org/officeDocument/2006/relationships/image" Target="../media/image3.png"/><Relationship Id="rId15" Type="http://schemas.openxmlformats.org/officeDocument/2006/relationships/oleObject" Target="../embeddings/oleObject95.bin"/><Relationship Id="rId10" Type="http://schemas.openxmlformats.org/officeDocument/2006/relationships/oleObject" Target="../embeddings/oleObject90.bin"/><Relationship Id="rId19" Type="http://schemas.openxmlformats.org/officeDocument/2006/relationships/image" Target="../media/image5.gif"/><Relationship Id="rId4" Type="http://schemas.openxmlformats.org/officeDocument/2006/relationships/oleObject" Target="../embeddings/oleObject85.bin"/><Relationship Id="rId9" Type="http://schemas.openxmlformats.org/officeDocument/2006/relationships/oleObject" Target="../embeddings/oleObject89.bin"/><Relationship Id="rId14" Type="http://schemas.openxmlformats.org/officeDocument/2006/relationships/oleObject" Target="../embeddings/oleObject94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vb.org/standards/factsheets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13" Type="http://schemas.openxmlformats.org/officeDocument/2006/relationships/oleObject" Target="../embeddings/oleObject107.bin"/><Relationship Id="rId18" Type="http://schemas.openxmlformats.org/officeDocument/2006/relationships/oleObject" Target="../embeddings/oleObject111.bin"/><Relationship Id="rId3" Type="http://schemas.openxmlformats.org/officeDocument/2006/relationships/image" Target="../media/image2.png"/><Relationship Id="rId7" Type="http://schemas.openxmlformats.org/officeDocument/2006/relationships/oleObject" Target="../embeddings/oleObject101.bin"/><Relationship Id="rId12" Type="http://schemas.openxmlformats.org/officeDocument/2006/relationships/oleObject" Target="../embeddings/oleObject106.bin"/><Relationship Id="rId17" Type="http://schemas.openxmlformats.org/officeDocument/2006/relationships/oleObject" Target="../embeddings/oleObject110.bin"/><Relationship Id="rId2" Type="http://schemas.openxmlformats.org/officeDocument/2006/relationships/oleObject" Target="../embeddings/oleObject98.bin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0.bin"/><Relationship Id="rId11" Type="http://schemas.openxmlformats.org/officeDocument/2006/relationships/oleObject" Target="../embeddings/oleObject105.bin"/><Relationship Id="rId5" Type="http://schemas.openxmlformats.org/officeDocument/2006/relationships/image" Target="../media/image3.png"/><Relationship Id="rId15" Type="http://schemas.openxmlformats.org/officeDocument/2006/relationships/oleObject" Target="../embeddings/oleObject109.bin"/><Relationship Id="rId10" Type="http://schemas.openxmlformats.org/officeDocument/2006/relationships/oleObject" Target="../embeddings/oleObject104.bin"/><Relationship Id="rId19" Type="http://schemas.openxmlformats.org/officeDocument/2006/relationships/image" Target="../media/image5.gif"/><Relationship Id="rId4" Type="http://schemas.openxmlformats.org/officeDocument/2006/relationships/oleObject" Target="../embeddings/oleObject99.bin"/><Relationship Id="rId9" Type="http://schemas.openxmlformats.org/officeDocument/2006/relationships/oleObject" Target="../embeddings/oleObject103.bin"/><Relationship Id="rId14" Type="http://schemas.openxmlformats.org/officeDocument/2006/relationships/oleObject" Target="../embeddings/oleObject108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ukfree.tv/txdetail.php?a=SK113003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ream.com.ph/howdreamworks/hwd_schematic.asp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gif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oleObject" Target="../embeddings/oleObject115.bin"/><Relationship Id="rId3" Type="http://schemas.openxmlformats.org/officeDocument/2006/relationships/image" Target="../media/image29.png"/><Relationship Id="rId7" Type="http://schemas.openxmlformats.org/officeDocument/2006/relationships/oleObject" Target="../embeddings/oleObject112.bin"/><Relationship Id="rId12" Type="http://schemas.openxmlformats.org/officeDocument/2006/relationships/image" Target="../media/image3.png"/><Relationship Id="rId17" Type="http://schemas.openxmlformats.org/officeDocument/2006/relationships/image" Target="../media/image36.jpe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oleObject" Target="../embeddings/oleObject114.bin"/><Relationship Id="rId5" Type="http://schemas.openxmlformats.org/officeDocument/2006/relationships/image" Target="../media/image31.wmf"/><Relationship Id="rId15" Type="http://schemas.openxmlformats.org/officeDocument/2006/relationships/oleObject" Target="../embeddings/oleObject116.bin"/><Relationship Id="rId10" Type="http://schemas.openxmlformats.org/officeDocument/2006/relationships/image" Target="../media/image2.png"/><Relationship Id="rId4" Type="http://schemas.openxmlformats.org/officeDocument/2006/relationships/image" Target="../media/image30.png"/><Relationship Id="rId9" Type="http://schemas.openxmlformats.org/officeDocument/2006/relationships/oleObject" Target="../embeddings/oleObject113.bin"/><Relationship Id="rId1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1.wmf"/><Relationship Id="rId7" Type="http://schemas.openxmlformats.org/officeDocument/2006/relationships/oleObject" Target="../embeddings/oleObject118.bin"/><Relationship Id="rId12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oleObject" Target="../embeddings/oleObject120.bin"/><Relationship Id="rId5" Type="http://schemas.openxmlformats.org/officeDocument/2006/relationships/oleObject" Target="../embeddings/oleObject117.bin"/><Relationship Id="rId10" Type="http://schemas.openxmlformats.org/officeDocument/2006/relationships/image" Target="../media/image3.png"/><Relationship Id="rId4" Type="http://schemas.openxmlformats.org/officeDocument/2006/relationships/image" Target="../media/image32.png"/><Relationship Id="rId9" Type="http://schemas.openxmlformats.org/officeDocument/2006/relationships/oleObject" Target="../embeddings/oleObject119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gif"/><Relationship Id="rId3" Type="http://schemas.openxmlformats.org/officeDocument/2006/relationships/image" Target="../media/image40.gif"/><Relationship Id="rId7" Type="http://schemas.openxmlformats.org/officeDocument/2006/relationships/image" Target="../media/image43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2.png"/><Relationship Id="rId4" Type="http://schemas.openxmlformats.org/officeDocument/2006/relationships/image" Target="../media/image41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://gevaperry.typepad.com/main/2009/03/figuring-out-the-roi-of-infrastructureasaservice.html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1809750"/>
            <a:ext cx="9144000" cy="3262313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FFCC99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2400"/>
          </a:p>
        </p:txBody>
      </p:sp>
      <p:sp>
        <p:nvSpPr>
          <p:cNvPr id="6147" name="Text Box 9"/>
          <p:cNvSpPr txBox="1">
            <a:spLocks noChangeArrowheads="1"/>
          </p:cNvSpPr>
          <p:nvPr/>
        </p:nvSpPr>
        <p:spPr bwMode="auto">
          <a:xfrm>
            <a:off x="395288" y="2092854"/>
            <a:ext cx="8561388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2400" dirty="0"/>
              <a:t>Broadcast Technology UG1</a:t>
            </a:r>
          </a:p>
          <a:p>
            <a:endParaRPr lang="en-GB" sz="2800" b="1" dirty="0"/>
          </a:p>
          <a:p>
            <a:r>
              <a:rPr lang="en-GB" sz="3200" dirty="0"/>
              <a:t>9: </a:t>
            </a:r>
            <a:r>
              <a:rPr lang="it-IT" sz="3200" dirty="0"/>
              <a:t>DVB, Compression Intro, TS, PS</a:t>
            </a:r>
            <a:endParaRPr lang="en-GB" sz="3200" dirty="0"/>
          </a:p>
          <a:p>
            <a:endParaRPr lang="en-GB" sz="3200" dirty="0"/>
          </a:p>
          <a:p>
            <a:r>
              <a:rPr lang="en-GB" sz="2800" dirty="0"/>
              <a:t>Jerry Foss</a:t>
            </a:r>
          </a:p>
          <a:p>
            <a:r>
              <a:rPr lang="en-GB" dirty="0"/>
              <a:t>jeremy.foss@bcu.ac.uk</a:t>
            </a:r>
          </a:p>
        </p:txBody>
      </p:sp>
      <p:sp>
        <p:nvSpPr>
          <p:cNvPr id="2" name="Rectangle 1"/>
          <p:cNvSpPr/>
          <p:nvPr/>
        </p:nvSpPr>
        <p:spPr>
          <a:xfrm>
            <a:off x="395288" y="5252591"/>
            <a:ext cx="4572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DVB, COMPRESSION INTRO, TS, PS: </a:t>
            </a:r>
          </a:p>
          <a:p>
            <a:r>
              <a:rPr lang="en-GB" dirty="0"/>
              <a:t>DVB</a:t>
            </a:r>
          </a:p>
          <a:p>
            <a:r>
              <a:rPr lang="en-GB" dirty="0"/>
              <a:t>MPEG compression</a:t>
            </a:r>
          </a:p>
          <a:p>
            <a:r>
              <a:rPr lang="en-GB" dirty="0"/>
              <a:t>PS,TS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8" y="1313813"/>
            <a:ext cx="619753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Media Distribution</a:t>
            </a:r>
          </a:p>
          <a:p>
            <a:pPr marL="630238" indent="-285750">
              <a:buFont typeface="Arial" panose="020B0604020202020204" pitchFamily="34" charset="0"/>
              <a:buChar char="•"/>
            </a:pPr>
            <a:r>
              <a:rPr lang="en-GB" sz="2000" dirty="0"/>
              <a:t>The TV </a:t>
            </a:r>
            <a:r>
              <a:rPr lang="en-GB" sz="2000" dirty="0" err="1"/>
              <a:t>Headend</a:t>
            </a:r>
            <a:r>
              <a:rPr lang="en-GB" sz="2000" dirty="0"/>
              <a:t> </a:t>
            </a:r>
          </a:p>
          <a:p>
            <a:pPr marL="630238" indent="-285750">
              <a:buFont typeface="Arial" panose="020B0604020202020204" pitchFamily="34" charset="0"/>
              <a:buChar char="•"/>
            </a:pPr>
            <a:r>
              <a:rPr lang="en-GB" sz="2000" dirty="0"/>
              <a:t>DVB - Digital Video Broadcasting</a:t>
            </a:r>
          </a:p>
          <a:p>
            <a:pPr marL="630238" indent="-285750">
              <a:buFont typeface="Arial" panose="020B0604020202020204" pitchFamily="34" charset="0"/>
              <a:buChar char="•"/>
            </a:pPr>
            <a:r>
              <a:rPr lang="en-GB" sz="2000" dirty="0"/>
              <a:t>Transport Stream Multiplex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Distribution Network </a:t>
            </a:r>
            <a:r>
              <a:rPr lang="en-GB" sz="2000" dirty="0" err="1"/>
              <a:t>Archiectures</a:t>
            </a:r>
            <a:endParaRPr lang="en-GB" sz="2000" dirty="0"/>
          </a:p>
          <a:p>
            <a:pPr marL="630238" indent="-285750">
              <a:buFont typeface="Arial" panose="020B0604020202020204" pitchFamily="34" charset="0"/>
              <a:buChar char="•"/>
            </a:pPr>
            <a:r>
              <a:rPr lang="en-GB" sz="2000" dirty="0"/>
              <a:t>Satellite</a:t>
            </a:r>
          </a:p>
          <a:p>
            <a:pPr marL="630238" indent="-285750">
              <a:buFont typeface="Arial" panose="020B0604020202020204" pitchFamily="34" charset="0"/>
              <a:buChar char="•"/>
            </a:pPr>
            <a:r>
              <a:rPr lang="en-GB" sz="2000" dirty="0"/>
              <a:t>Digital Terrestrial (DTTV)</a:t>
            </a:r>
          </a:p>
          <a:p>
            <a:pPr marL="630238" indent="-285750">
              <a:buFont typeface="Arial" panose="020B0604020202020204" pitchFamily="34" charset="0"/>
              <a:buChar char="•"/>
            </a:pPr>
            <a:r>
              <a:rPr lang="en-GB" sz="2000" dirty="0"/>
              <a:t>Cable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HTTP Streaming: MPEG-DASH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Higher Definition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Content Delivery  Networks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288" y="331788"/>
            <a:ext cx="58929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b="1" dirty="0"/>
              <a:t>Media Distribution Platforms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79167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0" y="6174305"/>
            <a:ext cx="4572000" cy="200055"/>
          </a:xfrm>
          <a:prstGeom prst="rect">
            <a:avLst/>
          </a:prstGeom>
          <a:solidFill>
            <a:srgbClr val="CCCCFF"/>
          </a:solidFill>
        </p:spPr>
        <p:txBody>
          <a:bodyPr>
            <a:spAutoFit/>
          </a:bodyPr>
          <a:lstStyle/>
          <a:p>
            <a:r>
              <a:rPr lang="en-GB" sz="700" dirty="0">
                <a:hlinkClick r:id="rId2"/>
              </a:rPr>
              <a:t>http://www.cisco.com/c/en/us/solutions/service-provider/distribution/index.html#</a:t>
            </a:r>
            <a:r>
              <a:rPr lang="en-GB" sz="700" dirty="0"/>
              <a:t> 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85763" y="908720"/>
            <a:ext cx="8497839" cy="4725525"/>
            <a:chOff x="385763" y="908720"/>
            <a:chExt cx="8497839" cy="4725525"/>
          </a:xfrm>
        </p:grpSpPr>
        <p:pic>
          <p:nvPicPr>
            <p:cNvPr id="19460" name="Picture 4" descr="http://www.cisco.com/assets/sol/sp/msb/contrib/figure_01_msb_contribution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85763" y="908720"/>
              <a:ext cx="8484733" cy="4725525"/>
            </a:xfrm>
            <a:prstGeom prst="rect">
              <a:avLst/>
            </a:prstGeom>
            <a:noFill/>
          </p:spPr>
        </p:pic>
        <p:sp>
          <p:nvSpPr>
            <p:cNvPr id="6" name="TextBox 5"/>
            <p:cNvSpPr txBox="1"/>
            <p:nvPr/>
          </p:nvSpPr>
          <p:spPr>
            <a:xfrm>
              <a:off x="385763" y="953725"/>
              <a:ext cx="8497839" cy="38728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en-GB" sz="1200" dirty="0">
                  <a:latin typeface="Lucida Sans Unicode" pitchFamily="34" charset="0"/>
                  <a:cs typeface="Lucida Sans Unicode" pitchFamily="34" charset="0"/>
                </a:rPr>
                <a:t>Production             Contribution                                                        Distribution                            Consumption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385762" y="323850"/>
            <a:ext cx="57164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Contribution and Distribution</a:t>
            </a:r>
          </a:p>
        </p:txBody>
      </p:sp>
    </p:spTree>
    <p:extLst>
      <p:ext uri="{BB962C8B-B14F-4D97-AF65-F5344CB8AC3E}">
        <p14:creationId xmlns:p14="http://schemas.microsoft.com/office/powerpoint/2010/main" val="209883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loud 70"/>
          <p:cNvSpPr/>
          <p:nvPr/>
        </p:nvSpPr>
        <p:spPr bwMode="auto">
          <a:xfrm rot="11051792">
            <a:off x="927918" y="3364846"/>
            <a:ext cx="1644625" cy="935170"/>
          </a:xfrm>
          <a:prstGeom prst="cloud">
            <a:avLst/>
          </a:prstGeom>
          <a:gradFill flip="none" rotWithShape="1">
            <a:gsLst>
              <a:gs pos="0">
                <a:srgbClr val="E3CAC1">
                  <a:shade val="30000"/>
                  <a:satMod val="115000"/>
                </a:srgbClr>
              </a:gs>
              <a:gs pos="50000">
                <a:srgbClr val="E3CAC1">
                  <a:shade val="67500"/>
                  <a:satMod val="115000"/>
                </a:srgbClr>
              </a:gs>
              <a:gs pos="100000">
                <a:srgbClr val="E3CAC1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2" name="Group 68"/>
          <p:cNvGrpSpPr/>
          <p:nvPr/>
        </p:nvGrpSpPr>
        <p:grpSpPr>
          <a:xfrm>
            <a:off x="7066628" y="3710865"/>
            <a:ext cx="1740020" cy="2388094"/>
            <a:chOff x="7057748" y="4039340"/>
            <a:chExt cx="1953087" cy="2396971"/>
          </a:xfrm>
        </p:grpSpPr>
        <p:sp>
          <p:nvSpPr>
            <p:cNvPr id="70" name="Rectangle 69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3" name="Group 85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72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2" imgW="1714739" imgH="1714739" progId="">
                      <p:embed/>
                    </p:oleObj>
                  </mc:Choice>
                  <mc:Fallback>
                    <p:oleObj name="Photo Editor Photo" r:id="rId2" imgW="1714739" imgH="1714739" progId="">
                      <p:embed/>
                      <p:pic>
                        <p:nvPicPr>
                          <p:cNvPr id="72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3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74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4" imgW="1714739" imgH="1133633" progId="">
                      <p:embed/>
                    </p:oleObj>
                  </mc:Choice>
                  <mc:Fallback>
                    <p:oleObj name="Photo Editor Photo" r:id="rId4" imgW="1714739" imgH="1133633" progId="">
                      <p:embed/>
                      <p:pic>
                        <p:nvPicPr>
                          <p:cNvPr id="74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5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" name="Group 75"/>
          <p:cNvGrpSpPr/>
          <p:nvPr/>
        </p:nvGrpSpPr>
        <p:grpSpPr>
          <a:xfrm>
            <a:off x="7013362" y="3773009"/>
            <a:ext cx="1740020" cy="2388094"/>
            <a:chOff x="7057748" y="4039340"/>
            <a:chExt cx="1953087" cy="2396971"/>
          </a:xfrm>
        </p:grpSpPr>
        <p:sp>
          <p:nvSpPr>
            <p:cNvPr id="77" name="Rectangle 76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5" name="Group 100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79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6" imgW="1714739" imgH="1714739" progId="">
                      <p:embed/>
                    </p:oleObj>
                  </mc:Choice>
                  <mc:Fallback>
                    <p:oleObj name="Photo Editor Photo" r:id="rId6" imgW="1714739" imgH="1714739" progId="">
                      <p:embed/>
                      <p:pic>
                        <p:nvPicPr>
                          <p:cNvPr id="79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0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81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7" imgW="1714739" imgH="1133633" progId="">
                      <p:embed/>
                    </p:oleObj>
                  </mc:Choice>
                  <mc:Fallback>
                    <p:oleObj name="Photo Editor Photo" r:id="rId7" imgW="1714739" imgH="1133633" progId="">
                      <p:embed/>
                      <p:pic>
                        <p:nvPicPr>
                          <p:cNvPr id="81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2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6" name="Group 82"/>
          <p:cNvGrpSpPr/>
          <p:nvPr/>
        </p:nvGrpSpPr>
        <p:grpSpPr>
          <a:xfrm>
            <a:off x="6933463" y="3844030"/>
            <a:ext cx="1740020" cy="2388094"/>
            <a:chOff x="7057748" y="4039340"/>
            <a:chExt cx="1953087" cy="2396971"/>
          </a:xfrm>
        </p:grpSpPr>
        <p:sp>
          <p:nvSpPr>
            <p:cNvPr id="84" name="Rectangle 83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7" name="Group 10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86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8" imgW="1714739" imgH="1714739" progId="">
                      <p:embed/>
                    </p:oleObj>
                  </mc:Choice>
                  <mc:Fallback>
                    <p:oleObj name="Photo Editor Photo" r:id="rId8" imgW="1714739" imgH="1714739" progId="">
                      <p:embed/>
                      <p:pic>
                        <p:nvPicPr>
                          <p:cNvPr id="86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7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88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9" imgW="1714739" imgH="1133633" progId="">
                      <p:embed/>
                    </p:oleObj>
                  </mc:Choice>
                  <mc:Fallback>
                    <p:oleObj name="Photo Editor Photo" r:id="rId9" imgW="1714739" imgH="1133633" progId="">
                      <p:embed/>
                      <p:pic>
                        <p:nvPicPr>
                          <p:cNvPr id="88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9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8" name="Group 89"/>
          <p:cNvGrpSpPr/>
          <p:nvPr/>
        </p:nvGrpSpPr>
        <p:grpSpPr>
          <a:xfrm>
            <a:off x="6862441" y="3923929"/>
            <a:ext cx="1740020" cy="2388094"/>
            <a:chOff x="7057748" y="4039340"/>
            <a:chExt cx="1953087" cy="2396971"/>
          </a:xfrm>
        </p:grpSpPr>
        <p:sp>
          <p:nvSpPr>
            <p:cNvPr id="91" name="Rectangle 90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9" name="Group 74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93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0" imgW="1714739" imgH="1714739" progId="">
                      <p:embed/>
                    </p:oleObj>
                  </mc:Choice>
                  <mc:Fallback>
                    <p:oleObj name="Photo Editor Photo" r:id="rId10" imgW="1714739" imgH="1714739" progId="">
                      <p:embed/>
                      <p:pic>
                        <p:nvPicPr>
                          <p:cNvPr id="93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4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95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1" imgW="1714739" imgH="1133633" progId="">
                      <p:embed/>
                    </p:oleObj>
                  </mc:Choice>
                  <mc:Fallback>
                    <p:oleObj name="Photo Editor Photo" r:id="rId11" imgW="1714739" imgH="1133633" progId="">
                      <p:embed/>
                      <p:pic>
                        <p:nvPicPr>
                          <p:cNvPr id="95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6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0" name="Group 96"/>
          <p:cNvGrpSpPr/>
          <p:nvPr/>
        </p:nvGrpSpPr>
        <p:grpSpPr>
          <a:xfrm>
            <a:off x="6809175" y="3986073"/>
            <a:ext cx="1740020" cy="2388094"/>
            <a:chOff x="7057748" y="4039340"/>
            <a:chExt cx="1953087" cy="2396971"/>
          </a:xfrm>
        </p:grpSpPr>
        <p:sp>
          <p:nvSpPr>
            <p:cNvPr id="98" name="Rectangle 97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1" name="Group 66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100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2" imgW="1714739" imgH="1714739" progId="">
                      <p:embed/>
                    </p:oleObj>
                  </mc:Choice>
                  <mc:Fallback>
                    <p:oleObj name="Photo Editor Photo" r:id="rId12" imgW="1714739" imgH="1714739" progId="">
                      <p:embed/>
                      <p:pic>
                        <p:nvPicPr>
                          <p:cNvPr id="100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02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3" imgW="1714739" imgH="1133633" progId="">
                      <p:embed/>
                    </p:oleObj>
                  </mc:Choice>
                  <mc:Fallback>
                    <p:oleObj name="Photo Editor Photo" r:id="rId13" imgW="1714739" imgH="1133633" progId="">
                      <p:embed/>
                      <p:pic>
                        <p:nvPicPr>
                          <p:cNvPr id="102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3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104" name="Cloud 103"/>
          <p:cNvSpPr/>
          <p:nvPr/>
        </p:nvSpPr>
        <p:spPr bwMode="auto">
          <a:xfrm rot="11051792">
            <a:off x="221206" y="911036"/>
            <a:ext cx="2821780" cy="2420596"/>
          </a:xfrm>
          <a:prstGeom prst="cloud">
            <a:avLst/>
          </a:prstGeom>
          <a:solidFill>
            <a:srgbClr val="E3CA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12" name="Group 104"/>
          <p:cNvGrpSpPr/>
          <p:nvPr/>
        </p:nvGrpSpPr>
        <p:grpSpPr>
          <a:xfrm>
            <a:off x="6729276" y="4057094"/>
            <a:ext cx="1740020" cy="2388094"/>
            <a:chOff x="7057748" y="4039340"/>
            <a:chExt cx="1953087" cy="2396971"/>
          </a:xfrm>
        </p:grpSpPr>
        <p:sp>
          <p:nvSpPr>
            <p:cNvPr id="106" name="Rectangle 105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3" name="Group 3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108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4" imgW="1714739" imgH="1714739" progId="">
                      <p:embed/>
                    </p:oleObj>
                  </mc:Choice>
                  <mc:Fallback>
                    <p:oleObj name="Photo Editor Photo" r:id="rId14" imgW="1714739" imgH="1714739" progId="">
                      <p:embed/>
                      <p:pic>
                        <p:nvPicPr>
                          <p:cNvPr id="108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9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10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5" imgW="1714739" imgH="1133633" progId="">
                      <p:embed/>
                    </p:oleObj>
                  </mc:Choice>
                  <mc:Fallback>
                    <p:oleObj name="Photo Editor Photo" r:id="rId15" imgW="1714739" imgH="1133633" progId="">
                      <p:embed/>
                      <p:pic>
                        <p:nvPicPr>
                          <p:cNvPr id="110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1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112" name="TextBox 3"/>
          <p:cNvSpPr txBox="1"/>
          <p:nvPr/>
        </p:nvSpPr>
        <p:spPr>
          <a:xfrm>
            <a:off x="381000" y="333375"/>
            <a:ext cx="29514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Media Distribution</a:t>
            </a:r>
          </a:p>
        </p:txBody>
      </p:sp>
      <p:sp>
        <p:nvSpPr>
          <p:cNvPr id="113" name="Rectangle 26"/>
          <p:cNvSpPr>
            <a:spLocks noChangeArrowheads="1"/>
          </p:cNvSpPr>
          <p:nvPr/>
        </p:nvSpPr>
        <p:spPr bwMode="auto">
          <a:xfrm>
            <a:off x="1095725" y="1975335"/>
            <a:ext cx="7397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14" name="Picture 4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81000" y="1149105"/>
            <a:ext cx="2575264" cy="1931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6" name="Text Box 29"/>
          <p:cNvSpPr txBox="1">
            <a:spLocks noChangeArrowheads="1"/>
          </p:cNvSpPr>
          <p:nvPr/>
        </p:nvSpPr>
        <p:spPr bwMode="auto">
          <a:xfrm>
            <a:off x="1642457" y="1698431"/>
            <a:ext cx="113625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100" b="1" dirty="0">
                <a:solidFill>
                  <a:srgbClr val="FFFF00"/>
                </a:solidFill>
              </a:rPr>
              <a:t>VOD and 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Various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Functions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(Servers, etc)</a:t>
            </a:r>
          </a:p>
          <a:p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381000" y="4509857"/>
            <a:ext cx="19062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Access to 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WWW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Telephone N/W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Ingest of Media</a:t>
            </a:r>
          </a:p>
        </p:txBody>
      </p:sp>
      <p:sp>
        <p:nvSpPr>
          <p:cNvPr id="119" name="Up-Down Arrow 24"/>
          <p:cNvSpPr/>
          <p:nvPr/>
        </p:nvSpPr>
        <p:spPr bwMode="auto">
          <a:xfrm>
            <a:off x="1455937" y="2911876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0" name="Up-Down Arrow 119"/>
          <p:cNvSpPr/>
          <p:nvPr/>
        </p:nvSpPr>
        <p:spPr bwMode="auto">
          <a:xfrm>
            <a:off x="1553592" y="4163627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503418" y="5397623"/>
            <a:ext cx="1208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Network Access Equipment</a:t>
            </a:r>
          </a:p>
        </p:txBody>
      </p:sp>
      <p:grpSp>
        <p:nvGrpSpPr>
          <p:cNvPr id="14" name="Group 122"/>
          <p:cNvGrpSpPr/>
          <p:nvPr/>
        </p:nvGrpSpPr>
        <p:grpSpPr>
          <a:xfrm>
            <a:off x="6649374" y="4136995"/>
            <a:ext cx="1748901" cy="2361460"/>
            <a:chOff x="7037918" y="4039340"/>
            <a:chExt cx="1953087" cy="2540216"/>
          </a:xfrm>
        </p:grpSpPr>
        <p:sp>
          <p:nvSpPr>
            <p:cNvPr id="124" name="Rectangle 123"/>
            <p:cNvSpPr/>
            <p:nvPr/>
          </p:nvSpPr>
          <p:spPr bwMode="auto">
            <a:xfrm>
              <a:off x="7037918" y="4039340"/>
              <a:ext cx="1953087" cy="254021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5" name="Group 32"/>
            <p:cNvGrpSpPr/>
            <p:nvPr/>
          </p:nvGrpSpPr>
          <p:grpSpPr>
            <a:xfrm>
              <a:off x="7125021" y="4448324"/>
              <a:ext cx="1746512" cy="2077782"/>
              <a:chOff x="7125021" y="4448324"/>
              <a:chExt cx="1746512" cy="2077782"/>
            </a:xfrm>
          </p:grpSpPr>
          <p:graphicFrame>
            <p:nvGraphicFramePr>
              <p:cNvPr id="126" name="Object 111"/>
              <p:cNvGraphicFramePr>
                <a:graphicFrameLocks noChangeAspect="1"/>
              </p:cNvGraphicFramePr>
              <p:nvPr/>
            </p:nvGraphicFramePr>
            <p:xfrm>
              <a:off x="7549992" y="5278331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7" imgW="1714739" imgH="1714739" progId="">
                      <p:embed/>
                    </p:oleObj>
                  </mc:Choice>
                  <mc:Fallback>
                    <p:oleObj name="Photo Editor Photo" r:id="rId17" imgW="1714739" imgH="1714739" progId="">
                      <p:embed/>
                      <p:pic>
                        <p:nvPicPr>
                          <p:cNvPr id="126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49992" y="5278331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7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062558" y="4971098"/>
                <a:ext cx="111125" cy="850899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28" name="Object 116"/>
              <p:cNvGraphicFramePr>
                <a:graphicFrameLocks noChangeAspect="1"/>
              </p:cNvGraphicFramePr>
              <p:nvPr/>
            </p:nvGraphicFramePr>
            <p:xfrm>
              <a:off x="7880934" y="4448324"/>
              <a:ext cx="990599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8" imgW="1714739" imgH="1133633" progId="">
                      <p:embed/>
                    </p:oleObj>
                  </mc:Choice>
                  <mc:Fallback>
                    <p:oleObj name="Photo Editor Photo" r:id="rId18" imgW="1714739" imgH="1133633" progId="">
                      <p:embed/>
                      <p:pic>
                        <p:nvPicPr>
                          <p:cNvPr id="128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80934" y="4448324"/>
                            <a:ext cx="990599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9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sp>
            <p:nvSpPr>
              <p:cNvPr id="130" name="TextBox 31"/>
              <p:cNvSpPr txBox="1"/>
              <p:nvPr/>
            </p:nvSpPr>
            <p:spPr>
              <a:xfrm>
                <a:off x="7685384" y="5132495"/>
                <a:ext cx="1018112" cy="297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FFFF00"/>
                    </a:solidFill>
                  </a:rPr>
                  <a:t>STB, etc</a:t>
                </a:r>
              </a:p>
            </p:txBody>
          </p:sp>
        </p:grpSp>
      </p:grpSp>
      <p:cxnSp>
        <p:nvCxnSpPr>
          <p:cNvPr id="131" name="Straight Arrow Connector 130"/>
          <p:cNvCxnSpPr/>
          <p:nvPr/>
        </p:nvCxnSpPr>
        <p:spPr bwMode="auto">
          <a:xfrm flipV="1">
            <a:off x="6516210" y="5388746"/>
            <a:ext cx="292962" cy="221941"/>
          </a:xfrm>
          <a:prstGeom prst="straightConnector1">
            <a:avLst/>
          </a:prstGeom>
          <a:noFill/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2" name="TextBox 131"/>
          <p:cNvSpPr txBox="1"/>
          <p:nvPr/>
        </p:nvSpPr>
        <p:spPr>
          <a:xfrm>
            <a:off x="7146523" y="3292285"/>
            <a:ext cx="1615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End Users</a:t>
            </a:r>
          </a:p>
        </p:txBody>
      </p:sp>
      <p:sp>
        <p:nvSpPr>
          <p:cNvPr id="134" name="Text Box 31"/>
          <p:cNvSpPr txBox="1">
            <a:spLocks noChangeArrowheads="1"/>
          </p:cNvSpPr>
          <p:nvPr/>
        </p:nvSpPr>
        <p:spPr bwMode="auto">
          <a:xfrm>
            <a:off x="381000" y="1149341"/>
            <a:ext cx="1604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</a:rPr>
              <a:t>Video Head-End</a:t>
            </a:r>
            <a:endParaRPr lang="en-GB" sz="1400" dirty="0">
              <a:solidFill>
                <a:srgbClr val="FFFF00"/>
              </a:solidFill>
            </a:endParaRPr>
          </a:p>
        </p:txBody>
      </p:sp>
      <p:pic>
        <p:nvPicPr>
          <p:cNvPr id="144" name="Picture 23" descr="C:\Users\jdfoss\Desktop\Clipboard01.gif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7123193" y="4200807"/>
            <a:ext cx="407782" cy="407782"/>
          </a:xfrm>
          <a:prstGeom prst="rect">
            <a:avLst/>
          </a:prstGeom>
          <a:noFill/>
        </p:spPr>
      </p:pic>
      <p:cxnSp>
        <p:nvCxnSpPr>
          <p:cNvPr id="145" name="Straight Connector 144"/>
          <p:cNvCxnSpPr/>
          <p:nvPr/>
        </p:nvCxnSpPr>
        <p:spPr bwMode="auto">
          <a:xfrm>
            <a:off x="7052650" y="4852657"/>
            <a:ext cx="443619" cy="181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6" name="Straight Connector 145"/>
          <p:cNvCxnSpPr/>
          <p:nvPr/>
        </p:nvCxnSpPr>
        <p:spPr bwMode="auto">
          <a:xfrm>
            <a:off x="7034544" y="4943194"/>
            <a:ext cx="516046" cy="24444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1" name="Up-Down Arrow 150"/>
          <p:cNvSpPr/>
          <p:nvPr/>
        </p:nvSpPr>
        <p:spPr bwMode="auto">
          <a:xfrm rot="17823815">
            <a:off x="3994952" y="2015231"/>
            <a:ext cx="1376038" cy="3160450"/>
          </a:xfrm>
          <a:prstGeom prst="upDownArrow">
            <a:avLst/>
          </a:prstGeom>
          <a:solidFill>
            <a:srgbClr val="E3CAC1"/>
          </a:solidFill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3551067" y="2796466"/>
            <a:ext cx="226536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Distribution Network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Satellite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Cable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Telco Broadband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Terrestrial TV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Web (OTT)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Mobile</a:t>
            </a:r>
          </a:p>
        </p:txBody>
      </p:sp>
    </p:spTree>
    <p:extLst>
      <p:ext uri="{BB962C8B-B14F-4D97-AF65-F5344CB8AC3E}">
        <p14:creationId xmlns:p14="http://schemas.microsoft.com/office/powerpoint/2010/main" val="4063547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Cloud 69"/>
          <p:cNvSpPr/>
          <p:nvPr/>
        </p:nvSpPr>
        <p:spPr bwMode="auto">
          <a:xfrm rot="11051792">
            <a:off x="927918" y="3364846"/>
            <a:ext cx="1644625" cy="935170"/>
          </a:xfrm>
          <a:prstGeom prst="cloud">
            <a:avLst/>
          </a:prstGeom>
          <a:gradFill flip="none" rotWithShape="1">
            <a:gsLst>
              <a:gs pos="0">
                <a:srgbClr val="E3CAC1">
                  <a:shade val="30000"/>
                  <a:satMod val="115000"/>
                </a:srgbClr>
              </a:gs>
              <a:gs pos="50000">
                <a:srgbClr val="E3CAC1">
                  <a:shade val="67500"/>
                  <a:satMod val="115000"/>
                </a:srgbClr>
              </a:gs>
              <a:gs pos="100000">
                <a:srgbClr val="E3CAC1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72" name="Picture 4"/>
          <p:cNvPicPr>
            <a:picLocks noChangeAspect="1" noChangeArrowheads="1"/>
          </p:cNvPicPr>
          <p:nvPr/>
        </p:nvPicPr>
        <p:blipFill>
          <a:blip r:embed="rId2" cstate="print"/>
          <a:srcRect t="22121"/>
          <a:stretch>
            <a:fillRect/>
          </a:stretch>
        </p:blipFill>
        <p:spPr bwMode="auto">
          <a:xfrm>
            <a:off x="2938509" y="333376"/>
            <a:ext cx="5287575" cy="34435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grpSp>
        <p:nvGrpSpPr>
          <p:cNvPr id="2" name="Group 3"/>
          <p:cNvGrpSpPr/>
          <p:nvPr/>
        </p:nvGrpSpPr>
        <p:grpSpPr>
          <a:xfrm>
            <a:off x="7066628" y="3710865"/>
            <a:ext cx="1740020" cy="2388094"/>
            <a:chOff x="7057748" y="4039340"/>
            <a:chExt cx="1953087" cy="2396971"/>
          </a:xfrm>
        </p:grpSpPr>
        <p:sp>
          <p:nvSpPr>
            <p:cNvPr id="5" name="Rectangle 4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3" name="Group 85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7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3" imgW="1714739" imgH="1714739" progId="">
                      <p:embed/>
                    </p:oleObj>
                  </mc:Choice>
                  <mc:Fallback>
                    <p:oleObj name="Photo Editor Photo" r:id="rId3" imgW="1714739" imgH="1714739" progId="">
                      <p:embed/>
                      <p:pic>
                        <p:nvPicPr>
                          <p:cNvPr id="7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9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5" imgW="1714739" imgH="1133633" progId="">
                      <p:embed/>
                    </p:oleObj>
                  </mc:Choice>
                  <mc:Fallback>
                    <p:oleObj name="Photo Editor Photo" r:id="rId5" imgW="1714739" imgH="1133633" progId="">
                      <p:embed/>
                      <p:pic>
                        <p:nvPicPr>
                          <p:cNvPr id="9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" name="Group 10"/>
          <p:cNvGrpSpPr/>
          <p:nvPr/>
        </p:nvGrpSpPr>
        <p:grpSpPr>
          <a:xfrm>
            <a:off x="7013362" y="3773009"/>
            <a:ext cx="1740020" cy="2388094"/>
            <a:chOff x="7057748" y="4039340"/>
            <a:chExt cx="1953087" cy="2396971"/>
          </a:xfrm>
        </p:grpSpPr>
        <p:sp>
          <p:nvSpPr>
            <p:cNvPr id="12" name="Rectangle 11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6" name="Group 100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14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7" imgW="1714739" imgH="1714739" progId="">
                      <p:embed/>
                    </p:oleObj>
                  </mc:Choice>
                  <mc:Fallback>
                    <p:oleObj name="Photo Editor Photo" r:id="rId7" imgW="1714739" imgH="1714739" progId="">
                      <p:embed/>
                      <p:pic>
                        <p:nvPicPr>
                          <p:cNvPr id="14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6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8" imgW="1714739" imgH="1133633" progId="">
                      <p:embed/>
                    </p:oleObj>
                  </mc:Choice>
                  <mc:Fallback>
                    <p:oleObj name="Photo Editor Photo" r:id="rId8" imgW="1714739" imgH="1133633" progId="">
                      <p:embed/>
                      <p:pic>
                        <p:nvPicPr>
                          <p:cNvPr id="16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1" name="Group 17"/>
          <p:cNvGrpSpPr/>
          <p:nvPr/>
        </p:nvGrpSpPr>
        <p:grpSpPr>
          <a:xfrm>
            <a:off x="6933463" y="3844030"/>
            <a:ext cx="1740020" cy="2388094"/>
            <a:chOff x="7057748" y="4039340"/>
            <a:chExt cx="1953087" cy="2396971"/>
          </a:xfrm>
        </p:grpSpPr>
        <p:sp>
          <p:nvSpPr>
            <p:cNvPr id="19" name="Rectangle 18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3" name="Group 10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1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9" imgW="1714739" imgH="1714739" progId="">
                      <p:embed/>
                    </p:oleObj>
                  </mc:Choice>
                  <mc:Fallback>
                    <p:oleObj name="Photo Editor Photo" r:id="rId9" imgW="1714739" imgH="1714739" progId="">
                      <p:embed/>
                      <p:pic>
                        <p:nvPicPr>
                          <p:cNvPr id="21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23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0" imgW="1714739" imgH="1133633" progId="">
                      <p:embed/>
                    </p:oleObj>
                  </mc:Choice>
                  <mc:Fallback>
                    <p:oleObj name="Photo Editor Photo" r:id="rId10" imgW="1714739" imgH="1133633" progId="">
                      <p:embed/>
                      <p:pic>
                        <p:nvPicPr>
                          <p:cNvPr id="23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8" name="Group 24"/>
          <p:cNvGrpSpPr/>
          <p:nvPr/>
        </p:nvGrpSpPr>
        <p:grpSpPr>
          <a:xfrm>
            <a:off x="6862441" y="3923929"/>
            <a:ext cx="1740020" cy="2388094"/>
            <a:chOff x="7057748" y="4039340"/>
            <a:chExt cx="1953087" cy="2396971"/>
          </a:xfrm>
        </p:grpSpPr>
        <p:sp>
          <p:nvSpPr>
            <p:cNvPr id="26" name="Rectangle 25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0" name="Group 74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8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1" imgW="1714739" imgH="1714739" progId="">
                      <p:embed/>
                    </p:oleObj>
                  </mc:Choice>
                  <mc:Fallback>
                    <p:oleObj name="Photo Editor Photo" r:id="rId11" imgW="1714739" imgH="1714739" progId="">
                      <p:embed/>
                      <p:pic>
                        <p:nvPicPr>
                          <p:cNvPr id="28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0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2" imgW="1714739" imgH="1133633" progId="">
                      <p:embed/>
                    </p:oleObj>
                  </mc:Choice>
                  <mc:Fallback>
                    <p:oleObj name="Photo Editor Photo" r:id="rId12" imgW="1714739" imgH="1133633" progId="">
                      <p:embed/>
                      <p:pic>
                        <p:nvPicPr>
                          <p:cNvPr id="30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5" name="Group 31"/>
          <p:cNvGrpSpPr/>
          <p:nvPr/>
        </p:nvGrpSpPr>
        <p:grpSpPr>
          <a:xfrm>
            <a:off x="6809175" y="3986073"/>
            <a:ext cx="1740020" cy="2388094"/>
            <a:chOff x="7057748" y="4039340"/>
            <a:chExt cx="1953087" cy="2396971"/>
          </a:xfrm>
        </p:grpSpPr>
        <p:sp>
          <p:nvSpPr>
            <p:cNvPr id="33" name="Rectangle 32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7" name="Group 66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35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3" imgW="1714739" imgH="1714739" progId="">
                      <p:embed/>
                    </p:oleObj>
                  </mc:Choice>
                  <mc:Fallback>
                    <p:oleObj name="Photo Editor Photo" r:id="rId13" imgW="1714739" imgH="1714739" progId="">
                      <p:embed/>
                      <p:pic>
                        <p:nvPicPr>
                          <p:cNvPr id="35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7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4" imgW="1714739" imgH="1133633" progId="">
                      <p:embed/>
                    </p:oleObj>
                  </mc:Choice>
                  <mc:Fallback>
                    <p:oleObj name="Photo Editor Photo" r:id="rId14" imgW="1714739" imgH="1133633" progId="">
                      <p:embed/>
                      <p:pic>
                        <p:nvPicPr>
                          <p:cNvPr id="37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39" name="Cloud 38"/>
          <p:cNvSpPr/>
          <p:nvPr/>
        </p:nvSpPr>
        <p:spPr bwMode="auto">
          <a:xfrm rot="11051792">
            <a:off x="221206" y="911036"/>
            <a:ext cx="2821780" cy="2420596"/>
          </a:xfrm>
          <a:prstGeom prst="cloud">
            <a:avLst/>
          </a:prstGeom>
          <a:solidFill>
            <a:srgbClr val="E3CA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32" name="Group 39"/>
          <p:cNvGrpSpPr/>
          <p:nvPr/>
        </p:nvGrpSpPr>
        <p:grpSpPr>
          <a:xfrm>
            <a:off x="6729276" y="4057094"/>
            <a:ext cx="1740020" cy="2388094"/>
            <a:chOff x="7057748" y="4039340"/>
            <a:chExt cx="1953087" cy="2396971"/>
          </a:xfrm>
        </p:grpSpPr>
        <p:sp>
          <p:nvSpPr>
            <p:cNvPr id="41" name="Rectangle 40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34" name="Group 3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43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5" imgW="1714739" imgH="1714739" progId="">
                      <p:embed/>
                    </p:oleObj>
                  </mc:Choice>
                  <mc:Fallback>
                    <p:oleObj name="Photo Editor Photo" r:id="rId15" imgW="1714739" imgH="1714739" progId="">
                      <p:embed/>
                      <p:pic>
                        <p:nvPicPr>
                          <p:cNvPr id="43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45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6" imgW="1714739" imgH="1133633" progId="">
                      <p:embed/>
                    </p:oleObj>
                  </mc:Choice>
                  <mc:Fallback>
                    <p:oleObj name="Photo Editor Photo" r:id="rId16" imgW="1714739" imgH="1133633" progId="">
                      <p:embed/>
                      <p:pic>
                        <p:nvPicPr>
                          <p:cNvPr id="45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" name="Rectangle 45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47" name="TextBox 3"/>
          <p:cNvSpPr txBox="1"/>
          <p:nvPr/>
        </p:nvSpPr>
        <p:spPr>
          <a:xfrm>
            <a:off x="381000" y="333375"/>
            <a:ext cx="76514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Media Distribution ...                            ... Satellite</a:t>
            </a:r>
          </a:p>
        </p:txBody>
      </p:sp>
      <p:sp>
        <p:nvSpPr>
          <p:cNvPr id="48" name="Rectangle 26"/>
          <p:cNvSpPr>
            <a:spLocks noChangeArrowheads="1"/>
          </p:cNvSpPr>
          <p:nvPr/>
        </p:nvSpPr>
        <p:spPr bwMode="auto">
          <a:xfrm>
            <a:off x="1095725" y="1975335"/>
            <a:ext cx="7397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9" name="Picture 4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381000" y="1149105"/>
            <a:ext cx="2575264" cy="1931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" name="Text Box 29"/>
          <p:cNvSpPr txBox="1">
            <a:spLocks noChangeArrowheads="1"/>
          </p:cNvSpPr>
          <p:nvPr/>
        </p:nvSpPr>
        <p:spPr bwMode="auto">
          <a:xfrm>
            <a:off x="1642457" y="1698431"/>
            <a:ext cx="113625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100" b="1" dirty="0">
                <a:solidFill>
                  <a:srgbClr val="FFFF00"/>
                </a:solidFill>
              </a:rPr>
              <a:t>VOD and 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Various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Functions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(Servers, etc)</a:t>
            </a:r>
          </a:p>
          <a:p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81000" y="4509857"/>
            <a:ext cx="19062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Access to 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WWW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Telephone N/W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Ingest of Media</a:t>
            </a:r>
          </a:p>
        </p:txBody>
      </p:sp>
      <p:sp>
        <p:nvSpPr>
          <p:cNvPr id="53" name="Up-Down Arrow 24"/>
          <p:cNvSpPr/>
          <p:nvPr/>
        </p:nvSpPr>
        <p:spPr bwMode="auto">
          <a:xfrm>
            <a:off x="1455937" y="2911876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4" name="Up-Down Arrow 53"/>
          <p:cNvSpPr/>
          <p:nvPr/>
        </p:nvSpPr>
        <p:spPr bwMode="auto">
          <a:xfrm>
            <a:off x="1553592" y="4163627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503418" y="5397623"/>
            <a:ext cx="1208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Network Access Equipment</a:t>
            </a:r>
          </a:p>
        </p:txBody>
      </p:sp>
      <p:grpSp>
        <p:nvGrpSpPr>
          <p:cNvPr id="40" name="Group 55"/>
          <p:cNvGrpSpPr/>
          <p:nvPr/>
        </p:nvGrpSpPr>
        <p:grpSpPr>
          <a:xfrm>
            <a:off x="6649374" y="4136995"/>
            <a:ext cx="1748901" cy="2361460"/>
            <a:chOff x="7037918" y="4039340"/>
            <a:chExt cx="1953087" cy="2540216"/>
          </a:xfrm>
        </p:grpSpPr>
        <p:sp>
          <p:nvSpPr>
            <p:cNvPr id="57" name="Rectangle 56"/>
            <p:cNvSpPr/>
            <p:nvPr/>
          </p:nvSpPr>
          <p:spPr bwMode="auto">
            <a:xfrm>
              <a:off x="7037918" y="4039340"/>
              <a:ext cx="1953087" cy="254021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42" name="Group 32"/>
            <p:cNvGrpSpPr/>
            <p:nvPr/>
          </p:nvGrpSpPr>
          <p:grpSpPr>
            <a:xfrm>
              <a:off x="7125021" y="4448324"/>
              <a:ext cx="1746512" cy="2077782"/>
              <a:chOff x="7125021" y="4448324"/>
              <a:chExt cx="1746512" cy="2077782"/>
            </a:xfrm>
          </p:grpSpPr>
          <p:graphicFrame>
            <p:nvGraphicFramePr>
              <p:cNvPr id="59" name="Object 111"/>
              <p:cNvGraphicFramePr>
                <a:graphicFrameLocks noChangeAspect="1"/>
              </p:cNvGraphicFramePr>
              <p:nvPr/>
            </p:nvGraphicFramePr>
            <p:xfrm>
              <a:off x="7549992" y="5278331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8" imgW="1714739" imgH="1714739" progId="">
                      <p:embed/>
                    </p:oleObj>
                  </mc:Choice>
                  <mc:Fallback>
                    <p:oleObj name="Photo Editor Photo" r:id="rId18" imgW="1714739" imgH="1714739" progId="">
                      <p:embed/>
                      <p:pic>
                        <p:nvPicPr>
                          <p:cNvPr id="59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49992" y="5278331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0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062558" y="4971098"/>
                <a:ext cx="111125" cy="850899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61" name="Object 116"/>
              <p:cNvGraphicFramePr>
                <a:graphicFrameLocks noChangeAspect="1"/>
              </p:cNvGraphicFramePr>
              <p:nvPr/>
            </p:nvGraphicFramePr>
            <p:xfrm>
              <a:off x="7880934" y="4448324"/>
              <a:ext cx="990599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9" imgW="1714739" imgH="1133633" progId="">
                      <p:embed/>
                    </p:oleObj>
                  </mc:Choice>
                  <mc:Fallback>
                    <p:oleObj name="Photo Editor Photo" r:id="rId19" imgW="1714739" imgH="1133633" progId="">
                      <p:embed/>
                      <p:pic>
                        <p:nvPicPr>
                          <p:cNvPr id="61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80934" y="4448324"/>
                            <a:ext cx="990599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2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sp>
            <p:nvSpPr>
              <p:cNvPr id="63" name="TextBox 31"/>
              <p:cNvSpPr txBox="1"/>
              <p:nvPr/>
            </p:nvSpPr>
            <p:spPr>
              <a:xfrm>
                <a:off x="7685384" y="5132495"/>
                <a:ext cx="1018112" cy="297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FFFF00"/>
                    </a:solidFill>
                  </a:rPr>
                  <a:t>STB, etc</a:t>
                </a:r>
              </a:p>
            </p:txBody>
          </p:sp>
        </p:grpSp>
      </p:grpSp>
      <p:cxnSp>
        <p:nvCxnSpPr>
          <p:cNvPr id="64" name="Straight Arrow Connector 63"/>
          <p:cNvCxnSpPr/>
          <p:nvPr/>
        </p:nvCxnSpPr>
        <p:spPr bwMode="auto">
          <a:xfrm flipV="1">
            <a:off x="6516210" y="5388746"/>
            <a:ext cx="292962" cy="221941"/>
          </a:xfrm>
          <a:prstGeom prst="straightConnector1">
            <a:avLst/>
          </a:prstGeom>
          <a:noFill/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5" name="TextBox 64"/>
          <p:cNvSpPr txBox="1"/>
          <p:nvPr/>
        </p:nvSpPr>
        <p:spPr>
          <a:xfrm>
            <a:off x="7146523" y="3292285"/>
            <a:ext cx="1615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End Users</a:t>
            </a:r>
          </a:p>
        </p:txBody>
      </p:sp>
      <p:sp>
        <p:nvSpPr>
          <p:cNvPr id="66" name="Text Box 31"/>
          <p:cNvSpPr txBox="1">
            <a:spLocks noChangeArrowheads="1"/>
          </p:cNvSpPr>
          <p:nvPr/>
        </p:nvSpPr>
        <p:spPr bwMode="auto">
          <a:xfrm>
            <a:off x="381000" y="1149341"/>
            <a:ext cx="1604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</a:rPr>
              <a:t>Video Head-End</a:t>
            </a:r>
            <a:endParaRPr lang="en-GB" sz="1400" dirty="0">
              <a:solidFill>
                <a:srgbClr val="FFFF00"/>
              </a:solidFill>
            </a:endParaRPr>
          </a:p>
        </p:txBody>
      </p:sp>
      <p:pic>
        <p:nvPicPr>
          <p:cNvPr id="67" name="Picture 23" descr="C:\Users\jdfoss\Desktop\Clipboard01.gif"/>
          <p:cNvPicPr>
            <a:picLocks noChangeAspect="1" noChangeArrowheads="1"/>
          </p:cNvPicPr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7123193" y="4200807"/>
            <a:ext cx="407782" cy="407782"/>
          </a:xfrm>
          <a:prstGeom prst="rect">
            <a:avLst/>
          </a:prstGeom>
          <a:noFill/>
        </p:spPr>
      </p:pic>
      <p:cxnSp>
        <p:nvCxnSpPr>
          <p:cNvPr id="68" name="Straight Connector 67"/>
          <p:cNvCxnSpPr/>
          <p:nvPr/>
        </p:nvCxnSpPr>
        <p:spPr bwMode="auto">
          <a:xfrm>
            <a:off x="7052650" y="4852657"/>
            <a:ext cx="443619" cy="181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9" name="Straight Connector 68"/>
          <p:cNvCxnSpPr/>
          <p:nvPr/>
        </p:nvCxnSpPr>
        <p:spPr bwMode="auto">
          <a:xfrm>
            <a:off x="7034544" y="4943194"/>
            <a:ext cx="516046" cy="24444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3" name="Freeform 72"/>
          <p:cNvSpPr/>
          <p:nvPr/>
        </p:nvSpPr>
        <p:spPr bwMode="auto">
          <a:xfrm>
            <a:off x="6381907" y="3178206"/>
            <a:ext cx="1279522" cy="1875337"/>
          </a:xfrm>
          <a:custGeom>
            <a:avLst/>
            <a:gdLst>
              <a:gd name="connsiteX0" fmla="*/ 1279522 w 1279522"/>
              <a:gd name="connsiteY0" fmla="*/ 0 h 1875337"/>
              <a:gd name="connsiteX1" fmla="*/ 1270644 w 1279522"/>
              <a:gd name="connsiteY1" fmla="*/ 26633 h 1875337"/>
              <a:gd name="connsiteX2" fmla="*/ 1217378 w 1279522"/>
              <a:gd name="connsiteY2" fmla="*/ 44388 h 1875337"/>
              <a:gd name="connsiteX3" fmla="*/ 1190745 w 1279522"/>
              <a:gd name="connsiteY3" fmla="*/ 53266 h 1875337"/>
              <a:gd name="connsiteX4" fmla="*/ 871149 w 1279522"/>
              <a:gd name="connsiteY4" fmla="*/ 62144 h 1875337"/>
              <a:gd name="connsiteX5" fmla="*/ 853394 w 1279522"/>
              <a:gd name="connsiteY5" fmla="*/ 88777 h 1875337"/>
              <a:gd name="connsiteX6" fmla="*/ 835639 w 1279522"/>
              <a:gd name="connsiteY6" fmla="*/ 142043 h 1875337"/>
              <a:gd name="connsiteX7" fmla="*/ 817883 w 1279522"/>
              <a:gd name="connsiteY7" fmla="*/ 168676 h 1875337"/>
              <a:gd name="connsiteX8" fmla="*/ 764617 w 1279522"/>
              <a:gd name="connsiteY8" fmla="*/ 177553 h 1875337"/>
              <a:gd name="connsiteX9" fmla="*/ 542676 w 1279522"/>
              <a:gd name="connsiteY9" fmla="*/ 186431 h 1875337"/>
              <a:gd name="connsiteX10" fmla="*/ 533798 w 1279522"/>
              <a:gd name="connsiteY10" fmla="*/ 213064 h 1875337"/>
              <a:gd name="connsiteX11" fmla="*/ 524920 w 1279522"/>
              <a:gd name="connsiteY11" fmla="*/ 301841 h 1875337"/>
              <a:gd name="connsiteX12" fmla="*/ 471654 w 1279522"/>
              <a:gd name="connsiteY12" fmla="*/ 355107 h 1875337"/>
              <a:gd name="connsiteX13" fmla="*/ 453899 w 1279522"/>
              <a:gd name="connsiteY13" fmla="*/ 381740 h 1875337"/>
              <a:gd name="connsiteX14" fmla="*/ 400633 w 1279522"/>
              <a:gd name="connsiteY14" fmla="*/ 408373 h 1875337"/>
              <a:gd name="connsiteX15" fmla="*/ 338489 w 1279522"/>
              <a:gd name="connsiteY15" fmla="*/ 479394 h 1875337"/>
              <a:gd name="connsiteX16" fmla="*/ 329611 w 1279522"/>
              <a:gd name="connsiteY16" fmla="*/ 506027 h 1875337"/>
              <a:gd name="connsiteX17" fmla="*/ 320734 w 1279522"/>
              <a:gd name="connsiteY17" fmla="*/ 550415 h 1875337"/>
              <a:gd name="connsiteX18" fmla="*/ 302978 w 1279522"/>
              <a:gd name="connsiteY18" fmla="*/ 577048 h 1875337"/>
              <a:gd name="connsiteX19" fmla="*/ 258590 w 1279522"/>
              <a:gd name="connsiteY19" fmla="*/ 621437 h 1875337"/>
              <a:gd name="connsiteX20" fmla="*/ 223079 w 1279522"/>
              <a:gd name="connsiteY20" fmla="*/ 692458 h 1875337"/>
              <a:gd name="connsiteX21" fmla="*/ 205324 w 1279522"/>
              <a:gd name="connsiteY21" fmla="*/ 763479 h 1875337"/>
              <a:gd name="connsiteX22" fmla="*/ 196446 w 1279522"/>
              <a:gd name="connsiteY22" fmla="*/ 852256 h 1875337"/>
              <a:gd name="connsiteX23" fmla="*/ 169813 w 1279522"/>
              <a:gd name="connsiteY23" fmla="*/ 870011 h 1875337"/>
              <a:gd name="connsiteX24" fmla="*/ 107670 w 1279522"/>
              <a:gd name="connsiteY24" fmla="*/ 941033 h 1875337"/>
              <a:gd name="connsiteX25" fmla="*/ 89914 w 1279522"/>
              <a:gd name="connsiteY25" fmla="*/ 994299 h 1875337"/>
              <a:gd name="connsiteX26" fmla="*/ 72159 w 1279522"/>
              <a:gd name="connsiteY26" fmla="*/ 1065320 h 1875337"/>
              <a:gd name="connsiteX27" fmla="*/ 54404 w 1279522"/>
              <a:gd name="connsiteY27" fmla="*/ 1083076 h 1875337"/>
              <a:gd name="connsiteX28" fmla="*/ 45526 w 1279522"/>
              <a:gd name="connsiteY28" fmla="*/ 1207363 h 1875337"/>
              <a:gd name="connsiteX29" fmla="*/ 27771 w 1279522"/>
              <a:gd name="connsiteY29" fmla="*/ 1349406 h 1875337"/>
              <a:gd name="connsiteX30" fmla="*/ 10015 w 1279522"/>
              <a:gd name="connsiteY30" fmla="*/ 1376039 h 1875337"/>
              <a:gd name="connsiteX31" fmla="*/ 36648 w 1279522"/>
              <a:gd name="connsiteY31" fmla="*/ 1509204 h 1875337"/>
              <a:gd name="connsiteX32" fmla="*/ 54404 w 1279522"/>
              <a:gd name="connsiteY32" fmla="*/ 1526959 h 1875337"/>
              <a:gd name="connsiteX33" fmla="*/ 45526 w 1279522"/>
              <a:gd name="connsiteY33" fmla="*/ 1580225 h 1875337"/>
              <a:gd name="connsiteX34" fmla="*/ 18893 w 1279522"/>
              <a:gd name="connsiteY34" fmla="*/ 1597980 h 1875337"/>
              <a:gd name="connsiteX35" fmla="*/ 1138 w 1279522"/>
              <a:gd name="connsiteY35" fmla="*/ 1651246 h 1875337"/>
              <a:gd name="connsiteX36" fmla="*/ 10015 w 1279522"/>
              <a:gd name="connsiteY36" fmla="*/ 1686757 h 1875337"/>
              <a:gd name="connsiteX37" fmla="*/ 18893 w 1279522"/>
              <a:gd name="connsiteY37" fmla="*/ 1713390 h 1875337"/>
              <a:gd name="connsiteX38" fmla="*/ 45526 w 1279522"/>
              <a:gd name="connsiteY38" fmla="*/ 1802167 h 1875337"/>
              <a:gd name="connsiteX39" fmla="*/ 54404 w 1279522"/>
              <a:gd name="connsiteY39" fmla="*/ 1828800 h 1875337"/>
              <a:gd name="connsiteX40" fmla="*/ 81037 w 1279522"/>
              <a:gd name="connsiteY40" fmla="*/ 1846555 h 1875337"/>
              <a:gd name="connsiteX41" fmla="*/ 134303 w 1279522"/>
              <a:gd name="connsiteY41" fmla="*/ 1873188 h 1875337"/>
              <a:gd name="connsiteX42" fmla="*/ 231957 w 1279522"/>
              <a:gd name="connsiteY42" fmla="*/ 1864311 h 1875337"/>
              <a:gd name="connsiteX43" fmla="*/ 285223 w 1279522"/>
              <a:gd name="connsiteY43" fmla="*/ 1846555 h 1875337"/>
              <a:gd name="connsiteX44" fmla="*/ 311856 w 1279522"/>
              <a:gd name="connsiteY44" fmla="*/ 1837677 h 1875337"/>
              <a:gd name="connsiteX45" fmla="*/ 329611 w 1279522"/>
              <a:gd name="connsiteY45" fmla="*/ 1837677 h 1875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279522" h="1875337">
                <a:moveTo>
                  <a:pt x="1279522" y="0"/>
                </a:moveTo>
                <a:cubicBezTo>
                  <a:pt x="1276563" y="8878"/>
                  <a:pt x="1278259" y="21194"/>
                  <a:pt x="1270644" y="26633"/>
                </a:cubicBezTo>
                <a:cubicBezTo>
                  <a:pt x="1255414" y="37511"/>
                  <a:pt x="1235133" y="38470"/>
                  <a:pt x="1217378" y="44388"/>
                </a:cubicBezTo>
                <a:cubicBezTo>
                  <a:pt x="1208500" y="47347"/>
                  <a:pt x="1200099" y="53006"/>
                  <a:pt x="1190745" y="53266"/>
                </a:cubicBezTo>
                <a:lnTo>
                  <a:pt x="871149" y="62144"/>
                </a:lnTo>
                <a:cubicBezTo>
                  <a:pt x="865231" y="71022"/>
                  <a:pt x="857727" y="79027"/>
                  <a:pt x="853394" y="88777"/>
                </a:cubicBezTo>
                <a:cubicBezTo>
                  <a:pt x="845793" y="105880"/>
                  <a:pt x="846021" y="126471"/>
                  <a:pt x="835639" y="142043"/>
                </a:cubicBezTo>
                <a:cubicBezTo>
                  <a:pt x="829720" y="150921"/>
                  <a:pt x="827426" y="163904"/>
                  <a:pt x="817883" y="168676"/>
                </a:cubicBezTo>
                <a:cubicBezTo>
                  <a:pt x="801783" y="176726"/>
                  <a:pt x="782580" y="176394"/>
                  <a:pt x="764617" y="177553"/>
                </a:cubicBezTo>
                <a:cubicBezTo>
                  <a:pt x="690731" y="182320"/>
                  <a:pt x="616656" y="183472"/>
                  <a:pt x="542676" y="186431"/>
                </a:cubicBezTo>
                <a:cubicBezTo>
                  <a:pt x="539717" y="195309"/>
                  <a:pt x="535221" y="203815"/>
                  <a:pt x="533798" y="213064"/>
                </a:cubicBezTo>
                <a:cubicBezTo>
                  <a:pt x="529276" y="242458"/>
                  <a:pt x="533090" y="273245"/>
                  <a:pt x="524920" y="301841"/>
                </a:cubicBezTo>
                <a:cubicBezTo>
                  <a:pt x="517147" y="329045"/>
                  <a:pt x="492380" y="341289"/>
                  <a:pt x="471654" y="355107"/>
                </a:cubicBezTo>
                <a:cubicBezTo>
                  <a:pt x="465736" y="363985"/>
                  <a:pt x="461444" y="374195"/>
                  <a:pt x="453899" y="381740"/>
                </a:cubicBezTo>
                <a:cubicBezTo>
                  <a:pt x="436690" y="398949"/>
                  <a:pt x="422293" y="401153"/>
                  <a:pt x="400633" y="408373"/>
                </a:cubicBezTo>
                <a:cubicBezTo>
                  <a:pt x="377489" y="431516"/>
                  <a:pt x="353171" y="450030"/>
                  <a:pt x="338489" y="479394"/>
                </a:cubicBezTo>
                <a:cubicBezTo>
                  <a:pt x="334304" y="487764"/>
                  <a:pt x="331881" y="496948"/>
                  <a:pt x="329611" y="506027"/>
                </a:cubicBezTo>
                <a:cubicBezTo>
                  <a:pt x="325951" y="520665"/>
                  <a:pt x="326032" y="536287"/>
                  <a:pt x="320734" y="550415"/>
                </a:cubicBezTo>
                <a:cubicBezTo>
                  <a:pt x="316988" y="560405"/>
                  <a:pt x="310004" y="569018"/>
                  <a:pt x="302978" y="577048"/>
                </a:cubicBezTo>
                <a:cubicBezTo>
                  <a:pt x="289199" y="592796"/>
                  <a:pt x="258590" y="621437"/>
                  <a:pt x="258590" y="621437"/>
                </a:cubicBezTo>
                <a:cubicBezTo>
                  <a:pt x="238188" y="682644"/>
                  <a:pt x="254069" y="661469"/>
                  <a:pt x="223079" y="692458"/>
                </a:cubicBezTo>
                <a:cubicBezTo>
                  <a:pt x="213122" y="722331"/>
                  <a:pt x="210085" y="727773"/>
                  <a:pt x="205324" y="763479"/>
                </a:cubicBezTo>
                <a:cubicBezTo>
                  <a:pt x="201393" y="792958"/>
                  <a:pt x="205851" y="824042"/>
                  <a:pt x="196446" y="852256"/>
                </a:cubicBezTo>
                <a:cubicBezTo>
                  <a:pt x="193072" y="862378"/>
                  <a:pt x="177843" y="862985"/>
                  <a:pt x="169813" y="870011"/>
                </a:cubicBezTo>
                <a:cubicBezTo>
                  <a:pt x="154010" y="883838"/>
                  <a:pt x="118609" y="916420"/>
                  <a:pt x="107670" y="941033"/>
                </a:cubicBezTo>
                <a:cubicBezTo>
                  <a:pt x="100069" y="958136"/>
                  <a:pt x="93584" y="975947"/>
                  <a:pt x="89914" y="994299"/>
                </a:cubicBezTo>
                <a:cubicBezTo>
                  <a:pt x="88004" y="1003851"/>
                  <a:pt x="80350" y="1051668"/>
                  <a:pt x="72159" y="1065320"/>
                </a:cubicBezTo>
                <a:cubicBezTo>
                  <a:pt x="67853" y="1072497"/>
                  <a:pt x="60322" y="1077157"/>
                  <a:pt x="54404" y="1083076"/>
                </a:cubicBezTo>
                <a:cubicBezTo>
                  <a:pt x="29103" y="1158976"/>
                  <a:pt x="34326" y="1117771"/>
                  <a:pt x="45526" y="1207363"/>
                </a:cubicBezTo>
                <a:cubicBezTo>
                  <a:pt x="43833" y="1229373"/>
                  <a:pt x="46932" y="1311084"/>
                  <a:pt x="27771" y="1349406"/>
                </a:cubicBezTo>
                <a:cubicBezTo>
                  <a:pt x="22999" y="1358949"/>
                  <a:pt x="15934" y="1367161"/>
                  <a:pt x="10015" y="1376039"/>
                </a:cubicBezTo>
                <a:cubicBezTo>
                  <a:pt x="16864" y="1458226"/>
                  <a:pt x="0" y="1463395"/>
                  <a:pt x="36648" y="1509204"/>
                </a:cubicBezTo>
                <a:cubicBezTo>
                  <a:pt x="41877" y="1515740"/>
                  <a:pt x="48485" y="1521041"/>
                  <a:pt x="54404" y="1526959"/>
                </a:cubicBezTo>
                <a:cubicBezTo>
                  <a:pt x="51445" y="1544714"/>
                  <a:pt x="53576" y="1564125"/>
                  <a:pt x="45526" y="1580225"/>
                </a:cubicBezTo>
                <a:cubicBezTo>
                  <a:pt x="40754" y="1589768"/>
                  <a:pt x="24548" y="1588932"/>
                  <a:pt x="18893" y="1597980"/>
                </a:cubicBezTo>
                <a:cubicBezTo>
                  <a:pt x="8974" y="1613851"/>
                  <a:pt x="1138" y="1651246"/>
                  <a:pt x="1138" y="1651246"/>
                </a:cubicBezTo>
                <a:cubicBezTo>
                  <a:pt x="4097" y="1663083"/>
                  <a:pt x="6663" y="1675025"/>
                  <a:pt x="10015" y="1686757"/>
                </a:cubicBezTo>
                <a:cubicBezTo>
                  <a:pt x="12586" y="1695755"/>
                  <a:pt x="17219" y="1704183"/>
                  <a:pt x="18893" y="1713390"/>
                </a:cubicBezTo>
                <a:cubicBezTo>
                  <a:pt x="34318" y="1798226"/>
                  <a:pt x="8969" y="1765608"/>
                  <a:pt x="45526" y="1802167"/>
                </a:cubicBezTo>
                <a:cubicBezTo>
                  <a:pt x="48485" y="1811045"/>
                  <a:pt x="48558" y="1821493"/>
                  <a:pt x="54404" y="1828800"/>
                </a:cubicBezTo>
                <a:cubicBezTo>
                  <a:pt x="61069" y="1837131"/>
                  <a:pt x="72706" y="1839890"/>
                  <a:pt x="81037" y="1846555"/>
                </a:cubicBezTo>
                <a:cubicBezTo>
                  <a:pt x="117014" y="1875337"/>
                  <a:pt x="76685" y="1858785"/>
                  <a:pt x="134303" y="1873188"/>
                </a:cubicBezTo>
                <a:cubicBezTo>
                  <a:pt x="166854" y="1870229"/>
                  <a:pt x="199769" y="1869991"/>
                  <a:pt x="231957" y="1864311"/>
                </a:cubicBezTo>
                <a:cubicBezTo>
                  <a:pt x="250388" y="1861058"/>
                  <a:pt x="267468" y="1852474"/>
                  <a:pt x="285223" y="1846555"/>
                </a:cubicBezTo>
                <a:cubicBezTo>
                  <a:pt x="294101" y="1843596"/>
                  <a:pt x="302498" y="1837677"/>
                  <a:pt x="311856" y="1837677"/>
                </a:cubicBezTo>
                <a:lnTo>
                  <a:pt x="329611" y="1837677"/>
                </a:lnTo>
              </a:path>
            </a:pathLst>
          </a:custGeom>
          <a:noFill/>
          <a:ln w="762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149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Cloud 68"/>
          <p:cNvSpPr/>
          <p:nvPr/>
        </p:nvSpPr>
        <p:spPr bwMode="auto">
          <a:xfrm rot="11051792">
            <a:off x="927918" y="3364846"/>
            <a:ext cx="1644625" cy="935170"/>
          </a:xfrm>
          <a:prstGeom prst="cloud">
            <a:avLst/>
          </a:prstGeom>
          <a:gradFill flip="none" rotWithShape="1">
            <a:gsLst>
              <a:gs pos="0">
                <a:srgbClr val="E3CAC1">
                  <a:shade val="30000"/>
                  <a:satMod val="115000"/>
                </a:srgbClr>
              </a:gs>
              <a:gs pos="50000">
                <a:srgbClr val="E3CAC1">
                  <a:shade val="67500"/>
                  <a:satMod val="115000"/>
                </a:srgbClr>
              </a:gs>
              <a:gs pos="100000">
                <a:srgbClr val="E3CAC1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7066628" y="3710865"/>
            <a:ext cx="1740020" cy="2388094"/>
            <a:chOff x="7057748" y="4039340"/>
            <a:chExt cx="1953087" cy="2396971"/>
          </a:xfrm>
        </p:grpSpPr>
        <p:sp>
          <p:nvSpPr>
            <p:cNvPr id="6" name="Rectangle 5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3" name="Group 85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8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2" imgW="1714739" imgH="1714739" progId="">
                      <p:embed/>
                    </p:oleObj>
                  </mc:Choice>
                  <mc:Fallback>
                    <p:oleObj name="Photo Editor Photo" r:id="rId2" imgW="1714739" imgH="1714739" progId="">
                      <p:embed/>
                      <p:pic>
                        <p:nvPicPr>
                          <p:cNvPr id="8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0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4" imgW="1714739" imgH="1133633" progId="">
                      <p:embed/>
                    </p:oleObj>
                  </mc:Choice>
                  <mc:Fallback>
                    <p:oleObj name="Photo Editor Photo" r:id="rId4" imgW="1714739" imgH="1133633" progId="">
                      <p:embed/>
                      <p:pic>
                        <p:nvPicPr>
                          <p:cNvPr id="10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" name="Group 11"/>
          <p:cNvGrpSpPr/>
          <p:nvPr/>
        </p:nvGrpSpPr>
        <p:grpSpPr>
          <a:xfrm>
            <a:off x="7013362" y="3773009"/>
            <a:ext cx="1740020" cy="2388094"/>
            <a:chOff x="7057748" y="4039340"/>
            <a:chExt cx="1953087" cy="2396971"/>
          </a:xfrm>
        </p:grpSpPr>
        <p:sp>
          <p:nvSpPr>
            <p:cNvPr id="13" name="Rectangle 12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5" name="Group 100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15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6" imgW="1714739" imgH="1714739" progId="">
                      <p:embed/>
                    </p:oleObj>
                  </mc:Choice>
                  <mc:Fallback>
                    <p:oleObj name="Photo Editor Photo" r:id="rId6" imgW="1714739" imgH="1714739" progId="">
                      <p:embed/>
                      <p:pic>
                        <p:nvPicPr>
                          <p:cNvPr id="15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7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7" imgW="1714739" imgH="1133633" progId="">
                      <p:embed/>
                    </p:oleObj>
                  </mc:Choice>
                  <mc:Fallback>
                    <p:oleObj name="Photo Editor Photo" r:id="rId7" imgW="1714739" imgH="1133633" progId="">
                      <p:embed/>
                      <p:pic>
                        <p:nvPicPr>
                          <p:cNvPr id="17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7" name="Group 18"/>
          <p:cNvGrpSpPr/>
          <p:nvPr/>
        </p:nvGrpSpPr>
        <p:grpSpPr>
          <a:xfrm>
            <a:off x="6933463" y="3844030"/>
            <a:ext cx="1740020" cy="2388094"/>
            <a:chOff x="7057748" y="4039340"/>
            <a:chExt cx="1953087" cy="2396971"/>
          </a:xfrm>
        </p:grpSpPr>
        <p:sp>
          <p:nvSpPr>
            <p:cNvPr id="20" name="Rectangle 19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2" name="Group 10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2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8" imgW="1714739" imgH="1714739" progId="">
                      <p:embed/>
                    </p:oleObj>
                  </mc:Choice>
                  <mc:Fallback>
                    <p:oleObj name="Photo Editor Photo" r:id="rId8" imgW="1714739" imgH="1714739" progId="">
                      <p:embed/>
                      <p:pic>
                        <p:nvPicPr>
                          <p:cNvPr id="22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24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9" imgW="1714739" imgH="1133633" progId="">
                      <p:embed/>
                    </p:oleObj>
                  </mc:Choice>
                  <mc:Fallback>
                    <p:oleObj name="Photo Editor Photo" r:id="rId9" imgW="1714739" imgH="1133633" progId="">
                      <p:embed/>
                      <p:pic>
                        <p:nvPicPr>
                          <p:cNvPr id="24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4" name="Group 25"/>
          <p:cNvGrpSpPr/>
          <p:nvPr/>
        </p:nvGrpSpPr>
        <p:grpSpPr>
          <a:xfrm>
            <a:off x="6862441" y="3923929"/>
            <a:ext cx="1740020" cy="2388094"/>
            <a:chOff x="7057748" y="4039340"/>
            <a:chExt cx="1953087" cy="2396971"/>
          </a:xfrm>
        </p:grpSpPr>
        <p:sp>
          <p:nvSpPr>
            <p:cNvPr id="27" name="Rectangle 26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9" name="Group 74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9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0" imgW="1714739" imgH="1714739" progId="">
                      <p:embed/>
                    </p:oleObj>
                  </mc:Choice>
                  <mc:Fallback>
                    <p:oleObj name="Photo Editor Photo" r:id="rId10" imgW="1714739" imgH="1714739" progId="">
                      <p:embed/>
                      <p:pic>
                        <p:nvPicPr>
                          <p:cNvPr id="29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1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1" imgW="1714739" imgH="1133633" progId="">
                      <p:embed/>
                    </p:oleObj>
                  </mc:Choice>
                  <mc:Fallback>
                    <p:oleObj name="Photo Editor Photo" r:id="rId11" imgW="1714739" imgH="1133633" progId="">
                      <p:embed/>
                      <p:pic>
                        <p:nvPicPr>
                          <p:cNvPr id="31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1" name="Group 32"/>
          <p:cNvGrpSpPr/>
          <p:nvPr/>
        </p:nvGrpSpPr>
        <p:grpSpPr>
          <a:xfrm>
            <a:off x="6809175" y="3986073"/>
            <a:ext cx="1740020" cy="2388094"/>
            <a:chOff x="7057748" y="4039340"/>
            <a:chExt cx="1953087" cy="2396971"/>
          </a:xfrm>
        </p:grpSpPr>
        <p:sp>
          <p:nvSpPr>
            <p:cNvPr id="34" name="Rectangle 33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6" name="Group 66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36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2" imgW="1714739" imgH="1714739" progId="">
                      <p:embed/>
                    </p:oleObj>
                  </mc:Choice>
                  <mc:Fallback>
                    <p:oleObj name="Photo Editor Photo" r:id="rId12" imgW="1714739" imgH="1714739" progId="">
                      <p:embed/>
                      <p:pic>
                        <p:nvPicPr>
                          <p:cNvPr id="36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8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3" imgW="1714739" imgH="1133633" progId="">
                      <p:embed/>
                    </p:oleObj>
                  </mc:Choice>
                  <mc:Fallback>
                    <p:oleObj name="Photo Editor Photo" r:id="rId13" imgW="1714739" imgH="1133633" progId="">
                      <p:embed/>
                      <p:pic>
                        <p:nvPicPr>
                          <p:cNvPr id="38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40" name="Cloud 39"/>
          <p:cNvSpPr/>
          <p:nvPr/>
        </p:nvSpPr>
        <p:spPr bwMode="auto">
          <a:xfrm rot="11051792">
            <a:off x="221206" y="911036"/>
            <a:ext cx="2821780" cy="2420596"/>
          </a:xfrm>
          <a:prstGeom prst="cloud">
            <a:avLst/>
          </a:prstGeom>
          <a:solidFill>
            <a:srgbClr val="E3CA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28" name="Group 40"/>
          <p:cNvGrpSpPr/>
          <p:nvPr/>
        </p:nvGrpSpPr>
        <p:grpSpPr>
          <a:xfrm>
            <a:off x="6729276" y="4057094"/>
            <a:ext cx="1740020" cy="2388094"/>
            <a:chOff x="7057748" y="4039340"/>
            <a:chExt cx="1953087" cy="2396971"/>
          </a:xfrm>
        </p:grpSpPr>
        <p:sp>
          <p:nvSpPr>
            <p:cNvPr id="42" name="Rectangle 41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33" name="Group 3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44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4" imgW="1714739" imgH="1714739" progId="">
                      <p:embed/>
                    </p:oleObj>
                  </mc:Choice>
                  <mc:Fallback>
                    <p:oleObj name="Photo Editor Photo" r:id="rId14" imgW="1714739" imgH="1714739" progId="">
                      <p:embed/>
                      <p:pic>
                        <p:nvPicPr>
                          <p:cNvPr id="44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5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46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5" imgW="1714739" imgH="1133633" progId="">
                      <p:embed/>
                    </p:oleObj>
                  </mc:Choice>
                  <mc:Fallback>
                    <p:oleObj name="Photo Editor Photo" r:id="rId15" imgW="1714739" imgH="1133633" progId="">
                      <p:embed/>
                      <p:pic>
                        <p:nvPicPr>
                          <p:cNvPr id="46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7" name="Rectangle 46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48" name="TextBox 3"/>
          <p:cNvSpPr txBox="1"/>
          <p:nvPr/>
        </p:nvSpPr>
        <p:spPr>
          <a:xfrm>
            <a:off x="381000" y="333375"/>
            <a:ext cx="7064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Media Distribution - Digital Terrestrial (DTTV)</a:t>
            </a:r>
          </a:p>
        </p:txBody>
      </p:sp>
      <p:sp>
        <p:nvSpPr>
          <p:cNvPr id="49" name="Rectangle 26"/>
          <p:cNvSpPr>
            <a:spLocks noChangeArrowheads="1"/>
          </p:cNvSpPr>
          <p:nvPr/>
        </p:nvSpPr>
        <p:spPr bwMode="auto">
          <a:xfrm>
            <a:off x="1095725" y="1975335"/>
            <a:ext cx="7397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50" name="Picture 4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81000" y="1149105"/>
            <a:ext cx="2575264" cy="1931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" name="Text Box 29"/>
          <p:cNvSpPr txBox="1">
            <a:spLocks noChangeArrowheads="1"/>
          </p:cNvSpPr>
          <p:nvPr/>
        </p:nvSpPr>
        <p:spPr bwMode="auto">
          <a:xfrm>
            <a:off x="1642457" y="1698431"/>
            <a:ext cx="113625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100" b="1" dirty="0">
                <a:solidFill>
                  <a:srgbClr val="FFFF00"/>
                </a:solidFill>
              </a:rPr>
              <a:t>VOD and 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Various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Functions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(Servers, etc)</a:t>
            </a:r>
          </a:p>
          <a:p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81000" y="4509857"/>
            <a:ext cx="19062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Access to 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WWW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Telephone N/W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Ingest of Media</a:t>
            </a:r>
          </a:p>
        </p:txBody>
      </p:sp>
      <p:sp>
        <p:nvSpPr>
          <p:cNvPr id="54" name="Up-Down Arrow 24"/>
          <p:cNvSpPr/>
          <p:nvPr/>
        </p:nvSpPr>
        <p:spPr bwMode="auto">
          <a:xfrm>
            <a:off x="1455937" y="2911876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5" name="Up-Down Arrow 54"/>
          <p:cNvSpPr/>
          <p:nvPr/>
        </p:nvSpPr>
        <p:spPr bwMode="auto">
          <a:xfrm>
            <a:off x="1553592" y="4163627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35" name="Group 56"/>
          <p:cNvGrpSpPr/>
          <p:nvPr/>
        </p:nvGrpSpPr>
        <p:grpSpPr>
          <a:xfrm>
            <a:off x="6649374" y="4136995"/>
            <a:ext cx="1748901" cy="2361460"/>
            <a:chOff x="7037918" y="4039340"/>
            <a:chExt cx="1953087" cy="2540216"/>
          </a:xfrm>
        </p:grpSpPr>
        <p:sp>
          <p:nvSpPr>
            <p:cNvPr id="58" name="Rectangle 57"/>
            <p:cNvSpPr/>
            <p:nvPr/>
          </p:nvSpPr>
          <p:spPr bwMode="auto">
            <a:xfrm>
              <a:off x="7037918" y="4039340"/>
              <a:ext cx="1953087" cy="254021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41" name="Group 32"/>
            <p:cNvGrpSpPr/>
            <p:nvPr/>
          </p:nvGrpSpPr>
          <p:grpSpPr>
            <a:xfrm>
              <a:off x="7549992" y="5132495"/>
              <a:ext cx="1247775" cy="1393611"/>
              <a:chOff x="7549992" y="5132495"/>
              <a:chExt cx="1247775" cy="1393611"/>
            </a:xfrm>
          </p:grpSpPr>
          <p:graphicFrame>
            <p:nvGraphicFramePr>
              <p:cNvPr id="60" name="Object 111"/>
              <p:cNvGraphicFramePr>
                <a:graphicFrameLocks noChangeAspect="1"/>
              </p:cNvGraphicFramePr>
              <p:nvPr/>
            </p:nvGraphicFramePr>
            <p:xfrm>
              <a:off x="7549992" y="5278331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7" imgW="1714739" imgH="1714739" progId="">
                      <p:embed/>
                    </p:oleObj>
                  </mc:Choice>
                  <mc:Fallback>
                    <p:oleObj name="Photo Editor Photo" r:id="rId17" imgW="1714739" imgH="1714739" progId="">
                      <p:embed/>
                      <p:pic>
                        <p:nvPicPr>
                          <p:cNvPr id="60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49992" y="5278331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062558" y="4971098"/>
                <a:ext cx="111125" cy="850899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sp>
            <p:nvSpPr>
              <p:cNvPr id="64" name="TextBox 31"/>
              <p:cNvSpPr txBox="1"/>
              <p:nvPr/>
            </p:nvSpPr>
            <p:spPr>
              <a:xfrm>
                <a:off x="7685384" y="5132495"/>
                <a:ext cx="1018112" cy="297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FFFF00"/>
                    </a:solidFill>
                  </a:rPr>
                  <a:t>STB, etc</a:t>
                </a:r>
              </a:p>
            </p:txBody>
          </p:sp>
        </p:grpSp>
      </p:grpSp>
      <p:sp>
        <p:nvSpPr>
          <p:cNvPr id="66" name="TextBox 65"/>
          <p:cNvSpPr txBox="1"/>
          <p:nvPr/>
        </p:nvSpPr>
        <p:spPr>
          <a:xfrm>
            <a:off x="7146523" y="3292285"/>
            <a:ext cx="1615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End Users</a:t>
            </a:r>
          </a:p>
        </p:txBody>
      </p:sp>
      <p:sp>
        <p:nvSpPr>
          <p:cNvPr id="67" name="Text Box 31"/>
          <p:cNvSpPr txBox="1">
            <a:spLocks noChangeArrowheads="1"/>
          </p:cNvSpPr>
          <p:nvPr/>
        </p:nvSpPr>
        <p:spPr bwMode="auto">
          <a:xfrm>
            <a:off x="381000" y="1149341"/>
            <a:ext cx="1604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</a:rPr>
              <a:t>Video Head-End</a:t>
            </a:r>
            <a:endParaRPr lang="en-GB" sz="1400" dirty="0">
              <a:solidFill>
                <a:srgbClr val="FFFF00"/>
              </a:solidFill>
            </a:endParaRPr>
          </a:p>
        </p:txBody>
      </p:sp>
      <p:pic>
        <p:nvPicPr>
          <p:cNvPr id="68" name="Picture 23" descr="C:\Users\jdfoss\Desktop\Clipboard01.gif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7123193" y="4200807"/>
            <a:ext cx="407782" cy="407782"/>
          </a:xfrm>
          <a:prstGeom prst="rect">
            <a:avLst/>
          </a:prstGeom>
          <a:noFill/>
        </p:spPr>
      </p:pic>
      <p:pic>
        <p:nvPicPr>
          <p:cNvPr id="94224" name="Picture 16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3136916" y="1688746"/>
            <a:ext cx="561975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" name="Arc 72"/>
          <p:cNvSpPr/>
          <p:nvPr/>
        </p:nvSpPr>
        <p:spPr bwMode="auto">
          <a:xfrm rot="4801966">
            <a:off x="3365606" y="2389279"/>
            <a:ext cx="1711449" cy="1391424"/>
          </a:xfrm>
          <a:prstGeom prst="arc">
            <a:avLst/>
          </a:prstGeom>
          <a:noFill/>
          <a:ln w="57150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4" name="Arc 73"/>
          <p:cNvSpPr/>
          <p:nvPr/>
        </p:nvSpPr>
        <p:spPr bwMode="auto">
          <a:xfrm rot="5150297">
            <a:off x="3201487" y="2075336"/>
            <a:ext cx="2721194" cy="1867442"/>
          </a:xfrm>
          <a:prstGeom prst="arc">
            <a:avLst/>
          </a:prstGeom>
          <a:noFill/>
          <a:ln w="57150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5" name="Arc 74"/>
          <p:cNvSpPr/>
          <p:nvPr/>
        </p:nvSpPr>
        <p:spPr bwMode="auto">
          <a:xfrm rot="5150297">
            <a:off x="3089487" y="1827733"/>
            <a:ext cx="4120066" cy="2203689"/>
          </a:xfrm>
          <a:prstGeom prst="arc">
            <a:avLst/>
          </a:prstGeom>
          <a:noFill/>
          <a:ln w="57150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6" name="Arc 75"/>
          <p:cNvSpPr/>
          <p:nvPr/>
        </p:nvSpPr>
        <p:spPr bwMode="auto">
          <a:xfrm rot="4810395">
            <a:off x="3595557" y="2557576"/>
            <a:ext cx="864053" cy="910417"/>
          </a:xfrm>
          <a:prstGeom prst="arc">
            <a:avLst/>
          </a:prstGeom>
          <a:noFill/>
          <a:ln w="57150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10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2"/>
          <p:cNvGrpSpPr/>
          <p:nvPr/>
        </p:nvGrpSpPr>
        <p:grpSpPr>
          <a:xfrm>
            <a:off x="7066628" y="3710865"/>
            <a:ext cx="1740020" cy="2388094"/>
            <a:chOff x="7057748" y="4039340"/>
            <a:chExt cx="1953087" cy="2396971"/>
          </a:xfrm>
        </p:grpSpPr>
        <p:sp>
          <p:nvSpPr>
            <p:cNvPr id="85" name="Rectangle 84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3" name="Group 85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87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2" imgW="1714739" imgH="1714739" progId="">
                      <p:embed/>
                    </p:oleObj>
                  </mc:Choice>
                  <mc:Fallback>
                    <p:oleObj name="Photo Editor Photo" r:id="rId2" imgW="1714739" imgH="1714739" progId="">
                      <p:embed/>
                      <p:pic>
                        <p:nvPicPr>
                          <p:cNvPr id="87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9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97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4" imgW="1714739" imgH="1133633" progId="">
                      <p:embed/>
                    </p:oleObj>
                  </mc:Choice>
                  <mc:Fallback>
                    <p:oleObj name="Photo Editor Photo" r:id="rId4" imgW="1714739" imgH="1133633" progId="">
                      <p:embed/>
                      <p:pic>
                        <p:nvPicPr>
                          <p:cNvPr id="97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8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6" name="Group 98"/>
          <p:cNvGrpSpPr/>
          <p:nvPr/>
        </p:nvGrpSpPr>
        <p:grpSpPr>
          <a:xfrm>
            <a:off x="7013362" y="3773009"/>
            <a:ext cx="1740020" cy="2388094"/>
            <a:chOff x="7057748" y="4039340"/>
            <a:chExt cx="1953087" cy="2396971"/>
          </a:xfrm>
        </p:grpSpPr>
        <p:sp>
          <p:nvSpPr>
            <p:cNvPr id="100" name="Rectangle 99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8" name="Group 100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102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6" imgW="1714739" imgH="1714739" progId="">
                      <p:embed/>
                    </p:oleObj>
                  </mc:Choice>
                  <mc:Fallback>
                    <p:oleObj name="Photo Editor Photo" r:id="rId6" imgW="1714739" imgH="1714739" progId="">
                      <p:embed/>
                      <p:pic>
                        <p:nvPicPr>
                          <p:cNvPr id="102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3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04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7" imgW="1714739" imgH="1133633" progId="">
                      <p:embed/>
                    </p:oleObj>
                  </mc:Choice>
                  <mc:Fallback>
                    <p:oleObj name="Photo Editor Photo" r:id="rId7" imgW="1714739" imgH="1133633" progId="">
                      <p:embed/>
                      <p:pic>
                        <p:nvPicPr>
                          <p:cNvPr id="104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5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0" name="Group 105"/>
          <p:cNvGrpSpPr/>
          <p:nvPr/>
        </p:nvGrpSpPr>
        <p:grpSpPr>
          <a:xfrm>
            <a:off x="6933463" y="3844030"/>
            <a:ext cx="1740020" cy="2388094"/>
            <a:chOff x="7057748" y="4039340"/>
            <a:chExt cx="1953087" cy="2396971"/>
          </a:xfrm>
        </p:grpSpPr>
        <p:sp>
          <p:nvSpPr>
            <p:cNvPr id="107" name="Rectangle 106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2" name="Group 10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109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8" imgW="1714739" imgH="1714739" progId="">
                      <p:embed/>
                    </p:oleObj>
                  </mc:Choice>
                  <mc:Fallback>
                    <p:oleObj name="Photo Editor Photo" r:id="rId8" imgW="1714739" imgH="1714739" progId="">
                      <p:embed/>
                      <p:pic>
                        <p:nvPicPr>
                          <p:cNvPr id="109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0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11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9" imgW="1714739" imgH="1133633" progId="">
                      <p:embed/>
                    </p:oleObj>
                  </mc:Choice>
                  <mc:Fallback>
                    <p:oleObj name="Photo Editor Photo" r:id="rId9" imgW="1714739" imgH="1133633" progId="">
                      <p:embed/>
                      <p:pic>
                        <p:nvPicPr>
                          <p:cNvPr id="111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2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3" name="Group 72"/>
          <p:cNvGrpSpPr/>
          <p:nvPr/>
        </p:nvGrpSpPr>
        <p:grpSpPr>
          <a:xfrm>
            <a:off x="6862441" y="3923929"/>
            <a:ext cx="1740020" cy="2388094"/>
            <a:chOff x="7057748" y="4039340"/>
            <a:chExt cx="1953087" cy="2396971"/>
          </a:xfrm>
        </p:grpSpPr>
        <p:sp>
          <p:nvSpPr>
            <p:cNvPr id="74" name="Rectangle 73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5" name="Group 74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76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0" imgW="1714739" imgH="1714739" progId="">
                      <p:embed/>
                    </p:oleObj>
                  </mc:Choice>
                  <mc:Fallback>
                    <p:oleObj name="Photo Editor Photo" r:id="rId10" imgW="1714739" imgH="1714739" progId="">
                      <p:embed/>
                      <p:pic>
                        <p:nvPicPr>
                          <p:cNvPr id="76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7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78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1" imgW="1714739" imgH="1133633" progId="">
                      <p:embed/>
                    </p:oleObj>
                  </mc:Choice>
                  <mc:Fallback>
                    <p:oleObj name="Photo Editor Photo" r:id="rId11" imgW="1714739" imgH="1133633" progId="">
                      <p:embed/>
                      <p:pic>
                        <p:nvPicPr>
                          <p:cNvPr id="78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1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7" name="Group 64"/>
          <p:cNvGrpSpPr/>
          <p:nvPr/>
        </p:nvGrpSpPr>
        <p:grpSpPr>
          <a:xfrm>
            <a:off x="6809175" y="3986073"/>
            <a:ext cx="1740020" cy="2388094"/>
            <a:chOff x="7057748" y="4039340"/>
            <a:chExt cx="1953087" cy="2396971"/>
          </a:xfrm>
        </p:grpSpPr>
        <p:sp>
          <p:nvSpPr>
            <p:cNvPr id="66" name="Rectangle 65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8" name="Group 66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69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2" imgW="1714739" imgH="1714739" progId="">
                      <p:embed/>
                    </p:oleObj>
                  </mc:Choice>
                  <mc:Fallback>
                    <p:oleObj name="Photo Editor Photo" r:id="rId12" imgW="1714739" imgH="1714739" progId="">
                      <p:embed/>
                      <p:pic>
                        <p:nvPicPr>
                          <p:cNvPr id="69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0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71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3" imgW="1714739" imgH="1133633" progId="">
                      <p:embed/>
                    </p:oleObj>
                  </mc:Choice>
                  <mc:Fallback>
                    <p:oleObj name="Photo Editor Photo" r:id="rId13" imgW="1714739" imgH="1133633" progId="">
                      <p:embed/>
                      <p:pic>
                        <p:nvPicPr>
                          <p:cNvPr id="71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2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96" name="Cloud 95"/>
          <p:cNvSpPr/>
          <p:nvPr/>
        </p:nvSpPr>
        <p:spPr bwMode="auto">
          <a:xfrm rot="11051792">
            <a:off x="221206" y="911036"/>
            <a:ext cx="2821780" cy="2420596"/>
          </a:xfrm>
          <a:prstGeom prst="cloud">
            <a:avLst/>
          </a:prstGeom>
          <a:solidFill>
            <a:srgbClr val="E3CA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19" name="Group 35"/>
          <p:cNvGrpSpPr/>
          <p:nvPr/>
        </p:nvGrpSpPr>
        <p:grpSpPr>
          <a:xfrm>
            <a:off x="6729276" y="4057094"/>
            <a:ext cx="1740020" cy="2388094"/>
            <a:chOff x="7057748" y="4039340"/>
            <a:chExt cx="1953087" cy="2396971"/>
          </a:xfrm>
        </p:grpSpPr>
        <p:sp>
          <p:nvSpPr>
            <p:cNvPr id="37" name="Rectangle 36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0" name="Group 3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39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4" imgW="1714739" imgH="1714739" progId="">
                      <p:embed/>
                    </p:oleObj>
                  </mc:Choice>
                  <mc:Fallback>
                    <p:oleObj name="Photo Editor Photo" r:id="rId14" imgW="1714739" imgH="1714739" progId="">
                      <p:embed/>
                      <p:pic>
                        <p:nvPicPr>
                          <p:cNvPr id="39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0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41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5" imgW="1714739" imgH="1133633" progId="">
                      <p:embed/>
                    </p:oleObj>
                  </mc:Choice>
                  <mc:Fallback>
                    <p:oleObj name="Photo Editor Photo" r:id="rId15" imgW="1714739" imgH="1133633" progId="">
                      <p:embed/>
                      <p:pic>
                        <p:nvPicPr>
                          <p:cNvPr id="41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2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4" name="TextBox 3"/>
          <p:cNvSpPr txBox="1"/>
          <p:nvPr/>
        </p:nvSpPr>
        <p:spPr>
          <a:xfrm>
            <a:off x="381000" y="333375"/>
            <a:ext cx="4139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Media Distribution – Cable</a:t>
            </a:r>
          </a:p>
        </p:txBody>
      </p:sp>
      <p:sp>
        <p:nvSpPr>
          <p:cNvPr id="11" name="Rectangle 26"/>
          <p:cNvSpPr>
            <a:spLocks noChangeArrowheads="1"/>
          </p:cNvSpPr>
          <p:nvPr/>
        </p:nvSpPr>
        <p:spPr bwMode="auto">
          <a:xfrm>
            <a:off x="1095725" y="1975335"/>
            <a:ext cx="7397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8132" name="Picture 4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81000" y="1149105"/>
            <a:ext cx="2575264" cy="1931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loud 4"/>
          <p:cNvSpPr/>
          <p:nvPr/>
        </p:nvSpPr>
        <p:spPr bwMode="auto">
          <a:xfrm rot="11051792">
            <a:off x="2241767" y="2138875"/>
            <a:ext cx="4109617" cy="2623626"/>
          </a:xfrm>
          <a:prstGeom prst="cloud">
            <a:avLst/>
          </a:prstGeom>
          <a:gradFill flip="none" rotWithShape="1">
            <a:gsLst>
              <a:gs pos="0">
                <a:srgbClr val="FFCC99">
                  <a:shade val="30000"/>
                  <a:satMod val="115000"/>
                </a:srgbClr>
              </a:gs>
              <a:gs pos="50000">
                <a:srgbClr val="FFCC99">
                  <a:shade val="67500"/>
                  <a:satMod val="115000"/>
                </a:srgbClr>
              </a:gs>
              <a:gs pos="100000">
                <a:srgbClr val="FFCC99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" name="Text Box 29"/>
          <p:cNvSpPr txBox="1">
            <a:spLocks noChangeArrowheads="1"/>
          </p:cNvSpPr>
          <p:nvPr/>
        </p:nvSpPr>
        <p:spPr bwMode="auto">
          <a:xfrm>
            <a:off x="1642457" y="1698431"/>
            <a:ext cx="113625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100" b="1" dirty="0">
                <a:solidFill>
                  <a:srgbClr val="FFFF00"/>
                </a:solidFill>
              </a:rPr>
              <a:t>VOD and 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Various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Functions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(Servers, etc)</a:t>
            </a:r>
          </a:p>
          <a:p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21" name="Cloud 20"/>
          <p:cNvSpPr/>
          <p:nvPr/>
        </p:nvSpPr>
        <p:spPr bwMode="auto">
          <a:xfrm rot="11051792">
            <a:off x="927918" y="3364846"/>
            <a:ext cx="1644625" cy="935170"/>
          </a:xfrm>
          <a:prstGeom prst="cloud">
            <a:avLst/>
          </a:prstGeom>
          <a:gradFill flip="none" rotWithShape="1">
            <a:gsLst>
              <a:gs pos="0">
                <a:srgbClr val="E3CAC1">
                  <a:shade val="30000"/>
                  <a:satMod val="115000"/>
                </a:srgbClr>
              </a:gs>
              <a:gs pos="50000">
                <a:srgbClr val="E3CAC1">
                  <a:shade val="67500"/>
                  <a:satMod val="115000"/>
                </a:srgbClr>
              </a:gs>
              <a:gs pos="100000">
                <a:srgbClr val="E3CAC1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81000" y="4509857"/>
            <a:ext cx="19062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Access to 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WWW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Telephone N/W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Ingest of Media</a:t>
            </a:r>
          </a:p>
        </p:txBody>
      </p:sp>
      <p:sp>
        <p:nvSpPr>
          <p:cNvPr id="25" name="Up-Down Arrow 24"/>
          <p:cNvSpPr/>
          <p:nvPr/>
        </p:nvSpPr>
        <p:spPr bwMode="auto">
          <a:xfrm>
            <a:off x="1455937" y="2911876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" name="Up-Down Arrow 27"/>
          <p:cNvSpPr/>
          <p:nvPr/>
        </p:nvSpPr>
        <p:spPr bwMode="auto">
          <a:xfrm>
            <a:off x="1553592" y="4163627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36785" y="3248980"/>
            <a:ext cx="27972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Network Managed and Operated by Network Provider / Operator</a:t>
            </a:r>
          </a:p>
          <a:p>
            <a:pPr algn="ctr"/>
            <a:r>
              <a:rPr lang="en-GB" sz="1600" dirty="0"/>
              <a:t> - Routing, Switching, etc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03418" y="5397623"/>
            <a:ext cx="1208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Network Access Equipment</a:t>
            </a:r>
          </a:p>
        </p:txBody>
      </p:sp>
      <p:grpSp>
        <p:nvGrpSpPr>
          <p:cNvPr id="23" name="Group 34"/>
          <p:cNvGrpSpPr/>
          <p:nvPr/>
        </p:nvGrpSpPr>
        <p:grpSpPr>
          <a:xfrm>
            <a:off x="6649374" y="4136995"/>
            <a:ext cx="1748901" cy="2361460"/>
            <a:chOff x="7037918" y="4039340"/>
            <a:chExt cx="1953087" cy="2540216"/>
          </a:xfrm>
        </p:grpSpPr>
        <p:sp>
          <p:nvSpPr>
            <p:cNvPr id="34" name="Rectangle 33"/>
            <p:cNvSpPr/>
            <p:nvPr/>
          </p:nvSpPr>
          <p:spPr bwMode="auto">
            <a:xfrm>
              <a:off x="7037918" y="4039340"/>
              <a:ext cx="1953087" cy="254021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4" name="Group 32"/>
            <p:cNvGrpSpPr/>
            <p:nvPr/>
          </p:nvGrpSpPr>
          <p:grpSpPr>
            <a:xfrm>
              <a:off x="7125021" y="4448324"/>
              <a:ext cx="1746512" cy="2077782"/>
              <a:chOff x="7125021" y="4448324"/>
              <a:chExt cx="1746512" cy="2077782"/>
            </a:xfrm>
          </p:grpSpPr>
          <p:graphicFrame>
            <p:nvGraphicFramePr>
              <p:cNvPr id="48130" name="Object 111"/>
              <p:cNvGraphicFramePr>
                <a:graphicFrameLocks noChangeAspect="1"/>
              </p:cNvGraphicFramePr>
              <p:nvPr/>
            </p:nvGraphicFramePr>
            <p:xfrm>
              <a:off x="7549992" y="5278331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7" imgW="1714739" imgH="1714739" progId="">
                      <p:embed/>
                    </p:oleObj>
                  </mc:Choice>
                  <mc:Fallback>
                    <p:oleObj name="Photo Editor Photo" r:id="rId17" imgW="1714739" imgH="1714739" progId="">
                      <p:embed/>
                      <p:pic>
                        <p:nvPicPr>
                          <p:cNvPr id="48130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49992" y="5278331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062558" y="4971098"/>
                <a:ext cx="111125" cy="850899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48131" name="Object 116"/>
              <p:cNvGraphicFramePr>
                <a:graphicFrameLocks noChangeAspect="1"/>
              </p:cNvGraphicFramePr>
              <p:nvPr/>
            </p:nvGraphicFramePr>
            <p:xfrm>
              <a:off x="7880934" y="4448324"/>
              <a:ext cx="990599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8" imgW="1714739" imgH="1133633" progId="">
                      <p:embed/>
                    </p:oleObj>
                  </mc:Choice>
                  <mc:Fallback>
                    <p:oleObj name="Photo Editor Photo" r:id="rId18" imgW="1714739" imgH="1133633" progId="">
                      <p:embed/>
                      <p:pic>
                        <p:nvPicPr>
                          <p:cNvPr id="48131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80934" y="4448324"/>
                            <a:ext cx="990599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7685384" y="5132495"/>
                <a:ext cx="1018112" cy="297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FFFF00"/>
                    </a:solidFill>
                  </a:rPr>
                  <a:t>STB, etc</a:t>
                </a:r>
              </a:p>
            </p:txBody>
          </p:sp>
        </p:grpSp>
      </p:grpSp>
      <p:cxnSp>
        <p:nvCxnSpPr>
          <p:cNvPr id="68" name="Straight Arrow Connector 67"/>
          <p:cNvCxnSpPr/>
          <p:nvPr/>
        </p:nvCxnSpPr>
        <p:spPr bwMode="auto">
          <a:xfrm flipV="1">
            <a:off x="6516210" y="5388746"/>
            <a:ext cx="292962" cy="221941"/>
          </a:xfrm>
          <a:prstGeom prst="straightConnector1">
            <a:avLst/>
          </a:prstGeom>
          <a:noFill/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0" name="TextBox 89"/>
          <p:cNvSpPr txBox="1"/>
          <p:nvPr/>
        </p:nvSpPr>
        <p:spPr>
          <a:xfrm>
            <a:off x="7146523" y="3292285"/>
            <a:ext cx="1615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End Users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041830" y="2798930"/>
            <a:ext cx="27972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Cable Network</a:t>
            </a:r>
          </a:p>
        </p:txBody>
      </p:sp>
      <p:sp>
        <p:nvSpPr>
          <p:cNvPr id="16" name="Text Box 31"/>
          <p:cNvSpPr txBox="1">
            <a:spLocks noChangeArrowheads="1"/>
          </p:cNvSpPr>
          <p:nvPr/>
        </p:nvSpPr>
        <p:spPr bwMode="auto">
          <a:xfrm>
            <a:off x="381000" y="1149341"/>
            <a:ext cx="1604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</a:rPr>
              <a:t>Video Head-End</a:t>
            </a:r>
            <a:endParaRPr lang="en-GB" sz="1400" dirty="0">
              <a:solidFill>
                <a:srgbClr val="FFFF00"/>
              </a:solidFill>
            </a:endParaRPr>
          </a:p>
        </p:txBody>
      </p:sp>
      <p:sp>
        <p:nvSpPr>
          <p:cNvPr id="93" name="Cloud 92"/>
          <p:cNvSpPr/>
          <p:nvPr/>
        </p:nvSpPr>
        <p:spPr bwMode="auto">
          <a:xfrm rot="11051792">
            <a:off x="5701416" y="3028351"/>
            <a:ext cx="1023013" cy="637061"/>
          </a:xfrm>
          <a:prstGeom prst="cloud">
            <a:avLst/>
          </a:prstGeom>
          <a:gradFill flip="none" rotWithShape="1">
            <a:gsLst>
              <a:gs pos="0">
                <a:srgbClr val="E3CAC1">
                  <a:shade val="30000"/>
                  <a:satMod val="115000"/>
                </a:srgbClr>
              </a:gs>
              <a:gs pos="50000">
                <a:srgbClr val="E3CAC1">
                  <a:shade val="67500"/>
                  <a:satMod val="115000"/>
                </a:srgbClr>
              </a:gs>
              <a:gs pos="100000">
                <a:srgbClr val="E3CAC1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4" name="Cloud 93"/>
          <p:cNvSpPr/>
          <p:nvPr/>
        </p:nvSpPr>
        <p:spPr bwMode="auto">
          <a:xfrm rot="11051792">
            <a:off x="5577129" y="3534378"/>
            <a:ext cx="1023013" cy="637061"/>
          </a:xfrm>
          <a:prstGeom prst="cloud">
            <a:avLst/>
          </a:prstGeom>
          <a:gradFill flip="none" rotWithShape="1">
            <a:gsLst>
              <a:gs pos="0">
                <a:srgbClr val="E3CAC1">
                  <a:shade val="30000"/>
                  <a:satMod val="115000"/>
                </a:srgbClr>
              </a:gs>
              <a:gs pos="50000">
                <a:srgbClr val="E3CAC1">
                  <a:shade val="67500"/>
                  <a:satMod val="115000"/>
                </a:srgbClr>
              </a:gs>
              <a:gs pos="100000">
                <a:srgbClr val="E3CAC1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5" name="Cloud 94"/>
          <p:cNvSpPr/>
          <p:nvPr/>
        </p:nvSpPr>
        <p:spPr bwMode="auto">
          <a:xfrm rot="11051792">
            <a:off x="5399575" y="3907240"/>
            <a:ext cx="1023013" cy="637061"/>
          </a:xfrm>
          <a:prstGeom prst="cloud">
            <a:avLst/>
          </a:prstGeom>
          <a:gradFill flip="none" rotWithShape="1">
            <a:gsLst>
              <a:gs pos="0">
                <a:srgbClr val="E3CAC1">
                  <a:shade val="30000"/>
                  <a:satMod val="115000"/>
                </a:srgbClr>
              </a:gs>
              <a:gs pos="50000">
                <a:srgbClr val="E3CAC1">
                  <a:shade val="67500"/>
                  <a:satMod val="115000"/>
                </a:srgbClr>
              </a:gs>
              <a:gs pos="100000">
                <a:srgbClr val="E3CAC1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 rot="18157754">
            <a:off x="5170608" y="3623875"/>
            <a:ext cx="1826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Access Network</a:t>
            </a:r>
          </a:p>
        </p:txBody>
      </p:sp>
      <p:cxnSp>
        <p:nvCxnSpPr>
          <p:cNvPr id="79" name="Straight Arrow Connector 78"/>
          <p:cNvCxnSpPr/>
          <p:nvPr/>
        </p:nvCxnSpPr>
        <p:spPr bwMode="auto">
          <a:xfrm>
            <a:off x="6604986" y="3462293"/>
            <a:ext cx="488272" cy="213062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80" name="Straight Arrow Connector 79"/>
          <p:cNvCxnSpPr/>
          <p:nvPr/>
        </p:nvCxnSpPr>
        <p:spPr bwMode="auto">
          <a:xfrm>
            <a:off x="6533964" y="3595459"/>
            <a:ext cx="461640" cy="168672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82" name="Straight Arrow Connector 81"/>
          <p:cNvCxnSpPr/>
          <p:nvPr/>
        </p:nvCxnSpPr>
        <p:spPr bwMode="auto">
          <a:xfrm>
            <a:off x="6454065" y="3657602"/>
            <a:ext cx="470518" cy="221940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88" name="Straight Arrow Connector 87"/>
          <p:cNvCxnSpPr/>
          <p:nvPr/>
        </p:nvCxnSpPr>
        <p:spPr bwMode="auto">
          <a:xfrm>
            <a:off x="5965793" y="4332305"/>
            <a:ext cx="852257" cy="568169"/>
          </a:xfrm>
          <a:prstGeom prst="straightConnector1">
            <a:avLst/>
          </a:prstGeom>
          <a:noFill/>
          <a:ln w="76200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84" name="Straight Arrow Connector 83"/>
          <p:cNvCxnSpPr/>
          <p:nvPr/>
        </p:nvCxnSpPr>
        <p:spPr bwMode="auto">
          <a:xfrm>
            <a:off x="6383045" y="3808520"/>
            <a:ext cx="461638" cy="292963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pic>
        <p:nvPicPr>
          <p:cNvPr id="48151" name="Picture 23" descr="C:\Users\jdfoss\Desktop\Clipboard01.gif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7123193" y="4200807"/>
            <a:ext cx="407782" cy="407782"/>
          </a:xfrm>
          <a:prstGeom prst="rect">
            <a:avLst/>
          </a:prstGeom>
          <a:noFill/>
        </p:spPr>
      </p:pic>
      <p:cxnSp>
        <p:nvCxnSpPr>
          <p:cNvPr id="125" name="Straight Connector 124"/>
          <p:cNvCxnSpPr/>
          <p:nvPr/>
        </p:nvCxnSpPr>
        <p:spPr bwMode="auto">
          <a:xfrm>
            <a:off x="7052650" y="4852657"/>
            <a:ext cx="443619" cy="181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6" name="Straight Connector 125"/>
          <p:cNvCxnSpPr/>
          <p:nvPr/>
        </p:nvCxnSpPr>
        <p:spPr bwMode="auto">
          <a:xfrm>
            <a:off x="7034544" y="4943194"/>
            <a:ext cx="516046" cy="24444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21028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82"/>
          <p:cNvGrpSpPr/>
          <p:nvPr/>
        </p:nvGrpSpPr>
        <p:grpSpPr>
          <a:xfrm>
            <a:off x="7066628" y="3710865"/>
            <a:ext cx="1740020" cy="2388094"/>
            <a:chOff x="7057748" y="4039340"/>
            <a:chExt cx="1953087" cy="2396971"/>
          </a:xfrm>
        </p:grpSpPr>
        <p:sp>
          <p:nvSpPr>
            <p:cNvPr id="5" name="Rectangle 4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6" name="Group 85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7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2" imgW="1714739" imgH="1714739" progId="">
                      <p:embed/>
                    </p:oleObj>
                  </mc:Choice>
                  <mc:Fallback>
                    <p:oleObj name="Photo Editor Photo" r:id="rId2" imgW="1714739" imgH="1714739" progId="">
                      <p:embed/>
                      <p:pic>
                        <p:nvPicPr>
                          <p:cNvPr id="7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9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4" imgW="1714739" imgH="1133633" progId="">
                      <p:embed/>
                    </p:oleObj>
                  </mc:Choice>
                  <mc:Fallback>
                    <p:oleObj name="Photo Editor Photo" r:id="rId4" imgW="1714739" imgH="1133633" progId="">
                      <p:embed/>
                      <p:pic>
                        <p:nvPicPr>
                          <p:cNvPr id="9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1" name="Group 98"/>
          <p:cNvGrpSpPr/>
          <p:nvPr/>
        </p:nvGrpSpPr>
        <p:grpSpPr>
          <a:xfrm>
            <a:off x="7013362" y="3773009"/>
            <a:ext cx="1740020" cy="2388094"/>
            <a:chOff x="7057748" y="4039340"/>
            <a:chExt cx="1953087" cy="2396971"/>
          </a:xfrm>
        </p:grpSpPr>
        <p:sp>
          <p:nvSpPr>
            <p:cNvPr id="12" name="Rectangle 11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3" name="Group 100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14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6" imgW="1714739" imgH="1714739" progId="">
                      <p:embed/>
                    </p:oleObj>
                  </mc:Choice>
                  <mc:Fallback>
                    <p:oleObj name="Photo Editor Photo" r:id="rId6" imgW="1714739" imgH="1714739" progId="">
                      <p:embed/>
                      <p:pic>
                        <p:nvPicPr>
                          <p:cNvPr id="14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6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7" imgW="1714739" imgH="1133633" progId="">
                      <p:embed/>
                    </p:oleObj>
                  </mc:Choice>
                  <mc:Fallback>
                    <p:oleObj name="Photo Editor Photo" r:id="rId7" imgW="1714739" imgH="1133633" progId="">
                      <p:embed/>
                      <p:pic>
                        <p:nvPicPr>
                          <p:cNvPr id="16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8" name="Group 105"/>
          <p:cNvGrpSpPr/>
          <p:nvPr/>
        </p:nvGrpSpPr>
        <p:grpSpPr>
          <a:xfrm>
            <a:off x="6933463" y="3844030"/>
            <a:ext cx="1740020" cy="2388094"/>
            <a:chOff x="7057748" y="4039340"/>
            <a:chExt cx="1953087" cy="2396971"/>
          </a:xfrm>
        </p:grpSpPr>
        <p:sp>
          <p:nvSpPr>
            <p:cNvPr id="19" name="Rectangle 18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0" name="Group 10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1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8" imgW="1714739" imgH="1714739" progId="">
                      <p:embed/>
                    </p:oleObj>
                  </mc:Choice>
                  <mc:Fallback>
                    <p:oleObj name="Photo Editor Photo" r:id="rId8" imgW="1714739" imgH="1714739" progId="">
                      <p:embed/>
                      <p:pic>
                        <p:nvPicPr>
                          <p:cNvPr id="21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23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9" imgW="1714739" imgH="1133633" progId="">
                      <p:embed/>
                    </p:oleObj>
                  </mc:Choice>
                  <mc:Fallback>
                    <p:oleObj name="Photo Editor Photo" r:id="rId9" imgW="1714739" imgH="1133633" progId="">
                      <p:embed/>
                      <p:pic>
                        <p:nvPicPr>
                          <p:cNvPr id="23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5" name="Group 72"/>
          <p:cNvGrpSpPr/>
          <p:nvPr/>
        </p:nvGrpSpPr>
        <p:grpSpPr>
          <a:xfrm>
            <a:off x="6862441" y="3923929"/>
            <a:ext cx="1740020" cy="2388094"/>
            <a:chOff x="7057748" y="4039340"/>
            <a:chExt cx="1953087" cy="2396971"/>
          </a:xfrm>
        </p:grpSpPr>
        <p:sp>
          <p:nvSpPr>
            <p:cNvPr id="26" name="Rectangle 25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7" name="Group 74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8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0" imgW="1714739" imgH="1714739" progId="">
                      <p:embed/>
                    </p:oleObj>
                  </mc:Choice>
                  <mc:Fallback>
                    <p:oleObj name="Photo Editor Photo" r:id="rId10" imgW="1714739" imgH="1714739" progId="">
                      <p:embed/>
                      <p:pic>
                        <p:nvPicPr>
                          <p:cNvPr id="28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0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1" imgW="1714739" imgH="1133633" progId="">
                      <p:embed/>
                    </p:oleObj>
                  </mc:Choice>
                  <mc:Fallback>
                    <p:oleObj name="Photo Editor Photo" r:id="rId11" imgW="1714739" imgH="1133633" progId="">
                      <p:embed/>
                      <p:pic>
                        <p:nvPicPr>
                          <p:cNvPr id="30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32" name="Group 64"/>
          <p:cNvGrpSpPr/>
          <p:nvPr/>
        </p:nvGrpSpPr>
        <p:grpSpPr>
          <a:xfrm>
            <a:off x="6809175" y="3986073"/>
            <a:ext cx="1740020" cy="2388094"/>
            <a:chOff x="7057748" y="4039340"/>
            <a:chExt cx="1953087" cy="2396971"/>
          </a:xfrm>
        </p:grpSpPr>
        <p:sp>
          <p:nvSpPr>
            <p:cNvPr id="33" name="Rectangle 32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34" name="Group 66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35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2" imgW="1714739" imgH="1714739" progId="">
                      <p:embed/>
                    </p:oleObj>
                  </mc:Choice>
                  <mc:Fallback>
                    <p:oleObj name="Photo Editor Photo" r:id="rId12" imgW="1714739" imgH="1714739" progId="">
                      <p:embed/>
                      <p:pic>
                        <p:nvPicPr>
                          <p:cNvPr id="35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7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3" imgW="1714739" imgH="1133633" progId="">
                      <p:embed/>
                    </p:oleObj>
                  </mc:Choice>
                  <mc:Fallback>
                    <p:oleObj name="Photo Editor Photo" r:id="rId13" imgW="1714739" imgH="1133633" progId="">
                      <p:embed/>
                      <p:pic>
                        <p:nvPicPr>
                          <p:cNvPr id="37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39" name="Cloud 38"/>
          <p:cNvSpPr/>
          <p:nvPr/>
        </p:nvSpPr>
        <p:spPr bwMode="auto">
          <a:xfrm rot="11051792">
            <a:off x="221206" y="911036"/>
            <a:ext cx="2821780" cy="2420596"/>
          </a:xfrm>
          <a:prstGeom prst="cloud">
            <a:avLst/>
          </a:prstGeom>
          <a:solidFill>
            <a:srgbClr val="E3CA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40" name="Group 35"/>
          <p:cNvGrpSpPr/>
          <p:nvPr/>
        </p:nvGrpSpPr>
        <p:grpSpPr>
          <a:xfrm>
            <a:off x="6729276" y="4057094"/>
            <a:ext cx="1740020" cy="2388094"/>
            <a:chOff x="7057748" y="4039340"/>
            <a:chExt cx="1953087" cy="2396971"/>
          </a:xfrm>
        </p:grpSpPr>
        <p:sp>
          <p:nvSpPr>
            <p:cNvPr id="41" name="Rectangle 40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42" name="Group 3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43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4" imgW="1714739" imgH="1714739" progId="">
                      <p:embed/>
                    </p:oleObj>
                  </mc:Choice>
                  <mc:Fallback>
                    <p:oleObj name="Photo Editor Photo" r:id="rId14" imgW="1714739" imgH="1714739" progId="">
                      <p:embed/>
                      <p:pic>
                        <p:nvPicPr>
                          <p:cNvPr id="43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45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5" imgW="1714739" imgH="1133633" progId="">
                      <p:embed/>
                    </p:oleObj>
                  </mc:Choice>
                  <mc:Fallback>
                    <p:oleObj name="Photo Editor Photo" r:id="rId15" imgW="1714739" imgH="1133633" progId="">
                      <p:embed/>
                      <p:pic>
                        <p:nvPicPr>
                          <p:cNvPr id="45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47" name="TextBox 46"/>
          <p:cNvSpPr txBox="1"/>
          <p:nvPr/>
        </p:nvSpPr>
        <p:spPr>
          <a:xfrm>
            <a:off x="381000" y="333375"/>
            <a:ext cx="8550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Media Distribution – IPTV - Telco Broadband, </a:t>
            </a:r>
            <a:r>
              <a:rPr lang="en-GB" sz="2400" b="1" dirty="0">
                <a:solidFill>
                  <a:schemeClr val="bg1">
                    <a:lumMod val="65000"/>
                  </a:schemeClr>
                </a:solidFill>
              </a:rPr>
              <a:t>OTT/Web</a:t>
            </a:r>
          </a:p>
        </p:txBody>
      </p:sp>
      <p:sp>
        <p:nvSpPr>
          <p:cNvPr id="48" name="Rectangle 26"/>
          <p:cNvSpPr>
            <a:spLocks noChangeArrowheads="1"/>
          </p:cNvSpPr>
          <p:nvPr/>
        </p:nvSpPr>
        <p:spPr bwMode="auto">
          <a:xfrm>
            <a:off x="1095725" y="1975335"/>
            <a:ext cx="7397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0" name="Cloud 49"/>
          <p:cNvSpPr/>
          <p:nvPr/>
        </p:nvSpPr>
        <p:spPr bwMode="auto">
          <a:xfrm rot="11051792">
            <a:off x="2241767" y="2138875"/>
            <a:ext cx="4109617" cy="2623626"/>
          </a:xfrm>
          <a:prstGeom prst="cloud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81000" y="4509857"/>
            <a:ext cx="19062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Access to 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WWW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Telephone N/W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Ingest of Media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36785" y="3248980"/>
            <a:ext cx="27972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Network Managed and Operated by Network Provider / Operator</a:t>
            </a:r>
          </a:p>
          <a:p>
            <a:pPr algn="ctr"/>
            <a:r>
              <a:rPr lang="en-GB" sz="1600" dirty="0"/>
              <a:t> - Routing, Switching, etc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03418" y="5397623"/>
            <a:ext cx="1208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Network Access Equipment</a:t>
            </a:r>
          </a:p>
        </p:txBody>
      </p:sp>
      <p:grpSp>
        <p:nvGrpSpPr>
          <p:cNvPr id="58" name="Group 34"/>
          <p:cNvGrpSpPr/>
          <p:nvPr/>
        </p:nvGrpSpPr>
        <p:grpSpPr>
          <a:xfrm>
            <a:off x="6649374" y="4136995"/>
            <a:ext cx="1748901" cy="2361460"/>
            <a:chOff x="7037918" y="4039340"/>
            <a:chExt cx="1953087" cy="2540216"/>
          </a:xfrm>
        </p:grpSpPr>
        <p:sp>
          <p:nvSpPr>
            <p:cNvPr id="59" name="Rectangle 58"/>
            <p:cNvSpPr/>
            <p:nvPr/>
          </p:nvSpPr>
          <p:spPr bwMode="auto">
            <a:xfrm>
              <a:off x="7037918" y="4039340"/>
              <a:ext cx="1953087" cy="254021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60" name="Group 32"/>
            <p:cNvGrpSpPr/>
            <p:nvPr/>
          </p:nvGrpSpPr>
          <p:grpSpPr>
            <a:xfrm>
              <a:off x="7125021" y="4448324"/>
              <a:ext cx="1746512" cy="2077782"/>
              <a:chOff x="7125021" y="4448324"/>
              <a:chExt cx="1746512" cy="2077782"/>
            </a:xfrm>
          </p:grpSpPr>
          <p:graphicFrame>
            <p:nvGraphicFramePr>
              <p:cNvPr id="61" name="Object 111"/>
              <p:cNvGraphicFramePr>
                <a:graphicFrameLocks noChangeAspect="1"/>
              </p:cNvGraphicFramePr>
              <p:nvPr/>
            </p:nvGraphicFramePr>
            <p:xfrm>
              <a:off x="7549992" y="5278331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6" imgW="1714739" imgH="1714739" progId="">
                      <p:embed/>
                    </p:oleObj>
                  </mc:Choice>
                  <mc:Fallback>
                    <p:oleObj name="Photo Editor Photo" r:id="rId16" imgW="1714739" imgH="1714739" progId="">
                      <p:embed/>
                      <p:pic>
                        <p:nvPicPr>
                          <p:cNvPr id="61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49992" y="5278331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2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062558" y="4971098"/>
                <a:ext cx="111125" cy="850899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63" name="Object 116"/>
              <p:cNvGraphicFramePr>
                <a:graphicFrameLocks noChangeAspect="1"/>
              </p:cNvGraphicFramePr>
              <p:nvPr/>
            </p:nvGraphicFramePr>
            <p:xfrm>
              <a:off x="7880934" y="4448324"/>
              <a:ext cx="990599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7" imgW="1714739" imgH="1133633" progId="">
                      <p:embed/>
                    </p:oleObj>
                  </mc:Choice>
                  <mc:Fallback>
                    <p:oleObj name="Photo Editor Photo" r:id="rId17" imgW="1714739" imgH="1133633" progId="">
                      <p:embed/>
                      <p:pic>
                        <p:nvPicPr>
                          <p:cNvPr id="63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80934" y="4448324"/>
                            <a:ext cx="990599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4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7685384" y="5132495"/>
                <a:ext cx="1018112" cy="297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FFFF00"/>
                    </a:solidFill>
                  </a:rPr>
                  <a:t>STB, etc</a:t>
                </a:r>
              </a:p>
            </p:txBody>
          </p:sp>
        </p:grpSp>
      </p:grpSp>
      <p:cxnSp>
        <p:nvCxnSpPr>
          <p:cNvPr id="66" name="Straight Arrow Connector 65"/>
          <p:cNvCxnSpPr/>
          <p:nvPr/>
        </p:nvCxnSpPr>
        <p:spPr bwMode="auto">
          <a:xfrm flipV="1">
            <a:off x="6516210" y="5388746"/>
            <a:ext cx="292962" cy="221941"/>
          </a:xfrm>
          <a:prstGeom prst="straightConnector1">
            <a:avLst/>
          </a:prstGeom>
          <a:noFill/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7" name="TextBox 66"/>
          <p:cNvSpPr txBox="1"/>
          <p:nvPr/>
        </p:nvSpPr>
        <p:spPr>
          <a:xfrm>
            <a:off x="7146523" y="3292285"/>
            <a:ext cx="1615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End Users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41830" y="2798930"/>
            <a:ext cx="27972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Network Core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81000" y="1149105"/>
            <a:ext cx="2575264" cy="1931448"/>
            <a:chOff x="381000" y="1149105"/>
            <a:chExt cx="2575264" cy="1931448"/>
          </a:xfrm>
        </p:grpSpPr>
        <p:pic>
          <p:nvPicPr>
            <p:cNvPr id="49" name="Picture 4"/>
            <p:cNvPicPr>
              <a:picLocks noChangeAspect="1" noChangeArrowheads="1"/>
            </p:cNvPicPr>
            <p:nvPr/>
          </p:nvPicPr>
          <p:blipFill>
            <a:blip r:embed="rId18" cstate="print"/>
            <a:srcRect/>
            <a:stretch>
              <a:fillRect/>
            </a:stretch>
          </p:blipFill>
          <p:spPr bwMode="auto">
            <a:xfrm>
              <a:off x="381000" y="1149105"/>
              <a:ext cx="2575264" cy="19314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" name="Text Box 29"/>
            <p:cNvSpPr txBox="1">
              <a:spLocks noChangeArrowheads="1"/>
            </p:cNvSpPr>
            <p:nvPr/>
          </p:nvSpPr>
          <p:spPr bwMode="auto">
            <a:xfrm>
              <a:off x="1642457" y="1698431"/>
              <a:ext cx="1136253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sz="1100" b="1" dirty="0">
                  <a:solidFill>
                    <a:srgbClr val="FFFF00"/>
                  </a:solidFill>
                </a:rPr>
                <a:t>VOD and </a:t>
              </a:r>
            </a:p>
            <a:p>
              <a:r>
                <a:rPr lang="en-GB" sz="1100" b="1" dirty="0">
                  <a:solidFill>
                    <a:srgbClr val="FFFF00"/>
                  </a:solidFill>
                </a:rPr>
                <a:t>Various</a:t>
              </a:r>
            </a:p>
            <a:p>
              <a:r>
                <a:rPr lang="en-GB" sz="1100" b="1" dirty="0">
                  <a:solidFill>
                    <a:srgbClr val="FFFF00"/>
                  </a:solidFill>
                </a:rPr>
                <a:t>Functions</a:t>
              </a:r>
            </a:p>
            <a:p>
              <a:r>
                <a:rPr lang="en-GB" sz="1100" b="1" dirty="0">
                  <a:solidFill>
                    <a:srgbClr val="FFFF00"/>
                  </a:solidFill>
                </a:rPr>
                <a:t>(Servers, etc)</a:t>
              </a:r>
            </a:p>
            <a:p>
              <a:endParaRPr lang="en-GB" dirty="0">
                <a:solidFill>
                  <a:srgbClr val="FFFF00"/>
                </a:solidFill>
              </a:endParaRPr>
            </a:p>
          </p:txBody>
        </p:sp>
        <p:sp>
          <p:nvSpPr>
            <p:cNvPr id="69" name="Text Box 31"/>
            <p:cNvSpPr txBox="1">
              <a:spLocks noChangeArrowheads="1"/>
            </p:cNvSpPr>
            <p:nvPr/>
          </p:nvSpPr>
          <p:spPr bwMode="auto">
            <a:xfrm>
              <a:off x="381000" y="1149341"/>
              <a:ext cx="1604927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400" b="1" dirty="0">
                  <a:solidFill>
                    <a:srgbClr val="FFFF00"/>
                  </a:solidFill>
                </a:rPr>
                <a:t>Video Head-End</a:t>
              </a:r>
              <a:endParaRPr lang="en-GB" sz="1400" dirty="0">
                <a:solidFill>
                  <a:srgbClr val="FFFF00"/>
                </a:solidFill>
              </a:endParaRPr>
            </a:p>
          </p:txBody>
        </p:sp>
      </p:grpSp>
      <p:sp>
        <p:nvSpPr>
          <p:cNvPr id="70" name="Cloud 69"/>
          <p:cNvSpPr/>
          <p:nvPr/>
        </p:nvSpPr>
        <p:spPr bwMode="auto">
          <a:xfrm rot="11051792">
            <a:off x="5701416" y="3028351"/>
            <a:ext cx="1023013" cy="637061"/>
          </a:xfrm>
          <a:prstGeom prst="cloud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1" name="Cloud 70"/>
          <p:cNvSpPr/>
          <p:nvPr/>
        </p:nvSpPr>
        <p:spPr bwMode="auto">
          <a:xfrm rot="11051792">
            <a:off x="5577129" y="3534378"/>
            <a:ext cx="1023013" cy="637061"/>
          </a:xfrm>
          <a:prstGeom prst="cloud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2" name="Cloud 71"/>
          <p:cNvSpPr/>
          <p:nvPr/>
        </p:nvSpPr>
        <p:spPr bwMode="auto">
          <a:xfrm rot="11051792">
            <a:off x="5399575" y="3907240"/>
            <a:ext cx="1023013" cy="637061"/>
          </a:xfrm>
          <a:prstGeom prst="cloud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 rot="18157754">
            <a:off x="5170608" y="3623875"/>
            <a:ext cx="1826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Access Network</a:t>
            </a:r>
          </a:p>
        </p:txBody>
      </p:sp>
      <p:cxnSp>
        <p:nvCxnSpPr>
          <p:cNvPr id="74" name="Straight Arrow Connector 73"/>
          <p:cNvCxnSpPr/>
          <p:nvPr/>
        </p:nvCxnSpPr>
        <p:spPr bwMode="auto">
          <a:xfrm>
            <a:off x="6604986" y="3462293"/>
            <a:ext cx="488272" cy="213062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75" name="Straight Arrow Connector 74"/>
          <p:cNvCxnSpPr/>
          <p:nvPr/>
        </p:nvCxnSpPr>
        <p:spPr bwMode="auto">
          <a:xfrm>
            <a:off x="6533964" y="3595459"/>
            <a:ext cx="461640" cy="168672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76" name="Straight Arrow Connector 75"/>
          <p:cNvCxnSpPr/>
          <p:nvPr/>
        </p:nvCxnSpPr>
        <p:spPr bwMode="auto">
          <a:xfrm>
            <a:off x="6454065" y="3657602"/>
            <a:ext cx="470518" cy="221940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77" name="Straight Arrow Connector 76"/>
          <p:cNvCxnSpPr/>
          <p:nvPr/>
        </p:nvCxnSpPr>
        <p:spPr bwMode="auto">
          <a:xfrm>
            <a:off x="5965793" y="4332305"/>
            <a:ext cx="852257" cy="568169"/>
          </a:xfrm>
          <a:prstGeom prst="straightConnector1">
            <a:avLst/>
          </a:prstGeom>
          <a:noFill/>
          <a:ln w="76200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78" name="Straight Arrow Connector 77"/>
          <p:cNvCxnSpPr/>
          <p:nvPr/>
        </p:nvCxnSpPr>
        <p:spPr bwMode="auto">
          <a:xfrm>
            <a:off x="6383045" y="3808520"/>
            <a:ext cx="461638" cy="292963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pic>
        <p:nvPicPr>
          <p:cNvPr id="79" name="Picture 23" descr="C:\Users\jdfoss\Desktop\Clipboard01.gif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7123193" y="4200807"/>
            <a:ext cx="407782" cy="407782"/>
          </a:xfrm>
          <a:prstGeom prst="rect">
            <a:avLst/>
          </a:prstGeom>
          <a:noFill/>
        </p:spPr>
      </p:pic>
      <p:cxnSp>
        <p:nvCxnSpPr>
          <p:cNvPr id="80" name="Straight Connector 79"/>
          <p:cNvCxnSpPr/>
          <p:nvPr/>
        </p:nvCxnSpPr>
        <p:spPr bwMode="auto">
          <a:xfrm>
            <a:off x="7052650" y="4852657"/>
            <a:ext cx="443619" cy="181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1" name="Straight Connector 80"/>
          <p:cNvCxnSpPr/>
          <p:nvPr/>
        </p:nvCxnSpPr>
        <p:spPr bwMode="auto">
          <a:xfrm>
            <a:off x="7034544" y="4943194"/>
            <a:ext cx="516046" cy="24444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7" name="Freeform 86"/>
          <p:cNvSpPr/>
          <p:nvPr/>
        </p:nvSpPr>
        <p:spPr bwMode="auto">
          <a:xfrm>
            <a:off x="2667650" y="1138467"/>
            <a:ext cx="4677228" cy="1996069"/>
          </a:xfrm>
          <a:custGeom>
            <a:avLst/>
            <a:gdLst>
              <a:gd name="connsiteX0" fmla="*/ 535258 w 4293219"/>
              <a:gd name="connsiteY0" fmla="*/ 0 h 1996069"/>
              <a:gd name="connsiteX1" fmla="*/ 1616927 w 4293219"/>
              <a:gd name="connsiteY1" fmla="*/ 44605 h 1996069"/>
              <a:gd name="connsiteX2" fmla="*/ 2352907 w 4293219"/>
              <a:gd name="connsiteY2" fmla="*/ 211874 h 1996069"/>
              <a:gd name="connsiteX3" fmla="*/ 2966224 w 4293219"/>
              <a:gd name="connsiteY3" fmla="*/ 490654 h 1996069"/>
              <a:gd name="connsiteX4" fmla="*/ 3490332 w 4293219"/>
              <a:gd name="connsiteY4" fmla="*/ 825191 h 1996069"/>
              <a:gd name="connsiteX5" fmla="*/ 3958683 w 4293219"/>
              <a:gd name="connsiteY5" fmla="*/ 1315844 h 1996069"/>
              <a:gd name="connsiteX6" fmla="*/ 4125951 w 4293219"/>
              <a:gd name="connsiteY6" fmla="*/ 1126274 h 1996069"/>
              <a:gd name="connsiteX7" fmla="*/ 4293219 w 4293219"/>
              <a:gd name="connsiteY7" fmla="*/ 1996069 h 1996069"/>
              <a:gd name="connsiteX8" fmla="*/ 3412273 w 4293219"/>
              <a:gd name="connsiteY8" fmla="*/ 1739591 h 1996069"/>
              <a:gd name="connsiteX9" fmla="*/ 3624146 w 4293219"/>
              <a:gd name="connsiteY9" fmla="*/ 1628079 h 1996069"/>
              <a:gd name="connsiteX10" fmla="*/ 3245005 w 4293219"/>
              <a:gd name="connsiteY10" fmla="*/ 1126274 h 1996069"/>
              <a:gd name="connsiteX11" fmla="*/ 2653990 w 4293219"/>
              <a:gd name="connsiteY11" fmla="*/ 847493 h 1996069"/>
              <a:gd name="connsiteX12" fmla="*/ 1906858 w 4293219"/>
              <a:gd name="connsiteY12" fmla="*/ 613318 h 1996069"/>
              <a:gd name="connsiteX13" fmla="*/ 1527717 w 4293219"/>
              <a:gd name="connsiteY13" fmla="*/ 635620 h 1996069"/>
              <a:gd name="connsiteX14" fmla="*/ 925551 w 4293219"/>
              <a:gd name="connsiteY14" fmla="*/ 724830 h 1996069"/>
              <a:gd name="connsiteX15" fmla="*/ 546410 w 4293219"/>
              <a:gd name="connsiteY15" fmla="*/ 892098 h 1996069"/>
              <a:gd name="connsiteX16" fmla="*/ 211873 w 4293219"/>
              <a:gd name="connsiteY16" fmla="*/ 1048215 h 1996069"/>
              <a:gd name="connsiteX17" fmla="*/ 55756 w 4293219"/>
              <a:gd name="connsiteY17" fmla="*/ 323386 h 1996069"/>
              <a:gd name="connsiteX18" fmla="*/ 0 w 4293219"/>
              <a:gd name="connsiteY18" fmla="*/ 55757 h 1996069"/>
              <a:gd name="connsiteX19" fmla="*/ 535258 w 4293219"/>
              <a:gd name="connsiteY19" fmla="*/ 0 h 1996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293219" h="1996069">
                <a:moveTo>
                  <a:pt x="535258" y="0"/>
                </a:moveTo>
                <a:lnTo>
                  <a:pt x="1616927" y="44605"/>
                </a:lnTo>
                <a:lnTo>
                  <a:pt x="2352907" y="211874"/>
                </a:lnTo>
                <a:lnTo>
                  <a:pt x="2966224" y="490654"/>
                </a:lnTo>
                <a:lnTo>
                  <a:pt x="3490332" y="825191"/>
                </a:lnTo>
                <a:lnTo>
                  <a:pt x="3958683" y="1315844"/>
                </a:lnTo>
                <a:lnTo>
                  <a:pt x="4125951" y="1126274"/>
                </a:lnTo>
                <a:lnTo>
                  <a:pt x="4293219" y="1996069"/>
                </a:lnTo>
                <a:lnTo>
                  <a:pt x="3412273" y="1739591"/>
                </a:lnTo>
                <a:lnTo>
                  <a:pt x="3624146" y="1628079"/>
                </a:lnTo>
                <a:lnTo>
                  <a:pt x="3245005" y="1126274"/>
                </a:lnTo>
                <a:lnTo>
                  <a:pt x="2653990" y="847493"/>
                </a:lnTo>
                <a:lnTo>
                  <a:pt x="1906858" y="613318"/>
                </a:lnTo>
                <a:lnTo>
                  <a:pt x="1527717" y="635620"/>
                </a:lnTo>
                <a:lnTo>
                  <a:pt x="925551" y="724830"/>
                </a:lnTo>
                <a:lnTo>
                  <a:pt x="546410" y="892098"/>
                </a:lnTo>
                <a:lnTo>
                  <a:pt x="211873" y="1048215"/>
                </a:lnTo>
                <a:lnTo>
                  <a:pt x="55756" y="323386"/>
                </a:lnTo>
                <a:lnTo>
                  <a:pt x="0" y="55757"/>
                </a:lnTo>
                <a:lnTo>
                  <a:pt x="535258" y="0"/>
                </a:lnTo>
                <a:close/>
              </a:path>
            </a:pathLst>
          </a:custGeom>
          <a:solidFill>
            <a:srgbClr val="663300">
              <a:alpha val="67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2" name="Cloud 51"/>
          <p:cNvSpPr/>
          <p:nvPr/>
        </p:nvSpPr>
        <p:spPr bwMode="auto">
          <a:xfrm rot="11051792">
            <a:off x="927918" y="3364846"/>
            <a:ext cx="1644625" cy="935170"/>
          </a:xfrm>
          <a:prstGeom prst="cloud">
            <a:avLst/>
          </a:prstGeom>
          <a:solidFill>
            <a:srgbClr val="E3CA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4" name="Up-Down Arrow 53"/>
          <p:cNvSpPr/>
          <p:nvPr/>
        </p:nvSpPr>
        <p:spPr bwMode="auto">
          <a:xfrm>
            <a:off x="1455937" y="2911876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5" name="Up-Down Arrow 54"/>
          <p:cNvSpPr/>
          <p:nvPr/>
        </p:nvSpPr>
        <p:spPr bwMode="auto">
          <a:xfrm>
            <a:off x="1553592" y="4163627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 rot="585289">
            <a:off x="4050623" y="1439102"/>
            <a:ext cx="18598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FF00"/>
                </a:solidFill>
              </a:rPr>
              <a:t>Telco Broadband</a:t>
            </a:r>
            <a:endParaRPr lang="en-GB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367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82"/>
          <p:cNvGrpSpPr/>
          <p:nvPr/>
        </p:nvGrpSpPr>
        <p:grpSpPr>
          <a:xfrm>
            <a:off x="7066628" y="3710865"/>
            <a:ext cx="1740020" cy="2388094"/>
            <a:chOff x="7057748" y="4039340"/>
            <a:chExt cx="1953087" cy="2396971"/>
          </a:xfrm>
        </p:grpSpPr>
        <p:sp>
          <p:nvSpPr>
            <p:cNvPr id="5" name="Rectangle 4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6" name="Group 85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7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2" imgW="1714739" imgH="1714739" progId="">
                      <p:embed/>
                    </p:oleObj>
                  </mc:Choice>
                  <mc:Fallback>
                    <p:oleObj name="Photo Editor Photo" r:id="rId2" imgW="1714739" imgH="1714739" progId="">
                      <p:embed/>
                      <p:pic>
                        <p:nvPicPr>
                          <p:cNvPr id="7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9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4" imgW="1714739" imgH="1133633" progId="">
                      <p:embed/>
                    </p:oleObj>
                  </mc:Choice>
                  <mc:Fallback>
                    <p:oleObj name="Photo Editor Photo" r:id="rId4" imgW="1714739" imgH="1133633" progId="">
                      <p:embed/>
                      <p:pic>
                        <p:nvPicPr>
                          <p:cNvPr id="9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1" name="Group 98"/>
          <p:cNvGrpSpPr/>
          <p:nvPr/>
        </p:nvGrpSpPr>
        <p:grpSpPr>
          <a:xfrm>
            <a:off x="7013362" y="3773009"/>
            <a:ext cx="1740020" cy="2388094"/>
            <a:chOff x="7057748" y="4039340"/>
            <a:chExt cx="1953087" cy="2396971"/>
          </a:xfrm>
        </p:grpSpPr>
        <p:sp>
          <p:nvSpPr>
            <p:cNvPr id="12" name="Rectangle 11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3" name="Group 100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14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6" imgW="1714739" imgH="1714739" progId="">
                      <p:embed/>
                    </p:oleObj>
                  </mc:Choice>
                  <mc:Fallback>
                    <p:oleObj name="Photo Editor Photo" r:id="rId6" imgW="1714739" imgH="1714739" progId="">
                      <p:embed/>
                      <p:pic>
                        <p:nvPicPr>
                          <p:cNvPr id="14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6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7" imgW="1714739" imgH="1133633" progId="">
                      <p:embed/>
                    </p:oleObj>
                  </mc:Choice>
                  <mc:Fallback>
                    <p:oleObj name="Photo Editor Photo" r:id="rId7" imgW="1714739" imgH="1133633" progId="">
                      <p:embed/>
                      <p:pic>
                        <p:nvPicPr>
                          <p:cNvPr id="16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8" name="Group 105"/>
          <p:cNvGrpSpPr/>
          <p:nvPr/>
        </p:nvGrpSpPr>
        <p:grpSpPr>
          <a:xfrm>
            <a:off x="6933463" y="3844030"/>
            <a:ext cx="1740020" cy="2388094"/>
            <a:chOff x="7057748" y="4039340"/>
            <a:chExt cx="1953087" cy="2396971"/>
          </a:xfrm>
        </p:grpSpPr>
        <p:sp>
          <p:nvSpPr>
            <p:cNvPr id="19" name="Rectangle 18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0" name="Group 10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1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8" imgW="1714739" imgH="1714739" progId="">
                      <p:embed/>
                    </p:oleObj>
                  </mc:Choice>
                  <mc:Fallback>
                    <p:oleObj name="Photo Editor Photo" r:id="rId8" imgW="1714739" imgH="1714739" progId="">
                      <p:embed/>
                      <p:pic>
                        <p:nvPicPr>
                          <p:cNvPr id="21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23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9" imgW="1714739" imgH="1133633" progId="">
                      <p:embed/>
                    </p:oleObj>
                  </mc:Choice>
                  <mc:Fallback>
                    <p:oleObj name="Photo Editor Photo" r:id="rId9" imgW="1714739" imgH="1133633" progId="">
                      <p:embed/>
                      <p:pic>
                        <p:nvPicPr>
                          <p:cNvPr id="23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5" name="Group 72"/>
          <p:cNvGrpSpPr/>
          <p:nvPr/>
        </p:nvGrpSpPr>
        <p:grpSpPr>
          <a:xfrm>
            <a:off x="6862441" y="3923929"/>
            <a:ext cx="1740020" cy="2388094"/>
            <a:chOff x="7057748" y="4039340"/>
            <a:chExt cx="1953087" cy="2396971"/>
          </a:xfrm>
        </p:grpSpPr>
        <p:sp>
          <p:nvSpPr>
            <p:cNvPr id="26" name="Rectangle 25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7" name="Group 74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8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0" imgW="1714739" imgH="1714739" progId="">
                      <p:embed/>
                    </p:oleObj>
                  </mc:Choice>
                  <mc:Fallback>
                    <p:oleObj name="Photo Editor Photo" r:id="rId10" imgW="1714739" imgH="1714739" progId="">
                      <p:embed/>
                      <p:pic>
                        <p:nvPicPr>
                          <p:cNvPr id="28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0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1" imgW="1714739" imgH="1133633" progId="">
                      <p:embed/>
                    </p:oleObj>
                  </mc:Choice>
                  <mc:Fallback>
                    <p:oleObj name="Photo Editor Photo" r:id="rId11" imgW="1714739" imgH="1133633" progId="">
                      <p:embed/>
                      <p:pic>
                        <p:nvPicPr>
                          <p:cNvPr id="30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32" name="Group 64"/>
          <p:cNvGrpSpPr/>
          <p:nvPr/>
        </p:nvGrpSpPr>
        <p:grpSpPr>
          <a:xfrm>
            <a:off x="6809175" y="3986073"/>
            <a:ext cx="1740020" cy="2388094"/>
            <a:chOff x="7057748" y="4039340"/>
            <a:chExt cx="1953087" cy="2396971"/>
          </a:xfrm>
        </p:grpSpPr>
        <p:sp>
          <p:nvSpPr>
            <p:cNvPr id="33" name="Rectangle 32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34" name="Group 66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35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2" imgW="1714739" imgH="1714739" progId="">
                      <p:embed/>
                    </p:oleObj>
                  </mc:Choice>
                  <mc:Fallback>
                    <p:oleObj name="Photo Editor Photo" r:id="rId12" imgW="1714739" imgH="1714739" progId="">
                      <p:embed/>
                      <p:pic>
                        <p:nvPicPr>
                          <p:cNvPr id="35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7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3" imgW="1714739" imgH="1133633" progId="">
                      <p:embed/>
                    </p:oleObj>
                  </mc:Choice>
                  <mc:Fallback>
                    <p:oleObj name="Photo Editor Photo" r:id="rId13" imgW="1714739" imgH="1133633" progId="">
                      <p:embed/>
                      <p:pic>
                        <p:nvPicPr>
                          <p:cNvPr id="37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39" name="Cloud 38"/>
          <p:cNvSpPr/>
          <p:nvPr/>
        </p:nvSpPr>
        <p:spPr bwMode="auto">
          <a:xfrm rot="11051792">
            <a:off x="221206" y="911036"/>
            <a:ext cx="2821780" cy="2420596"/>
          </a:xfrm>
          <a:prstGeom prst="cloud">
            <a:avLst/>
          </a:prstGeom>
          <a:solidFill>
            <a:srgbClr val="E3CA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40" name="Group 35"/>
          <p:cNvGrpSpPr/>
          <p:nvPr/>
        </p:nvGrpSpPr>
        <p:grpSpPr>
          <a:xfrm>
            <a:off x="6729276" y="4057094"/>
            <a:ext cx="1740020" cy="2388094"/>
            <a:chOff x="7057748" y="4039340"/>
            <a:chExt cx="1953087" cy="2396971"/>
          </a:xfrm>
        </p:grpSpPr>
        <p:sp>
          <p:nvSpPr>
            <p:cNvPr id="41" name="Rectangle 40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42" name="Group 3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43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4" imgW="1714739" imgH="1714739" progId="">
                      <p:embed/>
                    </p:oleObj>
                  </mc:Choice>
                  <mc:Fallback>
                    <p:oleObj name="Photo Editor Photo" r:id="rId14" imgW="1714739" imgH="1714739" progId="">
                      <p:embed/>
                      <p:pic>
                        <p:nvPicPr>
                          <p:cNvPr id="43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45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5" imgW="1714739" imgH="1133633" progId="">
                      <p:embed/>
                    </p:oleObj>
                  </mc:Choice>
                  <mc:Fallback>
                    <p:oleObj name="Photo Editor Photo" r:id="rId15" imgW="1714739" imgH="1133633" progId="">
                      <p:embed/>
                      <p:pic>
                        <p:nvPicPr>
                          <p:cNvPr id="45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47" name="TextBox 46"/>
          <p:cNvSpPr txBox="1"/>
          <p:nvPr/>
        </p:nvSpPr>
        <p:spPr>
          <a:xfrm>
            <a:off x="381000" y="333375"/>
            <a:ext cx="8550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Media Distribution – IPTV - Telco Broadband, OTT/Web</a:t>
            </a:r>
          </a:p>
        </p:txBody>
      </p:sp>
      <p:sp>
        <p:nvSpPr>
          <p:cNvPr id="48" name="Rectangle 26"/>
          <p:cNvSpPr>
            <a:spLocks noChangeArrowheads="1"/>
          </p:cNvSpPr>
          <p:nvPr/>
        </p:nvSpPr>
        <p:spPr bwMode="auto">
          <a:xfrm>
            <a:off x="1095725" y="1975335"/>
            <a:ext cx="7397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9" name="Picture 4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81000" y="1149105"/>
            <a:ext cx="2575264" cy="1931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" name="Cloud 49"/>
          <p:cNvSpPr/>
          <p:nvPr/>
        </p:nvSpPr>
        <p:spPr bwMode="auto">
          <a:xfrm rot="11051792">
            <a:off x="2241767" y="2138875"/>
            <a:ext cx="4109617" cy="2623626"/>
          </a:xfrm>
          <a:prstGeom prst="cloud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1" name="Text Box 29"/>
          <p:cNvSpPr txBox="1">
            <a:spLocks noChangeArrowheads="1"/>
          </p:cNvSpPr>
          <p:nvPr/>
        </p:nvSpPr>
        <p:spPr bwMode="auto">
          <a:xfrm>
            <a:off x="1642457" y="1698431"/>
            <a:ext cx="113625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100" b="1" dirty="0">
                <a:solidFill>
                  <a:srgbClr val="FFFF00"/>
                </a:solidFill>
              </a:rPr>
              <a:t>VOD and 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Various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Functions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(Servers, etc)</a:t>
            </a:r>
          </a:p>
          <a:p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19666" y="4555690"/>
            <a:ext cx="19062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Access to 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WWW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Telephone N/W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Ingest of Media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36785" y="3248980"/>
            <a:ext cx="27972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Network Managed and Operated by Network Provider / Operator</a:t>
            </a:r>
          </a:p>
          <a:p>
            <a:pPr algn="ctr"/>
            <a:r>
              <a:rPr lang="en-GB" sz="1600" dirty="0"/>
              <a:t> - Routing, Switching, etc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03418" y="5397623"/>
            <a:ext cx="1208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Network Access Equipment</a:t>
            </a:r>
          </a:p>
        </p:txBody>
      </p:sp>
      <p:grpSp>
        <p:nvGrpSpPr>
          <p:cNvPr id="55" name="Group 34"/>
          <p:cNvGrpSpPr/>
          <p:nvPr/>
        </p:nvGrpSpPr>
        <p:grpSpPr>
          <a:xfrm>
            <a:off x="6649374" y="4136995"/>
            <a:ext cx="1748901" cy="2361460"/>
            <a:chOff x="7037918" y="4039340"/>
            <a:chExt cx="1953087" cy="2540216"/>
          </a:xfrm>
        </p:grpSpPr>
        <p:sp>
          <p:nvSpPr>
            <p:cNvPr id="56" name="Rectangle 55"/>
            <p:cNvSpPr/>
            <p:nvPr/>
          </p:nvSpPr>
          <p:spPr bwMode="auto">
            <a:xfrm>
              <a:off x="7037918" y="4039340"/>
              <a:ext cx="1953087" cy="254021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57" name="Group 32"/>
            <p:cNvGrpSpPr/>
            <p:nvPr/>
          </p:nvGrpSpPr>
          <p:grpSpPr>
            <a:xfrm>
              <a:off x="7125021" y="4448324"/>
              <a:ext cx="1746512" cy="2077782"/>
              <a:chOff x="7125021" y="4448324"/>
              <a:chExt cx="1746512" cy="2077782"/>
            </a:xfrm>
          </p:grpSpPr>
          <p:graphicFrame>
            <p:nvGraphicFramePr>
              <p:cNvPr id="58" name="Object 111"/>
              <p:cNvGraphicFramePr>
                <a:graphicFrameLocks noChangeAspect="1"/>
              </p:cNvGraphicFramePr>
              <p:nvPr/>
            </p:nvGraphicFramePr>
            <p:xfrm>
              <a:off x="7549992" y="5278331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7" imgW="1714739" imgH="1714739" progId="">
                      <p:embed/>
                    </p:oleObj>
                  </mc:Choice>
                  <mc:Fallback>
                    <p:oleObj name="Photo Editor Photo" r:id="rId17" imgW="1714739" imgH="1714739" progId="">
                      <p:embed/>
                      <p:pic>
                        <p:nvPicPr>
                          <p:cNvPr id="58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49992" y="5278331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9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062558" y="4971098"/>
                <a:ext cx="111125" cy="850899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60" name="Object 116"/>
              <p:cNvGraphicFramePr>
                <a:graphicFrameLocks noChangeAspect="1"/>
              </p:cNvGraphicFramePr>
              <p:nvPr/>
            </p:nvGraphicFramePr>
            <p:xfrm>
              <a:off x="7880934" y="4448324"/>
              <a:ext cx="990599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8" imgW="1714739" imgH="1133633" progId="">
                      <p:embed/>
                    </p:oleObj>
                  </mc:Choice>
                  <mc:Fallback>
                    <p:oleObj name="Photo Editor Photo" r:id="rId18" imgW="1714739" imgH="1133633" progId="">
                      <p:embed/>
                      <p:pic>
                        <p:nvPicPr>
                          <p:cNvPr id="60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80934" y="4448324"/>
                            <a:ext cx="990599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7685384" y="5132495"/>
                <a:ext cx="1018112" cy="297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FFFF00"/>
                    </a:solidFill>
                  </a:rPr>
                  <a:t>STB, etc</a:t>
                </a:r>
              </a:p>
            </p:txBody>
          </p:sp>
        </p:grpSp>
      </p:grpSp>
      <p:cxnSp>
        <p:nvCxnSpPr>
          <p:cNvPr id="63" name="Straight Arrow Connector 62"/>
          <p:cNvCxnSpPr/>
          <p:nvPr/>
        </p:nvCxnSpPr>
        <p:spPr bwMode="auto">
          <a:xfrm flipV="1">
            <a:off x="6516210" y="5388746"/>
            <a:ext cx="292962" cy="221941"/>
          </a:xfrm>
          <a:prstGeom prst="straightConnector1">
            <a:avLst/>
          </a:prstGeom>
          <a:noFill/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4" name="TextBox 63"/>
          <p:cNvSpPr txBox="1"/>
          <p:nvPr/>
        </p:nvSpPr>
        <p:spPr>
          <a:xfrm>
            <a:off x="7146523" y="3292285"/>
            <a:ext cx="1615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End Users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41830" y="2798930"/>
            <a:ext cx="27972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Network Core</a:t>
            </a:r>
          </a:p>
        </p:txBody>
      </p:sp>
      <p:sp>
        <p:nvSpPr>
          <p:cNvPr id="66" name="Text Box 31"/>
          <p:cNvSpPr txBox="1">
            <a:spLocks noChangeArrowheads="1"/>
          </p:cNvSpPr>
          <p:nvPr/>
        </p:nvSpPr>
        <p:spPr bwMode="auto">
          <a:xfrm>
            <a:off x="381000" y="1149341"/>
            <a:ext cx="1604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</a:rPr>
              <a:t>Video Head-End</a:t>
            </a:r>
            <a:endParaRPr lang="en-GB" sz="1400" dirty="0">
              <a:solidFill>
                <a:srgbClr val="FFFF00"/>
              </a:solidFill>
            </a:endParaRPr>
          </a:p>
        </p:txBody>
      </p:sp>
      <p:sp>
        <p:nvSpPr>
          <p:cNvPr id="67" name="Cloud 66"/>
          <p:cNvSpPr/>
          <p:nvPr/>
        </p:nvSpPr>
        <p:spPr bwMode="auto">
          <a:xfrm rot="11051792">
            <a:off x="5701416" y="3028351"/>
            <a:ext cx="1023013" cy="637061"/>
          </a:xfrm>
          <a:prstGeom prst="cloud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8" name="Cloud 67"/>
          <p:cNvSpPr/>
          <p:nvPr/>
        </p:nvSpPr>
        <p:spPr bwMode="auto">
          <a:xfrm rot="11051792">
            <a:off x="5577129" y="3534378"/>
            <a:ext cx="1023013" cy="637061"/>
          </a:xfrm>
          <a:prstGeom prst="cloud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9" name="Cloud 68"/>
          <p:cNvSpPr/>
          <p:nvPr/>
        </p:nvSpPr>
        <p:spPr bwMode="auto">
          <a:xfrm rot="11051792">
            <a:off x="5399575" y="3907240"/>
            <a:ext cx="1023013" cy="637061"/>
          </a:xfrm>
          <a:prstGeom prst="cloud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 rot="18157754">
            <a:off x="5170608" y="3623875"/>
            <a:ext cx="1826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Access Network</a:t>
            </a:r>
          </a:p>
        </p:txBody>
      </p:sp>
      <p:cxnSp>
        <p:nvCxnSpPr>
          <p:cNvPr id="71" name="Straight Arrow Connector 70"/>
          <p:cNvCxnSpPr/>
          <p:nvPr/>
        </p:nvCxnSpPr>
        <p:spPr bwMode="auto">
          <a:xfrm>
            <a:off x="6604986" y="3462293"/>
            <a:ext cx="488272" cy="213062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72" name="Straight Arrow Connector 71"/>
          <p:cNvCxnSpPr/>
          <p:nvPr/>
        </p:nvCxnSpPr>
        <p:spPr bwMode="auto">
          <a:xfrm>
            <a:off x="6533964" y="3595459"/>
            <a:ext cx="461640" cy="168672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73" name="Straight Arrow Connector 72"/>
          <p:cNvCxnSpPr/>
          <p:nvPr/>
        </p:nvCxnSpPr>
        <p:spPr bwMode="auto">
          <a:xfrm>
            <a:off x="6454065" y="3657602"/>
            <a:ext cx="470518" cy="221940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74" name="Straight Arrow Connector 73"/>
          <p:cNvCxnSpPr/>
          <p:nvPr/>
        </p:nvCxnSpPr>
        <p:spPr bwMode="auto">
          <a:xfrm>
            <a:off x="5965793" y="4332305"/>
            <a:ext cx="852257" cy="568169"/>
          </a:xfrm>
          <a:prstGeom prst="straightConnector1">
            <a:avLst/>
          </a:prstGeom>
          <a:noFill/>
          <a:ln w="76200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75" name="Straight Arrow Connector 74"/>
          <p:cNvCxnSpPr/>
          <p:nvPr/>
        </p:nvCxnSpPr>
        <p:spPr bwMode="auto">
          <a:xfrm>
            <a:off x="6383045" y="3808520"/>
            <a:ext cx="461638" cy="292963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pic>
        <p:nvPicPr>
          <p:cNvPr id="76" name="Picture 23" descr="C:\Users\jdfoss\Desktop\Clipboard01.gif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7123193" y="4200807"/>
            <a:ext cx="407782" cy="407782"/>
          </a:xfrm>
          <a:prstGeom prst="rect">
            <a:avLst/>
          </a:prstGeom>
          <a:noFill/>
        </p:spPr>
      </p:pic>
      <p:cxnSp>
        <p:nvCxnSpPr>
          <p:cNvPr id="77" name="Straight Connector 76"/>
          <p:cNvCxnSpPr/>
          <p:nvPr/>
        </p:nvCxnSpPr>
        <p:spPr bwMode="auto">
          <a:xfrm>
            <a:off x="7052650" y="4852657"/>
            <a:ext cx="443619" cy="181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Straight Connector 77"/>
          <p:cNvCxnSpPr/>
          <p:nvPr/>
        </p:nvCxnSpPr>
        <p:spPr bwMode="auto">
          <a:xfrm>
            <a:off x="7034544" y="4943194"/>
            <a:ext cx="516046" cy="24444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9" name="Freeform 78"/>
          <p:cNvSpPr/>
          <p:nvPr/>
        </p:nvSpPr>
        <p:spPr bwMode="auto">
          <a:xfrm>
            <a:off x="2667650" y="1138467"/>
            <a:ext cx="4677228" cy="1996069"/>
          </a:xfrm>
          <a:custGeom>
            <a:avLst/>
            <a:gdLst>
              <a:gd name="connsiteX0" fmla="*/ 535258 w 4293219"/>
              <a:gd name="connsiteY0" fmla="*/ 0 h 1996069"/>
              <a:gd name="connsiteX1" fmla="*/ 1616927 w 4293219"/>
              <a:gd name="connsiteY1" fmla="*/ 44605 h 1996069"/>
              <a:gd name="connsiteX2" fmla="*/ 2352907 w 4293219"/>
              <a:gd name="connsiteY2" fmla="*/ 211874 h 1996069"/>
              <a:gd name="connsiteX3" fmla="*/ 2966224 w 4293219"/>
              <a:gd name="connsiteY3" fmla="*/ 490654 h 1996069"/>
              <a:gd name="connsiteX4" fmla="*/ 3490332 w 4293219"/>
              <a:gd name="connsiteY4" fmla="*/ 825191 h 1996069"/>
              <a:gd name="connsiteX5" fmla="*/ 3958683 w 4293219"/>
              <a:gd name="connsiteY5" fmla="*/ 1315844 h 1996069"/>
              <a:gd name="connsiteX6" fmla="*/ 4125951 w 4293219"/>
              <a:gd name="connsiteY6" fmla="*/ 1126274 h 1996069"/>
              <a:gd name="connsiteX7" fmla="*/ 4293219 w 4293219"/>
              <a:gd name="connsiteY7" fmla="*/ 1996069 h 1996069"/>
              <a:gd name="connsiteX8" fmla="*/ 3412273 w 4293219"/>
              <a:gd name="connsiteY8" fmla="*/ 1739591 h 1996069"/>
              <a:gd name="connsiteX9" fmla="*/ 3624146 w 4293219"/>
              <a:gd name="connsiteY9" fmla="*/ 1628079 h 1996069"/>
              <a:gd name="connsiteX10" fmla="*/ 3245005 w 4293219"/>
              <a:gd name="connsiteY10" fmla="*/ 1126274 h 1996069"/>
              <a:gd name="connsiteX11" fmla="*/ 2653990 w 4293219"/>
              <a:gd name="connsiteY11" fmla="*/ 847493 h 1996069"/>
              <a:gd name="connsiteX12" fmla="*/ 1906858 w 4293219"/>
              <a:gd name="connsiteY12" fmla="*/ 613318 h 1996069"/>
              <a:gd name="connsiteX13" fmla="*/ 1527717 w 4293219"/>
              <a:gd name="connsiteY13" fmla="*/ 635620 h 1996069"/>
              <a:gd name="connsiteX14" fmla="*/ 925551 w 4293219"/>
              <a:gd name="connsiteY14" fmla="*/ 724830 h 1996069"/>
              <a:gd name="connsiteX15" fmla="*/ 546410 w 4293219"/>
              <a:gd name="connsiteY15" fmla="*/ 892098 h 1996069"/>
              <a:gd name="connsiteX16" fmla="*/ 211873 w 4293219"/>
              <a:gd name="connsiteY16" fmla="*/ 1048215 h 1996069"/>
              <a:gd name="connsiteX17" fmla="*/ 55756 w 4293219"/>
              <a:gd name="connsiteY17" fmla="*/ 323386 h 1996069"/>
              <a:gd name="connsiteX18" fmla="*/ 0 w 4293219"/>
              <a:gd name="connsiteY18" fmla="*/ 55757 h 1996069"/>
              <a:gd name="connsiteX19" fmla="*/ 535258 w 4293219"/>
              <a:gd name="connsiteY19" fmla="*/ 0 h 1996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293219" h="1996069">
                <a:moveTo>
                  <a:pt x="535258" y="0"/>
                </a:moveTo>
                <a:lnTo>
                  <a:pt x="1616927" y="44605"/>
                </a:lnTo>
                <a:lnTo>
                  <a:pt x="2352907" y="211874"/>
                </a:lnTo>
                <a:lnTo>
                  <a:pt x="2966224" y="490654"/>
                </a:lnTo>
                <a:lnTo>
                  <a:pt x="3490332" y="825191"/>
                </a:lnTo>
                <a:lnTo>
                  <a:pt x="3958683" y="1315844"/>
                </a:lnTo>
                <a:lnTo>
                  <a:pt x="4125951" y="1126274"/>
                </a:lnTo>
                <a:lnTo>
                  <a:pt x="4293219" y="1996069"/>
                </a:lnTo>
                <a:lnTo>
                  <a:pt x="3412273" y="1739591"/>
                </a:lnTo>
                <a:lnTo>
                  <a:pt x="3624146" y="1628079"/>
                </a:lnTo>
                <a:lnTo>
                  <a:pt x="3245005" y="1126274"/>
                </a:lnTo>
                <a:lnTo>
                  <a:pt x="2653990" y="847493"/>
                </a:lnTo>
                <a:lnTo>
                  <a:pt x="1906858" y="613318"/>
                </a:lnTo>
                <a:lnTo>
                  <a:pt x="1527717" y="635620"/>
                </a:lnTo>
                <a:lnTo>
                  <a:pt x="925551" y="724830"/>
                </a:lnTo>
                <a:lnTo>
                  <a:pt x="546410" y="892098"/>
                </a:lnTo>
                <a:lnTo>
                  <a:pt x="211873" y="1048215"/>
                </a:lnTo>
                <a:lnTo>
                  <a:pt x="55756" y="323386"/>
                </a:lnTo>
                <a:lnTo>
                  <a:pt x="0" y="55757"/>
                </a:lnTo>
                <a:lnTo>
                  <a:pt x="535258" y="0"/>
                </a:lnTo>
                <a:close/>
              </a:path>
            </a:pathLst>
          </a:custGeom>
          <a:solidFill>
            <a:srgbClr val="FF6600">
              <a:alpha val="66667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0" name="Freeform 79"/>
          <p:cNvSpPr/>
          <p:nvPr/>
        </p:nvSpPr>
        <p:spPr bwMode="auto">
          <a:xfrm>
            <a:off x="1887166" y="2129306"/>
            <a:ext cx="4714183" cy="2293106"/>
          </a:xfrm>
          <a:custGeom>
            <a:avLst/>
            <a:gdLst>
              <a:gd name="connsiteX0" fmla="*/ 0 w 4750419"/>
              <a:gd name="connsiteY0" fmla="*/ 1315844 h 2319454"/>
              <a:gd name="connsiteX1" fmla="*/ 301083 w 4750419"/>
              <a:gd name="connsiteY1" fmla="*/ 635620 h 2319454"/>
              <a:gd name="connsiteX2" fmla="*/ 646770 w 4750419"/>
              <a:gd name="connsiteY2" fmla="*/ 446049 h 2319454"/>
              <a:gd name="connsiteX3" fmla="*/ 1148575 w 4750419"/>
              <a:gd name="connsiteY3" fmla="*/ 211873 h 2319454"/>
              <a:gd name="connsiteX4" fmla="*/ 1605775 w 4750419"/>
              <a:gd name="connsiteY4" fmla="*/ 89210 h 2319454"/>
              <a:gd name="connsiteX5" fmla="*/ 2207941 w 4750419"/>
              <a:gd name="connsiteY5" fmla="*/ 0 h 2319454"/>
              <a:gd name="connsiteX6" fmla="*/ 2687444 w 4750419"/>
              <a:gd name="connsiteY6" fmla="*/ 55756 h 2319454"/>
              <a:gd name="connsiteX7" fmla="*/ 3233853 w 4750419"/>
              <a:gd name="connsiteY7" fmla="*/ 289932 h 2319454"/>
              <a:gd name="connsiteX8" fmla="*/ 3635297 w 4750419"/>
              <a:gd name="connsiteY8" fmla="*/ 535259 h 2319454"/>
              <a:gd name="connsiteX9" fmla="*/ 3958683 w 4750419"/>
              <a:gd name="connsiteY9" fmla="*/ 925551 h 2319454"/>
              <a:gd name="connsiteX10" fmla="*/ 4248614 w 4750419"/>
              <a:gd name="connsiteY10" fmla="*/ 1483112 h 2319454"/>
              <a:gd name="connsiteX11" fmla="*/ 4371278 w 4750419"/>
              <a:gd name="connsiteY11" fmla="*/ 1717288 h 2319454"/>
              <a:gd name="connsiteX12" fmla="*/ 4471639 w 4750419"/>
              <a:gd name="connsiteY12" fmla="*/ 1460810 h 2319454"/>
              <a:gd name="connsiteX13" fmla="*/ 4750419 w 4750419"/>
              <a:gd name="connsiteY13" fmla="*/ 2319454 h 2319454"/>
              <a:gd name="connsiteX14" fmla="*/ 3958683 w 4750419"/>
              <a:gd name="connsiteY14" fmla="*/ 2141034 h 2319454"/>
              <a:gd name="connsiteX15" fmla="*/ 4270917 w 4750419"/>
              <a:gd name="connsiteY15" fmla="*/ 2007220 h 2319454"/>
              <a:gd name="connsiteX16" fmla="*/ 4159405 w 4750419"/>
              <a:gd name="connsiteY16" fmla="*/ 1683834 h 2319454"/>
              <a:gd name="connsiteX17" fmla="*/ 3824868 w 4750419"/>
              <a:gd name="connsiteY17" fmla="*/ 1182029 h 2319454"/>
              <a:gd name="connsiteX18" fmla="*/ 3479180 w 4750419"/>
              <a:gd name="connsiteY18" fmla="*/ 825190 h 2319454"/>
              <a:gd name="connsiteX19" fmla="*/ 3010829 w 4750419"/>
              <a:gd name="connsiteY19" fmla="*/ 579863 h 2319454"/>
              <a:gd name="connsiteX20" fmla="*/ 2364058 w 4750419"/>
              <a:gd name="connsiteY20" fmla="*/ 423746 h 2319454"/>
              <a:gd name="connsiteX21" fmla="*/ 1973765 w 4750419"/>
              <a:gd name="connsiteY21" fmla="*/ 479502 h 2319454"/>
              <a:gd name="connsiteX22" fmla="*/ 1449658 w 4750419"/>
              <a:gd name="connsiteY22" fmla="*/ 568712 h 2319454"/>
              <a:gd name="connsiteX23" fmla="*/ 1003609 w 4750419"/>
              <a:gd name="connsiteY23" fmla="*/ 747132 h 2319454"/>
              <a:gd name="connsiteX24" fmla="*/ 802887 w 4750419"/>
              <a:gd name="connsiteY24" fmla="*/ 925551 h 2319454"/>
              <a:gd name="connsiteX25" fmla="*/ 691375 w 4750419"/>
              <a:gd name="connsiteY25" fmla="*/ 1293541 h 2319454"/>
              <a:gd name="connsiteX26" fmla="*/ 557561 w 4750419"/>
              <a:gd name="connsiteY26" fmla="*/ 1672683 h 2319454"/>
              <a:gd name="connsiteX27" fmla="*/ 0 w 4750419"/>
              <a:gd name="connsiteY27" fmla="*/ 1315844 h 2319454"/>
              <a:gd name="connsiteX0" fmla="*/ 0 w 4750419"/>
              <a:gd name="connsiteY0" fmla="*/ 1315844 h 2319454"/>
              <a:gd name="connsiteX1" fmla="*/ 301083 w 4750419"/>
              <a:gd name="connsiteY1" fmla="*/ 769434 h 2319454"/>
              <a:gd name="connsiteX2" fmla="*/ 646770 w 4750419"/>
              <a:gd name="connsiteY2" fmla="*/ 446049 h 2319454"/>
              <a:gd name="connsiteX3" fmla="*/ 1148575 w 4750419"/>
              <a:gd name="connsiteY3" fmla="*/ 211873 h 2319454"/>
              <a:gd name="connsiteX4" fmla="*/ 1605775 w 4750419"/>
              <a:gd name="connsiteY4" fmla="*/ 89210 h 2319454"/>
              <a:gd name="connsiteX5" fmla="*/ 2207941 w 4750419"/>
              <a:gd name="connsiteY5" fmla="*/ 0 h 2319454"/>
              <a:gd name="connsiteX6" fmla="*/ 2687444 w 4750419"/>
              <a:gd name="connsiteY6" fmla="*/ 55756 h 2319454"/>
              <a:gd name="connsiteX7" fmla="*/ 3233853 w 4750419"/>
              <a:gd name="connsiteY7" fmla="*/ 289932 h 2319454"/>
              <a:gd name="connsiteX8" fmla="*/ 3635297 w 4750419"/>
              <a:gd name="connsiteY8" fmla="*/ 535259 h 2319454"/>
              <a:gd name="connsiteX9" fmla="*/ 3958683 w 4750419"/>
              <a:gd name="connsiteY9" fmla="*/ 925551 h 2319454"/>
              <a:gd name="connsiteX10" fmla="*/ 4248614 w 4750419"/>
              <a:gd name="connsiteY10" fmla="*/ 1483112 h 2319454"/>
              <a:gd name="connsiteX11" fmla="*/ 4371278 w 4750419"/>
              <a:gd name="connsiteY11" fmla="*/ 1717288 h 2319454"/>
              <a:gd name="connsiteX12" fmla="*/ 4471639 w 4750419"/>
              <a:gd name="connsiteY12" fmla="*/ 1460810 h 2319454"/>
              <a:gd name="connsiteX13" fmla="*/ 4750419 w 4750419"/>
              <a:gd name="connsiteY13" fmla="*/ 2319454 h 2319454"/>
              <a:gd name="connsiteX14" fmla="*/ 3958683 w 4750419"/>
              <a:gd name="connsiteY14" fmla="*/ 2141034 h 2319454"/>
              <a:gd name="connsiteX15" fmla="*/ 4270917 w 4750419"/>
              <a:gd name="connsiteY15" fmla="*/ 2007220 h 2319454"/>
              <a:gd name="connsiteX16" fmla="*/ 4159405 w 4750419"/>
              <a:gd name="connsiteY16" fmla="*/ 1683834 h 2319454"/>
              <a:gd name="connsiteX17" fmla="*/ 3824868 w 4750419"/>
              <a:gd name="connsiteY17" fmla="*/ 1182029 h 2319454"/>
              <a:gd name="connsiteX18" fmla="*/ 3479180 w 4750419"/>
              <a:gd name="connsiteY18" fmla="*/ 825190 h 2319454"/>
              <a:gd name="connsiteX19" fmla="*/ 3010829 w 4750419"/>
              <a:gd name="connsiteY19" fmla="*/ 579863 h 2319454"/>
              <a:gd name="connsiteX20" fmla="*/ 2364058 w 4750419"/>
              <a:gd name="connsiteY20" fmla="*/ 423746 h 2319454"/>
              <a:gd name="connsiteX21" fmla="*/ 1973765 w 4750419"/>
              <a:gd name="connsiteY21" fmla="*/ 479502 h 2319454"/>
              <a:gd name="connsiteX22" fmla="*/ 1449658 w 4750419"/>
              <a:gd name="connsiteY22" fmla="*/ 568712 h 2319454"/>
              <a:gd name="connsiteX23" fmla="*/ 1003609 w 4750419"/>
              <a:gd name="connsiteY23" fmla="*/ 747132 h 2319454"/>
              <a:gd name="connsiteX24" fmla="*/ 802887 w 4750419"/>
              <a:gd name="connsiteY24" fmla="*/ 925551 h 2319454"/>
              <a:gd name="connsiteX25" fmla="*/ 691375 w 4750419"/>
              <a:gd name="connsiteY25" fmla="*/ 1293541 h 2319454"/>
              <a:gd name="connsiteX26" fmla="*/ 557561 w 4750419"/>
              <a:gd name="connsiteY26" fmla="*/ 1672683 h 2319454"/>
              <a:gd name="connsiteX27" fmla="*/ 0 w 4750419"/>
              <a:gd name="connsiteY27" fmla="*/ 1315844 h 2319454"/>
              <a:gd name="connsiteX0" fmla="*/ 0 w 4750419"/>
              <a:gd name="connsiteY0" fmla="*/ 1315844 h 2319454"/>
              <a:gd name="connsiteX1" fmla="*/ 301083 w 4750419"/>
              <a:gd name="connsiteY1" fmla="*/ 769434 h 2319454"/>
              <a:gd name="connsiteX2" fmla="*/ 646770 w 4750419"/>
              <a:gd name="connsiteY2" fmla="*/ 446049 h 2319454"/>
              <a:gd name="connsiteX3" fmla="*/ 1148575 w 4750419"/>
              <a:gd name="connsiteY3" fmla="*/ 211873 h 2319454"/>
              <a:gd name="connsiteX4" fmla="*/ 1605775 w 4750419"/>
              <a:gd name="connsiteY4" fmla="*/ 89210 h 2319454"/>
              <a:gd name="connsiteX5" fmla="*/ 2207941 w 4750419"/>
              <a:gd name="connsiteY5" fmla="*/ 0 h 2319454"/>
              <a:gd name="connsiteX6" fmla="*/ 2687444 w 4750419"/>
              <a:gd name="connsiteY6" fmla="*/ 55756 h 2319454"/>
              <a:gd name="connsiteX7" fmla="*/ 3233853 w 4750419"/>
              <a:gd name="connsiteY7" fmla="*/ 289932 h 2319454"/>
              <a:gd name="connsiteX8" fmla="*/ 3635297 w 4750419"/>
              <a:gd name="connsiteY8" fmla="*/ 535259 h 2319454"/>
              <a:gd name="connsiteX9" fmla="*/ 3958683 w 4750419"/>
              <a:gd name="connsiteY9" fmla="*/ 925551 h 2319454"/>
              <a:gd name="connsiteX10" fmla="*/ 4248614 w 4750419"/>
              <a:gd name="connsiteY10" fmla="*/ 1483112 h 2319454"/>
              <a:gd name="connsiteX11" fmla="*/ 4371278 w 4750419"/>
              <a:gd name="connsiteY11" fmla="*/ 1717288 h 2319454"/>
              <a:gd name="connsiteX12" fmla="*/ 4471639 w 4750419"/>
              <a:gd name="connsiteY12" fmla="*/ 1460810 h 2319454"/>
              <a:gd name="connsiteX13" fmla="*/ 4750419 w 4750419"/>
              <a:gd name="connsiteY13" fmla="*/ 2319454 h 2319454"/>
              <a:gd name="connsiteX14" fmla="*/ 3958683 w 4750419"/>
              <a:gd name="connsiteY14" fmla="*/ 2141034 h 2319454"/>
              <a:gd name="connsiteX15" fmla="*/ 4270917 w 4750419"/>
              <a:gd name="connsiteY15" fmla="*/ 2007220 h 2319454"/>
              <a:gd name="connsiteX16" fmla="*/ 4159405 w 4750419"/>
              <a:gd name="connsiteY16" fmla="*/ 1683834 h 2319454"/>
              <a:gd name="connsiteX17" fmla="*/ 3824868 w 4750419"/>
              <a:gd name="connsiteY17" fmla="*/ 1182029 h 2319454"/>
              <a:gd name="connsiteX18" fmla="*/ 3479180 w 4750419"/>
              <a:gd name="connsiteY18" fmla="*/ 825190 h 2319454"/>
              <a:gd name="connsiteX19" fmla="*/ 3010829 w 4750419"/>
              <a:gd name="connsiteY19" fmla="*/ 579863 h 2319454"/>
              <a:gd name="connsiteX20" fmla="*/ 2364058 w 4750419"/>
              <a:gd name="connsiteY20" fmla="*/ 423746 h 2319454"/>
              <a:gd name="connsiteX21" fmla="*/ 1973765 w 4750419"/>
              <a:gd name="connsiteY21" fmla="*/ 479502 h 2319454"/>
              <a:gd name="connsiteX22" fmla="*/ 1449658 w 4750419"/>
              <a:gd name="connsiteY22" fmla="*/ 568712 h 2319454"/>
              <a:gd name="connsiteX23" fmla="*/ 1003609 w 4750419"/>
              <a:gd name="connsiteY23" fmla="*/ 747132 h 2319454"/>
              <a:gd name="connsiteX24" fmla="*/ 802887 w 4750419"/>
              <a:gd name="connsiteY24" fmla="*/ 959005 h 2319454"/>
              <a:gd name="connsiteX25" fmla="*/ 691375 w 4750419"/>
              <a:gd name="connsiteY25" fmla="*/ 1293541 h 2319454"/>
              <a:gd name="connsiteX26" fmla="*/ 557561 w 4750419"/>
              <a:gd name="connsiteY26" fmla="*/ 1672683 h 2319454"/>
              <a:gd name="connsiteX27" fmla="*/ 0 w 4750419"/>
              <a:gd name="connsiteY27" fmla="*/ 1315844 h 2319454"/>
              <a:gd name="connsiteX0" fmla="*/ 0 w 4750419"/>
              <a:gd name="connsiteY0" fmla="*/ 1315844 h 2319454"/>
              <a:gd name="connsiteX1" fmla="*/ 301083 w 4750419"/>
              <a:gd name="connsiteY1" fmla="*/ 769434 h 2319454"/>
              <a:gd name="connsiteX2" fmla="*/ 646770 w 4750419"/>
              <a:gd name="connsiteY2" fmla="*/ 446049 h 2319454"/>
              <a:gd name="connsiteX3" fmla="*/ 1148575 w 4750419"/>
              <a:gd name="connsiteY3" fmla="*/ 211873 h 2319454"/>
              <a:gd name="connsiteX4" fmla="*/ 1605775 w 4750419"/>
              <a:gd name="connsiteY4" fmla="*/ 89210 h 2319454"/>
              <a:gd name="connsiteX5" fmla="*/ 2207941 w 4750419"/>
              <a:gd name="connsiteY5" fmla="*/ 0 h 2319454"/>
              <a:gd name="connsiteX6" fmla="*/ 2687444 w 4750419"/>
              <a:gd name="connsiteY6" fmla="*/ 55756 h 2319454"/>
              <a:gd name="connsiteX7" fmla="*/ 3233853 w 4750419"/>
              <a:gd name="connsiteY7" fmla="*/ 289932 h 2319454"/>
              <a:gd name="connsiteX8" fmla="*/ 3635297 w 4750419"/>
              <a:gd name="connsiteY8" fmla="*/ 535259 h 2319454"/>
              <a:gd name="connsiteX9" fmla="*/ 3958683 w 4750419"/>
              <a:gd name="connsiteY9" fmla="*/ 925551 h 2319454"/>
              <a:gd name="connsiteX10" fmla="*/ 4248614 w 4750419"/>
              <a:gd name="connsiteY10" fmla="*/ 1483112 h 2319454"/>
              <a:gd name="connsiteX11" fmla="*/ 4371278 w 4750419"/>
              <a:gd name="connsiteY11" fmla="*/ 1717288 h 2319454"/>
              <a:gd name="connsiteX12" fmla="*/ 4471639 w 4750419"/>
              <a:gd name="connsiteY12" fmla="*/ 1460810 h 2319454"/>
              <a:gd name="connsiteX13" fmla="*/ 4750419 w 4750419"/>
              <a:gd name="connsiteY13" fmla="*/ 2319454 h 2319454"/>
              <a:gd name="connsiteX14" fmla="*/ 3958683 w 4750419"/>
              <a:gd name="connsiteY14" fmla="*/ 2141034 h 2319454"/>
              <a:gd name="connsiteX15" fmla="*/ 4270917 w 4750419"/>
              <a:gd name="connsiteY15" fmla="*/ 1929161 h 2319454"/>
              <a:gd name="connsiteX16" fmla="*/ 4159405 w 4750419"/>
              <a:gd name="connsiteY16" fmla="*/ 1683834 h 2319454"/>
              <a:gd name="connsiteX17" fmla="*/ 3824868 w 4750419"/>
              <a:gd name="connsiteY17" fmla="*/ 1182029 h 2319454"/>
              <a:gd name="connsiteX18" fmla="*/ 3479180 w 4750419"/>
              <a:gd name="connsiteY18" fmla="*/ 825190 h 2319454"/>
              <a:gd name="connsiteX19" fmla="*/ 3010829 w 4750419"/>
              <a:gd name="connsiteY19" fmla="*/ 579863 h 2319454"/>
              <a:gd name="connsiteX20" fmla="*/ 2364058 w 4750419"/>
              <a:gd name="connsiteY20" fmla="*/ 423746 h 2319454"/>
              <a:gd name="connsiteX21" fmla="*/ 1973765 w 4750419"/>
              <a:gd name="connsiteY21" fmla="*/ 479502 h 2319454"/>
              <a:gd name="connsiteX22" fmla="*/ 1449658 w 4750419"/>
              <a:gd name="connsiteY22" fmla="*/ 568712 h 2319454"/>
              <a:gd name="connsiteX23" fmla="*/ 1003609 w 4750419"/>
              <a:gd name="connsiteY23" fmla="*/ 747132 h 2319454"/>
              <a:gd name="connsiteX24" fmla="*/ 802887 w 4750419"/>
              <a:gd name="connsiteY24" fmla="*/ 959005 h 2319454"/>
              <a:gd name="connsiteX25" fmla="*/ 691375 w 4750419"/>
              <a:gd name="connsiteY25" fmla="*/ 1293541 h 2319454"/>
              <a:gd name="connsiteX26" fmla="*/ 557561 w 4750419"/>
              <a:gd name="connsiteY26" fmla="*/ 1672683 h 2319454"/>
              <a:gd name="connsiteX27" fmla="*/ 0 w 4750419"/>
              <a:gd name="connsiteY27" fmla="*/ 1315844 h 2319454"/>
              <a:gd name="connsiteX0" fmla="*/ 0 w 4750419"/>
              <a:gd name="connsiteY0" fmla="*/ 1315844 h 2319454"/>
              <a:gd name="connsiteX1" fmla="*/ 301083 w 4750419"/>
              <a:gd name="connsiteY1" fmla="*/ 769434 h 2319454"/>
              <a:gd name="connsiteX2" fmla="*/ 646770 w 4750419"/>
              <a:gd name="connsiteY2" fmla="*/ 446049 h 2319454"/>
              <a:gd name="connsiteX3" fmla="*/ 1148575 w 4750419"/>
              <a:gd name="connsiteY3" fmla="*/ 211873 h 2319454"/>
              <a:gd name="connsiteX4" fmla="*/ 1605775 w 4750419"/>
              <a:gd name="connsiteY4" fmla="*/ 89210 h 2319454"/>
              <a:gd name="connsiteX5" fmla="*/ 2207941 w 4750419"/>
              <a:gd name="connsiteY5" fmla="*/ 0 h 2319454"/>
              <a:gd name="connsiteX6" fmla="*/ 2687444 w 4750419"/>
              <a:gd name="connsiteY6" fmla="*/ 55756 h 2319454"/>
              <a:gd name="connsiteX7" fmla="*/ 3233853 w 4750419"/>
              <a:gd name="connsiteY7" fmla="*/ 289932 h 2319454"/>
              <a:gd name="connsiteX8" fmla="*/ 3635297 w 4750419"/>
              <a:gd name="connsiteY8" fmla="*/ 535259 h 2319454"/>
              <a:gd name="connsiteX9" fmla="*/ 3958683 w 4750419"/>
              <a:gd name="connsiteY9" fmla="*/ 925551 h 2319454"/>
              <a:gd name="connsiteX10" fmla="*/ 4248614 w 4750419"/>
              <a:gd name="connsiteY10" fmla="*/ 1483112 h 2319454"/>
              <a:gd name="connsiteX11" fmla="*/ 4360127 w 4750419"/>
              <a:gd name="connsiteY11" fmla="*/ 1761893 h 2319454"/>
              <a:gd name="connsiteX12" fmla="*/ 4471639 w 4750419"/>
              <a:gd name="connsiteY12" fmla="*/ 1460810 h 2319454"/>
              <a:gd name="connsiteX13" fmla="*/ 4750419 w 4750419"/>
              <a:gd name="connsiteY13" fmla="*/ 2319454 h 2319454"/>
              <a:gd name="connsiteX14" fmla="*/ 3958683 w 4750419"/>
              <a:gd name="connsiteY14" fmla="*/ 2141034 h 2319454"/>
              <a:gd name="connsiteX15" fmla="*/ 4270917 w 4750419"/>
              <a:gd name="connsiteY15" fmla="*/ 1929161 h 2319454"/>
              <a:gd name="connsiteX16" fmla="*/ 4159405 w 4750419"/>
              <a:gd name="connsiteY16" fmla="*/ 1683834 h 2319454"/>
              <a:gd name="connsiteX17" fmla="*/ 3824868 w 4750419"/>
              <a:gd name="connsiteY17" fmla="*/ 1182029 h 2319454"/>
              <a:gd name="connsiteX18" fmla="*/ 3479180 w 4750419"/>
              <a:gd name="connsiteY18" fmla="*/ 825190 h 2319454"/>
              <a:gd name="connsiteX19" fmla="*/ 3010829 w 4750419"/>
              <a:gd name="connsiteY19" fmla="*/ 579863 h 2319454"/>
              <a:gd name="connsiteX20" fmla="*/ 2364058 w 4750419"/>
              <a:gd name="connsiteY20" fmla="*/ 423746 h 2319454"/>
              <a:gd name="connsiteX21" fmla="*/ 1973765 w 4750419"/>
              <a:gd name="connsiteY21" fmla="*/ 479502 h 2319454"/>
              <a:gd name="connsiteX22" fmla="*/ 1449658 w 4750419"/>
              <a:gd name="connsiteY22" fmla="*/ 568712 h 2319454"/>
              <a:gd name="connsiteX23" fmla="*/ 1003609 w 4750419"/>
              <a:gd name="connsiteY23" fmla="*/ 747132 h 2319454"/>
              <a:gd name="connsiteX24" fmla="*/ 802887 w 4750419"/>
              <a:gd name="connsiteY24" fmla="*/ 959005 h 2319454"/>
              <a:gd name="connsiteX25" fmla="*/ 691375 w 4750419"/>
              <a:gd name="connsiteY25" fmla="*/ 1293541 h 2319454"/>
              <a:gd name="connsiteX26" fmla="*/ 557561 w 4750419"/>
              <a:gd name="connsiteY26" fmla="*/ 1672683 h 2319454"/>
              <a:gd name="connsiteX27" fmla="*/ 0 w 4750419"/>
              <a:gd name="connsiteY27" fmla="*/ 1315844 h 2319454"/>
              <a:gd name="connsiteX0" fmla="*/ 0 w 4750419"/>
              <a:gd name="connsiteY0" fmla="*/ 1315844 h 2319454"/>
              <a:gd name="connsiteX1" fmla="*/ 301083 w 4750419"/>
              <a:gd name="connsiteY1" fmla="*/ 769434 h 2319454"/>
              <a:gd name="connsiteX2" fmla="*/ 646770 w 4750419"/>
              <a:gd name="connsiteY2" fmla="*/ 446049 h 2319454"/>
              <a:gd name="connsiteX3" fmla="*/ 1148575 w 4750419"/>
              <a:gd name="connsiteY3" fmla="*/ 211873 h 2319454"/>
              <a:gd name="connsiteX4" fmla="*/ 1605775 w 4750419"/>
              <a:gd name="connsiteY4" fmla="*/ 89210 h 2319454"/>
              <a:gd name="connsiteX5" fmla="*/ 2207941 w 4750419"/>
              <a:gd name="connsiteY5" fmla="*/ 0 h 2319454"/>
              <a:gd name="connsiteX6" fmla="*/ 2687444 w 4750419"/>
              <a:gd name="connsiteY6" fmla="*/ 55756 h 2319454"/>
              <a:gd name="connsiteX7" fmla="*/ 3233853 w 4750419"/>
              <a:gd name="connsiteY7" fmla="*/ 289932 h 2319454"/>
              <a:gd name="connsiteX8" fmla="*/ 3635297 w 4750419"/>
              <a:gd name="connsiteY8" fmla="*/ 535259 h 2319454"/>
              <a:gd name="connsiteX9" fmla="*/ 3958683 w 4750419"/>
              <a:gd name="connsiteY9" fmla="*/ 925551 h 2319454"/>
              <a:gd name="connsiteX10" fmla="*/ 4248614 w 4750419"/>
              <a:gd name="connsiteY10" fmla="*/ 1483112 h 2319454"/>
              <a:gd name="connsiteX11" fmla="*/ 4360127 w 4750419"/>
              <a:gd name="connsiteY11" fmla="*/ 1761893 h 2319454"/>
              <a:gd name="connsiteX12" fmla="*/ 4471639 w 4750419"/>
              <a:gd name="connsiteY12" fmla="*/ 1460810 h 2319454"/>
              <a:gd name="connsiteX13" fmla="*/ 4750419 w 4750419"/>
              <a:gd name="connsiteY13" fmla="*/ 2319454 h 2319454"/>
              <a:gd name="connsiteX14" fmla="*/ 3958683 w 4750419"/>
              <a:gd name="connsiteY14" fmla="*/ 2141034 h 2319454"/>
              <a:gd name="connsiteX15" fmla="*/ 4259765 w 4750419"/>
              <a:gd name="connsiteY15" fmla="*/ 1940313 h 2319454"/>
              <a:gd name="connsiteX16" fmla="*/ 4159405 w 4750419"/>
              <a:gd name="connsiteY16" fmla="*/ 1683834 h 2319454"/>
              <a:gd name="connsiteX17" fmla="*/ 3824868 w 4750419"/>
              <a:gd name="connsiteY17" fmla="*/ 1182029 h 2319454"/>
              <a:gd name="connsiteX18" fmla="*/ 3479180 w 4750419"/>
              <a:gd name="connsiteY18" fmla="*/ 825190 h 2319454"/>
              <a:gd name="connsiteX19" fmla="*/ 3010829 w 4750419"/>
              <a:gd name="connsiteY19" fmla="*/ 579863 h 2319454"/>
              <a:gd name="connsiteX20" fmla="*/ 2364058 w 4750419"/>
              <a:gd name="connsiteY20" fmla="*/ 423746 h 2319454"/>
              <a:gd name="connsiteX21" fmla="*/ 1973765 w 4750419"/>
              <a:gd name="connsiteY21" fmla="*/ 479502 h 2319454"/>
              <a:gd name="connsiteX22" fmla="*/ 1449658 w 4750419"/>
              <a:gd name="connsiteY22" fmla="*/ 568712 h 2319454"/>
              <a:gd name="connsiteX23" fmla="*/ 1003609 w 4750419"/>
              <a:gd name="connsiteY23" fmla="*/ 747132 h 2319454"/>
              <a:gd name="connsiteX24" fmla="*/ 802887 w 4750419"/>
              <a:gd name="connsiteY24" fmla="*/ 959005 h 2319454"/>
              <a:gd name="connsiteX25" fmla="*/ 691375 w 4750419"/>
              <a:gd name="connsiteY25" fmla="*/ 1293541 h 2319454"/>
              <a:gd name="connsiteX26" fmla="*/ 557561 w 4750419"/>
              <a:gd name="connsiteY26" fmla="*/ 1672683 h 2319454"/>
              <a:gd name="connsiteX27" fmla="*/ 0 w 4750419"/>
              <a:gd name="connsiteY27" fmla="*/ 1315844 h 2319454"/>
              <a:gd name="connsiteX0" fmla="*/ 0 w 4750419"/>
              <a:gd name="connsiteY0" fmla="*/ 1315844 h 2319454"/>
              <a:gd name="connsiteX1" fmla="*/ 301083 w 4750419"/>
              <a:gd name="connsiteY1" fmla="*/ 769434 h 2319454"/>
              <a:gd name="connsiteX2" fmla="*/ 646770 w 4750419"/>
              <a:gd name="connsiteY2" fmla="*/ 446049 h 2319454"/>
              <a:gd name="connsiteX3" fmla="*/ 1148575 w 4750419"/>
              <a:gd name="connsiteY3" fmla="*/ 211873 h 2319454"/>
              <a:gd name="connsiteX4" fmla="*/ 1605775 w 4750419"/>
              <a:gd name="connsiteY4" fmla="*/ 89210 h 2319454"/>
              <a:gd name="connsiteX5" fmla="*/ 2207941 w 4750419"/>
              <a:gd name="connsiteY5" fmla="*/ 0 h 2319454"/>
              <a:gd name="connsiteX6" fmla="*/ 2687444 w 4750419"/>
              <a:gd name="connsiteY6" fmla="*/ 55756 h 2319454"/>
              <a:gd name="connsiteX7" fmla="*/ 3233853 w 4750419"/>
              <a:gd name="connsiteY7" fmla="*/ 289932 h 2319454"/>
              <a:gd name="connsiteX8" fmla="*/ 3635297 w 4750419"/>
              <a:gd name="connsiteY8" fmla="*/ 535259 h 2319454"/>
              <a:gd name="connsiteX9" fmla="*/ 3958683 w 4750419"/>
              <a:gd name="connsiteY9" fmla="*/ 925551 h 2319454"/>
              <a:gd name="connsiteX10" fmla="*/ 4248614 w 4750419"/>
              <a:gd name="connsiteY10" fmla="*/ 1483112 h 2319454"/>
              <a:gd name="connsiteX11" fmla="*/ 4315522 w 4750419"/>
              <a:gd name="connsiteY11" fmla="*/ 1694986 h 2319454"/>
              <a:gd name="connsiteX12" fmla="*/ 4471639 w 4750419"/>
              <a:gd name="connsiteY12" fmla="*/ 1460810 h 2319454"/>
              <a:gd name="connsiteX13" fmla="*/ 4750419 w 4750419"/>
              <a:gd name="connsiteY13" fmla="*/ 2319454 h 2319454"/>
              <a:gd name="connsiteX14" fmla="*/ 3958683 w 4750419"/>
              <a:gd name="connsiteY14" fmla="*/ 2141034 h 2319454"/>
              <a:gd name="connsiteX15" fmla="*/ 4259765 w 4750419"/>
              <a:gd name="connsiteY15" fmla="*/ 1940313 h 2319454"/>
              <a:gd name="connsiteX16" fmla="*/ 4159405 w 4750419"/>
              <a:gd name="connsiteY16" fmla="*/ 1683834 h 2319454"/>
              <a:gd name="connsiteX17" fmla="*/ 3824868 w 4750419"/>
              <a:gd name="connsiteY17" fmla="*/ 1182029 h 2319454"/>
              <a:gd name="connsiteX18" fmla="*/ 3479180 w 4750419"/>
              <a:gd name="connsiteY18" fmla="*/ 825190 h 2319454"/>
              <a:gd name="connsiteX19" fmla="*/ 3010829 w 4750419"/>
              <a:gd name="connsiteY19" fmla="*/ 579863 h 2319454"/>
              <a:gd name="connsiteX20" fmla="*/ 2364058 w 4750419"/>
              <a:gd name="connsiteY20" fmla="*/ 423746 h 2319454"/>
              <a:gd name="connsiteX21" fmla="*/ 1973765 w 4750419"/>
              <a:gd name="connsiteY21" fmla="*/ 479502 h 2319454"/>
              <a:gd name="connsiteX22" fmla="*/ 1449658 w 4750419"/>
              <a:gd name="connsiteY22" fmla="*/ 568712 h 2319454"/>
              <a:gd name="connsiteX23" fmla="*/ 1003609 w 4750419"/>
              <a:gd name="connsiteY23" fmla="*/ 747132 h 2319454"/>
              <a:gd name="connsiteX24" fmla="*/ 802887 w 4750419"/>
              <a:gd name="connsiteY24" fmla="*/ 959005 h 2319454"/>
              <a:gd name="connsiteX25" fmla="*/ 691375 w 4750419"/>
              <a:gd name="connsiteY25" fmla="*/ 1293541 h 2319454"/>
              <a:gd name="connsiteX26" fmla="*/ 557561 w 4750419"/>
              <a:gd name="connsiteY26" fmla="*/ 1672683 h 2319454"/>
              <a:gd name="connsiteX27" fmla="*/ 0 w 4750419"/>
              <a:gd name="connsiteY27" fmla="*/ 1315844 h 2319454"/>
              <a:gd name="connsiteX0" fmla="*/ 0 w 4750419"/>
              <a:gd name="connsiteY0" fmla="*/ 1315844 h 2319454"/>
              <a:gd name="connsiteX1" fmla="*/ 301083 w 4750419"/>
              <a:gd name="connsiteY1" fmla="*/ 769434 h 2319454"/>
              <a:gd name="connsiteX2" fmla="*/ 646770 w 4750419"/>
              <a:gd name="connsiteY2" fmla="*/ 446049 h 2319454"/>
              <a:gd name="connsiteX3" fmla="*/ 1148575 w 4750419"/>
              <a:gd name="connsiteY3" fmla="*/ 211873 h 2319454"/>
              <a:gd name="connsiteX4" fmla="*/ 1605775 w 4750419"/>
              <a:gd name="connsiteY4" fmla="*/ 89210 h 2319454"/>
              <a:gd name="connsiteX5" fmla="*/ 2207941 w 4750419"/>
              <a:gd name="connsiteY5" fmla="*/ 0 h 2319454"/>
              <a:gd name="connsiteX6" fmla="*/ 2687444 w 4750419"/>
              <a:gd name="connsiteY6" fmla="*/ 55756 h 2319454"/>
              <a:gd name="connsiteX7" fmla="*/ 3233853 w 4750419"/>
              <a:gd name="connsiteY7" fmla="*/ 289932 h 2319454"/>
              <a:gd name="connsiteX8" fmla="*/ 3635297 w 4750419"/>
              <a:gd name="connsiteY8" fmla="*/ 535259 h 2319454"/>
              <a:gd name="connsiteX9" fmla="*/ 3958683 w 4750419"/>
              <a:gd name="connsiteY9" fmla="*/ 925551 h 2319454"/>
              <a:gd name="connsiteX10" fmla="*/ 4248614 w 4750419"/>
              <a:gd name="connsiteY10" fmla="*/ 1483112 h 2319454"/>
              <a:gd name="connsiteX11" fmla="*/ 4315522 w 4750419"/>
              <a:gd name="connsiteY11" fmla="*/ 1694986 h 2319454"/>
              <a:gd name="connsiteX12" fmla="*/ 4471639 w 4750419"/>
              <a:gd name="connsiteY12" fmla="*/ 1460810 h 2319454"/>
              <a:gd name="connsiteX13" fmla="*/ 4750419 w 4750419"/>
              <a:gd name="connsiteY13" fmla="*/ 2319454 h 2319454"/>
              <a:gd name="connsiteX14" fmla="*/ 3958683 w 4750419"/>
              <a:gd name="connsiteY14" fmla="*/ 2141034 h 2319454"/>
              <a:gd name="connsiteX15" fmla="*/ 4248614 w 4750419"/>
              <a:gd name="connsiteY15" fmla="*/ 1817649 h 2319454"/>
              <a:gd name="connsiteX16" fmla="*/ 4159405 w 4750419"/>
              <a:gd name="connsiteY16" fmla="*/ 1683834 h 2319454"/>
              <a:gd name="connsiteX17" fmla="*/ 3824868 w 4750419"/>
              <a:gd name="connsiteY17" fmla="*/ 1182029 h 2319454"/>
              <a:gd name="connsiteX18" fmla="*/ 3479180 w 4750419"/>
              <a:gd name="connsiteY18" fmla="*/ 825190 h 2319454"/>
              <a:gd name="connsiteX19" fmla="*/ 3010829 w 4750419"/>
              <a:gd name="connsiteY19" fmla="*/ 579863 h 2319454"/>
              <a:gd name="connsiteX20" fmla="*/ 2364058 w 4750419"/>
              <a:gd name="connsiteY20" fmla="*/ 423746 h 2319454"/>
              <a:gd name="connsiteX21" fmla="*/ 1973765 w 4750419"/>
              <a:gd name="connsiteY21" fmla="*/ 479502 h 2319454"/>
              <a:gd name="connsiteX22" fmla="*/ 1449658 w 4750419"/>
              <a:gd name="connsiteY22" fmla="*/ 568712 h 2319454"/>
              <a:gd name="connsiteX23" fmla="*/ 1003609 w 4750419"/>
              <a:gd name="connsiteY23" fmla="*/ 747132 h 2319454"/>
              <a:gd name="connsiteX24" fmla="*/ 802887 w 4750419"/>
              <a:gd name="connsiteY24" fmla="*/ 959005 h 2319454"/>
              <a:gd name="connsiteX25" fmla="*/ 691375 w 4750419"/>
              <a:gd name="connsiteY25" fmla="*/ 1293541 h 2319454"/>
              <a:gd name="connsiteX26" fmla="*/ 557561 w 4750419"/>
              <a:gd name="connsiteY26" fmla="*/ 1672683 h 2319454"/>
              <a:gd name="connsiteX27" fmla="*/ 0 w 4750419"/>
              <a:gd name="connsiteY27" fmla="*/ 1315844 h 2319454"/>
              <a:gd name="connsiteX0" fmla="*/ 0 w 4560848"/>
              <a:gd name="connsiteY0" fmla="*/ 1315844 h 2286001"/>
              <a:gd name="connsiteX1" fmla="*/ 301083 w 4560848"/>
              <a:gd name="connsiteY1" fmla="*/ 769434 h 2286001"/>
              <a:gd name="connsiteX2" fmla="*/ 646770 w 4560848"/>
              <a:gd name="connsiteY2" fmla="*/ 446049 h 2286001"/>
              <a:gd name="connsiteX3" fmla="*/ 1148575 w 4560848"/>
              <a:gd name="connsiteY3" fmla="*/ 211873 h 2286001"/>
              <a:gd name="connsiteX4" fmla="*/ 1605775 w 4560848"/>
              <a:gd name="connsiteY4" fmla="*/ 89210 h 2286001"/>
              <a:gd name="connsiteX5" fmla="*/ 2207941 w 4560848"/>
              <a:gd name="connsiteY5" fmla="*/ 0 h 2286001"/>
              <a:gd name="connsiteX6" fmla="*/ 2687444 w 4560848"/>
              <a:gd name="connsiteY6" fmla="*/ 55756 h 2286001"/>
              <a:gd name="connsiteX7" fmla="*/ 3233853 w 4560848"/>
              <a:gd name="connsiteY7" fmla="*/ 289932 h 2286001"/>
              <a:gd name="connsiteX8" fmla="*/ 3635297 w 4560848"/>
              <a:gd name="connsiteY8" fmla="*/ 535259 h 2286001"/>
              <a:gd name="connsiteX9" fmla="*/ 3958683 w 4560848"/>
              <a:gd name="connsiteY9" fmla="*/ 925551 h 2286001"/>
              <a:gd name="connsiteX10" fmla="*/ 4248614 w 4560848"/>
              <a:gd name="connsiteY10" fmla="*/ 1483112 h 2286001"/>
              <a:gd name="connsiteX11" fmla="*/ 4315522 w 4560848"/>
              <a:gd name="connsiteY11" fmla="*/ 1694986 h 2286001"/>
              <a:gd name="connsiteX12" fmla="*/ 4471639 w 4560848"/>
              <a:gd name="connsiteY12" fmla="*/ 1460810 h 2286001"/>
              <a:gd name="connsiteX13" fmla="*/ 4560848 w 4560848"/>
              <a:gd name="connsiteY13" fmla="*/ 2286001 h 2286001"/>
              <a:gd name="connsiteX14" fmla="*/ 3958683 w 4560848"/>
              <a:gd name="connsiteY14" fmla="*/ 2141034 h 2286001"/>
              <a:gd name="connsiteX15" fmla="*/ 4248614 w 4560848"/>
              <a:gd name="connsiteY15" fmla="*/ 1817649 h 2286001"/>
              <a:gd name="connsiteX16" fmla="*/ 4159405 w 4560848"/>
              <a:gd name="connsiteY16" fmla="*/ 1683834 h 2286001"/>
              <a:gd name="connsiteX17" fmla="*/ 3824868 w 4560848"/>
              <a:gd name="connsiteY17" fmla="*/ 1182029 h 2286001"/>
              <a:gd name="connsiteX18" fmla="*/ 3479180 w 4560848"/>
              <a:gd name="connsiteY18" fmla="*/ 825190 h 2286001"/>
              <a:gd name="connsiteX19" fmla="*/ 3010829 w 4560848"/>
              <a:gd name="connsiteY19" fmla="*/ 579863 h 2286001"/>
              <a:gd name="connsiteX20" fmla="*/ 2364058 w 4560848"/>
              <a:gd name="connsiteY20" fmla="*/ 423746 h 2286001"/>
              <a:gd name="connsiteX21" fmla="*/ 1973765 w 4560848"/>
              <a:gd name="connsiteY21" fmla="*/ 479502 h 2286001"/>
              <a:gd name="connsiteX22" fmla="*/ 1449658 w 4560848"/>
              <a:gd name="connsiteY22" fmla="*/ 568712 h 2286001"/>
              <a:gd name="connsiteX23" fmla="*/ 1003609 w 4560848"/>
              <a:gd name="connsiteY23" fmla="*/ 747132 h 2286001"/>
              <a:gd name="connsiteX24" fmla="*/ 802887 w 4560848"/>
              <a:gd name="connsiteY24" fmla="*/ 959005 h 2286001"/>
              <a:gd name="connsiteX25" fmla="*/ 691375 w 4560848"/>
              <a:gd name="connsiteY25" fmla="*/ 1293541 h 2286001"/>
              <a:gd name="connsiteX26" fmla="*/ 557561 w 4560848"/>
              <a:gd name="connsiteY26" fmla="*/ 1672683 h 2286001"/>
              <a:gd name="connsiteX27" fmla="*/ 0 w 4560848"/>
              <a:gd name="connsiteY27" fmla="*/ 1315844 h 2286001"/>
              <a:gd name="connsiteX0" fmla="*/ 0 w 4560848"/>
              <a:gd name="connsiteY0" fmla="*/ 1315844 h 2286001"/>
              <a:gd name="connsiteX1" fmla="*/ 301083 w 4560848"/>
              <a:gd name="connsiteY1" fmla="*/ 769434 h 2286001"/>
              <a:gd name="connsiteX2" fmla="*/ 646770 w 4560848"/>
              <a:gd name="connsiteY2" fmla="*/ 446049 h 2286001"/>
              <a:gd name="connsiteX3" fmla="*/ 1148575 w 4560848"/>
              <a:gd name="connsiteY3" fmla="*/ 211873 h 2286001"/>
              <a:gd name="connsiteX4" fmla="*/ 1605775 w 4560848"/>
              <a:gd name="connsiteY4" fmla="*/ 89210 h 2286001"/>
              <a:gd name="connsiteX5" fmla="*/ 2207941 w 4560848"/>
              <a:gd name="connsiteY5" fmla="*/ 0 h 2286001"/>
              <a:gd name="connsiteX6" fmla="*/ 2687444 w 4560848"/>
              <a:gd name="connsiteY6" fmla="*/ 55756 h 2286001"/>
              <a:gd name="connsiteX7" fmla="*/ 3233853 w 4560848"/>
              <a:gd name="connsiteY7" fmla="*/ 289932 h 2286001"/>
              <a:gd name="connsiteX8" fmla="*/ 3635297 w 4560848"/>
              <a:gd name="connsiteY8" fmla="*/ 535259 h 2286001"/>
              <a:gd name="connsiteX9" fmla="*/ 3958683 w 4560848"/>
              <a:gd name="connsiteY9" fmla="*/ 925551 h 2286001"/>
              <a:gd name="connsiteX10" fmla="*/ 4248614 w 4560848"/>
              <a:gd name="connsiteY10" fmla="*/ 1483112 h 2286001"/>
              <a:gd name="connsiteX11" fmla="*/ 4315522 w 4560848"/>
              <a:gd name="connsiteY11" fmla="*/ 1694986 h 2286001"/>
              <a:gd name="connsiteX12" fmla="*/ 4471639 w 4560848"/>
              <a:gd name="connsiteY12" fmla="*/ 1460810 h 2286001"/>
              <a:gd name="connsiteX13" fmla="*/ 4560848 w 4560848"/>
              <a:gd name="connsiteY13" fmla="*/ 2286001 h 2286001"/>
              <a:gd name="connsiteX14" fmla="*/ 3947532 w 4560848"/>
              <a:gd name="connsiteY14" fmla="*/ 1962614 h 2286001"/>
              <a:gd name="connsiteX15" fmla="*/ 4248614 w 4560848"/>
              <a:gd name="connsiteY15" fmla="*/ 1817649 h 2286001"/>
              <a:gd name="connsiteX16" fmla="*/ 4159405 w 4560848"/>
              <a:gd name="connsiteY16" fmla="*/ 1683834 h 2286001"/>
              <a:gd name="connsiteX17" fmla="*/ 3824868 w 4560848"/>
              <a:gd name="connsiteY17" fmla="*/ 1182029 h 2286001"/>
              <a:gd name="connsiteX18" fmla="*/ 3479180 w 4560848"/>
              <a:gd name="connsiteY18" fmla="*/ 825190 h 2286001"/>
              <a:gd name="connsiteX19" fmla="*/ 3010829 w 4560848"/>
              <a:gd name="connsiteY19" fmla="*/ 579863 h 2286001"/>
              <a:gd name="connsiteX20" fmla="*/ 2364058 w 4560848"/>
              <a:gd name="connsiteY20" fmla="*/ 423746 h 2286001"/>
              <a:gd name="connsiteX21" fmla="*/ 1973765 w 4560848"/>
              <a:gd name="connsiteY21" fmla="*/ 479502 h 2286001"/>
              <a:gd name="connsiteX22" fmla="*/ 1449658 w 4560848"/>
              <a:gd name="connsiteY22" fmla="*/ 568712 h 2286001"/>
              <a:gd name="connsiteX23" fmla="*/ 1003609 w 4560848"/>
              <a:gd name="connsiteY23" fmla="*/ 747132 h 2286001"/>
              <a:gd name="connsiteX24" fmla="*/ 802887 w 4560848"/>
              <a:gd name="connsiteY24" fmla="*/ 959005 h 2286001"/>
              <a:gd name="connsiteX25" fmla="*/ 691375 w 4560848"/>
              <a:gd name="connsiteY25" fmla="*/ 1293541 h 2286001"/>
              <a:gd name="connsiteX26" fmla="*/ 557561 w 4560848"/>
              <a:gd name="connsiteY26" fmla="*/ 1672683 h 2286001"/>
              <a:gd name="connsiteX27" fmla="*/ 0 w 4560848"/>
              <a:gd name="connsiteY27" fmla="*/ 1315844 h 2286001"/>
              <a:gd name="connsiteX0" fmla="*/ 0 w 4560848"/>
              <a:gd name="connsiteY0" fmla="*/ 1315844 h 2286001"/>
              <a:gd name="connsiteX1" fmla="*/ 301083 w 4560848"/>
              <a:gd name="connsiteY1" fmla="*/ 769434 h 2286001"/>
              <a:gd name="connsiteX2" fmla="*/ 646770 w 4560848"/>
              <a:gd name="connsiteY2" fmla="*/ 446049 h 2286001"/>
              <a:gd name="connsiteX3" fmla="*/ 1148575 w 4560848"/>
              <a:gd name="connsiteY3" fmla="*/ 211873 h 2286001"/>
              <a:gd name="connsiteX4" fmla="*/ 1605775 w 4560848"/>
              <a:gd name="connsiteY4" fmla="*/ 89210 h 2286001"/>
              <a:gd name="connsiteX5" fmla="*/ 2207941 w 4560848"/>
              <a:gd name="connsiteY5" fmla="*/ 0 h 2286001"/>
              <a:gd name="connsiteX6" fmla="*/ 2687444 w 4560848"/>
              <a:gd name="connsiteY6" fmla="*/ 55756 h 2286001"/>
              <a:gd name="connsiteX7" fmla="*/ 3233853 w 4560848"/>
              <a:gd name="connsiteY7" fmla="*/ 289932 h 2286001"/>
              <a:gd name="connsiteX8" fmla="*/ 3635297 w 4560848"/>
              <a:gd name="connsiteY8" fmla="*/ 535259 h 2286001"/>
              <a:gd name="connsiteX9" fmla="*/ 3958683 w 4560848"/>
              <a:gd name="connsiteY9" fmla="*/ 925551 h 2286001"/>
              <a:gd name="connsiteX10" fmla="*/ 4248614 w 4560848"/>
              <a:gd name="connsiteY10" fmla="*/ 1483112 h 2286001"/>
              <a:gd name="connsiteX11" fmla="*/ 4315522 w 4560848"/>
              <a:gd name="connsiteY11" fmla="*/ 1694986 h 2286001"/>
              <a:gd name="connsiteX12" fmla="*/ 4527395 w 4560848"/>
              <a:gd name="connsiteY12" fmla="*/ 1583474 h 2286001"/>
              <a:gd name="connsiteX13" fmla="*/ 4560848 w 4560848"/>
              <a:gd name="connsiteY13" fmla="*/ 2286001 h 2286001"/>
              <a:gd name="connsiteX14" fmla="*/ 3947532 w 4560848"/>
              <a:gd name="connsiteY14" fmla="*/ 1962614 h 2286001"/>
              <a:gd name="connsiteX15" fmla="*/ 4248614 w 4560848"/>
              <a:gd name="connsiteY15" fmla="*/ 1817649 h 2286001"/>
              <a:gd name="connsiteX16" fmla="*/ 4159405 w 4560848"/>
              <a:gd name="connsiteY16" fmla="*/ 1683834 h 2286001"/>
              <a:gd name="connsiteX17" fmla="*/ 3824868 w 4560848"/>
              <a:gd name="connsiteY17" fmla="*/ 1182029 h 2286001"/>
              <a:gd name="connsiteX18" fmla="*/ 3479180 w 4560848"/>
              <a:gd name="connsiteY18" fmla="*/ 825190 h 2286001"/>
              <a:gd name="connsiteX19" fmla="*/ 3010829 w 4560848"/>
              <a:gd name="connsiteY19" fmla="*/ 579863 h 2286001"/>
              <a:gd name="connsiteX20" fmla="*/ 2364058 w 4560848"/>
              <a:gd name="connsiteY20" fmla="*/ 423746 h 2286001"/>
              <a:gd name="connsiteX21" fmla="*/ 1973765 w 4560848"/>
              <a:gd name="connsiteY21" fmla="*/ 479502 h 2286001"/>
              <a:gd name="connsiteX22" fmla="*/ 1449658 w 4560848"/>
              <a:gd name="connsiteY22" fmla="*/ 568712 h 2286001"/>
              <a:gd name="connsiteX23" fmla="*/ 1003609 w 4560848"/>
              <a:gd name="connsiteY23" fmla="*/ 747132 h 2286001"/>
              <a:gd name="connsiteX24" fmla="*/ 802887 w 4560848"/>
              <a:gd name="connsiteY24" fmla="*/ 959005 h 2286001"/>
              <a:gd name="connsiteX25" fmla="*/ 691375 w 4560848"/>
              <a:gd name="connsiteY25" fmla="*/ 1293541 h 2286001"/>
              <a:gd name="connsiteX26" fmla="*/ 557561 w 4560848"/>
              <a:gd name="connsiteY26" fmla="*/ 1672683 h 2286001"/>
              <a:gd name="connsiteX27" fmla="*/ 0 w 4560848"/>
              <a:gd name="connsiteY27" fmla="*/ 1315844 h 2286001"/>
              <a:gd name="connsiteX0" fmla="*/ 0 w 4560848"/>
              <a:gd name="connsiteY0" fmla="*/ 1315844 h 2286001"/>
              <a:gd name="connsiteX1" fmla="*/ 301083 w 4560848"/>
              <a:gd name="connsiteY1" fmla="*/ 769434 h 2286001"/>
              <a:gd name="connsiteX2" fmla="*/ 646770 w 4560848"/>
              <a:gd name="connsiteY2" fmla="*/ 446049 h 2286001"/>
              <a:gd name="connsiteX3" fmla="*/ 1148575 w 4560848"/>
              <a:gd name="connsiteY3" fmla="*/ 211873 h 2286001"/>
              <a:gd name="connsiteX4" fmla="*/ 1605775 w 4560848"/>
              <a:gd name="connsiteY4" fmla="*/ 89210 h 2286001"/>
              <a:gd name="connsiteX5" fmla="*/ 2207941 w 4560848"/>
              <a:gd name="connsiteY5" fmla="*/ 0 h 2286001"/>
              <a:gd name="connsiteX6" fmla="*/ 2687444 w 4560848"/>
              <a:gd name="connsiteY6" fmla="*/ 55756 h 2286001"/>
              <a:gd name="connsiteX7" fmla="*/ 3233853 w 4560848"/>
              <a:gd name="connsiteY7" fmla="*/ 289932 h 2286001"/>
              <a:gd name="connsiteX8" fmla="*/ 3635297 w 4560848"/>
              <a:gd name="connsiteY8" fmla="*/ 535259 h 2286001"/>
              <a:gd name="connsiteX9" fmla="*/ 3958683 w 4560848"/>
              <a:gd name="connsiteY9" fmla="*/ 925551 h 2286001"/>
              <a:gd name="connsiteX10" fmla="*/ 4248614 w 4560848"/>
              <a:gd name="connsiteY10" fmla="*/ 1483112 h 2286001"/>
              <a:gd name="connsiteX11" fmla="*/ 4360126 w 4560848"/>
              <a:gd name="connsiteY11" fmla="*/ 1761893 h 2286001"/>
              <a:gd name="connsiteX12" fmla="*/ 4527395 w 4560848"/>
              <a:gd name="connsiteY12" fmla="*/ 1583474 h 2286001"/>
              <a:gd name="connsiteX13" fmla="*/ 4560848 w 4560848"/>
              <a:gd name="connsiteY13" fmla="*/ 2286001 h 2286001"/>
              <a:gd name="connsiteX14" fmla="*/ 3947532 w 4560848"/>
              <a:gd name="connsiteY14" fmla="*/ 1962614 h 2286001"/>
              <a:gd name="connsiteX15" fmla="*/ 4248614 w 4560848"/>
              <a:gd name="connsiteY15" fmla="*/ 1817649 h 2286001"/>
              <a:gd name="connsiteX16" fmla="*/ 4159405 w 4560848"/>
              <a:gd name="connsiteY16" fmla="*/ 1683834 h 2286001"/>
              <a:gd name="connsiteX17" fmla="*/ 3824868 w 4560848"/>
              <a:gd name="connsiteY17" fmla="*/ 1182029 h 2286001"/>
              <a:gd name="connsiteX18" fmla="*/ 3479180 w 4560848"/>
              <a:gd name="connsiteY18" fmla="*/ 825190 h 2286001"/>
              <a:gd name="connsiteX19" fmla="*/ 3010829 w 4560848"/>
              <a:gd name="connsiteY19" fmla="*/ 579863 h 2286001"/>
              <a:gd name="connsiteX20" fmla="*/ 2364058 w 4560848"/>
              <a:gd name="connsiteY20" fmla="*/ 423746 h 2286001"/>
              <a:gd name="connsiteX21" fmla="*/ 1973765 w 4560848"/>
              <a:gd name="connsiteY21" fmla="*/ 479502 h 2286001"/>
              <a:gd name="connsiteX22" fmla="*/ 1449658 w 4560848"/>
              <a:gd name="connsiteY22" fmla="*/ 568712 h 2286001"/>
              <a:gd name="connsiteX23" fmla="*/ 1003609 w 4560848"/>
              <a:gd name="connsiteY23" fmla="*/ 747132 h 2286001"/>
              <a:gd name="connsiteX24" fmla="*/ 802887 w 4560848"/>
              <a:gd name="connsiteY24" fmla="*/ 959005 h 2286001"/>
              <a:gd name="connsiteX25" fmla="*/ 691375 w 4560848"/>
              <a:gd name="connsiteY25" fmla="*/ 1293541 h 2286001"/>
              <a:gd name="connsiteX26" fmla="*/ 557561 w 4560848"/>
              <a:gd name="connsiteY26" fmla="*/ 1672683 h 2286001"/>
              <a:gd name="connsiteX27" fmla="*/ 0 w 4560848"/>
              <a:gd name="connsiteY27" fmla="*/ 1315844 h 2286001"/>
              <a:gd name="connsiteX0" fmla="*/ 0 w 4560848"/>
              <a:gd name="connsiteY0" fmla="*/ 1315844 h 2286001"/>
              <a:gd name="connsiteX1" fmla="*/ 301083 w 4560848"/>
              <a:gd name="connsiteY1" fmla="*/ 769434 h 2286001"/>
              <a:gd name="connsiteX2" fmla="*/ 646770 w 4560848"/>
              <a:gd name="connsiteY2" fmla="*/ 446049 h 2286001"/>
              <a:gd name="connsiteX3" fmla="*/ 1148575 w 4560848"/>
              <a:gd name="connsiteY3" fmla="*/ 211873 h 2286001"/>
              <a:gd name="connsiteX4" fmla="*/ 1605775 w 4560848"/>
              <a:gd name="connsiteY4" fmla="*/ 89210 h 2286001"/>
              <a:gd name="connsiteX5" fmla="*/ 2207941 w 4560848"/>
              <a:gd name="connsiteY5" fmla="*/ 0 h 2286001"/>
              <a:gd name="connsiteX6" fmla="*/ 2687444 w 4560848"/>
              <a:gd name="connsiteY6" fmla="*/ 55756 h 2286001"/>
              <a:gd name="connsiteX7" fmla="*/ 3233853 w 4560848"/>
              <a:gd name="connsiteY7" fmla="*/ 289932 h 2286001"/>
              <a:gd name="connsiteX8" fmla="*/ 3635297 w 4560848"/>
              <a:gd name="connsiteY8" fmla="*/ 535259 h 2286001"/>
              <a:gd name="connsiteX9" fmla="*/ 3958683 w 4560848"/>
              <a:gd name="connsiteY9" fmla="*/ 925551 h 2286001"/>
              <a:gd name="connsiteX10" fmla="*/ 4248614 w 4560848"/>
              <a:gd name="connsiteY10" fmla="*/ 1483112 h 2286001"/>
              <a:gd name="connsiteX11" fmla="*/ 4360126 w 4560848"/>
              <a:gd name="connsiteY11" fmla="*/ 1761893 h 2286001"/>
              <a:gd name="connsiteX12" fmla="*/ 4527395 w 4560848"/>
              <a:gd name="connsiteY12" fmla="*/ 1583474 h 2286001"/>
              <a:gd name="connsiteX13" fmla="*/ 4560848 w 4560848"/>
              <a:gd name="connsiteY13" fmla="*/ 2286001 h 2286001"/>
              <a:gd name="connsiteX14" fmla="*/ 3947532 w 4560848"/>
              <a:gd name="connsiteY14" fmla="*/ 1962614 h 2286001"/>
              <a:gd name="connsiteX15" fmla="*/ 4226312 w 4560848"/>
              <a:gd name="connsiteY15" fmla="*/ 1873405 h 2286001"/>
              <a:gd name="connsiteX16" fmla="*/ 4159405 w 4560848"/>
              <a:gd name="connsiteY16" fmla="*/ 1683834 h 2286001"/>
              <a:gd name="connsiteX17" fmla="*/ 3824868 w 4560848"/>
              <a:gd name="connsiteY17" fmla="*/ 1182029 h 2286001"/>
              <a:gd name="connsiteX18" fmla="*/ 3479180 w 4560848"/>
              <a:gd name="connsiteY18" fmla="*/ 825190 h 2286001"/>
              <a:gd name="connsiteX19" fmla="*/ 3010829 w 4560848"/>
              <a:gd name="connsiteY19" fmla="*/ 579863 h 2286001"/>
              <a:gd name="connsiteX20" fmla="*/ 2364058 w 4560848"/>
              <a:gd name="connsiteY20" fmla="*/ 423746 h 2286001"/>
              <a:gd name="connsiteX21" fmla="*/ 1973765 w 4560848"/>
              <a:gd name="connsiteY21" fmla="*/ 479502 h 2286001"/>
              <a:gd name="connsiteX22" fmla="*/ 1449658 w 4560848"/>
              <a:gd name="connsiteY22" fmla="*/ 568712 h 2286001"/>
              <a:gd name="connsiteX23" fmla="*/ 1003609 w 4560848"/>
              <a:gd name="connsiteY23" fmla="*/ 747132 h 2286001"/>
              <a:gd name="connsiteX24" fmla="*/ 802887 w 4560848"/>
              <a:gd name="connsiteY24" fmla="*/ 959005 h 2286001"/>
              <a:gd name="connsiteX25" fmla="*/ 691375 w 4560848"/>
              <a:gd name="connsiteY25" fmla="*/ 1293541 h 2286001"/>
              <a:gd name="connsiteX26" fmla="*/ 557561 w 4560848"/>
              <a:gd name="connsiteY26" fmla="*/ 1672683 h 2286001"/>
              <a:gd name="connsiteX27" fmla="*/ 0 w 4560848"/>
              <a:gd name="connsiteY27" fmla="*/ 1315844 h 228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560848" h="2286001">
                <a:moveTo>
                  <a:pt x="0" y="1315844"/>
                </a:moveTo>
                <a:lnTo>
                  <a:pt x="301083" y="769434"/>
                </a:lnTo>
                <a:lnTo>
                  <a:pt x="646770" y="446049"/>
                </a:lnTo>
                <a:lnTo>
                  <a:pt x="1148575" y="211873"/>
                </a:lnTo>
                <a:lnTo>
                  <a:pt x="1605775" y="89210"/>
                </a:lnTo>
                <a:lnTo>
                  <a:pt x="2207941" y="0"/>
                </a:lnTo>
                <a:lnTo>
                  <a:pt x="2687444" y="55756"/>
                </a:lnTo>
                <a:lnTo>
                  <a:pt x="3233853" y="289932"/>
                </a:lnTo>
                <a:lnTo>
                  <a:pt x="3635297" y="535259"/>
                </a:lnTo>
                <a:lnTo>
                  <a:pt x="3958683" y="925551"/>
                </a:lnTo>
                <a:cubicBezTo>
                  <a:pt x="4055327" y="1111405"/>
                  <a:pt x="4181707" y="1343722"/>
                  <a:pt x="4248614" y="1483112"/>
                </a:cubicBezTo>
                <a:cubicBezTo>
                  <a:pt x="4315521" y="1622502"/>
                  <a:pt x="4322955" y="1668966"/>
                  <a:pt x="4360126" y="1761893"/>
                </a:cubicBezTo>
                <a:lnTo>
                  <a:pt x="4527395" y="1583474"/>
                </a:lnTo>
                <a:lnTo>
                  <a:pt x="4560848" y="2286001"/>
                </a:lnTo>
                <a:lnTo>
                  <a:pt x="3947532" y="1962614"/>
                </a:lnTo>
                <a:lnTo>
                  <a:pt x="4226312" y="1873405"/>
                </a:lnTo>
                <a:lnTo>
                  <a:pt x="4159405" y="1683834"/>
                </a:lnTo>
                <a:lnTo>
                  <a:pt x="3824868" y="1182029"/>
                </a:lnTo>
                <a:lnTo>
                  <a:pt x="3479180" y="825190"/>
                </a:lnTo>
                <a:lnTo>
                  <a:pt x="3010829" y="579863"/>
                </a:lnTo>
                <a:lnTo>
                  <a:pt x="2364058" y="423746"/>
                </a:lnTo>
                <a:lnTo>
                  <a:pt x="1973765" y="479502"/>
                </a:lnTo>
                <a:lnTo>
                  <a:pt x="1449658" y="568712"/>
                </a:lnTo>
                <a:lnTo>
                  <a:pt x="1003609" y="747132"/>
                </a:lnTo>
                <a:lnTo>
                  <a:pt x="802887" y="959005"/>
                </a:lnTo>
                <a:lnTo>
                  <a:pt x="691375" y="1293541"/>
                </a:lnTo>
                <a:lnTo>
                  <a:pt x="557561" y="1672683"/>
                </a:lnTo>
                <a:lnTo>
                  <a:pt x="0" y="1315844"/>
                </a:lnTo>
                <a:close/>
              </a:path>
            </a:pathLst>
          </a:custGeom>
          <a:solidFill>
            <a:srgbClr val="FF6600">
              <a:alpha val="66667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1" name="Cloud 80"/>
          <p:cNvSpPr/>
          <p:nvPr/>
        </p:nvSpPr>
        <p:spPr bwMode="auto">
          <a:xfrm rot="11051792">
            <a:off x="927918" y="3364846"/>
            <a:ext cx="1644625" cy="935170"/>
          </a:xfrm>
          <a:prstGeom prst="cloud">
            <a:avLst/>
          </a:prstGeom>
          <a:solidFill>
            <a:srgbClr val="E3CA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2" name="Up-Down Arrow 81"/>
          <p:cNvSpPr/>
          <p:nvPr/>
        </p:nvSpPr>
        <p:spPr bwMode="auto">
          <a:xfrm>
            <a:off x="1455937" y="2911876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3" name="Up-Down Arrow 82"/>
          <p:cNvSpPr/>
          <p:nvPr/>
        </p:nvSpPr>
        <p:spPr bwMode="auto">
          <a:xfrm>
            <a:off x="1553592" y="4163627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4" name="Freeform 83"/>
          <p:cNvSpPr/>
          <p:nvPr/>
        </p:nvSpPr>
        <p:spPr bwMode="auto">
          <a:xfrm rot="13451154">
            <a:off x="1458340" y="4017614"/>
            <a:ext cx="2233939" cy="1121549"/>
          </a:xfrm>
          <a:custGeom>
            <a:avLst/>
            <a:gdLst>
              <a:gd name="connsiteX0" fmla="*/ 535258 w 4293219"/>
              <a:gd name="connsiteY0" fmla="*/ 0 h 1996069"/>
              <a:gd name="connsiteX1" fmla="*/ 1616927 w 4293219"/>
              <a:gd name="connsiteY1" fmla="*/ 44605 h 1996069"/>
              <a:gd name="connsiteX2" fmla="*/ 2352907 w 4293219"/>
              <a:gd name="connsiteY2" fmla="*/ 211874 h 1996069"/>
              <a:gd name="connsiteX3" fmla="*/ 2966224 w 4293219"/>
              <a:gd name="connsiteY3" fmla="*/ 490654 h 1996069"/>
              <a:gd name="connsiteX4" fmla="*/ 3490332 w 4293219"/>
              <a:gd name="connsiteY4" fmla="*/ 825191 h 1996069"/>
              <a:gd name="connsiteX5" fmla="*/ 3958683 w 4293219"/>
              <a:gd name="connsiteY5" fmla="*/ 1315844 h 1996069"/>
              <a:gd name="connsiteX6" fmla="*/ 4125951 w 4293219"/>
              <a:gd name="connsiteY6" fmla="*/ 1126274 h 1996069"/>
              <a:gd name="connsiteX7" fmla="*/ 4293219 w 4293219"/>
              <a:gd name="connsiteY7" fmla="*/ 1996069 h 1996069"/>
              <a:gd name="connsiteX8" fmla="*/ 3412273 w 4293219"/>
              <a:gd name="connsiteY8" fmla="*/ 1739591 h 1996069"/>
              <a:gd name="connsiteX9" fmla="*/ 3624146 w 4293219"/>
              <a:gd name="connsiteY9" fmla="*/ 1628079 h 1996069"/>
              <a:gd name="connsiteX10" fmla="*/ 3245005 w 4293219"/>
              <a:gd name="connsiteY10" fmla="*/ 1126274 h 1996069"/>
              <a:gd name="connsiteX11" fmla="*/ 2653990 w 4293219"/>
              <a:gd name="connsiteY11" fmla="*/ 847493 h 1996069"/>
              <a:gd name="connsiteX12" fmla="*/ 1906858 w 4293219"/>
              <a:gd name="connsiteY12" fmla="*/ 613318 h 1996069"/>
              <a:gd name="connsiteX13" fmla="*/ 1527717 w 4293219"/>
              <a:gd name="connsiteY13" fmla="*/ 635620 h 1996069"/>
              <a:gd name="connsiteX14" fmla="*/ 925551 w 4293219"/>
              <a:gd name="connsiteY14" fmla="*/ 724830 h 1996069"/>
              <a:gd name="connsiteX15" fmla="*/ 546410 w 4293219"/>
              <a:gd name="connsiteY15" fmla="*/ 892098 h 1996069"/>
              <a:gd name="connsiteX16" fmla="*/ 211873 w 4293219"/>
              <a:gd name="connsiteY16" fmla="*/ 1048215 h 1996069"/>
              <a:gd name="connsiteX17" fmla="*/ 55756 w 4293219"/>
              <a:gd name="connsiteY17" fmla="*/ 323386 h 1996069"/>
              <a:gd name="connsiteX18" fmla="*/ 0 w 4293219"/>
              <a:gd name="connsiteY18" fmla="*/ 55757 h 1996069"/>
              <a:gd name="connsiteX19" fmla="*/ 535258 w 4293219"/>
              <a:gd name="connsiteY19" fmla="*/ 0 h 1996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293219" h="1996069">
                <a:moveTo>
                  <a:pt x="535258" y="0"/>
                </a:moveTo>
                <a:lnTo>
                  <a:pt x="1616927" y="44605"/>
                </a:lnTo>
                <a:lnTo>
                  <a:pt x="2352907" y="211874"/>
                </a:lnTo>
                <a:lnTo>
                  <a:pt x="2966224" y="490654"/>
                </a:lnTo>
                <a:lnTo>
                  <a:pt x="3490332" y="825191"/>
                </a:lnTo>
                <a:lnTo>
                  <a:pt x="3958683" y="1315844"/>
                </a:lnTo>
                <a:lnTo>
                  <a:pt x="4125951" y="1126274"/>
                </a:lnTo>
                <a:lnTo>
                  <a:pt x="4293219" y="1996069"/>
                </a:lnTo>
                <a:lnTo>
                  <a:pt x="3412273" y="1739591"/>
                </a:lnTo>
                <a:lnTo>
                  <a:pt x="3624146" y="1628079"/>
                </a:lnTo>
                <a:lnTo>
                  <a:pt x="3245005" y="1126274"/>
                </a:lnTo>
                <a:lnTo>
                  <a:pt x="2653990" y="847493"/>
                </a:lnTo>
                <a:lnTo>
                  <a:pt x="1906858" y="613318"/>
                </a:lnTo>
                <a:lnTo>
                  <a:pt x="1527717" y="635620"/>
                </a:lnTo>
                <a:lnTo>
                  <a:pt x="925551" y="724830"/>
                </a:lnTo>
                <a:lnTo>
                  <a:pt x="546410" y="892098"/>
                </a:lnTo>
                <a:lnTo>
                  <a:pt x="211873" y="1048215"/>
                </a:lnTo>
                <a:lnTo>
                  <a:pt x="55756" y="323386"/>
                </a:lnTo>
                <a:lnTo>
                  <a:pt x="0" y="55757"/>
                </a:lnTo>
                <a:lnTo>
                  <a:pt x="535258" y="0"/>
                </a:lnTo>
                <a:close/>
              </a:path>
            </a:pathLst>
          </a:custGeom>
          <a:solidFill>
            <a:srgbClr val="FF6600">
              <a:alpha val="66667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 rot="585289">
            <a:off x="4050623" y="1439102"/>
            <a:ext cx="18598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Telco Broadband</a:t>
            </a:r>
            <a:endParaRPr lang="en-GB" dirty="0"/>
          </a:p>
        </p:txBody>
      </p:sp>
      <p:sp>
        <p:nvSpPr>
          <p:cNvPr id="87" name="TextBox 86"/>
          <p:cNvSpPr txBox="1"/>
          <p:nvPr/>
        </p:nvSpPr>
        <p:spPr>
          <a:xfrm rot="18739639">
            <a:off x="2303445" y="2807016"/>
            <a:ext cx="6046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OTT</a:t>
            </a:r>
            <a:endParaRPr lang="en-GB" dirty="0"/>
          </a:p>
        </p:txBody>
      </p:sp>
      <p:sp>
        <p:nvSpPr>
          <p:cNvPr id="88" name="TextBox 87"/>
          <p:cNvSpPr txBox="1"/>
          <p:nvPr/>
        </p:nvSpPr>
        <p:spPr>
          <a:xfrm rot="2889109">
            <a:off x="2145977" y="4770386"/>
            <a:ext cx="6046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OTT</a:t>
            </a:r>
            <a:endParaRPr lang="en-GB" dirty="0"/>
          </a:p>
        </p:txBody>
      </p:sp>
      <p:sp>
        <p:nvSpPr>
          <p:cNvPr id="85" name="TextBox 84"/>
          <p:cNvSpPr txBox="1"/>
          <p:nvPr/>
        </p:nvSpPr>
        <p:spPr>
          <a:xfrm>
            <a:off x="2925218" y="5317725"/>
            <a:ext cx="1605776" cy="492443"/>
          </a:xfrm>
          <a:prstGeom prst="rect">
            <a:avLst/>
          </a:prstGeom>
          <a:solidFill>
            <a:srgbClr val="FFCC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WEB-BASED VIDEO PROVIDER </a:t>
            </a:r>
          </a:p>
        </p:txBody>
      </p:sp>
    </p:spTree>
    <p:extLst>
      <p:ext uri="{BB962C8B-B14F-4D97-AF65-F5344CB8AC3E}">
        <p14:creationId xmlns:p14="http://schemas.microsoft.com/office/powerpoint/2010/main" val="75958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90525" y="387350"/>
            <a:ext cx="2924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 dirty="0"/>
              <a:t>Media Distribution</a:t>
            </a:r>
            <a:endParaRPr lang="en-GB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95288" y="929939"/>
            <a:ext cx="698492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9388" indent="-179388">
              <a:lnSpc>
                <a:spcPct val="150000"/>
              </a:lnSpc>
              <a:buFont typeface="Arial" pitchFamily="34" charset="0"/>
              <a:buChar char="•"/>
            </a:pPr>
            <a:r>
              <a:rPr lang="en-GB" sz="1600" dirty="0"/>
              <a:t>Broadcast</a:t>
            </a:r>
          </a:p>
          <a:p>
            <a:pPr marL="636588" lvl="1" indent="-179388">
              <a:lnSpc>
                <a:spcPct val="150000"/>
              </a:lnSpc>
              <a:buFont typeface="Arial" pitchFamily="34" charset="0"/>
              <a:buChar char="•"/>
            </a:pPr>
            <a:r>
              <a:rPr lang="en-GB" sz="1600" dirty="0"/>
              <a:t>but what is “broadcast?”</a:t>
            </a:r>
          </a:p>
          <a:p>
            <a:pPr marL="636588" lvl="1" indent="-179388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/>
              <a:t>… vs  On Demand</a:t>
            </a:r>
          </a:p>
          <a:p>
            <a:pPr marL="636588" lvl="1" indent="-179388">
              <a:lnSpc>
                <a:spcPct val="150000"/>
              </a:lnSpc>
              <a:buFont typeface="Arial" pitchFamily="34" charset="0"/>
              <a:buChar char="•"/>
            </a:pPr>
            <a:r>
              <a:rPr lang="en-GB" sz="1600" dirty="0"/>
              <a:t>(what are “video servers”? – or any other server) </a:t>
            </a:r>
          </a:p>
          <a:p>
            <a:pPr marL="636588" lvl="1" indent="-179388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/>
              <a:t>digital cinema distribution</a:t>
            </a:r>
            <a:endParaRPr lang="en-GB" sz="1600" dirty="0"/>
          </a:p>
          <a:p>
            <a:pPr marL="636588" lvl="1" indent="-179388">
              <a:lnSpc>
                <a:spcPct val="150000"/>
              </a:lnSpc>
              <a:buFont typeface="Arial" pitchFamily="34" charset="0"/>
              <a:buChar char="•"/>
            </a:pPr>
            <a:endParaRPr lang="en-GB" dirty="0"/>
          </a:p>
          <a:p>
            <a:pPr marL="179388" indent="-179388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/>
              <a:t>Streaming:</a:t>
            </a:r>
          </a:p>
          <a:p>
            <a:pPr marL="636588" lvl="1" indent="-179388">
              <a:lnSpc>
                <a:spcPct val="150000"/>
              </a:lnSpc>
              <a:buFont typeface="Arial" pitchFamily="34" charset="0"/>
              <a:buChar char="•"/>
            </a:pPr>
            <a:r>
              <a:rPr lang="en-GB" sz="1600" dirty="0"/>
              <a:t>DVB – Cable, Satellite, DTTV </a:t>
            </a:r>
          </a:p>
          <a:p>
            <a:pPr marL="636588" lvl="1" indent="-179388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/>
              <a:t>IP-based – IPTV (Telco broadband, OTT) </a:t>
            </a:r>
          </a:p>
          <a:p>
            <a:pPr marL="1093788" lvl="2" indent="-179388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/>
              <a:t>http </a:t>
            </a:r>
          </a:p>
          <a:p>
            <a:pPr marL="1550988" lvl="3" indent="-179388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/>
              <a:t>MPEG → DASH (dynamic adaptive streaming on http)</a:t>
            </a:r>
          </a:p>
          <a:p>
            <a:pPr marL="1550988" lvl="3" indent="-179388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/>
              <a:t>HLS (http live streaming, Apple implemented)</a:t>
            </a:r>
          </a:p>
          <a:p>
            <a:pPr marL="1093788" lvl="2" indent="-179388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 err="1"/>
              <a:t>rtp</a:t>
            </a:r>
            <a:r>
              <a:rPr lang="en-GB" dirty="0"/>
              <a:t> protocol</a:t>
            </a:r>
          </a:p>
          <a:p>
            <a:pPr marL="1093788" lvl="2" indent="-179388">
              <a:lnSpc>
                <a:spcPct val="150000"/>
              </a:lnSpc>
              <a:buFont typeface="Arial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6089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8"/>
          <p:cNvGrpSpPr/>
          <p:nvPr/>
        </p:nvGrpSpPr>
        <p:grpSpPr>
          <a:xfrm>
            <a:off x="7066628" y="3710865"/>
            <a:ext cx="1740020" cy="2388094"/>
            <a:chOff x="7057748" y="4039340"/>
            <a:chExt cx="1953087" cy="2396971"/>
          </a:xfrm>
        </p:grpSpPr>
        <p:sp>
          <p:nvSpPr>
            <p:cNvPr id="5" name="Rectangle 4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6" name="Group 85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7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2" imgW="1714739" imgH="1714739" progId="">
                      <p:embed/>
                    </p:oleObj>
                  </mc:Choice>
                  <mc:Fallback>
                    <p:oleObj name="Photo Editor Photo" r:id="rId2" imgW="1714739" imgH="1714739" progId="">
                      <p:embed/>
                      <p:pic>
                        <p:nvPicPr>
                          <p:cNvPr id="7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9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4" imgW="1714739" imgH="1133633" progId="">
                      <p:embed/>
                    </p:oleObj>
                  </mc:Choice>
                  <mc:Fallback>
                    <p:oleObj name="Photo Editor Photo" r:id="rId4" imgW="1714739" imgH="1133633" progId="">
                      <p:embed/>
                      <p:pic>
                        <p:nvPicPr>
                          <p:cNvPr id="9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1" name="Group 75"/>
          <p:cNvGrpSpPr/>
          <p:nvPr/>
        </p:nvGrpSpPr>
        <p:grpSpPr>
          <a:xfrm>
            <a:off x="7013362" y="3773009"/>
            <a:ext cx="1740020" cy="2388094"/>
            <a:chOff x="7057748" y="4039340"/>
            <a:chExt cx="1953087" cy="2396971"/>
          </a:xfrm>
        </p:grpSpPr>
        <p:sp>
          <p:nvSpPr>
            <p:cNvPr id="12" name="Rectangle 11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3" name="Group 100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14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6" imgW="1714739" imgH="1714739" progId="">
                      <p:embed/>
                    </p:oleObj>
                  </mc:Choice>
                  <mc:Fallback>
                    <p:oleObj name="Photo Editor Photo" r:id="rId6" imgW="1714739" imgH="1714739" progId="">
                      <p:embed/>
                      <p:pic>
                        <p:nvPicPr>
                          <p:cNvPr id="14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6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7" imgW="1714739" imgH="1133633" progId="">
                      <p:embed/>
                    </p:oleObj>
                  </mc:Choice>
                  <mc:Fallback>
                    <p:oleObj name="Photo Editor Photo" r:id="rId7" imgW="1714739" imgH="1133633" progId="">
                      <p:embed/>
                      <p:pic>
                        <p:nvPicPr>
                          <p:cNvPr id="16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8" name="Group 82"/>
          <p:cNvGrpSpPr/>
          <p:nvPr/>
        </p:nvGrpSpPr>
        <p:grpSpPr>
          <a:xfrm>
            <a:off x="6933463" y="3844030"/>
            <a:ext cx="1740020" cy="2388094"/>
            <a:chOff x="7057748" y="4039340"/>
            <a:chExt cx="1953087" cy="2396971"/>
          </a:xfrm>
        </p:grpSpPr>
        <p:sp>
          <p:nvSpPr>
            <p:cNvPr id="19" name="Rectangle 18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0" name="Group 10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1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8" imgW="1714739" imgH="1714739" progId="">
                      <p:embed/>
                    </p:oleObj>
                  </mc:Choice>
                  <mc:Fallback>
                    <p:oleObj name="Photo Editor Photo" r:id="rId8" imgW="1714739" imgH="1714739" progId="">
                      <p:embed/>
                      <p:pic>
                        <p:nvPicPr>
                          <p:cNvPr id="21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23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9" imgW="1714739" imgH="1133633" progId="">
                      <p:embed/>
                    </p:oleObj>
                  </mc:Choice>
                  <mc:Fallback>
                    <p:oleObj name="Photo Editor Photo" r:id="rId9" imgW="1714739" imgH="1133633" progId="">
                      <p:embed/>
                      <p:pic>
                        <p:nvPicPr>
                          <p:cNvPr id="23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5" name="Group 89"/>
          <p:cNvGrpSpPr/>
          <p:nvPr/>
        </p:nvGrpSpPr>
        <p:grpSpPr>
          <a:xfrm>
            <a:off x="6862441" y="3923929"/>
            <a:ext cx="1740020" cy="2388094"/>
            <a:chOff x="7057748" y="4039340"/>
            <a:chExt cx="1953087" cy="2396971"/>
          </a:xfrm>
        </p:grpSpPr>
        <p:sp>
          <p:nvSpPr>
            <p:cNvPr id="26" name="Rectangle 25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7" name="Group 74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8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0" imgW="1714739" imgH="1714739" progId="">
                      <p:embed/>
                    </p:oleObj>
                  </mc:Choice>
                  <mc:Fallback>
                    <p:oleObj name="Photo Editor Photo" r:id="rId10" imgW="1714739" imgH="1714739" progId="">
                      <p:embed/>
                      <p:pic>
                        <p:nvPicPr>
                          <p:cNvPr id="28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0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1" imgW="1714739" imgH="1133633" progId="">
                      <p:embed/>
                    </p:oleObj>
                  </mc:Choice>
                  <mc:Fallback>
                    <p:oleObj name="Photo Editor Photo" r:id="rId11" imgW="1714739" imgH="1133633" progId="">
                      <p:embed/>
                      <p:pic>
                        <p:nvPicPr>
                          <p:cNvPr id="30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32" name="Group 96"/>
          <p:cNvGrpSpPr/>
          <p:nvPr/>
        </p:nvGrpSpPr>
        <p:grpSpPr>
          <a:xfrm>
            <a:off x="6809175" y="3986073"/>
            <a:ext cx="1740020" cy="2388094"/>
            <a:chOff x="7057748" y="4039340"/>
            <a:chExt cx="1953087" cy="2396971"/>
          </a:xfrm>
        </p:grpSpPr>
        <p:sp>
          <p:nvSpPr>
            <p:cNvPr id="33" name="Rectangle 32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34" name="Group 66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35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2" imgW="1714739" imgH="1714739" progId="">
                      <p:embed/>
                    </p:oleObj>
                  </mc:Choice>
                  <mc:Fallback>
                    <p:oleObj name="Photo Editor Photo" r:id="rId12" imgW="1714739" imgH="1714739" progId="">
                      <p:embed/>
                      <p:pic>
                        <p:nvPicPr>
                          <p:cNvPr id="35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7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3" imgW="1714739" imgH="1133633" progId="">
                      <p:embed/>
                    </p:oleObj>
                  </mc:Choice>
                  <mc:Fallback>
                    <p:oleObj name="Photo Editor Photo" r:id="rId13" imgW="1714739" imgH="1133633" progId="">
                      <p:embed/>
                      <p:pic>
                        <p:nvPicPr>
                          <p:cNvPr id="37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39" name="Cloud 38"/>
          <p:cNvSpPr/>
          <p:nvPr/>
        </p:nvSpPr>
        <p:spPr bwMode="auto">
          <a:xfrm rot="11051792">
            <a:off x="221206" y="911036"/>
            <a:ext cx="2821780" cy="2420596"/>
          </a:xfrm>
          <a:prstGeom prst="cloud">
            <a:avLst/>
          </a:prstGeom>
          <a:solidFill>
            <a:srgbClr val="E3CA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40" name="Group 104"/>
          <p:cNvGrpSpPr/>
          <p:nvPr/>
        </p:nvGrpSpPr>
        <p:grpSpPr>
          <a:xfrm>
            <a:off x="6729276" y="4057094"/>
            <a:ext cx="1740020" cy="2388094"/>
            <a:chOff x="7057748" y="4039340"/>
            <a:chExt cx="1953087" cy="2396971"/>
          </a:xfrm>
        </p:grpSpPr>
        <p:sp>
          <p:nvSpPr>
            <p:cNvPr id="41" name="Rectangle 40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42" name="Group 3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43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4" imgW="1714739" imgH="1714739" progId="">
                      <p:embed/>
                    </p:oleObj>
                  </mc:Choice>
                  <mc:Fallback>
                    <p:oleObj name="Photo Editor Photo" r:id="rId14" imgW="1714739" imgH="1714739" progId="">
                      <p:embed/>
                      <p:pic>
                        <p:nvPicPr>
                          <p:cNvPr id="43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45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5" imgW="1714739" imgH="1133633" progId="">
                      <p:embed/>
                    </p:oleObj>
                  </mc:Choice>
                  <mc:Fallback>
                    <p:oleObj name="Photo Editor Photo" r:id="rId15" imgW="1714739" imgH="1133633" progId="">
                      <p:embed/>
                      <p:pic>
                        <p:nvPicPr>
                          <p:cNvPr id="45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" name="Rectangle 45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1095725" y="1975335"/>
            <a:ext cx="7397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8" name="Picture 4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81000" y="1149105"/>
            <a:ext cx="2575264" cy="1931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" name="Text Box 29"/>
          <p:cNvSpPr txBox="1">
            <a:spLocks noChangeArrowheads="1"/>
          </p:cNvSpPr>
          <p:nvPr/>
        </p:nvSpPr>
        <p:spPr bwMode="auto">
          <a:xfrm>
            <a:off x="1642457" y="1698431"/>
            <a:ext cx="113625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100" b="1" dirty="0">
                <a:solidFill>
                  <a:srgbClr val="FFFF00"/>
                </a:solidFill>
              </a:rPr>
              <a:t>VOD and 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Various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Functions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(Servers, etc)</a:t>
            </a:r>
          </a:p>
          <a:p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503418" y="5397623"/>
            <a:ext cx="1208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Network Access Equipment</a:t>
            </a:r>
          </a:p>
        </p:txBody>
      </p:sp>
      <p:grpSp>
        <p:nvGrpSpPr>
          <p:cNvPr id="55" name="Group 122"/>
          <p:cNvGrpSpPr/>
          <p:nvPr/>
        </p:nvGrpSpPr>
        <p:grpSpPr>
          <a:xfrm>
            <a:off x="6649374" y="4136995"/>
            <a:ext cx="1748901" cy="2361460"/>
            <a:chOff x="7037918" y="4039340"/>
            <a:chExt cx="1953087" cy="2540216"/>
          </a:xfrm>
        </p:grpSpPr>
        <p:sp>
          <p:nvSpPr>
            <p:cNvPr id="56" name="Rectangle 55"/>
            <p:cNvSpPr/>
            <p:nvPr/>
          </p:nvSpPr>
          <p:spPr bwMode="auto">
            <a:xfrm>
              <a:off x="7037918" y="4039340"/>
              <a:ext cx="1953087" cy="254021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57" name="Group 32"/>
            <p:cNvGrpSpPr/>
            <p:nvPr/>
          </p:nvGrpSpPr>
          <p:grpSpPr>
            <a:xfrm>
              <a:off x="7125021" y="4448324"/>
              <a:ext cx="1746512" cy="2077782"/>
              <a:chOff x="7125021" y="4448324"/>
              <a:chExt cx="1746512" cy="2077782"/>
            </a:xfrm>
          </p:grpSpPr>
          <p:graphicFrame>
            <p:nvGraphicFramePr>
              <p:cNvPr id="58" name="Object 111"/>
              <p:cNvGraphicFramePr>
                <a:graphicFrameLocks noChangeAspect="1"/>
              </p:cNvGraphicFramePr>
              <p:nvPr/>
            </p:nvGraphicFramePr>
            <p:xfrm>
              <a:off x="7549992" y="5278331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7" imgW="1714739" imgH="1714739" progId="">
                      <p:embed/>
                    </p:oleObj>
                  </mc:Choice>
                  <mc:Fallback>
                    <p:oleObj name="Photo Editor Photo" r:id="rId17" imgW="1714739" imgH="1714739" progId="">
                      <p:embed/>
                      <p:pic>
                        <p:nvPicPr>
                          <p:cNvPr id="58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49992" y="5278331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9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062558" y="4971098"/>
                <a:ext cx="111125" cy="850899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60" name="Object 116"/>
              <p:cNvGraphicFramePr>
                <a:graphicFrameLocks noChangeAspect="1"/>
              </p:cNvGraphicFramePr>
              <p:nvPr/>
            </p:nvGraphicFramePr>
            <p:xfrm>
              <a:off x="7880934" y="4448324"/>
              <a:ext cx="990599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8" imgW="1714739" imgH="1133633" progId="">
                      <p:embed/>
                    </p:oleObj>
                  </mc:Choice>
                  <mc:Fallback>
                    <p:oleObj name="Photo Editor Photo" r:id="rId18" imgW="1714739" imgH="1133633" progId="">
                      <p:embed/>
                      <p:pic>
                        <p:nvPicPr>
                          <p:cNvPr id="60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80934" y="4448324"/>
                            <a:ext cx="990599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sp>
            <p:nvSpPr>
              <p:cNvPr id="62" name="TextBox 31"/>
              <p:cNvSpPr txBox="1"/>
              <p:nvPr/>
            </p:nvSpPr>
            <p:spPr>
              <a:xfrm>
                <a:off x="7685384" y="5132495"/>
                <a:ext cx="1018112" cy="297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FFFF00"/>
                    </a:solidFill>
                  </a:rPr>
                  <a:t>STB, etc</a:t>
                </a:r>
              </a:p>
            </p:txBody>
          </p:sp>
        </p:grpSp>
      </p:grpSp>
      <p:cxnSp>
        <p:nvCxnSpPr>
          <p:cNvPr id="63" name="Straight Arrow Connector 62"/>
          <p:cNvCxnSpPr/>
          <p:nvPr/>
        </p:nvCxnSpPr>
        <p:spPr bwMode="auto">
          <a:xfrm flipV="1">
            <a:off x="6516210" y="5388746"/>
            <a:ext cx="292962" cy="221941"/>
          </a:xfrm>
          <a:prstGeom prst="straightConnector1">
            <a:avLst/>
          </a:prstGeom>
          <a:noFill/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4" name="TextBox 63"/>
          <p:cNvSpPr txBox="1"/>
          <p:nvPr/>
        </p:nvSpPr>
        <p:spPr>
          <a:xfrm>
            <a:off x="7146523" y="3292285"/>
            <a:ext cx="1615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End Users</a:t>
            </a:r>
          </a:p>
        </p:txBody>
      </p:sp>
      <p:sp>
        <p:nvSpPr>
          <p:cNvPr id="65" name="Text Box 31"/>
          <p:cNvSpPr txBox="1">
            <a:spLocks noChangeArrowheads="1"/>
          </p:cNvSpPr>
          <p:nvPr/>
        </p:nvSpPr>
        <p:spPr bwMode="auto">
          <a:xfrm>
            <a:off x="381000" y="1149341"/>
            <a:ext cx="1604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</a:rPr>
              <a:t>Video Head-End</a:t>
            </a:r>
            <a:endParaRPr lang="en-GB" sz="1400" dirty="0">
              <a:solidFill>
                <a:srgbClr val="FFFF00"/>
              </a:solidFill>
            </a:endParaRPr>
          </a:p>
        </p:txBody>
      </p:sp>
      <p:pic>
        <p:nvPicPr>
          <p:cNvPr id="66" name="Picture 23" descr="C:\Users\jdfoss\Desktop\Clipboard01.gif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7123193" y="4200807"/>
            <a:ext cx="407782" cy="407782"/>
          </a:xfrm>
          <a:prstGeom prst="rect">
            <a:avLst/>
          </a:prstGeom>
          <a:noFill/>
        </p:spPr>
      </p:pic>
      <p:cxnSp>
        <p:nvCxnSpPr>
          <p:cNvPr id="67" name="Straight Connector 66"/>
          <p:cNvCxnSpPr/>
          <p:nvPr/>
        </p:nvCxnSpPr>
        <p:spPr bwMode="auto">
          <a:xfrm>
            <a:off x="7052650" y="4852657"/>
            <a:ext cx="443619" cy="181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8" name="Straight Connector 67"/>
          <p:cNvCxnSpPr/>
          <p:nvPr/>
        </p:nvCxnSpPr>
        <p:spPr bwMode="auto">
          <a:xfrm>
            <a:off x="7034544" y="4943194"/>
            <a:ext cx="516046" cy="24444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4" name="Up-Down Arrow 113"/>
          <p:cNvSpPr/>
          <p:nvPr/>
        </p:nvSpPr>
        <p:spPr bwMode="auto">
          <a:xfrm rot="17823815">
            <a:off x="3994952" y="2015231"/>
            <a:ext cx="1376038" cy="3160450"/>
          </a:xfrm>
          <a:prstGeom prst="upDownArrow">
            <a:avLst/>
          </a:prstGeom>
          <a:solidFill>
            <a:srgbClr val="E3CAC1"/>
          </a:solidFill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8" name="Rectangle 137"/>
          <p:cNvSpPr/>
          <p:nvPr/>
        </p:nvSpPr>
        <p:spPr bwMode="auto">
          <a:xfrm>
            <a:off x="129396" y="586596"/>
            <a:ext cx="8842076" cy="6003985"/>
          </a:xfrm>
          <a:prstGeom prst="rect">
            <a:avLst/>
          </a:prstGeom>
          <a:solidFill>
            <a:srgbClr val="FFFFFF">
              <a:alpha val="74902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139" name="Group 138"/>
          <p:cNvGrpSpPr/>
          <p:nvPr/>
        </p:nvGrpSpPr>
        <p:grpSpPr>
          <a:xfrm>
            <a:off x="717550" y="1300163"/>
            <a:ext cx="8094663" cy="4999034"/>
            <a:chOff x="717550" y="1300163"/>
            <a:chExt cx="8094663" cy="4999034"/>
          </a:xfrm>
        </p:grpSpPr>
        <p:sp>
          <p:nvSpPr>
            <p:cNvPr id="140" name="TextBox 3"/>
            <p:cNvSpPr txBox="1">
              <a:spLocks noChangeArrowheads="1"/>
            </p:cNvSpPr>
            <p:nvPr/>
          </p:nvSpPr>
          <p:spPr bwMode="auto">
            <a:xfrm>
              <a:off x="717550" y="1300163"/>
              <a:ext cx="1027113" cy="584775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GB" sz="1600">
                  <a:solidFill>
                    <a:srgbClr val="FFFF00"/>
                  </a:solidFill>
                </a:rPr>
                <a:t>Off air</a:t>
              </a:r>
            </a:p>
            <a:p>
              <a:r>
                <a:rPr lang="en-GB" sz="1600">
                  <a:solidFill>
                    <a:srgbClr val="FFFF00"/>
                  </a:solidFill>
                </a:rPr>
                <a:t>Content</a:t>
              </a:r>
            </a:p>
          </p:txBody>
        </p:sp>
        <p:sp>
          <p:nvSpPr>
            <p:cNvPr id="141" name="TextBox 4"/>
            <p:cNvSpPr txBox="1">
              <a:spLocks noChangeArrowheads="1"/>
            </p:cNvSpPr>
            <p:nvPr/>
          </p:nvSpPr>
          <p:spPr bwMode="auto">
            <a:xfrm>
              <a:off x="717550" y="2046288"/>
              <a:ext cx="1027113" cy="584775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GB" sz="1600">
                  <a:solidFill>
                    <a:srgbClr val="FFFF00"/>
                  </a:solidFill>
                </a:rPr>
                <a:t>Local </a:t>
              </a:r>
            </a:p>
            <a:p>
              <a:r>
                <a:rPr lang="en-GB" sz="1600">
                  <a:solidFill>
                    <a:srgbClr val="FFFF00"/>
                  </a:solidFill>
                </a:rPr>
                <a:t>Content</a:t>
              </a:r>
            </a:p>
          </p:txBody>
        </p:sp>
        <p:sp>
          <p:nvSpPr>
            <p:cNvPr id="142" name="TextBox 5"/>
            <p:cNvSpPr txBox="1">
              <a:spLocks noChangeArrowheads="1"/>
            </p:cNvSpPr>
            <p:nvPr/>
          </p:nvSpPr>
          <p:spPr bwMode="auto">
            <a:xfrm>
              <a:off x="2136775" y="1657350"/>
              <a:ext cx="1418978" cy="584775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600" dirty="0">
                  <a:solidFill>
                    <a:srgbClr val="FFFF00"/>
                  </a:solidFill>
                </a:rPr>
                <a:t>Encoding /</a:t>
              </a:r>
            </a:p>
            <a:p>
              <a:r>
                <a:rPr lang="en-GB" sz="1600" dirty="0">
                  <a:solidFill>
                    <a:srgbClr val="FFFF00"/>
                  </a:solidFill>
                </a:rPr>
                <a:t>Transcoding</a:t>
              </a:r>
            </a:p>
          </p:txBody>
        </p:sp>
        <p:sp>
          <p:nvSpPr>
            <p:cNvPr id="143" name="Right Arrow 13"/>
            <p:cNvSpPr>
              <a:spLocks noChangeArrowheads="1"/>
            </p:cNvSpPr>
            <p:nvPr/>
          </p:nvSpPr>
          <p:spPr bwMode="auto">
            <a:xfrm rot="16200000">
              <a:off x="1817023" y="2824141"/>
              <a:ext cx="4114799" cy="2835314"/>
            </a:xfrm>
            <a:prstGeom prst="rightArrow">
              <a:avLst>
                <a:gd name="adj1" fmla="val 72176"/>
                <a:gd name="adj2" fmla="val 64818"/>
              </a:avLst>
            </a:prstGeom>
            <a:solidFill>
              <a:srgbClr val="FF7D7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44" name="TextBox 6"/>
            <p:cNvSpPr txBox="1">
              <a:spLocks noChangeArrowheads="1"/>
            </p:cNvSpPr>
            <p:nvPr/>
          </p:nvSpPr>
          <p:spPr bwMode="auto">
            <a:xfrm>
              <a:off x="3188255" y="3140658"/>
              <a:ext cx="1412663" cy="584775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sz="1600">
                  <a:solidFill>
                    <a:srgbClr val="FFFF00"/>
                  </a:solidFill>
                </a:rPr>
                <a:t>Conditional</a:t>
              </a:r>
            </a:p>
            <a:p>
              <a:r>
                <a:rPr lang="en-GB" sz="1600">
                  <a:solidFill>
                    <a:srgbClr val="FFFF00"/>
                  </a:solidFill>
                </a:rPr>
                <a:t>Access</a:t>
              </a:r>
            </a:p>
          </p:txBody>
        </p:sp>
        <p:sp>
          <p:nvSpPr>
            <p:cNvPr id="145" name="TextBox 7"/>
            <p:cNvSpPr txBox="1">
              <a:spLocks noChangeArrowheads="1"/>
            </p:cNvSpPr>
            <p:nvPr/>
          </p:nvSpPr>
          <p:spPr bwMode="auto">
            <a:xfrm>
              <a:off x="3177745" y="3780494"/>
              <a:ext cx="1423561" cy="338554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sz="1600">
                  <a:solidFill>
                    <a:srgbClr val="FFFF00"/>
                  </a:solidFill>
                </a:rPr>
                <a:t>EPG</a:t>
              </a:r>
            </a:p>
          </p:txBody>
        </p:sp>
        <p:sp>
          <p:nvSpPr>
            <p:cNvPr id="146" name="TextBox 8"/>
            <p:cNvSpPr txBox="1">
              <a:spLocks noChangeArrowheads="1"/>
            </p:cNvSpPr>
            <p:nvPr/>
          </p:nvSpPr>
          <p:spPr bwMode="auto">
            <a:xfrm>
              <a:off x="3161942" y="5762068"/>
              <a:ext cx="1423561" cy="430887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sz="1100" dirty="0">
                  <a:solidFill>
                    <a:srgbClr val="FFFF00"/>
                  </a:solidFill>
                </a:rPr>
                <a:t>Additional Services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6088063" y="1552575"/>
              <a:ext cx="1515158" cy="746358"/>
            </a:xfrm>
            <a:prstGeom prst="rect">
              <a:avLst/>
            </a:prstGeom>
            <a:solidFill>
              <a:srgbClr val="C00000"/>
            </a:solidFill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 sz="1600" dirty="0">
                  <a:solidFill>
                    <a:srgbClr val="FFFF00"/>
                  </a:solidFill>
                </a:rPr>
                <a:t>Prepare for </a:t>
              </a:r>
            </a:p>
            <a:p>
              <a:pPr>
                <a:defRPr/>
              </a:pPr>
              <a:r>
                <a:rPr lang="en-GB" sz="1600" dirty="0">
                  <a:solidFill>
                    <a:srgbClr val="FFFF00"/>
                  </a:solidFill>
                </a:rPr>
                <a:t>Transmission</a:t>
              </a:r>
            </a:p>
            <a:p>
              <a:pPr>
                <a:defRPr/>
              </a:pPr>
              <a:r>
                <a:rPr lang="en-GB" sz="1000" dirty="0">
                  <a:solidFill>
                    <a:srgbClr val="FFFF00"/>
                  </a:solidFill>
                </a:rPr>
                <a:t>modulation, etc</a:t>
              </a:r>
            </a:p>
          </p:txBody>
        </p:sp>
        <p:sp>
          <p:nvSpPr>
            <p:cNvPr id="148" name="Right Arrow 10"/>
            <p:cNvSpPr>
              <a:spLocks noChangeArrowheads="1"/>
            </p:cNvSpPr>
            <p:nvPr/>
          </p:nvSpPr>
          <p:spPr bwMode="auto">
            <a:xfrm>
              <a:off x="1839913" y="1574800"/>
              <a:ext cx="261937" cy="312738"/>
            </a:xfrm>
            <a:prstGeom prst="rightArrow">
              <a:avLst>
                <a:gd name="adj1" fmla="val 50000"/>
                <a:gd name="adj2" fmla="val 69644"/>
              </a:avLst>
            </a:prstGeom>
            <a:solidFill>
              <a:srgbClr val="C0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9" name="Right Arrow 11"/>
            <p:cNvSpPr>
              <a:spLocks noChangeArrowheads="1"/>
            </p:cNvSpPr>
            <p:nvPr/>
          </p:nvSpPr>
          <p:spPr bwMode="auto">
            <a:xfrm>
              <a:off x="1819275" y="1993900"/>
              <a:ext cx="261938" cy="314325"/>
            </a:xfrm>
            <a:prstGeom prst="rightArrow">
              <a:avLst>
                <a:gd name="adj1" fmla="val 50000"/>
                <a:gd name="adj2" fmla="val 69644"/>
              </a:avLst>
            </a:prstGeom>
            <a:solidFill>
              <a:srgbClr val="C0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0" name="Right Arrow 12"/>
            <p:cNvSpPr>
              <a:spLocks noChangeArrowheads="1"/>
            </p:cNvSpPr>
            <p:nvPr/>
          </p:nvSpPr>
          <p:spPr bwMode="auto">
            <a:xfrm>
              <a:off x="3595688" y="1700213"/>
              <a:ext cx="461962" cy="501650"/>
            </a:xfrm>
            <a:prstGeom prst="rightArrow">
              <a:avLst>
                <a:gd name="adj1" fmla="val 50000"/>
                <a:gd name="adj2" fmla="val 69644"/>
              </a:avLst>
            </a:prstGeom>
            <a:solidFill>
              <a:srgbClr val="C0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1" name="Bent-Up Arrow 150"/>
            <p:cNvSpPr/>
            <p:nvPr/>
          </p:nvSpPr>
          <p:spPr bwMode="auto">
            <a:xfrm flipV="1">
              <a:off x="7672388" y="1784350"/>
              <a:ext cx="631825" cy="998538"/>
            </a:xfrm>
            <a:prstGeom prst="bentUpArrow">
              <a:avLst>
                <a:gd name="adj1" fmla="val 46667"/>
                <a:gd name="adj2" fmla="val 38333"/>
                <a:gd name="adj3" fmla="val 50000"/>
              </a:avLst>
            </a:prstGeom>
            <a:solidFill>
              <a:srgbClr val="C0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 sz="1800"/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7297738" y="2887663"/>
              <a:ext cx="1514475" cy="1262062"/>
            </a:xfrm>
            <a:prstGeom prst="rect">
              <a:avLst/>
            </a:prstGeom>
            <a:solidFill>
              <a:srgbClr val="E3CAC1"/>
            </a:solidFill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 dirty="0"/>
                <a:t>Transmission</a:t>
              </a:r>
            </a:p>
            <a:p>
              <a:pPr>
                <a:defRPr/>
              </a:pPr>
              <a:r>
                <a:rPr lang="en-GB" dirty="0"/>
                <a:t>Network</a:t>
              </a:r>
            </a:p>
            <a:p>
              <a:pPr marL="84138" indent="-84138">
                <a:buFont typeface="Arial" pitchFamily="34" charset="0"/>
                <a:buChar char="•"/>
                <a:defRPr/>
              </a:pPr>
              <a:r>
                <a:rPr lang="en-GB" sz="1100" dirty="0"/>
                <a:t>cable</a:t>
              </a:r>
            </a:p>
            <a:p>
              <a:pPr marL="84138" indent="-84138">
                <a:buFont typeface="Arial" pitchFamily="34" charset="0"/>
                <a:buChar char="•"/>
                <a:defRPr/>
              </a:pPr>
              <a:r>
                <a:rPr lang="en-GB" sz="1100" dirty="0"/>
                <a:t>satellite</a:t>
              </a:r>
            </a:p>
            <a:p>
              <a:pPr marL="84138" indent="-84138">
                <a:buFont typeface="Arial" pitchFamily="34" charset="0"/>
                <a:buChar char="•"/>
                <a:defRPr/>
              </a:pPr>
              <a:r>
                <a:rPr lang="en-GB" sz="1100" dirty="0"/>
                <a:t>Telco IPTV</a:t>
              </a:r>
            </a:p>
            <a:p>
              <a:pPr marL="84138" indent="-84138">
                <a:buFont typeface="Arial" pitchFamily="34" charset="0"/>
                <a:buChar char="•"/>
                <a:defRPr/>
              </a:pPr>
              <a:r>
                <a:rPr lang="en-GB" sz="1100" dirty="0"/>
                <a:t>Web</a:t>
              </a:r>
            </a:p>
          </p:txBody>
        </p:sp>
        <p:sp>
          <p:nvSpPr>
            <p:cNvPr id="153" name="Right Arrow 18"/>
            <p:cNvSpPr>
              <a:spLocks noChangeArrowheads="1"/>
            </p:cNvSpPr>
            <p:nvPr/>
          </p:nvSpPr>
          <p:spPr bwMode="auto">
            <a:xfrm rot="5400000">
              <a:off x="7890669" y="4188619"/>
              <a:ext cx="352425" cy="503237"/>
            </a:xfrm>
            <a:prstGeom prst="rightArrow">
              <a:avLst>
                <a:gd name="adj1" fmla="val 50000"/>
                <a:gd name="adj2" fmla="val 69644"/>
              </a:avLst>
            </a:prstGeom>
            <a:solidFill>
              <a:srgbClr val="E3CAC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7307263" y="4664075"/>
              <a:ext cx="1490662" cy="1230313"/>
            </a:xfrm>
            <a:prstGeom prst="rect">
              <a:avLst/>
            </a:prstGeom>
            <a:solidFill>
              <a:srgbClr val="E3CAC1"/>
            </a:solidFill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GB" dirty="0"/>
                <a:t>Customer</a:t>
              </a:r>
            </a:p>
            <a:p>
              <a:pPr marL="84138" indent="-84138">
                <a:defRPr/>
              </a:pPr>
              <a:r>
                <a:rPr lang="en-GB" dirty="0"/>
                <a:t>Home</a:t>
              </a:r>
            </a:p>
            <a:p>
              <a:pPr marL="84138" indent="-84138">
                <a:buFont typeface="Arial" pitchFamily="34" charset="0"/>
                <a:buChar char="•"/>
                <a:defRPr/>
              </a:pPr>
              <a:r>
                <a:rPr lang="en-GB" sz="1050" dirty="0"/>
                <a:t>Modem</a:t>
              </a:r>
            </a:p>
            <a:p>
              <a:pPr marL="84138" indent="-84138">
                <a:buFont typeface="Arial" pitchFamily="34" charset="0"/>
                <a:buChar char="•"/>
                <a:defRPr/>
              </a:pPr>
              <a:r>
                <a:rPr lang="en-GB" sz="1050" dirty="0"/>
                <a:t>Set Top Box</a:t>
              </a:r>
            </a:p>
            <a:p>
              <a:pPr marL="273050" lvl="1" indent="-84138">
                <a:buFont typeface="Arial" pitchFamily="34" charset="0"/>
                <a:buChar char="•"/>
                <a:defRPr/>
              </a:pPr>
              <a:r>
                <a:rPr lang="en-GB" sz="1050" dirty="0"/>
                <a:t>inc CA</a:t>
              </a:r>
            </a:p>
            <a:p>
              <a:pPr marL="84138" indent="-84138">
                <a:buFont typeface="Arial" pitchFamily="34" charset="0"/>
                <a:buChar char="•"/>
                <a:defRPr/>
              </a:pPr>
              <a:r>
                <a:rPr lang="en-GB" sz="1050" dirty="0"/>
                <a:t>TV</a:t>
              </a:r>
            </a:p>
          </p:txBody>
        </p:sp>
        <p:sp>
          <p:nvSpPr>
            <p:cNvPr id="155" name="TextBox 21"/>
            <p:cNvSpPr txBox="1">
              <a:spLocks noChangeArrowheads="1"/>
            </p:cNvSpPr>
            <p:nvPr/>
          </p:nvSpPr>
          <p:spPr bwMode="auto">
            <a:xfrm>
              <a:off x="4102100" y="1668463"/>
              <a:ext cx="1426994" cy="584775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600">
                  <a:solidFill>
                    <a:srgbClr val="FFFF00"/>
                  </a:solidFill>
                </a:rPr>
                <a:t>Multiplexing</a:t>
              </a:r>
            </a:p>
            <a:p>
              <a:endParaRPr lang="en-GB" sz="1600">
                <a:solidFill>
                  <a:srgbClr val="FFFF00"/>
                </a:solidFill>
              </a:endParaRPr>
            </a:p>
          </p:txBody>
        </p:sp>
        <p:sp>
          <p:nvSpPr>
            <p:cNvPr id="156" name="Right Arrow 22"/>
            <p:cNvSpPr>
              <a:spLocks noChangeArrowheads="1"/>
            </p:cNvSpPr>
            <p:nvPr/>
          </p:nvSpPr>
          <p:spPr bwMode="auto">
            <a:xfrm>
              <a:off x="5570538" y="1700213"/>
              <a:ext cx="463550" cy="501650"/>
            </a:xfrm>
            <a:prstGeom prst="rightArrow">
              <a:avLst>
                <a:gd name="adj1" fmla="val 50000"/>
                <a:gd name="adj2" fmla="val 69644"/>
              </a:avLst>
            </a:prstGeom>
            <a:solidFill>
              <a:srgbClr val="C0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7" name="TextBox 7"/>
            <p:cNvSpPr txBox="1">
              <a:spLocks noChangeArrowheads="1"/>
            </p:cNvSpPr>
            <p:nvPr/>
          </p:nvSpPr>
          <p:spPr bwMode="auto">
            <a:xfrm>
              <a:off x="3177745" y="4186669"/>
              <a:ext cx="1423561" cy="338554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sz="1600" dirty="0">
                  <a:solidFill>
                    <a:srgbClr val="FFFF00"/>
                  </a:solidFill>
                </a:rPr>
                <a:t>Middleware</a:t>
              </a:r>
            </a:p>
          </p:txBody>
        </p:sp>
        <p:sp>
          <p:nvSpPr>
            <p:cNvPr id="158" name="TextBox 7"/>
            <p:cNvSpPr txBox="1">
              <a:spLocks noChangeArrowheads="1"/>
            </p:cNvSpPr>
            <p:nvPr/>
          </p:nvSpPr>
          <p:spPr bwMode="auto">
            <a:xfrm>
              <a:off x="3155304" y="4597318"/>
              <a:ext cx="1423561" cy="461665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sz="1200" dirty="0" err="1">
                  <a:solidFill>
                    <a:srgbClr val="FFFF00"/>
                  </a:solidFill>
                </a:rPr>
                <a:t>Advertisment</a:t>
              </a:r>
              <a:r>
                <a:rPr lang="en-GB" sz="1200" dirty="0">
                  <a:solidFill>
                    <a:srgbClr val="FFFF00"/>
                  </a:solidFill>
                </a:rPr>
                <a:t>  Inserts</a:t>
              </a:r>
            </a:p>
          </p:txBody>
        </p:sp>
        <p:sp>
          <p:nvSpPr>
            <p:cNvPr id="159" name="TextBox 7"/>
            <p:cNvSpPr txBox="1">
              <a:spLocks noChangeArrowheads="1"/>
            </p:cNvSpPr>
            <p:nvPr/>
          </p:nvSpPr>
          <p:spPr bwMode="auto">
            <a:xfrm>
              <a:off x="3155304" y="5114555"/>
              <a:ext cx="1423561" cy="276999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sz="1200" dirty="0">
                  <a:solidFill>
                    <a:srgbClr val="FFFF00"/>
                  </a:solidFill>
                </a:rPr>
                <a:t>Authentication</a:t>
              </a:r>
            </a:p>
          </p:txBody>
        </p:sp>
        <p:sp>
          <p:nvSpPr>
            <p:cNvPr id="160" name="TextBox 7"/>
            <p:cNvSpPr txBox="1">
              <a:spLocks noChangeArrowheads="1"/>
            </p:cNvSpPr>
            <p:nvPr/>
          </p:nvSpPr>
          <p:spPr bwMode="auto">
            <a:xfrm>
              <a:off x="3155304" y="5437829"/>
              <a:ext cx="1423561" cy="276999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sz="1200" dirty="0">
                  <a:solidFill>
                    <a:srgbClr val="FFFF00"/>
                  </a:solidFill>
                </a:rPr>
                <a:t>DHCP</a:t>
              </a:r>
            </a:p>
          </p:txBody>
        </p:sp>
      </p:grpSp>
      <p:sp>
        <p:nvSpPr>
          <p:cNvPr id="161" name="Text Box 2"/>
          <p:cNvSpPr txBox="1">
            <a:spLocks noChangeArrowheads="1"/>
          </p:cNvSpPr>
          <p:nvPr/>
        </p:nvSpPr>
        <p:spPr bwMode="auto">
          <a:xfrm>
            <a:off x="346397" y="331788"/>
            <a:ext cx="698300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 dirty="0"/>
              <a:t>The </a:t>
            </a:r>
            <a:r>
              <a:rPr lang="en-GB" sz="2400" b="1" dirty="0" err="1"/>
              <a:t>Headend</a:t>
            </a:r>
            <a:r>
              <a:rPr lang="en-GB" sz="2400" b="1" dirty="0"/>
              <a:t> (Cable, Satellite, Web, Telco ... )</a:t>
            </a:r>
          </a:p>
        </p:txBody>
      </p:sp>
      <p:sp>
        <p:nvSpPr>
          <p:cNvPr id="2" name="Freeform 1"/>
          <p:cNvSpPr/>
          <p:nvPr/>
        </p:nvSpPr>
        <p:spPr bwMode="auto">
          <a:xfrm>
            <a:off x="594360" y="1143000"/>
            <a:ext cx="7616952" cy="5294376"/>
          </a:xfrm>
          <a:custGeom>
            <a:avLst/>
            <a:gdLst>
              <a:gd name="connsiteX0" fmla="*/ 36576 w 7644384"/>
              <a:gd name="connsiteY0" fmla="*/ 18288 h 5312664"/>
              <a:gd name="connsiteX1" fmla="*/ 7644384 w 7644384"/>
              <a:gd name="connsiteY1" fmla="*/ 0 h 5312664"/>
              <a:gd name="connsiteX2" fmla="*/ 7644384 w 7644384"/>
              <a:gd name="connsiteY2" fmla="*/ 585216 h 5312664"/>
              <a:gd name="connsiteX3" fmla="*/ 5193792 w 7644384"/>
              <a:gd name="connsiteY3" fmla="*/ 3209544 h 5312664"/>
              <a:gd name="connsiteX4" fmla="*/ 5202936 w 7644384"/>
              <a:gd name="connsiteY4" fmla="*/ 5294376 h 5312664"/>
              <a:gd name="connsiteX5" fmla="*/ 1929384 w 7644384"/>
              <a:gd name="connsiteY5" fmla="*/ 5312664 h 5312664"/>
              <a:gd name="connsiteX6" fmla="*/ 1088136 w 7644384"/>
              <a:gd name="connsiteY6" fmla="*/ 2606040 h 5312664"/>
              <a:gd name="connsiteX7" fmla="*/ 0 w 7644384"/>
              <a:gd name="connsiteY7" fmla="*/ 1682496 h 5312664"/>
              <a:gd name="connsiteX8" fmla="*/ 36576 w 7644384"/>
              <a:gd name="connsiteY8" fmla="*/ 18288 h 5312664"/>
              <a:gd name="connsiteX0" fmla="*/ 36576 w 7644384"/>
              <a:gd name="connsiteY0" fmla="*/ 0 h 5294376"/>
              <a:gd name="connsiteX1" fmla="*/ 7644384 w 7644384"/>
              <a:gd name="connsiteY1" fmla="*/ 27432 h 5294376"/>
              <a:gd name="connsiteX2" fmla="*/ 7644384 w 7644384"/>
              <a:gd name="connsiteY2" fmla="*/ 566928 h 5294376"/>
              <a:gd name="connsiteX3" fmla="*/ 5193792 w 7644384"/>
              <a:gd name="connsiteY3" fmla="*/ 3191256 h 5294376"/>
              <a:gd name="connsiteX4" fmla="*/ 5202936 w 7644384"/>
              <a:gd name="connsiteY4" fmla="*/ 5276088 h 5294376"/>
              <a:gd name="connsiteX5" fmla="*/ 1929384 w 7644384"/>
              <a:gd name="connsiteY5" fmla="*/ 5294376 h 5294376"/>
              <a:gd name="connsiteX6" fmla="*/ 1088136 w 7644384"/>
              <a:gd name="connsiteY6" fmla="*/ 2587752 h 5294376"/>
              <a:gd name="connsiteX7" fmla="*/ 0 w 7644384"/>
              <a:gd name="connsiteY7" fmla="*/ 1664208 h 5294376"/>
              <a:gd name="connsiteX8" fmla="*/ 36576 w 7644384"/>
              <a:gd name="connsiteY8" fmla="*/ 0 h 5294376"/>
              <a:gd name="connsiteX0" fmla="*/ 36576 w 7644384"/>
              <a:gd name="connsiteY0" fmla="*/ 0 h 5294376"/>
              <a:gd name="connsiteX1" fmla="*/ 7644384 w 7644384"/>
              <a:gd name="connsiteY1" fmla="*/ 27432 h 5294376"/>
              <a:gd name="connsiteX2" fmla="*/ 7644384 w 7644384"/>
              <a:gd name="connsiteY2" fmla="*/ 566928 h 5294376"/>
              <a:gd name="connsiteX3" fmla="*/ 5193792 w 7644384"/>
              <a:gd name="connsiteY3" fmla="*/ 3191256 h 5294376"/>
              <a:gd name="connsiteX4" fmla="*/ 5202936 w 7644384"/>
              <a:gd name="connsiteY4" fmla="*/ 5276088 h 5294376"/>
              <a:gd name="connsiteX5" fmla="*/ 1929384 w 7644384"/>
              <a:gd name="connsiteY5" fmla="*/ 5294376 h 5294376"/>
              <a:gd name="connsiteX6" fmla="*/ 1472184 w 7644384"/>
              <a:gd name="connsiteY6" fmla="*/ 2880360 h 5294376"/>
              <a:gd name="connsiteX7" fmla="*/ 0 w 7644384"/>
              <a:gd name="connsiteY7" fmla="*/ 1664208 h 5294376"/>
              <a:gd name="connsiteX8" fmla="*/ 36576 w 7644384"/>
              <a:gd name="connsiteY8" fmla="*/ 0 h 5294376"/>
              <a:gd name="connsiteX0" fmla="*/ 9144 w 7616952"/>
              <a:gd name="connsiteY0" fmla="*/ 0 h 5294376"/>
              <a:gd name="connsiteX1" fmla="*/ 7616952 w 7616952"/>
              <a:gd name="connsiteY1" fmla="*/ 27432 h 5294376"/>
              <a:gd name="connsiteX2" fmla="*/ 7616952 w 7616952"/>
              <a:gd name="connsiteY2" fmla="*/ 566928 h 5294376"/>
              <a:gd name="connsiteX3" fmla="*/ 5166360 w 7616952"/>
              <a:gd name="connsiteY3" fmla="*/ 3191256 h 5294376"/>
              <a:gd name="connsiteX4" fmla="*/ 5175504 w 7616952"/>
              <a:gd name="connsiteY4" fmla="*/ 5276088 h 5294376"/>
              <a:gd name="connsiteX5" fmla="*/ 1901952 w 7616952"/>
              <a:gd name="connsiteY5" fmla="*/ 5294376 h 5294376"/>
              <a:gd name="connsiteX6" fmla="*/ 1444752 w 7616952"/>
              <a:gd name="connsiteY6" fmla="*/ 2880360 h 5294376"/>
              <a:gd name="connsiteX7" fmla="*/ 0 w 7616952"/>
              <a:gd name="connsiteY7" fmla="*/ 1664208 h 5294376"/>
              <a:gd name="connsiteX8" fmla="*/ 9144 w 7616952"/>
              <a:gd name="connsiteY8" fmla="*/ 0 h 5294376"/>
              <a:gd name="connsiteX0" fmla="*/ 9144 w 7683859"/>
              <a:gd name="connsiteY0" fmla="*/ 0 h 5294376"/>
              <a:gd name="connsiteX1" fmla="*/ 7683859 w 7683859"/>
              <a:gd name="connsiteY1" fmla="*/ 5130 h 5294376"/>
              <a:gd name="connsiteX2" fmla="*/ 7616952 w 7683859"/>
              <a:gd name="connsiteY2" fmla="*/ 566928 h 5294376"/>
              <a:gd name="connsiteX3" fmla="*/ 5166360 w 7683859"/>
              <a:gd name="connsiteY3" fmla="*/ 3191256 h 5294376"/>
              <a:gd name="connsiteX4" fmla="*/ 5175504 w 7683859"/>
              <a:gd name="connsiteY4" fmla="*/ 5276088 h 5294376"/>
              <a:gd name="connsiteX5" fmla="*/ 1901952 w 7683859"/>
              <a:gd name="connsiteY5" fmla="*/ 5294376 h 5294376"/>
              <a:gd name="connsiteX6" fmla="*/ 1444752 w 7683859"/>
              <a:gd name="connsiteY6" fmla="*/ 2880360 h 5294376"/>
              <a:gd name="connsiteX7" fmla="*/ 0 w 7683859"/>
              <a:gd name="connsiteY7" fmla="*/ 1664208 h 5294376"/>
              <a:gd name="connsiteX8" fmla="*/ 9144 w 7683859"/>
              <a:gd name="connsiteY8" fmla="*/ 0 h 5294376"/>
              <a:gd name="connsiteX0" fmla="*/ 9144 w 7661557"/>
              <a:gd name="connsiteY0" fmla="*/ 0 h 5294376"/>
              <a:gd name="connsiteX1" fmla="*/ 7661557 w 7661557"/>
              <a:gd name="connsiteY1" fmla="*/ 16281 h 5294376"/>
              <a:gd name="connsiteX2" fmla="*/ 7616952 w 7661557"/>
              <a:gd name="connsiteY2" fmla="*/ 566928 h 5294376"/>
              <a:gd name="connsiteX3" fmla="*/ 5166360 w 7661557"/>
              <a:gd name="connsiteY3" fmla="*/ 3191256 h 5294376"/>
              <a:gd name="connsiteX4" fmla="*/ 5175504 w 7661557"/>
              <a:gd name="connsiteY4" fmla="*/ 5276088 h 5294376"/>
              <a:gd name="connsiteX5" fmla="*/ 1901952 w 7661557"/>
              <a:gd name="connsiteY5" fmla="*/ 5294376 h 5294376"/>
              <a:gd name="connsiteX6" fmla="*/ 1444752 w 7661557"/>
              <a:gd name="connsiteY6" fmla="*/ 2880360 h 5294376"/>
              <a:gd name="connsiteX7" fmla="*/ 0 w 7661557"/>
              <a:gd name="connsiteY7" fmla="*/ 1664208 h 5294376"/>
              <a:gd name="connsiteX8" fmla="*/ 9144 w 7661557"/>
              <a:gd name="connsiteY8" fmla="*/ 0 h 5294376"/>
              <a:gd name="connsiteX0" fmla="*/ 9144 w 7628103"/>
              <a:gd name="connsiteY0" fmla="*/ 0 h 5294376"/>
              <a:gd name="connsiteX1" fmla="*/ 7628103 w 7628103"/>
              <a:gd name="connsiteY1" fmla="*/ 27432 h 5294376"/>
              <a:gd name="connsiteX2" fmla="*/ 7616952 w 7628103"/>
              <a:gd name="connsiteY2" fmla="*/ 566928 h 5294376"/>
              <a:gd name="connsiteX3" fmla="*/ 5166360 w 7628103"/>
              <a:gd name="connsiteY3" fmla="*/ 3191256 h 5294376"/>
              <a:gd name="connsiteX4" fmla="*/ 5175504 w 7628103"/>
              <a:gd name="connsiteY4" fmla="*/ 5276088 h 5294376"/>
              <a:gd name="connsiteX5" fmla="*/ 1901952 w 7628103"/>
              <a:gd name="connsiteY5" fmla="*/ 5294376 h 5294376"/>
              <a:gd name="connsiteX6" fmla="*/ 1444752 w 7628103"/>
              <a:gd name="connsiteY6" fmla="*/ 2880360 h 5294376"/>
              <a:gd name="connsiteX7" fmla="*/ 0 w 7628103"/>
              <a:gd name="connsiteY7" fmla="*/ 1664208 h 5294376"/>
              <a:gd name="connsiteX8" fmla="*/ 9144 w 7628103"/>
              <a:gd name="connsiteY8" fmla="*/ 0 h 5294376"/>
              <a:gd name="connsiteX0" fmla="*/ 9144 w 7616952"/>
              <a:gd name="connsiteY0" fmla="*/ 0 h 5294376"/>
              <a:gd name="connsiteX1" fmla="*/ 7616952 w 7616952"/>
              <a:gd name="connsiteY1" fmla="*/ 16281 h 5294376"/>
              <a:gd name="connsiteX2" fmla="*/ 7616952 w 7616952"/>
              <a:gd name="connsiteY2" fmla="*/ 566928 h 5294376"/>
              <a:gd name="connsiteX3" fmla="*/ 5166360 w 7616952"/>
              <a:gd name="connsiteY3" fmla="*/ 3191256 h 5294376"/>
              <a:gd name="connsiteX4" fmla="*/ 5175504 w 7616952"/>
              <a:gd name="connsiteY4" fmla="*/ 5276088 h 5294376"/>
              <a:gd name="connsiteX5" fmla="*/ 1901952 w 7616952"/>
              <a:gd name="connsiteY5" fmla="*/ 5294376 h 5294376"/>
              <a:gd name="connsiteX6" fmla="*/ 1444752 w 7616952"/>
              <a:gd name="connsiteY6" fmla="*/ 2880360 h 5294376"/>
              <a:gd name="connsiteX7" fmla="*/ 0 w 7616952"/>
              <a:gd name="connsiteY7" fmla="*/ 1664208 h 5294376"/>
              <a:gd name="connsiteX8" fmla="*/ 9144 w 7616952"/>
              <a:gd name="connsiteY8" fmla="*/ 0 h 5294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6952" h="5294376">
                <a:moveTo>
                  <a:pt x="9144" y="0"/>
                </a:moveTo>
                <a:lnTo>
                  <a:pt x="7616952" y="16281"/>
                </a:lnTo>
                <a:lnTo>
                  <a:pt x="7616952" y="566928"/>
                </a:lnTo>
                <a:lnTo>
                  <a:pt x="5166360" y="3191256"/>
                </a:lnTo>
                <a:lnTo>
                  <a:pt x="5175504" y="5276088"/>
                </a:lnTo>
                <a:lnTo>
                  <a:pt x="1901952" y="5294376"/>
                </a:lnTo>
                <a:lnTo>
                  <a:pt x="1444752" y="2880360"/>
                </a:lnTo>
                <a:lnTo>
                  <a:pt x="0" y="1664208"/>
                </a:lnTo>
                <a:lnTo>
                  <a:pt x="9144" y="0"/>
                </a:lnTo>
                <a:close/>
              </a:path>
            </a:pathLst>
          </a:custGeom>
          <a:solidFill>
            <a:srgbClr val="FFCC99">
              <a:alpha val="41961"/>
            </a:srgbClr>
          </a:solidFill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044155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animBg="1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381000" y="333375"/>
            <a:ext cx="5070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GB" sz="2400" b="1" dirty="0"/>
              <a:t>DVB - Digital Video Broadcasting</a:t>
            </a:r>
            <a:endParaRPr lang="en-GB" sz="24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831548"/>
            <a:ext cx="2755017" cy="2225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4887035" y="980292"/>
            <a:ext cx="4041494" cy="4924425"/>
          </a:xfrm>
          <a:prstGeom prst="rect">
            <a:avLst/>
          </a:prstGeom>
          <a:solidFill>
            <a:schemeClr val="bg1">
              <a:alpha val="7999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180975" indent="-180975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marL="898525" indent="-898525"/>
            <a:r>
              <a:rPr lang="en-GB" b="1" dirty="0"/>
              <a:t>Standards</a:t>
            </a:r>
          </a:p>
          <a:p>
            <a:pPr marL="182563" indent="-182563"/>
            <a:r>
              <a:rPr lang="en-GB" sz="1400" dirty="0"/>
              <a:t>Satellite 		DVB-S, DVB-S2, SH</a:t>
            </a:r>
          </a:p>
          <a:p>
            <a:pPr marL="182563" indent="-182563"/>
            <a:r>
              <a:rPr lang="en-GB" sz="1400" dirty="0"/>
              <a:t>Cable 		DVB-C, DVB-C2</a:t>
            </a:r>
          </a:p>
          <a:p>
            <a:pPr marL="182563" indent="-182563"/>
            <a:r>
              <a:rPr lang="en-GB" sz="1400" dirty="0"/>
              <a:t>DTT		DVB-T, DVB-T2 </a:t>
            </a:r>
          </a:p>
          <a:p>
            <a:pPr marL="182563" indent="-182563"/>
            <a:r>
              <a:rPr lang="en-GB" sz="1400" dirty="0"/>
              <a:t>DTT for handhelds 	DVB-H, DVB-H2</a:t>
            </a:r>
          </a:p>
          <a:p>
            <a:pPr marL="898525" indent="-898525"/>
            <a:endParaRPr lang="en-GB" sz="1100" dirty="0"/>
          </a:p>
          <a:p>
            <a:pPr marL="898525" indent="-898525"/>
            <a:r>
              <a:rPr lang="en-GB" sz="1000" dirty="0"/>
              <a:t>DVB-3DTV - Frame Compatible Plano-Stereoscopic 3DTV</a:t>
            </a:r>
          </a:p>
          <a:p>
            <a:pPr marL="898525" indent="-898525"/>
            <a:r>
              <a:rPr lang="en-GB" sz="1000" dirty="0"/>
              <a:t>DVB-C2 - 2nd Generation Cable Transmission</a:t>
            </a:r>
          </a:p>
          <a:p>
            <a:pPr marL="898525" indent="-898525"/>
            <a:r>
              <a:rPr lang="en-GB" sz="1000" dirty="0"/>
              <a:t>DVB-CID - Carrier Identification for Satellite Transmission</a:t>
            </a:r>
          </a:p>
          <a:p>
            <a:pPr marL="898525" indent="-898525"/>
            <a:r>
              <a:rPr lang="en-GB" sz="1000" dirty="0"/>
              <a:t>DVB-CPCM - Content Protection and Copy Management</a:t>
            </a:r>
          </a:p>
          <a:p>
            <a:pPr marL="898525" indent="-898525"/>
            <a:r>
              <a:rPr lang="en-GB" sz="1000" dirty="0"/>
              <a:t>DVB-FF - DVB File Format</a:t>
            </a:r>
          </a:p>
          <a:p>
            <a:pPr marL="898525" indent="-898525"/>
            <a:r>
              <a:rPr lang="en-GB" sz="1000" dirty="0"/>
              <a:t>DVB-GEM - Globally Executable MHP</a:t>
            </a:r>
          </a:p>
          <a:p>
            <a:pPr marL="898525" indent="-898525"/>
            <a:r>
              <a:rPr lang="en-GB" sz="1000" dirty="0"/>
              <a:t>DVB-GSE - Generic Stream Encapsulation</a:t>
            </a:r>
          </a:p>
          <a:p>
            <a:pPr marL="898525" indent="-898525"/>
            <a:r>
              <a:rPr lang="en-GB" sz="1000" dirty="0"/>
              <a:t>DVB-H - Broadcasting to Handheld Devices</a:t>
            </a:r>
          </a:p>
          <a:p>
            <a:pPr marL="898525" indent="-898525"/>
            <a:r>
              <a:rPr lang="en-GB" sz="1000" dirty="0"/>
              <a:t>DVB-IPDC - Internet Protocol </a:t>
            </a:r>
            <a:r>
              <a:rPr lang="en-GB" sz="1000" dirty="0" err="1"/>
              <a:t>Datacasting</a:t>
            </a:r>
            <a:endParaRPr lang="en-GB" sz="1000" dirty="0"/>
          </a:p>
          <a:p>
            <a:pPr marL="898525" indent="-898525"/>
            <a:r>
              <a:rPr lang="en-GB" sz="1000" dirty="0"/>
              <a:t>DVB-IPTV - Internet Protocol Television</a:t>
            </a:r>
          </a:p>
          <a:p>
            <a:pPr marL="898525" indent="-898525"/>
            <a:r>
              <a:rPr lang="en-GB" sz="1000" dirty="0"/>
              <a:t>DVB-MHP - Open Middleware for Interactive TV</a:t>
            </a:r>
          </a:p>
          <a:p>
            <a:pPr marL="898525" indent="-898525"/>
            <a:r>
              <a:rPr lang="en-GB" sz="1000" dirty="0"/>
              <a:t>DVB-PCF - Portable Content Format</a:t>
            </a:r>
          </a:p>
          <a:p>
            <a:pPr marL="898525" indent="-898525"/>
            <a:r>
              <a:rPr lang="en-GB" sz="1000" dirty="0"/>
              <a:t>DVB-RCS2 - Return Channel Satellite</a:t>
            </a:r>
          </a:p>
          <a:p>
            <a:pPr marL="898525" indent="-898525"/>
            <a:r>
              <a:rPr lang="en-GB" sz="1000" dirty="0"/>
              <a:t>DVB-RCT - Return Channel Terrestrial (03/2001)</a:t>
            </a:r>
          </a:p>
          <a:p>
            <a:pPr marL="898525" indent="-898525"/>
            <a:r>
              <a:rPr lang="en-GB" sz="1000" dirty="0"/>
              <a:t>DVB-S2 - 2nd Generation Satellite Broadcasting</a:t>
            </a:r>
          </a:p>
          <a:p>
            <a:pPr marL="898525" indent="-898525"/>
            <a:r>
              <a:rPr lang="en-GB" sz="1000" dirty="0"/>
              <a:t>DVB-SH - Satellite Services to Handheld Devices</a:t>
            </a:r>
          </a:p>
          <a:p>
            <a:pPr marL="898525" indent="-898525"/>
            <a:r>
              <a:rPr lang="en-GB" sz="1000" dirty="0"/>
              <a:t>DVB-T - Digital Terrestrial Television</a:t>
            </a:r>
          </a:p>
          <a:p>
            <a:pPr marL="898525" indent="-898525"/>
            <a:r>
              <a:rPr lang="en-GB" sz="1000" dirty="0"/>
              <a:t>DVB-T2 - 2nd Generation Terrestrial Broadcasting</a:t>
            </a:r>
          </a:p>
          <a:p>
            <a:pPr marL="898525" indent="-898525"/>
            <a:r>
              <a:rPr lang="en-GB" sz="1000" dirty="0"/>
              <a:t>DVB - Emergency Warning System</a:t>
            </a:r>
          </a:p>
          <a:p>
            <a:pPr marL="898525" indent="-898525"/>
            <a:r>
              <a:rPr lang="en-GB" sz="1000" dirty="0"/>
              <a:t>DVB Project - An Introduction</a:t>
            </a:r>
          </a:p>
          <a:p>
            <a:pPr marL="898525" indent="-898525"/>
            <a:r>
              <a:rPr lang="en-GB" sz="1000" dirty="0"/>
              <a:t>Hierarchical Modulation in DVB-T (03/2000)</a:t>
            </a:r>
          </a:p>
          <a:p>
            <a:pPr marL="898525" indent="-898525"/>
            <a:r>
              <a:rPr lang="en-GB" sz="1000" dirty="0"/>
              <a:t>plus many others (</a:t>
            </a:r>
            <a:r>
              <a:rPr lang="en-GB" sz="1000" dirty="0" err="1"/>
              <a:t>inc</a:t>
            </a:r>
            <a:r>
              <a:rPr lang="en-GB" sz="1000" dirty="0"/>
              <a:t> addenda, </a:t>
            </a:r>
            <a:r>
              <a:rPr lang="en-GB" sz="1000" dirty="0" err="1"/>
              <a:t>etc</a:t>
            </a:r>
            <a:r>
              <a:rPr lang="en-GB" sz="1000" dirty="0"/>
              <a:t>) 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395288" y="3248980"/>
            <a:ext cx="449333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/>
            <a:r>
              <a:rPr lang="en-GB" sz="1600" b="1" dirty="0"/>
              <a:t>Industry Organisation</a:t>
            </a:r>
          </a:p>
          <a:p>
            <a:pPr marL="182563" indent="-182563"/>
            <a:endParaRPr lang="en-GB" sz="1600" b="1" dirty="0"/>
          </a:p>
          <a:p>
            <a:pPr marL="182563" indent="-182563"/>
            <a:r>
              <a:rPr lang="en-GB" sz="1600" b="1" dirty="0"/>
              <a:t>Standardisation Process –</a:t>
            </a:r>
          </a:p>
          <a:p>
            <a:pPr marL="182563" indent="-182563"/>
            <a:r>
              <a:rPr lang="en-GB" sz="1600" dirty="0"/>
              <a:t>Joint Technical Committee (JTC) of: </a:t>
            </a:r>
          </a:p>
          <a:p>
            <a:pPr marL="182563" indent="-182563">
              <a:buFontTx/>
              <a:buChar char="•"/>
            </a:pPr>
            <a:r>
              <a:rPr lang="en-GB" sz="1600" dirty="0"/>
              <a:t>ETSI - European Telecommunications Standards Institute</a:t>
            </a:r>
          </a:p>
          <a:p>
            <a:pPr marL="182563" indent="-182563">
              <a:buFontTx/>
              <a:buChar char="•"/>
            </a:pPr>
            <a:r>
              <a:rPr lang="en-GB" sz="1600" dirty="0"/>
              <a:t>CENELEC - European Committee for </a:t>
            </a:r>
            <a:r>
              <a:rPr lang="en-GB" sz="1600" dirty="0" err="1"/>
              <a:t>Electrotechnical</a:t>
            </a:r>
            <a:r>
              <a:rPr lang="en-GB" sz="1600" dirty="0"/>
              <a:t> Standardization CENELEC </a:t>
            </a:r>
          </a:p>
          <a:p>
            <a:pPr marL="182563" indent="-182563">
              <a:buFontTx/>
              <a:buChar char="•"/>
            </a:pPr>
            <a:r>
              <a:rPr lang="en-GB" sz="1600" dirty="0"/>
              <a:t>EBU - European Broadcasting Union</a:t>
            </a:r>
          </a:p>
          <a:p>
            <a:pPr marL="182563" indent="-182563">
              <a:buFontTx/>
              <a:buChar char="•"/>
            </a:pPr>
            <a:endParaRPr lang="en-GB" sz="1600" dirty="0"/>
          </a:p>
          <a:p>
            <a:pPr marL="182563" indent="-182563">
              <a:buFontTx/>
              <a:buChar char="•"/>
            </a:pPr>
            <a:r>
              <a:rPr lang="en-GB" sz="1600" dirty="0"/>
              <a:t>Note standards refer to other standards and patents, e.g. MPEG</a:t>
            </a:r>
          </a:p>
        </p:txBody>
      </p:sp>
      <p:sp>
        <p:nvSpPr>
          <p:cNvPr id="6" name="Rectangle 5"/>
          <p:cNvSpPr/>
          <p:nvPr/>
        </p:nvSpPr>
        <p:spPr>
          <a:xfrm>
            <a:off x="5820382" y="6174305"/>
            <a:ext cx="3323205" cy="276999"/>
          </a:xfrm>
          <a:prstGeom prst="rect">
            <a:avLst/>
          </a:prstGeom>
          <a:solidFill>
            <a:srgbClr val="CCCCFF"/>
          </a:solidFill>
        </p:spPr>
        <p:txBody>
          <a:bodyPr wrap="square">
            <a:spAutoFit/>
          </a:bodyPr>
          <a:lstStyle/>
          <a:p>
            <a:pPr marL="898525" indent="-898525"/>
            <a:r>
              <a:rPr lang="en-GB" sz="1200" dirty="0">
                <a:hlinkClick r:id="rId3"/>
              </a:rPr>
              <a:t>http://www.dvb.org/standards/factsheets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4062958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"/>
          <p:cNvSpPr>
            <a:spLocks noChangeArrowheads="1"/>
          </p:cNvSpPr>
          <p:nvPr/>
        </p:nvSpPr>
        <p:spPr bwMode="auto">
          <a:xfrm>
            <a:off x="381000" y="333375"/>
            <a:ext cx="4237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  <a:cs typeface="Lucida Sans Unicode" pitchFamily="34" charset="0"/>
              </a:rPr>
              <a:t>Transport Stream Multiplex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23"/>
          <a:stretch>
            <a:fillRect/>
          </a:stretch>
        </p:blipFill>
        <p:spPr bwMode="auto">
          <a:xfrm>
            <a:off x="2089150" y="1085850"/>
            <a:ext cx="5353050" cy="466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6634163" y="1131888"/>
            <a:ext cx="1909762" cy="167430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Transmission: </a:t>
            </a:r>
          </a:p>
          <a:p>
            <a:pPr marL="180975" indent="-180975">
              <a:lnSpc>
                <a:spcPct val="130000"/>
              </a:lnSpc>
              <a:buFont typeface="Arial" charset="0"/>
              <a:buChar char="•"/>
              <a:defRPr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Terrestrial</a:t>
            </a:r>
          </a:p>
          <a:p>
            <a:pPr marL="180975" indent="-180975">
              <a:lnSpc>
                <a:spcPct val="130000"/>
              </a:lnSpc>
              <a:buFont typeface="Arial" charset="0"/>
              <a:buChar char="•"/>
              <a:defRPr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Cable</a:t>
            </a:r>
          </a:p>
          <a:p>
            <a:pPr marL="180975" indent="-180975">
              <a:lnSpc>
                <a:spcPct val="130000"/>
              </a:lnSpc>
              <a:buFont typeface="Arial" charset="0"/>
              <a:buChar char="•"/>
              <a:defRPr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Satellite</a:t>
            </a:r>
          </a:p>
          <a:p>
            <a:pPr marL="180975" indent="-180975">
              <a:lnSpc>
                <a:spcPct val="130000"/>
              </a:lnSpc>
              <a:buFont typeface="Arial" charset="0"/>
              <a:buChar char="•"/>
              <a:defRPr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Broadband</a:t>
            </a:r>
          </a:p>
        </p:txBody>
      </p:sp>
      <p:sp>
        <p:nvSpPr>
          <p:cNvPr id="6149" name="Text Box 6"/>
          <p:cNvSpPr txBox="1">
            <a:spLocks noChangeArrowheads="1"/>
          </p:cNvSpPr>
          <p:nvPr/>
        </p:nvSpPr>
        <p:spPr bwMode="auto">
          <a:xfrm>
            <a:off x="609600" y="2751138"/>
            <a:ext cx="129063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dirty="0">
                <a:cs typeface="Lucida Sans Unicode" pitchFamily="34" charset="0"/>
              </a:rPr>
              <a:t>Program Streams</a:t>
            </a:r>
          </a:p>
        </p:txBody>
      </p:sp>
      <p:sp>
        <p:nvSpPr>
          <p:cNvPr id="6150" name="AutoShape 7"/>
          <p:cNvSpPr>
            <a:spLocks/>
          </p:cNvSpPr>
          <p:nvPr/>
        </p:nvSpPr>
        <p:spPr bwMode="auto">
          <a:xfrm>
            <a:off x="1752600" y="1268083"/>
            <a:ext cx="411163" cy="3433313"/>
          </a:xfrm>
          <a:prstGeom prst="leftBrace">
            <a:avLst>
              <a:gd name="adj1" fmla="val 63932"/>
              <a:gd name="adj2" fmla="val 50528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noAutofit/>
          </a:bodyPr>
          <a:lstStyle/>
          <a:p>
            <a:endParaRPr lang="en-US" sz="1800">
              <a:latin typeface="Lucida Sans Unicode" pitchFamily="34" charset="0"/>
              <a:cs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648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99170" y="681487"/>
            <a:ext cx="3968909" cy="3460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8" name="TextBox 117"/>
          <p:cNvSpPr txBox="1"/>
          <p:nvPr/>
        </p:nvSpPr>
        <p:spPr>
          <a:xfrm>
            <a:off x="1439928" y="4426661"/>
            <a:ext cx="486302" cy="1980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endParaRPr lang="en-GB" sz="1200" dirty="0">
              <a:latin typeface="Lucida Sans Unicode" pitchFamily="34" charset="0"/>
            </a:endParaRPr>
          </a:p>
          <a:p>
            <a:endParaRPr lang="en-GB" sz="1200" dirty="0">
              <a:latin typeface="Lucida Sans Unicode" pitchFamily="34" charset="0"/>
            </a:endParaRPr>
          </a:p>
          <a:p>
            <a:endParaRPr lang="en-GB" sz="1200" dirty="0">
              <a:latin typeface="Lucida Sans Unicode" pitchFamily="34" charset="0"/>
            </a:endParaRPr>
          </a:p>
          <a:p>
            <a:endParaRPr lang="en-GB" sz="1200" dirty="0">
              <a:latin typeface="Lucida Sans Unicode" pitchFamily="34" charset="0"/>
            </a:endParaRPr>
          </a:p>
          <a:p>
            <a:endParaRPr lang="en-GB" sz="1200" dirty="0">
              <a:latin typeface="Lucida Sans Unicode" pitchFamily="34" charset="0"/>
            </a:endParaRPr>
          </a:p>
          <a:p>
            <a:endParaRPr lang="en-GB" sz="1200" dirty="0">
              <a:latin typeface="Lucida Sans Unicode" pitchFamily="34" charset="0"/>
            </a:endParaRPr>
          </a:p>
          <a:p>
            <a:endParaRPr lang="en-GB" sz="1200" dirty="0">
              <a:latin typeface="Lucida Sans Unicode" pitchFamily="34" charset="0"/>
            </a:endParaRPr>
          </a:p>
          <a:p>
            <a:endParaRPr lang="en-GB" sz="1200" dirty="0">
              <a:latin typeface="Lucida Sans Unicode" pitchFamily="34" charset="0"/>
            </a:endParaRPr>
          </a:p>
          <a:p>
            <a:endParaRPr lang="en-GB" sz="1200" dirty="0">
              <a:latin typeface="Lucida Sans Unicode" pitchFamily="34" charset="0"/>
            </a:endParaRPr>
          </a:p>
          <a:p>
            <a:r>
              <a:rPr lang="en-GB" sz="1200" dirty="0">
                <a:latin typeface="Lucida Sans Unicode" pitchFamily="34" charset="0"/>
              </a:rPr>
              <a:t>Ch3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36120" y="4426661"/>
            <a:ext cx="486302" cy="1980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endParaRPr lang="en-GB" sz="1200" dirty="0">
              <a:latin typeface="Lucida Sans Unicode" pitchFamily="34" charset="0"/>
            </a:endParaRPr>
          </a:p>
          <a:p>
            <a:endParaRPr lang="en-GB" sz="1200" dirty="0">
              <a:latin typeface="Lucida Sans Unicode" pitchFamily="34" charset="0"/>
            </a:endParaRPr>
          </a:p>
          <a:p>
            <a:endParaRPr lang="en-GB" sz="1200" dirty="0">
              <a:latin typeface="Lucida Sans Unicode" pitchFamily="34" charset="0"/>
            </a:endParaRPr>
          </a:p>
          <a:p>
            <a:endParaRPr lang="en-GB" sz="1200" dirty="0">
              <a:latin typeface="Lucida Sans Unicode" pitchFamily="34" charset="0"/>
            </a:endParaRPr>
          </a:p>
          <a:p>
            <a:endParaRPr lang="en-GB" sz="1200" dirty="0">
              <a:latin typeface="Lucida Sans Unicode" pitchFamily="34" charset="0"/>
            </a:endParaRPr>
          </a:p>
          <a:p>
            <a:endParaRPr lang="en-GB" sz="1200" dirty="0">
              <a:latin typeface="Lucida Sans Unicode" pitchFamily="34" charset="0"/>
            </a:endParaRPr>
          </a:p>
          <a:p>
            <a:endParaRPr lang="en-GB" sz="1200" dirty="0">
              <a:latin typeface="Lucida Sans Unicode" pitchFamily="34" charset="0"/>
            </a:endParaRPr>
          </a:p>
          <a:p>
            <a:endParaRPr lang="en-GB" sz="1200" dirty="0">
              <a:latin typeface="Lucida Sans Unicode" pitchFamily="34" charset="0"/>
            </a:endParaRPr>
          </a:p>
          <a:p>
            <a:endParaRPr lang="en-GB" sz="1200" dirty="0">
              <a:latin typeface="Lucida Sans Unicode" pitchFamily="34" charset="0"/>
            </a:endParaRPr>
          </a:p>
          <a:p>
            <a:r>
              <a:rPr lang="en-GB" sz="1200" dirty="0">
                <a:latin typeface="Lucida Sans Unicode" pitchFamily="34" charset="0"/>
              </a:rPr>
              <a:t>Ch2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04813" y="4426661"/>
            <a:ext cx="486302" cy="1980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endParaRPr lang="en-GB" sz="1200" dirty="0">
              <a:latin typeface="Lucida Sans Unicode" pitchFamily="34" charset="0"/>
            </a:endParaRPr>
          </a:p>
          <a:p>
            <a:endParaRPr lang="en-GB" sz="1200" dirty="0">
              <a:latin typeface="Lucida Sans Unicode" pitchFamily="34" charset="0"/>
            </a:endParaRPr>
          </a:p>
          <a:p>
            <a:endParaRPr lang="en-GB" sz="1200" dirty="0">
              <a:latin typeface="Lucida Sans Unicode" pitchFamily="34" charset="0"/>
            </a:endParaRPr>
          </a:p>
          <a:p>
            <a:endParaRPr lang="en-GB" sz="1200" dirty="0">
              <a:latin typeface="Lucida Sans Unicode" pitchFamily="34" charset="0"/>
            </a:endParaRPr>
          </a:p>
          <a:p>
            <a:endParaRPr lang="en-GB" sz="1200" dirty="0">
              <a:latin typeface="Lucida Sans Unicode" pitchFamily="34" charset="0"/>
            </a:endParaRPr>
          </a:p>
          <a:p>
            <a:endParaRPr lang="en-GB" sz="1200" dirty="0">
              <a:latin typeface="Lucida Sans Unicode" pitchFamily="34" charset="0"/>
            </a:endParaRPr>
          </a:p>
          <a:p>
            <a:endParaRPr lang="en-GB" sz="1200" dirty="0">
              <a:latin typeface="Lucida Sans Unicode" pitchFamily="34" charset="0"/>
            </a:endParaRPr>
          </a:p>
          <a:p>
            <a:endParaRPr lang="en-GB" sz="1200" dirty="0">
              <a:latin typeface="Lucida Sans Unicode" pitchFamily="34" charset="0"/>
            </a:endParaRPr>
          </a:p>
          <a:p>
            <a:endParaRPr lang="en-GB" sz="1200" dirty="0">
              <a:latin typeface="Lucida Sans Unicode" pitchFamily="34" charset="0"/>
            </a:endParaRPr>
          </a:p>
          <a:p>
            <a:r>
              <a:rPr lang="en-GB" sz="1200" dirty="0">
                <a:latin typeface="Lucida Sans Unicode" pitchFamily="34" charset="0"/>
              </a:rPr>
              <a:t>Ch1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381000" y="333375"/>
            <a:ext cx="4237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>
                <a:latin typeface="Lucida Sans Unicode" pitchFamily="34" charset="0"/>
                <a:cs typeface="Lucida Sans Unicode" pitchFamily="34" charset="0"/>
              </a:rPr>
              <a:t>Transport Stream Multiplex</a:t>
            </a:r>
          </a:p>
        </p:txBody>
      </p:sp>
      <p:grpSp>
        <p:nvGrpSpPr>
          <p:cNvPr id="2" name="Group 99"/>
          <p:cNvGrpSpPr/>
          <p:nvPr/>
        </p:nvGrpSpPr>
        <p:grpSpPr>
          <a:xfrm>
            <a:off x="395288" y="4505603"/>
            <a:ext cx="457200" cy="276225"/>
            <a:chOff x="385763" y="2573338"/>
            <a:chExt cx="457200" cy="276225"/>
          </a:xfrm>
        </p:grpSpPr>
        <p:sp>
          <p:nvSpPr>
            <p:cNvPr id="8290" name="Rectangle 5"/>
            <p:cNvSpPr>
              <a:spLocks noChangeArrowheads="1"/>
            </p:cNvSpPr>
            <p:nvPr/>
          </p:nvSpPr>
          <p:spPr bwMode="auto">
            <a:xfrm>
              <a:off x="385763" y="2597151"/>
              <a:ext cx="457200" cy="228600"/>
            </a:xfrm>
            <a:prstGeom prst="rect">
              <a:avLst/>
            </a:prstGeom>
            <a:solidFill>
              <a:srgbClr val="40C5E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8291" name="Text Box 6"/>
            <p:cNvSpPr txBox="1">
              <a:spLocks noChangeArrowheads="1"/>
            </p:cNvSpPr>
            <p:nvPr/>
          </p:nvSpPr>
          <p:spPr bwMode="auto">
            <a:xfrm>
              <a:off x="468313" y="2573338"/>
              <a:ext cx="290513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 sz="1200" dirty="0">
                  <a:cs typeface="Lucida Sans Unicode" pitchFamily="34" charset="0"/>
                </a:rPr>
                <a:t>A</a:t>
              </a:r>
              <a:endParaRPr lang="en-GB" sz="1400" dirty="0">
                <a:cs typeface="Lucida Sans Unicode" pitchFamily="34" charset="0"/>
              </a:endParaRPr>
            </a:p>
          </p:txBody>
        </p:sp>
      </p:grpSp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395288" y="4810405"/>
            <a:ext cx="457200" cy="276225"/>
            <a:chOff x="240" y="1040"/>
            <a:chExt cx="288" cy="174"/>
          </a:xfrm>
        </p:grpSpPr>
        <p:sp>
          <p:nvSpPr>
            <p:cNvPr id="8288" name="Rectangle 8"/>
            <p:cNvSpPr>
              <a:spLocks noChangeArrowheads="1"/>
            </p:cNvSpPr>
            <p:nvPr/>
          </p:nvSpPr>
          <p:spPr bwMode="auto">
            <a:xfrm>
              <a:off x="240" y="1056"/>
              <a:ext cx="288" cy="14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8289" name="Text Box 9"/>
            <p:cNvSpPr txBox="1">
              <a:spLocks noChangeArrowheads="1"/>
            </p:cNvSpPr>
            <p:nvPr/>
          </p:nvSpPr>
          <p:spPr bwMode="auto">
            <a:xfrm>
              <a:off x="281" y="1040"/>
              <a:ext cx="189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 sz="1200">
                  <a:cs typeface="Lucida Sans Unicode" pitchFamily="34" charset="0"/>
                </a:rPr>
                <a:t>D</a:t>
              </a:r>
              <a:endParaRPr lang="en-GB" sz="1400">
                <a:cs typeface="Lucida Sans Unicode" pitchFamily="34" charset="0"/>
              </a:endParaRPr>
            </a:p>
          </p:txBody>
        </p:sp>
      </p:grpSp>
      <p:grpSp>
        <p:nvGrpSpPr>
          <p:cNvPr id="5" name="Group 104"/>
          <p:cNvGrpSpPr/>
          <p:nvPr/>
        </p:nvGrpSpPr>
        <p:grpSpPr>
          <a:xfrm>
            <a:off x="395288" y="5115205"/>
            <a:ext cx="457200" cy="276225"/>
            <a:chOff x="385763" y="3182938"/>
            <a:chExt cx="457200" cy="276225"/>
          </a:xfrm>
        </p:grpSpPr>
        <p:sp>
          <p:nvSpPr>
            <p:cNvPr id="8286" name="Rectangle 11"/>
            <p:cNvSpPr>
              <a:spLocks noChangeArrowheads="1"/>
            </p:cNvSpPr>
            <p:nvPr/>
          </p:nvSpPr>
          <p:spPr bwMode="auto">
            <a:xfrm>
              <a:off x="385763" y="3201988"/>
              <a:ext cx="457200" cy="22860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8287" name="Text Box 12"/>
            <p:cNvSpPr txBox="1">
              <a:spLocks noChangeArrowheads="1"/>
            </p:cNvSpPr>
            <p:nvPr/>
          </p:nvSpPr>
          <p:spPr bwMode="auto">
            <a:xfrm>
              <a:off x="481013" y="3182938"/>
              <a:ext cx="285750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 sz="1200">
                  <a:cs typeface="Lucida Sans Unicode" pitchFamily="34" charset="0"/>
                </a:rPr>
                <a:t>V</a:t>
              </a:r>
            </a:p>
          </p:txBody>
        </p:sp>
      </p:grpSp>
      <p:grpSp>
        <p:nvGrpSpPr>
          <p:cNvPr id="6" name="Group 105"/>
          <p:cNvGrpSpPr/>
          <p:nvPr/>
        </p:nvGrpSpPr>
        <p:grpSpPr>
          <a:xfrm>
            <a:off x="395288" y="5420005"/>
            <a:ext cx="457200" cy="276225"/>
            <a:chOff x="385763" y="3487738"/>
            <a:chExt cx="457200" cy="276225"/>
          </a:xfrm>
        </p:grpSpPr>
        <p:sp>
          <p:nvSpPr>
            <p:cNvPr id="8284" name="Rectangle 14"/>
            <p:cNvSpPr>
              <a:spLocks noChangeArrowheads="1"/>
            </p:cNvSpPr>
            <p:nvPr/>
          </p:nvSpPr>
          <p:spPr bwMode="auto">
            <a:xfrm>
              <a:off x="385763" y="3517901"/>
              <a:ext cx="457200" cy="228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8285" name="Text Box 15"/>
            <p:cNvSpPr txBox="1">
              <a:spLocks noChangeArrowheads="1"/>
            </p:cNvSpPr>
            <p:nvPr/>
          </p:nvSpPr>
          <p:spPr bwMode="auto">
            <a:xfrm>
              <a:off x="444501" y="3487738"/>
              <a:ext cx="312738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 sz="1200">
                  <a:solidFill>
                    <a:schemeClr val="bg1"/>
                  </a:solidFill>
                  <a:cs typeface="Lucida Sans Unicode" pitchFamily="34" charset="0"/>
                </a:rPr>
                <a:t>SI</a:t>
              </a:r>
            </a:p>
          </p:txBody>
        </p:sp>
      </p:grpSp>
      <p:sp>
        <p:nvSpPr>
          <p:cNvPr id="8211" name="Rectangle 16"/>
          <p:cNvSpPr>
            <a:spLocks noChangeArrowheads="1"/>
          </p:cNvSpPr>
          <p:nvPr/>
        </p:nvSpPr>
        <p:spPr bwMode="auto">
          <a:xfrm>
            <a:off x="395288" y="5754968"/>
            <a:ext cx="457200" cy="2286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8212" name="Text Box 17"/>
          <p:cNvSpPr txBox="1">
            <a:spLocks noChangeArrowheads="1"/>
          </p:cNvSpPr>
          <p:nvPr/>
        </p:nvSpPr>
        <p:spPr bwMode="auto">
          <a:xfrm>
            <a:off x="454026" y="5724805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200">
                <a:solidFill>
                  <a:schemeClr val="bg1"/>
                </a:solidFill>
                <a:cs typeface="Lucida Sans Unicode" pitchFamily="34" charset="0"/>
              </a:rPr>
              <a:t>etc</a:t>
            </a:r>
          </a:p>
        </p:txBody>
      </p:sp>
      <p:grpSp>
        <p:nvGrpSpPr>
          <p:cNvPr id="7" name="Group 100"/>
          <p:cNvGrpSpPr/>
          <p:nvPr/>
        </p:nvGrpSpPr>
        <p:grpSpPr>
          <a:xfrm>
            <a:off x="928688" y="4505605"/>
            <a:ext cx="457200" cy="276225"/>
            <a:chOff x="919163" y="2573338"/>
            <a:chExt cx="457200" cy="276225"/>
          </a:xfrm>
        </p:grpSpPr>
        <p:sp>
          <p:nvSpPr>
            <p:cNvPr id="8282" name="Rectangle 19"/>
            <p:cNvSpPr>
              <a:spLocks noChangeArrowheads="1"/>
            </p:cNvSpPr>
            <p:nvPr/>
          </p:nvSpPr>
          <p:spPr bwMode="auto">
            <a:xfrm>
              <a:off x="919163" y="2597151"/>
              <a:ext cx="457200" cy="228600"/>
            </a:xfrm>
            <a:prstGeom prst="rect">
              <a:avLst/>
            </a:prstGeom>
            <a:solidFill>
              <a:srgbClr val="40C5E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8283" name="Text Box 20"/>
            <p:cNvSpPr txBox="1">
              <a:spLocks noChangeArrowheads="1"/>
            </p:cNvSpPr>
            <p:nvPr/>
          </p:nvSpPr>
          <p:spPr bwMode="auto">
            <a:xfrm>
              <a:off x="1001713" y="2573338"/>
              <a:ext cx="290513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 sz="1200">
                  <a:cs typeface="Lucida Sans Unicode" pitchFamily="34" charset="0"/>
                </a:rPr>
                <a:t>A</a:t>
              </a:r>
              <a:endParaRPr lang="en-GB" sz="1400">
                <a:cs typeface="Lucida Sans Unicode" pitchFamily="34" charset="0"/>
              </a:endParaRPr>
            </a:p>
          </p:txBody>
        </p:sp>
      </p:grpSp>
      <p:grpSp>
        <p:nvGrpSpPr>
          <p:cNvPr id="8" name="Group 21"/>
          <p:cNvGrpSpPr>
            <a:grpSpLocks/>
          </p:cNvGrpSpPr>
          <p:nvPr/>
        </p:nvGrpSpPr>
        <p:grpSpPr bwMode="auto">
          <a:xfrm>
            <a:off x="928688" y="4810405"/>
            <a:ext cx="457200" cy="276225"/>
            <a:chOff x="240" y="1040"/>
            <a:chExt cx="288" cy="174"/>
          </a:xfrm>
        </p:grpSpPr>
        <p:sp>
          <p:nvSpPr>
            <p:cNvPr id="8280" name="Rectangle 22"/>
            <p:cNvSpPr>
              <a:spLocks noChangeArrowheads="1"/>
            </p:cNvSpPr>
            <p:nvPr/>
          </p:nvSpPr>
          <p:spPr bwMode="auto">
            <a:xfrm>
              <a:off x="240" y="1056"/>
              <a:ext cx="288" cy="14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8281" name="Text Box 23"/>
            <p:cNvSpPr txBox="1">
              <a:spLocks noChangeArrowheads="1"/>
            </p:cNvSpPr>
            <p:nvPr/>
          </p:nvSpPr>
          <p:spPr bwMode="auto">
            <a:xfrm>
              <a:off x="281" y="1040"/>
              <a:ext cx="189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 sz="1200">
                  <a:cs typeface="Lucida Sans Unicode" pitchFamily="34" charset="0"/>
                </a:rPr>
                <a:t>D</a:t>
              </a:r>
              <a:endParaRPr lang="en-GB" sz="1400">
                <a:cs typeface="Lucida Sans Unicode" pitchFamily="34" charset="0"/>
              </a:endParaRPr>
            </a:p>
          </p:txBody>
        </p:sp>
      </p:grpSp>
      <p:grpSp>
        <p:nvGrpSpPr>
          <p:cNvPr id="9" name="Group 106"/>
          <p:cNvGrpSpPr/>
          <p:nvPr/>
        </p:nvGrpSpPr>
        <p:grpSpPr>
          <a:xfrm>
            <a:off x="928688" y="5115205"/>
            <a:ext cx="457200" cy="276225"/>
            <a:chOff x="919163" y="3182938"/>
            <a:chExt cx="457200" cy="276225"/>
          </a:xfrm>
        </p:grpSpPr>
        <p:sp>
          <p:nvSpPr>
            <p:cNvPr id="8278" name="Rectangle 25"/>
            <p:cNvSpPr>
              <a:spLocks noChangeArrowheads="1"/>
            </p:cNvSpPr>
            <p:nvPr/>
          </p:nvSpPr>
          <p:spPr bwMode="auto">
            <a:xfrm>
              <a:off x="919163" y="3201988"/>
              <a:ext cx="457200" cy="22860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8279" name="Text Box 26"/>
            <p:cNvSpPr txBox="1">
              <a:spLocks noChangeArrowheads="1"/>
            </p:cNvSpPr>
            <p:nvPr/>
          </p:nvSpPr>
          <p:spPr bwMode="auto">
            <a:xfrm>
              <a:off x="1014413" y="3182938"/>
              <a:ext cx="285750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 sz="1200">
                  <a:cs typeface="Lucida Sans Unicode" pitchFamily="34" charset="0"/>
                </a:rPr>
                <a:t>V</a:t>
              </a:r>
            </a:p>
          </p:txBody>
        </p:sp>
      </p:grpSp>
      <p:grpSp>
        <p:nvGrpSpPr>
          <p:cNvPr id="10" name="Group 107"/>
          <p:cNvGrpSpPr/>
          <p:nvPr/>
        </p:nvGrpSpPr>
        <p:grpSpPr>
          <a:xfrm>
            <a:off x="928688" y="5420005"/>
            <a:ext cx="457200" cy="276225"/>
            <a:chOff x="919163" y="3487738"/>
            <a:chExt cx="457200" cy="276225"/>
          </a:xfrm>
        </p:grpSpPr>
        <p:sp>
          <p:nvSpPr>
            <p:cNvPr id="8276" name="Rectangle 28"/>
            <p:cNvSpPr>
              <a:spLocks noChangeArrowheads="1"/>
            </p:cNvSpPr>
            <p:nvPr/>
          </p:nvSpPr>
          <p:spPr bwMode="auto">
            <a:xfrm>
              <a:off x="919163" y="3517901"/>
              <a:ext cx="457200" cy="228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8277" name="Text Box 29"/>
            <p:cNvSpPr txBox="1">
              <a:spLocks noChangeArrowheads="1"/>
            </p:cNvSpPr>
            <p:nvPr/>
          </p:nvSpPr>
          <p:spPr bwMode="auto">
            <a:xfrm>
              <a:off x="977901" y="3487738"/>
              <a:ext cx="312738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 sz="1200">
                  <a:solidFill>
                    <a:schemeClr val="bg1"/>
                  </a:solidFill>
                  <a:cs typeface="Lucida Sans Unicode" pitchFamily="34" charset="0"/>
                </a:rPr>
                <a:t>SI</a:t>
              </a:r>
            </a:p>
          </p:txBody>
        </p:sp>
      </p:grpSp>
      <p:sp>
        <p:nvSpPr>
          <p:cNvPr id="8217" name="Rectangle 30"/>
          <p:cNvSpPr>
            <a:spLocks noChangeArrowheads="1"/>
          </p:cNvSpPr>
          <p:nvPr/>
        </p:nvSpPr>
        <p:spPr bwMode="auto">
          <a:xfrm>
            <a:off x="928688" y="5754968"/>
            <a:ext cx="457200" cy="2286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8218" name="Text Box 31"/>
          <p:cNvSpPr txBox="1">
            <a:spLocks noChangeArrowheads="1"/>
          </p:cNvSpPr>
          <p:nvPr/>
        </p:nvSpPr>
        <p:spPr bwMode="auto">
          <a:xfrm>
            <a:off x="987426" y="5724805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200">
                <a:solidFill>
                  <a:schemeClr val="bg1"/>
                </a:solidFill>
                <a:cs typeface="Lucida Sans Unicode" pitchFamily="34" charset="0"/>
              </a:rPr>
              <a:t>etc</a:t>
            </a:r>
          </a:p>
        </p:txBody>
      </p:sp>
      <p:grpSp>
        <p:nvGrpSpPr>
          <p:cNvPr id="11" name="Group 101"/>
          <p:cNvGrpSpPr/>
          <p:nvPr/>
        </p:nvGrpSpPr>
        <p:grpSpPr>
          <a:xfrm>
            <a:off x="1462088" y="4505605"/>
            <a:ext cx="457200" cy="276225"/>
            <a:chOff x="1452563" y="2573338"/>
            <a:chExt cx="457200" cy="276225"/>
          </a:xfrm>
        </p:grpSpPr>
        <p:sp>
          <p:nvSpPr>
            <p:cNvPr id="8274" name="Rectangle 33"/>
            <p:cNvSpPr>
              <a:spLocks noChangeArrowheads="1"/>
            </p:cNvSpPr>
            <p:nvPr/>
          </p:nvSpPr>
          <p:spPr bwMode="auto">
            <a:xfrm>
              <a:off x="1452563" y="2597151"/>
              <a:ext cx="457200" cy="228600"/>
            </a:xfrm>
            <a:prstGeom prst="rect">
              <a:avLst/>
            </a:prstGeom>
            <a:solidFill>
              <a:srgbClr val="40C5E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8275" name="Text Box 34"/>
            <p:cNvSpPr txBox="1">
              <a:spLocks noChangeArrowheads="1"/>
            </p:cNvSpPr>
            <p:nvPr/>
          </p:nvSpPr>
          <p:spPr bwMode="auto">
            <a:xfrm>
              <a:off x="1535113" y="2573338"/>
              <a:ext cx="290513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 sz="1200">
                  <a:cs typeface="Lucida Sans Unicode" pitchFamily="34" charset="0"/>
                </a:rPr>
                <a:t>A</a:t>
              </a:r>
              <a:endParaRPr lang="en-GB" sz="1400">
                <a:cs typeface="Lucida Sans Unicode" pitchFamily="34" charset="0"/>
              </a:endParaRPr>
            </a:p>
          </p:txBody>
        </p:sp>
      </p:grpSp>
      <p:grpSp>
        <p:nvGrpSpPr>
          <p:cNvPr id="12" name="Group 35"/>
          <p:cNvGrpSpPr>
            <a:grpSpLocks/>
          </p:cNvGrpSpPr>
          <p:nvPr/>
        </p:nvGrpSpPr>
        <p:grpSpPr bwMode="auto">
          <a:xfrm>
            <a:off x="1462088" y="4810405"/>
            <a:ext cx="457200" cy="276225"/>
            <a:chOff x="240" y="1040"/>
            <a:chExt cx="288" cy="174"/>
          </a:xfrm>
        </p:grpSpPr>
        <p:sp>
          <p:nvSpPr>
            <p:cNvPr id="8272" name="Rectangle 36"/>
            <p:cNvSpPr>
              <a:spLocks noChangeArrowheads="1"/>
            </p:cNvSpPr>
            <p:nvPr/>
          </p:nvSpPr>
          <p:spPr bwMode="auto">
            <a:xfrm>
              <a:off x="240" y="1056"/>
              <a:ext cx="288" cy="14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8273" name="Text Box 37"/>
            <p:cNvSpPr txBox="1">
              <a:spLocks noChangeArrowheads="1"/>
            </p:cNvSpPr>
            <p:nvPr/>
          </p:nvSpPr>
          <p:spPr bwMode="auto">
            <a:xfrm>
              <a:off x="281" y="1040"/>
              <a:ext cx="189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 sz="1200">
                  <a:cs typeface="Lucida Sans Unicode" pitchFamily="34" charset="0"/>
                </a:rPr>
                <a:t>D</a:t>
              </a:r>
              <a:endParaRPr lang="en-GB" sz="1400">
                <a:cs typeface="Lucida Sans Unicode" pitchFamily="34" charset="0"/>
              </a:endParaRPr>
            </a:p>
          </p:txBody>
        </p:sp>
      </p:grpSp>
      <p:grpSp>
        <p:nvGrpSpPr>
          <p:cNvPr id="13" name="Group 108"/>
          <p:cNvGrpSpPr/>
          <p:nvPr/>
        </p:nvGrpSpPr>
        <p:grpSpPr>
          <a:xfrm>
            <a:off x="1462088" y="5115205"/>
            <a:ext cx="457200" cy="276225"/>
            <a:chOff x="1452563" y="3182938"/>
            <a:chExt cx="457200" cy="276225"/>
          </a:xfrm>
        </p:grpSpPr>
        <p:sp>
          <p:nvSpPr>
            <p:cNvPr id="8270" name="Rectangle 39"/>
            <p:cNvSpPr>
              <a:spLocks noChangeArrowheads="1"/>
            </p:cNvSpPr>
            <p:nvPr/>
          </p:nvSpPr>
          <p:spPr bwMode="auto">
            <a:xfrm>
              <a:off x="1452563" y="3201988"/>
              <a:ext cx="457200" cy="22860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8271" name="Text Box 40"/>
            <p:cNvSpPr txBox="1">
              <a:spLocks noChangeArrowheads="1"/>
            </p:cNvSpPr>
            <p:nvPr/>
          </p:nvSpPr>
          <p:spPr bwMode="auto">
            <a:xfrm>
              <a:off x="1547813" y="3182938"/>
              <a:ext cx="285750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 sz="1200">
                  <a:cs typeface="Lucida Sans Unicode" pitchFamily="34" charset="0"/>
                </a:rPr>
                <a:t>V</a:t>
              </a:r>
            </a:p>
          </p:txBody>
        </p:sp>
      </p:grpSp>
      <p:grpSp>
        <p:nvGrpSpPr>
          <p:cNvPr id="14" name="Group 109"/>
          <p:cNvGrpSpPr/>
          <p:nvPr/>
        </p:nvGrpSpPr>
        <p:grpSpPr>
          <a:xfrm>
            <a:off x="1462088" y="5420005"/>
            <a:ext cx="457200" cy="276225"/>
            <a:chOff x="1452563" y="3487738"/>
            <a:chExt cx="457200" cy="276225"/>
          </a:xfrm>
        </p:grpSpPr>
        <p:sp>
          <p:nvSpPr>
            <p:cNvPr id="8268" name="Rectangle 42"/>
            <p:cNvSpPr>
              <a:spLocks noChangeArrowheads="1"/>
            </p:cNvSpPr>
            <p:nvPr/>
          </p:nvSpPr>
          <p:spPr bwMode="auto">
            <a:xfrm>
              <a:off x="1452563" y="3517901"/>
              <a:ext cx="457200" cy="228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8269" name="Text Box 43"/>
            <p:cNvSpPr txBox="1">
              <a:spLocks noChangeArrowheads="1"/>
            </p:cNvSpPr>
            <p:nvPr/>
          </p:nvSpPr>
          <p:spPr bwMode="auto">
            <a:xfrm>
              <a:off x="1511301" y="3487738"/>
              <a:ext cx="312738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 sz="1200">
                  <a:solidFill>
                    <a:schemeClr val="bg1"/>
                  </a:solidFill>
                  <a:cs typeface="Lucida Sans Unicode" pitchFamily="34" charset="0"/>
                </a:rPr>
                <a:t>SI</a:t>
              </a:r>
            </a:p>
          </p:txBody>
        </p:sp>
      </p:grpSp>
      <p:sp>
        <p:nvSpPr>
          <p:cNvPr id="8223" name="Rectangle 44"/>
          <p:cNvSpPr>
            <a:spLocks noChangeArrowheads="1"/>
          </p:cNvSpPr>
          <p:nvPr/>
        </p:nvSpPr>
        <p:spPr bwMode="auto">
          <a:xfrm>
            <a:off x="1462088" y="5754968"/>
            <a:ext cx="457200" cy="2286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8224" name="Text Box 45"/>
          <p:cNvSpPr txBox="1">
            <a:spLocks noChangeArrowheads="1"/>
          </p:cNvSpPr>
          <p:nvPr/>
        </p:nvSpPr>
        <p:spPr bwMode="auto">
          <a:xfrm>
            <a:off x="1520826" y="5724805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200">
                <a:solidFill>
                  <a:schemeClr val="bg1"/>
                </a:solidFill>
                <a:cs typeface="Lucida Sans Unicode" pitchFamily="34" charset="0"/>
              </a:rPr>
              <a:t>etc</a:t>
            </a:r>
          </a:p>
        </p:txBody>
      </p:sp>
      <p:sp>
        <p:nvSpPr>
          <p:cNvPr id="8231" name="Text Box 60"/>
          <p:cNvSpPr txBox="1">
            <a:spLocks noChangeArrowheads="1"/>
          </p:cNvSpPr>
          <p:nvPr/>
        </p:nvSpPr>
        <p:spPr bwMode="auto">
          <a:xfrm>
            <a:off x="2395178" y="5132458"/>
            <a:ext cx="993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400">
                <a:cs typeface="Lucida Sans Unicode" pitchFamily="34" charset="0"/>
              </a:rPr>
              <a:t>Multiplex</a:t>
            </a:r>
          </a:p>
        </p:txBody>
      </p:sp>
      <p:sp>
        <p:nvSpPr>
          <p:cNvPr id="8232" name="AutoShape 61"/>
          <p:cNvSpPr>
            <a:spLocks/>
          </p:cNvSpPr>
          <p:nvPr/>
        </p:nvSpPr>
        <p:spPr bwMode="auto">
          <a:xfrm>
            <a:off x="2166578" y="4522858"/>
            <a:ext cx="152400" cy="1447800"/>
          </a:xfrm>
          <a:prstGeom prst="rightBrace">
            <a:avLst>
              <a:gd name="adj1" fmla="val 7916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Lucida Sans Unicode" pitchFamily="34" charset="0"/>
              <a:cs typeface="Lucida Sans Unicode" pitchFamily="34" charset="0"/>
            </a:endParaRPr>
          </a:p>
        </p:txBody>
      </p:sp>
      <p:grpSp>
        <p:nvGrpSpPr>
          <p:cNvPr id="19" name="Group 62"/>
          <p:cNvGrpSpPr>
            <a:grpSpLocks/>
          </p:cNvGrpSpPr>
          <p:nvPr/>
        </p:nvGrpSpPr>
        <p:grpSpPr bwMode="auto">
          <a:xfrm>
            <a:off x="5099650" y="5089324"/>
            <a:ext cx="484188" cy="461963"/>
            <a:chOff x="231" y="657"/>
            <a:chExt cx="305" cy="291"/>
          </a:xfrm>
        </p:grpSpPr>
        <p:sp>
          <p:nvSpPr>
            <p:cNvPr id="8258" name="Rectangle 63"/>
            <p:cNvSpPr>
              <a:spLocks noChangeArrowheads="1"/>
            </p:cNvSpPr>
            <p:nvPr/>
          </p:nvSpPr>
          <p:spPr bwMode="auto">
            <a:xfrm>
              <a:off x="240" y="672"/>
              <a:ext cx="288" cy="249"/>
            </a:xfrm>
            <a:prstGeom prst="rect">
              <a:avLst/>
            </a:prstGeom>
            <a:solidFill>
              <a:srgbClr val="40C5E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8259" name="Text Box 64"/>
            <p:cNvSpPr txBox="1">
              <a:spLocks noChangeArrowheads="1"/>
            </p:cNvSpPr>
            <p:nvPr/>
          </p:nvSpPr>
          <p:spPr bwMode="auto">
            <a:xfrm>
              <a:off x="231" y="657"/>
              <a:ext cx="3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sz="1200" dirty="0">
                  <a:cs typeface="Lucida Sans Unicode" pitchFamily="34" charset="0"/>
                </a:rPr>
                <a:t>A</a:t>
              </a:r>
            </a:p>
            <a:p>
              <a:pPr algn="ctr"/>
              <a:r>
                <a:rPr lang="en-GB" sz="1200" dirty="0">
                  <a:cs typeface="Lucida Sans Unicode" pitchFamily="34" charset="0"/>
                </a:rPr>
                <a:t>Ch1</a:t>
              </a:r>
              <a:endParaRPr lang="en-GB" sz="1400" dirty="0">
                <a:cs typeface="Lucida Sans Unicode" pitchFamily="34" charset="0"/>
              </a:endParaRPr>
            </a:p>
          </p:txBody>
        </p:sp>
      </p:grpSp>
      <p:grpSp>
        <p:nvGrpSpPr>
          <p:cNvPr id="20" name="Group 65"/>
          <p:cNvGrpSpPr>
            <a:grpSpLocks/>
          </p:cNvGrpSpPr>
          <p:nvPr/>
        </p:nvGrpSpPr>
        <p:grpSpPr bwMode="auto">
          <a:xfrm>
            <a:off x="3505800" y="5089326"/>
            <a:ext cx="484188" cy="461963"/>
            <a:chOff x="235" y="1476"/>
            <a:chExt cx="305" cy="291"/>
          </a:xfrm>
        </p:grpSpPr>
        <p:sp>
          <p:nvSpPr>
            <p:cNvPr id="8256" name="Rectangle 66"/>
            <p:cNvSpPr>
              <a:spLocks noChangeArrowheads="1"/>
            </p:cNvSpPr>
            <p:nvPr/>
          </p:nvSpPr>
          <p:spPr bwMode="auto">
            <a:xfrm>
              <a:off x="240" y="1488"/>
              <a:ext cx="288" cy="249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8257" name="Text Box 67"/>
            <p:cNvSpPr txBox="1">
              <a:spLocks noChangeArrowheads="1"/>
            </p:cNvSpPr>
            <p:nvPr/>
          </p:nvSpPr>
          <p:spPr bwMode="auto">
            <a:xfrm>
              <a:off x="235" y="1476"/>
              <a:ext cx="3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sz="1200" dirty="0">
                  <a:cs typeface="Lucida Sans Unicode" pitchFamily="34" charset="0"/>
                </a:rPr>
                <a:t>V</a:t>
              </a:r>
            </a:p>
            <a:p>
              <a:pPr algn="ctr"/>
              <a:r>
                <a:rPr lang="en-GB" sz="1200" dirty="0">
                  <a:cs typeface="Lucida Sans Unicode" pitchFamily="34" charset="0"/>
                </a:rPr>
                <a:t>Ch1</a:t>
              </a:r>
            </a:p>
          </p:txBody>
        </p:sp>
      </p:grpSp>
      <p:grpSp>
        <p:nvGrpSpPr>
          <p:cNvPr id="21" name="Group 68"/>
          <p:cNvGrpSpPr>
            <a:grpSpLocks/>
          </p:cNvGrpSpPr>
          <p:nvPr/>
        </p:nvGrpSpPr>
        <p:grpSpPr bwMode="auto">
          <a:xfrm>
            <a:off x="4042375" y="5089326"/>
            <a:ext cx="484188" cy="461963"/>
            <a:chOff x="237" y="1476"/>
            <a:chExt cx="305" cy="291"/>
          </a:xfrm>
        </p:grpSpPr>
        <p:sp>
          <p:nvSpPr>
            <p:cNvPr id="8254" name="Rectangle 69"/>
            <p:cNvSpPr>
              <a:spLocks noChangeArrowheads="1"/>
            </p:cNvSpPr>
            <p:nvPr/>
          </p:nvSpPr>
          <p:spPr bwMode="auto">
            <a:xfrm>
              <a:off x="240" y="1488"/>
              <a:ext cx="288" cy="249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8255" name="Text Box 70"/>
            <p:cNvSpPr txBox="1">
              <a:spLocks noChangeArrowheads="1"/>
            </p:cNvSpPr>
            <p:nvPr/>
          </p:nvSpPr>
          <p:spPr bwMode="auto">
            <a:xfrm>
              <a:off x="237" y="1476"/>
              <a:ext cx="3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sz="1200" dirty="0">
                  <a:cs typeface="Lucida Sans Unicode" pitchFamily="34" charset="0"/>
                </a:rPr>
                <a:t>V</a:t>
              </a:r>
            </a:p>
            <a:p>
              <a:pPr algn="ctr"/>
              <a:r>
                <a:rPr lang="en-GB" sz="1200" dirty="0">
                  <a:cs typeface="Lucida Sans Unicode" pitchFamily="34" charset="0"/>
                </a:rPr>
                <a:t>Ch3</a:t>
              </a:r>
            </a:p>
          </p:txBody>
        </p:sp>
      </p:grpSp>
      <p:grpSp>
        <p:nvGrpSpPr>
          <p:cNvPr id="22" name="Group 71"/>
          <p:cNvGrpSpPr>
            <a:grpSpLocks/>
          </p:cNvGrpSpPr>
          <p:nvPr/>
        </p:nvGrpSpPr>
        <p:grpSpPr bwMode="auto">
          <a:xfrm>
            <a:off x="4575775" y="5089326"/>
            <a:ext cx="484188" cy="461963"/>
            <a:chOff x="237" y="1476"/>
            <a:chExt cx="305" cy="291"/>
          </a:xfrm>
        </p:grpSpPr>
        <p:sp>
          <p:nvSpPr>
            <p:cNvPr id="8252" name="Rectangle 72"/>
            <p:cNvSpPr>
              <a:spLocks noChangeArrowheads="1"/>
            </p:cNvSpPr>
            <p:nvPr/>
          </p:nvSpPr>
          <p:spPr bwMode="auto">
            <a:xfrm>
              <a:off x="240" y="1488"/>
              <a:ext cx="288" cy="249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8253" name="Text Box 73"/>
            <p:cNvSpPr txBox="1">
              <a:spLocks noChangeArrowheads="1"/>
            </p:cNvSpPr>
            <p:nvPr/>
          </p:nvSpPr>
          <p:spPr bwMode="auto">
            <a:xfrm>
              <a:off x="237" y="1476"/>
              <a:ext cx="3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sz="1200" dirty="0">
                  <a:cs typeface="Lucida Sans Unicode" pitchFamily="34" charset="0"/>
                </a:rPr>
                <a:t>V</a:t>
              </a:r>
            </a:p>
            <a:p>
              <a:pPr algn="ctr"/>
              <a:r>
                <a:rPr lang="en-GB" sz="1200" dirty="0">
                  <a:cs typeface="Lucida Sans Unicode" pitchFamily="34" charset="0"/>
                </a:rPr>
                <a:t>Ch4</a:t>
              </a:r>
            </a:p>
          </p:txBody>
        </p:sp>
      </p:grpSp>
      <p:grpSp>
        <p:nvGrpSpPr>
          <p:cNvPr id="23" name="Group 74"/>
          <p:cNvGrpSpPr>
            <a:grpSpLocks/>
          </p:cNvGrpSpPr>
          <p:nvPr/>
        </p:nvGrpSpPr>
        <p:grpSpPr bwMode="auto">
          <a:xfrm>
            <a:off x="5642575" y="5089326"/>
            <a:ext cx="484188" cy="461963"/>
            <a:chOff x="237" y="1476"/>
            <a:chExt cx="305" cy="291"/>
          </a:xfrm>
        </p:grpSpPr>
        <p:sp>
          <p:nvSpPr>
            <p:cNvPr id="8250" name="Rectangle 75"/>
            <p:cNvSpPr>
              <a:spLocks noChangeArrowheads="1"/>
            </p:cNvSpPr>
            <p:nvPr/>
          </p:nvSpPr>
          <p:spPr bwMode="auto">
            <a:xfrm>
              <a:off x="240" y="1488"/>
              <a:ext cx="288" cy="249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8251" name="Text Box 76"/>
            <p:cNvSpPr txBox="1">
              <a:spLocks noChangeArrowheads="1"/>
            </p:cNvSpPr>
            <p:nvPr/>
          </p:nvSpPr>
          <p:spPr bwMode="auto">
            <a:xfrm>
              <a:off x="237" y="1476"/>
              <a:ext cx="3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sz="1200" dirty="0">
                  <a:cs typeface="Lucida Sans Unicode" pitchFamily="34" charset="0"/>
                </a:rPr>
                <a:t>V</a:t>
              </a:r>
            </a:p>
            <a:p>
              <a:pPr algn="ctr"/>
              <a:r>
                <a:rPr lang="en-GB" sz="1200" dirty="0">
                  <a:cs typeface="Lucida Sans Unicode" pitchFamily="34" charset="0"/>
                </a:rPr>
                <a:t>Ch3</a:t>
              </a:r>
            </a:p>
          </p:txBody>
        </p:sp>
      </p:grpSp>
      <p:grpSp>
        <p:nvGrpSpPr>
          <p:cNvPr id="24" name="Group 77"/>
          <p:cNvGrpSpPr>
            <a:grpSpLocks/>
          </p:cNvGrpSpPr>
          <p:nvPr/>
        </p:nvGrpSpPr>
        <p:grpSpPr bwMode="auto">
          <a:xfrm>
            <a:off x="6153750" y="5089324"/>
            <a:ext cx="484188" cy="461963"/>
            <a:chOff x="223" y="1040"/>
            <a:chExt cx="305" cy="291"/>
          </a:xfrm>
        </p:grpSpPr>
        <p:sp>
          <p:nvSpPr>
            <p:cNvPr id="8248" name="Rectangle 78"/>
            <p:cNvSpPr>
              <a:spLocks noChangeArrowheads="1"/>
            </p:cNvSpPr>
            <p:nvPr/>
          </p:nvSpPr>
          <p:spPr bwMode="auto">
            <a:xfrm>
              <a:off x="240" y="1056"/>
              <a:ext cx="288" cy="249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8249" name="Text Box 79"/>
            <p:cNvSpPr txBox="1">
              <a:spLocks noChangeArrowheads="1"/>
            </p:cNvSpPr>
            <p:nvPr/>
          </p:nvSpPr>
          <p:spPr bwMode="auto">
            <a:xfrm>
              <a:off x="223" y="1040"/>
              <a:ext cx="3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sz="1200" dirty="0">
                  <a:cs typeface="Lucida Sans Unicode" pitchFamily="34" charset="0"/>
                </a:rPr>
                <a:t>D</a:t>
              </a:r>
            </a:p>
            <a:p>
              <a:pPr algn="ctr"/>
              <a:r>
                <a:rPr lang="en-GB" sz="1200" dirty="0">
                  <a:cs typeface="Lucida Sans Unicode" pitchFamily="34" charset="0"/>
                </a:rPr>
                <a:t>Ch2</a:t>
              </a:r>
              <a:endParaRPr lang="en-GB" sz="1400" dirty="0">
                <a:cs typeface="Lucida Sans Unicode" pitchFamily="34" charset="0"/>
              </a:endParaRPr>
            </a:p>
          </p:txBody>
        </p:sp>
      </p:grpSp>
      <p:grpSp>
        <p:nvGrpSpPr>
          <p:cNvPr id="25" name="Group 112"/>
          <p:cNvGrpSpPr/>
          <p:nvPr/>
        </p:nvGrpSpPr>
        <p:grpSpPr>
          <a:xfrm>
            <a:off x="6687030" y="5089323"/>
            <a:ext cx="484428" cy="461665"/>
            <a:chOff x="6988056" y="3182938"/>
            <a:chExt cx="484428" cy="461665"/>
          </a:xfrm>
        </p:grpSpPr>
        <p:sp>
          <p:nvSpPr>
            <p:cNvPr id="8246" name="Rectangle 81"/>
            <p:cNvSpPr>
              <a:spLocks noChangeArrowheads="1"/>
            </p:cNvSpPr>
            <p:nvPr/>
          </p:nvSpPr>
          <p:spPr bwMode="auto">
            <a:xfrm>
              <a:off x="7015163" y="3213100"/>
              <a:ext cx="457200" cy="395919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8247" name="Text Box 82"/>
            <p:cNvSpPr txBox="1">
              <a:spLocks noChangeArrowheads="1"/>
            </p:cNvSpPr>
            <p:nvPr/>
          </p:nvSpPr>
          <p:spPr bwMode="auto">
            <a:xfrm>
              <a:off x="6988056" y="3182938"/>
              <a:ext cx="4844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sz="1200" dirty="0">
                  <a:solidFill>
                    <a:schemeClr val="bg1"/>
                  </a:solidFill>
                  <a:cs typeface="Lucida Sans Unicode" pitchFamily="34" charset="0"/>
                </a:rPr>
                <a:t>SI</a:t>
              </a:r>
            </a:p>
            <a:p>
              <a:pPr algn="ctr"/>
              <a:r>
                <a:rPr lang="en-GB" sz="1200" dirty="0">
                  <a:solidFill>
                    <a:schemeClr val="bg1"/>
                  </a:solidFill>
                  <a:cs typeface="Lucida Sans Unicode" pitchFamily="34" charset="0"/>
                </a:rPr>
                <a:t>Ch1</a:t>
              </a:r>
            </a:p>
          </p:txBody>
        </p:sp>
      </p:grpSp>
      <p:grpSp>
        <p:nvGrpSpPr>
          <p:cNvPr id="26" name="Group 83"/>
          <p:cNvGrpSpPr>
            <a:grpSpLocks/>
          </p:cNvGrpSpPr>
          <p:nvPr/>
        </p:nvGrpSpPr>
        <p:grpSpPr bwMode="auto">
          <a:xfrm>
            <a:off x="7242775" y="5089326"/>
            <a:ext cx="484188" cy="461963"/>
            <a:chOff x="237" y="1476"/>
            <a:chExt cx="305" cy="291"/>
          </a:xfrm>
        </p:grpSpPr>
        <p:sp>
          <p:nvSpPr>
            <p:cNvPr id="8244" name="Rectangle 84"/>
            <p:cNvSpPr>
              <a:spLocks noChangeArrowheads="1"/>
            </p:cNvSpPr>
            <p:nvPr/>
          </p:nvSpPr>
          <p:spPr bwMode="auto">
            <a:xfrm>
              <a:off x="240" y="1488"/>
              <a:ext cx="288" cy="249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8245" name="Text Box 85"/>
            <p:cNvSpPr txBox="1">
              <a:spLocks noChangeArrowheads="1"/>
            </p:cNvSpPr>
            <p:nvPr/>
          </p:nvSpPr>
          <p:spPr bwMode="auto">
            <a:xfrm>
              <a:off x="237" y="1476"/>
              <a:ext cx="3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sz="1200" dirty="0">
                  <a:cs typeface="Lucida Sans Unicode" pitchFamily="34" charset="0"/>
                </a:rPr>
                <a:t>V</a:t>
              </a:r>
            </a:p>
            <a:p>
              <a:pPr algn="ctr"/>
              <a:r>
                <a:rPr lang="en-GB" sz="1200" dirty="0">
                  <a:cs typeface="Lucida Sans Unicode" pitchFamily="34" charset="0"/>
                </a:rPr>
                <a:t>Ch1</a:t>
              </a:r>
            </a:p>
          </p:txBody>
        </p:sp>
      </p:grpSp>
      <p:grpSp>
        <p:nvGrpSpPr>
          <p:cNvPr id="27" name="Group 86"/>
          <p:cNvGrpSpPr>
            <a:grpSpLocks/>
          </p:cNvGrpSpPr>
          <p:nvPr/>
        </p:nvGrpSpPr>
        <p:grpSpPr bwMode="auto">
          <a:xfrm>
            <a:off x="7776175" y="5089326"/>
            <a:ext cx="484188" cy="461963"/>
            <a:chOff x="237" y="1476"/>
            <a:chExt cx="305" cy="291"/>
          </a:xfrm>
        </p:grpSpPr>
        <p:sp>
          <p:nvSpPr>
            <p:cNvPr id="8242" name="Rectangle 87"/>
            <p:cNvSpPr>
              <a:spLocks noChangeArrowheads="1"/>
            </p:cNvSpPr>
            <p:nvPr/>
          </p:nvSpPr>
          <p:spPr bwMode="auto">
            <a:xfrm>
              <a:off x="240" y="1488"/>
              <a:ext cx="288" cy="249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8243" name="Text Box 88"/>
            <p:cNvSpPr txBox="1">
              <a:spLocks noChangeArrowheads="1"/>
            </p:cNvSpPr>
            <p:nvPr/>
          </p:nvSpPr>
          <p:spPr bwMode="auto">
            <a:xfrm>
              <a:off x="237" y="1476"/>
              <a:ext cx="3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sz="1200" dirty="0">
                  <a:cs typeface="Lucida Sans Unicode" pitchFamily="34" charset="0"/>
                </a:rPr>
                <a:t>V</a:t>
              </a:r>
            </a:p>
            <a:p>
              <a:pPr algn="ctr"/>
              <a:r>
                <a:rPr lang="en-GB" sz="1200" dirty="0">
                  <a:cs typeface="Lucida Sans Unicode" pitchFamily="34" charset="0"/>
                </a:rPr>
                <a:t>Ch4</a:t>
              </a:r>
            </a:p>
          </p:txBody>
        </p:sp>
      </p:grpSp>
      <p:sp>
        <p:nvSpPr>
          <p:cNvPr id="8205" name="Line 98"/>
          <p:cNvSpPr>
            <a:spLocks noChangeShapeType="1"/>
          </p:cNvSpPr>
          <p:nvPr/>
        </p:nvSpPr>
        <p:spPr bwMode="auto">
          <a:xfrm>
            <a:off x="8293489" y="5343791"/>
            <a:ext cx="4953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 sz="160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8206" name="Text Box 99"/>
          <p:cNvSpPr txBox="1">
            <a:spLocks noChangeArrowheads="1"/>
          </p:cNvSpPr>
          <p:nvPr/>
        </p:nvSpPr>
        <p:spPr bwMode="auto">
          <a:xfrm>
            <a:off x="7054221" y="6218893"/>
            <a:ext cx="197522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200" dirty="0">
                <a:cs typeface="Lucida Sans Unicode" pitchFamily="34" charset="0"/>
              </a:rPr>
              <a:t>SI = Service Information</a:t>
            </a:r>
            <a:endParaRPr lang="en-US" sz="1200" dirty="0">
              <a:cs typeface="Lucida Sans Unicode" pitchFamily="34" charset="0"/>
            </a:endParaRPr>
          </a:p>
        </p:txBody>
      </p:sp>
      <p:cxnSp>
        <p:nvCxnSpPr>
          <p:cNvPr id="106" name="Straight Arrow Connector 105"/>
          <p:cNvCxnSpPr/>
          <p:nvPr/>
        </p:nvCxnSpPr>
        <p:spPr bwMode="auto">
          <a:xfrm flipV="1">
            <a:off x="681487" y="1061049"/>
            <a:ext cx="1837426" cy="324353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8" name="Straight Arrow Connector 107"/>
          <p:cNvCxnSpPr/>
          <p:nvPr/>
        </p:nvCxnSpPr>
        <p:spPr bwMode="auto">
          <a:xfrm flipV="1">
            <a:off x="1181819" y="2191109"/>
            <a:ext cx="1293962" cy="214797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0" name="Straight Arrow Connector 109"/>
          <p:cNvCxnSpPr/>
          <p:nvPr/>
        </p:nvCxnSpPr>
        <p:spPr bwMode="auto">
          <a:xfrm flipV="1">
            <a:off x="1777042" y="3036498"/>
            <a:ext cx="707366" cy="129396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83497" y="2223001"/>
            <a:ext cx="2090827" cy="248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03" name="Rectangle 96"/>
          <p:cNvSpPr>
            <a:spLocks noChangeArrowheads="1"/>
          </p:cNvSpPr>
          <p:nvPr/>
        </p:nvSpPr>
        <p:spPr bwMode="auto">
          <a:xfrm>
            <a:off x="4843340" y="3934724"/>
            <a:ext cx="314130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GB" dirty="0">
                <a:cs typeface="Lucida Sans Unicode" pitchFamily="34" charset="0"/>
              </a:rPr>
              <a:t>Several TV channels as video packet </a:t>
            </a: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streams … H.264/AVC or </a:t>
            </a:r>
            <a:r>
              <a:rPr lang="en-GB" dirty="0">
                <a:cs typeface="Lucida Sans Unicode" pitchFamily="34" charset="0"/>
              </a:rPr>
              <a:t>H.265/HEVC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363638" y="5874590"/>
            <a:ext cx="6780361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10010010001001010101110010011001010100010100000.....</a:t>
            </a:r>
          </a:p>
        </p:txBody>
      </p:sp>
      <p:cxnSp>
        <p:nvCxnSpPr>
          <p:cNvPr id="15" name="Straight Arrow Connector 14"/>
          <p:cNvCxnSpPr/>
          <p:nvPr/>
        </p:nvCxnSpPr>
        <p:spPr bwMode="auto">
          <a:xfrm>
            <a:off x="6565392" y="4758016"/>
            <a:ext cx="224815" cy="3027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0" name="Straight Arrow Connector 89"/>
          <p:cNvCxnSpPr/>
          <p:nvPr/>
        </p:nvCxnSpPr>
        <p:spPr bwMode="auto">
          <a:xfrm>
            <a:off x="6493733" y="4767573"/>
            <a:ext cx="0" cy="3018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2" name="Straight Arrow Connector 91"/>
          <p:cNvCxnSpPr/>
          <p:nvPr/>
        </p:nvCxnSpPr>
        <p:spPr bwMode="auto">
          <a:xfrm flipH="1">
            <a:off x="5983497" y="4781828"/>
            <a:ext cx="425841" cy="27845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4" name="Rectangle 96"/>
          <p:cNvSpPr>
            <a:spLocks noChangeArrowheads="1"/>
          </p:cNvSpPr>
          <p:nvPr/>
        </p:nvSpPr>
        <p:spPr bwMode="auto">
          <a:xfrm>
            <a:off x="4460266" y="1361463"/>
            <a:ext cx="145000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GB" sz="1050" dirty="0">
                <a:cs typeface="Lucida Sans Unicode" pitchFamily="34" charset="0"/>
              </a:rPr>
              <a:t>Multiplexer</a:t>
            </a:r>
            <a:endParaRPr lang="en-GB" sz="1200" i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95" name="Rectangle 96"/>
          <p:cNvSpPr>
            <a:spLocks noChangeArrowheads="1"/>
          </p:cNvSpPr>
          <p:nvPr/>
        </p:nvSpPr>
        <p:spPr bwMode="auto">
          <a:xfrm>
            <a:off x="6303906" y="2007867"/>
            <a:ext cx="145000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GB" sz="1050" dirty="0">
                <a:cs typeface="Lucida Sans Unicode" pitchFamily="34" charset="0"/>
              </a:rPr>
              <a:t>Multiplex</a:t>
            </a:r>
            <a:endParaRPr lang="en-GB" sz="1200" i="1" dirty="0">
              <a:latin typeface="Lucida Sans Unicode" pitchFamily="34" charset="0"/>
              <a:cs typeface="Lucida Sans Unicode" pitchFamily="34" charset="0"/>
            </a:endParaRP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 bwMode="auto">
          <a:xfrm flipV="1">
            <a:off x="3513738" y="2548468"/>
            <a:ext cx="2469759" cy="251181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96" name="Straight Connector 95"/>
          <p:cNvCxnSpPr>
            <a:cxnSpLocks/>
          </p:cNvCxnSpPr>
          <p:nvPr/>
        </p:nvCxnSpPr>
        <p:spPr bwMode="auto">
          <a:xfrm flipH="1" flipV="1">
            <a:off x="8018269" y="2512885"/>
            <a:ext cx="167980" cy="25351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15039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ud 1"/>
          <p:cNvSpPr/>
          <p:nvPr/>
        </p:nvSpPr>
        <p:spPr bwMode="auto">
          <a:xfrm rot="11051792">
            <a:off x="927918" y="3364846"/>
            <a:ext cx="1644625" cy="935170"/>
          </a:xfrm>
          <a:prstGeom prst="cloud">
            <a:avLst/>
          </a:prstGeom>
          <a:gradFill flip="none" rotWithShape="1">
            <a:gsLst>
              <a:gs pos="0">
                <a:srgbClr val="E3CAC1">
                  <a:shade val="30000"/>
                  <a:satMod val="115000"/>
                </a:srgbClr>
              </a:gs>
              <a:gs pos="50000">
                <a:srgbClr val="E3CAC1">
                  <a:shade val="67500"/>
                  <a:satMod val="115000"/>
                </a:srgbClr>
              </a:gs>
              <a:gs pos="100000">
                <a:srgbClr val="E3CAC1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3" name="Group 68"/>
          <p:cNvGrpSpPr/>
          <p:nvPr/>
        </p:nvGrpSpPr>
        <p:grpSpPr>
          <a:xfrm>
            <a:off x="7066628" y="3710865"/>
            <a:ext cx="1740020" cy="2388094"/>
            <a:chOff x="7057748" y="4039340"/>
            <a:chExt cx="1953087" cy="2396971"/>
          </a:xfrm>
        </p:grpSpPr>
        <p:sp>
          <p:nvSpPr>
            <p:cNvPr id="4" name="Rectangle 3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5" name="Group 85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6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2" imgW="1714739" imgH="1714739" progId="">
                      <p:embed/>
                    </p:oleObj>
                  </mc:Choice>
                  <mc:Fallback>
                    <p:oleObj name="Photo Editor Photo" r:id="rId2" imgW="1714739" imgH="1714739" progId="">
                      <p:embed/>
                      <p:pic>
                        <p:nvPicPr>
                          <p:cNvPr id="6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8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4" imgW="1714739" imgH="1133633" progId="">
                      <p:embed/>
                    </p:oleObj>
                  </mc:Choice>
                  <mc:Fallback>
                    <p:oleObj name="Photo Editor Photo" r:id="rId4" imgW="1714739" imgH="1133633" progId="">
                      <p:embed/>
                      <p:pic>
                        <p:nvPicPr>
                          <p:cNvPr id="8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0" name="Group 75"/>
          <p:cNvGrpSpPr/>
          <p:nvPr/>
        </p:nvGrpSpPr>
        <p:grpSpPr>
          <a:xfrm>
            <a:off x="7013362" y="3773009"/>
            <a:ext cx="1740020" cy="2388094"/>
            <a:chOff x="7057748" y="4039340"/>
            <a:chExt cx="1953087" cy="2396971"/>
          </a:xfrm>
        </p:grpSpPr>
        <p:sp>
          <p:nvSpPr>
            <p:cNvPr id="11" name="Rectangle 10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2" name="Group 100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13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6" imgW="1714739" imgH="1714739" progId="">
                      <p:embed/>
                    </p:oleObj>
                  </mc:Choice>
                  <mc:Fallback>
                    <p:oleObj name="Photo Editor Photo" r:id="rId6" imgW="1714739" imgH="1714739" progId="">
                      <p:embed/>
                      <p:pic>
                        <p:nvPicPr>
                          <p:cNvPr id="13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5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7" imgW="1714739" imgH="1133633" progId="">
                      <p:embed/>
                    </p:oleObj>
                  </mc:Choice>
                  <mc:Fallback>
                    <p:oleObj name="Photo Editor Photo" r:id="rId7" imgW="1714739" imgH="1133633" progId="">
                      <p:embed/>
                      <p:pic>
                        <p:nvPicPr>
                          <p:cNvPr id="15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7" name="Group 82"/>
          <p:cNvGrpSpPr/>
          <p:nvPr/>
        </p:nvGrpSpPr>
        <p:grpSpPr>
          <a:xfrm>
            <a:off x="6933463" y="3844030"/>
            <a:ext cx="1740020" cy="2388094"/>
            <a:chOff x="7057748" y="4039340"/>
            <a:chExt cx="1953087" cy="2396971"/>
          </a:xfrm>
        </p:grpSpPr>
        <p:sp>
          <p:nvSpPr>
            <p:cNvPr id="18" name="Rectangle 17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9" name="Group 10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0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8" imgW="1714739" imgH="1714739" progId="">
                      <p:embed/>
                    </p:oleObj>
                  </mc:Choice>
                  <mc:Fallback>
                    <p:oleObj name="Photo Editor Photo" r:id="rId8" imgW="1714739" imgH="1714739" progId="">
                      <p:embed/>
                      <p:pic>
                        <p:nvPicPr>
                          <p:cNvPr id="20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22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9" imgW="1714739" imgH="1133633" progId="">
                      <p:embed/>
                    </p:oleObj>
                  </mc:Choice>
                  <mc:Fallback>
                    <p:oleObj name="Photo Editor Photo" r:id="rId9" imgW="1714739" imgH="1133633" progId="">
                      <p:embed/>
                      <p:pic>
                        <p:nvPicPr>
                          <p:cNvPr id="22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4" name="Group 89"/>
          <p:cNvGrpSpPr/>
          <p:nvPr/>
        </p:nvGrpSpPr>
        <p:grpSpPr>
          <a:xfrm>
            <a:off x="6862441" y="3923929"/>
            <a:ext cx="1740020" cy="2388094"/>
            <a:chOff x="7057748" y="4039340"/>
            <a:chExt cx="1953087" cy="2396971"/>
          </a:xfrm>
        </p:grpSpPr>
        <p:sp>
          <p:nvSpPr>
            <p:cNvPr id="25" name="Rectangle 24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6" name="Group 74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7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0" imgW="1714739" imgH="1714739" progId="">
                      <p:embed/>
                    </p:oleObj>
                  </mc:Choice>
                  <mc:Fallback>
                    <p:oleObj name="Photo Editor Photo" r:id="rId10" imgW="1714739" imgH="1714739" progId="">
                      <p:embed/>
                      <p:pic>
                        <p:nvPicPr>
                          <p:cNvPr id="27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29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1" imgW="1714739" imgH="1133633" progId="">
                      <p:embed/>
                    </p:oleObj>
                  </mc:Choice>
                  <mc:Fallback>
                    <p:oleObj name="Photo Editor Photo" r:id="rId11" imgW="1714739" imgH="1133633" progId="">
                      <p:embed/>
                      <p:pic>
                        <p:nvPicPr>
                          <p:cNvPr id="29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31" name="Group 96"/>
          <p:cNvGrpSpPr/>
          <p:nvPr/>
        </p:nvGrpSpPr>
        <p:grpSpPr>
          <a:xfrm>
            <a:off x="6809175" y="3986073"/>
            <a:ext cx="1740020" cy="2388094"/>
            <a:chOff x="7057748" y="4039340"/>
            <a:chExt cx="1953087" cy="2396971"/>
          </a:xfrm>
        </p:grpSpPr>
        <p:sp>
          <p:nvSpPr>
            <p:cNvPr id="32" name="Rectangle 31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33" name="Group 66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34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2" imgW="1714739" imgH="1714739" progId="">
                      <p:embed/>
                    </p:oleObj>
                  </mc:Choice>
                  <mc:Fallback>
                    <p:oleObj name="Photo Editor Photo" r:id="rId12" imgW="1714739" imgH="1714739" progId="">
                      <p:embed/>
                      <p:pic>
                        <p:nvPicPr>
                          <p:cNvPr id="34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6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3" imgW="1714739" imgH="1133633" progId="">
                      <p:embed/>
                    </p:oleObj>
                  </mc:Choice>
                  <mc:Fallback>
                    <p:oleObj name="Photo Editor Photo" r:id="rId13" imgW="1714739" imgH="1133633" progId="">
                      <p:embed/>
                      <p:pic>
                        <p:nvPicPr>
                          <p:cNvPr id="36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38" name="Cloud 37"/>
          <p:cNvSpPr/>
          <p:nvPr/>
        </p:nvSpPr>
        <p:spPr bwMode="auto">
          <a:xfrm rot="11051792">
            <a:off x="221206" y="911036"/>
            <a:ext cx="2821780" cy="2420596"/>
          </a:xfrm>
          <a:prstGeom prst="cloud">
            <a:avLst/>
          </a:prstGeom>
          <a:solidFill>
            <a:srgbClr val="E3CA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39" name="Group 104"/>
          <p:cNvGrpSpPr/>
          <p:nvPr/>
        </p:nvGrpSpPr>
        <p:grpSpPr>
          <a:xfrm>
            <a:off x="6729276" y="4057094"/>
            <a:ext cx="1740020" cy="2388094"/>
            <a:chOff x="7057748" y="4039340"/>
            <a:chExt cx="1953087" cy="2396971"/>
          </a:xfrm>
        </p:grpSpPr>
        <p:sp>
          <p:nvSpPr>
            <p:cNvPr id="40" name="Rectangle 39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41" name="Group 3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42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4" imgW="1714739" imgH="1714739" progId="">
                      <p:embed/>
                    </p:oleObj>
                  </mc:Choice>
                  <mc:Fallback>
                    <p:oleObj name="Photo Editor Photo" r:id="rId14" imgW="1714739" imgH="1714739" progId="">
                      <p:embed/>
                      <p:pic>
                        <p:nvPicPr>
                          <p:cNvPr id="42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44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5" imgW="1714739" imgH="1133633" progId="">
                      <p:embed/>
                    </p:oleObj>
                  </mc:Choice>
                  <mc:Fallback>
                    <p:oleObj name="Photo Editor Photo" r:id="rId15" imgW="1714739" imgH="1133633" progId="">
                      <p:embed/>
                      <p:pic>
                        <p:nvPicPr>
                          <p:cNvPr id="44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5" name="Rectangle 44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1095725" y="1975335"/>
            <a:ext cx="7397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8" name="Picture 4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81000" y="1149105"/>
            <a:ext cx="2575264" cy="1931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" name="Up-Down Arrow 24"/>
          <p:cNvSpPr/>
          <p:nvPr/>
        </p:nvSpPr>
        <p:spPr bwMode="auto">
          <a:xfrm>
            <a:off x="1455937" y="2911876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54" name="Group 122"/>
          <p:cNvGrpSpPr/>
          <p:nvPr/>
        </p:nvGrpSpPr>
        <p:grpSpPr>
          <a:xfrm>
            <a:off x="6649374" y="4136995"/>
            <a:ext cx="1748901" cy="2361460"/>
            <a:chOff x="7037918" y="4039340"/>
            <a:chExt cx="1953087" cy="2540216"/>
          </a:xfrm>
        </p:grpSpPr>
        <p:sp>
          <p:nvSpPr>
            <p:cNvPr id="55" name="Rectangle 54"/>
            <p:cNvSpPr/>
            <p:nvPr/>
          </p:nvSpPr>
          <p:spPr bwMode="auto">
            <a:xfrm>
              <a:off x="7037918" y="4039340"/>
              <a:ext cx="1953087" cy="254021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56" name="Group 32"/>
            <p:cNvGrpSpPr/>
            <p:nvPr/>
          </p:nvGrpSpPr>
          <p:grpSpPr>
            <a:xfrm>
              <a:off x="7125021" y="4448324"/>
              <a:ext cx="1746512" cy="2077782"/>
              <a:chOff x="7125021" y="4448324"/>
              <a:chExt cx="1746512" cy="2077782"/>
            </a:xfrm>
          </p:grpSpPr>
          <p:graphicFrame>
            <p:nvGraphicFramePr>
              <p:cNvPr id="57" name="Object 111"/>
              <p:cNvGraphicFramePr>
                <a:graphicFrameLocks noChangeAspect="1"/>
              </p:cNvGraphicFramePr>
              <p:nvPr/>
            </p:nvGraphicFramePr>
            <p:xfrm>
              <a:off x="7549992" y="5278331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7" imgW="1714739" imgH="1714739" progId="">
                      <p:embed/>
                    </p:oleObj>
                  </mc:Choice>
                  <mc:Fallback>
                    <p:oleObj name="Photo Editor Photo" r:id="rId17" imgW="1714739" imgH="1714739" progId="">
                      <p:embed/>
                      <p:pic>
                        <p:nvPicPr>
                          <p:cNvPr id="57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49992" y="5278331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8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062558" y="4971098"/>
                <a:ext cx="111125" cy="850899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59" name="Object 116"/>
              <p:cNvGraphicFramePr>
                <a:graphicFrameLocks noChangeAspect="1"/>
              </p:cNvGraphicFramePr>
              <p:nvPr/>
            </p:nvGraphicFramePr>
            <p:xfrm>
              <a:off x="7880934" y="4448324"/>
              <a:ext cx="990599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8" imgW="1714739" imgH="1133633" progId="">
                      <p:embed/>
                    </p:oleObj>
                  </mc:Choice>
                  <mc:Fallback>
                    <p:oleObj name="Photo Editor Photo" r:id="rId18" imgW="1714739" imgH="1133633" progId="">
                      <p:embed/>
                      <p:pic>
                        <p:nvPicPr>
                          <p:cNvPr id="59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80934" y="4448324"/>
                            <a:ext cx="990599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0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62" name="Straight Arrow Connector 61"/>
          <p:cNvCxnSpPr/>
          <p:nvPr/>
        </p:nvCxnSpPr>
        <p:spPr bwMode="auto">
          <a:xfrm flipV="1">
            <a:off x="6516210" y="5388746"/>
            <a:ext cx="292962" cy="221941"/>
          </a:xfrm>
          <a:prstGeom prst="straightConnector1">
            <a:avLst/>
          </a:prstGeom>
          <a:noFill/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65" name="Picture 23" descr="C:\Users\jdfoss\Desktop\Clipboard01.gif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7123193" y="4200807"/>
            <a:ext cx="407782" cy="407782"/>
          </a:xfrm>
          <a:prstGeom prst="rect">
            <a:avLst/>
          </a:prstGeom>
          <a:noFill/>
        </p:spPr>
      </p:pic>
      <p:cxnSp>
        <p:nvCxnSpPr>
          <p:cNvPr id="66" name="Straight Connector 65"/>
          <p:cNvCxnSpPr/>
          <p:nvPr/>
        </p:nvCxnSpPr>
        <p:spPr bwMode="auto">
          <a:xfrm>
            <a:off x="7052650" y="4852657"/>
            <a:ext cx="443619" cy="181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7" name="Straight Connector 66"/>
          <p:cNvCxnSpPr/>
          <p:nvPr/>
        </p:nvCxnSpPr>
        <p:spPr bwMode="auto">
          <a:xfrm>
            <a:off x="7034544" y="4943194"/>
            <a:ext cx="516046" cy="24444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8" name="Up-Down Arrow 67"/>
          <p:cNvSpPr/>
          <p:nvPr/>
        </p:nvSpPr>
        <p:spPr bwMode="auto">
          <a:xfrm rot="17823815">
            <a:off x="3994952" y="2015231"/>
            <a:ext cx="1376038" cy="3160450"/>
          </a:xfrm>
          <a:prstGeom prst="upDownArrow">
            <a:avLst/>
          </a:prstGeom>
          <a:solidFill>
            <a:srgbClr val="E3CAC1"/>
          </a:solidFill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0" name="Up-Down Arrow 24"/>
          <p:cNvSpPr/>
          <p:nvPr/>
        </p:nvSpPr>
        <p:spPr bwMode="auto">
          <a:xfrm>
            <a:off x="1465612" y="4057094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1" name="Rectangle 70"/>
          <p:cNvSpPr/>
          <p:nvPr/>
        </p:nvSpPr>
        <p:spPr bwMode="auto">
          <a:xfrm>
            <a:off x="0" y="502920"/>
            <a:ext cx="9144000" cy="6135624"/>
          </a:xfrm>
          <a:prstGeom prst="rect">
            <a:avLst/>
          </a:prstGeom>
          <a:solidFill>
            <a:schemeClr val="bg1">
              <a:alpha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43354" y="1693681"/>
            <a:ext cx="747072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b="1" dirty="0"/>
              <a:t>Distribution Network Architectures</a:t>
            </a:r>
          </a:p>
        </p:txBody>
      </p:sp>
    </p:spTree>
    <p:extLst>
      <p:ext uri="{BB962C8B-B14F-4D97-AF65-F5344CB8AC3E}">
        <p14:creationId xmlns:p14="http://schemas.microsoft.com/office/powerpoint/2010/main" val="421544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381000" y="381000"/>
            <a:ext cx="5419551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6000" b="1" dirty="0"/>
              <a:t>Digital Terrestrial </a:t>
            </a:r>
          </a:p>
          <a:p>
            <a:r>
              <a:rPr lang="en-GB" sz="6000" b="1" dirty="0"/>
              <a:t>TV </a:t>
            </a:r>
          </a:p>
          <a:p>
            <a:r>
              <a:rPr lang="en-GB" sz="6000" b="1" dirty="0"/>
              <a:t>(DTTV, </a:t>
            </a:r>
          </a:p>
          <a:p>
            <a:r>
              <a:rPr lang="en-GB" sz="6000" b="1" dirty="0"/>
              <a:t>e.g. </a:t>
            </a:r>
          </a:p>
          <a:p>
            <a:r>
              <a:rPr lang="en-GB" sz="6000" b="1" dirty="0"/>
              <a:t>Freeview)</a:t>
            </a:r>
          </a:p>
        </p:txBody>
      </p:sp>
      <p:pic>
        <p:nvPicPr>
          <p:cNvPr id="55" name="Picture 8" descr="http://cdn.recombu.com/digital/1.91/images/news/M10191/191_w67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65306" y="3495636"/>
            <a:ext cx="4478694" cy="3362363"/>
          </a:xfrm>
          <a:prstGeom prst="rect">
            <a:avLst/>
          </a:prstGeom>
          <a:noFill/>
        </p:spPr>
      </p:pic>
      <p:pic>
        <p:nvPicPr>
          <p:cNvPr id="56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0335" y="-1"/>
            <a:ext cx="3433665" cy="3521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41783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1000" y="4700588"/>
            <a:ext cx="8642350" cy="17160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381000" y="378768"/>
            <a:ext cx="65646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Digital Terrestrial TV (DTTV, e.g. Freeview)</a:t>
            </a:r>
          </a:p>
        </p:txBody>
      </p:sp>
      <p:grpSp>
        <p:nvGrpSpPr>
          <p:cNvPr id="3" name="Group 4"/>
          <p:cNvGrpSpPr>
            <a:grpSpLocks/>
          </p:cNvGrpSpPr>
          <p:nvPr/>
        </p:nvGrpSpPr>
        <p:grpSpPr bwMode="auto">
          <a:xfrm rot="5400000">
            <a:off x="4468019" y="2596356"/>
            <a:ext cx="352425" cy="6481763"/>
            <a:chOff x="5346" y="341"/>
            <a:chExt cx="222" cy="3690"/>
          </a:xfrm>
        </p:grpSpPr>
        <p:sp>
          <p:nvSpPr>
            <p:cNvPr id="12340" name="Freeform 5"/>
            <p:cNvSpPr>
              <a:spLocks/>
            </p:cNvSpPr>
            <p:nvPr/>
          </p:nvSpPr>
          <p:spPr bwMode="auto">
            <a:xfrm>
              <a:off x="5349" y="638"/>
              <a:ext cx="219" cy="3393"/>
            </a:xfrm>
            <a:custGeom>
              <a:avLst/>
              <a:gdLst>
                <a:gd name="T0" fmla="*/ 0 w 219"/>
                <a:gd name="T1" fmla="*/ 0 h 3393"/>
                <a:gd name="T2" fmla="*/ 207 w 219"/>
                <a:gd name="T3" fmla="*/ 49 h 3393"/>
                <a:gd name="T4" fmla="*/ 9 w 219"/>
                <a:gd name="T5" fmla="*/ 100 h 3393"/>
                <a:gd name="T6" fmla="*/ 207 w 219"/>
                <a:gd name="T7" fmla="*/ 153 h 3393"/>
                <a:gd name="T8" fmla="*/ 9 w 219"/>
                <a:gd name="T9" fmla="*/ 205 h 3393"/>
                <a:gd name="T10" fmla="*/ 207 w 219"/>
                <a:gd name="T11" fmla="*/ 284 h 3393"/>
                <a:gd name="T12" fmla="*/ 9 w 219"/>
                <a:gd name="T13" fmla="*/ 362 h 3393"/>
                <a:gd name="T14" fmla="*/ 212 w 219"/>
                <a:gd name="T15" fmla="*/ 441 h 3393"/>
                <a:gd name="T16" fmla="*/ 9 w 219"/>
                <a:gd name="T17" fmla="*/ 544 h 3393"/>
                <a:gd name="T18" fmla="*/ 205 w 219"/>
                <a:gd name="T19" fmla="*/ 656 h 3393"/>
                <a:gd name="T20" fmla="*/ 37 w 219"/>
                <a:gd name="T21" fmla="*/ 806 h 3393"/>
                <a:gd name="T22" fmla="*/ 205 w 219"/>
                <a:gd name="T23" fmla="*/ 954 h 3393"/>
                <a:gd name="T24" fmla="*/ 37 w 219"/>
                <a:gd name="T25" fmla="*/ 1094 h 3393"/>
                <a:gd name="T26" fmla="*/ 219 w 219"/>
                <a:gd name="T27" fmla="*/ 1231 h 3393"/>
                <a:gd name="T28" fmla="*/ 37 w 219"/>
                <a:gd name="T29" fmla="*/ 1355 h 3393"/>
                <a:gd name="T30" fmla="*/ 207 w 219"/>
                <a:gd name="T31" fmla="*/ 1486 h 3393"/>
                <a:gd name="T32" fmla="*/ 37 w 219"/>
                <a:gd name="T33" fmla="*/ 1668 h 3393"/>
                <a:gd name="T34" fmla="*/ 179 w 219"/>
                <a:gd name="T35" fmla="*/ 1825 h 3393"/>
                <a:gd name="T36" fmla="*/ 9 w 219"/>
                <a:gd name="T37" fmla="*/ 2034 h 3393"/>
                <a:gd name="T38" fmla="*/ 207 w 219"/>
                <a:gd name="T39" fmla="*/ 2269 h 3393"/>
                <a:gd name="T40" fmla="*/ 9 w 219"/>
                <a:gd name="T41" fmla="*/ 2557 h 3393"/>
                <a:gd name="T42" fmla="*/ 179 w 219"/>
                <a:gd name="T43" fmla="*/ 2845 h 3393"/>
                <a:gd name="T44" fmla="*/ 37 w 219"/>
                <a:gd name="T45" fmla="*/ 3185 h 3393"/>
                <a:gd name="T46" fmla="*/ 207 w 219"/>
                <a:gd name="T47" fmla="*/ 3393 h 339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219"/>
                <a:gd name="T73" fmla="*/ 0 h 3393"/>
                <a:gd name="T74" fmla="*/ 219 w 219"/>
                <a:gd name="T75" fmla="*/ 3393 h 3393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219" h="3393">
                  <a:moveTo>
                    <a:pt x="0" y="0"/>
                  </a:moveTo>
                  <a:cubicBezTo>
                    <a:pt x="35" y="8"/>
                    <a:pt x="205" y="32"/>
                    <a:pt x="207" y="49"/>
                  </a:cubicBezTo>
                  <a:cubicBezTo>
                    <a:pt x="209" y="66"/>
                    <a:pt x="9" y="83"/>
                    <a:pt x="9" y="100"/>
                  </a:cubicBezTo>
                  <a:cubicBezTo>
                    <a:pt x="9" y="118"/>
                    <a:pt x="207" y="135"/>
                    <a:pt x="207" y="153"/>
                  </a:cubicBezTo>
                  <a:cubicBezTo>
                    <a:pt x="207" y="170"/>
                    <a:pt x="9" y="183"/>
                    <a:pt x="9" y="205"/>
                  </a:cubicBezTo>
                  <a:cubicBezTo>
                    <a:pt x="9" y="227"/>
                    <a:pt x="207" y="258"/>
                    <a:pt x="207" y="284"/>
                  </a:cubicBezTo>
                  <a:cubicBezTo>
                    <a:pt x="207" y="309"/>
                    <a:pt x="8" y="336"/>
                    <a:pt x="9" y="362"/>
                  </a:cubicBezTo>
                  <a:cubicBezTo>
                    <a:pt x="10" y="388"/>
                    <a:pt x="212" y="411"/>
                    <a:pt x="212" y="441"/>
                  </a:cubicBezTo>
                  <a:cubicBezTo>
                    <a:pt x="212" y="472"/>
                    <a:pt x="10" y="509"/>
                    <a:pt x="9" y="544"/>
                  </a:cubicBezTo>
                  <a:cubicBezTo>
                    <a:pt x="8" y="580"/>
                    <a:pt x="200" y="613"/>
                    <a:pt x="205" y="656"/>
                  </a:cubicBezTo>
                  <a:cubicBezTo>
                    <a:pt x="210" y="699"/>
                    <a:pt x="37" y="757"/>
                    <a:pt x="37" y="806"/>
                  </a:cubicBezTo>
                  <a:cubicBezTo>
                    <a:pt x="37" y="856"/>
                    <a:pt x="205" y="906"/>
                    <a:pt x="205" y="954"/>
                  </a:cubicBezTo>
                  <a:cubicBezTo>
                    <a:pt x="205" y="1002"/>
                    <a:pt x="35" y="1048"/>
                    <a:pt x="37" y="1094"/>
                  </a:cubicBezTo>
                  <a:cubicBezTo>
                    <a:pt x="39" y="1140"/>
                    <a:pt x="219" y="1188"/>
                    <a:pt x="219" y="1231"/>
                  </a:cubicBezTo>
                  <a:cubicBezTo>
                    <a:pt x="219" y="1275"/>
                    <a:pt x="39" y="1312"/>
                    <a:pt x="37" y="1355"/>
                  </a:cubicBezTo>
                  <a:cubicBezTo>
                    <a:pt x="35" y="1397"/>
                    <a:pt x="207" y="1433"/>
                    <a:pt x="207" y="1486"/>
                  </a:cubicBezTo>
                  <a:cubicBezTo>
                    <a:pt x="207" y="1538"/>
                    <a:pt x="42" y="1612"/>
                    <a:pt x="37" y="1668"/>
                  </a:cubicBezTo>
                  <a:cubicBezTo>
                    <a:pt x="32" y="1724"/>
                    <a:pt x="184" y="1764"/>
                    <a:pt x="179" y="1825"/>
                  </a:cubicBezTo>
                  <a:cubicBezTo>
                    <a:pt x="174" y="1886"/>
                    <a:pt x="4" y="1960"/>
                    <a:pt x="9" y="2034"/>
                  </a:cubicBezTo>
                  <a:cubicBezTo>
                    <a:pt x="14" y="2108"/>
                    <a:pt x="207" y="2183"/>
                    <a:pt x="207" y="2269"/>
                  </a:cubicBezTo>
                  <a:cubicBezTo>
                    <a:pt x="207" y="2356"/>
                    <a:pt x="14" y="2461"/>
                    <a:pt x="9" y="2557"/>
                  </a:cubicBezTo>
                  <a:cubicBezTo>
                    <a:pt x="4" y="2653"/>
                    <a:pt x="174" y="2740"/>
                    <a:pt x="179" y="2845"/>
                  </a:cubicBezTo>
                  <a:cubicBezTo>
                    <a:pt x="184" y="2949"/>
                    <a:pt x="32" y="3093"/>
                    <a:pt x="37" y="3185"/>
                  </a:cubicBezTo>
                  <a:cubicBezTo>
                    <a:pt x="42" y="3276"/>
                    <a:pt x="124" y="3334"/>
                    <a:pt x="207" y="3393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41" name="Freeform 6"/>
            <p:cNvSpPr>
              <a:spLocks/>
            </p:cNvSpPr>
            <p:nvPr/>
          </p:nvSpPr>
          <p:spPr bwMode="auto">
            <a:xfrm>
              <a:off x="5346" y="341"/>
              <a:ext cx="208" cy="297"/>
            </a:xfrm>
            <a:custGeom>
              <a:avLst/>
              <a:gdLst>
                <a:gd name="T0" fmla="*/ 30 w 208"/>
                <a:gd name="T1" fmla="*/ 297 h 297"/>
                <a:gd name="T2" fmla="*/ 200 w 208"/>
                <a:gd name="T3" fmla="*/ 260 h 297"/>
                <a:gd name="T4" fmla="*/ 25 w 208"/>
                <a:gd name="T5" fmla="*/ 235 h 297"/>
                <a:gd name="T6" fmla="*/ 208 w 208"/>
                <a:gd name="T7" fmla="*/ 194 h 297"/>
                <a:gd name="T8" fmla="*/ 25 w 208"/>
                <a:gd name="T9" fmla="*/ 180 h 297"/>
                <a:gd name="T10" fmla="*/ 200 w 208"/>
                <a:gd name="T11" fmla="*/ 146 h 297"/>
                <a:gd name="T12" fmla="*/ 4 w 208"/>
                <a:gd name="T13" fmla="*/ 146 h 297"/>
                <a:gd name="T14" fmla="*/ 200 w 208"/>
                <a:gd name="T15" fmla="*/ 118 h 297"/>
                <a:gd name="T16" fmla="*/ 4 w 208"/>
                <a:gd name="T17" fmla="*/ 118 h 297"/>
                <a:gd name="T18" fmla="*/ 200 w 208"/>
                <a:gd name="T19" fmla="*/ 90 h 297"/>
                <a:gd name="T20" fmla="*/ 4 w 208"/>
                <a:gd name="T21" fmla="*/ 90 h 297"/>
                <a:gd name="T22" fmla="*/ 176 w 208"/>
                <a:gd name="T23" fmla="*/ 61 h 297"/>
                <a:gd name="T24" fmla="*/ 4 w 208"/>
                <a:gd name="T25" fmla="*/ 61 h 297"/>
                <a:gd name="T26" fmla="*/ 200 w 208"/>
                <a:gd name="T27" fmla="*/ 61 h 297"/>
                <a:gd name="T28" fmla="*/ 4 w 208"/>
                <a:gd name="T29" fmla="*/ 61 h 297"/>
                <a:gd name="T30" fmla="*/ 200 w 208"/>
                <a:gd name="T31" fmla="*/ 33 h 297"/>
                <a:gd name="T32" fmla="*/ 28 w 208"/>
                <a:gd name="T33" fmla="*/ 33 h 297"/>
                <a:gd name="T34" fmla="*/ 200 w 208"/>
                <a:gd name="T35" fmla="*/ 5 h 297"/>
                <a:gd name="T36" fmla="*/ 4 w 208"/>
                <a:gd name="T37" fmla="*/ 5 h 29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08"/>
                <a:gd name="T58" fmla="*/ 0 h 297"/>
                <a:gd name="T59" fmla="*/ 208 w 208"/>
                <a:gd name="T60" fmla="*/ 297 h 29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08" h="297">
                  <a:moveTo>
                    <a:pt x="30" y="297"/>
                  </a:moveTo>
                  <a:cubicBezTo>
                    <a:pt x="60" y="291"/>
                    <a:pt x="201" y="270"/>
                    <a:pt x="200" y="260"/>
                  </a:cubicBezTo>
                  <a:cubicBezTo>
                    <a:pt x="199" y="250"/>
                    <a:pt x="23" y="246"/>
                    <a:pt x="25" y="235"/>
                  </a:cubicBezTo>
                  <a:cubicBezTo>
                    <a:pt x="27" y="224"/>
                    <a:pt x="208" y="203"/>
                    <a:pt x="208" y="194"/>
                  </a:cubicBezTo>
                  <a:cubicBezTo>
                    <a:pt x="208" y="185"/>
                    <a:pt x="27" y="188"/>
                    <a:pt x="25" y="180"/>
                  </a:cubicBezTo>
                  <a:cubicBezTo>
                    <a:pt x="23" y="172"/>
                    <a:pt x="204" y="152"/>
                    <a:pt x="200" y="146"/>
                  </a:cubicBezTo>
                  <a:cubicBezTo>
                    <a:pt x="197" y="140"/>
                    <a:pt x="4" y="151"/>
                    <a:pt x="4" y="146"/>
                  </a:cubicBezTo>
                  <a:cubicBezTo>
                    <a:pt x="4" y="141"/>
                    <a:pt x="200" y="123"/>
                    <a:pt x="200" y="118"/>
                  </a:cubicBezTo>
                  <a:cubicBezTo>
                    <a:pt x="200" y="113"/>
                    <a:pt x="4" y="123"/>
                    <a:pt x="4" y="118"/>
                  </a:cubicBezTo>
                  <a:cubicBezTo>
                    <a:pt x="4" y="113"/>
                    <a:pt x="200" y="95"/>
                    <a:pt x="200" y="90"/>
                  </a:cubicBezTo>
                  <a:cubicBezTo>
                    <a:pt x="200" y="85"/>
                    <a:pt x="9" y="95"/>
                    <a:pt x="4" y="90"/>
                  </a:cubicBezTo>
                  <a:cubicBezTo>
                    <a:pt x="0" y="85"/>
                    <a:pt x="176" y="66"/>
                    <a:pt x="176" y="61"/>
                  </a:cubicBezTo>
                  <a:cubicBezTo>
                    <a:pt x="176" y="56"/>
                    <a:pt x="0" y="61"/>
                    <a:pt x="4" y="61"/>
                  </a:cubicBezTo>
                  <a:cubicBezTo>
                    <a:pt x="9" y="61"/>
                    <a:pt x="200" y="61"/>
                    <a:pt x="200" y="61"/>
                  </a:cubicBezTo>
                  <a:cubicBezTo>
                    <a:pt x="200" y="61"/>
                    <a:pt x="4" y="66"/>
                    <a:pt x="4" y="61"/>
                  </a:cubicBezTo>
                  <a:cubicBezTo>
                    <a:pt x="4" y="56"/>
                    <a:pt x="196" y="38"/>
                    <a:pt x="200" y="33"/>
                  </a:cubicBezTo>
                  <a:cubicBezTo>
                    <a:pt x="205" y="28"/>
                    <a:pt x="28" y="38"/>
                    <a:pt x="28" y="33"/>
                  </a:cubicBezTo>
                  <a:cubicBezTo>
                    <a:pt x="28" y="28"/>
                    <a:pt x="205" y="10"/>
                    <a:pt x="200" y="5"/>
                  </a:cubicBezTo>
                  <a:cubicBezTo>
                    <a:pt x="196" y="0"/>
                    <a:pt x="33" y="5"/>
                    <a:pt x="4" y="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2293" name="Rectangle 7"/>
          <p:cNvSpPr>
            <a:spLocks noChangeArrowheads="1"/>
          </p:cNvSpPr>
          <p:nvPr/>
        </p:nvSpPr>
        <p:spPr bwMode="auto">
          <a:xfrm>
            <a:off x="433388" y="5732463"/>
            <a:ext cx="10175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/>
              <a:t>475MHz</a:t>
            </a:r>
          </a:p>
        </p:txBody>
      </p:sp>
      <p:sp>
        <p:nvSpPr>
          <p:cNvPr id="12294" name="Rectangle 8"/>
          <p:cNvSpPr>
            <a:spLocks noChangeArrowheads="1"/>
          </p:cNvSpPr>
          <p:nvPr/>
        </p:nvSpPr>
        <p:spPr bwMode="auto">
          <a:xfrm>
            <a:off x="7885113" y="5732463"/>
            <a:ext cx="10175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/>
              <a:t>850MHz</a:t>
            </a:r>
          </a:p>
        </p:txBody>
      </p:sp>
      <p:sp>
        <p:nvSpPr>
          <p:cNvPr id="12295" name="Freeform 9"/>
          <p:cNvSpPr>
            <a:spLocks/>
          </p:cNvSpPr>
          <p:nvPr/>
        </p:nvSpPr>
        <p:spPr bwMode="auto">
          <a:xfrm>
            <a:off x="4569558" y="1905469"/>
            <a:ext cx="3848100" cy="1143000"/>
          </a:xfrm>
          <a:custGeom>
            <a:avLst/>
            <a:gdLst>
              <a:gd name="T0" fmla="*/ 2147483647 w 2424"/>
              <a:gd name="T1" fmla="*/ 2147483647 h 720"/>
              <a:gd name="T2" fmla="*/ 2147483647 w 2424"/>
              <a:gd name="T3" fmla="*/ 2147483647 h 720"/>
              <a:gd name="T4" fmla="*/ 2147483647 w 2424"/>
              <a:gd name="T5" fmla="*/ 2147483647 h 720"/>
              <a:gd name="T6" fmla="*/ 0 w 2424"/>
              <a:gd name="T7" fmla="*/ 0 h 720"/>
              <a:gd name="T8" fmla="*/ 2147483647 w 2424"/>
              <a:gd name="T9" fmla="*/ 2147483647 h 7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24"/>
              <a:gd name="T16" fmla="*/ 0 h 720"/>
              <a:gd name="T17" fmla="*/ 2424 w 2424"/>
              <a:gd name="T18" fmla="*/ 720 h 7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24" h="720">
                <a:moveTo>
                  <a:pt x="1000" y="712"/>
                </a:moveTo>
                <a:lnTo>
                  <a:pt x="1520" y="720"/>
                </a:lnTo>
                <a:lnTo>
                  <a:pt x="2424" y="8"/>
                </a:lnTo>
                <a:lnTo>
                  <a:pt x="0" y="0"/>
                </a:lnTo>
                <a:lnTo>
                  <a:pt x="1000" y="712"/>
                </a:lnTo>
                <a:close/>
              </a:path>
            </a:pathLst>
          </a:custGeom>
          <a:solidFill>
            <a:srgbClr val="00B0F0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296" name="Freeform 10"/>
          <p:cNvSpPr>
            <a:spLocks/>
          </p:cNvSpPr>
          <p:nvPr/>
        </p:nvSpPr>
        <p:spPr bwMode="auto">
          <a:xfrm>
            <a:off x="827088" y="3357563"/>
            <a:ext cx="7556500" cy="2087562"/>
          </a:xfrm>
          <a:custGeom>
            <a:avLst/>
            <a:gdLst>
              <a:gd name="T0" fmla="*/ 2147483647 w 4760"/>
              <a:gd name="T1" fmla="*/ 2147483647 h 1208"/>
              <a:gd name="T2" fmla="*/ 2147483647 w 4760"/>
              <a:gd name="T3" fmla="*/ 2147483647 h 1208"/>
              <a:gd name="T4" fmla="*/ 2147483647 w 4760"/>
              <a:gd name="T5" fmla="*/ 0 h 1208"/>
              <a:gd name="T6" fmla="*/ 0 w 4760"/>
              <a:gd name="T7" fmla="*/ 2147483647 h 1208"/>
              <a:gd name="T8" fmla="*/ 2147483647 w 4760"/>
              <a:gd name="T9" fmla="*/ 2147483647 h 12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60"/>
              <a:gd name="T16" fmla="*/ 0 h 1208"/>
              <a:gd name="T17" fmla="*/ 4760 w 4760"/>
              <a:gd name="T18" fmla="*/ 1208 h 120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60" h="1208">
                <a:moveTo>
                  <a:pt x="1680" y="1200"/>
                </a:moveTo>
                <a:lnTo>
                  <a:pt x="3016" y="1208"/>
                </a:lnTo>
                <a:lnTo>
                  <a:pt x="4760" y="0"/>
                </a:lnTo>
                <a:lnTo>
                  <a:pt x="0" y="11"/>
                </a:lnTo>
                <a:lnTo>
                  <a:pt x="1680" y="1200"/>
                </a:lnTo>
                <a:close/>
              </a:path>
            </a:pathLst>
          </a:custGeom>
          <a:solidFill>
            <a:srgbClr val="00B0F0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297" name="AutoShape 11"/>
          <p:cNvSpPr>
            <a:spLocks noChangeArrowheads="1"/>
          </p:cNvSpPr>
          <p:nvPr/>
        </p:nvSpPr>
        <p:spPr bwMode="auto">
          <a:xfrm flipV="1">
            <a:off x="3417888" y="29622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298" name="Line 12"/>
          <p:cNvSpPr>
            <a:spLocks noChangeShapeType="1"/>
          </p:cNvSpPr>
          <p:nvPr/>
        </p:nvSpPr>
        <p:spPr bwMode="auto">
          <a:xfrm flipV="1">
            <a:off x="4303713" y="2763838"/>
            <a:ext cx="0" cy="531812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299" name="Line 13"/>
          <p:cNvSpPr>
            <a:spLocks noChangeShapeType="1"/>
          </p:cNvSpPr>
          <p:nvPr/>
        </p:nvSpPr>
        <p:spPr bwMode="auto">
          <a:xfrm>
            <a:off x="979488" y="3294063"/>
            <a:ext cx="7734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00" name="AutoShape 14"/>
          <p:cNvSpPr>
            <a:spLocks noChangeArrowheads="1"/>
          </p:cNvSpPr>
          <p:nvPr/>
        </p:nvSpPr>
        <p:spPr bwMode="auto">
          <a:xfrm flipV="1">
            <a:off x="4700588" y="29622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1" name="AutoShape 15"/>
          <p:cNvSpPr>
            <a:spLocks noChangeArrowheads="1"/>
          </p:cNvSpPr>
          <p:nvPr/>
        </p:nvSpPr>
        <p:spPr bwMode="auto">
          <a:xfrm flipV="1">
            <a:off x="5970588" y="29495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2" name="AutoShape 16"/>
          <p:cNvSpPr>
            <a:spLocks noChangeArrowheads="1"/>
          </p:cNvSpPr>
          <p:nvPr/>
        </p:nvSpPr>
        <p:spPr bwMode="auto">
          <a:xfrm flipV="1">
            <a:off x="7240588" y="29622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3" name="AutoShape 17"/>
          <p:cNvSpPr>
            <a:spLocks noChangeArrowheads="1"/>
          </p:cNvSpPr>
          <p:nvPr/>
        </p:nvSpPr>
        <p:spPr bwMode="auto">
          <a:xfrm flipV="1">
            <a:off x="852488" y="29495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4" name="AutoShape 18"/>
          <p:cNvSpPr>
            <a:spLocks noChangeArrowheads="1"/>
          </p:cNvSpPr>
          <p:nvPr/>
        </p:nvSpPr>
        <p:spPr bwMode="auto">
          <a:xfrm flipV="1">
            <a:off x="2135188" y="29495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5" name="AutoShape 19"/>
          <p:cNvSpPr>
            <a:spLocks noChangeArrowheads="1"/>
          </p:cNvSpPr>
          <p:nvPr/>
        </p:nvSpPr>
        <p:spPr bwMode="auto">
          <a:xfrm flipV="1">
            <a:off x="4506058" y="1003769"/>
            <a:ext cx="3954462" cy="8477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6" name="Line 20"/>
          <p:cNvSpPr>
            <a:spLocks noChangeShapeType="1"/>
          </p:cNvSpPr>
          <p:nvPr/>
        </p:nvSpPr>
        <p:spPr bwMode="auto">
          <a:xfrm>
            <a:off x="1042988" y="5500688"/>
            <a:ext cx="19002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07" name="AutoShape 21"/>
          <p:cNvSpPr>
            <a:spLocks noChangeArrowheads="1"/>
          </p:cNvSpPr>
          <p:nvPr/>
        </p:nvSpPr>
        <p:spPr bwMode="auto">
          <a:xfrm flipV="1">
            <a:off x="69151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8" name="AutoShape 22"/>
          <p:cNvSpPr>
            <a:spLocks noChangeArrowheads="1"/>
          </p:cNvSpPr>
          <p:nvPr/>
        </p:nvSpPr>
        <p:spPr bwMode="auto">
          <a:xfrm flipV="1">
            <a:off x="5391150" y="5259388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9" name="AutoShape 23"/>
          <p:cNvSpPr>
            <a:spLocks noChangeArrowheads="1"/>
          </p:cNvSpPr>
          <p:nvPr/>
        </p:nvSpPr>
        <p:spPr bwMode="auto">
          <a:xfrm flipV="1">
            <a:off x="3897313" y="524986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0" name="AutoShape 24"/>
          <p:cNvSpPr>
            <a:spLocks noChangeArrowheads="1"/>
          </p:cNvSpPr>
          <p:nvPr/>
        </p:nvSpPr>
        <p:spPr bwMode="auto">
          <a:xfrm flipV="1">
            <a:off x="23177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1" name="AutoShape 25"/>
          <p:cNvSpPr>
            <a:spLocks noChangeArrowheads="1"/>
          </p:cNvSpPr>
          <p:nvPr/>
        </p:nvSpPr>
        <p:spPr bwMode="auto">
          <a:xfrm flipV="1">
            <a:off x="8572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2" name="Line 26"/>
          <p:cNvSpPr>
            <a:spLocks noChangeShapeType="1"/>
          </p:cNvSpPr>
          <p:nvPr/>
        </p:nvSpPr>
        <p:spPr bwMode="auto">
          <a:xfrm>
            <a:off x="1797050" y="5503863"/>
            <a:ext cx="190023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13" name="AutoShape 27"/>
          <p:cNvSpPr>
            <a:spLocks noChangeArrowheads="1"/>
          </p:cNvSpPr>
          <p:nvPr/>
        </p:nvSpPr>
        <p:spPr bwMode="auto">
          <a:xfrm flipV="1">
            <a:off x="7669213" y="5248275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4" name="AutoShape 28"/>
          <p:cNvSpPr>
            <a:spLocks noChangeArrowheads="1"/>
          </p:cNvSpPr>
          <p:nvPr/>
        </p:nvSpPr>
        <p:spPr bwMode="auto">
          <a:xfrm flipV="1">
            <a:off x="61404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5" name="AutoShape 29"/>
          <p:cNvSpPr>
            <a:spLocks noChangeArrowheads="1"/>
          </p:cNvSpPr>
          <p:nvPr/>
        </p:nvSpPr>
        <p:spPr bwMode="auto">
          <a:xfrm flipV="1">
            <a:off x="4641850" y="524986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6" name="AutoShape 30"/>
          <p:cNvSpPr>
            <a:spLocks noChangeArrowheads="1"/>
          </p:cNvSpPr>
          <p:nvPr/>
        </p:nvSpPr>
        <p:spPr bwMode="auto">
          <a:xfrm flipV="1">
            <a:off x="3067050" y="524351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7" name="AutoShape 31"/>
          <p:cNvSpPr>
            <a:spLocks noChangeArrowheads="1"/>
          </p:cNvSpPr>
          <p:nvPr/>
        </p:nvSpPr>
        <p:spPr bwMode="auto">
          <a:xfrm flipV="1">
            <a:off x="1606550" y="524351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8" name="Line 32"/>
          <p:cNvSpPr>
            <a:spLocks noChangeShapeType="1"/>
          </p:cNvSpPr>
          <p:nvPr/>
        </p:nvSpPr>
        <p:spPr bwMode="auto">
          <a:xfrm>
            <a:off x="1423988" y="5500688"/>
            <a:ext cx="19002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19" name="AutoShape 33"/>
          <p:cNvSpPr>
            <a:spLocks noChangeArrowheads="1"/>
          </p:cNvSpPr>
          <p:nvPr/>
        </p:nvSpPr>
        <p:spPr bwMode="auto">
          <a:xfrm flipV="1">
            <a:off x="72961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0" name="AutoShape 34"/>
          <p:cNvSpPr>
            <a:spLocks noChangeArrowheads="1"/>
          </p:cNvSpPr>
          <p:nvPr/>
        </p:nvSpPr>
        <p:spPr bwMode="auto">
          <a:xfrm flipV="1">
            <a:off x="5772150" y="5259388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1" name="AutoShape 35"/>
          <p:cNvSpPr>
            <a:spLocks noChangeArrowheads="1"/>
          </p:cNvSpPr>
          <p:nvPr/>
        </p:nvSpPr>
        <p:spPr bwMode="auto">
          <a:xfrm flipV="1">
            <a:off x="42735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2" name="AutoShape 36"/>
          <p:cNvSpPr>
            <a:spLocks noChangeArrowheads="1"/>
          </p:cNvSpPr>
          <p:nvPr/>
        </p:nvSpPr>
        <p:spPr bwMode="auto">
          <a:xfrm flipV="1">
            <a:off x="26987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3" name="AutoShape 37"/>
          <p:cNvSpPr>
            <a:spLocks noChangeArrowheads="1"/>
          </p:cNvSpPr>
          <p:nvPr/>
        </p:nvSpPr>
        <p:spPr bwMode="auto">
          <a:xfrm flipV="1">
            <a:off x="12382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4" name="Line 38"/>
          <p:cNvSpPr>
            <a:spLocks noChangeShapeType="1"/>
          </p:cNvSpPr>
          <p:nvPr/>
        </p:nvSpPr>
        <p:spPr bwMode="auto">
          <a:xfrm>
            <a:off x="3276600" y="5507038"/>
            <a:ext cx="5040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25" name="AutoShape 39"/>
          <p:cNvSpPr>
            <a:spLocks noChangeArrowheads="1"/>
          </p:cNvSpPr>
          <p:nvPr/>
        </p:nvSpPr>
        <p:spPr bwMode="auto">
          <a:xfrm flipV="1">
            <a:off x="8045450" y="5253038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6" name="AutoShape 40"/>
          <p:cNvSpPr>
            <a:spLocks noChangeArrowheads="1"/>
          </p:cNvSpPr>
          <p:nvPr/>
        </p:nvSpPr>
        <p:spPr bwMode="auto">
          <a:xfrm flipV="1">
            <a:off x="65214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7" name="AutoShape 41"/>
          <p:cNvSpPr>
            <a:spLocks noChangeArrowheads="1"/>
          </p:cNvSpPr>
          <p:nvPr/>
        </p:nvSpPr>
        <p:spPr bwMode="auto">
          <a:xfrm flipV="1">
            <a:off x="50228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8" name="AutoShape 42"/>
          <p:cNvSpPr>
            <a:spLocks noChangeArrowheads="1"/>
          </p:cNvSpPr>
          <p:nvPr/>
        </p:nvSpPr>
        <p:spPr bwMode="auto">
          <a:xfrm flipV="1">
            <a:off x="3443288" y="524351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9" name="AutoShape 43"/>
          <p:cNvSpPr>
            <a:spLocks noChangeArrowheads="1"/>
          </p:cNvSpPr>
          <p:nvPr/>
        </p:nvSpPr>
        <p:spPr bwMode="auto">
          <a:xfrm flipV="1">
            <a:off x="1987550" y="524351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35" name="Text Box 49"/>
          <p:cNvSpPr txBox="1">
            <a:spLocks noChangeArrowheads="1"/>
          </p:cNvSpPr>
          <p:nvPr/>
        </p:nvSpPr>
        <p:spPr bwMode="auto">
          <a:xfrm>
            <a:off x="684213" y="4868863"/>
            <a:ext cx="5826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200"/>
              <a:t>Ch21</a:t>
            </a:r>
          </a:p>
        </p:txBody>
      </p:sp>
      <p:sp>
        <p:nvSpPr>
          <p:cNvPr id="12336" name="Text Box 50"/>
          <p:cNvSpPr txBox="1">
            <a:spLocks noChangeArrowheads="1"/>
          </p:cNvSpPr>
          <p:nvPr/>
        </p:nvSpPr>
        <p:spPr bwMode="auto">
          <a:xfrm>
            <a:off x="7885113" y="4868863"/>
            <a:ext cx="5826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200"/>
              <a:t>Ch68</a:t>
            </a:r>
          </a:p>
        </p:txBody>
      </p:sp>
      <p:sp>
        <p:nvSpPr>
          <p:cNvPr id="12337" name="Line 51"/>
          <p:cNvSpPr>
            <a:spLocks noChangeShapeType="1"/>
          </p:cNvSpPr>
          <p:nvPr/>
        </p:nvSpPr>
        <p:spPr bwMode="auto">
          <a:xfrm>
            <a:off x="1258888" y="5013325"/>
            <a:ext cx="6626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38" name="Text Box 52"/>
          <p:cNvSpPr txBox="1">
            <a:spLocks noChangeArrowheads="1"/>
          </p:cNvSpPr>
          <p:nvPr/>
        </p:nvSpPr>
        <p:spPr bwMode="auto">
          <a:xfrm>
            <a:off x="3995738" y="4868863"/>
            <a:ext cx="1089025" cy="276225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200"/>
              <a:t>48 channels</a:t>
            </a:r>
          </a:p>
        </p:txBody>
      </p:sp>
      <p:sp>
        <p:nvSpPr>
          <p:cNvPr id="12339" name="Rectangle 7"/>
          <p:cNvSpPr>
            <a:spLocks noChangeArrowheads="1"/>
          </p:cNvSpPr>
          <p:nvPr/>
        </p:nvSpPr>
        <p:spPr bwMode="auto">
          <a:xfrm>
            <a:off x="393700" y="6065838"/>
            <a:ext cx="16684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b="1"/>
              <a:t>UHF Band IV, 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1911" y="927070"/>
            <a:ext cx="231274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7Mhz Channel </a:t>
            </a:r>
          </a:p>
          <a:p>
            <a:pPr algn="ctr"/>
            <a:r>
              <a:rPr lang="en-GB" dirty="0"/>
              <a:t>contains a number of DVB-T TV channels </a:t>
            </a:r>
          </a:p>
        </p:txBody>
      </p:sp>
      <p:cxnSp>
        <p:nvCxnSpPr>
          <p:cNvPr id="23" name="Straight Arrow Connector 22"/>
          <p:cNvCxnSpPr/>
          <p:nvPr/>
        </p:nvCxnSpPr>
        <p:spPr bwMode="auto">
          <a:xfrm flipH="1">
            <a:off x="1152525" y="1669853"/>
            <a:ext cx="83478" cy="128581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177995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3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28"/>
          <a:stretch>
            <a:fillRect/>
          </a:stretch>
        </p:blipFill>
        <p:spPr bwMode="auto">
          <a:xfrm>
            <a:off x="1095375" y="1200150"/>
            <a:ext cx="6937375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TextBox 1"/>
          <p:cNvSpPr txBox="1">
            <a:spLocks noChangeArrowheads="1"/>
          </p:cNvSpPr>
          <p:nvPr/>
        </p:nvSpPr>
        <p:spPr bwMode="auto">
          <a:xfrm>
            <a:off x="401638" y="357188"/>
            <a:ext cx="85635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Freeview – Sutton Coldfield Transmissions</a:t>
            </a:r>
            <a:r>
              <a:rPr lang="en-GB" sz="1200" dirty="0"/>
              <a:t> (9 Multiplexes altogether)</a:t>
            </a:r>
            <a:r>
              <a:rPr lang="en-GB" sz="2400" b="1" dirty="0"/>
              <a:t> </a:t>
            </a:r>
          </a:p>
        </p:txBody>
      </p:sp>
      <p:pic>
        <p:nvPicPr>
          <p:cNvPr id="14340" name="Picture 3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0" y="817563"/>
            <a:ext cx="6692900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Rectangle 3"/>
          <p:cNvSpPr>
            <a:spLocks noChangeArrowheads="1"/>
          </p:cNvSpPr>
          <p:nvPr/>
        </p:nvSpPr>
        <p:spPr bwMode="auto">
          <a:xfrm>
            <a:off x="1558925" y="2192338"/>
            <a:ext cx="6816725" cy="633412"/>
          </a:xfrm>
          <a:prstGeom prst="rect">
            <a:avLst/>
          </a:prstGeom>
          <a:solidFill>
            <a:schemeClr val="bg1">
              <a:alpha val="8509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2" name="Rectangle 38"/>
          <p:cNvSpPr>
            <a:spLocks noChangeArrowheads="1"/>
          </p:cNvSpPr>
          <p:nvPr/>
        </p:nvSpPr>
        <p:spPr bwMode="auto">
          <a:xfrm>
            <a:off x="1527175" y="4011613"/>
            <a:ext cx="6816725" cy="633412"/>
          </a:xfrm>
          <a:prstGeom prst="rect">
            <a:avLst/>
          </a:prstGeom>
          <a:solidFill>
            <a:schemeClr val="bg1">
              <a:alpha val="8509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3" name="Rectangle 39"/>
          <p:cNvSpPr>
            <a:spLocks noChangeArrowheads="1"/>
          </p:cNvSpPr>
          <p:nvPr/>
        </p:nvSpPr>
        <p:spPr bwMode="auto">
          <a:xfrm>
            <a:off x="1444625" y="5881688"/>
            <a:ext cx="6816725" cy="633412"/>
          </a:xfrm>
          <a:prstGeom prst="rect">
            <a:avLst/>
          </a:prstGeom>
          <a:solidFill>
            <a:schemeClr val="bg1">
              <a:alpha val="8509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903788" y="6240463"/>
            <a:ext cx="4240212" cy="2619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GB" sz="1050" dirty="0">
                <a:hlinkClick r:id="rId4"/>
              </a:rPr>
              <a:t>http://www.ukfree.tv/txdetail.php?a=SK113003</a:t>
            </a:r>
            <a:endParaRPr lang="en-GB" sz="1050" dirty="0"/>
          </a:p>
        </p:txBody>
      </p:sp>
    </p:spTree>
    <p:extLst>
      <p:ext uri="{BB962C8B-B14F-4D97-AF65-F5344CB8AC3E}">
        <p14:creationId xmlns:p14="http://schemas.microsoft.com/office/powerpoint/2010/main" val="558150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81000" y="4700588"/>
            <a:ext cx="8642350" cy="17160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381000" y="378768"/>
            <a:ext cx="65646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Digital Terrestrial TV (DTTV, e.g. Freeview)</a:t>
            </a:r>
          </a:p>
        </p:txBody>
      </p:sp>
      <p:grpSp>
        <p:nvGrpSpPr>
          <p:cNvPr id="3" name="Group 4"/>
          <p:cNvGrpSpPr>
            <a:grpSpLocks/>
          </p:cNvGrpSpPr>
          <p:nvPr/>
        </p:nvGrpSpPr>
        <p:grpSpPr bwMode="auto">
          <a:xfrm rot="5400000">
            <a:off x="4468019" y="2596356"/>
            <a:ext cx="352425" cy="6481763"/>
            <a:chOff x="5346" y="341"/>
            <a:chExt cx="222" cy="3690"/>
          </a:xfrm>
        </p:grpSpPr>
        <p:sp>
          <p:nvSpPr>
            <p:cNvPr id="12340" name="Freeform 5"/>
            <p:cNvSpPr>
              <a:spLocks/>
            </p:cNvSpPr>
            <p:nvPr/>
          </p:nvSpPr>
          <p:spPr bwMode="auto">
            <a:xfrm>
              <a:off x="5349" y="638"/>
              <a:ext cx="219" cy="3393"/>
            </a:xfrm>
            <a:custGeom>
              <a:avLst/>
              <a:gdLst>
                <a:gd name="T0" fmla="*/ 0 w 219"/>
                <a:gd name="T1" fmla="*/ 0 h 3393"/>
                <a:gd name="T2" fmla="*/ 207 w 219"/>
                <a:gd name="T3" fmla="*/ 49 h 3393"/>
                <a:gd name="T4" fmla="*/ 9 w 219"/>
                <a:gd name="T5" fmla="*/ 100 h 3393"/>
                <a:gd name="T6" fmla="*/ 207 w 219"/>
                <a:gd name="T7" fmla="*/ 153 h 3393"/>
                <a:gd name="T8" fmla="*/ 9 w 219"/>
                <a:gd name="T9" fmla="*/ 205 h 3393"/>
                <a:gd name="T10" fmla="*/ 207 w 219"/>
                <a:gd name="T11" fmla="*/ 284 h 3393"/>
                <a:gd name="T12" fmla="*/ 9 w 219"/>
                <a:gd name="T13" fmla="*/ 362 h 3393"/>
                <a:gd name="T14" fmla="*/ 212 w 219"/>
                <a:gd name="T15" fmla="*/ 441 h 3393"/>
                <a:gd name="T16" fmla="*/ 9 w 219"/>
                <a:gd name="T17" fmla="*/ 544 h 3393"/>
                <a:gd name="T18" fmla="*/ 205 w 219"/>
                <a:gd name="T19" fmla="*/ 656 h 3393"/>
                <a:gd name="T20" fmla="*/ 37 w 219"/>
                <a:gd name="T21" fmla="*/ 806 h 3393"/>
                <a:gd name="T22" fmla="*/ 205 w 219"/>
                <a:gd name="T23" fmla="*/ 954 h 3393"/>
                <a:gd name="T24" fmla="*/ 37 w 219"/>
                <a:gd name="T25" fmla="*/ 1094 h 3393"/>
                <a:gd name="T26" fmla="*/ 219 w 219"/>
                <a:gd name="T27" fmla="*/ 1231 h 3393"/>
                <a:gd name="T28" fmla="*/ 37 w 219"/>
                <a:gd name="T29" fmla="*/ 1355 h 3393"/>
                <a:gd name="T30" fmla="*/ 207 w 219"/>
                <a:gd name="T31" fmla="*/ 1486 h 3393"/>
                <a:gd name="T32" fmla="*/ 37 w 219"/>
                <a:gd name="T33" fmla="*/ 1668 h 3393"/>
                <a:gd name="T34" fmla="*/ 179 w 219"/>
                <a:gd name="T35" fmla="*/ 1825 h 3393"/>
                <a:gd name="T36" fmla="*/ 9 w 219"/>
                <a:gd name="T37" fmla="*/ 2034 h 3393"/>
                <a:gd name="T38" fmla="*/ 207 w 219"/>
                <a:gd name="T39" fmla="*/ 2269 h 3393"/>
                <a:gd name="T40" fmla="*/ 9 w 219"/>
                <a:gd name="T41" fmla="*/ 2557 h 3393"/>
                <a:gd name="T42" fmla="*/ 179 w 219"/>
                <a:gd name="T43" fmla="*/ 2845 h 3393"/>
                <a:gd name="T44" fmla="*/ 37 w 219"/>
                <a:gd name="T45" fmla="*/ 3185 h 3393"/>
                <a:gd name="T46" fmla="*/ 207 w 219"/>
                <a:gd name="T47" fmla="*/ 3393 h 339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219"/>
                <a:gd name="T73" fmla="*/ 0 h 3393"/>
                <a:gd name="T74" fmla="*/ 219 w 219"/>
                <a:gd name="T75" fmla="*/ 3393 h 3393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219" h="3393">
                  <a:moveTo>
                    <a:pt x="0" y="0"/>
                  </a:moveTo>
                  <a:cubicBezTo>
                    <a:pt x="35" y="8"/>
                    <a:pt x="205" y="32"/>
                    <a:pt x="207" y="49"/>
                  </a:cubicBezTo>
                  <a:cubicBezTo>
                    <a:pt x="209" y="66"/>
                    <a:pt x="9" y="83"/>
                    <a:pt x="9" y="100"/>
                  </a:cubicBezTo>
                  <a:cubicBezTo>
                    <a:pt x="9" y="118"/>
                    <a:pt x="207" y="135"/>
                    <a:pt x="207" y="153"/>
                  </a:cubicBezTo>
                  <a:cubicBezTo>
                    <a:pt x="207" y="170"/>
                    <a:pt x="9" y="183"/>
                    <a:pt x="9" y="205"/>
                  </a:cubicBezTo>
                  <a:cubicBezTo>
                    <a:pt x="9" y="227"/>
                    <a:pt x="207" y="258"/>
                    <a:pt x="207" y="284"/>
                  </a:cubicBezTo>
                  <a:cubicBezTo>
                    <a:pt x="207" y="309"/>
                    <a:pt x="8" y="336"/>
                    <a:pt x="9" y="362"/>
                  </a:cubicBezTo>
                  <a:cubicBezTo>
                    <a:pt x="10" y="388"/>
                    <a:pt x="212" y="411"/>
                    <a:pt x="212" y="441"/>
                  </a:cubicBezTo>
                  <a:cubicBezTo>
                    <a:pt x="212" y="472"/>
                    <a:pt x="10" y="509"/>
                    <a:pt x="9" y="544"/>
                  </a:cubicBezTo>
                  <a:cubicBezTo>
                    <a:pt x="8" y="580"/>
                    <a:pt x="200" y="613"/>
                    <a:pt x="205" y="656"/>
                  </a:cubicBezTo>
                  <a:cubicBezTo>
                    <a:pt x="210" y="699"/>
                    <a:pt x="37" y="757"/>
                    <a:pt x="37" y="806"/>
                  </a:cubicBezTo>
                  <a:cubicBezTo>
                    <a:pt x="37" y="856"/>
                    <a:pt x="205" y="906"/>
                    <a:pt x="205" y="954"/>
                  </a:cubicBezTo>
                  <a:cubicBezTo>
                    <a:pt x="205" y="1002"/>
                    <a:pt x="35" y="1048"/>
                    <a:pt x="37" y="1094"/>
                  </a:cubicBezTo>
                  <a:cubicBezTo>
                    <a:pt x="39" y="1140"/>
                    <a:pt x="219" y="1188"/>
                    <a:pt x="219" y="1231"/>
                  </a:cubicBezTo>
                  <a:cubicBezTo>
                    <a:pt x="219" y="1275"/>
                    <a:pt x="39" y="1312"/>
                    <a:pt x="37" y="1355"/>
                  </a:cubicBezTo>
                  <a:cubicBezTo>
                    <a:pt x="35" y="1397"/>
                    <a:pt x="207" y="1433"/>
                    <a:pt x="207" y="1486"/>
                  </a:cubicBezTo>
                  <a:cubicBezTo>
                    <a:pt x="207" y="1538"/>
                    <a:pt x="42" y="1612"/>
                    <a:pt x="37" y="1668"/>
                  </a:cubicBezTo>
                  <a:cubicBezTo>
                    <a:pt x="32" y="1724"/>
                    <a:pt x="184" y="1764"/>
                    <a:pt x="179" y="1825"/>
                  </a:cubicBezTo>
                  <a:cubicBezTo>
                    <a:pt x="174" y="1886"/>
                    <a:pt x="4" y="1960"/>
                    <a:pt x="9" y="2034"/>
                  </a:cubicBezTo>
                  <a:cubicBezTo>
                    <a:pt x="14" y="2108"/>
                    <a:pt x="207" y="2183"/>
                    <a:pt x="207" y="2269"/>
                  </a:cubicBezTo>
                  <a:cubicBezTo>
                    <a:pt x="207" y="2356"/>
                    <a:pt x="14" y="2461"/>
                    <a:pt x="9" y="2557"/>
                  </a:cubicBezTo>
                  <a:cubicBezTo>
                    <a:pt x="4" y="2653"/>
                    <a:pt x="174" y="2740"/>
                    <a:pt x="179" y="2845"/>
                  </a:cubicBezTo>
                  <a:cubicBezTo>
                    <a:pt x="184" y="2949"/>
                    <a:pt x="32" y="3093"/>
                    <a:pt x="37" y="3185"/>
                  </a:cubicBezTo>
                  <a:cubicBezTo>
                    <a:pt x="42" y="3276"/>
                    <a:pt x="124" y="3334"/>
                    <a:pt x="207" y="3393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41" name="Freeform 6"/>
            <p:cNvSpPr>
              <a:spLocks/>
            </p:cNvSpPr>
            <p:nvPr/>
          </p:nvSpPr>
          <p:spPr bwMode="auto">
            <a:xfrm>
              <a:off x="5346" y="341"/>
              <a:ext cx="208" cy="297"/>
            </a:xfrm>
            <a:custGeom>
              <a:avLst/>
              <a:gdLst>
                <a:gd name="T0" fmla="*/ 30 w 208"/>
                <a:gd name="T1" fmla="*/ 297 h 297"/>
                <a:gd name="T2" fmla="*/ 200 w 208"/>
                <a:gd name="T3" fmla="*/ 260 h 297"/>
                <a:gd name="T4" fmla="*/ 25 w 208"/>
                <a:gd name="T5" fmla="*/ 235 h 297"/>
                <a:gd name="T6" fmla="*/ 208 w 208"/>
                <a:gd name="T7" fmla="*/ 194 h 297"/>
                <a:gd name="T8" fmla="*/ 25 w 208"/>
                <a:gd name="T9" fmla="*/ 180 h 297"/>
                <a:gd name="T10" fmla="*/ 200 w 208"/>
                <a:gd name="T11" fmla="*/ 146 h 297"/>
                <a:gd name="T12" fmla="*/ 4 w 208"/>
                <a:gd name="T13" fmla="*/ 146 h 297"/>
                <a:gd name="T14" fmla="*/ 200 w 208"/>
                <a:gd name="T15" fmla="*/ 118 h 297"/>
                <a:gd name="T16" fmla="*/ 4 w 208"/>
                <a:gd name="T17" fmla="*/ 118 h 297"/>
                <a:gd name="T18" fmla="*/ 200 w 208"/>
                <a:gd name="T19" fmla="*/ 90 h 297"/>
                <a:gd name="T20" fmla="*/ 4 w 208"/>
                <a:gd name="T21" fmla="*/ 90 h 297"/>
                <a:gd name="T22" fmla="*/ 176 w 208"/>
                <a:gd name="T23" fmla="*/ 61 h 297"/>
                <a:gd name="T24" fmla="*/ 4 w 208"/>
                <a:gd name="T25" fmla="*/ 61 h 297"/>
                <a:gd name="T26" fmla="*/ 200 w 208"/>
                <a:gd name="T27" fmla="*/ 61 h 297"/>
                <a:gd name="T28" fmla="*/ 4 w 208"/>
                <a:gd name="T29" fmla="*/ 61 h 297"/>
                <a:gd name="T30" fmla="*/ 200 w 208"/>
                <a:gd name="T31" fmla="*/ 33 h 297"/>
                <a:gd name="T32" fmla="*/ 28 w 208"/>
                <a:gd name="T33" fmla="*/ 33 h 297"/>
                <a:gd name="T34" fmla="*/ 200 w 208"/>
                <a:gd name="T35" fmla="*/ 5 h 297"/>
                <a:gd name="T36" fmla="*/ 4 w 208"/>
                <a:gd name="T37" fmla="*/ 5 h 29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08"/>
                <a:gd name="T58" fmla="*/ 0 h 297"/>
                <a:gd name="T59" fmla="*/ 208 w 208"/>
                <a:gd name="T60" fmla="*/ 297 h 29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08" h="297">
                  <a:moveTo>
                    <a:pt x="30" y="297"/>
                  </a:moveTo>
                  <a:cubicBezTo>
                    <a:pt x="60" y="291"/>
                    <a:pt x="201" y="270"/>
                    <a:pt x="200" y="260"/>
                  </a:cubicBezTo>
                  <a:cubicBezTo>
                    <a:pt x="199" y="250"/>
                    <a:pt x="23" y="246"/>
                    <a:pt x="25" y="235"/>
                  </a:cubicBezTo>
                  <a:cubicBezTo>
                    <a:pt x="27" y="224"/>
                    <a:pt x="208" y="203"/>
                    <a:pt x="208" y="194"/>
                  </a:cubicBezTo>
                  <a:cubicBezTo>
                    <a:pt x="208" y="185"/>
                    <a:pt x="27" y="188"/>
                    <a:pt x="25" y="180"/>
                  </a:cubicBezTo>
                  <a:cubicBezTo>
                    <a:pt x="23" y="172"/>
                    <a:pt x="204" y="152"/>
                    <a:pt x="200" y="146"/>
                  </a:cubicBezTo>
                  <a:cubicBezTo>
                    <a:pt x="197" y="140"/>
                    <a:pt x="4" y="151"/>
                    <a:pt x="4" y="146"/>
                  </a:cubicBezTo>
                  <a:cubicBezTo>
                    <a:pt x="4" y="141"/>
                    <a:pt x="200" y="123"/>
                    <a:pt x="200" y="118"/>
                  </a:cubicBezTo>
                  <a:cubicBezTo>
                    <a:pt x="200" y="113"/>
                    <a:pt x="4" y="123"/>
                    <a:pt x="4" y="118"/>
                  </a:cubicBezTo>
                  <a:cubicBezTo>
                    <a:pt x="4" y="113"/>
                    <a:pt x="200" y="95"/>
                    <a:pt x="200" y="90"/>
                  </a:cubicBezTo>
                  <a:cubicBezTo>
                    <a:pt x="200" y="85"/>
                    <a:pt x="9" y="95"/>
                    <a:pt x="4" y="90"/>
                  </a:cubicBezTo>
                  <a:cubicBezTo>
                    <a:pt x="0" y="85"/>
                    <a:pt x="176" y="66"/>
                    <a:pt x="176" y="61"/>
                  </a:cubicBezTo>
                  <a:cubicBezTo>
                    <a:pt x="176" y="56"/>
                    <a:pt x="0" y="61"/>
                    <a:pt x="4" y="61"/>
                  </a:cubicBezTo>
                  <a:cubicBezTo>
                    <a:pt x="9" y="61"/>
                    <a:pt x="200" y="61"/>
                    <a:pt x="200" y="61"/>
                  </a:cubicBezTo>
                  <a:cubicBezTo>
                    <a:pt x="200" y="61"/>
                    <a:pt x="4" y="66"/>
                    <a:pt x="4" y="61"/>
                  </a:cubicBezTo>
                  <a:cubicBezTo>
                    <a:pt x="4" y="56"/>
                    <a:pt x="196" y="38"/>
                    <a:pt x="200" y="33"/>
                  </a:cubicBezTo>
                  <a:cubicBezTo>
                    <a:pt x="205" y="28"/>
                    <a:pt x="28" y="38"/>
                    <a:pt x="28" y="33"/>
                  </a:cubicBezTo>
                  <a:cubicBezTo>
                    <a:pt x="28" y="28"/>
                    <a:pt x="205" y="10"/>
                    <a:pt x="200" y="5"/>
                  </a:cubicBezTo>
                  <a:cubicBezTo>
                    <a:pt x="196" y="0"/>
                    <a:pt x="33" y="5"/>
                    <a:pt x="4" y="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2293" name="Rectangle 7"/>
          <p:cNvSpPr>
            <a:spLocks noChangeArrowheads="1"/>
          </p:cNvSpPr>
          <p:nvPr/>
        </p:nvSpPr>
        <p:spPr bwMode="auto">
          <a:xfrm>
            <a:off x="433388" y="5732463"/>
            <a:ext cx="10175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/>
              <a:t>475MHz</a:t>
            </a:r>
          </a:p>
        </p:txBody>
      </p:sp>
      <p:sp>
        <p:nvSpPr>
          <p:cNvPr id="12294" name="Rectangle 8"/>
          <p:cNvSpPr>
            <a:spLocks noChangeArrowheads="1"/>
          </p:cNvSpPr>
          <p:nvPr/>
        </p:nvSpPr>
        <p:spPr bwMode="auto">
          <a:xfrm>
            <a:off x="7885113" y="5732463"/>
            <a:ext cx="10175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/>
              <a:t>850MHz</a:t>
            </a:r>
          </a:p>
        </p:txBody>
      </p:sp>
      <p:sp>
        <p:nvSpPr>
          <p:cNvPr id="12295" name="Freeform 9"/>
          <p:cNvSpPr>
            <a:spLocks/>
          </p:cNvSpPr>
          <p:nvPr/>
        </p:nvSpPr>
        <p:spPr bwMode="auto">
          <a:xfrm>
            <a:off x="4569558" y="1905469"/>
            <a:ext cx="3848100" cy="1143000"/>
          </a:xfrm>
          <a:custGeom>
            <a:avLst/>
            <a:gdLst>
              <a:gd name="T0" fmla="*/ 2147483647 w 2424"/>
              <a:gd name="T1" fmla="*/ 2147483647 h 720"/>
              <a:gd name="T2" fmla="*/ 2147483647 w 2424"/>
              <a:gd name="T3" fmla="*/ 2147483647 h 720"/>
              <a:gd name="T4" fmla="*/ 2147483647 w 2424"/>
              <a:gd name="T5" fmla="*/ 2147483647 h 720"/>
              <a:gd name="T6" fmla="*/ 0 w 2424"/>
              <a:gd name="T7" fmla="*/ 0 h 720"/>
              <a:gd name="T8" fmla="*/ 2147483647 w 2424"/>
              <a:gd name="T9" fmla="*/ 2147483647 h 7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24"/>
              <a:gd name="T16" fmla="*/ 0 h 720"/>
              <a:gd name="T17" fmla="*/ 2424 w 2424"/>
              <a:gd name="T18" fmla="*/ 720 h 7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24" h="720">
                <a:moveTo>
                  <a:pt x="1000" y="712"/>
                </a:moveTo>
                <a:lnTo>
                  <a:pt x="1520" y="720"/>
                </a:lnTo>
                <a:lnTo>
                  <a:pt x="2424" y="8"/>
                </a:lnTo>
                <a:lnTo>
                  <a:pt x="0" y="0"/>
                </a:lnTo>
                <a:lnTo>
                  <a:pt x="1000" y="712"/>
                </a:lnTo>
                <a:close/>
              </a:path>
            </a:pathLst>
          </a:custGeom>
          <a:solidFill>
            <a:srgbClr val="00B0F0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296" name="Freeform 10"/>
          <p:cNvSpPr>
            <a:spLocks/>
          </p:cNvSpPr>
          <p:nvPr/>
        </p:nvSpPr>
        <p:spPr bwMode="auto">
          <a:xfrm>
            <a:off x="827088" y="3357563"/>
            <a:ext cx="7556500" cy="2087562"/>
          </a:xfrm>
          <a:custGeom>
            <a:avLst/>
            <a:gdLst>
              <a:gd name="T0" fmla="*/ 2147483647 w 4760"/>
              <a:gd name="T1" fmla="*/ 2147483647 h 1208"/>
              <a:gd name="T2" fmla="*/ 2147483647 w 4760"/>
              <a:gd name="T3" fmla="*/ 2147483647 h 1208"/>
              <a:gd name="T4" fmla="*/ 2147483647 w 4760"/>
              <a:gd name="T5" fmla="*/ 0 h 1208"/>
              <a:gd name="T6" fmla="*/ 0 w 4760"/>
              <a:gd name="T7" fmla="*/ 2147483647 h 1208"/>
              <a:gd name="T8" fmla="*/ 2147483647 w 4760"/>
              <a:gd name="T9" fmla="*/ 2147483647 h 12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60"/>
              <a:gd name="T16" fmla="*/ 0 h 1208"/>
              <a:gd name="T17" fmla="*/ 4760 w 4760"/>
              <a:gd name="T18" fmla="*/ 1208 h 120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60" h="1208">
                <a:moveTo>
                  <a:pt x="1680" y="1200"/>
                </a:moveTo>
                <a:lnTo>
                  <a:pt x="3016" y="1208"/>
                </a:lnTo>
                <a:lnTo>
                  <a:pt x="4760" y="0"/>
                </a:lnTo>
                <a:lnTo>
                  <a:pt x="0" y="11"/>
                </a:lnTo>
                <a:lnTo>
                  <a:pt x="1680" y="1200"/>
                </a:lnTo>
                <a:close/>
              </a:path>
            </a:pathLst>
          </a:custGeom>
          <a:solidFill>
            <a:srgbClr val="00B0F0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297" name="AutoShape 11"/>
          <p:cNvSpPr>
            <a:spLocks noChangeArrowheads="1"/>
          </p:cNvSpPr>
          <p:nvPr/>
        </p:nvSpPr>
        <p:spPr bwMode="auto">
          <a:xfrm flipV="1">
            <a:off x="3417888" y="29622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298" name="Line 12"/>
          <p:cNvSpPr>
            <a:spLocks noChangeShapeType="1"/>
          </p:cNvSpPr>
          <p:nvPr/>
        </p:nvSpPr>
        <p:spPr bwMode="auto">
          <a:xfrm flipV="1">
            <a:off x="4303713" y="2763838"/>
            <a:ext cx="0" cy="531812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299" name="Line 13"/>
          <p:cNvSpPr>
            <a:spLocks noChangeShapeType="1"/>
          </p:cNvSpPr>
          <p:nvPr/>
        </p:nvSpPr>
        <p:spPr bwMode="auto">
          <a:xfrm>
            <a:off x="979488" y="3294063"/>
            <a:ext cx="7734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00" name="AutoShape 14"/>
          <p:cNvSpPr>
            <a:spLocks noChangeArrowheads="1"/>
          </p:cNvSpPr>
          <p:nvPr/>
        </p:nvSpPr>
        <p:spPr bwMode="auto">
          <a:xfrm flipV="1">
            <a:off x="4700588" y="29622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1" name="AutoShape 15"/>
          <p:cNvSpPr>
            <a:spLocks noChangeArrowheads="1"/>
          </p:cNvSpPr>
          <p:nvPr/>
        </p:nvSpPr>
        <p:spPr bwMode="auto">
          <a:xfrm flipV="1">
            <a:off x="5970588" y="29495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2" name="AutoShape 16"/>
          <p:cNvSpPr>
            <a:spLocks noChangeArrowheads="1"/>
          </p:cNvSpPr>
          <p:nvPr/>
        </p:nvSpPr>
        <p:spPr bwMode="auto">
          <a:xfrm flipV="1">
            <a:off x="7240588" y="29622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3" name="AutoShape 17"/>
          <p:cNvSpPr>
            <a:spLocks noChangeArrowheads="1"/>
          </p:cNvSpPr>
          <p:nvPr/>
        </p:nvSpPr>
        <p:spPr bwMode="auto">
          <a:xfrm flipV="1">
            <a:off x="852488" y="29495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4" name="AutoShape 18"/>
          <p:cNvSpPr>
            <a:spLocks noChangeArrowheads="1"/>
          </p:cNvSpPr>
          <p:nvPr/>
        </p:nvSpPr>
        <p:spPr bwMode="auto">
          <a:xfrm flipV="1">
            <a:off x="2135188" y="29495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5" name="AutoShape 19"/>
          <p:cNvSpPr>
            <a:spLocks noChangeArrowheads="1"/>
          </p:cNvSpPr>
          <p:nvPr/>
        </p:nvSpPr>
        <p:spPr bwMode="auto">
          <a:xfrm flipV="1">
            <a:off x="4506058" y="1003769"/>
            <a:ext cx="3954462" cy="8477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6" name="Line 20"/>
          <p:cNvSpPr>
            <a:spLocks noChangeShapeType="1"/>
          </p:cNvSpPr>
          <p:nvPr/>
        </p:nvSpPr>
        <p:spPr bwMode="auto">
          <a:xfrm>
            <a:off x="1042988" y="5500688"/>
            <a:ext cx="19002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07" name="AutoShape 21"/>
          <p:cNvSpPr>
            <a:spLocks noChangeArrowheads="1"/>
          </p:cNvSpPr>
          <p:nvPr/>
        </p:nvSpPr>
        <p:spPr bwMode="auto">
          <a:xfrm flipV="1">
            <a:off x="69151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8" name="AutoShape 22"/>
          <p:cNvSpPr>
            <a:spLocks noChangeArrowheads="1"/>
          </p:cNvSpPr>
          <p:nvPr/>
        </p:nvSpPr>
        <p:spPr bwMode="auto">
          <a:xfrm flipV="1">
            <a:off x="5391150" y="5259388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9" name="AutoShape 23"/>
          <p:cNvSpPr>
            <a:spLocks noChangeArrowheads="1"/>
          </p:cNvSpPr>
          <p:nvPr/>
        </p:nvSpPr>
        <p:spPr bwMode="auto">
          <a:xfrm flipV="1">
            <a:off x="3897313" y="524986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0" name="AutoShape 24"/>
          <p:cNvSpPr>
            <a:spLocks noChangeArrowheads="1"/>
          </p:cNvSpPr>
          <p:nvPr/>
        </p:nvSpPr>
        <p:spPr bwMode="auto">
          <a:xfrm flipV="1">
            <a:off x="23177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1" name="AutoShape 25"/>
          <p:cNvSpPr>
            <a:spLocks noChangeArrowheads="1"/>
          </p:cNvSpPr>
          <p:nvPr/>
        </p:nvSpPr>
        <p:spPr bwMode="auto">
          <a:xfrm flipV="1">
            <a:off x="8572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2" name="Line 26"/>
          <p:cNvSpPr>
            <a:spLocks noChangeShapeType="1"/>
          </p:cNvSpPr>
          <p:nvPr/>
        </p:nvSpPr>
        <p:spPr bwMode="auto">
          <a:xfrm>
            <a:off x="1797050" y="5503863"/>
            <a:ext cx="190023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13" name="AutoShape 27"/>
          <p:cNvSpPr>
            <a:spLocks noChangeArrowheads="1"/>
          </p:cNvSpPr>
          <p:nvPr/>
        </p:nvSpPr>
        <p:spPr bwMode="auto">
          <a:xfrm flipV="1">
            <a:off x="7669213" y="5248275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4" name="AutoShape 28"/>
          <p:cNvSpPr>
            <a:spLocks noChangeArrowheads="1"/>
          </p:cNvSpPr>
          <p:nvPr/>
        </p:nvSpPr>
        <p:spPr bwMode="auto">
          <a:xfrm flipV="1">
            <a:off x="61404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5" name="AutoShape 29"/>
          <p:cNvSpPr>
            <a:spLocks noChangeArrowheads="1"/>
          </p:cNvSpPr>
          <p:nvPr/>
        </p:nvSpPr>
        <p:spPr bwMode="auto">
          <a:xfrm flipV="1">
            <a:off x="4641850" y="524986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6" name="AutoShape 30"/>
          <p:cNvSpPr>
            <a:spLocks noChangeArrowheads="1"/>
          </p:cNvSpPr>
          <p:nvPr/>
        </p:nvSpPr>
        <p:spPr bwMode="auto">
          <a:xfrm flipV="1">
            <a:off x="3067050" y="524351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7" name="AutoShape 31"/>
          <p:cNvSpPr>
            <a:spLocks noChangeArrowheads="1"/>
          </p:cNvSpPr>
          <p:nvPr/>
        </p:nvSpPr>
        <p:spPr bwMode="auto">
          <a:xfrm flipV="1">
            <a:off x="1606550" y="524351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18" name="Line 32"/>
          <p:cNvSpPr>
            <a:spLocks noChangeShapeType="1"/>
          </p:cNvSpPr>
          <p:nvPr/>
        </p:nvSpPr>
        <p:spPr bwMode="auto">
          <a:xfrm>
            <a:off x="1423988" y="5500688"/>
            <a:ext cx="19002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19" name="AutoShape 33"/>
          <p:cNvSpPr>
            <a:spLocks noChangeArrowheads="1"/>
          </p:cNvSpPr>
          <p:nvPr/>
        </p:nvSpPr>
        <p:spPr bwMode="auto">
          <a:xfrm flipV="1">
            <a:off x="72961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0" name="AutoShape 34"/>
          <p:cNvSpPr>
            <a:spLocks noChangeArrowheads="1"/>
          </p:cNvSpPr>
          <p:nvPr/>
        </p:nvSpPr>
        <p:spPr bwMode="auto">
          <a:xfrm flipV="1">
            <a:off x="5772150" y="5259388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1" name="AutoShape 35"/>
          <p:cNvSpPr>
            <a:spLocks noChangeArrowheads="1"/>
          </p:cNvSpPr>
          <p:nvPr/>
        </p:nvSpPr>
        <p:spPr bwMode="auto">
          <a:xfrm flipV="1">
            <a:off x="42735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2" name="AutoShape 36"/>
          <p:cNvSpPr>
            <a:spLocks noChangeArrowheads="1"/>
          </p:cNvSpPr>
          <p:nvPr/>
        </p:nvSpPr>
        <p:spPr bwMode="auto">
          <a:xfrm flipV="1">
            <a:off x="26987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3" name="AutoShape 37"/>
          <p:cNvSpPr>
            <a:spLocks noChangeArrowheads="1"/>
          </p:cNvSpPr>
          <p:nvPr/>
        </p:nvSpPr>
        <p:spPr bwMode="auto">
          <a:xfrm flipV="1">
            <a:off x="12382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4" name="Line 38"/>
          <p:cNvSpPr>
            <a:spLocks noChangeShapeType="1"/>
          </p:cNvSpPr>
          <p:nvPr/>
        </p:nvSpPr>
        <p:spPr bwMode="auto">
          <a:xfrm>
            <a:off x="3276600" y="5507038"/>
            <a:ext cx="5040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25" name="AutoShape 39"/>
          <p:cNvSpPr>
            <a:spLocks noChangeArrowheads="1"/>
          </p:cNvSpPr>
          <p:nvPr/>
        </p:nvSpPr>
        <p:spPr bwMode="auto">
          <a:xfrm flipV="1">
            <a:off x="8045450" y="5253038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6" name="AutoShape 40"/>
          <p:cNvSpPr>
            <a:spLocks noChangeArrowheads="1"/>
          </p:cNvSpPr>
          <p:nvPr/>
        </p:nvSpPr>
        <p:spPr bwMode="auto">
          <a:xfrm flipV="1">
            <a:off x="65214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7" name="AutoShape 41"/>
          <p:cNvSpPr>
            <a:spLocks noChangeArrowheads="1"/>
          </p:cNvSpPr>
          <p:nvPr/>
        </p:nvSpPr>
        <p:spPr bwMode="auto">
          <a:xfrm flipV="1">
            <a:off x="50228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8" name="AutoShape 42"/>
          <p:cNvSpPr>
            <a:spLocks noChangeArrowheads="1"/>
          </p:cNvSpPr>
          <p:nvPr/>
        </p:nvSpPr>
        <p:spPr bwMode="auto">
          <a:xfrm flipV="1">
            <a:off x="3443288" y="524351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29" name="AutoShape 43"/>
          <p:cNvSpPr>
            <a:spLocks noChangeArrowheads="1"/>
          </p:cNvSpPr>
          <p:nvPr/>
        </p:nvSpPr>
        <p:spPr bwMode="auto">
          <a:xfrm flipV="1">
            <a:off x="1987550" y="524351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30" name="Text Box 44"/>
          <p:cNvSpPr txBox="1">
            <a:spLocks noChangeArrowheads="1"/>
          </p:cNvSpPr>
          <p:nvPr/>
        </p:nvSpPr>
        <p:spPr bwMode="auto">
          <a:xfrm>
            <a:off x="1225044" y="1669853"/>
            <a:ext cx="32350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marL="182563" lvl="2" indent="-182563" algn="ctr"/>
            <a:r>
              <a:rPr lang="en-GB" dirty="0"/>
              <a:t>– a transport stream modulated on many carriers</a:t>
            </a:r>
          </a:p>
        </p:txBody>
      </p:sp>
      <p:sp>
        <p:nvSpPr>
          <p:cNvPr id="12335" name="Text Box 49"/>
          <p:cNvSpPr txBox="1">
            <a:spLocks noChangeArrowheads="1"/>
          </p:cNvSpPr>
          <p:nvPr/>
        </p:nvSpPr>
        <p:spPr bwMode="auto">
          <a:xfrm>
            <a:off x="684213" y="4868863"/>
            <a:ext cx="5826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200"/>
              <a:t>Ch21</a:t>
            </a:r>
          </a:p>
        </p:txBody>
      </p:sp>
      <p:sp>
        <p:nvSpPr>
          <p:cNvPr id="12336" name="Text Box 50"/>
          <p:cNvSpPr txBox="1">
            <a:spLocks noChangeArrowheads="1"/>
          </p:cNvSpPr>
          <p:nvPr/>
        </p:nvSpPr>
        <p:spPr bwMode="auto">
          <a:xfrm>
            <a:off x="7885113" y="4868863"/>
            <a:ext cx="5826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200"/>
              <a:t>Ch68</a:t>
            </a:r>
          </a:p>
        </p:txBody>
      </p:sp>
      <p:sp>
        <p:nvSpPr>
          <p:cNvPr id="12337" name="Line 51"/>
          <p:cNvSpPr>
            <a:spLocks noChangeShapeType="1"/>
          </p:cNvSpPr>
          <p:nvPr/>
        </p:nvSpPr>
        <p:spPr bwMode="auto">
          <a:xfrm>
            <a:off x="1258888" y="5013325"/>
            <a:ext cx="6626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38" name="Text Box 52"/>
          <p:cNvSpPr txBox="1">
            <a:spLocks noChangeArrowheads="1"/>
          </p:cNvSpPr>
          <p:nvPr/>
        </p:nvSpPr>
        <p:spPr bwMode="auto">
          <a:xfrm>
            <a:off x="3995738" y="4868863"/>
            <a:ext cx="1089025" cy="276225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200"/>
              <a:t>48 channels</a:t>
            </a:r>
          </a:p>
        </p:txBody>
      </p:sp>
      <p:sp>
        <p:nvSpPr>
          <p:cNvPr id="12339" name="Rectangle 7"/>
          <p:cNvSpPr>
            <a:spLocks noChangeArrowheads="1"/>
          </p:cNvSpPr>
          <p:nvPr/>
        </p:nvSpPr>
        <p:spPr bwMode="auto">
          <a:xfrm>
            <a:off x="393700" y="6065838"/>
            <a:ext cx="16684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b="1"/>
              <a:t>UHF Band IV, V</a:t>
            </a:r>
          </a:p>
        </p:txBody>
      </p:sp>
      <p:grpSp>
        <p:nvGrpSpPr>
          <p:cNvPr id="4" name="Group 6"/>
          <p:cNvGrpSpPr/>
          <p:nvPr/>
        </p:nvGrpSpPr>
        <p:grpSpPr>
          <a:xfrm>
            <a:off x="5040251" y="1046434"/>
            <a:ext cx="3033714" cy="780779"/>
            <a:chOff x="3294062" y="1483023"/>
            <a:chExt cx="5416550" cy="1924050"/>
          </a:xfrm>
        </p:grpSpPr>
        <p:sp>
          <p:nvSpPr>
            <p:cNvPr id="60" name="AutoShape 52"/>
            <p:cNvSpPr>
              <a:spLocks noChangeArrowheads="1"/>
            </p:cNvSpPr>
            <p:nvPr/>
          </p:nvSpPr>
          <p:spPr bwMode="auto">
            <a:xfrm flipV="1">
              <a:off x="3294062" y="1483023"/>
              <a:ext cx="5416550" cy="1924050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66 w 21600"/>
                <a:gd name="T13" fmla="*/ 2066 h 21600"/>
                <a:gd name="T14" fmla="*/ 19534 w 21600"/>
                <a:gd name="T15" fmla="*/ 1953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31" y="21600"/>
                  </a:lnTo>
                  <a:lnTo>
                    <a:pt x="21069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grpSp>
          <p:nvGrpSpPr>
            <p:cNvPr id="5" name="Group 53"/>
            <p:cNvGrpSpPr>
              <a:grpSpLocks/>
            </p:cNvGrpSpPr>
            <p:nvPr/>
          </p:nvGrpSpPr>
          <p:grpSpPr bwMode="auto">
            <a:xfrm>
              <a:off x="3373437" y="1546523"/>
              <a:ext cx="5230813" cy="1860293"/>
              <a:chOff x="2023" y="1112"/>
              <a:chExt cx="3295" cy="1589"/>
            </a:xfrm>
          </p:grpSpPr>
          <p:sp>
            <p:nvSpPr>
              <p:cNvPr id="62" name="Freeform 54"/>
              <p:cNvSpPr>
                <a:spLocks/>
              </p:cNvSpPr>
              <p:nvPr/>
            </p:nvSpPr>
            <p:spPr bwMode="auto">
              <a:xfrm>
                <a:off x="2023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63" name="Freeform 55"/>
              <p:cNvSpPr>
                <a:spLocks/>
              </p:cNvSpPr>
              <p:nvPr/>
            </p:nvSpPr>
            <p:spPr bwMode="auto">
              <a:xfrm>
                <a:off x="2261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64" name="Freeform 56"/>
              <p:cNvSpPr>
                <a:spLocks/>
              </p:cNvSpPr>
              <p:nvPr/>
            </p:nvSpPr>
            <p:spPr bwMode="auto">
              <a:xfrm>
                <a:off x="2500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65" name="Freeform 57"/>
              <p:cNvSpPr>
                <a:spLocks/>
              </p:cNvSpPr>
              <p:nvPr/>
            </p:nvSpPr>
            <p:spPr bwMode="auto">
              <a:xfrm>
                <a:off x="2732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66" name="Freeform 58"/>
              <p:cNvSpPr>
                <a:spLocks/>
              </p:cNvSpPr>
              <p:nvPr/>
            </p:nvSpPr>
            <p:spPr bwMode="auto">
              <a:xfrm>
                <a:off x="2964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67" name="Freeform 59"/>
              <p:cNvSpPr>
                <a:spLocks/>
              </p:cNvSpPr>
              <p:nvPr/>
            </p:nvSpPr>
            <p:spPr bwMode="auto">
              <a:xfrm>
                <a:off x="3203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68" name="Freeform 60"/>
              <p:cNvSpPr>
                <a:spLocks/>
              </p:cNvSpPr>
              <p:nvPr/>
            </p:nvSpPr>
            <p:spPr bwMode="auto">
              <a:xfrm>
                <a:off x="3428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69" name="Freeform 61"/>
              <p:cNvSpPr>
                <a:spLocks/>
              </p:cNvSpPr>
              <p:nvPr/>
            </p:nvSpPr>
            <p:spPr bwMode="auto">
              <a:xfrm>
                <a:off x="3660" y="111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70" name="Freeform 62"/>
              <p:cNvSpPr>
                <a:spLocks/>
              </p:cNvSpPr>
              <p:nvPr/>
            </p:nvSpPr>
            <p:spPr bwMode="auto">
              <a:xfrm>
                <a:off x="3892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71" name="Freeform 63"/>
              <p:cNvSpPr>
                <a:spLocks/>
              </p:cNvSpPr>
              <p:nvPr/>
            </p:nvSpPr>
            <p:spPr bwMode="auto">
              <a:xfrm>
                <a:off x="4131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72" name="Freeform 64"/>
              <p:cNvSpPr>
                <a:spLocks/>
              </p:cNvSpPr>
              <p:nvPr/>
            </p:nvSpPr>
            <p:spPr bwMode="auto">
              <a:xfrm>
                <a:off x="4370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73" name="Freeform 65"/>
              <p:cNvSpPr>
                <a:spLocks/>
              </p:cNvSpPr>
              <p:nvPr/>
            </p:nvSpPr>
            <p:spPr bwMode="auto">
              <a:xfrm>
                <a:off x="4609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74" name="Freeform 66"/>
              <p:cNvSpPr>
                <a:spLocks/>
              </p:cNvSpPr>
              <p:nvPr/>
            </p:nvSpPr>
            <p:spPr bwMode="auto">
              <a:xfrm>
                <a:off x="4848" y="1112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75" name="Freeform 67"/>
              <p:cNvSpPr>
                <a:spLocks/>
              </p:cNvSpPr>
              <p:nvPr/>
            </p:nvSpPr>
            <p:spPr bwMode="auto">
              <a:xfrm>
                <a:off x="5086" y="1112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</p:grpSp>
      <p:grpSp>
        <p:nvGrpSpPr>
          <p:cNvPr id="8" name="Group 93"/>
          <p:cNvGrpSpPr/>
          <p:nvPr/>
        </p:nvGrpSpPr>
        <p:grpSpPr>
          <a:xfrm>
            <a:off x="3554418" y="2961535"/>
            <a:ext cx="927100" cy="337290"/>
            <a:chOff x="3294062" y="1483023"/>
            <a:chExt cx="5416550" cy="1931988"/>
          </a:xfrm>
        </p:grpSpPr>
        <p:sp>
          <p:nvSpPr>
            <p:cNvPr id="95" name="AutoShape 52"/>
            <p:cNvSpPr>
              <a:spLocks noChangeArrowheads="1"/>
            </p:cNvSpPr>
            <p:nvPr/>
          </p:nvSpPr>
          <p:spPr bwMode="auto">
            <a:xfrm flipV="1">
              <a:off x="3294062" y="1483023"/>
              <a:ext cx="5416550" cy="1924050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66 w 21600"/>
                <a:gd name="T13" fmla="*/ 2066 h 21600"/>
                <a:gd name="T14" fmla="*/ 19534 w 21600"/>
                <a:gd name="T15" fmla="*/ 1953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31" y="21600"/>
                  </a:lnTo>
                  <a:lnTo>
                    <a:pt x="21069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grpSp>
          <p:nvGrpSpPr>
            <p:cNvPr id="9" name="Group 53"/>
            <p:cNvGrpSpPr>
              <a:grpSpLocks/>
            </p:cNvGrpSpPr>
            <p:nvPr/>
          </p:nvGrpSpPr>
          <p:grpSpPr bwMode="auto">
            <a:xfrm>
              <a:off x="3373437" y="1546523"/>
              <a:ext cx="5230813" cy="1868488"/>
              <a:chOff x="2023" y="1112"/>
              <a:chExt cx="3295" cy="1596"/>
            </a:xfrm>
          </p:grpSpPr>
          <p:sp>
            <p:nvSpPr>
              <p:cNvPr id="97" name="Freeform 54"/>
              <p:cNvSpPr>
                <a:spLocks/>
              </p:cNvSpPr>
              <p:nvPr/>
            </p:nvSpPr>
            <p:spPr bwMode="auto">
              <a:xfrm>
                <a:off x="2023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98" name="Freeform 55"/>
              <p:cNvSpPr>
                <a:spLocks/>
              </p:cNvSpPr>
              <p:nvPr/>
            </p:nvSpPr>
            <p:spPr bwMode="auto">
              <a:xfrm>
                <a:off x="2261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99" name="Freeform 56"/>
              <p:cNvSpPr>
                <a:spLocks/>
              </p:cNvSpPr>
              <p:nvPr/>
            </p:nvSpPr>
            <p:spPr bwMode="auto">
              <a:xfrm>
                <a:off x="2500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00" name="Freeform 57"/>
              <p:cNvSpPr>
                <a:spLocks/>
              </p:cNvSpPr>
              <p:nvPr/>
            </p:nvSpPr>
            <p:spPr bwMode="auto">
              <a:xfrm>
                <a:off x="2732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01" name="Freeform 58"/>
              <p:cNvSpPr>
                <a:spLocks/>
              </p:cNvSpPr>
              <p:nvPr/>
            </p:nvSpPr>
            <p:spPr bwMode="auto">
              <a:xfrm>
                <a:off x="2964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02" name="Freeform 59"/>
              <p:cNvSpPr>
                <a:spLocks/>
              </p:cNvSpPr>
              <p:nvPr/>
            </p:nvSpPr>
            <p:spPr bwMode="auto">
              <a:xfrm>
                <a:off x="3203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03" name="Freeform 60"/>
              <p:cNvSpPr>
                <a:spLocks/>
              </p:cNvSpPr>
              <p:nvPr/>
            </p:nvSpPr>
            <p:spPr bwMode="auto">
              <a:xfrm>
                <a:off x="3428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04" name="Freeform 61"/>
              <p:cNvSpPr>
                <a:spLocks/>
              </p:cNvSpPr>
              <p:nvPr/>
            </p:nvSpPr>
            <p:spPr bwMode="auto">
              <a:xfrm>
                <a:off x="3660" y="1133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05" name="Freeform 62"/>
              <p:cNvSpPr>
                <a:spLocks/>
              </p:cNvSpPr>
              <p:nvPr/>
            </p:nvSpPr>
            <p:spPr bwMode="auto">
              <a:xfrm>
                <a:off x="3892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06" name="Freeform 63"/>
              <p:cNvSpPr>
                <a:spLocks/>
              </p:cNvSpPr>
              <p:nvPr/>
            </p:nvSpPr>
            <p:spPr bwMode="auto">
              <a:xfrm>
                <a:off x="4131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07" name="Freeform 64"/>
              <p:cNvSpPr>
                <a:spLocks/>
              </p:cNvSpPr>
              <p:nvPr/>
            </p:nvSpPr>
            <p:spPr bwMode="auto">
              <a:xfrm>
                <a:off x="4370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08" name="Freeform 65"/>
              <p:cNvSpPr>
                <a:spLocks/>
              </p:cNvSpPr>
              <p:nvPr/>
            </p:nvSpPr>
            <p:spPr bwMode="auto">
              <a:xfrm>
                <a:off x="4609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09" name="Freeform 66"/>
              <p:cNvSpPr>
                <a:spLocks/>
              </p:cNvSpPr>
              <p:nvPr/>
            </p:nvSpPr>
            <p:spPr bwMode="auto">
              <a:xfrm>
                <a:off x="4848" y="1112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10" name="Freeform 67"/>
              <p:cNvSpPr>
                <a:spLocks/>
              </p:cNvSpPr>
              <p:nvPr/>
            </p:nvSpPr>
            <p:spPr bwMode="auto">
              <a:xfrm>
                <a:off x="5086" y="1112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</p:grpSp>
      <p:grpSp>
        <p:nvGrpSpPr>
          <p:cNvPr id="10" name="Group 110"/>
          <p:cNvGrpSpPr/>
          <p:nvPr/>
        </p:nvGrpSpPr>
        <p:grpSpPr>
          <a:xfrm>
            <a:off x="3914405" y="5303836"/>
            <a:ext cx="232145" cy="196186"/>
            <a:chOff x="3294062" y="1483023"/>
            <a:chExt cx="5416550" cy="1931988"/>
          </a:xfrm>
        </p:grpSpPr>
        <p:sp>
          <p:nvSpPr>
            <p:cNvPr id="112" name="AutoShape 52"/>
            <p:cNvSpPr>
              <a:spLocks noChangeArrowheads="1"/>
            </p:cNvSpPr>
            <p:nvPr/>
          </p:nvSpPr>
          <p:spPr bwMode="auto">
            <a:xfrm flipV="1">
              <a:off x="3294062" y="1483023"/>
              <a:ext cx="5416550" cy="1924050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66 w 21600"/>
                <a:gd name="T13" fmla="*/ 2066 h 21600"/>
                <a:gd name="T14" fmla="*/ 19534 w 21600"/>
                <a:gd name="T15" fmla="*/ 1953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31" y="21600"/>
                  </a:lnTo>
                  <a:lnTo>
                    <a:pt x="21069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grpSp>
          <p:nvGrpSpPr>
            <p:cNvPr id="11" name="Group 53"/>
            <p:cNvGrpSpPr>
              <a:grpSpLocks/>
            </p:cNvGrpSpPr>
            <p:nvPr/>
          </p:nvGrpSpPr>
          <p:grpSpPr bwMode="auto">
            <a:xfrm>
              <a:off x="3373437" y="1546523"/>
              <a:ext cx="5230813" cy="1868488"/>
              <a:chOff x="2023" y="1112"/>
              <a:chExt cx="3295" cy="1596"/>
            </a:xfrm>
          </p:grpSpPr>
          <p:sp>
            <p:nvSpPr>
              <p:cNvPr id="114" name="Freeform 54"/>
              <p:cNvSpPr>
                <a:spLocks/>
              </p:cNvSpPr>
              <p:nvPr/>
            </p:nvSpPr>
            <p:spPr bwMode="auto">
              <a:xfrm>
                <a:off x="2023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15" name="Freeform 55"/>
              <p:cNvSpPr>
                <a:spLocks/>
              </p:cNvSpPr>
              <p:nvPr/>
            </p:nvSpPr>
            <p:spPr bwMode="auto">
              <a:xfrm>
                <a:off x="2261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16" name="Freeform 56"/>
              <p:cNvSpPr>
                <a:spLocks/>
              </p:cNvSpPr>
              <p:nvPr/>
            </p:nvSpPr>
            <p:spPr bwMode="auto">
              <a:xfrm>
                <a:off x="2500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17" name="Freeform 57"/>
              <p:cNvSpPr>
                <a:spLocks/>
              </p:cNvSpPr>
              <p:nvPr/>
            </p:nvSpPr>
            <p:spPr bwMode="auto">
              <a:xfrm>
                <a:off x="2732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18" name="Freeform 58"/>
              <p:cNvSpPr>
                <a:spLocks/>
              </p:cNvSpPr>
              <p:nvPr/>
            </p:nvSpPr>
            <p:spPr bwMode="auto">
              <a:xfrm>
                <a:off x="2964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19" name="Freeform 59"/>
              <p:cNvSpPr>
                <a:spLocks/>
              </p:cNvSpPr>
              <p:nvPr/>
            </p:nvSpPr>
            <p:spPr bwMode="auto">
              <a:xfrm>
                <a:off x="3203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20" name="Freeform 60"/>
              <p:cNvSpPr>
                <a:spLocks/>
              </p:cNvSpPr>
              <p:nvPr/>
            </p:nvSpPr>
            <p:spPr bwMode="auto">
              <a:xfrm>
                <a:off x="3428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21" name="Freeform 61"/>
              <p:cNvSpPr>
                <a:spLocks/>
              </p:cNvSpPr>
              <p:nvPr/>
            </p:nvSpPr>
            <p:spPr bwMode="auto">
              <a:xfrm>
                <a:off x="3660" y="1133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22" name="Freeform 62"/>
              <p:cNvSpPr>
                <a:spLocks/>
              </p:cNvSpPr>
              <p:nvPr/>
            </p:nvSpPr>
            <p:spPr bwMode="auto">
              <a:xfrm>
                <a:off x="3892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23" name="Freeform 63"/>
              <p:cNvSpPr>
                <a:spLocks/>
              </p:cNvSpPr>
              <p:nvPr/>
            </p:nvSpPr>
            <p:spPr bwMode="auto">
              <a:xfrm>
                <a:off x="4131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24" name="Freeform 64"/>
              <p:cNvSpPr>
                <a:spLocks/>
              </p:cNvSpPr>
              <p:nvPr/>
            </p:nvSpPr>
            <p:spPr bwMode="auto">
              <a:xfrm>
                <a:off x="4370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25" name="Freeform 65"/>
              <p:cNvSpPr>
                <a:spLocks/>
              </p:cNvSpPr>
              <p:nvPr/>
            </p:nvSpPr>
            <p:spPr bwMode="auto">
              <a:xfrm>
                <a:off x="4609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26" name="Freeform 66"/>
              <p:cNvSpPr>
                <a:spLocks/>
              </p:cNvSpPr>
              <p:nvPr/>
            </p:nvSpPr>
            <p:spPr bwMode="auto">
              <a:xfrm>
                <a:off x="4848" y="1112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27" name="Freeform 67"/>
              <p:cNvSpPr>
                <a:spLocks/>
              </p:cNvSpPr>
              <p:nvPr/>
            </p:nvSpPr>
            <p:spPr bwMode="auto">
              <a:xfrm>
                <a:off x="5086" y="1112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</p:grpSp>
      <p:grpSp>
        <p:nvGrpSpPr>
          <p:cNvPr id="12" name="Group 127"/>
          <p:cNvGrpSpPr/>
          <p:nvPr/>
        </p:nvGrpSpPr>
        <p:grpSpPr>
          <a:xfrm>
            <a:off x="3469947" y="5296896"/>
            <a:ext cx="232145" cy="196186"/>
            <a:chOff x="3294062" y="1483023"/>
            <a:chExt cx="5416550" cy="1931988"/>
          </a:xfrm>
        </p:grpSpPr>
        <p:sp>
          <p:nvSpPr>
            <p:cNvPr id="129" name="AutoShape 52"/>
            <p:cNvSpPr>
              <a:spLocks noChangeArrowheads="1"/>
            </p:cNvSpPr>
            <p:nvPr/>
          </p:nvSpPr>
          <p:spPr bwMode="auto">
            <a:xfrm flipV="1">
              <a:off x="3294062" y="1483023"/>
              <a:ext cx="5416550" cy="1924050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66 w 21600"/>
                <a:gd name="T13" fmla="*/ 2066 h 21600"/>
                <a:gd name="T14" fmla="*/ 19534 w 21600"/>
                <a:gd name="T15" fmla="*/ 1953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31" y="21600"/>
                  </a:lnTo>
                  <a:lnTo>
                    <a:pt x="21069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grpSp>
          <p:nvGrpSpPr>
            <p:cNvPr id="13" name="Group 53"/>
            <p:cNvGrpSpPr>
              <a:grpSpLocks/>
            </p:cNvGrpSpPr>
            <p:nvPr/>
          </p:nvGrpSpPr>
          <p:grpSpPr bwMode="auto">
            <a:xfrm>
              <a:off x="3373437" y="1546523"/>
              <a:ext cx="5230813" cy="1868488"/>
              <a:chOff x="2023" y="1112"/>
              <a:chExt cx="3295" cy="1596"/>
            </a:xfrm>
          </p:grpSpPr>
          <p:sp>
            <p:nvSpPr>
              <p:cNvPr id="131" name="Freeform 54"/>
              <p:cNvSpPr>
                <a:spLocks/>
              </p:cNvSpPr>
              <p:nvPr/>
            </p:nvSpPr>
            <p:spPr bwMode="auto">
              <a:xfrm>
                <a:off x="2023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32" name="Freeform 55"/>
              <p:cNvSpPr>
                <a:spLocks/>
              </p:cNvSpPr>
              <p:nvPr/>
            </p:nvSpPr>
            <p:spPr bwMode="auto">
              <a:xfrm>
                <a:off x="2261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33" name="Freeform 56"/>
              <p:cNvSpPr>
                <a:spLocks/>
              </p:cNvSpPr>
              <p:nvPr/>
            </p:nvSpPr>
            <p:spPr bwMode="auto">
              <a:xfrm>
                <a:off x="2500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34" name="Freeform 57"/>
              <p:cNvSpPr>
                <a:spLocks/>
              </p:cNvSpPr>
              <p:nvPr/>
            </p:nvSpPr>
            <p:spPr bwMode="auto">
              <a:xfrm>
                <a:off x="2732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35" name="Freeform 58"/>
              <p:cNvSpPr>
                <a:spLocks/>
              </p:cNvSpPr>
              <p:nvPr/>
            </p:nvSpPr>
            <p:spPr bwMode="auto">
              <a:xfrm>
                <a:off x="2964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36" name="Freeform 59"/>
              <p:cNvSpPr>
                <a:spLocks/>
              </p:cNvSpPr>
              <p:nvPr/>
            </p:nvSpPr>
            <p:spPr bwMode="auto">
              <a:xfrm>
                <a:off x="3203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37" name="Freeform 60"/>
              <p:cNvSpPr>
                <a:spLocks/>
              </p:cNvSpPr>
              <p:nvPr/>
            </p:nvSpPr>
            <p:spPr bwMode="auto">
              <a:xfrm>
                <a:off x="3428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38" name="Freeform 61"/>
              <p:cNvSpPr>
                <a:spLocks/>
              </p:cNvSpPr>
              <p:nvPr/>
            </p:nvSpPr>
            <p:spPr bwMode="auto">
              <a:xfrm>
                <a:off x="3660" y="1133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39" name="Freeform 62"/>
              <p:cNvSpPr>
                <a:spLocks/>
              </p:cNvSpPr>
              <p:nvPr/>
            </p:nvSpPr>
            <p:spPr bwMode="auto">
              <a:xfrm>
                <a:off x="3892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40" name="Freeform 63"/>
              <p:cNvSpPr>
                <a:spLocks/>
              </p:cNvSpPr>
              <p:nvPr/>
            </p:nvSpPr>
            <p:spPr bwMode="auto">
              <a:xfrm>
                <a:off x="4131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41" name="Freeform 64"/>
              <p:cNvSpPr>
                <a:spLocks/>
              </p:cNvSpPr>
              <p:nvPr/>
            </p:nvSpPr>
            <p:spPr bwMode="auto">
              <a:xfrm>
                <a:off x="4370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42" name="Freeform 65"/>
              <p:cNvSpPr>
                <a:spLocks/>
              </p:cNvSpPr>
              <p:nvPr/>
            </p:nvSpPr>
            <p:spPr bwMode="auto">
              <a:xfrm>
                <a:off x="4609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43" name="Freeform 66"/>
              <p:cNvSpPr>
                <a:spLocks/>
              </p:cNvSpPr>
              <p:nvPr/>
            </p:nvSpPr>
            <p:spPr bwMode="auto">
              <a:xfrm>
                <a:off x="4848" y="1112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44" name="Freeform 67"/>
              <p:cNvSpPr>
                <a:spLocks/>
              </p:cNvSpPr>
              <p:nvPr/>
            </p:nvSpPr>
            <p:spPr bwMode="auto">
              <a:xfrm>
                <a:off x="5086" y="1112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</p:grpSp>
      <p:grpSp>
        <p:nvGrpSpPr>
          <p:cNvPr id="148" name="Group 93"/>
          <p:cNvGrpSpPr/>
          <p:nvPr/>
        </p:nvGrpSpPr>
        <p:grpSpPr>
          <a:xfrm>
            <a:off x="4845050" y="2979836"/>
            <a:ext cx="927100" cy="337290"/>
            <a:chOff x="3294062" y="1483023"/>
            <a:chExt cx="5416550" cy="1931988"/>
          </a:xfrm>
        </p:grpSpPr>
        <p:sp>
          <p:nvSpPr>
            <p:cNvPr id="149" name="AutoShape 52"/>
            <p:cNvSpPr>
              <a:spLocks noChangeArrowheads="1"/>
            </p:cNvSpPr>
            <p:nvPr/>
          </p:nvSpPr>
          <p:spPr bwMode="auto">
            <a:xfrm flipV="1">
              <a:off x="3294062" y="1483023"/>
              <a:ext cx="5416550" cy="1924050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66 w 21600"/>
                <a:gd name="T13" fmla="*/ 2066 h 21600"/>
                <a:gd name="T14" fmla="*/ 19534 w 21600"/>
                <a:gd name="T15" fmla="*/ 1953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31" y="21600"/>
                  </a:lnTo>
                  <a:lnTo>
                    <a:pt x="21069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grpSp>
          <p:nvGrpSpPr>
            <p:cNvPr id="150" name="Group 53"/>
            <p:cNvGrpSpPr>
              <a:grpSpLocks/>
            </p:cNvGrpSpPr>
            <p:nvPr/>
          </p:nvGrpSpPr>
          <p:grpSpPr bwMode="auto">
            <a:xfrm>
              <a:off x="3373437" y="1546523"/>
              <a:ext cx="5230813" cy="1868488"/>
              <a:chOff x="2023" y="1112"/>
              <a:chExt cx="3295" cy="1596"/>
            </a:xfrm>
          </p:grpSpPr>
          <p:sp>
            <p:nvSpPr>
              <p:cNvPr id="151" name="Freeform 54"/>
              <p:cNvSpPr>
                <a:spLocks/>
              </p:cNvSpPr>
              <p:nvPr/>
            </p:nvSpPr>
            <p:spPr bwMode="auto">
              <a:xfrm>
                <a:off x="2023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52" name="Freeform 55"/>
              <p:cNvSpPr>
                <a:spLocks/>
              </p:cNvSpPr>
              <p:nvPr/>
            </p:nvSpPr>
            <p:spPr bwMode="auto">
              <a:xfrm>
                <a:off x="2261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53" name="Freeform 56"/>
              <p:cNvSpPr>
                <a:spLocks/>
              </p:cNvSpPr>
              <p:nvPr/>
            </p:nvSpPr>
            <p:spPr bwMode="auto">
              <a:xfrm>
                <a:off x="2500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54" name="Freeform 57"/>
              <p:cNvSpPr>
                <a:spLocks/>
              </p:cNvSpPr>
              <p:nvPr/>
            </p:nvSpPr>
            <p:spPr bwMode="auto">
              <a:xfrm>
                <a:off x="2732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55" name="Freeform 58"/>
              <p:cNvSpPr>
                <a:spLocks/>
              </p:cNvSpPr>
              <p:nvPr/>
            </p:nvSpPr>
            <p:spPr bwMode="auto">
              <a:xfrm>
                <a:off x="2964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56" name="Freeform 59"/>
              <p:cNvSpPr>
                <a:spLocks/>
              </p:cNvSpPr>
              <p:nvPr/>
            </p:nvSpPr>
            <p:spPr bwMode="auto">
              <a:xfrm>
                <a:off x="3203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57" name="Freeform 60"/>
              <p:cNvSpPr>
                <a:spLocks/>
              </p:cNvSpPr>
              <p:nvPr/>
            </p:nvSpPr>
            <p:spPr bwMode="auto">
              <a:xfrm>
                <a:off x="3428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58" name="Freeform 61"/>
              <p:cNvSpPr>
                <a:spLocks/>
              </p:cNvSpPr>
              <p:nvPr/>
            </p:nvSpPr>
            <p:spPr bwMode="auto">
              <a:xfrm>
                <a:off x="3660" y="1133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59" name="Freeform 62"/>
              <p:cNvSpPr>
                <a:spLocks/>
              </p:cNvSpPr>
              <p:nvPr/>
            </p:nvSpPr>
            <p:spPr bwMode="auto">
              <a:xfrm>
                <a:off x="3892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60" name="Freeform 63"/>
              <p:cNvSpPr>
                <a:spLocks/>
              </p:cNvSpPr>
              <p:nvPr/>
            </p:nvSpPr>
            <p:spPr bwMode="auto">
              <a:xfrm>
                <a:off x="4131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61" name="Freeform 64"/>
              <p:cNvSpPr>
                <a:spLocks/>
              </p:cNvSpPr>
              <p:nvPr/>
            </p:nvSpPr>
            <p:spPr bwMode="auto">
              <a:xfrm>
                <a:off x="4370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62" name="Freeform 65"/>
              <p:cNvSpPr>
                <a:spLocks/>
              </p:cNvSpPr>
              <p:nvPr/>
            </p:nvSpPr>
            <p:spPr bwMode="auto">
              <a:xfrm>
                <a:off x="4609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63" name="Freeform 66"/>
              <p:cNvSpPr>
                <a:spLocks/>
              </p:cNvSpPr>
              <p:nvPr/>
            </p:nvSpPr>
            <p:spPr bwMode="auto">
              <a:xfrm>
                <a:off x="4848" y="1112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64" name="Freeform 67"/>
              <p:cNvSpPr>
                <a:spLocks/>
              </p:cNvSpPr>
              <p:nvPr/>
            </p:nvSpPr>
            <p:spPr bwMode="auto">
              <a:xfrm>
                <a:off x="5086" y="1112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</p:grpSp>
      <p:grpSp>
        <p:nvGrpSpPr>
          <p:cNvPr id="165" name="Group 93"/>
          <p:cNvGrpSpPr/>
          <p:nvPr/>
        </p:nvGrpSpPr>
        <p:grpSpPr>
          <a:xfrm>
            <a:off x="6127658" y="2961535"/>
            <a:ext cx="927100" cy="337290"/>
            <a:chOff x="3294062" y="1483023"/>
            <a:chExt cx="5416550" cy="1931988"/>
          </a:xfrm>
        </p:grpSpPr>
        <p:sp>
          <p:nvSpPr>
            <p:cNvPr id="166" name="AutoShape 52"/>
            <p:cNvSpPr>
              <a:spLocks noChangeArrowheads="1"/>
            </p:cNvSpPr>
            <p:nvPr/>
          </p:nvSpPr>
          <p:spPr bwMode="auto">
            <a:xfrm flipV="1">
              <a:off x="3294062" y="1483023"/>
              <a:ext cx="5416550" cy="1924050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66 w 21600"/>
                <a:gd name="T13" fmla="*/ 2066 h 21600"/>
                <a:gd name="T14" fmla="*/ 19534 w 21600"/>
                <a:gd name="T15" fmla="*/ 1953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31" y="21600"/>
                  </a:lnTo>
                  <a:lnTo>
                    <a:pt x="21069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grpSp>
          <p:nvGrpSpPr>
            <p:cNvPr id="167" name="Group 53"/>
            <p:cNvGrpSpPr>
              <a:grpSpLocks/>
            </p:cNvGrpSpPr>
            <p:nvPr/>
          </p:nvGrpSpPr>
          <p:grpSpPr bwMode="auto">
            <a:xfrm>
              <a:off x="3373437" y="1546523"/>
              <a:ext cx="5230813" cy="1868488"/>
              <a:chOff x="2023" y="1112"/>
              <a:chExt cx="3295" cy="1596"/>
            </a:xfrm>
          </p:grpSpPr>
          <p:sp>
            <p:nvSpPr>
              <p:cNvPr id="168" name="Freeform 54"/>
              <p:cNvSpPr>
                <a:spLocks/>
              </p:cNvSpPr>
              <p:nvPr/>
            </p:nvSpPr>
            <p:spPr bwMode="auto">
              <a:xfrm>
                <a:off x="2023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69" name="Freeform 55"/>
              <p:cNvSpPr>
                <a:spLocks/>
              </p:cNvSpPr>
              <p:nvPr/>
            </p:nvSpPr>
            <p:spPr bwMode="auto">
              <a:xfrm>
                <a:off x="2261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70" name="Freeform 56"/>
              <p:cNvSpPr>
                <a:spLocks/>
              </p:cNvSpPr>
              <p:nvPr/>
            </p:nvSpPr>
            <p:spPr bwMode="auto">
              <a:xfrm>
                <a:off x="2500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71" name="Freeform 57"/>
              <p:cNvSpPr>
                <a:spLocks/>
              </p:cNvSpPr>
              <p:nvPr/>
            </p:nvSpPr>
            <p:spPr bwMode="auto">
              <a:xfrm>
                <a:off x="2732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72" name="Freeform 58"/>
              <p:cNvSpPr>
                <a:spLocks/>
              </p:cNvSpPr>
              <p:nvPr/>
            </p:nvSpPr>
            <p:spPr bwMode="auto">
              <a:xfrm>
                <a:off x="2964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73" name="Freeform 59"/>
              <p:cNvSpPr>
                <a:spLocks/>
              </p:cNvSpPr>
              <p:nvPr/>
            </p:nvSpPr>
            <p:spPr bwMode="auto">
              <a:xfrm>
                <a:off x="3203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74" name="Freeform 60"/>
              <p:cNvSpPr>
                <a:spLocks/>
              </p:cNvSpPr>
              <p:nvPr/>
            </p:nvSpPr>
            <p:spPr bwMode="auto">
              <a:xfrm>
                <a:off x="3428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75" name="Freeform 61"/>
              <p:cNvSpPr>
                <a:spLocks/>
              </p:cNvSpPr>
              <p:nvPr/>
            </p:nvSpPr>
            <p:spPr bwMode="auto">
              <a:xfrm>
                <a:off x="3660" y="1133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76" name="Freeform 62"/>
              <p:cNvSpPr>
                <a:spLocks/>
              </p:cNvSpPr>
              <p:nvPr/>
            </p:nvSpPr>
            <p:spPr bwMode="auto">
              <a:xfrm>
                <a:off x="3892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77" name="Freeform 63"/>
              <p:cNvSpPr>
                <a:spLocks/>
              </p:cNvSpPr>
              <p:nvPr/>
            </p:nvSpPr>
            <p:spPr bwMode="auto">
              <a:xfrm>
                <a:off x="4131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78" name="Freeform 64"/>
              <p:cNvSpPr>
                <a:spLocks/>
              </p:cNvSpPr>
              <p:nvPr/>
            </p:nvSpPr>
            <p:spPr bwMode="auto">
              <a:xfrm>
                <a:off x="4370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79" name="Freeform 65"/>
              <p:cNvSpPr>
                <a:spLocks/>
              </p:cNvSpPr>
              <p:nvPr/>
            </p:nvSpPr>
            <p:spPr bwMode="auto">
              <a:xfrm>
                <a:off x="4609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80" name="Freeform 66"/>
              <p:cNvSpPr>
                <a:spLocks/>
              </p:cNvSpPr>
              <p:nvPr/>
            </p:nvSpPr>
            <p:spPr bwMode="auto">
              <a:xfrm>
                <a:off x="4848" y="1112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81" name="Freeform 67"/>
              <p:cNvSpPr>
                <a:spLocks/>
              </p:cNvSpPr>
              <p:nvPr/>
            </p:nvSpPr>
            <p:spPr bwMode="auto">
              <a:xfrm>
                <a:off x="5086" y="1112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</p:grpSp>
      <p:grpSp>
        <p:nvGrpSpPr>
          <p:cNvPr id="182" name="Group 93"/>
          <p:cNvGrpSpPr/>
          <p:nvPr/>
        </p:nvGrpSpPr>
        <p:grpSpPr>
          <a:xfrm>
            <a:off x="7415668" y="2980090"/>
            <a:ext cx="927100" cy="337290"/>
            <a:chOff x="3294062" y="1483023"/>
            <a:chExt cx="5416550" cy="1931988"/>
          </a:xfrm>
        </p:grpSpPr>
        <p:sp>
          <p:nvSpPr>
            <p:cNvPr id="183" name="AutoShape 52"/>
            <p:cNvSpPr>
              <a:spLocks noChangeArrowheads="1"/>
            </p:cNvSpPr>
            <p:nvPr/>
          </p:nvSpPr>
          <p:spPr bwMode="auto">
            <a:xfrm flipV="1">
              <a:off x="3294062" y="1483023"/>
              <a:ext cx="5416550" cy="1924050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66 w 21600"/>
                <a:gd name="T13" fmla="*/ 2066 h 21600"/>
                <a:gd name="T14" fmla="*/ 19534 w 21600"/>
                <a:gd name="T15" fmla="*/ 1953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31" y="21600"/>
                  </a:lnTo>
                  <a:lnTo>
                    <a:pt x="21069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grpSp>
          <p:nvGrpSpPr>
            <p:cNvPr id="184" name="Group 53"/>
            <p:cNvGrpSpPr>
              <a:grpSpLocks/>
            </p:cNvGrpSpPr>
            <p:nvPr/>
          </p:nvGrpSpPr>
          <p:grpSpPr bwMode="auto">
            <a:xfrm>
              <a:off x="3373437" y="1546523"/>
              <a:ext cx="5230813" cy="1868488"/>
              <a:chOff x="2023" y="1112"/>
              <a:chExt cx="3295" cy="1596"/>
            </a:xfrm>
          </p:grpSpPr>
          <p:sp>
            <p:nvSpPr>
              <p:cNvPr id="185" name="Freeform 54"/>
              <p:cNvSpPr>
                <a:spLocks/>
              </p:cNvSpPr>
              <p:nvPr/>
            </p:nvSpPr>
            <p:spPr bwMode="auto">
              <a:xfrm>
                <a:off x="2023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86" name="Freeform 55"/>
              <p:cNvSpPr>
                <a:spLocks/>
              </p:cNvSpPr>
              <p:nvPr/>
            </p:nvSpPr>
            <p:spPr bwMode="auto">
              <a:xfrm>
                <a:off x="2261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87" name="Freeform 56"/>
              <p:cNvSpPr>
                <a:spLocks/>
              </p:cNvSpPr>
              <p:nvPr/>
            </p:nvSpPr>
            <p:spPr bwMode="auto">
              <a:xfrm>
                <a:off x="2500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88" name="Freeform 57"/>
              <p:cNvSpPr>
                <a:spLocks/>
              </p:cNvSpPr>
              <p:nvPr/>
            </p:nvSpPr>
            <p:spPr bwMode="auto">
              <a:xfrm>
                <a:off x="2732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89" name="Freeform 58"/>
              <p:cNvSpPr>
                <a:spLocks/>
              </p:cNvSpPr>
              <p:nvPr/>
            </p:nvSpPr>
            <p:spPr bwMode="auto">
              <a:xfrm>
                <a:off x="2964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90" name="Freeform 59"/>
              <p:cNvSpPr>
                <a:spLocks/>
              </p:cNvSpPr>
              <p:nvPr/>
            </p:nvSpPr>
            <p:spPr bwMode="auto">
              <a:xfrm>
                <a:off x="3203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91" name="Freeform 60"/>
              <p:cNvSpPr>
                <a:spLocks/>
              </p:cNvSpPr>
              <p:nvPr/>
            </p:nvSpPr>
            <p:spPr bwMode="auto">
              <a:xfrm>
                <a:off x="3428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92" name="Freeform 61"/>
              <p:cNvSpPr>
                <a:spLocks/>
              </p:cNvSpPr>
              <p:nvPr/>
            </p:nvSpPr>
            <p:spPr bwMode="auto">
              <a:xfrm>
                <a:off x="3660" y="1133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93" name="Freeform 62"/>
              <p:cNvSpPr>
                <a:spLocks/>
              </p:cNvSpPr>
              <p:nvPr/>
            </p:nvSpPr>
            <p:spPr bwMode="auto">
              <a:xfrm>
                <a:off x="3892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94" name="Freeform 63"/>
              <p:cNvSpPr>
                <a:spLocks/>
              </p:cNvSpPr>
              <p:nvPr/>
            </p:nvSpPr>
            <p:spPr bwMode="auto">
              <a:xfrm>
                <a:off x="4131" y="1126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95" name="Freeform 64"/>
              <p:cNvSpPr>
                <a:spLocks/>
              </p:cNvSpPr>
              <p:nvPr/>
            </p:nvSpPr>
            <p:spPr bwMode="auto">
              <a:xfrm>
                <a:off x="4370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96" name="Freeform 65"/>
              <p:cNvSpPr>
                <a:spLocks/>
              </p:cNvSpPr>
              <p:nvPr/>
            </p:nvSpPr>
            <p:spPr bwMode="auto">
              <a:xfrm>
                <a:off x="4609" y="1119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97" name="Freeform 66"/>
              <p:cNvSpPr>
                <a:spLocks/>
              </p:cNvSpPr>
              <p:nvPr/>
            </p:nvSpPr>
            <p:spPr bwMode="auto">
              <a:xfrm>
                <a:off x="4848" y="1112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98" name="Freeform 67"/>
              <p:cNvSpPr>
                <a:spLocks/>
              </p:cNvSpPr>
              <p:nvPr/>
            </p:nvSpPr>
            <p:spPr bwMode="auto">
              <a:xfrm>
                <a:off x="5086" y="1112"/>
                <a:ext cx="232" cy="1575"/>
              </a:xfrm>
              <a:custGeom>
                <a:avLst/>
                <a:gdLst>
                  <a:gd name="T0" fmla="*/ 0 w 437"/>
                  <a:gd name="T1" fmla="*/ 1575 h 1575"/>
                  <a:gd name="T2" fmla="*/ 1 w 437"/>
                  <a:gd name="T3" fmla="*/ 791 h 1575"/>
                  <a:gd name="T4" fmla="*/ 2 w 437"/>
                  <a:gd name="T5" fmla="*/ 0 h 1575"/>
                  <a:gd name="T6" fmla="*/ 2 w 437"/>
                  <a:gd name="T7" fmla="*/ 791 h 1575"/>
                  <a:gd name="T8" fmla="*/ 3 w 437"/>
                  <a:gd name="T9" fmla="*/ 1575 h 1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1575"/>
                  <a:gd name="T17" fmla="*/ 437 w 437"/>
                  <a:gd name="T18" fmla="*/ 1575 h 15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1575">
                    <a:moveTo>
                      <a:pt x="0" y="1575"/>
                    </a:moveTo>
                    <a:cubicBezTo>
                      <a:pt x="6" y="1314"/>
                      <a:pt x="13" y="1053"/>
                      <a:pt x="48" y="791"/>
                    </a:cubicBezTo>
                    <a:cubicBezTo>
                      <a:pt x="83" y="529"/>
                      <a:pt x="156" y="0"/>
                      <a:pt x="212" y="0"/>
                    </a:cubicBezTo>
                    <a:cubicBezTo>
                      <a:pt x="268" y="0"/>
                      <a:pt x="345" y="529"/>
                      <a:pt x="382" y="791"/>
                    </a:cubicBezTo>
                    <a:cubicBezTo>
                      <a:pt x="419" y="1053"/>
                      <a:pt x="428" y="1314"/>
                      <a:pt x="437" y="1575"/>
                    </a:cubicBezTo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</p:grpSp>
      <p:sp>
        <p:nvSpPr>
          <p:cNvPr id="21" name="Rectangle 20"/>
          <p:cNvSpPr/>
          <p:nvPr/>
        </p:nvSpPr>
        <p:spPr>
          <a:xfrm>
            <a:off x="291911" y="927070"/>
            <a:ext cx="231274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7Mhz Channel </a:t>
            </a:r>
          </a:p>
          <a:p>
            <a:pPr algn="ctr"/>
            <a:r>
              <a:rPr lang="en-GB" dirty="0"/>
              <a:t>contains a number of DVB-T TV channels </a:t>
            </a:r>
          </a:p>
        </p:txBody>
      </p:sp>
      <p:cxnSp>
        <p:nvCxnSpPr>
          <p:cNvPr id="23" name="Straight Arrow Connector 22"/>
          <p:cNvCxnSpPr/>
          <p:nvPr/>
        </p:nvCxnSpPr>
        <p:spPr bwMode="auto">
          <a:xfrm flipH="1">
            <a:off x="1152525" y="1669853"/>
            <a:ext cx="83478" cy="128581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9" name="Straight Arrow Connector 218"/>
          <p:cNvCxnSpPr/>
          <p:nvPr/>
        </p:nvCxnSpPr>
        <p:spPr bwMode="auto">
          <a:xfrm flipV="1">
            <a:off x="4268763" y="1495410"/>
            <a:ext cx="883662" cy="4306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2" name="Straight Arrow Connector 221"/>
          <p:cNvCxnSpPr/>
          <p:nvPr/>
        </p:nvCxnSpPr>
        <p:spPr bwMode="auto">
          <a:xfrm flipV="1">
            <a:off x="4244096" y="1512972"/>
            <a:ext cx="1164700" cy="4242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4" name="Straight Arrow Connector 223"/>
          <p:cNvCxnSpPr/>
          <p:nvPr/>
        </p:nvCxnSpPr>
        <p:spPr bwMode="auto">
          <a:xfrm flipV="1">
            <a:off x="4244095" y="1530434"/>
            <a:ext cx="1374570" cy="3933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01712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93"/>
          <p:cNvSpPr/>
          <p:nvPr/>
        </p:nvSpPr>
        <p:spPr bwMode="auto">
          <a:xfrm>
            <a:off x="-1" y="1259421"/>
            <a:ext cx="8869916" cy="553054"/>
          </a:xfrm>
          <a:custGeom>
            <a:avLst/>
            <a:gdLst>
              <a:gd name="connsiteX0" fmla="*/ 0 w 4684143"/>
              <a:gd name="connsiteY0" fmla="*/ 2277373 h 2311879"/>
              <a:gd name="connsiteX1" fmla="*/ 4684143 w 4684143"/>
              <a:gd name="connsiteY1" fmla="*/ 2311879 h 2311879"/>
              <a:gd name="connsiteX2" fmla="*/ 4563374 w 4684143"/>
              <a:gd name="connsiteY2" fmla="*/ 0 h 2311879"/>
              <a:gd name="connsiteX3" fmla="*/ 2587924 w 4684143"/>
              <a:gd name="connsiteY3" fmla="*/ 8626 h 2311879"/>
              <a:gd name="connsiteX4" fmla="*/ 0 w 4684143"/>
              <a:gd name="connsiteY4" fmla="*/ 2277373 h 2311879"/>
              <a:gd name="connsiteX0" fmla="*/ 0 w 4684143"/>
              <a:gd name="connsiteY0" fmla="*/ 2277373 h 2311879"/>
              <a:gd name="connsiteX1" fmla="*/ 4684143 w 4684143"/>
              <a:gd name="connsiteY1" fmla="*/ 2311879 h 2311879"/>
              <a:gd name="connsiteX2" fmla="*/ 4563374 w 4684143"/>
              <a:gd name="connsiteY2" fmla="*/ 0 h 2311879"/>
              <a:gd name="connsiteX3" fmla="*/ 2806809 w 4684143"/>
              <a:gd name="connsiteY3" fmla="*/ 8626 h 2311879"/>
              <a:gd name="connsiteX4" fmla="*/ 0 w 4684143"/>
              <a:gd name="connsiteY4" fmla="*/ 2277373 h 2311879"/>
              <a:gd name="connsiteX0" fmla="*/ 0 w 4684143"/>
              <a:gd name="connsiteY0" fmla="*/ 2281155 h 2315661"/>
              <a:gd name="connsiteX1" fmla="*/ 4684143 w 4684143"/>
              <a:gd name="connsiteY1" fmla="*/ 2315661 h 2315661"/>
              <a:gd name="connsiteX2" fmla="*/ 4563374 w 4684143"/>
              <a:gd name="connsiteY2" fmla="*/ 3782 h 2315661"/>
              <a:gd name="connsiteX3" fmla="*/ 525296 w 4684143"/>
              <a:gd name="connsiteY3" fmla="*/ 0 h 2315661"/>
              <a:gd name="connsiteX4" fmla="*/ 0 w 4684143"/>
              <a:gd name="connsiteY4" fmla="*/ 2281155 h 2315661"/>
              <a:gd name="connsiteX0" fmla="*/ 0 w 4421189"/>
              <a:gd name="connsiteY0" fmla="*/ 376518 h 2315661"/>
              <a:gd name="connsiteX1" fmla="*/ 4421189 w 4421189"/>
              <a:gd name="connsiteY1" fmla="*/ 2315661 h 2315661"/>
              <a:gd name="connsiteX2" fmla="*/ 4300420 w 4421189"/>
              <a:gd name="connsiteY2" fmla="*/ 3782 h 2315661"/>
              <a:gd name="connsiteX3" fmla="*/ 262342 w 4421189"/>
              <a:gd name="connsiteY3" fmla="*/ 0 h 2315661"/>
              <a:gd name="connsiteX4" fmla="*/ 0 w 4421189"/>
              <a:gd name="connsiteY4" fmla="*/ 376518 h 2315661"/>
              <a:gd name="connsiteX0" fmla="*/ 0 w 7483831"/>
              <a:gd name="connsiteY0" fmla="*/ 376518 h 376518"/>
              <a:gd name="connsiteX1" fmla="*/ 7483831 w 7483831"/>
              <a:gd name="connsiteY1" fmla="*/ 324168 h 376518"/>
              <a:gd name="connsiteX2" fmla="*/ 4300420 w 7483831"/>
              <a:gd name="connsiteY2" fmla="*/ 3782 h 376518"/>
              <a:gd name="connsiteX3" fmla="*/ 262342 w 7483831"/>
              <a:gd name="connsiteY3" fmla="*/ 0 h 376518"/>
              <a:gd name="connsiteX4" fmla="*/ 0 w 7483831"/>
              <a:gd name="connsiteY4" fmla="*/ 376518 h 376518"/>
              <a:gd name="connsiteX0" fmla="*/ 0 w 7483831"/>
              <a:gd name="connsiteY0" fmla="*/ 602285 h 602285"/>
              <a:gd name="connsiteX1" fmla="*/ 7483831 w 7483831"/>
              <a:gd name="connsiteY1" fmla="*/ 549935 h 602285"/>
              <a:gd name="connsiteX2" fmla="*/ 4277219 w 7483831"/>
              <a:gd name="connsiteY2" fmla="*/ 0 h 602285"/>
              <a:gd name="connsiteX3" fmla="*/ 262342 w 7483831"/>
              <a:gd name="connsiteY3" fmla="*/ 225767 h 602285"/>
              <a:gd name="connsiteX4" fmla="*/ 0 w 7483831"/>
              <a:gd name="connsiteY4" fmla="*/ 602285 h 602285"/>
              <a:gd name="connsiteX0" fmla="*/ 0 w 7483831"/>
              <a:gd name="connsiteY0" fmla="*/ 602285 h 602285"/>
              <a:gd name="connsiteX1" fmla="*/ 7483831 w 7483831"/>
              <a:gd name="connsiteY1" fmla="*/ 549935 h 602285"/>
              <a:gd name="connsiteX2" fmla="*/ 4277219 w 7483831"/>
              <a:gd name="connsiteY2" fmla="*/ 0 h 602285"/>
              <a:gd name="connsiteX3" fmla="*/ 262342 w 7483831"/>
              <a:gd name="connsiteY3" fmla="*/ 14830 h 602285"/>
              <a:gd name="connsiteX4" fmla="*/ 0 w 7483831"/>
              <a:gd name="connsiteY4" fmla="*/ 602285 h 60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83831" h="602285">
                <a:moveTo>
                  <a:pt x="0" y="602285"/>
                </a:moveTo>
                <a:lnTo>
                  <a:pt x="7483831" y="549935"/>
                </a:lnTo>
                <a:lnTo>
                  <a:pt x="4277219" y="0"/>
                </a:lnTo>
                <a:lnTo>
                  <a:pt x="262342" y="14830"/>
                </a:lnTo>
                <a:lnTo>
                  <a:pt x="0" y="602285"/>
                </a:lnTo>
                <a:close/>
              </a:path>
            </a:pathLst>
          </a:custGeom>
          <a:gradFill>
            <a:gsLst>
              <a:gs pos="26000">
                <a:schemeClr val="accent1">
                  <a:tint val="66000"/>
                  <a:satMod val="160000"/>
                  <a:alpha val="74000"/>
                </a:schemeClr>
              </a:gs>
              <a:gs pos="40000">
                <a:schemeClr val="accent1">
                  <a:tint val="44500"/>
                  <a:satMod val="160000"/>
                  <a:alpha val="0"/>
                  <a:lumMod val="98000"/>
                  <a:lumOff val="2000"/>
                </a:schemeClr>
              </a:gs>
              <a:gs pos="74000">
                <a:schemeClr val="accent1">
                  <a:lumMod val="40000"/>
                  <a:lumOff val="60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461" name="AutoShape 52"/>
          <p:cNvSpPr>
            <a:spLocks noChangeArrowheads="1"/>
          </p:cNvSpPr>
          <p:nvPr/>
        </p:nvSpPr>
        <p:spPr bwMode="auto">
          <a:xfrm flipV="1">
            <a:off x="3294062" y="2837507"/>
            <a:ext cx="5416550" cy="192405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066 w 21600"/>
              <a:gd name="T13" fmla="*/ 2066 h 21600"/>
              <a:gd name="T14" fmla="*/ 19534 w 21600"/>
              <a:gd name="T15" fmla="*/ 19534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31" y="21600"/>
                </a:lnTo>
                <a:lnTo>
                  <a:pt x="21069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3373437" y="2901007"/>
            <a:ext cx="5230813" cy="1868488"/>
            <a:chOff x="2023" y="1112"/>
            <a:chExt cx="3295" cy="1596"/>
          </a:xfrm>
        </p:grpSpPr>
        <p:sp>
          <p:nvSpPr>
            <p:cNvPr id="19479" name="Freeform 54"/>
            <p:cNvSpPr>
              <a:spLocks/>
            </p:cNvSpPr>
            <p:nvPr/>
          </p:nvSpPr>
          <p:spPr bwMode="auto">
            <a:xfrm>
              <a:off x="2023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0" name="Freeform 55"/>
            <p:cNvSpPr>
              <a:spLocks/>
            </p:cNvSpPr>
            <p:nvPr/>
          </p:nvSpPr>
          <p:spPr bwMode="auto">
            <a:xfrm>
              <a:off x="2261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1" name="Freeform 56"/>
            <p:cNvSpPr>
              <a:spLocks/>
            </p:cNvSpPr>
            <p:nvPr/>
          </p:nvSpPr>
          <p:spPr bwMode="auto">
            <a:xfrm>
              <a:off x="2500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2" name="Freeform 57"/>
            <p:cNvSpPr>
              <a:spLocks/>
            </p:cNvSpPr>
            <p:nvPr/>
          </p:nvSpPr>
          <p:spPr bwMode="auto">
            <a:xfrm>
              <a:off x="2732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3" name="Freeform 58"/>
            <p:cNvSpPr>
              <a:spLocks/>
            </p:cNvSpPr>
            <p:nvPr/>
          </p:nvSpPr>
          <p:spPr bwMode="auto">
            <a:xfrm>
              <a:off x="2964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4" name="Freeform 59"/>
            <p:cNvSpPr>
              <a:spLocks/>
            </p:cNvSpPr>
            <p:nvPr/>
          </p:nvSpPr>
          <p:spPr bwMode="auto">
            <a:xfrm>
              <a:off x="3203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5" name="Freeform 60"/>
            <p:cNvSpPr>
              <a:spLocks/>
            </p:cNvSpPr>
            <p:nvPr/>
          </p:nvSpPr>
          <p:spPr bwMode="auto">
            <a:xfrm>
              <a:off x="3428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6" name="Freeform 61"/>
            <p:cNvSpPr>
              <a:spLocks/>
            </p:cNvSpPr>
            <p:nvPr/>
          </p:nvSpPr>
          <p:spPr bwMode="auto">
            <a:xfrm>
              <a:off x="3660" y="1133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7" name="Freeform 62"/>
            <p:cNvSpPr>
              <a:spLocks/>
            </p:cNvSpPr>
            <p:nvPr/>
          </p:nvSpPr>
          <p:spPr bwMode="auto">
            <a:xfrm>
              <a:off x="3892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8" name="Freeform 63"/>
            <p:cNvSpPr>
              <a:spLocks/>
            </p:cNvSpPr>
            <p:nvPr/>
          </p:nvSpPr>
          <p:spPr bwMode="auto">
            <a:xfrm>
              <a:off x="4131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9" name="Freeform 64"/>
            <p:cNvSpPr>
              <a:spLocks/>
            </p:cNvSpPr>
            <p:nvPr/>
          </p:nvSpPr>
          <p:spPr bwMode="auto">
            <a:xfrm>
              <a:off x="4370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90" name="Freeform 65"/>
            <p:cNvSpPr>
              <a:spLocks/>
            </p:cNvSpPr>
            <p:nvPr/>
          </p:nvSpPr>
          <p:spPr bwMode="auto">
            <a:xfrm>
              <a:off x="4609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91" name="Freeform 66"/>
            <p:cNvSpPr>
              <a:spLocks/>
            </p:cNvSpPr>
            <p:nvPr/>
          </p:nvSpPr>
          <p:spPr bwMode="auto">
            <a:xfrm>
              <a:off x="4848" y="1112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92" name="Freeform 67"/>
            <p:cNvSpPr>
              <a:spLocks/>
            </p:cNvSpPr>
            <p:nvPr/>
          </p:nvSpPr>
          <p:spPr bwMode="auto">
            <a:xfrm>
              <a:off x="5086" y="1112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19469" name="Text Box 74"/>
          <p:cNvSpPr txBox="1">
            <a:spLocks noChangeArrowheads="1"/>
          </p:cNvSpPr>
          <p:nvPr/>
        </p:nvSpPr>
        <p:spPr bwMode="auto">
          <a:xfrm>
            <a:off x="430213" y="369888"/>
            <a:ext cx="409919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Multiplexing the Channels</a:t>
            </a:r>
          </a:p>
        </p:txBody>
      </p:sp>
      <p:sp>
        <p:nvSpPr>
          <p:cNvPr id="19473" name="Line 81"/>
          <p:cNvSpPr>
            <a:spLocks noChangeShapeType="1"/>
          </p:cNvSpPr>
          <p:nvPr/>
        </p:nvSpPr>
        <p:spPr bwMode="auto">
          <a:xfrm>
            <a:off x="430214" y="4744910"/>
            <a:ext cx="8216898" cy="2141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9475" name="Text Box 83"/>
          <p:cNvSpPr txBox="1">
            <a:spLocks noChangeArrowheads="1"/>
          </p:cNvSpPr>
          <p:nvPr/>
        </p:nvSpPr>
        <p:spPr bwMode="auto">
          <a:xfrm>
            <a:off x="7741997" y="4786238"/>
            <a:ext cx="4844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200" i="1" dirty="0" err="1"/>
              <a:t>freq</a:t>
            </a:r>
            <a:endParaRPr lang="en-US" sz="1200" i="1" dirty="0"/>
          </a:p>
        </p:txBody>
      </p:sp>
      <p:sp>
        <p:nvSpPr>
          <p:cNvPr id="19476" name="Line 84"/>
          <p:cNvSpPr>
            <a:spLocks noChangeShapeType="1"/>
          </p:cNvSpPr>
          <p:nvPr/>
        </p:nvSpPr>
        <p:spPr bwMode="auto">
          <a:xfrm>
            <a:off x="8262937" y="4906020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sz="1600"/>
          </a:p>
        </p:txBody>
      </p:sp>
      <p:sp>
        <p:nvSpPr>
          <p:cNvPr id="39" name="Line 81"/>
          <p:cNvSpPr>
            <a:spLocks noChangeShapeType="1"/>
          </p:cNvSpPr>
          <p:nvPr/>
        </p:nvSpPr>
        <p:spPr bwMode="auto">
          <a:xfrm flipV="1">
            <a:off x="795919" y="2711797"/>
            <a:ext cx="21881" cy="216340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40" name="Text Box 70"/>
          <p:cNvSpPr txBox="1">
            <a:spLocks noChangeArrowheads="1"/>
          </p:cNvSpPr>
          <p:nvPr/>
        </p:nvSpPr>
        <p:spPr bwMode="auto">
          <a:xfrm>
            <a:off x="1032588" y="3777927"/>
            <a:ext cx="164266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GB" sz="1400" dirty="0"/>
              <a:t>Data is modulated on to each of several carriers</a:t>
            </a:r>
            <a:endParaRPr lang="en-GB" dirty="0"/>
          </a:p>
        </p:txBody>
      </p:sp>
      <p:sp>
        <p:nvSpPr>
          <p:cNvPr id="44" name="Text Box 70"/>
          <p:cNvSpPr txBox="1">
            <a:spLocks noChangeArrowheads="1"/>
          </p:cNvSpPr>
          <p:nvPr/>
        </p:nvSpPr>
        <p:spPr bwMode="auto">
          <a:xfrm>
            <a:off x="4658264" y="1349837"/>
            <a:ext cx="314791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GB" sz="1400" dirty="0"/>
              <a:t>Total data to be transmitted</a:t>
            </a:r>
            <a:endParaRPr lang="en-GB" dirty="0"/>
          </a:p>
        </p:txBody>
      </p:sp>
      <p:sp>
        <p:nvSpPr>
          <p:cNvPr id="30" name="TextBox 29"/>
          <p:cNvSpPr txBox="1"/>
          <p:nvPr/>
        </p:nvSpPr>
        <p:spPr>
          <a:xfrm>
            <a:off x="1" y="1759963"/>
            <a:ext cx="9144000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00100010010101011110010010001001010101110010011001010100010100000.........</a:t>
            </a:r>
          </a:p>
        </p:txBody>
      </p:sp>
      <p:sp>
        <p:nvSpPr>
          <p:cNvPr id="31" name="Oval 30"/>
          <p:cNvSpPr/>
          <p:nvPr/>
        </p:nvSpPr>
        <p:spPr bwMode="auto">
          <a:xfrm>
            <a:off x="7781026" y="1630566"/>
            <a:ext cx="823224" cy="534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2" name="Oval 31"/>
          <p:cNvSpPr/>
          <p:nvPr/>
        </p:nvSpPr>
        <p:spPr bwMode="auto">
          <a:xfrm>
            <a:off x="6978770" y="1630566"/>
            <a:ext cx="802256" cy="534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3" name="Oval 32"/>
          <p:cNvSpPr/>
          <p:nvPr/>
        </p:nvSpPr>
        <p:spPr bwMode="auto">
          <a:xfrm>
            <a:off x="6202393" y="1630566"/>
            <a:ext cx="802256" cy="534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4" name="Oval 33"/>
          <p:cNvSpPr/>
          <p:nvPr/>
        </p:nvSpPr>
        <p:spPr bwMode="auto">
          <a:xfrm>
            <a:off x="5382884" y="1613314"/>
            <a:ext cx="802256" cy="534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5" name="Oval 34"/>
          <p:cNvSpPr/>
          <p:nvPr/>
        </p:nvSpPr>
        <p:spPr bwMode="auto">
          <a:xfrm>
            <a:off x="4615133" y="1621940"/>
            <a:ext cx="802256" cy="534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6" name="Oval 35"/>
          <p:cNvSpPr/>
          <p:nvPr/>
        </p:nvSpPr>
        <p:spPr bwMode="auto">
          <a:xfrm>
            <a:off x="3881888" y="1630567"/>
            <a:ext cx="802256" cy="534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7" name="Oval 36"/>
          <p:cNvSpPr/>
          <p:nvPr/>
        </p:nvSpPr>
        <p:spPr bwMode="auto">
          <a:xfrm>
            <a:off x="3122763" y="1630567"/>
            <a:ext cx="802256" cy="534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8" name="Oval 37"/>
          <p:cNvSpPr/>
          <p:nvPr/>
        </p:nvSpPr>
        <p:spPr bwMode="auto">
          <a:xfrm>
            <a:off x="2372265" y="1639193"/>
            <a:ext cx="802256" cy="534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1" name="Line 77"/>
          <p:cNvSpPr>
            <a:spLocks noChangeShapeType="1"/>
          </p:cNvSpPr>
          <p:nvPr/>
        </p:nvSpPr>
        <p:spPr bwMode="auto">
          <a:xfrm>
            <a:off x="8181883" y="2168575"/>
            <a:ext cx="237497" cy="10492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45" name="Line 77"/>
          <p:cNvSpPr>
            <a:spLocks noChangeShapeType="1"/>
          </p:cNvSpPr>
          <p:nvPr/>
        </p:nvSpPr>
        <p:spPr bwMode="auto">
          <a:xfrm>
            <a:off x="7543528" y="2151323"/>
            <a:ext cx="496291" cy="100611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46" name="Line 77"/>
          <p:cNvSpPr>
            <a:spLocks noChangeShapeType="1"/>
          </p:cNvSpPr>
          <p:nvPr/>
        </p:nvSpPr>
        <p:spPr bwMode="auto">
          <a:xfrm>
            <a:off x="6767151" y="2142697"/>
            <a:ext cx="893106" cy="1031996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47" name="Line 77"/>
          <p:cNvSpPr>
            <a:spLocks noChangeShapeType="1"/>
          </p:cNvSpPr>
          <p:nvPr/>
        </p:nvSpPr>
        <p:spPr bwMode="auto">
          <a:xfrm>
            <a:off x="5952226" y="2122271"/>
            <a:ext cx="1388854" cy="107830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48" name="Line 77"/>
          <p:cNvSpPr>
            <a:spLocks noChangeShapeType="1"/>
          </p:cNvSpPr>
          <p:nvPr/>
        </p:nvSpPr>
        <p:spPr bwMode="auto">
          <a:xfrm>
            <a:off x="5098211" y="2165403"/>
            <a:ext cx="1828801" cy="10696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49" name="Line 77"/>
          <p:cNvSpPr>
            <a:spLocks noChangeShapeType="1"/>
          </p:cNvSpPr>
          <p:nvPr/>
        </p:nvSpPr>
        <p:spPr bwMode="auto">
          <a:xfrm>
            <a:off x="4399471" y="2148150"/>
            <a:ext cx="2156605" cy="114731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50" name="Line 77"/>
          <p:cNvSpPr>
            <a:spLocks noChangeShapeType="1"/>
          </p:cNvSpPr>
          <p:nvPr/>
        </p:nvSpPr>
        <p:spPr bwMode="auto">
          <a:xfrm>
            <a:off x="3726611" y="2139523"/>
            <a:ext cx="2493035" cy="12077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51" name="Line 77"/>
          <p:cNvSpPr>
            <a:spLocks noChangeShapeType="1"/>
          </p:cNvSpPr>
          <p:nvPr/>
        </p:nvSpPr>
        <p:spPr bwMode="auto">
          <a:xfrm>
            <a:off x="2932981" y="2156776"/>
            <a:ext cx="2863971" cy="12163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52" name="Line 77"/>
          <p:cNvSpPr>
            <a:spLocks noChangeShapeType="1"/>
          </p:cNvSpPr>
          <p:nvPr/>
        </p:nvSpPr>
        <p:spPr bwMode="auto">
          <a:xfrm>
            <a:off x="2113471" y="2182656"/>
            <a:ext cx="3312543" cy="1285335"/>
          </a:xfrm>
          <a:prstGeom prst="line">
            <a:avLst/>
          </a:prstGeom>
          <a:noFill/>
          <a:ln w="38100">
            <a:solidFill>
              <a:srgbClr val="FF0000"/>
            </a:solidFill>
            <a:prstDash val="solid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55" name="Oval 54"/>
          <p:cNvSpPr/>
          <p:nvPr/>
        </p:nvSpPr>
        <p:spPr bwMode="auto">
          <a:xfrm>
            <a:off x="1613140" y="1639193"/>
            <a:ext cx="802256" cy="534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6" name="Oval 55"/>
          <p:cNvSpPr/>
          <p:nvPr/>
        </p:nvSpPr>
        <p:spPr bwMode="auto">
          <a:xfrm>
            <a:off x="871269" y="1621940"/>
            <a:ext cx="802256" cy="534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7" name="Oval 56"/>
          <p:cNvSpPr/>
          <p:nvPr/>
        </p:nvSpPr>
        <p:spPr bwMode="auto">
          <a:xfrm>
            <a:off x="69014" y="1621940"/>
            <a:ext cx="802256" cy="534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8" name="Line 77"/>
          <p:cNvSpPr>
            <a:spLocks noChangeShapeType="1"/>
          </p:cNvSpPr>
          <p:nvPr/>
        </p:nvSpPr>
        <p:spPr bwMode="auto">
          <a:xfrm>
            <a:off x="1293962" y="2156776"/>
            <a:ext cx="3786997" cy="1440611"/>
          </a:xfrm>
          <a:prstGeom prst="line">
            <a:avLst/>
          </a:prstGeom>
          <a:noFill/>
          <a:ln w="38100">
            <a:solidFill>
              <a:srgbClr val="FF0000"/>
            </a:solidFill>
            <a:prstDash val="solid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59" name="Line 77"/>
          <p:cNvSpPr>
            <a:spLocks noChangeShapeType="1"/>
          </p:cNvSpPr>
          <p:nvPr/>
        </p:nvSpPr>
        <p:spPr bwMode="auto">
          <a:xfrm>
            <a:off x="543464" y="2174030"/>
            <a:ext cx="4183812" cy="1509622"/>
          </a:xfrm>
          <a:prstGeom prst="line">
            <a:avLst/>
          </a:prstGeom>
          <a:noFill/>
          <a:ln w="38100">
            <a:solidFill>
              <a:srgbClr val="FF0000"/>
            </a:solidFill>
            <a:prstDash val="solid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64" name="Line 77"/>
          <p:cNvSpPr>
            <a:spLocks noChangeShapeType="1"/>
          </p:cNvSpPr>
          <p:nvPr/>
        </p:nvSpPr>
        <p:spPr bwMode="auto">
          <a:xfrm>
            <a:off x="0" y="2260293"/>
            <a:ext cx="4347714" cy="1561382"/>
          </a:xfrm>
          <a:prstGeom prst="line">
            <a:avLst/>
          </a:prstGeom>
          <a:noFill/>
          <a:ln w="38100">
            <a:solidFill>
              <a:srgbClr val="FF0000"/>
            </a:solidFill>
            <a:prstDash val="solid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65" name="Line 77"/>
          <p:cNvSpPr>
            <a:spLocks noChangeShapeType="1"/>
          </p:cNvSpPr>
          <p:nvPr/>
        </p:nvSpPr>
        <p:spPr bwMode="auto">
          <a:xfrm>
            <a:off x="-1" y="2622602"/>
            <a:ext cx="4011283" cy="1354347"/>
          </a:xfrm>
          <a:prstGeom prst="line">
            <a:avLst/>
          </a:prstGeom>
          <a:noFill/>
          <a:ln w="38100">
            <a:solidFill>
              <a:srgbClr val="FF0000"/>
            </a:solidFill>
            <a:prstDash val="solid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66" name="Line 77"/>
          <p:cNvSpPr>
            <a:spLocks noChangeShapeType="1"/>
          </p:cNvSpPr>
          <p:nvPr/>
        </p:nvSpPr>
        <p:spPr bwMode="auto">
          <a:xfrm>
            <a:off x="0" y="2984912"/>
            <a:ext cx="3597214" cy="1147312"/>
          </a:xfrm>
          <a:prstGeom prst="line">
            <a:avLst/>
          </a:prstGeom>
          <a:noFill/>
          <a:ln w="38100">
            <a:solidFill>
              <a:srgbClr val="FF0000"/>
            </a:solidFill>
            <a:prstDash val="solid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53" name="Text Box 70"/>
          <p:cNvSpPr txBox="1">
            <a:spLocks noChangeArrowheads="1"/>
          </p:cNvSpPr>
          <p:nvPr/>
        </p:nvSpPr>
        <p:spPr bwMode="auto">
          <a:xfrm>
            <a:off x="418235" y="5306046"/>
            <a:ext cx="4061932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GB" sz="1500" dirty="0"/>
              <a:t>Each of these is one carrier with data modulated on to it in </a:t>
            </a:r>
            <a:r>
              <a:rPr lang="en-GB" sz="1500" i="1" dirty="0"/>
              <a:t>Quadrature Amplitude Modulation </a:t>
            </a:r>
          </a:p>
          <a:p>
            <a:pPr algn="ctr"/>
            <a:r>
              <a:rPr lang="en-GB" sz="1500" dirty="0"/>
              <a:t>(QAM – a mix of amplitude and phase modulation)</a:t>
            </a:r>
          </a:p>
        </p:txBody>
      </p:sp>
      <p:sp>
        <p:nvSpPr>
          <p:cNvPr id="60" name="Line 77"/>
          <p:cNvSpPr>
            <a:spLocks noChangeShapeType="1"/>
          </p:cNvSpPr>
          <p:nvPr/>
        </p:nvSpPr>
        <p:spPr bwMode="auto">
          <a:xfrm flipV="1">
            <a:off x="2876549" y="4425958"/>
            <a:ext cx="1424545" cy="731690"/>
          </a:xfrm>
          <a:prstGeom prst="line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61" name="Line 77"/>
          <p:cNvSpPr>
            <a:spLocks noChangeShapeType="1"/>
          </p:cNvSpPr>
          <p:nvPr/>
        </p:nvSpPr>
        <p:spPr bwMode="auto">
          <a:xfrm flipV="1">
            <a:off x="2876549" y="4422641"/>
            <a:ext cx="1045367" cy="743199"/>
          </a:xfrm>
          <a:prstGeom prst="line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62" name="Line 77"/>
          <p:cNvSpPr>
            <a:spLocks noChangeShapeType="1"/>
          </p:cNvSpPr>
          <p:nvPr/>
        </p:nvSpPr>
        <p:spPr bwMode="auto">
          <a:xfrm flipV="1">
            <a:off x="2876549" y="4476525"/>
            <a:ext cx="692487" cy="689317"/>
          </a:xfrm>
          <a:prstGeom prst="line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63" name="Text Box 70"/>
          <p:cNvSpPr txBox="1">
            <a:spLocks noChangeArrowheads="1"/>
          </p:cNvSpPr>
          <p:nvPr/>
        </p:nvSpPr>
        <p:spPr bwMode="auto">
          <a:xfrm>
            <a:off x="4491278" y="5553754"/>
            <a:ext cx="431075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GB" sz="1500" dirty="0"/>
              <a:t>All these carriers are separate signals and are all modulated on to one main carrier </a:t>
            </a:r>
          </a:p>
        </p:txBody>
      </p:sp>
      <p:sp>
        <p:nvSpPr>
          <p:cNvPr id="3" name="Right Brace 2"/>
          <p:cNvSpPr/>
          <p:nvPr/>
        </p:nvSpPr>
        <p:spPr bwMode="auto">
          <a:xfrm rot="5400000">
            <a:off x="5837432" y="2521279"/>
            <a:ext cx="368300" cy="5378060"/>
          </a:xfrm>
          <a:prstGeom prst="rightBrace">
            <a:avLst>
              <a:gd name="adj1" fmla="val 30678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67" name="Group 62"/>
          <p:cNvGrpSpPr>
            <a:grpSpLocks/>
          </p:cNvGrpSpPr>
          <p:nvPr/>
        </p:nvGrpSpPr>
        <p:grpSpPr bwMode="auto">
          <a:xfrm>
            <a:off x="1928871" y="873380"/>
            <a:ext cx="484188" cy="461963"/>
            <a:chOff x="231" y="657"/>
            <a:chExt cx="305" cy="291"/>
          </a:xfrm>
        </p:grpSpPr>
        <p:sp>
          <p:nvSpPr>
            <p:cNvPr id="68" name="Rectangle 63"/>
            <p:cNvSpPr>
              <a:spLocks noChangeArrowheads="1"/>
            </p:cNvSpPr>
            <p:nvPr/>
          </p:nvSpPr>
          <p:spPr bwMode="auto">
            <a:xfrm>
              <a:off x="240" y="672"/>
              <a:ext cx="288" cy="249"/>
            </a:xfrm>
            <a:prstGeom prst="rect">
              <a:avLst/>
            </a:prstGeom>
            <a:solidFill>
              <a:srgbClr val="40C5E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69" name="Text Box 64"/>
            <p:cNvSpPr txBox="1">
              <a:spLocks noChangeArrowheads="1"/>
            </p:cNvSpPr>
            <p:nvPr/>
          </p:nvSpPr>
          <p:spPr bwMode="auto">
            <a:xfrm>
              <a:off x="231" y="657"/>
              <a:ext cx="3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sz="1200" dirty="0">
                  <a:cs typeface="Lucida Sans Unicode" pitchFamily="34" charset="0"/>
                </a:rPr>
                <a:t>A</a:t>
              </a:r>
            </a:p>
            <a:p>
              <a:pPr algn="ctr"/>
              <a:r>
                <a:rPr lang="en-GB" sz="1200" dirty="0">
                  <a:cs typeface="Lucida Sans Unicode" pitchFamily="34" charset="0"/>
                </a:rPr>
                <a:t>Ch1</a:t>
              </a:r>
              <a:endParaRPr lang="en-GB" sz="1400" dirty="0">
                <a:cs typeface="Lucida Sans Unicode" pitchFamily="34" charset="0"/>
              </a:endParaRPr>
            </a:p>
          </p:txBody>
        </p:sp>
      </p:grpSp>
      <p:grpSp>
        <p:nvGrpSpPr>
          <p:cNvPr id="70" name="Group 65"/>
          <p:cNvGrpSpPr>
            <a:grpSpLocks/>
          </p:cNvGrpSpPr>
          <p:nvPr/>
        </p:nvGrpSpPr>
        <p:grpSpPr bwMode="auto">
          <a:xfrm>
            <a:off x="335021" y="873382"/>
            <a:ext cx="484188" cy="461963"/>
            <a:chOff x="235" y="1476"/>
            <a:chExt cx="305" cy="291"/>
          </a:xfrm>
        </p:grpSpPr>
        <p:sp>
          <p:nvSpPr>
            <p:cNvPr id="71" name="Rectangle 66"/>
            <p:cNvSpPr>
              <a:spLocks noChangeArrowheads="1"/>
            </p:cNvSpPr>
            <p:nvPr/>
          </p:nvSpPr>
          <p:spPr bwMode="auto">
            <a:xfrm>
              <a:off x="240" y="1488"/>
              <a:ext cx="288" cy="249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72" name="Text Box 67"/>
            <p:cNvSpPr txBox="1">
              <a:spLocks noChangeArrowheads="1"/>
            </p:cNvSpPr>
            <p:nvPr/>
          </p:nvSpPr>
          <p:spPr bwMode="auto">
            <a:xfrm>
              <a:off x="235" y="1476"/>
              <a:ext cx="3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sz="1200" dirty="0">
                  <a:cs typeface="Lucida Sans Unicode" pitchFamily="34" charset="0"/>
                </a:rPr>
                <a:t>V</a:t>
              </a:r>
            </a:p>
            <a:p>
              <a:pPr algn="ctr"/>
              <a:r>
                <a:rPr lang="en-GB" sz="1200" dirty="0">
                  <a:cs typeface="Lucida Sans Unicode" pitchFamily="34" charset="0"/>
                </a:rPr>
                <a:t>Ch1</a:t>
              </a:r>
            </a:p>
          </p:txBody>
        </p:sp>
      </p:grpSp>
      <p:grpSp>
        <p:nvGrpSpPr>
          <p:cNvPr id="73" name="Group 68"/>
          <p:cNvGrpSpPr>
            <a:grpSpLocks/>
          </p:cNvGrpSpPr>
          <p:nvPr/>
        </p:nvGrpSpPr>
        <p:grpSpPr bwMode="auto">
          <a:xfrm>
            <a:off x="871596" y="873382"/>
            <a:ext cx="484188" cy="461963"/>
            <a:chOff x="237" y="1476"/>
            <a:chExt cx="305" cy="291"/>
          </a:xfrm>
        </p:grpSpPr>
        <p:sp>
          <p:nvSpPr>
            <p:cNvPr id="74" name="Rectangle 69"/>
            <p:cNvSpPr>
              <a:spLocks noChangeArrowheads="1"/>
            </p:cNvSpPr>
            <p:nvPr/>
          </p:nvSpPr>
          <p:spPr bwMode="auto">
            <a:xfrm>
              <a:off x="240" y="1488"/>
              <a:ext cx="288" cy="249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75" name="Text Box 70"/>
            <p:cNvSpPr txBox="1">
              <a:spLocks noChangeArrowheads="1"/>
            </p:cNvSpPr>
            <p:nvPr/>
          </p:nvSpPr>
          <p:spPr bwMode="auto">
            <a:xfrm>
              <a:off x="237" y="1476"/>
              <a:ext cx="3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sz="1200" dirty="0">
                  <a:cs typeface="Lucida Sans Unicode" pitchFamily="34" charset="0"/>
                </a:rPr>
                <a:t>V</a:t>
              </a:r>
            </a:p>
            <a:p>
              <a:pPr algn="ctr"/>
              <a:r>
                <a:rPr lang="en-GB" sz="1200" dirty="0">
                  <a:cs typeface="Lucida Sans Unicode" pitchFamily="34" charset="0"/>
                </a:rPr>
                <a:t>Ch3</a:t>
              </a:r>
            </a:p>
          </p:txBody>
        </p:sp>
      </p:grpSp>
      <p:grpSp>
        <p:nvGrpSpPr>
          <p:cNvPr id="76" name="Group 71"/>
          <p:cNvGrpSpPr>
            <a:grpSpLocks/>
          </p:cNvGrpSpPr>
          <p:nvPr/>
        </p:nvGrpSpPr>
        <p:grpSpPr bwMode="auto">
          <a:xfrm>
            <a:off x="1404996" y="873382"/>
            <a:ext cx="484188" cy="461963"/>
            <a:chOff x="237" y="1476"/>
            <a:chExt cx="305" cy="291"/>
          </a:xfrm>
        </p:grpSpPr>
        <p:sp>
          <p:nvSpPr>
            <p:cNvPr id="77" name="Rectangle 72"/>
            <p:cNvSpPr>
              <a:spLocks noChangeArrowheads="1"/>
            </p:cNvSpPr>
            <p:nvPr/>
          </p:nvSpPr>
          <p:spPr bwMode="auto">
            <a:xfrm>
              <a:off x="240" y="1488"/>
              <a:ext cx="288" cy="249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78" name="Text Box 73"/>
            <p:cNvSpPr txBox="1">
              <a:spLocks noChangeArrowheads="1"/>
            </p:cNvSpPr>
            <p:nvPr/>
          </p:nvSpPr>
          <p:spPr bwMode="auto">
            <a:xfrm>
              <a:off x="237" y="1476"/>
              <a:ext cx="3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sz="1200" dirty="0">
                  <a:cs typeface="Lucida Sans Unicode" pitchFamily="34" charset="0"/>
                </a:rPr>
                <a:t>V</a:t>
              </a:r>
            </a:p>
            <a:p>
              <a:pPr algn="ctr"/>
              <a:r>
                <a:rPr lang="en-GB" sz="1200" dirty="0">
                  <a:cs typeface="Lucida Sans Unicode" pitchFamily="34" charset="0"/>
                </a:rPr>
                <a:t>Ch4</a:t>
              </a:r>
            </a:p>
          </p:txBody>
        </p:sp>
      </p:grpSp>
      <p:grpSp>
        <p:nvGrpSpPr>
          <p:cNvPr id="79" name="Group 74"/>
          <p:cNvGrpSpPr>
            <a:grpSpLocks/>
          </p:cNvGrpSpPr>
          <p:nvPr/>
        </p:nvGrpSpPr>
        <p:grpSpPr bwMode="auto">
          <a:xfrm>
            <a:off x="2471796" y="873382"/>
            <a:ext cx="484188" cy="461963"/>
            <a:chOff x="237" y="1476"/>
            <a:chExt cx="305" cy="291"/>
          </a:xfrm>
        </p:grpSpPr>
        <p:sp>
          <p:nvSpPr>
            <p:cNvPr id="80" name="Rectangle 75"/>
            <p:cNvSpPr>
              <a:spLocks noChangeArrowheads="1"/>
            </p:cNvSpPr>
            <p:nvPr/>
          </p:nvSpPr>
          <p:spPr bwMode="auto">
            <a:xfrm>
              <a:off x="240" y="1488"/>
              <a:ext cx="288" cy="249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81" name="Text Box 76"/>
            <p:cNvSpPr txBox="1">
              <a:spLocks noChangeArrowheads="1"/>
            </p:cNvSpPr>
            <p:nvPr/>
          </p:nvSpPr>
          <p:spPr bwMode="auto">
            <a:xfrm>
              <a:off x="237" y="1476"/>
              <a:ext cx="3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sz="1200" dirty="0">
                  <a:cs typeface="Lucida Sans Unicode" pitchFamily="34" charset="0"/>
                </a:rPr>
                <a:t>V</a:t>
              </a:r>
            </a:p>
            <a:p>
              <a:pPr algn="ctr"/>
              <a:r>
                <a:rPr lang="en-GB" sz="1200" dirty="0">
                  <a:cs typeface="Lucida Sans Unicode" pitchFamily="34" charset="0"/>
                </a:rPr>
                <a:t>Ch3</a:t>
              </a:r>
            </a:p>
          </p:txBody>
        </p:sp>
      </p:grpSp>
      <p:grpSp>
        <p:nvGrpSpPr>
          <p:cNvPr id="82" name="Group 77"/>
          <p:cNvGrpSpPr>
            <a:grpSpLocks/>
          </p:cNvGrpSpPr>
          <p:nvPr/>
        </p:nvGrpSpPr>
        <p:grpSpPr bwMode="auto">
          <a:xfrm>
            <a:off x="2982971" y="873380"/>
            <a:ext cx="484188" cy="461963"/>
            <a:chOff x="223" y="1040"/>
            <a:chExt cx="305" cy="291"/>
          </a:xfrm>
        </p:grpSpPr>
        <p:sp>
          <p:nvSpPr>
            <p:cNvPr id="83" name="Rectangle 78"/>
            <p:cNvSpPr>
              <a:spLocks noChangeArrowheads="1"/>
            </p:cNvSpPr>
            <p:nvPr/>
          </p:nvSpPr>
          <p:spPr bwMode="auto">
            <a:xfrm>
              <a:off x="240" y="1056"/>
              <a:ext cx="288" cy="249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84" name="Text Box 79"/>
            <p:cNvSpPr txBox="1">
              <a:spLocks noChangeArrowheads="1"/>
            </p:cNvSpPr>
            <p:nvPr/>
          </p:nvSpPr>
          <p:spPr bwMode="auto">
            <a:xfrm>
              <a:off x="223" y="1040"/>
              <a:ext cx="3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sz="1200" dirty="0">
                  <a:cs typeface="Lucida Sans Unicode" pitchFamily="34" charset="0"/>
                </a:rPr>
                <a:t>D</a:t>
              </a:r>
            </a:p>
            <a:p>
              <a:pPr algn="ctr"/>
              <a:r>
                <a:rPr lang="en-GB" sz="1200" dirty="0">
                  <a:cs typeface="Lucida Sans Unicode" pitchFamily="34" charset="0"/>
                </a:rPr>
                <a:t>Ch2</a:t>
              </a:r>
              <a:endParaRPr lang="en-GB" sz="1400" dirty="0">
                <a:cs typeface="Lucida Sans Unicode" pitchFamily="34" charset="0"/>
              </a:endParaRPr>
            </a:p>
          </p:txBody>
        </p:sp>
      </p:grpSp>
      <p:grpSp>
        <p:nvGrpSpPr>
          <p:cNvPr id="85" name="Group 112"/>
          <p:cNvGrpSpPr/>
          <p:nvPr/>
        </p:nvGrpSpPr>
        <p:grpSpPr>
          <a:xfrm>
            <a:off x="3516251" y="873379"/>
            <a:ext cx="484428" cy="461665"/>
            <a:chOff x="6988056" y="3182938"/>
            <a:chExt cx="484428" cy="461665"/>
          </a:xfrm>
        </p:grpSpPr>
        <p:sp>
          <p:nvSpPr>
            <p:cNvPr id="86" name="Rectangle 81"/>
            <p:cNvSpPr>
              <a:spLocks noChangeArrowheads="1"/>
            </p:cNvSpPr>
            <p:nvPr/>
          </p:nvSpPr>
          <p:spPr bwMode="auto">
            <a:xfrm>
              <a:off x="7015163" y="3213100"/>
              <a:ext cx="457200" cy="395919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87" name="Text Box 82"/>
            <p:cNvSpPr txBox="1">
              <a:spLocks noChangeArrowheads="1"/>
            </p:cNvSpPr>
            <p:nvPr/>
          </p:nvSpPr>
          <p:spPr bwMode="auto">
            <a:xfrm>
              <a:off x="6988056" y="3182938"/>
              <a:ext cx="4844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sz="1200" dirty="0">
                  <a:solidFill>
                    <a:schemeClr val="bg1"/>
                  </a:solidFill>
                  <a:cs typeface="Lucida Sans Unicode" pitchFamily="34" charset="0"/>
                </a:rPr>
                <a:t>SI</a:t>
              </a:r>
            </a:p>
            <a:p>
              <a:pPr algn="ctr"/>
              <a:r>
                <a:rPr lang="en-GB" sz="1200" dirty="0">
                  <a:solidFill>
                    <a:schemeClr val="bg1"/>
                  </a:solidFill>
                  <a:cs typeface="Lucida Sans Unicode" pitchFamily="34" charset="0"/>
                </a:rPr>
                <a:t>Ch1</a:t>
              </a:r>
            </a:p>
          </p:txBody>
        </p:sp>
      </p:grpSp>
      <p:grpSp>
        <p:nvGrpSpPr>
          <p:cNvPr id="88" name="Group 83"/>
          <p:cNvGrpSpPr>
            <a:grpSpLocks/>
          </p:cNvGrpSpPr>
          <p:nvPr/>
        </p:nvGrpSpPr>
        <p:grpSpPr bwMode="auto">
          <a:xfrm>
            <a:off x="4071996" y="873382"/>
            <a:ext cx="484188" cy="461963"/>
            <a:chOff x="237" y="1476"/>
            <a:chExt cx="305" cy="291"/>
          </a:xfrm>
        </p:grpSpPr>
        <p:sp>
          <p:nvSpPr>
            <p:cNvPr id="89" name="Rectangle 84"/>
            <p:cNvSpPr>
              <a:spLocks noChangeArrowheads="1"/>
            </p:cNvSpPr>
            <p:nvPr/>
          </p:nvSpPr>
          <p:spPr bwMode="auto">
            <a:xfrm>
              <a:off x="240" y="1488"/>
              <a:ext cx="288" cy="249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90" name="Text Box 85"/>
            <p:cNvSpPr txBox="1">
              <a:spLocks noChangeArrowheads="1"/>
            </p:cNvSpPr>
            <p:nvPr/>
          </p:nvSpPr>
          <p:spPr bwMode="auto">
            <a:xfrm>
              <a:off x="237" y="1476"/>
              <a:ext cx="3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sz="1200" dirty="0">
                  <a:cs typeface="Lucida Sans Unicode" pitchFamily="34" charset="0"/>
                </a:rPr>
                <a:t>V</a:t>
              </a:r>
            </a:p>
            <a:p>
              <a:pPr algn="ctr"/>
              <a:r>
                <a:rPr lang="en-GB" sz="1200" dirty="0">
                  <a:cs typeface="Lucida Sans Unicode" pitchFamily="34" charset="0"/>
                </a:rPr>
                <a:t>Ch1</a:t>
              </a:r>
            </a:p>
          </p:txBody>
        </p:sp>
      </p:grpSp>
      <p:grpSp>
        <p:nvGrpSpPr>
          <p:cNvPr id="91" name="Group 86"/>
          <p:cNvGrpSpPr>
            <a:grpSpLocks/>
          </p:cNvGrpSpPr>
          <p:nvPr/>
        </p:nvGrpSpPr>
        <p:grpSpPr bwMode="auto">
          <a:xfrm>
            <a:off x="4605396" y="873382"/>
            <a:ext cx="484188" cy="461963"/>
            <a:chOff x="237" y="1476"/>
            <a:chExt cx="305" cy="291"/>
          </a:xfrm>
        </p:grpSpPr>
        <p:sp>
          <p:nvSpPr>
            <p:cNvPr id="92" name="Rectangle 87"/>
            <p:cNvSpPr>
              <a:spLocks noChangeArrowheads="1"/>
            </p:cNvSpPr>
            <p:nvPr/>
          </p:nvSpPr>
          <p:spPr bwMode="auto">
            <a:xfrm>
              <a:off x="240" y="1488"/>
              <a:ext cx="288" cy="249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93" name="Text Box 88"/>
            <p:cNvSpPr txBox="1">
              <a:spLocks noChangeArrowheads="1"/>
            </p:cNvSpPr>
            <p:nvPr/>
          </p:nvSpPr>
          <p:spPr bwMode="auto">
            <a:xfrm>
              <a:off x="237" y="1476"/>
              <a:ext cx="3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sz="1200" dirty="0">
                  <a:cs typeface="Lucida Sans Unicode" pitchFamily="34" charset="0"/>
                </a:rPr>
                <a:t>V</a:t>
              </a:r>
            </a:p>
            <a:p>
              <a:pPr algn="ctr"/>
              <a:r>
                <a:rPr lang="en-GB" sz="1200" dirty="0">
                  <a:cs typeface="Lucida Sans Unicode" pitchFamily="34" charset="0"/>
                </a:rPr>
                <a:t>Ch4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4194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174833" y="403001"/>
            <a:ext cx="7976001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9600" b="1" dirty="0"/>
              <a:t>Satellite Distribution</a:t>
            </a: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6567488" y="5912692"/>
            <a:ext cx="2576512" cy="5540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>
            <a:spAutoFit/>
          </a:bodyPr>
          <a:lstStyle/>
          <a:p>
            <a:r>
              <a:rPr lang="en-GB" sz="1000" dirty="0"/>
              <a:t>image from</a:t>
            </a:r>
            <a:endParaRPr lang="en-GB" sz="1000" dirty="0">
              <a:hlinkClick r:id="" action="ppaction://noaction"/>
            </a:endParaRPr>
          </a:p>
          <a:p>
            <a:r>
              <a:rPr lang="en-GB" sz="1000" dirty="0">
                <a:hlinkClick r:id="" action="ppaction://noaction"/>
              </a:rPr>
              <a:t>http://upload.wikimedia.org/wikipedia/en/8/80/Sat_contribution_fig.jpg</a:t>
            </a:r>
            <a:endParaRPr lang="en-GB" sz="1000" dirty="0"/>
          </a:p>
        </p:txBody>
      </p:sp>
      <p:grpSp>
        <p:nvGrpSpPr>
          <p:cNvPr id="3" name="Group 2"/>
          <p:cNvGrpSpPr/>
          <p:nvPr/>
        </p:nvGrpSpPr>
        <p:grpSpPr>
          <a:xfrm>
            <a:off x="507255" y="3221037"/>
            <a:ext cx="8516938" cy="2579688"/>
            <a:chOff x="393700" y="2190750"/>
            <a:chExt cx="8516938" cy="2579688"/>
          </a:xfrm>
        </p:grpSpPr>
        <p:pic>
          <p:nvPicPr>
            <p:cNvPr id="28675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700" y="2190750"/>
              <a:ext cx="8516938" cy="2579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4049279" y="3267493"/>
              <a:ext cx="1205779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1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Video </a:t>
              </a:r>
              <a:r>
                <a:rPr lang="en-GB" sz="11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Headend</a:t>
              </a:r>
              <a:endParaRPr lang="en-GB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3084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381000" y="333375"/>
            <a:ext cx="1843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GB" sz="2400" b="1"/>
              <a:t>Satellite TV</a:t>
            </a:r>
          </a:p>
        </p:txBody>
      </p:sp>
      <p:sp>
        <p:nvSpPr>
          <p:cNvPr id="22531" name="Rectangle 6"/>
          <p:cNvSpPr>
            <a:spLocks noChangeArrowheads="1"/>
          </p:cNvSpPr>
          <p:nvPr/>
        </p:nvSpPr>
        <p:spPr bwMode="auto">
          <a:xfrm>
            <a:off x="394786" y="957209"/>
            <a:ext cx="8081963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180975" indent="-180975"/>
            <a:r>
              <a:rPr lang="en-GB" sz="1600" b="1" dirty="0">
                <a:latin typeface="Lucida Sans Unicode" pitchFamily="34" charset="0"/>
                <a:cs typeface="Lucida Sans Unicode" pitchFamily="34" charset="0"/>
              </a:rPr>
              <a:t>DBS - Direct Broadcast Satellite; </a:t>
            </a:r>
            <a:r>
              <a:rPr lang="en-GB" sz="1600" dirty="0"/>
              <a:t>Broadcasting Satellite Service </a:t>
            </a:r>
            <a:endParaRPr lang="en-GB" dirty="0"/>
          </a:p>
          <a:p>
            <a:pPr marL="180975" indent="-180975">
              <a:buFontTx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One-way broadcast</a:t>
            </a:r>
          </a:p>
          <a:p>
            <a:pPr marL="180975" indent="-180975">
              <a:buFontTx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From a communications satellite to an end user </a:t>
            </a:r>
          </a:p>
          <a:p>
            <a:pPr marL="180975" indent="-180975">
              <a:buFontTx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Uplink: large dish  9-12m </a:t>
            </a:r>
            <a:r>
              <a:rPr lang="en-GB" sz="1600" dirty="0" err="1">
                <a:latin typeface="Lucida Sans Unicode" pitchFamily="34" charset="0"/>
                <a:cs typeface="Lucida Sans Unicode" pitchFamily="34" charset="0"/>
              </a:rPr>
              <a:t>dia</a:t>
            </a: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pPr marL="180975" indent="-180975">
              <a:buFontTx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Receiver - Small round or oval dish antenna &lt; 20" diameter.</a:t>
            </a:r>
          </a:p>
          <a:p>
            <a:pPr marL="180975" indent="-180975">
              <a:buFontTx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Compressed digital signal in the K</a:t>
            </a:r>
            <a:r>
              <a:rPr lang="en-GB" sz="1600" baseline="-25000" dirty="0">
                <a:latin typeface="Lucida Sans Unicode" pitchFamily="34" charset="0"/>
                <a:cs typeface="Lucida Sans Unicode" pitchFamily="34" charset="0"/>
              </a:rPr>
              <a:t>u </a:t>
            </a: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band</a:t>
            </a:r>
          </a:p>
          <a:p>
            <a:pPr marL="628650" lvl="1" indent="-171450"/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(11-15GHz)</a:t>
            </a: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53"/>
          <a:stretch>
            <a:fillRect/>
          </a:stretch>
        </p:blipFill>
        <p:spPr bwMode="auto">
          <a:xfrm>
            <a:off x="3536885" y="2663915"/>
            <a:ext cx="5250872" cy="379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4572000" y="6226175"/>
            <a:ext cx="4572000" cy="231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GB" sz="9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http://www.supersatelliteselection.com/how-satellite-tv-works.html</a:t>
            </a:r>
          </a:p>
        </p:txBody>
      </p:sp>
      <p:sp>
        <p:nvSpPr>
          <p:cNvPr id="22534" name="Text Box 7"/>
          <p:cNvSpPr txBox="1">
            <a:spLocks noChangeArrowheads="1"/>
          </p:cNvSpPr>
          <p:nvPr/>
        </p:nvSpPr>
        <p:spPr bwMode="auto">
          <a:xfrm>
            <a:off x="381000" y="4722285"/>
            <a:ext cx="25943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85738" indent="-185738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buFontTx/>
              <a:buChar char="•"/>
            </a:pPr>
            <a:r>
              <a:rPr lang="en-GB" dirty="0"/>
              <a:t>Reception affected by </a:t>
            </a:r>
          </a:p>
          <a:p>
            <a:pPr lvl="1">
              <a:buFontTx/>
              <a:buChar char="•"/>
            </a:pPr>
            <a:r>
              <a:rPr lang="en-GB" dirty="0"/>
              <a:t>rain</a:t>
            </a:r>
          </a:p>
          <a:p>
            <a:pPr lvl="1">
              <a:buFontTx/>
              <a:buChar char="•"/>
            </a:pPr>
            <a:r>
              <a:rPr lang="en-GB" dirty="0"/>
              <a:t>solar activity</a:t>
            </a:r>
          </a:p>
        </p:txBody>
      </p:sp>
    </p:spTree>
    <p:extLst>
      <p:ext uri="{BB962C8B-B14F-4D97-AF65-F5344CB8AC3E}">
        <p14:creationId xmlns:p14="http://schemas.microsoft.com/office/powerpoint/2010/main" val="32977453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5"/>
          <p:cNvSpPr txBox="1">
            <a:spLocks noChangeArrowheads="1"/>
          </p:cNvSpPr>
          <p:nvPr/>
        </p:nvSpPr>
        <p:spPr bwMode="auto">
          <a:xfrm>
            <a:off x="381000" y="333375"/>
            <a:ext cx="3086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GB" sz="2400" b="1">
                <a:cs typeface="Lucida Sans Unicode" pitchFamily="34" charset="0"/>
              </a:rPr>
              <a:t>Geostationary Orbit</a:t>
            </a:r>
          </a:p>
        </p:txBody>
      </p:sp>
      <p:pic>
        <p:nvPicPr>
          <p:cNvPr id="140290" name="Picture 2" descr="http://www.wotsat.com/sites/19/images/article_images_month/2012-02/freesat%20and%20sky%20271.jpg"/>
          <p:cNvPicPr>
            <a:picLocks noChangeAspect="1" noChangeArrowheads="1"/>
          </p:cNvPicPr>
          <p:nvPr/>
        </p:nvPicPr>
        <p:blipFill>
          <a:blip r:embed="rId2" cstate="print"/>
          <a:srcRect l="3738" t="3296" r="3044" b="3424"/>
          <a:stretch>
            <a:fillRect/>
          </a:stretch>
        </p:blipFill>
        <p:spPr bwMode="auto">
          <a:xfrm>
            <a:off x="6146357" y="2870421"/>
            <a:ext cx="2663687" cy="2194560"/>
          </a:xfrm>
          <a:prstGeom prst="rect">
            <a:avLst/>
          </a:prstGeom>
          <a:noFill/>
        </p:spPr>
      </p:pic>
      <p:pic>
        <p:nvPicPr>
          <p:cNvPr id="7" name="Picture 2" descr="http://www.ses-gs.com/wp-content/uploads/2010/08/Egnos.png"/>
          <p:cNvPicPr>
            <a:picLocks noChangeAspect="1" noChangeArrowheads="1"/>
          </p:cNvPicPr>
          <p:nvPr/>
        </p:nvPicPr>
        <p:blipFill>
          <a:blip r:embed="rId3" cstate="print"/>
          <a:srcRect l="1803" t="1577" r="871" b="1374"/>
          <a:stretch>
            <a:fillRect/>
          </a:stretch>
        </p:blipFill>
        <p:spPr bwMode="auto">
          <a:xfrm>
            <a:off x="393700" y="707667"/>
            <a:ext cx="4545513" cy="3371352"/>
          </a:xfrm>
          <a:prstGeom prst="rect">
            <a:avLst/>
          </a:prstGeom>
          <a:noFill/>
        </p:spPr>
      </p:pic>
      <p:sp>
        <p:nvSpPr>
          <p:cNvPr id="23555" name="Rectangle 6"/>
          <p:cNvSpPr>
            <a:spLocks noChangeArrowheads="1"/>
          </p:cNvSpPr>
          <p:nvPr/>
        </p:nvSpPr>
        <p:spPr bwMode="auto">
          <a:xfrm>
            <a:off x="393701" y="4331996"/>
            <a:ext cx="527558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190500" indent="-190500">
              <a:buFontTx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appears as a fixed position to an earth-based observer</a:t>
            </a:r>
          </a:p>
          <a:p>
            <a:pPr marL="190500" indent="-190500">
              <a:buFontTx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revolves around the earth at a constant speed once per day over the equator</a:t>
            </a:r>
            <a:endParaRPr lang="en-GB" sz="1100" dirty="0">
              <a:latin typeface="Lucida Sans Unicode" pitchFamily="34" charset="0"/>
              <a:cs typeface="Lucida Sans Unicode" pitchFamily="34" charset="0"/>
            </a:endParaRPr>
          </a:p>
          <a:p>
            <a:pPr marL="190500" indent="-190500">
              <a:buFontTx/>
              <a:buChar char="•"/>
            </a:pP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pPr marL="190500" indent="-190500">
              <a:buFontTx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ground based antennae - no need for expensive tracking equipment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3021496" y="1264257"/>
            <a:ext cx="1518699" cy="278296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34031" y="930303"/>
            <a:ext cx="13388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Lucida Sans Unicode" pitchFamily="34" charset="0"/>
              </a:rPr>
              <a:t>36,000 km</a:t>
            </a:r>
          </a:p>
          <a:p>
            <a:r>
              <a:rPr lang="en-GB" sz="1200" dirty="0">
                <a:latin typeface="Lucida Sans Unicode" pitchFamily="34" charset="0"/>
              </a:rPr>
              <a:t>= 22,250 miles</a:t>
            </a: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5751576" y="848758"/>
            <a:ext cx="3392424" cy="8309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1200" dirty="0">
                <a:latin typeface="Lucida Sans Unicode" pitchFamily="34" charset="0"/>
                <a:cs typeface="Lucida Sans Unicode" pitchFamily="34" charset="0"/>
              </a:rPr>
              <a:t>Some satellite data …</a:t>
            </a:r>
          </a:p>
          <a:p>
            <a:pPr marL="179388" indent="-179388">
              <a:buFont typeface="Arial" pitchFamily="34" charset="0"/>
              <a:buChar char="•"/>
            </a:pPr>
            <a:r>
              <a:rPr lang="en-GB" sz="1200" dirty="0">
                <a:latin typeface="Lucida Sans Unicode" pitchFamily="34" charset="0"/>
                <a:cs typeface="Lucida Sans Unicode" pitchFamily="34" charset="0"/>
              </a:rPr>
              <a:t>SES Astra satellites located at 28.2° east (Astra 2A/2B/2C/2D)</a:t>
            </a:r>
          </a:p>
          <a:p>
            <a:pPr marL="179388" indent="-179388">
              <a:buFont typeface="Arial" pitchFamily="34" charset="0"/>
              <a:buChar char="•"/>
            </a:pPr>
            <a:r>
              <a:rPr lang="en-GB" sz="1200" dirty="0" err="1">
                <a:latin typeface="Lucida Sans Unicode" pitchFamily="34" charset="0"/>
                <a:cs typeface="Lucida Sans Unicode" pitchFamily="34" charset="0"/>
              </a:rPr>
              <a:t>Eutelsat's</a:t>
            </a:r>
            <a:r>
              <a:rPr lang="en-GB" sz="1200" dirty="0">
                <a:latin typeface="Lucida Sans Unicode" pitchFamily="34" charset="0"/>
                <a:cs typeface="Lucida Sans Unicode" pitchFamily="34" charset="0"/>
              </a:rPr>
              <a:t> </a:t>
            </a:r>
            <a:r>
              <a:rPr lang="en-GB" sz="1200" dirty="0" err="1">
                <a:latin typeface="Lucida Sans Unicode" pitchFamily="34" charset="0"/>
                <a:cs typeface="Lucida Sans Unicode" pitchFamily="34" charset="0"/>
              </a:rPr>
              <a:t>Eurobird</a:t>
            </a:r>
            <a:r>
              <a:rPr lang="en-GB" sz="1200" dirty="0">
                <a:latin typeface="Lucida Sans Unicode" pitchFamily="34" charset="0"/>
                <a:cs typeface="Lucida Sans Unicode" pitchFamily="34" charset="0"/>
              </a:rPr>
              <a:t> 1 satellite at 28.5°E</a:t>
            </a: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6273580" y="5149270"/>
            <a:ext cx="263983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179388" indent="-179388"/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receiver dish parameters</a:t>
            </a:r>
          </a:p>
        </p:txBody>
      </p:sp>
    </p:spTree>
    <p:extLst>
      <p:ext uri="{BB962C8B-B14F-4D97-AF65-F5344CB8AC3E}">
        <p14:creationId xmlns:p14="http://schemas.microsoft.com/office/powerpoint/2010/main" val="7236310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600" b="1" dirty="0"/>
          </a:p>
        </p:txBody>
      </p:sp>
      <p:pic>
        <p:nvPicPr>
          <p:cNvPr id="3" name="Picture 2" descr="Embedded image permalin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1"/>
            <a:ext cx="4497049" cy="6858000"/>
          </a:xfrm>
          <a:prstGeom prst="rect">
            <a:avLst/>
          </a:prstGeom>
          <a:noFill/>
        </p:spPr>
      </p:pic>
      <p:sp>
        <p:nvSpPr>
          <p:cNvPr id="4" name="TextBox 5"/>
          <p:cNvSpPr txBox="1"/>
          <p:nvPr/>
        </p:nvSpPr>
        <p:spPr>
          <a:xfrm>
            <a:off x="7452320" y="331788"/>
            <a:ext cx="1215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>
                <a:solidFill>
                  <a:schemeClr val="bg1"/>
                </a:solidFill>
                <a:latin typeface="Lucida Sans Unicode" pitchFamily="34" charset="0"/>
              </a:rPr>
              <a:t>March 2014</a:t>
            </a:r>
          </a:p>
        </p:txBody>
      </p:sp>
    </p:spTree>
    <p:extLst>
      <p:ext uri="{BB962C8B-B14F-4D97-AF65-F5344CB8AC3E}">
        <p14:creationId xmlns:p14="http://schemas.microsoft.com/office/powerpoint/2010/main" val="23756868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201" y="1914525"/>
            <a:ext cx="7006175" cy="494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7" name="Text Box 6"/>
          <p:cNvSpPr txBox="1">
            <a:spLocks noChangeArrowheads="1"/>
          </p:cNvSpPr>
          <p:nvPr/>
        </p:nvSpPr>
        <p:spPr bwMode="auto">
          <a:xfrm>
            <a:off x="381000" y="333375"/>
            <a:ext cx="3648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GB" sz="2400" b="1" dirty="0"/>
              <a:t>Satellite Transponders</a:t>
            </a:r>
          </a:p>
        </p:txBody>
      </p:sp>
      <p:sp>
        <p:nvSpPr>
          <p:cNvPr id="26628" name="TextBox 10"/>
          <p:cNvSpPr txBox="1">
            <a:spLocks noChangeArrowheads="1"/>
          </p:cNvSpPr>
          <p:nvPr/>
        </p:nvSpPr>
        <p:spPr bwMode="auto">
          <a:xfrm>
            <a:off x="395288" y="3023955"/>
            <a:ext cx="225742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400" dirty="0"/>
              <a:t>24 x 36MHz channels in 6GHz band</a:t>
            </a:r>
          </a:p>
        </p:txBody>
      </p:sp>
      <p:sp>
        <p:nvSpPr>
          <p:cNvPr id="26629" name="TextBox 12"/>
          <p:cNvSpPr txBox="1">
            <a:spLocks noChangeArrowheads="1"/>
          </p:cNvSpPr>
          <p:nvPr/>
        </p:nvSpPr>
        <p:spPr bwMode="auto">
          <a:xfrm>
            <a:off x="5567046" y="2537526"/>
            <a:ext cx="2667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400" dirty="0"/>
              <a:t>24 x 36MHz transmission channels in 11GHz band</a:t>
            </a:r>
          </a:p>
        </p:txBody>
      </p:sp>
      <p:sp>
        <p:nvSpPr>
          <p:cNvPr id="26630" name="Rectangle 5"/>
          <p:cNvSpPr>
            <a:spLocks noChangeArrowheads="1"/>
          </p:cNvSpPr>
          <p:nvPr/>
        </p:nvSpPr>
        <p:spPr bwMode="auto">
          <a:xfrm>
            <a:off x="395288" y="837116"/>
            <a:ext cx="8545513" cy="1520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190500" indent="-190500">
              <a:lnSpc>
                <a:spcPct val="120000"/>
              </a:lnSpc>
              <a:buFontTx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Each Transponder is a separate transceiver or repeater</a:t>
            </a:r>
          </a:p>
          <a:p>
            <a:pPr marL="190500" indent="-190500">
              <a:lnSpc>
                <a:spcPct val="120000"/>
              </a:lnSpc>
              <a:buFontTx/>
              <a:buChar char="•"/>
            </a:pPr>
            <a:r>
              <a:rPr lang="en-GB" dirty="0">
                <a:cs typeface="Lucida Sans Unicode" pitchFamily="34" charset="0"/>
              </a:rPr>
              <a:t>Each transmission channel is a multiplex of several  digital TV channels</a:t>
            </a:r>
          </a:p>
          <a:p>
            <a:pPr marL="190500" indent="-190500">
              <a:lnSpc>
                <a:spcPct val="120000"/>
              </a:lnSpc>
              <a:buFontTx/>
              <a:buChar char="•"/>
            </a:pPr>
            <a:r>
              <a:rPr lang="en-GB" dirty="0">
                <a:cs typeface="Lucida Sans Unicode" pitchFamily="34" charset="0"/>
              </a:rPr>
              <a:t>(note – bigger transmission channels than DTT </a:t>
            </a:r>
          </a:p>
          <a:p>
            <a:pPr marL="190500" indent="-190500">
              <a:lnSpc>
                <a:spcPct val="120000"/>
              </a:lnSpc>
              <a:buFontTx/>
              <a:buChar char="•"/>
            </a:pPr>
            <a:r>
              <a:rPr lang="en-GB" dirty="0">
                <a:cs typeface="Lucida Sans Unicode" pitchFamily="34" charset="0"/>
              </a:rPr>
              <a:t>∴ many more TV channels in each multiplex)</a:t>
            </a:r>
          </a:p>
          <a:p>
            <a:pPr marL="190500" indent="-190500">
              <a:buFontTx/>
              <a:buChar char="•"/>
            </a:pP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0" y="6129300"/>
            <a:ext cx="4572000" cy="254000"/>
          </a:xfrm>
          <a:prstGeom prst="rect">
            <a:avLst/>
          </a:prstGeom>
          <a:solidFill>
            <a:srgbClr val="9999FF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GB" sz="1000" dirty="0">
                <a:solidFill>
                  <a:schemeClr val="accent2">
                    <a:lumMod val="20000"/>
                    <a:lumOff val="80000"/>
                  </a:schemeClr>
                </a:solidFill>
                <a:hlinkClick r:id="rId3"/>
              </a:rPr>
              <a:t>http://www.dream.com.ph/howdreamworks/hwd_schematic.asp</a:t>
            </a:r>
            <a:r>
              <a:rPr lang="en-GB" sz="1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</a:t>
            </a:r>
          </a:p>
        </p:txBody>
      </p:sp>
      <p:sp>
        <p:nvSpPr>
          <p:cNvPr id="26633" name="AutoShape 11"/>
          <p:cNvSpPr>
            <a:spLocks noChangeArrowheads="1"/>
          </p:cNvSpPr>
          <p:nvPr/>
        </p:nvSpPr>
        <p:spPr bwMode="auto">
          <a:xfrm rot="-2588343">
            <a:off x="1979193" y="4150714"/>
            <a:ext cx="1028700" cy="417512"/>
          </a:xfrm>
          <a:prstGeom prst="rightArrow">
            <a:avLst>
              <a:gd name="adj1" fmla="val 47574"/>
              <a:gd name="adj2" fmla="val 78183"/>
            </a:avLst>
          </a:prstGeom>
          <a:solidFill>
            <a:schemeClr val="hlink">
              <a:alpha val="79999"/>
            </a:schemeClr>
          </a:solidFill>
          <a:ln w="9525" algn="ctr">
            <a:solidFill>
              <a:schemeClr val="accent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800"/>
          </a:p>
        </p:txBody>
      </p:sp>
      <p:sp>
        <p:nvSpPr>
          <p:cNvPr id="26634" name="AutoShape 12"/>
          <p:cNvSpPr>
            <a:spLocks noChangeArrowheads="1"/>
          </p:cNvSpPr>
          <p:nvPr/>
        </p:nvSpPr>
        <p:spPr bwMode="auto">
          <a:xfrm rot="2811657">
            <a:off x="3991769" y="3726657"/>
            <a:ext cx="1028700" cy="417512"/>
          </a:xfrm>
          <a:prstGeom prst="rightArrow">
            <a:avLst>
              <a:gd name="adj1" fmla="val 47574"/>
              <a:gd name="adj2" fmla="val 78183"/>
            </a:avLst>
          </a:prstGeom>
          <a:solidFill>
            <a:schemeClr val="hlink">
              <a:alpha val="79999"/>
            </a:schemeClr>
          </a:solidFill>
          <a:ln w="9525" algn="ctr">
            <a:solidFill>
              <a:schemeClr val="accent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800"/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5351727" y="3092966"/>
            <a:ext cx="3600450" cy="279400"/>
            <a:chOff x="1218" y="3028"/>
            <a:chExt cx="3108" cy="212"/>
          </a:xfrm>
        </p:grpSpPr>
        <p:pic>
          <p:nvPicPr>
            <p:cNvPr id="26637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0" y="3028"/>
              <a:ext cx="1932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638" name="Rectangle 15"/>
            <p:cNvSpPr>
              <a:spLocks noChangeArrowheads="1"/>
            </p:cNvSpPr>
            <p:nvPr/>
          </p:nvSpPr>
          <p:spPr bwMode="auto">
            <a:xfrm>
              <a:off x="3804" y="3030"/>
              <a:ext cx="144" cy="21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en-US" sz="1800"/>
            </a:p>
          </p:txBody>
        </p:sp>
        <p:sp>
          <p:nvSpPr>
            <p:cNvPr id="26639" name="Rectangle 16"/>
            <p:cNvSpPr>
              <a:spLocks noChangeArrowheads="1"/>
            </p:cNvSpPr>
            <p:nvPr/>
          </p:nvSpPr>
          <p:spPr bwMode="auto">
            <a:xfrm>
              <a:off x="1638" y="3030"/>
              <a:ext cx="216" cy="21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en-US" sz="1800"/>
            </a:p>
          </p:txBody>
        </p:sp>
        <p:sp>
          <p:nvSpPr>
            <p:cNvPr id="26640" name="Rectangle 17"/>
            <p:cNvSpPr>
              <a:spLocks noChangeArrowheads="1"/>
            </p:cNvSpPr>
            <p:nvPr/>
          </p:nvSpPr>
          <p:spPr bwMode="auto">
            <a:xfrm>
              <a:off x="3930" y="3030"/>
              <a:ext cx="204" cy="210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en-US" sz="1800"/>
            </a:p>
          </p:txBody>
        </p:sp>
        <p:sp>
          <p:nvSpPr>
            <p:cNvPr id="26641" name="Rectangle 18"/>
            <p:cNvSpPr>
              <a:spLocks noChangeArrowheads="1"/>
            </p:cNvSpPr>
            <p:nvPr/>
          </p:nvSpPr>
          <p:spPr bwMode="auto">
            <a:xfrm>
              <a:off x="1404" y="3030"/>
              <a:ext cx="246" cy="210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en-US" sz="1800"/>
            </a:p>
          </p:txBody>
        </p:sp>
        <p:sp>
          <p:nvSpPr>
            <p:cNvPr id="26642" name="Rectangle 19"/>
            <p:cNvSpPr>
              <a:spLocks noChangeArrowheads="1"/>
            </p:cNvSpPr>
            <p:nvPr/>
          </p:nvSpPr>
          <p:spPr bwMode="auto">
            <a:xfrm>
              <a:off x="4122" y="3030"/>
              <a:ext cx="204" cy="21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en-US" sz="1800"/>
            </a:p>
          </p:txBody>
        </p:sp>
        <p:sp>
          <p:nvSpPr>
            <p:cNvPr id="26643" name="Rectangle 20"/>
            <p:cNvSpPr>
              <a:spLocks noChangeArrowheads="1"/>
            </p:cNvSpPr>
            <p:nvPr/>
          </p:nvSpPr>
          <p:spPr bwMode="auto">
            <a:xfrm>
              <a:off x="1218" y="3030"/>
              <a:ext cx="216" cy="2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en-US" sz="1800"/>
            </a:p>
          </p:txBody>
        </p:sp>
      </p:grpSp>
      <p:sp>
        <p:nvSpPr>
          <p:cNvPr id="22" name="AutoShape 12"/>
          <p:cNvSpPr>
            <a:spLocks noChangeArrowheads="1"/>
          </p:cNvSpPr>
          <p:nvPr/>
        </p:nvSpPr>
        <p:spPr bwMode="auto">
          <a:xfrm rot="2811657">
            <a:off x="5884662" y="5266523"/>
            <a:ext cx="483759" cy="174483"/>
          </a:xfrm>
          <a:prstGeom prst="rightArrow">
            <a:avLst>
              <a:gd name="adj1" fmla="val 47574"/>
              <a:gd name="adj2" fmla="val 78183"/>
            </a:avLst>
          </a:prstGeom>
          <a:solidFill>
            <a:schemeClr val="hlink">
              <a:alpha val="79999"/>
            </a:schemeClr>
          </a:solidFill>
          <a:ln w="9525" algn="ctr">
            <a:solidFill>
              <a:schemeClr val="accent2"/>
            </a:solidFill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618078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4"/>
          <p:cNvSpPr txBox="1">
            <a:spLocks noChangeArrowheads="1"/>
          </p:cNvSpPr>
          <p:nvPr/>
        </p:nvSpPr>
        <p:spPr bwMode="auto">
          <a:xfrm>
            <a:off x="393700" y="331788"/>
            <a:ext cx="55118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9600" b="1"/>
              <a:t>Cable TV</a:t>
            </a:r>
            <a:endParaRPr lang="en-US" sz="9600" b="1"/>
          </a:p>
        </p:txBody>
      </p:sp>
      <p:pic>
        <p:nvPicPr>
          <p:cNvPr id="50179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95675"/>
            <a:ext cx="2943225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0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575" y="2085975"/>
            <a:ext cx="61372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68556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/>
          <p:cNvSpPr/>
          <p:nvPr/>
        </p:nvSpPr>
        <p:spPr bwMode="auto">
          <a:xfrm>
            <a:off x="864" y="4429332"/>
            <a:ext cx="4994998" cy="2428703"/>
          </a:xfrm>
          <a:prstGeom prst="rect">
            <a:avLst/>
          </a:prstGeom>
          <a:solidFill>
            <a:schemeClr val="tx1">
              <a:alpha val="21961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4" name="Rectangle 63"/>
          <p:cNvSpPr/>
          <p:nvPr/>
        </p:nvSpPr>
        <p:spPr bwMode="auto">
          <a:xfrm>
            <a:off x="4230963" y="3339655"/>
            <a:ext cx="725501" cy="947363"/>
          </a:xfrm>
          <a:prstGeom prst="rect">
            <a:avLst/>
          </a:prstGeom>
          <a:solidFill>
            <a:srgbClr val="FF3300">
              <a:alpha val="21961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420" y="1439943"/>
            <a:ext cx="4226333" cy="2840165"/>
          </a:xfrm>
          <a:prstGeom prst="rect">
            <a:avLst/>
          </a:prstGeom>
          <a:solidFill>
            <a:srgbClr val="FF3300">
              <a:alpha val="21961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4993068" y="2579558"/>
            <a:ext cx="4150931" cy="4278441"/>
          </a:xfrm>
          <a:prstGeom prst="rect">
            <a:avLst/>
          </a:prstGeom>
          <a:solidFill>
            <a:schemeClr val="tx1">
              <a:alpha val="21961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4249804" y="1502341"/>
            <a:ext cx="4545393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dirty="0"/>
              <a:t>Hybrid networks: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fibre's reliability and bandwidth benefits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lower cost than a pure fibre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utilising existing copper plant</a:t>
            </a: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361949" y="843671"/>
            <a:ext cx="75977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800" b="1" dirty="0"/>
              <a:t>HFC network - hybrid fibre-coax network</a:t>
            </a:r>
          </a:p>
          <a:p>
            <a:r>
              <a:rPr lang="en-GB" sz="1800" dirty="0"/>
              <a:t>Combine both optical-fibre and coaxial cable lines.</a:t>
            </a:r>
            <a:r>
              <a:rPr lang="en-GB" sz="1800" b="1" dirty="0"/>
              <a:t> 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574264" y="2635567"/>
            <a:ext cx="7121524" cy="3095626"/>
            <a:chOff x="889" y="1248"/>
            <a:chExt cx="4486" cy="1950"/>
          </a:xfrm>
        </p:grpSpPr>
        <p:sp>
          <p:nvSpPr>
            <p:cNvPr id="37895" name="Line 7"/>
            <p:cNvSpPr>
              <a:spLocks noChangeShapeType="1"/>
            </p:cNvSpPr>
            <p:nvPr/>
          </p:nvSpPr>
          <p:spPr bwMode="auto">
            <a:xfrm>
              <a:off x="2304" y="2064"/>
              <a:ext cx="624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3072" y="1536"/>
              <a:ext cx="1104" cy="1056"/>
              <a:chOff x="3120" y="1200"/>
              <a:chExt cx="576" cy="1056"/>
            </a:xfrm>
          </p:grpSpPr>
          <p:sp>
            <p:nvSpPr>
              <p:cNvPr id="37932" name="Line 9"/>
              <p:cNvSpPr>
                <a:spLocks noChangeShapeType="1"/>
              </p:cNvSpPr>
              <p:nvPr/>
            </p:nvSpPr>
            <p:spPr bwMode="auto">
              <a:xfrm>
                <a:off x="3120" y="1200"/>
                <a:ext cx="5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933" name="Line 10"/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5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934" name="Line 11"/>
              <p:cNvSpPr>
                <a:spLocks noChangeShapeType="1"/>
              </p:cNvSpPr>
              <p:nvPr/>
            </p:nvSpPr>
            <p:spPr bwMode="auto">
              <a:xfrm>
                <a:off x="3120" y="1728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935" name="Line 12"/>
              <p:cNvSpPr>
                <a:spLocks noChangeShapeType="1"/>
              </p:cNvSpPr>
              <p:nvPr/>
            </p:nvSpPr>
            <p:spPr bwMode="auto">
              <a:xfrm>
                <a:off x="3120" y="1200"/>
                <a:ext cx="0" cy="10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37897" name="Line 13"/>
            <p:cNvSpPr>
              <a:spLocks noChangeShapeType="1"/>
            </p:cNvSpPr>
            <p:nvPr/>
          </p:nvSpPr>
          <p:spPr bwMode="auto">
            <a:xfrm>
              <a:off x="3984" y="2064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7898" name="Line 14"/>
            <p:cNvSpPr>
              <a:spLocks noChangeShapeType="1"/>
            </p:cNvSpPr>
            <p:nvPr/>
          </p:nvSpPr>
          <p:spPr bwMode="auto">
            <a:xfrm>
              <a:off x="3888" y="1776"/>
              <a:ext cx="0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4907" y="2005"/>
              <a:ext cx="436" cy="144"/>
              <a:chOff x="4283" y="1669"/>
              <a:chExt cx="912" cy="144"/>
            </a:xfrm>
          </p:grpSpPr>
          <p:sp>
            <p:nvSpPr>
              <p:cNvPr id="37928" name="Line 16"/>
              <p:cNvSpPr>
                <a:spLocks noChangeShapeType="1"/>
              </p:cNvSpPr>
              <p:nvPr/>
            </p:nvSpPr>
            <p:spPr bwMode="auto">
              <a:xfrm>
                <a:off x="4283" y="1669"/>
                <a:ext cx="91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929" name="Line 17"/>
              <p:cNvSpPr>
                <a:spLocks noChangeShapeType="1"/>
              </p:cNvSpPr>
              <p:nvPr/>
            </p:nvSpPr>
            <p:spPr bwMode="auto">
              <a:xfrm>
                <a:off x="4283" y="1717"/>
                <a:ext cx="91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930" name="Line 18"/>
              <p:cNvSpPr>
                <a:spLocks noChangeShapeType="1"/>
              </p:cNvSpPr>
              <p:nvPr/>
            </p:nvSpPr>
            <p:spPr bwMode="auto">
              <a:xfrm>
                <a:off x="4283" y="1765"/>
                <a:ext cx="91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931" name="Line 19"/>
              <p:cNvSpPr>
                <a:spLocks noChangeShapeType="1"/>
              </p:cNvSpPr>
              <p:nvPr/>
            </p:nvSpPr>
            <p:spPr bwMode="auto">
              <a:xfrm>
                <a:off x="4283" y="1813"/>
                <a:ext cx="91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37900" name="Text Box 20"/>
            <p:cNvSpPr txBox="1">
              <a:spLocks noChangeArrowheads="1"/>
            </p:cNvSpPr>
            <p:nvPr/>
          </p:nvSpPr>
          <p:spPr bwMode="auto">
            <a:xfrm>
              <a:off x="4560" y="1968"/>
              <a:ext cx="383" cy="224"/>
            </a:xfrm>
            <a:prstGeom prst="rect">
              <a:avLst/>
            </a:prstGeom>
            <a:solidFill>
              <a:srgbClr val="993366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 b="1">
                  <a:solidFill>
                    <a:schemeClr val="bg1"/>
                  </a:solidFill>
                </a:rPr>
                <a:t>TAP</a:t>
              </a:r>
              <a:endParaRPr lang="en-GB" sz="1800"/>
            </a:p>
          </p:txBody>
        </p:sp>
        <p:sp>
          <p:nvSpPr>
            <p:cNvPr id="37901" name="AutoShape 21"/>
            <p:cNvSpPr>
              <a:spLocks noChangeArrowheads="1"/>
            </p:cNvSpPr>
            <p:nvPr/>
          </p:nvSpPr>
          <p:spPr bwMode="auto">
            <a:xfrm rot="-5400000">
              <a:off x="3695" y="1971"/>
              <a:ext cx="346" cy="21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5 w 21600"/>
                <a:gd name="T13" fmla="*/ 4500 h 21600"/>
                <a:gd name="T14" fmla="*/ 17105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66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5" name="Group 22"/>
            <p:cNvGrpSpPr>
              <a:grpSpLocks/>
            </p:cNvGrpSpPr>
            <p:nvPr/>
          </p:nvGrpSpPr>
          <p:grpSpPr bwMode="auto">
            <a:xfrm>
              <a:off x="3984" y="1248"/>
              <a:ext cx="1343" cy="624"/>
              <a:chOff x="3376" y="1440"/>
              <a:chExt cx="1343" cy="624"/>
            </a:xfrm>
          </p:grpSpPr>
          <p:sp>
            <p:nvSpPr>
              <p:cNvPr id="37919" name="Line 23"/>
              <p:cNvSpPr>
                <a:spLocks noChangeShapeType="1"/>
              </p:cNvSpPr>
              <p:nvPr/>
            </p:nvSpPr>
            <p:spPr bwMode="auto">
              <a:xfrm>
                <a:off x="3600" y="1728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920" name="Line 24"/>
              <p:cNvSpPr>
                <a:spLocks noChangeShapeType="1"/>
              </p:cNvSpPr>
              <p:nvPr/>
            </p:nvSpPr>
            <p:spPr bwMode="auto">
              <a:xfrm>
                <a:off x="3504" y="1440"/>
                <a:ext cx="0" cy="6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6" name="Group 25"/>
              <p:cNvGrpSpPr>
                <a:grpSpLocks/>
              </p:cNvGrpSpPr>
              <p:nvPr/>
            </p:nvGrpSpPr>
            <p:grpSpPr bwMode="auto">
              <a:xfrm>
                <a:off x="4283" y="1669"/>
                <a:ext cx="436" cy="144"/>
                <a:chOff x="4283" y="1669"/>
                <a:chExt cx="912" cy="144"/>
              </a:xfrm>
            </p:grpSpPr>
            <p:sp>
              <p:nvSpPr>
                <p:cNvPr id="37924" name="Line 26"/>
                <p:cNvSpPr>
                  <a:spLocks noChangeShapeType="1"/>
                </p:cNvSpPr>
                <p:nvPr/>
              </p:nvSpPr>
              <p:spPr bwMode="auto">
                <a:xfrm>
                  <a:off x="4283" y="1669"/>
                  <a:ext cx="91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7925" name="Line 27"/>
                <p:cNvSpPr>
                  <a:spLocks noChangeShapeType="1"/>
                </p:cNvSpPr>
                <p:nvPr/>
              </p:nvSpPr>
              <p:spPr bwMode="auto">
                <a:xfrm>
                  <a:off x="4283" y="1717"/>
                  <a:ext cx="91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7926" name="Line 28"/>
                <p:cNvSpPr>
                  <a:spLocks noChangeShapeType="1"/>
                </p:cNvSpPr>
                <p:nvPr/>
              </p:nvSpPr>
              <p:spPr bwMode="auto">
                <a:xfrm>
                  <a:off x="4283" y="1765"/>
                  <a:ext cx="91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7927" name="Line 29"/>
                <p:cNvSpPr>
                  <a:spLocks noChangeShapeType="1"/>
                </p:cNvSpPr>
                <p:nvPr/>
              </p:nvSpPr>
              <p:spPr bwMode="auto">
                <a:xfrm>
                  <a:off x="4283" y="1813"/>
                  <a:ext cx="91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37922" name="Text Box 30"/>
              <p:cNvSpPr txBox="1">
                <a:spLocks noChangeArrowheads="1"/>
              </p:cNvSpPr>
              <p:nvPr/>
            </p:nvSpPr>
            <p:spPr bwMode="auto">
              <a:xfrm>
                <a:off x="3936" y="1632"/>
                <a:ext cx="383" cy="224"/>
              </a:xfrm>
              <a:prstGeom prst="rect">
                <a:avLst/>
              </a:prstGeom>
              <a:solidFill>
                <a:srgbClr val="993366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b="1">
                    <a:solidFill>
                      <a:schemeClr val="bg1"/>
                    </a:solidFill>
                  </a:rPr>
                  <a:t>TAP</a:t>
                </a:r>
                <a:endParaRPr lang="en-GB" sz="1800"/>
              </a:p>
            </p:txBody>
          </p:sp>
          <p:sp>
            <p:nvSpPr>
              <p:cNvPr id="37923" name="AutoShape 31"/>
              <p:cNvSpPr>
                <a:spLocks noChangeArrowheads="1"/>
              </p:cNvSpPr>
              <p:nvPr/>
            </p:nvSpPr>
            <p:spPr bwMode="auto">
              <a:xfrm rot="-5400000">
                <a:off x="3311" y="1635"/>
                <a:ext cx="346" cy="21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95 w 21600"/>
                  <a:gd name="T13" fmla="*/ 4500 h 21600"/>
                  <a:gd name="T14" fmla="*/ 17105 w 21600"/>
                  <a:gd name="T15" fmla="*/ 171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C66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7" name="Group 32"/>
            <p:cNvGrpSpPr>
              <a:grpSpLocks/>
            </p:cNvGrpSpPr>
            <p:nvPr/>
          </p:nvGrpSpPr>
          <p:grpSpPr bwMode="auto">
            <a:xfrm>
              <a:off x="4032" y="2304"/>
              <a:ext cx="1343" cy="894"/>
              <a:chOff x="3376" y="1440"/>
              <a:chExt cx="1343" cy="894"/>
            </a:xfrm>
          </p:grpSpPr>
          <p:sp>
            <p:nvSpPr>
              <p:cNvPr id="37910" name="Line 33"/>
              <p:cNvSpPr>
                <a:spLocks noChangeShapeType="1"/>
              </p:cNvSpPr>
              <p:nvPr/>
            </p:nvSpPr>
            <p:spPr bwMode="auto">
              <a:xfrm>
                <a:off x="3600" y="1728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911" name="Line 34"/>
              <p:cNvSpPr>
                <a:spLocks noChangeShapeType="1"/>
              </p:cNvSpPr>
              <p:nvPr/>
            </p:nvSpPr>
            <p:spPr bwMode="auto">
              <a:xfrm>
                <a:off x="3504" y="1440"/>
                <a:ext cx="0" cy="6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8" name="Group 35"/>
              <p:cNvGrpSpPr>
                <a:grpSpLocks/>
              </p:cNvGrpSpPr>
              <p:nvPr/>
            </p:nvGrpSpPr>
            <p:grpSpPr bwMode="auto">
              <a:xfrm>
                <a:off x="4283" y="1669"/>
                <a:ext cx="436" cy="665"/>
                <a:chOff x="4283" y="1669"/>
                <a:chExt cx="912" cy="665"/>
              </a:xfrm>
            </p:grpSpPr>
            <p:sp>
              <p:nvSpPr>
                <p:cNvPr id="37915" name="Line 36"/>
                <p:cNvSpPr>
                  <a:spLocks noChangeShapeType="1"/>
                </p:cNvSpPr>
                <p:nvPr/>
              </p:nvSpPr>
              <p:spPr bwMode="auto">
                <a:xfrm>
                  <a:off x="4283" y="1669"/>
                  <a:ext cx="91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7916" name="Line 37"/>
                <p:cNvSpPr>
                  <a:spLocks noChangeShapeType="1"/>
                </p:cNvSpPr>
                <p:nvPr/>
              </p:nvSpPr>
              <p:spPr bwMode="auto">
                <a:xfrm>
                  <a:off x="4283" y="1717"/>
                  <a:ext cx="91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7917" name="Line 38"/>
                <p:cNvSpPr>
                  <a:spLocks noChangeShapeType="1"/>
                </p:cNvSpPr>
                <p:nvPr/>
              </p:nvSpPr>
              <p:spPr bwMode="auto">
                <a:xfrm flipV="1">
                  <a:off x="4283" y="1765"/>
                  <a:ext cx="77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7918" name="Line 39"/>
                <p:cNvSpPr>
                  <a:spLocks noChangeShapeType="1"/>
                </p:cNvSpPr>
                <p:nvPr/>
              </p:nvSpPr>
              <p:spPr bwMode="auto">
                <a:xfrm>
                  <a:off x="4283" y="1813"/>
                  <a:ext cx="50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" name="Line 39"/>
                <p:cNvSpPr>
                  <a:spLocks noChangeShapeType="1"/>
                </p:cNvSpPr>
                <p:nvPr/>
              </p:nvSpPr>
              <p:spPr bwMode="auto">
                <a:xfrm>
                  <a:off x="4787" y="1813"/>
                  <a:ext cx="0" cy="12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" name="Line 38"/>
                <p:cNvSpPr>
                  <a:spLocks noChangeShapeType="1"/>
                </p:cNvSpPr>
                <p:nvPr/>
              </p:nvSpPr>
              <p:spPr bwMode="auto">
                <a:xfrm>
                  <a:off x="5061" y="1765"/>
                  <a:ext cx="0" cy="5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37913" name="Text Box 40"/>
              <p:cNvSpPr txBox="1">
                <a:spLocks noChangeArrowheads="1"/>
              </p:cNvSpPr>
              <p:nvPr/>
            </p:nvSpPr>
            <p:spPr bwMode="auto">
              <a:xfrm>
                <a:off x="3936" y="1632"/>
                <a:ext cx="383" cy="224"/>
              </a:xfrm>
              <a:prstGeom prst="rect">
                <a:avLst/>
              </a:prstGeom>
              <a:solidFill>
                <a:srgbClr val="993366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b="1">
                    <a:solidFill>
                      <a:schemeClr val="bg1"/>
                    </a:solidFill>
                  </a:rPr>
                  <a:t>TAP</a:t>
                </a:r>
                <a:endParaRPr lang="en-GB" sz="1800"/>
              </a:p>
            </p:txBody>
          </p:sp>
          <p:sp>
            <p:nvSpPr>
              <p:cNvPr id="37914" name="AutoShape 41"/>
              <p:cNvSpPr>
                <a:spLocks noChangeArrowheads="1"/>
              </p:cNvSpPr>
              <p:nvPr/>
            </p:nvSpPr>
            <p:spPr bwMode="auto">
              <a:xfrm rot="-5400000">
                <a:off x="3311" y="1635"/>
                <a:ext cx="346" cy="21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95 w 21600"/>
                  <a:gd name="T13" fmla="*/ 4500 h 21600"/>
                  <a:gd name="T14" fmla="*/ 17105 w 21600"/>
                  <a:gd name="T15" fmla="*/ 171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C66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37904" name="AutoShape 42"/>
            <p:cNvSpPr>
              <a:spLocks noChangeArrowheads="1"/>
            </p:cNvSpPr>
            <p:nvPr/>
          </p:nvSpPr>
          <p:spPr bwMode="auto">
            <a:xfrm rot="-5400000">
              <a:off x="2832" y="1920"/>
              <a:ext cx="360" cy="2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3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7905" name="Text Box 43"/>
            <p:cNvSpPr txBox="1">
              <a:spLocks noChangeArrowheads="1"/>
            </p:cNvSpPr>
            <p:nvPr/>
          </p:nvSpPr>
          <p:spPr bwMode="auto">
            <a:xfrm>
              <a:off x="2256" y="1680"/>
              <a:ext cx="73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b="1">
                  <a:solidFill>
                    <a:srgbClr val="FF3300"/>
                  </a:solidFill>
                </a:rPr>
                <a:t>Fibre Trunk</a:t>
              </a:r>
              <a:endParaRPr lang="en-GB" sz="1800">
                <a:solidFill>
                  <a:srgbClr val="FF3300"/>
                </a:solidFill>
              </a:endParaRPr>
            </a:p>
          </p:txBody>
        </p:sp>
        <p:sp>
          <p:nvSpPr>
            <p:cNvPr id="37906" name="Text Box 44"/>
            <p:cNvSpPr txBox="1">
              <a:spLocks noChangeArrowheads="1"/>
            </p:cNvSpPr>
            <p:nvPr/>
          </p:nvSpPr>
          <p:spPr bwMode="auto">
            <a:xfrm>
              <a:off x="3072" y="1728"/>
              <a:ext cx="73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/>
              <a:r>
                <a:rPr lang="en-GB" b="1"/>
                <a:t>Coax Trunk</a:t>
              </a:r>
              <a:endParaRPr lang="en-GB" sz="1800">
                <a:solidFill>
                  <a:srgbClr val="FF3300"/>
                </a:solidFill>
              </a:endParaRPr>
            </a:p>
          </p:txBody>
        </p:sp>
        <p:sp>
          <p:nvSpPr>
            <p:cNvPr id="37907" name="Text Box 45"/>
            <p:cNvSpPr txBox="1">
              <a:spLocks noChangeArrowheads="1"/>
            </p:cNvSpPr>
            <p:nvPr/>
          </p:nvSpPr>
          <p:spPr bwMode="auto">
            <a:xfrm>
              <a:off x="1667" y="1959"/>
              <a:ext cx="672" cy="194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sz="1400" dirty="0"/>
                <a:t>Router</a:t>
              </a:r>
              <a:endParaRPr lang="en-GB" dirty="0"/>
            </a:p>
          </p:txBody>
        </p:sp>
        <p:sp>
          <p:nvSpPr>
            <p:cNvPr id="37908" name="Text Box 46"/>
            <p:cNvSpPr txBox="1">
              <a:spLocks noChangeArrowheads="1"/>
            </p:cNvSpPr>
            <p:nvPr/>
          </p:nvSpPr>
          <p:spPr bwMode="auto">
            <a:xfrm>
              <a:off x="4978" y="2365"/>
              <a:ext cx="35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 sz="1400" dirty="0"/>
                <a:t>Drop</a:t>
              </a:r>
              <a:endParaRPr lang="en-GB" sz="1800" dirty="0"/>
            </a:p>
          </p:txBody>
        </p:sp>
        <p:sp>
          <p:nvSpPr>
            <p:cNvPr id="37909" name="Text Box 47"/>
            <p:cNvSpPr txBox="1">
              <a:spLocks noChangeArrowheads="1"/>
            </p:cNvSpPr>
            <p:nvPr/>
          </p:nvSpPr>
          <p:spPr bwMode="auto">
            <a:xfrm>
              <a:off x="4006" y="2043"/>
              <a:ext cx="47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 sz="1400"/>
                <a:t>Branch</a:t>
              </a:r>
              <a:endParaRPr lang="en-GB" sz="1800"/>
            </a:p>
          </p:txBody>
        </p:sp>
        <p:sp>
          <p:nvSpPr>
            <p:cNvPr id="92" name="Text Box 45"/>
            <p:cNvSpPr txBox="1">
              <a:spLocks noChangeArrowheads="1"/>
            </p:cNvSpPr>
            <p:nvPr/>
          </p:nvSpPr>
          <p:spPr bwMode="auto">
            <a:xfrm>
              <a:off x="889" y="1956"/>
              <a:ext cx="672" cy="194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sz="1400" dirty="0" err="1"/>
                <a:t>Headend</a:t>
              </a:r>
              <a:endParaRPr lang="en-GB" dirty="0"/>
            </a:p>
          </p:txBody>
        </p:sp>
      </p:grpSp>
      <p:sp>
        <p:nvSpPr>
          <p:cNvPr id="48" name="Text Box 3"/>
          <p:cNvSpPr txBox="1">
            <a:spLocks noChangeArrowheads="1"/>
          </p:cNvSpPr>
          <p:nvPr/>
        </p:nvSpPr>
        <p:spPr bwMode="auto">
          <a:xfrm>
            <a:off x="381000" y="381000"/>
            <a:ext cx="7597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Cable TV </a:t>
            </a:r>
          </a:p>
        </p:txBody>
      </p:sp>
      <p:pic>
        <p:nvPicPr>
          <p:cNvPr id="9218" name="Picture 2" descr="F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75" y="1522469"/>
            <a:ext cx="3795314" cy="213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ttp://www.broadcast-technology.com/broadcastadmin/upload/productgallery/1382343905-img-hybridoptical-fiber%20Cable-1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96" b="9727"/>
          <a:stretch/>
        </p:blipFill>
        <p:spPr bwMode="auto">
          <a:xfrm>
            <a:off x="4420" y="4536445"/>
            <a:ext cx="3829308" cy="2312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75364" y="5730745"/>
            <a:ext cx="348165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FFFF00"/>
                </a:solidFill>
              </a:rPr>
              <a:t>Coaxial cable</a:t>
            </a:r>
            <a:r>
              <a:rPr lang="en-GB" dirty="0">
                <a:solidFill>
                  <a:srgbClr val="FFFF00"/>
                </a:solidFill>
              </a:rPr>
              <a:t> </a:t>
            </a:r>
          </a:p>
          <a:p>
            <a:r>
              <a:rPr lang="en-GB" dirty="0">
                <a:solidFill>
                  <a:srgbClr val="FFFF00"/>
                </a:solidFill>
              </a:rPr>
              <a:t>- from the optical-fibre feeders to each subscriber's home. </a:t>
            </a:r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28880" y="1516142"/>
            <a:ext cx="3279480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800" b="1" dirty="0">
                <a:solidFill>
                  <a:srgbClr val="FFFF00"/>
                </a:solidFill>
              </a:rPr>
              <a:t>Optical fibre </a:t>
            </a:r>
            <a:endParaRPr lang="en-GB" dirty="0">
              <a:solidFill>
                <a:srgbClr val="FFFF00"/>
              </a:solidFill>
            </a:endParaRPr>
          </a:p>
          <a:p>
            <a:r>
              <a:rPr lang="en-GB" dirty="0">
                <a:solidFill>
                  <a:srgbClr val="FFFF00"/>
                </a:solidFill>
              </a:rPr>
              <a:t>- from the cable head-end to neighbourhoods of 500 to 2,000 subscribers. </a:t>
            </a:r>
          </a:p>
          <a:p>
            <a:endParaRPr lang="en-GB" dirty="0">
              <a:solidFill>
                <a:srgbClr val="FFFF00"/>
              </a:solidFill>
            </a:endParaRPr>
          </a:p>
          <a:p>
            <a:endParaRPr lang="en-GB" dirty="0">
              <a:solidFill>
                <a:srgbClr val="FFFF00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 bwMode="auto">
          <a:xfrm>
            <a:off x="3394093" y="2669565"/>
            <a:ext cx="769980" cy="64489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8" name="Straight Arrow Connector 97"/>
          <p:cNvCxnSpPr/>
          <p:nvPr/>
        </p:nvCxnSpPr>
        <p:spPr bwMode="auto">
          <a:xfrm flipV="1">
            <a:off x="3069066" y="4408805"/>
            <a:ext cx="2196135" cy="97280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9224" name="Picture 8" descr="http://images.clipartpanda.com/house-clipart-house-clip-art-3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8737" y="5161419"/>
            <a:ext cx="535439" cy="552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8" name="Straight Arrow Connector 57"/>
          <p:cNvCxnSpPr>
            <a:stCxn id="92" idx="3"/>
            <a:endCxn id="37907" idx="1"/>
          </p:cNvCxnSpPr>
          <p:nvPr/>
        </p:nvCxnSpPr>
        <p:spPr bwMode="auto">
          <a:xfrm>
            <a:off x="2641064" y="3913505"/>
            <a:ext cx="168275" cy="476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9713" y="5793244"/>
            <a:ext cx="53340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9526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able (CMTS)"/>
          <p:cNvPicPr>
            <a:picLocks noChangeAspect="1" noChangeArrowheads="1"/>
          </p:cNvPicPr>
          <p:nvPr/>
        </p:nvPicPr>
        <p:blipFill>
          <a:blip r:embed="rId2" cstate="print"/>
          <a:srcRect l="912" t="2477" r="1007" b="1968"/>
          <a:stretch>
            <a:fillRect/>
          </a:stretch>
        </p:blipFill>
        <p:spPr bwMode="auto">
          <a:xfrm>
            <a:off x="393700" y="1440612"/>
            <a:ext cx="8486832" cy="3338422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5159828" y="4826416"/>
            <a:ext cx="368365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cs typeface="Lucida Sans Unicode" pitchFamily="34" charset="0"/>
              </a:rPr>
              <a:t>DOCSIS - </a:t>
            </a:r>
            <a:r>
              <a:rPr lang="en-GB" sz="1400" b="1" dirty="0">
                <a:cs typeface="Lucida Sans Unicode" pitchFamily="34" charset="0"/>
              </a:rPr>
              <a:t>Data Over Cable Service Interface Specification</a:t>
            </a:r>
          </a:p>
          <a:p>
            <a:pPr marL="180975" indent="-180975">
              <a:buFontTx/>
              <a:buChar char="•"/>
            </a:pPr>
            <a:r>
              <a:rPr lang="en-GB" sz="1400" dirty="0"/>
              <a:t>The Standard for the interface between the CMTS and the Cable Modem</a:t>
            </a:r>
          </a:p>
          <a:p>
            <a:pPr marL="180975" indent="-180975">
              <a:buFontTx/>
              <a:buChar char="•"/>
            </a:pPr>
            <a:r>
              <a:rPr lang="en-GB" sz="1400" dirty="0">
                <a:cs typeface="Lucida Sans Unicode" pitchFamily="34" charset="0"/>
              </a:rPr>
              <a:t>Developed and licensed by </a:t>
            </a:r>
            <a:r>
              <a:rPr lang="en-GB" sz="1400" dirty="0" err="1">
                <a:cs typeface="Lucida Sans Unicode" pitchFamily="34" charset="0"/>
              </a:rPr>
              <a:t>CableLabs</a:t>
            </a:r>
            <a:endParaRPr lang="en-US" sz="1400" dirty="0">
              <a:cs typeface="Lucida Sans Unicode" pitchFamily="34" charset="0"/>
            </a:endParaRPr>
          </a:p>
        </p:txBody>
      </p:sp>
      <p:sp>
        <p:nvSpPr>
          <p:cNvPr id="5" name="Rectangle 22"/>
          <p:cNvSpPr>
            <a:spLocks noChangeArrowheads="1"/>
          </p:cNvSpPr>
          <p:nvPr/>
        </p:nvSpPr>
        <p:spPr bwMode="auto">
          <a:xfrm>
            <a:off x="393700" y="5237523"/>
            <a:ext cx="634841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85738" indent="-185738"/>
            <a:r>
              <a:rPr lang="en-GB" sz="1600" b="1" dirty="0">
                <a:latin typeface="Lucida Sans Unicode" pitchFamily="34" charset="0"/>
                <a:cs typeface="Lucida Sans Unicode" pitchFamily="34" charset="0"/>
              </a:rPr>
              <a:t>Specifies modulation schemes and protocol </a:t>
            </a:r>
          </a:p>
          <a:p>
            <a:pPr marL="185738" indent="-185738">
              <a:buFontTx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for exchanging signals over cable</a:t>
            </a:r>
          </a:p>
          <a:p>
            <a:pPr marL="185738" indent="-185738">
              <a:buFontTx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to carry MPEG and IP</a:t>
            </a:r>
            <a:r>
              <a:rPr lang="en-GB" sz="1600" b="1" dirty="0">
                <a:latin typeface="Lucida Sans Unicode" pitchFamily="34" charset="0"/>
                <a:cs typeface="Lucida Sans Unicode" pitchFamily="34" charset="0"/>
              </a:rPr>
              <a:t> </a:t>
            </a:r>
          </a:p>
        </p:txBody>
      </p:sp>
      <p:sp>
        <p:nvSpPr>
          <p:cNvPr id="7" name="Freeform 6"/>
          <p:cNvSpPr/>
          <p:nvPr/>
        </p:nvSpPr>
        <p:spPr>
          <a:xfrm>
            <a:off x="3623094" y="2104844"/>
            <a:ext cx="3623095" cy="756249"/>
          </a:xfrm>
          <a:custGeom>
            <a:avLst/>
            <a:gdLst>
              <a:gd name="connsiteX0" fmla="*/ 0 w 3623095"/>
              <a:gd name="connsiteY0" fmla="*/ 741872 h 770626"/>
              <a:gd name="connsiteX1" fmla="*/ 1595887 w 3623095"/>
              <a:gd name="connsiteY1" fmla="*/ 750498 h 770626"/>
              <a:gd name="connsiteX2" fmla="*/ 2415397 w 3623095"/>
              <a:gd name="connsiteY2" fmla="*/ 621102 h 770626"/>
              <a:gd name="connsiteX3" fmla="*/ 3157268 w 3623095"/>
              <a:gd name="connsiteY3" fmla="*/ 301925 h 770626"/>
              <a:gd name="connsiteX4" fmla="*/ 3623095 w 3623095"/>
              <a:gd name="connsiteY4" fmla="*/ 0 h 770626"/>
              <a:gd name="connsiteX0" fmla="*/ 0 w 3623095"/>
              <a:gd name="connsiteY0" fmla="*/ 741872 h 756249"/>
              <a:gd name="connsiteX1" fmla="*/ 1604513 w 3623095"/>
              <a:gd name="connsiteY1" fmla="*/ 724619 h 756249"/>
              <a:gd name="connsiteX2" fmla="*/ 2415397 w 3623095"/>
              <a:gd name="connsiteY2" fmla="*/ 621102 h 756249"/>
              <a:gd name="connsiteX3" fmla="*/ 3157268 w 3623095"/>
              <a:gd name="connsiteY3" fmla="*/ 301925 h 756249"/>
              <a:gd name="connsiteX4" fmla="*/ 3623095 w 3623095"/>
              <a:gd name="connsiteY4" fmla="*/ 0 h 756249"/>
              <a:gd name="connsiteX0" fmla="*/ 0 w 3623095"/>
              <a:gd name="connsiteY0" fmla="*/ 741872 h 756249"/>
              <a:gd name="connsiteX1" fmla="*/ 1604513 w 3623095"/>
              <a:gd name="connsiteY1" fmla="*/ 724619 h 756249"/>
              <a:gd name="connsiteX2" fmla="*/ 2415397 w 3623095"/>
              <a:gd name="connsiteY2" fmla="*/ 621102 h 756249"/>
              <a:gd name="connsiteX3" fmla="*/ 3157268 w 3623095"/>
              <a:gd name="connsiteY3" fmla="*/ 301925 h 756249"/>
              <a:gd name="connsiteX4" fmla="*/ 3623095 w 3623095"/>
              <a:gd name="connsiteY4" fmla="*/ 0 h 756249"/>
              <a:gd name="connsiteX0" fmla="*/ 0 w 3623095"/>
              <a:gd name="connsiteY0" fmla="*/ 741872 h 756249"/>
              <a:gd name="connsiteX1" fmla="*/ 1604513 w 3623095"/>
              <a:gd name="connsiteY1" fmla="*/ 724619 h 756249"/>
              <a:gd name="connsiteX2" fmla="*/ 2562046 w 3623095"/>
              <a:gd name="connsiteY2" fmla="*/ 560717 h 756249"/>
              <a:gd name="connsiteX3" fmla="*/ 3157268 w 3623095"/>
              <a:gd name="connsiteY3" fmla="*/ 301925 h 756249"/>
              <a:gd name="connsiteX4" fmla="*/ 3623095 w 3623095"/>
              <a:gd name="connsiteY4" fmla="*/ 0 h 756249"/>
              <a:gd name="connsiteX0" fmla="*/ 0 w 3623095"/>
              <a:gd name="connsiteY0" fmla="*/ 741872 h 756249"/>
              <a:gd name="connsiteX1" fmla="*/ 1604513 w 3623095"/>
              <a:gd name="connsiteY1" fmla="*/ 724619 h 756249"/>
              <a:gd name="connsiteX2" fmla="*/ 2562046 w 3623095"/>
              <a:gd name="connsiteY2" fmla="*/ 560717 h 756249"/>
              <a:gd name="connsiteX3" fmla="*/ 3157268 w 3623095"/>
              <a:gd name="connsiteY3" fmla="*/ 301925 h 756249"/>
              <a:gd name="connsiteX4" fmla="*/ 3623095 w 3623095"/>
              <a:gd name="connsiteY4" fmla="*/ 0 h 756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23095" h="756249">
                <a:moveTo>
                  <a:pt x="0" y="741872"/>
                </a:moveTo>
                <a:cubicBezTo>
                  <a:pt x="596660" y="756249"/>
                  <a:pt x="1201947" y="744747"/>
                  <a:pt x="1604513" y="724619"/>
                </a:cubicBezTo>
                <a:cubicBezTo>
                  <a:pt x="2067464" y="669985"/>
                  <a:pt x="2303254" y="631166"/>
                  <a:pt x="2562046" y="560717"/>
                </a:cubicBezTo>
                <a:cubicBezTo>
                  <a:pt x="2820839" y="490268"/>
                  <a:pt x="2980427" y="395378"/>
                  <a:pt x="3157268" y="301925"/>
                </a:cubicBezTo>
                <a:cubicBezTo>
                  <a:pt x="3334109" y="208472"/>
                  <a:pt x="3490823" y="99204"/>
                  <a:pt x="3623095" y="0"/>
                </a:cubicBezTo>
              </a:path>
            </a:pathLst>
          </a:cu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Arrow Connector 8"/>
          <p:cNvCxnSpPr>
            <a:stCxn id="7" idx="4"/>
          </p:cNvCxnSpPr>
          <p:nvPr/>
        </p:nvCxnSpPr>
        <p:spPr>
          <a:xfrm flipV="1">
            <a:off x="7246189" y="2061713"/>
            <a:ext cx="60385" cy="43131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0"/>
          </p:cNvCxnSpPr>
          <p:nvPr/>
        </p:nvCxnSpPr>
        <p:spPr>
          <a:xfrm flipH="1" flipV="1">
            <a:off x="3587750" y="2844800"/>
            <a:ext cx="35344" cy="1916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 rot="20288871">
            <a:off x="5930931" y="2266950"/>
            <a:ext cx="9444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FF0000"/>
                </a:solidFill>
                <a:latin typeface="Lucida Sans Unicode" pitchFamily="34" charset="0"/>
              </a:rPr>
              <a:t>Interface</a:t>
            </a:r>
          </a:p>
        </p:txBody>
      </p:sp>
      <p:sp>
        <p:nvSpPr>
          <p:cNvPr id="19" name="TextBox 18"/>
          <p:cNvSpPr txBox="1"/>
          <p:nvPr/>
        </p:nvSpPr>
        <p:spPr>
          <a:xfrm rot="21336839">
            <a:off x="4722616" y="2533650"/>
            <a:ext cx="8274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FF0000"/>
                </a:solidFill>
                <a:latin typeface="Lucida Sans Unicode" pitchFamily="34" charset="0"/>
              </a:rPr>
              <a:t>DOCSIS</a:t>
            </a:r>
          </a:p>
        </p:txBody>
      </p:sp>
      <p:sp>
        <p:nvSpPr>
          <p:cNvPr id="20" name="TextBox 19"/>
          <p:cNvSpPr txBox="1"/>
          <p:nvPr/>
        </p:nvSpPr>
        <p:spPr>
          <a:xfrm rot="20999434">
            <a:off x="5453241" y="2457450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FF0000"/>
                </a:solidFill>
                <a:latin typeface="Lucida Sans Unicode" pitchFamily="34" charset="0"/>
              </a:rPr>
              <a:t>Data</a:t>
            </a: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381000" y="381000"/>
            <a:ext cx="7597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Cable TV – Data and TV to the user </a:t>
            </a:r>
          </a:p>
        </p:txBody>
      </p:sp>
    </p:spTree>
    <p:extLst>
      <p:ext uri="{BB962C8B-B14F-4D97-AF65-F5344CB8AC3E}">
        <p14:creationId xmlns:p14="http://schemas.microsoft.com/office/powerpoint/2010/main" val="29007638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6"/>
          <p:cNvSpPr>
            <a:spLocks noChangeArrowheads="1"/>
          </p:cNvSpPr>
          <p:nvPr/>
        </p:nvSpPr>
        <p:spPr bwMode="auto">
          <a:xfrm flipV="1">
            <a:off x="1390650" y="2030325"/>
            <a:ext cx="1689100" cy="19177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96 w 21600"/>
              <a:gd name="T13" fmla="*/ 2996 h 21600"/>
              <a:gd name="T14" fmla="*/ 18604 w 21600"/>
              <a:gd name="T15" fmla="*/ 18604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392" y="21600"/>
                </a:lnTo>
                <a:lnTo>
                  <a:pt x="19208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1512887" y="2100175"/>
            <a:ext cx="1481138" cy="1844675"/>
            <a:chOff x="851" y="1112"/>
            <a:chExt cx="933" cy="1582"/>
          </a:xfrm>
        </p:grpSpPr>
        <p:sp>
          <p:nvSpPr>
            <p:cNvPr id="5" name="Freeform 48"/>
            <p:cNvSpPr>
              <a:spLocks/>
            </p:cNvSpPr>
            <p:nvPr/>
          </p:nvSpPr>
          <p:spPr bwMode="auto">
            <a:xfrm>
              <a:off x="851" y="1112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" name="Freeform 49"/>
            <p:cNvSpPr>
              <a:spLocks/>
            </p:cNvSpPr>
            <p:nvPr/>
          </p:nvSpPr>
          <p:spPr bwMode="auto">
            <a:xfrm>
              <a:off x="1082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" name="Freeform 50"/>
            <p:cNvSpPr>
              <a:spLocks/>
            </p:cNvSpPr>
            <p:nvPr/>
          </p:nvSpPr>
          <p:spPr bwMode="auto">
            <a:xfrm>
              <a:off x="1314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8" name="Freeform 51"/>
            <p:cNvSpPr>
              <a:spLocks/>
            </p:cNvSpPr>
            <p:nvPr/>
          </p:nvSpPr>
          <p:spPr bwMode="auto">
            <a:xfrm>
              <a:off x="1552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9" name="AutoShape 52"/>
          <p:cNvSpPr>
            <a:spLocks noChangeArrowheads="1"/>
          </p:cNvSpPr>
          <p:nvPr/>
        </p:nvSpPr>
        <p:spPr bwMode="auto">
          <a:xfrm flipV="1">
            <a:off x="3294062" y="2035087"/>
            <a:ext cx="5416550" cy="192405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066 w 21600"/>
              <a:gd name="T13" fmla="*/ 2066 h 21600"/>
              <a:gd name="T14" fmla="*/ 19534 w 21600"/>
              <a:gd name="T15" fmla="*/ 19534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31" y="21600"/>
                </a:lnTo>
                <a:lnTo>
                  <a:pt x="21069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grpSp>
        <p:nvGrpSpPr>
          <p:cNvPr id="10" name="Group 53"/>
          <p:cNvGrpSpPr>
            <a:grpSpLocks/>
          </p:cNvGrpSpPr>
          <p:nvPr/>
        </p:nvGrpSpPr>
        <p:grpSpPr bwMode="auto">
          <a:xfrm>
            <a:off x="3373437" y="2098587"/>
            <a:ext cx="5230813" cy="1868488"/>
            <a:chOff x="2023" y="1112"/>
            <a:chExt cx="3295" cy="1596"/>
          </a:xfrm>
        </p:grpSpPr>
        <p:sp>
          <p:nvSpPr>
            <p:cNvPr id="11" name="Freeform 54"/>
            <p:cNvSpPr>
              <a:spLocks/>
            </p:cNvSpPr>
            <p:nvPr/>
          </p:nvSpPr>
          <p:spPr bwMode="auto">
            <a:xfrm>
              <a:off x="2023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2" name="Freeform 55"/>
            <p:cNvSpPr>
              <a:spLocks/>
            </p:cNvSpPr>
            <p:nvPr/>
          </p:nvSpPr>
          <p:spPr bwMode="auto">
            <a:xfrm>
              <a:off x="2261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" name="Freeform 56"/>
            <p:cNvSpPr>
              <a:spLocks/>
            </p:cNvSpPr>
            <p:nvPr/>
          </p:nvSpPr>
          <p:spPr bwMode="auto">
            <a:xfrm>
              <a:off x="2500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4" name="Freeform 57"/>
            <p:cNvSpPr>
              <a:spLocks/>
            </p:cNvSpPr>
            <p:nvPr/>
          </p:nvSpPr>
          <p:spPr bwMode="auto">
            <a:xfrm>
              <a:off x="2732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" name="Freeform 58"/>
            <p:cNvSpPr>
              <a:spLocks/>
            </p:cNvSpPr>
            <p:nvPr/>
          </p:nvSpPr>
          <p:spPr bwMode="auto">
            <a:xfrm>
              <a:off x="2964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6" name="Freeform 59"/>
            <p:cNvSpPr>
              <a:spLocks/>
            </p:cNvSpPr>
            <p:nvPr/>
          </p:nvSpPr>
          <p:spPr bwMode="auto">
            <a:xfrm>
              <a:off x="3203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7" name="Freeform 60"/>
            <p:cNvSpPr>
              <a:spLocks/>
            </p:cNvSpPr>
            <p:nvPr/>
          </p:nvSpPr>
          <p:spPr bwMode="auto">
            <a:xfrm>
              <a:off x="3428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8" name="Freeform 61"/>
            <p:cNvSpPr>
              <a:spLocks/>
            </p:cNvSpPr>
            <p:nvPr/>
          </p:nvSpPr>
          <p:spPr bwMode="auto">
            <a:xfrm>
              <a:off x="3660" y="1133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" name="Freeform 62"/>
            <p:cNvSpPr>
              <a:spLocks/>
            </p:cNvSpPr>
            <p:nvPr/>
          </p:nvSpPr>
          <p:spPr bwMode="auto">
            <a:xfrm>
              <a:off x="3892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20" name="Freeform 63"/>
            <p:cNvSpPr>
              <a:spLocks/>
            </p:cNvSpPr>
            <p:nvPr/>
          </p:nvSpPr>
          <p:spPr bwMode="auto">
            <a:xfrm>
              <a:off x="4131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21" name="Freeform 64"/>
            <p:cNvSpPr>
              <a:spLocks/>
            </p:cNvSpPr>
            <p:nvPr/>
          </p:nvSpPr>
          <p:spPr bwMode="auto">
            <a:xfrm>
              <a:off x="4370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22" name="Freeform 65"/>
            <p:cNvSpPr>
              <a:spLocks/>
            </p:cNvSpPr>
            <p:nvPr/>
          </p:nvSpPr>
          <p:spPr bwMode="auto">
            <a:xfrm>
              <a:off x="4609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23" name="Freeform 66"/>
            <p:cNvSpPr>
              <a:spLocks/>
            </p:cNvSpPr>
            <p:nvPr/>
          </p:nvSpPr>
          <p:spPr bwMode="auto">
            <a:xfrm>
              <a:off x="4848" y="1112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24" name="Freeform 67"/>
            <p:cNvSpPr>
              <a:spLocks/>
            </p:cNvSpPr>
            <p:nvPr/>
          </p:nvSpPr>
          <p:spPr bwMode="auto">
            <a:xfrm>
              <a:off x="5086" y="1112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26" name="Text Box 69"/>
          <p:cNvSpPr txBox="1">
            <a:spLocks noChangeArrowheads="1"/>
          </p:cNvSpPr>
          <p:nvPr/>
        </p:nvSpPr>
        <p:spPr bwMode="auto">
          <a:xfrm>
            <a:off x="1672267" y="1434804"/>
            <a:ext cx="126188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1" dirty="0"/>
              <a:t>UPSTREAM</a:t>
            </a:r>
          </a:p>
          <a:p>
            <a:r>
              <a:rPr lang="en-GB" b="1" dirty="0"/>
              <a:t>to network</a:t>
            </a:r>
            <a:endParaRPr lang="en-GB" sz="2000" b="1" dirty="0"/>
          </a:p>
        </p:txBody>
      </p:sp>
      <p:sp>
        <p:nvSpPr>
          <p:cNvPr id="27" name="Text Box 70"/>
          <p:cNvSpPr txBox="1">
            <a:spLocks noChangeArrowheads="1"/>
          </p:cNvSpPr>
          <p:nvPr/>
        </p:nvSpPr>
        <p:spPr bwMode="auto">
          <a:xfrm>
            <a:off x="5265048" y="1452056"/>
            <a:ext cx="169148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1" dirty="0"/>
              <a:t>DOWNSTREAM </a:t>
            </a:r>
          </a:p>
          <a:p>
            <a:pPr algn="ctr"/>
            <a:r>
              <a:rPr lang="en-GB" sz="1600" b="1" dirty="0"/>
              <a:t>to user</a:t>
            </a:r>
            <a:endParaRPr lang="en-GB" sz="2000" dirty="0"/>
          </a:p>
        </p:txBody>
      </p:sp>
      <p:sp>
        <p:nvSpPr>
          <p:cNvPr id="28" name="Text Box 75"/>
          <p:cNvSpPr txBox="1">
            <a:spLocks noChangeArrowheads="1"/>
          </p:cNvSpPr>
          <p:nvPr/>
        </p:nvSpPr>
        <p:spPr bwMode="auto">
          <a:xfrm>
            <a:off x="1624193" y="4379216"/>
            <a:ext cx="154721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1" dirty="0"/>
              <a:t>sub-channels</a:t>
            </a:r>
            <a:endParaRPr lang="en-GB" sz="2000" b="1" dirty="0"/>
          </a:p>
        </p:txBody>
      </p:sp>
      <p:sp>
        <p:nvSpPr>
          <p:cNvPr id="29" name="Line 76"/>
          <p:cNvSpPr>
            <a:spLocks noChangeShapeType="1"/>
          </p:cNvSpPr>
          <p:nvPr/>
        </p:nvSpPr>
        <p:spPr bwMode="auto">
          <a:xfrm flipV="1">
            <a:off x="2790825" y="3690850"/>
            <a:ext cx="79375" cy="679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0" name="Line 77"/>
          <p:cNvSpPr>
            <a:spLocks noChangeShapeType="1"/>
          </p:cNvSpPr>
          <p:nvPr/>
        </p:nvSpPr>
        <p:spPr bwMode="auto">
          <a:xfrm flipV="1">
            <a:off x="3006725" y="3835312"/>
            <a:ext cx="504825" cy="61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1" name="Line 81"/>
          <p:cNvSpPr>
            <a:spLocks noChangeShapeType="1"/>
          </p:cNvSpPr>
          <p:nvPr/>
        </p:nvSpPr>
        <p:spPr bwMode="auto">
          <a:xfrm flipV="1">
            <a:off x="723900" y="3963900"/>
            <a:ext cx="79232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2" name="Line 82"/>
          <p:cNvSpPr>
            <a:spLocks noChangeShapeType="1"/>
          </p:cNvSpPr>
          <p:nvPr/>
        </p:nvSpPr>
        <p:spPr bwMode="auto">
          <a:xfrm flipH="1" flipV="1">
            <a:off x="722312" y="1943012"/>
            <a:ext cx="1588" cy="19796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3" name="Text Box 83"/>
          <p:cNvSpPr txBox="1">
            <a:spLocks noChangeArrowheads="1"/>
          </p:cNvSpPr>
          <p:nvPr/>
        </p:nvSpPr>
        <p:spPr bwMode="auto">
          <a:xfrm>
            <a:off x="7741997" y="3983818"/>
            <a:ext cx="4844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200" i="1" dirty="0" err="1"/>
              <a:t>freq</a:t>
            </a:r>
            <a:endParaRPr lang="en-US" sz="1200" i="1" dirty="0"/>
          </a:p>
        </p:txBody>
      </p:sp>
      <p:sp>
        <p:nvSpPr>
          <p:cNvPr id="34" name="Line 84"/>
          <p:cNvSpPr>
            <a:spLocks noChangeShapeType="1"/>
          </p:cNvSpPr>
          <p:nvPr/>
        </p:nvSpPr>
        <p:spPr bwMode="auto">
          <a:xfrm>
            <a:off x="8262937" y="4103600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sz="1600"/>
          </a:p>
        </p:txBody>
      </p:sp>
      <p:sp>
        <p:nvSpPr>
          <p:cNvPr id="35" name="Text Box 85"/>
          <p:cNvSpPr txBox="1">
            <a:spLocks noChangeArrowheads="1"/>
          </p:cNvSpPr>
          <p:nvPr/>
        </p:nvSpPr>
        <p:spPr bwMode="auto">
          <a:xfrm>
            <a:off x="161925" y="2016037"/>
            <a:ext cx="519694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900" i="1"/>
              <a:t>signal</a:t>
            </a:r>
            <a:endParaRPr lang="en-US" sz="900" i="1"/>
          </a:p>
        </p:txBody>
      </p:sp>
      <p:sp>
        <p:nvSpPr>
          <p:cNvPr id="37" name="Text Box 3"/>
          <p:cNvSpPr txBox="1">
            <a:spLocks noChangeArrowheads="1"/>
          </p:cNvSpPr>
          <p:nvPr/>
        </p:nvSpPr>
        <p:spPr bwMode="auto">
          <a:xfrm>
            <a:off x="381000" y="381000"/>
            <a:ext cx="7597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Cable TV – Data and TV to the user </a:t>
            </a:r>
          </a:p>
        </p:txBody>
      </p:sp>
    </p:spTree>
    <p:extLst>
      <p:ext uri="{BB962C8B-B14F-4D97-AF65-F5344CB8AC3E}">
        <p14:creationId xmlns:p14="http://schemas.microsoft.com/office/powerpoint/2010/main" val="1849329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3"/>
          <p:cNvSpPr txBox="1">
            <a:spLocks noChangeArrowheads="1"/>
          </p:cNvSpPr>
          <p:nvPr/>
        </p:nvSpPr>
        <p:spPr bwMode="auto">
          <a:xfrm>
            <a:off x="395288" y="1583795"/>
            <a:ext cx="6471967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4400" b="1" dirty="0" err="1"/>
              <a:t>Telecomms</a:t>
            </a:r>
            <a:r>
              <a:rPr lang="en-GB" sz="4400" b="1" dirty="0"/>
              <a:t> Service Providers (Telco)</a:t>
            </a:r>
          </a:p>
          <a:p>
            <a:r>
              <a:rPr lang="en-GB" sz="4400" b="1" dirty="0"/>
              <a:t>Broadband Access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480995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reeform 45"/>
          <p:cNvSpPr>
            <a:spLocks/>
          </p:cNvSpPr>
          <p:nvPr/>
        </p:nvSpPr>
        <p:spPr bwMode="auto">
          <a:xfrm>
            <a:off x="722312" y="2031912"/>
            <a:ext cx="368300" cy="1912938"/>
          </a:xfrm>
          <a:custGeom>
            <a:avLst/>
            <a:gdLst>
              <a:gd name="T0" fmla="*/ 0 w 437"/>
              <a:gd name="T1" fmla="*/ 2147483647 h 1575"/>
              <a:gd name="T2" fmla="*/ 2147483647 w 437"/>
              <a:gd name="T3" fmla="*/ 2147483647 h 1575"/>
              <a:gd name="T4" fmla="*/ 2147483647 w 437"/>
              <a:gd name="T5" fmla="*/ 0 h 1575"/>
              <a:gd name="T6" fmla="*/ 2147483647 w 437"/>
              <a:gd name="T7" fmla="*/ 2147483647 h 1575"/>
              <a:gd name="T8" fmla="*/ 2147483647 w 437"/>
              <a:gd name="T9" fmla="*/ 2147483647 h 15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37"/>
              <a:gd name="T16" fmla="*/ 0 h 1575"/>
              <a:gd name="T17" fmla="*/ 437 w 437"/>
              <a:gd name="T18" fmla="*/ 1575 h 157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37" h="1575">
                <a:moveTo>
                  <a:pt x="0" y="1575"/>
                </a:moveTo>
                <a:cubicBezTo>
                  <a:pt x="6" y="1314"/>
                  <a:pt x="13" y="1053"/>
                  <a:pt x="48" y="791"/>
                </a:cubicBezTo>
                <a:cubicBezTo>
                  <a:pt x="83" y="529"/>
                  <a:pt x="156" y="0"/>
                  <a:pt x="212" y="0"/>
                </a:cubicBezTo>
                <a:cubicBezTo>
                  <a:pt x="268" y="0"/>
                  <a:pt x="345" y="529"/>
                  <a:pt x="382" y="791"/>
                </a:cubicBezTo>
                <a:cubicBezTo>
                  <a:pt x="419" y="1053"/>
                  <a:pt x="428" y="1314"/>
                  <a:pt x="437" y="1575"/>
                </a:cubicBezTo>
              </a:path>
            </a:pathLst>
          </a:custGeom>
          <a:solidFill>
            <a:srgbClr val="CC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9459" name="AutoShape 46"/>
          <p:cNvSpPr>
            <a:spLocks noChangeArrowheads="1"/>
          </p:cNvSpPr>
          <p:nvPr/>
        </p:nvSpPr>
        <p:spPr bwMode="auto">
          <a:xfrm flipV="1">
            <a:off x="1390650" y="2030325"/>
            <a:ext cx="1689100" cy="19177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96 w 21600"/>
              <a:gd name="T13" fmla="*/ 2996 h 21600"/>
              <a:gd name="T14" fmla="*/ 18604 w 21600"/>
              <a:gd name="T15" fmla="*/ 18604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392" y="21600"/>
                </a:lnTo>
                <a:lnTo>
                  <a:pt x="19208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1512887" y="2100175"/>
            <a:ext cx="1481138" cy="1844675"/>
            <a:chOff x="851" y="1112"/>
            <a:chExt cx="933" cy="1582"/>
          </a:xfrm>
        </p:grpSpPr>
        <p:sp>
          <p:nvSpPr>
            <p:cNvPr id="19493" name="Freeform 48"/>
            <p:cNvSpPr>
              <a:spLocks/>
            </p:cNvSpPr>
            <p:nvPr/>
          </p:nvSpPr>
          <p:spPr bwMode="auto">
            <a:xfrm>
              <a:off x="851" y="1112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94" name="Freeform 49"/>
            <p:cNvSpPr>
              <a:spLocks/>
            </p:cNvSpPr>
            <p:nvPr/>
          </p:nvSpPr>
          <p:spPr bwMode="auto">
            <a:xfrm>
              <a:off x="1082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95" name="Freeform 50"/>
            <p:cNvSpPr>
              <a:spLocks/>
            </p:cNvSpPr>
            <p:nvPr/>
          </p:nvSpPr>
          <p:spPr bwMode="auto">
            <a:xfrm>
              <a:off x="1314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96" name="Freeform 51"/>
            <p:cNvSpPr>
              <a:spLocks/>
            </p:cNvSpPr>
            <p:nvPr/>
          </p:nvSpPr>
          <p:spPr bwMode="auto">
            <a:xfrm>
              <a:off x="1552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19461" name="AutoShape 52"/>
          <p:cNvSpPr>
            <a:spLocks noChangeArrowheads="1"/>
          </p:cNvSpPr>
          <p:nvPr/>
        </p:nvSpPr>
        <p:spPr bwMode="auto">
          <a:xfrm flipV="1">
            <a:off x="3294062" y="2035087"/>
            <a:ext cx="5416550" cy="192405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066 w 21600"/>
              <a:gd name="T13" fmla="*/ 2066 h 21600"/>
              <a:gd name="T14" fmla="*/ 19534 w 21600"/>
              <a:gd name="T15" fmla="*/ 19534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31" y="21600"/>
                </a:lnTo>
                <a:lnTo>
                  <a:pt x="21069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grpSp>
        <p:nvGrpSpPr>
          <p:cNvPr id="3" name="Group 53"/>
          <p:cNvGrpSpPr>
            <a:grpSpLocks/>
          </p:cNvGrpSpPr>
          <p:nvPr/>
        </p:nvGrpSpPr>
        <p:grpSpPr bwMode="auto">
          <a:xfrm>
            <a:off x="3373437" y="2098587"/>
            <a:ext cx="5230813" cy="1868488"/>
            <a:chOff x="2023" y="1112"/>
            <a:chExt cx="3295" cy="1596"/>
          </a:xfrm>
        </p:grpSpPr>
        <p:sp>
          <p:nvSpPr>
            <p:cNvPr id="19479" name="Freeform 54"/>
            <p:cNvSpPr>
              <a:spLocks/>
            </p:cNvSpPr>
            <p:nvPr/>
          </p:nvSpPr>
          <p:spPr bwMode="auto">
            <a:xfrm>
              <a:off x="2023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0" name="Freeform 55"/>
            <p:cNvSpPr>
              <a:spLocks/>
            </p:cNvSpPr>
            <p:nvPr/>
          </p:nvSpPr>
          <p:spPr bwMode="auto">
            <a:xfrm>
              <a:off x="2261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1" name="Freeform 56"/>
            <p:cNvSpPr>
              <a:spLocks/>
            </p:cNvSpPr>
            <p:nvPr/>
          </p:nvSpPr>
          <p:spPr bwMode="auto">
            <a:xfrm>
              <a:off x="2500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2" name="Freeform 57"/>
            <p:cNvSpPr>
              <a:spLocks/>
            </p:cNvSpPr>
            <p:nvPr/>
          </p:nvSpPr>
          <p:spPr bwMode="auto">
            <a:xfrm>
              <a:off x="2732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3" name="Freeform 58"/>
            <p:cNvSpPr>
              <a:spLocks/>
            </p:cNvSpPr>
            <p:nvPr/>
          </p:nvSpPr>
          <p:spPr bwMode="auto">
            <a:xfrm>
              <a:off x="2964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4" name="Freeform 59"/>
            <p:cNvSpPr>
              <a:spLocks/>
            </p:cNvSpPr>
            <p:nvPr/>
          </p:nvSpPr>
          <p:spPr bwMode="auto">
            <a:xfrm>
              <a:off x="3203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5" name="Freeform 60"/>
            <p:cNvSpPr>
              <a:spLocks/>
            </p:cNvSpPr>
            <p:nvPr/>
          </p:nvSpPr>
          <p:spPr bwMode="auto">
            <a:xfrm>
              <a:off x="3428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6" name="Freeform 61"/>
            <p:cNvSpPr>
              <a:spLocks/>
            </p:cNvSpPr>
            <p:nvPr/>
          </p:nvSpPr>
          <p:spPr bwMode="auto">
            <a:xfrm>
              <a:off x="3660" y="1133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7" name="Freeform 62"/>
            <p:cNvSpPr>
              <a:spLocks/>
            </p:cNvSpPr>
            <p:nvPr/>
          </p:nvSpPr>
          <p:spPr bwMode="auto">
            <a:xfrm>
              <a:off x="3892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8" name="Freeform 63"/>
            <p:cNvSpPr>
              <a:spLocks/>
            </p:cNvSpPr>
            <p:nvPr/>
          </p:nvSpPr>
          <p:spPr bwMode="auto">
            <a:xfrm>
              <a:off x="4131" y="1126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89" name="Freeform 64"/>
            <p:cNvSpPr>
              <a:spLocks/>
            </p:cNvSpPr>
            <p:nvPr/>
          </p:nvSpPr>
          <p:spPr bwMode="auto">
            <a:xfrm>
              <a:off x="4370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90" name="Freeform 65"/>
            <p:cNvSpPr>
              <a:spLocks/>
            </p:cNvSpPr>
            <p:nvPr/>
          </p:nvSpPr>
          <p:spPr bwMode="auto">
            <a:xfrm>
              <a:off x="4609" y="1119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91" name="Freeform 66"/>
            <p:cNvSpPr>
              <a:spLocks/>
            </p:cNvSpPr>
            <p:nvPr/>
          </p:nvSpPr>
          <p:spPr bwMode="auto">
            <a:xfrm>
              <a:off x="4848" y="1112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92" name="Freeform 67"/>
            <p:cNvSpPr>
              <a:spLocks/>
            </p:cNvSpPr>
            <p:nvPr/>
          </p:nvSpPr>
          <p:spPr bwMode="auto">
            <a:xfrm>
              <a:off x="5086" y="1112"/>
              <a:ext cx="232" cy="1575"/>
            </a:xfrm>
            <a:custGeom>
              <a:avLst/>
              <a:gdLst>
                <a:gd name="T0" fmla="*/ 0 w 437"/>
                <a:gd name="T1" fmla="*/ 1575 h 1575"/>
                <a:gd name="T2" fmla="*/ 1 w 437"/>
                <a:gd name="T3" fmla="*/ 791 h 1575"/>
                <a:gd name="T4" fmla="*/ 2 w 437"/>
                <a:gd name="T5" fmla="*/ 0 h 1575"/>
                <a:gd name="T6" fmla="*/ 2 w 437"/>
                <a:gd name="T7" fmla="*/ 791 h 1575"/>
                <a:gd name="T8" fmla="*/ 3 w 437"/>
                <a:gd name="T9" fmla="*/ 1575 h 15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1575"/>
                <a:gd name="T17" fmla="*/ 437 w 437"/>
                <a:gd name="T18" fmla="*/ 1575 h 15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1575">
                  <a:moveTo>
                    <a:pt x="0" y="1575"/>
                  </a:moveTo>
                  <a:cubicBezTo>
                    <a:pt x="6" y="1314"/>
                    <a:pt x="13" y="1053"/>
                    <a:pt x="48" y="791"/>
                  </a:cubicBezTo>
                  <a:cubicBezTo>
                    <a:pt x="83" y="529"/>
                    <a:pt x="156" y="0"/>
                    <a:pt x="212" y="0"/>
                  </a:cubicBezTo>
                  <a:cubicBezTo>
                    <a:pt x="268" y="0"/>
                    <a:pt x="345" y="529"/>
                    <a:pt x="382" y="791"/>
                  </a:cubicBezTo>
                  <a:cubicBezTo>
                    <a:pt x="419" y="1053"/>
                    <a:pt x="428" y="1314"/>
                    <a:pt x="437" y="157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19463" name="Text Box 68"/>
          <p:cNvSpPr txBox="1">
            <a:spLocks noChangeArrowheads="1"/>
          </p:cNvSpPr>
          <p:nvPr/>
        </p:nvSpPr>
        <p:spPr bwMode="auto">
          <a:xfrm>
            <a:off x="421772" y="1690133"/>
            <a:ext cx="896399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100" b="1" dirty="0"/>
              <a:t>Telephony</a:t>
            </a:r>
            <a:endParaRPr lang="en-GB" sz="1400" b="1" dirty="0"/>
          </a:p>
        </p:txBody>
      </p:sp>
      <p:sp>
        <p:nvSpPr>
          <p:cNvPr id="19464" name="Text Box 69"/>
          <p:cNvSpPr txBox="1">
            <a:spLocks noChangeArrowheads="1"/>
          </p:cNvSpPr>
          <p:nvPr/>
        </p:nvSpPr>
        <p:spPr bwMode="auto">
          <a:xfrm>
            <a:off x="1724025" y="1572827"/>
            <a:ext cx="12287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1"/>
              <a:t>UPSTREAM</a:t>
            </a:r>
            <a:endParaRPr lang="en-GB" sz="2000" b="1"/>
          </a:p>
        </p:txBody>
      </p:sp>
      <p:sp>
        <p:nvSpPr>
          <p:cNvPr id="19465" name="Text Box 70"/>
          <p:cNvSpPr txBox="1">
            <a:spLocks noChangeArrowheads="1"/>
          </p:cNvSpPr>
          <p:nvPr/>
        </p:nvSpPr>
        <p:spPr bwMode="auto">
          <a:xfrm>
            <a:off x="5273675" y="1572827"/>
            <a:ext cx="16113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1"/>
              <a:t>DOWNSTREAM</a:t>
            </a:r>
            <a:endParaRPr lang="en-GB" sz="2000"/>
          </a:p>
        </p:txBody>
      </p:sp>
      <p:sp>
        <p:nvSpPr>
          <p:cNvPr id="19469" name="Text Box 74"/>
          <p:cNvSpPr txBox="1">
            <a:spLocks noChangeArrowheads="1"/>
          </p:cNvSpPr>
          <p:nvPr/>
        </p:nvSpPr>
        <p:spPr bwMode="auto">
          <a:xfrm>
            <a:off x="430213" y="369888"/>
            <a:ext cx="295786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 err="1"/>
              <a:t>xDSL</a:t>
            </a:r>
            <a:r>
              <a:rPr lang="en-GB" sz="2400" b="1" dirty="0"/>
              <a:t> (ADSL, XDSL)</a:t>
            </a:r>
          </a:p>
        </p:txBody>
      </p:sp>
      <p:sp>
        <p:nvSpPr>
          <p:cNvPr id="19470" name="Text Box 75"/>
          <p:cNvSpPr txBox="1">
            <a:spLocks noChangeArrowheads="1"/>
          </p:cNvSpPr>
          <p:nvPr/>
        </p:nvSpPr>
        <p:spPr bwMode="auto">
          <a:xfrm>
            <a:off x="1624193" y="4379216"/>
            <a:ext cx="154721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1" dirty="0"/>
              <a:t>sub-channels</a:t>
            </a:r>
            <a:endParaRPr lang="en-GB" sz="2000" b="1" dirty="0"/>
          </a:p>
        </p:txBody>
      </p:sp>
      <p:sp>
        <p:nvSpPr>
          <p:cNvPr id="19471" name="Line 76"/>
          <p:cNvSpPr>
            <a:spLocks noChangeShapeType="1"/>
          </p:cNvSpPr>
          <p:nvPr/>
        </p:nvSpPr>
        <p:spPr bwMode="auto">
          <a:xfrm flipV="1">
            <a:off x="2790825" y="3690850"/>
            <a:ext cx="79375" cy="679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9472" name="Line 77"/>
          <p:cNvSpPr>
            <a:spLocks noChangeShapeType="1"/>
          </p:cNvSpPr>
          <p:nvPr/>
        </p:nvSpPr>
        <p:spPr bwMode="auto">
          <a:xfrm flipV="1">
            <a:off x="3006725" y="3835312"/>
            <a:ext cx="504825" cy="61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9473" name="Line 81"/>
          <p:cNvSpPr>
            <a:spLocks noChangeShapeType="1"/>
          </p:cNvSpPr>
          <p:nvPr/>
        </p:nvSpPr>
        <p:spPr bwMode="auto">
          <a:xfrm flipV="1">
            <a:off x="723900" y="3963900"/>
            <a:ext cx="79232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9474" name="Line 82"/>
          <p:cNvSpPr>
            <a:spLocks noChangeShapeType="1"/>
          </p:cNvSpPr>
          <p:nvPr/>
        </p:nvSpPr>
        <p:spPr bwMode="auto">
          <a:xfrm flipH="1" flipV="1">
            <a:off x="722312" y="1943012"/>
            <a:ext cx="1588" cy="19796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9475" name="Text Box 83"/>
          <p:cNvSpPr txBox="1">
            <a:spLocks noChangeArrowheads="1"/>
          </p:cNvSpPr>
          <p:nvPr/>
        </p:nvSpPr>
        <p:spPr bwMode="auto">
          <a:xfrm>
            <a:off x="7741997" y="3983818"/>
            <a:ext cx="4844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200" i="1" dirty="0" err="1"/>
              <a:t>freq</a:t>
            </a:r>
            <a:endParaRPr lang="en-US" sz="1200" i="1" dirty="0"/>
          </a:p>
        </p:txBody>
      </p:sp>
      <p:sp>
        <p:nvSpPr>
          <p:cNvPr id="19476" name="Line 84"/>
          <p:cNvSpPr>
            <a:spLocks noChangeShapeType="1"/>
          </p:cNvSpPr>
          <p:nvPr/>
        </p:nvSpPr>
        <p:spPr bwMode="auto">
          <a:xfrm>
            <a:off x="8262937" y="4103600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sz="1600"/>
          </a:p>
        </p:txBody>
      </p:sp>
      <p:sp>
        <p:nvSpPr>
          <p:cNvPr id="19477" name="Text Box 85"/>
          <p:cNvSpPr txBox="1">
            <a:spLocks noChangeArrowheads="1"/>
          </p:cNvSpPr>
          <p:nvPr/>
        </p:nvSpPr>
        <p:spPr bwMode="auto">
          <a:xfrm>
            <a:off x="161925" y="2016037"/>
            <a:ext cx="519694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900" i="1"/>
              <a:t>signal</a:t>
            </a:r>
            <a:endParaRPr lang="en-US" sz="900" i="1"/>
          </a:p>
        </p:txBody>
      </p:sp>
      <p:sp>
        <p:nvSpPr>
          <p:cNvPr id="41" name="Line 76"/>
          <p:cNvSpPr>
            <a:spLocks noChangeShapeType="1"/>
          </p:cNvSpPr>
          <p:nvPr/>
        </p:nvSpPr>
        <p:spPr bwMode="auto">
          <a:xfrm flipH="1">
            <a:off x="937975" y="1967618"/>
            <a:ext cx="174863" cy="45507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37166180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63" y="1692251"/>
            <a:ext cx="441942" cy="519107"/>
          </a:xfrm>
          <a:prstGeom prst="rect">
            <a:avLst/>
          </a:prstGeom>
        </p:spPr>
      </p:pic>
      <p:pic>
        <p:nvPicPr>
          <p:cNvPr id="127" name="Picture 40" descr="http://www.clker.com/cliparts/0/P/X/P/D/E/cloud-hi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3050" y="4088733"/>
            <a:ext cx="1268707" cy="704133"/>
          </a:xfrm>
          <a:prstGeom prst="rect">
            <a:avLst/>
          </a:prstGeom>
          <a:noFill/>
        </p:spPr>
      </p:pic>
      <p:pic>
        <p:nvPicPr>
          <p:cNvPr id="228392" name="Picture 40" descr="http://www.clker.com/cliparts/0/P/X/P/D/E/cloud-hi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96625" y="2438890"/>
            <a:ext cx="3420380" cy="1898311"/>
          </a:xfrm>
          <a:prstGeom prst="rect">
            <a:avLst/>
          </a:prstGeom>
          <a:noFill/>
        </p:spPr>
      </p:pic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38125" y="3489330"/>
            <a:ext cx="619125" cy="328613"/>
            <a:chOff x="150" y="2198"/>
            <a:chExt cx="390" cy="207"/>
          </a:xfrm>
        </p:grpSpPr>
        <p:sp>
          <p:nvSpPr>
            <p:cNvPr id="3179" name="Freeform 4"/>
            <p:cNvSpPr>
              <a:spLocks/>
            </p:cNvSpPr>
            <p:nvPr/>
          </p:nvSpPr>
          <p:spPr bwMode="auto">
            <a:xfrm>
              <a:off x="302" y="2213"/>
              <a:ext cx="79" cy="186"/>
            </a:xfrm>
            <a:custGeom>
              <a:avLst/>
              <a:gdLst>
                <a:gd name="T0" fmla="*/ 0 w 99"/>
                <a:gd name="T1" fmla="*/ 0 h 257"/>
                <a:gd name="T2" fmla="*/ 3 w 99"/>
                <a:gd name="T3" fmla="*/ 20 h 257"/>
                <a:gd name="T4" fmla="*/ 17 w 99"/>
                <a:gd name="T5" fmla="*/ 18 h 257"/>
                <a:gd name="T6" fmla="*/ 15 w 99"/>
                <a:gd name="T7" fmla="*/ 7 h 257"/>
                <a:gd name="T8" fmla="*/ 14 w 99"/>
                <a:gd name="T9" fmla="*/ 5 h 257"/>
                <a:gd name="T10" fmla="*/ 14 w 99"/>
                <a:gd name="T11" fmla="*/ 0 h 257"/>
                <a:gd name="T12" fmla="*/ 2 w 99"/>
                <a:gd name="T13" fmla="*/ 0 h 257"/>
                <a:gd name="T14" fmla="*/ 0 w 99"/>
                <a:gd name="T15" fmla="*/ 0 h 2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9"/>
                <a:gd name="T25" fmla="*/ 0 h 257"/>
                <a:gd name="T26" fmla="*/ 99 w 99"/>
                <a:gd name="T27" fmla="*/ 257 h 25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9" h="257">
                  <a:moveTo>
                    <a:pt x="0" y="0"/>
                  </a:moveTo>
                  <a:lnTo>
                    <a:pt x="20" y="257"/>
                  </a:lnTo>
                  <a:lnTo>
                    <a:pt x="99" y="247"/>
                  </a:lnTo>
                  <a:lnTo>
                    <a:pt x="94" y="79"/>
                  </a:lnTo>
                  <a:lnTo>
                    <a:pt x="89" y="69"/>
                  </a:lnTo>
                  <a:lnTo>
                    <a:pt x="89" y="0"/>
                  </a:lnTo>
                  <a:lnTo>
                    <a:pt x="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D2A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180" name="Freeform 5"/>
            <p:cNvSpPr>
              <a:spLocks/>
            </p:cNvSpPr>
            <p:nvPr/>
          </p:nvSpPr>
          <p:spPr bwMode="auto">
            <a:xfrm>
              <a:off x="302" y="2202"/>
              <a:ext cx="87" cy="197"/>
            </a:xfrm>
            <a:custGeom>
              <a:avLst/>
              <a:gdLst>
                <a:gd name="T0" fmla="*/ 17 w 109"/>
                <a:gd name="T1" fmla="*/ 0 h 272"/>
                <a:gd name="T2" fmla="*/ 14 w 109"/>
                <a:gd name="T3" fmla="*/ 7 h 272"/>
                <a:gd name="T4" fmla="*/ 18 w 109"/>
                <a:gd name="T5" fmla="*/ 7 h 272"/>
                <a:gd name="T6" fmla="*/ 18 w 109"/>
                <a:gd name="T7" fmla="*/ 20 h 272"/>
                <a:gd name="T8" fmla="*/ 0 w 109"/>
                <a:gd name="T9" fmla="*/ 20 h 272"/>
                <a:gd name="T10" fmla="*/ 2 w 109"/>
                <a:gd name="T11" fmla="*/ 3 h 272"/>
                <a:gd name="T12" fmla="*/ 3 w 109"/>
                <a:gd name="T13" fmla="*/ 20 h 272"/>
                <a:gd name="T14" fmla="*/ 15 w 109"/>
                <a:gd name="T15" fmla="*/ 20 h 272"/>
                <a:gd name="T16" fmla="*/ 15 w 109"/>
                <a:gd name="T17" fmla="*/ 7 h 272"/>
                <a:gd name="T18" fmla="*/ 14 w 109"/>
                <a:gd name="T19" fmla="*/ 7 h 272"/>
                <a:gd name="T20" fmla="*/ 14 w 109"/>
                <a:gd name="T21" fmla="*/ 1 h 272"/>
                <a:gd name="T22" fmla="*/ 2 w 109"/>
                <a:gd name="T23" fmla="*/ 1 h 272"/>
                <a:gd name="T24" fmla="*/ 17 w 109"/>
                <a:gd name="T25" fmla="*/ 0 h 2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09"/>
                <a:gd name="T40" fmla="*/ 0 h 272"/>
                <a:gd name="T41" fmla="*/ 109 w 109"/>
                <a:gd name="T42" fmla="*/ 272 h 2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09" h="272">
                  <a:moveTo>
                    <a:pt x="99" y="0"/>
                  </a:moveTo>
                  <a:lnTo>
                    <a:pt x="89" y="79"/>
                  </a:lnTo>
                  <a:lnTo>
                    <a:pt x="104" y="94"/>
                  </a:lnTo>
                  <a:lnTo>
                    <a:pt x="109" y="272"/>
                  </a:lnTo>
                  <a:lnTo>
                    <a:pt x="0" y="272"/>
                  </a:lnTo>
                  <a:lnTo>
                    <a:pt x="5" y="40"/>
                  </a:lnTo>
                  <a:lnTo>
                    <a:pt x="20" y="262"/>
                  </a:lnTo>
                  <a:lnTo>
                    <a:pt x="94" y="257"/>
                  </a:lnTo>
                  <a:lnTo>
                    <a:pt x="94" y="94"/>
                  </a:lnTo>
                  <a:lnTo>
                    <a:pt x="79" y="89"/>
                  </a:lnTo>
                  <a:lnTo>
                    <a:pt x="79" y="20"/>
                  </a:lnTo>
                  <a:lnTo>
                    <a:pt x="10" y="15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D19E4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181" name="Freeform 6"/>
            <p:cNvSpPr>
              <a:spLocks/>
            </p:cNvSpPr>
            <p:nvPr/>
          </p:nvSpPr>
          <p:spPr bwMode="auto">
            <a:xfrm>
              <a:off x="318" y="2224"/>
              <a:ext cx="12" cy="39"/>
            </a:xfrm>
            <a:custGeom>
              <a:avLst/>
              <a:gdLst>
                <a:gd name="T0" fmla="*/ 0 w 15"/>
                <a:gd name="T1" fmla="*/ 0 h 54"/>
                <a:gd name="T2" fmla="*/ 2 w 15"/>
                <a:gd name="T3" fmla="*/ 0 h 54"/>
                <a:gd name="T4" fmla="*/ 2 w 15"/>
                <a:gd name="T5" fmla="*/ 4 h 54"/>
                <a:gd name="T6" fmla="*/ 0 w 15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"/>
                <a:gd name="T13" fmla="*/ 0 h 54"/>
                <a:gd name="T14" fmla="*/ 15 w 15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" h="54">
                  <a:moveTo>
                    <a:pt x="0" y="0"/>
                  </a:moveTo>
                  <a:lnTo>
                    <a:pt x="15" y="0"/>
                  </a:lnTo>
                  <a:lnTo>
                    <a:pt x="10" y="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9E4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182" name="Freeform 7"/>
            <p:cNvSpPr>
              <a:spLocks/>
            </p:cNvSpPr>
            <p:nvPr/>
          </p:nvSpPr>
          <p:spPr bwMode="auto">
            <a:xfrm>
              <a:off x="318" y="2281"/>
              <a:ext cx="51" cy="11"/>
            </a:xfrm>
            <a:custGeom>
              <a:avLst/>
              <a:gdLst>
                <a:gd name="T0" fmla="*/ 0 w 64"/>
                <a:gd name="T1" fmla="*/ 1 h 15"/>
                <a:gd name="T2" fmla="*/ 7 w 64"/>
                <a:gd name="T3" fmla="*/ 0 h 15"/>
                <a:gd name="T4" fmla="*/ 11 w 64"/>
                <a:gd name="T5" fmla="*/ 0 h 15"/>
                <a:gd name="T6" fmla="*/ 11 w 64"/>
                <a:gd name="T7" fmla="*/ 1 h 15"/>
                <a:gd name="T8" fmla="*/ 7 w 64"/>
                <a:gd name="T9" fmla="*/ 1 h 15"/>
                <a:gd name="T10" fmla="*/ 0 w 64"/>
                <a:gd name="T11" fmla="*/ 1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"/>
                <a:gd name="T19" fmla="*/ 0 h 15"/>
                <a:gd name="T20" fmla="*/ 64 w 64"/>
                <a:gd name="T21" fmla="*/ 15 h 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" h="15">
                  <a:moveTo>
                    <a:pt x="0" y="10"/>
                  </a:moveTo>
                  <a:lnTo>
                    <a:pt x="45" y="0"/>
                  </a:lnTo>
                  <a:lnTo>
                    <a:pt x="64" y="0"/>
                  </a:lnTo>
                  <a:lnTo>
                    <a:pt x="64" y="15"/>
                  </a:lnTo>
                  <a:lnTo>
                    <a:pt x="45" y="5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D19E4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183" name="Freeform 8"/>
            <p:cNvSpPr>
              <a:spLocks/>
            </p:cNvSpPr>
            <p:nvPr/>
          </p:nvSpPr>
          <p:spPr bwMode="auto">
            <a:xfrm>
              <a:off x="318" y="2292"/>
              <a:ext cx="51" cy="14"/>
            </a:xfrm>
            <a:custGeom>
              <a:avLst/>
              <a:gdLst>
                <a:gd name="T0" fmla="*/ 0 w 64"/>
                <a:gd name="T1" fmla="*/ 1 h 20"/>
                <a:gd name="T2" fmla="*/ 7 w 64"/>
                <a:gd name="T3" fmla="*/ 0 h 20"/>
                <a:gd name="T4" fmla="*/ 11 w 64"/>
                <a:gd name="T5" fmla="*/ 1 h 20"/>
                <a:gd name="T6" fmla="*/ 11 w 64"/>
                <a:gd name="T7" fmla="*/ 1 h 20"/>
                <a:gd name="T8" fmla="*/ 7 w 64"/>
                <a:gd name="T9" fmla="*/ 1 h 20"/>
                <a:gd name="T10" fmla="*/ 0 w 64"/>
                <a:gd name="T11" fmla="*/ 1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"/>
                <a:gd name="T19" fmla="*/ 0 h 20"/>
                <a:gd name="T20" fmla="*/ 64 w 64"/>
                <a:gd name="T21" fmla="*/ 20 h 2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" h="20">
                  <a:moveTo>
                    <a:pt x="0" y="5"/>
                  </a:moveTo>
                  <a:lnTo>
                    <a:pt x="45" y="0"/>
                  </a:lnTo>
                  <a:lnTo>
                    <a:pt x="64" y="5"/>
                  </a:lnTo>
                  <a:lnTo>
                    <a:pt x="64" y="20"/>
                  </a:lnTo>
                  <a:lnTo>
                    <a:pt x="45" y="1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D19E4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184" name="Freeform 9"/>
            <p:cNvSpPr>
              <a:spLocks/>
            </p:cNvSpPr>
            <p:nvPr/>
          </p:nvSpPr>
          <p:spPr bwMode="auto">
            <a:xfrm>
              <a:off x="454" y="2219"/>
              <a:ext cx="79" cy="186"/>
            </a:xfrm>
            <a:custGeom>
              <a:avLst/>
              <a:gdLst>
                <a:gd name="T0" fmla="*/ 0 w 99"/>
                <a:gd name="T1" fmla="*/ 0 h 257"/>
                <a:gd name="T2" fmla="*/ 3 w 99"/>
                <a:gd name="T3" fmla="*/ 20 h 257"/>
                <a:gd name="T4" fmla="*/ 17 w 99"/>
                <a:gd name="T5" fmla="*/ 18 h 257"/>
                <a:gd name="T6" fmla="*/ 15 w 99"/>
                <a:gd name="T7" fmla="*/ 7 h 257"/>
                <a:gd name="T8" fmla="*/ 14 w 99"/>
                <a:gd name="T9" fmla="*/ 5 h 257"/>
                <a:gd name="T10" fmla="*/ 14 w 99"/>
                <a:gd name="T11" fmla="*/ 0 h 257"/>
                <a:gd name="T12" fmla="*/ 2 w 99"/>
                <a:gd name="T13" fmla="*/ 0 h 257"/>
                <a:gd name="T14" fmla="*/ 0 w 99"/>
                <a:gd name="T15" fmla="*/ 0 h 2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9"/>
                <a:gd name="T25" fmla="*/ 0 h 257"/>
                <a:gd name="T26" fmla="*/ 99 w 99"/>
                <a:gd name="T27" fmla="*/ 257 h 25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9" h="257">
                  <a:moveTo>
                    <a:pt x="0" y="0"/>
                  </a:moveTo>
                  <a:lnTo>
                    <a:pt x="20" y="257"/>
                  </a:lnTo>
                  <a:lnTo>
                    <a:pt x="99" y="247"/>
                  </a:lnTo>
                  <a:lnTo>
                    <a:pt x="94" y="79"/>
                  </a:lnTo>
                  <a:lnTo>
                    <a:pt x="89" y="69"/>
                  </a:lnTo>
                  <a:lnTo>
                    <a:pt x="89" y="0"/>
                  </a:lnTo>
                  <a:lnTo>
                    <a:pt x="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D2A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185" name="Freeform 10"/>
            <p:cNvSpPr>
              <a:spLocks/>
            </p:cNvSpPr>
            <p:nvPr/>
          </p:nvSpPr>
          <p:spPr bwMode="auto">
            <a:xfrm>
              <a:off x="454" y="2208"/>
              <a:ext cx="86" cy="197"/>
            </a:xfrm>
            <a:custGeom>
              <a:avLst/>
              <a:gdLst>
                <a:gd name="T0" fmla="*/ 15 w 109"/>
                <a:gd name="T1" fmla="*/ 0 h 272"/>
                <a:gd name="T2" fmla="*/ 13 w 109"/>
                <a:gd name="T3" fmla="*/ 7 h 272"/>
                <a:gd name="T4" fmla="*/ 16 w 109"/>
                <a:gd name="T5" fmla="*/ 7 h 272"/>
                <a:gd name="T6" fmla="*/ 17 w 109"/>
                <a:gd name="T7" fmla="*/ 20 h 272"/>
                <a:gd name="T8" fmla="*/ 0 w 109"/>
                <a:gd name="T9" fmla="*/ 20 h 272"/>
                <a:gd name="T10" fmla="*/ 2 w 109"/>
                <a:gd name="T11" fmla="*/ 3 h 272"/>
                <a:gd name="T12" fmla="*/ 3 w 109"/>
                <a:gd name="T13" fmla="*/ 20 h 272"/>
                <a:gd name="T14" fmla="*/ 13 w 109"/>
                <a:gd name="T15" fmla="*/ 20 h 272"/>
                <a:gd name="T16" fmla="*/ 13 w 109"/>
                <a:gd name="T17" fmla="*/ 7 h 272"/>
                <a:gd name="T18" fmla="*/ 12 w 109"/>
                <a:gd name="T19" fmla="*/ 7 h 272"/>
                <a:gd name="T20" fmla="*/ 12 w 109"/>
                <a:gd name="T21" fmla="*/ 1 h 272"/>
                <a:gd name="T22" fmla="*/ 2 w 109"/>
                <a:gd name="T23" fmla="*/ 1 h 272"/>
                <a:gd name="T24" fmla="*/ 15 w 109"/>
                <a:gd name="T25" fmla="*/ 0 h 2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09"/>
                <a:gd name="T40" fmla="*/ 0 h 272"/>
                <a:gd name="T41" fmla="*/ 109 w 109"/>
                <a:gd name="T42" fmla="*/ 272 h 2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09" h="272">
                  <a:moveTo>
                    <a:pt x="99" y="0"/>
                  </a:moveTo>
                  <a:lnTo>
                    <a:pt x="89" y="79"/>
                  </a:lnTo>
                  <a:lnTo>
                    <a:pt x="104" y="94"/>
                  </a:lnTo>
                  <a:lnTo>
                    <a:pt x="109" y="272"/>
                  </a:lnTo>
                  <a:lnTo>
                    <a:pt x="0" y="272"/>
                  </a:lnTo>
                  <a:lnTo>
                    <a:pt x="5" y="40"/>
                  </a:lnTo>
                  <a:lnTo>
                    <a:pt x="20" y="262"/>
                  </a:lnTo>
                  <a:lnTo>
                    <a:pt x="94" y="257"/>
                  </a:lnTo>
                  <a:lnTo>
                    <a:pt x="94" y="94"/>
                  </a:lnTo>
                  <a:lnTo>
                    <a:pt x="79" y="89"/>
                  </a:lnTo>
                  <a:lnTo>
                    <a:pt x="79" y="20"/>
                  </a:lnTo>
                  <a:lnTo>
                    <a:pt x="10" y="15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D19E4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186" name="Freeform 11"/>
            <p:cNvSpPr>
              <a:spLocks/>
            </p:cNvSpPr>
            <p:nvPr/>
          </p:nvSpPr>
          <p:spPr bwMode="auto">
            <a:xfrm>
              <a:off x="470" y="2229"/>
              <a:ext cx="12" cy="39"/>
            </a:xfrm>
            <a:custGeom>
              <a:avLst/>
              <a:gdLst>
                <a:gd name="T0" fmla="*/ 0 w 15"/>
                <a:gd name="T1" fmla="*/ 0 h 54"/>
                <a:gd name="T2" fmla="*/ 2 w 15"/>
                <a:gd name="T3" fmla="*/ 0 h 54"/>
                <a:gd name="T4" fmla="*/ 2 w 15"/>
                <a:gd name="T5" fmla="*/ 4 h 54"/>
                <a:gd name="T6" fmla="*/ 0 w 15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"/>
                <a:gd name="T13" fmla="*/ 0 h 54"/>
                <a:gd name="T14" fmla="*/ 15 w 15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" h="54">
                  <a:moveTo>
                    <a:pt x="0" y="0"/>
                  </a:moveTo>
                  <a:lnTo>
                    <a:pt x="15" y="0"/>
                  </a:lnTo>
                  <a:lnTo>
                    <a:pt x="10" y="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9E4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187" name="Freeform 12"/>
            <p:cNvSpPr>
              <a:spLocks/>
            </p:cNvSpPr>
            <p:nvPr/>
          </p:nvSpPr>
          <p:spPr bwMode="auto">
            <a:xfrm>
              <a:off x="470" y="2287"/>
              <a:ext cx="51" cy="10"/>
            </a:xfrm>
            <a:custGeom>
              <a:avLst/>
              <a:gdLst>
                <a:gd name="T0" fmla="*/ 0 w 64"/>
                <a:gd name="T1" fmla="*/ 1 h 15"/>
                <a:gd name="T2" fmla="*/ 7 w 64"/>
                <a:gd name="T3" fmla="*/ 0 h 15"/>
                <a:gd name="T4" fmla="*/ 11 w 64"/>
                <a:gd name="T5" fmla="*/ 0 h 15"/>
                <a:gd name="T6" fmla="*/ 11 w 64"/>
                <a:gd name="T7" fmla="*/ 1 h 15"/>
                <a:gd name="T8" fmla="*/ 7 w 64"/>
                <a:gd name="T9" fmla="*/ 1 h 15"/>
                <a:gd name="T10" fmla="*/ 0 w 64"/>
                <a:gd name="T11" fmla="*/ 1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"/>
                <a:gd name="T19" fmla="*/ 0 h 15"/>
                <a:gd name="T20" fmla="*/ 64 w 64"/>
                <a:gd name="T21" fmla="*/ 15 h 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" h="15">
                  <a:moveTo>
                    <a:pt x="0" y="10"/>
                  </a:moveTo>
                  <a:lnTo>
                    <a:pt x="45" y="0"/>
                  </a:lnTo>
                  <a:lnTo>
                    <a:pt x="64" y="0"/>
                  </a:lnTo>
                  <a:lnTo>
                    <a:pt x="64" y="15"/>
                  </a:lnTo>
                  <a:lnTo>
                    <a:pt x="45" y="5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D19E4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188" name="Freeform 13"/>
            <p:cNvSpPr>
              <a:spLocks/>
            </p:cNvSpPr>
            <p:nvPr/>
          </p:nvSpPr>
          <p:spPr bwMode="auto">
            <a:xfrm>
              <a:off x="470" y="2297"/>
              <a:ext cx="51" cy="15"/>
            </a:xfrm>
            <a:custGeom>
              <a:avLst/>
              <a:gdLst>
                <a:gd name="T0" fmla="*/ 0 w 64"/>
                <a:gd name="T1" fmla="*/ 2 h 20"/>
                <a:gd name="T2" fmla="*/ 7 w 64"/>
                <a:gd name="T3" fmla="*/ 0 h 20"/>
                <a:gd name="T4" fmla="*/ 11 w 64"/>
                <a:gd name="T5" fmla="*/ 2 h 20"/>
                <a:gd name="T6" fmla="*/ 11 w 64"/>
                <a:gd name="T7" fmla="*/ 2 h 20"/>
                <a:gd name="T8" fmla="*/ 7 w 64"/>
                <a:gd name="T9" fmla="*/ 2 h 20"/>
                <a:gd name="T10" fmla="*/ 0 w 64"/>
                <a:gd name="T11" fmla="*/ 2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"/>
                <a:gd name="T19" fmla="*/ 0 h 20"/>
                <a:gd name="T20" fmla="*/ 64 w 64"/>
                <a:gd name="T21" fmla="*/ 20 h 2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" h="20">
                  <a:moveTo>
                    <a:pt x="0" y="5"/>
                  </a:moveTo>
                  <a:lnTo>
                    <a:pt x="45" y="0"/>
                  </a:lnTo>
                  <a:lnTo>
                    <a:pt x="64" y="5"/>
                  </a:lnTo>
                  <a:lnTo>
                    <a:pt x="64" y="20"/>
                  </a:lnTo>
                  <a:lnTo>
                    <a:pt x="45" y="1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D19E4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189" name="Freeform 14"/>
            <p:cNvSpPr>
              <a:spLocks/>
            </p:cNvSpPr>
            <p:nvPr/>
          </p:nvSpPr>
          <p:spPr bwMode="auto">
            <a:xfrm>
              <a:off x="150" y="2209"/>
              <a:ext cx="79" cy="186"/>
            </a:xfrm>
            <a:custGeom>
              <a:avLst/>
              <a:gdLst>
                <a:gd name="T0" fmla="*/ 0 w 99"/>
                <a:gd name="T1" fmla="*/ 0 h 257"/>
                <a:gd name="T2" fmla="*/ 3 w 99"/>
                <a:gd name="T3" fmla="*/ 20 h 257"/>
                <a:gd name="T4" fmla="*/ 17 w 99"/>
                <a:gd name="T5" fmla="*/ 18 h 257"/>
                <a:gd name="T6" fmla="*/ 15 w 99"/>
                <a:gd name="T7" fmla="*/ 7 h 257"/>
                <a:gd name="T8" fmla="*/ 14 w 99"/>
                <a:gd name="T9" fmla="*/ 5 h 257"/>
                <a:gd name="T10" fmla="*/ 14 w 99"/>
                <a:gd name="T11" fmla="*/ 0 h 257"/>
                <a:gd name="T12" fmla="*/ 2 w 99"/>
                <a:gd name="T13" fmla="*/ 0 h 257"/>
                <a:gd name="T14" fmla="*/ 0 w 99"/>
                <a:gd name="T15" fmla="*/ 0 h 2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9"/>
                <a:gd name="T25" fmla="*/ 0 h 257"/>
                <a:gd name="T26" fmla="*/ 99 w 99"/>
                <a:gd name="T27" fmla="*/ 257 h 25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9" h="257">
                  <a:moveTo>
                    <a:pt x="0" y="0"/>
                  </a:moveTo>
                  <a:lnTo>
                    <a:pt x="20" y="257"/>
                  </a:lnTo>
                  <a:lnTo>
                    <a:pt x="99" y="247"/>
                  </a:lnTo>
                  <a:lnTo>
                    <a:pt x="94" y="79"/>
                  </a:lnTo>
                  <a:lnTo>
                    <a:pt x="89" y="69"/>
                  </a:lnTo>
                  <a:lnTo>
                    <a:pt x="89" y="0"/>
                  </a:lnTo>
                  <a:lnTo>
                    <a:pt x="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D2A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190" name="Freeform 15"/>
            <p:cNvSpPr>
              <a:spLocks/>
            </p:cNvSpPr>
            <p:nvPr/>
          </p:nvSpPr>
          <p:spPr bwMode="auto">
            <a:xfrm>
              <a:off x="150" y="2198"/>
              <a:ext cx="86" cy="197"/>
            </a:xfrm>
            <a:custGeom>
              <a:avLst/>
              <a:gdLst>
                <a:gd name="T0" fmla="*/ 15 w 109"/>
                <a:gd name="T1" fmla="*/ 0 h 272"/>
                <a:gd name="T2" fmla="*/ 13 w 109"/>
                <a:gd name="T3" fmla="*/ 7 h 272"/>
                <a:gd name="T4" fmla="*/ 16 w 109"/>
                <a:gd name="T5" fmla="*/ 7 h 272"/>
                <a:gd name="T6" fmla="*/ 17 w 109"/>
                <a:gd name="T7" fmla="*/ 20 h 272"/>
                <a:gd name="T8" fmla="*/ 0 w 109"/>
                <a:gd name="T9" fmla="*/ 20 h 272"/>
                <a:gd name="T10" fmla="*/ 2 w 109"/>
                <a:gd name="T11" fmla="*/ 3 h 272"/>
                <a:gd name="T12" fmla="*/ 3 w 109"/>
                <a:gd name="T13" fmla="*/ 20 h 272"/>
                <a:gd name="T14" fmla="*/ 13 w 109"/>
                <a:gd name="T15" fmla="*/ 20 h 272"/>
                <a:gd name="T16" fmla="*/ 13 w 109"/>
                <a:gd name="T17" fmla="*/ 7 h 272"/>
                <a:gd name="T18" fmla="*/ 12 w 109"/>
                <a:gd name="T19" fmla="*/ 7 h 272"/>
                <a:gd name="T20" fmla="*/ 12 w 109"/>
                <a:gd name="T21" fmla="*/ 1 h 272"/>
                <a:gd name="T22" fmla="*/ 2 w 109"/>
                <a:gd name="T23" fmla="*/ 1 h 272"/>
                <a:gd name="T24" fmla="*/ 15 w 109"/>
                <a:gd name="T25" fmla="*/ 0 h 2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09"/>
                <a:gd name="T40" fmla="*/ 0 h 272"/>
                <a:gd name="T41" fmla="*/ 109 w 109"/>
                <a:gd name="T42" fmla="*/ 272 h 2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09" h="272">
                  <a:moveTo>
                    <a:pt x="99" y="0"/>
                  </a:moveTo>
                  <a:lnTo>
                    <a:pt x="89" y="79"/>
                  </a:lnTo>
                  <a:lnTo>
                    <a:pt x="104" y="94"/>
                  </a:lnTo>
                  <a:lnTo>
                    <a:pt x="109" y="272"/>
                  </a:lnTo>
                  <a:lnTo>
                    <a:pt x="0" y="272"/>
                  </a:lnTo>
                  <a:lnTo>
                    <a:pt x="5" y="40"/>
                  </a:lnTo>
                  <a:lnTo>
                    <a:pt x="20" y="262"/>
                  </a:lnTo>
                  <a:lnTo>
                    <a:pt x="94" y="257"/>
                  </a:lnTo>
                  <a:lnTo>
                    <a:pt x="94" y="94"/>
                  </a:lnTo>
                  <a:lnTo>
                    <a:pt x="79" y="89"/>
                  </a:lnTo>
                  <a:lnTo>
                    <a:pt x="79" y="20"/>
                  </a:lnTo>
                  <a:lnTo>
                    <a:pt x="10" y="15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D19E4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191" name="Freeform 16"/>
            <p:cNvSpPr>
              <a:spLocks/>
            </p:cNvSpPr>
            <p:nvPr/>
          </p:nvSpPr>
          <p:spPr bwMode="auto">
            <a:xfrm>
              <a:off x="166" y="2219"/>
              <a:ext cx="12" cy="40"/>
            </a:xfrm>
            <a:custGeom>
              <a:avLst/>
              <a:gdLst>
                <a:gd name="T0" fmla="*/ 0 w 15"/>
                <a:gd name="T1" fmla="*/ 0 h 54"/>
                <a:gd name="T2" fmla="*/ 2 w 15"/>
                <a:gd name="T3" fmla="*/ 0 h 54"/>
                <a:gd name="T4" fmla="*/ 2 w 15"/>
                <a:gd name="T5" fmla="*/ 5 h 54"/>
                <a:gd name="T6" fmla="*/ 0 w 15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"/>
                <a:gd name="T13" fmla="*/ 0 h 54"/>
                <a:gd name="T14" fmla="*/ 15 w 15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" h="54">
                  <a:moveTo>
                    <a:pt x="0" y="0"/>
                  </a:moveTo>
                  <a:lnTo>
                    <a:pt x="15" y="0"/>
                  </a:lnTo>
                  <a:lnTo>
                    <a:pt x="10" y="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9E4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192" name="Freeform 17"/>
            <p:cNvSpPr>
              <a:spLocks/>
            </p:cNvSpPr>
            <p:nvPr/>
          </p:nvSpPr>
          <p:spPr bwMode="auto">
            <a:xfrm>
              <a:off x="166" y="2277"/>
              <a:ext cx="51" cy="11"/>
            </a:xfrm>
            <a:custGeom>
              <a:avLst/>
              <a:gdLst>
                <a:gd name="T0" fmla="*/ 0 w 64"/>
                <a:gd name="T1" fmla="*/ 1 h 15"/>
                <a:gd name="T2" fmla="*/ 7 w 64"/>
                <a:gd name="T3" fmla="*/ 0 h 15"/>
                <a:gd name="T4" fmla="*/ 11 w 64"/>
                <a:gd name="T5" fmla="*/ 0 h 15"/>
                <a:gd name="T6" fmla="*/ 11 w 64"/>
                <a:gd name="T7" fmla="*/ 1 h 15"/>
                <a:gd name="T8" fmla="*/ 7 w 64"/>
                <a:gd name="T9" fmla="*/ 1 h 15"/>
                <a:gd name="T10" fmla="*/ 0 w 64"/>
                <a:gd name="T11" fmla="*/ 1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"/>
                <a:gd name="T19" fmla="*/ 0 h 15"/>
                <a:gd name="T20" fmla="*/ 64 w 64"/>
                <a:gd name="T21" fmla="*/ 15 h 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" h="15">
                  <a:moveTo>
                    <a:pt x="0" y="10"/>
                  </a:moveTo>
                  <a:lnTo>
                    <a:pt x="45" y="0"/>
                  </a:lnTo>
                  <a:lnTo>
                    <a:pt x="64" y="0"/>
                  </a:lnTo>
                  <a:lnTo>
                    <a:pt x="64" y="15"/>
                  </a:lnTo>
                  <a:lnTo>
                    <a:pt x="45" y="5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D19E4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193" name="Freeform 18"/>
            <p:cNvSpPr>
              <a:spLocks/>
            </p:cNvSpPr>
            <p:nvPr/>
          </p:nvSpPr>
          <p:spPr bwMode="auto">
            <a:xfrm>
              <a:off x="166" y="2288"/>
              <a:ext cx="51" cy="14"/>
            </a:xfrm>
            <a:custGeom>
              <a:avLst/>
              <a:gdLst>
                <a:gd name="T0" fmla="*/ 0 w 64"/>
                <a:gd name="T1" fmla="*/ 1 h 20"/>
                <a:gd name="T2" fmla="*/ 7 w 64"/>
                <a:gd name="T3" fmla="*/ 0 h 20"/>
                <a:gd name="T4" fmla="*/ 11 w 64"/>
                <a:gd name="T5" fmla="*/ 1 h 20"/>
                <a:gd name="T6" fmla="*/ 11 w 64"/>
                <a:gd name="T7" fmla="*/ 1 h 20"/>
                <a:gd name="T8" fmla="*/ 7 w 64"/>
                <a:gd name="T9" fmla="*/ 1 h 20"/>
                <a:gd name="T10" fmla="*/ 0 w 64"/>
                <a:gd name="T11" fmla="*/ 1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"/>
                <a:gd name="T19" fmla="*/ 0 h 20"/>
                <a:gd name="T20" fmla="*/ 64 w 64"/>
                <a:gd name="T21" fmla="*/ 20 h 2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" h="20">
                  <a:moveTo>
                    <a:pt x="0" y="5"/>
                  </a:moveTo>
                  <a:lnTo>
                    <a:pt x="45" y="0"/>
                  </a:lnTo>
                  <a:lnTo>
                    <a:pt x="64" y="5"/>
                  </a:lnTo>
                  <a:lnTo>
                    <a:pt x="64" y="20"/>
                  </a:lnTo>
                  <a:lnTo>
                    <a:pt x="45" y="1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D19E4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</p:grpSp>
      <p:sp>
        <p:nvSpPr>
          <p:cNvPr id="3174" name="Text Box 24"/>
          <p:cNvSpPr txBox="1">
            <a:spLocks noChangeArrowheads="1"/>
          </p:cNvSpPr>
          <p:nvPr/>
        </p:nvSpPr>
        <p:spPr bwMode="auto">
          <a:xfrm>
            <a:off x="518007" y="4303319"/>
            <a:ext cx="77879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 b="1" dirty="0"/>
              <a:t>WWW</a:t>
            </a:r>
          </a:p>
        </p:txBody>
      </p:sp>
      <p:sp>
        <p:nvSpPr>
          <p:cNvPr id="3164" name="Rectangle 26"/>
          <p:cNvSpPr>
            <a:spLocks noChangeArrowheads="1"/>
          </p:cNvSpPr>
          <p:nvPr/>
        </p:nvSpPr>
        <p:spPr bwMode="auto">
          <a:xfrm>
            <a:off x="522288" y="1603375"/>
            <a:ext cx="7397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65" name="Text Box 27"/>
          <p:cNvSpPr txBox="1">
            <a:spLocks noChangeArrowheads="1"/>
          </p:cNvSpPr>
          <p:nvPr/>
        </p:nvSpPr>
        <p:spPr bwMode="auto">
          <a:xfrm>
            <a:off x="1656291" y="1078439"/>
            <a:ext cx="117951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b="1" dirty="0"/>
              <a:t>Middleware</a:t>
            </a:r>
            <a:endParaRPr lang="en-GB" sz="1400" dirty="0"/>
          </a:p>
        </p:txBody>
      </p:sp>
      <p:sp>
        <p:nvSpPr>
          <p:cNvPr id="3166" name="Text Box 28"/>
          <p:cNvSpPr txBox="1">
            <a:spLocks noChangeArrowheads="1"/>
          </p:cNvSpPr>
          <p:nvPr/>
        </p:nvSpPr>
        <p:spPr bwMode="auto">
          <a:xfrm>
            <a:off x="473604" y="1081614"/>
            <a:ext cx="116681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b="1" dirty="0"/>
              <a:t>VOD Server</a:t>
            </a:r>
            <a:endParaRPr lang="en-GB" sz="1400" dirty="0"/>
          </a:p>
        </p:txBody>
      </p:sp>
      <p:sp>
        <p:nvSpPr>
          <p:cNvPr id="3167" name="Text Box 29"/>
          <p:cNvSpPr txBox="1">
            <a:spLocks noChangeArrowheads="1"/>
          </p:cNvSpPr>
          <p:nvPr/>
        </p:nvSpPr>
        <p:spPr bwMode="auto">
          <a:xfrm>
            <a:off x="754564" y="2109432"/>
            <a:ext cx="114646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b="1" dirty="0"/>
              <a:t>Broadcast  </a:t>
            </a:r>
          </a:p>
        </p:txBody>
      </p:sp>
      <p:sp>
        <p:nvSpPr>
          <p:cNvPr id="3168" name="Arc 30"/>
          <p:cNvSpPr>
            <a:spLocks/>
          </p:cNvSpPr>
          <p:nvPr/>
        </p:nvSpPr>
        <p:spPr bwMode="auto">
          <a:xfrm flipV="1">
            <a:off x="207963" y="442913"/>
            <a:ext cx="2547938" cy="2300287"/>
          </a:xfrm>
          <a:custGeom>
            <a:avLst/>
            <a:gdLst>
              <a:gd name="T0" fmla="*/ 0 w 21612"/>
              <a:gd name="T1" fmla="*/ 0 h 24524"/>
              <a:gd name="T2" fmla="*/ 0 w 21612"/>
              <a:gd name="T3" fmla="*/ 0 h 24524"/>
              <a:gd name="T4" fmla="*/ 0 w 21612"/>
              <a:gd name="T5" fmla="*/ 0 h 24524"/>
              <a:gd name="T6" fmla="*/ 0 60000 65536"/>
              <a:gd name="T7" fmla="*/ 0 60000 65536"/>
              <a:gd name="T8" fmla="*/ 0 60000 65536"/>
              <a:gd name="T9" fmla="*/ 0 w 21612"/>
              <a:gd name="T10" fmla="*/ 0 h 24524"/>
              <a:gd name="T11" fmla="*/ 21612 w 21612"/>
              <a:gd name="T12" fmla="*/ 24524 h 245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12" h="24524" fill="none" extrusionOk="0">
                <a:moveTo>
                  <a:pt x="0" y="0"/>
                </a:moveTo>
                <a:cubicBezTo>
                  <a:pt x="4" y="0"/>
                  <a:pt x="8" y="-1"/>
                  <a:pt x="12" y="0"/>
                </a:cubicBezTo>
                <a:cubicBezTo>
                  <a:pt x="11941" y="0"/>
                  <a:pt x="21612" y="9670"/>
                  <a:pt x="21612" y="21600"/>
                </a:cubicBezTo>
                <a:cubicBezTo>
                  <a:pt x="21612" y="22578"/>
                  <a:pt x="21545" y="23554"/>
                  <a:pt x="21413" y="24524"/>
                </a:cubicBezTo>
              </a:path>
              <a:path w="21612" h="24524" stroke="0" extrusionOk="0">
                <a:moveTo>
                  <a:pt x="0" y="0"/>
                </a:moveTo>
                <a:cubicBezTo>
                  <a:pt x="4" y="0"/>
                  <a:pt x="8" y="-1"/>
                  <a:pt x="12" y="0"/>
                </a:cubicBezTo>
                <a:cubicBezTo>
                  <a:pt x="11941" y="0"/>
                  <a:pt x="21612" y="9670"/>
                  <a:pt x="21612" y="21600"/>
                </a:cubicBezTo>
                <a:cubicBezTo>
                  <a:pt x="21612" y="22578"/>
                  <a:pt x="21545" y="23554"/>
                  <a:pt x="21413" y="24524"/>
                </a:cubicBezTo>
                <a:lnTo>
                  <a:pt x="12" y="21600"/>
                </a:lnTo>
                <a:close/>
              </a:path>
            </a:pathLst>
          </a:custGeom>
          <a:noFill/>
          <a:ln w="19050">
            <a:solidFill>
              <a:srgbClr val="9FB0CF"/>
            </a:solidFill>
            <a:prstDash val="dash"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169" name="Text Box 31"/>
          <p:cNvSpPr txBox="1">
            <a:spLocks noChangeArrowheads="1"/>
          </p:cNvSpPr>
          <p:nvPr/>
        </p:nvSpPr>
        <p:spPr bwMode="auto">
          <a:xfrm>
            <a:off x="-48419" y="2522149"/>
            <a:ext cx="1809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1" dirty="0">
                <a:solidFill>
                  <a:srgbClr val="3333CC"/>
                </a:solidFill>
              </a:rPr>
              <a:t>Video Head-End</a:t>
            </a:r>
            <a:endParaRPr lang="en-GB" sz="1600" dirty="0">
              <a:solidFill>
                <a:srgbClr val="3333CC"/>
              </a:solidFill>
            </a:endParaRPr>
          </a:p>
        </p:txBody>
      </p:sp>
      <p:sp>
        <p:nvSpPr>
          <p:cNvPr id="3171" name="Rectangle 33"/>
          <p:cNvSpPr>
            <a:spLocks noChangeArrowheads="1"/>
          </p:cNvSpPr>
          <p:nvPr/>
        </p:nvSpPr>
        <p:spPr bwMode="auto">
          <a:xfrm rot="5400000">
            <a:off x="1204646" y="1641502"/>
            <a:ext cx="166322" cy="816821"/>
          </a:xfrm>
          <a:prstGeom prst="rect">
            <a:avLst/>
          </a:prstGeom>
          <a:gradFill rotWithShape="0">
            <a:gsLst>
              <a:gs pos="0">
                <a:srgbClr val="556271"/>
              </a:gs>
              <a:gs pos="50000">
                <a:srgbClr val="B2B2B2"/>
              </a:gs>
              <a:gs pos="100000">
                <a:srgbClr val="556271"/>
              </a:gs>
            </a:gsLst>
            <a:lin ang="2700000" scaled="1"/>
          </a:gra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56271"/>
            </a:extrusionClr>
          </a:sp3d>
        </p:spPr>
        <p:txBody>
          <a:bodyPr wrap="square" anchor="ctr">
            <a:spAutoFit/>
            <a:flatTx/>
          </a:bodyPr>
          <a:lstStyle/>
          <a:p>
            <a:endParaRPr lang="en-US"/>
          </a:p>
        </p:txBody>
      </p:sp>
      <p:sp>
        <p:nvSpPr>
          <p:cNvPr id="3172" name="Rectangle 34"/>
          <p:cNvSpPr>
            <a:spLocks noChangeArrowheads="1"/>
          </p:cNvSpPr>
          <p:nvPr/>
        </p:nvSpPr>
        <p:spPr bwMode="auto">
          <a:xfrm rot="5400000">
            <a:off x="2057929" y="549802"/>
            <a:ext cx="134937" cy="976313"/>
          </a:xfrm>
          <a:prstGeom prst="rect">
            <a:avLst/>
          </a:prstGeom>
          <a:gradFill rotWithShape="0">
            <a:gsLst>
              <a:gs pos="0">
                <a:srgbClr val="556271"/>
              </a:gs>
              <a:gs pos="50000">
                <a:srgbClr val="B2B2B2"/>
              </a:gs>
              <a:gs pos="100000">
                <a:srgbClr val="556271"/>
              </a:gs>
            </a:gsLst>
            <a:lin ang="2700000" scaled="1"/>
          </a:gra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56271"/>
            </a:extrusionClr>
          </a:sp3d>
        </p:spPr>
        <p:txBody>
          <a:bodyPr anchor="ctr">
            <a:spAutoFit/>
            <a:flatTx/>
          </a:bodyPr>
          <a:lstStyle/>
          <a:p>
            <a:endParaRPr lang="en-US"/>
          </a:p>
        </p:txBody>
      </p:sp>
      <p:sp>
        <p:nvSpPr>
          <p:cNvPr id="77" name="Rectangle 34"/>
          <p:cNvSpPr>
            <a:spLocks noChangeArrowheads="1"/>
          </p:cNvSpPr>
          <p:nvPr/>
        </p:nvSpPr>
        <p:spPr bwMode="auto">
          <a:xfrm rot="5400000">
            <a:off x="968904" y="551389"/>
            <a:ext cx="134937" cy="976313"/>
          </a:xfrm>
          <a:prstGeom prst="rect">
            <a:avLst/>
          </a:prstGeom>
          <a:gradFill rotWithShape="0">
            <a:gsLst>
              <a:gs pos="0">
                <a:srgbClr val="556271"/>
              </a:gs>
              <a:gs pos="50000">
                <a:srgbClr val="B2B2B2"/>
              </a:gs>
              <a:gs pos="100000">
                <a:srgbClr val="556271"/>
              </a:gs>
            </a:gsLst>
            <a:lin ang="2700000" scaled="1"/>
          </a:gra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56271"/>
            </a:extrusionClr>
          </a:sp3d>
        </p:spPr>
        <p:txBody>
          <a:bodyPr anchor="ctr">
            <a:spAutoFit/>
            <a:flatTx/>
          </a:bodyPr>
          <a:lstStyle/>
          <a:p>
            <a:endParaRPr lang="en-US"/>
          </a:p>
        </p:txBody>
      </p: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329372" y="5364215"/>
            <a:ext cx="2868617" cy="863600"/>
            <a:chOff x="214" y="3360"/>
            <a:chExt cx="1807" cy="544"/>
          </a:xfrm>
        </p:grpSpPr>
        <p:pic>
          <p:nvPicPr>
            <p:cNvPr id="3162" name="Picture 36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14" y="3360"/>
              <a:ext cx="271" cy="5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63" name="Text Box 37"/>
            <p:cNvSpPr txBox="1">
              <a:spLocks noChangeArrowheads="1"/>
            </p:cNvSpPr>
            <p:nvPr/>
          </p:nvSpPr>
          <p:spPr bwMode="auto">
            <a:xfrm>
              <a:off x="518" y="3589"/>
              <a:ext cx="1503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600" b="1" dirty="0"/>
                <a:t>PSTN</a:t>
              </a:r>
            </a:p>
            <a:p>
              <a:r>
                <a:rPr lang="en-GB" sz="1050" dirty="0"/>
                <a:t>Public Service Telephone Network</a:t>
              </a:r>
            </a:p>
          </p:txBody>
        </p:sp>
      </p:grpSp>
      <p:sp>
        <p:nvSpPr>
          <p:cNvPr id="3113" name="Rectangle 68"/>
          <p:cNvSpPr>
            <a:spLocks noChangeArrowheads="1"/>
          </p:cNvSpPr>
          <p:nvPr/>
        </p:nvSpPr>
        <p:spPr bwMode="auto">
          <a:xfrm>
            <a:off x="3284538" y="2819401"/>
            <a:ext cx="846138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14" name="Text Box 69"/>
          <p:cNvSpPr txBox="1">
            <a:spLocks noChangeArrowheads="1"/>
          </p:cNvSpPr>
          <p:nvPr/>
        </p:nvSpPr>
        <p:spPr bwMode="auto">
          <a:xfrm>
            <a:off x="2560638" y="3171826"/>
            <a:ext cx="1082675" cy="3381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GB" sz="1600" b="1" dirty="0"/>
              <a:t>IP Router</a:t>
            </a:r>
            <a:endParaRPr lang="en-GB" sz="1600" dirty="0"/>
          </a:p>
        </p:txBody>
      </p:sp>
      <p:pic>
        <p:nvPicPr>
          <p:cNvPr id="3115" name="Picture 7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743201" y="2971801"/>
            <a:ext cx="696913" cy="223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1"/>
          <p:cNvGrpSpPr>
            <a:grpSpLocks/>
          </p:cNvGrpSpPr>
          <p:nvPr/>
        </p:nvGrpSpPr>
        <p:grpSpPr bwMode="auto">
          <a:xfrm rot="4965125" flipH="1">
            <a:off x="5707063" y="2403476"/>
            <a:ext cx="152400" cy="1360488"/>
            <a:chOff x="131" y="748"/>
            <a:chExt cx="314" cy="3336"/>
          </a:xfrm>
        </p:grpSpPr>
        <p:sp>
          <p:nvSpPr>
            <p:cNvPr id="3134" name="Freeform 72"/>
            <p:cNvSpPr>
              <a:spLocks/>
            </p:cNvSpPr>
            <p:nvPr/>
          </p:nvSpPr>
          <p:spPr bwMode="auto">
            <a:xfrm>
              <a:off x="131" y="748"/>
              <a:ext cx="314" cy="3336"/>
            </a:xfrm>
            <a:custGeom>
              <a:avLst/>
              <a:gdLst>
                <a:gd name="T0" fmla="*/ 87 w 314"/>
                <a:gd name="T1" fmla="*/ 0 h 3336"/>
                <a:gd name="T2" fmla="*/ 25 w 314"/>
                <a:gd name="T3" fmla="*/ 140 h 3336"/>
                <a:gd name="T4" fmla="*/ 111 w 314"/>
                <a:gd name="T5" fmla="*/ 273 h 3336"/>
                <a:gd name="T6" fmla="*/ 56 w 314"/>
                <a:gd name="T7" fmla="*/ 452 h 3336"/>
                <a:gd name="T8" fmla="*/ 150 w 314"/>
                <a:gd name="T9" fmla="*/ 733 h 3336"/>
                <a:gd name="T10" fmla="*/ 1 w 314"/>
                <a:gd name="T11" fmla="*/ 920 h 3336"/>
                <a:gd name="T12" fmla="*/ 142 w 314"/>
                <a:gd name="T13" fmla="*/ 1224 h 3336"/>
                <a:gd name="T14" fmla="*/ 64 w 314"/>
                <a:gd name="T15" fmla="*/ 1481 h 3336"/>
                <a:gd name="T16" fmla="*/ 188 w 314"/>
                <a:gd name="T17" fmla="*/ 1699 h 3336"/>
                <a:gd name="T18" fmla="*/ 134 w 314"/>
                <a:gd name="T19" fmla="*/ 1972 h 3336"/>
                <a:gd name="T20" fmla="*/ 227 w 314"/>
                <a:gd name="T21" fmla="*/ 2276 h 3336"/>
                <a:gd name="T22" fmla="*/ 95 w 314"/>
                <a:gd name="T23" fmla="*/ 2432 h 3336"/>
                <a:gd name="T24" fmla="*/ 235 w 314"/>
                <a:gd name="T25" fmla="*/ 2728 h 3336"/>
                <a:gd name="T26" fmla="*/ 103 w 314"/>
                <a:gd name="T27" fmla="*/ 2923 h 3336"/>
                <a:gd name="T28" fmla="*/ 313 w 314"/>
                <a:gd name="T29" fmla="*/ 3102 h 3336"/>
                <a:gd name="T30" fmla="*/ 111 w 314"/>
                <a:gd name="T31" fmla="*/ 3336 h 33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14"/>
                <a:gd name="T49" fmla="*/ 0 h 3336"/>
                <a:gd name="T50" fmla="*/ 314 w 314"/>
                <a:gd name="T51" fmla="*/ 3336 h 33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14" h="3336">
                  <a:moveTo>
                    <a:pt x="87" y="0"/>
                  </a:moveTo>
                  <a:cubicBezTo>
                    <a:pt x="54" y="47"/>
                    <a:pt x="21" y="95"/>
                    <a:pt x="25" y="140"/>
                  </a:cubicBezTo>
                  <a:cubicBezTo>
                    <a:pt x="29" y="185"/>
                    <a:pt x="106" y="221"/>
                    <a:pt x="111" y="273"/>
                  </a:cubicBezTo>
                  <a:cubicBezTo>
                    <a:pt x="116" y="325"/>
                    <a:pt x="50" y="375"/>
                    <a:pt x="56" y="452"/>
                  </a:cubicBezTo>
                  <a:cubicBezTo>
                    <a:pt x="62" y="529"/>
                    <a:pt x="159" y="655"/>
                    <a:pt x="150" y="733"/>
                  </a:cubicBezTo>
                  <a:cubicBezTo>
                    <a:pt x="141" y="811"/>
                    <a:pt x="2" y="838"/>
                    <a:pt x="1" y="920"/>
                  </a:cubicBezTo>
                  <a:cubicBezTo>
                    <a:pt x="0" y="1002"/>
                    <a:pt x="132" y="1131"/>
                    <a:pt x="142" y="1224"/>
                  </a:cubicBezTo>
                  <a:cubicBezTo>
                    <a:pt x="152" y="1317"/>
                    <a:pt x="56" y="1402"/>
                    <a:pt x="64" y="1481"/>
                  </a:cubicBezTo>
                  <a:cubicBezTo>
                    <a:pt x="72" y="1560"/>
                    <a:pt x="176" y="1617"/>
                    <a:pt x="188" y="1699"/>
                  </a:cubicBezTo>
                  <a:cubicBezTo>
                    <a:pt x="200" y="1781"/>
                    <a:pt x="128" y="1876"/>
                    <a:pt x="134" y="1972"/>
                  </a:cubicBezTo>
                  <a:cubicBezTo>
                    <a:pt x="140" y="2068"/>
                    <a:pt x="233" y="2199"/>
                    <a:pt x="227" y="2276"/>
                  </a:cubicBezTo>
                  <a:cubicBezTo>
                    <a:pt x="221" y="2353"/>
                    <a:pt x="94" y="2357"/>
                    <a:pt x="95" y="2432"/>
                  </a:cubicBezTo>
                  <a:cubicBezTo>
                    <a:pt x="96" y="2507"/>
                    <a:pt x="234" y="2646"/>
                    <a:pt x="235" y="2728"/>
                  </a:cubicBezTo>
                  <a:cubicBezTo>
                    <a:pt x="236" y="2810"/>
                    <a:pt x="90" y="2861"/>
                    <a:pt x="103" y="2923"/>
                  </a:cubicBezTo>
                  <a:cubicBezTo>
                    <a:pt x="116" y="2985"/>
                    <a:pt x="312" y="3033"/>
                    <a:pt x="313" y="3102"/>
                  </a:cubicBezTo>
                  <a:cubicBezTo>
                    <a:pt x="314" y="3171"/>
                    <a:pt x="149" y="3301"/>
                    <a:pt x="111" y="333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GB"/>
            </a:p>
          </p:txBody>
        </p:sp>
        <p:sp>
          <p:nvSpPr>
            <p:cNvPr id="3135" name="Freeform 73"/>
            <p:cNvSpPr>
              <a:spLocks/>
            </p:cNvSpPr>
            <p:nvPr/>
          </p:nvSpPr>
          <p:spPr bwMode="auto">
            <a:xfrm>
              <a:off x="136" y="756"/>
              <a:ext cx="277" cy="3289"/>
            </a:xfrm>
            <a:custGeom>
              <a:avLst/>
              <a:gdLst>
                <a:gd name="T0" fmla="*/ 28 w 285"/>
                <a:gd name="T1" fmla="*/ 0 h 3289"/>
                <a:gd name="T2" fmla="*/ 97 w 285"/>
                <a:gd name="T3" fmla="*/ 93 h 3289"/>
                <a:gd name="T4" fmla="*/ 12 w 285"/>
                <a:gd name="T5" fmla="*/ 249 h 3289"/>
                <a:gd name="T6" fmla="*/ 103 w 285"/>
                <a:gd name="T7" fmla="*/ 491 h 3289"/>
                <a:gd name="T8" fmla="*/ 52 w 285"/>
                <a:gd name="T9" fmla="*/ 787 h 3289"/>
                <a:gd name="T10" fmla="*/ 97 w 285"/>
                <a:gd name="T11" fmla="*/ 951 h 3289"/>
                <a:gd name="T12" fmla="*/ 12 w 285"/>
                <a:gd name="T13" fmla="*/ 1099 h 3289"/>
                <a:gd name="T14" fmla="*/ 152 w 285"/>
                <a:gd name="T15" fmla="*/ 1395 h 3289"/>
                <a:gd name="T16" fmla="*/ 66 w 285"/>
                <a:gd name="T17" fmla="*/ 1675 h 3289"/>
                <a:gd name="T18" fmla="*/ 165 w 285"/>
                <a:gd name="T19" fmla="*/ 1933 h 3289"/>
                <a:gd name="T20" fmla="*/ 103 w 285"/>
                <a:gd name="T21" fmla="*/ 2213 h 3289"/>
                <a:gd name="T22" fmla="*/ 195 w 285"/>
                <a:gd name="T23" fmla="*/ 2470 h 3289"/>
                <a:gd name="T24" fmla="*/ 109 w 285"/>
                <a:gd name="T25" fmla="*/ 2728 h 3289"/>
                <a:gd name="T26" fmla="*/ 190 w 285"/>
                <a:gd name="T27" fmla="*/ 2915 h 3289"/>
                <a:gd name="T28" fmla="*/ 115 w 285"/>
                <a:gd name="T29" fmla="*/ 3117 h 3289"/>
                <a:gd name="T30" fmla="*/ 226 w 285"/>
                <a:gd name="T31" fmla="*/ 3289 h 328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85"/>
                <a:gd name="T49" fmla="*/ 0 h 3289"/>
                <a:gd name="T50" fmla="*/ 285 w 285"/>
                <a:gd name="T51" fmla="*/ 3289 h 328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85" h="3289">
                  <a:moveTo>
                    <a:pt x="36" y="0"/>
                  </a:moveTo>
                  <a:cubicBezTo>
                    <a:pt x="80" y="26"/>
                    <a:pt x="125" y="52"/>
                    <a:pt x="121" y="93"/>
                  </a:cubicBezTo>
                  <a:cubicBezTo>
                    <a:pt x="117" y="134"/>
                    <a:pt x="11" y="183"/>
                    <a:pt x="12" y="249"/>
                  </a:cubicBezTo>
                  <a:cubicBezTo>
                    <a:pt x="13" y="315"/>
                    <a:pt x="120" y="401"/>
                    <a:pt x="129" y="491"/>
                  </a:cubicBezTo>
                  <a:cubicBezTo>
                    <a:pt x="138" y="581"/>
                    <a:pt x="68" y="710"/>
                    <a:pt x="67" y="787"/>
                  </a:cubicBezTo>
                  <a:cubicBezTo>
                    <a:pt x="66" y="864"/>
                    <a:pt x="130" y="899"/>
                    <a:pt x="121" y="951"/>
                  </a:cubicBezTo>
                  <a:cubicBezTo>
                    <a:pt x="112" y="1003"/>
                    <a:pt x="0" y="1025"/>
                    <a:pt x="12" y="1099"/>
                  </a:cubicBezTo>
                  <a:cubicBezTo>
                    <a:pt x="24" y="1173"/>
                    <a:pt x="179" y="1299"/>
                    <a:pt x="191" y="1395"/>
                  </a:cubicBezTo>
                  <a:cubicBezTo>
                    <a:pt x="203" y="1491"/>
                    <a:pt x="79" y="1585"/>
                    <a:pt x="82" y="1675"/>
                  </a:cubicBezTo>
                  <a:cubicBezTo>
                    <a:pt x="85" y="1765"/>
                    <a:pt x="199" y="1843"/>
                    <a:pt x="207" y="1933"/>
                  </a:cubicBezTo>
                  <a:cubicBezTo>
                    <a:pt x="215" y="2023"/>
                    <a:pt x="123" y="2124"/>
                    <a:pt x="129" y="2213"/>
                  </a:cubicBezTo>
                  <a:cubicBezTo>
                    <a:pt x="135" y="2302"/>
                    <a:pt x="245" y="2384"/>
                    <a:pt x="246" y="2470"/>
                  </a:cubicBezTo>
                  <a:cubicBezTo>
                    <a:pt x="247" y="2556"/>
                    <a:pt x="138" y="2654"/>
                    <a:pt x="137" y="2728"/>
                  </a:cubicBezTo>
                  <a:cubicBezTo>
                    <a:pt x="136" y="2802"/>
                    <a:pt x="237" y="2850"/>
                    <a:pt x="238" y="2915"/>
                  </a:cubicBezTo>
                  <a:cubicBezTo>
                    <a:pt x="239" y="2980"/>
                    <a:pt x="137" y="3055"/>
                    <a:pt x="145" y="3117"/>
                  </a:cubicBezTo>
                  <a:cubicBezTo>
                    <a:pt x="153" y="3179"/>
                    <a:pt x="275" y="3267"/>
                    <a:pt x="285" y="328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GB"/>
            </a:p>
          </p:txBody>
        </p:sp>
      </p:grpSp>
      <p:sp>
        <p:nvSpPr>
          <p:cNvPr id="3117" name="Rectangle 74"/>
          <p:cNvSpPr>
            <a:spLocks noChangeArrowheads="1"/>
          </p:cNvSpPr>
          <p:nvPr/>
        </p:nvSpPr>
        <p:spPr bwMode="auto">
          <a:xfrm>
            <a:off x="1373188" y="4673601"/>
            <a:ext cx="7397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18" name="Line 75"/>
          <p:cNvSpPr>
            <a:spLocks noChangeShapeType="1"/>
          </p:cNvSpPr>
          <p:nvPr/>
        </p:nvSpPr>
        <p:spPr bwMode="auto">
          <a:xfrm>
            <a:off x="3505201" y="3124201"/>
            <a:ext cx="1219200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121" name="Line 87"/>
          <p:cNvSpPr>
            <a:spLocks noChangeShapeType="1"/>
          </p:cNvSpPr>
          <p:nvPr/>
        </p:nvSpPr>
        <p:spPr bwMode="auto">
          <a:xfrm flipV="1">
            <a:off x="1549401" y="5102226"/>
            <a:ext cx="4210050" cy="0"/>
          </a:xfrm>
          <a:prstGeom prst="line">
            <a:avLst/>
          </a:prstGeom>
          <a:noFill/>
          <a:ln w="19050">
            <a:solidFill>
              <a:srgbClr val="0066CC"/>
            </a:solidFill>
            <a:prstDash val="dash"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122" name="Line 88"/>
          <p:cNvSpPr>
            <a:spLocks noChangeShapeType="1"/>
          </p:cNvSpPr>
          <p:nvPr/>
        </p:nvSpPr>
        <p:spPr bwMode="auto">
          <a:xfrm flipH="1" flipV="1">
            <a:off x="1465263" y="4995863"/>
            <a:ext cx="57150" cy="85725"/>
          </a:xfrm>
          <a:prstGeom prst="line">
            <a:avLst/>
          </a:prstGeom>
          <a:noFill/>
          <a:ln w="12700">
            <a:solidFill>
              <a:srgbClr val="0066CC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123" name="Line 89"/>
          <p:cNvSpPr>
            <a:spLocks noChangeShapeType="1"/>
          </p:cNvSpPr>
          <p:nvPr/>
        </p:nvSpPr>
        <p:spPr bwMode="auto">
          <a:xfrm rot="5400000" flipH="1" flipV="1">
            <a:off x="5794376" y="4984751"/>
            <a:ext cx="104775" cy="76200"/>
          </a:xfrm>
          <a:prstGeom prst="line">
            <a:avLst/>
          </a:prstGeom>
          <a:noFill/>
          <a:ln w="19050">
            <a:solidFill>
              <a:srgbClr val="0066CC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124" name="Text Box 90"/>
          <p:cNvSpPr txBox="1">
            <a:spLocks noChangeArrowheads="1"/>
          </p:cNvSpPr>
          <p:nvPr/>
        </p:nvSpPr>
        <p:spPr bwMode="auto">
          <a:xfrm>
            <a:off x="2232026" y="5132388"/>
            <a:ext cx="31861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1800" b="1">
                <a:solidFill>
                  <a:srgbClr val="0066CC"/>
                </a:solidFill>
              </a:rPr>
              <a:t>Network</a:t>
            </a:r>
            <a:endParaRPr lang="en-GB" sz="700"/>
          </a:p>
        </p:txBody>
      </p:sp>
      <p:graphicFrame>
        <p:nvGraphicFramePr>
          <p:cNvPr id="3077" name="Object 91"/>
          <p:cNvGraphicFramePr>
            <a:graphicFrameLocks noChangeAspect="1"/>
          </p:cNvGraphicFramePr>
          <p:nvPr/>
        </p:nvGraphicFramePr>
        <p:xfrm>
          <a:off x="4800601" y="2895601"/>
          <a:ext cx="346075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7" imgW="1952898" imgH="3057143" progId="">
                  <p:embed/>
                </p:oleObj>
              </mc:Choice>
              <mc:Fallback>
                <p:oleObj name="Photo Editor Photo" r:id="rId7" imgW="1952898" imgH="3057143" progId="">
                  <p:embed/>
                  <p:pic>
                    <p:nvPicPr>
                      <p:cNvPr id="3077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2895601"/>
                        <a:ext cx="346075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0" name="Text Box 92"/>
          <p:cNvSpPr txBox="1">
            <a:spLocks noChangeArrowheads="1"/>
          </p:cNvSpPr>
          <p:nvPr/>
        </p:nvSpPr>
        <p:spPr bwMode="auto">
          <a:xfrm>
            <a:off x="4355683" y="3448013"/>
            <a:ext cx="1268413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GB" sz="1600" b="1" dirty="0"/>
              <a:t>DSLAM</a:t>
            </a:r>
          </a:p>
          <a:p>
            <a:pPr algn="ctr"/>
            <a:r>
              <a:rPr lang="en-GB" sz="1050" dirty="0"/>
              <a:t>Digital Subscriber’s Line Access Module</a:t>
            </a:r>
          </a:p>
        </p:txBody>
      </p:sp>
      <p:grpSp>
        <p:nvGrpSpPr>
          <p:cNvPr id="6" name="Group 93"/>
          <p:cNvGrpSpPr>
            <a:grpSpLocks/>
          </p:cNvGrpSpPr>
          <p:nvPr/>
        </p:nvGrpSpPr>
        <p:grpSpPr bwMode="auto">
          <a:xfrm>
            <a:off x="809625" y="1450975"/>
            <a:ext cx="2009775" cy="3938586"/>
            <a:chOff x="510" y="914"/>
            <a:chExt cx="1266" cy="2481"/>
          </a:xfrm>
        </p:grpSpPr>
        <p:sp>
          <p:nvSpPr>
            <p:cNvPr id="3103" name="Line 94"/>
            <p:cNvSpPr>
              <a:spLocks noChangeShapeType="1"/>
            </p:cNvSpPr>
            <p:nvPr/>
          </p:nvSpPr>
          <p:spPr bwMode="auto">
            <a:xfrm flipH="1" flipV="1">
              <a:off x="1007" y="914"/>
              <a:ext cx="769" cy="910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en-GB" sz="1600"/>
            </a:p>
          </p:txBody>
        </p:sp>
        <p:sp>
          <p:nvSpPr>
            <p:cNvPr id="3104" name="Line 95"/>
            <p:cNvSpPr>
              <a:spLocks noChangeShapeType="1"/>
            </p:cNvSpPr>
            <p:nvPr/>
          </p:nvSpPr>
          <p:spPr bwMode="auto">
            <a:xfrm flipH="1" flipV="1">
              <a:off x="1513" y="914"/>
              <a:ext cx="263" cy="910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en-GB" sz="1600"/>
            </a:p>
          </p:txBody>
        </p:sp>
        <p:sp>
          <p:nvSpPr>
            <p:cNvPr id="3105" name="Line 96"/>
            <p:cNvSpPr>
              <a:spLocks noChangeShapeType="1"/>
            </p:cNvSpPr>
            <p:nvPr/>
          </p:nvSpPr>
          <p:spPr bwMode="auto">
            <a:xfrm flipH="1" flipV="1">
              <a:off x="1144" y="1390"/>
              <a:ext cx="632" cy="434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en-GB" sz="1600"/>
            </a:p>
          </p:txBody>
        </p:sp>
        <p:sp>
          <p:nvSpPr>
            <p:cNvPr id="3106" name="Line 97"/>
            <p:cNvSpPr>
              <a:spLocks noChangeShapeType="1"/>
            </p:cNvSpPr>
            <p:nvPr/>
          </p:nvSpPr>
          <p:spPr bwMode="auto">
            <a:xfrm flipV="1">
              <a:off x="603" y="2016"/>
              <a:ext cx="1077" cy="309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GB" sz="1600"/>
            </a:p>
          </p:txBody>
        </p:sp>
        <p:sp>
          <p:nvSpPr>
            <p:cNvPr id="3107" name="Line 98"/>
            <p:cNvSpPr>
              <a:spLocks noChangeShapeType="1"/>
            </p:cNvSpPr>
            <p:nvPr/>
          </p:nvSpPr>
          <p:spPr bwMode="auto">
            <a:xfrm flipH="1">
              <a:off x="865" y="2057"/>
              <a:ext cx="827" cy="654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en-GB" sz="1600"/>
            </a:p>
          </p:txBody>
        </p:sp>
        <p:sp>
          <p:nvSpPr>
            <p:cNvPr id="3108" name="Line 99"/>
            <p:cNvSpPr>
              <a:spLocks noChangeShapeType="1"/>
            </p:cNvSpPr>
            <p:nvPr/>
          </p:nvSpPr>
          <p:spPr bwMode="auto">
            <a:xfrm flipV="1">
              <a:off x="510" y="2109"/>
              <a:ext cx="1229" cy="1286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en-GB" sz="1600"/>
            </a:p>
          </p:txBody>
        </p:sp>
      </p:grpSp>
      <p:sp>
        <p:nvSpPr>
          <p:cNvPr id="3084" name="Rectangle 102"/>
          <p:cNvSpPr>
            <a:spLocks noChangeArrowheads="1"/>
          </p:cNvSpPr>
          <p:nvPr/>
        </p:nvSpPr>
        <p:spPr bwMode="auto">
          <a:xfrm>
            <a:off x="6286500" y="533400"/>
            <a:ext cx="2573338" cy="55451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85" name="Rectangle 103"/>
          <p:cNvSpPr>
            <a:spLocks noChangeArrowheads="1"/>
          </p:cNvSpPr>
          <p:nvPr/>
        </p:nvSpPr>
        <p:spPr bwMode="auto">
          <a:xfrm>
            <a:off x="7332663" y="2874963"/>
            <a:ext cx="84455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8" name="Rectangle 106"/>
          <p:cNvSpPr>
            <a:spLocks noChangeArrowheads="1"/>
          </p:cNvSpPr>
          <p:nvPr/>
        </p:nvSpPr>
        <p:spPr bwMode="auto">
          <a:xfrm>
            <a:off x="6423025" y="2981325"/>
            <a:ext cx="134938" cy="17145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89" name="Line 107"/>
          <p:cNvSpPr>
            <a:spLocks noChangeShapeType="1"/>
          </p:cNvSpPr>
          <p:nvPr/>
        </p:nvSpPr>
        <p:spPr bwMode="auto">
          <a:xfrm>
            <a:off x="8363558" y="4466135"/>
            <a:ext cx="60325" cy="134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090" name="Freeform 108"/>
          <p:cNvSpPr>
            <a:spLocks/>
          </p:cNvSpPr>
          <p:nvPr/>
        </p:nvSpPr>
        <p:spPr bwMode="auto">
          <a:xfrm rot="15819552" flipH="1">
            <a:off x="6616700" y="2952751"/>
            <a:ext cx="92075" cy="215900"/>
          </a:xfrm>
          <a:custGeom>
            <a:avLst/>
            <a:gdLst>
              <a:gd name="T0" fmla="*/ 2147483647 w 314"/>
              <a:gd name="T1" fmla="*/ 0 h 3336"/>
              <a:gd name="T2" fmla="*/ 2147483647 w 314"/>
              <a:gd name="T3" fmla="*/ 0 h 3336"/>
              <a:gd name="T4" fmla="*/ 2147483647 w 314"/>
              <a:gd name="T5" fmla="*/ 0 h 3336"/>
              <a:gd name="T6" fmla="*/ 2147483647 w 314"/>
              <a:gd name="T7" fmla="*/ 2147483647 h 3336"/>
              <a:gd name="T8" fmla="*/ 2147483647 w 314"/>
              <a:gd name="T9" fmla="*/ 2147483647 h 3336"/>
              <a:gd name="T10" fmla="*/ 0 w 314"/>
              <a:gd name="T11" fmla="*/ 2147483647 h 3336"/>
              <a:gd name="T12" fmla="*/ 2147483647 w 314"/>
              <a:gd name="T13" fmla="*/ 2147483647 h 3336"/>
              <a:gd name="T14" fmla="*/ 2147483647 w 314"/>
              <a:gd name="T15" fmla="*/ 2147483647 h 3336"/>
              <a:gd name="T16" fmla="*/ 2147483647 w 314"/>
              <a:gd name="T17" fmla="*/ 2147483647 h 3336"/>
              <a:gd name="T18" fmla="*/ 2147483647 w 314"/>
              <a:gd name="T19" fmla="*/ 2147483647 h 3336"/>
              <a:gd name="T20" fmla="*/ 2147483647 w 314"/>
              <a:gd name="T21" fmla="*/ 2147483647 h 3336"/>
              <a:gd name="T22" fmla="*/ 2147483647 w 314"/>
              <a:gd name="T23" fmla="*/ 2147483647 h 3336"/>
              <a:gd name="T24" fmla="*/ 2147483647 w 314"/>
              <a:gd name="T25" fmla="*/ 2147483647 h 3336"/>
              <a:gd name="T26" fmla="*/ 2147483647 w 314"/>
              <a:gd name="T27" fmla="*/ 2147483647 h 3336"/>
              <a:gd name="T28" fmla="*/ 2147483647 w 314"/>
              <a:gd name="T29" fmla="*/ 2147483647 h 3336"/>
              <a:gd name="T30" fmla="*/ 2147483647 w 314"/>
              <a:gd name="T31" fmla="*/ 2147483647 h 33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14"/>
              <a:gd name="T49" fmla="*/ 0 h 3336"/>
              <a:gd name="T50" fmla="*/ 314 w 314"/>
              <a:gd name="T51" fmla="*/ 3336 h 33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14" h="3336">
                <a:moveTo>
                  <a:pt x="87" y="0"/>
                </a:moveTo>
                <a:cubicBezTo>
                  <a:pt x="54" y="47"/>
                  <a:pt x="21" y="95"/>
                  <a:pt x="25" y="140"/>
                </a:cubicBezTo>
                <a:cubicBezTo>
                  <a:pt x="29" y="185"/>
                  <a:pt x="106" y="221"/>
                  <a:pt x="111" y="273"/>
                </a:cubicBezTo>
                <a:cubicBezTo>
                  <a:pt x="116" y="325"/>
                  <a:pt x="50" y="375"/>
                  <a:pt x="56" y="452"/>
                </a:cubicBezTo>
                <a:cubicBezTo>
                  <a:pt x="62" y="529"/>
                  <a:pt x="159" y="655"/>
                  <a:pt x="150" y="733"/>
                </a:cubicBezTo>
                <a:cubicBezTo>
                  <a:pt x="141" y="811"/>
                  <a:pt x="2" y="838"/>
                  <a:pt x="1" y="920"/>
                </a:cubicBezTo>
                <a:cubicBezTo>
                  <a:pt x="0" y="1002"/>
                  <a:pt x="132" y="1131"/>
                  <a:pt x="142" y="1224"/>
                </a:cubicBezTo>
                <a:cubicBezTo>
                  <a:pt x="152" y="1317"/>
                  <a:pt x="56" y="1402"/>
                  <a:pt x="64" y="1481"/>
                </a:cubicBezTo>
                <a:cubicBezTo>
                  <a:pt x="72" y="1560"/>
                  <a:pt x="176" y="1617"/>
                  <a:pt x="188" y="1699"/>
                </a:cubicBezTo>
                <a:cubicBezTo>
                  <a:pt x="200" y="1781"/>
                  <a:pt x="128" y="1876"/>
                  <a:pt x="134" y="1972"/>
                </a:cubicBezTo>
                <a:cubicBezTo>
                  <a:pt x="140" y="2068"/>
                  <a:pt x="233" y="2199"/>
                  <a:pt x="227" y="2276"/>
                </a:cubicBezTo>
                <a:cubicBezTo>
                  <a:pt x="221" y="2353"/>
                  <a:pt x="94" y="2357"/>
                  <a:pt x="95" y="2432"/>
                </a:cubicBezTo>
                <a:cubicBezTo>
                  <a:pt x="96" y="2507"/>
                  <a:pt x="234" y="2646"/>
                  <a:pt x="235" y="2728"/>
                </a:cubicBezTo>
                <a:cubicBezTo>
                  <a:pt x="236" y="2810"/>
                  <a:pt x="90" y="2861"/>
                  <a:pt x="103" y="2923"/>
                </a:cubicBezTo>
                <a:cubicBezTo>
                  <a:pt x="116" y="2985"/>
                  <a:pt x="312" y="3033"/>
                  <a:pt x="313" y="3102"/>
                </a:cubicBezTo>
                <a:cubicBezTo>
                  <a:pt x="314" y="3171"/>
                  <a:pt x="149" y="3301"/>
                  <a:pt x="111" y="333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091" name="Freeform 109"/>
          <p:cNvSpPr>
            <a:spLocks/>
          </p:cNvSpPr>
          <p:nvPr/>
        </p:nvSpPr>
        <p:spPr bwMode="auto">
          <a:xfrm rot="15819552" flipH="1">
            <a:off x="6619875" y="2951163"/>
            <a:ext cx="79375" cy="212725"/>
          </a:xfrm>
          <a:custGeom>
            <a:avLst/>
            <a:gdLst>
              <a:gd name="T0" fmla="*/ 2147483647 w 285"/>
              <a:gd name="T1" fmla="*/ 0 h 3289"/>
              <a:gd name="T2" fmla="*/ 2147483647 w 285"/>
              <a:gd name="T3" fmla="*/ 0 h 3289"/>
              <a:gd name="T4" fmla="*/ 0 w 285"/>
              <a:gd name="T5" fmla="*/ 0 h 3289"/>
              <a:gd name="T6" fmla="*/ 2147483647 w 285"/>
              <a:gd name="T7" fmla="*/ 2147483647 h 3289"/>
              <a:gd name="T8" fmla="*/ 2147483647 w 285"/>
              <a:gd name="T9" fmla="*/ 2147483647 h 3289"/>
              <a:gd name="T10" fmla="*/ 2147483647 w 285"/>
              <a:gd name="T11" fmla="*/ 2147483647 h 3289"/>
              <a:gd name="T12" fmla="*/ 0 w 285"/>
              <a:gd name="T13" fmla="*/ 2147483647 h 3289"/>
              <a:gd name="T14" fmla="*/ 2147483647 w 285"/>
              <a:gd name="T15" fmla="*/ 2147483647 h 3289"/>
              <a:gd name="T16" fmla="*/ 2147483647 w 285"/>
              <a:gd name="T17" fmla="*/ 2147483647 h 3289"/>
              <a:gd name="T18" fmla="*/ 2147483647 w 285"/>
              <a:gd name="T19" fmla="*/ 2147483647 h 3289"/>
              <a:gd name="T20" fmla="*/ 2147483647 w 285"/>
              <a:gd name="T21" fmla="*/ 2147483647 h 3289"/>
              <a:gd name="T22" fmla="*/ 2147483647 w 285"/>
              <a:gd name="T23" fmla="*/ 2147483647 h 3289"/>
              <a:gd name="T24" fmla="*/ 2147483647 w 285"/>
              <a:gd name="T25" fmla="*/ 2147483647 h 3289"/>
              <a:gd name="T26" fmla="*/ 2147483647 w 285"/>
              <a:gd name="T27" fmla="*/ 2147483647 h 3289"/>
              <a:gd name="T28" fmla="*/ 2147483647 w 285"/>
              <a:gd name="T29" fmla="*/ 2147483647 h 3289"/>
              <a:gd name="T30" fmla="*/ 2147483647 w 285"/>
              <a:gd name="T31" fmla="*/ 2147483647 h 328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85"/>
              <a:gd name="T49" fmla="*/ 0 h 3289"/>
              <a:gd name="T50" fmla="*/ 285 w 285"/>
              <a:gd name="T51" fmla="*/ 3289 h 328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85" h="3289">
                <a:moveTo>
                  <a:pt x="36" y="0"/>
                </a:moveTo>
                <a:cubicBezTo>
                  <a:pt x="80" y="26"/>
                  <a:pt x="125" y="52"/>
                  <a:pt x="121" y="93"/>
                </a:cubicBezTo>
                <a:cubicBezTo>
                  <a:pt x="117" y="134"/>
                  <a:pt x="11" y="183"/>
                  <a:pt x="12" y="249"/>
                </a:cubicBezTo>
                <a:cubicBezTo>
                  <a:pt x="13" y="315"/>
                  <a:pt x="120" y="401"/>
                  <a:pt x="129" y="491"/>
                </a:cubicBezTo>
                <a:cubicBezTo>
                  <a:pt x="138" y="581"/>
                  <a:pt x="68" y="710"/>
                  <a:pt x="67" y="787"/>
                </a:cubicBezTo>
                <a:cubicBezTo>
                  <a:pt x="66" y="864"/>
                  <a:pt x="130" y="899"/>
                  <a:pt x="121" y="951"/>
                </a:cubicBezTo>
                <a:cubicBezTo>
                  <a:pt x="112" y="1003"/>
                  <a:pt x="0" y="1025"/>
                  <a:pt x="12" y="1099"/>
                </a:cubicBezTo>
                <a:cubicBezTo>
                  <a:pt x="24" y="1173"/>
                  <a:pt x="179" y="1299"/>
                  <a:pt x="191" y="1395"/>
                </a:cubicBezTo>
                <a:cubicBezTo>
                  <a:pt x="203" y="1491"/>
                  <a:pt x="79" y="1585"/>
                  <a:pt x="82" y="1675"/>
                </a:cubicBezTo>
                <a:cubicBezTo>
                  <a:pt x="85" y="1765"/>
                  <a:pt x="199" y="1843"/>
                  <a:pt x="207" y="1933"/>
                </a:cubicBezTo>
                <a:cubicBezTo>
                  <a:pt x="215" y="2023"/>
                  <a:pt x="123" y="2124"/>
                  <a:pt x="129" y="2213"/>
                </a:cubicBezTo>
                <a:cubicBezTo>
                  <a:pt x="135" y="2302"/>
                  <a:pt x="245" y="2384"/>
                  <a:pt x="246" y="2470"/>
                </a:cubicBezTo>
                <a:cubicBezTo>
                  <a:pt x="247" y="2556"/>
                  <a:pt x="138" y="2654"/>
                  <a:pt x="137" y="2728"/>
                </a:cubicBezTo>
                <a:cubicBezTo>
                  <a:pt x="136" y="2802"/>
                  <a:pt x="237" y="2850"/>
                  <a:pt x="238" y="2915"/>
                </a:cubicBezTo>
                <a:cubicBezTo>
                  <a:pt x="239" y="2980"/>
                  <a:pt x="137" y="3055"/>
                  <a:pt x="145" y="3117"/>
                </a:cubicBezTo>
                <a:cubicBezTo>
                  <a:pt x="153" y="3179"/>
                  <a:pt x="275" y="3267"/>
                  <a:pt x="285" y="3289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092" name="Rectangle 110"/>
          <p:cNvSpPr>
            <a:spLocks noChangeArrowheads="1"/>
          </p:cNvSpPr>
          <p:nvPr/>
        </p:nvSpPr>
        <p:spPr bwMode="auto">
          <a:xfrm>
            <a:off x="6781800" y="2490788"/>
            <a:ext cx="169863" cy="998537"/>
          </a:xfrm>
          <a:prstGeom prst="rect">
            <a:avLst/>
          </a:prstGeom>
          <a:gradFill rotWithShape="0">
            <a:gsLst>
              <a:gs pos="0">
                <a:srgbClr val="556271"/>
              </a:gs>
              <a:gs pos="50000">
                <a:srgbClr val="B2B2B2"/>
              </a:gs>
              <a:gs pos="100000">
                <a:srgbClr val="556271"/>
              </a:gs>
            </a:gsLst>
            <a:lin ang="2700000" scaled="1"/>
          </a:gra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56271"/>
            </a:extrusionClr>
          </a:sp3d>
        </p:spPr>
        <p:txBody>
          <a:bodyPr anchor="ctr">
            <a:spAutoFit/>
            <a:flatTx/>
          </a:bodyPr>
          <a:lstStyle/>
          <a:p>
            <a:endParaRPr lang="en-US"/>
          </a:p>
        </p:txBody>
      </p:sp>
      <p:graphicFrame>
        <p:nvGraphicFramePr>
          <p:cNvPr id="3074" name="Object 111"/>
          <p:cNvGraphicFramePr>
            <a:graphicFrameLocks noChangeAspect="1"/>
          </p:cNvGraphicFramePr>
          <p:nvPr/>
        </p:nvGraphicFramePr>
        <p:xfrm>
          <a:off x="7523770" y="4464547"/>
          <a:ext cx="1247775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9" imgW="1714739" imgH="1714739" progId="">
                  <p:embed/>
                </p:oleObj>
              </mc:Choice>
              <mc:Fallback>
                <p:oleObj name="Photo Editor Photo" r:id="rId9" imgW="1714739" imgH="1714739" progId="">
                  <p:embed/>
                  <p:pic>
                    <p:nvPicPr>
                      <p:cNvPr id="3074" name="Object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3770" y="4464547"/>
                        <a:ext cx="1247775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3" name="Rectangle 112"/>
          <p:cNvSpPr>
            <a:spLocks noChangeArrowheads="1"/>
          </p:cNvSpPr>
          <p:nvPr/>
        </p:nvSpPr>
        <p:spPr bwMode="auto">
          <a:xfrm rot="16200000" flipV="1">
            <a:off x="7961920" y="3939085"/>
            <a:ext cx="111125" cy="850900"/>
          </a:xfrm>
          <a:prstGeom prst="rect">
            <a:avLst/>
          </a:prstGeom>
          <a:gradFill rotWithShape="0">
            <a:gsLst>
              <a:gs pos="0">
                <a:srgbClr val="556271"/>
              </a:gs>
              <a:gs pos="50000">
                <a:srgbClr val="B2B2B2"/>
              </a:gs>
              <a:gs pos="100000">
                <a:srgbClr val="556271"/>
              </a:gs>
            </a:gsLst>
            <a:lin ang="2700000" scaled="1"/>
          </a:gra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56271"/>
            </a:extrusionClr>
          </a:sp3d>
        </p:spPr>
        <p:txBody>
          <a:bodyPr anchor="ctr">
            <a:spAutoFit/>
            <a:flatTx/>
          </a:bodyPr>
          <a:lstStyle/>
          <a:p>
            <a:endParaRPr lang="en-US"/>
          </a:p>
        </p:txBody>
      </p:sp>
      <p:graphicFrame>
        <p:nvGraphicFramePr>
          <p:cNvPr id="3075" name="Object 116"/>
          <p:cNvGraphicFramePr>
            <a:graphicFrameLocks noChangeAspect="1"/>
          </p:cNvGraphicFramePr>
          <p:nvPr/>
        </p:nvGraphicFramePr>
        <p:xfrm>
          <a:off x="7848600" y="2514600"/>
          <a:ext cx="990600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11" imgW="1714739" imgH="1133633" progId="">
                  <p:embed/>
                </p:oleObj>
              </mc:Choice>
              <mc:Fallback>
                <p:oleObj name="Photo Editor Photo" r:id="rId11" imgW="1714739" imgH="1133633" progId="">
                  <p:embed/>
                  <p:pic>
                    <p:nvPicPr>
                      <p:cNvPr id="3075" name="Object 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2514600"/>
                        <a:ext cx="990600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5" name="Freeform 120"/>
          <p:cNvSpPr>
            <a:spLocks/>
          </p:cNvSpPr>
          <p:nvPr/>
        </p:nvSpPr>
        <p:spPr bwMode="auto">
          <a:xfrm>
            <a:off x="7288213" y="2233613"/>
            <a:ext cx="261937" cy="1462087"/>
          </a:xfrm>
          <a:custGeom>
            <a:avLst/>
            <a:gdLst>
              <a:gd name="T0" fmla="*/ 2147483647 w 153"/>
              <a:gd name="T1" fmla="*/ 0 h 921"/>
              <a:gd name="T2" fmla="*/ 2147483647 w 153"/>
              <a:gd name="T3" fmla="*/ 2147483647 h 921"/>
              <a:gd name="T4" fmla="*/ 2147483647 w 153"/>
              <a:gd name="T5" fmla="*/ 2147483647 h 921"/>
              <a:gd name="T6" fmla="*/ 2147483647 w 153"/>
              <a:gd name="T7" fmla="*/ 2147483647 h 921"/>
              <a:gd name="T8" fmla="*/ 0 w 153"/>
              <a:gd name="T9" fmla="*/ 2147483647 h 9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921"/>
              <a:gd name="T17" fmla="*/ 153 w 153"/>
              <a:gd name="T18" fmla="*/ 921 h 9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921">
                <a:moveTo>
                  <a:pt x="36" y="0"/>
                </a:moveTo>
                <a:cubicBezTo>
                  <a:pt x="78" y="108"/>
                  <a:pt x="121" y="217"/>
                  <a:pt x="137" y="320"/>
                </a:cubicBezTo>
                <a:cubicBezTo>
                  <a:pt x="153" y="423"/>
                  <a:pt x="140" y="543"/>
                  <a:pt x="131" y="618"/>
                </a:cubicBezTo>
                <a:cubicBezTo>
                  <a:pt x="122" y="693"/>
                  <a:pt x="105" y="722"/>
                  <a:pt x="83" y="772"/>
                </a:cubicBezTo>
                <a:cubicBezTo>
                  <a:pt x="61" y="822"/>
                  <a:pt x="16" y="891"/>
                  <a:pt x="0" y="921"/>
                </a:cubicBezTo>
              </a:path>
            </a:pathLst>
          </a:custGeom>
          <a:noFill/>
          <a:ln w="9525">
            <a:solidFill>
              <a:srgbClr val="66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96" name="Freeform 121"/>
          <p:cNvSpPr>
            <a:spLocks/>
          </p:cNvSpPr>
          <p:nvPr/>
        </p:nvSpPr>
        <p:spPr bwMode="auto">
          <a:xfrm>
            <a:off x="7458075" y="1981200"/>
            <a:ext cx="309563" cy="2009775"/>
          </a:xfrm>
          <a:custGeom>
            <a:avLst/>
            <a:gdLst>
              <a:gd name="T0" fmla="*/ 2147483647 w 153"/>
              <a:gd name="T1" fmla="*/ 0 h 921"/>
              <a:gd name="T2" fmla="*/ 2147483647 w 153"/>
              <a:gd name="T3" fmla="*/ 2147483647 h 921"/>
              <a:gd name="T4" fmla="*/ 2147483647 w 153"/>
              <a:gd name="T5" fmla="*/ 2147483647 h 921"/>
              <a:gd name="T6" fmla="*/ 2147483647 w 153"/>
              <a:gd name="T7" fmla="*/ 2147483647 h 921"/>
              <a:gd name="T8" fmla="*/ 0 w 153"/>
              <a:gd name="T9" fmla="*/ 2147483647 h 9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921"/>
              <a:gd name="T17" fmla="*/ 153 w 153"/>
              <a:gd name="T18" fmla="*/ 921 h 9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921">
                <a:moveTo>
                  <a:pt x="36" y="0"/>
                </a:moveTo>
                <a:cubicBezTo>
                  <a:pt x="78" y="108"/>
                  <a:pt x="121" y="217"/>
                  <a:pt x="137" y="320"/>
                </a:cubicBezTo>
                <a:cubicBezTo>
                  <a:pt x="153" y="423"/>
                  <a:pt x="140" y="543"/>
                  <a:pt x="131" y="618"/>
                </a:cubicBezTo>
                <a:cubicBezTo>
                  <a:pt x="122" y="693"/>
                  <a:pt x="105" y="722"/>
                  <a:pt x="83" y="772"/>
                </a:cubicBezTo>
                <a:cubicBezTo>
                  <a:pt x="61" y="822"/>
                  <a:pt x="16" y="891"/>
                  <a:pt x="0" y="921"/>
                </a:cubicBezTo>
              </a:path>
            </a:pathLst>
          </a:custGeom>
          <a:noFill/>
          <a:ln w="9525">
            <a:solidFill>
              <a:srgbClr val="66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97" name="Freeform 122"/>
          <p:cNvSpPr>
            <a:spLocks/>
          </p:cNvSpPr>
          <p:nvPr/>
        </p:nvSpPr>
        <p:spPr bwMode="auto">
          <a:xfrm>
            <a:off x="7224713" y="2555875"/>
            <a:ext cx="111125" cy="792163"/>
          </a:xfrm>
          <a:custGeom>
            <a:avLst/>
            <a:gdLst>
              <a:gd name="T0" fmla="*/ 2147483647 w 153"/>
              <a:gd name="T1" fmla="*/ 0 h 921"/>
              <a:gd name="T2" fmla="*/ 2147483647 w 153"/>
              <a:gd name="T3" fmla="*/ 2147483647 h 921"/>
              <a:gd name="T4" fmla="*/ 2147483647 w 153"/>
              <a:gd name="T5" fmla="*/ 2147483647 h 921"/>
              <a:gd name="T6" fmla="*/ 2147483647 w 153"/>
              <a:gd name="T7" fmla="*/ 2147483647 h 921"/>
              <a:gd name="T8" fmla="*/ 0 w 153"/>
              <a:gd name="T9" fmla="*/ 2147483647 h 9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921"/>
              <a:gd name="T17" fmla="*/ 153 w 153"/>
              <a:gd name="T18" fmla="*/ 921 h 9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921">
                <a:moveTo>
                  <a:pt x="36" y="0"/>
                </a:moveTo>
                <a:cubicBezTo>
                  <a:pt x="78" y="108"/>
                  <a:pt x="121" y="217"/>
                  <a:pt x="137" y="320"/>
                </a:cubicBezTo>
                <a:cubicBezTo>
                  <a:pt x="153" y="423"/>
                  <a:pt x="140" y="543"/>
                  <a:pt x="131" y="618"/>
                </a:cubicBezTo>
                <a:cubicBezTo>
                  <a:pt x="122" y="693"/>
                  <a:pt x="105" y="722"/>
                  <a:pt x="83" y="772"/>
                </a:cubicBezTo>
                <a:cubicBezTo>
                  <a:pt x="61" y="822"/>
                  <a:pt x="16" y="891"/>
                  <a:pt x="0" y="921"/>
                </a:cubicBezTo>
              </a:path>
            </a:pathLst>
          </a:custGeom>
          <a:noFill/>
          <a:ln w="9525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grpSp>
        <p:nvGrpSpPr>
          <p:cNvPr id="7" name="Group 124"/>
          <p:cNvGrpSpPr>
            <a:grpSpLocks/>
          </p:cNvGrpSpPr>
          <p:nvPr/>
        </p:nvGrpSpPr>
        <p:grpSpPr bwMode="auto">
          <a:xfrm>
            <a:off x="2946400" y="3251201"/>
            <a:ext cx="2100263" cy="688975"/>
            <a:chOff x="1880" y="2036"/>
            <a:chExt cx="1323" cy="434"/>
          </a:xfrm>
        </p:grpSpPr>
        <p:sp>
          <p:nvSpPr>
            <p:cNvPr id="3101" name="Text Box 125"/>
            <p:cNvSpPr txBox="1">
              <a:spLocks noChangeArrowheads="1"/>
            </p:cNvSpPr>
            <p:nvPr/>
          </p:nvSpPr>
          <p:spPr bwMode="auto">
            <a:xfrm>
              <a:off x="1880" y="2036"/>
              <a:ext cx="11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endParaRPr lang="en-US" sz="1600" b="1">
                <a:latin typeface="Tahoma" pitchFamily="34" charset="0"/>
              </a:endParaRPr>
            </a:p>
          </p:txBody>
        </p:sp>
        <p:sp>
          <p:nvSpPr>
            <p:cNvPr id="3102" name="Text Box 127"/>
            <p:cNvSpPr txBox="1">
              <a:spLocks noChangeArrowheads="1"/>
            </p:cNvSpPr>
            <p:nvPr/>
          </p:nvSpPr>
          <p:spPr bwMode="auto">
            <a:xfrm>
              <a:off x="3087" y="2257"/>
              <a:ext cx="11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endParaRPr lang="en-US" sz="1600" b="1">
                <a:latin typeface="Tahoma" pitchFamily="34" charset="0"/>
              </a:endParaRPr>
            </a:p>
          </p:txBody>
        </p:sp>
      </p:grpSp>
      <p:sp>
        <p:nvSpPr>
          <p:cNvPr id="122" name="Freeform 5"/>
          <p:cNvSpPr>
            <a:spLocks/>
          </p:cNvSpPr>
          <p:nvPr/>
        </p:nvSpPr>
        <p:spPr bwMode="auto">
          <a:xfrm rot="10748855" flipH="1">
            <a:off x="6517580" y="1539707"/>
            <a:ext cx="133661" cy="1394331"/>
          </a:xfrm>
          <a:custGeom>
            <a:avLst/>
            <a:gdLst>
              <a:gd name="T0" fmla="*/ 2147483647 w 314"/>
              <a:gd name="T1" fmla="*/ 0 h 3336"/>
              <a:gd name="T2" fmla="*/ 2147483647 w 314"/>
              <a:gd name="T3" fmla="*/ 2147483647 h 3336"/>
              <a:gd name="T4" fmla="*/ 2147483647 w 314"/>
              <a:gd name="T5" fmla="*/ 2147483647 h 3336"/>
              <a:gd name="T6" fmla="*/ 2147483647 w 314"/>
              <a:gd name="T7" fmla="*/ 2147483647 h 3336"/>
              <a:gd name="T8" fmla="*/ 2147483647 w 314"/>
              <a:gd name="T9" fmla="*/ 2147483647 h 3336"/>
              <a:gd name="T10" fmla="*/ 0 w 314"/>
              <a:gd name="T11" fmla="*/ 2147483647 h 3336"/>
              <a:gd name="T12" fmla="*/ 2147483647 w 314"/>
              <a:gd name="T13" fmla="*/ 2147483647 h 3336"/>
              <a:gd name="T14" fmla="*/ 2147483647 w 314"/>
              <a:gd name="T15" fmla="*/ 2147483647 h 3336"/>
              <a:gd name="T16" fmla="*/ 2147483647 w 314"/>
              <a:gd name="T17" fmla="*/ 2147483647 h 3336"/>
              <a:gd name="T18" fmla="*/ 2147483647 w 314"/>
              <a:gd name="T19" fmla="*/ 2147483647 h 3336"/>
              <a:gd name="T20" fmla="*/ 2147483647 w 314"/>
              <a:gd name="T21" fmla="*/ 2147483647 h 3336"/>
              <a:gd name="T22" fmla="*/ 2147483647 w 314"/>
              <a:gd name="T23" fmla="*/ 2147483647 h 3336"/>
              <a:gd name="T24" fmla="*/ 2147483647 w 314"/>
              <a:gd name="T25" fmla="*/ 2147483647 h 3336"/>
              <a:gd name="T26" fmla="*/ 2147483647 w 314"/>
              <a:gd name="T27" fmla="*/ 2147483647 h 3336"/>
              <a:gd name="T28" fmla="*/ 2147483647 w 314"/>
              <a:gd name="T29" fmla="*/ 2147483647 h 3336"/>
              <a:gd name="T30" fmla="*/ 2147483647 w 314"/>
              <a:gd name="T31" fmla="*/ 2147483647 h 33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14"/>
              <a:gd name="T49" fmla="*/ 0 h 3336"/>
              <a:gd name="T50" fmla="*/ 314 w 314"/>
              <a:gd name="T51" fmla="*/ 3336 h 33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14" h="3336">
                <a:moveTo>
                  <a:pt x="87" y="0"/>
                </a:moveTo>
                <a:cubicBezTo>
                  <a:pt x="54" y="47"/>
                  <a:pt x="21" y="95"/>
                  <a:pt x="25" y="140"/>
                </a:cubicBezTo>
                <a:cubicBezTo>
                  <a:pt x="29" y="185"/>
                  <a:pt x="106" y="221"/>
                  <a:pt x="111" y="273"/>
                </a:cubicBezTo>
                <a:cubicBezTo>
                  <a:pt x="116" y="325"/>
                  <a:pt x="50" y="375"/>
                  <a:pt x="56" y="452"/>
                </a:cubicBezTo>
                <a:cubicBezTo>
                  <a:pt x="62" y="529"/>
                  <a:pt x="159" y="655"/>
                  <a:pt x="150" y="733"/>
                </a:cubicBezTo>
                <a:cubicBezTo>
                  <a:pt x="141" y="811"/>
                  <a:pt x="2" y="838"/>
                  <a:pt x="1" y="920"/>
                </a:cubicBezTo>
                <a:cubicBezTo>
                  <a:pt x="0" y="1002"/>
                  <a:pt x="132" y="1131"/>
                  <a:pt x="142" y="1224"/>
                </a:cubicBezTo>
                <a:cubicBezTo>
                  <a:pt x="152" y="1317"/>
                  <a:pt x="56" y="1402"/>
                  <a:pt x="64" y="1481"/>
                </a:cubicBezTo>
                <a:cubicBezTo>
                  <a:pt x="72" y="1560"/>
                  <a:pt x="176" y="1617"/>
                  <a:pt x="188" y="1699"/>
                </a:cubicBezTo>
                <a:cubicBezTo>
                  <a:pt x="200" y="1781"/>
                  <a:pt x="128" y="1876"/>
                  <a:pt x="134" y="1972"/>
                </a:cubicBezTo>
                <a:cubicBezTo>
                  <a:pt x="140" y="2068"/>
                  <a:pt x="233" y="2199"/>
                  <a:pt x="227" y="2276"/>
                </a:cubicBezTo>
                <a:cubicBezTo>
                  <a:pt x="221" y="2353"/>
                  <a:pt x="94" y="2357"/>
                  <a:pt x="95" y="2432"/>
                </a:cubicBezTo>
                <a:cubicBezTo>
                  <a:pt x="96" y="2507"/>
                  <a:pt x="234" y="2646"/>
                  <a:pt x="235" y="2728"/>
                </a:cubicBezTo>
                <a:cubicBezTo>
                  <a:pt x="236" y="2810"/>
                  <a:pt x="90" y="2861"/>
                  <a:pt x="103" y="2923"/>
                </a:cubicBezTo>
                <a:cubicBezTo>
                  <a:pt x="116" y="2985"/>
                  <a:pt x="312" y="3033"/>
                  <a:pt x="313" y="3102"/>
                </a:cubicBezTo>
                <a:cubicBezTo>
                  <a:pt x="314" y="3171"/>
                  <a:pt x="149" y="3301"/>
                  <a:pt x="111" y="333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noAutofit/>
          </a:bodyPr>
          <a:lstStyle/>
          <a:p>
            <a:endParaRPr lang="en-GB"/>
          </a:p>
        </p:txBody>
      </p:sp>
      <p:graphicFrame>
        <p:nvGraphicFramePr>
          <p:cNvPr id="123" name="Object 29"/>
          <p:cNvGraphicFramePr>
            <a:graphicFrameLocks noChangeAspect="1"/>
          </p:cNvGraphicFramePr>
          <p:nvPr/>
        </p:nvGraphicFramePr>
        <p:xfrm>
          <a:off x="6362700" y="990600"/>
          <a:ext cx="533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13" imgW="1428949" imgH="1428949" progId="">
                  <p:embed/>
                </p:oleObj>
              </mc:Choice>
              <mc:Fallback>
                <p:oleObj name="Photo Editor Photo" r:id="rId13" imgW="1428949" imgH="1428949" progId="">
                  <p:embed/>
                  <p:pic>
                    <p:nvPicPr>
                      <p:cNvPr id="123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2700" y="990600"/>
                        <a:ext cx="533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" name="Text Box 29"/>
          <p:cNvSpPr txBox="1">
            <a:spLocks noChangeArrowheads="1"/>
          </p:cNvSpPr>
          <p:nvPr/>
        </p:nvSpPr>
        <p:spPr bwMode="auto">
          <a:xfrm>
            <a:off x="6282190" y="5364215"/>
            <a:ext cx="132361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rgbClr val="336699"/>
                </a:solidFill>
              </a:rPr>
              <a:t>Customer Premises</a:t>
            </a:r>
            <a:endParaRPr lang="en-GB" sz="1600" b="1" dirty="0">
              <a:solidFill>
                <a:srgbClr val="336699"/>
              </a:solidFill>
              <a:latin typeface="Tahoma" pitchFamily="34" charset="0"/>
            </a:endParaRPr>
          </a:p>
        </p:txBody>
      </p:sp>
      <p:sp>
        <p:nvSpPr>
          <p:cNvPr id="78" name="Rectangle 20"/>
          <p:cNvSpPr>
            <a:spLocks noChangeArrowheads="1"/>
          </p:cNvSpPr>
          <p:nvPr/>
        </p:nvSpPr>
        <p:spPr bwMode="auto">
          <a:xfrm>
            <a:off x="2722983" y="381000"/>
            <a:ext cx="37449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  <a:cs typeface="Lucida Sans Unicode" pitchFamily="34" charset="0"/>
              </a:rPr>
              <a:t>Telco Broadband (IPTV) </a:t>
            </a:r>
            <a:endParaRPr lang="en-GB" sz="1800" b="1" dirty="0">
              <a:latin typeface="Lucida Sans Unicode" pitchFamily="34" charset="0"/>
              <a:cs typeface="Lucida Sans Unicode" pitchFamily="34" charset="0"/>
            </a:endParaRPr>
          </a:p>
        </p:txBody>
      </p:sp>
      <p:graphicFrame>
        <p:nvGraphicFramePr>
          <p:cNvPr id="79" name="Object 116"/>
          <p:cNvGraphicFramePr>
            <a:graphicFrameLocks noChangeAspect="1"/>
          </p:cNvGraphicFramePr>
          <p:nvPr/>
        </p:nvGraphicFramePr>
        <p:xfrm>
          <a:off x="7507565" y="1179669"/>
          <a:ext cx="990600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15" imgW="1714739" imgH="1133633" progId="">
                  <p:embed/>
                </p:oleObj>
              </mc:Choice>
              <mc:Fallback>
                <p:oleObj name="Photo Editor Photo" r:id="rId15" imgW="1714739" imgH="1133633" progId="">
                  <p:embed/>
                  <p:pic>
                    <p:nvPicPr>
                      <p:cNvPr id="79" name="Object 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7565" y="1179669"/>
                        <a:ext cx="990600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305" name="Picture 185" descr="Image result for bt sport png"/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63" b="22988"/>
          <a:stretch/>
        </p:blipFill>
        <p:spPr bwMode="auto">
          <a:xfrm>
            <a:off x="105304" y="344363"/>
            <a:ext cx="1502304" cy="32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Lightning Bolt 8"/>
          <p:cNvSpPr/>
          <p:nvPr/>
        </p:nvSpPr>
        <p:spPr bwMode="auto">
          <a:xfrm>
            <a:off x="112872" y="1549108"/>
            <a:ext cx="420688" cy="257711"/>
          </a:xfrm>
          <a:prstGeom prst="lightningBol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5317" name="Picture 197" descr="Image result for netflix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51" y="4597963"/>
            <a:ext cx="687634" cy="42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5098844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40" descr="http://www.clker.com/cliparts/0/P/X/P/D/E/cloud-hi.png">
            <a:extLst>
              <a:ext uri="{FF2B5EF4-FFF2-40B4-BE49-F238E27FC236}">
                <a16:creationId xmlns:a16="http://schemas.microsoft.com/office/drawing/2014/main" id="{B809A86B-382E-4398-8AF9-A3293CE4B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4419110"/>
            <a:ext cx="810900" cy="450050"/>
          </a:xfrm>
          <a:prstGeom prst="rect">
            <a:avLst/>
          </a:prstGeom>
          <a:noFill/>
        </p:spPr>
      </p:pic>
      <p:pic>
        <p:nvPicPr>
          <p:cNvPr id="79" name="Picture 40" descr="http://www.clker.com/cliparts/0/P/X/P/D/E/cloud-hi.png">
            <a:extLst>
              <a:ext uri="{FF2B5EF4-FFF2-40B4-BE49-F238E27FC236}">
                <a16:creationId xmlns:a16="http://schemas.microsoft.com/office/drawing/2014/main" id="{6858EDE4-97AA-46B3-9FF7-A63B365D4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6625" y="2438890"/>
            <a:ext cx="3420380" cy="1898311"/>
          </a:xfrm>
          <a:prstGeom prst="rect">
            <a:avLst/>
          </a:prstGeom>
          <a:noFill/>
        </p:spPr>
      </p:pic>
      <p:grpSp>
        <p:nvGrpSpPr>
          <p:cNvPr id="80" name="Group 2">
            <a:extLst>
              <a:ext uri="{FF2B5EF4-FFF2-40B4-BE49-F238E27FC236}">
                <a16:creationId xmlns:a16="http://schemas.microsoft.com/office/drawing/2014/main" id="{765151DB-E4DC-467F-A17C-AFCB14164045}"/>
              </a:ext>
            </a:extLst>
          </p:cNvPr>
          <p:cNvGrpSpPr>
            <a:grpSpLocks/>
          </p:cNvGrpSpPr>
          <p:nvPr/>
        </p:nvGrpSpPr>
        <p:grpSpPr bwMode="auto">
          <a:xfrm>
            <a:off x="139700" y="3489325"/>
            <a:ext cx="1101725" cy="1196975"/>
            <a:chOff x="88" y="2198"/>
            <a:chExt cx="694" cy="754"/>
          </a:xfrm>
        </p:grpSpPr>
        <p:grpSp>
          <p:nvGrpSpPr>
            <p:cNvPr id="81" name="Group 3">
              <a:extLst>
                <a:ext uri="{FF2B5EF4-FFF2-40B4-BE49-F238E27FC236}">
                  <a16:creationId xmlns:a16="http://schemas.microsoft.com/office/drawing/2014/main" id="{224719E6-B3F2-4F81-93D2-D45716B03B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" y="2198"/>
              <a:ext cx="390" cy="207"/>
              <a:chOff x="150" y="2198"/>
              <a:chExt cx="390" cy="207"/>
            </a:xfrm>
          </p:grpSpPr>
          <p:sp>
            <p:nvSpPr>
              <p:cNvPr id="83" name="Freeform 4">
                <a:extLst>
                  <a:ext uri="{FF2B5EF4-FFF2-40B4-BE49-F238E27FC236}">
                    <a16:creationId xmlns:a16="http://schemas.microsoft.com/office/drawing/2014/main" id="{D83B9E76-19AE-466F-BD7F-AA16F82C3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" y="2213"/>
                <a:ext cx="79" cy="186"/>
              </a:xfrm>
              <a:custGeom>
                <a:avLst/>
                <a:gdLst>
                  <a:gd name="T0" fmla="*/ 0 w 99"/>
                  <a:gd name="T1" fmla="*/ 0 h 257"/>
                  <a:gd name="T2" fmla="*/ 3 w 99"/>
                  <a:gd name="T3" fmla="*/ 20 h 257"/>
                  <a:gd name="T4" fmla="*/ 17 w 99"/>
                  <a:gd name="T5" fmla="*/ 18 h 257"/>
                  <a:gd name="T6" fmla="*/ 15 w 99"/>
                  <a:gd name="T7" fmla="*/ 7 h 257"/>
                  <a:gd name="T8" fmla="*/ 14 w 99"/>
                  <a:gd name="T9" fmla="*/ 5 h 257"/>
                  <a:gd name="T10" fmla="*/ 14 w 99"/>
                  <a:gd name="T11" fmla="*/ 0 h 257"/>
                  <a:gd name="T12" fmla="*/ 2 w 99"/>
                  <a:gd name="T13" fmla="*/ 0 h 257"/>
                  <a:gd name="T14" fmla="*/ 0 w 99"/>
                  <a:gd name="T15" fmla="*/ 0 h 25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9"/>
                  <a:gd name="T25" fmla="*/ 0 h 257"/>
                  <a:gd name="T26" fmla="*/ 99 w 99"/>
                  <a:gd name="T27" fmla="*/ 257 h 25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9" h="257">
                    <a:moveTo>
                      <a:pt x="0" y="0"/>
                    </a:moveTo>
                    <a:lnTo>
                      <a:pt x="20" y="257"/>
                    </a:lnTo>
                    <a:lnTo>
                      <a:pt x="99" y="247"/>
                    </a:lnTo>
                    <a:lnTo>
                      <a:pt x="94" y="79"/>
                    </a:lnTo>
                    <a:lnTo>
                      <a:pt x="89" y="69"/>
                    </a:lnTo>
                    <a:lnTo>
                      <a:pt x="89" y="0"/>
                    </a:lnTo>
                    <a:lnTo>
                      <a:pt x="1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D2A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84" name="Freeform 5">
                <a:extLst>
                  <a:ext uri="{FF2B5EF4-FFF2-40B4-BE49-F238E27FC236}">
                    <a16:creationId xmlns:a16="http://schemas.microsoft.com/office/drawing/2014/main" id="{DF1B51ED-55F9-4036-ABE1-E37481A8FA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" y="2202"/>
                <a:ext cx="87" cy="197"/>
              </a:xfrm>
              <a:custGeom>
                <a:avLst/>
                <a:gdLst>
                  <a:gd name="T0" fmla="*/ 17 w 109"/>
                  <a:gd name="T1" fmla="*/ 0 h 272"/>
                  <a:gd name="T2" fmla="*/ 14 w 109"/>
                  <a:gd name="T3" fmla="*/ 7 h 272"/>
                  <a:gd name="T4" fmla="*/ 18 w 109"/>
                  <a:gd name="T5" fmla="*/ 7 h 272"/>
                  <a:gd name="T6" fmla="*/ 18 w 109"/>
                  <a:gd name="T7" fmla="*/ 20 h 272"/>
                  <a:gd name="T8" fmla="*/ 0 w 109"/>
                  <a:gd name="T9" fmla="*/ 20 h 272"/>
                  <a:gd name="T10" fmla="*/ 2 w 109"/>
                  <a:gd name="T11" fmla="*/ 3 h 272"/>
                  <a:gd name="T12" fmla="*/ 3 w 109"/>
                  <a:gd name="T13" fmla="*/ 20 h 272"/>
                  <a:gd name="T14" fmla="*/ 15 w 109"/>
                  <a:gd name="T15" fmla="*/ 20 h 272"/>
                  <a:gd name="T16" fmla="*/ 15 w 109"/>
                  <a:gd name="T17" fmla="*/ 7 h 272"/>
                  <a:gd name="T18" fmla="*/ 14 w 109"/>
                  <a:gd name="T19" fmla="*/ 7 h 272"/>
                  <a:gd name="T20" fmla="*/ 14 w 109"/>
                  <a:gd name="T21" fmla="*/ 1 h 272"/>
                  <a:gd name="T22" fmla="*/ 2 w 109"/>
                  <a:gd name="T23" fmla="*/ 1 h 272"/>
                  <a:gd name="T24" fmla="*/ 17 w 109"/>
                  <a:gd name="T25" fmla="*/ 0 h 27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09"/>
                  <a:gd name="T40" fmla="*/ 0 h 272"/>
                  <a:gd name="T41" fmla="*/ 109 w 109"/>
                  <a:gd name="T42" fmla="*/ 272 h 27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09" h="272">
                    <a:moveTo>
                      <a:pt x="99" y="0"/>
                    </a:moveTo>
                    <a:lnTo>
                      <a:pt x="89" y="79"/>
                    </a:lnTo>
                    <a:lnTo>
                      <a:pt x="104" y="94"/>
                    </a:lnTo>
                    <a:lnTo>
                      <a:pt x="109" y="272"/>
                    </a:lnTo>
                    <a:lnTo>
                      <a:pt x="0" y="272"/>
                    </a:lnTo>
                    <a:lnTo>
                      <a:pt x="5" y="40"/>
                    </a:lnTo>
                    <a:lnTo>
                      <a:pt x="20" y="262"/>
                    </a:lnTo>
                    <a:lnTo>
                      <a:pt x="94" y="257"/>
                    </a:lnTo>
                    <a:lnTo>
                      <a:pt x="94" y="94"/>
                    </a:lnTo>
                    <a:lnTo>
                      <a:pt x="79" y="89"/>
                    </a:lnTo>
                    <a:lnTo>
                      <a:pt x="79" y="20"/>
                    </a:lnTo>
                    <a:lnTo>
                      <a:pt x="10" y="15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D19E4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85" name="Freeform 6">
                <a:extLst>
                  <a:ext uri="{FF2B5EF4-FFF2-40B4-BE49-F238E27FC236}">
                    <a16:creationId xmlns:a16="http://schemas.microsoft.com/office/drawing/2014/main" id="{DDE73937-E4D0-4EB9-8341-1ABDFA074E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" y="2224"/>
                <a:ext cx="12" cy="39"/>
              </a:xfrm>
              <a:custGeom>
                <a:avLst/>
                <a:gdLst>
                  <a:gd name="T0" fmla="*/ 0 w 15"/>
                  <a:gd name="T1" fmla="*/ 0 h 54"/>
                  <a:gd name="T2" fmla="*/ 2 w 15"/>
                  <a:gd name="T3" fmla="*/ 0 h 54"/>
                  <a:gd name="T4" fmla="*/ 2 w 15"/>
                  <a:gd name="T5" fmla="*/ 4 h 54"/>
                  <a:gd name="T6" fmla="*/ 0 w 15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54"/>
                  <a:gd name="T14" fmla="*/ 15 w 15"/>
                  <a:gd name="T15" fmla="*/ 54 h 5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54">
                    <a:moveTo>
                      <a:pt x="0" y="0"/>
                    </a:moveTo>
                    <a:lnTo>
                      <a:pt x="15" y="0"/>
                    </a:lnTo>
                    <a:lnTo>
                      <a:pt x="10" y="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19E4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86" name="Freeform 7">
                <a:extLst>
                  <a:ext uri="{FF2B5EF4-FFF2-40B4-BE49-F238E27FC236}">
                    <a16:creationId xmlns:a16="http://schemas.microsoft.com/office/drawing/2014/main" id="{B62470DC-060C-4348-8974-DCA103F63D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" y="2281"/>
                <a:ext cx="51" cy="11"/>
              </a:xfrm>
              <a:custGeom>
                <a:avLst/>
                <a:gdLst>
                  <a:gd name="T0" fmla="*/ 0 w 64"/>
                  <a:gd name="T1" fmla="*/ 1 h 15"/>
                  <a:gd name="T2" fmla="*/ 7 w 64"/>
                  <a:gd name="T3" fmla="*/ 0 h 15"/>
                  <a:gd name="T4" fmla="*/ 11 w 64"/>
                  <a:gd name="T5" fmla="*/ 0 h 15"/>
                  <a:gd name="T6" fmla="*/ 11 w 64"/>
                  <a:gd name="T7" fmla="*/ 1 h 15"/>
                  <a:gd name="T8" fmla="*/ 7 w 64"/>
                  <a:gd name="T9" fmla="*/ 1 h 15"/>
                  <a:gd name="T10" fmla="*/ 0 w 64"/>
                  <a:gd name="T11" fmla="*/ 1 h 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4"/>
                  <a:gd name="T19" fmla="*/ 0 h 15"/>
                  <a:gd name="T20" fmla="*/ 64 w 64"/>
                  <a:gd name="T21" fmla="*/ 15 h 1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4" h="15">
                    <a:moveTo>
                      <a:pt x="0" y="10"/>
                    </a:moveTo>
                    <a:lnTo>
                      <a:pt x="45" y="0"/>
                    </a:lnTo>
                    <a:lnTo>
                      <a:pt x="64" y="0"/>
                    </a:lnTo>
                    <a:lnTo>
                      <a:pt x="64" y="15"/>
                    </a:lnTo>
                    <a:lnTo>
                      <a:pt x="45" y="5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D19E4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87" name="Freeform 8">
                <a:extLst>
                  <a:ext uri="{FF2B5EF4-FFF2-40B4-BE49-F238E27FC236}">
                    <a16:creationId xmlns:a16="http://schemas.microsoft.com/office/drawing/2014/main" id="{3B6DA285-3BD6-4900-B1BA-5810B98D8F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" y="2292"/>
                <a:ext cx="51" cy="14"/>
              </a:xfrm>
              <a:custGeom>
                <a:avLst/>
                <a:gdLst>
                  <a:gd name="T0" fmla="*/ 0 w 64"/>
                  <a:gd name="T1" fmla="*/ 1 h 20"/>
                  <a:gd name="T2" fmla="*/ 7 w 64"/>
                  <a:gd name="T3" fmla="*/ 0 h 20"/>
                  <a:gd name="T4" fmla="*/ 11 w 64"/>
                  <a:gd name="T5" fmla="*/ 1 h 20"/>
                  <a:gd name="T6" fmla="*/ 11 w 64"/>
                  <a:gd name="T7" fmla="*/ 1 h 20"/>
                  <a:gd name="T8" fmla="*/ 7 w 64"/>
                  <a:gd name="T9" fmla="*/ 1 h 20"/>
                  <a:gd name="T10" fmla="*/ 0 w 64"/>
                  <a:gd name="T11" fmla="*/ 1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4"/>
                  <a:gd name="T19" fmla="*/ 0 h 20"/>
                  <a:gd name="T20" fmla="*/ 64 w 64"/>
                  <a:gd name="T21" fmla="*/ 20 h 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4" h="20">
                    <a:moveTo>
                      <a:pt x="0" y="5"/>
                    </a:moveTo>
                    <a:lnTo>
                      <a:pt x="45" y="0"/>
                    </a:lnTo>
                    <a:lnTo>
                      <a:pt x="64" y="5"/>
                    </a:lnTo>
                    <a:lnTo>
                      <a:pt x="64" y="20"/>
                    </a:lnTo>
                    <a:lnTo>
                      <a:pt x="45" y="1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D19E4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88" name="Freeform 9">
                <a:extLst>
                  <a:ext uri="{FF2B5EF4-FFF2-40B4-BE49-F238E27FC236}">
                    <a16:creationId xmlns:a16="http://schemas.microsoft.com/office/drawing/2014/main" id="{37033625-1FBB-4849-AF18-B17F66C43C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" y="2219"/>
                <a:ext cx="79" cy="186"/>
              </a:xfrm>
              <a:custGeom>
                <a:avLst/>
                <a:gdLst>
                  <a:gd name="T0" fmla="*/ 0 w 99"/>
                  <a:gd name="T1" fmla="*/ 0 h 257"/>
                  <a:gd name="T2" fmla="*/ 3 w 99"/>
                  <a:gd name="T3" fmla="*/ 20 h 257"/>
                  <a:gd name="T4" fmla="*/ 17 w 99"/>
                  <a:gd name="T5" fmla="*/ 18 h 257"/>
                  <a:gd name="T6" fmla="*/ 15 w 99"/>
                  <a:gd name="T7" fmla="*/ 7 h 257"/>
                  <a:gd name="T8" fmla="*/ 14 w 99"/>
                  <a:gd name="T9" fmla="*/ 5 h 257"/>
                  <a:gd name="T10" fmla="*/ 14 w 99"/>
                  <a:gd name="T11" fmla="*/ 0 h 257"/>
                  <a:gd name="T12" fmla="*/ 2 w 99"/>
                  <a:gd name="T13" fmla="*/ 0 h 257"/>
                  <a:gd name="T14" fmla="*/ 0 w 99"/>
                  <a:gd name="T15" fmla="*/ 0 h 25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9"/>
                  <a:gd name="T25" fmla="*/ 0 h 257"/>
                  <a:gd name="T26" fmla="*/ 99 w 99"/>
                  <a:gd name="T27" fmla="*/ 257 h 25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9" h="257">
                    <a:moveTo>
                      <a:pt x="0" y="0"/>
                    </a:moveTo>
                    <a:lnTo>
                      <a:pt x="20" y="257"/>
                    </a:lnTo>
                    <a:lnTo>
                      <a:pt x="99" y="247"/>
                    </a:lnTo>
                    <a:lnTo>
                      <a:pt x="94" y="79"/>
                    </a:lnTo>
                    <a:lnTo>
                      <a:pt x="89" y="69"/>
                    </a:lnTo>
                    <a:lnTo>
                      <a:pt x="89" y="0"/>
                    </a:lnTo>
                    <a:lnTo>
                      <a:pt x="1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D2A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89" name="Freeform 10">
                <a:extLst>
                  <a:ext uri="{FF2B5EF4-FFF2-40B4-BE49-F238E27FC236}">
                    <a16:creationId xmlns:a16="http://schemas.microsoft.com/office/drawing/2014/main" id="{A3A0C1E1-AFAC-4CD3-AA77-B368924FFF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" y="2208"/>
                <a:ext cx="86" cy="197"/>
              </a:xfrm>
              <a:custGeom>
                <a:avLst/>
                <a:gdLst>
                  <a:gd name="T0" fmla="*/ 15 w 109"/>
                  <a:gd name="T1" fmla="*/ 0 h 272"/>
                  <a:gd name="T2" fmla="*/ 13 w 109"/>
                  <a:gd name="T3" fmla="*/ 7 h 272"/>
                  <a:gd name="T4" fmla="*/ 16 w 109"/>
                  <a:gd name="T5" fmla="*/ 7 h 272"/>
                  <a:gd name="T6" fmla="*/ 17 w 109"/>
                  <a:gd name="T7" fmla="*/ 20 h 272"/>
                  <a:gd name="T8" fmla="*/ 0 w 109"/>
                  <a:gd name="T9" fmla="*/ 20 h 272"/>
                  <a:gd name="T10" fmla="*/ 2 w 109"/>
                  <a:gd name="T11" fmla="*/ 3 h 272"/>
                  <a:gd name="T12" fmla="*/ 3 w 109"/>
                  <a:gd name="T13" fmla="*/ 20 h 272"/>
                  <a:gd name="T14" fmla="*/ 13 w 109"/>
                  <a:gd name="T15" fmla="*/ 20 h 272"/>
                  <a:gd name="T16" fmla="*/ 13 w 109"/>
                  <a:gd name="T17" fmla="*/ 7 h 272"/>
                  <a:gd name="T18" fmla="*/ 12 w 109"/>
                  <a:gd name="T19" fmla="*/ 7 h 272"/>
                  <a:gd name="T20" fmla="*/ 12 w 109"/>
                  <a:gd name="T21" fmla="*/ 1 h 272"/>
                  <a:gd name="T22" fmla="*/ 2 w 109"/>
                  <a:gd name="T23" fmla="*/ 1 h 272"/>
                  <a:gd name="T24" fmla="*/ 15 w 109"/>
                  <a:gd name="T25" fmla="*/ 0 h 27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09"/>
                  <a:gd name="T40" fmla="*/ 0 h 272"/>
                  <a:gd name="T41" fmla="*/ 109 w 109"/>
                  <a:gd name="T42" fmla="*/ 272 h 27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09" h="272">
                    <a:moveTo>
                      <a:pt x="99" y="0"/>
                    </a:moveTo>
                    <a:lnTo>
                      <a:pt x="89" y="79"/>
                    </a:lnTo>
                    <a:lnTo>
                      <a:pt x="104" y="94"/>
                    </a:lnTo>
                    <a:lnTo>
                      <a:pt x="109" y="272"/>
                    </a:lnTo>
                    <a:lnTo>
                      <a:pt x="0" y="272"/>
                    </a:lnTo>
                    <a:lnTo>
                      <a:pt x="5" y="40"/>
                    </a:lnTo>
                    <a:lnTo>
                      <a:pt x="20" y="262"/>
                    </a:lnTo>
                    <a:lnTo>
                      <a:pt x="94" y="257"/>
                    </a:lnTo>
                    <a:lnTo>
                      <a:pt x="94" y="94"/>
                    </a:lnTo>
                    <a:lnTo>
                      <a:pt x="79" y="89"/>
                    </a:lnTo>
                    <a:lnTo>
                      <a:pt x="79" y="20"/>
                    </a:lnTo>
                    <a:lnTo>
                      <a:pt x="10" y="15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D19E4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90" name="Freeform 11">
                <a:extLst>
                  <a:ext uri="{FF2B5EF4-FFF2-40B4-BE49-F238E27FC236}">
                    <a16:creationId xmlns:a16="http://schemas.microsoft.com/office/drawing/2014/main" id="{13C566BA-9E54-4F53-A857-BF8D96F1A7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" y="2229"/>
                <a:ext cx="12" cy="39"/>
              </a:xfrm>
              <a:custGeom>
                <a:avLst/>
                <a:gdLst>
                  <a:gd name="T0" fmla="*/ 0 w 15"/>
                  <a:gd name="T1" fmla="*/ 0 h 54"/>
                  <a:gd name="T2" fmla="*/ 2 w 15"/>
                  <a:gd name="T3" fmla="*/ 0 h 54"/>
                  <a:gd name="T4" fmla="*/ 2 w 15"/>
                  <a:gd name="T5" fmla="*/ 4 h 54"/>
                  <a:gd name="T6" fmla="*/ 0 w 15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54"/>
                  <a:gd name="T14" fmla="*/ 15 w 15"/>
                  <a:gd name="T15" fmla="*/ 54 h 5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54">
                    <a:moveTo>
                      <a:pt x="0" y="0"/>
                    </a:moveTo>
                    <a:lnTo>
                      <a:pt x="15" y="0"/>
                    </a:lnTo>
                    <a:lnTo>
                      <a:pt x="10" y="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19E4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91" name="Freeform 12">
                <a:extLst>
                  <a:ext uri="{FF2B5EF4-FFF2-40B4-BE49-F238E27FC236}">
                    <a16:creationId xmlns:a16="http://schemas.microsoft.com/office/drawing/2014/main" id="{C0F469BB-BF28-4FCB-A0E0-76EE11E187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" y="2287"/>
                <a:ext cx="51" cy="10"/>
              </a:xfrm>
              <a:custGeom>
                <a:avLst/>
                <a:gdLst>
                  <a:gd name="T0" fmla="*/ 0 w 64"/>
                  <a:gd name="T1" fmla="*/ 1 h 15"/>
                  <a:gd name="T2" fmla="*/ 7 w 64"/>
                  <a:gd name="T3" fmla="*/ 0 h 15"/>
                  <a:gd name="T4" fmla="*/ 11 w 64"/>
                  <a:gd name="T5" fmla="*/ 0 h 15"/>
                  <a:gd name="T6" fmla="*/ 11 w 64"/>
                  <a:gd name="T7" fmla="*/ 1 h 15"/>
                  <a:gd name="T8" fmla="*/ 7 w 64"/>
                  <a:gd name="T9" fmla="*/ 1 h 15"/>
                  <a:gd name="T10" fmla="*/ 0 w 64"/>
                  <a:gd name="T11" fmla="*/ 1 h 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4"/>
                  <a:gd name="T19" fmla="*/ 0 h 15"/>
                  <a:gd name="T20" fmla="*/ 64 w 64"/>
                  <a:gd name="T21" fmla="*/ 15 h 1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4" h="15">
                    <a:moveTo>
                      <a:pt x="0" y="10"/>
                    </a:moveTo>
                    <a:lnTo>
                      <a:pt x="45" y="0"/>
                    </a:lnTo>
                    <a:lnTo>
                      <a:pt x="64" y="0"/>
                    </a:lnTo>
                    <a:lnTo>
                      <a:pt x="64" y="15"/>
                    </a:lnTo>
                    <a:lnTo>
                      <a:pt x="45" y="5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D19E4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92" name="Freeform 13">
                <a:extLst>
                  <a:ext uri="{FF2B5EF4-FFF2-40B4-BE49-F238E27FC236}">
                    <a16:creationId xmlns:a16="http://schemas.microsoft.com/office/drawing/2014/main" id="{04EA4E52-9CB1-46F3-8FFF-3E8BA95465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" y="2297"/>
                <a:ext cx="51" cy="15"/>
              </a:xfrm>
              <a:custGeom>
                <a:avLst/>
                <a:gdLst>
                  <a:gd name="T0" fmla="*/ 0 w 64"/>
                  <a:gd name="T1" fmla="*/ 2 h 20"/>
                  <a:gd name="T2" fmla="*/ 7 w 64"/>
                  <a:gd name="T3" fmla="*/ 0 h 20"/>
                  <a:gd name="T4" fmla="*/ 11 w 64"/>
                  <a:gd name="T5" fmla="*/ 2 h 20"/>
                  <a:gd name="T6" fmla="*/ 11 w 64"/>
                  <a:gd name="T7" fmla="*/ 2 h 20"/>
                  <a:gd name="T8" fmla="*/ 7 w 64"/>
                  <a:gd name="T9" fmla="*/ 2 h 20"/>
                  <a:gd name="T10" fmla="*/ 0 w 64"/>
                  <a:gd name="T11" fmla="*/ 2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4"/>
                  <a:gd name="T19" fmla="*/ 0 h 20"/>
                  <a:gd name="T20" fmla="*/ 64 w 64"/>
                  <a:gd name="T21" fmla="*/ 20 h 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4" h="20">
                    <a:moveTo>
                      <a:pt x="0" y="5"/>
                    </a:moveTo>
                    <a:lnTo>
                      <a:pt x="45" y="0"/>
                    </a:lnTo>
                    <a:lnTo>
                      <a:pt x="64" y="5"/>
                    </a:lnTo>
                    <a:lnTo>
                      <a:pt x="64" y="20"/>
                    </a:lnTo>
                    <a:lnTo>
                      <a:pt x="45" y="1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D19E4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93" name="Freeform 14">
                <a:extLst>
                  <a:ext uri="{FF2B5EF4-FFF2-40B4-BE49-F238E27FC236}">
                    <a16:creationId xmlns:a16="http://schemas.microsoft.com/office/drawing/2014/main" id="{B3CDD531-AC1A-44ED-A992-473F0487ED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" y="2209"/>
                <a:ext cx="79" cy="186"/>
              </a:xfrm>
              <a:custGeom>
                <a:avLst/>
                <a:gdLst>
                  <a:gd name="T0" fmla="*/ 0 w 99"/>
                  <a:gd name="T1" fmla="*/ 0 h 257"/>
                  <a:gd name="T2" fmla="*/ 3 w 99"/>
                  <a:gd name="T3" fmla="*/ 20 h 257"/>
                  <a:gd name="T4" fmla="*/ 17 w 99"/>
                  <a:gd name="T5" fmla="*/ 18 h 257"/>
                  <a:gd name="T6" fmla="*/ 15 w 99"/>
                  <a:gd name="T7" fmla="*/ 7 h 257"/>
                  <a:gd name="T8" fmla="*/ 14 w 99"/>
                  <a:gd name="T9" fmla="*/ 5 h 257"/>
                  <a:gd name="T10" fmla="*/ 14 w 99"/>
                  <a:gd name="T11" fmla="*/ 0 h 257"/>
                  <a:gd name="T12" fmla="*/ 2 w 99"/>
                  <a:gd name="T13" fmla="*/ 0 h 257"/>
                  <a:gd name="T14" fmla="*/ 0 w 99"/>
                  <a:gd name="T15" fmla="*/ 0 h 25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9"/>
                  <a:gd name="T25" fmla="*/ 0 h 257"/>
                  <a:gd name="T26" fmla="*/ 99 w 99"/>
                  <a:gd name="T27" fmla="*/ 257 h 25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9" h="257">
                    <a:moveTo>
                      <a:pt x="0" y="0"/>
                    </a:moveTo>
                    <a:lnTo>
                      <a:pt x="20" y="257"/>
                    </a:lnTo>
                    <a:lnTo>
                      <a:pt x="99" y="247"/>
                    </a:lnTo>
                    <a:lnTo>
                      <a:pt x="94" y="79"/>
                    </a:lnTo>
                    <a:lnTo>
                      <a:pt x="89" y="69"/>
                    </a:lnTo>
                    <a:lnTo>
                      <a:pt x="89" y="0"/>
                    </a:lnTo>
                    <a:lnTo>
                      <a:pt x="1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D2A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94" name="Freeform 15">
                <a:extLst>
                  <a:ext uri="{FF2B5EF4-FFF2-40B4-BE49-F238E27FC236}">
                    <a16:creationId xmlns:a16="http://schemas.microsoft.com/office/drawing/2014/main" id="{FE5AD53B-4888-412B-BA58-D30043944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" y="2198"/>
                <a:ext cx="86" cy="197"/>
              </a:xfrm>
              <a:custGeom>
                <a:avLst/>
                <a:gdLst>
                  <a:gd name="T0" fmla="*/ 15 w 109"/>
                  <a:gd name="T1" fmla="*/ 0 h 272"/>
                  <a:gd name="T2" fmla="*/ 13 w 109"/>
                  <a:gd name="T3" fmla="*/ 7 h 272"/>
                  <a:gd name="T4" fmla="*/ 16 w 109"/>
                  <a:gd name="T5" fmla="*/ 7 h 272"/>
                  <a:gd name="T6" fmla="*/ 17 w 109"/>
                  <a:gd name="T7" fmla="*/ 20 h 272"/>
                  <a:gd name="T8" fmla="*/ 0 w 109"/>
                  <a:gd name="T9" fmla="*/ 20 h 272"/>
                  <a:gd name="T10" fmla="*/ 2 w 109"/>
                  <a:gd name="T11" fmla="*/ 3 h 272"/>
                  <a:gd name="T12" fmla="*/ 3 w 109"/>
                  <a:gd name="T13" fmla="*/ 20 h 272"/>
                  <a:gd name="T14" fmla="*/ 13 w 109"/>
                  <a:gd name="T15" fmla="*/ 20 h 272"/>
                  <a:gd name="T16" fmla="*/ 13 w 109"/>
                  <a:gd name="T17" fmla="*/ 7 h 272"/>
                  <a:gd name="T18" fmla="*/ 12 w 109"/>
                  <a:gd name="T19" fmla="*/ 7 h 272"/>
                  <a:gd name="T20" fmla="*/ 12 w 109"/>
                  <a:gd name="T21" fmla="*/ 1 h 272"/>
                  <a:gd name="T22" fmla="*/ 2 w 109"/>
                  <a:gd name="T23" fmla="*/ 1 h 272"/>
                  <a:gd name="T24" fmla="*/ 15 w 109"/>
                  <a:gd name="T25" fmla="*/ 0 h 27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09"/>
                  <a:gd name="T40" fmla="*/ 0 h 272"/>
                  <a:gd name="T41" fmla="*/ 109 w 109"/>
                  <a:gd name="T42" fmla="*/ 272 h 27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09" h="272">
                    <a:moveTo>
                      <a:pt x="99" y="0"/>
                    </a:moveTo>
                    <a:lnTo>
                      <a:pt x="89" y="79"/>
                    </a:lnTo>
                    <a:lnTo>
                      <a:pt x="104" y="94"/>
                    </a:lnTo>
                    <a:lnTo>
                      <a:pt x="109" y="272"/>
                    </a:lnTo>
                    <a:lnTo>
                      <a:pt x="0" y="272"/>
                    </a:lnTo>
                    <a:lnTo>
                      <a:pt x="5" y="40"/>
                    </a:lnTo>
                    <a:lnTo>
                      <a:pt x="20" y="262"/>
                    </a:lnTo>
                    <a:lnTo>
                      <a:pt x="94" y="257"/>
                    </a:lnTo>
                    <a:lnTo>
                      <a:pt x="94" y="94"/>
                    </a:lnTo>
                    <a:lnTo>
                      <a:pt x="79" y="89"/>
                    </a:lnTo>
                    <a:lnTo>
                      <a:pt x="79" y="20"/>
                    </a:lnTo>
                    <a:lnTo>
                      <a:pt x="10" y="15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D19E4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95" name="Freeform 16">
                <a:extLst>
                  <a:ext uri="{FF2B5EF4-FFF2-40B4-BE49-F238E27FC236}">
                    <a16:creationId xmlns:a16="http://schemas.microsoft.com/office/drawing/2014/main" id="{D4C9C21E-C849-4D33-9A4D-5C94783EB3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" y="2219"/>
                <a:ext cx="12" cy="40"/>
              </a:xfrm>
              <a:custGeom>
                <a:avLst/>
                <a:gdLst>
                  <a:gd name="T0" fmla="*/ 0 w 15"/>
                  <a:gd name="T1" fmla="*/ 0 h 54"/>
                  <a:gd name="T2" fmla="*/ 2 w 15"/>
                  <a:gd name="T3" fmla="*/ 0 h 54"/>
                  <a:gd name="T4" fmla="*/ 2 w 15"/>
                  <a:gd name="T5" fmla="*/ 5 h 54"/>
                  <a:gd name="T6" fmla="*/ 0 w 15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54"/>
                  <a:gd name="T14" fmla="*/ 15 w 15"/>
                  <a:gd name="T15" fmla="*/ 54 h 5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54">
                    <a:moveTo>
                      <a:pt x="0" y="0"/>
                    </a:moveTo>
                    <a:lnTo>
                      <a:pt x="15" y="0"/>
                    </a:lnTo>
                    <a:lnTo>
                      <a:pt x="10" y="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19E4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96" name="Freeform 17">
                <a:extLst>
                  <a:ext uri="{FF2B5EF4-FFF2-40B4-BE49-F238E27FC236}">
                    <a16:creationId xmlns:a16="http://schemas.microsoft.com/office/drawing/2014/main" id="{2A500BB0-D707-4E57-8C9F-5B69C59C2B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" y="2277"/>
                <a:ext cx="51" cy="11"/>
              </a:xfrm>
              <a:custGeom>
                <a:avLst/>
                <a:gdLst>
                  <a:gd name="T0" fmla="*/ 0 w 64"/>
                  <a:gd name="T1" fmla="*/ 1 h 15"/>
                  <a:gd name="T2" fmla="*/ 7 w 64"/>
                  <a:gd name="T3" fmla="*/ 0 h 15"/>
                  <a:gd name="T4" fmla="*/ 11 w 64"/>
                  <a:gd name="T5" fmla="*/ 0 h 15"/>
                  <a:gd name="T6" fmla="*/ 11 w 64"/>
                  <a:gd name="T7" fmla="*/ 1 h 15"/>
                  <a:gd name="T8" fmla="*/ 7 w 64"/>
                  <a:gd name="T9" fmla="*/ 1 h 15"/>
                  <a:gd name="T10" fmla="*/ 0 w 64"/>
                  <a:gd name="T11" fmla="*/ 1 h 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4"/>
                  <a:gd name="T19" fmla="*/ 0 h 15"/>
                  <a:gd name="T20" fmla="*/ 64 w 64"/>
                  <a:gd name="T21" fmla="*/ 15 h 1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4" h="15">
                    <a:moveTo>
                      <a:pt x="0" y="10"/>
                    </a:moveTo>
                    <a:lnTo>
                      <a:pt x="45" y="0"/>
                    </a:lnTo>
                    <a:lnTo>
                      <a:pt x="64" y="0"/>
                    </a:lnTo>
                    <a:lnTo>
                      <a:pt x="64" y="15"/>
                    </a:lnTo>
                    <a:lnTo>
                      <a:pt x="45" y="5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D19E4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97" name="Freeform 18">
                <a:extLst>
                  <a:ext uri="{FF2B5EF4-FFF2-40B4-BE49-F238E27FC236}">
                    <a16:creationId xmlns:a16="http://schemas.microsoft.com/office/drawing/2014/main" id="{F0995504-8AF8-464B-8D6D-5ED4E28C81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" y="2288"/>
                <a:ext cx="51" cy="14"/>
              </a:xfrm>
              <a:custGeom>
                <a:avLst/>
                <a:gdLst>
                  <a:gd name="T0" fmla="*/ 0 w 64"/>
                  <a:gd name="T1" fmla="*/ 1 h 20"/>
                  <a:gd name="T2" fmla="*/ 7 w 64"/>
                  <a:gd name="T3" fmla="*/ 0 h 20"/>
                  <a:gd name="T4" fmla="*/ 11 w 64"/>
                  <a:gd name="T5" fmla="*/ 1 h 20"/>
                  <a:gd name="T6" fmla="*/ 11 w 64"/>
                  <a:gd name="T7" fmla="*/ 1 h 20"/>
                  <a:gd name="T8" fmla="*/ 7 w 64"/>
                  <a:gd name="T9" fmla="*/ 1 h 20"/>
                  <a:gd name="T10" fmla="*/ 0 w 64"/>
                  <a:gd name="T11" fmla="*/ 1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4"/>
                  <a:gd name="T19" fmla="*/ 0 h 20"/>
                  <a:gd name="T20" fmla="*/ 64 w 64"/>
                  <a:gd name="T21" fmla="*/ 20 h 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4" h="20">
                    <a:moveTo>
                      <a:pt x="0" y="5"/>
                    </a:moveTo>
                    <a:lnTo>
                      <a:pt x="45" y="0"/>
                    </a:lnTo>
                    <a:lnTo>
                      <a:pt x="64" y="5"/>
                    </a:lnTo>
                    <a:lnTo>
                      <a:pt x="64" y="20"/>
                    </a:lnTo>
                    <a:lnTo>
                      <a:pt x="45" y="1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D19E4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</p:grpSp>
        <p:sp>
          <p:nvSpPr>
            <p:cNvPr id="82" name="Text Box 19">
              <a:extLst>
                <a:ext uri="{FF2B5EF4-FFF2-40B4-BE49-F238E27FC236}">
                  <a16:creationId xmlns:a16="http://schemas.microsoft.com/office/drawing/2014/main" id="{CE930ADD-F110-47D5-A5A7-66A1AD68AB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" y="2429"/>
              <a:ext cx="694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1600" b="1" dirty="0"/>
                <a:t>Walled Garden</a:t>
              </a:r>
            </a:p>
            <a:p>
              <a:endParaRPr lang="en-GB" sz="1600" dirty="0"/>
            </a:p>
          </p:txBody>
        </p:sp>
      </p:grpSp>
      <p:sp>
        <p:nvSpPr>
          <p:cNvPr id="98" name="Text Box 24">
            <a:extLst>
              <a:ext uri="{FF2B5EF4-FFF2-40B4-BE49-F238E27FC236}">
                <a16:creationId xmlns:a16="http://schemas.microsoft.com/office/drawing/2014/main" id="{7D28C266-F0F1-4765-8428-CEAEDBE17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4538663"/>
            <a:ext cx="71365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 b="1"/>
              <a:t>WWW</a:t>
            </a:r>
          </a:p>
        </p:txBody>
      </p:sp>
      <p:grpSp>
        <p:nvGrpSpPr>
          <p:cNvPr id="99" name="Group 25">
            <a:extLst>
              <a:ext uri="{FF2B5EF4-FFF2-40B4-BE49-F238E27FC236}">
                <a16:creationId xmlns:a16="http://schemas.microsoft.com/office/drawing/2014/main" id="{5D538033-27A4-404F-924C-8C259C8B3F15}"/>
              </a:ext>
            </a:extLst>
          </p:cNvPr>
          <p:cNvGrpSpPr>
            <a:grpSpLocks/>
          </p:cNvGrpSpPr>
          <p:nvPr/>
        </p:nvGrpSpPr>
        <p:grpSpPr bwMode="auto">
          <a:xfrm>
            <a:off x="0" y="442913"/>
            <a:ext cx="2755900" cy="2300287"/>
            <a:chOff x="0" y="279"/>
            <a:chExt cx="1736" cy="1449"/>
          </a:xfrm>
        </p:grpSpPr>
        <p:sp>
          <p:nvSpPr>
            <p:cNvPr id="100" name="Rectangle 26">
              <a:extLst>
                <a:ext uri="{FF2B5EF4-FFF2-40B4-BE49-F238E27FC236}">
                  <a16:creationId xmlns:a16="http://schemas.microsoft.com/office/drawing/2014/main" id="{B16404BC-6183-492E-959C-6653C58D4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" y="1010"/>
              <a:ext cx="466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Text Box 27">
              <a:extLst>
                <a:ext uri="{FF2B5EF4-FFF2-40B4-BE49-F238E27FC236}">
                  <a16:creationId xmlns:a16="http://schemas.microsoft.com/office/drawing/2014/main" id="{EAF7C38F-A1A2-487A-B0DC-05A27499CE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5" y="658"/>
              <a:ext cx="74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400" b="1" dirty="0"/>
                <a:t>Middleware</a:t>
              </a:r>
              <a:endParaRPr lang="en-GB" sz="1400" dirty="0"/>
            </a:p>
          </p:txBody>
        </p:sp>
        <p:sp>
          <p:nvSpPr>
            <p:cNvPr id="102" name="Text Box 28">
              <a:extLst>
                <a:ext uri="{FF2B5EF4-FFF2-40B4-BE49-F238E27FC236}">
                  <a16:creationId xmlns:a16="http://schemas.microsoft.com/office/drawing/2014/main" id="{3A49761B-11E3-4FD3-BE26-0F1F639AFF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" y="551"/>
              <a:ext cx="735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400" b="1" dirty="0"/>
                <a:t>VOD Server</a:t>
              </a:r>
              <a:endParaRPr lang="en-GB" sz="1400" dirty="0"/>
            </a:p>
          </p:txBody>
        </p:sp>
        <p:sp>
          <p:nvSpPr>
            <p:cNvPr id="103" name="Text Box 29">
              <a:extLst>
                <a:ext uri="{FF2B5EF4-FFF2-40B4-BE49-F238E27FC236}">
                  <a16:creationId xmlns:a16="http://schemas.microsoft.com/office/drawing/2014/main" id="{CF1051AF-2456-4698-9522-D8701CBB42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104"/>
              <a:ext cx="72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400" b="1" dirty="0"/>
                <a:t>Broadcast  </a:t>
              </a:r>
            </a:p>
            <a:p>
              <a:endParaRPr lang="en-GB" sz="1400" dirty="0"/>
            </a:p>
          </p:txBody>
        </p:sp>
        <p:sp>
          <p:nvSpPr>
            <p:cNvPr id="104" name="Arc 30">
              <a:extLst>
                <a:ext uri="{FF2B5EF4-FFF2-40B4-BE49-F238E27FC236}">
                  <a16:creationId xmlns:a16="http://schemas.microsoft.com/office/drawing/2014/main" id="{82D75BC9-491F-4E23-90A6-B0F2A0D121B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31" y="279"/>
              <a:ext cx="1605" cy="1449"/>
            </a:xfrm>
            <a:custGeom>
              <a:avLst/>
              <a:gdLst>
                <a:gd name="T0" fmla="*/ 0 w 21612"/>
                <a:gd name="T1" fmla="*/ 0 h 24524"/>
                <a:gd name="T2" fmla="*/ 0 w 21612"/>
                <a:gd name="T3" fmla="*/ 0 h 24524"/>
                <a:gd name="T4" fmla="*/ 0 w 21612"/>
                <a:gd name="T5" fmla="*/ 0 h 24524"/>
                <a:gd name="T6" fmla="*/ 0 60000 65536"/>
                <a:gd name="T7" fmla="*/ 0 60000 65536"/>
                <a:gd name="T8" fmla="*/ 0 60000 65536"/>
                <a:gd name="T9" fmla="*/ 0 w 21612"/>
                <a:gd name="T10" fmla="*/ 0 h 24524"/>
                <a:gd name="T11" fmla="*/ 21612 w 21612"/>
                <a:gd name="T12" fmla="*/ 24524 h 245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12" h="24524" fill="none" extrusionOk="0">
                  <a:moveTo>
                    <a:pt x="0" y="0"/>
                  </a:moveTo>
                  <a:cubicBezTo>
                    <a:pt x="4" y="0"/>
                    <a:pt x="8" y="-1"/>
                    <a:pt x="12" y="0"/>
                  </a:cubicBezTo>
                  <a:cubicBezTo>
                    <a:pt x="11941" y="0"/>
                    <a:pt x="21612" y="9670"/>
                    <a:pt x="21612" y="21600"/>
                  </a:cubicBezTo>
                  <a:cubicBezTo>
                    <a:pt x="21612" y="22578"/>
                    <a:pt x="21545" y="23554"/>
                    <a:pt x="21413" y="24524"/>
                  </a:cubicBezTo>
                </a:path>
                <a:path w="21612" h="24524" stroke="0" extrusionOk="0">
                  <a:moveTo>
                    <a:pt x="0" y="0"/>
                  </a:moveTo>
                  <a:cubicBezTo>
                    <a:pt x="4" y="0"/>
                    <a:pt x="8" y="-1"/>
                    <a:pt x="12" y="0"/>
                  </a:cubicBezTo>
                  <a:cubicBezTo>
                    <a:pt x="11941" y="0"/>
                    <a:pt x="21612" y="9670"/>
                    <a:pt x="21612" y="21600"/>
                  </a:cubicBezTo>
                  <a:cubicBezTo>
                    <a:pt x="21612" y="22578"/>
                    <a:pt x="21545" y="23554"/>
                    <a:pt x="21413" y="24524"/>
                  </a:cubicBezTo>
                  <a:lnTo>
                    <a:pt x="12" y="21600"/>
                  </a:lnTo>
                  <a:close/>
                </a:path>
              </a:pathLst>
            </a:custGeom>
            <a:noFill/>
            <a:ln w="19050">
              <a:solidFill>
                <a:srgbClr val="9FB0CF"/>
              </a:solidFill>
              <a:prstDash val="dash"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GB"/>
            </a:p>
          </p:txBody>
        </p:sp>
        <p:sp>
          <p:nvSpPr>
            <p:cNvPr id="105" name="Text Box 31">
              <a:extLst>
                <a:ext uri="{FF2B5EF4-FFF2-40B4-BE49-F238E27FC236}">
                  <a16:creationId xmlns:a16="http://schemas.microsoft.com/office/drawing/2014/main" id="{6EA49B4B-DE89-4CCD-8C78-BF7AB62279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418"/>
              <a:ext cx="114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600" b="1" dirty="0">
                  <a:solidFill>
                    <a:srgbClr val="3333CC"/>
                  </a:solidFill>
                </a:rPr>
                <a:t>Video Head-End</a:t>
              </a:r>
              <a:endParaRPr lang="en-GB" sz="1600" dirty="0">
                <a:solidFill>
                  <a:srgbClr val="3333CC"/>
                </a:solidFill>
              </a:endParaRPr>
            </a:p>
          </p:txBody>
        </p:sp>
        <p:sp>
          <p:nvSpPr>
            <p:cNvPr id="106" name="Rectangle 32">
              <a:extLst>
                <a:ext uri="{FF2B5EF4-FFF2-40B4-BE49-F238E27FC236}">
                  <a16:creationId xmlns:a16="http://schemas.microsoft.com/office/drawing/2014/main" id="{BB14E048-1083-4E09-821B-EED48C2C5E2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51" y="231"/>
              <a:ext cx="181" cy="489"/>
            </a:xfrm>
            <a:prstGeom prst="rect">
              <a:avLst/>
            </a:prstGeom>
            <a:gradFill rotWithShape="0">
              <a:gsLst>
                <a:gs pos="0">
                  <a:srgbClr val="556271"/>
                </a:gs>
                <a:gs pos="50000">
                  <a:srgbClr val="B2B2B2"/>
                </a:gs>
                <a:gs pos="100000">
                  <a:srgbClr val="556271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556271"/>
              </a:extrusionClr>
            </a:sp3d>
          </p:spPr>
          <p:txBody>
            <a:bodyPr anchor="ctr">
              <a:spAutoFit/>
              <a:flatTx/>
            </a:bodyPr>
            <a:lstStyle/>
            <a:p>
              <a:endParaRPr lang="en-US"/>
            </a:p>
          </p:txBody>
        </p:sp>
        <p:sp>
          <p:nvSpPr>
            <p:cNvPr id="107" name="Rectangle 33">
              <a:extLst>
                <a:ext uri="{FF2B5EF4-FFF2-40B4-BE49-F238E27FC236}">
                  <a16:creationId xmlns:a16="http://schemas.microsoft.com/office/drawing/2014/main" id="{D2496E9B-ECC0-4D45-8247-64AD506803D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31" y="995"/>
              <a:ext cx="116" cy="359"/>
            </a:xfrm>
            <a:prstGeom prst="rect">
              <a:avLst/>
            </a:prstGeom>
            <a:gradFill rotWithShape="0">
              <a:gsLst>
                <a:gs pos="0">
                  <a:srgbClr val="556271"/>
                </a:gs>
                <a:gs pos="50000">
                  <a:srgbClr val="B2B2B2"/>
                </a:gs>
                <a:gs pos="100000">
                  <a:srgbClr val="556271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556271"/>
              </a:extrusionClr>
            </a:sp3d>
          </p:spPr>
          <p:txBody>
            <a:bodyPr anchor="ctr">
              <a:spAutoFit/>
              <a:flatTx/>
            </a:bodyPr>
            <a:lstStyle/>
            <a:p>
              <a:endParaRPr lang="en-US"/>
            </a:p>
          </p:txBody>
        </p:sp>
        <p:sp>
          <p:nvSpPr>
            <p:cNvPr id="108" name="Rectangle 34">
              <a:extLst>
                <a:ext uri="{FF2B5EF4-FFF2-40B4-BE49-F238E27FC236}">
                  <a16:creationId xmlns:a16="http://schemas.microsoft.com/office/drawing/2014/main" id="{75AF7FB3-554F-49A4-94FF-4907999D190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172" y="321"/>
              <a:ext cx="85" cy="615"/>
            </a:xfrm>
            <a:prstGeom prst="rect">
              <a:avLst/>
            </a:prstGeom>
            <a:gradFill rotWithShape="0">
              <a:gsLst>
                <a:gs pos="0">
                  <a:srgbClr val="556271"/>
                </a:gs>
                <a:gs pos="50000">
                  <a:srgbClr val="B2B2B2"/>
                </a:gs>
                <a:gs pos="100000">
                  <a:srgbClr val="556271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556271"/>
              </a:extrusionClr>
            </a:sp3d>
          </p:spPr>
          <p:txBody>
            <a:bodyPr anchor="ctr">
              <a:spAutoFit/>
              <a:flatTx/>
            </a:bodyPr>
            <a:lstStyle/>
            <a:p>
              <a:endParaRPr lang="en-US"/>
            </a:p>
          </p:txBody>
        </p:sp>
      </p:grpSp>
      <p:grpSp>
        <p:nvGrpSpPr>
          <p:cNvPr id="109" name="Group 35">
            <a:extLst>
              <a:ext uri="{FF2B5EF4-FFF2-40B4-BE49-F238E27FC236}">
                <a16:creationId xmlns:a16="http://schemas.microsoft.com/office/drawing/2014/main" id="{5EE69F14-7118-4FE9-B4AE-C4DD9332C511}"/>
              </a:ext>
            </a:extLst>
          </p:cNvPr>
          <p:cNvGrpSpPr>
            <a:grpSpLocks/>
          </p:cNvGrpSpPr>
          <p:nvPr/>
        </p:nvGrpSpPr>
        <p:grpSpPr bwMode="auto">
          <a:xfrm>
            <a:off x="339725" y="5334000"/>
            <a:ext cx="1887539" cy="825500"/>
            <a:chOff x="214" y="3360"/>
            <a:chExt cx="1189" cy="520"/>
          </a:xfrm>
        </p:grpSpPr>
        <p:pic>
          <p:nvPicPr>
            <p:cNvPr id="110" name="Picture 36">
              <a:extLst>
                <a:ext uri="{FF2B5EF4-FFF2-40B4-BE49-F238E27FC236}">
                  <a16:creationId xmlns:a16="http://schemas.microsoft.com/office/drawing/2014/main" id="{51999C53-0586-426E-9DCC-3C4BC07FAB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14" y="3360"/>
              <a:ext cx="271" cy="5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1" name="Text Box 37">
              <a:extLst>
                <a:ext uri="{FF2B5EF4-FFF2-40B4-BE49-F238E27FC236}">
                  <a16:creationId xmlns:a16="http://schemas.microsoft.com/office/drawing/2014/main" id="{156D372E-414A-4E1E-A4D7-C4288388ED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" y="3589"/>
              <a:ext cx="885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600" b="1" dirty="0"/>
                <a:t>PSTN access</a:t>
              </a:r>
            </a:p>
          </p:txBody>
        </p:sp>
      </p:grpSp>
      <p:sp>
        <p:nvSpPr>
          <p:cNvPr id="112" name="Rectangle 68">
            <a:extLst>
              <a:ext uri="{FF2B5EF4-FFF2-40B4-BE49-F238E27FC236}">
                <a16:creationId xmlns:a16="http://schemas.microsoft.com/office/drawing/2014/main" id="{CF13F56D-BE5D-4CBA-AE34-5533E2B7B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4538" y="2819401"/>
            <a:ext cx="846138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Box 69">
            <a:extLst>
              <a:ext uri="{FF2B5EF4-FFF2-40B4-BE49-F238E27FC236}">
                <a16:creationId xmlns:a16="http://schemas.microsoft.com/office/drawing/2014/main" id="{ACB49DB6-10F4-44FC-83CF-71EBA74E5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0638" y="3171826"/>
            <a:ext cx="1082675" cy="3381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GB" sz="1600" b="1" dirty="0"/>
              <a:t>IP Router</a:t>
            </a:r>
            <a:endParaRPr lang="en-GB" sz="1600" dirty="0"/>
          </a:p>
        </p:txBody>
      </p:sp>
      <p:pic>
        <p:nvPicPr>
          <p:cNvPr id="114" name="Picture 70">
            <a:extLst>
              <a:ext uri="{FF2B5EF4-FFF2-40B4-BE49-F238E27FC236}">
                <a16:creationId xmlns:a16="http://schemas.microsoft.com/office/drawing/2014/main" id="{1EE1601E-73DE-442C-BB72-40E831815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43201" y="2971801"/>
            <a:ext cx="696913" cy="223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15" name="Group 71">
            <a:extLst>
              <a:ext uri="{FF2B5EF4-FFF2-40B4-BE49-F238E27FC236}">
                <a16:creationId xmlns:a16="http://schemas.microsoft.com/office/drawing/2014/main" id="{8428B976-230C-43F3-8654-1130217444F2}"/>
              </a:ext>
            </a:extLst>
          </p:cNvPr>
          <p:cNvGrpSpPr>
            <a:grpSpLocks/>
          </p:cNvGrpSpPr>
          <p:nvPr/>
        </p:nvGrpSpPr>
        <p:grpSpPr bwMode="auto">
          <a:xfrm rot="4965125" flipH="1">
            <a:off x="6050896" y="2701449"/>
            <a:ext cx="146836" cy="672183"/>
            <a:chOff x="131" y="748"/>
            <a:chExt cx="314" cy="3336"/>
          </a:xfrm>
        </p:grpSpPr>
        <p:sp>
          <p:nvSpPr>
            <p:cNvPr id="116" name="Freeform 72">
              <a:extLst>
                <a:ext uri="{FF2B5EF4-FFF2-40B4-BE49-F238E27FC236}">
                  <a16:creationId xmlns:a16="http://schemas.microsoft.com/office/drawing/2014/main" id="{DDF39BC3-F996-4EAD-85C9-7F6B1B08A7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" y="748"/>
              <a:ext cx="314" cy="3336"/>
            </a:xfrm>
            <a:custGeom>
              <a:avLst/>
              <a:gdLst>
                <a:gd name="T0" fmla="*/ 87 w 314"/>
                <a:gd name="T1" fmla="*/ 0 h 3336"/>
                <a:gd name="T2" fmla="*/ 25 w 314"/>
                <a:gd name="T3" fmla="*/ 140 h 3336"/>
                <a:gd name="T4" fmla="*/ 111 w 314"/>
                <a:gd name="T5" fmla="*/ 273 h 3336"/>
                <a:gd name="T6" fmla="*/ 56 w 314"/>
                <a:gd name="T7" fmla="*/ 452 h 3336"/>
                <a:gd name="T8" fmla="*/ 150 w 314"/>
                <a:gd name="T9" fmla="*/ 733 h 3336"/>
                <a:gd name="T10" fmla="*/ 1 w 314"/>
                <a:gd name="T11" fmla="*/ 920 h 3336"/>
                <a:gd name="T12" fmla="*/ 142 w 314"/>
                <a:gd name="T13" fmla="*/ 1224 h 3336"/>
                <a:gd name="T14" fmla="*/ 64 w 314"/>
                <a:gd name="T15" fmla="*/ 1481 h 3336"/>
                <a:gd name="T16" fmla="*/ 188 w 314"/>
                <a:gd name="T17" fmla="*/ 1699 h 3336"/>
                <a:gd name="T18" fmla="*/ 134 w 314"/>
                <a:gd name="T19" fmla="*/ 1972 h 3336"/>
                <a:gd name="T20" fmla="*/ 227 w 314"/>
                <a:gd name="T21" fmla="*/ 2276 h 3336"/>
                <a:gd name="T22" fmla="*/ 95 w 314"/>
                <a:gd name="T23" fmla="*/ 2432 h 3336"/>
                <a:gd name="T24" fmla="*/ 235 w 314"/>
                <a:gd name="T25" fmla="*/ 2728 h 3336"/>
                <a:gd name="T26" fmla="*/ 103 w 314"/>
                <a:gd name="T27" fmla="*/ 2923 h 3336"/>
                <a:gd name="T28" fmla="*/ 313 w 314"/>
                <a:gd name="T29" fmla="*/ 3102 h 3336"/>
                <a:gd name="T30" fmla="*/ 111 w 314"/>
                <a:gd name="T31" fmla="*/ 3336 h 33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14"/>
                <a:gd name="T49" fmla="*/ 0 h 3336"/>
                <a:gd name="T50" fmla="*/ 314 w 314"/>
                <a:gd name="T51" fmla="*/ 3336 h 33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14" h="3336">
                  <a:moveTo>
                    <a:pt x="87" y="0"/>
                  </a:moveTo>
                  <a:cubicBezTo>
                    <a:pt x="54" y="47"/>
                    <a:pt x="21" y="95"/>
                    <a:pt x="25" y="140"/>
                  </a:cubicBezTo>
                  <a:cubicBezTo>
                    <a:pt x="29" y="185"/>
                    <a:pt x="106" y="221"/>
                    <a:pt x="111" y="273"/>
                  </a:cubicBezTo>
                  <a:cubicBezTo>
                    <a:pt x="116" y="325"/>
                    <a:pt x="50" y="375"/>
                    <a:pt x="56" y="452"/>
                  </a:cubicBezTo>
                  <a:cubicBezTo>
                    <a:pt x="62" y="529"/>
                    <a:pt x="159" y="655"/>
                    <a:pt x="150" y="733"/>
                  </a:cubicBezTo>
                  <a:cubicBezTo>
                    <a:pt x="141" y="811"/>
                    <a:pt x="2" y="838"/>
                    <a:pt x="1" y="920"/>
                  </a:cubicBezTo>
                  <a:cubicBezTo>
                    <a:pt x="0" y="1002"/>
                    <a:pt x="132" y="1131"/>
                    <a:pt x="142" y="1224"/>
                  </a:cubicBezTo>
                  <a:cubicBezTo>
                    <a:pt x="152" y="1317"/>
                    <a:pt x="56" y="1402"/>
                    <a:pt x="64" y="1481"/>
                  </a:cubicBezTo>
                  <a:cubicBezTo>
                    <a:pt x="72" y="1560"/>
                    <a:pt x="176" y="1617"/>
                    <a:pt x="188" y="1699"/>
                  </a:cubicBezTo>
                  <a:cubicBezTo>
                    <a:pt x="200" y="1781"/>
                    <a:pt x="128" y="1876"/>
                    <a:pt x="134" y="1972"/>
                  </a:cubicBezTo>
                  <a:cubicBezTo>
                    <a:pt x="140" y="2068"/>
                    <a:pt x="233" y="2199"/>
                    <a:pt x="227" y="2276"/>
                  </a:cubicBezTo>
                  <a:cubicBezTo>
                    <a:pt x="221" y="2353"/>
                    <a:pt x="94" y="2357"/>
                    <a:pt x="95" y="2432"/>
                  </a:cubicBezTo>
                  <a:cubicBezTo>
                    <a:pt x="96" y="2507"/>
                    <a:pt x="234" y="2646"/>
                    <a:pt x="235" y="2728"/>
                  </a:cubicBezTo>
                  <a:cubicBezTo>
                    <a:pt x="236" y="2810"/>
                    <a:pt x="90" y="2861"/>
                    <a:pt x="103" y="2923"/>
                  </a:cubicBezTo>
                  <a:cubicBezTo>
                    <a:pt x="116" y="2985"/>
                    <a:pt x="312" y="3033"/>
                    <a:pt x="313" y="3102"/>
                  </a:cubicBezTo>
                  <a:cubicBezTo>
                    <a:pt x="314" y="3171"/>
                    <a:pt x="149" y="3301"/>
                    <a:pt x="111" y="333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GB"/>
            </a:p>
          </p:txBody>
        </p:sp>
        <p:sp>
          <p:nvSpPr>
            <p:cNvPr id="117" name="Freeform 73">
              <a:extLst>
                <a:ext uri="{FF2B5EF4-FFF2-40B4-BE49-F238E27FC236}">
                  <a16:creationId xmlns:a16="http://schemas.microsoft.com/office/drawing/2014/main" id="{A922FE42-6896-4ACF-9A8E-8E68F5B5C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" y="756"/>
              <a:ext cx="277" cy="3289"/>
            </a:xfrm>
            <a:custGeom>
              <a:avLst/>
              <a:gdLst>
                <a:gd name="T0" fmla="*/ 28 w 285"/>
                <a:gd name="T1" fmla="*/ 0 h 3289"/>
                <a:gd name="T2" fmla="*/ 97 w 285"/>
                <a:gd name="T3" fmla="*/ 93 h 3289"/>
                <a:gd name="T4" fmla="*/ 12 w 285"/>
                <a:gd name="T5" fmla="*/ 249 h 3289"/>
                <a:gd name="T6" fmla="*/ 103 w 285"/>
                <a:gd name="T7" fmla="*/ 491 h 3289"/>
                <a:gd name="T8" fmla="*/ 52 w 285"/>
                <a:gd name="T9" fmla="*/ 787 h 3289"/>
                <a:gd name="T10" fmla="*/ 97 w 285"/>
                <a:gd name="T11" fmla="*/ 951 h 3289"/>
                <a:gd name="T12" fmla="*/ 12 w 285"/>
                <a:gd name="T13" fmla="*/ 1099 h 3289"/>
                <a:gd name="T14" fmla="*/ 152 w 285"/>
                <a:gd name="T15" fmla="*/ 1395 h 3289"/>
                <a:gd name="T16" fmla="*/ 66 w 285"/>
                <a:gd name="T17" fmla="*/ 1675 h 3289"/>
                <a:gd name="T18" fmla="*/ 165 w 285"/>
                <a:gd name="T19" fmla="*/ 1933 h 3289"/>
                <a:gd name="T20" fmla="*/ 103 w 285"/>
                <a:gd name="T21" fmla="*/ 2213 h 3289"/>
                <a:gd name="T22" fmla="*/ 195 w 285"/>
                <a:gd name="T23" fmla="*/ 2470 h 3289"/>
                <a:gd name="T24" fmla="*/ 109 w 285"/>
                <a:gd name="T25" fmla="*/ 2728 h 3289"/>
                <a:gd name="T26" fmla="*/ 190 w 285"/>
                <a:gd name="T27" fmla="*/ 2915 h 3289"/>
                <a:gd name="T28" fmla="*/ 115 w 285"/>
                <a:gd name="T29" fmla="*/ 3117 h 3289"/>
                <a:gd name="T30" fmla="*/ 226 w 285"/>
                <a:gd name="T31" fmla="*/ 3289 h 328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85"/>
                <a:gd name="T49" fmla="*/ 0 h 3289"/>
                <a:gd name="T50" fmla="*/ 285 w 285"/>
                <a:gd name="T51" fmla="*/ 3289 h 328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85" h="3289">
                  <a:moveTo>
                    <a:pt x="36" y="0"/>
                  </a:moveTo>
                  <a:cubicBezTo>
                    <a:pt x="80" y="26"/>
                    <a:pt x="125" y="52"/>
                    <a:pt x="121" y="93"/>
                  </a:cubicBezTo>
                  <a:cubicBezTo>
                    <a:pt x="117" y="134"/>
                    <a:pt x="11" y="183"/>
                    <a:pt x="12" y="249"/>
                  </a:cubicBezTo>
                  <a:cubicBezTo>
                    <a:pt x="13" y="315"/>
                    <a:pt x="120" y="401"/>
                    <a:pt x="129" y="491"/>
                  </a:cubicBezTo>
                  <a:cubicBezTo>
                    <a:pt x="138" y="581"/>
                    <a:pt x="68" y="710"/>
                    <a:pt x="67" y="787"/>
                  </a:cubicBezTo>
                  <a:cubicBezTo>
                    <a:pt x="66" y="864"/>
                    <a:pt x="130" y="899"/>
                    <a:pt x="121" y="951"/>
                  </a:cubicBezTo>
                  <a:cubicBezTo>
                    <a:pt x="112" y="1003"/>
                    <a:pt x="0" y="1025"/>
                    <a:pt x="12" y="1099"/>
                  </a:cubicBezTo>
                  <a:cubicBezTo>
                    <a:pt x="24" y="1173"/>
                    <a:pt x="179" y="1299"/>
                    <a:pt x="191" y="1395"/>
                  </a:cubicBezTo>
                  <a:cubicBezTo>
                    <a:pt x="203" y="1491"/>
                    <a:pt x="79" y="1585"/>
                    <a:pt x="82" y="1675"/>
                  </a:cubicBezTo>
                  <a:cubicBezTo>
                    <a:pt x="85" y="1765"/>
                    <a:pt x="199" y="1843"/>
                    <a:pt x="207" y="1933"/>
                  </a:cubicBezTo>
                  <a:cubicBezTo>
                    <a:pt x="215" y="2023"/>
                    <a:pt x="123" y="2124"/>
                    <a:pt x="129" y="2213"/>
                  </a:cubicBezTo>
                  <a:cubicBezTo>
                    <a:pt x="135" y="2302"/>
                    <a:pt x="245" y="2384"/>
                    <a:pt x="246" y="2470"/>
                  </a:cubicBezTo>
                  <a:cubicBezTo>
                    <a:pt x="247" y="2556"/>
                    <a:pt x="138" y="2654"/>
                    <a:pt x="137" y="2728"/>
                  </a:cubicBezTo>
                  <a:cubicBezTo>
                    <a:pt x="136" y="2802"/>
                    <a:pt x="237" y="2850"/>
                    <a:pt x="238" y="2915"/>
                  </a:cubicBezTo>
                  <a:cubicBezTo>
                    <a:pt x="239" y="2980"/>
                    <a:pt x="137" y="3055"/>
                    <a:pt x="145" y="3117"/>
                  </a:cubicBezTo>
                  <a:cubicBezTo>
                    <a:pt x="153" y="3179"/>
                    <a:pt x="275" y="3267"/>
                    <a:pt x="285" y="328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GB"/>
            </a:p>
          </p:txBody>
        </p:sp>
      </p:grpSp>
      <p:sp>
        <p:nvSpPr>
          <p:cNvPr id="118" name="Rectangle 74">
            <a:extLst>
              <a:ext uri="{FF2B5EF4-FFF2-40B4-BE49-F238E27FC236}">
                <a16:creationId xmlns:a16="http://schemas.microsoft.com/office/drawing/2014/main" id="{887B7054-1279-4895-A61B-207FA5BBC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3188" y="4673601"/>
            <a:ext cx="7397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" name="Line 75">
            <a:extLst>
              <a:ext uri="{FF2B5EF4-FFF2-40B4-BE49-F238E27FC236}">
                <a16:creationId xmlns:a16="http://schemas.microsoft.com/office/drawing/2014/main" id="{5A9EC8AA-74CE-4FAE-92FD-F9A2742D0B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1" y="3124201"/>
            <a:ext cx="1219200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20" name="Line 87">
            <a:extLst>
              <a:ext uri="{FF2B5EF4-FFF2-40B4-BE49-F238E27FC236}">
                <a16:creationId xmlns:a16="http://schemas.microsoft.com/office/drawing/2014/main" id="{CECED739-3597-4F6A-936D-70DEC017D2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49401" y="5102226"/>
            <a:ext cx="4210050" cy="0"/>
          </a:xfrm>
          <a:prstGeom prst="line">
            <a:avLst/>
          </a:prstGeom>
          <a:noFill/>
          <a:ln w="19050">
            <a:solidFill>
              <a:srgbClr val="0066CC"/>
            </a:solidFill>
            <a:prstDash val="dash"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21" name="Line 88">
            <a:extLst>
              <a:ext uri="{FF2B5EF4-FFF2-40B4-BE49-F238E27FC236}">
                <a16:creationId xmlns:a16="http://schemas.microsoft.com/office/drawing/2014/main" id="{B7D5A74F-0E79-49F5-99B4-E224013CF46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465263" y="4995863"/>
            <a:ext cx="57150" cy="85725"/>
          </a:xfrm>
          <a:prstGeom prst="line">
            <a:avLst/>
          </a:prstGeom>
          <a:noFill/>
          <a:ln w="12700">
            <a:solidFill>
              <a:srgbClr val="0066CC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122" name="Line 89">
            <a:extLst>
              <a:ext uri="{FF2B5EF4-FFF2-40B4-BE49-F238E27FC236}">
                <a16:creationId xmlns:a16="http://schemas.microsoft.com/office/drawing/2014/main" id="{89F31C19-C873-4F8E-B2DB-D83140772436}"/>
              </a:ext>
            </a:extLst>
          </p:cNvPr>
          <p:cNvSpPr>
            <a:spLocks noChangeShapeType="1"/>
          </p:cNvSpPr>
          <p:nvPr/>
        </p:nvSpPr>
        <p:spPr bwMode="auto">
          <a:xfrm rot="5400000" flipH="1" flipV="1">
            <a:off x="5794376" y="4984751"/>
            <a:ext cx="104775" cy="76200"/>
          </a:xfrm>
          <a:prstGeom prst="line">
            <a:avLst/>
          </a:prstGeom>
          <a:noFill/>
          <a:ln w="19050">
            <a:solidFill>
              <a:srgbClr val="0066CC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23" name="Text Box 90">
            <a:extLst>
              <a:ext uri="{FF2B5EF4-FFF2-40B4-BE49-F238E27FC236}">
                <a16:creationId xmlns:a16="http://schemas.microsoft.com/office/drawing/2014/main" id="{DA681128-FB92-44AD-AC69-ED9EC4101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026" y="5132388"/>
            <a:ext cx="31861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1800" b="1">
                <a:solidFill>
                  <a:srgbClr val="0066CC"/>
                </a:solidFill>
              </a:rPr>
              <a:t>Network</a:t>
            </a:r>
            <a:endParaRPr lang="en-GB" sz="700"/>
          </a:p>
        </p:txBody>
      </p:sp>
      <p:graphicFrame>
        <p:nvGraphicFramePr>
          <p:cNvPr id="124" name="Object 91">
            <a:extLst>
              <a:ext uri="{FF2B5EF4-FFF2-40B4-BE49-F238E27FC236}">
                <a16:creationId xmlns:a16="http://schemas.microsoft.com/office/drawing/2014/main" id="{318205BF-5E58-447A-BF6D-9B5DFD6142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0193" y="2887662"/>
          <a:ext cx="346075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5" imgW="1952898" imgH="3057143" progId="">
                  <p:embed/>
                </p:oleObj>
              </mc:Choice>
              <mc:Fallback>
                <p:oleObj name="Photo Editor Photo" r:id="rId5" imgW="1952898" imgH="3057143" progId="">
                  <p:embed/>
                  <p:pic>
                    <p:nvPicPr>
                      <p:cNvPr id="124" name="Object 91">
                        <a:extLst>
                          <a:ext uri="{FF2B5EF4-FFF2-40B4-BE49-F238E27FC236}">
                            <a16:creationId xmlns:a16="http://schemas.microsoft.com/office/drawing/2014/main" id="{318205BF-5E58-447A-BF6D-9B5DFD6142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0193" y="2887662"/>
                        <a:ext cx="346075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" name="Text Box 92">
            <a:extLst>
              <a:ext uri="{FF2B5EF4-FFF2-40B4-BE49-F238E27FC236}">
                <a16:creationId xmlns:a16="http://schemas.microsoft.com/office/drawing/2014/main" id="{60619726-AE14-454B-88A4-70E0F9793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8216" y="3408438"/>
            <a:ext cx="8763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1" dirty="0"/>
              <a:t>DSLAM</a:t>
            </a:r>
          </a:p>
        </p:txBody>
      </p:sp>
      <p:grpSp>
        <p:nvGrpSpPr>
          <p:cNvPr id="126" name="Group 93">
            <a:extLst>
              <a:ext uri="{FF2B5EF4-FFF2-40B4-BE49-F238E27FC236}">
                <a16:creationId xmlns:a16="http://schemas.microsoft.com/office/drawing/2014/main" id="{4FB51D31-84D0-40EF-ACAA-6204C7D35025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116013"/>
            <a:ext cx="2057400" cy="4202112"/>
            <a:chOff x="480" y="703"/>
            <a:chExt cx="1296" cy="2647"/>
          </a:xfrm>
        </p:grpSpPr>
        <p:sp>
          <p:nvSpPr>
            <p:cNvPr id="127" name="Line 94">
              <a:extLst>
                <a:ext uri="{FF2B5EF4-FFF2-40B4-BE49-F238E27FC236}">
                  <a16:creationId xmlns:a16="http://schemas.microsoft.com/office/drawing/2014/main" id="{4532A024-5FF8-4761-9E8B-42B00A74B4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4" y="703"/>
              <a:ext cx="1152" cy="112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GB" sz="1600"/>
            </a:p>
          </p:txBody>
        </p:sp>
        <p:sp>
          <p:nvSpPr>
            <p:cNvPr id="128" name="Line 95">
              <a:extLst>
                <a:ext uri="{FF2B5EF4-FFF2-40B4-BE49-F238E27FC236}">
                  <a16:creationId xmlns:a16="http://schemas.microsoft.com/office/drawing/2014/main" id="{5C22BA61-A48C-4D81-82AC-06F0C97334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34" y="807"/>
              <a:ext cx="542" cy="1017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GB" sz="1600"/>
            </a:p>
          </p:txBody>
        </p:sp>
        <p:sp>
          <p:nvSpPr>
            <p:cNvPr id="129" name="Line 96">
              <a:extLst>
                <a:ext uri="{FF2B5EF4-FFF2-40B4-BE49-F238E27FC236}">
                  <a16:creationId xmlns:a16="http://schemas.microsoft.com/office/drawing/2014/main" id="{874B2723-D036-462B-82AF-00E1A4D4C4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51" y="1373"/>
              <a:ext cx="1025" cy="4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GB" sz="1600"/>
            </a:p>
          </p:txBody>
        </p:sp>
        <p:sp>
          <p:nvSpPr>
            <p:cNvPr id="130" name="Line 97">
              <a:extLst>
                <a:ext uri="{FF2B5EF4-FFF2-40B4-BE49-F238E27FC236}">
                  <a16:creationId xmlns:a16="http://schemas.microsoft.com/office/drawing/2014/main" id="{516D92DE-41A2-4BB8-B820-B12B647EF0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3" y="2016"/>
              <a:ext cx="1077" cy="309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GB" sz="1600"/>
            </a:p>
          </p:txBody>
        </p:sp>
        <p:sp>
          <p:nvSpPr>
            <p:cNvPr id="131" name="Line 98">
              <a:extLst>
                <a:ext uri="{FF2B5EF4-FFF2-40B4-BE49-F238E27FC236}">
                  <a16:creationId xmlns:a16="http://schemas.microsoft.com/office/drawing/2014/main" id="{A0D3B4CD-7AC8-49AB-AE32-A73E980110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5" y="2057"/>
              <a:ext cx="1107" cy="772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GB" sz="1600"/>
            </a:p>
          </p:txBody>
        </p:sp>
        <p:sp>
          <p:nvSpPr>
            <p:cNvPr id="132" name="Line 99">
              <a:extLst>
                <a:ext uri="{FF2B5EF4-FFF2-40B4-BE49-F238E27FC236}">
                  <a16:creationId xmlns:a16="http://schemas.microsoft.com/office/drawing/2014/main" id="{56FACB44-55CB-4C5E-9CC8-49ADB25599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" y="2109"/>
              <a:ext cx="1259" cy="124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GB" sz="1600"/>
            </a:p>
          </p:txBody>
        </p:sp>
      </p:grpSp>
      <p:sp>
        <p:nvSpPr>
          <p:cNvPr id="133" name="Rectangle 102">
            <a:extLst>
              <a:ext uri="{FF2B5EF4-FFF2-40B4-BE49-F238E27FC236}">
                <a16:creationId xmlns:a16="http://schemas.microsoft.com/office/drawing/2014/main" id="{9E976BBB-8804-4BBB-A8A3-85000991B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533400"/>
            <a:ext cx="2573338" cy="55451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4" name="Rectangle 103">
            <a:extLst>
              <a:ext uri="{FF2B5EF4-FFF2-40B4-BE49-F238E27FC236}">
                <a16:creationId xmlns:a16="http://schemas.microsoft.com/office/drawing/2014/main" id="{DC96247A-693C-4E30-AB89-BEE878B59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2663" y="2874963"/>
            <a:ext cx="84455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5" name="Rectangle 106">
            <a:extLst>
              <a:ext uri="{FF2B5EF4-FFF2-40B4-BE49-F238E27FC236}">
                <a16:creationId xmlns:a16="http://schemas.microsoft.com/office/drawing/2014/main" id="{511A67F4-048F-4443-848F-A80BF170E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3025" y="2981325"/>
            <a:ext cx="134938" cy="17145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6" name="Line 107">
            <a:extLst>
              <a:ext uri="{FF2B5EF4-FFF2-40B4-BE49-F238E27FC236}">
                <a16:creationId xmlns:a16="http://schemas.microsoft.com/office/drawing/2014/main" id="{02AAF703-4468-40D8-966C-0B57C2D3C048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7413" y="4897438"/>
            <a:ext cx="60325" cy="134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37" name="Freeform 108">
            <a:extLst>
              <a:ext uri="{FF2B5EF4-FFF2-40B4-BE49-F238E27FC236}">
                <a16:creationId xmlns:a16="http://schemas.microsoft.com/office/drawing/2014/main" id="{54BE75FC-EF67-4F5B-A6DC-645CAAF8E566}"/>
              </a:ext>
            </a:extLst>
          </p:cNvPr>
          <p:cNvSpPr>
            <a:spLocks/>
          </p:cNvSpPr>
          <p:nvPr/>
        </p:nvSpPr>
        <p:spPr bwMode="auto">
          <a:xfrm rot="15819552" flipH="1">
            <a:off x="6616700" y="2952751"/>
            <a:ext cx="92075" cy="215900"/>
          </a:xfrm>
          <a:custGeom>
            <a:avLst/>
            <a:gdLst>
              <a:gd name="T0" fmla="*/ 2147483647 w 314"/>
              <a:gd name="T1" fmla="*/ 0 h 3336"/>
              <a:gd name="T2" fmla="*/ 2147483647 w 314"/>
              <a:gd name="T3" fmla="*/ 0 h 3336"/>
              <a:gd name="T4" fmla="*/ 2147483647 w 314"/>
              <a:gd name="T5" fmla="*/ 0 h 3336"/>
              <a:gd name="T6" fmla="*/ 2147483647 w 314"/>
              <a:gd name="T7" fmla="*/ 2147483647 h 3336"/>
              <a:gd name="T8" fmla="*/ 2147483647 w 314"/>
              <a:gd name="T9" fmla="*/ 2147483647 h 3336"/>
              <a:gd name="T10" fmla="*/ 0 w 314"/>
              <a:gd name="T11" fmla="*/ 2147483647 h 3336"/>
              <a:gd name="T12" fmla="*/ 2147483647 w 314"/>
              <a:gd name="T13" fmla="*/ 2147483647 h 3336"/>
              <a:gd name="T14" fmla="*/ 2147483647 w 314"/>
              <a:gd name="T15" fmla="*/ 2147483647 h 3336"/>
              <a:gd name="T16" fmla="*/ 2147483647 w 314"/>
              <a:gd name="T17" fmla="*/ 2147483647 h 3336"/>
              <a:gd name="T18" fmla="*/ 2147483647 w 314"/>
              <a:gd name="T19" fmla="*/ 2147483647 h 3336"/>
              <a:gd name="T20" fmla="*/ 2147483647 w 314"/>
              <a:gd name="T21" fmla="*/ 2147483647 h 3336"/>
              <a:gd name="T22" fmla="*/ 2147483647 w 314"/>
              <a:gd name="T23" fmla="*/ 2147483647 h 3336"/>
              <a:gd name="T24" fmla="*/ 2147483647 w 314"/>
              <a:gd name="T25" fmla="*/ 2147483647 h 3336"/>
              <a:gd name="T26" fmla="*/ 2147483647 w 314"/>
              <a:gd name="T27" fmla="*/ 2147483647 h 3336"/>
              <a:gd name="T28" fmla="*/ 2147483647 w 314"/>
              <a:gd name="T29" fmla="*/ 2147483647 h 3336"/>
              <a:gd name="T30" fmla="*/ 2147483647 w 314"/>
              <a:gd name="T31" fmla="*/ 2147483647 h 33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14"/>
              <a:gd name="T49" fmla="*/ 0 h 3336"/>
              <a:gd name="T50" fmla="*/ 314 w 314"/>
              <a:gd name="T51" fmla="*/ 3336 h 33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14" h="3336">
                <a:moveTo>
                  <a:pt x="87" y="0"/>
                </a:moveTo>
                <a:cubicBezTo>
                  <a:pt x="54" y="47"/>
                  <a:pt x="21" y="95"/>
                  <a:pt x="25" y="140"/>
                </a:cubicBezTo>
                <a:cubicBezTo>
                  <a:pt x="29" y="185"/>
                  <a:pt x="106" y="221"/>
                  <a:pt x="111" y="273"/>
                </a:cubicBezTo>
                <a:cubicBezTo>
                  <a:pt x="116" y="325"/>
                  <a:pt x="50" y="375"/>
                  <a:pt x="56" y="452"/>
                </a:cubicBezTo>
                <a:cubicBezTo>
                  <a:pt x="62" y="529"/>
                  <a:pt x="159" y="655"/>
                  <a:pt x="150" y="733"/>
                </a:cubicBezTo>
                <a:cubicBezTo>
                  <a:pt x="141" y="811"/>
                  <a:pt x="2" y="838"/>
                  <a:pt x="1" y="920"/>
                </a:cubicBezTo>
                <a:cubicBezTo>
                  <a:pt x="0" y="1002"/>
                  <a:pt x="132" y="1131"/>
                  <a:pt x="142" y="1224"/>
                </a:cubicBezTo>
                <a:cubicBezTo>
                  <a:pt x="152" y="1317"/>
                  <a:pt x="56" y="1402"/>
                  <a:pt x="64" y="1481"/>
                </a:cubicBezTo>
                <a:cubicBezTo>
                  <a:pt x="72" y="1560"/>
                  <a:pt x="176" y="1617"/>
                  <a:pt x="188" y="1699"/>
                </a:cubicBezTo>
                <a:cubicBezTo>
                  <a:pt x="200" y="1781"/>
                  <a:pt x="128" y="1876"/>
                  <a:pt x="134" y="1972"/>
                </a:cubicBezTo>
                <a:cubicBezTo>
                  <a:pt x="140" y="2068"/>
                  <a:pt x="233" y="2199"/>
                  <a:pt x="227" y="2276"/>
                </a:cubicBezTo>
                <a:cubicBezTo>
                  <a:pt x="221" y="2353"/>
                  <a:pt x="94" y="2357"/>
                  <a:pt x="95" y="2432"/>
                </a:cubicBezTo>
                <a:cubicBezTo>
                  <a:pt x="96" y="2507"/>
                  <a:pt x="234" y="2646"/>
                  <a:pt x="235" y="2728"/>
                </a:cubicBezTo>
                <a:cubicBezTo>
                  <a:pt x="236" y="2810"/>
                  <a:pt x="90" y="2861"/>
                  <a:pt x="103" y="2923"/>
                </a:cubicBezTo>
                <a:cubicBezTo>
                  <a:pt x="116" y="2985"/>
                  <a:pt x="312" y="3033"/>
                  <a:pt x="313" y="3102"/>
                </a:cubicBezTo>
                <a:cubicBezTo>
                  <a:pt x="314" y="3171"/>
                  <a:pt x="149" y="3301"/>
                  <a:pt x="111" y="333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138" name="Freeform 109">
            <a:extLst>
              <a:ext uri="{FF2B5EF4-FFF2-40B4-BE49-F238E27FC236}">
                <a16:creationId xmlns:a16="http://schemas.microsoft.com/office/drawing/2014/main" id="{4ED962E0-9B9E-4B55-9EE9-19752316D241}"/>
              </a:ext>
            </a:extLst>
          </p:cNvPr>
          <p:cNvSpPr>
            <a:spLocks/>
          </p:cNvSpPr>
          <p:nvPr/>
        </p:nvSpPr>
        <p:spPr bwMode="auto">
          <a:xfrm rot="15819552" flipH="1">
            <a:off x="6619875" y="2951163"/>
            <a:ext cx="79375" cy="212725"/>
          </a:xfrm>
          <a:custGeom>
            <a:avLst/>
            <a:gdLst>
              <a:gd name="T0" fmla="*/ 2147483647 w 285"/>
              <a:gd name="T1" fmla="*/ 0 h 3289"/>
              <a:gd name="T2" fmla="*/ 2147483647 w 285"/>
              <a:gd name="T3" fmla="*/ 0 h 3289"/>
              <a:gd name="T4" fmla="*/ 0 w 285"/>
              <a:gd name="T5" fmla="*/ 0 h 3289"/>
              <a:gd name="T6" fmla="*/ 2147483647 w 285"/>
              <a:gd name="T7" fmla="*/ 2147483647 h 3289"/>
              <a:gd name="T8" fmla="*/ 2147483647 w 285"/>
              <a:gd name="T9" fmla="*/ 2147483647 h 3289"/>
              <a:gd name="T10" fmla="*/ 2147483647 w 285"/>
              <a:gd name="T11" fmla="*/ 2147483647 h 3289"/>
              <a:gd name="T12" fmla="*/ 0 w 285"/>
              <a:gd name="T13" fmla="*/ 2147483647 h 3289"/>
              <a:gd name="T14" fmla="*/ 2147483647 w 285"/>
              <a:gd name="T15" fmla="*/ 2147483647 h 3289"/>
              <a:gd name="T16" fmla="*/ 2147483647 w 285"/>
              <a:gd name="T17" fmla="*/ 2147483647 h 3289"/>
              <a:gd name="T18" fmla="*/ 2147483647 w 285"/>
              <a:gd name="T19" fmla="*/ 2147483647 h 3289"/>
              <a:gd name="T20" fmla="*/ 2147483647 w 285"/>
              <a:gd name="T21" fmla="*/ 2147483647 h 3289"/>
              <a:gd name="T22" fmla="*/ 2147483647 w 285"/>
              <a:gd name="T23" fmla="*/ 2147483647 h 3289"/>
              <a:gd name="T24" fmla="*/ 2147483647 w 285"/>
              <a:gd name="T25" fmla="*/ 2147483647 h 3289"/>
              <a:gd name="T26" fmla="*/ 2147483647 w 285"/>
              <a:gd name="T27" fmla="*/ 2147483647 h 3289"/>
              <a:gd name="T28" fmla="*/ 2147483647 w 285"/>
              <a:gd name="T29" fmla="*/ 2147483647 h 3289"/>
              <a:gd name="T30" fmla="*/ 2147483647 w 285"/>
              <a:gd name="T31" fmla="*/ 2147483647 h 328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85"/>
              <a:gd name="T49" fmla="*/ 0 h 3289"/>
              <a:gd name="T50" fmla="*/ 285 w 285"/>
              <a:gd name="T51" fmla="*/ 3289 h 328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85" h="3289">
                <a:moveTo>
                  <a:pt x="36" y="0"/>
                </a:moveTo>
                <a:cubicBezTo>
                  <a:pt x="80" y="26"/>
                  <a:pt x="125" y="52"/>
                  <a:pt x="121" y="93"/>
                </a:cubicBezTo>
                <a:cubicBezTo>
                  <a:pt x="117" y="134"/>
                  <a:pt x="11" y="183"/>
                  <a:pt x="12" y="249"/>
                </a:cubicBezTo>
                <a:cubicBezTo>
                  <a:pt x="13" y="315"/>
                  <a:pt x="120" y="401"/>
                  <a:pt x="129" y="491"/>
                </a:cubicBezTo>
                <a:cubicBezTo>
                  <a:pt x="138" y="581"/>
                  <a:pt x="68" y="710"/>
                  <a:pt x="67" y="787"/>
                </a:cubicBezTo>
                <a:cubicBezTo>
                  <a:pt x="66" y="864"/>
                  <a:pt x="130" y="899"/>
                  <a:pt x="121" y="951"/>
                </a:cubicBezTo>
                <a:cubicBezTo>
                  <a:pt x="112" y="1003"/>
                  <a:pt x="0" y="1025"/>
                  <a:pt x="12" y="1099"/>
                </a:cubicBezTo>
                <a:cubicBezTo>
                  <a:pt x="24" y="1173"/>
                  <a:pt x="179" y="1299"/>
                  <a:pt x="191" y="1395"/>
                </a:cubicBezTo>
                <a:cubicBezTo>
                  <a:pt x="203" y="1491"/>
                  <a:pt x="79" y="1585"/>
                  <a:pt x="82" y="1675"/>
                </a:cubicBezTo>
                <a:cubicBezTo>
                  <a:pt x="85" y="1765"/>
                  <a:pt x="199" y="1843"/>
                  <a:pt x="207" y="1933"/>
                </a:cubicBezTo>
                <a:cubicBezTo>
                  <a:pt x="215" y="2023"/>
                  <a:pt x="123" y="2124"/>
                  <a:pt x="129" y="2213"/>
                </a:cubicBezTo>
                <a:cubicBezTo>
                  <a:pt x="135" y="2302"/>
                  <a:pt x="245" y="2384"/>
                  <a:pt x="246" y="2470"/>
                </a:cubicBezTo>
                <a:cubicBezTo>
                  <a:pt x="247" y="2556"/>
                  <a:pt x="138" y="2654"/>
                  <a:pt x="137" y="2728"/>
                </a:cubicBezTo>
                <a:cubicBezTo>
                  <a:pt x="136" y="2802"/>
                  <a:pt x="237" y="2850"/>
                  <a:pt x="238" y="2915"/>
                </a:cubicBezTo>
                <a:cubicBezTo>
                  <a:pt x="239" y="2980"/>
                  <a:pt x="137" y="3055"/>
                  <a:pt x="145" y="3117"/>
                </a:cubicBezTo>
                <a:cubicBezTo>
                  <a:pt x="153" y="3179"/>
                  <a:pt x="275" y="3267"/>
                  <a:pt x="285" y="3289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39" name="Rectangle 110">
            <a:extLst>
              <a:ext uri="{FF2B5EF4-FFF2-40B4-BE49-F238E27FC236}">
                <a16:creationId xmlns:a16="http://schemas.microsoft.com/office/drawing/2014/main" id="{C9F224D8-F2C3-4044-8CB2-8B1074697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490788"/>
            <a:ext cx="169863" cy="998537"/>
          </a:xfrm>
          <a:prstGeom prst="rect">
            <a:avLst/>
          </a:prstGeom>
          <a:gradFill rotWithShape="0">
            <a:gsLst>
              <a:gs pos="0">
                <a:srgbClr val="556271"/>
              </a:gs>
              <a:gs pos="50000">
                <a:srgbClr val="B2B2B2"/>
              </a:gs>
              <a:gs pos="100000">
                <a:srgbClr val="556271"/>
              </a:gs>
            </a:gsLst>
            <a:lin ang="2700000" scaled="1"/>
          </a:gra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56271"/>
            </a:extrusionClr>
          </a:sp3d>
        </p:spPr>
        <p:txBody>
          <a:bodyPr anchor="ctr">
            <a:spAutoFit/>
            <a:flatTx/>
          </a:bodyPr>
          <a:lstStyle/>
          <a:p>
            <a:endParaRPr lang="en-US"/>
          </a:p>
        </p:txBody>
      </p:sp>
      <p:graphicFrame>
        <p:nvGraphicFramePr>
          <p:cNvPr id="140" name="Object 111">
            <a:extLst>
              <a:ext uri="{FF2B5EF4-FFF2-40B4-BE49-F238E27FC236}">
                <a16:creationId xmlns:a16="http://schemas.microsoft.com/office/drawing/2014/main" id="{F9EDDCE4-98BF-4BF0-8743-FB2757DF63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67625" y="4895850"/>
          <a:ext cx="1247775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7" imgW="1714739" imgH="1714739" progId="">
                  <p:embed/>
                </p:oleObj>
              </mc:Choice>
              <mc:Fallback>
                <p:oleObj name="Photo Editor Photo" r:id="rId7" imgW="1714739" imgH="1714739" progId="">
                  <p:embed/>
                  <p:pic>
                    <p:nvPicPr>
                      <p:cNvPr id="140" name="Object 111">
                        <a:extLst>
                          <a:ext uri="{FF2B5EF4-FFF2-40B4-BE49-F238E27FC236}">
                            <a16:creationId xmlns:a16="http://schemas.microsoft.com/office/drawing/2014/main" id="{F9EDDCE4-98BF-4BF0-8743-FB2757DF63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4895850"/>
                        <a:ext cx="1247775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" name="Rectangle 112">
            <a:extLst>
              <a:ext uri="{FF2B5EF4-FFF2-40B4-BE49-F238E27FC236}">
                <a16:creationId xmlns:a16="http://schemas.microsoft.com/office/drawing/2014/main" id="{9555AECF-9E05-496E-8C2A-FE17EF11BC9B}"/>
              </a:ext>
            </a:extLst>
          </p:cNvPr>
          <p:cNvSpPr>
            <a:spLocks noChangeArrowheads="1"/>
          </p:cNvSpPr>
          <p:nvPr/>
        </p:nvSpPr>
        <p:spPr bwMode="auto">
          <a:xfrm rot="16200000" flipV="1">
            <a:off x="8105775" y="4370388"/>
            <a:ext cx="111125" cy="850900"/>
          </a:xfrm>
          <a:prstGeom prst="rect">
            <a:avLst/>
          </a:prstGeom>
          <a:gradFill rotWithShape="0">
            <a:gsLst>
              <a:gs pos="0">
                <a:srgbClr val="556271"/>
              </a:gs>
              <a:gs pos="50000">
                <a:srgbClr val="B2B2B2"/>
              </a:gs>
              <a:gs pos="100000">
                <a:srgbClr val="556271"/>
              </a:gs>
            </a:gsLst>
            <a:lin ang="2700000" scaled="1"/>
          </a:gra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56271"/>
            </a:extrusionClr>
          </a:sp3d>
        </p:spPr>
        <p:txBody>
          <a:bodyPr anchor="ctr">
            <a:spAutoFit/>
            <a:flatTx/>
          </a:bodyPr>
          <a:lstStyle/>
          <a:p>
            <a:endParaRPr lang="en-US"/>
          </a:p>
        </p:txBody>
      </p:sp>
      <p:graphicFrame>
        <p:nvGraphicFramePr>
          <p:cNvPr id="142" name="Object 116">
            <a:extLst>
              <a:ext uri="{FF2B5EF4-FFF2-40B4-BE49-F238E27FC236}">
                <a16:creationId xmlns:a16="http://schemas.microsoft.com/office/drawing/2014/main" id="{DF4DD3C6-1A9F-4E85-8D9A-CFE7BFF7C4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8600" y="2514600"/>
          <a:ext cx="990600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9" imgW="1714739" imgH="1133633" progId="">
                  <p:embed/>
                </p:oleObj>
              </mc:Choice>
              <mc:Fallback>
                <p:oleObj name="Photo Editor Photo" r:id="rId9" imgW="1714739" imgH="1133633" progId="">
                  <p:embed/>
                  <p:pic>
                    <p:nvPicPr>
                      <p:cNvPr id="142" name="Object 116">
                        <a:extLst>
                          <a:ext uri="{FF2B5EF4-FFF2-40B4-BE49-F238E27FC236}">
                            <a16:creationId xmlns:a16="http://schemas.microsoft.com/office/drawing/2014/main" id="{DF4DD3C6-1A9F-4E85-8D9A-CFE7BFF7C4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2514600"/>
                        <a:ext cx="990600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" name="Freeform 120">
            <a:extLst>
              <a:ext uri="{FF2B5EF4-FFF2-40B4-BE49-F238E27FC236}">
                <a16:creationId xmlns:a16="http://schemas.microsoft.com/office/drawing/2014/main" id="{11D89279-EC71-4053-998D-7C2277F49596}"/>
              </a:ext>
            </a:extLst>
          </p:cNvPr>
          <p:cNvSpPr>
            <a:spLocks/>
          </p:cNvSpPr>
          <p:nvPr/>
        </p:nvSpPr>
        <p:spPr bwMode="auto">
          <a:xfrm>
            <a:off x="7288213" y="2233613"/>
            <a:ext cx="261937" cy="1462087"/>
          </a:xfrm>
          <a:custGeom>
            <a:avLst/>
            <a:gdLst>
              <a:gd name="T0" fmla="*/ 2147483647 w 153"/>
              <a:gd name="T1" fmla="*/ 0 h 921"/>
              <a:gd name="T2" fmla="*/ 2147483647 w 153"/>
              <a:gd name="T3" fmla="*/ 2147483647 h 921"/>
              <a:gd name="T4" fmla="*/ 2147483647 w 153"/>
              <a:gd name="T5" fmla="*/ 2147483647 h 921"/>
              <a:gd name="T6" fmla="*/ 2147483647 w 153"/>
              <a:gd name="T7" fmla="*/ 2147483647 h 921"/>
              <a:gd name="T8" fmla="*/ 0 w 153"/>
              <a:gd name="T9" fmla="*/ 2147483647 h 9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921"/>
              <a:gd name="T17" fmla="*/ 153 w 153"/>
              <a:gd name="T18" fmla="*/ 921 h 9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921">
                <a:moveTo>
                  <a:pt x="36" y="0"/>
                </a:moveTo>
                <a:cubicBezTo>
                  <a:pt x="78" y="108"/>
                  <a:pt x="121" y="217"/>
                  <a:pt x="137" y="320"/>
                </a:cubicBezTo>
                <a:cubicBezTo>
                  <a:pt x="153" y="423"/>
                  <a:pt x="140" y="543"/>
                  <a:pt x="131" y="618"/>
                </a:cubicBezTo>
                <a:cubicBezTo>
                  <a:pt x="122" y="693"/>
                  <a:pt x="105" y="722"/>
                  <a:pt x="83" y="772"/>
                </a:cubicBezTo>
                <a:cubicBezTo>
                  <a:pt x="61" y="822"/>
                  <a:pt x="16" y="891"/>
                  <a:pt x="0" y="921"/>
                </a:cubicBezTo>
              </a:path>
            </a:pathLst>
          </a:custGeom>
          <a:noFill/>
          <a:ln w="9525">
            <a:solidFill>
              <a:srgbClr val="66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44" name="Freeform 121">
            <a:extLst>
              <a:ext uri="{FF2B5EF4-FFF2-40B4-BE49-F238E27FC236}">
                <a16:creationId xmlns:a16="http://schemas.microsoft.com/office/drawing/2014/main" id="{CC059C8F-688A-4E7D-B25C-5CE6A6EBB6DA}"/>
              </a:ext>
            </a:extLst>
          </p:cNvPr>
          <p:cNvSpPr>
            <a:spLocks/>
          </p:cNvSpPr>
          <p:nvPr/>
        </p:nvSpPr>
        <p:spPr bwMode="auto">
          <a:xfrm>
            <a:off x="7458075" y="1981200"/>
            <a:ext cx="309563" cy="2009775"/>
          </a:xfrm>
          <a:custGeom>
            <a:avLst/>
            <a:gdLst>
              <a:gd name="T0" fmla="*/ 2147483647 w 153"/>
              <a:gd name="T1" fmla="*/ 0 h 921"/>
              <a:gd name="T2" fmla="*/ 2147483647 w 153"/>
              <a:gd name="T3" fmla="*/ 2147483647 h 921"/>
              <a:gd name="T4" fmla="*/ 2147483647 w 153"/>
              <a:gd name="T5" fmla="*/ 2147483647 h 921"/>
              <a:gd name="T6" fmla="*/ 2147483647 w 153"/>
              <a:gd name="T7" fmla="*/ 2147483647 h 921"/>
              <a:gd name="T8" fmla="*/ 0 w 153"/>
              <a:gd name="T9" fmla="*/ 2147483647 h 9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921"/>
              <a:gd name="T17" fmla="*/ 153 w 153"/>
              <a:gd name="T18" fmla="*/ 921 h 9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921">
                <a:moveTo>
                  <a:pt x="36" y="0"/>
                </a:moveTo>
                <a:cubicBezTo>
                  <a:pt x="78" y="108"/>
                  <a:pt x="121" y="217"/>
                  <a:pt x="137" y="320"/>
                </a:cubicBezTo>
                <a:cubicBezTo>
                  <a:pt x="153" y="423"/>
                  <a:pt x="140" y="543"/>
                  <a:pt x="131" y="618"/>
                </a:cubicBezTo>
                <a:cubicBezTo>
                  <a:pt x="122" y="693"/>
                  <a:pt x="105" y="722"/>
                  <a:pt x="83" y="772"/>
                </a:cubicBezTo>
                <a:cubicBezTo>
                  <a:pt x="61" y="822"/>
                  <a:pt x="16" y="891"/>
                  <a:pt x="0" y="921"/>
                </a:cubicBezTo>
              </a:path>
            </a:pathLst>
          </a:custGeom>
          <a:noFill/>
          <a:ln w="9525">
            <a:solidFill>
              <a:srgbClr val="66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45" name="Freeform 122">
            <a:extLst>
              <a:ext uri="{FF2B5EF4-FFF2-40B4-BE49-F238E27FC236}">
                <a16:creationId xmlns:a16="http://schemas.microsoft.com/office/drawing/2014/main" id="{A96C95DF-B0F6-4C27-9818-ED4BC4144E2F}"/>
              </a:ext>
            </a:extLst>
          </p:cNvPr>
          <p:cNvSpPr>
            <a:spLocks/>
          </p:cNvSpPr>
          <p:nvPr/>
        </p:nvSpPr>
        <p:spPr bwMode="auto">
          <a:xfrm>
            <a:off x="7224713" y="2555875"/>
            <a:ext cx="111125" cy="792163"/>
          </a:xfrm>
          <a:custGeom>
            <a:avLst/>
            <a:gdLst>
              <a:gd name="T0" fmla="*/ 2147483647 w 153"/>
              <a:gd name="T1" fmla="*/ 0 h 921"/>
              <a:gd name="T2" fmla="*/ 2147483647 w 153"/>
              <a:gd name="T3" fmla="*/ 2147483647 h 921"/>
              <a:gd name="T4" fmla="*/ 2147483647 w 153"/>
              <a:gd name="T5" fmla="*/ 2147483647 h 921"/>
              <a:gd name="T6" fmla="*/ 2147483647 w 153"/>
              <a:gd name="T7" fmla="*/ 2147483647 h 921"/>
              <a:gd name="T8" fmla="*/ 0 w 153"/>
              <a:gd name="T9" fmla="*/ 2147483647 h 9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921"/>
              <a:gd name="T17" fmla="*/ 153 w 153"/>
              <a:gd name="T18" fmla="*/ 921 h 9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921">
                <a:moveTo>
                  <a:pt x="36" y="0"/>
                </a:moveTo>
                <a:cubicBezTo>
                  <a:pt x="78" y="108"/>
                  <a:pt x="121" y="217"/>
                  <a:pt x="137" y="320"/>
                </a:cubicBezTo>
                <a:cubicBezTo>
                  <a:pt x="153" y="423"/>
                  <a:pt x="140" y="543"/>
                  <a:pt x="131" y="618"/>
                </a:cubicBezTo>
                <a:cubicBezTo>
                  <a:pt x="122" y="693"/>
                  <a:pt x="105" y="722"/>
                  <a:pt x="83" y="772"/>
                </a:cubicBezTo>
                <a:cubicBezTo>
                  <a:pt x="61" y="822"/>
                  <a:pt x="16" y="891"/>
                  <a:pt x="0" y="921"/>
                </a:cubicBezTo>
              </a:path>
            </a:pathLst>
          </a:custGeom>
          <a:noFill/>
          <a:ln w="9525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46" name="Group 124">
            <a:extLst>
              <a:ext uri="{FF2B5EF4-FFF2-40B4-BE49-F238E27FC236}">
                <a16:creationId xmlns:a16="http://schemas.microsoft.com/office/drawing/2014/main" id="{136D817E-39BE-4FDD-9D99-990BB8786134}"/>
              </a:ext>
            </a:extLst>
          </p:cNvPr>
          <p:cNvGrpSpPr>
            <a:grpSpLocks/>
          </p:cNvGrpSpPr>
          <p:nvPr/>
        </p:nvGrpSpPr>
        <p:grpSpPr bwMode="auto">
          <a:xfrm>
            <a:off x="2946400" y="3251201"/>
            <a:ext cx="2100263" cy="688975"/>
            <a:chOff x="1880" y="2036"/>
            <a:chExt cx="1323" cy="434"/>
          </a:xfrm>
        </p:grpSpPr>
        <p:sp>
          <p:nvSpPr>
            <p:cNvPr id="147" name="Text Box 125">
              <a:extLst>
                <a:ext uri="{FF2B5EF4-FFF2-40B4-BE49-F238E27FC236}">
                  <a16:creationId xmlns:a16="http://schemas.microsoft.com/office/drawing/2014/main" id="{34A4F8D7-EFB6-445C-B3A5-B9A03F3BCC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0" y="2036"/>
              <a:ext cx="11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endParaRPr lang="en-US" sz="1600" b="1">
                <a:latin typeface="Tahoma" pitchFamily="34" charset="0"/>
              </a:endParaRPr>
            </a:p>
          </p:txBody>
        </p:sp>
        <p:sp>
          <p:nvSpPr>
            <p:cNvPr id="148" name="Text Box 127">
              <a:extLst>
                <a:ext uri="{FF2B5EF4-FFF2-40B4-BE49-F238E27FC236}">
                  <a16:creationId xmlns:a16="http://schemas.microsoft.com/office/drawing/2014/main" id="{ADCCD880-4DAB-464A-98F3-D28F5A755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7" y="2257"/>
              <a:ext cx="11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endParaRPr lang="en-US" sz="1600" b="1">
                <a:latin typeface="Tahoma" pitchFamily="34" charset="0"/>
              </a:endParaRPr>
            </a:p>
          </p:txBody>
        </p:sp>
      </p:grpSp>
      <p:pic>
        <p:nvPicPr>
          <p:cNvPr id="149" name="Picture 70">
            <a:extLst>
              <a:ext uri="{FF2B5EF4-FFF2-40B4-BE49-F238E27FC236}">
                <a16:creationId xmlns:a16="http://schemas.microsoft.com/office/drawing/2014/main" id="{D437FA46-A227-47E8-8643-6325BD7FC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71800" y="3699030"/>
            <a:ext cx="696913" cy="223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0" name="Freeform 5">
            <a:extLst>
              <a:ext uri="{FF2B5EF4-FFF2-40B4-BE49-F238E27FC236}">
                <a16:creationId xmlns:a16="http://schemas.microsoft.com/office/drawing/2014/main" id="{B71E3669-0552-4178-B08B-39A091AC71F7}"/>
              </a:ext>
            </a:extLst>
          </p:cNvPr>
          <p:cNvSpPr>
            <a:spLocks/>
          </p:cNvSpPr>
          <p:nvPr/>
        </p:nvSpPr>
        <p:spPr bwMode="auto">
          <a:xfrm rot="10748855" flipH="1">
            <a:off x="6517580" y="1539707"/>
            <a:ext cx="133661" cy="1394331"/>
          </a:xfrm>
          <a:custGeom>
            <a:avLst/>
            <a:gdLst>
              <a:gd name="T0" fmla="*/ 2147483647 w 314"/>
              <a:gd name="T1" fmla="*/ 0 h 3336"/>
              <a:gd name="T2" fmla="*/ 2147483647 w 314"/>
              <a:gd name="T3" fmla="*/ 2147483647 h 3336"/>
              <a:gd name="T4" fmla="*/ 2147483647 w 314"/>
              <a:gd name="T5" fmla="*/ 2147483647 h 3336"/>
              <a:gd name="T6" fmla="*/ 2147483647 w 314"/>
              <a:gd name="T7" fmla="*/ 2147483647 h 3336"/>
              <a:gd name="T8" fmla="*/ 2147483647 w 314"/>
              <a:gd name="T9" fmla="*/ 2147483647 h 3336"/>
              <a:gd name="T10" fmla="*/ 0 w 314"/>
              <a:gd name="T11" fmla="*/ 2147483647 h 3336"/>
              <a:gd name="T12" fmla="*/ 2147483647 w 314"/>
              <a:gd name="T13" fmla="*/ 2147483647 h 3336"/>
              <a:gd name="T14" fmla="*/ 2147483647 w 314"/>
              <a:gd name="T15" fmla="*/ 2147483647 h 3336"/>
              <a:gd name="T16" fmla="*/ 2147483647 w 314"/>
              <a:gd name="T17" fmla="*/ 2147483647 h 3336"/>
              <a:gd name="T18" fmla="*/ 2147483647 w 314"/>
              <a:gd name="T19" fmla="*/ 2147483647 h 3336"/>
              <a:gd name="T20" fmla="*/ 2147483647 w 314"/>
              <a:gd name="T21" fmla="*/ 2147483647 h 3336"/>
              <a:gd name="T22" fmla="*/ 2147483647 w 314"/>
              <a:gd name="T23" fmla="*/ 2147483647 h 3336"/>
              <a:gd name="T24" fmla="*/ 2147483647 w 314"/>
              <a:gd name="T25" fmla="*/ 2147483647 h 3336"/>
              <a:gd name="T26" fmla="*/ 2147483647 w 314"/>
              <a:gd name="T27" fmla="*/ 2147483647 h 3336"/>
              <a:gd name="T28" fmla="*/ 2147483647 w 314"/>
              <a:gd name="T29" fmla="*/ 2147483647 h 3336"/>
              <a:gd name="T30" fmla="*/ 2147483647 w 314"/>
              <a:gd name="T31" fmla="*/ 2147483647 h 33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14"/>
              <a:gd name="T49" fmla="*/ 0 h 3336"/>
              <a:gd name="T50" fmla="*/ 314 w 314"/>
              <a:gd name="T51" fmla="*/ 3336 h 33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14" h="3336">
                <a:moveTo>
                  <a:pt x="87" y="0"/>
                </a:moveTo>
                <a:cubicBezTo>
                  <a:pt x="54" y="47"/>
                  <a:pt x="21" y="95"/>
                  <a:pt x="25" y="140"/>
                </a:cubicBezTo>
                <a:cubicBezTo>
                  <a:pt x="29" y="185"/>
                  <a:pt x="106" y="221"/>
                  <a:pt x="111" y="273"/>
                </a:cubicBezTo>
                <a:cubicBezTo>
                  <a:pt x="116" y="325"/>
                  <a:pt x="50" y="375"/>
                  <a:pt x="56" y="452"/>
                </a:cubicBezTo>
                <a:cubicBezTo>
                  <a:pt x="62" y="529"/>
                  <a:pt x="159" y="655"/>
                  <a:pt x="150" y="733"/>
                </a:cubicBezTo>
                <a:cubicBezTo>
                  <a:pt x="141" y="811"/>
                  <a:pt x="2" y="838"/>
                  <a:pt x="1" y="920"/>
                </a:cubicBezTo>
                <a:cubicBezTo>
                  <a:pt x="0" y="1002"/>
                  <a:pt x="132" y="1131"/>
                  <a:pt x="142" y="1224"/>
                </a:cubicBezTo>
                <a:cubicBezTo>
                  <a:pt x="152" y="1317"/>
                  <a:pt x="56" y="1402"/>
                  <a:pt x="64" y="1481"/>
                </a:cubicBezTo>
                <a:cubicBezTo>
                  <a:pt x="72" y="1560"/>
                  <a:pt x="176" y="1617"/>
                  <a:pt x="188" y="1699"/>
                </a:cubicBezTo>
                <a:cubicBezTo>
                  <a:pt x="200" y="1781"/>
                  <a:pt x="128" y="1876"/>
                  <a:pt x="134" y="1972"/>
                </a:cubicBezTo>
                <a:cubicBezTo>
                  <a:pt x="140" y="2068"/>
                  <a:pt x="233" y="2199"/>
                  <a:pt x="227" y="2276"/>
                </a:cubicBezTo>
                <a:cubicBezTo>
                  <a:pt x="221" y="2353"/>
                  <a:pt x="94" y="2357"/>
                  <a:pt x="95" y="2432"/>
                </a:cubicBezTo>
                <a:cubicBezTo>
                  <a:pt x="96" y="2507"/>
                  <a:pt x="234" y="2646"/>
                  <a:pt x="235" y="2728"/>
                </a:cubicBezTo>
                <a:cubicBezTo>
                  <a:pt x="236" y="2810"/>
                  <a:pt x="90" y="2861"/>
                  <a:pt x="103" y="2923"/>
                </a:cubicBezTo>
                <a:cubicBezTo>
                  <a:pt x="116" y="2985"/>
                  <a:pt x="312" y="3033"/>
                  <a:pt x="313" y="3102"/>
                </a:cubicBezTo>
                <a:cubicBezTo>
                  <a:pt x="314" y="3171"/>
                  <a:pt x="149" y="3301"/>
                  <a:pt x="111" y="333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noAutofit/>
          </a:bodyPr>
          <a:lstStyle/>
          <a:p>
            <a:endParaRPr lang="en-GB"/>
          </a:p>
        </p:txBody>
      </p:sp>
      <p:graphicFrame>
        <p:nvGraphicFramePr>
          <p:cNvPr id="151" name="Object 29">
            <a:extLst>
              <a:ext uri="{FF2B5EF4-FFF2-40B4-BE49-F238E27FC236}">
                <a16:creationId xmlns:a16="http://schemas.microsoft.com/office/drawing/2014/main" id="{2E9F0737-6C02-451E-A3B8-2679E81A10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62700" y="990600"/>
          <a:ext cx="533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11" imgW="1428949" imgH="1428949" progId="">
                  <p:embed/>
                </p:oleObj>
              </mc:Choice>
              <mc:Fallback>
                <p:oleObj name="Photo Editor Photo" r:id="rId11" imgW="1428949" imgH="1428949" progId="">
                  <p:embed/>
                  <p:pic>
                    <p:nvPicPr>
                      <p:cNvPr id="151" name="Object 29">
                        <a:extLst>
                          <a:ext uri="{FF2B5EF4-FFF2-40B4-BE49-F238E27FC236}">
                            <a16:creationId xmlns:a16="http://schemas.microsoft.com/office/drawing/2014/main" id="{2E9F0737-6C02-451E-A3B8-2679E81A10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2700" y="990600"/>
                        <a:ext cx="533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" name="Text Box 29">
            <a:extLst>
              <a:ext uri="{FF2B5EF4-FFF2-40B4-BE49-F238E27FC236}">
                <a16:creationId xmlns:a16="http://schemas.microsoft.com/office/drawing/2014/main" id="{03DCBEFB-3921-4979-B636-90D919D77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2190" y="5364215"/>
            <a:ext cx="132361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rgbClr val="336699"/>
                </a:solidFill>
              </a:rPr>
              <a:t>Customer Premises</a:t>
            </a:r>
            <a:endParaRPr lang="en-GB" sz="1600" b="1" dirty="0">
              <a:solidFill>
                <a:srgbClr val="336699"/>
              </a:solidFill>
              <a:latin typeface="Tahoma" pitchFamily="34" charset="0"/>
            </a:endParaRPr>
          </a:p>
        </p:txBody>
      </p:sp>
      <p:sp>
        <p:nvSpPr>
          <p:cNvPr id="153" name="Text Box 69">
            <a:extLst>
              <a:ext uri="{FF2B5EF4-FFF2-40B4-BE49-F238E27FC236}">
                <a16:creationId xmlns:a16="http://schemas.microsoft.com/office/drawing/2014/main" id="{6DC35C50-2E58-497D-92BF-20B405057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9970" y="3900152"/>
            <a:ext cx="696024" cy="338554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GB" sz="1600" b="1" dirty="0" err="1"/>
              <a:t>bRAS</a:t>
            </a:r>
            <a:endParaRPr lang="en-GB" sz="1600" dirty="0"/>
          </a:p>
        </p:txBody>
      </p:sp>
      <p:sp>
        <p:nvSpPr>
          <p:cNvPr id="154" name="Arc 153">
            <a:extLst>
              <a:ext uri="{FF2B5EF4-FFF2-40B4-BE49-F238E27FC236}">
                <a16:creationId xmlns:a16="http://schemas.microsoft.com/office/drawing/2014/main" id="{5080D9F7-0649-4C5C-8BB2-72E96DC3595A}"/>
              </a:ext>
            </a:extLst>
          </p:cNvPr>
          <p:cNvSpPr/>
          <p:nvPr/>
        </p:nvSpPr>
        <p:spPr>
          <a:xfrm>
            <a:off x="2017713" y="2661557"/>
            <a:ext cx="3278189" cy="861106"/>
          </a:xfrm>
          <a:prstGeom prst="arc">
            <a:avLst/>
          </a:prstGeom>
          <a:ln w="285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5" name="Arc 154">
            <a:extLst>
              <a:ext uri="{FF2B5EF4-FFF2-40B4-BE49-F238E27FC236}">
                <a16:creationId xmlns:a16="http://schemas.microsoft.com/office/drawing/2014/main" id="{4834BA67-D6A5-4066-B1D8-B7132E9DB57D}"/>
              </a:ext>
            </a:extLst>
          </p:cNvPr>
          <p:cNvSpPr/>
          <p:nvPr/>
        </p:nvSpPr>
        <p:spPr>
          <a:xfrm flipV="1">
            <a:off x="3387270" y="2301801"/>
            <a:ext cx="1879819" cy="1567012"/>
          </a:xfrm>
          <a:prstGeom prst="arc">
            <a:avLst/>
          </a:prstGeom>
          <a:ln w="285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AD521B0-5C92-4D66-A01A-E822A1FA8B9C}"/>
              </a:ext>
            </a:extLst>
          </p:cNvPr>
          <p:cNvSpPr txBox="1"/>
          <p:nvPr/>
        </p:nvSpPr>
        <p:spPr>
          <a:xfrm>
            <a:off x="5730359" y="2768076"/>
            <a:ext cx="566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>
                <a:latin typeface="Lucida Sans Unicode" pitchFamily="34" charset="0"/>
              </a:rPr>
              <a:t>VDSL</a:t>
            </a:r>
            <a:endParaRPr lang="en-GB" sz="1200" b="1" dirty="0">
              <a:latin typeface="Lucida Sans Unicode" pitchFamily="34" charset="0"/>
            </a:endParaRPr>
          </a:p>
        </p:txBody>
      </p:sp>
      <p:sp>
        <p:nvSpPr>
          <p:cNvPr id="161" name="Rectangle 110">
            <a:extLst>
              <a:ext uri="{FF2B5EF4-FFF2-40B4-BE49-F238E27FC236}">
                <a16:creationId xmlns:a16="http://schemas.microsoft.com/office/drawing/2014/main" id="{58822652-0CB8-443B-A78C-D022090FA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2765" y="2963991"/>
            <a:ext cx="119888" cy="289453"/>
          </a:xfrm>
          <a:prstGeom prst="rect">
            <a:avLst/>
          </a:prstGeom>
          <a:gradFill rotWithShape="0">
            <a:gsLst>
              <a:gs pos="0">
                <a:srgbClr val="556271"/>
              </a:gs>
              <a:gs pos="50000">
                <a:srgbClr val="B2B2B2"/>
              </a:gs>
              <a:gs pos="100000">
                <a:srgbClr val="556271"/>
              </a:gs>
            </a:gsLst>
            <a:lin ang="2700000" scaled="1"/>
          </a:gradFill>
          <a:ln w="9525">
            <a:miter lim="800000"/>
            <a:headEnd/>
            <a:tailEnd/>
          </a:ln>
          <a:scene3d>
            <a:camera prst="legacyObliqueTopRight">
              <a:rot lat="20999999" lon="20999996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56271"/>
            </a:extrusionClr>
          </a:sp3d>
        </p:spPr>
        <p:txBody>
          <a:bodyPr wrap="square" anchor="ctr">
            <a:spAutoFit/>
            <a:flatTx/>
          </a:bodyPr>
          <a:lstStyle/>
          <a:p>
            <a:endParaRPr lang="en-US"/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7233C56F-7645-44EF-B601-A3309ED3C059}"/>
              </a:ext>
            </a:extLst>
          </p:cNvPr>
          <p:cNvCxnSpPr>
            <a:cxnSpLocks/>
            <a:stCxn id="124" idx="3"/>
            <a:endCxn id="161" idx="1"/>
          </p:cNvCxnSpPr>
          <p:nvPr/>
        </p:nvCxnSpPr>
        <p:spPr>
          <a:xfrm flipV="1">
            <a:off x="5066268" y="3108718"/>
            <a:ext cx="516497" cy="4961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20C4C9F0-0BF0-4377-8739-5449141A1947}"/>
              </a:ext>
            </a:extLst>
          </p:cNvPr>
          <p:cNvSpPr txBox="1"/>
          <p:nvPr/>
        </p:nvSpPr>
        <p:spPr>
          <a:xfrm>
            <a:off x="4900501" y="2678895"/>
            <a:ext cx="811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>
                <a:latin typeface="Lucida Sans Unicode" pitchFamily="34" charset="0"/>
              </a:rPr>
              <a:t>Ethernet</a:t>
            </a:r>
          </a:p>
          <a:p>
            <a:pPr algn="ctr"/>
            <a:r>
              <a:rPr lang="en-GB" sz="1200" b="1">
                <a:latin typeface="Lucida Sans Unicode" pitchFamily="34" charset="0"/>
              </a:rPr>
              <a:t>Fibre</a:t>
            </a:r>
            <a:endParaRPr lang="en-GB" sz="1200" b="1" dirty="0">
              <a:latin typeface="Lucida Sans Unicode" pitchFamily="34" charset="0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78235F88-1969-43BA-B321-B69518875887}"/>
              </a:ext>
            </a:extLst>
          </p:cNvPr>
          <p:cNvSpPr txBox="1"/>
          <p:nvPr/>
        </p:nvSpPr>
        <p:spPr>
          <a:xfrm>
            <a:off x="5224335" y="3220404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>
                <a:latin typeface="Lucida Sans Unicode" pitchFamily="34" charset="0"/>
              </a:rPr>
              <a:t>Street </a:t>
            </a:r>
          </a:p>
          <a:p>
            <a:pPr algn="ctr"/>
            <a:r>
              <a:rPr lang="en-GB" sz="1200" b="1">
                <a:latin typeface="Lucida Sans Unicode" pitchFamily="34" charset="0"/>
              </a:rPr>
              <a:t>Cabinet</a:t>
            </a:r>
          </a:p>
        </p:txBody>
      </p:sp>
    </p:spTree>
    <p:extLst>
      <p:ext uri="{BB962C8B-B14F-4D97-AF65-F5344CB8AC3E}">
        <p14:creationId xmlns:p14="http://schemas.microsoft.com/office/powerpoint/2010/main" val="2950985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288" y="331788"/>
            <a:ext cx="46137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HTTP Streaming: MPEG-DASH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700" y="4382703"/>
            <a:ext cx="8571731" cy="1502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6213" indent="-176213">
              <a:lnSpc>
                <a:spcPts val="2200"/>
              </a:lnSpc>
            </a:pPr>
            <a:r>
              <a:rPr lang="en-GB" sz="1600" b="1" dirty="0">
                <a:latin typeface="Lucida Sans Unicode" pitchFamily="34" charset="0"/>
              </a:rPr>
              <a:t>Content exists on the server in two parts: </a:t>
            </a:r>
          </a:p>
          <a:p>
            <a:pPr marL="354013" lvl="1" indent="-176213">
              <a:lnSpc>
                <a:spcPts val="22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Media Presentation Description (MPD)</a:t>
            </a:r>
          </a:p>
          <a:p>
            <a:pPr marL="354013" lvl="2" indent="-176213">
              <a:lnSpc>
                <a:spcPts val="22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content presentation types, its various alternatives, their URL addresses, etc</a:t>
            </a:r>
          </a:p>
          <a:p>
            <a:pPr marL="538163" lvl="1" indent="-176213">
              <a:lnSpc>
                <a:spcPts val="2200"/>
              </a:lnSpc>
              <a:buFont typeface="Arial" pitchFamily="34" charset="0"/>
              <a:buChar char="•"/>
            </a:pPr>
            <a:r>
              <a:rPr lang="en-GB" sz="1600" b="1" dirty="0">
                <a:latin typeface="Lucida Sans Unicode" pitchFamily="34" charset="0"/>
              </a:rPr>
              <a:t>Segments </a:t>
            </a:r>
            <a:r>
              <a:rPr lang="en-GB" sz="1600" dirty="0">
                <a:latin typeface="Lucida Sans Unicode" pitchFamily="34" charset="0"/>
              </a:rPr>
              <a:t>- contain the content </a:t>
            </a:r>
            <a:r>
              <a:rPr lang="en-GB" sz="1600" dirty="0" err="1">
                <a:latin typeface="Lucida Sans Unicode" pitchFamily="34" charset="0"/>
              </a:rPr>
              <a:t>bitstreams</a:t>
            </a:r>
            <a:r>
              <a:rPr lang="en-GB" sz="1600" dirty="0">
                <a:latin typeface="Lucida Sans Unicode" pitchFamily="34" charset="0"/>
              </a:rPr>
              <a:t> </a:t>
            </a:r>
          </a:p>
          <a:p>
            <a:pPr marL="995363" lvl="2" indent="-176213">
              <a:lnSpc>
                <a:spcPts val="22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in the form of chunks, in single or multiple files.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701" y="1113408"/>
            <a:ext cx="23495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latin typeface="Lucida Sans Unicode" pitchFamily="34" charset="0"/>
              </a:rPr>
              <a:t>Streaming content</a:t>
            </a:r>
          </a:p>
          <a:p>
            <a:r>
              <a:rPr lang="en-GB" sz="1600" b="1" dirty="0">
                <a:latin typeface="Lucida Sans Unicode" pitchFamily="34" charset="0"/>
              </a:rPr>
              <a:t>from HTTP server </a:t>
            </a:r>
          </a:p>
          <a:p>
            <a:r>
              <a:rPr lang="en-GB" sz="1600" b="1" dirty="0">
                <a:latin typeface="Lucida Sans Unicode" pitchFamily="34" charset="0"/>
              </a:rPr>
              <a:t>to a DASH client</a:t>
            </a:r>
          </a:p>
          <a:p>
            <a:pPr marL="176213" indent="-176213"/>
            <a:endParaRPr lang="en-GB" sz="1600" b="1" dirty="0">
              <a:latin typeface="Lucida Sans Unicode" pitchFamily="34" charset="0"/>
            </a:endParaRPr>
          </a:p>
          <a:p>
            <a:pPr marL="176213" indent="-176213"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content stored on HTTP server; delivered using HTTP</a:t>
            </a:r>
          </a:p>
        </p:txBody>
      </p:sp>
      <p:pic>
        <p:nvPicPr>
          <p:cNvPr id="12" name="Picture 2" descr="http://s3.amazonaws.com/crunchbase_prod_assets/assets/images/original/0024/1004/241004v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76223" y="1007648"/>
            <a:ext cx="6307234" cy="29749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412236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6678613" y="1266825"/>
            <a:ext cx="1936750" cy="4500563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431800" y="369888"/>
            <a:ext cx="739497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How Much Access Bandwidth? </a:t>
            </a:r>
            <a:r>
              <a:rPr lang="en-GB" sz="2400" b="1" i="1" dirty="0"/>
              <a:t>(up to recently ...)</a:t>
            </a: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381000" y="1263650"/>
            <a:ext cx="8448675" cy="4308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33413"/>
            <a:r>
              <a:rPr lang="en-GB" sz="2000" b="1" dirty="0">
                <a:solidFill>
                  <a:srgbClr val="990000"/>
                </a:solidFill>
              </a:rPr>
              <a:t>Video 	</a:t>
            </a:r>
            <a:r>
              <a:rPr lang="en-GB" sz="1600" b="1" dirty="0">
                <a:solidFill>
                  <a:srgbClr val="990000"/>
                </a:solidFill>
              </a:rPr>
              <a:t>(biggest payload)</a:t>
            </a:r>
            <a:endParaRPr lang="en-GB" sz="2000" b="1" dirty="0">
              <a:solidFill>
                <a:srgbClr val="990000"/>
              </a:solidFill>
            </a:endParaRPr>
          </a:p>
          <a:p>
            <a:pPr defTabSz="633413"/>
            <a:r>
              <a:rPr lang="en-GB" sz="1600" b="1" dirty="0">
                <a:solidFill>
                  <a:srgbClr val="990000"/>
                </a:solidFill>
              </a:rPr>
              <a:t>		assume MPEG4 / WM9, say </a:t>
            </a:r>
          </a:p>
          <a:p>
            <a:pPr defTabSz="633413"/>
            <a:r>
              <a:rPr lang="en-GB" sz="1600" b="1" dirty="0">
                <a:solidFill>
                  <a:srgbClr val="990000"/>
                </a:solidFill>
              </a:rPr>
              <a:t>			2x SD streams = 2 x [0.5 ... 1Mbs]</a:t>
            </a:r>
          </a:p>
          <a:p>
            <a:pPr defTabSz="633413"/>
            <a:r>
              <a:rPr lang="en-GB" sz="1600" b="1" dirty="0">
                <a:solidFill>
                  <a:srgbClr val="990000"/>
                </a:solidFill>
              </a:rPr>
              <a:t>		+	2 x HDTV streams = 2 x [3 … 6Mbs]</a:t>
            </a:r>
            <a:r>
              <a:rPr lang="en-GB" sz="2000" b="1" dirty="0">
                <a:solidFill>
                  <a:srgbClr val="990000"/>
                </a:solidFill>
              </a:rPr>
              <a:t> </a:t>
            </a:r>
          </a:p>
          <a:p>
            <a:pPr defTabSz="633413"/>
            <a:r>
              <a:rPr lang="en-GB" sz="1600" b="1" dirty="0">
                <a:solidFill>
                  <a:srgbClr val="990000"/>
                </a:solidFill>
              </a:rPr>
              <a:t>		=	… 	…	…	…	…	…	…	~ 10 … 15Mbs</a:t>
            </a:r>
            <a:r>
              <a:rPr lang="en-GB" sz="2000" b="1" dirty="0"/>
              <a:t>			</a:t>
            </a:r>
          </a:p>
          <a:p>
            <a:pPr defTabSz="633413"/>
            <a:r>
              <a:rPr lang="en-GB" sz="2000" b="1" dirty="0">
                <a:solidFill>
                  <a:srgbClr val="008000"/>
                </a:solidFill>
              </a:rPr>
              <a:t>Data </a:t>
            </a:r>
          </a:p>
          <a:p>
            <a:pPr defTabSz="633413"/>
            <a:r>
              <a:rPr lang="en-GB" sz="1600" b="1" dirty="0">
                <a:solidFill>
                  <a:srgbClr val="008000"/>
                </a:solidFill>
              </a:rPr>
              <a:t>		assume RT (or better) download video …	~ 2 … 3 </a:t>
            </a:r>
            <a:r>
              <a:rPr lang="en-GB" sz="1600" b="1" dirty="0" err="1">
                <a:solidFill>
                  <a:srgbClr val="008000"/>
                </a:solidFill>
              </a:rPr>
              <a:t>Mbs</a:t>
            </a:r>
            <a:endParaRPr lang="en-GB" sz="1600" b="1" dirty="0"/>
          </a:p>
          <a:p>
            <a:pPr defTabSz="633413"/>
            <a:endParaRPr lang="en-GB" sz="1600" b="1" dirty="0"/>
          </a:p>
          <a:p>
            <a:pPr defTabSz="633413"/>
            <a:r>
              <a:rPr lang="en-GB" sz="2000" b="1" dirty="0">
                <a:solidFill>
                  <a:schemeClr val="accent2"/>
                </a:solidFill>
              </a:rPr>
              <a:t>Voice									</a:t>
            </a:r>
            <a:r>
              <a:rPr lang="en-GB" sz="2000" dirty="0">
                <a:solidFill>
                  <a:schemeClr val="accent2"/>
                </a:solidFill>
              </a:rPr>
              <a:t> 	</a:t>
            </a:r>
            <a:endParaRPr lang="en-GB" sz="2000" b="1" dirty="0">
              <a:solidFill>
                <a:schemeClr val="accent2"/>
              </a:solidFill>
            </a:endParaRPr>
          </a:p>
          <a:p>
            <a:pPr defTabSz="633413"/>
            <a:r>
              <a:rPr lang="en-GB" sz="1600" b="1" dirty="0">
                <a:solidFill>
                  <a:schemeClr val="accent2"/>
                </a:solidFill>
              </a:rPr>
              <a:t>		(negligible)							~ 	…</a:t>
            </a:r>
            <a:endParaRPr lang="en-GB" sz="1600" b="1" dirty="0"/>
          </a:p>
          <a:p>
            <a:pPr defTabSz="633413"/>
            <a:r>
              <a:rPr lang="en-GB" sz="1600" b="1" dirty="0"/>
              <a:t>	</a:t>
            </a:r>
          </a:p>
          <a:p>
            <a:pPr defTabSz="633413"/>
            <a:endParaRPr lang="en-GB" sz="900" b="1" dirty="0"/>
          </a:p>
          <a:p>
            <a:pPr defTabSz="633413"/>
            <a:r>
              <a:rPr lang="en-GB" sz="2000" b="1" dirty="0"/>
              <a:t>Total </a:t>
            </a:r>
            <a:r>
              <a:rPr lang="en-GB" sz="1600" b="1" dirty="0"/>
              <a:t>	…	… 	… 	…	…	…	…	…	&lt; 20Mbs</a:t>
            </a:r>
            <a:endParaRPr lang="en-GB" sz="1600" b="1" dirty="0">
              <a:latin typeface="Tahoma" pitchFamily="34" charset="0"/>
            </a:endParaRPr>
          </a:p>
          <a:p>
            <a:pPr defTabSz="633413"/>
            <a:endParaRPr lang="en-GB" sz="2000" b="1" dirty="0">
              <a:latin typeface="Tahoma" pitchFamily="34" charset="0"/>
            </a:endParaRPr>
          </a:p>
        </p:txBody>
      </p:sp>
      <p:sp>
        <p:nvSpPr>
          <p:cNvPr id="38917" name="Line 5"/>
          <p:cNvSpPr>
            <a:spLocks noChangeShapeType="1"/>
          </p:cNvSpPr>
          <p:nvPr/>
        </p:nvSpPr>
        <p:spPr bwMode="auto">
          <a:xfrm>
            <a:off x="381000" y="5010150"/>
            <a:ext cx="8310563" cy="11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6192839" y="1160463"/>
            <a:ext cx="2247900" cy="785812"/>
            <a:chOff x="3901" y="731"/>
            <a:chExt cx="1416" cy="495"/>
          </a:xfrm>
        </p:grpSpPr>
        <p:sp>
          <p:nvSpPr>
            <p:cNvPr id="38920" name="AutoShape 7"/>
            <p:cNvSpPr>
              <a:spLocks noChangeArrowheads="1"/>
            </p:cNvSpPr>
            <p:nvPr/>
          </p:nvSpPr>
          <p:spPr bwMode="auto">
            <a:xfrm>
              <a:off x="3901" y="731"/>
              <a:ext cx="1416" cy="495"/>
            </a:xfrm>
            <a:prstGeom prst="wedgeRoundRectCallout">
              <a:avLst>
                <a:gd name="adj1" fmla="val -49856"/>
                <a:gd name="adj2" fmla="val 95051"/>
                <a:gd name="adj3" fmla="val 16667"/>
              </a:avLst>
            </a:prstGeom>
            <a:solidFill>
              <a:srgbClr val="FF7C8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000" b="1">
                <a:latin typeface="Tahoma" pitchFamily="34" charset="0"/>
              </a:endParaRPr>
            </a:p>
          </p:txBody>
        </p:sp>
        <p:sp>
          <p:nvSpPr>
            <p:cNvPr id="38921" name="Text Box 8"/>
            <p:cNvSpPr txBox="1">
              <a:spLocks noChangeArrowheads="1"/>
            </p:cNvSpPr>
            <p:nvPr/>
          </p:nvSpPr>
          <p:spPr bwMode="auto">
            <a:xfrm>
              <a:off x="3992" y="804"/>
              <a:ext cx="126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GB" sz="1600" i="1">
                  <a:latin typeface="Tahoma" pitchFamily="34" charset="0"/>
                </a:rPr>
                <a:t>Contentious figures!</a:t>
              </a:r>
            </a:p>
            <a:p>
              <a:pPr algn="ctr"/>
              <a:r>
                <a:rPr lang="en-GB" sz="1100" i="1">
                  <a:latin typeface="Tahoma" pitchFamily="34" charset="0"/>
                </a:rPr>
                <a:t>But quite likely</a:t>
              </a:r>
              <a:endParaRPr lang="en-GB" sz="2000" b="1" i="1">
                <a:latin typeface="Tahoma" pitchFamily="34" charset="0"/>
              </a:endParaRPr>
            </a:p>
          </p:txBody>
        </p:sp>
      </p:grpSp>
      <p:sp>
        <p:nvSpPr>
          <p:cNvPr id="38919" name="TextBox 8"/>
          <p:cNvSpPr txBox="1">
            <a:spLocks noChangeArrowheads="1"/>
          </p:cNvSpPr>
          <p:nvPr/>
        </p:nvSpPr>
        <p:spPr bwMode="auto">
          <a:xfrm>
            <a:off x="4876800" y="5114806"/>
            <a:ext cx="381476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i="1" dirty="0"/>
              <a:t>however - UHD, HDR, Frame Rates…</a:t>
            </a:r>
          </a:p>
        </p:txBody>
      </p:sp>
    </p:spTree>
    <p:extLst>
      <p:ext uri="{BB962C8B-B14F-4D97-AF65-F5344CB8AC3E}">
        <p14:creationId xmlns:p14="http://schemas.microsoft.com/office/powerpoint/2010/main" val="6736882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3700" y="1054554"/>
            <a:ext cx="83788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600" b="1" dirty="0">
                <a:latin typeface="Lucida Sans Unicode" pitchFamily="34" charset="0"/>
                <a:cs typeface="Lucida Sans Unicode" pitchFamily="34" charset="0"/>
              </a:rPr>
              <a:t>Content Delivery  Networks</a:t>
            </a:r>
          </a:p>
        </p:txBody>
      </p:sp>
    </p:spTree>
    <p:extLst>
      <p:ext uri="{BB962C8B-B14F-4D97-AF65-F5344CB8AC3E}">
        <p14:creationId xmlns:p14="http://schemas.microsoft.com/office/powerpoint/2010/main" val="8201214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619" y="1493520"/>
            <a:ext cx="6753225" cy="3505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95288" y="4676091"/>
            <a:ext cx="759736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/>
            <a:r>
              <a:rPr lang="en-GB" sz="1600" b="1" dirty="0">
                <a:latin typeface="Lucida Sans Unicode" pitchFamily="34" charset="0"/>
              </a:rPr>
              <a:t>CDN </a:t>
            </a:r>
            <a:r>
              <a:rPr lang="en-GB" sz="1600" dirty="0">
                <a:latin typeface="Lucida Sans Unicode" pitchFamily="34" charset="0"/>
              </a:rPr>
              <a:t>- to optimize content delivery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infrastructure solutions to network service providers who deploy their own dedicated digital media delivery</a:t>
            </a:r>
          </a:p>
          <a:p>
            <a:pPr marL="179388" indent="-179388">
              <a:buFont typeface="Arial" pitchFamily="34" charset="0"/>
              <a:buChar char="•"/>
              <a:defRPr/>
            </a:pPr>
            <a:r>
              <a:rPr lang="en-GB" sz="1600" dirty="0">
                <a:latin typeface="Lucida Sans Unicode" pitchFamily="34" charset="0"/>
              </a:rPr>
              <a:t>asset tracking</a:t>
            </a:r>
          </a:p>
          <a:p>
            <a:pPr marL="179388" indent="-179388">
              <a:buFont typeface="Arial" pitchFamily="34" charset="0"/>
              <a:buChar char="•"/>
              <a:defRPr/>
            </a:pPr>
            <a:r>
              <a:rPr lang="en-GB" sz="1600" dirty="0">
                <a:latin typeface="Lucida Sans Unicode" pitchFamily="34" charset="0"/>
              </a:rPr>
              <a:t>network performance</a:t>
            </a:r>
          </a:p>
          <a:p>
            <a:pPr marL="636588" lvl="1" indent="-179388">
              <a:buFont typeface="Arial" pitchFamily="34" charset="0"/>
              <a:buChar char="•"/>
              <a:defRPr/>
            </a:pPr>
            <a:r>
              <a:rPr lang="en-US" sz="1600" dirty="0">
                <a:latin typeface="Lucida Sans Unicode" pitchFamily="34" charset="0"/>
              </a:rPr>
              <a:t>real-time load</a:t>
            </a:r>
          </a:p>
          <a:p>
            <a:pPr marL="636588" lvl="1" indent="-179388">
              <a:buFont typeface="Arial" pitchFamily="34" charset="0"/>
              <a:buChar char="•"/>
              <a:defRPr/>
            </a:pPr>
            <a:r>
              <a:rPr lang="en-US" sz="1600" dirty="0">
                <a:latin typeface="Lucida Sans Unicode" pitchFamily="34" charset="0"/>
              </a:rPr>
              <a:t>statistics reporting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393700" y="851413"/>
            <a:ext cx="8034337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9388" indent="-179388"/>
            <a:r>
              <a:rPr lang="en-GB" sz="1600" b="1" dirty="0">
                <a:latin typeface="Lucida Sans Unicode" pitchFamily="34" charset="0"/>
              </a:rPr>
              <a:t>Internet  - </a:t>
            </a:r>
            <a:r>
              <a:rPr lang="en-GB" sz="1600" dirty="0">
                <a:latin typeface="Lucida Sans Unicode" pitchFamily="34" charset="0"/>
              </a:rPr>
              <a:t>end-to-end </a:t>
            </a:r>
          </a:p>
          <a:p>
            <a:pPr marL="636588" lvl="1" indent="-179388"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core network </a:t>
            </a:r>
            <a:r>
              <a:rPr lang="en-GB" dirty="0"/>
              <a:t>is simple - only forwards data packets</a:t>
            </a:r>
            <a:endParaRPr lang="en-GB" sz="1600" dirty="0">
              <a:latin typeface="Lucida Sans Unicode" pitchFamily="34" charset="0"/>
            </a:endParaRPr>
          </a:p>
          <a:p>
            <a:pPr marL="636588" lvl="1" indent="-179388"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intelligence is at edges</a:t>
            </a:r>
          </a:p>
          <a:p>
            <a:pPr marL="636588" lvl="1" indent="-179388">
              <a:buFont typeface="Arial" charset="0"/>
              <a:buChar char="•"/>
            </a:pPr>
            <a:endParaRPr lang="en-GB" sz="1600" dirty="0">
              <a:latin typeface="Lucida Sans Unicode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95288" y="331788"/>
            <a:ext cx="31886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Content Networking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288" y="3899139"/>
            <a:ext cx="23936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bg1">
                    <a:lumMod val="50000"/>
                  </a:schemeClr>
                </a:solidFill>
              </a:rPr>
              <a:t>1 – central server</a:t>
            </a:r>
          </a:p>
          <a:p>
            <a:r>
              <a:rPr lang="en-GB" sz="1200" i="1" dirty="0">
                <a:solidFill>
                  <a:schemeClr val="bg1">
                    <a:lumMod val="50000"/>
                  </a:schemeClr>
                </a:solidFill>
              </a:rPr>
              <a:t>2 – cache (edge server/cache)</a:t>
            </a:r>
          </a:p>
          <a:p>
            <a:r>
              <a:rPr lang="en-GB" sz="1200" i="1" dirty="0">
                <a:solidFill>
                  <a:schemeClr val="bg1">
                    <a:lumMod val="50000"/>
                  </a:schemeClr>
                </a:solidFill>
              </a:rPr>
              <a:t>3 – end users</a:t>
            </a:r>
          </a:p>
        </p:txBody>
      </p:sp>
    </p:spTree>
    <p:extLst>
      <p:ext uri="{BB962C8B-B14F-4D97-AF65-F5344CB8AC3E}">
        <p14:creationId xmlns:p14="http://schemas.microsoft.com/office/powerpoint/2010/main" val="544093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619" y="1493520"/>
            <a:ext cx="6753225" cy="3505200"/>
          </a:xfrm>
          <a:prstGeom prst="rect">
            <a:avLst/>
          </a:prstGeom>
        </p:spPr>
      </p:pic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393700" y="851413"/>
            <a:ext cx="8034337" cy="1077218"/>
          </a:xfrm>
          <a:prstGeom prst="rect">
            <a:avLst/>
          </a:prstGeom>
          <a:solidFill>
            <a:schemeClr val="bg1">
              <a:alpha val="67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9388" indent="-179388"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system of caches containing copies of data </a:t>
            </a:r>
          </a:p>
          <a:p>
            <a:pPr marL="179388" indent="-179388"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data is distributed at various points in a network</a:t>
            </a:r>
          </a:p>
          <a:p>
            <a:pPr marL="179388" indent="-179388"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maximizes the bandwidth required to access the data from clients throughout the network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95288" y="331788"/>
            <a:ext cx="31886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Content Networking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288" y="3899139"/>
            <a:ext cx="23936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bg1">
                    <a:lumMod val="50000"/>
                  </a:schemeClr>
                </a:solidFill>
              </a:rPr>
              <a:t>1 – central server</a:t>
            </a:r>
          </a:p>
          <a:p>
            <a:r>
              <a:rPr lang="en-GB" sz="1200" i="1" dirty="0">
                <a:solidFill>
                  <a:schemeClr val="bg1">
                    <a:lumMod val="50000"/>
                  </a:schemeClr>
                </a:solidFill>
              </a:rPr>
              <a:t>2 – cache (edge server/cache)</a:t>
            </a:r>
          </a:p>
          <a:p>
            <a:r>
              <a:rPr lang="en-GB" sz="1200" i="1" dirty="0">
                <a:solidFill>
                  <a:schemeClr val="bg1">
                    <a:lumMod val="50000"/>
                  </a:schemeClr>
                </a:solidFill>
              </a:rPr>
              <a:t>3 – end users</a:t>
            </a:r>
          </a:p>
        </p:txBody>
      </p:sp>
    </p:spTree>
    <p:extLst>
      <p:ext uri="{BB962C8B-B14F-4D97-AF65-F5344CB8AC3E}">
        <p14:creationId xmlns:p14="http://schemas.microsoft.com/office/powerpoint/2010/main" val="3049736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ud 1"/>
          <p:cNvSpPr/>
          <p:nvPr/>
        </p:nvSpPr>
        <p:spPr bwMode="auto">
          <a:xfrm>
            <a:off x="395288" y="2443490"/>
            <a:ext cx="6910768" cy="1929384"/>
          </a:xfrm>
          <a:prstGeom prst="cloud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69000">
                <a:schemeClr val="accent6">
                  <a:lumMod val="40000"/>
                  <a:lumOff val="6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9525" cap="flat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95288" y="331788"/>
            <a:ext cx="17171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The Cloud</a:t>
            </a:r>
            <a:endParaRPr lang="en-GB" sz="2400" b="1" dirty="0">
              <a:latin typeface="Lucida Sans Unicode" pitchFamily="34" charset="0"/>
            </a:endParaRPr>
          </a:p>
        </p:txBody>
      </p:sp>
      <p:pic>
        <p:nvPicPr>
          <p:cNvPr id="9218" name="Picture 2" descr="Computer Clipart Image: Compu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230" y="4722914"/>
            <a:ext cx="1340017" cy="1405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ttp://3.bp.blogspot.com/-Re9ivsVLipQ/VVD-mFzN_1I/AAAAAAAACZA/hKWagNTb3WM/s1600/cumputer_animated.gif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0905" y="5164649"/>
            <a:ext cx="1746377" cy="1090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 descr="http://www.onlinenewspapers.com/images/magazines-computer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8582" y="4445813"/>
            <a:ext cx="2231070" cy="1950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481656" y="849765"/>
            <a:ext cx="5802201" cy="2475965"/>
            <a:chOff x="1287052" y="918493"/>
            <a:chExt cx="5802201" cy="2475965"/>
          </a:xfrm>
        </p:grpSpPr>
        <p:pic>
          <p:nvPicPr>
            <p:cNvPr id="15" name="Picture 16" descr="Bank of computers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7052" y="1486048"/>
              <a:ext cx="2534090" cy="16359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6" descr="Bank of computers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8996" y="1156394"/>
              <a:ext cx="2534090" cy="20826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6" descr="Bank of computers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214" y="1806195"/>
              <a:ext cx="558039" cy="2926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6" descr="Bank of computers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46975" y="1595141"/>
              <a:ext cx="909858" cy="8237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32" name="Picture 16" descr="Bank of computers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6559" y="918493"/>
              <a:ext cx="3012711" cy="24759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TextBox 4"/>
          <p:cNvSpPr txBox="1"/>
          <p:nvPr/>
        </p:nvSpPr>
        <p:spPr>
          <a:xfrm>
            <a:off x="5432846" y="2388865"/>
            <a:ext cx="320312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dirty="0"/>
              <a:t>Storage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dirty="0"/>
              <a:t>Processing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dirty="0"/>
              <a:t>Software as a Service (SaaS)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dirty="0"/>
              <a:t>Platform as a Service (</a:t>
            </a:r>
            <a:r>
              <a:rPr lang="en-GB" dirty="0" err="1"/>
              <a:t>PaaS</a:t>
            </a:r>
            <a:r>
              <a:rPr lang="en-GB"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6086" y="755254"/>
            <a:ext cx="3935693" cy="1569660"/>
          </a:xfrm>
          <a:prstGeom prst="rect">
            <a:avLst/>
          </a:prstGeom>
          <a:solidFill>
            <a:schemeClr val="bg1">
              <a:alpha val="78039"/>
            </a:schemeClr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Not really a cloud (!)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dirty="0"/>
              <a:t>a facility of servers and processors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dirty="0"/>
              <a:t>may be private owned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dirty="0"/>
              <a:t>may be third party owned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dirty="0"/>
              <a:t>resources rented out </a:t>
            </a:r>
          </a:p>
          <a:p>
            <a:pPr marL="639763" lvl="1" indent="-182563">
              <a:buFont typeface="Arial" panose="020B0604020202020204" pitchFamily="34" charset="0"/>
              <a:buChar char="•"/>
            </a:pPr>
            <a:r>
              <a:rPr lang="en-GB" dirty="0"/>
              <a:t>service level agreements</a:t>
            </a:r>
          </a:p>
        </p:txBody>
      </p:sp>
      <p:cxnSp>
        <p:nvCxnSpPr>
          <p:cNvPr id="8" name="Straight Arrow Connector 7"/>
          <p:cNvCxnSpPr>
            <a:stCxn id="9218" idx="0"/>
          </p:cNvCxnSpPr>
          <p:nvPr/>
        </p:nvCxnSpPr>
        <p:spPr bwMode="auto">
          <a:xfrm flipV="1">
            <a:off x="1485239" y="2734056"/>
            <a:ext cx="197257" cy="198885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/>
          <p:cNvCxnSpPr/>
          <p:nvPr/>
        </p:nvCxnSpPr>
        <p:spPr bwMode="auto">
          <a:xfrm flipH="1" flipV="1">
            <a:off x="2743200" y="2485398"/>
            <a:ext cx="1325049" cy="258794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Arrow Connector 23"/>
          <p:cNvCxnSpPr/>
          <p:nvPr/>
        </p:nvCxnSpPr>
        <p:spPr bwMode="auto">
          <a:xfrm flipH="1" flipV="1">
            <a:off x="3726793" y="2241129"/>
            <a:ext cx="2598162" cy="258690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5999330" y="3518986"/>
            <a:ext cx="294984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e.g.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media workflow facilities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video </a:t>
            </a:r>
            <a:r>
              <a:rPr lang="en-GB" dirty="0" err="1"/>
              <a:t>headends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etc</a:t>
            </a:r>
            <a:r>
              <a:rPr lang="en-GB" dirty="0"/>
              <a:t> …</a:t>
            </a:r>
          </a:p>
        </p:txBody>
      </p:sp>
    </p:spTree>
    <p:extLst>
      <p:ext uri="{BB962C8B-B14F-4D97-AF65-F5344CB8AC3E}">
        <p14:creationId xmlns:p14="http://schemas.microsoft.com/office/powerpoint/2010/main" val="20603883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331788"/>
            <a:ext cx="58368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Cloud Computing,  Amazon Instances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93700" y="1038053"/>
          <a:ext cx="8257320" cy="4710740"/>
        </p:xfrm>
        <a:graphic>
          <a:graphicData uri="http://schemas.openxmlformats.org/drawingml/2006/table">
            <a:tbl>
              <a:tblPr/>
              <a:tblGrid>
                <a:gridCol w="910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6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15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6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21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70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70185">
                <a:tc>
                  <a:txBody>
                    <a:bodyPr/>
                    <a:lstStyle/>
                    <a:p>
                      <a:r>
                        <a:rPr lang="en-GB" sz="1400" b="1" dirty="0"/>
                        <a:t>Instance</a:t>
                      </a:r>
                      <a:endParaRPr lang="en-GB" sz="1400" dirty="0"/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EC2 Compute Units</a:t>
                      </a:r>
                      <a:endParaRPr lang="en-GB" sz="1400"/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Memory (GB)</a:t>
                      </a:r>
                      <a:endParaRPr lang="en-GB" sz="1400"/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Instance Storage (GB)</a:t>
                      </a:r>
                      <a:br>
                        <a:rPr lang="en-GB" sz="1400" b="1"/>
                      </a:br>
                      <a:endParaRPr lang="en-GB" sz="1400"/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Platform</a:t>
                      </a:r>
                      <a:endParaRPr lang="en-GB" sz="1400"/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I/O Performance</a:t>
                      </a:r>
                      <a:endParaRPr lang="en-GB" sz="1400"/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Hourly Price</a:t>
                      </a:r>
                      <a:endParaRPr lang="en-GB" sz="1400"/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8111">
                <a:tc>
                  <a:txBody>
                    <a:bodyPr/>
                    <a:lstStyle/>
                    <a:p>
                      <a:r>
                        <a:rPr lang="en-GB" sz="1400"/>
                        <a:t>Small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/>
                        <a:t>1</a:t>
                      </a:r>
                      <a:br>
                        <a:rPr lang="it-IT" sz="1400"/>
                      </a:br>
                      <a:r>
                        <a:rPr lang="it-IT" sz="1400">
                          <a:latin typeface="Arial"/>
                        </a:rPr>
                        <a:t>(1 Virtual Core x 1 Compute Unit)</a:t>
                      </a:r>
                      <a:endParaRPr lang="it-IT" sz="1400"/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1.7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160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32-bit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Moderate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$0.10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8111">
                <a:tc>
                  <a:txBody>
                    <a:bodyPr/>
                    <a:lstStyle/>
                    <a:p>
                      <a:r>
                        <a:rPr lang="en-GB" sz="1400"/>
                        <a:t>Large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/>
                        <a:t>4</a:t>
                      </a:r>
                      <a:br>
                        <a:rPr lang="it-IT" sz="1400"/>
                      </a:br>
                      <a:r>
                        <a:rPr lang="it-IT" sz="1400">
                          <a:latin typeface="Arial"/>
                        </a:rPr>
                        <a:t>(2 Virtual Core x 2 Compute Unit)</a:t>
                      </a:r>
                      <a:endParaRPr lang="it-IT" sz="1400"/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7.5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850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64-bit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High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$0.40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8111">
                <a:tc>
                  <a:txBody>
                    <a:bodyPr/>
                    <a:lstStyle/>
                    <a:p>
                      <a:r>
                        <a:rPr lang="en-GB" sz="1400"/>
                        <a:t>X-Large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/>
                        <a:t>8</a:t>
                      </a:r>
                      <a:br>
                        <a:rPr lang="it-IT" sz="1400"/>
                      </a:br>
                      <a:r>
                        <a:rPr lang="it-IT" sz="1400">
                          <a:latin typeface="Arial"/>
                        </a:rPr>
                        <a:t>(4 Virtual Core x 2 Compute Unit)</a:t>
                      </a:r>
                      <a:endParaRPr lang="it-IT" sz="1400"/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15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1690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64-bit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High</a:t>
                      </a:r>
                      <a:br>
                        <a:rPr lang="en-GB" sz="1400"/>
                      </a:br>
                      <a:endParaRPr lang="en-GB" sz="1400"/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$0.80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8111">
                <a:tc>
                  <a:txBody>
                    <a:bodyPr/>
                    <a:lstStyle/>
                    <a:p>
                      <a:r>
                        <a:rPr lang="en-GB" sz="1400"/>
                        <a:t>High-CPU Medium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/>
                        <a:t>5</a:t>
                      </a:r>
                      <a:br>
                        <a:rPr lang="it-IT" sz="1400"/>
                      </a:br>
                      <a:r>
                        <a:rPr lang="it-IT" sz="1400">
                          <a:latin typeface="Arial"/>
                        </a:rPr>
                        <a:t>(2 Virtual Core x 2.5 Compute Unit)</a:t>
                      </a:r>
                      <a:endParaRPr lang="it-IT" sz="1400"/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1.7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350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32-bit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Moderate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$0.20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8111">
                <a:tc>
                  <a:txBody>
                    <a:bodyPr/>
                    <a:lstStyle/>
                    <a:p>
                      <a:r>
                        <a:rPr lang="en-GB" sz="1400"/>
                        <a:t>High-CPU XL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/>
                        <a:t>20</a:t>
                      </a:r>
                      <a:br>
                        <a:rPr lang="it-IT" sz="1400"/>
                      </a:br>
                      <a:r>
                        <a:rPr lang="it-IT" sz="1400">
                          <a:latin typeface="Arial"/>
                        </a:rPr>
                        <a:t>(8 Virtual Core x 2.5 Compute Unit)</a:t>
                      </a:r>
                      <a:endParaRPr lang="it-IT" sz="1400"/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7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1690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64-bit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High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$0.80</a:t>
                      </a:r>
                    </a:p>
                  </a:txBody>
                  <a:tcPr marL="19080" marR="19080" marT="9540" marB="9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395288" y="6095155"/>
            <a:ext cx="7732533" cy="400110"/>
          </a:xfrm>
          <a:prstGeom prst="rect">
            <a:avLst/>
          </a:prstGeom>
          <a:solidFill>
            <a:srgbClr val="CCCCFF"/>
          </a:solidFill>
        </p:spPr>
        <p:txBody>
          <a:bodyPr wrap="square">
            <a:spAutoFit/>
          </a:bodyPr>
          <a:lstStyle/>
          <a:p>
            <a:r>
              <a:rPr lang="en-GB" sz="1000" dirty="0">
                <a:hlinkClick r:id="rId2"/>
              </a:rPr>
              <a:t>http://gevaperry.typepad.com/main/2009/03/figuring-out-the-roi-of-infrastructureasaservice.html</a:t>
            </a:r>
            <a:endParaRPr lang="en-GB" sz="1000" dirty="0"/>
          </a:p>
          <a:p>
            <a:r>
              <a:rPr lang="en-GB" sz="1000" dirty="0"/>
              <a:t>(more information at - http://aws.amazon.com/ec2/instance-types )</a:t>
            </a:r>
          </a:p>
        </p:txBody>
      </p:sp>
    </p:spTree>
    <p:extLst>
      <p:ext uri="{BB962C8B-B14F-4D97-AF65-F5344CB8AC3E}">
        <p14:creationId xmlns:p14="http://schemas.microsoft.com/office/powerpoint/2010/main" val="3796434205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plate">
      <a:majorFont>
        <a:latin typeface="Lucida Sans Unicode"/>
        <a:ea typeface=""/>
        <a:cs typeface=""/>
      </a:majorFont>
      <a:minorFont>
        <a:latin typeface="Lucida Sans Unico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lnDef>
  </a:objectDefaults>
  <a:extraClrSchemeLst>
    <a:extraClrScheme>
      <a:clrScheme name="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1131</TotalTime>
  <Words>2148</Words>
  <Application>Microsoft Office PowerPoint</Application>
  <PresentationFormat>On-screen Show (4:3)</PresentationFormat>
  <Paragraphs>622</Paragraphs>
  <Slides>40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Lucida Sans Unicode</vt:lpstr>
      <vt:lpstr>Tahoma</vt:lpstr>
      <vt:lpstr>Template</vt:lpstr>
      <vt:lpstr>Custom Design</vt:lpstr>
      <vt:lpstr>Photo Editor Photo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n/a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JFoss</dc:creator>
  <cp:lastModifiedBy>Jeremy Foss</cp:lastModifiedBy>
  <cp:revision>126</cp:revision>
  <cp:lastPrinted>2019-05-13T14:05:50Z</cp:lastPrinted>
  <dcterms:created xsi:type="dcterms:W3CDTF">2006-09-10T21:25:56Z</dcterms:created>
  <dcterms:modified xsi:type="dcterms:W3CDTF">2021-06-08T21:36:50Z</dcterms:modified>
</cp:coreProperties>
</file>