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 r:id="rId2"/>
    <p:sldId id="264" r:id="rId3"/>
    <p:sldId id="265" r:id="rId4"/>
    <p:sldId id="266" r:id="rId5"/>
    <p:sldId id="259" r:id="rId6"/>
    <p:sldId id="260" r:id="rId7"/>
    <p:sldId id="263" r:id="rId8"/>
    <p:sldId id="258"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F03A3E-9C97-AA2D-5F82-EFB3F05EA23F}" v="17" dt="2021-06-11T08:04:38.903"/>
    <p1510:client id="{2CBC8B93-CFEB-1483-E2B5-C3C0D40ADCBF}" v="85" dt="2021-06-10T16:03:57.095"/>
    <p1510:client id="{5513E147-686B-8B3F-AEE9-73D05F0F3A19}" v="29" dt="2021-06-10T20:42:42.172"/>
    <p1510:client id="{894E0A11-0638-5CB2-0274-AA56CA85366F}" v="1" dt="2021-06-10T15:52:39.507"/>
    <p1510:client id="{902DA5D5-2459-D5F7-FCA1-C03466175CA7}" v="63" dt="2021-06-08T15:31:16.386"/>
    <p1510:client id="{AECC23EA-3199-3CAC-61EE-696AFEF08257}" v="39" dt="2021-06-11T08:05:36.926"/>
    <p1510:client id="{B7A9FD09-356B-4009-A182-ADA2E439F9D8}" v="172" dt="2021-05-21T08:59:18.854"/>
    <p1510:client id="{D0DAFD72-A5F3-6DBE-1506-142462122B8D}" v="23" dt="2021-06-10T21:12:40.460"/>
    <p1510:client id="{DA449041-BD28-86C4-494D-D9F75424CB76}" v="1" dt="2021-06-10T14:32:23.290"/>
    <p1510:client id="{DD28A4BD-B9D2-4912-A88E-EC6265F7CDC5}" v="24" dt="2021-06-08T21:23:32.024"/>
    <p1510:client id="{EE5A79B3-6C60-49E6-B45E-8E2F9AEBF140}" v="296" dt="2021-05-21T08:38:42.4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41D437-0F98-4078-99E7-011B17C0C13B}" type="datetimeFigureOut">
              <a:rPr lang="en-US"/>
              <a:t>6/11/2021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A7D800-BB8F-40BC-BDC5-2DD5B9F7C21B}" type="slidenum">
              <a:rPr lang="en-US"/>
              <a:t>‹#›</a:t>
            </a:fld>
            <a:endParaRPr lang="en-US"/>
          </a:p>
        </p:txBody>
      </p:sp>
    </p:spTree>
    <p:extLst>
      <p:ext uri="{BB962C8B-B14F-4D97-AF65-F5344CB8AC3E}">
        <p14:creationId xmlns:p14="http://schemas.microsoft.com/office/powerpoint/2010/main" val="26083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These contain a variety of different type of equipment all doing separate jobs that enable radio stations to send information along specific radio frequencies. They are found all over the UK and play a big part in peoples day to day lives.</a:t>
            </a:r>
          </a:p>
        </p:txBody>
      </p:sp>
      <p:sp>
        <p:nvSpPr>
          <p:cNvPr id="4" name="Slide Number Placeholder 3"/>
          <p:cNvSpPr>
            <a:spLocks noGrp="1"/>
          </p:cNvSpPr>
          <p:nvPr>
            <p:ph type="sldNum" sz="quarter" idx="5"/>
          </p:nvPr>
        </p:nvSpPr>
        <p:spPr/>
        <p:txBody>
          <a:bodyPr/>
          <a:lstStyle/>
          <a:p>
            <a:fld id="{52A7D800-BB8F-40BC-BDC5-2DD5B9F7C21B}" type="slidenum">
              <a:rPr lang="en-US"/>
              <a:t>4</a:t>
            </a:fld>
            <a:endParaRPr lang="en-US"/>
          </a:p>
        </p:txBody>
      </p:sp>
    </p:spTree>
    <p:extLst>
      <p:ext uri="{BB962C8B-B14F-4D97-AF65-F5344CB8AC3E}">
        <p14:creationId xmlns:p14="http://schemas.microsoft.com/office/powerpoint/2010/main" val="2039449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Once the signal enters the transmission station from the studio it is first met by a codec. This device encodes and decodes from analog to digital. It then is passed into a processor such as a VOLT. This can evaluate certain features of the audio and alter it to the desired performance. For example it can make a sound more punchy for rock, however for classical it may want to be smoother. RDS encoder, this adds info such as name of the artist and specific info for the area</a:t>
            </a:r>
          </a:p>
        </p:txBody>
      </p:sp>
      <p:sp>
        <p:nvSpPr>
          <p:cNvPr id="4" name="Slide Number Placeholder 3"/>
          <p:cNvSpPr>
            <a:spLocks noGrp="1"/>
          </p:cNvSpPr>
          <p:nvPr>
            <p:ph type="sldNum" sz="quarter" idx="5"/>
          </p:nvPr>
        </p:nvSpPr>
        <p:spPr/>
        <p:txBody>
          <a:bodyPr/>
          <a:lstStyle/>
          <a:p>
            <a:fld id="{52A7D800-BB8F-40BC-BDC5-2DD5B9F7C21B}" type="slidenum">
              <a:rPr lang="en-US"/>
              <a:t>5</a:t>
            </a:fld>
            <a:endParaRPr lang="en-US"/>
          </a:p>
        </p:txBody>
      </p:sp>
    </p:spTree>
    <p:extLst>
      <p:ext uri="{BB962C8B-B14F-4D97-AF65-F5344CB8AC3E}">
        <p14:creationId xmlns:p14="http://schemas.microsoft.com/office/powerpoint/2010/main" val="25640266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After the Processor, the signal is put into a exciter which generates the modulated waveform that can be radiated from the antenna and received by a radio receiver. </a:t>
            </a:r>
            <a:r>
              <a:rPr lang="en-US"/>
              <a:t>After</a:t>
            </a:r>
            <a:r>
              <a:rPr lang="en-US">
                <a:cs typeface="Calibri"/>
              </a:rPr>
              <a:t> this the signal goes through an amplifier which boosts/ increases the power of the signal at the bottom of the antenna.</a:t>
            </a:r>
          </a:p>
        </p:txBody>
      </p:sp>
      <p:sp>
        <p:nvSpPr>
          <p:cNvPr id="4" name="Slide Number Placeholder 3"/>
          <p:cNvSpPr>
            <a:spLocks noGrp="1"/>
          </p:cNvSpPr>
          <p:nvPr>
            <p:ph type="sldNum" sz="quarter" idx="5"/>
          </p:nvPr>
        </p:nvSpPr>
        <p:spPr/>
        <p:txBody>
          <a:bodyPr/>
          <a:lstStyle/>
          <a:p>
            <a:fld id="{52A7D800-BB8F-40BC-BDC5-2DD5B9F7C21B}" type="slidenum">
              <a:rPr lang="en-US"/>
              <a:t>6</a:t>
            </a:fld>
            <a:endParaRPr lang="en-US"/>
          </a:p>
        </p:txBody>
      </p:sp>
    </p:spTree>
    <p:extLst>
      <p:ext uri="{BB962C8B-B14F-4D97-AF65-F5344CB8AC3E}">
        <p14:creationId xmlns:p14="http://schemas.microsoft.com/office/powerpoint/2010/main" val="2993927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Telemetry is what is used to monitor the systems, a program called Mimic monitors every station and makes it easy to see when a certain part of the broadcast chain is down. When part of the system is down, this program makes it very easy to change to a backup system with just a few clicks. Arqiva's Emley Moor station is where the main telemetry happens.</a:t>
            </a:r>
          </a:p>
        </p:txBody>
      </p:sp>
      <p:sp>
        <p:nvSpPr>
          <p:cNvPr id="4" name="Slide Number Placeholder 3"/>
          <p:cNvSpPr>
            <a:spLocks noGrp="1"/>
          </p:cNvSpPr>
          <p:nvPr>
            <p:ph type="sldNum" sz="quarter" idx="5"/>
          </p:nvPr>
        </p:nvSpPr>
        <p:spPr/>
        <p:txBody>
          <a:bodyPr/>
          <a:lstStyle/>
          <a:p>
            <a:fld id="{52A7D800-BB8F-40BC-BDC5-2DD5B9F7C21B}" type="slidenum">
              <a:rPr lang="en-US"/>
              <a:t>7</a:t>
            </a:fld>
            <a:endParaRPr lang="en-US"/>
          </a:p>
        </p:txBody>
      </p:sp>
    </p:spTree>
    <p:extLst>
      <p:ext uri="{BB962C8B-B14F-4D97-AF65-F5344CB8AC3E}">
        <p14:creationId xmlns:p14="http://schemas.microsoft.com/office/powerpoint/2010/main" val="3338521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Some stations want to have more resilience, which means that if the signal drops there is back up. There are a few ways of doing this. There are some forms of technology that help this process.  RB sd1 This detects silence in a signal, when this happens in can switch it to a backup or can switch to an MP3. These provides a back up sound that can then be sent straight to the processor. When company's want to include these forms of backup they need to think about cost. Obviously having double equipment or different equipment is going to cost a lot. Resilience is extremely important as you can imagine as for every second a signal is down company's can lose thousands. </a:t>
            </a:r>
          </a:p>
          <a:p>
            <a:endParaRPr lang="en-US">
              <a:cs typeface="Calibri"/>
            </a:endParaRPr>
          </a:p>
        </p:txBody>
      </p:sp>
      <p:sp>
        <p:nvSpPr>
          <p:cNvPr id="4" name="Slide Number Placeholder 3"/>
          <p:cNvSpPr>
            <a:spLocks noGrp="1"/>
          </p:cNvSpPr>
          <p:nvPr>
            <p:ph type="sldNum" sz="quarter" idx="5"/>
          </p:nvPr>
        </p:nvSpPr>
        <p:spPr/>
        <p:txBody>
          <a:bodyPr/>
          <a:lstStyle/>
          <a:p>
            <a:fld id="{52A7D800-BB8F-40BC-BDC5-2DD5B9F7C21B}" type="slidenum">
              <a:rPr lang="en-US"/>
              <a:t>8</a:t>
            </a:fld>
            <a:endParaRPr lang="en-US"/>
          </a:p>
        </p:txBody>
      </p:sp>
    </p:spTree>
    <p:extLst>
      <p:ext uri="{BB962C8B-B14F-4D97-AF65-F5344CB8AC3E}">
        <p14:creationId xmlns:p14="http://schemas.microsoft.com/office/powerpoint/2010/main" val="1108246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6/11/2021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6/11/2021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cs typeface="Calibri Light"/>
              </a:rPr>
              <a:t>Radio Transmission &amp; RF Modulation </a:t>
            </a:r>
            <a:endParaRPr lang="en-US"/>
          </a:p>
        </p:txBody>
      </p:sp>
      <p:sp>
        <p:nvSpPr>
          <p:cNvPr id="3" name="Subtitle 2"/>
          <p:cNvSpPr>
            <a:spLocks noGrp="1"/>
          </p:cNvSpPr>
          <p:nvPr>
            <p:ph type="subTitle" idx="1"/>
          </p:nvPr>
        </p:nvSpPr>
        <p:spPr/>
        <p:txBody>
          <a:bodyPr vert="horz" lIns="91440" tIns="45720" rIns="91440" bIns="45720" rtlCol="0" anchor="t">
            <a:normAutofit/>
          </a:bodyPr>
          <a:lstStyle/>
          <a:p>
            <a:r>
              <a:rPr lang="en-US">
                <a:cs typeface="Calibri"/>
              </a:rPr>
              <a:t>By Archie </a:t>
            </a:r>
            <a:r>
              <a:rPr lang="en-US" err="1">
                <a:cs typeface="Calibri"/>
              </a:rPr>
              <a:t>Casemeister</a:t>
            </a:r>
            <a:r>
              <a:rPr lang="en-US">
                <a:cs typeface="Calibri"/>
              </a:rPr>
              <a:t>, Fergus Schofield and Riley Havill</a:t>
            </a:r>
            <a:endParaRPr lang="en-US"/>
          </a:p>
        </p:txBody>
      </p:sp>
      <p:sp>
        <p:nvSpPr>
          <p:cNvPr id="4" name="TextBox 3">
            <a:extLst>
              <a:ext uri="{FF2B5EF4-FFF2-40B4-BE49-F238E27FC236}">
                <a16:creationId xmlns:a16="http://schemas.microsoft.com/office/drawing/2014/main" id="{BD0769F0-799C-427E-BF89-D7982BDEB9C3}"/>
              </a:ext>
            </a:extLst>
          </p:cNvPr>
          <p:cNvSpPr txBox="1"/>
          <p:nvPr/>
        </p:nvSpPr>
        <p:spPr>
          <a:xfrm>
            <a:off x="3601995" y="3509317"/>
            <a:ext cx="1723766"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t>Archie</a:t>
            </a:r>
            <a:r>
              <a:rPr lang="en-US" sz="1100"/>
              <a:t> </a:t>
            </a:r>
            <a:r>
              <a:rPr lang="en-US" sz="1050"/>
              <a:t>Stinks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AC5C8-828D-4BDC-AE77-1335D7FB14B0}"/>
              </a:ext>
            </a:extLst>
          </p:cNvPr>
          <p:cNvSpPr>
            <a:spLocks noGrp="1"/>
          </p:cNvSpPr>
          <p:nvPr>
            <p:ph type="title"/>
          </p:nvPr>
        </p:nvSpPr>
        <p:spPr/>
        <p:txBody>
          <a:bodyPr/>
          <a:lstStyle/>
          <a:p>
            <a:r>
              <a:rPr lang="en-US">
                <a:cs typeface="Calibri Light"/>
              </a:rPr>
              <a:t>Quadrature Phase Shift Keying</a:t>
            </a:r>
            <a:endParaRPr lang="en-US"/>
          </a:p>
        </p:txBody>
      </p:sp>
      <p:pic>
        <p:nvPicPr>
          <p:cNvPr id="4" name="Picture 4" descr="A picture containing text, sky, different&#10;&#10;Description automatically generated">
            <a:extLst>
              <a:ext uri="{FF2B5EF4-FFF2-40B4-BE49-F238E27FC236}">
                <a16:creationId xmlns:a16="http://schemas.microsoft.com/office/drawing/2014/main" id="{8CAEEBA1-C0A0-4930-A885-D259358E1499}"/>
              </a:ext>
            </a:extLst>
          </p:cNvPr>
          <p:cNvPicPr>
            <a:picLocks noGrp="1" noChangeAspect="1"/>
          </p:cNvPicPr>
          <p:nvPr>
            <p:ph idx="1"/>
          </p:nvPr>
        </p:nvPicPr>
        <p:blipFill>
          <a:blip r:embed="rId2"/>
          <a:stretch>
            <a:fillRect/>
          </a:stretch>
        </p:blipFill>
        <p:spPr>
          <a:xfrm>
            <a:off x="876756" y="2016310"/>
            <a:ext cx="4728706" cy="1997119"/>
          </a:xfrm>
        </p:spPr>
      </p:pic>
      <p:pic>
        <p:nvPicPr>
          <p:cNvPr id="7" name="Picture 7" descr="Diagram&#10;&#10;Description automatically generated">
            <a:extLst>
              <a:ext uri="{FF2B5EF4-FFF2-40B4-BE49-F238E27FC236}">
                <a16:creationId xmlns:a16="http://schemas.microsoft.com/office/drawing/2014/main" id="{CE3DFBEA-6CD7-4A91-8BC3-84244CDA9ACB}"/>
              </a:ext>
            </a:extLst>
          </p:cNvPr>
          <p:cNvPicPr>
            <a:picLocks noChangeAspect="1"/>
          </p:cNvPicPr>
          <p:nvPr/>
        </p:nvPicPr>
        <p:blipFill>
          <a:blip r:embed="rId3"/>
          <a:stretch>
            <a:fillRect/>
          </a:stretch>
        </p:blipFill>
        <p:spPr>
          <a:xfrm>
            <a:off x="7490564" y="2861154"/>
            <a:ext cx="3536515" cy="3546953"/>
          </a:xfrm>
          <a:prstGeom prst="rect">
            <a:avLst/>
          </a:prstGeom>
        </p:spPr>
      </p:pic>
    </p:spTree>
    <p:extLst>
      <p:ext uri="{BB962C8B-B14F-4D97-AF65-F5344CB8AC3E}">
        <p14:creationId xmlns:p14="http://schemas.microsoft.com/office/powerpoint/2010/main" val="1248579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A707B-274B-4E59-B413-535B96AB78A2}"/>
              </a:ext>
            </a:extLst>
          </p:cNvPr>
          <p:cNvSpPr>
            <a:spLocks noGrp="1"/>
          </p:cNvSpPr>
          <p:nvPr>
            <p:ph type="title"/>
          </p:nvPr>
        </p:nvSpPr>
        <p:spPr/>
        <p:txBody>
          <a:bodyPr/>
          <a:lstStyle/>
          <a:p>
            <a:r>
              <a:rPr lang="en-US">
                <a:cs typeface="Calibri Light"/>
              </a:rPr>
              <a:t>Quadature Amplitude Modulation</a:t>
            </a:r>
            <a:endParaRPr lang="en-US"/>
          </a:p>
        </p:txBody>
      </p:sp>
      <p:pic>
        <p:nvPicPr>
          <p:cNvPr id="4" name="Picture 4" descr="Chart, diagram&#10;&#10;Description automatically generated">
            <a:extLst>
              <a:ext uri="{FF2B5EF4-FFF2-40B4-BE49-F238E27FC236}">
                <a16:creationId xmlns:a16="http://schemas.microsoft.com/office/drawing/2014/main" id="{3B6CCC1A-EB54-4A1A-BA08-CE40828B26A9}"/>
              </a:ext>
            </a:extLst>
          </p:cNvPr>
          <p:cNvPicPr>
            <a:picLocks noGrp="1" noChangeAspect="1"/>
          </p:cNvPicPr>
          <p:nvPr>
            <p:ph idx="1"/>
          </p:nvPr>
        </p:nvPicPr>
        <p:blipFill>
          <a:blip r:embed="rId2"/>
          <a:stretch>
            <a:fillRect/>
          </a:stretch>
        </p:blipFill>
        <p:spPr>
          <a:xfrm>
            <a:off x="1081675" y="1951722"/>
            <a:ext cx="3473363" cy="2408129"/>
          </a:xfrm>
        </p:spPr>
      </p:pic>
      <p:pic>
        <p:nvPicPr>
          <p:cNvPr id="5" name="Picture 5" descr="A picture containing diagram&#10;&#10;Description automatically generated">
            <a:extLst>
              <a:ext uri="{FF2B5EF4-FFF2-40B4-BE49-F238E27FC236}">
                <a16:creationId xmlns:a16="http://schemas.microsoft.com/office/drawing/2014/main" id="{FD584A09-A8C1-4D8D-9D9D-AF2E5E68F571}"/>
              </a:ext>
            </a:extLst>
          </p:cNvPr>
          <p:cNvPicPr>
            <a:picLocks noChangeAspect="1"/>
          </p:cNvPicPr>
          <p:nvPr/>
        </p:nvPicPr>
        <p:blipFill>
          <a:blip r:embed="rId3"/>
          <a:stretch>
            <a:fillRect/>
          </a:stretch>
        </p:blipFill>
        <p:spPr>
          <a:xfrm>
            <a:off x="5862180" y="3802854"/>
            <a:ext cx="5144021" cy="2519496"/>
          </a:xfrm>
          <a:prstGeom prst="rect">
            <a:avLst/>
          </a:prstGeom>
        </p:spPr>
      </p:pic>
    </p:spTree>
    <p:extLst>
      <p:ext uri="{BB962C8B-B14F-4D97-AF65-F5344CB8AC3E}">
        <p14:creationId xmlns:p14="http://schemas.microsoft.com/office/powerpoint/2010/main" val="303610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2D236-F9D4-4508-B95D-102A9DE7A8D0}"/>
              </a:ext>
            </a:extLst>
          </p:cNvPr>
          <p:cNvSpPr>
            <a:spLocks noGrp="1"/>
          </p:cNvSpPr>
          <p:nvPr>
            <p:ph type="title"/>
          </p:nvPr>
        </p:nvSpPr>
        <p:spPr/>
        <p:txBody>
          <a:bodyPr/>
          <a:lstStyle/>
          <a:p>
            <a:r>
              <a:rPr lang="en-US">
                <a:cs typeface="Calibri Light"/>
              </a:rPr>
              <a:t>Radio Transmission Stations </a:t>
            </a:r>
            <a:endParaRPr lang="en-US"/>
          </a:p>
        </p:txBody>
      </p:sp>
      <p:pic>
        <p:nvPicPr>
          <p:cNvPr id="4" name="Picture 4" descr="A picture containing sky, outdoor, roof&#10;&#10;Description automatically generated">
            <a:extLst>
              <a:ext uri="{FF2B5EF4-FFF2-40B4-BE49-F238E27FC236}">
                <a16:creationId xmlns:a16="http://schemas.microsoft.com/office/drawing/2014/main" id="{C4A66446-56CB-42B6-A8E4-DB47FA78AD58}"/>
              </a:ext>
            </a:extLst>
          </p:cNvPr>
          <p:cNvPicPr>
            <a:picLocks noGrp="1" noChangeAspect="1"/>
          </p:cNvPicPr>
          <p:nvPr>
            <p:ph idx="1"/>
          </p:nvPr>
        </p:nvPicPr>
        <p:blipFill>
          <a:blip r:embed="rId3"/>
          <a:stretch>
            <a:fillRect/>
          </a:stretch>
        </p:blipFill>
        <p:spPr>
          <a:xfrm>
            <a:off x="2819442" y="1825625"/>
            <a:ext cx="6553115" cy="4351338"/>
          </a:xfrm>
        </p:spPr>
      </p:pic>
    </p:spTree>
    <p:extLst>
      <p:ext uri="{BB962C8B-B14F-4D97-AF65-F5344CB8AC3E}">
        <p14:creationId xmlns:p14="http://schemas.microsoft.com/office/powerpoint/2010/main" val="2659509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FD900-74B7-45D9-83AF-429C646DC00B}"/>
              </a:ext>
            </a:extLst>
          </p:cNvPr>
          <p:cNvSpPr>
            <a:spLocks noGrp="1"/>
          </p:cNvSpPr>
          <p:nvPr>
            <p:ph type="title"/>
          </p:nvPr>
        </p:nvSpPr>
        <p:spPr/>
        <p:txBody>
          <a:bodyPr/>
          <a:lstStyle/>
          <a:p>
            <a:r>
              <a:rPr lang="en-US">
                <a:cs typeface="Calibri Light"/>
              </a:rPr>
              <a:t>The first half of the process</a:t>
            </a:r>
            <a:endParaRPr lang="en-US"/>
          </a:p>
        </p:txBody>
      </p:sp>
      <p:sp>
        <p:nvSpPr>
          <p:cNvPr id="3" name="Content Placeholder 2">
            <a:extLst>
              <a:ext uri="{FF2B5EF4-FFF2-40B4-BE49-F238E27FC236}">
                <a16:creationId xmlns:a16="http://schemas.microsoft.com/office/drawing/2014/main" id="{C3384B59-82E0-4EAF-9D0C-C48AA5171E6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10088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1F980-4C17-443B-93DB-E7C766643344}"/>
              </a:ext>
            </a:extLst>
          </p:cNvPr>
          <p:cNvSpPr>
            <a:spLocks noGrp="1"/>
          </p:cNvSpPr>
          <p:nvPr>
            <p:ph type="title"/>
          </p:nvPr>
        </p:nvSpPr>
        <p:spPr/>
        <p:txBody>
          <a:bodyPr/>
          <a:lstStyle/>
          <a:p>
            <a:r>
              <a:rPr lang="en-US">
                <a:cs typeface="Calibri Light"/>
              </a:rPr>
              <a:t>The Second Half Of The Process</a:t>
            </a:r>
            <a:endParaRPr lang="en-US"/>
          </a:p>
        </p:txBody>
      </p:sp>
    </p:spTree>
    <p:extLst>
      <p:ext uri="{BB962C8B-B14F-4D97-AF65-F5344CB8AC3E}">
        <p14:creationId xmlns:p14="http://schemas.microsoft.com/office/powerpoint/2010/main" val="3023524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36936-3AB4-4D04-A5D2-00EBDF654EC2}"/>
              </a:ext>
            </a:extLst>
          </p:cNvPr>
          <p:cNvSpPr>
            <a:spLocks noGrp="1"/>
          </p:cNvSpPr>
          <p:nvPr>
            <p:ph type="title"/>
          </p:nvPr>
        </p:nvSpPr>
        <p:spPr/>
        <p:txBody>
          <a:bodyPr/>
          <a:lstStyle/>
          <a:p>
            <a:r>
              <a:rPr lang="en-US">
                <a:cs typeface="Calibri Light"/>
              </a:rPr>
              <a:t>Telemetry </a:t>
            </a:r>
            <a:endParaRPr lang="en-US"/>
          </a:p>
        </p:txBody>
      </p:sp>
      <p:sp>
        <p:nvSpPr>
          <p:cNvPr id="3" name="Content Placeholder 2">
            <a:extLst>
              <a:ext uri="{FF2B5EF4-FFF2-40B4-BE49-F238E27FC236}">
                <a16:creationId xmlns:a16="http://schemas.microsoft.com/office/drawing/2014/main" id="{02AFE9E3-5CD5-41EC-AB7D-F2152F18C49C}"/>
              </a:ext>
            </a:extLst>
          </p:cNvPr>
          <p:cNvSpPr>
            <a:spLocks noGrp="1"/>
          </p:cNvSpPr>
          <p:nvPr>
            <p:ph idx="1"/>
          </p:nvPr>
        </p:nvSpPr>
        <p:spPr/>
        <p:txBody>
          <a:bodyPr vert="horz" lIns="91440" tIns="45720" rIns="91440" bIns="45720" rtlCol="0" anchor="t">
            <a:normAutofit/>
          </a:bodyPr>
          <a:lstStyle/>
          <a:p>
            <a:r>
              <a:rPr lang="en-US">
                <a:cs typeface="Calibri"/>
              </a:rPr>
              <a:t>What is telemetry?</a:t>
            </a:r>
          </a:p>
          <a:p>
            <a:r>
              <a:rPr lang="en-US">
                <a:cs typeface="Calibri"/>
              </a:rPr>
              <a:t>How is it used here?</a:t>
            </a:r>
          </a:p>
        </p:txBody>
      </p:sp>
    </p:spTree>
    <p:extLst>
      <p:ext uri="{BB962C8B-B14F-4D97-AF65-F5344CB8AC3E}">
        <p14:creationId xmlns:p14="http://schemas.microsoft.com/office/powerpoint/2010/main" val="1562682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D0094-13CD-4AA3-9813-36A9111EDA2F}"/>
              </a:ext>
            </a:extLst>
          </p:cNvPr>
          <p:cNvSpPr>
            <a:spLocks noGrp="1"/>
          </p:cNvSpPr>
          <p:nvPr>
            <p:ph type="title"/>
          </p:nvPr>
        </p:nvSpPr>
        <p:spPr/>
        <p:txBody>
          <a:bodyPr/>
          <a:lstStyle/>
          <a:p>
            <a:r>
              <a:rPr lang="en-US">
                <a:cs typeface="Calibri Light"/>
              </a:rPr>
              <a:t>Resilience </a:t>
            </a:r>
            <a:endParaRPr lang="en-US"/>
          </a:p>
        </p:txBody>
      </p:sp>
      <p:pic>
        <p:nvPicPr>
          <p:cNvPr id="4" name="Picture 4">
            <a:extLst>
              <a:ext uri="{FF2B5EF4-FFF2-40B4-BE49-F238E27FC236}">
                <a16:creationId xmlns:a16="http://schemas.microsoft.com/office/drawing/2014/main" id="{7430A5B5-AC02-45FA-933E-36C0B47C53B9}"/>
              </a:ext>
            </a:extLst>
          </p:cNvPr>
          <p:cNvPicPr>
            <a:picLocks noGrp="1" noChangeAspect="1"/>
          </p:cNvPicPr>
          <p:nvPr>
            <p:ph idx="1"/>
          </p:nvPr>
        </p:nvPicPr>
        <p:blipFill>
          <a:blip r:embed="rId3"/>
          <a:stretch>
            <a:fillRect/>
          </a:stretch>
        </p:blipFill>
        <p:spPr>
          <a:xfrm>
            <a:off x="4900612" y="3044031"/>
            <a:ext cx="2390775" cy="1914525"/>
          </a:xfrm>
        </p:spPr>
      </p:pic>
    </p:spTree>
    <p:extLst>
      <p:ext uri="{BB962C8B-B14F-4D97-AF65-F5344CB8AC3E}">
        <p14:creationId xmlns:p14="http://schemas.microsoft.com/office/powerpoint/2010/main" val="2124132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4" descr="A picture containing person, person, indoor&#10;&#10;Description automatically generated">
            <a:extLst>
              <a:ext uri="{FF2B5EF4-FFF2-40B4-BE49-F238E27FC236}">
                <a16:creationId xmlns:a16="http://schemas.microsoft.com/office/drawing/2014/main" id="{30448A2A-6D14-4E02-9B5E-1FDF7B8DF827}"/>
              </a:ext>
            </a:extLst>
          </p:cNvPr>
          <p:cNvPicPr>
            <a:picLocks noGrp="1" noChangeAspect="1"/>
          </p:cNvPicPr>
          <p:nvPr>
            <p:ph idx="1"/>
          </p:nvPr>
        </p:nvPicPr>
        <p:blipFill rotWithShape="1">
          <a:blip r:embed="rId2"/>
          <a:srcRect t="27248" b="11444"/>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346626-5D07-40E5-8F1B-FAE817428698}"/>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Thank you </a:t>
            </a:r>
          </a:p>
        </p:txBody>
      </p:sp>
      <p:cxnSp>
        <p:nvCxnSpPr>
          <p:cNvPr id="11" name="Straight Connector 10">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283400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9</Slides>
  <Notes>5</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Radio Transmission &amp; RF Modulation </vt:lpstr>
      <vt:lpstr>Quadrature Phase Shift Keying</vt:lpstr>
      <vt:lpstr>Quadature Amplitude Modulation</vt:lpstr>
      <vt:lpstr>Radio Transmission Stations </vt:lpstr>
      <vt:lpstr>The first half of the process</vt:lpstr>
      <vt:lpstr>The Second Half Of The Process</vt:lpstr>
      <vt:lpstr>Telemetry </vt:lpstr>
      <vt:lpstr>Resilience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2</cp:revision>
  <dcterms:created xsi:type="dcterms:W3CDTF">2021-05-21T08:27:38Z</dcterms:created>
  <dcterms:modified xsi:type="dcterms:W3CDTF">2021-06-11T10:07:01Z</dcterms:modified>
</cp:coreProperties>
</file>