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49"/>
  </p:notesMasterIdLst>
  <p:handoutMasterIdLst>
    <p:handoutMasterId r:id="rId50"/>
  </p:handoutMasterIdLst>
  <p:sldIdLst>
    <p:sldId id="256" r:id="rId3"/>
    <p:sldId id="401" r:id="rId4"/>
    <p:sldId id="409" r:id="rId5"/>
    <p:sldId id="313" r:id="rId6"/>
    <p:sldId id="316" r:id="rId7"/>
    <p:sldId id="330" r:id="rId8"/>
    <p:sldId id="331" r:id="rId9"/>
    <p:sldId id="323" r:id="rId10"/>
    <p:sldId id="324" r:id="rId11"/>
    <p:sldId id="325" r:id="rId12"/>
    <p:sldId id="294" r:id="rId13"/>
    <p:sldId id="318" r:id="rId14"/>
    <p:sldId id="314" r:id="rId15"/>
    <p:sldId id="301" r:id="rId16"/>
    <p:sldId id="403" r:id="rId17"/>
    <p:sldId id="404" r:id="rId18"/>
    <p:sldId id="302" r:id="rId19"/>
    <p:sldId id="311" r:id="rId20"/>
    <p:sldId id="312" r:id="rId21"/>
    <p:sldId id="332" r:id="rId22"/>
    <p:sldId id="333" r:id="rId23"/>
    <p:sldId id="284" r:id="rId24"/>
    <p:sldId id="388" r:id="rId25"/>
    <p:sldId id="402" r:id="rId26"/>
    <p:sldId id="395" r:id="rId27"/>
    <p:sldId id="406" r:id="rId28"/>
    <p:sldId id="393" r:id="rId29"/>
    <p:sldId id="405" r:id="rId30"/>
    <p:sldId id="289" r:id="rId31"/>
    <p:sldId id="293" r:id="rId32"/>
    <p:sldId id="290" r:id="rId33"/>
    <p:sldId id="407" r:id="rId34"/>
    <p:sldId id="408" r:id="rId35"/>
    <p:sldId id="291" r:id="rId36"/>
    <p:sldId id="396" r:id="rId37"/>
    <p:sldId id="397" r:id="rId38"/>
    <p:sldId id="398" r:id="rId39"/>
    <p:sldId id="399" r:id="rId40"/>
    <p:sldId id="400" r:id="rId41"/>
    <p:sldId id="286" r:id="rId42"/>
    <p:sldId id="287" r:id="rId43"/>
    <p:sldId id="298" r:id="rId44"/>
    <p:sldId id="299" r:id="rId45"/>
    <p:sldId id="337" r:id="rId46"/>
    <p:sldId id="338" r:id="rId47"/>
    <p:sldId id="339" r:id="rId48"/>
  </p:sldIdLst>
  <p:sldSz cx="9144000" cy="6858000" type="screen4x3"/>
  <p:notesSz cx="6797675" cy="9928225"/>
  <p:defaultTextStyle>
    <a:defPPr>
      <a:defRPr lang="en-GB"/>
    </a:defPPr>
    <a:lvl1pPr algn="l" rtl="0" eaLnBrk="0" fontAlgn="base" hangingPunct="0">
      <a:spcBef>
        <a:spcPct val="0"/>
      </a:spcBef>
      <a:spcAft>
        <a:spcPct val="0"/>
      </a:spcAft>
      <a:defRPr sz="1600" kern="1200">
        <a:solidFill>
          <a:schemeClr val="tx1"/>
        </a:solidFill>
        <a:latin typeface="Lucida Sans Unicode" pitchFamily="34" charset="0"/>
        <a:ea typeface="+mn-ea"/>
        <a:cs typeface="+mn-cs"/>
      </a:defRPr>
    </a:lvl1pPr>
    <a:lvl2pPr marL="457200" algn="l" rtl="0" eaLnBrk="0" fontAlgn="base" hangingPunct="0">
      <a:spcBef>
        <a:spcPct val="0"/>
      </a:spcBef>
      <a:spcAft>
        <a:spcPct val="0"/>
      </a:spcAft>
      <a:defRPr sz="1600" kern="1200">
        <a:solidFill>
          <a:schemeClr val="tx1"/>
        </a:solidFill>
        <a:latin typeface="Lucida Sans Unicode" pitchFamily="34" charset="0"/>
        <a:ea typeface="+mn-ea"/>
        <a:cs typeface="+mn-cs"/>
      </a:defRPr>
    </a:lvl2pPr>
    <a:lvl3pPr marL="914400" algn="l" rtl="0" eaLnBrk="0" fontAlgn="base" hangingPunct="0">
      <a:spcBef>
        <a:spcPct val="0"/>
      </a:spcBef>
      <a:spcAft>
        <a:spcPct val="0"/>
      </a:spcAft>
      <a:defRPr sz="1600" kern="1200">
        <a:solidFill>
          <a:schemeClr val="tx1"/>
        </a:solidFill>
        <a:latin typeface="Lucida Sans Unicode"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Lucida Sans Unicode"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Lucida Sans Unicode" pitchFamily="34" charset="0"/>
        <a:ea typeface="+mn-ea"/>
        <a:cs typeface="+mn-cs"/>
      </a:defRPr>
    </a:lvl5pPr>
    <a:lvl6pPr marL="2286000" algn="l" defTabSz="914400" rtl="0" eaLnBrk="1" latinLnBrk="0" hangingPunct="1">
      <a:defRPr sz="1600" kern="1200">
        <a:solidFill>
          <a:schemeClr val="tx1"/>
        </a:solidFill>
        <a:latin typeface="Lucida Sans Unicode" pitchFamily="34" charset="0"/>
        <a:ea typeface="+mn-ea"/>
        <a:cs typeface="+mn-cs"/>
      </a:defRPr>
    </a:lvl6pPr>
    <a:lvl7pPr marL="2743200" algn="l" defTabSz="914400" rtl="0" eaLnBrk="1" latinLnBrk="0" hangingPunct="1">
      <a:defRPr sz="1600" kern="1200">
        <a:solidFill>
          <a:schemeClr val="tx1"/>
        </a:solidFill>
        <a:latin typeface="Lucida Sans Unicode" pitchFamily="34" charset="0"/>
        <a:ea typeface="+mn-ea"/>
        <a:cs typeface="+mn-cs"/>
      </a:defRPr>
    </a:lvl7pPr>
    <a:lvl8pPr marL="3200400" algn="l" defTabSz="914400" rtl="0" eaLnBrk="1" latinLnBrk="0" hangingPunct="1">
      <a:defRPr sz="1600" kern="1200">
        <a:solidFill>
          <a:schemeClr val="tx1"/>
        </a:solidFill>
        <a:latin typeface="Lucida Sans Unicode" pitchFamily="34" charset="0"/>
        <a:ea typeface="+mn-ea"/>
        <a:cs typeface="+mn-cs"/>
      </a:defRPr>
    </a:lvl8pPr>
    <a:lvl9pPr marL="3657600" algn="l" defTabSz="914400" rtl="0" eaLnBrk="1" latinLnBrk="0" hangingPunct="1">
      <a:defRPr sz="1600" kern="1200">
        <a:solidFill>
          <a:schemeClr val="tx1"/>
        </a:solidFill>
        <a:latin typeface="Lucida Sans Unicode" pitchFamily="34" charset="0"/>
        <a:ea typeface="+mn-ea"/>
        <a:cs typeface="+mn-cs"/>
      </a:defRPr>
    </a:lvl9pPr>
  </p:defaultTextStyle>
  <p:extLst>
    <p:ext uri="{EFAFB233-063F-42B5-8137-9DF3F51BA10A}">
      <p15:sldGuideLst xmlns:p15="http://schemas.microsoft.com/office/powerpoint/2012/main">
        <p15:guide id="1" orient="horz" pos="232" userDrawn="1">
          <p15:clr>
            <a:srgbClr val="A4A3A4"/>
          </p15:clr>
        </p15:guide>
        <p15:guide id="2" pos="249">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BEB"/>
    <a:srgbClr val="FDE5FF"/>
    <a:srgbClr val="D7FDF6"/>
    <a:srgbClr val="FDFFE1"/>
    <a:srgbClr val="F8FEB0"/>
    <a:srgbClr val="FEEDCE"/>
    <a:srgbClr val="404040"/>
    <a:srgbClr val="00FF00"/>
    <a:srgbClr val="FFCC66"/>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napVertSplitter="1" vertBarState="minimized" horzBarState="maximized">
    <p:restoredLeft sz="4980" autoAdjust="0"/>
    <p:restoredTop sz="94660"/>
  </p:normalViewPr>
  <p:slideViewPr>
    <p:cSldViewPr snapToGrid="0">
      <p:cViewPr varScale="1">
        <p:scale>
          <a:sx n="117" d="100"/>
          <a:sy n="117" d="100"/>
        </p:scale>
        <p:origin x="114" y="552"/>
      </p:cViewPr>
      <p:guideLst>
        <p:guide orient="horz" pos="232"/>
        <p:guide pos="249"/>
      </p:guideLst>
    </p:cSldViewPr>
  </p:slideViewPr>
  <p:notesTextViewPr>
    <p:cViewPr>
      <p:scale>
        <a:sx n="100" d="100"/>
        <a:sy n="100" d="100"/>
      </p:scale>
      <p:origin x="0" y="0"/>
    </p:cViewPr>
  </p:notesTextViewPr>
  <p:sorterViewPr>
    <p:cViewPr>
      <p:scale>
        <a:sx n="125" d="100"/>
        <a:sy n="125" d="100"/>
      </p:scale>
      <p:origin x="0" y="-7980"/>
    </p:cViewPr>
  </p:sorterViewPr>
  <p:notesViewPr>
    <p:cSldViewPr snapToGrid="0">
      <p:cViewPr varScale="1">
        <p:scale>
          <a:sx n="65" d="100"/>
          <a:sy n="65" d="100"/>
        </p:scale>
        <p:origin x="-1092" y="-7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y Foss" userId="09ac0925-c8bb-438c-a205-6311faa2bcaf" providerId="ADAL" clId="{928723EF-F4F1-4520-BF43-9A001BA15937}"/>
    <pc:docChg chg="modNotesMaster modHandout">
      <pc:chgData name="Jeremy Foss" userId="09ac0925-c8bb-438c-a205-6311faa2bcaf" providerId="ADAL" clId="{928723EF-F4F1-4520-BF43-9A001BA15937}" dt="2019-05-13T07:46:29.781" v="0"/>
      <pc:docMkLst>
        <pc:docMk/>
      </pc:docMkLst>
    </pc:docChg>
  </pc:docChgLst>
  <pc:docChgLst>
    <pc:chgData name="Jeremy Foss" userId="09ac0925-c8bb-438c-a205-6311faa2bcaf" providerId="ADAL" clId="{45D6D38D-6B31-4A31-909E-57115024800D}"/>
    <pc:docChg chg="modSld">
      <pc:chgData name="Jeremy Foss" userId="09ac0925-c8bb-438c-a205-6311faa2bcaf" providerId="ADAL" clId="{45D6D38D-6B31-4A31-909E-57115024800D}" dt="2021-04-01T12:16:10.673" v="17" actId="20577"/>
      <pc:docMkLst>
        <pc:docMk/>
      </pc:docMkLst>
      <pc:sldChg chg="modSp mod">
        <pc:chgData name="Jeremy Foss" userId="09ac0925-c8bb-438c-a205-6311faa2bcaf" providerId="ADAL" clId="{45D6D38D-6B31-4A31-909E-57115024800D}" dt="2021-04-01T12:16:10.673" v="17" actId="20577"/>
        <pc:sldMkLst>
          <pc:docMk/>
          <pc:sldMk cId="0" sldId="256"/>
        </pc:sldMkLst>
        <pc:spChg chg="mod">
          <ac:chgData name="Jeremy Foss" userId="09ac0925-c8bb-438c-a205-6311faa2bcaf" providerId="ADAL" clId="{45D6D38D-6B31-4A31-909E-57115024800D}" dt="2021-04-01T12:16:10.673" v="17" actId="20577"/>
          <ac:spMkLst>
            <pc:docMk/>
            <pc:sldMk cId="0" sldId="256"/>
            <ac:spMk id="614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45659" cy="496412"/>
          </a:xfrm>
          <a:prstGeom prst="rect">
            <a:avLst/>
          </a:prstGeom>
          <a:noFill/>
          <a:ln w="9525">
            <a:noFill/>
            <a:miter lim="800000"/>
            <a:headEnd/>
            <a:tailEnd/>
          </a:ln>
          <a:effectLst/>
        </p:spPr>
        <p:txBody>
          <a:bodyPr vert="horz" wrap="square" lIns="91614" tIns="45807" rIns="91614" bIns="45807" numCol="1" anchor="t" anchorCtr="0" compatLnSpc="1">
            <a:prstTxWarp prst="textNoShape">
              <a:avLst/>
            </a:prstTxWarp>
          </a:bodyPr>
          <a:lstStyle>
            <a:lvl1pPr>
              <a:defRPr sz="1200"/>
            </a:lvl1pPr>
          </a:lstStyle>
          <a:p>
            <a:pPr>
              <a:defRPr/>
            </a:pPr>
            <a:endParaRPr lang="en-US"/>
          </a:p>
        </p:txBody>
      </p:sp>
      <p:sp>
        <p:nvSpPr>
          <p:cNvPr id="69635" name="Rectangle 3"/>
          <p:cNvSpPr>
            <a:spLocks noGrp="1" noChangeArrowheads="1"/>
          </p:cNvSpPr>
          <p:nvPr>
            <p:ph type="dt" sz="quarter" idx="1"/>
          </p:nvPr>
        </p:nvSpPr>
        <p:spPr bwMode="auto">
          <a:xfrm>
            <a:off x="3850443" y="0"/>
            <a:ext cx="2945659" cy="496412"/>
          </a:xfrm>
          <a:prstGeom prst="rect">
            <a:avLst/>
          </a:prstGeom>
          <a:noFill/>
          <a:ln w="9525">
            <a:noFill/>
            <a:miter lim="800000"/>
            <a:headEnd/>
            <a:tailEnd/>
          </a:ln>
          <a:effectLst/>
        </p:spPr>
        <p:txBody>
          <a:bodyPr vert="horz" wrap="square" lIns="91614" tIns="45807" rIns="91614" bIns="45807" numCol="1" anchor="t" anchorCtr="0" compatLnSpc="1">
            <a:prstTxWarp prst="textNoShape">
              <a:avLst/>
            </a:prstTxWarp>
          </a:bodyPr>
          <a:lstStyle>
            <a:lvl1pPr algn="r">
              <a:defRPr sz="1200"/>
            </a:lvl1pPr>
          </a:lstStyle>
          <a:p>
            <a:pPr>
              <a:defRPr/>
            </a:pPr>
            <a:fld id="{5FCF019E-1375-4D69-90D7-05D62CCBD7E5}" type="datetimeFigureOut">
              <a:rPr lang="en-US"/>
              <a:pPr>
                <a:defRPr/>
              </a:pPr>
              <a:t>5/7/2021</a:t>
            </a:fld>
            <a:endParaRPr lang="en-US"/>
          </a:p>
        </p:txBody>
      </p:sp>
      <p:sp>
        <p:nvSpPr>
          <p:cNvPr id="69636" name="Rectangle 4"/>
          <p:cNvSpPr>
            <a:spLocks noGrp="1" noChangeArrowheads="1"/>
          </p:cNvSpPr>
          <p:nvPr>
            <p:ph type="ftr" sz="quarter" idx="2"/>
          </p:nvPr>
        </p:nvSpPr>
        <p:spPr bwMode="auto">
          <a:xfrm>
            <a:off x="0" y="9430090"/>
            <a:ext cx="2945659" cy="496412"/>
          </a:xfrm>
          <a:prstGeom prst="rect">
            <a:avLst/>
          </a:prstGeom>
          <a:noFill/>
          <a:ln w="9525">
            <a:noFill/>
            <a:miter lim="800000"/>
            <a:headEnd/>
            <a:tailEnd/>
          </a:ln>
          <a:effectLst/>
        </p:spPr>
        <p:txBody>
          <a:bodyPr vert="horz" wrap="square" lIns="91614" tIns="45807" rIns="91614" bIns="45807" numCol="1" anchor="b" anchorCtr="0" compatLnSpc="1">
            <a:prstTxWarp prst="textNoShape">
              <a:avLst/>
            </a:prstTxWarp>
          </a:bodyPr>
          <a:lstStyle>
            <a:lvl1pPr>
              <a:defRPr sz="1200"/>
            </a:lvl1pPr>
          </a:lstStyle>
          <a:p>
            <a:pPr>
              <a:defRPr/>
            </a:pPr>
            <a:endParaRPr lang="en-US"/>
          </a:p>
        </p:txBody>
      </p:sp>
      <p:sp>
        <p:nvSpPr>
          <p:cNvPr id="69637" name="Rectangle 5"/>
          <p:cNvSpPr>
            <a:spLocks noGrp="1" noChangeArrowheads="1"/>
          </p:cNvSpPr>
          <p:nvPr>
            <p:ph type="sldNum" sz="quarter" idx="3"/>
          </p:nvPr>
        </p:nvSpPr>
        <p:spPr bwMode="auto">
          <a:xfrm>
            <a:off x="3850443" y="9430090"/>
            <a:ext cx="2945659" cy="496412"/>
          </a:xfrm>
          <a:prstGeom prst="rect">
            <a:avLst/>
          </a:prstGeom>
          <a:noFill/>
          <a:ln w="9525">
            <a:noFill/>
            <a:miter lim="800000"/>
            <a:headEnd/>
            <a:tailEnd/>
          </a:ln>
          <a:effectLst/>
        </p:spPr>
        <p:txBody>
          <a:bodyPr vert="horz" wrap="square" lIns="91614" tIns="45807" rIns="91614" bIns="45807" numCol="1" anchor="b" anchorCtr="0" compatLnSpc="1">
            <a:prstTxWarp prst="textNoShape">
              <a:avLst/>
            </a:prstTxWarp>
          </a:bodyPr>
          <a:lstStyle>
            <a:lvl1pPr algn="r">
              <a:defRPr sz="1200"/>
            </a:lvl1pPr>
          </a:lstStyle>
          <a:p>
            <a:pPr>
              <a:defRPr/>
            </a:pPr>
            <a:fld id="{D0E66841-25FA-4912-8AB9-E1C40B086689}" type="slidenum">
              <a:rPr lang="en-US"/>
              <a:pPr>
                <a:defRPr/>
              </a:pPr>
              <a:t>‹#›</a:t>
            </a:fld>
            <a:endParaRPr lang="en-US"/>
          </a:p>
        </p:txBody>
      </p:sp>
    </p:spTree>
    <p:extLst>
      <p:ext uri="{BB962C8B-B14F-4D97-AF65-F5344CB8AC3E}">
        <p14:creationId xmlns:p14="http://schemas.microsoft.com/office/powerpoint/2010/main" val="19070822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45659" cy="496412"/>
          </a:xfrm>
          <a:prstGeom prst="rect">
            <a:avLst/>
          </a:prstGeom>
          <a:noFill/>
          <a:ln w="9525">
            <a:noFill/>
            <a:miter lim="800000"/>
            <a:headEnd/>
            <a:tailEnd/>
          </a:ln>
          <a:effectLst/>
        </p:spPr>
        <p:txBody>
          <a:bodyPr vert="horz" wrap="square" lIns="91614" tIns="45807" rIns="91614" bIns="45807" numCol="1" anchor="t" anchorCtr="0" compatLnSpc="1">
            <a:prstTxWarp prst="textNoShape">
              <a:avLst/>
            </a:prstTxWarp>
          </a:bodyPr>
          <a:lstStyle>
            <a:lvl1pPr>
              <a:defRPr sz="1200"/>
            </a:lvl1pPr>
          </a:lstStyle>
          <a:p>
            <a:pPr>
              <a:defRPr/>
            </a:pPr>
            <a:endParaRPr lang="en-GB"/>
          </a:p>
        </p:txBody>
      </p:sp>
      <p:sp>
        <p:nvSpPr>
          <p:cNvPr id="5123" name="Rectangle 3"/>
          <p:cNvSpPr>
            <a:spLocks noGrp="1" noChangeArrowheads="1"/>
          </p:cNvSpPr>
          <p:nvPr>
            <p:ph type="dt" idx="1"/>
          </p:nvPr>
        </p:nvSpPr>
        <p:spPr bwMode="auto">
          <a:xfrm>
            <a:off x="3852016" y="0"/>
            <a:ext cx="2945659" cy="496412"/>
          </a:xfrm>
          <a:prstGeom prst="rect">
            <a:avLst/>
          </a:prstGeom>
          <a:noFill/>
          <a:ln w="9525">
            <a:noFill/>
            <a:miter lim="800000"/>
            <a:headEnd/>
            <a:tailEnd/>
          </a:ln>
          <a:effectLst/>
        </p:spPr>
        <p:txBody>
          <a:bodyPr vert="horz" wrap="square" lIns="91614" tIns="45807" rIns="91614" bIns="45807" numCol="1" anchor="t" anchorCtr="0" compatLnSpc="1">
            <a:prstTxWarp prst="textNoShape">
              <a:avLst/>
            </a:prstTxWarp>
          </a:bodyPr>
          <a:lstStyle>
            <a:lvl1pPr algn="r">
              <a:defRPr sz="1200"/>
            </a:lvl1pPr>
          </a:lstStyle>
          <a:p>
            <a:pPr>
              <a:defRPr/>
            </a:pPr>
            <a:endParaRPr lang="en-GB"/>
          </a:p>
        </p:txBody>
      </p:sp>
      <p:sp>
        <p:nvSpPr>
          <p:cNvPr id="40964" name="Rectangle 4"/>
          <p:cNvSpPr>
            <a:spLocks noGrp="1" noRot="1" noChangeAspect="1" noChangeArrowheads="1" noTextEdit="1"/>
          </p:cNvSpPr>
          <p:nvPr>
            <p:ph type="sldImg" idx="2"/>
          </p:nvPr>
        </p:nvSpPr>
        <p:spPr bwMode="auto">
          <a:xfrm>
            <a:off x="915988" y="744538"/>
            <a:ext cx="4965700" cy="3724275"/>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06357" y="4715907"/>
            <a:ext cx="4984962" cy="4467702"/>
          </a:xfrm>
          <a:prstGeom prst="rect">
            <a:avLst/>
          </a:prstGeom>
          <a:noFill/>
          <a:ln w="9525">
            <a:noFill/>
            <a:miter lim="800000"/>
            <a:headEnd/>
            <a:tailEnd/>
          </a:ln>
          <a:effectLst/>
        </p:spPr>
        <p:txBody>
          <a:bodyPr vert="horz" wrap="square" lIns="91614" tIns="45807" rIns="91614" bIns="45807"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6" name="Rectangle 6"/>
          <p:cNvSpPr>
            <a:spLocks noGrp="1" noChangeArrowheads="1"/>
          </p:cNvSpPr>
          <p:nvPr>
            <p:ph type="ftr" sz="quarter" idx="4"/>
          </p:nvPr>
        </p:nvSpPr>
        <p:spPr bwMode="auto">
          <a:xfrm>
            <a:off x="0" y="9431813"/>
            <a:ext cx="2945659" cy="496412"/>
          </a:xfrm>
          <a:prstGeom prst="rect">
            <a:avLst/>
          </a:prstGeom>
          <a:noFill/>
          <a:ln w="9525">
            <a:noFill/>
            <a:miter lim="800000"/>
            <a:headEnd/>
            <a:tailEnd/>
          </a:ln>
          <a:effectLst/>
        </p:spPr>
        <p:txBody>
          <a:bodyPr vert="horz" wrap="square" lIns="91614" tIns="45807" rIns="91614" bIns="45807" numCol="1" anchor="b" anchorCtr="0" compatLnSpc="1">
            <a:prstTxWarp prst="textNoShape">
              <a:avLst/>
            </a:prstTxWarp>
          </a:bodyPr>
          <a:lstStyle>
            <a:lvl1pPr>
              <a:defRPr sz="1200"/>
            </a:lvl1pPr>
          </a:lstStyle>
          <a:p>
            <a:pPr>
              <a:defRPr/>
            </a:pPr>
            <a:endParaRPr lang="en-GB"/>
          </a:p>
        </p:txBody>
      </p:sp>
      <p:sp>
        <p:nvSpPr>
          <p:cNvPr id="5127" name="Rectangle 7"/>
          <p:cNvSpPr>
            <a:spLocks noGrp="1" noChangeArrowheads="1"/>
          </p:cNvSpPr>
          <p:nvPr>
            <p:ph type="sldNum" sz="quarter" idx="5"/>
          </p:nvPr>
        </p:nvSpPr>
        <p:spPr bwMode="auto">
          <a:xfrm>
            <a:off x="3852016" y="9431813"/>
            <a:ext cx="2945659" cy="496412"/>
          </a:xfrm>
          <a:prstGeom prst="rect">
            <a:avLst/>
          </a:prstGeom>
          <a:noFill/>
          <a:ln w="9525">
            <a:noFill/>
            <a:miter lim="800000"/>
            <a:headEnd/>
            <a:tailEnd/>
          </a:ln>
          <a:effectLst/>
        </p:spPr>
        <p:txBody>
          <a:bodyPr vert="horz" wrap="square" lIns="91614" tIns="45807" rIns="91614" bIns="45807" numCol="1" anchor="b" anchorCtr="0" compatLnSpc="1">
            <a:prstTxWarp prst="textNoShape">
              <a:avLst/>
            </a:prstTxWarp>
          </a:bodyPr>
          <a:lstStyle>
            <a:lvl1pPr algn="r">
              <a:defRPr sz="1200"/>
            </a:lvl1pPr>
          </a:lstStyle>
          <a:p>
            <a:pPr>
              <a:defRPr/>
            </a:pPr>
            <a:fld id="{3FA0F4D4-A3A6-48C1-B1F1-4280E9CA502D}" type="slidenum">
              <a:rPr lang="en-GB"/>
              <a:pPr>
                <a:defRPr/>
              </a:pPr>
              <a:t>‹#›</a:t>
            </a:fld>
            <a:endParaRPr lang="en-GB"/>
          </a:p>
        </p:txBody>
      </p:sp>
    </p:spTree>
    <p:extLst>
      <p:ext uri="{BB962C8B-B14F-4D97-AF65-F5344CB8AC3E}">
        <p14:creationId xmlns:p14="http://schemas.microsoft.com/office/powerpoint/2010/main" val="39118174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Lucida Sans Unicode"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532FAAA-12F3-4BC2-A6AB-5F2151B69C26}" type="slidenum">
              <a:rPr lang="en-GB" smtClean="0"/>
              <a:pPr/>
              <a:t>1</a:t>
            </a:fld>
            <a:endParaRPr lang="en-GB"/>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62786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940238B-0726-474E-B974-88CBDE8C0C5C}"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F416D4-773B-48A2-8963-76985CBDF909}"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CFCD34A-EAD6-4A2B-83C8-A41A7A6369FA}"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5F2F47E-1FAC-4F39-B0C2-6BDEE08DC123}"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AFF5F79-2FCA-49FD-9F46-111551135F83}"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755E2EB-362B-43CF-A641-DDD132543682}"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56EFDB2-3113-4A37-B07C-D041BB6DF69A}"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CA4BBE9-EDC8-4FC6-8E4A-9557837D9BA7}"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877EF81-6B76-4DEC-98FB-1D4D8A5EABA8}"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CFB5DE6-76C7-4CED-BEDC-D3B153CD2797}"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9464A3C-67AD-4626-8890-8B49EF23BCC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rot="10800000" flipH="1">
            <a:off x="0" y="0"/>
            <a:ext cx="9144000" cy="457200"/>
          </a:xfrm>
          <a:prstGeom prst="rect">
            <a:avLst/>
          </a:prstGeom>
          <a:gradFill rotWithShape="0">
            <a:gsLst>
              <a:gs pos="0">
                <a:srgbClr val="CCCCFF"/>
              </a:gs>
              <a:gs pos="100000">
                <a:srgbClr val="FFFFFF"/>
              </a:gs>
            </a:gsLst>
            <a:lin ang="5400000" scaled="1"/>
          </a:gradFill>
          <a:ln w="9525">
            <a:noFill/>
            <a:miter lim="800000"/>
            <a:headEnd/>
            <a:tailEnd/>
          </a:ln>
        </p:spPr>
        <p:txBody>
          <a:bodyPr wrap="none" anchor="ctr"/>
          <a:lstStyle/>
          <a:p>
            <a:pPr>
              <a:defRPr/>
            </a:pPr>
            <a:endParaRPr lang="en-US"/>
          </a:p>
        </p:txBody>
      </p:sp>
      <p:sp>
        <p:nvSpPr>
          <p:cNvPr id="1027" name="Rectangle 8"/>
          <p:cNvSpPr>
            <a:spLocks noChangeArrowheads="1"/>
          </p:cNvSpPr>
          <p:nvPr/>
        </p:nvSpPr>
        <p:spPr bwMode="auto">
          <a:xfrm>
            <a:off x="0" y="6400800"/>
            <a:ext cx="9144000" cy="457200"/>
          </a:xfrm>
          <a:prstGeom prst="rect">
            <a:avLst/>
          </a:prstGeom>
          <a:gradFill rotWithShape="0">
            <a:gsLst>
              <a:gs pos="0">
                <a:srgbClr val="FFFFFF"/>
              </a:gs>
              <a:gs pos="100000">
                <a:srgbClr val="CCCCFF"/>
              </a:gs>
            </a:gsLst>
            <a:lin ang="5400000" scaled="1"/>
          </a:gradFill>
          <a:ln w="9525">
            <a:noFill/>
            <a:miter lim="800000"/>
            <a:headEnd/>
            <a:tailEnd/>
          </a:ln>
        </p:spPr>
        <p:txBody>
          <a:bodyPr wrap="none" anchor="ctr"/>
          <a:lstStyle/>
          <a:p>
            <a:pPr>
              <a:defRPr/>
            </a:pPr>
            <a:endParaRPr lang="en-US"/>
          </a:p>
        </p:txBody>
      </p:sp>
      <p:sp>
        <p:nvSpPr>
          <p:cNvPr id="1028" name="Rectangle 9"/>
          <p:cNvSpPr>
            <a:spLocks noChangeArrowheads="1"/>
          </p:cNvSpPr>
          <p:nvPr/>
        </p:nvSpPr>
        <p:spPr bwMode="auto">
          <a:xfrm>
            <a:off x="2387600" y="6591300"/>
            <a:ext cx="4392613" cy="266700"/>
          </a:xfrm>
          <a:prstGeom prst="rect">
            <a:avLst/>
          </a:prstGeom>
          <a:noFill/>
          <a:ln w="9525">
            <a:noFill/>
            <a:miter lim="800000"/>
            <a:headEnd/>
            <a:tailEnd/>
          </a:ln>
        </p:spPr>
        <p:txBody>
          <a:bodyPr/>
          <a:lstStyle/>
          <a:p>
            <a:pPr algn="ctr">
              <a:defRPr/>
            </a:pPr>
            <a:r>
              <a:rPr lang="en-GB" sz="1200" dirty="0">
                <a:solidFill>
                  <a:srgbClr val="000066"/>
                </a:solidFill>
              </a:rPr>
              <a:t> Broadcast Technology UG1</a:t>
            </a:r>
          </a:p>
        </p:txBody>
      </p:sp>
      <p:sp>
        <p:nvSpPr>
          <p:cNvPr id="1029" name="Rectangle 10"/>
          <p:cNvSpPr>
            <a:spLocks noChangeArrowheads="1"/>
          </p:cNvSpPr>
          <p:nvPr/>
        </p:nvSpPr>
        <p:spPr bwMode="auto">
          <a:xfrm>
            <a:off x="0" y="6591300"/>
            <a:ext cx="2895600" cy="266700"/>
          </a:xfrm>
          <a:prstGeom prst="rect">
            <a:avLst/>
          </a:prstGeom>
          <a:noFill/>
          <a:ln w="9525">
            <a:noFill/>
            <a:miter lim="800000"/>
            <a:headEnd/>
            <a:tailEnd/>
          </a:ln>
        </p:spPr>
        <p:txBody>
          <a:bodyPr/>
          <a:lstStyle/>
          <a:p>
            <a:pPr>
              <a:defRPr/>
            </a:pPr>
            <a:r>
              <a:rPr lang="en-GB" sz="1200">
                <a:solidFill>
                  <a:srgbClr val="000066"/>
                </a:solidFill>
              </a:rPr>
              <a:t>jeremy.foss@bcu.ac.uk</a:t>
            </a:r>
          </a:p>
        </p:txBody>
      </p:sp>
      <p:sp>
        <p:nvSpPr>
          <p:cNvPr id="1030" name="Rectangle 11"/>
          <p:cNvSpPr>
            <a:spLocks noChangeArrowheads="1"/>
          </p:cNvSpPr>
          <p:nvPr/>
        </p:nvSpPr>
        <p:spPr bwMode="auto">
          <a:xfrm>
            <a:off x="5868988" y="6591300"/>
            <a:ext cx="2895600" cy="266700"/>
          </a:xfrm>
          <a:prstGeom prst="rect">
            <a:avLst/>
          </a:prstGeom>
          <a:noFill/>
          <a:ln w="9525">
            <a:noFill/>
            <a:miter lim="800000"/>
            <a:headEnd/>
            <a:tailEnd/>
          </a:ln>
        </p:spPr>
        <p:txBody>
          <a:bodyPr/>
          <a:lstStyle/>
          <a:p>
            <a:pPr algn="r">
              <a:defRPr/>
            </a:pPr>
            <a:endParaRPr lang="en-US" sz="1200">
              <a:solidFill>
                <a:srgbClr val="000066"/>
              </a:solidFill>
            </a:endParaRPr>
          </a:p>
        </p:txBody>
      </p:sp>
      <p:sp>
        <p:nvSpPr>
          <p:cNvPr id="1031" name="Rectangle 13"/>
          <p:cNvSpPr>
            <a:spLocks noChangeArrowheads="1"/>
          </p:cNvSpPr>
          <p:nvPr/>
        </p:nvSpPr>
        <p:spPr bwMode="auto">
          <a:xfrm>
            <a:off x="0" y="0"/>
            <a:ext cx="3492500" cy="304800"/>
          </a:xfrm>
          <a:prstGeom prst="rect">
            <a:avLst/>
          </a:prstGeom>
          <a:noFill/>
          <a:ln w="9525">
            <a:noFill/>
            <a:miter lim="800000"/>
            <a:headEnd/>
            <a:tailEnd/>
          </a:ln>
        </p:spPr>
        <p:txBody>
          <a:bodyPr/>
          <a:lstStyle/>
          <a:p>
            <a:pPr>
              <a:defRPr/>
            </a:pPr>
            <a:endParaRPr lang="en-GB" sz="1200" b="1">
              <a:solidFill>
                <a:srgbClr val="000066"/>
              </a:solidFill>
            </a:endParaRPr>
          </a:p>
          <a:p>
            <a:pPr>
              <a:defRPr/>
            </a:pPr>
            <a:endParaRPr lang="en-GB" sz="1200">
              <a:solidFill>
                <a:srgbClr val="000066"/>
              </a:solidFill>
            </a:endParaRPr>
          </a:p>
        </p:txBody>
      </p:sp>
      <p:sp>
        <p:nvSpPr>
          <p:cNvPr id="1032" name="Rectangle 15"/>
          <p:cNvSpPr>
            <a:spLocks noChangeArrowheads="1"/>
          </p:cNvSpPr>
          <p:nvPr userDrawn="1"/>
        </p:nvSpPr>
        <p:spPr bwMode="auto">
          <a:xfrm>
            <a:off x="6248400" y="6591300"/>
            <a:ext cx="2895600" cy="266700"/>
          </a:xfrm>
          <a:prstGeom prst="rect">
            <a:avLst/>
          </a:prstGeom>
          <a:noFill/>
          <a:ln w="9525">
            <a:noFill/>
            <a:miter lim="800000"/>
            <a:headEnd/>
            <a:tailEnd/>
          </a:ln>
        </p:spPr>
        <p:txBody>
          <a:bodyPr/>
          <a:lstStyle/>
          <a:p>
            <a:pPr algn="r">
              <a:defRPr/>
            </a:pPr>
            <a:r>
              <a:rPr lang="en-GB" sz="1200">
                <a:solidFill>
                  <a:srgbClr val="000066"/>
                </a:solidFill>
              </a:rPr>
              <a:t>Jerry Foss, CEng, MIET</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Lucida Sans Unicode" pitchFamily="34" charset="0"/>
        </a:defRPr>
      </a:lvl2pPr>
      <a:lvl3pPr algn="ctr" rtl="0" eaLnBrk="0" fontAlgn="base" hangingPunct="0">
        <a:spcBef>
          <a:spcPct val="0"/>
        </a:spcBef>
        <a:spcAft>
          <a:spcPct val="0"/>
        </a:spcAft>
        <a:defRPr sz="4400">
          <a:solidFill>
            <a:schemeClr val="tx2"/>
          </a:solidFill>
          <a:latin typeface="Lucida Sans Unicode" pitchFamily="34" charset="0"/>
        </a:defRPr>
      </a:lvl3pPr>
      <a:lvl4pPr algn="ctr" rtl="0" eaLnBrk="0" fontAlgn="base" hangingPunct="0">
        <a:spcBef>
          <a:spcPct val="0"/>
        </a:spcBef>
        <a:spcAft>
          <a:spcPct val="0"/>
        </a:spcAft>
        <a:defRPr sz="4400">
          <a:solidFill>
            <a:schemeClr val="tx2"/>
          </a:solidFill>
          <a:latin typeface="Lucida Sans Unicode" pitchFamily="34" charset="0"/>
        </a:defRPr>
      </a:lvl4pPr>
      <a:lvl5pPr algn="ctr" rtl="0" eaLnBrk="0" fontAlgn="base" hangingPunct="0">
        <a:spcBef>
          <a:spcPct val="0"/>
        </a:spcBef>
        <a:spcAft>
          <a:spcPct val="0"/>
        </a:spcAft>
        <a:defRPr sz="4400">
          <a:solidFill>
            <a:schemeClr val="tx2"/>
          </a:solidFill>
          <a:latin typeface="Lucida Sans Unicode" pitchFamily="34" charset="0"/>
        </a:defRPr>
      </a:lvl5pPr>
      <a:lvl6pPr marL="457200" algn="ctr" rtl="0" eaLnBrk="0" fontAlgn="base" hangingPunct="0">
        <a:spcBef>
          <a:spcPct val="0"/>
        </a:spcBef>
        <a:spcAft>
          <a:spcPct val="0"/>
        </a:spcAft>
        <a:defRPr sz="4400">
          <a:solidFill>
            <a:schemeClr val="tx2"/>
          </a:solidFill>
          <a:latin typeface="Lucida Sans Unicode" pitchFamily="34" charset="0"/>
        </a:defRPr>
      </a:lvl6pPr>
      <a:lvl7pPr marL="914400" algn="ctr" rtl="0" eaLnBrk="0" fontAlgn="base" hangingPunct="0">
        <a:spcBef>
          <a:spcPct val="0"/>
        </a:spcBef>
        <a:spcAft>
          <a:spcPct val="0"/>
        </a:spcAft>
        <a:defRPr sz="4400">
          <a:solidFill>
            <a:schemeClr val="tx2"/>
          </a:solidFill>
          <a:latin typeface="Lucida Sans Unicode" pitchFamily="34" charset="0"/>
        </a:defRPr>
      </a:lvl7pPr>
      <a:lvl8pPr marL="1371600" algn="ctr" rtl="0" eaLnBrk="0" fontAlgn="base" hangingPunct="0">
        <a:spcBef>
          <a:spcPct val="0"/>
        </a:spcBef>
        <a:spcAft>
          <a:spcPct val="0"/>
        </a:spcAft>
        <a:defRPr sz="4400">
          <a:solidFill>
            <a:schemeClr val="tx2"/>
          </a:solidFill>
          <a:latin typeface="Lucida Sans Unicode" pitchFamily="34" charset="0"/>
        </a:defRPr>
      </a:lvl8pPr>
      <a:lvl9pPr marL="1828800" algn="ctr" rtl="0" eaLnBrk="0" fontAlgn="base" hangingPunct="0">
        <a:spcBef>
          <a:spcPct val="0"/>
        </a:spcBef>
        <a:spcAft>
          <a:spcPct val="0"/>
        </a:spcAft>
        <a:defRPr sz="4400">
          <a:solidFill>
            <a:schemeClr val="tx2"/>
          </a:solidFill>
          <a:latin typeface="Lucida Sans Unicode"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282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6282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6282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16144C6-4CBB-464E-8B86-D02262D719D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w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8.gif"/></Relationships>
</file>

<file path=ppt/slides/_rels/slide20.xml.rels><?xml version="1.0" encoding="UTF-8" standalone="yes"?>
<Relationships xmlns="http://schemas.openxmlformats.org/package/2006/relationships"><Relationship Id="rId3" Type="http://schemas.openxmlformats.org/officeDocument/2006/relationships/hyperlink" Target="https://www.maximintegrated.com/en/app-notes/index.mvp/id/734" TargetMode="External"/><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youtube.com/watch?v=3GJUM6pCpew"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hyperlink" Target="http://www.redsharknews.com/technology/item/3289-what-exactly-is-rec-709"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hyperlink" Target="https://www.avforums.com/article/ifa-2014-joe-kane-interview-about-ultra-hd-4k-tv.10702"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www.pembers.freeserve.co.uk/World-TV-Standards/"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ChangeArrowheads="1"/>
          </p:cNvSpPr>
          <p:nvPr/>
        </p:nvSpPr>
        <p:spPr bwMode="auto">
          <a:xfrm>
            <a:off x="0" y="1809750"/>
            <a:ext cx="9144000" cy="3262313"/>
          </a:xfrm>
          <a:prstGeom prst="rect">
            <a:avLst/>
          </a:prstGeom>
          <a:gradFill rotWithShape="0">
            <a:gsLst>
              <a:gs pos="0">
                <a:schemeClr val="bg1"/>
              </a:gs>
              <a:gs pos="100000">
                <a:srgbClr val="FFCC99"/>
              </a:gs>
            </a:gsLst>
            <a:lin ang="0" scaled="1"/>
          </a:gradFill>
          <a:ln w="9525">
            <a:noFill/>
            <a:miter lim="800000"/>
            <a:headEnd/>
            <a:tailEnd/>
          </a:ln>
        </p:spPr>
        <p:txBody>
          <a:bodyPr wrap="none" anchor="ctr"/>
          <a:lstStyle/>
          <a:p>
            <a:pPr algn="ctr"/>
            <a:endParaRPr lang="en-US" sz="2400"/>
          </a:p>
        </p:txBody>
      </p:sp>
      <p:sp>
        <p:nvSpPr>
          <p:cNvPr id="6147" name="Text Box 9"/>
          <p:cNvSpPr txBox="1">
            <a:spLocks noChangeArrowheads="1"/>
          </p:cNvSpPr>
          <p:nvPr/>
        </p:nvSpPr>
        <p:spPr bwMode="auto">
          <a:xfrm>
            <a:off x="395288" y="2075921"/>
            <a:ext cx="8561388" cy="2554545"/>
          </a:xfrm>
          <a:prstGeom prst="rect">
            <a:avLst/>
          </a:prstGeom>
          <a:noFill/>
          <a:ln w="9525">
            <a:noFill/>
            <a:miter lim="800000"/>
            <a:headEnd/>
            <a:tailEnd/>
          </a:ln>
        </p:spPr>
        <p:txBody>
          <a:bodyPr>
            <a:spAutoFit/>
          </a:bodyPr>
          <a:lstStyle/>
          <a:p>
            <a:r>
              <a:rPr lang="en-GB" sz="2400" dirty="0"/>
              <a:t>Broadcast Technology UG1</a:t>
            </a:r>
          </a:p>
          <a:p>
            <a:endParaRPr lang="en-GB" sz="2800" b="1" dirty="0"/>
          </a:p>
          <a:p>
            <a:r>
              <a:rPr lang="en-GB" sz="3200" b="1"/>
              <a:t>6: TV Standards, Colour Space</a:t>
            </a:r>
            <a:r>
              <a:rPr lang="en-GB" sz="3200"/>
              <a:t> </a:t>
            </a:r>
            <a:endParaRPr lang="en-GB" sz="3200" dirty="0"/>
          </a:p>
          <a:p>
            <a:endParaRPr lang="en-GB" sz="3200" dirty="0"/>
          </a:p>
          <a:p>
            <a:r>
              <a:rPr lang="en-GB" sz="2800" dirty="0"/>
              <a:t>Jerry Foss</a:t>
            </a:r>
          </a:p>
          <a:p>
            <a:r>
              <a:rPr lang="en-GB" dirty="0"/>
              <a:t>jeremy.foss@bcu.ac.uk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68.media.tumblr.com/3a08f3947b016dbac889a97c1eae06c7/tumblr_noe42t9Xdv1uvcudho1_1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73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288" y="368300"/>
            <a:ext cx="5630067" cy="461665"/>
          </a:xfrm>
          <a:prstGeom prst="rect">
            <a:avLst/>
          </a:prstGeom>
          <a:noFill/>
        </p:spPr>
        <p:txBody>
          <a:bodyPr wrap="none" rtlCol="0">
            <a:spAutoFit/>
          </a:bodyPr>
          <a:lstStyle/>
          <a:p>
            <a:r>
              <a:rPr lang="en-GB" sz="2400" b="1" dirty="0"/>
              <a:t>TV </a:t>
            </a:r>
            <a:r>
              <a:rPr lang="en-GB" sz="2400" b="1"/>
              <a:t>Broadcast Standards </a:t>
            </a:r>
            <a:r>
              <a:rPr lang="en-GB" sz="2400" i="1"/>
              <a:t>(some of …)</a:t>
            </a:r>
            <a:endParaRPr lang="en-GB" sz="2400" i="1" dirty="0"/>
          </a:p>
        </p:txBody>
      </p:sp>
      <p:sp>
        <p:nvSpPr>
          <p:cNvPr id="3" name="TextBox 2"/>
          <p:cNvSpPr txBox="1"/>
          <p:nvPr/>
        </p:nvSpPr>
        <p:spPr>
          <a:xfrm>
            <a:off x="451722" y="4088922"/>
            <a:ext cx="4440710" cy="1569660"/>
          </a:xfrm>
          <a:prstGeom prst="rect">
            <a:avLst/>
          </a:prstGeom>
          <a:solidFill>
            <a:srgbClr val="D7FDF6"/>
          </a:solidFill>
        </p:spPr>
        <p:txBody>
          <a:bodyPr wrap="square" rtlCol="0">
            <a:spAutoFit/>
          </a:bodyPr>
          <a:lstStyle/>
          <a:p>
            <a:r>
              <a:rPr lang="en-GB" b="1" dirty="0"/>
              <a:t>Network </a:t>
            </a:r>
          </a:p>
          <a:p>
            <a:pPr marL="742950" lvl="1" indent="-285750">
              <a:buFont typeface="Arial" panose="020B0604020202020204" pitchFamily="34" charset="0"/>
              <a:buChar char="•"/>
            </a:pPr>
            <a:r>
              <a:rPr lang="en-GB" dirty="0"/>
              <a:t>ISO OSI 7 layer</a:t>
            </a:r>
          </a:p>
          <a:p>
            <a:pPr marL="1200150" lvl="2" indent="-285750">
              <a:buFont typeface="Arial" panose="020B0604020202020204" pitchFamily="34" charset="0"/>
              <a:buChar char="•"/>
            </a:pPr>
            <a:r>
              <a:rPr lang="en-GB" dirty="0"/>
              <a:t>MAC, Ethernet, IP, TCP, </a:t>
            </a:r>
            <a:r>
              <a:rPr lang="en-GB" dirty="0" err="1"/>
              <a:t>etc</a:t>
            </a:r>
            <a:r>
              <a:rPr lang="en-GB" dirty="0"/>
              <a:t> ….</a:t>
            </a:r>
          </a:p>
          <a:p>
            <a:pPr marL="1200150" lvl="2" indent="-285750">
              <a:buFont typeface="Arial" panose="020B0604020202020204" pitchFamily="34" charset="0"/>
              <a:buChar char="•"/>
            </a:pPr>
            <a:r>
              <a:rPr lang="en-GB" dirty="0"/>
              <a:t>ISDN, CCITT, </a:t>
            </a:r>
            <a:r>
              <a:rPr lang="en-GB" dirty="0" err="1"/>
              <a:t>etc</a:t>
            </a:r>
            <a:endParaRPr lang="en-GB" dirty="0"/>
          </a:p>
          <a:p>
            <a:pPr marL="1200150" lvl="2" indent="-285750">
              <a:buFont typeface="Arial" panose="020B0604020202020204" pitchFamily="34" charset="0"/>
              <a:buChar char="•"/>
            </a:pPr>
            <a:r>
              <a:rPr lang="en-GB" dirty="0"/>
              <a:t>3G, 4G</a:t>
            </a:r>
            <a:r>
              <a:rPr lang="en-GB"/>
              <a:t>, 5G …</a:t>
            </a:r>
            <a:endParaRPr lang="en-GB" dirty="0"/>
          </a:p>
          <a:p>
            <a:pPr marL="1200150" lvl="2" indent="-285750">
              <a:buFont typeface="Arial" panose="020B0604020202020204" pitchFamily="34" charset="0"/>
              <a:buChar char="•"/>
            </a:pPr>
            <a:r>
              <a:rPr lang="en-GB" dirty="0"/>
              <a:t>SDH</a:t>
            </a:r>
            <a:r>
              <a:rPr lang="en-GB"/>
              <a:t>, SONET</a:t>
            </a:r>
            <a:endParaRPr lang="en-GB" dirty="0"/>
          </a:p>
        </p:txBody>
      </p:sp>
      <p:sp>
        <p:nvSpPr>
          <p:cNvPr id="4" name="Rectangle 3"/>
          <p:cNvSpPr/>
          <p:nvPr/>
        </p:nvSpPr>
        <p:spPr>
          <a:xfrm>
            <a:off x="5726341" y="915875"/>
            <a:ext cx="2965938" cy="3016210"/>
          </a:xfrm>
          <a:prstGeom prst="rect">
            <a:avLst/>
          </a:prstGeom>
          <a:solidFill>
            <a:srgbClr val="FDE5FF"/>
          </a:solidFill>
        </p:spPr>
        <p:txBody>
          <a:bodyPr wrap="square">
            <a:spAutoFit/>
          </a:bodyPr>
          <a:lstStyle/>
          <a:p>
            <a:r>
              <a:rPr lang="en-GB" b="1" dirty="0"/>
              <a:t>Media Formats</a:t>
            </a:r>
          </a:p>
          <a:p>
            <a:pPr marL="285750" indent="-285750">
              <a:buFont typeface="Arial" panose="020B0604020202020204" pitchFamily="34" charset="0"/>
              <a:buChar char="•"/>
            </a:pPr>
            <a:r>
              <a:rPr lang="en-GB" dirty="0"/>
              <a:t>MPEG 2, 4</a:t>
            </a:r>
            <a:r>
              <a:rPr lang="en-GB"/>
              <a:t>, A, I</a:t>
            </a:r>
            <a:endParaRPr lang="en-GB" dirty="0"/>
          </a:p>
          <a:p>
            <a:pPr marL="742950" lvl="1" indent="-285750">
              <a:buFont typeface="Arial" panose="020B0604020202020204" pitchFamily="34" charset="0"/>
              <a:buChar char="•"/>
            </a:pPr>
            <a:r>
              <a:rPr lang="en-GB" sz="1400" dirty="0"/>
              <a:t>H.264</a:t>
            </a:r>
            <a:r>
              <a:rPr lang="en-GB" sz="1400"/>
              <a:t>, 265</a:t>
            </a:r>
          </a:p>
          <a:p>
            <a:pPr marL="285750" indent="-285750">
              <a:buFont typeface="Arial" panose="020B0604020202020204" pitchFamily="34" charset="0"/>
              <a:buChar char="•"/>
            </a:pPr>
            <a:r>
              <a:rPr lang="en-GB"/>
              <a:t>VP9 – AV-1</a:t>
            </a:r>
            <a:endParaRPr lang="en-GB" dirty="0"/>
          </a:p>
          <a:p>
            <a:pPr marL="285750" indent="-285750">
              <a:buFont typeface="Arial" panose="020B0604020202020204" pitchFamily="34" charset="0"/>
              <a:buChar char="•"/>
            </a:pPr>
            <a:endParaRPr lang="en-GB" dirty="0"/>
          </a:p>
          <a:p>
            <a:endParaRPr lang="en-GB" dirty="0"/>
          </a:p>
          <a:p>
            <a:r>
              <a:rPr lang="en-GB" b="1" dirty="0"/>
              <a:t>Transmission</a:t>
            </a:r>
          </a:p>
          <a:p>
            <a:pPr marL="285750" indent="-285750">
              <a:buFont typeface="Arial" panose="020B0604020202020204" pitchFamily="34" charset="0"/>
              <a:buChar char="•"/>
            </a:pPr>
            <a:r>
              <a:rPr lang="en-GB" dirty="0"/>
              <a:t>DVB</a:t>
            </a:r>
          </a:p>
          <a:p>
            <a:pPr marL="285750" indent="-285750">
              <a:buFont typeface="Arial" panose="020B0604020202020204" pitchFamily="34" charset="0"/>
              <a:buChar char="•"/>
            </a:pPr>
            <a:r>
              <a:rPr lang="en-GB" dirty="0"/>
              <a:t>SDI</a:t>
            </a:r>
          </a:p>
          <a:p>
            <a:pPr marL="285750" indent="-285750">
              <a:buFont typeface="Arial" panose="020B0604020202020204" pitchFamily="34" charset="0"/>
              <a:buChar char="•"/>
            </a:pPr>
            <a:r>
              <a:rPr lang="en-GB" dirty="0"/>
              <a:t>IP</a:t>
            </a:r>
          </a:p>
          <a:p>
            <a:pPr marL="285750" indent="-285750">
              <a:buFont typeface="Arial" panose="020B0604020202020204" pitchFamily="34" charset="0"/>
              <a:buChar char="•"/>
            </a:pPr>
            <a:r>
              <a:rPr lang="en-GB" dirty="0"/>
              <a:t>SDI on IP SMPTE 2022</a:t>
            </a:r>
          </a:p>
          <a:p>
            <a:pPr marL="285750" indent="-285750">
              <a:buFont typeface="Arial" panose="020B0604020202020204" pitchFamily="34" charset="0"/>
              <a:buChar char="•"/>
            </a:pPr>
            <a:endParaRPr lang="en-GB" dirty="0"/>
          </a:p>
        </p:txBody>
      </p:sp>
      <p:sp>
        <p:nvSpPr>
          <p:cNvPr id="5" name="Rectangle 4"/>
          <p:cNvSpPr/>
          <p:nvPr/>
        </p:nvSpPr>
        <p:spPr>
          <a:xfrm>
            <a:off x="5118452" y="4088922"/>
            <a:ext cx="3473937" cy="2308324"/>
          </a:xfrm>
          <a:prstGeom prst="rect">
            <a:avLst/>
          </a:prstGeom>
          <a:solidFill>
            <a:srgbClr val="FFEBEB"/>
          </a:solidFill>
        </p:spPr>
        <p:txBody>
          <a:bodyPr wrap="square">
            <a:spAutoFit/>
          </a:bodyPr>
          <a:lstStyle/>
          <a:p>
            <a:r>
              <a:rPr lang="en-GB" b="1" dirty="0"/>
              <a:t>Workflow</a:t>
            </a:r>
          </a:p>
          <a:p>
            <a:pPr marL="285750" indent="-285750">
              <a:buFont typeface="Arial" panose="020B0604020202020204" pitchFamily="34" charset="0"/>
              <a:buChar char="•"/>
            </a:pPr>
            <a:r>
              <a:rPr lang="en-GB" dirty="0"/>
              <a:t>MXF</a:t>
            </a:r>
          </a:p>
          <a:p>
            <a:pPr marL="285750" indent="-285750">
              <a:buFont typeface="Arial" panose="020B0604020202020204" pitchFamily="34" charset="0"/>
              <a:buChar char="•"/>
            </a:pPr>
            <a:r>
              <a:rPr lang="en-GB" dirty="0"/>
              <a:t>LTO</a:t>
            </a:r>
          </a:p>
          <a:p>
            <a:pPr marL="285750" indent="-285750">
              <a:buFont typeface="Arial" panose="020B0604020202020204" pitchFamily="34" charset="0"/>
              <a:buChar char="•"/>
            </a:pPr>
            <a:r>
              <a:rPr lang="en-GB" dirty="0"/>
              <a:t>SOA / IP</a:t>
            </a:r>
          </a:p>
          <a:p>
            <a:pPr marL="285750" indent="-285750">
              <a:buFont typeface="Arial" panose="020B0604020202020204" pitchFamily="34" charset="0"/>
              <a:buChar char="•"/>
            </a:pPr>
            <a:r>
              <a:rPr lang="en-GB" dirty="0"/>
              <a:t>Semantics - RDF, OWL</a:t>
            </a:r>
          </a:p>
          <a:p>
            <a:pPr marL="285750" indent="-285750">
              <a:buFont typeface="Arial" panose="020B0604020202020204" pitchFamily="34" charset="0"/>
              <a:buChar char="•"/>
            </a:pPr>
            <a:r>
              <a:rPr lang="en-GB" dirty="0"/>
              <a:t>Metadata - EBU Core</a:t>
            </a:r>
            <a:r>
              <a:rPr lang="en-GB"/>
              <a:t>, MPEG-I</a:t>
            </a:r>
          </a:p>
          <a:p>
            <a:pPr marL="285750" indent="-285750">
              <a:buFont typeface="Arial" panose="020B0604020202020204" pitchFamily="34" charset="0"/>
              <a:buChar char="•"/>
            </a:pPr>
            <a:r>
              <a:rPr lang="en-GB"/>
              <a:t>SMPTE 2022, 2110, 2059, </a:t>
            </a:r>
          </a:p>
          <a:p>
            <a:pPr marL="742950" lvl="1" indent="-285750">
              <a:buFont typeface="Arial" panose="020B0604020202020204" pitchFamily="34" charset="0"/>
              <a:buChar char="•"/>
            </a:pPr>
            <a:r>
              <a:rPr lang="en-GB"/>
              <a:t>AES-67</a:t>
            </a:r>
          </a:p>
          <a:p>
            <a:pPr marL="742950" lvl="1" indent="-285750">
              <a:buFont typeface="Arial" panose="020B0604020202020204" pitchFamily="34" charset="0"/>
              <a:buChar char="•"/>
            </a:pPr>
            <a:r>
              <a:rPr lang="en-GB"/>
              <a:t>AMWA NMOS</a:t>
            </a:r>
          </a:p>
        </p:txBody>
      </p:sp>
      <p:sp>
        <p:nvSpPr>
          <p:cNvPr id="6" name="TextBox 5"/>
          <p:cNvSpPr txBox="1"/>
          <p:nvPr/>
        </p:nvSpPr>
        <p:spPr>
          <a:xfrm>
            <a:off x="451721" y="1373075"/>
            <a:ext cx="4997327" cy="1569660"/>
          </a:xfrm>
          <a:prstGeom prst="rect">
            <a:avLst/>
          </a:prstGeom>
          <a:solidFill>
            <a:srgbClr val="FDFFE1"/>
          </a:solidFill>
        </p:spPr>
        <p:txBody>
          <a:bodyPr wrap="square" rtlCol="0">
            <a:spAutoFit/>
          </a:bodyPr>
          <a:lstStyle/>
          <a:p>
            <a:r>
              <a:rPr lang="en-GB" b="1" dirty="0"/>
              <a:t>Broadcasting</a:t>
            </a:r>
          </a:p>
          <a:p>
            <a:pPr marL="285750" indent="-285750">
              <a:buFont typeface="Arial" panose="020B0604020202020204" pitchFamily="34" charset="0"/>
              <a:buChar char="•"/>
            </a:pPr>
            <a:r>
              <a:rPr lang="en-GB" dirty="0"/>
              <a:t>ITU BT.709, 2020, 2100 …</a:t>
            </a:r>
          </a:p>
          <a:p>
            <a:pPr marL="285750" indent="-285750">
              <a:buFont typeface="Arial" panose="020B0604020202020204" pitchFamily="34" charset="0"/>
              <a:buChar char="•"/>
            </a:pPr>
            <a:r>
              <a:rPr lang="en-GB" dirty="0"/>
              <a:t>Over the air – traditional broadcast methods</a:t>
            </a:r>
          </a:p>
          <a:p>
            <a:pPr marL="742950" lvl="1" indent="-285750">
              <a:buFont typeface="Arial" panose="020B0604020202020204" pitchFamily="34" charset="0"/>
              <a:buChar char="•"/>
            </a:pPr>
            <a:r>
              <a:rPr lang="en-GB" dirty="0"/>
              <a:t>legacy analogue – PAL, NTSC, </a:t>
            </a:r>
            <a:r>
              <a:rPr lang="en-GB" dirty="0" err="1"/>
              <a:t>etc</a:t>
            </a:r>
            <a:endParaRPr lang="en-GB" dirty="0"/>
          </a:p>
          <a:p>
            <a:pPr marL="742950" lvl="1" indent="-285750">
              <a:buFont typeface="Arial" panose="020B0604020202020204" pitchFamily="34" charset="0"/>
              <a:buChar char="•"/>
            </a:pPr>
            <a:r>
              <a:rPr lang="en-GB"/>
              <a:t>Cable - DOCSIS</a:t>
            </a:r>
            <a:endParaRPr lang="en-GB" dirty="0"/>
          </a:p>
          <a:p>
            <a:pPr marL="285750" indent="-285750">
              <a:buFont typeface="Arial" panose="020B0604020202020204" pitchFamily="34" charset="0"/>
              <a:buChar char="•"/>
            </a:pPr>
            <a:r>
              <a:rPr lang="en-GB"/>
              <a:t>DVB-C, T, S, I etc…</a:t>
            </a:r>
          </a:p>
        </p:txBody>
      </p:sp>
    </p:spTree>
    <p:extLst>
      <p:ext uri="{BB962C8B-B14F-4D97-AF65-F5344CB8AC3E}">
        <p14:creationId xmlns:p14="http://schemas.microsoft.com/office/powerpoint/2010/main" val="970278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395288" y="33178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AU" altLang="en-US" sz="2400" b="1"/>
              <a:t>Amplitude Modulation	</a:t>
            </a:r>
          </a:p>
        </p:txBody>
      </p:sp>
      <p:pic>
        <p:nvPicPr>
          <p:cNvPr id="541701"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288" y="1046163"/>
            <a:ext cx="3997325"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1702"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6425" y="1046163"/>
            <a:ext cx="399732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1703"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5288" y="3484563"/>
            <a:ext cx="3990975"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1704"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22775" y="3484563"/>
            <a:ext cx="3990975"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3932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417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4170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541703"/>
                                        </p:tgtEl>
                                        <p:attrNameLst>
                                          <p:attrName>style.visibility</p:attrName>
                                        </p:attrNameLst>
                                      </p:cBhvr>
                                      <p:to>
                                        <p:strVal val="visible"/>
                                      </p:to>
                                    </p:set>
                                    <p:animEffect transition="in" filter="wipe(right)">
                                      <p:cBhvr>
                                        <p:cTn id="15" dur="500"/>
                                        <p:tgtEl>
                                          <p:spTgt spid="54170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541704"/>
                                        </p:tgtEl>
                                        <p:attrNameLst>
                                          <p:attrName>style.visibility</p:attrName>
                                        </p:attrNameLst>
                                      </p:cBhvr>
                                      <p:to>
                                        <p:strVal val="visible"/>
                                      </p:to>
                                    </p:set>
                                    <p:animEffect transition="in" filter="box(in)">
                                      <p:cBhvr>
                                        <p:cTn id="20" dur="500"/>
                                        <p:tgtEl>
                                          <p:spTgt spid="541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395288" y="33178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AU" altLang="en-US" sz="2400" b="1"/>
              <a:t>Frequency Modulation	</a:t>
            </a:r>
          </a:p>
        </p:txBody>
      </p:sp>
      <p:pic>
        <p:nvPicPr>
          <p:cNvPr id="54272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288" y="981075"/>
            <a:ext cx="3997325"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2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6425" y="981075"/>
            <a:ext cx="399732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29"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76513" y="3419475"/>
            <a:ext cx="3990975"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32442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427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427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542729"/>
                                        </p:tgtEl>
                                        <p:attrNameLst>
                                          <p:attrName>style.visibility</p:attrName>
                                        </p:attrNameLst>
                                      </p:cBhvr>
                                      <p:to>
                                        <p:strVal val="visible"/>
                                      </p:to>
                                    </p:set>
                                    <p:animEffect transition="in" filter="box(in)">
                                      <p:cBhvr>
                                        <p:cTn id="15" dur="500"/>
                                        <p:tgtEl>
                                          <p:spTgt spid="542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ChangeArrowheads="1"/>
          </p:cNvSpPr>
          <p:nvPr/>
        </p:nvSpPr>
        <p:spPr bwMode="auto">
          <a:xfrm>
            <a:off x="3724275" y="1127125"/>
            <a:ext cx="4572000"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pPr>
              <a:buFont typeface="Arial" panose="020B0604020202020204" pitchFamily="34" charset="0"/>
              <a:buChar char="•"/>
            </a:pPr>
            <a:r>
              <a:rPr lang="en-GB" altLang="en-US"/>
              <a:t>SSB produced by filtering one of the sidebands, usually the lower (LSB) </a:t>
            </a:r>
          </a:p>
          <a:p>
            <a:pPr>
              <a:buFont typeface="Arial" panose="020B0604020202020204" pitchFamily="34" charset="0"/>
              <a:buChar char="•"/>
            </a:pPr>
            <a:endParaRPr lang="en-GB" altLang="en-US"/>
          </a:p>
          <a:p>
            <a:pPr>
              <a:buFont typeface="Arial" panose="020B0604020202020204" pitchFamily="34" charset="0"/>
              <a:buChar char="•"/>
            </a:pPr>
            <a:r>
              <a:rPr lang="en-GB" altLang="en-US"/>
              <a:t>Carrier is also often reduced or removed entirely (suppressed)</a:t>
            </a:r>
          </a:p>
          <a:p>
            <a:r>
              <a:rPr lang="en-GB" altLang="en-US"/>
              <a:t>	= single sideband suppressed carrier (SSBSC)</a:t>
            </a:r>
          </a:p>
          <a:p>
            <a:endParaRPr lang="en-GB" altLang="en-US"/>
          </a:p>
          <a:p>
            <a:pPr>
              <a:buFont typeface="Arial" panose="020B0604020202020204" pitchFamily="34" charset="0"/>
              <a:buChar char="•"/>
            </a:pPr>
            <a:r>
              <a:rPr lang="en-GB" altLang="en-US"/>
              <a:t>No information is lost in the process</a:t>
            </a:r>
          </a:p>
          <a:p>
            <a:pPr>
              <a:buFont typeface="Arial" panose="020B0604020202020204" pitchFamily="34" charset="0"/>
              <a:buChar char="•"/>
            </a:pPr>
            <a:endParaRPr lang="en-GB" altLang="en-US"/>
          </a:p>
          <a:p>
            <a:pPr>
              <a:buFont typeface="Arial" panose="020B0604020202020204" pitchFamily="34" charset="0"/>
              <a:buChar char="•"/>
            </a:pPr>
            <a:r>
              <a:rPr lang="en-GB" altLang="en-US"/>
              <a:t>Radio frequency transmission is now concentrated in a single sideband</a:t>
            </a:r>
          </a:p>
          <a:p>
            <a:r>
              <a:rPr lang="en-GB" altLang="en-US">
                <a:cs typeface="Lucida Sans Unicode" panose="020B0602030504020204" pitchFamily="34" charset="0"/>
              </a:rPr>
              <a:t>∴ </a:t>
            </a:r>
            <a:r>
              <a:rPr lang="en-GB" altLang="en-US"/>
              <a:t>effective power output is greater than in normal AM </a:t>
            </a:r>
          </a:p>
          <a:p>
            <a:r>
              <a:rPr lang="en-GB" altLang="en-US"/>
              <a:t>	(since the carrier and redundant sideband account for well over half of the power output of an AM transmitter)</a:t>
            </a:r>
          </a:p>
          <a:p>
            <a:pPr>
              <a:buFont typeface="Arial" panose="020B0604020202020204" pitchFamily="34" charset="0"/>
              <a:buChar char="•"/>
            </a:pPr>
            <a:endParaRPr lang="en-GB" altLang="en-US"/>
          </a:p>
          <a:p>
            <a:pPr>
              <a:buFont typeface="Arial" panose="020B0604020202020204" pitchFamily="34" charset="0"/>
              <a:buChar char="•"/>
            </a:pPr>
            <a:r>
              <a:rPr lang="en-GB" altLang="en-US"/>
              <a:t>Requires special reception to demodulate</a:t>
            </a:r>
          </a:p>
        </p:txBody>
      </p:sp>
      <p:sp>
        <p:nvSpPr>
          <p:cNvPr id="8195" name="TextBox 2"/>
          <p:cNvSpPr txBox="1">
            <a:spLocks noChangeArrowheads="1"/>
          </p:cNvSpPr>
          <p:nvPr/>
        </p:nvSpPr>
        <p:spPr bwMode="auto">
          <a:xfrm>
            <a:off x="395288" y="331788"/>
            <a:ext cx="4435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2400" b="1"/>
              <a:t>Sidebands – Single, Vestigial</a:t>
            </a:r>
          </a:p>
        </p:txBody>
      </p:sp>
      <p:pic>
        <p:nvPicPr>
          <p:cNvPr id="819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760413"/>
            <a:ext cx="2832100" cy="580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703523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ChangeArrowheads="1"/>
          </p:cNvSpPr>
          <p:nvPr/>
        </p:nvSpPr>
        <p:spPr bwMode="auto">
          <a:xfrm>
            <a:off x="3929063" y="833438"/>
            <a:ext cx="49339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pPr>
              <a:buFont typeface="Arial" panose="020B0604020202020204" pitchFamily="34" charset="0"/>
              <a:buChar char="•"/>
            </a:pPr>
            <a:r>
              <a:rPr lang="en-GB" altLang="en-US"/>
              <a:t>sideband that has been only partly cut off or suppressed</a:t>
            </a:r>
          </a:p>
          <a:p>
            <a:pPr>
              <a:buFont typeface="Arial" panose="020B0604020202020204" pitchFamily="34" charset="0"/>
              <a:buChar char="•"/>
            </a:pPr>
            <a:r>
              <a:rPr lang="en-GB" altLang="en-US"/>
              <a:t>to reduce the large bandwidth of the original video signal</a:t>
            </a:r>
          </a:p>
          <a:p>
            <a:pPr>
              <a:buFont typeface="Arial" panose="020B0604020202020204" pitchFamily="34" charset="0"/>
              <a:buChar char="•"/>
            </a:pPr>
            <a:r>
              <a:rPr lang="en-GB" altLang="en-US"/>
              <a:t>also be used in digital transmission, such as the ATSC standardized 8-VSB</a:t>
            </a:r>
          </a:p>
          <a:p>
            <a:pPr>
              <a:buFont typeface="Arial" panose="020B0604020202020204" pitchFamily="34" charset="0"/>
              <a:buChar char="•"/>
            </a:pPr>
            <a:r>
              <a:rPr lang="en-GB" altLang="en-US"/>
              <a:t>by the RF and IF filters</a:t>
            </a:r>
          </a:p>
        </p:txBody>
      </p:sp>
      <p:sp>
        <p:nvSpPr>
          <p:cNvPr id="9219" name="Rectangle 16"/>
          <p:cNvSpPr>
            <a:spLocks noChangeArrowheads="1"/>
          </p:cNvSpPr>
          <p:nvPr/>
        </p:nvSpPr>
        <p:spPr bwMode="auto">
          <a:xfrm>
            <a:off x="395288" y="331788"/>
            <a:ext cx="37766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2400" b="1">
                <a:solidFill>
                  <a:srgbClr val="000000"/>
                </a:solidFill>
              </a:rPr>
              <a:t>Vestigial Sideband (VSB)</a:t>
            </a:r>
          </a:p>
        </p:txBody>
      </p:sp>
      <p:sp>
        <p:nvSpPr>
          <p:cNvPr id="9220" name="Rectangle 17"/>
          <p:cNvSpPr>
            <a:spLocks noChangeArrowheads="1"/>
          </p:cNvSpPr>
          <p:nvPr/>
        </p:nvSpPr>
        <p:spPr bwMode="auto">
          <a:xfrm>
            <a:off x="395288" y="2970213"/>
            <a:ext cx="7951787"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pPr>
              <a:buFont typeface="Arial" panose="020B0604020202020204" pitchFamily="34" charset="0"/>
              <a:buChar char="•"/>
            </a:pPr>
            <a:r>
              <a:rPr lang="en-GB" altLang="en-US"/>
              <a:t>For video - SSB would be desirable</a:t>
            </a:r>
          </a:p>
          <a:p>
            <a:r>
              <a:rPr lang="en-GB" altLang="en-US"/>
              <a:t>... but the video signal has significant low frequency content, plus square sync pulses</a:t>
            </a:r>
          </a:p>
          <a:p>
            <a:r>
              <a:rPr lang="en-GB" altLang="en-US"/>
              <a:t>... so some of the lower sideband is retained </a:t>
            </a:r>
          </a:p>
          <a:p>
            <a:pPr>
              <a:buFont typeface="Arial" panose="020B0604020202020204" pitchFamily="34" charset="0"/>
              <a:buChar char="•"/>
            </a:pPr>
            <a:endParaRPr lang="en-GB" altLang="en-US"/>
          </a:p>
          <a:p>
            <a:pPr>
              <a:buFont typeface="Arial" panose="020B0604020202020204" pitchFamily="34" charset="0"/>
              <a:buChar char="•"/>
            </a:pPr>
            <a:r>
              <a:rPr lang="en-GB" altLang="en-US"/>
              <a:t>VSB - full upper sideband of bandwidth transmitted = 4MHz</a:t>
            </a:r>
          </a:p>
          <a:p>
            <a:r>
              <a:rPr lang="en-GB" altLang="en-US"/>
              <a:t>... but only 1.25MHz of the lower sideband is transmitted, plus the carrier</a:t>
            </a:r>
          </a:p>
          <a:p>
            <a:endParaRPr lang="en-GB" altLang="en-US"/>
          </a:p>
          <a:p>
            <a:pPr>
              <a:buFont typeface="Arial" panose="020B0604020202020204" pitchFamily="34" charset="0"/>
              <a:buChar char="•"/>
            </a:pPr>
            <a:r>
              <a:rPr lang="en-GB" altLang="en-US"/>
              <a:t>effectively makes the system AM at low modulation frequencies and SSB at high modulation frequencies</a:t>
            </a:r>
          </a:p>
          <a:p>
            <a:pPr>
              <a:buFont typeface="Arial" panose="020B0604020202020204" pitchFamily="34" charset="0"/>
              <a:buChar char="•"/>
            </a:pPr>
            <a:endParaRPr lang="en-GB" altLang="en-US"/>
          </a:p>
          <a:p>
            <a:pPr>
              <a:buFont typeface="Arial" panose="020B0604020202020204" pitchFamily="34" charset="0"/>
              <a:buChar char="•"/>
            </a:pPr>
            <a:r>
              <a:rPr lang="en-GB" altLang="en-US"/>
              <a:t>absence of the lower sideband components at high frequencies must be compensated for, and this is done by the RF and IF filters</a:t>
            </a:r>
          </a:p>
        </p:txBody>
      </p:sp>
      <p:grpSp>
        <p:nvGrpSpPr>
          <p:cNvPr id="9221" name="Group 19"/>
          <p:cNvGrpSpPr>
            <a:grpSpLocks/>
          </p:cNvGrpSpPr>
          <p:nvPr/>
        </p:nvGrpSpPr>
        <p:grpSpPr bwMode="auto">
          <a:xfrm>
            <a:off x="395288" y="935038"/>
            <a:ext cx="3357562" cy="1646237"/>
            <a:chOff x="395288" y="935038"/>
            <a:chExt cx="3357562" cy="1646237"/>
          </a:xfrm>
        </p:grpSpPr>
        <p:grpSp>
          <p:nvGrpSpPr>
            <p:cNvPr id="9222" name="Group 18"/>
            <p:cNvGrpSpPr>
              <a:grpSpLocks/>
            </p:cNvGrpSpPr>
            <p:nvPr/>
          </p:nvGrpSpPr>
          <p:grpSpPr bwMode="auto">
            <a:xfrm>
              <a:off x="395288" y="935038"/>
              <a:ext cx="3357562" cy="1646237"/>
              <a:chOff x="395288" y="935038"/>
              <a:chExt cx="3357562" cy="1646237"/>
            </a:xfrm>
          </p:grpSpPr>
          <p:pic>
            <p:nvPicPr>
              <p:cNvPr id="922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935038"/>
                <a:ext cx="3357562"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Rectangle 5"/>
              <p:cNvSpPr/>
              <p:nvPr/>
            </p:nvSpPr>
            <p:spPr bwMode="auto">
              <a:xfrm>
                <a:off x="1804988" y="1600200"/>
                <a:ext cx="571500" cy="455613"/>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a:lstStyle/>
              <a:p>
                <a:pPr>
                  <a:defRPr/>
                </a:pPr>
                <a:endParaRPr lang="en-GB"/>
              </a:p>
            </p:txBody>
          </p:sp>
          <p:cxnSp>
            <p:nvCxnSpPr>
              <p:cNvPr id="9226" name="Straight Connector 11"/>
              <p:cNvCxnSpPr>
                <a:cxnSpLocks noChangeShapeType="1"/>
              </p:cNvCxnSpPr>
              <p:nvPr/>
            </p:nvCxnSpPr>
            <p:spPr bwMode="auto">
              <a:xfrm flipV="1">
                <a:off x="1920898" y="2065884"/>
                <a:ext cx="457972" cy="6318"/>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grpSp>
        <p:cxnSp>
          <p:nvCxnSpPr>
            <p:cNvPr id="9223" name="Straight Connector 11"/>
            <p:cNvCxnSpPr>
              <a:cxnSpLocks noChangeShapeType="1"/>
            </p:cNvCxnSpPr>
            <p:nvPr/>
          </p:nvCxnSpPr>
          <p:spPr bwMode="auto">
            <a:xfrm rot="5400000" flipH="1" flipV="1">
              <a:off x="2195550" y="1879784"/>
              <a:ext cx="394704" cy="3288"/>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321696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1"/>
          <p:cNvSpPr>
            <a:spLocks/>
          </p:cNvSpPr>
          <p:nvPr/>
        </p:nvSpPr>
        <p:spPr bwMode="auto">
          <a:xfrm>
            <a:off x="1971675" y="990600"/>
            <a:ext cx="5275263" cy="4876800"/>
          </a:xfrm>
          <a:custGeom>
            <a:avLst/>
            <a:gdLst>
              <a:gd name="T0" fmla="*/ 0 w 3600"/>
              <a:gd name="T1" fmla="*/ 2147483647 h 3072"/>
              <a:gd name="T2" fmla="*/ 2147483647 w 3600"/>
              <a:gd name="T3" fmla="*/ 0 h 3072"/>
              <a:gd name="T4" fmla="*/ 2147483647 w 3600"/>
              <a:gd name="T5" fmla="*/ 2147483647 h 3072"/>
              <a:gd name="T6" fmla="*/ 0 w 3600"/>
              <a:gd name="T7" fmla="*/ 2147483647 h 3072"/>
              <a:gd name="T8" fmla="*/ 0 60000 65536"/>
              <a:gd name="T9" fmla="*/ 0 60000 65536"/>
              <a:gd name="T10" fmla="*/ 0 60000 65536"/>
              <a:gd name="T11" fmla="*/ 0 60000 65536"/>
              <a:gd name="T12" fmla="*/ 0 w 3600"/>
              <a:gd name="T13" fmla="*/ 0 h 3072"/>
              <a:gd name="T14" fmla="*/ 3600 w 3600"/>
              <a:gd name="T15" fmla="*/ 3072 h 3072"/>
            </a:gdLst>
            <a:ahLst/>
            <a:cxnLst>
              <a:cxn ang="T8">
                <a:pos x="T0" y="T1"/>
              </a:cxn>
              <a:cxn ang="T9">
                <a:pos x="T2" y="T3"/>
              </a:cxn>
              <a:cxn ang="T10">
                <a:pos x="T4" y="T5"/>
              </a:cxn>
              <a:cxn ang="T11">
                <a:pos x="T6" y="T7"/>
              </a:cxn>
            </a:cxnLst>
            <a:rect l="T12" t="T13" r="T14" b="T15"/>
            <a:pathLst>
              <a:path w="3600" h="3072">
                <a:moveTo>
                  <a:pt x="0" y="3072"/>
                </a:moveTo>
                <a:lnTo>
                  <a:pt x="720" y="0"/>
                </a:lnTo>
                <a:lnTo>
                  <a:pt x="3600" y="3072"/>
                </a:lnTo>
                <a:lnTo>
                  <a:pt x="0" y="3072"/>
                </a:lnTo>
                <a:close/>
              </a:path>
            </a:pathLst>
          </a:custGeom>
          <a:solidFill>
            <a:schemeClr val="tx2">
              <a:alpha val="50195"/>
            </a:schemeClr>
          </a:solidFill>
          <a:ln w="12700" cap="flat" cmpd="sng">
            <a:solidFill>
              <a:schemeClr val="tx1"/>
            </a:solidFill>
            <a:prstDash val="solid"/>
            <a:round/>
            <a:headEnd type="none" w="sm" len="sm"/>
            <a:tailEnd type="none" w="sm" len="sm"/>
          </a:ln>
        </p:spPr>
        <p:txBody>
          <a:bodyPr wrap="none" anchor="ctr"/>
          <a:lstStyle/>
          <a:p>
            <a:endParaRPr lang="en-GB"/>
          </a:p>
        </p:txBody>
      </p:sp>
      <p:sp>
        <p:nvSpPr>
          <p:cNvPr id="45059" name="Rectangle 2"/>
          <p:cNvSpPr>
            <a:spLocks noGrp="1" noChangeArrowheads="1"/>
          </p:cNvSpPr>
          <p:nvPr>
            <p:ph type="title"/>
          </p:nvPr>
        </p:nvSpPr>
        <p:spPr bwMode="auto">
          <a:xfrm>
            <a:off x="395288" y="33178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US" altLang="en-US" sz="2400" b="1"/>
              <a:t>PAL-B Spectrum</a:t>
            </a:r>
          </a:p>
        </p:txBody>
      </p:sp>
      <p:grpSp>
        <p:nvGrpSpPr>
          <p:cNvPr id="5" name="Group 78"/>
          <p:cNvGrpSpPr>
            <a:grpSpLocks/>
          </p:cNvGrpSpPr>
          <p:nvPr/>
        </p:nvGrpSpPr>
        <p:grpSpPr bwMode="auto">
          <a:xfrm>
            <a:off x="2955925" y="990600"/>
            <a:ext cx="731838" cy="4876800"/>
            <a:chOff x="2016" y="624"/>
            <a:chExt cx="499" cy="3072"/>
          </a:xfrm>
        </p:grpSpPr>
        <p:sp>
          <p:nvSpPr>
            <p:cNvPr id="45087" name="Line 17"/>
            <p:cNvSpPr>
              <a:spLocks noChangeShapeType="1"/>
            </p:cNvSpPr>
            <p:nvPr/>
          </p:nvSpPr>
          <p:spPr bwMode="auto">
            <a:xfrm flipV="1">
              <a:off x="2064" y="624"/>
              <a:ext cx="0" cy="3072"/>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45088" name="Text Box 66"/>
            <p:cNvSpPr txBox="1">
              <a:spLocks noChangeArrowheads="1"/>
            </p:cNvSpPr>
            <p:nvPr/>
          </p:nvSpPr>
          <p:spPr bwMode="auto">
            <a:xfrm>
              <a:off x="2016" y="1248"/>
              <a:ext cx="49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a:solidFill>
                    <a:schemeClr val="tx2"/>
                  </a:solidFill>
                  <a:latin typeface="Arial" panose="020B0604020202020204" pitchFamily="34" charset="0"/>
                </a:rPr>
                <a:t>Vision</a:t>
              </a:r>
              <a:br>
                <a:rPr lang="en-US" altLang="en-US" sz="1400">
                  <a:solidFill>
                    <a:schemeClr val="tx2"/>
                  </a:solidFill>
                  <a:latin typeface="Arial" panose="020B0604020202020204" pitchFamily="34" charset="0"/>
                </a:rPr>
              </a:br>
              <a:r>
                <a:rPr lang="en-US" altLang="en-US" sz="1400">
                  <a:solidFill>
                    <a:schemeClr val="tx2"/>
                  </a:solidFill>
                  <a:latin typeface="Arial" panose="020B0604020202020204" pitchFamily="34" charset="0"/>
                </a:rPr>
                <a:t>Carrier</a:t>
              </a:r>
            </a:p>
          </p:txBody>
        </p:sp>
      </p:grpSp>
      <p:grpSp>
        <p:nvGrpSpPr>
          <p:cNvPr id="45061" name="Group 83"/>
          <p:cNvGrpSpPr>
            <a:grpSpLocks/>
          </p:cNvGrpSpPr>
          <p:nvPr/>
        </p:nvGrpSpPr>
        <p:grpSpPr bwMode="auto">
          <a:xfrm>
            <a:off x="1084263" y="5791200"/>
            <a:ext cx="7316787" cy="765175"/>
            <a:chOff x="739" y="3648"/>
            <a:chExt cx="4992" cy="482"/>
          </a:xfrm>
        </p:grpSpPr>
        <p:sp>
          <p:nvSpPr>
            <p:cNvPr id="45072" name="Line 16"/>
            <p:cNvSpPr>
              <a:spLocks noChangeShapeType="1"/>
            </p:cNvSpPr>
            <p:nvPr/>
          </p:nvSpPr>
          <p:spPr bwMode="auto">
            <a:xfrm>
              <a:off x="768" y="3696"/>
              <a:ext cx="4896"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73" name="Line 32"/>
            <p:cNvSpPr>
              <a:spLocks noChangeShapeType="1"/>
            </p:cNvSpPr>
            <p:nvPr/>
          </p:nvSpPr>
          <p:spPr bwMode="auto">
            <a:xfrm flipV="1">
              <a:off x="1344" y="3696"/>
              <a:ext cx="0"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nvGrpSpPr>
            <p:cNvPr id="45074" name="Group 82"/>
            <p:cNvGrpSpPr>
              <a:grpSpLocks/>
            </p:cNvGrpSpPr>
            <p:nvPr/>
          </p:nvGrpSpPr>
          <p:grpSpPr bwMode="auto">
            <a:xfrm>
              <a:off x="739" y="3648"/>
              <a:ext cx="4992" cy="482"/>
              <a:chOff x="739" y="3648"/>
              <a:chExt cx="4992" cy="482"/>
            </a:xfrm>
          </p:grpSpPr>
          <p:grpSp>
            <p:nvGrpSpPr>
              <p:cNvPr id="45075" name="Group 79"/>
              <p:cNvGrpSpPr>
                <a:grpSpLocks/>
              </p:cNvGrpSpPr>
              <p:nvPr/>
            </p:nvGrpSpPr>
            <p:grpSpPr bwMode="auto">
              <a:xfrm>
                <a:off x="739" y="3648"/>
                <a:ext cx="4992" cy="302"/>
                <a:chOff x="739" y="3648"/>
                <a:chExt cx="4992" cy="302"/>
              </a:xfrm>
            </p:grpSpPr>
            <p:sp>
              <p:nvSpPr>
                <p:cNvPr id="45077" name="Line 18"/>
                <p:cNvSpPr>
                  <a:spLocks noChangeShapeType="1"/>
                </p:cNvSpPr>
                <p:nvPr/>
              </p:nvSpPr>
              <p:spPr bwMode="auto">
                <a:xfrm>
                  <a:off x="912"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78" name="Line 19"/>
                <p:cNvSpPr>
                  <a:spLocks noChangeShapeType="1"/>
                </p:cNvSpPr>
                <p:nvPr/>
              </p:nvSpPr>
              <p:spPr bwMode="auto">
                <a:xfrm>
                  <a:off x="1488"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79" name="Line 20"/>
                <p:cNvSpPr>
                  <a:spLocks noChangeShapeType="1"/>
                </p:cNvSpPr>
                <p:nvPr/>
              </p:nvSpPr>
              <p:spPr bwMode="auto">
                <a:xfrm>
                  <a:off x="2064"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80" name="Line 21"/>
                <p:cNvSpPr>
                  <a:spLocks noChangeShapeType="1"/>
                </p:cNvSpPr>
                <p:nvPr/>
              </p:nvSpPr>
              <p:spPr bwMode="auto">
                <a:xfrm>
                  <a:off x="2640"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81" name="Line 22"/>
                <p:cNvSpPr>
                  <a:spLocks noChangeShapeType="1"/>
                </p:cNvSpPr>
                <p:nvPr/>
              </p:nvSpPr>
              <p:spPr bwMode="auto">
                <a:xfrm>
                  <a:off x="4368"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82" name="Line 23"/>
                <p:cNvSpPr>
                  <a:spLocks noChangeShapeType="1"/>
                </p:cNvSpPr>
                <p:nvPr/>
              </p:nvSpPr>
              <p:spPr bwMode="auto">
                <a:xfrm>
                  <a:off x="3792"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83" name="Line 24"/>
                <p:cNvSpPr>
                  <a:spLocks noChangeShapeType="1"/>
                </p:cNvSpPr>
                <p:nvPr/>
              </p:nvSpPr>
              <p:spPr bwMode="auto">
                <a:xfrm>
                  <a:off x="3216"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84" name="Line 25"/>
                <p:cNvSpPr>
                  <a:spLocks noChangeShapeType="1"/>
                </p:cNvSpPr>
                <p:nvPr/>
              </p:nvSpPr>
              <p:spPr bwMode="auto">
                <a:xfrm>
                  <a:off x="4944"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85" name="Line 26"/>
                <p:cNvSpPr>
                  <a:spLocks noChangeShapeType="1"/>
                </p:cNvSpPr>
                <p:nvPr/>
              </p:nvSpPr>
              <p:spPr bwMode="auto">
                <a:xfrm>
                  <a:off x="5520"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86" name="Text Box 27"/>
                <p:cNvSpPr txBox="1">
                  <a:spLocks noChangeArrowheads="1"/>
                </p:cNvSpPr>
                <p:nvPr/>
              </p:nvSpPr>
              <p:spPr bwMode="auto">
                <a:xfrm>
                  <a:off x="739" y="3756"/>
                  <a:ext cx="499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b="1"/>
                    <a:t> -2           -1             0             1             2             3             4             5             6</a:t>
                  </a:r>
                </a:p>
              </p:txBody>
            </p:sp>
          </p:grpSp>
          <p:sp>
            <p:nvSpPr>
              <p:cNvPr id="45076" name="Text Box 70"/>
              <p:cNvSpPr txBox="1">
                <a:spLocks noChangeArrowheads="1"/>
              </p:cNvSpPr>
              <p:nvPr/>
            </p:nvSpPr>
            <p:spPr bwMode="auto">
              <a:xfrm>
                <a:off x="1824" y="3936"/>
                <a:ext cx="21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Frequency relative to carrier (MHz)</a:t>
                </a:r>
              </a:p>
            </p:txBody>
          </p:sp>
        </p:grpSp>
      </p:grpSp>
      <p:sp>
        <p:nvSpPr>
          <p:cNvPr id="24" name="Text Box 73"/>
          <p:cNvSpPr txBox="1">
            <a:spLocks noChangeArrowheads="1"/>
          </p:cNvSpPr>
          <p:nvPr/>
        </p:nvSpPr>
        <p:spPr bwMode="auto">
          <a:xfrm>
            <a:off x="492125" y="3352800"/>
            <a:ext cx="10668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solidFill>
                  <a:srgbClr val="FFFF00"/>
                </a:solidFill>
              </a:rPr>
              <a:t>Truncated</a:t>
            </a:r>
            <a:br>
              <a:rPr lang="en-AU" altLang="en-US" sz="1400">
                <a:solidFill>
                  <a:srgbClr val="FFFF00"/>
                </a:solidFill>
              </a:rPr>
            </a:br>
            <a:r>
              <a:rPr lang="en-AU" altLang="en-US" sz="1400">
                <a:solidFill>
                  <a:srgbClr val="FFFF00"/>
                </a:solidFill>
              </a:rPr>
              <a:t>Lower</a:t>
            </a:r>
            <a:br>
              <a:rPr lang="en-AU" altLang="en-US" sz="1400">
                <a:solidFill>
                  <a:srgbClr val="FFFF00"/>
                </a:solidFill>
              </a:rPr>
            </a:br>
            <a:r>
              <a:rPr lang="en-AU" altLang="en-US" sz="1400">
                <a:solidFill>
                  <a:srgbClr val="FFFF00"/>
                </a:solidFill>
              </a:rPr>
              <a:t>Sideband</a:t>
            </a:r>
          </a:p>
        </p:txBody>
      </p:sp>
      <p:sp>
        <p:nvSpPr>
          <p:cNvPr id="26" name="Freeform 25"/>
          <p:cNvSpPr/>
          <p:nvPr/>
        </p:nvSpPr>
        <p:spPr bwMode="auto">
          <a:xfrm>
            <a:off x="-28575" y="1009650"/>
            <a:ext cx="7267575" cy="4857750"/>
          </a:xfrm>
          <a:custGeom>
            <a:avLst/>
            <a:gdLst>
              <a:gd name="connsiteX0" fmla="*/ 7419975 w 7419975"/>
              <a:gd name="connsiteY0" fmla="*/ 4857750 h 4857750"/>
              <a:gd name="connsiteX1" fmla="*/ 0 w 7419975"/>
              <a:gd name="connsiteY1" fmla="*/ 4838700 h 4857750"/>
              <a:gd name="connsiteX2" fmla="*/ 9525 w 7419975"/>
              <a:gd name="connsiteY2" fmla="*/ 3219450 h 4857750"/>
              <a:gd name="connsiteX3" fmla="*/ 3200400 w 7419975"/>
              <a:gd name="connsiteY3" fmla="*/ 0 h 4857750"/>
              <a:gd name="connsiteX4" fmla="*/ 7419975 w 7419975"/>
              <a:gd name="connsiteY4" fmla="*/ 4857750 h 4857750"/>
              <a:gd name="connsiteX0" fmla="*/ 7419975 w 7419975"/>
              <a:gd name="connsiteY0" fmla="*/ 4857750 h 4857750"/>
              <a:gd name="connsiteX1" fmla="*/ 0 w 7419975"/>
              <a:gd name="connsiteY1" fmla="*/ 4838700 h 4857750"/>
              <a:gd name="connsiteX2" fmla="*/ 161925 w 7419975"/>
              <a:gd name="connsiteY2" fmla="*/ 3048000 h 4857750"/>
              <a:gd name="connsiteX3" fmla="*/ 3200400 w 7419975"/>
              <a:gd name="connsiteY3" fmla="*/ 0 h 4857750"/>
              <a:gd name="connsiteX4" fmla="*/ 7419975 w 7419975"/>
              <a:gd name="connsiteY4" fmla="*/ 4857750 h 4857750"/>
              <a:gd name="connsiteX0" fmla="*/ 7267575 w 7267575"/>
              <a:gd name="connsiteY0" fmla="*/ 4857750 h 4857750"/>
              <a:gd name="connsiteX1" fmla="*/ 0 w 7267575"/>
              <a:gd name="connsiteY1" fmla="*/ 4857750 h 4857750"/>
              <a:gd name="connsiteX2" fmla="*/ 9525 w 7267575"/>
              <a:gd name="connsiteY2" fmla="*/ 3048000 h 4857750"/>
              <a:gd name="connsiteX3" fmla="*/ 3048000 w 7267575"/>
              <a:gd name="connsiteY3" fmla="*/ 0 h 4857750"/>
              <a:gd name="connsiteX4" fmla="*/ 7267575 w 7267575"/>
              <a:gd name="connsiteY4" fmla="*/ 4857750 h 4857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7575" h="4857750">
                <a:moveTo>
                  <a:pt x="7267575" y="4857750"/>
                </a:moveTo>
                <a:lnTo>
                  <a:pt x="0" y="4857750"/>
                </a:lnTo>
                <a:lnTo>
                  <a:pt x="9525" y="3048000"/>
                </a:lnTo>
                <a:lnTo>
                  <a:pt x="3048000" y="0"/>
                </a:lnTo>
                <a:lnTo>
                  <a:pt x="7267575" y="4857750"/>
                </a:lnTo>
                <a:close/>
              </a:path>
            </a:pathLst>
          </a:custGeom>
          <a:solidFill>
            <a:schemeClr val="bg1">
              <a:lumMod val="50000"/>
            </a:schemeClr>
          </a:solidFill>
          <a:ln w="9525" cap="flat" cmpd="sng" algn="ctr">
            <a:solidFill>
              <a:schemeClr val="tx1"/>
            </a:solidFill>
            <a:prstDash val="solid"/>
            <a:round/>
            <a:headEnd type="none" w="med" len="med"/>
            <a:tailEnd type="none" w="med" len="med"/>
          </a:ln>
          <a:effectLst/>
        </p:spPr>
        <p:txBody>
          <a:bodyPr/>
          <a:lstStyle/>
          <a:p>
            <a:pPr>
              <a:defRPr/>
            </a:pPr>
            <a:endParaRPr lang="en-GB"/>
          </a:p>
        </p:txBody>
      </p:sp>
      <p:sp>
        <p:nvSpPr>
          <p:cNvPr id="45064" name="Text Box 66"/>
          <p:cNvSpPr txBox="1">
            <a:spLocks noChangeArrowheads="1"/>
          </p:cNvSpPr>
          <p:nvPr/>
        </p:nvSpPr>
        <p:spPr bwMode="auto">
          <a:xfrm>
            <a:off x="2955925" y="1981200"/>
            <a:ext cx="731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a:solidFill>
                  <a:srgbClr val="FFFF00"/>
                </a:solidFill>
                <a:latin typeface="Arial" panose="020B0604020202020204" pitchFamily="34" charset="0"/>
              </a:rPr>
              <a:t>Vision</a:t>
            </a:r>
            <a:br>
              <a:rPr lang="en-US" altLang="en-US" sz="1400">
                <a:solidFill>
                  <a:srgbClr val="FFFF00"/>
                </a:solidFill>
                <a:latin typeface="Arial" panose="020B0604020202020204" pitchFamily="34" charset="0"/>
              </a:rPr>
            </a:br>
            <a:r>
              <a:rPr lang="en-US" altLang="en-US" sz="1400">
                <a:solidFill>
                  <a:srgbClr val="FFFF00"/>
                </a:solidFill>
                <a:latin typeface="Arial" panose="020B0604020202020204" pitchFamily="34" charset="0"/>
              </a:rPr>
              <a:t>Carrier</a:t>
            </a:r>
          </a:p>
        </p:txBody>
      </p:sp>
      <p:sp>
        <p:nvSpPr>
          <p:cNvPr id="45065" name="Line 17"/>
          <p:cNvSpPr>
            <a:spLocks noChangeShapeType="1"/>
          </p:cNvSpPr>
          <p:nvPr/>
        </p:nvSpPr>
        <p:spPr bwMode="auto">
          <a:xfrm flipV="1">
            <a:off x="3025775" y="1009650"/>
            <a:ext cx="0" cy="48768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45066" name="TextBox 28"/>
          <p:cNvSpPr txBox="1">
            <a:spLocks noChangeArrowheads="1"/>
          </p:cNvSpPr>
          <p:nvPr/>
        </p:nvSpPr>
        <p:spPr bwMode="auto">
          <a:xfrm>
            <a:off x="5048250" y="512763"/>
            <a:ext cx="37433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pPr>
              <a:buFont typeface="Arial" panose="020B0604020202020204" pitchFamily="34" charset="0"/>
              <a:buChar char="•"/>
            </a:pPr>
            <a:r>
              <a:rPr lang="en-GB" altLang="en-US"/>
              <a:t>AM information is normally distributed symetrically each side of the carrier </a:t>
            </a:r>
          </a:p>
          <a:p>
            <a:pPr>
              <a:buFont typeface="Arial" panose="020B0604020202020204" pitchFamily="34" charset="0"/>
              <a:buChar char="•"/>
            </a:pPr>
            <a:r>
              <a:rPr lang="en-GB" altLang="en-US"/>
              <a:t>(see AM, later on, or UG1 notes)</a:t>
            </a:r>
          </a:p>
          <a:p>
            <a:pPr>
              <a:buFont typeface="Arial" panose="020B0604020202020204" pitchFamily="34" charset="0"/>
              <a:buChar char="•"/>
            </a:pPr>
            <a:r>
              <a:rPr lang="en-GB" altLang="en-US"/>
              <a:t>therefore the bandwidth is normally twice the original signal</a:t>
            </a:r>
          </a:p>
          <a:p>
            <a:r>
              <a:rPr lang="en-GB" altLang="en-US"/>
              <a:t>	… this happens with audio radio, but audio is low b/w anyway, so little is wasted</a:t>
            </a:r>
          </a:p>
        </p:txBody>
      </p:sp>
      <p:sp>
        <p:nvSpPr>
          <p:cNvPr id="45067" name="Rectangle 29"/>
          <p:cNvSpPr>
            <a:spLocks noChangeArrowheads="1"/>
          </p:cNvSpPr>
          <p:nvPr/>
        </p:nvSpPr>
        <p:spPr bwMode="auto">
          <a:xfrm>
            <a:off x="5819775" y="2843213"/>
            <a:ext cx="286702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defTabSz="361950">
              <a:defRPr sz="1600">
                <a:solidFill>
                  <a:schemeClr val="tx1"/>
                </a:solidFill>
                <a:latin typeface="Lucida Sans Unicode" panose="020B0602030504020204" pitchFamily="34" charset="0"/>
              </a:defRPr>
            </a:lvl1pPr>
            <a:lvl2pPr marL="742950" indent="-285750" defTabSz="361950">
              <a:defRPr sz="1600">
                <a:solidFill>
                  <a:schemeClr val="tx1"/>
                </a:solidFill>
                <a:latin typeface="Lucida Sans Unicode" panose="020B0602030504020204" pitchFamily="34" charset="0"/>
              </a:defRPr>
            </a:lvl2pPr>
            <a:lvl3pPr marL="1143000" indent="-228600" defTabSz="361950">
              <a:defRPr sz="1600">
                <a:solidFill>
                  <a:schemeClr val="tx1"/>
                </a:solidFill>
                <a:latin typeface="Lucida Sans Unicode" panose="020B0602030504020204" pitchFamily="34" charset="0"/>
              </a:defRPr>
            </a:lvl3pPr>
            <a:lvl4pPr marL="1600200" indent="-228600" defTabSz="361950">
              <a:defRPr sz="1600">
                <a:solidFill>
                  <a:schemeClr val="tx1"/>
                </a:solidFill>
                <a:latin typeface="Lucida Sans Unicode" panose="020B0602030504020204" pitchFamily="34" charset="0"/>
              </a:defRPr>
            </a:lvl4pPr>
            <a:lvl5pPr marL="2057400" indent="-228600" defTabSz="361950">
              <a:defRPr sz="1600">
                <a:solidFill>
                  <a:schemeClr val="tx1"/>
                </a:solidFill>
                <a:latin typeface="Lucida Sans Unicode" panose="020B0602030504020204" pitchFamily="34" charset="0"/>
              </a:defRPr>
            </a:lvl5pPr>
            <a:lvl6pPr marL="2514600" indent="-228600" defTabSz="36195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defTabSz="36195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defTabSz="36195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defTabSz="361950" eaLnBrk="0" fontAlgn="base" hangingPunct="0">
              <a:spcBef>
                <a:spcPct val="0"/>
              </a:spcBef>
              <a:spcAft>
                <a:spcPct val="0"/>
              </a:spcAft>
              <a:defRPr sz="1600">
                <a:solidFill>
                  <a:schemeClr val="tx1"/>
                </a:solidFill>
                <a:latin typeface="Lucida Sans Unicode" panose="020B0602030504020204" pitchFamily="34" charset="0"/>
              </a:defRPr>
            </a:lvl9pPr>
          </a:lstStyle>
          <a:p>
            <a:pPr>
              <a:buFont typeface="Arial" panose="020B0604020202020204" pitchFamily="34" charset="0"/>
              <a:buChar char="•"/>
            </a:pPr>
            <a:r>
              <a:rPr lang="en-GB" altLang="en-US"/>
              <a:t>However with video, this gives a big amount of “duplicated” bandwidth</a:t>
            </a:r>
          </a:p>
          <a:p>
            <a:pPr>
              <a:buFont typeface="Arial" panose="020B0604020202020204" pitchFamily="34" charset="0"/>
              <a:buChar char="•"/>
            </a:pPr>
            <a:r>
              <a:rPr lang="en-GB" altLang="en-US"/>
              <a:t>So lower sideband is reduced to a “vestigial” sideband</a:t>
            </a:r>
          </a:p>
        </p:txBody>
      </p:sp>
      <p:sp>
        <p:nvSpPr>
          <p:cNvPr id="45068" name="Rectangle 30"/>
          <p:cNvSpPr>
            <a:spLocks noChangeArrowheads="1"/>
          </p:cNvSpPr>
          <p:nvPr/>
        </p:nvSpPr>
        <p:spPr bwMode="auto">
          <a:xfrm>
            <a:off x="1095375" y="4605338"/>
            <a:ext cx="28670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61950">
              <a:defRPr sz="1600">
                <a:solidFill>
                  <a:schemeClr val="tx1"/>
                </a:solidFill>
                <a:latin typeface="Lucida Sans Unicode" panose="020B0602030504020204" pitchFamily="34" charset="0"/>
              </a:defRPr>
            </a:lvl1pPr>
            <a:lvl2pPr marL="742950" indent="-285750" defTabSz="361950">
              <a:defRPr sz="1600">
                <a:solidFill>
                  <a:schemeClr val="tx1"/>
                </a:solidFill>
                <a:latin typeface="Lucida Sans Unicode" panose="020B0602030504020204" pitchFamily="34" charset="0"/>
              </a:defRPr>
            </a:lvl2pPr>
            <a:lvl3pPr marL="1143000" indent="-228600" defTabSz="361950">
              <a:defRPr sz="1600">
                <a:solidFill>
                  <a:schemeClr val="tx1"/>
                </a:solidFill>
                <a:latin typeface="Lucida Sans Unicode" panose="020B0602030504020204" pitchFamily="34" charset="0"/>
              </a:defRPr>
            </a:lvl3pPr>
            <a:lvl4pPr marL="1600200" indent="-228600" defTabSz="361950">
              <a:defRPr sz="1600">
                <a:solidFill>
                  <a:schemeClr val="tx1"/>
                </a:solidFill>
                <a:latin typeface="Lucida Sans Unicode" panose="020B0602030504020204" pitchFamily="34" charset="0"/>
              </a:defRPr>
            </a:lvl4pPr>
            <a:lvl5pPr marL="2057400" indent="-228600" defTabSz="361950">
              <a:defRPr sz="1600">
                <a:solidFill>
                  <a:schemeClr val="tx1"/>
                </a:solidFill>
                <a:latin typeface="Lucida Sans Unicode" panose="020B0602030504020204" pitchFamily="34" charset="0"/>
              </a:defRPr>
            </a:lvl5pPr>
            <a:lvl6pPr marL="2514600" indent="-228600" defTabSz="36195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defTabSz="36195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defTabSz="36195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defTabSz="36195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a:solidFill>
                  <a:srgbClr val="FFFF00"/>
                </a:solidFill>
              </a:rPr>
              <a:t>Lower Sideband</a:t>
            </a:r>
          </a:p>
        </p:txBody>
      </p:sp>
      <p:sp>
        <p:nvSpPr>
          <p:cNvPr id="45069" name="Rectangle 31"/>
          <p:cNvSpPr>
            <a:spLocks noChangeArrowheads="1"/>
          </p:cNvSpPr>
          <p:nvPr/>
        </p:nvSpPr>
        <p:spPr bwMode="auto">
          <a:xfrm>
            <a:off x="3305175" y="4595813"/>
            <a:ext cx="28670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61950">
              <a:defRPr sz="1600">
                <a:solidFill>
                  <a:schemeClr val="tx1"/>
                </a:solidFill>
                <a:latin typeface="Lucida Sans Unicode" panose="020B0602030504020204" pitchFamily="34" charset="0"/>
              </a:defRPr>
            </a:lvl1pPr>
            <a:lvl2pPr marL="742950" indent="-285750" defTabSz="361950">
              <a:defRPr sz="1600">
                <a:solidFill>
                  <a:schemeClr val="tx1"/>
                </a:solidFill>
                <a:latin typeface="Lucida Sans Unicode" panose="020B0602030504020204" pitchFamily="34" charset="0"/>
              </a:defRPr>
            </a:lvl2pPr>
            <a:lvl3pPr marL="1143000" indent="-228600" defTabSz="361950">
              <a:defRPr sz="1600">
                <a:solidFill>
                  <a:schemeClr val="tx1"/>
                </a:solidFill>
                <a:latin typeface="Lucida Sans Unicode" panose="020B0602030504020204" pitchFamily="34" charset="0"/>
              </a:defRPr>
            </a:lvl3pPr>
            <a:lvl4pPr marL="1600200" indent="-228600" defTabSz="361950">
              <a:defRPr sz="1600">
                <a:solidFill>
                  <a:schemeClr val="tx1"/>
                </a:solidFill>
                <a:latin typeface="Lucida Sans Unicode" panose="020B0602030504020204" pitchFamily="34" charset="0"/>
              </a:defRPr>
            </a:lvl4pPr>
            <a:lvl5pPr marL="2057400" indent="-228600" defTabSz="361950">
              <a:defRPr sz="1600">
                <a:solidFill>
                  <a:schemeClr val="tx1"/>
                </a:solidFill>
                <a:latin typeface="Lucida Sans Unicode" panose="020B0602030504020204" pitchFamily="34" charset="0"/>
              </a:defRPr>
            </a:lvl5pPr>
            <a:lvl6pPr marL="2514600" indent="-228600" defTabSz="36195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defTabSz="36195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defTabSz="36195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defTabSz="36195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a:solidFill>
                  <a:srgbClr val="FFFF00"/>
                </a:solidFill>
              </a:rPr>
              <a:t>Upper Sideband</a:t>
            </a:r>
          </a:p>
        </p:txBody>
      </p:sp>
      <p:sp>
        <p:nvSpPr>
          <p:cNvPr id="45070" name="Rectangle 32"/>
          <p:cNvSpPr>
            <a:spLocks noChangeArrowheads="1"/>
          </p:cNvSpPr>
          <p:nvPr/>
        </p:nvSpPr>
        <p:spPr bwMode="auto">
          <a:xfrm>
            <a:off x="395288" y="5043488"/>
            <a:ext cx="22812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61950">
              <a:defRPr sz="1600">
                <a:solidFill>
                  <a:schemeClr val="tx1"/>
                </a:solidFill>
                <a:latin typeface="Lucida Sans Unicode" panose="020B0602030504020204" pitchFamily="34" charset="0"/>
              </a:defRPr>
            </a:lvl1pPr>
            <a:lvl2pPr marL="742950" indent="-285750" defTabSz="361950">
              <a:defRPr sz="1600">
                <a:solidFill>
                  <a:schemeClr val="tx1"/>
                </a:solidFill>
                <a:latin typeface="Lucida Sans Unicode" panose="020B0602030504020204" pitchFamily="34" charset="0"/>
              </a:defRPr>
            </a:lvl2pPr>
            <a:lvl3pPr marL="1143000" indent="-228600" defTabSz="361950">
              <a:defRPr sz="1600">
                <a:solidFill>
                  <a:schemeClr val="tx1"/>
                </a:solidFill>
                <a:latin typeface="Lucida Sans Unicode" panose="020B0602030504020204" pitchFamily="34" charset="0"/>
              </a:defRPr>
            </a:lvl3pPr>
            <a:lvl4pPr marL="1600200" indent="-228600" defTabSz="361950">
              <a:defRPr sz="1600">
                <a:solidFill>
                  <a:schemeClr val="tx1"/>
                </a:solidFill>
                <a:latin typeface="Lucida Sans Unicode" panose="020B0602030504020204" pitchFamily="34" charset="0"/>
              </a:defRPr>
            </a:lvl4pPr>
            <a:lvl5pPr marL="2057400" indent="-228600" defTabSz="361950">
              <a:defRPr sz="1600">
                <a:solidFill>
                  <a:schemeClr val="tx1"/>
                </a:solidFill>
                <a:latin typeface="Lucida Sans Unicode" panose="020B0602030504020204" pitchFamily="34" charset="0"/>
              </a:defRPr>
            </a:lvl5pPr>
            <a:lvl6pPr marL="2514600" indent="-228600" defTabSz="36195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defTabSz="36195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defTabSz="36195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defTabSz="36195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a:solidFill>
                  <a:srgbClr val="FFFF00"/>
                </a:solidFill>
              </a:rPr>
              <a:t>frequency of carrier, say f</a:t>
            </a:r>
            <a:r>
              <a:rPr lang="en-GB" altLang="en-US" baseline="-25000">
                <a:solidFill>
                  <a:srgbClr val="FFFF00"/>
                </a:solidFill>
              </a:rPr>
              <a:t>c</a:t>
            </a:r>
            <a:r>
              <a:rPr lang="en-GB" altLang="en-US">
                <a:solidFill>
                  <a:srgbClr val="FFFF00"/>
                </a:solidFill>
              </a:rPr>
              <a:t> = 400MHz</a:t>
            </a:r>
          </a:p>
        </p:txBody>
      </p:sp>
      <p:cxnSp>
        <p:nvCxnSpPr>
          <p:cNvPr id="45071" name="Straight Arrow Connector 34"/>
          <p:cNvCxnSpPr>
            <a:cxnSpLocks noChangeShapeType="1"/>
          </p:cNvCxnSpPr>
          <p:nvPr/>
        </p:nvCxnSpPr>
        <p:spPr bwMode="auto">
          <a:xfrm>
            <a:off x="2286000" y="5514975"/>
            <a:ext cx="647700" cy="266700"/>
          </a:xfrm>
          <a:prstGeom prst="straightConnector1">
            <a:avLst/>
          </a:prstGeom>
          <a:noFill/>
          <a:ln w="9525" algn="ctr">
            <a:solidFill>
              <a:schemeClr val="tx1"/>
            </a:solidFill>
            <a:round/>
            <a:headEnd/>
            <a:tailEnd type="arrow" w="med" len="med"/>
          </a:ln>
        </p:spPr>
      </p:cxnSp>
    </p:spTree>
    <p:extLst>
      <p:ext uri="{BB962C8B-B14F-4D97-AF65-F5344CB8AC3E}">
        <p14:creationId xmlns:p14="http://schemas.microsoft.com/office/powerpoint/2010/main" val="23259555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1000"/>
                                  </p:stCondLst>
                                  <p:childTnLst>
                                    <p:set>
                                      <p:cBhvr>
                                        <p:cTn id="13"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1"/>
          <p:cNvSpPr>
            <a:spLocks/>
          </p:cNvSpPr>
          <p:nvPr/>
        </p:nvSpPr>
        <p:spPr bwMode="auto">
          <a:xfrm>
            <a:off x="1970088" y="990600"/>
            <a:ext cx="5276850" cy="4876800"/>
          </a:xfrm>
          <a:custGeom>
            <a:avLst/>
            <a:gdLst>
              <a:gd name="T0" fmla="*/ 0 w 3600"/>
              <a:gd name="T1" fmla="*/ 2147483647 h 3072"/>
              <a:gd name="T2" fmla="*/ 2147483647 w 3600"/>
              <a:gd name="T3" fmla="*/ 0 h 3072"/>
              <a:gd name="T4" fmla="*/ 2147483647 w 3600"/>
              <a:gd name="T5" fmla="*/ 2147483647 h 3072"/>
              <a:gd name="T6" fmla="*/ 0 w 3600"/>
              <a:gd name="T7" fmla="*/ 2147483647 h 3072"/>
              <a:gd name="T8" fmla="*/ 0 60000 65536"/>
              <a:gd name="T9" fmla="*/ 0 60000 65536"/>
              <a:gd name="T10" fmla="*/ 0 60000 65536"/>
              <a:gd name="T11" fmla="*/ 0 60000 65536"/>
              <a:gd name="T12" fmla="*/ 0 w 3600"/>
              <a:gd name="T13" fmla="*/ 0 h 3072"/>
              <a:gd name="T14" fmla="*/ 3600 w 3600"/>
              <a:gd name="T15" fmla="*/ 3072 h 3072"/>
            </a:gdLst>
            <a:ahLst/>
            <a:cxnLst>
              <a:cxn ang="T8">
                <a:pos x="T0" y="T1"/>
              </a:cxn>
              <a:cxn ang="T9">
                <a:pos x="T2" y="T3"/>
              </a:cxn>
              <a:cxn ang="T10">
                <a:pos x="T4" y="T5"/>
              </a:cxn>
              <a:cxn ang="T11">
                <a:pos x="T6" y="T7"/>
              </a:cxn>
            </a:cxnLst>
            <a:rect l="T12" t="T13" r="T14" b="T15"/>
            <a:pathLst>
              <a:path w="3600" h="3072">
                <a:moveTo>
                  <a:pt x="0" y="3072"/>
                </a:moveTo>
                <a:lnTo>
                  <a:pt x="720" y="0"/>
                </a:lnTo>
                <a:lnTo>
                  <a:pt x="3600" y="3072"/>
                </a:lnTo>
                <a:lnTo>
                  <a:pt x="0" y="3072"/>
                </a:lnTo>
                <a:close/>
              </a:path>
            </a:pathLst>
          </a:custGeom>
          <a:solidFill>
            <a:schemeClr val="tx2">
              <a:alpha val="50195"/>
            </a:schemeClr>
          </a:solidFill>
          <a:ln w="12700" cap="flat" cmpd="sng">
            <a:solidFill>
              <a:schemeClr val="tx1"/>
            </a:solidFill>
            <a:prstDash val="solid"/>
            <a:round/>
            <a:headEnd type="none" w="sm" len="sm"/>
            <a:tailEnd type="none" w="sm" len="sm"/>
          </a:ln>
        </p:spPr>
        <p:txBody>
          <a:bodyPr wrap="none" anchor="ctr"/>
          <a:lstStyle/>
          <a:p>
            <a:endParaRPr lang="en-GB"/>
          </a:p>
        </p:txBody>
      </p:sp>
      <p:sp>
        <p:nvSpPr>
          <p:cNvPr id="46083" name="Rectangle 2"/>
          <p:cNvSpPr>
            <a:spLocks noGrp="1" noChangeArrowheads="1"/>
          </p:cNvSpPr>
          <p:nvPr>
            <p:ph type="title"/>
          </p:nvPr>
        </p:nvSpPr>
        <p:spPr bwMode="auto">
          <a:xfrm>
            <a:off x="395288" y="33178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US" altLang="en-US" sz="2400" b="1"/>
              <a:t>PAL-B Spectrum</a:t>
            </a:r>
          </a:p>
        </p:txBody>
      </p:sp>
      <p:grpSp>
        <p:nvGrpSpPr>
          <p:cNvPr id="20" name="Group 78"/>
          <p:cNvGrpSpPr>
            <a:grpSpLocks/>
          </p:cNvGrpSpPr>
          <p:nvPr/>
        </p:nvGrpSpPr>
        <p:grpSpPr bwMode="auto">
          <a:xfrm>
            <a:off x="2955925" y="990600"/>
            <a:ext cx="731838" cy="4876800"/>
            <a:chOff x="2016" y="624"/>
            <a:chExt cx="499" cy="3072"/>
          </a:xfrm>
        </p:grpSpPr>
        <p:sp>
          <p:nvSpPr>
            <p:cNvPr id="46102" name="Line 17"/>
            <p:cNvSpPr>
              <a:spLocks noChangeShapeType="1"/>
            </p:cNvSpPr>
            <p:nvPr/>
          </p:nvSpPr>
          <p:spPr bwMode="auto">
            <a:xfrm flipV="1">
              <a:off x="2064" y="624"/>
              <a:ext cx="0" cy="3072"/>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46103" name="Text Box 66"/>
            <p:cNvSpPr txBox="1">
              <a:spLocks noChangeArrowheads="1"/>
            </p:cNvSpPr>
            <p:nvPr/>
          </p:nvSpPr>
          <p:spPr bwMode="auto">
            <a:xfrm>
              <a:off x="2016" y="1248"/>
              <a:ext cx="49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a:solidFill>
                    <a:schemeClr val="tx2"/>
                  </a:solidFill>
                  <a:latin typeface="Arial" panose="020B0604020202020204" pitchFamily="34" charset="0"/>
                </a:rPr>
                <a:t>Vision</a:t>
              </a:r>
              <a:br>
                <a:rPr lang="en-US" altLang="en-US" sz="1400">
                  <a:solidFill>
                    <a:schemeClr val="tx2"/>
                  </a:solidFill>
                  <a:latin typeface="Arial" panose="020B0604020202020204" pitchFamily="34" charset="0"/>
                </a:rPr>
              </a:br>
              <a:r>
                <a:rPr lang="en-US" altLang="en-US" sz="1400">
                  <a:solidFill>
                    <a:schemeClr val="tx2"/>
                  </a:solidFill>
                  <a:latin typeface="Arial" panose="020B0604020202020204" pitchFamily="34" charset="0"/>
                </a:rPr>
                <a:t>Carrier</a:t>
              </a:r>
            </a:p>
          </p:txBody>
        </p:sp>
      </p:grpSp>
      <p:grpSp>
        <p:nvGrpSpPr>
          <p:cNvPr id="46085" name="Group 83"/>
          <p:cNvGrpSpPr>
            <a:grpSpLocks/>
          </p:cNvGrpSpPr>
          <p:nvPr/>
        </p:nvGrpSpPr>
        <p:grpSpPr bwMode="auto">
          <a:xfrm>
            <a:off x="1084263" y="5791200"/>
            <a:ext cx="7316787" cy="765175"/>
            <a:chOff x="739" y="3648"/>
            <a:chExt cx="4992" cy="482"/>
          </a:xfrm>
        </p:grpSpPr>
        <p:sp>
          <p:nvSpPr>
            <p:cNvPr id="46087" name="Line 16"/>
            <p:cNvSpPr>
              <a:spLocks noChangeShapeType="1"/>
            </p:cNvSpPr>
            <p:nvPr/>
          </p:nvSpPr>
          <p:spPr bwMode="auto">
            <a:xfrm>
              <a:off x="768" y="3696"/>
              <a:ext cx="4896"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6088" name="Line 32"/>
            <p:cNvSpPr>
              <a:spLocks noChangeShapeType="1"/>
            </p:cNvSpPr>
            <p:nvPr/>
          </p:nvSpPr>
          <p:spPr bwMode="auto">
            <a:xfrm flipV="1">
              <a:off x="1344" y="3696"/>
              <a:ext cx="0"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nvGrpSpPr>
            <p:cNvPr id="46089" name="Group 82"/>
            <p:cNvGrpSpPr>
              <a:grpSpLocks/>
            </p:cNvGrpSpPr>
            <p:nvPr/>
          </p:nvGrpSpPr>
          <p:grpSpPr bwMode="auto">
            <a:xfrm>
              <a:off x="739" y="3648"/>
              <a:ext cx="4992" cy="482"/>
              <a:chOff x="739" y="3648"/>
              <a:chExt cx="4992" cy="482"/>
            </a:xfrm>
          </p:grpSpPr>
          <p:grpSp>
            <p:nvGrpSpPr>
              <p:cNvPr id="46090" name="Group 79"/>
              <p:cNvGrpSpPr>
                <a:grpSpLocks/>
              </p:cNvGrpSpPr>
              <p:nvPr/>
            </p:nvGrpSpPr>
            <p:grpSpPr bwMode="auto">
              <a:xfrm>
                <a:off x="739" y="3648"/>
                <a:ext cx="4992" cy="302"/>
                <a:chOff x="739" y="3648"/>
                <a:chExt cx="4992" cy="302"/>
              </a:xfrm>
            </p:grpSpPr>
            <p:sp>
              <p:nvSpPr>
                <p:cNvPr id="46092" name="Line 18"/>
                <p:cNvSpPr>
                  <a:spLocks noChangeShapeType="1"/>
                </p:cNvSpPr>
                <p:nvPr/>
              </p:nvSpPr>
              <p:spPr bwMode="auto">
                <a:xfrm>
                  <a:off x="912"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6093" name="Line 19"/>
                <p:cNvSpPr>
                  <a:spLocks noChangeShapeType="1"/>
                </p:cNvSpPr>
                <p:nvPr/>
              </p:nvSpPr>
              <p:spPr bwMode="auto">
                <a:xfrm>
                  <a:off x="1488"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6094" name="Line 20"/>
                <p:cNvSpPr>
                  <a:spLocks noChangeShapeType="1"/>
                </p:cNvSpPr>
                <p:nvPr/>
              </p:nvSpPr>
              <p:spPr bwMode="auto">
                <a:xfrm>
                  <a:off x="2064"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6095" name="Line 21"/>
                <p:cNvSpPr>
                  <a:spLocks noChangeShapeType="1"/>
                </p:cNvSpPr>
                <p:nvPr/>
              </p:nvSpPr>
              <p:spPr bwMode="auto">
                <a:xfrm>
                  <a:off x="2640"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6096" name="Line 22"/>
                <p:cNvSpPr>
                  <a:spLocks noChangeShapeType="1"/>
                </p:cNvSpPr>
                <p:nvPr/>
              </p:nvSpPr>
              <p:spPr bwMode="auto">
                <a:xfrm>
                  <a:off x="4368"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6097" name="Line 23"/>
                <p:cNvSpPr>
                  <a:spLocks noChangeShapeType="1"/>
                </p:cNvSpPr>
                <p:nvPr/>
              </p:nvSpPr>
              <p:spPr bwMode="auto">
                <a:xfrm>
                  <a:off x="3792"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6098" name="Line 24"/>
                <p:cNvSpPr>
                  <a:spLocks noChangeShapeType="1"/>
                </p:cNvSpPr>
                <p:nvPr/>
              </p:nvSpPr>
              <p:spPr bwMode="auto">
                <a:xfrm>
                  <a:off x="3216"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6099" name="Line 25"/>
                <p:cNvSpPr>
                  <a:spLocks noChangeShapeType="1"/>
                </p:cNvSpPr>
                <p:nvPr/>
              </p:nvSpPr>
              <p:spPr bwMode="auto">
                <a:xfrm>
                  <a:off x="4944"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6100" name="Line 26"/>
                <p:cNvSpPr>
                  <a:spLocks noChangeShapeType="1"/>
                </p:cNvSpPr>
                <p:nvPr/>
              </p:nvSpPr>
              <p:spPr bwMode="auto">
                <a:xfrm>
                  <a:off x="5520"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6101" name="Text Box 27"/>
                <p:cNvSpPr txBox="1">
                  <a:spLocks noChangeArrowheads="1"/>
                </p:cNvSpPr>
                <p:nvPr/>
              </p:nvSpPr>
              <p:spPr bwMode="auto">
                <a:xfrm>
                  <a:off x="739" y="3756"/>
                  <a:ext cx="499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b="1"/>
                    <a:t> -2           -1             0             1             2             3             4             5             6</a:t>
                  </a:r>
                </a:p>
              </p:txBody>
            </p:sp>
          </p:grpSp>
          <p:sp>
            <p:nvSpPr>
              <p:cNvPr id="46091" name="Text Box 70"/>
              <p:cNvSpPr txBox="1">
                <a:spLocks noChangeArrowheads="1"/>
              </p:cNvSpPr>
              <p:nvPr/>
            </p:nvSpPr>
            <p:spPr bwMode="auto">
              <a:xfrm>
                <a:off x="1824" y="3936"/>
                <a:ext cx="21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Frequency relative to carrier (MHz)</a:t>
                </a:r>
              </a:p>
            </p:txBody>
          </p:sp>
        </p:grpSp>
      </p:grpSp>
      <p:sp>
        <p:nvSpPr>
          <p:cNvPr id="40" name="Text Box 73"/>
          <p:cNvSpPr txBox="1">
            <a:spLocks noChangeArrowheads="1"/>
          </p:cNvSpPr>
          <p:nvPr/>
        </p:nvSpPr>
        <p:spPr bwMode="auto">
          <a:xfrm>
            <a:off x="492125" y="3352800"/>
            <a:ext cx="10668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Truncated</a:t>
            </a:r>
            <a:br>
              <a:rPr lang="en-AU" altLang="en-US" sz="1400"/>
            </a:br>
            <a:r>
              <a:rPr lang="en-AU" altLang="en-US" sz="1400"/>
              <a:t>Lower</a:t>
            </a:r>
            <a:br>
              <a:rPr lang="en-AU" altLang="en-US" sz="1400"/>
            </a:br>
            <a:r>
              <a:rPr lang="en-AU" altLang="en-US" sz="1400"/>
              <a:t>Sideband</a:t>
            </a:r>
          </a:p>
        </p:txBody>
      </p:sp>
    </p:spTree>
    <p:extLst>
      <p:ext uri="{BB962C8B-B14F-4D97-AF65-F5344CB8AC3E}">
        <p14:creationId xmlns:p14="http://schemas.microsoft.com/office/powerpoint/2010/main" val="29474130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0"/>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1000"/>
                                  </p:stCondLst>
                                  <p:childTnLst>
                                    <p:set>
                                      <p:cBhvr>
                                        <p:cTn id="13"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1"/>
          <p:cNvSpPr>
            <a:spLocks/>
          </p:cNvSpPr>
          <p:nvPr/>
        </p:nvSpPr>
        <p:spPr bwMode="auto">
          <a:xfrm>
            <a:off x="1970088" y="990600"/>
            <a:ext cx="5276850" cy="4876800"/>
          </a:xfrm>
          <a:custGeom>
            <a:avLst/>
            <a:gdLst>
              <a:gd name="T0" fmla="*/ 0 w 3600"/>
              <a:gd name="T1" fmla="*/ 2147483647 h 3072"/>
              <a:gd name="T2" fmla="*/ 2147483647 w 3600"/>
              <a:gd name="T3" fmla="*/ 0 h 3072"/>
              <a:gd name="T4" fmla="*/ 2147483647 w 3600"/>
              <a:gd name="T5" fmla="*/ 2147483647 h 3072"/>
              <a:gd name="T6" fmla="*/ 0 w 3600"/>
              <a:gd name="T7" fmla="*/ 2147483647 h 3072"/>
              <a:gd name="T8" fmla="*/ 0 60000 65536"/>
              <a:gd name="T9" fmla="*/ 0 60000 65536"/>
              <a:gd name="T10" fmla="*/ 0 60000 65536"/>
              <a:gd name="T11" fmla="*/ 0 60000 65536"/>
              <a:gd name="T12" fmla="*/ 0 w 3600"/>
              <a:gd name="T13" fmla="*/ 0 h 3072"/>
              <a:gd name="T14" fmla="*/ 3600 w 3600"/>
              <a:gd name="T15" fmla="*/ 3072 h 3072"/>
            </a:gdLst>
            <a:ahLst/>
            <a:cxnLst>
              <a:cxn ang="T8">
                <a:pos x="T0" y="T1"/>
              </a:cxn>
              <a:cxn ang="T9">
                <a:pos x="T2" y="T3"/>
              </a:cxn>
              <a:cxn ang="T10">
                <a:pos x="T4" y="T5"/>
              </a:cxn>
              <a:cxn ang="T11">
                <a:pos x="T6" y="T7"/>
              </a:cxn>
            </a:cxnLst>
            <a:rect l="T12" t="T13" r="T14" b="T15"/>
            <a:pathLst>
              <a:path w="3600" h="3072">
                <a:moveTo>
                  <a:pt x="0" y="3072"/>
                </a:moveTo>
                <a:lnTo>
                  <a:pt x="720" y="0"/>
                </a:lnTo>
                <a:lnTo>
                  <a:pt x="3600" y="3072"/>
                </a:lnTo>
                <a:lnTo>
                  <a:pt x="0" y="3072"/>
                </a:lnTo>
                <a:close/>
              </a:path>
            </a:pathLst>
          </a:custGeom>
          <a:solidFill>
            <a:schemeClr val="tx2">
              <a:alpha val="50195"/>
            </a:schemeClr>
          </a:solidFill>
          <a:ln w="12700" cap="flat" cmpd="sng">
            <a:solidFill>
              <a:schemeClr val="tx1"/>
            </a:solidFill>
            <a:prstDash val="solid"/>
            <a:round/>
            <a:headEnd type="none" w="sm" len="sm"/>
            <a:tailEnd type="none" w="sm" len="sm"/>
          </a:ln>
        </p:spPr>
        <p:txBody>
          <a:bodyPr wrap="none" anchor="ctr"/>
          <a:lstStyle/>
          <a:p>
            <a:endParaRPr lang="en-GB"/>
          </a:p>
        </p:txBody>
      </p:sp>
      <p:sp>
        <p:nvSpPr>
          <p:cNvPr id="47107" name="Rectangle 2"/>
          <p:cNvSpPr>
            <a:spLocks noGrp="1" noChangeArrowheads="1"/>
          </p:cNvSpPr>
          <p:nvPr>
            <p:ph type="title"/>
          </p:nvPr>
        </p:nvSpPr>
        <p:spPr bwMode="auto">
          <a:xfrm>
            <a:off x="395288" y="33178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US" altLang="en-US" sz="2400" b="1"/>
              <a:t>PAL-B Spectrum</a:t>
            </a:r>
          </a:p>
        </p:txBody>
      </p:sp>
      <p:grpSp>
        <p:nvGrpSpPr>
          <p:cNvPr id="5" name="Group 74"/>
          <p:cNvGrpSpPr>
            <a:grpSpLocks/>
          </p:cNvGrpSpPr>
          <p:nvPr/>
        </p:nvGrpSpPr>
        <p:grpSpPr bwMode="auto">
          <a:xfrm>
            <a:off x="1970088" y="2438400"/>
            <a:ext cx="5699125" cy="3429000"/>
            <a:chOff x="1344" y="1536"/>
            <a:chExt cx="3888" cy="2160"/>
          </a:xfrm>
        </p:grpSpPr>
        <p:sp>
          <p:nvSpPr>
            <p:cNvPr id="47142" name="AutoShape 44"/>
            <p:cNvSpPr>
              <a:spLocks noChangeArrowheads="1"/>
            </p:cNvSpPr>
            <p:nvPr/>
          </p:nvSpPr>
          <p:spPr bwMode="auto">
            <a:xfrm>
              <a:off x="1344" y="3216"/>
              <a:ext cx="576" cy="480"/>
            </a:xfrm>
            <a:prstGeom prst="triangle">
              <a:avLst>
                <a:gd name="adj" fmla="val 50000"/>
              </a:avLst>
            </a:prstGeom>
            <a:solidFill>
              <a:schemeClr val="accent1">
                <a:alpha val="50195"/>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sz="1400"/>
            </a:p>
          </p:txBody>
        </p:sp>
        <p:sp>
          <p:nvSpPr>
            <p:cNvPr id="47143" name="Freeform 55"/>
            <p:cNvSpPr>
              <a:spLocks/>
            </p:cNvSpPr>
            <p:nvPr/>
          </p:nvSpPr>
          <p:spPr bwMode="auto">
            <a:xfrm>
              <a:off x="2256" y="1536"/>
              <a:ext cx="2976" cy="2160"/>
            </a:xfrm>
            <a:custGeom>
              <a:avLst/>
              <a:gdLst>
                <a:gd name="T0" fmla="*/ 0 w 2976"/>
                <a:gd name="T1" fmla="*/ 2160 h 2160"/>
                <a:gd name="T2" fmla="*/ 1584 w 2976"/>
                <a:gd name="T3" fmla="*/ 0 h 2160"/>
                <a:gd name="T4" fmla="*/ 2784 w 2976"/>
                <a:gd name="T5" fmla="*/ 0 h 2160"/>
                <a:gd name="T6" fmla="*/ 2976 w 2976"/>
                <a:gd name="T7" fmla="*/ 2160 h 2160"/>
                <a:gd name="T8" fmla="*/ 0 w 2976"/>
                <a:gd name="T9" fmla="*/ 2160 h 2160"/>
                <a:gd name="T10" fmla="*/ 0 60000 65536"/>
                <a:gd name="T11" fmla="*/ 0 60000 65536"/>
                <a:gd name="T12" fmla="*/ 0 60000 65536"/>
                <a:gd name="T13" fmla="*/ 0 60000 65536"/>
                <a:gd name="T14" fmla="*/ 0 60000 65536"/>
                <a:gd name="T15" fmla="*/ 0 w 2976"/>
                <a:gd name="T16" fmla="*/ 0 h 2160"/>
                <a:gd name="T17" fmla="*/ 2976 w 2976"/>
                <a:gd name="T18" fmla="*/ 2160 h 2160"/>
              </a:gdLst>
              <a:ahLst/>
              <a:cxnLst>
                <a:cxn ang="T10">
                  <a:pos x="T0" y="T1"/>
                </a:cxn>
                <a:cxn ang="T11">
                  <a:pos x="T2" y="T3"/>
                </a:cxn>
                <a:cxn ang="T12">
                  <a:pos x="T4" y="T5"/>
                </a:cxn>
                <a:cxn ang="T13">
                  <a:pos x="T6" y="T7"/>
                </a:cxn>
                <a:cxn ang="T14">
                  <a:pos x="T8" y="T9"/>
                </a:cxn>
              </a:cxnLst>
              <a:rect l="T15" t="T16" r="T17" b="T18"/>
              <a:pathLst>
                <a:path w="2976" h="2160">
                  <a:moveTo>
                    <a:pt x="0" y="2160"/>
                  </a:moveTo>
                  <a:lnTo>
                    <a:pt x="1584" y="0"/>
                  </a:lnTo>
                  <a:lnTo>
                    <a:pt x="2784" y="0"/>
                  </a:lnTo>
                  <a:lnTo>
                    <a:pt x="2976" y="2160"/>
                  </a:lnTo>
                  <a:lnTo>
                    <a:pt x="0" y="2160"/>
                  </a:lnTo>
                  <a:close/>
                </a:path>
              </a:pathLst>
            </a:custGeom>
            <a:solidFill>
              <a:schemeClr val="accent1">
                <a:alpha val="50195"/>
              </a:schemeClr>
            </a:solidFill>
            <a:ln w="12700" cap="flat" cmpd="sng">
              <a:solidFill>
                <a:schemeClr val="tx1"/>
              </a:solidFill>
              <a:prstDash val="solid"/>
              <a:round/>
              <a:headEnd type="none" w="sm" len="sm"/>
              <a:tailEnd type="none" w="sm" len="sm"/>
            </a:ln>
          </p:spPr>
          <p:txBody>
            <a:bodyPr wrap="none" anchor="ctr"/>
            <a:lstStyle/>
            <a:p>
              <a:endParaRPr lang="en-GB"/>
            </a:p>
          </p:txBody>
        </p:sp>
      </p:grpSp>
      <p:grpSp>
        <p:nvGrpSpPr>
          <p:cNvPr id="9" name="Group 76"/>
          <p:cNvGrpSpPr>
            <a:grpSpLocks/>
          </p:cNvGrpSpPr>
          <p:nvPr/>
        </p:nvGrpSpPr>
        <p:grpSpPr bwMode="auto">
          <a:xfrm>
            <a:off x="1003300" y="4918075"/>
            <a:ext cx="7883525" cy="873125"/>
            <a:chOff x="684" y="3098"/>
            <a:chExt cx="5379" cy="550"/>
          </a:xfrm>
        </p:grpSpPr>
        <p:sp>
          <p:nvSpPr>
            <p:cNvPr id="47138" name="Text Box 58"/>
            <p:cNvSpPr txBox="1">
              <a:spLocks noChangeArrowheads="1"/>
            </p:cNvSpPr>
            <p:nvPr/>
          </p:nvSpPr>
          <p:spPr bwMode="auto">
            <a:xfrm>
              <a:off x="684" y="3098"/>
              <a:ext cx="4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a:t>-1.25</a:t>
              </a:r>
            </a:p>
          </p:txBody>
        </p:sp>
        <p:sp>
          <p:nvSpPr>
            <p:cNvPr id="47139" name="Text Box 59"/>
            <p:cNvSpPr txBox="1">
              <a:spLocks noChangeArrowheads="1"/>
            </p:cNvSpPr>
            <p:nvPr/>
          </p:nvSpPr>
          <p:spPr bwMode="auto">
            <a:xfrm>
              <a:off x="5568" y="3120"/>
              <a:ext cx="49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a:t>+5.75</a:t>
              </a:r>
            </a:p>
          </p:txBody>
        </p:sp>
        <p:sp>
          <p:nvSpPr>
            <p:cNvPr id="47140" name="Line 60"/>
            <p:cNvSpPr>
              <a:spLocks noChangeShapeType="1"/>
            </p:cNvSpPr>
            <p:nvPr/>
          </p:nvSpPr>
          <p:spPr bwMode="auto">
            <a:xfrm flipH="1">
              <a:off x="5478" y="3306"/>
              <a:ext cx="318" cy="324"/>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41" name="Line 61"/>
            <p:cNvSpPr>
              <a:spLocks noChangeShapeType="1"/>
            </p:cNvSpPr>
            <p:nvPr/>
          </p:nvSpPr>
          <p:spPr bwMode="auto">
            <a:xfrm>
              <a:off x="1008" y="3360"/>
              <a:ext cx="288" cy="288"/>
            </a:xfrm>
            <a:prstGeom prst="line">
              <a:avLst/>
            </a:prstGeom>
            <a:noFill/>
            <a:ln w="28575">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14" name="Group 75"/>
          <p:cNvGrpSpPr>
            <a:grpSpLocks/>
          </p:cNvGrpSpPr>
          <p:nvPr/>
        </p:nvGrpSpPr>
        <p:grpSpPr bwMode="auto">
          <a:xfrm>
            <a:off x="1970088" y="762000"/>
            <a:ext cx="5840412" cy="5181600"/>
            <a:chOff x="1344" y="480"/>
            <a:chExt cx="3984" cy="3264"/>
          </a:xfrm>
        </p:grpSpPr>
        <p:sp>
          <p:nvSpPr>
            <p:cNvPr id="47132" name="Line 28"/>
            <p:cNvSpPr>
              <a:spLocks noChangeShapeType="1"/>
            </p:cNvSpPr>
            <p:nvPr/>
          </p:nvSpPr>
          <p:spPr bwMode="auto">
            <a:xfrm flipV="1">
              <a:off x="1632" y="624"/>
              <a:ext cx="0" cy="3120"/>
            </a:xfrm>
            <a:prstGeom prst="line">
              <a:avLst/>
            </a:prstGeom>
            <a:noFill/>
            <a:ln w="28575"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33" name="Line 33"/>
            <p:cNvSpPr>
              <a:spLocks noChangeShapeType="1"/>
            </p:cNvSpPr>
            <p:nvPr/>
          </p:nvSpPr>
          <p:spPr bwMode="auto">
            <a:xfrm flipV="1">
              <a:off x="1344" y="624"/>
              <a:ext cx="288" cy="30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34" name="Line 34"/>
            <p:cNvSpPr>
              <a:spLocks noChangeShapeType="1"/>
            </p:cNvSpPr>
            <p:nvPr/>
          </p:nvSpPr>
          <p:spPr bwMode="auto">
            <a:xfrm>
              <a:off x="1632" y="624"/>
              <a:ext cx="33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35" name="Line 35"/>
            <p:cNvSpPr>
              <a:spLocks noChangeShapeType="1"/>
            </p:cNvSpPr>
            <p:nvPr/>
          </p:nvSpPr>
          <p:spPr bwMode="auto">
            <a:xfrm>
              <a:off x="4944" y="624"/>
              <a:ext cx="288" cy="30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36" name="Line 36"/>
            <p:cNvSpPr>
              <a:spLocks noChangeShapeType="1"/>
            </p:cNvSpPr>
            <p:nvPr/>
          </p:nvSpPr>
          <p:spPr bwMode="auto">
            <a:xfrm flipV="1">
              <a:off x="4944" y="624"/>
              <a:ext cx="0" cy="3120"/>
            </a:xfrm>
            <a:prstGeom prst="line">
              <a:avLst/>
            </a:prstGeom>
            <a:noFill/>
            <a:ln w="28575"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37" name="Text Box 64"/>
            <p:cNvSpPr txBox="1">
              <a:spLocks noChangeArrowheads="1"/>
            </p:cNvSpPr>
            <p:nvPr/>
          </p:nvSpPr>
          <p:spPr bwMode="auto">
            <a:xfrm>
              <a:off x="4939" y="480"/>
              <a:ext cx="38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a:t>0 dB</a:t>
              </a:r>
            </a:p>
          </p:txBody>
        </p:sp>
      </p:grpSp>
      <p:grpSp>
        <p:nvGrpSpPr>
          <p:cNvPr id="21" name="Group 78"/>
          <p:cNvGrpSpPr>
            <a:grpSpLocks/>
          </p:cNvGrpSpPr>
          <p:nvPr/>
        </p:nvGrpSpPr>
        <p:grpSpPr bwMode="auto">
          <a:xfrm>
            <a:off x="2955925" y="990600"/>
            <a:ext cx="3881438" cy="4876800"/>
            <a:chOff x="2016" y="624"/>
            <a:chExt cx="2647" cy="3072"/>
          </a:xfrm>
        </p:grpSpPr>
        <p:sp>
          <p:nvSpPr>
            <p:cNvPr id="47129" name="Line 17"/>
            <p:cNvSpPr>
              <a:spLocks noChangeShapeType="1"/>
            </p:cNvSpPr>
            <p:nvPr/>
          </p:nvSpPr>
          <p:spPr bwMode="auto">
            <a:xfrm flipV="1">
              <a:off x="2064" y="624"/>
              <a:ext cx="0" cy="3072"/>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47130" name="Text Box 66"/>
            <p:cNvSpPr txBox="1">
              <a:spLocks noChangeArrowheads="1"/>
            </p:cNvSpPr>
            <p:nvPr/>
          </p:nvSpPr>
          <p:spPr bwMode="auto">
            <a:xfrm>
              <a:off x="2016" y="1248"/>
              <a:ext cx="49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a:solidFill>
                    <a:schemeClr val="tx2"/>
                  </a:solidFill>
                  <a:latin typeface="Arial" panose="020B0604020202020204" pitchFamily="34" charset="0"/>
                </a:rPr>
                <a:t>Vision</a:t>
              </a:r>
              <a:br>
                <a:rPr lang="en-US" altLang="en-US" sz="1400">
                  <a:solidFill>
                    <a:schemeClr val="tx2"/>
                  </a:solidFill>
                  <a:latin typeface="Arial" panose="020B0604020202020204" pitchFamily="34" charset="0"/>
                </a:rPr>
              </a:br>
              <a:r>
                <a:rPr lang="en-US" altLang="en-US" sz="1400">
                  <a:solidFill>
                    <a:schemeClr val="tx2"/>
                  </a:solidFill>
                  <a:latin typeface="Arial" panose="020B0604020202020204" pitchFamily="34" charset="0"/>
                </a:rPr>
                <a:t>Carrier</a:t>
              </a:r>
            </a:p>
          </p:txBody>
        </p:sp>
        <p:sp>
          <p:nvSpPr>
            <p:cNvPr id="47131" name="Text Box 66"/>
            <p:cNvSpPr txBox="1">
              <a:spLocks noChangeArrowheads="1"/>
            </p:cNvSpPr>
            <p:nvPr/>
          </p:nvSpPr>
          <p:spPr bwMode="auto">
            <a:xfrm>
              <a:off x="3927" y="1620"/>
              <a:ext cx="73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a:solidFill>
                    <a:schemeClr val="tx2"/>
                  </a:solidFill>
                  <a:latin typeface="Arial" panose="020B0604020202020204" pitchFamily="34" charset="0"/>
                </a:rPr>
                <a:t>Vision</a:t>
              </a:r>
              <a:br>
                <a:rPr lang="en-US" altLang="en-US" sz="1400">
                  <a:solidFill>
                    <a:schemeClr val="tx2"/>
                  </a:solidFill>
                  <a:latin typeface="Arial" panose="020B0604020202020204" pitchFamily="34" charset="0"/>
                </a:rPr>
              </a:br>
              <a:r>
                <a:rPr lang="en-US" altLang="en-US" sz="1400">
                  <a:solidFill>
                    <a:schemeClr val="tx2"/>
                  </a:solidFill>
                  <a:latin typeface="Arial" panose="020B0604020202020204" pitchFamily="34" charset="0"/>
                </a:rPr>
                <a:t>Information</a:t>
              </a:r>
            </a:p>
          </p:txBody>
        </p:sp>
      </p:grpSp>
      <p:grpSp>
        <p:nvGrpSpPr>
          <p:cNvPr id="47112" name="Group 83"/>
          <p:cNvGrpSpPr>
            <a:grpSpLocks/>
          </p:cNvGrpSpPr>
          <p:nvPr/>
        </p:nvGrpSpPr>
        <p:grpSpPr bwMode="auto">
          <a:xfrm>
            <a:off x="1084263" y="5791200"/>
            <a:ext cx="7316787" cy="765175"/>
            <a:chOff x="739" y="3648"/>
            <a:chExt cx="4992" cy="482"/>
          </a:xfrm>
        </p:grpSpPr>
        <p:sp>
          <p:nvSpPr>
            <p:cNvPr id="47114" name="Line 16"/>
            <p:cNvSpPr>
              <a:spLocks noChangeShapeType="1"/>
            </p:cNvSpPr>
            <p:nvPr/>
          </p:nvSpPr>
          <p:spPr bwMode="auto">
            <a:xfrm>
              <a:off x="768" y="3696"/>
              <a:ext cx="4896"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15" name="Line 32"/>
            <p:cNvSpPr>
              <a:spLocks noChangeShapeType="1"/>
            </p:cNvSpPr>
            <p:nvPr/>
          </p:nvSpPr>
          <p:spPr bwMode="auto">
            <a:xfrm flipV="1">
              <a:off x="1344" y="3696"/>
              <a:ext cx="0"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nvGrpSpPr>
            <p:cNvPr id="47116" name="Group 82"/>
            <p:cNvGrpSpPr>
              <a:grpSpLocks/>
            </p:cNvGrpSpPr>
            <p:nvPr/>
          </p:nvGrpSpPr>
          <p:grpSpPr bwMode="auto">
            <a:xfrm>
              <a:off x="739" y="3648"/>
              <a:ext cx="4992" cy="482"/>
              <a:chOff x="739" y="3648"/>
              <a:chExt cx="4992" cy="482"/>
            </a:xfrm>
          </p:grpSpPr>
          <p:grpSp>
            <p:nvGrpSpPr>
              <p:cNvPr id="47117" name="Group 79"/>
              <p:cNvGrpSpPr>
                <a:grpSpLocks/>
              </p:cNvGrpSpPr>
              <p:nvPr/>
            </p:nvGrpSpPr>
            <p:grpSpPr bwMode="auto">
              <a:xfrm>
                <a:off x="739" y="3648"/>
                <a:ext cx="4992" cy="302"/>
                <a:chOff x="739" y="3648"/>
                <a:chExt cx="4992" cy="302"/>
              </a:xfrm>
            </p:grpSpPr>
            <p:sp>
              <p:nvSpPr>
                <p:cNvPr id="47119" name="Line 18"/>
                <p:cNvSpPr>
                  <a:spLocks noChangeShapeType="1"/>
                </p:cNvSpPr>
                <p:nvPr/>
              </p:nvSpPr>
              <p:spPr bwMode="auto">
                <a:xfrm>
                  <a:off x="912"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20" name="Line 19"/>
                <p:cNvSpPr>
                  <a:spLocks noChangeShapeType="1"/>
                </p:cNvSpPr>
                <p:nvPr/>
              </p:nvSpPr>
              <p:spPr bwMode="auto">
                <a:xfrm>
                  <a:off x="1488"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21" name="Line 20"/>
                <p:cNvSpPr>
                  <a:spLocks noChangeShapeType="1"/>
                </p:cNvSpPr>
                <p:nvPr/>
              </p:nvSpPr>
              <p:spPr bwMode="auto">
                <a:xfrm>
                  <a:off x="2064"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22" name="Line 21"/>
                <p:cNvSpPr>
                  <a:spLocks noChangeShapeType="1"/>
                </p:cNvSpPr>
                <p:nvPr/>
              </p:nvSpPr>
              <p:spPr bwMode="auto">
                <a:xfrm>
                  <a:off x="2640"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23" name="Line 22"/>
                <p:cNvSpPr>
                  <a:spLocks noChangeShapeType="1"/>
                </p:cNvSpPr>
                <p:nvPr/>
              </p:nvSpPr>
              <p:spPr bwMode="auto">
                <a:xfrm>
                  <a:off x="4368"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24" name="Line 23"/>
                <p:cNvSpPr>
                  <a:spLocks noChangeShapeType="1"/>
                </p:cNvSpPr>
                <p:nvPr/>
              </p:nvSpPr>
              <p:spPr bwMode="auto">
                <a:xfrm>
                  <a:off x="3792"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25" name="Line 24"/>
                <p:cNvSpPr>
                  <a:spLocks noChangeShapeType="1"/>
                </p:cNvSpPr>
                <p:nvPr/>
              </p:nvSpPr>
              <p:spPr bwMode="auto">
                <a:xfrm>
                  <a:off x="3216"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26" name="Line 25"/>
                <p:cNvSpPr>
                  <a:spLocks noChangeShapeType="1"/>
                </p:cNvSpPr>
                <p:nvPr/>
              </p:nvSpPr>
              <p:spPr bwMode="auto">
                <a:xfrm>
                  <a:off x="4944"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27" name="Line 26"/>
                <p:cNvSpPr>
                  <a:spLocks noChangeShapeType="1"/>
                </p:cNvSpPr>
                <p:nvPr/>
              </p:nvSpPr>
              <p:spPr bwMode="auto">
                <a:xfrm>
                  <a:off x="5520" y="3648"/>
                  <a:ext cx="0" cy="9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7128" name="Text Box 27"/>
                <p:cNvSpPr txBox="1">
                  <a:spLocks noChangeArrowheads="1"/>
                </p:cNvSpPr>
                <p:nvPr/>
              </p:nvSpPr>
              <p:spPr bwMode="auto">
                <a:xfrm>
                  <a:off x="739" y="3756"/>
                  <a:ext cx="499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US" altLang="en-US" sz="1400" b="1"/>
                    <a:t> -2           -1             0             1             2             3             4             5             6</a:t>
                  </a:r>
                </a:p>
              </p:txBody>
            </p:sp>
          </p:grpSp>
          <p:sp>
            <p:nvSpPr>
              <p:cNvPr id="47118" name="Text Box 70"/>
              <p:cNvSpPr txBox="1">
                <a:spLocks noChangeArrowheads="1"/>
              </p:cNvSpPr>
              <p:nvPr/>
            </p:nvSpPr>
            <p:spPr bwMode="auto">
              <a:xfrm>
                <a:off x="1824" y="3936"/>
                <a:ext cx="21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Frequency relative to carrier (MHz)</a:t>
                </a:r>
              </a:p>
            </p:txBody>
          </p:sp>
        </p:grpSp>
      </p:grpSp>
      <p:sp>
        <p:nvSpPr>
          <p:cNvPr id="45" name="Text Box 73"/>
          <p:cNvSpPr txBox="1">
            <a:spLocks noChangeArrowheads="1"/>
          </p:cNvSpPr>
          <p:nvPr/>
        </p:nvSpPr>
        <p:spPr bwMode="auto">
          <a:xfrm>
            <a:off x="492125" y="3352800"/>
            <a:ext cx="10668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Truncated</a:t>
            </a:r>
            <a:br>
              <a:rPr lang="en-AU" altLang="en-US" sz="1400"/>
            </a:br>
            <a:r>
              <a:rPr lang="en-AU" altLang="en-US" sz="1400"/>
              <a:t>Lower</a:t>
            </a:r>
            <a:br>
              <a:rPr lang="en-AU" altLang="en-US" sz="1400"/>
            </a:br>
            <a:r>
              <a:rPr lang="en-AU" altLang="en-US" sz="1400"/>
              <a:t>Sideband</a:t>
            </a:r>
          </a:p>
        </p:txBody>
      </p:sp>
    </p:spTree>
    <p:extLst>
      <p:ext uri="{BB962C8B-B14F-4D97-AF65-F5344CB8AC3E}">
        <p14:creationId xmlns:p14="http://schemas.microsoft.com/office/powerpoint/2010/main" val="38335840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1"/>
                                        </p:tgtEl>
                                        <p:attrNameLst>
                                          <p:attrName>style.visibility</p:attrName>
                                        </p:attrNameLst>
                                      </p:cBhvr>
                                      <p:to>
                                        <p:strVal val="visible"/>
                                      </p:to>
                                    </p:set>
                                  </p:childTnLst>
                                </p:cTn>
                              </p:par>
                            </p:childTnLst>
                          </p:cTn>
                        </p:par>
                        <p:par>
                          <p:cTn id="23" fill="hold" nodeType="afterGroup">
                            <p:stCondLst>
                              <p:cond delay="500"/>
                            </p:stCondLst>
                            <p:childTnLst>
                              <p:par>
                                <p:cTn id="24" presetID="1" presetClass="entr" presetSubtype="0" fill="hold" nodeType="afterEffect">
                                  <p:stCondLst>
                                    <p:cond delay="1000"/>
                                  </p:stCondLst>
                                  <p:childTnLst>
                                    <p:set>
                                      <p:cBhvr>
                                        <p:cTn id="25" dur="1" fill="hold">
                                          <p:stCondLst>
                                            <p:cond delay="499"/>
                                          </p:stCondLst>
                                        </p:cTn>
                                        <p:tgtEl>
                                          <p:spTgt spid="3"/>
                                        </p:tgtEl>
                                        <p:attrNameLst>
                                          <p:attrName>style.visibility</p:attrName>
                                        </p:attrNameLst>
                                      </p:cBhvr>
                                      <p:to>
                                        <p:strVal val="visible"/>
                                      </p:to>
                                    </p:set>
                                  </p:childTnLst>
                                </p:cTn>
                              </p:par>
                            </p:childTnLst>
                          </p:cTn>
                        </p:par>
                        <p:par>
                          <p:cTn id="26" fill="hold" nodeType="afterGroup">
                            <p:stCondLst>
                              <p:cond delay="2000"/>
                            </p:stCondLst>
                            <p:childTnLst>
                              <p:par>
                                <p:cTn id="27" presetID="1" presetClass="entr" presetSubtype="0" fill="hold" nodeType="afterEffect">
                                  <p:stCondLst>
                                    <p:cond delay="1000"/>
                                  </p:stCondLst>
                                  <p:childTnLst>
                                    <p:set>
                                      <p:cBhvr>
                                        <p:cTn id="2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https://upload.wikimedia.org/wikipedia/commons/thumb/5/57/Pal_channel.svg/400px-Pal_channel.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9100" y="2456943"/>
            <a:ext cx="3962400" cy="184251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upload.wikimedia.org/wikipedia/commons/thumb/f/fd/Ntsc_channel.svg/400px-Ntsc_channel.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8150" y="530481"/>
            <a:ext cx="2925162" cy="178434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s://upload.wikimedia.org/wikipedia/commons/thumb/5/57/Pal_channel.svg/400px-Pal_channel.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9100" y="4583685"/>
            <a:ext cx="3962400" cy="184251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395288" y="368300"/>
            <a:ext cx="3602268" cy="830997"/>
          </a:xfrm>
          <a:prstGeom prst="rect">
            <a:avLst/>
          </a:prstGeom>
          <a:solidFill>
            <a:schemeClr val="bg1">
              <a:alpha val="61000"/>
            </a:schemeClr>
          </a:solidFill>
        </p:spPr>
        <p:txBody>
          <a:bodyPr wrap="none" rtlCol="0">
            <a:spAutoFit/>
          </a:bodyPr>
          <a:lstStyle/>
          <a:p>
            <a:r>
              <a:rPr lang="en-GB" sz="2400" b="1"/>
              <a:t>PAL, NTSC and SECAM </a:t>
            </a:r>
          </a:p>
          <a:p>
            <a:r>
              <a:rPr lang="en-GB" sz="2400" b="1"/>
              <a:t>Spectra</a:t>
            </a:r>
            <a:endParaRPr lang="en-GB" sz="2400" b="1" dirty="0"/>
          </a:p>
        </p:txBody>
      </p:sp>
      <p:sp>
        <p:nvSpPr>
          <p:cNvPr id="2" name="TextBox 1"/>
          <p:cNvSpPr txBox="1"/>
          <p:nvPr/>
        </p:nvSpPr>
        <p:spPr>
          <a:xfrm>
            <a:off x="2657476" y="3378201"/>
            <a:ext cx="914400" cy="338554"/>
          </a:xfrm>
          <a:prstGeom prst="rect">
            <a:avLst/>
          </a:prstGeom>
          <a:noFill/>
        </p:spPr>
        <p:txBody>
          <a:bodyPr wrap="square" rtlCol="0">
            <a:spAutoFit/>
          </a:bodyPr>
          <a:lstStyle/>
          <a:p>
            <a:r>
              <a:rPr lang="en-GB"/>
              <a:t>PAL</a:t>
            </a:r>
          </a:p>
        </p:txBody>
      </p:sp>
      <p:sp>
        <p:nvSpPr>
          <p:cNvPr id="11" name="TextBox 10"/>
          <p:cNvSpPr txBox="1"/>
          <p:nvPr/>
        </p:nvSpPr>
        <p:spPr>
          <a:xfrm>
            <a:off x="2657476" y="1422655"/>
            <a:ext cx="914400" cy="338554"/>
          </a:xfrm>
          <a:prstGeom prst="rect">
            <a:avLst/>
          </a:prstGeom>
          <a:noFill/>
        </p:spPr>
        <p:txBody>
          <a:bodyPr wrap="square" rtlCol="0">
            <a:spAutoFit/>
          </a:bodyPr>
          <a:lstStyle/>
          <a:p>
            <a:r>
              <a:rPr lang="en-GB"/>
              <a:t>NTSC</a:t>
            </a:r>
          </a:p>
        </p:txBody>
      </p:sp>
      <p:sp>
        <p:nvSpPr>
          <p:cNvPr id="12" name="TextBox 11"/>
          <p:cNvSpPr txBox="1"/>
          <p:nvPr/>
        </p:nvSpPr>
        <p:spPr>
          <a:xfrm>
            <a:off x="2657476" y="5511294"/>
            <a:ext cx="914400" cy="338554"/>
          </a:xfrm>
          <a:prstGeom prst="rect">
            <a:avLst/>
          </a:prstGeom>
          <a:noFill/>
        </p:spPr>
        <p:txBody>
          <a:bodyPr wrap="square" rtlCol="0">
            <a:spAutoFit/>
          </a:bodyPr>
          <a:lstStyle/>
          <a:p>
            <a:r>
              <a:rPr lang="en-GB"/>
              <a:t>SECAM</a:t>
            </a:r>
          </a:p>
        </p:txBody>
      </p:sp>
    </p:spTree>
    <p:extLst>
      <p:ext uri="{BB962C8B-B14F-4D97-AF65-F5344CB8AC3E}">
        <p14:creationId xmlns:p14="http://schemas.microsoft.com/office/powerpoint/2010/main" val="869756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95288" y="1123950"/>
            <a:ext cx="7605712" cy="523875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a:lstStyle/>
          <a:p>
            <a:pPr>
              <a:defRPr/>
            </a:pPr>
            <a:endParaRPr lang="en-GB"/>
          </a:p>
        </p:txBody>
      </p:sp>
      <p:sp>
        <p:nvSpPr>
          <p:cNvPr id="39940" name="Rectangle 1026"/>
          <p:cNvSpPr>
            <a:spLocks noGrp="1" noChangeArrowheads="1"/>
          </p:cNvSpPr>
          <p:nvPr>
            <p:ph type="title"/>
          </p:nvPr>
        </p:nvSpPr>
        <p:spPr bwMode="auto">
          <a:xfrm>
            <a:off x="395288" y="33178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AU" altLang="en-US" sz="2400" b="1" dirty="0"/>
              <a:t>FM Sound Emphasis</a:t>
            </a:r>
          </a:p>
        </p:txBody>
      </p:sp>
      <p:sp>
        <p:nvSpPr>
          <p:cNvPr id="39941" name="Text Box 1029"/>
          <p:cNvSpPr txBox="1">
            <a:spLocks noChangeArrowheads="1"/>
          </p:cNvSpPr>
          <p:nvPr/>
        </p:nvSpPr>
        <p:spPr bwMode="auto">
          <a:xfrm>
            <a:off x="395288" y="1219200"/>
            <a:ext cx="457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latin typeface="Arial" panose="020B0604020202020204" pitchFamily="34" charset="0"/>
              </a:rPr>
              <a:t>dB</a:t>
            </a:r>
          </a:p>
        </p:txBody>
      </p:sp>
      <p:sp>
        <p:nvSpPr>
          <p:cNvPr id="39942" name="Text Box 1030"/>
          <p:cNvSpPr txBox="1">
            <a:spLocks noChangeArrowheads="1"/>
          </p:cNvSpPr>
          <p:nvPr/>
        </p:nvSpPr>
        <p:spPr bwMode="auto">
          <a:xfrm>
            <a:off x="5932488" y="6038850"/>
            <a:ext cx="16668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latin typeface="Arial" panose="020B0604020202020204" pitchFamily="34" charset="0"/>
              </a:rPr>
              <a:t>Frequency (Hz)</a:t>
            </a:r>
          </a:p>
        </p:txBody>
      </p:sp>
      <p:pic>
        <p:nvPicPr>
          <p:cNvPr id="39943" name="Picture 103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288" y="1133475"/>
            <a:ext cx="7448550" cy="4959350"/>
          </a:xfrm>
          <a:prstGeom prst="rect">
            <a:avLst/>
          </a:prstGeom>
          <a:solidFill>
            <a:schemeClr val="accent6">
              <a:lumMod val="60000"/>
              <a:lumOff val="40000"/>
            </a:schemeClr>
          </a:solidFill>
          <a:ln w="12700">
            <a:noFill/>
            <a:miter lim="800000"/>
            <a:headEnd type="none" w="sm" len="sm"/>
            <a:tailEnd type="none" w="sm" len="sm"/>
          </a:ln>
        </p:spPr>
      </p:pic>
      <p:sp>
        <p:nvSpPr>
          <p:cNvPr id="8" name="Rectangle 2051"/>
          <p:cNvSpPr txBox="1">
            <a:spLocks noChangeArrowheads="1"/>
          </p:cNvSpPr>
          <p:nvPr/>
        </p:nvSpPr>
        <p:spPr bwMode="auto">
          <a:xfrm>
            <a:off x="993247" y="1827448"/>
            <a:ext cx="4667778" cy="2270420"/>
          </a:xfrm>
          <a:prstGeom prst="rect">
            <a:avLst/>
          </a:prstGeom>
          <a:solidFill>
            <a:schemeClr val="bg1">
              <a:alpha val="92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177800" indent="-177800"/>
            <a:r>
              <a:rPr lang="en-AU" altLang="en-US" sz="1400" kern="0"/>
              <a:t>A FM subcarrier is added to the AM picture to carry the Audio information</a:t>
            </a:r>
          </a:p>
          <a:p>
            <a:pPr marL="177800" indent="-177800"/>
            <a:r>
              <a:rPr lang="en-AU" altLang="en-US" sz="1400" kern="0"/>
              <a:t>FM Deviation 50 kHz, 50 us Emphasis</a:t>
            </a:r>
          </a:p>
          <a:p>
            <a:pPr marL="635000" lvl="3" indent="-177800"/>
            <a:r>
              <a:rPr lang="en-AU" altLang="en-US" sz="1400" kern="0"/>
              <a:t>to overcome noise, typically in the high frequencies of baseband</a:t>
            </a:r>
          </a:p>
          <a:p>
            <a:pPr marL="635000" lvl="3" indent="-177800"/>
            <a:r>
              <a:rPr lang="en-AU" altLang="en-US" sz="1400" kern="0"/>
              <a:t>de-emphasis at receiver</a:t>
            </a:r>
          </a:p>
          <a:p>
            <a:pPr marL="177800" indent="-177800"/>
            <a:r>
              <a:rPr lang="en-AU" altLang="en-US" sz="1400" kern="0"/>
              <a:t>PAL-B uses 5.5 MHz Sound subcarrier (L+R)</a:t>
            </a:r>
          </a:p>
          <a:p>
            <a:pPr marL="177800" indent="-177800"/>
            <a:r>
              <a:rPr lang="en-AU" altLang="en-US" sz="1400" kern="0"/>
              <a:t>2nd Sound subcarrier for Stereo (R)</a:t>
            </a:r>
          </a:p>
        </p:txBody>
      </p:sp>
      <p:pic>
        <p:nvPicPr>
          <p:cNvPr id="1026" name="Picture 2" descr="http://www.repeater-builder.com/tech-info/pix/demph.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7722" y="3799682"/>
            <a:ext cx="2520623" cy="1458118"/>
          </a:xfrm>
          <a:prstGeom prst="rect">
            <a:avLst/>
          </a:prstGeom>
          <a:solidFill>
            <a:schemeClr val="accent4"/>
          </a:solidFill>
          <a:ln w="38100">
            <a:solidFill>
              <a:schemeClr val="accent6"/>
            </a:solidFill>
          </a:ln>
        </p:spPr>
      </p:pic>
      <p:sp>
        <p:nvSpPr>
          <p:cNvPr id="2" name="TextBox 1"/>
          <p:cNvSpPr txBox="1"/>
          <p:nvPr/>
        </p:nvSpPr>
        <p:spPr>
          <a:xfrm>
            <a:off x="6368524" y="4457548"/>
            <a:ext cx="819678" cy="461665"/>
          </a:xfrm>
          <a:prstGeom prst="rect">
            <a:avLst/>
          </a:prstGeom>
          <a:solidFill>
            <a:schemeClr val="accent6">
              <a:lumMod val="20000"/>
              <a:lumOff val="80000"/>
            </a:schemeClr>
          </a:solidFill>
        </p:spPr>
        <p:txBody>
          <a:bodyPr wrap="square" rtlCol="0">
            <a:spAutoFit/>
          </a:bodyPr>
          <a:lstStyle/>
          <a:p>
            <a:r>
              <a:rPr lang="el-GR" sz="1200"/>
              <a:t>Τ</a:t>
            </a:r>
            <a:r>
              <a:rPr lang="en-GB" sz="1200"/>
              <a:t> = R*C = 50</a:t>
            </a:r>
            <a:r>
              <a:rPr lang="el-GR" sz="1200"/>
              <a:t>μ</a:t>
            </a:r>
            <a:r>
              <a:rPr lang="en-GB" sz="1200"/>
              <a:t>S</a:t>
            </a:r>
          </a:p>
        </p:txBody>
      </p:sp>
    </p:spTree>
    <p:extLst>
      <p:ext uri="{BB962C8B-B14F-4D97-AF65-F5344CB8AC3E}">
        <p14:creationId xmlns:p14="http://schemas.microsoft.com/office/powerpoint/2010/main" val="113373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395288" y="33178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AU" altLang="en-US" sz="2400" b="1"/>
              <a:t>TV Modulation – AM; Min 20%</a:t>
            </a:r>
          </a:p>
        </p:txBody>
      </p:sp>
      <p:sp>
        <p:nvSpPr>
          <p:cNvPr id="35843" name="Rectangle 3"/>
          <p:cNvSpPr>
            <a:spLocks noGrp="1" noChangeArrowheads="1"/>
          </p:cNvSpPr>
          <p:nvPr>
            <p:ph type="body" idx="1"/>
          </p:nvPr>
        </p:nvSpPr>
        <p:spPr bwMode="auto">
          <a:xfrm>
            <a:off x="395288" y="781050"/>
            <a:ext cx="8018462"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AU" altLang="en-US" sz="1600" dirty="0"/>
              <a:t>Peak White 20%     Black 76%     Syncs 100%     </a:t>
            </a:r>
            <a:r>
              <a:rPr lang="en-AU" altLang="en-US" sz="1600" i="1" dirty="0"/>
              <a:t>Note – “Inverse modulation”</a:t>
            </a:r>
          </a:p>
        </p:txBody>
      </p:sp>
      <p:grpSp>
        <p:nvGrpSpPr>
          <p:cNvPr id="35844" name="Group 4"/>
          <p:cNvGrpSpPr>
            <a:grpSpLocks/>
          </p:cNvGrpSpPr>
          <p:nvPr/>
        </p:nvGrpSpPr>
        <p:grpSpPr bwMode="auto">
          <a:xfrm flipV="1">
            <a:off x="1266825" y="1752600"/>
            <a:ext cx="7669213" cy="1752600"/>
            <a:chOff x="960" y="1248"/>
            <a:chExt cx="5232" cy="1104"/>
          </a:xfrm>
        </p:grpSpPr>
        <p:sp>
          <p:nvSpPr>
            <p:cNvPr id="35900" name="Line 5"/>
            <p:cNvSpPr>
              <a:spLocks noChangeShapeType="1"/>
            </p:cNvSpPr>
            <p:nvPr/>
          </p:nvSpPr>
          <p:spPr bwMode="auto">
            <a:xfrm>
              <a:off x="960" y="2016"/>
              <a:ext cx="4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01" name="Line 6"/>
            <p:cNvSpPr>
              <a:spLocks noChangeShapeType="1"/>
            </p:cNvSpPr>
            <p:nvPr/>
          </p:nvSpPr>
          <p:spPr bwMode="auto">
            <a:xfrm flipH="1">
              <a:off x="1008"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02" name="Line 7"/>
            <p:cNvSpPr>
              <a:spLocks noChangeShapeType="1"/>
            </p:cNvSpPr>
            <p:nvPr/>
          </p:nvSpPr>
          <p:spPr bwMode="auto">
            <a:xfrm flipV="1">
              <a:off x="1010"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03" name="Line 8"/>
            <p:cNvSpPr>
              <a:spLocks noChangeShapeType="1"/>
            </p:cNvSpPr>
            <p:nvPr/>
          </p:nvSpPr>
          <p:spPr bwMode="auto">
            <a:xfrm flipH="1" flipV="1">
              <a:off x="1200"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04" name="Line 9"/>
            <p:cNvSpPr>
              <a:spLocks noChangeShapeType="1"/>
            </p:cNvSpPr>
            <p:nvPr/>
          </p:nvSpPr>
          <p:spPr bwMode="auto">
            <a:xfrm>
              <a:off x="1200"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05" name="Line 10"/>
            <p:cNvSpPr>
              <a:spLocks noChangeShapeType="1"/>
            </p:cNvSpPr>
            <p:nvPr/>
          </p:nvSpPr>
          <p:spPr bwMode="auto">
            <a:xfrm flipV="1">
              <a:off x="153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06" name="Line 11"/>
            <p:cNvSpPr>
              <a:spLocks noChangeShapeType="1"/>
            </p:cNvSpPr>
            <p:nvPr/>
          </p:nvSpPr>
          <p:spPr bwMode="auto">
            <a:xfrm>
              <a:off x="1536"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07" name="Line 12"/>
            <p:cNvSpPr>
              <a:spLocks noChangeShapeType="1"/>
            </p:cNvSpPr>
            <p:nvPr/>
          </p:nvSpPr>
          <p:spPr bwMode="auto">
            <a:xfrm flipV="1">
              <a:off x="2112"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08" name="Line 13"/>
            <p:cNvSpPr>
              <a:spLocks noChangeShapeType="1"/>
            </p:cNvSpPr>
            <p:nvPr/>
          </p:nvSpPr>
          <p:spPr bwMode="auto">
            <a:xfrm>
              <a:off x="2112"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09" name="Line 14"/>
            <p:cNvSpPr>
              <a:spLocks noChangeShapeType="1"/>
            </p:cNvSpPr>
            <p:nvPr/>
          </p:nvSpPr>
          <p:spPr bwMode="auto">
            <a:xfrm>
              <a:off x="2304"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10" name="Line 15"/>
            <p:cNvSpPr>
              <a:spLocks noChangeShapeType="1"/>
            </p:cNvSpPr>
            <p:nvPr/>
          </p:nvSpPr>
          <p:spPr bwMode="auto">
            <a:xfrm>
              <a:off x="2304"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11" name="Line 16"/>
            <p:cNvSpPr>
              <a:spLocks noChangeShapeType="1"/>
            </p:cNvSpPr>
            <p:nvPr/>
          </p:nvSpPr>
          <p:spPr bwMode="auto">
            <a:xfrm>
              <a:off x="345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12" name="Line 17"/>
            <p:cNvSpPr>
              <a:spLocks noChangeShapeType="1"/>
            </p:cNvSpPr>
            <p:nvPr/>
          </p:nvSpPr>
          <p:spPr bwMode="auto">
            <a:xfrm>
              <a:off x="3456"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13" name="Line 18"/>
            <p:cNvSpPr>
              <a:spLocks noChangeShapeType="1"/>
            </p:cNvSpPr>
            <p:nvPr/>
          </p:nvSpPr>
          <p:spPr bwMode="auto">
            <a:xfrm>
              <a:off x="3504"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14" name="Line 19"/>
            <p:cNvSpPr>
              <a:spLocks noChangeShapeType="1"/>
            </p:cNvSpPr>
            <p:nvPr/>
          </p:nvSpPr>
          <p:spPr bwMode="auto">
            <a:xfrm flipV="1">
              <a:off x="3506"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15" name="Line 20"/>
            <p:cNvSpPr>
              <a:spLocks noChangeShapeType="1"/>
            </p:cNvSpPr>
            <p:nvPr/>
          </p:nvSpPr>
          <p:spPr bwMode="auto">
            <a:xfrm flipH="1" flipV="1">
              <a:off x="3696"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16" name="Line 21"/>
            <p:cNvSpPr>
              <a:spLocks noChangeShapeType="1"/>
            </p:cNvSpPr>
            <p:nvPr/>
          </p:nvSpPr>
          <p:spPr bwMode="auto">
            <a:xfrm>
              <a:off x="3696"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17" name="Line 22"/>
            <p:cNvSpPr>
              <a:spLocks noChangeShapeType="1"/>
            </p:cNvSpPr>
            <p:nvPr/>
          </p:nvSpPr>
          <p:spPr bwMode="auto">
            <a:xfrm flipV="1">
              <a:off x="403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18" name="Line 23"/>
            <p:cNvSpPr>
              <a:spLocks noChangeShapeType="1"/>
            </p:cNvSpPr>
            <p:nvPr/>
          </p:nvSpPr>
          <p:spPr bwMode="auto">
            <a:xfrm>
              <a:off x="4032"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19" name="Line 24"/>
            <p:cNvSpPr>
              <a:spLocks noChangeShapeType="1"/>
            </p:cNvSpPr>
            <p:nvPr/>
          </p:nvSpPr>
          <p:spPr bwMode="auto">
            <a:xfrm flipV="1">
              <a:off x="4608"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20" name="Line 25"/>
            <p:cNvSpPr>
              <a:spLocks noChangeShapeType="1"/>
            </p:cNvSpPr>
            <p:nvPr/>
          </p:nvSpPr>
          <p:spPr bwMode="auto">
            <a:xfrm>
              <a:off x="4608"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21" name="Line 26"/>
            <p:cNvSpPr>
              <a:spLocks noChangeShapeType="1"/>
            </p:cNvSpPr>
            <p:nvPr/>
          </p:nvSpPr>
          <p:spPr bwMode="auto">
            <a:xfrm>
              <a:off x="4800"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22" name="Line 27"/>
            <p:cNvSpPr>
              <a:spLocks noChangeShapeType="1"/>
            </p:cNvSpPr>
            <p:nvPr/>
          </p:nvSpPr>
          <p:spPr bwMode="auto">
            <a:xfrm>
              <a:off x="4800"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23" name="Line 28"/>
            <p:cNvSpPr>
              <a:spLocks noChangeShapeType="1"/>
            </p:cNvSpPr>
            <p:nvPr/>
          </p:nvSpPr>
          <p:spPr bwMode="auto">
            <a:xfrm>
              <a:off x="5424"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24" name="Line 29"/>
            <p:cNvSpPr>
              <a:spLocks noChangeShapeType="1"/>
            </p:cNvSpPr>
            <p:nvPr/>
          </p:nvSpPr>
          <p:spPr bwMode="auto">
            <a:xfrm>
              <a:off x="595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25" name="Line 30"/>
            <p:cNvSpPr>
              <a:spLocks noChangeShapeType="1"/>
            </p:cNvSpPr>
            <p:nvPr/>
          </p:nvSpPr>
          <p:spPr bwMode="auto">
            <a:xfrm>
              <a:off x="5952"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26" name="Line 31"/>
            <p:cNvSpPr>
              <a:spLocks noChangeShapeType="1"/>
            </p:cNvSpPr>
            <p:nvPr/>
          </p:nvSpPr>
          <p:spPr bwMode="auto">
            <a:xfrm>
              <a:off x="6000"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27" name="Line 32"/>
            <p:cNvSpPr>
              <a:spLocks noChangeShapeType="1"/>
            </p:cNvSpPr>
            <p:nvPr/>
          </p:nvSpPr>
          <p:spPr bwMode="auto">
            <a:xfrm flipV="1">
              <a:off x="6002"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28" name="Line 33"/>
            <p:cNvSpPr>
              <a:spLocks noChangeShapeType="1"/>
            </p:cNvSpPr>
            <p:nvPr/>
          </p:nvSpPr>
          <p:spPr bwMode="auto">
            <a:xfrm flipH="1" flipV="1">
              <a:off x="6192"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29" name="Line 34"/>
            <p:cNvSpPr>
              <a:spLocks noChangeShapeType="1"/>
            </p:cNvSpPr>
            <p:nvPr/>
          </p:nvSpPr>
          <p:spPr bwMode="auto">
            <a:xfrm flipV="1">
              <a:off x="4992"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30" name="Line 35"/>
            <p:cNvSpPr>
              <a:spLocks noChangeShapeType="1"/>
            </p:cNvSpPr>
            <p:nvPr/>
          </p:nvSpPr>
          <p:spPr bwMode="auto">
            <a:xfrm>
              <a:off x="5280"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31" name="Line 36"/>
            <p:cNvSpPr>
              <a:spLocks noChangeShapeType="1"/>
            </p:cNvSpPr>
            <p:nvPr/>
          </p:nvSpPr>
          <p:spPr bwMode="auto">
            <a:xfrm>
              <a:off x="2928"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32" name="Line 37"/>
            <p:cNvSpPr>
              <a:spLocks noChangeShapeType="1"/>
            </p:cNvSpPr>
            <p:nvPr/>
          </p:nvSpPr>
          <p:spPr bwMode="auto">
            <a:xfrm flipV="1">
              <a:off x="2496"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933" name="Line 38"/>
            <p:cNvSpPr>
              <a:spLocks noChangeShapeType="1"/>
            </p:cNvSpPr>
            <p:nvPr/>
          </p:nvSpPr>
          <p:spPr bwMode="auto">
            <a:xfrm>
              <a:off x="2784"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35845" name="Group 39"/>
          <p:cNvGrpSpPr>
            <a:grpSpLocks/>
          </p:cNvGrpSpPr>
          <p:nvPr/>
        </p:nvGrpSpPr>
        <p:grpSpPr bwMode="auto">
          <a:xfrm>
            <a:off x="1266825" y="4419600"/>
            <a:ext cx="7669213" cy="1752600"/>
            <a:chOff x="960" y="1248"/>
            <a:chExt cx="5232" cy="1104"/>
          </a:xfrm>
        </p:grpSpPr>
        <p:sp>
          <p:nvSpPr>
            <p:cNvPr id="35866" name="Line 40"/>
            <p:cNvSpPr>
              <a:spLocks noChangeShapeType="1"/>
            </p:cNvSpPr>
            <p:nvPr/>
          </p:nvSpPr>
          <p:spPr bwMode="auto">
            <a:xfrm>
              <a:off x="960" y="2016"/>
              <a:ext cx="4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67" name="Line 41"/>
            <p:cNvSpPr>
              <a:spLocks noChangeShapeType="1"/>
            </p:cNvSpPr>
            <p:nvPr/>
          </p:nvSpPr>
          <p:spPr bwMode="auto">
            <a:xfrm flipH="1">
              <a:off x="1008"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68" name="Line 42"/>
            <p:cNvSpPr>
              <a:spLocks noChangeShapeType="1"/>
            </p:cNvSpPr>
            <p:nvPr/>
          </p:nvSpPr>
          <p:spPr bwMode="auto">
            <a:xfrm flipV="1">
              <a:off x="1010"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69" name="Line 43"/>
            <p:cNvSpPr>
              <a:spLocks noChangeShapeType="1"/>
            </p:cNvSpPr>
            <p:nvPr/>
          </p:nvSpPr>
          <p:spPr bwMode="auto">
            <a:xfrm flipH="1" flipV="1">
              <a:off x="1200"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70" name="Line 44"/>
            <p:cNvSpPr>
              <a:spLocks noChangeShapeType="1"/>
            </p:cNvSpPr>
            <p:nvPr/>
          </p:nvSpPr>
          <p:spPr bwMode="auto">
            <a:xfrm>
              <a:off x="1200"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71" name="Line 45"/>
            <p:cNvSpPr>
              <a:spLocks noChangeShapeType="1"/>
            </p:cNvSpPr>
            <p:nvPr/>
          </p:nvSpPr>
          <p:spPr bwMode="auto">
            <a:xfrm flipV="1">
              <a:off x="153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72" name="Line 46"/>
            <p:cNvSpPr>
              <a:spLocks noChangeShapeType="1"/>
            </p:cNvSpPr>
            <p:nvPr/>
          </p:nvSpPr>
          <p:spPr bwMode="auto">
            <a:xfrm>
              <a:off x="1536"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73" name="Line 47"/>
            <p:cNvSpPr>
              <a:spLocks noChangeShapeType="1"/>
            </p:cNvSpPr>
            <p:nvPr/>
          </p:nvSpPr>
          <p:spPr bwMode="auto">
            <a:xfrm flipV="1">
              <a:off x="2112"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74" name="Line 48"/>
            <p:cNvSpPr>
              <a:spLocks noChangeShapeType="1"/>
            </p:cNvSpPr>
            <p:nvPr/>
          </p:nvSpPr>
          <p:spPr bwMode="auto">
            <a:xfrm>
              <a:off x="2112"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75" name="Line 49"/>
            <p:cNvSpPr>
              <a:spLocks noChangeShapeType="1"/>
            </p:cNvSpPr>
            <p:nvPr/>
          </p:nvSpPr>
          <p:spPr bwMode="auto">
            <a:xfrm>
              <a:off x="2304"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76" name="Line 50"/>
            <p:cNvSpPr>
              <a:spLocks noChangeShapeType="1"/>
            </p:cNvSpPr>
            <p:nvPr/>
          </p:nvSpPr>
          <p:spPr bwMode="auto">
            <a:xfrm>
              <a:off x="2304"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77" name="Line 51"/>
            <p:cNvSpPr>
              <a:spLocks noChangeShapeType="1"/>
            </p:cNvSpPr>
            <p:nvPr/>
          </p:nvSpPr>
          <p:spPr bwMode="auto">
            <a:xfrm>
              <a:off x="345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78" name="Line 52"/>
            <p:cNvSpPr>
              <a:spLocks noChangeShapeType="1"/>
            </p:cNvSpPr>
            <p:nvPr/>
          </p:nvSpPr>
          <p:spPr bwMode="auto">
            <a:xfrm>
              <a:off x="3456"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79" name="Line 53"/>
            <p:cNvSpPr>
              <a:spLocks noChangeShapeType="1"/>
            </p:cNvSpPr>
            <p:nvPr/>
          </p:nvSpPr>
          <p:spPr bwMode="auto">
            <a:xfrm>
              <a:off x="3504"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80" name="Line 54"/>
            <p:cNvSpPr>
              <a:spLocks noChangeShapeType="1"/>
            </p:cNvSpPr>
            <p:nvPr/>
          </p:nvSpPr>
          <p:spPr bwMode="auto">
            <a:xfrm flipV="1">
              <a:off x="3506"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81" name="Line 55"/>
            <p:cNvSpPr>
              <a:spLocks noChangeShapeType="1"/>
            </p:cNvSpPr>
            <p:nvPr/>
          </p:nvSpPr>
          <p:spPr bwMode="auto">
            <a:xfrm flipH="1" flipV="1">
              <a:off x="3696"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82" name="Line 56"/>
            <p:cNvSpPr>
              <a:spLocks noChangeShapeType="1"/>
            </p:cNvSpPr>
            <p:nvPr/>
          </p:nvSpPr>
          <p:spPr bwMode="auto">
            <a:xfrm>
              <a:off x="3696"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83" name="Line 57"/>
            <p:cNvSpPr>
              <a:spLocks noChangeShapeType="1"/>
            </p:cNvSpPr>
            <p:nvPr/>
          </p:nvSpPr>
          <p:spPr bwMode="auto">
            <a:xfrm flipV="1">
              <a:off x="403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84" name="Line 58"/>
            <p:cNvSpPr>
              <a:spLocks noChangeShapeType="1"/>
            </p:cNvSpPr>
            <p:nvPr/>
          </p:nvSpPr>
          <p:spPr bwMode="auto">
            <a:xfrm>
              <a:off x="4032"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85" name="Line 59"/>
            <p:cNvSpPr>
              <a:spLocks noChangeShapeType="1"/>
            </p:cNvSpPr>
            <p:nvPr/>
          </p:nvSpPr>
          <p:spPr bwMode="auto">
            <a:xfrm flipV="1">
              <a:off x="4608"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86" name="Line 60"/>
            <p:cNvSpPr>
              <a:spLocks noChangeShapeType="1"/>
            </p:cNvSpPr>
            <p:nvPr/>
          </p:nvSpPr>
          <p:spPr bwMode="auto">
            <a:xfrm>
              <a:off x="4608"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87" name="Line 61"/>
            <p:cNvSpPr>
              <a:spLocks noChangeShapeType="1"/>
            </p:cNvSpPr>
            <p:nvPr/>
          </p:nvSpPr>
          <p:spPr bwMode="auto">
            <a:xfrm>
              <a:off x="4800"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88" name="Line 62"/>
            <p:cNvSpPr>
              <a:spLocks noChangeShapeType="1"/>
            </p:cNvSpPr>
            <p:nvPr/>
          </p:nvSpPr>
          <p:spPr bwMode="auto">
            <a:xfrm>
              <a:off x="4800"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89" name="Line 63"/>
            <p:cNvSpPr>
              <a:spLocks noChangeShapeType="1"/>
            </p:cNvSpPr>
            <p:nvPr/>
          </p:nvSpPr>
          <p:spPr bwMode="auto">
            <a:xfrm>
              <a:off x="5424"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90" name="Line 64"/>
            <p:cNvSpPr>
              <a:spLocks noChangeShapeType="1"/>
            </p:cNvSpPr>
            <p:nvPr/>
          </p:nvSpPr>
          <p:spPr bwMode="auto">
            <a:xfrm>
              <a:off x="595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91" name="Line 65"/>
            <p:cNvSpPr>
              <a:spLocks noChangeShapeType="1"/>
            </p:cNvSpPr>
            <p:nvPr/>
          </p:nvSpPr>
          <p:spPr bwMode="auto">
            <a:xfrm>
              <a:off x="5952"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92" name="Line 66"/>
            <p:cNvSpPr>
              <a:spLocks noChangeShapeType="1"/>
            </p:cNvSpPr>
            <p:nvPr/>
          </p:nvSpPr>
          <p:spPr bwMode="auto">
            <a:xfrm>
              <a:off x="6000"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93" name="Line 67"/>
            <p:cNvSpPr>
              <a:spLocks noChangeShapeType="1"/>
            </p:cNvSpPr>
            <p:nvPr/>
          </p:nvSpPr>
          <p:spPr bwMode="auto">
            <a:xfrm flipV="1">
              <a:off x="6002"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94" name="Line 68"/>
            <p:cNvSpPr>
              <a:spLocks noChangeShapeType="1"/>
            </p:cNvSpPr>
            <p:nvPr/>
          </p:nvSpPr>
          <p:spPr bwMode="auto">
            <a:xfrm flipH="1" flipV="1">
              <a:off x="6192"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95" name="Line 69"/>
            <p:cNvSpPr>
              <a:spLocks noChangeShapeType="1"/>
            </p:cNvSpPr>
            <p:nvPr/>
          </p:nvSpPr>
          <p:spPr bwMode="auto">
            <a:xfrm flipV="1">
              <a:off x="4992"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96" name="Line 70"/>
            <p:cNvSpPr>
              <a:spLocks noChangeShapeType="1"/>
            </p:cNvSpPr>
            <p:nvPr/>
          </p:nvSpPr>
          <p:spPr bwMode="auto">
            <a:xfrm>
              <a:off x="5280"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97" name="Line 71"/>
            <p:cNvSpPr>
              <a:spLocks noChangeShapeType="1"/>
            </p:cNvSpPr>
            <p:nvPr/>
          </p:nvSpPr>
          <p:spPr bwMode="auto">
            <a:xfrm>
              <a:off x="2928"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98" name="Line 72"/>
            <p:cNvSpPr>
              <a:spLocks noChangeShapeType="1"/>
            </p:cNvSpPr>
            <p:nvPr/>
          </p:nvSpPr>
          <p:spPr bwMode="auto">
            <a:xfrm flipV="1">
              <a:off x="2496"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99" name="Line 73"/>
            <p:cNvSpPr>
              <a:spLocks noChangeShapeType="1"/>
            </p:cNvSpPr>
            <p:nvPr/>
          </p:nvSpPr>
          <p:spPr bwMode="auto">
            <a:xfrm>
              <a:off x="2784"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sp>
        <p:nvSpPr>
          <p:cNvPr id="35846" name="Freeform 76"/>
          <p:cNvSpPr>
            <a:spLocks/>
          </p:cNvSpPr>
          <p:nvPr/>
        </p:nvSpPr>
        <p:spPr bwMode="auto">
          <a:xfrm>
            <a:off x="1266825" y="1752600"/>
            <a:ext cx="7669213" cy="1752600"/>
          </a:xfrm>
          <a:custGeom>
            <a:avLst/>
            <a:gdLst>
              <a:gd name="T0" fmla="*/ 0 w 5232"/>
              <a:gd name="T1" fmla="*/ 2147483647 h 1104"/>
              <a:gd name="T2" fmla="*/ 0 w 5232"/>
              <a:gd name="T3" fmla="*/ 2147483647 h 1104"/>
              <a:gd name="T4" fmla="*/ 2147483647 w 5232"/>
              <a:gd name="T5" fmla="*/ 2147483647 h 1104"/>
              <a:gd name="T6" fmla="*/ 2147483647 w 5232"/>
              <a:gd name="T7" fmla="*/ 0 h 1104"/>
              <a:gd name="T8" fmla="*/ 2147483647 w 5232"/>
              <a:gd name="T9" fmla="*/ 0 h 1104"/>
              <a:gd name="T10" fmla="*/ 2147483647 w 5232"/>
              <a:gd name="T11" fmla="*/ 2147483647 h 1104"/>
              <a:gd name="T12" fmla="*/ 2147483647 w 5232"/>
              <a:gd name="T13" fmla="*/ 2147483647 h 1104"/>
              <a:gd name="T14" fmla="*/ 2147483647 w 5232"/>
              <a:gd name="T15" fmla="*/ 2147483647 h 1104"/>
              <a:gd name="T16" fmla="*/ 2147483647 w 5232"/>
              <a:gd name="T17" fmla="*/ 2147483647 h 1104"/>
              <a:gd name="T18" fmla="*/ 2147483647 w 5232"/>
              <a:gd name="T19" fmla="*/ 2147483647 h 1104"/>
              <a:gd name="T20" fmla="*/ 2147483647 w 5232"/>
              <a:gd name="T21" fmla="*/ 2147483647 h 1104"/>
              <a:gd name="T22" fmla="*/ 2147483647 w 5232"/>
              <a:gd name="T23" fmla="*/ 2147483647 h 1104"/>
              <a:gd name="T24" fmla="*/ 2147483647 w 5232"/>
              <a:gd name="T25" fmla="*/ 2147483647 h 1104"/>
              <a:gd name="T26" fmla="*/ 2147483647 w 5232"/>
              <a:gd name="T27" fmla="*/ 2147483647 h 1104"/>
              <a:gd name="T28" fmla="*/ 2147483647 w 5232"/>
              <a:gd name="T29" fmla="*/ 2147483647 h 1104"/>
              <a:gd name="T30" fmla="*/ 2147483647 w 5232"/>
              <a:gd name="T31" fmla="*/ 2147483647 h 1104"/>
              <a:gd name="T32" fmla="*/ 2147483647 w 5232"/>
              <a:gd name="T33" fmla="*/ 2147483647 h 1104"/>
              <a:gd name="T34" fmla="*/ 2147483647 w 5232"/>
              <a:gd name="T35" fmla="*/ 2147483647 h 1104"/>
              <a:gd name="T36" fmla="*/ 2147483647 w 5232"/>
              <a:gd name="T37" fmla="*/ 0 h 1104"/>
              <a:gd name="T38" fmla="*/ 2147483647 w 5232"/>
              <a:gd name="T39" fmla="*/ 0 h 1104"/>
              <a:gd name="T40" fmla="*/ 2147483647 w 5232"/>
              <a:gd name="T41" fmla="*/ 2147483647 h 1104"/>
              <a:gd name="T42" fmla="*/ 2147483647 w 5232"/>
              <a:gd name="T43" fmla="*/ 2147483647 h 1104"/>
              <a:gd name="T44" fmla="*/ 2147483647 w 5232"/>
              <a:gd name="T45" fmla="*/ 2147483647 h 1104"/>
              <a:gd name="T46" fmla="*/ 2147483647 w 5232"/>
              <a:gd name="T47" fmla="*/ 2147483647 h 1104"/>
              <a:gd name="T48" fmla="*/ 2147483647 w 5232"/>
              <a:gd name="T49" fmla="*/ 2147483647 h 1104"/>
              <a:gd name="T50" fmla="*/ 2147483647 w 5232"/>
              <a:gd name="T51" fmla="*/ 2147483647 h 1104"/>
              <a:gd name="T52" fmla="*/ 2147483647 w 5232"/>
              <a:gd name="T53" fmla="*/ 2147483647 h 1104"/>
              <a:gd name="T54" fmla="*/ 2147483647 w 5232"/>
              <a:gd name="T55" fmla="*/ 2147483647 h 1104"/>
              <a:gd name="T56" fmla="*/ 2147483647 w 5232"/>
              <a:gd name="T57" fmla="*/ 2147483647 h 1104"/>
              <a:gd name="T58" fmla="*/ 2147483647 w 5232"/>
              <a:gd name="T59" fmla="*/ 2147483647 h 1104"/>
              <a:gd name="T60" fmla="*/ 2147483647 w 5232"/>
              <a:gd name="T61" fmla="*/ 2147483647 h 1104"/>
              <a:gd name="T62" fmla="*/ 2147483647 w 5232"/>
              <a:gd name="T63" fmla="*/ 2147483647 h 1104"/>
              <a:gd name="T64" fmla="*/ 2147483647 w 5232"/>
              <a:gd name="T65" fmla="*/ 2147483647 h 1104"/>
              <a:gd name="T66" fmla="*/ 2147483647 w 5232"/>
              <a:gd name="T67" fmla="*/ 0 h 1104"/>
              <a:gd name="T68" fmla="*/ 2147483647 w 5232"/>
              <a:gd name="T69" fmla="*/ 0 h 1104"/>
              <a:gd name="T70" fmla="*/ 2147483647 w 5232"/>
              <a:gd name="T71" fmla="*/ 2147483647 h 1104"/>
              <a:gd name="T72" fmla="*/ 0 w 5232"/>
              <a:gd name="T73" fmla="*/ 2147483647 h 110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232"/>
              <a:gd name="T112" fmla="*/ 0 h 1104"/>
              <a:gd name="T113" fmla="*/ 5232 w 5232"/>
              <a:gd name="T114" fmla="*/ 1104 h 110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232" h="1104">
                <a:moveTo>
                  <a:pt x="0" y="336"/>
                </a:moveTo>
                <a:lnTo>
                  <a:pt x="0" y="1104"/>
                </a:lnTo>
                <a:lnTo>
                  <a:pt x="5232" y="1104"/>
                </a:lnTo>
                <a:lnTo>
                  <a:pt x="5232" y="0"/>
                </a:lnTo>
                <a:lnTo>
                  <a:pt x="5040" y="0"/>
                </a:lnTo>
                <a:lnTo>
                  <a:pt x="5040" y="336"/>
                </a:lnTo>
                <a:lnTo>
                  <a:pt x="4992" y="336"/>
                </a:lnTo>
                <a:lnTo>
                  <a:pt x="4992" y="768"/>
                </a:lnTo>
                <a:lnTo>
                  <a:pt x="4464" y="768"/>
                </a:lnTo>
                <a:lnTo>
                  <a:pt x="4320" y="1104"/>
                </a:lnTo>
                <a:lnTo>
                  <a:pt x="4032" y="336"/>
                </a:lnTo>
                <a:lnTo>
                  <a:pt x="3840" y="336"/>
                </a:lnTo>
                <a:lnTo>
                  <a:pt x="3840" y="1104"/>
                </a:lnTo>
                <a:lnTo>
                  <a:pt x="3648" y="1104"/>
                </a:lnTo>
                <a:lnTo>
                  <a:pt x="3648" y="768"/>
                </a:lnTo>
                <a:lnTo>
                  <a:pt x="3072" y="768"/>
                </a:lnTo>
                <a:lnTo>
                  <a:pt x="3072" y="336"/>
                </a:lnTo>
                <a:lnTo>
                  <a:pt x="2736" y="336"/>
                </a:lnTo>
                <a:lnTo>
                  <a:pt x="2736" y="0"/>
                </a:lnTo>
                <a:lnTo>
                  <a:pt x="2544" y="0"/>
                </a:lnTo>
                <a:lnTo>
                  <a:pt x="2544" y="336"/>
                </a:lnTo>
                <a:lnTo>
                  <a:pt x="2496" y="336"/>
                </a:lnTo>
                <a:lnTo>
                  <a:pt x="2496" y="768"/>
                </a:lnTo>
                <a:lnTo>
                  <a:pt x="1968" y="768"/>
                </a:lnTo>
                <a:lnTo>
                  <a:pt x="1824" y="1104"/>
                </a:lnTo>
                <a:lnTo>
                  <a:pt x="1536" y="336"/>
                </a:lnTo>
                <a:lnTo>
                  <a:pt x="1344" y="336"/>
                </a:lnTo>
                <a:lnTo>
                  <a:pt x="1344" y="1104"/>
                </a:lnTo>
                <a:lnTo>
                  <a:pt x="1152" y="1104"/>
                </a:lnTo>
                <a:lnTo>
                  <a:pt x="1152" y="768"/>
                </a:lnTo>
                <a:lnTo>
                  <a:pt x="576" y="768"/>
                </a:lnTo>
                <a:lnTo>
                  <a:pt x="576" y="336"/>
                </a:lnTo>
                <a:lnTo>
                  <a:pt x="240" y="336"/>
                </a:lnTo>
                <a:lnTo>
                  <a:pt x="240" y="0"/>
                </a:lnTo>
                <a:lnTo>
                  <a:pt x="48" y="0"/>
                </a:lnTo>
                <a:lnTo>
                  <a:pt x="48" y="336"/>
                </a:lnTo>
                <a:lnTo>
                  <a:pt x="0" y="336"/>
                </a:lnTo>
                <a:close/>
              </a:path>
            </a:pathLst>
          </a:custGeom>
          <a:solidFill>
            <a:srgbClr val="80008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en-GB"/>
          </a:p>
        </p:txBody>
      </p:sp>
      <p:sp>
        <p:nvSpPr>
          <p:cNvPr id="35847" name="Freeform 77"/>
          <p:cNvSpPr>
            <a:spLocks/>
          </p:cNvSpPr>
          <p:nvPr/>
        </p:nvSpPr>
        <p:spPr bwMode="auto">
          <a:xfrm flipV="1">
            <a:off x="1266825" y="4419600"/>
            <a:ext cx="7669213" cy="1752600"/>
          </a:xfrm>
          <a:custGeom>
            <a:avLst/>
            <a:gdLst>
              <a:gd name="T0" fmla="*/ 0 w 5232"/>
              <a:gd name="T1" fmla="*/ 2147483647 h 1104"/>
              <a:gd name="T2" fmla="*/ 0 w 5232"/>
              <a:gd name="T3" fmla="*/ 2147483647 h 1104"/>
              <a:gd name="T4" fmla="*/ 2147483647 w 5232"/>
              <a:gd name="T5" fmla="*/ 2147483647 h 1104"/>
              <a:gd name="T6" fmla="*/ 2147483647 w 5232"/>
              <a:gd name="T7" fmla="*/ 0 h 1104"/>
              <a:gd name="T8" fmla="*/ 2147483647 w 5232"/>
              <a:gd name="T9" fmla="*/ 0 h 1104"/>
              <a:gd name="T10" fmla="*/ 2147483647 w 5232"/>
              <a:gd name="T11" fmla="*/ 2147483647 h 1104"/>
              <a:gd name="T12" fmla="*/ 2147483647 w 5232"/>
              <a:gd name="T13" fmla="*/ 2147483647 h 1104"/>
              <a:gd name="T14" fmla="*/ 2147483647 w 5232"/>
              <a:gd name="T15" fmla="*/ 2147483647 h 1104"/>
              <a:gd name="T16" fmla="*/ 2147483647 w 5232"/>
              <a:gd name="T17" fmla="*/ 2147483647 h 1104"/>
              <a:gd name="T18" fmla="*/ 2147483647 w 5232"/>
              <a:gd name="T19" fmla="*/ 2147483647 h 1104"/>
              <a:gd name="T20" fmla="*/ 2147483647 w 5232"/>
              <a:gd name="T21" fmla="*/ 2147483647 h 1104"/>
              <a:gd name="T22" fmla="*/ 2147483647 w 5232"/>
              <a:gd name="T23" fmla="*/ 2147483647 h 1104"/>
              <a:gd name="T24" fmla="*/ 2147483647 w 5232"/>
              <a:gd name="T25" fmla="*/ 2147483647 h 1104"/>
              <a:gd name="T26" fmla="*/ 2147483647 w 5232"/>
              <a:gd name="T27" fmla="*/ 2147483647 h 1104"/>
              <a:gd name="T28" fmla="*/ 2147483647 w 5232"/>
              <a:gd name="T29" fmla="*/ 2147483647 h 1104"/>
              <a:gd name="T30" fmla="*/ 2147483647 w 5232"/>
              <a:gd name="T31" fmla="*/ 2147483647 h 1104"/>
              <a:gd name="T32" fmla="*/ 2147483647 w 5232"/>
              <a:gd name="T33" fmla="*/ 2147483647 h 1104"/>
              <a:gd name="T34" fmla="*/ 2147483647 w 5232"/>
              <a:gd name="T35" fmla="*/ 2147483647 h 1104"/>
              <a:gd name="T36" fmla="*/ 2147483647 w 5232"/>
              <a:gd name="T37" fmla="*/ 0 h 1104"/>
              <a:gd name="T38" fmla="*/ 2147483647 w 5232"/>
              <a:gd name="T39" fmla="*/ 0 h 1104"/>
              <a:gd name="T40" fmla="*/ 2147483647 w 5232"/>
              <a:gd name="T41" fmla="*/ 2147483647 h 1104"/>
              <a:gd name="T42" fmla="*/ 2147483647 w 5232"/>
              <a:gd name="T43" fmla="*/ 2147483647 h 1104"/>
              <a:gd name="T44" fmla="*/ 2147483647 w 5232"/>
              <a:gd name="T45" fmla="*/ 2147483647 h 1104"/>
              <a:gd name="T46" fmla="*/ 2147483647 w 5232"/>
              <a:gd name="T47" fmla="*/ 2147483647 h 1104"/>
              <a:gd name="T48" fmla="*/ 2147483647 w 5232"/>
              <a:gd name="T49" fmla="*/ 2147483647 h 1104"/>
              <a:gd name="T50" fmla="*/ 2147483647 w 5232"/>
              <a:gd name="T51" fmla="*/ 2147483647 h 1104"/>
              <a:gd name="T52" fmla="*/ 2147483647 w 5232"/>
              <a:gd name="T53" fmla="*/ 2147483647 h 1104"/>
              <a:gd name="T54" fmla="*/ 2147483647 w 5232"/>
              <a:gd name="T55" fmla="*/ 2147483647 h 1104"/>
              <a:gd name="T56" fmla="*/ 2147483647 w 5232"/>
              <a:gd name="T57" fmla="*/ 2147483647 h 1104"/>
              <a:gd name="T58" fmla="*/ 2147483647 w 5232"/>
              <a:gd name="T59" fmla="*/ 2147483647 h 1104"/>
              <a:gd name="T60" fmla="*/ 2147483647 w 5232"/>
              <a:gd name="T61" fmla="*/ 2147483647 h 1104"/>
              <a:gd name="T62" fmla="*/ 2147483647 w 5232"/>
              <a:gd name="T63" fmla="*/ 2147483647 h 1104"/>
              <a:gd name="T64" fmla="*/ 2147483647 w 5232"/>
              <a:gd name="T65" fmla="*/ 2147483647 h 1104"/>
              <a:gd name="T66" fmla="*/ 2147483647 w 5232"/>
              <a:gd name="T67" fmla="*/ 0 h 1104"/>
              <a:gd name="T68" fmla="*/ 2147483647 w 5232"/>
              <a:gd name="T69" fmla="*/ 0 h 1104"/>
              <a:gd name="T70" fmla="*/ 2147483647 w 5232"/>
              <a:gd name="T71" fmla="*/ 2147483647 h 1104"/>
              <a:gd name="T72" fmla="*/ 0 w 5232"/>
              <a:gd name="T73" fmla="*/ 2147483647 h 110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232"/>
              <a:gd name="T112" fmla="*/ 0 h 1104"/>
              <a:gd name="T113" fmla="*/ 5232 w 5232"/>
              <a:gd name="T114" fmla="*/ 1104 h 110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232" h="1104">
                <a:moveTo>
                  <a:pt x="0" y="336"/>
                </a:moveTo>
                <a:lnTo>
                  <a:pt x="0" y="1104"/>
                </a:lnTo>
                <a:lnTo>
                  <a:pt x="5232" y="1104"/>
                </a:lnTo>
                <a:lnTo>
                  <a:pt x="5232" y="0"/>
                </a:lnTo>
                <a:lnTo>
                  <a:pt x="5040" y="0"/>
                </a:lnTo>
                <a:lnTo>
                  <a:pt x="5040" y="336"/>
                </a:lnTo>
                <a:lnTo>
                  <a:pt x="4992" y="336"/>
                </a:lnTo>
                <a:lnTo>
                  <a:pt x="4992" y="768"/>
                </a:lnTo>
                <a:lnTo>
                  <a:pt x="4464" y="768"/>
                </a:lnTo>
                <a:lnTo>
                  <a:pt x="4320" y="1104"/>
                </a:lnTo>
                <a:lnTo>
                  <a:pt x="4032" y="336"/>
                </a:lnTo>
                <a:lnTo>
                  <a:pt x="3840" y="336"/>
                </a:lnTo>
                <a:lnTo>
                  <a:pt x="3840" y="1104"/>
                </a:lnTo>
                <a:lnTo>
                  <a:pt x="3648" y="1104"/>
                </a:lnTo>
                <a:lnTo>
                  <a:pt x="3648" y="768"/>
                </a:lnTo>
                <a:lnTo>
                  <a:pt x="3072" y="768"/>
                </a:lnTo>
                <a:lnTo>
                  <a:pt x="3072" y="336"/>
                </a:lnTo>
                <a:lnTo>
                  <a:pt x="2736" y="336"/>
                </a:lnTo>
                <a:lnTo>
                  <a:pt x="2736" y="0"/>
                </a:lnTo>
                <a:lnTo>
                  <a:pt x="2544" y="0"/>
                </a:lnTo>
                <a:lnTo>
                  <a:pt x="2544" y="336"/>
                </a:lnTo>
                <a:lnTo>
                  <a:pt x="2496" y="336"/>
                </a:lnTo>
                <a:lnTo>
                  <a:pt x="2496" y="768"/>
                </a:lnTo>
                <a:lnTo>
                  <a:pt x="1968" y="768"/>
                </a:lnTo>
                <a:lnTo>
                  <a:pt x="1824" y="1104"/>
                </a:lnTo>
                <a:lnTo>
                  <a:pt x="1536" y="336"/>
                </a:lnTo>
                <a:lnTo>
                  <a:pt x="1344" y="336"/>
                </a:lnTo>
                <a:lnTo>
                  <a:pt x="1344" y="1104"/>
                </a:lnTo>
                <a:lnTo>
                  <a:pt x="1152" y="1104"/>
                </a:lnTo>
                <a:lnTo>
                  <a:pt x="1152" y="768"/>
                </a:lnTo>
                <a:lnTo>
                  <a:pt x="576" y="768"/>
                </a:lnTo>
                <a:lnTo>
                  <a:pt x="576" y="336"/>
                </a:lnTo>
                <a:lnTo>
                  <a:pt x="240" y="336"/>
                </a:lnTo>
                <a:lnTo>
                  <a:pt x="240" y="0"/>
                </a:lnTo>
                <a:lnTo>
                  <a:pt x="48" y="0"/>
                </a:lnTo>
                <a:lnTo>
                  <a:pt x="48" y="336"/>
                </a:lnTo>
                <a:lnTo>
                  <a:pt x="0" y="336"/>
                </a:lnTo>
                <a:close/>
              </a:path>
            </a:pathLst>
          </a:custGeom>
          <a:solidFill>
            <a:srgbClr val="80008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en-GB"/>
          </a:p>
        </p:txBody>
      </p:sp>
      <p:sp>
        <p:nvSpPr>
          <p:cNvPr id="35848" name="Rectangle 78"/>
          <p:cNvSpPr>
            <a:spLocks noChangeArrowheads="1"/>
          </p:cNvSpPr>
          <p:nvPr/>
        </p:nvSpPr>
        <p:spPr bwMode="auto">
          <a:xfrm>
            <a:off x="1266825" y="3505200"/>
            <a:ext cx="7669213" cy="914400"/>
          </a:xfrm>
          <a:prstGeom prst="rect">
            <a:avLst/>
          </a:prstGeom>
          <a:solidFill>
            <a:srgbClr val="80008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grpSp>
        <p:nvGrpSpPr>
          <p:cNvPr id="35849" name="Group 79"/>
          <p:cNvGrpSpPr>
            <a:grpSpLocks/>
          </p:cNvGrpSpPr>
          <p:nvPr/>
        </p:nvGrpSpPr>
        <p:grpSpPr bwMode="auto">
          <a:xfrm>
            <a:off x="1125538" y="4419600"/>
            <a:ext cx="7529512" cy="1752600"/>
            <a:chOff x="816" y="1248"/>
            <a:chExt cx="5136" cy="1104"/>
          </a:xfrm>
        </p:grpSpPr>
        <p:sp>
          <p:nvSpPr>
            <p:cNvPr id="35863" name="Line 80"/>
            <p:cNvSpPr>
              <a:spLocks noChangeShapeType="1"/>
            </p:cNvSpPr>
            <p:nvPr/>
          </p:nvSpPr>
          <p:spPr bwMode="auto">
            <a:xfrm>
              <a:off x="816" y="1248"/>
              <a:ext cx="4464"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64" name="Line 81"/>
            <p:cNvSpPr>
              <a:spLocks noChangeShapeType="1"/>
            </p:cNvSpPr>
            <p:nvPr/>
          </p:nvSpPr>
          <p:spPr bwMode="auto">
            <a:xfrm>
              <a:off x="816" y="2016"/>
              <a:ext cx="4128"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65" name="Line 82"/>
            <p:cNvSpPr>
              <a:spLocks noChangeShapeType="1"/>
            </p:cNvSpPr>
            <p:nvPr/>
          </p:nvSpPr>
          <p:spPr bwMode="auto">
            <a:xfrm>
              <a:off x="816" y="2352"/>
              <a:ext cx="5136"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35850" name="Group 83"/>
          <p:cNvGrpSpPr>
            <a:grpSpLocks/>
          </p:cNvGrpSpPr>
          <p:nvPr/>
        </p:nvGrpSpPr>
        <p:grpSpPr bwMode="auto">
          <a:xfrm flipV="1">
            <a:off x="1125538" y="1752600"/>
            <a:ext cx="7529512" cy="1752600"/>
            <a:chOff x="816" y="1248"/>
            <a:chExt cx="5136" cy="1104"/>
          </a:xfrm>
        </p:grpSpPr>
        <p:sp>
          <p:nvSpPr>
            <p:cNvPr id="35860" name="Line 84"/>
            <p:cNvSpPr>
              <a:spLocks noChangeShapeType="1"/>
            </p:cNvSpPr>
            <p:nvPr/>
          </p:nvSpPr>
          <p:spPr bwMode="auto">
            <a:xfrm>
              <a:off x="816" y="1248"/>
              <a:ext cx="4464"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61" name="Line 85"/>
            <p:cNvSpPr>
              <a:spLocks noChangeShapeType="1"/>
            </p:cNvSpPr>
            <p:nvPr/>
          </p:nvSpPr>
          <p:spPr bwMode="auto">
            <a:xfrm>
              <a:off x="816" y="2016"/>
              <a:ext cx="4128"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5862" name="Line 86"/>
            <p:cNvSpPr>
              <a:spLocks noChangeShapeType="1"/>
            </p:cNvSpPr>
            <p:nvPr/>
          </p:nvSpPr>
          <p:spPr bwMode="auto">
            <a:xfrm>
              <a:off x="816" y="2352"/>
              <a:ext cx="5136"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sp>
        <p:nvSpPr>
          <p:cNvPr id="35851" name="Line 87"/>
          <p:cNvSpPr>
            <a:spLocks noChangeShapeType="1"/>
          </p:cNvSpPr>
          <p:nvPr/>
        </p:nvSpPr>
        <p:spPr bwMode="auto">
          <a:xfrm>
            <a:off x="1125538" y="3962400"/>
            <a:ext cx="78105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nvGrpSpPr>
          <p:cNvPr id="35852" name="Group 96"/>
          <p:cNvGrpSpPr>
            <a:grpSpLocks/>
          </p:cNvGrpSpPr>
          <p:nvPr/>
        </p:nvGrpSpPr>
        <p:grpSpPr bwMode="auto">
          <a:xfrm>
            <a:off x="280988" y="1524000"/>
            <a:ext cx="712787" cy="4757738"/>
            <a:chOff x="192" y="960"/>
            <a:chExt cx="486" cy="2997"/>
          </a:xfrm>
        </p:grpSpPr>
        <p:sp>
          <p:nvSpPr>
            <p:cNvPr id="35853" name="Text Box 88"/>
            <p:cNvSpPr txBox="1">
              <a:spLocks noChangeArrowheads="1"/>
            </p:cNvSpPr>
            <p:nvPr/>
          </p:nvSpPr>
          <p:spPr bwMode="auto">
            <a:xfrm>
              <a:off x="230" y="2042"/>
              <a:ext cx="3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20%</a:t>
              </a:r>
            </a:p>
          </p:txBody>
        </p:sp>
        <p:sp>
          <p:nvSpPr>
            <p:cNvPr id="35854" name="Text Box 89"/>
            <p:cNvSpPr txBox="1">
              <a:spLocks noChangeArrowheads="1"/>
            </p:cNvSpPr>
            <p:nvPr/>
          </p:nvSpPr>
          <p:spPr bwMode="auto">
            <a:xfrm>
              <a:off x="240" y="2640"/>
              <a:ext cx="3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20%</a:t>
              </a:r>
            </a:p>
          </p:txBody>
        </p:sp>
        <p:sp>
          <p:nvSpPr>
            <p:cNvPr id="35855" name="Text Box 90"/>
            <p:cNvSpPr txBox="1">
              <a:spLocks noChangeArrowheads="1"/>
            </p:cNvSpPr>
            <p:nvPr/>
          </p:nvSpPr>
          <p:spPr bwMode="auto">
            <a:xfrm>
              <a:off x="240" y="2352"/>
              <a:ext cx="39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  0%</a:t>
              </a:r>
            </a:p>
          </p:txBody>
        </p:sp>
        <p:sp>
          <p:nvSpPr>
            <p:cNvPr id="35856" name="Text Box 91"/>
            <p:cNvSpPr txBox="1">
              <a:spLocks noChangeArrowheads="1"/>
            </p:cNvSpPr>
            <p:nvPr/>
          </p:nvSpPr>
          <p:spPr bwMode="auto">
            <a:xfrm>
              <a:off x="240" y="3408"/>
              <a:ext cx="3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76%</a:t>
              </a:r>
            </a:p>
          </p:txBody>
        </p:sp>
        <p:sp>
          <p:nvSpPr>
            <p:cNvPr id="35857" name="Text Box 92"/>
            <p:cNvSpPr txBox="1">
              <a:spLocks noChangeArrowheads="1"/>
            </p:cNvSpPr>
            <p:nvPr/>
          </p:nvSpPr>
          <p:spPr bwMode="auto">
            <a:xfrm>
              <a:off x="240" y="1296"/>
              <a:ext cx="3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76%</a:t>
              </a:r>
            </a:p>
          </p:txBody>
        </p:sp>
        <p:sp>
          <p:nvSpPr>
            <p:cNvPr id="35858" name="Text Box 93"/>
            <p:cNvSpPr txBox="1">
              <a:spLocks noChangeArrowheads="1"/>
            </p:cNvSpPr>
            <p:nvPr/>
          </p:nvSpPr>
          <p:spPr bwMode="auto">
            <a:xfrm>
              <a:off x="192" y="960"/>
              <a:ext cx="48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100%</a:t>
              </a:r>
            </a:p>
          </p:txBody>
        </p:sp>
        <p:sp>
          <p:nvSpPr>
            <p:cNvPr id="35859" name="Text Box 94"/>
            <p:cNvSpPr txBox="1">
              <a:spLocks noChangeArrowheads="1"/>
            </p:cNvSpPr>
            <p:nvPr/>
          </p:nvSpPr>
          <p:spPr bwMode="auto">
            <a:xfrm>
              <a:off x="192" y="3744"/>
              <a:ext cx="48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100%</a:t>
              </a:r>
            </a:p>
          </p:txBody>
        </p:sp>
      </p:grpSp>
      <p:cxnSp>
        <p:nvCxnSpPr>
          <p:cNvPr id="94" name="Straight Arrow Connector 93"/>
          <p:cNvCxnSpPr>
            <a:cxnSpLocks/>
          </p:cNvCxnSpPr>
          <p:nvPr/>
        </p:nvCxnSpPr>
        <p:spPr bwMode="auto">
          <a:xfrm>
            <a:off x="2322222" y="1123950"/>
            <a:ext cx="807504" cy="216820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7" name="Straight Arrow Connector 96"/>
          <p:cNvCxnSpPr>
            <a:cxnSpLocks/>
          </p:cNvCxnSpPr>
          <p:nvPr/>
        </p:nvCxnSpPr>
        <p:spPr bwMode="auto">
          <a:xfrm>
            <a:off x="3208025" y="1146175"/>
            <a:ext cx="152818" cy="11209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9" name="Straight Arrow Connector 98"/>
          <p:cNvCxnSpPr>
            <a:cxnSpLocks/>
          </p:cNvCxnSpPr>
          <p:nvPr/>
        </p:nvCxnSpPr>
        <p:spPr bwMode="auto">
          <a:xfrm>
            <a:off x="4719234" y="1123950"/>
            <a:ext cx="311554" cy="5826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377296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395288" y="331788"/>
            <a:ext cx="8018462"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AU" altLang="en-US" sz="2400" b="1"/>
              <a:t>The Analogue Video Signal</a:t>
            </a:r>
          </a:p>
        </p:txBody>
      </p:sp>
      <p:sp>
        <p:nvSpPr>
          <p:cNvPr id="282627" name="Rectangle 3"/>
          <p:cNvSpPr>
            <a:spLocks noGrp="1" noChangeArrowheads="1"/>
          </p:cNvSpPr>
          <p:nvPr>
            <p:ph type="body" idx="1"/>
          </p:nvPr>
        </p:nvSpPr>
        <p:spPr bwMode="auto">
          <a:xfrm>
            <a:off x="395288" y="952500"/>
            <a:ext cx="8018462" cy="1652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AU" altLang="en-US" sz="1600"/>
              <a:t>First Television Pictures were Black &amp; White </a:t>
            </a:r>
          </a:p>
          <a:p>
            <a:r>
              <a:rPr lang="en-AU" altLang="en-US" sz="1600"/>
              <a:t>Referred to as Luminance</a:t>
            </a:r>
          </a:p>
          <a:p>
            <a:r>
              <a:rPr lang="en-AU" altLang="en-US" sz="1600"/>
              <a:t>Video refers to the linear base-band signal that contains the image </a:t>
            </a:r>
            <a:br>
              <a:rPr lang="en-AU" altLang="en-US" sz="1600"/>
            </a:br>
            <a:r>
              <a:rPr lang="en-AU" altLang="en-US" sz="1600"/>
              <a:t>information</a:t>
            </a:r>
          </a:p>
        </p:txBody>
      </p:sp>
      <p:grpSp>
        <p:nvGrpSpPr>
          <p:cNvPr id="2" name="Group 155"/>
          <p:cNvGrpSpPr>
            <a:grpSpLocks/>
          </p:cNvGrpSpPr>
          <p:nvPr/>
        </p:nvGrpSpPr>
        <p:grpSpPr bwMode="auto">
          <a:xfrm>
            <a:off x="1117600" y="3811588"/>
            <a:ext cx="1595438" cy="1554162"/>
            <a:chOff x="586" y="2296"/>
            <a:chExt cx="889" cy="1660"/>
          </a:xfrm>
        </p:grpSpPr>
        <p:sp>
          <p:nvSpPr>
            <p:cNvPr id="19513" name="Text Box 47"/>
            <p:cNvSpPr txBox="1">
              <a:spLocks noChangeArrowheads="1"/>
            </p:cNvSpPr>
            <p:nvPr/>
          </p:nvSpPr>
          <p:spPr bwMode="auto">
            <a:xfrm>
              <a:off x="586" y="2296"/>
              <a:ext cx="889" cy="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Front  	Back</a:t>
              </a:r>
              <a:br>
                <a:rPr lang="en-AU" altLang="en-US" sz="1400"/>
              </a:br>
              <a:r>
                <a:rPr lang="en-AU" altLang="en-US" sz="1400"/>
                <a:t>Porch	Porch</a:t>
              </a:r>
            </a:p>
          </p:txBody>
        </p:sp>
        <p:sp>
          <p:nvSpPr>
            <p:cNvPr id="19514" name="Line 48"/>
            <p:cNvSpPr>
              <a:spLocks noChangeShapeType="1"/>
            </p:cNvSpPr>
            <p:nvPr/>
          </p:nvSpPr>
          <p:spPr bwMode="auto">
            <a:xfrm>
              <a:off x="699" y="2878"/>
              <a:ext cx="202" cy="1078"/>
            </a:xfrm>
            <a:prstGeom prst="line">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19515" name="Line 49"/>
            <p:cNvSpPr>
              <a:spLocks noChangeShapeType="1"/>
            </p:cNvSpPr>
            <p:nvPr/>
          </p:nvSpPr>
          <p:spPr bwMode="auto">
            <a:xfrm flipH="1">
              <a:off x="1035" y="2904"/>
              <a:ext cx="198" cy="1043"/>
            </a:xfrm>
            <a:prstGeom prst="line">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3" name="Group 160"/>
          <p:cNvGrpSpPr>
            <a:grpSpLocks/>
          </p:cNvGrpSpPr>
          <p:nvPr/>
        </p:nvGrpSpPr>
        <p:grpSpPr bwMode="auto">
          <a:xfrm>
            <a:off x="1536700" y="5946775"/>
            <a:ext cx="3602038" cy="522288"/>
            <a:chOff x="912" y="3696"/>
            <a:chExt cx="2917" cy="559"/>
          </a:xfrm>
        </p:grpSpPr>
        <p:sp>
          <p:nvSpPr>
            <p:cNvPr id="19511" name="Text Box 46"/>
            <p:cNvSpPr txBox="1">
              <a:spLocks noChangeArrowheads="1"/>
            </p:cNvSpPr>
            <p:nvPr/>
          </p:nvSpPr>
          <p:spPr bwMode="auto">
            <a:xfrm>
              <a:off x="3312" y="3696"/>
              <a:ext cx="517" cy="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Sync</a:t>
              </a:r>
              <a:br>
                <a:rPr lang="en-AU" altLang="en-US" sz="1400"/>
              </a:br>
              <a:r>
                <a:rPr lang="en-AU" altLang="en-US" sz="1400"/>
                <a:t>Pulse</a:t>
              </a:r>
            </a:p>
          </p:txBody>
        </p:sp>
        <p:sp>
          <p:nvSpPr>
            <p:cNvPr id="19512" name="Text Box 61"/>
            <p:cNvSpPr txBox="1">
              <a:spLocks noChangeArrowheads="1"/>
            </p:cNvSpPr>
            <p:nvPr/>
          </p:nvSpPr>
          <p:spPr bwMode="auto">
            <a:xfrm>
              <a:off x="912" y="3696"/>
              <a:ext cx="517" cy="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Sync</a:t>
              </a:r>
              <a:br>
                <a:rPr lang="en-AU" altLang="en-US" sz="1400"/>
              </a:br>
              <a:r>
                <a:rPr lang="en-AU" altLang="en-US" sz="1400"/>
                <a:t>Pulse</a:t>
              </a:r>
            </a:p>
          </p:txBody>
        </p:sp>
      </p:grpSp>
      <p:grpSp>
        <p:nvGrpSpPr>
          <p:cNvPr id="4" name="Group 115"/>
          <p:cNvGrpSpPr>
            <a:grpSpLocks/>
          </p:cNvGrpSpPr>
          <p:nvPr/>
        </p:nvGrpSpPr>
        <p:grpSpPr bwMode="auto">
          <a:xfrm>
            <a:off x="1614488" y="4711700"/>
            <a:ext cx="6461125" cy="1033463"/>
            <a:chOff x="960" y="1248"/>
            <a:chExt cx="5232" cy="1104"/>
          </a:xfrm>
        </p:grpSpPr>
        <p:sp>
          <p:nvSpPr>
            <p:cNvPr id="19477" name="Line 116"/>
            <p:cNvSpPr>
              <a:spLocks noChangeShapeType="1"/>
            </p:cNvSpPr>
            <p:nvPr/>
          </p:nvSpPr>
          <p:spPr bwMode="auto">
            <a:xfrm>
              <a:off x="960" y="2016"/>
              <a:ext cx="4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78" name="Line 117"/>
            <p:cNvSpPr>
              <a:spLocks noChangeShapeType="1"/>
            </p:cNvSpPr>
            <p:nvPr/>
          </p:nvSpPr>
          <p:spPr bwMode="auto">
            <a:xfrm flipH="1">
              <a:off x="1008"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79" name="Line 118"/>
            <p:cNvSpPr>
              <a:spLocks noChangeShapeType="1"/>
            </p:cNvSpPr>
            <p:nvPr/>
          </p:nvSpPr>
          <p:spPr bwMode="auto">
            <a:xfrm flipV="1">
              <a:off x="1010"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80" name="Line 119"/>
            <p:cNvSpPr>
              <a:spLocks noChangeShapeType="1"/>
            </p:cNvSpPr>
            <p:nvPr/>
          </p:nvSpPr>
          <p:spPr bwMode="auto">
            <a:xfrm flipH="1" flipV="1">
              <a:off x="1200"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81" name="Line 120"/>
            <p:cNvSpPr>
              <a:spLocks noChangeShapeType="1"/>
            </p:cNvSpPr>
            <p:nvPr/>
          </p:nvSpPr>
          <p:spPr bwMode="auto">
            <a:xfrm>
              <a:off x="1200"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82" name="Line 121"/>
            <p:cNvSpPr>
              <a:spLocks noChangeShapeType="1"/>
            </p:cNvSpPr>
            <p:nvPr/>
          </p:nvSpPr>
          <p:spPr bwMode="auto">
            <a:xfrm flipV="1">
              <a:off x="153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83" name="Line 122"/>
            <p:cNvSpPr>
              <a:spLocks noChangeShapeType="1"/>
            </p:cNvSpPr>
            <p:nvPr/>
          </p:nvSpPr>
          <p:spPr bwMode="auto">
            <a:xfrm>
              <a:off x="1536"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84" name="Line 123"/>
            <p:cNvSpPr>
              <a:spLocks noChangeShapeType="1"/>
            </p:cNvSpPr>
            <p:nvPr/>
          </p:nvSpPr>
          <p:spPr bwMode="auto">
            <a:xfrm flipV="1">
              <a:off x="2112"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85" name="Line 124"/>
            <p:cNvSpPr>
              <a:spLocks noChangeShapeType="1"/>
            </p:cNvSpPr>
            <p:nvPr/>
          </p:nvSpPr>
          <p:spPr bwMode="auto">
            <a:xfrm>
              <a:off x="2112"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86" name="Line 125"/>
            <p:cNvSpPr>
              <a:spLocks noChangeShapeType="1"/>
            </p:cNvSpPr>
            <p:nvPr/>
          </p:nvSpPr>
          <p:spPr bwMode="auto">
            <a:xfrm>
              <a:off x="2304"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87" name="Line 126"/>
            <p:cNvSpPr>
              <a:spLocks noChangeShapeType="1"/>
            </p:cNvSpPr>
            <p:nvPr/>
          </p:nvSpPr>
          <p:spPr bwMode="auto">
            <a:xfrm>
              <a:off x="2304"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88" name="Line 127"/>
            <p:cNvSpPr>
              <a:spLocks noChangeShapeType="1"/>
            </p:cNvSpPr>
            <p:nvPr/>
          </p:nvSpPr>
          <p:spPr bwMode="auto">
            <a:xfrm>
              <a:off x="345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89" name="Line 128"/>
            <p:cNvSpPr>
              <a:spLocks noChangeShapeType="1"/>
            </p:cNvSpPr>
            <p:nvPr/>
          </p:nvSpPr>
          <p:spPr bwMode="auto">
            <a:xfrm>
              <a:off x="3456"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90" name="Line 129"/>
            <p:cNvSpPr>
              <a:spLocks noChangeShapeType="1"/>
            </p:cNvSpPr>
            <p:nvPr/>
          </p:nvSpPr>
          <p:spPr bwMode="auto">
            <a:xfrm>
              <a:off x="3504"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91" name="Line 130"/>
            <p:cNvSpPr>
              <a:spLocks noChangeShapeType="1"/>
            </p:cNvSpPr>
            <p:nvPr/>
          </p:nvSpPr>
          <p:spPr bwMode="auto">
            <a:xfrm flipV="1">
              <a:off x="3506"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92" name="Line 131"/>
            <p:cNvSpPr>
              <a:spLocks noChangeShapeType="1"/>
            </p:cNvSpPr>
            <p:nvPr/>
          </p:nvSpPr>
          <p:spPr bwMode="auto">
            <a:xfrm flipH="1" flipV="1">
              <a:off x="3696"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93" name="Line 132"/>
            <p:cNvSpPr>
              <a:spLocks noChangeShapeType="1"/>
            </p:cNvSpPr>
            <p:nvPr/>
          </p:nvSpPr>
          <p:spPr bwMode="auto">
            <a:xfrm>
              <a:off x="3696"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94" name="Line 133"/>
            <p:cNvSpPr>
              <a:spLocks noChangeShapeType="1"/>
            </p:cNvSpPr>
            <p:nvPr/>
          </p:nvSpPr>
          <p:spPr bwMode="auto">
            <a:xfrm flipV="1">
              <a:off x="403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95" name="Line 134"/>
            <p:cNvSpPr>
              <a:spLocks noChangeShapeType="1"/>
            </p:cNvSpPr>
            <p:nvPr/>
          </p:nvSpPr>
          <p:spPr bwMode="auto">
            <a:xfrm>
              <a:off x="4032"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96" name="Line 135"/>
            <p:cNvSpPr>
              <a:spLocks noChangeShapeType="1"/>
            </p:cNvSpPr>
            <p:nvPr/>
          </p:nvSpPr>
          <p:spPr bwMode="auto">
            <a:xfrm flipV="1">
              <a:off x="4608"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97" name="Line 136"/>
            <p:cNvSpPr>
              <a:spLocks noChangeShapeType="1"/>
            </p:cNvSpPr>
            <p:nvPr/>
          </p:nvSpPr>
          <p:spPr bwMode="auto">
            <a:xfrm>
              <a:off x="4608"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98" name="Line 137"/>
            <p:cNvSpPr>
              <a:spLocks noChangeShapeType="1"/>
            </p:cNvSpPr>
            <p:nvPr/>
          </p:nvSpPr>
          <p:spPr bwMode="auto">
            <a:xfrm>
              <a:off x="4800"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99" name="Line 138"/>
            <p:cNvSpPr>
              <a:spLocks noChangeShapeType="1"/>
            </p:cNvSpPr>
            <p:nvPr/>
          </p:nvSpPr>
          <p:spPr bwMode="auto">
            <a:xfrm>
              <a:off x="4800"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00" name="Line 139"/>
            <p:cNvSpPr>
              <a:spLocks noChangeShapeType="1"/>
            </p:cNvSpPr>
            <p:nvPr/>
          </p:nvSpPr>
          <p:spPr bwMode="auto">
            <a:xfrm>
              <a:off x="5424"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01" name="Line 140"/>
            <p:cNvSpPr>
              <a:spLocks noChangeShapeType="1"/>
            </p:cNvSpPr>
            <p:nvPr/>
          </p:nvSpPr>
          <p:spPr bwMode="auto">
            <a:xfrm>
              <a:off x="595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02" name="Line 141"/>
            <p:cNvSpPr>
              <a:spLocks noChangeShapeType="1"/>
            </p:cNvSpPr>
            <p:nvPr/>
          </p:nvSpPr>
          <p:spPr bwMode="auto">
            <a:xfrm>
              <a:off x="5952"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03" name="Line 142"/>
            <p:cNvSpPr>
              <a:spLocks noChangeShapeType="1"/>
            </p:cNvSpPr>
            <p:nvPr/>
          </p:nvSpPr>
          <p:spPr bwMode="auto">
            <a:xfrm>
              <a:off x="6000"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04" name="Line 143"/>
            <p:cNvSpPr>
              <a:spLocks noChangeShapeType="1"/>
            </p:cNvSpPr>
            <p:nvPr/>
          </p:nvSpPr>
          <p:spPr bwMode="auto">
            <a:xfrm flipV="1">
              <a:off x="6002"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05" name="Line 144"/>
            <p:cNvSpPr>
              <a:spLocks noChangeShapeType="1"/>
            </p:cNvSpPr>
            <p:nvPr/>
          </p:nvSpPr>
          <p:spPr bwMode="auto">
            <a:xfrm flipH="1" flipV="1">
              <a:off x="6192"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06" name="Line 145"/>
            <p:cNvSpPr>
              <a:spLocks noChangeShapeType="1"/>
            </p:cNvSpPr>
            <p:nvPr/>
          </p:nvSpPr>
          <p:spPr bwMode="auto">
            <a:xfrm flipV="1">
              <a:off x="4992"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07" name="Line 146"/>
            <p:cNvSpPr>
              <a:spLocks noChangeShapeType="1"/>
            </p:cNvSpPr>
            <p:nvPr/>
          </p:nvSpPr>
          <p:spPr bwMode="auto">
            <a:xfrm>
              <a:off x="5280"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08" name="Line 147"/>
            <p:cNvSpPr>
              <a:spLocks noChangeShapeType="1"/>
            </p:cNvSpPr>
            <p:nvPr/>
          </p:nvSpPr>
          <p:spPr bwMode="auto">
            <a:xfrm>
              <a:off x="2928"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09" name="Line 148"/>
            <p:cNvSpPr>
              <a:spLocks noChangeShapeType="1"/>
            </p:cNvSpPr>
            <p:nvPr/>
          </p:nvSpPr>
          <p:spPr bwMode="auto">
            <a:xfrm flipV="1">
              <a:off x="2496"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510" name="Line 149"/>
            <p:cNvSpPr>
              <a:spLocks noChangeShapeType="1"/>
            </p:cNvSpPr>
            <p:nvPr/>
          </p:nvSpPr>
          <p:spPr bwMode="auto">
            <a:xfrm>
              <a:off x="2784"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5" name="Group 156"/>
          <p:cNvGrpSpPr>
            <a:grpSpLocks/>
          </p:cNvGrpSpPr>
          <p:nvPr/>
        </p:nvGrpSpPr>
        <p:grpSpPr bwMode="auto">
          <a:xfrm>
            <a:off x="395288" y="4710113"/>
            <a:ext cx="7172325" cy="1341437"/>
            <a:chOff x="144" y="2544"/>
            <a:chExt cx="5808" cy="1433"/>
          </a:xfrm>
        </p:grpSpPr>
        <p:sp>
          <p:nvSpPr>
            <p:cNvPr id="19470" name="Text Box 58"/>
            <p:cNvSpPr txBox="1">
              <a:spLocks noChangeArrowheads="1"/>
            </p:cNvSpPr>
            <p:nvPr/>
          </p:nvSpPr>
          <p:spPr bwMode="auto">
            <a:xfrm>
              <a:off x="336" y="3312"/>
              <a:ext cx="51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0 mV</a:t>
              </a:r>
            </a:p>
          </p:txBody>
        </p:sp>
        <p:sp>
          <p:nvSpPr>
            <p:cNvPr id="19471" name="Text Box 59"/>
            <p:cNvSpPr txBox="1">
              <a:spLocks noChangeArrowheads="1"/>
            </p:cNvSpPr>
            <p:nvPr/>
          </p:nvSpPr>
          <p:spPr bwMode="auto">
            <a:xfrm>
              <a:off x="192" y="2544"/>
              <a:ext cx="70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700 mV</a:t>
              </a:r>
            </a:p>
          </p:txBody>
        </p:sp>
        <p:sp>
          <p:nvSpPr>
            <p:cNvPr id="19472" name="Text Box 60"/>
            <p:cNvSpPr txBox="1">
              <a:spLocks noChangeArrowheads="1"/>
            </p:cNvSpPr>
            <p:nvPr/>
          </p:nvSpPr>
          <p:spPr bwMode="auto">
            <a:xfrm>
              <a:off x="144" y="3648"/>
              <a:ext cx="787"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-300 mV</a:t>
              </a:r>
            </a:p>
          </p:txBody>
        </p:sp>
        <p:grpSp>
          <p:nvGrpSpPr>
            <p:cNvPr id="19473" name="Group 150"/>
            <p:cNvGrpSpPr>
              <a:grpSpLocks/>
            </p:cNvGrpSpPr>
            <p:nvPr/>
          </p:nvGrpSpPr>
          <p:grpSpPr bwMode="auto">
            <a:xfrm>
              <a:off x="816" y="2640"/>
              <a:ext cx="5136" cy="1104"/>
              <a:chOff x="816" y="1248"/>
              <a:chExt cx="5136" cy="1104"/>
            </a:xfrm>
          </p:grpSpPr>
          <p:sp>
            <p:nvSpPr>
              <p:cNvPr id="19474" name="Line 151"/>
              <p:cNvSpPr>
                <a:spLocks noChangeShapeType="1"/>
              </p:cNvSpPr>
              <p:nvPr/>
            </p:nvSpPr>
            <p:spPr bwMode="auto">
              <a:xfrm>
                <a:off x="816" y="1248"/>
                <a:ext cx="4464"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75" name="Line 152"/>
              <p:cNvSpPr>
                <a:spLocks noChangeShapeType="1"/>
              </p:cNvSpPr>
              <p:nvPr/>
            </p:nvSpPr>
            <p:spPr bwMode="auto">
              <a:xfrm>
                <a:off x="816" y="2016"/>
                <a:ext cx="4128"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9476" name="Line 153"/>
              <p:cNvSpPr>
                <a:spLocks noChangeShapeType="1"/>
              </p:cNvSpPr>
              <p:nvPr/>
            </p:nvSpPr>
            <p:spPr bwMode="auto">
              <a:xfrm>
                <a:off x="816" y="2352"/>
                <a:ext cx="5136"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pic>
        <p:nvPicPr>
          <p:cNvPr id="19464" name="Picture 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938" y="2840038"/>
            <a:ext cx="223520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cxnSp>
        <p:nvCxnSpPr>
          <p:cNvPr id="19465" name="Straight Connector 144"/>
          <p:cNvCxnSpPr>
            <a:cxnSpLocks noChangeShapeType="1"/>
          </p:cNvCxnSpPr>
          <p:nvPr/>
        </p:nvCxnSpPr>
        <p:spPr bwMode="auto">
          <a:xfrm rot="5400000">
            <a:off x="5265738" y="4679950"/>
            <a:ext cx="40640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9466" name="Straight Connector 150"/>
          <p:cNvCxnSpPr>
            <a:cxnSpLocks noChangeShapeType="1"/>
          </p:cNvCxnSpPr>
          <p:nvPr/>
        </p:nvCxnSpPr>
        <p:spPr bwMode="auto">
          <a:xfrm rot="5400000">
            <a:off x="5914232" y="4696619"/>
            <a:ext cx="404812"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9467" name="Straight Connector 151"/>
          <p:cNvCxnSpPr>
            <a:cxnSpLocks noChangeShapeType="1"/>
          </p:cNvCxnSpPr>
          <p:nvPr/>
        </p:nvCxnSpPr>
        <p:spPr bwMode="auto">
          <a:xfrm rot="5400000">
            <a:off x="6146007" y="4706144"/>
            <a:ext cx="404812"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9468" name="Straight Connector 152"/>
          <p:cNvCxnSpPr>
            <a:cxnSpLocks noChangeShapeType="1"/>
          </p:cNvCxnSpPr>
          <p:nvPr/>
        </p:nvCxnSpPr>
        <p:spPr bwMode="auto">
          <a:xfrm rot="5400000">
            <a:off x="6740525" y="4722813"/>
            <a:ext cx="40640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9469" name="Straight Connector 153"/>
          <p:cNvCxnSpPr>
            <a:cxnSpLocks noChangeShapeType="1"/>
          </p:cNvCxnSpPr>
          <p:nvPr/>
        </p:nvCxnSpPr>
        <p:spPr bwMode="auto">
          <a:xfrm rot="5400000">
            <a:off x="7527132" y="4731544"/>
            <a:ext cx="404812"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6874977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26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826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826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0-#ppt_w/2"/>
                                          </p:val>
                                        </p:tav>
                                        <p:tav tm="100000">
                                          <p:val>
                                            <p:strVal val="#ppt_x"/>
                                          </p:val>
                                        </p:tav>
                                      </p:tavLst>
                                    </p:anim>
                                    <p:anim calcmode="lin" valueType="num">
                                      <p:cBhvr additive="base">
                                        <p:cTn id="3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7"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ChangeArrowheads="1"/>
          </p:cNvSpPr>
          <p:nvPr>
            <p:ph type="title"/>
          </p:nvPr>
        </p:nvSpPr>
        <p:spPr bwMode="auto">
          <a:xfrm>
            <a:off x="395288" y="331788"/>
            <a:ext cx="8651875"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AU" altLang="en-US" sz="2400" b="1"/>
              <a:t>TV Modulation – PAL, AM</a:t>
            </a:r>
          </a:p>
        </p:txBody>
      </p:sp>
      <p:sp>
        <p:nvSpPr>
          <p:cNvPr id="36867" name="Rectangle 1027"/>
          <p:cNvSpPr>
            <a:spLocks noGrp="1" noChangeArrowheads="1"/>
          </p:cNvSpPr>
          <p:nvPr>
            <p:ph type="body" idx="1"/>
          </p:nvPr>
        </p:nvSpPr>
        <p:spPr bwMode="auto">
          <a:xfrm>
            <a:off x="392113" y="695326"/>
            <a:ext cx="4302351"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en-AU" altLang="en-US" sz="1600"/>
              <a:t>Colour signal added to AM signal</a:t>
            </a:r>
          </a:p>
        </p:txBody>
      </p:sp>
      <p:grpSp>
        <p:nvGrpSpPr>
          <p:cNvPr id="36868" name="Group 1028"/>
          <p:cNvGrpSpPr>
            <a:grpSpLocks/>
          </p:cNvGrpSpPr>
          <p:nvPr/>
        </p:nvGrpSpPr>
        <p:grpSpPr bwMode="auto">
          <a:xfrm flipV="1">
            <a:off x="1217839" y="2106612"/>
            <a:ext cx="7669213" cy="1752600"/>
            <a:chOff x="960" y="1248"/>
            <a:chExt cx="5232" cy="1104"/>
          </a:xfrm>
        </p:grpSpPr>
        <p:sp>
          <p:nvSpPr>
            <p:cNvPr id="36947" name="Line 1029"/>
            <p:cNvSpPr>
              <a:spLocks noChangeShapeType="1"/>
            </p:cNvSpPr>
            <p:nvPr/>
          </p:nvSpPr>
          <p:spPr bwMode="auto">
            <a:xfrm>
              <a:off x="960" y="2016"/>
              <a:ext cx="4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48" name="Line 1030"/>
            <p:cNvSpPr>
              <a:spLocks noChangeShapeType="1"/>
            </p:cNvSpPr>
            <p:nvPr/>
          </p:nvSpPr>
          <p:spPr bwMode="auto">
            <a:xfrm flipH="1">
              <a:off x="1008"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49" name="Line 1031"/>
            <p:cNvSpPr>
              <a:spLocks noChangeShapeType="1"/>
            </p:cNvSpPr>
            <p:nvPr/>
          </p:nvSpPr>
          <p:spPr bwMode="auto">
            <a:xfrm flipV="1">
              <a:off x="1010"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50" name="Line 1032"/>
            <p:cNvSpPr>
              <a:spLocks noChangeShapeType="1"/>
            </p:cNvSpPr>
            <p:nvPr/>
          </p:nvSpPr>
          <p:spPr bwMode="auto">
            <a:xfrm flipH="1" flipV="1">
              <a:off x="1200"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51" name="Line 1033"/>
            <p:cNvSpPr>
              <a:spLocks noChangeShapeType="1"/>
            </p:cNvSpPr>
            <p:nvPr/>
          </p:nvSpPr>
          <p:spPr bwMode="auto">
            <a:xfrm>
              <a:off x="1200"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52" name="Line 1034"/>
            <p:cNvSpPr>
              <a:spLocks noChangeShapeType="1"/>
            </p:cNvSpPr>
            <p:nvPr/>
          </p:nvSpPr>
          <p:spPr bwMode="auto">
            <a:xfrm flipV="1">
              <a:off x="153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53" name="Line 1035"/>
            <p:cNvSpPr>
              <a:spLocks noChangeShapeType="1"/>
            </p:cNvSpPr>
            <p:nvPr/>
          </p:nvSpPr>
          <p:spPr bwMode="auto">
            <a:xfrm>
              <a:off x="1536"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54" name="Line 1036"/>
            <p:cNvSpPr>
              <a:spLocks noChangeShapeType="1"/>
            </p:cNvSpPr>
            <p:nvPr/>
          </p:nvSpPr>
          <p:spPr bwMode="auto">
            <a:xfrm flipV="1">
              <a:off x="2112"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55" name="Line 1037"/>
            <p:cNvSpPr>
              <a:spLocks noChangeShapeType="1"/>
            </p:cNvSpPr>
            <p:nvPr/>
          </p:nvSpPr>
          <p:spPr bwMode="auto">
            <a:xfrm>
              <a:off x="2112"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56" name="Line 1038"/>
            <p:cNvSpPr>
              <a:spLocks noChangeShapeType="1"/>
            </p:cNvSpPr>
            <p:nvPr/>
          </p:nvSpPr>
          <p:spPr bwMode="auto">
            <a:xfrm>
              <a:off x="2304"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57" name="Line 1039"/>
            <p:cNvSpPr>
              <a:spLocks noChangeShapeType="1"/>
            </p:cNvSpPr>
            <p:nvPr/>
          </p:nvSpPr>
          <p:spPr bwMode="auto">
            <a:xfrm>
              <a:off x="2304"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58" name="Line 1040"/>
            <p:cNvSpPr>
              <a:spLocks noChangeShapeType="1"/>
            </p:cNvSpPr>
            <p:nvPr/>
          </p:nvSpPr>
          <p:spPr bwMode="auto">
            <a:xfrm>
              <a:off x="345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59" name="Line 1041"/>
            <p:cNvSpPr>
              <a:spLocks noChangeShapeType="1"/>
            </p:cNvSpPr>
            <p:nvPr/>
          </p:nvSpPr>
          <p:spPr bwMode="auto">
            <a:xfrm>
              <a:off x="3456"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60" name="Line 1042"/>
            <p:cNvSpPr>
              <a:spLocks noChangeShapeType="1"/>
            </p:cNvSpPr>
            <p:nvPr/>
          </p:nvSpPr>
          <p:spPr bwMode="auto">
            <a:xfrm>
              <a:off x="3504"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61" name="Line 1043"/>
            <p:cNvSpPr>
              <a:spLocks noChangeShapeType="1"/>
            </p:cNvSpPr>
            <p:nvPr/>
          </p:nvSpPr>
          <p:spPr bwMode="auto">
            <a:xfrm flipV="1">
              <a:off x="3506"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62" name="Line 1044"/>
            <p:cNvSpPr>
              <a:spLocks noChangeShapeType="1"/>
            </p:cNvSpPr>
            <p:nvPr/>
          </p:nvSpPr>
          <p:spPr bwMode="auto">
            <a:xfrm flipH="1" flipV="1">
              <a:off x="3696"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63" name="Line 1045"/>
            <p:cNvSpPr>
              <a:spLocks noChangeShapeType="1"/>
            </p:cNvSpPr>
            <p:nvPr/>
          </p:nvSpPr>
          <p:spPr bwMode="auto">
            <a:xfrm>
              <a:off x="3696"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64" name="Line 1046"/>
            <p:cNvSpPr>
              <a:spLocks noChangeShapeType="1"/>
            </p:cNvSpPr>
            <p:nvPr/>
          </p:nvSpPr>
          <p:spPr bwMode="auto">
            <a:xfrm flipV="1">
              <a:off x="403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65" name="Line 1047"/>
            <p:cNvSpPr>
              <a:spLocks noChangeShapeType="1"/>
            </p:cNvSpPr>
            <p:nvPr/>
          </p:nvSpPr>
          <p:spPr bwMode="auto">
            <a:xfrm>
              <a:off x="4032"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66" name="Line 1048"/>
            <p:cNvSpPr>
              <a:spLocks noChangeShapeType="1"/>
            </p:cNvSpPr>
            <p:nvPr/>
          </p:nvSpPr>
          <p:spPr bwMode="auto">
            <a:xfrm flipV="1">
              <a:off x="4608"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67" name="Line 1049"/>
            <p:cNvSpPr>
              <a:spLocks noChangeShapeType="1"/>
            </p:cNvSpPr>
            <p:nvPr/>
          </p:nvSpPr>
          <p:spPr bwMode="auto">
            <a:xfrm>
              <a:off x="4608"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68" name="Line 1050"/>
            <p:cNvSpPr>
              <a:spLocks noChangeShapeType="1"/>
            </p:cNvSpPr>
            <p:nvPr/>
          </p:nvSpPr>
          <p:spPr bwMode="auto">
            <a:xfrm>
              <a:off x="4800"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69" name="Line 1051"/>
            <p:cNvSpPr>
              <a:spLocks noChangeShapeType="1"/>
            </p:cNvSpPr>
            <p:nvPr/>
          </p:nvSpPr>
          <p:spPr bwMode="auto">
            <a:xfrm>
              <a:off x="4800"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70" name="Line 1052"/>
            <p:cNvSpPr>
              <a:spLocks noChangeShapeType="1"/>
            </p:cNvSpPr>
            <p:nvPr/>
          </p:nvSpPr>
          <p:spPr bwMode="auto">
            <a:xfrm>
              <a:off x="5424"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71" name="Line 1053"/>
            <p:cNvSpPr>
              <a:spLocks noChangeShapeType="1"/>
            </p:cNvSpPr>
            <p:nvPr/>
          </p:nvSpPr>
          <p:spPr bwMode="auto">
            <a:xfrm>
              <a:off x="595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72" name="Line 1054"/>
            <p:cNvSpPr>
              <a:spLocks noChangeShapeType="1"/>
            </p:cNvSpPr>
            <p:nvPr/>
          </p:nvSpPr>
          <p:spPr bwMode="auto">
            <a:xfrm>
              <a:off x="5952"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73" name="Line 1055"/>
            <p:cNvSpPr>
              <a:spLocks noChangeShapeType="1"/>
            </p:cNvSpPr>
            <p:nvPr/>
          </p:nvSpPr>
          <p:spPr bwMode="auto">
            <a:xfrm>
              <a:off x="6000"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74" name="Line 1056"/>
            <p:cNvSpPr>
              <a:spLocks noChangeShapeType="1"/>
            </p:cNvSpPr>
            <p:nvPr/>
          </p:nvSpPr>
          <p:spPr bwMode="auto">
            <a:xfrm flipV="1">
              <a:off x="6002"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75" name="Line 1057"/>
            <p:cNvSpPr>
              <a:spLocks noChangeShapeType="1"/>
            </p:cNvSpPr>
            <p:nvPr/>
          </p:nvSpPr>
          <p:spPr bwMode="auto">
            <a:xfrm flipH="1" flipV="1">
              <a:off x="6192"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76" name="Line 1058"/>
            <p:cNvSpPr>
              <a:spLocks noChangeShapeType="1"/>
            </p:cNvSpPr>
            <p:nvPr/>
          </p:nvSpPr>
          <p:spPr bwMode="auto">
            <a:xfrm flipV="1">
              <a:off x="4992"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77" name="Line 1059"/>
            <p:cNvSpPr>
              <a:spLocks noChangeShapeType="1"/>
            </p:cNvSpPr>
            <p:nvPr/>
          </p:nvSpPr>
          <p:spPr bwMode="auto">
            <a:xfrm>
              <a:off x="5280"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78" name="Line 1060"/>
            <p:cNvSpPr>
              <a:spLocks noChangeShapeType="1"/>
            </p:cNvSpPr>
            <p:nvPr/>
          </p:nvSpPr>
          <p:spPr bwMode="auto">
            <a:xfrm>
              <a:off x="2928"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79" name="Line 1061"/>
            <p:cNvSpPr>
              <a:spLocks noChangeShapeType="1"/>
            </p:cNvSpPr>
            <p:nvPr/>
          </p:nvSpPr>
          <p:spPr bwMode="auto">
            <a:xfrm flipV="1">
              <a:off x="2496"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80" name="Line 1062"/>
            <p:cNvSpPr>
              <a:spLocks noChangeShapeType="1"/>
            </p:cNvSpPr>
            <p:nvPr/>
          </p:nvSpPr>
          <p:spPr bwMode="auto">
            <a:xfrm>
              <a:off x="2784"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36869" name="Group 1063"/>
          <p:cNvGrpSpPr>
            <a:grpSpLocks/>
          </p:cNvGrpSpPr>
          <p:nvPr/>
        </p:nvGrpSpPr>
        <p:grpSpPr bwMode="auto">
          <a:xfrm>
            <a:off x="1217839" y="4773612"/>
            <a:ext cx="7669213" cy="1752600"/>
            <a:chOff x="960" y="1248"/>
            <a:chExt cx="5232" cy="1104"/>
          </a:xfrm>
        </p:grpSpPr>
        <p:sp>
          <p:nvSpPr>
            <p:cNvPr id="36913" name="Line 1064"/>
            <p:cNvSpPr>
              <a:spLocks noChangeShapeType="1"/>
            </p:cNvSpPr>
            <p:nvPr/>
          </p:nvSpPr>
          <p:spPr bwMode="auto">
            <a:xfrm>
              <a:off x="960" y="2016"/>
              <a:ext cx="4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14" name="Line 1065"/>
            <p:cNvSpPr>
              <a:spLocks noChangeShapeType="1"/>
            </p:cNvSpPr>
            <p:nvPr/>
          </p:nvSpPr>
          <p:spPr bwMode="auto">
            <a:xfrm flipH="1">
              <a:off x="1008"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15" name="Line 1066"/>
            <p:cNvSpPr>
              <a:spLocks noChangeShapeType="1"/>
            </p:cNvSpPr>
            <p:nvPr/>
          </p:nvSpPr>
          <p:spPr bwMode="auto">
            <a:xfrm flipV="1">
              <a:off x="1010"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16" name="Line 1067"/>
            <p:cNvSpPr>
              <a:spLocks noChangeShapeType="1"/>
            </p:cNvSpPr>
            <p:nvPr/>
          </p:nvSpPr>
          <p:spPr bwMode="auto">
            <a:xfrm flipH="1" flipV="1">
              <a:off x="1200"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17" name="Line 1068"/>
            <p:cNvSpPr>
              <a:spLocks noChangeShapeType="1"/>
            </p:cNvSpPr>
            <p:nvPr/>
          </p:nvSpPr>
          <p:spPr bwMode="auto">
            <a:xfrm>
              <a:off x="1200"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18" name="Line 1069"/>
            <p:cNvSpPr>
              <a:spLocks noChangeShapeType="1"/>
            </p:cNvSpPr>
            <p:nvPr/>
          </p:nvSpPr>
          <p:spPr bwMode="auto">
            <a:xfrm flipV="1">
              <a:off x="153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19" name="Line 1070"/>
            <p:cNvSpPr>
              <a:spLocks noChangeShapeType="1"/>
            </p:cNvSpPr>
            <p:nvPr/>
          </p:nvSpPr>
          <p:spPr bwMode="auto">
            <a:xfrm>
              <a:off x="1536"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20" name="Line 1071"/>
            <p:cNvSpPr>
              <a:spLocks noChangeShapeType="1"/>
            </p:cNvSpPr>
            <p:nvPr/>
          </p:nvSpPr>
          <p:spPr bwMode="auto">
            <a:xfrm flipV="1">
              <a:off x="2112"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21" name="Line 1072"/>
            <p:cNvSpPr>
              <a:spLocks noChangeShapeType="1"/>
            </p:cNvSpPr>
            <p:nvPr/>
          </p:nvSpPr>
          <p:spPr bwMode="auto">
            <a:xfrm>
              <a:off x="2112"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22" name="Line 1073"/>
            <p:cNvSpPr>
              <a:spLocks noChangeShapeType="1"/>
            </p:cNvSpPr>
            <p:nvPr/>
          </p:nvSpPr>
          <p:spPr bwMode="auto">
            <a:xfrm>
              <a:off x="2304"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23" name="Line 1074"/>
            <p:cNvSpPr>
              <a:spLocks noChangeShapeType="1"/>
            </p:cNvSpPr>
            <p:nvPr/>
          </p:nvSpPr>
          <p:spPr bwMode="auto">
            <a:xfrm>
              <a:off x="2304"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24" name="Line 1075"/>
            <p:cNvSpPr>
              <a:spLocks noChangeShapeType="1"/>
            </p:cNvSpPr>
            <p:nvPr/>
          </p:nvSpPr>
          <p:spPr bwMode="auto">
            <a:xfrm>
              <a:off x="345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25" name="Line 1076"/>
            <p:cNvSpPr>
              <a:spLocks noChangeShapeType="1"/>
            </p:cNvSpPr>
            <p:nvPr/>
          </p:nvSpPr>
          <p:spPr bwMode="auto">
            <a:xfrm>
              <a:off x="3456"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26" name="Line 1077"/>
            <p:cNvSpPr>
              <a:spLocks noChangeShapeType="1"/>
            </p:cNvSpPr>
            <p:nvPr/>
          </p:nvSpPr>
          <p:spPr bwMode="auto">
            <a:xfrm>
              <a:off x="3504"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27" name="Line 1078"/>
            <p:cNvSpPr>
              <a:spLocks noChangeShapeType="1"/>
            </p:cNvSpPr>
            <p:nvPr/>
          </p:nvSpPr>
          <p:spPr bwMode="auto">
            <a:xfrm flipV="1">
              <a:off x="3506"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28" name="Line 1079"/>
            <p:cNvSpPr>
              <a:spLocks noChangeShapeType="1"/>
            </p:cNvSpPr>
            <p:nvPr/>
          </p:nvSpPr>
          <p:spPr bwMode="auto">
            <a:xfrm flipH="1" flipV="1">
              <a:off x="3696"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29" name="Line 1080"/>
            <p:cNvSpPr>
              <a:spLocks noChangeShapeType="1"/>
            </p:cNvSpPr>
            <p:nvPr/>
          </p:nvSpPr>
          <p:spPr bwMode="auto">
            <a:xfrm>
              <a:off x="3696"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30" name="Line 1081"/>
            <p:cNvSpPr>
              <a:spLocks noChangeShapeType="1"/>
            </p:cNvSpPr>
            <p:nvPr/>
          </p:nvSpPr>
          <p:spPr bwMode="auto">
            <a:xfrm flipV="1">
              <a:off x="403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31" name="Line 1082"/>
            <p:cNvSpPr>
              <a:spLocks noChangeShapeType="1"/>
            </p:cNvSpPr>
            <p:nvPr/>
          </p:nvSpPr>
          <p:spPr bwMode="auto">
            <a:xfrm>
              <a:off x="4032"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32" name="Line 1083"/>
            <p:cNvSpPr>
              <a:spLocks noChangeShapeType="1"/>
            </p:cNvSpPr>
            <p:nvPr/>
          </p:nvSpPr>
          <p:spPr bwMode="auto">
            <a:xfrm flipV="1">
              <a:off x="4608"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33" name="Line 1084"/>
            <p:cNvSpPr>
              <a:spLocks noChangeShapeType="1"/>
            </p:cNvSpPr>
            <p:nvPr/>
          </p:nvSpPr>
          <p:spPr bwMode="auto">
            <a:xfrm>
              <a:off x="4608"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34" name="Line 1085"/>
            <p:cNvSpPr>
              <a:spLocks noChangeShapeType="1"/>
            </p:cNvSpPr>
            <p:nvPr/>
          </p:nvSpPr>
          <p:spPr bwMode="auto">
            <a:xfrm>
              <a:off x="4800"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35" name="Line 1086"/>
            <p:cNvSpPr>
              <a:spLocks noChangeShapeType="1"/>
            </p:cNvSpPr>
            <p:nvPr/>
          </p:nvSpPr>
          <p:spPr bwMode="auto">
            <a:xfrm>
              <a:off x="4800"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36" name="Line 1087"/>
            <p:cNvSpPr>
              <a:spLocks noChangeShapeType="1"/>
            </p:cNvSpPr>
            <p:nvPr/>
          </p:nvSpPr>
          <p:spPr bwMode="auto">
            <a:xfrm>
              <a:off x="5424"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37" name="Line 1088"/>
            <p:cNvSpPr>
              <a:spLocks noChangeShapeType="1"/>
            </p:cNvSpPr>
            <p:nvPr/>
          </p:nvSpPr>
          <p:spPr bwMode="auto">
            <a:xfrm>
              <a:off x="595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38" name="Line 1089"/>
            <p:cNvSpPr>
              <a:spLocks noChangeShapeType="1"/>
            </p:cNvSpPr>
            <p:nvPr/>
          </p:nvSpPr>
          <p:spPr bwMode="auto">
            <a:xfrm>
              <a:off x="5952"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39" name="Line 1090"/>
            <p:cNvSpPr>
              <a:spLocks noChangeShapeType="1"/>
            </p:cNvSpPr>
            <p:nvPr/>
          </p:nvSpPr>
          <p:spPr bwMode="auto">
            <a:xfrm>
              <a:off x="6000"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40" name="Line 1091"/>
            <p:cNvSpPr>
              <a:spLocks noChangeShapeType="1"/>
            </p:cNvSpPr>
            <p:nvPr/>
          </p:nvSpPr>
          <p:spPr bwMode="auto">
            <a:xfrm flipV="1">
              <a:off x="6002"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41" name="Line 1092"/>
            <p:cNvSpPr>
              <a:spLocks noChangeShapeType="1"/>
            </p:cNvSpPr>
            <p:nvPr/>
          </p:nvSpPr>
          <p:spPr bwMode="auto">
            <a:xfrm flipH="1" flipV="1">
              <a:off x="6192"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42" name="Line 1093"/>
            <p:cNvSpPr>
              <a:spLocks noChangeShapeType="1"/>
            </p:cNvSpPr>
            <p:nvPr/>
          </p:nvSpPr>
          <p:spPr bwMode="auto">
            <a:xfrm flipV="1">
              <a:off x="4992"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43" name="Line 1094"/>
            <p:cNvSpPr>
              <a:spLocks noChangeShapeType="1"/>
            </p:cNvSpPr>
            <p:nvPr/>
          </p:nvSpPr>
          <p:spPr bwMode="auto">
            <a:xfrm>
              <a:off x="5280"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44" name="Line 1095"/>
            <p:cNvSpPr>
              <a:spLocks noChangeShapeType="1"/>
            </p:cNvSpPr>
            <p:nvPr/>
          </p:nvSpPr>
          <p:spPr bwMode="auto">
            <a:xfrm>
              <a:off x="2928"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45" name="Line 1096"/>
            <p:cNvSpPr>
              <a:spLocks noChangeShapeType="1"/>
            </p:cNvSpPr>
            <p:nvPr/>
          </p:nvSpPr>
          <p:spPr bwMode="auto">
            <a:xfrm flipV="1">
              <a:off x="2496"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46" name="Line 1097"/>
            <p:cNvSpPr>
              <a:spLocks noChangeShapeType="1"/>
            </p:cNvSpPr>
            <p:nvPr/>
          </p:nvSpPr>
          <p:spPr bwMode="auto">
            <a:xfrm>
              <a:off x="2784"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sp>
        <p:nvSpPr>
          <p:cNvPr id="36870" name="Freeform 1098"/>
          <p:cNvSpPr>
            <a:spLocks/>
          </p:cNvSpPr>
          <p:nvPr/>
        </p:nvSpPr>
        <p:spPr bwMode="auto">
          <a:xfrm>
            <a:off x="1217839" y="2106612"/>
            <a:ext cx="7669213" cy="1752600"/>
          </a:xfrm>
          <a:custGeom>
            <a:avLst/>
            <a:gdLst>
              <a:gd name="T0" fmla="*/ 0 w 5232"/>
              <a:gd name="T1" fmla="*/ 2147483647 h 1104"/>
              <a:gd name="T2" fmla="*/ 0 w 5232"/>
              <a:gd name="T3" fmla="*/ 2147483647 h 1104"/>
              <a:gd name="T4" fmla="*/ 2147483647 w 5232"/>
              <a:gd name="T5" fmla="*/ 2147483647 h 1104"/>
              <a:gd name="T6" fmla="*/ 2147483647 w 5232"/>
              <a:gd name="T7" fmla="*/ 0 h 1104"/>
              <a:gd name="T8" fmla="*/ 2147483647 w 5232"/>
              <a:gd name="T9" fmla="*/ 0 h 1104"/>
              <a:gd name="T10" fmla="*/ 2147483647 w 5232"/>
              <a:gd name="T11" fmla="*/ 2147483647 h 1104"/>
              <a:gd name="T12" fmla="*/ 2147483647 w 5232"/>
              <a:gd name="T13" fmla="*/ 2147483647 h 1104"/>
              <a:gd name="T14" fmla="*/ 2147483647 w 5232"/>
              <a:gd name="T15" fmla="*/ 2147483647 h 1104"/>
              <a:gd name="T16" fmla="*/ 2147483647 w 5232"/>
              <a:gd name="T17" fmla="*/ 2147483647 h 1104"/>
              <a:gd name="T18" fmla="*/ 2147483647 w 5232"/>
              <a:gd name="T19" fmla="*/ 2147483647 h 1104"/>
              <a:gd name="T20" fmla="*/ 2147483647 w 5232"/>
              <a:gd name="T21" fmla="*/ 2147483647 h 1104"/>
              <a:gd name="T22" fmla="*/ 2147483647 w 5232"/>
              <a:gd name="T23" fmla="*/ 2147483647 h 1104"/>
              <a:gd name="T24" fmla="*/ 2147483647 w 5232"/>
              <a:gd name="T25" fmla="*/ 2147483647 h 1104"/>
              <a:gd name="T26" fmla="*/ 2147483647 w 5232"/>
              <a:gd name="T27" fmla="*/ 2147483647 h 1104"/>
              <a:gd name="T28" fmla="*/ 2147483647 w 5232"/>
              <a:gd name="T29" fmla="*/ 2147483647 h 1104"/>
              <a:gd name="T30" fmla="*/ 2147483647 w 5232"/>
              <a:gd name="T31" fmla="*/ 2147483647 h 1104"/>
              <a:gd name="T32" fmla="*/ 2147483647 w 5232"/>
              <a:gd name="T33" fmla="*/ 2147483647 h 1104"/>
              <a:gd name="T34" fmla="*/ 2147483647 w 5232"/>
              <a:gd name="T35" fmla="*/ 2147483647 h 1104"/>
              <a:gd name="T36" fmla="*/ 2147483647 w 5232"/>
              <a:gd name="T37" fmla="*/ 0 h 1104"/>
              <a:gd name="T38" fmla="*/ 2147483647 w 5232"/>
              <a:gd name="T39" fmla="*/ 0 h 1104"/>
              <a:gd name="T40" fmla="*/ 2147483647 w 5232"/>
              <a:gd name="T41" fmla="*/ 2147483647 h 1104"/>
              <a:gd name="T42" fmla="*/ 2147483647 w 5232"/>
              <a:gd name="T43" fmla="*/ 2147483647 h 1104"/>
              <a:gd name="T44" fmla="*/ 2147483647 w 5232"/>
              <a:gd name="T45" fmla="*/ 2147483647 h 1104"/>
              <a:gd name="T46" fmla="*/ 2147483647 w 5232"/>
              <a:gd name="T47" fmla="*/ 2147483647 h 1104"/>
              <a:gd name="T48" fmla="*/ 2147483647 w 5232"/>
              <a:gd name="T49" fmla="*/ 2147483647 h 1104"/>
              <a:gd name="T50" fmla="*/ 2147483647 w 5232"/>
              <a:gd name="T51" fmla="*/ 2147483647 h 1104"/>
              <a:gd name="T52" fmla="*/ 2147483647 w 5232"/>
              <a:gd name="T53" fmla="*/ 2147483647 h 1104"/>
              <a:gd name="T54" fmla="*/ 2147483647 w 5232"/>
              <a:gd name="T55" fmla="*/ 2147483647 h 1104"/>
              <a:gd name="T56" fmla="*/ 2147483647 w 5232"/>
              <a:gd name="T57" fmla="*/ 2147483647 h 1104"/>
              <a:gd name="T58" fmla="*/ 2147483647 w 5232"/>
              <a:gd name="T59" fmla="*/ 2147483647 h 1104"/>
              <a:gd name="T60" fmla="*/ 2147483647 w 5232"/>
              <a:gd name="T61" fmla="*/ 2147483647 h 1104"/>
              <a:gd name="T62" fmla="*/ 2147483647 w 5232"/>
              <a:gd name="T63" fmla="*/ 2147483647 h 1104"/>
              <a:gd name="T64" fmla="*/ 2147483647 w 5232"/>
              <a:gd name="T65" fmla="*/ 2147483647 h 1104"/>
              <a:gd name="T66" fmla="*/ 2147483647 w 5232"/>
              <a:gd name="T67" fmla="*/ 0 h 1104"/>
              <a:gd name="T68" fmla="*/ 2147483647 w 5232"/>
              <a:gd name="T69" fmla="*/ 0 h 1104"/>
              <a:gd name="T70" fmla="*/ 2147483647 w 5232"/>
              <a:gd name="T71" fmla="*/ 2147483647 h 1104"/>
              <a:gd name="T72" fmla="*/ 0 w 5232"/>
              <a:gd name="T73" fmla="*/ 2147483647 h 110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232"/>
              <a:gd name="T112" fmla="*/ 0 h 1104"/>
              <a:gd name="T113" fmla="*/ 5232 w 5232"/>
              <a:gd name="T114" fmla="*/ 1104 h 110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232" h="1104">
                <a:moveTo>
                  <a:pt x="0" y="336"/>
                </a:moveTo>
                <a:lnTo>
                  <a:pt x="0" y="1104"/>
                </a:lnTo>
                <a:lnTo>
                  <a:pt x="5232" y="1104"/>
                </a:lnTo>
                <a:lnTo>
                  <a:pt x="5232" y="0"/>
                </a:lnTo>
                <a:lnTo>
                  <a:pt x="5040" y="0"/>
                </a:lnTo>
                <a:lnTo>
                  <a:pt x="5040" y="336"/>
                </a:lnTo>
                <a:lnTo>
                  <a:pt x="4992" y="336"/>
                </a:lnTo>
                <a:lnTo>
                  <a:pt x="4992" y="768"/>
                </a:lnTo>
                <a:lnTo>
                  <a:pt x="4464" y="768"/>
                </a:lnTo>
                <a:lnTo>
                  <a:pt x="4320" y="1104"/>
                </a:lnTo>
                <a:lnTo>
                  <a:pt x="4032" y="336"/>
                </a:lnTo>
                <a:lnTo>
                  <a:pt x="3840" y="336"/>
                </a:lnTo>
                <a:lnTo>
                  <a:pt x="3840" y="1104"/>
                </a:lnTo>
                <a:lnTo>
                  <a:pt x="3648" y="1104"/>
                </a:lnTo>
                <a:lnTo>
                  <a:pt x="3648" y="768"/>
                </a:lnTo>
                <a:lnTo>
                  <a:pt x="3072" y="768"/>
                </a:lnTo>
                <a:lnTo>
                  <a:pt x="3072" y="336"/>
                </a:lnTo>
                <a:lnTo>
                  <a:pt x="2736" y="336"/>
                </a:lnTo>
                <a:lnTo>
                  <a:pt x="2736" y="0"/>
                </a:lnTo>
                <a:lnTo>
                  <a:pt x="2544" y="0"/>
                </a:lnTo>
                <a:lnTo>
                  <a:pt x="2544" y="336"/>
                </a:lnTo>
                <a:lnTo>
                  <a:pt x="2496" y="336"/>
                </a:lnTo>
                <a:lnTo>
                  <a:pt x="2496" y="768"/>
                </a:lnTo>
                <a:lnTo>
                  <a:pt x="1968" y="768"/>
                </a:lnTo>
                <a:lnTo>
                  <a:pt x="1824" y="1104"/>
                </a:lnTo>
                <a:lnTo>
                  <a:pt x="1536" y="336"/>
                </a:lnTo>
                <a:lnTo>
                  <a:pt x="1344" y="336"/>
                </a:lnTo>
                <a:lnTo>
                  <a:pt x="1344" y="1104"/>
                </a:lnTo>
                <a:lnTo>
                  <a:pt x="1152" y="1104"/>
                </a:lnTo>
                <a:lnTo>
                  <a:pt x="1152" y="768"/>
                </a:lnTo>
                <a:lnTo>
                  <a:pt x="576" y="768"/>
                </a:lnTo>
                <a:lnTo>
                  <a:pt x="576" y="336"/>
                </a:lnTo>
                <a:lnTo>
                  <a:pt x="240" y="336"/>
                </a:lnTo>
                <a:lnTo>
                  <a:pt x="240" y="0"/>
                </a:lnTo>
                <a:lnTo>
                  <a:pt x="48" y="0"/>
                </a:lnTo>
                <a:lnTo>
                  <a:pt x="48" y="336"/>
                </a:lnTo>
                <a:lnTo>
                  <a:pt x="0" y="336"/>
                </a:lnTo>
                <a:close/>
              </a:path>
            </a:pathLst>
          </a:custGeom>
          <a:solidFill>
            <a:srgbClr val="80008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en-GB"/>
          </a:p>
        </p:txBody>
      </p:sp>
      <p:sp>
        <p:nvSpPr>
          <p:cNvPr id="36871" name="Freeform 1099"/>
          <p:cNvSpPr>
            <a:spLocks/>
          </p:cNvSpPr>
          <p:nvPr/>
        </p:nvSpPr>
        <p:spPr bwMode="auto">
          <a:xfrm flipV="1">
            <a:off x="1217839" y="4773612"/>
            <a:ext cx="7669213" cy="1752600"/>
          </a:xfrm>
          <a:custGeom>
            <a:avLst/>
            <a:gdLst>
              <a:gd name="T0" fmla="*/ 0 w 5232"/>
              <a:gd name="T1" fmla="*/ 2147483647 h 1104"/>
              <a:gd name="T2" fmla="*/ 0 w 5232"/>
              <a:gd name="T3" fmla="*/ 2147483647 h 1104"/>
              <a:gd name="T4" fmla="*/ 2147483647 w 5232"/>
              <a:gd name="T5" fmla="*/ 2147483647 h 1104"/>
              <a:gd name="T6" fmla="*/ 2147483647 w 5232"/>
              <a:gd name="T7" fmla="*/ 0 h 1104"/>
              <a:gd name="T8" fmla="*/ 2147483647 w 5232"/>
              <a:gd name="T9" fmla="*/ 0 h 1104"/>
              <a:gd name="T10" fmla="*/ 2147483647 w 5232"/>
              <a:gd name="T11" fmla="*/ 2147483647 h 1104"/>
              <a:gd name="T12" fmla="*/ 2147483647 w 5232"/>
              <a:gd name="T13" fmla="*/ 2147483647 h 1104"/>
              <a:gd name="T14" fmla="*/ 2147483647 w 5232"/>
              <a:gd name="T15" fmla="*/ 2147483647 h 1104"/>
              <a:gd name="T16" fmla="*/ 2147483647 w 5232"/>
              <a:gd name="T17" fmla="*/ 2147483647 h 1104"/>
              <a:gd name="T18" fmla="*/ 2147483647 w 5232"/>
              <a:gd name="T19" fmla="*/ 2147483647 h 1104"/>
              <a:gd name="T20" fmla="*/ 2147483647 w 5232"/>
              <a:gd name="T21" fmla="*/ 2147483647 h 1104"/>
              <a:gd name="T22" fmla="*/ 2147483647 w 5232"/>
              <a:gd name="T23" fmla="*/ 2147483647 h 1104"/>
              <a:gd name="T24" fmla="*/ 2147483647 w 5232"/>
              <a:gd name="T25" fmla="*/ 2147483647 h 1104"/>
              <a:gd name="T26" fmla="*/ 2147483647 w 5232"/>
              <a:gd name="T27" fmla="*/ 2147483647 h 1104"/>
              <a:gd name="T28" fmla="*/ 2147483647 w 5232"/>
              <a:gd name="T29" fmla="*/ 2147483647 h 1104"/>
              <a:gd name="T30" fmla="*/ 2147483647 w 5232"/>
              <a:gd name="T31" fmla="*/ 2147483647 h 1104"/>
              <a:gd name="T32" fmla="*/ 2147483647 w 5232"/>
              <a:gd name="T33" fmla="*/ 2147483647 h 1104"/>
              <a:gd name="T34" fmla="*/ 2147483647 w 5232"/>
              <a:gd name="T35" fmla="*/ 2147483647 h 1104"/>
              <a:gd name="T36" fmla="*/ 2147483647 w 5232"/>
              <a:gd name="T37" fmla="*/ 0 h 1104"/>
              <a:gd name="T38" fmla="*/ 2147483647 w 5232"/>
              <a:gd name="T39" fmla="*/ 0 h 1104"/>
              <a:gd name="T40" fmla="*/ 2147483647 w 5232"/>
              <a:gd name="T41" fmla="*/ 2147483647 h 1104"/>
              <a:gd name="T42" fmla="*/ 2147483647 w 5232"/>
              <a:gd name="T43" fmla="*/ 2147483647 h 1104"/>
              <a:gd name="T44" fmla="*/ 2147483647 w 5232"/>
              <a:gd name="T45" fmla="*/ 2147483647 h 1104"/>
              <a:gd name="T46" fmla="*/ 2147483647 w 5232"/>
              <a:gd name="T47" fmla="*/ 2147483647 h 1104"/>
              <a:gd name="T48" fmla="*/ 2147483647 w 5232"/>
              <a:gd name="T49" fmla="*/ 2147483647 h 1104"/>
              <a:gd name="T50" fmla="*/ 2147483647 w 5232"/>
              <a:gd name="T51" fmla="*/ 2147483647 h 1104"/>
              <a:gd name="T52" fmla="*/ 2147483647 w 5232"/>
              <a:gd name="T53" fmla="*/ 2147483647 h 1104"/>
              <a:gd name="T54" fmla="*/ 2147483647 w 5232"/>
              <a:gd name="T55" fmla="*/ 2147483647 h 1104"/>
              <a:gd name="T56" fmla="*/ 2147483647 w 5232"/>
              <a:gd name="T57" fmla="*/ 2147483647 h 1104"/>
              <a:gd name="T58" fmla="*/ 2147483647 w 5232"/>
              <a:gd name="T59" fmla="*/ 2147483647 h 1104"/>
              <a:gd name="T60" fmla="*/ 2147483647 w 5232"/>
              <a:gd name="T61" fmla="*/ 2147483647 h 1104"/>
              <a:gd name="T62" fmla="*/ 2147483647 w 5232"/>
              <a:gd name="T63" fmla="*/ 2147483647 h 1104"/>
              <a:gd name="T64" fmla="*/ 2147483647 w 5232"/>
              <a:gd name="T65" fmla="*/ 2147483647 h 1104"/>
              <a:gd name="T66" fmla="*/ 2147483647 w 5232"/>
              <a:gd name="T67" fmla="*/ 0 h 1104"/>
              <a:gd name="T68" fmla="*/ 2147483647 w 5232"/>
              <a:gd name="T69" fmla="*/ 0 h 1104"/>
              <a:gd name="T70" fmla="*/ 2147483647 w 5232"/>
              <a:gd name="T71" fmla="*/ 2147483647 h 1104"/>
              <a:gd name="T72" fmla="*/ 0 w 5232"/>
              <a:gd name="T73" fmla="*/ 2147483647 h 110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232"/>
              <a:gd name="T112" fmla="*/ 0 h 1104"/>
              <a:gd name="T113" fmla="*/ 5232 w 5232"/>
              <a:gd name="T114" fmla="*/ 1104 h 110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232" h="1104">
                <a:moveTo>
                  <a:pt x="0" y="336"/>
                </a:moveTo>
                <a:lnTo>
                  <a:pt x="0" y="1104"/>
                </a:lnTo>
                <a:lnTo>
                  <a:pt x="5232" y="1104"/>
                </a:lnTo>
                <a:lnTo>
                  <a:pt x="5232" y="0"/>
                </a:lnTo>
                <a:lnTo>
                  <a:pt x="5040" y="0"/>
                </a:lnTo>
                <a:lnTo>
                  <a:pt x="5040" y="336"/>
                </a:lnTo>
                <a:lnTo>
                  <a:pt x="4992" y="336"/>
                </a:lnTo>
                <a:lnTo>
                  <a:pt x="4992" y="768"/>
                </a:lnTo>
                <a:lnTo>
                  <a:pt x="4464" y="768"/>
                </a:lnTo>
                <a:lnTo>
                  <a:pt x="4320" y="1104"/>
                </a:lnTo>
                <a:lnTo>
                  <a:pt x="4032" y="336"/>
                </a:lnTo>
                <a:lnTo>
                  <a:pt x="3840" y="336"/>
                </a:lnTo>
                <a:lnTo>
                  <a:pt x="3840" y="1104"/>
                </a:lnTo>
                <a:lnTo>
                  <a:pt x="3648" y="1104"/>
                </a:lnTo>
                <a:lnTo>
                  <a:pt x="3648" y="768"/>
                </a:lnTo>
                <a:lnTo>
                  <a:pt x="3072" y="768"/>
                </a:lnTo>
                <a:lnTo>
                  <a:pt x="3072" y="336"/>
                </a:lnTo>
                <a:lnTo>
                  <a:pt x="2736" y="336"/>
                </a:lnTo>
                <a:lnTo>
                  <a:pt x="2736" y="0"/>
                </a:lnTo>
                <a:lnTo>
                  <a:pt x="2544" y="0"/>
                </a:lnTo>
                <a:lnTo>
                  <a:pt x="2544" y="336"/>
                </a:lnTo>
                <a:lnTo>
                  <a:pt x="2496" y="336"/>
                </a:lnTo>
                <a:lnTo>
                  <a:pt x="2496" y="768"/>
                </a:lnTo>
                <a:lnTo>
                  <a:pt x="1968" y="768"/>
                </a:lnTo>
                <a:lnTo>
                  <a:pt x="1824" y="1104"/>
                </a:lnTo>
                <a:lnTo>
                  <a:pt x="1536" y="336"/>
                </a:lnTo>
                <a:lnTo>
                  <a:pt x="1344" y="336"/>
                </a:lnTo>
                <a:lnTo>
                  <a:pt x="1344" y="1104"/>
                </a:lnTo>
                <a:lnTo>
                  <a:pt x="1152" y="1104"/>
                </a:lnTo>
                <a:lnTo>
                  <a:pt x="1152" y="768"/>
                </a:lnTo>
                <a:lnTo>
                  <a:pt x="576" y="768"/>
                </a:lnTo>
                <a:lnTo>
                  <a:pt x="576" y="336"/>
                </a:lnTo>
                <a:lnTo>
                  <a:pt x="240" y="336"/>
                </a:lnTo>
                <a:lnTo>
                  <a:pt x="240" y="0"/>
                </a:lnTo>
                <a:lnTo>
                  <a:pt x="48" y="0"/>
                </a:lnTo>
                <a:lnTo>
                  <a:pt x="48" y="336"/>
                </a:lnTo>
                <a:lnTo>
                  <a:pt x="0" y="336"/>
                </a:lnTo>
                <a:close/>
              </a:path>
            </a:pathLst>
          </a:custGeom>
          <a:solidFill>
            <a:srgbClr val="80008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en-GB"/>
          </a:p>
        </p:txBody>
      </p:sp>
      <p:sp>
        <p:nvSpPr>
          <p:cNvPr id="36872" name="Rectangle 1100"/>
          <p:cNvSpPr>
            <a:spLocks noChangeArrowheads="1"/>
          </p:cNvSpPr>
          <p:nvPr/>
        </p:nvSpPr>
        <p:spPr bwMode="auto">
          <a:xfrm>
            <a:off x="1217839" y="3859212"/>
            <a:ext cx="7669213" cy="914400"/>
          </a:xfrm>
          <a:prstGeom prst="rect">
            <a:avLst/>
          </a:prstGeom>
          <a:solidFill>
            <a:srgbClr val="80008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grpSp>
        <p:nvGrpSpPr>
          <p:cNvPr id="36873" name="Group 1101"/>
          <p:cNvGrpSpPr>
            <a:grpSpLocks/>
          </p:cNvGrpSpPr>
          <p:nvPr/>
        </p:nvGrpSpPr>
        <p:grpSpPr bwMode="auto">
          <a:xfrm>
            <a:off x="1076552" y="4773612"/>
            <a:ext cx="7529512" cy="1752600"/>
            <a:chOff x="816" y="1248"/>
            <a:chExt cx="5136" cy="1104"/>
          </a:xfrm>
        </p:grpSpPr>
        <p:sp>
          <p:nvSpPr>
            <p:cNvPr id="36910" name="Line 1102"/>
            <p:cNvSpPr>
              <a:spLocks noChangeShapeType="1"/>
            </p:cNvSpPr>
            <p:nvPr/>
          </p:nvSpPr>
          <p:spPr bwMode="auto">
            <a:xfrm>
              <a:off x="816" y="1248"/>
              <a:ext cx="4464"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11" name="Line 1103"/>
            <p:cNvSpPr>
              <a:spLocks noChangeShapeType="1"/>
            </p:cNvSpPr>
            <p:nvPr/>
          </p:nvSpPr>
          <p:spPr bwMode="auto">
            <a:xfrm>
              <a:off x="816" y="2016"/>
              <a:ext cx="4128"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12" name="Line 1104"/>
            <p:cNvSpPr>
              <a:spLocks noChangeShapeType="1"/>
            </p:cNvSpPr>
            <p:nvPr/>
          </p:nvSpPr>
          <p:spPr bwMode="auto">
            <a:xfrm>
              <a:off x="816" y="2352"/>
              <a:ext cx="5136"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36874" name="Group 1105"/>
          <p:cNvGrpSpPr>
            <a:grpSpLocks/>
          </p:cNvGrpSpPr>
          <p:nvPr/>
        </p:nvGrpSpPr>
        <p:grpSpPr bwMode="auto">
          <a:xfrm flipV="1">
            <a:off x="1076552" y="2106612"/>
            <a:ext cx="7529512" cy="1752600"/>
            <a:chOff x="816" y="1248"/>
            <a:chExt cx="5136" cy="1104"/>
          </a:xfrm>
        </p:grpSpPr>
        <p:sp>
          <p:nvSpPr>
            <p:cNvPr id="36907" name="Line 1106"/>
            <p:cNvSpPr>
              <a:spLocks noChangeShapeType="1"/>
            </p:cNvSpPr>
            <p:nvPr/>
          </p:nvSpPr>
          <p:spPr bwMode="auto">
            <a:xfrm>
              <a:off x="816" y="1248"/>
              <a:ext cx="4464"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08" name="Line 1107"/>
            <p:cNvSpPr>
              <a:spLocks noChangeShapeType="1"/>
            </p:cNvSpPr>
            <p:nvPr/>
          </p:nvSpPr>
          <p:spPr bwMode="auto">
            <a:xfrm>
              <a:off x="816" y="2016"/>
              <a:ext cx="4128"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6909" name="Line 1108"/>
            <p:cNvSpPr>
              <a:spLocks noChangeShapeType="1"/>
            </p:cNvSpPr>
            <p:nvPr/>
          </p:nvSpPr>
          <p:spPr bwMode="auto">
            <a:xfrm>
              <a:off x="816" y="2352"/>
              <a:ext cx="5136"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sp>
        <p:nvSpPr>
          <p:cNvPr id="36875" name="Line 1109"/>
          <p:cNvSpPr>
            <a:spLocks noChangeShapeType="1"/>
          </p:cNvSpPr>
          <p:nvPr/>
        </p:nvSpPr>
        <p:spPr bwMode="auto">
          <a:xfrm>
            <a:off x="1076552" y="4316412"/>
            <a:ext cx="78105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nvGrpSpPr>
          <p:cNvPr id="36876" name="Group 1110"/>
          <p:cNvGrpSpPr>
            <a:grpSpLocks/>
          </p:cNvGrpSpPr>
          <p:nvPr/>
        </p:nvGrpSpPr>
        <p:grpSpPr bwMode="auto">
          <a:xfrm>
            <a:off x="232002" y="1878012"/>
            <a:ext cx="712787" cy="4757738"/>
            <a:chOff x="192" y="960"/>
            <a:chExt cx="486" cy="2997"/>
          </a:xfrm>
        </p:grpSpPr>
        <p:sp>
          <p:nvSpPr>
            <p:cNvPr id="36900" name="Text Box 1111"/>
            <p:cNvSpPr txBox="1">
              <a:spLocks noChangeArrowheads="1"/>
            </p:cNvSpPr>
            <p:nvPr/>
          </p:nvSpPr>
          <p:spPr bwMode="auto">
            <a:xfrm>
              <a:off x="230" y="2042"/>
              <a:ext cx="3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20%</a:t>
              </a:r>
            </a:p>
          </p:txBody>
        </p:sp>
        <p:sp>
          <p:nvSpPr>
            <p:cNvPr id="36901" name="Text Box 1112"/>
            <p:cNvSpPr txBox="1">
              <a:spLocks noChangeArrowheads="1"/>
            </p:cNvSpPr>
            <p:nvPr/>
          </p:nvSpPr>
          <p:spPr bwMode="auto">
            <a:xfrm>
              <a:off x="240" y="2640"/>
              <a:ext cx="3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20%</a:t>
              </a:r>
            </a:p>
          </p:txBody>
        </p:sp>
        <p:sp>
          <p:nvSpPr>
            <p:cNvPr id="36902" name="Text Box 1113"/>
            <p:cNvSpPr txBox="1">
              <a:spLocks noChangeArrowheads="1"/>
            </p:cNvSpPr>
            <p:nvPr/>
          </p:nvSpPr>
          <p:spPr bwMode="auto">
            <a:xfrm>
              <a:off x="240" y="2352"/>
              <a:ext cx="39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  0%</a:t>
              </a:r>
            </a:p>
          </p:txBody>
        </p:sp>
        <p:sp>
          <p:nvSpPr>
            <p:cNvPr id="36903" name="Text Box 1114"/>
            <p:cNvSpPr txBox="1">
              <a:spLocks noChangeArrowheads="1"/>
            </p:cNvSpPr>
            <p:nvPr/>
          </p:nvSpPr>
          <p:spPr bwMode="auto">
            <a:xfrm>
              <a:off x="240" y="3408"/>
              <a:ext cx="3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76%</a:t>
              </a:r>
            </a:p>
          </p:txBody>
        </p:sp>
        <p:sp>
          <p:nvSpPr>
            <p:cNvPr id="36904" name="Text Box 1115"/>
            <p:cNvSpPr txBox="1">
              <a:spLocks noChangeArrowheads="1"/>
            </p:cNvSpPr>
            <p:nvPr/>
          </p:nvSpPr>
          <p:spPr bwMode="auto">
            <a:xfrm>
              <a:off x="240" y="1296"/>
              <a:ext cx="3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76%</a:t>
              </a:r>
            </a:p>
          </p:txBody>
        </p:sp>
        <p:sp>
          <p:nvSpPr>
            <p:cNvPr id="36905" name="Text Box 1116"/>
            <p:cNvSpPr txBox="1">
              <a:spLocks noChangeArrowheads="1"/>
            </p:cNvSpPr>
            <p:nvPr/>
          </p:nvSpPr>
          <p:spPr bwMode="auto">
            <a:xfrm>
              <a:off x="192" y="960"/>
              <a:ext cx="48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100%</a:t>
              </a:r>
            </a:p>
          </p:txBody>
        </p:sp>
        <p:sp>
          <p:nvSpPr>
            <p:cNvPr id="36906" name="Text Box 1117"/>
            <p:cNvSpPr txBox="1">
              <a:spLocks noChangeArrowheads="1"/>
            </p:cNvSpPr>
            <p:nvPr/>
          </p:nvSpPr>
          <p:spPr bwMode="auto">
            <a:xfrm>
              <a:off x="192" y="3744"/>
              <a:ext cx="48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b="1"/>
                <a:t>100%</a:t>
              </a:r>
            </a:p>
          </p:txBody>
        </p:sp>
      </p:grpSp>
      <p:pic>
        <p:nvPicPr>
          <p:cNvPr id="36877" name="Picture 74"/>
          <p:cNvPicPr>
            <a:picLocks noChangeAspect="1" noChangeArrowheads="1"/>
          </p:cNvPicPr>
          <p:nvPr/>
        </p:nvPicPr>
        <p:blipFill>
          <a:blip r:embed="rId2">
            <a:extLst>
              <a:ext uri="{28A0092B-C50C-407E-A947-70E740481C1C}">
                <a14:useLocalDpi xmlns:a14="http://schemas.microsoft.com/office/drawing/2010/main" val="0"/>
              </a:ext>
            </a:extLst>
          </a:blip>
          <a:srcRect r="7066"/>
          <a:stretch>
            <a:fillRect/>
          </a:stretch>
        </p:blipFill>
        <p:spPr bwMode="auto">
          <a:xfrm>
            <a:off x="6877050" y="331788"/>
            <a:ext cx="2266950"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29" name="Rectangle 128"/>
          <p:cNvSpPr/>
          <p:nvPr/>
        </p:nvSpPr>
        <p:spPr bwMode="auto">
          <a:xfrm>
            <a:off x="1787752" y="2505075"/>
            <a:ext cx="247650" cy="255587"/>
          </a:xfrm>
          <a:prstGeom prst="rect">
            <a:avLst/>
          </a:prstGeom>
          <a:solidFill>
            <a:schemeClr val="accent3">
              <a:lumMod val="65000"/>
            </a:schemeClr>
          </a:solidFill>
          <a:ln w="9525" cap="flat" cmpd="sng" algn="ctr">
            <a:solidFill>
              <a:schemeClr val="tx1"/>
            </a:solidFill>
            <a:prstDash val="solid"/>
            <a:round/>
            <a:headEnd type="none" w="med" len="med"/>
            <a:tailEnd type="none" w="med" len="med"/>
          </a:ln>
          <a:effectLst/>
        </p:spPr>
        <p:txBody>
          <a:bodyPr/>
          <a:lstStyle/>
          <a:p>
            <a:pPr>
              <a:defRPr/>
            </a:pPr>
            <a:endParaRPr lang="en-GB"/>
          </a:p>
        </p:txBody>
      </p:sp>
      <p:sp>
        <p:nvSpPr>
          <p:cNvPr id="36879" name="Rectangle 129"/>
          <p:cNvSpPr>
            <a:spLocks noChangeArrowheads="1"/>
          </p:cNvSpPr>
          <p:nvPr/>
        </p:nvSpPr>
        <p:spPr bwMode="auto">
          <a:xfrm>
            <a:off x="2062389" y="3106737"/>
            <a:ext cx="831850" cy="490538"/>
          </a:xfrm>
          <a:prstGeom prst="rect">
            <a:avLst/>
          </a:prstGeom>
          <a:solidFill>
            <a:srgbClr val="33CC33"/>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80" name="Rectangle 130"/>
          <p:cNvSpPr>
            <a:spLocks noChangeArrowheads="1"/>
          </p:cNvSpPr>
          <p:nvPr/>
        </p:nvSpPr>
        <p:spPr bwMode="auto">
          <a:xfrm>
            <a:off x="2910114" y="3462337"/>
            <a:ext cx="250825" cy="749300"/>
          </a:xfrm>
          <a:prstGeom prst="rect">
            <a:avLst/>
          </a:prstGeom>
          <a:solidFill>
            <a:srgbClr val="FFFF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81" name="Rectangle 131"/>
          <p:cNvSpPr>
            <a:spLocks noChangeArrowheads="1"/>
          </p:cNvSpPr>
          <p:nvPr/>
        </p:nvSpPr>
        <p:spPr bwMode="auto">
          <a:xfrm>
            <a:off x="3184752" y="2316162"/>
            <a:ext cx="252412" cy="585788"/>
          </a:xfrm>
          <a:prstGeom prst="rect">
            <a:avLst/>
          </a:prstGeom>
          <a:solidFill>
            <a:srgbClr val="0000FF"/>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82" name="Rectangle 132"/>
          <p:cNvSpPr>
            <a:spLocks noChangeArrowheads="1"/>
          </p:cNvSpPr>
          <p:nvPr/>
        </p:nvSpPr>
        <p:spPr bwMode="auto">
          <a:xfrm>
            <a:off x="4115027" y="3040062"/>
            <a:ext cx="579437" cy="571500"/>
          </a:xfrm>
          <a:prstGeom prst="rect">
            <a:avLst/>
          </a:prstGeom>
          <a:solidFill>
            <a:srgbClr val="FF00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134" name="Rectangle 133"/>
          <p:cNvSpPr/>
          <p:nvPr/>
        </p:nvSpPr>
        <p:spPr bwMode="auto">
          <a:xfrm>
            <a:off x="5454877" y="2495550"/>
            <a:ext cx="247650" cy="255587"/>
          </a:xfrm>
          <a:prstGeom prst="rect">
            <a:avLst/>
          </a:prstGeom>
          <a:solidFill>
            <a:schemeClr val="accent3">
              <a:lumMod val="65000"/>
            </a:schemeClr>
          </a:solidFill>
          <a:ln w="9525" cap="flat" cmpd="sng" algn="ctr">
            <a:solidFill>
              <a:schemeClr val="tx1"/>
            </a:solidFill>
            <a:prstDash val="solid"/>
            <a:round/>
            <a:headEnd type="none" w="med" len="med"/>
            <a:tailEnd type="none" w="med" len="med"/>
          </a:ln>
          <a:effectLst/>
        </p:spPr>
        <p:txBody>
          <a:bodyPr/>
          <a:lstStyle/>
          <a:p>
            <a:pPr>
              <a:defRPr/>
            </a:pPr>
            <a:endParaRPr lang="en-GB"/>
          </a:p>
        </p:txBody>
      </p:sp>
      <p:sp>
        <p:nvSpPr>
          <p:cNvPr id="36884" name="Rectangle 134"/>
          <p:cNvSpPr>
            <a:spLocks noChangeArrowheads="1"/>
          </p:cNvSpPr>
          <p:nvPr/>
        </p:nvSpPr>
        <p:spPr bwMode="auto">
          <a:xfrm>
            <a:off x="5729514" y="3097212"/>
            <a:ext cx="831850" cy="490538"/>
          </a:xfrm>
          <a:prstGeom prst="rect">
            <a:avLst/>
          </a:prstGeom>
          <a:solidFill>
            <a:srgbClr val="33CC33"/>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85" name="Rectangle 135"/>
          <p:cNvSpPr>
            <a:spLocks noChangeArrowheads="1"/>
          </p:cNvSpPr>
          <p:nvPr/>
        </p:nvSpPr>
        <p:spPr bwMode="auto">
          <a:xfrm>
            <a:off x="6577239" y="3452812"/>
            <a:ext cx="250825" cy="749300"/>
          </a:xfrm>
          <a:prstGeom prst="rect">
            <a:avLst/>
          </a:prstGeom>
          <a:solidFill>
            <a:srgbClr val="FFFF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86" name="Rectangle 136"/>
          <p:cNvSpPr>
            <a:spLocks noChangeArrowheads="1"/>
          </p:cNvSpPr>
          <p:nvPr/>
        </p:nvSpPr>
        <p:spPr bwMode="auto">
          <a:xfrm>
            <a:off x="6851877" y="2306637"/>
            <a:ext cx="252412" cy="585788"/>
          </a:xfrm>
          <a:prstGeom prst="rect">
            <a:avLst/>
          </a:prstGeom>
          <a:solidFill>
            <a:srgbClr val="0000FF"/>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87" name="Rectangle 137"/>
          <p:cNvSpPr>
            <a:spLocks noChangeArrowheads="1"/>
          </p:cNvSpPr>
          <p:nvPr/>
        </p:nvSpPr>
        <p:spPr bwMode="auto">
          <a:xfrm>
            <a:off x="7782152" y="3030537"/>
            <a:ext cx="579437" cy="571500"/>
          </a:xfrm>
          <a:prstGeom prst="rect">
            <a:avLst/>
          </a:prstGeom>
          <a:solidFill>
            <a:srgbClr val="FF00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grpSp>
        <p:nvGrpSpPr>
          <p:cNvPr id="36888" name="Group 143"/>
          <p:cNvGrpSpPr>
            <a:grpSpLocks/>
          </p:cNvGrpSpPr>
          <p:nvPr/>
        </p:nvGrpSpPr>
        <p:grpSpPr bwMode="auto">
          <a:xfrm flipV="1">
            <a:off x="5454877" y="4421187"/>
            <a:ext cx="2906712" cy="1895475"/>
            <a:chOff x="5484876" y="3933825"/>
            <a:chExt cx="2906649" cy="1895474"/>
          </a:xfrm>
        </p:grpSpPr>
        <p:sp>
          <p:nvSpPr>
            <p:cNvPr id="139" name="Rectangle 138"/>
            <p:cNvSpPr/>
            <p:nvPr/>
          </p:nvSpPr>
          <p:spPr bwMode="auto">
            <a:xfrm flipV="1">
              <a:off x="5484876" y="4122737"/>
              <a:ext cx="247645" cy="255588"/>
            </a:xfrm>
            <a:prstGeom prst="rect">
              <a:avLst/>
            </a:prstGeom>
            <a:solidFill>
              <a:schemeClr val="accent3">
                <a:lumMod val="65000"/>
              </a:schemeClr>
            </a:solidFill>
            <a:ln w="9525" cap="flat" cmpd="sng" algn="ctr">
              <a:solidFill>
                <a:schemeClr val="tx1"/>
              </a:solidFill>
              <a:prstDash val="solid"/>
              <a:round/>
              <a:headEnd type="none" w="med" len="med"/>
              <a:tailEnd type="none" w="med" len="med"/>
            </a:ln>
            <a:effectLst/>
          </p:spPr>
          <p:txBody>
            <a:bodyPr/>
            <a:lstStyle/>
            <a:p>
              <a:pPr>
                <a:defRPr/>
              </a:pPr>
              <a:endParaRPr lang="en-GB"/>
            </a:p>
          </p:txBody>
        </p:sp>
        <p:sp>
          <p:nvSpPr>
            <p:cNvPr id="36896" name="Rectangle 139"/>
            <p:cNvSpPr>
              <a:spLocks noChangeArrowheads="1"/>
            </p:cNvSpPr>
            <p:nvPr/>
          </p:nvSpPr>
          <p:spPr bwMode="auto">
            <a:xfrm flipV="1">
              <a:off x="5759958" y="4724400"/>
              <a:ext cx="831342" cy="490347"/>
            </a:xfrm>
            <a:prstGeom prst="rect">
              <a:avLst/>
            </a:prstGeom>
            <a:solidFill>
              <a:srgbClr val="33CC33"/>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97" name="Rectangle 140"/>
            <p:cNvSpPr>
              <a:spLocks noChangeArrowheads="1"/>
            </p:cNvSpPr>
            <p:nvPr/>
          </p:nvSpPr>
          <p:spPr bwMode="auto">
            <a:xfrm flipV="1">
              <a:off x="6606540" y="5079872"/>
              <a:ext cx="251460" cy="749427"/>
            </a:xfrm>
            <a:prstGeom prst="rect">
              <a:avLst/>
            </a:prstGeom>
            <a:solidFill>
              <a:srgbClr val="FFFF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98" name="Rectangle 141"/>
            <p:cNvSpPr>
              <a:spLocks noChangeArrowheads="1"/>
            </p:cNvSpPr>
            <p:nvPr/>
          </p:nvSpPr>
          <p:spPr bwMode="auto">
            <a:xfrm flipV="1">
              <a:off x="6882383" y="3933825"/>
              <a:ext cx="251841" cy="586359"/>
            </a:xfrm>
            <a:prstGeom prst="rect">
              <a:avLst/>
            </a:prstGeom>
            <a:solidFill>
              <a:srgbClr val="0000FF"/>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99" name="Rectangle 142"/>
            <p:cNvSpPr>
              <a:spLocks noChangeArrowheads="1"/>
            </p:cNvSpPr>
            <p:nvPr/>
          </p:nvSpPr>
          <p:spPr bwMode="auto">
            <a:xfrm flipV="1">
              <a:off x="7812786" y="4657725"/>
              <a:ext cx="578739" cy="571500"/>
            </a:xfrm>
            <a:prstGeom prst="rect">
              <a:avLst/>
            </a:prstGeom>
            <a:solidFill>
              <a:srgbClr val="FF00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grpSp>
      <p:grpSp>
        <p:nvGrpSpPr>
          <p:cNvPr id="36889" name="Group 144"/>
          <p:cNvGrpSpPr>
            <a:grpSpLocks/>
          </p:cNvGrpSpPr>
          <p:nvPr/>
        </p:nvGrpSpPr>
        <p:grpSpPr bwMode="auto">
          <a:xfrm flipV="1">
            <a:off x="1787752" y="4421187"/>
            <a:ext cx="2906712" cy="1895475"/>
            <a:chOff x="5484876" y="3933825"/>
            <a:chExt cx="2906649" cy="1895474"/>
          </a:xfrm>
        </p:grpSpPr>
        <p:sp>
          <p:nvSpPr>
            <p:cNvPr id="146" name="Rectangle 145"/>
            <p:cNvSpPr/>
            <p:nvPr/>
          </p:nvSpPr>
          <p:spPr bwMode="auto">
            <a:xfrm flipV="1">
              <a:off x="5484876" y="4122737"/>
              <a:ext cx="247645" cy="255588"/>
            </a:xfrm>
            <a:prstGeom prst="rect">
              <a:avLst/>
            </a:prstGeom>
            <a:solidFill>
              <a:schemeClr val="accent3">
                <a:lumMod val="65000"/>
              </a:schemeClr>
            </a:solidFill>
            <a:ln w="9525" cap="flat" cmpd="sng" algn="ctr">
              <a:solidFill>
                <a:schemeClr val="tx1"/>
              </a:solidFill>
              <a:prstDash val="solid"/>
              <a:round/>
              <a:headEnd type="none" w="med" len="med"/>
              <a:tailEnd type="none" w="med" len="med"/>
            </a:ln>
            <a:effectLst/>
          </p:spPr>
          <p:txBody>
            <a:bodyPr/>
            <a:lstStyle/>
            <a:p>
              <a:pPr>
                <a:defRPr/>
              </a:pPr>
              <a:endParaRPr lang="en-GB"/>
            </a:p>
          </p:txBody>
        </p:sp>
        <p:sp>
          <p:nvSpPr>
            <p:cNvPr id="36891" name="Rectangle 146"/>
            <p:cNvSpPr>
              <a:spLocks noChangeArrowheads="1"/>
            </p:cNvSpPr>
            <p:nvPr/>
          </p:nvSpPr>
          <p:spPr bwMode="auto">
            <a:xfrm flipV="1">
              <a:off x="5759958" y="4724400"/>
              <a:ext cx="831342" cy="490347"/>
            </a:xfrm>
            <a:prstGeom prst="rect">
              <a:avLst/>
            </a:prstGeom>
            <a:solidFill>
              <a:srgbClr val="33CC33"/>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92" name="Rectangle 147"/>
            <p:cNvSpPr>
              <a:spLocks noChangeArrowheads="1"/>
            </p:cNvSpPr>
            <p:nvPr/>
          </p:nvSpPr>
          <p:spPr bwMode="auto">
            <a:xfrm flipV="1">
              <a:off x="6606540" y="5079872"/>
              <a:ext cx="251460" cy="749427"/>
            </a:xfrm>
            <a:prstGeom prst="rect">
              <a:avLst/>
            </a:prstGeom>
            <a:solidFill>
              <a:srgbClr val="FFFF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93" name="Rectangle 148"/>
            <p:cNvSpPr>
              <a:spLocks noChangeArrowheads="1"/>
            </p:cNvSpPr>
            <p:nvPr/>
          </p:nvSpPr>
          <p:spPr bwMode="auto">
            <a:xfrm flipV="1">
              <a:off x="6882383" y="3933825"/>
              <a:ext cx="251841" cy="586359"/>
            </a:xfrm>
            <a:prstGeom prst="rect">
              <a:avLst/>
            </a:prstGeom>
            <a:solidFill>
              <a:srgbClr val="0000FF"/>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6894" name="Rectangle 149"/>
            <p:cNvSpPr>
              <a:spLocks noChangeArrowheads="1"/>
            </p:cNvSpPr>
            <p:nvPr/>
          </p:nvSpPr>
          <p:spPr bwMode="auto">
            <a:xfrm flipV="1">
              <a:off x="7812786" y="4657725"/>
              <a:ext cx="578739" cy="571500"/>
            </a:xfrm>
            <a:prstGeom prst="rect">
              <a:avLst/>
            </a:prstGeom>
            <a:solidFill>
              <a:srgbClr val="FF00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grpSp>
      <p:sp>
        <p:nvSpPr>
          <p:cNvPr id="2" name="TextBox 1">
            <a:extLst>
              <a:ext uri="{FF2B5EF4-FFF2-40B4-BE49-F238E27FC236}">
                <a16:creationId xmlns:a16="http://schemas.microsoft.com/office/drawing/2014/main" id="{F69DAFF0-011D-4CB2-8231-9242F510D8CC}"/>
              </a:ext>
            </a:extLst>
          </p:cNvPr>
          <p:cNvSpPr txBox="1"/>
          <p:nvPr/>
        </p:nvSpPr>
        <p:spPr>
          <a:xfrm>
            <a:off x="1128526" y="1531903"/>
            <a:ext cx="712787" cy="276999"/>
          </a:xfrm>
          <a:prstGeom prst="rect">
            <a:avLst/>
          </a:prstGeom>
          <a:noFill/>
        </p:spPr>
        <p:txBody>
          <a:bodyPr wrap="square" rtlCol="0">
            <a:spAutoFit/>
          </a:bodyPr>
          <a:lstStyle/>
          <a:p>
            <a:r>
              <a:rPr lang="en-GB" sz="1200"/>
              <a:t>sync</a:t>
            </a:r>
            <a:endParaRPr lang="en-GB"/>
          </a:p>
        </p:txBody>
      </p:sp>
      <p:sp>
        <p:nvSpPr>
          <p:cNvPr id="118" name="TextBox 117">
            <a:extLst>
              <a:ext uri="{FF2B5EF4-FFF2-40B4-BE49-F238E27FC236}">
                <a16:creationId xmlns:a16="http://schemas.microsoft.com/office/drawing/2014/main" id="{5B80B1B9-9326-4AFA-BA67-0274148BE159}"/>
              </a:ext>
            </a:extLst>
          </p:cNvPr>
          <p:cNvSpPr txBox="1"/>
          <p:nvPr/>
        </p:nvSpPr>
        <p:spPr>
          <a:xfrm>
            <a:off x="1626206" y="1461030"/>
            <a:ext cx="712787" cy="461665"/>
          </a:xfrm>
          <a:prstGeom prst="rect">
            <a:avLst/>
          </a:prstGeom>
          <a:noFill/>
        </p:spPr>
        <p:txBody>
          <a:bodyPr wrap="square" rtlCol="0">
            <a:spAutoFit/>
          </a:bodyPr>
          <a:lstStyle/>
          <a:p>
            <a:r>
              <a:rPr lang="en-GB" sz="1200"/>
              <a:t>col burst</a:t>
            </a:r>
          </a:p>
        </p:txBody>
      </p:sp>
      <p:sp>
        <p:nvSpPr>
          <p:cNvPr id="119" name="TextBox 118">
            <a:extLst>
              <a:ext uri="{FF2B5EF4-FFF2-40B4-BE49-F238E27FC236}">
                <a16:creationId xmlns:a16="http://schemas.microsoft.com/office/drawing/2014/main" id="{4E805D34-D1E4-4658-BB17-5BE4437E92B3}"/>
              </a:ext>
            </a:extLst>
          </p:cNvPr>
          <p:cNvSpPr txBox="1"/>
          <p:nvPr/>
        </p:nvSpPr>
        <p:spPr>
          <a:xfrm>
            <a:off x="2114363" y="1547109"/>
            <a:ext cx="3168402" cy="276999"/>
          </a:xfrm>
          <a:prstGeom prst="rect">
            <a:avLst/>
          </a:prstGeom>
          <a:noFill/>
        </p:spPr>
        <p:txBody>
          <a:bodyPr wrap="square" rtlCol="0">
            <a:spAutoFit/>
          </a:bodyPr>
          <a:lstStyle/>
          <a:p>
            <a:r>
              <a:rPr lang="en-GB" sz="1200"/>
              <a:t>active video …………………………</a:t>
            </a:r>
          </a:p>
        </p:txBody>
      </p:sp>
      <p:sp>
        <p:nvSpPr>
          <p:cNvPr id="120" name="TextBox 119">
            <a:extLst>
              <a:ext uri="{FF2B5EF4-FFF2-40B4-BE49-F238E27FC236}">
                <a16:creationId xmlns:a16="http://schemas.microsoft.com/office/drawing/2014/main" id="{B78EFEF9-F30B-4814-8EFA-A239F47F0DB1}"/>
              </a:ext>
            </a:extLst>
          </p:cNvPr>
          <p:cNvSpPr txBox="1"/>
          <p:nvPr/>
        </p:nvSpPr>
        <p:spPr>
          <a:xfrm>
            <a:off x="4832765" y="1269362"/>
            <a:ext cx="712787" cy="646331"/>
          </a:xfrm>
          <a:prstGeom prst="rect">
            <a:avLst/>
          </a:prstGeom>
          <a:noFill/>
        </p:spPr>
        <p:txBody>
          <a:bodyPr wrap="square" rtlCol="0">
            <a:spAutoFit/>
          </a:bodyPr>
          <a:lstStyle/>
          <a:p>
            <a:r>
              <a:rPr lang="en-GB" sz="1200"/>
              <a:t>next line: </a:t>
            </a:r>
          </a:p>
          <a:p>
            <a:r>
              <a:rPr lang="en-GB" sz="1200"/>
              <a:t>sync</a:t>
            </a:r>
            <a:endParaRPr lang="en-GB"/>
          </a:p>
        </p:txBody>
      </p:sp>
      <p:sp>
        <p:nvSpPr>
          <p:cNvPr id="121" name="TextBox 120">
            <a:extLst>
              <a:ext uri="{FF2B5EF4-FFF2-40B4-BE49-F238E27FC236}">
                <a16:creationId xmlns:a16="http://schemas.microsoft.com/office/drawing/2014/main" id="{4129DFCF-FFD8-4D41-86A7-188C1C70C588}"/>
              </a:ext>
            </a:extLst>
          </p:cNvPr>
          <p:cNvSpPr txBox="1"/>
          <p:nvPr/>
        </p:nvSpPr>
        <p:spPr>
          <a:xfrm>
            <a:off x="5444993" y="1461030"/>
            <a:ext cx="712787" cy="461665"/>
          </a:xfrm>
          <a:prstGeom prst="rect">
            <a:avLst/>
          </a:prstGeom>
          <a:noFill/>
        </p:spPr>
        <p:txBody>
          <a:bodyPr wrap="square" rtlCol="0">
            <a:spAutoFit/>
          </a:bodyPr>
          <a:lstStyle/>
          <a:p>
            <a:r>
              <a:rPr lang="en-GB" sz="1200"/>
              <a:t>col burst</a:t>
            </a:r>
          </a:p>
        </p:txBody>
      </p:sp>
      <p:sp>
        <p:nvSpPr>
          <p:cNvPr id="122" name="TextBox 121">
            <a:extLst>
              <a:ext uri="{FF2B5EF4-FFF2-40B4-BE49-F238E27FC236}">
                <a16:creationId xmlns:a16="http://schemas.microsoft.com/office/drawing/2014/main" id="{E49AFA35-7112-4323-B105-89AA3DB73253}"/>
              </a:ext>
            </a:extLst>
          </p:cNvPr>
          <p:cNvSpPr txBox="1"/>
          <p:nvPr/>
        </p:nvSpPr>
        <p:spPr>
          <a:xfrm>
            <a:off x="5933150" y="1547109"/>
            <a:ext cx="3168402" cy="276999"/>
          </a:xfrm>
          <a:prstGeom prst="rect">
            <a:avLst/>
          </a:prstGeom>
          <a:noFill/>
        </p:spPr>
        <p:txBody>
          <a:bodyPr wrap="square" rtlCol="0">
            <a:spAutoFit/>
          </a:bodyPr>
          <a:lstStyle/>
          <a:p>
            <a:r>
              <a:rPr lang="en-GB" sz="1200"/>
              <a:t>active video …………………………</a:t>
            </a:r>
          </a:p>
        </p:txBody>
      </p:sp>
    </p:spTree>
    <p:extLst>
      <p:ext uri="{BB962C8B-B14F-4D97-AF65-F5344CB8AC3E}">
        <p14:creationId xmlns:p14="http://schemas.microsoft.com/office/powerpoint/2010/main" val="1558668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69383" y="1567380"/>
            <a:ext cx="6978416" cy="3275840"/>
          </a:xfrm>
          <a:prstGeom prst="rect">
            <a:avLst/>
          </a:prstGeom>
        </p:spPr>
      </p:pic>
      <p:pic>
        <p:nvPicPr>
          <p:cNvPr id="5" name="Picture 74"/>
          <p:cNvPicPr>
            <a:picLocks noChangeAspect="1" noChangeArrowheads="1"/>
          </p:cNvPicPr>
          <p:nvPr/>
        </p:nvPicPr>
        <p:blipFill>
          <a:blip r:embed="rId3">
            <a:extLst>
              <a:ext uri="{28A0092B-C50C-407E-A947-70E740481C1C}">
                <a14:useLocalDpi xmlns:a14="http://schemas.microsoft.com/office/drawing/2010/main" val="0"/>
              </a:ext>
            </a:extLst>
          </a:blip>
          <a:srcRect r="7066"/>
          <a:stretch>
            <a:fillRect/>
          </a:stretch>
        </p:blipFill>
        <p:spPr bwMode="auto">
          <a:xfrm>
            <a:off x="3870378" y="5610387"/>
            <a:ext cx="2212707"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6" name="Picture 74"/>
          <p:cNvPicPr>
            <a:picLocks noChangeAspect="1" noChangeArrowheads="1"/>
          </p:cNvPicPr>
          <p:nvPr/>
        </p:nvPicPr>
        <p:blipFill>
          <a:blip r:embed="rId3">
            <a:extLst>
              <a:ext uri="{28A0092B-C50C-407E-A947-70E740481C1C}">
                <a14:useLocalDpi xmlns:a14="http://schemas.microsoft.com/office/drawing/2010/main" val="0"/>
              </a:ext>
            </a:extLst>
          </a:blip>
          <a:srcRect r="7066"/>
          <a:stretch>
            <a:fillRect/>
          </a:stretch>
        </p:blipFill>
        <p:spPr bwMode="auto">
          <a:xfrm>
            <a:off x="2010580" y="4905213"/>
            <a:ext cx="2212707" cy="139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7" name="Picture 74"/>
          <p:cNvPicPr>
            <a:picLocks noChangeAspect="1" noChangeArrowheads="1"/>
          </p:cNvPicPr>
          <p:nvPr/>
        </p:nvPicPr>
        <p:blipFill>
          <a:blip r:embed="rId3">
            <a:extLst>
              <a:ext uri="{28A0092B-C50C-407E-A947-70E740481C1C}">
                <a14:useLocalDpi xmlns:a14="http://schemas.microsoft.com/office/drawing/2010/main" val="0"/>
              </a:ext>
            </a:extLst>
          </a:blip>
          <a:srcRect r="7066"/>
          <a:stretch>
            <a:fillRect/>
          </a:stretch>
        </p:blipFill>
        <p:spPr bwMode="auto">
          <a:xfrm>
            <a:off x="5234228" y="4905213"/>
            <a:ext cx="2212707" cy="139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Rectangle 8"/>
          <p:cNvSpPr/>
          <p:nvPr/>
        </p:nvSpPr>
        <p:spPr bwMode="auto">
          <a:xfrm flipV="1">
            <a:off x="3758338" y="5673931"/>
            <a:ext cx="2526223" cy="68189"/>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 name="Rectangle 9"/>
          <p:cNvSpPr/>
          <p:nvPr/>
        </p:nvSpPr>
        <p:spPr bwMode="auto">
          <a:xfrm flipV="1">
            <a:off x="3758337" y="5771569"/>
            <a:ext cx="2526223" cy="68189"/>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12" name="Straight Arrow Connector 11"/>
          <p:cNvCxnSpPr>
            <a:stCxn id="9" idx="1"/>
          </p:cNvCxnSpPr>
          <p:nvPr/>
        </p:nvCxnSpPr>
        <p:spPr bwMode="auto">
          <a:xfrm flipH="1" flipV="1">
            <a:off x="3386380" y="5106690"/>
            <a:ext cx="371958" cy="601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Straight Arrow Connector 12"/>
          <p:cNvCxnSpPr>
            <a:cxnSpLocks/>
            <a:stCxn id="10" idx="3"/>
          </p:cNvCxnSpPr>
          <p:nvPr/>
        </p:nvCxnSpPr>
        <p:spPr bwMode="auto">
          <a:xfrm flipV="1">
            <a:off x="6284560" y="5106691"/>
            <a:ext cx="720674" cy="69897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TextBox 14"/>
          <p:cNvSpPr txBox="1"/>
          <p:nvPr/>
        </p:nvSpPr>
        <p:spPr>
          <a:xfrm>
            <a:off x="2778814" y="5286900"/>
            <a:ext cx="785793" cy="338554"/>
          </a:xfrm>
          <a:prstGeom prst="rect">
            <a:avLst/>
          </a:prstGeom>
          <a:noFill/>
        </p:spPr>
        <p:txBody>
          <a:bodyPr wrap="none" rtlCol="0">
            <a:spAutoFit/>
          </a:bodyPr>
          <a:lstStyle/>
          <a:p>
            <a:r>
              <a:rPr lang="en-GB"/>
              <a:t>Line n</a:t>
            </a:r>
          </a:p>
        </p:txBody>
      </p:sp>
      <p:sp>
        <p:nvSpPr>
          <p:cNvPr id="16" name="TextBox 15"/>
          <p:cNvSpPr txBox="1"/>
          <p:nvPr/>
        </p:nvSpPr>
        <p:spPr>
          <a:xfrm>
            <a:off x="6575925" y="5501204"/>
            <a:ext cx="1079142" cy="338554"/>
          </a:xfrm>
          <a:prstGeom prst="rect">
            <a:avLst/>
          </a:prstGeom>
          <a:noFill/>
        </p:spPr>
        <p:txBody>
          <a:bodyPr wrap="none" rtlCol="0">
            <a:spAutoFit/>
          </a:bodyPr>
          <a:lstStyle/>
          <a:p>
            <a:r>
              <a:rPr lang="en-GB"/>
              <a:t>Line n+1</a:t>
            </a:r>
          </a:p>
        </p:txBody>
      </p:sp>
      <p:sp>
        <p:nvSpPr>
          <p:cNvPr id="17" name="TextBox 16"/>
          <p:cNvSpPr txBox="1"/>
          <p:nvPr/>
        </p:nvSpPr>
        <p:spPr>
          <a:xfrm>
            <a:off x="511158" y="1036490"/>
            <a:ext cx="1234633" cy="338554"/>
          </a:xfrm>
          <a:prstGeom prst="rect">
            <a:avLst/>
          </a:prstGeom>
          <a:noFill/>
        </p:spPr>
        <p:txBody>
          <a:bodyPr wrap="none" rtlCol="0">
            <a:spAutoFit/>
          </a:bodyPr>
          <a:lstStyle/>
          <a:p>
            <a:r>
              <a:rPr lang="en-GB"/>
              <a:t>Sync pulse</a:t>
            </a:r>
          </a:p>
        </p:txBody>
      </p:sp>
      <p:cxnSp>
        <p:nvCxnSpPr>
          <p:cNvPr id="18" name="Straight Arrow Connector 17"/>
          <p:cNvCxnSpPr>
            <a:cxnSpLocks/>
          </p:cNvCxnSpPr>
          <p:nvPr/>
        </p:nvCxnSpPr>
        <p:spPr bwMode="auto">
          <a:xfrm flipH="1">
            <a:off x="1441342" y="1301427"/>
            <a:ext cx="46495" cy="3568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3" name="Straight Arrow Connector 22"/>
          <p:cNvCxnSpPr>
            <a:cxnSpLocks/>
          </p:cNvCxnSpPr>
          <p:nvPr/>
        </p:nvCxnSpPr>
        <p:spPr bwMode="auto">
          <a:xfrm>
            <a:off x="1666068" y="1301427"/>
            <a:ext cx="2776980" cy="5576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5" name="TextBox 24"/>
          <p:cNvSpPr txBox="1"/>
          <p:nvPr/>
        </p:nvSpPr>
        <p:spPr>
          <a:xfrm>
            <a:off x="6018069" y="1083486"/>
            <a:ext cx="1436612" cy="338554"/>
          </a:xfrm>
          <a:prstGeom prst="rect">
            <a:avLst/>
          </a:prstGeom>
          <a:noFill/>
        </p:spPr>
        <p:txBody>
          <a:bodyPr wrap="none" rtlCol="0">
            <a:spAutoFit/>
          </a:bodyPr>
          <a:lstStyle/>
          <a:p>
            <a:r>
              <a:rPr lang="en-GB"/>
              <a:t>Colour burst</a:t>
            </a:r>
          </a:p>
        </p:txBody>
      </p:sp>
      <p:cxnSp>
        <p:nvCxnSpPr>
          <p:cNvPr id="26" name="Straight Arrow Connector 25"/>
          <p:cNvCxnSpPr>
            <a:cxnSpLocks/>
            <a:stCxn id="25" idx="1"/>
          </p:cNvCxnSpPr>
          <p:nvPr/>
        </p:nvCxnSpPr>
        <p:spPr bwMode="auto">
          <a:xfrm flipH="1">
            <a:off x="5075697" y="1252763"/>
            <a:ext cx="942372" cy="67305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p:cNvCxnSpPr>
            <a:cxnSpLocks/>
            <a:stCxn id="25" idx="1"/>
          </p:cNvCxnSpPr>
          <p:nvPr/>
        </p:nvCxnSpPr>
        <p:spPr bwMode="auto">
          <a:xfrm flipH="1">
            <a:off x="1946835" y="1252763"/>
            <a:ext cx="4071234" cy="6511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3" name="Arrow: Down 32"/>
          <p:cNvSpPr/>
          <p:nvPr/>
        </p:nvSpPr>
        <p:spPr bwMode="auto">
          <a:xfrm rot="10800000">
            <a:off x="2121933" y="4090600"/>
            <a:ext cx="505029" cy="750639"/>
          </a:xfrm>
          <a:prstGeom prst="downArrow">
            <a:avLst/>
          </a:prstGeom>
          <a:solidFill>
            <a:srgbClr val="00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4" name="Arrow: Down 33"/>
          <p:cNvSpPr/>
          <p:nvPr/>
        </p:nvSpPr>
        <p:spPr bwMode="auto">
          <a:xfrm rot="10800000">
            <a:off x="2703155" y="4090599"/>
            <a:ext cx="278530" cy="750639"/>
          </a:xfrm>
          <a:prstGeom prst="downArrow">
            <a:avLst>
              <a:gd name="adj1" fmla="val 50000"/>
              <a:gd name="adj2" fmla="val 88950"/>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5" name="Arrow: Down 34"/>
          <p:cNvSpPr/>
          <p:nvPr/>
        </p:nvSpPr>
        <p:spPr bwMode="auto">
          <a:xfrm rot="10800000">
            <a:off x="2977668" y="4587496"/>
            <a:ext cx="278530" cy="253741"/>
          </a:xfrm>
          <a:prstGeom prst="downArrow">
            <a:avLst>
              <a:gd name="adj1" fmla="val 50000"/>
              <a:gd name="adj2" fmla="val 58411"/>
            </a:avLst>
          </a:prstGeom>
          <a:solidFill>
            <a:schemeClr val="accent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6" name="Arrow: Down 35"/>
          <p:cNvSpPr/>
          <p:nvPr/>
        </p:nvSpPr>
        <p:spPr bwMode="auto">
          <a:xfrm rot="10800000">
            <a:off x="3758337" y="4107305"/>
            <a:ext cx="505029" cy="750639"/>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7" name="Arrow: Down 36"/>
          <p:cNvSpPr/>
          <p:nvPr/>
        </p:nvSpPr>
        <p:spPr bwMode="auto">
          <a:xfrm rot="10800000">
            <a:off x="3278195" y="4275977"/>
            <a:ext cx="505029" cy="562890"/>
          </a:xfrm>
          <a:prstGeom prst="down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8" name="Rectangle 37"/>
          <p:cNvSpPr/>
          <p:nvPr/>
        </p:nvSpPr>
        <p:spPr>
          <a:xfrm>
            <a:off x="406587" y="378506"/>
            <a:ext cx="3932487" cy="461665"/>
          </a:xfrm>
          <a:prstGeom prst="rect">
            <a:avLst/>
          </a:prstGeom>
        </p:spPr>
        <p:txBody>
          <a:bodyPr wrap="none">
            <a:spAutoFit/>
          </a:bodyPr>
          <a:lstStyle/>
          <a:p>
            <a:r>
              <a:rPr lang="en-AU" altLang="en-US" sz="2400" b="1"/>
              <a:t>TV Modulation – PAL, AM</a:t>
            </a:r>
            <a:endParaRPr lang="en-GB" sz="2400"/>
          </a:p>
        </p:txBody>
      </p:sp>
    </p:spTree>
    <p:extLst>
      <p:ext uri="{BB962C8B-B14F-4D97-AF65-F5344CB8AC3E}">
        <p14:creationId xmlns:p14="http://schemas.microsoft.com/office/powerpoint/2010/main" val="2506351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395288" y="331788"/>
            <a:ext cx="8018462"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AU" altLang="en-US" sz="2400" b="1"/>
              <a:t>Video Timing</a:t>
            </a:r>
          </a:p>
        </p:txBody>
      </p:sp>
      <p:sp>
        <p:nvSpPr>
          <p:cNvPr id="362499" name="Rectangle 3"/>
          <p:cNvSpPr>
            <a:spLocks noGrp="1" noChangeArrowheads="1"/>
          </p:cNvSpPr>
          <p:nvPr>
            <p:ph type="body" idx="1"/>
          </p:nvPr>
        </p:nvSpPr>
        <p:spPr bwMode="auto">
          <a:xfrm>
            <a:off x="395288" y="847725"/>
            <a:ext cx="8018462" cy="2154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Tx/>
              <a:buNone/>
            </a:pPr>
            <a:r>
              <a:rPr lang="en-AU" altLang="en-US" sz="1600" b="1"/>
              <a:t>SDTV</a:t>
            </a:r>
          </a:p>
          <a:p>
            <a:r>
              <a:rPr lang="en-AU" altLang="en-US" sz="1600"/>
              <a:t>64 us for each line (15.625 kHz)</a:t>
            </a:r>
          </a:p>
          <a:p>
            <a:r>
              <a:rPr lang="en-AU" altLang="en-US" sz="1600"/>
              <a:t>52 us Active Picture Area</a:t>
            </a:r>
          </a:p>
          <a:p>
            <a:r>
              <a:rPr lang="en-AU" altLang="en-US" sz="1600"/>
              <a:t>12 us Blanking and Synchronisation</a:t>
            </a:r>
          </a:p>
          <a:p>
            <a:endParaRPr lang="en-AU" altLang="en-US" sz="1600"/>
          </a:p>
          <a:p>
            <a:r>
              <a:rPr lang="en-AU" altLang="en-US" sz="1600"/>
              <a:t>Two level sync pulse 300 mV below blanking</a:t>
            </a:r>
          </a:p>
          <a:p>
            <a:endParaRPr lang="en-AU" altLang="en-US" sz="1600"/>
          </a:p>
          <a:p>
            <a:endParaRPr lang="en-AU" altLang="en-US" sz="1600"/>
          </a:p>
          <a:p>
            <a:endParaRPr lang="en-AU" altLang="en-US" sz="1600"/>
          </a:p>
          <a:p>
            <a:endParaRPr lang="en-AU" altLang="en-US" sz="1600"/>
          </a:p>
          <a:p>
            <a:endParaRPr lang="en-AU" altLang="en-US" sz="1600"/>
          </a:p>
        </p:txBody>
      </p:sp>
      <p:grpSp>
        <p:nvGrpSpPr>
          <p:cNvPr id="2" name="Group 115"/>
          <p:cNvGrpSpPr>
            <a:grpSpLocks/>
          </p:cNvGrpSpPr>
          <p:nvPr/>
        </p:nvGrpSpPr>
        <p:grpSpPr bwMode="auto">
          <a:xfrm>
            <a:off x="1614488" y="4711700"/>
            <a:ext cx="6461125" cy="1033463"/>
            <a:chOff x="960" y="1248"/>
            <a:chExt cx="5232" cy="1104"/>
          </a:xfrm>
        </p:grpSpPr>
        <p:sp>
          <p:nvSpPr>
            <p:cNvPr id="20501" name="Line 116"/>
            <p:cNvSpPr>
              <a:spLocks noChangeShapeType="1"/>
            </p:cNvSpPr>
            <p:nvPr/>
          </p:nvSpPr>
          <p:spPr bwMode="auto">
            <a:xfrm>
              <a:off x="960" y="2016"/>
              <a:ext cx="4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02" name="Line 117"/>
            <p:cNvSpPr>
              <a:spLocks noChangeShapeType="1"/>
            </p:cNvSpPr>
            <p:nvPr/>
          </p:nvSpPr>
          <p:spPr bwMode="auto">
            <a:xfrm flipH="1">
              <a:off x="1008"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03" name="Line 118"/>
            <p:cNvSpPr>
              <a:spLocks noChangeShapeType="1"/>
            </p:cNvSpPr>
            <p:nvPr/>
          </p:nvSpPr>
          <p:spPr bwMode="auto">
            <a:xfrm flipV="1">
              <a:off x="1010"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04" name="Line 119"/>
            <p:cNvSpPr>
              <a:spLocks noChangeShapeType="1"/>
            </p:cNvSpPr>
            <p:nvPr/>
          </p:nvSpPr>
          <p:spPr bwMode="auto">
            <a:xfrm flipH="1" flipV="1">
              <a:off x="1200"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05" name="Line 120"/>
            <p:cNvSpPr>
              <a:spLocks noChangeShapeType="1"/>
            </p:cNvSpPr>
            <p:nvPr/>
          </p:nvSpPr>
          <p:spPr bwMode="auto">
            <a:xfrm>
              <a:off x="1200"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06" name="Line 121"/>
            <p:cNvSpPr>
              <a:spLocks noChangeShapeType="1"/>
            </p:cNvSpPr>
            <p:nvPr/>
          </p:nvSpPr>
          <p:spPr bwMode="auto">
            <a:xfrm flipV="1">
              <a:off x="153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07" name="Line 122"/>
            <p:cNvSpPr>
              <a:spLocks noChangeShapeType="1"/>
            </p:cNvSpPr>
            <p:nvPr/>
          </p:nvSpPr>
          <p:spPr bwMode="auto">
            <a:xfrm>
              <a:off x="1536"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08" name="Line 123"/>
            <p:cNvSpPr>
              <a:spLocks noChangeShapeType="1"/>
            </p:cNvSpPr>
            <p:nvPr/>
          </p:nvSpPr>
          <p:spPr bwMode="auto">
            <a:xfrm flipV="1">
              <a:off x="2112"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09" name="Line 124"/>
            <p:cNvSpPr>
              <a:spLocks noChangeShapeType="1"/>
            </p:cNvSpPr>
            <p:nvPr/>
          </p:nvSpPr>
          <p:spPr bwMode="auto">
            <a:xfrm>
              <a:off x="2112"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10" name="Line 125"/>
            <p:cNvSpPr>
              <a:spLocks noChangeShapeType="1"/>
            </p:cNvSpPr>
            <p:nvPr/>
          </p:nvSpPr>
          <p:spPr bwMode="auto">
            <a:xfrm>
              <a:off x="2304"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11" name="Line 126"/>
            <p:cNvSpPr>
              <a:spLocks noChangeShapeType="1"/>
            </p:cNvSpPr>
            <p:nvPr/>
          </p:nvSpPr>
          <p:spPr bwMode="auto">
            <a:xfrm>
              <a:off x="2304"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12" name="Line 127"/>
            <p:cNvSpPr>
              <a:spLocks noChangeShapeType="1"/>
            </p:cNvSpPr>
            <p:nvPr/>
          </p:nvSpPr>
          <p:spPr bwMode="auto">
            <a:xfrm>
              <a:off x="345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13" name="Line 128"/>
            <p:cNvSpPr>
              <a:spLocks noChangeShapeType="1"/>
            </p:cNvSpPr>
            <p:nvPr/>
          </p:nvSpPr>
          <p:spPr bwMode="auto">
            <a:xfrm>
              <a:off x="3456"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14" name="Line 129"/>
            <p:cNvSpPr>
              <a:spLocks noChangeShapeType="1"/>
            </p:cNvSpPr>
            <p:nvPr/>
          </p:nvSpPr>
          <p:spPr bwMode="auto">
            <a:xfrm>
              <a:off x="3504"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15" name="Line 130"/>
            <p:cNvSpPr>
              <a:spLocks noChangeShapeType="1"/>
            </p:cNvSpPr>
            <p:nvPr/>
          </p:nvSpPr>
          <p:spPr bwMode="auto">
            <a:xfrm flipV="1">
              <a:off x="3506"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16" name="Line 131"/>
            <p:cNvSpPr>
              <a:spLocks noChangeShapeType="1"/>
            </p:cNvSpPr>
            <p:nvPr/>
          </p:nvSpPr>
          <p:spPr bwMode="auto">
            <a:xfrm flipH="1" flipV="1">
              <a:off x="3696"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17" name="Line 132"/>
            <p:cNvSpPr>
              <a:spLocks noChangeShapeType="1"/>
            </p:cNvSpPr>
            <p:nvPr/>
          </p:nvSpPr>
          <p:spPr bwMode="auto">
            <a:xfrm>
              <a:off x="3696"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18" name="Line 133"/>
            <p:cNvSpPr>
              <a:spLocks noChangeShapeType="1"/>
            </p:cNvSpPr>
            <p:nvPr/>
          </p:nvSpPr>
          <p:spPr bwMode="auto">
            <a:xfrm flipV="1">
              <a:off x="403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19" name="Line 134"/>
            <p:cNvSpPr>
              <a:spLocks noChangeShapeType="1"/>
            </p:cNvSpPr>
            <p:nvPr/>
          </p:nvSpPr>
          <p:spPr bwMode="auto">
            <a:xfrm>
              <a:off x="4032"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20" name="Line 135"/>
            <p:cNvSpPr>
              <a:spLocks noChangeShapeType="1"/>
            </p:cNvSpPr>
            <p:nvPr/>
          </p:nvSpPr>
          <p:spPr bwMode="auto">
            <a:xfrm flipV="1">
              <a:off x="4608"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21" name="Line 136"/>
            <p:cNvSpPr>
              <a:spLocks noChangeShapeType="1"/>
            </p:cNvSpPr>
            <p:nvPr/>
          </p:nvSpPr>
          <p:spPr bwMode="auto">
            <a:xfrm>
              <a:off x="4608"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22" name="Line 137"/>
            <p:cNvSpPr>
              <a:spLocks noChangeShapeType="1"/>
            </p:cNvSpPr>
            <p:nvPr/>
          </p:nvSpPr>
          <p:spPr bwMode="auto">
            <a:xfrm>
              <a:off x="4800"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23" name="Line 138"/>
            <p:cNvSpPr>
              <a:spLocks noChangeShapeType="1"/>
            </p:cNvSpPr>
            <p:nvPr/>
          </p:nvSpPr>
          <p:spPr bwMode="auto">
            <a:xfrm>
              <a:off x="4800"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24" name="Line 139"/>
            <p:cNvSpPr>
              <a:spLocks noChangeShapeType="1"/>
            </p:cNvSpPr>
            <p:nvPr/>
          </p:nvSpPr>
          <p:spPr bwMode="auto">
            <a:xfrm>
              <a:off x="5424"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25" name="Line 140"/>
            <p:cNvSpPr>
              <a:spLocks noChangeShapeType="1"/>
            </p:cNvSpPr>
            <p:nvPr/>
          </p:nvSpPr>
          <p:spPr bwMode="auto">
            <a:xfrm>
              <a:off x="595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26" name="Line 141"/>
            <p:cNvSpPr>
              <a:spLocks noChangeShapeType="1"/>
            </p:cNvSpPr>
            <p:nvPr/>
          </p:nvSpPr>
          <p:spPr bwMode="auto">
            <a:xfrm>
              <a:off x="5952"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27" name="Line 142"/>
            <p:cNvSpPr>
              <a:spLocks noChangeShapeType="1"/>
            </p:cNvSpPr>
            <p:nvPr/>
          </p:nvSpPr>
          <p:spPr bwMode="auto">
            <a:xfrm>
              <a:off x="6000"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28" name="Line 143"/>
            <p:cNvSpPr>
              <a:spLocks noChangeShapeType="1"/>
            </p:cNvSpPr>
            <p:nvPr/>
          </p:nvSpPr>
          <p:spPr bwMode="auto">
            <a:xfrm flipV="1">
              <a:off x="6002"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29" name="Line 144"/>
            <p:cNvSpPr>
              <a:spLocks noChangeShapeType="1"/>
            </p:cNvSpPr>
            <p:nvPr/>
          </p:nvSpPr>
          <p:spPr bwMode="auto">
            <a:xfrm flipH="1" flipV="1">
              <a:off x="6192"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30" name="Line 145"/>
            <p:cNvSpPr>
              <a:spLocks noChangeShapeType="1"/>
            </p:cNvSpPr>
            <p:nvPr/>
          </p:nvSpPr>
          <p:spPr bwMode="auto">
            <a:xfrm flipV="1">
              <a:off x="4992"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31" name="Line 146"/>
            <p:cNvSpPr>
              <a:spLocks noChangeShapeType="1"/>
            </p:cNvSpPr>
            <p:nvPr/>
          </p:nvSpPr>
          <p:spPr bwMode="auto">
            <a:xfrm>
              <a:off x="5280"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32" name="Line 147"/>
            <p:cNvSpPr>
              <a:spLocks noChangeShapeType="1"/>
            </p:cNvSpPr>
            <p:nvPr/>
          </p:nvSpPr>
          <p:spPr bwMode="auto">
            <a:xfrm>
              <a:off x="2928"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33" name="Line 148"/>
            <p:cNvSpPr>
              <a:spLocks noChangeShapeType="1"/>
            </p:cNvSpPr>
            <p:nvPr/>
          </p:nvSpPr>
          <p:spPr bwMode="auto">
            <a:xfrm flipV="1">
              <a:off x="2496"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34" name="Line 149"/>
            <p:cNvSpPr>
              <a:spLocks noChangeShapeType="1"/>
            </p:cNvSpPr>
            <p:nvPr/>
          </p:nvSpPr>
          <p:spPr bwMode="auto">
            <a:xfrm>
              <a:off x="2784"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3" name="Group 156"/>
          <p:cNvGrpSpPr>
            <a:grpSpLocks/>
          </p:cNvGrpSpPr>
          <p:nvPr/>
        </p:nvGrpSpPr>
        <p:grpSpPr bwMode="auto">
          <a:xfrm>
            <a:off x="395288" y="4710113"/>
            <a:ext cx="7172325" cy="1341437"/>
            <a:chOff x="144" y="2544"/>
            <a:chExt cx="5808" cy="1433"/>
          </a:xfrm>
        </p:grpSpPr>
        <p:sp>
          <p:nvSpPr>
            <p:cNvPr id="20494" name="Text Box 58"/>
            <p:cNvSpPr txBox="1">
              <a:spLocks noChangeArrowheads="1"/>
            </p:cNvSpPr>
            <p:nvPr/>
          </p:nvSpPr>
          <p:spPr bwMode="auto">
            <a:xfrm>
              <a:off x="336" y="3312"/>
              <a:ext cx="51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0 mV</a:t>
              </a:r>
            </a:p>
          </p:txBody>
        </p:sp>
        <p:sp>
          <p:nvSpPr>
            <p:cNvPr id="20495" name="Text Box 59"/>
            <p:cNvSpPr txBox="1">
              <a:spLocks noChangeArrowheads="1"/>
            </p:cNvSpPr>
            <p:nvPr/>
          </p:nvSpPr>
          <p:spPr bwMode="auto">
            <a:xfrm>
              <a:off x="192" y="2544"/>
              <a:ext cx="70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700 mV</a:t>
              </a:r>
            </a:p>
          </p:txBody>
        </p:sp>
        <p:sp>
          <p:nvSpPr>
            <p:cNvPr id="20496" name="Text Box 60"/>
            <p:cNvSpPr txBox="1">
              <a:spLocks noChangeArrowheads="1"/>
            </p:cNvSpPr>
            <p:nvPr/>
          </p:nvSpPr>
          <p:spPr bwMode="auto">
            <a:xfrm>
              <a:off x="144" y="3648"/>
              <a:ext cx="787"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-300 mV</a:t>
              </a:r>
            </a:p>
          </p:txBody>
        </p:sp>
        <p:grpSp>
          <p:nvGrpSpPr>
            <p:cNvPr id="20497" name="Group 150"/>
            <p:cNvGrpSpPr>
              <a:grpSpLocks/>
            </p:cNvGrpSpPr>
            <p:nvPr/>
          </p:nvGrpSpPr>
          <p:grpSpPr bwMode="auto">
            <a:xfrm>
              <a:off x="816" y="2640"/>
              <a:ext cx="5136" cy="1104"/>
              <a:chOff x="816" y="1248"/>
              <a:chExt cx="5136" cy="1104"/>
            </a:xfrm>
          </p:grpSpPr>
          <p:sp>
            <p:nvSpPr>
              <p:cNvPr id="20498" name="Line 151"/>
              <p:cNvSpPr>
                <a:spLocks noChangeShapeType="1"/>
              </p:cNvSpPr>
              <p:nvPr/>
            </p:nvSpPr>
            <p:spPr bwMode="auto">
              <a:xfrm>
                <a:off x="816" y="1248"/>
                <a:ext cx="4464"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499" name="Line 152"/>
              <p:cNvSpPr>
                <a:spLocks noChangeShapeType="1"/>
              </p:cNvSpPr>
              <p:nvPr/>
            </p:nvSpPr>
            <p:spPr bwMode="auto">
              <a:xfrm>
                <a:off x="816" y="2016"/>
                <a:ext cx="4128"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0500" name="Line 153"/>
              <p:cNvSpPr>
                <a:spLocks noChangeShapeType="1"/>
              </p:cNvSpPr>
              <p:nvPr/>
            </p:nvSpPr>
            <p:spPr bwMode="auto">
              <a:xfrm>
                <a:off x="816" y="2352"/>
                <a:ext cx="5136" cy="0"/>
              </a:xfrm>
              <a:prstGeom prst="line">
                <a:avLst/>
              </a:prstGeom>
              <a:noFill/>
              <a:ln w="12700" cap="rnd">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sp>
        <p:nvSpPr>
          <p:cNvPr id="20486" name="Text Box 41"/>
          <p:cNvSpPr txBox="1">
            <a:spLocks noChangeArrowheads="1"/>
          </p:cNvSpPr>
          <p:nvPr/>
        </p:nvSpPr>
        <p:spPr bwMode="auto">
          <a:xfrm>
            <a:off x="2406650" y="3878263"/>
            <a:ext cx="19113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pPr algn="ctr"/>
            <a:r>
              <a:rPr lang="en-AU" altLang="en-US" sz="1400"/>
              <a:t>Active Picture</a:t>
            </a:r>
            <a:br>
              <a:rPr lang="en-AU" altLang="en-US" sz="1400"/>
            </a:br>
            <a:r>
              <a:rPr lang="en-AU" altLang="en-US" sz="1400"/>
              <a:t>52 us</a:t>
            </a:r>
          </a:p>
        </p:txBody>
      </p:sp>
      <p:cxnSp>
        <p:nvCxnSpPr>
          <p:cNvPr id="20487" name="Straight Arrow Connector 172"/>
          <p:cNvCxnSpPr>
            <a:cxnSpLocks noChangeShapeType="1"/>
          </p:cNvCxnSpPr>
          <p:nvPr/>
        </p:nvCxnSpPr>
        <p:spPr bwMode="auto">
          <a:xfrm>
            <a:off x="2378075" y="4627563"/>
            <a:ext cx="2289175" cy="1587"/>
          </a:xfrm>
          <a:prstGeom prst="straightConnector1">
            <a:avLst/>
          </a:prstGeom>
          <a:noFill/>
          <a:ln w="9525"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20488" name="Text Box 46"/>
          <p:cNvSpPr txBox="1">
            <a:spLocks noChangeArrowheads="1"/>
          </p:cNvSpPr>
          <p:nvPr/>
        </p:nvSpPr>
        <p:spPr bwMode="auto">
          <a:xfrm>
            <a:off x="1406525" y="6046788"/>
            <a:ext cx="7286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Sync</a:t>
            </a:r>
            <a:br>
              <a:rPr lang="en-AU" altLang="en-US" sz="1400"/>
            </a:br>
            <a:r>
              <a:rPr lang="en-AU" altLang="en-US" sz="1400"/>
              <a:t>4.7 us</a:t>
            </a:r>
          </a:p>
        </p:txBody>
      </p:sp>
      <p:cxnSp>
        <p:nvCxnSpPr>
          <p:cNvPr id="20489" name="Straight Arrow Connector 177"/>
          <p:cNvCxnSpPr>
            <a:cxnSpLocks noChangeShapeType="1"/>
          </p:cNvCxnSpPr>
          <p:nvPr/>
        </p:nvCxnSpPr>
        <p:spPr bwMode="auto">
          <a:xfrm>
            <a:off x="1646238" y="5922963"/>
            <a:ext cx="261937" cy="7937"/>
          </a:xfrm>
          <a:prstGeom prst="straightConnector1">
            <a:avLst/>
          </a:prstGeom>
          <a:noFill/>
          <a:ln w="9525"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20490" name="Text Box 39"/>
          <p:cNvSpPr txBox="1">
            <a:spLocks noChangeArrowheads="1"/>
          </p:cNvSpPr>
          <p:nvPr/>
        </p:nvSpPr>
        <p:spPr bwMode="auto">
          <a:xfrm>
            <a:off x="5730875" y="5992813"/>
            <a:ext cx="14557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1 Line = 64 us</a:t>
            </a:r>
          </a:p>
        </p:txBody>
      </p:sp>
      <p:cxnSp>
        <p:nvCxnSpPr>
          <p:cNvPr id="20491" name="Straight Arrow Connector 182"/>
          <p:cNvCxnSpPr>
            <a:cxnSpLocks noChangeShapeType="1"/>
          </p:cNvCxnSpPr>
          <p:nvPr/>
        </p:nvCxnSpPr>
        <p:spPr bwMode="auto">
          <a:xfrm>
            <a:off x="5000625" y="5956300"/>
            <a:ext cx="3062288" cy="15875"/>
          </a:xfrm>
          <a:prstGeom prst="straightConnector1">
            <a:avLst/>
          </a:prstGeom>
          <a:noFill/>
          <a:ln w="9525"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20492" name="Text Box 43"/>
          <p:cNvSpPr txBox="1">
            <a:spLocks noChangeArrowheads="1"/>
          </p:cNvSpPr>
          <p:nvPr/>
        </p:nvSpPr>
        <p:spPr bwMode="auto">
          <a:xfrm>
            <a:off x="4508500" y="3852863"/>
            <a:ext cx="928688"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AU" altLang="en-US" sz="1400"/>
              <a:t>Line</a:t>
            </a:r>
            <a:br>
              <a:rPr lang="en-AU" altLang="en-US" sz="1400"/>
            </a:br>
            <a:r>
              <a:rPr lang="en-AU" altLang="en-US" sz="1400"/>
              <a:t>Blanking</a:t>
            </a:r>
            <a:br>
              <a:rPr lang="en-AU" altLang="en-US" sz="1400"/>
            </a:br>
            <a:r>
              <a:rPr lang="en-AU" altLang="en-US" sz="1400"/>
              <a:t> 12 us</a:t>
            </a:r>
          </a:p>
        </p:txBody>
      </p:sp>
      <p:cxnSp>
        <p:nvCxnSpPr>
          <p:cNvPr id="20493" name="Straight Arrow Connector 186"/>
          <p:cNvCxnSpPr>
            <a:cxnSpLocks noChangeShapeType="1"/>
          </p:cNvCxnSpPr>
          <p:nvPr/>
        </p:nvCxnSpPr>
        <p:spPr bwMode="auto">
          <a:xfrm>
            <a:off x="4675188" y="4635500"/>
            <a:ext cx="739775" cy="1588"/>
          </a:xfrm>
          <a:prstGeom prst="straightConnector1">
            <a:avLst/>
          </a:prstGeom>
          <a:noFill/>
          <a:ln w="9525"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8351678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5000"/>
                                  </p:stCondLst>
                                  <p:childTnLst>
                                    <p:set>
                                      <p:cBhvr>
                                        <p:cTn id="6" dur="1" fill="hold">
                                          <p:stCondLst>
                                            <p:cond delay="499"/>
                                          </p:stCondLst>
                                        </p:cTn>
                                        <p:tgtEl>
                                          <p:spTgt spid="362499">
                                            <p:txEl>
                                              <p:pRg st="0" end="0"/>
                                            </p:txEl>
                                          </p:spTgt>
                                        </p:tgtEl>
                                        <p:attrNameLst>
                                          <p:attrName>style.visibility</p:attrName>
                                        </p:attrNameLst>
                                      </p:cBhvr>
                                      <p:to>
                                        <p:strVal val="visible"/>
                                      </p:to>
                                    </p:set>
                                  </p:childTnLst>
                                </p:cTn>
                              </p:par>
                            </p:childTnLst>
                          </p:cTn>
                        </p:par>
                        <p:par>
                          <p:cTn id="7" fill="hold" nodeType="afterGroup">
                            <p:stCondLst>
                              <p:cond delay="5500"/>
                            </p:stCondLst>
                            <p:childTnLst>
                              <p:par>
                                <p:cTn id="8" presetID="1" presetClass="entr" presetSubtype="0" fill="hold" grpId="0" nodeType="afterEffect">
                                  <p:stCondLst>
                                    <p:cond delay="5000"/>
                                  </p:stCondLst>
                                  <p:childTnLst>
                                    <p:set>
                                      <p:cBhvr>
                                        <p:cTn id="9" dur="1" fill="hold">
                                          <p:stCondLst>
                                            <p:cond delay="499"/>
                                          </p:stCondLst>
                                        </p:cTn>
                                        <p:tgtEl>
                                          <p:spTgt spid="362499">
                                            <p:txEl>
                                              <p:pRg st="1" end="1"/>
                                            </p:txEl>
                                          </p:spTgt>
                                        </p:tgtEl>
                                        <p:attrNameLst>
                                          <p:attrName>style.visibility</p:attrName>
                                        </p:attrNameLst>
                                      </p:cBhvr>
                                      <p:to>
                                        <p:strVal val="visible"/>
                                      </p:to>
                                    </p:set>
                                  </p:childTnLst>
                                </p:cTn>
                              </p:par>
                            </p:childTnLst>
                          </p:cTn>
                        </p:par>
                        <p:par>
                          <p:cTn id="10" fill="hold" nodeType="afterGroup">
                            <p:stCondLst>
                              <p:cond delay="11000"/>
                            </p:stCondLst>
                            <p:childTnLst>
                              <p:par>
                                <p:cTn id="11" presetID="1" presetClass="entr" presetSubtype="0" fill="hold" grpId="0" nodeType="afterEffect">
                                  <p:stCondLst>
                                    <p:cond delay="5000"/>
                                  </p:stCondLst>
                                  <p:childTnLst>
                                    <p:set>
                                      <p:cBhvr>
                                        <p:cTn id="12" dur="1" fill="hold">
                                          <p:stCondLst>
                                            <p:cond delay="499"/>
                                          </p:stCondLst>
                                        </p:cTn>
                                        <p:tgtEl>
                                          <p:spTgt spid="362499">
                                            <p:txEl>
                                              <p:pRg st="2" end="2"/>
                                            </p:txEl>
                                          </p:spTgt>
                                        </p:tgtEl>
                                        <p:attrNameLst>
                                          <p:attrName>style.visibility</p:attrName>
                                        </p:attrNameLst>
                                      </p:cBhvr>
                                      <p:to>
                                        <p:strVal val="visible"/>
                                      </p:to>
                                    </p:set>
                                  </p:childTnLst>
                                </p:cTn>
                              </p:par>
                            </p:childTnLst>
                          </p:cTn>
                        </p:par>
                        <p:par>
                          <p:cTn id="13" fill="hold" nodeType="afterGroup">
                            <p:stCondLst>
                              <p:cond delay="16500"/>
                            </p:stCondLst>
                            <p:childTnLst>
                              <p:par>
                                <p:cTn id="14" presetID="1" presetClass="entr" presetSubtype="0" fill="hold" grpId="0" nodeType="afterEffect">
                                  <p:stCondLst>
                                    <p:cond delay="5000"/>
                                  </p:stCondLst>
                                  <p:childTnLst>
                                    <p:set>
                                      <p:cBhvr>
                                        <p:cTn id="15" dur="1" fill="hold">
                                          <p:stCondLst>
                                            <p:cond delay="499"/>
                                          </p:stCondLst>
                                        </p:cTn>
                                        <p:tgtEl>
                                          <p:spTgt spid="362499">
                                            <p:txEl>
                                              <p:pRg st="3" end="3"/>
                                            </p:txEl>
                                          </p:spTgt>
                                        </p:tgtEl>
                                        <p:attrNameLst>
                                          <p:attrName>style.visibility</p:attrName>
                                        </p:attrNameLst>
                                      </p:cBhvr>
                                      <p:to>
                                        <p:strVal val="visible"/>
                                      </p:to>
                                    </p:set>
                                  </p:childTnLst>
                                </p:cTn>
                              </p:par>
                            </p:childTnLst>
                          </p:cTn>
                        </p:par>
                        <p:par>
                          <p:cTn id="16" fill="hold" nodeType="afterGroup">
                            <p:stCondLst>
                              <p:cond delay="22000"/>
                            </p:stCondLst>
                            <p:childTnLst>
                              <p:par>
                                <p:cTn id="17" presetID="1" presetClass="entr" presetSubtype="0" fill="hold" grpId="0" nodeType="afterEffect">
                                  <p:stCondLst>
                                    <p:cond delay="5000"/>
                                  </p:stCondLst>
                                  <p:childTnLst>
                                    <p:set>
                                      <p:cBhvr>
                                        <p:cTn id="18" dur="1" fill="hold">
                                          <p:stCondLst>
                                            <p:cond delay="499"/>
                                          </p:stCondLst>
                                        </p:cTn>
                                        <p:tgtEl>
                                          <p:spTgt spid="362499">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autoUpdateAnimBg="0" advAuto="500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bwMode="auto">
          <a:xfrm>
            <a:off x="395288" y="33178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AU" altLang="en-US" sz="2400" b="1"/>
              <a:t>Colour Sub Carrier</a:t>
            </a:r>
          </a:p>
        </p:txBody>
      </p:sp>
      <p:sp>
        <p:nvSpPr>
          <p:cNvPr id="363523" name="Rectangle 3"/>
          <p:cNvSpPr>
            <a:spLocks noGrp="1" noChangeArrowheads="1"/>
          </p:cNvSpPr>
          <p:nvPr>
            <p:ph type="body" idx="1"/>
          </p:nvPr>
        </p:nvSpPr>
        <p:spPr bwMode="auto">
          <a:xfrm>
            <a:off x="2696786" y="5247910"/>
            <a:ext cx="4571919" cy="100535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en-AU" altLang="en-US" sz="1600"/>
              <a:t>Frequency selected to interleave colour information spectra with Luma spectrum</a:t>
            </a:r>
          </a:p>
        </p:txBody>
      </p:sp>
      <p:pic>
        <p:nvPicPr>
          <p:cNvPr id="3" name="Picture 2"/>
          <p:cNvPicPr>
            <a:picLocks noChangeAspect="1"/>
          </p:cNvPicPr>
          <p:nvPr/>
        </p:nvPicPr>
        <p:blipFill>
          <a:blip r:embed="rId2"/>
          <a:stretch>
            <a:fillRect/>
          </a:stretch>
        </p:blipFill>
        <p:spPr>
          <a:xfrm>
            <a:off x="978303" y="988825"/>
            <a:ext cx="6034679" cy="3688617"/>
          </a:xfrm>
          <a:prstGeom prst="rect">
            <a:avLst/>
          </a:prstGeom>
        </p:spPr>
      </p:pic>
      <p:sp>
        <p:nvSpPr>
          <p:cNvPr id="4" name="TextBox 3"/>
          <p:cNvSpPr txBox="1"/>
          <p:nvPr/>
        </p:nvSpPr>
        <p:spPr>
          <a:xfrm>
            <a:off x="395288" y="819548"/>
            <a:ext cx="1213794" cy="338554"/>
          </a:xfrm>
          <a:prstGeom prst="rect">
            <a:avLst/>
          </a:prstGeom>
          <a:noFill/>
        </p:spPr>
        <p:txBody>
          <a:bodyPr wrap="none" rtlCol="0">
            <a:spAutoFit/>
          </a:bodyPr>
          <a:lstStyle/>
          <a:p>
            <a:r>
              <a:rPr lang="en-GB"/>
              <a:t>Amplitude</a:t>
            </a:r>
          </a:p>
        </p:txBody>
      </p:sp>
      <p:sp>
        <p:nvSpPr>
          <p:cNvPr id="11" name="TextBox 10"/>
          <p:cNvSpPr txBox="1"/>
          <p:nvPr/>
        </p:nvSpPr>
        <p:spPr>
          <a:xfrm>
            <a:off x="2031222" y="1075270"/>
            <a:ext cx="986167" cy="338554"/>
          </a:xfrm>
          <a:prstGeom prst="rect">
            <a:avLst/>
          </a:prstGeom>
          <a:noFill/>
        </p:spPr>
        <p:txBody>
          <a:bodyPr wrap="none" rtlCol="0">
            <a:spAutoFit/>
          </a:bodyPr>
          <a:lstStyle/>
          <a:p>
            <a:r>
              <a:rPr lang="en-GB"/>
              <a:t>Luma, Y</a:t>
            </a:r>
          </a:p>
        </p:txBody>
      </p:sp>
      <p:sp>
        <p:nvSpPr>
          <p:cNvPr id="12" name="TextBox 11"/>
          <p:cNvSpPr txBox="1"/>
          <p:nvPr/>
        </p:nvSpPr>
        <p:spPr>
          <a:xfrm>
            <a:off x="4510088" y="1075270"/>
            <a:ext cx="1653017" cy="338554"/>
          </a:xfrm>
          <a:prstGeom prst="rect">
            <a:avLst/>
          </a:prstGeom>
          <a:noFill/>
        </p:spPr>
        <p:txBody>
          <a:bodyPr wrap="none" rtlCol="0">
            <a:spAutoFit/>
          </a:bodyPr>
          <a:lstStyle/>
          <a:p>
            <a:r>
              <a:rPr lang="en-GB"/>
              <a:t>Chroma, U &amp; V</a:t>
            </a:r>
          </a:p>
        </p:txBody>
      </p:sp>
      <p:sp>
        <p:nvSpPr>
          <p:cNvPr id="13" name="TextBox 12"/>
          <p:cNvSpPr txBox="1"/>
          <p:nvPr/>
        </p:nvSpPr>
        <p:spPr>
          <a:xfrm>
            <a:off x="1090592" y="3137182"/>
            <a:ext cx="5301451" cy="338554"/>
          </a:xfrm>
          <a:prstGeom prst="rect">
            <a:avLst/>
          </a:prstGeom>
          <a:noFill/>
        </p:spPr>
        <p:txBody>
          <a:bodyPr wrap="none" rtlCol="0">
            <a:spAutoFit/>
          </a:bodyPr>
          <a:lstStyle/>
          <a:p>
            <a:r>
              <a:rPr lang="en-GB"/>
              <a:t>0            1             2              3            4               5</a:t>
            </a:r>
          </a:p>
        </p:txBody>
      </p:sp>
      <p:sp>
        <p:nvSpPr>
          <p:cNvPr id="5" name="Rectangle 4"/>
          <p:cNvSpPr/>
          <p:nvPr/>
        </p:nvSpPr>
        <p:spPr>
          <a:xfrm>
            <a:off x="5504749" y="3379131"/>
            <a:ext cx="1197764" cy="338554"/>
          </a:xfrm>
          <a:prstGeom prst="rect">
            <a:avLst/>
          </a:prstGeom>
        </p:spPr>
        <p:txBody>
          <a:bodyPr wrap="none">
            <a:spAutoFit/>
          </a:bodyPr>
          <a:lstStyle/>
          <a:p>
            <a:r>
              <a:rPr lang="en-GB"/>
              <a:t>Freq, MHz</a:t>
            </a:r>
          </a:p>
        </p:txBody>
      </p:sp>
      <p:sp>
        <p:nvSpPr>
          <p:cNvPr id="6" name="Oval 5"/>
          <p:cNvSpPr/>
          <p:nvPr/>
        </p:nvSpPr>
        <p:spPr bwMode="auto">
          <a:xfrm>
            <a:off x="4331817" y="2707680"/>
            <a:ext cx="790414" cy="460833"/>
          </a:xfrm>
          <a:prstGeom prst="ellipse">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8" name="Straight Arrow Connector 7"/>
          <p:cNvCxnSpPr>
            <a:cxnSpLocks/>
          </p:cNvCxnSpPr>
          <p:nvPr/>
        </p:nvCxnSpPr>
        <p:spPr bwMode="auto">
          <a:xfrm>
            <a:off x="4727024" y="3171196"/>
            <a:ext cx="0" cy="73437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Rectangle 8"/>
          <p:cNvSpPr/>
          <p:nvPr/>
        </p:nvSpPr>
        <p:spPr>
          <a:xfrm>
            <a:off x="6163105" y="1474987"/>
            <a:ext cx="1975435" cy="830997"/>
          </a:xfrm>
          <a:prstGeom prst="rect">
            <a:avLst/>
          </a:prstGeom>
        </p:spPr>
        <p:txBody>
          <a:bodyPr wrap="square">
            <a:spAutoFit/>
          </a:bodyPr>
          <a:lstStyle/>
          <a:p>
            <a:r>
              <a:rPr lang="en-AU" altLang="en-US"/>
              <a:t>Colour Sub-Carrier at 4.43361875 MHz</a:t>
            </a:r>
          </a:p>
        </p:txBody>
      </p:sp>
      <p:cxnSp>
        <p:nvCxnSpPr>
          <p:cNvPr id="14" name="Straight Connector 13"/>
          <p:cNvCxnSpPr>
            <a:cxnSpLocks/>
          </p:cNvCxnSpPr>
          <p:nvPr/>
        </p:nvCxnSpPr>
        <p:spPr bwMode="auto">
          <a:xfrm flipV="1">
            <a:off x="5336596" y="1384380"/>
            <a:ext cx="1" cy="1767388"/>
          </a:xfrm>
          <a:prstGeom prst="line">
            <a:avLst/>
          </a:prstGeom>
          <a:solidFill>
            <a:schemeClr val="accent1"/>
          </a:solidFill>
          <a:ln w="28575" cap="flat" cmpd="sng" algn="ctr">
            <a:solidFill>
              <a:srgbClr val="FFFF00"/>
            </a:solidFill>
            <a:prstDash val="solid"/>
            <a:round/>
            <a:headEnd type="none" w="med" len="med"/>
            <a:tailEnd type="none" w="med" len="med"/>
          </a:ln>
          <a:effectLst/>
        </p:spPr>
      </p:cxnSp>
      <p:cxnSp>
        <p:nvCxnSpPr>
          <p:cNvPr id="21" name="Straight Arrow Connector 20"/>
          <p:cNvCxnSpPr>
            <a:cxnSpLocks/>
          </p:cNvCxnSpPr>
          <p:nvPr/>
        </p:nvCxnSpPr>
        <p:spPr bwMode="auto">
          <a:xfrm flipH="1">
            <a:off x="5336596" y="2208953"/>
            <a:ext cx="826509" cy="216532"/>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3" name="Straight Arrow Connector 22"/>
          <p:cNvCxnSpPr>
            <a:cxnSpLocks/>
          </p:cNvCxnSpPr>
          <p:nvPr/>
        </p:nvCxnSpPr>
        <p:spPr bwMode="auto">
          <a:xfrm flipV="1">
            <a:off x="4153546" y="4773478"/>
            <a:ext cx="356542" cy="559673"/>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2544448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35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angle: Rounded Corners 85"/>
          <p:cNvSpPr/>
          <p:nvPr/>
        </p:nvSpPr>
        <p:spPr bwMode="auto">
          <a:xfrm>
            <a:off x="5672514" y="3664777"/>
            <a:ext cx="2542148" cy="1208984"/>
          </a:xfrm>
          <a:prstGeom prst="roundRect">
            <a:avLst>
              <a:gd name="adj" fmla="val 9858"/>
            </a:avLst>
          </a:prstGeom>
          <a:solidFill>
            <a:schemeClr val="tx1">
              <a:lumMod val="95000"/>
              <a:lumOff val="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 name="Rectangle: Rounded Corners 10"/>
          <p:cNvSpPr/>
          <p:nvPr/>
        </p:nvSpPr>
        <p:spPr bwMode="auto">
          <a:xfrm>
            <a:off x="2429331" y="2081349"/>
            <a:ext cx="2882024" cy="1402080"/>
          </a:xfrm>
          <a:prstGeom prst="roundRect">
            <a:avLst/>
          </a:prstGeom>
          <a:solidFill>
            <a:schemeClr val="accent6">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3794" name="Rectangle 1026"/>
          <p:cNvSpPr>
            <a:spLocks noGrp="1" noChangeArrowheads="1"/>
          </p:cNvSpPr>
          <p:nvPr>
            <p:ph type="title"/>
          </p:nvPr>
        </p:nvSpPr>
        <p:spPr bwMode="auto">
          <a:xfrm>
            <a:off x="395288" y="33178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AU" altLang="en-US" sz="2400" b="1"/>
              <a:t>Adding Colour to B&amp;W Video</a:t>
            </a:r>
          </a:p>
        </p:txBody>
      </p:sp>
      <p:pic>
        <p:nvPicPr>
          <p:cNvPr id="33796" name="Picture 74"/>
          <p:cNvPicPr>
            <a:picLocks noChangeAspect="1" noChangeArrowheads="1"/>
          </p:cNvPicPr>
          <p:nvPr/>
        </p:nvPicPr>
        <p:blipFill>
          <a:blip r:embed="rId2">
            <a:extLst>
              <a:ext uri="{28A0092B-C50C-407E-A947-70E740481C1C}">
                <a14:useLocalDpi xmlns:a14="http://schemas.microsoft.com/office/drawing/2010/main" val="0"/>
              </a:ext>
            </a:extLst>
          </a:blip>
          <a:srcRect r="7066"/>
          <a:stretch>
            <a:fillRect/>
          </a:stretch>
        </p:blipFill>
        <p:spPr bwMode="auto">
          <a:xfrm>
            <a:off x="5839281" y="3851515"/>
            <a:ext cx="22685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 name="Group 115"/>
          <p:cNvGrpSpPr>
            <a:grpSpLocks/>
          </p:cNvGrpSpPr>
          <p:nvPr/>
        </p:nvGrpSpPr>
        <p:grpSpPr bwMode="auto">
          <a:xfrm>
            <a:off x="2049919" y="5234227"/>
            <a:ext cx="6461125" cy="1033463"/>
            <a:chOff x="960" y="1248"/>
            <a:chExt cx="5232" cy="1104"/>
          </a:xfrm>
        </p:grpSpPr>
        <p:sp>
          <p:nvSpPr>
            <p:cNvPr id="33838" name="Line 116"/>
            <p:cNvSpPr>
              <a:spLocks noChangeShapeType="1"/>
            </p:cNvSpPr>
            <p:nvPr/>
          </p:nvSpPr>
          <p:spPr bwMode="auto">
            <a:xfrm>
              <a:off x="960" y="2016"/>
              <a:ext cx="4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39" name="Line 117"/>
            <p:cNvSpPr>
              <a:spLocks noChangeShapeType="1"/>
            </p:cNvSpPr>
            <p:nvPr/>
          </p:nvSpPr>
          <p:spPr bwMode="auto">
            <a:xfrm flipH="1">
              <a:off x="1008"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40" name="Line 118"/>
            <p:cNvSpPr>
              <a:spLocks noChangeShapeType="1"/>
            </p:cNvSpPr>
            <p:nvPr/>
          </p:nvSpPr>
          <p:spPr bwMode="auto">
            <a:xfrm flipV="1">
              <a:off x="1010"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41" name="Line 119"/>
            <p:cNvSpPr>
              <a:spLocks noChangeShapeType="1"/>
            </p:cNvSpPr>
            <p:nvPr/>
          </p:nvSpPr>
          <p:spPr bwMode="auto">
            <a:xfrm flipH="1" flipV="1">
              <a:off x="1200"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42" name="Line 120"/>
            <p:cNvSpPr>
              <a:spLocks noChangeShapeType="1"/>
            </p:cNvSpPr>
            <p:nvPr/>
          </p:nvSpPr>
          <p:spPr bwMode="auto">
            <a:xfrm>
              <a:off x="1200"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43" name="Line 121"/>
            <p:cNvSpPr>
              <a:spLocks noChangeShapeType="1"/>
            </p:cNvSpPr>
            <p:nvPr/>
          </p:nvSpPr>
          <p:spPr bwMode="auto">
            <a:xfrm flipV="1">
              <a:off x="153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44" name="Line 122"/>
            <p:cNvSpPr>
              <a:spLocks noChangeShapeType="1"/>
            </p:cNvSpPr>
            <p:nvPr/>
          </p:nvSpPr>
          <p:spPr bwMode="auto">
            <a:xfrm>
              <a:off x="1536"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45" name="Line 123"/>
            <p:cNvSpPr>
              <a:spLocks noChangeShapeType="1"/>
            </p:cNvSpPr>
            <p:nvPr/>
          </p:nvSpPr>
          <p:spPr bwMode="auto">
            <a:xfrm flipV="1">
              <a:off x="2112"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46" name="Line 124"/>
            <p:cNvSpPr>
              <a:spLocks noChangeShapeType="1"/>
            </p:cNvSpPr>
            <p:nvPr/>
          </p:nvSpPr>
          <p:spPr bwMode="auto">
            <a:xfrm>
              <a:off x="2112"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47" name="Line 125"/>
            <p:cNvSpPr>
              <a:spLocks noChangeShapeType="1"/>
            </p:cNvSpPr>
            <p:nvPr/>
          </p:nvSpPr>
          <p:spPr bwMode="auto">
            <a:xfrm>
              <a:off x="2304"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48" name="Line 126"/>
            <p:cNvSpPr>
              <a:spLocks noChangeShapeType="1"/>
            </p:cNvSpPr>
            <p:nvPr/>
          </p:nvSpPr>
          <p:spPr bwMode="auto">
            <a:xfrm>
              <a:off x="2304"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49" name="Line 127"/>
            <p:cNvSpPr>
              <a:spLocks noChangeShapeType="1"/>
            </p:cNvSpPr>
            <p:nvPr/>
          </p:nvSpPr>
          <p:spPr bwMode="auto">
            <a:xfrm>
              <a:off x="3456"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50" name="Line 128"/>
            <p:cNvSpPr>
              <a:spLocks noChangeShapeType="1"/>
            </p:cNvSpPr>
            <p:nvPr/>
          </p:nvSpPr>
          <p:spPr bwMode="auto">
            <a:xfrm>
              <a:off x="3456"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51" name="Line 129"/>
            <p:cNvSpPr>
              <a:spLocks noChangeShapeType="1"/>
            </p:cNvSpPr>
            <p:nvPr/>
          </p:nvSpPr>
          <p:spPr bwMode="auto">
            <a:xfrm>
              <a:off x="3504"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52" name="Line 130"/>
            <p:cNvSpPr>
              <a:spLocks noChangeShapeType="1"/>
            </p:cNvSpPr>
            <p:nvPr/>
          </p:nvSpPr>
          <p:spPr bwMode="auto">
            <a:xfrm flipV="1">
              <a:off x="3506"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53" name="Line 131"/>
            <p:cNvSpPr>
              <a:spLocks noChangeShapeType="1"/>
            </p:cNvSpPr>
            <p:nvPr/>
          </p:nvSpPr>
          <p:spPr bwMode="auto">
            <a:xfrm flipH="1" flipV="1">
              <a:off x="3696"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54" name="Line 132"/>
            <p:cNvSpPr>
              <a:spLocks noChangeShapeType="1"/>
            </p:cNvSpPr>
            <p:nvPr/>
          </p:nvSpPr>
          <p:spPr bwMode="auto">
            <a:xfrm>
              <a:off x="3696" y="2016"/>
              <a:ext cx="33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55" name="Line 133"/>
            <p:cNvSpPr>
              <a:spLocks noChangeShapeType="1"/>
            </p:cNvSpPr>
            <p:nvPr/>
          </p:nvSpPr>
          <p:spPr bwMode="auto">
            <a:xfrm flipV="1">
              <a:off x="403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56" name="Line 134"/>
            <p:cNvSpPr>
              <a:spLocks noChangeShapeType="1"/>
            </p:cNvSpPr>
            <p:nvPr/>
          </p:nvSpPr>
          <p:spPr bwMode="auto">
            <a:xfrm>
              <a:off x="4032" y="1584"/>
              <a:ext cx="576"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57" name="Line 135"/>
            <p:cNvSpPr>
              <a:spLocks noChangeShapeType="1"/>
            </p:cNvSpPr>
            <p:nvPr/>
          </p:nvSpPr>
          <p:spPr bwMode="auto">
            <a:xfrm flipV="1">
              <a:off x="4608" y="1248"/>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58" name="Line 136"/>
            <p:cNvSpPr>
              <a:spLocks noChangeShapeType="1"/>
            </p:cNvSpPr>
            <p:nvPr/>
          </p:nvSpPr>
          <p:spPr bwMode="auto">
            <a:xfrm>
              <a:off x="4608" y="1248"/>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59" name="Line 137"/>
            <p:cNvSpPr>
              <a:spLocks noChangeShapeType="1"/>
            </p:cNvSpPr>
            <p:nvPr/>
          </p:nvSpPr>
          <p:spPr bwMode="auto">
            <a:xfrm>
              <a:off x="4800" y="1248"/>
              <a:ext cx="0"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60" name="Line 138"/>
            <p:cNvSpPr>
              <a:spLocks noChangeShapeType="1"/>
            </p:cNvSpPr>
            <p:nvPr/>
          </p:nvSpPr>
          <p:spPr bwMode="auto">
            <a:xfrm>
              <a:off x="4800" y="2016"/>
              <a:ext cx="192"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61" name="Line 139"/>
            <p:cNvSpPr>
              <a:spLocks noChangeShapeType="1"/>
            </p:cNvSpPr>
            <p:nvPr/>
          </p:nvSpPr>
          <p:spPr bwMode="auto">
            <a:xfrm>
              <a:off x="5424"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62" name="Line 140"/>
            <p:cNvSpPr>
              <a:spLocks noChangeShapeType="1"/>
            </p:cNvSpPr>
            <p:nvPr/>
          </p:nvSpPr>
          <p:spPr bwMode="auto">
            <a:xfrm>
              <a:off x="5952" y="1584"/>
              <a:ext cx="0" cy="43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63" name="Line 141"/>
            <p:cNvSpPr>
              <a:spLocks noChangeShapeType="1"/>
            </p:cNvSpPr>
            <p:nvPr/>
          </p:nvSpPr>
          <p:spPr bwMode="auto">
            <a:xfrm>
              <a:off x="5952" y="2016"/>
              <a:ext cx="5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64" name="Line 142"/>
            <p:cNvSpPr>
              <a:spLocks noChangeShapeType="1"/>
            </p:cNvSpPr>
            <p:nvPr/>
          </p:nvSpPr>
          <p:spPr bwMode="auto">
            <a:xfrm>
              <a:off x="6000" y="2016"/>
              <a:ext cx="2"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65" name="Line 143"/>
            <p:cNvSpPr>
              <a:spLocks noChangeShapeType="1"/>
            </p:cNvSpPr>
            <p:nvPr/>
          </p:nvSpPr>
          <p:spPr bwMode="auto">
            <a:xfrm flipV="1">
              <a:off x="6002" y="2352"/>
              <a:ext cx="190"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66" name="Line 144"/>
            <p:cNvSpPr>
              <a:spLocks noChangeShapeType="1"/>
            </p:cNvSpPr>
            <p:nvPr/>
          </p:nvSpPr>
          <p:spPr bwMode="auto">
            <a:xfrm flipH="1" flipV="1">
              <a:off x="6192" y="2016"/>
              <a:ext cx="0"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67" name="Line 145"/>
            <p:cNvSpPr>
              <a:spLocks noChangeShapeType="1"/>
            </p:cNvSpPr>
            <p:nvPr/>
          </p:nvSpPr>
          <p:spPr bwMode="auto">
            <a:xfrm flipV="1">
              <a:off x="4992"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68" name="Line 146"/>
            <p:cNvSpPr>
              <a:spLocks noChangeShapeType="1"/>
            </p:cNvSpPr>
            <p:nvPr/>
          </p:nvSpPr>
          <p:spPr bwMode="auto">
            <a:xfrm>
              <a:off x="5280"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69" name="Line 147"/>
            <p:cNvSpPr>
              <a:spLocks noChangeShapeType="1"/>
            </p:cNvSpPr>
            <p:nvPr/>
          </p:nvSpPr>
          <p:spPr bwMode="auto">
            <a:xfrm>
              <a:off x="2928" y="1584"/>
              <a:ext cx="528"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70" name="Line 148"/>
            <p:cNvSpPr>
              <a:spLocks noChangeShapeType="1"/>
            </p:cNvSpPr>
            <p:nvPr/>
          </p:nvSpPr>
          <p:spPr bwMode="auto">
            <a:xfrm flipV="1">
              <a:off x="2496" y="1248"/>
              <a:ext cx="288" cy="76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33871" name="Line 149"/>
            <p:cNvSpPr>
              <a:spLocks noChangeShapeType="1"/>
            </p:cNvSpPr>
            <p:nvPr/>
          </p:nvSpPr>
          <p:spPr bwMode="auto">
            <a:xfrm>
              <a:off x="2784" y="1248"/>
              <a:ext cx="144" cy="336"/>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sp>
        <p:nvSpPr>
          <p:cNvPr id="110" name="Rectangle 109"/>
          <p:cNvSpPr/>
          <p:nvPr/>
        </p:nvSpPr>
        <p:spPr bwMode="auto">
          <a:xfrm>
            <a:off x="2429331" y="5826365"/>
            <a:ext cx="246063" cy="255587"/>
          </a:xfrm>
          <a:prstGeom prst="rect">
            <a:avLst/>
          </a:prstGeom>
          <a:solidFill>
            <a:schemeClr val="accent3">
              <a:lumMod val="65000"/>
            </a:schemeClr>
          </a:solidFill>
          <a:ln w="9525" cap="flat" cmpd="sng" algn="ctr">
            <a:solidFill>
              <a:schemeClr val="tx1"/>
            </a:solidFill>
            <a:prstDash val="solid"/>
            <a:round/>
            <a:headEnd type="none" w="med" len="med"/>
            <a:tailEnd type="none" w="med" len="med"/>
          </a:ln>
          <a:effectLst/>
        </p:spPr>
        <p:txBody>
          <a:bodyPr/>
          <a:lstStyle/>
          <a:p>
            <a:pPr>
              <a:defRPr/>
            </a:pPr>
            <a:endParaRPr lang="en-GB"/>
          </a:p>
        </p:txBody>
      </p:sp>
      <p:sp>
        <p:nvSpPr>
          <p:cNvPr id="111" name="Rectangle 110"/>
          <p:cNvSpPr/>
          <p:nvPr/>
        </p:nvSpPr>
        <p:spPr bwMode="auto">
          <a:xfrm>
            <a:off x="5501144" y="5835890"/>
            <a:ext cx="247650" cy="255587"/>
          </a:xfrm>
          <a:prstGeom prst="rect">
            <a:avLst/>
          </a:prstGeom>
          <a:solidFill>
            <a:schemeClr val="accent3">
              <a:lumMod val="65000"/>
            </a:schemeClr>
          </a:solidFill>
          <a:ln w="9525" cap="flat" cmpd="sng" algn="ctr">
            <a:solidFill>
              <a:schemeClr val="tx1"/>
            </a:solidFill>
            <a:prstDash val="solid"/>
            <a:round/>
            <a:headEnd type="none" w="med" len="med"/>
            <a:tailEnd type="none" w="med" len="med"/>
          </a:ln>
          <a:effectLst/>
        </p:spPr>
        <p:txBody>
          <a:bodyPr/>
          <a:lstStyle/>
          <a:p>
            <a:pPr>
              <a:defRPr/>
            </a:pPr>
            <a:endParaRPr lang="en-GB"/>
          </a:p>
        </p:txBody>
      </p:sp>
      <p:sp>
        <p:nvSpPr>
          <p:cNvPr id="33800" name="Rectangle 111"/>
          <p:cNvSpPr>
            <a:spLocks noChangeArrowheads="1"/>
          </p:cNvSpPr>
          <p:nvPr/>
        </p:nvSpPr>
        <p:spPr bwMode="auto">
          <a:xfrm>
            <a:off x="2784931" y="5332652"/>
            <a:ext cx="649288" cy="338138"/>
          </a:xfrm>
          <a:prstGeom prst="rect">
            <a:avLst/>
          </a:prstGeom>
          <a:solidFill>
            <a:srgbClr val="33CC33"/>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3801" name="Rectangle 112"/>
          <p:cNvSpPr>
            <a:spLocks noChangeArrowheads="1"/>
          </p:cNvSpPr>
          <p:nvPr/>
        </p:nvSpPr>
        <p:spPr bwMode="auto">
          <a:xfrm>
            <a:off x="5858331" y="5342177"/>
            <a:ext cx="649288" cy="338138"/>
          </a:xfrm>
          <a:prstGeom prst="rect">
            <a:avLst/>
          </a:prstGeom>
          <a:solidFill>
            <a:srgbClr val="33CC33"/>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3802" name="Rectangle 113"/>
          <p:cNvSpPr>
            <a:spLocks noChangeArrowheads="1"/>
          </p:cNvSpPr>
          <p:nvPr/>
        </p:nvSpPr>
        <p:spPr bwMode="auto">
          <a:xfrm>
            <a:off x="3499306" y="5021502"/>
            <a:ext cx="182563" cy="338138"/>
          </a:xfrm>
          <a:prstGeom prst="rect">
            <a:avLst/>
          </a:prstGeom>
          <a:solidFill>
            <a:srgbClr val="FFFF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3803" name="Rectangle 114"/>
          <p:cNvSpPr>
            <a:spLocks noChangeArrowheads="1"/>
          </p:cNvSpPr>
          <p:nvPr/>
        </p:nvSpPr>
        <p:spPr bwMode="auto">
          <a:xfrm>
            <a:off x="6571119" y="5031027"/>
            <a:ext cx="182562" cy="338138"/>
          </a:xfrm>
          <a:prstGeom prst="rect">
            <a:avLst/>
          </a:prstGeom>
          <a:solidFill>
            <a:srgbClr val="FFFF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3804" name="Rectangle 115"/>
          <p:cNvSpPr>
            <a:spLocks noChangeArrowheads="1"/>
          </p:cNvSpPr>
          <p:nvPr/>
        </p:nvSpPr>
        <p:spPr bwMode="auto">
          <a:xfrm>
            <a:off x="3735844" y="5770802"/>
            <a:ext cx="184150" cy="338138"/>
          </a:xfrm>
          <a:prstGeom prst="rect">
            <a:avLst/>
          </a:prstGeom>
          <a:solidFill>
            <a:srgbClr val="0000FF"/>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3805" name="Rectangle 116"/>
          <p:cNvSpPr>
            <a:spLocks noChangeArrowheads="1"/>
          </p:cNvSpPr>
          <p:nvPr/>
        </p:nvSpPr>
        <p:spPr bwMode="auto">
          <a:xfrm>
            <a:off x="6809244" y="5780327"/>
            <a:ext cx="182562" cy="338138"/>
          </a:xfrm>
          <a:prstGeom prst="rect">
            <a:avLst/>
          </a:prstGeom>
          <a:solidFill>
            <a:srgbClr val="0000FF"/>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3806" name="Rectangle 117"/>
          <p:cNvSpPr>
            <a:spLocks noChangeArrowheads="1"/>
          </p:cNvSpPr>
          <p:nvPr/>
        </p:nvSpPr>
        <p:spPr bwMode="auto">
          <a:xfrm>
            <a:off x="4494669" y="5386627"/>
            <a:ext cx="631825" cy="338138"/>
          </a:xfrm>
          <a:prstGeom prst="rect">
            <a:avLst/>
          </a:prstGeom>
          <a:solidFill>
            <a:srgbClr val="FF00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3807" name="Rectangle 118"/>
          <p:cNvSpPr>
            <a:spLocks noChangeArrowheads="1"/>
          </p:cNvSpPr>
          <p:nvPr/>
        </p:nvSpPr>
        <p:spPr bwMode="auto">
          <a:xfrm>
            <a:off x="7568069" y="5396152"/>
            <a:ext cx="630237" cy="338138"/>
          </a:xfrm>
          <a:prstGeom prst="rect">
            <a:avLst/>
          </a:prstGeom>
          <a:solidFill>
            <a:srgbClr val="FF0000"/>
          </a:solidFill>
          <a:ln w="9525" algn="ctr">
            <a:solidFill>
              <a:schemeClr val="tx1"/>
            </a:solidFill>
            <a:round/>
            <a:headEnd/>
            <a:tailEnd/>
          </a:ln>
        </p:spPr>
        <p:txBody>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endParaRPr lang="en-US" altLang="en-US"/>
          </a:p>
        </p:txBody>
      </p:sp>
      <p:sp>
        <p:nvSpPr>
          <p:cNvPr id="33812" name="TextBox 127"/>
          <p:cNvSpPr txBox="1">
            <a:spLocks noChangeArrowheads="1"/>
          </p:cNvSpPr>
          <p:nvPr/>
        </p:nvSpPr>
        <p:spPr bwMode="auto">
          <a:xfrm>
            <a:off x="2079557" y="3560575"/>
            <a:ext cx="801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1400"/>
              <a:t>colour burst</a:t>
            </a:r>
          </a:p>
        </p:txBody>
      </p:sp>
      <p:cxnSp>
        <p:nvCxnSpPr>
          <p:cNvPr id="33814" name="Straight Connector 131"/>
          <p:cNvCxnSpPr>
            <a:cxnSpLocks noChangeShapeType="1"/>
          </p:cNvCxnSpPr>
          <p:nvPr/>
        </p:nvCxnSpPr>
        <p:spPr bwMode="auto">
          <a:xfrm rot="5400000">
            <a:off x="5684500" y="5028646"/>
            <a:ext cx="404812"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15" name="Straight Connector 132"/>
          <p:cNvCxnSpPr>
            <a:cxnSpLocks noChangeShapeType="1"/>
          </p:cNvCxnSpPr>
          <p:nvPr/>
        </p:nvCxnSpPr>
        <p:spPr bwMode="auto">
          <a:xfrm rot="5400000">
            <a:off x="6330612" y="5046109"/>
            <a:ext cx="404813"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16" name="Straight Connector 133"/>
          <p:cNvCxnSpPr>
            <a:cxnSpLocks noChangeShapeType="1"/>
          </p:cNvCxnSpPr>
          <p:nvPr/>
        </p:nvCxnSpPr>
        <p:spPr bwMode="auto">
          <a:xfrm rot="5400000">
            <a:off x="6563975" y="5054046"/>
            <a:ext cx="404812"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17" name="Straight Connector 134"/>
          <p:cNvCxnSpPr>
            <a:cxnSpLocks noChangeShapeType="1"/>
          </p:cNvCxnSpPr>
          <p:nvPr/>
        </p:nvCxnSpPr>
        <p:spPr bwMode="auto">
          <a:xfrm rot="5400000">
            <a:off x="7159287" y="5071509"/>
            <a:ext cx="404813"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18" name="Straight Connector 135"/>
          <p:cNvCxnSpPr>
            <a:cxnSpLocks noChangeShapeType="1"/>
          </p:cNvCxnSpPr>
          <p:nvPr/>
        </p:nvCxnSpPr>
        <p:spPr bwMode="auto">
          <a:xfrm rot="5400000">
            <a:off x="7942719" y="5080240"/>
            <a:ext cx="40640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pic>
        <p:nvPicPr>
          <p:cNvPr id="33819" name="Picture 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659" y="4024384"/>
            <a:ext cx="2640435" cy="852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3820" name="Rectangle 139"/>
          <p:cNvSpPr>
            <a:spLocks noChangeArrowheads="1"/>
          </p:cNvSpPr>
          <p:nvPr/>
        </p:nvSpPr>
        <p:spPr bwMode="auto">
          <a:xfrm>
            <a:off x="365646" y="765655"/>
            <a:ext cx="5135497"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1400" dirty="0"/>
              <a:t>Following Sync pulse, eight cycles of a sine wave are added as a colour burst to sync colour carrier (suppressed) to decode colour info. Carriers:</a:t>
            </a:r>
          </a:p>
          <a:p>
            <a:r>
              <a:rPr lang="en-GB" altLang="en-US" sz="1400" dirty="0"/>
              <a:t>NTSC = 3.579545 MHz</a:t>
            </a:r>
          </a:p>
          <a:p>
            <a:r>
              <a:rPr lang="en-GB" altLang="en-US" sz="1400" dirty="0"/>
              <a:t>PAL = 4.433618.75 MHz</a:t>
            </a:r>
          </a:p>
        </p:txBody>
      </p:sp>
      <p:cxnSp>
        <p:nvCxnSpPr>
          <p:cNvPr id="5" name="Straight Connector 4"/>
          <p:cNvCxnSpPr>
            <a:stCxn id="33838" idx="1"/>
          </p:cNvCxnSpPr>
          <p:nvPr/>
        </p:nvCxnSpPr>
        <p:spPr bwMode="auto">
          <a:xfrm flipH="1" flipV="1">
            <a:off x="801078" y="4928254"/>
            <a:ext cx="1308117" cy="1024905"/>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67" name="Straight Connector 66"/>
          <p:cNvCxnSpPr>
            <a:cxnSpLocks/>
          </p:cNvCxnSpPr>
          <p:nvPr/>
        </p:nvCxnSpPr>
        <p:spPr bwMode="auto">
          <a:xfrm flipV="1">
            <a:off x="2737626" y="4486342"/>
            <a:ext cx="83787" cy="1024904"/>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9" name="Straight Connector 8"/>
          <p:cNvCxnSpPr/>
          <p:nvPr/>
        </p:nvCxnSpPr>
        <p:spPr bwMode="auto">
          <a:xfrm flipV="1">
            <a:off x="4510088" y="2440704"/>
            <a:ext cx="0" cy="755342"/>
          </a:xfrm>
          <a:prstGeom prst="line">
            <a:avLst/>
          </a:prstGeom>
          <a:solidFill>
            <a:schemeClr val="accent1"/>
          </a:solidFill>
          <a:ln w="28575" cap="flat" cmpd="sng" algn="ctr">
            <a:solidFill>
              <a:srgbClr val="FFFF00"/>
            </a:solidFill>
            <a:prstDash val="sysDot"/>
            <a:round/>
            <a:headEnd type="none" w="med" len="med"/>
            <a:tailEnd type="none" w="med" len="med"/>
          </a:ln>
          <a:effectLst/>
        </p:spPr>
      </p:cxn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5544" y="2293422"/>
            <a:ext cx="2628900" cy="1019175"/>
          </a:xfrm>
          <a:prstGeom prst="rect">
            <a:avLst/>
          </a:prstGeom>
        </p:spPr>
      </p:pic>
      <p:cxnSp>
        <p:nvCxnSpPr>
          <p:cNvPr id="15" name="Straight Arrow Connector 14"/>
          <p:cNvCxnSpPr>
            <a:cxnSpLocks/>
          </p:cNvCxnSpPr>
          <p:nvPr/>
        </p:nvCxnSpPr>
        <p:spPr bwMode="auto">
          <a:xfrm flipV="1">
            <a:off x="2552362" y="2905992"/>
            <a:ext cx="2010908" cy="11183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8" name="Straight Arrow Connector 77"/>
          <p:cNvCxnSpPr>
            <a:cxnSpLocks/>
          </p:cNvCxnSpPr>
          <p:nvPr/>
        </p:nvCxnSpPr>
        <p:spPr bwMode="auto">
          <a:xfrm>
            <a:off x="4688926" y="3148240"/>
            <a:ext cx="129970" cy="21352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1" name="Straight Arrow Connector 80"/>
          <p:cNvCxnSpPr>
            <a:cxnSpLocks/>
          </p:cNvCxnSpPr>
          <p:nvPr/>
        </p:nvCxnSpPr>
        <p:spPr bwMode="auto">
          <a:xfrm flipH="1">
            <a:off x="3809480" y="3196046"/>
            <a:ext cx="820049" cy="248426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3" name="Straight Arrow Connector 82"/>
          <p:cNvCxnSpPr>
            <a:cxnSpLocks/>
          </p:cNvCxnSpPr>
          <p:nvPr/>
        </p:nvCxnSpPr>
        <p:spPr bwMode="auto">
          <a:xfrm flipH="1">
            <a:off x="3661607" y="3229905"/>
            <a:ext cx="785720" cy="170041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4737491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5"/>
          <p:cNvPicPr>
            <a:picLocks noChangeAspect="1" noChangeArrowheads="1"/>
          </p:cNvPicPr>
          <p:nvPr/>
        </p:nvPicPr>
        <p:blipFill>
          <a:blip r:embed="rId2">
            <a:extLst>
              <a:ext uri="{28A0092B-C50C-407E-A947-70E740481C1C}">
                <a14:useLocalDpi xmlns:a14="http://schemas.microsoft.com/office/drawing/2010/main" val="0"/>
              </a:ext>
            </a:extLst>
          </a:blip>
          <a:srcRect l="1347" t="2119" r="1323" b="2397"/>
          <a:stretch>
            <a:fillRect/>
          </a:stretch>
        </p:blipFill>
        <p:spPr bwMode="auto">
          <a:xfrm>
            <a:off x="395288" y="893763"/>
            <a:ext cx="6313487" cy="326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8435" name="Text Box 4"/>
          <p:cNvSpPr txBox="1">
            <a:spLocks noChangeArrowheads="1"/>
          </p:cNvSpPr>
          <p:nvPr/>
        </p:nvSpPr>
        <p:spPr bwMode="auto">
          <a:xfrm>
            <a:off x="395288" y="331788"/>
            <a:ext cx="3394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2400" b="1"/>
              <a:t>PAL  Colour Encoding</a:t>
            </a:r>
          </a:p>
        </p:txBody>
      </p:sp>
      <p:sp>
        <p:nvSpPr>
          <p:cNvPr id="18436" name="Rectangle 5"/>
          <p:cNvSpPr>
            <a:spLocks noChangeArrowheads="1"/>
          </p:cNvSpPr>
          <p:nvPr/>
        </p:nvSpPr>
        <p:spPr bwMode="auto">
          <a:xfrm>
            <a:off x="395288" y="4292600"/>
            <a:ext cx="7707312"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defRPr sz="1600">
                <a:solidFill>
                  <a:schemeClr val="tx1"/>
                </a:solidFill>
                <a:latin typeface="Lucida Sans Unicode" panose="020B0602030504020204" pitchFamily="34" charset="0"/>
              </a:defRPr>
            </a:lvl1pPr>
            <a:lvl2pPr marL="180975" indent="-180975">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b="1"/>
              <a:t>The hue of a given point on the screen</a:t>
            </a:r>
          </a:p>
          <a:p>
            <a:pPr lvl="1">
              <a:buFont typeface="Arial" panose="020B0604020202020204" pitchFamily="34" charset="0"/>
              <a:buChar char="•"/>
            </a:pPr>
            <a:r>
              <a:rPr lang="en-GB" altLang="en-US"/>
              <a:t>defined by the phase of the subcarrier at that point</a:t>
            </a:r>
          </a:p>
          <a:p>
            <a:pPr lvl="1">
              <a:buFont typeface="Arial" panose="020B0604020202020204" pitchFamily="34" charset="0"/>
              <a:buChar char="•"/>
            </a:pPr>
            <a:r>
              <a:rPr lang="en-GB" altLang="en-US"/>
              <a:t>with reference to the phase of the carrier insertion oscillator</a:t>
            </a:r>
          </a:p>
          <a:p>
            <a:pPr lvl="1">
              <a:buFont typeface="Arial" panose="020B0604020202020204" pitchFamily="34" charset="0"/>
              <a:buChar char="•"/>
            </a:pPr>
            <a:r>
              <a:rPr lang="en-GB" altLang="en-US"/>
              <a:t>which is synchronised to a burst of subcarrier at the start of each line</a:t>
            </a:r>
          </a:p>
          <a:p>
            <a:pPr>
              <a:buFontTx/>
              <a:buChar char="-"/>
            </a:pPr>
            <a:endParaRPr lang="en-GB" altLang="en-US"/>
          </a:p>
          <a:p>
            <a:r>
              <a:rPr lang="en-GB" altLang="en-US" b="1"/>
              <a:t>Hue errors </a:t>
            </a:r>
          </a:p>
          <a:p>
            <a:r>
              <a:rPr lang="en-GB" altLang="en-US"/>
              <a:t>when the phase of the colour subcarrier has shifted during transmission with respect to the phase of the reference burst. </a:t>
            </a:r>
          </a:p>
        </p:txBody>
      </p:sp>
      <p:sp>
        <p:nvSpPr>
          <p:cNvPr id="5" name="Rectangle 4"/>
          <p:cNvSpPr/>
          <p:nvPr/>
        </p:nvSpPr>
        <p:spPr>
          <a:xfrm>
            <a:off x="6981986" y="6118781"/>
            <a:ext cx="2162014" cy="369332"/>
          </a:xfrm>
          <a:prstGeom prst="rect">
            <a:avLst/>
          </a:prstGeom>
          <a:solidFill>
            <a:schemeClr val="accent6">
              <a:lumMod val="60000"/>
              <a:lumOff val="40000"/>
            </a:schemeClr>
          </a:solidFill>
        </p:spPr>
        <p:txBody>
          <a:bodyPr wrap="square">
            <a:spAutoFit/>
          </a:bodyPr>
          <a:lstStyle/>
          <a:p>
            <a:r>
              <a:rPr lang="en-GB" sz="900">
                <a:hlinkClick r:id="rId3"/>
              </a:rPr>
              <a:t>https://www.maximintegrated.com/en/app-notes/index.mvp/id/734</a:t>
            </a:r>
            <a:r>
              <a:rPr lang="en-GB" sz="900"/>
              <a:t> </a:t>
            </a:r>
          </a:p>
        </p:txBody>
      </p:sp>
      <p:graphicFrame>
        <p:nvGraphicFramePr>
          <p:cNvPr id="6" name="Table 5"/>
          <p:cNvGraphicFramePr>
            <a:graphicFrameLocks noGrp="1"/>
          </p:cNvGraphicFramePr>
          <p:nvPr>
            <p:extLst>
              <p:ext uri="{D42A27DB-BD31-4B8C-83A1-F6EECF244321}">
                <p14:modId xmlns:p14="http://schemas.microsoft.com/office/powerpoint/2010/main" val="346384821"/>
              </p:ext>
            </p:extLst>
          </p:nvPr>
        </p:nvGraphicFramePr>
        <p:xfrm>
          <a:off x="6121602" y="376592"/>
          <a:ext cx="2574926" cy="2287488"/>
        </p:xfrm>
        <a:graphic>
          <a:graphicData uri="http://schemas.openxmlformats.org/drawingml/2006/table">
            <a:tbl>
              <a:tblPr/>
              <a:tblGrid>
                <a:gridCol w="1287463">
                  <a:extLst>
                    <a:ext uri="{9D8B030D-6E8A-4147-A177-3AD203B41FA5}">
                      <a16:colId xmlns:a16="http://schemas.microsoft.com/office/drawing/2014/main" val="20000"/>
                    </a:ext>
                  </a:extLst>
                </a:gridCol>
                <a:gridCol w="1287463">
                  <a:extLst>
                    <a:ext uri="{9D8B030D-6E8A-4147-A177-3AD203B41FA5}">
                      <a16:colId xmlns:a16="http://schemas.microsoft.com/office/drawing/2014/main" val="20001"/>
                    </a:ext>
                  </a:extLst>
                </a:gridCol>
              </a:tblGrid>
              <a:tr h="208224">
                <a:tc>
                  <a:txBody>
                    <a:bodyPr/>
                    <a:lstStyle/>
                    <a:p>
                      <a:r>
                        <a:rPr lang="en-GB" sz="1400" b="1" dirty="0" err="1"/>
                        <a:t>Color</a:t>
                      </a:r>
                      <a:r>
                        <a:rPr lang="en-GB" sz="1400" dirty="0"/>
                        <a:t> </a:t>
                      </a:r>
                    </a:p>
                  </a:txBody>
                  <a:tcPr marL="72583" marR="72583" marT="36288" marB="36288" anchor="ctr">
                    <a:lnL>
                      <a:noFill/>
                    </a:lnL>
                    <a:lnR>
                      <a:noFill/>
                    </a:lnR>
                    <a:lnT>
                      <a:noFill/>
                    </a:lnT>
                    <a:lnB>
                      <a:noFill/>
                    </a:lnB>
                    <a:solidFill>
                      <a:schemeClr val="bg2">
                        <a:lumMod val="20000"/>
                        <a:lumOff val="80000"/>
                      </a:schemeClr>
                    </a:solidFill>
                  </a:tcPr>
                </a:tc>
                <a:tc>
                  <a:txBody>
                    <a:bodyPr/>
                    <a:lstStyle/>
                    <a:p>
                      <a:r>
                        <a:rPr lang="en-GB" sz="1400" b="1" dirty="0"/>
                        <a:t>Phase</a:t>
                      </a:r>
                      <a:r>
                        <a:rPr lang="en-GB" sz="1400" dirty="0"/>
                        <a:t> </a:t>
                      </a:r>
                    </a:p>
                  </a:txBody>
                  <a:tcPr marL="72583" marR="72583" marT="36288" marB="36288"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10000"/>
                  </a:ext>
                </a:extLst>
              </a:tr>
              <a:tr h="208224">
                <a:tc>
                  <a:txBody>
                    <a:bodyPr/>
                    <a:lstStyle/>
                    <a:p>
                      <a:r>
                        <a:rPr lang="en-GB" sz="1400" dirty="0"/>
                        <a:t>Burst </a:t>
                      </a:r>
                    </a:p>
                  </a:txBody>
                  <a:tcPr marL="72583" marR="72583" marT="36288" marB="36288" anchor="ctr">
                    <a:lnL>
                      <a:noFill/>
                    </a:lnL>
                    <a:lnR>
                      <a:noFill/>
                    </a:lnR>
                    <a:lnT>
                      <a:noFill/>
                    </a:lnT>
                    <a:lnB>
                      <a:noFill/>
                    </a:lnB>
                    <a:solidFill>
                      <a:schemeClr val="bg2">
                        <a:lumMod val="20000"/>
                        <a:lumOff val="80000"/>
                      </a:schemeClr>
                    </a:solidFill>
                  </a:tcPr>
                </a:tc>
                <a:tc>
                  <a:txBody>
                    <a:bodyPr/>
                    <a:lstStyle/>
                    <a:p>
                      <a:r>
                        <a:rPr lang="en-GB" sz="1400" dirty="0"/>
                        <a:t>0 degrees </a:t>
                      </a:r>
                    </a:p>
                  </a:txBody>
                  <a:tcPr marL="72583" marR="72583" marT="36288" marB="36288"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10001"/>
                  </a:ext>
                </a:extLst>
              </a:tr>
              <a:tr h="208224">
                <a:tc>
                  <a:txBody>
                    <a:bodyPr/>
                    <a:lstStyle/>
                    <a:p>
                      <a:r>
                        <a:rPr lang="en-GB" sz="1400" dirty="0"/>
                        <a:t>Yellow </a:t>
                      </a:r>
                    </a:p>
                  </a:txBody>
                  <a:tcPr marL="72583" marR="72583" marT="36288" marB="36288" anchor="ctr">
                    <a:lnL>
                      <a:noFill/>
                    </a:lnL>
                    <a:lnR>
                      <a:noFill/>
                    </a:lnR>
                    <a:lnT>
                      <a:noFill/>
                    </a:lnT>
                    <a:lnB>
                      <a:noFill/>
                    </a:lnB>
                    <a:solidFill>
                      <a:schemeClr val="bg2">
                        <a:lumMod val="20000"/>
                        <a:lumOff val="80000"/>
                      </a:schemeClr>
                    </a:solidFill>
                  </a:tcPr>
                </a:tc>
                <a:tc>
                  <a:txBody>
                    <a:bodyPr/>
                    <a:lstStyle/>
                    <a:p>
                      <a:r>
                        <a:rPr lang="en-GB" sz="1400" dirty="0"/>
                        <a:t>15 degrees </a:t>
                      </a:r>
                    </a:p>
                  </a:txBody>
                  <a:tcPr marL="72583" marR="72583" marT="36288" marB="36288"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10002"/>
                  </a:ext>
                </a:extLst>
              </a:tr>
              <a:tr h="208224">
                <a:tc>
                  <a:txBody>
                    <a:bodyPr/>
                    <a:lstStyle/>
                    <a:p>
                      <a:r>
                        <a:rPr lang="en-GB" sz="1400" dirty="0"/>
                        <a:t>Red </a:t>
                      </a:r>
                    </a:p>
                  </a:txBody>
                  <a:tcPr marL="72583" marR="72583" marT="36288" marB="36288" anchor="ctr">
                    <a:lnL>
                      <a:noFill/>
                    </a:lnL>
                    <a:lnR>
                      <a:noFill/>
                    </a:lnR>
                    <a:lnT>
                      <a:noFill/>
                    </a:lnT>
                    <a:lnB>
                      <a:noFill/>
                    </a:lnB>
                    <a:solidFill>
                      <a:schemeClr val="bg2">
                        <a:lumMod val="20000"/>
                        <a:lumOff val="80000"/>
                      </a:schemeClr>
                    </a:solidFill>
                  </a:tcPr>
                </a:tc>
                <a:tc>
                  <a:txBody>
                    <a:bodyPr/>
                    <a:lstStyle/>
                    <a:p>
                      <a:r>
                        <a:rPr lang="en-GB" sz="1400" dirty="0"/>
                        <a:t>75 degrees </a:t>
                      </a:r>
                    </a:p>
                  </a:txBody>
                  <a:tcPr marL="72583" marR="72583" marT="36288" marB="36288"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10003"/>
                  </a:ext>
                </a:extLst>
              </a:tr>
              <a:tr h="208224">
                <a:tc>
                  <a:txBody>
                    <a:bodyPr/>
                    <a:lstStyle/>
                    <a:p>
                      <a:r>
                        <a:rPr lang="en-GB" sz="1400" dirty="0"/>
                        <a:t>Magenta </a:t>
                      </a:r>
                    </a:p>
                  </a:txBody>
                  <a:tcPr marL="72583" marR="72583" marT="36288" marB="36288" anchor="ctr">
                    <a:lnL>
                      <a:noFill/>
                    </a:lnL>
                    <a:lnR>
                      <a:noFill/>
                    </a:lnR>
                    <a:lnT>
                      <a:noFill/>
                    </a:lnT>
                    <a:lnB>
                      <a:noFill/>
                    </a:lnB>
                    <a:solidFill>
                      <a:schemeClr val="bg2">
                        <a:lumMod val="20000"/>
                        <a:lumOff val="80000"/>
                      </a:schemeClr>
                    </a:solidFill>
                  </a:tcPr>
                </a:tc>
                <a:tc>
                  <a:txBody>
                    <a:bodyPr/>
                    <a:lstStyle/>
                    <a:p>
                      <a:r>
                        <a:rPr lang="en-GB" sz="1400" dirty="0"/>
                        <a:t>135 degrees </a:t>
                      </a:r>
                    </a:p>
                  </a:txBody>
                  <a:tcPr marL="72583" marR="72583" marT="36288" marB="36288"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10004"/>
                  </a:ext>
                </a:extLst>
              </a:tr>
              <a:tr h="208224">
                <a:tc>
                  <a:txBody>
                    <a:bodyPr/>
                    <a:lstStyle/>
                    <a:p>
                      <a:r>
                        <a:rPr lang="en-GB" sz="1400" dirty="0"/>
                        <a:t>Blue </a:t>
                      </a:r>
                    </a:p>
                  </a:txBody>
                  <a:tcPr marL="72583" marR="72583" marT="36288" marB="36288" anchor="ctr">
                    <a:lnL>
                      <a:noFill/>
                    </a:lnL>
                    <a:lnR>
                      <a:noFill/>
                    </a:lnR>
                    <a:lnT>
                      <a:noFill/>
                    </a:lnT>
                    <a:lnB>
                      <a:noFill/>
                    </a:lnB>
                    <a:solidFill>
                      <a:schemeClr val="bg2">
                        <a:lumMod val="20000"/>
                        <a:lumOff val="80000"/>
                      </a:schemeClr>
                    </a:solidFill>
                  </a:tcPr>
                </a:tc>
                <a:tc>
                  <a:txBody>
                    <a:bodyPr/>
                    <a:lstStyle/>
                    <a:p>
                      <a:r>
                        <a:rPr lang="en-GB" sz="1400" dirty="0"/>
                        <a:t>195 degrees </a:t>
                      </a:r>
                    </a:p>
                  </a:txBody>
                  <a:tcPr marL="72583" marR="72583" marT="36288" marB="36288"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10005"/>
                  </a:ext>
                </a:extLst>
              </a:tr>
              <a:tr h="208224">
                <a:tc>
                  <a:txBody>
                    <a:bodyPr/>
                    <a:lstStyle/>
                    <a:p>
                      <a:r>
                        <a:rPr lang="en-GB" sz="1400" dirty="0"/>
                        <a:t>Cyan </a:t>
                      </a:r>
                    </a:p>
                  </a:txBody>
                  <a:tcPr marL="72583" marR="72583" marT="36288" marB="36288" anchor="ctr">
                    <a:lnL>
                      <a:noFill/>
                    </a:lnL>
                    <a:lnR>
                      <a:noFill/>
                    </a:lnR>
                    <a:lnT>
                      <a:noFill/>
                    </a:lnT>
                    <a:lnB>
                      <a:noFill/>
                    </a:lnB>
                    <a:solidFill>
                      <a:schemeClr val="bg2">
                        <a:lumMod val="20000"/>
                        <a:lumOff val="80000"/>
                      </a:schemeClr>
                    </a:solidFill>
                  </a:tcPr>
                </a:tc>
                <a:tc>
                  <a:txBody>
                    <a:bodyPr/>
                    <a:lstStyle/>
                    <a:p>
                      <a:r>
                        <a:rPr lang="en-GB" sz="1400" dirty="0"/>
                        <a:t>255 degrees </a:t>
                      </a:r>
                    </a:p>
                  </a:txBody>
                  <a:tcPr marL="72583" marR="72583" marT="36288" marB="36288"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10006"/>
                  </a:ext>
                </a:extLst>
              </a:tr>
              <a:tr h="208224">
                <a:tc>
                  <a:txBody>
                    <a:bodyPr/>
                    <a:lstStyle/>
                    <a:p>
                      <a:r>
                        <a:rPr lang="en-GB" sz="1400" dirty="0"/>
                        <a:t>Green </a:t>
                      </a:r>
                    </a:p>
                  </a:txBody>
                  <a:tcPr marL="72583" marR="72583" marT="36288" marB="36288" anchor="ctr">
                    <a:lnL>
                      <a:noFill/>
                    </a:lnL>
                    <a:lnR>
                      <a:noFill/>
                    </a:lnR>
                    <a:lnT>
                      <a:noFill/>
                    </a:lnT>
                    <a:lnB>
                      <a:noFill/>
                    </a:lnB>
                    <a:solidFill>
                      <a:schemeClr val="bg2">
                        <a:lumMod val="20000"/>
                        <a:lumOff val="80000"/>
                      </a:schemeClr>
                    </a:solidFill>
                  </a:tcPr>
                </a:tc>
                <a:tc>
                  <a:txBody>
                    <a:bodyPr/>
                    <a:lstStyle/>
                    <a:p>
                      <a:r>
                        <a:rPr lang="en-GB" sz="1400" dirty="0"/>
                        <a:t>315 degrees </a:t>
                      </a:r>
                    </a:p>
                  </a:txBody>
                  <a:tcPr marL="72583" marR="72583" marT="36288" marB="36288"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58213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Summary of vecto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3098" y="692149"/>
            <a:ext cx="5253415" cy="456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Picture 4" descr="Gamut of saturated colou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5445125"/>
            <a:ext cx="7894637"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Text Box 4"/>
          <p:cNvSpPr txBox="1">
            <a:spLocks noChangeArrowheads="1"/>
          </p:cNvSpPr>
          <p:nvPr/>
        </p:nvSpPr>
        <p:spPr bwMode="auto">
          <a:xfrm>
            <a:off x="395288" y="331788"/>
            <a:ext cx="3394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2400" b="1"/>
              <a:t>PAL  Colour Encoding</a:t>
            </a:r>
          </a:p>
        </p:txBody>
      </p:sp>
      <p:sp>
        <p:nvSpPr>
          <p:cNvPr id="20485" name="TextBox 4"/>
          <p:cNvSpPr txBox="1">
            <a:spLocks noChangeArrowheads="1"/>
          </p:cNvSpPr>
          <p:nvPr/>
        </p:nvSpPr>
        <p:spPr bwMode="auto">
          <a:xfrm>
            <a:off x="395288" y="1484313"/>
            <a:ext cx="2874854"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a:t>Phase shift of the carrier in accordance with the PAL colour bar signal measured vector standard  </a:t>
            </a:r>
          </a:p>
        </p:txBody>
      </p:sp>
    </p:spTree>
    <p:extLst>
      <p:ext uri="{BB962C8B-B14F-4D97-AF65-F5344CB8AC3E}">
        <p14:creationId xmlns:p14="http://schemas.microsoft.com/office/powerpoint/2010/main" val="467459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288" y="368300"/>
            <a:ext cx="3142207" cy="461665"/>
          </a:xfrm>
          <a:prstGeom prst="rect">
            <a:avLst/>
          </a:prstGeom>
          <a:solidFill>
            <a:schemeClr val="bg1">
              <a:alpha val="61000"/>
            </a:schemeClr>
          </a:solidFill>
        </p:spPr>
        <p:txBody>
          <a:bodyPr wrap="none" rtlCol="0">
            <a:spAutoFit/>
          </a:bodyPr>
          <a:lstStyle/>
          <a:p>
            <a:r>
              <a:rPr lang="en-GB" sz="2400" b="1" dirty="0"/>
              <a:t>PAL vs NTSC Colour</a:t>
            </a:r>
          </a:p>
        </p:txBody>
      </p:sp>
      <p:sp>
        <p:nvSpPr>
          <p:cNvPr id="3" name="Rectangle 2"/>
          <p:cNvSpPr/>
          <p:nvPr/>
        </p:nvSpPr>
        <p:spPr>
          <a:xfrm>
            <a:off x="395288" y="931249"/>
            <a:ext cx="8609227" cy="4799391"/>
          </a:xfrm>
          <a:prstGeom prst="rect">
            <a:avLst/>
          </a:prstGeom>
        </p:spPr>
        <p:txBody>
          <a:bodyPr wrap="square">
            <a:spAutoFit/>
          </a:bodyPr>
          <a:lstStyle/>
          <a:p>
            <a:pPr>
              <a:lnSpc>
                <a:spcPts val="2300"/>
              </a:lnSpc>
            </a:pPr>
            <a:r>
              <a:rPr lang="en-GB" b="1" dirty="0"/>
              <a:t>NTSC </a:t>
            </a:r>
            <a:endParaRPr lang="en-GB" dirty="0"/>
          </a:p>
          <a:p>
            <a:pPr marL="285750" indent="-285750">
              <a:lnSpc>
                <a:spcPts val="2300"/>
              </a:lnSpc>
              <a:buFont typeface="Arial" panose="020B0604020202020204" pitchFamily="34" charset="0"/>
              <a:buChar char="•"/>
            </a:pPr>
            <a:r>
              <a:rPr lang="en-GB" dirty="0"/>
              <a:t>colour instabilities due to multipath reception and transmitter imperfections </a:t>
            </a:r>
          </a:p>
          <a:p>
            <a:pPr marL="285750" indent="-285750">
              <a:lnSpc>
                <a:spcPts val="2300"/>
              </a:lnSpc>
              <a:buFont typeface="Arial" panose="020B0604020202020204" pitchFamily="34" charset="0"/>
              <a:buChar char="•"/>
            </a:pPr>
            <a:r>
              <a:rPr lang="en-GB" dirty="0"/>
              <a:t>receivers needed a hue control to compensate</a:t>
            </a:r>
          </a:p>
          <a:p>
            <a:pPr>
              <a:lnSpc>
                <a:spcPts val="2300"/>
              </a:lnSpc>
            </a:pPr>
            <a:endParaRPr lang="en-GB" dirty="0"/>
          </a:p>
          <a:p>
            <a:pPr>
              <a:lnSpc>
                <a:spcPts val="2300"/>
              </a:lnSpc>
            </a:pPr>
            <a:r>
              <a:rPr lang="en-GB" b="1" dirty="0"/>
              <a:t>PAL </a:t>
            </a:r>
            <a:r>
              <a:rPr lang="en-GB" dirty="0"/>
              <a:t>early 1960's - developed to avoid NTSC issues</a:t>
            </a:r>
          </a:p>
          <a:p>
            <a:pPr marL="285750" indent="-285750">
              <a:lnSpc>
                <a:spcPts val="2300"/>
              </a:lnSpc>
              <a:buFont typeface="Arial" panose="020B0604020202020204" pitchFamily="34" charset="0"/>
              <a:buChar char="•"/>
            </a:pPr>
            <a:r>
              <a:rPr lang="en-GB" dirty="0"/>
              <a:t>increased bandwidth - better picture quality</a:t>
            </a:r>
          </a:p>
          <a:p>
            <a:pPr marL="285750" indent="-285750">
              <a:lnSpc>
                <a:spcPts val="2300"/>
              </a:lnSpc>
              <a:buFont typeface="Arial" panose="020B0604020202020204" pitchFamily="34" charset="0"/>
              <a:buChar char="•"/>
            </a:pPr>
            <a:r>
              <a:rPr lang="en-GB" dirty="0"/>
              <a:t>to correct shifts in the colour sub-carrier phase of the signal</a:t>
            </a:r>
          </a:p>
          <a:p>
            <a:pPr marL="285750" indent="-285750">
              <a:lnSpc>
                <a:spcPts val="2300"/>
              </a:lnSpc>
              <a:buFont typeface="Arial" panose="020B0604020202020204" pitchFamily="34" charset="0"/>
              <a:buChar char="•"/>
            </a:pPr>
            <a:r>
              <a:rPr lang="en-GB" dirty="0"/>
              <a:t>every other line has its phase in reverse order = Phase Alternate Line</a:t>
            </a:r>
          </a:p>
          <a:p>
            <a:pPr marL="285750" indent="-285750">
              <a:lnSpc>
                <a:spcPts val="2300"/>
              </a:lnSpc>
              <a:buFont typeface="Arial" panose="020B0604020202020204" pitchFamily="34" charset="0"/>
              <a:buChar char="•"/>
            </a:pPr>
            <a:r>
              <a:rPr lang="en-GB" dirty="0"/>
              <a:t>aimed to keep out non-European manufacturers from the TV set market</a:t>
            </a:r>
          </a:p>
          <a:p>
            <a:pPr marL="285750" indent="-285750">
              <a:lnSpc>
                <a:spcPts val="2300"/>
              </a:lnSpc>
              <a:buFont typeface="Arial" panose="020B0604020202020204" pitchFamily="34" charset="0"/>
              <a:buChar char="•"/>
            </a:pPr>
            <a:r>
              <a:rPr lang="en-GB" dirty="0"/>
              <a:t>Japanese managed to design decoders which circumvented the PAL patents by treating the signal like NTSC but decoding only every other line</a:t>
            </a:r>
          </a:p>
          <a:p>
            <a:pPr>
              <a:lnSpc>
                <a:spcPts val="2300"/>
              </a:lnSpc>
            </a:pPr>
            <a:endParaRPr lang="en-GB" b="1" dirty="0"/>
          </a:p>
          <a:p>
            <a:pPr>
              <a:lnSpc>
                <a:spcPts val="2300"/>
              </a:lnSpc>
            </a:pPr>
            <a:r>
              <a:rPr lang="en-GB" b="1" dirty="0"/>
              <a:t>France - SECAM - sequential couleur avec memoire (sequential </a:t>
            </a:r>
            <a:r>
              <a:rPr lang="en-GB" b="1" dirty="0" err="1"/>
              <a:t>color</a:t>
            </a:r>
            <a:r>
              <a:rPr lang="en-GB" b="1" dirty="0"/>
              <a:t> with memory)</a:t>
            </a:r>
          </a:p>
          <a:p>
            <a:pPr marL="285750" indent="-285750">
              <a:lnSpc>
                <a:spcPts val="2300"/>
              </a:lnSpc>
              <a:buFont typeface="Arial" panose="020B0604020202020204" pitchFamily="34" charset="0"/>
              <a:buChar char="•"/>
            </a:pPr>
            <a:r>
              <a:rPr lang="en-GB" dirty="0"/>
              <a:t>same bandwidth as PAL; transmits the colour information sequentially.</a:t>
            </a:r>
          </a:p>
          <a:p>
            <a:pPr marL="285750" indent="-285750">
              <a:lnSpc>
                <a:spcPts val="2300"/>
              </a:lnSpc>
              <a:buFont typeface="Arial" panose="020B0604020202020204" pitchFamily="34" charset="0"/>
              <a:buChar char="•"/>
            </a:pPr>
            <a:r>
              <a:rPr lang="en-GB" dirty="0"/>
              <a:t>Eastern Block adopted for purposeful incompatibility with western transmissions (politics)</a:t>
            </a:r>
          </a:p>
        </p:txBody>
      </p:sp>
      <p:sp>
        <p:nvSpPr>
          <p:cNvPr id="7" name="Rectangle 6"/>
          <p:cNvSpPr/>
          <p:nvPr/>
        </p:nvSpPr>
        <p:spPr>
          <a:xfrm>
            <a:off x="395288" y="4959249"/>
            <a:ext cx="7989295" cy="584775"/>
          </a:xfrm>
          <a:prstGeom prst="rect">
            <a:avLst/>
          </a:prstGeom>
        </p:spPr>
        <p:txBody>
          <a:bodyPr wrap="square">
            <a:spAutoFit/>
          </a:bodyPr>
          <a:lstStyle/>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639629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Group 78"/>
          <p:cNvGrpSpPr/>
          <p:nvPr/>
        </p:nvGrpSpPr>
        <p:grpSpPr>
          <a:xfrm>
            <a:off x="0" y="0"/>
            <a:ext cx="9144000" cy="6858000"/>
            <a:chOff x="0" y="0"/>
            <a:chExt cx="9144000" cy="6858000"/>
          </a:xfrm>
        </p:grpSpPr>
        <p:sp>
          <p:nvSpPr>
            <p:cNvPr id="5" name="Rectangle 4"/>
            <p:cNvSpPr/>
            <p:nvPr/>
          </p:nvSpPr>
          <p:spPr bwMode="auto">
            <a:xfrm>
              <a:off x="0" y="0"/>
              <a:ext cx="9144000" cy="6858000"/>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 name="Rectangle 1"/>
            <p:cNvSpPr/>
            <p:nvPr/>
          </p:nvSpPr>
          <p:spPr>
            <a:xfrm>
              <a:off x="5273244" y="388908"/>
              <a:ext cx="3172994" cy="584775"/>
            </a:xfrm>
            <a:prstGeom prst="rect">
              <a:avLst/>
            </a:prstGeom>
            <a:solidFill>
              <a:schemeClr val="tx1">
                <a:lumMod val="85000"/>
                <a:lumOff val="15000"/>
              </a:schemeClr>
            </a:solidFill>
          </p:spPr>
          <p:txBody>
            <a:bodyPr wrap="square">
              <a:spAutoFit/>
            </a:bodyPr>
            <a:lstStyle/>
            <a:p>
              <a:r>
                <a:rPr lang="en-GB">
                  <a:hlinkClick r:id="rId2"/>
                </a:rPr>
                <a:t>https://www.youtube.com/watch?v=3GJUM6pCpew</a:t>
              </a:r>
              <a:r>
                <a:rPr lang="en-GB"/>
                <a:t> </a:t>
              </a:r>
            </a:p>
          </p:txBody>
        </p:sp>
        <p:pic>
          <p:nvPicPr>
            <p:cNvPr id="3" name="Picture 2"/>
            <p:cNvPicPr>
              <a:picLocks noChangeAspect="1"/>
            </p:cNvPicPr>
            <p:nvPr/>
          </p:nvPicPr>
          <p:blipFill>
            <a:blip r:embed="rId3"/>
            <a:stretch>
              <a:fillRect/>
            </a:stretch>
          </p:blipFill>
          <p:spPr>
            <a:xfrm>
              <a:off x="845534" y="1373853"/>
              <a:ext cx="7448128" cy="4804913"/>
            </a:xfrm>
            <a:prstGeom prst="rect">
              <a:avLst/>
            </a:prstGeom>
          </p:spPr>
        </p:pic>
        <p:sp>
          <p:nvSpPr>
            <p:cNvPr id="4" name="TextBox 3"/>
            <p:cNvSpPr txBox="1"/>
            <p:nvPr/>
          </p:nvSpPr>
          <p:spPr>
            <a:xfrm>
              <a:off x="800730" y="400170"/>
              <a:ext cx="3771270" cy="1200329"/>
            </a:xfrm>
            <a:prstGeom prst="rect">
              <a:avLst/>
            </a:prstGeom>
            <a:noFill/>
          </p:spPr>
          <p:txBody>
            <a:bodyPr wrap="square" rtlCol="0">
              <a:spAutoFit/>
            </a:bodyPr>
            <a:lstStyle/>
            <a:p>
              <a:r>
                <a:rPr lang="en-GB" sz="2400" b="1">
                  <a:solidFill>
                    <a:srgbClr val="FFC000"/>
                  </a:solidFill>
                </a:rPr>
                <a:t>NTSC – why 29.97 fps? </a:t>
              </a:r>
            </a:p>
            <a:p>
              <a:r>
                <a:rPr lang="en-GB">
                  <a:solidFill>
                    <a:srgbClr val="FFC000"/>
                  </a:solidFill>
                </a:rPr>
                <a:t>.. and how did PAL get it right?</a:t>
              </a:r>
            </a:p>
            <a:p>
              <a:endParaRPr lang="en-GB">
                <a:solidFill>
                  <a:srgbClr val="FFC000"/>
                </a:solidFill>
              </a:endParaRPr>
            </a:p>
            <a:p>
              <a:r>
                <a:rPr lang="en-GB">
                  <a:solidFill>
                    <a:srgbClr val="FFC000"/>
                  </a:solidFill>
                </a:rPr>
                <a:t>Matt Parker explains …</a:t>
              </a:r>
            </a:p>
          </p:txBody>
        </p:sp>
        <p:grpSp>
          <p:nvGrpSpPr>
            <p:cNvPr id="62" name="Group 61"/>
            <p:cNvGrpSpPr/>
            <p:nvPr/>
          </p:nvGrpSpPr>
          <p:grpSpPr>
            <a:xfrm>
              <a:off x="8643617" y="78358"/>
              <a:ext cx="380518" cy="6771016"/>
              <a:chOff x="8643617" y="86984"/>
              <a:chExt cx="380518" cy="6771016"/>
            </a:xfrm>
          </p:grpSpPr>
          <p:sp>
            <p:nvSpPr>
              <p:cNvPr id="46" name="Rectangle 45"/>
              <p:cNvSpPr/>
              <p:nvPr/>
            </p:nvSpPr>
            <p:spPr bwMode="auto">
              <a:xfrm>
                <a:off x="8648398" y="86984"/>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7" name="Rectangle 46"/>
              <p:cNvSpPr/>
              <p:nvPr/>
            </p:nvSpPr>
            <p:spPr bwMode="auto">
              <a:xfrm>
                <a:off x="8648398" y="552810"/>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8" name="Rectangle 47"/>
              <p:cNvSpPr/>
              <p:nvPr/>
            </p:nvSpPr>
            <p:spPr bwMode="auto">
              <a:xfrm>
                <a:off x="8648397" y="1018636"/>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9" name="Rectangle 48"/>
              <p:cNvSpPr/>
              <p:nvPr/>
            </p:nvSpPr>
            <p:spPr bwMode="auto">
              <a:xfrm>
                <a:off x="8646486" y="1484462"/>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0" name="Rectangle 49"/>
              <p:cNvSpPr/>
              <p:nvPr/>
            </p:nvSpPr>
            <p:spPr bwMode="auto">
              <a:xfrm>
                <a:off x="8645530" y="1954964"/>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1" name="Rectangle 50"/>
              <p:cNvSpPr/>
              <p:nvPr/>
            </p:nvSpPr>
            <p:spPr bwMode="auto">
              <a:xfrm>
                <a:off x="8645530" y="2420790"/>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2" name="Rectangle 51"/>
              <p:cNvSpPr/>
              <p:nvPr/>
            </p:nvSpPr>
            <p:spPr bwMode="auto">
              <a:xfrm>
                <a:off x="8645529" y="2886616"/>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3" name="Rectangle 52"/>
              <p:cNvSpPr/>
              <p:nvPr/>
            </p:nvSpPr>
            <p:spPr bwMode="auto">
              <a:xfrm>
                <a:off x="8643618" y="3352442"/>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4" name="Rectangle 53"/>
              <p:cNvSpPr/>
              <p:nvPr/>
            </p:nvSpPr>
            <p:spPr bwMode="auto">
              <a:xfrm>
                <a:off x="8645530" y="3818268"/>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5" name="Rectangle 54"/>
              <p:cNvSpPr/>
              <p:nvPr/>
            </p:nvSpPr>
            <p:spPr bwMode="auto">
              <a:xfrm>
                <a:off x="8645530" y="4284094"/>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6" name="Rectangle 55"/>
              <p:cNvSpPr/>
              <p:nvPr/>
            </p:nvSpPr>
            <p:spPr bwMode="auto">
              <a:xfrm>
                <a:off x="8645529" y="4749920"/>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7" name="Rectangle 56"/>
              <p:cNvSpPr/>
              <p:nvPr/>
            </p:nvSpPr>
            <p:spPr bwMode="auto">
              <a:xfrm>
                <a:off x="8643618" y="5215746"/>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8" name="Rectangle 57"/>
              <p:cNvSpPr/>
              <p:nvPr/>
            </p:nvSpPr>
            <p:spPr bwMode="auto">
              <a:xfrm>
                <a:off x="8645530" y="5686248"/>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9" name="Rectangle 58"/>
              <p:cNvSpPr/>
              <p:nvPr/>
            </p:nvSpPr>
            <p:spPr bwMode="auto">
              <a:xfrm>
                <a:off x="8645529" y="6152074"/>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1" name="Rectangle 60"/>
              <p:cNvSpPr/>
              <p:nvPr/>
            </p:nvSpPr>
            <p:spPr bwMode="auto">
              <a:xfrm>
                <a:off x="8643617" y="6600287"/>
                <a:ext cx="375737" cy="257713"/>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63" name="Group 62"/>
            <p:cNvGrpSpPr/>
            <p:nvPr/>
          </p:nvGrpSpPr>
          <p:grpSpPr>
            <a:xfrm>
              <a:off x="119841" y="78358"/>
              <a:ext cx="380518" cy="6771016"/>
              <a:chOff x="8643617" y="86984"/>
              <a:chExt cx="380518" cy="6771016"/>
            </a:xfrm>
          </p:grpSpPr>
          <p:sp>
            <p:nvSpPr>
              <p:cNvPr id="64" name="Rectangle 63"/>
              <p:cNvSpPr/>
              <p:nvPr/>
            </p:nvSpPr>
            <p:spPr bwMode="auto">
              <a:xfrm>
                <a:off x="8648398" y="86984"/>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5" name="Rectangle 64"/>
              <p:cNvSpPr/>
              <p:nvPr/>
            </p:nvSpPr>
            <p:spPr bwMode="auto">
              <a:xfrm>
                <a:off x="8648398" y="552810"/>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6" name="Rectangle 65"/>
              <p:cNvSpPr/>
              <p:nvPr/>
            </p:nvSpPr>
            <p:spPr bwMode="auto">
              <a:xfrm>
                <a:off x="8648397" y="1018636"/>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7" name="Rectangle 66"/>
              <p:cNvSpPr/>
              <p:nvPr/>
            </p:nvSpPr>
            <p:spPr bwMode="auto">
              <a:xfrm>
                <a:off x="8646486" y="1484462"/>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8" name="Rectangle 67"/>
              <p:cNvSpPr/>
              <p:nvPr/>
            </p:nvSpPr>
            <p:spPr bwMode="auto">
              <a:xfrm>
                <a:off x="8645530" y="1954964"/>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9" name="Rectangle 68"/>
              <p:cNvSpPr/>
              <p:nvPr/>
            </p:nvSpPr>
            <p:spPr bwMode="auto">
              <a:xfrm>
                <a:off x="8645530" y="2420790"/>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0" name="Rectangle 69"/>
              <p:cNvSpPr/>
              <p:nvPr/>
            </p:nvSpPr>
            <p:spPr bwMode="auto">
              <a:xfrm>
                <a:off x="8645529" y="2886616"/>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1" name="Rectangle 70"/>
              <p:cNvSpPr/>
              <p:nvPr/>
            </p:nvSpPr>
            <p:spPr bwMode="auto">
              <a:xfrm>
                <a:off x="8643618" y="3352442"/>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2" name="Rectangle 71"/>
              <p:cNvSpPr/>
              <p:nvPr/>
            </p:nvSpPr>
            <p:spPr bwMode="auto">
              <a:xfrm>
                <a:off x="8645530" y="3818268"/>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3" name="Rectangle 72"/>
              <p:cNvSpPr/>
              <p:nvPr/>
            </p:nvSpPr>
            <p:spPr bwMode="auto">
              <a:xfrm>
                <a:off x="8645530" y="4284094"/>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4" name="Rectangle 73"/>
              <p:cNvSpPr/>
              <p:nvPr/>
            </p:nvSpPr>
            <p:spPr bwMode="auto">
              <a:xfrm>
                <a:off x="8645529" y="4749920"/>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5" name="Rectangle 74"/>
              <p:cNvSpPr/>
              <p:nvPr/>
            </p:nvSpPr>
            <p:spPr bwMode="auto">
              <a:xfrm>
                <a:off x="8643618" y="5215746"/>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6" name="Rectangle 75"/>
              <p:cNvSpPr/>
              <p:nvPr/>
            </p:nvSpPr>
            <p:spPr bwMode="auto">
              <a:xfrm>
                <a:off x="8645530" y="5686248"/>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7" name="Rectangle 76"/>
              <p:cNvSpPr/>
              <p:nvPr/>
            </p:nvSpPr>
            <p:spPr bwMode="auto">
              <a:xfrm>
                <a:off x="8645529" y="6152074"/>
                <a:ext cx="375737" cy="327084"/>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8" name="Rectangle 77"/>
              <p:cNvSpPr/>
              <p:nvPr/>
            </p:nvSpPr>
            <p:spPr bwMode="auto">
              <a:xfrm>
                <a:off x="8643617" y="6600287"/>
                <a:ext cx="375737" cy="257713"/>
              </a:xfrm>
              <a:prstGeom prst="rect">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spTree>
    <p:extLst>
      <p:ext uri="{BB962C8B-B14F-4D97-AF65-F5344CB8AC3E}">
        <p14:creationId xmlns:p14="http://schemas.microsoft.com/office/powerpoint/2010/main" val="1701250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0" y="0"/>
            <a:ext cx="9144000" cy="6858001"/>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pic>
        <p:nvPicPr>
          <p:cNvPr id="2050" name="Picture 2" descr="BBCHD_testcard_big.jpg (1920×10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 y="857509"/>
            <a:ext cx="9143079" cy="514298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bwMode="auto">
          <a:xfrm>
            <a:off x="167054" y="2795954"/>
            <a:ext cx="8528538" cy="2382715"/>
          </a:xfrm>
          <a:prstGeom prst="rect">
            <a:avLst/>
          </a:prstGeom>
          <a:solidFill>
            <a:srgbClr val="404040">
              <a:alpha val="7098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 name="TextBox 2"/>
          <p:cNvSpPr txBox="1"/>
          <p:nvPr/>
        </p:nvSpPr>
        <p:spPr>
          <a:xfrm>
            <a:off x="404080" y="3006969"/>
            <a:ext cx="8031366" cy="1938992"/>
          </a:xfrm>
          <a:prstGeom prst="rect">
            <a:avLst/>
          </a:prstGeom>
          <a:noFill/>
        </p:spPr>
        <p:txBody>
          <a:bodyPr wrap="none" rtlCol="0">
            <a:spAutoFit/>
          </a:bodyPr>
          <a:lstStyle/>
          <a:p>
            <a:r>
              <a:rPr lang="en-GB" sz="4000" b="1"/>
              <a:t>Standardising Colour</a:t>
            </a:r>
          </a:p>
          <a:p>
            <a:r>
              <a:rPr lang="en-GB" sz="4000" b="1"/>
              <a:t>Standardising TV formats</a:t>
            </a:r>
          </a:p>
          <a:p>
            <a:r>
              <a:rPr lang="en-GB" sz="4000" b="1"/>
              <a:t>Recs BT.709, BT.2020, BT.2100</a:t>
            </a:r>
          </a:p>
        </p:txBody>
      </p:sp>
      <p:sp>
        <p:nvSpPr>
          <p:cNvPr id="5" name="TextBox 4"/>
          <p:cNvSpPr txBox="1"/>
          <p:nvPr/>
        </p:nvSpPr>
        <p:spPr>
          <a:xfrm>
            <a:off x="395288" y="2954214"/>
            <a:ext cx="8031366" cy="1938992"/>
          </a:xfrm>
          <a:prstGeom prst="rect">
            <a:avLst/>
          </a:prstGeom>
          <a:noFill/>
        </p:spPr>
        <p:txBody>
          <a:bodyPr wrap="none" rtlCol="0">
            <a:spAutoFit/>
          </a:bodyPr>
          <a:lstStyle/>
          <a:p>
            <a:r>
              <a:rPr lang="en-GB" sz="4000" b="1">
                <a:solidFill>
                  <a:srgbClr val="FFFF00"/>
                </a:solidFill>
              </a:rPr>
              <a:t>Standardising Colour</a:t>
            </a:r>
          </a:p>
          <a:p>
            <a:r>
              <a:rPr lang="en-GB" sz="4000" b="1">
                <a:solidFill>
                  <a:srgbClr val="FFFF00"/>
                </a:solidFill>
              </a:rPr>
              <a:t>Standardising TV formats</a:t>
            </a:r>
          </a:p>
          <a:p>
            <a:r>
              <a:rPr lang="en-GB" sz="4000" b="1">
                <a:solidFill>
                  <a:srgbClr val="FFFF00"/>
                </a:solidFill>
              </a:rPr>
              <a:t>Recs BT.709, BT.2020, BT.2100</a:t>
            </a:r>
          </a:p>
        </p:txBody>
      </p:sp>
    </p:spTree>
    <p:extLst>
      <p:ext uri="{BB962C8B-B14F-4D97-AF65-F5344CB8AC3E}">
        <p14:creationId xmlns:p14="http://schemas.microsoft.com/office/powerpoint/2010/main" val="692763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1180700"/>
            <a:ext cx="7915836" cy="4524315"/>
          </a:xfrm>
          <a:prstGeom prst="rect">
            <a:avLst/>
          </a:prstGeom>
        </p:spPr>
        <p:txBody>
          <a:bodyPr wrap="square">
            <a:spAutoFit/>
          </a:bodyPr>
          <a:lstStyle/>
          <a:p>
            <a:r>
              <a:rPr lang="en-GB" sz="1600" dirty="0"/>
              <a:t>variety of standards for mapping colour</a:t>
            </a:r>
          </a:p>
          <a:p>
            <a:r>
              <a:rPr lang="en-GB" sz="1600" dirty="0"/>
              <a:t>most popular – </a:t>
            </a:r>
          </a:p>
          <a:p>
            <a:r>
              <a:rPr lang="en-GB" sz="1600" dirty="0"/>
              <a:t>CIE 1931 - widely used</a:t>
            </a:r>
          </a:p>
          <a:p>
            <a:r>
              <a:rPr lang="en-GB" sz="1600" dirty="0"/>
              <a:t>CIE 1976 - strongly advised </a:t>
            </a:r>
          </a:p>
          <a:p>
            <a:endParaRPr lang="en-GB" sz="1600" dirty="0"/>
          </a:p>
          <a:p>
            <a:r>
              <a:rPr lang="en-GB" sz="1600" i="1" dirty="0"/>
              <a:t>CIE - Commission </a:t>
            </a:r>
            <a:r>
              <a:rPr lang="en-GB" sz="1600" i="1" dirty="0" err="1"/>
              <a:t>internationale</a:t>
            </a:r>
            <a:r>
              <a:rPr lang="en-GB" sz="1600" i="1" dirty="0"/>
              <a:t> de </a:t>
            </a:r>
            <a:r>
              <a:rPr lang="en-GB" sz="1600" i="1" dirty="0" err="1"/>
              <a:t>l’éclairage</a:t>
            </a:r>
            <a:endParaRPr lang="en-GB" sz="1600" i="1" dirty="0"/>
          </a:p>
          <a:p>
            <a:r>
              <a:rPr lang="en-GB" sz="1600" i="1" dirty="0"/>
              <a:t>Gamut - the achievable colours in the colour space; </a:t>
            </a:r>
          </a:p>
          <a:p>
            <a:endParaRPr lang="en-GB" sz="1600" dirty="0"/>
          </a:p>
          <a:p>
            <a:endParaRPr lang="en-GB" sz="1600" dirty="0"/>
          </a:p>
          <a:p>
            <a:r>
              <a:rPr lang="en-GB" sz="1600" b="1" dirty="0"/>
              <a:t>Chromaticity diagrams</a:t>
            </a:r>
          </a:p>
          <a:p>
            <a:pPr marL="182563" indent="-182563">
              <a:buFont typeface="Arial" pitchFamily="34" charset="0"/>
              <a:buChar char="•"/>
            </a:pPr>
            <a:r>
              <a:rPr lang="en-GB" sz="1600" dirty="0"/>
              <a:t>measure colour quality, independent of other factors like luminance</a:t>
            </a:r>
          </a:p>
          <a:p>
            <a:pPr marL="182563" indent="-182563">
              <a:buFont typeface="Arial" pitchFamily="34" charset="0"/>
              <a:buChar char="•"/>
            </a:pPr>
            <a:r>
              <a:rPr lang="en-GB" sz="1600" dirty="0"/>
              <a:t>colour space is a uniform representation of visible light</a:t>
            </a:r>
          </a:p>
          <a:p>
            <a:pPr marL="182563" indent="-182563">
              <a:buFont typeface="Arial" pitchFamily="34" charset="0"/>
              <a:buChar char="•"/>
            </a:pPr>
            <a:r>
              <a:rPr lang="en-GB" sz="1600" dirty="0"/>
              <a:t>maps the all of the colours visible to the human eye onto an x-y grid </a:t>
            </a:r>
          </a:p>
          <a:p>
            <a:pPr marL="182563" indent="-182563">
              <a:buFont typeface="Arial" pitchFamily="34" charset="0"/>
              <a:buChar char="•"/>
            </a:pPr>
            <a:r>
              <a:rPr lang="en-GB" sz="1600" dirty="0"/>
              <a:t>assigns them measureable values</a:t>
            </a:r>
          </a:p>
          <a:p>
            <a:pPr marL="182563" indent="-182563">
              <a:buFont typeface="Arial" pitchFamily="34" charset="0"/>
              <a:buChar char="•"/>
            </a:pPr>
            <a:r>
              <a:rPr lang="en-GB" sz="1600" dirty="0"/>
              <a:t>allows uniform measurements and comparisons between colours</a:t>
            </a:r>
          </a:p>
          <a:p>
            <a:pPr marL="182563" indent="-182563">
              <a:buFont typeface="Arial" pitchFamily="34" charset="0"/>
              <a:buChar char="•"/>
            </a:pPr>
            <a:r>
              <a:rPr lang="en-GB" sz="1600" dirty="0"/>
              <a:t>offers certainty that images look the same from display to display when used to create colour gamut standards</a:t>
            </a:r>
          </a:p>
          <a:p>
            <a:endParaRPr lang="en-GB" sz="1600" dirty="0"/>
          </a:p>
        </p:txBody>
      </p:sp>
      <p:sp>
        <p:nvSpPr>
          <p:cNvPr id="3" name="Rectangle 2"/>
          <p:cNvSpPr/>
          <p:nvPr/>
        </p:nvSpPr>
        <p:spPr>
          <a:xfrm>
            <a:off x="393700" y="323850"/>
            <a:ext cx="2898140" cy="461665"/>
          </a:xfrm>
          <a:prstGeom prst="rect">
            <a:avLst/>
          </a:prstGeom>
        </p:spPr>
        <p:txBody>
          <a:bodyPr wrap="square">
            <a:spAutoFit/>
          </a:bodyPr>
          <a:lstStyle/>
          <a:p>
            <a:r>
              <a:rPr lang="en-GB" sz="2400" b="1" dirty="0"/>
              <a:t>RGB Colour Space</a:t>
            </a:r>
          </a:p>
        </p:txBody>
      </p:sp>
    </p:spTree>
    <p:extLst>
      <p:ext uri="{BB962C8B-B14F-4D97-AF65-F5344CB8AC3E}">
        <p14:creationId xmlns:p14="http://schemas.microsoft.com/office/powerpoint/2010/main" val="3849634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3700" y="323850"/>
            <a:ext cx="2031866" cy="830997"/>
          </a:xfrm>
          <a:prstGeom prst="rect">
            <a:avLst/>
          </a:prstGeom>
        </p:spPr>
        <p:txBody>
          <a:bodyPr wrap="square">
            <a:spAutoFit/>
          </a:bodyPr>
          <a:lstStyle/>
          <a:p>
            <a:r>
              <a:rPr lang="en-GB" sz="2400" b="1" dirty="0"/>
              <a:t>RGB Colour Space</a:t>
            </a:r>
          </a:p>
        </p:txBody>
      </p:sp>
      <p:sp>
        <p:nvSpPr>
          <p:cNvPr id="4" name="Rectangle 3"/>
          <p:cNvSpPr/>
          <p:nvPr/>
        </p:nvSpPr>
        <p:spPr>
          <a:xfrm>
            <a:off x="393700" y="5995676"/>
            <a:ext cx="2028119" cy="215444"/>
          </a:xfrm>
          <a:prstGeom prst="rect">
            <a:avLst/>
          </a:prstGeom>
        </p:spPr>
        <p:txBody>
          <a:bodyPr wrap="none">
            <a:spAutoFit/>
          </a:bodyPr>
          <a:lstStyle/>
          <a:p>
            <a:r>
              <a:rPr lang="en-GB" sz="800" dirty="0"/>
              <a:t>http://dot-color.com/tag/cie-1931/</a:t>
            </a:r>
          </a:p>
        </p:txBody>
      </p:sp>
      <p:pic>
        <p:nvPicPr>
          <p:cNvPr id="65540" name="Picture 4" descr="http://dotcolordotcom.files.wordpress.com/2012/08/anatomy-of-a-cie-diagram2x.png"/>
          <p:cNvPicPr>
            <a:picLocks noChangeAspect="1" noChangeArrowheads="1"/>
          </p:cNvPicPr>
          <p:nvPr/>
        </p:nvPicPr>
        <p:blipFill>
          <a:blip r:embed="rId2" cstate="print"/>
          <a:srcRect b="9993"/>
          <a:stretch>
            <a:fillRect/>
          </a:stretch>
        </p:blipFill>
        <p:spPr bwMode="auto">
          <a:xfrm>
            <a:off x="2579571" y="323849"/>
            <a:ext cx="6422105" cy="6176835"/>
          </a:xfrm>
          <a:prstGeom prst="rect">
            <a:avLst/>
          </a:prstGeom>
          <a:noFill/>
        </p:spPr>
      </p:pic>
      <p:sp>
        <p:nvSpPr>
          <p:cNvPr id="5" name="TextBox 4"/>
          <p:cNvSpPr txBox="1"/>
          <p:nvPr/>
        </p:nvSpPr>
        <p:spPr>
          <a:xfrm>
            <a:off x="393700" y="1292333"/>
            <a:ext cx="2185871" cy="584775"/>
          </a:xfrm>
          <a:prstGeom prst="rect">
            <a:avLst/>
          </a:prstGeom>
          <a:noFill/>
        </p:spPr>
        <p:txBody>
          <a:bodyPr wrap="square" rtlCol="0" anchor="ctr">
            <a:spAutoFit/>
          </a:bodyPr>
          <a:lstStyle/>
          <a:p>
            <a:r>
              <a:rPr lang="en-GB" sz="1600" dirty="0">
                <a:latin typeface="Lucida Sans Unicode" pitchFamily="34" charset="0"/>
                <a:cs typeface="Lucida Sans Unicode" pitchFamily="34" charset="0"/>
              </a:rPr>
              <a:t>CIE Chromaticity Diagram</a:t>
            </a:r>
          </a:p>
        </p:txBody>
      </p:sp>
    </p:spTree>
    <p:extLst>
      <p:ext uri="{BB962C8B-B14F-4D97-AF65-F5344CB8AC3E}">
        <p14:creationId xmlns:p14="http://schemas.microsoft.com/office/powerpoint/2010/main" val="3759621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9144000" cy="6858000"/>
          </a:xfrm>
          <a:prstGeom prst="rect">
            <a:avLst/>
          </a:prstGeom>
          <a:solidFill>
            <a:schemeClr val="tx1"/>
          </a:solidFill>
          <a:ln>
            <a:solidFill>
              <a:schemeClr val="accent1"/>
            </a:solidFill>
          </a:ln>
        </p:spPr>
        <p:txBody>
          <a:bodyPr wrap="square" rtlCol="0" anchor="ctr">
            <a:spAutoFit/>
          </a:bodyPr>
          <a:lstStyle/>
          <a:p>
            <a:pPr algn="ctr"/>
            <a:endParaRPr lang="en-GB" sz="1600" b="1" dirty="0"/>
          </a:p>
        </p:txBody>
      </p:sp>
      <p:sp>
        <p:nvSpPr>
          <p:cNvPr id="2" name="Rectangle 1"/>
          <p:cNvSpPr/>
          <p:nvPr/>
        </p:nvSpPr>
        <p:spPr>
          <a:xfrm>
            <a:off x="393700" y="1043735"/>
            <a:ext cx="5256833" cy="5016758"/>
          </a:xfrm>
          <a:prstGeom prst="rect">
            <a:avLst/>
          </a:prstGeom>
        </p:spPr>
        <p:txBody>
          <a:bodyPr wrap="square">
            <a:spAutoFit/>
          </a:bodyPr>
          <a:lstStyle/>
          <a:p>
            <a:r>
              <a:rPr lang="en-GB" sz="1600" dirty="0">
                <a:solidFill>
                  <a:srgbClr val="FFFF00"/>
                </a:solidFill>
              </a:rPr>
              <a:t>Rec. 709 - for monitors, not cameras</a:t>
            </a:r>
          </a:p>
          <a:p>
            <a:pPr marL="285750" indent="-285750">
              <a:buFont typeface="Arial" panose="020B0604020202020204" pitchFamily="34" charset="0"/>
              <a:buChar char="•"/>
            </a:pPr>
            <a:r>
              <a:rPr lang="en-GB" sz="1600" dirty="0">
                <a:solidFill>
                  <a:srgbClr val="FFFF00"/>
                </a:solidFill>
              </a:rPr>
              <a:t>defines a gamma of 2.2</a:t>
            </a:r>
          </a:p>
          <a:p>
            <a:pPr marL="285750" indent="-285750">
              <a:buFont typeface="Arial" panose="020B0604020202020204" pitchFamily="34" charset="0"/>
              <a:buChar char="•"/>
            </a:pPr>
            <a:endParaRPr lang="en-GB" sz="1600" dirty="0">
              <a:solidFill>
                <a:srgbClr val="FFFF00"/>
              </a:solidFill>
            </a:endParaRPr>
          </a:p>
          <a:p>
            <a:r>
              <a:rPr lang="en-GB" sz="1600" b="1" dirty="0">
                <a:solidFill>
                  <a:srgbClr val="FFFF00"/>
                </a:solidFill>
              </a:rPr>
              <a:t>CIE spaces</a:t>
            </a:r>
          </a:p>
          <a:p>
            <a:pPr marL="285750" indent="-285750">
              <a:buFont typeface="Arial" panose="020B0604020202020204" pitchFamily="34" charset="0"/>
              <a:buChar char="•"/>
            </a:pPr>
            <a:r>
              <a:rPr lang="en-GB" sz="1600" dirty="0">
                <a:solidFill>
                  <a:srgbClr val="FFFF00"/>
                </a:solidFill>
              </a:rPr>
              <a:t>Colours defined by their coordinates on a CIE chromaticity diagram</a:t>
            </a:r>
          </a:p>
          <a:p>
            <a:pPr marL="285750" indent="-285750">
              <a:buFont typeface="Arial" panose="020B0604020202020204" pitchFamily="34" charset="0"/>
              <a:buChar char="•"/>
            </a:pPr>
            <a:r>
              <a:rPr lang="en-GB" sz="1600" dirty="0">
                <a:solidFill>
                  <a:srgbClr val="FFFF00"/>
                </a:solidFill>
              </a:rPr>
              <a:t>diagram deals with hue and saturation, not brightness; colour defined by </a:t>
            </a:r>
            <a:r>
              <a:rPr lang="en-GB" sz="1600">
                <a:solidFill>
                  <a:srgbClr val="FFFF00"/>
                </a:solidFill>
              </a:rPr>
              <a:t>two numbers</a:t>
            </a:r>
          </a:p>
          <a:p>
            <a:pPr marL="285750" indent="-285750">
              <a:buFont typeface="Arial" panose="020B0604020202020204" pitchFamily="34" charset="0"/>
              <a:buChar char="•"/>
            </a:pPr>
            <a:endParaRPr lang="en-GB" sz="1600" dirty="0">
              <a:solidFill>
                <a:srgbClr val="FFFF00"/>
              </a:solidFill>
            </a:endParaRPr>
          </a:p>
          <a:p>
            <a:pPr marL="985838" lvl="1" indent="-285750" defTabSz="1343025">
              <a:buFont typeface="Arial" panose="020B0604020202020204" pitchFamily="34" charset="0"/>
              <a:buChar char="•"/>
            </a:pPr>
            <a:r>
              <a:rPr lang="en-GB" sz="1600">
                <a:solidFill>
                  <a:srgbClr val="FFFF00"/>
                </a:solidFill>
              </a:rPr>
              <a:t>R:	xR = 0.64  	yR = 0.33 </a:t>
            </a:r>
          </a:p>
          <a:p>
            <a:pPr marL="985838" lvl="1" indent="-285750" defTabSz="1343025">
              <a:buFont typeface="Arial" panose="020B0604020202020204" pitchFamily="34" charset="0"/>
              <a:buChar char="•"/>
            </a:pPr>
            <a:r>
              <a:rPr lang="en-GB" sz="1600">
                <a:solidFill>
                  <a:srgbClr val="FFFF00"/>
                </a:solidFill>
              </a:rPr>
              <a:t>G: 	xG = 0.30	yG = 0.60 </a:t>
            </a:r>
          </a:p>
          <a:p>
            <a:pPr marL="985838" lvl="1" indent="-285750" defTabSz="1343025">
              <a:buFont typeface="Arial" panose="020B0604020202020204" pitchFamily="34" charset="0"/>
              <a:buChar char="•"/>
            </a:pPr>
            <a:r>
              <a:rPr lang="en-GB" sz="1600">
                <a:solidFill>
                  <a:srgbClr val="FFFF00"/>
                </a:solidFill>
              </a:rPr>
              <a:t>B: 	xB = 0.15 	yB = 0.06</a:t>
            </a:r>
          </a:p>
          <a:p>
            <a:pPr marL="742950" lvl="1" indent="-285750">
              <a:buFont typeface="Arial" panose="020B0604020202020204" pitchFamily="34" charset="0"/>
              <a:buChar char="•"/>
            </a:pPr>
            <a:endParaRPr lang="en-GB" sz="1600" dirty="0">
              <a:solidFill>
                <a:srgbClr val="FFFF00"/>
              </a:solidFill>
            </a:endParaRPr>
          </a:p>
          <a:p>
            <a:pPr marL="285750" indent="-285750">
              <a:buFont typeface="Arial" panose="020B0604020202020204" pitchFamily="34" charset="0"/>
              <a:buChar char="•"/>
            </a:pPr>
            <a:r>
              <a:rPr lang="en-GB" sz="1600" dirty="0">
                <a:solidFill>
                  <a:srgbClr val="FFFF00"/>
                </a:solidFill>
              </a:rPr>
              <a:t>also </a:t>
            </a:r>
            <a:r>
              <a:rPr lang="en-GB" sz="1600">
                <a:solidFill>
                  <a:srgbClr val="FFFF00"/>
                </a:solidFill>
              </a:rPr>
              <a:t>defines </a:t>
            </a:r>
          </a:p>
          <a:p>
            <a:pPr marL="742950" lvl="1" indent="-285750">
              <a:buFont typeface="Arial" panose="020B0604020202020204" pitchFamily="34" charset="0"/>
              <a:buChar char="•"/>
            </a:pPr>
            <a:r>
              <a:rPr lang="en-GB" sz="1600">
                <a:solidFill>
                  <a:srgbClr val="FFFF00"/>
                </a:solidFill>
              </a:rPr>
              <a:t>white: xW = 0.3127 yW = 0.3290</a:t>
            </a:r>
            <a:endParaRPr lang="en-GB" sz="1600" dirty="0">
              <a:solidFill>
                <a:srgbClr val="FFFF00"/>
              </a:solidFill>
            </a:endParaRPr>
          </a:p>
          <a:p>
            <a:pPr marL="285750" indent="-285750">
              <a:buFont typeface="Arial" panose="020B0604020202020204" pitchFamily="34" charset="0"/>
              <a:buChar char="•"/>
            </a:pPr>
            <a:endParaRPr lang="en-GB" sz="1600">
              <a:solidFill>
                <a:srgbClr val="FFFF00"/>
              </a:solidFill>
            </a:endParaRPr>
          </a:p>
          <a:p>
            <a:pPr marL="285750" indent="-285750">
              <a:buFont typeface="Arial" panose="020B0604020202020204" pitchFamily="34" charset="0"/>
              <a:buChar char="•"/>
            </a:pPr>
            <a:r>
              <a:rPr lang="en-GB" sz="1600">
                <a:solidFill>
                  <a:srgbClr val="FFFF00"/>
                </a:solidFill>
              </a:rPr>
              <a:t>establishes </a:t>
            </a:r>
            <a:r>
              <a:rPr lang="en-GB" sz="1600" dirty="0">
                <a:solidFill>
                  <a:srgbClr val="FFFF00"/>
                </a:solidFill>
              </a:rPr>
              <a:t>the effective colour temperature of the display</a:t>
            </a:r>
          </a:p>
          <a:p>
            <a:pPr marL="285750" indent="-285750">
              <a:buFont typeface="Arial" panose="020B0604020202020204" pitchFamily="34" charset="0"/>
              <a:buChar char="•"/>
            </a:pPr>
            <a:r>
              <a:rPr lang="en-GB" sz="1600" dirty="0">
                <a:solidFill>
                  <a:srgbClr val="FFFF00"/>
                </a:solidFill>
              </a:rPr>
              <a:t>e.g. rec 709 cannot display a green deeper than 0.3, 0.6 on </a:t>
            </a:r>
            <a:r>
              <a:rPr lang="en-GB" sz="1600">
                <a:solidFill>
                  <a:srgbClr val="FFFF00"/>
                </a:solidFill>
              </a:rPr>
              <a:t>CIE 1931</a:t>
            </a:r>
            <a:endParaRPr lang="en-GB" sz="1600" dirty="0">
              <a:solidFill>
                <a:srgbClr val="FFFF00"/>
              </a:solidFill>
            </a:endParaRPr>
          </a:p>
        </p:txBody>
      </p:sp>
      <p:sp>
        <p:nvSpPr>
          <p:cNvPr id="4" name="Rectangle 3"/>
          <p:cNvSpPr/>
          <p:nvPr/>
        </p:nvSpPr>
        <p:spPr>
          <a:xfrm>
            <a:off x="393700" y="323850"/>
            <a:ext cx="6158520" cy="461665"/>
          </a:xfrm>
          <a:prstGeom prst="rect">
            <a:avLst/>
          </a:prstGeom>
        </p:spPr>
        <p:txBody>
          <a:bodyPr wrap="square">
            <a:spAutoFit/>
          </a:bodyPr>
          <a:lstStyle/>
          <a:p>
            <a:r>
              <a:rPr lang="en-GB" sz="2400" b="1">
                <a:solidFill>
                  <a:srgbClr val="FFFF00"/>
                </a:solidFill>
              </a:rPr>
              <a:t>Chromaticity and CIE Colour Space</a:t>
            </a:r>
            <a:endParaRPr lang="en-GB" sz="2400" b="1" dirty="0">
              <a:solidFill>
                <a:srgbClr val="FFFF00"/>
              </a:solidFill>
            </a:endParaRPr>
          </a:p>
        </p:txBody>
      </p:sp>
      <p:pic>
        <p:nvPicPr>
          <p:cNvPr id="5" name="Picture 4"/>
          <p:cNvPicPr>
            <a:picLocks noChangeAspect="1" noChangeArrowheads="1"/>
          </p:cNvPicPr>
          <p:nvPr/>
        </p:nvPicPr>
        <p:blipFill>
          <a:blip r:embed="rId2" cstate="print"/>
          <a:srcRect/>
          <a:stretch>
            <a:fillRect/>
          </a:stretch>
        </p:blipFill>
        <p:spPr bwMode="auto">
          <a:xfrm>
            <a:off x="5472100" y="1043735"/>
            <a:ext cx="3551711" cy="3768610"/>
          </a:xfrm>
          <a:prstGeom prst="rect">
            <a:avLst/>
          </a:prstGeom>
          <a:noFill/>
          <a:ln w="9525">
            <a:noFill/>
            <a:miter lim="800000"/>
            <a:headEnd/>
            <a:tailEnd/>
          </a:ln>
        </p:spPr>
      </p:pic>
    </p:spTree>
    <p:extLst>
      <p:ext uri="{BB962C8B-B14F-4D97-AF65-F5344CB8AC3E}">
        <p14:creationId xmlns:p14="http://schemas.microsoft.com/office/powerpoint/2010/main" val="3141795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288" y="802739"/>
            <a:ext cx="8198379" cy="5262979"/>
          </a:xfrm>
          <a:prstGeom prst="rect">
            <a:avLst/>
          </a:prstGeom>
        </p:spPr>
        <p:txBody>
          <a:bodyPr wrap="square">
            <a:spAutoFit/>
          </a:bodyPr>
          <a:lstStyle/>
          <a:p>
            <a:r>
              <a:rPr lang="en-GB" sz="1400"/>
              <a:t>HDTV </a:t>
            </a:r>
            <a:r>
              <a:rPr lang="en-GB" sz="1400" dirty="0"/>
              <a:t>systems 2M </a:t>
            </a:r>
            <a:r>
              <a:rPr lang="en-GB" sz="1400" dirty="0" err="1"/>
              <a:t>luma</a:t>
            </a:r>
            <a:r>
              <a:rPr lang="en-GB" sz="1400" dirty="0"/>
              <a:t> samples / frame. </a:t>
            </a:r>
          </a:p>
          <a:p>
            <a:pPr marL="285750" indent="-285750">
              <a:buFont typeface="Arial" panose="020B0604020202020204" pitchFamily="34" charset="0"/>
              <a:buChar char="•"/>
            </a:pPr>
            <a:endParaRPr lang="en-GB" sz="1400" dirty="0"/>
          </a:p>
          <a:p>
            <a:r>
              <a:rPr lang="en-GB" sz="1400" b="1" dirty="0"/>
              <a:t>Rec. 709 two parts:</a:t>
            </a:r>
          </a:p>
          <a:p>
            <a:pPr marL="285750" indent="-285750">
              <a:buFont typeface="Arial" panose="020B0604020202020204" pitchFamily="34" charset="0"/>
              <a:buChar char="•"/>
            </a:pPr>
            <a:r>
              <a:rPr lang="en-GB" sz="1400" dirty="0"/>
              <a:t>1080i and 1080p systems </a:t>
            </a:r>
          </a:p>
          <a:p>
            <a:pPr marL="285750" indent="-285750">
              <a:buFont typeface="Arial" panose="020B0604020202020204" pitchFamily="34" charset="0"/>
              <a:buChar char="•"/>
            </a:pPr>
            <a:r>
              <a:rPr lang="en-GB" sz="1400"/>
              <a:t>1035i30 </a:t>
            </a:r>
            <a:r>
              <a:rPr lang="en-GB" sz="1400" dirty="0"/>
              <a:t>and 1152i25 HDTV systems</a:t>
            </a:r>
          </a:p>
          <a:p>
            <a:pPr marL="285750" indent="-285750">
              <a:buFont typeface="Arial" panose="020B0604020202020204" pitchFamily="34" charset="0"/>
              <a:buChar char="•"/>
            </a:pPr>
            <a:r>
              <a:rPr lang="en-GB" sz="1400" dirty="0"/>
              <a:t>1035i30 now obsolete; 1152i25 experimental, never commercially deployed</a:t>
            </a:r>
          </a:p>
          <a:p>
            <a:pPr marL="285750" indent="-285750">
              <a:buFont typeface="Arial" panose="020B0604020202020204" pitchFamily="34" charset="0"/>
              <a:buChar char="•"/>
            </a:pPr>
            <a:endParaRPr lang="en-GB" sz="1400" dirty="0"/>
          </a:p>
          <a:p>
            <a:r>
              <a:rPr lang="en-GB" sz="1400" b="1"/>
              <a:t>Frame Rate</a:t>
            </a:r>
          </a:p>
          <a:p>
            <a:pPr marL="285750" indent="-285750">
              <a:buFont typeface="Arial" panose="020B0604020202020204" pitchFamily="34" charset="0"/>
              <a:buChar char="•"/>
            </a:pPr>
            <a:r>
              <a:rPr lang="en-GB" sz="1400"/>
              <a:t>picture </a:t>
            </a:r>
            <a:r>
              <a:rPr lang="en-GB" sz="1400" dirty="0"/>
              <a:t>rates: 60 Hz, 50 Hz, 30 Hz, 25 Hz and 24 Hz. </a:t>
            </a:r>
          </a:p>
          <a:p>
            <a:pPr marL="285750" indent="-285750">
              <a:buFont typeface="Arial" panose="020B0604020202020204" pitchFamily="34" charset="0"/>
              <a:buChar char="•"/>
            </a:pPr>
            <a:r>
              <a:rPr lang="en-GB" sz="1400" dirty="0"/>
              <a:t>"Fractional" rates (divided by 1.001) also permitted</a:t>
            </a:r>
          </a:p>
          <a:p>
            <a:pPr marL="285750" indent="-285750">
              <a:buFont typeface="Arial" panose="020B0604020202020204" pitchFamily="34" charset="0"/>
              <a:buChar char="•"/>
            </a:pPr>
            <a:endParaRPr lang="en-GB" sz="1400" dirty="0"/>
          </a:p>
          <a:p>
            <a:r>
              <a:rPr lang="en-GB" sz="1400" b="1"/>
              <a:t>Digital Representation</a:t>
            </a:r>
          </a:p>
          <a:p>
            <a:pPr marL="285750" indent="-285750">
              <a:buFont typeface="Arial" panose="020B0604020202020204" pitchFamily="34" charset="0"/>
              <a:buChar char="•"/>
            </a:pPr>
            <a:r>
              <a:rPr lang="en-GB" sz="1400"/>
              <a:t>R’G’B</a:t>
            </a:r>
            <a:r>
              <a:rPr lang="en-GB" sz="1400" dirty="0"/>
              <a:t>’ and Y’CBCR </a:t>
            </a:r>
          </a:p>
          <a:p>
            <a:pPr marL="285750" indent="-285750">
              <a:buFont typeface="Arial" panose="020B0604020202020204" pitchFamily="34" charset="0"/>
              <a:buChar char="•"/>
            </a:pPr>
            <a:r>
              <a:rPr lang="en-GB" sz="1400" dirty="0"/>
              <a:t>8 or 10 bits per sample in each </a:t>
            </a:r>
            <a:r>
              <a:rPr lang="en-GB" sz="1400" dirty="0" err="1"/>
              <a:t>color</a:t>
            </a:r>
            <a:r>
              <a:rPr lang="en-GB" sz="1400" dirty="0"/>
              <a:t> channel</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a:t>8-bit encoding: R</a:t>
            </a:r>
            <a:r>
              <a:rPr lang="en-GB" sz="1400" dirty="0"/>
              <a:t>’, B’, G’, and Y’ channels range </a:t>
            </a:r>
            <a:r>
              <a:rPr lang="en-GB" sz="1400"/>
              <a:t>of 16 ... 235</a:t>
            </a:r>
            <a:endParaRPr lang="en-GB" sz="1400" dirty="0"/>
          </a:p>
          <a:p>
            <a:pPr marL="1200150" lvl="2" indent="-285750">
              <a:buFont typeface="Arial" panose="020B0604020202020204" pitchFamily="34" charset="0"/>
              <a:buChar char="•"/>
            </a:pPr>
            <a:r>
              <a:rPr lang="en-GB" sz="1400" dirty="0" err="1"/>
              <a:t>Cb</a:t>
            </a:r>
            <a:r>
              <a:rPr lang="en-GB" sz="1400"/>
              <a:t>, Cr </a:t>
            </a:r>
            <a:r>
              <a:rPr lang="en-GB" sz="1400" dirty="0"/>
              <a:t>channels </a:t>
            </a:r>
            <a:r>
              <a:rPr lang="en-GB" sz="1400"/>
              <a:t>= 16 ... 240  (</a:t>
            </a:r>
            <a:r>
              <a:rPr lang="en-GB" sz="1400" dirty="0"/>
              <a:t>128 = neutral value)</a:t>
            </a:r>
          </a:p>
          <a:p>
            <a:pPr marL="1200150" lvl="2" indent="-285750">
              <a:buFont typeface="Arial" panose="020B0604020202020204" pitchFamily="34" charset="0"/>
              <a:buChar char="•"/>
            </a:pPr>
            <a:r>
              <a:rPr lang="en-GB" sz="1400" dirty="0"/>
              <a:t>R’G’B’ - reference black = 16, 16, 16; reference white = 235, 235, 235</a:t>
            </a:r>
          </a:p>
          <a:p>
            <a:pPr marL="1200150" lvl="2" indent="-285750">
              <a:buFont typeface="Arial" panose="020B0604020202020204" pitchFamily="34" charset="0"/>
              <a:buChar char="•"/>
            </a:pPr>
            <a:r>
              <a:rPr lang="en-GB" sz="1400" dirty="0" err="1"/>
              <a:t>Y’CbCr</a:t>
            </a:r>
            <a:r>
              <a:rPr lang="en-GB" sz="1400" dirty="0"/>
              <a:t> - reference black = 16, 128, 128; reference white = 235, 128, 128</a:t>
            </a:r>
          </a:p>
          <a:p>
            <a:pPr marL="1200150" lvl="2" indent="-285750">
              <a:buFont typeface="Arial" panose="020B0604020202020204" pitchFamily="34" charset="0"/>
              <a:buChar char="•"/>
            </a:pPr>
            <a:r>
              <a:rPr lang="en-GB" sz="1400" dirty="0"/>
              <a:t>Values outside nominal ranges allowed, but usually clamped for broadcast</a:t>
            </a:r>
          </a:p>
          <a:p>
            <a:pPr marL="1200150" lvl="2" indent="-285750">
              <a:buFont typeface="Arial" panose="020B0604020202020204" pitchFamily="34" charset="0"/>
              <a:buChar char="•"/>
            </a:pPr>
            <a:r>
              <a:rPr lang="en-GB" sz="1400" dirty="0"/>
              <a:t>0 and 255 = timing references</a:t>
            </a:r>
          </a:p>
          <a:p>
            <a:pPr marL="285750" indent="-285750">
              <a:buFont typeface="Arial" panose="020B0604020202020204" pitchFamily="34" charset="0"/>
              <a:buChar char="•"/>
            </a:pPr>
            <a:endParaRPr lang="en-GB" sz="1400" dirty="0"/>
          </a:p>
          <a:p>
            <a:pPr marL="1200150" lvl="2" indent="-285750">
              <a:buFont typeface="Arial" panose="020B0604020202020204" pitchFamily="34" charset="0"/>
              <a:buChar char="•"/>
            </a:pPr>
            <a:r>
              <a:rPr lang="en-GB" sz="1400"/>
              <a:t>For 10-bit encoding – 4 x (8-bit encoding values) </a:t>
            </a:r>
          </a:p>
          <a:p>
            <a:pPr lvl="3"/>
            <a:r>
              <a:rPr lang="en-GB" sz="1400"/>
              <a:t>	… [i.e. 2 extra bits = 4x]</a:t>
            </a:r>
            <a:endParaRPr lang="en-GB" sz="1400" dirty="0"/>
          </a:p>
        </p:txBody>
      </p:sp>
      <p:sp>
        <p:nvSpPr>
          <p:cNvPr id="3" name="TextBox 2"/>
          <p:cNvSpPr txBox="1"/>
          <p:nvPr/>
        </p:nvSpPr>
        <p:spPr>
          <a:xfrm>
            <a:off x="395288" y="336257"/>
            <a:ext cx="1242648" cy="461665"/>
          </a:xfrm>
          <a:prstGeom prst="rect">
            <a:avLst/>
          </a:prstGeom>
          <a:noFill/>
        </p:spPr>
        <p:txBody>
          <a:bodyPr wrap="none" rtlCol="0">
            <a:spAutoFit/>
          </a:bodyPr>
          <a:lstStyle/>
          <a:p>
            <a:r>
              <a:rPr lang="en-GB" sz="2400" b="1" dirty="0"/>
              <a:t>BT.709</a:t>
            </a:r>
          </a:p>
        </p:txBody>
      </p:sp>
    </p:spTree>
    <p:extLst>
      <p:ext uri="{BB962C8B-B14F-4D97-AF65-F5344CB8AC3E}">
        <p14:creationId xmlns:p14="http://schemas.microsoft.com/office/powerpoint/2010/main" val="2338836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288" y="3577913"/>
            <a:ext cx="3526081" cy="2554545"/>
          </a:xfrm>
          <a:prstGeom prst="rect">
            <a:avLst/>
          </a:prstGeom>
        </p:spPr>
        <p:txBody>
          <a:bodyPr wrap="square">
            <a:spAutoFit/>
          </a:bodyPr>
          <a:lstStyle/>
          <a:p>
            <a:r>
              <a:rPr lang="en-GB" b="1">
                <a:solidFill>
                  <a:srgbClr val="555555"/>
                </a:solidFill>
                <a:latin typeface="+mn-lt"/>
              </a:rPr>
              <a:t>Rec BT.</a:t>
            </a:r>
            <a:r>
              <a:rPr lang="en-GB" b="1" dirty="0">
                <a:solidFill>
                  <a:srgbClr val="555555"/>
                </a:solidFill>
                <a:latin typeface="+mn-lt"/>
              </a:rPr>
              <a:t>709</a:t>
            </a:r>
            <a:r>
              <a:rPr lang="en-GB" b="1">
                <a:solidFill>
                  <a:srgbClr val="555555"/>
                </a:solidFill>
                <a:latin typeface="+mn-lt"/>
              </a:rPr>
              <a:t> </a:t>
            </a:r>
            <a:r>
              <a:rPr lang="en-GB" i="1">
                <a:solidFill>
                  <a:srgbClr val="555555"/>
                </a:solidFill>
              </a:rPr>
              <a:t> … CIE Coverage: </a:t>
            </a:r>
            <a:r>
              <a:rPr lang="en-GB" i="1">
                <a:solidFill>
                  <a:srgbClr val="555555"/>
                </a:solidFill>
                <a:latin typeface="+mn-lt"/>
              </a:rPr>
              <a:t>34%</a:t>
            </a:r>
            <a:endParaRPr lang="en-GB" i="1" dirty="0">
              <a:solidFill>
                <a:srgbClr val="555555"/>
              </a:solidFill>
              <a:latin typeface="+mn-lt"/>
            </a:endParaRPr>
          </a:p>
          <a:p>
            <a:pPr marL="285750" indent="-285750">
              <a:buFont typeface="Arial" panose="020B0604020202020204" pitchFamily="34" charset="0"/>
              <a:buChar char="•"/>
            </a:pPr>
            <a:r>
              <a:rPr lang="en-GB" dirty="0">
                <a:solidFill>
                  <a:srgbClr val="555555"/>
                </a:solidFill>
                <a:latin typeface="+mn-lt"/>
              </a:rPr>
              <a:t>1990,  ITU; predominate standard for digital HD broadcasting </a:t>
            </a:r>
            <a:r>
              <a:rPr lang="en-GB">
                <a:solidFill>
                  <a:srgbClr val="555555"/>
                </a:solidFill>
                <a:latin typeface="+mn-lt"/>
              </a:rPr>
              <a:t>and TVs</a:t>
            </a:r>
          </a:p>
          <a:p>
            <a:pPr lvl="1"/>
            <a:r>
              <a:rPr lang="en-GB">
                <a:solidFill>
                  <a:srgbClr val="555555"/>
                </a:solidFill>
              </a:rPr>
              <a:t>(also DVD and Blu-ray)</a:t>
            </a:r>
          </a:p>
          <a:p>
            <a:pPr lvl="1"/>
            <a:r>
              <a:rPr lang="en-GB">
                <a:solidFill>
                  <a:srgbClr val="555555"/>
                </a:solidFill>
              </a:rPr>
              <a:t> </a:t>
            </a:r>
          </a:p>
          <a:p>
            <a:pPr marL="285750" indent="-285750">
              <a:buFont typeface="Arial" panose="020B0604020202020204" pitchFamily="34" charset="0"/>
              <a:buChar char="•"/>
            </a:pPr>
            <a:r>
              <a:rPr lang="en-GB">
                <a:solidFill>
                  <a:srgbClr val="555555"/>
                </a:solidFill>
                <a:latin typeface="+mn-lt"/>
              </a:rPr>
              <a:t>standard for HD format, aspect ratio, 709 colour space </a:t>
            </a:r>
            <a:endParaRPr lang="en-GB" dirty="0">
              <a:solidFill>
                <a:srgbClr val="555555"/>
              </a:solidFill>
              <a:latin typeface="+mn-lt"/>
            </a:endParaRPr>
          </a:p>
          <a:p>
            <a:pPr marL="742950" lvl="1" indent="-285750">
              <a:buFont typeface="Arial" panose="020B0604020202020204" pitchFamily="34" charset="0"/>
              <a:buChar char="•"/>
            </a:pPr>
            <a:r>
              <a:rPr lang="en-GB">
                <a:solidFill>
                  <a:srgbClr val="555555"/>
                </a:solidFill>
                <a:latin typeface="+mn-lt"/>
              </a:rPr>
              <a:t>actually </a:t>
            </a:r>
            <a:r>
              <a:rPr lang="en-GB" dirty="0">
                <a:solidFill>
                  <a:srgbClr val="555555"/>
                </a:solidFill>
                <a:latin typeface="+mn-lt"/>
              </a:rPr>
              <a:t>covers less of the CIE than </a:t>
            </a:r>
            <a:r>
              <a:rPr lang="en-GB">
                <a:solidFill>
                  <a:srgbClr val="555555"/>
                </a:solidFill>
                <a:latin typeface="+mn-lt"/>
              </a:rPr>
              <a:t>the NTSC</a:t>
            </a:r>
            <a:endParaRPr lang="en-GB" dirty="0">
              <a:solidFill>
                <a:srgbClr val="555555"/>
              </a:solidFill>
              <a:latin typeface="+mn-lt"/>
            </a:endParaRPr>
          </a:p>
        </p:txBody>
      </p:sp>
      <p:sp>
        <p:nvSpPr>
          <p:cNvPr id="6" name="TextBox 5"/>
          <p:cNvSpPr txBox="1"/>
          <p:nvPr/>
        </p:nvSpPr>
        <p:spPr>
          <a:xfrm>
            <a:off x="395288" y="368300"/>
            <a:ext cx="2765501" cy="461665"/>
          </a:xfrm>
          <a:prstGeom prst="rect">
            <a:avLst/>
          </a:prstGeom>
          <a:solidFill>
            <a:schemeClr val="bg1">
              <a:alpha val="61000"/>
            </a:schemeClr>
          </a:solidFill>
        </p:spPr>
        <p:txBody>
          <a:bodyPr wrap="none" rtlCol="0">
            <a:spAutoFit/>
          </a:bodyPr>
          <a:lstStyle/>
          <a:p>
            <a:r>
              <a:rPr lang="en-GB" sz="2400" b="1" dirty="0"/>
              <a:t>Colour Standards</a:t>
            </a:r>
          </a:p>
        </p:txBody>
      </p:sp>
      <p:pic>
        <p:nvPicPr>
          <p:cNvPr id="7" name="Picture 6" descr="http://coloriq.com/wp-content/uploads/2015/09/tim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7" y="829965"/>
            <a:ext cx="8036423" cy="148869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ec._709_gamma_curve_shown_here_in_comparison_to_the_sRGB_curve_used_on_computer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8423" y="3763405"/>
            <a:ext cx="4934997" cy="277878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395288" y="2444715"/>
            <a:ext cx="8144555" cy="830997"/>
          </a:xfrm>
          <a:prstGeom prst="rect">
            <a:avLst/>
          </a:prstGeom>
        </p:spPr>
        <p:txBody>
          <a:bodyPr wrap="square">
            <a:spAutoFit/>
          </a:bodyPr>
          <a:lstStyle/>
          <a:p>
            <a:r>
              <a:rPr lang="en-GB" b="1" dirty="0">
                <a:solidFill>
                  <a:srgbClr val="555555"/>
                </a:solidFill>
                <a:latin typeface="+mn-lt"/>
              </a:rPr>
              <a:t>NTSC / PAL / SECAM</a:t>
            </a:r>
            <a:r>
              <a:rPr lang="en-GB">
                <a:solidFill>
                  <a:srgbClr val="555555"/>
                </a:solidFill>
                <a:latin typeface="+mn-lt"/>
              </a:rPr>
              <a:t> </a:t>
            </a:r>
            <a:r>
              <a:rPr lang="en-GB" i="1">
                <a:solidFill>
                  <a:srgbClr val="555555"/>
                </a:solidFill>
                <a:latin typeface="+mn-lt"/>
              </a:rPr>
              <a:t>… CIE </a:t>
            </a:r>
            <a:r>
              <a:rPr lang="en-GB" i="1" dirty="0">
                <a:solidFill>
                  <a:srgbClr val="555555"/>
                </a:solidFill>
                <a:latin typeface="+mn-lt"/>
              </a:rPr>
              <a:t>Coverage: </a:t>
            </a:r>
            <a:r>
              <a:rPr lang="en-GB" i="1">
                <a:solidFill>
                  <a:srgbClr val="555555"/>
                </a:solidFill>
                <a:latin typeface="+mn-lt"/>
              </a:rPr>
              <a:t>47%</a:t>
            </a:r>
            <a:endParaRPr lang="en-GB" i="1" dirty="0">
              <a:solidFill>
                <a:srgbClr val="555555"/>
              </a:solidFill>
              <a:latin typeface="+mn-lt"/>
            </a:endParaRPr>
          </a:p>
          <a:p>
            <a:pPr marL="285750" indent="-285750">
              <a:buFont typeface="Arial" panose="020B0604020202020204" pitchFamily="34" charset="0"/>
              <a:buChar char="•"/>
            </a:pPr>
            <a:r>
              <a:rPr lang="en-GB" dirty="0">
                <a:solidFill>
                  <a:srgbClr val="555555"/>
                </a:solidFill>
                <a:latin typeface="+mn-lt"/>
              </a:rPr>
              <a:t>primary standards since 1950s for analogue broadcasting </a:t>
            </a:r>
          </a:p>
          <a:p>
            <a:pPr marL="285750" indent="-285750">
              <a:buFont typeface="Arial" panose="020B0604020202020204" pitchFamily="34" charset="0"/>
              <a:buChar char="•"/>
            </a:pPr>
            <a:r>
              <a:rPr lang="en-GB" dirty="0">
                <a:solidFill>
                  <a:srgbClr val="555555"/>
                </a:solidFill>
                <a:latin typeface="+mn-lt"/>
              </a:rPr>
              <a:t>largely phased out due to digital HD </a:t>
            </a:r>
            <a:r>
              <a:rPr lang="en-GB">
                <a:solidFill>
                  <a:srgbClr val="555555"/>
                </a:solidFill>
                <a:latin typeface="+mn-lt"/>
              </a:rPr>
              <a:t>broadcasting.</a:t>
            </a:r>
            <a:endParaRPr lang="en-GB" dirty="0">
              <a:solidFill>
                <a:srgbClr val="555555"/>
              </a:solidFill>
              <a:latin typeface="+mn-lt"/>
            </a:endParaRPr>
          </a:p>
        </p:txBody>
      </p:sp>
      <p:sp>
        <p:nvSpPr>
          <p:cNvPr id="9" name="Rectangle 8"/>
          <p:cNvSpPr/>
          <p:nvPr/>
        </p:nvSpPr>
        <p:spPr>
          <a:xfrm>
            <a:off x="4820141" y="3763405"/>
            <a:ext cx="2987428" cy="738664"/>
          </a:xfrm>
          <a:prstGeom prst="rect">
            <a:avLst/>
          </a:prstGeom>
        </p:spPr>
        <p:txBody>
          <a:bodyPr wrap="square">
            <a:spAutoFit/>
          </a:bodyPr>
          <a:lstStyle/>
          <a:p>
            <a:r>
              <a:rPr lang="en-GB" sz="1400" i="1">
                <a:solidFill>
                  <a:srgbClr val="30343C"/>
                </a:solidFill>
                <a:latin typeface="Open Sans"/>
              </a:rPr>
              <a:t>Rec. 709 gamma curve, shown here in comparison to the sRGB curve used on computers.</a:t>
            </a:r>
            <a:endParaRPr lang="en-GB" sz="1400" i="1"/>
          </a:p>
        </p:txBody>
      </p:sp>
      <p:sp>
        <p:nvSpPr>
          <p:cNvPr id="10" name="Rectangle 9"/>
          <p:cNvSpPr/>
          <p:nvPr/>
        </p:nvSpPr>
        <p:spPr>
          <a:xfrm>
            <a:off x="7060223" y="3147854"/>
            <a:ext cx="2083777" cy="507831"/>
          </a:xfrm>
          <a:prstGeom prst="rect">
            <a:avLst/>
          </a:prstGeom>
          <a:solidFill>
            <a:schemeClr val="accent6">
              <a:lumMod val="60000"/>
              <a:lumOff val="40000"/>
            </a:schemeClr>
          </a:solidFill>
        </p:spPr>
        <p:txBody>
          <a:bodyPr wrap="square">
            <a:spAutoFit/>
          </a:bodyPr>
          <a:lstStyle/>
          <a:p>
            <a:r>
              <a:rPr lang="en-GB" sz="900">
                <a:hlinkClick r:id="rId4"/>
              </a:rPr>
              <a:t>http://www.redsharknews.com/technology/item/3289-what-exactly-is-rec-709</a:t>
            </a:r>
            <a:r>
              <a:rPr lang="en-GB" sz="900"/>
              <a:t> </a:t>
            </a:r>
          </a:p>
        </p:txBody>
      </p:sp>
    </p:spTree>
    <p:extLst>
      <p:ext uri="{BB962C8B-B14F-4D97-AF65-F5344CB8AC3E}">
        <p14:creationId xmlns:p14="http://schemas.microsoft.com/office/powerpoint/2010/main" val="913964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287" y="2608431"/>
            <a:ext cx="8111898" cy="3539430"/>
          </a:xfrm>
          <a:prstGeom prst="rect">
            <a:avLst/>
          </a:prstGeom>
        </p:spPr>
        <p:txBody>
          <a:bodyPr wrap="square">
            <a:spAutoFit/>
          </a:bodyPr>
          <a:lstStyle/>
          <a:p>
            <a:r>
              <a:rPr lang="en-GB" b="1">
                <a:solidFill>
                  <a:srgbClr val="555555"/>
                </a:solidFill>
                <a:latin typeface="+mn-lt"/>
              </a:rPr>
              <a:t>sRGB</a:t>
            </a:r>
            <a:r>
              <a:rPr lang="en-GB">
                <a:solidFill>
                  <a:srgbClr val="555555"/>
                </a:solidFill>
              </a:rPr>
              <a:t> </a:t>
            </a:r>
            <a:r>
              <a:rPr lang="en-GB" i="1">
                <a:solidFill>
                  <a:srgbClr val="555555"/>
                </a:solidFill>
              </a:rPr>
              <a:t>… CIE Coverage: </a:t>
            </a:r>
            <a:r>
              <a:rPr lang="en-GB" i="1">
                <a:solidFill>
                  <a:srgbClr val="555555"/>
                </a:solidFill>
                <a:latin typeface="+mn-lt"/>
              </a:rPr>
              <a:t>34%</a:t>
            </a:r>
            <a:endParaRPr lang="en-GB" i="1" dirty="0">
              <a:solidFill>
                <a:srgbClr val="555555"/>
              </a:solidFill>
              <a:latin typeface="+mn-lt"/>
            </a:endParaRPr>
          </a:p>
          <a:p>
            <a:pPr marL="285750" indent="-285750">
              <a:buFont typeface="Arial" panose="020B0604020202020204" pitchFamily="34" charset="0"/>
              <a:buChar char="•"/>
            </a:pPr>
            <a:r>
              <a:rPr lang="en-GB" dirty="0">
                <a:solidFill>
                  <a:srgbClr val="555555"/>
                </a:solidFill>
                <a:latin typeface="+mn-lt"/>
              </a:rPr>
              <a:t>1996, HP </a:t>
            </a:r>
            <a:r>
              <a:rPr lang="en-GB">
                <a:solidFill>
                  <a:srgbClr val="555555"/>
                </a:solidFill>
                <a:latin typeface="+mn-lt"/>
              </a:rPr>
              <a:t>and Microsoft</a:t>
            </a:r>
          </a:p>
          <a:p>
            <a:pPr marL="285750" indent="-285750">
              <a:buFont typeface="Arial" panose="020B0604020202020204" pitchFamily="34" charset="0"/>
              <a:buChar char="•"/>
            </a:pPr>
            <a:r>
              <a:rPr lang="en-GB">
                <a:solidFill>
                  <a:srgbClr val="555555"/>
                </a:solidFill>
                <a:latin typeface="+mn-lt"/>
              </a:rPr>
              <a:t>colour </a:t>
            </a:r>
            <a:r>
              <a:rPr lang="en-GB" dirty="0">
                <a:solidFill>
                  <a:srgbClr val="555555"/>
                </a:solidFill>
                <a:latin typeface="+mn-lt"/>
              </a:rPr>
              <a:t>gamut identical to Rec.709</a:t>
            </a:r>
          </a:p>
          <a:p>
            <a:pPr marL="285750" indent="-285750">
              <a:buFont typeface="Arial" panose="020B0604020202020204" pitchFamily="34" charset="0"/>
              <a:buChar char="•"/>
            </a:pPr>
            <a:r>
              <a:rPr lang="en-GB" dirty="0">
                <a:solidFill>
                  <a:srgbClr val="555555"/>
                </a:solidFill>
                <a:latin typeface="+mn-lt"/>
              </a:rPr>
              <a:t>most commonly used standard worldwide for just about every device other than TVs</a:t>
            </a:r>
          </a:p>
          <a:p>
            <a:pPr marL="285750" indent="-285750">
              <a:buFont typeface="Arial" panose="020B0604020202020204" pitchFamily="34" charset="0"/>
              <a:buChar char="•"/>
            </a:pPr>
            <a:r>
              <a:rPr lang="en-GB" dirty="0">
                <a:solidFill>
                  <a:srgbClr val="555555"/>
                </a:solidFill>
                <a:latin typeface="+mn-lt"/>
              </a:rPr>
              <a:t>for internet streaming, monitors, projectors, cameras, printers, game consoles, smart phones, tablets, touch screen</a:t>
            </a:r>
            <a:r>
              <a:rPr lang="en-GB">
                <a:solidFill>
                  <a:srgbClr val="555555"/>
                </a:solidFill>
                <a:latin typeface="+mn-lt"/>
              </a:rPr>
              <a:t>, etc</a:t>
            </a:r>
          </a:p>
          <a:p>
            <a:pPr marL="285750" indent="-285750">
              <a:buFont typeface="Arial" panose="020B0604020202020204" pitchFamily="34" charset="0"/>
              <a:buChar char="•"/>
            </a:pPr>
            <a:endParaRPr lang="en-GB" dirty="0">
              <a:solidFill>
                <a:srgbClr val="555555"/>
              </a:solidFill>
              <a:latin typeface="+mn-lt"/>
            </a:endParaRPr>
          </a:p>
          <a:p>
            <a:pPr marL="285750" indent="-285750">
              <a:buFont typeface="Arial" panose="020B0604020202020204" pitchFamily="34" charset="0"/>
              <a:buChar char="•"/>
            </a:pPr>
            <a:endParaRPr lang="en-GB" b="1" dirty="0">
              <a:solidFill>
                <a:srgbClr val="555555"/>
              </a:solidFill>
              <a:latin typeface="+mn-lt"/>
            </a:endParaRPr>
          </a:p>
          <a:p>
            <a:r>
              <a:rPr lang="en-GB" b="1">
                <a:solidFill>
                  <a:srgbClr val="555555"/>
                </a:solidFill>
                <a:latin typeface="+mn-lt"/>
              </a:rPr>
              <a:t>Adobe RGB</a:t>
            </a:r>
            <a:r>
              <a:rPr lang="en-GB">
                <a:solidFill>
                  <a:srgbClr val="555555"/>
                </a:solidFill>
              </a:rPr>
              <a:t> </a:t>
            </a:r>
            <a:r>
              <a:rPr lang="en-GB" i="1">
                <a:solidFill>
                  <a:srgbClr val="555555"/>
                </a:solidFill>
              </a:rPr>
              <a:t>… CIE Coverage: </a:t>
            </a:r>
            <a:r>
              <a:rPr lang="en-GB" i="1">
                <a:solidFill>
                  <a:srgbClr val="555555"/>
                </a:solidFill>
                <a:latin typeface="+mn-lt"/>
              </a:rPr>
              <a:t>50%</a:t>
            </a:r>
            <a:endParaRPr lang="en-GB" i="1" dirty="0">
              <a:solidFill>
                <a:srgbClr val="555555"/>
              </a:solidFill>
              <a:latin typeface="+mn-lt"/>
            </a:endParaRPr>
          </a:p>
          <a:p>
            <a:pPr marL="285750" indent="-285750">
              <a:buFont typeface="Arial" panose="020B0604020202020204" pitchFamily="34" charset="0"/>
              <a:buChar char="•"/>
            </a:pPr>
            <a:r>
              <a:rPr lang="en-GB" dirty="0">
                <a:solidFill>
                  <a:srgbClr val="555555"/>
                </a:solidFill>
                <a:latin typeface="+mn-lt"/>
              </a:rPr>
              <a:t>1999</a:t>
            </a:r>
            <a:r>
              <a:rPr lang="en-GB">
                <a:solidFill>
                  <a:srgbClr val="555555"/>
                </a:solidFill>
                <a:latin typeface="+mn-lt"/>
              </a:rPr>
              <a:t>, Adobe</a:t>
            </a:r>
          </a:p>
          <a:p>
            <a:pPr marL="285750" indent="-285750">
              <a:buFont typeface="Arial" panose="020B0604020202020204" pitchFamily="34" charset="0"/>
              <a:buChar char="•"/>
            </a:pPr>
            <a:r>
              <a:rPr lang="en-GB">
                <a:solidFill>
                  <a:srgbClr val="555555"/>
                </a:solidFill>
                <a:latin typeface="+mn-lt"/>
              </a:rPr>
              <a:t>to </a:t>
            </a:r>
            <a:r>
              <a:rPr lang="en-GB" dirty="0">
                <a:solidFill>
                  <a:srgbClr val="555555"/>
                </a:solidFill>
                <a:latin typeface="+mn-lt"/>
              </a:rPr>
              <a:t>address accurately matching display colour with CMYK printing </a:t>
            </a:r>
            <a:r>
              <a:rPr lang="en-GB" dirty="0" err="1">
                <a:solidFill>
                  <a:srgbClr val="555555"/>
                </a:solidFill>
                <a:latin typeface="+mn-lt"/>
              </a:rPr>
              <a:t>color</a:t>
            </a:r>
            <a:endParaRPr lang="en-GB" dirty="0">
              <a:solidFill>
                <a:srgbClr val="555555"/>
              </a:solidFill>
              <a:latin typeface="+mn-lt"/>
            </a:endParaRPr>
          </a:p>
          <a:p>
            <a:pPr marL="285750" indent="-285750">
              <a:buFont typeface="Arial" panose="020B0604020202020204" pitchFamily="34" charset="0"/>
              <a:buChar char="•"/>
            </a:pPr>
            <a:r>
              <a:rPr lang="en-GB" dirty="0">
                <a:solidFill>
                  <a:srgbClr val="555555"/>
                </a:solidFill>
                <a:latin typeface="+mn-lt"/>
              </a:rPr>
              <a:t>now increasingly preferred in creative industries due wider gamut than </a:t>
            </a:r>
            <a:r>
              <a:rPr lang="en-GB" dirty="0" err="1">
                <a:solidFill>
                  <a:srgbClr val="555555"/>
                </a:solidFill>
                <a:latin typeface="+mn-lt"/>
              </a:rPr>
              <a:t>sRGB</a:t>
            </a:r>
            <a:r>
              <a:rPr lang="en-GB" dirty="0">
                <a:solidFill>
                  <a:srgbClr val="555555"/>
                </a:solidFill>
                <a:latin typeface="+mn-lt"/>
              </a:rPr>
              <a:t>.</a:t>
            </a:r>
          </a:p>
          <a:p>
            <a:endParaRPr lang="en-GB" b="1" dirty="0">
              <a:solidFill>
                <a:srgbClr val="555555"/>
              </a:solidFill>
              <a:latin typeface="+mn-lt"/>
            </a:endParaRPr>
          </a:p>
        </p:txBody>
      </p:sp>
      <p:pic>
        <p:nvPicPr>
          <p:cNvPr id="3" name="Picture 2" descr="http://coloriq.com/wp-content/uploads/2015/09/tim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7" y="829965"/>
            <a:ext cx="8036423" cy="14886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95288" y="368300"/>
            <a:ext cx="2765501" cy="461665"/>
          </a:xfrm>
          <a:prstGeom prst="rect">
            <a:avLst/>
          </a:prstGeom>
          <a:solidFill>
            <a:schemeClr val="bg1">
              <a:alpha val="61000"/>
            </a:schemeClr>
          </a:solidFill>
        </p:spPr>
        <p:txBody>
          <a:bodyPr wrap="none" rtlCol="0">
            <a:spAutoFit/>
          </a:bodyPr>
          <a:lstStyle/>
          <a:p>
            <a:r>
              <a:rPr lang="en-GB" sz="2400" b="1" dirty="0"/>
              <a:t>Colour Standards</a:t>
            </a:r>
          </a:p>
        </p:txBody>
      </p:sp>
    </p:spTree>
    <p:extLst>
      <p:ext uri="{BB962C8B-B14F-4D97-AF65-F5344CB8AC3E}">
        <p14:creationId xmlns:p14="http://schemas.microsoft.com/office/powerpoint/2010/main" val="21903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288" y="368300"/>
            <a:ext cx="2765501" cy="461665"/>
          </a:xfrm>
          <a:prstGeom prst="rect">
            <a:avLst/>
          </a:prstGeom>
          <a:solidFill>
            <a:schemeClr val="bg1">
              <a:alpha val="61000"/>
            </a:schemeClr>
          </a:solidFill>
        </p:spPr>
        <p:txBody>
          <a:bodyPr wrap="none" rtlCol="0">
            <a:spAutoFit/>
          </a:bodyPr>
          <a:lstStyle/>
          <a:p>
            <a:r>
              <a:rPr lang="en-GB" sz="2400" b="1" dirty="0"/>
              <a:t>Colour Standards</a:t>
            </a:r>
          </a:p>
        </p:txBody>
      </p:sp>
      <p:sp>
        <p:nvSpPr>
          <p:cNvPr id="6" name="Rectangle 5"/>
          <p:cNvSpPr/>
          <p:nvPr/>
        </p:nvSpPr>
        <p:spPr>
          <a:xfrm>
            <a:off x="442296" y="2877038"/>
            <a:ext cx="7942404" cy="2492990"/>
          </a:xfrm>
          <a:prstGeom prst="rect">
            <a:avLst/>
          </a:prstGeom>
        </p:spPr>
        <p:txBody>
          <a:bodyPr wrap="square">
            <a:spAutoFit/>
          </a:bodyPr>
          <a:lstStyle/>
          <a:p>
            <a:pPr>
              <a:lnSpc>
                <a:spcPts val="2400"/>
              </a:lnSpc>
            </a:pPr>
            <a:r>
              <a:rPr lang="en-GB" b="1">
                <a:solidFill>
                  <a:srgbClr val="555555"/>
                </a:solidFill>
                <a:latin typeface="+mn-lt"/>
              </a:rPr>
              <a:t>DCI-P3</a:t>
            </a:r>
            <a:r>
              <a:rPr lang="en-GB">
                <a:solidFill>
                  <a:srgbClr val="555555"/>
                </a:solidFill>
              </a:rPr>
              <a:t> </a:t>
            </a:r>
            <a:r>
              <a:rPr lang="en-GB" i="1">
                <a:solidFill>
                  <a:srgbClr val="555555"/>
                </a:solidFill>
              </a:rPr>
              <a:t>… CIE Coverage: </a:t>
            </a:r>
            <a:r>
              <a:rPr lang="en-GB" i="1">
                <a:solidFill>
                  <a:srgbClr val="555555"/>
                </a:solidFill>
                <a:latin typeface="+mn-lt"/>
              </a:rPr>
              <a:t>46%</a:t>
            </a:r>
            <a:endParaRPr lang="en-GB" i="1" dirty="0">
              <a:solidFill>
                <a:srgbClr val="555555"/>
              </a:solidFill>
              <a:latin typeface="+mn-lt"/>
            </a:endParaRPr>
          </a:p>
          <a:p>
            <a:pPr marL="342900" indent="-342900">
              <a:lnSpc>
                <a:spcPts val="2400"/>
              </a:lnSpc>
              <a:buFont typeface="Arial" panose="020B0604020202020204" pitchFamily="34" charset="0"/>
              <a:buChar char="•"/>
            </a:pPr>
            <a:r>
              <a:rPr lang="en-GB" dirty="0">
                <a:solidFill>
                  <a:srgbClr val="555555"/>
                </a:solidFill>
                <a:latin typeface="+mn-lt"/>
              </a:rPr>
              <a:t>2005, consortium of cinema, television and </a:t>
            </a:r>
            <a:r>
              <a:rPr lang="en-GB">
                <a:solidFill>
                  <a:srgbClr val="555555"/>
                </a:solidFill>
                <a:latin typeface="+mn-lt"/>
              </a:rPr>
              <a:t>entertainment companies</a:t>
            </a:r>
          </a:p>
          <a:p>
            <a:pPr marL="342900" indent="-342900">
              <a:lnSpc>
                <a:spcPts val="2400"/>
              </a:lnSpc>
              <a:buFont typeface="Arial" panose="020B0604020202020204" pitchFamily="34" charset="0"/>
              <a:buChar char="•"/>
            </a:pPr>
            <a:r>
              <a:rPr lang="en-GB">
                <a:solidFill>
                  <a:srgbClr val="555555"/>
                </a:solidFill>
                <a:latin typeface="+mn-lt"/>
              </a:rPr>
              <a:t>to </a:t>
            </a:r>
            <a:r>
              <a:rPr lang="en-GB" dirty="0">
                <a:solidFill>
                  <a:srgbClr val="555555"/>
                </a:solidFill>
                <a:latin typeface="+mn-lt"/>
              </a:rPr>
              <a:t>ensure consistent content quality from original capture to final projection. </a:t>
            </a:r>
          </a:p>
          <a:p>
            <a:pPr marL="342900" indent="-342900">
              <a:lnSpc>
                <a:spcPts val="2400"/>
              </a:lnSpc>
              <a:buFont typeface="Arial" panose="020B0604020202020204" pitchFamily="34" charset="0"/>
              <a:buChar char="•"/>
            </a:pPr>
            <a:r>
              <a:rPr lang="en-GB" dirty="0">
                <a:solidFill>
                  <a:srgbClr val="555555"/>
                </a:solidFill>
                <a:latin typeface="+mn-lt"/>
              </a:rPr>
              <a:t>preferred in creative industry due to emphasis on digital production and distribution</a:t>
            </a:r>
          </a:p>
          <a:p>
            <a:pPr marL="342900" indent="-342900">
              <a:lnSpc>
                <a:spcPts val="2400"/>
              </a:lnSpc>
              <a:buFont typeface="Arial" panose="020B0604020202020204" pitchFamily="34" charset="0"/>
              <a:buChar char="•"/>
            </a:pPr>
            <a:r>
              <a:rPr lang="en-GB" dirty="0">
                <a:solidFill>
                  <a:srgbClr val="555555"/>
                </a:solidFill>
                <a:latin typeface="+mn-lt"/>
              </a:rPr>
              <a:t>used in cinema-grade cameras, projectors and </a:t>
            </a:r>
            <a:r>
              <a:rPr lang="en-GB">
                <a:solidFill>
                  <a:srgbClr val="555555"/>
                </a:solidFill>
                <a:latin typeface="+mn-lt"/>
              </a:rPr>
              <a:t>projection equipment</a:t>
            </a:r>
          </a:p>
          <a:p>
            <a:endParaRPr lang="en-GB">
              <a:solidFill>
                <a:srgbClr val="555555"/>
              </a:solidFill>
              <a:latin typeface="+mn-lt"/>
            </a:endParaRPr>
          </a:p>
        </p:txBody>
      </p:sp>
      <p:pic>
        <p:nvPicPr>
          <p:cNvPr id="8" name="Picture 7" descr="http://coloriq.com/wp-content/uploads/2015/09/tim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7" y="829965"/>
            <a:ext cx="8036423" cy="1488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662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288" y="368300"/>
            <a:ext cx="2765501" cy="461665"/>
          </a:xfrm>
          <a:prstGeom prst="rect">
            <a:avLst/>
          </a:prstGeom>
          <a:solidFill>
            <a:schemeClr val="bg1">
              <a:alpha val="61000"/>
            </a:schemeClr>
          </a:solidFill>
        </p:spPr>
        <p:txBody>
          <a:bodyPr wrap="none" rtlCol="0">
            <a:spAutoFit/>
          </a:bodyPr>
          <a:lstStyle/>
          <a:p>
            <a:r>
              <a:rPr lang="en-GB" sz="2400" b="1" dirty="0"/>
              <a:t>Colour Standards</a:t>
            </a:r>
          </a:p>
        </p:txBody>
      </p:sp>
      <p:sp>
        <p:nvSpPr>
          <p:cNvPr id="3" name="Rectangle 2"/>
          <p:cNvSpPr/>
          <p:nvPr/>
        </p:nvSpPr>
        <p:spPr>
          <a:xfrm>
            <a:off x="442296" y="2780322"/>
            <a:ext cx="7942404" cy="3041858"/>
          </a:xfrm>
          <a:prstGeom prst="rect">
            <a:avLst/>
          </a:prstGeom>
        </p:spPr>
        <p:txBody>
          <a:bodyPr wrap="square">
            <a:spAutoFit/>
          </a:bodyPr>
          <a:lstStyle/>
          <a:p>
            <a:pPr>
              <a:lnSpc>
                <a:spcPts val="2300"/>
              </a:lnSpc>
            </a:pPr>
            <a:r>
              <a:rPr lang="en-GB" b="1">
                <a:solidFill>
                  <a:srgbClr val="555555"/>
                </a:solidFill>
                <a:latin typeface="+mn-lt"/>
              </a:rPr>
              <a:t>Rec. BT 2020</a:t>
            </a:r>
            <a:r>
              <a:rPr lang="en-GB">
                <a:solidFill>
                  <a:srgbClr val="555555"/>
                </a:solidFill>
              </a:rPr>
              <a:t> </a:t>
            </a:r>
            <a:r>
              <a:rPr lang="en-GB" i="1">
                <a:solidFill>
                  <a:srgbClr val="555555"/>
                </a:solidFill>
              </a:rPr>
              <a:t>… CIE Coverage: </a:t>
            </a:r>
            <a:r>
              <a:rPr lang="en-GB" i="1">
                <a:solidFill>
                  <a:srgbClr val="555555"/>
                </a:solidFill>
                <a:latin typeface="+mn-lt"/>
              </a:rPr>
              <a:t>67%</a:t>
            </a:r>
          </a:p>
          <a:p>
            <a:pPr marL="285750" indent="-285750">
              <a:lnSpc>
                <a:spcPts val="2300"/>
              </a:lnSpc>
              <a:buFont typeface="Arial" panose="020B0604020202020204" pitchFamily="34" charset="0"/>
              <a:buChar char="•"/>
            </a:pPr>
            <a:r>
              <a:rPr lang="en-GB">
                <a:solidFill>
                  <a:srgbClr val="555555"/>
                </a:solidFill>
                <a:latin typeface="+mn-lt"/>
              </a:rPr>
              <a:t>2012, ITU; optimized for UHD.  Covers many aspects, including wide colour gamut</a:t>
            </a:r>
          </a:p>
          <a:p>
            <a:pPr marL="285750" indent="-285750">
              <a:lnSpc>
                <a:spcPts val="2300"/>
              </a:lnSpc>
              <a:buFont typeface="Arial" panose="020B0604020202020204" pitchFamily="34" charset="0"/>
              <a:buChar char="•"/>
            </a:pPr>
            <a:r>
              <a:rPr lang="en-GB">
                <a:solidFill>
                  <a:srgbClr val="555555"/>
                </a:solidFill>
                <a:latin typeface="+mn-lt"/>
              </a:rPr>
              <a:t>68 </a:t>
            </a:r>
            <a:r>
              <a:rPr lang="en-GB" i="1">
                <a:solidFill>
                  <a:srgbClr val="555555"/>
                </a:solidFill>
                <a:latin typeface="+mn-lt"/>
              </a:rPr>
              <a:t>billion</a:t>
            </a:r>
            <a:r>
              <a:rPr lang="en-GB">
                <a:solidFill>
                  <a:srgbClr val="555555"/>
                </a:solidFill>
                <a:latin typeface="+mn-lt"/>
              </a:rPr>
              <a:t> colours.</a:t>
            </a:r>
          </a:p>
          <a:p>
            <a:pPr marL="285750" indent="-285750">
              <a:lnSpc>
                <a:spcPts val="2300"/>
              </a:lnSpc>
              <a:buFont typeface="Arial" panose="020B0604020202020204" pitchFamily="34" charset="0"/>
              <a:buChar char="•"/>
            </a:pPr>
            <a:r>
              <a:rPr lang="en-GB">
                <a:solidFill>
                  <a:srgbClr val="555555"/>
                </a:solidFill>
                <a:latin typeface="+mn-lt"/>
              </a:rPr>
              <a:t>NHK - 2020 Olympics in full Rec.2020 colour</a:t>
            </a:r>
          </a:p>
          <a:p>
            <a:pPr marL="285750" indent="-285750">
              <a:lnSpc>
                <a:spcPts val="2300"/>
              </a:lnSpc>
              <a:buFont typeface="Arial" panose="020B0604020202020204" pitchFamily="34" charset="0"/>
              <a:buChar char="•"/>
            </a:pPr>
            <a:r>
              <a:rPr lang="en-GB">
                <a:solidFill>
                  <a:srgbClr val="555555"/>
                </a:solidFill>
                <a:latin typeface="+mn-lt"/>
              </a:rPr>
              <a:t>Blu-Ray Disc Association - Rec.2020 for Ultra HD Blu-Ray </a:t>
            </a:r>
          </a:p>
          <a:p>
            <a:pPr marL="285750" indent="-285750">
              <a:lnSpc>
                <a:spcPts val="2300"/>
              </a:lnSpc>
              <a:buFont typeface="Arial" panose="020B0604020202020204" pitchFamily="34" charset="0"/>
              <a:buChar char="•"/>
            </a:pPr>
            <a:r>
              <a:rPr lang="en-GB">
                <a:solidFill>
                  <a:srgbClr val="555555"/>
                </a:solidFill>
                <a:latin typeface="+mn-lt"/>
              </a:rPr>
              <a:t>Consumer Electronics Association (CEA) - definition of HDR - reference to Rec. 2020 primaries in its HDR10 Media Profile</a:t>
            </a:r>
          </a:p>
          <a:p>
            <a:pPr marL="285750" indent="-285750">
              <a:lnSpc>
                <a:spcPts val="2300"/>
              </a:lnSpc>
              <a:buFont typeface="Arial" panose="020B0604020202020204" pitchFamily="34" charset="0"/>
              <a:buChar char="•"/>
            </a:pPr>
            <a:endParaRPr lang="en-GB">
              <a:solidFill>
                <a:srgbClr val="555555"/>
              </a:solidFill>
              <a:latin typeface="+mn-lt"/>
            </a:endParaRPr>
          </a:p>
          <a:p>
            <a:pPr marL="285750" indent="-285750">
              <a:lnSpc>
                <a:spcPts val="2300"/>
              </a:lnSpc>
              <a:buFont typeface="Arial" panose="020B0604020202020204" pitchFamily="34" charset="0"/>
              <a:buChar char="•"/>
            </a:pPr>
            <a:r>
              <a:rPr lang="en-GB" i="1">
                <a:solidFill>
                  <a:srgbClr val="555555"/>
                </a:solidFill>
                <a:latin typeface="+mn-lt"/>
              </a:rPr>
              <a:t>resolution, frame rates, etc – BT.2100 expands on 2020 .. see over …</a:t>
            </a:r>
          </a:p>
        </p:txBody>
      </p:sp>
      <p:pic>
        <p:nvPicPr>
          <p:cNvPr id="4" name="Picture 3" descr="http://coloriq.com/wp-content/uploads/2015/09/tim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7" y="829965"/>
            <a:ext cx="8036423" cy="1488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66169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http://coloriq.com/wp-content/uploads/2015/09/tim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7" y="821173"/>
            <a:ext cx="8036423" cy="148869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95287" y="2686653"/>
            <a:ext cx="8405813" cy="3724096"/>
          </a:xfrm>
          <a:prstGeom prst="rect">
            <a:avLst/>
          </a:prstGeom>
        </p:spPr>
        <p:txBody>
          <a:bodyPr wrap="square">
            <a:spAutoFit/>
          </a:bodyPr>
          <a:lstStyle/>
          <a:p>
            <a:pPr>
              <a:lnSpc>
                <a:spcPts val="2400"/>
              </a:lnSpc>
            </a:pPr>
            <a:r>
              <a:rPr lang="en-GB" b="1">
                <a:solidFill>
                  <a:srgbClr val="333333"/>
                </a:solidFill>
                <a:latin typeface="+mn-lt"/>
              </a:rPr>
              <a:t>BT.2100 – expands on BT.2020 </a:t>
            </a:r>
            <a:r>
              <a:rPr lang="en-GB">
                <a:solidFill>
                  <a:srgbClr val="333333"/>
                </a:solidFill>
                <a:latin typeface="+mn-lt"/>
              </a:rPr>
              <a:t>(resolutions and colour gamut)</a:t>
            </a:r>
          </a:p>
          <a:p>
            <a:pPr marL="285750" indent="-285750" defTabSz="809625">
              <a:lnSpc>
                <a:spcPts val="2400"/>
              </a:lnSpc>
              <a:buFont typeface="Arial" panose="020B0604020202020204" pitchFamily="34" charset="0"/>
              <a:buChar char="•"/>
            </a:pPr>
            <a:r>
              <a:rPr lang="en-GB">
                <a:solidFill>
                  <a:srgbClr val="333333"/>
                </a:solidFill>
                <a:latin typeface="+mn-lt"/>
              </a:rPr>
              <a:t>2016, ITU</a:t>
            </a:r>
          </a:p>
          <a:p>
            <a:pPr marL="285750" indent="-285750" defTabSz="809625">
              <a:lnSpc>
                <a:spcPts val="2400"/>
              </a:lnSpc>
              <a:buFont typeface="Arial" panose="020B0604020202020204" pitchFamily="34" charset="0"/>
              <a:buChar char="•"/>
            </a:pPr>
            <a:r>
              <a:rPr lang="en-GB">
                <a:solidFill>
                  <a:srgbClr val="333333"/>
                </a:solidFill>
                <a:latin typeface="+mn-lt"/>
              </a:rPr>
              <a:t>resolution: 	</a:t>
            </a:r>
            <a:r>
              <a:rPr lang="en-GB" sz="1400">
                <a:solidFill>
                  <a:srgbClr val="333333"/>
                </a:solidFill>
                <a:latin typeface="+mn-lt"/>
              </a:rPr>
              <a:t>1080p (x 1920); 3840 × 2160 (i.e. 4K); 7680 × 4320 (i.e. 8K)</a:t>
            </a:r>
          </a:p>
          <a:p>
            <a:pPr marL="742950" lvl="1" indent="-285750" defTabSz="809625">
              <a:lnSpc>
                <a:spcPts val="2400"/>
              </a:lnSpc>
              <a:buFont typeface="Arial" panose="020B0604020202020204" pitchFamily="34" charset="0"/>
              <a:buChar char="•"/>
            </a:pPr>
            <a:r>
              <a:rPr lang="en-GB" sz="1400">
                <a:solidFill>
                  <a:srgbClr val="333333"/>
                </a:solidFill>
                <a:latin typeface="+mn-lt"/>
              </a:rPr>
              <a:t>square pixels</a:t>
            </a:r>
          </a:p>
          <a:p>
            <a:pPr marL="285750" indent="-285750" defTabSz="809625">
              <a:lnSpc>
                <a:spcPts val="2400"/>
              </a:lnSpc>
              <a:buFont typeface="Arial" panose="020B0604020202020204" pitchFamily="34" charset="0"/>
              <a:buChar char="•"/>
            </a:pPr>
            <a:r>
              <a:rPr lang="en-GB">
                <a:solidFill>
                  <a:srgbClr val="333333"/>
                </a:solidFill>
                <a:latin typeface="+mn-lt"/>
              </a:rPr>
              <a:t>frame rates:	</a:t>
            </a:r>
            <a:r>
              <a:rPr lang="en-GB" sz="1400">
                <a:solidFill>
                  <a:srgbClr val="333333"/>
                </a:solidFill>
                <a:latin typeface="+mn-lt"/>
              </a:rPr>
              <a:t>120p, 119.88p, 100p, 60p, 59.94p, 50p, 30p, 29.97p, 25p, 24p, 23.976p</a:t>
            </a:r>
          </a:p>
          <a:p>
            <a:pPr marL="742950" lvl="1" indent="-285750" defTabSz="809625">
              <a:lnSpc>
                <a:spcPts val="2400"/>
              </a:lnSpc>
              <a:buFont typeface="Arial" panose="020B0604020202020204" pitchFamily="34" charset="0"/>
              <a:buChar char="•"/>
            </a:pPr>
            <a:r>
              <a:rPr lang="en-GB" sz="1400" i="1">
                <a:solidFill>
                  <a:srgbClr val="333333"/>
                </a:solidFill>
              </a:rPr>
              <a:t>only progressive scan frame rates</a:t>
            </a:r>
          </a:p>
          <a:p>
            <a:pPr marL="285750" indent="-285750" defTabSz="809625">
              <a:lnSpc>
                <a:spcPts val="2400"/>
              </a:lnSpc>
              <a:buFont typeface="Arial" panose="020B0604020202020204" pitchFamily="34" charset="0"/>
              <a:buChar char="•"/>
            </a:pPr>
            <a:r>
              <a:rPr lang="en-GB">
                <a:solidFill>
                  <a:srgbClr val="333333"/>
                </a:solidFill>
                <a:latin typeface="+mn-lt"/>
              </a:rPr>
              <a:t>bit depth: 	</a:t>
            </a:r>
            <a:r>
              <a:rPr lang="en-GB" sz="1400">
                <a:solidFill>
                  <a:srgbClr val="333333"/>
                </a:solidFill>
                <a:latin typeface="+mn-lt"/>
              </a:rPr>
              <a:t>10 or 12</a:t>
            </a:r>
          </a:p>
          <a:p>
            <a:pPr marL="285750" indent="-285750" defTabSz="809625">
              <a:lnSpc>
                <a:spcPts val="2400"/>
              </a:lnSpc>
              <a:buFont typeface="Arial" panose="020B0604020202020204" pitchFamily="34" charset="0"/>
              <a:buChar char="•"/>
            </a:pPr>
            <a:endParaRPr lang="en-GB" sz="1400">
              <a:solidFill>
                <a:srgbClr val="333333"/>
              </a:solidFill>
              <a:latin typeface="+mn-lt"/>
            </a:endParaRPr>
          </a:p>
          <a:p>
            <a:pPr marL="285750" indent="-285750" defTabSz="809625">
              <a:lnSpc>
                <a:spcPts val="2400"/>
              </a:lnSpc>
              <a:buFont typeface="Arial" panose="020B0604020202020204" pitchFamily="34" charset="0"/>
              <a:buChar char="•"/>
            </a:pPr>
            <a:r>
              <a:rPr lang="en-GB">
                <a:solidFill>
                  <a:srgbClr val="333333"/>
                </a:solidFill>
                <a:latin typeface="+mn-lt"/>
              </a:rPr>
              <a:t>narrow range colour or full range colour:</a:t>
            </a:r>
          </a:p>
          <a:p>
            <a:pPr marL="742950" lvl="1" indent="-285750" defTabSz="809625">
              <a:lnSpc>
                <a:spcPts val="2400"/>
              </a:lnSpc>
              <a:buFont typeface="Arial" panose="020B0604020202020204" pitchFamily="34" charset="0"/>
              <a:buChar char="•"/>
            </a:pPr>
            <a:r>
              <a:rPr lang="en-GB">
                <a:solidFill>
                  <a:srgbClr val="333333"/>
                </a:solidFill>
                <a:latin typeface="+mn-lt"/>
              </a:rPr>
              <a:t>10 bit (i.e. 0 – 1023), full range – all levels 0-1023</a:t>
            </a:r>
          </a:p>
          <a:p>
            <a:pPr marL="285750" indent="-285750" defTabSz="809625">
              <a:lnSpc>
                <a:spcPts val="2400"/>
              </a:lnSpc>
              <a:buFont typeface="Arial" panose="020B0604020202020204" pitchFamily="34" charset="0"/>
              <a:buChar char="•"/>
            </a:pPr>
            <a:r>
              <a:rPr lang="en-GB">
                <a:solidFill>
                  <a:srgbClr val="333333"/>
                </a:solidFill>
                <a:latin typeface="+mn-lt"/>
              </a:rPr>
              <a:t>same colour space as BT.2020</a:t>
            </a:r>
          </a:p>
          <a:p>
            <a:endParaRPr lang="en-GB" dirty="0">
              <a:solidFill>
                <a:srgbClr val="333333"/>
              </a:solidFill>
              <a:latin typeface="+mn-lt"/>
            </a:endParaRPr>
          </a:p>
        </p:txBody>
      </p:sp>
      <p:pic>
        <p:nvPicPr>
          <p:cNvPr id="3" name="Picture 2"/>
          <p:cNvPicPr>
            <a:picLocks noChangeAspect="1"/>
          </p:cNvPicPr>
          <p:nvPr/>
        </p:nvPicPr>
        <p:blipFill>
          <a:blip r:embed="rId3"/>
          <a:stretch>
            <a:fillRect/>
          </a:stretch>
        </p:blipFill>
        <p:spPr>
          <a:xfrm>
            <a:off x="7201125" y="914111"/>
            <a:ext cx="1228725" cy="1390650"/>
          </a:xfrm>
          <a:prstGeom prst="rect">
            <a:avLst/>
          </a:prstGeom>
        </p:spPr>
      </p:pic>
      <p:sp>
        <p:nvSpPr>
          <p:cNvPr id="5" name="TextBox 4"/>
          <p:cNvSpPr txBox="1"/>
          <p:nvPr/>
        </p:nvSpPr>
        <p:spPr>
          <a:xfrm>
            <a:off x="395288" y="368300"/>
            <a:ext cx="2765501" cy="461665"/>
          </a:xfrm>
          <a:prstGeom prst="rect">
            <a:avLst/>
          </a:prstGeom>
          <a:solidFill>
            <a:schemeClr val="bg1">
              <a:alpha val="61000"/>
            </a:schemeClr>
          </a:solidFill>
        </p:spPr>
        <p:txBody>
          <a:bodyPr wrap="none" rtlCol="0">
            <a:spAutoFit/>
          </a:bodyPr>
          <a:lstStyle/>
          <a:p>
            <a:r>
              <a:rPr lang="en-GB" sz="2400" b="1" dirty="0"/>
              <a:t>Colour Standards</a:t>
            </a:r>
          </a:p>
        </p:txBody>
      </p:sp>
      <p:sp>
        <p:nvSpPr>
          <p:cNvPr id="6" name="TextBox 5"/>
          <p:cNvSpPr txBox="1"/>
          <p:nvPr/>
        </p:nvSpPr>
        <p:spPr>
          <a:xfrm>
            <a:off x="7500938" y="916938"/>
            <a:ext cx="1030514" cy="276999"/>
          </a:xfrm>
          <a:prstGeom prst="rect">
            <a:avLst/>
          </a:prstGeom>
          <a:noFill/>
        </p:spPr>
        <p:txBody>
          <a:bodyPr wrap="square" rtlCol="0">
            <a:spAutoFit/>
          </a:bodyPr>
          <a:lstStyle/>
          <a:p>
            <a:r>
              <a:rPr lang="en-GB" sz="1200" b="1" dirty="0">
                <a:solidFill>
                  <a:srgbClr val="C00000"/>
                </a:solidFill>
                <a:latin typeface="Arial" panose="020B0604020202020204" pitchFamily="34" charset="0"/>
                <a:cs typeface="Arial" panose="020B0604020202020204" pitchFamily="34" charset="0"/>
              </a:rPr>
              <a:t>Rec.2100</a:t>
            </a:r>
          </a:p>
        </p:txBody>
      </p:sp>
      <p:sp>
        <p:nvSpPr>
          <p:cNvPr id="7" name="TextBox 6"/>
          <p:cNvSpPr txBox="1"/>
          <p:nvPr/>
        </p:nvSpPr>
        <p:spPr>
          <a:xfrm>
            <a:off x="7895152" y="2009545"/>
            <a:ext cx="534698" cy="276999"/>
          </a:xfrm>
          <a:prstGeom prst="rect">
            <a:avLst/>
          </a:prstGeom>
          <a:noFill/>
        </p:spPr>
        <p:txBody>
          <a:bodyPr wrap="square" rtlCol="0">
            <a:spAutoFit/>
          </a:bodyPr>
          <a:lstStyle/>
          <a:p>
            <a:r>
              <a:rPr lang="en-GB" sz="1200" b="1" dirty="0">
                <a:solidFill>
                  <a:srgbClr val="C00000"/>
                </a:solidFill>
                <a:latin typeface="Arial" panose="020B0604020202020204" pitchFamily="34" charset="0"/>
                <a:cs typeface="Arial" panose="020B0604020202020204" pitchFamily="34" charset="0"/>
              </a:rPr>
              <a:t>2116</a:t>
            </a:r>
          </a:p>
        </p:txBody>
      </p:sp>
      <p:cxnSp>
        <p:nvCxnSpPr>
          <p:cNvPr id="8" name="Straight Arrow Connector 7"/>
          <p:cNvCxnSpPr>
            <a:cxnSpLocks/>
          </p:cNvCxnSpPr>
          <p:nvPr/>
        </p:nvCxnSpPr>
        <p:spPr bwMode="auto">
          <a:xfrm>
            <a:off x="8162501" y="1193937"/>
            <a:ext cx="0" cy="415499"/>
          </a:xfrm>
          <a:prstGeom prst="straightConnector1">
            <a:avLst/>
          </a:prstGeom>
          <a:solidFill>
            <a:schemeClr val="accent1"/>
          </a:solidFill>
          <a:ln w="28575"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17764136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4730262" y="3235569"/>
            <a:ext cx="4220307" cy="3235569"/>
          </a:xfrm>
          <a:prstGeom prst="rect">
            <a:avLst/>
          </a:prstGeom>
          <a:solidFill>
            <a:srgbClr val="FEEDCE"/>
          </a:solidFill>
          <a:ln w="9525" cap="flat" cmpd="sng" algn="ctr">
            <a:solidFill>
              <a:schemeClr val="accent3">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pic>
        <p:nvPicPr>
          <p:cNvPr id="20" name="Picture 19" descr="http://coloriq.com/wp-content/uploads/2015/09/tim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7" y="821173"/>
            <a:ext cx="8036423" cy="148869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395287" y="2686653"/>
            <a:ext cx="4220675" cy="3631763"/>
          </a:xfrm>
          <a:prstGeom prst="rect">
            <a:avLst/>
          </a:prstGeom>
        </p:spPr>
        <p:txBody>
          <a:bodyPr wrap="square">
            <a:spAutoFit/>
          </a:bodyPr>
          <a:lstStyle/>
          <a:p>
            <a:pPr>
              <a:lnSpc>
                <a:spcPts val="2300"/>
              </a:lnSpc>
            </a:pPr>
            <a:r>
              <a:rPr lang="en-GB" b="1" dirty="0">
                <a:solidFill>
                  <a:srgbClr val="333333"/>
                </a:solidFill>
                <a:latin typeface="+mn-lt"/>
              </a:rPr>
              <a:t>Two transfer function formats </a:t>
            </a:r>
          </a:p>
          <a:p>
            <a:pPr marL="176213" indent="-176213">
              <a:lnSpc>
                <a:spcPts val="2300"/>
              </a:lnSpc>
              <a:buFont typeface="Arial" panose="020B0604020202020204" pitchFamily="34" charset="0"/>
              <a:buChar char="•"/>
            </a:pPr>
            <a:r>
              <a:rPr lang="en-GB" b="1" dirty="0">
                <a:latin typeface="+mn-lt"/>
              </a:rPr>
              <a:t>Perceptual Quantisation (PQ) </a:t>
            </a:r>
          </a:p>
          <a:p>
            <a:pPr marL="633413" lvl="2" indent="-176213">
              <a:lnSpc>
                <a:spcPts val="2300"/>
              </a:lnSpc>
              <a:buFont typeface="Arial" panose="020B0604020202020204" pitchFamily="34" charset="0"/>
              <a:buChar char="•"/>
            </a:pPr>
            <a:r>
              <a:rPr lang="en-GB" dirty="0">
                <a:latin typeface="+mn-lt"/>
              </a:rPr>
              <a:t>more prevalent in the consumer equipment </a:t>
            </a:r>
          </a:p>
          <a:p>
            <a:pPr marL="633413" lvl="2" indent="-176213">
              <a:lnSpc>
                <a:spcPts val="2300"/>
              </a:lnSpc>
              <a:buFont typeface="Arial" panose="020B0604020202020204" pitchFamily="34" charset="0"/>
              <a:buChar char="•"/>
            </a:pPr>
            <a:r>
              <a:rPr lang="en-GB" dirty="0">
                <a:latin typeface="+mn-lt"/>
              </a:rPr>
              <a:t>HDR10 and </a:t>
            </a:r>
            <a:r>
              <a:rPr lang="en-GB">
                <a:latin typeface="+mn-lt"/>
              </a:rPr>
              <a:t>Dolby Vision</a:t>
            </a:r>
          </a:p>
          <a:p>
            <a:pPr marL="176213" lvl="1" indent="-176213">
              <a:lnSpc>
                <a:spcPts val="2300"/>
              </a:lnSpc>
              <a:buFont typeface="Arial" panose="020B0604020202020204" pitchFamily="34" charset="0"/>
              <a:buChar char="•"/>
            </a:pPr>
            <a:endParaRPr lang="en-GB" dirty="0">
              <a:latin typeface="+mn-lt"/>
            </a:endParaRPr>
          </a:p>
          <a:p>
            <a:pPr marL="176213" indent="-176213">
              <a:lnSpc>
                <a:spcPts val="2300"/>
              </a:lnSpc>
              <a:buFont typeface="Arial" panose="020B0604020202020204" pitchFamily="34" charset="0"/>
              <a:buChar char="•"/>
            </a:pPr>
            <a:r>
              <a:rPr lang="en-GB" b="1" dirty="0">
                <a:latin typeface="+mn-lt"/>
              </a:rPr>
              <a:t>Hybrid Log-Gamma (</a:t>
            </a:r>
            <a:r>
              <a:rPr lang="en-GB" b="1">
                <a:latin typeface="+mn-lt"/>
              </a:rPr>
              <a:t>HLG)</a:t>
            </a:r>
          </a:p>
          <a:p>
            <a:pPr marL="633413" lvl="2" indent="-176213">
              <a:lnSpc>
                <a:spcPts val="2300"/>
              </a:lnSpc>
              <a:buFont typeface="Arial" panose="020B0604020202020204" pitchFamily="34" charset="0"/>
              <a:buChar char="•"/>
            </a:pPr>
            <a:r>
              <a:rPr lang="en-GB">
                <a:latin typeface="+mn-lt"/>
              </a:rPr>
              <a:t>BBC, NHK</a:t>
            </a:r>
            <a:endParaRPr lang="en-GB" dirty="0">
              <a:latin typeface="+mn-lt"/>
            </a:endParaRPr>
          </a:p>
          <a:p>
            <a:pPr marL="633413" lvl="2" indent="-176213">
              <a:lnSpc>
                <a:spcPts val="2300"/>
              </a:lnSpc>
              <a:buFont typeface="Arial" panose="020B0604020202020204" pitchFamily="34" charset="0"/>
              <a:buChar char="•"/>
            </a:pPr>
            <a:r>
              <a:rPr lang="en-GB" dirty="0">
                <a:latin typeface="+mn-lt"/>
              </a:rPr>
              <a:t>compatibility with legacy SDR displays </a:t>
            </a:r>
          </a:p>
          <a:p>
            <a:pPr marL="633413" lvl="2" indent="-176213">
              <a:lnSpc>
                <a:spcPts val="2300"/>
              </a:lnSpc>
              <a:buFont typeface="Arial" panose="020B0604020202020204" pitchFamily="34" charset="0"/>
              <a:buChar char="•"/>
            </a:pPr>
            <a:r>
              <a:rPr lang="en-GB" dirty="0">
                <a:latin typeface="+mn-lt"/>
              </a:rPr>
              <a:t>closely matches established television </a:t>
            </a:r>
            <a:r>
              <a:rPr lang="en-GB">
                <a:latin typeface="+mn-lt"/>
              </a:rPr>
              <a:t>gamma systems</a:t>
            </a:r>
            <a:r>
              <a:rPr lang="en-GB" dirty="0">
                <a:solidFill>
                  <a:srgbClr val="333333"/>
                </a:solidFill>
                <a:latin typeface="+mn-lt"/>
              </a:rPr>
              <a:t> </a:t>
            </a:r>
          </a:p>
        </p:txBody>
      </p:sp>
      <p:pic>
        <p:nvPicPr>
          <p:cNvPr id="6" name="Picture 5"/>
          <p:cNvPicPr>
            <a:picLocks noChangeAspect="1"/>
          </p:cNvPicPr>
          <p:nvPr/>
        </p:nvPicPr>
        <p:blipFill>
          <a:blip r:embed="rId3"/>
          <a:stretch>
            <a:fillRect/>
          </a:stretch>
        </p:blipFill>
        <p:spPr>
          <a:xfrm>
            <a:off x="7201125" y="914111"/>
            <a:ext cx="1228725" cy="1390650"/>
          </a:xfrm>
          <a:prstGeom prst="rect">
            <a:avLst/>
          </a:prstGeom>
        </p:spPr>
      </p:pic>
      <p:sp>
        <p:nvSpPr>
          <p:cNvPr id="11" name="TextBox 10"/>
          <p:cNvSpPr txBox="1"/>
          <p:nvPr/>
        </p:nvSpPr>
        <p:spPr>
          <a:xfrm>
            <a:off x="395288" y="368300"/>
            <a:ext cx="2765501" cy="461665"/>
          </a:xfrm>
          <a:prstGeom prst="rect">
            <a:avLst/>
          </a:prstGeom>
          <a:solidFill>
            <a:schemeClr val="bg1">
              <a:alpha val="61000"/>
            </a:schemeClr>
          </a:solidFill>
        </p:spPr>
        <p:txBody>
          <a:bodyPr wrap="none" rtlCol="0">
            <a:spAutoFit/>
          </a:bodyPr>
          <a:lstStyle/>
          <a:p>
            <a:r>
              <a:rPr lang="en-GB" sz="2400" b="1" dirty="0"/>
              <a:t>Colour Standards</a:t>
            </a:r>
          </a:p>
        </p:txBody>
      </p:sp>
      <p:sp>
        <p:nvSpPr>
          <p:cNvPr id="9" name="TextBox 8"/>
          <p:cNvSpPr txBox="1"/>
          <p:nvPr/>
        </p:nvSpPr>
        <p:spPr>
          <a:xfrm>
            <a:off x="7500938" y="916938"/>
            <a:ext cx="1030514" cy="276999"/>
          </a:xfrm>
          <a:prstGeom prst="rect">
            <a:avLst/>
          </a:prstGeom>
          <a:noFill/>
        </p:spPr>
        <p:txBody>
          <a:bodyPr wrap="square" rtlCol="0">
            <a:spAutoFit/>
          </a:bodyPr>
          <a:lstStyle/>
          <a:p>
            <a:r>
              <a:rPr lang="en-GB" sz="1200" b="1" dirty="0">
                <a:solidFill>
                  <a:srgbClr val="C00000"/>
                </a:solidFill>
                <a:latin typeface="Arial" panose="020B0604020202020204" pitchFamily="34" charset="0"/>
                <a:cs typeface="Arial" panose="020B0604020202020204" pitchFamily="34" charset="0"/>
              </a:rPr>
              <a:t>Rec.2100</a:t>
            </a:r>
          </a:p>
        </p:txBody>
      </p:sp>
      <p:sp>
        <p:nvSpPr>
          <p:cNvPr id="13" name="TextBox 12"/>
          <p:cNvSpPr txBox="1"/>
          <p:nvPr/>
        </p:nvSpPr>
        <p:spPr>
          <a:xfrm>
            <a:off x="7895152" y="2009545"/>
            <a:ext cx="534698" cy="276999"/>
          </a:xfrm>
          <a:prstGeom prst="rect">
            <a:avLst/>
          </a:prstGeom>
          <a:noFill/>
        </p:spPr>
        <p:txBody>
          <a:bodyPr wrap="square" rtlCol="0">
            <a:spAutoFit/>
          </a:bodyPr>
          <a:lstStyle/>
          <a:p>
            <a:r>
              <a:rPr lang="en-GB" sz="1200" b="1" dirty="0">
                <a:solidFill>
                  <a:srgbClr val="C00000"/>
                </a:solidFill>
                <a:latin typeface="Arial" panose="020B0604020202020204" pitchFamily="34" charset="0"/>
                <a:cs typeface="Arial" panose="020B0604020202020204" pitchFamily="34" charset="0"/>
              </a:rPr>
              <a:t>2116</a:t>
            </a:r>
          </a:p>
        </p:txBody>
      </p:sp>
      <p:cxnSp>
        <p:nvCxnSpPr>
          <p:cNvPr id="12" name="Straight Arrow Connector 11"/>
          <p:cNvCxnSpPr>
            <a:cxnSpLocks/>
          </p:cNvCxnSpPr>
          <p:nvPr/>
        </p:nvCxnSpPr>
        <p:spPr bwMode="auto">
          <a:xfrm>
            <a:off x="8162501" y="1193937"/>
            <a:ext cx="0" cy="415499"/>
          </a:xfrm>
          <a:prstGeom prst="straightConnector1">
            <a:avLst/>
          </a:prstGeom>
          <a:solidFill>
            <a:schemeClr val="accent1"/>
          </a:solidFill>
          <a:ln w="28575" cap="flat" cmpd="sng" algn="ctr">
            <a:solidFill>
              <a:srgbClr val="C00000"/>
            </a:solidFill>
            <a:prstDash val="solid"/>
            <a:round/>
            <a:headEnd type="none" w="med" len="med"/>
            <a:tailEnd type="triangle"/>
          </a:ln>
          <a:effectLst/>
        </p:spPr>
      </p:cxnSp>
      <p:pic>
        <p:nvPicPr>
          <p:cNvPr id="1026" name="Picture 2" descr="https://upload.wikimedia.org/wikipedia/commons/thumb/e/e1/Hybrid_Log-Gamma.svg/1024px-Hybrid_Log-Gamma.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65431" y="3282559"/>
            <a:ext cx="4165581" cy="3124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5074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dotcolordotcom.files.wordpress.com/2012/08/macadam-elipses-2x.png?w=584&amp;h=624"/>
          <p:cNvPicPr>
            <a:picLocks noChangeAspect="1" noChangeArrowheads="1"/>
          </p:cNvPicPr>
          <p:nvPr/>
        </p:nvPicPr>
        <p:blipFill>
          <a:blip r:embed="rId2" cstate="print"/>
          <a:srcRect r="6616" b="8057"/>
          <a:stretch>
            <a:fillRect/>
          </a:stretch>
        </p:blipFill>
        <p:spPr bwMode="auto">
          <a:xfrm>
            <a:off x="3422730" y="579120"/>
            <a:ext cx="5721269" cy="6018838"/>
          </a:xfrm>
          <a:prstGeom prst="rect">
            <a:avLst/>
          </a:prstGeom>
          <a:noFill/>
        </p:spPr>
      </p:pic>
      <p:sp>
        <p:nvSpPr>
          <p:cNvPr id="3" name="Rectangle 2"/>
          <p:cNvSpPr/>
          <p:nvPr/>
        </p:nvSpPr>
        <p:spPr>
          <a:xfrm>
            <a:off x="393700" y="1591283"/>
            <a:ext cx="2898140" cy="4031873"/>
          </a:xfrm>
          <a:prstGeom prst="rect">
            <a:avLst/>
          </a:prstGeom>
        </p:spPr>
        <p:txBody>
          <a:bodyPr wrap="square">
            <a:spAutoFit/>
          </a:bodyPr>
          <a:lstStyle/>
          <a:p>
            <a:r>
              <a:rPr lang="en-GB" sz="1600" dirty="0" err="1"/>
              <a:t>MacAdam</a:t>
            </a:r>
            <a:r>
              <a:rPr lang="en-GB" sz="1600" dirty="0"/>
              <a:t> (in mid 1970’s)</a:t>
            </a:r>
          </a:p>
          <a:p>
            <a:r>
              <a:rPr lang="en-GB" sz="1600" dirty="0"/>
              <a:t>“ … CIE 1931 not linear, e.g. </a:t>
            </a:r>
          </a:p>
          <a:p>
            <a:r>
              <a:rPr lang="en-GB" sz="1600" dirty="0"/>
              <a:t>green – wide perceived range of hues of green </a:t>
            </a:r>
          </a:p>
          <a:p>
            <a:r>
              <a:rPr lang="en-GB" sz="1600" dirty="0"/>
              <a:t>blue - much more agreement </a:t>
            </a:r>
          </a:p>
          <a:p>
            <a:endParaRPr lang="en-GB" sz="1600" dirty="0"/>
          </a:p>
          <a:p>
            <a:r>
              <a:rPr lang="en-GB" sz="1600" dirty="0" err="1"/>
              <a:t>MacAdam</a:t>
            </a:r>
            <a:r>
              <a:rPr lang="en-GB" sz="1600" dirty="0"/>
              <a:t> Ellipses</a:t>
            </a:r>
          </a:p>
          <a:p>
            <a:r>
              <a:rPr lang="en-GB" sz="1600" dirty="0"/>
              <a:t>ellipse = the range of colours respondents reported </a:t>
            </a:r>
          </a:p>
          <a:p>
            <a:endParaRPr lang="en-GB" sz="1600" dirty="0"/>
          </a:p>
          <a:p>
            <a:r>
              <a:rPr lang="en-GB" sz="1600" dirty="0"/>
              <a:t>... so CIE1976 </a:t>
            </a:r>
          </a:p>
          <a:p>
            <a:r>
              <a:rPr lang="en-GB" sz="1600" dirty="0"/>
              <a:t>more linear colour space</a:t>
            </a:r>
          </a:p>
          <a:p>
            <a:endParaRPr lang="en-GB" sz="1600" dirty="0"/>
          </a:p>
        </p:txBody>
      </p:sp>
      <p:sp>
        <p:nvSpPr>
          <p:cNvPr id="4" name="Rectangle 3"/>
          <p:cNvSpPr/>
          <p:nvPr/>
        </p:nvSpPr>
        <p:spPr>
          <a:xfrm>
            <a:off x="393700" y="323850"/>
            <a:ext cx="4686300" cy="461665"/>
          </a:xfrm>
          <a:prstGeom prst="rect">
            <a:avLst/>
          </a:prstGeom>
        </p:spPr>
        <p:txBody>
          <a:bodyPr wrap="square">
            <a:spAutoFit/>
          </a:bodyPr>
          <a:lstStyle/>
          <a:p>
            <a:r>
              <a:rPr lang="en-GB" sz="2400" b="1" dirty="0"/>
              <a:t>CIE1931 </a:t>
            </a:r>
            <a:r>
              <a:rPr lang="en-GB" sz="2400" b="1" dirty="0" err="1"/>
              <a:t>vs</a:t>
            </a:r>
            <a:r>
              <a:rPr lang="en-GB" sz="2400" b="1" dirty="0"/>
              <a:t> CIE1976</a:t>
            </a:r>
          </a:p>
        </p:txBody>
      </p:sp>
    </p:spTree>
    <p:extLst>
      <p:ext uri="{BB962C8B-B14F-4D97-AF65-F5344CB8AC3E}">
        <p14:creationId xmlns:p14="http://schemas.microsoft.com/office/powerpoint/2010/main" val="1482020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9144000" cy="6858000"/>
          </a:xfrm>
          <a:prstGeom prst="rect">
            <a:avLst/>
          </a:prstGeom>
          <a:solidFill>
            <a:schemeClr val="tx1"/>
          </a:solidFill>
        </p:spPr>
        <p:txBody>
          <a:bodyPr wrap="square" rtlCol="0" anchor="ctr">
            <a:spAutoFit/>
          </a:bodyPr>
          <a:lstStyle/>
          <a:p>
            <a:pPr algn="ctr"/>
            <a:endParaRPr lang="en-GB" sz="1600" dirty="0">
              <a:latin typeface="Lucida Sans Unicode" pitchFamily="34" charset="0"/>
              <a:cs typeface="Lucida Sans Unicode" pitchFamily="34" charset="0"/>
            </a:endParaRPr>
          </a:p>
        </p:txBody>
      </p:sp>
      <p:pic>
        <p:nvPicPr>
          <p:cNvPr id="68611" name="Picture 3"/>
          <p:cNvPicPr>
            <a:picLocks noChangeAspect="1" noChangeArrowheads="1"/>
          </p:cNvPicPr>
          <p:nvPr/>
        </p:nvPicPr>
        <p:blipFill>
          <a:blip r:embed="rId2" cstate="print"/>
          <a:srcRect/>
          <a:stretch>
            <a:fillRect/>
          </a:stretch>
        </p:blipFill>
        <p:spPr bwMode="auto">
          <a:xfrm>
            <a:off x="4557132" y="1199263"/>
            <a:ext cx="4422481" cy="4657007"/>
          </a:xfrm>
          <a:prstGeom prst="rect">
            <a:avLst/>
          </a:prstGeom>
          <a:noFill/>
          <a:ln w="9525">
            <a:noFill/>
            <a:miter lim="800000"/>
            <a:headEnd/>
            <a:tailEnd/>
          </a:ln>
        </p:spPr>
      </p:pic>
      <p:pic>
        <p:nvPicPr>
          <p:cNvPr id="68612" name="Picture 4"/>
          <p:cNvPicPr>
            <a:picLocks noChangeAspect="1" noChangeArrowheads="1"/>
          </p:cNvPicPr>
          <p:nvPr/>
        </p:nvPicPr>
        <p:blipFill>
          <a:blip r:embed="rId3" cstate="print"/>
          <a:srcRect/>
          <a:stretch>
            <a:fillRect/>
          </a:stretch>
        </p:blipFill>
        <p:spPr bwMode="auto">
          <a:xfrm>
            <a:off x="198491" y="1197152"/>
            <a:ext cx="4390966" cy="4659117"/>
          </a:xfrm>
          <a:prstGeom prst="rect">
            <a:avLst/>
          </a:prstGeom>
          <a:noFill/>
          <a:ln w="9525">
            <a:noFill/>
            <a:miter lim="800000"/>
            <a:headEnd/>
            <a:tailEnd/>
          </a:ln>
        </p:spPr>
      </p:pic>
      <p:sp>
        <p:nvSpPr>
          <p:cNvPr id="9" name="Rectangle 8"/>
          <p:cNvSpPr/>
          <p:nvPr/>
        </p:nvSpPr>
        <p:spPr>
          <a:xfrm>
            <a:off x="393700" y="323850"/>
            <a:ext cx="4686300" cy="461665"/>
          </a:xfrm>
          <a:prstGeom prst="rect">
            <a:avLst/>
          </a:prstGeom>
        </p:spPr>
        <p:txBody>
          <a:bodyPr wrap="square">
            <a:spAutoFit/>
          </a:bodyPr>
          <a:lstStyle/>
          <a:p>
            <a:r>
              <a:rPr lang="en-GB" sz="2400" b="1" dirty="0">
                <a:solidFill>
                  <a:srgbClr val="FFFF00"/>
                </a:solidFill>
              </a:rPr>
              <a:t>CIE1931 </a:t>
            </a:r>
            <a:r>
              <a:rPr lang="en-GB" sz="2400" b="1" dirty="0" err="1">
                <a:solidFill>
                  <a:srgbClr val="FFFF00"/>
                </a:solidFill>
              </a:rPr>
              <a:t>vs</a:t>
            </a:r>
            <a:r>
              <a:rPr lang="en-GB" sz="2400" b="1" dirty="0">
                <a:solidFill>
                  <a:srgbClr val="FFFF00"/>
                </a:solidFill>
              </a:rPr>
              <a:t> CIE1976</a:t>
            </a:r>
          </a:p>
        </p:txBody>
      </p:sp>
    </p:spTree>
    <p:extLst>
      <p:ext uri="{BB962C8B-B14F-4D97-AF65-F5344CB8AC3E}">
        <p14:creationId xmlns:p14="http://schemas.microsoft.com/office/powerpoint/2010/main" val="40991224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6" name="Picture 4" descr="http://upload.wikimedia.org/wikipedia/commons/thumb/b/b6/CIExy1931_Rec_2020.svg/476px-CIExy1931_Rec_2020.svg.png"/>
          <p:cNvPicPr>
            <a:picLocks noChangeAspect="1" noChangeArrowheads="1"/>
          </p:cNvPicPr>
          <p:nvPr/>
        </p:nvPicPr>
        <p:blipFill>
          <a:blip r:embed="rId2" cstate="print"/>
          <a:srcRect/>
          <a:stretch>
            <a:fillRect/>
          </a:stretch>
        </p:blipFill>
        <p:spPr bwMode="auto">
          <a:xfrm>
            <a:off x="6027576" y="344927"/>
            <a:ext cx="2656867" cy="3014093"/>
          </a:xfrm>
          <a:prstGeom prst="rect">
            <a:avLst/>
          </a:prstGeom>
          <a:noFill/>
        </p:spPr>
      </p:pic>
      <p:sp>
        <p:nvSpPr>
          <p:cNvPr id="4" name="TextBox 3"/>
          <p:cNvSpPr txBox="1"/>
          <p:nvPr/>
        </p:nvSpPr>
        <p:spPr>
          <a:xfrm>
            <a:off x="393700" y="323850"/>
            <a:ext cx="2822836" cy="461665"/>
          </a:xfrm>
          <a:prstGeom prst="rect">
            <a:avLst/>
          </a:prstGeom>
          <a:noFill/>
        </p:spPr>
        <p:txBody>
          <a:bodyPr wrap="square" rtlCol="0" anchor="ctr">
            <a:spAutoFit/>
          </a:bodyPr>
          <a:lstStyle/>
          <a:p>
            <a:r>
              <a:rPr lang="en-GB" sz="2400" b="1" dirty="0">
                <a:latin typeface="Lucida Sans Unicode" pitchFamily="34" charset="0"/>
                <a:cs typeface="Lucida Sans Unicode" pitchFamily="34" charset="0"/>
              </a:rPr>
              <a:t>ITU </a:t>
            </a:r>
            <a:r>
              <a:rPr lang="en-GB" sz="2400" b="1" dirty="0" err="1">
                <a:latin typeface="Lucida Sans Unicode" pitchFamily="34" charset="0"/>
                <a:cs typeface="Lucida Sans Unicode" pitchFamily="34" charset="0"/>
              </a:rPr>
              <a:t>Rec</a:t>
            </a:r>
            <a:r>
              <a:rPr lang="en-GB" sz="2400" b="1" dirty="0">
                <a:latin typeface="Lucida Sans Unicode" pitchFamily="34" charset="0"/>
                <a:cs typeface="Lucida Sans Unicode" pitchFamily="34" charset="0"/>
              </a:rPr>
              <a:t> 2020</a:t>
            </a:r>
          </a:p>
        </p:txBody>
      </p:sp>
      <p:sp>
        <p:nvSpPr>
          <p:cNvPr id="5" name="TextBox 4"/>
          <p:cNvSpPr txBox="1"/>
          <p:nvPr/>
        </p:nvSpPr>
        <p:spPr>
          <a:xfrm>
            <a:off x="393700" y="1116377"/>
            <a:ext cx="2832827" cy="3041858"/>
          </a:xfrm>
          <a:prstGeom prst="rect">
            <a:avLst/>
          </a:prstGeom>
          <a:noFill/>
        </p:spPr>
        <p:txBody>
          <a:bodyPr wrap="none" rtlCol="0">
            <a:spAutoFit/>
          </a:bodyPr>
          <a:lstStyle/>
          <a:p>
            <a:pPr>
              <a:lnSpc>
                <a:spcPts val="2300"/>
              </a:lnSpc>
            </a:pPr>
            <a:r>
              <a:rPr lang="en-GB" sz="1600" dirty="0">
                <a:latin typeface="Lucida Sans Unicode" pitchFamily="34" charset="0"/>
                <a:cs typeface="Lucida Sans Unicode" pitchFamily="34" charset="0"/>
              </a:rPr>
              <a:t>ITU-R </a:t>
            </a:r>
            <a:r>
              <a:rPr lang="en-GB" sz="1600" dirty="0" err="1">
                <a:latin typeface="Lucida Sans Unicode" pitchFamily="34" charset="0"/>
                <a:cs typeface="Lucida Sans Unicode" pitchFamily="34" charset="0"/>
              </a:rPr>
              <a:t>Rec</a:t>
            </a:r>
            <a:r>
              <a:rPr lang="en-GB" sz="1600" dirty="0">
                <a:latin typeface="Lucida Sans Unicode" pitchFamily="34" charset="0"/>
                <a:cs typeface="Lucida Sans Unicode" pitchFamily="34" charset="0"/>
              </a:rPr>
              <a:t> BT.2020</a:t>
            </a:r>
          </a:p>
          <a:p>
            <a:pPr>
              <a:lnSpc>
                <a:spcPts val="2300"/>
              </a:lnSpc>
            </a:pPr>
            <a:r>
              <a:rPr lang="en-GB" sz="1600" dirty="0">
                <a:latin typeface="Lucida Sans Unicode" pitchFamily="34" charset="0"/>
                <a:cs typeface="Lucida Sans Unicode" pitchFamily="34" charset="0"/>
              </a:rPr>
              <a:t>August 2012</a:t>
            </a:r>
          </a:p>
          <a:p>
            <a:pPr>
              <a:lnSpc>
                <a:spcPts val="2300"/>
              </a:lnSpc>
            </a:pPr>
            <a:r>
              <a:rPr lang="en-GB" sz="1600" dirty="0">
                <a:latin typeface="Lucida Sans Unicode" pitchFamily="34" charset="0"/>
                <a:cs typeface="Lucida Sans Unicode" pitchFamily="34" charset="0"/>
              </a:rPr>
              <a:t>defines aspects of UHDTV:</a:t>
            </a:r>
          </a:p>
          <a:p>
            <a:pPr marL="182563" indent="-182563">
              <a:lnSpc>
                <a:spcPts val="2300"/>
              </a:lnSpc>
              <a:buFont typeface="Arial" pitchFamily="34" charset="0"/>
              <a:buChar char="•"/>
            </a:pPr>
            <a:r>
              <a:rPr lang="en-GB" sz="1600" dirty="0">
                <a:latin typeface="Lucida Sans Unicode" pitchFamily="34" charset="0"/>
                <a:cs typeface="Lucida Sans Unicode" pitchFamily="34" charset="0"/>
              </a:rPr>
              <a:t>resolution</a:t>
            </a:r>
          </a:p>
          <a:p>
            <a:pPr marL="182563" indent="-182563">
              <a:lnSpc>
                <a:spcPts val="2300"/>
              </a:lnSpc>
              <a:buFont typeface="Arial" pitchFamily="34" charset="0"/>
              <a:buChar char="•"/>
            </a:pPr>
            <a:r>
              <a:rPr lang="en-GB" sz="1600" dirty="0">
                <a:latin typeface="Lucida Sans Unicode" pitchFamily="34" charset="0"/>
                <a:cs typeface="Lucida Sans Unicode" pitchFamily="34" charset="0"/>
              </a:rPr>
              <a:t>frame rate </a:t>
            </a:r>
          </a:p>
          <a:p>
            <a:pPr marL="182563" indent="-182563">
              <a:lnSpc>
                <a:spcPts val="2300"/>
              </a:lnSpc>
              <a:buFont typeface="Arial" pitchFamily="34" charset="0"/>
              <a:buChar char="•"/>
            </a:pPr>
            <a:r>
              <a:rPr lang="en-GB" sz="1600" dirty="0" err="1">
                <a:latin typeface="Lucida Sans Unicode" pitchFamily="34" charset="0"/>
                <a:cs typeface="Lucida Sans Unicode" pitchFamily="34" charset="0"/>
              </a:rPr>
              <a:t>chroma</a:t>
            </a:r>
            <a:r>
              <a:rPr lang="en-GB" sz="1600" dirty="0">
                <a:latin typeface="Lucida Sans Unicode" pitchFamily="34" charset="0"/>
                <a:cs typeface="Lucida Sans Unicode" pitchFamily="34" charset="0"/>
              </a:rPr>
              <a:t> </a:t>
            </a:r>
            <a:r>
              <a:rPr lang="en-GB" sz="1600" dirty="0" err="1">
                <a:latin typeface="Lucida Sans Unicode" pitchFamily="34" charset="0"/>
                <a:cs typeface="Lucida Sans Unicode" pitchFamily="34" charset="0"/>
              </a:rPr>
              <a:t>subsampling</a:t>
            </a:r>
            <a:endParaRPr lang="en-GB" sz="1600" dirty="0">
              <a:latin typeface="Lucida Sans Unicode" pitchFamily="34" charset="0"/>
              <a:cs typeface="Lucida Sans Unicode" pitchFamily="34" charset="0"/>
            </a:endParaRPr>
          </a:p>
          <a:p>
            <a:pPr marL="182563" indent="-182563">
              <a:lnSpc>
                <a:spcPts val="2300"/>
              </a:lnSpc>
              <a:buFont typeface="Arial" pitchFamily="34" charset="0"/>
              <a:buChar char="•"/>
            </a:pPr>
            <a:r>
              <a:rPr lang="en-GB" sz="1600" dirty="0">
                <a:latin typeface="Lucida Sans Unicode" pitchFamily="34" charset="0"/>
                <a:cs typeface="Lucida Sans Unicode" pitchFamily="34" charset="0"/>
              </a:rPr>
              <a:t>bit depth</a:t>
            </a:r>
          </a:p>
          <a:p>
            <a:pPr marL="182563" indent="-182563">
              <a:lnSpc>
                <a:spcPts val="2300"/>
              </a:lnSpc>
              <a:buFont typeface="Arial" pitchFamily="34" charset="0"/>
              <a:buChar char="•"/>
            </a:pPr>
            <a:r>
              <a:rPr lang="en-GB" sz="1600" dirty="0">
                <a:latin typeface="Lucida Sans Unicode" pitchFamily="34" charset="0"/>
                <a:cs typeface="Lucida Sans Unicode" pitchFamily="34" charset="0"/>
              </a:rPr>
              <a:t>colour space</a:t>
            </a:r>
          </a:p>
          <a:p>
            <a:pPr marL="182563" indent="-182563">
              <a:lnSpc>
                <a:spcPts val="2300"/>
              </a:lnSpc>
              <a:buFont typeface="Arial" pitchFamily="34" charset="0"/>
              <a:buChar char="•"/>
            </a:pPr>
            <a:r>
              <a:rPr lang="en-GB" sz="1600" dirty="0">
                <a:latin typeface="Lucida Sans Unicode" pitchFamily="34" charset="0"/>
                <a:cs typeface="Lucida Sans Unicode" pitchFamily="34" charset="0"/>
              </a:rPr>
              <a:t>white ref is D65</a:t>
            </a:r>
          </a:p>
          <a:p>
            <a:pPr marL="639763" lvl="1" indent="-182563">
              <a:lnSpc>
                <a:spcPts val="2300"/>
              </a:lnSpc>
              <a:buFont typeface="Arial" pitchFamily="34" charset="0"/>
              <a:buChar char="•"/>
            </a:pPr>
            <a:r>
              <a:rPr lang="en-GB" sz="1600" dirty="0">
                <a:latin typeface="Lucida Sans Unicode" pitchFamily="34" charset="0"/>
                <a:cs typeface="Lucida Sans Unicode" pitchFamily="34" charset="0"/>
              </a:rPr>
              <a:t>~6500K</a:t>
            </a:r>
          </a:p>
        </p:txBody>
      </p:sp>
      <p:cxnSp>
        <p:nvCxnSpPr>
          <p:cNvPr id="3" name="Straight Arrow Connector 2"/>
          <p:cNvCxnSpPr/>
          <p:nvPr/>
        </p:nvCxnSpPr>
        <p:spPr bwMode="auto">
          <a:xfrm>
            <a:off x="2192694" y="3359020"/>
            <a:ext cx="159553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pic>
        <p:nvPicPr>
          <p:cNvPr id="63490" name="Picture 2" descr="https://www.avforums.com/image.php?imageparameters=editorial/products/cb6e2caff7cc931e4cbb1ceb4eed7652_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1104" y="3359020"/>
            <a:ext cx="5659951" cy="314441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859624" y="6280919"/>
            <a:ext cx="2733870" cy="338554"/>
          </a:xfrm>
          <a:prstGeom prst="rect">
            <a:avLst/>
          </a:prstGeom>
        </p:spPr>
        <p:txBody>
          <a:bodyPr wrap="square">
            <a:spAutoFit/>
          </a:bodyPr>
          <a:lstStyle/>
          <a:p>
            <a:r>
              <a:rPr lang="en-GB" sz="800" dirty="0">
                <a:hlinkClick r:id="rId4"/>
              </a:rPr>
              <a:t>https://www.avforums.com/article/ifa-2014-joe-kane-interview-about-ultra-hd-4k-tv.10702</a:t>
            </a:r>
            <a:r>
              <a:rPr lang="en-GB" sz="800" dirty="0"/>
              <a:t> </a:t>
            </a:r>
          </a:p>
        </p:txBody>
      </p:sp>
    </p:spTree>
    <p:extLst>
      <p:ext uri="{BB962C8B-B14F-4D97-AF65-F5344CB8AC3E}">
        <p14:creationId xmlns:p14="http://schemas.microsoft.com/office/powerpoint/2010/main" val="2826360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0" y="6105889"/>
            <a:ext cx="4572000" cy="338554"/>
          </a:xfrm>
          <a:prstGeom prst="rect">
            <a:avLst/>
          </a:prstGeom>
        </p:spPr>
        <p:txBody>
          <a:bodyPr>
            <a:spAutoFit/>
          </a:bodyPr>
          <a:lstStyle/>
          <a:p>
            <a:r>
              <a:rPr lang="en-GB" sz="800" dirty="0"/>
              <a:t>http://www.display-central.com/subscription-news/editorial-categories/flat-panel/qd-vision-3m-find-advantages-in-quantum-dots-not-surprisingly/</a:t>
            </a:r>
          </a:p>
        </p:txBody>
      </p:sp>
      <p:pic>
        <p:nvPicPr>
          <p:cNvPr id="21505" name="Picture 1"/>
          <p:cNvPicPr>
            <a:picLocks noChangeAspect="1" noChangeArrowheads="1"/>
          </p:cNvPicPr>
          <p:nvPr/>
        </p:nvPicPr>
        <p:blipFill>
          <a:blip r:embed="rId2" cstate="print"/>
          <a:srcRect/>
          <a:stretch>
            <a:fillRect/>
          </a:stretch>
        </p:blipFill>
        <p:spPr bwMode="auto">
          <a:xfrm>
            <a:off x="2622213" y="781221"/>
            <a:ext cx="6324366" cy="4626549"/>
          </a:xfrm>
          <a:prstGeom prst="rect">
            <a:avLst/>
          </a:prstGeom>
          <a:noFill/>
          <a:ln w="9525">
            <a:noFill/>
            <a:miter lim="800000"/>
            <a:headEnd/>
            <a:tailEnd/>
          </a:ln>
        </p:spPr>
      </p:pic>
      <p:sp>
        <p:nvSpPr>
          <p:cNvPr id="5" name="TextBox 4"/>
          <p:cNvSpPr txBox="1"/>
          <p:nvPr/>
        </p:nvSpPr>
        <p:spPr>
          <a:xfrm>
            <a:off x="393700" y="5310138"/>
            <a:ext cx="4656472" cy="977191"/>
          </a:xfrm>
          <a:prstGeom prst="rect">
            <a:avLst/>
          </a:prstGeom>
          <a:noFill/>
        </p:spPr>
        <p:txBody>
          <a:bodyPr wrap="square" rtlCol="0">
            <a:spAutoFit/>
          </a:bodyPr>
          <a:lstStyle/>
          <a:p>
            <a:pPr>
              <a:lnSpc>
                <a:spcPts val="2300"/>
              </a:lnSpc>
            </a:pPr>
            <a:r>
              <a:rPr lang="en-GB" sz="1600" dirty="0">
                <a:latin typeface="Lucida Sans Unicode" pitchFamily="34" charset="0"/>
                <a:cs typeface="Lucida Sans Unicode" pitchFamily="34" charset="0"/>
              </a:rPr>
              <a:t>Phosphor and QD primaries plotted against Rec.2020 and NTSC reference </a:t>
            </a:r>
            <a:r>
              <a:rPr lang="en-GB" sz="1600" dirty="0" err="1">
                <a:latin typeface="Lucida Sans Unicode" pitchFamily="34" charset="0"/>
                <a:cs typeface="Lucida Sans Unicode" pitchFamily="34" charset="0"/>
              </a:rPr>
              <a:t>gamuts</a:t>
            </a:r>
            <a:endParaRPr lang="en-GB" sz="1600" dirty="0">
              <a:latin typeface="Lucida Sans Unicode" pitchFamily="34" charset="0"/>
              <a:cs typeface="Lucida Sans Unicode" pitchFamily="34" charset="0"/>
            </a:endParaRPr>
          </a:p>
          <a:p>
            <a:pPr>
              <a:lnSpc>
                <a:spcPts val="2300"/>
              </a:lnSpc>
            </a:pPr>
            <a:endParaRPr lang="en-GB" sz="1600" dirty="0">
              <a:latin typeface="Lucida Sans Unicode" pitchFamily="34" charset="0"/>
              <a:cs typeface="Lucida Sans Unicode" pitchFamily="34" charset="0"/>
            </a:endParaRPr>
          </a:p>
        </p:txBody>
      </p:sp>
      <p:sp>
        <p:nvSpPr>
          <p:cNvPr id="6" name="TextBox 5"/>
          <p:cNvSpPr txBox="1"/>
          <p:nvPr/>
        </p:nvSpPr>
        <p:spPr>
          <a:xfrm>
            <a:off x="393700" y="323850"/>
            <a:ext cx="2794355" cy="461665"/>
          </a:xfrm>
          <a:prstGeom prst="rect">
            <a:avLst/>
          </a:prstGeom>
          <a:noFill/>
        </p:spPr>
        <p:txBody>
          <a:bodyPr wrap="none" rtlCol="0" anchor="ctr">
            <a:spAutoFit/>
          </a:bodyPr>
          <a:lstStyle/>
          <a:p>
            <a:r>
              <a:rPr lang="en-GB" sz="2400" b="1" dirty="0">
                <a:latin typeface="Lucida Sans Unicode" pitchFamily="34" charset="0"/>
                <a:cs typeface="Lucida Sans Unicode" pitchFamily="34" charset="0"/>
              </a:rPr>
              <a:t>QD / WCG Gamut</a:t>
            </a:r>
          </a:p>
        </p:txBody>
      </p:sp>
      <p:sp>
        <p:nvSpPr>
          <p:cNvPr id="7" name="Rectangle 6"/>
          <p:cNvSpPr/>
          <p:nvPr/>
        </p:nvSpPr>
        <p:spPr>
          <a:xfrm>
            <a:off x="393700" y="906633"/>
            <a:ext cx="2131386" cy="4278094"/>
          </a:xfrm>
          <a:prstGeom prst="rect">
            <a:avLst/>
          </a:prstGeom>
        </p:spPr>
        <p:txBody>
          <a:bodyPr wrap="square">
            <a:spAutoFit/>
          </a:bodyPr>
          <a:lstStyle/>
          <a:p>
            <a:pPr marL="176213" indent="-176213"/>
            <a:r>
              <a:rPr lang="en-GB" sz="1600" b="1" dirty="0"/>
              <a:t>WCG </a:t>
            </a:r>
            <a:r>
              <a:rPr lang="en-GB" sz="1600" dirty="0"/>
              <a:t>= Wide Colour Gamut</a:t>
            </a:r>
          </a:p>
          <a:p>
            <a:pPr marL="176213" indent="-176213"/>
            <a:endParaRPr lang="en-GB" b="1" dirty="0"/>
          </a:p>
          <a:p>
            <a:pPr marL="176213" indent="-176213"/>
            <a:r>
              <a:rPr lang="en-GB" sz="1600" b="1" dirty="0"/>
              <a:t>QD: Quantum Dot </a:t>
            </a:r>
            <a:r>
              <a:rPr lang="en-GB" sz="1600" dirty="0"/>
              <a:t>Displays</a:t>
            </a:r>
          </a:p>
          <a:p>
            <a:pPr marL="176213" indent="-176213"/>
            <a:endParaRPr lang="en-GB" b="1" dirty="0"/>
          </a:p>
          <a:p>
            <a:pPr marL="176213" indent="-176213"/>
            <a:r>
              <a:rPr lang="en-GB" sz="1600" b="1" dirty="0"/>
              <a:t>QD - </a:t>
            </a:r>
            <a:r>
              <a:rPr lang="en-GB" sz="1600" b="1" dirty="0" err="1"/>
              <a:t>tunable</a:t>
            </a:r>
            <a:r>
              <a:rPr lang="en-GB" sz="1600" b="1" dirty="0"/>
              <a:t>, pure colour </a:t>
            </a:r>
          </a:p>
          <a:p>
            <a:pPr marL="176213" indent="-176213">
              <a:buFont typeface="Arial" pitchFamily="34" charset="0"/>
              <a:buChar char="•"/>
            </a:pPr>
            <a:r>
              <a:rPr lang="en-GB" sz="1600" dirty="0"/>
              <a:t>very narrow emission spectra </a:t>
            </a:r>
          </a:p>
          <a:p>
            <a:pPr marL="176213" indent="-176213">
              <a:buFont typeface="Arial" pitchFamily="34" charset="0"/>
              <a:buChar char="•"/>
            </a:pPr>
            <a:r>
              <a:rPr lang="en-GB" sz="1600" dirty="0"/>
              <a:t>tuned to wavelength by quantum dot size</a:t>
            </a:r>
          </a:p>
          <a:p>
            <a:pPr marL="176213" indent="-176213">
              <a:buFont typeface="Arial" pitchFamily="34" charset="0"/>
              <a:buChar char="•"/>
            </a:pPr>
            <a:r>
              <a:rPr lang="en-GB" sz="1600" dirty="0"/>
              <a:t>better control of the colour gamut than phosphor LEDs </a:t>
            </a:r>
          </a:p>
        </p:txBody>
      </p:sp>
    </p:spTree>
    <p:extLst>
      <p:ext uri="{BB962C8B-B14F-4D97-AF65-F5344CB8AC3E}">
        <p14:creationId xmlns:p14="http://schemas.microsoft.com/office/powerpoint/2010/main" val="2884997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0" y="0"/>
            <a:ext cx="9144000" cy="6858001"/>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pic>
        <p:nvPicPr>
          <p:cNvPr id="4" name="Picture 2" descr="maxresdefault.jpg (1280×720)"/>
          <p:cNvPicPr>
            <a:picLocks noChangeAspect="1" noChangeArrowheads="1"/>
          </p:cNvPicPr>
          <p:nvPr/>
        </p:nvPicPr>
        <p:blipFill rotWithShape="1">
          <a:blip r:embed="rId2">
            <a:extLst>
              <a:ext uri="{28A0092B-C50C-407E-A947-70E740481C1C}">
                <a14:useLocalDpi xmlns:a14="http://schemas.microsoft.com/office/drawing/2010/main" val="0"/>
              </a:ext>
            </a:extLst>
          </a:blip>
          <a:srcRect t="1793" r="3572" b="2062"/>
          <a:stretch/>
        </p:blipFill>
        <p:spPr bwMode="auto">
          <a:xfrm>
            <a:off x="0" y="933061"/>
            <a:ext cx="9150162" cy="51318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95288" y="650929"/>
            <a:ext cx="5179623" cy="830997"/>
          </a:xfrm>
          <a:prstGeom prst="rect">
            <a:avLst/>
          </a:prstGeom>
          <a:noFill/>
        </p:spPr>
        <p:txBody>
          <a:bodyPr wrap="none" rtlCol="0">
            <a:spAutoFit/>
          </a:bodyPr>
          <a:lstStyle/>
          <a:p>
            <a:r>
              <a:rPr lang="en-GB" sz="4800" b="1">
                <a:solidFill>
                  <a:srgbClr val="FFFF00"/>
                </a:solidFill>
              </a:rPr>
              <a:t>Additional Slides</a:t>
            </a:r>
          </a:p>
        </p:txBody>
      </p:sp>
    </p:spTree>
    <p:extLst>
      <p:ext uri="{BB962C8B-B14F-4D97-AF65-F5344CB8AC3E}">
        <p14:creationId xmlns:p14="http://schemas.microsoft.com/office/powerpoint/2010/main" val="480941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288" y="368300"/>
            <a:ext cx="8315325" cy="5416868"/>
          </a:xfrm>
          <a:prstGeom prst="rect">
            <a:avLst/>
          </a:prstGeom>
        </p:spPr>
        <p:txBody>
          <a:bodyPr wrap="square">
            <a:spAutoFit/>
          </a:bodyPr>
          <a:lstStyle/>
          <a:p>
            <a:r>
              <a:rPr lang="en-GB" sz="2400" b="1"/>
              <a:t>Colour Encoding</a:t>
            </a:r>
          </a:p>
          <a:p>
            <a:endParaRPr lang="en-GB" sz="1400" dirty="0"/>
          </a:p>
          <a:p>
            <a:r>
              <a:rPr lang="en-GB" sz="1400" dirty="0"/>
              <a:t>QAM subcarrier carrying the chrominance </a:t>
            </a:r>
          </a:p>
          <a:p>
            <a:r>
              <a:rPr lang="en-GB" sz="1400" dirty="0"/>
              <a:t>added to the luminance video signal &gt; composite video baseband signal</a:t>
            </a:r>
          </a:p>
          <a:p>
            <a:r>
              <a:rPr lang="en-GB" sz="1400" dirty="0" err="1"/>
              <a:t>freq</a:t>
            </a:r>
            <a:r>
              <a:rPr lang="en-GB" sz="1400" dirty="0"/>
              <a:t> subcarrier =</a:t>
            </a:r>
          </a:p>
          <a:p>
            <a:r>
              <a:rPr lang="en-GB" sz="1400" dirty="0"/>
              <a:t>4.43361875 MHz for PAL, NTSC 4.43</a:t>
            </a:r>
          </a:p>
          <a:p>
            <a:r>
              <a:rPr lang="en-GB" sz="1400" dirty="0"/>
              <a:t>3.579545 MHz for NTSC 3.58</a:t>
            </a:r>
          </a:p>
          <a:p>
            <a:endParaRPr lang="en-GB" sz="1400" dirty="0"/>
          </a:p>
          <a:p>
            <a:r>
              <a:rPr lang="en-GB" sz="1400" dirty="0"/>
              <a:t>SECAM:  FM on two line alternate colour subcarriers 4.25000 and 4.40625 MHz</a:t>
            </a:r>
          </a:p>
          <a:p>
            <a:endParaRPr lang="en-GB" sz="1400" dirty="0"/>
          </a:p>
          <a:p>
            <a:r>
              <a:rPr lang="en-GB" sz="1400" dirty="0"/>
              <a:t>Phase Alternating Line</a:t>
            </a:r>
          </a:p>
          <a:p>
            <a:r>
              <a:rPr lang="en-GB" sz="1400" dirty="0"/>
              <a:t>phase of part of the colour information on the video signal is reversed with each line</a:t>
            </a:r>
          </a:p>
          <a:p>
            <a:r>
              <a:rPr lang="en-GB" sz="1400" dirty="0"/>
              <a:t>automatically corrects phase errors in the transmission of the signal by cancelling them out</a:t>
            </a:r>
          </a:p>
          <a:p>
            <a:r>
              <a:rPr lang="en-GB" sz="1400" dirty="0"/>
              <a:t>at the expense of vertical frame colour resolution</a:t>
            </a:r>
          </a:p>
          <a:p>
            <a:endParaRPr lang="en-GB" sz="1400" dirty="0"/>
          </a:p>
          <a:p>
            <a:r>
              <a:rPr lang="en-GB" sz="1400" dirty="0"/>
              <a:t>receivers use a chrominance </a:t>
            </a:r>
            <a:r>
              <a:rPr lang="en-GB" sz="1400" dirty="0" err="1"/>
              <a:t>analog</a:t>
            </a:r>
            <a:r>
              <a:rPr lang="en-GB" sz="1400" dirty="0"/>
              <a:t> delay line</a:t>
            </a:r>
          </a:p>
          <a:p>
            <a:r>
              <a:rPr lang="en-GB" sz="1400" dirty="0"/>
              <a:t>- stores the received colour information on each line of display</a:t>
            </a:r>
          </a:p>
          <a:p>
            <a:r>
              <a:rPr lang="en-GB" sz="1400" dirty="0"/>
              <a:t>- an average of the colour information from the previous line and the current line is then used to drive the picture tube</a:t>
            </a:r>
          </a:p>
          <a:p>
            <a:r>
              <a:rPr lang="en-GB" sz="1400" dirty="0"/>
              <a:t>- effect - phase errors result in saturation changes - less objectionable than hue changes of NTSC</a:t>
            </a:r>
          </a:p>
          <a:p>
            <a:r>
              <a:rPr lang="en-GB" sz="1400" dirty="0"/>
              <a:t>- drawback </a:t>
            </a:r>
            <a:r>
              <a:rPr lang="en-GB" sz="1400" dirty="0" err="1"/>
              <a:t>i</a:t>
            </a:r>
            <a:r>
              <a:rPr lang="en-GB" sz="1400" dirty="0"/>
              <a:t>- vertical colour resolution is poorer than NTSC </a:t>
            </a:r>
          </a:p>
          <a:p>
            <a:r>
              <a:rPr lang="en-GB" sz="1400" dirty="0"/>
              <a:t>- human eye colour resolution lower than brightness resolution - PAL effect is not visible</a:t>
            </a:r>
          </a:p>
          <a:p>
            <a:r>
              <a:rPr lang="en-GB" sz="1400" dirty="0"/>
              <a:t>- also - </a:t>
            </a:r>
            <a:r>
              <a:rPr lang="en-GB" sz="1400" dirty="0" err="1"/>
              <a:t>chroma</a:t>
            </a:r>
            <a:r>
              <a:rPr lang="en-GB" sz="1400" dirty="0"/>
              <a:t> subsampling used </a:t>
            </a:r>
          </a:p>
        </p:txBody>
      </p:sp>
    </p:spTree>
    <p:extLst>
      <p:ext uri="{BB962C8B-B14F-4D97-AF65-F5344CB8AC3E}">
        <p14:creationId xmlns:p14="http://schemas.microsoft.com/office/powerpoint/2010/main" val="2414657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288" y="1049309"/>
            <a:ext cx="7781925" cy="5262979"/>
          </a:xfrm>
          <a:prstGeom prst="rect">
            <a:avLst/>
          </a:prstGeom>
        </p:spPr>
        <p:txBody>
          <a:bodyPr wrap="square">
            <a:spAutoFit/>
          </a:bodyPr>
          <a:lstStyle/>
          <a:p>
            <a:r>
              <a:rPr lang="en-GB" b="1" dirty="0">
                <a:solidFill>
                  <a:srgbClr val="252525"/>
                </a:solidFill>
                <a:latin typeface="+mn-lt"/>
              </a:rPr>
              <a:t>Colour carrier</a:t>
            </a:r>
          </a:p>
          <a:p>
            <a:pPr marL="285750" indent="-285750">
              <a:buFont typeface="Arial" panose="020B0604020202020204" pitchFamily="34" charset="0"/>
              <a:buChar char="•"/>
            </a:pPr>
            <a:r>
              <a:rPr lang="en-GB" dirty="0">
                <a:solidFill>
                  <a:srgbClr val="252525"/>
                </a:solidFill>
                <a:latin typeface="+mn-lt"/>
              </a:rPr>
              <a:t>4.43361875 MHz frequency </a:t>
            </a:r>
          </a:p>
          <a:p>
            <a:pPr marL="285750" indent="-285750">
              <a:buFont typeface="Arial" panose="020B0604020202020204" pitchFamily="34" charset="0"/>
              <a:buChar char="•"/>
            </a:pPr>
            <a:r>
              <a:rPr lang="en-GB" dirty="0">
                <a:solidFill>
                  <a:srgbClr val="252525"/>
                </a:solidFill>
                <a:latin typeface="+mn-lt"/>
              </a:rPr>
              <a:t>due to </a:t>
            </a:r>
            <a:r>
              <a:rPr lang="en-GB" dirty="0">
                <a:latin typeface="+mn-lt"/>
              </a:rPr>
              <a:t>283.75 colour clock cycles per line </a:t>
            </a:r>
          </a:p>
          <a:p>
            <a:pPr marL="285750" indent="-285750">
              <a:buFont typeface="Arial" panose="020B0604020202020204" pitchFamily="34" charset="0"/>
              <a:buChar char="•"/>
            </a:pPr>
            <a:r>
              <a:rPr lang="en-GB" dirty="0">
                <a:latin typeface="+mn-lt"/>
              </a:rPr>
              <a:t>+ 25 Hz offset to avoid interferences. </a:t>
            </a:r>
          </a:p>
          <a:p>
            <a:pPr marL="285750" indent="-285750">
              <a:buFont typeface="Arial" panose="020B0604020202020204" pitchFamily="34" charset="0"/>
              <a:buChar char="•"/>
            </a:pPr>
            <a:endParaRPr lang="en-GB" dirty="0">
              <a:latin typeface="+mn-lt"/>
            </a:endParaRPr>
          </a:p>
          <a:p>
            <a:pPr marL="285750" indent="-285750">
              <a:buFont typeface="Arial" panose="020B0604020202020204" pitchFamily="34" charset="0"/>
              <a:buChar char="•"/>
            </a:pPr>
            <a:r>
              <a:rPr lang="en-GB" dirty="0">
                <a:latin typeface="+mn-lt"/>
              </a:rPr>
              <a:t>line frequency = 15625 Hz (625 lines × 50 Hz ÷ 2)</a:t>
            </a:r>
          </a:p>
          <a:p>
            <a:pPr marL="285750" indent="-285750">
              <a:buFont typeface="Arial" panose="020B0604020202020204" pitchFamily="34" charset="0"/>
              <a:buChar char="•"/>
            </a:pPr>
            <a:r>
              <a:rPr lang="en-GB" dirty="0">
                <a:latin typeface="+mn-lt"/>
              </a:rPr>
              <a:t>colour carrier frequency: </a:t>
            </a:r>
          </a:p>
          <a:p>
            <a:pPr marL="285750" indent="-285750">
              <a:buFont typeface="Arial" panose="020B0604020202020204" pitchFamily="34" charset="0"/>
              <a:buChar char="•"/>
            </a:pPr>
            <a:r>
              <a:rPr lang="en-GB" dirty="0">
                <a:latin typeface="+mn-lt"/>
              </a:rPr>
              <a:t>4.43361875 MHz = 283.75 × 15625 Hz + 25 Hz.</a:t>
            </a:r>
          </a:p>
          <a:p>
            <a:pPr marL="285750" indent="-285750">
              <a:buFont typeface="Arial" panose="020B0604020202020204" pitchFamily="34" charset="0"/>
              <a:buChar char="•"/>
            </a:pPr>
            <a:endParaRPr lang="en-GB" dirty="0">
              <a:latin typeface="+mn-lt"/>
            </a:endParaRPr>
          </a:p>
          <a:p>
            <a:pPr marL="285750" indent="-285750">
              <a:buFont typeface="Arial" panose="020B0604020202020204" pitchFamily="34" charset="0"/>
              <a:buChar char="•"/>
            </a:pPr>
            <a:r>
              <a:rPr lang="en-GB" dirty="0">
                <a:latin typeface="+mn-lt"/>
              </a:rPr>
              <a:t>original colour carrier is required by the colour decoder to recreate the colour difference signals</a:t>
            </a:r>
          </a:p>
          <a:p>
            <a:pPr marL="285750" indent="-285750">
              <a:buFont typeface="Arial" panose="020B0604020202020204" pitchFamily="34" charset="0"/>
              <a:buChar char="•"/>
            </a:pPr>
            <a:r>
              <a:rPr lang="en-GB" dirty="0">
                <a:latin typeface="+mn-lt"/>
              </a:rPr>
              <a:t>Since the carrier is not transmitted with the video information it has to be generated locally in the receiver. </a:t>
            </a:r>
          </a:p>
          <a:p>
            <a:pPr marL="285750" indent="-285750">
              <a:buFont typeface="Arial" panose="020B0604020202020204" pitchFamily="34" charset="0"/>
              <a:buChar char="•"/>
            </a:pPr>
            <a:r>
              <a:rPr lang="en-GB" dirty="0">
                <a:latin typeface="+mn-lt"/>
              </a:rPr>
              <a:t>phase needs to match the transmitted information</a:t>
            </a:r>
          </a:p>
          <a:p>
            <a:pPr marL="285750" indent="-285750">
              <a:buFont typeface="Arial" panose="020B0604020202020204" pitchFamily="34" charset="0"/>
              <a:buChar char="•"/>
            </a:pPr>
            <a:r>
              <a:rPr lang="en-GB" dirty="0">
                <a:latin typeface="+mn-lt"/>
              </a:rPr>
              <a:t>so 10 cycle burst of colour subcarrier is added to the video signal shortly after the line sync pulse … colour burst </a:t>
            </a:r>
          </a:p>
          <a:p>
            <a:pPr marL="285750" indent="-285750">
              <a:buFont typeface="Arial" panose="020B0604020202020204" pitchFamily="34" charset="0"/>
              <a:buChar char="•"/>
            </a:pPr>
            <a:r>
              <a:rPr lang="en-GB" dirty="0">
                <a:latin typeface="+mn-lt"/>
              </a:rPr>
              <a:t>not in phase with the original colour subcarrier: </a:t>
            </a:r>
          </a:p>
          <a:p>
            <a:pPr marL="285750" indent="-285750">
              <a:buFont typeface="Arial" panose="020B0604020202020204" pitchFamily="34" charset="0"/>
              <a:buChar char="•"/>
            </a:pPr>
            <a:r>
              <a:rPr lang="en-GB" dirty="0">
                <a:latin typeface="+mn-lt"/>
              </a:rPr>
              <a:t>leads by 45 degrees on the odd lines </a:t>
            </a:r>
          </a:p>
          <a:p>
            <a:pPr marL="285750" indent="-285750">
              <a:buFont typeface="Arial" panose="020B0604020202020204" pitchFamily="34" charset="0"/>
              <a:buChar char="•"/>
            </a:pPr>
            <a:r>
              <a:rPr lang="en-GB" dirty="0">
                <a:latin typeface="+mn-lt"/>
              </a:rPr>
              <a:t>lags it by 45 degrees on the even lines</a:t>
            </a:r>
          </a:p>
          <a:p>
            <a:pPr marL="285750" indent="-285750">
              <a:buFont typeface="Arial" panose="020B0604020202020204" pitchFamily="34" charset="0"/>
              <a:buChar char="•"/>
            </a:pPr>
            <a:r>
              <a:rPr lang="en-GB" dirty="0">
                <a:latin typeface="+mn-lt"/>
              </a:rPr>
              <a:t>… this enables the colour decoder circuitry to distinguish </a:t>
            </a:r>
            <a:r>
              <a:rPr lang="en-GB" dirty="0">
                <a:solidFill>
                  <a:srgbClr val="252525"/>
                </a:solidFill>
                <a:latin typeface="+mn-lt"/>
              </a:rPr>
              <a:t>the phase of the [R-Y] vector which reverses every line.</a:t>
            </a:r>
            <a:endParaRPr lang="en-GB" b="0" i="0" dirty="0">
              <a:solidFill>
                <a:srgbClr val="252525"/>
              </a:solidFill>
              <a:effectLst/>
              <a:latin typeface="+mn-lt"/>
            </a:endParaRPr>
          </a:p>
        </p:txBody>
      </p:sp>
      <p:sp>
        <p:nvSpPr>
          <p:cNvPr id="3" name="Rectangle 2"/>
          <p:cNvSpPr/>
          <p:nvPr/>
        </p:nvSpPr>
        <p:spPr>
          <a:xfrm>
            <a:off x="395288" y="368300"/>
            <a:ext cx="2651688" cy="461665"/>
          </a:xfrm>
          <a:prstGeom prst="rect">
            <a:avLst/>
          </a:prstGeom>
        </p:spPr>
        <p:txBody>
          <a:bodyPr wrap="none">
            <a:spAutoFit/>
          </a:bodyPr>
          <a:lstStyle/>
          <a:p>
            <a:r>
              <a:rPr lang="en-GB" sz="2400" b="1"/>
              <a:t>Colour Encoding</a:t>
            </a:r>
          </a:p>
        </p:txBody>
      </p:sp>
    </p:spTree>
    <p:extLst>
      <p:ext uri="{BB962C8B-B14F-4D97-AF65-F5344CB8AC3E}">
        <p14:creationId xmlns:p14="http://schemas.microsoft.com/office/powerpoint/2010/main" val="40028702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2785" y="906245"/>
            <a:ext cx="4058475" cy="5262979"/>
          </a:xfrm>
          <a:prstGeom prst="rect">
            <a:avLst/>
          </a:prstGeom>
        </p:spPr>
        <p:txBody>
          <a:bodyPr wrap="square">
            <a:spAutoFit/>
          </a:bodyPr>
          <a:lstStyle/>
          <a:p>
            <a:pPr marL="285750" indent="-285750">
              <a:buFont typeface="Arial" panose="020B0604020202020204" pitchFamily="34" charset="0"/>
              <a:buChar char="•"/>
            </a:pPr>
            <a:r>
              <a:rPr lang="en-GB"/>
              <a:t>descending staircase </a:t>
            </a:r>
          </a:p>
          <a:p>
            <a:pPr marL="285750" indent="-285750">
              <a:buFont typeface="Arial" panose="020B0604020202020204" pitchFamily="34" charset="0"/>
              <a:buChar char="•"/>
            </a:pPr>
            <a:r>
              <a:rPr lang="en-GB"/>
              <a:t>peak white &gt;&gt; black</a:t>
            </a:r>
          </a:p>
          <a:p>
            <a:endParaRPr lang="en-GB"/>
          </a:p>
          <a:p>
            <a:pPr marL="285750" indent="-285750">
              <a:buFont typeface="Arial" panose="020B0604020202020204" pitchFamily="34" charset="0"/>
              <a:buChar char="•"/>
            </a:pPr>
            <a:r>
              <a:rPr lang="en-GB"/>
              <a:t>luminance is unipolar ... no concept of negative brightness</a:t>
            </a:r>
          </a:p>
          <a:p>
            <a:pPr marL="285750" indent="-285750">
              <a:buFont typeface="Arial" panose="020B0604020202020204" pitchFamily="34" charset="0"/>
              <a:buChar char="•"/>
            </a:pPr>
            <a:r>
              <a:rPr lang="en-GB"/>
              <a:t>luminance signal subtracted from the red and blue components </a:t>
            </a:r>
          </a:p>
          <a:p>
            <a:pPr marL="285750" indent="-285750">
              <a:buFont typeface="Arial" panose="020B0604020202020204" pitchFamily="34" charset="0"/>
              <a:buChar char="•"/>
            </a:pPr>
            <a:r>
              <a:rPr lang="en-GB"/>
              <a:t>differences .. these signals are bipolar</a:t>
            </a:r>
          </a:p>
          <a:p>
            <a:pPr marL="285750" indent="-285750">
              <a:buFont typeface="Arial" panose="020B0604020202020204" pitchFamily="34" charset="0"/>
              <a:buChar char="•"/>
            </a:pPr>
            <a:endParaRPr lang="en-GB"/>
          </a:p>
          <a:p>
            <a:r>
              <a:rPr lang="en-GB"/>
              <a:t>Vectorscope</a:t>
            </a:r>
          </a:p>
          <a:p>
            <a:pPr marL="285750" indent="-285750">
              <a:buFont typeface="Arial" panose="020B0604020202020204" pitchFamily="34" charset="0"/>
              <a:buChar char="•"/>
            </a:pPr>
            <a:r>
              <a:rPr lang="en-GB"/>
              <a:t>B-Y causes horizontal deflection</a:t>
            </a:r>
          </a:p>
          <a:p>
            <a:pPr marL="285750" indent="-285750">
              <a:buFont typeface="Arial" panose="020B0604020202020204" pitchFamily="34" charset="0"/>
              <a:buChar char="•"/>
            </a:pPr>
            <a:r>
              <a:rPr lang="en-GB"/>
              <a:t>R-Y causes vertical deflection</a:t>
            </a:r>
          </a:p>
          <a:p>
            <a:r>
              <a:rPr lang="en-GB"/>
              <a:t>... display having six peripheral dots and two central dots.</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central dots </a:t>
            </a:r>
          </a:p>
          <a:p>
            <a:pPr marL="285750" indent="-285750">
              <a:buFont typeface="Arial" panose="020B0604020202020204" pitchFamily="34" charset="0"/>
              <a:buChar char="•"/>
            </a:pPr>
            <a:r>
              <a:rPr lang="en-GB"/>
              <a:t>white and black bars - not colours - colour difference signals are both zero</a:t>
            </a:r>
          </a:p>
          <a:p>
            <a:endParaRPr lang="en-GB"/>
          </a:p>
        </p:txBody>
      </p:sp>
      <p:pic>
        <p:nvPicPr>
          <p:cNvPr id="3" name="Picture 2"/>
          <p:cNvPicPr>
            <a:picLocks noChangeAspect="1"/>
          </p:cNvPicPr>
          <p:nvPr/>
        </p:nvPicPr>
        <p:blipFill>
          <a:blip r:embed="rId2"/>
          <a:stretch>
            <a:fillRect/>
          </a:stretch>
        </p:blipFill>
        <p:spPr>
          <a:xfrm>
            <a:off x="4338000" y="599132"/>
            <a:ext cx="4806000" cy="4079452"/>
          </a:xfrm>
          <a:prstGeom prst="rect">
            <a:avLst/>
          </a:prstGeom>
        </p:spPr>
      </p:pic>
      <p:sp>
        <p:nvSpPr>
          <p:cNvPr id="4" name="Rectangle 3"/>
          <p:cNvSpPr/>
          <p:nvPr/>
        </p:nvSpPr>
        <p:spPr>
          <a:xfrm>
            <a:off x="395288" y="368300"/>
            <a:ext cx="3243196" cy="461665"/>
          </a:xfrm>
          <a:prstGeom prst="rect">
            <a:avLst/>
          </a:prstGeom>
        </p:spPr>
        <p:txBody>
          <a:bodyPr wrap="none">
            <a:spAutoFit/>
          </a:bodyPr>
          <a:lstStyle/>
          <a:p>
            <a:r>
              <a:rPr lang="en-GB" sz="2400" b="1"/>
              <a:t>Staircase Test Signal</a:t>
            </a:r>
          </a:p>
        </p:txBody>
      </p:sp>
    </p:spTree>
    <p:extLst>
      <p:ext uri="{BB962C8B-B14F-4D97-AF65-F5344CB8AC3E}">
        <p14:creationId xmlns:p14="http://schemas.microsoft.com/office/powerpoint/2010/main" val="11523146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67740" y="700824"/>
            <a:ext cx="4691572" cy="2602080"/>
          </a:xfrm>
          <a:prstGeom prst="rect">
            <a:avLst/>
          </a:prstGeom>
        </p:spPr>
      </p:pic>
      <p:sp>
        <p:nvSpPr>
          <p:cNvPr id="3" name="Rectangle 2"/>
          <p:cNvSpPr/>
          <p:nvPr/>
        </p:nvSpPr>
        <p:spPr>
          <a:xfrm>
            <a:off x="395288" y="945129"/>
            <a:ext cx="3872452" cy="3539430"/>
          </a:xfrm>
          <a:prstGeom prst="rect">
            <a:avLst/>
          </a:prstGeom>
        </p:spPr>
        <p:txBody>
          <a:bodyPr wrap="square">
            <a:spAutoFit/>
          </a:bodyPr>
          <a:lstStyle/>
          <a:p>
            <a:r>
              <a:rPr lang="en-GB" b="1"/>
              <a:t>Colour bar test signal is generated</a:t>
            </a:r>
          </a:p>
          <a:p>
            <a:pPr marL="285750" indent="-285750">
              <a:buFont typeface="Arial" panose="020B0604020202020204" pitchFamily="34" charset="0"/>
              <a:buChar char="•"/>
            </a:pPr>
            <a:r>
              <a:rPr lang="en-GB"/>
              <a:t>RGB square waves of identical amplitude are produced</a:t>
            </a:r>
          </a:p>
          <a:p>
            <a:pPr marL="285750" indent="-285750">
              <a:buFont typeface="Arial" panose="020B0604020202020204" pitchFamily="34" charset="0"/>
              <a:buChar char="•"/>
            </a:pPr>
            <a:r>
              <a:rPr lang="en-GB"/>
              <a:t>one cycle fits in the active line of the green signal</a:t>
            </a:r>
          </a:p>
          <a:p>
            <a:pPr marL="285750" indent="-285750">
              <a:buFont typeface="Arial" panose="020B0604020202020204" pitchFamily="34" charset="0"/>
              <a:buChar char="•"/>
            </a:pPr>
            <a:r>
              <a:rPr lang="en-GB"/>
              <a:t>two cycles fit in the active line of the red signal </a:t>
            </a:r>
          </a:p>
          <a:p>
            <a:pPr marL="285750" indent="-285750">
              <a:buFont typeface="Arial" panose="020B0604020202020204" pitchFamily="34" charset="0"/>
              <a:buChar char="•"/>
            </a:pPr>
            <a:r>
              <a:rPr lang="en-GB"/>
              <a:t>four cycles fit in the active line of the blue signal</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eye - non-uniform response to colours</a:t>
            </a:r>
          </a:p>
          <a:p>
            <a:pPr marL="285750" indent="-285750">
              <a:buFont typeface="Arial" panose="020B0604020202020204" pitchFamily="34" charset="0"/>
              <a:buChar char="•"/>
            </a:pPr>
            <a:r>
              <a:rPr lang="en-GB"/>
              <a:t>R, G and B components are weighted before being added</a:t>
            </a:r>
          </a:p>
        </p:txBody>
      </p:sp>
      <p:sp>
        <p:nvSpPr>
          <p:cNvPr id="4" name="Rectangle 3"/>
          <p:cNvSpPr/>
          <p:nvPr/>
        </p:nvSpPr>
        <p:spPr>
          <a:xfrm>
            <a:off x="395288" y="368300"/>
            <a:ext cx="3659976" cy="461665"/>
          </a:xfrm>
          <a:prstGeom prst="rect">
            <a:avLst/>
          </a:prstGeom>
        </p:spPr>
        <p:txBody>
          <a:bodyPr wrap="none">
            <a:spAutoFit/>
          </a:bodyPr>
          <a:lstStyle/>
          <a:p>
            <a:r>
              <a:rPr lang="en-GB" sz="2400" b="1"/>
              <a:t>Quadrature Modulation</a:t>
            </a:r>
          </a:p>
        </p:txBody>
      </p:sp>
    </p:spTree>
    <p:extLst>
      <p:ext uri="{BB962C8B-B14F-4D97-AF65-F5344CB8AC3E}">
        <p14:creationId xmlns:p14="http://schemas.microsoft.com/office/powerpoint/2010/main" val="2042584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11725" y="6219825"/>
            <a:ext cx="4232275" cy="261938"/>
          </a:xfrm>
          <a:prstGeom prst="rect">
            <a:avLst/>
          </a:prstGeom>
          <a:solidFill>
            <a:schemeClr val="accent6">
              <a:lumMod val="60000"/>
              <a:lumOff val="40000"/>
            </a:schemeClr>
          </a:solidFill>
        </p:spPr>
        <p:txBody>
          <a:bodyPr>
            <a:spAutoFit/>
          </a:bodyPr>
          <a:lstStyle/>
          <a:p>
            <a:pPr>
              <a:defRPr/>
            </a:pPr>
            <a:r>
              <a:rPr lang="en-GB" sz="1050" dirty="0">
                <a:hlinkClick r:id="rId2"/>
              </a:rPr>
              <a:t>http://www.pembers.freeserve.co.uk/</a:t>
            </a:r>
            <a:r>
              <a:rPr lang="en-GB" sz="1050">
                <a:hlinkClick r:id="rId2"/>
              </a:rPr>
              <a:t>World-TV-Standards/</a:t>
            </a:r>
            <a:r>
              <a:rPr lang="en-GB" sz="1050"/>
              <a:t> </a:t>
            </a:r>
            <a:endParaRPr lang="en-GB" sz="1050" dirty="0"/>
          </a:p>
        </p:txBody>
      </p:sp>
      <p:pic>
        <p:nvPicPr>
          <p:cNvPr id="24579" name="Picture 4" descr="Multiburst wavefor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125663"/>
            <a:ext cx="5051425"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Text Box 4"/>
          <p:cNvSpPr txBox="1">
            <a:spLocks noChangeArrowheads="1"/>
          </p:cNvSpPr>
          <p:nvPr/>
        </p:nvSpPr>
        <p:spPr bwMode="auto">
          <a:xfrm>
            <a:off x="395288" y="331788"/>
            <a:ext cx="3394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2400" b="1"/>
              <a:t>PAL  Colour Encoding</a:t>
            </a:r>
          </a:p>
        </p:txBody>
      </p:sp>
      <p:sp>
        <p:nvSpPr>
          <p:cNvPr id="24581" name="Rectangle 6"/>
          <p:cNvSpPr>
            <a:spLocks noChangeArrowheads="1"/>
          </p:cNvSpPr>
          <p:nvPr/>
        </p:nvSpPr>
        <p:spPr bwMode="auto">
          <a:xfrm>
            <a:off x="5857875" y="2247900"/>
            <a:ext cx="308451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b="1"/>
              <a:t>Waveform of a multiburst test signal</a:t>
            </a:r>
          </a:p>
          <a:p>
            <a:pPr>
              <a:buFont typeface="Arial" panose="020B0604020202020204" pitchFamily="34" charset="0"/>
              <a:buChar char="•"/>
            </a:pPr>
            <a:r>
              <a:rPr lang="en-GB" altLang="en-US"/>
              <a:t>ranges from black (0%) to white (100%) with a mean level of 50%</a:t>
            </a:r>
          </a:p>
        </p:txBody>
      </p:sp>
    </p:spTree>
    <p:extLst>
      <p:ext uri="{BB962C8B-B14F-4D97-AF65-F5344CB8AC3E}">
        <p14:creationId xmlns:p14="http://schemas.microsoft.com/office/powerpoint/2010/main" val="2365231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Red Multiburst component wavefor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216150"/>
            <a:ext cx="3719512"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4" descr="Red Multiburst filtered component wavefor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3586163"/>
            <a:ext cx="366712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6" descr="Red Multiburst RGB wavefor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992188"/>
            <a:ext cx="37766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Rectangle 4"/>
          <p:cNvSpPr>
            <a:spLocks noChangeArrowheads="1"/>
          </p:cNvSpPr>
          <p:nvPr/>
        </p:nvSpPr>
        <p:spPr bwMode="auto">
          <a:xfrm>
            <a:off x="4433888" y="522288"/>
            <a:ext cx="4710112"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1300" b="1"/>
              <a:t>Multiburst entirely in one primary colour</a:t>
            </a:r>
          </a:p>
          <a:p>
            <a:pPr>
              <a:buFont typeface="Arial" panose="020B0604020202020204" pitchFamily="34" charset="0"/>
              <a:buChar char="•"/>
            </a:pPr>
            <a:r>
              <a:rPr lang="en-GB" altLang="en-US" sz="1300"/>
              <a:t>shown - one grating that is within the chrominance passband followed by one that is outside it</a:t>
            </a:r>
          </a:p>
          <a:p>
            <a:pPr>
              <a:buFont typeface="Arial" panose="020B0604020202020204" pitchFamily="34" charset="0"/>
              <a:buChar char="•"/>
            </a:pPr>
            <a:r>
              <a:rPr lang="en-GB" altLang="en-US" sz="1300"/>
              <a:t>signal is applied to the red channel only, so the green and blue channels are at black level (0%).</a:t>
            </a:r>
          </a:p>
        </p:txBody>
      </p:sp>
      <p:sp>
        <p:nvSpPr>
          <p:cNvPr id="25606" name="Rectangle 5"/>
          <p:cNvSpPr>
            <a:spLocks noChangeArrowheads="1"/>
          </p:cNvSpPr>
          <p:nvPr/>
        </p:nvSpPr>
        <p:spPr bwMode="auto">
          <a:xfrm>
            <a:off x="4433888" y="2022475"/>
            <a:ext cx="4391025"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1300" b="1"/>
              <a:t>The luminance and the three colour-difference channels </a:t>
            </a:r>
          </a:p>
          <a:p>
            <a:pPr>
              <a:buFont typeface="Arial" panose="020B0604020202020204" pitchFamily="34" charset="0"/>
              <a:buChar char="•"/>
            </a:pPr>
            <a:r>
              <a:rPr lang="en-GB" altLang="en-US" sz="1300"/>
              <a:t>Adding together the luminance and each of the colour difference signals in turn will give the same R, G and B signals as above.</a:t>
            </a:r>
          </a:p>
        </p:txBody>
      </p:sp>
      <p:sp>
        <p:nvSpPr>
          <p:cNvPr id="25607" name="Rectangle 6"/>
          <p:cNvSpPr>
            <a:spLocks noChangeArrowheads="1"/>
          </p:cNvSpPr>
          <p:nvPr/>
        </p:nvSpPr>
        <p:spPr bwMode="auto">
          <a:xfrm>
            <a:off x="4422775" y="3362325"/>
            <a:ext cx="472122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1300" b="1"/>
              <a:t>However, the chrominance channels are low-pass filtered</a:t>
            </a:r>
          </a:p>
          <a:p>
            <a:pPr>
              <a:buFont typeface="Arial" panose="020B0604020202020204" pitchFamily="34" charset="0"/>
              <a:buChar char="•"/>
            </a:pPr>
            <a:r>
              <a:rPr lang="en-GB" altLang="en-US" sz="1300"/>
              <a:t>The lower frequency grating remains unchanged, but the higher one becomes a straight line having the same mean level as the grating.</a:t>
            </a:r>
          </a:p>
        </p:txBody>
      </p:sp>
      <p:pic>
        <p:nvPicPr>
          <p:cNvPr id="25608" name="Picture 6" descr="Red Multiburst decoded RGB wavefor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5106988"/>
            <a:ext cx="3687762"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9" name="Rectangle 8"/>
          <p:cNvSpPr>
            <a:spLocks noChangeArrowheads="1"/>
          </p:cNvSpPr>
          <p:nvPr/>
        </p:nvSpPr>
        <p:spPr bwMode="auto">
          <a:xfrm>
            <a:off x="4370388" y="4622800"/>
            <a:ext cx="4773612"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975" indent="-180975">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1300" b="1"/>
              <a:t>When the luminance signal is added to each colour-difference signal, the amplitude of the high-frequency grating is reduced in the active channel</a:t>
            </a:r>
          </a:p>
          <a:p>
            <a:pPr>
              <a:buFont typeface="Arial" panose="020B0604020202020204" pitchFamily="34" charset="0"/>
              <a:buChar char="•"/>
            </a:pPr>
            <a:r>
              <a:rPr lang="en-GB" altLang="en-US" sz="1300"/>
              <a:t>phantom gratings appear in the other two channels, reducing the saturation (and fortuitously increasing the brightness slightly) of the details. </a:t>
            </a:r>
          </a:p>
          <a:p>
            <a:pPr>
              <a:buFont typeface="Arial" panose="020B0604020202020204" pitchFamily="34" charset="0"/>
              <a:buChar char="•"/>
            </a:pPr>
            <a:r>
              <a:rPr lang="en-GB" altLang="en-US" sz="1300"/>
              <a:t>The red and green channels contain negative-going information which will either be clipped by the display circuitry or cut off in the TV</a:t>
            </a:r>
          </a:p>
        </p:txBody>
      </p:sp>
      <p:sp>
        <p:nvSpPr>
          <p:cNvPr id="25610" name="Text Box 4"/>
          <p:cNvSpPr txBox="1">
            <a:spLocks noChangeArrowheads="1"/>
          </p:cNvSpPr>
          <p:nvPr/>
        </p:nvSpPr>
        <p:spPr bwMode="auto">
          <a:xfrm>
            <a:off x="395288" y="331788"/>
            <a:ext cx="3394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2400" b="1"/>
              <a:t>PAL  Colour Encoding</a:t>
            </a:r>
          </a:p>
        </p:txBody>
      </p:sp>
    </p:spTree>
    <p:extLst>
      <p:ext uri="{BB962C8B-B14F-4D97-AF65-F5344CB8AC3E}">
        <p14:creationId xmlns:p14="http://schemas.microsoft.com/office/powerpoint/2010/main" val="41363533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Red Multiburst RG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4437063"/>
            <a:ext cx="14287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Picture 4" descr="Red Multiburst RG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3429000"/>
            <a:ext cx="14287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6" descr=" Grey Multiburst RG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420938"/>
            <a:ext cx="14287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Rectangle 4"/>
          <p:cNvSpPr>
            <a:spLocks noChangeArrowheads="1"/>
          </p:cNvSpPr>
          <p:nvPr/>
        </p:nvSpPr>
        <p:spPr bwMode="auto">
          <a:xfrm>
            <a:off x="395288" y="1125538"/>
            <a:ext cx="81375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a:t>The loss of luminance resolution is less pronounced in areas of saturated green and more pronounced in saturated blue because of the relative contributions made by the colour separation signals to the luminance signa</a:t>
            </a:r>
          </a:p>
        </p:txBody>
      </p:sp>
      <p:sp>
        <p:nvSpPr>
          <p:cNvPr id="26630" name="Text Box 4"/>
          <p:cNvSpPr txBox="1">
            <a:spLocks noChangeArrowheads="1"/>
          </p:cNvSpPr>
          <p:nvPr/>
        </p:nvSpPr>
        <p:spPr bwMode="auto">
          <a:xfrm>
            <a:off x="395288" y="331788"/>
            <a:ext cx="3394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sz="2400" b="1"/>
              <a:t>PAL  Colour Encoding</a:t>
            </a:r>
          </a:p>
        </p:txBody>
      </p:sp>
      <p:sp>
        <p:nvSpPr>
          <p:cNvPr id="26631" name="Rectangle 6"/>
          <p:cNvSpPr>
            <a:spLocks noChangeArrowheads="1"/>
          </p:cNvSpPr>
          <p:nvPr/>
        </p:nvSpPr>
        <p:spPr bwMode="auto">
          <a:xfrm>
            <a:off x="2124075" y="2492375"/>
            <a:ext cx="6480175" cy="280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Lucida Sans Unicode" panose="020B0602030504020204" pitchFamily="34" charset="0"/>
              </a:defRPr>
            </a:lvl1pPr>
            <a:lvl2pPr marL="742950" indent="-285750">
              <a:defRPr sz="1600">
                <a:solidFill>
                  <a:schemeClr val="tx1"/>
                </a:solidFill>
                <a:latin typeface="Lucida Sans Unicode" panose="020B0602030504020204" pitchFamily="34" charset="0"/>
              </a:defRPr>
            </a:lvl2pPr>
            <a:lvl3pPr marL="1143000" indent="-228600">
              <a:defRPr sz="1600">
                <a:solidFill>
                  <a:schemeClr val="tx1"/>
                </a:solidFill>
                <a:latin typeface="Lucida Sans Unicode" panose="020B0602030504020204" pitchFamily="34" charset="0"/>
              </a:defRPr>
            </a:lvl3pPr>
            <a:lvl4pPr marL="1600200" indent="-228600">
              <a:defRPr sz="1600">
                <a:solidFill>
                  <a:schemeClr val="tx1"/>
                </a:solidFill>
                <a:latin typeface="Lucida Sans Unicode" panose="020B0602030504020204" pitchFamily="34" charset="0"/>
              </a:defRPr>
            </a:lvl4pPr>
            <a:lvl5pPr marL="2057400" indent="-228600">
              <a:defRPr sz="1600">
                <a:solidFill>
                  <a:schemeClr val="tx1"/>
                </a:solidFill>
                <a:latin typeface="Lucida Sans Unicode" panose="020B0602030504020204" pitchFamily="34" charset="0"/>
              </a:defRPr>
            </a:lvl5pPr>
            <a:lvl6pPr marL="2514600" indent="-228600" eaLnBrk="0" fontAlgn="base" hangingPunct="0">
              <a:spcBef>
                <a:spcPct val="0"/>
              </a:spcBef>
              <a:spcAft>
                <a:spcPct val="0"/>
              </a:spcAft>
              <a:defRPr sz="1600">
                <a:solidFill>
                  <a:schemeClr val="tx1"/>
                </a:solidFill>
                <a:latin typeface="Lucida Sans Unicode" panose="020B0602030504020204" pitchFamily="34" charset="0"/>
              </a:defRPr>
            </a:lvl6pPr>
            <a:lvl7pPr marL="2971800" indent="-228600" eaLnBrk="0" fontAlgn="base" hangingPunct="0">
              <a:spcBef>
                <a:spcPct val="0"/>
              </a:spcBef>
              <a:spcAft>
                <a:spcPct val="0"/>
              </a:spcAft>
              <a:defRPr sz="1600">
                <a:solidFill>
                  <a:schemeClr val="tx1"/>
                </a:solidFill>
                <a:latin typeface="Lucida Sans Unicode" panose="020B0602030504020204" pitchFamily="34" charset="0"/>
              </a:defRPr>
            </a:lvl7pPr>
            <a:lvl8pPr marL="3429000" indent="-228600" eaLnBrk="0" fontAlgn="base" hangingPunct="0">
              <a:spcBef>
                <a:spcPct val="0"/>
              </a:spcBef>
              <a:spcAft>
                <a:spcPct val="0"/>
              </a:spcAft>
              <a:defRPr sz="1600">
                <a:solidFill>
                  <a:schemeClr val="tx1"/>
                </a:solidFill>
                <a:latin typeface="Lucida Sans Unicode" panose="020B0602030504020204" pitchFamily="34" charset="0"/>
              </a:defRPr>
            </a:lvl8pPr>
            <a:lvl9pPr marL="3886200" indent="-228600" eaLnBrk="0" fontAlgn="base" hangingPunct="0">
              <a:spcBef>
                <a:spcPct val="0"/>
              </a:spcBef>
              <a:spcAft>
                <a:spcPct val="0"/>
              </a:spcAft>
              <a:defRPr sz="1600">
                <a:solidFill>
                  <a:schemeClr val="tx1"/>
                </a:solidFill>
                <a:latin typeface="Lucida Sans Unicode" panose="020B0602030504020204" pitchFamily="34" charset="0"/>
              </a:defRPr>
            </a:lvl9pPr>
          </a:lstStyle>
          <a:p>
            <a:r>
              <a:rPr lang="en-GB" altLang="en-US"/>
              <a:t>This sequence of screenshots shows the two sections of multiburst as a black-and-white signal...</a:t>
            </a:r>
          </a:p>
          <a:p>
            <a:endParaRPr lang="en-GB" altLang="en-US"/>
          </a:p>
          <a:p>
            <a:endParaRPr lang="en-GB" altLang="en-US"/>
          </a:p>
          <a:p>
            <a:endParaRPr lang="en-GB" altLang="en-US"/>
          </a:p>
          <a:p>
            <a:r>
              <a:rPr lang="en-GB" altLang="en-US"/>
              <a:t>..as a signal in the red channel only as displayed on an RGB monitor before encoding...</a:t>
            </a:r>
          </a:p>
          <a:p>
            <a:endParaRPr lang="en-GB" altLang="en-US"/>
          </a:p>
          <a:p>
            <a:endParaRPr lang="en-GB" altLang="en-US"/>
          </a:p>
          <a:p>
            <a:endParaRPr lang="en-GB" altLang="en-US"/>
          </a:p>
          <a:p>
            <a:r>
              <a:rPr lang="en-GB" altLang="en-US"/>
              <a:t>..and as displayed after decoding.</a:t>
            </a:r>
          </a:p>
        </p:txBody>
      </p:sp>
    </p:spTree>
    <p:extLst>
      <p:ext uri="{BB962C8B-B14F-4D97-AF65-F5344CB8AC3E}">
        <p14:creationId xmlns:p14="http://schemas.microsoft.com/office/powerpoint/2010/main" val="1169821690"/>
      </p:ext>
    </p:extLst>
  </p:cSld>
  <p:clrMapOvr>
    <a:masterClrMapping/>
  </p:clrMapOvr>
</p:sld>
</file>

<file path=ppt/theme/theme1.xml><?xml version="1.0" encoding="utf-8"?>
<a:theme xmlns:a="http://schemas.openxmlformats.org/drawingml/2006/main" name="Template">
  <a:themeElements>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plate">
      <a:majorFont>
        <a:latin typeface="Lucida Sans Unicode"/>
        <a:ea typeface=""/>
        <a:cs typeface=""/>
      </a:majorFont>
      <a:minorFont>
        <a:latin typeface="Lucida Sans Unicod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lnDef>
  </a:objectDefaults>
  <a:extraClrSchemeLst>
    <a:extraClrScheme>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3053</TotalTime>
  <Words>3149</Words>
  <Application>Microsoft Office PowerPoint</Application>
  <PresentationFormat>On-screen Show (4:3)</PresentationFormat>
  <Paragraphs>490</Paragraphs>
  <Slides>46</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46</vt:i4>
      </vt:variant>
    </vt:vector>
  </HeadingPairs>
  <TitlesOfParts>
    <vt:vector size="51" baseType="lpstr">
      <vt:lpstr>Arial</vt:lpstr>
      <vt:lpstr>Lucida Sans Unicode</vt:lpstr>
      <vt:lpstr>Open Sans</vt:lpstr>
      <vt:lpstr>Template</vt:lpstr>
      <vt:lpstr>Custom Design</vt:lpstr>
      <vt:lpstr>PowerPoint Presentation</vt:lpstr>
      <vt:lpstr>PowerPoint Presentation</vt:lpstr>
      <vt:lpstr>PowerPoint Presentation</vt:lpstr>
      <vt:lpstr>Amplitude Modulation </vt:lpstr>
      <vt:lpstr>Frequency Modulation </vt:lpstr>
      <vt:lpstr>PowerPoint Presentation</vt:lpstr>
      <vt:lpstr>PowerPoint Presentation</vt:lpstr>
      <vt:lpstr>PAL-B Spectrum</vt:lpstr>
      <vt:lpstr>PAL-B Spectrum</vt:lpstr>
      <vt:lpstr>PAL-B Spectrum</vt:lpstr>
      <vt:lpstr>PowerPoint Presentation</vt:lpstr>
      <vt:lpstr>FM Sound Emphasis</vt:lpstr>
      <vt:lpstr>TV Modulation – AM; Min 20%</vt:lpstr>
      <vt:lpstr>The Analogue Video Signal</vt:lpstr>
      <vt:lpstr>TV Modulation – PAL, AM</vt:lpstr>
      <vt:lpstr>PowerPoint Presentation</vt:lpstr>
      <vt:lpstr>Video Timing</vt:lpstr>
      <vt:lpstr>Colour Sub Carrier</vt:lpstr>
      <vt:lpstr>Adding Colour to B&amp;W Video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JFoss</dc:creator>
  <cp:lastModifiedBy>Jeremy Foss</cp:lastModifiedBy>
  <cp:revision>226</cp:revision>
  <cp:lastPrinted>2019-05-13T07:46:45Z</cp:lastPrinted>
  <dcterms:created xsi:type="dcterms:W3CDTF">2006-09-10T21:25:56Z</dcterms:created>
  <dcterms:modified xsi:type="dcterms:W3CDTF">2021-05-07T07:58:32Z</dcterms:modified>
</cp:coreProperties>
</file>