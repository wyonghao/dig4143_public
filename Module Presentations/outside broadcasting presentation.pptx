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67" r:id="rId8"/>
    <p:sldId id="263" r:id="rId9"/>
    <p:sldId id="259" r:id="rId10"/>
    <p:sldId id="266" r:id="rId11"/>
    <p:sldId id="260" r:id="rId12"/>
    <p:sldId id="261" r:id="rId13"/>
    <p:sldId id="262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E952A-A413-48A5-9CE5-16335183602C}" v="1375" dt="2021-06-10T18:17:16.955"/>
    <p1510:client id="{6D014D7D-A8BC-4D5F-B423-15542725EC18}" v="108" dt="2021-06-11T08:05:53.055"/>
    <p1510:client id="{872947F7-CDA6-4F1B-AE75-15E73A17648B}" v="36" dt="2021-06-04T10:15:55.702"/>
    <p1510:client id="{A1C3138F-DDDD-49AD-A714-52075CC01F51}" v="88" dt="2021-06-10T21:41:09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B9BC-5930-4378-9488-FA82B3CB3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881837-9B67-45F8-91E0-44B0BCFE6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99D7E-5BF5-4798-AFCD-63F77859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30015-8460-4D60-BE9C-68AE9E11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0C0D-5C10-4379-8F97-AD47DCF2A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29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FA89-986C-49E0-9CBB-A93DBE50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41D4D-494A-431B-9EAE-00C955B17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56646-7D6F-4025-943E-8C5144D4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6E436-E4DB-44AF-B6F6-B6A0B530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BF32F-3916-4F23-B87A-48D0376FE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4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3A0D-31F1-4452-96A4-5905506F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558C0-C5F3-4F58-85B7-3D4425657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362A5-2C51-4B7A-8FC2-D8633381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A9277-D8F3-4215-9C5F-E3E45554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B508-3E28-47F8-94CE-E8BAB339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137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ADB6-C28E-4183-B630-85C4025FD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B344-CB68-4D57-9D96-6D1F196B5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07599-DDE0-4BB5-8EC9-9242B1EBD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CB812-5EF3-4B46-B37D-D48BF044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CCCCC-A3AC-4092-A17A-57BD73C2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E8BE7-0238-4A57-BB82-9777C96DD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53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CE79C-BDCC-4A0A-A5AF-0112C0637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D709D-A63D-44A9-ABA5-257BBDA94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DB04D-E726-434C-B1EA-09CDCFE28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09CD0-F583-4FEE-9F54-75BEF0189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A307F-E621-45BA-ACDD-91A44688F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CB621-2B09-4976-8841-E98705DB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C4CAE-44B4-4FB7-8D75-65886296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2D727-D218-4269-B5BD-D29E3201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66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39768-120E-436C-BE41-7C231C30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0CA5F-1274-4297-A64E-B0133A0F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56705-A20F-4AC3-9B7F-C7F981C5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17627-EBEA-4908-919E-423A70FE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7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7A6AF-3FDA-4364-AECD-7F47A105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F041C-129B-41E5-A836-0E68A108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C4696-40AF-4545-9F67-D65006757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02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1B9A7-8875-4C37-BEF4-26EAFD9AC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3D2E-4877-4BC0-8AF0-9800F2E1C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8ABDF-9F58-4E09-8827-B07769CF3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260F1-E896-4F6E-A6F8-6949DA684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B934F-6308-45BB-A385-4062F76C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2A8C3-6085-4DD6-B276-EAE0140D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54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8309-76AD-4B32-B8F2-5B575AA58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C1ED27-6EEE-416E-B89A-7977D67E1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2DE56-12BE-447A-AF02-599BE88AA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A43DD-0369-4F8B-ADAA-C72C8CF5A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E989-75ED-49BB-88BA-4AE8FEB0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E276-1E86-4E49-8C16-5F34295FE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45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71B7-29F8-46CA-985F-C6B8F0DF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2C3F0-185A-448B-A88F-851CD2390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67A6B-8602-44E1-B3DE-A34F5A27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72025-2358-4549-9531-FB57D9B7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7477E-6594-4D1F-AC3A-17B92380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28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5B10C-BBF4-48AF-B796-A4E318AA6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F0AD1-5550-4630-A266-E5993FC66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750F2-1C88-4ECE-A685-15EC695B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D3AEB-9A66-48DA-9887-76E31756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9CDEE-DF08-40BB-94DA-A640459E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54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D9173-8793-4C1A-BC35-DE6560ED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056EB-ED58-4D93-AB89-837F93C3F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1AB63-A19C-447C-8BBE-653B4C09F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F3CAE-638D-4315-836E-A05756CAB4CF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56FF7-6CF4-4724-8C0B-21A56EA70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F2718-8261-4E17-BFCC-A87C8C964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52958-B091-41A8-878A-6D8299AB12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75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epgroup.co.uk/project/ip-solutions-part-4-ip-enabled-ob-trucks-flypacks-in-the-uk" TargetMode="External"/><Relationship Id="rId13" Type="http://schemas.openxmlformats.org/officeDocument/2006/relationships/hyperlink" Target="https://www.generatorhire.uk.com/outside-broadcast" TargetMode="External"/><Relationship Id="rId3" Type="http://schemas.openxmlformats.org/officeDocument/2006/relationships/hyperlink" Target="https://www.bbc.co.uk/blogs/genome/entries/5874fb19-fb44-4d9e-8de4-8984c077b0d4" TargetMode="External"/><Relationship Id="rId7" Type="http://schemas.openxmlformats.org/officeDocument/2006/relationships/hyperlink" Target="https://newsroom.bt.com/bt-sport-and-samsung-deliver-first-ever-live-8k-sports-broadcast-in-the-uk/" TargetMode="External"/><Relationship Id="rId12" Type="http://schemas.openxmlformats.org/officeDocument/2006/relationships/hyperlink" Target="https://www.essentialsupplies.co.uk/blog/what-is-a-power-distribution-unit-and-why-do-i-need-one/" TargetMode="External"/><Relationship Id="rId2" Type="http://schemas.openxmlformats.org/officeDocument/2006/relationships/hyperlink" Target="https://www.digitalstudiome.com/article-7102-outside-broadcast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ybroadband.co.za/news/broadcasting/310315-how-supersport-broadcasts-sport-behind-the-scenes.html" TargetMode="External"/><Relationship Id="rId11" Type="http://schemas.openxmlformats.org/officeDocument/2006/relationships/hyperlink" Target="https://www.rubberbox.co.uk/blog/rubber-box-outside-broadcasts-corporate-events/" TargetMode="External"/><Relationship Id="rId5" Type="http://schemas.openxmlformats.org/officeDocument/2006/relationships/hyperlink" Target="https://www.mediaandbroadcast.bt.com/news-and-events/news/project-restart.html" TargetMode="External"/><Relationship Id="rId10" Type="http://schemas.openxmlformats.org/officeDocument/2006/relationships/hyperlink" Target="https://electronics.howstuffworks.com/dtv3.htm" TargetMode="External"/><Relationship Id="rId4" Type="http://schemas.openxmlformats.org/officeDocument/2006/relationships/hyperlink" Target="https://download.projectandmaterials.com/outside-broadcasting" TargetMode="External"/><Relationship Id="rId9" Type="http://schemas.openxmlformats.org/officeDocument/2006/relationships/hyperlink" Target="https://www.telecomtv.com/content/news/ee-kicks-off-its-5g-era-with-a-live-5g-enabled-outside-broadcast-353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text, indoor, colorful&#10;&#10;Description automatically generated">
            <a:extLst>
              <a:ext uri="{FF2B5EF4-FFF2-40B4-BE49-F238E27FC236}">
                <a16:creationId xmlns:a16="http://schemas.microsoft.com/office/drawing/2014/main" id="{9A09ECC8-FEE3-4972-9BBE-3EB9881995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l="28000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23ADF-61BD-4DA2-A37F-5E1AEAB6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1695576"/>
            <a:ext cx="8652938" cy="2857191"/>
          </a:xfrm>
        </p:spPr>
        <p:txBody>
          <a:bodyPr anchor="ctr">
            <a:normAutofit/>
          </a:bodyPr>
          <a:lstStyle/>
          <a:p>
            <a:r>
              <a:rPr lang="en-GB" sz="8000"/>
              <a:t>Outside Broadcasting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A5952-92A9-4CD5-A014-A4B856DD0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>
                <a:cs typeface="Calibri"/>
              </a:rPr>
              <a:t>Maria Wahab and </a:t>
            </a:r>
            <a:r>
              <a:rPr lang="en-GB" dirty="0"/>
              <a:t>Richard Ludford</a:t>
            </a:r>
          </a:p>
          <a:p>
            <a:endParaRPr lang="en-GB" dirty="0">
              <a:cs typeface="Calibri"/>
            </a:endParaRPr>
          </a:p>
          <a:p>
            <a:endParaRPr lang="en-GB" dirty="0"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380564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4F24-28E5-4085-811D-7C2638CE6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71211"/>
            <a:ext cx="10515600" cy="1325563"/>
          </a:xfrm>
        </p:spPr>
        <p:txBody>
          <a:bodyPr/>
          <a:lstStyle/>
          <a:p>
            <a:r>
              <a:rPr lang="en-GB" dirty="0"/>
              <a:t>What is OB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6002F-D757-43E6-83B7-DB402FD261FA}"/>
              </a:ext>
            </a:extLst>
          </p:cNvPr>
          <p:cNvSpPr txBox="1"/>
          <p:nvPr/>
        </p:nvSpPr>
        <p:spPr>
          <a:xfrm>
            <a:off x="4880111" y="1317172"/>
            <a:ext cx="71438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Outside Broadcasting (OB) is the production and transmission of outside-of-studio live events.</a:t>
            </a:r>
          </a:p>
          <a:p>
            <a:endParaRPr lang="en-GB" sz="2800" dirty="0"/>
          </a:p>
          <a:p>
            <a:r>
              <a:rPr lang="en-GB" sz="2800" dirty="0"/>
              <a:t>The First OB was the Coronation procession of King George VI and Queen Elizabeth in 1937.</a:t>
            </a:r>
          </a:p>
          <a:p>
            <a:endParaRPr lang="en-GB" sz="2800" dirty="0"/>
          </a:p>
          <a:p>
            <a:r>
              <a:rPr lang="en-GB" sz="2800" dirty="0"/>
              <a:t>Its now used in:</a:t>
            </a:r>
          </a:p>
          <a:p>
            <a:r>
              <a:rPr lang="en-GB" sz="2800" dirty="0"/>
              <a:t>	- Live sporting events</a:t>
            </a:r>
          </a:p>
          <a:p>
            <a:r>
              <a:rPr lang="en-GB" sz="2800" dirty="0"/>
              <a:t>	- Live news</a:t>
            </a:r>
          </a:p>
          <a:p>
            <a:r>
              <a:rPr lang="en-GB" sz="2800" dirty="0"/>
              <a:t>	- Special events, like royal weddings</a:t>
            </a:r>
          </a:p>
          <a:p>
            <a:r>
              <a:rPr lang="en-GB" sz="2800" dirty="0"/>
              <a:t>	- Live music festivals</a:t>
            </a:r>
          </a:p>
        </p:txBody>
      </p:sp>
      <p:pic>
        <p:nvPicPr>
          <p:cNvPr id="6" name="Picture 6" descr="A picture containing person&#10;&#10;Description automatically generated">
            <a:extLst>
              <a:ext uri="{FF2B5EF4-FFF2-40B4-BE49-F238E27FC236}">
                <a16:creationId xmlns:a16="http://schemas.microsoft.com/office/drawing/2014/main" id="{D6EF3044-732C-4575-BB86-5333D82D9D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00" t="-200" r="19027"/>
          <a:stretch/>
        </p:blipFill>
        <p:spPr>
          <a:xfrm>
            <a:off x="121003" y="728495"/>
            <a:ext cx="4532187" cy="567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79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20811-A528-4459-9291-C0FAA20A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r>
              <a:rPr lang="en-GB" sz="4000"/>
              <a:t>Overview of the OB 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A48FD-DC7E-49B3-BD26-01259C42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GB" sz="2000">
              <a:cs typeface="Calibri"/>
            </a:endParaRPr>
          </a:p>
          <a:p>
            <a:pPr algn="ctr"/>
            <a:endParaRPr lang="en-GB" sz="2000"/>
          </a:p>
        </p:txBody>
      </p:sp>
      <p:pic>
        <p:nvPicPr>
          <p:cNvPr id="7" name="Picture 7" descr="Diagram&#10;&#10;Description automatically generated">
            <a:extLst>
              <a:ext uri="{FF2B5EF4-FFF2-40B4-BE49-F238E27FC236}">
                <a16:creationId xmlns:a16="http://schemas.microsoft.com/office/drawing/2014/main" id="{A1EF1D34-6BD6-4FA6-9C35-7130758C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80" y="3379485"/>
            <a:ext cx="10515595" cy="2760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403A36-3472-491E-BC56-1309EAB7C04B}"/>
              </a:ext>
            </a:extLst>
          </p:cNvPr>
          <p:cNvSpPr txBox="1"/>
          <p:nvPr/>
        </p:nvSpPr>
        <p:spPr>
          <a:xfrm>
            <a:off x="496232" y="1361395"/>
            <a:ext cx="11023603" cy="19578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GB" sz="2800" dirty="0">
                <a:cs typeface="Calibri"/>
              </a:rPr>
              <a:t>Starts with the Camera </a:t>
            </a:r>
            <a:endParaRPr lang="en-GB" sz="2800">
              <a:cs typeface="Calibri"/>
            </a:endParaRP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GB" sz="2800" dirty="0">
                <a:cs typeface="Calibri"/>
              </a:rPr>
              <a:t>Camera feed goes into the OB truck, where edititing and stuff can happen – alternatively could be sent directly to the studio to be edited</a:t>
            </a:r>
          </a:p>
          <a:p>
            <a:pPr marL="457200" indent="-457200">
              <a:spcAft>
                <a:spcPts val="600"/>
              </a:spcAft>
              <a:buFont typeface="Arial"/>
              <a:buChar char="•"/>
            </a:pPr>
            <a:r>
              <a:rPr lang="en-GB" sz="2800" dirty="0">
                <a:cs typeface="Calibri"/>
              </a:rPr>
              <a:t>Feed sent to studio, generally via satellite or fibre</a:t>
            </a:r>
          </a:p>
        </p:txBody>
      </p:sp>
    </p:spTree>
    <p:extLst>
      <p:ext uri="{BB962C8B-B14F-4D97-AF65-F5344CB8AC3E}">
        <p14:creationId xmlns:p14="http://schemas.microsoft.com/office/powerpoint/2010/main" val="3074423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B3C0-F94C-43A3-A068-15F186F0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 Light"/>
              </a:rPr>
              <a:t>How is data transmitted?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9E61C-C4CB-4F54-A858-4F2066CE8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63807" cy="37075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Broadcasters use MPEG-2 compression on audio and visual signals before transmitting the digital signals </a:t>
            </a:r>
            <a:endParaRPr lang="en-GB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Each broadcaster has one digital TV channel which can stream at 19.39Mbps</a:t>
            </a:r>
            <a:endParaRPr lang="en-GB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Broadcasters typically will divide this up into three or four sub-channels</a:t>
            </a:r>
            <a:endParaRPr lang="en-GB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Prime time television programs and sport can consume the entire 19.39Mbps to give greater picture quality</a:t>
            </a:r>
            <a:endParaRPr lang="en-GB">
              <a:ea typeface="+mn-lt"/>
              <a:cs typeface="+mn-lt"/>
            </a:endParaRPr>
          </a:p>
          <a:p>
            <a:endParaRPr lang="en-GB" dirty="0">
              <a:cs typeface="Calibri"/>
            </a:endParaRPr>
          </a:p>
        </p:txBody>
      </p:sp>
      <p:pic>
        <p:nvPicPr>
          <p:cNvPr id="4" name="Picture 4" descr="Icon&#10;&#10;Description automatically generated">
            <a:extLst>
              <a:ext uri="{FF2B5EF4-FFF2-40B4-BE49-F238E27FC236}">
                <a16:creationId xmlns:a16="http://schemas.microsoft.com/office/drawing/2014/main" id="{F2B27EFD-9E50-4DCF-AFBC-9641EAF45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986" y="4838499"/>
            <a:ext cx="3084786" cy="173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13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FC16-0855-4366-9DD6-C05775642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Equipment for OB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7258-2D7E-4E61-B0F4-29C83390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15"/>
            <a:ext cx="10515600" cy="5113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In outside broadcast much of the same equipment as studio broadcast is used</a:t>
            </a:r>
            <a:endParaRPr lang="en-GB" dirty="0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Some of the equipment includes:</a:t>
            </a:r>
            <a:endParaRPr lang="en-GB"/>
          </a:p>
          <a:p>
            <a:r>
              <a:rPr lang="en-US">
                <a:ea typeface="+mn-lt"/>
                <a:cs typeface="+mn-lt"/>
              </a:rPr>
              <a:t>Audio mixer – combines multiple audio signals from different microphones into a common output</a:t>
            </a:r>
            <a:endParaRPr lang="en-GB"/>
          </a:p>
          <a:p>
            <a:r>
              <a:rPr lang="en-US">
                <a:ea typeface="+mn-lt"/>
                <a:cs typeface="+mn-lt"/>
              </a:rPr>
              <a:t>Video mixer – used during live events where multiple video sources need to be mixed in real time</a:t>
            </a:r>
            <a:endParaRPr lang="en-GB"/>
          </a:p>
          <a:p>
            <a:r>
              <a:rPr lang="en-US">
                <a:ea typeface="+mn-lt"/>
                <a:cs typeface="+mn-lt"/>
              </a:rPr>
              <a:t>Modulator – modifies the wave to transmit over larger distances</a:t>
            </a:r>
            <a:endParaRPr lang="en-GB"/>
          </a:p>
          <a:p>
            <a:r>
              <a:rPr lang="en-US">
                <a:ea typeface="+mn-lt"/>
                <a:cs typeface="+mn-lt"/>
              </a:rPr>
              <a:t>Digital TV transmitter –  carrying video signal</a:t>
            </a:r>
            <a:endParaRPr lang="en-GB"/>
          </a:p>
          <a:p>
            <a:r>
              <a:rPr lang="en-US">
                <a:ea typeface="+mn-lt"/>
                <a:cs typeface="+mn-lt"/>
              </a:rPr>
              <a:t>Routing – used for selecting a path for signals</a:t>
            </a:r>
            <a:endParaRPr lang="en-GB"/>
          </a:p>
          <a:p>
            <a:r>
              <a:rPr lang="en-US">
                <a:ea typeface="+mn-lt"/>
                <a:cs typeface="+mn-lt"/>
              </a:rPr>
              <a:t>Media servers – used to store graphics and clips to be inserted into the broadcast</a:t>
            </a:r>
            <a:endParaRPr lang="en-GB"/>
          </a:p>
          <a:p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588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3B03-7C9B-46F4-8A6B-5723F020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Calibri Light"/>
              </a:rPr>
              <a:t>Production trucks</a:t>
            </a:r>
            <a:endParaRPr lang="en-GB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7E914-E385-4B7C-BE0E-55293404C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6" y="2052863"/>
            <a:ext cx="5181601" cy="33205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cs typeface="Calibri"/>
              </a:rPr>
              <a:t>They’ve been around since the beginning of outside broadcasting</a:t>
            </a:r>
            <a:endParaRPr lang="en-GB" dirty="0"/>
          </a:p>
          <a:p>
            <a:r>
              <a:rPr lang="en-GB" dirty="0">
                <a:cs typeface="Calibri" panose="020F0502020204030204"/>
              </a:rPr>
              <a:t>Used when something is being produced outside of the studio</a:t>
            </a:r>
          </a:p>
          <a:p>
            <a:pPr marL="0" indent="0">
              <a:buNone/>
            </a:pPr>
            <a:endParaRPr lang="en-GB" dirty="0">
              <a:cs typeface="Calibri" panose="020F0502020204030204"/>
            </a:endParaRPr>
          </a:p>
          <a:p>
            <a:pPr marL="0" indent="0">
              <a:buNone/>
            </a:pPr>
            <a:endParaRPr lang="en-GB" dirty="0">
              <a:cs typeface="Calibri" panose="020F0502020204030204"/>
            </a:endParaRPr>
          </a:p>
        </p:txBody>
      </p:sp>
      <p:pic>
        <p:nvPicPr>
          <p:cNvPr id="4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84895FF6-01B1-44EA-89B9-7CA94139A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36" r="11451" b="-200"/>
          <a:stretch/>
        </p:blipFill>
        <p:spPr>
          <a:xfrm>
            <a:off x="6093619" y="501301"/>
            <a:ext cx="5853209" cy="598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45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FECCE-0EE5-4FF5-BDE1-149C027F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831" y="-203390"/>
            <a:ext cx="4840010" cy="1807305"/>
          </a:xfrm>
        </p:spPr>
        <p:txBody>
          <a:bodyPr>
            <a:normAutofit/>
          </a:bodyPr>
          <a:lstStyle/>
          <a:p>
            <a:r>
              <a:rPr lang="en-GB">
                <a:ea typeface="+mj-lt"/>
                <a:cs typeface="+mj-lt"/>
              </a:rPr>
              <a:t>Production trucks</a:t>
            </a:r>
          </a:p>
        </p:txBody>
      </p:sp>
      <p:pic>
        <p:nvPicPr>
          <p:cNvPr id="4" name="Picture 4" descr="A picture containing text, indoor, computer, person&#10;&#10;Description automatically generated">
            <a:extLst>
              <a:ext uri="{FF2B5EF4-FFF2-40B4-BE49-F238E27FC236}">
                <a16:creationId xmlns:a16="http://schemas.microsoft.com/office/drawing/2014/main" id="{7365EB87-6180-48A0-B0D5-2D8740EE6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03" r="26213" b="1"/>
          <a:stretch/>
        </p:blipFill>
        <p:spPr>
          <a:xfrm>
            <a:off x="-245787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AEF1-4D31-42CD-B7F6-0AB6CDE68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829" y="1297750"/>
            <a:ext cx="5651171" cy="44213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+mn-lt"/>
                <a:cs typeface="+mn-lt"/>
              </a:rPr>
              <a:t>Typically split into 5 sections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Production – the programme is produced, computer graphics are added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Sound – Audio is edited 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VTR – Records the output, used for replays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Racks/ engineering – in charge of looking after anything technical</a:t>
            </a:r>
          </a:p>
          <a:p>
            <a:pPr lvl="1"/>
            <a:r>
              <a:rPr lang="en-GB" sz="2800" dirty="0">
                <a:ea typeface="+mn-lt"/>
                <a:cs typeface="+mn-lt"/>
              </a:rPr>
              <a:t>Transmission – data is transmitted to the station, either through fibre or satellite link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4066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C727-A1C4-4DD9-9A80-C57192E55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of OB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9E13D-FCF9-47E3-8B52-8BEC1986044B}"/>
              </a:ext>
            </a:extLst>
          </p:cNvPr>
          <p:cNvSpPr txBox="1"/>
          <p:nvPr/>
        </p:nvSpPr>
        <p:spPr>
          <a:xfrm>
            <a:off x="431427" y="1717208"/>
            <a:ext cx="724177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The weather and environment – equipment could get damaged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Electrical requirements – broadcasting requires a lot of energy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Lighting – Needed for good video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Cabling – cables can get very long – needs to be properly installed and right for the job.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Efficiency – everything needs to be done in a safe and timely manner.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3" name="Picture 5" descr="A picture containing outdoor, grass&#10;&#10;Description automatically generated">
            <a:extLst>
              <a:ext uri="{FF2B5EF4-FFF2-40B4-BE49-F238E27FC236}">
                <a16:creationId xmlns:a16="http://schemas.microsoft.com/office/drawing/2014/main" id="{2A0AF9F0-EA9D-4527-B386-C3C977BE1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3" t="-6721" r="48462" b="13713"/>
          <a:stretch/>
        </p:blipFill>
        <p:spPr>
          <a:xfrm>
            <a:off x="7981611" y="944888"/>
            <a:ext cx="4010884" cy="49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1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3A91-1606-42DD-A1AE-5926B8B4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A2D48-873A-4818-A6B5-27D91ABC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66959" cy="452386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Outside broadcasts have lots of equipment that needs a power supply</a:t>
            </a:r>
            <a:endParaRPr lang="en-GB" dirty="0"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Due to the nature of outside broadcasts the power supply they use needs to be relatively small and portable</a:t>
            </a:r>
            <a:endParaRPr lang="en-GB"/>
          </a:p>
          <a:p>
            <a:r>
              <a:rPr lang="en-US">
                <a:ea typeface="+mn-lt"/>
                <a:cs typeface="+mn-lt"/>
              </a:rPr>
              <a:t>This can be done using a local power source connected to a power distribution box which connects to all the equipment requiring power</a:t>
            </a:r>
            <a:endParaRPr lang="en-GB"/>
          </a:p>
          <a:p>
            <a:r>
              <a:rPr lang="en-US">
                <a:ea typeface="+mn-lt"/>
                <a:cs typeface="+mn-lt"/>
              </a:rPr>
              <a:t>Outside broadcasts in remote areas can use portable generators of different sizes to provide power if no local source is available</a:t>
            </a:r>
            <a:endParaRPr lang="en-GB"/>
          </a:p>
          <a:p>
            <a:endParaRPr lang="en-GB" dirty="0"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F7FF46A-2A4A-41F6-B70F-237CA8D6F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027" y="816733"/>
            <a:ext cx="2743200" cy="2743200"/>
          </a:xfrm>
          <a:prstGeom prst="rect">
            <a:avLst/>
          </a:prstGeom>
        </p:spPr>
      </p:pic>
      <p:pic>
        <p:nvPicPr>
          <p:cNvPr id="5" name="Picture 5" descr="A picture containing sky, outdoor, red&#10;&#10;Description automatically generated">
            <a:extLst>
              <a:ext uri="{FF2B5EF4-FFF2-40B4-BE49-F238E27FC236}">
                <a16:creationId xmlns:a16="http://schemas.microsoft.com/office/drawing/2014/main" id="{71EF0714-80F7-4024-AF0E-B528389BE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228" y="3568262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99A84-E2FE-4C68-97C8-EBF2CA085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en-GB" sz="4100"/>
              <a:t>Things that are changing in outside broadcasting</a:t>
            </a:r>
            <a:endParaRPr lang="en-GB" sz="4100">
              <a:cs typeface="Calibri Ligh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888BB1B-C21B-4900-8D77-89C62CBFAC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466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381A-B04B-4D71-ADC8-4E6B0DE97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 dirty="0"/>
              <a:t>Satellite is becoming less popular, with fibre being used more</a:t>
            </a:r>
          </a:p>
          <a:p>
            <a:r>
              <a:rPr lang="en-GB" sz="2000" dirty="0"/>
              <a:t>Better technology leading to faster speeds, and higher quality images, like the 8k rugby game</a:t>
            </a:r>
            <a:endParaRPr lang="en-GB" sz="2000" dirty="0">
              <a:cs typeface="Calibri"/>
            </a:endParaRPr>
          </a:p>
          <a:p>
            <a:r>
              <a:rPr lang="en-GB" sz="2000" dirty="0">
                <a:cs typeface="Calibri"/>
              </a:rPr>
              <a:t>Increasing use of IP in the transmission workflow</a:t>
            </a:r>
          </a:p>
          <a:p>
            <a:r>
              <a:rPr lang="en-GB" sz="2000" dirty="0">
                <a:cs typeface="Calibri"/>
              </a:rPr>
              <a:t>Possibility of using 5G to streamline the video streaming process</a:t>
            </a:r>
          </a:p>
        </p:txBody>
      </p:sp>
    </p:spTree>
    <p:extLst>
      <p:ext uri="{BB962C8B-B14F-4D97-AF65-F5344CB8AC3E}">
        <p14:creationId xmlns:p14="http://schemas.microsoft.com/office/powerpoint/2010/main" val="25483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A1881-E9E1-4716-B629-2DCC992F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88304-4BDF-4971-B1C7-B4870324B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 sz="1800" dirty="0">
                <a:hlinkClick r:id="rId2"/>
              </a:rPr>
              <a:t>https://www.digitalstudiome.com/article-7102-outside-broadcasting</a:t>
            </a:r>
            <a:endParaRPr lang="en-GB" sz="1800">
              <a:cs typeface="Calibri" panose="020F0502020204030204"/>
            </a:endParaRPr>
          </a:p>
          <a:p>
            <a:r>
              <a:rPr lang="en-GB" sz="1800" dirty="0">
                <a:hlinkClick r:id="rId3"/>
              </a:rPr>
              <a:t>https://www.bbc.co.uk/blogs/genome/entries/5874fb19-fb44-4d9e-8de4-8984c077b0d4</a:t>
            </a:r>
            <a:r>
              <a:rPr lang="en-GB" sz="1800" dirty="0"/>
              <a:t> </a:t>
            </a:r>
            <a:endParaRPr lang="en-GB" sz="1800" dirty="0">
              <a:cs typeface="Calibri"/>
            </a:endParaRPr>
          </a:p>
          <a:p>
            <a:r>
              <a:rPr lang="en-GB" sz="1800" dirty="0">
                <a:ea typeface="+mn-lt"/>
                <a:cs typeface="+mn-lt"/>
                <a:hlinkClick r:id="rId4"/>
              </a:rPr>
              <a:t>https://download.projectandmaterials.com/outside-broadcasting</a:t>
            </a:r>
            <a:r>
              <a:rPr lang="en-GB" sz="1800" dirty="0">
                <a:ea typeface="+mn-lt"/>
                <a:cs typeface="+mn-lt"/>
              </a:rPr>
              <a:t> </a:t>
            </a:r>
          </a:p>
          <a:p>
            <a:r>
              <a:rPr lang="en-GB" sz="1800" dirty="0">
                <a:ea typeface="+mn-lt"/>
                <a:cs typeface="+mn-lt"/>
                <a:hlinkClick r:id="rId5"/>
              </a:rPr>
              <a:t>https://www.mediaandbroadcast.bt.com/news-and-events/news/project-restart.html</a:t>
            </a:r>
            <a:r>
              <a:rPr lang="en-GB" sz="1800" dirty="0">
                <a:ea typeface="+mn-lt"/>
                <a:cs typeface="+mn-lt"/>
              </a:rPr>
              <a:t>  </a:t>
            </a:r>
          </a:p>
          <a:p>
            <a:r>
              <a:rPr lang="en-GB" sz="1800" dirty="0">
                <a:ea typeface="+mn-lt"/>
                <a:cs typeface="+mn-lt"/>
                <a:hlinkClick r:id="rId6"/>
              </a:rPr>
              <a:t>https://mybroadband.co.za/news/broadcasting/310315-how-supersport-broadcasts-sport-behind-the-scenes.html</a:t>
            </a:r>
            <a:r>
              <a:rPr lang="en-GB" sz="1800" dirty="0">
                <a:ea typeface="+mn-lt"/>
                <a:cs typeface="+mn-lt"/>
              </a:rPr>
              <a:t> </a:t>
            </a:r>
          </a:p>
          <a:p>
            <a:r>
              <a:rPr lang="en-GB" sz="1800" dirty="0">
                <a:ea typeface="+mn-lt"/>
                <a:cs typeface="+mn-lt"/>
                <a:hlinkClick r:id="rId7"/>
              </a:rPr>
              <a:t>https://newsroom.bt.com/bt-sport-and-samsung-deliver-first-ever-live-8k-sports-broadcast-in-the-uk/</a:t>
            </a:r>
            <a:r>
              <a:rPr lang="en-GB" sz="1800" dirty="0">
                <a:ea typeface="+mn-lt"/>
                <a:cs typeface="+mn-lt"/>
              </a:rPr>
              <a:t> </a:t>
            </a:r>
          </a:p>
          <a:p>
            <a:r>
              <a:rPr lang="en-GB" sz="1800" dirty="0">
                <a:ea typeface="+mn-lt"/>
                <a:cs typeface="+mn-lt"/>
                <a:hlinkClick r:id="rId8"/>
              </a:rPr>
              <a:t>https://www.nepgroup.co.uk/project/ip-solutions-part-4-ip-enabled-ob-trucks-flypacks-in-the-uk</a:t>
            </a:r>
            <a:r>
              <a:rPr lang="en-GB" sz="1800" dirty="0">
                <a:ea typeface="+mn-lt"/>
                <a:cs typeface="+mn-lt"/>
              </a:rPr>
              <a:t> </a:t>
            </a:r>
          </a:p>
          <a:p>
            <a:r>
              <a:rPr lang="en-GB" sz="1800" dirty="0">
                <a:ea typeface="+mn-lt"/>
                <a:cs typeface="+mn-lt"/>
                <a:hlinkClick r:id="rId9"/>
              </a:rPr>
              <a:t>https://www.telecomtv.com/content/news/ee-kicks-off-its-5g-era-with-a-live-5g-enabled-outside-broadcast-35320/</a:t>
            </a:r>
            <a:r>
              <a:rPr lang="en-GB" sz="1800" dirty="0">
                <a:ea typeface="+mn-lt"/>
                <a:cs typeface="+mn-lt"/>
              </a:rPr>
              <a:t> </a:t>
            </a:r>
          </a:p>
          <a:p>
            <a:r>
              <a:rPr lang="en-GB" sz="1800" dirty="0">
                <a:ea typeface="+mn-lt"/>
                <a:cs typeface="+mn-lt"/>
                <a:hlinkClick r:id="rId10"/>
              </a:rPr>
              <a:t>https://electronics.howstuffworks.com/dtv3.htm</a:t>
            </a:r>
          </a:p>
          <a:p>
            <a:r>
              <a:rPr lang="en-GB" sz="1800" dirty="0">
                <a:ea typeface="+mn-lt"/>
                <a:cs typeface="+mn-lt"/>
                <a:hlinkClick r:id="rId11"/>
              </a:rPr>
              <a:t>https://www.rubberbox.co.uk/blog/rubber-box-outside-broadcasts-corporate-events/</a:t>
            </a:r>
          </a:p>
          <a:p>
            <a:r>
              <a:rPr lang="en-GB" sz="1800" dirty="0">
                <a:ea typeface="+mn-lt"/>
                <a:cs typeface="+mn-lt"/>
                <a:hlinkClick r:id="rId12"/>
              </a:rPr>
              <a:t>https://www.essentialsupplies.co.uk/blog/what-is-a-power-distribution-unit-and-why-do-i-need-one/</a:t>
            </a:r>
          </a:p>
          <a:p>
            <a:r>
              <a:rPr lang="en-GB" sz="1800" dirty="0">
                <a:ea typeface="+mn-lt"/>
                <a:cs typeface="+mn-lt"/>
                <a:hlinkClick r:id="rId13"/>
              </a:rPr>
              <a:t>https://www.generatorhire.uk.com/outside-broadcast</a:t>
            </a:r>
          </a:p>
          <a:p>
            <a:endParaRPr lang="en-GB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GB" sz="1800" dirty="0">
              <a:ea typeface="+mn-lt"/>
              <a:cs typeface="+mn-lt"/>
            </a:endParaRPr>
          </a:p>
          <a:p>
            <a:endParaRPr lang="en-GB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6163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55EF55E74538478F699685E48B5F4A" ma:contentTypeVersion="12" ma:contentTypeDescription="Create a new document." ma:contentTypeScope="" ma:versionID="1279cc6c3ea3e740127fdd5aa2b8fd24">
  <xsd:schema xmlns:xsd="http://www.w3.org/2001/XMLSchema" xmlns:xs="http://www.w3.org/2001/XMLSchema" xmlns:p="http://schemas.microsoft.com/office/2006/metadata/properties" xmlns:ns3="f134d9a1-16ce-45c1-af03-b90d2a2ce8b5" xmlns:ns4="a629c318-28e9-4ba9-afc9-1a547d9beada" targetNamespace="http://schemas.microsoft.com/office/2006/metadata/properties" ma:root="true" ma:fieldsID="13a7b3a4491a893a6a9c4dd7ce36e6b1" ns3:_="" ns4:_="">
    <xsd:import namespace="f134d9a1-16ce-45c1-af03-b90d2a2ce8b5"/>
    <xsd:import namespace="a629c318-28e9-4ba9-afc9-1a547d9bea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34d9a1-16ce-45c1-af03-b90d2a2ce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9c318-28e9-4ba9-afc9-1a547d9bead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F4D820-C858-4D02-9D02-AD60940D9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34d9a1-16ce-45c1-af03-b90d2a2ce8b5"/>
    <ds:schemaRef ds:uri="a629c318-28e9-4ba9-afc9-1a547d9bea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8C568C-B34C-41ED-A19B-3A729FDCF6AB}">
  <ds:schemaRefs>
    <ds:schemaRef ds:uri="http://purl.org/dc/elements/1.1/"/>
    <ds:schemaRef ds:uri="http://schemas.microsoft.com/office/2006/metadata/properties"/>
    <ds:schemaRef ds:uri="a629c318-28e9-4ba9-afc9-1a547d9beada"/>
    <ds:schemaRef ds:uri="http://schemas.microsoft.com/office/infopath/2007/PartnerControls"/>
    <ds:schemaRef ds:uri="http://purl.org/dc/terms/"/>
    <ds:schemaRef ds:uri="http://purl.org/dc/dcmitype/"/>
    <ds:schemaRef ds:uri="f134d9a1-16ce-45c1-af03-b90d2a2ce8b5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8F24E7-CE12-49AA-B0F7-29809EA42B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Outside Broadcasting</vt:lpstr>
      <vt:lpstr>What is OB</vt:lpstr>
      <vt:lpstr>Overview of the OB process</vt:lpstr>
      <vt:lpstr>How is data transmitted?</vt:lpstr>
      <vt:lpstr>Equipment for OB</vt:lpstr>
      <vt:lpstr>Production trucks</vt:lpstr>
      <vt:lpstr>Production trucks</vt:lpstr>
      <vt:lpstr>Challenges of OB</vt:lpstr>
      <vt:lpstr>Power requirements</vt:lpstr>
      <vt:lpstr>Things that are changing in outside broadcasting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Outside Broadcasting</dc:title>
  <dc:creator>Maria Wahab</dc:creator>
  <cp:lastModifiedBy>Maria Wahab</cp:lastModifiedBy>
  <cp:revision>214</cp:revision>
  <dcterms:created xsi:type="dcterms:W3CDTF">2021-05-21T09:39:13Z</dcterms:created>
  <dcterms:modified xsi:type="dcterms:W3CDTF">2021-06-11T10:10:43Z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0x010100E855EF55E74538478F699685E48B5F4A</vt:lpwstr>
  </property>
</Properties>
</file>