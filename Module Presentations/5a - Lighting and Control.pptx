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60"/>
  </p:notesMasterIdLst>
  <p:handoutMasterIdLst>
    <p:handoutMasterId r:id="rId61"/>
  </p:handoutMasterIdLst>
  <p:sldIdLst>
    <p:sldId id="256" r:id="rId3"/>
    <p:sldId id="262" r:id="rId4"/>
    <p:sldId id="263" r:id="rId5"/>
    <p:sldId id="265" r:id="rId6"/>
    <p:sldId id="266" r:id="rId7"/>
    <p:sldId id="267" r:id="rId8"/>
    <p:sldId id="317" r:id="rId9"/>
    <p:sldId id="315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282" r:id="rId32"/>
    <p:sldId id="283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19" r:id="rId47"/>
    <p:sldId id="320" r:id="rId48"/>
    <p:sldId id="313" r:id="rId49"/>
    <p:sldId id="314" r:id="rId50"/>
    <p:sldId id="318" r:id="rId51"/>
    <p:sldId id="334" r:id="rId52"/>
    <p:sldId id="284" r:id="rId53"/>
    <p:sldId id="296" r:id="rId54"/>
    <p:sldId id="297" r:id="rId55"/>
    <p:sldId id="298" r:id="rId56"/>
    <p:sldId id="299" r:id="rId57"/>
    <p:sldId id="300" r:id="rId58"/>
    <p:sldId id="301" r:id="rId59"/>
  </p:sldIdLst>
  <p:sldSz cx="9144000" cy="6858000" type="screen4x3"/>
  <p:notesSz cx="6781800" cy="991235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9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2" userDrawn="1">
          <p15:clr>
            <a:srgbClr val="A4A3A4"/>
          </p15:clr>
        </p15:guide>
        <p15:guide id="2" pos="21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C66"/>
    <a:srgbClr val="800000"/>
    <a:srgbClr val="CCECFF"/>
    <a:srgbClr val="99CCFF"/>
    <a:srgbClr val="663300"/>
    <a:srgbClr val="99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288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26" y="138"/>
      </p:cViewPr>
      <p:guideLst>
        <p:guide orient="horz" pos="209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-1092" y="-72"/>
      </p:cViewPr>
      <p:guideLst>
        <p:guide orient="horz" pos="3122"/>
        <p:guide pos="21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61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theme" Target="theme/theme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7" Type="http://schemas.openxmlformats.org/officeDocument/2006/relationships/image" Target="../media/image17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1451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3C3D028-25B9-4121-A884-BE197334A0C7}" type="datetimeFigureOut">
              <a:rPr lang="en-US"/>
              <a:pPr>
                <a:defRPr/>
              </a:pPr>
              <a:t>4/18/2018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1451" y="941501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56F40E1-5359-4EF4-8355-D26491B788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3813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3020" y="0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42950"/>
            <a:ext cx="4956175" cy="37179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4240" y="4708366"/>
            <a:ext cx="4973320" cy="4460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3020" y="9416732"/>
            <a:ext cx="2938780" cy="49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56E7D1D-1809-4E30-BA78-0A4A83235A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9951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41D2EDC-42CC-4B11-B6D2-C27BE5E5A2BA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89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35ABE-30FD-463A-9989-0DFA981B7D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2210C-7AAC-4087-91C6-76757359108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8E880-6756-4821-A720-0808942B58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92839F-C6F7-4ACF-9ECE-D0FC57329E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DC1B55-6614-46ED-A6D6-4FAE5127E4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41EBFC-97B8-492A-B327-2F2B09AEB1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7EDDBC-657A-4B9C-A2E6-677DD44487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7D6439-E66D-4B3F-B2A4-56AA0FE6B1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771BF-BEF6-416F-A4B5-6EF79457BE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E7C4AC-A1B0-415A-87B1-0B50E49FF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77E8B2-CD2E-4392-9F77-F56E65D98F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0" y="6591300"/>
            <a:ext cx="19748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GB" sz="1200" dirty="0" err="1">
                <a:solidFill>
                  <a:srgbClr val="000066"/>
                </a:solidFill>
              </a:rPr>
              <a:t>jeremy.foss@bcu.ac.uk</a:t>
            </a:r>
            <a:endParaRPr lang="en-GB" sz="1200" dirty="0">
              <a:solidFill>
                <a:srgbClr val="000066"/>
              </a:solidFill>
            </a:endParaRPr>
          </a:p>
        </p:txBody>
      </p:sp>
      <p:sp>
        <p:nvSpPr>
          <p:cNvPr id="1035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" name="Rectangle 10"/>
          <p:cNvSpPr>
            <a:spLocks noChangeArrowheads="1"/>
          </p:cNvSpPr>
          <p:nvPr userDrawn="1"/>
        </p:nvSpPr>
        <p:spPr bwMode="auto">
          <a:xfrm>
            <a:off x="7219950" y="6591300"/>
            <a:ext cx="192405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GB" sz="1200" dirty="0">
                <a:solidFill>
                  <a:srgbClr val="000066"/>
                </a:solidFill>
              </a:rPr>
              <a:t>Jerry Foss, CEng, MIET</a:t>
            </a:r>
          </a:p>
        </p:txBody>
      </p:sp>
      <p:sp>
        <p:nvSpPr>
          <p:cNvPr id="11" name="Rectangle 9"/>
          <p:cNvSpPr>
            <a:spLocks noChangeArrowheads="1"/>
          </p:cNvSpPr>
          <p:nvPr userDrawn="1"/>
        </p:nvSpPr>
        <p:spPr bwMode="auto">
          <a:xfrm>
            <a:off x="2544763" y="6591300"/>
            <a:ext cx="4062412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1200">
                <a:solidFill>
                  <a:srgbClr val="000066"/>
                </a:solidFill>
              </a:rPr>
              <a:t>Broadcast Technology UG1</a:t>
            </a:r>
            <a:endParaRPr lang="en-GB" sz="1200" dirty="0">
              <a:solidFill>
                <a:srgbClr val="000066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73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B299E36-4D4F-4D5D-83EF-E6B6834447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7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3" Type="http://schemas.openxmlformats.org/officeDocument/2006/relationships/image" Target="../media/image61.png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gif"/><Relationship Id="rId2" Type="http://schemas.openxmlformats.org/officeDocument/2006/relationships/image" Target="../media/image6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d-professional.com/resources-1/articles/solving-the-phase-cut-dimming-challenge" TargetMode="External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gif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3075" name="Text Box 9"/>
          <p:cNvSpPr txBox="1">
            <a:spLocks noChangeArrowheads="1"/>
          </p:cNvSpPr>
          <p:nvPr/>
        </p:nvSpPr>
        <p:spPr bwMode="auto">
          <a:xfrm>
            <a:off x="395288" y="2111375"/>
            <a:ext cx="8561387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/>
              <a:t>Broadcast Technology UG1</a:t>
            </a:r>
            <a:endParaRPr lang="en-GB" sz="2400" dirty="0"/>
          </a:p>
          <a:p>
            <a:r>
              <a:rPr lang="en-GB" sz="2800"/>
              <a:t>##: </a:t>
            </a:r>
            <a:endParaRPr lang="en-GB" sz="2800" dirty="0"/>
          </a:p>
          <a:p>
            <a:r>
              <a:rPr lang="en-GB" sz="2800" b="1" dirty="0"/>
              <a:t>Lighting and its Control</a:t>
            </a:r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ChangeArrowheads="1"/>
          </p:cNvSpPr>
          <p:nvPr/>
        </p:nvSpPr>
        <p:spPr bwMode="auto">
          <a:xfrm>
            <a:off x="395288" y="331788"/>
            <a:ext cx="19018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 err="1"/>
              <a:t>Luminaires</a:t>
            </a:r>
            <a:r>
              <a:rPr lang="en-GB" sz="2400" b="1" dirty="0"/>
              <a:t> </a:t>
            </a:r>
          </a:p>
        </p:txBody>
      </p:sp>
      <p:sp>
        <p:nvSpPr>
          <p:cNvPr id="9219" name="Text Box 5"/>
          <p:cNvSpPr txBox="1">
            <a:spLocks noChangeArrowheads="1"/>
          </p:cNvSpPr>
          <p:nvPr/>
        </p:nvSpPr>
        <p:spPr bwMode="auto">
          <a:xfrm>
            <a:off x="395288" y="803275"/>
            <a:ext cx="2219325" cy="339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/>
              <a:t>Lantern, Instrument</a:t>
            </a:r>
          </a:p>
        </p:txBody>
      </p:sp>
      <p:sp>
        <p:nvSpPr>
          <p:cNvPr id="9220" name="Text Box 6"/>
          <p:cNvSpPr txBox="1">
            <a:spLocks noChangeArrowheads="1"/>
          </p:cNvSpPr>
          <p:nvPr/>
        </p:nvSpPr>
        <p:spPr bwMode="auto">
          <a:xfrm>
            <a:off x="395288" y="1263650"/>
            <a:ext cx="4449762" cy="280076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5738" indent="-185738"/>
            <a:r>
              <a:rPr lang="en-GB" b="1" dirty="0"/>
              <a:t>Housing</a:t>
            </a:r>
          </a:p>
          <a:p>
            <a:pPr marL="185738" indent="-185738">
              <a:buFont typeface="Arial" charset="0"/>
              <a:buChar char="•"/>
            </a:pPr>
            <a:r>
              <a:rPr lang="en-GB" dirty="0"/>
              <a:t>metal or plastic </a:t>
            </a:r>
          </a:p>
          <a:p>
            <a:pPr marL="185738" indent="-185738">
              <a:buFont typeface="Arial" charset="0"/>
              <a:buChar char="•"/>
            </a:pPr>
            <a:r>
              <a:rPr lang="en-GB" dirty="0"/>
              <a:t>prevents light spilling in unwanted directions</a:t>
            </a:r>
          </a:p>
          <a:p>
            <a:pPr marL="185738" indent="-185738">
              <a:buFont typeface="Arial" charset="0"/>
              <a:buChar char="•"/>
            </a:pPr>
            <a:r>
              <a:rPr lang="en-GB" dirty="0"/>
              <a:t>to reduce heat, increase efficiency </a:t>
            </a:r>
          </a:p>
          <a:p>
            <a:pPr marL="185738" indent="-185738">
              <a:buFont typeface="Arial" charset="0"/>
              <a:buChar char="•"/>
            </a:pPr>
            <a:endParaRPr lang="en-GB" dirty="0"/>
          </a:p>
          <a:p>
            <a:pPr marL="185738" indent="-185738">
              <a:buFont typeface="Arial" charset="0"/>
              <a:buChar char="•"/>
            </a:pPr>
            <a:r>
              <a:rPr lang="en-GB" dirty="0"/>
              <a:t>originally sheet steel or aluminium</a:t>
            </a:r>
          </a:p>
          <a:p>
            <a:pPr marL="185738" indent="-185738">
              <a:buFont typeface="Arial" charset="0"/>
              <a:buChar char="•"/>
            </a:pPr>
            <a:r>
              <a:rPr lang="en-GB" dirty="0"/>
              <a:t>increasingly die cast metal</a:t>
            </a:r>
          </a:p>
          <a:p>
            <a:pPr marL="642938" lvl="1" indent="-185738">
              <a:buFont typeface="Arial" charset="0"/>
              <a:buChar char="•"/>
            </a:pPr>
            <a:r>
              <a:rPr lang="en-GB" dirty="0"/>
              <a:t>allows single, light-weight body </a:t>
            </a:r>
          </a:p>
          <a:p>
            <a:pPr marL="642938" lvl="1" indent="-185738">
              <a:buFont typeface="Arial" charset="0"/>
              <a:buChar char="•"/>
            </a:pPr>
            <a:r>
              <a:rPr lang="en-GB" dirty="0"/>
              <a:t>economical to produce and use</a:t>
            </a:r>
          </a:p>
          <a:p>
            <a:pPr marL="185738" indent="-185738">
              <a:buFont typeface="Arial" charset="0"/>
              <a:buChar char="•"/>
            </a:pPr>
            <a:r>
              <a:rPr lang="en-GB" dirty="0"/>
              <a:t>some made from plastic</a:t>
            </a:r>
          </a:p>
        </p:txBody>
      </p:sp>
      <p:pic>
        <p:nvPicPr>
          <p:cNvPr id="9221" name="Picture 6" descr="arrilit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46650" y="331788"/>
            <a:ext cx="40100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22" name="Rectangle 5"/>
          <p:cNvSpPr>
            <a:spLocks noChangeArrowheads="1"/>
          </p:cNvSpPr>
          <p:nvPr/>
        </p:nvSpPr>
        <p:spPr bwMode="auto">
          <a:xfrm>
            <a:off x="395288" y="4660900"/>
            <a:ext cx="64198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5738" indent="-185738"/>
            <a:r>
              <a:rPr lang="en-GB" b="1" dirty="0"/>
              <a:t>Lens Opening</a:t>
            </a:r>
          </a:p>
          <a:p>
            <a:pPr marL="185738" indent="-185738">
              <a:buFont typeface="Arial" charset="0"/>
              <a:buChar char="•"/>
            </a:pPr>
            <a:r>
              <a:rPr lang="en-GB" dirty="0"/>
              <a:t>lens often used to control the beam </a:t>
            </a:r>
          </a:p>
          <a:p>
            <a:pPr marL="185738" indent="-185738">
              <a:buFont typeface="Arial" charset="0"/>
              <a:buChar char="•"/>
            </a:pPr>
            <a:r>
              <a:rPr lang="en-GB" dirty="0"/>
              <a:t>reflector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marL="179388" indent="-179388" algn="ctr">
              <a:spcAft>
                <a:spcPts val="300"/>
              </a:spcAft>
              <a:buFont typeface="Arial" pitchFamily="34" charset="0"/>
              <a:buChar char="•"/>
            </a:pPr>
            <a:endParaRPr lang="en-GB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794495"/>
            <a:ext cx="5768916" cy="3539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395288" y="331788"/>
            <a:ext cx="1901825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GB" sz="2400" b="1" dirty="0" err="1">
                <a:solidFill>
                  <a:srgbClr val="FFFF00"/>
                </a:solidFill>
              </a:rPr>
              <a:t>Luminaires</a:t>
            </a:r>
            <a:r>
              <a:rPr lang="en-GB" sz="24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5692587" y="6171612"/>
            <a:ext cx="3155577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>
                <a:solidFill>
                  <a:srgbClr val="FFC000"/>
                </a:solidFill>
              </a:rPr>
              <a:t>http://people.bath.ac.uk/su2bc/infoguides/smc/basiclighting/index.shtml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64204" y="572071"/>
            <a:ext cx="2814256" cy="273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b="1" dirty="0">
                <a:solidFill>
                  <a:srgbClr val="FFFF00"/>
                </a:solidFill>
              </a:rPr>
              <a:t>Reflector</a:t>
            </a:r>
            <a:r>
              <a:rPr lang="en-GB" sz="1400" dirty="0">
                <a:solidFill>
                  <a:srgbClr val="FFFF00"/>
                </a:solidFill>
              </a:rPr>
              <a:t> </a:t>
            </a:r>
          </a:p>
          <a:p>
            <a:pPr marL="182563" indent="-182563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directs light in a specific direction</a:t>
            </a:r>
          </a:p>
          <a:p>
            <a:pPr marL="182563" indent="-182563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typically circular or oval to form a beam of light</a:t>
            </a:r>
          </a:p>
          <a:p>
            <a:pPr marL="182563" indent="-182563">
              <a:spcAft>
                <a:spcPts val="300"/>
              </a:spcAft>
              <a:buFont typeface="Arial" pitchFamily="34" charset="0"/>
              <a:buChar char="•"/>
            </a:pPr>
            <a:endParaRPr lang="en-GB" sz="1400" dirty="0">
              <a:solidFill>
                <a:srgbClr val="FFFF00"/>
              </a:solidFill>
            </a:endParaRPr>
          </a:p>
          <a:p>
            <a:pPr>
              <a:spcAft>
                <a:spcPts val="300"/>
              </a:spcAft>
            </a:pPr>
            <a:r>
              <a:rPr lang="en-GB" sz="1400" b="1" dirty="0">
                <a:solidFill>
                  <a:srgbClr val="FFFF00"/>
                </a:solidFill>
              </a:rPr>
              <a:t>Lens</a:t>
            </a:r>
            <a:r>
              <a:rPr lang="en-GB" sz="1400" dirty="0">
                <a:solidFill>
                  <a:srgbClr val="FFFF00"/>
                </a:solidFill>
              </a:rPr>
              <a:t> </a:t>
            </a:r>
          </a:p>
          <a:p>
            <a:pPr marL="182563" indent="-182563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typically - curved (</a:t>
            </a:r>
            <a:r>
              <a:rPr lang="en-GB" sz="1400" dirty="0" err="1">
                <a:solidFill>
                  <a:srgbClr val="FFFF00"/>
                </a:solidFill>
              </a:rPr>
              <a:t>plano</a:t>
            </a:r>
            <a:r>
              <a:rPr lang="en-GB" sz="1400" dirty="0">
                <a:solidFill>
                  <a:srgbClr val="FFFF00"/>
                </a:solidFill>
              </a:rPr>
              <a:t>-convex) lens </a:t>
            </a:r>
          </a:p>
          <a:p>
            <a:pPr marL="182563" indent="-182563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tend to be thick and heavy</a:t>
            </a:r>
          </a:p>
          <a:p>
            <a:pPr marL="182563" indent="-182563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option - Fresnel lens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5289" y="4616824"/>
            <a:ext cx="4589087" cy="2046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b="1" dirty="0">
                <a:solidFill>
                  <a:srgbClr val="FFFF00"/>
                </a:solidFill>
              </a:rPr>
              <a:t>Shutters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series of metal plates to shape the beam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fully retracted - beam is circular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pushed in - beam can be square or rectangular</a:t>
            </a:r>
          </a:p>
          <a:p>
            <a:pPr>
              <a:spcAft>
                <a:spcPts val="300"/>
              </a:spcAft>
            </a:pPr>
            <a:endParaRPr lang="en-GB" sz="1400" dirty="0">
              <a:solidFill>
                <a:srgbClr val="FFFF00"/>
              </a:solidFill>
            </a:endParaRPr>
          </a:p>
          <a:p>
            <a:pPr>
              <a:spcAft>
                <a:spcPts val="300"/>
              </a:spcAft>
            </a:pPr>
            <a:r>
              <a:rPr lang="en-GB" sz="1400" b="1" dirty="0" err="1">
                <a:solidFill>
                  <a:srgbClr val="FFFF00"/>
                </a:solidFill>
              </a:rPr>
              <a:t>Barndoors</a:t>
            </a:r>
            <a:endParaRPr lang="en-GB" sz="1400" b="1" dirty="0">
              <a:solidFill>
                <a:srgbClr val="FFFF00"/>
              </a:solidFill>
            </a:endParaRP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flaps - like shutters but not as precise, generally used to stop spilled light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49185" y="3714750"/>
            <a:ext cx="1094815" cy="109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5181598" y="3450944"/>
            <a:ext cx="3666566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b="1" dirty="0">
                <a:solidFill>
                  <a:srgbClr val="FFFF00"/>
                </a:solidFill>
              </a:rPr>
              <a:t>Gobo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placed inside some lights to shape the light into patterns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patterns, logos, text, shapes</a:t>
            </a:r>
          </a:p>
          <a:p>
            <a:pPr>
              <a:spcAft>
                <a:spcPts val="300"/>
              </a:spcAft>
            </a:pPr>
            <a:endParaRPr lang="en-GB" sz="1400" dirty="0">
              <a:solidFill>
                <a:srgbClr val="FFFF00"/>
              </a:solidFill>
            </a:endParaRPr>
          </a:p>
          <a:p>
            <a:pPr>
              <a:spcAft>
                <a:spcPts val="300"/>
              </a:spcAft>
            </a:pPr>
            <a:r>
              <a:rPr lang="en-GB" sz="1400" b="1" dirty="0">
                <a:solidFill>
                  <a:srgbClr val="FFFF00"/>
                </a:solidFill>
              </a:rPr>
              <a:t>Gel (or colour filter)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colour correction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create mood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coloured sheet of plastic fixed to the front inside a gel frame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2964" y="316104"/>
            <a:ext cx="22738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100" dirty="0">
                <a:solidFill>
                  <a:srgbClr val="FFFF00"/>
                </a:solidFill>
              </a:rPr>
              <a:t>(not all of these features may be present in any given lamp)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9FA9B2"/>
          </a:solidFill>
        </p:spPr>
        <p:txBody>
          <a:bodyPr wrap="square" rtlCol="0" anchor="ctr">
            <a:noAutofit/>
          </a:bodyPr>
          <a:lstStyle/>
          <a:p>
            <a:pPr marL="179388" indent="-179388" algn="ctr">
              <a:spcAft>
                <a:spcPts val="300"/>
              </a:spcAft>
              <a:buFont typeface="Arial" pitchFamily="34" charset="0"/>
              <a:buChar char="•"/>
            </a:pPr>
            <a:endParaRPr lang="en-GB" dirty="0"/>
          </a:p>
        </p:txBody>
      </p:sp>
      <p:pic>
        <p:nvPicPr>
          <p:cNvPr id="27650" name="Picture 7" descr="http://ifa.hawaii.edu/~amann/401px-Fresnel_lens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735106"/>
            <a:ext cx="2615885" cy="3913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95288" y="4540760"/>
            <a:ext cx="4289254" cy="206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b="1" dirty="0"/>
              <a:t>Fresnel Lens</a:t>
            </a:r>
            <a:r>
              <a:rPr lang="en-GB" dirty="0"/>
              <a:t> (1) 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focuses light by using a series of separate sections </a:t>
            </a:r>
          </a:p>
          <a:p>
            <a:pPr marL="179388" indent="-179388">
              <a:defRPr/>
            </a:pPr>
            <a:r>
              <a:rPr lang="en-GB" b="1" dirty="0"/>
              <a:t>Conventional lens (2) 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single, large lens, similar magnification power 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significantly thicker, more expensive, harder to build </a:t>
            </a:r>
          </a:p>
        </p:txBody>
      </p:sp>
      <p:sp>
        <p:nvSpPr>
          <p:cNvPr id="27652" name="Rectangle 5"/>
          <p:cNvSpPr>
            <a:spLocks noChangeArrowheads="1"/>
          </p:cNvSpPr>
          <p:nvPr/>
        </p:nvSpPr>
        <p:spPr bwMode="auto">
          <a:xfrm>
            <a:off x="395288" y="331788"/>
            <a:ext cx="21351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>
                <a:solidFill>
                  <a:srgbClr val="000000"/>
                </a:solidFill>
              </a:rPr>
              <a:t>Fresnel Lens </a:t>
            </a:r>
            <a:endParaRPr lang="en-GB" sz="2400" b="1"/>
          </a:p>
        </p:txBody>
      </p:sp>
      <p:sp>
        <p:nvSpPr>
          <p:cNvPr id="27654" name="TextBox 7"/>
          <p:cNvSpPr txBox="1">
            <a:spLocks noChangeArrowheads="1"/>
          </p:cNvSpPr>
          <p:nvPr/>
        </p:nvSpPr>
        <p:spPr bwMode="auto">
          <a:xfrm>
            <a:off x="706438" y="3600450"/>
            <a:ext cx="1831975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lang="en-GB"/>
              <a:t>(1)                 (2)</a:t>
            </a:r>
          </a:p>
        </p:txBody>
      </p:sp>
      <p:pic>
        <p:nvPicPr>
          <p:cNvPr id="27655" name="Picture 9" descr="Fresnel len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09850" y="331788"/>
            <a:ext cx="3903663" cy="234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 l="13600" t="6713" r="12891" b="6364"/>
          <a:stretch>
            <a:fillRect/>
          </a:stretch>
        </p:blipFill>
        <p:spPr bwMode="auto">
          <a:xfrm>
            <a:off x="6537960" y="331788"/>
            <a:ext cx="2450592" cy="2276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rtlCol="0" anchor="ctr">
            <a:spAutoFit/>
          </a:bodyPr>
          <a:lstStyle/>
          <a:p>
            <a:pPr marL="179388" indent="-179388" algn="ctr">
              <a:spcAft>
                <a:spcPts val="300"/>
              </a:spcAft>
              <a:buFont typeface="Arial" pitchFamily="34" charset="0"/>
              <a:buChar char="•"/>
            </a:pPr>
            <a:endParaRPr lang="en-GB" dirty="0"/>
          </a:p>
        </p:txBody>
      </p:sp>
      <p:pic>
        <p:nvPicPr>
          <p:cNvPr id="11" name="Picture 2" descr="C:\Users\Nivram\Desktop\Clipboard01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71758" y="2971800"/>
            <a:ext cx="4183853" cy="37322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95288" y="331788"/>
            <a:ext cx="47545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Incandescent (Tungsten) Lamp</a:t>
            </a:r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745071"/>
            <a:ext cx="7104129" cy="28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58681" y="3863189"/>
            <a:ext cx="31750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Outline of Glass bulb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Low pressure inert gas (argon, neon, nitrogen)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Tungsten filament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Contact wire (goes out of stem)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Contact wire (goes into stem)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Support wires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Stem (glass mount)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Contact wire (goes out of stem)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Cap (sleeve)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Insulation (</a:t>
            </a:r>
            <a:r>
              <a:rPr lang="en-GB" sz="1200" dirty="0" err="1"/>
              <a:t>vitrite</a:t>
            </a:r>
            <a:r>
              <a:rPr lang="en-GB" sz="1200" dirty="0"/>
              <a:t>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Electrical contact</a:t>
            </a:r>
          </a:p>
        </p:txBody>
      </p:sp>
      <p:pic>
        <p:nvPicPr>
          <p:cNvPr id="6" name="Picture 4" descr="Incandescent light bulb.sv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0" y="2789787"/>
            <a:ext cx="28575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ChangeArrowheads="1"/>
          </p:cNvSpPr>
          <p:nvPr/>
        </p:nvSpPr>
        <p:spPr bwMode="auto">
          <a:xfrm>
            <a:off x="395288" y="331788"/>
            <a:ext cx="47545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Incandescent (Tungsten) Lamp</a:t>
            </a:r>
          </a:p>
        </p:txBody>
      </p:sp>
      <p:sp>
        <p:nvSpPr>
          <p:cNvPr id="11267" name="Rectangle 5"/>
          <p:cNvSpPr>
            <a:spLocks noChangeArrowheads="1"/>
          </p:cNvSpPr>
          <p:nvPr/>
        </p:nvSpPr>
        <p:spPr bwMode="auto">
          <a:xfrm>
            <a:off x="395287" y="914972"/>
            <a:ext cx="7988221" cy="4762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5738" indent="-185738"/>
            <a:r>
              <a:rPr lang="en-GB" b="1" dirty="0"/>
              <a:t>Incandescence </a:t>
            </a:r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heated tungsten filament</a:t>
            </a:r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black body radiation</a:t>
            </a:r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enclosed in a glass bulb </a:t>
            </a:r>
          </a:p>
          <a:p>
            <a:pPr marL="642938" lvl="1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vacuum or an inert gas to prevent oxidation of the filament</a:t>
            </a:r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endParaRPr lang="en-GB" dirty="0"/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wide range of sizes and voltages</a:t>
            </a:r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require no external regulating equipment </a:t>
            </a:r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low manufacturing cost</a:t>
            </a:r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AC or DC</a:t>
            </a:r>
          </a:p>
          <a:p>
            <a:pPr marL="185738" indent="-18573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widely used - household and commercial </a:t>
            </a:r>
          </a:p>
          <a:p>
            <a:pPr marL="636588" lvl="1" indent="-17938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being phased out, usually for energy saving alternatives</a:t>
            </a:r>
          </a:p>
          <a:p>
            <a:pPr marL="0" lvl="1">
              <a:lnSpc>
                <a:spcPts val="2300"/>
              </a:lnSpc>
            </a:pPr>
            <a:endParaRPr lang="en-GB" b="1" dirty="0"/>
          </a:p>
          <a:p>
            <a:pPr marL="0" lvl="1">
              <a:lnSpc>
                <a:spcPts val="2300"/>
              </a:lnSpc>
            </a:pPr>
            <a:r>
              <a:rPr lang="en-GB" b="1" dirty="0"/>
              <a:t>Very Inefficient: </a:t>
            </a:r>
          </a:p>
          <a:p>
            <a:pPr marL="179388" indent="-17938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radiate mostly infrared radiation </a:t>
            </a:r>
          </a:p>
          <a:p>
            <a:pPr marL="179388" indent="-17938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Incandescent lamp ~90% power consumed is emitted as heat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95453" y="331788"/>
            <a:ext cx="3648547" cy="1453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007345"/>
            <a:ext cx="7765486" cy="42954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5288" y="5646674"/>
            <a:ext cx="7765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Between the 1</a:t>
            </a:r>
            <a:r>
              <a:rPr lang="en-GB" baseline="30000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st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and second meter the brightness (intensity) has already decreased by 75% to only 25% </a:t>
            </a:r>
          </a:p>
          <a:p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= 2 f-stops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95288" y="331788"/>
            <a:ext cx="81612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Propagation of Light (and Sound): Inverse Square Law</a:t>
            </a:r>
          </a:p>
        </p:txBody>
      </p:sp>
    </p:spTree>
    <p:extLst>
      <p:ext uri="{BB962C8B-B14F-4D97-AF65-F5344CB8AC3E}">
        <p14:creationId xmlns:p14="http://schemas.microsoft.com/office/powerpoint/2010/main" val="2475097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370013"/>
            <a:ext cx="3733800" cy="4943475"/>
          </a:xfrm>
          <a:prstGeom prst="rect">
            <a:avLst/>
          </a:prstGeom>
          <a:solidFill>
            <a:srgbClr val="FFFFCC"/>
          </a:solidFill>
          <a:ln w="9525" algn="ctr">
            <a:solidFill>
              <a:srgbClr val="FFFFCC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" name="Oval 5"/>
          <p:cNvSpPr>
            <a:spLocks noChangeArrowheads="1"/>
          </p:cNvSpPr>
          <p:nvPr/>
        </p:nvSpPr>
        <p:spPr bwMode="auto">
          <a:xfrm>
            <a:off x="430213" y="1487488"/>
            <a:ext cx="2617787" cy="2428875"/>
          </a:xfrm>
          <a:prstGeom prst="ellipse">
            <a:avLst/>
          </a:prstGeom>
          <a:gradFill rotWithShape="1">
            <a:gsLst>
              <a:gs pos="0">
                <a:srgbClr val="FFD889"/>
              </a:gs>
              <a:gs pos="100000">
                <a:srgbClr val="A67D1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61950" y="320293"/>
            <a:ext cx="300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2400" b="1" dirty="0"/>
              <a:t>Inverse Square Law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1474788" y="2427288"/>
            <a:ext cx="469900" cy="433387"/>
          </a:xfrm>
          <a:prstGeom prst="sun">
            <a:avLst>
              <a:gd name="adj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 flipV="1">
            <a:off x="1758950" y="2230438"/>
            <a:ext cx="1100138" cy="395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V="1">
            <a:off x="1784350" y="2490788"/>
            <a:ext cx="542925" cy="134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1808163" y="2663825"/>
            <a:ext cx="1185862" cy="284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1758950" y="2674938"/>
            <a:ext cx="642938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>
            <a:spLocks/>
          </p:cNvSpPr>
          <p:nvPr/>
        </p:nvSpPr>
        <p:spPr bwMode="auto">
          <a:xfrm>
            <a:off x="2339975" y="2184400"/>
            <a:ext cx="692150" cy="995363"/>
          </a:xfrm>
          <a:custGeom>
            <a:avLst/>
            <a:gdLst>
              <a:gd name="T0" fmla="*/ 22682200 w 436"/>
              <a:gd name="T1" fmla="*/ 443547749 h 627"/>
              <a:gd name="T2" fmla="*/ 589716596 w 436"/>
              <a:gd name="T3" fmla="*/ 277217318 h 627"/>
              <a:gd name="T4" fmla="*/ 922377326 w 436"/>
              <a:gd name="T5" fmla="*/ 73085358 h 627"/>
              <a:gd name="T6" fmla="*/ 1078626970 w 436"/>
              <a:gd name="T7" fmla="*/ 720764967 h 627"/>
              <a:gd name="T8" fmla="*/ 1038304481 w 436"/>
              <a:gd name="T9" fmla="*/ 1149191777 h 627"/>
              <a:gd name="T10" fmla="*/ 879535476 w 436"/>
              <a:gd name="T11" fmla="*/ 1295360856 h 627"/>
              <a:gd name="T12" fmla="*/ 564515040 w 436"/>
              <a:gd name="T13" fmla="*/ 1426408995 h 627"/>
              <a:gd name="T14" fmla="*/ 75604691 w 436"/>
              <a:gd name="T15" fmla="*/ 1570058712 h 627"/>
              <a:gd name="T16" fmla="*/ 115927205 w 436"/>
              <a:gd name="T17" fmla="*/ 1360884926 h 627"/>
              <a:gd name="T18" fmla="*/ 176410938 w 436"/>
              <a:gd name="T19" fmla="*/ 995463022 h 627"/>
              <a:gd name="T20" fmla="*/ 22682200 w 436"/>
              <a:gd name="T21" fmla="*/ 443547749 h 62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36"/>
              <a:gd name="T34" fmla="*/ 0 h 627"/>
              <a:gd name="T35" fmla="*/ 436 w 436"/>
              <a:gd name="T36" fmla="*/ 627 h 62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36" h="627">
                <a:moveTo>
                  <a:pt x="9" y="176"/>
                </a:moveTo>
                <a:cubicBezTo>
                  <a:pt x="36" y="129"/>
                  <a:pt x="174" y="135"/>
                  <a:pt x="234" y="110"/>
                </a:cubicBezTo>
                <a:cubicBezTo>
                  <a:pt x="294" y="85"/>
                  <a:pt x="334" y="0"/>
                  <a:pt x="366" y="29"/>
                </a:cubicBezTo>
                <a:cubicBezTo>
                  <a:pt x="398" y="58"/>
                  <a:pt x="420" y="215"/>
                  <a:pt x="428" y="286"/>
                </a:cubicBezTo>
                <a:cubicBezTo>
                  <a:pt x="436" y="357"/>
                  <a:pt x="425" y="418"/>
                  <a:pt x="412" y="456"/>
                </a:cubicBezTo>
                <a:cubicBezTo>
                  <a:pt x="399" y="494"/>
                  <a:pt x="380" y="496"/>
                  <a:pt x="349" y="514"/>
                </a:cubicBezTo>
                <a:cubicBezTo>
                  <a:pt x="318" y="532"/>
                  <a:pt x="277" y="548"/>
                  <a:pt x="224" y="566"/>
                </a:cubicBezTo>
                <a:cubicBezTo>
                  <a:pt x="171" y="584"/>
                  <a:pt x="60" y="627"/>
                  <a:pt x="30" y="623"/>
                </a:cubicBezTo>
                <a:cubicBezTo>
                  <a:pt x="0" y="619"/>
                  <a:pt x="39" y="578"/>
                  <a:pt x="46" y="540"/>
                </a:cubicBezTo>
                <a:cubicBezTo>
                  <a:pt x="53" y="502"/>
                  <a:pt x="76" y="456"/>
                  <a:pt x="70" y="395"/>
                </a:cubicBezTo>
                <a:cubicBezTo>
                  <a:pt x="64" y="334"/>
                  <a:pt x="22" y="221"/>
                  <a:pt x="9" y="176"/>
                </a:cubicBez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1865313" y="2851150"/>
            <a:ext cx="266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r</a:t>
            </a: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42913" y="4497388"/>
            <a:ext cx="24145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Sphere surface area = </a:t>
            </a:r>
            <a:endParaRPr lang="en-GB" altLang="en-US">
              <a:sym typeface="Symbol" panose="05050102010706020507" pitchFamily="18" charset="2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817813" y="4386263"/>
          <a:ext cx="750887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5" name="Equation" r:id="rId3" imgW="368280" imgH="203040" progId="Equation.3">
                  <p:embed/>
                </p:oleObj>
              </mc:Choice>
              <mc:Fallback>
                <p:oleObj name="Equation" r:id="rId3" imgW="368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3" y="4386263"/>
                        <a:ext cx="750887" cy="414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455613" y="4132263"/>
            <a:ext cx="19923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Sphere radius  = </a:t>
            </a:r>
            <a:r>
              <a:rPr lang="en-GB" altLang="en-US" sz="2000"/>
              <a:t>r</a:t>
            </a:r>
            <a:endParaRPr lang="en-GB" altLang="en-US" sz="2000">
              <a:sym typeface="Symbol" panose="05050102010706020507" pitchFamily="18" charset="2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430213" y="4903788"/>
            <a:ext cx="1970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Source Power  = P</a:t>
            </a:r>
            <a:endParaRPr lang="en-GB" altLang="en-US" sz="2000">
              <a:sym typeface="Symbol" panose="05050102010706020507" pitchFamily="18" charset="2"/>
            </a:endParaRPr>
          </a:p>
        </p:txBody>
      </p: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30213" y="5224463"/>
            <a:ext cx="3362325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>
                <a:sym typeface="Symbol" panose="05050102010706020507" pitchFamily="18" charset="2"/>
              </a:rPr>
              <a:t></a:t>
            </a:r>
            <a:r>
              <a:rPr lang="en-GB" altLang="en-US"/>
              <a:t> intensity at surface of sphere </a:t>
            </a:r>
          </a:p>
          <a:p>
            <a:endParaRPr lang="en-GB" altLang="en-US"/>
          </a:p>
          <a:p>
            <a:r>
              <a:rPr lang="en-GB" altLang="en-US"/>
              <a:t>= </a:t>
            </a:r>
            <a:r>
              <a:rPr lang="en-GB" altLang="en-US">
                <a:latin typeface="Tahoma" panose="020B0604030504040204" pitchFamily="34" charset="0"/>
              </a:rPr>
              <a:t>I</a:t>
            </a:r>
            <a:r>
              <a:rPr lang="en-GB" altLang="en-US"/>
              <a:t> = </a:t>
            </a:r>
            <a:r>
              <a:rPr lang="en-GB" altLang="en-US" u="sng"/>
              <a:t>Power</a:t>
            </a:r>
            <a:r>
              <a:rPr lang="en-GB" altLang="en-US"/>
              <a:t>  = </a:t>
            </a:r>
          </a:p>
          <a:p>
            <a:r>
              <a:rPr lang="en-GB" altLang="en-US"/>
              <a:t>          Area</a:t>
            </a:r>
          </a:p>
          <a:p>
            <a:r>
              <a:rPr lang="en-GB" altLang="en-US"/>
              <a:t> </a:t>
            </a:r>
            <a:endParaRPr lang="en-GB" altLang="en-US" sz="2000">
              <a:sym typeface="Symbol" panose="05050102010706020507" pitchFamily="18" charset="2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2082800" y="5651500"/>
          <a:ext cx="593725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6" name="Equation" r:id="rId5" imgW="380880" imgH="406080" progId="Equation.3">
                  <p:embed/>
                </p:oleObj>
              </mc:Choice>
              <mc:Fallback>
                <p:oleObj name="Equation" r:id="rId5" imgW="3808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5651500"/>
                        <a:ext cx="593725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4138613" y="2079625"/>
            <a:ext cx="4832350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1" name="Freeform 21"/>
          <p:cNvSpPr>
            <a:spLocks/>
          </p:cNvSpPr>
          <p:nvPr/>
        </p:nvSpPr>
        <p:spPr bwMode="auto">
          <a:xfrm>
            <a:off x="5103813" y="1550988"/>
            <a:ext cx="692150" cy="909637"/>
          </a:xfrm>
          <a:custGeom>
            <a:avLst/>
            <a:gdLst>
              <a:gd name="T0" fmla="*/ 22682200 w 436"/>
              <a:gd name="T1" fmla="*/ 370436920 h 627"/>
              <a:gd name="T2" fmla="*/ 589716596 w 436"/>
              <a:gd name="T3" fmla="*/ 231522203 h 627"/>
              <a:gd name="T4" fmla="*/ 922377326 w 436"/>
              <a:gd name="T5" fmla="*/ 61038528 h 627"/>
              <a:gd name="T6" fmla="*/ 1078626970 w 436"/>
              <a:gd name="T7" fmla="*/ 601959123 h 627"/>
              <a:gd name="T8" fmla="*/ 1038304481 w 436"/>
              <a:gd name="T9" fmla="*/ 959767128 h 627"/>
              <a:gd name="T10" fmla="*/ 879535476 w 436"/>
              <a:gd name="T11" fmla="*/ 1081842687 h 627"/>
              <a:gd name="T12" fmla="*/ 564515040 w 436"/>
              <a:gd name="T13" fmla="*/ 1191290690 h 627"/>
              <a:gd name="T14" fmla="*/ 75604691 w 436"/>
              <a:gd name="T15" fmla="*/ 1311261173 h 627"/>
              <a:gd name="T16" fmla="*/ 115927205 w 436"/>
              <a:gd name="T17" fmla="*/ 1136565963 h 627"/>
              <a:gd name="T18" fmla="*/ 176410938 w 436"/>
              <a:gd name="T19" fmla="*/ 831377791 h 627"/>
              <a:gd name="T20" fmla="*/ 22682200 w 436"/>
              <a:gd name="T21" fmla="*/ 370436920 h 62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36"/>
              <a:gd name="T34" fmla="*/ 0 h 627"/>
              <a:gd name="T35" fmla="*/ 436 w 436"/>
              <a:gd name="T36" fmla="*/ 627 h 62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36" h="627">
                <a:moveTo>
                  <a:pt x="9" y="176"/>
                </a:moveTo>
                <a:cubicBezTo>
                  <a:pt x="36" y="129"/>
                  <a:pt x="174" y="135"/>
                  <a:pt x="234" y="110"/>
                </a:cubicBezTo>
                <a:cubicBezTo>
                  <a:pt x="294" y="85"/>
                  <a:pt x="334" y="0"/>
                  <a:pt x="366" y="29"/>
                </a:cubicBezTo>
                <a:cubicBezTo>
                  <a:pt x="398" y="58"/>
                  <a:pt x="420" y="215"/>
                  <a:pt x="428" y="286"/>
                </a:cubicBezTo>
                <a:cubicBezTo>
                  <a:pt x="436" y="357"/>
                  <a:pt x="425" y="418"/>
                  <a:pt x="412" y="456"/>
                </a:cubicBezTo>
                <a:cubicBezTo>
                  <a:pt x="399" y="494"/>
                  <a:pt x="380" y="496"/>
                  <a:pt x="349" y="514"/>
                </a:cubicBezTo>
                <a:cubicBezTo>
                  <a:pt x="318" y="532"/>
                  <a:pt x="277" y="548"/>
                  <a:pt x="224" y="566"/>
                </a:cubicBezTo>
                <a:cubicBezTo>
                  <a:pt x="171" y="584"/>
                  <a:pt x="60" y="627"/>
                  <a:pt x="30" y="623"/>
                </a:cubicBezTo>
                <a:cubicBezTo>
                  <a:pt x="0" y="619"/>
                  <a:pt x="39" y="578"/>
                  <a:pt x="46" y="540"/>
                </a:cubicBezTo>
                <a:cubicBezTo>
                  <a:pt x="53" y="502"/>
                  <a:pt x="76" y="456"/>
                  <a:pt x="70" y="395"/>
                </a:cubicBezTo>
                <a:cubicBezTo>
                  <a:pt x="64" y="334"/>
                  <a:pt x="22" y="221"/>
                  <a:pt x="9" y="176"/>
                </a:cubicBezTo>
                <a:close/>
              </a:path>
            </a:pathLst>
          </a:custGeom>
          <a:solidFill>
            <a:srgbClr val="00A87C">
              <a:alpha val="59999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2" name="Freeform 22"/>
          <p:cNvSpPr>
            <a:spLocks/>
          </p:cNvSpPr>
          <p:nvPr/>
        </p:nvSpPr>
        <p:spPr bwMode="auto">
          <a:xfrm>
            <a:off x="6127750" y="1144588"/>
            <a:ext cx="1087438" cy="1649412"/>
          </a:xfrm>
          <a:custGeom>
            <a:avLst/>
            <a:gdLst>
              <a:gd name="T0" fmla="*/ 55985602 w 436"/>
              <a:gd name="T1" fmla="*/ 1217968292 h 627"/>
              <a:gd name="T2" fmla="*/ 1455633250 w 436"/>
              <a:gd name="T3" fmla="*/ 761228662 h 627"/>
              <a:gd name="T4" fmla="*/ 2147483647 w 436"/>
              <a:gd name="T5" fmla="*/ 200688987 h 627"/>
              <a:gd name="T6" fmla="*/ 2147483647 w 436"/>
              <a:gd name="T7" fmla="*/ 1979196953 h 627"/>
              <a:gd name="T8" fmla="*/ 2147483647 w 436"/>
              <a:gd name="T9" fmla="*/ 2147483647 h 627"/>
              <a:gd name="T10" fmla="*/ 2147483647 w 436"/>
              <a:gd name="T11" fmla="*/ 2147483647 h 627"/>
              <a:gd name="T12" fmla="*/ 1393427324 w 436"/>
              <a:gd name="T13" fmla="*/ 2147483647 h 627"/>
              <a:gd name="T14" fmla="*/ 186620349 w 436"/>
              <a:gd name="T15" fmla="*/ 2147483647 h 627"/>
              <a:gd name="T16" fmla="*/ 286150828 w 436"/>
              <a:gd name="T17" fmla="*/ 2147483647 h 627"/>
              <a:gd name="T18" fmla="*/ 435446623 w 436"/>
              <a:gd name="T19" fmla="*/ 2147483647 h 627"/>
              <a:gd name="T20" fmla="*/ 55985602 w 436"/>
              <a:gd name="T21" fmla="*/ 1217968292 h 62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36"/>
              <a:gd name="T34" fmla="*/ 0 h 627"/>
              <a:gd name="T35" fmla="*/ 436 w 436"/>
              <a:gd name="T36" fmla="*/ 627 h 62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36" h="627">
                <a:moveTo>
                  <a:pt x="9" y="176"/>
                </a:moveTo>
                <a:cubicBezTo>
                  <a:pt x="36" y="129"/>
                  <a:pt x="174" y="135"/>
                  <a:pt x="234" y="110"/>
                </a:cubicBezTo>
                <a:cubicBezTo>
                  <a:pt x="294" y="85"/>
                  <a:pt x="334" y="0"/>
                  <a:pt x="366" y="29"/>
                </a:cubicBezTo>
                <a:cubicBezTo>
                  <a:pt x="398" y="58"/>
                  <a:pt x="420" y="215"/>
                  <a:pt x="428" y="286"/>
                </a:cubicBezTo>
                <a:cubicBezTo>
                  <a:pt x="436" y="357"/>
                  <a:pt x="425" y="418"/>
                  <a:pt x="412" y="456"/>
                </a:cubicBezTo>
                <a:cubicBezTo>
                  <a:pt x="399" y="494"/>
                  <a:pt x="380" y="496"/>
                  <a:pt x="349" y="514"/>
                </a:cubicBezTo>
                <a:cubicBezTo>
                  <a:pt x="318" y="532"/>
                  <a:pt x="277" y="548"/>
                  <a:pt x="224" y="566"/>
                </a:cubicBezTo>
                <a:cubicBezTo>
                  <a:pt x="171" y="584"/>
                  <a:pt x="60" y="627"/>
                  <a:pt x="30" y="623"/>
                </a:cubicBezTo>
                <a:cubicBezTo>
                  <a:pt x="0" y="619"/>
                  <a:pt x="39" y="578"/>
                  <a:pt x="46" y="540"/>
                </a:cubicBezTo>
                <a:cubicBezTo>
                  <a:pt x="53" y="502"/>
                  <a:pt x="76" y="456"/>
                  <a:pt x="70" y="395"/>
                </a:cubicBezTo>
                <a:cubicBezTo>
                  <a:pt x="64" y="334"/>
                  <a:pt x="22" y="221"/>
                  <a:pt x="9" y="176"/>
                </a:cubicBezTo>
                <a:close/>
              </a:path>
            </a:pathLst>
          </a:custGeom>
          <a:solidFill>
            <a:srgbClr val="00CC99">
              <a:alpha val="59999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3" name="Freeform 23"/>
          <p:cNvSpPr>
            <a:spLocks/>
          </p:cNvSpPr>
          <p:nvPr/>
        </p:nvSpPr>
        <p:spPr bwMode="auto">
          <a:xfrm>
            <a:off x="7240588" y="561975"/>
            <a:ext cx="1903412" cy="2601913"/>
          </a:xfrm>
          <a:custGeom>
            <a:avLst/>
            <a:gdLst>
              <a:gd name="T0" fmla="*/ 171529747 w 436"/>
              <a:gd name="T1" fmla="*/ 2147483647 h 627"/>
              <a:gd name="T2" fmla="*/ 2147483647 w 436"/>
              <a:gd name="T3" fmla="*/ 1894275441 h 627"/>
              <a:gd name="T4" fmla="*/ 2147483647 w 436"/>
              <a:gd name="T5" fmla="*/ 499401240 h 627"/>
              <a:gd name="T6" fmla="*/ 2147483647 w 436"/>
              <a:gd name="T7" fmla="*/ 2147483647 h 627"/>
              <a:gd name="T8" fmla="*/ 2147483647 w 436"/>
              <a:gd name="T9" fmla="*/ 2147483647 h 627"/>
              <a:gd name="T10" fmla="*/ 2147483647 w 436"/>
              <a:gd name="T11" fmla="*/ 2147483647 h 627"/>
              <a:gd name="T12" fmla="*/ 2147483647 w 436"/>
              <a:gd name="T13" fmla="*/ 2147483647 h 627"/>
              <a:gd name="T14" fmla="*/ 571761367 w 436"/>
              <a:gd name="T15" fmla="*/ 2147483647 h 627"/>
              <a:gd name="T16" fmla="*/ 876700244 w 436"/>
              <a:gd name="T17" fmla="*/ 2147483647 h 627"/>
              <a:gd name="T18" fmla="*/ 1334108628 w 436"/>
              <a:gd name="T19" fmla="*/ 2147483647 h 627"/>
              <a:gd name="T20" fmla="*/ 171529747 w 436"/>
              <a:gd name="T21" fmla="*/ 2147483647 h 62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36"/>
              <a:gd name="T34" fmla="*/ 0 h 627"/>
              <a:gd name="T35" fmla="*/ 436 w 436"/>
              <a:gd name="T36" fmla="*/ 627 h 62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36" h="627">
                <a:moveTo>
                  <a:pt x="9" y="176"/>
                </a:moveTo>
                <a:cubicBezTo>
                  <a:pt x="36" y="129"/>
                  <a:pt x="174" y="135"/>
                  <a:pt x="234" y="110"/>
                </a:cubicBezTo>
                <a:cubicBezTo>
                  <a:pt x="294" y="85"/>
                  <a:pt x="334" y="0"/>
                  <a:pt x="366" y="29"/>
                </a:cubicBezTo>
                <a:cubicBezTo>
                  <a:pt x="398" y="58"/>
                  <a:pt x="420" y="215"/>
                  <a:pt x="428" y="286"/>
                </a:cubicBezTo>
                <a:cubicBezTo>
                  <a:pt x="436" y="357"/>
                  <a:pt x="425" y="418"/>
                  <a:pt x="412" y="456"/>
                </a:cubicBezTo>
                <a:cubicBezTo>
                  <a:pt x="399" y="494"/>
                  <a:pt x="380" y="496"/>
                  <a:pt x="349" y="514"/>
                </a:cubicBezTo>
                <a:cubicBezTo>
                  <a:pt x="318" y="532"/>
                  <a:pt x="277" y="548"/>
                  <a:pt x="224" y="566"/>
                </a:cubicBezTo>
                <a:cubicBezTo>
                  <a:pt x="171" y="584"/>
                  <a:pt x="60" y="627"/>
                  <a:pt x="30" y="623"/>
                </a:cubicBezTo>
                <a:cubicBezTo>
                  <a:pt x="0" y="619"/>
                  <a:pt x="39" y="578"/>
                  <a:pt x="46" y="540"/>
                </a:cubicBezTo>
                <a:cubicBezTo>
                  <a:pt x="53" y="502"/>
                  <a:pt x="76" y="456"/>
                  <a:pt x="70" y="395"/>
                </a:cubicBezTo>
                <a:cubicBezTo>
                  <a:pt x="64" y="334"/>
                  <a:pt x="22" y="221"/>
                  <a:pt x="9" y="176"/>
                </a:cubicBezTo>
                <a:close/>
              </a:path>
            </a:pathLst>
          </a:custGeom>
          <a:solidFill>
            <a:srgbClr val="00FFCC">
              <a:alpha val="7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4" name="Line 24"/>
          <p:cNvSpPr>
            <a:spLocks noChangeShapeType="1"/>
          </p:cNvSpPr>
          <p:nvPr/>
        </p:nvSpPr>
        <p:spPr bwMode="auto">
          <a:xfrm flipV="1">
            <a:off x="4016375" y="646113"/>
            <a:ext cx="4794250" cy="14208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5" name="Line 25"/>
          <p:cNvSpPr>
            <a:spLocks noChangeShapeType="1"/>
          </p:cNvSpPr>
          <p:nvPr/>
        </p:nvSpPr>
        <p:spPr bwMode="auto">
          <a:xfrm>
            <a:off x="4052888" y="2079625"/>
            <a:ext cx="3324225" cy="11001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6" name="Line 26"/>
          <p:cNvSpPr>
            <a:spLocks noChangeShapeType="1"/>
          </p:cNvSpPr>
          <p:nvPr/>
        </p:nvSpPr>
        <p:spPr bwMode="auto">
          <a:xfrm flipV="1">
            <a:off x="4052888" y="1301750"/>
            <a:ext cx="3236912" cy="765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" name="Freeform 27"/>
          <p:cNvSpPr>
            <a:spLocks/>
          </p:cNvSpPr>
          <p:nvPr/>
        </p:nvSpPr>
        <p:spPr bwMode="auto">
          <a:xfrm>
            <a:off x="6672263" y="1436688"/>
            <a:ext cx="136525" cy="1198562"/>
          </a:xfrm>
          <a:custGeom>
            <a:avLst/>
            <a:gdLst>
              <a:gd name="T0" fmla="*/ 0 w 86"/>
              <a:gd name="T1" fmla="*/ 0 h 755"/>
              <a:gd name="T2" fmla="*/ 196572167 w 86"/>
              <a:gd name="T3" fmla="*/ 864412557 h 755"/>
              <a:gd name="T4" fmla="*/ 118446558 w 86"/>
              <a:gd name="T5" fmla="*/ 1902716560 h 755"/>
              <a:gd name="T6" fmla="*/ 0 60000 65536"/>
              <a:gd name="T7" fmla="*/ 0 60000 65536"/>
              <a:gd name="T8" fmla="*/ 0 60000 65536"/>
              <a:gd name="T9" fmla="*/ 0 w 86"/>
              <a:gd name="T10" fmla="*/ 0 h 755"/>
              <a:gd name="T11" fmla="*/ 86 w 86"/>
              <a:gd name="T12" fmla="*/ 755 h 7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" h="755">
                <a:moveTo>
                  <a:pt x="0" y="0"/>
                </a:moveTo>
                <a:cubicBezTo>
                  <a:pt x="35" y="108"/>
                  <a:pt x="70" y="217"/>
                  <a:pt x="78" y="343"/>
                </a:cubicBezTo>
                <a:cubicBezTo>
                  <a:pt x="86" y="469"/>
                  <a:pt x="52" y="686"/>
                  <a:pt x="47" y="75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8" name="Freeform 28"/>
          <p:cNvSpPr>
            <a:spLocks/>
          </p:cNvSpPr>
          <p:nvPr/>
        </p:nvSpPr>
        <p:spPr bwMode="auto">
          <a:xfrm>
            <a:off x="6265863" y="1820863"/>
            <a:ext cx="927100" cy="369887"/>
          </a:xfrm>
          <a:custGeom>
            <a:avLst/>
            <a:gdLst>
              <a:gd name="T0" fmla="*/ 0 w 584"/>
              <a:gd name="T1" fmla="*/ 705239154 h 194"/>
              <a:gd name="T2" fmla="*/ 861893474 w 584"/>
              <a:gd name="T3" fmla="*/ 538017870 h 194"/>
              <a:gd name="T4" fmla="*/ 1471771032 w 584"/>
              <a:gd name="T5" fmla="*/ 0 h 194"/>
              <a:gd name="T6" fmla="*/ 0 60000 65536"/>
              <a:gd name="T7" fmla="*/ 0 60000 65536"/>
              <a:gd name="T8" fmla="*/ 0 60000 65536"/>
              <a:gd name="T9" fmla="*/ 0 w 584"/>
              <a:gd name="T10" fmla="*/ 0 h 194"/>
              <a:gd name="T11" fmla="*/ 584 w 584"/>
              <a:gd name="T12" fmla="*/ 194 h 19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84" h="194">
                <a:moveTo>
                  <a:pt x="0" y="194"/>
                </a:moveTo>
                <a:cubicBezTo>
                  <a:pt x="122" y="187"/>
                  <a:pt x="245" y="180"/>
                  <a:pt x="342" y="148"/>
                </a:cubicBezTo>
                <a:cubicBezTo>
                  <a:pt x="439" y="116"/>
                  <a:pt x="511" y="58"/>
                  <a:pt x="584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9" name="Freeform 29"/>
          <p:cNvSpPr>
            <a:spLocks/>
          </p:cNvSpPr>
          <p:nvPr/>
        </p:nvSpPr>
        <p:spPr bwMode="auto">
          <a:xfrm>
            <a:off x="7475538" y="1190625"/>
            <a:ext cx="1544637" cy="604838"/>
          </a:xfrm>
          <a:custGeom>
            <a:avLst/>
            <a:gdLst>
              <a:gd name="T0" fmla="*/ 0 w 973"/>
              <a:gd name="T1" fmla="*/ 960181208 h 381"/>
              <a:gd name="T2" fmla="*/ 1471770801 w 973"/>
              <a:gd name="T3" fmla="*/ 647681476 h 381"/>
              <a:gd name="T4" fmla="*/ 2147483647 w 973"/>
              <a:gd name="T5" fmla="*/ 0 h 381"/>
              <a:gd name="T6" fmla="*/ 0 60000 65536"/>
              <a:gd name="T7" fmla="*/ 0 60000 65536"/>
              <a:gd name="T8" fmla="*/ 0 60000 65536"/>
              <a:gd name="T9" fmla="*/ 0 w 973"/>
              <a:gd name="T10" fmla="*/ 0 h 381"/>
              <a:gd name="T11" fmla="*/ 973 w 973"/>
              <a:gd name="T12" fmla="*/ 381 h 3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3" h="381">
                <a:moveTo>
                  <a:pt x="0" y="381"/>
                </a:moveTo>
                <a:cubicBezTo>
                  <a:pt x="211" y="350"/>
                  <a:pt x="422" y="320"/>
                  <a:pt x="584" y="257"/>
                </a:cubicBezTo>
                <a:cubicBezTo>
                  <a:pt x="746" y="194"/>
                  <a:pt x="859" y="97"/>
                  <a:pt x="973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" name="Freeform 30"/>
          <p:cNvSpPr>
            <a:spLocks/>
          </p:cNvSpPr>
          <p:nvPr/>
        </p:nvSpPr>
        <p:spPr bwMode="auto">
          <a:xfrm>
            <a:off x="7512050" y="1931988"/>
            <a:ext cx="1544638" cy="604837"/>
          </a:xfrm>
          <a:custGeom>
            <a:avLst/>
            <a:gdLst>
              <a:gd name="T0" fmla="*/ 0 w 973"/>
              <a:gd name="T1" fmla="*/ 960178033 h 381"/>
              <a:gd name="T2" fmla="*/ 1471771754 w 973"/>
              <a:gd name="T3" fmla="*/ 647678818 h 381"/>
              <a:gd name="T4" fmla="*/ 2147483647 w 973"/>
              <a:gd name="T5" fmla="*/ 0 h 381"/>
              <a:gd name="T6" fmla="*/ 0 60000 65536"/>
              <a:gd name="T7" fmla="*/ 0 60000 65536"/>
              <a:gd name="T8" fmla="*/ 0 60000 65536"/>
              <a:gd name="T9" fmla="*/ 0 w 973"/>
              <a:gd name="T10" fmla="*/ 0 h 381"/>
              <a:gd name="T11" fmla="*/ 973 w 973"/>
              <a:gd name="T12" fmla="*/ 381 h 3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3" h="381">
                <a:moveTo>
                  <a:pt x="0" y="381"/>
                </a:moveTo>
                <a:cubicBezTo>
                  <a:pt x="211" y="350"/>
                  <a:pt x="422" y="320"/>
                  <a:pt x="584" y="257"/>
                </a:cubicBezTo>
                <a:cubicBezTo>
                  <a:pt x="746" y="194"/>
                  <a:pt x="859" y="97"/>
                  <a:pt x="973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" name="Freeform 31"/>
          <p:cNvSpPr>
            <a:spLocks/>
          </p:cNvSpPr>
          <p:nvPr/>
        </p:nvSpPr>
        <p:spPr bwMode="auto">
          <a:xfrm>
            <a:off x="7920038" y="1116013"/>
            <a:ext cx="342900" cy="1865312"/>
          </a:xfrm>
          <a:custGeom>
            <a:avLst/>
            <a:gdLst>
              <a:gd name="T0" fmla="*/ 0 w 216"/>
              <a:gd name="T1" fmla="*/ 0 h 1175"/>
              <a:gd name="T2" fmla="*/ 488910373 w 216"/>
              <a:gd name="T3" fmla="*/ 1549894637 h 1175"/>
              <a:gd name="T4" fmla="*/ 332660630 w 216"/>
              <a:gd name="T5" fmla="*/ 2147483647 h 1175"/>
              <a:gd name="T6" fmla="*/ 0 60000 65536"/>
              <a:gd name="T7" fmla="*/ 0 60000 65536"/>
              <a:gd name="T8" fmla="*/ 0 60000 65536"/>
              <a:gd name="T9" fmla="*/ 0 w 216"/>
              <a:gd name="T10" fmla="*/ 0 h 1175"/>
              <a:gd name="T11" fmla="*/ 216 w 216"/>
              <a:gd name="T12" fmla="*/ 1175 h 11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" h="1175">
                <a:moveTo>
                  <a:pt x="0" y="0"/>
                </a:moveTo>
                <a:cubicBezTo>
                  <a:pt x="86" y="209"/>
                  <a:pt x="172" y="419"/>
                  <a:pt x="194" y="615"/>
                </a:cubicBezTo>
                <a:cubicBezTo>
                  <a:pt x="216" y="811"/>
                  <a:pt x="174" y="993"/>
                  <a:pt x="132" y="11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" name="Freeform 32"/>
          <p:cNvSpPr>
            <a:spLocks/>
          </p:cNvSpPr>
          <p:nvPr/>
        </p:nvSpPr>
        <p:spPr bwMode="auto">
          <a:xfrm>
            <a:off x="8440738" y="893763"/>
            <a:ext cx="342900" cy="1865312"/>
          </a:xfrm>
          <a:custGeom>
            <a:avLst/>
            <a:gdLst>
              <a:gd name="T0" fmla="*/ 0 w 216"/>
              <a:gd name="T1" fmla="*/ 0 h 1175"/>
              <a:gd name="T2" fmla="*/ 488910373 w 216"/>
              <a:gd name="T3" fmla="*/ 1549894637 h 1175"/>
              <a:gd name="T4" fmla="*/ 332660630 w 216"/>
              <a:gd name="T5" fmla="*/ 2147483647 h 1175"/>
              <a:gd name="T6" fmla="*/ 0 60000 65536"/>
              <a:gd name="T7" fmla="*/ 0 60000 65536"/>
              <a:gd name="T8" fmla="*/ 0 60000 65536"/>
              <a:gd name="T9" fmla="*/ 0 w 216"/>
              <a:gd name="T10" fmla="*/ 0 h 1175"/>
              <a:gd name="T11" fmla="*/ 216 w 216"/>
              <a:gd name="T12" fmla="*/ 1175 h 11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" h="1175">
                <a:moveTo>
                  <a:pt x="0" y="0"/>
                </a:moveTo>
                <a:cubicBezTo>
                  <a:pt x="86" y="209"/>
                  <a:pt x="172" y="419"/>
                  <a:pt x="194" y="615"/>
                </a:cubicBezTo>
                <a:cubicBezTo>
                  <a:pt x="216" y="811"/>
                  <a:pt x="174" y="993"/>
                  <a:pt x="132" y="117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5370513" y="1884363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6334125" y="1674813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6778625" y="1465263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36" name="Text Box 36"/>
          <p:cNvSpPr txBox="1">
            <a:spLocks noChangeArrowheads="1"/>
          </p:cNvSpPr>
          <p:nvPr/>
        </p:nvSpPr>
        <p:spPr bwMode="auto">
          <a:xfrm>
            <a:off x="6357938" y="2230438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37" name="Text Box 37"/>
          <p:cNvSpPr txBox="1">
            <a:spLocks noChangeArrowheads="1"/>
          </p:cNvSpPr>
          <p:nvPr/>
        </p:nvSpPr>
        <p:spPr bwMode="auto">
          <a:xfrm>
            <a:off x="6815138" y="2106613"/>
            <a:ext cx="360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38" name="Text Box 38"/>
          <p:cNvSpPr txBox="1">
            <a:spLocks noChangeArrowheads="1"/>
          </p:cNvSpPr>
          <p:nvPr/>
        </p:nvSpPr>
        <p:spPr bwMode="auto">
          <a:xfrm>
            <a:off x="7556500" y="1314450"/>
            <a:ext cx="360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39" name="Text Box 39"/>
          <p:cNvSpPr txBox="1">
            <a:spLocks noChangeArrowheads="1"/>
          </p:cNvSpPr>
          <p:nvPr/>
        </p:nvSpPr>
        <p:spPr bwMode="auto">
          <a:xfrm>
            <a:off x="8137525" y="1179513"/>
            <a:ext cx="360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40" name="Text Box 40"/>
          <p:cNvSpPr txBox="1">
            <a:spLocks noChangeArrowheads="1"/>
          </p:cNvSpPr>
          <p:nvPr/>
        </p:nvSpPr>
        <p:spPr bwMode="auto">
          <a:xfrm>
            <a:off x="8570913" y="895350"/>
            <a:ext cx="360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41" name="Text Box 41"/>
          <p:cNvSpPr txBox="1">
            <a:spLocks noChangeArrowheads="1"/>
          </p:cNvSpPr>
          <p:nvPr/>
        </p:nvSpPr>
        <p:spPr bwMode="auto">
          <a:xfrm>
            <a:off x="8731250" y="1500188"/>
            <a:ext cx="360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42" name="Text Box 42"/>
          <p:cNvSpPr txBox="1">
            <a:spLocks noChangeArrowheads="1"/>
          </p:cNvSpPr>
          <p:nvPr/>
        </p:nvSpPr>
        <p:spPr bwMode="auto">
          <a:xfrm>
            <a:off x="8310563" y="1771650"/>
            <a:ext cx="360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43" name="Text Box 43"/>
          <p:cNvSpPr txBox="1">
            <a:spLocks noChangeArrowheads="1"/>
          </p:cNvSpPr>
          <p:nvPr/>
        </p:nvSpPr>
        <p:spPr bwMode="auto">
          <a:xfrm>
            <a:off x="7667625" y="1981200"/>
            <a:ext cx="360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44" name="Text Box 44"/>
          <p:cNvSpPr txBox="1">
            <a:spLocks noChangeArrowheads="1"/>
          </p:cNvSpPr>
          <p:nvPr/>
        </p:nvSpPr>
        <p:spPr bwMode="auto">
          <a:xfrm>
            <a:off x="7642225" y="2598738"/>
            <a:ext cx="3603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45" name="Text Box 45"/>
          <p:cNvSpPr txBox="1">
            <a:spLocks noChangeArrowheads="1"/>
          </p:cNvSpPr>
          <p:nvPr/>
        </p:nvSpPr>
        <p:spPr bwMode="auto">
          <a:xfrm>
            <a:off x="8285163" y="2413000"/>
            <a:ext cx="360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46" name="Text Box 46"/>
          <p:cNvSpPr txBox="1">
            <a:spLocks noChangeArrowheads="1"/>
          </p:cNvSpPr>
          <p:nvPr/>
        </p:nvSpPr>
        <p:spPr bwMode="auto">
          <a:xfrm>
            <a:off x="8742363" y="2139950"/>
            <a:ext cx="3603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47" name="AutoShape 47"/>
          <p:cNvSpPr>
            <a:spLocks noChangeArrowheads="1"/>
          </p:cNvSpPr>
          <p:nvPr/>
        </p:nvSpPr>
        <p:spPr bwMode="auto">
          <a:xfrm>
            <a:off x="3917950" y="1906588"/>
            <a:ext cx="282575" cy="322262"/>
          </a:xfrm>
          <a:prstGeom prst="sun">
            <a:avLst>
              <a:gd name="adj" fmla="val 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8" name="Text Box 48"/>
          <p:cNvSpPr txBox="1">
            <a:spLocks noChangeArrowheads="1"/>
          </p:cNvSpPr>
          <p:nvPr/>
        </p:nvSpPr>
        <p:spPr bwMode="auto">
          <a:xfrm>
            <a:off x="4076701" y="2443310"/>
            <a:ext cx="13335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dirty="0">
                <a:latin typeface="Tahoma" panose="020B0604030504040204" pitchFamily="34" charset="0"/>
              </a:rPr>
              <a:t>Intensity = I</a:t>
            </a:r>
          </a:p>
        </p:txBody>
      </p:sp>
      <p:graphicFrame>
        <p:nvGraphicFramePr>
          <p:cNvPr id="49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14650"/>
              </p:ext>
            </p:extLst>
          </p:nvPr>
        </p:nvGraphicFramePr>
        <p:xfrm>
          <a:off x="5999957" y="2735263"/>
          <a:ext cx="217487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7" name="Equation" r:id="rId7" imgW="164880" imgH="406080" progId="Equation.3">
                  <p:embed/>
                </p:oleObj>
              </mc:Choice>
              <mc:Fallback>
                <p:oleObj name="Equation" r:id="rId7" imgW="1648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9957" y="2735263"/>
                        <a:ext cx="217487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50"/>
          <p:cNvGraphicFramePr>
            <a:graphicFrameLocks noChangeAspect="1"/>
          </p:cNvGraphicFramePr>
          <p:nvPr/>
        </p:nvGraphicFramePr>
        <p:xfrm>
          <a:off x="7196138" y="3219450"/>
          <a:ext cx="188912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68" name="Equation" r:id="rId9" imgW="152280" imgH="406080" progId="Equation.3">
                  <p:embed/>
                </p:oleObj>
              </mc:Choice>
              <mc:Fallback>
                <p:oleObj name="Equation" r:id="rId9" imgW="15228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6138" y="3219450"/>
                        <a:ext cx="188912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Text Box 51"/>
          <p:cNvSpPr txBox="1">
            <a:spLocks noChangeArrowheads="1"/>
          </p:cNvSpPr>
          <p:nvPr/>
        </p:nvSpPr>
        <p:spPr bwMode="auto">
          <a:xfrm>
            <a:off x="2625725" y="2438400"/>
            <a:ext cx="323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A</a:t>
            </a:r>
          </a:p>
        </p:txBody>
      </p:sp>
      <p:sp>
        <p:nvSpPr>
          <p:cNvPr id="52" name="Text Box 52"/>
          <p:cNvSpPr txBox="1">
            <a:spLocks noChangeArrowheads="1"/>
          </p:cNvSpPr>
          <p:nvPr/>
        </p:nvSpPr>
        <p:spPr bwMode="auto">
          <a:xfrm>
            <a:off x="5472113" y="862013"/>
            <a:ext cx="215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1200"/>
              <a:t>surface of sphere, radius=2r</a:t>
            </a:r>
          </a:p>
        </p:txBody>
      </p:sp>
      <p:sp>
        <p:nvSpPr>
          <p:cNvPr id="53" name="Text Box 53"/>
          <p:cNvSpPr txBox="1">
            <a:spLocks noChangeArrowheads="1"/>
          </p:cNvSpPr>
          <p:nvPr/>
        </p:nvSpPr>
        <p:spPr bwMode="auto">
          <a:xfrm>
            <a:off x="7021513" y="385763"/>
            <a:ext cx="179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1200"/>
              <a:t>surface of sphere, radius=3r</a:t>
            </a:r>
          </a:p>
        </p:txBody>
      </p:sp>
      <p:sp>
        <p:nvSpPr>
          <p:cNvPr id="54" name="Text Box 54"/>
          <p:cNvSpPr txBox="1">
            <a:spLocks noChangeArrowheads="1"/>
          </p:cNvSpPr>
          <p:nvPr/>
        </p:nvSpPr>
        <p:spPr bwMode="auto">
          <a:xfrm>
            <a:off x="4265613" y="1343025"/>
            <a:ext cx="1916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sz="1200"/>
              <a:t>surface of sphere, radius=r</a:t>
            </a:r>
          </a:p>
        </p:txBody>
      </p:sp>
      <p:sp>
        <p:nvSpPr>
          <p:cNvPr id="55" name="Text Box 55"/>
          <p:cNvSpPr txBox="1">
            <a:spLocks noChangeArrowheads="1"/>
          </p:cNvSpPr>
          <p:nvPr/>
        </p:nvSpPr>
        <p:spPr bwMode="auto">
          <a:xfrm>
            <a:off x="4692650" y="2122488"/>
            <a:ext cx="266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r</a:t>
            </a:r>
          </a:p>
        </p:txBody>
      </p:sp>
      <p:sp>
        <p:nvSpPr>
          <p:cNvPr id="56" name="Text Box 56"/>
          <p:cNvSpPr txBox="1">
            <a:spLocks noChangeArrowheads="1"/>
          </p:cNvSpPr>
          <p:nvPr/>
        </p:nvSpPr>
        <p:spPr bwMode="auto">
          <a:xfrm>
            <a:off x="5645150" y="2373313"/>
            <a:ext cx="395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2r</a:t>
            </a:r>
          </a:p>
        </p:txBody>
      </p:sp>
      <p:sp>
        <p:nvSpPr>
          <p:cNvPr id="57" name="Text Box 57"/>
          <p:cNvSpPr txBox="1">
            <a:spLocks noChangeArrowheads="1"/>
          </p:cNvSpPr>
          <p:nvPr/>
        </p:nvSpPr>
        <p:spPr bwMode="auto">
          <a:xfrm>
            <a:off x="6846888" y="2773363"/>
            <a:ext cx="3952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/>
              <a:t>3r</a:t>
            </a:r>
          </a:p>
        </p:txBody>
      </p:sp>
      <p:grpSp>
        <p:nvGrpSpPr>
          <p:cNvPr id="58" name="Group 58"/>
          <p:cNvGrpSpPr>
            <a:grpSpLocks/>
          </p:cNvGrpSpPr>
          <p:nvPr/>
        </p:nvGrpSpPr>
        <p:grpSpPr bwMode="auto">
          <a:xfrm>
            <a:off x="3595017" y="3143195"/>
            <a:ext cx="2997200" cy="765175"/>
            <a:chOff x="2250" y="1697"/>
            <a:chExt cx="1888" cy="482"/>
          </a:xfrm>
        </p:grpSpPr>
        <p:sp>
          <p:nvSpPr>
            <p:cNvPr id="59" name="AutoShape 59"/>
            <p:cNvSpPr>
              <a:spLocks noChangeArrowheads="1"/>
            </p:cNvSpPr>
            <p:nvPr/>
          </p:nvSpPr>
          <p:spPr bwMode="auto">
            <a:xfrm rot="1521988">
              <a:off x="2250" y="1697"/>
              <a:ext cx="1888" cy="181"/>
            </a:xfrm>
            <a:prstGeom prst="rightArrow">
              <a:avLst>
                <a:gd name="adj1" fmla="val 50000"/>
                <a:gd name="adj2" fmla="val 143094"/>
              </a:avLst>
            </a:prstGeom>
            <a:solidFill>
              <a:srgbClr val="00CC99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0" name="Text Box 60"/>
            <p:cNvSpPr txBox="1">
              <a:spLocks noChangeArrowheads="1"/>
            </p:cNvSpPr>
            <p:nvPr/>
          </p:nvSpPr>
          <p:spPr bwMode="auto">
            <a:xfrm>
              <a:off x="2502" y="1849"/>
              <a:ext cx="149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r>
                <a:rPr lang="en-GB" altLang="en-US" sz="1400" i="1" dirty="0"/>
                <a:t>intensity is spread over a progressively bigger area</a:t>
              </a:r>
            </a:p>
          </p:txBody>
        </p:sp>
      </p:grpSp>
      <p:grpSp>
        <p:nvGrpSpPr>
          <p:cNvPr id="61" name="Group 61"/>
          <p:cNvGrpSpPr>
            <a:grpSpLocks/>
          </p:cNvGrpSpPr>
          <p:nvPr/>
        </p:nvGrpSpPr>
        <p:grpSpPr bwMode="auto">
          <a:xfrm>
            <a:off x="5426075" y="4175125"/>
            <a:ext cx="2225675" cy="2274888"/>
            <a:chOff x="4358" y="2647"/>
            <a:chExt cx="1402" cy="1433"/>
          </a:xfrm>
        </p:grpSpPr>
        <p:sp>
          <p:nvSpPr>
            <p:cNvPr id="62" name="Rectangle 62"/>
            <p:cNvSpPr>
              <a:spLocks noChangeArrowheads="1"/>
            </p:cNvSpPr>
            <p:nvPr/>
          </p:nvSpPr>
          <p:spPr bwMode="auto">
            <a:xfrm>
              <a:off x="4358" y="2647"/>
              <a:ext cx="1315" cy="1433"/>
            </a:xfrm>
            <a:prstGeom prst="rect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3" name="Text Box 63"/>
            <p:cNvSpPr txBox="1">
              <a:spLocks noChangeArrowheads="1"/>
            </p:cNvSpPr>
            <p:nvPr/>
          </p:nvSpPr>
          <p:spPr bwMode="auto">
            <a:xfrm>
              <a:off x="4408" y="2672"/>
              <a:ext cx="1352" cy="1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Lucida Sans Unicode" panose="020B0602030504020204" pitchFamily="34" charset="0"/>
                </a:defRPr>
              </a:lvl9pPr>
            </a:lstStyle>
            <a:p>
              <a:r>
                <a:rPr lang="en-GB" altLang="en-US" b="1" u="sng"/>
                <a:t>Intensity (Energy): </a:t>
              </a:r>
            </a:p>
            <a:p>
              <a:endParaRPr lang="en-GB" altLang="en-US"/>
            </a:p>
            <a:p>
              <a:r>
                <a:rPr lang="en-GB" altLang="en-US"/>
                <a:t>at   r = </a:t>
              </a:r>
              <a:r>
                <a:rPr lang="en-GB" altLang="en-US" sz="2000">
                  <a:latin typeface="Tahoma" panose="020B0604030504040204" pitchFamily="34" charset="0"/>
                </a:rPr>
                <a:t>I</a:t>
              </a:r>
              <a:endParaRPr lang="en-GB" altLang="en-US" sz="2000"/>
            </a:p>
            <a:p>
              <a:endParaRPr lang="en-GB" altLang="en-US"/>
            </a:p>
            <a:p>
              <a:r>
                <a:rPr lang="en-GB" altLang="en-US"/>
                <a:t>at 2r =</a:t>
              </a:r>
            </a:p>
            <a:p>
              <a:r>
                <a:rPr lang="en-GB" altLang="en-US"/>
                <a:t>		</a:t>
              </a:r>
            </a:p>
            <a:p>
              <a:endParaRPr lang="en-GB" altLang="en-US"/>
            </a:p>
            <a:p>
              <a:r>
                <a:rPr lang="en-GB" altLang="en-US"/>
                <a:t>at 3r =   </a:t>
              </a:r>
            </a:p>
          </p:txBody>
        </p:sp>
        <p:graphicFrame>
          <p:nvGraphicFramePr>
            <p:cNvPr id="64" name="Object 64"/>
            <p:cNvGraphicFramePr>
              <a:graphicFrameLocks noChangeAspect="1"/>
            </p:cNvGraphicFramePr>
            <p:nvPr/>
          </p:nvGraphicFramePr>
          <p:xfrm>
            <a:off x="4967" y="3212"/>
            <a:ext cx="50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69" name="Equation" r:id="rId11" imgW="507960" imgH="406080" progId="Equation.3">
                    <p:embed/>
                  </p:oleObj>
                </mc:Choice>
                <mc:Fallback>
                  <p:oleObj name="Equation" r:id="rId11" imgW="50796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3212"/>
                          <a:ext cx="502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5" name="Object 65"/>
            <p:cNvGraphicFramePr>
              <a:graphicFrameLocks noChangeAspect="1"/>
            </p:cNvGraphicFramePr>
            <p:nvPr/>
          </p:nvGraphicFramePr>
          <p:xfrm>
            <a:off x="4987" y="3662"/>
            <a:ext cx="468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70" name="Equation" r:id="rId13" imgW="495000" imgH="406080" progId="Equation.3">
                    <p:embed/>
                  </p:oleObj>
                </mc:Choice>
                <mc:Fallback>
                  <p:oleObj name="Equation" r:id="rId13" imgW="49500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7" y="3662"/>
                          <a:ext cx="468" cy="3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6" name="Rectangle 66"/>
          <p:cNvSpPr>
            <a:spLocks noChangeArrowheads="1"/>
          </p:cNvSpPr>
          <p:nvPr/>
        </p:nvSpPr>
        <p:spPr bwMode="auto">
          <a:xfrm>
            <a:off x="7507288" y="4175125"/>
            <a:ext cx="1636712" cy="2274888"/>
          </a:xfrm>
          <a:prstGeom prst="rect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67" name="Text Box 67"/>
          <p:cNvSpPr txBox="1">
            <a:spLocks noChangeArrowheads="1"/>
          </p:cNvSpPr>
          <p:nvPr/>
        </p:nvSpPr>
        <p:spPr bwMode="auto">
          <a:xfrm>
            <a:off x="7875588" y="5102225"/>
            <a:ext cx="1157287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GB" altLang="en-US"/>
          </a:p>
          <a:p>
            <a:r>
              <a:rPr lang="en-GB" altLang="en-US"/>
              <a:t>at nr =	</a:t>
            </a:r>
          </a:p>
          <a:p>
            <a:endParaRPr lang="en-GB" altLang="en-US"/>
          </a:p>
        </p:txBody>
      </p:sp>
      <p:graphicFrame>
        <p:nvGraphicFramePr>
          <p:cNvPr id="68" name="Object 68"/>
          <p:cNvGraphicFramePr>
            <a:graphicFrameLocks noChangeAspect="1"/>
          </p:cNvGraphicFramePr>
          <p:nvPr/>
        </p:nvGraphicFramePr>
        <p:xfrm>
          <a:off x="8777288" y="5173663"/>
          <a:ext cx="323850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1" name="Equation" r:id="rId15" imgW="215640" imgH="406080" progId="Equation.3">
                  <p:embed/>
                </p:oleObj>
              </mc:Choice>
              <mc:Fallback>
                <p:oleObj name="Equation" r:id="rId15" imgW="215640" imgH="406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7288" y="5173663"/>
                        <a:ext cx="323850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69"/>
          <p:cNvSpPr>
            <a:spLocks/>
          </p:cNvSpPr>
          <p:nvPr/>
        </p:nvSpPr>
        <p:spPr bwMode="auto">
          <a:xfrm>
            <a:off x="7502525" y="4784725"/>
            <a:ext cx="214313" cy="1552575"/>
          </a:xfrm>
          <a:prstGeom prst="rightBrace">
            <a:avLst>
              <a:gd name="adj1" fmla="val 603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70" name="Text Box 70"/>
          <p:cNvSpPr txBox="1">
            <a:spLocks noChangeArrowheads="1"/>
          </p:cNvSpPr>
          <p:nvPr/>
        </p:nvSpPr>
        <p:spPr bwMode="auto">
          <a:xfrm>
            <a:off x="430213" y="769938"/>
            <a:ext cx="36020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r>
              <a:rPr lang="en-GB" altLang="en-US" dirty="0"/>
              <a:t>e.g. the reduction of light, sound intensity further from the source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63960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ChangeArrowheads="1"/>
          </p:cNvSpPr>
          <p:nvPr/>
        </p:nvSpPr>
        <p:spPr bwMode="auto">
          <a:xfrm>
            <a:off x="395288" y="331788"/>
            <a:ext cx="4225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Lumens, Luminous Efficacy</a:t>
            </a:r>
          </a:p>
        </p:txBody>
      </p:sp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86" name="Rectangle 6"/>
          <p:cNvSpPr>
            <a:spLocks noChangeArrowheads="1"/>
          </p:cNvSpPr>
          <p:nvPr/>
        </p:nvSpPr>
        <p:spPr bwMode="auto">
          <a:xfrm>
            <a:off x="395288" y="930910"/>
            <a:ext cx="838295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</a:rPr>
              <a:t>Luminous Flux 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dirty="0">
                <a:solidFill>
                  <a:srgbClr val="000000"/>
                </a:solidFill>
              </a:rPr>
              <a:t>visible light energy emitted, </a:t>
            </a:r>
            <a:r>
              <a:rPr lang="en-GB" dirty="0"/>
              <a:t>the power of light perceived by the human eye</a:t>
            </a:r>
          </a:p>
          <a:p>
            <a:pPr marL="179388" indent="-179388">
              <a:buFont typeface="Arial" charset="0"/>
              <a:buChar char="•"/>
            </a:pPr>
            <a:r>
              <a:rPr lang="en-GB" dirty="0"/>
              <a:t>i.e. the varying sensitivity of the human eye to different wavelengths of light</a:t>
            </a:r>
          </a:p>
        </p:txBody>
      </p:sp>
      <p:grpSp>
        <p:nvGrpSpPr>
          <p:cNvPr id="5" name="Group 11"/>
          <p:cNvGrpSpPr>
            <a:grpSpLocks/>
          </p:cNvGrpSpPr>
          <p:nvPr/>
        </p:nvGrpSpPr>
        <p:grpSpPr bwMode="auto">
          <a:xfrm>
            <a:off x="395289" y="4483510"/>
            <a:ext cx="8300654" cy="1356853"/>
            <a:chOff x="395288" y="2989704"/>
            <a:chExt cx="3742411" cy="1293747"/>
          </a:xfrm>
          <a:solidFill>
            <a:srgbClr val="FDEACF"/>
          </a:solidFill>
        </p:grpSpPr>
        <p:sp>
          <p:nvSpPr>
            <p:cNvPr id="7" name="Rectangle 6"/>
            <p:cNvSpPr/>
            <p:nvPr/>
          </p:nvSpPr>
          <p:spPr>
            <a:xfrm>
              <a:off x="395288" y="2989707"/>
              <a:ext cx="2044399" cy="1284370"/>
            </a:xfrm>
            <a:prstGeom prst="rect">
              <a:avLst/>
            </a:prstGeom>
            <a:grpFill/>
            <a:ln>
              <a:solidFill>
                <a:srgbClr val="FDEACF"/>
              </a:solidFill>
            </a:ln>
          </p:spPr>
          <p:txBody>
            <a:bodyPr wrap="square">
              <a:noAutofit/>
            </a:bodyPr>
            <a:lstStyle/>
            <a:p>
              <a:pPr algn="ctr">
                <a:defRPr/>
              </a:pPr>
              <a:endParaRPr lang="en-GB" dirty="0">
                <a:solidFill>
                  <a:srgbClr val="000000"/>
                </a:solidFill>
              </a:endParaRPr>
            </a:p>
            <a:p>
              <a:pPr algn="ctr">
                <a:defRPr/>
              </a:pPr>
              <a:endParaRPr lang="en-GB" dirty="0">
                <a:solidFill>
                  <a:srgbClr val="000000"/>
                </a:solidFill>
              </a:endParaRPr>
            </a:p>
            <a:p>
              <a:pPr algn="ctr">
                <a:defRPr/>
              </a:pPr>
              <a:r>
                <a:rPr lang="en-GB" dirty="0">
                  <a:solidFill>
                    <a:srgbClr val="000000"/>
                  </a:solidFill>
                </a:rPr>
                <a:t>Visible light energy emitted </a:t>
              </a:r>
            </a:p>
            <a:p>
              <a:pPr algn="ctr">
                <a:defRPr/>
              </a:pPr>
              <a:r>
                <a:rPr lang="en-GB" dirty="0">
                  <a:solidFill>
                    <a:srgbClr val="000000"/>
                  </a:solidFill>
                </a:rPr>
                <a:t>(Luminous Flux)</a:t>
              </a:r>
            </a:p>
            <a:p>
              <a:pPr algn="ctr">
                <a:defRPr/>
              </a:pPr>
              <a:r>
                <a:rPr lang="en-GB" dirty="0">
                  <a:solidFill>
                    <a:srgbClr val="000000"/>
                  </a:solidFill>
                </a:rPr>
                <a:t>in </a:t>
              </a:r>
              <a:r>
                <a:rPr lang="en-GB" b="1" i="1" dirty="0">
                  <a:solidFill>
                    <a:srgbClr val="000000"/>
                  </a:solidFill>
                </a:rPr>
                <a:t>Lumens</a:t>
              </a:r>
              <a:r>
                <a:rPr lang="en-GB" dirty="0">
                  <a:solidFill>
                    <a:srgbClr val="000000"/>
                  </a:solidFill>
                </a:rPr>
                <a:t> </a:t>
              </a:r>
              <a:endParaRPr lang="en-GB"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2405377" y="2989704"/>
              <a:ext cx="1732322" cy="1293747"/>
            </a:xfrm>
            <a:prstGeom prst="rect">
              <a:avLst/>
            </a:prstGeom>
            <a:grpFill/>
            <a:ln>
              <a:solidFill>
                <a:srgbClr val="FDEACF"/>
              </a:solidFill>
            </a:ln>
          </p:spPr>
          <p:txBody>
            <a:bodyPr wrap="square">
              <a:noAutofit/>
            </a:bodyPr>
            <a:lstStyle/>
            <a:p>
              <a:pPr algn="ctr">
                <a:defRPr/>
              </a:pPr>
              <a:endParaRPr lang="en-GB" dirty="0">
                <a:solidFill>
                  <a:srgbClr val="000000"/>
                </a:solidFill>
              </a:endParaRPr>
            </a:p>
            <a:p>
              <a:pPr algn="ctr">
                <a:defRPr/>
              </a:pPr>
              <a:endParaRPr lang="en-GB" dirty="0">
                <a:solidFill>
                  <a:srgbClr val="000000"/>
                </a:solidFill>
              </a:endParaRPr>
            </a:p>
            <a:p>
              <a:pPr algn="ctr">
                <a:defRPr/>
              </a:pPr>
              <a:r>
                <a:rPr lang="en-GB" dirty="0">
                  <a:solidFill>
                    <a:srgbClr val="000000"/>
                  </a:solidFill>
                </a:rPr>
                <a:t>Total power input to the lamp</a:t>
              </a:r>
            </a:p>
            <a:p>
              <a:pPr algn="ctr">
                <a:defRPr/>
              </a:pPr>
              <a:r>
                <a:rPr lang="en-GB" dirty="0">
                  <a:solidFill>
                    <a:srgbClr val="000000"/>
                  </a:solidFill>
                </a:rPr>
                <a:t>in </a:t>
              </a:r>
              <a:r>
                <a:rPr lang="en-GB" b="1" i="1" dirty="0">
                  <a:solidFill>
                    <a:srgbClr val="000000"/>
                  </a:solidFill>
                </a:rPr>
                <a:t>Watts</a:t>
              </a:r>
              <a:endParaRPr lang="en-GB" b="1" i="1" dirty="0"/>
            </a:p>
          </p:txBody>
        </p:sp>
        <p:sp>
          <p:nvSpPr>
            <p:cNvPr id="13325" name="TextBox 8"/>
            <p:cNvSpPr txBox="1">
              <a:spLocks noChangeArrowheads="1"/>
            </p:cNvSpPr>
            <p:nvPr/>
          </p:nvSpPr>
          <p:spPr bwMode="auto">
            <a:xfrm>
              <a:off x="2307753" y="3483539"/>
              <a:ext cx="330540" cy="6463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 sz="3600" b="1" dirty="0"/>
                <a:t>:</a:t>
              </a:r>
              <a:endParaRPr lang="en-GB" b="1" dirty="0"/>
            </a:p>
          </p:txBody>
        </p:sp>
      </p:grpSp>
      <p:sp>
        <p:nvSpPr>
          <p:cNvPr id="13320" name="Rectangle 16"/>
          <p:cNvSpPr>
            <a:spLocks noChangeArrowheads="1"/>
          </p:cNvSpPr>
          <p:nvPr/>
        </p:nvSpPr>
        <p:spPr bwMode="auto">
          <a:xfrm>
            <a:off x="3441940" y="5935019"/>
            <a:ext cx="48425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i="1" dirty="0">
                <a:solidFill>
                  <a:srgbClr val="000000"/>
                </a:solidFill>
              </a:rPr>
              <a:t>… a measure of how well the distribution of energy matches the perception of the eye</a:t>
            </a:r>
          </a:p>
        </p:txBody>
      </p:sp>
      <p:sp>
        <p:nvSpPr>
          <p:cNvPr id="2" name="Rounded Rectangular Callout 1"/>
          <p:cNvSpPr/>
          <p:nvPr/>
        </p:nvSpPr>
        <p:spPr>
          <a:xfrm>
            <a:off x="6739127" y="4585547"/>
            <a:ext cx="2404873" cy="289441"/>
          </a:xfrm>
          <a:prstGeom prst="wedgeRoundRectCallout">
            <a:avLst>
              <a:gd name="adj1" fmla="val 26665"/>
              <a:gd name="adj2" fmla="val 3037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lang="en-GB" sz="1100" dirty="0"/>
              <a:t>Efficacy = “Effectiveness”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4549518"/>
            <a:ext cx="311976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9388" indent="-179388">
              <a:defRPr/>
            </a:pPr>
            <a:r>
              <a:rPr lang="en-GB" b="1" dirty="0"/>
              <a:t>Luminous efficacy </a:t>
            </a:r>
            <a:r>
              <a:rPr lang="en-GB" dirty="0"/>
              <a:t>– </a:t>
            </a:r>
            <a:r>
              <a:rPr lang="en-GB" i="1" dirty="0"/>
              <a:t>a ratio ...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65920" y="2117390"/>
            <a:ext cx="59780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/>
            <a:r>
              <a:rPr lang="en-GB" b="1" dirty="0"/>
              <a:t>Radiant flux </a:t>
            </a:r>
          </a:p>
          <a:p>
            <a:pPr marL="179388" indent="-179388">
              <a:buFont typeface="Arial" charset="0"/>
              <a:buChar char="•"/>
            </a:pPr>
            <a:r>
              <a:rPr lang="en-GB" dirty="0"/>
              <a:t>total power of light emitted, Watts</a:t>
            </a:r>
          </a:p>
          <a:p>
            <a:pPr marL="179388" indent="-179388">
              <a:buFont typeface="Arial" charset="0"/>
              <a:buChar char="•"/>
            </a:pPr>
            <a:endParaRPr lang="en-GB" dirty="0"/>
          </a:p>
          <a:p>
            <a:pPr marL="179388" indent="-179388">
              <a:buFont typeface="Arial" charset="0"/>
              <a:buChar char="•"/>
            </a:pPr>
            <a:endParaRPr lang="en-GB" dirty="0"/>
          </a:p>
          <a:p>
            <a:r>
              <a:rPr lang="en-GB" b="1" dirty="0"/>
              <a:t>Luminous Intensity</a:t>
            </a:r>
          </a:p>
          <a:p>
            <a:pPr marL="182563" indent="-182563">
              <a:buFont typeface="Arial" pitchFamily="34" charset="0"/>
              <a:buChar char="•"/>
            </a:pPr>
            <a:r>
              <a:rPr lang="en-US" dirty="0"/>
              <a:t>quantity of luminous flux emitted in a given direction per </a:t>
            </a:r>
            <a:r>
              <a:rPr lang="en-US" i="1" dirty="0"/>
              <a:t>solid angle</a:t>
            </a:r>
            <a:endParaRPr lang="en-GB" b="1" i="1" dirty="0"/>
          </a:p>
        </p:txBody>
      </p:sp>
      <p:pic>
        <p:nvPicPr>
          <p:cNvPr id="2054" name="Picture 6" descr="http://www.handprint.com/HP/WCL/IMG/photunit2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19338"/>
            <a:ext cx="2472055" cy="2595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 bwMode="auto">
          <a:xfrm flipH="1" flipV="1">
            <a:off x="2240280" y="3493008"/>
            <a:ext cx="1069848" cy="2377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048125" y="1328738"/>
            <a:ext cx="4964113" cy="3346450"/>
            <a:chOff x="1221259" y="3789575"/>
            <a:chExt cx="4554774" cy="2724347"/>
          </a:xfrm>
        </p:grpSpPr>
        <p:pic>
          <p:nvPicPr>
            <p:cNvPr id="8" name="Picture 4" descr="File:CIE 1931 Luminosity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21259" y="3789575"/>
              <a:ext cx="4554774" cy="27243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" name="Picture 5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687841" y="5062193"/>
              <a:ext cx="4024802" cy="31550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</p:grpSp>
      <p:sp>
        <p:nvSpPr>
          <p:cNvPr id="10" name="Rectangle 9"/>
          <p:cNvSpPr/>
          <p:nvPr/>
        </p:nvSpPr>
        <p:spPr>
          <a:xfrm rot="16200000">
            <a:off x="3546561" y="1765480"/>
            <a:ext cx="899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/>
              <a:t>efficacy </a:t>
            </a: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 flipV="1">
            <a:off x="4114364" y="1401645"/>
            <a:ext cx="1489" cy="435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>
            <a:off x="6444343" y="1600200"/>
            <a:ext cx="0" cy="265611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2688336" y="2633472"/>
            <a:ext cx="3721608" cy="144475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395288" y="1075182"/>
            <a:ext cx="3381184" cy="4221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</a:pPr>
            <a:r>
              <a:rPr lang="en-GB" b="1" i="1" dirty="0"/>
              <a:t>Maximum</a:t>
            </a:r>
            <a:r>
              <a:rPr lang="en-GB" b="1" dirty="0"/>
              <a:t> efficacy possible </a:t>
            </a:r>
          </a:p>
          <a:p>
            <a:pPr>
              <a:lnSpc>
                <a:spcPts val="2300"/>
              </a:lnSpc>
            </a:pPr>
            <a:r>
              <a:rPr lang="en-GB" dirty="0"/>
              <a:t>is </a:t>
            </a:r>
            <a:r>
              <a:rPr lang="en-GB" b="1" dirty="0"/>
              <a:t>683 lm/W </a:t>
            </a:r>
          </a:p>
          <a:p>
            <a:pPr>
              <a:lnSpc>
                <a:spcPts val="2300"/>
              </a:lnSpc>
            </a:pPr>
            <a:r>
              <a:rPr lang="en-GB" dirty="0"/>
              <a:t>for monochromatic green light at 555 nanometres wavelength</a:t>
            </a:r>
          </a:p>
          <a:p>
            <a:pPr marL="179388" indent="-179388">
              <a:lnSpc>
                <a:spcPts val="2300"/>
              </a:lnSpc>
            </a:pPr>
            <a:r>
              <a:rPr lang="en-GB" dirty="0"/>
              <a:t>... the peak sensitivity of the human eye</a:t>
            </a:r>
          </a:p>
          <a:p>
            <a:pPr marL="179388" indent="-179388">
              <a:lnSpc>
                <a:spcPts val="2300"/>
              </a:lnSpc>
            </a:pPr>
            <a:endParaRPr lang="en-GB" dirty="0"/>
          </a:p>
          <a:p>
            <a:pPr marL="179388" indent="-179388">
              <a:lnSpc>
                <a:spcPts val="2300"/>
              </a:lnSpc>
            </a:pPr>
            <a:endParaRPr lang="en-GB" dirty="0"/>
          </a:p>
          <a:p>
            <a:pPr>
              <a:lnSpc>
                <a:spcPts val="2300"/>
              </a:lnSpc>
            </a:pPr>
            <a:r>
              <a:rPr lang="en-GB" b="1" dirty="0"/>
              <a:t>For “white light”</a:t>
            </a:r>
          </a:p>
          <a:p>
            <a:pPr>
              <a:lnSpc>
                <a:spcPts val="2300"/>
              </a:lnSpc>
            </a:pPr>
            <a:r>
              <a:rPr lang="en-GB" dirty="0"/>
              <a:t>maximum luminous efficacy is ~</a:t>
            </a:r>
            <a:r>
              <a:rPr lang="en-GB" b="1" dirty="0"/>
              <a:t>240 lm/W</a:t>
            </a:r>
          </a:p>
          <a:p>
            <a:pPr marL="179388" indent="-179388">
              <a:lnSpc>
                <a:spcPts val="2300"/>
              </a:lnSpc>
            </a:pPr>
            <a:r>
              <a:rPr lang="en-GB" dirty="0"/>
              <a:t>... the human eye perceives many different mixtures of visible light as "white"</a:t>
            </a:r>
          </a:p>
        </p:txBody>
      </p:sp>
      <p:sp>
        <p:nvSpPr>
          <p:cNvPr id="18" name="Rectangle 3"/>
          <p:cNvSpPr>
            <a:spLocks noChangeArrowheads="1"/>
          </p:cNvSpPr>
          <p:nvPr/>
        </p:nvSpPr>
        <p:spPr bwMode="auto">
          <a:xfrm>
            <a:off x="395288" y="331788"/>
            <a:ext cx="4225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Lumens, Luminous Efficacy</a:t>
            </a:r>
          </a:p>
        </p:txBody>
      </p:sp>
    </p:spTree>
    <p:extLst>
      <p:ext uri="{BB962C8B-B14F-4D97-AF65-F5344CB8AC3E}">
        <p14:creationId xmlns:p14="http://schemas.microsoft.com/office/powerpoint/2010/main" val="2365432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395288" y="331788"/>
            <a:ext cx="42259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Lumens, Luminous Efficacy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119802"/>
              </p:ext>
            </p:extLst>
          </p:nvPr>
        </p:nvGraphicFramePr>
        <p:xfrm>
          <a:off x="2066544" y="859434"/>
          <a:ext cx="5614252" cy="5521344"/>
        </p:xfrm>
        <a:graphic>
          <a:graphicData uri="http://schemas.openxmlformats.org/drawingml/2006/table">
            <a:tbl>
              <a:tblPr/>
              <a:tblGrid>
                <a:gridCol w="2527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3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0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5457"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Type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Overall luminous efficiency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Overall luminous efficacy (lm/W)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354"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40 W tungsten incandescent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1.9%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12.6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354"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60 W tungsten incandescent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2.1%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14.5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354"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100 W tungsten incandescent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2.6%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17.5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177"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glass halogen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2.3%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16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177"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quartz halogen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3.5%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24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354"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high-temperature incandescent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5.1%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35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3793"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ideal </a:t>
                      </a:r>
                      <a:r>
                        <a:rPr lang="en-GB" sz="1400" u="none" strike="noStrike" dirty="0">
                          <a:solidFill>
                            <a:srgbClr val="0645AD"/>
                          </a:solidFill>
                        </a:rPr>
                        <a:t>black-body</a:t>
                      </a:r>
                      <a:r>
                        <a:rPr lang="en-GB" sz="1400" dirty="0"/>
                        <a:t> radiator at 4000 K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7.0%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47.5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9354"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ideal black-body radiator at 7000 K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14%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95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842970"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ideal monochromatic 555 nm (green) source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/>
                        <a:t>100%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dirty="0"/>
                        <a:t>683</a:t>
                      </a:r>
                    </a:p>
                  </a:txBody>
                  <a:tcPr marL="49561" marR="49561" marT="24780" marB="24780" anchor="ctr">
                    <a:lnL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95288" y="331788"/>
            <a:ext cx="47545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Incandescent (Tungsten) Lamp</a:t>
            </a:r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745071"/>
            <a:ext cx="7104129" cy="2831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258681" y="3863189"/>
            <a:ext cx="3175000" cy="230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Outline of Glass bulb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Low pressure inert gas (argon, neon, nitrogen)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Tungsten filament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Contact wire (goes out of stem)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Contact wire (goes into stem)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Support wires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Stem (glass mount)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Contact wire (goes out of stem)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Cap (sleeve)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Insulation (</a:t>
            </a:r>
            <a:r>
              <a:rPr lang="en-GB" sz="1200" dirty="0" err="1"/>
              <a:t>vitrite</a:t>
            </a:r>
            <a:r>
              <a:rPr lang="en-GB" sz="1200" dirty="0"/>
              <a:t>)</a:t>
            </a:r>
          </a:p>
          <a:p>
            <a:pPr marL="228600" indent="-228600">
              <a:buFont typeface="Lucida Sans Unicode" pitchFamily="34" charset="0"/>
              <a:buAutoNum type="arabicPeriod"/>
            </a:pPr>
            <a:r>
              <a:rPr lang="en-GB" sz="1200" dirty="0"/>
              <a:t>Electrical contact</a:t>
            </a:r>
          </a:p>
        </p:txBody>
      </p:sp>
      <p:pic>
        <p:nvPicPr>
          <p:cNvPr id="6" name="Picture 4" descr="Incandescent light bulb.sv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86500" y="2789787"/>
            <a:ext cx="28575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arrilit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33975" y="803275"/>
            <a:ext cx="4010025" cy="4486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395288" y="2996756"/>
            <a:ext cx="8126412" cy="318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spcAft>
                <a:spcPts val="300"/>
              </a:spcAft>
            </a:pPr>
            <a:r>
              <a:rPr lang="en-GB" b="1" dirty="0"/>
              <a:t>Advantages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Cheap, uncomplicated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no need for an additional starter circuits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endParaRPr lang="en-GB" dirty="0"/>
          </a:p>
          <a:p>
            <a:pPr marL="179388" indent="-179388">
              <a:spcAft>
                <a:spcPts val="300"/>
              </a:spcAft>
            </a:pPr>
            <a:r>
              <a:rPr lang="en-GB" b="1" dirty="0"/>
              <a:t>Disadvantages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Hot 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Bulb life often short; often expensive bulbs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for daylight, a colour correction filter required </a:t>
            </a:r>
          </a:p>
          <a:p>
            <a:pPr marL="636588" lvl="1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loses half the light output 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Inefficient, Lumen-Per-Watt </a:t>
            </a:r>
          </a:p>
          <a:p>
            <a:pPr marL="636588" lvl="1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least efficient technology on the market today</a:t>
            </a:r>
          </a:p>
        </p:txBody>
      </p:sp>
      <p:sp>
        <p:nvSpPr>
          <p:cNvPr id="16388" name="TextBox 6"/>
          <p:cNvSpPr txBox="1">
            <a:spLocks noChangeArrowheads="1"/>
          </p:cNvSpPr>
          <p:nvPr/>
        </p:nvSpPr>
        <p:spPr bwMode="auto">
          <a:xfrm>
            <a:off x="395288" y="331788"/>
            <a:ext cx="75072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lang="en-GB" sz="2400" b="1"/>
              <a:t>Tungsten / Halogen Lamps (aka Quartz Halogen)</a:t>
            </a:r>
          </a:p>
        </p:txBody>
      </p:sp>
      <p:sp>
        <p:nvSpPr>
          <p:cNvPr id="16389" name="Rectangle 7"/>
          <p:cNvSpPr>
            <a:spLocks noChangeArrowheads="1"/>
          </p:cNvSpPr>
          <p:nvPr/>
        </p:nvSpPr>
        <p:spPr bwMode="auto">
          <a:xfrm>
            <a:off x="395288" y="957898"/>
            <a:ext cx="4883150" cy="1762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tungsten filament “hot lights”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general use in film market up to 20kW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mobile – </a:t>
            </a:r>
            <a:r>
              <a:rPr lang="en-GB" dirty="0" err="1"/>
              <a:t>typ</a:t>
            </a:r>
            <a:r>
              <a:rPr lang="en-GB" dirty="0"/>
              <a:t> up to 2kW 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for DV cameras ~1kW usually ok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endParaRPr lang="en-GB" dirty="0"/>
          </a:p>
          <a:p>
            <a:pPr marL="179388" indent="-179388">
              <a:spcAft>
                <a:spcPts val="300"/>
              </a:spcAft>
            </a:pPr>
            <a:r>
              <a:rPr lang="en-GB" b="1" dirty="0"/>
              <a:t>Colour - </a:t>
            </a:r>
            <a:r>
              <a:rPr lang="en-GB" dirty="0"/>
              <a:t>Nominally 3000 - 3200K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95288" y="331788"/>
            <a:ext cx="2482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Halogen Lamps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288" y="897636"/>
            <a:ext cx="4752784" cy="4624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operate at higher temperature than a standard gas filled lamp of similar power without loss of operating life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endParaRPr lang="en-GB" dirty="0"/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higher efficacy (10–30 lm/W)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endParaRPr lang="en-GB" dirty="0"/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endParaRPr lang="en-GB" dirty="0"/>
          </a:p>
          <a:p>
            <a:pPr>
              <a:defRPr/>
            </a:pPr>
            <a:r>
              <a:rPr lang="en-GB" b="1" dirty="0"/>
              <a:t>Why Halogen …</a:t>
            </a:r>
          </a:p>
          <a:p>
            <a:pPr>
              <a:defRPr/>
            </a:pPr>
            <a:r>
              <a:rPr lang="en-GB" dirty="0"/>
              <a:t>Ordinary incandescent lamps</a:t>
            </a:r>
          </a:p>
          <a:p>
            <a:pPr>
              <a:defRPr/>
            </a:pPr>
            <a:r>
              <a:rPr lang="en-GB" dirty="0"/>
              <a:t>- tungsten is mostly deposited on the bulb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endParaRPr lang="en-GB" dirty="0"/>
          </a:p>
          <a:p>
            <a:pPr marL="179388" indent="-179388">
              <a:spcAft>
                <a:spcPts val="300"/>
              </a:spcAft>
              <a:defRPr/>
            </a:pPr>
            <a:r>
              <a:rPr lang="en-GB" b="1" dirty="0"/>
              <a:t>Halogen gas + Tungsten filament </a:t>
            </a:r>
          </a:p>
          <a:p>
            <a:pPr>
              <a:spcAft>
                <a:spcPts val="300"/>
              </a:spcAft>
              <a:defRPr/>
            </a:pPr>
            <a:r>
              <a:rPr lang="en-GB" dirty="0"/>
              <a:t>&gt;&gt; chemical reaction - a </a:t>
            </a:r>
            <a:r>
              <a:rPr lang="en-GB" i="1" dirty="0"/>
              <a:t>halogen cycle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increases the lifetime of the bulb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prevents its darkening by </a:t>
            </a:r>
            <a:r>
              <a:rPr lang="en-GB" dirty="0" err="1"/>
              <a:t>redepositing</a:t>
            </a:r>
            <a:r>
              <a:rPr lang="en-GB" dirty="0"/>
              <a:t> tungsten from the inside of the bulb back onto the filament</a:t>
            </a:r>
          </a:p>
        </p:txBody>
      </p:sp>
      <p:pic>
        <p:nvPicPr>
          <p:cNvPr id="17412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7150" y="331788"/>
            <a:ext cx="2736850" cy="41386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7413" name="Picture 7" descr="http://www.newcenturylighting.com/images/pic_lightbul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22825" y="4533900"/>
            <a:ext cx="39243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7414" name="Straight Arrow Connector 10"/>
          <p:cNvCxnSpPr>
            <a:cxnSpLocks noChangeShapeType="1"/>
          </p:cNvCxnSpPr>
          <p:nvPr/>
        </p:nvCxnSpPr>
        <p:spPr bwMode="auto">
          <a:xfrm>
            <a:off x="4839399" y="3520567"/>
            <a:ext cx="729297" cy="95999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95288" y="331788"/>
            <a:ext cx="23034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Halogen Cycle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5288" y="796735"/>
            <a:ext cx="5859208" cy="550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2563" indent="-163513">
              <a:buFont typeface="Arial" charset="0"/>
              <a:buChar char="•"/>
            </a:pPr>
            <a:r>
              <a:rPr lang="en-GB" dirty="0"/>
              <a:t>Tungsten atoms evaporate from the hot filament </a:t>
            </a:r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diffuse near cooler bulb wall</a:t>
            </a:r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filament temperature ~ 3030</a:t>
            </a:r>
            <a:r>
              <a:rPr lang="en-GB" baseline="30000" dirty="0"/>
              <a:t>o</a:t>
            </a:r>
            <a:r>
              <a:rPr lang="en-GB" dirty="0"/>
              <a:t> Celsius; bulb wall ~730</a:t>
            </a:r>
            <a:r>
              <a:rPr lang="en-GB" baseline="30000" dirty="0"/>
              <a:t>o</a:t>
            </a:r>
            <a:r>
              <a:rPr lang="en-GB" dirty="0"/>
              <a:t> C</a:t>
            </a:r>
          </a:p>
          <a:p>
            <a:pPr marL="182563" indent="-163513">
              <a:buFont typeface="Arial" charset="0"/>
              <a:buChar char="•"/>
            </a:pPr>
            <a:endParaRPr lang="en-GB" dirty="0"/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Tungsten, oxygen and halogen atoms combine near the glass</a:t>
            </a:r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form tungsten </a:t>
            </a:r>
            <a:r>
              <a:rPr lang="en-GB" dirty="0" err="1"/>
              <a:t>oxyhalide</a:t>
            </a:r>
            <a:r>
              <a:rPr lang="en-GB" dirty="0"/>
              <a:t> molecules</a:t>
            </a:r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Halogen used: originally iodine, now bromine</a:t>
            </a:r>
          </a:p>
          <a:p>
            <a:pPr marL="182563" indent="-163513">
              <a:buFont typeface="Arial" charset="0"/>
              <a:buChar char="•"/>
            </a:pPr>
            <a:endParaRPr lang="en-GB" dirty="0"/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Tungsten </a:t>
            </a:r>
            <a:r>
              <a:rPr lang="en-GB" dirty="0" err="1"/>
              <a:t>oxyhalides</a:t>
            </a:r>
            <a:r>
              <a:rPr lang="en-GB" dirty="0"/>
              <a:t> remain in a </a:t>
            </a:r>
            <a:r>
              <a:rPr lang="en-GB" dirty="0" err="1"/>
              <a:t>vapor</a:t>
            </a:r>
            <a:r>
              <a:rPr lang="en-GB" dirty="0"/>
              <a:t> phase at the bulb-wall </a:t>
            </a:r>
          </a:p>
          <a:p>
            <a:pPr marL="182563" indent="-163513">
              <a:buFont typeface="Arial" charset="0"/>
              <a:buChar char="•"/>
            </a:pPr>
            <a:r>
              <a:rPr lang="en-GB" dirty="0" err="1"/>
              <a:t>vapor</a:t>
            </a:r>
            <a:r>
              <a:rPr lang="en-GB" dirty="0"/>
              <a:t> moves toward the hot filament</a:t>
            </a:r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diffusion and convection currents are responsible for the movement</a:t>
            </a:r>
          </a:p>
          <a:p>
            <a:pPr marL="182563" indent="-163513">
              <a:buFont typeface="Arial" charset="0"/>
              <a:buChar char="•"/>
            </a:pPr>
            <a:endParaRPr lang="en-GB" dirty="0"/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High temperatures near filament break the tungsten </a:t>
            </a:r>
            <a:r>
              <a:rPr lang="en-GB" dirty="0" err="1"/>
              <a:t>oxyhalide</a:t>
            </a:r>
            <a:r>
              <a:rPr lang="en-GB" dirty="0"/>
              <a:t> molecules apart oxygen and halogen atoms move back toward the bulb wall </a:t>
            </a:r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tungsten atoms re-deposit on the filament</a:t>
            </a:r>
          </a:p>
          <a:p>
            <a:pPr marL="182563" indent="-163513">
              <a:buFont typeface="Arial" charset="0"/>
              <a:buChar char="•"/>
            </a:pPr>
            <a:endParaRPr lang="en-GB" dirty="0"/>
          </a:p>
          <a:p>
            <a:pPr marL="182563" indent="-163513">
              <a:buFont typeface="Arial" charset="0"/>
              <a:buChar char="•"/>
            </a:pPr>
            <a:r>
              <a:rPr lang="en-GB" dirty="0"/>
              <a:t>cycle repeats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0"/>
            <a:ext cx="2667000" cy="166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 descr="http://www.osram.asia/media/resource/imageM/334644/halogen-cycle-02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641348"/>
            <a:ext cx="2667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://www.osram.asia/media/resource/imageM/334645/halogen-cycle-03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287268"/>
            <a:ext cx="2667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http://www.osram.asia/media/resource/imageM/334646/halogen-cycle-0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4924044"/>
            <a:ext cx="2667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1957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395288" y="331788"/>
            <a:ext cx="2482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Halogen Lamps</a:t>
            </a:r>
          </a:p>
        </p:txBody>
      </p:sp>
      <p:sp>
        <p:nvSpPr>
          <p:cNvPr id="19460" name="Rectangle 43"/>
          <p:cNvSpPr>
            <a:spLocks noChangeArrowheads="1"/>
          </p:cNvSpPr>
          <p:nvPr/>
        </p:nvSpPr>
        <p:spPr bwMode="auto">
          <a:xfrm>
            <a:off x="395288" y="801914"/>
            <a:ext cx="4612142" cy="2577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produces a continuous* spectrum of light</a:t>
            </a:r>
          </a:p>
          <a:p>
            <a:pPr marL="179388" lvl="1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from near ultraviolet to infrared</a:t>
            </a:r>
          </a:p>
          <a:p>
            <a:pPr marL="179388" indent="-179388">
              <a:spcAft>
                <a:spcPts val="300"/>
              </a:spcAft>
              <a:tabLst>
                <a:tab pos="358775" algn="l"/>
              </a:tabLst>
            </a:pPr>
            <a:r>
              <a:rPr lang="en-GB" dirty="0"/>
              <a:t>		</a:t>
            </a:r>
            <a:r>
              <a:rPr lang="en-GB" sz="1400" dirty="0"/>
              <a:t>(</a:t>
            </a:r>
            <a:r>
              <a:rPr lang="en-GB" sz="1400" i="1" dirty="0"/>
              <a:t>c.f.</a:t>
            </a:r>
            <a:r>
              <a:rPr lang="en-GB" sz="1400" dirty="0"/>
              <a:t> arc lamps – “</a:t>
            </a:r>
            <a:r>
              <a:rPr lang="en-GB" sz="1400" dirty="0" err="1"/>
              <a:t>spikey</a:t>
            </a:r>
            <a:r>
              <a:rPr lang="en-GB" sz="1400" dirty="0"/>
              <a:t>” spectra)</a:t>
            </a:r>
            <a:endParaRPr lang="en-GB" dirty="0"/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filament operates at higher temperature than a non-halogen lamp</a:t>
            </a:r>
          </a:p>
          <a:p>
            <a:pPr marL="636588" lvl="1" indent="-179388"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the spectrum is shifted toward blue</a:t>
            </a:r>
          </a:p>
          <a:p>
            <a:pPr marL="636588" lvl="1" indent="-179388">
              <a:spcAft>
                <a:spcPts val="300"/>
              </a:spcAft>
            </a:pPr>
            <a:r>
              <a:rPr lang="en-GB" dirty="0"/>
              <a:t>= higher effective colour temperature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endParaRPr lang="en-GB" dirty="0"/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endParaRPr lang="en-GB" dirty="0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18100" y="340414"/>
            <a:ext cx="4025900" cy="60880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434" name="Picture 2" descr="http://zeiss-campus.magnet.fsu.edu/articles/lightsources/images/tungstenlampsfigure1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3164095"/>
            <a:ext cx="4623026" cy="33285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95288" y="331788"/>
            <a:ext cx="2482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Halogen Lamps</a:t>
            </a:r>
          </a:p>
        </p:txBody>
      </p:sp>
      <p:sp>
        <p:nvSpPr>
          <p:cNvPr id="6" name="Rectangle 43"/>
          <p:cNvSpPr>
            <a:spLocks noChangeArrowheads="1"/>
          </p:cNvSpPr>
          <p:nvPr/>
        </p:nvSpPr>
        <p:spPr bwMode="auto">
          <a:xfrm>
            <a:off x="395288" y="1215571"/>
            <a:ext cx="4437970" cy="41780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9388" indent="-179388">
              <a:spcAft>
                <a:spcPts val="300"/>
              </a:spcAft>
            </a:pPr>
            <a:r>
              <a:rPr lang="en-GB" b="1" dirty="0"/>
              <a:t>Warning!</a:t>
            </a:r>
          </a:p>
          <a:p>
            <a:pPr marL="179388" indent="-179388">
              <a:spcAft>
                <a:spcPts val="300"/>
              </a:spcAft>
              <a:buFont typeface="Arial" charset="0"/>
              <a:buChar char="•"/>
            </a:pPr>
            <a:endParaRPr lang="en-GB" dirty="0"/>
          </a:p>
          <a:p>
            <a:pPr marL="179388" indent="-179388">
              <a:lnSpc>
                <a:spcPct val="150000"/>
              </a:lnSpc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hotter than regular incandescent lamps </a:t>
            </a:r>
          </a:p>
          <a:p>
            <a:pPr marL="179388" indent="-179388">
              <a:lnSpc>
                <a:spcPct val="150000"/>
              </a:lnSpc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heat is concentrated on a smaller envelope surface</a:t>
            </a:r>
          </a:p>
          <a:p>
            <a:pPr marL="179388" indent="-179388">
              <a:lnSpc>
                <a:spcPct val="150000"/>
              </a:lnSpc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surface is closer to the filament</a:t>
            </a:r>
          </a:p>
          <a:p>
            <a:pPr marL="179388" indent="-179388">
              <a:lnSpc>
                <a:spcPct val="150000"/>
              </a:lnSpc>
              <a:spcAft>
                <a:spcPts val="300"/>
              </a:spcAft>
              <a:buFont typeface="Arial" charset="0"/>
              <a:buChar char="•"/>
            </a:pPr>
            <a:endParaRPr lang="en-GB" dirty="0"/>
          </a:p>
          <a:p>
            <a:pPr marL="179388" indent="-179388">
              <a:lnSpc>
                <a:spcPct val="150000"/>
              </a:lnSpc>
              <a:spcAft>
                <a:spcPts val="300"/>
              </a:spcAft>
              <a:buFont typeface="Arial" charset="0"/>
              <a:buChar char="•"/>
            </a:pPr>
            <a:r>
              <a:rPr lang="en-GB" dirty="0"/>
              <a:t>sunburn risk from excess exposure to UV </a:t>
            </a:r>
          </a:p>
          <a:p>
            <a:pPr marL="179388" indent="-179388">
              <a:lnSpc>
                <a:spcPct val="150000"/>
              </a:lnSpc>
              <a:spcAft>
                <a:spcPts val="300"/>
              </a:spcAft>
            </a:pPr>
            <a:r>
              <a:rPr lang="en-GB" dirty="0"/>
              <a:t>... so usually have UV-absorbing glass filter 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18100" y="331788"/>
            <a:ext cx="4025900" cy="60880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auto">
          <a:xfrm>
            <a:off x="395288" y="331788"/>
            <a:ext cx="2482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Halogen Lamps</a:t>
            </a:r>
          </a:p>
        </p:txBody>
      </p:sp>
      <p:pic>
        <p:nvPicPr>
          <p:cNvPr id="2048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18100" y="331788"/>
            <a:ext cx="4025900" cy="60880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20484" name="Rectangle 5"/>
          <p:cNvSpPr>
            <a:spLocks noChangeArrowheads="1"/>
          </p:cNvSpPr>
          <p:nvPr/>
        </p:nvSpPr>
        <p:spPr bwMode="auto">
          <a:xfrm>
            <a:off x="395288" y="1076325"/>
            <a:ext cx="4572000" cy="486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lnSpc>
                <a:spcPct val="150000"/>
              </a:lnSpc>
            </a:pPr>
            <a:r>
              <a:rPr lang="en-GB" b="1"/>
              <a:t>Handling</a:t>
            </a:r>
          </a:p>
          <a:p>
            <a:pPr marL="179388" indent="-179388">
              <a:lnSpc>
                <a:spcPct val="150000"/>
              </a:lnSpc>
              <a:buFont typeface="Arial" charset="0"/>
              <a:buChar char="•"/>
            </a:pPr>
            <a:r>
              <a:rPr lang="en-GB"/>
              <a:t>contamination - notably fingerprints - can damage the quartz envelope when it is heated</a:t>
            </a:r>
          </a:p>
          <a:p>
            <a:pPr marL="179388" indent="-179388">
              <a:lnSpc>
                <a:spcPct val="150000"/>
              </a:lnSpc>
              <a:buFont typeface="Arial" charset="0"/>
              <a:buChar char="•"/>
            </a:pPr>
            <a:r>
              <a:rPr lang="en-GB"/>
              <a:t>contaminants create a hot spot on the bulb surface </a:t>
            </a:r>
          </a:p>
          <a:p>
            <a:pPr marL="179388" indent="-179388">
              <a:lnSpc>
                <a:spcPct val="150000"/>
              </a:lnSpc>
              <a:buFont typeface="Arial" charset="0"/>
              <a:buChar char="•"/>
            </a:pPr>
            <a:r>
              <a:rPr lang="en-GB"/>
              <a:t>extreme, localized heat causes the quartz to change from its vitreous form into a weaker, crystalline form that leaks gas</a:t>
            </a:r>
          </a:p>
          <a:p>
            <a:pPr marL="179388" indent="-179388">
              <a:lnSpc>
                <a:spcPct val="150000"/>
              </a:lnSpc>
              <a:buFont typeface="Arial" charset="0"/>
              <a:buChar char="•"/>
            </a:pPr>
            <a:r>
              <a:rPr lang="en-GB"/>
              <a:t>may form a bubble</a:t>
            </a:r>
          </a:p>
          <a:p>
            <a:pPr marL="179388" indent="-179388">
              <a:lnSpc>
                <a:spcPct val="150000"/>
              </a:lnSpc>
              <a:buFont typeface="Arial" charset="0"/>
              <a:buChar char="•"/>
            </a:pPr>
            <a:r>
              <a:rPr lang="en-GB"/>
              <a:t>leading to failure or explosion</a:t>
            </a:r>
          </a:p>
          <a:p>
            <a:pPr marL="179388" indent="-179388">
              <a:lnSpc>
                <a:spcPct val="150000"/>
              </a:lnSpc>
            </a:pPr>
            <a:r>
              <a:rPr lang="en-GB">
                <a:ea typeface="Lucida Sans Unicode" pitchFamily="34" charset="0"/>
                <a:cs typeface="Lucida Sans Unicode" pitchFamily="34" charset="0"/>
              </a:rPr>
              <a:t>∴ </a:t>
            </a:r>
            <a:r>
              <a:rPr lang="en-GB"/>
              <a:t>quartz lamps should be handled without touching the clear quartz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288" y="331788"/>
            <a:ext cx="2270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400" b="1" dirty="0"/>
              <a:t>Power,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288" y="1009650"/>
            <a:ext cx="7948612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/>
              <a:t>Power requirements – </a:t>
            </a:r>
          </a:p>
          <a:p>
            <a:pPr>
              <a:spcAft>
                <a:spcPts val="300"/>
              </a:spcAft>
            </a:pPr>
            <a:r>
              <a:rPr lang="en-GB" dirty="0"/>
              <a:t>basic Ohm’s Law and Power equations</a:t>
            </a:r>
          </a:p>
          <a:p>
            <a:pPr>
              <a:spcAft>
                <a:spcPts val="300"/>
              </a:spcAft>
            </a:pPr>
            <a:endParaRPr lang="en-GB" b="1" dirty="0"/>
          </a:p>
          <a:p>
            <a:pPr>
              <a:spcAft>
                <a:spcPts val="300"/>
              </a:spcAft>
            </a:pPr>
            <a:r>
              <a:rPr lang="en-GB" b="1" dirty="0"/>
              <a:t>P = VI;  Power (Watts) </a:t>
            </a:r>
            <a:r>
              <a:rPr lang="en-GB" dirty="0"/>
              <a:t>= Volts x Amps</a:t>
            </a:r>
          </a:p>
          <a:p>
            <a:pPr>
              <a:spcAft>
                <a:spcPts val="300"/>
              </a:spcAft>
            </a:pPr>
            <a:r>
              <a:rPr lang="en-GB" b="1" dirty="0"/>
              <a:t>V= IR;  Volts = Amps x Ohms</a:t>
            </a:r>
          </a:p>
          <a:p>
            <a:pPr>
              <a:spcAft>
                <a:spcPts val="300"/>
              </a:spcAft>
            </a:pPr>
            <a:endParaRPr lang="en-GB" b="1" dirty="0"/>
          </a:p>
          <a:p>
            <a:pPr>
              <a:spcAft>
                <a:spcPts val="300"/>
              </a:spcAft>
            </a:pPr>
            <a:r>
              <a:rPr lang="en-GB" b="1" dirty="0"/>
              <a:t>Current protection, Fuses</a:t>
            </a:r>
            <a:r>
              <a:rPr lang="en-GB" dirty="0"/>
              <a:t>: use the next available current rating up;</a:t>
            </a:r>
          </a:p>
          <a:p>
            <a:pPr>
              <a:spcAft>
                <a:spcPts val="300"/>
              </a:spcAft>
            </a:pPr>
            <a:r>
              <a:rPr lang="en-GB" dirty="0"/>
              <a:t>although circuits in professional studios and sets will be protected by </a:t>
            </a:r>
            <a:r>
              <a:rPr lang="en-GB" b="1" dirty="0"/>
              <a:t>RCDs</a:t>
            </a:r>
          </a:p>
          <a:p>
            <a:pPr>
              <a:spcAft>
                <a:spcPts val="300"/>
              </a:spcAft>
            </a:pPr>
            <a:endParaRPr lang="en-GB" b="1" dirty="0"/>
          </a:p>
          <a:p>
            <a:pPr>
              <a:spcAft>
                <a:spcPts val="300"/>
              </a:spcAft>
            </a:pPr>
            <a:r>
              <a:rPr lang="en-GB" b="1" dirty="0"/>
              <a:t>RCDs - </a:t>
            </a:r>
            <a:r>
              <a:rPr lang="en-GB" dirty="0"/>
              <a:t> monitor for leakage current (in </a:t>
            </a:r>
            <a:r>
              <a:rPr lang="en-GB" dirty="0" err="1"/>
              <a:t>microamps</a:t>
            </a:r>
            <a:r>
              <a:rPr lang="en-GB" dirty="0"/>
              <a:t>) in the earth circuit</a:t>
            </a:r>
          </a:p>
          <a:p>
            <a:pPr>
              <a:spcAft>
                <a:spcPts val="300"/>
              </a:spcAft>
            </a:pPr>
            <a:endParaRPr lang="en-GB" b="1" dirty="0"/>
          </a:p>
          <a:p>
            <a:pPr>
              <a:spcAft>
                <a:spcPts val="300"/>
              </a:spcAft>
            </a:pPr>
            <a:r>
              <a:rPr lang="en-GB" b="1" dirty="0"/>
              <a:t>Standard voltage supply (UK) is 230V </a:t>
            </a:r>
            <a:r>
              <a:rPr lang="en-GB" dirty="0"/>
              <a:t>(+15% - 10%) ...</a:t>
            </a:r>
          </a:p>
          <a:p>
            <a:pPr>
              <a:spcAft>
                <a:spcPts val="300"/>
              </a:spcAft>
            </a:pPr>
            <a:r>
              <a:rPr lang="en-GB" dirty="0"/>
              <a:t>although studios will often have three phase power supply ...</a:t>
            </a:r>
          </a:p>
          <a:p>
            <a:pPr>
              <a:spcAft>
                <a:spcPts val="300"/>
              </a:spcAft>
            </a:pPr>
            <a:endParaRPr lang="en-GB" dirty="0"/>
          </a:p>
          <a:p>
            <a:pPr>
              <a:spcAft>
                <a:spcPts val="300"/>
              </a:spcAft>
            </a:pPr>
            <a:endParaRPr lang="en-GB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991724" y="1254642"/>
            <a:ext cx="3462728" cy="1203745"/>
          </a:xfrm>
          <a:prstGeom prst="wedgeRoundRectCallout">
            <a:avLst>
              <a:gd name="adj1" fmla="val -69775"/>
              <a:gd name="adj2" fmla="val 2060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GB" i="1" dirty="0"/>
              <a:t>note – for generators, </a:t>
            </a:r>
          </a:p>
          <a:p>
            <a:r>
              <a:rPr lang="en-GB" b="1" i="1" dirty="0"/>
              <a:t>NET POWER</a:t>
            </a:r>
            <a:r>
              <a:rPr lang="en-GB" i="1" dirty="0"/>
              <a:t> quoted as </a:t>
            </a:r>
            <a:r>
              <a:rPr lang="en-GB" b="1" i="1" dirty="0" err="1"/>
              <a:t>kVA</a:t>
            </a:r>
            <a:endParaRPr lang="en-GB" b="1" i="1" dirty="0"/>
          </a:p>
          <a:p>
            <a:r>
              <a:rPr lang="en-GB" b="1" i="1" dirty="0"/>
              <a:t>POWER  in the load is kW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rPr>
              <a:t>... </a:t>
            </a:r>
            <a:r>
              <a: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rPr>
              <a:t>due to </a:t>
            </a:r>
            <a:r>
              <a:rPr kumimoji="0" lang="en-GB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rPr>
              <a:t>Power Factor</a:t>
            </a:r>
          </a:p>
        </p:txBody>
      </p:sp>
    </p:spTree>
    <p:extLst>
      <p:ext uri="{BB962C8B-B14F-4D97-AF65-F5344CB8AC3E}">
        <p14:creationId xmlns:p14="http://schemas.microsoft.com/office/powerpoint/2010/main" val="2469336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430213" y="981075"/>
            <a:ext cx="60467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74625" indent="-174625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AC Power supply in UK (and the rest of Europe)  is 230V AC</a:t>
            </a:r>
          </a:p>
          <a:p>
            <a:pPr>
              <a:buFontTx/>
              <a:buChar char="•"/>
            </a:pPr>
            <a:r>
              <a:rPr lang="en-GB" dirty="0"/>
              <a:t>AC = “alternating current”</a:t>
            </a:r>
          </a:p>
          <a:p>
            <a:pPr>
              <a:buFontTx/>
              <a:buChar char="•"/>
            </a:pPr>
            <a:r>
              <a:rPr lang="en-GB" dirty="0"/>
              <a:t>… alternating at a rate of 50 Hz (cycles per second)</a:t>
            </a:r>
          </a:p>
          <a:p>
            <a:pPr>
              <a:buFontTx/>
              <a:buChar char="•"/>
            </a:pPr>
            <a:r>
              <a:rPr lang="en-GB" dirty="0"/>
              <a:t>North America = 120V @ 60Hz</a:t>
            </a:r>
          </a:p>
          <a:p>
            <a:pPr>
              <a:buFontTx/>
              <a:buChar char="•"/>
            </a:pPr>
            <a:r>
              <a:rPr lang="en-GB" dirty="0"/>
              <a:t>Varies quite a bit around the world</a:t>
            </a:r>
            <a:endParaRPr lang="en-US" dirty="0"/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430213" y="366713"/>
            <a:ext cx="2130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Mains Supply</a:t>
            </a:r>
            <a:endParaRPr lang="en-US" sz="2400" b="1"/>
          </a:p>
        </p:txBody>
      </p:sp>
      <p:sp>
        <p:nvSpPr>
          <p:cNvPr id="7172" name="Freeform 6"/>
          <p:cNvSpPr>
            <a:spLocks/>
          </p:cNvSpPr>
          <p:nvPr/>
        </p:nvSpPr>
        <p:spPr bwMode="auto">
          <a:xfrm>
            <a:off x="2830513" y="2660650"/>
            <a:ext cx="3176587" cy="1174750"/>
          </a:xfrm>
          <a:custGeom>
            <a:avLst/>
            <a:gdLst>
              <a:gd name="T0" fmla="*/ 0 w 4909"/>
              <a:gd name="T1" fmla="*/ 1518310753 h 469"/>
              <a:gd name="T2" fmla="*/ 227789556 w 4909"/>
              <a:gd name="T3" fmla="*/ 94110264 h 469"/>
              <a:gd name="T4" fmla="*/ 455998429 w 4909"/>
              <a:gd name="T5" fmla="*/ 1518310753 h 469"/>
              <a:gd name="T6" fmla="*/ 683788067 w 4909"/>
              <a:gd name="T7" fmla="*/ 2147483647 h 469"/>
              <a:gd name="T8" fmla="*/ 911578189 w 4909"/>
              <a:gd name="T9" fmla="*/ 1518310753 h 469"/>
              <a:gd name="T10" fmla="*/ 1139786334 w 4909"/>
              <a:gd name="T11" fmla="*/ 94110264 h 469"/>
              <a:gd name="T12" fmla="*/ 1367576133 w 4909"/>
              <a:gd name="T13" fmla="*/ 1518310753 h 469"/>
              <a:gd name="T14" fmla="*/ 1595366255 w 4909"/>
              <a:gd name="T15" fmla="*/ 2147483647 h 469"/>
              <a:gd name="T16" fmla="*/ 1823574401 w 4909"/>
              <a:gd name="T17" fmla="*/ 1518310753 h 469"/>
              <a:gd name="T18" fmla="*/ 2004047696 w 4909"/>
              <a:gd name="T19" fmla="*/ 238411646 h 469"/>
              <a:gd name="T20" fmla="*/ 2055551223 w 4909"/>
              <a:gd name="T21" fmla="*/ 87835748 h 4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09"/>
              <a:gd name="T34" fmla="*/ 0 h 469"/>
              <a:gd name="T35" fmla="*/ 4909 w 4909"/>
              <a:gd name="T36" fmla="*/ 469 h 4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09" h="469">
                <a:moveTo>
                  <a:pt x="0" y="242"/>
                </a:moveTo>
                <a:cubicBezTo>
                  <a:pt x="181" y="128"/>
                  <a:pt x="363" y="15"/>
                  <a:pt x="544" y="15"/>
                </a:cubicBezTo>
                <a:cubicBezTo>
                  <a:pt x="725" y="15"/>
                  <a:pt x="908" y="166"/>
                  <a:pt x="1089" y="242"/>
                </a:cubicBezTo>
                <a:cubicBezTo>
                  <a:pt x="1270" y="318"/>
                  <a:pt x="1452" y="469"/>
                  <a:pt x="1633" y="469"/>
                </a:cubicBezTo>
                <a:cubicBezTo>
                  <a:pt x="1814" y="469"/>
                  <a:pt x="1996" y="318"/>
                  <a:pt x="2177" y="242"/>
                </a:cubicBezTo>
                <a:cubicBezTo>
                  <a:pt x="2358" y="166"/>
                  <a:pt x="2541" y="15"/>
                  <a:pt x="2722" y="15"/>
                </a:cubicBezTo>
                <a:cubicBezTo>
                  <a:pt x="2903" y="15"/>
                  <a:pt x="3085" y="166"/>
                  <a:pt x="3266" y="242"/>
                </a:cubicBezTo>
                <a:cubicBezTo>
                  <a:pt x="3447" y="318"/>
                  <a:pt x="3629" y="469"/>
                  <a:pt x="3810" y="469"/>
                </a:cubicBezTo>
                <a:cubicBezTo>
                  <a:pt x="3991" y="469"/>
                  <a:pt x="4193" y="314"/>
                  <a:pt x="4355" y="242"/>
                </a:cubicBezTo>
                <a:cubicBezTo>
                  <a:pt x="4517" y="170"/>
                  <a:pt x="4694" y="76"/>
                  <a:pt x="4786" y="38"/>
                </a:cubicBezTo>
                <a:cubicBezTo>
                  <a:pt x="4878" y="0"/>
                  <a:pt x="4884" y="19"/>
                  <a:pt x="4909" y="14"/>
                </a:cubicBezTo>
              </a:path>
            </a:pathLst>
          </a:custGeom>
          <a:noFill/>
          <a:ln w="19050" cmpd="sng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3" name="Line 7"/>
          <p:cNvSpPr>
            <a:spLocks noChangeShapeType="1"/>
          </p:cNvSpPr>
          <p:nvPr/>
        </p:nvSpPr>
        <p:spPr bwMode="auto">
          <a:xfrm>
            <a:off x="2705100" y="3308350"/>
            <a:ext cx="421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4" name="Freeform 9"/>
          <p:cNvSpPr>
            <a:spLocks/>
          </p:cNvSpPr>
          <p:nvPr/>
        </p:nvSpPr>
        <p:spPr bwMode="auto">
          <a:xfrm>
            <a:off x="2830513" y="2660650"/>
            <a:ext cx="3176587" cy="1174750"/>
          </a:xfrm>
          <a:custGeom>
            <a:avLst/>
            <a:gdLst>
              <a:gd name="T0" fmla="*/ 0 w 4909"/>
              <a:gd name="T1" fmla="*/ 1518310753 h 469"/>
              <a:gd name="T2" fmla="*/ 227789556 w 4909"/>
              <a:gd name="T3" fmla="*/ 94110264 h 469"/>
              <a:gd name="T4" fmla="*/ 455998429 w 4909"/>
              <a:gd name="T5" fmla="*/ 1518310753 h 469"/>
              <a:gd name="T6" fmla="*/ 683788067 w 4909"/>
              <a:gd name="T7" fmla="*/ 2147483647 h 469"/>
              <a:gd name="T8" fmla="*/ 911578189 w 4909"/>
              <a:gd name="T9" fmla="*/ 1518310753 h 469"/>
              <a:gd name="T10" fmla="*/ 1139786334 w 4909"/>
              <a:gd name="T11" fmla="*/ 94110264 h 469"/>
              <a:gd name="T12" fmla="*/ 1367576133 w 4909"/>
              <a:gd name="T13" fmla="*/ 1518310753 h 469"/>
              <a:gd name="T14" fmla="*/ 1595366255 w 4909"/>
              <a:gd name="T15" fmla="*/ 2147483647 h 469"/>
              <a:gd name="T16" fmla="*/ 1823574401 w 4909"/>
              <a:gd name="T17" fmla="*/ 1518310753 h 469"/>
              <a:gd name="T18" fmla="*/ 2004047696 w 4909"/>
              <a:gd name="T19" fmla="*/ 238411646 h 469"/>
              <a:gd name="T20" fmla="*/ 2055551223 w 4909"/>
              <a:gd name="T21" fmla="*/ 87835748 h 4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09"/>
              <a:gd name="T34" fmla="*/ 0 h 469"/>
              <a:gd name="T35" fmla="*/ 4909 w 4909"/>
              <a:gd name="T36" fmla="*/ 469 h 4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09" h="469">
                <a:moveTo>
                  <a:pt x="0" y="242"/>
                </a:moveTo>
                <a:cubicBezTo>
                  <a:pt x="181" y="128"/>
                  <a:pt x="363" y="15"/>
                  <a:pt x="544" y="15"/>
                </a:cubicBezTo>
                <a:cubicBezTo>
                  <a:pt x="725" y="15"/>
                  <a:pt x="908" y="166"/>
                  <a:pt x="1089" y="242"/>
                </a:cubicBezTo>
                <a:cubicBezTo>
                  <a:pt x="1270" y="318"/>
                  <a:pt x="1452" y="469"/>
                  <a:pt x="1633" y="469"/>
                </a:cubicBezTo>
                <a:cubicBezTo>
                  <a:pt x="1814" y="469"/>
                  <a:pt x="1996" y="318"/>
                  <a:pt x="2177" y="242"/>
                </a:cubicBezTo>
                <a:cubicBezTo>
                  <a:pt x="2358" y="166"/>
                  <a:pt x="2541" y="15"/>
                  <a:pt x="2722" y="15"/>
                </a:cubicBezTo>
                <a:cubicBezTo>
                  <a:pt x="2903" y="15"/>
                  <a:pt x="3085" y="166"/>
                  <a:pt x="3266" y="242"/>
                </a:cubicBezTo>
                <a:cubicBezTo>
                  <a:pt x="3447" y="318"/>
                  <a:pt x="3629" y="469"/>
                  <a:pt x="3810" y="469"/>
                </a:cubicBezTo>
                <a:cubicBezTo>
                  <a:pt x="3991" y="469"/>
                  <a:pt x="4193" y="314"/>
                  <a:pt x="4355" y="242"/>
                </a:cubicBezTo>
                <a:cubicBezTo>
                  <a:pt x="4517" y="170"/>
                  <a:pt x="4694" y="76"/>
                  <a:pt x="4786" y="38"/>
                </a:cubicBezTo>
                <a:cubicBezTo>
                  <a:pt x="4878" y="0"/>
                  <a:pt x="4884" y="19"/>
                  <a:pt x="4909" y="14"/>
                </a:cubicBezTo>
              </a:path>
            </a:pathLst>
          </a:custGeom>
          <a:noFill/>
          <a:ln w="38100" cmpd="sng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5" name="Line 10"/>
          <p:cNvSpPr>
            <a:spLocks noChangeShapeType="1"/>
          </p:cNvSpPr>
          <p:nvPr/>
        </p:nvSpPr>
        <p:spPr bwMode="auto">
          <a:xfrm>
            <a:off x="1895475" y="2660650"/>
            <a:ext cx="50863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6" name="Line 11"/>
          <p:cNvSpPr>
            <a:spLocks noChangeShapeType="1"/>
          </p:cNvSpPr>
          <p:nvPr/>
        </p:nvSpPr>
        <p:spPr bwMode="auto">
          <a:xfrm>
            <a:off x="2705100" y="3848100"/>
            <a:ext cx="42148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7" name="Line 12"/>
          <p:cNvSpPr>
            <a:spLocks noChangeShapeType="1"/>
          </p:cNvSpPr>
          <p:nvPr/>
        </p:nvSpPr>
        <p:spPr bwMode="auto">
          <a:xfrm>
            <a:off x="2830513" y="2444750"/>
            <a:ext cx="0" cy="183515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8" name="Line 13"/>
          <p:cNvSpPr>
            <a:spLocks noChangeShapeType="1"/>
          </p:cNvSpPr>
          <p:nvPr/>
        </p:nvSpPr>
        <p:spPr bwMode="auto">
          <a:xfrm>
            <a:off x="4200525" y="2444750"/>
            <a:ext cx="0" cy="183515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79" name="Line 16"/>
          <p:cNvSpPr>
            <a:spLocks noChangeShapeType="1"/>
          </p:cNvSpPr>
          <p:nvPr/>
        </p:nvSpPr>
        <p:spPr bwMode="auto">
          <a:xfrm>
            <a:off x="2144713" y="2876550"/>
            <a:ext cx="4775200" cy="0"/>
          </a:xfrm>
          <a:prstGeom prst="line">
            <a:avLst/>
          </a:prstGeom>
          <a:noFill/>
          <a:ln w="28575">
            <a:solidFill>
              <a:srgbClr val="FF5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0" name="Text Box 17"/>
          <p:cNvSpPr txBox="1">
            <a:spLocks noChangeArrowheads="1"/>
          </p:cNvSpPr>
          <p:nvPr/>
        </p:nvSpPr>
        <p:spPr bwMode="auto">
          <a:xfrm>
            <a:off x="2208213" y="3200400"/>
            <a:ext cx="446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0V</a:t>
            </a:r>
            <a:endParaRPr lang="en-US"/>
          </a:p>
        </p:txBody>
      </p:sp>
      <p:sp>
        <p:nvSpPr>
          <p:cNvPr id="7181" name="Text Box 18"/>
          <p:cNvSpPr txBox="1">
            <a:spLocks noChangeArrowheads="1"/>
          </p:cNvSpPr>
          <p:nvPr/>
        </p:nvSpPr>
        <p:spPr bwMode="auto">
          <a:xfrm>
            <a:off x="430213" y="2511425"/>
            <a:ext cx="14017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/>
              <a:t>Peak = ~340V</a:t>
            </a:r>
            <a:endParaRPr lang="en-US" sz="1400"/>
          </a:p>
        </p:txBody>
      </p:sp>
      <p:sp>
        <p:nvSpPr>
          <p:cNvPr id="7182" name="Text Box 19"/>
          <p:cNvSpPr txBox="1">
            <a:spLocks noChangeArrowheads="1"/>
          </p:cNvSpPr>
          <p:nvPr/>
        </p:nvSpPr>
        <p:spPr bwMode="auto">
          <a:xfrm>
            <a:off x="808038" y="2747963"/>
            <a:ext cx="12525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1400" b="1">
                <a:solidFill>
                  <a:srgbClr val="FF5050"/>
                </a:solidFill>
              </a:rPr>
              <a:t>RMS = 230V</a:t>
            </a:r>
            <a:endParaRPr lang="en-US" sz="1400" b="1">
              <a:solidFill>
                <a:srgbClr val="FF5050"/>
              </a:solidFill>
            </a:endParaRPr>
          </a:p>
        </p:txBody>
      </p:sp>
      <p:sp>
        <p:nvSpPr>
          <p:cNvPr id="7183" name="Line 21"/>
          <p:cNvSpPr>
            <a:spLocks noChangeShapeType="1"/>
          </p:cNvSpPr>
          <p:nvPr/>
        </p:nvSpPr>
        <p:spPr bwMode="auto">
          <a:xfrm>
            <a:off x="2830513" y="4117975"/>
            <a:ext cx="1370012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4" name="Text Box 22"/>
          <p:cNvSpPr txBox="1">
            <a:spLocks noChangeArrowheads="1"/>
          </p:cNvSpPr>
          <p:nvPr/>
        </p:nvSpPr>
        <p:spPr bwMode="auto">
          <a:xfrm>
            <a:off x="3025775" y="4292600"/>
            <a:ext cx="1125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f-= 50Hz</a:t>
            </a:r>
            <a:endParaRPr lang="en-US"/>
          </a:p>
        </p:txBody>
      </p:sp>
      <p:sp>
        <p:nvSpPr>
          <p:cNvPr id="7185" name="Text Box 26"/>
          <p:cNvSpPr txBox="1">
            <a:spLocks noChangeArrowheads="1"/>
          </p:cNvSpPr>
          <p:nvPr/>
        </p:nvSpPr>
        <p:spPr bwMode="auto">
          <a:xfrm>
            <a:off x="5581650" y="3332163"/>
            <a:ext cx="260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</a:t>
            </a:r>
            <a:endParaRPr lang="en-US"/>
          </a:p>
        </p:txBody>
      </p:sp>
      <p:sp>
        <p:nvSpPr>
          <p:cNvPr id="7186" name="Line 27"/>
          <p:cNvSpPr>
            <a:spLocks noChangeShapeType="1"/>
          </p:cNvSpPr>
          <p:nvPr/>
        </p:nvSpPr>
        <p:spPr bwMode="auto">
          <a:xfrm flipV="1">
            <a:off x="5783263" y="3422650"/>
            <a:ext cx="30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7" name="Text Box 29"/>
          <p:cNvSpPr txBox="1">
            <a:spLocks noChangeArrowheads="1"/>
          </p:cNvSpPr>
          <p:nvPr/>
        </p:nvSpPr>
        <p:spPr bwMode="auto">
          <a:xfrm>
            <a:off x="430213" y="4686300"/>
            <a:ext cx="8453437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u="sng"/>
              <a:t>Problem</a:t>
            </a:r>
            <a:r>
              <a:rPr lang="en-GB"/>
              <a:t>:  What is the “average” value of the sinusoidal waveform?</a:t>
            </a:r>
          </a:p>
          <a:p>
            <a:r>
              <a:rPr lang="en-GB" u="sng"/>
              <a:t>Answer</a:t>
            </a:r>
            <a:r>
              <a:rPr lang="en-GB"/>
              <a:t>:  Zero … but obviously this is misleading</a:t>
            </a:r>
          </a:p>
          <a:p>
            <a:endParaRPr lang="en-GB"/>
          </a:p>
          <a:p>
            <a:r>
              <a:rPr lang="en-GB" u="sng"/>
              <a:t>Mathematically</a:t>
            </a:r>
            <a:r>
              <a:rPr lang="en-GB"/>
              <a:t> this is expressed as RMS … Root Mean Square </a:t>
            </a:r>
            <a:endParaRPr lang="en-US" i="1"/>
          </a:p>
          <a:p>
            <a:r>
              <a:rPr lang="en-GB" u="sng"/>
              <a:t>Practically</a:t>
            </a:r>
            <a:r>
              <a:rPr lang="en-GB"/>
              <a:t>, could consider the RMS voltage as the voltage required to produce the equivalent power (e.g. </a:t>
            </a:r>
            <a:r>
              <a:rPr lang="en-GB" i="1"/>
              <a:t>heating effect</a:t>
            </a:r>
            <a:r>
              <a:rPr lang="en-GB"/>
              <a:t> ) as a DC voltage</a:t>
            </a:r>
          </a:p>
        </p:txBody>
      </p:sp>
    </p:spTree>
    <p:extLst>
      <p:ext uri="{BB962C8B-B14F-4D97-AF65-F5344CB8AC3E}">
        <p14:creationId xmlns:p14="http://schemas.microsoft.com/office/powerpoint/2010/main" val="31032261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95288" y="331788"/>
            <a:ext cx="30908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Three Phase Supply</a:t>
            </a:r>
          </a:p>
        </p:txBody>
      </p:sp>
      <p:pic>
        <p:nvPicPr>
          <p:cNvPr id="1026" name="Picture 2" descr="http://4.bp.blogspot.com/_jbHyppMByw8/TND4wrBGcOI/AAAAAAAAEas/hHpjkZRWpu4/s1600/3phase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8546" y="3370520"/>
            <a:ext cx="5018069" cy="279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reeform 6"/>
          <p:cNvSpPr>
            <a:spLocks/>
          </p:cNvSpPr>
          <p:nvPr/>
        </p:nvSpPr>
        <p:spPr bwMode="auto">
          <a:xfrm>
            <a:off x="2795588" y="1141376"/>
            <a:ext cx="3176587" cy="1174750"/>
          </a:xfrm>
          <a:custGeom>
            <a:avLst/>
            <a:gdLst>
              <a:gd name="T0" fmla="*/ 0 w 4909"/>
              <a:gd name="T1" fmla="*/ 1518310753 h 469"/>
              <a:gd name="T2" fmla="*/ 227789556 w 4909"/>
              <a:gd name="T3" fmla="*/ 94110264 h 469"/>
              <a:gd name="T4" fmla="*/ 455998429 w 4909"/>
              <a:gd name="T5" fmla="*/ 1518310753 h 469"/>
              <a:gd name="T6" fmla="*/ 683788067 w 4909"/>
              <a:gd name="T7" fmla="*/ 2147483647 h 469"/>
              <a:gd name="T8" fmla="*/ 911578189 w 4909"/>
              <a:gd name="T9" fmla="*/ 1518310753 h 469"/>
              <a:gd name="T10" fmla="*/ 1139786334 w 4909"/>
              <a:gd name="T11" fmla="*/ 94110264 h 469"/>
              <a:gd name="T12" fmla="*/ 1367576133 w 4909"/>
              <a:gd name="T13" fmla="*/ 1518310753 h 469"/>
              <a:gd name="T14" fmla="*/ 1595366255 w 4909"/>
              <a:gd name="T15" fmla="*/ 2147483647 h 469"/>
              <a:gd name="T16" fmla="*/ 1823574401 w 4909"/>
              <a:gd name="T17" fmla="*/ 1518310753 h 469"/>
              <a:gd name="T18" fmla="*/ 2004047696 w 4909"/>
              <a:gd name="T19" fmla="*/ 238411646 h 469"/>
              <a:gd name="T20" fmla="*/ 2055551223 w 4909"/>
              <a:gd name="T21" fmla="*/ 87835748 h 4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09"/>
              <a:gd name="T34" fmla="*/ 0 h 469"/>
              <a:gd name="T35" fmla="*/ 4909 w 4909"/>
              <a:gd name="T36" fmla="*/ 469 h 4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09" h="469">
                <a:moveTo>
                  <a:pt x="0" y="242"/>
                </a:moveTo>
                <a:cubicBezTo>
                  <a:pt x="181" y="128"/>
                  <a:pt x="363" y="15"/>
                  <a:pt x="544" y="15"/>
                </a:cubicBezTo>
                <a:cubicBezTo>
                  <a:pt x="725" y="15"/>
                  <a:pt x="908" y="166"/>
                  <a:pt x="1089" y="242"/>
                </a:cubicBezTo>
                <a:cubicBezTo>
                  <a:pt x="1270" y="318"/>
                  <a:pt x="1452" y="469"/>
                  <a:pt x="1633" y="469"/>
                </a:cubicBezTo>
                <a:cubicBezTo>
                  <a:pt x="1814" y="469"/>
                  <a:pt x="1996" y="318"/>
                  <a:pt x="2177" y="242"/>
                </a:cubicBezTo>
                <a:cubicBezTo>
                  <a:pt x="2358" y="166"/>
                  <a:pt x="2541" y="15"/>
                  <a:pt x="2722" y="15"/>
                </a:cubicBezTo>
                <a:cubicBezTo>
                  <a:pt x="2903" y="15"/>
                  <a:pt x="3085" y="166"/>
                  <a:pt x="3266" y="242"/>
                </a:cubicBezTo>
                <a:cubicBezTo>
                  <a:pt x="3447" y="318"/>
                  <a:pt x="3629" y="469"/>
                  <a:pt x="3810" y="469"/>
                </a:cubicBezTo>
                <a:cubicBezTo>
                  <a:pt x="3991" y="469"/>
                  <a:pt x="4193" y="314"/>
                  <a:pt x="4355" y="242"/>
                </a:cubicBezTo>
                <a:cubicBezTo>
                  <a:pt x="4517" y="170"/>
                  <a:pt x="4694" y="76"/>
                  <a:pt x="4786" y="38"/>
                </a:cubicBezTo>
                <a:cubicBezTo>
                  <a:pt x="4878" y="0"/>
                  <a:pt x="4884" y="19"/>
                  <a:pt x="4909" y="14"/>
                </a:cubicBezTo>
              </a:path>
            </a:pathLst>
          </a:custGeom>
          <a:noFill/>
          <a:ln w="19050" cmpd="sng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670175" y="1789076"/>
            <a:ext cx="42148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" name="Freeform 9"/>
          <p:cNvSpPr>
            <a:spLocks/>
          </p:cNvSpPr>
          <p:nvPr/>
        </p:nvSpPr>
        <p:spPr bwMode="auto">
          <a:xfrm>
            <a:off x="2795588" y="1141376"/>
            <a:ext cx="3176587" cy="1174750"/>
          </a:xfrm>
          <a:custGeom>
            <a:avLst/>
            <a:gdLst>
              <a:gd name="T0" fmla="*/ 0 w 4909"/>
              <a:gd name="T1" fmla="*/ 1518310753 h 469"/>
              <a:gd name="T2" fmla="*/ 227789556 w 4909"/>
              <a:gd name="T3" fmla="*/ 94110264 h 469"/>
              <a:gd name="T4" fmla="*/ 455998429 w 4909"/>
              <a:gd name="T5" fmla="*/ 1518310753 h 469"/>
              <a:gd name="T6" fmla="*/ 683788067 w 4909"/>
              <a:gd name="T7" fmla="*/ 2147483647 h 469"/>
              <a:gd name="T8" fmla="*/ 911578189 w 4909"/>
              <a:gd name="T9" fmla="*/ 1518310753 h 469"/>
              <a:gd name="T10" fmla="*/ 1139786334 w 4909"/>
              <a:gd name="T11" fmla="*/ 94110264 h 469"/>
              <a:gd name="T12" fmla="*/ 1367576133 w 4909"/>
              <a:gd name="T13" fmla="*/ 1518310753 h 469"/>
              <a:gd name="T14" fmla="*/ 1595366255 w 4909"/>
              <a:gd name="T15" fmla="*/ 2147483647 h 469"/>
              <a:gd name="T16" fmla="*/ 1823574401 w 4909"/>
              <a:gd name="T17" fmla="*/ 1518310753 h 469"/>
              <a:gd name="T18" fmla="*/ 2004047696 w 4909"/>
              <a:gd name="T19" fmla="*/ 238411646 h 469"/>
              <a:gd name="T20" fmla="*/ 2055551223 w 4909"/>
              <a:gd name="T21" fmla="*/ 87835748 h 4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4909"/>
              <a:gd name="T34" fmla="*/ 0 h 469"/>
              <a:gd name="T35" fmla="*/ 4909 w 4909"/>
              <a:gd name="T36" fmla="*/ 469 h 4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4909" h="469">
                <a:moveTo>
                  <a:pt x="0" y="242"/>
                </a:moveTo>
                <a:cubicBezTo>
                  <a:pt x="181" y="128"/>
                  <a:pt x="363" y="15"/>
                  <a:pt x="544" y="15"/>
                </a:cubicBezTo>
                <a:cubicBezTo>
                  <a:pt x="725" y="15"/>
                  <a:pt x="908" y="166"/>
                  <a:pt x="1089" y="242"/>
                </a:cubicBezTo>
                <a:cubicBezTo>
                  <a:pt x="1270" y="318"/>
                  <a:pt x="1452" y="469"/>
                  <a:pt x="1633" y="469"/>
                </a:cubicBezTo>
                <a:cubicBezTo>
                  <a:pt x="1814" y="469"/>
                  <a:pt x="1996" y="318"/>
                  <a:pt x="2177" y="242"/>
                </a:cubicBezTo>
                <a:cubicBezTo>
                  <a:pt x="2358" y="166"/>
                  <a:pt x="2541" y="15"/>
                  <a:pt x="2722" y="15"/>
                </a:cubicBezTo>
                <a:cubicBezTo>
                  <a:pt x="2903" y="15"/>
                  <a:pt x="3085" y="166"/>
                  <a:pt x="3266" y="242"/>
                </a:cubicBezTo>
                <a:cubicBezTo>
                  <a:pt x="3447" y="318"/>
                  <a:pt x="3629" y="469"/>
                  <a:pt x="3810" y="469"/>
                </a:cubicBezTo>
                <a:cubicBezTo>
                  <a:pt x="3991" y="469"/>
                  <a:pt x="4193" y="314"/>
                  <a:pt x="4355" y="242"/>
                </a:cubicBezTo>
                <a:cubicBezTo>
                  <a:pt x="4517" y="170"/>
                  <a:pt x="4694" y="76"/>
                  <a:pt x="4786" y="38"/>
                </a:cubicBezTo>
                <a:cubicBezTo>
                  <a:pt x="4878" y="0"/>
                  <a:pt x="4884" y="19"/>
                  <a:pt x="4909" y="14"/>
                </a:cubicBezTo>
              </a:path>
            </a:pathLst>
          </a:custGeom>
          <a:noFill/>
          <a:ln w="38100" cmpd="sng">
            <a:solidFill>
              <a:srgbClr val="FF5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9" name="Line 10"/>
          <p:cNvSpPr>
            <a:spLocks noChangeShapeType="1"/>
          </p:cNvSpPr>
          <p:nvPr/>
        </p:nvSpPr>
        <p:spPr bwMode="auto">
          <a:xfrm>
            <a:off x="1860550" y="1141376"/>
            <a:ext cx="50863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Line 11"/>
          <p:cNvSpPr>
            <a:spLocks noChangeShapeType="1"/>
          </p:cNvSpPr>
          <p:nvPr/>
        </p:nvSpPr>
        <p:spPr bwMode="auto">
          <a:xfrm>
            <a:off x="2670175" y="2328826"/>
            <a:ext cx="42148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1" name="Line 12"/>
          <p:cNvSpPr>
            <a:spLocks noChangeShapeType="1"/>
          </p:cNvSpPr>
          <p:nvPr/>
        </p:nvSpPr>
        <p:spPr bwMode="auto">
          <a:xfrm>
            <a:off x="2795588" y="925476"/>
            <a:ext cx="0" cy="183515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2" name="Line 13"/>
          <p:cNvSpPr>
            <a:spLocks noChangeShapeType="1"/>
          </p:cNvSpPr>
          <p:nvPr/>
        </p:nvSpPr>
        <p:spPr bwMode="auto">
          <a:xfrm>
            <a:off x="4165600" y="925476"/>
            <a:ext cx="0" cy="183515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3" name="Line 16"/>
          <p:cNvSpPr>
            <a:spLocks noChangeShapeType="1"/>
          </p:cNvSpPr>
          <p:nvPr/>
        </p:nvSpPr>
        <p:spPr bwMode="auto">
          <a:xfrm>
            <a:off x="2109788" y="1357276"/>
            <a:ext cx="4775200" cy="0"/>
          </a:xfrm>
          <a:prstGeom prst="line">
            <a:avLst/>
          </a:prstGeom>
          <a:noFill/>
          <a:ln w="28575">
            <a:solidFill>
              <a:srgbClr val="FF505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" name="Text Box 17"/>
          <p:cNvSpPr txBox="1">
            <a:spLocks noChangeArrowheads="1"/>
          </p:cNvSpPr>
          <p:nvPr/>
        </p:nvSpPr>
        <p:spPr bwMode="auto">
          <a:xfrm>
            <a:off x="2173288" y="1681126"/>
            <a:ext cx="4460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0V</a:t>
            </a:r>
            <a:endParaRPr lang="en-US"/>
          </a:p>
        </p:txBody>
      </p:sp>
      <p:sp>
        <p:nvSpPr>
          <p:cNvPr id="17" name="Line 21"/>
          <p:cNvSpPr>
            <a:spLocks noChangeShapeType="1"/>
          </p:cNvSpPr>
          <p:nvPr/>
        </p:nvSpPr>
        <p:spPr bwMode="auto">
          <a:xfrm>
            <a:off x="2795588" y="2598701"/>
            <a:ext cx="1370012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" name="Text Box 22"/>
          <p:cNvSpPr txBox="1">
            <a:spLocks noChangeArrowheads="1"/>
          </p:cNvSpPr>
          <p:nvPr/>
        </p:nvSpPr>
        <p:spPr bwMode="auto">
          <a:xfrm>
            <a:off x="2990850" y="2773326"/>
            <a:ext cx="11255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f-= 50Hz</a:t>
            </a:r>
            <a:endParaRPr lang="en-US"/>
          </a:p>
        </p:txBody>
      </p:sp>
      <p:sp>
        <p:nvSpPr>
          <p:cNvPr id="19" name="Text Box 26"/>
          <p:cNvSpPr txBox="1">
            <a:spLocks noChangeArrowheads="1"/>
          </p:cNvSpPr>
          <p:nvPr/>
        </p:nvSpPr>
        <p:spPr bwMode="auto">
          <a:xfrm>
            <a:off x="5546725" y="1812889"/>
            <a:ext cx="2603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t</a:t>
            </a:r>
            <a:endParaRPr lang="en-US"/>
          </a:p>
        </p:txBody>
      </p:sp>
      <p:sp>
        <p:nvSpPr>
          <p:cNvPr id="20" name="Line 27"/>
          <p:cNvSpPr>
            <a:spLocks noChangeShapeType="1"/>
          </p:cNvSpPr>
          <p:nvPr/>
        </p:nvSpPr>
        <p:spPr bwMode="auto">
          <a:xfrm flipV="1">
            <a:off x="5748338" y="1903376"/>
            <a:ext cx="3079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946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5288" y="331788"/>
            <a:ext cx="22701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400" b="1" dirty="0"/>
              <a:t>Power,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5288" y="1009650"/>
            <a:ext cx="7948612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/>
              <a:t>Power requirements – </a:t>
            </a:r>
          </a:p>
          <a:p>
            <a:pPr>
              <a:spcAft>
                <a:spcPts val="300"/>
              </a:spcAft>
            </a:pPr>
            <a:r>
              <a:rPr lang="en-GB" dirty="0"/>
              <a:t>basic Ohm’s Law and Power equations</a:t>
            </a:r>
          </a:p>
          <a:p>
            <a:pPr>
              <a:spcAft>
                <a:spcPts val="300"/>
              </a:spcAft>
            </a:pPr>
            <a:endParaRPr lang="en-GB" b="1" dirty="0"/>
          </a:p>
          <a:p>
            <a:pPr>
              <a:spcAft>
                <a:spcPts val="300"/>
              </a:spcAft>
            </a:pPr>
            <a:r>
              <a:rPr lang="en-GB" b="1" dirty="0"/>
              <a:t>P = VI;  Power (Watts) </a:t>
            </a:r>
            <a:r>
              <a:rPr lang="en-GB" dirty="0"/>
              <a:t>= Volts x Amps</a:t>
            </a:r>
          </a:p>
          <a:p>
            <a:pPr>
              <a:spcAft>
                <a:spcPts val="300"/>
              </a:spcAft>
            </a:pPr>
            <a:r>
              <a:rPr lang="en-GB" b="1" dirty="0"/>
              <a:t>V= IR;  Volts = Amps x Ohms</a:t>
            </a:r>
          </a:p>
          <a:p>
            <a:pPr>
              <a:spcAft>
                <a:spcPts val="300"/>
              </a:spcAft>
            </a:pPr>
            <a:endParaRPr lang="en-GB" b="1" dirty="0"/>
          </a:p>
          <a:p>
            <a:pPr>
              <a:spcAft>
                <a:spcPts val="300"/>
              </a:spcAft>
            </a:pPr>
            <a:r>
              <a:rPr lang="en-GB" b="1" dirty="0"/>
              <a:t>Current protection, Fuses</a:t>
            </a:r>
            <a:r>
              <a:rPr lang="en-GB" dirty="0"/>
              <a:t>: use the next available current rating up;</a:t>
            </a:r>
          </a:p>
          <a:p>
            <a:pPr>
              <a:spcAft>
                <a:spcPts val="300"/>
              </a:spcAft>
            </a:pPr>
            <a:r>
              <a:rPr lang="en-GB" dirty="0"/>
              <a:t>although circuits in professional studios and sets will be protected by </a:t>
            </a:r>
            <a:r>
              <a:rPr lang="en-GB" b="1" dirty="0"/>
              <a:t>RCDs</a:t>
            </a:r>
          </a:p>
          <a:p>
            <a:pPr>
              <a:spcAft>
                <a:spcPts val="300"/>
              </a:spcAft>
            </a:pPr>
            <a:endParaRPr lang="en-GB" b="1" dirty="0"/>
          </a:p>
          <a:p>
            <a:pPr>
              <a:spcAft>
                <a:spcPts val="300"/>
              </a:spcAft>
            </a:pPr>
            <a:r>
              <a:rPr lang="en-GB" b="1" dirty="0"/>
              <a:t>RCDs - </a:t>
            </a:r>
            <a:r>
              <a:rPr lang="en-GB" dirty="0"/>
              <a:t> monitor for leakage current (in </a:t>
            </a:r>
            <a:r>
              <a:rPr lang="en-GB" dirty="0" err="1"/>
              <a:t>microamps</a:t>
            </a:r>
            <a:r>
              <a:rPr lang="en-GB" dirty="0"/>
              <a:t>) in the earth circuit</a:t>
            </a:r>
          </a:p>
          <a:p>
            <a:pPr>
              <a:spcAft>
                <a:spcPts val="300"/>
              </a:spcAft>
            </a:pPr>
            <a:endParaRPr lang="en-GB" b="1" dirty="0"/>
          </a:p>
          <a:p>
            <a:pPr>
              <a:spcAft>
                <a:spcPts val="300"/>
              </a:spcAft>
            </a:pPr>
            <a:r>
              <a:rPr lang="en-GB" b="1" dirty="0"/>
              <a:t>Standard voltage supply (UK) is 230V </a:t>
            </a:r>
            <a:r>
              <a:rPr lang="en-GB" dirty="0"/>
              <a:t>(+15% - 10%) ...</a:t>
            </a:r>
          </a:p>
          <a:p>
            <a:pPr>
              <a:spcAft>
                <a:spcPts val="300"/>
              </a:spcAft>
            </a:pPr>
            <a:r>
              <a:rPr lang="en-GB" dirty="0"/>
              <a:t>although studios will often have three phase power supply ...</a:t>
            </a:r>
          </a:p>
          <a:p>
            <a:pPr>
              <a:spcAft>
                <a:spcPts val="300"/>
              </a:spcAft>
            </a:pPr>
            <a:endParaRPr lang="en-GB" dirty="0"/>
          </a:p>
          <a:p>
            <a:pPr>
              <a:spcAft>
                <a:spcPts val="300"/>
              </a:spcAft>
            </a:pPr>
            <a:endParaRPr lang="en-GB" dirty="0"/>
          </a:p>
        </p:txBody>
      </p:sp>
      <p:sp>
        <p:nvSpPr>
          <p:cNvPr id="7" name="Rounded Rectangular Callout 6"/>
          <p:cNvSpPr/>
          <p:nvPr/>
        </p:nvSpPr>
        <p:spPr bwMode="auto">
          <a:xfrm>
            <a:off x="4991724" y="1254642"/>
            <a:ext cx="3462728" cy="1203745"/>
          </a:xfrm>
          <a:prstGeom prst="wedgeRoundRectCallout">
            <a:avLst>
              <a:gd name="adj1" fmla="val -69775"/>
              <a:gd name="adj2" fmla="val 20604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GB" i="1" dirty="0"/>
              <a:t>note – for generators, </a:t>
            </a:r>
          </a:p>
          <a:p>
            <a:r>
              <a:rPr lang="en-GB" b="1" i="1" dirty="0"/>
              <a:t>NET POWER</a:t>
            </a:r>
            <a:r>
              <a:rPr lang="en-GB" i="1" dirty="0"/>
              <a:t> quoted as </a:t>
            </a:r>
            <a:r>
              <a:rPr lang="en-GB" b="1" i="1" dirty="0" err="1"/>
              <a:t>kVA</a:t>
            </a:r>
            <a:endParaRPr lang="en-GB" b="1" i="1" dirty="0"/>
          </a:p>
          <a:p>
            <a:r>
              <a:rPr lang="en-GB" b="1" i="1" dirty="0"/>
              <a:t>POWER  in the load is kW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rPr>
              <a:t>... </a:t>
            </a:r>
            <a:r>
              <a:rPr kumimoji="0" lang="en-GB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rPr>
              <a:t>due to </a:t>
            </a:r>
            <a:r>
              <a:rPr kumimoji="0" lang="en-GB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rPr>
              <a:t>Power Factor</a:t>
            </a:r>
          </a:p>
        </p:txBody>
      </p:sp>
    </p:spTree>
    <p:extLst>
      <p:ext uri="{BB962C8B-B14F-4D97-AF65-F5344CB8AC3E}">
        <p14:creationId xmlns:p14="http://schemas.microsoft.com/office/powerpoint/2010/main" val="3841408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8" descr="Variac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2289175"/>
            <a:ext cx="46863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TextBox 7"/>
          <p:cNvSpPr txBox="1">
            <a:spLocks noChangeArrowheads="1"/>
          </p:cNvSpPr>
          <p:nvPr/>
        </p:nvSpPr>
        <p:spPr bwMode="auto">
          <a:xfrm>
            <a:off x="395288" y="331788"/>
            <a:ext cx="1100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Variac</a:t>
            </a:r>
          </a:p>
        </p:txBody>
      </p:sp>
      <p:sp>
        <p:nvSpPr>
          <p:cNvPr id="6148" name="Rectangle 8"/>
          <p:cNvSpPr>
            <a:spLocks noChangeArrowheads="1"/>
          </p:cNvSpPr>
          <p:nvPr/>
        </p:nvSpPr>
        <p:spPr bwMode="auto">
          <a:xfrm>
            <a:off x="395288" y="5397500"/>
            <a:ext cx="71215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/>
              <a:t>(From 1934 to 2002, </a:t>
            </a:r>
            <a:r>
              <a:rPr lang="en-GB" i="1"/>
              <a:t>Variac</a:t>
            </a:r>
            <a:r>
              <a:rPr lang="en-GB"/>
              <a:t> was a U.S. trademark of General Radio) </a:t>
            </a:r>
          </a:p>
        </p:txBody>
      </p: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128713" y="1647825"/>
            <a:ext cx="950912" cy="3536950"/>
            <a:chOff x="395289" y="2903974"/>
            <a:chExt cx="6394100" cy="2971799"/>
          </a:xfrm>
        </p:grpSpPr>
        <p:pic>
          <p:nvPicPr>
            <p:cNvPr id="6156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9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7" name="Picture 6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6991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4" name="Group 7"/>
          <p:cNvGrpSpPr>
            <a:grpSpLocks/>
          </p:cNvGrpSpPr>
          <p:nvPr/>
        </p:nvGrpSpPr>
        <p:grpSpPr bwMode="auto">
          <a:xfrm>
            <a:off x="4143375" y="1879600"/>
            <a:ext cx="950913" cy="1828800"/>
            <a:chOff x="395289" y="2903974"/>
            <a:chExt cx="6394100" cy="2971799"/>
          </a:xfrm>
        </p:grpSpPr>
        <p:pic>
          <p:nvPicPr>
            <p:cNvPr id="6154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9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5" name="Picture 9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6991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5" name="Group 10"/>
          <p:cNvGrpSpPr>
            <a:grpSpLocks/>
          </p:cNvGrpSpPr>
          <p:nvPr/>
        </p:nvGrpSpPr>
        <p:grpSpPr bwMode="auto">
          <a:xfrm>
            <a:off x="4033838" y="3114675"/>
            <a:ext cx="950912" cy="1647825"/>
            <a:chOff x="395289" y="2903974"/>
            <a:chExt cx="6394100" cy="2971799"/>
          </a:xfrm>
        </p:grpSpPr>
        <p:pic>
          <p:nvPicPr>
            <p:cNvPr id="6152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9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3" name="Picture 12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6991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Rounded Rectangular Callout 13"/>
          <p:cNvSpPr/>
          <p:nvPr/>
        </p:nvSpPr>
        <p:spPr bwMode="auto">
          <a:xfrm>
            <a:off x="5094288" y="1697711"/>
            <a:ext cx="1836941" cy="363778"/>
          </a:xfrm>
          <a:prstGeom prst="wedgeRoundRectCallout">
            <a:avLst>
              <a:gd name="adj1" fmla="val -41713"/>
              <a:gd name="adj2" fmla="val 122418"/>
              <a:gd name="adj3" fmla="val 16667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rPr>
              <a:t>lost power</a:t>
            </a:r>
          </a:p>
        </p:txBody>
      </p:sp>
      <p:sp>
        <p:nvSpPr>
          <p:cNvPr id="2" name="TextBox 1"/>
          <p:cNvSpPr txBox="1"/>
          <p:nvPr/>
        </p:nvSpPr>
        <p:spPr>
          <a:xfrm rot="16200000">
            <a:off x="1491220" y="3277801"/>
            <a:ext cx="1527982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GB" sz="1200" b="1" dirty="0"/>
              <a:t>supply voltage, ac</a:t>
            </a:r>
          </a:p>
        </p:txBody>
      </p:sp>
    </p:spTree>
    <p:extLst>
      <p:ext uri="{BB962C8B-B14F-4D97-AF65-F5344CB8AC3E}">
        <p14:creationId xmlns:p14="http://schemas.microsoft.com/office/powerpoint/2010/main" val="2455340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5" descr="http://upload.wikimedia.org/wikipedia/commons/thumb/9/93/Thyristor_circuit_symbol.svg/200px-Thyristor_circuit_symbol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000" y="1527175"/>
            <a:ext cx="1905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TextBox 3"/>
          <p:cNvSpPr txBox="1">
            <a:spLocks noChangeArrowheads="1"/>
          </p:cNvSpPr>
          <p:nvPr/>
        </p:nvSpPr>
        <p:spPr bwMode="auto">
          <a:xfrm>
            <a:off x="395288" y="331788"/>
            <a:ext cx="419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Solid State Control Devices</a:t>
            </a:r>
          </a:p>
        </p:txBody>
      </p:sp>
      <p:sp>
        <p:nvSpPr>
          <p:cNvPr id="7172" name="TextBox 4"/>
          <p:cNvSpPr txBox="1">
            <a:spLocks noChangeArrowheads="1"/>
          </p:cNvSpPr>
          <p:nvPr/>
        </p:nvSpPr>
        <p:spPr bwMode="auto">
          <a:xfrm>
            <a:off x="395288" y="940617"/>
            <a:ext cx="592662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Typically: </a:t>
            </a:r>
            <a:r>
              <a:rPr lang="en-GB" dirty="0" err="1"/>
              <a:t>Thyristors</a:t>
            </a:r>
            <a:r>
              <a:rPr lang="en-GB" dirty="0"/>
              <a:t> - </a:t>
            </a:r>
            <a:r>
              <a:rPr lang="en-GB" b="1" dirty="0"/>
              <a:t>Silicon Controlled Rectifiers - SCRs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486025" y="4430713"/>
            <a:ext cx="3744913" cy="1785937"/>
            <a:chOff x="395289" y="2903974"/>
            <a:chExt cx="6394100" cy="2971799"/>
          </a:xfrm>
        </p:grpSpPr>
        <p:pic>
          <p:nvPicPr>
            <p:cNvPr id="7179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9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180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6991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174" name="TextBox 8"/>
          <p:cNvSpPr txBox="1">
            <a:spLocks noChangeArrowheads="1"/>
          </p:cNvSpPr>
          <p:nvPr/>
        </p:nvSpPr>
        <p:spPr bwMode="auto">
          <a:xfrm>
            <a:off x="395288" y="3659188"/>
            <a:ext cx="6659562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6213" indent="-176213"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b="1" dirty="0"/>
              <a:t>Consider AC supply for a lamp:, full power</a:t>
            </a:r>
          </a:p>
          <a:p>
            <a:pPr>
              <a:buFontTx/>
              <a:buChar char="•"/>
            </a:pPr>
            <a:r>
              <a:rPr lang="en-GB" dirty="0"/>
              <a:t>all of the power is contained in the AC wave form as it passes through each 360º cycle</a:t>
            </a:r>
          </a:p>
        </p:txBody>
      </p:sp>
      <p:pic>
        <p:nvPicPr>
          <p:cNvPr id="7175" name="Picture 9" descr="Foto_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3821113"/>
            <a:ext cx="2381250" cy="265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ight Arrow 20"/>
          <p:cNvSpPr/>
          <p:nvPr/>
        </p:nvSpPr>
        <p:spPr bwMode="auto">
          <a:xfrm>
            <a:off x="6410325" y="4721225"/>
            <a:ext cx="684213" cy="582613"/>
          </a:xfrm>
          <a:prstGeom prst="rightArrow">
            <a:avLst>
              <a:gd name="adj1" fmla="val 50000"/>
              <a:gd name="adj2" fmla="val 72414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/>
          </a:p>
        </p:txBody>
      </p:sp>
      <p:pic>
        <p:nvPicPr>
          <p:cNvPr id="7177" name="Picture 14" descr="Structure of a thyristor or silicon controlled rectifier (SCR)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4775" y="522288"/>
            <a:ext cx="23812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8" name="Rectangle 15"/>
          <p:cNvSpPr>
            <a:spLocks noChangeArrowheads="1"/>
          </p:cNvSpPr>
          <p:nvPr/>
        </p:nvSpPr>
        <p:spPr bwMode="auto">
          <a:xfrm>
            <a:off x="395288" y="1515645"/>
            <a:ext cx="6343650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6213" indent="-176213"/>
            <a:r>
              <a:rPr lang="en-GB" b="1" dirty="0"/>
              <a:t>An SCR applied a “controlled rectification” of the wave form</a:t>
            </a:r>
          </a:p>
          <a:p>
            <a:pPr marL="176213" indent="-176213">
              <a:buFontTx/>
              <a:buChar char="•"/>
            </a:pPr>
            <a:r>
              <a:rPr lang="en-GB" dirty="0"/>
              <a:t>the device can be set to turn on at specific points of the wave form </a:t>
            </a:r>
          </a:p>
          <a:p>
            <a:pPr marL="176213" indent="-176213">
              <a:buFontTx/>
              <a:buChar char="•"/>
            </a:pPr>
            <a:r>
              <a:rPr lang="en-GB" dirty="0"/>
              <a:t>thus a modified supply wave is allowed through to the device</a:t>
            </a:r>
          </a:p>
          <a:p>
            <a:pPr marL="176213" indent="-176213">
              <a:buFontTx/>
              <a:buChar char="•"/>
            </a:pPr>
            <a:r>
              <a:rPr lang="en-GB" dirty="0"/>
              <a:t>i.e. the load receives less than full power</a:t>
            </a:r>
          </a:p>
          <a:p>
            <a:pPr marL="176213" indent="-176213">
              <a:buFontTx/>
              <a:buChar char="•"/>
            </a:pPr>
            <a:r>
              <a:rPr lang="en-GB" dirty="0"/>
              <a:t>Gate signal controls the current flowing through the device</a:t>
            </a:r>
          </a:p>
        </p:txBody>
      </p:sp>
    </p:spTree>
    <p:extLst>
      <p:ext uri="{BB962C8B-B14F-4D97-AF65-F5344CB8AC3E}">
        <p14:creationId xmlns:p14="http://schemas.microsoft.com/office/powerpoint/2010/main" val="7249769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2359025" y="1878013"/>
            <a:ext cx="3919538" cy="1943100"/>
            <a:chOff x="1550849" y="1055270"/>
            <a:chExt cx="4347533" cy="2418948"/>
          </a:xfrm>
        </p:grpSpPr>
        <p:grpSp>
          <p:nvGrpSpPr>
            <p:cNvPr id="4" name="Group 2"/>
            <p:cNvGrpSpPr>
              <a:grpSpLocks/>
            </p:cNvGrpSpPr>
            <p:nvPr/>
          </p:nvGrpSpPr>
          <p:grpSpPr bwMode="auto">
            <a:xfrm>
              <a:off x="1550849" y="1055270"/>
              <a:ext cx="4347533" cy="2418948"/>
              <a:chOff x="395289" y="2903974"/>
              <a:chExt cx="6394100" cy="2971799"/>
            </a:xfrm>
          </p:grpSpPr>
          <p:pic>
            <p:nvPicPr>
              <p:cNvPr id="8275" name="Picture 7" descr="http://www.aaroncake.net/forum/uploaded/eng.zahir/2008551448_sine_wave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289" y="2903974"/>
                <a:ext cx="3962398" cy="29717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76" name="Picture 7" descr="http://www.aaroncake.net/forum/uploaded/eng.zahir/2008551448_sine_wave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26991" y="2903974"/>
                <a:ext cx="3962398" cy="29717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607737" y="1467059"/>
              <a:ext cx="452176" cy="783775"/>
              <a:chOff x="1607737" y="1467059"/>
              <a:chExt cx="452176" cy="783775"/>
            </a:xfrm>
          </p:grpSpPr>
          <p:sp>
            <p:nvSpPr>
              <p:cNvPr id="8272" name="Rectangle 5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73" name="Straight Connector 7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74" name="Straight Connector 8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" name="Group 12"/>
            <p:cNvGrpSpPr>
              <a:grpSpLocks/>
            </p:cNvGrpSpPr>
            <p:nvPr/>
          </p:nvGrpSpPr>
          <p:grpSpPr bwMode="auto">
            <a:xfrm>
              <a:off x="3255666" y="1467059"/>
              <a:ext cx="452176" cy="783775"/>
              <a:chOff x="1607737" y="1467059"/>
              <a:chExt cx="452176" cy="783775"/>
            </a:xfrm>
          </p:grpSpPr>
          <p:sp>
            <p:nvSpPr>
              <p:cNvPr id="8269" name="Rectangle 13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70" name="Straight Connector 14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71" name="Straight Connector 15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" name="Group 16"/>
            <p:cNvGrpSpPr>
              <a:grpSpLocks/>
            </p:cNvGrpSpPr>
            <p:nvPr/>
          </p:nvGrpSpPr>
          <p:grpSpPr bwMode="auto">
            <a:xfrm>
              <a:off x="4893547" y="1446962"/>
              <a:ext cx="452176" cy="783775"/>
              <a:chOff x="1607737" y="1467059"/>
              <a:chExt cx="452176" cy="783775"/>
            </a:xfrm>
          </p:grpSpPr>
          <p:sp>
            <p:nvSpPr>
              <p:cNvPr id="8266" name="Rectangle 17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67" name="Straight Connector 18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68" name="Straight Connector 19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8" name="Group 20"/>
            <p:cNvGrpSpPr>
              <a:grpSpLocks/>
            </p:cNvGrpSpPr>
            <p:nvPr/>
          </p:nvGrpSpPr>
          <p:grpSpPr bwMode="auto">
            <a:xfrm rot="10800000" flipH="1">
              <a:off x="2441749" y="2291024"/>
              <a:ext cx="452176" cy="783775"/>
              <a:chOff x="1607737" y="1467059"/>
              <a:chExt cx="452176" cy="783775"/>
            </a:xfrm>
          </p:grpSpPr>
          <p:sp>
            <p:nvSpPr>
              <p:cNvPr id="8263" name="Rectangle 21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cxnSp>
            <p:nvCxnSpPr>
              <p:cNvPr id="8264" name="Straight Connector 22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65" name="Straight Connector 23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9" name="Group 24"/>
            <p:cNvGrpSpPr>
              <a:grpSpLocks/>
            </p:cNvGrpSpPr>
            <p:nvPr/>
          </p:nvGrpSpPr>
          <p:grpSpPr bwMode="auto">
            <a:xfrm rot="10800000" flipH="1">
              <a:off x="4089679" y="2291024"/>
              <a:ext cx="452176" cy="783775"/>
              <a:chOff x="1607737" y="1467059"/>
              <a:chExt cx="452176" cy="783775"/>
            </a:xfrm>
          </p:grpSpPr>
          <p:sp>
            <p:nvSpPr>
              <p:cNvPr id="8260" name="Rectangle 25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cxnSp>
            <p:nvCxnSpPr>
              <p:cNvPr id="8261" name="Straight Connector 26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62" name="Straight Connector 27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8195" name="TextBox 30"/>
          <p:cNvSpPr txBox="1">
            <a:spLocks noChangeArrowheads="1"/>
          </p:cNvSpPr>
          <p:nvPr/>
        </p:nvSpPr>
        <p:spPr bwMode="auto">
          <a:xfrm>
            <a:off x="395288" y="331788"/>
            <a:ext cx="419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Solid State Control Devices</a:t>
            </a:r>
          </a:p>
        </p:txBody>
      </p:sp>
      <p:pic>
        <p:nvPicPr>
          <p:cNvPr id="8196" name="Picture 9" descr="Foto_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0563" y="979488"/>
            <a:ext cx="2103437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Right Arrow 41"/>
          <p:cNvSpPr/>
          <p:nvPr/>
        </p:nvSpPr>
        <p:spPr bwMode="auto">
          <a:xfrm>
            <a:off x="6365875" y="2125663"/>
            <a:ext cx="563563" cy="501650"/>
          </a:xfrm>
          <a:prstGeom prst="rightArrow">
            <a:avLst>
              <a:gd name="adj1" fmla="val 50000"/>
              <a:gd name="adj2" fmla="val 72414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/>
          </a:p>
        </p:txBody>
      </p:sp>
      <p:grpSp>
        <p:nvGrpSpPr>
          <p:cNvPr id="10" name="Group 83"/>
          <p:cNvGrpSpPr>
            <a:grpSpLocks/>
          </p:cNvGrpSpPr>
          <p:nvPr/>
        </p:nvGrpSpPr>
        <p:grpSpPr bwMode="auto">
          <a:xfrm>
            <a:off x="395288" y="4546600"/>
            <a:ext cx="3919537" cy="1809750"/>
            <a:chOff x="2039815" y="4351129"/>
            <a:chExt cx="3918858" cy="2150155"/>
          </a:xfrm>
        </p:grpSpPr>
        <p:grpSp>
          <p:nvGrpSpPr>
            <p:cNvPr id="11" name="Group 84"/>
            <p:cNvGrpSpPr>
              <a:grpSpLocks/>
            </p:cNvGrpSpPr>
            <p:nvPr/>
          </p:nvGrpSpPr>
          <p:grpSpPr bwMode="auto">
            <a:xfrm>
              <a:off x="2039815" y="4351129"/>
              <a:ext cx="3918859" cy="2150155"/>
              <a:chOff x="395289" y="2903974"/>
              <a:chExt cx="6394100" cy="2971799"/>
            </a:xfrm>
          </p:grpSpPr>
          <p:pic>
            <p:nvPicPr>
              <p:cNvPr id="8252" name="Picture 7" descr="http://www.aaroncake.net/forum/uploaded/eng.zahir/2008551448_sine_wave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289" y="2903974"/>
                <a:ext cx="3962398" cy="29717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53" name="Picture 7" descr="http://www.aaroncake.net/forum/uploaded/eng.zahir/2008551448_sine_wave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26991" y="2903974"/>
                <a:ext cx="3962398" cy="29717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2" name="Group 85"/>
            <p:cNvGrpSpPr>
              <a:grpSpLocks/>
            </p:cNvGrpSpPr>
            <p:nvPr/>
          </p:nvGrpSpPr>
          <p:grpSpPr bwMode="auto">
            <a:xfrm>
              <a:off x="2130250" y="4833257"/>
              <a:ext cx="237805" cy="580583"/>
              <a:chOff x="1607737" y="1467059"/>
              <a:chExt cx="452176" cy="783775"/>
            </a:xfrm>
          </p:grpSpPr>
          <p:sp>
            <p:nvSpPr>
              <p:cNvPr id="8249" name="Rectangle 102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50" name="Straight Connector 103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51" name="Straight Connector 104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3" name="Group 86"/>
            <p:cNvGrpSpPr>
              <a:grpSpLocks/>
            </p:cNvGrpSpPr>
            <p:nvPr/>
          </p:nvGrpSpPr>
          <p:grpSpPr bwMode="auto">
            <a:xfrm>
              <a:off x="3597305" y="4843306"/>
              <a:ext cx="257902" cy="580583"/>
              <a:chOff x="1607737" y="1467059"/>
              <a:chExt cx="452176" cy="783775"/>
            </a:xfrm>
          </p:grpSpPr>
          <p:sp>
            <p:nvSpPr>
              <p:cNvPr id="8246" name="Rectangle 99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47" name="Straight Connector 100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48" name="Straight Connector 101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4" name="Group 87"/>
            <p:cNvGrpSpPr>
              <a:grpSpLocks/>
            </p:cNvGrpSpPr>
            <p:nvPr/>
          </p:nvGrpSpPr>
          <p:grpSpPr bwMode="auto">
            <a:xfrm>
              <a:off x="5074413" y="4843306"/>
              <a:ext cx="257902" cy="580583"/>
              <a:chOff x="1607737" y="1467059"/>
              <a:chExt cx="452176" cy="783775"/>
            </a:xfrm>
          </p:grpSpPr>
          <p:sp>
            <p:nvSpPr>
              <p:cNvPr id="8243" name="Rectangle 96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44" name="Straight Connector 97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45" name="Straight Connector 98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5" name="Group 88"/>
            <p:cNvGrpSpPr>
              <a:grpSpLocks/>
            </p:cNvGrpSpPr>
            <p:nvPr/>
          </p:nvGrpSpPr>
          <p:grpSpPr bwMode="auto">
            <a:xfrm rot="10800000" flipH="1">
              <a:off x="2883872" y="5436160"/>
              <a:ext cx="257902" cy="580583"/>
              <a:chOff x="1607737" y="1467059"/>
              <a:chExt cx="452176" cy="783775"/>
            </a:xfrm>
          </p:grpSpPr>
          <p:sp>
            <p:nvSpPr>
              <p:cNvPr id="8240" name="Rectangle 93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cxnSp>
            <p:nvCxnSpPr>
              <p:cNvPr id="8241" name="Straight Connector 94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42" name="Straight Connector 95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16" name="Group 89"/>
            <p:cNvGrpSpPr>
              <a:grpSpLocks/>
            </p:cNvGrpSpPr>
            <p:nvPr/>
          </p:nvGrpSpPr>
          <p:grpSpPr bwMode="auto">
            <a:xfrm rot="10800000" flipH="1">
              <a:off x="4371028" y="5446208"/>
              <a:ext cx="257902" cy="580583"/>
              <a:chOff x="1607737" y="1467059"/>
              <a:chExt cx="452176" cy="783775"/>
            </a:xfrm>
          </p:grpSpPr>
          <p:sp>
            <p:nvSpPr>
              <p:cNvPr id="8237" name="Rectangle 90"/>
              <p:cNvSpPr>
                <a:spLocks noChangeArrowheads="1"/>
              </p:cNvSpPr>
              <p:nvPr/>
            </p:nvSpPr>
            <p:spPr bwMode="auto">
              <a:xfrm>
                <a:off x="1607737" y="1467059"/>
                <a:ext cx="432079" cy="773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cxnSp>
            <p:nvCxnSpPr>
              <p:cNvPr id="8238" name="Straight Connector 91"/>
              <p:cNvCxnSpPr>
                <a:cxnSpLocks noChangeShapeType="1"/>
              </p:cNvCxnSpPr>
              <p:nvPr/>
            </p:nvCxnSpPr>
            <p:spPr bwMode="auto">
              <a:xfrm rot="5400000">
                <a:off x="1698172" y="1868993"/>
                <a:ext cx="723481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39" name="Straight Connector 92"/>
              <p:cNvCxnSpPr>
                <a:cxnSpLocks noChangeShapeType="1"/>
              </p:cNvCxnSpPr>
              <p:nvPr/>
            </p:nvCxnSpPr>
            <p:spPr bwMode="auto">
              <a:xfrm flipV="1">
                <a:off x="1668026" y="2250833"/>
                <a:ext cx="391887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17" name="Group 109"/>
          <p:cNvGrpSpPr>
            <a:grpSpLocks/>
          </p:cNvGrpSpPr>
          <p:nvPr/>
        </p:nvGrpSpPr>
        <p:grpSpPr bwMode="auto">
          <a:xfrm>
            <a:off x="4692650" y="4427538"/>
            <a:ext cx="3919538" cy="1973262"/>
            <a:chOff x="2956" y="2678"/>
            <a:chExt cx="2469" cy="1354"/>
          </a:xfrm>
        </p:grpSpPr>
        <p:grpSp>
          <p:nvGrpSpPr>
            <p:cNvPr id="18" name="Group 43"/>
            <p:cNvGrpSpPr>
              <a:grpSpLocks/>
            </p:cNvGrpSpPr>
            <p:nvPr/>
          </p:nvGrpSpPr>
          <p:grpSpPr bwMode="auto">
            <a:xfrm>
              <a:off x="2956" y="2678"/>
              <a:ext cx="2469" cy="1354"/>
              <a:chOff x="395289" y="2903974"/>
              <a:chExt cx="6394100" cy="2971799"/>
            </a:xfrm>
          </p:grpSpPr>
          <p:pic>
            <p:nvPicPr>
              <p:cNvPr id="8229" name="Picture 7" descr="http://www.aaroncake.net/forum/uploaded/eng.zahir/2008551448_sine_wave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5289" y="2903974"/>
                <a:ext cx="3962398" cy="29717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8230" name="Picture 7" descr="http://www.aaroncake.net/forum/uploaded/eng.zahir/2008551448_sine_wave.png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26991" y="2903974"/>
                <a:ext cx="3962398" cy="29717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19" name="Group 107"/>
            <p:cNvGrpSpPr>
              <a:grpSpLocks/>
            </p:cNvGrpSpPr>
            <p:nvPr/>
          </p:nvGrpSpPr>
          <p:grpSpPr bwMode="auto">
            <a:xfrm>
              <a:off x="3019" y="2829"/>
              <a:ext cx="321" cy="512"/>
              <a:chOff x="4803113" y="4501662"/>
              <a:chExt cx="509110" cy="811695"/>
            </a:xfrm>
          </p:grpSpPr>
          <p:sp>
            <p:nvSpPr>
              <p:cNvPr id="8226" name="Rectangle 61"/>
              <p:cNvSpPr>
                <a:spLocks noChangeArrowheads="1"/>
              </p:cNvSpPr>
              <p:nvPr/>
            </p:nvSpPr>
            <p:spPr bwMode="auto">
              <a:xfrm>
                <a:off x="4803113" y="4501662"/>
                <a:ext cx="486483" cy="804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27" name="Straight Connector 62"/>
              <p:cNvCxnSpPr>
                <a:cxnSpLocks noChangeShapeType="1"/>
              </p:cNvCxnSpPr>
              <p:nvPr/>
            </p:nvCxnSpPr>
            <p:spPr bwMode="auto">
              <a:xfrm rot="5400000">
                <a:off x="5048900" y="5035403"/>
                <a:ext cx="526645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8" name="Straight Connector 63"/>
              <p:cNvCxnSpPr>
                <a:cxnSpLocks noChangeShapeType="1"/>
              </p:cNvCxnSpPr>
              <p:nvPr/>
            </p:nvCxnSpPr>
            <p:spPr bwMode="auto">
              <a:xfrm flipV="1">
                <a:off x="4870993" y="5313356"/>
                <a:ext cx="441230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0" name="Group 108"/>
            <p:cNvGrpSpPr>
              <a:grpSpLocks/>
            </p:cNvGrpSpPr>
            <p:nvPr/>
          </p:nvGrpSpPr>
          <p:grpSpPr bwMode="auto">
            <a:xfrm>
              <a:off x="3905" y="2842"/>
              <a:ext cx="391" cy="511"/>
              <a:chOff x="4803113" y="4501662"/>
              <a:chExt cx="509110" cy="811695"/>
            </a:xfrm>
          </p:grpSpPr>
          <p:sp>
            <p:nvSpPr>
              <p:cNvPr id="8223" name="Rectangle 109"/>
              <p:cNvSpPr>
                <a:spLocks noChangeArrowheads="1"/>
              </p:cNvSpPr>
              <p:nvPr/>
            </p:nvSpPr>
            <p:spPr bwMode="auto">
              <a:xfrm>
                <a:off x="4803113" y="4501662"/>
                <a:ext cx="486483" cy="804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24" name="Straight Connector 110"/>
              <p:cNvCxnSpPr>
                <a:cxnSpLocks noChangeShapeType="1"/>
              </p:cNvCxnSpPr>
              <p:nvPr/>
            </p:nvCxnSpPr>
            <p:spPr bwMode="auto">
              <a:xfrm rot="5400000">
                <a:off x="5048900" y="5035403"/>
                <a:ext cx="526645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5" name="Straight Connector 111"/>
              <p:cNvCxnSpPr>
                <a:cxnSpLocks noChangeShapeType="1"/>
              </p:cNvCxnSpPr>
              <p:nvPr/>
            </p:nvCxnSpPr>
            <p:spPr bwMode="auto">
              <a:xfrm flipV="1">
                <a:off x="4870993" y="5313356"/>
                <a:ext cx="441230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1" name="Group 112"/>
            <p:cNvGrpSpPr>
              <a:grpSpLocks/>
            </p:cNvGrpSpPr>
            <p:nvPr/>
          </p:nvGrpSpPr>
          <p:grpSpPr bwMode="auto">
            <a:xfrm>
              <a:off x="4823" y="2836"/>
              <a:ext cx="391" cy="511"/>
              <a:chOff x="4803113" y="4501662"/>
              <a:chExt cx="509110" cy="811695"/>
            </a:xfrm>
          </p:grpSpPr>
          <p:sp>
            <p:nvSpPr>
              <p:cNvPr id="8220" name="Rectangle 113"/>
              <p:cNvSpPr>
                <a:spLocks noChangeArrowheads="1"/>
              </p:cNvSpPr>
              <p:nvPr/>
            </p:nvSpPr>
            <p:spPr bwMode="auto">
              <a:xfrm>
                <a:off x="4803113" y="4501662"/>
                <a:ext cx="486483" cy="804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8221" name="Straight Connector 114"/>
              <p:cNvCxnSpPr>
                <a:cxnSpLocks noChangeShapeType="1"/>
              </p:cNvCxnSpPr>
              <p:nvPr/>
            </p:nvCxnSpPr>
            <p:spPr bwMode="auto">
              <a:xfrm rot="5400000">
                <a:off x="5048900" y="5035403"/>
                <a:ext cx="526645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22" name="Straight Connector 115"/>
              <p:cNvCxnSpPr>
                <a:cxnSpLocks noChangeShapeType="1"/>
              </p:cNvCxnSpPr>
              <p:nvPr/>
            </p:nvCxnSpPr>
            <p:spPr bwMode="auto">
              <a:xfrm flipV="1">
                <a:off x="4870993" y="5313356"/>
                <a:ext cx="441230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2" name="Group 116"/>
            <p:cNvGrpSpPr>
              <a:grpSpLocks/>
            </p:cNvGrpSpPr>
            <p:nvPr/>
          </p:nvGrpSpPr>
          <p:grpSpPr bwMode="auto">
            <a:xfrm rot="10800000" flipH="1">
              <a:off x="4374" y="3348"/>
              <a:ext cx="390" cy="512"/>
              <a:chOff x="4803113" y="4501662"/>
              <a:chExt cx="509110" cy="811695"/>
            </a:xfrm>
          </p:grpSpPr>
          <p:sp>
            <p:nvSpPr>
              <p:cNvPr id="8217" name="Rectangle 117"/>
              <p:cNvSpPr>
                <a:spLocks noChangeArrowheads="1"/>
              </p:cNvSpPr>
              <p:nvPr/>
            </p:nvSpPr>
            <p:spPr bwMode="auto">
              <a:xfrm>
                <a:off x="4803113" y="4501662"/>
                <a:ext cx="486483" cy="804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cxnSp>
            <p:nvCxnSpPr>
              <p:cNvPr id="8218" name="Straight Connector 118"/>
              <p:cNvCxnSpPr>
                <a:cxnSpLocks noChangeShapeType="1"/>
              </p:cNvCxnSpPr>
              <p:nvPr/>
            </p:nvCxnSpPr>
            <p:spPr bwMode="auto">
              <a:xfrm rot="5400000">
                <a:off x="5048900" y="5035403"/>
                <a:ext cx="526645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19" name="Straight Connector 119"/>
              <p:cNvCxnSpPr>
                <a:cxnSpLocks noChangeShapeType="1"/>
              </p:cNvCxnSpPr>
              <p:nvPr/>
            </p:nvCxnSpPr>
            <p:spPr bwMode="auto">
              <a:xfrm flipV="1">
                <a:off x="4870993" y="5313356"/>
                <a:ext cx="441230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23" name="Group 120"/>
            <p:cNvGrpSpPr>
              <a:grpSpLocks/>
            </p:cNvGrpSpPr>
            <p:nvPr/>
          </p:nvGrpSpPr>
          <p:grpSpPr bwMode="auto">
            <a:xfrm rot="10800000" flipH="1">
              <a:off x="3456" y="3355"/>
              <a:ext cx="390" cy="511"/>
              <a:chOff x="4803113" y="4501662"/>
              <a:chExt cx="509110" cy="811695"/>
            </a:xfrm>
          </p:grpSpPr>
          <p:sp>
            <p:nvSpPr>
              <p:cNvPr id="8214" name="Rectangle 121"/>
              <p:cNvSpPr>
                <a:spLocks noChangeArrowheads="1"/>
              </p:cNvSpPr>
              <p:nvPr/>
            </p:nvSpPr>
            <p:spPr bwMode="auto">
              <a:xfrm>
                <a:off x="4803113" y="4501662"/>
                <a:ext cx="486483" cy="8043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cxnSp>
            <p:nvCxnSpPr>
              <p:cNvPr id="8215" name="Straight Connector 122"/>
              <p:cNvCxnSpPr>
                <a:cxnSpLocks noChangeShapeType="1"/>
              </p:cNvCxnSpPr>
              <p:nvPr/>
            </p:nvCxnSpPr>
            <p:spPr bwMode="auto">
              <a:xfrm rot="5400000">
                <a:off x="5048900" y="5035403"/>
                <a:ext cx="526645" cy="0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16" name="Straight Connector 123"/>
              <p:cNvCxnSpPr>
                <a:cxnSpLocks noChangeShapeType="1"/>
              </p:cNvCxnSpPr>
              <p:nvPr/>
            </p:nvCxnSpPr>
            <p:spPr bwMode="auto">
              <a:xfrm flipV="1">
                <a:off x="4870993" y="5313356"/>
                <a:ext cx="441230" cy="1"/>
              </a:xfrm>
              <a:prstGeom prst="line">
                <a:avLst/>
              </a:prstGeom>
              <a:noFill/>
              <a:ln w="38100" algn="ctr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8200" name="TextBox 124"/>
          <p:cNvSpPr txBox="1">
            <a:spLocks noChangeArrowheads="1"/>
          </p:cNvSpPr>
          <p:nvPr/>
        </p:nvSpPr>
        <p:spPr bwMode="auto">
          <a:xfrm>
            <a:off x="384655" y="4051929"/>
            <a:ext cx="366634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Cutting the wave off earlier = more power, brighter light</a:t>
            </a:r>
          </a:p>
        </p:txBody>
      </p:sp>
      <p:sp>
        <p:nvSpPr>
          <p:cNvPr id="8201" name="TextBox 125"/>
          <p:cNvSpPr txBox="1">
            <a:spLocks noChangeArrowheads="1"/>
          </p:cNvSpPr>
          <p:nvPr/>
        </p:nvSpPr>
        <p:spPr bwMode="auto">
          <a:xfrm>
            <a:off x="4742675" y="4065145"/>
            <a:ext cx="3231743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Cutting the wave off later = less power, dimmer light</a:t>
            </a:r>
          </a:p>
        </p:txBody>
      </p:sp>
      <p:sp>
        <p:nvSpPr>
          <p:cNvPr id="8202" name="Text Box 81"/>
          <p:cNvSpPr txBox="1">
            <a:spLocks noChangeArrowheads="1"/>
          </p:cNvSpPr>
          <p:nvPr/>
        </p:nvSpPr>
        <p:spPr bwMode="auto">
          <a:xfrm>
            <a:off x="7046913" y="6121400"/>
            <a:ext cx="1897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i.e. phase control</a:t>
            </a:r>
          </a:p>
        </p:txBody>
      </p:sp>
      <p:grpSp>
        <p:nvGrpSpPr>
          <p:cNvPr id="24" name="Group 7"/>
          <p:cNvGrpSpPr>
            <a:grpSpLocks/>
          </p:cNvGrpSpPr>
          <p:nvPr/>
        </p:nvGrpSpPr>
        <p:grpSpPr bwMode="auto">
          <a:xfrm>
            <a:off x="2455863" y="714375"/>
            <a:ext cx="3744912" cy="1490663"/>
            <a:chOff x="395289" y="2903974"/>
            <a:chExt cx="6394100" cy="2971799"/>
          </a:xfrm>
        </p:grpSpPr>
        <p:pic>
          <p:nvPicPr>
            <p:cNvPr id="8206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289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07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6991" y="2903974"/>
              <a:ext cx="3962398" cy="29717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Right Arrow 41"/>
          <p:cNvSpPr/>
          <p:nvPr/>
        </p:nvSpPr>
        <p:spPr bwMode="auto">
          <a:xfrm>
            <a:off x="6278563" y="1152525"/>
            <a:ext cx="563562" cy="501650"/>
          </a:xfrm>
          <a:prstGeom prst="rightArrow">
            <a:avLst>
              <a:gd name="adj1" fmla="val 50000"/>
              <a:gd name="adj2" fmla="val 72414"/>
            </a:avLst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205" name="TextBox 125"/>
          <p:cNvSpPr txBox="1">
            <a:spLocks noChangeArrowheads="1"/>
          </p:cNvSpPr>
          <p:nvPr/>
        </p:nvSpPr>
        <p:spPr bwMode="auto">
          <a:xfrm>
            <a:off x="395288" y="1181100"/>
            <a:ext cx="2854325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Full waveform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r>
              <a:rPr lang="en-GB"/>
              <a:t>Controlled waveform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7886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Box 1"/>
          <p:cNvSpPr txBox="1">
            <a:spLocks noChangeArrowheads="1"/>
          </p:cNvSpPr>
          <p:nvPr/>
        </p:nvSpPr>
        <p:spPr bwMode="auto">
          <a:xfrm>
            <a:off x="395288" y="331788"/>
            <a:ext cx="41973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/>
              <a:t>Solid State Control Devices</a:t>
            </a:r>
          </a:p>
        </p:txBody>
      </p:sp>
      <p:pic>
        <p:nvPicPr>
          <p:cNvPr id="9219" name="Picture 3" descr="scr with gate diod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338" y="884238"/>
            <a:ext cx="4371975" cy="248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5" descr="scr with gate potentiomet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5475" y="3844925"/>
            <a:ext cx="4216400" cy="226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TextBox 4"/>
          <p:cNvSpPr txBox="1">
            <a:spLocks noChangeArrowheads="1"/>
          </p:cNvSpPr>
          <p:nvPr/>
        </p:nvSpPr>
        <p:spPr bwMode="auto">
          <a:xfrm>
            <a:off x="395288" y="1258628"/>
            <a:ext cx="31019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b="1" i="1" dirty="0"/>
              <a:t>SCR applied  – for one half of the waveform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Circuit for applying power to an AC load (e.g. a lamp)</a:t>
            </a:r>
          </a:p>
        </p:txBody>
      </p:sp>
      <p:sp>
        <p:nvSpPr>
          <p:cNvPr id="9222" name="TextBox 5"/>
          <p:cNvSpPr txBox="1">
            <a:spLocks noChangeArrowheads="1"/>
          </p:cNvSpPr>
          <p:nvPr/>
        </p:nvSpPr>
        <p:spPr bwMode="auto">
          <a:xfrm>
            <a:off x="395288" y="4232692"/>
            <a:ext cx="351631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By building the potentiometer into the circuit, control gate into the SCR allows the cut-off point to be set</a:t>
            </a:r>
          </a:p>
        </p:txBody>
      </p:sp>
    </p:spTree>
    <p:extLst>
      <p:ext uri="{BB962C8B-B14F-4D97-AF65-F5344CB8AC3E}">
        <p14:creationId xmlns:p14="http://schemas.microsoft.com/office/powerpoint/2010/main" val="590759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354322"/>
            <a:ext cx="3160286" cy="200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7" y="3821519"/>
            <a:ext cx="3234151" cy="2100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395288" y="331788"/>
            <a:ext cx="53254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sz="2400" b="1" dirty="0"/>
              <a:t>Forward / Reverse Phase Dimming</a:t>
            </a:r>
          </a:p>
        </p:txBody>
      </p:sp>
    </p:spTree>
    <p:extLst>
      <p:ext uri="{BB962C8B-B14F-4D97-AF65-F5344CB8AC3E}">
        <p14:creationId xmlns:p14="http://schemas.microsoft.com/office/powerpoint/2010/main" val="39459916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ChangeArrowheads="1"/>
          </p:cNvSpPr>
          <p:nvPr/>
        </p:nvSpPr>
        <p:spPr bwMode="auto">
          <a:xfrm>
            <a:off x="395288" y="792163"/>
            <a:ext cx="5603875" cy="97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76213" indent="-176213">
              <a:lnSpc>
                <a:spcPct val="120000"/>
              </a:lnSpc>
            </a:pPr>
            <a:r>
              <a:rPr lang="en-GB" b="1" dirty="0"/>
              <a:t>Dimmer - normally has a filter choke </a:t>
            </a:r>
          </a:p>
          <a:p>
            <a:pPr marL="176213" indent="-176213">
              <a:lnSpc>
                <a:spcPct val="120000"/>
              </a:lnSpc>
              <a:buFontTx/>
              <a:buChar char="•"/>
            </a:pPr>
            <a:r>
              <a:rPr lang="en-GB" dirty="0"/>
              <a:t>chokes filter out electrical noise </a:t>
            </a:r>
          </a:p>
          <a:p>
            <a:pPr marL="176213" indent="-176213">
              <a:lnSpc>
                <a:spcPct val="120000"/>
              </a:lnSpc>
            </a:pPr>
            <a:endParaRPr lang="en-GB" dirty="0"/>
          </a:p>
        </p:txBody>
      </p:sp>
      <p:pic>
        <p:nvPicPr>
          <p:cNvPr id="11267" name="Picture 4" descr="Filter_Choke_Coils_and_Inductor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78" t="25748" r="16634" b="5327"/>
          <a:stretch>
            <a:fillRect/>
          </a:stretch>
        </p:blipFill>
        <p:spPr bwMode="auto">
          <a:xfrm>
            <a:off x="6140450" y="0"/>
            <a:ext cx="3003550" cy="121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5"/>
          <p:cNvSpPr>
            <a:spLocks noChangeArrowheads="1"/>
          </p:cNvSpPr>
          <p:nvPr/>
        </p:nvSpPr>
        <p:spPr bwMode="auto">
          <a:xfrm>
            <a:off x="395288" y="331788"/>
            <a:ext cx="4992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Buzzing Problems with Dimmers</a:t>
            </a:r>
          </a:p>
        </p:txBody>
      </p:sp>
      <p:sp>
        <p:nvSpPr>
          <p:cNvPr id="11269" name="Text Box 10"/>
          <p:cNvSpPr txBox="1">
            <a:spLocks noChangeArrowheads="1"/>
          </p:cNvSpPr>
          <p:nvPr/>
        </p:nvSpPr>
        <p:spPr bwMode="auto">
          <a:xfrm>
            <a:off x="8058150" y="1271588"/>
            <a:ext cx="8080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/>
              <a:t>Choke</a:t>
            </a:r>
          </a:p>
        </p:txBody>
      </p:sp>
      <p:pic>
        <p:nvPicPr>
          <p:cNvPr id="11270" name="Picture 12" descr="InductorSq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457325"/>
            <a:ext cx="6986587" cy="297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Box 6"/>
          <p:cNvSpPr txBox="1">
            <a:spLocks noChangeArrowheads="1"/>
          </p:cNvSpPr>
          <p:nvPr/>
        </p:nvSpPr>
        <p:spPr bwMode="auto">
          <a:xfrm>
            <a:off x="395288" y="3868738"/>
            <a:ext cx="4657725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GB" dirty="0"/>
              <a:t>Square wave has “hard edges” consisting of harmonics</a:t>
            </a:r>
          </a:p>
          <a:p>
            <a:r>
              <a:rPr lang="en-GB" dirty="0"/>
              <a:t>The choke (inductor) takes all this immediate rise, leaving a softer rise of voltage to the resistor</a:t>
            </a:r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For the waveform supplied by a </a:t>
            </a:r>
            <a:r>
              <a:rPr lang="en-GB" b="1" dirty="0"/>
              <a:t>SCR</a:t>
            </a:r>
            <a:r>
              <a:rPr lang="en-GB" dirty="0"/>
              <a:t>, the rapid switch time also requires a choke filter</a:t>
            </a: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4475437" y="4358886"/>
            <a:ext cx="3425825" cy="1901825"/>
            <a:chOff x="4562375" y="4451968"/>
            <a:chExt cx="3426595" cy="1900706"/>
          </a:xfrm>
        </p:grpSpPr>
        <p:sp>
          <p:nvSpPr>
            <p:cNvPr id="11273" name="Oval 31"/>
            <p:cNvSpPr>
              <a:spLocks noChangeArrowheads="1"/>
            </p:cNvSpPr>
            <p:nvPr/>
          </p:nvSpPr>
          <p:spPr bwMode="auto">
            <a:xfrm>
              <a:off x="5236143" y="4658627"/>
              <a:ext cx="558266" cy="962527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1274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21601" y="4451968"/>
              <a:ext cx="1652958" cy="1900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75" name="Picture 7" descr="http://www.aaroncake.net/forum/uploaded/eng.zahir/2008551448_sine_wave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6012" y="4451968"/>
              <a:ext cx="1652958" cy="1900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276" name="Rectangle 5"/>
            <p:cNvSpPr>
              <a:spLocks noChangeArrowheads="1"/>
            </p:cNvSpPr>
            <p:nvPr/>
          </p:nvSpPr>
          <p:spPr bwMode="auto">
            <a:xfrm>
              <a:off x="5356504" y="4775534"/>
              <a:ext cx="265096" cy="607959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77" name="Straight Connector 7"/>
            <p:cNvCxnSpPr>
              <a:cxnSpLocks noChangeShapeType="1"/>
            </p:cNvCxnSpPr>
            <p:nvPr/>
          </p:nvCxnSpPr>
          <p:spPr bwMode="auto">
            <a:xfrm rot="5400000">
              <a:off x="5349689" y="5091357"/>
              <a:ext cx="568481" cy="0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</p:spPr>
        </p:cxnSp>
        <p:cxnSp>
          <p:nvCxnSpPr>
            <p:cNvPr id="11278" name="Straight Connector 8"/>
            <p:cNvCxnSpPr>
              <a:cxnSpLocks noChangeShapeType="1"/>
            </p:cNvCxnSpPr>
            <p:nvPr/>
          </p:nvCxnSpPr>
          <p:spPr bwMode="auto">
            <a:xfrm flipV="1">
              <a:off x="5393493" y="5391390"/>
              <a:ext cx="240437" cy="1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</p:spPr>
        </p:cxnSp>
        <p:sp>
          <p:nvSpPr>
            <p:cNvPr id="11279" name="Rectangle 13"/>
            <p:cNvSpPr>
              <a:spLocks noChangeArrowheads="1"/>
            </p:cNvSpPr>
            <p:nvPr/>
          </p:nvSpPr>
          <p:spPr bwMode="auto">
            <a:xfrm>
              <a:off x="6367568" y="4775534"/>
              <a:ext cx="265096" cy="6079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80" name="Straight Connector 14"/>
            <p:cNvCxnSpPr>
              <a:cxnSpLocks noChangeShapeType="1"/>
            </p:cNvCxnSpPr>
            <p:nvPr/>
          </p:nvCxnSpPr>
          <p:spPr bwMode="auto">
            <a:xfrm rot="5400000">
              <a:off x="6360753" y="5091357"/>
              <a:ext cx="568481" cy="0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1" name="Straight Connector 15"/>
            <p:cNvCxnSpPr>
              <a:cxnSpLocks noChangeShapeType="1"/>
            </p:cNvCxnSpPr>
            <p:nvPr/>
          </p:nvCxnSpPr>
          <p:spPr bwMode="auto">
            <a:xfrm flipV="1">
              <a:off x="6404557" y="5391390"/>
              <a:ext cx="240437" cy="1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2" name="Rectangle 17"/>
            <p:cNvSpPr>
              <a:spLocks noChangeArrowheads="1"/>
            </p:cNvSpPr>
            <p:nvPr/>
          </p:nvSpPr>
          <p:spPr bwMode="auto">
            <a:xfrm>
              <a:off x="7372467" y="4759743"/>
              <a:ext cx="265096" cy="6079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1283" name="Straight Connector 18"/>
            <p:cNvCxnSpPr>
              <a:cxnSpLocks noChangeShapeType="1"/>
            </p:cNvCxnSpPr>
            <p:nvPr/>
          </p:nvCxnSpPr>
          <p:spPr bwMode="auto">
            <a:xfrm rot="5400000">
              <a:off x="7365652" y="5075566"/>
              <a:ext cx="568481" cy="0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4" name="Straight Connector 19"/>
            <p:cNvCxnSpPr>
              <a:cxnSpLocks noChangeShapeType="1"/>
            </p:cNvCxnSpPr>
            <p:nvPr/>
          </p:nvCxnSpPr>
          <p:spPr bwMode="auto">
            <a:xfrm flipV="1">
              <a:off x="7409456" y="5375599"/>
              <a:ext cx="240437" cy="1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5" name="Rectangle 21"/>
            <p:cNvSpPr>
              <a:spLocks noChangeArrowheads="1"/>
            </p:cNvSpPr>
            <p:nvPr/>
          </p:nvSpPr>
          <p:spPr bwMode="auto">
            <a:xfrm rot="10800000" flipH="1">
              <a:off x="5868200" y="5430869"/>
              <a:ext cx="265096" cy="6079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cxnSp>
          <p:nvCxnSpPr>
            <p:cNvPr id="11286" name="Straight Connector 22"/>
            <p:cNvCxnSpPr>
              <a:cxnSpLocks noChangeShapeType="1"/>
            </p:cNvCxnSpPr>
            <p:nvPr/>
          </p:nvCxnSpPr>
          <p:spPr bwMode="auto">
            <a:xfrm rot="5400000" flipH="1">
              <a:off x="5861385" y="5723005"/>
              <a:ext cx="568481" cy="0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7" name="Straight Connector 23"/>
            <p:cNvCxnSpPr>
              <a:cxnSpLocks noChangeShapeType="1"/>
            </p:cNvCxnSpPr>
            <p:nvPr/>
          </p:nvCxnSpPr>
          <p:spPr bwMode="auto">
            <a:xfrm rot="10800000" flipH="1" flipV="1">
              <a:off x="5905189" y="5422971"/>
              <a:ext cx="240437" cy="1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88" name="Rectangle 25"/>
            <p:cNvSpPr>
              <a:spLocks noChangeArrowheads="1"/>
            </p:cNvSpPr>
            <p:nvPr/>
          </p:nvSpPr>
          <p:spPr bwMode="auto">
            <a:xfrm rot="10800000" flipH="1">
              <a:off x="6879265" y="5430869"/>
              <a:ext cx="265096" cy="6079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cxnSp>
          <p:nvCxnSpPr>
            <p:cNvPr id="11289" name="Straight Connector 26"/>
            <p:cNvCxnSpPr>
              <a:cxnSpLocks noChangeShapeType="1"/>
            </p:cNvCxnSpPr>
            <p:nvPr/>
          </p:nvCxnSpPr>
          <p:spPr bwMode="auto">
            <a:xfrm rot="5400000" flipH="1">
              <a:off x="6872450" y="5723005"/>
              <a:ext cx="568481" cy="0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0" name="Straight Connector 27"/>
            <p:cNvCxnSpPr>
              <a:cxnSpLocks noChangeShapeType="1"/>
            </p:cNvCxnSpPr>
            <p:nvPr/>
          </p:nvCxnSpPr>
          <p:spPr bwMode="auto">
            <a:xfrm rot="10800000" flipH="1" flipV="1">
              <a:off x="6916254" y="5422971"/>
              <a:ext cx="240437" cy="1"/>
            </a:xfrm>
            <a:prstGeom prst="line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91" name="Straight Arrow Connector 34"/>
            <p:cNvCxnSpPr>
              <a:cxnSpLocks noChangeShapeType="1"/>
            </p:cNvCxnSpPr>
            <p:nvPr/>
          </p:nvCxnSpPr>
          <p:spPr bwMode="auto">
            <a:xfrm flipV="1">
              <a:off x="4562375" y="4908884"/>
              <a:ext cx="972151" cy="77964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arrow" w="med" len="med"/>
            </a:ln>
          </p:spPr>
        </p:cxnSp>
      </p:grpSp>
      <p:sp>
        <p:nvSpPr>
          <p:cNvPr id="28" name="Rectangle 27"/>
          <p:cNvSpPr/>
          <p:nvPr/>
        </p:nvSpPr>
        <p:spPr>
          <a:xfrm>
            <a:off x="3214412" y="1475893"/>
            <a:ext cx="97815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990000"/>
                </a:solidFill>
              </a:rPr>
              <a:t>(choke)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7428" y="5324988"/>
            <a:ext cx="1538759" cy="1097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0699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755722"/>
            <a:ext cx="2284850" cy="2490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17316" y="1750957"/>
            <a:ext cx="2236662" cy="2442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7540" y="1708427"/>
            <a:ext cx="2265721" cy="246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395288" y="337948"/>
            <a:ext cx="31293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Sine Wave Dimming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5288" y="4635062"/>
            <a:ext cx="7297511" cy="1308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3038" indent="-173038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/>
              <a:t>The input supply sine wave is split into varying widths </a:t>
            </a:r>
          </a:p>
          <a:p>
            <a:pPr marL="173038" indent="-173038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/>
              <a:t>Pulse Width Modulation (PWM)</a:t>
            </a:r>
          </a:p>
          <a:p>
            <a:pPr marL="173038" indent="-173038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/>
              <a:t>Relative widths relates to the required reduction in output</a:t>
            </a:r>
          </a:p>
          <a:p>
            <a:pPr marL="173038" indent="-173038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/>
              <a:t>The pulses are then filtered to produce the reduced amplitude output</a:t>
            </a:r>
          </a:p>
        </p:txBody>
      </p:sp>
    </p:spTree>
    <p:extLst>
      <p:ext uri="{BB962C8B-B14F-4D97-AF65-F5344CB8AC3E}">
        <p14:creationId xmlns:p14="http://schemas.microsoft.com/office/powerpoint/2010/main" val="3420637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4" descr="http://images.jimonlight.com/wp-content/uploads/2008/12/xenon_short_arc_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395288" y="4176713"/>
            <a:ext cx="8494712" cy="2276475"/>
          </a:xfrm>
          <a:prstGeom prst="rect">
            <a:avLst/>
          </a:prstGeom>
          <a:solidFill>
            <a:srgbClr val="0D0D0D">
              <a:alpha val="50196"/>
            </a:srgbClr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GB" b="1" dirty="0">
                <a:solidFill>
                  <a:schemeClr val="bg1"/>
                </a:solidFill>
              </a:rPr>
              <a:t>High-Intensity Discharge lamps (HID lamps) </a:t>
            </a:r>
          </a:p>
          <a:p>
            <a:pPr marL="179388" indent="-179388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GB" b="1" dirty="0">
                <a:solidFill>
                  <a:schemeClr val="bg1"/>
                </a:solidFill>
              </a:rPr>
              <a:t>now common where a very bright light output is required - e.g. large follow spots</a:t>
            </a:r>
          </a:p>
          <a:p>
            <a:pPr>
              <a:lnSpc>
                <a:spcPct val="150000"/>
              </a:lnSpc>
              <a:defRPr/>
            </a:pPr>
            <a:endParaRPr lang="en-GB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en-GB" b="1" dirty="0" err="1">
                <a:solidFill>
                  <a:schemeClr val="bg1"/>
                </a:solidFill>
              </a:rPr>
              <a:t>Hydrargyrum</a:t>
            </a:r>
            <a:r>
              <a:rPr lang="en-GB" b="1" dirty="0">
                <a:solidFill>
                  <a:schemeClr val="bg1"/>
                </a:solidFill>
              </a:rPr>
              <a:t> Medium-arc Iodide - HMI </a:t>
            </a:r>
          </a:p>
          <a:p>
            <a:pPr marL="182563" indent="-18256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GB" b="1" dirty="0">
                <a:solidFill>
                  <a:schemeClr val="bg1"/>
                </a:solidFill>
              </a:rPr>
              <a:t>floods, modern automated fixtures</a:t>
            </a:r>
          </a:p>
          <a:p>
            <a:pPr marL="182563" indent="-182563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GB" b="1" dirty="0">
                <a:solidFill>
                  <a:schemeClr val="bg1"/>
                </a:solidFill>
              </a:rPr>
              <a:t>cannot be electrically dimmed - use mechanical dousers or shutters </a:t>
            </a:r>
          </a:p>
        </p:txBody>
      </p:sp>
      <p:sp>
        <p:nvSpPr>
          <p:cNvPr id="22532" name="TextBox 3"/>
          <p:cNvSpPr txBox="1">
            <a:spLocks noChangeArrowheads="1"/>
          </p:cNvSpPr>
          <p:nvPr/>
        </p:nvSpPr>
        <p:spPr bwMode="auto">
          <a:xfrm>
            <a:off x="395288" y="331788"/>
            <a:ext cx="3432175" cy="461962"/>
          </a:xfrm>
          <a:prstGeom prst="rect">
            <a:avLst/>
          </a:prstGeom>
          <a:solidFill>
            <a:srgbClr val="0D0D0D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lang="en-GB" sz="2400" b="1">
                <a:solidFill>
                  <a:schemeClr val="bg1"/>
                </a:solidFill>
              </a:rPr>
              <a:t>Arc, Discharge Lamps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Box 14"/>
          <p:cNvSpPr txBox="1"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  <a:p>
            <a:pPr>
              <a:spcAft>
                <a:spcPts val="300"/>
              </a:spcAft>
            </a:pPr>
            <a:endParaRPr lang="en-GB"/>
          </a:p>
        </p:txBody>
      </p:sp>
      <p:pic>
        <p:nvPicPr>
          <p:cNvPr id="23555" name="Picture 2" descr="dedoligh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2925" y="0"/>
            <a:ext cx="4791075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6" name="Isosceles Triangle 9"/>
          <p:cNvSpPr>
            <a:spLocks noChangeArrowheads="1"/>
          </p:cNvSpPr>
          <p:nvPr/>
        </p:nvSpPr>
        <p:spPr bwMode="auto">
          <a:xfrm>
            <a:off x="641350" y="679450"/>
            <a:ext cx="2714625" cy="6051550"/>
          </a:xfrm>
          <a:prstGeom prst="triangle">
            <a:avLst>
              <a:gd name="adj" fmla="val 5000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179388" indent="-179388" algn="ctr">
              <a:spcAft>
                <a:spcPts val="300"/>
              </a:spcAft>
              <a:buFont typeface="Arial" charset="0"/>
              <a:buChar char="•"/>
            </a:pPr>
            <a:endParaRPr lang="en-US"/>
          </a:p>
        </p:txBody>
      </p:sp>
      <p:sp>
        <p:nvSpPr>
          <p:cNvPr id="23557" name="Rectangle 11"/>
          <p:cNvSpPr>
            <a:spLocks noChangeArrowheads="1"/>
          </p:cNvSpPr>
          <p:nvPr/>
        </p:nvSpPr>
        <p:spPr bwMode="auto">
          <a:xfrm>
            <a:off x="660400" y="2819400"/>
            <a:ext cx="6523038" cy="3524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179388" indent="-179388" algn="ctr">
              <a:spcAft>
                <a:spcPts val="300"/>
              </a:spcAft>
              <a:buFont typeface="Arial" charset="0"/>
              <a:buChar char="•"/>
            </a:pPr>
            <a:endParaRPr lang="en-US"/>
          </a:p>
        </p:txBody>
      </p:sp>
      <p:sp>
        <p:nvSpPr>
          <p:cNvPr id="23558" name="Rectangle 3"/>
          <p:cNvSpPr>
            <a:spLocks noChangeArrowheads="1"/>
          </p:cNvSpPr>
          <p:nvPr/>
        </p:nvSpPr>
        <p:spPr bwMode="auto">
          <a:xfrm>
            <a:off x="395288" y="942975"/>
            <a:ext cx="3997325" cy="153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79388" indent="-179388">
              <a:lnSpc>
                <a:spcPct val="150000"/>
              </a:lnSpc>
              <a:buFont typeface="Arial" charset="0"/>
              <a:buChar char="•"/>
            </a:pPr>
            <a:r>
              <a:rPr lang="en-GB">
                <a:solidFill>
                  <a:schemeClr val="bg1"/>
                </a:solidFill>
              </a:rPr>
              <a:t>electric arc in lamp of gas</a:t>
            </a:r>
          </a:p>
          <a:p>
            <a:pPr marL="179388" indent="-179388">
              <a:lnSpc>
                <a:spcPct val="150000"/>
              </a:lnSpc>
              <a:buFont typeface="Arial" charset="0"/>
              <a:buChar char="•"/>
            </a:pPr>
            <a:r>
              <a:rPr lang="en-GB">
                <a:solidFill>
                  <a:schemeClr val="bg1"/>
                </a:solidFill>
              </a:rPr>
              <a:t>gas ionized by a high voltage </a:t>
            </a:r>
          </a:p>
          <a:p>
            <a:pPr marL="179388" indent="-179388">
              <a:lnSpc>
                <a:spcPct val="150000"/>
              </a:lnSpc>
              <a:buFont typeface="Arial" charset="0"/>
              <a:buChar char="•"/>
            </a:pPr>
            <a:r>
              <a:rPr lang="en-GB">
                <a:solidFill>
                  <a:schemeClr val="bg1"/>
                </a:solidFill>
              </a:rPr>
              <a:t>therefore becomes electrically conductive</a:t>
            </a:r>
          </a:p>
        </p:txBody>
      </p:sp>
      <p:sp>
        <p:nvSpPr>
          <p:cNvPr id="23559" name="TextBox 15"/>
          <p:cNvSpPr txBox="1">
            <a:spLocks noChangeArrowheads="1"/>
          </p:cNvSpPr>
          <p:nvPr/>
        </p:nvSpPr>
        <p:spPr bwMode="auto">
          <a:xfrm>
            <a:off x="395288" y="331788"/>
            <a:ext cx="3432175" cy="461962"/>
          </a:xfrm>
          <a:prstGeom prst="rect">
            <a:avLst/>
          </a:prstGeom>
          <a:solidFill>
            <a:srgbClr val="0D0D0D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lang="en-GB" sz="2400" b="1">
                <a:solidFill>
                  <a:schemeClr val="bg1"/>
                </a:solidFill>
              </a:rPr>
              <a:t>Arc, Discharge Lamps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5288" y="4102100"/>
            <a:ext cx="8428037" cy="241604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/>
            </a:pPr>
            <a:r>
              <a:rPr lang="en-GB" b="1" dirty="0">
                <a:solidFill>
                  <a:schemeClr val="bg1"/>
                </a:solidFill>
              </a:rPr>
              <a:t>To start 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>
                <a:solidFill>
                  <a:schemeClr val="bg1"/>
                </a:solidFill>
              </a:rPr>
              <a:t>small voltage lamps – no problem – relatively small voltage to strike the arc</a:t>
            </a:r>
          </a:p>
          <a:p>
            <a:pPr marL="179388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>
                <a:solidFill>
                  <a:schemeClr val="bg1"/>
                </a:solidFill>
              </a:rPr>
              <a:t>Larger lamps:</a:t>
            </a:r>
          </a:p>
          <a:p>
            <a:pPr marL="636588" lvl="1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>
                <a:solidFill>
                  <a:schemeClr val="bg1"/>
                </a:solidFill>
              </a:rPr>
              <a:t>very high voltage is pulsed across the lamp to "ignite" or "strike" the arc across the gas</a:t>
            </a:r>
          </a:p>
          <a:p>
            <a:pPr marL="636588" lvl="1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>
                <a:solidFill>
                  <a:schemeClr val="bg1"/>
                </a:solidFill>
              </a:rPr>
              <a:t>requires an electrical circuit with an </a:t>
            </a:r>
            <a:r>
              <a:rPr lang="en-GB" dirty="0" err="1">
                <a:solidFill>
                  <a:schemeClr val="bg1"/>
                </a:solidFill>
              </a:rPr>
              <a:t>igniter</a:t>
            </a:r>
            <a:r>
              <a:rPr lang="en-GB" dirty="0">
                <a:solidFill>
                  <a:schemeClr val="bg1"/>
                </a:solidFill>
              </a:rPr>
              <a:t> and a ballast</a:t>
            </a:r>
          </a:p>
          <a:p>
            <a:pPr marL="636588" lvl="1" indent="-179388"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>
                <a:solidFill>
                  <a:schemeClr val="bg1"/>
                </a:solidFill>
              </a:rPr>
              <a:t>ballast - is wired in series with the lamp </a:t>
            </a:r>
          </a:p>
          <a:p>
            <a:pPr>
              <a:defRPr/>
            </a:pPr>
            <a:endParaRPr lang="en-GB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39953" y="1220395"/>
            <a:ext cx="4608511" cy="407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4278454" y="5251971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200" dirty="0"/>
              <a:t>http://galaxylightingrepair.com/images/hmi_info.jpg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288" y="1712541"/>
            <a:ext cx="345663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Incandescent lamp - peak irradiation lies much farther in the non-visible infrared area of the spectrum </a:t>
            </a:r>
          </a:p>
          <a:p>
            <a:pPr marL="180975" indent="-180975">
              <a:buFont typeface="Arial" pitchFamily="34" charset="0"/>
              <a:buChar char="•"/>
            </a:pPr>
            <a:endParaRPr lang="en-GB" dirty="0"/>
          </a:p>
          <a:p>
            <a:pPr marL="180975" lvl="1" indent="-180975">
              <a:buFont typeface="Arial" pitchFamily="34" charset="0"/>
              <a:buChar char="•"/>
            </a:pPr>
            <a:r>
              <a:rPr lang="en-GB" dirty="0"/>
              <a:t>compare to the wavelength of the maximal irradiation of the HMI</a:t>
            </a:r>
          </a:p>
          <a:p>
            <a:pPr marL="180975" indent="-180975">
              <a:buFont typeface="Arial" pitchFamily="34" charset="0"/>
              <a:buChar char="•"/>
            </a:pPr>
            <a:endParaRPr lang="en-GB" dirty="0"/>
          </a:p>
          <a:p>
            <a:pPr marL="180975" indent="-180975">
              <a:buFont typeface="Arial" pitchFamily="34" charset="0"/>
              <a:buChar char="•"/>
            </a:pPr>
            <a:r>
              <a:rPr lang="en-GB" dirty="0"/>
              <a:t>relative efficiency of HMI in producing visible light, whereas incandescent bulbs produce a much greater portion of non-usable heat. 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3355124" y="2099159"/>
            <a:ext cx="1569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Relative </a:t>
            </a:r>
            <a:r>
              <a:rPr lang="en-GB" sz="1200" dirty="0" err="1"/>
              <a:t>Iridecence</a:t>
            </a:r>
            <a:endParaRPr lang="en-GB" sz="1200" dirty="0"/>
          </a:p>
        </p:txBody>
      </p:sp>
      <p:sp>
        <p:nvSpPr>
          <p:cNvPr id="14" name="Freeform 13"/>
          <p:cNvSpPr/>
          <p:nvPr/>
        </p:nvSpPr>
        <p:spPr bwMode="auto">
          <a:xfrm>
            <a:off x="4667250" y="1452479"/>
            <a:ext cx="3289126" cy="2238375"/>
          </a:xfrm>
          <a:custGeom>
            <a:avLst/>
            <a:gdLst>
              <a:gd name="connsiteX0" fmla="*/ 0 w 3733800"/>
              <a:gd name="connsiteY0" fmla="*/ 2238375 h 2238375"/>
              <a:gd name="connsiteX1" fmla="*/ 200025 w 3733800"/>
              <a:gd name="connsiteY1" fmla="*/ 2162175 h 2238375"/>
              <a:gd name="connsiteX2" fmla="*/ 609600 w 3733800"/>
              <a:gd name="connsiteY2" fmla="*/ 1962150 h 2238375"/>
              <a:gd name="connsiteX3" fmla="*/ 1981200 w 3733800"/>
              <a:gd name="connsiteY3" fmla="*/ 1285875 h 2238375"/>
              <a:gd name="connsiteX4" fmla="*/ 3181350 w 3733800"/>
              <a:gd name="connsiteY4" fmla="*/ 438150 h 2238375"/>
              <a:gd name="connsiteX5" fmla="*/ 3733800 w 3733800"/>
              <a:gd name="connsiteY5" fmla="*/ 0 h 2238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33800" h="2238375">
                <a:moveTo>
                  <a:pt x="0" y="2238375"/>
                </a:moveTo>
                <a:cubicBezTo>
                  <a:pt x="49212" y="2223293"/>
                  <a:pt x="98425" y="2208212"/>
                  <a:pt x="200025" y="2162175"/>
                </a:cubicBezTo>
                <a:cubicBezTo>
                  <a:pt x="301625" y="2116138"/>
                  <a:pt x="609600" y="1962150"/>
                  <a:pt x="609600" y="1962150"/>
                </a:cubicBezTo>
                <a:cubicBezTo>
                  <a:pt x="906463" y="1816100"/>
                  <a:pt x="1552575" y="1539875"/>
                  <a:pt x="1981200" y="1285875"/>
                </a:cubicBezTo>
                <a:cubicBezTo>
                  <a:pt x="2409825" y="1031875"/>
                  <a:pt x="2889250" y="652463"/>
                  <a:pt x="3181350" y="438150"/>
                </a:cubicBezTo>
                <a:cubicBezTo>
                  <a:pt x="3473450" y="223838"/>
                  <a:pt x="3603625" y="111919"/>
                  <a:pt x="3733800" y="0"/>
                </a:cubicBezTo>
              </a:path>
            </a:pathLst>
          </a:custGeom>
          <a:noFill/>
          <a:ln w="222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99505" y="1718063"/>
            <a:ext cx="14728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Incandescent lamp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288" y="333375"/>
            <a:ext cx="609173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</a:rPr>
              <a:t>Colour Temperature </a:t>
            </a:r>
          </a:p>
          <a:p>
            <a:r>
              <a:rPr lang="en-GB" sz="2400" b="1" dirty="0"/>
              <a:t>HMI - </a:t>
            </a:r>
            <a:r>
              <a:rPr lang="en-GB" sz="2400" b="1" dirty="0" err="1"/>
              <a:t>Hydrargyrum</a:t>
            </a:r>
            <a:r>
              <a:rPr lang="en-GB" sz="2400" b="1" dirty="0"/>
              <a:t> Medium-Arc Iodide</a:t>
            </a:r>
          </a:p>
        </p:txBody>
      </p:sp>
    </p:spTree>
    <p:extLst>
      <p:ext uri="{BB962C8B-B14F-4D97-AF65-F5344CB8AC3E}">
        <p14:creationId xmlns:p14="http://schemas.microsoft.com/office/powerpoint/2010/main" val="8634186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331788"/>
            <a:ext cx="49648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/>
              <a:t>Correlated Colour Temperature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883032"/>
            <a:ext cx="7209162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ts val="2300"/>
              </a:lnSpc>
            </a:pPr>
            <a:r>
              <a:rPr lang="en-GB" b="1" dirty="0"/>
              <a:t>Tungsten light source – black-body-like</a:t>
            </a:r>
          </a:p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Some light sources not derived from a black body like source</a:t>
            </a:r>
          </a:p>
          <a:p>
            <a:pPr marL="635000" lvl="1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HMI</a:t>
            </a:r>
          </a:p>
          <a:p>
            <a:pPr marL="635000" lvl="1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Carbon Arc</a:t>
            </a:r>
          </a:p>
          <a:p>
            <a:pPr marL="635000" lvl="1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Fluorescent</a:t>
            </a:r>
          </a:p>
          <a:p>
            <a:pPr marL="635000" lvl="1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Xenon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288" y="2850463"/>
            <a:ext cx="4158051" cy="33368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fluorescent and HMIs - non-radiating</a:t>
            </a:r>
          </a:p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cannot have true colour temperature</a:t>
            </a:r>
          </a:p>
          <a:p>
            <a:pPr marL="177800" indent="-177800" defTabSz="354013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contain spikes of slight hues 	</a:t>
            </a:r>
          </a:p>
          <a:p>
            <a:pPr marL="635000" lvl="1" indent="-177800" defTabSz="354013">
              <a:lnSpc>
                <a:spcPts val="2300"/>
              </a:lnSpc>
            </a:pPr>
            <a:r>
              <a:rPr lang="en-GB" dirty="0"/>
              <a:t>... commonly green or magenta</a:t>
            </a:r>
          </a:p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corrected using colour compensation lens filtration or lighting gels</a:t>
            </a:r>
          </a:p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endParaRPr lang="en-GB" dirty="0"/>
          </a:p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for a spike - must use </a:t>
            </a:r>
            <a:r>
              <a:rPr lang="en-GB" b="1" dirty="0"/>
              <a:t>Colour Compensation </a:t>
            </a:r>
            <a:r>
              <a:rPr lang="en-GB" dirty="0"/>
              <a:t>filtration</a:t>
            </a:r>
          </a:p>
          <a:p>
            <a:pPr marL="177800" indent="-177800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equivalent colour value comparable to the Kelvin scale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5092595" y="1707503"/>
            <a:ext cx="3678182" cy="4096136"/>
            <a:chOff x="4859330" y="1604867"/>
            <a:chExt cx="3678182" cy="4096136"/>
          </a:xfrm>
        </p:grpSpPr>
        <p:pic>
          <p:nvPicPr>
            <p:cNvPr id="3481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859330" y="1665512"/>
              <a:ext cx="3678182" cy="40354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/>
          </p:nvSpPr>
          <p:spPr>
            <a:xfrm>
              <a:off x="6624735" y="3275045"/>
              <a:ext cx="14943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Flash Bulbs </a:t>
              </a:r>
              <a:r>
                <a:rPr lang="en-GB" sz="1100" b="1" dirty="0"/>
                <a:t>3400K</a:t>
              </a:r>
            </a:p>
          </p:txBody>
        </p:sp>
        <p:sp>
          <p:nvSpPr>
            <p:cNvPr id="8" name="Oval 7"/>
            <p:cNvSpPr/>
            <p:nvPr/>
          </p:nvSpPr>
          <p:spPr bwMode="auto">
            <a:xfrm>
              <a:off x="5859624" y="4198774"/>
              <a:ext cx="130629" cy="12129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10" name="Straight Connector 9"/>
            <p:cNvCxnSpPr>
              <a:stCxn id="8" idx="7"/>
            </p:cNvCxnSpPr>
            <p:nvPr/>
          </p:nvCxnSpPr>
          <p:spPr bwMode="auto">
            <a:xfrm flipV="1">
              <a:off x="5971123" y="3415004"/>
              <a:ext cx="541644" cy="80153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Straight Connector 13"/>
            <p:cNvCxnSpPr>
              <a:endCxn id="7" idx="1"/>
            </p:cNvCxnSpPr>
            <p:nvPr/>
          </p:nvCxnSpPr>
          <p:spPr bwMode="auto">
            <a:xfrm>
              <a:off x="6522098" y="3405673"/>
              <a:ext cx="102637" cy="1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6" name="TextBox 15"/>
            <p:cNvSpPr txBox="1"/>
            <p:nvPr/>
          </p:nvSpPr>
          <p:spPr>
            <a:xfrm>
              <a:off x="7184573" y="2024744"/>
              <a:ext cx="954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Carbon Arc</a:t>
              </a:r>
              <a:endParaRPr lang="en-GB" sz="1100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634064" y="1604867"/>
              <a:ext cx="138531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HMI   </a:t>
              </a:r>
              <a:r>
                <a:rPr lang="en-GB" sz="1100" b="1" dirty="0"/>
                <a:t>5500-6500</a:t>
              </a:r>
            </a:p>
          </p:txBody>
        </p:sp>
        <p:cxnSp>
          <p:nvCxnSpPr>
            <p:cNvPr id="19" name="Straight Connector 18"/>
            <p:cNvCxnSpPr>
              <a:stCxn id="18" idx="0"/>
            </p:cNvCxnSpPr>
            <p:nvPr/>
          </p:nvCxnSpPr>
          <p:spPr bwMode="auto">
            <a:xfrm flipV="1">
              <a:off x="5915610" y="1828800"/>
              <a:ext cx="531843" cy="13715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>
              <a:endCxn id="17" idx="1"/>
            </p:cNvCxnSpPr>
            <p:nvPr/>
          </p:nvCxnSpPr>
          <p:spPr bwMode="auto">
            <a:xfrm flipV="1">
              <a:off x="6466114" y="1735672"/>
              <a:ext cx="167950" cy="9312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Oval 17"/>
            <p:cNvSpPr/>
            <p:nvPr/>
          </p:nvSpPr>
          <p:spPr bwMode="auto">
            <a:xfrm>
              <a:off x="5850295" y="3200398"/>
              <a:ext cx="130629" cy="121298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11846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95288" y="331788"/>
            <a:ext cx="82573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</a:rPr>
              <a:t>Colour Temperature - </a:t>
            </a:r>
            <a:r>
              <a:rPr lang="en-GB" sz="2400" b="1" dirty="0"/>
              <a:t>Correlated Colour Temperature</a:t>
            </a:r>
            <a:endParaRPr lang="en-GB" sz="2400" dirty="0">
              <a:solidFill>
                <a:srgbClr val="000000"/>
              </a:solidFill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68144" y="908395"/>
            <a:ext cx="2784533" cy="1889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0" name="Picture 2" descr="Spectroradiometer 0.03 - 8 566 000 cd/m² | PR-670 SpectraScan®  Photo Research, Inc."/>
          <p:cNvPicPr>
            <a:picLocks noChangeAspect="1" noChangeArrowheads="1"/>
          </p:cNvPicPr>
          <p:nvPr/>
        </p:nvPicPr>
        <p:blipFill>
          <a:blip r:embed="rId3"/>
          <a:srcRect l="4236" r="11163" b="13433"/>
          <a:stretch>
            <a:fillRect/>
          </a:stretch>
        </p:blipFill>
        <p:spPr bwMode="auto">
          <a:xfrm>
            <a:off x="5286380" y="3500438"/>
            <a:ext cx="3723487" cy="2857520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395288" y="908395"/>
            <a:ext cx="5472856" cy="41319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lnSpc>
                <a:spcPts val="1900"/>
              </a:lnSpc>
              <a:spcAft>
                <a:spcPts val="300"/>
              </a:spcAft>
              <a:defRPr/>
            </a:pPr>
            <a:r>
              <a:rPr lang="en-GB" b="1" dirty="0"/>
              <a:t>Colour Temperature for 'spiky' source</a:t>
            </a:r>
          </a:p>
          <a:p>
            <a:pPr marL="179388" indent="-179388">
              <a:lnSpc>
                <a:spcPts val="19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need to match arc source to incandescent source </a:t>
            </a:r>
          </a:p>
          <a:p>
            <a:pPr marL="179388" indent="-179388">
              <a:lnSpc>
                <a:spcPts val="19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then take the colour temperature of the incandescent source</a:t>
            </a:r>
          </a:p>
          <a:p>
            <a:pPr marL="179388" indent="-179388">
              <a:lnSpc>
                <a:spcPts val="19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endParaRPr lang="en-GB" dirty="0"/>
          </a:p>
          <a:p>
            <a:pPr marL="179388" indent="-179388">
              <a:lnSpc>
                <a:spcPts val="1900"/>
              </a:lnSpc>
              <a:spcAft>
                <a:spcPts val="300"/>
              </a:spcAft>
              <a:defRPr/>
            </a:pPr>
            <a:r>
              <a:rPr lang="en-GB" b="1" dirty="0"/>
              <a:t>However - to match colours for the convenience of the human eye ... </a:t>
            </a:r>
          </a:p>
          <a:p>
            <a:pPr marL="179388" indent="-179388">
              <a:lnSpc>
                <a:spcPts val="1900"/>
              </a:lnSpc>
              <a:spcAft>
                <a:spcPts val="300"/>
              </a:spcAft>
              <a:defRPr/>
            </a:pPr>
            <a:r>
              <a:rPr lang="en-GB" dirty="0"/>
              <a:t>	... not convenient - so meters used </a:t>
            </a:r>
          </a:p>
          <a:p>
            <a:pPr marL="179388" indent="-179388">
              <a:lnSpc>
                <a:spcPts val="19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meters designed to match the response of the eye </a:t>
            </a:r>
          </a:p>
          <a:p>
            <a:pPr marL="179388" indent="-179388">
              <a:lnSpc>
                <a:spcPts val="19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but difficult to predict response of the human eye or TV camera</a:t>
            </a:r>
          </a:p>
          <a:p>
            <a:pPr marL="636588" lvl="1" indent="-179388">
              <a:lnSpc>
                <a:spcPts val="19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 err="1"/>
              <a:t>spectroradiometers</a:t>
            </a:r>
            <a:r>
              <a:rPr lang="en-GB" dirty="0"/>
              <a:t> </a:t>
            </a:r>
          </a:p>
          <a:p>
            <a:pPr marL="1093788" lvl="2" indent="-179388">
              <a:lnSpc>
                <a:spcPts val="1900"/>
              </a:lnSpc>
              <a:spcAft>
                <a:spcPts val="300"/>
              </a:spcAft>
              <a:buFont typeface="Arial" pitchFamily="34" charset="0"/>
              <a:buChar char="•"/>
              <a:defRPr/>
            </a:pPr>
            <a:r>
              <a:rPr lang="en-GB" dirty="0"/>
              <a:t>made by - </a:t>
            </a:r>
            <a:r>
              <a:rPr lang="en-GB" dirty="0" err="1"/>
              <a:t>Thoma</a:t>
            </a:r>
            <a:r>
              <a:rPr lang="en-GB" dirty="0"/>
              <a:t>, Photo Research and Gamma Scientific </a:t>
            </a:r>
          </a:p>
          <a:p>
            <a:pPr marL="1093788" lvl="2" indent="-179388">
              <a:lnSpc>
                <a:spcPts val="1900"/>
              </a:lnSpc>
              <a:spcAft>
                <a:spcPts val="300"/>
              </a:spcAft>
              <a:defRPr/>
            </a:pPr>
            <a:r>
              <a:rPr lang="en-GB" dirty="0"/>
              <a:t>	... analyze peaks and troughs </a:t>
            </a:r>
            <a:endParaRPr lang="en-GB" sz="1400" dirty="0"/>
          </a:p>
        </p:txBody>
      </p:sp>
      <p:sp>
        <p:nvSpPr>
          <p:cNvPr id="7" name="Rectangle 6"/>
          <p:cNvSpPr/>
          <p:nvPr/>
        </p:nvSpPr>
        <p:spPr>
          <a:xfrm>
            <a:off x="3093151" y="5786454"/>
            <a:ext cx="219322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PR-670 </a:t>
            </a:r>
            <a:r>
              <a:rPr lang="en-GB" dirty="0" err="1"/>
              <a:t>SpectraScan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3223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395288" y="331788"/>
            <a:ext cx="6739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400" b="1" dirty="0"/>
              <a:t>Spectra of Common Sources of Visible Light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2982" y="953114"/>
            <a:ext cx="7334250" cy="547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327670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Box 1"/>
          <p:cNvSpPr txBox="1">
            <a:spLocks noChangeArrowheads="1"/>
          </p:cNvSpPr>
          <p:nvPr/>
        </p:nvSpPr>
        <p:spPr bwMode="auto">
          <a:xfrm>
            <a:off x="395288" y="331788"/>
            <a:ext cx="10302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Mired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874713"/>
            <a:ext cx="7673975" cy="1568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b="1" dirty="0"/>
              <a:t>Micro Reciprocal Degree</a:t>
            </a:r>
          </a:p>
          <a:p>
            <a:pPr marL="176213" indent="-176213">
              <a:buFont typeface="Arial" pitchFamily="34" charset="0"/>
              <a:buChar char="•"/>
              <a:defRPr/>
            </a:pPr>
            <a:r>
              <a:rPr lang="en-GB" dirty="0"/>
              <a:t>to convey colour temperature</a:t>
            </a:r>
          </a:p>
          <a:p>
            <a:pPr marL="176213" indent="-176213">
              <a:buFont typeface="Arial" pitchFamily="34" charset="0"/>
              <a:buChar char="•"/>
              <a:defRPr/>
            </a:pPr>
            <a:r>
              <a:rPr lang="en-GB" dirty="0"/>
              <a:t>direct reciprocals of a corresponding degrees Kelvin colour temperature</a:t>
            </a:r>
          </a:p>
          <a:p>
            <a:pPr marL="176213" indent="-176213">
              <a:buFont typeface="Arial" pitchFamily="34" charset="0"/>
              <a:buChar char="•"/>
              <a:defRPr/>
            </a:pPr>
            <a:r>
              <a:rPr lang="en-GB" dirty="0"/>
              <a:t>simplifies working with colour temperatures</a:t>
            </a:r>
          </a:p>
          <a:p>
            <a:pPr marL="176213" indent="-176213">
              <a:buFont typeface="Arial" pitchFamily="34" charset="0"/>
              <a:buChar char="•"/>
              <a:defRPr/>
            </a:pPr>
            <a:r>
              <a:rPr lang="en-GB" dirty="0"/>
              <a:t>determine the strength of correction filter or gel</a:t>
            </a:r>
          </a:p>
          <a:p>
            <a:pPr>
              <a:defRPr/>
            </a:pPr>
            <a:endParaRPr lang="en-GB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95288" y="2255838"/>
          <a:ext cx="3827462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3" imgW="2349500" imgH="647700" progId="">
                  <p:embed/>
                </p:oleObj>
              </mc:Choice>
              <mc:Fallback>
                <p:oleObj name="Equation" r:id="rId3" imgW="2349500" imgH="647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2255838"/>
                        <a:ext cx="3827462" cy="1054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288" y="3179763"/>
            <a:ext cx="5511800" cy="31972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30" name="Rectangle 7"/>
          <p:cNvSpPr>
            <a:spLocks noChangeArrowheads="1"/>
          </p:cNvSpPr>
          <p:nvPr/>
        </p:nvSpPr>
        <p:spPr bwMode="auto">
          <a:xfrm>
            <a:off x="5980113" y="6024563"/>
            <a:ext cx="28321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00" dirty="0"/>
              <a:t>http://lacolouronline.com/blog/?10171-Defending-4500K-colour-Temperature</a:t>
            </a:r>
          </a:p>
        </p:txBody>
      </p:sp>
      <p:pic>
        <p:nvPicPr>
          <p:cNvPr id="1031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53125" y="1785938"/>
            <a:ext cx="3190875" cy="4219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813037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3125" y="1785938"/>
            <a:ext cx="3190875" cy="4219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6387" name="TextBox 2"/>
          <p:cNvSpPr txBox="1">
            <a:spLocks noChangeArrowheads="1"/>
          </p:cNvSpPr>
          <p:nvPr/>
        </p:nvSpPr>
        <p:spPr bwMode="auto">
          <a:xfrm>
            <a:off x="395288" y="331788"/>
            <a:ext cx="18049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Mired Shift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827088"/>
            <a:ext cx="8228012" cy="22463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GB" b="1" dirty="0"/>
              <a:t>Calculate required correction gel </a:t>
            </a:r>
          </a:p>
          <a:p>
            <a:pPr marL="176213" indent="-176213">
              <a:buFont typeface="Arial" pitchFamily="34" charset="0"/>
              <a:buChar char="•"/>
              <a:defRPr/>
            </a:pPr>
            <a:r>
              <a:rPr lang="en-GB" dirty="0"/>
              <a:t>'shift' a light source from (</a:t>
            </a:r>
            <a:r>
              <a:rPr lang="en-GB" dirty="0" err="1"/>
              <a:t>i</a:t>
            </a:r>
            <a:r>
              <a:rPr lang="en-GB" dirty="0"/>
              <a:t>) original colour temperature to (ii) a new one </a:t>
            </a:r>
          </a:p>
          <a:p>
            <a:pPr>
              <a:defRPr/>
            </a:pPr>
            <a:endParaRPr lang="en-GB" dirty="0"/>
          </a:p>
          <a:p>
            <a:pPr>
              <a:defRPr/>
            </a:pPr>
            <a:r>
              <a:rPr lang="en-GB" i="1" dirty="0"/>
              <a:t>Desired colour temperature </a:t>
            </a:r>
            <a:r>
              <a:rPr lang="en-GB" b="1" i="1" dirty="0"/>
              <a:t>–</a:t>
            </a:r>
            <a:r>
              <a:rPr lang="en-GB" i="1" dirty="0"/>
              <a:t> Original colour temperature </a:t>
            </a:r>
          </a:p>
          <a:p>
            <a:pPr>
              <a:defRPr/>
            </a:pPr>
            <a:r>
              <a:rPr lang="en-GB" i="1" dirty="0"/>
              <a:t>	= mired difference</a:t>
            </a:r>
          </a:p>
          <a:p>
            <a:pPr>
              <a:defRPr/>
            </a:pPr>
            <a:r>
              <a:rPr lang="en-GB" dirty="0"/>
              <a:t>... so requires a colour correction filter equal to the mired difference</a:t>
            </a:r>
          </a:p>
          <a:p>
            <a:pPr>
              <a:defRPr/>
            </a:pPr>
            <a:endParaRPr lang="en-GB" dirty="0"/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sz="1400" u="sng" dirty="0"/>
              <a:t>negative</a:t>
            </a:r>
            <a:r>
              <a:rPr lang="en-GB" sz="1400" dirty="0"/>
              <a:t>: increases colour temperature towards the blue end of the spectrum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sz="1400" u="sng" dirty="0"/>
              <a:t>positive</a:t>
            </a:r>
            <a:r>
              <a:rPr lang="en-GB" sz="1400" dirty="0"/>
              <a:t>: decreases the colour temperature towards the orange/red end of the spectrum</a:t>
            </a:r>
          </a:p>
        </p:txBody>
      </p:sp>
      <p:pic>
        <p:nvPicPr>
          <p:cNvPr id="1638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3190875"/>
            <a:ext cx="5494337" cy="31861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6390" name="Rectangle 8"/>
          <p:cNvSpPr>
            <a:spLocks noChangeArrowheads="1"/>
          </p:cNvSpPr>
          <p:nvPr/>
        </p:nvSpPr>
        <p:spPr bwMode="auto">
          <a:xfrm>
            <a:off x="5980113" y="6024563"/>
            <a:ext cx="28321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00" dirty="0"/>
              <a:t>http://lacolouronline.com/blog/?10171-Defending-4500K-colour-Temperature</a:t>
            </a:r>
          </a:p>
        </p:txBody>
      </p:sp>
    </p:spTree>
    <p:extLst>
      <p:ext uri="{BB962C8B-B14F-4D97-AF65-F5344CB8AC3E}">
        <p14:creationId xmlns:p14="http://schemas.microsoft.com/office/powerpoint/2010/main" val="21552123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TextBox 1"/>
          <p:cNvSpPr txBox="1">
            <a:spLocks noChangeArrowheads="1"/>
          </p:cNvSpPr>
          <p:nvPr/>
        </p:nvSpPr>
        <p:spPr bwMode="auto">
          <a:xfrm>
            <a:off x="395288" y="331788"/>
            <a:ext cx="23971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Mired Example</a:t>
            </a:r>
          </a:p>
        </p:txBody>
      </p:sp>
      <p:pic>
        <p:nvPicPr>
          <p:cNvPr id="205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0" y="331788"/>
            <a:ext cx="1855788" cy="3816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54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914400"/>
            <a:ext cx="3810000" cy="3133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95288" y="4295775"/>
            <a:ext cx="4538662" cy="20621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Key light is metered as 2900K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endParaRPr lang="en-GB" dirty="0"/>
          </a:p>
          <a:p>
            <a:pPr marL="179388" indent="-179388">
              <a:defRPr/>
            </a:pPr>
            <a:r>
              <a:rPr lang="en-GB" dirty="0"/>
              <a:t>	=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endParaRPr lang="en-GB" dirty="0"/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but colour temperature required is 3200K</a:t>
            </a:r>
          </a:p>
          <a:p>
            <a:pPr marL="179388" indent="-179388">
              <a:defRPr/>
            </a:pPr>
            <a:r>
              <a:rPr lang="en-GB" dirty="0"/>
              <a:t>	</a:t>
            </a:r>
          </a:p>
          <a:p>
            <a:pPr marL="179388" indent="-179388">
              <a:defRPr/>
            </a:pPr>
            <a:r>
              <a:rPr lang="en-GB" dirty="0"/>
              <a:t>	= </a:t>
            </a:r>
          </a:p>
          <a:p>
            <a:pPr>
              <a:defRPr/>
            </a:pPr>
            <a:endParaRPr lang="en-GB" dirty="0"/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901700" y="5627688"/>
          <a:ext cx="2716213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Equation" r:id="rId5" imgW="1879600" imgH="393700" progId="">
                  <p:embed/>
                </p:oleObj>
              </mc:Choice>
              <mc:Fallback>
                <p:oleObj name="Equation" r:id="rId5" imgW="1879600" imgH="393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700" y="5627688"/>
                        <a:ext cx="2716213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"/>
          <p:cNvGraphicFramePr>
            <a:graphicFrameLocks noChangeAspect="1"/>
          </p:cNvGraphicFramePr>
          <p:nvPr/>
        </p:nvGraphicFramePr>
        <p:xfrm>
          <a:off x="838200" y="4649788"/>
          <a:ext cx="2716213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Equation" r:id="rId7" imgW="1879600" imgH="393700" progId="">
                  <p:embed/>
                </p:oleObj>
              </mc:Choice>
              <mc:Fallback>
                <p:oleObj name="Equation" r:id="rId7" imgW="1879600" imgH="393700" progId="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649788"/>
                        <a:ext cx="2716213" cy="569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Right Brace 7"/>
          <p:cNvSpPr>
            <a:spLocks/>
          </p:cNvSpPr>
          <p:nvPr/>
        </p:nvSpPr>
        <p:spPr bwMode="auto">
          <a:xfrm>
            <a:off x="5029200" y="4413250"/>
            <a:ext cx="287338" cy="1782763"/>
          </a:xfrm>
          <a:prstGeom prst="rightBrace">
            <a:avLst>
              <a:gd name="adj1" fmla="val 48831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5495925" y="4525963"/>
            <a:ext cx="3346450" cy="157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dirty="0"/>
              <a:t>312.5 – 344.8 = </a:t>
            </a:r>
            <a:r>
              <a:rPr lang="en-GB" b="1" dirty="0"/>
              <a:t>-32.3 </a:t>
            </a:r>
            <a:r>
              <a:rPr lang="en-GB" b="1" i="1" dirty="0" err="1"/>
              <a:t>Mireds</a:t>
            </a:r>
            <a:endParaRPr lang="en-GB" b="1" i="1" dirty="0"/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i="1" dirty="0"/>
              <a:t>round down to </a:t>
            </a:r>
            <a:r>
              <a:rPr lang="en-GB" b="1" i="1" dirty="0"/>
              <a:t>-32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b="1" i="1" dirty="0"/>
              <a:t>negative</a:t>
            </a:r>
            <a:r>
              <a:rPr lang="en-GB" i="1" dirty="0"/>
              <a:t> means </a:t>
            </a:r>
            <a:r>
              <a:rPr lang="en-GB" b="1" i="1" dirty="0"/>
              <a:t>increase</a:t>
            </a:r>
            <a:r>
              <a:rPr lang="en-GB" i="1" dirty="0"/>
              <a:t> colour temperature </a:t>
            </a:r>
            <a:r>
              <a:rPr lang="en-GB" b="1" i="1" dirty="0"/>
              <a:t>to blue </a:t>
            </a:r>
            <a:r>
              <a:rPr lang="en-GB" i="1" dirty="0"/>
              <a:t>end of spectrum</a:t>
            </a:r>
          </a:p>
          <a:p>
            <a:pPr marL="182563" indent="-182563">
              <a:buFont typeface="Arial" pitchFamily="34" charset="0"/>
              <a:buChar char="•"/>
              <a:defRPr/>
            </a:pPr>
            <a:r>
              <a:rPr lang="en-GB" i="1" dirty="0"/>
              <a:t>CT  Blue filter</a:t>
            </a:r>
          </a:p>
        </p:txBody>
      </p:sp>
    </p:spTree>
    <p:extLst>
      <p:ext uri="{BB962C8B-B14F-4D97-AF65-F5344CB8AC3E}">
        <p14:creationId xmlns:p14="http://schemas.microsoft.com/office/powerpoint/2010/main" val="17364462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7663" y="912813"/>
            <a:ext cx="2846387" cy="4981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7411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4050" y="912813"/>
            <a:ext cx="2846388" cy="49815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7412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0438" y="912813"/>
            <a:ext cx="2836862" cy="49625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7413" name="TextBox 7"/>
          <p:cNvSpPr txBox="1">
            <a:spLocks noChangeArrowheads="1"/>
          </p:cNvSpPr>
          <p:nvPr/>
        </p:nvSpPr>
        <p:spPr bwMode="auto">
          <a:xfrm>
            <a:off x="395288" y="331788"/>
            <a:ext cx="20447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Mired Filters</a:t>
            </a:r>
          </a:p>
        </p:txBody>
      </p:sp>
      <p:sp>
        <p:nvSpPr>
          <p:cNvPr id="17414" name="Rectangle 8"/>
          <p:cNvSpPr>
            <a:spLocks noChangeArrowheads="1"/>
          </p:cNvSpPr>
          <p:nvPr/>
        </p:nvSpPr>
        <p:spPr bwMode="auto">
          <a:xfrm>
            <a:off x="395288" y="6013451"/>
            <a:ext cx="4572000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00" dirty="0"/>
              <a:t>http://www.ryanpatrickohara.com/download/colourtemperature.pdf</a:t>
            </a:r>
          </a:p>
        </p:txBody>
      </p:sp>
    </p:spTree>
    <p:extLst>
      <p:ext uri="{BB962C8B-B14F-4D97-AF65-F5344CB8AC3E}">
        <p14:creationId xmlns:p14="http://schemas.microsoft.com/office/powerpoint/2010/main" val="113901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793750"/>
            <a:ext cx="84971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http://www.leefilters.com/lighting/mired-shift-calculator.html</a:t>
            </a:r>
          </a:p>
        </p:txBody>
      </p:sp>
      <p:sp>
        <p:nvSpPr>
          <p:cNvPr id="3" name="TextBox 7"/>
          <p:cNvSpPr txBox="1">
            <a:spLocks noChangeArrowheads="1"/>
          </p:cNvSpPr>
          <p:nvPr/>
        </p:nvSpPr>
        <p:spPr bwMode="auto">
          <a:xfrm>
            <a:off x="395288" y="331788"/>
            <a:ext cx="20447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Mired Filters</a:t>
            </a:r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132304"/>
            <a:ext cx="5910656" cy="5325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785971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331788"/>
            <a:ext cx="2408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Colour Balance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873052"/>
            <a:ext cx="8408053" cy="5389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9388" indent="-179388">
              <a:lnSpc>
                <a:spcPts val="2300"/>
              </a:lnSpc>
            </a:pPr>
            <a:r>
              <a:rPr lang="en-GB" b="1" dirty="0"/>
              <a:t>Colour correction gels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CTB (colour temperature blue) 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CTO (colour temperature orange)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endParaRPr lang="en-GB" dirty="0"/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CTB gel converts tungsten light of 3200K to 'daylight' colour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CTO gel performs the reverse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endParaRPr lang="en-GB" dirty="0"/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Beware different manufacturers' gels yield slightly different colours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definition of the colour of daylight - varies depending on the location (latitude, dust, pollution) and the time of day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endParaRPr lang="en-GB" dirty="0"/>
          </a:p>
          <a:p>
            <a:pPr marL="179388" indent="-179388">
              <a:lnSpc>
                <a:spcPts val="2300"/>
              </a:lnSpc>
            </a:pPr>
            <a:r>
              <a:rPr lang="en-GB" b="1" dirty="0"/>
              <a:t>Fluorescent lights 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have a green cast – removed by a </a:t>
            </a:r>
            <a:r>
              <a:rPr lang="en-GB" b="1" dirty="0"/>
              <a:t>minus green gel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to add green cast - </a:t>
            </a:r>
            <a:r>
              <a:rPr lang="en-GB" b="1" dirty="0"/>
              <a:t>plus green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endParaRPr lang="en-GB" dirty="0"/>
          </a:p>
          <a:p>
            <a:pPr marL="179388" indent="-179388">
              <a:lnSpc>
                <a:spcPts val="2300"/>
              </a:lnSpc>
            </a:pPr>
            <a:r>
              <a:rPr lang="en-GB" b="1" dirty="0"/>
              <a:t>Strength of Gels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3/4, 1/2, 1/4, and 1/8 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/>
              <a:t>A 1/2 CTO gel is half the strength of a (</a:t>
            </a:r>
            <a:r>
              <a:rPr lang="en-GB" b="1" dirty="0"/>
              <a:t>full</a:t>
            </a:r>
            <a:r>
              <a:rPr lang="en-GB" dirty="0"/>
              <a:t>) CTO gel</a:t>
            </a:r>
          </a:p>
        </p:txBody>
      </p:sp>
      <p:pic>
        <p:nvPicPr>
          <p:cNvPr id="58376" name="Picture 8" descr="C:\Users\jdfoss\Desktop\Clipboard0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04248" y="331788"/>
            <a:ext cx="2151911" cy="1296144"/>
          </a:xfrm>
          <a:prstGeom prst="rect">
            <a:avLst/>
          </a:prstGeom>
          <a:noFill/>
        </p:spPr>
      </p:pic>
      <p:sp>
        <p:nvSpPr>
          <p:cNvPr id="11" name="TextBox 10"/>
          <p:cNvSpPr txBox="1"/>
          <p:nvPr/>
        </p:nvSpPr>
        <p:spPr>
          <a:xfrm>
            <a:off x="7086677" y="1212433"/>
            <a:ext cx="6799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¼ CTO</a:t>
            </a:r>
          </a:p>
        </p:txBody>
      </p:sp>
      <p:pic>
        <p:nvPicPr>
          <p:cNvPr id="58377" name="Picture 9" descr="C:\Users\jdfoss\Desktop\Clipboard02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V="1">
            <a:off x="4437561" y="620688"/>
            <a:ext cx="2366687" cy="1439292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6004029" y="135093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/>
              <a:t>1/1 CTB</a:t>
            </a:r>
          </a:p>
        </p:txBody>
      </p:sp>
      <p:pic>
        <p:nvPicPr>
          <p:cNvPr id="58378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86677" y="3783335"/>
            <a:ext cx="1869482" cy="2148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6847890" y="5954571"/>
            <a:ext cx="21082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LCD with minus green</a:t>
            </a:r>
          </a:p>
        </p:txBody>
      </p:sp>
    </p:spTree>
    <p:extLst>
      <p:ext uri="{BB962C8B-B14F-4D97-AF65-F5344CB8AC3E}">
        <p14:creationId xmlns:p14="http://schemas.microsoft.com/office/powerpoint/2010/main" val="4149396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395288" y="331788"/>
            <a:ext cx="2408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Colour Balance</a:t>
            </a:r>
          </a:p>
        </p:txBody>
      </p:sp>
      <p:grpSp>
        <p:nvGrpSpPr>
          <p:cNvPr id="18" name="Group 17"/>
          <p:cNvGrpSpPr/>
          <p:nvPr/>
        </p:nvGrpSpPr>
        <p:grpSpPr>
          <a:xfrm>
            <a:off x="395288" y="835696"/>
            <a:ext cx="8300477" cy="3494257"/>
            <a:chOff x="395288" y="1014990"/>
            <a:chExt cx="8300477" cy="3494257"/>
          </a:xfrm>
        </p:grpSpPr>
        <p:grpSp>
          <p:nvGrpSpPr>
            <p:cNvPr id="14" name="Group 13"/>
            <p:cNvGrpSpPr/>
            <p:nvPr/>
          </p:nvGrpSpPr>
          <p:grpSpPr>
            <a:xfrm>
              <a:off x="395288" y="1014990"/>
              <a:ext cx="4572000" cy="3477875"/>
              <a:chOff x="395288" y="1759059"/>
              <a:chExt cx="4572000" cy="3477875"/>
            </a:xfrm>
          </p:grpSpPr>
          <p:grpSp>
            <p:nvGrpSpPr>
              <p:cNvPr id="11" name="Group 10"/>
              <p:cNvGrpSpPr/>
              <p:nvPr/>
            </p:nvGrpSpPr>
            <p:grpSpPr>
              <a:xfrm>
                <a:off x="395288" y="1759059"/>
                <a:ext cx="4572000" cy="3477875"/>
                <a:chOff x="395288" y="1759059"/>
                <a:chExt cx="4572000" cy="3477875"/>
              </a:xfrm>
            </p:grpSpPr>
            <p:sp>
              <p:nvSpPr>
                <p:cNvPr id="3" name="Rectangle 2"/>
                <p:cNvSpPr/>
                <p:nvPr/>
              </p:nvSpPr>
              <p:spPr>
                <a:xfrm>
                  <a:off x="395288" y="1759059"/>
                  <a:ext cx="4572000" cy="3477875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:r>
                    <a:rPr lang="en-GB" dirty="0"/>
                    <a:t>Colour	Name	Effect</a:t>
                  </a:r>
                </a:p>
                <a:p>
                  <a:pPr>
                    <a:lnSpc>
                      <a:spcPct val="200000"/>
                    </a:lnSpc>
                  </a:pPr>
                  <a:r>
                    <a:rPr lang="en-GB" dirty="0"/>
                    <a:t>	Cyan 	Absorbs Red</a:t>
                  </a:r>
                </a:p>
                <a:p>
                  <a:pPr>
                    <a:lnSpc>
                      <a:spcPct val="200000"/>
                    </a:lnSpc>
                  </a:pPr>
                  <a:r>
                    <a:rPr lang="en-GB" dirty="0"/>
                    <a:t>	Yellow	Absorbs Blue</a:t>
                  </a:r>
                </a:p>
                <a:p>
                  <a:pPr>
                    <a:lnSpc>
                      <a:spcPct val="200000"/>
                    </a:lnSpc>
                  </a:pPr>
                  <a:r>
                    <a:rPr lang="en-GB" dirty="0"/>
                    <a:t>	Magenta	Absorbs Green</a:t>
                  </a:r>
                </a:p>
                <a:p>
                  <a:pPr>
                    <a:lnSpc>
                      <a:spcPct val="200000"/>
                    </a:lnSpc>
                  </a:pPr>
                  <a:r>
                    <a:rPr lang="en-GB" dirty="0"/>
                    <a:t>	Red	Absorbs Blue and Green</a:t>
                  </a:r>
                </a:p>
                <a:p>
                  <a:pPr>
                    <a:lnSpc>
                      <a:spcPct val="200000"/>
                    </a:lnSpc>
                  </a:pPr>
                  <a:r>
                    <a:rPr lang="en-GB" dirty="0"/>
                    <a:t>	Green	Absorbs Red and Blue</a:t>
                  </a:r>
                </a:p>
                <a:p>
                  <a:pPr>
                    <a:lnSpc>
                      <a:spcPct val="200000"/>
                    </a:lnSpc>
                  </a:pPr>
                  <a:r>
                    <a:rPr lang="en-GB" dirty="0"/>
                    <a:t>	Blue	Absorbs Red and Green</a:t>
                  </a:r>
                </a:p>
              </p:txBody>
            </p:sp>
            <p:sp>
              <p:nvSpPr>
                <p:cNvPr id="4" name="Rectangle 3"/>
                <p:cNvSpPr/>
                <p:nvPr/>
              </p:nvSpPr>
              <p:spPr bwMode="auto">
                <a:xfrm>
                  <a:off x="395288" y="2366683"/>
                  <a:ext cx="877700" cy="448236"/>
                </a:xfrm>
                <a:prstGeom prst="rect">
                  <a:avLst/>
                </a:prstGeom>
                <a:solidFill>
                  <a:srgbClr val="00FFFF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Lucida Sans Unicode" pitchFamily="34" charset="0"/>
                  </a:endParaRPr>
                </a:p>
              </p:txBody>
            </p:sp>
            <p:sp>
              <p:nvSpPr>
                <p:cNvPr id="6" name="Rectangle 5"/>
                <p:cNvSpPr/>
                <p:nvPr/>
              </p:nvSpPr>
              <p:spPr bwMode="auto">
                <a:xfrm>
                  <a:off x="395288" y="2859742"/>
                  <a:ext cx="877700" cy="448236"/>
                </a:xfrm>
                <a:prstGeom prst="rect">
                  <a:avLst/>
                </a:prstGeom>
                <a:solidFill>
                  <a:srgbClr val="FFFF00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Lucida Sans Unicode" pitchFamily="34" charset="0"/>
                  </a:endParaRPr>
                </a:p>
              </p:txBody>
            </p:sp>
            <p:sp>
              <p:nvSpPr>
                <p:cNvPr id="7" name="Rectangle 6"/>
                <p:cNvSpPr/>
                <p:nvPr/>
              </p:nvSpPr>
              <p:spPr bwMode="auto">
                <a:xfrm>
                  <a:off x="395288" y="3343836"/>
                  <a:ext cx="877700" cy="448236"/>
                </a:xfrm>
                <a:prstGeom prst="rect">
                  <a:avLst/>
                </a:prstGeom>
                <a:solidFill>
                  <a:srgbClr val="CC00FF"/>
                </a:solidFill>
                <a:ln w="9525" cap="flat" cmpd="sng" algn="ctr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Lucida Sans Unicode" pitchFamily="34" charset="0"/>
                  </a:endParaRPr>
                </a:p>
              </p:txBody>
            </p:sp>
            <p:sp>
              <p:nvSpPr>
                <p:cNvPr id="8" name="Rectangle 7"/>
                <p:cNvSpPr/>
                <p:nvPr/>
              </p:nvSpPr>
              <p:spPr bwMode="auto">
                <a:xfrm>
                  <a:off x="395288" y="3827930"/>
                  <a:ext cx="877700" cy="448236"/>
                </a:xfrm>
                <a:prstGeom prst="rect">
                  <a:avLst/>
                </a:prstGeom>
                <a:solidFill>
                  <a:srgbClr val="FF0000"/>
                </a:solidFill>
                <a:ln w="9525" cap="flat" cmpd="sng" algn="ctr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Lucida Sans Unicode" pitchFamily="34" charset="0"/>
                  </a:endParaRPr>
                </a:p>
              </p:txBody>
            </p:sp>
            <p:sp>
              <p:nvSpPr>
                <p:cNvPr id="9" name="Rectangle 8"/>
                <p:cNvSpPr/>
                <p:nvPr/>
              </p:nvSpPr>
              <p:spPr bwMode="auto">
                <a:xfrm>
                  <a:off x="395288" y="4303060"/>
                  <a:ext cx="877700" cy="448236"/>
                </a:xfrm>
                <a:prstGeom prst="rect">
                  <a:avLst/>
                </a:prstGeom>
                <a:solidFill>
                  <a:srgbClr val="00B050"/>
                </a:solidFill>
                <a:ln w="9525" cap="flat" cmpd="sng" algn="ctr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Lucida Sans Unicode" pitchFamily="34" charset="0"/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 bwMode="auto">
                <a:xfrm>
                  <a:off x="395288" y="4787154"/>
                  <a:ext cx="877700" cy="448236"/>
                </a:xfrm>
                <a:prstGeom prst="rect">
                  <a:avLst/>
                </a:prstGeom>
                <a:solidFill>
                  <a:schemeClr val="accent2"/>
                </a:solidFill>
                <a:ln w="9525" cap="flat" cmpd="sng" algn="ctr">
                  <a:solidFill>
                    <a:srgbClr val="CC00FF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GB" sz="16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Lucida Sans Unicode" pitchFamily="34" charset="0"/>
                  </a:endParaRPr>
                </a:p>
              </p:txBody>
            </p:sp>
          </p:grpSp>
          <p:cxnSp>
            <p:nvCxnSpPr>
              <p:cNvPr id="13" name="Straight Connector 12"/>
              <p:cNvCxnSpPr/>
              <p:nvPr/>
            </p:nvCxnSpPr>
            <p:spPr bwMode="auto">
              <a:xfrm>
                <a:off x="395288" y="2268071"/>
                <a:ext cx="4212571" cy="0"/>
              </a:xfrm>
              <a:prstGeom prst="line">
                <a:avLst/>
              </a:prstGeom>
              <a:solidFill>
                <a:schemeClr val="accent1"/>
              </a:solidFill>
              <a:ln w="381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6" name="Right Brace 15"/>
            <p:cNvSpPr/>
            <p:nvPr/>
          </p:nvSpPr>
          <p:spPr bwMode="auto">
            <a:xfrm>
              <a:off x="4876801" y="1452282"/>
              <a:ext cx="385482" cy="3056965"/>
            </a:xfrm>
            <a:prstGeom prst="rightBrace">
              <a:avLst>
                <a:gd name="adj1" fmla="val 30072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450541" y="2752164"/>
              <a:ext cx="324522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(colour correction is more subtle than shown here)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73836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6124255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sz="1000" dirty="0"/>
              <a:t>http://www.onstagelighting.co.uk/lighting-design/colour-correction-filters-stage-lighting-gels/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1093693"/>
            <a:ext cx="856941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GB" b="1" dirty="0"/>
              <a:t>Filters stop light from passing through them, so the resultant light is reduced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colour correction gels only reduce small amounts of colour so are fairly “pale” filters 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light reduction is minimal (but definitely there)</a:t>
            </a:r>
          </a:p>
          <a:p>
            <a:pPr>
              <a:lnSpc>
                <a:spcPts val="2200"/>
              </a:lnSpc>
            </a:pPr>
            <a:endParaRPr lang="en-GB" dirty="0"/>
          </a:p>
          <a:p>
            <a:pPr>
              <a:lnSpc>
                <a:spcPts val="2200"/>
              </a:lnSpc>
            </a:pPr>
            <a:r>
              <a:rPr lang="en-GB" b="1" dirty="0"/>
              <a:t>Tungsten Light Source Correction 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CTB - convert Tungsten Light sources of 3200K to colour, comparable to daylight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make a key light appear to be from outdoor source such as the sky or a window</a:t>
            </a:r>
          </a:p>
          <a:p>
            <a:pPr>
              <a:lnSpc>
                <a:spcPts val="2200"/>
              </a:lnSpc>
            </a:pPr>
            <a:endParaRPr lang="en-GB" dirty="0"/>
          </a:p>
          <a:p>
            <a:pPr>
              <a:lnSpc>
                <a:spcPts val="2200"/>
              </a:lnSpc>
            </a:pPr>
            <a:r>
              <a:rPr lang="en-GB" b="1" dirty="0"/>
              <a:t>201 Full CTB </a:t>
            </a:r>
            <a:r>
              <a:rPr lang="en-GB" dirty="0"/>
              <a:t>: 	Tungsten to Daylight 3200K – 5700K</a:t>
            </a:r>
          </a:p>
          <a:p>
            <a:pPr>
              <a:lnSpc>
                <a:spcPts val="2200"/>
              </a:lnSpc>
            </a:pPr>
            <a:r>
              <a:rPr lang="en-GB" b="1" dirty="0"/>
              <a:t>202 Half CTB</a:t>
            </a:r>
            <a:r>
              <a:rPr lang="en-GB" dirty="0"/>
              <a:t> : 	Tungsten to Daylight 3200K – 4300 K</a:t>
            </a:r>
          </a:p>
          <a:p>
            <a:pPr>
              <a:lnSpc>
                <a:spcPts val="2200"/>
              </a:lnSpc>
            </a:pPr>
            <a:r>
              <a:rPr lang="en-GB" b="1" dirty="0"/>
              <a:t>203 Quarter CTB </a:t>
            </a:r>
            <a:r>
              <a:rPr lang="en-GB" dirty="0"/>
              <a:t>: Tungsten to Daylight 3200K – 3600K</a:t>
            </a:r>
          </a:p>
          <a:p>
            <a:pPr>
              <a:lnSpc>
                <a:spcPts val="2200"/>
              </a:lnSpc>
            </a:pPr>
            <a:endParaRPr lang="en-GB" dirty="0"/>
          </a:p>
          <a:p>
            <a:pPr>
              <a:lnSpc>
                <a:spcPts val="2200"/>
              </a:lnSpc>
            </a:pPr>
            <a:r>
              <a:rPr lang="en-GB" b="1" dirty="0"/>
              <a:t>219 Fluorescent Green:  </a:t>
            </a:r>
            <a:r>
              <a:rPr lang="en-GB" dirty="0"/>
              <a:t>convert tungsten light to general fluorescent lighting</a:t>
            </a:r>
          </a:p>
          <a:p>
            <a:pPr>
              <a:lnSpc>
                <a:spcPts val="2200"/>
              </a:lnSpc>
            </a:pPr>
            <a:r>
              <a:rPr lang="en-GB" b="1" dirty="0"/>
              <a:t>242 Fluorescent 4300K:</a:t>
            </a:r>
            <a:r>
              <a:rPr lang="en-GB" dirty="0"/>
              <a:t> convert tungsten light to fluorescent @ 4300K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8" y="331788"/>
            <a:ext cx="2408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Colour Balance</a:t>
            </a:r>
          </a:p>
        </p:txBody>
      </p:sp>
    </p:spTree>
    <p:extLst>
      <p:ext uri="{BB962C8B-B14F-4D97-AF65-F5344CB8AC3E}">
        <p14:creationId xmlns:p14="http://schemas.microsoft.com/office/powerpoint/2010/main" val="18976667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793453"/>
            <a:ext cx="8336336" cy="5452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GB" b="1" dirty="0"/>
              <a:t>Daylight Light Source Correction 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CTO - convert blue-</a:t>
            </a:r>
            <a:r>
              <a:rPr lang="en-GB" dirty="0" err="1"/>
              <a:t>ish</a:t>
            </a:r>
            <a:r>
              <a:rPr lang="en-GB" dirty="0"/>
              <a:t> light source of daylight to a range of tungsten colour temperatures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useful for balancing light sources from a window with tungsten key lighting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also used with a tungsten light to create a warm sunny </a:t>
            </a:r>
            <a:r>
              <a:rPr lang="en-GB" dirty="0" err="1"/>
              <a:t>keylight</a:t>
            </a:r>
            <a:r>
              <a:rPr lang="en-GB" dirty="0"/>
              <a:t>.</a:t>
            </a:r>
          </a:p>
          <a:p>
            <a:pPr>
              <a:lnSpc>
                <a:spcPts val="2200"/>
              </a:lnSpc>
            </a:pPr>
            <a:endParaRPr lang="en-GB" dirty="0"/>
          </a:p>
          <a:p>
            <a:pPr>
              <a:lnSpc>
                <a:spcPts val="2200"/>
              </a:lnSpc>
            </a:pPr>
            <a:r>
              <a:rPr lang="en-GB" b="1" dirty="0"/>
              <a:t>204 Full CTO:	</a:t>
            </a:r>
            <a:r>
              <a:rPr lang="en-GB" dirty="0"/>
              <a:t>Daylight 6500 K to Tungsten 3200 K</a:t>
            </a:r>
          </a:p>
          <a:p>
            <a:pPr>
              <a:lnSpc>
                <a:spcPts val="2200"/>
              </a:lnSpc>
            </a:pPr>
            <a:r>
              <a:rPr lang="en-GB" b="1" dirty="0"/>
              <a:t>205 Half CTO</a:t>
            </a:r>
            <a:r>
              <a:rPr lang="en-GB" dirty="0"/>
              <a:t>:  	Daylight 6500 K to Tungsten 3800 K</a:t>
            </a:r>
          </a:p>
          <a:p>
            <a:pPr>
              <a:lnSpc>
                <a:spcPts val="2200"/>
              </a:lnSpc>
            </a:pPr>
            <a:r>
              <a:rPr lang="en-GB" b="1" dirty="0"/>
              <a:t>206 Quarter CTO</a:t>
            </a:r>
            <a:r>
              <a:rPr lang="en-GB" dirty="0"/>
              <a:t>:	Daylight 6500 K to Tungsten 4600 K</a:t>
            </a:r>
          </a:p>
          <a:p>
            <a:pPr>
              <a:lnSpc>
                <a:spcPts val="2200"/>
              </a:lnSpc>
            </a:pPr>
            <a:endParaRPr lang="en-GB" dirty="0"/>
          </a:p>
          <a:p>
            <a:pPr>
              <a:lnSpc>
                <a:spcPts val="2200"/>
              </a:lnSpc>
            </a:pPr>
            <a:r>
              <a:rPr lang="en-GB" b="1" dirty="0"/>
              <a:t>Other filters for different light sources 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HMI , CID and CSI arc lamps</a:t>
            </a:r>
          </a:p>
          <a:p>
            <a:pPr marL="179388" indent="-179388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some common correction filters for specific uses:</a:t>
            </a:r>
          </a:p>
          <a:p>
            <a:pPr>
              <a:lnSpc>
                <a:spcPts val="2200"/>
              </a:lnSpc>
            </a:pPr>
            <a:endParaRPr lang="en-GB" dirty="0"/>
          </a:p>
          <a:p>
            <a:pPr>
              <a:lnSpc>
                <a:spcPts val="2200"/>
              </a:lnSpc>
            </a:pPr>
            <a:r>
              <a:rPr lang="en-GB" b="1" dirty="0"/>
              <a:t>236 HMI to Tungsten 3200K: </a:t>
            </a:r>
            <a:r>
              <a:rPr lang="en-GB" dirty="0"/>
              <a:t>warm orange tint that can be used for sunlight in tungsten lights</a:t>
            </a:r>
          </a:p>
          <a:p>
            <a:pPr>
              <a:lnSpc>
                <a:spcPts val="2200"/>
              </a:lnSpc>
            </a:pPr>
            <a:r>
              <a:rPr lang="en-GB" b="1" dirty="0"/>
              <a:t>237 CID to Tungsten 3200K</a:t>
            </a:r>
            <a:r>
              <a:rPr lang="en-GB" dirty="0"/>
              <a:t>: Light red/brown. Used with tungsten, produces a outdoor summer mood</a:t>
            </a:r>
          </a:p>
          <a:p>
            <a:pPr>
              <a:lnSpc>
                <a:spcPts val="2200"/>
              </a:lnSpc>
            </a:pPr>
            <a:r>
              <a:rPr lang="en-GB" b="1" dirty="0"/>
              <a:t>238 CSI to Tungsten 3200K: </a:t>
            </a:r>
            <a:r>
              <a:rPr lang="en-GB" dirty="0"/>
              <a:t>similar to 237CID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331788"/>
            <a:ext cx="2408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Colour Balance</a:t>
            </a:r>
          </a:p>
        </p:txBody>
      </p:sp>
    </p:spTree>
    <p:extLst>
      <p:ext uri="{BB962C8B-B14F-4D97-AF65-F5344CB8AC3E}">
        <p14:creationId xmlns:p14="http://schemas.microsoft.com/office/powerpoint/2010/main" val="11759067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95288" y="331788"/>
            <a:ext cx="20681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LED Lighting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95288" y="5904377"/>
            <a:ext cx="4572000" cy="618118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2563" indent="-182563">
              <a:lnSpc>
                <a:spcPts val="1900"/>
              </a:lnSpc>
              <a:spcAft>
                <a:spcPts val="300"/>
              </a:spcAft>
              <a:defRPr/>
            </a:pPr>
            <a:r>
              <a:rPr lang="en-GB" dirty="0">
                <a:solidFill>
                  <a:srgbClr val="FFFF00"/>
                </a:solidFill>
              </a:rPr>
              <a:t>BBC Breakfast TV Studio, Media City, Salford</a:t>
            </a:r>
          </a:p>
          <a:p>
            <a:pPr marL="182563" indent="-182563">
              <a:lnSpc>
                <a:spcPts val="1900"/>
              </a:lnSpc>
              <a:spcAft>
                <a:spcPts val="300"/>
              </a:spcAft>
              <a:defRPr/>
            </a:pPr>
            <a:r>
              <a:rPr lang="en-GB" dirty="0">
                <a:solidFill>
                  <a:srgbClr val="FFFF00"/>
                </a:solidFill>
              </a:rPr>
              <a:t>includes LED lighting</a:t>
            </a:r>
          </a:p>
        </p:txBody>
      </p:sp>
    </p:spTree>
    <p:extLst>
      <p:ext uri="{BB962C8B-B14F-4D97-AF65-F5344CB8AC3E}">
        <p14:creationId xmlns:p14="http://schemas.microsoft.com/office/powerpoint/2010/main" val="9861975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015620" y="6522011"/>
            <a:ext cx="4128380" cy="335989"/>
          </a:xfrm>
          <a:prstGeom prst="rect">
            <a:avLst/>
          </a:prstGeom>
          <a:solidFill>
            <a:schemeClr val="tx1">
              <a:alpha val="54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300"/>
              </a:spcAft>
              <a:defRPr/>
            </a:pPr>
            <a:r>
              <a:rPr lang="en-GB" sz="1400" dirty="0">
                <a:solidFill>
                  <a:srgbClr val="FFFF00"/>
                </a:solidFill>
              </a:rPr>
              <a:t>News Room, Broadcasting House, London</a:t>
            </a:r>
          </a:p>
        </p:txBody>
      </p:sp>
    </p:spTree>
    <p:extLst>
      <p:ext uri="{BB962C8B-B14F-4D97-AF65-F5344CB8AC3E}">
        <p14:creationId xmlns:p14="http://schemas.microsoft.com/office/powerpoint/2010/main" val="40512856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10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2672" y="4124597"/>
            <a:ext cx="2791328" cy="1660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 Box 7"/>
          <p:cNvSpPr txBox="1">
            <a:spLocks noChangeArrowheads="1"/>
          </p:cNvSpPr>
          <p:nvPr/>
        </p:nvSpPr>
        <p:spPr bwMode="auto">
          <a:xfrm>
            <a:off x="395288" y="331788"/>
            <a:ext cx="534473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LEDs ... and producing white light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9" y="787045"/>
            <a:ext cx="601456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GB" b="1" dirty="0"/>
              <a:t>(1) RGB LEDs 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combine red, green and blue LEDs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mix for wide range of colours, including white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RGB white light - generally poor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possible to shape the spectral emission </a:t>
            </a:r>
          </a:p>
          <a:p>
            <a:pPr marL="363538" lvl="1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but dimensions bigger, less beam control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177800" indent="-177800">
              <a:lnSpc>
                <a:spcPts val="2200"/>
              </a:lnSpc>
            </a:pPr>
            <a:r>
              <a:rPr lang="en-GB" b="1" dirty="0"/>
              <a:t>(... or 2 ...) Luminescence Conversion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convert the spectrum of a LED by using phosphors as a luminous layer</a:t>
            </a:r>
          </a:p>
          <a:p>
            <a:pPr marL="363538" lvl="1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usually - blue LEDs with yellow phosphors coatings</a:t>
            </a:r>
          </a:p>
          <a:p>
            <a:pPr marL="177800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better spectral distributions, good colour rendering</a:t>
            </a:r>
          </a:p>
          <a:p>
            <a:pPr marL="363538" lvl="1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warm white, neutral white, daylight white</a:t>
            </a:r>
          </a:p>
          <a:p>
            <a:pPr marL="530225" lvl="2" indent="-177800">
              <a:lnSpc>
                <a:spcPts val="2200"/>
              </a:lnSpc>
              <a:buFont typeface="Arial" pitchFamily="34" charset="0"/>
              <a:buChar char="•"/>
            </a:pPr>
            <a:r>
              <a:rPr lang="en-GB" dirty="0"/>
              <a:t>colour temp 2500K to 8000K</a:t>
            </a:r>
          </a:p>
          <a:p>
            <a:pPr marL="530225" lvl="2" indent="-177800">
              <a:lnSpc>
                <a:spcPts val="2200"/>
              </a:lnSpc>
              <a:buFont typeface="Arial" pitchFamily="34" charset="0"/>
              <a:buChar char="•"/>
            </a:pPr>
            <a:endParaRPr lang="en-GB" dirty="0"/>
          </a:p>
          <a:p>
            <a:pPr marL="0" lvl="2">
              <a:lnSpc>
                <a:spcPts val="2200"/>
              </a:lnSpc>
            </a:pPr>
            <a:r>
              <a:rPr lang="en-GB" i="1" dirty="0"/>
              <a:t>(RGB and White LED </a:t>
            </a:r>
            <a:r>
              <a:rPr lang="en-GB" i="1" dirty="0" err="1"/>
              <a:t>sprectra</a:t>
            </a:r>
            <a:r>
              <a:rPr lang="en-GB" i="1" dirty="0"/>
              <a:t> – see next slide)</a:t>
            </a:r>
          </a:p>
        </p:txBody>
      </p:sp>
      <p:pic>
        <p:nvPicPr>
          <p:cNvPr id="76809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4342" y="2197074"/>
            <a:ext cx="2269658" cy="1895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ight Brace 13"/>
          <p:cNvSpPr/>
          <p:nvPr/>
        </p:nvSpPr>
        <p:spPr bwMode="auto">
          <a:xfrm flipH="1">
            <a:off x="6111089" y="2299852"/>
            <a:ext cx="380246" cy="3485585"/>
          </a:xfrm>
          <a:prstGeom prst="rightBrace">
            <a:avLst>
              <a:gd name="adj1" fmla="val 44182"/>
              <a:gd name="adj2" fmla="val 63492"/>
            </a:avLst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9569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http://ideatoreality.files.wordpress.com/2010/04/fig-2-white-led-vs-rgb-led-spectrum.jpg"/>
          <p:cNvPicPr>
            <a:picLocks noChangeAspect="1" noChangeArrowheads="1"/>
          </p:cNvPicPr>
          <p:nvPr/>
        </p:nvPicPr>
        <p:blipFill>
          <a:blip r:embed="rId2" cstate="print"/>
          <a:srcRect b="12431"/>
          <a:stretch>
            <a:fillRect/>
          </a:stretch>
        </p:blipFill>
        <p:spPr bwMode="auto">
          <a:xfrm>
            <a:off x="395288" y="1130960"/>
            <a:ext cx="8259366" cy="3667376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395288" y="6269112"/>
            <a:ext cx="5788229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100" dirty="0"/>
              <a:t>http://ideatoreality.wordpress.com/2010/04/25/artificial-lighting/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8" y="5006566"/>
            <a:ext cx="4167659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/>
              <a:t>Typical colour filter spectra :</a:t>
            </a:r>
          </a:p>
          <a:p>
            <a:pPr>
              <a:spcAft>
                <a:spcPts val="300"/>
              </a:spcAft>
            </a:pPr>
            <a:r>
              <a:rPr lang="en-GB" dirty="0"/>
              <a:t>(left) RGB-LED spectrum has peaks for red, green and blue 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0147" y="5055948"/>
            <a:ext cx="34773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GB" dirty="0"/>
              <a:t>(right) White-LED spectrum has dominant peak at 450nm and a lower peak at 600nm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95288" y="331788"/>
            <a:ext cx="1944763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LED Spectra</a:t>
            </a:r>
          </a:p>
        </p:txBody>
      </p:sp>
    </p:spTree>
    <p:extLst>
      <p:ext uri="{BB962C8B-B14F-4D97-AF65-F5344CB8AC3E}">
        <p14:creationId xmlns:p14="http://schemas.microsoft.com/office/powerpoint/2010/main" val="42949527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KREIOS S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77" y="471031"/>
            <a:ext cx="3183654" cy="3872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004618" y="667676"/>
            <a:ext cx="387882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rgbClr val="3C3C3C"/>
                </a:solidFill>
                <a:latin typeface="+mn-lt"/>
              </a:rPr>
              <a:t>Product benefits</a:t>
            </a:r>
            <a:r>
              <a:rPr lang="en-GB" sz="1200" dirty="0">
                <a:solidFill>
                  <a:srgbClr val="3C3C3C"/>
                </a:solidFill>
                <a:latin typeface="+mn-lt"/>
              </a:rPr>
              <a:t> </a:t>
            </a:r>
            <a:br>
              <a:rPr lang="en-GB" sz="1200" dirty="0">
                <a:latin typeface="+mn-lt"/>
              </a:rPr>
            </a:br>
            <a:r>
              <a:rPr lang="en-GB" sz="1200" dirty="0">
                <a:solidFill>
                  <a:srgbClr val="3C3C3C"/>
                </a:solidFill>
                <a:latin typeface="+mn-lt"/>
              </a:rPr>
              <a:t>Compact, lightweight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High luminous efficacy  </a:t>
            </a:r>
            <a:r>
              <a:rPr lang="en-GB" sz="1200" i="1" dirty="0">
                <a:solidFill>
                  <a:srgbClr val="FF0000"/>
                </a:solidFill>
                <a:latin typeface="+mn-lt"/>
              </a:rPr>
              <a:t>– good but how much?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High </a:t>
            </a:r>
            <a:r>
              <a:rPr lang="en-GB" sz="1200" b="1" dirty="0">
                <a:solidFill>
                  <a:srgbClr val="FF0000"/>
                </a:solidFill>
                <a:latin typeface="+mn-lt"/>
              </a:rPr>
              <a:t>colour rendering index (CRI) (R</a:t>
            </a:r>
            <a:r>
              <a:rPr lang="en-GB" sz="1200" b="1" baseline="-25000" dirty="0">
                <a:solidFill>
                  <a:srgbClr val="FF0000"/>
                </a:solidFill>
                <a:latin typeface="+mn-lt"/>
              </a:rPr>
              <a:t>a</a:t>
            </a:r>
            <a:r>
              <a:rPr lang="en-GB" sz="1200" b="1" dirty="0">
                <a:solidFill>
                  <a:srgbClr val="FF0000"/>
                </a:solidFill>
                <a:latin typeface="+mn-lt"/>
              </a:rPr>
              <a:t> = 95) </a:t>
            </a:r>
            <a:r>
              <a:rPr lang="en-GB" sz="1200" dirty="0">
                <a:solidFill>
                  <a:srgbClr val="3C3C3C"/>
                </a:solidFill>
                <a:latin typeface="+mn-lt"/>
              </a:rPr>
              <a:t>for accurate colour rendering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Almost silent air cooling system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Easy to install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Multiple mounting options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Low energy consumption</a:t>
            </a:r>
          </a:p>
          <a:p>
            <a:endParaRPr lang="en-GB" sz="1200" b="1" dirty="0">
              <a:solidFill>
                <a:srgbClr val="3C3C3C"/>
              </a:solidFill>
              <a:latin typeface="+mn-lt"/>
            </a:endParaRPr>
          </a:p>
          <a:p>
            <a:r>
              <a:rPr lang="en-GB" sz="1200" b="1" dirty="0">
                <a:solidFill>
                  <a:srgbClr val="3C3C3C"/>
                </a:solidFill>
                <a:latin typeface="+mn-lt"/>
              </a:rPr>
              <a:t>Areas of application</a:t>
            </a:r>
            <a:r>
              <a:rPr lang="en-GB" sz="1200" dirty="0">
                <a:solidFill>
                  <a:srgbClr val="3C3C3C"/>
                </a:solidFill>
                <a:latin typeface="+mn-lt"/>
              </a:rPr>
              <a:t> </a:t>
            </a:r>
            <a:br>
              <a:rPr lang="en-GB" sz="1200" dirty="0">
                <a:latin typeface="+mn-lt"/>
              </a:rPr>
            </a:br>
            <a:r>
              <a:rPr lang="en-GB" sz="1200" dirty="0">
                <a:solidFill>
                  <a:srgbClr val="3C3C3C"/>
                </a:solidFill>
                <a:latin typeface="+mn-lt"/>
              </a:rPr>
              <a:t>TV studios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Small to medium size stages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Photographic studios</a:t>
            </a:r>
          </a:p>
          <a:p>
            <a:endParaRPr lang="en-GB" sz="1200" b="1" dirty="0">
              <a:solidFill>
                <a:srgbClr val="3C3C3C"/>
              </a:solidFill>
              <a:latin typeface="+mn-lt"/>
            </a:endParaRPr>
          </a:p>
          <a:p>
            <a:r>
              <a:rPr lang="en-GB" sz="1200" b="1" dirty="0">
                <a:solidFill>
                  <a:srgbClr val="3C3C3C"/>
                </a:solidFill>
                <a:latin typeface="+mn-lt"/>
              </a:rPr>
              <a:t>Product features</a:t>
            </a:r>
            <a:r>
              <a:rPr lang="en-GB" sz="1200" dirty="0">
                <a:solidFill>
                  <a:srgbClr val="3C3C3C"/>
                </a:solidFill>
                <a:latin typeface="+mn-lt"/>
              </a:rPr>
              <a:t> </a:t>
            </a:r>
            <a:br>
              <a:rPr lang="en-GB" sz="1200" dirty="0">
                <a:latin typeface="+mn-lt"/>
              </a:rPr>
            </a:br>
            <a:r>
              <a:rPr lang="en-GB" sz="1200" dirty="0">
                <a:solidFill>
                  <a:srgbClr val="3C3C3C"/>
                </a:solidFill>
                <a:latin typeface="+mn-lt"/>
              </a:rPr>
              <a:t>Variable beam angle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Long lifetime of LED: up to 30,000 h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CE marked and UL listed</a:t>
            </a:r>
          </a:p>
          <a:p>
            <a:endParaRPr lang="en-GB" sz="1200" b="1" dirty="0">
              <a:solidFill>
                <a:srgbClr val="3C3C3C"/>
              </a:solidFill>
              <a:latin typeface="+mn-lt"/>
            </a:endParaRPr>
          </a:p>
          <a:p>
            <a:r>
              <a:rPr lang="en-GB" sz="1200" b="1" dirty="0">
                <a:solidFill>
                  <a:srgbClr val="3C3C3C"/>
                </a:solidFill>
                <a:latin typeface="+mn-lt"/>
              </a:rPr>
              <a:t>Equipment / Accessories</a:t>
            </a:r>
            <a:r>
              <a:rPr lang="en-GB" sz="1200" dirty="0">
                <a:solidFill>
                  <a:srgbClr val="3C3C3C"/>
                </a:solidFill>
                <a:latin typeface="+mn-lt"/>
              </a:rPr>
              <a:t> </a:t>
            </a:r>
            <a:br>
              <a:rPr lang="en-GB" sz="1200" dirty="0">
                <a:latin typeface="+mn-lt"/>
              </a:rPr>
            </a:br>
            <a:r>
              <a:rPr lang="en-GB" sz="1200" dirty="0">
                <a:solidFill>
                  <a:srgbClr val="3C3C3C"/>
                </a:solidFill>
                <a:latin typeface="+mn-lt"/>
              </a:rPr>
              <a:t>Barn door to minimize light spill  included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Frame holder for common 3.75 inch </a:t>
            </a:r>
            <a:r>
              <a:rPr lang="en-GB" sz="1200" dirty="0" err="1">
                <a:solidFill>
                  <a:srgbClr val="3C3C3C"/>
                </a:solidFill>
                <a:latin typeface="+mn-lt"/>
              </a:rPr>
              <a:t>color</a:t>
            </a:r>
            <a:r>
              <a:rPr lang="en-GB" sz="1200" dirty="0">
                <a:solidFill>
                  <a:srgbClr val="3C3C3C"/>
                </a:solidFill>
                <a:latin typeface="+mn-lt"/>
              </a:rPr>
              <a:t>, frost, diffusion, other filters included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Spot reflector (beam angle: 24°) included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3C3C3C"/>
                </a:solidFill>
                <a:latin typeface="+mn-lt"/>
              </a:rPr>
              <a:t>Changeable zoom ring in orange and black included </a:t>
            </a:r>
            <a:endParaRPr lang="en-GB" sz="1200" b="0" i="0" dirty="0">
              <a:solidFill>
                <a:srgbClr val="3C3C3C"/>
              </a:solidFill>
              <a:effectLst/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95288" y="331788"/>
            <a:ext cx="28360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3C3C3C"/>
                </a:solidFill>
                <a:latin typeface="+mn-lt"/>
              </a:rPr>
              <a:t>OSRAM KREIOS SL</a:t>
            </a:r>
            <a:endParaRPr lang="en-GB" sz="2400" b="0" i="0" dirty="0">
              <a:solidFill>
                <a:srgbClr val="3C3C3C"/>
              </a:solidFill>
              <a:effectLst/>
              <a:latin typeface="+mn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95287" y="4343044"/>
            <a:ext cx="4609331" cy="2062103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r>
              <a:rPr lang="en-GB" b="1" dirty="0"/>
              <a:t>CRI R</a:t>
            </a:r>
            <a:r>
              <a:rPr lang="en-GB" sz="1200" b="1" dirty="0"/>
              <a:t>a</a:t>
            </a:r>
            <a:r>
              <a:rPr lang="en-GB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ability to reveal colours of objects faithfully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determined by the light sources spectrum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highest value = 100 (theoretical perfect black body source)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LEDs typically CRI R</a:t>
            </a:r>
            <a:r>
              <a:rPr lang="en-GB" sz="1200" dirty="0"/>
              <a:t>a</a:t>
            </a:r>
            <a:r>
              <a:rPr lang="en-GB" dirty="0"/>
              <a:t>&gt;80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is </a:t>
            </a:r>
            <a:r>
              <a:rPr lang="en-GB" i="1" dirty="0"/>
              <a:t>not</a:t>
            </a:r>
            <a:r>
              <a:rPr lang="en-GB" dirty="0"/>
              <a:t> the Correlated Colour Temp CCT</a:t>
            </a:r>
          </a:p>
        </p:txBody>
      </p:sp>
    </p:spTree>
    <p:extLst>
      <p:ext uri="{BB962C8B-B14F-4D97-AF65-F5344CB8AC3E}">
        <p14:creationId xmlns:p14="http://schemas.microsoft.com/office/powerpoint/2010/main" val="42351835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4E9001-B288-4B4F-8DE9-2DE71EDD7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179233"/>
            <a:ext cx="5250989" cy="81432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740484" y="6054811"/>
            <a:ext cx="3403515" cy="30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700" dirty="0">
                <a:hlinkClick r:id="rId3"/>
              </a:rPr>
              <a:t>https://www.led-professional.com/resources-1/articles/solving-the-phase-cut-dimming-challenge</a:t>
            </a:r>
            <a:r>
              <a:rPr lang="en-GB" sz="700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5740485" y="3441677"/>
            <a:ext cx="2972263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333333"/>
                </a:solidFill>
                <a:latin typeface="Helvetica W01"/>
              </a:rPr>
              <a:t>Newer systems - higher power LED lighting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Demand for better dimming characteristics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Analog controls for LED drivers developed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Improved efficiency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Eliminated </a:t>
            </a:r>
            <a:r>
              <a:rPr lang="en-GB" sz="1400" dirty="0" err="1">
                <a:solidFill>
                  <a:srgbClr val="333333"/>
                </a:solidFill>
                <a:latin typeface="Helvetica W01"/>
              </a:rPr>
              <a:t>color</a:t>
            </a:r>
            <a:r>
              <a:rPr lang="en-GB" sz="1400" dirty="0">
                <a:solidFill>
                  <a:srgbClr val="333333"/>
                </a:solidFill>
                <a:latin typeface="Helvetica W01"/>
              </a:rPr>
              <a:t> shift with changes in brightness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Pulse width modulation - PWM – for control signal </a:t>
            </a:r>
            <a:r>
              <a:rPr lang="en-GB" sz="1400" dirty="0" err="1">
                <a:solidFill>
                  <a:srgbClr val="333333"/>
                </a:solidFill>
                <a:latin typeface="Helvetica W01"/>
              </a:rPr>
              <a:t>signal</a:t>
            </a:r>
            <a:r>
              <a:rPr lang="en-GB" sz="1400" dirty="0">
                <a:solidFill>
                  <a:srgbClr val="333333"/>
                </a:solidFill>
                <a:latin typeface="Helvetica W01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368385" y="871456"/>
            <a:ext cx="36681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333333"/>
                </a:solidFill>
                <a:cs typeface="Lucida Sans Unicode" panose="020B0602030504020204" pitchFamily="34" charset="0"/>
              </a:rPr>
              <a:t>Analogue Controlled LED Dimming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8515B7-493A-4B1D-A201-78C78DD6C5A9}"/>
              </a:ext>
            </a:extLst>
          </p:cNvPr>
          <p:cNvSpPr/>
          <p:nvPr/>
        </p:nvSpPr>
        <p:spPr>
          <a:xfrm>
            <a:off x="5740485" y="748683"/>
            <a:ext cx="3029928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 dirty="0">
                <a:solidFill>
                  <a:srgbClr val="333333"/>
                </a:solidFill>
                <a:latin typeface="Helvetica W01"/>
              </a:rPr>
              <a:t>First dimmable LED used analogue control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Sensed the rectified DC value of line voltage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Directly control the output current of power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Still popular for consumer LED lighting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Dimming range is limited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333333"/>
                </a:solidFill>
                <a:latin typeface="Helvetica W01"/>
              </a:rPr>
              <a:t>Colour shifts as current to </a:t>
            </a:r>
            <a:r>
              <a:rPr lang="en-GB" sz="1400" dirty="0" err="1">
                <a:solidFill>
                  <a:srgbClr val="333333"/>
                </a:solidFill>
                <a:latin typeface="Helvetica W01"/>
              </a:rPr>
              <a:t>leds</a:t>
            </a:r>
            <a:r>
              <a:rPr lang="en-GB" sz="1400" dirty="0">
                <a:solidFill>
                  <a:srgbClr val="333333"/>
                </a:solidFill>
                <a:latin typeface="Helvetica W01"/>
              </a:rPr>
              <a:t> is reduced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F78C6F-F360-4989-80D9-F62CCF5DB7A6}"/>
              </a:ext>
            </a:extLst>
          </p:cNvPr>
          <p:cNvSpPr/>
          <p:nvPr/>
        </p:nvSpPr>
        <p:spPr>
          <a:xfrm>
            <a:off x="368385" y="2618897"/>
            <a:ext cx="33666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333333"/>
                </a:solidFill>
                <a:cs typeface="Lucida Sans Unicode" panose="020B0602030504020204" pitchFamily="34" charset="0"/>
              </a:rPr>
              <a:t>Digital Controlled LED Dimming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70AC40-C7FB-4E58-92FB-8898337F4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85" y="2880164"/>
            <a:ext cx="5372100" cy="1362075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93FD6398-9351-4F9D-BBF3-F84B7CD30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31788"/>
            <a:ext cx="19575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/>
              <a:t>LED Control</a:t>
            </a:r>
          </a:p>
        </p:txBody>
      </p:sp>
      <p:pic>
        <p:nvPicPr>
          <p:cNvPr id="10242" name="Picture 2" descr="Image result for pwm">
            <a:extLst>
              <a:ext uri="{FF2B5EF4-FFF2-40B4-BE49-F238E27FC236}">
                <a16:creationId xmlns:a16="http://schemas.microsoft.com/office/drawing/2014/main" id="{CFAB3676-C7F6-4AB7-A84B-1222C96E2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527" y="4872968"/>
            <a:ext cx="4299452" cy="150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C91DA58-B0CC-4E9F-8B20-B0EDED0BDFA8}"/>
              </a:ext>
            </a:extLst>
          </p:cNvPr>
          <p:cNvSpPr/>
          <p:nvPr/>
        </p:nvSpPr>
        <p:spPr>
          <a:xfrm>
            <a:off x="338093" y="4503506"/>
            <a:ext cx="319831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333333"/>
                </a:solidFill>
                <a:cs typeface="Lucida Sans Unicode" panose="020B0602030504020204" pitchFamily="34" charset="0"/>
              </a:rPr>
              <a:t>Pulse Width Modulation (PWM)</a:t>
            </a:r>
          </a:p>
        </p:txBody>
      </p:sp>
    </p:spTree>
    <p:extLst>
      <p:ext uri="{BB962C8B-B14F-4D97-AF65-F5344CB8AC3E}">
        <p14:creationId xmlns:p14="http://schemas.microsoft.com/office/powerpoint/2010/main" val="22364905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ctr">
            <a:noAutofit/>
          </a:bodyPr>
          <a:lstStyle/>
          <a:p>
            <a:pPr marL="179388" indent="-179388" algn="ctr">
              <a:spcAft>
                <a:spcPts val="300"/>
              </a:spcAft>
              <a:buFont typeface="Arial" pitchFamily="34" charset="0"/>
              <a:buChar char="•"/>
            </a:pPr>
            <a:r>
              <a:rPr lang="en-GB" dirty="0"/>
              <a:t>Martin Mac 500 profile </a:t>
            </a:r>
            <a:r>
              <a:rPr lang="en-GB" dirty="0" err="1"/>
              <a:t>ligh</a:t>
            </a:r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395288" y="331788"/>
            <a:ext cx="5436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2400" b="1" dirty="0">
                <a:solidFill>
                  <a:srgbClr val="FFFF00"/>
                </a:solidFill>
              </a:rPr>
              <a:t>Moving Head Lights (DMX controls)</a:t>
            </a:r>
          </a:p>
        </p:txBody>
      </p:sp>
      <p:pic>
        <p:nvPicPr>
          <p:cNvPr id="6349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5606" y="628650"/>
            <a:ext cx="1778393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49" y="2095500"/>
            <a:ext cx="1860312" cy="2600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49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60793" y="3755851"/>
            <a:ext cx="1783207" cy="2492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438900" y="331788"/>
            <a:ext cx="2705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dirty="0">
                <a:solidFill>
                  <a:srgbClr val="FFFF00"/>
                </a:solidFill>
              </a:rPr>
              <a:t>Martin Mac 500 profile 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6271796"/>
            <a:ext cx="26955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dirty="0">
                <a:solidFill>
                  <a:srgbClr val="FFFF00"/>
                </a:solidFill>
              </a:rPr>
              <a:t>Martin Mac 600 </a:t>
            </a:r>
            <a:r>
              <a:rPr lang="en-GB" sz="1400" dirty="0" err="1">
                <a:solidFill>
                  <a:srgbClr val="FFFF00"/>
                </a:solidFill>
              </a:rPr>
              <a:t>fresnel</a:t>
            </a:r>
            <a:r>
              <a:rPr lang="en-GB" sz="1400" dirty="0">
                <a:solidFill>
                  <a:srgbClr val="FFFF00"/>
                </a:solidFill>
              </a:rPr>
              <a:t> light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674" y="4733925"/>
            <a:ext cx="1905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dirty="0">
                <a:solidFill>
                  <a:srgbClr val="FFFF00"/>
                </a:solidFill>
              </a:rPr>
              <a:t>Mac 2000, 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288" y="923925"/>
            <a:ext cx="626268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b="1" dirty="0">
                <a:solidFill>
                  <a:srgbClr val="FFFF00"/>
                </a:solidFill>
              </a:rPr>
              <a:t>‘Intelligent Lights'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remotely controlled through a separate signal cable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two cables - power + control information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spcAft>
                <a:spcPts val="300"/>
              </a:spcAft>
            </a:pPr>
            <a:r>
              <a:rPr lang="en-GB" dirty="0">
                <a:solidFill>
                  <a:srgbClr val="FFFF00"/>
                </a:solidFill>
              </a:rPr>
              <a:t>Controlled from lighting desk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colour changing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multiple gobos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prism effects 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beam shaping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288" y="3714750"/>
            <a:ext cx="4929187" cy="2731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300"/>
              </a:spcAft>
            </a:pPr>
            <a:r>
              <a:rPr lang="en-GB" sz="1400" b="1" dirty="0">
                <a:solidFill>
                  <a:srgbClr val="FFFF00"/>
                </a:solidFill>
              </a:rPr>
              <a:t>Cost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 err="1">
                <a:solidFill>
                  <a:srgbClr val="FFFF00"/>
                </a:solidFill>
              </a:rPr>
              <a:t>plumetted</a:t>
            </a:r>
            <a:r>
              <a:rPr lang="en-GB" sz="1400" dirty="0">
                <a:solidFill>
                  <a:srgbClr val="FFFF00"/>
                </a:solidFill>
              </a:rPr>
              <a:t> in the past few years but still cost £2k-3k</a:t>
            </a:r>
          </a:p>
          <a:p>
            <a:pPr>
              <a:spcAft>
                <a:spcPts val="300"/>
              </a:spcAft>
            </a:pPr>
            <a:r>
              <a:rPr lang="en-GB" sz="1400" b="1" dirty="0">
                <a:solidFill>
                  <a:srgbClr val="FFFF00"/>
                </a:solidFill>
              </a:rPr>
              <a:t>Speed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Moving a heavy light through 360° is technically difficult; requires good design and large motors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speed of movement is not very fast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for lightning quick pans and tilts, a scanner is the only real option</a:t>
            </a:r>
          </a:p>
          <a:p>
            <a:pPr>
              <a:spcAft>
                <a:spcPts val="300"/>
              </a:spcAft>
            </a:pPr>
            <a:r>
              <a:rPr lang="en-GB" sz="1400" b="1" dirty="0">
                <a:solidFill>
                  <a:srgbClr val="FFFF00"/>
                </a:solidFill>
              </a:rPr>
              <a:t>Set up </a:t>
            </a:r>
          </a:p>
          <a:p>
            <a:pPr marL="180975" indent="-180975">
              <a:spcAft>
                <a:spcPts val="300"/>
              </a:spcAft>
              <a:buFont typeface="Arial" pitchFamily="34" charset="0"/>
              <a:buChar char="•"/>
            </a:pPr>
            <a:r>
              <a:rPr lang="en-GB" sz="1400" dirty="0">
                <a:solidFill>
                  <a:srgbClr val="FFFF00"/>
                </a:solidFill>
              </a:rPr>
              <a:t>fairly easy but needs rigging - heavy light, setting DMX address, patching on desk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7" descr="761993_sunny512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913" y="2518013"/>
            <a:ext cx="5145087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395288" y="331788"/>
            <a:ext cx="5667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DMX512 – Lighting Control Protocol </a:t>
            </a:r>
          </a:p>
        </p:txBody>
      </p:sp>
      <p:sp>
        <p:nvSpPr>
          <p:cNvPr id="15364" name="Rectangle 3"/>
          <p:cNvSpPr>
            <a:spLocks noChangeArrowheads="1"/>
          </p:cNvSpPr>
          <p:nvPr/>
        </p:nvSpPr>
        <p:spPr bwMode="auto">
          <a:xfrm>
            <a:off x="395289" y="910514"/>
            <a:ext cx="383647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b="1" dirty="0"/>
              <a:t>Standard for data networks to control stage lighting and effects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differential </a:t>
            </a:r>
            <a:r>
              <a:rPr lang="en-GB" dirty="0" err="1"/>
              <a:t>signaling</a:t>
            </a:r>
            <a:r>
              <a:rPr lang="en-GB" dirty="0"/>
              <a:t> 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variable-size, packet based protocol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one-way signals – no automatic error checking and correction</a:t>
            </a:r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endParaRPr lang="en-GB" dirty="0"/>
          </a:p>
          <a:p>
            <a:pPr marL="180975" indent="-180975">
              <a:lnSpc>
                <a:spcPct val="150000"/>
              </a:lnSpc>
              <a:buFont typeface="Arial" charset="0"/>
              <a:buChar char="•"/>
            </a:pPr>
            <a:r>
              <a:rPr lang="en-GB" b="1" dirty="0"/>
              <a:t>Not </a:t>
            </a:r>
            <a:r>
              <a:rPr lang="en-GB" dirty="0"/>
              <a:t>for safety-critical applications e.g.</a:t>
            </a:r>
          </a:p>
          <a:p>
            <a:pPr marL="6381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pyrotechnics </a:t>
            </a:r>
          </a:p>
          <a:p>
            <a:pPr marL="6381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laser lighting displays</a:t>
            </a:r>
          </a:p>
          <a:p>
            <a:pPr marL="638175" lvl="1" indent="-180975">
              <a:lnSpc>
                <a:spcPct val="150000"/>
              </a:lnSpc>
              <a:buFont typeface="Arial" charset="0"/>
              <a:buChar char="•"/>
            </a:pPr>
            <a:r>
              <a:rPr lang="en-GB" dirty="0"/>
              <a:t>where audience or performer safety is at risk.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33888" y="3295650"/>
            <a:ext cx="276225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22483" y="910514"/>
            <a:ext cx="4653252" cy="15137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6144409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://www.lightorama.com/images/LOR-BasicLayout-DMX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2208" y="847725"/>
            <a:ext cx="6011442" cy="3447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395288" y="331788"/>
            <a:ext cx="5667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DMX512 – Lighting Control Protocol </a:t>
            </a:r>
          </a:p>
        </p:txBody>
      </p:sp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395288" y="846138"/>
            <a:ext cx="2730684" cy="4811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80975" indent="-180975">
              <a:lnSpc>
                <a:spcPts val="2300"/>
              </a:lnSpc>
            </a:pPr>
            <a:r>
              <a:rPr lang="en-GB" b="1" dirty="0"/>
              <a:t>Network topology</a:t>
            </a:r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multi-drop bus topology, daisy chain</a:t>
            </a:r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network implementation - single DMX512 controller + one or more controlled fixtures</a:t>
            </a:r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endParaRPr lang="en-GB" dirty="0"/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e.g. lighting console = controller for a network of (e.g.) dimmers, fog machines and intelligent moving lights</a:t>
            </a:r>
          </a:p>
        </p:txBody>
      </p:sp>
      <p:sp>
        <p:nvSpPr>
          <p:cNvPr id="16389" name="Rectangle 4"/>
          <p:cNvSpPr>
            <a:spLocks noChangeArrowheads="1"/>
          </p:cNvSpPr>
          <p:nvPr/>
        </p:nvSpPr>
        <p:spPr bwMode="auto">
          <a:xfrm>
            <a:off x="1701208" y="5395507"/>
            <a:ext cx="7442792" cy="977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79388" indent="-179388">
              <a:lnSpc>
                <a:spcPts val="2300"/>
              </a:lnSpc>
            </a:pPr>
            <a:r>
              <a:rPr lang="en-GB" b="1" dirty="0"/>
              <a:t>Each DMX network is called a "DMX universe"</a:t>
            </a:r>
          </a:p>
          <a:p>
            <a:pPr marL="179388" indent="-17938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control desks may have the capacity to control multiple universes</a:t>
            </a:r>
          </a:p>
          <a:p>
            <a:pPr marL="179388" indent="-179388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OUT connector for each universe</a:t>
            </a:r>
          </a:p>
        </p:txBody>
      </p:sp>
      <p:sp>
        <p:nvSpPr>
          <p:cNvPr id="16390" name="Rectangle 8"/>
          <p:cNvSpPr>
            <a:spLocks noChangeArrowheads="1"/>
          </p:cNvSpPr>
          <p:nvPr/>
        </p:nvSpPr>
        <p:spPr bwMode="auto">
          <a:xfrm>
            <a:off x="4505325" y="4533900"/>
            <a:ext cx="46386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sz="900"/>
              <a:t>More details – see - </a:t>
            </a:r>
          </a:p>
          <a:p>
            <a:r>
              <a:rPr lang="en-GB" sz="900"/>
              <a:t>http://www.lightorama.com/TypicalSetups.html#Simple_Controller_Configuration_Connected_to_DMX-512_Universe</a:t>
            </a:r>
          </a:p>
        </p:txBody>
      </p:sp>
    </p:spTree>
    <p:extLst>
      <p:ext uri="{BB962C8B-B14F-4D97-AF65-F5344CB8AC3E}">
        <p14:creationId xmlns:p14="http://schemas.microsoft.com/office/powerpoint/2010/main" val="32445860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3" descr="http://www.supplierlist.com/photo_images/71212/DMX512_RGB_PWM_Led_Controll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538" y="331788"/>
            <a:ext cx="7487144" cy="5615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Rectangle 2"/>
          <p:cNvSpPr>
            <a:spLocks noChangeArrowheads="1"/>
          </p:cNvSpPr>
          <p:nvPr/>
        </p:nvSpPr>
        <p:spPr bwMode="auto">
          <a:xfrm>
            <a:off x="395288" y="331788"/>
            <a:ext cx="5667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DMX512 – Lighting Control Protocol </a:t>
            </a:r>
          </a:p>
        </p:txBody>
      </p:sp>
      <p:sp>
        <p:nvSpPr>
          <p:cNvPr id="17412" name="Rectangle 3"/>
          <p:cNvSpPr>
            <a:spLocks noChangeArrowheads="1"/>
          </p:cNvSpPr>
          <p:nvPr/>
        </p:nvSpPr>
        <p:spPr bwMode="auto">
          <a:xfrm>
            <a:off x="395288" y="4775036"/>
            <a:ext cx="8220075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endParaRPr lang="en-GB" dirty="0"/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receiver fixture has </a:t>
            </a:r>
          </a:p>
          <a:p>
            <a:pPr marL="6381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a DMX512 "IN" connector </a:t>
            </a:r>
          </a:p>
          <a:p>
            <a:pPr marL="638175" lvl="1" indent="-180975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and DMX512 "OUT" connector (sometimes marked "THRU") </a:t>
            </a:r>
          </a:p>
          <a:p>
            <a:pPr marL="180975" indent="-180975">
              <a:lnSpc>
                <a:spcPts val="2300"/>
              </a:lnSpc>
              <a:buFont typeface="Arial" charset="0"/>
              <a:buChar char="•"/>
            </a:pPr>
            <a:r>
              <a:rPr lang="en-GB" dirty="0"/>
              <a:t>connections via DMX512 cable </a:t>
            </a:r>
          </a:p>
        </p:txBody>
      </p:sp>
    </p:spTree>
    <p:extLst>
      <p:ext uri="{BB962C8B-B14F-4D97-AF65-F5344CB8AC3E}">
        <p14:creationId xmlns:p14="http://schemas.microsoft.com/office/powerpoint/2010/main" val="19539819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5" descr="http://www.lightpower.de/PDB/produkt_pics/ma-lighting_ma/Network/130405_demux_box_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15" t="3802" r="11665" b="4407"/>
          <a:stretch>
            <a:fillRect/>
          </a:stretch>
        </p:blipFill>
        <p:spPr bwMode="auto">
          <a:xfrm>
            <a:off x="4856474" y="3042745"/>
            <a:ext cx="4287526" cy="3489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 descr="http://upload.wikimedia.org/wikipedia/commons/thumb/1/1c/XLR5_pinouts.svg/540px-XLR5_pinouts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4989513"/>
            <a:ext cx="2668587" cy="1581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395288" y="784225"/>
            <a:ext cx="4572000" cy="42211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2300"/>
              </a:lnSpc>
              <a:defRPr/>
            </a:pPr>
            <a:r>
              <a:rPr lang="en-GB" b="1" dirty="0"/>
              <a:t>Connectors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dirty="0"/>
              <a:t>DMX512 1990 spec - 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dirty="0"/>
              <a:t>data link - five-pin XLR-5 (5 pin) 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dirty="0"/>
              <a:t>female connectors on OUT ports </a:t>
            </a:r>
          </a:p>
          <a:p>
            <a:pPr marL="179388" indent="-179388">
              <a:lnSpc>
                <a:spcPts val="2300"/>
              </a:lnSpc>
              <a:buFont typeface="Arial" pitchFamily="34" charset="0"/>
              <a:buChar char="•"/>
              <a:defRPr/>
            </a:pPr>
            <a:r>
              <a:rPr lang="en-GB" dirty="0"/>
              <a:t>male connectors on IN/</a:t>
            </a:r>
            <a:r>
              <a:rPr lang="en-GB" dirty="0" err="1"/>
              <a:t>THRUports</a:t>
            </a:r>
            <a:endParaRPr lang="en-GB" dirty="0"/>
          </a:p>
          <a:p>
            <a:pPr>
              <a:lnSpc>
                <a:spcPts val="2300"/>
              </a:lnSpc>
              <a:defRPr/>
            </a:pPr>
            <a:endParaRPr lang="en-GB" b="1" dirty="0"/>
          </a:p>
          <a:p>
            <a:pPr>
              <a:lnSpc>
                <a:spcPts val="2300"/>
              </a:lnSpc>
              <a:defRPr/>
            </a:pPr>
            <a:r>
              <a:rPr lang="en-GB" b="1" dirty="0"/>
              <a:t>XLR-5 </a:t>
            </a:r>
            <a:r>
              <a:rPr lang="en-GB" b="1" dirty="0" err="1"/>
              <a:t>pinout</a:t>
            </a:r>
            <a:endParaRPr lang="en-GB" b="1" dirty="0"/>
          </a:p>
          <a:p>
            <a:pPr marL="342900" indent="-34290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GB" dirty="0"/>
              <a:t>Signal Common</a:t>
            </a:r>
          </a:p>
          <a:p>
            <a:pPr marL="342900" indent="-34290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GB" dirty="0"/>
              <a:t>Data 1- (Primary Data Link)</a:t>
            </a:r>
          </a:p>
          <a:p>
            <a:pPr marL="342900" indent="-34290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GB" dirty="0"/>
              <a:t>Data 1+ (Primary Data Link)</a:t>
            </a:r>
          </a:p>
          <a:p>
            <a:pPr marL="342900" indent="-34290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GB" dirty="0"/>
              <a:t>Data 2- (Optional Secondary Data Link)</a:t>
            </a:r>
          </a:p>
          <a:p>
            <a:pPr marL="342900" indent="-342900">
              <a:lnSpc>
                <a:spcPts val="2300"/>
              </a:lnSpc>
              <a:buFont typeface="+mj-lt"/>
              <a:buAutoNum type="arabicPeriod"/>
              <a:defRPr/>
            </a:pPr>
            <a:r>
              <a:rPr lang="en-GB" dirty="0"/>
              <a:t>Data 2+ (Optional Secondary Data Link)</a:t>
            </a:r>
          </a:p>
          <a:p>
            <a:pPr marL="342900" indent="-342900">
              <a:lnSpc>
                <a:spcPts val="2300"/>
              </a:lnSpc>
              <a:buFont typeface="+mj-lt"/>
              <a:buAutoNum type="arabicPeriod"/>
              <a:defRPr/>
            </a:pPr>
            <a:endParaRPr lang="en-GB" dirty="0"/>
          </a:p>
          <a:p>
            <a:pPr marL="342900" indent="-342900">
              <a:lnSpc>
                <a:spcPts val="2300"/>
              </a:lnSpc>
              <a:defRPr/>
            </a:pPr>
            <a:r>
              <a:rPr lang="en-GB" dirty="0"/>
              <a:t>RJ-45 (Ethernet connectors) are also used</a:t>
            </a:r>
          </a:p>
        </p:txBody>
      </p:sp>
      <p:sp>
        <p:nvSpPr>
          <p:cNvPr id="19461" name="Rectangle 3"/>
          <p:cNvSpPr>
            <a:spLocks noChangeArrowheads="1"/>
          </p:cNvSpPr>
          <p:nvPr/>
        </p:nvSpPr>
        <p:spPr bwMode="auto">
          <a:xfrm>
            <a:off x="395288" y="331788"/>
            <a:ext cx="56673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/>
              <a:t>DMX512 – Lighting Control Protocol </a:t>
            </a:r>
          </a:p>
        </p:txBody>
      </p:sp>
      <p:pic>
        <p:nvPicPr>
          <p:cNvPr id="19462" name="Picture 7" descr="http://www3.telus.net/Whalco/SDim/xlr5M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88" y="331788"/>
            <a:ext cx="2679700" cy="2525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92108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smart-hdl.com/online-files/images/connection-diagrams/Small%20TV%20studio%20network%20of%20intelligent%20lighting%20control%20system%20schematic%20new%20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09"/>
          <a:stretch>
            <a:fillRect/>
          </a:stretch>
        </p:blipFill>
        <p:spPr bwMode="auto">
          <a:xfrm>
            <a:off x="1" y="593045"/>
            <a:ext cx="9144000" cy="57632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6071016" y="6026046"/>
            <a:ext cx="307298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50" dirty="0"/>
              <a:t>http://www.smarthomeuae.com/new3/connection-diagrams-english.php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8" y="331788"/>
            <a:ext cx="81291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tabLst>
                <a:tab pos="1798638" algn="l"/>
              </a:tabLst>
            </a:pPr>
            <a:r>
              <a:rPr lang="en-GB" sz="2000" b="1" dirty="0"/>
              <a:t>Small TV Studio Network of Intelligent Lighting Control System</a:t>
            </a:r>
          </a:p>
        </p:txBody>
      </p:sp>
    </p:spTree>
    <p:extLst>
      <p:ext uri="{BB962C8B-B14F-4D97-AF65-F5344CB8AC3E}">
        <p14:creationId xmlns:p14="http://schemas.microsoft.com/office/powerpoint/2010/main" val="36555461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ChangeArrowheads="1"/>
          </p:cNvSpPr>
          <p:nvPr/>
        </p:nvSpPr>
        <p:spPr bwMode="auto">
          <a:xfrm>
            <a:off x="395288" y="331788"/>
            <a:ext cx="26581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sz="2400" b="1" dirty="0"/>
              <a:t>DMX512 on </a:t>
            </a:r>
            <a:r>
              <a:rPr lang="en-GB" sz="2400" b="1" dirty="0" err="1"/>
              <a:t>iPad</a:t>
            </a:r>
            <a:endParaRPr lang="en-GB" sz="2400" b="1" dirty="0"/>
          </a:p>
        </p:txBody>
      </p:sp>
      <p:sp>
        <p:nvSpPr>
          <p:cNvPr id="2457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95288" y="1166813"/>
            <a:ext cx="3166619" cy="4938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9388" indent="-179388">
              <a:defRPr/>
            </a:pPr>
            <a:r>
              <a:rPr lang="en-GB" b="1" dirty="0"/>
              <a:t>Wirelessly control lighting fixtures, dimmers, consoles, and media servers via a Wi-Fi connection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endParaRPr lang="en-GB" dirty="0"/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transmits and receives DMX data using the Art-Net protocol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compatible out of the box with lots of existing equipment 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endParaRPr lang="en-GB" dirty="0"/>
          </a:p>
          <a:p>
            <a:pPr marL="179388" indent="-179388">
              <a:defRPr/>
            </a:pPr>
            <a:r>
              <a:rPr lang="en-GB" b="1" dirty="0"/>
              <a:t>Controls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colour-mixable LED fixtures studio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lighting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moving lights</a:t>
            </a:r>
          </a:p>
          <a:p>
            <a:pPr marL="179388" indent="-179388">
              <a:buFont typeface="Arial" pitchFamily="34" charset="0"/>
              <a:buChar char="•"/>
              <a:defRPr/>
            </a:pPr>
            <a:r>
              <a:rPr lang="en-GB" dirty="0"/>
              <a:t>other DMX enabled equipment</a:t>
            </a:r>
          </a:p>
          <a:p>
            <a:pPr>
              <a:defRPr/>
            </a:pPr>
            <a:endParaRPr lang="en-GB" sz="1200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3174" y="425303"/>
            <a:ext cx="2961551" cy="1835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238" y="3338624"/>
            <a:ext cx="4162265" cy="31292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 descr="http://farm4.staticflickr.com/3326/5726484483_3556ba8ec3_b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051" y="1595489"/>
            <a:ext cx="3338623" cy="2226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4166838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846</TotalTime>
  <Words>3222</Words>
  <Application>Microsoft Office PowerPoint</Application>
  <PresentationFormat>On-screen Show (4:3)</PresentationFormat>
  <Paragraphs>707</Paragraphs>
  <Slides>57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5" baseType="lpstr">
      <vt:lpstr>Arial</vt:lpstr>
      <vt:lpstr>Helvetica W01</vt:lpstr>
      <vt:lpstr>Lucida Sans Unicode</vt:lpstr>
      <vt:lpstr>Symbol</vt:lpstr>
      <vt:lpstr>Tahoma</vt:lpstr>
      <vt:lpstr>Template</vt:lpstr>
      <vt:lpstr>Custom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92</cp:revision>
  <cp:lastPrinted>2015-10-16T12:09:03Z</cp:lastPrinted>
  <dcterms:created xsi:type="dcterms:W3CDTF">2006-09-10T21:25:56Z</dcterms:created>
  <dcterms:modified xsi:type="dcterms:W3CDTF">2018-04-18T19:16:21Z</dcterms:modified>
</cp:coreProperties>
</file>