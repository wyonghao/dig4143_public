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</p:sldMasterIdLst>
  <p:notesMasterIdLst>
    <p:notesMasterId r:id="rId49"/>
  </p:notesMasterIdLst>
  <p:handoutMasterIdLst>
    <p:handoutMasterId r:id="rId50"/>
  </p:handoutMasterIdLst>
  <p:sldIdLst>
    <p:sldId id="256" r:id="rId3"/>
    <p:sldId id="377" r:id="rId4"/>
    <p:sldId id="378" r:id="rId5"/>
    <p:sldId id="379" r:id="rId6"/>
    <p:sldId id="380" r:id="rId7"/>
    <p:sldId id="381" r:id="rId8"/>
    <p:sldId id="382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64" r:id="rId25"/>
    <p:sldId id="365" r:id="rId26"/>
    <p:sldId id="366" r:id="rId27"/>
    <p:sldId id="367" r:id="rId28"/>
    <p:sldId id="368" r:id="rId29"/>
    <p:sldId id="369" r:id="rId30"/>
    <p:sldId id="370" r:id="rId31"/>
    <p:sldId id="371" r:id="rId32"/>
    <p:sldId id="372" r:id="rId33"/>
    <p:sldId id="373" r:id="rId34"/>
    <p:sldId id="374" r:id="rId35"/>
    <p:sldId id="375" r:id="rId36"/>
    <p:sldId id="376" r:id="rId37"/>
    <p:sldId id="533" r:id="rId38"/>
    <p:sldId id="534" r:id="rId39"/>
    <p:sldId id="535" r:id="rId40"/>
    <p:sldId id="536" r:id="rId41"/>
    <p:sldId id="537" r:id="rId42"/>
    <p:sldId id="538" r:id="rId43"/>
    <p:sldId id="539" r:id="rId44"/>
    <p:sldId id="541" r:id="rId45"/>
    <p:sldId id="384" r:id="rId46"/>
    <p:sldId id="385" r:id="rId47"/>
    <p:sldId id="280" r:id="rId48"/>
  </p:sldIdLst>
  <p:sldSz cx="9144000" cy="6858000" type="screen4x3"/>
  <p:notesSz cx="6797675" cy="992822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Lucida Sans Unicode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2" userDrawn="1">
          <p15:clr>
            <a:srgbClr val="A4A3A4"/>
          </p15:clr>
        </p15:guide>
        <p15:guide id="2" pos="24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800000"/>
    <a:srgbClr val="FFFFCC"/>
    <a:srgbClr val="CCECFF"/>
    <a:srgbClr val="99CCFF"/>
    <a:srgbClr val="663300"/>
    <a:srgbClr val="9900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980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52" y="78"/>
      </p:cViewPr>
      <p:guideLst>
        <p:guide orient="horz" pos="232"/>
        <p:guide pos="2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 varScale="1">
        <p:scale>
          <a:sx n="65" d="100"/>
          <a:sy n="65" d="100"/>
        </p:scale>
        <p:origin x="-1092" y="-72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handoutMaster" Target="handoutMasters/handout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remy Foss" userId="09ac0925-c8bb-438c-a205-6311faa2bcaf" providerId="ADAL" clId="{C22BC673-2165-4CA2-8895-8CD777F9E6C9}"/>
    <pc:docChg chg="undo custSel modSld modNotesMaster modHandout">
      <pc:chgData name="Jeremy Foss" userId="09ac0925-c8bb-438c-a205-6311faa2bcaf" providerId="ADAL" clId="{C22BC673-2165-4CA2-8895-8CD777F9E6C9}" dt="2019-05-13T09:43:10.956" v="104" actId="1076"/>
      <pc:docMkLst>
        <pc:docMk/>
      </pc:docMkLst>
      <pc:sldChg chg="modSp">
        <pc:chgData name="Jeremy Foss" userId="09ac0925-c8bb-438c-a205-6311faa2bcaf" providerId="ADAL" clId="{C22BC673-2165-4CA2-8895-8CD777F9E6C9}" dt="2019-05-13T09:43:10.956" v="104" actId="1076"/>
        <pc:sldMkLst>
          <pc:docMk/>
          <pc:sldMk cId="239459167" sldId="361"/>
        </pc:sldMkLst>
        <pc:spChg chg="mod">
          <ac:chgData name="Jeremy Foss" userId="09ac0925-c8bb-438c-a205-6311faa2bcaf" providerId="ADAL" clId="{C22BC673-2165-4CA2-8895-8CD777F9E6C9}" dt="2019-05-13T09:43:10.956" v="104" actId="1076"/>
          <ac:spMkLst>
            <pc:docMk/>
            <pc:sldMk cId="239459167" sldId="361"/>
            <ac:spMk id="25" creationId="{00000000-0000-0000-0000-000000000000}"/>
          </ac:spMkLst>
        </pc:spChg>
      </pc:sldChg>
      <pc:sldChg chg="modSp">
        <pc:chgData name="Jeremy Foss" userId="09ac0925-c8bb-438c-a205-6311faa2bcaf" providerId="ADAL" clId="{C22BC673-2165-4CA2-8895-8CD777F9E6C9}" dt="2019-05-13T07:53:05.886" v="61" actId="14100"/>
        <pc:sldMkLst>
          <pc:docMk/>
          <pc:sldMk cId="3639464726" sldId="364"/>
        </pc:sldMkLst>
        <pc:spChg chg="mod">
          <ac:chgData name="Jeremy Foss" userId="09ac0925-c8bb-438c-a205-6311faa2bcaf" providerId="ADAL" clId="{C22BC673-2165-4CA2-8895-8CD777F9E6C9}" dt="2019-05-13T07:51:54.897" v="5" actId="20577"/>
          <ac:spMkLst>
            <pc:docMk/>
            <pc:sldMk cId="3639464726" sldId="364"/>
            <ac:spMk id="12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3:05.886" v="61" actId="14100"/>
          <ac:spMkLst>
            <pc:docMk/>
            <pc:sldMk cId="3639464726" sldId="364"/>
            <ac:spMk id="14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2:36.715" v="45" actId="20577"/>
          <ac:spMkLst>
            <pc:docMk/>
            <pc:sldMk cId="3639464726" sldId="364"/>
            <ac:spMk id="15" creationId="{00000000-0000-0000-0000-000000000000}"/>
          </ac:spMkLst>
        </pc:spChg>
      </pc:sldChg>
      <pc:sldChg chg="modSp">
        <pc:chgData name="Jeremy Foss" userId="09ac0925-c8bb-438c-a205-6311faa2bcaf" providerId="ADAL" clId="{C22BC673-2165-4CA2-8895-8CD777F9E6C9}" dt="2019-05-13T07:54:51.397" v="103" actId="14100"/>
        <pc:sldMkLst>
          <pc:docMk/>
          <pc:sldMk cId="1194784090" sldId="365"/>
        </pc:sldMkLst>
        <pc:spChg chg="mod">
          <ac:chgData name="Jeremy Foss" userId="09ac0925-c8bb-438c-a205-6311faa2bcaf" providerId="ADAL" clId="{C22BC673-2165-4CA2-8895-8CD777F9E6C9}" dt="2019-05-13T07:54:45.583" v="101" actId="1076"/>
          <ac:spMkLst>
            <pc:docMk/>
            <pc:sldMk cId="1194784090" sldId="365"/>
            <ac:spMk id="2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3:14.545" v="76" actId="14100"/>
          <ac:spMkLst>
            <pc:docMk/>
            <pc:sldMk cId="1194784090" sldId="365"/>
            <ac:spMk id="3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4:47.468" v="102" actId="1076"/>
          <ac:spMkLst>
            <pc:docMk/>
            <pc:sldMk cId="1194784090" sldId="365"/>
            <ac:spMk id="19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3:36.085" v="79" actId="6549"/>
          <ac:spMkLst>
            <pc:docMk/>
            <pc:sldMk cId="1194784090" sldId="365"/>
            <ac:spMk id="20" creationId="{00000000-0000-0000-0000-000000000000}"/>
          </ac:spMkLst>
        </pc:spChg>
        <pc:spChg chg="mod">
          <ac:chgData name="Jeremy Foss" userId="09ac0925-c8bb-438c-a205-6311faa2bcaf" providerId="ADAL" clId="{C22BC673-2165-4CA2-8895-8CD777F9E6C9}" dt="2019-05-13T07:54:05.570" v="90" actId="20577"/>
          <ac:spMkLst>
            <pc:docMk/>
            <pc:sldMk cId="1194784090" sldId="365"/>
            <ac:spMk id="26" creationId="{00000000-0000-0000-0000-000000000000}"/>
          </ac:spMkLst>
        </pc:spChg>
        <pc:cxnChg chg="mod">
          <ac:chgData name="Jeremy Foss" userId="09ac0925-c8bb-438c-a205-6311faa2bcaf" providerId="ADAL" clId="{C22BC673-2165-4CA2-8895-8CD777F9E6C9}" dt="2019-05-13T07:54:51.397" v="103" actId="14100"/>
          <ac:cxnSpMkLst>
            <pc:docMk/>
            <pc:sldMk cId="1194784090" sldId="365"/>
            <ac:cxnSpMk id="23" creationId="{00000000-0000-0000-0000-000000000000}"/>
          </ac:cxnSpMkLst>
        </pc:cxnChg>
      </pc:sldChg>
    </pc:docChg>
  </pc:docChgLst>
</pc:chgInfo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13.wmf"/><Relationship Id="rId2" Type="http://schemas.openxmlformats.org/officeDocument/2006/relationships/image" Target="../media/image12.wmf"/><Relationship Id="rId1" Type="http://schemas.openxmlformats.org/officeDocument/2006/relationships/image" Target="../media/image11.wmf"/><Relationship Id="rId6" Type="http://schemas.openxmlformats.org/officeDocument/2006/relationships/image" Target="../media/image7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5FCF019E-1375-4D69-90D7-05D62CCBD7E5}" type="datetimeFigureOut">
              <a:rPr lang="en-US"/>
              <a:pPr>
                <a:defRPr/>
              </a:pPr>
              <a:t>5/13/2019</a:t>
            </a:fld>
            <a:endParaRPr lang="en-US"/>
          </a:p>
        </p:txBody>
      </p:sp>
      <p:sp>
        <p:nvSpPr>
          <p:cNvPr id="696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D0E66841-25FA-4912-8AB9-E1C40B0866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70822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016" y="0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09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4538"/>
            <a:ext cx="4962525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357" y="4715907"/>
            <a:ext cx="4984962" cy="44677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016" y="9431814"/>
            <a:ext cx="2945659" cy="4964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FA0F4D4-A3A6-48C1-B1F1-4280E9CA502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18174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Lucida Sans Unicode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532FAAA-12F3-4BC2-A6AB-5F2151B69C26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86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0238B-0726-474E-B974-88CBDE8C0C5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416D4-773B-48A2-8963-76985CBDF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FCD34A-EAD6-4A2B-83C8-A41A7A6369F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F2F47E-1FAC-4F39-B0C2-6BDEE08DC1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FF5F79-2FCA-49FD-9F46-111551135F8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55E2EB-362B-43CF-A641-DDD1325436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6EFDB2-3113-4A37-B07C-D041BB6DF6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A4BBE9-EDC8-4FC6-8E4A-9557837D9B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77EF81-6B76-4DEC-98FB-1D4D8A5EAB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FB5DE6-76C7-4CED-BEDC-D3B153CD27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464A3C-67AD-4626-8890-8B49EF23BC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 rot="10800000" flipH="1">
            <a:off x="0" y="0"/>
            <a:ext cx="9144000" cy="457200"/>
          </a:xfrm>
          <a:prstGeom prst="rect">
            <a:avLst/>
          </a:prstGeom>
          <a:gradFill rotWithShape="0">
            <a:gsLst>
              <a:gs pos="0">
                <a:srgbClr val="CCCCFF"/>
              </a:gs>
              <a:gs pos="100000">
                <a:srgbClr val="FFFF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auto">
          <a:xfrm>
            <a:off x="0" y="6400800"/>
            <a:ext cx="9144000" cy="4572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CCF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028" name="Rectangle 9"/>
          <p:cNvSpPr>
            <a:spLocks noChangeArrowheads="1"/>
          </p:cNvSpPr>
          <p:nvPr/>
        </p:nvSpPr>
        <p:spPr bwMode="auto">
          <a:xfrm>
            <a:off x="2387600" y="6591300"/>
            <a:ext cx="4392613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r>
              <a:rPr lang="en-GB" sz="1200" dirty="0">
                <a:solidFill>
                  <a:srgbClr val="000066"/>
                </a:solidFill>
              </a:rPr>
              <a:t> Broadcast Technology UG1</a:t>
            </a:r>
          </a:p>
        </p:txBody>
      </p:sp>
      <p:sp>
        <p:nvSpPr>
          <p:cNvPr id="1029" name="Rectangle 10"/>
          <p:cNvSpPr>
            <a:spLocks noChangeArrowheads="1"/>
          </p:cNvSpPr>
          <p:nvPr/>
        </p:nvSpPr>
        <p:spPr bwMode="auto">
          <a:xfrm>
            <a:off x="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r>
              <a:rPr lang="en-GB" sz="1200">
                <a:solidFill>
                  <a:srgbClr val="000066"/>
                </a:solidFill>
              </a:rPr>
              <a:t>jeremy.foss@bcu.ac.uk</a:t>
            </a:r>
          </a:p>
        </p:txBody>
      </p:sp>
      <p:sp>
        <p:nvSpPr>
          <p:cNvPr id="1030" name="Rectangle 11"/>
          <p:cNvSpPr>
            <a:spLocks noChangeArrowheads="1"/>
          </p:cNvSpPr>
          <p:nvPr/>
        </p:nvSpPr>
        <p:spPr bwMode="auto">
          <a:xfrm>
            <a:off x="5868988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endParaRPr lang="en-US" sz="1200">
              <a:solidFill>
                <a:srgbClr val="000066"/>
              </a:solidFill>
            </a:endParaRPr>
          </a:p>
        </p:txBody>
      </p:sp>
      <p:sp>
        <p:nvSpPr>
          <p:cNvPr id="1031" name="Rectangle 13"/>
          <p:cNvSpPr>
            <a:spLocks noChangeArrowheads="1"/>
          </p:cNvSpPr>
          <p:nvPr/>
        </p:nvSpPr>
        <p:spPr bwMode="auto">
          <a:xfrm>
            <a:off x="0" y="0"/>
            <a:ext cx="34925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GB" sz="1200" b="1">
              <a:solidFill>
                <a:srgbClr val="000066"/>
              </a:solidFill>
            </a:endParaRPr>
          </a:p>
          <a:p>
            <a:pPr>
              <a:defRPr/>
            </a:pPr>
            <a:endParaRPr lang="en-GB" sz="1200">
              <a:solidFill>
                <a:srgbClr val="000066"/>
              </a:solidFill>
            </a:endParaRPr>
          </a:p>
        </p:txBody>
      </p:sp>
      <p:sp>
        <p:nvSpPr>
          <p:cNvPr id="1032" name="Rectangle 15"/>
          <p:cNvSpPr>
            <a:spLocks noChangeArrowheads="1"/>
          </p:cNvSpPr>
          <p:nvPr userDrawn="1"/>
        </p:nvSpPr>
        <p:spPr bwMode="auto">
          <a:xfrm>
            <a:off x="6248400" y="6591300"/>
            <a:ext cx="2895600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>
              <a:defRPr/>
            </a:pPr>
            <a:r>
              <a:rPr lang="en-GB" sz="1200">
                <a:solidFill>
                  <a:srgbClr val="000066"/>
                </a:solidFill>
              </a:rPr>
              <a:t>Jerry Foss, CEng, MIET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Lucida Sans Unicode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216144C6-4CBB-464E-8B86-D02262D719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mpte.org/sites/default/files/2014-05-06-EOTF-Miller-1-2-handout.pdf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mpte.org/sites/default/files/2014-05-06-EOTF-Miller-1-2-handout.pdf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smpte.org/sites/default/files/2014-05-06-EOTF-Miller-1-2-handout.pdf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13" Type="http://schemas.openxmlformats.org/officeDocument/2006/relationships/image" Target="../media/image7.wmf"/><Relationship Id="rId3" Type="http://schemas.openxmlformats.org/officeDocument/2006/relationships/image" Target="../media/image8.png"/><Relationship Id="rId7" Type="http://schemas.openxmlformats.org/officeDocument/2006/relationships/oleObject" Target="../embeddings/oleObject2.bin"/><Relationship Id="rId12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9.png"/><Relationship Id="rId11" Type="http://schemas.openxmlformats.org/officeDocument/2006/relationships/image" Target="../media/image10.png"/><Relationship Id="rId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13" Type="http://schemas.openxmlformats.org/officeDocument/2006/relationships/image" Target="../media/image9.png"/><Relationship Id="rId18" Type="http://schemas.openxmlformats.org/officeDocument/2006/relationships/image" Target="../media/image10.png"/><Relationship Id="rId3" Type="http://schemas.openxmlformats.org/officeDocument/2006/relationships/image" Target="../media/image15.png"/><Relationship Id="rId21" Type="http://schemas.openxmlformats.org/officeDocument/2006/relationships/image" Target="../media/image18.png"/><Relationship Id="rId7" Type="http://schemas.openxmlformats.org/officeDocument/2006/relationships/image" Target="../media/image17.png"/><Relationship Id="rId12" Type="http://schemas.openxmlformats.org/officeDocument/2006/relationships/image" Target="../media/image4.wmf"/><Relationship Id="rId17" Type="http://schemas.openxmlformats.org/officeDocument/2006/relationships/image" Target="../media/image6.wmf"/><Relationship Id="rId25" Type="http://schemas.openxmlformats.org/officeDocument/2006/relationships/image" Target="../media/image14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9.bin"/><Relationship Id="rId20" Type="http://schemas.openxmlformats.org/officeDocument/2006/relationships/image" Target="../media/image7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7.bin"/><Relationship Id="rId24" Type="http://schemas.openxmlformats.org/officeDocument/2006/relationships/oleObject" Target="../embeddings/oleObject12.bin"/><Relationship Id="rId5" Type="http://schemas.openxmlformats.org/officeDocument/2006/relationships/oleObject" Target="../embeddings/oleObject5.bin"/><Relationship Id="rId15" Type="http://schemas.openxmlformats.org/officeDocument/2006/relationships/image" Target="../media/image5.wmf"/><Relationship Id="rId23" Type="http://schemas.openxmlformats.org/officeDocument/2006/relationships/image" Target="../media/image13.wmf"/><Relationship Id="rId10" Type="http://schemas.openxmlformats.org/officeDocument/2006/relationships/image" Target="../media/image8.png"/><Relationship Id="rId19" Type="http://schemas.openxmlformats.org/officeDocument/2006/relationships/oleObject" Target="../embeddings/oleObject10.bin"/><Relationship Id="rId4" Type="http://schemas.openxmlformats.org/officeDocument/2006/relationships/image" Target="../media/image16.png"/><Relationship Id="rId9" Type="http://schemas.openxmlformats.org/officeDocument/2006/relationships/image" Target="../media/image12.wmf"/><Relationship Id="rId14" Type="http://schemas.openxmlformats.org/officeDocument/2006/relationships/oleObject" Target="../embeddings/oleObject8.bin"/><Relationship Id="rId22" Type="http://schemas.openxmlformats.org/officeDocument/2006/relationships/oleObject" Target="../embeddings/oleObject1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image" Target="../media/image29.png"/><Relationship Id="rId7" Type="http://schemas.openxmlformats.org/officeDocument/2006/relationships/image" Target="../media/image24.png"/><Relationship Id="rId2" Type="http://schemas.openxmlformats.org/officeDocument/2006/relationships/hyperlink" Target="http://www.cambridgeincolour.com/tutorials/gamma-correction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hyperlink" Target="http://www.cambridgeincolour.com/tutorials/gamma-correction.ht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mpte.org/sites/default/files/2017-01-12-ST-2094-Borg-V2-Handout.pdf" TargetMode="Externa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toic.net/blog/the-state-of-hdr-in-broadcast-and-ott-at-year-end-2015/" TargetMode="External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8"/>
          <p:cNvSpPr>
            <a:spLocks noChangeArrowheads="1"/>
          </p:cNvSpPr>
          <p:nvPr/>
        </p:nvSpPr>
        <p:spPr bwMode="auto">
          <a:xfrm>
            <a:off x="0" y="1809750"/>
            <a:ext cx="9144000" cy="3262313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FFCC99"/>
              </a:gs>
            </a:gsLst>
            <a:lin ang="0" scaled="1"/>
          </a:gra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2400"/>
          </a:p>
        </p:txBody>
      </p:sp>
      <p:sp>
        <p:nvSpPr>
          <p:cNvPr id="6147" name="Text Box 9"/>
          <p:cNvSpPr txBox="1">
            <a:spLocks noChangeArrowheads="1"/>
          </p:cNvSpPr>
          <p:nvPr/>
        </p:nvSpPr>
        <p:spPr bwMode="auto">
          <a:xfrm>
            <a:off x="395288" y="2075921"/>
            <a:ext cx="8561388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2400" dirty="0"/>
              <a:t>Broadcast Technology UG1</a:t>
            </a:r>
          </a:p>
          <a:p>
            <a:endParaRPr lang="en-GB" sz="2800" b="1" dirty="0"/>
          </a:p>
          <a:p>
            <a:r>
              <a:rPr lang="en-GB" sz="3200" b="1" dirty="0"/>
              <a:t>7: Gamma</a:t>
            </a:r>
            <a:endParaRPr lang="en-GB" sz="3200" dirty="0"/>
          </a:p>
          <a:p>
            <a:endParaRPr lang="en-GB" sz="3200" dirty="0"/>
          </a:p>
          <a:p>
            <a:r>
              <a:rPr lang="en-GB" sz="2800" dirty="0"/>
              <a:t>Jerry Foss</a:t>
            </a:r>
          </a:p>
          <a:p>
            <a:r>
              <a:rPr lang="en-GB" dirty="0"/>
              <a:t>jeremy.foss@bcu.ac.uk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129791"/>
            <a:ext cx="8084569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/>
              <a:t>EOTF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digital code into visible light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Image on a reference display defines the signal </a:t>
            </a:r>
          </a:p>
          <a:p>
            <a:pPr>
              <a:lnSpc>
                <a:spcPct val="150000"/>
              </a:lnSpc>
            </a:pPr>
            <a:r>
              <a:rPr lang="en-GB"/>
              <a:t> … artist makes creative decisions on what the content will look like while 	viewing a reference display 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grading in post production </a:t>
            </a:r>
          </a:p>
          <a:p>
            <a:pPr marL="16573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camera control units in live production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all reference displays need consistent image reproduction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6407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EOTF - Electro-Optical Transfer Function </a:t>
            </a:r>
          </a:p>
        </p:txBody>
      </p:sp>
    </p:spTree>
    <p:extLst>
      <p:ext uri="{BB962C8B-B14F-4D97-AF65-F5344CB8AC3E}">
        <p14:creationId xmlns:p14="http://schemas.microsoft.com/office/powerpoint/2010/main" val="4282578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176005"/>
            <a:ext cx="7786186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/>
              <a:t>EOTF in current standards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SMPTE 292M, SMPTE 372M, HDMI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No EOTF - simply interface specifications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no full details on RGB or YCbCr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ITU-R Rec. BT.601, 709, 2020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no EOTF - these are encoding specifications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these define the OETF (OptoElectrical Transfer Function)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/>
              <a:t>used for image capture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r>
              <a:rPr lang="en-GB" b="1"/>
              <a:t>But image display ≠ inverse of image capture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/>
              <a:t>Bright scene capture environment</a:t>
            </a:r>
          </a:p>
          <a:p>
            <a:pPr lvl="1"/>
            <a:r>
              <a:rPr lang="en-GB"/>
              <a:t>… much dimmer display environment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640752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EOTF - Electro-Optical Transfer Function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683045" y="5498479"/>
            <a:ext cx="3108336" cy="752968"/>
            <a:chOff x="5574890" y="5931099"/>
            <a:chExt cx="3108336" cy="752968"/>
          </a:xfrm>
        </p:grpSpPr>
        <p:sp>
          <p:nvSpPr>
            <p:cNvPr id="5" name="Rectangle 4"/>
            <p:cNvSpPr/>
            <p:nvPr/>
          </p:nvSpPr>
          <p:spPr>
            <a:xfrm>
              <a:off x="5574890" y="5960792"/>
              <a:ext cx="2438401" cy="7232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(presentation from Scott Miller, Dolby Laboratories)</a:t>
              </a:r>
            </a:p>
            <a:p>
              <a:pPr algn="r"/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  <a:hlinkClick r:id="rId2"/>
                </a:rPr>
                <a:t>https://www.smpte.org/sites/default/files/2014-05-06-EOTF-Miller-1-2-handout.pdf</a:t>
              </a:r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3291" y="5931099"/>
              <a:ext cx="669935" cy="460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0703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074821"/>
            <a:ext cx="432911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/>
              <a:t>Where is current EOTF defined?</a:t>
            </a:r>
          </a:p>
          <a:p>
            <a:r>
              <a:rPr lang="en-GB"/>
              <a:t>			</a:t>
            </a:r>
          </a:p>
          <a:p>
            <a:r>
              <a:rPr lang="en-GB"/>
              <a:t>			    Right here: 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4" name="AutoShape 2" descr="Image result for dolby logo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5683045" y="5498479"/>
            <a:ext cx="3108336" cy="752968"/>
            <a:chOff x="5574890" y="5931099"/>
            <a:chExt cx="3108336" cy="752968"/>
          </a:xfrm>
        </p:grpSpPr>
        <p:sp>
          <p:nvSpPr>
            <p:cNvPr id="3" name="Rectangle 2"/>
            <p:cNvSpPr/>
            <p:nvPr/>
          </p:nvSpPr>
          <p:spPr>
            <a:xfrm>
              <a:off x="5574890" y="5960792"/>
              <a:ext cx="2438401" cy="7232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(presentation from Scott Miller, Dolby Laboratories)</a:t>
              </a:r>
            </a:p>
            <a:p>
              <a:pPr algn="r"/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  <a:hlinkClick r:id="rId2"/>
                </a:rPr>
                <a:t>https://www.smpte.org/sites/default/files/2014-05-06-EOTF-Miller-1-2-handout.pdf</a:t>
              </a:r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3291" y="5931099"/>
              <a:ext cx="669935" cy="460580"/>
            </a:xfrm>
            <a:prstGeom prst="rect">
              <a:avLst/>
            </a:prstGeom>
          </p:spPr>
        </p:pic>
      </p:grpSp>
      <p:pic>
        <p:nvPicPr>
          <p:cNvPr id="3078" name="Picture 6" descr="http://images.fanpop.com/images/image_uploads/Old-School-TV-television-296019_1544_150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968" y="704540"/>
            <a:ext cx="3717265" cy="3611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395288" y="2343227"/>
            <a:ext cx="3753924" cy="33855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/>
              <a:t>Current “Gamma” nonlinearity is based on CRT physics </a:t>
            </a:r>
          </a:p>
          <a:p>
            <a:pPr>
              <a:lnSpc>
                <a:spcPct val="150000"/>
              </a:lnSpc>
            </a:pPr>
            <a:r>
              <a:rPr lang="en-GB"/>
              <a:t>unchanged since 1930s </a:t>
            </a:r>
          </a:p>
          <a:p>
            <a:pPr>
              <a:lnSpc>
                <a:spcPct val="150000"/>
              </a:lnSpc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Finally standardized by ITU-R Rec. BT.1886 (in 2011!!!)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CRTs almost extinct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the effort was made to officially document their response curve</a:t>
            </a:r>
          </a:p>
        </p:txBody>
      </p:sp>
    </p:spTree>
    <p:extLst>
      <p:ext uri="{BB962C8B-B14F-4D97-AF65-F5344CB8AC3E}">
        <p14:creationId xmlns:p14="http://schemas.microsoft.com/office/powerpoint/2010/main" val="775043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005648"/>
            <a:ext cx="8283677" cy="48628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/>
              <a:t>OETF functions (as used in Rec.709 etc)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derived from the display EOTF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not the other way around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EOTF was determined by CRT physics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OETF = Inverse EOTF +</a:t>
            </a:r>
            <a:r>
              <a:rPr lang="en-GB" i="1"/>
              <a:t> Rendering Intent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EOTF definition necessary to view finished content properly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EOTF must match the reference display used by the artist to create original program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OETF definition is just a rough target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Camera curves are adjusted for preference during shooting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Textbook Rec709 function is almost never used in practice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92471"/>
            <a:ext cx="287610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EOTFs and OETFs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8749" y="854136"/>
            <a:ext cx="2861187" cy="184546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94596" y="1005648"/>
            <a:ext cx="69442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/>
              <a:t>EOTF</a:t>
            </a: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5781368" y="1288026"/>
            <a:ext cx="1111045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826007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46655"/>
            <a:ext cx="76868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Ideally EOTF should be defined by the human visual response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Current Gamma worked well enough for the CRT era </a:t>
            </a:r>
          </a:p>
          <a:p>
            <a:pPr lvl="1">
              <a:lnSpc>
                <a:spcPct val="150000"/>
              </a:lnSpc>
            </a:pPr>
            <a:r>
              <a:rPr lang="en-GB"/>
              <a:t>… is a sort of perceptual EOTF </a:t>
            </a:r>
          </a:p>
          <a:p>
            <a:pPr lvl="1">
              <a:lnSpc>
                <a:spcPct val="150000"/>
              </a:lnSpc>
            </a:pPr>
            <a:r>
              <a:rPr lang="en-GB"/>
              <a:t>… But only at relatively low luminance levels </a:t>
            </a:r>
          </a:p>
          <a:p>
            <a:pPr lvl="1">
              <a:lnSpc>
                <a:spcPct val="150000"/>
              </a:lnSpc>
            </a:pPr>
            <a:r>
              <a:rPr lang="en-GB"/>
              <a:t>	and small dynamic ranges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One proposal for new development: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stretch or modify gamma to allow a little more brightness and dynamic range out the current system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>
              <a:lnSpc>
                <a:spcPct val="150000"/>
              </a:lnSpc>
            </a:pPr>
            <a:r>
              <a:rPr lang="en-GB"/>
              <a:t>But next generation systems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much brighter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/>
              <a:t>much higher dynamic range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5288" y="368300"/>
            <a:ext cx="22236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/>
              <a:t>A New EOTF?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5683045" y="5498479"/>
            <a:ext cx="3108336" cy="752968"/>
            <a:chOff x="5574890" y="5931099"/>
            <a:chExt cx="3108336" cy="752968"/>
          </a:xfrm>
        </p:grpSpPr>
        <p:sp>
          <p:nvSpPr>
            <p:cNvPr id="5" name="Rectangle 4"/>
            <p:cNvSpPr/>
            <p:nvPr/>
          </p:nvSpPr>
          <p:spPr>
            <a:xfrm>
              <a:off x="5574890" y="5960792"/>
              <a:ext cx="2438401" cy="723275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>
              <a:spAutoFit/>
            </a:bodyPr>
            <a:lstStyle/>
            <a:p>
              <a:pPr algn="r"/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(presentation from Scott Miller, Dolby Laboratories)</a:t>
              </a:r>
            </a:p>
            <a:p>
              <a:pPr algn="r"/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  <a:hlinkClick r:id="rId2"/>
                </a:rPr>
                <a:t>https://www.smpte.org/sites/default/files/2014-05-06-EOTF-Miller-1-2-handout.pdf</a:t>
              </a:r>
              <a:r>
                <a:rPr lang="en-GB" sz="7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  <a:r>
                <a:rPr lang="en-GB" sz="1100">
                  <a:solidFill>
                    <a:schemeClr val="accent6">
                      <a:lumMod val="20000"/>
                      <a:lumOff val="80000"/>
                    </a:schemeClr>
                  </a:solidFill>
                </a:rPr>
                <a:t> </a:t>
              </a: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3291" y="5931099"/>
              <a:ext cx="669935" cy="46058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134520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1799303"/>
            <a:ext cx="6203942" cy="27853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b="1"/>
              <a:t>Power Curves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b="1"/>
              <a:t>Binary System Capacity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4000" b="1"/>
              <a:t>Gamma</a:t>
            </a:r>
          </a:p>
        </p:txBody>
      </p:sp>
    </p:spTree>
    <p:extLst>
      <p:ext uri="{BB962C8B-B14F-4D97-AF65-F5344CB8AC3E}">
        <p14:creationId xmlns:p14="http://schemas.microsoft.com/office/powerpoint/2010/main" val="1330088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5288" y="331788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Power-Based Curves</a:t>
            </a: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3429000"/>
            <a:ext cx="2773829" cy="31014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Object 8"/>
          <p:cNvGraphicFramePr>
            <a:graphicFrameLocks noChangeAspect="1"/>
          </p:cNvGraphicFramePr>
          <p:nvPr>
            <p:extLst/>
          </p:nvPr>
        </p:nvGraphicFramePr>
        <p:xfrm>
          <a:off x="1166664" y="4152942"/>
          <a:ext cx="1538436" cy="8415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Equation" r:id="rId4" imgW="419100" imgH="228600" progId="">
                  <p:embed/>
                </p:oleObj>
              </mc:Choice>
              <mc:Fallback>
                <p:oleObj name="Equation" r:id="rId4" imgW="419100" imgH="228600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6664" y="4152942"/>
                        <a:ext cx="1538436" cy="84150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995936" y="620688"/>
            <a:ext cx="3628381" cy="2594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0"/>
          <p:cNvGraphicFramePr>
            <a:graphicFrameLocks noChangeAspect="1"/>
          </p:cNvGraphicFramePr>
          <p:nvPr>
            <p:extLst/>
          </p:nvPr>
        </p:nvGraphicFramePr>
        <p:xfrm>
          <a:off x="4283967" y="561975"/>
          <a:ext cx="1386048" cy="7787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7" imgW="406224" imgH="228501" progId="">
                  <p:embed/>
                </p:oleObj>
              </mc:Choice>
              <mc:Fallback>
                <p:oleObj name="Equation" r:id="rId7" imgW="406224" imgH="228501" progId="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3967" y="561975"/>
                        <a:ext cx="1386048" cy="77879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/>
          </p:nvPr>
        </p:nvGraphicFramePr>
        <p:xfrm>
          <a:off x="6033492" y="1952625"/>
          <a:ext cx="2211244" cy="828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9" imgW="609600" imgH="228600" progId="">
                  <p:embed/>
                </p:oleObj>
              </mc:Choice>
              <mc:Fallback>
                <p:oleObj name="Equation" r:id="rId9" imgW="609600" imgH="228600" progId="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3492" y="1952625"/>
                        <a:ext cx="2211244" cy="82830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35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3779912" y="3356992"/>
            <a:ext cx="4334882" cy="30963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>
            <p:extLst/>
          </p:nvPr>
        </p:nvGraphicFramePr>
        <p:xfrm>
          <a:off x="6137810" y="3573016"/>
          <a:ext cx="1448630" cy="8180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12" imgW="406224" imgH="228501" progId="">
                  <p:embed/>
                </p:oleObj>
              </mc:Choice>
              <mc:Fallback>
                <p:oleObj name="Equation" r:id="rId12" imgW="406224" imgH="228501" progId="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7810" y="3573016"/>
                        <a:ext cx="1448630" cy="81800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4327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34522" y="4288906"/>
            <a:ext cx="1872208" cy="2228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95288" y="331788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Power-Based Curves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649116" y="3748658"/>
            <a:ext cx="2252224" cy="274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3250703" y="5153025"/>
          <a:ext cx="1307197" cy="6191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Equation" r:id="rId5" imgW="482391" imgH="228501" progId="">
                  <p:embed/>
                </p:oleObj>
              </mc:Choice>
              <mc:Fallback>
                <p:oleObj name="Equation" r:id="rId5" imgW="482391" imgH="228501" progId="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0703" y="5153025"/>
                        <a:ext cx="1307197" cy="61919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323528" y="2924944"/>
            <a:ext cx="2520280" cy="19418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7" name="Object 6"/>
          <p:cNvGraphicFramePr>
            <a:graphicFrameLocks noChangeAspect="1"/>
          </p:cNvGraphicFramePr>
          <p:nvPr>
            <p:extLst/>
          </p:nvPr>
        </p:nvGraphicFramePr>
        <p:xfrm>
          <a:off x="831007" y="3419475"/>
          <a:ext cx="1301606" cy="6332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8" imgW="469900" imgH="228600" progId="">
                  <p:embed/>
                </p:oleObj>
              </mc:Choice>
              <mc:Fallback>
                <p:oleObj name="Equation" r:id="rId8" imgW="469900" imgH="228600" progId="">
                  <p:embed/>
                  <p:pic>
                    <p:nvPicPr>
                      <p:cNvPr id="7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007" y="3419475"/>
                        <a:ext cx="1301606" cy="63321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970074" y="620689"/>
            <a:ext cx="1610038" cy="18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4572000" y="980728"/>
          <a:ext cx="658812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" name="Equation" r:id="rId11" imgW="419100" imgH="228600" progId="">
                  <p:embed/>
                </p:oleObj>
              </mc:Choice>
              <mc:Fallback>
                <p:oleObj name="Equation" r:id="rId11" imgW="419100" imgH="228600" progId="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980728"/>
                        <a:ext cx="658812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Picture 8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683568" y="980728"/>
            <a:ext cx="2232496" cy="1596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83568" y="1052736"/>
          <a:ext cx="64135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14" imgW="406224" imgH="228501" progId="">
                  <p:embed/>
                </p:oleObj>
              </mc:Choice>
              <mc:Fallback>
                <p:oleObj name="Equation" r:id="rId14" imgW="406224" imgH="228501" progId="">
                  <p:embed/>
                  <p:pic>
                    <p:nvPicPr>
                      <p:cNvPr id="11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1052736"/>
                        <a:ext cx="641350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907704" y="1916832"/>
          <a:ext cx="962025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16" imgW="609600" imgH="228600" progId="">
                  <p:embed/>
                </p:oleObj>
              </mc:Choice>
              <mc:Fallback>
                <p:oleObj name="Equation" r:id="rId16" imgW="609600" imgH="228600" progId="">
                  <p:embed/>
                  <p:pic>
                    <p:nvPicPr>
                      <p:cNvPr id="12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7704" y="1916832"/>
                        <a:ext cx="962025" cy="360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1"/>
          <p:cNvPicPr>
            <a:picLocks noChangeAspect="1" noChangeArrowheads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6300192" y="548681"/>
            <a:ext cx="2614186" cy="186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4" name="Object 13"/>
          <p:cNvGraphicFramePr>
            <a:graphicFrameLocks noChangeAspect="1"/>
          </p:cNvGraphicFramePr>
          <p:nvPr/>
        </p:nvGraphicFramePr>
        <p:xfrm>
          <a:off x="7956376" y="764704"/>
          <a:ext cx="638175" cy="360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19" imgW="406224" imgH="228501" progId="">
                  <p:embed/>
                </p:oleObj>
              </mc:Choice>
              <mc:Fallback>
                <p:oleObj name="Equation" r:id="rId19" imgW="406224" imgH="228501" progId="">
                  <p:embed/>
                  <p:pic>
                    <p:nvPicPr>
                      <p:cNvPr id="14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6376" y="764704"/>
                        <a:ext cx="638175" cy="3603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21" cstate="print"/>
          <a:srcRect/>
          <a:stretch>
            <a:fillRect/>
          </a:stretch>
        </p:blipFill>
        <p:spPr bwMode="auto">
          <a:xfrm>
            <a:off x="4866506" y="2570237"/>
            <a:ext cx="2376264" cy="1933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6" name="Object 15"/>
          <p:cNvGraphicFramePr>
            <a:graphicFrameLocks noChangeAspect="1"/>
          </p:cNvGraphicFramePr>
          <p:nvPr>
            <p:extLst/>
          </p:nvPr>
        </p:nvGraphicFramePr>
        <p:xfrm>
          <a:off x="5368651" y="2667000"/>
          <a:ext cx="1400937" cy="663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22" imgW="482391" imgH="228501" progId="">
                  <p:embed/>
                </p:oleObj>
              </mc:Choice>
              <mc:Fallback>
                <p:oleObj name="Equation" r:id="rId22" imgW="482391" imgH="228501" progId="">
                  <p:embed/>
                  <p:pic>
                    <p:nvPicPr>
                      <p:cNvPr id="16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8651" y="2667000"/>
                        <a:ext cx="1400937" cy="663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/>
          </p:nvPr>
        </p:nvGraphicFramePr>
        <p:xfrm>
          <a:off x="7115894" y="5162550"/>
          <a:ext cx="1548288" cy="7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24" imgW="482391" imgH="228501" progId="">
                  <p:embed/>
                </p:oleObj>
              </mc:Choice>
              <mc:Fallback>
                <p:oleObj name="Equation" r:id="rId24" imgW="482391" imgH="228501" progId="">
                  <p:embed/>
                  <p:pic>
                    <p:nvPicPr>
                      <p:cNvPr id="17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15894" y="5162550"/>
                        <a:ext cx="1548288" cy="733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96053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sosceles Triangle 13"/>
          <p:cNvSpPr/>
          <p:nvPr/>
        </p:nvSpPr>
        <p:spPr bwMode="auto">
          <a:xfrm>
            <a:off x="1691680" y="764704"/>
            <a:ext cx="5400600" cy="5256584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13000">
                <a:srgbClr val="FE7E7E"/>
              </a:gs>
              <a:gs pos="100000">
                <a:schemeClr val="bg1"/>
              </a:gs>
              <a:gs pos="98000">
                <a:schemeClr val="bg1"/>
              </a:gs>
            </a:gsLst>
            <a:lin ang="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6" name="Isosceles Triangle 15"/>
          <p:cNvSpPr/>
          <p:nvPr/>
        </p:nvSpPr>
        <p:spPr bwMode="auto">
          <a:xfrm flipH="1" flipV="1">
            <a:off x="1763688" y="1340768"/>
            <a:ext cx="4680520" cy="4680520"/>
          </a:xfrm>
          <a:prstGeom prst="triangle">
            <a:avLst>
              <a:gd name="adj" fmla="val 100000"/>
            </a:avLst>
          </a:prstGeom>
          <a:gradFill flip="none" rotWithShape="1">
            <a:gsLst>
              <a:gs pos="40000">
                <a:schemeClr val="accent1">
                  <a:tint val="66000"/>
                  <a:satMod val="160000"/>
                </a:schemeClr>
              </a:gs>
              <a:gs pos="40000">
                <a:schemeClr val="accent1">
                  <a:tint val="66000"/>
                  <a:satMod val="160000"/>
                </a:schemeClr>
              </a:gs>
              <a:gs pos="100000">
                <a:schemeClr val="bg1"/>
              </a:gs>
            </a:gsLst>
            <a:lin ang="5400000" scaled="0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3" name="Straight Connector 2"/>
          <p:cNvCxnSpPr/>
          <p:nvPr/>
        </p:nvCxnSpPr>
        <p:spPr bwMode="auto">
          <a:xfrm flipH="1">
            <a:off x="1691680" y="1196752"/>
            <a:ext cx="72008" cy="48965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/>
          <p:cNvCxnSpPr/>
          <p:nvPr/>
        </p:nvCxnSpPr>
        <p:spPr bwMode="auto">
          <a:xfrm>
            <a:off x="1547664" y="6021288"/>
            <a:ext cx="6192688" cy="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1331640" y="1700808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Times New Roman" pitchFamily="18" charset="0"/>
                <a:cs typeface="Times New Roman" pitchFamily="18" charset="0"/>
              </a:rPr>
              <a:t>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80312" y="6021288"/>
            <a:ext cx="2880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Times New Roman" pitchFamily="18" charset="0"/>
                <a:cs typeface="Times New Roman" pitchFamily="18" charset="0"/>
              </a:rPr>
              <a:t>x</a:t>
            </a:r>
            <a:endParaRPr lang="en-GB" sz="1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 rot="18892009">
            <a:off x="6564436" y="317946"/>
            <a:ext cx="1201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i="1" dirty="0">
                <a:latin typeface="Times New Roman" pitchFamily="18" charset="0"/>
                <a:cs typeface="Times New Roman" pitchFamily="18" charset="0"/>
              </a:rPr>
              <a:t>y = x</a:t>
            </a:r>
            <a:r>
              <a:rPr lang="en-GB" sz="3200" i="1" baseline="300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cxnSp>
        <p:nvCxnSpPr>
          <p:cNvPr id="18" name="Straight Connector 17"/>
          <p:cNvCxnSpPr/>
          <p:nvPr/>
        </p:nvCxnSpPr>
        <p:spPr bwMode="auto">
          <a:xfrm flipH="1">
            <a:off x="1619672" y="1052736"/>
            <a:ext cx="5112568" cy="504056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6" name="Freeform 25"/>
          <p:cNvSpPr/>
          <p:nvPr/>
        </p:nvSpPr>
        <p:spPr bwMode="auto">
          <a:xfrm>
            <a:off x="1691680" y="1124744"/>
            <a:ext cx="4886325" cy="4905375"/>
          </a:xfrm>
          <a:custGeom>
            <a:avLst/>
            <a:gdLst>
              <a:gd name="connsiteX0" fmla="*/ 0 w 4886325"/>
              <a:gd name="connsiteY0" fmla="*/ 4905375 h 4905375"/>
              <a:gd name="connsiteX1" fmla="*/ 1866900 w 4886325"/>
              <a:gd name="connsiteY1" fmla="*/ 1609725 h 4905375"/>
              <a:gd name="connsiteX2" fmla="*/ 4886325 w 4886325"/>
              <a:gd name="connsiteY2" fmla="*/ 0 h 4905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86325" h="4905375">
                <a:moveTo>
                  <a:pt x="0" y="4905375"/>
                </a:moveTo>
                <a:cubicBezTo>
                  <a:pt x="526256" y="3666331"/>
                  <a:pt x="1052513" y="2427287"/>
                  <a:pt x="1866900" y="1609725"/>
                </a:cubicBezTo>
                <a:cubicBezTo>
                  <a:pt x="2681287" y="792163"/>
                  <a:pt x="3783806" y="396081"/>
                  <a:pt x="488632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7" name="Freeform 26"/>
          <p:cNvSpPr/>
          <p:nvPr/>
        </p:nvSpPr>
        <p:spPr bwMode="auto">
          <a:xfrm>
            <a:off x="1695451" y="1196753"/>
            <a:ext cx="4820766" cy="4823048"/>
          </a:xfrm>
          <a:custGeom>
            <a:avLst/>
            <a:gdLst>
              <a:gd name="connsiteX0" fmla="*/ 0 w 4848225"/>
              <a:gd name="connsiteY0" fmla="*/ 4791075 h 4791075"/>
              <a:gd name="connsiteX1" fmla="*/ 2286000 w 4848225"/>
              <a:gd name="connsiteY1" fmla="*/ 1981200 h 4791075"/>
              <a:gd name="connsiteX2" fmla="*/ 4848225 w 4848225"/>
              <a:gd name="connsiteY2" fmla="*/ 0 h 479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48225" h="4791075">
                <a:moveTo>
                  <a:pt x="0" y="4791075"/>
                </a:moveTo>
                <a:cubicBezTo>
                  <a:pt x="738981" y="3785393"/>
                  <a:pt x="1477963" y="2779712"/>
                  <a:pt x="2286000" y="1981200"/>
                </a:cubicBezTo>
                <a:cubicBezTo>
                  <a:pt x="3094037" y="1182688"/>
                  <a:pt x="3971131" y="591344"/>
                  <a:pt x="484822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8" name="Freeform 27"/>
          <p:cNvSpPr/>
          <p:nvPr/>
        </p:nvSpPr>
        <p:spPr bwMode="auto">
          <a:xfrm>
            <a:off x="1733550" y="1028700"/>
            <a:ext cx="4800600" cy="4867275"/>
          </a:xfrm>
          <a:custGeom>
            <a:avLst/>
            <a:gdLst>
              <a:gd name="connsiteX0" fmla="*/ 0 w 4800600"/>
              <a:gd name="connsiteY0" fmla="*/ 4867275 h 4867275"/>
              <a:gd name="connsiteX1" fmla="*/ 1323975 w 4800600"/>
              <a:gd name="connsiteY1" fmla="*/ 1181100 h 4867275"/>
              <a:gd name="connsiteX2" fmla="*/ 4800600 w 4800600"/>
              <a:gd name="connsiteY2" fmla="*/ 0 h 486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800600" h="4867275">
                <a:moveTo>
                  <a:pt x="0" y="4867275"/>
                </a:moveTo>
                <a:cubicBezTo>
                  <a:pt x="261937" y="3429793"/>
                  <a:pt x="523875" y="1992312"/>
                  <a:pt x="1323975" y="1181100"/>
                </a:cubicBezTo>
                <a:cubicBezTo>
                  <a:pt x="2124075" y="369888"/>
                  <a:pt x="3462337" y="184944"/>
                  <a:pt x="4800600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0" name="Freeform 29"/>
          <p:cNvSpPr/>
          <p:nvPr/>
        </p:nvSpPr>
        <p:spPr bwMode="auto">
          <a:xfrm>
            <a:off x="1819275" y="1333500"/>
            <a:ext cx="4752975" cy="4619625"/>
          </a:xfrm>
          <a:custGeom>
            <a:avLst/>
            <a:gdLst>
              <a:gd name="connsiteX0" fmla="*/ 0 w 4752975"/>
              <a:gd name="connsiteY0" fmla="*/ 4619625 h 4619625"/>
              <a:gd name="connsiteX1" fmla="*/ 2790825 w 4752975"/>
              <a:gd name="connsiteY1" fmla="*/ 2400300 h 4619625"/>
              <a:gd name="connsiteX2" fmla="*/ 4752975 w 4752975"/>
              <a:gd name="connsiteY2" fmla="*/ 0 h 4619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752975" h="4619625">
                <a:moveTo>
                  <a:pt x="0" y="4619625"/>
                </a:moveTo>
                <a:cubicBezTo>
                  <a:pt x="999331" y="3894931"/>
                  <a:pt x="1998662" y="3170238"/>
                  <a:pt x="2790825" y="2400300"/>
                </a:cubicBezTo>
                <a:cubicBezTo>
                  <a:pt x="3582988" y="1630362"/>
                  <a:pt x="4167981" y="815181"/>
                  <a:pt x="475297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1" name="Freeform 30"/>
          <p:cNvSpPr/>
          <p:nvPr/>
        </p:nvSpPr>
        <p:spPr bwMode="auto">
          <a:xfrm>
            <a:off x="1905000" y="1609725"/>
            <a:ext cx="4714875" cy="4371975"/>
          </a:xfrm>
          <a:custGeom>
            <a:avLst/>
            <a:gdLst>
              <a:gd name="connsiteX0" fmla="*/ 0 w 4714875"/>
              <a:gd name="connsiteY0" fmla="*/ 4371975 h 4371975"/>
              <a:gd name="connsiteX1" fmla="*/ 3152775 w 4714875"/>
              <a:gd name="connsiteY1" fmla="*/ 2676525 h 4371975"/>
              <a:gd name="connsiteX2" fmla="*/ 4714875 w 4714875"/>
              <a:gd name="connsiteY2" fmla="*/ 0 h 4371975"/>
              <a:gd name="connsiteX3" fmla="*/ 4714875 w 4714875"/>
              <a:gd name="connsiteY3" fmla="*/ 0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14875" h="4371975">
                <a:moveTo>
                  <a:pt x="0" y="4371975"/>
                </a:moveTo>
                <a:cubicBezTo>
                  <a:pt x="1183481" y="3888581"/>
                  <a:pt x="2366963" y="3405187"/>
                  <a:pt x="3152775" y="2676525"/>
                </a:cubicBezTo>
                <a:cubicBezTo>
                  <a:pt x="3938587" y="1947863"/>
                  <a:pt x="4714875" y="0"/>
                  <a:pt x="4714875" y="0"/>
                </a:cubicBezTo>
                <a:lnTo>
                  <a:pt x="4714875" y="0"/>
                </a:ln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2" name="Freeform 31"/>
          <p:cNvSpPr/>
          <p:nvPr/>
        </p:nvSpPr>
        <p:spPr bwMode="auto">
          <a:xfrm>
            <a:off x="2076450" y="1905000"/>
            <a:ext cx="4657725" cy="4086225"/>
          </a:xfrm>
          <a:custGeom>
            <a:avLst/>
            <a:gdLst>
              <a:gd name="connsiteX0" fmla="*/ 0 w 4657725"/>
              <a:gd name="connsiteY0" fmla="*/ 4086225 h 4086225"/>
              <a:gd name="connsiteX1" fmla="*/ 3619500 w 4657725"/>
              <a:gd name="connsiteY1" fmla="*/ 2943225 h 4086225"/>
              <a:gd name="connsiteX2" fmla="*/ 4657725 w 4657725"/>
              <a:gd name="connsiteY2" fmla="*/ 0 h 408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57725" h="4086225">
                <a:moveTo>
                  <a:pt x="0" y="4086225"/>
                </a:moveTo>
                <a:cubicBezTo>
                  <a:pt x="1421606" y="3855243"/>
                  <a:pt x="2843213" y="3624262"/>
                  <a:pt x="3619500" y="2943225"/>
                </a:cubicBezTo>
                <a:cubicBezTo>
                  <a:pt x="4395787" y="2262188"/>
                  <a:pt x="4526756" y="1131094"/>
                  <a:pt x="4657725" y="0"/>
                </a:cubicBezTo>
              </a:path>
            </a:pathLst>
          </a:cu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890120" y="5187677"/>
            <a:ext cx="26917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i="1" dirty="0">
                <a:latin typeface="Times New Roman" pitchFamily="18" charset="0"/>
                <a:cs typeface="Times New Roman" pitchFamily="18" charset="0"/>
              </a:rPr>
              <a:t>y = x</a:t>
            </a:r>
            <a:r>
              <a:rPr lang="en-GB" sz="4000" i="1" baseline="30000" dirty="0">
                <a:latin typeface="Times New Roman" pitchFamily="18" charset="0"/>
                <a:cs typeface="Times New Roman" pitchFamily="18" charset="0"/>
              </a:rPr>
              <a:t>(n &gt; 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45593" y="1066800"/>
            <a:ext cx="24120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i="1" dirty="0">
                <a:latin typeface="Times New Roman" pitchFamily="18" charset="0"/>
                <a:cs typeface="Times New Roman" pitchFamily="18" charset="0"/>
              </a:rPr>
              <a:t>y = x</a:t>
            </a:r>
            <a:r>
              <a:rPr lang="en-GB" sz="4000" i="1" baseline="30000" dirty="0">
                <a:latin typeface="Times New Roman" pitchFamily="18" charset="0"/>
                <a:cs typeface="Times New Roman" pitchFamily="18" charset="0"/>
              </a:rPr>
              <a:t>(n &lt; 1)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5288" y="331788"/>
            <a:ext cx="3243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Power-Based Curves</a:t>
            </a:r>
          </a:p>
        </p:txBody>
      </p:sp>
    </p:spTree>
    <p:extLst>
      <p:ext uri="{BB962C8B-B14F-4D97-AF65-F5344CB8AC3E}">
        <p14:creationId xmlns:p14="http://schemas.microsoft.com/office/powerpoint/2010/main" val="38090103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6958707" y="331788"/>
            <a:ext cx="1063112" cy="6186309"/>
            <a:chOff x="6918255" y="331788"/>
            <a:chExt cx="1063112" cy="6186309"/>
          </a:xfrm>
        </p:grpSpPr>
        <p:sp>
          <p:nvSpPr>
            <p:cNvPr id="9" name="Text Box 9"/>
            <p:cNvSpPr txBox="1">
              <a:spLocks noChangeArrowheads="1"/>
            </p:cNvSpPr>
            <p:nvPr/>
          </p:nvSpPr>
          <p:spPr bwMode="auto">
            <a:xfrm>
              <a:off x="6918255" y="331788"/>
              <a:ext cx="1063112" cy="6186309"/>
            </a:xfrm>
            <a:prstGeom prst="rect">
              <a:avLst/>
            </a:prstGeom>
            <a:solidFill>
              <a:srgbClr val="FFFFCC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tabLst>
                  <a:tab pos="361950" algn="l"/>
                </a:tabLst>
              </a:pPr>
              <a:r>
                <a:rPr lang="en-GB" sz="1200" b="1" dirty="0"/>
                <a:t>32  100000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31	11111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30	11110</a:t>
              </a:r>
            </a:p>
            <a:p>
              <a:pPr defTabSz="361950">
                <a:tabLst>
                  <a:tab pos="361950" algn="l"/>
                </a:tabLst>
              </a:pPr>
              <a:r>
                <a:rPr lang="en-GB" sz="1200" b="1" dirty="0"/>
                <a:t>29	11101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28	11100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27	11011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26	11010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25	11001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24	11000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23	10111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22	10110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21	10101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20	10100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19	10011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18	10010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17	10001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16	10000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15	01111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14	01110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13	01101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12	01100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11	01011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10	01010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9	01001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8	01000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7	00111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6	00110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5	00101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4	00100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3	00011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2	00010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1	00001</a:t>
              </a:r>
            </a:p>
            <a:p>
              <a:pPr>
                <a:tabLst>
                  <a:tab pos="361950" algn="l"/>
                </a:tabLst>
              </a:pPr>
              <a:r>
                <a:rPr lang="en-GB" sz="1200" b="1" dirty="0"/>
                <a:t>  0	00000</a:t>
              </a:r>
            </a:p>
          </p:txBody>
        </p:sp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7207281" y="331788"/>
              <a:ext cx="771365" cy="6186309"/>
            </a:xfrm>
            <a:prstGeom prst="rect">
              <a:avLst/>
            </a:prstGeom>
            <a:solidFill>
              <a:srgbClr val="FFFFCC"/>
            </a:solidFill>
            <a:ln w="9525" algn="ctr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100000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11110</a:t>
              </a:r>
            </a:p>
            <a:p>
              <a:pPr algn="r" defTabSz="361950">
                <a:tabLst>
                  <a:tab pos="361950" algn="l"/>
                </a:tabLst>
              </a:pPr>
              <a:r>
                <a:rPr lang="en-GB" sz="1200" b="1" dirty="0"/>
                <a:t>11101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10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1</a:t>
              </a:r>
            </a:p>
            <a:p>
              <a:pPr algn="r">
                <a:tabLst>
                  <a:tab pos="361950" algn="l"/>
                </a:tabLst>
              </a:pPr>
              <a:r>
                <a:rPr lang="en-GB" sz="1200" b="1" dirty="0"/>
                <a:t>0</a:t>
              </a:r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395288" y="331788"/>
            <a:ext cx="294824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/>
              <a:t>Revision – </a:t>
            </a:r>
          </a:p>
          <a:p>
            <a:r>
              <a:rPr lang="en-GB" sz="2400" b="1" dirty="0"/>
              <a:t>Counting in Binary</a:t>
            </a:r>
          </a:p>
        </p:txBody>
      </p:sp>
      <p:cxnSp>
        <p:nvCxnSpPr>
          <p:cNvPr id="12" name="Straight Connector 11"/>
          <p:cNvCxnSpPr/>
          <p:nvPr/>
        </p:nvCxnSpPr>
        <p:spPr bwMode="auto">
          <a:xfrm>
            <a:off x="5688693" y="5648241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Connector 12"/>
          <p:cNvCxnSpPr/>
          <p:nvPr/>
        </p:nvCxnSpPr>
        <p:spPr bwMode="auto">
          <a:xfrm>
            <a:off x="5704878" y="6028566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/>
          <p:cNvCxnSpPr/>
          <p:nvPr/>
        </p:nvCxnSpPr>
        <p:spPr bwMode="auto">
          <a:xfrm>
            <a:off x="5696785" y="4928049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/>
          <p:cNvCxnSpPr/>
          <p:nvPr/>
        </p:nvCxnSpPr>
        <p:spPr bwMode="auto">
          <a:xfrm>
            <a:off x="5696785" y="3463390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/>
          <p:cNvCxnSpPr/>
          <p:nvPr/>
        </p:nvCxnSpPr>
        <p:spPr bwMode="auto">
          <a:xfrm>
            <a:off x="5688693" y="542165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981281" y="4976602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  <p:cxnSp>
        <p:nvCxnSpPr>
          <p:cNvPr id="19" name="Straight Arrow Connector 18"/>
          <p:cNvCxnSpPr/>
          <p:nvPr/>
        </p:nvCxnSpPr>
        <p:spPr bwMode="auto">
          <a:xfrm flipV="1">
            <a:off x="6190407" y="4976602"/>
            <a:ext cx="0" cy="6473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0" name="Straight Arrow Connector 19"/>
          <p:cNvCxnSpPr/>
          <p:nvPr/>
        </p:nvCxnSpPr>
        <p:spPr bwMode="auto">
          <a:xfrm flipV="1">
            <a:off x="6505996" y="5599688"/>
            <a:ext cx="0" cy="4288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2" name="Straight Arrow Connector 21"/>
          <p:cNvCxnSpPr/>
          <p:nvPr/>
        </p:nvCxnSpPr>
        <p:spPr bwMode="auto">
          <a:xfrm flipV="1">
            <a:off x="6085211" y="566442"/>
            <a:ext cx="8092" cy="288885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3" name="Straight Arrow Connector 22"/>
          <p:cNvCxnSpPr/>
          <p:nvPr/>
        </p:nvCxnSpPr>
        <p:spPr bwMode="auto">
          <a:xfrm flipH="1" flipV="1">
            <a:off x="6473628" y="3487666"/>
            <a:ext cx="16184" cy="14565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7" name="TextBox 26"/>
          <p:cNvSpPr txBox="1"/>
          <p:nvPr/>
        </p:nvSpPr>
        <p:spPr>
          <a:xfrm>
            <a:off x="4296871" y="3981281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8913" y="1666959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</p:spTree>
    <p:extLst>
      <p:ext uri="{BB962C8B-B14F-4D97-AF65-F5344CB8AC3E}">
        <p14:creationId xmlns:p14="http://schemas.microsoft.com/office/powerpoint/2010/main" val="922228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6950615" y="333375"/>
            <a:ext cx="1063112" cy="6186309"/>
          </a:xfrm>
          <a:prstGeom prst="rect">
            <a:avLst/>
          </a:prstGeom>
          <a:solidFill>
            <a:srgbClr val="FFFFCC"/>
          </a:solidFill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GB" sz="1200" b="1" dirty="0"/>
              <a:t>32  100000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31	11111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30	11110</a:t>
            </a:r>
          </a:p>
          <a:p>
            <a:pPr defTabSz="361950">
              <a:tabLst>
                <a:tab pos="361950" algn="l"/>
              </a:tabLst>
            </a:pPr>
            <a:r>
              <a:rPr lang="en-GB" sz="1200" b="1" dirty="0"/>
              <a:t>29	11101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28	11100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27	11011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26	11010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25	11001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24	11000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23	10111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22	10110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21	10101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20	10100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19	10011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18	10010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17	10001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16	10000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15	01111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14	01110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13	01101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12	01100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11	01011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10	01010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9	01001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8	01000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7	00111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6	00110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5	00101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4	00100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3	00011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2	00010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1	00001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0	00000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331788"/>
            <a:ext cx="3561717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Exposure /</a:t>
            </a:r>
          </a:p>
          <a:p>
            <a:r>
              <a:rPr lang="en-GB" sz="2400" b="1" dirty="0"/>
              <a:t>illumination intensity</a:t>
            </a:r>
          </a:p>
          <a:p>
            <a:r>
              <a:rPr lang="en-GB" sz="2400" b="1" dirty="0"/>
              <a:t>against a binary scale</a:t>
            </a:r>
            <a:endParaRPr lang="en-GB" b="1" dirty="0"/>
          </a:p>
          <a:p>
            <a:r>
              <a:rPr lang="en-GB" sz="1800" b="1" dirty="0"/>
              <a:t>(binary leading zeros filled </a:t>
            </a:r>
            <a:r>
              <a:rPr lang="en-GB" sz="1800" b="1"/>
              <a:t>in)</a:t>
            </a:r>
          </a:p>
          <a:p>
            <a:endParaRPr lang="en-GB" sz="1800" b="1"/>
          </a:p>
          <a:p>
            <a:endParaRPr lang="en-GB" sz="1800" b="1"/>
          </a:p>
          <a:p>
            <a:endParaRPr lang="en-GB" sz="1800" b="1"/>
          </a:p>
          <a:p>
            <a:r>
              <a:rPr lang="en-GB"/>
              <a:t>… we have more binary levels towards the “bright end” (smaller apertures) …</a:t>
            </a:r>
          </a:p>
          <a:p>
            <a:r>
              <a:rPr lang="en-GB"/>
              <a:t>… but we need more levels at the lower light levels</a:t>
            </a:r>
          </a:p>
          <a:p>
            <a:r>
              <a:rPr lang="en-GB"/>
              <a:t>.. because we perceive illumination differences better at light lower levels </a:t>
            </a:r>
          </a:p>
        </p:txBody>
      </p:sp>
      <p:cxnSp>
        <p:nvCxnSpPr>
          <p:cNvPr id="5" name="Straight Connector 4"/>
          <p:cNvCxnSpPr/>
          <p:nvPr/>
        </p:nvCxnSpPr>
        <p:spPr bwMode="auto">
          <a:xfrm>
            <a:off x="5680601" y="5648241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/>
          <p:cNvCxnSpPr/>
          <p:nvPr/>
        </p:nvCxnSpPr>
        <p:spPr bwMode="auto">
          <a:xfrm>
            <a:off x="5696786" y="6028566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/>
          <p:cNvCxnSpPr/>
          <p:nvPr/>
        </p:nvCxnSpPr>
        <p:spPr bwMode="auto">
          <a:xfrm>
            <a:off x="5688693" y="4928049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0" name="Straight Connector 9"/>
          <p:cNvCxnSpPr/>
          <p:nvPr/>
        </p:nvCxnSpPr>
        <p:spPr bwMode="auto">
          <a:xfrm>
            <a:off x="5688693" y="3463390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Connector 10"/>
          <p:cNvCxnSpPr/>
          <p:nvPr/>
        </p:nvCxnSpPr>
        <p:spPr bwMode="auto">
          <a:xfrm>
            <a:off x="5680601" y="542165"/>
            <a:ext cx="2330506" cy="8092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2" name="TextBox 11"/>
          <p:cNvSpPr txBox="1"/>
          <p:nvPr/>
        </p:nvSpPr>
        <p:spPr>
          <a:xfrm>
            <a:off x="8011107" y="404616"/>
            <a:ext cx="79302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 dirty="0">
                <a:solidFill>
                  <a:srgbClr val="FF0000"/>
                </a:solidFill>
              </a:rPr>
              <a:t>f 11</a:t>
            </a: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r>
              <a:rPr lang="en-GB" b="1" i="1" dirty="0">
                <a:solidFill>
                  <a:srgbClr val="FF0000"/>
                </a:solidFill>
              </a:rPr>
              <a:t>f 8</a:t>
            </a: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r>
              <a:rPr lang="en-GB" b="1" i="1" dirty="0">
                <a:solidFill>
                  <a:srgbClr val="FF0000"/>
                </a:solidFill>
              </a:rPr>
              <a:t>f 5.6</a:t>
            </a:r>
          </a:p>
          <a:p>
            <a:endParaRPr lang="en-GB" b="1" i="1" dirty="0">
              <a:solidFill>
                <a:srgbClr val="FF0000"/>
              </a:solidFill>
            </a:endParaRPr>
          </a:p>
          <a:p>
            <a:endParaRPr lang="en-GB" b="1" i="1" dirty="0">
              <a:solidFill>
                <a:srgbClr val="FF0000"/>
              </a:solidFill>
            </a:endParaRPr>
          </a:p>
          <a:p>
            <a:r>
              <a:rPr lang="en-GB" b="1" i="1" dirty="0">
                <a:solidFill>
                  <a:srgbClr val="FF0000"/>
                </a:solidFill>
              </a:rPr>
              <a:t>f 4</a:t>
            </a:r>
          </a:p>
          <a:p>
            <a:pPr>
              <a:lnSpc>
                <a:spcPct val="150000"/>
              </a:lnSpc>
            </a:pPr>
            <a:r>
              <a:rPr lang="en-GB" b="1" i="1" dirty="0">
                <a:solidFill>
                  <a:srgbClr val="FF0000"/>
                </a:solidFill>
              </a:rPr>
              <a:t>f 2.8</a:t>
            </a:r>
          </a:p>
          <a:p>
            <a:endParaRPr lang="en-GB" b="1" i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81281" y="4976602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  <p:cxnSp>
        <p:nvCxnSpPr>
          <p:cNvPr id="14" name="Straight Arrow Connector 13"/>
          <p:cNvCxnSpPr/>
          <p:nvPr/>
        </p:nvCxnSpPr>
        <p:spPr bwMode="auto">
          <a:xfrm flipV="1">
            <a:off x="6190407" y="4976602"/>
            <a:ext cx="0" cy="647363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V="1">
            <a:off x="6505996" y="5599688"/>
            <a:ext cx="0" cy="428880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V="1">
            <a:off x="6085211" y="566442"/>
            <a:ext cx="8092" cy="2888857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 flipV="1">
            <a:off x="6473628" y="3487666"/>
            <a:ext cx="16184" cy="1456568"/>
          </a:xfrm>
          <a:prstGeom prst="straightConnector1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4296871" y="3981281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48913" y="1666959"/>
            <a:ext cx="21443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doubling in value over previous step</a:t>
            </a:r>
          </a:p>
        </p:txBody>
      </p:sp>
    </p:spTree>
    <p:extLst>
      <p:ext uri="{BB962C8B-B14F-4D97-AF65-F5344CB8AC3E}">
        <p14:creationId xmlns:p14="http://schemas.microsoft.com/office/powerpoint/2010/main" val="4259911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ChangeArrowheads="1"/>
          </p:cNvSpPr>
          <p:nvPr/>
        </p:nvSpPr>
        <p:spPr bwMode="auto">
          <a:xfrm>
            <a:off x="388937" y="1268760"/>
            <a:ext cx="7417072" cy="1676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ts val="2500"/>
              </a:lnSpc>
            </a:pPr>
            <a:r>
              <a:rPr lang="en-GB"/>
              <a:t>Imagine </a:t>
            </a:r>
            <a:r>
              <a:rPr lang="en-GB" dirty="0"/>
              <a:t>one lit candle in a dark room</a:t>
            </a:r>
          </a:p>
          <a:p>
            <a:pPr marL="180975" indent="-180975">
              <a:lnSpc>
                <a:spcPts val="2500"/>
              </a:lnSpc>
              <a:buFont typeface="Arial" charset="0"/>
              <a:buChar char="•"/>
            </a:pPr>
            <a:r>
              <a:rPr lang="en-GB" dirty="0"/>
              <a:t>If we light fifteen additional candles, one at a time, the sequence of total candles lit looks like this:</a:t>
            </a:r>
          </a:p>
          <a:p>
            <a:pPr marL="180975" indent="-180975">
              <a:lnSpc>
                <a:spcPts val="2500"/>
              </a:lnSpc>
              <a:buFont typeface="Arial" charset="0"/>
              <a:buChar char="•"/>
            </a:pPr>
            <a:r>
              <a:rPr lang="en-GB" dirty="0"/>
              <a:t>candles - 1   2   3   4   5   6   7   8   9  10  11  12  13  14  15  16</a:t>
            </a:r>
          </a:p>
          <a:p>
            <a:pPr marL="180975" indent="-180975">
              <a:lnSpc>
                <a:spcPts val="2500"/>
              </a:lnSpc>
            </a:pPr>
            <a:endParaRPr lang="en-GB" dirty="0"/>
          </a:p>
        </p:txBody>
      </p:sp>
      <p:sp>
        <p:nvSpPr>
          <p:cNvPr id="14339" name="TextBox 2"/>
          <p:cNvSpPr txBox="1">
            <a:spLocks noChangeArrowheads="1"/>
          </p:cNvSpPr>
          <p:nvPr/>
        </p:nvSpPr>
        <p:spPr bwMode="auto">
          <a:xfrm>
            <a:off x="388937" y="331788"/>
            <a:ext cx="5583580" cy="7457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180975" indent="-180975">
              <a:lnSpc>
                <a:spcPts val="2500"/>
              </a:lnSpc>
            </a:pPr>
            <a:r>
              <a:rPr lang="en-GB" sz="2400" b="1" dirty="0"/>
              <a:t>Our Eyes Perceive Brightness Levels </a:t>
            </a:r>
          </a:p>
          <a:p>
            <a:pPr marL="180975" indent="-180975">
              <a:lnSpc>
                <a:spcPts val="2500"/>
              </a:lnSpc>
            </a:pPr>
            <a:r>
              <a:rPr lang="en-GB" sz="2400" b="1" dirty="0"/>
              <a:t>In a Logarithmic Manner</a:t>
            </a:r>
          </a:p>
        </p:txBody>
      </p:sp>
      <p:pic>
        <p:nvPicPr>
          <p:cNvPr id="1434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1639" y="3657601"/>
            <a:ext cx="4522361" cy="3200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388937" y="3494123"/>
            <a:ext cx="4327079" cy="2336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500"/>
              </a:lnSpc>
            </a:pPr>
            <a:r>
              <a:rPr lang="en-GB" dirty="0"/>
              <a:t>At sixteenth candle - might assume the room would appear to be sixteen times as bright as it did with one candle lit</a:t>
            </a:r>
          </a:p>
          <a:p>
            <a:pPr marL="180975" indent="-180975">
              <a:lnSpc>
                <a:spcPts val="2500"/>
              </a:lnSpc>
              <a:buFont typeface="Arial" charset="0"/>
              <a:buChar char="•"/>
            </a:pPr>
            <a:r>
              <a:rPr lang="en-GB" dirty="0"/>
              <a:t>however, the eye perceives light levels in logarithmic values</a:t>
            </a:r>
          </a:p>
          <a:p>
            <a:pPr marL="180975" indent="-180975">
              <a:lnSpc>
                <a:spcPts val="2500"/>
              </a:lnSpc>
              <a:buFont typeface="Arial" charset="0"/>
              <a:buChar char="•"/>
            </a:pPr>
            <a:r>
              <a:rPr lang="en-GB" dirty="0"/>
              <a:t>room appears just 5x as bright compared to the first candle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1594294" y="261397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1945423" y="261397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238032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559901" y="261397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0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896400" y="2599348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218268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3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554768" y="259934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862007" y="259934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205821" y="259934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6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535005" y="262129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7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915395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8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5325047" y="261397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5720067" y="2599349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0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115088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480849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2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919761" y="2606664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9321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388937" y="331788"/>
            <a:ext cx="4852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Linear and Logarithmic Gamma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95288" y="806227"/>
            <a:ext cx="8248650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b="1" dirty="0"/>
              <a:t>Logarithmic change means </a:t>
            </a:r>
          </a:p>
          <a:p>
            <a:pPr marL="180975" indent="-180975">
              <a:lnSpc>
                <a:spcPts val="2400"/>
              </a:lnSpc>
              <a:buFont typeface="Arial" charset="0"/>
              <a:buChar char="•"/>
            </a:pPr>
            <a:r>
              <a:rPr lang="en-GB" dirty="0"/>
              <a:t>the apparent change in brightness between one candle and two ...</a:t>
            </a:r>
          </a:p>
          <a:p>
            <a:pPr marL="180975" indent="-180975">
              <a:lnSpc>
                <a:spcPts val="2400"/>
              </a:lnSpc>
            </a:pPr>
            <a:r>
              <a:rPr lang="en-GB" dirty="0"/>
              <a:t>	(in our eyes) same as between two candles and four ...</a:t>
            </a:r>
          </a:p>
          <a:p>
            <a:pPr marL="638175" lvl="1" indent="-180975">
              <a:lnSpc>
                <a:spcPts val="2400"/>
              </a:lnSpc>
              <a:buFont typeface="Arial" charset="0"/>
              <a:buChar char="•"/>
            </a:pPr>
            <a:r>
              <a:rPr lang="en-GB" dirty="0"/>
              <a:t>four candles to eight ... same brightness increase </a:t>
            </a:r>
          </a:p>
          <a:p>
            <a:pPr marL="638175" lvl="1" indent="-180975">
              <a:lnSpc>
                <a:spcPts val="2400"/>
              </a:lnSpc>
              <a:buFont typeface="Arial" charset="0"/>
              <a:buChar char="•"/>
            </a:pPr>
            <a:r>
              <a:rPr lang="en-GB" dirty="0"/>
              <a:t>eight to sixteen ... same brightness increase </a:t>
            </a:r>
          </a:p>
          <a:p>
            <a:pPr marL="180975" indent="-180975">
              <a:buFont typeface="Arial" charset="0"/>
              <a:buChar char="•"/>
            </a:pPr>
            <a:endParaRPr lang="en-GB" dirty="0"/>
          </a:p>
          <a:p>
            <a:pPr marL="180975" indent="-180975">
              <a:buFont typeface="Arial" charset="0"/>
              <a:buChar char="•"/>
            </a:pPr>
            <a:r>
              <a:rPr lang="en-GB" dirty="0"/>
              <a:t>candles - </a:t>
            </a:r>
            <a:r>
              <a:rPr lang="en-GB"/>
              <a:t>1   2  3   4    5   6   7   8   9  </a:t>
            </a:r>
            <a:r>
              <a:rPr lang="en-GB" dirty="0"/>
              <a:t>10  11  12  13  14  15  16</a:t>
            </a:r>
          </a:p>
          <a:p>
            <a:pPr marL="180975" indent="-180975"/>
            <a:endParaRPr lang="en-GB" dirty="0"/>
          </a:p>
          <a:p>
            <a:pPr marL="180975" indent="-180975"/>
            <a:endParaRPr lang="en-GB" dirty="0"/>
          </a:p>
          <a:p>
            <a:pPr marL="180975" indent="-180975"/>
            <a:endParaRPr lang="en-GB" dirty="0"/>
          </a:p>
          <a:p>
            <a:pPr marL="180975" indent="-180975"/>
            <a:r>
              <a:rPr lang="en-GB" dirty="0"/>
              <a:t>   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59626" y="3562503"/>
            <a:ext cx="4684374" cy="32954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7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1594294" y="289806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39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1945423" y="289806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4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238032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5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559901" y="289806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6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2896400" y="2883436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7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218268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8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554768" y="288343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9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3862007" y="288343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0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205821" y="288343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1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535005" y="290538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2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4915395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3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5325047" y="289806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4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5720067" y="2883437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115088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6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480849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7" name="Picture 4"/>
          <p:cNvPicPr>
            <a:picLocks noChangeAspect="1" noChangeArrowheads="1"/>
          </p:cNvPicPr>
          <p:nvPr/>
        </p:nvPicPr>
        <p:blipFill>
          <a:blip r:embed="rId3" cstate="print"/>
          <a:srcRect l="22580"/>
          <a:stretch>
            <a:fillRect/>
          </a:stretch>
        </p:blipFill>
        <p:spPr bwMode="auto">
          <a:xfrm>
            <a:off x="6919761" y="2890752"/>
            <a:ext cx="180975" cy="5810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4" name="Rectangle 13"/>
          <p:cNvSpPr/>
          <p:nvPr/>
        </p:nvSpPr>
        <p:spPr>
          <a:xfrm>
            <a:off x="388936" y="4923113"/>
            <a:ext cx="31658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perceived brightness </a:t>
            </a:r>
            <a:r>
              <a:rPr lang="en-GB" i="1"/>
              <a:t>increase</a:t>
            </a:r>
            <a:r>
              <a:rPr lang="en-GB"/>
              <a:t>    is </a:t>
            </a:r>
            <a:r>
              <a:rPr lang="en-GB" dirty="0"/>
              <a:t>the same</a:t>
            </a:r>
          </a:p>
        </p:txBody>
      </p:sp>
      <p:pic>
        <p:nvPicPr>
          <p:cNvPr id="26" name="Picture 3" descr="C:\Users\jdfoss\Desktop\Clipboard01.gif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347804" y="3329285"/>
            <a:ext cx="506891" cy="1448344"/>
          </a:xfrm>
          <a:prstGeom prst="rect">
            <a:avLst/>
          </a:prstGeom>
          <a:noFill/>
        </p:spPr>
      </p:pic>
      <p:pic>
        <p:nvPicPr>
          <p:cNvPr id="28" name="Picture 3" descr="C:\Users\jdfoss\Desktop\Clipboard01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1699857" y="3326213"/>
            <a:ext cx="506891" cy="1448344"/>
          </a:xfrm>
          <a:prstGeom prst="rect">
            <a:avLst/>
          </a:prstGeom>
          <a:noFill/>
        </p:spPr>
      </p:pic>
      <p:pic>
        <p:nvPicPr>
          <p:cNvPr id="30" name="Picture 3" descr="C:\Users\jdfoss\Desktop\Clipboard01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308356" y="3336082"/>
            <a:ext cx="506891" cy="1448344"/>
          </a:xfrm>
          <a:prstGeom prst="rect">
            <a:avLst/>
          </a:prstGeom>
          <a:noFill/>
        </p:spPr>
      </p:pic>
      <p:pic>
        <p:nvPicPr>
          <p:cNvPr id="32" name="Picture 3" descr="C:\Users\jdfoss\Desktop\Clipboard01.gif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603840" y="3326213"/>
            <a:ext cx="506891" cy="1448344"/>
          </a:xfrm>
          <a:prstGeom prst="rect">
            <a:avLst/>
          </a:prstGeom>
          <a:noFill/>
        </p:spPr>
      </p:pic>
      <p:grpSp>
        <p:nvGrpSpPr>
          <p:cNvPr id="10" name="Group 9"/>
          <p:cNvGrpSpPr/>
          <p:nvPr/>
        </p:nvGrpSpPr>
        <p:grpSpPr>
          <a:xfrm>
            <a:off x="6658410" y="3288639"/>
            <a:ext cx="506891" cy="1448344"/>
            <a:chOff x="6112042" y="2876893"/>
            <a:chExt cx="506891" cy="1448344"/>
          </a:xfrm>
        </p:grpSpPr>
        <p:sp>
          <p:nvSpPr>
            <p:cNvPr id="2" name="Freeform: Shape 1"/>
            <p:cNvSpPr/>
            <p:nvPr/>
          </p:nvSpPr>
          <p:spPr bwMode="auto">
            <a:xfrm>
              <a:off x="6275672" y="3397718"/>
              <a:ext cx="288757" cy="904775"/>
            </a:xfrm>
            <a:custGeom>
              <a:avLst/>
              <a:gdLst>
                <a:gd name="connsiteX0" fmla="*/ 9625 w 288757"/>
                <a:gd name="connsiteY0" fmla="*/ 837398 h 904775"/>
                <a:gd name="connsiteX1" fmla="*/ 48126 w 288757"/>
                <a:gd name="connsiteY1" fmla="*/ 904775 h 904775"/>
                <a:gd name="connsiteX2" fmla="*/ 221381 w 288757"/>
                <a:gd name="connsiteY2" fmla="*/ 904775 h 904775"/>
                <a:gd name="connsiteX3" fmla="*/ 288757 w 288757"/>
                <a:gd name="connsiteY3" fmla="*/ 866274 h 904775"/>
                <a:gd name="connsiteX4" fmla="*/ 279132 w 288757"/>
                <a:gd name="connsiteY4" fmla="*/ 471638 h 904775"/>
                <a:gd name="connsiteX5" fmla="*/ 221381 w 288757"/>
                <a:gd name="connsiteY5" fmla="*/ 38501 h 904775"/>
                <a:gd name="connsiteX6" fmla="*/ 38501 w 288757"/>
                <a:gd name="connsiteY6" fmla="*/ 0 h 904775"/>
                <a:gd name="connsiteX7" fmla="*/ 0 w 288757"/>
                <a:gd name="connsiteY7" fmla="*/ 770021 h 9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8757" h="904775">
                  <a:moveTo>
                    <a:pt x="9625" y="837398"/>
                  </a:moveTo>
                  <a:lnTo>
                    <a:pt x="48126" y="904775"/>
                  </a:lnTo>
                  <a:lnTo>
                    <a:pt x="221381" y="904775"/>
                  </a:lnTo>
                  <a:lnTo>
                    <a:pt x="288757" y="866274"/>
                  </a:lnTo>
                  <a:lnTo>
                    <a:pt x="279132" y="471638"/>
                  </a:lnTo>
                  <a:lnTo>
                    <a:pt x="221381" y="38501"/>
                  </a:lnTo>
                  <a:lnTo>
                    <a:pt x="38501" y="0"/>
                  </a:lnTo>
                  <a:lnTo>
                    <a:pt x="0" y="770021"/>
                  </a:lnTo>
                </a:path>
              </a:pathLst>
            </a:cu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Lucida Sans Unicode" pitchFamily="34" charset="0"/>
              </a:endParaRPr>
            </a:p>
          </p:txBody>
        </p:sp>
        <p:pic>
          <p:nvPicPr>
            <p:cNvPr id="3075" name="Picture 3" descr="C:\Users\jdfoss\Desktop\Clipboard01.gif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rightnessContrast bright="-20000" contrast="2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12042" y="2876893"/>
              <a:ext cx="506891" cy="1448344"/>
            </a:xfrm>
            <a:prstGeom prst="rect">
              <a:avLst/>
            </a:prstGeom>
            <a:noFill/>
          </p:spPr>
        </p:pic>
      </p:grpSp>
      <p:pic>
        <p:nvPicPr>
          <p:cNvPr id="35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 flipH="1">
            <a:off x="395288" y="3678059"/>
            <a:ext cx="936693" cy="53660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36" name="Rectangle 35"/>
          <p:cNvSpPr/>
          <p:nvPr/>
        </p:nvSpPr>
        <p:spPr>
          <a:xfrm>
            <a:off x="335550" y="4151022"/>
            <a:ext cx="12910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/>
              <a:t>… the eye sees as …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3612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 bwMode="auto">
          <a:xfrm>
            <a:off x="395288" y="3648974"/>
            <a:ext cx="5032590" cy="1216324"/>
          </a:xfrm>
          <a:prstGeom prst="roundRect">
            <a:avLst>
              <a:gd name="adj" fmla="val 8156"/>
            </a:avLst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>
            <a:off x="395288" y="4941168"/>
            <a:ext cx="4918584" cy="1512168"/>
          </a:xfrm>
          <a:prstGeom prst="roundRect">
            <a:avLst/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807119"/>
            <a:ext cx="8222018" cy="2349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GB" b="1" i="1" dirty="0"/>
              <a:t>Looking at it the other way …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In order for the eye to see </a:t>
            </a:r>
            <a:r>
              <a:rPr lang="en-GB" u="sng" dirty="0"/>
              <a:t>four equal steps increase</a:t>
            </a:r>
            <a:r>
              <a:rPr lang="en-GB" dirty="0"/>
              <a:t> of brightness: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1→2  → 3 →4</a:t>
            </a:r>
          </a:p>
          <a:p>
            <a:pPr marL="180975" indent="-180975">
              <a:lnSpc>
                <a:spcPts val="2200"/>
              </a:lnSpc>
              <a:defRPr/>
            </a:pPr>
            <a:r>
              <a:rPr lang="en-GB" dirty="0"/>
              <a:t> 	... we need to light the following numbers of candles: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1→2, 4, 8, 16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endParaRPr lang="en-GB" dirty="0"/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endParaRPr lang="en-GB" dirty="0"/>
          </a:p>
          <a:p>
            <a:pPr>
              <a:lnSpc>
                <a:spcPts val="2200"/>
              </a:lnSpc>
              <a:defRPr/>
            </a:pPr>
            <a:endParaRPr lang="en-GB" dirty="0"/>
          </a:p>
        </p:txBody>
      </p:sp>
      <p:sp>
        <p:nvSpPr>
          <p:cNvPr id="15363" name="TextBox 3"/>
          <p:cNvSpPr txBox="1">
            <a:spLocks noChangeArrowheads="1"/>
          </p:cNvSpPr>
          <p:nvPr/>
        </p:nvSpPr>
        <p:spPr bwMode="auto">
          <a:xfrm>
            <a:off x="323850" y="331788"/>
            <a:ext cx="4852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Linear and Logarithmic Gamma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 l="13675" r="16352"/>
          <a:stretch>
            <a:fillRect/>
          </a:stretch>
        </p:blipFill>
        <p:spPr bwMode="auto">
          <a:xfrm>
            <a:off x="5427878" y="2874904"/>
            <a:ext cx="3716122" cy="3983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7338" y="2246578"/>
            <a:ext cx="226829" cy="70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0686" y="2246578"/>
            <a:ext cx="226829" cy="70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2088" y="2246578"/>
            <a:ext cx="226829" cy="70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6642" y="2253893"/>
            <a:ext cx="226829" cy="705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395288" y="3025843"/>
            <a:ext cx="5200841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  <a:defRPr/>
            </a:pPr>
            <a:r>
              <a:rPr lang="en-GB" b="1" dirty="0"/>
              <a:t>The logarithmic steps get bigger as the room appears brighter …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eyes are very good at detecting small steps in dark and mid-tones 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but the brightness steps get much bigger when we look at bright objects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endParaRPr lang="en-GB" dirty="0"/>
          </a:p>
          <a:p>
            <a:pPr marL="180975" indent="-180975">
              <a:lnSpc>
                <a:spcPts val="2200"/>
              </a:lnSpc>
              <a:defRPr/>
            </a:pPr>
            <a:r>
              <a:rPr lang="en-GB" b="1" i="1" dirty="0"/>
              <a:t>… however, camera sensor has </a:t>
            </a:r>
            <a:r>
              <a:rPr lang="en-GB" b="1" i="1" u="sng" dirty="0"/>
              <a:t>linear</a:t>
            </a:r>
            <a:r>
              <a:rPr lang="en-GB" b="1" i="1" dirty="0"/>
              <a:t> response</a:t>
            </a:r>
          </a:p>
          <a:p>
            <a:pPr marL="180975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i="1" dirty="0"/>
              <a:t>binary coding effectively </a:t>
            </a:r>
            <a:r>
              <a:rPr lang="en-GB" dirty="0"/>
              <a:t>allocates: 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most (smallest) steps to highlights </a:t>
            </a:r>
          </a:p>
          <a:p>
            <a:pPr marL="638175" lvl="1" indent="-180975">
              <a:lnSpc>
                <a:spcPts val="2200"/>
              </a:lnSpc>
              <a:buFont typeface="Arial" pitchFamily="34" charset="0"/>
              <a:buChar char="•"/>
              <a:defRPr/>
            </a:pPr>
            <a:r>
              <a:rPr lang="en-GB" dirty="0"/>
              <a:t>least (biggest) steps to mid-tones and shadows</a:t>
            </a:r>
          </a:p>
        </p:txBody>
      </p:sp>
    </p:spTree>
    <p:extLst>
      <p:ext uri="{BB962C8B-B14F-4D97-AF65-F5344CB8AC3E}">
        <p14:creationId xmlns:p14="http://schemas.microsoft.com/office/powerpoint/2010/main" val="2702813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059832" y="548680"/>
            <a:ext cx="330571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4400" b="1" dirty="0">
                <a:solidFill>
                  <a:srgbClr val="FFFF00"/>
                </a:solidFill>
              </a:rPr>
              <a:t>Gamma (</a:t>
            </a:r>
            <a:r>
              <a:rPr lang="en-GB" sz="4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</a:t>
            </a:r>
            <a:r>
              <a:rPr lang="en-GB" sz="4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536" y="1340768"/>
            <a:ext cx="6742551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Aim: </a:t>
            </a:r>
          </a:p>
          <a:p>
            <a:r>
              <a:rPr lang="en-GB" dirty="0">
                <a:solidFill>
                  <a:srgbClr val="FFFF00"/>
                </a:solidFill>
              </a:rPr>
              <a:t>To </a:t>
            </a:r>
            <a:r>
              <a:rPr lang="en-GB" u="sng" dirty="0">
                <a:solidFill>
                  <a:srgbClr val="FFFF00"/>
                </a:solidFill>
              </a:rPr>
              <a:t>optimise</a:t>
            </a:r>
            <a:r>
              <a:rPr lang="en-GB" dirty="0">
                <a:solidFill>
                  <a:srgbClr val="FFFF00"/>
                </a:solidFill>
              </a:rPr>
              <a:t> the use of all the digital codes used in digital imaging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b="1" dirty="0">
                <a:solidFill>
                  <a:srgbClr val="FFFF00"/>
                </a:solidFill>
              </a:rPr>
              <a:t>Problem: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The eye perceives light intensity in a </a:t>
            </a:r>
            <a:r>
              <a:rPr lang="en-GB" b="1" i="1" dirty="0">
                <a:solidFill>
                  <a:srgbClr val="FFFF00"/>
                </a:solidFill>
              </a:rPr>
              <a:t>logarithmic</a:t>
            </a:r>
            <a:r>
              <a:rPr lang="en-GB" dirty="0">
                <a:solidFill>
                  <a:srgbClr val="FFFF00"/>
                </a:solidFill>
              </a:rPr>
              <a:t> manner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The digital sensor captures light intensity in </a:t>
            </a:r>
            <a:r>
              <a:rPr lang="en-GB" b="1" i="1" dirty="0">
                <a:solidFill>
                  <a:srgbClr val="FFFF00"/>
                </a:solidFill>
              </a:rPr>
              <a:t>linear</a:t>
            </a:r>
            <a:r>
              <a:rPr lang="en-GB" dirty="0">
                <a:solidFill>
                  <a:srgbClr val="FFFF00"/>
                </a:solidFill>
              </a:rPr>
              <a:t> manner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... and stores these in a range of binary codes from 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00000000000000  = 0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00000000000001  = 1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00000000000000  = 2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... etc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...</a:t>
            </a:r>
          </a:p>
          <a:p>
            <a:pPr marL="180975" indent="-180975"/>
            <a:r>
              <a:rPr lang="en-GB" dirty="0">
                <a:solidFill>
                  <a:srgbClr val="FFFF00"/>
                </a:solidFill>
              </a:rPr>
              <a:t>		...</a:t>
            </a:r>
          </a:p>
          <a:p>
            <a:pPr marL="180975" indent="-180975">
              <a:tabLst>
                <a:tab pos="361950" algn="l"/>
              </a:tabLst>
            </a:pPr>
            <a:r>
              <a:rPr lang="en-GB" dirty="0">
                <a:solidFill>
                  <a:srgbClr val="FFFF00"/>
                </a:solidFill>
              </a:rPr>
              <a:t>		to	11111111111111  = 16,384 ... for a 14 bit sensor</a:t>
            </a:r>
          </a:p>
          <a:p>
            <a:pPr marL="180975" indent="-180975">
              <a:tabLst>
                <a:tab pos="361950" algn="l"/>
              </a:tabLst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tabLst>
                <a:tab pos="361950" algn="l"/>
              </a:tabLst>
            </a:pPr>
            <a:r>
              <a:rPr lang="en-GB" dirty="0">
                <a:solidFill>
                  <a:srgbClr val="FFFF00"/>
                </a:solidFill>
              </a:rPr>
              <a:t>...	or	1111111111111111 = 65,536 ... for a 16 bit sensor</a:t>
            </a:r>
          </a:p>
          <a:p>
            <a:pPr>
              <a:tabLst>
                <a:tab pos="361950" algn="l"/>
              </a:tabLst>
            </a:pPr>
            <a:r>
              <a:rPr lang="en-GB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44008" y="5661248"/>
            <a:ext cx="435699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GB" sz="1100" b="1" dirty="0">
                <a:solidFill>
                  <a:srgbClr val="FFFF00"/>
                </a:solidFill>
              </a:rPr>
              <a:t>Debate:  is 16 bit better than 14 bit?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sz="1100" dirty="0">
                <a:solidFill>
                  <a:srgbClr val="FFFF00"/>
                </a:solidFill>
              </a:rPr>
              <a:t>digital noise overwhelms the extra bit depth. Slicing the data more finely than the level of noise means that the extra bit depth doesn't contribute to image quality</a:t>
            </a:r>
          </a:p>
          <a:p>
            <a:pPr marL="180975" indent="-180975"/>
            <a:r>
              <a:rPr lang="en-GB" sz="800" dirty="0">
                <a:solidFill>
                  <a:srgbClr val="FFFF00"/>
                </a:solidFill>
              </a:rPr>
              <a:t>	http://theory.uchicago.edu/~ejm/pix/20d/tests/noise/noise-p3.html#bitdepth </a:t>
            </a:r>
          </a:p>
        </p:txBody>
      </p:sp>
    </p:spTree>
    <p:extLst>
      <p:ext uri="{BB962C8B-B14F-4D97-AF65-F5344CB8AC3E}">
        <p14:creationId xmlns:p14="http://schemas.microsoft.com/office/powerpoint/2010/main" val="26822841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1"/>
          <p:cNvSpPr>
            <a:spLocks noChangeArrowheads="1"/>
          </p:cNvSpPr>
          <p:nvPr/>
        </p:nvSpPr>
        <p:spPr bwMode="auto">
          <a:xfrm>
            <a:off x="1485901" y="1331913"/>
            <a:ext cx="2143124" cy="3323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1400" dirty="0"/>
              <a:t>16,384	</a:t>
            </a:r>
          </a:p>
          <a:p>
            <a:r>
              <a:rPr lang="en-GB" sz="1400" dirty="0"/>
              <a:t>8,192-16,383	</a:t>
            </a:r>
          </a:p>
          <a:p>
            <a:r>
              <a:rPr lang="en-GB" sz="1400" dirty="0"/>
              <a:t>4,096-8,191	</a:t>
            </a:r>
          </a:p>
          <a:p>
            <a:r>
              <a:rPr lang="en-GB" sz="1400" dirty="0"/>
              <a:t>2,048-4,095	</a:t>
            </a:r>
          </a:p>
          <a:p>
            <a:r>
              <a:rPr lang="en-GB" sz="1400" dirty="0"/>
              <a:t>1,024-2,047	</a:t>
            </a:r>
          </a:p>
          <a:p>
            <a:r>
              <a:rPr lang="en-GB" sz="1400" dirty="0"/>
              <a:t>512-1,023	</a:t>
            </a:r>
          </a:p>
          <a:p>
            <a:r>
              <a:rPr lang="en-GB" sz="1400" dirty="0"/>
              <a:t>256-511	  </a:t>
            </a:r>
          </a:p>
          <a:p>
            <a:r>
              <a:rPr lang="en-GB" sz="1400" dirty="0"/>
              <a:t>128-255		</a:t>
            </a:r>
          </a:p>
          <a:p>
            <a:r>
              <a:rPr lang="en-GB" sz="1400" dirty="0"/>
              <a:t>64-127		</a:t>
            </a:r>
          </a:p>
          <a:p>
            <a:r>
              <a:rPr lang="en-GB" sz="1400" dirty="0"/>
              <a:t>32-63	  </a:t>
            </a:r>
          </a:p>
          <a:p>
            <a:r>
              <a:rPr lang="en-GB" sz="1400" dirty="0"/>
              <a:t>16-31		</a:t>
            </a:r>
          </a:p>
          <a:p>
            <a:r>
              <a:rPr lang="en-GB" sz="1400" dirty="0"/>
              <a:t>8-15		</a:t>
            </a:r>
          </a:p>
          <a:p>
            <a:r>
              <a:rPr lang="en-GB" sz="1400" dirty="0"/>
              <a:t>4-7		</a:t>
            </a:r>
          </a:p>
          <a:p>
            <a:r>
              <a:rPr lang="en-GB" sz="1400" dirty="0"/>
              <a:t>2-6		</a:t>
            </a:r>
          </a:p>
          <a:p>
            <a:r>
              <a:rPr lang="en-GB" sz="1400" dirty="0"/>
              <a:t>1-2		</a:t>
            </a:r>
          </a:p>
        </p:txBody>
      </p:sp>
      <p:sp>
        <p:nvSpPr>
          <p:cNvPr id="64" name="TextBox 63"/>
          <p:cNvSpPr txBox="1"/>
          <p:nvPr/>
        </p:nvSpPr>
        <p:spPr bwMode="auto">
          <a:xfrm>
            <a:off x="430213" y="4033838"/>
            <a:ext cx="1187450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800" dirty="0"/>
              <a:t>00000000000100</a:t>
            </a:r>
          </a:p>
          <a:p>
            <a:pPr>
              <a:defRPr/>
            </a:pPr>
            <a:r>
              <a:rPr lang="en-GB" sz="800" dirty="0"/>
              <a:t>00000000000011</a:t>
            </a:r>
          </a:p>
          <a:p>
            <a:pPr>
              <a:defRPr/>
            </a:pPr>
            <a:r>
              <a:rPr lang="en-GB" sz="800" dirty="0"/>
              <a:t>00000000000001</a:t>
            </a:r>
          </a:p>
          <a:p>
            <a:pPr>
              <a:defRPr/>
            </a:pPr>
            <a:r>
              <a:rPr lang="en-GB" sz="800" dirty="0"/>
              <a:t>00000000000000</a:t>
            </a:r>
            <a:endParaRPr lang="en-GB" sz="1050" dirty="0"/>
          </a:p>
        </p:txBody>
      </p:sp>
      <p:sp>
        <p:nvSpPr>
          <p:cNvPr id="65" name="TextBox 64"/>
          <p:cNvSpPr txBox="1"/>
          <p:nvPr/>
        </p:nvSpPr>
        <p:spPr bwMode="auto">
          <a:xfrm>
            <a:off x="430213" y="1333500"/>
            <a:ext cx="1100137" cy="746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GB" sz="800" dirty="0"/>
              <a:t>11111111111111</a:t>
            </a:r>
          </a:p>
          <a:p>
            <a:pPr>
              <a:defRPr/>
            </a:pPr>
            <a:r>
              <a:rPr lang="en-GB" sz="800" dirty="0"/>
              <a:t>11111111111110</a:t>
            </a:r>
          </a:p>
          <a:p>
            <a:pPr>
              <a:defRPr/>
            </a:pPr>
            <a:r>
              <a:rPr lang="en-GB" sz="800" dirty="0"/>
              <a:t>11111111111101</a:t>
            </a:r>
          </a:p>
          <a:p>
            <a:pPr>
              <a:defRPr/>
            </a:pPr>
            <a:r>
              <a:rPr lang="en-GB" sz="800" dirty="0"/>
              <a:t>11111111111100</a:t>
            </a:r>
          </a:p>
          <a:p>
            <a:pPr>
              <a:defRPr/>
            </a:pPr>
            <a:endParaRPr lang="en-GB" sz="1050" dirty="0"/>
          </a:p>
        </p:txBody>
      </p:sp>
      <p:sp>
        <p:nvSpPr>
          <p:cNvPr id="66" name="Rectangle 65"/>
          <p:cNvSpPr/>
          <p:nvPr/>
        </p:nvSpPr>
        <p:spPr bwMode="auto">
          <a:xfrm>
            <a:off x="509588" y="1860550"/>
            <a:ext cx="914400" cy="2190750"/>
          </a:xfrm>
          <a:prstGeom prst="rect">
            <a:avLst/>
          </a:prstGeom>
          <a:gradFill flip="none" rotWithShape="1">
            <a:gsLst>
              <a:gs pos="83000">
                <a:schemeClr val="bg1"/>
              </a:gs>
              <a:gs pos="0">
                <a:schemeClr val="tx1"/>
              </a:gs>
            </a:gsLst>
            <a:lin ang="16200000" scaled="1"/>
            <a:tileRect/>
          </a:gradFill>
          <a:ln w="9525" cap="flat" cmpd="sng" algn="ctr">
            <a:gradFill>
              <a:gsLst>
                <a:gs pos="0">
                  <a:schemeClr val="bg1"/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5400000" scaled="0"/>
            </a:gra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GB"/>
          </a:p>
        </p:txBody>
      </p:sp>
      <p:grpSp>
        <p:nvGrpSpPr>
          <p:cNvPr id="67" name="Group 23"/>
          <p:cNvGrpSpPr>
            <a:grpSpLocks/>
          </p:cNvGrpSpPr>
          <p:nvPr/>
        </p:nvGrpSpPr>
        <p:grpSpPr bwMode="auto">
          <a:xfrm>
            <a:off x="3119438" y="1362075"/>
            <a:ext cx="946150" cy="3155950"/>
            <a:chOff x="7720013" y="1573823"/>
            <a:chExt cx="720969" cy="2584932"/>
          </a:xfrm>
        </p:grpSpPr>
        <p:sp>
          <p:nvSpPr>
            <p:cNvPr id="6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6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7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2" name="TextBox 24"/>
          <p:cNvSpPr txBox="1">
            <a:spLocks noChangeArrowheads="1"/>
          </p:cNvSpPr>
          <p:nvPr/>
        </p:nvSpPr>
        <p:spPr bwMode="auto">
          <a:xfrm>
            <a:off x="3117850" y="2043113"/>
            <a:ext cx="960438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/>
              <a:t>“MID GREY”</a:t>
            </a:r>
          </a:p>
        </p:txBody>
      </p:sp>
      <p:sp>
        <p:nvSpPr>
          <p:cNvPr id="83" name="TextBox 25"/>
          <p:cNvSpPr txBox="1">
            <a:spLocks noChangeArrowheads="1"/>
          </p:cNvSpPr>
          <p:nvPr/>
        </p:nvSpPr>
        <p:spPr bwMode="auto">
          <a:xfrm>
            <a:off x="323850" y="331788"/>
            <a:ext cx="505779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 dirty="0"/>
              <a:t>Linear Camera / Logarithmic Eye</a:t>
            </a:r>
          </a:p>
        </p:txBody>
      </p:sp>
      <p:pic>
        <p:nvPicPr>
          <p:cNvPr id="90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9825" y="3525838"/>
            <a:ext cx="1952625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91" name="Picture 3"/>
          <p:cNvPicPr>
            <a:picLocks noChangeAspect="1" noChangeArrowheads="1"/>
          </p:cNvPicPr>
          <p:nvPr/>
        </p:nvPicPr>
        <p:blipFill>
          <a:blip r:embed="rId3" cstate="print"/>
          <a:srcRect l="7954" r="8710"/>
          <a:stretch>
            <a:fillRect/>
          </a:stretch>
        </p:blipFill>
        <p:spPr bwMode="auto">
          <a:xfrm>
            <a:off x="6216650" y="1370013"/>
            <a:ext cx="1995488" cy="16240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92" name="Straight Connector 33"/>
          <p:cNvCxnSpPr>
            <a:cxnSpLocks noChangeShapeType="1"/>
          </p:cNvCxnSpPr>
          <p:nvPr/>
        </p:nvCxnSpPr>
        <p:spPr bwMode="auto">
          <a:xfrm rot="16200000" flipV="1">
            <a:off x="3844925" y="1790700"/>
            <a:ext cx="2743200" cy="20383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3" name="Straight Connector 36"/>
          <p:cNvCxnSpPr>
            <a:cxnSpLocks noChangeShapeType="1"/>
          </p:cNvCxnSpPr>
          <p:nvPr/>
        </p:nvCxnSpPr>
        <p:spPr bwMode="auto">
          <a:xfrm flipH="1">
            <a:off x="4211960" y="4293096"/>
            <a:ext cx="1944216" cy="216024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4" name="Straight Connector 38"/>
          <p:cNvCxnSpPr>
            <a:cxnSpLocks noChangeShapeType="1"/>
          </p:cNvCxnSpPr>
          <p:nvPr/>
        </p:nvCxnSpPr>
        <p:spPr bwMode="auto">
          <a:xfrm rot="10800000" flipV="1">
            <a:off x="4197350" y="4241800"/>
            <a:ext cx="1858963" cy="1952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5" name="Straight Connector 40"/>
          <p:cNvCxnSpPr>
            <a:cxnSpLocks noChangeShapeType="1"/>
          </p:cNvCxnSpPr>
          <p:nvPr/>
        </p:nvCxnSpPr>
        <p:spPr bwMode="auto">
          <a:xfrm rot="10800000" flipV="1">
            <a:off x="4181475" y="4181475"/>
            <a:ext cx="1754188" cy="1206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" name="Straight Connector 42"/>
          <p:cNvCxnSpPr>
            <a:cxnSpLocks noChangeShapeType="1"/>
          </p:cNvCxnSpPr>
          <p:nvPr/>
        </p:nvCxnSpPr>
        <p:spPr bwMode="auto">
          <a:xfrm rot="10800000" flipV="1">
            <a:off x="4167188" y="4092575"/>
            <a:ext cx="1724025" cy="603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7" name="Straight Connector 44"/>
          <p:cNvCxnSpPr>
            <a:cxnSpLocks noChangeShapeType="1"/>
          </p:cNvCxnSpPr>
          <p:nvPr/>
        </p:nvCxnSpPr>
        <p:spPr bwMode="auto">
          <a:xfrm rot="10800000">
            <a:off x="4211638" y="3957638"/>
            <a:ext cx="1679575" cy="4445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8" name="Straight Connector 47"/>
          <p:cNvCxnSpPr>
            <a:cxnSpLocks noChangeShapeType="1"/>
          </p:cNvCxnSpPr>
          <p:nvPr/>
        </p:nvCxnSpPr>
        <p:spPr bwMode="auto">
          <a:xfrm rot="10800000">
            <a:off x="4167188" y="3671888"/>
            <a:ext cx="1589087" cy="2254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9" name="Straight Connector 49"/>
          <p:cNvCxnSpPr>
            <a:cxnSpLocks noChangeShapeType="1"/>
          </p:cNvCxnSpPr>
          <p:nvPr/>
        </p:nvCxnSpPr>
        <p:spPr bwMode="auto">
          <a:xfrm rot="10800000">
            <a:off x="4197350" y="2892425"/>
            <a:ext cx="1454150" cy="90011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0" name="Straight Connector 50"/>
          <p:cNvCxnSpPr>
            <a:cxnSpLocks noChangeShapeType="1"/>
          </p:cNvCxnSpPr>
          <p:nvPr/>
        </p:nvCxnSpPr>
        <p:spPr bwMode="auto">
          <a:xfrm rot="10800000">
            <a:off x="4076700" y="2293938"/>
            <a:ext cx="1724025" cy="14986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1" name="Straight Connector 69"/>
          <p:cNvCxnSpPr>
            <a:cxnSpLocks noChangeShapeType="1"/>
          </p:cNvCxnSpPr>
          <p:nvPr/>
        </p:nvCxnSpPr>
        <p:spPr bwMode="auto">
          <a:xfrm rot="10800000">
            <a:off x="4167188" y="3297238"/>
            <a:ext cx="1528762" cy="5556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2" name="Straight Connector 72"/>
          <p:cNvCxnSpPr>
            <a:cxnSpLocks noChangeShapeType="1"/>
          </p:cNvCxnSpPr>
          <p:nvPr/>
        </p:nvCxnSpPr>
        <p:spPr bwMode="auto">
          <a:xfrm rot="10800000" flipV="1">
            <a:off x="4106863" y="4241800"/>
            <a:ext cx="2098675" cy="255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3" name="Straight Connector 73"/>
          <p:cNvCxnSpPr>
            <a:cxnSpLocks noChangeShapeType="1"/>
          </p:cNvCxnSpPr>
          <p:nvPr/>
        </p:nvCxnSpPr>
        <p:spPr bwMode="auto">
          <a:xfrm rot="10800000" flipV="1">
            <a:off x="4181475" y="4181475"/>
            <a:ext cx="1858963" cy="1952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4" name="Straight Connector 74"/>
          <p:cNvCxnSpPr>
            <a:cxnSpLocks noChangeShapeType="1"/>
          </p:cNvCxnSpPr>
          <p:nvPr/>
        </p:nvCxnSpPr>
        <p:spPr bwMode="auto">
          <a:xfrm rot="10800000" flipV="1">
            <a:off x="4167188" y="4122738"/>
            <a:ext cx="1754187" cy="119062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5" name="Straight Connector 75"/>
          <p:cNvCxnSpPr>
            <a:cxnSpLocks noChangeShapeType="1"/>
          </p:cNvCxnSpPr>
          <p:nvPr/>
        </p:nvCxnSpPr>
        <p:spPr bwMode="auto">
          <a:xfrm rot="10800000" flipV="1">
            <a:off x="4152900" y="4032250"/>
            <a:ext cx="1724025" cy="603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6" name="Straight Connector 76"/>
          <p:cNvCxnSpPr>
            <a:cxnSpLocks noChangeShapeType="1"/>
          </p:cNvCxnSpPr>
          <p:nvPr/>
        </p:nvCxnSpPr>
        <p:spPr bwMode="auto">
          <a:xfrm rot="10800000">
            <a:off x="4181475" y="3822700"/>
            <a:ext cx="1544638" cy="11906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7" name="Straight Connector 78"/>
          <p:cNvCxnSpPr>
            <a:cxnSpLocks noChangeShapeType="1"/>
          </p:cNvCxnSpPr>
          <p:nvPr/>
        </p:nvCxnSpPr>
        <p:spPr bwMode="auto">
          <a:xfrm rot="10800000">
            <a:off x="4181475" y="1379538"/>
            <a:ext cx="1979613" cy="889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8" name="Straight Connector 80"/>
          <p:cNvCxnSpPr>
            <a:cxnSpLocks noChangeShapeType="1"/>
          </p:cNvCxnSpPr>
          <p:nvPr/>
        </p:nvCxnSpPr>
        <p:spPr bwMode="auto">
          <a:xfrm rot="10800000" flipV="1">
            <a:off x="4167188" y="2182813"/>
            <a:ext cx="2049462" cy="23145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09" name="Straight Connector 82"/>
          <p:cNvCxnSpPr>
            <a:cxnSpLocks noChangeShapeType="1"/>
          </p:cNvCxnSpPr>
          <p:nvPr/>
        </p:nvCxnSpPr>
        <p:spPr bwMode="auto">
          <a:xfrm flipH="1">
            <a:off x="4211960" y="1528763"/>
            <a:ext cx="1814192" cy="17204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0" name="Straight Connector 83"/>
          <p:cNvCxnSpPr>
            <a:cxnSpLocks noChangeShapeType="1"/>
          </p:cNvCxnSpPr>
          <p:nvPr/>
        </p:nvCxnSpPr>
        <p:spPr bwMode="auto">
          <a:xfrm flipH="1">
            <a:off x="4211960" y="2092325"/>
            <a:ext cx="1960240" cy="1912739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1" name="Straight Connector 87"/>
          <p:cNvCxnSpPr>
            <a:cxnSpLocks noChangeShapeType="1"/>
          </p:cNvCxnSpPr>
          <p:nvPr/>
        </p:nvCxnSpPr>
        <p:spPr bwMode="auto">
          <a:xfrm flipH="1">
            <a:off x="4211961" y="2060848"/>
            <a:ext cx="1872207" cy="153250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2" name="Straight Connector 89"/>
          <p:cNvCxnSpPr>
            <a:cxnSpLocks noChangeShapeType="1"/>
          </p:cNvCxnSpPr>
          <p:nvPr/>
        </p:nvCxnSpPr>
        <p:spPr bwMode="auto">
          <a:xfrm flipH="1">
            <a:off x="4211960" y="1941513"/>
            <a:ext cx="1914203" cy="119945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3" name="Straight Connector 91"/>
          <p:cNvCxnSpPr>
            <a:cxnSpLocks noChangeShapeType="1"/>
          </p:cNvCxnSpPr>
          <p:nvPr/>
        </p:nvCxnSpPr>
        <p:spPr bwMode="auto">
          <a:xfrm flipH="1">
            <a:off x="4139952" y="1889125"/>
            <a:ext cx="1930649" cy="891803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5" name="Straight Connector 95"/>
          <p:cNvCxnSpPr>
            <a:cxnSpLocks noChangeShapeType="1"/>
          </p:cNvCxnSpPr>
          <p:nvPr/>
        </p:nvCxnSpPr>
        <p:spPr bwMode="auto">
          <a:xfrm rot="10800000" flipV="1">
            <a:off x="4137025" y="1724025"/>
            <a:ext cx="1979613" cy="6445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8" name="Straight Connector 101"/>
          <p:cNvCxnSpPr>
            <a:cxnSpLocks noChangeShapeType="1"/>
          </p:cNvCxnSpPr>
          <p:nvPr/>
        </p:nvCxnSpPr>
        <p:spPr bwMode="auto">
          <a:xfrm flipH="1">
            <a:off x="4211960" y="1619250"/>
            <a:ext cx="1784028" cy="36959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123" name="TextBox 113"/>
          <p:cNvSpPr txBox="1">
            <a:spLocks noChangeArrowheads="1"/>
          </p:cNvSpPr>
          <p:nvPr/>
        </p:nvSpPr>
        <p:spPr bwMode="auto">
          <a:xfrm>
            <a:off x="395288" y="4792975"/>
            <a:ext cx="4919242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7325" indent="-187325"/>
            <a:r>
              <a:rPr lang="en-GB" b="1" dirty="0"/>
              <a:t>Dichotomy</a:t>
            </a:r>
          </a:p>
          <a:p>
            <a:pPr marL="187325" indent="-187325">
              <a:buFont typeface="Arial" charset="0"/>
              <a:buChar char="•"/>
            </a:pPr>
            <a:r>
              <a:rPr lang="en-GB" u="sng" dirty="0"/>
              <a:t>Camera</a:t>
            </a:r>
            <a:r>
              <a:rPr lang="en-GB" dirty="0"/>
              <a:t> </a:t>
            </a:r>
            <a:r>
              <a:rPr lang="en-GB"/>
              <a:t>– linear recording scene illumination </a:t>
            </a:r>
          </a:p>
          <a:p>
            <a:pPr marL="644525" lvl="1" indent="-187325">
              <a:buFont typeface="Arial" charset="0"/>
              <a:buChar char="•"/>
            </a:pPr>
            <a:r>
              <a:rPr lang="en-GB"/>
              <a:t>applies </a:t>
            </a:r>
            <a:r>
              <a:rPr lang="en-GB" dirty="0"/>
              <a:t>most coding allowance to the light – tone end of </a:t>
            </a:r>
            <a:r>
              <a:rPr lang="en-GB"/>
              <a:t>the scale … </a:t>
            </a:r>
            <a:endParaRPr lang="en-GB" dirty="0"/>
          </a:p>
        </p:txBody>
      </p:sp>
      <p:sp>
        <p:nvSpPr>
          <p:cNvPr id="50" name="TextBox 113">
            <a:extLst>
              <a:ext uri="{FF2B5EF4-FFF2-40B4-BE49-F238E27FC236}">
                <a16:creationId xmlns:a16="http://schemas.microsoft.com/office/drawing/2014/main" id="{D061E6D6-7F31-4F3F-ABAC-C55B3CACF2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1797" y="5756473"/>
            <a:ext cx="43055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87325" indent="-187325">
              <a:buFont typeface="Arial" charset="0"/>
              <a:buChar char="•"/>
            </a:pPr>
            <a:r>
              <a:rPr lang="en-GB" u="sng"/>
              <a:t>The Eye</a:t>
            </a:r>
            <a:r>
              <a:rPr lang="en-GB"/>
              <a:t> </a:t>
            </a:r>
            <a:r>
              <a:rPr lang="en-GB" dirty="0"/>
              <a:t>– applies most ability to discern tonal variation at the dark – tone end of the scale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5F07E14-009E-4A68-890A-B1D412BE1A4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478439" y="4227512"/>
            <a:ext cx="1177949" cy="1404824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E7C16DE-55C8-4258-BBEA-E4E225F63498}"/>
              </a:ext>
            </a:extLst>
          </p:cNvPr>
          <p:cNvCxnSpPr>
            <a:cxnSpLocks/>
          </p:cNvCxnSpPr>
          <p:nvPr/>
        </p:nvCxnSpPr>
        <p:spPr bwMode="auto">
          <a:xfrm flipV="1">
            <a:off x="2834407" y="2016638"/>
            <a:ext cx="2228923" cy="3010125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accent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4043747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/>
          <p:cNvSpPr/>
          <p:nvPr/>
        </p:nvSpPr>
        <p:spPr bwMode="auto">
          <a:xfrm>
            <a:off x="2471191" y="260648"/>
            <a:ext cx="3729583" cy="6264696"/>
          </a:xfrm>
          <a:prstGeom prst="rect">
            <a:avLst/>
          </a:prstGeom>
          <a:solidFill>
            <a:srgbClr val="FFFFCC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3" name="Text Box 9"/>
          <p:cNvSpPr txBox="1">
            <a:spLocks noChangeArrowheads="1"/>
          </p:cNvSpPr>
          <p:nvPr/>
        </p:nvSpPr>
        <p:spPr bwMode="auto">
          <a:xfrm>
            <a:off x="2687216" y="332656"/>
            <a:ext cx="1063112" cy="618630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361950" algn="l"/>
              </a:tabLst>
            </a:pPr>
            <a:r>
              <a:rPr lang="en-GB" sz="1200" b="1" dirty="0"/>
              <a:t>31  100000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31	11111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30	11110</a:t>
            </a:r>
          </a:p>
          <a:p>
            <a:pPr defTabSz="361950">
              <a:tabLst>
                <a:tab pos="361950" algn="l"/>
              </a:tabLst>
            </a:pPr>
            <a:r>
              <a:rPr lang="en-GB" sz="1200" b="1" dirty="0"/>
              <a:t>29	11101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28	11100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27	11011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26	11010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25	11001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24	11000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23	10111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22	10110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21	10101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20	10100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19	10011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18	10010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17	10001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16	10000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15	01111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14	01110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13	01101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12	01100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11	01011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10	01010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9	01001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8	01000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7	00111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6	00110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5	00101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4	00100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3	00011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2	00010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1	00001</a:t>
            </a:r>
          </a:p>
          <a:p>
            <a:pPr>
              <a:tabLst>
                <a:tab pos="361950" algn="l"/>
              </a:tabLst>
            </a:pPr>
            <a:r>
              <a:rPr lang="en-GB" sz="1200" b="1" dirty="0"/>
              <a:t>  0	00000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3809628" y="5958805"/>
            <a:ext cx="971922" cy="384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Straight Arrow Connector 14"/>
          <p:cNvCxnSpPr/>
          <p:nvPr/>
        </p:nvCxnSpPr>
        <p:spPr bwMode="auto">
          <a:xfrm flipH="1">
            <a:off x="3809628" y="5591175"/>
            <a:ext cx="990972" cy="75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Straight Arrow Connector 15"/>
          <p:cNvCxnSpPr/>
          <p:nvPr/>
        </p:nvCxnSpPr>
        <p:spPr bwMode="auto">
          <a:xfrm flipH="1">
            <a:off x="3809628" y="4876800"/>
            <a:ext cx="1000497" cy="1885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H="1">
            <a:off x="3809628" y="3362325"/>
            <a:ext cx="971922" cy="419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 flipH="1" flipV="1">
            <a:off x="3809628" y="486197"/>
            <a:ext cx="1000497" cy="9103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4959474" y="5814789"/>
            <a:ext cx="11400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 stop 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9474" y="5454749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 stops 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59474" y="4734669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3 stops 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87466" y="3222501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 stops 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87466" y="342181"/>
            <a:ext cx="12442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5 stops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4" y="6102821"/>
            <a:ext cx="158248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(ref exposure)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3719" y="1989584"/>
            <a:ext cx="23042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0 – 31 and so on ...</a:t>
            </a:r>
          </a:p>
          <a:p>
            <a:r>
              <a:rPr lang="en-GB" sz="1400" dirty="0"/>
              <a:t>Linear increase in exposure</a:t>
            </a:r>
          </a:p>
          <a:p>
            <a:r>
              <a:rPr lang="en-GB" sz="1400" dirty="0"/>
              <a:t>.. as seen and recorded by sensor</a:t>
            </a:r>
          </a:p>
        </p:txBody>
      </p:sp>
      <p:cxnSp>
        <p:nvCxnSpPr>
          <p:cNvPr id="31" name="Straight Arrow Connector 30"/>
          <p:cNvCxnSpPr/>
          <p:nvPr/>
        </p:nvCxnSpPr>
        <p:spPr bwMode="auto">
          <a:xfrm flipV="1">
            <a:off x="2583210" y="1979315"/>
            <a:ext cx="0" cy="129614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6509742" y="1484784"/>
            <a:ext cx="2412776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Exposure stops:</a:t>
            </a:r>
          </a:p>
          <a:p>
            <a:r>
              <a:rPr lang="en-GB" sz="1400" dirty="0"/>
              <a:t>Linear perception of increase in brightness,</a:t>
            </a:r>
          </a:p>
          <a:p>
            <a:r>
              <a:rPr lang="en-GB" sz="1400" dirty="0"/>
              <a:t>as seen by the eye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09742" y="4165282"/>
            <a:ext cx="2412776" cy="2308324"/>
          </a:xfrm>
          <a:prstGeom prst="rect">
            <a:avLst/>
          </a:prstGeom>
          <a:solidFill>
            <a:srgbClr val="92D050"/>
          </a:solidFill>
        </p:spPr>
        <p:txBody>
          <a:bodyPr wrap="square" rtlCol="0">
            <a:spAutoFit/>
          </a:bodyPr>
          <a:lstStyle/>
          <a:p>
            <a:r>
              <a:rPr lang="en-GB"/>
              <a:t>note </a:t>
            </a:r>
            <a:r>
              <a:rPr lang="en-GB" dirty="0"/>
              <a:t>– for each successive stop more linear levels are recorded by </a:t>
            </a:r>
            <a:r>
              <a:rPr lang="en-GB"/>
              <a:t>the sensor (in fact twice as many each stop)</a:t>
            </a:r>
          </a:p>
          <a:p>
            <a:r>
              <a:rPr lang="en-GB"/>
              <a:t>… but </a:t>
            </a:r>
            <a:r>
              <a:rPr lang="en-GB" dirty="0"/>
              <a:t>the eye doesn’t perceive all the increasing levels</a:t>
            </a:r>
          </a:p>
        </p:txBody>
      </p:sp>
      <p:cxnSp>
        <p:nvCxnSpPr>
          <p:cNvPr id="35" name="Straight Arrow Connector 34"/>
          <p:cNvCxnSpPr/>
          <p:nvPr/>
        </p:nvCxnSpPr>
        <p:spPr bwMode="auto">
          <a:xfrm flipV="1">
            <a:off x="6327626" y="702221"/>
            <a:ext cx="0" cy="2520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6327626" y="3582541"/>
            <a:ext cx="0" cy="122413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2" name="Straight Arrow Connector 41"/>
          <p:cNvCxnSpPr/>
          <p:nvPr/>
        </p:nvCxnSpPr>
        <p:spPr bwMode="auto">
          <a:xfrm flipV="1">
            <a:off x="6327626" y="5022701"/>
            <a:ext cx="0" cy="43204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8" name="Straight Arrow Connector 47"/>
          <p:cNvCxnSpPr/>
          <p:nvPr/>
        </p:nvCxnSpPr>
        <p:spPr bwMode="auto">
          <a:xfrm flipH="1">
            <a:off x="3838576" y="6176848"/>
            <a:ext cx="532258" cy="487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3" name="TextBox 25"/>
          <p:cNvSpPr txBox="1">
            <a:spLocks noChangeArrowheads="1"/>
          </p:cNvSpPr>
          <p:nvPr/>
        </p:nvSpPr>
        <p:spPr bwMode="auto">
          <a:xfrm>
            <a:off x="323850" y="331788"/>
            <a:ext cx="21050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GB" sz="2400" b="1" dirty="0"/>
              <a:t>Camera / Eye  Levels</a:t>
            </a:r>
          </a:p>
        </p:txBody>
      </p:sp>
      <p:pic>
        <p:nvPicPr>
          <p:cNvPr id="54" name="Picture 3"/>
          <p:cNvPicPr>
            <a:picLocks noChangeAspect="1" noChangeArrowheads="1"/>
          </p:cNvPicPr>
          <p:nvPr/>
        </p:nvPicPr>
        <p:blipFill>
          <a:blip r:embed="rId2" cstate="print"/>
          <a:srcRect l="7954" r="8710"/>
          <a:stretch>
            <a:fillRect/>
          </a:stretch>
        </p:blipFill>
        <p:spPr bwMode="auto">
          <a:xfrm flipH="1">
            <a:off x="144461" y="3390900"/>
            <a:ext cx="2141537" cy="14224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5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67475" y="2801938"/>
            <a:ext cx="1952625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grpSp>
        <p:nvGrpSpPr>
          <p:cNvPr id="56" name="Group 23"/>
          <p:cNvGrpSpPr>
            <a:grpSpLocks/>
          </p:cNvGrpSpPr>
          <p:nvPr/>
        </p:nvGrpSpPr>
        <p:grpSpPr bwMode="auto">
          <a:xfrm>
            <a:off x="4210049" y="304800"/>
            <a:ext cx="360364" cy="6184900"/>
            <a:chOff x="7720013" y="1573823"/>
            <a:chExt cx="720971" cy="2584932"/>
          </a:xfrm>
        </p:grpSpPr>
        <p:sp>
          <p:nvSpPr>
            <p:cNvPr id="57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58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0" name="Rectangle 10"/>
            <p:cNvSpPr>
              <a:spLocks noChangeArrowheads="1"/>
            </p:cNvSpPr>
            <p:nvPr/>
          </p:nvSpPr>
          <p:spPr bwMode="auto">
            <a:xfrm>
              <a:off x="7720015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307603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"/>
          <p:cNvSpPr>
            <a:spLocks noChangeArrowheads="1"/>
          </p:cNvSpPr>
          <p:nvPr/>
        </p:nvSpPr>
        <p:spPr bwMode="auto">
          <a:xfrm>
            <a:off x="1485900" y="1217613"/>
            <a:ext cx="7148513" cy="3322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400"/>
              <a:t>16,384	         totally saturated sensor (maximum white)</a:t>
            </a:r>
          </a:p>
          <a:p>
            <a:r>
              <a:rPr lang="en-GB" sz="1400"/>
              <a:t>8,192-16,383	  1 stop  down from maximum white</a:t>
            </a:r>
          </a:p>
          <a:p>
            <a:r>
              <a:rPr lang="en-GB" sz="1400"/>
              <a:t>4,096-8,191	  2 stops down from maximum white</a:t>
            </a:r>
          </a:p>
          <a:p>
            <a:r>
              <a:rPr lang="en-GB" sz="1400"/>
              <a:t>2,048-4,095	  3 stops down from maximum white</a:t>
            </a:r>
          </a:p>
          <a:p>
            <a:r>
              <a:rPr lang="en-GB" sz="1400"/>
              <a:t>1,024-2,047	  4 stops down from maximum white</a:t>
            </a:r>
          </a:p>
          <a:p>
            <a:r>
              <a:rPr lang="en-GB" sz="1400"/>
              <a:t>512-1,023	  5 stops down from maximum white</a:t>
            </a:r>
          </a:p>
          <a:p>
            <a:r>
              <a:rPr lang="en-GB" sz="1400"/>
              <a:t>256-511		  6 stops down from maximum white</a:t>
            </a:r>
          </a:p>
          <a:p>
            <a:r>
              <a:rPr lang="en-GB" sz="1400"/>
              <a:t>128-255		  7 stops down from maximum white</a:t>
            </a:r>
          </a:p>
          <a:p>
            <a:r>
              <a:rPr lang="en-GB" sz="1400"/>
              <a:t>64-127		  8 stops down from maximum white</a:t>
            </a:r>
          </a:p>
          <a:p>
            <a:r>
              <a:rPr lang="en-GB" sz="1400"/>
              <a:t>32-63		  9 stops down from maximum white</a:t>
            </a:r>
          </a:p>
          <a:p>
            <a:r>
              <a:rPr lang="en-GB" sz="1400"/>
              <a:t>16-31		10 stops down from maximum white</a:t>
            </a:r>
          </a:p>
          <a:p>
            <a:r>
              <a:rPr lang="en-GB" sz="1400"/>
              <a:t>8-15		11 stops down from maximum white</a:t>
            </a:r>
          </a:p>
          <a:p>
            <a:r>
              <a:rPr lang="en-GB" sz="1400"/>
              <a:t>4-7		12 stops down from maximum white</a:t>
            </a:r>
          </a:p>
          <a:p>
            <a:r>
              <a:rPr lang="en-GB" sz="1400"/>
              <a:t>2-6		13 stops down from maximum white</a:t>
            </a:r>
          </a:p>
          <a:p>
            <a:r>
              <a:rPr lang="en-GB" sz="1400"/>
              <a:t>1-2		14 stops down from maximum white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430213" y="1219200"/>
            <a:ext cx="1187450" cy="3284538"/>
            <a:chOff x="395288" y="1565031"/>
            <a:chExt cx="1187327" cy="3284013"/>
          </a:xfrm>
        </p:grpSpPr>
        <p:sp>
          <p:nvSpPr>
            <p:cNvPr id="3" name="TextBox 2"/>
            <p:cNvSpPr txBox="1"/>
            <p:nvPr/>
          </p:nvSpPr>
          <p:spPr>
            <a:xfrm>
              <a:off x="395288" y="4264937"/>
              <a:ext cx="1187327" cy="58410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800" dirty="0"/>
                <a:t>00000000000100</a:t>
              </a:r>
            </a:p>
            <a:p>
              <a:pPr>
                <a:defRPr/>
              </a:pPr>
              <a:r>
                <a:rPr lang="en-GB" sz="800" dirty="0"/>
                <a:t>00000000000011</a:t>
              </a:r>
            </a:p>
            <a:p>
              <a:pPr>
                <a:defRPr/>
              </a:pPr>
              <a:r>
                <a:rPr lang="en-GB" sz="800" dirty="0"/>
                <a:t>00000000000001</a:t>
              </a:r>
            </a:p>
            <a:p>
              <a:pPr>
                <a:defRPr/>
              </a:pPr>
              <a:r>
                <a:rPr lang="en-GB" sz="800" dirty="0"/>
                <a:t>00000000000000</a:t>
              </a:r>
              <a:endParaRPr lang="en-GB" sz="1050" dirty="0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395288" y="1565031"/>
              <a:ext cx="1100023" cy="74600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GB" sz="800" dirty="0"/>
                <a:t>11111111111111</a:t>
              </a:r>
            </a:p>
            <a:p>
              <a:pPr>
                <a:defRPr/>
              </a:pPr>
              <a:r>
                <a:rPr lang="en-GB" sz="800" dirty="0"/>
                <a:t>11111111111110</a:t>
              </a:r>
            </a:p>
            <a:p>
              <a:pPr>
                <a:defRPr/>
              </a:pPr>
              <a:r>
                <a:rPr lang="en-GB" sz="800" dirty="0"/>
                <a:t>11111111111101</a:t>
              </a:r>
            </a:p>
            <a:p>
              <a:pPr>
                <a:defRPr/>
              </a:pPr>
              <a:r>
                <a:rPr lang="en-GB" sz="800" dirty="0"/>
                <a:t>11111111111100</a:t>
              </a:r>
            </a:p>
            <a:p>
              <a:pPr>
                <a:defRPr/>
              </a:pPr>
              <a:endParaRPr lang="en-GB" sz="1050" dirty="0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474655" y="2091997"/>
              <a:ext cx="914305" cy="21904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</p:grpSp>
      <p:grpSp>
        <p:nvGrpSpPr>
          <p:cNvPr id="6" name="Group 23"/>
          <p:cNvGrpSpPr>
            <a:grpSpLocks/>
          </p:cNvGrpSpPr>
          <p:nvPr/>
        </p:nvGrpSpPr>
        <p:grpSpPr bwMode="auto">
          <a:xfrm>
            <a:off x="6757988" y="1247775"/>
            <a:ext cx="946150" cy="3155950"/>
            <a:chOff x="7720013" y="1573823"/>
            <a:chExt cx="720969" cy="2584932"/>
          </a:xfrm>
        </p:grpSpPr>
        <p:sp>
          <p:nvSpPr>
            <p:cNvPr id="11279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0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1282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3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4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5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6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7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8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89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0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1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92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269" name="TextBox 24"/>
          <p:cNvSpPr txBox="1">
            <a:spLocks noChangeArrowheads="1"/>
          </p:cNvSpPr>
          <p:nvPr/>
        </p:nvSpPr>
        <p:spPr bwMode="auto">
          <a:xfrm>
            <a:off x="6756400" y="1928813"/>
            <a:ext cx="960438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100"/>
              <a:t>“MID GREY”</a:t>
            </a:r>
          </a:p>
        </p:txBody>
      </p:sp>
      <p:sp>
        <p:nvSpPr>
          <p:cNvPr id="11270" name="TextBox 25"/>
          <p:cNvSpPr txBox="1">
            <a:spLocks noChangeArrowheads="1"/>
          </p:cNvSpPr>
          <p:nvPr/>
        </p:nvSpPr>
        <p:spPr bwMode="auto">
          <a:xfrm>
            <a:off x="323850" y="331788"/>
            <a:ext cx="82486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2400" b="1"/>
              <a:t>Quantization Levels Aligned to Levels of White - Black</a:t>
            </a:r>
          </a:p>
        </p:txBody>
      </p:sp>
      <p:sp>
        <p:nvSpPr>
          <p:cNvPr id="11271" name="Rectangle 26"/>
          <p:cNvSpPr>
            <a:spLocks noChangeArrowheads="1"/>
          </p:cNvSpPr>
          <p:nvPr/>
        </p:nvSpPr>
        <p:spPr bwMode="auto">
          <a:xfrm>
            <a:off x="323850" y="792163"/>
            <a:ext cx="406233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dirty="0"/>
              <a:t>For the number of light levels we have:</a:t>
            </a:r>
          </a:p>
        </p:txBody>
      </p:sp>
      <p:sp>
        <p:nvSpPr>
          <p:cNvPr id="11272" name="Rectangle 27"/>
          <p:cNvSpPr>
            <a:spLocks noChangeArrowheads="1"/>
          </p:cNvSpPr>
          <p:nvPr/>
        </p:nvSpPr>
        <p:spPr bwMode="auto">
          <a:xfrm>
            <a:off x="323850" y="4729163"/>
            <a:ext cx="6672263" cy="1503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dirty="0"/>
              <a:t>note the large number of bits to store the near-white levels</a:t>
            </a:r>
          </a:p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dirty="0"/>
              <a:t>low number of bits for darker levels</a:t>
            </a:r>
          </a:p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dirty="0"/>
              <a:t>note mid-grey at 3 stops down</a:t>
            </a:r>
          </a:p>
          <a:p>
            <a:pPr marL="180975" indent="-180975">
              <a:lnSpc>
                <a:spcPts val="2200"/>
              </a:lnSpc>
              <a:buFont typeface="Arial" charset="0"/>
              <a:buChar char="•"/>
            </a:pPr>
            <a:r>
              <a:rPr lang="en-GB" dirty="0"/>
              <a:t>On a histogram </a:t>
            </a:r>
          </a:p>
          <a:p>
            <a:pPr marL="638175" lvl="1" indent="-180975">
              <a:lnSpc>
                <a:spcPts val="2200"/>
              </a:lnSpc>
            </a:pPr>
            <a:r>
              <a:rPr lang="en-GB" dirty="0"/>
              <a:t>...upper levels are </a:t>
            </a:r>
            <a:r>
              <a:rPr lang="en-GB" i="1" u="sng" dirty="0"/>
              <a:t>right-side of the graph ...</a:t>
            </a:r>
          </a:p>
        </p:txBody>
      </p:sp>
      <p:pic>
        <p:nvPicPr>
          <p:cNvPr id="1127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67488" y="4529138"/>
            <a:ext cx="2413000" cy="160813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cxnSp>
        <p:nvCxnSpPr>
          <p:cNvPr id="11274" name="Straight Arrow Connector 30"/>
          <p:cNvCxnSpPr>
            <a:cxnSpLocks noChangeShapeType="1"/>
          </p:cNvCxnSpPr>
          <p:nvPr/>
        </p:nvCxnSpPr>
        <p:spPr bwMode="auto">
          <a:xfrm rot="16200000" flipV="1">
            <a:off x="6564313" y="4821238"/>
            <a:ext cx="733425" cy="95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1275" name="Straight Arrow Connector 34"/>
          <p:cNvCxnSpPr>
            <a:cxnSpLocks noChangeShapeType="1"/>
          </p:cNvCxnSpPr>
          <p:nvPr/>
        </p:nvCxnSpPr>
        <p:spPr bwMode="auto">
          <a:xfrm rot="10800000" flipV="1">
            <a:off x="7764463" y="1373188"/>
            <a:ext cx="758825" cy="63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1276" name="Straight Arrow Connector 37"/>
          <p:cNvCxnSpPr>
            <a:cxnSpLocks noChangeShapeType="1"/>
          </p:cNvCxnSpPr>
          <p:nvPr/>
        </p:nvCxnSpPr>
        <p:spPr bwMode="auto">
          <a:xfrm rot="10800000" flipV="1">
            <a:off x="7712075" y="2052638"/>
            <a:ext cx="301625" cy="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1277" name="Straight Connector 42"/>
          <p:cNvCxnSpPr>
            <a:cxnSpLocks noChangeShapeType="1"/>
          </p:cNvCxnSpPr>
          <p:nvPr/>
        </p:nvCxnSpPr>
        <p:spPr bwMode="auto">
          <a:xfrm rot="16200000" flipH="1">
            <a:off x="6547644" y="3537744"/>
            <a:ext cx="2967037" cy="158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11278" name="Straight Connector 44"/>
          <p:cNvCxnSpPr>
            <a:cxnSpLocks noChangeShapeType="1"/>
          </p:cNvCxnSpPr>
          <p:nvPr/>
        </p:nvCxnSpPr>
        <p:spPr bwMode="auto">
          <a:xfrm rot="16200000" flipH="1">
            <a:off x="6526212" y="3411538"/>
            <a:ext cx="4037013" cy="793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" name="Straight Arrow Connector 8"/>
          <p:cNvCxnSpPr/>
          <p:nvPr/>
        </p:nvCxnSpPr>
        <p:spPr bwMode="auto">
          <a:xfrm flipV="1">
            <a:off x="945840" y="2059781"/>
            <a:ext cx="0" cy="1485900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chemeClr val="bg1">
                <a:lumMod val="8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TextBox 6"/>
          <p:cNvSpPr txBox="1"/>
          <p:nvPr/>
        </p:nvSpPr>
        <p:spPr>
          <a:xfrm>
            <a:off x="405780" y="2333793"/>
            <a:ext cx="108012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14 bit binary counting from 0 to 16,384</a:t>
            </a:r>
          </a:p>
        </p:txBody>
      </p:sp>
    </p:spTree>
    <p:extLst>
      <p:ext uri="{BB962C8B-B14F-4D97-AF65-F5344CB8AC3E}">
        <p14:creationId xmlns:p14="http://schemas.microsoft.com/office/powerpoint/2010/main" val="31801062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/>
          <p:cNvSpPr>
            <a:spLocks noChangeArrowheads="1"/>
          </p:cNvSpPr>
          <p:nvPr/>
        </p:nvSpPr>
        <p:spPr bwMode="auto">
          <a:xfrm>
            <a:off x="1463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288" y="331788"/>
            <a:ext cx="54232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Correction to a Power-Based Curve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67178" y="5747397"/>
            <a:ext cx="2433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Exposure of scene 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-1472467" y="3231194"/>
            <a:ext cx="40553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Brightness / Intensity of image/Display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86850" y="611916"/>
                <a:ext cx="3744665" cy="5847755"/>
              </a:xfrm>
              <a:prstGeom prst="rect">
                <a:avLst/>
              </a:prstGeom>
              <a:noFill/>
              <a:ln>
                <a:solidFill>
                  <a:srgbClr val="FFFFCC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en-GB" dirty="0">
                  <a:solidFill>
                    <a:srgbClr val="FFFF00"/>
                  </a:solidFill>
                </a:endParaRPr>
              </a:p>
              <a:p>
                <a:r>
                  <a:rPr lang="en-GB" dirty="0">
                    <a:solidFill>
                      <a:srgbClr val="FFFF00"/>
                    </a:solidFill>
                  </a:rPr>
                  <a:t>(Simplistic explanation):</a:t>
                </a:r>
              </a:p>
              <a:p>
                <a:r>
                  <a:rPr lang="en-GB" dirty="0">
                    <a:solidFill>
                      <a:srgbClr val="FFFF00"/>
                    </a:solidFill>
                  </a:rPr>
                  <a:t>Input is raised to a power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rgbClr val="FFFFCC"/>
                        </a:solidFill>
                        <a:latin typeface="Cambria Math" panose="02040503050406030204" pitchFamily="18" charset="0"/>
                      </a:rPr>
                      <m:t>1/</m:t>
                    </m:r>
                  </m:oMath>
                </a14:m>
                <a:r>
                  <a:rPr lang="en-GB" sz="1800" dirty="0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ɣ</a:t>
                </a:r>
              </a:p>
              <a:p>
                <a:endParaRPr lang="en-GB" dirty="0">
                  <a:solidFill>
                    <a:srgbClr val="FFFF00"/>
                  </a:solidFill>
                </a:endParaRPr>
              </a:p>
              <a:p>
                <a:r>
                  <a:rPr lang="en-GB" sz="28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800" b="1" baseline="-25000" dirty="0" err="1">
                    <a:solidFill>
                      <a:srgbClr val="FFFF00"/>
                    </a:solidFill>
                  </a:rPr>
                  <a:t>file</a:t>
                </a:r>
                <a:r>
                  <a:rPr lang="en-GB" sz="2800" b="1" dirty="0">
                    <a:solidFill>
                      <a:srgbClr val="FFFF00"/>
                    </a:solidFill>
                  </a:rPr>
                  <a:t> = V</a:t>
                </a:r>
                <a:r>
                  <a:rPr lang="en-GB" sz="2800" b="1" baseline="-25000" dirty="0">
                    <a:solidFill>
                      <a:srgbClr val="FFFF00"/>
                    </a:solidFill>
                  </a:rPr>
                  <a:t>in</a:t>
                </a:r>
                <a:r>
                  <a:rPr lang="en-GB" sz="2800" b="1" baseline="30000" dirty="0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1/ɣ</a:t>
                </a:r>
                <a:r>
                  <a:rPr lang="en-GB" sz="2800" b="1" dirty="0">
                    <a:solidFill>
                      <a:srgbClr val="FFFF00"/>
                    </a:solidFill>
                  </a:rPr>
                  <a:t> </a:t>
                </a:r>
              </a:p>
              <a:p>
                <a:endParaRPr lang="en-GB" i="1" dirty="0">
                  <a:solidFill>
                    <a:srgbClr val="FFFF00"/>
                  </a:solidFill>
                </a:endParaRPr>
              </a:p>
              <a:p>
                <a:r>
                  <a:rPr lang="en-GB" i="1" dirty="0">
                    <a:solidFill>
                      <a:srgbClr val="FFFF00"/>
                    </a:solidFill>
                  </a:rPr>
                  <a:t>(where A = a constant)</a:t>
                </a:r>
              </a:p>
              <a:p>
                <a:endParaRPr lang="en-GB" dirty="0">
                  <a:solidFill>
                    <a:srgbClr val="FFFF00"/>
                  </a:solidFill>
                  <a:latin typeface="Lucida Sans Unicode"/>
                  <a:cs typeface="Lucida Sans Unicode"/>
                </a:endParaRPr>
              </a:p>
              <a:p>
                <a:r>
                  <a:rPr lang="en-GB" dirty="0">
                    <a:solidFill>
                      <a:srgbClr val="FFFF00"/>
                    </a:solidFill>
                    <a:latin typeface="Lucida Sans Unicode"/>
                    <a:cs typeface="Lucida Sans Unicode"/>
                  </a:rPr>
                  <a:t>And output (display must be inverse of this, ɣ:</a:t>
                </a:r>
              </a:p>
              <a:p>
                <a:endParaRPr lang="en-GB" dirty="0">
                  <a:solidFill>
                    <a:srgbClr val="FFFF00"/>
                  </a:solidFill>
                  <a:latin typeface="Lucida Sans Unicode"/>
                  <a:cs typeface="Lucida Sans Unicode"/>
                </a:endParaRPr>
              </a:p>
              <a:p>
                <a:pPr lvl="0"/>
                <a:r>
                  <a:rPr lang="en-GB" sz="28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800" b="1" baseline="-25000" dirty="0" err="1">
                    <a:solidFill>
                      <a:srgbClr val="FFFF00"/>
                    </a:solidFill>
                  </a:rPr>
                  <a:t>display</a:t>
                </a:r>
                <a:r>
                  <a:rPr lang="en-GB" sz="2800" b="1" dirty="0">
                    <a:solidFill>
                      <a:srgbClr val="FFFF00"/>
                    </a:solidFill>
                  </a:rPr>
                  <a:t> = </a:t>
                </a:r>
                <a:r>
                  <a:rPr lang="en-GB" sz="2800" b="1" dirty="0" err="1">
                    <a:solidFill>
                      <a:srgbClr val="FFFF00"/>
                    </a:solidFill>
                  </a:rPr>
                  <a:t>V</a:t>
                </a:r>
                <a:r>
                  <a:rPr lang="en-GB" sz="2800" b="1" baseline="-25000" dirty="0" err="1">
                    <a:solidFill>
                      <a:srgbClr val="FFFF00"/>
                    </a:solidFill>
                  </a:rPr>
                  <a:t>in</a:t>
                </a:r>
                <a:r>
                  <a:rPr lang="en-GB" sz="2800" b="1" baseline="30000" dirty="0" err="1">
                    <a:solidFill>
                      <a:srgbClr val="FFFFCC"/>
                    </a:solidFill>
                    <a:latin typeface="Lucida Sans Unicode"/>
                    <a:cs typeface="Lucida Sans Unicode"/>
                  </a:rPr>
                  <a:t>ɣ</a:t>
                </a:r>
                <a:r>
                  <a:rPr lang="en-GB" sz="2800" b="1" dirty="0">
                    <a:solidFill>
                      <a:srgbClr val="FFFF00"/>
                    </a:solidFill>
                  </a:rPr>
                  <a:t> </a:t>
                </a:r>
              </a:p>
              <a:p>
                <a:endParaRPr lang="en-GB" dirty="0">
                  <a:solidFill>
                    <a:schemeClr val="accent3"/>
                  </a:solidFill>
                </a:endParaRPr>
              </a:p>
              <a:p>
                <a:endParaRPr lang="en-GB" dirty="0">
                  <a:solidFill>
                    <a:schemeClr val="accent3"/>
                  </a:solidFill>
                </a:endParaRPr>
              </a:p>
              <a:p>
                <a:r>
                  <a:rPr lang="en-GB" dirty="0">
                    <a:solidFill>
                      <a:schemeClr val="accent3"/>
                    </a:solidFill>
                  </a:rPr>
                  <a:t>Actually, the equations may include a system constant </a:t>
                </a:r>
                <a:r>
                  <a:rPr lang="en-GB" dirty="0">
                    <a:solidFill>
                      <a:srgbClr val="FFC000"/>
                    </a:solidFill>
                  </a:rPr>
                  <a:t>A:</a:t>
                </a:r>
              </a:p>
              <a:p>
                <a:endParaRPr lang="en-GB" dirty="0">
                  <a:solidFill>
                    <a:srgbClr val="FFC000"/>
                  </a:solidFill>
                </a:endParaRPr>
              </a:p>
              <a:p>
                <a:r>
                  <a:rPr lang="en-GB" sz="2000" b="1" dirty="0" err="1">
                    <a:solidFill>
                      <a:schemeClr val="accent3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chemeClr val="accent3"/>
                    </a:solidFill>
                  </a:rPr>
                  <a:t>file</a:t>
                </a:r>
                <a:r>
                  <a:rPr lang="en-GB" sz="2000" b="1" dirty="0">
                    <a:solidFill>
                      <a:schemeClr val="accent3"/>
                    </a:solidFill>
                  </a:rPr>
                  <a:t> = </a:t>
                </a:r>
                <a:r>
                  <a:rPr lang="en-GB" sz="2000" dirty="0">
                    <a:solidFill>
                      <a:srgbClr val="FFC000"/>
                    </a:solidFill>
                  </a:rPr>
                  <a:t>A</a:t>
                </a:r>
                <a:r>
                  <a:rPr lang="en-GB" sz="2000" b="1" dirty="0">
                    <a:solidFill>
                      <a:schemeClr val="accent3"/>
                    </a:solidFill>
                  </a:rPr>
                  <a:t>V</a:t>
                </a:r>
                <a:r>
                  <a:rPr lang="en-GB" sz="2000" b="1" baseline="-25000" dirty="0">
                    <a:solidFill>
                      <a:schemeClr val="accent3"/>
                    </a:solidFill>
                  </a:rPr>
                  <a:t>in</a:t>
                </a:r>
                <a:r>
                  <a:rPr lang="en-GB" sz="2000" b="1" baseline="30000" dirty="0">
                    <a:solidFill>
                      <a:schemeClr val="accent3"/>
                    </a:solidFill>
                    <a:latin typeface="Lucida Sans Unicode"/>
                    <a:cs typeface="Lucida Sans Unicode"/>
                  </a:rPr>
                  <a:t>1/ɣ</a:t>
                </a:r>
                <a:r>
                  <a:rPr lang="en-GB" sz="2000" b="1" dirty="0">
                    <a:solidFill>
                      <a:schemeClr val="accent3"/>
                    </a:solidFill>
                  </a:rPr>
                  <a:t> </a:t>
                </a:r>
              </a:p>
              <a:p>
                <a:endParaRPr lang="en-GB" sz="1200" i="1" dirty="0">
                  <a:solidFill>
                    <a:schemeClr val="accent3"/>
                  </a:solidFill>
                </a:endParaRPr>
              </a:p>
              <a:p>
                <a:r>
                  <a:rPr lang="en-GB" sz="1200" i="1" dirty="0">
                    <a:solidFill>
                      <a:schemeClr val="accent3"/>
                    </a:solidFill>
                  </a:rPr>
                  <a:t>(where A = a constant)</a:t>
                </a:r>
              </a:p>
              <a:p>
                <a:endParaRPr lang="en-GB" sz="1200" dirty="0">
                  <a:solidFill>
                    <a:schemeClr val="accent3"/>
                  </a:solidFill>
                  <a:latin typeface="Lucida Sans Unicode"/>
                  <a:cs typeface="Lucida Sans Unicode"/>
                </a:endParaRPr>
              </a:p>
              <a:p>
                <a:pPr lvl="0"/>
                <a:r>
                  <a:rPr lang="en-GB" sz="2000" b="1" dirty="0" err="1">
                    <a:solidFill>
                      <a:schemeClr val="accent3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chemeClr val="accent3"/>
                    </a:solidFill>
                  </a:rPr>
                  <a:t>display</a:t>
                </a:r>
                <a:r>
                  <a:rPr lang="en-GB" sz="2000" b="1" dirty="0">
                    <a:solidFill>
                      <a:schemeClr val="accent3"/>
                    </a:solidFill>
                  </a:rPr>
                  <a:t> = </a:t>
                </a:r>
                <a:r>
                  <a:rPr lang="en-GB" sz="2000" dirty="0" err="1">
                    <a:solidFill>
                      <a:srgbClr val="FFC000"/>
                    </a:solidFill>
                  </a:rPr>
                  <a:t>A</a:t>
                </a:r>
                <a:r>
                  <a:rPr lang="en-GB" sz="2000" b="1" dirty="0" err="1">
                    <a:solidFill>
                      <a:schemeClr val="accent3"/>
                    </a:solidFill>
                  </a:rPr>
                  <a:t>V</a:t>
                </a:r>
                <a:r>
                  <a:rPr lang="en-GB" sz="2000" b="1" baseline="-25000" dirty="0" err="1">
                    <a:solidFill>
                      <a:schemeClr val="accent3"/>
                    </a:solidFill>
                  </a:rPr>
                  <a:t>in</a:t>
                </a:r>
                <a:r>
                  <a:rPr lang="en-GB" sz="2000" b="1" baseline="30000" dirty="0" err="1">
                    <a:solidFill>
                      <a:schemeClr val="accent3"/>
                    </a:solidFill>
                    <a:latin typeface="Lucida Sans Unicode"/>
                    <a:cs typeface="Lucida Sans Unicode"/>
                  </a:rPr>
                  <a:t>ɣ</a:t>
                </a:r>
                <a:r>
                  <a:rPr lang="en-GB" sz="2000" b="1" dirty="0">
                    <a:solidFill>
                      <a:schemeClr val="accent3"/>
                    </a:solidFill>
                  </a:rPr>
                  <a:t> </a:t>
                </a:r>
                <a:endParaRPr lang="en-GB" dirty="0">
                  <a:solidFill>
                    <a:schemeClr val="accent3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6850" y="611916"/>
                <a:ext cx="3744665" cy="5847755"/>
              </a:xfrm>
              <a:prstGeom prst="rect">
                <a:avLst/>
              </a:prstGeom>
              <a:blipFill rotWithShape="0">
                <a:blip r:embed="rId2"/>
                <a:stretch>
                  <a:fillRect l="-3079" r="-1135" b="-728"/>
                </a:stretch>
              </a:blipFill>
              <a:ln>
                <a:solidFill>
                  <a:srgbClr val="FFFFCC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899343" y="1441094"/>
            <a:ext cx="4113522" cy="4009767"/>
            <a:chOff x="899343" y="1441094"/>
            <a:chExt cx="4113522" cy="4009767"/>
          </a:xfrm>
        </p:grpSpPr>
        <p:grpSp>
          <p:nvGrpSpPr>
            <p:cNvPr id="14" name="Group 1"/>
            <p:cNvGrpSpPr/>
            <p:nvPr/>
          </p:nvGrpSpPr>
          <p:grpSpPr>
            <a:xfrm>
              <a:off x="899343" y="1620728"/>
              <a:ext cx="4113522" cy="3830133"/>
              <a:chOff x="3923928" y="4077072"/>
              <a:chExt cx="2691172" cy="2292667"/>
            </a:xfrm>
          </p:grpSpPr>
          <p:cxnSp>
            <p:nvCxnSpPr>
              <p:cNvPr id="18" name="Straight Connector 17"/>
              <p:cNvCxnSpPr/>
              <p:nvPr/>
            </p:nvCxnSpPr>
            <p:spPr bwMode="auto">
              <a:xfrm>
                <a:off x="3923928" y="4077072"/>
                <a:ext cx="0" cy="2292667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9" name="Straight Connector 18"/>
              <p:cNvCxnSpPr/>
              <p:nvPr/>
            </p:nvCxnSpPr>
            <p:spPr bwMode="auto">
              <a:xfrm>
                <a:off x="3923928" y="6369739"/>
                <a:ext cx="2691172" cy="0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5" name="Freeform 14"/>
            <p:cNvSpPr/>
            <p:nvPr/>
          </p:nvSpPr>
          <p:spPr bwMode="auto">
            <a:xfrm>
              <a:off x="927017" y="1623974"/>
              <a:ext cx="3615722" cy="3764777"/>
            </a:xfrm>
            <a:custGeom>
              <a:avLst/>
              <a:gdLst>
                <a:gd name="connsiteX0" fmla="*/ 0 w 2374710"/>
                <a:gd name="connsiteY0" fmla="*/ 2210937 h 2210937"/>
                <a:gd name="connsiteX1" fmla="*/ 300251 w 2374710"/>
                <a:gd name="connsiteY1" fmla="*/ 1201003 h 2210937"/>
                <a:gd name="connsiteX2" fmla="*/ 818865 w 2374710"/>
                <a:gd name="connsiteY2" fmla="*/ 627797 h 2210937"/>
                <a:gd name="connsiteX3" fmla="*/ 2374710 w 2374710"/>
                <a:gd name="connsiteY3" fmla="*/ 0 h 2210937"/>
                <a:gd name="connsiteX4" fmla="*/ 2374710 w 2374710"/>
                <a:gd name="connsiteY4" fmla="*/ 0 h 2210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4710" h="2210937">
                  <a:moveTo>
                    <a:pt x="0" y="2210937"/>
                  </a:moveTo>
                  <a:cubicBezTo>
                    <a:pt x="81886" y="1837898"/>
                    <a:pt x="163773" y="1464860"/>
                    <a:pt x="300251" y="1201003"/>
                  </a:cubicBezTo>
                  <a:cubicBezTo>
                    <a:pt x="436729" y="937146"/>
                    <a:pt x="473122" y="827964"/>
                    <a:pt x="818865" y="627797"/>
                  </a:cubicBezTo>
                  <a:cubicBezTo>
                    <a:pt x="1164608" y="427630"/>
                    <a:pt x="2374710" y="0"/>
                    <a:pt x="2374710" y="0"/>
                  </a:cubicBezTo>
                  <a:lnTo>
                    <a:pt x="2374710" y="0"/>
                  </a:lnTo>
                </a:path>
              </a:pathLst>
            </a:cu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Lucida Sans Unicode" pitchFamily="34" charset="0"/>
              </a:endParaRPr>
            </a:p>
          </p:txBody>
        </p:sp>
        <p:sp>
          <p:nvSpPr>
            <p:cNvPr id="16" name="Freeform 15"/>
            <p:cNvSpPr/>
            <p:nvPr/>
          </p:nvSpPr>
          <p:spPr bwMode="auto">
            <a:xfrm>
              <a:off x="1007567" y="1441094"/>
              <a:ext cx="3579064" cy="3992483"/>
            </a:xfrm>
            <a:custGeom>
              <a:avLst/>
              <a:gdLst>
                <a:gd name="connsiteX0" fmla="*/ 0 w 2429302"/>
                <a:gd name="connsiteY0" fmla="*/ 2440675 h 2440675"/>
                <a:gd name="connsiteX1" fmla="*/ 641445 w 2429302"/>
                <a:gd name="connsiteY1" fmla="*/ 2276901 h 2440675"/>
                <a:gd name="connsiteX2" fmla="*/ 1460311 w 2429302"/>
                <a:gd name="connsiteY2" fmla="*/ 1703695 h 2440675"/>
                <a:gd name="connsiteX3" fmla="*/ 2292824 w 2429302"/>
                <a:gd name="connsiteY3" fmla="*/ 243385 h 2440675"/>
                <a:gd name="connsiteX4" fmla="*/ 2279176 w 2429302"/>
                <a:gd name="connsiteY4" fmla="*/ 243385 h 2440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29302" h="2440675">
                  <a:moveTo>
                    <a:pt x="0" y="2440675"/>
                  </a:moveTo>
                  <a:cubicBezTo>
                    <a:pt x="199030" y="2420203"/>
                    <a:pt x="398060" y="2399731"/>
                    <a:pt x="641445" y="2276901"/>
                  </a:cubicBezTo>
                  <a:cubicBezTo>
                    <a:pt x="884830" y="2154071"/>
                    <a:pt x="1185081" y="2042614"/>
                    <a:pt x="1460311" y="1703695"/>
                  </a:cubicBezTo>
                  <a:cubicBezTo>
                    <a:pt x="1735541" y="1364776"/>
                    <a:pt x="2156347" y="486770"/>
                    <a:pt x="2292824" y="243385"/>
                  </a:cubicBezTo>
                  <a:cubicBezTo>
                    <a:pt x="2429302" y="0"/>
                    <a:pt x="2279176" y="243385"/>
                    <a:pt x="2279176" y="243385"/>
                  </a:cubicBezTo>
                </a:path>
              </a:pathLst>
            </a:custGeom>
            <a:noFill/>
            <a:ln w="2857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600" b="0" i="0" u="none" strike="noStrike" cap="none" normalizeH="0" baseline="0">
                <a:ln>
                  <a:noFill/>
                </a:ln>
                <a:solidFill>
                  <a:srgbClr val="FFFF00"/>
                </a:solidFill>
                <a:effectLst/>
                <a:latin typeface="Lucida Sans Unicode" pitchFamily="34" charset="0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 flipV="1">
              <a:off x="899343" y="1620728"/>
              <a:ext cx="3630253" cy="383013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6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2" name="Straight Connector 21"/>
          <p:cNvCxnSpPr/>
          <p:nvPr/>
        </p:nvCxnSpPr>
        <p:spPr bwMode="auto">
          <a:xfrm>
            <a:off x="899592" y="5445224"/>
            <a:ext cx="410445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Straight Connector 23"/>
          <p:cNvCxnSpPr/>
          <p:nvPr/>
        </p:nvCxnSpPr>
        <p:spPr bwMode="auto">
          <a:xfrm>
            <a:off x="899592" y="1556792"/>
            <a:ext cx="0" cy="3888432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Straight Connector 26"/>
          <p:cNvCxnSpPr/>
          <p:nvPr/>
        </p:nvCxnSpPr>
        <p:spPr bwMode="auto">
          <a:xfrm flipV="1">
            <a:off x="899592" y="1628800"/>
            <a:ext cx="3600400" cy="381642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00B0F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26" name="Group 23"/>
          <p:cNvGrpSpPr>
            <a:grpSpLocks/>
          </p:cNvGrpSpPr>
          <p:nvPr/>
        </p:nvGrpSpPr>
        <p:grpSpPr bwMode="auto">
          <a:xfrm rot="5400000">
            <a:off x="2875795" y="3504556"/>
            <a:ext cx="151801" cy="4104705"/>
            <a:chOff x="7720013" y="1573823"/>
            <a:chExt cx="720969" cy="2584932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2" name="Group 23"/>
          <p:cNvGrpSpPr>
            <a:grpSpLocks/>
          </p:cNvGrpSpPr>
          <p:nvPr/>
        </p:nvGrpSpPr>
        <p:grpSpPr bwMode="auto">
          <a:xfrm>
            <a:off x="709268" y="1384982"/>
            <a:ext cx="147585" cy="4104705"/>
            <a:chOff x="7720013" y="1573823"/>
            <a:chExt cx="720969" cy="2584932"/>
          </a:xfrm>
        </p:grpSpPr>
        <p:sp>
          <p:nvSpPr>
            <p:cNvPr id="43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44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6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1" name="Straight Arrow Connector 20"/>
          <p:cNvCxnSpPr/>
          <p:nvPr/>
        </p:nvCxnSpPr>
        <p:spPr bwMode="auto">
          <a:xfrm flipH="1">
            <a:off x="2951696" y="2088910"/>
            <a:ext cx="2206032" cy="26928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/>
          <p:cNvCxnSpPr/>
          <p:nvPr/>
        </p:nvCxnSpPr>
        <p:spPr bwMode="auto">
          <a:xfrm flipH="1">
            <a:off x="3538082" y="3684964"/>
            <a:ext cx="1685825" cy="220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1" name="Oval 60"/>
          <p:cNvSpPr/>
          <p:nvPr/>
        </p:nvSpPr>
        <p:spPr bwMode="auto">
          <a:xfrm>
            <a:off x="6843600" y="1556792"/>
            <a:ext cx="654973" cy="414576"/>
          </a:xfrm>
          <a:prstGeom prst="ellipse">
            <a:avLst/>
          </a:prstGeom>
          <a:noFill/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62" name="Oval 61"/>
          <p:cNvSpPr/>
          <p:nvPr/>
        </p:nvSpPr>
        <p:spPr bwMode="auto">
          <a:xfrm>
            <a:off x="7265869" y="3462548"/>
            <a:ext cx="366966" cy="414576"/>
          </a:xfrm>
          <a:prstGeom prst="ellipse">
            <a:avLst/>
          </a:prstGeom>
          <a:noFill/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63" name="Straight Arrow Connector 62"/>
          <p:cNvCxnSpPr/>
          <p:nvPr/>
        </p:nvCxnSpPr>
        <p:spPr bwMode="auto">
          <a:xfrm flipH="1">
            <a:off x="7449352" y="1418155"/>
            <a:ext cx="552744" cy="30865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67" name="Straight Arrow Connector 66"/>
          <p:cNvCxnSpPr>
            <a:endCxn id="62" idx="1"/>
          </p:cNvCxnSpPr>
          <p:nvPr/>
        </p:nvCxnSpPr>
        <p:spPr bwMode="auto">
          <a:xfrm>
            <a:off x="7120698" y="3290737"/>
            <a:ext cx="198912" cy="2325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accent3">
                <a:lumMod val="75000"/>
              </a:schemeClr>
            </a:solidFill>
            <a:prstDash val="dash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394591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5288" y="6256166"/>
            <a:ext cx="485819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hlinkClick r:id="rId2"/>
              </a:rPr>
              <a:t>http://www.cambridgeincolour.com/tutorials/gamma-correction.htm</a:t>
            </a:r>
            <a:endParaRPr lang="en-GB" sz="10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2065" y="836401"/>
            <a:ext cx="3772122" cy="350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Connector 8"/>
          <p:cNvCxnSpPr/>
          <p:nvPr/>
        </p:nvCxnSpPr>
        <p:spPr bwMode="auto">
          <a:xfrm flipV="1">
            <a:off x="6607833" y="2415396"/>
            <a:ext cx="8627" cy="1181819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 flipH="1" flipV="1">
            <a:off x="5952226" y="2415396"/>
            <a:ext cx="664234" cy="86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3" name="Group 23"/>
          <p:cNvGrpSpPr/>
          <p:nvPr/>
        </p:nvGrpSpPr>
        <p:grpSpPr>
          <a:xfrm>
            <a:off x="6901133" y="5658927"/>
            <a:ext cx="2018580" cy="897148"/>
            <a:chOff x="6003986" y="4520242"/>
            <a:chExt cx="2018580" cy="897148"/>
          </a:xfrm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30297" y="4540024"/>
              <a:ext cx="1992269" cy="877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" name="TextBox 12"/>
            <p:cNvSpPr txBox="1"/>
            <p:nvPr/>
          </p:nvSpPr>
          <p:spPr>
            <a:xfrm>
              <a:off x="6003986" y="4520242"/>
              <a:ext cx="20088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dirty="0"/>
            </a:p>
            <a:p>
              <a:pPr algn="ctr"/>
              <a:r>
                <a:rPr lang="en-GB" dirty="0"/>
                <a:t>Reference Tone</a:t>
              </a:r>
            </a:p>
          </p:txBody>
        </p:sp>
      </p:grpSp>
      <p:grpSp>
        <p:nvGrpSpPr>
          <p:cNvPr id="5" name="Group 17"/>
          <p:cNvGrpSpPr/>
          <p:nvPr/>
        </p:nvGrpSpPr>
        <p:grpSpPr>
          <a:xfrm>
            <a:off x="6557695" y="4524554"/>
            <a:ext cx="2198116" cy="879246"/>
            <a:chOff x="3288284" y="4852358"/>
            <a:chExt cx="2198116" cy="879246"/>
          </a:xfrm>
        </p:grpSpPr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8284" y="4852358"/>
              <a:ext cx="2198116" cy="87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/>
          </p:nvSpPr>
          <p:spPr>
            <a:xfrm>
              <a:off x="3329797" y="4865297"/>
              <a:ext cx="20358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Camera detects this as 50% as bright </a:t>
              </a:r>
            </a:p>
          </p:txBody>
        </p:sp>
      </p:grpSp>
      <p:grpSp>
        <p:nvGrpSpPr>
          <p:cNvPr id="6" name="Group 16"/>
          <p:cNvGrpSpPr/>
          <p:nvPr/>
        </p:nvGrpSpPr>
        <p:grpSpPr>
          <a:xfrm>
            <a:off x="4268547" y="4989303"/>
            <a:ext cx="2213215" cy="885286"/>
            <a:chOff x="5884831" y="4790895"/>
            <a:chExt cx="2213215" cy="885286"/>
          </a:xfrm>
        </p:grpSpPr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884831" y="4790895"/>
              <a:ext cx="2213215" cy="885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6" name="TextBox 15"/>
            <p:cNvSpPr txBox="1"/>
            <p:nvPr/>
          </p:nvSpPr>
          <p:spPr>
            <a:xfrm>
              <a:off x="6055744" y="4813540"/>
              <a:ext cx="17856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Eyes detect this as 50% as bright </a:t>
              </a:r>
            </a:p>
          </p:txBody>
        </p:sp>
      </p:grpSp>
      <p:cxnSp>
        <p:nvCxnSpPr>
          <p:cNvPr id="32" name="Straight Arrow Connector 31"/>
          <p:cNvCxnSpPr/>
          <p:nvPr/>
        </p:nvCxnSpPr>
        <p:spPr bwMode="auto">
          <a:xfrm flipH="1" flipV="1">
            <a:off x="6961517" y="5193103"/>
            <a:ext cx="215660" cy="586595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4" name="Straight Arrow Connector 33"/>
          <p:cNvCxnSpPr/>
          <p:nvPr/>
        </p:nvCxnSpPr>
        <p:spPr bwMode="auto">
          <a:xfrm flipH="1" flipV="1">
            <a:off x="6305909" y="5564037"/>
            <a:ext cx="707366" cy="405443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6" name="TextBox 35"/>
          <p:cNvSpPr txBox="1"/>
          <p:nvPr/>
        </p:nvSpPr>
        <p:spPr>
          <a:xfrm>
            <a:off x="395288" y="333375"/>
            <a:ext cx="815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Eye Response Compared to Camera ... 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288" y="1412776"/>
            <a:ext cx="3771270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u="sng" dirty="0">
                <a:solidFill>
                  <a:srgbClr val="FFFF00"/>
                </a:solidFill>
              </a:rPr>
              <a:t>Camera</a:t>
            </a:r>
            <a:r>
              <a:rPr lang="en-GB" dirty="0">
                <a:solidFill>
                  <a:srgbClr val="FFFF00"/>
                </a:solidFill>
              </a:rPr>
              <a:t> response is linear ...</a:t>
            </a:r>
          </a:p>
          <a:p>
            <a:pPr marL="180975" indent="-180975">
              <a:lnSpc>
                <a:spcPct val="150000"/>
              </a:lnSpc>
            </a:pPr>
            <a:r>
              <a:rPr lang="en-GB" u="sng" dirty="0">
                <a:solidFill>
                  <a:srgbClr val="FFFF00"/>
                </a:solidFill>
              </a:rPr>
              <a:t>Eyes</a:t>
            </a:r>
            <a:r>
              <a:rPr lang="en-GB" dirty="0">
                <a:solidFill>
                  <a:srgbClr val="FFFF00"/>
                </a:solidFill>
              </a:rPr>
              <a:t> are much more sensitive to changes in dark tones than we are to similar changes in bright tones</a:t>
            </a:r>
          </a:p>
          <a:p>
            <a:pPr marL="449263" lvl="1" indent="-268288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this enables our vision to operate over a broader range of luminance</a:t>
            </a:r>
          </a:p>
          <a:p>
            <a:pPr marL="449263" lvl="1" indent="-268288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... otherwise - outdoors brightness ranges would be too overwhelming</a:t>
            </a:r>
          </a:p>
          <a:p>
            <a:endParaRPr lang="en-GB" sz="1100" dirty="0"/>
          </a:p>
        </p:txBody>
      </p:sp>
      <p:pic>
        <p:nvPicPr>
          <p:cNvPr id="23" name="Picture 1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895976" y="1504949"/>
            <a:ext cx="604772" cy="3540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26" name="Picture 3" descr="C:\Users\jdfoss\Desktop\Clipboard01.gif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rot="20973913" flipH="1">
            <a:off x="7013336" y="2005368"/>
            <a:ext cx="759269" cy="553365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/>
        </p:nvSpPr>
        <p:spPr>
          <a:xfrm>
            <a:off x="7143556" y="6160275"/>
            <a:ext cx="15600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GB" sz="1400" dirty="0"/>
              <a:t>(full brightness)</a:t>
            </a:r>
          </a:p>
        </p:txBody>
      </p:sp>
      <p:grpSp>
        <p:nvGrpSpPr>
          <p:cNvPr id="27" name="Group 23"/>
          <p:cNvGrpSpPr>
            <a:grpSpLocks/>
          </p:cNvGrpSpPr>
          <p:nvPr/>
        </p:nvGrpSpPr>
        <p:grpSpPr bwMode="auto">
          <a:xfrm rot="5400000">
            <a:off x="6569006" y="2474073"/>
            <a:ext cx="91226" cy="2441285"/>
            <a:chOff x="7720013" y="1573823"/>
            <a:chExt cx="720969" cy="2584932"/>
          </a:xfrm>
        </p:grpSpPr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20" name="Straight Arrow Connector 19"/>
          <p:cNvCxnSpPr/>
          <p:nvPr/>
        </p:nvCxnSpPr>
        <p:spPr bwMode="auto">
          <a:xfrm flipH="1" flipV="1">
            <a:off x="6719978" y="3528204"/>
            <a:ext cx="517584" cy="871267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flipV="1">
            <a:off x="5262113" y="3666226"/>
            <a:ext cx="517584" cy="1224952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46" name="Group 23"/>
          <p:cNvGrpSpPr>
            <a:grpSpLocks/>
          </p:cNvGrpSpPr>
          <p:nvPr/>
        </p:nvGrpSpPr>
        <p:grpSpPr bwMode="auto">
          <a:xfrm>
            <a:off x="5318183" y="1224941"/>
            <a:ext cx="84048" cy="2441285"/>
            <a:chOff x="7720013" y="1573823"/>
            <a:chExt cx="720969" cy="2584932"/>
          </a:xfrm>
        </p:grpSpPr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04758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5288" y="6256166"/>
            <a:ext cx="485819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050" dirty="0">
                <a:hlinkClick r:id="rId2"/>
              </a:rPr>
              <a:t>http://www.cambridgeincolour.com/tutorials/gamma-correction.htm</a:t>
            </a:r>
            <a:endParaRPr lang="en-GB" sz="105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72065" y="836401"/>
            <a:ext cx="3772122" cy="35026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Straight Connector 4"/>
          <p:cNvCxnSpPr/>
          <p:nvPr/>
        </p:nvCxnSpPr>
        <p:spPr bwMode="auto">
          <a:xfrm flipV="1">
            <a:off x="6607833" y="2415396"/>
            <a:ext cx="8627" cy="1181819"/>
          </a:xfrm>
          <a:prstGeom prst="line">
            <a:avLst/>
          </a:prstGeom>
          <a:solidFill>
            <a:schemeClr val="accent1"/>
          </a:solidFill>
          <a:ln w="317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" name="Straight Arrow Connector 5"/>
          <p:cNvCxnSpPr/>
          <p:nvPr/>
        </p:nvCxnSpPr>
        <p:spPr bwMode="auto">
          <a:xfrm flipH="1" flipV="1">
            <a:off x="5952226" y="2415396"/>
            <a:ext cx="664234" cy="8627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7" name="Group 6"/>
          <p:cNvGrpSpPr/>
          <p:nvPr/>
        </p:nvGrpSpPr>
        <p:grpSpPr>
          <a:xfrm>
            <a:off x="6901133" y="5658927"/>
            <a:ext cx="2018580" cy="897148"/>
            <a:chOff x="6003986" y="4520242"/>
            <a:chExt cx="2018580" cy="897148"/>
          </a:xfrm>
        </p:grpSpPr>
        <p:pic>
          <p:nvPicPr>
            <p:cNvPr id="8" name="Picture 5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030297" y="4540024"/>
              <a:ext cx="1992269" cy="877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/>
          </p:nvSpPr>
          <p:spPr>
            <a:xfrm>
              <a:off x="6003986" y="4520242"/>
              <a:ext cx="200880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en-GB" dirty="0"/>
            </a:p>
            <a:p>
              <a:pPr algn="ctr"/>
              <a:r>
                <a:rPr lang="en-GB" dirty="0"/>
                <a:t>Reference Tone</a:t>
              </a:r>
            </a:p>
            <a:p>
              <a:pPr algn="ctr"/>
              <a:r>
                <a:rPr lang="en-GB" sz="1400" dirty="0"/>
                <a:t>(full brightness)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6557695" y="4524554"/>
            <a:ext cx="2198116" cy="879246"/>
            <a:chOff x="3288284" y="4852358"/>
            <a:chExt cx="2198116" cy="879246"/>
          </a:xfrm>
        </p:grpSpPr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3288284" y="4852358"/>
              <a:ext cx="2198116" cy="8792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2" name="TextBox 11"/>
            <p:cNvSpPr txBox="1"/>
            <p:nvPr/>
          </p:nvSpPr>
          <p:spPr>
            <a:xfrm>
              <a:off x="3329797" y="4865297"/>
              <a:ext cx="2035833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Camera detects this as 50% as bright</a:t>
              </a:r>
            </a:p>
          </p:txBody>
        </p:sp>
      </p:grpSp>
      <p:grpSp>
        <p:nvGrpSpPr>
          <p:cNvPr id="13" name="Group 12"/>
          <p:cNvGrpSpPr/>
          <p:nvPr/>
        </p:nvGrpSpPr>
        <p:grpSpPr>
          <a:xfrm>
            <a:off x="4268547" y="4989303"/>
            <a:ext cx="2213215" cy="885286"/>
            <a:chOff x="5884831" y="4790895"/>
            <a:chExt cx="2213215" cy="885286"/>
          </a:xfrm>
        </p:grpSpPr>
        <p:pic>
          <p:nvPicPr>
            <p:cNvPr id="14" name="Picture 3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5884831" y="4790895"/>
              <a:ext cx="2213215" cy="8852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5" name="TextBox 14"/>
            <p:cNvSpPr txBox="1"/>
            <p:nvPr/>
          </p:nvSpPr>
          <p:spPr>
            <a:xfrm>
              <a:off x="6055744" y="4813540"/>
              <a:ext cx="17856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Eyes detect this as 50% as bright </a:t>
              </a:r>
            </a:p>
          </p:txBody>
        </p:sp>
      </p:grpSp>
      <p:cxnSp>
        <p:nvCxnSpPr>
          <p:cNvPr id="18" name="Straight Arrow Connector 17"/>
          <p:cNvCxnSpPr/>
          <p:nvPr/>
        </p:nvCxnSpPr>
        <p:spPr bwMode="auto">
          <a:xfrm flipH="1" flipV="1">
            <a:off x="6961517" y="5193103"/>
            <a:ext cx="215660" cy="586595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 flipV="1">
            <a:off x="6305909" y="5564037"/>
            <a:ext cx="707366" cy="405443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95288" y="333375"/>
            <a:ext cx="8153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Eye Response Compared to Camera ... 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288" y="1484784"/>
            <a:ext cx="3771270" cy="3954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>
                <a:solidFill>
                  <a:srgbClr val="FFFF00"/>
                </a:solidFill>
              </a:rPr>
              <a:t>Gamma translates between our eye's light sensitivity and that of the camera</a:t>
            </a:r>
          </a:p>
          <a:p>
            <a:pPr marL="180975" indent="-180975">
              <a:lnSpc>
                <a:spcPct val="150000"/>
              </a:lnSpc>
            </a:pPr>
            <a:endParaRPr lang="en-GB" b="1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when a digital image is saved, it's gamma encoded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the file more closely corresponds to what we would perceive in brightness increases</a:t>
            </a:r>
          </a:p>
          <a:p>
            <a:endParaRPr lang="en-GB" sz="1100" dirty="0"/>
          </a:p>
        </p:txBody>
      </p:sp>
      <p:grpSp>
        <p:nvGrpSpPr>
          <p:cNvPr id="22" name="Group 23"/>
          <p:cNvGrpSpPr>
            <a:grpSpLocks/>
          </p:cNvGrpSpPr>
          <p:nvPr/>
        </p:nvGrpSpPr>
        <p:grpSpPr bwMode="auto">
          <a:xfrm rot="5400000">
            <a:off x="6569006" y="2474073"/>
            <a:ext cx="91226" cy="2441285"/>
            <a:chOff x="7720013" y="1573823"/>
            <a:chExt cx="720969" cy="2584932"/>
          </a:xfrm>
        </p:grpSpPr>
        <p:sp>
          <p:nvSpPr>
            <p:cNvPr id="23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24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6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7" name="Group 23"/>
          <p:cNvGrpSpPr>
            <a:grpSpLocks/>
          </p:cNvGrpSpPr>
          <p:nvPr/>
        </p:nvGrpSpPr>
        <p:grpSpPr bwMode="auto">
          <a:xfrm>
            <a:off x="5318183" y="1224941"/>
            <a:ext cx="84048" cy="2441285"/>
            <a:chOff x="7720013" y="1573823"/>
            <a:chExt cx="720969" cy="2584932"/>
          </a:xfrm>
        </p:grpSpPr>
        <p:sp>
          <p:nvSpPr>
            <p:cNvPr id="3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4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cxnSp>
        <p:nvCxnSpPr>
          <p:cNvPr id="16" name="Straight Arrow Connector 15"/>
          <p:cNvCxnSpPr/>
          <p:nvPr/>
        </p:nvCxnSpPr>
        <p:spPr bwMode="auto">
          <a:xfrm flipH="1" flipV="1">
            <a:off x="6719978" y="3528204"/>
            <a:ext cx="517584" cy="871267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7" name="Straight Arrow Connector 16"/>
          <p:cNvCxnSpPr/>
          <p:nvPr/>
        </p:nvCxnSpPr>
        <p:spPr bwMode="auto">
          <a:xfrm flipV="1">
            <a:off x="5262113" y="3666226"/>
            <a:ext cx="517584" cy="1224952"/>
          </a:xfrm>
          <a:prstGeom prst="straightConnector1">
            <a:avLst/>
          </a:prstGeom>
          <a:solidFill>
            <a:schemeClr val="accent1"/>
          </a:solidFill>
          <a:ln w="476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0881897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653" y="2044461"/>
            <a:ext cx="6758594" cy="102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026" y="3398809"/>
            <a:ext cx="6753034" cy="802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025" y="4183812"/>
            <a:ext cx="6752975" cy="80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1547337" y="2690381"/>
            <a:ext cx="3837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Encoded using only 32 levels (5 bits)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 flipH="1">
            <a:off x="4166559" y="2993367"/>
            <a:ext cx="7100" cy="491706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395288" y="2449903"/>
            <a:ext cx="1863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Original: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288" y="3545459"/>
            <a:ext cx="14578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Linear</a:t>
            </a:r>
            <a:br>
              <a:rPr lang="en-GB" dirty="0">
                <a:solidFill>
                  <a:srgbClr val="FFFF00"/>
                </a:solidFill>
              </a:rPr>
            </a:br>
            <a:r>
              <a:rPr lang="en-GB" dirty="0">
                <a:solidFill>
                  <a:srgbClr val="FFFF00"/>
                </a:solidFill>
              </a:rPr>
              <a:t>Encoding: 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Gamma</a:t>
            </a:r>
            <a:br>
              <a:rPr lang="en-GB" dirty="0">
                <a:solidFill>
                  <a:srgbClr val="FFFF00"/>
                </a:solidFill>
              </a:rPr>
            </a:br>
            <a:r>
              <a:rPr lang="en-GB" dirty="0">
                <a:solidFill>
                  <a:srgbClr val="FFFF00"/>
                </a:solidFill>
              </a:rPr>
              <a:t>Encoding: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5288" y="836763"/>
            <a:ext cx="8550304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b="1" dirty="0">
                <a:solidFill>
                  <a:srgbClr val="FFCC66"/>
                </a:solidFill>
              </a:rPr>
              <a:t>Gamma encoded images store tones more efficiently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redistributes tonal levels closer to how our eyes perceive them</a:t>
            </a:r>
          </a:p>
          <a:p>
            <a:pPr marL="180975" indent="-180975">
              <a:lnSpc>
                <a:spcPts val="2400"/>
              </a:lnSpc>
            </a:pP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95288" y="333375"/>
            <a:ext cx="4989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 – the reason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0538" y="5257081"/>
            <a:ext cx="793782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CC66"/>
                </a:solidFill>
              </a:rPr>
              <a:t>... otherwise, more bits required for brighter tones </a:t>
            </a:r>
          </a:p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CC66"/>
                </a:solidFill>
              </a:rPr>
              <a:t>		(where the camera is relatively more sensitive than the eye)</a:t>
            </a:r>
          </a:p>
          <a:p>
            <a:pPr>
              <a:lnSpc>
                <a:spcPts val="2400"/>
              </a:lnSpc>
            </a:pPr>
            <a:r>
              <a:rPr lang="en-GB" dirty="0">
                <a:solidFill>
                  <a:srgbClr val="FFCC66"/>
                </a:solidFill>
              </a:rPr>
              <a:t>… a shortage of bits for darker tones </a:t>
            </a:r>
          </a:p>
          <a:p>
            <a:pPr>
              <a:lnSpc>
                <a:spcPts val="2400"/>
              </a:lnSpc>
            </a:pPr>
            <a:r>
              <a:rPr lang="en-GB" dirty="0">
                <a:solidFill>
                  <a:srgbClr val="FFCC66"/>
                </a:solidFill>
              </a:rPr>
              <a:t>	(where the camera is relatively less sensitive than the eye)</a:t>
            </a:r>
          </a:p>
        </p:txBody>
      </p:sp>
    </p:spTree>
    <p:extLst>
      <p:ext uri="{BB962C8B-B14F-4D97-AF65-F5344CB8AC3E}">
        <p14:creationId xmlns:p14="http://schemas.microsoft.com/office/powerpoint/2010/main" val="3639464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333375"/>
            <a:ext cx="393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Gamma (</a:t>
            </a:r>
            <a:r>
              <a:rPr lang="en-GB" sz="2400" b="1" dirty="0">
                <a:solidFill>
                  <a:srgbClr val="FFFF00"/>
                </a:solidFill>
                <a:latin typeface="Lucida Sans Unicode"/>
                <a:cs typeface="Lucida Sans Unicode"/>
              </a:rPr>
              <a:t>ɣ) – the effect</a:t>
            </a:r>
            <a:r>
              <a:rPr lang="en-GB" sz="2400" b="1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288" y="931653"/>
            <a:ext cx="51428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/>
            <a:r>
              <a:rPr lang="en-GB" b="1" dirty="0">
                <a:solidFill>
                  <a:srgbClr val="FFCC66"/>
                </a:solidFill>
              </a:rPr>
              <a:t>Linear encoding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insufficient levels to describe the dark tones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excess of levels to describe the bright tones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83653" y="2044461"/>
            <a:ext cx="6758594" cy="10270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026" y="3398809"/>
            <a:ext cx="6753034" cy="8022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5025" y="4183812"/>
            <a:ext cx="6752975" cy="8022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Rectangle 14"/>
          <p:cNvSpPr/>
          <p:nvPr/>
        </p:nvSpPr>
        <p:spPr>
          <a:xfrm>
            <a:off x="1547337" y="2690381"/>
            <a:ext cx="3837910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Encoded using only 32 levels (5 bits)</a:t>
            </a:r>
          </a:p>
        </p:txBody>
      </p:sp>
      <p:cxnSp>
        <p:nvCxnSpPr>
          <p:cNvPr id="16" name="Straight Arrow Connector 15"/>
          <p:cNvCxnSpPr/>
          <p:nvPr/>
        </p:nvCxnSpPr>
        <p:spPr bwMode="auto">
          <a:xfrm flipH="1">
            <a:off x="4166559" y="2993367"/>
            <a:ext cx="7100" cy="491706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395288" y="2449903"/>
            <a:ext cx="18633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Original: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288" y="3545459"/>
            <a:ext cx="145786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Linear</a:t>
            </a:r>
            <a:br>
              <a:rPr lang="en-GB" dirty="0">
                <a:solidFill>
                  <a:srgbClr val="FFFF00"/>
                </a:solidFill>
              </a:rPr>
            </a:br>
            <a:r>
              <a:rPr lang="en-GB" dirty="0">
                <a:solidFill>
                  <a:srgbClr val="FFFF00"/>
                </a:solidFill>
              </a:rPr>
              <a:t>Encoding: </a:t>
            </a:r>
          </a:p>
          <a:p>
            <a:endParaRPr lang="en-GB" dirty="0">
              <a:solidFill>
                <a:srgbClr val="FFFF00"/>
              </a:solidFill>
            </a:endParaRPr>
          </a:p>
          <a:p>
            <a:r>
              <a:rPr lang="en-GB" dirty="0">
                <a:solidFill>
                  <a:srgbClr val="FFFF00"/>
                </a:solidFill>
              </a:rPr>
              <a:t>Gamma</a:t>
            </a:r>
            <a:br>
              <a:rPr lang="en-GB" dirty="0">
                <a:solidFill>
                  <a:srgbClr val="FFFF00"/>
                </a:solidFill>
              </a:rPr>
            </a:br>
            <a:r>
              <a:rPr lang="en-GB" dirty="0">
                <a:solidFill>
                  <a:srgbClr val="FFFF00"/>
                </a:solidFill>
              </a:rPr>
              <a:t>Encoding: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5288" y="5357856"/>
            <a:ext cx="701480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b="1" dirty="0">
                <a:solidFill>
                  <a:srgbClr val="FFCC66"/>
                </a:solidFill>
              </a:rPr>
              <a:t>Gamma encoded gradient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distributes tones evenly across the full range </a:t>
            </a:r>
          </a:p>
          <a:p>
            <a:pPr marL="180975" indent="-180975"/>
            <a:r>
              <a:rPr lang="en-GB" dirty="0">
                <a:solidFill>
                  <a:srgbClr val="FFCC66"/>
                </a:solidFill>
              </a:rPr>
              <a:t>		- </a:t>
            </a:r>
            <a:r>
              <a:rPr lang="en-GB" i="1" dirty="0">
                <a:solidFill>
                  <a:srgbClr val="FFCC66"/>
                </a:solidFill>
              </a:rPr>
              <a:t>perceptually uniform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391511" y="1544666"/>
            <a:ext cx="320902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b="1" dirty="0">
                <a:solidFill>
                  <a:srgbClr val="FFCC66"/>
                </a:solidFill>
              </a:rPr>
              <a:t>Normally for images: at least 256 levels (8 bits)</a:t>
            </a:r>
          </a:p>
          <a:p>
            <a:pPr marL="180975" indent="-180975"/>
            <a:r>
              <a:rPr lang="en-GB" dirty="0"/>
              <a:t>... enough to make tones appear smooth and continuous ...</a:t>
            </a:r>
          </a:p>
        </p:txBody>
      </p:sp>
      <p:cxnSp>
        <p:nvCxnSpPr>
          <p:cNvPr id="21" name="Straight Arrow Connector 20"/>
          <p:cNvCxnSpPr/>
          <p:nvPr/>
        </p:nvCxnSpPr>
        <p:spPr bwMode="auto">
          <a:xfrm>
            <a:off x="2284475" y="1708031"/>
            <a:ext cx="1148838" cy="2070339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3" name="Straight Arrow Connector 22"/>
          <p:cNvCxnSpPr>
            <a:cxnSpLocks/>
          </p:cNvCxnSpPr>
          <p:nvPr/>
        </p:nvCxnSpPr>
        <p:spPr bwMode="auto">
          <a:xfrm flipV="1">
            <a:off x="3119586" y="4666891"/>
            <a:ext cx="650157" cy="724614"/>
          </a:xfrm>
          <a:prstGeom prst="straightConnector1">
            <a:avLst/>
          </a:prstGeom>
          <a:solidFill>
            <a:schemeClr val="accent1"/>
          </a:solidFill>
          <a:ln w="31750" cap="flat" cmpd="sng" algn="ctr">
            <a:solidFill>
              <a:srgbClr val="FFC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6" name="Rectangle 25"/>
          <p:cNvSpPr/>
          <p:nvPr/>
        </p:nvSpPr>
        <p:spPr>
          <a:xfrm>
            <a:off x="5434644" y="3427568"/>
            <a:ext cx="286397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0975" indent="-180975"/>
            <a:r>
              <a:rPr lang="en-GB" dirty="0"/>
              <a:t>... if linear encoding were used:</a:t>
            </a:r>
          </a:p>
          <a:p>
            <a:pPr marL="180975" indent="-180975"/>
            <a:r>
              <a:rPr lang="en-GB" dirty="0"/>
              <a:t>  8X as many levels (11 bits) would be required to avoid image posterization</a:t>
            </a:r>
          </a:p>
        </p:txBody>
      </p:sp>
      <p:sp>
        <p:nvSpPr>
          <p:cNvPr id="4" name="Rectangle 3"/>
          <p:cNvSpPr/>
          <p:nvPr/>
        </p:nvSpPr>
        <p:spPr bwMode="auto">
          <a:xfrm>
            <a:off x="5385247" y="1371600"/>
            <a:ext cx="3018089" cy="3847381"/>
          </a:xfrm>
          <a:prstGeom prst="rect">
            <a:avLst/>
          </a:prstGeom>
          <a:noFill/>
          <a:ln w="9525" cap="flat" cmpd="sng" algn="ctr">
            <a:solidFill>
              <a:schemeClr val="accent3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7840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988840"/>
            <a:ext cx="3456632" cy="325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1331640" y="5301208"/>
            <a:ext cx="208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Image File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3608" y="5589240"/>
            <a:ext cx="2664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FF00"/>
                </a:solidFill>
              </a:rPr>
              <a:t>Depicts an image in the </a:t>
            </a:r>
            <a:r>
              <a:rPr lang="en-GB" sz="1400" dirty="0" err="1">
                <a:solidFill>
                  <a:srgbClr val="FFFF00"/>
                </a:solidFill>
              </a:rPr>
              <a:t>sRGB</a:t>
            </a:r>
            <a:r>
              <a:rPr lang="en-GB" sz="1400" dirty="0">
                <a:solidFill>
                  <a:srgbClr val="FFFF00"/>
                </a:solidFill>
              </a:rPr>
              <a:t> colour space ... which encodes using a gamma of approx. 1/2.2 ~ 0.45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333375"/>
            <a:ext cx="8558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Gamma Encoding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83968" y="3356992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low-light regions are encoded to expand the range to match the eye response</a:t>
            </a:r>
          </a:p>
        </p:txBody>
      </p:sp>
      <p:sp>
        <p:nvSpPr>
          <p:cNvPr id="9" name="Right Brace 8"/>
          <p:cNvSpPr/>
          <p:nvPr/>
        </p:nvSpPr>
        <p:spPr bwMode="auto">
          <a:xfrm rot="1952264">
            <a:off x="1527501" y="3349682"/>
            <a:ext cx="288032" cy="1080120"/>
          </a:xfrm>
          <a:prstGeom prst="rightBrace">
            <a:avLst>
              <a:gd name="adj1" fmla="val 41278"/>
              <a:gd name="adj2" fmla="val 50000"/>
            </a:avLst>
          </a:prstGeom>
          <a:noFill/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11" name="Straight Arrow Connector 10"/>
          <p:cNvCxnSpPr/>
          <p:nvPr/>
        </p:nvCxnSpPr>
        <p:spPr bwMode="auto">
          <a:xfrm flipH="1">
            <a:off x="1907704" y="3645024"/>
            <a:ext cx="2304256" cy="36004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3" name="Rectangle 12"/>
          <p:cNvSpPr/>
          <p:nvPr/>
        </p:nvSpPr>
        <p:spPr>
          <a:xfrm>
            <a:off x="1115616" y="1340768"/>
            <a:ext cx="244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video is recorded with Gamma encoding</a:t>
            </a:r>
            <a:endParaRPr lang="en-GB" dirty="0">
              <a:solidFill>
                <a:srgbClr val="FFFF00"/>
              </a:solidFill>
            </a:endParaRPr>
          </a:p>
        </p:txBody>
      </p:sp>
      <p:grpSp>
        <p:nvGrpSpPr>
          <p:cNvPr id="12" name="Group 23"/>
          <p:cNvGrpSpPr>
            <a:grpSpLocks/>
          </p:cNvGrpSpPr>
          <p:nvPr/>
        </p:nvGrpSpPr>
        <p:grpSpPr bwMode="auto">
          <a:xfrm rot="5400000">
            <a:off x="2368440" y="3287157"/>
            <a:ext cx="86885" cy="2592536"/>
            <a:chOff x="7720013" y="1573823"/>
            <a:chExt cx="720969" cy="2584932"/>
          </a:xfrm>
        </p:grpSpPr>
        <p:sp>
          <p:nvSpPr>
            <p:cNvPr id="14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7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3"/>
          <p:cNvGrpSpPr>
            <a:grpSpLocks/>
          </p:cNvGrpSpPr>
          <p:nvPr/>
        </p:nvGrpSpPr>
        <p:grpSpPr bwMode="auto">
          <a:xfrm>
            <a:off x="971845" y="2075689"/>
            <a:ext cx="132469" cy="2464294"/>
            <a:chOff x="7720013" y="1573823"/>
            <a:chExt cx="720969" cy="2584932"/>
          </a:xfrm>
        </p:grpSpPr>
        <p:sp>
          <p:nvSpPr>
            <p:cNvPr id="29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30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2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698850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333375"/>
            <a:ext cx="85589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Gamma Workflow – Encoding and Correction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312" y="3068960"/>
            <a:ext cx="2296154" cy="2161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1880" y="3068960"/>
            <a:ext cx="2289864" cy="215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3068960"/>
            <a:ext cx="2253201" cy="212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611560" y="2420888"/>
            <a:ext cx="244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video is recorded with Gamma encoding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51920" y="2492896"/>
            <a:ext cx="187220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Video viewed on a monitor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2240" y="2564904"/>
            <a:ext cx="136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Net Effect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576" y="5301208"/>
            <a:ext cx="208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Video File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1920" y="5301208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Display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60232" y="5301208"/>
            <a:ext cx="1800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System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7544" y="5661248"/>
            <a:ext cx="2664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FF00"/>
                </a:solidFill>
              </a:rPr>
              <a:t>Depicts an image in the </a:t>
            </a:r>
            <a:r>
              <a:rPr lang="en-GB" sz="1400" dirty="0" err="1">
                <a:solidFill>
                  <a:srgbClr val="FFFF00"/>
                </a:solidFill>
              </a:rPr>
              <a:t>sRGB</a:t>
            </a:r>
            <a:r>
              <a:rPr lang="en-GB" sz="1400" dirty="0">
                <a:solidFill>
                  <a:srgbClr val="FFFF00"/>
                </a:solidFill>
              </a:rPr>
              <a:t> colour space ... which encodes using a gamma of approx. 1/2.2 ~ 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7904" y="5661248"/>
            <a:ext cx="2160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FF00"/>
                </a:solidFill>
              </a:rPr>
              <a:t>Depicts a display gamma equal to the standard of 2.2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288" y="836712"/>
            <a:ext cx="8209160" cy="12599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300"/>
              </a:lnSpc>
            </a:pPr>
            <a:r>
              <a:rPr lang="en-GB" b="1" dirty="0">
                <a:solidFill>
                  <a:srgbClr val="FFCC66"/>
                </a:solidFill>
              </a:rPr>
              <a:t>Gamma encoded image needs "gamma correction“ when it is viewed 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converts it back into light from the original scene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gamma encoding is for recording the image - not for displaying the image</a:t>
            </a:r>
          </a:p>
          <a:p>
            <a:pPr marL="180975" indent="-180975">
              <a:lnSpc>
                <a:spcPts val="23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CC66"/>
                </a:solidFill>
              </a:rPr>
              <a:t>"display gamma" is automatically performed by monitor / video card</a:t>
            </a:r>
          </a:p>
        </p:txBody>
      </p:sp>
      <p:grpSp>
        <p:nvGrpSpPr>
          <p:cNvPr id="16" name="Group 23"/>
          <p:cNvGrpSpPr>
            <a:grpSpLocks/>
          </p:cNvGrpSpPr>
          <p:nvPr/>
        </p:nvGrpSpPr>
        <p:grpSpPr bwMode="auto">
          <a:xfrm rot="5400000">
            <a:off x="1921085" y="3928499"/>
            <a:ext cx="93519" cy="1722839"/>
            <a:chOff x="7720013" y="1573823"/>
            <a:chExt cx="720969" cy="2584932"/>
          </a:xfrm>
        </p:grpSpPr>
        <p:sp>
          <p:nvSpPr>
            <p:cNvPr id="17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1" name="Group 23"/>
          <p:cNvGrpSpPr>
            <a:grpSpLocks/>
          </p:cNvGrpSpPr>
          <p:nvPr/>
        </p:nvGrpSpPr>
        <p:grpSpPr bwMode="auto">
          <a:xfrm>
            <a:off x="1014250" y="3145535"/>
            <a:ext cx="67507" cy="1691143"/>
            <a:chOff x="7720013" y="1573823"/>
            <a:chExt cx="720969" cy="2584932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33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5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6" name="Group 23"/>
          <p:cNvGrpSpPr>
            <a:grpSpLocks/>
          </p:cNvGrpSpPr>
          <p:nvPr/>
        </p:nvGrpSpPr>
        <p:grpSpPr bwMode="auto">
          <a:xfrm rot="5400000">
            <a:off x="4815949" y="3937717"/>
            <a:ext cx="93519" cy="1722839"/>
            <a:chOff x="7720013" y="1573823"/>
            <a:chExt cx="720969" cy="2584932"/>
          </a:xfrm>
        </p:grpSpPr>
        <p:sp>
          <p:nvSpPr>
            <p:cNvPr id="47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8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50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1" name="Group 23"/>
          <p:cNvGrpSpPr>
            <a:grpSpLocks/>
          </p:cNvGrpSpPr>
          <p:nvPr/>
        </p:nvGrpSpPr>
        <p:grpSpPr bwMode="auto">
          <a:xfrm>
            <a:off x="3909114" y="3154753"/>
            <a:ext cx="67507" cy="1691143"/>
            <a:chOff x="7720013" y="1573823"/>
            <a:chExt cx="720969" cy="2584932"/>
          </a:xfrm>
        </p:grpSpPr>
        <p:sp>
          <p:nvSpPr>
            <p:cNvPr id="62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 63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65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7" name="Group 23"/>
          <p:cNvGrpSpPr>
            <a:grpSpLocks/>
          </p:cNvGrpSpPr>
          <p:nvPr/>
        </p:nvGrpSpPr>
        <p:grpSpPr bwMode="auto">
          <a:xfrm rot="5400000">
            <a:off x="7474892" y="3928499"/>
            <a:ext cx="93519" cy="1722839"/>
            <a:chOff x="7720013" y="1573823"/>
            <a:chExt cx="720969" cy="2584932"/>
          </a:xfrm>
        </p:grpSpPr>
        <p:sp>
          <p:nvSpPr>
            <p:cNvPr id="108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Rectangle 109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11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2" name="Group 23"/>
          <p:cNvGrpSpPr>
            <a:grpSpLocks/>
          </p:cNvGrpSpPr>
          <p:nvPr/>
        </p:nvGrpSpPr>
        <p:grpSpPr bwMode="auto">
          <a:xfrm>
            <a:off x="6613777" y="3145535"/>
            <a:ext cx="67507" cy="1691143"/>
            <a:chOff x="7720013" y="1573823"/>
            <a:chExt cx="720969" cy="2584932"/>
          </a:xfrm>
        </p:grpSpPr>
        <p:sp>
          <p:nvSpPr>
            <p:cNvPr id="123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Rectangle 124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26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651730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-1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056" y="2204864"/>
            <a:ext cx="2296154" cy="21610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83320" y="4437112"/>
            <a:ext cx="20884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Video File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95288" y="4797152"/>
            <a:ext cx="2664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FF00"/>
                </a:solidFill>
              </a:rPr>
              <a:t>Depicts an image in the </a:t>
            </a:r>
            <a:r>
              <a:rPr lang="en-GB" sz="1400" dirty="0" err="1">
                <a:solidFill>
                  <a:srgbClr val="FFFF00"/>
                </a:solidFill>
              </a:rPr>
              <a:t>sRGB</a:t>
            </a:r>
            <a:r>
              <a:rPr lang="en-GB" sz="1400" dirty="0">
                <a:solidFill>
                  <a:srgbClr val="FFFF00"/>
                </a:solidFill>
              </a:rPr>
              <a:t> colour space ... which encodes using a gamma of approx. 1/2.2 ~ 0.45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5288" y="333375"/>
            <a:ext cx="3240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Image 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912" y="1412776"/>
            <a:ext cx="446449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Is applied by </a:t>
            </a:r>
          </a:p>
          <a:p>
            <a:pPr marL="361950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camera, or </a:t>
            </a:r>
          </a:p>
          <a:p>
            <a:pPr marL="361950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RAW development software </a:t>
            </a:r>
          </a:p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when a captured image is converted into JPEG or TIFF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redistributes native camera tonal levels into ones which are more perceptually uniform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making the most efficient use of a given bit depth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304" y="1556792"/>
            <a:ext cx="244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video is recorded with Gamma encoding</a:t>
            </a:r>
            <a:endParaRPr lang="en-GB" dirty="0">
              <a:solidFill>
                <a:srgbClr val="FFFF00"/>
              </a:solidFill>
            </a:endParaRPr>
          </a:p>
        </p:txBody>
      </p:sp>
      <p:grpSp>
        <p:nvGrpSpPr>
          <p:cNvPr id="10" name="Group 23"/>
          <p:cNvGrpSpPr>
            <a:grpSpLocks/>
          </p:cNvGrpSpPr>
          <p:nvPr/>
        </p:nvGrpSpPr>
        <p:grpSpPr bwMode="auto">
          <a:xfrm rot="5400000">
            <a:off x="1787747" y="3069248"/>
            <a:ext cx="80423" cy="1739042"/>
            <a:chOff x="7720013" y="1573823"/>
            <a:chExt cx="720969" cy="2584932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9" name="Group 23"/>
          <p:cNvGrpSpPr>
            <a:grpSpLocks/>
          </p:cNvGrpSpPr>
          <p:nvPr/>
        </p:nvGrpSpPr>
        <p:grpSpPr bwMode="auto">
          <a:xfrm>
            <a:off x="928976" y="2212729"/>
            <a:ext cx="83435" cy="1766959"/>
            <a:chOff x="7720013" y="1573823"/>
            <a:chExt cx="720969" cy="2584932"/>
          </a:xfrm>
        </p:grpSpPr>
        <p:sp>
          <p:nvSpPr>
            <p:cNvPr id="30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31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33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351709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276872"/>
            <a:ext cx="2289864" cy="21551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Rectangle 3"/>
          <p:cNvSpPr/>
          <p:nvPr/>
        </p:nvSpPr>
        <p:spPr>
          <a:xfrm>
            <a:off x="539304" y="1700808"/>
            <a:ext cx="21604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FFFF00"/>
                </a:solidFill>
              </a:rPr>
              <a:t>Viewed on a Computer Monitor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5328" y="4509120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Display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11312" y="4869160"/>
            <a:ext cx="21602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solidFill>
                  <a:srgbClr val="FFFF00"/>
                </a:solidFill>
              </a:rPr>
              <a:t>Depicts a display gamma equal to the standard of 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288" y="333375"/>
            <a:ext cx="28083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91880" y="836712"/>
            <a:ext cx="475252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>
                <a:solidFill>
                  <a:srgbClr val="FFFF00"/>
                </a:solidFill>
              </a:rPr>
              <a:t>The net influence of the video card and display device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may be comprised of several gammas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b="1" dirty="0">
                <a:solidFill>
                  <a:srgbClr val="FFFF00"/>
                </a:solidFill>
              </a:rPr>
              <a:t>purpose - to compensate for a file's (encoded) gamma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ensures that the image isn't unrealistically brightened when displayed on screen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higher display gamma </a:t>
            </a:r>
          </a:p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	gives </a:t>
            </a:r>
          </a:p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darker image + greater contrast</a:t>
            </a:r>
          </a:p>
        </p:txBody>
      </p:sp>
      <p:grpSp>
        <p:nvGrpSpPr>
          <p:cNvPr id="9" name="Group 23"/>
          <p:cNvGrpSpPr>
            <a:grpSpLocks/>
          </p:cNvGrpSpPr>
          <p:nvPr/>
        </p:nvGrpSpPr>
        <p:grpSpPr bwMode="auto">
          <a:xfrm rot="5400000">
            <a:off x="1632299" y="3160688"/>
            <a:ext cx="80423" cy="1739042"/>
            <a:chOff x="7720013" y="1573823"/>
            <a:chExt cx="720969" cy="2584932"/>
          </a:xfrm>
        </p:grpSpPr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3"/>
          <p:cNvGrpSpPr>
            <a:grpSpLocks/>
          </p:cNvGrpSpPr>
          <p:nvPr/>
        </p:nvGrpSpPr>
        <p:grpSpPr bwMode="auto">
          <a:xfrm>
            <a:off x="773528" y="2304169"/>
            <a:ext cx="83435" cy="1766959"/>
            <a:chOff x="7720013" y="1573823"/>
            <a:chExt cx="720969" cy="2584932"/>
          </a:xfrm>
        </p:grpSpPr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6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38350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7140" y="2214304"/>
            <a:ext cx="2253201" cy="212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1223887" y="1937280"/>
            <a:ext cx="1368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Net Effect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7336" y="4653136"/>
            <a:ext cx="18004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FF00"/>
                </a:solidFill>
              </a:rPr>
              <a:t>System Gamma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System Gamma</a:t>
            </a:r>
            <a:endParaRPr lang="en-GB" sz="2400" dirty="0">
              <a:solidFill>
                <a:srgbClr val="FFFF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131840" y="980728"/>
            <a:ext cx="547260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>
                <a:solidFill>
                  <a:srgbClr val="FFFF00"/>
                </a:solidFill>
              </a:rPr>
              <a:t>The net effect of all gamma values that have been applied to an image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also referred to as the </a:t>
            </a:r>
            <a:r>
              <a:rPr lang="en-GB" i="1" dirty="0">
                <a:solidFill>
                  <a:srgbClr val="FFFF00"/>
                </a:solidFill>
              </a:rPr>
              <a:t>viewing gamma</a:t>
            </a:r>
            <a:r>
              <a:rPr lang="en-GB" dirty="0">
                <a:solidFill>
                  <a:srgbClr val="FFFF00"/>
                </a:solidFill>
              </a:rPr>
              <a:t> 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ideally be close to a straight line (gamma = 1.0)</a:t>
            </a:r>
          </a:p>
          <a:p>
            <a:pPr marL="638175" lvl="1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input (the original scene) </a:t>
            </a:r>
          </a:p>
          <a:p>
            <a:pPr marL="638175" lvl="1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= output (display on your screen)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However - sometimes set &gt;1 </a:t>
            </a:r>
          </a:p>
          <a:p>
            <a:pPr marL="638175" lvl="1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improve contrast</a:t>
            </a:r>
          </a:p>
          <a:p>
            <a:pPr marL="638175" lvl="1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can help compensate for limitations due to the dynamic range of a display device</a:t>
            </a:r>
          </a:p>
          <a:p>
            <a:pPr marL="638175" lvl="1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or due to non-ideal viewing conditions and image flare</a:t>
            </a:r>
          </a:p>
        </p:txBody>
      </p:sp>
      <p:grpSp>
        <p:nvGrpSpPr>
          <p:cNvPr id="8" name="Group 23"/>
          <p:cNvGrpSpPr>
            <a:grpSpLocks/>
          </p:cNvGrpSpPr>
          <p:nvPr/>
        </p:nvGrpSpPr>
        <p:grpSpPr bwMode="auto">
          <a:xfrm rot="5400000">
            <a:off x="1800002" y="3044330"/>
            <a:ext cx="80423" cy="1739042"/>
            <a:chOff x="7720013" y="1573823"/>
            <a:chExt cx="720969" cy="2584932"/>
          </a:xfrm>
        </p:grpSpPr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0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" name="Group 23"/>
          <p:cNvGrpSpPr>
            <a:grpSpLocks/>
          </p:cNvGrpSpPr>
          <p:nvPr/>
        </p:nvGrpSpPr>
        <p:grpSpPr bwMode="auto">
          <a:xfrm>
            <a:off x="956408" y="2212729"/>
            <a:ext cx="83435" cy="1766959"/>
            <a:chOff x="7720013" y="1573823"/>
            <a:chExt cx="720969" cy="2584932"/>
          </a:xfrm>
        </p:grpSpPr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7720013" y="3974117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7720013" y="1573823"/>
              <a:ext cx="720969" cy="18463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 bwMode="auto">
            <a:xfrm>
              <a:off x="7720013" y="1758461"/>
              <a:ext cx="720969" cy="1846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defRPr/>
              </a:pPr>
              <a:endParaRPr lang="en-GB"/>
            </a:p>
          </p:txBody>
        </p:sp>
        <p:sp>
          <p:nvSpPr>
            <p:cNvPr id="27" name="Rectangle 10"/>
            <p:cNvSpPr>
              <a:spLocks noChangeArrowheads="1"/>
            </p:cNvSpPr>
            <p:nvPr/>
          </p:nvSpPr>
          <p:spPr bwMode="auto">
            <a:xfrm>
              <a:off x="7720013" y="1943099"/>
              <a:ext cx="720969" cy="184638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 13"/>
            <p:cNvSpPr>
              <a:spLocks noChangeArrowheads="1"/>
            </p:cNvSpPr>
            <p:nvPr/>
          </p:nvSpPr>
          <p:spPr bwMode="auto">
            <a:xfrm>
              <a:off x="7720013" y="3789479"/>
              <a:ext cx="720969" cy="184638"/>
            </a:xfrm>
            <a:prstGeom prst="rect">
              <a:avLst/>
            </a:prstGeom>
            <a:solidFill>
              <a:schemeClr val="tx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14"/>
            <p:cNvSpPr>
              <a:spLocks noChangeArrowheads="1"/>
            </p:cNvSpPr>
            <p:nvPr/>
          </p:nvSpPr>
          <p:spPr bwMode="auto">
            <a:xfrm>
              <a:off x="7720013" y="3604841"/>
              <a:ext cx="720969" cy="184638"/>
            </a:xfrm>
            <a:prstGeom prst="rect">
              <a:avLst/>
            </a:prstGeom>
            <a:solidFill>
              <a:srgbClr val="111111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 15"/>
            <p:cNvSpPr>
              <a:spLocks noChangeArrowheads="1"/>
            </p:cNvSpPr>
            <p:nvPr/>
          </p:nvSpPr>
          <p:spPr bwMode="auto">
            <a:xfrm>
              <a:off x="7720013" y="3420203"/>
              <a:ext cx="720969" cy="184638"/>
            </a:xfrm>
            <a:prstGeom prst="rect">
              <a:avLst/>
            </a:prstGeom>
            <a:solidFill>
              <a:srgbClr val="1C1C1C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 16"/>
            <p:cNvSpPr>
              <a:spLocks noChangeArrowheads="1"/>
            </p:cNvSpPr>
            <p:nvPr/>
          </p:nvSpPr>
          <p:spPr bwMode="auto">
            <a:xfrm>
              <a:off x="7720013" y="3235565"/>
              <a:ext cx="720969" cy="184638"/>
            </a:xfrm>
            <a:prstGeom prst="rect">
              <a:avLst/>
            </a:prstGeom>
            <a:solidFill>
              <a:srgbClr val="4D4D4D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 17"/>
            <p:cNvSpPr>
              <a:spLocks noChangeArrowheads="1"/>
            </p:cNvSpPr>
            <p:nvPr/>
          </p:nvSpPr>
          <p:spPr bwMode="auto">
            <a:xfrm>
              <a:off x="7720013" y="3050927"/>
              <a:ext cx="720969" cy="184638"/>
            </a:xfrm>
            <a:prstGeom prst="rect">
              <a:avLst/>
            </a:prstGeom>
            <a:solidFill>
              <a:srgbClr val="777777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 18"/>
            <p:cNvSpPr>
              <a:spLocks noChangeArrowheads="1"/>
            </p:cNvSpPr>
            <p:nvPr/>
          </p:nvSpPr>
          <p:spPr bwMode="auto">
            <a:xfrm>
              <a:off x="7720013" y="2127737"/>
              <a:ext cx="720969" cy="184638"/>
            </a:xfrm>
            <a:prstGeom prst="rect">
              <a:avLst/>
            </a:prstGeom>
            <a:solidFill>
              <a:srgbClr val="C0C0C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19"/>
            <p:cNvSpPr>
              <a:spLocks noChangeArrowheads="1"/>
            </p:cNvSpPr>
            <p:nvPr/>
          </p:nvSpPr>
          <p:spPr bwMode="auto">
            <a:xfrm>
              <a:off x="7720013" y="2312375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Rectangle 20"/>
            <p:cNvSpPr>
              <a:spLocks noChangeArrowheads="1"/>
            </p:cNvSpPr>
            <p:nvPr/>
          </p:nvSpPr>
          <p:spPr bwMode="auto">
            <a:xfrm>
              <a:off x="7720013" y="2497013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 21"/>
            <p:cNvSpPr>
              <a:spLocks noChangeArrowheads="1"/>
            </p:cNvSpPr>
            <p:nvPr/>
          </p:nvSpPr>
          <p:spPr bwMode="auto">
            <a:xfrm>
              <a:off x="7720013" y="2681651"/>
              <a:ext cx="720969" cy="18463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22"/>
            <p:cNvSpPr>
              <a:spLocks noChangeArrowheads="1"/>
            </p:cNvSpPr>
            <p:nvPr/>
          </p:nvSpPr>
          <p:spPr bwMode="auto">
            <a:xfrm>
              <a:off x="7720013" y="2866289"/>
              <a:ext cx="720969" cy="184638"/>
            </a:xfrm>
            <a:prstGeom prst="rect">
              <a:avLst/>
            </a:prstGeom>
            <a:solidFill>
              <a:srgbClr val="969696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80624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grpSp>
        <p:nvGrpSpPr>
          <p:cNvPr id="4" name="Group 17"/>
          <p:cNvGrpSpPr/>
          <p:nvPr/>
        </p:nvGrpSpPr>
        <p:grpSpPr>
          <a:xfrm>
            <a:off x="395288" y="908720"/>
            <a:ext cx="8208912" cy="1554913"/>
            <a:chOff x="395288" y="908720"/>
            <a:chExt cx="8208912" cy="1554913"/>
          </a:xfrm>
        </p:grpSpPr>
        <p:sp>
          <p:nvSpPr>
            <p:cNvPr id="13" name="TextBox 12"/>
            <p:cNvSpPr txBox="1"/>
            <p:nvPr/>
          </p:nvSpPr>
          <p:spPr>
            <a:xfrm>
              <a:off x="395288" y="908720"/>
              <a:ext cx="8208912" cy="15549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80975" indent="-180975">
                <a:lnSpc>
                  <a:spcPts val="2300"/>
                </a:lnSpc>
              </a:pPr>
              <a:r>
                <a:rPr lang="en-GB" dirty="0">
                  <a:solidFill>
                    <a:srgbClr val="FFFF00"/>
                  </a:solidFill>
                </a:rPr>
                <a:t>This is altered when performing monitor calibration </a:t>
              </a:r>
            </a:p>
            <a:p>
              <a:pPr marL="180975" indent="-180975">
                <a:lnSpc>
                  <a:spcPts val="2300"/>
                </a:lnSpc>
                <a:buFont typeface="Arial" pitchFamily="34" charset="0"/>
                <a:buChar char="•"/>
              </a:pPr>
              <a:r>
                <a:rPr lang="en-GB" dirty="0">
                  <a:solidFill>
                    <a:srgbClr val="FFFF00"/>
                  </a:solidFill>
                </a:rPr>
                <a:t>industry has converged on a standard display gamma of 2.2</a:t>
              </a:r>
            </a:p>
            <a:p>
              <a:pPr marL="180975" indent="-180975">
                <a:lnSpc>
                  <a:spcPts val="2300"/>
                </a:lnSpc>
                <a:buFont typeface="Arial" pitchFamily="34" charset="0"/>
                <a:buChar char="•"/>
              </a:pPr>
              <a:r>
                <a:rPr lang="en-GB" dirty="0">
                  <a:solidFill>
                    <a:srgbClr val="FFFF00"/>
                  </a:solidFill>
                </a:rPr>
                <a:t>standard gamma encoded image file </a:t>
              </a:r>
            </a:p>
            <a:p>
              <a:pPr marL="180975" indent="-180975">
                <a:lnSpc>
                  <a:spcPts val="2300"/>
                </a:lnSpc>
                <a:buFont typeface="Arial" pitchFamily="34" charset="0"/>
                <a:buChar char="•"/>
              </a:pPr>
              <a:r>
                <a:rPr lang="en-GB" dirty="0">
                  <a:solidFill>
                    <a:srgbClr val="FFFF00"/>
                  </a:solidFill>
                </a:rPr>
                <a:t>display gamma  ...    ...   ...   ...</a:t>
              </a:r>
            </a:p>
            <a:p>
              <a:pPr marL="180975" indent="-180975">
                <a:lnSpc>
                  <a:spcPts val="2300"/>
                </a:lnSpc>
                <a:buFont typeface="Arial" pitchFamily="34" charset="0"/>
                <a:buChar char="•"/>
              </a:pPr>
              <a:r>
                <a:rPr lang="en-GB" dirty="0">
                  <a:solidFill>
                    <a:srgbClr val="FFFF00"/>
                  </a:solidFill>
                </a:rPr>
                <a:t>overall impact on the image</a:t>
              </a:r>
            </a:p>
          </p:txBody>
        </p:sp>
        <p:cxnSp>
          <p:nvCxnSpPr>
            <p:cNvPr id="15" name="Straight Connector 14"/>
            <p:cNvCxnSpPr/>
            <p:nvPr/>
          </p:nvCxnSpPr>
          <p:spPr bwMode="auto">
            <a:xfrm>
              <a:off x="4355976" y="1700808"/>
              <a:ext cx="50405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0B0F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3923928" y="1988840"/>
              <a:ext cx="50405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Straight Connector 16"/>
            <p:cNvCxnSpPr/>
            <p:nvPr/>
          </p:nvCxnSpPr>
          <p:spPr bwMode="auto">
            <a:xfrm>
              <a:off x="3563888" y="2276872"/>
              <a:ext cx="504056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6184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368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085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5602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40200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38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52568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Box 26"/>
          <p:cNvSpPr txBox="1"/>
          <p:nvPr/>
        </p:nvSpPr>
        <p:spPr>
          <a:xfrm>
            <a:off x="971600" y="4581128"/>
            <a:ext cx="763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Display Gamma   1.0                     1.8                     2.2                    4.0</a:t>
            </a:r>
          </a:p>
        </p:txBody>
      </p:sp>
    </p:spTree>
    <p:extLst>
      <p:ext uri="{BB962C8B-B14F-4D97-AF65-F5344CB8AC3E}">
        <p14:creationId xmlns:p14="http://schemas.microsoft.com/office/powerpoint/2010/main" val="10588024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6184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368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085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5602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40200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38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52568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971600" y="4581128"/>
            <a:ext cx="763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Display Gamma   1.0                     1.8                     2.2                    4.0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5288" y="836712"/>
            <a:ext cx="66969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gets brightened substantially because the </a:t>
            </a:r>
            <a:r>
              <a:rPr lang="en-GB" dirty="0">
                <a:solidFill>
                  <a:srgbClr val="00B0F0"/>
                </a:solidFill>
              </a:rPr>
              <a:t>image gamma </a:t>
            </a:r>
            <a:r>
              <a:rPr lang="en-GB" dirty="0">
                <a:solidFill>
                  <a:srgbClr val="FFFF00"/>
                </a:solidFill>
              </a:rPr>
              <a:t>is uncorrected by the </a:t>
            </a:r>
            <a:r>
              <a:rPr lang="en-GB" dirty="0">
                <a:solidFill>
                  <a:srgbClr val="FF0000"/>
                </a:solidFill>
              </a:rPr>
              <a:t>display gamma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resulting in an overall </a:t>
            </a:r>
            <a:r>
              <a:rPr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system gamma </a:t>
            </a:r>
            <a:r>
              <a:rPr lang="en-GB" dirty="0">
                <a:solidFill>
                  <a:srgbClr val="FFFF00"/>
                </a:solidFill>
              </a:rPr>
              <a:t>that curves upward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7904" y="1844824"/>
            <a:ext cx="52200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display gamma </a:t>
            </a:r>
            <a:r>
              <a:rPr lang="en-GB" dirty="0">
                <a:solidFill>
                  <a:srgbClr val="FFFF00"/>
                </a:solidFill>
              </a:rPr>
              <a:t>doesn't fully correct for the </a:t>
            </a:r>
            <a:r>
              <a:rPr lang="en-GB" dirty="0">
                <a:solidFill>
                  <a:srgbClr val="00B0F0"/>
                </a:solidFill>
              </a:rPr>
              <a:t>image file gamma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overall </a:t>
            </a:r>
            <a:r>
              <a:rPr lang="en-GB" dirty="0">
                <a:solidFill>
                  <a:schemeClr val="accent6">
                    <a:lumMod val="40000"/>
                    <a:lumOff val="60000"/>
                  </a:schemeClr>
                </a:solidFill>
              </a:rPr>
              <a:t>system gamma </a:t>
            </a:r>
            <a:r>
              <a:rPr lang="en-GB" dirty="0">
                <a:solidFill>
                  <a:srgbClr val="FFFF00"/>
                </a:solidFill>
              </a:rPr>
              <a:t>that still curves upward a little (image still a bit too bright)</a:t>
            </a:r>
          </a:p>
        </p:txBody>
      </p:sp>
      <p:cxnSp>
        <p:nvCxnSpPr>
          <p:cNvPr id="23" name="Straight Arrow Connector 22"/>
          <p:cNvCxnSpPr/>
          <p:nvPr/>
        </p:nvCxnSpPr>
        <p:spPr bwMode="auto">
          <a:xfrm>
            <a:off x="2555776" y="1700808"/>
            <a:ext cx="360040" cy="15121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4" name="Straight Arrow Connector 23"/>
          <p:cNvCxnSpPr/>
          <p:nvPr/>
        </p:nvCxnSpPr>
        <p:spPr bwMode="auto">
          <a:xfrm flipH="1">
            <a:off x="4572000" y="2924944"/>
            <a:ext cx="144016" cy="2880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91423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397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6184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368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308552" y="3284984"/>
            <a:ext cx="1209675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55602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140200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796384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452568" y="5013176"/>
            <a:ext cx="952500" cy="133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971600" y="4581128"/>
            <a:ext cx="76328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FF00"/>
                </a:solidFill>
              </a:rPr>
              <a:t>Display Gamma   1.0                     1.8                     2.2                    4.0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395288" y="2204864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display gamma </a:t>
            </a:r>
            <a:r>
              <a:rPr lang="en-GB" dirty="0">
                <a:solidFill>
                  <a:srgbClr val="FFFF00"/>
                </a:solidFill>
              </a:rPr>
              <a:t>exactly corrects the </a:t>
            </a:r>
            <a:r>
              <a:rPr lang="en-GB" dirty="0">
                <a:solidFill>
                  <a:srgbClr val="00B0F0"/>
                </a:solidFill>
              </a:rPr>
              <a:t>image gamma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overall linear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system gamma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9464" y="764704"/>
            <a:ext cx="4824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0000"/>
                </a:solidFill>
              </a:rPr>
              <a:t>display gamma </a:t>
            </a:r>
            <a:r>
              <a:rPr lang="en-GB" dirty="0">
                <a:solidFill>
                  <a:srgbClr val="FFFF00"/>
                </a:solidFill>
              </a:rPr>
              <a:t>over-compensates for the </a:t>
            </a:r>
            <a:r>
              <a:rPr lang="en-GB" dirty="0">
                <a:solidFill>
                  <a:srgbClr val="00B0F0"/>
                </a:solidFill>
              </a:rPr>
              <a:t>image gamma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overall </a:t>
            </a:r>
            <a:r>
              <a:rPr lang="en-GB" dirty="0">
                <a:solidFill>
                  <a:schemeClr val="accent6">
                    <a:lumMod val="20000"/>
                    <a:lumOff val="80000"/>
                  </a:schemeClr>
                </a:solidFill>
              </a:rPr>
              <a:t>system gamma </a:t>
            </a:r>
            <a:r>
              <a:rPr lang="en-GB" dirty="0">
                <a:solidFill>
                  <a:srgbClr val="FFFF00"/>
                </a:solidFill>
              </a:rPr>
              <a:t>that curves downward </a:t>
            </a:r>
          </a:p>
          <a:p>
            <a:pPr marL="180975" indent="-180975"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(darkens the image)</a:t>
            </a:r>
          </a:p>
        </p:txBody>
      </p:sp>
      <p:cxnSp>
        <p:nvCxnSpPr>
          <p:cNvPr id="16" name="Straight Arrow Connector 15"/>
          <p:cNvCxnSpPr/>
          <p:nvPr/>
        </p:nvCxnSpPr>
        <p:spPr bwMode="auto">
          <a:xfrm>
            <a:off x="4788024" y="2492896"/>
            <a:ext cx="792088" cy="86409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Straight Arrow Connector 17"/>
          <p:cNvCxnSpPr/>
          <p:nvPr/>
        </p:nvCxnSpPr>
        <p:spPr bwMode="auto">
          <a:xfrm>
            <a:off x="6012160" y="1844824"/>
            <a:ext cx="1296144" cy="15121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FF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180229402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4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32240" y="333375"/>
            <a:ext cx="2016224" cy="6036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23528" y="5917062"/>
            <a:ext cx="237626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Sans Unicode"/>
                <a:cs typeface="Lucida Sans Unicode"/>
              </a:rPr>
              <a:t>ɣ</a:t>
            </a:r>
            <a:r>
              <a:rPr lang="en-GB" dirty="0"/>
              <a:t> &gt; 1</a:t>
            </a:r>
          </a:p>
          <a:p>
            <a:r>
              <a:rPr lang="en-GB" dirty="0"/>
              <a:t>Shadows darker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95288" y="333375"/>
            <a:ext cx="511281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/>
              <a:t>The Effect Of Gamma Correction On An Image</a:t>
            </a:r>
          </a:p>
        </p:txBody>
      </p:sp>
      <p:pic>
        <p:nvPicPr>
          <p:cNvPr id="89095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5288" y="1164372"/>
            <a:ext cx="20669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6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8924" y="3702467"/>
            <a:ext cx="20669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0"/>
          <p:cNvSpPr/>
          <p:nvPr/>
        </p:nvSpPr>
        <p:spPr>
          <a:xfrm>
            <a:off x="395288" y="3363913"/>
            <a:ext cx="20505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GB" dirty="0">
                <a:solidFill>
                  <a:srgbClr val="000000"/>
                </a:solidFill>
              </a:rPr>
              <a:t>The original image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5245" y="748873"/>
            <a:ext cx="11069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Lucida Sans Unicode"/>
                <a:cs typeface="Lucida Sans Unicode"/>
              </a:rPr>
              <a:t>ɣ</a:t>
            </a:r>
            <a:r>
              <a:rPr lang="en-GB" dirty="0"/>
              <a:t> &lt; 1</a:t>
            </a:r>
          </a:p>
          <a:p>
            <a:r>
              <a:rPr lang="en-GB" dirty="0"/>
              <a:t>Shadows </a:t>
            </a:r>
          </a:p>
          <a:p>
            <a:r>
              <a:rPr lang="en-GB" dirty="0"/>
              <a:t>lighter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3122774" y="2084963"/>
            <a:ext cx="2691172" cy="2292667"/>
            <a:chOff x="3923928" y="4077072"/>
            <a:chExt cx="2691172" cy="2292667"/>
          </a:xfrm>
        </p:grpSpPr>
        <p:cxnSp>
          <p:nvCxnSpPr>
            <p:cNvPr id="15" name="Straight Connector 14"/>
            <p:cNvCxnSpPr/>
            <p:nvPr/>
          </p:nvCxnSpPr>
          <p:spPr bwMode="auto">
            <a:xfrm>
              <a:off x="3923928" y="4077072"/>
              <a:ext cx="0" cy="2292667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Straight Connector 15"/>
            <p:cNvCxnSpPr/>
            <p:nvPr/>
          </p:nvCxnSpPr>
          <p:spPr bwMode="auto">
            <a:xfrm>
              <a:off x="3923928" y="6369739"/>
              <a:ext cx="2691172" cy="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1" name="Straight Connector 20"/>
          <p:cNvCxnSpPr/>
          <p:nvPr/>
        </p:nvCxnSpPr>
        <p:spPr bwMode="auto">
          <a:xfrm flipV="1">
            <a:off x="3122774" y="2084963"/>
            <a:ext cx="2375005" cy="2292667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2" name="Freeform 21"/>
          <p:cNvSpPr/>
          <p:nvPr/>
        </p:nvSpPr>
        <p:spPr bwMode="auto">
          <a:xfrm>
            <a:off x="3140879" y="2129515"/>
            <a:ext cx="2374710" cy="2210937"/>
          </a:xfrm>
          <a:custGeom>
            <a:avLst/>
            <a:gdLst>
              <a:gd name="connsiteX0" fmla="*/ 0 w 2374710"/>
              <a:gd name="connsiteY0" fmla="*/ 2210937 h 2210937"/>
              <a:gd name="connsiteX1" fmla="*/ 300251 w 2374710"/>
              <a:gd name="connsiteY1" fmla="*/ 1201003 h 2210937"/>
              <a:gd name="connsiteX2" fmla="*/ 818865 w 2374710"/>
              <a:gd name="connsiteY2" fmla="*/ 627797 h 2210937"/>
              <a:gd name="connsiteX3" fmla="*/ 2374710 w 2374710"/>
              <a:gd name="connsiteY3" fmla="*/ 0 h 2210937"/>
              <a:gd name="connsiteX4" fmla="*/ 2374710 w 2374710"/>
              <a:gd name="connsiteY4" fmla="*/ 0 h 2210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74710" h="2210937">
                <a:moveTo>
                  <a:pt x="0" y="2210937"/>
                </a:moveTo>
                <a:cubicBezTo>
                  <a:pt x="81886" y="1837898"/>
                  <a:pt x="163773" y="1464860"/>
                  <a:pt x="300251" y="1201003"/>
                </a:cubicBezTo>
                <a:cubicBezTo>
                  <a:pt x="436729" y="937146"/>
                  <a:pt x="473122" y="827964"/>
                  <a:pt x="818865" y="627797"/>
                </a:cubicBezTo>
                <a:cubicBezTo>
                  <a:pt x="1164608" y="427630"/>
                  <a:pt x="2374710" y="0"/>
                  <a:pt x="2374710" y="0"/>
                </a:cubicBezTo>
                <a:lnTo>
                  <a:pt x="2374710" y="0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sp>
        <p:nvSpPr>
          <p:cNvPr id="23" name="Freeform 22"/>
          <p:cNvSpPr/>
          <p:nvPr/>
        </p:nvSpPr>
        <p:spPr bwMode="auto">
          <a:xfrm>
            <a:off x="3168174" y="2143163"/>
            <a:ext cx="2320120" cy="2210937"/>
          </a:xfrm>
          <a:custGeom>
            <a:avLst/>
            <a:gdLst>
              <a:gd name="connsiteX0" fmla="*/ 0 w 2320120"/>
              <a:gd name="connsiteY0" fmla="*/ 2210937 h 2210937"/>
              <a:gd name="connsiteX1" fmla="*/ 450376 w 2320120"/>
              <a:gd name="connsiteY1" fmla="*/ 1337480 h 2210937"/>
              <a:gd name="connsiteX2" fmla="*/ 1050878 w 2320120"/>
              <a:gd name="connsiteY2" fmla="*/ 777922 h 2210937"/>
              <a:gd name="connsiteX3" fmla="*/ 2320120 w 2320120"/>
              <a:gd name="connsiteY3" fmla="*/ 0 h 2210937"/>
              <a:gd name="connsiteX0" fmla="*/ 0 w 2320120"/>
              <a:gd name="connsiteY0" fmla="*/ 2210937 h 2210937"/>
              <a:gd name="connsiteX1" fmla="*/ 467722 w 2320120"/>
              <a:gd name="connsiteY1" fmla="*/ 1187356 h 2210937"/>
              <a:gd name="connsiteX2" fmla="*/ 1050878 w 2320120"/>
              <a:gd name="connsiteY2" fmla="*/ 777922 h 2210937"/>
              <a:gd name="connsiteX3" fmla="*/ 2320120 w 2320120"/>
              <a:gd name="connsiteY3" fmla="*/ 0 h 2210937"/>
              <a:gd name="connsiteX0" fmla="*/ 0 w 2320120"/>
              <a:gd name="connsiteY0" fmla="*/ 2210937 h 2210937"/>
              <a:gd name="connsiteX1" fmla="*/ 467722 w 2320120"/>
              <a:gd name="connsiteY1" fmla="*/ 1187356 h 2210937"/>
              <a:gd name="connsiteX2" fmla="*/ 1115794 w 2320120"/>
              <a:gd name="connsiteY2" fmla="*/ 637765 h 2210937"/>
              <a:gd name="connsiteX3" fmla="*/ 2320120 w 2320120"/>
              <a:gd name="connsiteY3" fmla="*/ 0 h 2210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20120" h="2210937">
                <a:moveTo>
                  <a:pt x="0" y="2210937"/>
                </a:moveTo>
                <a:cubicBezTo>
                  <a:pt x="137615" y="1893626"/>
                  <a:pt x="281756" y="1449551"/>
                  <a:pt x="467722" y="1187356"/>
                </a:cubicBezTo>
                <a:cubicBezTo>
                  <a:pt x="653688" y="925161"/>
                  <a:pt x="807061" y="835658"/>
                  <a:pt x="1115794" y="637765"/>
                </a:cubicBezTo>
                <a:cubicBezTo>
                  <a:pt x="1424527" y="439872"/>
                  <a:pt x="1841311" y="277504"/>
                  <a:pt x="2320120" y="0"/>
                </a:cubicBez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 bwMode="auto">
          <a:xfrm flipH="1">
            <a:off x="4644008" y="1739717"/>
            <a:ext cx="2088234" cy="104121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Straight Arrow Connector 26"/>
          <p:cNvCxnSpPr/>
          <p:nvPr/>
        </p:nvCxnSpPr>
        <p:spPr bwMode="auto">
          <a:xfrm flipH="1" flipV="1">
            <a:off x="4283968" y="2780928"/>
            <a:ext cx="2381834" cy="92154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30" name="Straight Arrow Connector 29"/>
          <p:cNvCxnSpPr/>
          <p:nvPr/>
        </p:nvCxnSpPr>
        <p:spPr bwMode="auto">
          <a:xfrm flipH="1" flipV="1">
            <a:off x="3835021" y="2780928"/>
            <a:ext cx="2830781" cy="273630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39" name="Freeform 38"/>
          <p:cNvSpPr/>
          <p:nvPr/>
        </p:nvSpPr>
        <p:spPr bwMode="auto">
          <a:xfrm>
            <a:off x="3193576" y="1926609"/>
            <a:ext cx="2429302" cy="2440675"/>
          </a:xfrm>
          <a:custGeom>
            <a:avLst/>
            <a:gdLst>
              <a:gd name="connsiteX0" fmla="*/ 0 w 2429302"/>
              <a:gd name="connsiteY0" fmla="*/ 2440675 h 2440675"/>
              <a:gd name="connsiteX1" fmla="*/ 641445 w 2429302"/>
              <a:gd name="connsiteY1" fmla="*/ 2276901 h 2440675"/>
              <a:gd name="connsiteX2" fmla="*/ 1460311 w 2429302"/>
              <a:gd name="connsiteY2" fmla="*/ 1703695 h 2440675"/>
              <a:gd name="connsiteX3" fmla="*/ 2292824 w 2429302"/>
              <a:gd name="connsiteY3" fmla="*/ 243385 h 2440675"/>
              <a:gd name="connsiteX4" fmla="*/ 2279176 w 2429302"/>
              <a:gd name="connsiteY4" fmla="*/ 243385 h 2440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9302" h="2440675">
                <a:moveTo>
                  <a:pt x="0" y="2440675"/>
                </a:moveTo>
                <a:cubicBezTo>
                  <a:pt x="199030" y="2420203"/>
                  <a:pt x="398060" y="2399731"/>
                  <a:pt x="641445" y="2276901"/>
                </a:cubicBezTo>
                <a:cubicBezTo>
                  <a:pt x="884830" y="2154071"/>
                  <a:pt x="1185081" y="2042614"/>
                  <a:pt x="1460311" y="1703695"/>
                </a:cubicBezTo>
                <a:cubicBezTo>
                  <a:pt x="1735541" y="1364776"/>
                  <a:pt x="2156347" y="486770"/>
                  <a:pt x="2292824" y="243385"/>
                </a:cubicBezTo>
                <a:cubicBezTo>
                  <a:pt x="2429302" y="0"/>
                  <a:pt x="2279176" y="243385"/>
                  <a:pt x="2279176" y="243385"/>
                </a:cubicBezTo>
              </a:path>
            </a:pathLst>
          </a:custGeom>
          <a:noFill/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41" name="Straight Arrow Connector 40"/>
          <p:cNvCxnSpPr>
            <a:endCxn id="39" idx="1"/>
          </p:cNvCxnSpPr>
          <p:nvPr/>
        </p:nvCxnSpPr>
        <p:spPr bwMode="auto">
          <a:xfrm flipV="1">
            <a:off x="2445849" y="4203510"/>
            <a:ext cx="1389172" cy="131372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5" name="Freeform 44"/>
          <p:cNvSpPr/>
          <p:nvPr/>
        </p:nvSpPr>
        <p:spPr bwMode="auto">
          <a:xfrm>
            <a:off x="3223147" y="2169994"/>
            <a:ext cx="2249605" cy="2124502"/>
          </a:xfrm>
          <a:custGeom>
            <a:avLst/>
            <a:gdLst>
              <a:gd name="connsiteX0" fmla="*/ 52316 w 2249605"/>
              <a:gd name="connsiteY0" fmla="*/ 2088107 h 2124502"/>
              <a:gd name="connsiteX1" fmla="*/ 52316 w 2249605"/>
              <a:gd name="connsiteY1" fmla="*/ 2019869 h 2124502"/>
              <a:gd name="connsiteX2" fmla="*/ 366214 w 2249605"/>
              <a:gd name="connsiteY2" fmla="*/ 1460310 h 2124502"/>
              <a:gd name="connsiteX3" fmla="*/ 953068 w 2249605"/>
              <a:gd name="connsiteY3" fmla="*/ 887105 h 2124502"/>
              <a:gd name="connsiteX4" fmla="*/ 2249605 w 2249605"/>
              <a:gd name="connsiteY4" fmla="*/ 0 h 2124502"/>
              <a:gd name="connsiteX5" fmla="*/ 2249605 w 2249605"/>
              <a:gd name="connsiteY5" fmla="*/ 0 h 2124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49605" h="2124502">
                <a:moveTo>
                  <a:pt x="52316" y="2088107"/>
                </a:moveTo>
                <a:cubicBezTo>
                  <a:pt x="26158" y="2106304"/>
                  <a:pt x="0" y="2124502"/>
                  <a:pt x="52316" y="2019869"/>
                </a:cubicBezTo>
                <a:cubicBezTo>
                  <a:pt x="104632" y="1915236"/>
                  <a:pt x="216089" y="1649104"/>
                  <a:pt x="366214" y="1460310"/>
                </a:cubicBezTo>
                <a:cubicBezTo>
                  <a:pt x="516339" y="1271516"/>
                  <a:pt x="639170" y="1130490"/>
                  <a:pt x="953068" y="887105"/>
                </a:cubicBezTo>
                <a:cubicBezTo>
                  <a:pt x="1266966" y="643720"/>
                  <a:pt x="2249605" y="0"/>
                  <a:pt x="2249605" y="0"/>
                </a:cubicBezTo>
                <a:lnTo>
                  <a:pt x="2249605" y="0"/>
                </a:lnTo>
              </a:path>
            </a:pathLst>
          </a:cu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cxnSp>
        <p:nvCxnSpPr>
          <p:cNvPr id="48" name="Straight Arrow Connector 47"/>
          <p:cNvCxnSpPr/>
          <p:nvPr/>
        </p:nvCxnSpPr>
        <p:spPr bwMode="auto">
          <a:xfrm>
            <a:off x="2498990" y="2062595"/>
            <a:ext cx="1336031" cy="163987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5152588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2564904"/>
            <a:ext cx="14287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95288" y="908720"/>
            <a:ext cx="7632848" cy="1308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FF00"/>
                </a:solidFill>
              </a:rPr>
              <a:t>Display gamma comprises </a:t>
            </a:r>
          </a:p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FF00"/>
                </a:solidFill>
              </a:rPr>
              <a:t>(</a:t>
            </a:r>
            <a:r>
              <a:rPr lang="en-GB" dirty="0" err="1">
                <a:solidFill>
                  <a:srgbClr val="FFFF00"/>
                </a:solidFill>
              </a:rPr>
              <a:t>i</a:t>
            </a:r>
            <a:r>
              <a:rPr lang="en-GB" dirty="0">
                <a:solidFill>
                  <a:srgbClr val="FFFF00"/>
                </a:solidFill>
              </a:rPr>
              <a:t>)   the native monitor/LCD gamma and </a:t>
            </a:r>
          </a:p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FF00"/>
                </a:solidFill>
              </a:rPr>
              <a:t>(ii)   any gamma corrections applied within the display itself or by the video card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5736" y="2636912"/>
            <a:ext cx="5688632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400"/>
              </a:lnSpc>
            </a:pPr>
            <a:r>
              <a:rPr lang="en-GB" b="1" dirty="0">
                <a:solidFill>
                  <a:srgbClr val="FFFF00"/>
                </a:solidFill>
              </a:rPr>
              <a:t>CRT Monitors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engineering coincidence - native gamma = 2.5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almost the inverse of the eye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288" y="4221088"/>
            <a:ext cx="8137152" cy="22313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gamma-encoded file sent straight to the screen and they would automatically be corrected </a:t>
            </a:r>
          </a:p>
          <a:p>
            <a:pPr marL="180975" indent="-180975">
              <a:lnSpc>
                <a:spcPts val="2400"/>
              </a:lnSpc>
            </a:pPr>
            <a:r>
              <a:rPr lang="en-GB" dirty="0">
                <a:solidFill>
                  <a:srgbClr val="FFFF00"/>
                </a:solidFill>
              </a:rPr>
              <a:t>	... appear nearly correct 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small gamma correction of ~1/1.1 needed to achieve an overall display gamma of 2.2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usually already set by the manufacturer's default settings</a:t>
            </a:r>
          </a:p>
          <a:p>
            <a:pPr marL="180975" indent="-180975">
              <a:lnSpc>
                <a:spcPts val="24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can also be set during monitor calibration</a:t>
            </a:r>
          </a:p>
        </p:txBody>
      </p:sp>
    </p:spTree>
    <p:extLst>
      <p:ext uri="{BB962C8B-B14F-4D97-AF65-F5344CB8AC3E}">
        <p14:creationId xmlns:p14="http://schemas.microsoft.com/office/powerpoint/2010/main" val="7496229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0"/>
            <a:ext cx="9144001" cy="6858000"/>
          </a:xfrm>
          <a:prstGeom prst="rect">
            <a:avLst/>
          </a:prstGeom>
          <a:solidFill>
            <a:srgbClr val="3E3E3E"/>
          </a:solidFill>
          <a:ln w="9525" algn="ctr">
            <a:noFill/>
            <a:round/>
            <a:headEnd/>
            <a:tailEnd/>
          </a:ln>
        </p:spPr>
        <p:txBody>
          <a:bodyPr/>
          <a:lstStyle/>
          <a:p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5288" y="1340768"/>
            <a:ext cx="135255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395288" y="333375"/>
            <a:ext cx="2952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rgbClr val="FFFF00"/>
                </a:solidFill>
              </a:rPr>
              <a:t>Display Gamma</a:t>
            </a:r>
            <a:endParaRPr lang="en-GB" sz="2400" dirty="0">
              <a:solidFill>
                <a:srgbClr val="FFFF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95153" y="946051"/>
            <a:ext cx="6410672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</a:pPr>
            <a:r>
              <a:rPr lang="en-GB" b="1" dirty="0">
                <a:solidFill>
                  <a:srgbClr val="FFFF00"/>
                </a:solidFill>
              </a:rPr>
              <a:t>LCD Monitors</a:t>
            </a:r>
          </a:p>
          <a:p>
            <a:pPr marL="180975" indent="-180975">
              <a:lnSpc>
                <a:spcPct val="150000"/>
              </a:lnSpc>
            </a:pPr>
            <a:endParaRPr lang="en-GB" b="1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display gamma of 2.2 often requires substantial corrections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devices much less consistent than CRT's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dirty="0">
                <a:solidFill>
                  <a:srgbClr val="FFFF00"/>
                </a:solidFill>
              </a:rPr>
              <a:t>require a look-up table (LUT) to ensure the intended display gamma</a:t>
            </a: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endParaRPr lang="en-GB" dirty="0">
              <a:solidFill>
                <a:srgbClr val="FFFF00"/>
              </a:solidFill>
            </a:endParaRPr>
          </a:p>
          <a:p>
            <a:pPr marL="180975" indent="-180975">
              <a:lnSpc>
                <a:spcPct val="150000"/>
              </a:lnSpc>
              <a:buFont typeface="Arial" pitchFamily="34" charset="0"/>
              <a:buChar char="•"/>
            </a:pPr>
            <a:r>
              <a:rPr lang="en-GB" b="1" dirty="0">
                <a:solidFill>
                  <a:srgbClr val="FFFF00"/>
                </a:solidFill>
              </a:rPr>
              <a:t>Linear gamma (RAW) images </a:t>
            </a:r>
          </a:p>
          <a:p>
            <a:pPr marL="361950" lvl="1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... would still appear as our eyes saw them </a:t>
            </a:r>
          </a:p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... but only if shown on a linear gamma display</a:t>
            </a:r>
          </a:p>
          <a:p>
            <a:pPr marL="180975" indent="-180975">
              <a:lnSpc>
                <a:spcPct val="150000"/>
              </a:lnSpc>
            </a:pPr>
            <a:r>
              <a:rPr lang="en-GB" dirty="0">
                <a:solidFill>
                  <a:srgbClr val="FFFF00"/>
                </a:solidFill>
              </a:rPr>
              <a:t>	- however, this would miss gamma's ability to efficiently record tonal levels</a:t>
            </a:r>
          </a:p>
        </p:txBody>
      </p:sp>
    </p:spTree>
    <p:extLst>
      <p:ext uri="{BB962C8B-B14F-4D97-AF65-F5344CB8AC3E}">
        <p14:creationId xmlns:p14="http://schemas.microsoft.com/office/powerpoint/2010/main" val="3588015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02" y="1040256"/>
            <a:ext cx="8423892" cy="471580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b="1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1030943" y="5855409"/>
            <a:ext cx="37721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1600" dirty="0">
                <a:solidFill>
                  <a:srgbClr val="000000"/>
                </a:solidFill>
              </a:rPr>
              <a:t>Lars Borg, Principle Scientist, Adobe</a:t>
            </a:r>
          </a:p>
          <a:p>
            <a:r>
              <a:rPr lang="en-GB" sz="1600" dirty="0">
                <a:solidFill>
                  <a:srgbClr val="000000"/>
                </a:solidFill>
              </a:rPr>
              <a:t>SMPTE Standards Webcast series</a:t>
            </a:r>
            <a:endParaRPr lang="en-GB" sz="1600" dirty="0"/>
          </a:p>
        </p:txBody>
      </p:sp>
      <p:sp>
        <p:nvSpPr>
          <p:cNvPr id="6" name="Rectangle 5"/>
          <p:cNvSpPr/>
          <p:nvPr/>
        </p:nvSpPr>
        <p:spPr>
          <a:xfrm>
            <a:off x="7163780" y="5855409"/>
            <a:ext cx="1980220" cy="507831"/>
          </a:xfrm>
          <a:prstGeom prst="rect">
            <a:avLst/>
          </a:prstGeom>
          <a:solidFill>
            <a:srgbClr val="CCCCFF"/>
          </a:solidFill>
        </p:spPr>
        <p:txBody>
          <a:bodyPr wrap="square">
            <a:spAutoFit/>
          </a:bodyPr>
          <a:lstStyle/>
          <a:p>
            <a:r>
              <a:rPr lang="en-GB" sz="900" dirty="0">
                <a:hlinkClick r:id="rId3"/>
              </a:rPr>
              <a:t>https://www.smpte.org/sites/default/files/2017-01-12-ST-2094-Borg-V2-Handout.pdf</a:t>
            </a:r>
            <a:r>
              <a:rPr lang="en-GB" sz="900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72" y="5831521"/>
            <a:ext cx="551827" cy="72641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336196" y="381950"/>
            <a:ext cx="2643672" cy="387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2300"/>
              </a:lnSpc>
            </a:pPr>
            <a:r>
              <a:rPr lang="en-GB" i="1" dirty="0">
                <a:latin typeface="Lucida Sans Unicode" pitchFamily="34" charset="0"/>
                <a:cs typeface="Lucida Sans Unicode" pitchFamily="34" charset="0"/>
              </a:rPr>
              <a:t>Not really semantic …</a:t>
            </a:r>
          </a:p>
        </p:txBody>
      </p:sp>
    </p:spTree>
    <p:extLst>
      <p:ext uri="{BB962C8B-B14F-4D97-AF65-F5344CB8AC3E}">
        <p14:creationId xmlns:p14="http://schemas.microsoft.com/office/powerpoint/2010/main" val="3491145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088740"/>
            <a:ext cx="8245164" cy="469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7592376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5" y="1204912"/>
            <a:ext cx="8491442" cy="460035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939100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2" y="1247774"/>
            <a:ext cx="8440763" cy="45214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005889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196752"/>
            <a:ext cx="8426377" cy="461254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707304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524" y="1052736"/>
            <a:ext cx="8748972" cy="475252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2065377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8" y="1160747"/>
            <a:ext cx="8569200" cy="467410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1474643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87" y="1088740"/>
            <a:ext cx="8488253" cy="46445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09402" y="333375"/>
            <a:ext cx="599234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rgbClr val="000000"/>
                </a:solidFill>
              </a:rPr>
              <a:t>SMPTE ST 2094 and Dynamic Metadata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2574078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917557"/>
            <a:ext cx="8011293" cy="1502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/>
              <a:t>Single signal - SDR to legacy TV; HDR to new displays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uses a logarithmic curve in the highlights (since the quantisation noise is almost constant)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and a gamma curve in the dark areas since the visibility threshold for quantisation is higher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95288" y="368300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Hybrid Log Gamma OETF</a:t>
            </a:r>
          </a:p>
        </p:txBody>
      </p:sp>
      <p:pic>
        <p:nvPicPr>
          <p:cNvPr id="4098" name="Picture 2" descr="http://www.ctoic.net/wp-content/uploads/2016/01/HL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888" y="2619709"/>
            <a:ext cx="5389039" cy="373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5503557"/>
            <a:ext cx="2871019" cy="707886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u="sng">
                <a:hlinkClick r:id="rId3"/>
              </a:rPr>
              <a:t>The State of HDR in Broadcast and OTT – CES 2016 update</a:t>
            </a:r>
            <a:endParaRPr lang="en-GB" sz="900">
              <a:hlinkClick r:id="rId3"/>
            </a:endParaRPr>
          </a:p>
          <a:p>
            <a:r>
              <a:rPr lang="en-GB" sz="900">
                <a:hlinkClick r:id="rId3"/>
              </a:rPr>
              <a:t>http://www.ctoic.net/blog/the-state-of-hdr-in-broadcast-and-ott-at-year-end-2015/</a:t>
            </a:r>
            <a:r>
              <a:rPr lang="en-GB" sz="90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95288" y="2420533"/>
            <a:ext cx="2937847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gamma curve in HLG (for a large part of the signal range) = backward compatibility with legacy displays</a:t>
            </a:r>
          </a:p>
        </p:txBody>
      </p:sp>
    </p:spTree>
    <p:extLst>
      <p:ext uri="{BB962C8B-B14F-4D97-AF65-F5344CB8AC3E}">
        <p14:creationId xmlns:p14="http://schemas.microsoft.com/office/powerpoint/2010/main" val="21454014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www.ctoic.net/wp-content/uploads/2016/01/HL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888" y="2619709"/>
            <a:ext cx="5389039" cy="3739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95288" y="368300"/>
            <a:ext cx="391645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/>
              <a:t>Hybrid Log Gamma OETF</a:t>
            </a:r>
          </a:p>
        </p:txBody>
      </p:sp>
      <p:sp>
        <p:nvSpPr>
          <p:cNvPr id="4" name="Rectangle 3"/>
          <p:cNvSpPr/>
          <p:nvPr/>
        </p:nvSpPr>
        <p:spPr>
          <a:xfrm>
            <a:off x="395288" y="926990"/>
            <a:ext cx="8129280" cy="12208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200"/>
              </a:lnSpc>
            </a:pPr>
            <a:r>
              <a:rPr lang="en-GB"/>
              <a:t>HLG specifies a scene-referred HDR signal 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every pixel in the image represents the light intensity in the captured scene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transfer characteristics specified by HLG can be implemented directly in the camera</a:t>
            </a:r>
          </a:p>
        </p:txBody>
      </p:sp>
      <p:sp>
        <p:nvSpPr>
          <p:cNvPr id="5" name="Rectangle 4"/>
          <p:cNvSpPr/>
          <p:nvPr/>
        </p:nvSpPr>
        <p:spPr>
          <a:xfrm>
            <a:off x="395288" y="2147837"/>
            <a:ext cx="2947680" cy="20672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signal produced by the camera is independent of the display</a:t>
            </a:r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endParaRPr lang="en-GB"/>
          </a:p>
          <a:p>
            <a:pPr marL="285750" indent="-285750">
              <a:lnSpc>
                <a:spcPts val="2200"/>
              </a:lnSpc>
              <a:buFont typeface="Arial" panose="020B0604020202020204" pitchFamily="34" charset="0"/>
              <a:buChar char="•"/>
            </a:pPr>
            <a:r>
              <a:rPr lang="en-GB"/>
              <a:t>no additional processing, no metadata </a:t>
            </a:r>
          </a:p>
        </p:txBody>
      </p:sp>
    </p:spTree>
    <p:extLst>
      <p:ext uri="{BB962C8B-B14F-4D97-AF65-F5344CB8AC3E}">
        <p14:creationId xmlns:p14="http://schemas.microsoft.com/office/powerpoint/2010/main" val="10579941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 bwMode="auto">
          <a:xfrm>
            <a:off x="0" y="0"/>
            <a:ext cx="9144000" cy="6858001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Lucida Sans Unicode" pitchFamily="34" charset="0"/>
            </a:endParaRPr>
          </a:p>
        </p:txBody>
      </p:sp>
      <p:pic>
        <p:nvPicPr>
          <p:cNvPr id="2050" name="Picture 2" descr="BBCHD_testcard_big.jpg (1920×1080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" y="857509"/>
            <a:ext cx="9143079" cy="5142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2987414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Template">
      <a:majorFont>
        <a:latin typeface="Lucida Sans Unicode"/>
        <a:ea typeface=""/>
        <a:cs typeface=""/>
      </a:majorFont>
      <a:minorFont>
        <a:latin typeface="Lucida Sans Unico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Custom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Custom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Lucida Sans Unicode" pitchFamily="34" charset="0"/>
          </a:defRPr>
        </a:defPPr>
      </a:lstStyle>
    </a:lnDef>
  </a:objectDefaults>
  <a:extraClrSchemeLst>
    <a:extraClrScheme>
      <a:clrScheme name="Custom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ustom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ustom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2516</TotalTime>
  <Words>2235</Words>
  <Application>Microsoft Office PowerPoint</Application>
  <PresentationFormat>On-screen Show (4:3)</PresentationFormat>
  <Paragraphs>608</Paragraphs>
  <Slides>46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3" baseType="lpstr">
      <vt:lpstr>Arial</vt:lpstr>
      <vt:lpstr>Cambria Math</vt:lpstr>
      <vt:lpstr>Lucida Sans Unicode</vt:lpstr>
      <vt:lpstr>Times New Roman</vt:lpstr>
      <vt:lpstr>Template</vt:lpstr>
      <vt:lpstr>Custom Design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n/a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JFoss</dc:creator>
  <cp:lastModifiedBy>Jeremy Foss</cp:lastModifiedBy>
  <cp:revision>171</cp:revision>
  <cp:lastPrinted>2019-05-13T07:47:35Z</cp:lastPrinted>
  <dcterms:created xsi:type="dcterms:W3CDTF">2006-09-10T21:25:56Z</dcterms:created>
  <dcterms:modified xsi:type="dcterms:W3CDTF">2019-05-13T09:43:16Z</dcterms:modified>
</cp:coreProperties>
</file>