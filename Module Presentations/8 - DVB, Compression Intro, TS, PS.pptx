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 id="2147483649" r:id="rId2"/>
  </p:sldMasterIdLst>
  <p:notesMasterIdLst>
    <p:notesMasterId r:id="rId85"/>
  </p:notesMasterIdLst>
  <p:handoutMasterIdLst>
    <p:handoutMasterId r:id="rId86"/>
  </p:handoutMasterIdLst>
  <p:sldIdLst>
    <p:sldId id="256" r:id="rId3"/>
    <p:sldId id="844" r:id="rId4"/>
    <p:sldId id="258" r:id="rId5"/>
    <p:sldId id="259" r:id="rId6"/>
    <p:sldId id="837" r:id="rId7"/>
    <p:sldId id="260" r:id="rId8"/>
    <p:sldId id="261" r:id="rId9"/>
    <p:sldId id="262" r:id="rId10"/>
    <p:sldId id="263" r:id="rId11"/>
    <p:sldId id="264" r:id="rId12"/>
    <p:sldId id="838" r:id="rId13"/>
    <p:sldId id="265" r:id="rId14"/>
    <p:sldId id="266" r:id="rId15"/>
    <p:sldId id="267" r:id="rId16"/>
    <p:sldId id="283" r:id="rId17"/>
    <p:sldId id="284" r:id="rId18"/>
    <p:sldId id="325" r:id="rId19"/>
    <p:sldId id="326" r:id="rId20"/>
    <p:sldId id="327" r:id="rId21"/>
    <p:sldId id="285" r:id="rId22"/>
    <p:sldId id="286" r:id="rId23"/>
    <p:sldId id="287" r:id="rId24"/>
    <p:sldId id="288" r:id="rId25"/>
    <p:sldId id="289" r:id="rId26"/>
    <p:sldId id="292" r:id="rId27"/>
    <p:sldId id="293" r:id="rId28"/>
    <p:sldId id="294" r:id="rId29"/>
    <p:sldId id="278" r:id="rId30"/>
    <p:sldId id="850" r:id="rId31"/>
    <p:sldId id="851" r:id="rId32"/>
    <p:sldId id="852" r:id="rId33"/>
    <p:sldId id="853" r:id="rId34"/>
    <p:sldId id="854" r:id="rId35"/>
    <p:sldId id="861" r:id="rId36"/>
    <p:sldId id="257" r:id="rId37"/>
    <p:sldId id="855" r:id="rId38"/>
    <p:sldId id="875" r:id="rId39"/>
    <p:sldId id="858" r:id="rId40"/>
    <p:sldId id="859" r:id="rId41"/>
    <p:sldId id="860" r:id="rId42"/>
    <p:sldId id="298" r:id="rId43"/>
    <p:sldId id="862" r:id="rId44"/>
    <p:sldId id="863" r:id="rId45"/>
    <p:sldId id="864" r:id="rId46"/>
    <p:sldId id="865" r:id="rId47"/>
    <p:sldId id="866" r:id="rId48"/>
    <p:sldId id="867" r:id="rId49"/>
    <p:sldId id="271" r:id="rId50"/>
    <p:sldId id="272" r:id="rId51"/>
    <p:sldId id="869" r:id="rId52"/>
    <p:sldId id="346" r:id="rId53"/>
    <p:sldId id="347" r:id="rId54"/>
    <p:sldId id="300" r:id="rId55"/>
    <p:sldId id="301" r:id="rId56"/>
    <p:sldId id="302" r:id="rId57"/>
    <p:sldId id="303" r:id="rId58"/>
    <p:sldId id="304" r:id="rId59"/>
    <p:sldId id="305" r:id="rId60"/>
    <p:sldId id="870" r:id="rId61"/>
    <p:sldId id="871" r:id="rId62"/>
    <p:sldId id="872" r:id="rId63"/>
    <p:sldId id="874" r:id="rId64"/>
    <p:sldId id="362" r:id="rId65"/>
    <p:sldId id="281" r:id="rId66"/>
    <p:sldId id="330" r:id="rId67"/>
    <p:sldId id="299" r:id="rId68"/>
    <p:sldId id="332" r:id="rId69"/>
    <p:sldId id="324" r:id="rId70"/>
    <p:sldId id="876" r:id="rId71"/>
    <p:sldId id="877" r:id="rId72"/>
    <p:sldId id="878" r:id="rId73"/>
    <p:sldId id="879" r:id="rId74"/>
    <p:sldId id="331" r:id="rId75"/>
    <p:sldId id="337" r:id="rId76"/>
    <p:sldId id="320" r:id="rId77"/>
    <p:sldId id="322" r:id="rId78"/>
    <p:sldId id="310" r:id="rId79"/>
    <p:sldId id="316" r:id="rId80"/>
    <p:sldId id="835" r:id="rId81"/>
    <p:sldId id="768" r:id="rId82"/>
    <p:sldId id="820" r:id="rId83"/>
    <p:sldId id="280" r:id="rId84"/>
  </p:sldIdLst>
  <p:sldSz cx="9144000" cy="6858000" type="screen4x3"/>
  <p:notesSz cx="6797675" cy="9928225"/>
  <p:defaultTextStyle>
    <a:defPPr>
      <a:defRPr lang="en-GB"/>
    </a:defPPr>
    <a:lvl1pPr algn="l" rtl="0" eaLnBrk="0" fontAlgn="base" hangingPunct="0">
      <a:spcBef>
        <a:spcPct val="0"/>
      </a:spcBef>
      <a:spcAft>
        <a:spcPct val="0"/>
      </a:spcAft>
      <a:defRPr sz="1600" kern="1200">
        <a:solidFill>
          <a:schemeClr val="tx1"/>
        </a:solidFill>
        <a:latin typeface="Lucida Sans Unicode" pitchFamily="34" charset="0"/>
        <a:ea typeface="+mn-ea"/>
        <a:cs typeface="+mn-cs"/>
      </a:defRPr>
    </a:lvl1pPr>
    <a:lvl2pPr marL="457200" algn="l" rtl="0" eaLnBrk="0" fontAlgn="base" hangingPunct="0">
      <a:spcBef>
        <a:spcPct val="0"/>
      </a:spcBef>
      <a:spcAft>
        <a:spcPct val="0"/>
      </a:spcAft>
      <a:defRPr sz="1600" kern="1200">
        <a:solidFill>
          <a:schemeClr val="tx1"/>
        </a:solidFill>
        <a:latin typeface="Lucida Sans Unicode" pitchFamily="34" charset="0"/>
        <a:ea typeface="+mn-ea"/>
        <a:cs typeface="+mn-cs"/>
      </a:defRPr>
    </a:lvl2pPr>
    <a:lvl3pPr marL="914400" algn="l" rtl="0" eaLnBrk="0" fontAlgn="base" hangingPunct="0">
      <a:spcBef>
        <a:spcPct val="0"/>
      </a:spcBef>
      <a:spcAft>
        <a:spcPct val="0"/>
      </a:spcAft>
      <a:defRPr sz="1600" kern="1200">
        <a:solidFill>
          <a:schemeClr val="tx1"/>
        </a:solidFill>
        <a:latin typeface="Lucida Sans Unicode" pitchFamily="34" charset="0"/>
        <a:ea typeface="+mn-ea"/>
        <a:cs typeface="+mn-cs"/>
      </a:defRPr>
    </a:lvl3pPr>
    <a:lvl4pPr marL="1371600" algn="l" rtl="0" eaLnBrk="0" fontAlgn="base" hangingPunct="0">
      <a:spcBef>
        <a:spcPct val="0"/>
      </a:spcBef>
      <a:spcAft>
        <a:spcPct val="0"/>
      </a:spcAft>
      <a:defRPr sz="1600" kern="1200">
        <a:solidFill>
          <a:schemeClr val="tx1"/>
        </a:solidFill>
        <a:latin typeface="Lucida Sans Unicode" pitchFamily="34" charset="0"/>
        <a:ea typeface="+mn-ea"/>
        <a:cs typeface="+mn-cs"/>
      </a:defRPr>
    </a:lvl4pPr>
    <a:lvl5pPr marL="1828800" algn="l" rtl="0" eaLnBrk="0" fontAlgn="base" hangingPunct="0">
      <a:spcBef>
        <a:spcPct val="0"/>
      </a:spcBef>
      <a:spcAft>
        <a:spcPct val="0"/>
      </a:spcAft>
      <a:defRPr sz="1600" kern="1200">
        <a:solidFill>
          <a:schemeClr val="tx1"/>
        </a:solidFill>
        <a:latin typeface="Lucida Sans Unicode" pitchFamily="34" charset="0"/>
        <a:ea typeface="+mn-ea"/>
        <a:cs typeface="+mn-cs"/>
      </a:defRPr>
    </a:lvl5pPr>
    <a:lvl6pPr marL="2286000" algn="l" defTabSz="914400" rtl="0" eaLnBrk="1" latinLnBrk="0" hangingPunct="1">
      <a:defRPr sz="1600" kern="1200">
        <a:solidFill>
          <a:schemeClr val="tx1"/>
        </a:solidFill>
        <a:latin typeface="Lucida Sans Unicode" pitchFamily="34" charset="0"/>
        <a:ea typeface="+mn-ea"/>
        <a:cs typeface="+mn-cs"/>
      </a:defRPr>
    </a:lvl6pPr>
    <a:lvl7pPr marL="2743200" algn="l" defTabSz="914400" rtl="0" eaLnBrk="1" latinLnBrk="0" hangingPunct="1">
      <a:defRPr sz="1600" kern="1200">
        <a:solidFill>
          <a:schemeClr val="tx1"/>
        </a:solidFill>
        <a:latin typeface="Lucida Sans Unicode" pitchFamily="34" charset="0"/>
        <a:ea typeface="+mn-ea"/>
        <a:cs typeface="+mn-cs"/>
      </a:defRPr>
    </a:lvl7pPr>
    <a:lvl8pPr marL="3200400" algn="l" defTabSz="914400" rtl="0" eaLnBrk="1" latinLnBrk="0" hangingPunct="1">
      <a:defRPr sz="1600" kern="1200">
        <a:solidFill>
          <a:schemeClr val="tx1"/>
        </a:solidFill>
        <a:latin typeface="Lucida Sans Unicode" pitchFamily="34" charset="0"/>
        <a:ea typeface="+mn-ea"/>
        <a:cs typeface="+mn-cs"/>
      </a:defRPr>
    </a:lvl8pPr>
    <a:lvl9pPr marL="3657600" algn="l" defTabSz="914400" rtl="0" eaLnBrk="1" latinLnBrk="0" hangingPunct="1">
      <a:defRPr sz="1600" kern="1200">
        <a:solidFill>
          <a:schemeClr val="tx1"/>
        </a:solidFill>
        <a:latin typeface="Lucida Sans Unicode" pitchFamily="34" charset="0"/>
        <a:ea typeface="+mn-ea"/>
        <a:cs typeface="+mn-cs"/>
      </a:defRPr>
    </a:lvl9pPr>
  </p:defaultTextStyle>
  <p:extLst>
    <p:ext uri="{521415D9-36F7-43E2-AB2F-B90AF26B5E84}">
      <p14:sectionLst xmlns:p14="http://schemas.microsoft.com/office/powerpoint/2010/main">
        <p14:section name="Default Section" id="{E229DBFF-8306-4631-A6EE-56D72A87A192}">
          <p14:sldIdLst>
            <p14:sldId id="256"/>
            <p14:sldId id="844"/>
            <p14:sldId id="258"/>
            <p14:sldId id="259"/>
            <p14:sldId id="837"/>
            <p14:sldId id="260"/>
            <p14:sldId id="261"/>
            <p14:sldId id="262"/>
            <p14:sldId id="263"/>
            <p14:sldId id="264"/>
            <p14:sldId id="838"/>
            <p14:sldId id="265"/>
            <p14:sldId id="266"/>
            <p14:sldId id="267"/>
            <p14:sldId id="283"/>
            <p14:sldId id="284"/>
            <p14:sldId id="325"/>
            <p14:sldId id="326"/>
            <p14:sldId id="327"/>
            <p14:sldId id="285"/>
            <p14:sldId id="286"/>
            <p14:sldId id="287"/>
            <p14:sldId id="288"/>
            <p14:sldId id="289"/>
            <p14:sldId id="292"/>
            <p14:sldId id="293"/>
            <p14:sldId id="294"/>
            <p14:sldId id="278"/>
            <p14:sldId id="850"/>
            <p14:sldId id="851"/>
            <p14:sldId id="852"/>
            <p14:sldId id="853"/>
            <p14:sldId id="854"/>
            <p14:sldId id="861"/>
            <p14:sldId id="257"/>
            <p14:sldId id="855"/>
            <p14:sldId id="875"/>
            <p14:sldId id="858"/>
            <p14:sldId id="859"/>
            <p14:sldId id="860"/>
            <p14:sldId id="298"/>
            <p14:sldId id="862"/>
            <p14:sldId id="863"/>
            <p14:sldId id="864"/>
            <p14:sldId id="865"/>
            <p14:sldId id="866"/>
            <p14:sldId id="867"/>
            <p14:sldId id="271"/>
            <p14:sldId id="272"/>
            <p14:sldId id="869"/>
            <p14:sldId id="346"/>
            <p14:sldId id="347"/>
            <p14:sldId id="300"/>
            <p14:sldId id="301"/>
            <p14:sldId id="302"/>
            <p14:sldId id="303"/>
            <p14:sldId id="304"/>
            <p14:sldId id="305"/>
            <p14:sldId id="870"/>
            <p14:sldId id="871"/>
            <p14:sldId id="872"/>
            <p14:sldId id="874"/>
            <p14:sldId id="362"/>
            <p14:sldId id="281"/>
            <p14:sldId id="330"/>
            <p14:sldId id="299"/>
            <p14:sldId id="332"/>
            <p14:sldId id="324"/>
            <p14:sldId id="876"/>
            <p14:sldId id="877"/>
            <p14:sldId id="878"/>
            <p14:sldId id="879"/>
            <p14:sldId id="331"/>
            <p14:sldId id="337"/>
            <p14:sldId id="320"/>
            <p14:sldId id="322"/>
            <p14:sldId id="310"/>
            <p14:sldId id="316"/>
            <p14:sldId id="835"/>
            <p14:sldId id="768"/>
            <p14:sldId id="820"/>
            <p14:sldId id="280"/>
          </p14:sldIdLst>
        </p14:section>
        <p14:section name="Untitled Section" id="{BC9BB248-2099-4944-9BCA-82977D62DC9C}">
          <p14:sldIdLst/>
        </p14:section>
      </p14:sectionLst>
    </p:ext>
    <p:ext uri="{EFAFB233-063F-42B5-8137-9DF3F51BA10A}">
      <p15:sldGuideLst xmlns:p15="http://schemas.microsoft.com/office/powerpoint/2012/main">
        <p15:guide id="1" orient="horz" pos="232" userDrawn="1">
          <p15:clr>
            <a:srgbClr val="A4A3A4"/>
          </p15:clr>
        </p15:guide>
        <p15:guide id="2" pos="249">
          <p15:clr>
            <a:srgbClr val="A4A3A4"/>
          </p15:clr>
        </p15:guide>
      </p15:sldGuideLst>
    </p:ext>
    <p:ext uri="{2D200454-40CA-4A62-9FC3-DE9A4176ACB9}">
      <p15:notesGuideLst xmlns:p15="http://schemas.microsoft.com/office/powerpoint/2012/main">
        <p15:guide id="1" orient="horz" pos="3127" userDrawn="1">
          <p15:clr>
            <a:srgbClr val="A4A3A4"/>
          </p15:clr>
        </p15:guide>
        <p15:guide id="2" pos="214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CCC"/>
    <a:srgbClr val="996633"/>
    <a:srgbClr val="FFE05B"/>
    <a:srgbClr val="FFCC66"/>
    <a:srgbClr val="800000"/>
    <a:srgbClr val="FFFFCC"/>
    <a:srgbClr val="CCECFF"/>
    <a:srgbClr val="99CCFF"/>
    <a:srgbClr val="663300"/>
    <a:srgbClr val="99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4D3B570-AD91-4B99-B8F2-FFE4CD084F16}" v="10" dt="2020-05-18T22:17:12.88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4980" autoAdjust="0"/>
    <p:restoredTop sz="94660"/>
  </p:normalViewPr>
  <p:slideViewPr>
    <p:cSldViewPr snapToGrid="0">
      <p:cViewPr varScale="1">
        <p:scale>
          <a:sx n="124" d="100"/>
          <a:sy n="124" d="100"/>
        </p:scale>
        <p:origin x="1926" y="48"/>
      </p:cViewPr>
      <p:guideLst>
        <p:guide orient="horz" pos="232"/>
        <p:guide pos="249"/>
      </p:guideLst>
    </p:cSldViewPr>
  </p:slideViewPr>
  <p:notesTextViewPr>
    <p:cViewPr>
      <p:scale>
        <a:sx n="100" d="100"/>
        <a:sy n="100" d="100"/>
      </p:scale>
      <p:origin x="0" y="0"/>
    </p:cViewPr>
  </p:notesTextViewPr>
  <p:sorterViewPr>
    <p:cViewPr varScale="1">
      <p:scale>
        <a:sx n="1" d="1"/>
        <a:sy n="1" d="1"/>
      </p:scale>
      <p:origin x="0" y="-11346"/>
    </p:cViewPr>
  </p:sorterViewPr>
  <p:notesViewPr>
    <p:cSldViewPr snapToGrid="0">
      <p:cViewPr varScale="1">
        <p:scale>
          <a:sx n="65" d="100"/>
          <a:sy n="65" d="100"/>
        </p:scale>
        <p:origin x="-1092" y="-72"/>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slide" Target="slides/slide61.xml"/><Relationship Id="rId68" Type="http://schemas.openxmlformats.org/officeDocument/2006/relationships/slide" Target="slides/slide66.xml"/><Relationship Id="rId76" Type="http://schemas.openxmlformats.org/officeDocument/2006/relationships/slide" Target="slides/slide74.xml"/><Relationship Id="rId84" Type="http://schemas.openxmlformats.org/officeDocument/2006/relationships/slide" Target="slides/slide82.xml"/><Relationship Id="rId89" Type="http://schemas.openxmlformats.org/officeDocument/2006/relationships/theme" Target="theme/theme1.xml"/><Relationship Id="rId7" Type="http://schemas.openxmlformats.org/officeDocument/2006/relationships/slide" Target="slides/slide5.xml"/><Relationship Id="rId71" Type="http://schemas.openxmlformats.org/officeDocument/2006/relationships/slide" Target="slides/slide69.xml"/><Relationship Id="rId92"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slide" Target="slides/slide72.xml"/><Relationship Id="rId79" Type="http://schemas.openxmlformats.org/officeDocument/2006/relationships/slide" Target="slides/slide77.xml"/><Relationship Id="rId87"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slide" Target="slides/slide80.xml"/><Relationship Id="rId90" Type="http://schemas.openxmlformats.org/officeDocument/2006/relationships/tableStyles" Target="tableStyle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notesMaster" Target="notesMasters/notesMaster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viewProps" Target="viewProps.xml"/><Relationship Id="rId9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remy Foss" userId="09ac0925-c8bb-438c-a205-6311faa2bcaf" providerId="ADAL" clId="{DDF1D4B3-7277-4418-8EC3-AF0D230DDF6E}"/>
    <pc:docChg chg="addSld delSld modSld modSection modNotesMaster modHandout">
      <pc:chgData name="Jeremy Foss" userId="09ac0925-c8bb-438c-a205-6311faa2bcaf" providerId="ADAL" clId="{DDF1D4B3-7277-4418-8EC3-AF0D230DDF6E}" dt="2019-05-13T14:03:28.904" v="19"/>
      <pc:docMkLst>
        <pc:docMk/>
      </pc:docMkLst>
      <pc:sldChg chg="del">
        <pc:chgData name="Jeremy Foss" userId="09ac0925-c8bb-438c-a205-6311faa2bcaf" providerId="ADAL" clId="{DDF1D4B3-7277-4418-8EC3-AF0D230DDF6E}" dt="2019-05-13T14:01:50.945" v="3" actId="2696"/>
        <pc:sldMkLst>
          <pc:docMk/>
          <pc:sldMk cId="2930868488" sldId="301"/>
        </pc:sldMkLst>
      </pc:sldChg>
      <pc:sldChg chg="modSp">
        <pc:chgData name="Jeremy Foss" userId="09ac0925-c8bb-438c-a205-6311faa2bcaf" providerId="ADAL" clId="{DDF1D4B3-7277-4418-8EC3-AF0D230DDF6E}" dt="2019-05-13T14:01:59.675" v="15" actId="20577"/>
        <pc:sldMkLst>
          <pc:docMk/>
          <pc:sldMk cId="1547438064" sldId="395"/>
        </pc:sldMkLst>
        <pc:spChg chg="mod">
          <ac:chgData name="Jeremy Foss" userId="09ac0925-c8bb-438c-a205-6311faa2bcaf" providerId="ADAL" clId="{DDF1D4B3-7277-4418-8EC3-AF0D230DDF6E}" dt="2019-05-13T14:01:59.675" v="15" actId="20577"/>
          <ac:spMkLst>
            <pc:docMk/>
            <pc:sldMk cId="1547438064" sldId="395"/>
            <ac:spMk id="2" creationId="{00000000-0000-0000-0000-000000000000}"/>
          </ac:spMkLst>
        </pc:spChg>
      </pc:sldChg>
      <pc:sldChg chg="del">
        <pc:chgData name="Jeremy Foss" userId="09ac0925-c8bb-438c-a205-6311faa2bcaf" providerId="ADAL" clId="{DDF1D4B3-7277-4418-8EC3-AF0D230DDF6E}" dt="2019-05-13T14:01:50.935" v="1" actId="2696"/>
        <pc:sldMkLst>
          <pc:docMk/>
          <pc:sldMk cId="399617710" sldId="432"/>
        </pc:sldMkLst>
      </pc:sldChg>
      <pc:sldChg chg="del">
        <pc:chgData name="Jeremy Foss" userId="09ac0925-c8bb-438c-a205-6311faa2bcaf" providerId="ADAL" clId="{DDF1D4B3-7277-4418-8EC3-AF0D230DDF6E}" dt="2019-05-13T14:01:50.937" v="2" actId="2696"/>
        <pc:sldMkLst>
          <pc:docMk/>
          <pc:sldMk cId="2555950900" sldId="433"/>
        </pc:sldMkLst>
      </pc:sldChg>
      <pc:sldChg chg="del">
        <pc:chgData name="Jeremy Foss" userId="09ac0925-c8bb-438c-a205-6311faa2bcaf" providerId="ADAL" clId="{DDF1D4B3-7277-4418-8EC3-AF0D230DDF6E}" dt="2019-05-13T14:01:50.933" v="0" actId="2696"/>
        <pc:sldMkLst>
          <pc:docMk/>
          <pc:sldMk cId="2738931438" sldId="434"/>
        </pc:sldMkLst>
      </pc:sldChg>
      <pc:sldChg chg="add">
        <pc:chgData name="Jeremy Foss" userId="09ac0925-c8bb-438c-a205-6311faa2bcaf" providerId="ADAL" clId="{DDF1D4B3-7277-4418-8EC3-AF0D230DDF6E}" dt="2019-05-13T14:02:39.627" v="16"/>
        <pc:sldMkLst>
          <pc:docMk/>
          <pc:sldMk cId="3474851702" sldId="464"/>
        </pc:sldMkLst>
      </pc:sldChg>
      <pc:sldChg chg="add">
        <pc:chgData name="Jeremy Foss" userId="09ac0925-c8bb-438c-a205-6311faa2bcaf" providerId="ADAL" clId="{DDF1D4B3-7277-4418-8EC3-AF0D230DDF6E}" dt="2019-05-13T14:02:39.627" v="16"/>
        <pc:sldMkLst>
          <pc:docMk/>
          <pc:sldMk cId="3683685084" sldId="465"/>
        </pc:sldMkLst>
      </pc:sldChg>
      <pc:sldChg chg="add">
        <pc:chgData name="Jeremy Foss" userId="09ac0925-c8bb-438c-a205-6311faa2bcaf" providerId="ADAL" clId="{DDF1D4B3-7277-4418-8EC3-AF0D230DDF6E}" dt="2019-05-13T14:02:39.627" v="16"/>
        <pc:sldMkLst>
          <pc:docMk/>
          <pc:sldMk cId="3444675996" sldId="470"/>
        </pc:sldMkLst>
      </pc:sldChg>
      <pc:sldChg chg="add">
        <pc:chgData name="Jeremy Foss" userId="09ac0925-c8bb-438c-a205-6311faa2bcaf" providerId="ADAL" clId="{DDF1D4B3-7277-4418-8EC3-AF0D230DDF6E}" dt="2019-05-13T14:02:39.627" v="16"/>
        <pc:sldMkLst>
          <pc:docMk/>
          <pc:sldMk cId="1450758234" sldId="488"/>
        </pc:sldMkLst>
      </pc:sldChg>
      <pc:sldChg chg="add del">
        <pc:chgData name="Jeremy Foss" userId="09ac0925-c8bb-438c-a205-6311faa2bcaf" providerId="ADAL" clId="{DDF1D4B3-7277-4418-8EC3-AF0D230DDF6E}" dt="2019-05-13T14:02:45.972" v="17" actId="2696"/>
        <pc:sldMkLst>
          <pc:docMk/>
          <pc:sldMk cId="2403388438" sldId="491"/>
        </pc:sldMkLst>
      </pc:sldChg>
      <pc:sldChg chg="add">
        <pc:chgData name="Jeremy Foss" userId="09ac0925-c8bb-438c-a205-6311faa2bcaf" providerId="ADAL" clId="{DDF1D4B3-7277-4418-8EC3-AF0D230DDF6E}" dt="2019-05-13T14:02:39.627" v="16"/>
        <pc:sldMkLst>
          <pc:docMk/>
          <pc:sldMk cId="207939565" sldId="494"/>
        </pc:sldMkLst>
      </pc:sldChg>
      <pc:sldChg chg="add">
        <pc:chgData name="Jeremy Foss" userId="09ac0925-c8bb-438c-a205-6311faa2bcaf" providerId="ADAL" clId="{DDF1D4B3-7277-4418-8EC3-AF0D230DDF6E}" dt="2019-05-13T14:02:39.627" v="16"/>
        <pc:sldMkLst>
          <pc:docMk/>
          <pc:sldMk cId="4187965614" sldId="496"/>
        </pc:sldMkLst>
      </pc:sldChg>
      <pc:sldChg chg="add">
        <pc:chgData name="Jeremy Foss" userId="09ac0925-c8bb-438c-a205-6311faa2bcaf" providerId="ADAL" clId="{DDF1D4B3-7277-4418-8EC3-AF0D230DDF6E}" dt="2019-05-13T14:02:39.627" v="16"/>
        <pc:sldMkLst>
          <pc:docMk/>
          <pc:sldMk cId="3047247152" sldId="504"/>
        </pc:sldMkLst>
      </pc:sldChg>
      <pc:sldChg chg="add">
        <pc:chgData name="Jeremy Foss" userId="09ac0925-c8bb-438c-a205-6311faa2bcaf" providerId="ADAL" clId="{DDF1D4B3-7277-4418-8EC3-AF0D230DDF6E}" dt="2019-05-13T14:02:39.627" v="16"/>
        <pc:sldMkLst>
          <pc:docMk/>
          <pc:sldMk cId="3922809448" sldId="505"/>
        </pc:sldMkLst>
      </pc:sldChg>
      <pc:sldChg chg="add del">
        <pc:chgData name="Jeremy Foss" userId="09ac0925-c8bb-438c-a205-6311faa2bcaf" providerId="ADAL" clId="{DDF1D4B3-7277-4418-8EC3-AF0D230DDF6E}" dt="2019-05-13T14:03:02.904" v="18" actId="2696"/>
        <pc:sldMkLst>
          <pc:docMk/>
          <pc:sldMk cId="2221621112" sldId="506"/>
        </pc:sldMkLst>
      </pc:sldChg>
      <pc:sldChg chg="add">
        <pc:chgData name="Jeremy Foss" userId="09ac0925-c8bb-438c-a205-6311faa2bcaf" providerId="ADAL" clId="{DDF1D4B3-7277-4418-8EC3-AF0D230DDF6E}" dt="2019-05-13T14:02:39.627" v="16"/>
        <pc:sldMkLst>
          <pc:docMk/>
          <pc:sldMk cId="2018986050" sldId="507"/>
        </pc:sldMkLst>
      </pc:sldChg>
      <pc:sldChg chg="add">
        <pc:chgData name="Jeremy Foss" userId="09ac0925-c8bb-438c-a205-6311faa2bcaf" providerId="ADAL" clId="{DDF1D4B3-7277-4418-8EC3-AF0D230DDF6E}" dt="2019-05-13T14:02:39.627" v="16"/>
        <pc:sldMkLst>
          <pc:docMk/>
          <pc:sldMk cId="2272062308" sldId="508"/>
        </pc:sldMkLst>
      </pc:sldChg>
      <pc:sldChg chg="modNotes">
        <pc:chgData name="Jeremy Foss" userId="09ac0925-c8bb-438c-a205-6311faa2bcaf" providerId="ADAL" clId="{DDF1D4B3-7277-4418-8EC3-AF0D230DDF6E}" dt="2019-05-13T14:03:28.904" v="19"/>
        <pc:sldMkLst>
          <pc:docMk/>
          <pc:sldMk cId="1647340765" sldId="840"/>
        </pc:sldMkLst>
      </pc:sldChg>
    </pc:docChg>
  </pc:docChgLst>
  <pc:docChgLst>
    <pc:chgData name="Jeremy" userId="09ac0925-c8bb-438c-a205-6311faa2bcaf" providerId="ADAL" clId="{94D3B570-AD91-4B99-B8F2-FFE4CD084F16}"/>
    <pc:docChg chg="undo custSel addSld delSld modSld sldOrd modSection">
      <pc:chgData name="Jeremy" userId="09ac0925-c8bb-438c-a205-6311faa2bcaf" providerId="ADAL" clId="{94D3B570-AD91-4B99-B8F2-FFE4CD084F16}" dt="2020-05-18T22:19:04.355" v="116" actId="20577"/>
      <pc:docMkLst>
        <pc:docMk/>
      </pc:docMkLst>
      <pc:sldChg chg="modSp mod">
        <pc:chgData name="Jeremy" userId="09ac0925-c8bb-438c-a205-6311faa2bcaf" providerId="ADAL" clId="{94D3B570-AD91-4B99-B8F2-FFE4CD084F16}" dt="2020-05-15T16:30:49.043" v="35" actId="20577"/>
        <pc:sldMkLst>
          <pc:docMk/>
          <pc:sldMk cId="0" sldId="256"/>
        </pc:sldMkLst>
        <pc:spChg chg="mod">
          <ac:chgData name="Jeremy" userId="09ac0925-c8bb-438c-a205-6311faa2bcaf" providerId="ADAL" clId="{94D3B570-AD91-4B99-B8F2-FFE4CD084F16}" dt="2020-05-15T16:30:49.043" v="35" actId="20577"/>
          <ac:spMkLst>
            <pc:docMk/>
            <pc:sldMk cId="0" sldId="256"/>
            <ac:spMk id="2" creationId="{00000000-0000-0000-0000-000000000000}"/>
          </ac:spMkLst>
        </pc:spChg>
      </pc:sldChg>
      <pc:sldChg chg="modSp add mod">
        <pc:chgData name="Jeremy" userId="09ac0925-c8bb-438c-a205-6311faa2bcaf" providerId="ADAL" clId="{94D3B570-AD91-4B99-B8F2-FFE4CD084F16}" dt="2020-05-15T16:36:52.011" v="59" actId="15"/>
        <pc:sldMkLst>
          <pc:docMk/>
          <pc:sldMk cId="809490093" sldId="257"/>
        </pc:sldMkLst>
        <pc:spChg chg="mod">
          <ac:chgData name="Jeremy" userId="09ac0925-c8bb-438c-a205-6311faa2bcaf" providerId="ADAL" clId="{94D3B570-AD91-4B99-B8F2-FFE4CD084F16}" dt="2020-05-15T16:36:52.011" v="59" actId="15"/>
          <ac:spMkLst>
            <pc:docMk/>
            <pc:sldMk cId="809490093" sldId="257"/>
            <ac:spMk id="3" creationId="{00000000-0000-0000-0000-000000000000}"/>
          </ac:spMkLst>
        </pc:spChg>
      </pc:sldChg>
      <pc:sldChg chg="add del">
        <pc:chgData name="Jeremy" userId="09ac0925-c8bb-438c-a205-6311faa2bcaf" providerId="ADAL" clId="{94D3B570-AD91-4B99-B8F2-FFE4CD084F16}" dt="2020-05-15T16:39:26.885" v="81" actId="47"/>
        <pc:sldMkLst>
          <pc:docMk/>
          <pc:sldMk cId="4143181084" sldId="270"/>
        </pc:sldMkLst>
      </pc:sldChg>
      <pc:sldChg chg="add">
        <pc:chgData name="Jeremy" userId="09ac0925-c8bb-438c-a205-6311faa2bcaf" providerId="ADAL" clId="{94D3B570-AD91-4B99-B8F2-FFE4CD084F16}" dt="2020-05-15T16:33:58.574" v="36"/>
        <pc:sldMkLst>
          <pc:docMk/>
          <pc:sldMk cId="2067305363" sldId="271"/>
        </pc:sldMkLst>
      </pc:sldChg>
      <pc:sldChg chg="add">
        <pc:chgData name="Jeremy" userId="09ac0925-c8bb-438c-a205-6311faa2bcaf" providerId="ADAL" clId="{94D3B570-AD91-4B99-B8F2-FFE4CD084F16}" dt="2020-05-15T16:33:58.574" v="36"/>
        <pc:sldMkLst>
          <pc:docMk/>
          <pc:sldMk cId="606793781" sldId="272"/>
        </pc:sldMkLst>
      </pc:sldChg>
      <pc:sldChg chg="add del">
        <pc:chgData name="Jeremy" userId="09ac0925-c8bb-438c-a205-6311faa2bcaf" providerId="ADAL" clId="{94D3B570-AD91-4B99-B8F2-FFE4CD084F16}" dt="2020-05-15T16:39:51.476" v="83" actId="47"/>
        <pc:sldMkLst>
          <pc:docMk/>
          <pc:sldMk cId="4185917917" sldId="273"/>
        </pc:sldMkLst>
      </pc:sldChg>
      <pc:sldChg chg="del">
        <pc:chgData name="Jeremy" userId="09ac0925-c8bb-438c-a205-6311faa2bcaf" providerId="ADAL" clId="{94D3B570-AD91-4B99-B8F2-FFE4CD084F16}" dt="2020-05-15T16:27:34.105" v="2" actId="47"/>
        <pc:sldMkLst>
          <pc:docMk/>
          <pc:sldMk cId="1441702260" sldId="279"/>
        </pc:sldMkLst>
      </pc:sldChg>
      <pc:sldChg chg="add">
        <pc:chgData name="Jeremy" userId="09ac0925-c8bb-438c-a205-6311faa2bcaf" providerId="ADAL" clId="{94D3B570-AD91-4B99-B8F2-FFE4CD084F16}" dt="2020-05-18T22:13:27.406" v="101"/>
        <pc:sldMkLst>
          <pc:docMk/>
          <pc:sldMk cId="0" sldId="281"/>
        </pc:sldMkLst>
      </pc:sldChg>
      <pc:sldChg chg="del">
        <pc:chgData name="Jeremy" userId="09ac0925-c8bb-438c-a205-6311faa2bcaf" providerId="ADAL" clId="{94D3B570-AD91-4B99-B8F2-FFE4CD084F16}" dt="2020-05-15T16:26:16.734" v="0" actId="47"/>
        <pc:sldMkLst>
          <pc:docMk/>
          <pc:sldMk cId="3850368837" sldId="281"/>
        </pc:sldMkLst>
      </pc:sldChg>
      <pc:sldChg chg="del">
        <pc:chgData name="Jeremy" userId="09ac0925-c8bb-438c-a205-6311faa2bcaf" providerId="ADAL" clId="{94D3B570-AD91-4B99-B8F2-FFE4CD084F16}" dt="2020-05-15T16:26:16.734" v="0" actId="47"/>
        <pc:sldMkLst>
          <pc:docMk/>
          <pc:sldMk cId="740216297" sldId="282"/>
        </pc:sldMkLst>
      </pc:sldChg>
      <pc:sldChg chg="del">
        <pc:chgData name="Jeremy" userId="09ac0925-c8bb-438c-a205-6311faa2bcaf" providerId="ADAL" clId="{94D3B570-AD91-4B99-B8F2-FFE4CD084F16}" dt="2020-05-15T16:27:09.076" v="1" actId="47"/>
        <pc:sldMkLst>
          <pc:docMk/>
          <pc:sldMk cId="1406784065" sldId="295"/>
        </pc:sldMkLst>
      </pc:sldChg>
      <pc:sldChg chg="del">
        <pc:chgData name="Jeremy" userId="09ac0925-c8bb-438c-a205-6311faa2bcaf" providerId="ADAL" clId="{94D3B570-AD91-4B99-B8F2-FFE4CD084F16}" dt="2020-05-15T16:27:09.076" v="1" actId="47"/>
        <pc:sldMkLst>
          <pc:docMk/>
          <pc:sldMk cId="2308577026" sldId="296"/>
        </pc:sldMkLst>
      </pc:sldChg>
      <pc:sldChg chg="del">
        <pc:chgData name="Jeremy" userId="09ac0925-c8bb-438c-a205-6311faa2bcaf" providerId="ADAL" clId="{94D3B570-AD91-4B99-B8F2-FFE4CD084F16}" dt="2020-05-15T16:27:09.076" v="1" actId="47"/>
        <pc:sldMkLst>
          <pc:docMk/>
          <pc:sldMk cId="3684433990" sldId="298"/>
        </pc:sldMkLst>
      </pc:sldChg>
      <pc:sldChg chg="add">
        <pc:chgData name="Jeremy" userId="09ac0925-c8bb-438c-a205-6311faa2bcaf" providerId="ADAL" clId="{94D3B570-AD91-4B99-B8F2-FFE4CD084F16}" dt="2020-05-15T16:33:58.574" v="36"/>
        <pc:sldMkLst>
          <pc:docMk/>
          <pc:sldMk cId="3799692948" sldId="298"/>
        </pc:sldMkLst>
      </pc:sldChg>
      <pc:sldChg chg="add">
        <pc:chgData name="Jeremy" userId="09ac0925-c8bb-438c-a205-6311faa2bcaf" providerId="ADAL" clId="{94D3B570-AD91-4B99-B8F2-FFE4CD084F16}" dt="2020-05-18T22:14:49.428" v="107"/>
        <pc:sldMkLst>
          <pc:docMk/>
          <pc:sldMk cId="0" sldId="299"/>
        </pc:sldMkLst>
      </pc:sldChg>
      <pc:sldChg chg="add del">
        <pc:chgData name="Jeremy" userId="09ac0925-c8bb-438c-a205-6311faa2bcaf" providerId="ADAL" clId="{94D3B570-AD91-4B99-B8F2-FFE4CD084F16}" dt="2020-05-15T16:39:57.946" v="84" actId="47"/>
        <pc:sldMkLst>
          <pc:docMk/>
          <pc:sldMk cId="2063099887" sldId="299"/>
        </pc:sldMkLst>
      </pc:sldChg>
      <pc:sldChg chg="del">
        <pc:chgData name="Jeremy" userId="09ac0925-c8bb-438c-a205-6311faa2bcaf" providerId="ADAL" clId="{94D3B570-AD91-4B99-B8F2-FFE4CD084F16}" dt="2020-05-15T16:27:09.076" v="1" actId="47"/>
        <pc:sldMkLst>
          <pc:docMk/>
          <pc:sldMk cId="751075222" sldId="300"/>
        </pc:sldMkLst>
      </pc:sldChg>
      <pc:sldChg chg="add">
        <pc:chgData name="Jeremy" userId="09ac0925-c8bb-438c-a205-6311faa2bcaf" providerId="ADAL" clId="{94D3B570-AD91-4B99-B8F2-FFE4CD084F16}" dt="2020-05-15T16:33:58.574" v="36"/>
        <pc:sldMkLst>
          <pc:docMk/>
          <pc:sldMk cId="1173903542" sldId="300"/>
        </pc:sldMkLst>
      </pc:sldChg>
      <pc:sldChg chg="add">
        <pc:chgData name="Jeremy" userId="09ac0925-c8bb-438c-a205-6311faa2bcaf" providerId="ADAL" clId="{94D3B570-AD91-4B99-B8F2-FFE4CD084F16}" dt="2020-05-15T16:33:58.574" v="36"/>
        <pc:sldMkLst>
          <pc:docMk/>
          <pc:sldMk cId="993619060" sldId="301"/>
        </pc:sldMkLst>
      </pc:sldChg>
      <pc:sldChg chg="del">
        <pc:chgData name="Jeremy" userId="09ac0925-c8bb-438c-a205-6311faa2bcaf" providerId="ADAL" clId="{94D3B570-AD91-4B99-B8F2-FFE4CD084F16}" dt="2020-05-15T16:27:09.076" v="1" actId="47"/>
        <pc:sldMkLst>
          <pc:docMk/>
          <pc:sldMk cId="832650875" sldId="302"/>
        </pc:sldMkLst>
      </pc:sldChg>
      <pc:sldChg chg="add">
        <pc:chgData name="Jeremy" userId="09ac0925-c8bb-438c-a205-6311faa2bcaf" providerId="ADAL" clId="{94D3B570-AD91-4B99-B8F2-FFE4CD084F16}" dt="2020-05-15T16:33:58.574" v="36"/>
        <pc:sldMkLst>
          <pc:docMk/>
          <pc:sldMk cId="1721077532" sldId="302"/>
        </pc:sldMkLst>
      </pc:sldChg>
      <pc:sldChg chg="del">
        <pc:chgData name="Jeremy" userId="09ac0925-c8bb-438c-a205-6311faa2bcaf" providerId="ADAL" clId="{94D3B570-AD91-4B99-B8F2-FFE4CD084F16}" dt="2020-05-15T16:26:16.734" v="0" actId="47"/>
        <pc:sldMkLst>
          <pc:docMk/>
          <pc:sldMk cId="1927677942" sldId="303"/>
        </pc:sldMkLst>
      </pc:sldChg>
      <pc:sldChg chg="add">
        <pc:chgData name="Jeremy" userId="09ac0925-c8bb-438c-a205-6311faa2bcaf" providerId="ADAL" clId="{94D3B570-AD91-4B99-B8F2-FFE4CD084F16}" dt="2020-05-15T16:33:58.574" v="36"/>
        <pc:sldMkLst>
          <pc:docMk/>
          <pc:sldMk cId="2290658946" sldId="303"/>
        </pc:sldMkLst>
      </pc:sldChg>
      <pc:sldChg chg="add">
        <pc:chgData name="Jeremy" userId="09ac0925-c8bb-438c-a205-6311faa2bcaf" providerId="ADAL" clId="{94D3B570-AD91-4B99-B8F2-FFE4CD084F16}" dt="2020-05-15T16:33:58.574" v="36"/>
        <pc:sldMkLst>
          <pc:docMk/>
          <pc:sldMk cId="634217796" sldId="304"/>
        </pc:sldMkLst>
      </pc:sldChg>
      <pc:sldChg chg="del">
        <pc:chgData name="Jeremy" userId="09ac0925-c8bb-438c-a205-6311faa2bcaf" providerId="ADAL" clId="{94D3B570-AD91-4B99-B8F2-FFE4CD084F16}" dt="2020-05-15T16:26:16.734" v="0" actId="47"/>
        <pc:sldMkLst>
          <pc:docMk/>
          <pc:sldMk cId="1148886247" sldId="304"/>
        </pc:sldMkLst>
      </pc:sldChg>
      <pc:sldChg chg="add">
        <pc:chgData name="Jeremy" userId="09ac0925-c8bb-438c-a205-6311faa2bcaf" providerId="ADAL" clId="{94D3B570-AD91-4B99-B8F2-FFE4CD084F16}" dt="2020-05-15T16:33:58.574" v="36"/>
        <pc:sldMkLst>
          <pc:docMk/>
          <pc:sldMk cId="2771308240" sldId="305"/>
        </pc:sldMkLst>
      </pc:sldChg>
      <pc:sldChg chg="del">
        <pc:chgData name="Jeremy" userId="09ac0925-c8bb-438c-a205-6311faa2bcaf" providerId="ADAL" clId="{94D3B570-AD91-4B99-B8F2-FFE4CD084F16}" dt="2020-05-15T16:34:25.557" v="38" actId="47"/>
        <pc:sldMkLst>
          <pc:docMk/>
          <pc:sldMk cId="3556513504" sldId="306"/>
        </pc:sldMkLst>
      </pc:sldChg>
      <pc:sldChg chg="del">
        <pc:chgData name="Jeremy" userId="09ac0925-c8bb-438c-a205-6311faa2bcaf" providerId="ADAL" clId="{94D3B570-AD91-4B99-B8F2-FFE4CD084F16}" dt="2020-05-15T16:34:25.557" v="38" actId="47"/>
        <pc:sldMkLst>
          <pc:docMk/>
          <pc:sldMk cId="1470244903" sldId="307"/>
        </pc:sldMkLst>
      </pc:sldChg>
      <pc:sldChg chg="del">
        <pc:chgData name="Jeremy" userId="09ac0925-c8bb-438c-a205-6311faa2bcaf" providerId="ADAL" clId="{94D3B570-AD91-4B99-B8F2-FFE4CD084F16}" dt="2020-05-15T16:34:25.557" v="38" actId="47"/>
        <pc:sldMkLst>
          <pc:docMk/>
          <pc:sldMk cId="1713156104" sldId="308"/>
        </pc:sldMkLst>
      </pc:sldChg>
      <pc:sldChg chg="del">
        <pc:chgData name="Jeremy" userId="09ac0925-c8bb-438c-a205-6311faa2bcaf" providerId="ADAL" clId="{94D3B570-AD91-4B99-B8F2-FFE4CD084F16}" dt="2020-05-15T16:34:25.557" v="38" actId="47"/>
        <pc:sldMkLst>
          <pc:docMk/>
          <pc:sldMk cId="1548991737" sldId="309"/>
        </pc:sldMkLst>
      </pc:sldChg>
      <pc:sldChg chg="add del">
        <pc:chgData name="Jeremy" userId="09ac0925-c8bb-438c-a205-6311faa2bcaf" providerId="ADAL" clId="{94D3B570-AD91-4B99-B8F2-FFE4CD084F16}" dt="2020-05-15T16:40:19.187" v="85" actId="47"/>
        <pc:sldMkLst>
          <pc:docMk/>
          <pc:sldMk cId="3171543392" sldId="313"/>
        </pc:sldMkLst>
      </pc:sldChg>
      <pc:sldChg chg="del">
        <pc:chgData name="Jeremy" userId="09ac0925-c8bb-438c-a205-6311faa2bcaf" providerId="ADAL" clId="{94D3B570-AD91-4B99-B8F2-FFE4CD084F16}" dt="2020-05-15T16:40:30.133" v="86" actId="47"/>
        <pc:sldMkLst>
          <pc:docMk/>
          <pc:sldMk cId="799364518" sldId="321"/>
        </pc:sldMkLst>
      </pc:sldChg>
      <pc:sldChg chg="del">
        <pc:chgData name="Jeremy" userId="09ac0925-c8bb-438c-a205-6311faa2bcaf" providerId="ADAL" clId="{94D3B570-AD91-4B99-B8F2-FFE4CD084F16}" dt="2020-05-15T16:27:34.105" v="2" actId="47"/>
        <pc:sldMkLst>
          <pc:docMk/>
          <pc:sldMk cId="1581799448" sldId="323"/>
        </pc:sldMkLst>
      </pc:sldChg>
      <pc:sldChg chg="del">
        <pc:chgData name="Jeremy" userId="09ac0925-c8bb-438c-a205-6311faa2bcaf" providerId="ADAL" clId="{94D3B570-AD91-4B99-B8F2-FFE4CD084F16}" dt="2020-05-15T16:34:32.308" v="39" actId="47"/>
        <pc:sldMkLst>
          <pc:docMk/>
          <pc:sldMk cId="958660836" sldId="324"/>
        </pc:sldMkLst>
      </pc:sldChg>
      <pc:sldChg chg="modSp add mod">
        <pc:chgData name="Jeremy" userId="09ac0925-c8bb-438c-a205-6311faa2bcaf" providerId="ADAL" clId="{94D3B570-AD91-4B99-B8F2-FFE4CD084F16}" dt="2020-05-18T22:19:04.355" v="116" actId="20577"/>
        <pc:sldMkLst>
          <pc:docMk/>
          <pc:sldMk cId="3882387155" sldId="324"/>
        </pc:sldMkLst>
        <pc:spChg chg="mod">
          <ac:chgData name="Jeremy" userId="09ac0925-c8bb-438c-a205-6311faa2bcaf" providerId="ADAL" clId="{94D3B570-AD91-4B99-B8F2-FFE4CD084F16}" dt="2020-05-18T22:19:04.355" v="116" actId="20577"/>
          <ac:spMkLst>
            <pc:docMk/>
            <pc:sldMk cId="3882387155" sldId="324"/>
            <ac:spMk id="3" creationId="{9C3E9BD6-DD65-4269-BB4B-FC632A23C1A8}"/>
          </ac:spMkLst>
        </pc:spChg>
      </pc:sldChg>
      <pc:sldChg chg="add">
        <pc:chgData name="Jeremy" userId="09ac0925-c8bb-438c-a205-6311faa2bcaf" providerId="ADAL" clId="{94D3B570-AD91-4B99-B8F2-FFE4CD084F16}" dt="2020-05-18T22:13:27.406" v="101"/>
        <pc:sldMkLst>
          <pc:docMk/>
          <pc:sldMk cId="353809221" sldId="330"/>
        </pc:sldMkLst>
      </pc:sldChg>
      <pc:sldChg chg="add">
        <pc:chgData name="Jeremy" userId="09ac0925-c8bb-438c-a205-6311faa2bcaf" providerId="ADAL" clId="{94D3B570-AD91-4B99-B8F2-FFE4CD084F16}" dt="2020-05-18T22:17:12.877" v="108"/>
        <pc:sldMkLst>
          <pc:docMk/>
          <pc:sldMk cId="3242992259" sldId="331"/>
        </pc:sldMkLst>
      </pc:sldChg>
      <pc:sldChg chg="add">
        <pc:chgData name="Jeremy" userId="09ac0925-c8bb-438c-a205-6311faa2bcaf" providerId="ADAL" clId="{94D3B570-AD91-4B99-B8F2-FFE4CD084F16}" dt="2020-05-18T22:17:12.877" v="108"/>
        <pc:sldMkLst>
          <pc:docMk/>
          <pc:sldMk cId="265809614" sldId="332"/>
        </pc:sldMkLst>
      </pc:sldChg>
      <pc:sldChg chg="add">
        <pc:chgData name="Jeremy" userId="09ac0925-c8bb-438c-a205-6311faa2bcaf" providerId="ADAL" clId="{94D3B570-AD91-4B99-B8F2-FFE4CD084F16}" dt="2020-05-18T22:17:12.877" v="108"/>
        <pc:sldMkLst>
          <pc:docMk/>
          <pc:sldMk cId="2891835432" sldId="337"/>
        </pc:sldMkLst>
      </pc:sldChg>
      <pc:sldChg chg="add">
        <pc:chgData name="Jeremy" userId="09ac0925-c8bb-438c-a205-6311faa2bcaf" providerId="ADAL" clId="{94D3B570-AD91-4B99-B8F2-FFE4CD084F16}" dt="2020-05-15T16:33:58.574" v="36"/>
        <pc:sldMkLst>
          <pc:docMk/>
          <pc:sldMk cId="2945070597" sldId="346"/>
        </pc:sldMkLst>
      </pc:sldChg>
      <pc:sldChg chg="add">
        <pc:chgData name="Jeremy" userId="09ac0925-c8bb-438c-a205-6311faa2bcaf" providerId="ADAL" clId="{94D3B570-AD91-4B99-B8F2-FFE4CD084F16}" dt="2020-05-15T16:33:58.574" v="36"/>
        <pc:sldMkLst>
          <pc:docMk/>
          <pc:sldMk cId="1713760327" sldId="347"/>
        </pc:sldMkLst>
      </pc:sldChg>
      <pc:sldChg chg="add">
        <pc:chgData name="Jeremy" userId="09ac0925-c8bb-438c-a205-6311faa2bcaf" providerId="ADAL" clId="{94D3B570-AD91-4B99-B8F2-FFE4CD084F16}" dt="2020-05-18T22:13:44.673" v="102"/>
        <pc:sldMkLst>
          <pc:docMk/>
          <pc:sldMk cId="0" sldId="362"/>
        </pc:sldMkLst>
      </pc:sldChg>
      <pc:sldChg chg="del">
        <pc:chgData name="Jeremy" userId="09ac0925-c8bb-438c-a205-6311faa2bcaf" providerId="ADAL" clId="{94D3B570-AD91-4B99-B8F2-FFE4CD084F16}" dt="2020-05-15T16:34:40.414" v="40" actId="47"/>
        <pc:sldMkLst>
          <pc:docMk/>
          <pc:sldMk cId="1547438064" sldId="395"/>
        </pc:sldMkLst>
      </pc:sldChg>
      <pc:sldChg chg="del">
        <pc:chgData name="Jeremy" userId="09ac0925-c8bb-438c-a205-6311faa2bcaf" providerId="ADAL" clId="{94D3B570-AD91-4B99-B8F2-FFE4CD084F16}" dt="2020-05-15T16:34:40.414" v="40" actId="47"/>
        <pc:sldMkLst>
          <pc:docMk/>
          <pc:sldMk cId="3474851702" sldId="464"/>
        </pc:sldMkLst>
      </pc:sldChg>
      <pc:sldChg chg="del">
        <pc:chgData name="Jeremy" userId="09ac0925-c8bb-438c-a205-6311faa2bcaf" providerId="ADAL" clId="{94D3B570-AD91-4B99-B8F2-FFE4CD084F16}" dt="2020-05-15T16:34:40.414" v="40" actId="47"/>
        <pc:sldMkLst>
          <pc:docMk/>
          <pc:sldMk cId="3683685084" sldId="465"/>
        </pc:sldMkLst>
      </pc:sldChg>
      <pc:sldChg chg="del">
        <pc:chgData name="Jeremy" userId="09ac0925-c8bb-438c-a205-6311faa2bcaf" providerId="ADAL" clId="{94D3B570-AD91-4B99-B8F2-FFE4CD084F16}" dt="2020-05-15T16:34:40.414" v="40" actId="47"/>
        <pc:sldMkLst>
          <pc:docMk/>
          <pc:sldMk cId="3444675996" sldId="470"/>
        </pc:sldMkLst>
      </pc:sldChg>
      <pc:sldChg chg="del">
        <pc:chgData name="Jeremy" userId="09ac0925-c8bb-438c-a205-6311faa2bcaf" providerId="ADAL" clId="{94D3B570-AD91-4B99-B8F2-FFE4CD084F16}" dt="2020-05-15T16:34:40.414" v="40" actId="47"/>
        <pc:sldMkLst>
          <pc:docMk/>
          <pc:sldMk cId="1450758234" sldId="488"/>
        </pc:sldMkLst>
      </pc:sldChg>
      <pc:sldChg chg="del">
        <pc:chgData name="Jeremy" userId="09ac0925-c8bb-438c-a205-6311faa2bcaf" providerId="ADAL" clId="{94D3B570-AD91-4B99-B8F2-FFE4CD084F16}" dt="2020-05-15T16:34:40.414" v="40" actId="47"/>
        <pc:sldMkLst>
          <pc:docMk/>
          <pc:sldMk cId="207939565" sldId="494"/>
        </pc:sldMkLst>
      </pc:sldChg>
      <pc:sldChg chg="del">
        <pc:chgData name="Jeremy" userId="09ac0925-c8bb-438c-a205-6311faa2bcaf" providerId="ADAL" clId="{94D3B570-AD91-4B99-B8F2-FFE4CD084F16}" dt="2020-05-15T16:40:50.548" v="87" actId="47"/>
        <pc:sldMkLst>
          <pc:docMk/>
          <pc:sldMk cId="4187965614" sldId="496"/>
        </pc:sldMkLst>
      </pc:sldChg>
      <pc:sldChg chg="del">
        <pc:chgData name="Jeremy" userId="09ac0925-c8bb-438c-a205-6311faa2bcaf" providerId="ADAL" clId="{94D3B570-AD91-4B99-B8F2-FFE4CD084F16}" dt="2020-05-15T16:34:40.414" v="40" actId="47"/>
        <pc:sldMkLst>
          <pc:docMk/>
          <pc:sldMk cId="3047247152" sldId="504"/>
        </pc:sldMkLst>
      </pc:sldChg>
      <pc:sldChg chg="del">
        <pc:chgData name="Jeremy" userId="09ac0925-c8bb-438c-a205-6311faa2bcaf" providerId="ADAL" clId="{94D3B570-AD91-4B99-B8F2-FFE4CD084F16}" dt="2020-05-15T16:34:40.414" v="40" actId="47"/>
        <pc:sldMkLst>
          <pc:docMk/>
          <pc:sldMk cId="3922809448" sldId="505"/>
        </pc:sldMkLst>
      </pc:sldChg>
      <pc:sldChg chg="del">
        <pc:chgData name="Jeremy" userId="09ac0925-c8bb-438c-a205-6311faa2bcaf" providerId="ADAL" clId="{94D3B570-AD91-4B99-B8F2-FFE4CD084F16}" dt="2020-05-15T16:34:40.414" v="40" actId="47"/>
        <pc:sldMkLst>
          <pc:docMk/>
          <pc:sldMk cId="2018986050" sldId="507"/>
        </pc:sldMkLst>
      </pc:sldChg>
      <pc:sldChg chg="del">
        <pc:chgData name="Jeremy" userId="09ac0925-c8bb-438c-a205-6311faa2bcaf" providerId="ADAL" clId="{94D3B570-AD91-4B99-B8F2-FFE4CD084F16}" dt="2020-05-15T16:34:40.414" v="40" actId="47"/>
        <pc:sldMkLst>
          <pc:docMk/>
          <pc:sldMk cId="2272062308" sldId="508"/>
        </pc:sldMkLst>
      </pc:sldChg>
      <pc:sldChg chg="del">
        <pc:chgData name="Jeremy" userId="09ac0925-c8bb-438c-a205-6311faa2bcaf" providerId="ADAL" clId="{94D3B570-AD91-4B99-B8F2-FFE4CD084F16}" dt="2020-05-15T16:41:07.894" v="92" actId="47"/>
        <pc:sldMkLst>
          <pc:docMk/>
          <pc:sldMk cId="3572217310" sldId="767"/>
        </pc:sldMkLst>
      </pc:sldChg>
      <pc:sldChg chg="del">
        <pc:chgData name="Jeremy" userId="09ac0925-c8bb-438c-a205-6311faa2bcaf" providerId="ADAL" clId="{94D3B570-AD91-4B99-B8F2-FFE4CD084F16}" dt="2020-05-15T16:34:52.914" v="41" actId="47"/>
        <pc:sldMkLst>
          <pc:docMk/>
          <pc:sldMk cId="894096872" sldId="789"/>
        </pc:sldMkLst>
      </pc:sldChg>
      <pc:sldChg chg="del">
        <pc:chgData name="Jeremy" userId="09ac0925-c8bb-438c-a205-6311faa2bcaf" providerId="ADAL" clId="{94D3B570-AD91-4B99-B8F2-FFE4CD084F16}" dt="2020-05-15T16:34:52.914" v="41" actId="47"/>
        <pc:sldMkLst>
          <pc:docMk/>
          <pc:sldMk cId="727402933" sldId="790"/>
        </pc:sldMkLst>
      </pc:sldChg>
      <pc:sldChg chg="del">
        <pc:chgData name="Jeremy" userId="09ac0925-c8bb-438c-a205-6311faa2bcaf" providerId="ADAL" clId="{94D3B570-AD91-4B99-B8F2-FFE4CD084F16}" dt="2020-05-15T16:40:58.232" v="89" actId="47"/>
        <pc:sldMkLst>
          <pc:docMk/>
          <pc:sldMk cId="2338249231" sldId="821"/>
        </pc:sldMkLst>
      </pc:sldChg>
      <pc:sldChg chg="del">
        <pc:chgData name="Jeremy" userId="09ac0925-c8bb-438c-a205-6311faa2bcaf" providerId="ADAL" clId="{94D3B570-AD91-4B99-B8F2-FFE4CD084F16}" dt="2020-05-15T16:40:54.500" v="88" actId="47"/>
        <pc:sldMkLst>
          <pc:docMk/>
          <pc:sldMk cId="4279997408" sldId="824"/>
        </pc:sldMkLst>
      </pc:sldChg>
      <pc:sldChg chg="del">
        <pc:chgData name="Jeremy" userId="09ac0925-c8bb-438c-a205-6311faa2bcaf" providerId="ADAL" clId="{94D3B570-AD91-4B99-B8F2-FFE4CD084F16}" dt="2020-05-15T16:40:59.521" v="90" actId="47"/>
        <pc:sldMkLst>
          <pc:docMk/>
          <pc:sldMk cId="2613794714" sldId="825"/>
        </pc:sldMkLst>
      </pc:sldChg>
      <pc:sldChg chg="del">
        <pc:chgData name="Jeremy" userId="09ac0925-c8bb-438c-a205-6311faa2bcaf" providerId="ADAL" clId="{94D3B570-AD91-4B99-B8F2-FFE4CD084F16}" dt="2020-05-15T16:41:06.402" v="91" actId="47"/>
        <pc:sldMkLst>
          <pc:docMk/>
          <pc:sldMk cId="3621207063" sldId="829"/>
        </pc:sldMkLst>
      </pc:sldChg>
      <pc:sldChg chg="del">
        <pc:chgData name="Jeremy" userId="09ac0925-c8bb-438c-a205-6311faa2bcaf" providerId="ADAL" clId="{94D3B570-AD91-4B99-B8F2-FFE4CD084F16}" dt="2020-05-15T16:26:16.734" v="0" actId="47"/>
        <pc:sldMkLst>
          <pc:docMk/>
          <pc:sldMk cId="3608855246" sldId="839"/>
        </pc:sldMkLst>
      </pc:sldChg>
      <pc:sldChg chg="del">
        <pc:chgData name="Jeremy" userId="09ac0925-c8bb-438c-a205-6311faa2bcaf" providerId="ADAL" clId="{94D3B570-AD91-4B99-B8F2-FFE4CD084F16}" dt="2020-05-15T16:26:16.734" v="0" actId="47"/>
        <pc:sldMkLst>
          <pc:docMk/>
          <pc:sldMk cId="1647340765" sldId="840"/>
        </pc:sldMkLst>
      </pc:sldChg>
      <pc:sldChg chg="del">
        <pc:chgData name="Jeremy" userId="09ac0925-c8bb-438c-a205-6311faa2bcaf" providerId="ADAL" clId="{94D3B570-AD91-4B99-B8F2-FFE4CD084F16}" dt="2020-05-15T16:26:16.734" v="0" actId="47"/>
        <pc:sldMkLst>
          <pc:docMk/>
          <pc:sldMk cId="64800966" sldId="841"/>
        </pc:sldMkLst>
      </pc:sldChg>
      <pc:sldChg chg="del">
        <pc:chgData name="Jeremy" userId="09ac0925-c8bb-438c-a205-6311faa2bcaf" providerId="ADAL" clId="{94D3B570-AD91-4B99-B8F2-FFE4CD084F16}" dt="2020-05-15T16:26:16.734" v="0" actId="47"/>
        <pc:sldMkLst>
          <pc:docMk/>
          <pc:sldMk cId="84631102" sldId="842"/>
        </pc:sldMkLst>
      </pc:sldChg>
      <pc:sldChg chg="del">
        <pc:chgData name="Jeremy" userId="09ac0925-c8bb-438c-a205-6311faa2bcaf" providerId="ADAL" clId="{94D3B570-AD91-4B99-B8F2-FFE4CD084F16}" dt="2020-05-15T16:26:16.734" v="0" actId="47"/>
        <pc:sldMkLst>
          <pc:docMk/>
          <pc:sldMk cId="3605326078" sldId="843"/>
        </pc:sldMkLst>
      </pc:sldChg>
      <pc:sldChg chg="modSp mod">
        <pc:chgData name="Jeremy" userId="09ac0925-c8bb-438c-a205-6311faa2bcaf" providerId="ADAL" clId="{94D3B570-AD91-4B99-B8F2-FFE4CD084F16}" dt="2020-05-15T16:30:17.300" v="14" actId="6549"/>
        <pc:sldMkLst>
          <pc:docMk/>
          <pc:sldMk cId="1499916809" sldId="844"/>
        </pc:sldMkLst>
        <pc:spChg chg="mod">
          <ac:chgData name="Jeremy" userId="09ac0925-c8bb-438c-a205-6311faa2bcaf" providerId="ADAL" clId="{94D3B570-AD91-4B99-B8F2-FFE4CD084F16}" dt="2020-05-15T16:30:17.300" v="14" actId="6549"/>
          <ac:spMkLst>
            <pc:docMk/>
            <pc:sldMk cId="1499916809" sldId="844"/>
            <ac:spMk id="3" creationId="{81D7E9D6-2544-4CF5-AC3D-3F3EA73997C3}"/>
          </ac:spMkLst>
        </pc:spChg>
      </pc:sldChg>
      <pc:sldChg chg="add del">
        <pc:chgData name="Jeremy" userId="09ac0925-c8bb-438c-a205-6311faa2bcaf" providerId="ADAL" clId="{94D3B570-AD91-4B99-B8F2-FFE4CD084F16}" dt="2020-05-15T16:34:03.726" v="37" actId="47"/>
        <pc:sldMkLst>
          <pc:docMk/>
          <pc:sldMk cId="0" sldId="845"/>
        </pc:sldMkLst>
      </pc:sldChg>
      <pc:sldChg chg="add del">
        <pc:chgData name="Jeremy" userId="09ac0925-c8bb-438c-a205-6311faa2bcaf" providerId="ADAL" clId="{94D3B570-AD91-4B99-B8F2-FFE4CD084F16}" dt="2020-05-15T16:35:23.715" v="42" actId="47"/>
        <pc:sldMkLst>
          <pc:docMk/>
          <pc:sldMk cId="1944301871" sldId="849"/>
        </pc:sldMkLst>
      </pc:sldChg>
      <pc:sldChg chg="add">
        <pc:chgData name="Jeremy" userId="09ac0925-c8bb-438c-a205-6311faa2bcaf" providerId="ADAL" clId="{94D3B570-AD91-4B99-B8F2-FFE4CD084F16}" dt="2020-05-15T16:33:58.574" v="36"/>
        <pc:sldMkLst>
          <pc:docMk/>
          <pc:sldMk cId="2543544104" sldId="850"/>
        </pc:sldMkLst>
      </pc:sldChg>
      <pc:sldChg chg="add">
        <pc:chgData name="Jeremy" userId="09ac0925-c8bb-438c-a205-6311faa2bcaf" providerId="ADAL" clId="{94D3B570-AD91-4B99-B8F2-FFE4CD084F16}" dt="2020-05-15T16:33:58.574" v="36"/>
        <pc:sldMkLst>
          <pc:docMk/>
          <pc:sldMk cId="3737259632" sldId="851"/>
        </pc:sldMkLst>
      </pc:sldChg>
      <pc:sldChg chg="add">
        <pc:chgData name="Jeremy" userId="09ac0925-c8bb-438c-a205-6311faa2bcaf" providerId="ADAL" clId="{94D3B570-AD91-4B99-B8F2-FFE4CD084F16}" dt="2020-05-15T16:33:58.574" v="36"/>
        <pc:sldMkLst>
          <pc:docMk/>
          <pc:sldMk cId="2324556362" sldId="852"/>
        </pc:sldMkLst>
      </pc:sldChg>
      <pc:sldChg chg="add">
        <pc:chgData name="Jeremy" userId="09ac0925-c8bb-438c-a205-6311faa2bcaf" providerId="ADAL" clId="{94D3B570-AD91-4B99-B8F2-FFE4CD084F16}" dt="2020-05-15T16:33:58.574" v="36"/>
        <pc:sldMkLst>
          <pc:docMk/>
          <pc:sldMk cId="416260008" sldId="853"/>
        </pc:sldMkLst>
      </pc:sldChg>
      <pc:sldChg chg="add">
        <pc:chgData name="Jeremy" userId="09ac0925-c8bb-438c-a205-6311faa2bcaf" providerId="ADAL" clId="{94D3B570-AD91-4B99-B8F2-FFE4CD084F16}" dt="2020-05-15T16:33:58.574" v="36"/>
        <pc:sldMkLst>
          <pc:docMk/>
          <pc:sldMk cId="833191035" sldId="854"/>
        </pc:sldMkLst>
      </pc:sldChg>
      <pc:sldChg chg="modSp add mod">
        <pc:chgData name="Jeremy" userId="09ac0925-c8bb-438c-a205-6311faa2bcaf" providerId="ADAL" clId="{94D3B570-AD91-4B99-B8F2-FFE4CD084F16}" dt="2020-05-15T16:37:26.927" v="70" actId="20577"/>
        <pc:sldMkLst>
          <pc:docMk/>
          <pc:sldMk cId="3079333540" sldId="855"/>
        </pc:sldMkLst>
        <pc:spChg chg="mod">
          <ac:chgData name="Jeremy" userId="09ac0925-c8bb-438c-a205-6311faa2bcaf" providerId="ADAL" clId="{94D3B570-AD91-4B99-B8F2-FFE4CD084F16}" dt="2020-05-15T16:37:26.927" v="70" actId="20577"/>
          <ac:spMkLst>
            <pc:docMk/>
            <pc:sldMk cId="3079333540" sldId="855"/>
            <ac:spMk id="3" creationId="{00000000-0000-0000-0000-000000000000}"/>
          </ac:spMkLst>
        </pc:spChg>
      </pc:sldChg>
      <pc:sldChg chg="modSp add del mod">
        <pc:chgData name="Jeremy" userId="09ac0925-c8bb-438c-a205-6311faa2bcaf" providerId="ADAL" clId="{94D3B570-AD91-4B99-B8F2-FFE4CD084F16}" dt="2020-05-15T16:39:05.046" v="80" actId="2696"/>
        <pc:sldMkLst>
          <pc:docMk/>
          <pc:sldMk cId="1876992373" sldId="856"/>
        </pc:sldMkLst>
        <pc:spChg chg="mod">
          <ac:chgData name="Jeremy" userId="09ac0925-c8bb-438c-a205-6311faa2bcaf" providerId="ADAL" clId="{94D3B570-AD91-4B99-B8F2-FFE4CD084F16}" dt="2020-05-15T16:37:37.569" v="76" actId="6549"/>
          <ac:spMkLst>
            <pc:docMk/>
            <pc:sldMk cId="1876992373" sldId="856"/>
            <ac:spMk id="19459" creationId="{00000000-0000-0000-0000-000000000000}"/>
          </ac:spMkLst>
        </pc:spChg>
      </pc:sldChg>
      <pc:sldChg chg="modSp add del mod">
        <pc:chgData name="Jeremy" userId="09ac0925-c8bb-438c-a205-6311faa2bcaf" providerId="ADAL" clId="{94D3B570-AD91-4B99-B8F2-FFE4CD084F16}" dt="2020-05-15T16:42:34.723" v="98" actId="47"/>
        <pc:sldMkLst>
          <pc:docMk/>
          <pc:sldMk cId="3485486991" sldId="857"/>
        </pc:sldMkLst>
        <pc:spChg chg="mod">
          <ac:chgData name="Jeremy" userId="09ac0925-c8bb-438c-a205-6311faa2bcaf" providerId="ADAL" clId="{94D3B570-AD91-4B99-B8F2-FFE4CD084F16}" dt="2020-05-15T16:42:21.598" v="97" actId="20577"/>
          <ac:spMkLst>
            <pc:docMk/>
            <pc:sldMk cId="3485486991" sldId="857"/>
            <ac:spMk id="20483" creationId="{00000000-0000-0000-0000-000000000000}"/>
          </ac:spMkLst>
        </pc:spChg>
      </pc:sldChg>
      <pc:sldChg chg="add">
        <pc:chgData name="Jeremy" userId="09ac0925-c8bb-438c-a205-6311faa2bcaf" providerId="ADAL" clId="{94D3B570-AD91-4B99-B8F2-FFE4CD084F16}" dt="2020-05-15T16:33:58.574" v="36"/>
        <pc:sldMkLst>
          <pc:docMk/>
          <pc:sldMk cId="1017923442" sldId="858"/>
        </pc:sldMkLst>
      </pc:sldChg>
      <pc:sldChg chg="add">
        <pc:chgData name="Jeremy" userId="09ac0925-c8bb-438c-a205-6311faa2bcaf" providerId="ADAL" clId="{94D3B570-AD91-4B99-B8F2-FFE4CD084F16}" dt="2020-05-15T16:33:58.574" v="36"/>
        <pc:sldMkLst>
          <pc:docMk/>
          <pc:sldMk cId="2034413039" sldId="859"/>
        </pc:sldMkLst>
      </pc:sldChg>
      <pc:sldChg chg="add">
        <pc:chgData name="Jeremy" userId="09ac0925-c8bb-438c-a205-6311faa2bcaf" providerId="ADAL" clId="{94D3B570-AD91-4B99-B8F2-FFE4CD084F16}" dt="2020-05-15T16:33:58.574" v="36"/>
        <pc:sldMkLst>
          <pc:docMk/>
          <pc:sldMk cId="1591662906" sldId="860"/>
        </pc:sldMkLst>
      </pc:sldChg>
      <pc:sldChg chg="modSp add mod">
        <pc:chgData name="Jeremy" userId="09ac0925-c8bb-438c-a205-6311faa2bcaf" providerId="ADAL" clId="{94D3B570-AD91-4B99-B8F2-FFE4CD084F16}" dt="2020-05-15T16:35:44.248" v="48" actId="1076"/>
        <pc:sldMkLst>
          <pc:docMk/>
          <pc:sldMk cId="604315270" sldId="861"/>
        </pc:sldMkLst>
        <pc:spChg chg="mod">
          <ac:chgData name="Jeremy" userId="09ac0925-c8bb-438c-a205-6311faa2bcaf" providerId="ADAL" clId="{94D3B570-AD91-4B99-B8F2-FFE4CD084F16}" dt="2020-05-15T16:35:44.248" v="48" actId="1076"/>
          <ac:spMkLst>
            <pc:docMk/>
            <pc:sldMk cId="604315270" sldId="861"/>
            <ac:spMk id="2" creationId="{9C749B27-D106-407C-9307-75D0DF71D60E}"/>
          </ac:spMkLst>
        </pc:spChg>
      </pc:sldChg>
      <pc:sldChg chg="add">
        <pc:chgData name="Jeremy" userId="09ac0925-c8bb-438c-a205-6311faa2bcaf" providerId="ADAL" clId="{94D3B570-AD91-4B99-B8F2-FFE4CD084F16}" dt="2020-05-15T16:33:58.574" v="36"/>
        <pc:sldMkLst>
          <pc:docMk/>
          <pc:sldMk cId="701923312" sldId="862"/>
        </pc:sldMkLst>
      </pc:sldChg>
      <pc:sldChg chg="add">
        <pc:chgData name="Jeremy" userId="09ac0925-c8bb-438c-a205-6311faa2bcaf" providerId="ADAL" clId="{94D3B570-AD91-4B99-B8F2-FFE4CD084F16}" dt="2020-05-15T16:33:58.574" v="36"/>
        <pc:sldMkLst>
          <pc:docMk/>
          <pc:sldMk cId="1123173672" sldId="863"/>
        </pc:sldMkLst>
      </pc:sldChg>
      <pc:sldChg chg="add">
        <pc:chgData name="Jeremy" userId="09ac0925-c8bb-438c-a205-6311faa2bcaf" providerId="ADAL" clId="{94D3B570-AD91-4B99-B8F2-FFE4CD084F16}" dt="2020-05-15T16:33:58.574" v="36"/>
        <pc:sldMkLst>
          <pc:docMk/>
          <pc:sldMk cId="4038262703" sldId="864"/>
        </pc:sldMkLst>
      </pc:sldChg>
      <pc:sldChg chg="add">
        <pc:chgData name="Jeremy" userId="09ac0925-c8bb-438c-a205-6311faa2bcaf" providerId="ADAL" clId="{94D3B570-AD91-4B99-B8F2-FFE4CD084F16}" dt="2020-05-15T16:33:58.574" v="36"/>
        <pc:sldMkLst>
          <pc:docMk/>
          <pc:sldMk cId="2499392667" sldId="865"/>
        </pc:sldMkLst>
      </pc:sldChg>
      <pc:sldChg chg="add">
        <pc:chgData name="Jeremy" userId="09ac0925-c8bb-438c-a205-6311faa2bcaf" providerId="ADAL" clId="{94D3B570-AD91-4B99-B8F2-FFE4CD084F16}" dt="2020-05-15T16:33:58.574" v="36"/>
        <pc:sldMkLst>
          <pc:docMk/>
          <pc:sldMk cId="1578598472" sldId="866"/>
        </pc:sldMkLst>
      </pc:sldChg>
      <pc:sldChg chg="add">
        <pc:chgData name="Jeremy" userId="09ac0925-c8bb-438c-a205-6311faa2bcaf" providerId="ADAL" clId="{94D3B570-AD91-4B99-B8F2-FFE4CD084F16}" dt="2020-05-15T16:33:58.574" v="36"/>
        <pc:sldMkLst>
          <pc:docMk/>
          <pc:sldMk cId="551911283" sldId="867"/>
        </pc:sldMkLst>
      </pc:sldChg>
      <pc:sldChg chg="add del">
        <pc:chgData name="Jeremy" userId="09ac0925-c8bb-438c-a205-6311faa2bcaf" providerId="ADAL" clId="{94D3B570-AD91-4B99-B8F2-FFE4CD084F16}" dt="2020-05-15T16:39:32.343" v="82" actId="47"/>
        <pc:sldMkLst>
          <pc:docMk/>
          <pc:sldMk cId="1794337809" sldId="868"/>
        </pc:sldMkLst>
      </pc:sldChg>
      <pc:sldChg chg="add">
        <pc:chgData name="Jeremy" userId="09ac0925-c8bb-438c-a205-6311faa2bcaf" providerId="ADAL" clId="{94D3B570-AD91-4B99-B8F2-FFE4CD084F16}" dt="2020-05-15T16:33:58.574" v="36"/>
        <pc:sldMkLst>
          <pc:docMk/>
          <pc:sldMk cId="116896425" sldId="869"/>
        </pc:sldMkLst>
      </pc:sldChg>
      <pc:sldChg chg="add">
        <pc:chgData name="Jeremy" userId="09ac0925-c8bb-438c-a205-6311faa2bcaf" providerId="ADAL" clId="{94D3B570-AD91-4B99-B8F2-FFE4CD084F16}" dt="2020-05-15T16:33:58.574" v="36"/>
        <pc:sldMkLst>
          <pc:docMk/>
          <pc:sldMk cId="2651291535" sldId="870"/>
        </pc:sldMkLst>
      </pc:sldChg>
      <pc:sldChg chg="add">
        <pc:chgData name="Jeremy" userId="09ac0925-c8bb-438c-a205-6311faa2bcaf" providerId="ADAL" clId="{94D3B570-AD91-4B99-B8F2-FFE4CD084F16}" dt="2020-05-15T16:33:58.574" v="36"/>
        <pc:sldMkLst>
          <pc:docMk/>
          <pc:sldMk cId="1496341237" sldId="871"/>
        </pc:sldMkLst>
      </pc:sldChg>
      <pc:sldChg chg="add">
        <pc:chgData name="Jeremy" userId="09ac0925-c8bb-438c-a205-6311faa2bcaf" providerId="ADAL" clId="{94D3B570-AD91-4B99-B8F2-FFE4CD084F16}" dt="2020-05-15T16:33:58.574" v="36"/>
        <pc:sldMkLst>
          <pc:docMk/>
          <pc:sldMk cId="3155275732" sldId="872"/>
        </pc:sldMkLst>
      </pc:sldChg>
      <pc:sldChg chg="add del">
        <pc:chgData name="Jeremy" userId="09ac0925-c8bb-438c-a205-6311faa2bcaf" providerId="ADAL" clId="{94D3B570-AD91-4B99-B8F2-FFE4CD084F16}" dt="2020-05-15T16:41:20.398" v="93" actId="47"/>
        <pc:sldMkLst>
          <pc:docMk/>
          <pc:sldMk cId="3950826953" sldId="873"/>
        </pc:sldMkLst>
      </pc:sldChg>
      <pc:sldChg chg="add">
        <pc:chgData name="Jeremy" userId="09ac0925-c8bb-438c-a205-6311faa2bcaf" providerId="ADAL" clId="{94D3B570-AD91-4B99-B8F2-FFE4CD084F16}" dt="2020-05-15T16:33:58.574" v="36"/>
        <pc:sldMkLst>
          <pc:docMk/>
          <pc:sldMk cId="245758960" sldId="874"/>
        </pc:sldMkLst>
      </pc:sldChg>
      <pc:sldChg chg="add ord">
        <pc:chgData name="Jeremy" userId="09ac0925-c8bb-438c-a205-6311faa2bcaf" providerId="ADAL" clId="{94D3B570-AD91-4B99-B8F2-FFE4CD084F16}" dt="2020-05-15T16:38:56.592" v="79"/>
        <pc:sldMkLst>
          <pc:docMk/>
          <pc:sldMk cId="2173200016" sldId="875"/>
        </pc:sldMkLst>
      </pc:sldChg>
      <pc:sldChg chg="add del">
        <pc:chgData name="Jeremy" userId="09ac0925-c8bb-438c-a205-6311faa2bcaf" providerId="ADAL" clId="{94D3B570-AD91-4B99-B8F2-FFE4CD084F16}" dt="2020-05-18T22:14:40.139" v="106" actId="47"/>
        <pc:sldMkLst>
          <pc:docMk/>
          <pc:sldMk cId="0" sldId="876"/>
        </pc:sldMkLst>
      </pc:sldChg>
      <pc:sldChg chg="add del">
        <pc:chgData name="Jeremy" userId="09ac0925-c8bb-438c-a205-6311faa2bcaf" providerId="ADAL" clId="{94D3B570-AD91-4B99-B8F2-FFE4CD084F16}" dt="2020-05-18T22:01:13.819" v="100" actId="47"/>
        <pc:sldMkLst>
          <pc:docMk/>
          <pc:sldMk cId="2741223696" sldId="876"/>
        </pc:sldMkLst>
      </pc:sldChg>
      <pc:sldChg chg="add">
        <pc:chgData name="Jeremy" userId="09ac0925-c8bb-438c-a205-6311faa2bcaf" providerId="ADAL" clId="{94D3B570-AD91-4B99-B8F2-FFE4CD084F16}" dt="2020-05-18T22:17:12.877" v="108"/>
        <pc:sldMkLst>
          <pc:docMk/>
          <pc:sldMk cId="3348752414" sldId="876"/>
        </pc:sldMkLst>
      </pc:sldChg>
      <pc:sldChg chg="add">
        <pc:chgData name="Jeremy" userId="09ac0925-c8bb-438c-a205-6311faa2bcaf" providerId="ADAL" clId="{94D3B570-AD91-4B99-B8F2-FFE4CD084F16}" dt="2020-05-18T22:17:12.877" v="108"/>
        <pc:sldMkLst>
          <pc:docMk/>
          <pc:sldMk cId="1427039125" sldId="877"/>
        </pc:sldMkLst>
      </pc:sldChg>
      <pc:sldChg chg="add">
        <pc:chgData name="Jeremy" userId="09ac0925-c8bb-438c-a205-6311faa2bcaf" providerId="ADAL" clId="{94D3B570-AD91-4B99-B8F2-FFE4CD084F16}" dt="2020-05-18T22:17:12.877" v="108"/>
        <pc:sldMkLst>
          <pc:docMk/>
          <pc:sldMk cId="1834959780" sldId="878"/>
        </pc:sldMkLst>
      </pc:sldChg>
      <pc:sldChg chg="add">
        <pc:chgData name="Jeremy" userId="09ac0925-c8bb-438c-a205-6311faa2bcaf" providerId="ADAL" clId="{94D3B570-AD91-4B99-B8F2-FFE4CD084F16}" dt="2020-05-18T22:17:12.877" v="108"/>
        <pc:sldMkLst>
          <pc:docMk/>
          <pc:sldMk cId="3168263008" sldId="879"/>
        </pc:sldMkLst>
      </pc:sldChg>
    </pc:docChg>
  </pc:docChgLst>
</pc:chgInfo>
</file>

<file path=ppt/drawings/_rels/vmlDrawing1.vml.rels><?xml version="1.0" encoding="UTF-8" standalone="yes"?>
<Relationships xmlns="http://schemas.openxmlformats.org/package/2006/relationships"><Relationship Id="rId1" Type="http://schemas.openxmlformats.org/officeDocument/2006/relationships/image" Target="../media/image22.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9634" name="Rectangle 2"/>
          <p:cNvSpPr>
            <a:spLocks noGrp="1" noChangeArrowheads="1"/>
          </p:cNvSpPr>
          <p:nvPr>
            <p:ph type="hdr" sz="quarter"/>
          </p:nvPr>
        </p:nvSpPr>
        <p:spPr bwMode="auto">
          <a:xfrm>
            <a:off x="0" y="0"/>
            <a:ext cx="2945659" cy="49641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69635" name="Rectangle 3"/>
          <p:cNvSpPr>
            <a:spLocks noGrp="1" noChangeArrowheads="1"/>
          </p:cNvSpPr>
          <p:nvPr>
            <p:ph type="dt" sz="quarter" idx="1"/>
          </p:nvPr>
        </p:nvSpPr>
        <p:spPr bwMode="auto">
          <a:xfrm>
            <a:off x="3850443" y="0"/>
            <a:ext cx="2945659" cy="49641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fld id="{5FCF019E-1375-4D69-90D7-05D62CCBD7E5}" type="datetimeFigureOut">
              <a:rPr lang="en-US"/>
              <a:pPr>
                <a:defRPr/>
              </a:pPr>
              <a:t>5/18/2020</a:t>
            </a:fld>
            <a:endParaRPr lang="en-US"/>
          </a:p>
        </p:txBody>
      </p:sp>
      <p:sp>
        <p:nvSpPr>
          <p:cNvPr id="69636" name="Rectangle 4"/>
          <p:cNvSpPr>
            <a:spLocks noGrp="1" noChangeArrowheads="1"/>
          </p:cNvSpPr>
          <p:nvPr>
            <p:ph type="ftr" sz="quarter" idx="2"/>
          </p:nvPr>
        </p:nvSpPr>
        <p:spPr bwMode="auto">
          <a:xfrm>
            <a:off x="0" y="9430091"/>
            <a:ext cx="2945659" cy="496411"/>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69637" name="Rectangle 5"/>
          <p:cNvSpPr>
            <a:spLocks noGrp="1" noChangeArrowheads="1"/>
          </p:cNvSpPr>
          <p:nvPr>
            <p:ph type="sldNum" sz="quarter" idx="3"/>
          </p:nvPr>
        </p:nvSpPr>
        <p:spPr bwMode="auto">
          <a:xfrm>
            <a:off x="3850443" y="9430091"/>
            <a:ext cx="2945659" cy="496411"/>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D0E66841-25FA-4912-8AB9-E1C40B086689}" type="slidenum">
              <a:rPr lang="en-US"/>
              <a:pPr>
                <a:defRPr/>
              </a:pPr>
              <a:t>‹#›</a:t>
            </a:fld>
            <a:endParaRPr lang="en-US"/>
          </a:p>
        </p:txBody>
      </p:sp>
    </p:spTree>
    <p:extLst>
      <p:ext uri="{BB962C8B-B14F-4D97-AF65-F5344CB8AC3E}">
        <p14:creationId xmlns:p14="http://schemas.microsoft.com/office/powerpoint/2010/main" val="19070822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45659" cy="49641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GB"/>
          </a:p>
        </p:txBody>
      </p:sp>
      <p:sp>
        <p:nvSpPr>
          <p:cNvPr id="5123" name="Rectangle 3"/>
          <p:cNvSpPr>
            <a:spLocks noGrp="1" noChangeArrowheads="1"/>
          </p:cNvSpPr>
          <p:nvPr>
            <p:ph type="dt" idx="1"/>
          </p:nvPr>
        </p:nvSpPr>
        <p:spPr bwMode="auto">
          <a:xfrm>
            <a:off x="3852016" y="0"/>
            <a:ext cx="2945659" cy="49641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GB"/>
          </a:p>
        </p:txBody>
      </p:sp>
      <p:sp>
        <p:nvSpPr>
          <p:cNvPr id="40964" name="Rectangle 4"/>
          <p:cNvSpPr>
            <a:spLocks noGrp="1" noRot="1" noChangeAspect="1" noChangeArrowheads="1" noTextEdit="1"/>
          </p:cNvSpPr>
          <p:nvPr>
            <p:ph type="sldImg" idx="2"/>
          </p:nvPr>
        </p:nvSpPr>
        <p:spPr bwMode="auto">
          <a:xfrm>
            <a:off x="917575" y="744538"/>
            <a:ext cx="4962525" cy="3722687"/>
          </a:xfrm>
          <a:prstGeom prst="rect">
            <a:avLst/>
          </a:prstGeom>
          <a:noFill/>
          <a:ln w="9525">
            <a:solidFill>
              <a:srgbClr val="000000"/>
            </a:solidFill>
            <a:miter lim="800000"/>
            <a:headEnd/>
            <a:tailEnd/>
          </a:ln>
        </p:spPr>
      </p:sp>
      <p:sp>
        <p:nvSpPr>
          <p:cNvPr id="5125" name="Rectangle 5"/>
          <p:cNvSpPr>
            <a:spLocks noGrp="1" noChangeArrowheads="1"/>
          </p:cNvSpPr>
          <p:nvPr>
            <p:ph type="body" sz="quarter" idx="3"/>
          </p:nvPr>
        </p:nvSpPr>
        <p:spPr bwMode="auto">
          <a:xfrm>
            <a:off x="906357" y="4715907"/>
            <a:ext cx="4984962" cy="446770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5126" name="Rectangle 6"/>
          <p:cNvSpPr>
            <a:spLocks noGrp="1" noChangeArrowheads="1"/>
          </p:cNvSpPr>
          <p:nvPr>
            <p:ph type="ftr" sz="quarter" idx="4"/>
          </p:nvPr>
        </p:nvSpPr>
        <p:spPr bwMode="auto">
          <a:xfrm>
            <a:off x="0" y="9431814"/>
            <a:ext cx="2945659" cy="496411"/>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GB"/>
          </a:p>
        </p:txBody>
      </p:sp>
      <p:sp>
        <p:nvSpPr>
          <p:cNvPr id="5127" name="Rectangle 7"/>
          <p:cNvSpPr>
            <a:spLocks noGrp="1" noChangeArrowheads="1"/>
          </p:cNvSpPr>
          <p:nvPr>
            <p:ph type="sldNum" sz="quarter" idx="5"/>
          </p:nvPr>
        </p:nvSpPr>
        <p:spPr bwMode="auto">
          <a:xfrm>
            <a:off x="3852016" y="9431814"/>
            <a:ext cx="2945659" cy="496411"/>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3FA0F4D4-A3A6-48C1-B1F1-4280E9CA502D}" type="slidenum">
              <a:rPr lang="en-GB"/>
              <a:pPr>
                <a:defRPr/>
              </a:pPr>
              <a:t>‹#›</a:t>
            </a:fld>
            <a:endParaRPr lang="en-GB"/>
          </a:p>
        </p:txBody>
      </p:sp>
    </p:spTree>
    <p:extLst>
      <p:ext uri="{BB962C8B-B14F-4D97-AF65-F5344CB8AC3E}">
        <p14:creationId xmlns:p14="http://schemas.microsoft.com/office/powerpoint/2010/main" val="391181748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Lucida Sans Unicode"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Lucida Sans Unicode"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Lucida Sans Unicode"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Lucida Sans Unicode"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Lucida Sans Unicode"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p:spPr>
        <p:txBody>
          <a:bodyPr/>
          <a:lstStyle/>
          <a:p>
            <a:fld id="{A532FAAA-12F3-4BC2-A6AB-5F2151B69C26}" type="slidenum">
              <a:rPr lang="en-GB" smtClean="0"/>
              <a:pPr/>
              <a:t>1</a:t>
            </a:fld>
            <a:endParaRPr lang="en-GB"/>
          </a:p>
        </p:txBody>
      </p:sp>
      <p:sp>
        <p:nvSpPr>
          <p:cNvPr id="41987" name="Rectangle 2"/>
          <p:cNvSpPr>
            <a:spLocks noGrp="1" noRot="1" noChangeAspect="1" noChangeArrowheads="1" noTextEdit="1"/>
          </p:cNvSpPr>
          <p:nvPr>
            <p:ph type="sldImg"/>
          </p:nvPr>
        </p:nvSpPr>
        <p:spPr>
          <a:ln/>
        </p:spPr>
      </p:sp>
      <p:sp>
        <p:nvSpPr>
          <p:cNvPr id="4198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4627868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p:spPr>
        <p:txBody>
          <a:bodyPr/>
          <a:lstStyle/>
          <a:p>
            <a:fld id="{4DB0DBDE-FC74-4EEE-A78A-D17F8599AEBD}" type="slidenum">
              <a:rPr lang="en-GB" smtClean="0"/>
              <a:pPr/>
              <a:t>4</a:t>
            </a:fld>
            <a:endParaRPr lang="en-GB"/>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22831485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p:spPr>
        <p:txBody>
          <a:bodyPr/>
          <a:lstStyle/>
          <a:p>
            <a:fld id="{106B23C4-A6DD-421E-85D9-96D34AC2A454}" type="slidenum">
              <a:rPr lang="en-GB" smtClean="0"/>
              <a:pPr/>
              <a:t>15</a:t>
            </a:fld>
            <a:endParaRPr lang="en-GB"/>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41991289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p:spPr>
        <p:txBody>
          <a:bodyPr/>
          <a:lstStyle/>
          <a:p>
            <a:fld id="{9590B2BC-7EFC-4CAF-B0C7-B7C952B197EC}" type="slidenum">
              <a:rPr lang="en-GB" smtClean="0"/>
              <a:pPr/>
              <a:t>16</a:t>
            </a:fld>
            <a:endParaRPr lang="en-GB"/>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13269509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p:spPr>
        <p:txBody>
          <a:bodyPr/>
          <a:lstStyle/>
          <a:p>
            <a:fld id="{8CB2EEE8-8BD7-4AFC-A266-119B46C76177}" type="slidenum">
              <a:rPr lang="en-GB" smtClean="0"/>
              <a:pPr/>
              <a:t>17</a:t>
            </a:fld>
            <a:endParaRPr lang="en-GB"/>
          </a:p>
        </p:txBody>
      </p:sp>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38193651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p:spPr>
        <p:txBody>
          <a:bodyPr/>
          <a:lstStyle/>
          <a:p>
            <a:fld id="{8D2A5628-E94A-4504-AE73-AEA95151C117}" type="slidenum">
              <a:rPr lang="en-GB" smtClean="0"/>
              <a:pPr/>
              <a:t>18</a:t>
            </a:fld>
            <a:endParaRPr lang="en-GB"/>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15884239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p:spPr>
        <p:txBody>
          <a:bodyPr/>
          <a:lstStyle/>
          <a:p>
            <a:fld id="{5C4C237B-3DC5-451A-8751-56BE81F2401D}" type="slidenum">
              <a:rPr lang="en-GB" smtClean="0"/>
              <a:pPr/>
              <a:t>19</a:t>
            </a:fld>
            <a:endParaRPr lang="en-GB"/>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23542581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p:spPr>
        <p:txBody>
          <a:bodyPr/>
          <a:lstStyle/>
          <a:p>
            <a:fld id="{9590B2BC-7EFC-4CAF-B0C7-B7C952B197EC}" type="slidenum">
              <a:rPr lang="en-GB" smtClean="0"/>
              <a:pPr/>
              <a:t>33</a:t>
            </a:fld>
            <a:endParaRPr lang="en-GB"/>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25395762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p:spPr>
        <p:txBody>
          <a:bodyPr/>
          <a:lstStyle/>
          <a:p>
            <a:fld id="{106B23C4-A6DD-421E-85D9-96D34AC2A454}" type="slidenum">
              <a:rPr lang="en-GB" smtClean="0"/>
              <a:pPr/>
              <a:t>43</a:t>
            </a:fld>
            <a:endParaRPr lang="en-GB"/>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36091788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p>
            <a:fld id="{76E2C1D1-B210-48E7-A962-1BD80133DA7D}" type="slidenum">
              <a:rPr lang="en-GB" smtClean="0"/>
              <a:pPr/>
              <a:t>49</a:t>
            </a:fld>
            <a:endParaRPr lang="en-GB"/>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30539873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4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554521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2758615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A940238B-0726-474E-B974-88CBDE8C0C5C}" type="slidenum">
              <a:rPr lang="en-US"/>
              <a:pPr>
                <a:defRPr/>
              </a:pPr>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D6F416D4-773B-48A2-8963-76985CBDF909}" type="slidenum">
              <a:rPr lang="en-US"/>
              <a:pPr>
                <a:defRPr/>
              </a:pPr>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DCFCD34A-EAD6-4A2B-83C8-A41A7A6369FA}" type="slidenum">
              <a:rPr lang="en-US"/>
              <a:pPr>
                <a:defRPr/>
              </a:pPr>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05F2F47E-1FAC-4F39-B0C2-6BDEE08DC123}" type="slidenum">
              <a:rPr lang="en-US"/>
              <a:pPr>
                <a:defRPr/>
              </a:pPr>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AAFF5F79-2FCA-49FD-9F46-111551135F83}" type="slidenum">
              <a:rPr lang="en-US"/>
              <a:pPr>
                <a:defRPr/>
              </a:pPr>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7755E2EB-362B-43CF-A641-DDD132543682}" type="slidenum">
              <a:rPr lang="en-US"/>
              <a:pPr>
                <a:defRPr/>
              </a:pPr>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956EFDB2-3113-4A37-B07C-D041BB6DF69A}" type="slidenum">
              <a:rPr lang="en-US"/>
              <a:pPr>
                <a:defRPr/>
              </a:pPr>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FCA4BBE9-EDC8-4FC6-8E4A-9557837D9BA7}" type="slidenum">
              <a:rPr lang="en-US"/>
              <a:pPr>
                <a:defRPr/>
              </a:pPr>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D877EF81-6B76-4DEC-98FB-1D4D8A5EABA8}" type="slidenum">
              <a:rPr lang="en-US"/>
              <a:pPr>
                <a:defRPr/>
              </a:pPr>
              <a:t>‹#›</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BCFB5DE6-76C7-4CED-BEDC-D3B153CD2797}" type="slidenum">
              <a:rPr lang="en-US"/>
              <a:pPr>
                <a:defRPr/>
              </a:pPr>
              <a:t>‹#›</a:t>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99464A3C-67AD-4626-8890-8B49EF23BCC4}"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7"/>
          <p:cNvSpPr>
            <a:spLocks noChangeArrowheads="1"/>
          </p:cNvSpPr>
          <p:nvPr/>
        </p:nvSpPr>
        <p:spPr bwMode="auto">
          <a:xfrm rot="10800000" flipH="1">
            <a:off x="0" y="0"/>
            <a:ext cx="9144000" cy="457200"/>
          </a:xfrm>
          <a:prstGeom prst="rect">
            <a:avLst/>
          </a:prstGeom>
          <a:gradFill rotWithShape="0">
            <a:gsLst>
              <a:gs pos="0">
                <a:srgbClr val="CCCCFF"/>
              </a:gs>
              <a:gs pos="100000">
                <a:srgbClr val="FFFFFF"/>
              </a:gs>
            </a:gsLst>
            <a:lin ang="5400000" scaled="1"/>
          </a:gradFill>
          <a:ln w="9525">
            <a:noFill/>
            <a:miter lim="800000"/>
            <a:headEnd/>
            <a:tailEnd/>
          </a:ln>
        </p:spPr>
        <p:txBody>
          <a:bodyPr wrap="none" anchor="ctr"/>
          <a:lstStyle/>
          <a:p>
            <a:pPr>
              <a:defRPr/>
            </a:pPr>
            <a:endParaRPr lang="en-US"/>
          </a:p>
        </p:txBody>
      </p:sp>
      <p:sp>
        <p:nvSpPr>
          <p:cNvPr id="1027" name="Rectangle 8"/>
          <p:cNvSpPr>
            <a:spLocks noChangeArrowheads="1"/>
          </p:cNvSpPr>
          <p:nvPr/>
        </p:nvSpPr>
        <p:spPr bwMode="auto">
          <a:xfrm>
            <a:off x="0" y="6400800"/>
            <a:ext cx="9144000" cy="457200"/>
          </a:xfrm>
          <a:prstGeom prst="rect">
            <a:avLst/>
          </a:prstGeom>
          <a:gradFill rotWithShape="0">
            <a:gsLst>
              <a:gs pos="0">
                <a:srgbClr val="FFFFFF"/>
              </a:gs>
              <a:gs pos="100000">
                <a:srgbClr val="CCCCFF"/>
              </a:gs>
            </a:gsLst>
            <a:lin ang="5400000" scaled="1"/>
          </a:gradFill>
          <a:ln w="9525">
            <a:noFill/>
            <a:miter lim="800000"/>
            <a:headEnd/>
            <a:tailEnd/>
          </a:ln>
        </p:spPr>
        <p:txBody>
          <a:bodyPr wrap="none" anchor="ctr"/>
          <a:lstStyle/>
          <a:p>
            <a:pPr>
              <a:defRPr/>
            </a:pPr>
            <a:endParaRPr lang="en-US"/>
          </a:p>
        </p:txBody>
      </p:sp>
      <p:sp>
        <p:nvSpPr>
          <p:cNvPr id="1028" name="Rectangle 9"/>
          <p:cNvSpPr>
            <a:spLocks noChangeArrowheads="1"/>
          </p:cNvSpPr>
          <p:nvPr/>
        </p:nvSpPr>
        <p:spPr bwMode="auto">
          <a:xfrm>
            <a:off x="2387600" y="6591300"/>
            <a:ext cx="4392613" cy="266700"/>
          </a:xfrm>
          <a:prstGeom prst="rect">
            <a:avLst/>
          </a:prstGeom>
          <a:noFill/>
          <a:ln w="9525">
            <a:noFill/>
            <a:miter lim="800000"/>
            <a:headEnd/>
            <a:tailEnd/>
          </a:ln>
        </p:spPr>
        <p:txBody>
          <a:bodyPr/>
          <a:lstStyle/>
          <a:p>
            <a:pPr algn="ctr">
              <a:defRPr/>
            </a:pPr>
            <a:r>
              <a:rPr lang="en-GB" sz="1200" dirty="0">
                <a:solidFill>
                  <a:srgbClr val="000066"/>
                </a:solidFill>
              </a:rPr>
              <a:t> Broadcast Technology UG1</a:t>
            </a:r>
          </a:p>
        </p:txBody>
      </p:sp>
      <p:sp>
        <p:nvSpPr>
          <p:cNvPr id="1029" name="Rectangle 10"/>
          <p:cNvSpPr>
            <a:spLocks noChangeArrowheads="1"/>
          </p:cNvSpPr>
          <p:nvPr/>
        </p:nvSpPr>
        <p:spPr bwMode="auto">
          <a:xfrm>
            <a:off x="0" y="6591300"/>
            <a:ext cx="2895600" cy="266700"/>
          </a:xfrm>
          <a:prstGeom prst="rect">
            <a:avLst/>
          </a:prstGeom>
          <a:noFill/>
          <a:ln w="9525">
            <a:noFill/>
            <a:miter lim="800000"/>
            <a:headEnd/>
            <a:tailEnd/>
          </a:ln>
        </p:spPr>
        <p:txBody>
          <a:bodyPr/>
          <a:lstStyle/>
          <a:p>
            <a:pPr>
              <a:defRPr/>
            </a:pPr>
            <a:r>
              <a:rPr lang="en-GB" sz="1200">
                <a:solidFill>
                  <a:srgbClr val="000066"/>
                </a:solidFill>
              </a:rPr>
              <a:t>jeremy.foss@bcu.ac.uk</a:t>
            </a:r>
          </a:p>
        </p:txBody>
      </p:sp>
      <p:sp>
        <p:nvSpPr>
          <p:cNvPr id="1030" name="Rectangle 11"/>
          <p:cNvSpPr>
            <a:spLocks noChangeArrowheads="1"/>
          </p:cNvSpPr>
          <p:nvPr/>
        </p:nvSpPr>
        <p:spPr bwMode="auto">
          <a:xfrm>
            <a:off x="5868988" y="6591300"/>
            <a:ext cx="2895600" cy="266700"/>
          </a:xfrm>
          <a:prstGeom prst="rect">
            <a:avLst/>
          </a:prstGeom>
          <a:noFill/>
          <a:ln w="9525">
            <a:noFill/>
            <a:miter lim="800000"/>
            <a:headEnd/>
            <a:tailEnd/>
          </a:ln>
        </p:spPr>
        <p:txBody>
          <a:bodyPr/>
          <a:lstStyle/>
          <a:p>
            <a:pPr algn="r">
              <a:defRPr/>
            </a:pPr>
            <a:endParaRPr lang="en-US" sz="1200">
              <a:solidFill>
                <a:srgbClr val="000066"/>
              </a:solidFill>
            </a:endParaRPr>
          </a:p>
        </p:txBody>
      </p:sp>
      <p:sp>
        <p:nvSpPr>
          <p:cNvPr id="1031" name="Rectangle 13"/>
          <p:cNvSpPr>
            <a:spLocks noChangeArrowheads="1"/>
          </p:cNvSpPr>
          <p:nvPr/>
        </p:nvSpPr>
        <p:spPr bwMode="auto">
          <a:xfrm>
            <a:off x="0" y="0"/>
            <a:ext cx="3492500" cy="304800"/>
          </a:xfrm>
          <a:prstGeom prst="rect">
            <a:avLst/>
          </a:prstGeom>
          <a:noFill/>
          <a:ln w="9525">
            <a:noFill/>
            <a:miter lim="800000"/>
            <a:headEnd/>
            <a:tailEnd/>
          </a:ln>
        </p:spPr>
        <p:txBody>
          <a:bodyPr/>
          <a:lstStyle/>
          <a:p>
            <a:pPr>
              <a:defRPr/>
            </a:pPr>
            <a:endParaRPr lang="en-GB" sz="1200" b="1">
              <a:solidFill>
                <a:srgbClr val="000066"/>
              </a:solidFill>
            </a:endParaRPr>
          </a:p>
          <a:p>
            <a:pPr>
              <a:defRPr/>
            </a:pPr>
            <a:endParaRPr lang="en-GB" sz="1200">
              <a:solidFill>
                <a:srgbClr val="000066"/>
              </a:solidFill>
            </a:endParaRPr>
          </a:p>
        </p:txBody>
      </p:sp>
      <p:sp>
        <p:nvSpPr>
          <p:cNvPr id="1032" name="Rectangle 15"/>
          <p:cNvSpPr>
            <a:spLocks noChangeArrowheads="1"/>
          </p:cNvSpPr>
          <p:nvPr userDrawn="1"/>
        </p:nvSpPr>
        <p:spPr bwMode="auto">
          <a:xfrm>
            <a:off x="6248400" y="6591300"/>
            <a:ext cx="2895600" cy="266700"/>
          </a:xfrm>
          <a:prstGeom prst="rect">
            <a:avLst/>
          </a:prstGeom>
          <a:noFill/>
          <a:ln w="9525">
            <a:noFill/>
            <a:miter lim="800000"/>
            <a:headEnd/>
            <a:tailEnd/>
          </a:ln>
        </p:spPr>
        <p:txBody>
          <a:bodyPr/>
          <a:lstStyle/>
          <a:p>
            <a:pPr algn="r">
              <a:defRPr/>
            </a:pPr>
            <a:r>
              <a:rPr lang="en-GB" sz="1200">
                <a:solidFill>
                  <a:srgbClr val="000066"/>
                </a:solidFill>
              </a:rPr>
              <a:t>Jerry Foss, CEng, MIET</a:t>
            </a:r>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73" r:id="rId12"/>
    <p:sldLayoutId id="2147483674" r:id="rId13"/>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Lucida Sans Unicode" pitchFamily="34" charset="0"/>
        </a:defRPr>
      </a:lvl2pPr>
      <a:lvl3pPr algn="ctr" rtl="0" eaLnBrk="0" fontAlgn="base" hangingPunct="0">
        <a:spcBef>
          <a:spcPct val="0"/>
        </a:spcBef>
        <a:spcAft>
          <a:spcPct val="0"/>
        </a:spcAft>
        <a:defRPr sz="4400">
          <a:solidFill>
            <a:schemeClr val="tx2"/>
          </a:solidFill>
          <a:latin typeface="Lucida Sans Unicode" pitchFamily="34" charset="0"/>
        </a:defRPr>
      </a:lvl3pPr>
      <a:lvl4pPr algn="ctr" rtl="0" eaLnBrk="0" fontAlgn="base" hangingPunct="0">
        <a:spcBef>
          <a:spcPct val="0"/>
        </a:spcBef>
        <a:spcAft>
          <a:spcPct val="0"/>
        </a:spcAft>
        <a:defRPr sz="4400">
          <a:solidFill>
            <a:schemeClr val="tx2"/>
          </a:solidFill>
          <a:latin typeface="Lucida Sans Unicode" pitchFamily="34" charset="0"/>
        </a:defRPr>
      </a:lvl4pPr>
      <a:lvl5pPr algn="ctr" rtl="0" eaLnBrk="0" fontAlgn="base" hangingPunct="0">
        <a:spcBef>
          <a:spcPct val="0"/>
        </a:spcBef>
        <a:spcAft>
          <a:spcPct val="0"/>
        </a:spcAft>
        <a:defRPr sz="4400">
          <a:solidFill>
            <a:schemeClr val="tx2"/>
          </a:solidFill>
          <a:latin typeface="Lucida Sans Unicode" pitchFamily="34" charset="0"/>
        </a:defRPr>
      </a:lvl5pPr>
      <a:lvl6pPr marL="457200" algn="ctr" rtl="0" eaLnBrk="0" fontAlgn="base" hangingPunct="0">
        <a:spcBef>
          <a:spcPct val="0"/>
        </a:spcBef>
        <a:spcAft>
          <a:spcPct val="0"/>
        </a:spcAft>
        <a:defRPr sz="4400">
          <a:solidFill>
            <a:schemeClr val="tx2"/>
          </a:solidFill>
          <a:latin typeface="Lucida Sans Unicode" pitchFamily="34" charset="0"/>
        </a:defRPr>
      </a:lvl6pPr>
      <a:lvl7pPr marL="914400" algn="ctr" rtl="0" eaLnBrk="0" fontAlgn="base" hangingPunct="0">
        <a:spcBef>
          <a:spcPct val="0"/>
        </a:spcBef>
        <a:spcAft>
          <a:spcPct val="0"/>
        </a:spcAft>
        <a:defRPr sz="4400">
          <a:solidFill>
            <a:schemeClr val="tx2"/>
          </a:solidFill>
          <a:latin typeface="Lucida Sans Unicode" pitchFamily="34" charset="0"/>
        </a:defRPr>
      </a:lvl7pPr>
      <a:lvl8pPr marL="1371600" algn="ctr" rtl="0" eaLnBrk="0" fontAlgn="base" hangingPunct="0">
        <a:spcBef>
          <a:spcPct val="0"/>
        </a:spcBef>
        <a:spcAft>
          <a:spcPct val="0"/>
        </a:spcAft>
        <a:defRPr sz="4400">
          <a:solidFill>
            <a:schemeClr val="tx2"/>
          </a:solidFill>
          <a:latin typeface="Lucida Sans Unicode" pitchFamily="34" charset="0"/>
        </a:defRPr>
      </a:lvl8pPr>
      <a:lvl9pPr marL="1828800" algn="ctr" rtl="0" eaLnBrk="0" fontAlgn="base" hangingPunct="0">
        <a:spcBef>
          <a:spcPct val="0"/>
        </a:spcBef>
        <a:spcAft>
          <a:spcPct val="0"/>
        </a:spcAft>
        <a:defRPr sz="4400">
          <a:solidFill>
            <a:schemeClr val="tx2"/>
          </a:solidFill>
          <a:latin typeface="Lucida Sans Unicode" pitchFamily="34"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5123"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2820"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endParaRPr lang="en-US"/>
          </a:p>
        </p:txBody>
      </p:sp>
      <p:sp>
        <p:nvSpPr>
          <p:cNvPr id="162821"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a:defRPr/>
            </a:pPr>
            <a:endParaRPr lang="en-US"/>
          </a:p>
        </p:txBody>
      </p:sp>
      <p:sp>
        <p:nvSpPr>
          <p:cNvPr id="162822"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fld id="{216144C6-4CBB-464E-8B86-D02262D719D1}"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4.gif"/></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7.xml"/><Relationship Id="rId4" Type="http://schemas.openxmlformats.org/officeDocument/2006/relationships/image" Target="../media/image13.jpeg"/></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hyperlink" Target="http://www.dvb.org/standards/factsheets" TargetMode="External"/><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22.png"/></Relationships>
</file>

<file path=ppt/slides/_rels/slide4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24.gif"/><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jpeg"/><Relationship Id="rId1" Type="http://schemas.openxmlformats.org/officeDocument/2006/relationships/slideLayout" Target="../slideLayouts/slideLayout7.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62.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image" Target="../media/image41.png"/><Relationship Id="rId1" Type="http://schemas.openxmlformats.org/officeDocument/2006/relationships/slideLayout" Target="../slideLayouts/slideLayout7.xml"/><Relationship Id="rId4" Type="http://schemas.openxmlformats.org/officeDocument/2006/relationships/image" Target="../media/image43.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hyperlink" Target="http://www.cs.ucl.ac.uk/teaching/GZ05/08-h261.pdf" TargetMode="External"/><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hyperlink" Target="http://www.streamingmedia.com/Articles/ReadArticle.aspx?ArticleID=79041" TargetMode="Externa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8"/>
          <p:cNvSpPr>
            <a:spLocks noChangeArrowheads="1"/>
          </p:cNvSpPr>
          <p:nvPr/>
        </p:nvSpPr>
        <p:spPr bwMode="auto">
          <a:xfrm>
            <a:off x="0" y="1809750"/>
            <a:ext cx="9144000" cy="3262313"/>
          </a:xfrm>
          <a:prstGeom prst="rect">
            <a:avLst/>
          </a:prstGeom>
          <a:gradFill rotWithShape="0">
            <a:gsLst>
              <a:gs pos="0">
                <a:schemeClr val="bg1"/>
              </a:gs>
              <a:gs pos="100000">
                <a:srgbClr val="FFCC99"/>
              </a:gs>
            </a:gsLst>
            <a:lin ang="0" scaled="1"/>
          </a:gradFill>
          <a:ln w="9525">
            <a:noFill/>
            <a:miter lim="800000"/>
            <a:headEnd/>
            <a:tailEnd/>
          </a:ln>
        </p:spPr>
        <p:txBody>
          <a:bodyPr wrap="none" anchor="ctr"/>
          <a:lstStyle/>
          <a:p>
            <a:pPr algn="ctr"/>
            <a:endParaRPr lang="en-US" sz="2400"/>
          </a:p>
        </p:txBody>
      </p:sp>
      <p:sp>
        <p:nvSpPr>
          <p:cNvPr id="6147" name="Text Box 9"/>
          <p:cNvSpPr txBox="1">
            <a:spLocks noChangeArrowheads="1"/>
          </p:cNvSpPr>
          <p:nvPr/>
        </p:nvSpPr>
        <p:spPr bwMode="auto">
          <a:xfrm>
            <a:off x="395288" y="2092854"/>
            <a:ext cx="8561388" cy="2554545"/>
          </a:xfrm>
          <a:prstGeom prst="rect">
            <a:avLst/>
          </a:prstGeom>
          <a:noFill/>
          <a:ln w="9525">
            <a:noFill/>
            <a:miter lim="800000"/>
            <a:headEnd/>
            <a:tailEnd/>
          </a:ln>
        </p:spPr>
        <p:txBody>
          <a:bodyPr>
            <a:spAutoFit/>
          </a:bodyPr>
          <a:lstStyle/>
          <a:p>
            <a:r>
              <a:rPr lang="en-GB" sz="2400" dirty="0"/>
              <a:t>Broadcast Technology UG1</a:t>
            </a:r>
          </a:p>
          <a:p>
            <a:endParaRPr lang="en-GB" sz="2800" b="1" dirty="0"/>
          </a:p>
          <a:p>
            <a:r>
              <a:rPr lang="en-GB" sz="3200" dirty="0"/>
              <a:t>9: </a:t>
            </a:r>
            <a:r>
              <a:rPr lang="it-IT" sz="3200" dirty="0"/>
              <a:t>DVB, Compression Intro, TS, PS</a:t>
            </a:r>
            <a:endParaRPr lang="en-GB" sz="3200" dirty="0"/>
          </a:p>
          <a:p>
            <a:endParaRPr lang="en-GB" sz="3200" dirty="0"/>
          </a:p>
          <a:p>
            <a:r>
              <a:rPr lang="en-GB" sz="2800" dirty="0"/>
              <a:t>Jerry Foss</a:t>
            </a:r>
          </a:p>
          <a:p>
            <a:r>
              <a:rPr lang="en-GB" dirty="0"/>
              <a:t>jeremy.foss@bcu.ac.uk</a:t>
            </a:r>
          </a:p>
        </p:txBody>
      </p:sp>
      <p:sp>
        <p:nvSpPr>
          <p:cNvPr id="2" name="Rectangle 1"/>
          <p:cNvSpPr/>
          <p:nvPr/>
        </p:nvSpPr>
        <p:spPr>
          <a:xfrm>
            <a:off x="395288" y="5252591"/>
            <a:ext cx="4572000" cy="1323439"/>
          </a:xfrm>
          <a:prstGeom prst="rect">
            <a:avLst/>
          </a:prstGeom>
        </p:spPr>
        <p:txBody>
          <a:bodyPr>
            <a:spAutoFit/>
          </a:bodyPr>
          <a:lstStyle/>
          <a:p>
            <a:r>
              <a:rPr lang="en-GB" dirty="0"/>
              <a:t>DVB, COMPRESSION INTRO, TS, PS: </a:t>
            </a:r>
          </a:p>
          <a:p>
            <a:r>
              <a:rPr lang="en-GB" dirty="0"/>
              <a:t>DVB</a:t>
            </a:r>
          </a:p>
          <a:p>
            <a:r>
              <a:rPr lang="en-GB"/>
              <a:t>MPEG compression (Intro)</a:t>
            </a:r>
            <a:endParaRPr lang="en-GB" dirty="0"/>
          </a:p>
          <a:p>
            <a:r>
              <a:rPr lang="en-GB" dirty="0"/>
              <a:t>PS</a:t>
            </a:r>
            <a:r>
              <a:rPr lang="en-GB"/>
              <a:t>,TS, Streaming</a:t>
            </a:r>
          </a:p>
          <a:p>
            <a:r>
              <a:rPr lang="en-GB"/>
              <a:t>IP Workflows</a:t>
            </a:r>
            <a:endParaRPr lang="en-GB"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8B4F31A-5C83-4CFD-AEF0-0667D5AF9AA7}"/>
              </a:ext>
            </a:extLst>
          </p:cNvPr>
          <p:cNvSpPr/>
          <p:nvPr/>
        </p:nvSpPr>
        <p:spPr>
          <a:xfrm>
            <a:off x="4825246" y="2299013"/>
            <a:ext cx="3173535" cy="3539430"/>
          </a:xfrm>
          <a:prstGeom prst="rect">
            <a:avLst/>
          </a:prstGeom>
        </p:spPr>
        <p:txBody>
          <a:bodyPr wrap="square">
            <a:spAutoFit/>
          </a:bodyPr>
          <a:lstStyle/>
          <a:p>
            <a:r>
              <a:rPr lang="en-GB" b="1"/>
              <a:t>MPEG Systems</a:t>
            </a:r>
          </a:p>
          <a:p>
            <a:pPr marL="285750" indent="-285750">
              <a:buFont typeface="Arial" panose="020B0604020202020204" pitchFamily="34" charset="0"/>
              <a:buChar char="•"/>
            </a:pPr>
            <a:r>
              <a:rPr lang="en-GB"/>
              <a:t>Multiplexes</a:t>
            </a:r>
          </a:p>
          <a:p>
            <a:pPr marL="285750" indent="-285750">
              <a:buFont typeface="Arial" panose="020B0604020202020204" pitchFamily="34" charset="0"/>
              <a:buChar char="•"/>
            </a:pPr>
            <a:r>
              <a:rPr lang="en-GB"/>
              <a:t>Program Streams</a:t>
            </a:r>
          </a:p>
          <a:p>
            <a:pPr marL="285750" indent="-285750">
              <a:buFont typeface="Arial" panose="020B0604020202020204" pitchFamily="34" charset="0"/>
              <a:buChar char="•"/>
            </a:pPr>
            <a:r>
              <a:rPr lang="en-GB"/>
              <a:t>Transport Streams</a:t>
            </a:r>
          </a:p>
          <a:p>
            <a:pPr marL="285750" indent="-285750">
              <a:buFont typeface="Arial" panose="020B0604020202020204" pitchFamily="34" charset="0"/>
              <a:buChar char="•"/>
            </a:pPr>
            <a:r>
              <a:rPr lang="en-GB"/>
              <a:t>Statistical Multiplexing</a:t>
            </a:r>
          </a:p>
          <a:p>
            <a:endParaRPr lang="en-GB"/>
          </a:p>
          <a:p>
            <a:r>
              <a:rPr lang="en-GB" b="1"/>
              <a:t>DVB</a:t>
            </a:r>
          </a:p>
          <a:p>
            <a:endParaRPr lang="en-GB"/>
          </a:p>
          <a:p>
            <a:r>
              <a:rPr lang="en-GB" b="1"/>
              <a:t>Streaming</a:t>
            </a:r>
          </a:p>
          <a:p>
            <a:pPr marL="285750" indent="-285750">
              <a:buFont typeface="Arial" panose="020B0604020202020204" pitchFamily="34" charset="0"/>
              <a:buChar char="•"/>
            </a:pPr>
            <a:r>
              <a:rPr lang="en-GB"/>
              <a:t>HTTP</a:t>
            </a:r>
          </a:p>
          <a:p>
            <a:pPr marL="285750" indent="-285750">
              <a:buFont typeface="Arial" panose="020B0604020202020204" pitchFamily="34" charset="0"/>
              <a:buChar char="•"/>
            </a:pPr>
            <a:r>
              <a:rPr lang="en-GB"/>
              <a:t>ABR, DASH</a:t>
            </a:r>
          </a:p>
          <a:p>
            <a:endParaRPr lang="en-GB"/>
          </a:p>
          <a:p>
            <a:r>
              <a:rPr lang="en-GB" b="1"/>
              <a:t>SDI and IP</a:t>
            </a:r>
          </a:p>
          <a:p>
            <a:r>
              <a:rPr lang="en-GB"/>
              <a:t>SMPTE 2022, 2110</a:t>
            </a:r>
          </a:p>
        </p:txBody>
      </p:sp>
      <p:sp>
        <p:nvSpPr>
          <p:cNvPr id="3" name="Rectangle 2">
            <a:extLst>
              <a:ext uri="{FF2B5EF4-FFF2-40B4-BE49-F238E27FC236}">
                <a16:creationId xmlns:a16="http://schemas.microsoft.com/office/drawing/2014/main" id="{81D7E9D6-2544-4CF5-AC3D-3F3EA73997C3}"/>
              </a:ext>
            </a:extLst>
          </p:cNvPr>
          <p:cNvSpPr/>
          <p:nvPr/>
        </p:nvSpPr>
        <p:spPr>
          <a:xfrm>
            <a:off x="395288" y="989526"/>
            <a:ext cx="3386599" cy="2062103"/>
          </a:xfrm>
          <a:prstGeom prst="rect">
            <a:avLst/>
          </a:prstGeom>
        </p:spPr>
        <p:txBody>
          <a:bodyPr wrap="square">
            <a:spAutoFit/>
          </a:bodyPr>
          <a:lstStyle/>
          <a:p>
            <a:r>
              <a:rPr lang="en-GB" b="1"/>
              <a:t>Networks </a:t>
            </a:r>
          </a:p>
          <a:p>
            <a:pPr marL="285750" indent="-285750">
              <a:buFont typeface="Arial" panose="020B0604020202020204" pitchFamily="34" charset="0"/>
              <a:buChar char="•"/>
            </a:pPr>
            <a:r>
              <a:rPr lang="en-GB"/>
              <a:t>TDM</a:t>
            </a:r>
          </a:p>
          <a:p>
            <a:pPr marL="285750" indent="-285750">
              <a:buFont typeface="Arial" panose="020B0604020202020204" pitchFamily="34" charset="0"/>
              <a:buChar char="•"/>
            </a:pPr>
            <a:r>
              <a:rPr lang="en-GB"/>
              <a:t>Circuit Switching</a:t>
            </a:r>
          </a:p>
          <a:p>
            <a:pPr marL="285750" indent="-285750">
              <a:buFont typeface="Arial" panose="020B0604020202020204" pitchFamily="34" charset="0"/>
              <a:buChar char="•"/>
            </a:pPr>
            <a:r>
              <a:rPr lang="en-GB"/>
              <a:t>Packet Switching</a:t>
            </a:r>
          </a:p>
          <a:p>
            <a:endParaRPr lang="en-GB"/>
          </a:p>
          <a:p>
            <a:r>
              <a:rPr lang="en-GB" b="1"/>
              <a:t>Layers of Networks</a:t>
            </a:r>
          </a:p>
          <a:p>
            <a:pPr marL="285750" indent="-285750">
              <a:buFont typeface="Arial" panose="020B0604020202020204" pitchFamily="34" charset="0"/>
              <a:buChar char="•"/>
            </a:pPr>
            <a:r>
              <a:rPr lang="en-GB"/>
              <a:t>Telephone, Internet, WWW</a:t>
            </a:r>
          </a:p>
          <a:p>
            <a:endParaRPr lang="en-GB"/>
          </a:p>
        </p:txBody>
      </p:sp>
      <p:sp>
        <p:nvSpPr>
          <p:cNvPr id="4" name="Text Box 6">
            <a:extLst>
              <a:ext uri="{FF2B5EF4-FFF2-40B4-BE49-F238E27FC236}">
                <a16:creationId xmlns:a16="http://schemas.microsoft.com/office/drawing/2014/main" id="{C2F74B91-17F2-4152-8A10-78D88C260086}"/>
              </a:ext>
            </a:extLst>
          </p:cNvPr>
          <p:cNvSpPr txBox="1">
            <a:spLocks noChangeArrowheads="1"/>
          </p:cNvSpPr>
          <p:nvPr/>
        </p:nvSpPr>
        <p:spPr bwMode="auto">
          <a:xfrm>
            <a:off x="381000" y="391468"/>
            <a:ext cx="2135521" cy="461665"/>
          </a:xfrm>
          <a:prstGeom prst="rect">
            <a:avLst/>
          </a:prstGeom>
          <a:noFill/>
          <a:ln w="9525">
            <a:noFill/>
            <a:miter lim="800000"/>
            <a:headEnd/>
            <a:tailEnd/>
          </a:ln>
        </p:spPr>
        <p:txBody>
          <a:bodyPr wrap="none" anchor="ctr">
            <a:spAutoFit/>
          </a:bodyPr>
          <a:lstStyle/>
          <a:p>
            <a:r>
              <a:rPr lang="en-GB" sz="2400" b="1"/>
              <a:t>This Session:</a:t>
            </a:r>
          </a:p>
        </p:txBody>
      </p:sp>
    </p:spTree>
    <p:extLst>
      <p:ext uri="{BB962C8B-B14F-4D97-AF65-F5344CB8AC3E}">
        <p14:creationId xmlns:p14="http://schemas.microsoft.com/office/powerpoint/2010/main" val="14999168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bwMode="auto">
          <a:xfrm>
            <a:off x="0" y="0"/>
            <a:ext cx="9144000" cy="6858000"/>
          </a:xfrm>
          <a:prstGeom prst="rect">
            <a:avLst/>
          </a:prstGeom>
          <a:solidFill>
            <a:schemeClr val="tx1">
              <a:lumMod val="95000"/>
              <a:lumOff val="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pic>
        <p:nvPicPr>
          <p:cNvPr id="1026" name="Picture 2" descr="http://nihrecord.nih.gov/newsletters/09_18_2001/images/webstuf3.jpg"/>
          <p:cNvPicPr>
            <a:picLocks noChangeAspect="1" noChangeArrowheads="1"/>
          </p:cNvPicPr>
          <p:nvPr/>
        </p:nvPicPr>
        <p:blipFill>
          <a:blip r:embed="rId2" cstate="print"/>
          <a:srcRect/>
          <a:stretch>
            <a:fillRect/>
          </a:stretch>
        </p:blipFill>
        <p:spPr bwMode="auto">
          <a:xfrm>
            <a:off x="275463" y="1684234"/>
            <a:ext cx="4139013" cy="5173766"/>
          </a:xfrm>
          <a:prstGeom prst="rect">
            <a:avLst/>
          </a:prstGeom>
          <a:noFill/>
        </p:spPr>
      </p:pic>
      <p:pic>
        <p:nvPicPr>
          <p:cNvPr id="1028" name="Picture 4" descr="Overhead Telephone and Telegraph Wires in Broadway, 1890"/>
          <p:cNvPicPr>
            <a:picLocks noChangeAspect="1" noChangeArrowheads="1"/>
          </p:cNvPicPr>
          <p:nvPr/>
        </p:nvPicPr>
        <p:blipFill>
          <a:blip r:embed="rId3" cstate="print">
            <a:lum bright="-10000" contrast="20000"/>
          </a:blip>
          <a:srcRect/>
          <a:stretch>
            <a:fillRect/>
          </a:stretch>
        </p:blipFill>
        <p:spPr bwMode="auto">
          <a:xfrm>
            <a:off x="4572000" y="0"/>
            <a:ext cx="4383960" cy="5437470"/>
          </a:xfrm>
          <a:prstGeom prst="rect">
            <a:avLst/>
          </a:prstGeom>
          <a:noFill/>
        </p:spPr>
      </p:pic>
      <p:sp>
        <p:nvSpPr>
          <p:cNvPr id="2" name="TextBox 1"/>
          <p:cNvSpPr txBox="1"/>
          <p:nvPr/>
        </p:nvSpPr>
        <p:spPr>
          <a:xfrm>
            <a:off x="395288" y="331788"/>
            <a:ext cx="4019188" cy="1446550"/>
          </a:xfrm>
          <a:prstGeom prst="rect">
            <a:avLst/>
          </a:prstGeom>
          <a:noFill/>
        </p:spPr>
        <p:txBody>
          <a:bodyPr wrap="square" rtlCol="0">
            <a:spAutoFit/>
          </a:bodyPr>
          <a:lstStyle/>
          <a:p>
            <a:r>
              <a:rPr lang="en-GB" sz="4400" b="1">
                <a:solidFill>
                  <a:srgbClr val="FFFF00"/>
                </a:solidFill>
              </a:rPr>
              <a:t>From Circuits …</a:t>
            </a:r>
            <a:endParaRPr lang="en-GB" sz="4400" b="1" dirty="0">
              <a:solidFill>
                <a:srgbClr val="FFFF00"/>
              </a:solidFill>
            </a:endParaRPr>
          </a:p>
        </p:txBody>
      </p:sp>
      <p:sp>
        <p:nvSpPr>
          <p:cNvPr id="6" name="TextBox 5">
            <a:extLst>
              <a:ext uri="{FF2B5EF4-FFF2-40B4-BE49-F238E27FC236}">
                <a16:creationId xmlns:a16="http://schemas.microsoft.com/office/drawing/2014/main" id="{291F4DBF-E8F0-44FD-933F-EB463D5BF8E0}"/>
              </a:ext>
            </a:extLst>
          </p:cNvPr>
          <p:cNvSpPr txBox="1"/>
          <p:nvPr/>
        </p:nvSpPr>
        <p:spPr>
          <a:xfrm>
            <a:off x="4496771" y="5686069"/>
            <a:ext cx="4019188" cy="769441"/>
          </a:xfrm>
          <a:prstGeom prst="rect">
            <a:avLst/>
          </a:prstGeom>
          <a:noFill/>
        </p:spPr>
        <p:txBody>
          <a:bodyPr wrap="square" rtlCol="0">
            <a:spAutoFit/>
          </a:bodyPr>
          <a:lstStyle/>
          <a:p>
            <a:r>
              <a:rPr lang="en-GB" sz="4400" b="1">
                <a:solidFill>
                  <a:srgbClr val="FFFF00"/>
                </a:solidFill>
              </a:rPr>
              <a:t>… to </a:t>
            </a:r>
            <a:r>
              <a:rPr lang="en-GB" sz="4400" b="1" dirty="0">
                <a:solidFill>
                  <a:srgbClr val="FFFF00"/>
                </a:solidFill>
              </a:rPr>
              <a:t>Packets</a:t>
            </a:r>
          </a:p>
        </p:txBody>
      </p:sp>
    </p:spTree>
    <p:extLst>
      <p:ext uri="{BB962C8B-B14F-4D97-AF65-F5344CB8AC3E}">
        <p14:creationId xmlns:p14="http://schemas.microsoft.com/office/powerpoint/2010/main" val="37627610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0" y="1524000"/>
            <a:ext cx="9144000" cy="3559175"/>
            <a:chOff x="0" y="956"/>
            <a:chExt cx="5760" cy="2242"/>
          </a:xfrm>
        </p:grpSpPr>
        <p:sp>
          <p:nvSpPr>
            <p:cNvPr id="3188" name="Rectangle 3"/>
            <p:cNvSpPr>
              <a:spLocks noChangeArrowheads="1"/>
            </p:cNvSpPr>
            <p:nvPr/>
          </p:nvSpPr>
          <p:spPr bwMode="auto">
            <a:xfrm>
              <a:off x="0" y="2252"/>
              <a:ext cx="5760" cy="946"/>
            </a:xfrm>
            <a:prstGeom prst="rect">
              <a:avLst/>
            </a:prstGeom>
            <a:gradFill rotWithShape="0">
              <a:gsLst>
                <a:gs pos="0">
                  <a:srgbClr val="FFCC99"/>
                </a:gs>
                <a:gs pos="100000">
                  <a:schemeClr val="bg1"/>
                </a:gs>
              </a:gsLst>
              <a:lin ang="5400000" scaled="1"/>
            </a:gradFill>
            <a:ln w="9525">
              <a:noFill/>
              <a:miter lim="800000"/>
              <a:headEnd/>
              <a:tailEnd/>
            </a:ln>
          </p:spPr>
          <p:txBody>
            <a:bodyPr wrap="none" anchor="ctr"/>
            <a:lstStyle/>
            <a:p>
              <a:pPr algn="ctr"/>
              <a:endParaRPr lang="en-US" sz="2000"/>
            </a:p>
          </p:txBody>
        </p:sp>
        <p:sp>
          <p:nvSpPr>
            <p:cNvPr id="3189" name="Rectangle 4"/>
            <p:cNvSpPr>
              <a:spLocks noChangeArrowheads="1"/>
            </p:cNvSpPr>
            <p:nvPr/>
          </p:nvSpPr>
          <p:spPr bwMode="auto">
            <a:xfrm>
              <a:off x="0" y="956"/>
              <a:ext cx="5760" cy="1301"/>
            </a:xfrm>
            <a:prstGeom prst="rect">
              <a:avLst/>
            </a:prstGeom>
            <a:gradFill rotWithShape="0">
              <a:gsLst>
                <a:gs pos="0">
                  <a:schemeClr val="bg1"/>
                </a:gs>
                <a:gs pos="100000">
                  <a:srgbClr val="FFCC99"/>
                </a:gs>
              </a:gsLst>
              <a:lin ang="5400000" scaled="1"/>
            </a:gradFill>
            <a:ln w="9525">
              <a:noFill/>
              <a:miter lim="800000"/>
              <a:headEnd/>
              <a:tailEnd/>
            </a:ln>
          </p:spPr>
          <p:txBody>
            <a:bodyPr wrap="none" anchor="ctr"/>
            <a:lstStyle/>
            <a:p>
              <a:endParaRPr lang="en-US" sz="1600"/>
            </a:p>
          </p:txBody>
        </p:sp>
      </p:grpSp>
      <p:sp>
        <p:nvSpPr>
          <p:cNvPr id="3075" name="Rectangle 5"/>
          <p:cNvSpPr>
            <a:spLocks noChangeArrowheads="1"/>
          </p:cNvSpPr>
          <p:nvPr/>
        </p:nvSpPr>
        <p:spPr bwMode="auto">
          <a:xfrm>
            <a:off x="2244725" y="1371600"/>
            <a:ext cx="3489325" cy="4791075"/>
          </a:xfrm>
          <a:prstGeom prst="rect">
            <a:avLst/>
          </a:prstGeom>
          <a:solidFill>
            <a:srgbClr val="33CCCC">
              <a:alpha val="50195"/>
            </a:srgbClr>
          </a:solidFill>
          <a:ln w="9525">
            <a:solidFill>
              <a:srgbClr val="33CCCC"/>
            </a:solidFill>
            <a:miter lim="800000"/>
            <a:headEnd/>
            <a:tailEnd/>
          </a:ln>
        </p:spPr>
        <p:txBody>
          <a:bodyPr wrap="none" anchor="ctr"/>
          <a:lstStyle/>
          <a:p>
            <a:pPr algn="ctr"/>
            <a:endParaRPr lang="en-US" sz="1600"/>
          </a:p>
        </p:txBody>
      </p:sp>
      <p:sp>
        <p:nvSpPr>
          <p:cNvPr id="3076" name="Text Box 6"/>
          <p:cNvSpPr txBox="1">
            <a:spLocks noChangeArrowheads="1"/>
          </p:cNvSpPr>
          <p:nvPr/>
        </p:nvSpPr>
        <p:spPr bwMode="auto">
          <a:xfrm>
            <a:off x="381000" y="392113"/>
            <a:ext cx="7077075" cy="460375"/>
          </a:xfrm>
          <a:prstGeom prst="rect">
            <a:avLst/>
          </a:prstGeom>
          <a:noFill/>
          <a:ln w="9525">
            <a:noFill/>
            <a:miter lim="800000"/>
            <a:headEnd/>
            <a:tailEnd/>
          </a:ln>
        </p:spPr>
        <p:txBody>
          <a:bodyPr wrap="none" anchor="ctr">
            <a:spAutoFit/>
          </a:bodyPr>
          <a:lstStyle/>
          <a:p>
            <a:r>
              <a:rPr lang="en-GB" sz="2400" b="1"/>
              <a:t>Traditional PSTN - Digitisation of the Network</a:t>
            </a:r>
          </a:p>
        </p:txBody>
      </p:sp>
      <p:grpSp>
        <p:nvGrpSpPr>
          <p:cNvPr id="3" name="Group 7"/>
          <p:cNvGrpSpPr>
            <a:grpSpLocks/>
          </p:cNvGrpSpPr>
          <p:nvPr/>
        </p:nvGrpSpPr>
        <p:grpSpPr bwMode="auto">
          <a:xfrm flipV="1">
            <a:off x="2925763" y="4168775"/>
            <a:ext cx="74612" cy="1557338"/>
            <a:chOff x="3025" y="1469"/>
            <a:chExt cx="108" cy="1106"/>
          </a:xfrm>
        </p:grpSpPr>
        <p:sp>
          <p:nvSpPr>
            <p:cNvPr id="3186" name="Freeform 8"/>
            <p:cNvSpPr>
              <a:spLocks/>
            </p:cNvSpPr>
            <p:nvPr/>
          </p:nvSpPr>
          <p:spPr bwMode="auto">
            <a:xfrm>
              <a:off x="3025" y="1469"/>
              <a:ext cx="102" cy="1094"/>
            </a:xfrm>
            <a:custGeom>
              <a:avLst/>
              <a:gdLst>
                <a:gd name="T0" fmla="*/ 0 w 102"/>
                <a:gd name="T1" fmla="*/ 0 h 1094"/>
                <a:gd name="T2" fmla="*/ 81 w 102"/>
                <a:gd name="T3" fmla="*/ 200 h 1094"/>
                <a:gd name="T4" fmla="*/ 31 w 102"/>
                <a:gd name="T5" fmla="*/ 375 h 1094"/>
                <a:gd name="T6" fmla="*/ 69 w 102"/>
                <a:gd name="T7" fmla="*/ 556 h 1094"/>
                <a:gd name="T8" fmla="*/ 25 w 102"/>
                <a:gd name="T9" fmla="*/ 737 h 1094"/>
                <a:gd name="T10" fmla="*/ 100 w 102"/>
                <a:gd name="T11" fmla="*/ 881 h 1094"/>
                <a:gd name="T12" fmla="*/ 37 w 102"/>
                <a:gd name="T13" fmla="*/ 1094 h 1094"/>
                <a:gd name="T14" fmla="*/ 0 60000 65536"/>
                <a:gd name="T15" fmla="*/ 0 60000 65536"/>
                <a:gd name="T16" fmla="*/ 0 60000 65536"/>
                <a:gd name="T17" fmla="*/ 0 60000 65536"/>
                <a:gd name="T18" fmla="*/ 0 60000 65536"/>
                <a:gd name="T19" fmla="*/ 0 60000 65536"/>
                <a:gd name="T20" fmla="*/ 0 60000 65536"/>
                <a:gd name="T21" fmla="*/ 0 w 102"/>
                <a:gd name="T22" fmla="*/ 0 h 1094"/>
                <a:gd name="T23" fmla="*/ 102 w 102"/>
                <a:gd name="T24" fmla="*/ 1094 h 10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2" h="1094">
                  <a:moveTo>
                    <a:pt x="0" y="0"/>
                  </a:moveTo>
                  <a:cubicBezTo>
                    <a:pt x="38" y="69"/>
                    <a:pt x="76" y="138"/>
                    <a:pt x="81" y="200"/>
                  </a:cubicBezTo>
                  <a:cubicBezTo>
                    <a:pt x="86" y="262"/>
                    <a:pt x="33" y="316"/>
                    <a:pt x="31" y="375"/>
                  </a:cubicBezTo>
                  <a:cubicBezTo>
                    <a:pt x="29" y="434"/>
                    <a:pt x="70" y="496"/>
                    <a:pt x="69" y="556"/>
                  </a:cubicBezTo>
                  <a:cubicBezTo>
                    <a:pt x="68" y="616"/>
                    <a:pt x="20" y="683"/>
                    <a:pt x="25" y="737"/>
                  </a:cubicBezTo>
                  <a:cubicBezTo>
                    <a:pt x="30" y="791"/>
                    <a:pt x="98" y="822"/>
                    <a:pt x="100" y="881"/>
                  </a:cubicBezTo>
                  <a:cubicBezTo>
                    <a:pt x="102" y="940"/>
                    <a:pt x="46" y="1060"/>
                    <a:pt x="37" y="1094"/>
                  </a:cubicBezTo>
                </a:path>
              </a:pathLst>
            </a:custGeom>
            <a:noFill/>
            <a:ln w="9525">
              <a:solidFill>
                <a:schemeClr val="tx1"/>
              </a:solidFill>
              <a:round/>
              <a:headEnd/>
              <a:tailEnd/>
            </a:ln>
          </p:spPr>
          <p:txBody>
            <a:bodyPr wrap="none" anchor="ctr"/>
            <a:lstStyle/>
            <a:p>
              <a:endParaRPr lang="en-GB"/>
            </a:p>
          </p:txBody>
        </p:sp>
        <p:sp>
          <p:nvSpPr>
            <p:cNvPr id="3187" name="Freeform 9"/>
            <p:cNvSpPr>
              <a:spLocks/>
            </p:cNvSpPr>
            <p:nvPr/>
          </p:nvSpPr>
          <p:spPr bwMode="auto">
            <a:xfrm flipH="1">
              <a:off x="3031" y="1481"/>
              <a:ext cx="102" cy="1094"/>
            </a:xfrm>
            <a:custGeom>
              <a:avLst/>
              <a:gdLst>
                <a:gd name="T0" fmla="*/ 0 w 102"/>
                <a:gd name="T1" fmla="*/ 0 h 1094"/>
                <a:gd name="T2" fmla="*/ 81 w 102"/>
                <a:gd name="T3" fmla="*/ 200 h 1094"/>
                <a:gd name="T4" fmla="*/ 31 w 102"/>
                <a:gd name="T5" fmla="*/ 375 h 1094"/>
                <a:gd name="T6" fmla="*/ 69 w 102"/>
                <a:gd name="T7" fmla="*/ 556 h 1094"/>
                <a:gd name="T8" fmla="*/ 25 w 102"/>
                <a:gd name="T9" fmla="*/ 737 h 1094"/>
                <a:gd name="T10" fmla="*/ 100 w 102"/>
                <a:gd name="T11" fmla="*/ 881 h 1094"/>
                <a:gd name="T12" fmla="*/ 37 w 102"/>
                <a:gd name="T13" fmla="*/ 1094 h 1094"/>
                <a:gd name="T14" fmla="*/ 0 60000 65536"/>
                <a:gd name="T15" fmla="*/ 0 60000 65536"/>
                <a:gd name="T16" fmla="*/ 0 60000 65536"/>
                <a:gd name="T17" fmla="*/ 0 60000 65536"/>
                <a:gd name="T18" fmla="*/ 0 60000 65536"/>
                <a:gd name="T19" fmla="*/ 0 60000 65536"/>
                <a:gd name="T20" fmla="*/ 0 60000 65536"/>
                <a:gd name="T21" fmla="*/ 0 w 102"/>
                <a:gd name="T22" fmla="*/ 0 h 1094"/>
                <a:gd name="T23" fmla="*/ 102 w 102"/>
                <a:gd name="T24" fmla="*/ 1094 h 10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2" h="1094">
                  <a:moveTo>
                    <a:pt x="0" y="0"/>
                  </a:moveTo>
                  <a:cubicBezTo>
                    <a:pt x="38" y="69"/>
                    <a:pt x="76" y="138"/>
                    <a:pt x="81" y="200"/>
                  </a:cubicBezTo>
                  <a:cubicBezTo>
                    <a:pt x="86" y="262"/>
                    <a:pt x="33" y="316"/>
                    <a:pt x="31" y="375"/>
                  </a:cubicBezTo>
                  <a:cubicBezTo>
                    <a:pt x="29" y="434"/>
                    <a:pt x="70" y="496"/>
                    <a:pt x="69" y="556"/>
                  </a:cubicBezTo>
                  <a:cubicBezTo>
                    <a:pt x="68" y="616"/>
                    <a:pt x="20" y="683"/>
                    <a:pt x="25" y="737"/>
                  </a:cubicBezTo>
                  <a:cubicBezTo>
                    <a:pt x="30" y="791"/>
                    <a:pt x="98" y="822"/>
                    <a:pt x="100" y="881"/>
                  </a:cubicBezTo>
                  <a:cubicBezTo>
                    <a:pt x="102" y="940"/>
                    <a:pt x="46" y="1060"/>
                    <a:pt x="37" y="1094"/>
                  </a:cubicBezTo>
                </a:path>
              </a:pathLst>
            </a:custGeom>
            <a:noFill/>
            <a:ln w="9525">
              <a:solidFill>
                <a:schemeClr val="tx1"/>
              </a:solidFill>
              <a:round/>
              <a:headEnd/>
              <a:tailEnd/>
            </a:ln>
          </p:spPr>
          <p:txBody>
            <a:bodyPr wrap="none" anchor="ctr"/>
            <a:lstStyle/>
            <a:p>
              <a:endParaRPr lang="en-GB"/>
            </a:p>
          </p:txBody>
        </p:sp>
      </p:grpSp>
      <p:sp>
        <p:nvSpPr>
          <p:cNvPr id="3078" name="Rectangle 10"/>
          <p:cNvSpPr>
            <a:spLocks noChangeArrowheads="1"/>
          </p:cNvSpPr>
          <p:nvPr/>
        </p:nvSpPr>
        <p:spPr bwMode="auto">
          <a:xfrm>
            <a:off x="3667125" y="5180013"/>
            <a:ext cx="563563" cy="812800"/>
          </a:xfrm>
          <a:prstGeom prst="rect">
            <a:avLst/>
          </a:prstGeom>
          <a:solidFill>
            <a:srgbClr val="FF0000"/>
          </a:solidFill>
          <a:ln w="9525">
            <a:solidFill>
              <a:schemeClr val="tx1"/>
            </a:solidFill>
            <a:miter lim="800000"/>
            <a:headEnd/>
            <a:tailEnd/>
          </a:ln>
        </p:spPr>
        <p:txBody>
          <a:bodyPr wrap="none" anchor="ctr"/>
          <a:lstStyle/>
          <a:p>
            <a:endParaRPr lang="en-US" sz="1600"/>
          </a:p>
        </p:txBody>
      </p:sp>
      <p:grpSp>
        <p:nvGrpSpPr>
          <p:cNvPr id="4" name="Group 11"/>
          <p:cNvGrpSpPr>
            <a:grpSpLocks/>
          </p:cNvGrpSpPr>
          <p:nvPr/>
        </p:nvGrpSpPr>
        <p:grpSpPr bwMode="auto">
          <a:xfrm rot="16200000" flipV="1">
            <a:off x="4575969" y="5045869"/>
            <a:ext cx="39688" cy="723900"/>
            <a:chOff x="3025" y="1469"/>
            <a:chExt cx="108" cy="1106"/>
          </a:xfrm>
        </p:grpSpPr>
        <p:sp>
          <p:nvSpPr>
            <p:cNvPr id="3184" name="Freeform 12"/>
            <p:cNvSpPr>
              <a:spLocks/>
            </p:cNvSpPr>
            <p:nvPr/>
          </p:nvSpPr>
          <p:spPr bwMode="auto">
            <a:xfrm>
              <a:off x="3025" y="1469"/>
              <a:ext cx="102" cy="1094"/>
            </a:xfrm>
            <a:custGeom>
              <a:avLst/>
              <a:gdLst>
                <a:gd name="T0" fmla="*/ 0 w 102"/>
                <a:gd name="T1" fmla="*/ 0 h 1094"/>
                <a:gd name="T2" fmla="*/ 81 w 102"/>
                <a:gd name="T3" fmla="*/ 200 h 1094"/>
                <a:gd name="T4" fmla="*/ 31 w 102"/>
                <a:gd name="T5" fmla="*/ 375 h 1094"/>
                <a:gd name="T6" fmla="*/ 69 w 102"/>
                <a:gd name="T7" fmla="*/ 556 h 1094"/>
                <a:gd name="T8" fmla="*/ 25 w 102"/>
                <a:gd name="T9" fmla="*/ 737 h 1094"/>
                <a:gd name="T10" fmla="*/ 100 w 102"/>
                <a:gd name="T11" fmla="*/ 881 h 1094"/>
                <a:gd name="T12" fmla="*/ 37 w 102"/>
                <a:gd name="T13" fmla="*/ 1094 h 1094"/>
                <a:gd name="T14" fmla="*/ 0 60000 65536"/>
                <a:gd name="T15" fmla="*/ 0 60000 65536"/>
                <a:gd name="T16" fmla="*/ 0 60000 65536"/>
                <a:gd name="T17" fmla="*/ 0 60000 65536"/>
                <a:gd name="T18" fmla="*/ 0 60000 65536"/>
                <a:gd name="T19" fmla="*/ 0 60000 65536"/>
                <a:gd name="T20" fmla="*/ 0 60000 65536"/>
                <a:gd name="T21" fmla="*/ 0 w 102"/>
                <a:gd name="T22" fmla="*/ 0 h 1094"/>
                <a:gd name="T23" fmla="*/ 102 w 102"/>
                <a:gd name="T24" fmla="*/ 1094 h 10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2" h="1094">
                  <a:moveTo>
                    <a:pt x="0" y="0"/>
                  </a:moveTo>
                  <a:cubicBezTo>
                    <a:pt x="38" y="69"/>
                    <a:pt x="76" y="138"/>
                    <a:pt x="81" y="200"/>
                  </a:cubicBezTo>
                  <a:cubicBezTo>
                    <a:pt x="86" y="262"/>
                    <a:pt x="33" y="316"/>
                    <a:pt x="31" y="375"/>
                  </a:cubicBezTo>
                  <a:cubicBezTo>
                    <a:pt x="29" y="434"/>
                    <a:pt x="70" y="496"/>
                    <a:pt x="69" y="556"/>
                  </a:cubicBezTo>
                  <a:cubicBezTo>
                    <a:pt x="68" y="616"/>
                    <a:pt x="20" y="683"/>
                    <a:pt x="25" y="737"/>
                  </a:cubicBezTo>
                  <a:cubicBezTo>
                    <a:pt x="30" y="791"/>
                    <a:pt x="98" y="822"/>
                    <a:pt x="100" y="881"/>
                  </a:cubicBezTo>
                  <a:cubicBezTo>
                    <a:pt x="102" y="940"/>
                    <a:pt x="46" y="1060"/>
                    <a:pt x="37" y="1094"/>
                  </a:cubicBezTo>
                </a:path>
              </a:pathLst>
            </a:custGeom>
            <a:noFill/>
            <a:ln w="9525">
              <a:solidFill>
                <a:schemeClr val="tx1"/>
              </a:solidFill>
              <a:round/>
              <a:headEnd/>
              <a:tailEnd/>
            </a:ln>
          </p:spPr>
          <p:txBody>
            <a:bodyPr wrap="none" anchor="ctr"/>
            <a:lstStyle/>
            <a:p>
              <a:endParaRPr lang="en-GB"/>
            </a:p>
          </p:txBody>
        </p:sp>
        <p:sp>
          <p:nvSpPr>
            <p:cNvPr id="3185" name="Freeform 13"/>
            <p:cNvSpPr>
              <a:spLocks/>
            </p:cNvSpPr>
            <p:nvPr/>
          </p:nvSpPr>
          <p:spPr bwMode="auto">
            <a:xfrm flipH="1">
              <a:off x="3031" y="1481"/>
              <a:ext cx="102" cy="1094"/>
            </a:xfrm>
            <a:custGeom>
              <a:avLst/>
              <a:gdLst>
                <a:gd name="T0" fmla="*/ 0 w 102"/>
                <a:gd name="T1" fmla="*/ 0 h 1094"/>
                <a:gd name="T2" fmla="*/ 81 w 102"/>
                <a:gd name="T3" fmla="*/ 200 h 1094"/>
                <a:gd name="T4" fmla="*/ 31 w 102"/>
                <a:gd name="T5" fmla="*/ 375 h 1094"/>
                <a:gd name="T6" fmla="*/ 69 w 102"/>
                <a:gd name="T7" fmla="*/ 556 h 1094"/>
                <a:gd name="T8" fmla="*/ 25 w 102"/>
                <a:gd name="T9" fmla="*/ 737 h 1094"/>
                <a:gd name="T10" fmla="*/ 100 w 102"/>
                <a:gd name="T11" fmla="*/ 881 h 1094"/>
                <a:gd name="T12" fmla="*/ 37 w 102"/>
                <a:gd name="T13" fmla="*/ 1094 h 1094"/>
                <a:gd name="T14" fmla="*/ 0 60000 65536"/>
                <a:gd name="T15" fmla="*/ 0 60000 65536"/>
                <a:gd name="T16" fmla="*/ 0 60000 65536"/>
                <a:gd name="T17" fmla="*/ 0 60000 65536"/>
                <a:gd name="T18" fmla="*/ 0 60000 65536"/>
                <a:gd name="T19" fmla="*/ 0 60000 65536"/>
                <a:gd name="T20" fmla="*/ 0 60000 65536"/>
                <a:gd name="T21" fmla="*/ 0 w 102"/>
                <a:gd name="T22" fmla="*/ 0 h 1094"/>
                <a:gd name="T23" fmla="*/ 102 w 102"/>
                <a:gd name="T24" fmla="*/ 1094 h 10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2" h="1094">
                  <a:moveTo>
                    <a:pt x="0" y="0"/>
                  </a:moveTo>
                  <a:cubicBezTo>
                    <a:pt x="38" y="69"/>
                    <a:pt x="76" y="138"/>
                    <a:pt x="81" y="200"/>
                  </a:cubicBezTo>
                  <a:cubicBezTo>
                    <a:pt x="86" y="262"/>
                    <a:pt x="33" y="316"/>
                    <a:pt x="31" y="375"/>
                  </a:cubicBezTo>
                  <a:cubicBezTo>
                    <a:pt x="29" y="434"/>
                    <a:pt x="70" y="496"/>
                    <a:pt x="69" y="556"/>
                  </a:cubicBezTo>
                  <a:cubicBezTo>
                    <a:pt x="68" y="616"/>
                    <a:pt x="20" y="683"/>
                    <a:pt x="25" y="737"/>
                  </a:cubicBezTo>
                  <a:cubicBezTo>
                    <a:pt x="30" y="791"/>
                    <a:pt x="98" y="822"/>
                    <a:pt x="100" y="881"/>
                  </a:cubicBezTo>
                  <a:cubicBezTo>
                    <a:pt x="102" y="940"/>
                    <a:pt x="46" y="1060"/>
                    <a:pt x="37" y="1094"/>
                  </a:cubicBezTo>
                </a:path>
              </a:pathLst>
            </a:custGeom>
            <a:noFill/>
            <a:ln w="9525">
              <a:solidFill>
                <a:schemeClr val="tx1"/>
              </a:solidFill>
              <a:round/>
              <a:headEnd/>
              <a:tailEnd/>
            </a:ln>
          </p:spPr>
          <p:txBody>
            <a:bodyPr wrap="none" anchor="ctr"/>
            <a:lstStyle/>
            <a:p>
              <a:endParaRPr lang="en-GB"/>
            </a:p>
          </p:txBody>
        </p:sp>
      </p:grpSp>
      <p:grpSp>
        <p:nvGrpSpPr>
          <p:cNvPr id="5" name="Group 14"/>
          <p:cNvGrpSpPr>
            <a:grpSpLocks/>
          </p:cNvGrpSpPr>
          <p:nvPr/>
        </p:nvGrpSpPr>
        <p:grpSpPr bwMode="auto">
          <a:xfrm rot="16200000" flipV="1">
            <a:off x="4587875" y="5283201"/>
            <a:ext cx="39687" cy="747712"/>
            <a:chOff x="3025" y="1469"/>
            <a:chExt cx="108" cy="1106"/>
          </a:xfrm>
        </p:grpSpPr>
        <p:sp>
          <p:nvSpPr>
            <p:cNvPr id="3182" name="Freeform 15"/>
            <p:cNvSpPr>
              <a:spLocks/>
            </p:cNvSpPr>
            <p:nvPr/>
          </p:nvSpPr>
          <p:spPr bwMode="auto">
            <a:xfrm>
              <a:off x="3025" y="1469"/>
              <a:ext cx="102" cy="1094"/>
            </a:xfrm>
            <a:custGeom>
              <a:avLst/>
              <a:gdLst>
                <a:gd name="T0" fmla="*/ 0 w 102"/>
                <a:gd name="T1" fmla="*/ 0 h 1094"/>
                <a:gd name="T2" fmla="*/ 81 w 102"/>
                <a:gd name="T3" fmla="*/ 200 h 1094"/>
                <a:gd name="T4" fmla="*/ 31 w 102"/>
                <a:gd name="T5" fmla="*/ 375 h 1094"/>
                <a:gd name="T6" fmla="*/ 69 w 102"/>
                <a:gd name="T7" fmla="*/ 556 h 1094"/>
                <a:gd name="T8" fmla="*/ 25 w 102"/>
                <a:gd name="T9" fmla="*/ 737 h 1094"/>
                <a:gd name="T10" fmla="*/ 100 w 102"/>
                <a:gd name="T11" fmla="*/ 881 h 1094"/>
                <a:gd name="T12" fmla="*/ 37 w 102"/>
                <a:gd name="T13" fmla="*/ 1094 h 1094"/>
                <a:gd name="T14" fmla="*/ 0 60000 65536"/>
                <a:gd name="T15" fmla="*/ 0 60000 65536"/>
                <a:gd name="T16" fmla="*/ 0 60000 65536"/>
                <a:gd name="T17" fmla="*/ 0 60000 65536"/>
                <a:gd name="T18" fmla="*/ 0 60000 65536"/>
                <a:gd name="T19" fmla="*/ 0 60000 65536"/>
                <a:gd name="T20" fmla="*/ 0 60000 65536"/>
                <a:gd name="T21" fmla="*/ 0 w 102"/>
                <a:gd name="T22" fmla="*/ 0 h 1094"/>
                <a:gd name="T23" fmla="*/ 102 w 102"/>
                <a:gd name="T24" fmla="*/ 1094 h 10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2" h="1094">
                  <a:moveTo>
                    <a:pt x="0" y="0"/>
                  </a:moveTo>
                  <a:cubicBezTo>
                    <a:pt x="38" y="69"/>
                    <a:pt x="76" y="138"/>
                    <a:pt x="81" y="200"/>
                  </a:cubicBezTo>
                  <a:cubicBezTo>
                    <a:pt x="86" y="262"/>
                    <a:pt x="33" y="316"/>
                    <a:pt x="31" y="375"/>
                  </a:cubicBezTo>
                  <a:cubicBezTo>
                    <a:pt x="29" y="434"/>
                    <a:pt x="70" y="496"/>
                    <a:pt x="69" y="556"/>
                  </a:cubicBezTo>
                  <a:cubicBezTo>
                    <a:pt x="68" y="616"/>
                    <a:pt x="20" y="683"/>
                    <a:pt x="25" y="737"/>
                  </a:cubicBezTo>
                  <a:cubicBezTo>
                    <a:pt x="30" y="791"/>
                    <a:pt x="98" y="822"/>
                    <a:pt x="100" y="881"/>
                  </a:cubicBezTo>
                  <a:cubicBezTo>
                    <a:pt x="102" y="940"/>
                    <a:pt x="46" y="1060"/>
                    <a:pt x="37" y="1094"/>
                  </a:cubicBezTo>
                </a:path>
              </a:pathLst>
            </a:custGeom>
            <a:noFill/>
            <a:ln w="9525">
              <a:solidFill>
                <a:schemeClr val="tx1"/>
              </a:solidFill>
              <a:round/>
              <a:headEnd/>
              <a:tailEnd/>
            </a:ln>
          </p:spPr>
          <p:txBody>
            <a:bodyPr wrap="none" anchor="ctr"/>
            <a:lstStyle/>
            <a:p>
              <a:endParaRPr lang="en-GB"/>
            </a:p>
          </p:txBody>
        </p:sp>
        <p:sp>
          <p:nvSpPr>
            <p:cNvPr id="3183" name="Freeform 16"/>
            <p:cNvSpPr>
              <a:spLocks/>
            </p:cNvSpPr>
            <p:nvPr/>
          </p:nvSpPr>
          <p:spPr bwMode="auto">
            <a:xfrm flipH="1">
              <a:off x="3031" y="1481"/>
              <a:ext cx="102" cy="1094"/>
            </a:xfrm>
            <a:custGeom>
              <a:avLst/>
              <a:gdLst>
                <a:gd name="T0" fmla="*/ 0 w 102"/>
                <a:gd name="T1" fmla="*/ 0 h 1094"/>
                <a:gd name="T2" fmla="*/ 81 w 102"/>
                <a:gd name="T3" fmla="*/ 200 h 1094"/>
                <a:gd name="T4" fmla="*/ 31 w 102"/>
                <a:gd name="T5" fmla="*/ 375 h 1094"/>
                <a:gd name="T6" fmla="*/ 69 w 102"/>
                <a:gd name="T7" fmla="*/ 556 h 1094"/>
                <a:gd name="T8" fmla="*/ 25 w 102"/>
                <a:gd name="T9" fmla="*/ 737 h 1094"/>
                <a:gd name="T10" fmla="*/ 100 w 102"/>
                <a:gd name="T11" fmla="*/ 881 h 1094"/>
                <a:gd name="T12" fmla="*/ 37 w 102"/>
                <a:gd name="T13" fmla="*/ 1094 h 1094"/>
                <a:gd name="T14" fmla="*/ 0 60000 65536"/>
                <a:gd name="T15" fmla="*/ 0 60000 65536"/>
                <a:gd name="T16" fmla="*/ 0 60000 65536"/>
                <a:gd name="T17" fmla="*/ 0 60000 65536"/>
                <a:gd name="T18" fmla="*/ 0 60000 65536"/>
                <a:gd name="T19" fmla="*/ 0 60000 65536"/>
                <a:gd name="T20" fmla="*/ 0 60000 65536"/>
                <a:gd name="T21" fmla="*/ 0 w 102"/>
                <a:gd name="T22" fmla="*/ 0 h 1094"/>
                <a:gd name="T23" fmla="*/ 102 w 102"/>
                <a:gd name="T24" fmla="*/ 1094 h 10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2" h="1094">
                  <a:moveTo>
                    <a:pt x="0" y="0"/>
                  </a:moveTo>
                  <a:cubicBezTo>
                    <a:pt x="38" y="69"/>
                    <a:pt x="76" y="138"/>
                    <a:pt x="81" y="200"/>
                  </a:cubicBezTo>
                  <a:cubicBezTo>
                    <a:pt x="86" y="262"/>
                    <a:pt x="33" y="316"/>
                    <a:pt x="31" y="375"/>
                  </a:cubicBezTo>
                  <a:cubicBezTo>
                    <a:pt x="29" y="434"/>
                    <a:pt x="70" y="496"/>
                    <a:pt x="69" y="556"/>
                  </a:cubicBezTo>
                  <a:cubicBezTo>
                    <a:pt x="68" y="616"/>
                    <a:pt x="20" y="683"/>
                    <a:pt x="25" y="737"/>
                  </a:cubicBezTo>
                  <a:cubicBezTo>
                    <a:pt x="30" y="791"/>
                    <a:pt x="98" y="822"/>
                    <a:pt x="100" y="881"/>
                  </a:cubicBezTo>
                  <a:cubicBezTo>
                    <a:pt x="102" y="940"/>
                    <a:pt x="46" y="1060"/>
                    <a:pt x="37" y="1094"/>
                  </a:cubicBezTo>
                </a:path>
              </a:pathLst>
            </a:custGeom>
            <a:noFill/>
            <a:ln w="9525">
              <a:solidFill>
                <a:schemeClr val="tx1"/>
              </a:solidFill>
              <a:round/>
              <a:headEnd/>
              <a:tailEnd/>
            </a:ln>
          </p:spPr>
          <p:txBody>
            <a:bodyPr wrap="none" anchor="ctr"/>
            <a:lstStyle/>
            <a:p>
              <a:endParaRPr lang="en-GB"/>
            </a:p>
          </p:txBody>
        </p:sp>
      </p:grpSp>
      <p:grpSp>
        <p:nvGrpSpPr>
          <p:cNvPr id="6" name="Group 17"/>
          <p:cNvGrpSpPr>
            <a:grpSpLocks/>
          </p:cNvGrpSpPr>
          <p:nvPr/>
        </p:nvGrpSpPr>
        <p:grpSpPr bwMode="auto">
          <a:xfrm rot="16200000" flipV="1">
            <a:off x="4568825" y="4948238"/>
            <a:ext cx="39688" cy="747712"/>
            <a:chOff x="3025" y="1469"/>
            <a:chExt cx="108" cy="1106"/>
          </a:xfrm>
        </p:grpSpPr>
        <p:sp>
          <p:nvSpPr>
            <p:cNvPr id="3180" name="Freeform 18"/>
            <p:cNvSpPr>
              <a:spLocks/>
            </p:cNvSpPr>
            <p:nvPr/>
          </p:nvSpPr>
          <p:spPr bwMode="auto">
            <a:xfrm>
              <a:off x="3025" y="1469"/>
              <a:ext cx="102" cy="1094"/>
            </a:xfrm>
            <a:custGeom>
              <a:avLst/>
              <a:gdLst>
                <a:gd name="T0" fmla="*/ 0 w 102"/>
                <a:gd name="T1" fmla="*/ 0 h 1094"/>
                <a:gd name="T2" fmla="*/ 81 w 102"/>
                <a:gd name="T3" fmla="*/ 200 h 1094"/>
                <a:gd name="T4" fmla="*/ 31 w 102"/>
                <a:gd name="T5" fmla="*/ 375 h 1094"/>
                <a:gd name="T6" fmla="*/ 69 w 102"/>
                <a:gd name="T7" fmla="*/ 556 h 1094"/>
                <a:gd name="T8" fmla="*/ 25 w 102"/>
                <a:gd name="T9" fmla="*/ 737 h 1094"/>
                <a:gd name="T10" fmla="*/ 100 w 102"/>
                <a:gd name="T11" fmla="*/ 881 h 1094"/>
                <a:gd name="T12" fmla="*/ 37 w 102"/>
                <a:gd name="T13" fmla="*/ 1094 h 1094"/>
                <a:gd name="T14" fmla="*/ 0 60000 65536"/>
                <a:gd name="T15" fmla="*/ 0 60000 65536"/>
                <a:gd name="T16" fmla="*/ 0 60000 65536"/>
                <a:gd name="T17" fmla="*/ 0 60000 65536"/>
                <a:gd name="T18" fmla="*/ 0 60000 65536"/>
                <a:gd name="T19" fmla="*/ 0 60000 65536"/>
                <a:gd name="T20" fmla="*/ 0 60000 65536"/>
                <a:gd name="T21" fmla="*/ 0 w 102"/>
                <a:gd name="T22" fmla="*/ 0 h 1094"/>
                <a:gd name="T23" fmla="*/ 102 w 102"/>
                <a:gd name="T24" fmla="*/ 1094 h 10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2" h="1094">
                  <a:moveTo>
                    <a:pt x="0" y="0"/>
                  </a:moveTo>
                  <a:cubicBezTo>
                    <a:pt x="38" y="69"/>
                    <a:pt x="76" y="138"/>
                    <a:pt x="81" y="200"/>
                  </a:cubicBezTo>
                  <a:cubicBezTo>
                    <a:pt x="86" y="262"/>
                    <a:pt x="33" y="316"/>
                    <a:pt x="31" y="375"/>
                  </a:cubicBezTo>
                  <a:cubicBezTo>
                    <a:pt x="29" y="434"/>
                    <a:pt x="70" y="496"/>
                    <a:pt x="69" y="556"/>
                  </a:cubicBezTo>
                  <a:cubicBezTo>
                    <a:pt x="68" y="616"/>
                    <a:pt x="20" y="683"/>
                    <a:pt x="25" y="737"/>
                  </a:cubicBezTo>
                  <a:cubicBezTo>
                    <a:pt x="30" y="791"/>
                    <a:pt x="98" y="822"/>
                    <a:pt x="100" y="881"/>
                  </a:cubicBezTo>
                  <a:cubicBezTo>
                    <a:pt x="102" y="940"/>
                    <a:pt x="46" y="1060"/>
                    <a:pt x="37" y="1094"/>
                  </a:cubicBezTo>
                </a:path>
              </a:pathLst>
            </a:custGeom>
            <a:noFill/>
            <a:ln w="9525">
              <a:solidFill>
                <a:schemeClr val="tx1"/>
              </a:solidFill>
              <a:round/>
              <a:headEnd/>
              <a:tailEnd/>
            </a:ln>
          </p:spPr>
          <p:txBody>
            <a:bodyPr wrap="none" anchor="ctr"/>
            <a:lstStyle/>
            <a:p>
              <a:endParaRPr lang="en-GB"/>
            </a:p>
          </p:txBody>
        </p:sp>
        <p:sp>
          <p:nvSpPr>
            <p:cNvPr id="3181" name="Freeform 19"/>
            <p:cNvSpPr>
              <a:spLocks/>
            </p:cNvSpPr>
            <p:nvPr/>
          </p:nvSpPr>
          <p:spPr bwMode="auto">
            <a:xfrm flipH="1">
              <a:off x="3031" y="1481"/>
              <a:ext cx="102" cy="1094"/>
            </a:xfrm>
            <a:custGeom>
              <a:avLst/>
              <a:gdLst>
                <a:gd name="T0" fmla="*/ 0 w 102"/>
                <a:gd name="T1" fmla="*/ 0 h 1094"/>
                <a:gd name="T2" fmla="*/ 81 w 102"/>
                <a:gd name="T3" fmla="*/ 200 h 1094"/>
                <a:gd name="T4" fmla="*/ 31 w 102"/>
                <a:gd name="T5" fmla="*/ 375 h 1094"/>
                <a:gd name="T6" fmla="*/ 69 w 102"/>
                <a:gd name="T7" fmla="*/ 556 h 1094"/>
                <a:gd name="T8" fmla="*/ 25 w 102"/>
                <a:gd name="T9" fmla="*/ 737 h 1094"/>
                <a:gd name="T10" fmla="*/ 100 w 102"/>
                <a:gd name="T11" fmla="*/ 881 h 1094"/>
                <a:gd name="T12" fmla="*/ 37 w 102"/>
                <a:gd name="T13" fmla="*/ 1094 h 1094"/>
                <a:gd name="T14" fmla="*/ 0 60000 65536"/>
                <a:gd name="T15" fmla="*/ 0 60000 65536"/>
                <a:gd name="T16" fmla="*/ 0 60000 65536"/>
                <a:gd name="T17" fmla="*/ 0 60000 65536"/>
                <a:gd name="T18" fmla="*/ 0 60000 65536"/>
                <a:gd name="T19" fmla="*/ 0 60000 65536"/>
                <a:gd name="T20" fmla="*/ 0 60000 65536"/>
                <a:gd name="T21" fmla="*/ 0 w 102"/>
                <a:gd name="T22" fmla="*/ 0 h 1094"/>
                <a:gd name="T23" fmla="*/ 102 w 102"/>
                <a:gd name="T24" fmla="*/ 1094 h 10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2" h="1094">
                  <a:moveTo>
                    <a:pt x="0" y="0"/>
                  </a:moveTo>
                  <a:cubicBezTo>
                    <a:pt x="38" y="69"/>
                    <a:pt x="76" y="138"/>
                    <a:pt x="81" y="200"/>
                  </a:cubicBezTo>
                  <a:cubicBezTo>
                    <a:pt x="86" y="262"/>
                    <a:pt x="33" y="316"/>
                    <a:pt x="31" y="375"/>
                  </a:cubicBezTo>
                  <a:cubicBezTo>
                    <a:pt x="29" y="434"/>
                    <a:pt x="70" y="496"/>
                    <a:pt x="69" y="556"/>
                  </a:cubicBezTo>
                  <a:cubicBezTo>
                    <a:pt x="68" y="616"/>
                    <a:pt x="20" y="683"/>
                    <a:pt x="25" y="737"/>
                  </a:cubicBezTo>
                  <a:cubicBezTo>
                    <a:pt x="30" y="791"/>
                    <a:pt x="98" y="822"/>
                    <a:pt x="100" y="881"/>
                  </a:cubicBezTo>
                  <a:cubicBezTo>
                    <a:pt x="102" y="940"/>
                    <a:pt x="46" y="1060"/>
                    <a:pt x="37" y="1094"/>
                  </a:cubicBezTo>
                </a:path>
              </a:pathLst>
            </a:custGeom>
            <a:noFill/>
            <a:ln w="9525">
              <a:solidFill>
                <a:schemeClr val="tx1"/>
              </a:solidFill>
              <a:round/>
              <a:headEnd/>
              <a:tailEnd/>
            </a:ln>
          </p:spPr>
          <p:txBody>
            <a:bodyPr wrap="none" anchor="ctr"/>
            <a:lstStyle/>
            <a:p>
              <a:endParaRPr lang="en-GB"/>
            </a:p>
          </p:txBody>
        </p:sp>
      </p:grpSp>
      <p:grpSp>
        <p:nvGrpSpPr>
          <p:cNvPr id="7" name="Group 20"/>
          <p:cNvGrpSpPr>
            <a:grpSpLocks/>
          </p:cNvGrpSpPr>
          <p:nvPr/>
        </p:nvGrpSpPr>
        <p:grpSpPr bwMode="auto">
          <a:xfrm rot="16200000" flipV="1">
            <a:off x="4591844" y="5410994"/>
            <a:ext cx="41275" cy="747713"/>
            <a:chOff x="3025" y="1469"/>
            <a:chExt cx="108" cy="1106"/>
          </a:xfrm>
        </p:grpSpPr>
        <p:sp>
          <p:nvSpPr>
            <p:cNvPr id="3178" name="Freeform 21"/>
            <p:cNvSpPr>
              <a:spLocks/>
            </p:cNvSpPr>
            <p:nvPr/>
          </p:nvSpPr>
          <p:spPr bwMode="auto">
            <a:xfrm>
              <a:off x="3025" y="1469"/>
              <a:ext cx="102" cy="1094"/>
            </a:xfrm>
            <a:custGeom>
              <a:avLst/>
              <a:gdLst>
                <a:gd name="T0" fmla="*/ 0 w 102"/>
                <a:gd name="T1" fmla="*/ 0 h 1094"/>
                <a:gd name="T2" fmla="*/ 81 w 102"/>
                <a:gd name="T3" fmla="*/ 200 h 1094"/>
                <a:gd name="T4" fmla="*/ 31 w 102"/>
                <a:gd name="T5" fmla="*/ 375 h 1094"/>
                <a:gd name="T6" fmla="*/ 69 w 102"/>
                <a:gd name="T7" fmla="*/ 556 h 1094"/>
                <a:gd name="T8" fmla="*/ 25 w 102"/>
                <a:gd name="T9" fmla="*/ 737 h 1094"/>
                <a:gd name="T10" fmla="*/ 100 w 102"/>
                <a:gd name="T11" fmla="*/ 881 h 1094"/>
                <a:gd name="T12" fmla="*/ 37 w 102"/>
                <a:gd name="T13" fmla="*/ 1094 h 1094"/>
                <a:gd name="T14" fmla="*/ 0 60000 65536"/>
                <a:gd name="T15" fmla="*/ 0 60000 65536"/>
                <a:gd name="T16" fmla="*/ 0 60000 65536"/>
                <a:gd name="T17" fmla="*/ 0 60000 65536"/>
                <a:gd name="T18" fmla="*/ 0 60000 65536"/>
                <a:gd name="T19" fmla="*/ 0 60000 65536"/>
                <a:gd name="T20" fmla="*/ 0 60000 65536"/>
                <a:gd name="T21" fmla="*/ 0 w 102"/>
                <a:gd name="T22" fmla="*/ 0 h 1094"/>
                <a:gd name="T23" fmla="*/ 102 w 102"/>
                <a:gd name="T24" fmla="*/ 1094 h 10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2" h="1094">
                  <a:moveTo>
                    <a:pt x="0" y="0"/>
                  </a:moveTo>
                  <a:cubicBezTo>
                    <a:pt x="38" y="69"/>
                    <a:pt x="76" y="138"/>
                    <a:pt x="81" y="200"/>
                  </a:cubicBezTo>
                  <a:cubicBezTo>
                    <a:pt x="86" y="262"/>
                    <a:pt x="33" y="316"/>
                    <a:pt x="31" y="375"/>
                  </a:cubicBezTo>
                  <a:cubicBezTo>
                    <a:pt x="29" y="434"/>
                    <a:pt x="70" y="496"/>
                    <a:pt x="69" y="556"/>
                  </a:cubicBezTo>
                  <a:cubicBezTo>
                    <a:pt x="68" y="616"/>
                    <a:pt x="20" y="683"/>
                    <a:pt x="25" y="737"/>
                  </a:cubicBezTo>
                  <a:cubicBezTo>
                    <a:pt x="30" y="791"/>
                    <a:pt x="98" y="822"/>
                    <a:pt x="100" y="881"/>
                  </a:cubicBezTo>
                  <a:cubicBezTo>
                    <a:pt x="102" y="940"/>
                    <a:pt x="46" y="1060"/>
                    <a:pt x="37" y="1094"/>
                  </a:cubicBezTo>
                </a:path>
              </a:pathLst>
            </a:custGeom>
            <a:noFill/>
            <a:ln w="9525">
              <a:solidFill>
                <a:schemeClr val="tx1"/>
              </a:solidFill>
              <a:round/>
              <a:headEnd/>
              <a:tailEnd/>
            </a:ln>
          </p:spPr>
          <p:txBody>
            <a:bodyPr wrap="none" anchor="ctr"/>
            <a:lstStyle/>
            <a:p>
              <a:endParaRPr lang="en-GB"/>
            </a:p>
          </p:txBody>
        </p:sp>
        <p:sp>
          <p:nvSpPr>
            <p:cNvPr id="3179" name="Freeform 22"/>
            <p:cNvSpPr>
              <a:spLocks/>
            </p:cNvSpPr>
            <p:nvPr/>
          </p:nvSpPr>
          <p:spPr bwMode="auto">
            <a:xfrm flipH="1">
              <a:off x="3031" y="1481"/>
              <a:ext cx="102" cy="1094"/>
            </a:xfrm>
            <a:custGeom>
              <a:avLst/>
              <a:gdLst>
                <a:gd name="T0" fmla="*/ 0 w 102"/>
                <a:gd name="T1" fmla="*/ 0 h 1094"/>
                <a:gd name="T2" fmla="*/ 81 w 102"/>
                <a:gd name="T3" fmla="*/ 200 h 1094"/>
                <a:gd name="T4" fmla="*/ 31 w 102"/>
                <a:gd name="T5" fmla="*/ 375 h 1094"/>
                <a:gd name="T6" fmla="*/ 69 w 102"/>
                <a:gd name="T7" fmla="*/ 556 h 1094"/>
                <a:gd name="T8" fmla="*/ 25 w 102"/>
                <a:gd name="T9" fmla="*/ 737 h 1094"/>
                <a:gd name="T10" fmla="*/ 100 w 102"/>
                <a:gd name="T11" fmla="*/ 881 h 1094"/>
                <a:gd name="T12" fmla="*/ 37 w 102"/>
                <a:gd name="T13" fmla="*/ 1094 h 1094"/>
                <a:gd name="T14" fmla="*/ 0 60000 65536"/>
                <a:gd name="T15" fmla="*/ 0 60000 65536"/>
                <a:gd name="T16" fmla="*/ 0 60000 65536"/>
                <a:gd name="T17" fmla="*/ 0 60000 65536"/>
                <a:gd name="T18" fmla="*/ 0 60000 65536"/>
                <a:gd name="T19" fmla="*/ 0 60000 65536"/>
                <a:gd name="T20" fmla="*/ 0 60000 65536"/>
                <a:gd name="T21" fmla="*/ 0 w 102"/>
                <a:gd name="T22" fmla="*/ 0 h 1094"/>
                <a:gd name="T23" fmla="*/ 102 w 102"/>
                <a:gd name="T24" fmla="*/ 1094 h 10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2" h="1094">
                  <a:moveTo>
                    <a:pt x="0" y="0"/>
                  </a:moveTo>
                  <a:cubicBezTo>
                    <a:pt x="38" y="69"/>
                    <a:pt x="76" y="138"/>
                    <a:pt x="81" y="200"/>
                  </a:cubicBezTo>
                  <a:cubicBezTo>
                    <a:pt x="86" y="262"/>
                    <a:pt x="33" y="316"/>
                    <a:pt x="31" y="375"/>
                  </a:cubicBezTo>
                  <a:cubicBezTo>
                    <a:pt x="29" y="434"/>
                    <a:pt x="70" y="496"/>
                    <a:pt x="69" y="556"/>
                  </a:cubicBezTo>
                  <a:cubicBezTo>
                    <a:pt x="68" y="616"/>
                    <a:pt x="20" y="683"/>
                    <a:pt x="25" y="737"/>
                  </a:cubicBezTo>
                  <a:cubicBezTo>
                    <a:pt x="30" y="791"/>
                    <a:pt x="98" y="822"/>
                    <a:pt x="100" y="881"/>
                  </a:cubicBezTo>
                  <a:cubicBezTo>
                    <a:pt x="102" y="940"/>
                    <a:pt x="46" y="1060"/>
                    <a:pt x="37" y="1094"/>
                  </a:cubicBezTo>
                </a:path>
              </a:pathLst>
            </a:custGeom>
            <a:noFill/>
            <a:ln w="9525">
              <a:solidFill>
                <a:schemeClr val="tx1"/>
              </a:solidFill>
              <a:round/>
              <a:headEnd/>
              <a:tailEnd/>
            </a:ln>
          </p:spPr>
          <p:txBody>
            <a:bodyPr wrap="none" anchor="ctr"/>
            <a:lstStyle/>
            <a:p>
              <a:endParaRPr lang="en-GB"/>
            </a:p>
          </p:txBody>
        </p:sp>
      </p:grpSp>
      <p:grpSp>
        <p:nvGrpSpPr>
          <p:cNvPr id="8" name="Group 23"/>
          <p:cNvGrpSpPr>
            <a:grpSpLocks/>
          </p:cNvGrpSpPr>
          <p:nvPr/>
        </p:nvGrpSpPr>
        <p:grpSpPr bwMode="auto">
          <a:xfrm rot="16200000" flipV="1">
            <a:off x="3382169" y="5074444"/>
            <a:ext cx="74612" cy="508000"/>
            <a:chOff x="3025" y="1469"/>
            <a:chExt cx="108" cy="1106"/>
          </a:xfrm>
        </p:grpSpPr>
        <p:sp>
          <p:nvSpPr>
            <p:cNvPr id="3176" name="Freeform 24"/>
            <p:cNvSpPr>
              <a:spLocks/>
            </p:cNvSpPr>
            <p:nvPr/>
          </p:nvSpPr>
          <p:spPr bwMode="auto">
            <a:xfrm>
              <a:off x="3025" y="1469"/>
              <a:ext cx="102" cy="1094"/>
            </a:xfrm>
            <a:custGeom>
              <a:avLst/>
              <a:gdLst>
                <a:gd name="T0" fmla="*/ 0 w 102"/>
                <a:gd name="T1" fmla="*/ 0 h 1094"/>
                <a:gd name="T2" fmla="*/ 81 w 102"/>
                <a:gd name="T3" fmla="*/ 200 h 1094"/>
                <a:gd name="T4" fmla="*/ 31 w 102"/>
                <a:gd name="T5" fmla="*/ 375 h 1094"/>
                <a:gd name="T6" fmla="*/ 69 w 102"/>
                <a:gd name="T7" fmla="*/ 556 h 1094"/>
                <a:gd name="T8" fmla="*/ 25 w 102"/>
                <a:gd name="T9" fmla="*/ 737 h 1094"/>
                <a:gd name="T10" fmla="*/ 100 w 102"/>
                <a:gd name="T11" fmla="*/ 881 h 1094"/>
                <a:gd name="T12" fmla="*/ 37 w 102"/>
                <a:gd name="T13" fmla="*/ 1094 h 1094"/>
                <a:gd name="T14" fmla="*/ 0 60000 65536"/>
                <a:gd name="T15" fmla="*/ 0 60000 65536"/>
                <a:gd name="T16" fmla="*/ 0 60000 65536"/>
                <a:gd name="T17" fmla="*/ 0 60000 65536"/>
                <a:gd name="T18" fmla="*/ 0 60000 65536"/>
                <a:gd name="T19" fmla="*/ 0 60000 65536"/>
                <a:gd name="T20" fmla="*/ 0 60000 65536"/>
                <a:gd name="T21" fmla="*/ 0 w 102"/>
                <a:gd name="T22" fmla="*/ 0 h 1094"/>
                <a:gd name="T23" fmla="*/ 102 w 102"/>
                <a:gd name="T24" fmla="*/ 1094 h 10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2" h="1094">
                  <a:moveTo>
                    <a:pt x="0" y="0"/>
                  </a:moveTo>
                  <a:cubicBezTo>
                    <a:pt x="38" y="69"/>
                    <a:pt x="76" y="138"/>
                    <a:pt x="81" y="200"/>
                  </a:cubicBezTo>
                  <a:cubicBezTo>
                    <a:pt x="86" y="262"/>
                    <a:pt x="33" y="316"/>
                    <a:pt x="31" y="375"/>
                  </a:cubicBezTo>
                  <a:cubicBezTo>
                    <a:pt x="29" y="434"/>
                    <a:pt x="70" y="496"/>
                    <a:pt x="69" y="556"/>
                  </a:cubicBezTo>
                  <a:cubicBezTo>
                    <a:pt x="68" y="616"/>
                    <a:pt x="20" y="683"/>
                    <a:pt x="25" y="737"/>
                  </a:cubicBezTo>
                  <a:cubicBezTo>
                    <a:pt x="30" y="791"/>
                    <a:pt x="98" y="822"/>
                    <a:pt x="100" y="881"/>
                  </a:cubicBezTo>
                  <a:cubicBezTo>
                    <a:pt x="102" y="940"/>
                    <a:pt x="46" y="1060"/>
                    <a:pt x="37" y="1094"/>
                  </a:cubicBezTo>
                </a:path>
              </a:pathLst>
            </a:custGeom>
            <a:noFill/>
            <a:ln w="9525">
              <a:solidFill>
                <a:schemeClr val="tx1"/>
              </a:solidFill>
              <a:round/>
              <a:headEnd/>
              <a:tailEnd/>
            </a:ln>
          </p:spPr>
          <p:txBody>
            <a:bodyPr wrap="none" anchor="ctr"/>
            <a:lstStyle/>
            <a:p>
              <a:endParaRPr lang="en-GB"/>
            </a:p>
          </p:txBody>
        </p:sp>
        <p:sp>
          <p:nvSpPr>
            <p:cNvPr id="3177" name="Freeform 25"/>
            <p:cNvSpPr>
              <a:spLocks/>
            </p:cNvSpPr>
            <p:nvPr/>
          </p:nvSpPr>
          <p:spPr bwMode="auto">
            <a:xfrm flipH="1">
              <a:off x="3031" y="1481"/>
              <a:ext cx="102" cy="1094"/>
            </a:xfrm>
            <a:custGeom>
              <a:avLst/>
              <a:gdLst>
                <a:gd name="T0" fmla="*/ 0 w 102"/>
                <a:gd name="T1" fmla="*/ 0 h 1094"/>
                <a:gd name="T2" fmla="*/ 81 w 102"/>
                <a:gd name="T3" fmla="*/ 200 h 1094"/>
                <a:gd name="T4" fmla="*/ 31 w 102"/>
                <a:gd name="T5" fmla="*/ 375 h 1094"/>
                <a:gd name="T6" fmla="*/ 69 w 102"/>
                <a:gd name="T7" fmla="*/ 556 h 1094"/>
                <a:gd name="T8" fmla="*/ 25 w 102"/>
                <a:gd name="T9" fmla="*/ 737 h 1094"/>
                <a:gd name="T10" fmla="*/ 100 w 102"/>
                <a:gd name="T11" fmla="*/ 881 h 1094"/>
                <a:gd name="T12" fmla="*/ 37 w 102"/>
                <a:gd name="T13" fmla="*/ 1094 h 1094"/>
                <a:gd name="T14" fmla="*/ 0 60000 65536"/>
                <a:gd name="T15" fmla="*/ 0 60000 65536"/>
                <a:gd name="T16" fmla="*/ 0 60000 65536"/>
                <a:gd name="T17" fmla="*/ 0 60000 65536"/>
                <a:gd name="T18" fmla="*/ 0 60000 65536"/>
                <a:gd name="T19" fmla="*/ 0 60000 65536"/>
                <a:gd name="T20" fmla="*/ 0 60000 65536"/>
                <a:gd name="T21" fmla="*/ 0 w 102"/>
                <a:gd name="T22" fmla="*/ 0 h 1094"/>
                <a:gd name="T23" fmla="*/ 102 w 102"/>
                <a:gd name="T24" fmla="*/ 1094 h 10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2" h="1094">
                  <a:moveTo>
                    <a:pt x="0" y="0"/>
                  </a:moveTo>
                  <a:cubicBezTo>
                    <a:pt x="38" y="69"/>
                    <a:pt x="76" y="138"/>
                    <a:pt x="81" y="200"/>
                  </a:cubicBezTo>
                  <a:cubicBezTo>
                    <a:pt x="86" y="262"/>
                    <a:pt x="33" y="316"/>
                    <a:pt x="31" y="375"/>
                  </a:cubicBezTo>
                  <a:cubicBezTo>
                    <a:pt x="29" y="434"/>
                    <a:pt x="70" y="496"/>
                    <a:pt x="69" y="556"/>
                  </a:cubicBezTo>
                  <a:cubicBezTo>
                    <a:pt x="68" y="616"/>
                    <a:pt x="20" y="683"/>
                    <a:pt x="25" y="737"/>
                  </a:cubicBezTo>
                  <a:cubicBezTo>
                    <a:pt x="30" y="791"/>
                    <a:pt x="98" y="822"/>
                    <a:pt x="100" y="881"/>
                  </a:cubicBezTo>
                  <a:cubicBezTo>
                    <a:pt x="102" y="940"/>
                    <a:pt x="46" y="1060"/>
                    <a:pt x="37" y="1094"/>
                  </a:cubicBezTo>
                </a:path>
              </a:pathLst>
            </a:custGeom>
            <a:noFill/>
            <a:ln w="9525">
              <a:solidFill>
                <a:schemeClr val="tx1"/>
              </a:solidFill>
              <a:round/>
              <a:headEnd/>
              <a:tailEnd/>
            </a:ln>
          </p:spPr>
          <p:txBody>
            <a:bodyPr wrap="none" anchor="ctr"/>
            <a:lstStyle/>
            <a:p>
              <a:endParaRPr lang="en-GB"/>
            </a:p>
          </p:txBody>
        </p:sp>
      </p:grpSp>
      <p:grpSp>
        <p:nvGrpSpPr>
          <p:cNvPr id="9" name="Group 26"/>
          <p:cNvGrpSpPr>
            <a:grpSpLocks/>
          </p:cNvGrpSpPr>
          <p:nvPr/>
        </p:nvGrpSpPr>
        <p:grpSpPr bwMode="auto">
          <a:xfrm rot="16200000" flipV="1">
            <a:off x="3402807" y="5222081"/>
            <a:ext cx="74612" cy="479425"/>
            <a:chOff x="3025" y="1469"/>
            <a:chExt cx="108" cy="1106"/>
          </a:xfrm>
        </p:grpSpPr>
        <p:sp>
          <p:nvSpPr>
            <p:cNvPr id="3174" name="Freeform 27"/>
            <p:cNvSpPr>
              <a:spLocks/>
            </p:cNvSpPr>
            <p:nvPr/>
          </p:nvSpPr>
          <p:spPr bwMode="auto">
            <a:xfrm>
              <a:off x="3025" y="1469"/>
              <a:ext cx="102" cy="1094"/>
            </a:xfrm>
            <a:custGeom>
              <a:avLst/>
              <a:gdLst>
                <a:gd name="T0" fmla="*/ 0 w 102"/>
                <a:gd name="T1" fmla="*/ 0 h 1094"/>
                <a:gd name="T2" fmla="*/ 81 w 102"/>
                <a:gd name="T3" fmla="*/ 200 h 1094"/>
                <a:gd name="T4" fmla="*/ 31 w 102"/>
                <a:gd name="T5" fmla="*/ 375 h 1094"/>
                <a:gd name="T6" fmla="*/ 69 w 102"/>
                <a:gd name="T7" fmla="*/ 556 h 1094"/>
                <a:gd name="T8" fmla="*/ 25 w 102"/>
                <a:gd name="T9" fmla="*/ 737 h 1094"/>
                <a:gd name="T10" fmla="*/ 100 w 102"/>
                <a:gd name="T11" fmla="*/ 881 h 1094"/>
                <a:gd name="T12" fmla="*/ 37 w 102"/>
                <a:gd name="T13" fmla="*/ 1094 h 1094"/>
                <a:gd name="T14" fmla="*/ 0 60000 65536"/>
                <a:gd name="T15" fmla="*/ 0 60000 65536"/>
                <a:gd name="T16" fmla="*/ 0 60000 65536"/>
                <a:gd name="T17" fmla="*/ 0 60000 65536"/>
                <a:gd name="T18" fmla="*/ 0 60000 65536"/>
                <a:gd name="T19" fmla="*/ 0 60000 65536"/>
                <a:gd name="T20" fmla="*/ 0 60000 65536"/>
                <a:gd name="T21" fmla="*/ 0 w 102"/>
                <a:gd name="T22" fmla="*/ 0 h 1094"/>
                <a:gd name="T23" fmla="*/ 102 w 102"/>
                <a:gd name="T24" fmla="*/ 1094 h 10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2" h="1094">
                  <a:moveTo>
                    <a:pt x="0" y="0"/>
                  </a:moveTo>
                  <a:cubicBezTo>
                    <a:pt x="38" y="69"/>
                    <a:pt x="76" y="138"/>
                    <a:pt x="81" y="200"/>
                  </a:cubicBezTo>
                  <a:cubicBezTo>
                    <a:pt x="86" y="262"/>
                    <a:pt x="33" y="316"/>
                    <a:pt x="31" y="375"/>
                  </a:cubicBezTo>
                  <a:cubicBezTo>
                    <a:pt x="29" y="434"/>
                    <a:pt x="70" y="496"/>
                    <a:pt x="69" y="556"/>
                  </a:cubicBezTo>
                  <a:cubicBezTo>
                    <a:pt x="68" y="616"/>
                    <a:pt x="20" y="683"/>
                    <a:pt x="25" y="737"/>
                  </a:cubicBezTo>
                  <a:cubicBezTo>
                    <a:pt x="30" y="791"/>
                    <a:pt x="98" y="822"/>
                    <a:pt x="100" y="881"/>
                  </a:cubicBezTo>
                  <a:cubicBezTo>
                    <a:pt x="102" y="940"/>
                    <a:pt x="46" y="1060"/>
                    <a:pt x="37" y="1094"/>
                  </a:cubicBezTo>
                </a:path>
              </a:pathLst>
            </a:custGeom>
            <a:noFill/>
            <a:ln w="9525">
              <a:solidFill>
                <a:schemeClr val="tx1"/>
              </a:solidFill>
              <a:round/>
              <a:headEnd/>
              <a:tailEnd/>
            </a:ln>
          </p:spPr>
          <p:txBody>
            <a:bodyPr wrap="none" anchor="ctr"/>
            <a:lstStyle/>
            <a:p>
              <a:endParaRPr lang="en-GB"/>
            </a:p>
          </p:txBody>
        </p:sp>
        <p:sp>
          <p:nvSpPr>
            <p:cNvPr id="3175" name="Freeform 28"/>
            <p:cNvSpPr>
              <a:spLocks/>
            </p:cNvSpPr>
            <p:nvPr/>
          </p:nvSpPr>
          <p:spPr bwMode="auto">
            <a:xfrm flipH="1">
              <a:off x="3031" y="1481"/>
              <a:ext cx="102" cy="1094"/>
            </a:xfrm>
            <a:custGeom>
              <a:avLst/>
              <a:gdLst>
                <a:gd name="T0" fmla="*/ 0 w 102"/>
                <a:gd name="T1" fmla="*/ 0 h 1094"/>
                <a:gd name="T2" fmla="*/ 81 w 102"/>
                <a:gd name="T3" fmla="*/ 200 h 1094"/>
                <a:gd name="T4" fmla="*/ 31 w 102"/>
                <a:gd name="T5" fmla="*/ 375 h 1094"/>
                <a:gd name="T6" fmla="*/ 69 w 102"/>
                <a:gd name="T7" fmla="*/ 556 h 1094"/>
                <a:gd name="T8" fmla="*/ 25 w 102"/>
                <a:gd name="T9" fmla="*/ 737 h 1094"/>
                <a:gd name="T10" fmla="*/ 100 w 102"/>
                <a:gd name="T11" fmla="*/ 881 h 1094"/>
                <a:gd name="T12" fmla="*/ 37 w 102"/>
                <a:gd name="T13" fmla="*/ 1094 h 1094"/>
                <a:gd name="T14" fmla="*/ 0 60000 65536"/>
                <a:gd name="T15" fmla="*/ 0 60000 65536"/>
                <a:gd name="T16" fmla="*/ 0 60000 65536"/>
                <a:gd name="T17" fmla="*/ 0 60000 65536"/>
                <a:gd name="T18" fmla="*/ 0 60000 65536"/>
                <a:gd name="T19" fmla="*/ 0 60000 65536"/>
                <a:gd name="T20" fmla="*/ 0 60000 65536"/>
                <a:gd name="T21" fmla="*/ 0 w 102"/>
                <a:gd name="T22" fmla="*/ 0 h 1094"/>
                <a:gd name="T23" fmla="*/ 102 w 102"/>
                <a:gd name="T24" fmla="*/ 1094 h 10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2" h="1094">
                  <a:moveTo>
                    <a:pt x="0" y="0"/>
                  </a:moveTo>
                  <a:cubicBezTo>
                    <a:pt x="38" y="69"/>
                    <a:pt x="76" y="138"/>
                    <a:pt x="81" y="200"/>
                  </a:cubicBezTo>
                  <a:cubicBezTo>
                    <a:pt x="86" y="262"/>
                    <a:pt x="33" y="316"/>
                    <a:pt x="31" y="375"/>
                  </a:cubicBezTo>
                  <a:cubicBezTo>
                    <a:pt x="29" y="434"/>
                    <a:pt x="70" y="496"/>
                    <a:pt x="69" y="556"/>
                  </a:cubicBezTo>
                  <a:cubicBezTo>
                    <a:pt x="68" y="616"/>
                    <a:pt x="20" y="683"/>
                    <a:pt x="25" y="737"/>
                  </a:cubicBezTo>
                  <a:cubicBezTo>
                    <a:pt x="30" y="791"/>
                    <a:pt x="98" y="822"/>
                    <a:pt x="100" y="881"/>
                  </a:cubicBezTo>
                  <a:cubicBezTo>
                    <a:pt x="102" y="940"/>
                    <a:pt x="46" y="1060"/>
                    <a:pt x="37" y="1094"/>
                  </a:cubicBezTo>
                </a:path>
              </a:pathLst>
            </a:custGeom>
            <a:noFill/>
            <a:ln w="9525">
              <a:solidFill>
                <a:schemeClr val="tx1"/>
              </a:solidFill>
              <a:round/>
              <a:headEnd/>
              <a:tailEnd/>
            </a:ln>
          </p:spPr>
          <p:txBody>
            <a:bodyPr wrap="none" anchor="ctr"/>
            <a:lstStyle/>
            <a:p>
              <a:endParaRPr lang="en-GB"/>
            </a:p>
          </p:txBody>
        </p:sp>
      </p:grpSp>
      <p:grpSp>
        <p:nvGrpSpPr>
          <p:cNvPr id="10" name="Group 29"/>
          <p:cNvGrpSpPr>
            <a:grpSpLocks/>
          </p:cNvGrpSpPr>
          <p:nvPr/>
        </p:nvGrpSpPr>
        <p:grpSpPr bwMode="auto">
          <a:xfrm rot="16200000" flipV="1">
            <a:off x="3407568" y="5380832"/>
            <a:ext cx="74613" cy="469900"/>
            <a:chOff x="3025" y="1469"/>
            <a:chExt cx="108" cy="1106"/>
          </a:xfrm>
        </p:grpSpPr>
        <p:sp>
          <p:nvSpPr>
            <p:cNvPr id="3172" name="Freeform 30"/>
            <p:cNvSpPr>
              <a:spLocks/>
            </p:cNvSpPr>
            <p:nvPr/>
          </p:nvSpPr>
          <p:spPr bwMode="auto">
            <a:xfrm>
              <a:off x="3025" y="1469"/>
              <a:ext cx="102" cy="1094"/>
            </a:xfrm>
            <a:custGeom>
              <a:avLst/>
              <a:gdLst>
                <a:gd name="T0" fmla="*/ 0 w 102"/>
                <a:gd name="T1" fmla="*/ 0 h 1094"/>
                <a:gd name="T2" fmla="*/ 81 w 102"/>
                <a:gd name="T3" fmla="*/ 200 h 1094"/>
                <a:gd name="T4" fmla="*/ 31 w 102"/>
                <a:gd name="T5" fmla="*/ 375 h 1094"/>
                <a:gd name="T6" fmla="*/ 69 w 102"/>
                <a:gd name="T7" fmla="*/ 556 h 1094"/>
                <a:gd name="T8" fmla="*/ 25 w 102"/>
                <a:gd name="T9" fmla="*/ 737 h 1094"/>
                <a:gd name="T10" fmla="*/ 100 w 102"/>
                <a:gd name="T11" fmla="*/ 881 h 1094"/>
                <a:gd name="T12" fmla="*/ 37 w 102"/>
                <a:gd name="T13" fmla="*/ 1094 h 1094"/>
                <a:gd name="T14" fmla="*/ 0 60000 65536"/>
                <a:gd name="T15" fmla="*/ 0 60000 65536"/>
                <a:gd name="T16" fmla="*/ 0 60000 65536"/>
                <a:gd name="T17" fmla="*/ 0 60000 65536"/>
                <a:gd name="T18" fmla="*/ 0 60000 65536"/>
                <a:gd name="T19" fmla="*/ 0 60000 65536"/>
                <a:gd name="T20" fmla="*/ 0 60000 65536"/>
                <a:gd name="T21" fmla="*/ 0 w 102"/>
                <a:gd name="T22" fmla="*/ 0 h 1094"/>
                <a:gd name="T23" fmla="*/ 102 w 102"/>
                <a:gd name="T24" fmla="*/ 1094 h 10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2" h="1094">
                  <a:moveTo>
                    <a:pt x="0" y="0"/>
                  </a:moveTo>
                  <a:cubicBezTo>
                    <a:pt x="38" y="69"/>
                    <a:pt x="76" y="138"/>
                    <a:pt x="81" y="200"/>
                  </a:cubicBezTo>
                  <a:cubicBezTo>
                    <a:pt x="86" y="262"/>
                    <a:pt x="33" y="316"/>
                    <a:pt x="31" y="375"/>
                  </a:cubicBezTo>
                  <a:cubicBezTo>
                    <a:pt x="29" y="434"/>
                    <a:pt x="70" y="496"/>
                    <a:pt x="69" y="556"/>
                  </a:cubicBezTo>
                  <a:cubicBezTo>
                    <a:pt x="68" y="616"/>
                    <a:pt x="20" y="683"/>
                    <a:pt x="25" y="737"/>
                  </a:cubicBezTo>
                  <a:cubicBezTo>
                    <a:pt x="30" y="791"/>
                    <a:pt x="98" y="822"/>
                    <a:pt x="100" y="881"/>
                  </a:cubicBezTo>
                  <a:cubicBezTo>
                    <a:pt x="102" y="940"/>
                    <a:pt x="46" y="1060"/>
                    <a:pt x="37" y="1094"/>
                  </a:cubicBezTo>
                </a:path>
              </a:pathLst>
            </a:custGeom>
            <a:noFill/>
            <a:ln w="9525">
              <a:solidFill>
                <a:schemeClr val="tx1"/>
              </a:solidFill>
              <a:round/>
              <a:headEnd/>
              <a:tailEnd/>
            </a:ln>
          </p:spPr>
          <p:txBody>
            <a:bodyPr wrap="none" anchor="ctr"/>
            <a:lstStyle/>
            <a:p>
              <a:endParaRPr lang="en-GB"/>
            </a:p>
          </p:txBody>
        </p:sp>
        <p:sp>
          <p:nvSpPr>
            <p:cNvPr id="3173" name="Freeform 31"/>
            <p:cNvSpPr>
              <a:spLocks/>
            </p:cNvSpPr>
            <p:nvPr/>
          </p:nvSpPr>
          <p:spPr bwMode="auto">
            <a:xfrm flipH="1">
              <a:off x="3031" y="1481"/>
              <a:ext cx="102" cy="1094"/>
            </a:xfrm>
            <a:custGeom>
              <a:avLst/>
              <a:gdLst>
                <a:gd name="T0" fmla="*/ 0 w 102"/>
                <a:gd name="T1" fmla="*/ 0 h 1094"/>
                <a:gd name="T2" fmla="*/ 81 w 102"/>
                <a:gd name="T3" fmla="*/ 200 h 1094"/>
                <a:gd name="T4" fmla="*/ 31 w 102"/>
                <a:gd name="T5" fmla="*/ 375 h 1094"/>
                <a:gd name="T6" fmla="*/ 69 w 102"/>
                <a:gd name="T7" fmla="*/ 556 h 1094"/>
                <a:gd name="T8" fmla="*/ 25 w 102"/>
                <a:gd name="T9" fmla="*/ 737 h 1094"/>
                <a:gd name="T10" fmla="*/ 100 w 102"/>
                <a:gd name="T11" fmla="*/ 881 h 1094"/>
                <a:gd name="T12" fmla="*/ 37 w 102"/>
                <a:gd name="T13" fmla="*/ 1094 h 1094"/>
                <a:gd name="T14" fmla="*/ 0 60000 65536"/>
                <a:gd name="T15" fmla="*/ 0 60000 65536"/>
                <a:gd name="T16" fmla="*/ 0 60000 65536"/>
                <a:gd name="T17" fmla="*/ 0 60000 65536"/>
                <a:gd name="T18" fmla="*/ 0 60000 65536"/>
                <a:gd name="T19" fmla="*/ 0 60000 65536"/>
                <a:gd name="T20" fmla="*/ 0 60000 65536"/>
                <a:gd name="T21" fmla="*/ 0 w 102"/>
                <a:gd name="T22" fmla="*/ 0 h 1094"/>
                <a:gd name="T23" fmla="*/ 102 w 102"/>
                <a:gd name="T24" fmla="*/ 1094 h 10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2" h="1094">
                  <a:moveTo>
                    <a:pt x="0" y="0"/>
                  </a:moveTo>
                  <a:cubicBezTo>
                    <a:pt x="38" y="69"/>
                    <a:pt x="76" y="138"/>
                    <a:pt x="81" y="200"/>
                  </a:cubicBezTo>
                  <a:cubicBezTo>
                    <a:pt x="86" y="262"/>
                    <a:pt x="33" y="316"/>
                    <a:pt x="31" y="375"/>
                  </a:cubicBezTo>
                  <a:cubicBezTo>
                    <a:pt x="29" y="434"/>
                    <a:pt x="70" y="496"/>
                    <a:pt x="69" y="556"/>
                  </a:cubicBezTo>
                  <a:cubicBezTo>
                    <a:pt x="68" y="616"/>
                    <a:pt x="20" y="683"/>
                    <a:pt x="25" y="737"/>
                  </a:cubicBezTo>
                  <a:cubicBezTo>
                    <a:pt x="30" y="791"/>
                    <a:pt x="98" y="822"/>
                    <a:pt x="100" y="881"/>
                  </a:cubicBezTo>
                  <a:cubicBezTo>
                    <a:pt x="102" y="940"/>
                    <a:pt x="46" y="1060"/>
                    <a:pt x="37" y="1094"/>
                  </a:cubicBezTo>
                </a:path>
              </a:pathLst>
            </a:custGeom>
            <a:noFill/>
            <a:ln w="9525">
              <a:solidFill>
                <a:schemeClr val="tx1"/>
              </a:solidFill>
              <a:round/>
              <a:headEnd/>
              <a:tailEnd/>
            </a:ln>
          </p:spPr>
          <p:txBody>
            <a:bodyPr wrap="none" anchor="ctr"/>
            <a:lstStyle/>
            <a:p>
              <a:endParaRPr lang="en-GB"/>
            </a:p>
          </p:txBody>
        </p:sp>
      </p:grpSp>
      <p:grpSp>
        <p:nvGrpSpPr>
          <p:cNvPr id="11" name="Group 32"/>
          <p:cNvGrpSpPr>
            <a:grpSpLocks/>
          </p:cNvGrpSpPr>
          <p:nvPr/>
        </p:nvGrpSpPr>
        <p:grpSpPr bwMode="auto">
          <a:xfrm rot="16200000" flipV="1">
            <a:off x="3286125" y="5357813"/>
            <a:ext cx="39688" cy="747712"/>
            <a:chOff x="3025" y="1469"/>
            <a:chExt cx="108" cy="1106"/>
          </a:xfrm>
        </p:grpSpPr>
        <p:sp>
          <p:nvSpPr>
            <p:cNvPr id="3170" name="Freeform 33"/>
            <p:cNvSpPr>
              <a:spLocks/>
            </p:cNvSpPr>
            <p:nvPr/>
          </p:nvSpPr>
          <p:spPr bwMode="auto">
            <a:xfrm>
              <a:off x="3025" y="1469"/>
              <a:ext cx="102" cy="1094"/>
            </a:xfrm>
            <a:custGeom>
              <a:avLst/>
              <a:gdLst>
                <a:gd name="T0" fmla="*/ 0 w 102"/>
                <a:gd name="T1" fmla="*/ 0 h 1094"/>
                <a:gd name="T2" fmla="*/ 81 w 102"/>
                <a:gd name="T3" fmla="*/ 200 h 1094"/>
                <a:gd name="T4" fmla="*/ 31 w 102"/>
                <a:gd name="T5" fmla="*/ 375 h 1094"/>
                <a:gd name="T6" fmla="*/ 69 w 102"/>
                <a:gd name="T7" fmla="*/ 556 h 1094"/>
                <a:gd name="T8" fmla="*/ 25 w 102"/>
                <a:gd name="T9" fmla="*/ 737 h 1094"/>
                <a:gd name="T10" fmla="*/ 100 w 102"/>
                <a:gd name="T11" fmla="*/ 881 h 1094"/>
                <a:gd name="T12" fmla="*/ 37 w 102"/>
                <a:gd name="T13" fmla="*/ 1094 h 1094"/>
                <a:gd name="T14" fmla="*/ 0 60000 65536"/>
                <a:gd name="T15" fmla="*/ 0 60000 65536"/>
                <a:gd name="T16" fmla="*/ 0 60000 65536"/>
                <a:gd name="T17" fmla="*/ 0 60000 65536"/>
                <a:gd name="T18" fmla="*/ 0 60000 65536"/>
                <a:gd name="T19" fmla="*/ 0 60000 65536"/>
                <a:gd name="T20" fmla="*/ 0 60000 65536"/>
                <a:gd name="T21" fmla="*/ 0 w 102"/>
                <a:gd name="T22" fmla="*/ 0 h 1094"/>
                <a:gd name="T23" fmla="*/ 102 w 102"/>
                <a:gd name="T24" fmla="*/ 1094 h 10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2" h="1094">
                  <a:moveTo>
                    <a:pt x="0" y="0"/>
                  </a:moveTo>
                  <a:cubicBezTo>
                    <a:pt x="38" y="69"/>
                    <a:pt x="76" y="138"/>
                    <a:pt x="81" y="200"/>
                  </a:cubicBezTo>
                  <a:cubicBezTo>
                    <a:pt x="86" y="262"/>
                    <a:pt x="33" y="316"/>
                    <a:pt x="31" y="375"/>
                  </a:cubicBezTo>
                  <a:cubicBezTo>
                    <a:pt x="29" y="434"/>
                    <a:pt x="70" y="496"/>
                    <a:pt x="69" y="556"/>
                  </a:cubicBezTo>
                  <a:cubicBezTo>
                    <a:pt x="68" y="616"/>
                    <a:pt x="20" y="683"/>
                    <a:pt x="25" y="737"/>
                  </a:cubicBezTo>
                  <a:cubicBezTo>
                    <a:pt x="30" y="791"/>
                    <a:pt x="98" y="822"/>
                    <a:pt x="100" y="881"/>
                  </a:cubicBezTo>
                  <a:cubicBezTo>
                    <a:pt x="102" y="940"/>
                    <a:pt x="46" y="1060"/>
                    <a:pt x="37" y="1094"/>
                  </a:cubicBezTo>
                </a:path>
              </a:pathLst>
            </a:custGeom>
            <a:noFill/>
            <a:ln w="9525">
              <a:solidFill>
                <a:schemeClr val="tx1"/>
              </a:solidFill>
              <a:round/>
              <a:headEnd/>
              <a:tailEnd/>
            </a:ln>
          </p:spPr>
          <p:txBody>
            <a:bodyPr wrap="none" anchor="ctr"/>
            <a:lstStyle/>
            <a:p>
              <a:endParaRPr lang="en-GB"/>
            </a:p>
          </p:txBody>
        </p:sp>
        <p:sp>
          <p:nvSpPr>
            <p:cNvPr id="3171" name="Freeform 34"/>
            <p:cNvSpPr>
              <a:spLocks/>
            </p:cNvSpPr>
            <p:nvPr/>
          </p:nvSpPr>
          <p:spPr bwMode="auto">
            <a:xfrm flipH="1">
              <a:off x="3031" y="1481"/>
              <a:ext cx="102" cy="1094"/>
            </a:xfrm>
            <a:custGeom>
              <a:avLst/>
              <a:gdLst>
                <a:gd name="T0" fmla="*/ 0 w 102"/>
                <a:gd name="T1" fmla="*/ 0 h 1094"/>
                <a:gd name="T2" fmla="*/ 81 w 102"/>
                <a:gd name="T3" fmla="*/ 200 h 1094"/>
                <a:gd name="T4" fmla="*/ 31 w 102"/>
                <a:gd name="T5" fmla="*/ 375 h 1094"/>
                <a:gd name="T6" fmla="*/ 69 w 102"/>
                <a:gd name="T7" fmla="*/ 556 h 1094"/>
                <a:gd name="T8" fmla="*/ 25 w 102"/>
                <a:gd name="T9" fmla="*/ 737 h 1094"/>
                <a:gd name="T10" fmla="*/ 100 w 102"/>
                <a:gd name="T11" fmla="*/ 881 h 1094"/>
                <a:gd name="T12" fmla="*/ 37 w 102"/>
                <a:gd name="T13" fmla="*/ 1094 h 1094"/>
                <a:gd name="T14" fmla="*/ 0 60000 65536"/>
                <a:gd name="T15" fmla="*/ 0 60000 65536"/>
                <a:gd name="T16" fmla="*/ 0 60000 65536"/>
                <a:gd name="T17" fmla="*/ 0 60000 65536"/>
                <a:gd name="T18" fmla="*/ 0 60000 65536"/>
                <a:gd name="T19" fmla="*/ 0 60000 65536"/>
                <a:gd name="T20" fmla="*/ 0 60000 65536"/>
                <a:gd name="T21" fmla="*/ 0 w 102"/>
                <a:gd name="T22" fmla="*/ 0 h 1094"/>
                <a:gd name="T23" fmla="*/ 102 w 102"/>
                <a:gd name="T24" fmla="*/ 1094 h 10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2" h="1094">
                  <a:moveTo>
                    <a:pt x="0" y="0"/>
                  </a:moveTo>
                  <a:cubicBezTo>
                    <a:pt x="38" y="69"/>
                    <a:pt x="76" y="138"/>
                    <a:pt x="81" y="200"/>
                  </a:cubicBezTo>
                  <a:cubicBezTo>
                    <a:pt x="86" y="262"/>
                    <a:pt x="33" y="316"/>
                    <a:pt x="31" y="375"/>
                  </a:cubicBezTo>
                  <a:cubicBezTo>
                    <a:pt x="29" y="434"/>
                    <a:pt x="70" y="496"/>
                    <a:pt x="69" y="556"/>
                  </a:cubicBezTo>
                  <a:cubicBezTo>
                    <a:pt x="68" y="616"/>
                    <a:pt x="20" y="683"/>
                    <a:pt x="25" y="737"/>
                  </a:cubicBezTo>
                  <a:cubicBezTo>
                    <a:pt x="30" y="791"/>
                    <a:pt x="98" y="822"/>
                    <a:pt x="100" y="881"/>
                  </a:cubicBezTo>
                  <a:cubicBezTo>
                    <a:pt x="102" y="940"/>
                    <a:pt x="46" y="1060"/>
                    <a:pt x="37" y="1094"/>
                  </a:cubicBezTo>
                </a:path>
              </a:pathLst>
            </a:custGeom>
            <a:noFill/>
            <a:ln w="9525">
              <a:solidFill>
                <a:schemeClr val="tx1"/>
              </a:solidFill>
              <a:round/>
              <a:headEnd/>
              <a:tailEnd/>
            </a:ln>
          </p:spPr>
          <p:txBody>
            <a:bodyPr wrap="none" anchor="ctr"/>
            <a:lstStyle/>
            <a:p>
              <a:endParaRPr lang="en-GB"/>
            </a:p>
          </p:txBody>
        </p:sp>
      </p:grpSp>
      <p:grpSp>
        <p:nvGrpSpPr>
          <p:cNvPr id="12" name="Group 35"/>
          <p:cNvGrpSpPr>
            <a:grpSpLocks/>
          </p:cNvGrpSpPr>
          <p:nvPr/>
        </p:nvGrpSpPr>
        <p:grpSpPr bwMode="auto">
          <a:xfrm rot="16200000" flipV="1">
            <a:off x="4598988" y="5156200"/>
            <a:ext cx="39687" cy="747713"/>
            <a:chOff x="3025" y="1469"/>
            <a:chExt cx="108" cy="1106"/>
          </a:xfrm>
        </p:grpSpPr>
        <p:sp>
          <p:nvSpPr>
            <p:cNvPr id="3168" name="Freeform 36"/>
            <p:cNvSpPr>
              <a:spLocks/>
            </p:cNvSpPr>
            <p:nvPr/>
          </p:nvSpPr>
          <p:spPr bwMode="auto">
            <a:xfrm>
              <a:off x="3025" y="1469"/>
              <a:ext cx="102" cy="1094"/>
            </a:xfrm>
            <a:custGeom>
              <a:avLst/>
              <a:gdLst>
                <a:gd name="T0" fmla="*/ 0 w 102"/>
                <a:gd name="T1" fmla="*/ 0 h 1094"/>
                <a:gd name="T2" fmla="*/ 81 w 102"/>
                <a:gd name="T3" fmla="*/ 200 h 1094"/>
                <a:gd name="T4" fmla="*/ 31 w 102"/>
                <a:gd name="T5" fmla="*/ 375 h 1094"/>
                <a:gd name="T6" fmla="*/ 69 w 102"/>
                <a:gd name="T7" fmla="*/ 556 h 1094"/>
                <a:gd name="T8" fmla="*/ 25 w 102"/>
                <a:gd name="T9" fmla="*/ 737 h 1094"/>
                <a:gd name="T10" fmla="*/ 100 w 102"/>
                <a:gd name="T11" fmla="*/ 881 h 1094"/>
                <a:gd name="T12" fmla="*/ 37 w 102"/>
                <a:gd name="T13" fmla="*/ 1094 h 1094"/>
                <a:gd name="T14" fmla="*/ 0 60000 65536"/>
                <a:gd name="T15" fmla="*/ 0 60000 65536"/>
                <a:gd name="T16" fmla="*/ 0 60000 65536"/>
                <a:gd name="T17" fmla="*/ 0 60000 65536"/>
                <a:gd name="T18" fmla="*/ 0 60000 65536"/>
                <a:gd name="T19" fmla="*/ 0 60000 65536"/>
                <a:gd name="T20" fmla="*/ 0 60000 65536"/>
                <a:gd name="T21" fmla="*/ 0 w 102"/>
                <a:gd name="T22" fmla="*/ 0 h 1094"/>
                <a:gd name="T23" fmla="*/ 102 w 102"/>
                <a:gd name="T24" fmla="*/ 1094 h 10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2" h="1094">
                  <a:moveTo>
                    <a:pt x="0" y="0"/>
                  </a:moveTo>
                  <a:cubicBezTo>
                    <a:pt x="38" y="69"/>
                    <a:pt x="76" y="138"/>
                    <a:pt x="81" y="200"/>
                  </a:cubicBezTo>
                  <a:cubicBezTo>
                    <a:pt x="86" y="262"/>
                    <a:pt x="33" y="316"/>
                    <a:pt x="31" y="375"/>
                  </a:cubicBezTo>
                  <a:cubicBezTo>
                    <a:pt x="29" y="434"/>
                    <a:pt x="70" y="496"/>
                    <a:pt x="69" y="556"/>
                  </a:cubicBezTo>
                  <a:cubicBezTo>
                    <a:pt x="68" y="616"/>
                    <a:pt x="20" y="683"/>
                    <a:pt x="25" y="737"/>
                  </a:cubicBezTo>
                  <a:cubicBezTo>
                    <a:pt x="30" y="791"/>
                    <a:pt x="98" y="822"/>
                    <a:pt x="100" y="881"/>
                  </a:cubicBezTo>
                  <a:cubicBezTo>
                    <a:pt x="102" y="940"/>
                    <a:pt x="46" y="1060"/>
                    <a:pt x="37" y="1094"/>
                  </a:cubicBezTo>
                </a:path>
              </a:pathLst>
            </a:custGeom>
            <a:noFill/>
            <a:ln w="9525">
              <a:solidFill>
                <a:schemeClr val="tx1"/>
              </a:solidFill>
              <a:round/>
              <a:headEnd/>
              <a:tailEnd/>
            </a:ln>
          </p:spPr>
          <p:txBody>
            <a:bodyPr wrap="none" anchor="ctr"/>
            <a:lstStyle/>
            <a:p>
              <a:endParaRPr lang="en-GB"/>
            </a:p>
          </p:txBody>
        </p:sp>
        <p:sp>
          <p:nvSpPr>
            <p:cNvPr id="3169" name="Freeform 37"/>
            <p:cNvSpPr>
              <a:spLocks/>
            </p:cNvSpPr>
            <p:nvPr/>
          </p:nvSpPr>
          <p:spPr bwMode="auto">
            <a:xfrm flipH="1">
              <a:off x="3031" y="1481"/>
              <a:ext cx="102" cy="1094"/>
            </a:xfrm>
            <a:custGeom>
              <a:avLst/>
              <a:gdLst>
                <a:gd name="T0" fmla="*/ 0 w 102"/>
                <a:gd name="T1" fmla="*/ 0 h 1094"/>
                <a:gd name="T2" fmla="*/ 81 w 102"/>
                <a:gd name="T3" fmla="*/ 200 h 1094"/>
                <a:gd name="T4" fmla="*/ 31 w 102"/>
                <a:gd name="T5" fmla="*/ 375 h 1094"/>
                <a:gd name="T6" fmla="*/ 69 w 102"/>
                <a:gd name="T7" fmla="*/ 556 h 1094"/>
                <a:gd name="T8" fmla="*/ 25 w 102"/>
                <a:gd name="T9" fmla="*/ 737 h 1094"/>
                <a:gd name="T10" fmla="*/ 100 w 102"/>
                <a:gd name="T11" fmla="*/ 881 h 1094"/>
                <a:gd name="T12" fmla="*/ 37 w 102"/>
                <a:gd name="T13" fmla="*/ 1094 h 1094"/>
                <a:gd name="T14" fmla="*/ 0 60000 65536"/>
                <a:gd name="T15" fmla="*/ 0 60000 65536"/>
                <a:gd name="T16" fmla="*/ 0 60000 65536"/>
                <a:gd name="T17" fmla="*/ 0 60000 65536"/>
                <a:gd name="T18" fmla="*/ 0 60000 65536"/>
                <a:gd name="T19" fmla="*/ 0 60000 65536"/>
                <a:gd name="T20" fmla="*/ 0 60000 65536"/>
                <a:gd name="T21" fmla="*/ 0 w 102"/>
                <a:gd name="T22" fmla="*/ 0 h 1094"/>
                <a:gd name="T23" fmla="*/ 102 w 102"/>
                <a:gd name="T24" fmla="*/ 1094 h 10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2" h="1094">
                  <a:moveTo>
                    <a:pt x="0" y="0"/>
                  </a:moveTo>
                  <a:cubicBezTo>
                    <a:pt x="38" y="69"/>
                    <a:pt x="76" y="138"/>
                    <a:pt x="81" y="200"/>
                  </a:cubicBezTo>
                  <a:cubicBezTo>
                    <a:pt x="86" y="262"/>
                    <a:pt x="33" y="316"/>
                    <a:pt x="31" y="375"/>
                  </a:cubicBezTo>
                  <a:cubicBezTo>
                    <a:pt x="29" y="434"/>
                    <a:pt x="70" y="496"/>
                    <a:pt x="69" y="556"/>
                  </a:cubicBezTo>
                  <a:cubicBezTo>
                    <a:pt x="68" y="616"/>
                    <a:pt x="20" y="683"/>
                    <a:pt x="25" y="737"/>
                  </a:cubicBezTo>
                  <a:cubicBezTo>
                    <a:pt x="30" y="791"/>
                    <a:pt x="98" y="822"/>
                    <a:pt x="100" y="881"/>
                  </a:cubicBezTo>
                  <a:cubicBezTo>
                    <a:pt x="102" y="940"/>
                    <a:pt x="46" y="1060"/>
                    <a:pt x="37" y="1094"/>
                  </a:cubicBezTo>
                </a:path>
              </a:pathLst>
            </a:custGeom>
            <a:noFill/>
            <a:ln w="9525">
              <a:solidFill>
                <a:schemeClr val="tx1"/>
              </a:solidFill>
              <a:round/>
              <a:headEnd/>
              <a:tailEnd/>
            </a:ln>
          </p:spPr>
          <p:txBody>
            <a:bodyPr wrap="none" anchor="ctr"/>
            <a:lstStyle/>
            <a:p>
              <a:endParaRPr lang="en-GB"/>
            </a:p>
          </p:txBody>
        </p:sp>
      </p:grpSp>
      <p:grpSp>
        <p:nvGrpSpPr>
          <p:cNvPr id="13" name="Group 38"/>
          <p:cNvGrpSpPr>
            <a:grpSpLocks/>
          </p:cNvGrpSpPr>
          <p:nvPr/>
        </p:nvGrpSpPr>
        <p:grpSpPr bwMode="auto">
          <a:xfrm rot="16200000" flipV="1">
            <a:off x="3279775" y="5468938"/>
            <a:ext cx="39688" cy="747712"/>
            <a:chOff x="3025" y="1469"/>
            <a:chExt cx="108" cy="1106"/>
          </a:xfrm>
        </p:grpSpPr>
        <p:sp>
          <p:nvSpPr>
            <p:cNvPr id="3166" name="Freeform 39"/>
            <p:cNvSpPr>
              <a:spLocks/>
            </p:cNvSpPr>
            <p:nvPr/>
          </p:nvSpPr>
          <p:spPr bwMode="auto">
            <a:xfrm>
              <a:off x="3025" y="1469"/>
              <a:ext cx="102" cy="1094"/>
            </a:xfrm>
            <a:custGeom>
              <a:avLst/>
              <a:gdLst>
                <a:gd name="T0" fmla="*/ 0 w 102"/>
                <a:gd name="T1" fmla="*/ 0 h 1094"/>
                <a:gd name="T2" fmla="*/ 81 w 102"/>
                <a:gd name="T3" fmla="*/ 200 h 1094"/>
                <a:gd name="T4" fmla="*/ 31 w 102"/>
                <a:gd name="T5" fmla="*/ 375 h 1094"/>
                <a:gd name="T6" fmla="*/ 69 w 102"/>
                <a:gd name="T7" fmla="*/ 556 h 1094"/>
                <a:gd name="T8" fmla="*/ 25 w 102"/>
                <a:gd name="T9" fmla="*/ 737 h 1094"/>
                <a:gd name="T10" fmla="*/ 100 w 102"/>
                <a:gd name="T11" fmla="*/ 881 h 1094"/>
                <a:gd name="T12" fmla="*/ 37 w 102"/>
                <a:gd name="T13" fmla="*/ 1094 h 1094"/>
                <a:gd name="T14" fmla="*/ 0 60000 65536"/>
                <a:gd name="T15" fmla="*/ 0 60000 65536"/>
                <a:gd name="T16" fmla="*/ 0 60000 65536"/>
                <a:gd name="T17" fmla="*/ 0 60000 65536"/>
                <a:gd name="T18" fmla="*/ 0 60000 65536"/>
                <a:gd name="T19" fmla="*/ 0 60000 65536"/>
                <a:gd name="T20" fmla="*/ 0 60000 65536"/>
                <a:gd name="T21" fmla="*/ 0 w 102"/>
                <a:gd name="T22" fmla="*/ 0 h 1094"/>
                <a:gd name="T23" fmla="*/ 102 w 102"/>
                <a:gd name="T24" fmla="*/ 1094 h 10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2" h="1094">
                  <a:moveTo>
                    <a:pt x="0" y="0"/>
                  </a:moveTo>
                  <a:cubicBezTo>
                    <a:pt x="38" y="69"/>
                    <a:pt x="76" y="138"/>
                    <a:pt x="81" y="200"/>
                  </a:cubicBezTo>
                  <a:cubicBezTo>
                    <a:pt x="86" y="262"/>
                    <a:pt x="33" y="316"/>
                    <a:pt x="31" y="375"/>
                  </a:cubicBezTo>
                  <a:cubicBezTo>
                    <a:pt x="29" y="434"/>
                    <a:pt x="70" y="496"/>
                    <a:pt x="69" y="556"/>
                  </a:cubicBezTo>
                  <a:cubicBezTo>
                    <a:pt x="68" y="616"/>
                    <a:pt x="20" y="683"/>
                    <a:pt x="25" y="737"/>
                  </a:cubicBezTo>
                  <a:cubicBezTo>
                    <a:pt x="30" y="791"/>
                    <a:pt x="98" y="822"/>
                    <a:pt x="100" y="881"/>
                  </a:cubicBezTo>
                  <a:cubicBezTo>
                    <a:pt x="102" y="940"/>
                    <a:pt x="46" y="1060"/>
                    <a:pt x="37" y="1094"/>
                  </a:cubicBezTo>
                </a:path>
              </a:pathLst>
            </a:custGeom>
            <a:noFill/>
            <a:ln w="9525">
              <a:solidFill>
                <a:schemeClr val="tx1"/>
              </a:solidFill>
              <a:round/>
              <a:headEnd/>
              <a:tailEnd/>
            </a:ln>
          </p:spPr>
          <p:txBody>
            <a:bodyPr wrap="none" anchor="ctr"/>
            <a:lstStyle/>
            <a:p>
              <a:endParaRPr lang="en-GB"/>
            </a:p>
          </p:txBody>
        </p:sp>
        <p:sp>
          <p:nvSpPr>
            <p:cNvPr id="3167" name="Freeform 40"/>
            <p:cNvSpPr>
              <a:spLocks/>
            </p:cNvSpPr>
            <p:nvPr/>
          </p:nvSpPr>
          <p:spPr bwMode="auto">
            <a:xfrm flipH="1">
              <a:off x="3031" y="1481"/>
              <a:ext cx="102" cy="1094"/>
            </a:xfrm>
            <a:custGeom>
              <a:avLst/>
              <a:gdLst>
                <a:gd name="T0" fmla="*/ 0 w 102"/>
                <a:gd name="T1" fmla="*/ 0 h 1094"/>
                <a:gd name="T2" fmla="*/ 81 w 102"/>
                <a:gd name="T3" fmla="*/ 200 h 1094"/>
                <a:gd name="T4" fmla="*/ 31 w 102"/>
                <a:gd name="T5" fmla="*/ 375 h 1094"/>
                <a:gd name="T6" fmla="*/ 69 w 102"/>
                <a:gd name="T7" fmla="*/ 556 h 1094"/>
                <a:gd name="T8" fmla="*/ 25 w 102"/>
                <a:gd name="T9" fmla="*/ 737 h 1094"/>
                <a:gd name="T10" fmla="*/ 100 w 102"/>
                <a:gd name="T11" fmla="*/ 881 h 1094"/>
                <a:gd name="T12" fmla="*/ 37 w 102"/>
                <a:gd name="T13" fmla="*/ 1094 h 1094"/>
                <a:gd name="T14" fmla="*/ 0 60000 65536"/>
                <a:gd name="T15" fmla="*/ 0 60000 65536"/>
                <a:gd name="T16" fmla="*/ 0 60000 65536"/>
                <a:gd name="T17" fmla="*/ 0 60000 65536"/>
                <a:gd name="T18" fmla="*/ 0 60000 65536"/>
                <a:gd name="T19" fmla="*/ 0 60000 65536"/>
                <a:gd name="T20" fmla="*/ 0 60000 65536"/>
                <a:gd name="T21" fmla="*/ 0 w 102"/>
                <a:gd name="T22" fmla="*/ 0 h 1094"/>
                <a:gd name="T23" fmla="*/ 102 w 102"/>
                <a:gd name="T24" fmla="*/ 1094 h 10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2" h="1094">
                  <a:moveTo>
                    <a:pt x="0" y="0"/>
                  </a:moveTo>
                  <a:cubicBezTo>
                    <a:pt x="38" y="69"/>
                    <a:pt x="76" y="138"/>
                    <a:pt x="81" y="200"/>
                  </a:cubicBezTo>
                  <a:cubicBezTo>
                    <a:pt x="86" y="262"/>
                    <a:pt x="33" y="316"/>
                    <a:pt x="31" y="375"/>
                  </a:cubicBezTo>
                  <a:cubicBezTo>
                    <a:pt x="29" y="434"/>
                    <a:pt x="70" y="496"/>
                    <a:pt x="69" y="556"/>
                  </a:cubicBezTo>
                  <a:cubicBezTo>
                    <a:pt x="68" y="616"/>
                    <a:pt x="20" y="683"/>
                    <a:pt x="25" y="737"/>
                  </a:cubicBezTo>
                  <a:cubicBezTo>
                    <a:pt x="30" y="791"/>
                    <a:pt x="98" y="822"/>
                    <a:pt x="100" y="881"/>
                  </a:cubicBezTo>
                  <a:cubicBezTo>
                    <a:pt x="102" y="940"/>
                    <a:pt x="46" y="1060"/>
                    <a:pt x="37" y="1094"/>
                  </a:cubicBezTo>
                </a:path>
              </a:pathLst>
            </a:custGeom>
            <a:noFill/>
            <a:ln w="9525">
              <a:solidFill>
                <a:schemeClr val="tx1"/>
              </a:solidFill>
              <a:round/>
              <a:headEnd/>
              <a:tailEnd/>
            </a:ln>
          </p:spPr>
          <p:txBody>
            <a:bodyPr wrap="none" anchor="ctr"/>
            <a:lstStyle/>
            <a:p>
              <a:endParaRPr lang="en-GB"/>
            </a:p>
          </p:txBody>
        </p:sp>
      </p:grpSp>
      <p:sp>
        <p:nvSpPr>
          <p:cNvPr id="3089" name="Rectangle 41"/>
          <p:cNvSpPr>
            <a:spLocks noChangeArrowheads="1"/>
          </p:cNvSpPr>
          <p:nvPr/>
        </p:nvSpPr>
        <p:spPr bwMode="auto">
          <a:xfrm>
            <a:off x="1976438" y="3571875"/>
            <a:ext cx="409575" cy="812800"/>
          </a:xfrm>
          <a:prstGeom prst="rect">
            <a:avLst/>
          </a:prstGeom>
          <a:solidFill>
            <a:srgbClr val="FFFF00"/>
          </a:solidFill>
          <a:ln w="9525">
            <a:solidFill>
              <a:schemeClr val="tx1"/>
            </a:solidFill>
            <a:miter lim="800000"/>
            <a:headEnd/>
            <a:tailEnd/>
          </a:ln>
        </p:spPr>
        <p:txBody>
          <a:bodyPr wrap="none" anchor="ctr"/>
          <a:lstStyle/>
          <a:p>
            <a:endParaRPr lang="en-US" sz="1600"/>
          </a:p>
        </p:txBody>
      </p:sp>
      <p:grpSp>
        <p:nvGrpSpPr>
          <p:cNvPr id="14" name="Group 42"/>
          <p:cNvGrpSpPr>
            <a:grpSpLocks/>
          </p:cNvGrpSpPr>
          <p:nvPr/>
        </p:nvGrpSpPr>
        <p:grpSpPr bwMode="auto">
          <a:xfrm rot="16200000" flipV="1">
            <a:off x="2630488" y="3575050"/>
            <a:ext cx="39687" cy="525463"/>
            <a:chOff x="3025" y="1469"/>
            <a:chExt cx="108" cy="1106"/>
          </a:xfrm>
        </p:grpSpPr>
        <p:sp>
          <p:nvSpPr>
            <p:cNvPr id="3164" name="Freeform 43"/>
            <p:cNvSpPr>
              <a:spLocks/>
            </p:cNvSpPr>
            <p:nvPr/>
          </p:nvSpPr>
          <p:spPr bwMode="auto">
            <a:xfrm>
              <a:off x="3025" y="1469"/>
              <a:ext cx="102" cy="1094"/>
            </a:xfrm>
            <a:custGeom>
              <a:avLst/>
              <a:gdLst>
                <a:gd name="T0" fmla="*/ 0 w 102"/>
                <a:gd name="T1" fmla="*/ 0 h 1094"/>
                <a:gd name="T2" fmla="*/ 81 w 102"/>
                <a:gd name="T3" fmla="*/ 200 h 1094"/>
                <a:gd name="T4" fmla="*/ 31 w 102"/>
                <a:gd name="T5" fmla="*/ 375 h 1094"/>
                <a:gd name="T6" fmla="*/ 69 w 102"/>
                <a:gd name="T7" fmla="*/ 556 h 1094"/>
                <a:gd name="T8" fmla="*/ 25 w 102"/>
                <a:gd name="T9" fmla="*/ 737 h 1094"/>
                <a:gd name="T10" fmla="*/ 100 w 102"/>
                <a:gd name="T11" fmla="*/ 881 h 1094"/>
                <a:gd name="T12" fmla="*/ 37 w 102"/>
                <a:gd name="T13" fmla="*/ 1094 h 1094"/>
                <a:gd name="T14" fmla="*/ 0 60000 65536"/>
                <a:gd name="T15" fmla="*/ 0 60000 65536"/>
                <a:gd name="T16" fmla="*/ 0 60000 65536"/>
                <a:gd name="T17" fmla="*/ 0 60000 65536"/>
                <a:gd name="T18" fmla="*/ 0 60000 65536"/>
                <a:gd name="T19" fmla="*/ 0 60000 65536"/>
                <a:gd name="T20" fmla="*/ 0 60000 65536"/>
                <a:gd name="T21" fmla="*/ 0 w 102"/>
                <a:gd name="T22" fmla="*/ 0 h 1094"/>
                <a:gd name="T23" fmla="*/ 102 w 102"/>
                <a:gd name="T24" fmla="*/ 1094 h 10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2" h="1094">
                  <a:moveTo>
                    <a:pt x="0" y="0"/>
                  </a:moveTo>
                  <a:cubicBezTo>
                    <a:pt x="38" y="69"/>
                    <a:pt x="76" y="138"/>
                    <a:pt x="81" y="200"/>
                  </a:cubicBezTo>
                  <a:cubicBezTo>
                    <a:pt x="86" y="262"/>
                    <a:pt x="33" y="316"/>
                    <a:pt x="31" y="375"/>
                  </a:cubicBezTo>
                  <a:cubicBezTo>
                    <a:pt x="29" y="434"/>
                    <a:pt x="70" y="496"/>
                    <a:pt x="69" y="556"/>
                  </a:cubicBezTo>
                  <a:cubicBezTo>
                    <a:pt x="68" y="616"/>
                    <a:pt x="20" y="683"/>
                    <a:pt x="25" y="737"/>
                  </a:cubicBezTo>
                  <a:cubicBezTo>
                    <a:pt x="30" y="791"/>
                    <a:pt x="98" y="822"/>
                    <a:pt x="100" y="881"/>
                  </a:cubicBezTo>
                  <a:cubicBezTo>
                    <a:pt x="102" y="940"/>
                    <a:pt x="46" y="1060"/>
                    <a:pt x="37" y="1094"/>
                  </a:cubicBezTo>
                </a:path>
              </a:pathLst>
            </a:custGeom>
            <a:noFill/>
            <a:ln w="9525">
              <a:solidFill>
                <a:schemeClr val="tx1"/>
              </a:solidFill>
              <a:round/>
              <a:headEnd/>
              <a:tailEnd/>
            </a:ln>
          </p:spPr>
          <p:txBody>
            <a:bodyPr wrap="none" anchor="ctr"/>
            <a:lstStyle/>
            <a:p>
              <a:endParaRPr lang="en-GB"/>
            </a:p>
          </p:txBody>
        </p:sp>
        <p:sp>
          <p:nvSpPr>
            <p:cNvPr id="3165" name="Freeform 44"/>
            <p:cNvSpPr>
              <a:spLocks/>
            </p:cNvSpPr>
            <p:nvPr/>
          </p:nvSpPr>
          <p:spPr bwMode="auto">
            <a:xfrm flipH="1">
              <a:off x="3031" y="1481"/>
              <a:ext cx="102" cy="1094"/>
            </a:xfrm>
            <a:custGeom>
              <a:avLst/>
              <a:gdLst>
                <a:gd name="T0" fmla="*/ 0 w 102"/>
                <a:gd name="T1" fmla="*/ 0 h 1094"/>
                <a:gd name="T2" fmla="*/ 81 w 102"/>
                <a:gd name="T3" fmla="*/ 200 h 1094"/>
                <a:gd name="T4" fmla="*/ 31 w 102"/>
                <a:gd name="T5" fmla="*/ 375 h 1094"/>
                <a:gd name="T6" fmla="*/ 69 w 102"/>
                <a:gd name="T7" fmla="*/ 556 h 1094"/>
                <a:gd name="T8" fmla="*/ 25 w 102"/>
                <a:gd name="T9" fmla="*/ 737 h 1094"/>
                <a:gd name="T10" fmla="*/ 100 w 102"/>
                <a:gd name="T11" fmla="*/ 881 h 1094"/>
                <a:gd name="T12" fmla="*/ 37 w 102"/>
                <a:gd name="T13" fmla="*/ 1094 h 1094"/>
                <a:gd name="T14" fmla="*/ 0 60000 65536"/>
                <a:gd name="T15" fmla="*/ 0 60000 65536"/>
                <a:gd name="T16" fmla="*/ 0 60000 65536"/>
                <a:gd name="T17" fmla="*/ 0 60000 65536"/>
                <a:gd name="T18" fmla="*/ 0 60000 65536"/>
                <a:gd name="T19" fmla="*/ 0 60000 65536"/>
                <a:gd name="T20" fmla="*/ 0 60000 65536"/>
                <a:gd name="T21" fmla="*/ 0 w 102"/>
                <a:gd name="T22" fmla="*/ 0 h 1094"/>
                <a:gd name="T23" fmla="*/ 102 w 102"/>
                <a:gd name="T24" fmla="*/ 1094 h 10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2" h="1094">
                  <a:moveTo>
                    <a:pt x="0" y="0"/>
                  </a:moveTo>
                  <a:cubicBezTo>
                    <a:pt x="38" y="69"/>
                    <a:pt x="76" y="138"/>
                    <a:pt x="81" y="200"/>
                  </a:cubicBezTo>
                  <a:cubicBezTo>
                    <a:pt x="86" y="262"/>
                    <a:pt x="33" y="316"/>
                    <a:pt x="31" y="375"/>
                  </a:cubicBezTo>
                  <a:cubicBezTo>
                    <a:pt x="29" y="434"/>
                    <a:pt x="70" y="496"/>
                    <a:pt x="69" y="556"/>
                  </a:cubicBezTo>
                  <a:cubicBezTo>
                    <a:pt x="68" y="616"/>
                    <a:pt x="20" y="683"/>
                    <a:pt x="25" y="737"/>
                  </a:cubicBezTo>
                  <a:cubicBezTo>
                    <a:pt x="30" y="791"/>
                    <a:pt x="98" y="822"/>
                    <a:pt x="100" y="881"/>
                  </a:cubicBezTo>
                  <a:cubicBezTo>
                    <a:pt x="102" y="940"/>
                    <a:pt x="46" y="1060"/>
                    <a:pt x="37" y="1094"/>
                  </a:cubicBezTo>
                </a:path>
              </a:pathLst>
            </a:custGeom>
            <a:noFill/>
            <a:ln w="9525">
              <a:solidFill>
                <a:schemeClr val="tx1"/>
              </a:solidFill>
              <a:round/>
              <a:headEnd/>
              <a:tailEnd/>
            </a:ln>
          </p:spPr>
          <p:txBody>
            <a:bodyPr wrap="none" anchor="ctr"/>
            <a:lstStyle/>
            <a:p>
              <a:endParaRPr lang="en-GB"/>
            </a:p>
          </p:txBody>
        </p:sp>
      </p:grpSp>
      <p:grpSp>
        <p:nvGrpSpPr>
          <p:cNvPr id="15" name="Group 45"/>
          <p:cNvGrpSpPr>
            <a:grpSpLocks/>
          </p:cNvGrpSpPr>
          <p:nvPr/>
        </p:nvGrpSpPr>
        <p:grpSpPr bwMode="auto">
          <a:xfrm rot="16200000" flipV="1">
            <a:off x="2639219" y="3815556"/>
            <a:ext cx="39688" cy="542925"/>
            <a:chOff x="3025" y="1469"/>
            <a:chExt cx="108" cy="1106"/>
          </a:xfrm>
        </p:grpSpPr>
        <p:sp>
          <p:nvSpPr>
            <p:cNvPr id="3162" name="Freeform 46"/>
            <p:cNvSpPr>
              <a:spLocks/>
            </p:cNvSpPr>
            <p:nvPr/>
          </p:nvSpPr>
          <p:spPr bwMode="auto">
            <a:xfrm>
              <a:off x="3025" y="1469"/>
              <a:ext cx="102" cy="1094"/>
            </a:xfrm>
            <a:custGeom>
              <a:avLst/>
              <a:gdLst>
                <a:gd name="T0" fmla="*/ 0 w 102"/>
                <a:gd name="T1" fmla="*/ 0 h 1094"/>
                <a:gd name="T2" fmla="*/ 81 w 102"/>
                <a:gd name="T3" fmla="*/ 200 h 1094"/>
                <a:gd name="T4" fmla="*/ 31 w 102"/>
                <a:gd name="T5" fmla="*/ 375 h 1094"/>
                <a:gd name="T6" fmla="*/ 69 w 102"/>
                <a:gd name="T7" fmla="*/ 556 h 1094"/>
                <a:gd name="T8" fmla="*/ 25 w 102"/>
                <a:gd name="T9" fmla="*/ 737 h 1094"/>
                <a:gd name="T10" fmla="*/ 100 w 102"/>
                <a:gd name="T11" fmla="*/ 881 h 1094"/>
                <a:gd name="T12" fmla="*/ 37 w 102"/>
                <a:gd name="T13" fmla="*/ 1094 h 1094"/>
                <a:gd name="T14" fmla="*/ 0 60000 65536"/>
                <a:gd name="T15" fmla="*/ 0 60000 65536"/>
                <a:gd name="T16" fmla="*/ 0 60000 65536"/>
                <a:gd name="T17" fmla="*/ 0 60000 65536"/>
                <a:gd name="T18" fmla="*/ 0 60000 65536"/>
                <a:gd name="T19" fmla="*/ 0 60000 65536"/>
                <a:gd name="T20" fmla="*/ 0 60000 65536"/>
                <a:gd name="T21" fmla="*/ 0 w 102"/>
                <a:gd name="T22" fmla="*/ 0 h 1094"/>
                <a:gd name="T23" fmla="*/ 102 w 102"/>
                <a:gd name="T24" fmla="*/ 1094 h 10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2" h="1094">
                  <a:moveTo>
                    <a:pt x="0" y="0"/>
                  </a:moveTo>
                  <a:cubicBezTo>
                    <a:pt x="38" y="69"/>
                    <a:pt x="76" y="138"/>
                    <a:pt x="81" y="200"/>
                  </a:cubicBezTo>
                  <a:cubicBezTo>
                    <a:pt x="86" y="262"/>
                    <a:pt x="33" y="316"/>
                    <a:pt x="31" y="375"/>
                  </a:cubicBezTo>
                  <a:cubicBezTo>
                    <a:pt x="29" y="434"/>
                    <a:pt x="70" y="496"/>
                    <a:pt x="69" y="556"/>
                  </a:cubicBezTo>
                  <a:cubicBezTo>
                    <a:pt x="68" y="616"/>
                    <a:pt x="20" y="683"/>
                    <a:pt x="25" y="737"/>
                  </a:cubicBezTo>
                  <a:cubicBezTo>
                    <a:pt x="30" y="791"/>
                    <a:pt x="98" y="822"/>
                    <a:pt x="100" y="881"/>
                  </a:cubicBezTo>
                  <a:cubicBezTo>
                    <a:pt x="102" y="940"/>
                    <a:pt x="46" y="1060"/>
                    <a:pt x="37" y="1094"/>
                  </a:cubicBezTo>
                </a:path>
              </a:pathLst>
            </a:custGeom>
            <a:noFill/>
            <a:ln w="9525">
              <a:solidFill>
                <a:schemeClr val="tx1"/>
              </a:solidFill>
              <a:round/>
              <a:headEnd/>
              <a:tailEnd/>
            </a:ln>
          </p:spPr>
          <p:txBody>
            <a:bodyPr wrap="none" anchor="ctr"/>
            <a:lstStyle/>
            <a:p>
              <a:endParaRPr lang="en-GB"/>
            </a:p>
          </p:txBody>
        </p:sp>
        <p:sp>
          <p:nvSpPr>
            <p:cNvPr id="3163" name="Freeform 47"/>
            <p:cNvSpPr>
              <a:spLocks/>
            </p:cNvSpPr>
            <p:nvPr/>
          </p:nvSpPr>
          <p:spPr bwMode="auto">
            <a:xfrm flipH="1">
              <a:off x="3031" y="1481"/>
              <a:ext cx="102" cy="1094"/>
            </a:xfrm>
            <a:custGeom>
              <a:avLst/>
              <a:gdLst>
                <a:gd name="T0" fmla="*/ 0 w 102"/>
                <a:gd name="T1" fmla="*/ 0 h 1094"/>
                <a:gd name="T2" fmla="*/ 81 w 102"/>
                <a:gd name="T3" fmla="*/ 200 h 1094"/>
                <a:gd name="T4" fmla="*/ 31 w 102"/>
                <a:gd name="T5" fmla="*/ 375 h 1094"/>
                <a:gd name="T6" fmla="*/ 69 w 102"/>
                <a:gd name="T7" fmla="*/ 556 h 1094"/>
                <a:gd name="T8" fmla="*/ 25 w 102"/>
                <a:gd name="T9" fmla="*/ 737 h 1094"/>
                <a:gd name="T10" fmla="*/ 100 w 102"/>
                <a:gd name="T11" fmla="*/ 881 h 1094"/>
                <a:gd name="T12" fmla="*/ 37 w 102"/>
                <a:gd name="T13" fmla="*/ 1094 h 1094"/>
                <a:gd name="T14" fmla="*/ 0 60000 65536"/>
                <a:gd name="T15" fmla="*/ 0 60000 65536"/>
                <a:gd name="T16" fmla="*/ 0 60000 65536"/>
                <a:gd name="T17" fmla="*/ 0 60000 65536"/>
                <a:gd name="T18" fmla="*/ 0 60000 65536"/>
                <a:gd name="T19" fmla="*/ 0 60000 65536"/>
                <a:gd name="T20" fmla="*/ 0 60000 65536"/>
                <a:gd name="T21" fmla="*/ 0 w 102"/>
                <a:gd name="T22" fmla="*/ 0 h 1094"/>
                <a:gd name="T23" fmla="*/ 102 w 102"/>
                <a:gd name="T24" fmla="*/ 1094 h 10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2" h="1094">
                  <a:moveTo>
                    <a:pt x="0" y="0"/>
                  </a:moveTo>
                  <a:cubicBezTo>
                    <a:pt x="38" y="69"/>
                    <a:pt x="76" y="138"/>
                    <a:pt x="81" y="200"/>
                  </a:cubicBezTo>
                  <a:cubicBezTo>
                    <a:pt x="86" y="262"/>
                    <a:pt x="33" y="316"/>
                    <a:pt x="31" y="375"/>
                  </a:cubicBezTo>
                  <a:cubicBezTo>
                    <a:pt x="29" y="434"/>
                    <a:pt x="70" y="496"/>
                    <a:pt x="69" y="556"/>
                  </a:cubicBezTo>
                  <a:cubicBezTo>
                    <a:pt x="68" y="616"/>
                    <a:pt x="20" y="683"/>
                    <a:pt x="25" y="737"/>
                  </a:cubicBezTo>
                  <a:cubicBezTo>
                    <a:pt x="30" y="791"/>
                    <a:pt x="98" y="822"/>
                    <a:pt x="100" y="881"/>
                  </a:cubicBezTo>
                  <a:cubicBezTo>
                    <a:pt x="102" y="940"/>
                    <a:pt x="46" y="1060"/>
                    <a:pt x="37" y="1094"/>
                  </a:cubicBezTo>
                </a:path>
              </a:pathLst>
            </a:custGeom>
            <a:noFill/>
            <a:ln w="9525">
              <a:solidFill>
                <a:schemeClr val="tx1"/>
              </a:solidFill>
              <a:round/>
              <a:headEnd/>
              <a:tailEnd/>
            </a:ln>
          </p:spPr>
          <p:txBody>
            <a:bodyPr wrap="none" anchor="ctr"/>
            <a:lstStyle/>
            <a:p>
              <a:endParaRPr lang="en-GB"/>
            </a:p>
          </p:txBody>
        </p:sp>
      </p:grpSp>
      <p:grpSp>
        <p:nvGrpSpPr>
          <p:cNvPr id="16" name="Group 48"/>
          <p:cNvGrpSpPr>
            <a:grpSpLocks/>
          </p:cNvGrpSpPr>
          <p:nvPr/>
        </p:nvGrpSpPr>
        <p:grpSpPr bwMode="auto">
          <a:xfrm rot="16200000" flipV="1">
            <a:off x="2624932" y="3480594"/>
            <a:ext cx="39687" cy="542925"/>
            <a:chOff x="3025" y="1469"/>
            <a:chExt cx="108" cy="1106"/>
          </a:xfrm>
        </p:grpSpPr>
        <p:sp>
          <p:nvSpPr>
            <p:cNvPr id="3160" name="Freeform 49"/>
            <p:cNvSpPr>
              <a:spLocks/>
            </p:cNvSpPr>
            <p:nvPr/>
          </p:nvSpPr>
          <p:spPr bwMode="auto">
            <a:xfrm>
              <a:off x="3025" y="1469"/>
              <a:ext cx="102" cy="1094"/>
            </a:xfrm>
            <a:custGeom>
              <a:avLst/>
              <a:gdLst>
                <a:gd name="T0" fmla="*/ 0 w 102"/>
                <a:gd name="T1" fmla="*/ 0 h 1094"/>
                <a:gd name="T2" fmla="*/ 81 w 102"/>
                <a:gd name="T3" fmla="*/ 200 h 1094"/>
                <a:gd name="T4" fmla="*/ 31 w 102"/>
                <a:gd name="T5" fmla="*/ 375 h 1094"/>
                <a:gd name="T6" fmla="*/ 69 w 102"/>
                <a:gd name="T7" fmla="*/ 556 h 1094"/>
                <a:gd name="T8" fmla="*/ 25 w 102"/>
                <a:gd name="T9" fmla="*/ 737 h 1094"/>
                <a:gd name="T10" fmla="*/ 100 w 102"/>
                <a:gd name="T11" fmla="*/ 881 h 1094"/>
                <a:gd name="T12" fmla="*/ 37 w 102"/>
                <a:gd name="T13" fmla="*/ 1094 h 1094"/>
                <a:gd name="T14" fmla="*/ 0 60000 65536"/>
                <a:gd name="T15" fmla="*/ 0 60000 65536"/>
                <a:gd name="T16" fmla="*/ 0 60000 65536"/>
                <a:gd name="T17" fmla="*/ 0 60000 65536"/>
                <a:gd name="T18" fmla="*/ 0 60000 65536"/>
                <a:gd name="T19" fmla="*/ 0 60000 65536"/>
                <a:gd name="T20" fmla="*/ 0 60000 65536"/>
                <a:gd name="T21" fmla="*/ 0 w 102"/>
                <a:gd name="T22" fmla="*/ 0 h 1094"/>
                <a:gd name="T23" fmla="*/ 102 w 102"/>
                <a:gd name="T24" fmla="*/ 1094 h 10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2" h="1094">
                  <a:moveTo>
                    <a:pt x="0" y="0"/>
                  </a:moveTo>
                  <a:cubicBezTo>
                    <a:pt x="38" y="69"/>
                    <a:pt x="76" y="138"/>
                    <a:pt x="81" y="200"/>
                  </a:cubicBezTo>
                  <a:cubicBezTo>
                    <a:pt x="86" y="262"/>
                    <a:pt x="33" y="316"/>
                    <a:pt x="31" y="375"/>
                  </a:cubicBezTo>
                  <a:cubicBezTo>
                    <a:pt x="29" y="434"/>
                    <a:pt x="70" y="496"/>
                    <a:pt x="69" y="556"/>
                  </a:cubicBezTo>
                  <a:cubicBezTo>
                    <a:pt x="68" y="616"/>
                    <a:pt x="20" y="683"/>
                    <a:pt x="25" y="737"/>
                  </a:cubicBezTo>
                  <a:cubicBezTo>
                    <a:pt x="30" y="791"/>
                    <a:pt x="98" y="822"/>
                    <a:pt x="100" y="881"/>
                  </a:cubicBezTo>
                  <a:cubicBezTo>
                    <a:pt x="102" y="940"/>
                    <a:pt x="46" y="1060"/>
                    <a:pt x="37" y="1094"/>
                  </a:cubicBezTo>
                </a:path>
              </a:pathLst>
            </a:custGeom>
            <a:noFill/>
            <a:ln w="9525">
              <a:solidFill>
                <a:schemeClr val="tx1"/>
              </a:solidFill>
              <a:round/>
              <a:headEnd/>
              <a:tailEnd/>
            </a:ln>
          </p:spPr>
          <p:txBody>
            <a:bodyPr wrap="none" anchor="ctr"/>
            <a:lstStyle/>
            <a:p>
              <a:endParaRPr lang="en-GB"/>
            </a:p>
          </p:txBody>
        </p:sp>
        <p:sp>
          <p:nvSpPr>
            <p:cNvPr id="3161" name="Freeform 50"/>
            <p:cNvSpPr>
              <a:spLocks/>
            </p:cNvSpPr>
            <p:nvPr/>
          </p:nvSpPr>
          <p:spPr bwMode="auto">
            <a:xfrm flipH="1">
              <a:off x="3031" y="1481"/>
              <a:ext cx="102" cy="1094"/>
            </a:xfrm>
            <a:custGeom>
              <a:avLst/>
              <a:gdLst>
                <a:gd name="T0" fmla="*/ 0 w 102"/>
                <a:gd name="T1" fmla="*/ 0 h 1094"/>
                <a:gd name="T2" fmla="*/ 81 w 102"/>
                <a:gd name="T3" fmla="*/ 200 h 1094"/>
                <a:gd name="T4" fmla="*/ 31 w 102"/>
                <a:gd name="T5" fmla="*/ 375 h 1094"/>
                <a:gd name="T6" fmla="*/ 69 w 102"/>
                <a:gd name="T7" fmla="*/ 556 h 1094"/>
                <a:gd name="T8" fmla="*/ 25 w 102"/>
                <a:gd name="T9" fmla="*/ 737 h 1094"/>
                <a:gd name="T10" fmla="*/ 100 w 102"/>
                <a:gd name="T11" fmla="*/ 881 h 1094"/>
                <a:gd name="T12" fmla="*/ 37 w 102"/>
                <a:gd name="T13" fmla="*/ 1094 h 1094"/>
                <a:gd name="T14" fmla="*/ 0 60000 65536"/>
                <a:gd name="T15" fmla="*/ 0 60000 65536"/>
                <a:gd name="T16" fmla="*/ 0 60000 65536"/>
                <a:gd name="T17" fmla="*/ 0 60000 65536"/>
                <a:gd name="T18" fmla="*/ 0 60000 65536"/>
                <a:gd name="T19" fmla="*/ 0 60000 65536"/>
                <a:gd name="T20" fmla="*/ 0 60000 65536"/>
                <a:gd name="T21" fmla="*/ 0 w 102"/>
                <a:gd name="T22" fmla="*/ 0 h 1094"/>
                <a:gd name="T23" fmla="*/ 102 w 102"/>
                <a:gd name="T24" fmla="*/ 1094 h 10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2" h="1094">
                  <a:moveTo>
                    <a:pt x="0" y="0"/>
                  </a:moveTo>
                  <a:cubicBezTo>
                    <a:pt x="38" y="69"/>
                    <a:pt x="76" y="138"/>
                    <a:pt x="81" y="200"/>
                  </a:cubicBezTo>
                  <a:cubicBezTo>
                    <a:pt x="86" y="262"/>
                    <a:pt x="33" y="316"/>
                    <a:pt x="31" y="375"/>
                  </a:cubicBezTo>
                  <a:cubicBezTo>
                    <a:pt x="29" y="434"/>
                    <a:pt x="70" y="496"/>
                    <a:pt x="69" y="556"/>
                  </a:cubicBezTo>
                  <a:cubicBezTo>
                    <a:pt x="68" y="616"/>
                    <a:pt x="20" y="683"/>
                    <a:pt x="25" y="737"/>
                  </a:cubicBezTo>
                  <a:cubicBezTo>
                    <a:pt x="30" y="791"/>
                    <a:pt x="98" y="822"/>
                    <a:pt x="100" y="881"/>
                  </a:cubicBezTo>
                  <a:cubicBezTo>
                    <a:pt x="102" y="940"/>
                    <a:pt x="46" y="1060"/>
                    <a:pt x="37" y="1094"/>
                  </a:cubicBezTo>
                </a:path>
              </a:pathLst>
            </a:custGeom>
            <a:noFill/>
            <a:ln w="9525">
              <a:solidFill>
                <a:schemeClr val="tx1"/>
              </a:solidFill>
              <a:round/>
              <a:headEnd/>
              <a:tailEnd/>
            </a:ln>
          </p:spPr>
          <p:txBody>
            <a:bodyPr wrap="none" anchor="ctr"/>
            <a:lstStyle/>
            <a:p>
              <a:endParaRPr lang="en-GB"/>
            </a:p>
          </p:txBody>
        </p:sp>
      </p:grpSp>
      <p:grpSp>
        <p:nvGrpSpPr>
          <p:cNvPr id="17" name="Group 51"/>
          <p:cNvGrpSpPr>
            <a:grpSpLocks/>
          </p:cNvGrpSpPr>
          <p:nvPr/>
        </p:nvGrpSpPr>
        <p:grpSpPr bwMode="auto">
          <a:xfrm rot="16200000" flipV="1">
            <a:off x="2642394" y="3944144"/>
            <a:ext cx="41275" cy="541337"/>
            <a:chOff x="3025" y="1469"/>
            <a:chExt cx="108" cy="1106"/>
          </a:xfrm>
        </p:grpSpPr>
        <p:sp>
          <p:nvSpPr>
            <p:cNvPr id="3158" name="Freeform 52"/>
            <p:cNvSpPr>
              <a:spLocks/>
            </p:cNvSpPr>
            <p:nvPr/>
          </p:nvSpPr>
          <p:spPr bwMode="auto">
            <a:xfrm>
              <a:off x="3025" y="1469"/>
              <a:ext cx="102" cy="1094"/>
            </a:xfrm>
            <a:custGeom>
              <a:avLst/>
              <a:gdLst>
                <a:gd name="T0" fmla="*/ 0 w 102"/>
                <a:gd name="T1" fmla="*/ 0 h 1094"/>
                <a:gd name="T2" fmla="*/ 81 w 102"/>
                <a:gd name="T3" fmla="*/ 200 h 1094"/>
                <a:gd name="T4" fmla="*/ 31 w 102"/>
                <a:gd name="T5" fmla="*/ 375 h 1094"/>
                <a:gd name="T6" fmla="*/ 69 w 102"/>
                <a:gd name="T7" fmla="*/ 556 h 1094"/>
                <a:gd name="T8" fmla="*/ 25 w 102"/>
                <a:gd name="T9" fmla="*/ 737 h 1094"/>
                <a:gd name="T10" fmla="*/ 100 w 102"/>
                <a:gd name="T11" fmla="*/ 881 h 1094"/>
                <a:gd name="T12" fmla="*/ 37 w 102"/>
                <a:gd name="T13" fmla="*/ 1094 h 1094"/>
                <a:gd name="T14" fmla="*/ 0 60000 65536"/>
                <a:gd name="T15" fmla="*/ 0 60000 65536"/>
                <a:gd name="T16" fmla="*/ 0 60000 65536"/>
                <a:gd name="T17" fmla="*/ 0 60000 65536"/>
                <a:gd name="T18" fmla="*/ 0 60000 65536"/>
                <a:gd name="T19" fmla="*/ 0 60000 65536"/>
                <a:gd name="T20" fmla="*/ 0 60000 65536"/>
                <a:gd name="T21" fmla="*/ 0 w 102"/>
                <a:gd name="T22" fmla="*/ 0 h 1094"/>
                <a:gd name="T23" fmla="*/ 102 w 102"/>
                <a:gd name="T24" fmla="*/ 1094 h 10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2" h="1094">
                  <a:moveTo>
                    <a:pt x="0" y="0"/>
                  </a:moveTo>
                  <a:cubicBezTo>
                    <a:pt x="38" y="69"/>
                    <a:pt x="76" y="138"/>
                    <a:pt x="81" y="200"/>
                  </a:cubicBezTo>
                  <a:cubicBezTo>
                    <a:pt x="86" y="262"/>
                    <a:pt x="33" y="316"/>
                    <a:pt x="31" y="375"/>
                  </a:cubicBezTo>
                  <a:cubicBezTo>
                    <a:pt x="29" y="434"/>
                    <a:pt x="70" y="496"/>
                    <a:pt x="69" y="556"/>
                  </a:cubicBezTo>
                  <a:cubicBezTo>
                    <a:pt x="68" y="616"/>
                    <a:pt x="20" y="683"/>
                    <a:pt x="25" y="737"/>
                  </a:cubicBezTo>
                  <a:cubicBezTo>
                    <a:pt x="30" y="791"/>
                    <a:pt x="98" y="822"/>
                    <a:pt x="100" y="881"/>
                  </a:cubicBezTo>
                  <a:cubicBezTo>
                    <a:pt x="102" y="940"/>
                    <a:pt x="46" y="1060"/>
                    <a:pt x="37" y="1094"/>
                  </a:cubicBezTo>
                </a:path>
              </a:pathLst>
            </a:custGeom>
            <a:noFill/>
            <a:ln w="9525">
              <a:solidFill>
                <a:schemeClr val="tx1"/>
              </a:solidFill>
              <a:round/>
              <a:headEnd/>
              <a:tailEnd/>
            </a:ln>
          </p:spPr>
          <p:txBody>
            <a:bodyPr wrap="none" anchor="ctr"/>
            <a:lstStyle/>
            <a:p>
              <a:endParaRPr lang="en-GB"/>
            </a:p>
          </p:txBody>
        </p:sp>
        <p:sp>
          <p:nvSpPr>
            <p:cNvPr id="3159" name="Freeform 53"/>
            <p:cNvSpPr>
              <a:spLocks/>
            </p:cNvSpPr>
            <p:nvPr/>
          </p:nvSpPr>
          <p:spPr bwMode="auto">
            <a:xfrm flipH="1">
              <a:off x="3031" y="1481"/>
              <a:ext cx="102" cy="1094"/>
            </a:xfrm>
            <a:custGeom>
              <a:avLst/>
              <a:gdLst>
                <a:gd name="T0" fmla="*/ 0 w 102"/>
                <a:gd name="T1" fmla="*/ 0 h 1094"/>
                <a:gd name="T2" fmla="*/ 81 w 102"/>
                <a:gd name="T3" fmla="*/ 200 h 1094"/>
                <a:gd name="T4" fmla="*/ 31 w 102"/>
                <a:gd name="T5" fmla="*/ 375 h 1094"/>
                <a:gd name="T6" fmla="*/ 69 w 102"/>
                <a:gd name="T7" fmla="*/ 556 h 1094"/>
                <a:gd name="T8" fmla="*/ 25 w 102"/>
                <a:gd name="T9" fmla="*/ 737 h 1094"/>
                <a:gd name="T10" fmla="*/ 100 w 102"/>
                <a:gd name="T11" fmla="*/ 881 h 1094"/>
                <a:gd name="T12" fmla="*/ 37 w 102"/>
                <a:gd name="T13" fmla="*/ 1094 h 1094"/>
                <a:gd name="T14" fmla="*/ 0 60000 65536"/>
                <a:gd name="T15" fmla="*/ 0 60000 65536"/>
                <a:gd name="T16" fmla="*/ 0 60000 65536"/>
                <a:gd name="T17" fmla="*/ 0 60000 65536"/>
                <a:gd name="T18" fmla="*/ 0 60000 65536"/>
                <a:gd name="T19" fmla="*/ 0 60000 65536"/>
                <a:gd name="T20" fmla="*/ 0 60000 65536"/>
                <a:gd name="T21" fmla="*/ 0 w 102"/>
                <a:gd name="T22" fmla="*/ 0 h 1094"/>
                <a:gd name="T23" fmla="*/ 102 w 102"/>
                <a:gd name="T24" fmla="*/ 1094 h 10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2" h="1094">
                  <a:moveTo>
                    <a:pt x="0" y="0"/>
                  </a:moveTo>
                  <a:cubicBezTo>
                    <a:pt x="38" y="69"/>
                    <a:pt x="76" y="138"/>
                    <a:pt x="81" y="200"/>
                  </a:cubicBezTo>
                  <a:cubicBezTo>
                    <a:pt x="86" y="262"/>
                    <a:pt x="33" y="316"/>
                    <a:pt x="31" y="375"/>
                  </a:cubicBezTo>
                  <a:cubicBezTo>
                    <a:pt x="29" y="434"/>
                    <a:pt x="70" y="496"/>
                    <a:pt x="69" y="556"/>
                  </a:cubicBezTo>
                  <a:cubicBezTo>
                    <a:pt x="68" y="616"/>
                    <a:pt x="20" y="683"/>
                    <a:pt x="25" y="737"/>
                  </a:cubicBezTo>
                  <a:cubicBezTo>
                    <a:pt x="30" y="791"/>
                    <a:pt x="98" y="822"/>
                    <a:pt x="100" y="881"/>
                  </a:cubicBezTo>
                  <a:cubicBezTo>
                    <a:pt x="102" y="940"/>
                    <a:pt x="46" y="1060"/>
                    <a:pt x="37" y="1094"/>
                  </a:cubicBezTo>
                </a:path>
              </a:pathLst>
            </a:custGeom>
            <a:noFill/>
            <a:ln w="9525">
              <a:solidFill>
                <a:schemeClr val="tx1"/>
              </a:solidFill>
              <a:round/>
              <a:headEnd/>
              <a:tailEnd/>
            </a:ln>
          </p:spPr>
          <p:txBody>
            <a:bodyPr wrap="none" anchor="ctr"/>
            <a:lstStyle/>
            <a:p>
              <a:endParaRPr lang="en-GB"/>
            </a:p>
          </p:txBody>
        </p:sp>
      </p:grpSp>
      <p:grpSp>
        <p:nvGrpSpPr>
          <p:cNvPr id="18" name="Group 54"/>
          <p:cNvGrpSpPr>
            <a:grpSpLocks/>
          </p:cNvGrpSpPr>
          <p:nvPr/>
        </p:nvGrpSpPr>
        <p:grpSpPr bwMode="auto">
          <a:xfrm rot="16200000" flipV="1">
            <a:off x="1689894" y="3431381"/>
            <a:ext cx="39688" cy="542925"/>
            <a:chOff x="3025" y="1469"/>
            <a:chExt cx="108" cy="1106"/>
          </a:xfrm>
        </p:grpSpPr>
        <p:sp>
          <p:nvSpPr>
            <p:cNvPr id="3156" name="Freeform 55"/>
            <p:cNvSpPr>
              <a:spLocks/>
            </p:cNvSpPr>
            <p:nvPr/>
          </p:nvSpPr>
          <p:spPr bwMode="auto">
            <a:xfrm>
              <a:off x="3025" y="1469"/>
              <a:ext cx="102" cy="1094"/>
            </a:xfrm>
            <a:custGeom>
              <a:avLst/>
              <a:gdLst>
                <a:gd name="T0" fmla="*/ 0 w 102"/>
                <a:gd name="T1" fmla="*/ 0 h 1094"/>
                <a:gd name="T2" fmla="*/ 81 w 102"/>
                <a:gd name="T3" fmla="*/ 200 h 1094"/>
                <a:gd name="T4" fmla="*/ 31 w 102"/>
                <a:gd name="T5" fmla="*/ 375 h 1094"/>
                <a:gd name="T6" fmla="*/ 69 w 102"/>
                <a:gd name="T7" fmla="*/ 556 h 1094"/>
                <a:gd name="T8" fmla="*/ 25 w 102"/>
                <a:gd name="T9" fmla="*/ 737 h 1094"/>
                <a:gd name="T10" fmla="*/ 100 w 102"/>
                <a:gd name="T11" fmla="*/ 881 h 1094"/>
                <a:gd name="T12" fmla="*/ 37 w 102"/>
                <a:gd name="T13" fmla="*/ 1094 h 1094"/>
                <a:gd name="T14" fmla="*/ 0 60000 65536"/>
                <a:gd name="T15" fmla="*/ 0 60000 65536"/>
                <a:gd name="T16" fmla="*/ 0 60000 65536"/>
                <a:gd name="T17" fmla="*/ 0 60000 65536"/>
                <a:gd name="T18" fmla="*/ 0 60000 65536"/>
                <a:gd name="T19" fmla="*/ 0 60000 65536"/>
                <a:gd name="T20" fmla="*/ 0 60000 65536"/>
                <a:gd name="T21" fmla="*/ 0 w 102"/>
                <a:gd name="T22" fmla="*/ 0 h 1094"/>
                <a:gd name="T23" fmla="*/ 102 w 102"/>
                <a:gd name="T24" fmla="*/ 1094 h 10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2" h="1094">
                  <a:moveTo>
                    <a:pt x="0" y="0"/>
                  </a:moveTo>
                  <a:cubicBezTo>
                    <a:pt x="38" y="69"/>
                    <a:pt x="76" y="138"/>
                    <a:pt x="81" y="200"/>
                  </a:cubicBezTo>
                  <a:cubicBezTo>
                    <a:pt x="86" y="262"/>
                    <a:pt x="33" y="316"/>
                    <a:pt x="31" y="375"/>
                  </a:cubicBezTo>
                  <a:cubicBezTo>
                    <a:pt x="29" y="434"/>
                    <a:pt x="70" y="496"/>
                    <a:pt x="69" y="556"/>
                  </a:cubicBezTo>
                  <a:cubicBezTo>
                    <a:pt x="68" y="616"/>
                    <a:pt x="20" y="683"/>
                    <a:pt x="25" y="737"/>
                  </a:cubicBezTo>
                  <a:cubicBezTo>
                    <a:pt x="30" y="791"/>
                    <a:pt x="98" y="822"/>
                    <a:pt x="100" y="881"/>
                  </a:cubicBezTo>
                  <a:cubicBezTo>
                    <a:pt x="102" y="940"/>
                    <a:pt x="46" y="1060"/>
                    <a:pt x="37" y="1094"/>
                  </a:cubicBezTo>
                </a:path>
              </a:pathLst>
            </a:custGeom>
            <a:noFill/>
            <a:ln w="9525">
              <a:solidFill>
                <a:schemeClr val="tx1"/>
              </a:solidFill>
              <a:round/>
              <a:headEnd/>
              <a:tailEnd/>
            </a:ln>
          </p:spPr>
          <p:txBody>
            <a:bodyPr wrap="none" anchor="ctr"/>
            <a:lstStyle/>
            <a:p>
              <a:endParaRPr lang="en-GB"/>
            </a:p>
          </p:txBody>
        </p:sp>
        <p:sp>
          <p:nvSpPr>
            <p:cNvPr id="3157" name="Freeform 56"/>
            <p:cNvSpPr>
              <a:spLocks/>
            </p:cNvSpPr>
            <p:nvPr/>
          </p:nvSpPr>
          <p:spPr bwMode="auto">
            <a:xfrm flipH="1">
              <a:off x="3031" y="1481"/>
              <a:ext cx="102" cy="1094"/>
            </a:xfrm>
            <a:custGeom>
              <a:avLst/>
              <a:gdLst>
                <a:gd name="T0" fmla="*/ 0 w 102"/>
                <a:gd name="T1" fmla="*/ 0 h 1094"/>
                <a:gd name="T2" fmla="*/ 81 w 102"/>
                <a:gd name="T3" fmla="*/ 200 h 1094"/>
                <a:gd name="T4" fmla="*/ 31 w 102"/>
                <a:gd name="T5" fmla="*/ 375 h 1094"/>
                <a:gd name="T6" fmla="*/ 69 w 102"/>
                <a:gd name="T7" fmla="*/ 556 h 1094"/>
                <a:gd name="T8" fmla="*/ 25 w 102"/>
                <a:gd name="T9" fmla="*/ 737 h 1094"/>
                <a:gd name="T10" fmla="*/ 100 w 102"/>
                <a:gd name="T11" fmla="*/ 881 h 1094"/>
                <a:gd name="T12" fmla="*/ 37 w 102"/>
                <a:gd name="T13" fmla="*/ 1094 h 1094"/>
                <a:gd name="T14" fmla="*/ 0 60000 65536"/>
                <a:gd name="T15" fmla="*/ 0 60000 65536"/>
                <a:gd name="T16" fmla="*/ 0 60000 65536"/>
                <a:gd name="T17" fmla="*/ 0 60000 65536"/>
                <a:gd name="T18" fmla="*/ 0 60000 65536"/>
                <a:gd name="T19" fmla="*/ 0 60000 65536"/>
                <a:gd name="T20" fmla="*/ 0 60000 65536"/>
                <a:gd name="T21" fmla="*/ 0 w 102"/>
                <a:gd name="T22" fmla="*/ 0 h 1094"/>
                <a:gd name="T23" fmla="*/ 102 w 102"/>
                <a:gd name="T24" fmla="*/ 1094 h 10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2" h="1094">
                  <a:moveTo>
                    <a:pt x="0" y="0"/>
                  </a:moveTo>
                  <a:cubicBezTo>
                    <a:pt x="38" y="69"/>
                    <a:pt x="76" y="138"/>
                    <a:pt x="81" y="200"/>
                  </a:cubicBezTo>
                  <a:cubicBezTo>
                    <a:pt x="86" y="262"/>
                    <a:pt x="33" y="316"/>
                    <a:pt x="31" y="375"/>
                  </a:cubicBezTo>
                  <a:cubicBezTo>
                    <a:pt x="29" y="434"/>
                    <a:pt x="70" y="496"/>
                    <a:pt x="69" y="556"/>
                  </a:cubicBezTo>
                  <a:cubicBezTo>
                    <a:pt x="68" y="616"/>
                    <a:pt x="20" y="683"/>
                    <a:pt x="25" y="737"/>
                  </a:cubicBezTo>
                  <a:cubicBezTo>
                    <a:pt x="30" y="791"/>
                    <a:pt x="98" y="822"/>
                    <a:pt x="100" y="881"/>
                  </a:cubicBezTo>
                  <a:cubicBezTo>
                    <a:pt x="102" y="940"/>
                    <a:pt x="46" y="1060"/>
                    <a:pt x="37" y="1094"/>
                  </a:cubicBezTo>
                </a:path>
              </a:pathLst>
            </a:custGeom>
            <a:noFill/>
            <a:ln w="9525">
              <a:solidFill>
                <a:schemeClr val="tx1"/>
              </a:solidFill>
              <a:round/>
              <a:headEnd/>
              <a:tailEnd/>
            </a:ln>
          </p:spPr>
          <p:txBody>
            <a:bodyPr wrap="none" anchor="ctr"/>
            <a:lstStyle/>
            <a:p>
              <a:endParaRPr lang="en-GB"/>
            </a:p>
          </p:txBody>
        </p:sp>
      </p:grpSp>
      <p:grpSp>
        <p:nvGrpSpPr>
          <p:cNvPr id="19" name="Group 57"/>
          <p:cNvGrpSpPr>
            <a:grpSpLocks/>
          </p:cNvGrpSpPr>
          <p:nvPr/>
        </p:nvGrpSpPr>
        <p:grpSpPr bwMode="auto">
          <a:xfrm rot="16200000" flipV="1">
            <a:off x="1694657" y="3564731"/>
            <a:ext cx="39688" cy="542925"/>
            <a:chOff x="3025" y="1469"/>
            <a:chExt cx="108" cy="1106"/>
          </a:xfrm>
        </p:grpSpPr>
        <p:sp>
          <p:nvSpPr>
            <p:cNvPr id="3154" name="Freeform 58"/>
            <p:cNvSpPr>
              <a:spLocks/>
            </p:cNvSpPr>
            <p:nvPr/>
          </p:nvSpPr>
          <p:spPr bwMode="auto">
            <a:xfrm>
              <a:off x="3025" y="1469"/>
              <a:ext cx="102" cy="1094"/>
            </a:xfrm>
            <a:custGeom>
              <a:avLst/>
              <a:gdLst>
                <a:gd name="T0" fmla="*/ 0 w 102"/>
                <a:gd name="T1" fmla="*/ 0 h 1094"/>
                <a:gd name="T2" fmla="*/ 81 w 102"/>
                <a:gd name="T3" fmla="*/ 200 h 1094"/>
                <a:gd name="T4" fmla="*/ 31 w 102"/>
                <a:gd name="T5" fmla="*/ 375 h 1094"/>
                <a:gd name="T6" fmla="*/ 69 w 102"/>
                <a:gd name="T7" fmla="*/ 556 h 1094"/>
                <a:gd name="T8" fmla="*/ 25 w 102"/>
                <a:gd name="T9" fmla="*/ 737 h 1094"/>
                <a:gd name="T10" fmla="*/ 100 w 102"/>
                <a:gd name="T11" fmla="*/ 881 h 1094"/>
                <a:gd name="T12" fmla="*/ 37 w 102"/>
                <a:gd name="T13" fmla="*/ 1094 h 1094"/>
                <a:gd name="T14" fmla="*/ 0 60000 65536"/>
                <a:gd name="T15" fmla="*/ 0 60000 65536"/>
                <a:gd name="T16" fmla="*/ 0 60000 65536"/>
                <a:gd name="T17" fmla="*/ 0 60000 65536"/>
                <a:gd name="T18" fmla="*/ 0 60000 65536"/>
                <a:gd name="T19" fmla="*/ 0 60000 65536"/>
                <a:gd name="T20" fmla="*/ 0 60000 65536"/>
                <a:gd name="T21" fmla="*/ 0 w 102"/>
                <a:gd name="T22" fmla="*/ 0 h 1094"/>
                <a:gd name="T23" fmla="*/ 102 w 102"/>
                <a:gd name="T24" fmla="*/ 1094 h 10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2" h="1094">
                  <a:moveTo>
                    <a:pt x="0" y="0"/>
                  </a:moveTo>
                  <a:cubicBezTo>
                    <a:pt x="38" y="69"/>
                    <a:pt x="76" y="138"/>
                    <a:pt x="81" y="200"/>
                  </a:cubicBezTo>
                  <a:cubicBezTo>
                    <a:pt x="86" y="262"/>
                    <a:pt x="33" y="316"/>
                    <a:pt x="31" y="375"/>
                  </a:cubicBezTo>
                  <a:cubicBezTo>
                    <a:pt x="29" y="434"/>
                    <a:pt x="70" y="496"/>
                    <a:pt x="69" y="556"/>
                  </a:cubicBezTo>
                  <a:cubicBezTo>
                    <a:pt x="68" y="616"/>
                    <a:pt x="20" y="683"/>
                    <a:pt x="25" y="737"/>
                  </a:cubicBezTo>
                  <a:cubicBezTo>
                    <a:pt x="30" y="791"/>
                    <a:pt x="98" y="822"/>
                    <a:pt x="100" y="881"/>
                  </a:cubicBezTo>
                  <a:cubicBezTo>
                    <a:pt x="102" y="940"/>
                    <a:pt x="46" y="1060"/>
                    <a:pt x="37" y="1094"/>
                  </a:cubicBezTo>
                </a:path>
              </a:pathLst>
            </a:custGeom>
            <a:noFill/>
            <a:ln w="9525">
              <a:solidFill>
                <a:schemeClr val="tx1"/>
              </a:solidFill>
              <a:round/>
              <a:headEnd/>
              <a:tailEnd/>
            </a:ln>
          </p:spPr>
          <p:txBody>
            <a:bodyPr wrap="none" anchor="ctr"/>
            <a:lstStyle/>
            <a:p>
              <a:endParaRPr lang="en-GB"/>
            </a:p>
          </p:txBody>
        </p:sp>
        <p:sp>
          <p:nvSpPr>
            <p:cNvPr id="3155" name="Freeform 59"/>
            <p:cNvSpPr>
              <a:spLocks/>
            </p:cNvSpPr>
            <p:nvPr/>
          </p:nvSpPr>
          <p:spPr bwMode="auto">
            <a:xfrm flipH="1">
              <a:off x="3031" y="1481"/>
              <a:ext cx="102" cy="1094"/>
            </a:xfrm>
            <a:custGeom>
              <a:avLst/>
              <a:gdLst>
                <a:gd name="T0" fmla="*/ 0 w 102"/>
                <a:gd name="T1" fmla="*/ 0 h 1094"/>
                <a:gd name="T2" fmla="*/ 81 w 102"/>
                <a:gd name="T3" fmla="*/ 200 h 1094"/>
                <a:gd name="T4" fmla="*/ 31 w 102"/>
                <a:gd name="T5" fmla="*/ 375 h 1094"/>
                <a:gd name="T6" fmla="*/ 69 w 102"/>
                <a:gd name="T7" fmla="*/ 556 h 1094"/>
                <a:gd name="T8" fmla="*/ 25 w 102"/>
                <a:gd name="T9" fmla="*/ 737 h 1094"/>
                <a:gd name="T10" fmla="*/ 100 w 102"/>
                <a:gd name="T11" fmla="*/ 881 h 1094"/>
                <a:gd name="T12" fmla="*/ 37 w 102"/>
                <a:gd name="T13" fmla="*/ 1094 h 1094"/>
                <a:gd name="T14" fmla="*/ 0 60000 65536"/>
                <a:gd name="T15" fmla="*/ 0 60000 65536"/>
                <a:gd name="T16" fmla="*/ 0 60000 65536"/>
                <a:gd name="T17" fmla="*/ 0 60000 65536"/>
                <a:gd name="T18" fmla="*/ 0 60000 65536"/>
                <a:gd name="T19" fmla="*/ 0 60000 65536"/>
                <a:gd name="T20" fmla="*/ 0 60000 65536"/>
                <a:gd name="T21" fmla="*/ 0 w 102"/>
                <a:gd name="T22" fmla="*/ 0 h 1094"/>
                <a:gd name="T23" fmla="*/ 102 w 102"/>
                <a:gd name="T24" fmla="*/ 1094 h 10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2" h="1094">
                  <a:moveTo>
                    <a:pt x="0" y="0"/>
                  </a:moveTo>
                  <a:cubicBezTo>
                    <a:pt x="38" y="69"/>
                    <a:pt x="76" y="138"/>
                    <a:pt x="81" y="200"/>
                  </a:cubicBezTo>
                  <a:cubicBezTo>
                    <a:pt x="86" y="262"/>
                    <a:pt x="33" y="316"/>
                    <a:pt x="31" y="375"/>
                  </a:cubicBezTo>
                  <a:cubicBezTo>
                    <a:pt x="29" y="434"/>
                    <a:pt x="70" y="496"/>
                    <a:pt x="69" y="556"/>
                  </a:cubicBezTo>
                  <a:cubicBezTo>
                    <a:pt x="68" y="616"/>
                    <a:pt x="20" y="683"/>
                    <a:pt x="25" y="737"/>
                  </a:cubicBezTo>
                  <a:cubicBezTo>
                    <a:pt x="30" y="791"/>
                    <a:pt x="98" y="822"/>
                    <a:pt x="100" y="881"/>
                  </a:cubicBezTo>
                  <a:cubicBezTo>
                    <a:pt x="102" y="940"/>
                    <a:pt x="46" y="1060"/>
                    <a:pt x="37" y="1094"/>
                  </a:cubicBezTo>
                </a:path>
              </a:pathLst>
            </a:custGeom>
            <a:noFill/>
            <a:ln w="9525">
              <a:solidFill>
                <a:schemeClr val="tx1"/>
              </a:solidFill>
              <a:round/>
              <a:headEnd/>
              <a:tailEnd/>
            </a:ln>
          </p:spPr>
          <p:txBody>
            <a:bodyPr wrap="none" anchor="ctr"/>
            <a:lstStyle/>
            <a:p>
              <a:endParaRPr lang="en-GB"/>
            </a:p>
          </p:txBody>
        </p:sp>
      </p:grpSp>
      <p:grpSp>
        <p:nvGrpSpPr>
          <p:cNvPr id="20" name="Group 60"/>
          <p:cNvGrpSpPr>
            <a:grpSpLocks/>
          </p:cNvGrpSpPr>
          <p:nvPr/>
        </p:nvGrpSpPr>
        <p:grpSpPr bwMode="auto">
          <a:xfrm rot="16200000" flipV="1">
            <a:off x="1694657" y="3718719"/>
            <a:ext cx="39687" cy="542925"/>
            <a:chOff x="3025" y="1469"/>
            <a:chExt cx="108" cy="1106"/>
          </a:xfrm>
        </p:grpSpPr>
        <p:sp>
          <p:nvSpPr>
            <p:cNvPr id="3152" name="Freeform 61"/>
            <p:cNvSpPr>
              <a:spLocks/>
            </p:cNvSpPr>
            <p:nvPr/>
          </p:nvSpPr>
          <p:spPr bwMode="auto">
            <a:xfrm>
              <a:off x="3025" y="1469"/>
              <a:ext cx="102" cy="1094"/>
            </a:xfrm>
            <a:custGeom>
              <a:avLst/>
              <a:gdLst>
                <a:gd name="T0" fmla="*/ 0 w 102"/>
                <a:gd name="T1" fmla="*/ 0 h 1094"/>
                <a:gd name="T2" fmla="*/ 81 w 102"/>
                <a:gd name="T3" fmla="*/ 200 h 1094"/>
                <a:gd name="T4" fmla="*/ 31 w 102"/>
                <a:gd name="T5" fmla="*/ 375 h 1094"/>
                <a:gd name="T6" fmla="*/ 69 w 102"/>
                <a:gd name="T7" fmla="*/ 556 h 1094"/>
                <a:gd name="T8" fmla="*/ 25 w 102"/>
                <a:gd name="T9" fmla="*/ 737 h 1094"/>
                <a:gd name="T10" fmla="*/ 100 w 102"/>
                <a:gd name="T11" fmla="*/ 881 h 1094"/>
                <a:gd name="T12" fmla="*/ 37 w 102"/>
                <a:gd name="T13" fmla="*/ 1094 h 1094"/>
                <a:gd name="T14" fmla="*/ 0 60000 65536"/>
                <a:gd name="T15" fmla="*/ 0 60000 65536"/>
                <a:gd name="T16" fmla="*/ 0 60000 65536"/>
                <a:gd name="T17" fmla="*/ 0 60000 65536"/>
                <a:gd name="T18" fmla="*/ 0 60000 65536"/>
                <a:gd name="T19" fmla="*/ 0 60000 65536"/>
                <a:gd name="T20" fmla="*/ 0 60000 65536"/>
                <a:gd name="T21" fmla="*/ 0 w 102"/>
                <a:gd name="T22" fmla="*/ 0 h 1094"/>
                <a:gd name="T23" fmla="*/ 102 w 102"/>
                <a:gd name="T24" fmla="*/ 1094 h 10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2" h="1094">
                  <a:moveTo>
                    <a:pt x="0" y="0"/>
                  </a:moveTo>
                  <a:cubicBezTo>
                    <a:pt x="38" y="69"/>
                    <a:pt x="76" y="138"/>
                    <a:pt x="81" y="200"/>
                  </a:cubicBezTo>
                  <a:cubicBezTo>
                    <a:pt x="86" y="262"/>
                    <a:pt x="33" y="316"/>
                    <a:pt x="31" y="375"/>
                  </a:cubicBezTo>
                  <a:cubicBezTo>
                    <a:pt x="29" y="434"/>
                    <a:pt x="70" y="496"/>
                    <a:pt x="69" y="556"/>
                  </a:cubicBezTo>
                  <a:cubicBezTo>
                    <a:pt x="68" y="616"/>
                    <a:pt x="20" y="683"/>
                    <a:pt x="25" y="737"/>
                  </a:cubicBezTo>
                  <a:cubicBezTo>
                    <a:pt x="30" y="791"/>
                    <a:pt x="98" y="822"/>
                    <a:pt x="100" y="881"/>
                  </a:cubicBezTo>
                  <a:cubicBezTo>
                    <a:pt x="102" y="940"/>
                    <a:pt x="46" y="1060"/>
                    <a:pt x="37" y="1094"/>
                  </a:cubicBezTo>
                </a:path>
              </a:pathLst>
            </a:custGeom>
            <a:noFill/>
            <a:ln w="9525">
              <a:solidFill>
                <a:schemeClr val="tx1"/>
              </a:solidFill>
              <a:round/>
              <a:headEnd/>
              <a:tailEnd/>
            </a:ln>
          </p:spPr>
          <p:txBody>
            <a:bodyPr wrap="none" anchor="ctr"/>
            <a:lstStyle/>
            <a:p>
              <a:endParaRPr lang="en-GB"/>
            </a:p>
          </p:txBody>
        </p:sp>
        <p:sp>
          <p:nvSpPr>
            <p:cNvPr id="3153" name="Freeform 62"/>
            <p:cNvSpPr>
              <a:spLocks/>
            </p:cNvSpPr>
            <p:nvPr/>
          </p:nvSpPr>
          <p:spPr bwMode="auto">
            <a:xfrm flipH="1">
              <a:off x="3031" y="1481"/>
              <a:ext cx="102" cy="1094"/>
            </a:xfrm>
            <a:custGeom>
              <a:avLst/>
              <a:gdLst>
                <a:gd name="T0" fmla="*/ 0 w 102"/>
                <a:gd name="T1" fmla="*/ 0 h 1094"/>
                <a:gd name="T2" fmla="*/ 81 w 102"/>
                <a:gd name="T3" fmla="*/ 200 h 1094"/>
                <a:gd name="T4" fmla="*/ 31 w 102"/>
                <a:gd name="T5" fmla="*/ 375 h 1094"/>
                <a:gd name="T6" fmla="*/ 69 w 102"/>
                <a:gd name="T7" fmla="*/ 556 h 1094"/>
                <a:gd name="T8" fmla="*/ 25 w 102"/>
                <a:gd name="T9" fmla="*/ 737 h 1094"/>
                <a:gd name="T10" fmla="*/ 100 w 102"/>
                <a:gd name="T11" fmla="*/ 881 h 1094"/>
                <a:gd name="T12" fmla="*/ 37 w 102"/>
                <a:gd name="T13" fmla="*/ 1094 h 1094"/>
                <a:gd name="T14" fmla="*/ 0 60000 65536"/>
                <a:gd name="T15" fmla="*/ 0 60000 65536"/>
                <a:gd name="T16" fmla="*/ 0 60000 65536"/>
                <a:gd name="T17" fmla="*/ 0 60000 65536"/>
                <a:gd name="T18" fmla="*/ 0 60000 65536"/>
                <a:gd name="T19" fmla="*/ 0 60000 65536"/>
                <a:gd name="T20" fmla="*/ 0 60000 65536"/>
                <a:gd name="T21" fmla="*/ 0 w 102"/>
                <a:gd name="T22" fmla="*/ 0 h 1094"/>
                <a:gd name="T23" fmla="*/ 102 w 102"/>
                <a:gd name="T24" fmla="*/ 1094 h 10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2" h="1094">
                  <a:moveTo>
                    <a:pt x="0" y="0"/>
                  </a:moveTo>
                  <a:cubicBezTo>
                    <a:pt x="38" y="69"/>
                    <a:pt x="76" y="138"/>
                    <a:pt x="81" y="200"/>
                  </a:cubicBezTo>
                  <a:cubicBezTo>
                    <a:pt x="86" y="262"/>
                    <a:pt x="33" y="316"/>
                    <a:pt x="31" y="375"/>
                  </a:cubicBezTo>
                  <a:cubicBezTo>
                    <a:pt x="29" y="434"/>
                    <a:pt x="70" y="496"/>
                    <a:pt x="69" y="556"/>
                  </a:cubicBezTo>
                  <a:cubicBezTo>
                    <a:pt x="68" y="616"/>
                    <a:pt x="20" y="683"/>
                    <a:pt x="25" y="737"/>
                  </a:cubicBezTo>
                  <a:cubicBezTo>
                    <a:pt x="30" y="791"/>
                    <a:pt x="98" y="822"/>
                    <a:pt x="100" y="881"/>
                  </a:cubicBezTo>
                  <a:cubicBezTo>
                    <a:pt x="102" y="940"/>
                    <a:pt x="46" y="1060"/>
                    <a:pt x="37" y="1094"/>
                  </a:cubicBezTo>
                </a:path>
              </a:pathLst>
            </a:custGeom>
            <a:noFill/>
            <a:ln w="9525">
              <a:solidFill>
                <a:schemeClr val="tx1"/>
              </a:solidFill>
              <a:round/>
              <a:headEnd/>
              <a:tailEnd/>
            </a:ln>
          </p:spPr>
          <p:txBody>
            <a:bodyPr wrap="none" anchor="ctr"/>
            <a:lstStyle/>
            <a:p>
              <a:endParaRPr lang="en-GB"/>
            </a:p>
          </p:txBody>
        </p:sp>
      </p:grpSp>
      <p:grpSp>
        <p:nvGrpSpPr>
          <p:cNvPr id="21" name="Group 63"/>
          <p:cNvGrpSpPr>
            <a:grpSpLocks/>
          </p:cNvGrpSpPr>
          <p:nvPr/>
        </p:nvGrpSpPr>
        <p:grpSpPr bwMode="auto">
          <a:xfrm rot="16200000" flipV="1">
            <a:off x="1694657" y="3852069"/>
            <a:ext cx="39687" cy="542925"/>
            <a:chOff x="3025" y="1469"/>
            <a:chExt cx="108" cy="1106"/>
          </a:xfrm>
        </p:grpSpPr>
        <p:sp>
          <p:nvSpPr>
            <p:cNvPr id="3150" name="Freeform 64"/>
            <p:cNvSpPr>
              <a:spLocks/>
            </p:cNvSpPr>
            <p:nvPr/>
          </p:nvSpPr>
          <p:spPr bwMode="auto">
            <a:xfrm>
              <a:off x="3025" y="1469"/>
              <a:ext cx="102" cy="1094"/>
            </a:xfrm>
            <a:custGeom>
              <a:avLst/>
              <a:gdLst>
                <a:gd name="T0" fmla="*/ 0 w 102"/>
                <a:gd name="T1" fmla="*/ 0 h 1094"/>
                <a:gd name="T2" fmla="*/ 81 w 102"/>
                <a:gd name="T3" fmla="*/ 200 h 1094"/>
                <a:gd name="T4" fmla="*/ 31 w 102"/>
                <a:gd name="T5" fmla="*/ 375 h 1094"/>
                <a:gd name="T6" fmla="*/ 69 w 102"/>
                <a:gd name="T7" fmla="*/ 556 h 1094"/>
                <a:gd name="T8" fmla="*/ 25 w 102"/>
                <a:gd name="T9" fmla="*/ 737 h 1094"/>
                <a:gd name="T10" fmla="*/ 100 w 102"/>
                <a:gd name="T11" fmla="*/ 881 h 1094"/>
                <a:gd name="T12" fmla="*/ 37 w 102"/>
                <a:gd name="T13" fmla="*/ 1094 h 1094"/>
                <a:gd name="T14" fmla="*/ 0 60000 65536"/>
                <a:gd name="T15" fmla="*/ 0 60000 65536"/>
                <a:gd name="T16" fmla="*/ 0 60000 65536"/>
                <a:gd name="T17" fmla="*/ 0 60000 65536"/>
                <a:gd name="T18" fmla="*/ 0 60000 65536"/>
                <a:gd name="T19" fmla="*/ 0 60000 65536"/>
                <a:gd name="T20" fmla="*/ 0 60000 65536"/>
                <a:gd name="T21" fmla="*/ 0 w 102"/>
                <a:gd name="T22" fmla="*/ 0 h 1094"/>
                <a:gd name="T23" fmla="*/ 102 w 102"/>
                <a:gd name="T24" fmla="*/ 1094 h 10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2" h="1094">
                  <a:moveTo>
                    <a:pt x="0" y="0"/>
                  </a:moveTo>
                  <a:cubicBezTo>
                    <a:pt x="38" y="69"/>
                    <a:pt x="76" y="138"/>
                    <a:pt x="81" y="200"/>
                  </a:cubicBezTo>
                  <a:cubicBezTo>
                    <a:pt x="86" y="262"/>
                    <a:pt x="33" y="316"/>
                    <a:pt x="31" y="375"/>
                  </a:cubicBezTo>
                  <a:cubicBezTo>
                    <a:pt x="29" y="434"/>
                    <a:pt x="70" y="496"/>
                    <a:pt x="69" y="556"/>
                  </a:cubicBezTo>
                  <a:cubicBezTo>
                    <a:pt x="68" y="616"/>
                    <a:pt x="20" y="683"/>
                    <a:pt x="25" y="737"/>
                  </a:cubicBezTo>
                  <a:cubicBezTo>
                    <a:pt x="30" y="791"/>
                    <a:pt x="98" y="822"/>
                    <a:pt x="100" y="881"/>
                  </a:cubicBezTo>
                  <a:cubicBezTo>
                    <a:pt x="102" y="940"/>
                    <a:pt x="46" y="1060"/>
                    <a:pt x="37" y="1094"/>
                  </a:cubicBezTo>
                </a:path>
              </a:pathLst>
            </a:custGeom>
            <a:noFill/>
            <a:ln w="9525">
              <a:solidFill>
                <a:schemeClr val="tx1"/>
              </a:solidFill>
              <a:round/>
              <a:headEnd/>
              <a:tailEnd/>
            </a:ln>
          </p:spPr>
          <p:txBody>
            <a:bodyPr wrap="none" anchor="ctr"/>
            <a:lstStyle/>
            <a:p>
              <a:endParaRPr lang="en-GB"/>
            </a:p>
          </p:txBody>
        </p:sp>
        <p:sp>
          <p:nvSpPr>
            <p:cNvPr id="3151" name="Freeform 65"/>
            <p:cNvSpPr>
              <a:spLocks/>
            </p:cNvSpPr>
            <p:nvPr/>
          </p:nvSpPr>
          <p:spPr bwMode="auto">
            <a:xfrm flipH="1">
              <a:off x="3031" y="1481"/>
              <a:ext cx="102" cy="1094"/>
            </a:xfrm>
            <a:custGeom>
              <a:avLst/>
              <a:gdLst>
                <a:gd name="T0" fmla="*/ 0 w 102"/>
                <a:gd name="T1" fmla="*/ 0 h 1094"/>
                <a:gd name="T2" fmla="*/ 81 w 102"/>
                <a:gd name="T3" fmla="*/ 200 h 1094"/>
                <a:gd name="T4" fmla="*/ 31 w 102"/>
                <a:gd name="T5" fmla="*/ 375 h 1094"/>
                <a:gd name="T6" fmla="*/ 69 w 102"/>
                <a:gd name="T7" fmla="*/ 556 h 1094"/>
                <a:gd name="T8" fmla="*/ 25 w 102"/>
                <a:gd name="T9" fmla="*/ 737 h 1094"/>
                <a:gd name="T10" fmla="*/ 100 w 102"/>
                <a:gd name="T11" fmla="*/ 881 h 1094"/>
                <a:gd name="T12" fmla="*/ 37 w 102"/>
                <a:gd name="T13" fmla="*/ 1094 h 1094"/>
                <a:gd name="T14" fmla="*/ 0 60000 65536"/>
                <a:gd name="T15" fmla="*/ 0 60000 65536"/>
                <a:gd name="T16" fmla="*/ 0 60000 65536"/>
                <a:gd name="T17" fmla="*/ 0 60000 65536"/>
                <a:gd name="T18" fmla="*/ 0 60000 65536"/>
                <a:gd name="T19" fmla="*/ 0 60000 65536"/>
                <a:gd name="T20" fmla="*/ 0 60000 65536"/>
                <a:gd name="T21" fmla="*/ 0 w 102"/>
                <a:gd name="T22" fmla="*/ 0 h 1094"/>
                <a:gd name="T23" fmla="*/ 102 w 102"/>
                <a:gd name="T24" fmla="*/ 1094 h 10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2" h="1094">
                  <a:moveTo>
                    <a:pt x="0" y="0"/>
                  </a:moveTo>
                  <a:cubicBezTo>
                    <a:pt x="38" y="69"/>
                    <a:pt x="76" y="138"/>
                    <a:pt x="81" y="200"/>
                  </a:cubicBezTo>
                  <a:cubicBezTo>
                    <a:pt x="86" y="262"/>
                    <a:pt x="33" y="316"/>
                    <a:pt x="31" y="375"/>
                  </a:cubicBezTo>
                  <a:cubicBezTo>
                    <a:pt x="29" y="434"/>
                    <a:pt x="70" y="496"/>
                    <a:pt x="69" y="556"/>
                  </a:cubicBezTo>
                  <a:cubicBezTo>
                    <a:pt x="68" y="616"/>
                    <a:pt x="20" y="683"/>
                    <a:pt x="25" y="737"/>
                  </a:cubicBezTo>
                  <a:cubicBezTo>
                    <a:pt x="30" y="791"/>
                    <a:pt x="98" y="822"/>
                    <a:pt x="100" y="881"/>
                  </a:cubicBezTo>
                  <a:cubicBezTo>
                    <a:pt x="102" y="940"/>
                    <a:pt x="46" y="1060"/>
                    <a:pt x="37" y="1094"/>
                  </a:cubicBezTo>
                </a:path>
              </a:pathLst>
            </a:custGeom>
            <a:noFill/>
            <a:ln w="9525">
              <a:solidFill>
                <a:schemeClr val="tx1"/>
              </a:solidFill>
              <a:round/>
              <a:headEnd/>
              <a:tailEnd/>
            </a:ln>
          </p:spPr>
          <p:txBody>
            <a:bodyPr wrap="none" anchor="ctr"/>
            <a:lstStyle/>
            <a:p>
              <a:endParaRPr lang="en-GB"/>
            </a:p>
          </p:txBody>
        </p:sp>
      </p:grpSp>
      <p:grpSp>
        <p:nvGrpSpPr>
          <p:cNvPr id="22" name="Group 66"/>
          <p:cNvGrpSpPr>
            <a:grpSpLocks/>
          </p:cNvGrpSpPr>
          <p:nvPr/>
        </p:nvGrpSpPr>
        <p:grpSpPr bwMode="auto">
          <a:xfrm rot="16200000" flipV="1">
            <a:off x="2647157" y="3688556"/>
            <a:ext cx="39688" cy="542925"/>
            <a:chOff x="3025" y="1469"/>
            <a:chExt cx="108" cy="1106"/>
          </a:xfrm>
        </p:grpSpPr>
        <p:sp>
          <p:nvSpPr>
            <p:cNvPr id="3148" name="Freeform 67"/>
            <p:cNvSpPr>
              <a:spLocks/>
            </p:cNvSpPr>
            <p:nvPr/>
          </p:nvSpPr>
          <p:spPr bwMode="auto">
            <a:xfrm>
              <a:off x="3025" y="1469"/>
              <a:ext cx="102" cy="1094"/>
            </a:xfrm>
            <a:custGeom>
              <a:avLst/>
              <a:gdLst>
                <a:gd name="T0" fmla="*/ 0 w 102"/>
                <a:gd name="T1" fmla="*/ 0 h 1094"/>
                <a:gd name="T2" fmla="*/ 81 w 102"/>
                <a:gd name="T3" fmla="*/ 200 h 1094"/>
                <a:gd name="T4" fmla="*/ 31 w 102"/>
                <a:gd name="T5" fmla="*/ 375 h 1094"/>
                <a:gd name="T6" fmla="*/ 69 w 102"/>
                <a:gd name="T7" fmla="*/ 556 h 1094"/>
                <a:gd name="T8" fmla="*/ 25 w 102"/>
                <a:gd name="T9" fmla="*/ 737 h 1094"/>
                <a:gd name="T10" fmla="*/ 100 w 102"/>
                <a:gd name="T11" fmla="*/ 881 h 1094"/>
                <a:gd name="T12" fmla="*/ 37 w 102"/>
                <a:gd name="T13" fmla="*/ 1094 h 1094"/>
                <a:gd name="T14" fmla="*/ 0 60000 65536"/>
                <a:gd name="T15" fmla="*/ 0 60000 65536"/>
                <a:gd name="T16" fmla="*/ 0 60000 65536"/>
                <a:gd name="T17" fmla="*/ 0 60000 65536"/>
                <a:gd name="T18" fmla="*/ 0 60000 65536"/>
                <a:gd name="T19" fmla="*/ 0 60000 65536"/>
                <a:gd name="T20" fmla="*/ 0 60000 65536"/>
                <a:gd name="T21" fmla="*/ 0 w 102"/>
                <a:gd name="T22" fmla="*/ 0 h 1094"/>
                <a:gd name="T23" fmla="*/ 102 w 102"/>
                <a:gd name="T24" fmla="*/ 1094 h 10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2" h="1094">
                  <a:moveTo>
                    <a:pt x="0" y="0"/>
                  </a:moveTo>
                  <a:cubicBezTo>
                    <a:pt x="38" y="69"/>
                    <a:pt x="76" y="138"/>
                    <a:pt x="81" y="200"/>
                  </a:cubicBezTo>
                  <a:cubicBezTo>
                    <a:pt x="86" y="262"/>
                    <a:pt x="33" y="316"/>
                    <a:pt x="31" y="375"/>
                  </a:cubicBezTo>
                  <a:cubicBezTo>
                    <a:pt x="29" y="434"/>
                    <a:pt x="70" y="496"/>
                    <a:pt x="69" y="556"/>
                  </a:cubicBezTo>
                  <a:cubicBezTo>
                    <a:pt x="68" y="616"/>
                    <a:pt x="20" y="683"/>
                    <a:pt x="25" y="737"/>
                  </a:cubicBezTo>
                  <a:cubicBezTo>
                    <a:pt x="30" y="791"/>
                    <a:pt x="98" y="822"/>
                    <a:pt x="100" y="881"/>
                  </a:cubicBezTo>
                  <a:cubicBezTo>
                    <a:pt x="102" y="940"/>
                    <a:pt x="46" y="1060"/>
                    <a:pt x="37" y="1094"/>
                  </a:cubicBezTo>
                </a:path>
              </a:pathLst>
            </a:custGeom>
            <a:noFill/>
            <a:ln w="9525">
              <a:solidFill>
                <a:schemeClr val="tx1"/>
              </a:solidFill>
              <a:round/>
              <a:headEnd/>
              <a:tailEnd/>
            </a:ln>
          </p:spPr>
          <p:txBody>
            <a:bodyPr wrap="none" anchor="ctr"/>
            <a:lstStyle/>
            <a:p>
              <a:endParaRPr lang="en-GB"/>
            </a:p>
          </p:txBody>
        </p:sp>
        <p:sp>
          <p:nvSpPr>
            <p:cNvPr id="3149" name="Freeform 68"/>
            <p:cNvSpPr>
              <a:spLocks/>
            </p:cNvSpPr>
            <p:nvPr/>
          </p:nvSpPr>
          <p:spPr bwMode="auto">
            <a:xfrm flipH="1">
              <a:off x="3031" y="1481"/>
              <a:ext cx="102" cy="1094"/>
            </a:xfrm>
            <a:custGeom>
              <a:avLst/>
              <a:gdLst>
                <a:gd name="T0" fmla="*/ 0 w 102"/>
                <a:gd name="T1" fmla="*/ 0 h 1094"/>
                <a:gd name="T2" fmla="*/ 81 w 102"/>
                <a:gd name="T3" fmla="*/ 200 h 1094"/>
                <a:gd name="T4" fmla="*/ 31 w 102"/>
                <a:gd name="T5" fmla="*/ 375 h 1094"/>
                <a:gd name="T6" fmla="*/ 69 w 102"/>
                <a:gd name="T7" fmla="*/ 556 h 1094"/>
                <a:gd name="T8" fmla="*/ 25 w 102"/>
                <a:gd name="T9" fmla="*/ 737 h 1094"/>
                <a:gd name="T10" fmla="*/ 100 w 102"/>
                <a:gd name="T11" fmla="*/ 881 h 1094"/>
                <a:gd name="T12" fmla="*/ 37 w 102"/>
                <a:gd name="T13" fmla="*/ 1094 h 1094"/>
                <a:gd name="T14" fmla="*/ 0 60000 65536"/>
                <a:gd name="T15" fmla="*/ 0 60000 65536"/>
                <a:gd name="T16" fmla="*/ 0 60000 65536"/>
                <a:gd name="T17" fmla="*/ 0 60000 65536"/>
                <a:gd name="T18" fmla="*/ 0 60000 65536"/>
                <a:gd name="T19" fmla="*/ 0 60000 65536"/>
                <a:gd name="T20" fmla="*/ 0 60000 65536"/>
                <a:gd name="T21" fmla="*/ 0 w 102"/>
                <a:gd name="T22" fmla="*/ 0 h 1094"/>
                <a:gd name="T23" fmla="*/ 102 w 102"/>
                <a:gd name="T24" fmla="*/ 1094 h 10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2" h="1094">
                  <a:moveTo>
                    <a:pt x="0" y="0"/>
                  </a:moveTo>
                  <a:cubicBezTo>
                    <a:pt x="38" y="69"/>
                    <a:pt x="76" y="138"/>
                    <a:pt x="81" y="200"/>
                  </a:cubicBezTo>
                  <a:cubicBezTo>
                    <a:pt x="86" y="262"/>
                    <a:pt x="33" y="316"/>
                    <a:pt x="31" y="375"/>
                  </a:cubicBezTo>
                  <a:cubicBezTo>
                    <a:pt x="29" y="434"/>
                    <a:pt x="70" y="496"/>
                    <a:pt x="69" y="556"/>
                  </a:cubicBezTo>
                  <a:cubicBezTo>
                    <a:pt x="68" y="616"/>
                    <a:pt x="20" y="683"/>
                    <a:pt x="25" y="737"/>
                  </a:cubicBezTo>
                  <a:cubicBezTo>
                    <a:pt x="30" y="791"/>
                    <a:pt x="98" y="822"/>
                    <a:pt x="100" y="881"/>
                  </a:cubicBezTo>
                  <a:cubicBezTo>
                    <a:pt x="102" y="940"/>
                    <a:pt x="46" y="1060"/>
                    <a:pt x="37" y="1094"/>
                  </a:cubicBezTo>
                </a:path>
              </a:pathLst>
            </a:custGeom>
            <a:noFill/>
            <a:ln w="9525">
              <a:solidFill>
                <a:schemeClr val="tx1"/>
              </a:solidFill>
              <a:round/>
              <a:headEnd/>
              <a:tailEnd/>
            </a:ln>
          </p:spPr>
          <p:txBody>
            <a:bodyPr wrap="none" anchor="ctr"/>
            <a:lstStyle/>
            <a:p>
              <a:endParaRPr lang="en-GB"/>
            </a:p>
          </p:txBody>
        </p:sp>
      </p:grpSp>
      <p:sp>
        <p:nvSpPr>
          <p:cNvPr id="3146" name="Freeform 70"/>
          <p:cNvSpPr>
            <a:spLocks/>
          </p:cNvSpPr>
          <p:nvPr/>
        </p:nvSpPr>
        <p:spPr bwMode="auto">
          <a:xfrm rot="16200000" flipV="1">
            <a:off x="1693942" y="3967242"/>
            <a:ext cx="37482" cy="537034"/>
          </a:xfrm>
          <a:custGeom>
            <a:avLst/>
            <a:gdLst>
              <a:gd name="T0" fmla="*/ 0 w 102"/>
              <a:gd name="T1" fmla="*/ 0 h 1094"/>
              <a:gd name="T2" fmla="*/ 81 w 102"/>
              <a:gd name="T3" fmla="*/ 200 h 1094"/>
              <a:gd name="T4" fmla="*/ 31 w 102"/>
              <a:gd name="T5" fmla="*/ 375 h 1094"/>
              <a:gd name="T6" fmla="*/ 69 w 102"/>
              <a:gd name="T7" fmla="*/ 556 h 1094"/>
              <a:gd name="T8" fmla="*/ 25 w 102"/>
              <a:gd name="T9" fmla="*/ 737 h 1094"/>
              <a:gd name="T10" fmla="*/ 100 w 102"/>
              <a:gd name="T11" fmla="*/ 881 h 1094"/>
              <a:gd name="T12" fmla="*/ 37 w 102"/>
              <a:gd name="T13" fmla="*/ 1094 h 1094"/>
              <a:gd name="T14" fmla="*/ 0 60000 65536"/>
              <a:gd name="T15" fmla="*/ 0 60000 65536"/>
              <a:gd name="T16" fmla="*/ 0 60000 65536"/>
              <a:gd name="T17" fmla="*/ 0 60000 65536"/>
              <a:gd name="T18" fmla="*/ 0 60000 65536"/>
              <a:gd name="T19" fmla="*/ 0 60000 65536"/>
              <a:gd name="T20" fmla="*/ 0 60000 65536"/>
              <a:gd name="T21" fmla="*/ 0 w 102"/>
              <a:gd name="T22" fmla="*/ 0 h 1094"/>
              <a:gd name="T23" fmla="*/ 102 w 102"/>
              <a:gd name="T24" fmla="*/ 1094 h 10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2" h="1094">
                <a:moveTo>
                  <a:pt x="0" y="0"/>
                </a:moveTo>
                <a:cubicBezTo>
                  <a:pt x="38" y="69"/>
                  <a:pt x="76" y="138"/>
                  <a:pt x="81" y="200"/>
                </a:cubicBezTo>
                <a:cubicBezTo>
                  <a:pt x="86" y="262"/>
                  <a:pt x="33" y="316"/>
                  <a:pt x="31" y="375"/>
                </a:cubicBezTo>
                <a:cubicBezTo>
                  <a:pt x="29" y="434"/>
                  <a:pt x="70" y="496"/>
                  <a:pt x="69" y="556"/>
                </a:cubicBezTo>
                <a:cubicBezTo>
                  <a:pt x="68" y="616"/>
                  <a:pt x="20" y="683"/>
                  <a:pt x="25" y="737"/>
                </a:cubicBezTo>
                <a:cubicBezTo>
                  <a:pt x="30" y="791"/>
                  <a:pt x="98" y="822"/>
                  <a:pt x="100" y="881"/>
                </a:cubicBezTo>
                <a:cubicBezTo>
                  <a:pt x="102" y="940"/>
                  <a:pt x="46" y="1060"/>
                  <a:pt x="37" y="1094"/>
                </a:cubicBezTo>
              </a:path>
            </a:pathLst>
          </a:custGeom>
          <a:noFill/>
          <a:ln w="9525">
            <a:solidFill>
              <a:schemeClr val="tx1"/>
            </a:solidFill>
            <a:round/>
            <a:headEnd/>
            <a:tailEnd/>
          </a:ln>
        </p:spPr>
        <p:txBody>
          <a:bodyPr wrap="none" anchor="ctr"/>
          <a:lstStyle/>
          <a:p>
            <a:endParaRPr lang="en-GB"/>
          </a:p>
        </p:txBody>
      </p:sp>
      <p:sp>
        <p:nvSpPr>
          <p:cNvPr id="3147" name="Freeform 71"/>
          <p:cNvSpPr>
            <a:spLocks/>
          </p:cNvSpPr>
          <p:nvPr/>
        </p:nvSpPr>
        <p:spPr bwMode="auto">
          <a:xfrm rot="16200000" flipH="1" flipV="1">
            <a:off x="1688051" y="3965037"/>
            <a:ext cx="37482" cy="537034"/>
          </a:xfrm>
          <a:custGeom>
            <a:avLst/>
            <a:gdLst>
              <a:gd name="T0" fmla="*/ 0 w 102"/>
              <a:gd name="T1" fmla="*/ 0 h 1094"/>
              <a:gd name="T2" fmla="*/ 81 w 102"/>
              <a:gd name="T3" fmla="*/ 200 h 1094"/>
              <a:gd name="T4" fmla="*/ 31 w 102"/>
              <a:gd name="T5" fmla="*/ 375 h 1094"/>
              <a:gd name="T6" fmla="*/ 69 w 102"/>
              <a:gd name="T7" fmla="*/ 556 h 1094"/>
              <a:gd name="T8" fmla="*/ 25 w 102"/>
              <a:gd name="T9" fmla="*/ 737 h 1094"/>
              <a:gd name="T10" fmla="*/ 100 w 102"/>
              <a:gd name="T11" fmla="*/ 881 h 1094"/>
              <a:gd name="T12" fmla="*/ 37 w 102"/>
              <a:gd name="T13" fmla="*/ 1094 h 1094"/>
              <a:gd name="T14" fmla="*/ 0 60000 65536"/>
              <a:gd name="T15" fmla="*/ 0 60000 65536"/>
              <a:gd name="T16" fmla="*/ 0 60000 65536"/>
              <a:gd name="T17" fmla="*/ 0 60000 65536"/>
              <a:gd name="T18" fmla="*/ 0 60000 65536"/>
              <a:gd name="T19" fmla="*/ 0 60000 65536"/>
              <a:gd name="T20" fmla="*/ 0 60000 65536"/>
              <a:gd name="T21" fmla="*/ 0 w 102"/>
              <a:gd name="T22" fmla="*/ 0 h 1094"/>
              <a:gd name="T23" fmla="*/ 102 w 102"/>
              <a:gd name="T24" fmla="*/ 1094 h 10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2" h="1094">
                <a:moveTo>
                  <a:pt x="0" y="0"/>
                </a:moveTo>
                <a:cubicBezTo>
                  <a:pt x="38" y="69"/>
                  <a:pt x="76" y="138"/>
                  <a:pt x="81" y="200"/>
                </a:cubicBezTo>
                <a:cubicBezTo>
                  <a:pt x="86" y="262"/>
                  <a:pt x="33" y="316"/>
                  <a:pt x="31" y="375"/>
                </a:cubicBezTo>
                <a:cubicBezTo>
                  <a:pt x="29" y="434"/>
                  <a:pt x="70" y="496"/>
                  <a:pt x="69" y="556"/>
                </a:cubicBezTo>
                <a:cubicBezTo>
                  <a:pt x="68" y="616"/>
                  <a:pt x="20" y="683"/>
                  <a:pt x="25" y="737"/>
                </a:cubicBezTo>
                <a:cubicBezTo>
                  <a:pt x="30" y="791"/>
                  <a:pt x="98" y="822"/>
                  <a:pt x="100" y="881"/>
                </a:cubicBezTo>
                <a:cubicBezTo>
                  <a:pt x="102" y="940"/>
                  <a:pt x="46" y="1060"/>
                  <a:pt x="37" y="1094"/>
                </a:cubicBezTo>
              </a:path>
            </a:pathLst>
          </a:custGeom>
          <a:noFill/>
          <a:ln w="9525">
            <a:solidFill>
              <a:schemeClr val="tx1"/>
            </a:solidFill>
            <a:round/>
            <a:headEnd/>
            <a:tailEnd/>
          </a:ln>
        </p:spPr>
        <p:txBody>
          <a:bodyPr wrap="none" anchor="ctr"/>
          <a:lstStyle/>
          <a:p>
            <a:endParaRPr lang="en-GB"/>
          </a:p>
        </p:txBody>
      </p:sp>
      <p:sp>
        <p:nvSpPr>
          <p:cNvPr id="3100" name="Rectangle 72"/>
          <p:cNvSpPr>
            <a:spLocks noChangeArrowheads="1"/>
          </p:cNvSpPr>
          <p:nvPr/>
        </p:nvSpPr>
        <p:spPr bwMode="auto">
          <a:xfrm>
            <a:off x="5510213" y="2397125"/>
            <a:ext cx="433387" cy="812800"/>
          </a:xfrm>
          <a:prstGeom prst="rect">
            <a:avLst/>
          </a:prstGeom>
          <a:solidFill>
            <a:srgbClr val="FFFF00"/>
          </a:solidFill>
          <a:ln w="9525">
            <a:solidFill>
              <a:schemeClr val="tx1"/>
            </a:solidFill>
            <a:miter lim="800000"/>
            <a:headEnd/>
            <a:tailEnd/>
          </a:ln>
        </p:spPr>
        <p:txBody>
          <a:bodyPr wrap="none" anchor="ctr"/>
          <a:lstStyle/>
          <a:p>
            <a:endParaRPr lang="en-US" sz="1600"/>
          </a:p>
        </p:txBody>
      </p:sp>
      <p:grpSp>
        <p:nvGrpSpPr>
          <p:cNvPr id="24" name="Group 73"/>
          <p:cNvGrpSpPr>
            <a:grpSpLocks/>
          </p:cNvGrpSpPr>
          <p:nvPr/>
        </p:nvGrpSpPr>
        <p:grpSpPr bwMode="auto">
          <a:xfrm rot="16200000" flipV="1">
            <a:off x="6204744" y="2347119"/>
            <a:ext cx="39687" cy="555625"/>
            <a:chOff x="3025" y="1469"/>
            <a:chExt cx="108" cy="1106"/>
          </a:xfrm>
        </p:grpSpPr>
        <p:sp>
          <p:nvSpPr>
            <p:cNvPr id="3144" name="Freeform 74"/>
            <p:cNvSpPr>
              <a:spLocks/>
            </p:cNvSpPr>
            <p:nvPr/>
          </p:nvSpPr>
          <p:spPr bwMode="auto">
            <a:xfrm>
              <a:off x="3025" y="1469"/>
              <a:ext cx="102" cy="1094"/>
            </a:xfrm>
            <a:custGeom>
              <a:avLst/>
              <a:gdLst>
                <a:gd name="T0" fmla="*/ 0 w 102"/>
                <a:gd name="T1" fmla="*/ 0 h 1094"/>
                <a:gd name="T2" fmla="*/ 81 w 102"/>
                <a:gd name="T3" fmla="*/ 200 h 1094"/>
                <a:gd name="T4" fmla="*/ 31 w 102"/>
                <a:gd name="T5" fmla="*/ 375 h 1094"/>
                <a:gd name="T6" fmla="*/ 69 w 102"/>
                <a:gd name="T7" fmla="*/ 556 h 1094"/>
                <a:gd name="T8" fmla="*/ 25 w 102"/>
                <a:gd name="T9" fmla="*/ 737 h 1094"/>
                <a:gd name="T10" fmla="*/ 100 w 102"/>
                <a:gd name="T11" fmla="*/ 881 h 1094"/>
                <a:gd name="T12" fmla="*/ 37 w 102"/>
                <a:gd name="T13" fmla="*/ 1094 h 1094"/>
                <a:gd name="T14" fmla="*/ 0 60000 65536"/>
                <a:gd name="T15" fmla="*/ 0 60000 65536"/>
                <a:gd name="T16" fmla="*/ 0 60000 65536"/>
                <a:gd name="T17" fmla="*/ 0 60000 65536"/>
                <a:gd name="T18" fmla="*/ 0 60000 65536"/>
                <a:gd name="T19" fmla="*/ 0 60000 65536"/>
                <a:gd name="T20" fmla="*/ 0 60000 65536"/>
                <a:gd name="T21" fmla="*/ 0 w 102"/>
                <a:gd name="T22" fmla="*/ 0 h 1094"/>
                <a:gd name="T23" fmla="*/ 102 w 102"/>
                <a:gd name="T24" fmla="*/ 1094 h 10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2" h="1094">
                  <a:moveTo>
                    <a:pt x="0" y="0"/>
                  </a:moveTo>
                  <a:cubicBezTo>
                    <a:pt x="38" y="69"/>
                    <a:pt x="76" y="138"/>
                    <a:pt x="81" y="200"/>
                  </a:cubicBezTo>
                  <a:cubicBezTo>
                    <a:pt x="86" y="262"/>
                    <a:pt x="33" y="316"/>
                    <a:pt x="31" y="375"/>
                  </a:cubicBezTo>
                  <a:cubicBezTo>
                    <a:pt x="29" y="434"/>
                    <a:pt x="70" y="496"/>
                    <a:pt x="69" y="556"/>
                  </a:cubicBezTo>
                  <a:cubicBezTo>
                    <a:pt x="68" y="616"/>
                    <a:pt x="20" y="683"/>
                    <a:pt x="25" y="737"/>
                  </a:cubicBezTo>
                  <a:cubicBezTo>
                    <a:pt x="30" y="791"/>
                    <a:pt x="98" y="822"/>
                    <a:pt x="100" y="881"/>
                  </a:cubicBezTo>
                  <a:cubicBezTo>
                    <a:pt x="102" y="940"/>
                    <a:pt x="46" y="1060"/>
                    <a:pt x="37" y="1094"/>
                  </a:cubicBezTo>
                </a:path>
              </a:pathLst>
            </a:custGeom>
            <a:noFill/>
            <a:ln w="9525">
              <a:solidFill>
                <a:schemeClr val="tx1"/>
              </a:solidFill>
              <a:round/>
              <a:headEnd/>
              <a:tailEnd/>
            </a:ln>
          </p:spPr>
          <p:txBody>
            <a:bodyPr wrap="none" anchor="ctr"/>
            <a:lstStyle/>
            <a:p>
              <a:endParaRPr lang="en-GB"/>
            </a:p>
          </p:txBody>
        </p:sp>
        <p:sp>
          <p:nvSpPr>
            <p:cNvPr id="3145" name="Freeform 75"/>
            <p:cNvSpPr>
              <a:spLocks/>
            </p:cNvSpPr>
            <p:nvPr/>
          </p:nvSpPr>
          <p:spPr bwMode="auto">
            <a:xfrm flipH="1">
              <a:off x="3031" y="1481"/>
              <a:ext cx="102" cy="1094"/>
            </a:xfrm>
            <a:custGeom>
              <a:avLst/>
              <a:gdLst>
                <a:gd name="T0" fmla="*/ 0 w 102"/>
                <a:gd name="T1" fmla="*/ 0 h 1094"/>
                <a:gd name="T2" fmla="*/ 81 w 102"/>
                <a:gd name="T3" fmla="*/ 200 h 1094"/>
                <a:gd name="T4" fmla="*/ 31 w 102"/>
                <a:gd name="T5" fmla="*/ 375 h 1094"/>
                <a:gd name="T6" fmla="*/ 69 w 102"/>
                <a:gd name="T7" fmla="*/ 556 h 1094"/>
                <a:gd name="T8" fmla="*/ 25 w 102"/>
                <a:gd name="T9" fmla="*/ 737 h 1094"/>
                <a:gd name="T10" fmla="*/ 100 w 102"/>
                <a:gd name="T11" fmla="*/ 881 h 1094"/>
                <a:gd name="T12" fmla="*/ 37 w 102"/>
                <a:gd name="T13" fmla="*/ 1094 h 1094"/>
                <a:gd name="T14" fmla="*/ 0 60000 65536"/>
                <a:gd name="T15" fmla="*/ 0 60000 65536"/>
                <a:gd name="T16" fmla="*/ 0 60000 65536"/>
                <a:gd name="T17" fmla="*/ 0 60000 65536"/>
                <a:gd name="T18" fmla="*/ 0 60000 65536"/>
                <a:gd name="T19" fmla="*/ 0 60000 65536"/>
                <a:gd name="T20" fmla="*/ 0 60000 65536"/>
                <a:gd name="T21" fmla="*/ 0 w 102"/>
                <a:gd name="T22" fmla="*/ 0 h 1094"/>
                <a:gd name="T23" fmla="*/ 102 w 102"/>
                <a:gd name="T24" fmla="*/ 1094 h 10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2" h="1094">
                  <a:moveTo>
                    <a:pt x="0" y="0"/>
                  </a:moveTo>
                  <a:cubicBezTo>
                    <a:pt x="38" y="69"/>
                    <a:pt x="76" y="138"/>
                    <a:pt x="81" y="200"/>
                  </a:cubicBezTo>
                  <a:cubicBezTo>
                    <a:pt x="86" y="262"/>
                    <a:pt x="33" y="316"/>
                    <a:pt x="31" y="375"/>
                  </a:cubicBezTo>
                  <a:cubicBezTo>
                    <a:pt x="29" y="434"/>
                    <a:pt x="70" y="496"/>
                    <a:pt x="69" y="556"/>
                  </a:cubicBezTo>
                  <a:cubicBezTo>
                    <a:pt x="68" y="616"/>
                    <a:pt x="20" y="683"/>
                    <a:pt x="25" y="737"/>
                  </a:cubicBezTo>
                  <a:cubicBezTo>
                    <a:pt x="30" y="791"/>
                    <a:pt x="98" y="822"/>
                    <a:pt x="100" y="881"/>
                  </a:cubicBezTo>
                  <a:cubicBezTo>
                    <a:pt x="102" y="940"/>
                    <a:pt x="46" y="1060"/>
                    <a:pt x="37" y="1094"/>
                  </a:cubicBezTo>
                </a:path>
              </a:pathLst>
            </a:custGeom>
            <a:noFill/>
            <a:ln w="9525">
              <a:solidFill>
                <a:schemeClr val="tx1"/>
              </a:solidFill>
              <a:round/>
              <a:headEnd/>
              <a:tailEnd/>
            </a:ln>
          </p:spPr>
          <p:txBody>
            <a:bodyPr wrap="none" anchor="ctr"/>
            <a:lstStyle/>
            <a:p>
              <a:endParaRPr lang="en-GB"/>
            </a:p>
          </p:txBody>
        </p:sp>
      </p:grpSp>
      <p:grpSp>
        <p:nvGrpSpPr>
          <p:cNvPr id="25" name="Group 76"/>
          <p:cNvGrpSpPr>
            <a:grpSpLocks/>
          </p:cNvGrpSpPr>
          <p:nvPr/>
        </p:nvGrpSpPr>
        <p:grpSpPr bwMode="auto">
          <a:xfrm rot="16200000" flipV="1">
            <a:off x="6212682" y="2586831"/>
            <a:ext cx="39688" cy="574675"/>
            <a:chOff x="3025" y="1469"/>
            <a:chExt cx="108" cy="1106"/>
          </a:xfrm>
        </p:grpSpPr>
        <p:sp>
          <p:nvSpPr>
            <p:cNvPr id="3142" name="Freeform 77"/>
            <p:cNvSpPr>
              <a:spLocks/>
            </p:cNvSpPr>
            <p:nvPr/>
          </p:nvSpPr>
          <p:spPr bwMode="auto">
            <a:xfrm>
              <a:off x="3025" y="1469"/>
              <a:ext cx="102" cy="1094"/>
            </a:xfrm>
            <a:custGeom>
              <a:avLst/>
              <a:gdLst>
                <a:gd name="T0" fmla="*/ 0 w 102"/>
                <a:gd name="T1" fmla="*/ 0 h 1094"/>
                <a:gd name="T2" fmla="*/ 81 w 102"/>
                <a:gd name="T3" fmla="*/ 200 h 1094"/>
                <a:gd name="T4" fmla="*/ 31 w 102"/>
                <a:gd name="T5" fmla="*/ 375 h 1094"/>
                <a:gd name="T6" fmla="*/ 69 w 102"/>
                <a:gd name="T7" fmla="*/ 556 h 1094"/>
                <a:gd name="T8" fmla="*/ 25 w 102"/>
                <a:gd name="T9" fmla="*/ 737 h 1094"/>
                <a:gd name="T10" fmla="*/ 100 w 102"/>
                <a:gd name="T11" fmla="*/ 881 h 1094"/>
                <a:gd name="T12" fmla="*/ 37 w 102"/>
                <a:gd name="T13" fmla="*/ 1094 h 1094"/>
                <a:gd name="T14" fmla="*/ 0 60000 65536"/>
                <a:gd name="T15" fmla="*/ 0 60000 65536"/>
                <a:gd name="T16" fmla="*/ 0 60000 65536"/>
                <a:gd name="T17" fmla="*/ 0 60000 65536"/>
                <a:gd name="T18" fmla="*/ 0 60000 65536"/>
                <a:gd name="T19" fmla="*/ 0 60000 65536"/>
                <a:gd name="T20" fmla="*/ 0 60000 65536"/>
                <a:gd name="T21" fmla="*/ 0 w 102"/>
                <a:gd name="T22" fmla="*/ 0 h 1094"/>
                <a:gd name="T23" fmla="*/ 102 w 102"/>
                <a:gd name="T24" fmla="*/ 1094 h 10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2" h="1094">
                  <a:moveTo>
                    <a:pt x="0" y="0"/>
                  </a:moveTo>
                  <a:cubicBezTo>
                    <a:pt x="38" y="69"/>
                    <a:pt x="76" y="138"/>
                    <a:pt x="81" y="200"/>
                  </a:cubicBezTo>
                  <a:cubicBezTo>
                    <a:pt x="86" y="262"/>
                    <a:pt x="33" y="316"/>
                    <a:pt x="31" y="375"/>
                  </a:cubicBezTo>
                  <a:cubicBezTo>
                    <a:pt x="29" y="434"/>
                    <a:pt x="70" y="496"/>
                    <a:pt x="69" y="556"/>
                  </a:cubicBezTo>
                  <a:cubicBezTo>
                    <a:pt x="68" y="616"/>
                    <a:pt x="20" y="683"/>
                    <a:pt x="25" y="737"/>
                  </a:cubicBezTo>
                  <a:cubicBezTo>
                    <a:pt x="30" y="791"/>
                    <a:pt x="98" y="822"/>
                    <a:pt x="100" y="881"/>
                  </a:cubicBezTo>
                  <a:cubicBezTo>
                    <a:pt x="102" y="940"/>
                    <a:pt x="46" y="1060"/>
                    <a:pt x="37" y="1094"/>
                  </a:cubicBezTo>
                </a:path>
              </a:pathLst>
            </a:custGeom>
            <a:noFill/>
            <a:ln w="9525">
              <a:solidFill>
                <a:schemeClr val="tx1"/>
              </a:solidFill>
              <a:round/>
              <a:headEnd/>
              <a:tailEnd/>
            </a:ln>
          </p:spPr>
          <p:txBody>
            <a:bodyPr wrap="none" anchor="ctr"/>
            <a:lstStyle/>
            <a:p>
              <a:endParaRPr lang="en-GB"/>
            </a:p>
          </p:txBody>
        </p:sp>
        <p:sp>
          <p:nvSpPr>
            <p:cNvPr id="3143" name="Freeform 78"/>
            <p:cNvSpPr>
              <a:spLocks/>
            </p:cNvSpPr>
            <p:nvPr/>
          </p:nvSpPr>
          <p:spPr bwMode="auto">
            <a:xfrm flipH="1">
              <a:off x="3031" y="1481"/>
              <a:ext cx="102" cy="1094"/>
            </a:xfrm>
            <a:custGeom>
              <a:avLst/>
              <a:gdLst>
                <a:gd name="T0" fmla="*/ 0 w 102"/>
                <a:gd name="T1" fmla="*/ 0 h 1094"/>
                <a:gd name="T2" fmla="*/ 81 w 102"/>
                <a:gd name="T3" fmla="*/ 200 h 1094"/>
                <a:gd name="T4" fmla="*/ 31 w 102"/>
                <a:gd name="T5" fmla="*/ 375 h 1094"/>
                <a:gd name="T6" fmla="*/ 69 w 102"/>
                <a:gd name="T7" fmla="*/ 556 h 1094"/>
                <a:gd name="T8" fmla="*/ 25 w 102"/>
                <a:gd name="T9" fmla="*/ 737 h 1094"/>
                <a:gd name="T10" fmla="*/ 100 w 102"/>
                <a:gd name="T11" fmla="*/ 881 h 1094"/>
                <a:gd name="T12" fmla="*/ 37 w 102"/>
                <a:gd name="T13" fmla="*/ 1094 h 1094"/>
                <a:gd name="T14" fmla="*/ 0 60000 65536"/>
                <a:gd name="T15" fmla="*/ 0 60000 65536"/>
                <a:gd name="T16" fmla="*/ 0 60000 65536"/>
                <a:gd name="T17" fmla="*/ 0 60000 65536"/>
                <a:gd name="T18" fmla="*/ 0 60000 65536"/>
                <a:gd name="T19" fmla="*/ 0 60000 65536"/>
                <a:gd name="T20" fmla="*/ 0 60000 65536"/>
                <a:gd name="T21" fmla="*/ 0 w 102"/>
                <a:gd name="T22" fmla="*/ 0 h 1094"/>
                <a:gd name="T23" fmla="*/ 102 w 102"/>
                <a:gd name="T24" fmla="*/ 1094 h 10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2" h="1094">
                  <a:moveTo>
                    <a:pt x="0" y="0"/>
                  </a:moveTo>
                  <a:cubicBezTo>
                    <a:pt x="38" y="69"/>
                    <a:pt x="76" y="138"/>
                    <a:pt x="81" y="200"/>
                  </a:cubicBezTo>
                  <a:cubicBezTo>
                    <a:pt x="86" y="262"/>
                    <a:pt x="33" y="316"/>
                    <a:pt x="31" y="375"/>
                  </a:cubicBezTo>
                  <a:cubicBezTo>
                    <a:pt x="29" y="434"/>
                    <a:pt x="70" y="496"/>
                    <a:pt x="69" y="556"/>
                  </a:cubicBezTo>
                  <a:cubicBezTo>
                    <a:pt x="68" y="616"/>
                    <a:pt x="20" y="683"/>
                    <a:pt x="25" y="737"/>
                  </a:cubicBezTo>
                  <a:cubicBezTo>
                    <a:pt x="30" y="791"/>
                    <a:pt x="98" y="822"/>
                    <a:pt x="100" y="881"/>
                  </a:cubicBezTo>
                  <a:cubicBezTo>
                    <a:pt x="102" y="940"/>
                    <a:pt x="46" y="1060"/>
                    <a:pt x="37" y="1094"/>
                  </a:cubicBezTo>
                </a:path>
              </a:pathLst>
            </a:custGeom>
            <a:noFill/>
            <a:ln w="9525">
              <a:solidFill>
                <a:schemeClr val="tx1"/>
              </a:solidFill>
              <a:round/>
              <a:headEnd/>
              <a:tailEnd/>
            </a:ln>
          </p:spPr>
          <p:txBody>
            <a:bodyPr wrap="none" anchor="ctr"/>
            <a:lstStyle/>
            <a:p>
              <a:endParaRPr lang="en-GB"/>
            </a:p>
          </p:txBody>
        </p:sp>
      </p:grpSp>
      <p:grpSp>
        <p:nvGrpSpPr>
          <p:cNvPr id="26" name="Group 79"/>
          <p:cNvGrpSpPr>
            <a:grpSpLocks/>
          </p:cNvGrpSpPr>
          <p:nvPr/>
        </p:nvGrpSpPr>
        <p:grpSpPr bwMode="auto">
          <a:xfrm rot="16200000" flipV="1">
            <a:off x="6198394" y="2251869"/>
            <a:ext cx="39687" cy="574675"/>
            <a:chOff x="3025" y="1469"/>
            <a:chExt cx="108" cy="1106"/>
          </a:xfrm>
        </p:grpSpPr>
        <p:sp>
          <p:nvSpPr>
            <p:cNvPr id="3140" name="Freeform 80"/>
            <p:cNvSpPr>
              <a:spLocks/>
            </p:cNvSpPr>
            <p:nvPr/>
          </p:nvSpPr>
          <p:spPr bwMode="auto">
            <a:xfrm>
              <a:off x="3025" y="1469"/>
              <a:ext cx="102" cy="1094"/>
            </a:xfrm>
            <a:custGeom>
              <a:avLst/>
              <a:gdLst>
                <a:gd name="T0" fmla="*/ 0 w 102"/>
                <a:gd name="T1" fmla="*/ 0 h 1094"/>
                <a:gd name="T2" fmla="*/ 81 w 102"/>
                <a:gd name="T3" fmla="*/ 200 h 1094"/>
                <a:gd name="T4" fmla="*/ 31 w 102"/>
                <a:gd name="T5" fmla="*/ 375 h 1094"/>
                <a:gd name="T6" fmla="*/ 69 w 102"/>
                <a:gd name="T7" fmla="*/ 556 h 1094"/>
                <a:gd name="T8" fmla="*/ 25 w 102"/>
                <a:gd name="T9" fmla="*/ 737 h 1094"/>
                <a:gd name="T10" fmla="*/ 100 w 102"/>
                <a:gd name="T11" fmla="*/ 881 h 1094"/>
                <a:gd name="T12" fmla="*/ 37 w 102"/>
                <a:gd name="T13" fmla="*/ 1094 h 1094"/>
                <a:gd name="T14" fmla="*/ 0 60000 65536"/>
                <a:gd name="T15" fmla="*/ 0 60000 65536"/>
                <a:gd name="T16" fmla="*/ 0 60000 65536"/>
                <a:gd name="T17" fmla="*/ 0 60000 65536"/>
                <a:gd name="T18" fmla="*/ 0 60000 65536"/>
                <a:gd name="T19" fmla="*/ 0 60000 65536"/>
                <a:gd name="T20" fmla="*/ 0 60000 65536"/>
                <a:gd name="T21" fmla="*/ 0 w 102"/>
                <a:gd name="T22" fmla="*/ 0 h 1094"/>
                <a:gd name="T23" fmla="*/ 102 w 102"/>
                <a:gd name="T24" fmla="*/ 1094 h 10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2" h="1094">
                  <a:moveTo>
                    <a:pt x="0" y="0"/>
                  </a:moveTo>
                  <a:cubicBezTo>
                    <a:pt x="38" y="69"/>
                    <a:pt x="76" y="138"/>
                    <a:pt x="81" y="200"/>
                  </a:cubicBezTo>
                  <a:cubicBezTo>
                    <a:pt x="86" y="262"/>
                    <a:pt x="33" y="316"/>
                    <a:pt x="31" y="375"/>
                  </a:cubicBezTo>
                  <a:cubicBezTo>
                    <a:pt x="29" y="434"/>
                    <a:pt x="70" y="496"/>
                    <a:pt x="69" y="556"/>
                  </a:cubicBezTo>
                  <a:cubicBezTo>
                    <a:pt x="68" y="616"/>
                    <a:pt x="20" y="683"/>
                    <a:pt x="25" y="737"/>
                  </a:cubicBezTo>
                  <a:cubicBezTo>
                    <a:pt x="30" y="791"/>
                    <a:pt x="98" y="822"/>
                    <a:pt x="100" y="881"/>
                  </a:cubicBezTo>
                  <a:cubicBezTo>
                    <a:pt x="102" y="940"/>
                    <a:pt x="46" y="1060"/>
                    <a:pt x="37" y="1094"/>
                  </a:cubicBezTo>
                </a:path>
              </a:pathLst>
            </a:custGeom>
            <a:noFill/>
            <a:ln w="9525">
              <a:solidFill>
                <a:schemeClr val="tx1"/>
              </a:solidFill>
              <a:round/>
              <a:headEnd/>
              <a:tailEnd/>
            </a:ln>
          </p:spPr>
          <p:txBody>
            <a:bodyPr wrap="none" anchor="ctr"/>
            <a:lstStyle/>
            <a:p>
              <a:endParaRPr lang="en-GB"/>
            </a:p>
          </p:txBody>
        </p:sp>
        <p:sp>
          <p:nvSpPr>
            <p:cNvPr id="3141" name="Freeform 81"/>
            <p:cNvSpPr>
              <a:spLocks/>
            </p:cNvSpPr>
            <p:nvPr/>
          </p:nvSpPr>
          <p:spPr bwMode="auto">
            <a:xfrm flipH="1">
              <a:off x="3031" y="1481"/>
              <a:ext cx="102" cy="1094"/>
            </a:xfrm>
            <a:custGeom>
              <a:avLst/>
              <a:gdLst>
                <a:gd name="T0" fmla="*/ 0 w 102"/>
                <a:gd name="T1" fmla="*/ 0 h 1094"/>
                <a:gd name="T2" fmla="*/ 81 w 102"/>
                <a:gd name="T3" fmla="*/ 200 h 1094"/>
                <a:gd name="T4" fmla="*/ 31 w 102"/>
                <a:gd name="T5" fmla="*/ 375 h 1094"/>
                <a:gd name="T6" fmla="*/ 69 w 102"/>
                <a:gd name="T7" fmla="*/ 556 h 1094"/>
                <a:gd name="T8" fmla="*/ 25 w 102"/>
                <a:gd name="T9" fmla="*/ 737 h 1094"/>
                <a:gd name="T10" fmla="*/ 100 w 102"/>
                <a:gd name="T11" fmla="*/ 881 h 1094"/>
                <a:gd name="T12" fmla="*/ 37 w 102"/>
                <a:gd name="T13" fmla="*/ 1094 h 1094"/>
                <a:gd name="T14" fmla="*/ 0 60000 65536"/>
                <a:gd name="T15" fmla="*/ 0 60000 65536"/>
                <a:gd name="T16" fmla="*/ 0 60000 65536"/>
                <a:gd name="T17" fmla="*/ 0 60000 65536"/>
                <a:gd name="T18" fmla="*/ 0 60000 65536"/>
                <a:gd name="T19" fmla="*/ 0 60000 65536"/>
                <a:gd name="T20" fmla="*/ 0 60000 65536"/>
                <a:gd name="T21" fmla="*/ 0 w 102"/>
                <a:gd name="T22" fmla="*/ 0 h 1094"/>
                <a:gd name="T23" fmla="*/ 102 w 102"/>
                <a:gd name="T24" fmla="*/ 1094 h 10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2" h="1094">
                  <a:moveTo>
                    <a:pt x="0" y="0"/>
                  </a:moveTo>
                  <a:cubicBezTo>
                    <a:pt x="38" y="69"/>
                    <a:pt x="76" y="138"/>
                    <a:pt x="81" y="200"/>
                  </a:cubicBezTo>
                  <a:cubicBezTo>
                    <a:pt x="86" y="262"/>
                    <a:pt x="33" y="316"/>
                    <a:pt x="31" y="375"/>
                  </a:cubicBezTo>
                  <a:cubicBezTo>
                    <a:pt x="29" y="434"/>
                    <a:pt x="70" y="496"/>
                    <a:pt x="69" y="556"/>
                  </a:cubicBezTo>
                  <a:cubicBezTo>
                    <a:pt x="68" y="616"/>
                    <a:pt x="20" y="683"/>
                    <a:pt x="25" y="737"/>
                  </a:cubicBezTo>
                  <a:cubicBezTo>
                    <a:pt x="30" y="791"/>
                    <a:pt x="98" y="822"/>
                    <a:pt x="100" y="881"/>
                  </a:cubicBezTo>
                  <a:cubicBezTo>
                    <a:pt x="102" y="940"/>
                    <a:pt x="46" y="1060"/>
                    <a:pt x="37" y="1094"/>
                  </a:cubicBezTo>
                </a:path>
              </a:pathLst>
            </a:custGeom>
            <a:noFill/>
            <a:ln w="9525">
              <a:solidFill>
                <a:schemeClr val="tx1"/>
              </a:solidFill>
              <a:round/>
              <a:headEnd/>
              <a:tailEnd/>
            </a:ln>
          </p:spPr>
          <p:txBody>
            <a:bodyPr wrap="none" anchor="ctr"/>
            <a:lstStyle/>
            <a:p>
              <a:endParaRPr lang="en-GB"/>
            </a:p>
          </p:txBody>
        </p:sp>
      </p:grpSp>
      <p:grpSp>
        <p:nvGrpSpPr>
          <p:cNvPr id="27" name="Group 82"/>
          <p:cNvGrpSpPr>
            <a:grpSpLocks/>
          </p:cNvGrpSpPr>
          <p:nvPr/>
        </p:nvGrpSpPr>
        <p:grpSpPr bwMode="auto">
          <a:xfrm rot="16200000" flipV="1">
            <a:off x="6216650" y="2714625"/>
            <a:ext cx="41275" cy="574675"/>
            <a:chOff x="3025" y="1469"/>
            <a:chExt cx="108" cy="1106"/>
          </a:xfrm>
        </p:grpSpPr>
        <p:sp>
          <p:nvSpPr>
            <p:cNvPr id="3138" name="Freeform 83"/>
            <p:cNvSpPr>
              <a:spLocks/>
            </p:cNvSpPr>
            <p:nvPr/>
          </p:nvSpPr>
          <p:spPr bwMode="auto">
            <a:xfrm>
              <a:off x="3025" y="1469"/>
              <a:ext cx="102" cy="1094"/>
            </a:xfrm>
            <a:custGeom>
              <a:avLst/>
              <a:gdLst>
                <a:gd name="T0" fmla="*/ 0 w 102"/>
                <a:gd name="T1" fmla="*/ 0 h 1094"/>
                <a:gd name="T2" fmla="*/ 81 w 102"/>
                <a:gd name="T3" fmla="*/ 200 h 1094"/>
                <a:gd name="T4" fmla="*/ 31 w 102"/>
                <a:gd name="T5" fmla="*/ 375 h 1094"/>
                <a:gd name="T6" fmla="*/ 69 w 102"/>
                <a:gd name="T7" fmla="*/ 556 h 1094"/>
                <a:gd name="T8" fmla="*/ 25 w 102"/>
                <a:gd name="T9" fmla="*/ 737 h 1094"/>
                <a:gd name="T10" fmla="*/ 100 w 102"/>
                <a:gd name="T11" fmla="*/ 881 h 1094"/>
                <a:gd name="T12" fmla="*/ 37 w 102"/>
                <a:gd name="T13" fmla="*/ 1094 h 1094"/>
                <a:gd name="T14" fmla="*/ 0 60000 65536"/>
                <a:gd name="T15" fmla="*/ 0 60000 65536"/>
                <a:gd name="T16" fmla="*/ 0 60000 65536"/>
                <a:gd name="T17" fmla="*/ 0 60000 65536"/>
                <a:gd name="T18" fmla="*/ 0 60000 65536"/>
                <a:gd name="T19" fmla="*/ 0 60000 65536"/>
                <a:gd name="T20" fmla="*/ 0 60000 65536"/>
                <a:gd name="T21" fmla="*/ 0 w 102"/>
                <a:gd name="T22" fmla="*/ 0 h 1094"/>
                <a:gd name="T23" fmla="*/ 102 w 102"/>
                <a:gd name="T24" fmla="*/ 1094 h 10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2" h="1094">
                  <a:moveTo>
                    <a:pt x="0" y="0"/>
                  </a:moveTo>
                  <a:cubicBezTo>
                    <a:pt x="38" y="69"/>
                    <a:pt x="76" y="138"/>
                    <a:pt x="81" y="200"/>
                  </a:cubicBezTo>
                  <a:cubicBezTo>
                    <a:pt x="86" y="262"/>
                    <a:pt x="33" y="316"/>
                    <a:pt x="31" y="375"/>
                  </a:cubicBezTo>
                  <a:cubicBezTo>
                    <a:pt x="29" y="434"/>
                    <a:pt x="70" y="496"/>
                    <a:pt x="69" y="556"/>
                  </a:cubicBezTo>
                  <a:cubicBezTo>
                    <a:pt x="68" y="616"/>
                    <a:pt x="20" y="683"/>
                    <a:pt x="25" y="737"/>
                  </a:cubicBezTo>
                  <a:cubicBezTo>
                    <a:pt x="30" y="791"/>
                    <a:pt x="98" y="822"/>
                    <a:pt x="100" y="881"/>
                  </a:cubicBezTo>
                  <a:cubicBezTo>
                    <a:pt x="102" y="940"/>
                    <a:pt x="46" y="1060"/>
                    <a:pt x="37" y="1094"/>
                  </a:cubicBezTo>
                </a:path>
              </a:pathLst>
            </a:custGeom>
            <a:noFill/>
            <a:ln w="9525">
              <a:solidFill>
                <a:schemeClr val="tx1"/>
              </a:solidFill>
              <a:round/>
              <a:headEnd/>
              <a:tailEnd/>
            </a:ln>
          </p:spPr>
          <p:txBody>
            <a:bodyPr wrap="none" anchor="ctr"/>
            <a:lstStyle/>
            <a:p>
              <a:endParaRPr lang="en-GB"/>
            </a:p>
          </p:txBody>
        </p:sp>
        <p:sp>
          <p:nvSpPr>
            <p:cNvPr id="3139" name="Freeform 84"/>
            <p:cNvSpPr>
              <a:spLocks/>
            </p:cNvSpPr>
            <p:nvPr/>
          </p:nvSpPr>
          <p:spPr bwMode="auto">
            <a:xfrm flipH="1">
              <a:off x="3031" y="1481"/>
              <a:ext cx="102" cy="1094"/>
            </a:xfrm>
            <a:custGeom>
              <a:avLst/>
              <a:gdLst>
                <a:gd name="T0" fmla="*/ 0 w 102"/>
                <a:gd name="T1" fmla="*/ 0 h 1094"/>
                <a:gd name="T2" fmla="*/ 81 w 102"/>
                <a:gd name="T3" fmla="*/ 200 h 1094"/>
                <a:gd name="T4" fmla="*/ 31 w 102"/>
                <a:gd name="T5" fmla="*/ 375 h 1094"/>
                <a:gd name="T6" fmla="*/ 69 w 102"/>
                <a:gd name="T7" fmla="*/ 556 h 1094"/>
                <a:gd name="T8" fmla="*/ 25 w 102"/>
                <a:gd name="T9" fmla="*/ 737 h 1094"/>
                <a:gd name="T10" fmla="*/ 100 w 102"/>
                <a:gd name="T11" fmla="*/ 881 h 1094"/>
                <a:gd name="T12" fmla="*/ 37 w 102"/>
                <a:gd name="T13" fmla="*/ 1094 h 1094"/>
                <a:gd name="T14" fmla="*/ 0 60000 65536"/>
                <a:gd name="T15" fmla="*/ 0 60000 65536"/>
                <a:gd name="T16" fmla="*/ 0 60000 65536"/>
                <a:gd name="T17" fmla="*/ 0 60000 65536"/>
                <a:gd name="T18" fmla="*/ 0 60000 65536"/>
                <a:gd name="T19" fmla="*/ 0 60000 65536"/>
                <a:gd name="T20" fmla="*/ 0 60000 65536"/>
                <a:gd name="T21" fmla="*/ 0 w 102"/>
                <a:gd name="T22" fmla="*/ 0 h 1094"/>
                <a:gd name="T23" fmla="*/ 102 w 102"/>
                <a:gd name="T24" fmla="*/ 1094 h 10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2" h="1094">
                  <a:moveTo>
                    <a:pt x="0" y="0"/>
                  </a:moveTo>
                  <a:cubicBezTo>
                    <a:pt x="38" y="69"/>
                    <a:pt x="76" y="138"/>
                    <a:pt x="81" y="200"/>
                  </a:cubicBezTo>
                  <a:cubicBezTo>
                    <a:pt x="86" y="262"/>
                    <a:pt x="33" y="316"/>
                    <a:pt x="31" y="375"/>
                  </a:cubicBezTo>
                  <a:cubicBezTo>
                    <a:pt x="29" y="434"/>
                    <a:pt x="70" y="496"/>
                    <a:pt x="69" y="556"/>
                  </a:cubicBezTo>
                  <a:cubicBezTo>
                    <a:pt x="68" y="616"/>
                    <a:pt x="20" y="683"/>
                    <a:pt x="25" y="737"/>
                  </a:cubicBezTo>
                  <a:cubicBezTo>
                    <a:pt x="30" y="791"/>
                    <a:pt x="98" y="822"/>
                    <a:pt x="100" y="881"/>
                  </a:cubicBezTo>
                  <a:cubicBezTo>
                    <a:pt x="102" y="940"/>
                    <a:pt x="46" y="1060"/>
                    <a:pt x="37" y="1094"/>
                  </a:cubicBezTo>
                </a:path>
              </a:pathLst>
            </a:custGeom>
            <a:noFill/>
            <a:ln w="9525">
              <a:solidFill>
                <a:schemeClr val="tx1"/>
              </a:solidFill>
              <a:round/>
              <a:headEnd/>
              <a:tailEnd/>
            </a:ln>
          </p:spPr>
          <p:txBody>
            <a:bodyPr wrap="none" anchor="ctr"/>
            <a:lstStyle/>
            <a:p>
              <a:endParaRPr lang="en-GB"/>
            </a:p>
          </p:txBody>
        </p:sp>
      </p:grpSp>
      <p:grpSp>
        <p:nvGrpSpPr>
          <p:cNvPr id="28" name="Group 85"/>
          <p:cNvGrpSpPr>
            <a:grpSpLocks/>
          </p:cNvGrpSpPr>
          <p:nvPr/>
        </p:nvGrpSpPr>
        <p:grpSpPr bwMode="auto">
          <a:xfrm rot="16200000" flipV="1">
            <a:off x="5207794" y="2240756"/>
            <a:ext cx="39688" cy="574675"/>
            <a:chOff x="3025" y="1469"/>
            <a:chExt cx="108" cy="1106"/>
          </a:xfrm>
        </p:grpSpPr>
        <p:sp>
          <p:nvSpPr>
            <p:cNvPr id="3136" name="Freeform 86"/>
            <p:cNvSpPr>
              <a:spLocks/>
            </p:cNvSpPr>
            <p:nvPr/>
          </p:nvSpPr>
          <p:spPr bwMode="auto">
            <a:xfrm>
              <a:off x="3025" y="1469"/>
              <a:ext cx="102" cy="1094"/>
            </a:xfrm>
            <a:custGeom>
              <a:avLst/>
              <a:gdLst>
                <a:gd name="T0" fmla="*/ 0 w 102"/>
                <a:gd name="T1" fmla="*/ 0 h 1094"/>
                <a:gd name="T2" fmla="*/ 81 w 102"/>
                <a:gd name="T3" fmla="*/ 200 h 1094"/>
                <a:gd name="T4" fmla="*/ 31 w 102"/>
                <a:gd name="T5" fmla="*/ 375 h 1094"/>
                <a:gd name="T6" fmla="*/ 69 w 102"/>
                <a:gd name="T7" fmla="*/ 556 h 1094"/>
                <a:gd name="T8" fmla="*/ 25 w 102"/>
                <a:gd name="T9" fmla="*/ 737 h 1094"/>
                <a:gd name="T10" fmla="*/ 100 w 102"/>
                <a:gd name="T11" fmla="*/ 881 h 1094"/>
                <a:gd name="T12" fmla="*/ 37 w 102"/>
                <a:gd name="T13" fmla="*/ 1094 h 1094"/>
                <a:gd name="T14" fmla="*/ 0 60000 65536"/>
                <a:gd name="T15" fmla="*/ 0 60000 65536"/>
                <a:gd name="T16" fmla="*/ 0 60000 65536"/>
                <a:gd name="T17" fmla="*/ 0 60000 65536"/>
                <a:gd name="T18" fmla="*/ 0 60000 65536"/>
                <a:gd name="T19" fmla="*/ 0 60000 65536"/>
                <a:gd name="T20" fmla="*/ 0 60000 65536"/>
                <a:gd name="T21" fmla="*/ 0 w 102"/>
                <a:gd name="T22" fmla="*/ 0 h 1094"/>
                <a:gd name="T23" fmla="*/ 102 w 102"/>
                <a:gd name="T24" fmla="*/ 1094 h 10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2" h="1094">
                  <a:moveTo>
                    <a:pt x="0" y="0"/>
                  </a:moveTo>
                  <a:cubicBezTo>
                    <a:pt x="38" y="69"/>
                    <a:pt x="76" y="138"/>
                    <a:pt x="81" y="200"/>
                  </a:cubicBezTo>
                  <a:cubicBezTo>
                    <a:pt x="86" y="262"/>
                    <a:pt x="33" y="316"/>
                    <a:pt x="31" y="375"/>
                  </a:cubicBezTo>
                  <a:cubicBezTo>
                    <a:pt x="29" y="434"/>
                    <a:pt x="70" y="496"/>
                    <a:pt x="69" y="556"/>
                  </a:cubicBezTo>
                  <a:cubicBezTo>
                    <a:pt x="68" y="616"/>
                    <a:pt x="20" y="683"/>
                    <a:pt x="25" y="737"/>
                  </a:cubicBezTo>
                  <a:cubicBezTo>
                    <a:pt x="30" y="791"/>
                    <a:pt x="98" y="822"/>
                    <a:pt x="100" y="881"/>
                  </a:cubicBezTo>
                  <a:cubicBezTo>
                    <a:pt x="102" y="940"/>
                    <a:pt x="46" y="1060"/>
                    <a:pt x="37" y="1094"/>
                  </a:cubicBezTo>
                </a:path>
              </a:pathLst>
            </a:custGeom>
            <a:noFill/>
            <a:ln w="9525">
              <a:solidFill>
                <a:schemeClr val="tx1"/>
              </a:solidFill>
              <a:round/>
              <a:headEnd/>
              <a:tailEnd/>
            </a:ln>
          </p:spPr>
          <p:txBody>
            <a:bodyPr wrap="none" anchor="ctr"/>
            <a:lstStyle/>
            <a:p>
              <a:endParaRPr lang="en-GB"/>
            </a:p>
          </p:txBody>
        </p:sp>
        <p:sp>
          <p:nvSpPr>
            <p:cNvPr id="3137" name="Freeform 87"/>
            <p:cNvSpPr>
              <a:spLocks/>
            </p:cNvSpPr>
            <p:nvPr/>
          </p:nvSpPr>
          <p:spPr bwMode="auto">
            <a:xfrm flipH="1">
              <a:off x="3031" y="1481"/>
              <a:ext cx="102" cy="1094"/>
            </a:xfrm>
            <a:custGeom>
              <a:avLst/>
              <a:gdLst>
                <a:gd name="T0" fmla="*/ 0 w 102"/>
                <a:gd name="T1" fmla="*/ 0 h 1094"/>
                <a:gd name="T2" fmla="*/ 81 w 102"/>
                <a:gd name="T3" fmla="*/ 200 h 1094"/>
                <a:gd name="T4" fmla="*/ 31 w 102"/>
                <a:gd name="T5" fmla="*/ 375 h 1094"/>
                <a:gd name="T6" fmla="*/ 69 w 102"/>
                <a:gd name="T7" fmla="*/ 556 h 1094"/>
                <a:gd name="T8" fmla="*/ 25 w 102"/>
                <a:gd name="T9" fmla="*/ 737 h 1094"/>
                <a:gd name="T10" fmla="*/ 100 w 102"/>
                <a:gd name="T11" fmla="*/ 881 h 1094"/>
                <a:gd name="T12" fmla="*/ 37 w 102"/>
                <a:gd name="T13" fmla="*/ 1094 h 1094"/>
                <a:gd name="T14" fmla="*/ 0 60000 65536"/>
                <a:gd name="T15" fmla="*/ 0 60000 65536"/>
                <a:gd name="T16" fmla="*/ 0 60000 65536"/>
                <a:gd name="T17" fmla="*/ 0 60000 65536"/>
                <a:gd name="T18" fmla="*/ 0 60000 65536"/>
                <a:gd name="T19" fmla="*/ 0 60000 65536"/>
                <a:gd name="T20" fmla="*/ 0 60000 65536"/>
                <a:gd name="T21" fmla="*/ 0 w 102"/>
                <a:gd name="T22" fmla="*/ 0 h 1094"/>
                <a:gd name="T23" fmla="*/ 102 w 102"/>
                <a:gd name="T24" fmla="*/ 1094 h 10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2" h="1094">
                  <a:moveTo>
                    <a:pt x="0" y="0"/>
                  </a:moveTo>
                  <a:cubicBezTo>
                    <a:pt x="38" y="69"/>
                    <a:pt x="76" y="138"/>
                    <a:pt x="81" y="200"/>
                  </a:cubicBezTo>
                  <a:cubicBezTo>
                    <a:pt x="86" y="262"/>
                    <a:pt x="33" y="316"/>
                    <a:pt x="31" y="375"/>
                  </a:cubicBezTo>
                  <a:cubicBezTo>
                    <a:pt x="29" y="434"/>
                    <a:pt x="70" y="496"/>
                    <a:pt x="69" y="556"/>
                  </a:cubicBezTo>
                  <a:cubicBezTo>
                    <a:pt x="68" y="616"/>
                    <a:pt x="20" y="683"/>
                    <a:pt x="25" y="737"/>
                  </a:cubicBezTo>
                  <a:cubicBezTo>
                    <a:pt x="30" y="791"/>
                    <a:pt x="98" y="822"/>
                    <a:pt x="100" y="881"/>
                  </a:cubicBezTo>
                  <a:cubicBezTo>
                    <a:pt x="102" y="940"/>
                    <a:pt x="46" y="1060"/>
                    <a:pt x="37" y="1094"/>
                  </a:cubicBezTo>
                </a:path>
              </a:pathLst>
            </a:custGeom>
            <a:noFill/>
            <a:ln w="9525">
              <a:solidFill>
                <a:schemeClr val="tx1"/>
              </a:solidFill>
              <a:round/>
              <a:headEnd/>
              <a:tailEnd/>
            </a:ln>
          </p:spPr>
          <p:txBody>
            <a:bodyPr wrap="none" anchor="ctr"/>
            <a:lstStyle/>
            <a:p>
              <a:endParaRPr lang="en-GB"/>
            </a:p>
          </p:txBody>
        </p:sp>
      </p:grpSp>
      <p:grpSp>
        <p:nvGrpSpPr>
          <p:cNvPr id="29" name="Group 88"/>
          <p:cNvGrpSpPr>
            <a:grpSpLocks/>
          </p:cNvGrpSpPr>
          <p:nvPr/>
        </p:nvGrpSpPr>
        <p:grpSpPr bwMode="auto">
          <a:xfrm rot="16200000" flipV="1">
            <a:off x="5212557" y="2374106"/>
            <a:ext cx="39688" cy="574675"/>
            <a:chOff x="3025" y="1469"/>
            <a:chExt cx="108" cy="1106"/>
          </a:xfrm>
        </p:grpSpPr>
        <p:sp>
          <p:nvSpPr>
            <p:cNvPr id="3134" name="Freeform 89"/>
            <p:cNvSpPr>
              <a:spLocks/>
            </p:cNvSpPr>
            <p:nvPr/>
          </p:nvSpPr>
          <p:spPr bwMode="auto">
            <a:xfrm>
              <a:off x="3025" y="1469"/>
              <a:ext cx="102" cy="1094"/>
            </a:xfrm>
            <a:custGeom>
              <a:avLst/>
              <a:gdLst>
                <a:gd name="T0" fmla="*/ 0 w 102"/>
                <a:gd name="T1" fmla="*/ 0 h 1094"/>
                <a:gd name="T2" fmla="*/ 81 w 102"/>
                <a:gd name="T3" fmla="*/ 200 h 1094"/>
                <a:gd name="T4" fmla="*/ 31 w 102"/>
                <a:gd name="T5" fmla="*/ 375 h 1094"/>
                <a:gd name="T6" fmla="*/ 69 w 102"/>
                <a:gd name="T7" fmla="*/ 556 h 1094"/>
                <a:gd name="T8" fmla="*/ 25 w 102"/>
                <a:gd name="T9" fmla="*/ 737 h 1094"/>
                <a:gd name="T10" fmla="*/ 100 w 102"/>
                <a:gd name="T11" fmla="*/ 881 h 1094"/>
                <a:gd name="T12" fmla="*/ 37 w 102"/>
                <a:gd name="T13" fmla="*/ 1094 h 1094"/>
                <a:gd name="T14" fmla="*/ 0 60000 65536"/>
                <a:gd name="T15" fmla="*/ 0 60000 65536"/>
                <a:gd name="T16" fmla="*/ 0 60000 65536"/>
                <a:gd name="T17" fmla="*/ 0 60000 65536"/>
                <a:gd name="T18" fmla="*/ 0 60000 65536"/>
                <a:gd name="T19" fmla="*/ 0 60000 65536"/>
                <a:gd name="T20" fmla="*/ 0 60000 65536"/>
                <a:gd name="T21" fmla="*/ 0 w 102"/>
                <a:gd name="T22" fmla="*/ 0 h 1094"/>
                <a:gd name="T23" fmla="*/ 102 w 102"/>
                <a:gd name="T24" fmla="*/ 1094 h 10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2" h="1094">
                  <a:moveTo>
                    <a:pt x="0" y="0"/>
                  </a:moveTo>
                  <a:cubicBezTo>
                    <a:pt x="38" y="69"/>
                    <a:pt x="76" y="138"/>
                    <a:pt x="81" y="200"/>
                  </a:cubicBezTo>
                  <a:cubicBezTo>
                    <a:pt x="86" y="262"/>
                    <a:pt x="33" y="316"/>
                    <a:pt x="31" y="375"/>
                  </a:cubicBezTo>
                  <a:cubicBezTo>
                    <a:pt x="29" y="434"/>
                    <a:pt x="70" y="496"/>
                    <a:pt x="69" y="556"/>
                  </a:cubicBezTo>
                  <a:cubicBezTo>
                    <a:pt x="68" y="616"/>
                    <a:pt x="20" y="683"/>
                    <a:pt x="25" y="737"/>
                  </a:cubicBezTo>
                  <a:cubicBezTo>
                    <a:pt x="30" y="791"/>
                    <a:pt x="98" y="822"/>
                    <a:pt x="100" y="881"/>
                  </a:cubicBezTo>
                  <a:cubicBezTo>
                    <a:pt x="102" y="940"/>
                    <a:pt x="46" y="1060"/>
                    <a:pt x="37" y="1094"/>
                  </a:cubicBezTo>
                </a:path>
              </a:pathLst>
            </a:custGeom>
            <a:noFill/>
            <a:ln w="9525">
              <a:solidFill>
                <a:schemeClr val="tx1"/>
              </a:solidFill>
              <a:round/>
              <a:headEnd/>
              <a:tailEnd/>
            </a:ln>
          </p:spPr>
          <p:txBody>
            <a:bodyPr wrap="none" anchor="ctr"/>
            <a:lstStyle/>
            <a:p>
              <a:endParaRPr lang="en-GB"/>
            </a:p>
          </p:txBody>
        </p:sp>
        <p:sp>
          <p:nvSpPr>
            <p:cNvPr id="3135" name="Freeform 90"/>
            <p:cNvSpPr>
              <a:spLocks/>
            </p:cNvSpPr>
            <p:nvPr/>
          </p:nvSpPr>
          <p:spPr bwMode="auto">
            <a:xfrm flipH="1">
              <a:off x="3031" y="1481"/>
              <a:ext cx="102" cy="1094"/>
            </a:xfrm>
            <a:custGeom>
              <a:avLst/>
              <a:gdLst>
                <a:gd name="T0" fmla="*/ 0 w 102"/>
                <a:gd name="T1" fmla="*/ 0 h 1094"/>
                <a:gd name="T2" fmla="*/ 81 w 102"/>
                <a:gd name="T3" fmla="*/ 200 h 1094"/>
                <a:gd name="T4" fmla="*/ 31 w 102"/>
                <a:gd name="T5" fmla="*/ 375 h 1094"/>
                <a:gd name="T6" fmla="*/ 69 w 102"/>
                <a:gd name="T7" fmla="*/ 556 h 1094"/>
                <a:gd name="T8" fmla="*/ 25 w 102"/>
                <a:gd name="T9" fmla="*/ 737 h 1094"/>
                <a:gd name="T10" fmla="*/ 100 w 102"/>
                <a:gd name="T11" fmla="*/ 881 h 1094"/>
                <a:gd name="T12" fmla="*/ 37 w 102"/>
                <a:gd name="T13" fmla="*/ 1094 h 1094"/>
                <a:gd name="T14" fmla="*/ 0 60000 65536"/>
                <a:gd name="T15" fmla="*/ 0 60000 65536"/>
                <a:gd name="T16" fmla="*/ 0 60000 65536"/>
                <a:gd name="T17" fmla="*/ 0 60000 65536"/>
                <a:gd name="T18" fmla="*/ 0 60000 65536"/>
                <a:gd name="T19" fmla="*/ 0 60000 65536"/>
                <a:gd name="T20" fmla="*/ 0 60000 65536"/>
                <a:gd name="T21" fmla="*/ 0 w 102"/>
                <a:gd name="T22" fmla="*/ 0 h 1094"/>
                <a:gd name="T23" fmla="*/ 102 w 102"/>
                <a:gd name="T24" fmla="*/ 1094 h 10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2" h="1094">
                  <a:moveTo>
                    <a:pt x="0" y="0"/>
                  </a:moveTo>
                  <a:cubicBezTo>
                    <a:pt x="38" y="69"/>
                    <a:pt x="76" y="138"/>
                    <a:pt x="81" y="200"/>
                  </a:cubicBezTo>
                  <a:cubicBezTo>
                    <a:pt x="86" y="262"/>
                    <a:pt x="33" y="316"/>
                    <a:pt x="31" y="375"/>
                  </a:cubicBezTo>
                  <a:cubicBezTo>
                    <a:pt x="29" y="434"/>
                    <a:pt x="70" y="496"/>
                    <a:pt x="69" y="556"/>
                  </a:cubicBezTo>
                  <a:cubicBezTo>
                    <a:pt x="68" y="616"/>
                    <a:pt x="20" y="683"/>
                    <a:pt x="25" y="737"/>
                  </a:cubicBezTo>
                  <a:cubicBezTo>
                    <a:pt x="30" y="791"/>
                    <a:pt x="98" y="822"/>
                    <a:pt x="100" y="881"/>
                  </a:cubicBezTo>
                  <a:cubicBezTo>
                    <a:pt x="102" y="940"/>
                    <a:pt x="46" y="1060"/>
                    <a:pt x="37" y="1094"/>
                  </a:cubicBezTo>
                </a:path>
              </a:pathLst>
            </a:custGeom>
            <a:noFill/>
            <a:ln w="9525">
              <a:solidFill>
                <a:schemeClr val="tx1"/>
              </a:solidFill>
              <a:round/>
              <a:headEnd/>
              <a:tailEnd/>
            </a:ln>
          </p:spPr>
          <p:txBody>
            <a:bodyPr wrap="none" anchor="ctr"/>
            <a:lstStyle/>
            <a:p>
              <a:endParaRPr lang="en-GB"/>
            </a:p>
          </p:txBody>
        </p:sp>
      </p:grpSp>
      <p:grpSp>
        <p:nvGrpSpPr>
          <p:cNvPr id="30" name="Group 91"/>
          <p:cNvGrpSpPr>
            <a:grpSpLocks/>
          </p:cNvGrpSpPr>
          <p:nvPr/>
        </p:nvGrpSpPr>
        <p:grpSpPr bwMode="auto">
          <a:xfrm rot="16200000" flipV="1">
            <a:off x="5212557" y="2528094"/>
            <a:ext cx="39687" cy="574675"/>
            <a:chOff x="3025" y="1469"/>
            <a:chExt cx="108" cy="1106"/>
          </a:xfrm>
        </p:grpSpPr>
        <p:sp>
          <p:nvSpPr>
            <p:cNvPr id="3132" name="Freeform 92"/>
            <p:cNvSpPr>
              <a:spLocks/>
            </p:cNvSpPr>
            <p:nvPr/>
          </p:nvSpPr>
          <p:spPr bwMode="auto">
            <a:xfrm>
              <a:off x="3025" y="1469"/>
              <a:ext cx="102" cy="1094"/>
            </a:xfrm>
            <a:custGeom>
              <a:avLst/>
              <a:gdLst>
                <a:gd name="T0" fmla="*/ 0 w 102"/>
                <a:gd name="T1" fmla="*/ 0 h 1094"/>
                <a:gd name="T2" fmla="*/ 81 w 102"/>
                <a:gd name="T3" fmla="*/ 200 h 1094"/>
                <a:gd name="T4" fmla="*/ 31 w 102"/>
                <a:gd name="T5" fmla="*/ 375 h 1094"/>
                <a:gd name="T6" fmla="*/ 69 w 102"/>
                <a:gd name="T7" fmla="*/ 556 h 1094"/>
                <a:gd name="T8" fmla="*/ 25 w 102"/>
                <a:gd name="T9" fmla="*/ 737 h 1094"/>
                <a:gd name="T10" fmla="*/ 100 w 102"/>
                <a:gd name="T11" fmla="*/ 881 h 1094"/>
                <a:gd name="T12" fmla="*/ 37 w 102"/>
                <a:gd name="T13" fmla="*/ 1094 h 1094"/>
                <a:gd name="T14" fmla="*/ 0 60000 65536"/>
                <a:gd name="T15" fmla="*/ 0 60000 65536"/>
                <a:gd name="T16" fmla="*/ 0 60000 65536"/>
                <a:gd name="T17" fmla="*/ 0 60000 65536"/>
                <a:gd name="T18" fmla="*/ 0 60000 65536"/>
                <a:gd name="T19" fmla="*/ 0 60000 65536"/>
                <a:gd name="T20" fmla="*/ 0 60000 65536"/>
                <a:gd name="T21" fmla="*/ 0 w 102"/>
                <a:gd name="T22" fmla="*/ 0 h 1094"/>
                <a:gd name="T23" fmla="*/ 102 w 102"/>
                <a:gd name="T24" fmla="*/ 1094 h 10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2" h="1094">
                  <a:moveTo>
                    <a:pt x="0" y="0"/>
                  </a:moveTo>
                  <a:cubicBezTo>
                    <a:pt x="38" y="69"/>
                    <a:pt x="76" y="138"/>
                    <a:pt x="81" y="200"/>
                  </a:cubicBezTo>
                  <a:cubicBezTo>
                    <a:pt x="86" y="262"/>
                    <a:pt x="33" y="316"/>
                    <a:pt x="31" y="375"/>
                  </a:cubicBezTo>
                  <a:cubicBezTo>
                    <a:pt x="29" y="434"/>
                    <a:pt x="70" y="496"/>
                    <a:pt x="69" y="556"/>
                  </a:cubicBezTo>
                  <a:cubicBezTo>
                    <a:pt x="68" y="616"/>
                    <a:pt x="20" y="683"/>
                    <a:pt x="25" y="737"/>
                  </a:cubicBezTo>
                  <a:cubicBezTo>
                    <a:pt x="30" y="791"/>
                    <a:pt x="98" y="822"/>
                    <a:pt x="100" y="881"/>
                  </a:cubicBezTo>
                  <a:cubicBezTo>
                    <a:pt x="102" y="940"/>
                    <a:pt x="46" y="1060"/>
                    <a:pt x="37" y="1094"/>
                  </a:cubicBezTo>
                </a:path>
              </a:pathLst>
            </a:custGeom>
            <a:noFill/>
            <a:ln w="9525">
              <a:solidFill>
                <a:schemeClr val="tx1"/>
              </a:solidFill>
              <a:round/>
              <a:headEnd/>
              <a:tailEnd/>
            </a:ln>
          </p:spPr>
          <p:txBody>
            <a:bodyPr wrap="none" anchor="ctr"/>
            <a:lstStyle/>
            <a:p>
              <a:endParaRPr lang="en-GB"/>
            </a:p>
          </p:txBody>
        </p:sp>
        <p:sp>
          <p:nvSpPr>
            <p:cNvPr id="3133" name="Freeform 93"/>
            <p:cNvSpPr>
              <a:spLocks/>
            </p:cNvSpPr>
            <p:nvPr/>
          </p:nvSpPr>
          <p:spPr bwMode="auto">
            <a:xfrm flipH="1">
              <a:off x="3031" y="1481"/>
              <a:ext cx="102" cy="1094"/>
            </a:xfrm>
            <a:custGeom>
              <a:avLst/>
              <a:gdLst>
                <a:gd name="T0" fmla="*/ 0 w 102"/>
                <a:gd name="T1" fmla="*/ 0 h 1094"/>
                <a:gd name="T2" fmla="*/ 81 w 102"/>
                <a:gd name="T3" fmla="*/ 200 h 1094"/>
                <a:gd name="T4" fmla="*/ 31 w 102"/>
                <a:gd name="T5" fmla="*/ 375 h 1094"/>
                <a:gd name="T6" fmla="*/ 69 w 102"/>
                <a:gd name="T7" fmla="*/ 556 h 1094"/>
                <a:gd name="T8" fmla="*/ 25 w 102"/>
                <a:gd name="T9" fmla="*/ 737 h 1094"/>
                <a:gd name="T10" fmla="*/ 100 w 102"/>
                <a:gd name="T11" fmla="*/ 881 h 1094"/>
                <a:gd name="T12" fmla="*/ 37 w 102"/>
                <a:gd name="T13" fmla="*/ 1094 h 1094"/>
                <a:gd name="T14" fmla="*/ 0 60000 65536"/>
                <a:gd name="T15" fmla="*/ 0 60000 65536"/>
                <a:gd name="T16" fmla="*/ 0 60000 65536"/>
                <a:gd name="T17" fmla="*/ 0 60000 65536"/>
                <a:gd name="T18" fmla="*/ 0 60000 65536"/>
                <a:gd name="T19" fmla="*/ 0 60000 65536"/>
                <a:gd name="T20" fmla="*/ 0 60000 65536"/>
                <a:gd name="T21" fmla="*/ 0 w 102"/>
                <a:gd name="T22" fmla="*/ 0 h 1094"/>
                <a:gd name="T23" fmla="*/ 102 w 102"/>
                <a:gd name="T24" fmla="*/ 1094 h 10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2" h="1094">
                  <a:moveTo>
                    <a:pt x="0" y="0"/>
                  </a:moveTo>
                  <a:cubicBezTo>
                    <a:pt x="38" y="69"/>
                    <a:pt x="76" y="138"/>
                    <a:pt x="81" y="200"/>
                  </a:cubicBezTo>
                  <a:cubicBezTo>
                    <a:pt x="86" y="262"/>
                    <a:pt x="33" y="316"/>
                    <a:pt x="31" y="375"/>
                  </a:cubicBezTo>
                  <a:cubicBezTo>
                    <a:pt x="29" y="434"/>
                    <a:pt x="70" y="496"/>
                    <a:pt x="69" y="556"/>
                  </a:cubicBezTo>
                  <a:cubicBezTo>
                    <a:pt x="68" y="616"/>
                    <a:pt x="20" y="683"/>
                    <a:pt x="25" y="737"/>
                  </a:cubicBezTo>
                  <a:cubicBezTo>
                    <a:pt x="30" y="791"/>
                    <a:pt x="98" y="822"/>
                    <a:pt x="100" y="881"/>
                  </a:cubicBezTo>
                  <a:cubicBezTo>
                    <a:pt x="102" y="940"/>
                    <a:pt x="46" y="1060"/>
                    <a:pt x="37" y="1094"/>
                  </a:cubicBezTo>
                </a:path>
              </a:pathLst>
            </a:custGeom>
            <a:noFill/>
            <a:ln w="9525">
              <a:solidFill>
                <a:schemeClr val="tx1"/>
              </a:solidFill>
              <a:round/>
              <a:headEnd/>
              <a:tailEnd/>
            </a:ln>
          </p:spPr>
          <p:txBody>
            <a:bodyPr wrap="none" anchor="ctr"/>
            <a:lstStyle/>
            <a:p>
              <a:endParaRPr lang="en-GB"/>
            </a:p>
          </p:txBody>
        </p:sp>
      </p:grpSp>
      <p:grpSp>
        <p:nvGrpSpPr>
          <p:cNvPr id="31" name="Group 94"/>
          <p:cNvGrpSpPr>
            <a:grpSpLocks/>
          </p:cNvGrpSpPr>
          <p:nvPr/>
        </p:nvGrpSpPr>
        <p:grpSpPr bwMode="auto">
          <a:xfrm rot="16200000" flipV="1">
            <a:off x="5212557" y="2661444"/>
            <a:ext cx="39687" cy="574675"/>
            <a:chOff x="3025" y="1469"/>
            <a:chExt cx="108" cy="1106"/>
          </a:xfrm>
        </p:grpSpPr>
        <p:sp>
          <p:nvSpPr>
            <p:cNvPr id="3130" name="Freeform 95"/>
            <p:cNvSpPr>
              <a:spLocks/>
            </p:cNvSpPr>
            <p:nvPr/>
          </p:nvSpPr>
          <p:spPr bwMode="auto">
            <a:xfrm>
              <a:off x="3025" y="1469"/>
              <a:ext cx="102" cy="1094"/>
            </a:xfrm>
            <a:custGeom>
              <a:avLst/>
              <a:gdLst>
                <a:gd name="T0" fmla="*/ 0 w 102"/>
                <a:gd name="T1" fmla="*/ 0 h 1094"/>
                <a:gd name="T2" fmla="*/ 81 w 102"/>
                <a:gd name="T3" fmla="*/ 200 h 1094"/>
                <a:gd name="T4" fmla="*/ 31 w 102"/>
                <a:gd name="T5" fmla="*/ 375 h 1094"/>
                <a:gd name="T6" fmla="*/ 69 w 102"/>
                <a:gd name="T7" fmla="*/ 556 h 1094"/>
                <a:gd name="T8" fmla="*/ 25 w 102"/>
                <a:gd name="T9" fmla="*/ 737 h 1094"/>
                <a:gd name="T10" fmla="*/ 100 w 102"/>
                <a:gd name="T11" fmla="*/ 881 h 1094"/>
                <a:gd name="T12" fmla="*/ 37 w 102"/>
                <a:gd name="T13" fmla="*/ 1094 h 1094"/>
                <a:gd name="T14" fmla="*/ 0 60000 65536"/>
                <a:gd name="T15" fmla="*/ 0 60000 65536"/>
                <a:gd name="T16" fmla="*/ 0 60000 65536"/>
                <a:gd name="T17" fmla="*/ 0 60000 65536"/>
                <a:gd name="T18" fmla="*/ 0 60000 65536"/>
                <a:gd name="T19" fmla="*/ 0 60000 65536"/>
                <a:gd name="T20" fmla="*/ 0 60000 65536"/>
                <a:gd name="T21" fmla="*/ 0 w 102"/>
                <a:gd name="T22" fmla="*/ 0 h 1094"/>
                <a:gd name="T23" fmla="*/ 102 w 102"/>
                <a:gd name="T24" fmla="*/ 1094 h 10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2" h="1094">
                  <a:moveTo>
                    <a:pt x="0" y="0"/>
                  </a:moveTo>
                  <a:cubicBezTo>
                    <a:pt x="38" y="69"/>
                    <a:pt x="76" y="138"/>
                    <a:pt x="81" y="200"/>
                  </a:cubicBezTo>
                  <a:cubicBezTo>
                    <a:pt x="86" y="262"/>
                    <a:pt x="33" y="316"/>
                    <a:pt x="31" y="375"/>
                  </a:cubicBezTo>
                  <a:cubicBezTo>
                    <a:pt x="29" y="434"/>
                    <a:pt x="70" y="496"/>
                    <a:pt x="69" y="556"/>
                  </a:cubicBezTo>
                  <a:cubicBezTo>
                    <a:pt x="68" y="616"/>
                    <a:pt x="20" y="683"/>
                    <a:pt x="25" y="737"/>
                  </a:cubicBezTo>
                  <a:cubicBezTo>
                    <a:pt x="30" y="791"/>
                    <a:pt x="98" y="822"/>
                    <a:pt x="100" y="881"/>
                  </a:cubicBezTo>
                  <a:cubicBezTo>
                    <a:pt x="102" y="940"/>
                    <a:pt x="46" y="1060"/>
                    <a:pt x="37" y="1094"/>
                  </a:cubicBezTo>
                </a:path>
              </a:pathLst>
            </a:custGeom>
            <a:noFill/>
            <a:ln w="9525">
              <a:solidFill>
                <a:schemeClr val="tx1"/>
              </a:solidFill>
              <a:round/>
              <a:headEnd/>
              <a:tailEnd/>
            </a:ln>
          </p:spPr>
          <p:txBody>
            <a:bodyPr wrap="none" anchor="ctr"/>
            <a:lstStyle/>
            <a:p>
              <a:endParaRPr lang="en-GB"/>
            </a:p>
          </p:txBody>
        </p:sp>
        <p:sp>
          <p:nvSpPr>
            <p:cNvPr id="3131" name="Freeform 96"/>
            <p:cNvSpPr>
              <a:spLocks/>
            </p:cNvSpPr>
            <p:nvPr/>
          </p:nvSpPr>
          <p:spPr bwMode="auto">
            <a:xfrm flipH="1">
              <a:off x="3031" y="1481"/>
              <a:ext cx="102" cy="1094"/>
            </a:xfrm>
            <a:custGeom>
              <a:avLst/>
              <a:gdLst>
                <a:gd name="T0" fmla="*/ 0 w 102"/>
                <a:gd name="T1" fmla="*/ 0 h 1094"/>
                <a:gd name="T2" fmla="*/ 81 w 102"/>
                <a:gd name="T3" fmla="*/ 200 h 1094"/>
                <a:gd name="T4" fmla="*/ 31 w 102"/>
                <a:gd name="T5" fmla="*/ 375 h 1094"/>
                <a:gd name="T6" fmla="*/ 69 w 102"/>
                <a:gd name="T7" fmla="*/ 556 h 1094"/>
                <a:gd name="T8" fmla="*/ 25 w 102"/>
                <a:gd name="T9" fmla="*/ 737 h 1094"/>
                <a:gd name="T10" fmla="*/ 100 w 102"/>
                <a:gd name="T11" fmla="*/ 881 h 1094"/>
                <a:gd name="T12" fmla="*/ 37 w 102"/>
                <a:gd name="T13" fmla="*/ 1094 h 1094"/>
                <a:gd name="T14" fmla="*/ 0 60000 65536"/>
                <a:gd name="T15" fmla="*/ 0 60000 65536"/>
                <a:gd name="T16" fmla="*/ 0 60000 65536"/>
                <a:gd name="T17" fmla="*/ 0 60000 65536"/>
                <a:gd name="T18" fmla="*/ 0 60000 65536"/>
                <a:gd name="T19" fmla="*/ 0 60000 65536"/>
                <a:gd name="T20" fmla="*/ 0 60000 65536"/>
                <a:gd name="T21" fmla="*/ 0 w 102"/>
                <a:gd name="T22" fmla="*/ 0 h 1094"/>
                <a:gd name="T23" fmla="*/ 102 w 102"/>
                <a:gd name="T24" fmla="*/ 1094 h 10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2" h="1094">
                  <a:moveTo>
                    <a:pt x="0" y="0"/>
                  </a:moveTo>
                  <a:cubicBezTo>
                    <a:pt x="38" y="69"/>
                    <a:pt x="76" y="138"/>
                    <a:pt x="81" y="200"/>
                  </a:cubicBezTo>
                  <a:cubicBezTo>
                    <a:pt x="86" y="262"/>
                    <a:pt x="33" y="316"/>
                    <a:pt x="31" y="375"/>
                  </a:cubicBezTo>
                  <a:cubicBezTo>
                    <a:pt x="29" y="434"/>
                    <a:pt x="70" y="496"/>
                    <a:pt x="69" y="556"/>
                  </a:cubicBezTo>
                  <a:cubicBezTo>
                    <a:pt x="68" y="616"/>
                    <a:pt x="20" y="683"/>
                    <a:pt x="25" y="737"/>
                  </a:cubicBezTo>
                  <a:cubicBezTo>
                    <a:pt x="30" y="791"/>
                    <a:pt x="98" y="822"/>
                    <a:pt x="100" y="881"/>
                  </a:cubicBezTo>
                  <a:cubicBezTo>
                    <a:pt x="102" y="940"/>
                    <a:pt x="46" y="1060"/>
                    <a:pt x="37" y="1094"/>
                  </a:cubicBezTo>
                </a:path>
              </a:pathLst>
            </a:custGeom>
            <a:noFill/>
            <a:ln w="9525">
              <a:solidFill>
                <a:schemeClr val="tx1"/>
              </a:solidFill>
              <a:round/>
              <a:headEnd/>
              <a:tailEnd/>
            </a:ln>
          </p:spPr>
          <p:txBody>
            <a:bodyPr wrap="none" anchor="ctr"/>
            <a:lstStyle/>
            <a:p>
              <a:endParaRPr lang="en-GB"/>
            </a:p>
          </p:txBody>
        </p:sp>
      </p:grpSp>
      <p:grpSp>
        <p:nvGrpSpPr>
          <p:cNvPr id="3190" name="Group 97"/>
          <p:cNvGrpSpPr>
            <a:grpSpLocks/>
          </p:cNvGrpSpPr>
          <p:nvPr/>
        </p:nvGrpSpPr>
        <p:grpSpPr bwMode="auto">
          <a:xfrm rot="16200000" flipV="1">
            <a:off x="6222207" y="2459831"/>
            <a:ext cx="39688" cy="574675"/>
            <a:chOff x="3025" y="1469"/>
            <a:chExt cx="108" cy="1106"/>
          </a:xfrm>
        </p:grpSpPr>
        <p:sp>
          <p:nvSpPr>
            <p:cNvPr id="3128" name="Freeform 98"/>
            <p:cNvSpPr>
              <a:spLocks/>
            </p:cNvSpPr>
            <p:nvPr/>
          </p:nvSpPr>
          <p:spPr bwMode="auto">
            <a:xfrm>
              <a:off x="3025" y="1469"/>
              <a:ext cx="102" cy="1094"/>
            </a:xfrm>
            <a:custGeom>
              <a:avLst/>
              <a:gdLst>
                <a:gd name="T0" fmla="*/ 0 w 102"/>
                <a:gd name="T1" fmla="*/ 0 h 1094"/>
                <a:gd name="T2" fmla="*/ 81 w 102"/>
                <a:gd name="T3" fmla="*/ 200 h 1094"/>
                <a:gd name="T4" fmla="*/ 31 w 102"/>
                <a:gd name="T5" fmla="*/ 375 h 1094"/>
                <a:gd name="T6" fmla="*/ 69 w 102"/>
                <a:gd name="T7" fmla="*/ 556 h 1094"/>
                <a:gd name="T8" fmla="*/ 25 w 102"/>
                <a:gd name="T9" fmla="*/ 737 h 1094"/>
                <a:gd name="T10" fmla="*/ 100 w 102"/>
                <a:gd name="T11" fmla="*/ 881 h 1094"/>
                <a:gd name="T12" fmla="*/ 37 w 102"/>
                <a:gd name="T13" fmla="*/ 1094 h 1094"/>
                <a:gd name="T14" fmla="*/ 0 60000 65536"/>
                <a:gd name="T15" fmla="*/ 0 60000 65536"/>
                <a:gd name="T16" fmla="*/ 0 60000 65536"/>
                <a:gd name="T17" fmla="*/ 0 60000 65536"/>
                <a:gd name="T18" fmla="*/ 0 60000 65536"/>
                <a:gd name="T19" fmla="*/ 0 60000 65536"/>
                <a:gd name="T20" fmla="*/ 0 60000 65536"/>
                <a:gd name="T21" fmla="*/ 0 w 102"/>
                <a:gd name="T22" fmla="*/ 0 h 1094"/>
                <a:gd name="T23" fmla="*/ 102 w 102"/>
                <a:gd name="T24" fmla="*/ 1094 h 10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2" h="1094">
                  <a:moveTo>
                    <a:pt x="0" y="0"/>
                  </a:moveTo>
                  <a:cubicBezTo>
                    <a:pt x="38" y="69"/>
                    <a:pt x="76" y="138"/>
                    <a:pt x="81" y="200"/>
                  </a:cubicBezTo>
                  <a:cubicBezTo>
                    <a:pt x="86" y="262"/>
                    <a:pt x="33" y="316"/>
                    <a:pt x="31" y="375"/>
                  </a:cubicBezTo>
                  <a:cubicBezTo>
                    <a:pt x="29" y="434"/>
                    <a:pt x="70" y="496"/>
                    <a:pt x="69" y="556"/>
                  </a:cubicBezTo>
                  <a:cubicBezTo>
                    <a:pt x="68" y="616"/>
                    <a:pt x="20" y="683"/>
                    <a:pt x="25" y="737"/>
                  </a:cubicBezTo>
                  <a:cubicBezTo>
                    <a:pt x="30" y="791"/>
                    <a:pt x="98" y="822"/>
                    <a:pt x="100" y="881"/>
                  </a:cubicBezTo>
                  <a:cubicBezTo>
                    <a:pt x="102" y="940"/>
                    <a:pt x="46" y="1060"/>
                    <a:pt x="37" y="1094"/>
                  </a:cubicBezTo>
                </a:path>
              </a:pathLst>
            </a:custGeom>
            <a:noFill/>
            <a:ln w="9525">
              <a:solidFill>
                <a:schemeClr val="tx1"/>
              </a:solidFill>
              <a:round/>
              <a:headEnd/>
              <a:tailEnd/>
            </a:ln>
          </p:spPr>
          <p:txBody>
            <a:bodyPr wrap="none" anchor="ctr"/>
            <a:lstStyle/>
            <a:p>
              <a:endParaRPr lang="en-GB"/>
            </a:p>
          </p:txBody>
        </p:sp>
        <p:sp>
          <p:nvSpPr>
            <p:cNvPr id="3129" name="Freeform 99"/>
            <p:cNvSpPr>
              <a:spLocks/>
            </p:cNvSpPr>
            <p:nvPr/>
          </p:nvSpPr>
          <p:spPr bwMode="auto">
            <a:xfrm flipH="1">
              <a:off x="3031" y="1481"/>
              <a:ext cx="102" cy="1094"/>
            </a:xfrm>
            <a:custGeom>
              <a:avLst/>
              <a:gdLst>
                <a:gd name="T0" fmla="*/ 0 w 102"/>
                <a:gd name="T1" fmla="*/ 0 h 1094"/>
                <a:gd name="T2" fmla="*/ 81 w 102"/>
                <a:gd name="T3" fmla="*/ 200 h 1094"/>
                <a:gd name="T4" fmla="*/ 31 w 102"/>
                <a:gd name="T5" fmla="*/ 375 h 1094"/>
                <a:gd name="T6" fmla="*/ 69 w 102"/>
                <a:gd name="T7" fmla="*/ 556 h 1094"/>
                <a:gd name="T8" fmla="*/ 25 w 102"/>
                <a:gd name="T9" fmla="*/ 737 h 1094"/>
                <a:gd name="T10" fmla="*/ 100 w 102"/>
                <a:gd name="T11" fmla="*/ 881 h 1094"/>
                <a:gd name="T12" fmla="*/ 37 w 102"/>
                <a:gd name="T13" fmla="*/ 1094 h 1094"/>
                <a:gd name="T14" fmla="*/ 0 60000 65536"/>
                <a:gd name="T15" fmla="*/ 0 60000 65536"/>
                <a:gd name="T16" fmla="*/ 0 60000 65536"/>
                <a:gd name="T17" fmla="*/ 0 60000 65536"/>
                <a:gd name="T18" fmla="*/ 0 60000 65536"/>
                <a:gd name="T19" fmla="*/ 0 60000 65536"/>
                <a:gd name="T20" fmla="*/ 0 60000 65536"/>
                <a:gd name="T21" fmla="*/ 0 w 102"/>
                <a:gd name="T22" fmla="*/ 0 h 1094"/>
                <a:gd name="T23" fmla="*/ 102 w 102"/>
                <a:gd name="T24" fmla="*/ 1094 h 10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2" h="1094">
                  <a:moveTo>
                    <a:pt x="0" y="0"/>
                  </a:moveTo>
                  <a:cubicBezTo>
                    <a:pt x="38" y="69"/>
                    <a:pt x="76" y="138"/>
                    <a:pt x="81" y="200"/>
                  </a:cubicBezTo>
                  <a:cubicBezTo>
                    <a:pt x="86" y="262"/>
                    <a:pt x="33" y="316"/>
                    <a:pt x="31" y="375"/>
                  </a:cubicBezTo>
                  <a:cubicBezTo>
                    <a:pt x="29" y="434"/>
                    <a:pt x="70" y="496"/>
                    <a:pt x="69" y="556"/>
                  </a:cubicBezTo>
                  <a:cubicBezTo>
                    <a:pt x="68" y="616"/>
                    <a:pt x="20" y="683"/>
                    <a:pt x="25" y="737"/>
                  </a:cubicBezTo>
                  <a:cubicBezTo>
                    <a:pt x="30" y="791"/>
                    <a:pt x="98" y="822"/>
                    <a:pt x="100" y="881"/>
                  </a:cubicBezTo>
                  <a:cubicBezTo>
                    <a:pt x="102" y="940"/>
                    <a:pt x="46" y="1060"/>
                    <a:pt x="37" y="1094"/>
                  </a:cubicBezTo>
                </a:path>
              </a:pathLst>
            </a:custGeom>
            <a:noFill/>
            <a:ln w="9525">
              <a:solidFill>
                <a:schemeClr val="tx1"/>
              </a:solidFill>
              <a:round/>
              <a:headEnd/>
              <a:tailEnd/>
            </a:ln>
          </p:spPr>
          <p:txBody>
            <a:bodyPr wrap="none" anchor="ctr"/>
            <a:lstStyle/>
            <a:p>
              <a:endParaRPr lang="en-GB"/>
            </a:p>
          </p:txBody>
        </p:sp>
      </p:grpSp>
      <p:grpSp>
        <p:nvGrpSpPr>
          <p:cNvPr id="3191" name="Group 100"/>
          <p:cNvGrpSpPr>
            <a:grpSpLocks/>
          </p:cNvGrpSpPr>
          <p:nvPr/>
        </p:nvGrpSpPr>
        <p:grpSpPr bwMode="auto">
          <a:xfrm rot="16200000" flipV="1">
            <a:off x="5207794" y="2772569"/>
            <a:ext cx="39687" cy="574675"/>
            <a:chOff x="3025" y="1469"/>
            <a:chExt cx="108" cy="1106"/>
          </a:xfrm>
        </p:grpSpPr>
        <p:sp>
          <p:nvSpPr>
            <p:cNvPr id="3126" name="Freeform 101"/>
            <p:cNvSpPr>
              <a:spLocks/>
            </p:cNvSpPr>
            <p:nvPr/>
          </p:nvSpPr>
          <p:spPr bwMode="auto">
            <a:xfrm>
              <a:off x="3025" y="1469"/>
              <a:ext cx="102" cy="1094"/>
            </a:xfrm>
            <a:custGeom>
              <a:avLst/>
              <a:gdLst>
                <a:gd name="T0" fmla="*/ 0 w 102"/>
                <a:gd name="T1" fmla="*/ 0 h 1094"/>
                <a:gd name="T2" fmla="*/ 81 w 102"/>
                <a:gd name="T3" fmla="*/ 200 h 1094"/>
                <a:gd name="T4" fmla="*/ 31 w 102"/>
                <a:gd name="T5" fmla="*/ 375 h 1094"/>
                <a:gd name="T6" fmla="*/ 69 w 102"/>
                <a:gd name="T7" fmla="*/ 556 h 1094"/>
                <a:gd name="T8" fmla="*/ 25 w 102"/>
                <a:gd name="T9" fmla="*/ 737 h 1094"/>
                <a:gd name="T10" fmla="*/ 100 w 102"/>
                <a:gd name="T11" fmla="*/ 881 h 1094"/>
                <a:gd name="T12" fmla="*/ 37 w 102"/>
                <a:gd name="T13" fmla="*/ 1094 h 1094"/>
                <a:gd name="T14" fmla="*/ 0 60000 65536"/>
                <a:gd name="T15" fmla="*/ 0 60000 65536"/>
                <a:gd name="T16" fmla="*/ 0 60000 65536"/>
                <a:gd name="T17" fmla="*/ 0 60000 65536"/>
                <a:gd name="T18" fmla="*/ 0 60000 65536"/>
                <a:gd name="T19" fmla="*/ 0 60000 65536"/>
                <a:gd name="T20" fmla="*/ 0 60000 65536"/>
                <a:gd name="T21" fmla="*/ 0 w 102"/>
                <a:gd name="T22" fmla="*/ 0 h 1094"/>
                <a:gd name="T23" fmla="*/ 102 w 102"/>
                <a:gd name="T24" fmla="*/ 1094 h 10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2" h="1094">
                  <a:moveTo>
                    <a:pt x="0" y="0"/>
                  </a:moveTo>
                  <a:cubicBezTo>
                    <a:pt x="38" y="69"/>
                    <a:pt x="76" y="138"/>
                    <a:pt x="81" y="200"/>
                  </a:cubicBezTo>
                  <a:cubicBezTo>
                    <a:pt x="86" y="262"/>
                    <a:pt x="33" y="316"/>
                    <a:pt x="31" y="375"/>
                  </a:cubicBezTo>
                  <a:cubicBezTo>
                    <a:pt x="29" y="434"/>
                    <a:pt x="70" y="496"/>
                    <a:pt x="69" y="556"/>
                  </a:cubicBezTo>
                  <a:cubicBezTo>
                    <a:pt x="68" y="616"/>
                    <a:pt x="20" y="683"/>
                    <a:pt x="25" y="737"/>
                  </a:cubicBezTo>
                  <a:cubicBezTo>
                    <a:pt x="30" y="791"/>
                    <a:pt x="98" y="822"/>
                    <a:pt x="100" y="881"/>
                  </a:cubicBezTo>
                  <a:cubicBezTo>
                    <a:pt x="102" y="940"/>
                    <a:pt x="46" y="1060"/>
                    <a:pt x="37" y="1094"/>
                  </a:cubicBezTo>
                </a:path>
              </a:pathLst>
            </a:custGeom>
            <a:noFill/>
            <a:ln w="9525">
              <a:solidFill>
                <a:schemeClr val="tx1"/>
              </a:solidFill>
              <a:round/>
              <a:headEnd/>
              <a:tailEnd/>
            </a:ln>
          </p:spPr>
          <p:txBody>
            <a:bodyPr wrap="none" anchor="ctr"/>
            <a:lstStyle/>
            <a:p>
              <a:endParaRPr lang="en-GB"/>
            </a:p>
          </p:txBody>
        </p:sp>
        <p:sp>
          <p:nvSpPr>
            <p:cNvPr id="3127" name="Freeform 102"/>
            <p:cNvSpPr>
              <a:spLocks/>
            </p:cNvSpPr>
            <p:nvPr/>
          </p:nvSpPr>
          <p:spPr bwMode="auto">
            <a:xfrm flipH="1">
              <a:off x="3031" y="1481"/>
              <a:ext cx="102" cy="1094"/>
            </a:xfrm>
            <a:custGeom>
              <a:avLst/>
              <a:gdLst>
                <a:gd name="T0" fmla="*/ 0 w 102"/>
                <a:gd name="T1" fmla="*/ 0 h 1094"/>
                <a:gd name="T2" fmla="*/ 81 w 102"/>
                <a:gd name="T3" fmla="*/ 200 h 1094"/>
                <a:gd name="T4" fmla="*/ 31 w 102"/>
                <a:gd name="T5" fmla="*/ 375 h 1094"/>
                <a:gd name="T6" fmla="*/ 69 w 102"/>
                <a:gd name="T7" fmla="*/ 556 h 1094"/>
                <a:gd name="T8" fmla="*/ 25 w 102"/>
                <a:gd name="T9" fmla="*/ 737 h 1094"/>
                <a:gd name="T10" fmla="*/ 100 w 102"/>
                <a:gd name="T11" fmla="*/ 881 h 1094"/>
                <a:gd name="T12" fmla="*/ 37 w 102"/>
                <a:gd name="T13" fmla="*/ 1094 h 1094"/>
                <a:gd name="T14" fmla="*/ 0 60000 65536"/>
                <a:gd name="T15" fmla="*/ 0 60000 65536"/>
                <a:gd name="T16" fmla="*/ 0 60000 65536"/>
                <a:gd name="T17" fmla="*/ 0 60000 65536"/>
                <a:gd name="T18" fmla="*/ 0 60000 65536"/>
                <a:gd name="T19" fmla="*/ 0 60000 65536"/>
                <a:gd name="T20" fmla="*/ 0 60000 65536"/>
                <a:gd name="T21" fmla="*/ 0 w 102"/>
                <a:gd name="T22" fmla="*/ 0 h 1094"/>
                <a:gd name="T23" fmla="*/ 102 w 102"/>
                <a:gd name="T24" fmla="*/ 1094 h 10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2" h="1094">
                  <a:moveTo>
                    <a:pt x="0" y="0"/>
                  </a:moveTo>
                  <a:cubicBezTo>
                    <a:pt x="38" y="69"/>
                    <a:pt x="76" y="138"/>
                    <a:pt x="81" y="200"/>
                  </a:cubicBezTo>
                  <a:cubicBezTo>
                    <a:pt x="86" y="262"/>
                    <a:pt x="33" y="316"/>
                    <a:pt x="31" y="375"/>
                  </a:cubicBezTo>
                  <a:cubicBezTo>
                    <a:pt x="29" y="434"/>
                    <a:pt x="70" y="496"/>
                    <a:pt x="69" y="556"/>
                  </a:cubicBezTo>
                  <a:cubicBezTo>
                    <a:pt x="68" y="616"/>
                    <a:pt x="20" y="683"/>
                    <a:pt x="25" y="737"/>
                  </a:cubicBezTo>
                  <a:cubicBezTo>
                    <a:pt x="30" y="791"/>
                    <a:pt x="98" y="822"/>
                    <a:pt x="100" y="881"/>
                  </a:cubicBezTo>
                  <a:cubicBezTo>
                    <a:pt x="102" y="940"/>
                    <a:pt x="46" y="1060"/>
                    <a:pt x="37" y="1094"/>
                  </a:cubicBezTo>
                </a:path>
              </a:pathLst>
            </a:custGeom>
            <a:noFill/>
            <a:ln w="9525">
              <a:solidFill>
                <a:schemeClr val="tx1"/>
              </a:solidFill>
              <a:round/>
              <a:headEnd/>
              <a:tailEnd/>
            </a:ln>
          </p:spPr>
          <p:txBody>
            <a:bodyPr wrap="none" anchor="ctr"/>
            <a:lstStyle/>
            <a:p>
              <a:endParaRPr lang="en-GB"/>
            </a:p>
          </p:txBody>
        </p:sp>
      </p:grpSp>
      <p:grpSp>
        <p:nvGrpSpPr>
          <p:cNvPr id="3192" name="Group 103"/>
          <p:cNvGrpSpPr>
            <a:grpSpLocks/>
          </p:cNvGrpSpPr>
          <p:nvPr/>
        </p:nvGrpSpPr>
        <p:grpSpPr bwMode="auto">
          <a:xfrm flipV="1">
            <a:off x="4903788" y="3057525"/>
            <a:ext cx="74612" cy="2273300"/>
            <a:chOff x="3025" y="1469"/>
            <a:chExt cx="108" cy="1106"/>
          </a:xfrm>
        </p:grpSpPr>
        <p:sp>
          <p:nvSpPr>
            <p:cNvPr id="3124" name="Freeform 104"/>
            <p:cNvSpPr>
              <a:spLocks/>
            </p:cNvSpPr>
            <p:nvPr/>
          </p:nvSpPr>
          <p:spPr bwMode="auto">
            <a:xfrm>
              <a:off x="3025" y="1469"/>
              <a:ext cx="102" cy="1094"/>
            </a:xfrm>
            <a:custGeom>
              <a:avLst/>
              <a:gdLst>
                <a:gd name="T0" fmla="*/ 0 w 102"/>
                <a:gd name="T1" fmla="*/ 0 h 1094"/>
                <a:gd name="T2" fmla="*/ 81 w 102"/>
                <a:gd name="T3" fmla="*/ 200 h 1094"/>
                <a:gd name="T4" fmla="*/ 31 w 102"/>
                <a:gd name="T5" fmla="*/ 375 h 1094"/>
                <a:gd name="T6" fmla="*/ 69 w 102"/>
                <a:gd name="T7" fmla="*/ 556 h 1094"/>
                <a:gd name="T8" fmla="*/ 25 w 102"/>
                <a:gd name="T9" fmla="*/ 737 h 1094"/>
                <a:gd name="T10" fmla="*/ 100 w 102"/>
                <a:gd name="T11" fmla="*/ 881 h 1094"/>
                <a:gd name="T12" fmla="*/ 37 w 102"/>
                <a:gd name="T13" fmla="*/ 1094 h 1094"/>
                <a:gd name="T14" fmla="*/ 0 60000 65536"/>
                <a:gd name="T15" fmla="*/ 0 60000 65536"/>
                <a:gd name="T16" fmla="*/ 0 60000 65536"/>
                <a:gd name="T17" fmla="*/ 0 60000 65536"/>
                <a:gd name="T18" fmla="*/ 0 60000 65536"/>
                <a:gd name="T19" fmla="*/ 0 60000 65536"/>
                <a:gd name="T20" fmla="*/ 0 60000 65536"/>
                <a:gd name="T21" fmla="*/ 0 w 102"/>
                <a:gd name="T22" fmla="*/ 0 h 1094"/>
                <a:gd name="T23" fmla="*/ 102 w 102"/>
                <a:gd name="T24" fmla="*/ 1094 h 10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2" h="1094">
                  <a:moveTo>
                    <a:pt x="0" y="0"/>
                  </a:moveTo>
                  <a:cubicBezTo>
                    <a:pt x="38" y="69"/>
                    <a:pt x="76" y="138"/>
                    <a:pt x="81" y="200"/>
                  </a:cubicBezTo>
                  <a:cubicBezTo>
                    <a:pt x="86" y="262"/>
                    <a:pt x="33" y="316"/>
                    <a:pt x="31" y="375"/>
                  </a:cubicBezTo>
                  <a:cubicBezTo>
                    <a:pt x="29" y="434"/>
                    <a:pt x="70" y="496"/>
                    <a:pt x="69" y="556"/>
                  </a:cubicBezTo>
                  <a:cubicBezTo>
                    <a:pt x="68" y="616"/>
                    <a:pt x="20" y="683"/>
                    <a:pt x="25" y="737"/>
                  </a:cubicBezTo>
                  <a:cubicBezTo>
                    <a:pt x="30" y="791"/>
                    <a:pt x="98" y="822"/>
                    <a:pt x="100" y="881"/>
                  </a:cubicBezTo>
                  <a:cubicBezTo>
                    <a:pt x="102" y="940"/>
                    <a:pt x="46" y="1060"/>
                    <a:pt x="37" y="1094"/>
                  </a:cubicBezTo>
                </a:path>
              </a:pathLst>
            </a:custGeom>
            <a:noFill/>
            <a:ln w="9525">
              <a:solidFill>
                <a:schemeClr val="tx1"/>
              </a:solidFill>
              <a:round/>
              <a:headEnd/>
              <a:tailEnd/>
            </a:ln>
          </p:spPr>
          <p:txBody>
            <a:bodyPr wrap="none" anchor="ctr"/>
            <a:lstStyle/>
            <a:p>
              <a:endParaRPr lang="en-GB"/>
            </a:p>
          </p:txBody>
        </p:sp>
        <p:sp>
          <p:nvSpPr>
            <p:cNvPr id="3125" name="Freeform 105"/>
            <p:cNvSpPr>
              <a:spLocks/>
            </p:cNvSpPr>
            <p:nvPr/>
          </p:nvSpPr>
          <p:spPr bwMode="auto">
            <a:xfrm flipH="1">
              <a:off x="3031" y="1481"/>
              <a:ext cx="102" cy="1094"/>
            </a:xfrm>
            <a:custGeom>
              <a:avLst/>
              <a:gdLst>
                <a:gd name="T0" fmla="*/ 0 w 102"/>
                <a:gd name="T1" fmla="*/ 0 h 1094"/>
                <a:gd name="T2" fmla="*/ 81 w 102"/>
                <a:gd name="T3" fmla="*/ 200 h 1094"/>
                <a:gd name="T4" fmla="*/ 31 w 102"/>
                <a:gd name="T5" fmla="*/ 375 h 1094"/>
                <a:gd name="T6" fmla="*/ 69 w 102"/>
                <a:gd name="T7" fmla="*/ 556 h 1094"/>
                <a:gd name="T8" fmla="*/ 25 w 102"/>
                <a:gd name="T9" fmla="*/ 737 h 1094"/>
                <a:gd name="T10" fmla="*/ 100 w 102"/>
                <a:gd name="T11" fmla="*/ 881 h 1094"/>
                <a:gd name="T12" fmla="*/ 37 w 102"/>
                <a:gd name="T13" fmla="*/ 1094 h 1094"/>
                <a:gd name="T14" fmla="*/ 0 60000 65536"/>
                <a:gd name="T15" fmla="*/ 0 60000 65536"/>
                <a:gd name="T16" fmla="*/ 0 60000 65536"/>
                <a:gd name="T17" fmla="*/ 0 60000 65536"/>
                <a:gd name="T18" fmla="*/ 0 60000 65536"/>
                <a:gd name="T19" fmla="*/ 0 60000 65536"/>
                <a:gd name="T20" fmla="*/ 0 60000 65536"/>
                <a:gd name="T21" fmla="*/ 0 w 102"/>
                <a:gd name="T22" fmla="*/ 0 h 1094"/>
                <a:gd name="T23" fmla="*/ 102 w 102"/>
                <a:gd name="T24" fmla="*/ 1094 h 10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2" h="1094">
                  <a:moveTo>
                    <a:pt x="0" y="0"/>
                  </a:moveTo>
                  <a:cubicBezTo>
                    <a:pt x="38" y="69"/>
                    <a:pt x="76" y="138"/>
                    <a:pt x="81" y="200"/>
                  </a:cubicBezTo>
                  <a:cubicBezTo>
                    <a:pt x="86" y="262"/>
                    <a:pt x="33" y="316"/>
                    <a:pt x="31" y="375"/>
                  </a:cubicBezTo>
                  <a:cubicBezTo>
                    <a:pt x="29" y="434"/>
                    <a:pt x="70" y="496"/>
                    <a:pt x="69" y="556"/>
                  </a:cubicBezTo>
                  <a:cubicBezTo>
                    <a:pt x="68" y="616"/>
                    <a:pt x="20" y="683"/>
                    <a:pt x="25" y="737"/>
                  </a:cubicBezTo>
                  <a:cubicBezTo>
                    <a:pt x="30" y="791"/>
                    <a:pt x="98" y="822"/>
                    <a:pt x="100" y="881"/>
                  </a:cubicBezTo>
                  <a:cubicBezTo>
                    <a:pt x="102" y="940"/>
                    <a:pt x="46" y="1060"/>
                    <a:pt x="37" y="1094"/>
                  </a:cubicBezTo>
                </a:path>
              </a:pathLst>
            </a:custGeom>
            <a:noFill/>
            <a:ln w="9525">
              <a:solidFill>
                <a:schemeClr val="tx1"/>
              </a:solidFill>
              <a:round/>
              <a:headEnd/>
              <a:tailEnd/>
            </a:ln>
          </p:spPr>
          <p:txBody>
            <a:bodyPr wrap="none" anchor="ctr"/>
            <a:lstStyle/>
            <a:p>
              <a:endParaRPr lang="en-GB"/>
            </a:p>
          </p:txBody>
        </p:sp>
      </p:grpSp>
      <p:sp>
        <p:nvSpPr>
          <p:cNvPr id="3112" name="Line 106"/>
          <p:cNvSpPr>
            <a:spLocks noChangeShapeType="1"/>
          </p:cNvSpPr>
          <p:nvPr/>
        </p:nvSpPr>
        <p:spPr bwMode="auto">
          <a:xfrm flipV="1">
            <a:off x="3667125" y="5334000"/>
            <a:ext cx="542925" cy="390525"/>
          </a:xfrm>
          <a:prstGeom prst="line">
            <a:avLst/>
          </a:prstGeom>
          <a:noFill/>
          <a:ln w="9525">
            <a:solidFill>
              <a:schemeClr val="tx1"/>
            </a:solidFill>
            <a:prstDash val="dash"/>
            <a:round/>
            <a:headEnd/>
            <a:tailEnd/>
          </a:ln>
        </p:spPr>
        <p:txBody>
          <a:bodyPr wrap="none" anchor="ctr"/>
          <a:lstStyle/>
          <a:p>
            <a:endParaRPr lang="en-GB"/>
          </a:p>
        </p:txBody>
      </p:sp>
      <p:sp>
        <p:nvSpPr>
          <p:cNvPr id="3113" name="Line 107"/>
          <p:cNvSpPr>
            <a:spLocks noChangeShapeType="1"/>
          </p:cNvSpPr>
          <p:nvPr/>
        </p:nvSpPr>
        <p:spPr bwMode="auto">
          <a:xfrm flipV="1">
            <a:off x="3667125" y="5362575"/>
            <a:ext cx="542925" cy="390525"/>
          </a:xfrm>
          <a:prstGeom prst="line">
            <a:avLst/>
          </a:prstGeom>
          <a:noFill/>
          <a:ln w="9525">
            <a:solidFill>
              <a:schemeClr val="tx1"/>
            </a:solidFill>
            <a:prstDash val="dash"/>
            <a:round/>
            <a:headEnd/>
            <a:tailEnd/>
          </a:ln>
        </p:spPr>
        <p:txBody>
          <a:bodyPr wrap="none" anchor="ctr"/>
          <a:lstStyle/>
          <a:p>
            <a:endParaRPr lang="en-GB"/>
          </a:p>
        </p:txBody>
      </p:sp>
      <p:sp>
        <p:nvSpPr>
          <p:cNvPr id="3114" name="Line 108"/>
          <p:cNvSpPr>
            <a:spLocks noChangeShapeType="1"/>
          </p:cNvSpPr>
          <p:nvPr/>
        </p:nvSpPr>
        <p:spPr bwMode="auto">
          <a:xfrm flipV="1">
            <a:off x="5492750" y="2546350"/>
            <a:ext cx="466725" cy="485775"/>
          </a:xfrm>
          <a:prstGeom prst="line">
            <a:avLst/>
          </a:prstGeom>
          <a:noFill/>
          <a:ln w="9525">
            <a:solidFill>
              <a:schemeClr val="tx1"/>
            </a:solidFill>
            <a:prstDash val="dash"/>
            <a:round/>
            <a:headEnd/>
            <a:tailEnd/>
          </a:ln>
        </p:spPr>
        <p:txBody>
          <a:bodyPr wrap="none" anchor="ctr"/>
          <a:lstStyle/>
          <a:p>
            <a:endParaRPr lang="en-GB"/>
          </a:p>
        </p:txBody>
      </p:sp>
      <p:sp>
        <p:nvSpPr>
          <p:cNvPr id="3115" name="Line 109"/>
          <p:cNvSpPr>
            <a:spLocks noChangeShapeType="1"/>
          </p:cNvSpPr>
          <p:nvPr/>
        </p:nvSpPr>
        <p:spPr bwMode="auto">
          <a:xfrm flipV="1">
            <a:off x="5473700" y="2574925"/>
            <a:ext cx="485775" cy="495300"/>
          </a:xfrm>
          <a:prstGeom prst="line">
            <a:avLst/>
          </a:prstGeom>
          <a:noFill/>
          <a:ln w="9525">
            <a:solidFill>
              <a:schemeClr val="tx1"/>
            </a:solidFill>
            <a:prstDash val="dash"/>
            <a:round/>
            <a:headEnd/>
            <a:tailEnd/>
          </a:ln>
        </p:spPr>
        <p:txBody>
          <a:bodyPr wrap="none" anchor="ctr"/>
          <a:lstStyle/>
          <a:p>
            <a:endParaRPr lang="en-GB"/>
          </a:p>
        </p:txBody>
      </p:sp>
      <p:sp>
        <p:nvSpPr>
          <p:cNvPr id="3116" name="Line 110"/>
          <p:cNvSpPr>
            <a:spLocks noChangeShapeType="1"/>
          </p:cNvSpPr>
          <p:nvPr/>
        </p:nvSpPr>
        <p:spPr bwMode="auto">
          <a:xfrm>
            <a:off x="1971675" y="4200525"/>
            <a:ext cx="428625" cy="9525"/>
          </a:xfrm>
          <a:prstGeom prst="line">
            <a:avLst/>
          </a:prstGeom>
          <a:noFill/>
          <a:ln w="9525">
            <a:solidFill>
              <a:schemeClr val="tx1"/>
            </a:solidFill>
            <a:prstDash val="dash"/>
            <a:round/>
            <a:headEnd/>
            <a:tailEnd/>
          </a:ln>
        </p:spPr>
        <p:txBody>
          <a:bodyPr wrap="none" anchor="ctr"/>
          <a:lstStyle/>
          <a:p>
            <a:endParaRPr lang="en-GB"/>
          </a:p>
        </p:txBody>
      </p:sp>
      <p:sp>
        <p:nvSpPr>
          <p:cNvPr id="3117" name="Line 111"/>
          <p:cNvSpPr>
            <a:spLocks noChangeShapeType="1"/>
          </p:cNvSpPr>
          <p:nvPr/>
        </p:nvSpPr>
        <p:spPr bwMode="auto">
          <a:xfrm>
            <a:off x="1971675" y="4229100"/>
            <a:ext cx="428625" cy="9525"/>
          </a:xfrm>
          <a:prstGeom prst="line">
            <a:avLst/>
          </a:prstGeom>
          <a:noFill/>
          <a:ln w="9525">
            <a:solidFill>
              <a:schemeClr val="tx1"/>
            </a:solidFill>
            <a:prstDash val="dash"/>
            <a:round/>
            <a:headEnd/>
            <a:tailEnd/>
          </a:ln>
        </p:spPr>
        <p:txBody>
          <a:bodyPr wrap="none" anchor="ctr"/>
          <a:lstStyle/>
          <a:p>
            <a:endParaRPr lang="en-GB"/>
          </a:p>
        </p:txBody>
      </p:sp>
      <p:sp>
        <p:nvSpPr>
          <p:cNvPr id="3118" name="Text Box 112"/>
          <p:cNvSpPr txBox="1">
            <a:spLocks noChangeArrowheads="1"/>
          </p:cNvSpPr>
          <p:nvPr/>
        </p:nvSpPr>
        <p:spPr bwMode="auto">
          <a:xfrm>
            <a:off x="1509713" y="4430713"/>
            <a:ext cx="1368425" cy="584200"/>
          </a:xfrm>
          <a:prstGeom prst="rect">
            <a:avLst/>
          </a:prstGeom>
          <a:noFill/>
          <a:ln w="9525">
            <a:noFill/>
            <a:miter lim="800000"/>
            <a:headEnd/>
            <a:tailEnd/>
          </a:ln>
        </p:spPr>
        <p:txBody>
          <a:bodyPr anchor="ctr">
            <a:spAutoFit/>
          </a:bodyPr>
          <a:lstStyle/>
          <a:p>
            <a:pPr algn="ctr"/>
            <a:r>
              <a:rPr lang="en-GB" sz="1600"/>
              <a:t>Local Exchange</a:t>
            </a:r>
          </a:p>
        </p:txBody>
      </p:sp>
      <p:sp>
        <p:nvSpPr>
          <p:cNvPr id="3119" name="Text Box 113"/>
          <p:cNvSpPr txBox="1">
            <a:spLocks noChangeArrowheads="1"/>
          </p:cNvSpPr>
          <p:nvPr/>
        </p:nvSpPr>
        <p:spPr bwMode="auto">
          <a:xfrm>
            <a:off x="3243263" y="4406900"/>
            <a:ext cx="1368425" cy="860425"/>
          </a:xfrm>
          <a:prstGeom prst="rect">
            <a:avLst/>
          </a:prstGeom>
          <a:noFill/>
          <a:ln w="9525">
            <a:noFill/>
            <a:miter lim="800000"/>
            <a:headEnd/>
            <a:tailEnd/>
          </a:ln>
        </p:spPr>
        <p:txBody>
          <a:bodyPr anchor="ctr">
            <a:spAutoFit/>
          </a:bodyPr>
          <a:lstStyle/>
          <a:p>
            <a:pPr algn="ctr"/>
            <a:r>
              <a:rPr lang="en-GB" sz="1600"/>
              <a:t>Trunk / Transit</a:t>
            </a:r>
          </a:p>
          <a:p>
            <a:pPr algn="ctr"/>
            <a:r>
              <a:rPr lang="en-GB" sz="1600"/>
              <a:t>Exchanges</a:t>
            </a:r>
          </a:p>
        </p:txBody>
      </p:sp>
      <p:sp>
        <p:nvSpPr>
          <p:cNvPr id="3120" name="Text Box 114"/>
          <p:cNvSpPr txBox="1">
            <a:spLocks noChangeArrowheads="1"/>
          </p:cNvSpPr>
          <p:nvPr/>
        </p:nvSpPr>
        <p:spPr bwMode="auto">
          <a:xfrm>
            <a:off x="2324100" y="1530804"/>
            <a:ext cx="2727325" cy="338554"/>
          </a:xfrm>
          <a:prstGeom prst="rect">
            <a:avLst/>
          </a:prstGeom>
          <a:noFill/>
          <a:ln w="9525">
            <a:noFill/>
            <a:miter lim="800000"/>
            <a:headEnd/>
            <a:tailEnd/>
          </a:ln>
        </p:spPr>
        <p:txBody>
          <a:bodyPr anchor="ctr">
            <a:spAutoFit/>
          </a:bodyPr>
          <a:lstStyle/>
          <a:p>
            <a:r>
              <a:rPr lang="en-GB" sz="1600" b="1" u="sng" dirty="0"/>
              <a:t>Digital Network</a:t>
            </a:r>
            <a:r>
              <a:rPr lang="en-GB" sz="1600" dirty="0"/>
              <a:t> </a:t>
            </a:r>
          </a:p>
        </p:txBody>
      </p:sp>
      <p:sp>
        <p:nvSpPr>
          <p:cNvPr id="3121" name="Text Box 115"/>
          <p:cNvSpPr txBox="1">
            <a:spLocks noChangeArrowheads="1"/>
          </p:cNvSpPr>
          <p:nvPr/>
        </p:nvSpPr>
        <p:spPr bwMode="auto">
          <a:xfrm>
            <a:off x="395288" y="2835986"/>
            <a:ext cx="2073275" cy="584775"/>
          </a:xfrm>
          <a:prstGeom prst="rect">
            <a:avLst/>
          </a:prstGeom>
          <a:noFill/>
          <a:ln w="9525">
            <a:noFill/>
            <a:miter lim="800000"/>
            <a:headEnd/>
            <a:tailEnd/>
          </a:ln>
        </p:spPr>
        <p:txBody>
          <a:bodyPr anchor="ctr">
            <a:spAutoFit/>
          </a:bodyPr>
          <a:lstStyle/>
          <a:p>
            <a:r>
              <a:rPr lang="en-GB" dirty="0"/>
              <a:t>T</a:t>
            </a:r>
            <a:r>
              <a:rPr lang="en-GB" sz="1600" dirty="0"/>
              <a:t>raditional 4KHz channels</a:t>
            </a:r>
            <a:endParaRPr lang="en-GB" sz="2000" dirty="0"/>
          </a:p>
        </p:txBody>
      </p:sp>
      <p:sp>
        <p:nvSpPr>
          <p:cNvPr id="118" name="Rectangle 117"/>
          <p:cNvSpPr/>
          <p:nvPr/>
        </p:nvSpPr>
        <p:spPr>
          <a:xfrm>
            <a:off x="2276688" y="2823233"/>
            <a:ext cx="2144598" cy="584775"/>
          </a:xfrm>
          <a:prstGeom prst="rect">
            <a:avLst/>
          </a:prstGeom>
        </p:spPr>
        <p:txBody>
          <a:bodyPr wrap="square">
            <a:spAutoFit/>
          </a:bodyPr>
          <a:lstStyle/>
          <a:p>
            <a:r>
              <a:rPr lang="en-GB" dirty="0"/>
              <a:t>...  </a:t>
            </a:r>
            <a:r>
              <a:rPr lang="en-GB"/>
              <a:t>digitized to </a:t>
            </a:r>
            <a:r>
              <a:rPr lang="en-GB" dirty="0"/>
              <a:t>8bit 64kb/s channels</a:t>
            </a:r>
            <a:endParaRPr lang="en-GB" sz="2000" dirty="0"/>
          </a:p>
        </p:txBody>
      </p:sp>
      <p:pic>
        <p:nvPicPr>
          <p:cNvPr id="1028" name="Picture 4" descr="Image result for telephon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5537" y="4410201"/>
            <a:ext cx="1044470" cy="721393"/>
          </a:xfrm>
          <a:prstGeom prst="rect">
            <a:avLst/>
          </a:prstGeom>
          <a:noFill/>
          <a:extLst>
            <a:ext uri="{909E8E84-426E-40DD-AFC4-6F175D3DCCD1}">
              <a14:hiddenFill xmlns:a14="http://schemas.microsoft.com/office/drawing/2010/main">
                <a:solidFill>
                  <a:srgbClr val="FFFFFF"/>
                </a:solidFill>
              </a14:hiddenFill>
            </a:ext>
          </a:extLst>
        </p:spPr>
      </p:pic>
      <p:grpSp>
        <p:nvGrpSpPr>
          <p:cNvPr id="125" name="Group 79"/>
          <p:cNvGrpSpPr>
            <a:grpSpLocks/>
          </p:cNvGrpSpPr>
          <p:nvPr/>
        </p:nvGrpSpPr>
        <p:grpSpPr bwMode="auto">
          <a:xfrm rot="13712768" flipV="1">
            <a:off x="1329778" y="4171811"/>
            <a:ext cx="45719" cy="362464"/>
            <a:chOff x="3025" y="1469"/>
            <a:chExt cx="108" cy="1106"/>
          </a:xfrm>
        </p:grpSpPr>
        <p:sp>
          <p:nvSpPr>
            <p:cNvPr id="126" name="Freeform 80"/>
            <p:cNvSpPr>
              <a:spLocks/>
            </p:cNvSpPr>
            <p:nvPr/>
          </p:nvSpPr>
          <p:spPr bwMode="auto">
            <a:xfrm>
              <a:off x="3025" y="1469"/>
              <a:ext cx="102" cy="1094"/>
            </a:xfrm>
            <a:custGeom>
              <a:avLst/>
              <a:gdLst>
                <a:gd name="T0" fmla="*/ 0 w 102"/>
                <a:gd name="T1" fmla="*/ 0 h 1094"/>
                <a:gd name="T2" fmla="*/ 81 w 102"/>
                <a:gd name="T3" fmla="*/ 200 h 1094"/>
                <a:gd name="T4" fmla="*/ 31 w 102"/>
                <a:gd name="T5" fmla="*/ 375 h 1094"/>
                <a:gd name="T6" fmla="*/ 69 w 102"/>
                <a:gd name="T7" fmla="*/ 556 h 1094"/>
                <a:gd name="T8" fmla="*/ 25 w 102"/>
                <a:gd name="T9" fmla="*/ 737 h 1094"/>
                <a:gd name="T10" fmla="*/ 100 w 102"/>
                <a:gd name="T11" fmla="*/ 881 h 1094"/>
                <a:gd name="T12" fmla="*/ 37 w 102"/>
                <a:gd name="T13" fmla="*/ 1094 h 1094"/>
                <a:gd name="T14" fmla="*/ 0 60000 65536"/>
                <a:gd name="T15" fmla="*/ 0 60000 65536"/>
                <a:gd name="T16" fmla="*/ 0 60000 65536"/>
                <a:gd name="T17" fmla="*/ 0 60000 65536"/>
                <a:gd name="T18" fmla="*/ 0 60000 65536"/>
                <a:gd name="T19" fmla="*/ 0 60000 65536"/>
                <a:gd name="T20" fmla="*/ 0 60000 65536"/>
                <a:gd name="T21" fmla="*/ 0 w 102"/>
                <a:gd name="T22" fmla="*/ 0 h 1094"/>
                <a:gd name="T23" fmla="*/ 102 w 102"/>
                <a:gd name="T24" fmla="*/ 1094 h 10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2" h="1094">
                  <a:moveTo>
                    <a:pt x="0" y="0"/>
                  </a:moveTo>
                  <a:cubicBezTo>
                    <a:pt x="38" y="69"/>
                    <a:pt x="76" y="138"/>
                    <a:pt x="81" y="200"/>
                  </a:cubicBezTo>
                  <a:cubicBezTo>
                    <a:pt x="86" y="262"/>
                    <a:pt x="33" y="316"/>
                    <a:pt x="31" y="375"/>
                  </a:cubicBezTo>
                  <a:cubicBezTo>
                    <a:pt x="29" y="434"/>
                    <a:pt x="70" y="496"/>
                    <a:pt x="69" y="556"/>
                  </a:cubicBezTo>
                  <a:cubicBezTo>
                    <a:pt x="68" y="616"/>
                    <a:pt x="20" y="683"/>
                    <a:pt x="25" y="737"/>
                  </a:cubicBezTo>
                  <a:cubicBezTo>
                    <a:pt x="30" y="791"/>
                    <a:pt x="98" y="822"/>
                    <a:pt x="100" y="881"/>
                  </a:cubicBezTo>
                  <a:cubicBezTo>
                    <a:pt x="102" y="940"/>
                    <a:pt x="46" y="1060"/>
                    <a:pt x="37" y="1094"/>
                  </a:cubicBezTo>
                </a:path>
              </a:pathLst>
            </a:custGeom>
            <a:noFill/>
            <a:ln w="9525">
              <a:solidFill>
                <a:schemeClr val="tx1"/>
              </a:solidFill>
              <a:round/>
              <a:headEnd/>
              <a:tailEnd/>
            </a:ln>
          </p:spPr>
          <p:txBody>
            <a:bodyPr wrap="none" anchor="ctr"/>
            <a:lstStyle/>
            <a:p>
              <a:endParaRPr lang="en-GB"/>
            </a:p>
          </p:txBody>
        </p:sp>
        <p:sp>
          <p:nvSpPr>
            <p:cNvPr id="127" name="Freeform 81"/>
            <p:cNvSpPr>
              <a:spLocks/>
            </p:cNvSpPr>
            <p:nvPr/>
          </p:nvSpPr>
          <p:spPr bwMode="auto">
            <a:xfrm flipH="1">
              <a:off x="3031" y="1481"/>
              <a:ext cx="102" cy="1094"/>
            </a:xfrm>
            <a:custGeom>
              <a:avLst/>
              <a:gdLst>
                <a:gd name="T0" fmla="*/ 0 w 102"/>
                <a:gd name="T1" fmla="*/ 0 h 1094"/>
                <a:gd name="T2" fmla="*/ 81 w 102"/>
                <a:gd name="T3" fmla="*/ 200 h 1094"/>
                <a:gd name="T4" fmla="*/ 31 w 102"/>
                <a:gd name="T5" fmla="*/ 375 h 1094"/>
                <a:gd name="T6" fmla="*/ 69 w 102"/>
                <a:gd name="T7" fmla="*/ 556 h 1094"/>
                <a:gd name="T8" fmla="*/ 25 w 102"/>
                <a:gd name="T9" fmla="*/ 737 h 1094"/>
                <a:gd name="T10" fmla="*/ 100 w 102"/>
                <a:gd name="T11" fmla="*/ 881 h 1094"/>
                <a:gd name="T12" fmla="*/ 37 w 102"/>
                <a:gd name="T13" fmla="*/ 1094 h 1094"/>
                <a:gd name="T14" fmla="*/ 0 60000 65536"/>
                <a:gd name="T15" fmla="*/ 0 60000 65536"/>
                <a:gd name="T16" fmla="*/ 0 60000 65536"/>
                <a:gd name="T17" fmla="*/ 0 60000 65536"/>
                <a:gd name="T18" fmla="*/ 0 60000 65536"/>
                <a:gd name="T19" fmla="*/ 0 60000 65536"/>
                <a:gd name="T20" fmla="*/ 0 60000 65536"/>
                <a:gd name="T21" fmla="*/ 0 w 102"/>
                <a:gd name="T22" fmla="*/ 0 h 1094"/>
                <a:gd name="T23" fmla="*/ 102 w 102"/>
                <a:gd name="T24" fmla="*/ 1094 h 10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2" h="1094">
                  <a:moveTo>
                    <a:pt x="0" y="0"/>
                  </a:moveTo>
                  <a:cubicBezTo>
                    <a:pt x="38" y="69"/>
                    <a:pt x="76" y="138"/>
                    <a:pt x="81" y="200"/>
                  </a:cubicBezTo>
                  <a:cubicBezTo>
                    <a:pt x="86" y="262"/>
                    <a:pt x="33" y="316"/>
                    <a:pt x="31" y="375"/>
                  </a:cubicBezTo>
                  <a:cubicBezTo>
                    <a:pt x="29" y="434"/>
                    <a:pt x="70" y="496"/>
                    <a:pt x="69" y="556"/>
                  </a:cubicBezTo>
                  <a:cubicBezTo>
                    <a:pt x="68" y="616"/>
                    <a:pt x="20" y="683"/>
                    <a:pt x="25" y="737"/>
                  </a:cubicBezTo>
                  <a:cubicBezTo>
                    <a:pt x="30" y="791"/>
                    <a:pt x="98" y="822"/>
                    <a:pt x="100" y="881"/>
                  </a:cubicBezTo>
                  <a:cubicBezTo>
                    <a:pt x="102" y="940"/>
                    <a:pt x="46" y="1060"/>
                    <a:pt x="37" y="1094"/>
                  </a:cubicBezTo>
                </a:path>
              </a:pathLst>
            </a:custGeom>
            <a:noFill/>
            <a:ln w="9525">
              <a:solidFill>
                <a:schemeClr val="tx1"/>
              </a:solidFill>
              <a:round/>
              <a:headEnd/>
              <a:tailEnd/>
            </a:ln>
          </p:spPr>
          <p:txBody>
            <a:bodyPr wrap="none" anchor="ctr"/>
            <a:lstStyle/>
            <a:p>
              <a:endParaRPr lang="en-GB"/>
            </a:p>
          </p:txBody>
        </p:sp>
      </p:grpSp>
      <p:grpSp>
        <p:nvGrpSpPr>
          <p:cNvPr id="128" name="Group 79"/>
          <p:cNvGrpSpPr>
            <a:grpSpLocks/>
          </p:cNvGrpSpPr>
          <p:nvPr/>
        </p:nvGrpSpPr>
        <p:grpSpPr bwMode="auto">
          <a:xfrm rot="13712768" flipH="1" flipV="1">
            <a:off x="6676160" y="2074711"/>
            <a:ext cx="45719" cy="556307"/>
            <a:chOff x="3025" y="1469"/>
            <a:chExt cx="108" cy="1106"/>
          </a:xfrm>
        </p:grpSpPr>
        <p:sp>
          <p:nvSpPr>
            <p:cNvPr id="129" name="Freeform 80"/>
            <p:cNvSpPr>
              <a:spLocks/>
            </p:cNvSpPr>
            <p:nvPr/>
          </p:nvSpPr>
          <p:spPr bwMode="auto">
            <a:xfrm>
              <a:off x="3025" y="1469"/>
              <a:ext cx="102" cy="1094"/>
            </a:xfrm>
            <a:custGeom>
              <a:avLst/>
              <a:gdLst>
                <a:gd name="T0" fmla="*/ 0 w 102"/>
                <a:gd name="T1" fmla="*/ 0 h 1094"/>
                <a:gd name="T2" fmla="*/ 81 w 102"/>
                <a:gd name="T3" fmla="*/ 200 h 1094"/>
                <a:gd name="T4" fmla="*/ 31 w 102"/>
                <a:gd name="T5" fmla="*/ 375 h 1094"/>
                <a:gd name="T6" fmla="*/ 69 w 102"/>
                <a:gd name="T7" fmla="*/ 556 h 1094"/>
                <a:gd name="T8" fmla="*/ 25 w 102"/>
                <a:gd name="T9" fmla="*/ 737 h 1094"/>
                <a:gd name="T10" fmla="*/ 100 w 102"/>
                <a:gd name="T11" fmla="*/ 881 h 1094"/>
                <a:gd name="T12" fmla="*/ 37 w 102"/>
                <a:gd name="T13" fmla="*/ 1094 h 1094"/>
                <a:gd name="T14" fmla="*/ 0 60000 65536"/>
                <a:gd name="T15" fmla="*/ 0 60000 65536"/>
                <a:gd name="T16" fmla="*/ 0 60000 65536"/>
                <a:gd name="T17" fmla="*/ 0 60000 65536"/>
                <a:gd name="T18" fmla="*/ 0 60000 65536"/>
                <a:gd name="T19" fmla="*/ 0 60000 65536"/>
                <a:gd name="T20" fmla="*/ 0 60000 65536"/>
                <a:gd name="T21" fmla="*/ 0 w 102"/>
                <a:gd name="T22" fmla="*/ 0 h 1094"/>
                <a:gd name="T23" fmla="*/ 102 w 102"/>
                <a:gd name="T24" fmla="*/ 1094 h 10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2" h="1094">
                  <a:moveTo>
                    <a:pt x="0" y="0"/>
                  </a:moveTo>
                  <a:cubicBezTo>
                    <a:pt x="38" y="69"/>
                    <a:pt x="76" y="138"/>
                    <a:pt x="81" y="200"/>
                  </a:cubicBezTo>
                  <a:cubicBezTo>
                    <a:pt x="86" y="262"/>
                    <a:pt x="33" y="316"/>
                    <a:pt x="31" y="375"/>
                  </a:cubicBezTo>
                  <a:cubicBezTo>
                    <a:pt x="29" y="434"/>
                    <a:pt x="70" y="496"/>
                    <a:pt x="69" y="556"/>
                  </a:cubicBezTo>
                  <a:cubicBezTo>
                    <a:pt x="68" y="616"/>
                    <a:pt x="20" y="683"/>
                    <a:pt x="25" y="737"/>
                  </a:cubicBezTo>
                  <a:cubicBezTo>
                    <a:pt x="30" y="791"/>
                    <a:pt x="98" y="822"/>
                    <a:pt x="100" y="881"/>
                  </a:cubicBezTo>
                  <a:cubicBezTo>
                    <a:pt x="102" y="940"/>
                    <a:pt x="46" y="1060"/>
                    <a:pt x="37" y="1094"/>
                  </a:cubicBezTo>
                </a:path>
              </a:pathLst>
            </a:custGeom>
            <a:noFill/>
            <a:ln w="9525">
              <a:solidFill>
                <a:schemeClr val="tx1"/>
              </a:solidFill>
              <a:round/>
              <a:headEnd/>
              <a:tailEnd/>
            </a:ln>
          </p:spPr>
          <p:txBody>
            <a:bodyPr wrap="none" anchor="ctr"/>
            <a:lstStyle/>
            <a:p>
              <a:endParaRPr lang="en-GB"/>
            </a:p>
          </p:txBody>
        </p:sp>
        <p:sp>
          <p:nvSpPr>
            <p:cNvPr id="130" name="Freeform 81"/>
            <p:cNvSpPr>
              <a:spLocks/>
            </p:cNvSpPr>
            <p:nvPr/>
          </p:nvSpPr>
          <p:spPr bwMode="auto">
            <a:xfrm flipH="1">
              <a:off x="3031" y="1481"/>
              <a:ext cx="102" cy="1094"/>
            </a:xfrm>
            <a:custGeom>
              <a:avLst/>
              <a:gdLst>
                <a:gd name="T0" fmla="*/ 0 w 102"/>
                <a:gd name="T1" fmla="*/ 0 h 1094"/>
                <a:gd name="T2" fmla="*/ 81 w 102"/>
                <a:gd name="T3" fmla="*/ 200 h 1094"/>
                <a:gd name="T4" fmla="*/ 31 w 102"/>
                <a:gd name="T5" fmla="*/ 375 h 1094"/>
                <a:gd name="T6" fmla="*/ 69 w 102"/>
                <a:gd name="T7" fmla="*/ 556 h 1094"/>
                <a:gd name="T8" fmla="*/ 25 w 102"/>
                <a:gd name="T9" fmla="*/ 737 h 1094"/>
                <a:gd name="T10" fmla="*/ 100 w 102"/>
                <a:gd name="T11" fmla="*/ 881 h 1094"/>
                <a:gd name="T12" fmla="*/ 37 w 102"/>
                <a:gd name="T13" fmla="*/ 1094 h 1094"/>
                <a:gd name="T14" fmla="*/ 0 60000 65536"/>
                <a:gd name="T15" fmla="*/ 0 60000 65536"/>
                <a:gd name="T16" fmla="*/ 0 60000 65536"/>
                <a:gd name="T17" fmla="*/ 0 60000 65536"/>
                <a:gd name="T18" fmla="*/ 0 60000 65536"/>
                <a:gd name="T19" fmla="*/ 0 60000 65536"/>
                <a:gd name="T20" fmla="*/ 0 60000 65536"/>
                <a:gd name="T21" fmla="*/ 0 w 102"/>
                <a:gd name="T22" fmla="*/ 0 h 1094"/>
                <a:gd name="T23" fmla="*/ 102 w 102"/>
                <a:gd name="T24" fmla="*/ 1094 h 10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2" h="1094">
                  <a:moveTo>
                    <a:pt x="0" y="0"/>
                  </a:moveTo>
                  <a:cubicBezTo>
                    <a:pt x="38" y="69"/>
                    <a:pt x="76" y="138"/>
                    <a:pt x="81" y="200"/>
                  </a:cubicBezTo>
                  <a:cubicBezTo>
                    <a:pt x="86" y="262"/>
                    <a:pt x="33" y="316"/>
                    <a:pt x="31" y="375"/>
                  </a:cubicBezTo>
                  <a:cubicBezTo>
                    <a:pt x="29" y="434"/>
                    <a:pt x="70" y="496"/>
                    <a:pt x="69" y="556"/>
                  </a:cubicBezTo>
                  <a:cubicBezTo>
                    <a:pt x="68" y="616"/>
                    <a:pt x="20" y="683"/>
                    <a:pt x="25" y="737"/>
                  </a:cubicBezTo>
                  <a:cubicBezTo>
                    <a:pt x="30" y="791"/>
                    <a:pt x="98" y="822"/>
                    <a:pt x="100" y="881"/>
                  </a:cubicBezTo>
                  <a:cubicBezTo>
                    <a:pt x="102" y="940"/>
                    <a:pt x="46" y="1060"/>
                    <a:pt x="37" y="1094"/>
                  </a:cubicBezTo>
                </a:path>
              </a:pathLst>
            </a:custGeom>
            <a:noFill/>
            <a:ln w="9525">
              <a:solidFill>
                <a:schemeClr val="tx1"/>
              </a:solidFill>
              <a:round/>
              <a:headEnd/>
              <a:tailEnd/>
            </a:ln>
          </p:spPr>
          <p:txBody>
            <a:bodyPr wrap="none" anchor="ctr"/>
            <a:lstStyle/>
            <a:p>
              <a:endParaRPr lang="en-GB"/>
            </a:p>
          </p:txBody>
        </p:sp>
      </p:grpSp>
      <p:pic>
        <p:nvPicPr>
          <p:cNvPr id="131" name="Picture 4" descr="Image result for telephon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58768" y="1490633"/>
            <a:ext cx="1044470" cy="721393"/>
          </a:xfrm>
          <a:prstGeom prst="rect">
            <a:avLst/>
          </a:prstGeom>
          <a:noFill/>
          <a:extLst>
            <a:ext uri="{909E8E84-426E-40DD-AFC4-6F175D3DCCD1}">
              <a14:hiddenFill xmlns:a14="http://schemas.microsoft.com/office/drawing/2010/main">
                <a:solidFill>
                  <a:srgbClr val="FFFFFF"/>
                </a:solidFill>
              </a14:hiddenFill>
            </a:ext>
          </a:extLst>
        </p:spPr>
      </p:pic>
      <p:sp>
        <p:nvSpPr>
          <p:cNvPr id="33" name="Rectangle 32"/>
          <p:cNvSpPr/>
          <p:nvPr/>
        </p:nvSpPr>
        <p:spPr>
          <a:xfrm>
            <a:off x="2899873" y="4035979"/>
            <a:ext cx="1095172" cy="307777"/>
          </a:xfrm>
          <a:prstGeom prst="rect">
            <a:avLst/>
          </a:prstGeom>
        </p:spPr>
        <p:txBody>
          <a:bodyPr wrap="none">
            <a:spAutoFit/>
          </a:bodyPr>
          <a:lstStyle/>
          <a:p>
            <a:r>
              <a:rPr lang="en-GB" sz="1400" b="1" dirty="0">
                <a:solidFill>
                  <a:srgbClr val="FF3300"/>
                </a:solidFill>
              </a:rPr>
              <a:t>10110011</a:t>
            </a:r>
            <a:endParaRPr lang="en-US" sz="1400" b="1" dirty="0">
              <a:solidFill>
                <a:srgbClr val="FF3300"/>
              </a:solidFill>
            </a:endParaRPr>
          </a:p>
        </p:txBody>
      </p:sp>
      <p:sp>
        <p:nvSpPr>
          <p:cNvPr id="136" name="Rectangle 135"/>
          <p:cNvSpPr/>
          <p:nvPr/>
        </p:nvSpPr>
        <p:spPr>
          <a:xfrm>
            <a:off x="4939021" y="3240075"/>
            <a:ext cx="902811" cy="261610"/>
          </a:xfrm>
          <a:prstGeom prst="rect">
            <a:avLst/>
          </a:prstGeom>
        </p:spPr>
        <p:txBody>
          <a:bodyPr wrap="none">
            <a:spAutoFit/>
          </a:bodyPr>
          <a:lstStyle/>
          <a:p>
            <a:r>
              <a:rPr lang="en-GB" sz="1100" b="1" dirty="0">
                <a:solidFill>
                  <a:srgbClr val="FF3300"/>
                </a:solidFill>
              </a:rPr>
              <a:t>10110011</a:t>
            </a:r>
            <a:endParaRPr lang="en-US" sz="1100" b="1" dirty="0">
              <a:solidFill>
                <a:srgbClr val="FF3300"/>
              </a:solidFill>
            </a:endParaRPr>
          </a:p>
        </p:txBody>
      </p:sp>
      <p:pic>
        <p:nvPicPr>
          <p:cNvPr id="35" name="Picture 3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62013" y="3971668"/>
            <a:ext cx="512762" cy="352940"/>
          </a:xfrm>
          <a:prstGeom prst="rect">
            <a:avLst/>
          </a:prstGeom>
        </p:spPr>
      </p:pic>
      <p:pic>
        <p:nvPicPr>
          <p:cNvPr id="139" name="Picture 13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911064" y="2185163"/>
            <a:ext cx="512762" cy="352940"/>
          </a:xfrm>
          <a:prstGeom prst="rect">
            <a:avLst/>
          </a:prstGeom>
        </p:spPr>
      </p:pic>
    </p:spTree>
    <p:extLst>
      <p:ext uri="{BB962C8B-B14F-4D97-AF65-F5344CB8AC3E}">
        <p14:creationId xmlns:p14="http://schemas.microsoft.com/office/powerpoint/2010/main" val="21092519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781300" y="4709347"/>
            <a:ext cx="2851305" cy="1415484"/>
          </a:xfrm>
          <a:prstGeom prst="rect">
            <a:avLst/>
          </a:prstGeom>
        </p:spPr>
      </p:pic>
      <p:sp>
        <p:nvSpPr>
          <p:cNvPr id="14" name="Text Box 17"/>
          <p:cNvSpPr txBox="1">
            <a:spLocks noChangeArrowheads="1"/>
          </p:cNvSpPr>
          <p:nvPr/>
        </p:nvSpPr>
        <p:spPr bwMode="auto">
          <a:xfrm>
            <a:off x="381000" y="381000"/>
            <a:ext cx="3714750" cy="461963"/>
          </a:xfrm>
          <a:prstGeom prst="rect">
            <a:avLst/>
          </a:prstGeom>
          <a:noFill/>
          <a:ln w="9525">
            <a:noFill/>
            <a:miter lim="800000"/>
            <a:headEnd/>
            <a:tailEnd/>
          </a:ln>
        </p:spPr>
        <p:txBody>
          <a:bodyPr wrap="none">
            <a:spAutoFit/>
          </a:bodyPr>
          <a:lstStyle/>
          <a:p>
            <a:r>
              <a:rPr lang="en-GB" sz="2400" b="1"/>
              <a:t>Time Division Multiplex</a:t>
            </a:r>
            <a:endParaRPr lang="en-US" sz="2400" b="1"/>
          </a:p>
        </p:txBody>
      </p:sp>
      <p:sp>
        <p:nvSpPr>
          <p:cNvPr id="15" name="Text Box 18"/>
          <p:cNvSpPr txBox="1">
            <a:spLocks noChangeArrowheads="1"/>
          </p:cNvSpPr>
          <p:nvPr/>
        </p:nvSpPr>
        <p:spPr bwMode="auto">
          <a:xfrm>
            <a:off x="400756" y="2814488"/>
            <a:ext cx="2115003" cy="830997"/>
          </a:xfrm>
          <a:prstGeom prst="rect">
            <a:avLst/>
          </a:prstGeom>
          <a:noFill/>
          <a:ln w="9525">
            <a:noFill/>
            <a:miter lim="800000"/>
            <a:headEnd/>
            <a:tailEnd/>
          </a:ln>
        </p:spPr>
        <p:txBody>
          <a:bodyPr wrap="none">
            <a:spAutoFit/>
          </a:bodyPr>
          <a:lstStyle/>
          <a:p>
            <a:pPr marL="179388" indent="-179388">
              <a:buFont typeface="Arial" panose="020B0604020202020204" pitchFamily="34" charset="0"/>
              <a:buChar char="•"/>
            </a:pPr>
            <a:r>
              <a:rPr lang="en-GB" dirty="0"/>
              <a:t>4kHz </a:t>
            </a:r>
            <a:r>
              <a:rPr lang="en-GB"/>
              <a:t>voice </a:t>
            </a:r>
          </a:p>
          <a:p>
            <a:pPr marL="179388" indent="-179388">
              <a:buFont typeface="Arial" panose="020B0604020202020204" pitchFamily="34" charset="0"/>
              <a:buChar char="•"/>
            </a:pPr>
            <a:r>
              <a:rPr lang="en-GB"/>
              <a:t>sampled </a:t>
            </a:r>
            <a:r>
              <a:rPr lang="en-GB" dirty="0"/>
              <a:t>at </a:t>
            </a:r>
            <a:r>
              <a:rPr lang="en-GB"/>
              <a:t>8kHz </a:t>
            </a:r>
          </a:p>
          <a:p>
            <a:pPr marL="179388" indent="-179388">
              <a:buFont typeface="Arial" panose="020B0604020202020204" pitchFamily="34" charset="0"/>
              <a:buChar char="•"/>
            </a:pPr>
            <a:r>
              <a:rPr lang="en-GB"/>
              <a:t>into </a:t>
            </a:r>
            <a:r>
              <a:rPr lang="en-GB" dirty="0"/>
              <a:t>8 bits binary</a:t>
            </a:r>
            <a:endParaRPr lang="en-US" dirty="0"/>
          </a:p>
        </p:txBody>
      </p:sp>
      <p:pic>
        <p:nvPicPr>
          <p:cNvPr id="21" name="Picture 30"/>
          <p:cNvPicPr>
            <a:picLocks noChangeAspect="1" noChangeArrowheads="1"/>
          </p:cNvPicPr>
          <p:nvPr/>
        </p:nvPicPr>
        <p:blipFill>
          <a:blip r:embed="rId3" cstate="print"/>
          <a:srcRect/>
          <a:stretch>
            <a:fillRect/>
          </a:stretch>
        </p:blipFill>
        <p:spPr bwMode="auto">
          <a:xfrm>
            <a:off x="381000" y="1773238"/>
            <a:ext cx="8763000" cy="1009650"/>
          </a:xfrm>
          <a:prstGeom prst="rect">
            <a:avLst/>
          </a:prstGeom>
          <a:noFill/>
          <a:ln w="9525">
            <a:noFill/>
            <a:miter lim="800000"/>
            <a:headEnd/>
            <a:tailEnd/>
          </a:ln>
        </p:spPr>
      </p:pic>
      <p:sp>
        <p:nvSpPr>
          <p:cNvPr id="22" name="Line 31"/>
          <p:cNvSpPr>
            <a:spLocks noChangeShapeType="1"/>
          </p:cNvSpPr>
          <p:nvPr/>
        </p:nvSpPr>
        <p:spPr bwMode="auto">
          <a:xfrm flipH="1">
            <a:off x="3786908" y="2741779"/>
            <a:ext cx="608969" cy="2550658"/>
          </a:xfrm>
          <a:prstGeom prst="line">
            <a:avLst/>
          </a:prstGeom>
          <a:noFill/>
          <a:ln w="38100">
            <a:solidFill>
              <a:srgbClr val="FF3300"/>
            </a:solidFill>
            <a:round/>
            <a:headEnd/>
            <a:tailEnd type="triangle" w="med" len="med"/>
          </a:ln>
        </p:spPr>
        <p:txBody>
          <a:bodyPr/>
          <a:lstStyle/>
          <a:p>
            <a:endParaRPr lang="en-GB"/>
          </a:p>
        </p:txBody>
      </p:sp>
      <p:sp>
        <p:nvSpPr>
          <p:cNvPr id="23" name="Line 32"/>
          <p:cNvSpPr>
            <a:spLocks noChangeShapeType="1"/>
          </p:cNvSpPr>
          <p:nvPr/>
        </p:nvSpPr>
        <p:spPr bwMode="auto">
          <a:xfrm flipH="1">
            <a:off x="4095750" y="2782887"/>
            <a:ext cx="348658" cy="2694277"/>
          </a:xfrm>
          <a:prstGeom prst="line">
            <a:avLst/>
          </a:prstGeom>
          <a:noFill/>
          <a:ln w="38100">
            <a:solidFill>
              <a:srgbClr val="FF3300"/>
            </a:solidFill>
            <a:round/>
            <a:headEnd/>
            <a:tailEnd type="triangle" w="med" len="med"/>
          </a:ln>
        </p:spPr>
        <p:txBody>
          <a:bodyPr/>
          <a:lstStyle/>
          <a:p>
            <a:endParaRPr lang="en-GB"/>
          </a:p>
        </p:txBody>
      </p:sp>
      <p:sp>
        <p:nvSpPr>
          <p:cNvPr id="24" name="Line 33"/>
          <p:cNvSpPr>
            <a:spLocks noChangeShapeType="1"/>
          </p:cNvSpPr>
          <p:nvPr/>
        </p:nvSpPr>
        <p:spPr bwMode="auto">
          <a:xfrm flipH="1">
            <a:off x="4444408" y="2782886"/>
            <a:ext cx="64608" cy="2629623"/>
          </a:xfrm>
          <a:prstGeom prst="line">
            <a:avLst/>
          </a:prstGeom>
          <a:noFill/>
          <a:ln w="38100">
            <a:solidFill>
              <a:srgbClr val="FF3300"/>
            </a:solidFill>
            <a:round/>
            <a:headEnd/>
            <a:tailEnd type="triangle" w="med" len="med"/>
          </a:ln>
        </p:spPr>
        <p:txBody>
          <a:bodyPr/>
          <a:lstStyle/>
          <a:p>
            <a:endParaRPr lang="en-GB"/>
          </a:p>
        </p:txBody>
      </p:sp>
      <p:sp>
        <p:nvSpPr>
          <p:cNvPr id="29" name="Line 41"/>
          <p:cNvSpPr>
            <a:spLocks noChangeShapeType="1"/>
          </p:cNvSpPr>
          <p:nvPr/>
        </p:nvSpPr>
        <p:spPr bwMode="auto">
          <a:xfrm>
            <a:off x="4859338" y="1268413"/>
            <a:ext cx="144462" cy="647700"/>
          </a:xfrm>
          <a:prstGeom prst="line">
            <a:avLst/>
          </a:prstGeom>
          <a:noFill/>
          <a:ln w="9525">
            <a:solidFill>
              <a:srgbClr val="FF3300"/>
            </a:solidFill>
            <a:round/>
            <a:headEnd/>
            <a:tailEnd type="triangle" w="med" len="med"/>
          </a:ln>
        </p:spPr>
        <p:txBody>
          <a:bodyPr>
            <a:spAutoFit/>
          </a:bodyPr>
          <a:lstStyle/>
          <a:p>
            <a:endParaRPr lang="en-GB"/>
          </a:p>
        </p:txBody>
      </p:sp>
      <p:cxnSp>
        <p:nvCxnSpPr>
          <p:cNvPr id="40" name="Straight Arrow Connector 39"/>
          <p:cNvCxnSpPr/>
          <p:nvPr/>
        </p:nvCxnSpPr>
        <p:spPr bwMode="auto">
          <a:xfrm>
            <a:off x="4395878" y="1916113"/>
            <a:ext cx="1" cy="784557"/>
          </a:xfrm>
          <a:prstGeom prst="straightConnector1">
            <a:avLst/>
          </a:prstGeom>
          <a:solidFill>
            <a:schemeClr val="accent1"/>
          </a:solidFill>
          <a:ln w="28575" cap="flat" cmpd="sng" algn="ctr">
            <a:solidFill>
              <a:srgbClr val="FF0000"/>
            </a:solidFill>
            <a:prstDash val="solid"/>
            <a:round/>
            <a:headEnd type="none" w="med" len="med"/>
            <a:tailEnd type="triangle"/>
          </a:ln>
          <a:effectLst/>
        </p:spPr>
      </p:cxnSp>
      <p:cxnSp>
        <p:nvCxnSpPr>
          <p:cNvPr id="43" name="Straight Arrow Connector 42"/>
          <p:cNvCxnSpPr/>
          <p:nvPr/>
        </p:nvCxnSpPr>
        <p:spPr bwMode="auto">
          <a:xfrm flipH="1">
            <a:off x="4445481" y="1715512"/>
            <a:ext cx="16077" cy="1009650"/>
          </a:xfrm>
          <a:prstGeom prst="straightConnector1">
            <a:avLst/>
          </a:prstGeom>
          <a:solidFill>
            <a:schemeClr val="accent1"/>
          </a:solidFill>
          <a:ln w="28575" cap="flat" cmpd="sng" algn="ctr">
            <a:solidFill>
              <a:srgbClr val="FF0000"/>
            </a:solidFill>
            <a:prstDash val="solid"/>
            <a:round/>
            <a:headEnd type="none" w="med" len="med"/>
            <a:tailEnd type="triangle"/>
          </a:ln>
          <a:effectLst/>
        </p:spPr>
      </p:cxnSp>
      <p:cxnSp>
        <p:nvCxnSpPr>
          <p:cNvPr id="45" name="Straight Arrow Connector 44"/>
          <p:cNvCxnSpPr/>
          <p:nvPr/>
        </p:nvCxnSpPr>
        <p:spPr bwMode="auto">
          <a:xfrm flipH="1">
            <a:off x="4511411" y="1732129"/>
            <a:ext cx="16077" cy="1009650"/>
          </a:xfrm>
          <a:prstGeom prst="straightConnector1">
            <a:avLst/>
          </a:prstGeom>
          <a:solidFill>
            <a:schemeClr val="accent1"/>
          </a:solidFill>
          <a:ln w="28575" cap="flat" cmpd="sng" algn="ctr">
            <a:solidFill>
              <a:srgbClr val="FF0000"/>
            </a:solidFill>
            <a:prstDash val="solid"/>
            <a:round/>
            <a:headEnd type="none" w="med" len="med"/>
            <a:tailEnd type="triangle"/>
          </a:ln>
          <a:effectLst/>
        </p:spPr>
      </p:cxnSp>
      <p:sp>
        <p:nvSpPr>
          <p:cNvPr id="3" name="Freeform 2"/>
          <p:cNvSpPr/>
          <p:nvPr/>
        </p:nvSpPr>
        <p:spPr bwMode="auto">
          <a:xfrm>
            <a:off x="2900218" y="4783745"/>
            <a:ext cx="2623127" cy="1231279"/>
          </a:xfrm>
          <a:custGeom>
            <a:avLst/>
            <a:gdLst>
              <a:gd name="connsiteX0" fmla="*/ 0 w 2623127"/>
              <a:gd name="connsiteY0" fmla="*/ 554873 h 1231279"/>
              <a:gd name="connsiteX1" fmla="*/ 110837 w 2623127"/>
              <a:gd name="connsiteY1" fmla="*/ 360910 h 1231279"/>
              <a:gd name="connsiteX2" fmla="*/ 249382 w 2623127"/>
              <a:gd name="connsiteY2" fmla="*/ 296255 h 1231279"/>
              <a:gd name="connsiteX3" fmla="*/ 415637 w 2623127"/>
              <a:gd name="connsiteY3" fmla="*/ 231600 h 1231279"/>
              <a:gd name="connsiteX4" fmla="*/ 535709 w 2623127"/>
              <a:gd name="connsiteY4" fmla="*/ 166946 h 1231279"/>
              <a:gd name="connsiteX5" fmla="*/ 655782 w 2623127"/>
              <a:gd name="connsiteY5" fmla="*/ 28400 h 1231279"/>
              <a:gd name="connsiteX6" fmla="*/ 803564 w 2623127"/>
              <a:gd name="connsiteY6" fmla="*/ 9928 h 1231279"/>
              <a:gd name="connsiteX7" fmla="*/ 886691 w 2623127"/>
              <a:gd name="connsiteY7" fmla="*/ 148473 h 1231279"/>
              <a:gd name="connsiteX8" fmla="*/ 886691 w 2623127"/>
              <a:gd name="connsiteY8" fmla="*/ 277782 h 1231279"/>
              <a:gd name="connsiteX9" fmla="*/ 960582 w 2623127"/>
              <a:gd name="connsiteY9" fmla="*/ 397855 h 1231279"/>
              <a:gd name="connsiteX10" fmla="*/ 1154546 w 2623127"/>
              <a:gd name="connsiteY10" fmla="*/ 573346 h 1231279"/>
              <a:gd name="connsiteX11" fmla="*/ 1283855 w 2623127"/>
              <a:gd name="connsiteY11" fmla="*/ 813491 h 1231279"/>
              <a:gd name="connsiteX12" fmla="*/ 1348509 w 2623127"/>
              <a:gd name="connsiteY12" fmla="*/ 822728 h 1231279"/>
              <a:gd name="connsiteX13" fmla="*/ 1477818 w 2623127"/>
              <a:gd name="connsiteY13" fmla="*/ 665710 h 1231279"/>
              <a:gd name="connsiteX14" fmla="*/ 1579418 w 2623127"/>
              <a:gd name="connsiteY14" fmla="*/ 638000 h 1231279"/>
              <a:gd name="connsiteX15" fmla="*/ 1727200 w 2623127"/>
              <a:gd name="connsiteY15" fmla="*/ 878146 h 1231279"/>
              <a:gd name="connsiteX16" fmla="*/ 1865746 w 2623127"/>
              <a:gd name="connsiteY16" fmla="*/ 1201419 h 1231279"/>
              <a:gd name="connsiteX17" fmla="*/ 1976582 w 2623127"/>
              <a:gd name="connsiteY17" fmla="*/ 1210655 h 1231279"/>
              <a:gd name="connsiteX18" fmla="*/ 2087418 w 2623127"/>
              <a:gd name="connsiteY18" fmla="*/ 1146000 h 1231279"/>
              <a:gd name="connsiteX19" fmla="*/ 2133600 w 2623127"/>
              <a:gd name="connsiteY19" fmla="*/ 721128 h 1231279"/>
              <a:gd name="connsiteX20" fmla="*/ 2253673 w 2623127"/>
              <a:gd name="connsiteY20" fmla="*/ 628764 h 1231279"/>
              <a:gd name="connsiteX21" fmla="*/ 2318327 w 2623127"/>
              <a:gd name="connsiteY21" fmla="*/ 434800 h 1231279"/>
              <a:gd name="connsiteX22" fmla="*/ 2401455 w 2623127"/>
              <a:gd name="connsiteY22" fmla="*/ 333200 h 1231279"/>
              <a:gd name="connsiteX23" fmla="*/ 2503055 w 2623127"/>
              <a:gd name="connsiteY23" fmla="*/ 462510 h 1231279"/>
              <a:gd name="connsiteX24" fmla="*/ 2623127 w 2623127"/>
              <a:gd name="connsiteY24" fmla="*/ 573346 h 1231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623127" h="1231279">
                <a:moveTo>
                  <a:pt x="0" y="554873"/>
                </a:moveTo>
                <a:cubicBezTo>
                  <a:pt x="34636" y="479443"/>
                  <a:pt x="69273" y="404013"/>
                  <a:pt x="110837" y="360910"/>
                </a:cubicBezTo>
                <a:cubicBezTo>
                  <a:pt x="152401" y="317807"/>
                  <a:pt x="198582" y="317807"/>
                  <a:pt x="249382" y="296255"/>
                </a:cubicBezTo>
                <a:cubicBezTo>
                  <a:pt x="300182" y="274703"/>
                  <a:pt x="367916" y="253151"/>
                  <a:pt x="415637" y="231600"/>
                </a:cubicBezTo>
                <a:cubicBezTo>
                  <a:pt x="463358" y="210048"/>
                  <a:pt x="495685" y="200813"/>
                  <a:pt x="535709" y="166946"/>
                </a:cubicBezTo>
                <a:cubicBezTo>
                  <a:pt x="575733" y="133079"/>
                  <a:pt x="611139" y="54570"/>
                  <a:pt x="655782" y="28400"/>
                </a:cubicBezTo>
                <a:cubicBezTo>
                  <a:pt x="700425" y="2230"/>
                  <a:pt x="765079" y="-10084"/>
                  <a:pt x="803564" y="9928"/>
                </a:cubicBezTo>
                <a:cubicBezTo>
                  <a:pt x="842049" y="29940"/>
                  <a:pt x="872837" y="103831"/>
                  <a:pt x="886691" y="148473"/>
                </a:cubicBezTo>
                <a:cubicBezTo>
                  <a:pt x="900546" y="193115"/>
                  <a:pt x="874376" y="236219"/>
                  <a:pt x="886691" y="277782"/>
                </a:cubicBezTo>
                <a:cubicBezTo>
                  <a:pt x="899006" y="319345"/>
                  <a:pt x="915939" y="348594"/>
                  <a:pt x="960582" y="397855"/>
                </a:cubicBezTo>
                <a:cubicBezTo>
                  <a:pt x="1005225" y="447116"/>
                  <a:pt x="1100667" y="504073"/>
                  <a:pt x="1154546" y="573346"/>
                </a:cubicBezTo>
                <a:cubicBezTo>
                  <a:pt x="1208425" y="642619"/>
                  <a:pt x="1251528" y="771927"/>
                  <a:pt x="1283855" y="813491"/>
                </a:cubicBezTo>
                <a:cubicBezTo>
                  <a:pt x="1316182" y="855055"/>
                  <a:pt x="1316182" y="847358"/>
                  <a:pt x="1348509" y="822728"/>
                </a:cubicBezTo>
                <a:cubicBezTo>
                  <a:pt x="1380836" y="798098"/>
                  <a:pt x="1439333" y="696498"/>
                  <a:pt x="1477818" y="665710"/>
                </a:cubicBezTo>
                <a:cubicBezTo>
                  <a:pt x="1516303" y="634922"/>
                  <a:pt x="1537854" y="602594"/>
                  <a:pt x="1579418" y="638000"/>
                </a:cubicBezTo>
                <a:cubicBezTo>
                  <a:pt x="1620982" y="673406"/>
                  <a:pt x="1679479" y="784243"/>
                  <a:pt x="1727200" y="878146"/>
                </a:cubicBezTo>
                <a:cubicBezTo>
                  <a:pt x="1774921" y="972049"/>
                  <a:pt x="1824182" y="1146001"/>
                  <a:pt x="1865746" y="1201419"/>
                </a:cubicBezTo>
                <a:cubicBezTo>
                  <a:pt x="1907310" y="1256837"/>
                  <a:pt x="1939637" y="1219891"/>
                  <a:pt x="1976582" y="1210655"/>
                </a:cubicBezTo>
                <a:cubicBezTo>
                  <a:pt x="2013527" y="1201419"/>
                  <a:pt x="2061248" y="1227588"/>
                  <a:pt x="2087418" y="1146000"/>
                </a:cubicBezTo>
                <a:cubicBezTo>
                  <a:pt x="2113588" y="1064412"/>
                  <a:pt x="2105891" y="807334"/>
                  <a:pt x="2133600" y="721128"/>
                </a:cubicBezTo>
                <a:cubicBezTo>
                  <a:pt x="2161309" y="634922"/>
                  <a:pt x="2222885" y="676485"/>
                  <a:pt x="2253673" y="628764"/>
                </a:cubicBezTo>
                <a:cubicBezTo>
                  <a:pt x="2284461" y="581043"/>
                  <a:pt x="2293697" y="484061"/>
                  <a:pt x="2318327" y="434800"/>
                </a:cubicBezTo>
                <a:cubicBezTo>
                  <a:pt x="2342957" y="385539"/>
                  <a:pt x="2370667" y="328582"/>
                  <a:pt x="2401455" y="333200"/>
                </a:cubicBezTo>
                <a:cubicBezTo>
                  <a:pt x="2432243" y="337818"/>
                  <a:pt x="2466110" y="422486"/>
                  <a:pt x="2503055" y="462510"/>
                </a:cubicBezTo>
                <a:cubicBezTo>
                  <a:pt x="2540000" y="502534"/>
                  <a:pt x="2581563" y="537940"/>
                  <a:pt x="2623127" y="573346"/>
                </a:cubicBezTo>
              </a:path>
            </a:pathLst>
          </a:cu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4" name="Rectangle 3"/>
          <p:cNvSpPr/>
          <p:nvPr/>
        </p:nvSpPr>
        <p:spPr>
          <a:xfrm>
            <a:off x="3359612" y="3443535"/>
            <a:ext cx="902811" cy="261610"/>
          </a:xfrm>
          <a:prstGeom prst="rect">
            <a:avLst/>
          </a:prstGeom>
        </p:spPr>
        <p:txBody>
          <a:bodyPr wrap="none">
            <a:spAutoFit/>
          </a:bodyPr>
          <a:lstStyle/>
          <a:p>
            <a:r>
              <a:rPr lang="en-GB" sz="1100" dirty="0"/>
              <a:t>10110011</a:t>
            </a:r>
          </a:p>
        </p:txBody>
      </p:sp>
      <p:sp>
        <p:nvSpPr>
          <p:cNvPr id="5" name="Rectangle 4"/>
          <p:cNvSpPr/>
          <p:nvPr/>
        </p:nvSpPr>
        <p:spPr>
          <a:xfrm>
            <a:off x="4091392" y="4706908"/>
            <a:ext cx="902811" cy="261610"/>
          </a:xfrm>
          <a:prstGeom prst="rect">
            <a:avLst/>
          </a:prstGeom>
        </p:spPr>
        <p:txBody>
          <a:bodyPr wrap="none">
            <a:spAutoFit/>
          </a:bodyPr>
          <a:lstStyle/>
          <a:p>
            <a:r>
              <a:rPr lang="en-GB" sz="1100"/>
              <a:t>01010010</a:t>
            </a:r>
            <a:endParaRPr lang="en-GB" sz="1100" dirty="0"/>
          </a:p>
        </p:txBody>
      </p:sp>
      <p:sp>
        <p:nvSpPr>
          <p:cNvPr id="6" name="Rectangle 5"/>
          <p:cNvSpPr/>
          <p:nvPr/>
        </p:nvSpPr>
        <p:spPr>
          <a:xfrm>
            <a:off x="4443812" y="4080800"/>
            <a:ext cx="902811" cy="261610"/>
          </a:xfrm>
          <a:prstGeom prst="rect">
            <a:avLst/>
          </a:prstGeom>
        </p:spPr>
        <p:txBody>
          <a:bodyPr wrap="none">
            <a:spAutoFit/>
          </a:bodyPr>
          <a:lstStyle/>
          <a:p>
            <a:r>
              <a:rPr lang="en-GB" sz="1100" dirty="0"/>
              <a:t>10010001</a:t>
            </a:r>
          </a:p>
        </p:txBody>
      </p:sp>
      <p:grpSp>
        <p:nvGrpSpPr>
          <p:cNvPr id="9" name="Group 8">
            <a:extLst>
              <a:ext uri="{FF2B5EF4-FFF2-40B4-BE49-F238E27FC236}">
                <a16:creationId xmlns:a16="http://schemas.microsoft.com/office/drawing/2014/main" id="{ABE7FEC6-9442-49BF-AAA4-BF58A9A2DA3E}"/>
              </a:ext>
            </a:extLst>
          </p:cNvPr>
          <p:cNvGrpSpPr/>
          <p:nvPr/>
        </p:nvGrpSpPr>
        <p:grpSpPr>
          <a:xfrm>
            <a:off x="7270306" y="2700670"/>
            <a:ext cx="885817" cy="307777"/>
            <a:chOff x="7229484" y="2652081"/>
            <a:chExt cx="885817" cy="307777"/>
          </a:xfrm>
        </p:grpSpPr>
        <p:sp>
          <p:nvSpPr>
            <p:cNvPr id="17" name="Rectangle 16">
              <a:extLst>
                <a:ext uri="{FF2B5EF4-FFF2-40B4-BE49-F238E27FC236}">
                  <a16:creationId xmlns:a16="http://schemas.microsoft.com/office/drawing/2014/main" id="{B7EC4721-DBED-474D-A348-B8A133F8377B}"/>
                </a:ext>
              </a:extLst>
            </p:cNvPr>
            <p:cNvSpPr/>
            <p:nvPr/>
          </p:nvSpPr>
          <p:spPr>
            <a:xfrm>
              <a:off x="7229484" y="2652081"/>
              <a:ext cx="570990" cy="307777"/>
            </a:xfrm>
            <a:prstGeom prst="rect">
              <a:avLst/>
            </a:prstGeom>
          </p:spPr>
          <p:txBody>
            <a:bodyPr wrap="none">
              <a:spAutoFit/>
            </a:bodyPr>
            <a:lstStyle/>
            <a:p>
              <a:r>
                <a:rPr lang="en-GB" sz="1400" i="1"/>
                <a:t>time</a:t>
              </a:r>
              <a:endParaRPr lang="en-GB" sz="1400" i="1" dirty="0"/>
            </a:p>
          </p:txBody>
        </p:sp>
        <p:cxnSp>
          <p:nvCxnSpPr>
            <p:cNvPr id="8" name="Straight Arrow Connector 7">
              <a:extLst>
                <a:ext uri="{FF2B5EF4-FFF2-40B4-BE49-F238E27FC236}">
                  <a16:creationId xmlns:a16="http://schemas.microsoft.com/office/drawing/2014/main" id="{03E65DC0-8930-4E3C-8470-588CB7037A9C}"/>
                </a:ext>
              </a:extLst>
            </p:cNvPr>
            <p:cNvCxnSpPr/>
            <p:nvPr/>
          </p:nvCxnSpPr>
          <p:spPr bwMode="auto">
            <a:xfrm>
              <a:off x="7741612" y="2804150"/>
              <a:ext cx="373689"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grpSp>
      <p:grpSp>
        <p:nvGrpSpPr>
          <p:cNvPr id="28" name="Group 27">
            <a:extLst>
              <a:ext uri="{FF2B5EF4-FFF2-40B4-BE49-F238E27FC236}">
                <a16:creationId xmlns:a16="http://schemas.microsoft.com/office/drawing/2014/main" id="{B5352DD2-2358-442A-91A2-417E3CCE43FE}"/>
              </a:ext>
            </a:extLst>
          </p:cNvPr>
          <p:cNvGrpSpPr/>
          <p:nvPr/>
        </p:nvGrpSpPr>
        <p:grpSpPr>
          <a:xfrm>
            <a:off x="4641062" y="6025846"/>
            <a:ext cx="885817" cy="307777"/>
            <a:chOff x="7229484" y="2652081"/>
            <a:chExt cx="885817" cy="307777"/>
          </a:xfrm>
        </p:grpSpPr>
        <p:sp>
          <p:nvSpPr>
            <p:cNvPr id="30" name="Rectangle 29">
              <a:extLst>
                <a:ext uri="{FF2B5EF4-FFF2-40B4-BE49-F238E27FC236}">
                  <a16:creationId xmlns:a16="http://schemas.microsoft.com/office/drawing/2014/main" id="{B2C1FA7F-E0FE-4834-8EAD-431977DC0FF7}"/>
                </a:ext>
              </a:extLst>
            </p:cNvPr>
            <p:cNvSpPr/>
            <p:nvPr/>
          </p:nvSpPr>
          <p:spPr>
            <a:xfrm>
              <a:off x="7229484" y="2652081"/>
              <a:ext cx="570990" cy="307777"/>
            </a:xfrm>
            <a:prstGeom prst="rect">
              <a:avLst/>
            </a:prstGeom>
          </p:spPr>
          <p:txBody>
            <a:bodyPr wrap="none">
              <a:spAutoFit/>
            </a:bodyPr>
            <a:lstStyle/>
            <a:p>
              <a:r>
                <a:rPr lang="en-GB" sz="1400" i="1"/>
                <a:t>time</a:t>
              </a:r>
              <a:endParaRPr lang="en-GB" sz="1400" i="1" dirty="0"/>
            </a:p>
          </p:txBody>
        </p:sp>
        <p:cxnSp>
          <p:nvCxnSpPr>
            <p:cNvPr id="31" name="Straight Arrow Connector 30">
              <a:extLst>
                <a:ext uri="{FF2B5EF4-FFF2-40B4-BE49-F238E27FC236}">
                  <a16:creationId xmlns:a16="http://schemas.microsoft.com/office/drawing/2014/main" id="{C88A7795-8AD9-477E-882F-384B2FDDD0A3}"/>
                </a:ext>
              </a:extLst>
            </p:cNvPr>
            <p:cNvCxnSpPr/>
            <p:nvPr/>
          </p:nvCxnSpPr>
          <p:spPr bwMode="auto">
            <a:xfrm>
              <a:off x="7741612" y="2804150"/>
              <a:ext cx="373689"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grpSp>
      <p:grpSp>
        <p:nvGrpSpPr>
          <p:cNvPr id="12" name="Group 11">
            <a:extLst>
              <a:ext uri="{FF2B5EF4-FFF2-40B4-BE49-F238E27FC236}">
                <a16:creationId xmlns:a16="http://schemas.microsoft.com/office/drawing/2014/main" id="{DF552CDE-9278-4865-8584-AFA8B36768BC}"/>
              </a:ext>
            </a:extLst>
          </p:cNvPr>
          <p:cNvGrpSpPr/>
          <p:nvPr/>
        </p:nvGrpSpPr>
        <p:grpSpPr>
          <a:xfrm>
            <a:off x="381000" y="2162317"/>
            <a:ext cx="934871" cy="335019"/>
            <a:chOff x="1885889" y="4871324"/>
            <a:chExt cx="934871" cy="335019"/>
          </a:xfrm>
        </p:grpSpPr>
        <p:sp>
          <p:nvSpPr>
            <p:cNvPr id="33" name="Text Box 18">
              <a:extLst>
                <a:ext uri="{FF2B5EF4-FFF2-40B4-BE49-F238E27FC236}">
                  <a16:creationId xmlns:a16="http://schemas.microsoft.com/office/drawing/2014/main" id="{A7FC6CAD-C7A6-4208-86F2-2197982132A1}"/>
                </a:ext>
              </a:extLst>
            </p:cNvPr>
            <p:cNvSpPr txBox="1">
              <a:spLocks noChangeArrowheads="1"/>
            </p:cNvSpPr>
            <p:nvPr/>
          </p:nvSpPr>
          <p:spPr bwMode="auto">
            <a:xfrm>
              <a:off x="1885889" y="4929344"/>
              <a:ext cx="934871" cy="276999"/>
            </a:xfrm>
            <a:prstGeom prst="rect">
              <a:avLst/>
            </a:prstGeom>
            <a:noFill/>
            <a:ln w="9525">
              <a:noFill/>
              <a:miter lim="800000"/>
              <a:headEnd/>
              <a:tailEnd/>
            </a:ln>
          </p:spPr>
          <p:txBody>
            <a:bodyPr wrap="none">
              <a:spAutoFit/>
            </a:bodyPr>
            <a:lstStyle/>
            <a:p>
              <a:r>
                <a:rPr lang="en-GB" sz="1200" i="1">
                  <a:solidFill>
                    <a:srgbClr val="FFFF00"/>
                  </a:solidFill>
                </a:rPr>
                <a:t>amplitude</a:t>
              </a:r>
              <a:endParaRPr lang="en-US" sz="1200" i="1" dirty="0">
                <a:solidFill>
                  <a:srgbClr val="FFFF00"/>
                </a:solidFill>
              </a:endParaRPr>
            </a:p>
          </p:txBody>
        </p:sp>
        <p:cxnSp>
          <p:nvCxnSpPr>
            <p:cNvPr id="11" name="Straight Arrow Connector 10">
              <a:extLst>
                <a:ext uri="{FF2B5EF4-FFF2-40B4-BE49-F238E27FC236}">
                  <a16:creationId xmlns:a16="http://schemas.microsoft.com/office/drawing/2014/main" id="{ED14C870-69BF-4232-8DE3-41443A73D920}"/>
                </a:ext>
              </a:extLst>
            </p:cNvPr>
            <p:cNvCxnSpPr/>
            <p:nvPr/>
          </p:nvCxnSpPr>
          <p:spPr bwMode="auto">
            <a:xfrm flipV="1">
              <a:off x="2820760" y="4871324"/>
              <a:ext cx="0" cy="322292"/>
            </a:xfrm>
            <a:prstGeom prst="straightConnector1">
              <a:avLst/>
            </a:prstGeom>
            <a:solidFill>
              <a:schemeClr val="accent1"/>
            </a:solidFill>
            <a:ln w="9525" cap="flat" cmpd="sng" algn="ctr">
              <a:solidFill>
                <a:srgbClr val="FFFF00"/>
              </a:solidFill>
              <a:prstDash val="solid"/>
              <a:round/>
              <a:headEnd type="none" w="med" len="med"/>
              <a:tailEnd type="triangle"/>
            </a:ln>
            <a:effectLst/>
          </p:spPr>
        </p:cxnSp>
      </p:grpSp>
      <p:grpSp>
        <p:nvGrpSpPr>
          <p:cNvPr id="34" name="Group 33">
            <a:extLst>
              <a:ext uri="{FF2B5EF4-FFF2-40B4-BE49-F238E27FC236}">
                <a16:creationId xmlns:a16="http://schemas.microsoft.com/office/drawing/2014/main" id="{047391E7-2538-454E-9F02-5C6093E42078}"/>
              </a:ext>
            </a:extLst>
          </p:cNvPr>
          <p:cNvGrpSpPr/>
          <p:nvPr/>
        </p:nvGrpSpPr>
        <p:grpSpPr>
          <a:xfrm>
            <a:off x="1632781" y="4957418"/>
            <a:ext cx="934871" cy="335019"/>
            <a:chOff x="1885889" y="4871324"/>
            <a:chExt cx="934871" cy="335019"/>
          </a:xfrm>
        </p:grpSpPr>
        <p:sp>
          <p:nvSpPr>
            <p:cNvPr id="35" name="Text Box 18">
              <a:extLst>
                <a:ext uri="{FF2B5EF4-FFF2-40B4-BE49-F238E27FC236}">
                  <a16:creationId xmlns:a16="http://schemas.microsoft.com/office/drawing/2014/main" id="{A431AD65-98EB-4DF1-BC60-8CAE0B7B4776}"/>
                </a:ext>
              </a:extLst>
            </p:cNvPr>
            <p:cNvSpPr txBox="1">
              <a:spLocks noChangeArrowheads="1"/>
            </p:cNvSpPr>
            <p:nvPr/>
          </p:nvSpPr>
          <p:spPr bwMode="auto">
            <a:xfrm>
              <a:off x="1885889" y="4929344"/>
              <a:ext cx="934871" cy="276999"/>
            </a:xfrm>
            <a:prstGeom prst="rect">
              <a:avLst/>
            </a:prstGeom>
            <a:noFill/>
            <a:ln w="9525">
              <a:noFill/>
              <a:miter lim="800000"/>
              <a:headEnd/>
              <a:tailEnd/>
            </a:ln>
          </p:spPr>
          <p:txBody>
            <a:bodyPr wrap="none">
              <a:spAutoFit/>
            </a:bodyPr>
            <a:lstStyle/>
            <a:p>
              <a:r>
                <a:rPr lang="en-GB" sz="1200" i="1"/>
                <a:t>amplitude</a:t>
              </a:r>
              <a:endParaRPr lang="en-US" sz="1200" i="1" dirty="0"/>
            </a:p>
          </p:txBody>
        </p:sp>
        <p:cxnSp>
          <p:nvCxnSpPr>
            <p:cNvPr id="36" name="Straight Arrow Connector 35">
              <a:extLst>
                <a:ext uri="{FF2B5EF4-FFF2-40B4-BE49-F238E27FC236}">
                  <a16:creationId xmlns:a16="http://schemas.microsoft.com/office/drawing/2014/main" id="{2C9C7935-7DD9-450D-8B3F-360C830542A8}"/>
                </a:ext>
              </a:extLst>
            </p:cNvPr>
            <p:cNvCxnSpPr/>
            <p:nvPr/>
          </p:nvCxnSpPr>
          <p:spPr bwMode="auto">
            <a:xfrm flipV="1">
              <a:off x="2820760" y="4871324"/>
              <a:ext cx="0" cy="32229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grpSp>
    </p:spTree>
    <p:extLst>
      <p:ext uri="{BB962C8B-B14F-4D97-AF65-F5344CB8AC3E}">
        <p14:creationId xmlns:p14="http://schemas.microsoft.com/office/powerpoint/2010/main" val="22029330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5"/>
          <p:cNvGrpSpPr>
            <a:grpSpLocks/>
          </p:cNvGrpSpPr>
          <p:nvPr/>
        </p:nvGrpSpPr>
        <p:grpSpPr bwMode="auto">
          <a:xfrm>
            <a:off x="596900" y="4337050"/>
            <a:ext cx="8115300" cy="338138"/>
            <a:chOff x="385" y="1253"/>
            <a:chExt cx="5112" cy="213"/>
          </a:xfrm>
        </p:grpSpPr>
        <p:sp>
          <p:nvSpPr>
            <p:cNvPr id="4118" name="Text Box 4"/>
            <p:cNvSpPr txBox="1">
              <a:spLocks noChangeArrowheads="1"/>
            </p:cNvSpPr>
            <p:nvPr/>
          </p:nvSpPr>
          <p:spPr bwMode="auto">
            <a:xfrm>
              <a:off x="2109" y="1253"/>
              <a:ext cx="815" cy="213"/>
            </a:xfrm>
            <a:prstGeom prst="rect">
              <a:avLst/>
            </a:prstGeom>
            <a:solidFill>
              <a:schemeClr val="hlink"/>
            </a:solidFill>
            <a:ln w="9525">
              <a:solidFill>
                <a:schemeClr val="tx1"/>
              </a:solidFill>
              <a:miter lim="800000"/>
              <a:headEnd/>
              <a:tailEnd/>
            </a:ln>
          </p:spPr>
          <p:txBody>
            <a:bodyPr>
              <a:spAutoFit/>
            </a:bodyPr>
            <a:lstStyle/>
            <a:p>
              <a:pPr algn="ctr"/>
              <a:r>
                <a:rPr lang="en-GB" b="1">
                  <a:solidFill>
                    <a:srgbClr val="FF3300"/>
                  </a:solidFill>
                </a:rPr>
                <a:t>01010010</a:t>
              </a:r>
              <a:endParaRPr lang="en-US" b="1" dirty="0">
                <a:solidFill>
                  <a:srgbClr val="FF3300"/>
                </a:solidFill>
              </a:endParaRPr>
            </a:p>
          </p:txBody>
        </p:sp>
        <p:sp>
          <p:nvSpPr>
            <p:cNvPr id="4119" name="Text Box 5"/>
            <p:cNvSpPr txBox="1">
              <a:spLocks noChangeArrowheads="1"/>
            </p:cNvSpPr>
            <p:nvPr/>
          </p:nvSpPr>
          <p:spPr bwMode="auto">
            <a:xfrm>
              <a:off x="1292" y="1289"/>
              <a:ext cx="439" cy="136"/>
            </a:xfrm>
            <a:prstGeom prst="rect">
              <a:avLst/>
            </a:prstGeom>
            <a:noFill/>
            <a:ln w="9525">
              <a:solidFill>
                <a:schemeClr val="tx1"/>
              </a:solidFill>
              <a:miter lim="800000"/>
              <a:headEnd/>
              <a:tailEnd/>
            </a:ln>
          </p:spPr>
          <p:txBody>
            <a:bodyPr wrap="none">
              <a:spAutoFit/>
            </a:bodyPr>
            <a:lstStyle/>
            <a:p>
              <a:r>
                <a:rPr lang="en-GB" sz="800"/>
                <a:t>01001001</a:t>
              </a:r>
              <a:endParaRPr lang="en-US" sz="800"/>
            </a:p>
          </p:txBody>
        </p:sp>
        <p:sp>
          <p:nvSpPr>
            <p:cNvPr id="4120" name="Text Box 6"/>
            <p:cNvSpPr txBox="1">
              <a:spLocks noChangeArrowheads="1"/>
            </p:cNvSpPr>
            <p:nvPr/>
          </p:nvSpPr>
          <p:spPr bwMode="auto">
            <a:xfrm>
              <a:off x="1701" y="1298"/>
              <a:ext cx="439" cy="136"/>
            </a:xfrm>
            <a:prstGeom prst="rect">
              <a:avLst/>
            </a:prstGeom>
            <a:noFill/>
            <a:ln w="9525">
              <a:solidFill>
                <a:schemeClr val="tx1"/>
              </a:solidFill>
              <a:miter lim="800000"/>
              <a:headEnd/>
              <a:tailEnd/>
            </a:ln>
          </p:spPr>
          <p:txBody>
            <a:bodyPr wrap="none">
              <a:spAutoFit/>
            </a:bodyPr>
            <a:lstStyle/>
            <a:p>
              <a:r>
                <a:rPr lang="en-GB" sz="800" dirty="0"/>
                <a:t>10010001</a:t>
              </a:r>
              <a:endParaRPr lang="en-US" sz="800" dirty="0"/>
            </a:p>
          </p:txBody>
        </p:sp>
        <p:sp>
          <p:nvSpPr>
            <p:cNvPr id="4121" name="Text Box 7"/>
            <p:cNvSpPr txBox="1">
              <a:spLocks noChangeArrowheads="1"/>
            </p:cNvSpPr>
            <p:nvPr/>
          </p:nvSpPr>
          <p:spPr bwMode="auto">
            <a:xfrm>
              <a:off x="838" y="1289"/>
              <a:ext cx="480" cy="136"/>
            </a:xfrm>
            <a:prstGeom prst="rect">
              <a:avLst/>
            </a:prstGeom>
            <a:noFill/>
            <a:ln w="9525">
              <a:solidFill>
                <a:schemeClr val="tx1"/>
              </a:solidFill>
              <a:miter lim="800000"/>
              <a:headEnd/>
              <a:tailEnd/>
            </a:ln>
          </p:spPr>
          <p:txBody>
            <a:bodyPr wrap="none">
              <a:spAutoFit/>
            </a:bodyPr>
            <a:lstStyle/>
            <a:p>
              <a:r>
                <a:rPr lang="en-GB" sz="800"/>
                <a:t>010100101</a:t>
              </a:r>
              <a:endParaRPr lang="en-US" sz="800"/>
            </a:p>
          </p:txBody>
        </p:sp>
        <p:sp>
          <p:nvSpPr>
            <p:cNvPr id="4122" name="Text Box 8"/>
            <p:cNvSpPr txBox="1">
              <a:spLocks noChangeArrowheads="1"/>
            </p:cNvSpPr>
            <p:nvPr/>
          </p:nvSpPr>
          <p:spPr bwMode="auto">
            <a:xfrm>
              <a:off x="385" y="1289"/>
              <a:ext cx="480" cy="136"/>
            </a:xfrm>
            <a:prstGeom prst="rect">
              <a:avLst/>
            </a:prstGeom>
            <a:noFill/>
            <a:ln w="9525">
              <a:solidFill>
                <a:schemeClr val="tx1"/>
              </a:solidFill>
              <a:miter lim="800000"/>
              <a:headEnd/>
              <a:tailEnd/>
            </a:ln>
          </p:spPr>
          <p:txBody>
            <a:bodyPr wrap="none">
              <a:spAutoFit/>
            </a:bodyPr>
            <a:lstStyle/>
            <a:p>
              <a:r>
                <a:rPr lang="en-GB" sz="800"/>
                <a:t>010100101</a:t>
              </a:r>
              <a:endParaRPr lang="en-US" sz="800"/>
            </a:p>
          </p:txBody>
        </p:sp>
        <p:sp>
          <p:nvSpPr>
            <p:cNvPr id="4123" name="Text Box 9"/>
            <p:cNvSpPr txBox="1">
              <a:spLocks noChangeArrowheads="1"/>
            </p:cNvSpPr>
            <p:nvPr/>
          </p:nvSpPr>
          <p:spPr bwMode="auto">
            <a:xfrm>
              <a:off x="3334" y="1298"/>
              <a:ext cx="439" cy="136"/>
            </a:xfrm>
            <a:prstGeom prst="rect">
              <a:avLst/>
            </a:prstGeom>
            <a:noFill/>
            <a:ln w="9525">
              <a:solidFill>
                <a:schemeClr val="tx1"/>
              </a:solidFill>
              <a:miter lim="800000"/>
              <a:headEnd/>
              <a:tailEnd/>
            </a:ln>
          </p:spPr>
          <p:txBody>
            <a:bodyPr wrap="none">
              <a:spAutoFit/>
            </a:bodyPr>
            <a:lstStyle/>
            <a:p>
              <a:r>
                <a:rPr lang="en-GB" sz="800"/>
                <a:t>10010001</a:t>
              </a:r>
              <a:endParaRPr lang="en-US" sz="800"/>
            </a:p>
          </p:txBody>
        </p:sp>
        <p:sp>
          <p:nvSpPr>
            <p:cNvPr id="4124" name="Text Box 11"/>
            <p:cNvSpPr txBox="1">
              <a:spLocks noChangeArrowheads="1"/>
            </p:cNvSpPr>
            <p:nvPr/>
          </p:nvSpPr>
          <p:spPr bwMode="auto">
            <a:xfrm>
              <a:off x="3742" y="1298"/>
              <a:ext cx="439" cy="136"/>
            </a:xfrm>
            <a:prstGeom prst="rect">
              <a:avLst/>
            </a:prstGeom>
            <a:noFill/>
            <a:ln w="9525">
              <a:solidFill>
                <a:schemeClr val="tx1"/>
              </a:solidFill>
              <a:miter lim="800000"/>
              <a:headEnd/>
              <a:tailEnd/>
            </a:ln>
          </p:spPr>
          <p:txBody>
            <a:bodyPr wrap="none">
              <a:spAutoFit/>
            </a:bodyPr>
            <a:lstStyle/>
            <a:p>
              <a:r>
                <a:rPr lang="en-GB" sz="800"/>
                <a:t>01001001</a:t>
              </a:r>
              <a:endParaRPr lang="en-US" sz="800"/>
            </a:p>
          </p:txBody>
        </p:sp>
        <p:sp>
          <p:nvSpPr>
            <p:cNvPr id="4125" name="Text Box 10"/>
            <p:cNvSpPr txBox="1">
              <a:spLocks noChangeArrowheads="1"/>
            </p:cNvSpPr>
            <p:nvPr/>
          </p:nvSpPr>
          <p:spPr bwMode="auto">
            <a:xfrm>
              <a:off x="2880" y="1298"/>
              <a:ext cx="480" cy="136"/>
            </a:xfrm>
            <a:prstGeom prst="rect">
              <a:avLst/>
            </a:prstGeom>
            <a:noFill/>
            <a:ln w="9525">
              <a:solidFill>
                <a:schemeClr val="tx1"/>
              </a:solidFill>
              <a:miter lim="800000"/>
              <a:headEnd/>
              <a:tailEnd/>
            </a:ln>
          </p:spPr>
          <p:txBody>
            <a:bodyPr wrap="none">
              <a:spAutoFit/>
            </a:bodyPr>
            <a:lstStyle/>
            <a:p>
              <a:r>
                <a:rPr lang="en-GB" sz="800" dirty="0"/>
                <a:t>010100101</a:t>
              </a:r>
              <a:endParaRPr lang="en-US" sz="800" dirty="0"/>
            </a:p>
          </p:txBody>
        </p:sp>
        <p:sp>
          <p:nvSpPr>
            <p:cNvPr id="4126" name="Text Box 12"/>
            <p:cNvSpPr txBox="1">
              <a:spLocks noChangeArrowheads="1"/>
            </p:cNvSpPr>
            <p:nvPr/>
          </p:nvSpPr>
          <p:spPr bwMode="auto">
            <a:xfrm>
              <a:off x="4150" y="1298"/>
              <a:ext cx="480" cy="136"/>
            </a:xfrm>
            <a:prstGeom prst="rect">
              <a:avLst/>
            </a:prstGeom>
            <a:noFill/>
            <a:ln w="9525">
              <a:solidFill>
                <a:schemeClr val="tx1"/>
              </a:solidFill>
              <a:miter lim="800000"/>
              <a:headEnd/>
              <a:tailEnd/>
            </a:ln>
          </p:spPr>
          <p:txBody>
            <a:bodyPr wrap="none">
              <a:spAutoFit/>
            </a:bodyPr>
            <a:lstStyle/>
            <a:p>
              <a:r>
                <a:rPr lang="en-GB" sz="800"/>
                <a:t>010100101</a:t>
              </a:r>
              <a:endParaRPr lang="en-US" sz="800"/>
            </a:p>
          </p:txBody>
        </p:sp>
        <p:sp>
          <p:nvSpPr>
            <p:cNvPr id="4127" name="Text Box 14"/>
            <p:cNvSpPr txBox="1">
              <a:spLocks noChangeArrowheads="1"/>
            </p:cNvSpPr>
            <p:nvPr/>
          </p:nvSpPr>
          <p:spPr bwMode="auto">
            <a:xfrm>
              <a:off x="5058" y="1298"/>
              <a:ext cx="439" cy="136"/>
            </a:xfrm>
            <a:prstGeom prst="rect">
              <a:avLst/>
            </a:prstGeom>
            <a:noFill/>
            <a:ln w="9525">
              <a:solidFill>
                <a:schemeClr val="tx1"/>
              </a:solidFill>
              <a:miter lim="800000"/>
              <a:headEnd/>
              <a:tailEnd/>
            </a:ln>
          </p:spPr>
          <p:txBody>
            <a:bodyPr wrap="none">
              <a:spAutoFit/>
            </a:bodyPr>
            <a:lstStyle/>
            <a:p>
              <a:r>
                <a:rPr lang="en-GB" sz="800"/>
                <a:t>01001001</a:t>
              </a:r>
              <a:endParaRPr lang="en-US" sz="800"/>
            </a:p>
          </p:txBody>
        </p:sp>
        <p:sp>
          <p:nvSpPr>
            <p:cNvPr id="4128" name="Text Box 15"/>
            <p:cNvSpPr txBox="1">
              <a:spLocks noChangeArrowheads="1"/>
            </p:cNvSpPr>
            <p:nvPr/>
          </p:nvSpPr>
          <p:spPr bwMode="auto">
            <a:xfrm>
              <a:off x="4604" y="1298"/>
              <a:ext cx="480" cy="136"/>
            </a:xfrm>
            <a:prstGeom prst="rect">
              <a:avLst/>
            </a:prstGeom>
            <a:noFill/>
            <a:ln w="9525">
              <a:solidFill>
                <a:schemeClr val="tx1"/>
              </a:solidFill>
              <a:miter lim="800000"/>
              <a:headEnd/>
              <a:tailEnd/>
            </a:ln>
          </p:spPr>
          <p:txBody>
            <a:bodyPr wrap="none">
              <a:spAutoFit/>
            </a:bodyPr>
            <a:lstStyle/>
            <a:p>
              <a:r>
                <a:rPr lang="en-GB" sz="800"/>
                <a:t>010100101</a:t>
              </a:r>
              <a:endParaRPr lang="en-US" sz="800"/>
            </a:p>
          </p:txBody>
        </p:sp>
      </p:grpSp>
      <p:sp>
        <p:nvSpPr>
          <p:cNvPr id="4099" name="Text Box 17"/>
          <p:cNvSpPr txBox="1">
            <a:spLocks noChangeArrowheads="1"/>
          </p:cNvSpPr>
          <p:nvPr/>
        </p:nvSpPr>
        <p:spPr bwMode="auto">
          <a:xfrm>
            <a:off x="381000" y="381000"/>
            <a:ext cx="3714750" cy="461963"/>
          </a:xfrm>
          <a:prstGeom prst="rect">
            <a:avLst/>
          </a:prstGeom>
          <a:noFill/>
          <a:ln w="9525">
            <a:noFill/>
            <a:miter lim="800000"/>
            <a:headEnd/>
            <a:tailEnd/>
          </a:ln>
        </p:spPr>
        <p:txBody>
          <a:bodyPr wrap="none">
            <a:spAutoFit/>
          </a:bodyPr>
          <a:lstStyle/>
          <a:p>
            <a:r>
              <a:rPr lang="en-GB" sz="2400" b="1"/>
              <a:t>Time Division Multiplex</a:t>
            </a:r>
            <a:endParaRPr lang="en-US" sz="2400" b="1"/>
          </a:p>
        </p:txBody>
      </p:sp>
      <p:sp>
        <p:nvSpPr>
          <p:cNvPr id="4101" name="Rectangle 21"/>
          <p:cNvSpPr>
            <a:spLocks noChangeArrowheads="1"/>
          </p:cNvSpPr>
          <p:nvPr/>
        </p:nvSpPr>
        <p:spPr bwMode="auto">
          <a:xfrm>
            <a:off x="1885770" y="5715148"/>
            <a:ext cx="5477782" cy="338554"/>
          </a:xfrm>
          <a:prstGeom prst="rect">
            <a:avLst/>
          </a:prstGeom>
          <a:noFill/>
          <a:ln w="9525">
            <a:noFill/>
            <a:miter lim="800000"/>
            <a:headEnd/>
            <a:tailEnd/>
          </a:ln>
        </p:spPr>
        <p:txBody>
          <a:bodyPr wrap="none">
            <a:spAutoFit/>
          </a:bodyPr>
          <a:lstStyle/>
          <a:p>
            <a:pPr algn="ctr"/>
            <a:r>
              <a:rPr lang="en-GB" dirty="0"/>
              <a:t>30 channels of speech into a time-divided-multiplex</a:t>
            </a:r>
          </a:p>
        </p:txBody>
      </p:sp>
      <p:sp>
        <p:nvSpPr>
          <p:cNvPr id="4102" name="AutoShape 26"/>
          <p:cNvSpPr>
            <a:spLocks/>
          </p:cNvSpPr>
          <p:nvPr/>
        </p:nvSpPr>
        <p:spPr bwMode="auto">
          <a:xfrm rot="5400000">
            <a:off x="4485481" y="1124744"/>
            <a:ext cx="287338" cy="8064500"/>
          </a:xfrm>
          <a:prstGeom prst="rightBrace">
            <a:avLst>
              <a:gd name="adj1" fmla="val 233885"/>
              <a:gd name="adj2" fmla="val 50000"/>
            </a:avLst>
          </a:prstGeom>
          <a:noFill/>
          <a:ln w="9525">
            <a:solidFill>
              <a:schemeClr val="tx1"/>
            </a:solidFill>
            <a:round/>
            <a:headEnd/>
            <a:tailEnd/>
          </a:ln>
        </p:spPr>
        <p:txBody>
          <a:bodyPr wrap="none" anchor="ctr"/>
          <a:lstStyle/>
          <a:p>
            <a:endParaRPr lang="en-US"/>
          </a:p>
        </p:txBody>
      </p:sp>
      <p:sp>
        <p:nvSpPr>
          <p:cNvPr id="4103" name="Rectangle 27"/>
          <p:cNvSpPr>
            <a:spLocks noChangeArrowheads="1"/>
          </p:cNvSpPr>
          <p:nvPr/>
        </p:nvSpPr>
        <p:spPr bwMode="auto">
          <a:xfrm>
            <a:off x="-14288" y="4408488"/>
            <a:ext cx="611188" cy="215900"/>
          </a:xfrm>
          <a:prstGeom prst="rect">
            <a:avLst/>
          </a:prstGeom>
          <a:noFill/>
          <a:ln w="9525">
            <a:solidFill>
              <a:schemeClr val="tx1"/>
            </a:solidFill>
            <a:prstDash val="dash"/>
            <a:miter lim="800000"/>
            <a:headEnd/>
            <a:tailEnd/>
          </a:ln>
        </p:spPr>
        <p:txBody>
          <a:bodyPr wrap="none" anchor="ctr"/>
          <a:lstStyle/>
          <a:p>
            <a:endParaRPr lang="en-US"/>
          </a:p>
        </p:txBody>
      </p:sp>
      <p:sp>
        <p:nvSpPr>
          <p:cNvPr id="4104" name="Rectangle 28"/>
          <p:cNvSpPr>
            <a:spLocks noChangeArrowheads="1"/>
          </p:cNvSpPr>
          <p:nvPr/>
        </p:nvSpPr>
        <p:spPr bwMode="auto">
          <a:xfrm>
            <a:off x="8661400" y="4408488"/>
            <a:ext cx="468313" cy="215900"/>
          </a:xfrm>
          <a:prstGeom prst="rect">
            <a:avLst/>
          </a:prstGeom>
          <a:noFill/>
          <a:ln w="9525">
            <a:solidFill>
              <a:schemeClr val="tx1"/>
            </a:solidFill>
            <a:prstDash val="dash"/>
            <a:miter lim="800000"/>
            <a:headEnd/>
            <a:tailEnd/>
          </a:ln>
        </p:spPr>
        <p:txBody>
          <a:bodyPr wrap="none" anchor="ctr"/>
          <a:lstStyle/>
          <a:p>
            <a:endParaRPr lang="en-US"/>
          </a:p>
        </p:txBody>
      </p:sp>
      <p:sp>
        <p:nvSpPr>
          <p:cNvPr id="4105" name="Text Box 29"/>
          <p:cNvSpPr txBox="1">
            <a:spLocks noChangeArrowheads="1"/>
          </p:cNvSpPr>
          <p:nvPr/>
        </p:nvSpPr>
        <p:spPr bwMode="auto">
          <a:xfrm>
            <a:off x="93663" y="4697413"/>
            <a:ext cx="9137650" cy="246062"/>
          </a:xfrm>
          <a:prstGeom prst="rect">
            <a:avLst/>
          </a:prstGeom>
          <a:noFill/>
          <a:ln w="9525">
            <a:noFill/>
            <a:miter lim="800000"/>
            <a:headEnd/>
            <a:tailEnd/>
          </a:ln>
        </p:spPr>
        <p:txBody>
          <a:bodyPr wrap="none">
            <a:spAutoFit/>
          </a:bodyPr>
          <a:lstStyle/>
          <a:p>
            <a:r>
              <a:rPr lang="en-GB" sz="1000"/>
              <a:t>TS1             TS2            TS3           TS4          TS5                 TS6                    TS7           TS8 …………………………………………………………………. </a:t>
            </a:r>
            <a:endParaRPr lang="en-US" sz="1000"/>
          </a:p>
        </p:txBody>
      </p:sp>
      <p:pic>
        <p:nvPicPr>
          <p:cNvPr id="4106" name="Picture 30"/>
          <p:cNvPicPr>
            <a:picLocks noChangeAspect="1" noChangeArrowheads="1"/>
          </p:cNvPicPr>
          <p:nvPr/>
        </p:nvPicPr>
        <p:blipFill>
          <a:blip r:embed="rId2" cstate="print"/>
          <a:srcRect/>
          <a:stretch>
            <a:fillRect/>
          </a:stretch>
        </p:blipFill>
        <p:spPr bwMode="auto">
          <a:xfrm>
            <a:off x="381000" y="1773238"/>
            <a:ext cx="8763000" cy="1009650"/>
          </a:xfrm>
          <a:prstGeom prst="rect">
            <a:avLst/>
          </a:prstGeom>
          <a:noFill/>
          <a:ln w="9525">
            <a:noFill/>
            <a:miter lim="800000"/>
            <a:headEnd/>
            <a:tailEnd/>
          </a:ln>
        </p:spPr>
      </p:pic>
      <p:sp>
        <p:nvSpPr>
          <p:cNvPr id="4107" name="Line 31"/>
          <p:cNvSpPr>
            <a:spLocks noChangeShapeType="1"/>
          </p:cNvSpPr>
          <p:nvPr/>
        </p:nvSpPr>
        <p:spPr bwMode="auto">
          <a:xfrm flipH="1">
            <a:off x="-2" y="2672096"/>
            <a:ext cx="4284661" cy="1117266"/>
          </a:xfrm>
          <a:prstGeom prst="line">
            <a:avLst/>
          </a:prstGeom>
          <a:noFill/>
          <a:ln w="38100">
            <a:solidFill>
              <a:srgbClr val="FF3300"/>
            </a:solidFill>
            <a:round/>
            <a:headEnd/>
            <a:tailEnd type="triangle" w="med" len="med"/>
          </a:ln>
        </p:spPr>
        <p:txBody>
          <a:bodyPr/>
          <a:lstStyle/>
          <a:p>
            <a:endParaRPr lang="en-GB"/>
          </a:p>
        </p:txBody>
      </p:sp>
      <p:sp>
        <p:nvSpPr>
          <p:cNvPr id="4108" name="Line 32"/>
          <p:cNvSpPr>
            <a:spLocks noChangeShapeType="1"/>
          </p:cNvSpPr>
          <p:nvPr/>
        </p:nvSpPr>
        <p:spPr bwMode="auto">
          <a:xfrm flipH="1">
            <a:off x="4140197" y="2722896"/>
            <a:ext cx="280043" cy="1498268"/>
          </a:xfrm>
          <a:prstGeom prst="line">
            <a:avLst/>
          </a:prstGeom>
          <a:noFill/>
          <a:ln w="38100">
            <a:solidFill>
              <a:srgbClr val="FF3300"/>
            </a:solidFill>
            <a:round/>
            <a:headEnd/>
            <a:tailEnd type="triangle" w="med" len="med"/>
          </a:ln>
        </p:spPr>
        <p:txBody>
          <a:bodyPr/>
          <a:lstStyle/>
          <a:p>
            <a:endParaRPr lang="en-GB"/>
          </a:p>
        </p:txBody>
      </p:sp>
      <p:sp>
        <p:nvSpPr>
          <p:cNvPr id="4109" name="Line 33"/>
          <p:cNvSpPr>
            <a:spLocks noChangeShapeType="1"/>
          </p:cNvSpPr>
          <p:nvPr/>
        </p:nvSpPr>
        <p:spPr bwMode="auto">
          <a:xfrm>
            <a:off x="4592763" y="2700670"/>
            <a:ext cx="4551238" cy="1088693"/>
          </a:xfrm>
          <a:prstGeom prst="line">
            <a:avLst/>
          </a:prstGeom>
          <a:noFill/>
          <a:ln w="38100">
            <a:solidFill>
              <a:srgbClr val="FF3300"/>
            </a:solidFill>
            <a:round/>
            <a:headEnd/>
            <a:tailEnd type="triangle" w="med" len="med"/>
          </a:ln>
        </p:spPr>
        <p:txBody>
          <a:bodyPr/>
          <a:lstStyle/>
          <a:p>
            <a:endParaRPr lang="en-GB"/>
          </a:p>
        </p:txBody>
      </p:sp>
      <p:sp>
        <p:nvSpPr>
          <p:cNvPr id="4113" name="Text Box 37"/>
          <p:cNvSpPr txBox="1">
            <a:spLocks noChangeArrowheads="1"/>
          </p:cNvSpPr>
          <p:nvPr/>
        </p:nvSpPr>
        <p:spPr bwMode="auto">
          <a:xfrm>
            <a:off x="381000" y="2924175"/>
            <a:ext cx="8129588" cy="338138"/>
          </a:xfrm>
          <a:prstGeom prst="rect">
            <a:avLst/>
          </a:prstGeom>
          <a:solidFill>
            <a:schemeClr val="bg1"/>
          </a:solidFill>
          <a:ln w="9525">
            <a:solidFill>
              <a:srgbClr val="FF3300"/>
            </a:solidFill>
            <a:miter lim="800000"/>
            <a:headEnd/>
            <a:tailEnd/>
          </a:ln>
        </p:spPr>
        <p:txBody>
          <a:bodyPr wrap="none">
            <a:spAutoFit/>
          </a:bodyPr>
          <a:lstStyle/>
          <a:p>
            <a:r>
              <a:rPr lang="en-GB" sz="1600"/>
              <a:t>Analogue – Digital:  Samples are dropped into allocated timeslot for each frame</a:t>
            </a:r>
            <a:endParaRPr lang="en-US" sz="1600"/>
          </a:p>
        </p:txBody>
      </p:sp>
      <p:sp>
        <p:nvSpPr>
          <p:cNvPr id="4114" name="Text Box 38"/>
          <p:cNvSpPr txBox="1">
            <a:spLocks noChangeArrowheads="1"/>
          </p:cNvSpPr>
          <p:nvPr/>
        </p:nvSpPr>
        <p:spPr bwMode="auto">
          <a:xfrm>
            <a:off x="381000" y="3644900"/>
            <a:ext cx="2246313" cy="307975"/>
          </a:xfrm>
          <a:prstGeom prst="rect">
            <a:avLst/>
          </a:prstGeom>
          <a:noFill/>
          <a:ln w="9525">
            <a:noFill/>
            <a:miter lim="800000"/>
            <a:headEnd/>
            <a:tailEnd/>
          </a:ln>
        </p:spPr>
        <p:txBody>
          <a:bodyPr>
            <a:spAutoFit/>
          </a:bodyPr>
          <a:lstStyle/>
          <a:p>
            <a:pPr algn="ctr"/>
            <a:r>
              <a:rPr lang="en-GB" sz="1400"/>
              <a:t>TS6 previous frame</a:t>
            </a:r>
            <a:endParaRPr lang="en-US" sz="1400"/>
          </a:p>
        </p:txBody>
      </p:sp>
      <p:sp>
        <p:nvSpPr>
          <p:cNvPr id="4115" name="Text Box 39"/>
          <p:cNvSpPr txBox="1">
            <a:spLocks noChangeArrowheads="1"/>
          </p:cNvSpPr>
          <p:nvPr/>
        </p:nvSpPr>
        <p:spPr bwMode="auto">
          <a:xfrm>
            <a:off x="4284663" y="3789363"/>
            <a:ext cx="1449387" cy="307975"/>
          </a:xfrm>
          <a:prstGeom prst="rect">
            <a:avLst/>
          </a:prstGeom>
          <a:noFill/>
          <a:ln w="9525">
            <a:noFill/>
            <a:miter lim="800000"/>
            <a:headEnd/>
            <a:tailEnd/>
          </a:ln>
        </p:spPr>
        <p:txBody>
          <a:bodyPr wrap="none">
            <a:spAutoFit/>
          </a:bodyPr>
          <a:lstStyle/>
          <a:p>
            <a:r>
              <a:rPr lang="en-GB" sz="1400"/>
              <a:t>TS6 this frame</a:t>
            </a:r>
            <a:endParaRPr lang="en-US" sz="1400"/>
          </a:p>
        </p:txBody>
      </p:sp>
      <p:sp>
        <p:nvSpPr>
          <p:cNvPr id="4116" name="Text Box 40"/>
          <p:cNvSpPr txBox="1">
            <a:spLocks noChangeArrowheads="1"/>
          </p:cNvSpPr>
          <p:nvPr/>
        </p:nvSpPr>
        <p:spPr bwMode="auto">
          <a:xfrm>
            <a:off x="6948488" y="3429000"/>
            <a:ext cx="1516062" cy="307975"/>
          </a:xfrm>
          <a:prstGeom prst="rect">
            <a:avLst/>
          </a:prstGeom>
          <a:noFill/>
          <a:ln w="9525">
            <a:noFill/>
            <a:miter lim="800000"/>
            <a:headEnd/>
            <a:tailEnd/>
          </a:ln>
        </p:spPr>
        <p:txBody>
          <a:bodyPr wrap="none">
            <a:spAutoFit/>
          </a:bodyPr>
          <a:lstStyle/>
          <a:p>
            <a:r>
              <a:rPr lang="en-GB" sz="1400"/>
              <a:t>TS6 next frame</a:t>
            </a:r>
            <a:endParaRPr lang="en-US" sz="1400"/>
          </a:p>
        </p:txBody>
      </p:sp>
      <p:sp>
        <p:nvSpPr>
          <p:cNvPr id="39" name="Text Box 18"/>
          <p:cNvSpPr txBox="1">
            <a:spLocks noChangeArrowheads="1"/>
          </p:cNvSpPr>
          <p:nvPr/>
        </p:nvSpPr>
        <p:spPr bwMode="auto">
          <a:xfrm>
            <a:off x="381000" y="981075"/>
            <a:ext cx="7653057" cy="338554"/>
          </a:xfrm>
          <a:prstGeom prst="rect">
            <a:avLst/>
          </a:prstGeom>
          <a:noFill/>
          <a:ln w="9525">
            <a:noFill/>
            <a:miter lim="800000"/>
            <a:headEnd/>
            <a:tailEnd/>
          </a:ln>
        </p:spPr>
        <p:txBody>
          <a:bodyPr wrap="none">
            <a:spAutoFit/>
          </a:bodyPr>
          <a:lstStyle/>
          <a:p>
            <a:r>
              <a:rPr lang="en-GB" dirty="0"/>
              <a:t>Many phone calls at the same time allocated to other slots in the multiplex </a:t>
            </a:r>
            <a:endParaRPr lang="en-US" dirty="0"/>
          </a:p>
        </p:txBody>
      </p:sp>
      <p:cxnSp>
        <p:nvCxnSpPr>
          <p:cNvPr id="32" name="Straight Arrow Connector 31"/>
          <p:cNvCxnSpPr/>
          <p:nvPr/>
        </p:nvCxnSpPr>
        <p:spPr bwMode="auto">
          <a:xfrm>
            <a:off x="4395878" y="1916113"/>
            <a:ext cx="1" cy="784557"/>
          </a:xfrm>
          <a:prstGeom prst="straightConnector1">
            <a:avLst/>
          </a:prstGeom>
          <a:solidFill>
            <a:schemeClr val="accent1"/>
          </a:solidFill>
          <a:ln w="28575" cap="flat" cmpd="sng" algn="ctr">
            <a:solidFill>
              <a:srgbClr val="FF0000"/>
            </a:solidFill>
            <a:prstDash val="solid"/>
            <a:round/>
            <a:headEnd type="none" w="med" len="med"/>
            <a:tailEnd type="triangle"/>
          </a:ln>
          <a:effectLst/>
        </p:spPr>
      </p:cxnSp>
      <p:cxnSp>
        <p:nvCxnSpPr>
          <p:cNvPr id="33" name="Straight Arrow Connector 32"/>
          <p:cNvCxnSpPr/>
          <p:nvPr/>
        </p:nvCxnSpPr>
        <p:spPr bwMode="auto">
          <a:xfrm flipH="1">
            <a:off x="4445481" y="1715512"/>
            <a:ext cx="16077" cy="1009650"/>
          </a:xfrm>
          <a:prstGeom prst="straightConnector1">
            <a:avLst/>
          </a:prstGeom>
          <a:solidFill>
            <a:schemeClr val="accent1"/>
          </a:solidFill>
          <a:ln w="28575" cap="flat" cmpd="sng" algn="ctr">
            <a:solidFill>
              <a:srgbClr val="FF0000"/>
            </a:solidFill>
            <a:prstDash val="solid"/>
            <a:round/>
            <a:headEnd type="none" w="med" len="med"/>
            <a:tailEnd type="triangle"/>
          </a:ln>
          <a:effectLst/>
        </p:spPr>
      </p:cxnSp>
      <p:cxnSp>
        <p:nvCxnSpPr>
          <p:cNvPr id="34" name="Straight Arrow Connector 33"/>
          <p:cNvCxnSpPr/>
          <p:nvPr/>
        </p:nvCxnSpPr>
        <p:spPr bwMode="auto">
          <a:xfrm flipH="1">
            <a:off x="4511411" y="1732129"/>
            <a:ext cx="16077" cy="1009650"/>
          </a:xfrm>
          <a:prstGeom prst="straightConnector1">
            <a:avLst/>
          </a:prstGeom>
          <a:solidFill>
            <a:schemeClr val="accent1"/>
          </a:solidFill>
          <a:ln w="28575" cap="flat" cmpd="sng" algn="ctr">
            <a:solidFill>
              <a:srgbClr val="FF0000"/>
            </a:solidFill>
            <a:prstDash val="solid"/>
            <a:round/>
            <a:headEnd type="none" w="med" len="med"/>
            <a:tailEnd type="triangle"/>
          </a:ln>
          <a:effectLst/>
        </p:spPr>
      </p:cxnSp>
    </p:spTree>
    <p:extLst>
      <p:ext uri="{BB962C8B-B14F-4D97-AF65-F5344CB8AC3E}">
        <p14:creationId xmlns:p14="http://schemas.microsoft.com/office/powerpoint/2010/main" val="2660715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circuit switching in a telephone network"/>
          <p:cNvPicPr>
            <a:picLocks noChangeAspect="1" noChangeArrowheads="1"/>
          </p:cNvPicPr>
          <p:nvPr/>
        </p:nvPicPr>
        <p:blipFill rotWithShape="1">
          <a:blip r:embed="rId2" cstate="print"/>
          <a:srcRect t="8412"/>
          <a:stretch/>
        </p:blipFill>
        <p:spPr bwMode="auto">
          <a:xfrm>
            <a:off x="752475" y="1477926"/>
            <a:ext cx="7767638" cy="4113249"/>
          </a:xfrm>
          <a:prstGeom prst="rect">
            <a:avLst/>
          </a:prstGeom>
          <a:noFill/>
          <a:ln w="9525">
            <a:noFill/>
            <a:miter lim="800000"/>
            <a:headEnd/>
            <a:tailEnd/>
          </a:ln>
        </p:spPr>
      </p:pic>
      <p:sp>
        <p:nvSpPr>
          <p:cNvPr id="5123" name="Rectangle 3"/>
          <p:cNvSpPr>
            <a:spLocks noChangeArrowheads="1"/>
          </p:cNvSpPr>
          <p:nvPr/>
        </p:nvSpPr>
        <p:spPr bwMode="auto">
          <a:xfrm>
            <a:off x="395288" y="331788"/>
            <a:ext cx="4685898" cy="461665"/>
          </a:xfrm>
          <a:prstGeom prst="rect">
            <a:avLst/>
          </a:prstGeom>
          <a:noFill/>
          <a:ln w="9525">
            <a:noFill/>
            <a:miter lim="800000"/>
            <a:headEnd/>
            <a:tailEnd/>
          </a:ln>
        </p:spPr>
        <p:txBody>
          <a:bodyPr wrap="none">
            <a:spAutoFit/>
          </a:bodyPr>
          <a:lstStyle/>
          <a:p>
            <a:r>
              <a:rPr lang="en-GB" sz="2400" b="1" dirty="0"/>
              <a:t>Circuit Switching in a Network</a:t>
            </a:r>
            <a:endParaRPr lang="en-US" sz="2400" b="1" dirty="0"/>
          </a:p>
        </p:txBody>
      </p:sp>
      <p:sp>
        <p:nvSpPr>
          <p:cNvPr id="5124" name="Rectangle 4"/>
          <p:cNvSpPr>
            <a:spLocks noChangeArrowheads="1"/>
          </p:cNvSpPr>
          <p:nvPr/>
        </p:nvSpPr>
        <p:spPr bwMode="auto">
          <a:xfrm>
            <a:off x="4572000" y="6194425"/>
            <a:ext cx="4572000" cy="246063"/>
          </a:xfrm>
          <a:prstGeom prst="rect">
            <a:avLst/>
          </a:prstGeom>
          <a:noFill/>
          <a:ln w="9525">
            <a:noFill/>
            <a:miter lim="800000"/>
            <a:headEnd/>
            <a:tailEnd/>
          </a:ln>
        </p:spPr>
        <p:txBody>
          <a:bodyPr>
            <a:spAutoFit/>
          </a:bodyPr>
          <a:lstStyle/>
          <a:p>
            <a:r>
              <a:rPr lang="en-US" sz="1000"/>
              <a:t>http://www.highteck.net/EN/Basic/Internetworking.html</a:t>
            </a:r>
          </a:p>
        </p:txBody>
      </p:sp>
      <p:sp>
        <p:nvSpPr>
          <p:cNvPr id="2" name="TextBox 1"/>
          <p:cNvSpPr txBox="1"/>
          <p:nvPr/>
        </p:nvSpPr>
        <p:spPr>
          <a:xfrm>
            <a:off x="890698" y="5268009"/>
            <a:ext cx="2171478" cy="646331"/>
          </a:xfrm>
          <a:prstGeom prst="rect">
            <a:avLst/>
          </a:prstGeom>
          <a:noFill/>
        </p:spPr>
        <p:txBody>
          <a:bodyPr wrap="square" rtlCol="0">
            <a:spAutoFit/>
          </a:bodyPr>
          <a:lstStyle/>
          <a:p>
            <a:r>
              <a:rPr lang="en-GB" sz="1200" dirty="0"/>
              <a:t>... a waste of resources when there is no data to transmit</a:t>
            </a:r>
          </a:p>
        </p:txBody>
      </p:sp>
      <p:sp>
        <p:nvSpPr>
          <p:cNvPr id="6" name="Text Box 61"/>
          <p:cNvSpPr txBox="1">
            <a:spLocks noChangeArrowheads="1"/>
          </p:cNvSpPr>
          <p:nvPr/>
        </p:nvSpPr>
        <p:spPr bwMode="auto">
          <a:xfrm>
            <a:off x="5614219" y="346686"/>
            <a:ext cx="3288992" cy="1015663"/>
          </a:xfrm>
          <a:prstGeom prst="rect">
            <a:avLst/>
          </a:prstGeom>
          <a:solidFill>
            <a:srgbClr val="FFFF00"/>
          </a:solidFill>
          <a:ln w="9525" algn="ctr">
            <a:solidFill>
              <a:schemeClr val="tx1"/>
            </a:solidFill>
            <a:miter lim="800000"/>
            <a:headEnd/>
            <a:tailEnd/>
          </a:ln>
        </p:spPr>
        <p:txBody>
          <a:bodyPr wrap="square">
            <a:spAutoFit/>
          </a:bodyPr>
          <a:lstStyle/>
          <a:p>
            <a:pPr marL="179388" indent="-179388">
              <a:buFontTx/>
              <a:buChar char="•"/>
            </a:pPr>
            <a:r>
              <a:rPr lang="en-US" sz="1600" dirty="0"/>
              <a:t>economy of circuits </a:t>
            </a:r>
            <a:r>
              <a:rPr lang="en-US" sz="2000" dirty="0">
                <a:solidFill>
                  <a:srgbClr val="FF0000"/>
                </a:solidFill>
                <a:latin typeface="Arial Unicode MS" panose="020B0604020202020204" pitchFamily="34" charset="-128"/>
                <a:ea typeface="Arial Unicode MS" panose="020B0604020202020204" pitchFamily="34" charset="-128"/>
                <a:cs typeface="Arial Unicode MS" panose="020B0604020202020204" pitchFamily="34" charset="-128"/>
              </a:rPr>
              <a:t>✘</a:t>
            </a:r>
            <a:endParaRPr lang="en-US" sz="1600" dirty="0">
              <a:solidFill>
                <a:srgbClr val="00B050"/>
              </a:solidFill>
            </a:endParaRPr>
          </a:p>
          <a:p>
            <a:pPr marL="179388" indent="-179388">
              <a:buFontTx/>
              <a:buChar char="•"/>
            </a:pPr>
            <a:r>
              <a:rPr lang="en-US" dirty="0"/>
              <a:t>resilience / survivability </a:t>
            </a:r>
            <a:r>
              <a:rPr lang="en-US" sz="2000" dirty="0">
                <a:solidFill>
                  <a:srgbClr val="00B050"/>
                </a:solidFill>
                <a:latin typeface="Arial Unicode MS" panose="020B0604020202020204" pitchFamily="34" charset="-128"/>
                <a:ea typeface="Arial Unicode MS" panose="020B0604020202020204" pitchFamily="34" charset="-128"/>
                <a:cs typeface="Arial Unicode MS" panose="020B0604020202020204" pitchFamily="34" charset="-128"/>
              </a:rPr>
              <a:t>- </a:t>
            </a:r>
            <a:endParaRPr lang="en-US" dirty="0">
              <a:solidFill>
                <a:srgbClr val="00B050"/>
              </a:solidFill>
            </a:endParaRPr>
          </a:p>
          <a:p>
            <a:pPr marL="179388" indent="-179388">
              <a:buFontTx/>
              <a:buChar char="•"/>
            </a:pPr>
            <a:r>
              <a:rPr lang="en-US" sz="1600" dirty="0"/>
              <a:t>latency </a:t>
            </a:r>
            <a:r>
              <a:rPr lang="en-US" sz="2000" dirty="0">
                <a:solidFill>
                  <a:srgbClr val="00B050"/>
                </a:solidFill>
                <a:latin typeface="Arial Unicode MS" panose="020B0604020202020204" pitchFamily="34" charset="-128"/>
                <a:ea typeface="Arial Unicode MS" panose="020B0604020202020204" pitchFamily="34" charset="-128"/>
                <a:cs typeface="Arial Unicode MS" panose="020B0604020202020204" pitchFamily="34" charset="-128"/>
              </a:rPr>
              <a:t>✓</a:t>
            </a:r>
            <a:endParaRPr lang="en-US" sz="1600" dirty="0">
              <a:solidFill>
                <a:srgbClr val="FF0000"/>
              </a:solidFill>
            </a:endParaRPr>
          </a:p>
        </p:txBody>
      </p:sp>
    </p:spTree>
    <p:extLst>
      <p:ext uri="{BB962C8B-B14F-4D97-AF65-F5344CB8AC3E}">
        <p14:creationId xmlns:p14="http://schemas.microsoft.com/office/powerpoint/2010/main" val="10840391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4" descr="packet switching in a data network"/>
          <p:cNvPicPr>
            <a:picLocks noChangeAspect="1" noChangeArrowheads="1"/>
          </p:cNvPicPr>
          <p:nvPr/>
        </p:nvPicPr>
        <p:blipFill rotWithShape="1">
          <a:blip r:embed="rId2" cstate="print"/>
          <a:srcRect t="6882"/>
          <a:stretch/>
        </p:blipFill>
        <p:spPr bwMode="auto">
          <a:xfrm>
            <a:off x="1019175" y="1350335"/>
            <a:ext cx="7288213" cy="4802815"/>
          </a:xfrm>
          <a:prstGeom prst="rect">
            <a:avLst/>
          </a:prstGeom>
          <a:noFill/>
          <a:ln w="9525">
            <a:noFill/>
            <a:miter lim="800000"/>
            <a:headEnd/>
            <a:tailEnd/>
          </a:ln>
        </p:spPr>
      </p:pic>
      <p:sp>
        <p:nvSpPr>
          <p:cNvPr id="6147" name="Rectangle 3"/>
          <p:cNvSpPr>
            <a:spLocks noChangeArrowheads="1"/>
          </p:cNvSpPr>
          <p:nvPr/>
        </p:nvSpPr>
        <p:spPr bwMode="auto">
          <a:xfrm>
            <a:off x="4572000" y="6194425"/>
            <a:ext cx="4572000" cy="246063"/>
          </a:xfrm>
          <a:prstGeom prst="rect">
            <a:avLst/>
          </a:prstGeom>
          <a:noFill/>
          <a:ln w="9525">
            <a:noFill/>
            <a:miter lim="800000"/>
            <a:headEnd/>
            <a:tailEnd/>
          </a:ln>
        </p:spPr>
        <p:txBody>
          <a:bodyPr>
            <a:spAutoFit/>
          </a:bodyPr>
          <a:lstStyle/>
          <a:p>
            <a:r>
              <a:rPr lang="en-US" sz="1000"/>
              <a:t>http://www.highteck.net/EN/Basic/Internetworking.html</a:t>
            </a:r>
          </a:p>
        </p:txBody>
      </p:sp>
      <p:sp>
        <p:nvSpPr>
          <p:cNvPr id="5" name="Rectangle 3"/>
          <p:cNvSpPr>
            <a:spLocks noChangeArrowheads="1"/>
          </p:cNvSpPr>
          <p:nvPr/>
        </p:nvSpPr>
        <p:spPr bwMode="auto">
          <a:xfrm>
            <a:off x="395288" y="331788"/>
            <a:ext cx="4666662" cy="461665"/>
          </a:xfrm>
          <a:prstGeom prst="rect">
            <a:avLst/>
          </a:prstGeom>
          <a:noFill/>
          <a:ln w="9525">
            <a:noFill/>
            <a:miter lim="800000"/>
            <a:headEnd/>
            <a:tailEnd/>
          </a:ln>
        </p:spPr>
        <p:txBody>
          <a:bodyPr wrap="none">
            <a:spAutoFit/>
          </a:bodyPr>
          <a:lstStyle/>
          <a:p>
            <a:r>
              <a:rPr lang="en-GB" sz="2400" b="1" dirty="0"/>
              <a:t>Packet Switching in a Network</a:t>
            </a:r>
            <a:endParaRPr lang="en-US" sz="2400" b="1" dirty="0"/>
          </a:p>
        </p:txBody>
      </p:sp>
      <p:sp>
        <p:nvSpPr>
          <p:cNvPr id="6" name="Text Box 61"/>
          <p:cNvSpPr txBox="1">
            <a:spLocks noChangeArrowheads="1"/>
          </p:cNvSpPr>
          <p:nvPr/>
        </p:nvSpPr>
        <p:spPr bwMode="auto">
          <a:xfrm>
            <a:off x="5614219" y="346686"/>
            <a:ext cx="3288992" cy="1015663"/>
          </a:xfrm>
          <a:prstGeom prst="rect">
            <a:avLst/>
          </a:prstGeom>
          <a:solidFill>
            <a:srgbClr val="FFFF00"/>
          </a:solidFill>
          <a:ln w="9525" algn="ctr">
            <a:solidFill>
              <a:schemeClr val="tx1"/>
            </a:solidFill>
            <a:miter lim="800000"/>
            <a:headEnd/>
            <a:tailEnd/>
          </a:ln>
        </p:spPr>
        <p:txBody>
          <a:bodyPr wrap="square">
            <a:spAutoFit/>
          </a:bodyPr>
          <a:lstStyle/>
          <a:p>
            <a:pPr marL="179388" indent="-179388">
              <a:buFontTx/>
              <a:buChar char="•"/>
            </a:pPr>
            <a:r>
              <a:rPr lang="en-US" sz="1600" dirty="0"/>
              <a:t>economy of circuits </a:t>
            </a:r>
            <a:r>
              <a:rPr lang="en-US" sz="2000" dirty="0">
                <a:solidFill>
                  <a:srgbClr val="00B050"/>
                </a:solidFill>
                <a:latin typeface="Arial Unicode MS" panose="020B0604020202020204" pitchFamily="34" charset="-128"/>
                <a:ea typeface="Arial Unicode MS" panose="020B0604020202020204" pitchFamily="34" charset="-128"/>
                <a:cs typeface="Arial Unicode MS" panose="020B0604020202020204" pitchFamily="34" charset="-128"/>
              </a:rPr>
              <a:t>✓</a:t>
            </a:r>
            <a:endParaRPr lang="en-US" sz="1600" dirty="0">
              <a:solidFill>
                <a:srgbClr val="00B050"/>
              </a:solidFill>
            </a:endParaRPr>
          </a:p>
          <a:p>
            <a:pPr marL="179388" indent="-179388">
              <a:buFontTx/>
              <a:buChar char="•"/>
            </a:pPr>
            <a:r>
              <a:rPr lang="en-US" dirty="0"/>
              <a:t>resilience / survivability </a:t>
            </a:r>
            <a:r>
              <a:rPr lang="en-US" sz="2000" dirty="0">
                <a:solidFill>
                  <a:srgbClr val="00B050"/>
                </a:solidFill>
                <a:latin typeface="Arial Unicode MS" panose="020B0604020202020204" pitchFamily="34" charset="-128"/>
                <a:ea typeface="Arial Unicode MS" panose="020B0604020202020204" pitchFamily="34" charset="-128"/>
                <a:cs typeface="Arial Unicode MS" panose="020B0604020202020204" pitchFamily="34" charset="-128"/>
              </a:rPr>
              <a:t>✓</a:t>
            </a:r>
            <a:endParaRPr lang="en-US" dirty="0">
              <a:solidFill>
                <a:srgbClr val="00B050"/>
              </a:solidFill>
            </a:endParaRPr>
          </a:p>
          <a:p>
            <a:pPr marL="179388" indent="-179388">
              <a:buFontTx/>
              <a:buChar char="•"/>
            </a:pPr>
            <a:r>
              <a:rPr lang="en-US" sz="1600" dirty="0"/>
              <a:t>latency </a:t>
            </a:r>
            <a:r>
              <a:rPr lang="en-US" sz="2000" dirty="0">
                <a:solidFill>
                  <a:srgbClr val="FF0000"/>
                </a:solidFill>
                <a:latin typeface="Arial Unicode MS" panose="020B0604020202020204" pitchFamily="34" charset="-128"/>
                <a:ea typeface="Arial Unicode MS" panose="020B0604020202020204" pitchFamily="34" charset="-128"/>
                <a:cs typeface="Arial Unicode MS" panose="020B0604020202020204" pitchFamily="34" charset="-128"/>
              </a:rPr>
              <a:t>✘</a:t>
            </a:r>
            <a:endParaRPr lang="en-US" sz="1600" dirty="0">
              <a:solidFill>
                <a:srgbClr val="FF0000"/>
              </a:solidFill>
            </a:endParaRPr>
          </a:p>
        </p:txBody>
      </p:sp>
    </p:spTree>
    <p:extLst>
      <p:ext uri="{BB962C8B-B14F-4D97-AF65-F5344CB8AC3E}">
        <p14:creationId xmlns:p14="http://schemas.microsoft.com/office/powerpoint/2010/main" val="37879622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Line 59"/>
          <p:cNvSpPr>
            <a:spLocks noChangeShapeType="1"/>
          </p:cNvSpPr>
          <p:nvPr/>
        </p:nvSpPr>
        <p:spPr bwMode="auto">
          <a:xfrm>
            <a:off x="684213" y="1628775"/>
            <a:ext cx="1655762" cy="2232025"/>
          </a:xfrm>
          <a:prstGeom prst="line">
            <a:avLst/>
          </a:prstGeom>
          <a:noFill/>
          <a:ln w="38100">
            <a:solidFill>
              <a:srgbClr val="E3CAC1"/>
            </a:solidFill>
            <a:round/>
            <a:headEnd/>
            <a:tailEnd type="triangle" w="med" len="med"/>
          </a:ln>
        </p:spPr>
        <p:txBody>
          <a:bodyPr>
            <a:spAutoFit/>
          </a:bodyPr>
          <a:lstStyle/>
          <a:p>
            <a:endParaRPr lang="en-GB"/>
          </a:p>
        </p:txBody>
      </p:sp>
      <p:sp>
        <p:nvSpPr>
          <p:cNvPr id="7171" name="Line 56"/>
          <p:cNvSpPr>
            <a:spLocks noChangeShapeType="1"/>
          </p:cNvSpPr>
          <p:nvPr/>
        </p:nvSpPr>
        <p:spPr bwMode="auto">
          <a:xfrm>
            <a:off x="1476375" y="2349500"/>
            <a:ext cx="2590800" cy="1511300"/>
          </a:xfrm>
          <a:prstGeom prst="line">
            <a:avLst/>
          </a:prstGeom>
          <a:noFill/>
          <a:ln w="38100">
            <a:solidFill>
              <a:schemeClr val="hlink"/>
            </a:solidFill>
            <a:round/>
            <a:headEnd/>
            <a:tailEnd type="triangle" w="med" len="med"/>
          </a:ln>
        </p:spPr>
        <p:txBody>
          <a:bodyPr>
            <a:spAutoFit/>
          </a:bodyPr>
          <a:lstStyle/>
          <a:p>
            <a:endParaRPr lang="en-GB"/>
          </a:p>
        </p:txBody>
      </p:sp>
      <p:sp>
        <p:nvSpPr>
          <p:cNvPr id="7173" name="Text Box 4"/>
          <p:cNvSpPr txBox="1">
            <a:spLocks noChangeArrowheads="1"/>
          </p:cNvSpPr>
          <p:nvPr/>
        </p:nvSpPr>
        <p:spPr bwMode="auto">
          <a:xfrm>
            <a:off x="381000" y="381000"/>
            <a:ext cx="2676525" cy="461963"/>
          </a:xfrm>
          <a:prstGeom prst="rect">
            <a:avLst/>
          </a:prstGeom>
          <a:noFill/>
          <a:ln w="9525">
            <a:noFill/>
            <a:miter lim="800000"/>
            <a:headEnd/>
            <a:tailEnd/>
          </a:ln>
        </p:spPr>
        <p:txBody>
          <a:bodyPr wrap="none">
            <a:spAutoFit/>
          </a:bodyPr>
          <a:lstStyle/>
          <a:p>
            <a:r>
              <a:rPr lang="en-GB" sz="2400" b="1"/>
              <a:t>Packet Switching</a:t>
            </a:r>
            <a:endParaRPr lang="en-US" sz="2400" b="1"/>
          </a:p>
        </p:txBody>
      </p:sp>
      <p:grpSp>
        <p:nvGrpSpPr>
          <p:cNvPr id="2" name="Group 28"/>
          <p:cNvGrpSpPr>
            <a:grpSpLocks/>
          </p:cNvGrpSpPr>
          <p:nvPr/>
        </p:nvGrpSpPr>
        <p:grpSpPr bwMode="auto">
          <a:xfrm>
            <a:off x="381000" y="1341438"/>
            <a:ext cx="2073275" cy="200025"/>
            <a:chOff x="240" y="1380"/>
            <a:chExt cx="1306" cy="126"/>
          </a:xfrm>
        </p:grpSpPr>
        <p:sp>
          <p:nvSpPr>
            <p:cNvPr id="7227" name="Text Box 10"/>
            <p:cNvSpPr txBox="1">
              <a:spLocks noChangeArrowheads="1"/>
            </p:cNvSpPr>
            <p:nvPr/>
          </p:nvSpPr>
          <p:spPr bwMode="auto">
            <a:xfrm>
              <a:off x="1147" y="1380"/>
              <a:ext cx="399" cy="126"/>
            </a:xfrm>
            <a:prstGeom prst="rect">
              <a:avLst/>
            </a:prstGeom>
            <a:solidFill>
              <a:srgbClr val="E3CAC1"/>
            </a:solidFill>
            <a:ln w="9525">
              <a:solidFill>
                <a:schemeClr val="tx1"/>
              </a:solidFill>
              <a:miter lim="800000"/>
              <a:headEnd/>
              <a:tailEnd/>
            </a:ln>
          </p:spPr>
          <p:txBody>
            <a:bodyPr wrap="none">
              <a:spAutoFit/>
            </a:bodyPr>
            <a:lstStyle/>
            <a:p>
              <a:r>
                <a:rPr lang="en-GB" sz="700"/>
                <a:t>01001001</a:t>
              </a:r>
              <a:endParaRPr lang="en-US" sz="700"/>
            </a:p>
          </p:txBody>
        </p:sp>
        <p:sp>
          <p:nvSpPr>
            <p:cNvPr id="7228" name="Text Box 12"/>
            <p:cNvSpPr txBox="1">
              <a:spLocks noChangeArrowheads="1"/>
            </p:cNvSpPr>
            <p:nvPr/>
          </p:nvSpPr>
          <p:spPr bwMode="auto">
            <a:xfrm>
              <a:off x="693" y="1380"/>
              <a:ext cx="434" cy="126"/>
            </a:xfrm>
            <a:prstGeom prst="rect">
              <a:avLst/>
            </a:prstGeom>
            <a:solidFill>
              <a:srgbClr val="E3CAC1"/>
            </a:solidFill>
            <a:ln w="9525">
              <a:solidFill>
                <a:schemeClr val="tx1"/>
              </a:solidFill>
              <a:miter lim="800000"/>
              <a:headEnd/>
              <a:tailEnd/>
            </a:ln>
          </p:spPr>
          <p:txBody>
            <a:bodyPr wrap="none">
              <a:spAutoFit/>
            </a:bodyPr>
            <a:lstStyle/>
            <a:p>
              <a:r>
                <a:rPr lang="en-GB" sz="700"/>
                <a:t>010100101</a:t>
              </a:r>
              <a:endParaRPr lang="en-US" sz="700"/>
            </a:p>
          </p:txBody>
        </p:sp>
        <p:sp>
          <p:nvSpPr>
            <p:cNvPr id="7229" name="Text Box 13"/>
            <p:cNvSpPr txBox="1">
              <a:spLocks noChangeArrowheads="1"/>
            </p:cNvSpPr>
            <p:nvPr/>
          </p:nvSpPr>
          <p:spPr bwMode="auto">
            <a:xfrm>
              <a:off x="240" y="1380"/>
              <a:ext cx="434" cy="126"/>
            </a:xfrm>
            <a:prstGeom prst="rect">
              <a:avLst/>
            </a:prstGeom>
            <a:solidFill>
              <a:srgbClr val="E3CAC1"/>
            </a:solidFill>
            <a:ln w="9525">
              <a:solidFill>
                <a:schemeClr val="tx1"/>
              </a:solidFill>
              <a:miter lim="800000"/>
              <a:headEnd/>
              <a:tailEnd/>
            </a:ln>
          </p:spPr>
          <p:txBody>
            <a:bodyPr wrap="none">
              <a:spAutoFit/>
            </a:bodyPr>
            <a:lstStyle/>
            <a:p>
              <a:r>
                <a:rPr lang="en-GB" sz="700"/>
                <a:t>010100101</a:t>
              </a:r>
              <a:endParaRPr lang="en-US" sz="700"/>
            </a:p>
          </p:txBody>
        </p:sp>
      </p:grpSp>
      <p:grpSp>
        <p:nvGrpSpPr>
          <p:cNvPr id="3" name="Group 29"/>
          <p:cNvGrpSpPr>
            <a:grpSpLocks/>
          </p:cNvGrpSpPr>
          <p:nvPr/>
        </p:nvGrpSpPr>
        <p:grpSpPr bwMode="auto">
          <a:xfrm>
            <a:off x="381000" y="2074863"/>
            <a:ext cx="1354138" cy="200025"/>
            <a:chOff x="240" y="1842"/>
            <a:chExt cx="853" cy="126"/>
          </a:xfrm>
        </p:grpSpPr>
        <p:sp>
          <p:nvSpPr>
            <p:cNvPr id="7225" name="Text Box 14"/>
            <p:cNvSpPr txBox="1">
              <a:spLocks noChangeArrowheads="1"/>
            </p:cNvSpPr>
            <p:nvPr/>
          </p:nvSpPr>
          <p:spPr bwMode="auto">
            <a:xfrm>
              <a:off x="694" y="1842"/>
              <a:ext cx="399" cy="126"/>
            </a:xfrm>
            <a:prstGeom prst="rect">
              <a:avLst/>
            </a:prstGeom>
            <a:solidFill>
              <a:schemeClr val="hlink"/>
            </a:solidFill>
            <a:ln w="9525">
              <a:solidFill>
                <a:schemeClr val="tx1"/>
              </a:solidFill>
              <a:miter lim="800000"/>
              <a:headEnd/>
              <a:tailEnd/>
            </a:ln>
          </p:spPr>
          <p:txBody>
            <a:bodyPr wrap="none">
              <a:spAutoFit/>
            </a:bodyPr>
            <a:lstStyle/>
            <a:p>
              <a:r>
                <a:rPr lang="en-GB" sz="700"/>
                <a:t>10010001</a:t>
              </a:r>
              <a:endParaRPr lang="en-US" sz="700"/>
            </a:p>
          </p:txBody>
        </p:sp>
        <p:sp>
          <p:nvSpPr>
            <p:cNvPr id="7226" name="Text Box 16"/>
            <p:cNvSpPr txBox="1">
              <a:spLocks noChangeArrowheads="1"/>
            </p:cNvSpPr>
            <p:nvPr/>
          </p:nvSpPr>
          <p:spPr bwMode="auto">
            <a:xfrm>
              <a:off x="240" y="1842"/>
              <a:ext cx="434" cy="126"/>
            </a:xfrm>
            <a:prstGeom prst="rect">
              <a:avLst/>
            </a:prstGeom>
            <a:solidFill>
              <a:schemeClr val="hlink"/>
            </a:solidFill>
            <a:ln w="9525">
              <a:solidFill>
                <a:schemeClr val="tx1"/>
              </a:solidFill>
              <a:miter lim="800000"/>
              <a:headEnd/>
              <a:tailEnd/>
            </a:ln>
          </p:spPr>
          <p:txBody>
            <a:bodyPr wrap="none">
              <a:spAutoFit/>
            </a:bodyPr>
            <a:lstStyle/>
            <a:p>
              <a:r>
                <a:rPr lang="en-GB" sz="700"/>
                <a:t>010100101</a:t>
              </a:r>
              <a:endParaRPr lang="en-US" sz="700"/>
            </a:p>
          </p:txBody>
        </p:sp>
      </p:grpSp>
      <p:grpSp>
        <p:nvGrpSpPr>
          <p:cNvPr id="4" name="Group 30"/>
          <p:cNvGrpSpPr>
            <a:grpSpLocks/>
          </p:cNvGrpSpPr>
          <p:nvPr/>
        </p:nvGrpSpPr>
        <p:grpSpPr bwMode="auto">
          <a:xfrm>
            <a:off x="381000" y="2860675"/>
            <a:ext cx="2736850" cy="200025"/>
            <a:chOff x="240" y="2337"/>
            <a:chExt cx="1724" cy="126"/>
          </a:xfrm>
        </p:grpSpPr>
        <p:sp>
          <p:nvSpPr>
            <p:cNvPr id="7221" name="Text Box 18"/>
            <p:cNvSpPr txBox="1">
              <a:spLocks noChangeArrowheads="1"/>
            </p:cNvSpPr>
            <p:nvPr/>
          </p:nvSpPr>
          <p:spPr bwMode="auto">
            <a:xfrm>
              <a:off x="694" y="2337"/>
              <a:ext cx="399" cy="126"/>
            </a:xfrm>
            <a:prstGeom prst="rect">
              <a:avLst/>
            </a:prstGeom>
            <a:solidFill>
              <a:srgbClr val="CCFF99"/>
            </a:solidFill>
            <a:ln w="9525">
              <a:solidFill>
                <a:schemeClr val="tx1"/>
              </a:solidFill>
              <a:miter lim="800000"/>
              <a:headEnd/>
              <a:tailEnd/>
            </a:ln>
          </p:spPr>
          <p:txBody>
            <a:bodyPr wrap="none">
              <a:spAutoFit/>
            </a:bodyPr>
            <a:lstStyle/>
            <a:p>
              <a:r>
                <a:rPr lang="en-GB" sz="700"/>
                <a:t>01001001</a:t>
              </a:r>
              <a:endParaRPr lang="en-US" sz="700"/>
            </a:p>
          </p:txBody>
        </p:sp>
        <p:sp>
          <p:nvSpPr>
            <p:cNvPr id="7222" name="Text Box 19"/>
            <p:cNvSpPr txBox="1">
              <a:spLocks noChangeArrowheads="1"/>
            </p:cNvSpPr>
            <p:nvPr/>
          </p:nvSpPr>
          <p:spPr bwMode="auto">
            <a:xfrm>
              <a:off x="240" y="2337"/>
              <a:ext cx="434" cy="126"/>
            </a:xfrm>
            <a:prstGeom prst="rect">
              <a:avLst/>
            </a:prstGeom>
            <a:solidFill>
              <a:srgbClr val="CCFF99"/>
            </a:solidFill>
            <a:ln w="9525">
              <a:solidFill>
                <a:schemeClr val="tx1"/>
              </a:solidFill>
              <a:miter lim="800000"/>
              <a:headEnd/>
              <a:tailEnd/>
            </a:ln>
          </p:spPr>
          <p:txBody>
            <a:bodyPr wrap="none">
              <a:spAutoFit/>
            </a:bodyPr>
            <a:lstStyle/>
            <a:p>
              <a:r>
                <a:rPr lang="en-GB" sz="700"/>
                <a:t>010100101</a:t>
              </a:r>
              <a:endParaRPr lang="en-US" sz="700"/>
            </a:p>
          </p:txBody>
        </p:sp>
        <p:sp>
          <p:nvSpPr>
            <p:cNvPr id="7223" name="Text Box 22"/>
            <p:cNvSpPr txBox="1">
              <a:spLocks noChangeArrowheads="1"/>
            </p:cNvSpPr>
            <p:nvPr/>
          </p:nvSpPr>
          <p:spPr bwMode="auto">
            <a:xfrm>
              <a:off x="1565" y="2337"/>
              <a:ext cx="399" cy="126"/>
            </a:xfrm>
            <a:prstGeom prst="rect">
              <a:avLst/>
            </a:prstGeom>
            <a:solidFill>
              <a:srgbClr val="CCFF99"/>
            </a:solidFill>
            <a:ln w="9525">
              <a:solidFill>
                <a:schemeClr val="tx1"/>
              </a:solidFill>
              <a:miter lim="800000"/>
              <a:headEnd/>
              <a:tailEnd/>
            </a:ln>
          </p:spPr>
          <p:txBody>
            <a:bodyPr wrap="none">
              <a:spAutoFit/>
            </a:bodyPr>
            <a:lstStyle/>
            <a:p>
              <a:r>
                <a:rPr lang="en-GB" sz="700"/>
                <a:t>01001001</a:t>
              </a:r>
              <a:endParaRPr lang="en-US" sz="700"/>
            </a:p>
          </p:txBody>
        </p:sp>
        <p:sp>
          <p:nvSpPr>
            <p:cNvPr id="7224" name="Text Box 23"/>
            <p:cNvSpPr txBox="1">
              <a:spLocks noChangeArrowheads="1"/>
            </p:cNvSpPr>
            <p:nvPr/>
          </p:nvSpPr>
          <p:spPr bwMode="auto">
            <a:xfrm>
              <a:off x="1111" y="2337"/>
              <a:ext cx="434" cy="126"/>
            </a:xfrm>
            <a:prstGeom prst="rect">
              <a:avLst/>
            </a:prstGeom>
            <a:solidFill>
              <a:srgbClr val="CCFF99"/>
            </a:solidFill>
            <a:ln w="9525">
              <a:solidFill>
                <a:schemeClr val="tx1"/>
              </a:solidFill>
              <a:miter lim="800000"/>
              <a:headEnd/>
              <a:tailEnd/>
            </a:ln>
          </p:spPr>
          <p:txBody>
            <a:bodyPr wrap="none">
              <a:spAutoFit/>
            </a:bodyPr>
            <a:lstStyle/>
            <a:p>
              <a:r>
                <a:rPr lang="en-GB" sz="700"/>
                <a:t>010100101</a:t>
              </a:r>
              <a:endParaRPr lang="en-US" sz="700"/>
            </a:p>
          </p:txBody>
        </p:sp>
      </p:grpSp>
      <p:sp>
        <p:nvSpPr>
          <p:cNvPr id="7177" name="Text Box 25"/>
          <p:cNvSpPr txBox="1">
            <a:spLocks noChangeArrowheads="1"/>
          </p:cNvSpPr>
          <p:nvPr/>
        </p:nvSpPr>
        <p:spPr bwMode="auto">
          <a:xfrm>
            <a:off x="381000" y="995363"/>
            <a:ext cx="1622425" cy="338137"/>
          </a:xfrm>
          <a:prstGeom prst="rect">
            <a:avLst/>
          </a:prstGeom>
          <a:noFill/>
          <a:ln w="9525" algn="ctr">
            <a:noFill/>
            <a:miter lim="800000"/>
            <a:headEnd/>
            <a:tailEnd/>
          </a:ln>
        </p:spPr>
        <p:txBody>
          <a:bodyPr wrap="none">
            <a:spAutoFit/>
          </a:bodyPr>
          <a:lstStyle/>
          <a:p>
            <a:r>
              <a:rPr lang="en-GB" sz="1600" dirty="0"/>
              <a:t>digitised voice</a:t>
            </a:r>
            <a:endParaRPr lang="en-US" sz="1600" dirty="0"/>
          </a:p>
        </p:txBody>
      </p:sp>
      <p:sp>
        <p:nvSpPr>
          <p:cNvPr id="7178" name="Text Box 26"/>
          <p:cNvSpPr txBox="1">
            <a:spLocks noChangeArrowheads="1"/>
          </p:cNvSpPr>
          <p:nvPr/>
        </p:nvSpPr>
        <p:spPr bwMode="auto">
          <a:xfrm>
            <a:off x="381000" y="1787525"/>
            <a:ext cx="1311578" cy="338554"/>
          </a:xfrm>
          <a:prstGeom prst="rect">
            <a:avLst/>
          </a:prstGeom>
          <a:noFill/>
          <a:ln w="9525" algn="ctr">
            <a:noFill/>
            <a:miter lim="800000"/>
            <a:headEnd/>
            <a:tailEnd/>
          </a:ln>
        </p:spPr>
        <p:txBody>
          <a:bodyPr wrap="none">
            <a:spAutoFit/>
          </a:bodyPr>
          <a:lstStyle/>
          <a:p>
            <a:r>
              <a:rPr lang="en-GB" sz="1600" dirty="0"/>
              <a:t>digital data</a:t>
            </a:r>
            <a:endParaRPr lang="en-US" sz="1600" dirty="0"/>
          </a:p>
        </p:txBody>
      </p:sp>
      <p:sp>
        <p:nvSpPr>
          <p:cNvPr id="7179" name="Text Box 27"/>
          <p:cNvSpPr txBox="1">
            <a:spLocks noChangeArrowheads="1"/>
          </p:cNvSpPr>
          <p:nvPr/>
        </p:nvSpPr>
        <p:spPr bwMode="auto">
          <a:xfrm>
            <a:off x="381000" y="2571750"/>
            <a:ext cx="1486304" cy="338554"/>
          </a:xfrm>
          <a:prstGeom prst="rect">
            <a:avLst/>
          </a:prstGeom>
          <a:noFill/>
          <a:ln w="9525" algn="ctr">
            <a:noFill/>
            <a:miter lim="800000"/>
            <a:headEnd/>
            <a:tailEnd/>
          </a:ln>
        </p:spPr>
        <p:txBody>
          <a:bodyPr wrap="none">
            <a:spAutoFit/>
          </a:bodyPr>
          <a:lstStyle/>
          <a:p>
            <a:r>
              <a:rPr lang="en-GB" sz="1600" dirty="0"/>
              <a:t>digital media</a:t>
            </a:r>
            <a:endParaRPr lang="en-US" sz="1600" dirty="0"/>
          </a:p>
        </p:txBody>
      </p:sp>
      <p:grpSp>
        <p:nvGrpSpPr>
          <p:cNvPr id="5" name="Group 31"/>
          <p:cNvGrpSpPr>
            <a:grpSpLocks/>
          </p:cNvGrpSpPr>
          <p:nvPr/>
        </p:nvGrpSpPr>
        <p:grpSpPr bwMode="auto">
          <a:xfrm>
            <a:off x="1331913" y="3933825"/>
            <a:ext cx="2136775" cy="215900"/>
            <a:chOff x="240" y="1380"/>
            <a:chExt cx="1346" cy="136"/>
          </a:xfrm>
        </p:grpSpPr>
        <p:sp>
          <p:nvSpPr>
            <p:cNvPr id="7218" name="Text Box 32"/>
            <p:cNvSpPr txBox="1">
              <a:spLocks noChangeArrowheads="1"/>
            </p:cNvSpPr>
            <p:nvPr/>
          </p:nvSpPr>
          <p:spPr bwMode="auto">
            <a:xfrm>
              <a:off x="1147" y="1380"/>
              <a:ext cx="439" cy="136"/>
            </a:xfrm>
            <a:prstGeom prst="rect">
              <a:avLst/>
            </a:prstGeom>
            <a:solidFill>
              <a:srgbClr val="E3CAC1"/>
            </a:solidFill>
            <a:ln w="9525">
              <a:solidFill>
                <a:schemeClr val="tx1"/>
              </a:solidFill>
              <a:miter lim="800000"/>
              <a:headEnd/>
              <a:tailEnd/>
            </a:ln>
          </p:spPr>
          <p:txBody>
            <a:bodyPr wrap="none">
              <a:spAutoFit/>
            </a:bodyPr>
            <a:lstStyle/>
            <a:p>
              <a:r>
                <a:rPr lang="en-GB" sz="800"/>
                <a:t>01001001</a:t>
              </a:r>
              <a:endParaRPr lang="en-US" sz="800"/>
            </a:p>
          </p:txBody>
        </p:sp>
        <p:sp>
          <p:nvSpPr>
            <p:cNvPr id="7219" name="Text Box 33"/>
            <p:cNvSpPr txBox="1">
              <a:spLocks noChangeArrowheads="1"/>
            </p:cNvSpPr>
            <p:nvPr/>
          </p:nvSpPr>
          <p:spPr bwMode="auto">
            <a:xfrm>
              <a:off x="693" y="1380"/>
              <a:ext cx="480" cy="136"/>
            </a:xfrm>
            <a:prstGeom prst="rect">
              <a:avLst/>
            </a:prstGeom>
            <a:solidFill>
              <a:srgbClr val="E3CAC1"/>
            </a:solidFill>
            <a:ln w="9525">
              <a:solidFill>
                <a:schemeClr val="tx1"/>
              </a:solidFill>
              <a:miter lim="800000"/>
              <a:headEnd/>
              <a:tailEnd/>
            </a:ln>
          </p:spPr>
          <p:txBody>
            <a:bodyPr wrap="none">
              <a:spAutoFit/>
            </a:bodyPr>
            <a:lstStyle/>
            <a:p>
              <a:r>
                <a:rPr lang="en-GB" sz="800"/>
                <a:t>010100101</a:t>
              </a:r>
              <a:endParaRPr lang="en-US" sz="800"/>
            </a:p>
          </p:txBody>
        </p:sp>
        <p:sp>
          <p:nvSpPr>
            <p:cNvPr id="7220" name="Text Box 34"/>
            <p:cNvSpPr txBox="1">
              <a:spLocks noChangeArrowheads="1"/>
            </p:cNvSpPr>
            <p:nvPr/>
          </p:nvSpPr>
          <p:spPr bwMode="auto">
            <a:xfrm>
              <a:off x="240" y="1380"/>
              <a:ext cx="480" cy="136"/>
            </a:xfrm>
            <a:prstGeom prst="rect">
              <a:avLst/>
            </a:prstGeom>
            <a:solidFill>
              <a:srgbClr val="E3CAC1"/>
            </a:solidFill>
            <a:ln w="9525">
              <a:solidFill>
                <a:schemeClr val="tx1"/>
              </a:solidFill>
              <a:miter lim="800000"/>
              <a:headEnd/>
              <a:tailEnd/>
            </a:ln>
          </p:spPr>
          <p:txBody>
            <a:bodyPr wrap="none">
              <a:spAutoFit/>
            </a:bodyPr>
            <a:lstStyle/>
            <a:p>
              <a:r>
                <a:rPr lang="en-GB" sz="800"/>
                <a:t>010100101</a:t>
              </a:r>
              <a:endParaRPr lang="en-US" sz="800"/>
            </a:p>
          </p:txBody>
        </p:sp>
      </p:grpSp>
      <p:grpSp>
        <p:nvGrpSpPr>
          <p:cNvPr id="6" name="Group 35"/>
          <p:cNvGrpSpPr>
            <a:grpSpLocks/>
          </p:cNvGrpSpPr>
          <p:nvPr/>
        </p:nvGrpSpPr>
        <p:grpSpPr bwMode="auto">
          <a:xfrm>
            <a:off x="3708400" y="3933825"/>
            <a:ext cx="1417638" cy="215900"/>
            <a:chOff x="240" y="1842"/>
            <a:chExt cx="893" cy="136"/>
          </a:xfrm>
        </p:grpSpPr>
        <p:sp>
          <p:nvSpPr>
            <p:cNvPr id="7216" name="Text Box 36"/>
            <p:cNvSpPr txBox="1">
              <a:spLocks noChangeArrowheads="1"/>
            </p:cNvSpPr>
            <p:nvPr/>
          </p:nvSpPr>
          <p:spPr bwMode="auto">
            <a:xfrm>
              <a:off x="694" y="1842"/>
              <a:ext cx="439" cy="136"/>
            </a:xfrm>
            <a:prstGeom prst="rect">
              <a:avLst/>
            </a:prstGeom>
            <a:solidFill>
              <a:schemeClr val="hlink"/>
            </a:solidFill>
            <a:ln w="9525">
              <a:solidFill>
                <a:schemeClr val="tx1"/>
              </a:solidFill>
              <a:miter lim="800000"/>
              <a:headEnd/>
              <a:tailEnd/>
            </a:ln>
          </p:spPr>
          <p:txBody>
            <a:bodyPr wrap="none">
              <a:spAutoFit/>
            </a:bodyPr>
            <a:lstStyle/>
            <a:p>
              <a:r>
                <a:rPr lang="en-GB" sz="800"/>
                <a:t>10010001</a:t>
              </a:r>
              <a:endParaRPr lang="en-US" sz="800"/>
            </a:p>
          </p:txBody>
        </p:sp>
        <p:sp>
          <p:nvSpPr>
            <p:cNvPr id="7217" name="Text Box 37"/>
            <p:cNvSpPr txBox="1">
              <a:spLocks noChangeArrowheads="1"/>
            </p:cNvSpPr>
            <p:nvPr/>
          </p:nvSpPr>
          <p:spPr bwMode="auto">
            <a:xfrm>
              <a:off x="240" y="1842"/>
              <a:ext cx="480" cy="136"/>
            </a:xfrm>
            <a:prstGeom prst="rect">
              <a:avLst/>
            </a:prstGeom>
            <a:solidFill>
              <a:schemeClr val="hlink"/>
            </a:solidFill>
            <a:ln w="9525">
              <a:solidFill>
                <a:schemeClr val="tx1"/>
              </a:solidFill>
              <a:miter lim="800000"/>
              <a:headEnd/>
              <a:tailEnd/>
            </a:ln>
          </p:spPr>
          <p:txBody>
            <a:bodyPr wrap="none">
              <a:spAutoFit/>
            </a:bodyPr>
            <a:lstStyle/>
            <a:p>
              <a:r>
                <a:rPr lang="en-GB" sz="800"/>
                <a:t>010100101</a:t>
              </a:r>
              <a:endParaRPr lang="en-US" sz="800"/>
            </a:p>
          </p:txBody>
        </p:sp>
      </p:grpSp>
      <p:grpSp>
        <p:nvGrpSpPr>
          <p:cNvPr id="7" name="Group 47"/>
          <p:cNvGrpSpPr>
            <a:grpSpLocks/>
          </p:cNvGrpSpPr>
          <p:nvPr/>
        </p:nvGrpSpPr>
        <p:grpSpPr bwMode="auto">
          <a:xfrm>
            <a:off x="5364163" y="3933825"/>
            <a:ext cx="2800350" cy="215900"/>
            <a:chOff x="240" y="2337"/>
            <a:chExt cx="1764" cy="136"/>
          </a:xfrm>
        </p:grpSpPr>
        <p:sp>
          <p:nvSpPr>
            <p:cNvPr id="7212" name="Text Box 48"/>
            <p:cNvSpPr txBox="1">
              <a:spLocks noChangeArrowheads="1"/>
            </p:cNvSpPr>
            <p:nvPr/>
          </p:nvSpPr>
          <p:spPr bwMode="auto">
            <a:xfrm>
              <a:off x="694" y="2337"/>
              <a:ext cx="439" cy="136"/>
            </a:xfrm>
            <a:prstGeom prst="rect">
              <a:avLst/>
            </a:prstGeom>
            <a:solidFill>
              <a:srgbClr val="CCFF99"/>
            </a:solidFill>
            <a:ln w="9525">
              <a:solidFill>
                <a:schemeClr val="tx1"/>
              </a:solidFill>
              <a:miter lim="800000"/>
              <a:headEnd/>
              <a:tailEnd/>
            </a:ln>
          </p:spPr>
          <p:txBody>
            <a:bodyPr wrap="none">
              <a:spAutoFit/>
            </a:bodyPr>
            <a:lstStyle/>
            <a:p>
              <a:r>
                <a:rPr lang="en-GB" sz="800"/>
                <a:t>01001001</a:t>
              </a:r>
              <a:endParaRPr lang="en-US" sz="800"/>
            </a:p>
          </p:txBody>
        </p:sp>
        <p:sp>
          <p:nvSpPr>
            <p:cNvPr id="7213" name="Text Box 49"/>
            <p:cNvSpPr txBox="1">
              <a:spLocks noChangeArrowheads="1"/>
            </p:cNvSpPr>
            <p:nvPr/>
          </p:nvSpPr>
          <p:spPr bwMode="auto">
            <a:xfrm>
              <a:off x="240" y="2337"/>
              <a:ext cx="480" cy="136"/>
            </a:xfrm>
            <a:prstGeom prst="rect">
              <a:avLst/>
            </a:prstGeom>
            <a:solidFill>
              <a:srgbClr val="CCFF99"/>
            </a:solidFill>
            <a:ln w="9525">
              <a:solidFill>
                <a:schemeClr val="tx1"/>
              </a:solidFill>
              <a:miter lim="800000"/>
              <a:headEnd/>
              <a:tailEnd/>
            </a:ln>
          </p:spPr>
          <p:txBody>
            <a:bodyPr wrap="none">
              <a:spAutoFit/>
            </a:bodyPr>
            <a:lstStyle/>
            <a:p>
              <a:r>
                <a:rPr lang="en-GB" sz="800"/>
                <a:t>010100101</a:t>
              </a:r>
              <a:endParaRPr lang="en-US" sz="800"/>
            </a:p>
          </p:txBody>
        </p:sp>
        <p:sp>
          <p:nvSpPr>
            <p:cNvPr id="7214" name="Text Box 50"/>
            <p:cNvSpPr txBox="1">
              <a:spLocks noChangeArrowheads="1"/>
            </p:cNvSpPr>
            <p:nvPr/>
          </p:nvSpPr>
          <p:spPr bwMode="auto">
            <a:xfrm>
              <a:off x="1565" y="2337"/>
              <a:ext cx="439" cy="136"/>
            </a:xfrm>
            <a:prstGeom prst="rect">
              <a:avLst/>
            </a:prstGeom>
            <a:solidFill>
              <a:srgbClr val="CCFF99"/>
            </a:solidFill>
            <a:ln w="9525">
              <a:solidFill>
                <a:schemeClr val="tx1"/>
              </a:solidFill>
              <a:miter lim="800000"/>
              <a:headEnd/>
              <a:tailEnd/>
            </a:ln>
          </p:spPr>
          <p:txBody>
            <a:bodyPr wrap="none">
              <a:spAutoFit/>
            </a:bodyPr>
            <a:lstStyle/>
            <a:p>
              <a:r>
                <a:rPr lang="en-GB" sz="800"/>
                <a:t>01001001</a:t>
              </a:r>
              <a:endParaRPr lang="en-US" sz="800"/>
            </a:p>
          </p:txBody>
        </p:sp>
        <p:sp>
          <p:nvSpPr>
            <p:cNvPr id="7215" name="Text Box 51"/>
            <p:cNvSpPr txBox="1">
              <a:spLocks noChangeArrowheads="1"/>
            </p:cNvSpPr>
            <p:nvPr/>
          </p:nvSpPr>
          <p:spPr bwMode="auto">
            <a:xfrm>
              <a:off x="1111" y="2337"/>
              <a:ext cx="480" cy="136"/>
            </a:xfrm>
            <a:prstGeom prst="rect">
              <a:avLst/>
            </a:prstGeom>
            <a:solidFill>
              <a:srgbClr val="CCFF99"/>
            </a:solidFill>
            <a:ln w="9525">
              <a:solidFill>
                <a:schemeClr val="tx1"/>
              </a:solidFill>
              <a:miter lim="800000"/>
              <a:headEnd/>
              <a:tailEnd/>
            </a:ln>
          </p:spPr>
          <p:txBody>
            <a:bodyPr wrap="none">
              <a:spAutoFit/>
            </a:bodyPr>
            <a:lstStyle/>
            <a:p>
              <a:r>
                <a:rPr lang="en-GB" sz="800"/>
                <a:t>010100101</a:t>
              </a:r>
              <a:endParaRPr lang="en-US" sz="800"/>
            </a:p>
          </p:txBody>
        </p:sp>
      </p:grpSp>
      <p:sp>
        <p:nvSpPr>
          <p:cNvPr id="7183" name="Line 53"/>
          <p:cNvSpPr>
            <a:spLocks noChangeShapeType="1"/>
          </p:cNvSpPr>
          <p:nvPr/>
        </p:nvSpPr>
        <p:spPr bwMode="auto">
          <a:xfrm>
            <a:off x="381000" y="3860800"/>
            <a:ext cx="8583613" cy="0"/>
          </a:xfrm>
          <a:prstGeom prst="line">
            <a:avLst/>
          </a:prstGeom>
          <a:noFill/>
          <a:ln w="28575">
            <a:solidFill>
              <a:srgbClr val="FF3300"/>
            </a:solidFill>
            <a:prstDash val="dash"/>
            <a:round/>
            <a:headEnd/>
            <a:tailEnd/>
          </a:ln>
        </p:spPr>
        <p:txBody>
          <a:bodyPr wrap="none">
            <a:spAutoFit/>
          </a:bodyPr>
          <a:lstStyle/>
          <a:p>
            <a:endParaRPr lang="en-GB"/>
          </a:p>
        </p:txBody>
      </p:sp>
      <p:sp>
        <p:nvSpPr>
          <p:cNvPr id="7184" name="Line 54"/>
          <p:cNvSpPr>
            <a:spLocks noChangeShapeType="1"/>
          </p:cNvSpPr>
          <p:nvPr/>
        </p:nvSpPr>
        <p:spPr bwMode="auto">
          <a:xfrm>
            <a:off x="381000" y="4294188"/>
            <a:ext cx="8583613" cy="0"/>
          </a:xfrm>
          <a:prstGeom prst="line">
            <a:avLst/>
          </a:prstGeom>
          <a:noFill/>
          <a:ln w="28575">
            <a:solidFill>
              <a:srgbClr val="FF3300"/>
            </a:solidFill>
            <a:prstDash val="dash"/>
            <a:round/>
            <a:headEnd/>
            <a:tailEnd/>
          </a:ln>
        </p:spPr>
        <p:txBody>
          <a:bodyPr wrap="none">
            <a:spAutoFit/>
          </a:bodyPr>
          <a:lstStyle/>
          <a:p>
            <a:endParaRPr lang="en-GB"/>
          </a:p>
        </p:txBody>
      </p:sp>
      <p:sp>
        <p:nvSpPr>
          <p:cNvPr id="7185" name="Line 55"/>
          <p:cNvSpPr>
            <a:spLocks noChangeShapeType="1"/>
          </p:cNvSpPr>
          <p:nvPr/>
        </p:nvSpPr>
        <p:spPr bwMode="auto">
          <a:xfrm>
            <a:off x="3203575" y="3068638"/>
            <a:ext cx="2736850" cy="792162"/>
          </a:xfrm>
          <a:prstGeom prst="line">
            <a:avLst/>
          </a:prstGeom>
          <a:noFill/>
          <a:ln w="38100">
            <a:solidFill>
              <a:schemeClr val="accent1"/>
            </a:solidFill>
            <a:round/>
            <a:headEnd/>
            <a:tailEnd type="triangle" w="med" len="med"/>
          </a:ln>
        </p:spPr>
        <p:txBody>
          <a:bodyPr>
            <a:spAutoFit/>
          </a:bodyPr>
          <a:lstStyle/>
          <a:p>
            <a:endParaRPr lang="en-GB"/>
          </a:p>
        </p:txBody>
      </p:sp>
      <p:sp>
        <p:nvSpPr>
          <p:cNvPr id="7186" name="Text Box 60"/>
          <p:cNvSpPr txBox="1">
            <a:spLocks noChangeArrowheads="1"/>
          </p:cNvSpPr>
          <p:nvPr/>
        </p:nvSpPr>
        <p:spPr bwMode="auto">
          <a:xfrm>
            <a:off x="381000" y="3500438"/>
            <a:ext cx="2265364" cy="338554"/>
          </a:xfrm>
          <a:prstGeom prst="rect">
            <a:avLst/>
          </a:prstGeom>
          <a:noFill/>
          <a:ln w="9525" algn="ctr">
            <a:noFill/>
            <a:miter lim="800000"/>
            <a:headEnd/>
            <a:tailEnd/>
          </a:ln>
        </p:spPr>
        <p:txBody>
          <a:bodyPr wrap="none">
            <a:spAutoFit/>
          </a:bodyPr>
          <a:lstStyle/>
          <a:p>
            <a:r>
              <a:rPr lang="en-GB" sz="1600" dirty="0"/>
              <a:t>internet network link</a:t>
            </a:r>
            <a:endParaRPr lang="en-US" sz="1600" dirty="0"/>
          </a:p>
        </p:txBody>
      </p:sp>
      <p:sp>
        <p:nvSpPr>
          <p:cNvPr id="7187" name="Text Box 61"/>
          <p:cNvSpPr txBox="1">
            <a:spLocks noChangeArrowheads="1"/>
          </p:cNvSpPr>
          <p:nvPr/>
        </p:nvSpPr>
        <p:spPr bwMode="auto">
          <a:xfrm>
            <a:off x="2659466" y="1262866"/>
            <a:ext cx="6173611" cy="1323439"/>
          </a:xfrm>
          <a:prstGeom prst="rect">
            <a:avLst/>
          </a:prstGeom>
          <a:noFill/>
          <a:ln w="9525" algn="ctr">
            <a:noFill/>
            <a:miter lim="800000"/>
            <a:headEnd/>
            <a:tailEnd/>
          </a:ln>
        </p:spPr>
        <p:txBody>
          <a:bodyPr wrap="square">
            <a:spAutoFit/>
          </a:bodyPr>
          <a:lstStyle/>
          <a:p>
            <a:pPr marL="179388" indent="-179388">
              <a:buFontTx/>
              <a:buChar char="•"/>
            </a:pPr>
            <a:r>
              <a:rPr lang="en-GB" sz="1600" dirty="0"/>
              <a:t>all traffic – voice, video, data is split into </a:t>
            </a:r>
            <a:r>
              <a:rPr lang="en-GB" sz="1600" i="1" dirty="0"/>
              <a:t>packets</a:t>
            </a:r>
          </a:p>
          <a:p>
            <a:pPr marL="179388" indent="-179388">
              <a:buFontTx/>
              <a:buChar char="•"/>
            </a:pPr>
            <a:r>
              <a:rPr lang="en-GB" sz="1600" dirty="0"/>
              <a:t>packets are dropped into a </a:t>
            </a:r>
            <a:r>
              <a:rPr lang="en-GB" sz="1600" i="1" dirty="0" err="1"/>
              <a:t>bitstream</a:t>
            </a:r>
            <a:r>
              <a:rPr lang="en-GB" sz="1600" dirty="0"/>
              <a:t> as/when available</a:t>
            </a:r>
          </a:p>
          <a:p>
            <a:pPr lvl="1"/>
            <a:r>
              <a:rPr lang="en-GB" b="1" i="1"/>
              <a:t>… “statistically multiplexed”</a:t>
            </a:r>
            <a:endParaRPr lang="en-GB" b="1" i="1" dirty="0"/>
          </a:p>
          <a:p>
            <a:pPr lvl="1"/>
            <a:r>
              <a:rPr lang="en-GB"/>
              <a:t>… the bitstream </a:t>
            </a:r>
            <a:r>
              <a:rPr lang="en-GB" dirty="0"/>
              <a:t>may not always have enough </a:t>
            </a:r>
            <a:r>
              <a:rPr lang="en-GB"/>
              <a:t>capacity 	for </a:t>
            </a:r>
            <a:r>
              <a:rPr lang="en-GB" dirty="0"/>
              <a:t>all the traffic </a:t>
            </a:r>
            <a:r>
              <a:rPr lang="en-GB" i="1" dirty="0"/>
              <a:t>competing </a:t>
            </a:r>
            <a:r>
              <a:rPr lang="en-GB" dirty="0"/>
              <a:t>for access</a:t>
            </a:r>
            <a:endParaRPr lang="en-US" dirty="0"/>
          </a:p>
        </p:txBody>
      </p:sp>
      <p:sp>
        <p:nvSpPr>
          <p:cNvPr id="7188" name="Rectangle 62" descr="Wide upward diagonal"/>
          <p:cNvSpPr>
            <a:spLocks noChangeArrowheads="1"/>
          </p:cNvSpPr>
          <p:nvPr/>
        </p:nvSpPr>
        <p:spPr bwMode="auto">
          <a:xfrm>
            <a:off x="1331913" y="3857625"/>
            <a:ext cx="754062" cy="368300"/>
          </a:xfrm>
          <a:prstGeom prst="rect">
            <a:avLst/>
          </a:prstGeom>
          <a:pattFill prst="wdUpDiag">
            <a:fgClr>
              <a:schemeClr val="folHlink">
                <a:alpha val="30196"/>
              </a:schemeClr>
            </a:fgClr>
            <a:bgClr>
              <a:schemeClr val="bg1">
                <a:alpha val="30196"/>
              </a:schemeClr>
            </a:bgClr>
          </a:pattFill>
          <a:ln w="9525" algn="ctr">
            <a:solidFill>
              <a:schemeClr val="tx1"/>
            </a:solidFill>
            <a:miter lim="800000"/>
            <a:headEnd/>
            <a:tailEnd/>
          </a:ln>
        </p:spPr>
        <p:txBody>
          <a:bodyPr anchor="ctr">
            <a:spAutoFit/>
          </a:bodyPr>
          <a:lstStyle/>
          <a:p>
            <a:endParaRPr lang="en-US"/>
          </a:p>
        </p:txBody>
      </p:sp>
      <p:sp>
        <p:nvSpPr>
          <p:cNvPr id="7189" name="Rectangle 63" descr="Wide upward diagonal"/>
          <p:cNvSpPr>
            <a:spLocks noChangeArrowheads="1"/>
          </p:cNvSpPr>
          <p:nvPr/>
        </p:nvSpPr>
        <p:spPr bwMode="auto">
          <a:xfrm>
            <a:off x="3708400" y="3857625"/>
            <a:ext cx="752475" cy="368300"/>
          </a:xfrm>
          <a:prstGeom prst="rect">
            <a:avLst/>
          </a:prstGeom>
          <a:pattFill prst="wdUpDiag">
            <a:fgClr>
              <a:schemeClr val="folHlink">
                <a:alpha val="30196"/>
              </a:schemeClr>
            </a:fgClr>
            <a:bgClr>
              <a:schemeClr val="bg1">
                <a:alpha val="30196"/>
              </a:schemeClr>
            </a:bgClr>
          </a:pattFill>
          <a:ln w="9525" algn="ctr">
            <a:solidFill>
              <a:schemeClr val="tx1"/>
            </a:solidFill>
            <a:miter lim="800000"/>
            <a:headEnd/>
            <a:tailEnd/>
          </a:ln>
        </p:spPr>
        <p:txBody>
          <a:bodyPr anchor="ctr">
            <a:spAutoFit/>
          </a:bodyPr>
          <a:lstStyle/>
          <a:p>
            <a:endParaRPr lang="en-US"/>
          </a:p>
        </p:txBody>
      </p:sp>
      <p:sp>
        <p:nvSpPr>
          <p:cNvPr id="7190" name="Rectangle 64" descr="Wide upward diagonal"/>
          <p:cNvSpPr>
            <a:spLocks noChangeArrowheads="1"/>
          </p:cNvSpPr>
          <p:nvPr/>
        </p:nvSpPr>
        <p:spPr bwMode="auto">
          <a:xfrm>
            <a:off x="5292725" y="3857625"/>
            <a:ext cx="817563" cy="368300"/>
          </a:xfrm>
          <a:prstGeom prst="rect">
            <a:avLst/>
          </a:prstGeom>
          <a:pattFill prst="wdUpDiag">
            <a:fgClr>
              <a:schemeClr val="folHlink">
                <a:alpha val="30196"/>
              </a:schemeClr>
            </a:fgClr>
            <a:bgClr>
              <a:schemeClr val="bg1">
                <a:alpha val="30196"/>
              </a:schemeClr>
            </a:bgClr>
          </a:pattFill>
          <a:ln w="9525" algn="ctr">
            <a:solidFill>
              <a:schemeClr val="tx1"/>
            </a:solidFill>
            <a:miter lim="800000"/>
            <a:headEnd/>
            <a:tailEnd/>
          </a:ln>
        </p:spPr>
        <p:txBody>
          <a:bodyPr anchor="ctr">
            <a:spAutoFit/>
          </a:bodyPr>
          <a:lstStyle/>
          <a:p>
            <a:endParaRPr lang="en-US"/>
          </a:p>
        </p:txBody>
      </p:sp>
      <p:sp>
        <p:nvSpPr>
          <p:cNvPr id="7191" name="Text Box 65"/>
          <p:cNvSpPr txBox="1">
            <a:spLocks noChangeArrowheads="1"/>
          </p:cNvSpPr>
          <p:nvPr/>
        </p:nvSpPr>
        <p:spPr bwMode="auto">
          <a:xfrm>
            <a:off x="381000" y="4797425"/>
            <a:ext cx="2967038" cy="584200"/>
          </a:xfrm>
          <a:prstGeom prst="rect">
            <a:avLst/>
          </a:prstGeom>
          <a:noFill/>
          <a:ln w="9525" algn="ctr">
            <a:noFill/>
            <a:miter lim="800000"/>
            <a:headEnd/>
            <a:tailEnd/>
          </a:ln>
        </p:spPr>
        <p:txBody>
          <a:bodyPr>
            <a:spAutoFit/>
          </a:bodyPr>
          <a:lstStyle/>
          <a:p>
            <a:r>
              <a:rPr lang="en-GB" sz="1600"/>
              <a:t>address field - packets routed through network </a:t>
            </a:r>
            <a:endParaRPr lang="en-US" sz="1600"/>
          </a:p>
        </p:txBody>
      </p:sp>
      <p:sp>
        <p:nvSpPr>
          <p:cNvPr id="7192" name="Line 66"/>
          <p:cNvSpPr>
            <a:spLocks noChangeShapeType="1"/>
          </p:cNvSpPr>
          <p:nvPr/>
        </p:nvSpPr>
        <p:spPr bwMode="auto">
          <a:xfrm flipV="1">
            <a:off x="1692275" y="4149725"/>
            <a:ext cx="2087563" cy="574675"/>
          </a:xfrm>
          <a:prstGeom prst="line">
            <a:avLst/>
          </a:prstGeom>
          <a:noFill/>
          <a:ln w="9525">
            <a:solidFill>
              <a:schemeClr val="tx1"/>
            </a:solidFill>
            <a:round/>
            <a:headEnd/>
            <a:tailEnd type="triangle" w="med" len="med"/>
          </a:ln>
        </p:spPr>
        <p:txBody>
          <a:bodyPr>
            <a:spAutoFit/>
          </a:bodyPr>
          <a:lstStyle/>
          <a:p>
            <a:endParaRPr lang="en-GB"/>
          </a:p>
        </p:txBody>
      </p:sp>
      <p:sp>
        <p:nvSpPr>
          <p:cNvPr id="7193" name="Line 67"/>
          <p:cNvSpPr>
            <a:spLocks noChangeShapeType="1"/>
          </p:cNvSpPr>
          <p:nvPr/>
        </p:nvSpPr>
        <p:spPr bwMode="auto">
          <a:xfrm flipV="1">
            <a:off x="1619250" y="4149725"/>
            <a:ext cx="73025" cy="574675"/>
          </a:xfrm>
          <a:prstGeom prst="line">
            <a:avLst/>
          </a:prstGeom>
          <a:noFill/>
          <a:ln w="9525">
            <a:solidFill>
              <a:schemeClr val="tx1"/>
            </a:solidFill>
            <a:round/>
            <a:headEnd/>
            <a:tailEnd type="triangle" w="med" len="med"/>
          </a:ln>
        </p:spPr>
        <p:txBody>
          <a:bodyPr>
            <a:spAutoFit/>
          </a:bodyPr>
          <a:lstStyle/>
          <a:p>
            <a:endParaRPr lang="en-GB"/>
          </a:p>
        </p:txBody>
      </p:sp>
      <p:pic>
        <p:nvPicPr>
          <p:cNvPr id="7194" name="Picture 68"/>
          <p:cNvPicPr>
            <a:picLocks noChangeAspect="1" noChangeArrowheads="1"/>
          </p:cNvPicPr>
          <p:nvPr/>
        </p:nvPicPr>
        <p:blipFill>
          <a:blip r:embed="rId2" cstate="print"/>
          <a:srcRect/>
          <a:stretch>
            <a:fillRect/>
          </a:stretch>
        </p:blipFill>
        <p:spPr bwMode="auto">
          <a:xfrm>
            <a:off x="5724525" y="5013325"/>
            <a:ext cx="817563" cy="869950"/>
          </a:xfrm>
          <a:prstGeom prst="rect">
            <a:avLst/>
          </a:prstGeom>
          <a:noFill/>
          <a:ln w="9525" algn="ctr">
            <a:noFill/>
            <a:miter lim="800000"/>
            <a:headEnd/>
            <a:tailEnd/>
          </a:ln>
        </p:spPr>
      </p:pic>
      <p:sp>
        <p:nvSpPr>
          <p:cNvPr id="7195" name="Oval 70"/>
          <p:cNvSpPr>
            <a:spLocks noChangeArrowheads="1"/>
          </p:cNvSpPr>
          <p:nvPr/>
        </p:nvSpPr>
        <p:spPr bwMode="auto">
          <a:xfrm>
            <a:off x="7308850" y="5422900"/>
            <a:ext cx="260350" cy="476250"/>
          </a:xfrm>
          <a:prstGeom prst="ellipse">
            <a:avLst/>
          </a:prstGeom>
          <a:noFill/>
          <a:ln w="9525" algn="ctr">
            <a:noFill/>
            <a:round/>
            <a:headEnd/>
            <a:tailEnd/>
          </a:ln>
        </p:spPr>
        <p:txBody>
          <a:bodyPr wrap="none" anchor="ctr">
            <a:spAutoFit/>
          </a:bodyPr>
          <a:lstStyle/>
          <a:p>
            <a:endParaRPr lang="en-US" sz="1600"/>
          </a:p>
        </p:txBody>
      </p:sp>
      <p:pic>
        <p:nvPicPr>
          <p:cNvPr id="7196" name="Picture 72"/>
          <p:cNvPicPr>
            <a:picLocks noChangeAspect="1" noChangeArrowheads="1"/>
          </p:cNvPicPr>
          <p:nvPr/>
        </p:nvPicPr>
        <p:blipFill>
          <a:blip r:embed="rId3" cstate="print"/>
          <a:srcRect t="10077"/>
          <a:stretch>
            <a:fillRect/>
          </a:stretch>
        </p:blipFill>
        <p:spPr bwMode="auto">
          <a:xfrm>
            <a:off x="6659563" y="4581525"/>
            <a:ext cx="1609725" cy="1289050"/>
          </a:xfrm>
          <a:prstGeom prst="rect">
            <a:avLst/>
          </a:prstGeom>
          <a:noFill/>
          <a:ln w="9525" algn="ctr">
            <a:noFill/>
            <a:miter lim="800000"/>
            <a:headEnd/>
            <a:tailEnd/>
          </a:ln>
        </p:spPr>
      </p:pic>
      <p:sp>
        <p:nvSpPr>
          <p:cNvPr id="7197" name="Text Box 73"/>
          <p:cNvSpPr txBox="1">
            <a:spLocks noChangeArrowheads="1"/>
          </p:cNvSpPr>
          <p:nvPr/>
        </p:nvSpPr>
        <p:spPr bwMode="auto">
          <a:xfrm>
            <a:off x="4568825" y="6021388"/>
            <a:ext cx="4618038" cy="338137"/>
          </a:xfrm>
          <a:prstGeom prst="rect">
            <a:avLst/>
          </a:prstGeom>
          <a:noFill/>
          <a:ln w="9525" algn="ctr">
            <a:noFill/>
            <a:miter lim="800000"/>
            <a:headEnd/>
            <a:tailEnd/>
          </a:ln>
        </p:spPr>
        <p:txBody>
          <a:bodyPr wrap="none">
            <a:spAutoFit/>
          </a:bodyPr>
          <a:lstStyle/>
          <a:p>
            <a:r>
              <a:rPr lang="en-GB" sz="1600"/>
              <a:t>House / business ethernet (or wireless) LAN </a:t>
            </a:r>
            <a:endParaRPr lang="en-US" sz="1600"/>
          </a:p>
        </p:txBody>
      </p:sp>
      <p:grpSp>
        <p:nvGrpSpPr>
          <p:cNvPr id="8" name="Group 99"/>
          <p:cNvGrpSpPr>
            <a:grpSpLocks/>
          </p:cNvGrpSpPr>
          <p:nvPr/>
        </p:nvGrpSpPr>
        <p:grpSpPr bwMode="auto">
          <a:xfrm>
            <a:off x="7885113" y="5095875"/>
            <a:ext cx="833437" cy="400050"/>
            <a:chOff x="657" y="3709"/>
            <a:chExt cx="525" cy="252"/>
          </a:xfrm>
        </p:grpSpPr>
        <p:sp>
          <p:nvSpPr>
            <p:cNvPr id="7207" name="Text Box 87"/>
            <p:cNvSpPr txBox="1">
              <a:spLocks noChangeArrowheads="1"/>
            </p:cNvSpPr>
            <p:nvPr/>
          </p:nvSpPr>
          <p:spPr bwMode="auto">
            <a:xfrm>
              <a:off x="794" y="3748"/>
              <a:ext cx="116" cy="213"/>
            </a:xfrm>
            <a:prstGeom prst="rect">
              <a:avLst/>
            </a:prstGeom>
            <a:solidFill>
              <a:srgbClr val="CCFF99"/>
            </a:solidFill>
            <a:ln w="9525">
              <a:solidFill>
                <a:schemeClr val="tx1"/>
              </a:solidFill>
              <a:miter lim="800000"/>
              <a:headEnd/>
              <a:tailEnd/>
            </a:ln>
          </p:spPr>
          <p:txBody>
            <a:bodyPr wrap="none">
              <a:spAutoFit/>
            </a:bodyPr>
            <a:lstStyle/>
            <a:p>
              <a:endParaRPr lang="en-US" sz="1600"/>
            </a:p>
          </p:txBody>
        </p:sp>
        <p:sp>
          <p:nvSpPr>
            <p:cNvPr id="7208" name="Text Box 88"/>
            <p:cNvSpPr txBox="1">
              <a:spLocks noChangeArrowheads="1"/>
            </p:cNvSpPr>
            <p:nvPr/>
          </p:nvSpPr>
          <p:spPr bwMode="auto">
            <a:xfrm>
              <a:off x="657" y="3748"/>
              <a:ext cx="116" cy="213"/>
            </a:xfrm>
            <a:prstGeom prst="rect">
              <a:avLst/>
            </a:prstGeom>
            <a:solidFill>
              <a:srgbClr val="CCFF99"/>
            </a:solidFill>
            <a:ln w="9525">
              <a:solidFill>
                <a:schemeClr val="tx1"/>
              </a:solidFill>
              <a:miter lim="800000"/>
              <a:headEnd/>
              <a:tailEnd/>
            </a:ln>
          </p:spPr>
          <p:txBody>
            <a:bodyPr wrap="none">
              <a:spAutoFit/>
            </a:bodyPr>
            <a:lstStyle/>
            <a:p>
              <a:endParaRPr lang="en-US" sz="1600"/>
            </a:p>
          </p:txBody>
        </p:sp>
        <p:sp>
          <p:nvSpPr>
            <p:cNvPr id="7209" name="Text Box 89"/>
            <p:cNvSpPr txBox="1">
              <a:spLocks noChangeArrowheads="1"/>
            </p:cNvSpPr>
            <p:nvPr/>
          </p:nvSpPr>
          <p:spPr bwMode="auto">
            <a:xfrm>
              <a:off x="1066" y="3748"/>
              <a:ext cx="116" cy="213"/>
            </a:xfrm>
            <a:prstGeom prst="rect">
              <a:avLst/>
            </a:prstGeom>
            <a:solidFill>
              <a:srgbClr val="CCFF99"/>
            </a:solidFill>
            <a:ln w="9525">
              <a:solidFill>
                <a:schemeClr val="tx1"/>
              </a:solidFill>
              <a:miter lim="800000"/>
              <a:headEnd/>
              <a:tailEnd/>
            </a:ln>
          </p:spPr>
          <p:txBody>
            <a:bodyPr wrap="none">
              <a:spAutoFit/>
            </a:bodyPr>
            <a:lstStyle/>
            <a:p>
              <a:endParaRPr lang="en-US" sz="1600"/>
            </a:p>
          </p:txBody>
        </p:sp>
        <p:sp>
          <p:nvSpPr>
            <p:cNvPr id="7210" name="Text Box 90"/>
            <p:cNvSpPr txBox="1">
              <a:spLocks noChangeArrowheads="1"/>
            </p:cNvSpPr>
            <p:nvPr/>
          </p:nvSpPr>
          <p:spPr bwMode="auto">
            <a:xfrm>
              <a:off x="930" y="3748"/>
              <a:ext cx="116" cy="213"/>
            </a:xfrm>
            <a:prstGeom prst="rect">
              <a:avLst/>
            </a:prstGeom>
            <a:solidFill>
              <a:srgbClr val="CCFF99"/>
            </a:solidFill>
            <a:ln w="9525">
              <a:solidFill>
                <a:schemeClr val="tx1"/>
              </a:solidFill>
              <a:miter lim="800000"/>
              <a:headEnd/>
              <a:tailEnd/>
            </a:ln>
          </p:spPr>
          <p:txBody>
            <a:bodyPr wrap="none">
              <a:spAutoFit/>
            </a:bodyPr>
            <a:lstStyle/>
            <a:p>
              <a:endParaRPr lang="en-US" sz="1600"/>
            </a:p>
          </p:txBody>
        </p:sp>
        <p:sp>
          <p:nvSpPr>
            <p:cNvPr id="7211" name="Rectangle 91" descr="Wide upward diagonal"/>
            <p:cNvSpPr>
              <a:spLocks noChangeArrowheads="1"/>
            </p:cNvSpPr>
            <p:nvPr/>
          </p:nvSpPr>
          <p:spPr bwMode="auto">
            <a:xfrm>
              <a:off x="657" y="3709"/>
              <a:ext cx="136" cy="213"/>
            </a:xfrm>
            <a:prstGeom prst="rect">
              <a:avLst/>
            </a:prstGeom>
            <a:pattFill prst="wdUpDiag">
              <a:fgClr>
                <a:schemeClr val="folHlink">
                  <a:alpha val="30196"/>
                </a:schemeClr>
              </a:fgClr>
              <a:bgClr>
                <a:schemeClr val="bg1">
                  <a:alpha val="30196"/>
                </a:schemeClr>
              </a:bgClr>
            </a:pattFill>
            <a:ln w="9525" algn="ctr">
              <a:solidFill>
                <a:schemeClr val="tx1"/>
              </a:solidFill>
              <a:miter lim="800000"/>
              <a:headEnd/>
              <a:tailEnd/>
            </a:ln>
          </p:spPr>
          <p:txBody>
            <a:bodyPr anchor="ctr">
              <a:spAutoFit/>
            </a:bodyPr>
            <a:lstStyle/>
            <a:p>
              <a:endParaRPr lang="en-US" sz="1600"/>
            </a:p>
          </p:txBody>
        </p:sp>
      </p:grpSp>
      <p:grpSp>
        <p:nvGrpSpPr>
          <p:cNvPr id="9" name="Group 100"/>
          <p:cNvGrpSpPr>
            <a:grpSpLocks/>
          </p:cNvGrpSpPr>
          <p:nvPr/>
        </p:nvGrpSpPr>
        <p:grpSpPr bwMode="auto">
          <a:xfrm>
            <a:off x="4356100" y="4446588"/>
            <a:ext cx="833438" cy="338137"/>
            <a:chOff x="657" y="3709"/>
            <a:chExt cx="525" cy="213"/>
          </a:xfrm>
        </p:grpSpPr>
        <p:sp>
          <p:nvSpPr>
            <p:cNvPr id="7202" name="Text Box 101"/>
            <p:cNvSpPr txBox="1">
              <a:spLocks noChangeArrowheads="1"/>
            </p:cNvSpPr>
            <p:nvPr/>
          </p:nvSpPr>
          <p:spPr bwMode="auto">
            <a:xfrm>
              <a:off x="794" y="3748"/>
              <a:ext cx="116" cy="136"/>
            </a:xfrm>
            <a:prstGeom prst="rect">
              <a:avLst/>
            </a:prstGeom>
            <a:solidFill>
              <a:srgbClr val="CCFF99"/>
            </a:solidFill>
            <a:ln w="9525">
              <a:solidFill>
                <a:schemeClr val="tx1"/>
              </a:solidFill>
              <a:miter lim="800000"/>
              <a:headEnd/>
              <a:tailEnd/>
            </a:ln>
          </p:spPr>
          <p:txBody>
            <a:bodyPr wrap="none">
              <a:spAutoFit/>
            </a:bodyPr>
            <a:lstStyle/>
            <a:p>
              <a:endParaRPr lang="en-US" sz="800"/>
            </a:p>
          </p:txBody>
        </p:sp>
        <p:sp>
          <p:nvSpPr>
            <p:cNvPr id="7203" name="Text Box 102"/>
            <p:cNvSpPr txBox="1">
              <a:spLocks noChangeArrowheads="1"/>
            </p:cNvSpPr>
            <p:nvPr/>
          </p:nvSpPr>
          <p:spPr bwMode="auto">
            <a:xfrm>
              <a:off x="657" y="3748"/>
              <a:ext cx="116" cy="136"/>
            </a:xfrm>
            <a:prstGeom prst="rect">
              <a:avLst/>
            </a:prstGeom>
            <a:solidFill>
              <a:srgbClr val="CCFF99"/>
            </a:solidFill>
            <a:ln w="9525">
              <a:solidFill>
                <a:schemeClr val="tx1"/>
              </a:solidFill>
              <a:miter lim="800000"/>
              <a:headEnd/>
              <a:tailEnd/>
            </a:ln>
          </p:spPr>
          <p:txBody>
            <a:bodyPr wrap="none">
              <a:spAutoFit/>
            </a:bodyPr>
            <a:lstStyle/>
            <a:p>
              <a:endParaRPr lang="en-US" sz="800"/>
            </a:p>
          </p:txBody>
        </p:sp>
        <p:sp>
          <p:nvSpPr>
            <p:cNvPr id="7204" name="Text Box 103"/>
            <p:cNvSpPr txBox="1">
              <a:spLocks noChangeArrowheads="1"/>
            </p:cNvSpPr>
            <p:nvPr/>
          </p:nvSpPr>
          <p:spPr bwMode="auto">
            <a:xfrm>
              <a:off x="1066" y="3748"/>
              <a:ext cx="116" cy="136"/>
            </a:xfrm>
            <a:prstGeom prst="rect">
              <a:avLst/>
            </a:prstGeom>
            <a:solidFill>
              <a:srgbClr val="CCFF99"/>
            </a:solidFill>
            <a:ln w="9525">
              <a:solidFill>
                <a:schemeClr val="tx1"/>
              </a:solidFill>
              <a:miter lim="800000"/>
              <a:headEnd/>
              <a:tailEnd/>
            </a:ln>
          </p:spPr>
          <p:txBody>
            <a:bodyPr wrap="none">
              <a:spAutoFit/>
            </a:bodyPr>
            <a:lstStyle/>
            <a:p>
              <a:endParaRPr lang="en-US" sz="800"/>
            </a:p>
          </p:txBody>
        </p:sp>
        <p:sp>
          <p:nvSpPr>
            <p:cNvPr id="7205" name="Text Box 104"/>
            <p:cNvSpPr txBox="1">
              <a:spLocks noChangeArrowheads="1"/>
            </p:cNvSpPr>
            <p:nvPr/>
          </p:nvSpPr>
          <p:spPr bwMode="auto">
            <a:xfrm>
              <a:off x="930" y="3748"/>
              <a:ext cx="116" cy="136"/>
            </a:xfrm>
            <a:prstGeom prst="rect">
              <a:avLst/>
            </a:prstGeom>
            <a:solidFill>
              <a:srgbClr val="CCFF99"/>
            </a:solidFill>
            <a:ln w="9525">
              <a:solidFill>
                <a:schemeClr val="tx1"/>
              </a:solidFill>
              <a:miter lim="800000"/>
              <a:headEnd/>
              <a:tailEnd/>
            </a:ln>
          </p:spPr>
          <p:txBody>
            <a:bodyPr wrap="none">
              <a:spAutoFit/>
            </a:bodyPr>
            <a:lstStyle/>
            <a:p>
              <a:endParaRPr lang="en-US" sz="800"/>
            </a:p>
          </p:txBody>
        </p:sp>
        <p:sp>
          <p:nvSpPr>
            <p:cNvPr id="7206" name="Rectangle 105" descr="Wide upward diagonal"/>
            <p:cNvSpPr>
              <a:spLocks noChangeArrowheads="1"/>
            </p:cNvSpPr>
            <p:nvPr/>
          </p:nvSpPr>
          <p:spPr bwMode="auto">
            <a:xfrm>
              <a:off x="657" y="3709"/>
              <a:ext cx="136" cy="213"/>
            </a:xfrm>
            <a:prstGeom prst="rect">
              <a:avLst/>
            </a:prstGeom>
            <a:pattFill prst="wdUpDiag">
              <a:fgClr>
                <a:schemeClr val="folHlink">
                  <a:alpha val="30196"/>
                </a:schemeClr>
              </a:fgClr>
              <a:bgClr>
                <a:schemeClr val="bg1">
                  <a:alpha val="30196"/>
                </a:schemeClr>
              </a:bgClr>
            </a:pattFill>
            <a:ln w="9525" algn="ctr">
              <a:solidFill>
                <a:schemeClr val="tx1"/>
              </a:solidFill>
              <a:miter lim="800000"/>
              <a:headEnd/>
              <a:tailEnd/>
            </a:ln>
          </p:spPr>
          <p:txBody>
            <a:bodyPr anchor="ctr">
              <a:spAutoFit/>
            </a:bodyPr>
            <a:lstStyle/>
            <a:p>
              <a:endParaRPr lang="en-US"/>
            </a:p>
          </p:txBody>
        </p:sp>
      </p:grpSp>
      <p:sp>
        <p:nvSpPr>
          <p:cNvPr id="7200" name="Line 106"/>
          <p:cNvSpPr>
            <a:spLocks noChangeShapeType="1"/>
          </p:cNvSpPr>
          <p:nvPr/>
        </p:nvSpPr>
        <p:spPr bwMode="auto">
          <a:xfrm flipV="1">
            <a:off x="6443663" y="5300663"/>
            <a:ext cx="1368425" cy="215900"/>
          </a:xfrm>
          <a:prstGeom prst="line">
            <a:avLst/>
          </a:prstGeom>
          <a:noFill/>
          <a:ln w="28575">
            <a:solidFill>
              <a:schemeClr val="accent1"/>
            </a:solidFill>
            <a:round/>
            <a:headEnd/>
            <a:tailEnd type="triangle" w="med" len="med"/>
          </a:ln>
        </p:spPr>
        <p:txBody>
          <a:bodyPr>
            <a:spAutoFit/>
          </a:bodyPr>
          <a:lstStyle/>
          <a:p>
            <a:endParaRPr lang="en-GB"/>
          </a:p>
        </p:txBody>
      </p:sp>
      <p:cxnSp>
        <p:nvCxnSpPr>
          <p:cNvPr id="7201" name="Curved Connector 62"/>
          <p:cNvCxnSpPr>
            <a:cxnSpLocks noChangeShapeType="1"/>
            <a:stCxn id="7206" idx="2"/>
          </p:cNvCxnSpPr>
          <p:nvPr/>
        </p:nvCxnSpPr>
        <p:spPr bwMode="auto">
          <a:xfrm rot="16200000" flipH="1">
            <a:off x="4685506" y="4563269"/>
            <a:ext cx="790575" cy="1233488"/>
          </a:xfrm>
          <a:prstGeom prst="curvedConnector2">
            <a:avLst/>
          </a:prstGeom>
          <a:noFill/>
          <a:ln w="9525" algn="ctr">
            <a:solidFill>
              <a:schemeClr val="accent1"/>
            </a:solidFill>
            <a:round/>
            <a:headEnd/>
            <a:tailEnd type="arrow" w="med" len="med"/>
          </a:ln>
        </p:spPr>
      </p:cxnSp>
    </p:spTree>
    <p:extLst>
      <p:ext uri="{BB962C8B-B14F-4D97-AF65-F5344CB8AC3E}">
        <p14:creationId xmlns:p14="http://schemas.microsoft.com/office/powerpoint/2010/main" val="3940150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5"/>
          <p:cNvSpPr txBox="1">
            <a:spLocks noChangeArrowheads="1"/>
          </p:cNvSpPr>
          <p:nvPr/>
        </p:nvSpPr>
        <p:spPr bwMode="auto">
          <a:xfrm>
            <a:off x="1152784" y="3580146"/>
            <a:ext cx="601662" cy="346075"/>
          </a:xfrm>
          <a:prstGeom prst="rect">
            <a:avLst/>
          </a:prstGeom>
          <a:solidFill>
            <a:srgbClr val="FF0000"/>
          </a:solidFill>
          <a:ln w="9525">
            <a:solidFill>
              <a:schemeClr val="tx1"/>
            </a:solidFill>
            <a:miter lim="800000"/>
            <a:headEnd/>
            <a:tailEnd/>
          </a:ln>
        </p:spPr>
        <p:txBody>
          <a:bodyPr wrap="none" anchor="ctr">
            <a:spAutoFit/>
          </a:bodyPr>
          <a:lstStyle>
            <a:lvl1pPr>
              <a:defRPr sz="1000" b="1">
                <a:solidFill>
                  <a:schemeClr val="tx1"/>
                </a:solidFill>
                <a:latin typeface="Lucida Sans Unicode" pitchFamily="34" charset="0"/>
              </a:defRPr>
            </a:lvl1pPr>
            <a:lvl2pPr marL="742950" indent="-285750">
              <a:defRPr sz="1000" b="1">
                <a:solidFill>
                  <a:schemeClr val="tx1"/>
                </a:solidFill>
                <a:latin typeface="Lucida Sans Unicode" pitchFamily="34" charset="0"/>
              </a:defRPr>
            </a:lvl2pPr>
            <a:lvl3pPr marL="1143000" indent="-228600">
              <a:defRPr sz="1000" b="1">
                <a:solidFill>
                  <a:schemeClr val="tx1"/>
                </a:solidFill>
                <a:latin typeface="Lucida Sans Unicode" pitchFamily="34" charset="0"/>
              </a:defRPr>
            </a:lvl3pPr>
            <a:lvl4pPr marL="1600200" indent="-228600">
              <a:defRPr sz="1000" b="1">
                <a:solidFill>
                  <a:schemeClr val="tx1"/>
                </a:solidFill>
                <a:latin typeface="Lucida Sans Unicode" pitchFamily="34" charset="0"/>
              </a:defRPr>
            </a:lvl4pPr>
            <a:lvl5pPr marL="2057400" indent="-228600">
              <a:defRPr sz="1000" b="1">
                <a:solidFill>
                  <a:schemeClr val="tx1"/>
                </a:solidFill>
                <a:latin typeface="Lucida Sans Unicode" pitchFamily="34" charset="0"/>
              </a:defRPr>
            </a:lvl5pPr>
            <a:lvl6pPr marL="2514600" indent="-228600" eaLnBrk="0" fontAlgn="base" hangingPunct="0">
              <a:spcBef>
                <a:spcPct val="0"/>
              </a:spcBef>
              <a:spcAft>
                <a:spcPct val="0"/>
              </a:spcAft>
              <a:defRPr sz="1000" b="1">
                <a:solidFill>
                  <a:schemeClr val="tx1"/>
                </a:solidFill>
                <a:latin typeface="Lucida Sans Unicode" pitchFamily="34" charset="0"/>
              </a:defRPr>
            </a:lvl6pPr>
            <a:lvl7pPr marL="2971800" indent="-228600" eaLnBrk="0" fontAlgn="base" hangingPunct="0">
              <a:spcBef>
                <a:spcPct val="0"/>
              </a:spcBef>
              <a:spcAft>
                <a:spcPct val="0"/>
              </a:spcAft>
              <a:defRPr sz="1000" b="1">
                <a:solidFill>
                  <a:schemeClr val="tx1"/>
                </a:solidFill>
                <a:latin typeface="Lucida Sans Unicode" pitchFamily="34" charset="0"/>
              </a:defRPr>
            </a:lvl7pPr>
            <a:lvl8pPr marL="3429000" indent="-228600" eaLnBrk="0" fontAlgn="base" hangingPunct="0">
              <a:spcBef>
                <a:spcPct val="0"/>
              </a:spcBef>
              <a:spcAft>
                <a:spcPct val="0"/>
              </a:spcAft>
              <a:defRPr sz="1000" b="1">
                <a:solidFill>
                  <a:schemeClr val="tx1"/>
                </a:solidFill>
                <a:latin typeface="Lucida Sans Unicode" pitchFamily="34" charset="0"/>
              </a:defRPr>
            </a:lvl8pPr>
            <a:lvl9pPr marL="3886200" indent="-228600" eaLnBrk="0" fontAlgn="base" hangingPunct="0">
              <a:spcBef>
                <a:spcPct val="0"/>
              </a:spcBef>
              <a:spcAft>
                <a:spcPct val="0"/>
              </a:spcAft>
              <a:defRPr sz="1000" b="1">
                <a:solidFill>
                  <a:schemeClr val="tx1"/>
                </a:solidFill>
                <a:latin typeface="Lucida Sans Unicode" pitchFamily="34" charset="0"/>
              </a:defRPr>
            </a:lvl9pPr>
          </a:lstStyle>
          <a:p>
            <a:pPr algn="ctr"/>
            <a:r>
              <a:rPr lang="en-GB" sz="1600"/>
              <a:t>Flag</a:t>
            </a:r>
          </a:p>
        </p:txBody>
      </p:sp>
      <p:sp>
        <p:nvSpPr>
          <p:cNvPr id="4" name="Text Box 6"/>
          <p:cNvSpPr txBox="1">
            <a:spLocks noChangeArrowheads="1"/>
          </p:cNvSpPr>
          <p:nvPr/>
        </p:nvSpPr>
        <p:spPr bwMode="auto">
          <a:xfrm>
            <a:off x="1741746" y="3580146"/>
            <a:ext cx="992188" cy="346075"/>
          </a:xfrm>
          <a:prstGeom prst="rect">
            <a:avLst/>
          </a:prstGeom>
          <a:solidFill>
            <a:srgbClr val="CCFF99"/>
          </a:solidFill>
          <a:ln w="9525">
            <a:solidFill>
              <a:schemeClr val="tx1"/>
            </a:solidFill>
            <a:miter lim="800000"/>
            <a:headEnd/>
            <a:tailEnd/>
          </a:ln>
        </p:spPr>
        <p:txBody>
          <a:bodyPr wrap="none" anchor="ctr">
            <a:spAutoFit/>
          </a:bodyPr>
          <a:lstStyle>
            <a:lvl1pPr>
              <a:defRPr sz="1000" b="1">
                <a:solidFill>
                  <a:schemeClr val="tx1"/>
                </a:solidFill>
                <a:latin typeface="Lucida Sans Unicode" pitchFamily="34" charset="0"/>
              </a:defRPr>
            </a:lvl1pPr>
            <a:lvl2pPr marL="742950" indent="-285750">
              <a:defRPr sz="1000" b="1">
                <a:solidFill>
                  <a:schemeClr val="tx1"/>
                </a:solidFill>
                <a:latin typeface="Lucida Sans Unicode" pitchFamily="34" charset="0"/>
              </a:defRPr>
            </a:lvl2pPr>
            <a:lvl3pPr marL="1143000" indent="-228600">
              <a:defRPr sz="1000" b="1">
                <a:solidFill>
                  <a:schemeClr val="tx1"/>
                </a:solidFill>
                <a:latin typeface="Lucida Sans Unicode" pitchFamily="34" charset="0"/>
              </a:defRPr>
            </a:lvl3pPr>
            <a:lvl4pPr marL="1600200" indent="-228600">
              <a:defRPr sz="1000" b="1">
                <a:solidFill>
                  <a:schemeClr val="tx1"/>
                </a:solidFill>
                <a:latin typeface="Lucida Sans Unicode" pitchFamily="34" charset="0"/>
              </a:defRPr>
            </a:lvl4pPr>
            <a:lvl5pPr marL="2057400" indent="-228600">
              <a:defRPr sz="1000" b="1">
                <a:solidFill>
                  <a:schemeClr val="tx1"/>
                </a:solidFill>
                <a:latin typeface="Lucida Sans Unicode" pitchFamily="34" charset="0"/>
              </a:defRPr>
            </a:lvl5pPr>
            <a:lvl6pPr marL="2514600" indent="-228600" eaLnBrk="0" fontAlgn="base" hangingPunct="0">
              <a:spcBef>
                <a:spcPct val="0"/>
              </a:spcBef>
              <a:spcAft>
                <a:spcPct val="0"/>
              </a:spcAft>
              <a:defRPr sz="1000" b="1">
                <a:solidFill>
                  <a:schemeClr val="tx1"/>
                </a:solidFill>
                <a:latin typeface="Lucida Sans Unicode" pitchFamily="34" charset="0"/>
              </a:defRPr>
            </a:lvl6pPr>
            <a:lvl7pPr marL="2971800" indent="-228600" eaLnBrk="0" fontAlgn="base" hangingPunct="0">
              <a:spcBef>
                <a:spcPct val="0"/>
              </a:spcBef>
              <a:spcAft>
                <a:spcPct val="0"/>
              </a:spcAft>
              <a:defRPr sz="1000" b="1">
                <a:solidFill>
                  <a:schemeClr val="tx1"/>
                </a:solidFill>
                <a:latin typeface="Lucida Sans Unicode" pitchFamily="34" charset="0"/>
              </a:defRPr>
            </a:lvl7pPr>
            <a:lvl8pPr marL="3429000" indent="-228600" eaLnBrk="0" fontAlgn="base" hangingPunct="0">
              <a:spcBef>
                <a:spcPct val="0"/>
              </a:spcBef>
              <a:spcAft>
                <a:spcPct val="0"/>
              </a:spcAft>
              <a:defRPr sz="1000" b="1">
                <a:solidFill>
                  <a:schemeClr val="tx1"/>
                </a:solidFill>
                <a:latin typeface="Lucida Sans Unicode" pitchFamily="34" charset="0"/>
              </a:defRPr>
            </a:lvl8pPr>
            <a:lvl9pPr marL="3886200" indent="-228600" eaLnBrk="0" fontAlgn="base" hangingPunct="0">
              <a:spcBef>
                <a:spcPct val="0"/>
              </a:spcBef>
              <a:spcAft>
                <a:spcPct val="0"/>
              </a:spcAft>
              <a:defRPr sz="1000" b="1">
                <a:solidFill>
                  <a:schemeClr val="tx1"/>
                </a:solidFill>
                <a:latin typeface="Lucida Sans Unicode" pitchFamily="34" charset="0"/>
              </a:defRPr>
            </a:lvl9pPr>
          </a:lstStyle>
          <a:p>
            <a:pPr algn="ctr"/>
            <a:r>
              <a:rPr lang="en-GB" sz="1600" dirty="0"/>
              <a:t>Address</a:t>
            </a:r>
          </a:p>
        </p:txBody>
      </p:sp>
      <p:sp>
        <p:nvSpPr>
          <p:cNvPr id="5" name="Text Box 7"/>
          <p:cNvSpPr txBox="1">
            <a:spLocks noChangeArrowheads="1"/>
          </p:cNvSpPr>
          <p:nvPr/>
        </p:nvSpPr>
        <p:spPr bwMode="auto">
          <a:xfrm>
            <a:off x="2683134" y="3580146"/>
            <a:ext cx="930275" cy="346075"/>
          </a:xfrm>
          <a:prstGeom prst="rect">
            <a:avLst/>
          </a:prstGeom>
          <a:solidFill>
            <a:srgbClr val="99CCFF"/>
          </a:solidFill>
          <a:ln w="9525">
            <a:solidFill>
              <a:schemeClr val="tx1"/>
            </a:solidFill>
            <a:miter lim="800000"/>
            <a:headEnd/>
            <a:tailEnd/>
          </a:ln>
        </p:spPr>
        <p:txBody>
          <a:bodyPr wrap="none" anchor="ctr">
            <a:spAutoFit/>
          </a:bodyPr>
          <a:lstStyle>
            <a:lvl1pPr>
              <a:defRPr sz="1000" b="1">
                <a:solidFill>
                  <a:schemeClr val="tx1"/>
                </a:solidFill>
                <a:latin typeface="Lucida Sans Unicode" pitchFamily="34" charset="0"/>
              </a:defRPr>
            </a:lvl1pPr>
            <a:lvl2pPr marL="742950" indent="-285750">
              <a:defRPr sz="1000" b="1">
                <a:solidFill>
                  <a:schemeClr val="tx1"/>
                </a:solidFill>
                <a:latin typeface="Lucida Sans Unicode" pitchFamily="34" charset="0"/>
              </a:defRPr>
            </a:lvl2pPr>
            <a:lvl3pPr marL="1143000" indent="-228600">
              <a:defRPr sz="1000" b="1">
                <a:solidFill>
                  <a:schemeClr val="tx1"/>
                </a:solidFill>
                <a:latin typeface="Lucida Sans Unicode" pitchFamily="34" charset="0"/>
              </a:defRPr>
            </a:lvl3pPr>
            <a:lvl4pPr marL="1600200" indent="-228600">
              <a:defRPr sz="1000" b="1">
                <a:solidFill>
                  <a:schemeClr val="tx1"/>
                </a:solidFill>
                <a:latin typeface="Lucida Sans Unicode" pitchFamily="34" charset="0"/>
              </a:defRPr>
            </a:lvl4pPr>
            <a:lvl5pPr marL="2057400" indent="-228600">
              <a:defRPr sz="1000" b="1">
                <a:solidFill>
                  <a:schemeClr val="tx1"/>
                </a:solidFill>
                <a:latin typeface="Lucida Sans Unicode" pitchFamily="34" charset="0"/>
              </a:defRPr>
            </a:lvl5pPr>
            <a:lvl6pPr marL="2514600" indent="-228600" eaLnBrk="0" fontAlgn="base" hangingPunct="0">
              <a:spcBef>
                <a:spcPct val="0"/>
              </a:spcBef>
              <a:spcAft>
                <a:spcPct val="0"/>
              </a:spcAft>
              <a:defRPr sz="1000" b="1">
                <a:solidFill>
                  <a:schemeClr val="tx1"/>
                </a:solidFill>
                <a:latin typeface="Lucida Sans Unicode" pitchFamily="34" charset="0"/>
              </a:defRPr>
            </a:lvl6pPr>
            <a:lvl7pPr marL="2971800" indent="-228600" eaLnBrk="0" fontAlgn="base" hangingPunct="0">
              <a:spcBef>
                <a:spcPct val="0"/>
              </a:spcBef>
              <a:spcAft>
                <a:spcPct val="0"/>
              </a:spcAft>
              <a:defRPr sz="1000" b="1">
                <a:solidFill>
                  <a:schemeClr val="tx1"/>
                </a:solidFill>
                <a:latin typeface="Lucida Sans Unicode" pitchFamily="34" charset="0"/>
              </a:defRPr>
            </a:lvl7pPr>
            <a:lvl8pPr marL="3429000" indent="-228600" eaLnBrk="0" fontAlgn="base" hangingPunct="0">
              <a:spcBef>
                <a:spcPct val="0"/>
              </a:spcBef>
              <a:spcAft>
                <a:spcPct val="0"/>
              </a:spcAft>
              <a:defRPr sz="1000" b="1">
                <a:solidFill>
                  <a:schemeClr val="tx1"/>
                </a:solidFill>
                <a:latin typeface="Lucida Sans Unicode" pitchFamily="34" charset="0"/>
              </a:defRPr>
            </a:lvl8pPr>
            <a:lvl9pPr marL="3886200" indent="-228600" eaLnBrk="0" fontAlgn="base" hangingPunct="0">
              <a:spcBef>
                <a:spcPct val="0"/>
              </a:spcBef>
              <a:spcAft>
                <a:spcPct val="0"/>
              </a:spcAft>
              <a:defRPr sz="1000" b="1">
                <a:solidFill>
                  <a:schemeClr val="tx1"/>
                </a:solidFill>
                <a:latin typeface="Lucida Sans Unicode" pitchFamily="34" charset="0"/>
              </a:defRPr>
            </a:lvl9pPr>
          </a:lstStyle>
          <a:p>
            <a:r>
              <a:rPr lang="en-GB" sz="1600"/>
              <a:t>Control</a:t>
            </a:r>
          </a:p>
        </p:txBody>
      </p:sp>
      <p:sp>
        <p:nvSpPr>
          <p:cNvPr id="6" name="Text Box 8"/>
          <p:cNvSpPr txBox="1">
            <a:spLocks noChangeArrowheads="1"/>
          </p:cNvSpPr>
          <p:nvPr/>
        </p:nvSpPr>
        <p:spPr bwMode="auto">
          <a:xfrm>
            <a:off x="3597534" y="3580146"/>
            <a:ext cx="3009900" cy="346075"/>
          </a:xfrm>
          <a:prstGeom prst="rect">
            <a:avLst/>
          </a:prstGeom>
          <a:solidFill>
            <a:srgbClr val="FFFF00"/>
          </a:solidFill>
          <a:ln w="9525">
            <a:solidFill>
              <a:schemeClr val="tx1"/>
            </a:solidFill>
            <a:miter lim="800000"/>
            <a:headEnd/>
            <a:tailEnd/>
          </a:ln>
        </p:spPr>
        <p:txBody>
          <a:bodyPr anchor="ctr">
            <a:spAutoFit/>
          </a:bodyPr>
          <a:lstStyle>
            <a:lvl1pPr>
              <a:defRPr sz="1000" b="1">
                <a:solidFill>
                  <a:schemeClr val="tx1"/>
                </a:solidFill>
                <a:latin typeface="Lucida Sans Unicode" pitchFamily="34" charset="0"/>
              </a:defRPr>
            </a:lvl1pPr>
            <a:lvl2pPr marL="742950" indent="-285750">
              <a:defRPr sz="1000" b="1">
                <a:solidFill>
                  <a:schemeClr val="tx1"/>
                </a:solidFill>
                <a:latin typeface="Lucida Sans Unicode" pitchFamily="34" charset="0"/>
              </a:defRPr>
            </a:lvl2pPr>
            <a:lvl3pPr marL="1143000" indent="-228600">
              <a:defRPr sz="1000" b="1">
                <a:solidFill>
                  <a:schemeClr val="tx1"/>
                </a:solidFill>
                <a:latin typeface="Lucida Sans Unicode" pitchFamily="34" charset="0"/>
              </a:defRPr>
            </a:lvl3pPr>
            <a:lvl4pPr marL="1600200" indent="-228600">
              <a:defRPr sz="1000" b="1">
                <a:solidFill>
                  <a:schemeClr val="tx1"/>
                </a:solidFill>
                <a:latin typeface="Lucida Sans Unicode" pitchFamily="34" charset="0"/>
              </a:defRPr>
            </a:lvl4pPr>
            <a:lvl5pPr marL="2057400" indent="-228600">
              <a:defRPr sz="1000" b="1">
                <a:solidFill>
                  <a:schemeClr val="tx1"/>
                </a:solidFill>
                <a:latin typeface="Lucida Sans Unicode" pitchFamily="34" charset="0"/>
              </a:defRPr>
            </a:lvl5pPr>
            <a:lvl6pPr marL="2514600" indent="-228600" eaLnBrk="0" fontAlgn="base" hangingPunct="0">
              <a:spcBef>
                <a:spcPct val="0"/>
              </a:spcBef>
              <a:spcAft>
                <a:spcPct val="0"/>
              </a:spcAft>
              <a:defRPr sz="1000" b="1">
                <a:solidFill>
                  <a:schemeClr val="tx1"/>
                </a:solidFill>
                <a:latin typeface="Lucida Sans Unicode" pitchFamily="34" charset="0"/>
              </a:defRPr>
            </a:lvl6pPr>
            <a:lvl7pPr marL="2971800" indent="-228600" eaLnBrk="0" fontAlgn="base" hangingPunct="0">
              <a:spcBef>
                <a:spcPct val="0"/>
              </a:spcBef>
              <a:spcAft>
                <a:spcPct val="0"/>
              </a:spcAft>
              <a:defRPr sz="1000" b="1">
                <a:solidFill>
                  <a:schemeClr val="tx1"/>
                </a:solidFill>
                <a:latin typeface="Lucida Sans Unicode" pitchFamily="34" charset="0"/>
              </a:defRPr>
            </a:lvl7pPr>
            <a:lvl8pPr marL="3429000" indent="-228600" eaLnBrk="0" fontAlgn="base" hangingPunct="0">
              <a:spcBef>
                <a:spcPct val="0"/>
              </a:spcBef>
              <a:spcAft>
                <a:spcPct val="0"/>
              </a:spcAft>
              <a:defRPr sz="1000" b="1">
                <a:solidFill>
                  <a:schemeClr val="tx1"/>
                </a:solidFill>
                <a:latin typeface="Lucida Sans Unicode" pitchFamily="34" charset="0"/>
              </a:defRPr>
            </a:lvl8pPr>
            <a:lvl9pPr marL="3886200" indent="-228600" eaLnBrk="0" fontAlgn="base" hangingPunct="0">
              <a:spcBef>
                <a:spcPct val="0"/>
              </a:spcBef>
              <a:spcAft>
                <a:spcPct val="0"/>
              </a:spcAft>
              <a:defRPr sz="1000" b="1">
                <a:solidFill>
                  <a:schemeClr val="tx1"/>
                </a:solidFill>
                <a:latin typeface="Lucida Sans Unicode" pitchFamily="34" charset="0"/>
              </a:defRPr>
            </a:lvl9pPr>
          </a:lstStyle>
          <a:p>
            <a:pPr algn="ctr"/>
            <a:r>
              <a:rPr lang="en-GB" sz="1600" dirty="0"/>
              <a:t>Information Field (Payload)</a:t>
            </a:r>
          </a:p>
        </p:txBody>
      </p:sp>
      <p:sp>
        <p:nvSpPr>
          <p:cNvPr id="7" name="Text Box 9"/>
          <p:cNvSpPr txBox="1">
            <a:spLocks noChangeArrowheads="1"/>
          </p:cNvSpPr>
          <p:nvPr/>
        </p:nvSpPr>
        <p:spPr bwMode="auto">
          <a:xfrm>
            <a:off x="6607434" y="3580146"/>
            <a:ext cx="631825" cy="346075"/>
          </a:xfrm>
          <a:prstGeom prst="rect">
            <a:avLst/>
          </a:prstGeom>
          <a:solidFill>
            <a:srgbClr val="66FFFF"/>
          </a:solidFill>
          <a:ln w="9525">
            <a:solidFill>
              <a:schemeClr val="tx1"/>
            </a:solidFill>
            <a:miter lim="800000"/>
            <a:headEnd/>
            <a:tailEnd/>
          </a:ln>
        </p:spPr>
        <p:txBody>
          <a:bodyPr anchor="ctr">
            <a:spAutoFit/>
          </a:bodyPr>
          <a:lstStyle>
            <a:lvl1pPr>
              <a:defRPr sz="1000" b="1">
                <a:solidFill>
                  <a:schemeClr val="tx1"/>
                </a:solidFill>
                <a:latin typeface="Lucida Sans Unicode" pitchFamily="34" charset="0"/>
              </a:defRPr>
            </a:lvl1pPr>
            <a:lvl2pPr marL="742950" indent="-285750">
              <a:defRPr sz="1000" b="1">
                <a:solidFill>
                  <a:schemeClr val="tx1"/>
                </a:solidFill>
                <a:latin typeface="Lucida Sans Unicode" pitchFamily="34" charset="0"/>
              </a:defRPr>
            </a:lvl2pPr>
            <a:lvl3pPr marL="1143000" indent="-228600">
              <a:defRPr sz="1000" b="1">
                <a:solidFill>
                  <a:schemeClr val="tx1"/>
                </a:solidFill>
                <a:latin typeface="Lucida Sans Unicode" pitchFamily="34" charset="0"/>
              </a:defRPr>
            </a:lvl3pPr>
            <a:lvl4pPr marL="1600200" indent="-228600">
              <a:defRPr sz="1000" b="1">
                <a:solidFill>
                  <a:schemeClr val="tx1"/>
                </a:solidFill>
                <a:latin typeface="Lucida Sans Unicode" pitchFamily="34" charset="0"/>
              </a:defRPr>
            </a:lvl4pPr>
            <a:lvl5pPr marL="2057400" indent="-228600">
              <a:defRPr sz="1000" b="1">
                <a:solidFill>
                  <a:schemeClr val="tx1"/>
                </a:solidFill>
                <a:latin typeface="Lucida Sans Unicode" pitchFamily="34" charset="0"/>
              </a:defRPr>
            </a:lvl5pPr>
            <a:lvl6pPr marL="2514600" indent="-228600" eaLnBrk="0" fontAlgn="base" hangingPunct="0">
              <a:spcBef>
                <a:spcPct val="0"/>
              </a:spcBef>
              <a:spcAft>
                <a:spcPct val="0"/>
              </a:spcAft>
              <a:defRPr sz="1000" b="1">
                <a:solidFill>
                  <a:schemeClr val="tx1"/>
                </a:solidFill>
                <a:latin typeface="Lucida Sans Unicode" pitchFamily="34" charset="0"/>
              </a:defRPr>
            </a:lvl6pPr>
            <a:lvl7pPr marL="2971800" indent="-228600" eaLnBrk="0" fontAlgn="base" hangingPunct="0">
              <a:spcBef>
                <a:spcPct val="0"/>
              </a:spcBef>
              <a:spcAft>
                <a:spcPct val="0"/>
              </a:spcAft>
              <a:defRPr sz="1000" b="1">
                <a:solidFill>
                  <a:schemeClr val="tx1"/>
                </a:solidFill>
                <a:latin typeface="Lucida Sans Unicode" pitchFamily="34" charset="0"/>
              </a:defRPr>
            </a:lvl7pPr>
            <a:lvl8pPr marL="3429000" indent="-228600" eaLnBrk="0" fontAlgn="base" hangingPunct="0">
              <a:spcBef>
                <a:spcPct val="0"/>
              </a:spcBef>
              <a:spcAft>
                <a:spcPct val="0"/>
              </a:spcAft>
              <a:defRPr sz="1000" b="1">
                <a:solidFill>
                  <a:schemeClr val="tx1"/>
                </a:solidFill>
                <a:latin typeface="Lucida Sans Unicode" pitchFamily="34" charset="0"/>
              </a:defRPr>
            </a:lvl8pPr>
            <a:lvl9pPr marL="3886200" indent="-228600" eaLnBrk="0" fontAlgn="base" hangingPunct="0">
              <a:spcBef>
                <a:spcPct val="0"/>
              </a:spcBef>
              <a:spcAft>
                <a:spcPct val="0"/>
              </a:spcAft>
              <a:defRPr sz="1000" b="1">
                <a:solidFill>
                  <a:schemeClr val="tx1"/>
                </a:solidFill>
                <a:latin typeface="Lucida Sans Unicode" pitchFamily="34" charset="0"/>
              </a:defRPr>
            </a:lvl9pPr>
          </a:lstStyle>
          <a:p>
            <a:r>
              <a:rPr lang="en-GB" sz="1600"/>
              <a:t>CRC</a:t>
            </a:r>
          </a:p>
        </p:txBody>
      </p:sp>
      <p:sp>
        <p:nvSpPr>
          <p:cNvPr id="8" name="Text Box 10"/>
          <p:cNvSpPr txBox="1">
            <a:spLocks noChangeArrowheads="1"/>
          </p:cNvSpPr>
          <p:nvPr/>
        </p:nvSpPr>
        <p:spPr bwMode="auto">
          <a:xfrm>
            <a:off x="7217034" y="3580146"/>
            <a:ext cx="601662" cy="346075"/>
          </a:xfrm>
          <a:prstGeom prst="rect">
            <a:avLst/>
          </a:prstGeom>
          <a:solidFill>
            <a:srgbClr val="FF0000"/>
          </a:solidFill>
          <a:ln w="9525">
            <a:solidFill>
              <a:schemeClr val="tx1"/>
            </a:solidFill>
            <a:miter lim="800000"/>
            <a:headEnd/>
            <a:tailEnd/>
          </a:ln>
        </p:spPr>
        <p:txBody>
          <a:bodyPr wrap="none" anchor="ctr">
            <a:spAutoFit/>
          </a:bodyPr>
          <a:lstStyle>
            <a:lvl1pPr>
              <a:defRPr sz="1000" b="1">
                <a:solidFill>
                  <a:schemeClr val="tx1"/>
                </a:solidFill>
                <a:latin typeface="Lucida Sans Unicode" pitchFamily="34" charset="0"/>
              </a:defRPr>
            </a:lvl1pPr>
            <a:lvl2pPr marL="742950" indent="-285750">
              <a:defRPr sz="1000" b="1">
                <a:solidFill>
                  <a:schemeClr val="tx1"/>
                </a:solidFill>
                <a:latin typeface="Lucida Sans Unicode" pitchFamily="34" charset="0"/>
              </a:defRPr>
            </a:lvl2pPr>
            <a:lvl3pPr marL="1143000" indent="-228600">
              <a:defRPr sz="1000" b="1">
                <a:solidFill>
                  <a:schemeClr val="tx1"/>
                </a:solidFill>
                <a:latin typeface="Lucida Sans Unicode" pitchFamily="34" charset="0"/>
              </a:defRPr>
            </a:lvl3pPr>
            <a:lvl4pPr marL="1600200" indent="-228600">
              <a:defRPr sz="1000" b="1">
                <a:solidFill>
                  <a:schemeClr val="tx1"/>
                </a:solidFill>
                <a:latin typeface="Lucida Sans Unicode" pitchFamily="34" charset="0"/>
              </a:defRPr>
            </a:lvl4pPr>
            <a:lvl5pPr marL="2057400" indent="-228600">
              <a:defRPr sz="1000" b="1">
                <a:solidFill>
                  <a:schemeClr val="tx1"/>
                </a:solidFill>
                <a:latin typeface="Lucida Sans Unicode" pitchFamily="34" charset="0"/>
              </a:defRPr>
            </a:lvl5pPr>
            <a:lvl6pPr marL="2514600" indent="-228600" eaLnBrk="0" fontAlgn="base" hangingPunct="0">
              <a:spcBef>
                <a:spcPct val="0"/>
              </a:spcBef>
              <a:spcAft>
                <a:spcPct val="0"/>
              </a:spcAft>
              <a:defRPr sz="1000" b="1">
                <a:solidFill>
                  <a:schemeClr val="tx1"/>
                </a:solidFill>
                <a:latin typeface="Lucida Sans Unicode" pitchFamily="34" charset="0"/>
              </a:defRPr>
            </a:lvl6pPr>
            <a:lvl7pPr marL="2971800" indent="-228600" eaLnBrk="0" fontAlgn="base" hangingPunct="0">
              <a:spcBef>
                <a:spcPct val="0"/>
              </a:spcBef>
              <a:spcAft>
                <a:spcPct val="0"/>
              </a:spcAft>
              <a:defRPr sz="1000" b="1">
                <a:solidFill>
                  <a:schemeClr val="tx1"/>
                </a:solidFill>
                <a:latin typeface="Lucida Sans Unicode" pitchFamily="34" charset="0"/>
              </a:defRPr>
            </a:lvl7pPr>
            <a:lvl8pPr marL="3429000" indent="-228600" eaLnBrk="0" fontAlgn="base" hangingPunct="0">
              <a:spcBef>
                <a:spcPct val="0"/>
              </a:spcBef>
              <a:spcAft>
                <a:spcPct val="0"/>
              </a:spcAft>
              <a:defRPr sz="1000" b="1">
                <a:solidFill>
                  <a:schemeClr val="tx1"/>
                </a:solidFill>
                <a:latin typeface="Lucida Sans Unicode" pitchFamily="34" charset="0"/>
              </a:defRPr>
            </a:lvl8pPr>
            <a:lvl9pPr marL="3886200" indent="-228600" eaLnBrk="0" fontAlgn="base" hangingPunct="0">
              <a:spcBef>
                <a:spcPct val="0"/>
              </a:spcBef>
              <a:spcAft>
                <a:spcPct val="0"/>
              </a:spcAft>
              <a:defRPr sz="1000" b="1">
                <a:solidFill>
                  <a:schemeClr val="tx1"/>
                </a:solidFill>
                <a:latin typeface="Lucida Sans Unicode" pitchFamily="34" charset="0"/>
              </a:defRPr>
            </a:lvl9pPr>
          </a:lstStyle>
          <a:p>
            <a:r>
              <a:rPr lang="en-GB" sz="1600"/>
              <a:t>Flag</a:t>
            </a:r>
          </a:p>
        </p:txBody>
      </p:sp>
      <p:sp>
        <p:nvSpPr>
          <p:cNvPr id="9" name="Text Box 11"/>
          <p:cNvSpPr txBox="1">
            <a:spLocks noChangeArrowheads="1"/>
          </p:cNvSpPr>
          <p:nvPr/>
        </p:nvSpPr>
        <p:spPr bwMode="auto">
          <a:xfrm>
            <a:off x="1068646" y="3246771"/>
            <a:ext cx="15382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000" b="1">
                <a:solidFill>
                  <a:schemeClr val="tx1"/>
                </a:solidFill>
                <a:latin typeface="Lucida Sans Unicode" pitchFamily="34" charset="0"/>
              </a:defRPr>
            </a:lvl1pPr>
            <a:lvl2pPr marL="742950" indent="-285750">
              <a:defRPr sz="1000" b="1">
                <a:solidFill>
                  <a:schemeClr val="tx1"/>
                </a:solidFill>
                <a:latin typeface="Lucida Sans Unicode" pitchFamily="34" charset="0"/>
              </a:defRPr>
            </a:lvl2pPr>
            <a:lvl3pPr marL="1143000" indent="-228600">
              <a:defRPr sz="1000" b="1">
                <a:solidFill>
                  <a:schemeClr val="tx1"/>
                </a:solidFill>
                <a:latin typeface="Lucida Sans Unicode" pitchFamily="34" charset="0"/>
              </a:defRPr>
            </a:lvl3pPr>
            <a:lvl4pPr marL="1600200" indent="-228600">
              <a:defRPr sz="1000" b="1">
                <a:solidFill>
                  <a:schemeClr val="tx1"/>
                </a:solidFill>
                <a:latin typeface="Lucida Sans Unicode" pitchFamily="34" charset="0"/>
              </a:defRPr>
            </a:lvl4pPr>
            <a:lvl5pPr marL="2057400" indent="-228600">
              <a:defRPr sz="1000" b="1">
                <a:solidFill>
                  <a:schemeClr val="tx1"/>
                </a:solidFill>
                <a:latin typeface="Lucida Sans Unicode" pitchFamily="34" charset="0"/>
              </a:defRPr>
            </a:lvl5pPr>
            <a:lvl6pPr marL="2514600" indent="-228600" eaLnBrk="0" fontAlgn="base" hangingPunct="0">
              <a:spcBef>
                <a:spcPct val="0"/>
              </a:spcBef>
              <a:spcAft>
                <a:spcPct val="0"/>
              </a:spcAft>
              <a:defRPr sz="1000" b="1">
                <a:solidFill>
                  <a:schemeClr val="tx1"/>
                </a:solidFill>
                <a:latin typeface="Lucida Sans Unicode" pitchFamily="34" charset="0"/>
              </a:defRPr>
            </a:lvl6pPr>
            <a:lvl7pPr marL="2971800" indent="-228600" eaLnBrk="0" fontAlgn="base" hangingPunct="0">
              <a:spcBef>
                <a:spcPct val="0"/>
              </a:spcBef>
              <a:spcAft>
                <a:spcPct val="0"/>
              </a:spcAft>
              <a:defRPr sz="1000" b="1">
                <a:solidFill>
                  <a:schemeClr val="tx1"/>
                </a:solidFill>
                <a:latin typeface="Lucida Sans Unicode" pitchFamily="34" charset="0"/>
              </a:defRPr>
            </a:lvl7pPr>
            <a:lvl8pPr marL="3429000" indent="-228600" eaLnBrk="0" fontAlgn="base" hangingPunct="0">
              <a:spcBef>
                <a:spcPct val="0"/>
              </a:spcBef>
              <a:spcAft>
                <a:spcPct val="0"/>
              </a:spcAft>
              <a:defRPr sz="1000" b="1">
                <a:solidFill>
                  <a:schemeClr val="tx1"/>
                </a:solidFill>
                <a:latin typeface="Lucida Sans Unicode" pitchFamily="34" charset="0"/>
              </a:defRPr>
            </a:lvl8pPr>
            <a:lvl9pPr marL="3886200" indent="-228600" eaLnBrk="0" fontAlgn="base" hangingPunct="0">
              <a:spcBef>
                <a:spcPct val="0"/>
              </a:spcBef>
              <a:spcAft>
                <a:spcPct val="0"/>
              </a:spcAft>
              <a:defRPr sz="1000" b="1">
                <a:solidFill>
                  <a:schemeClr val="tx1"/>
                </a:solidFill>
                <a:latin typeface="Lucida Sans Unicode" pitchFamily="34" charset="0"/>
              </a:defRPr>
            </a:lvl9pPr>
          </a:lstStyle>
          <a:p>
            <a:pPr algn="ctr"/>
            <a:r>
              <a:rPr lang="en-GB" sz="1600" b="0" dirty="0"/>
              <a:t>start of frame</a:t>
            </a:r>
          </a:p>
        </p:txBody>
      </p:sp>
      <p:sp>
        <p:nvSpPr>
          <p:cNvPr id="10" name="Text Box 12"/>
          <p:cNvSpPr txBox="1">
            <a:spLocks noChangeArrowheads="1"/>
          </p:cNvSpPr>
          <p:nvPr/>
        </p:nvSpPr>
        <p:spPr bwMode="auto">
          <a:xfrm>
            <a:off x="6421696" y="3246771"/>
            <a:ext cx="14541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000" b="1">
                <a:solidFill>
                  <a:schemeClr val="tx1"/>
                </a:solidFill>
                <a:latin typeface="Lucida Sans Unicode" pitchFamily="34" charset="0"/>
              </a:defRPr>
            </a:lvl1pPr>
            <a:lvl2pPr marL="742950" indent="-285750">
              <a:defRPr sz="1000" b="1">
                <a:solidFill>
                  <a:schemeClr val="tx1"/>
                </a:solidFill>
                <a:latin typeface="Lucida Sans Unicode" pitchFamily="34" charset="0"/>
              </a:defRPr>
            </a:lvl2pPr>
            <a:lvl3pPr marL="1143000" indent="-228600">
              <a:defRPr sz="1000" b="1">
                <a:solidFill>
                  <a:schemeClr val="tx1"/>
                </a:solidFill>
                <a:latin typeface="Lucida Sans Unicode" pitchFamily="34" charset="0"/>
              </a:defRPr>
            </a:lvl3pPr>
            <a:lvl4pPr marL="1600200" indent="-228600">
              <a:defRPr sz="1000" b="1">
                <a:solidFill>
                  <a:schemeClr val="tx1"/>
                </a:solidFill>
                <a:latin typeface="Lucida Sans Unicode" pitchFamily="34" charset="0"/>
              </a:defRPr>
            </a:lvl4pPr>
            <a:lvl5pPr marL="2057400" indent="-228600">
              <a:defRPr sz="1000" b="1">
                <a:solidFill>
                  <a:schemeClr val="tx1"/>
                </a:solidFill>
                <a:latin typeface="Lucida Sans Unicode" pitchFamily="34" charset="0"/>
              </a:defRPr>
            </a:lvl5pPr>
            <a:lvl6pPr marL="2514600" indent="-228600" eaLnBrk="0" fontAlgn="base" hangingPunct="0">
              <a:spcBef>
                <a:spcPct val="0"/>
              </a:spcBef>
              <a:spcAft>
                <a:spcPct val="0"/>
              </a:spcAft>
              <a:defRPr sz="1000" b="1">
                <a:solidFill>
                  <a:schemeClr val="tx1"/>
                </a:solidFill>
                <a:latin typeface="Lucida Sans Unicode" pitchFamily="34" charset="0"/>
              </a:defRPr>
            </a:lvl6pPr>
            <a:lvl7pPr marL="2971800" indent="-228600" eaLnBrk="0" fontAlgn="base" hangingPunct="0">
              <a:spcBef>
                <a:spcPct val="0"/>
              </a:spcBef>
              <a:spcAft>
                <a:spcPct val="0"/>
              </a:spcAft>
              <a:defRPr sz="1000" b="1">
                <a:solidFill>
                  <a:schemeClr val="tx1"/>
                </a:solidFill>
                <a:latin typeface="Lucida Sans Unicode" pitchFamily="34" charset="0"/>
              </a:defRPr>
            </a:lvl7pPr>
            <a:lvl8pPr marL="3429000" indent="-228600" eaLnBrk="0" fontAlgn="base" hangingPunct="0">
              <a:spcBef>
                <a:spcPct val="0"/>
              </a:spcBef>
              <a:spcAft>
                <a:spcPct val="0"/>
              </a:spcAft>
              <a:defRPr sz="1000" b="1">
                <a:solidFill>
                  <a:schemeClr val="tx1"/>
                </a:solidFill>
                <a:latin typeface="Lucida Sans Unicode" pitchFamily="34" charset="0"/>
              </a:defRPr>
            </a:lvl8pPr>
            <a:lvl9pPr marL="3886200" indent="-228600" eaLnBrk="0" fontAlgn="base" hangingPunct="0">
              <a:spcBef>
                <a:spcPct val="0"/>
              </a:spcBef>
              <a:spcAft>
                <a:spcPct val="0"/>
              </a:spcAft>
              <a:defRPr sz="1000" b="1">
                <a:solidFill>
                  <a:schemeClr val="tx1"/>
                </a:solidFill>
                <a:latin typeface="Lucida Sans Unicode" pitchFamily="34" charset="0"/>
              </a:defRPr>
            </a:lvl9pPr>
          </a:lstStyle>
          <a:p>
            <a:pPr algn="ctr"/>
            <a:r>
              <a:rPr lang="en-GB" sz="1600" b="0"/>
              <a:t>end of frame</a:t>
            </a:r>
          </a:p>
        </p:txBody>
      </p:sp>
      <p:sp>
        <p:nvSpPr>
          <p:cNvPr id="16" name="Text Box 11"/>
          <p:cNvSpPr txBox="1">
            <a:spLocks noChangeArrowheads="1"/>
          </p:cNvSpPr>
          <p:nvPr/>
        </p:nvSpPr>
        <p:spPr bwMode="auto">
          <a:xfrm>
            <a:off x="395288" y="331788"/>
            <a:ext cx="306526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000" b="1">
                <a:solidFill>
                  <a:schemeClr val="tx1"/>
                </a:solidFill>
                <a:latin typeface="Lucida Sans Unicode" pitchFamily="34" charset="0"/>
              </a:defRPr>
            </a:lvl1pPr>
            <a:lvl2pPr marL="742950" indent="-285750">
              <a:defRPr sz="1000" b="1">
                <a:solidFill>
                  <a:schemeClr val="tx1"/>
                </a:solidFill>
                <a:latin typeface="Lucida Sans Unicode" pitchFamily="34" charset="0"/>
              </a:defRPr>
            </a:lvl2pPr>
            <a:lvl3pPr marL="1143000" indent="-228600">
              <a:defRPr sz="1000" b="1">
                <a:solidFill>
                  <a:schemeClr val="tx1"/>
                </a:solidFill>
                <a:latin typeface="Lucida Sans Unicode" pitchFamily="34" charset="0"/>
              </a:defRPr>
            </a:lvl3pPr>
            <a:lvl4pPr marL="1600200" indent="-228600">
              <a:defRPr sz="1000" b="1">
                <a:solidFill>
                  <a:schemeClr val="tx1"/>
                </a:solidFill>
                <a:latin typeface="Lucida Sans Unicode" pitchFamily="34" charset="0"/>
              </a:defRPr>
            </a:lvl4pPr>
            <a:lvl5pPr marL="2057400" indent="-228600">
              <a:defRPr sz="1000" b="1">
                <a:solidFill>
                  <a:schemeClr val="tx1"/>
                </a:solidFill>
                <a:latin typeface="Lucida Sans Unicode" pitchFamily="34" charset="0"/>
              </a:defRPr>
            </a:lvl5pPr>
            <a:lvl6pPr marL="2514600" indent="-228600" eaLnBrk="0" fontAlgn="base" hangingPunct="0">
              <a:spcBef>
                <a:spcPct val="0"/>
              </a:spcBef>
              <a:spcAft>
                <a:spcPct val="0"/>
              </a:spcAft>
              <a:defRPr sz="1000" b="1">
                <a:solidFill>
                  <a:schemeClr val="tx1"/>
                </a:solidFill>
                <a:latin typeface="Lucida Sans Unicode" pitchFamily="34" charset="0"/>
              </a:defRPr>
            </a:lvl6pPr>
            <a:lvl7pPr marL="2971800" indent="-228600" eaLnBrk="0" fontAlgn="base" hangingPunct="0">
              <a:spcBef>
                <a:spcPct val="0"/>
              </a:spcBef>
              <a:spcAft>
                <a:spcPct val="0"/>
              </a:spcAft>
              <a:defRPr sz="1000" b="1">
                <a:solidFill>
                  <a:schemeClr val="tx1"/>
                </a:solidFill>
                <a:latin typeface="Lucida Sans Unicode" pitchFamily="34" charset="0"/>
              </a:defRPr>
            </a:lvl7pPr>
            <a:lvl8pPr marL="3429000" indent="-228600" eaLnBrk="0" fontAlgn="base" hangingPunct="0">
              <a:spcBef>
                <a:spcPct val="0"/>
              </a:spcBef>
              <a:spcAft>
                <a:spcPct val="0"/>
              </a:spcAft>
              <a:defRPr sz="1000" b="1">
                <a:solidFill>
                  <a:schemeClr val="tx1"/>
                </a:solidFill>
                <a:latin typeface="Lucida Sans Unicode" pitchFamily="34" charset="0"/>
              </a:defRPr>
            </a:lvl8pPr>
            <a:lvl9pPr marL="3886200" indent="-228600" eaLnBrk="0" fontAlgn="base" hangingPunct="0">
              <a:spcBef>
                <a:spcPct val="0"/>
              </a:spcBef>
              <a:spcAft>
                <a:spcPct val="0"/>
              </a:spcAft>
              <a:defRPr sz="1000" b="1">
                <a:solidFill>
                  <a:schemeClr val="tx1"/>
                </a:solidFill>
                <a:latin typeface="Lucida Sans Unicode" pitchFamily="34" charset="0"/>
              </a:defRPr>
            </a:lvl9pPr>
          </a:lstStyle>
          <a:p>
            <a:pPr marL="176213" indent="-176213">
              <a:lnSpc>
                <a:spcPct val="150000"/>
              </a:lnSpc>
            </a:pPr>
            <a:r>
              <a:rPr lang="en-GB" sz="2400" dirty="0"/>
              <a:t>Message in Packets</a:t>
            </a:r>
            <a:endParaRPr lang="en-GB" sz="2400" b="0" dirty="0"/>
          </a:p>
        </p:txBody>
      </p:sp>
      <p:sp>
        <p:nvSpPr>
          <p:cNvPr id="17" name="TextBox 16"/>
          <p:cNvSpPr txBox="1"/>
          <p:nvPr/>
        </p:nvSpPr>
        <p:spPr>
          <a:xfrm>
            <a:off x="1068645" y="3981414"/>
            <a:ext cx="7010325" cy="230832"/>
          </a:xfrm>
          <a:prstGeom prst="rect">
            <a:avLst/>
          </a:prstGeom>
          <a:noFill/>
        </p:spPr>
        <p:txBody>
          <a:bodyPr wrap="square" rtlCol="0">
            <a:spAutoFit/>
          </a:bodyPr>
          <a:lstStyle/>
          <a:p>
            <a:r>
              <a:rPr lang="en-GB" sz="900" dirty="0"/>
              <a:t>00010100010101000101101010001001011100010010001100100001000110010011000100100111000111001001</a:t>
            </a:r>
          </a:p>
        </p:txBody>
      </p:sp>
    </p:spTree>
    <p:extLst>
      <p:ext uri="{BB962C8B-B14F-4D97-AF65-F5344CB8AC3E}">
        <p14:creationId xmlns:p14="http://schemas.microsoft.com/office/powerpoint/2010/main" val="18091931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95288" y="1786269"/>
            <a:ext cx="7440907" cy="3508653"/>
          </a:xfrm>
          <a:prstGeom prst="rect">
            <a:avLst/>
          </a:prstGeom>
          <a:noFill/>
        </p:spPr>
        <p:txBody>
          <a:bodyPr wrap="square" rtlCol="0">
            <a:spAutoFit/>
          </a:bodyPr>
          <a:lstStyle/>
          <a:p>
            <a:r>
              <a:rPr lang="en-GB" sz="5400" b="1" dirty="0"/>
              <a:t>Layers of Networks</a:t>
            </a:r>
          </a:p>
          <a:p>
            <a:pPr marL="457200" indent="-457200">
              <a:buFont typeface="Arial" panose="020B0604020202020204" pitchFamily="34" charset="0"/>
              <a:buChar char="•"/>
            </a:pPr>
            <a:r>
              <a:rPr lang="en-GB" sz="2800" b="1" dirty="0"/>
              <a:t>The Carrier Network</a:t>
            </a:r>
          </a:p>
          <a:p>
            <a:pPr marL="457200" indent="-457200">
              <a:buFont typeface="Arial" panose="020B0604020202020204" pitchFamily="34" charset="0"/>
              <a:buChar char="•"/>
            </a:pPr>
            <a:r>
              <a:rPr lang="en-GB" sz="2800" b="1" dirty="0"/>
              <a:t>Ethernet (Data Link)</a:t>
            </a:r>
          </a:p>
          <a:p>
            <a:pPr marL="457200" indent="-457200">
              <a:buFont typeface="Arial" panose="020B0604020202020204" pitchFamily="34" charset="0"/>
              <a:buChar char="•"/>
            </a:pPr>
            <a:r>
              <a:rPr lang="en-GB" sz="2800" b="1" dirty="0"/>
              <a:t>Internet</a:t>
            </a:r>
          </a:p>
          <a:p>
            <a:pPr marL="914400" lvl="1" indent="-457200">
              <a:buFont typeface="Arial" panose="020B0604020202020204" pitchFamily="34" charset="0"/>
              <a:buChar char="•"/>
            </a:pPr>
            <a:r>
              <a:rPr lang="en-GB" sz="2800" b="1" dirty="0"/>
              <a:t>(+ The Web)</a:t>
            </a:r>
          </a:p>
          <a:p>
            <a:pPr marL="457200" indent="-457200">
              <a:buFont typeface="Arial" panose="020B0604020202020204" pitchFamily="34" charset="0"/>
              <a:buChar char="•"/>
            </a:pPr>
            <a:r>
              <a:rPr lang="en-GB" sz="2800" b="1" dirty="0"/>
              <a:t>Protocols</a:t>
            </a:r>
          </a:p>
          <a:p>
            <a:pPr marL="457200" indent="-457200">
              <a:buFont typeface="Arial" panose="020B0604020202020204" pitchFamily="34" charset="0"/>
              <a:buChar char="•"/>
            </a:pPr>
            <a:r>
              <a:rPr lang="en-GB" sz="2800" b="1" dirty="0"/>
              <a:t>Routing</a:t>
            </a:r>
            <a:endParaRPr lang="en-GB" sz="4800" b="1" dirty="0"/>
          </a:p>
        </p:txBody>
      </p:sp>
    </p:spTree>
    <p:extLst>
      <p:ext uri="{BB962C8B-B14F-4D97-AF65-F5344CB8AC3E}">
        <p14:creationId xmlns:p14="http://schemas.microsoft.com/office/powerpoint/2010/main" val="26885916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2"/>
          <p:cNvSpPr txBox="1">
            <a:spLocks noChangeArrowheads="1"/>
          </p:cNvSpPr>
          <p:nvPr/>
        </p:nvSpPr>
        <p:spPr bwMode="auto">
          <a:xfrm>
            <a:off x="381000" y="379413"/>
            <a:ext cx="3078087" cy="517065"/>
          </a:xfrm>
          <a:prstGeom prst="rect">
            <a:avLst/>
          </a:prstGeom>
          <a:noFill/>
          <a:ln w="9525">
            <a:noFill/>
            <a:miter lim="800000"/>
            <a:headEnd/>
            <a:tailEnd/>
          </a:ln>
        </p:spPr>
        <p:txBody>
          <a:bodyPr wrap="none">
            <a:spAutoFit/>
          </a:bodyPr>
          <a:lstStyle/>
          <a:p>
            <a:pPr>
              <a:lnSpc>
                <a:spcPct val="120000"/>
              </a:lnSpc>
            </a:pPr>
            <a:r>
              <a:rPr lang="en-GB" sz="2400" b="1" dirty="0"/>
              <a:t>Telecomm Network</a:t>
            </a:r>
          </a:p>
        </p:txBody>
      </p:sp>
      <p:grpSp>
        <p:nvGrpSpPr>
          <p:cNvPr id="2" name="Group 3"/>
          <p:cNvGrpSpPr>
            <a:grpSpLocks/>
          </p:cNvGrpSpPr>
          <p:nvPr/>
        </p:nvGrpSpPr>
        <p:grpSpPr bwMode="auto">
          <a:xfrm>
            <a:off x="1598613" y="1119188"/>
            <a:ext cx="6334125" cy="5270500"/>
            <a:chOff x="507" y="493"/>
            <a:chExt cx="4449" cy="3601"/>
          </a:xfrm>
        </p:grpSpPr>
        <p:grpSp>
          <p:nvGrpSpPr>
            <p:cNvPr id="3" name="Group 4"/>
            <p:cNvGrpSpPr>
              <a:grpSpLocks/>
            </p:cNvGrpSpPr>
            <p:nvPr/>
          </p:nvGrpSpPr>
          <p:grpSpPr bwMode="auto">
            <a:xfrm>
              <a:off x="789" y="987"/>
              <a:ext cx="500" cy="584"/>
              <a:chOff x="789" y="987"/>
              <a:chExt cx="500" cy="584"/>
            </a:xfrm>
          </p:grpSpPr>
          <p:sp>
            <p:nvSpPr>
              <p:cNvPr id="8313" name="AutoShape 5"/>
              <p:cNvSpPr>
                <a:spLocks noChangeArrowheads="1"/>
              </p:cNvSpPr>
              <p:nvPr/>
            </p:nvSpPr>
            <p:spPr bwMode="auto">
              <a:xfrm>
                <a:off x="789" y="1406"/>
                <a:ext cx="151" cy="165"/>
              </a:xfrm>
              <a:prstGeom prst="octagon">
                <a:avLst>
                  <a:gd name="adj" fmla="val 29287"/>
                </a:avLst>
              </a:prstGeom>
              <a:solidFill>
                <a:srgbClr val="FF9900"/>
              </a:solidFill>
              <a:ln w="9525">
                <a:solidFill>
                  <a:schemeClr val="tx1"/>
                </a:solidFill>
                <a:miter lim="800000"/>
                <a:headEnd/>
                <a:tailEnd/>
              </a:ln>
            </p:spPr>
            <p:txBody>
              <a:bodyPr wrap="none" anchor="ctr"/>
              <a:lstStyle/>
              <a:p>
                <a:endParaRPr lang="en-US"/>
              </a:p>
            </p:txBody>
          </p:sp>
          <p:sp>
            <p:nvSpPr>
              <p:cNvPr id="8314" name="AutoShape 6"/>
              <p:cNvSpPr>
                <a:spLocks noChangeArrowheads="1"/>
              </p:cNvSpPr>
              <p:nvPr/>
            </p:nvSpPr>
            <p:spPr bwMode="auto">
              <a:xfrm>
                <a:off x="912" y="1166"/>
                <a:ext cx="151" cy="165"/>
              </a:xfrm>
              <a:prstGeom prst="octagon">
                <a:avLst>
                  <a:gd name="adj" fmla="val 29287"/>
                </a:avLst>
              </a:prstGeom>
              <a:solidFill>
                <a:srgbClr val="FF9900"/>
              </a:solidFill>
              <a:ln w="9525">
                <a:solidFill>
                  <a:schemeClr val="tx1"/>
                </a:solidFill>
                <a:miter lim="800000"/>
                <a:headEnd/>
                <a:tailEnd/>
              </a:ln>
            </p:spPr>
            <p:txBody>
              <a:bodyPr wrap="none" anchor="ctr"/>
              <a:lstStyle/>
              <a:p>
                <a:endParaRPr lang="en-US"/>
              </a:p>
            </p:txBody>
          </p:sp>
          <p:sp>
            <p:nvSpPr>
              <p:cNvPr id="8315" name="AutoShape 7"/>
              <p:cNvSpPr>
                <a:spLocks noChangeArrowheads="1"/>
              </p:cNvSpPr>
              <p:nvPr/>
            </p:nvSpPr>
            <p:spPr bwMode="auto">
              <a:xfrm>
                <a:off x="1138" y="987"/>
                <a:ext cx="151" cy="165"/>
              </a:xfrm>
              <a:prstGeom prst="octagon">
                <a:avLst>
                  <a:gd name="adj" fmla="val 29287"/>
                </a:avLst>
              </a:prstGeom>
              <a:solidFill>
                <a:srgbClr val="FF9900"/>
              </a:solidFill>
              <a:ln w="9525">
                <a:solidFill>
                  <a:schemeClr val="tx1"/>
                </a:solidFill>
                <a:miter lim="800000"/>
                <a:headEnd/>
                <a:tailEnd/>
              </a:ln>
            </p:spPr>
            <p:txBody>
              <a:bodyPr wrap="none" anchor="ctr"/>
              <a:lstStyle/>
              <a:p>
                <a:endParaRPr lang="en-US"/>
              </a:p>
            </p:txBody>
          </p:sp>
        </p:grpSp>
        <p:grpSp>
          <p:nvGrpSpPr>
            <p:cNvPr id="4" name="Group 8"/>
            <p:cNvGrpSpPr>
              <a:grpSpLocks/>
            </p:cNvGrpSpPr>
            <p:nvPr/>
          </p:nvGrpSpPr>
          <p:grpSpPr bwMode="auto">
            <a:xfrm rot="2332010">
              <a:off x="1625" y="493"/>
              <a:ext cx="500" cy="584"/>
              <a:chOff x="789" y="987"/>
              <a:chExt cx="500" cy="584"/>
            </a:xfrm>
          </p:grpSpPr>
          <p:sp>
            <p:nvSpPr>
              <p:cNvPr id="8310" name="AutoShape 9"/>
              <p:cNvSpPr>
                <a:spLocks noChangeArrowheads="1"/>
              </p:cNvSpPr>
              <p:nvPr/>
            </p:nvSpPr>
            <p:spPr bwMode="auto">
              <a:xfrm>
                <a:off x="789" y="1406"/>
                <a:ext cx="151" cy="165"/>
              </a:xfrm>
              <a:prstGeom prst="octagon">
                <a:avLst>
                  <a:gd name="adj" fmla="val 29287"/>
                </a:avLst>
              </a:prstGeom>
              <a:solidFill>
                <a:srgbClr val="FF9900"/>
              </a:solidFill>
              <a:ln w="9525">
                <a:solidFill>
                  <a:schemeClr val="tx1"/>
                </a:solidFill>
                <a:miter lim="800000"/>
                <a:headEnd/>
                <a:tailEnd/>
              </a:ln>
            </p:spPr>
            <p:txBody>
              <a:bodyPr wrap="none" anchor="ctr"/>
              <a:lstStyle/>
              <a:p>
                <a:endParaRPr lang="en-US"/>
              </a:p>
            </p:txBody>
          </p:sp>
          <p:sp>
            <p:nvSpPr>
              <p:cNvPr id="8311" name="AutoShape 10"/>
              <p:cNvSpPr>
                <a:spLocks noChangeArrowheads="1"/>
              </p:cNvSpPr>
              <p:nvPr/>
            </p:nvSpPr>
            <p:spPr bwMode="auto">
              <a:xfrm>
                <a:off x="912" y="1166"/>
                <a:ext cx="151" cy="165"/>
              </a:xfrm>
              <a:prstGeom prst="octagon">
                <a:avLst>
                  <a:gd name="adj" fmla="val 29287"/>
                </a:avLst>
              </a:prstGeom>
              <a:solidFill>
                <a:srgbClr val="FF9900"/>
              </a:solidFill>
              <a:ln w="9525">
                <a:solidFill>
                  <a:schemeClr val="tx1"/>
                </a:solidFill>
                <a:miter lim="800000"/>
                <a:headEnd/>
                <a:tailEnd/>
              </a:ln>
            </p:spPr>
            <p:txBody>
              <a:bodyPr wrap="none" anchor="ctr"/>
              <a:lstStyle/>
              <a:p>
                <a:endParaRPr lang="en-US"/>
              </a:p>
            </p:txBody>
          </p:sp>
          <p:sp>
            <p:nvSpPr>
              <p:cNvPr id="8312" name="AutoShape 11"/>
              <p:cNvSpPr>
                <a:spLocks noChangeArrowheads="1"/>
              </p:cNvSpPr>
              <p:nvPr/>
            </p:nvSpPr>
            <p:spPr bwMode="auto">
              <a:xfrm>
                <a:off x="1138" y="987"/>
                <a:ext cx="151" cy="165"/>
              </a:xfrm>
              <a:prstGeom prst="octagon">
                <a:avLst>
                  <a:gd name="adj" fmla="val 29287"/>
                </a:avLst>
              </a:prstGeom>
              <a:solidFill>
                <a:srgbClr val="FF9900"/>
              </a:solidFill>
              <a:ln w="9525">
                <a:solidFill>
                  <a:schemeClr val="tx1"/>
                </a:solidFill>
                <a:miter lim="800000"/>
                <a:headEnd/>
                <a:tailEnd/>
              </a:ln>
            </p:spPr>
            <p:txBody>
              <a:bodyPr wrap="none" anchor="ctr"/>
              <a:lstStyle/>
              <a:p>
                <a:endParaRPr lang="en-US"/>
              </a:p>
            </p:txBody>
          </p:sp>
        </p:grpSp>
        <p:grpSp>
          <p:nvGrpSpPr>
            <p:cNvPr id="5" name="Group 12"/>
            <p:cNvGrpSpPr>
              <a:grpSpLocks/>
            </p:cNvGrpSpPr>
            <p:nvPr/>
          </p:nvGrpSpPr>
          <p:grpSpPr bwMode="auto">
            <a:xfrm rot="4843881">
              <a:off x="2545" y="534"/>
              <a:ext cx="500" cy="584"/>
              <a:chOff x="789" y="987"/>
              <a:chExt cx="500" cy="584"/>
            </a:xfrm>
          </p:grpSpPr>
          <p:sp>
            <p:nvSpPr>
              <p:cNvPr id="8307" name="AutoShape 13"/>
              <p:cNvSpPr>
                <a:spLocks noChangeArrowheads="1"/>
              </p:cNvSpPr>
              <p:nvPr/>
            </p:nvSpPr>
            <p:spPr bwMode="auto">
              <a:xfrm>
                <a:off x="789" y="1406"/>
                <a:ext cx="151" cy="165"/>
              </a:xfrm>
              <a:prstGeom prst="octagon">
                <a:avLst>
                  <a:gd name="adj" fmla="val 29287"/>
                </a:avLst>
              </a:prstGeom>
              <a:solidFill>
                <a:srgbClr val="FF9900"/>
              </a:solidFill>
              <a:ln w="9525">
                <a:solidFill>
                  <a:schemeClr val="tx1"/>
                </a:solidFill>
                <a:miter lim="800000"/>
                <a:headEnd/>
                <a:tailEnd/>
              </a:ln>
            </p:spPr>
            <p:txBody>
              <a:bodyPr wrap="none" anchor="ctr"/>
              <a:lstStyle/>
              <a:p>
                <a:endParaRPr lang="en-US"/>
              </a:p>
            </p:txBody>
          </p:sp>
          <p:sp>
            <p:nvSpPr>
              <p:cNvPr id="8308" name="AutoShape 14"/>
              <p:cNvSpPr>
                <a:spLocks noChangeArrowheads="1"/>
              </p:cNvSpPr>
              <p:nvPr/>
            </p:nvSpPr>
            <p:spPr bwMode="auto">
              <a:xfrm>
                <a:off x="912" y="1166"/>
                <a:ext cx="151" cy="165"/>
              </a:xfrm>
              <a:prstGeom prst="octagon">
                <a:avLst>
                  <a:gd name="adj" fmla="val 29287"/>
                </a:avLst>
              </a:prstGeom>
              <a:solidFill>
                <a:srgbClr val="FF9900"/>
              </a:solidFill>
              <a:ln w="9525">
                <a:solidFill>
                  <a:schemeClr val="tx1"/>
                </a:solidFill>
                <a:miter lim="800000"/>
                <a:headEnd/>
                <a:tailEnd/>
              </a:ln>
            </p:spPr>
            <p:txBody>
              <a:bodyPr wrap="none" anchor="ctr"/>
              <a:lstStyle/>
              <a:p>
                <a:endParaRPr lang="en-US"/>
              </a:p>
            </p:txBody>
          </p:sp>
          <p:sp>
            <p:nvSpPr>
              <p:cNvPr id="8309" name="AutoShape 15"/>
              <p:cNvSpPr>
                <a:spLocks noChangeArrowheads="1"/>
              </p:cNvSpPr>
              <p:nvPr/>
            </p:nvSpPr>
            <p:spPr bwMode="auto">
              <a:xfrm>
                <a:off x="1138" y="987"/>
                <a:ext cx="151" cy="165"/>
              </a:xfrm>
              <a:prstGeom prst="octagon">
                <a:avLst>
                  <a:gd name="adj" fmla="val 29287"/>
                </a:avLst>
              </a:prstGeom>
              <a:solidFill>
                <a:srgbClr val="FF9900"/>
              </a:solidFill>
              <a:ln w="9525">
                <a:solidFill>
                  <a:schemeClr val="tx1"/>
                </a:solidFill>
                <a:miter lim="800000"/>
                <a:headEnd/>
                <a:tailEnd/>
              </a:ln>
            </p:spPr>
            <p:txBody>
              <a:bodyPr wrap="none" anchor="ctr"/>
              <a:lstStyle/>
              <a:p>
                <a:endParaRPr lang="en-US"/>
              </a:p>
            </p:txBody>
          </p:sp>
        </p:grpSp>
        <p:grpSp>
          <p:nvGrpSpPr>
            <p:cNvPr id="6" name="Group 16"/>
            <p:cNvGrpSpPr>
              <a:grpSpLocks/>
            </p:cNvGrpSpPr>
            <p:nvPr/>
          </p:nvGrpSpPr>
          <p:grpSpPr bwMode="auto">
            <a:xfrm rot="4843881">
              <a:off x="3340" y="569"/>
              <a:ext cx="500" cy="584"/>
              <a:chOff x="789" y="987"/>
              <a:chExt cx="500" cy="584"/>
            </a:xfrm>
          </p:grpSpPr>
          <p:sp>
            <p:nvSpPr>
              <p:cNvPr id="8304" name="AutoShape 17"/>
              <p:cNvSpPr>
                <a:spLocks noChangeArrowheads="1"/>
              </p:cNvSpPr>
              <p:nvPr/>
            </p:nvSpPr>
            <p:spPr bwMode="auto">
              <a:xfrm>
                <a:off x="789" y="1406"/>
                <a:ext cx="151" cy="165"/>
              </a:xfrm>
              <a:prstGeom prst="octagon">
                <a:avLst>
                  <a:gd name="adj" fmla="val 29287"/>
                </a:avLst>
              </a:prstGeom>
              <a:solidFill>
                <a:srgbClr val="FF9900"/>
              </a:solidFill>
              <a:ln w="9525">
                <a:solidFill>
                  <a:schemeClr val="tx1"/>
                </a:solidFill>
                <a:miter lim="800000"/>
                <a:headEnd/>
                <a:tailEnd/>
              </a:ln>
            </p:spPr>
            <p:txBody>
              <a:bodyPr wrap="none" anchor="ctr"/>
              <a:lstStyle/>
              <a:p>
                <a:endParaRPr lang="en-US"/>
              </a:p>
            </p:txBody>
          </p:sp>
          <p:sp>
            <p:nvSpPr>
              <p:cNvPr id="8305" name="AutoShape 18"/>
              <p:cNvSpPr>
                <a:spLocks noChangeArrowheads="1"/>
              </p:cNvSpPr>
              <p:nvPr/>
            </p:nvSpPr>
            <p:spPr bwMode="auto">
              <a:xfrm>
                <a:off x="912" y="1166"/>
                <a:ext cx="151" cy="165"/>
              </a:xfrm>
              <a:prstGeom prst="octagon">
                <a:avLst>
                  <a:gd name="adj" fmla="val 29287"/>
                </a:avLst>
              </a:prstGeom>
              <a:solidFill>
                <a:srgbClr val="FF9900"/>
              </a:solidFill>
              <a:ln w="9525">
                <a:solidFill>
                  <a:schemeClr val="tx1"/>
                </a:solidFill>
                <a:miter lim="800000"/>
                <a:headEnd/>
                <a:tailEnd/>
              </a:ln>
            </p:spPr>
            <p:txBody>
              <a:bodyPr wrap="none" anchor="ctr"/>
              <a:lstStyle/>
              <a:p>
                <a:endParaRPr lang="en-US"/>
              </a:p>
            </p:txBody>
          </p:sp>
          <p:sp>
            <p:nvSpPr>
              <p:cNvPr id="8306" name="AutoShape 19"/>
              <p:cNvSpPr>
                <a:spLocks noChangeArrowheads="1"/>
              </p:cNvSpPr>
              <p:nvPr/>
            </p:nvSpPr>
            <p:spPr bwMode="auto">
              <a:xfrm>
                <a:off x="1138" y="987"/>
                <a:ext cx="151" cy="165"/>
              </a:xfrm>
              <a:prstGeom prst="octagon">
                <a:avLst>
                  <a:gd name="adj" fmla="val 29287"/>
                </a:avLst>
              </a:prstGeom>
              <a:solidFill>
                <a:srgbClr val="FF9900"/>
              </a:solidFill>
              <a:ln w="9525">
                <a:solidFill>
                  <a:schemeClr val="tx1"/>
                </a:solidFill>
                <a:miter lim="800000"/>
                <a:headEnd/>
                <a:tailEnd/>
              </a:ln>
            </p:spPr>
            <p:txBody>
              <a:bodyPr wrap="none" anchor="ctr"/>
              <a:lstStyle/>
              <a:p>
                <a:endParaRPr lang="en-US"/>
              </a:p>
            </p:txBody>
          </p:sp>
        </p:grpSp>
        <p:grpSp>
          <p:nvGrpSpPr>
            <p:cNvPr id="7" name="Group 20"/>
            <p:cNvGrpSpPr>
              <a:grpSpLocks/>
            </p:cNvGrpSpPr>
            <p:nvPr/>
          </p:nvGrpSpPr>
          <p:grpSpPr bwMode="auto">
            <a:xfrm rot="8670102">
              <a:off x="4456" y="2421"/>
              <a:ext cx="500" cy="584"/>
              <a:chOff x="789" y="987"/>
              <a:chExt cx="500" cy="584"/>
            </a:xfrm>
          </p:grpSpPr>
          <p:sp>
            <p:nvSpPr>
              <p:cNvPr id="8301" name="AutoShape 21"/>
              <p:cNvSpPr>
                <a:spLocks noChangeArrowheads="1"/>
              </p:cNvSpPr>
              <p:nvPr/>
            </p:nvSpPr>
            <p:spPr bwMode="auto">
              <a:xfrm>
                <a:off x="789" y="1406"/>
                <a:ext cx="151" cy="165"/>
              </a:xfrm>
              <a:prstGeom prst="octagon">
                <a:avLst>
                  <a:gd name="adj" fmla="val 29287"/>
                </a:avLst>
              </a:prstGeom>
              <a:solidFill>
                <a:srgbClr val="FF9900"/>
              </a:solidFill>
              <a:ln w="9525">
                <a:solidFill>
                  <a:schemeClr val="tx1"/>
                </a:solidFill>
                <a:miter lim="800000"/>
                <a:headEnd/>
                <a:tailEnd/>
              </a:ln>
            </p:spPr>
            <p:txBody>
              <a:bodyPr wrap="none" anchor="ctr"/>
              <a:lstStyle/>
              <a:p>
                <a:endParaRPr lang="en-US"/>
              </a:p>
            </p:txBody>
          </p:sp>
          <p:sp>
            <p:nvSpPr>
              <p:cNvPr id="8302" name="AutoShape 22"/>
              <p:cNvSpPr>
                <a:spLocks noChangeArrowheads="1"/>
              </p:cNvSpPr>
              <p:nvPr/>
            </p:nvSpPr>
            <p:spPr bwMode="auto">
              <a:xfrm>
                <a:off x="912" y="1166"/>
                <a:ext cx="151" cy="165"/>
              </a:xfrm>
              <a:prstGeom prst="octagon">
                <a:avLst>
                  <a:gd name="adj" fmla="val 29287"/>
                </a:avLst>
              </a:prstGeom>
              <a:solidFill>
                <a:srgbClr val="FF9900"/>
              </a:solidFill>
              <a:ln w="9525">
                <a:solidFill>
                  <a:schemeClr val="tx1"/>
                </a:solidFill>
                <a:miter lim="800000"/>
                <a:headEnd/>
                <a:tailEnd/>
              </a:ln>
            </p:spPr>
            <p:txBody>
              <a:bodyPr wrap="none" anchor="ctr"/>
              <a:lstStyle/>
              <a:p>
                <a:endParaRPr lang="en-US"/>
              </a:p>
            </p:txBody>
          </p:sp>
          <p:sp>
            <p:nvSpPr>
              <p:cNvPr id="8303" name="AutoShape 23"/>
              <p:cNvSpPr>
                <a:spLocks noChangeArrowheads="1"/>
              </p:cNvSpPr>
              <p:nvPr/>
            </p:nvSpPr>
            <p:spPr bwMode="auto">
              <a:xfrm>
                <a:off x="1138" y="987"/>
                <a:ext cx="151" cy="165"/>
              </a:xfrm>
              <a:prstGeom prst="octagon">
                <a:avLst>
                  <a:gd name="adj" fmla="val 29287"/>
                </a:avLst>
              </a:prstGeom>
              <a:solidFill>
                <a:srgbClr val="FF9900"/>
              </a:solidFill>
              <a:ln w="9525">
                <a:solidFill>
                  <a:schemeClr val="tx1"/>
                </a:solidFill>
                <a:miter lim="800000"/>
                <a:headEnd/>
                <a:tailEnd/>
              </a:ln>
            </p:spPr>
            <p:txBody>
              <a:bodyPr wrap="none" anchor="ctr"/>
              <a:lstStyle/>
              <a:p>
                <a:endParaRPr lang="en-US"/>
              </a:p>
            </p:txBody>
          </p:sp>
        </p:grpSp>
        <p:grpSp>
          <p:nvGrpSpPr>
            <p:cNvPr id="8" name="Group 24"/>
            <p:cNvGrpSpPr>
              <a:grpSpLocks/>
            </p:cNvGrpSpPr>
            <p:nvPr/>
          </p:nvGrpSpPr>
          <p:grpSpPr bwMode="auto">
            <a:xfrm rot="7226169">
              <a:off x="4115" y="1227"/>
              <a:ext cx="500" cy="584"/>
              <a:chOff x="789" y="987"/>
              <a:chExt cx="500" cy="584"/>
            </a:xfrm>
          </p:grpSpPr>
          <p:sp>
            <p:nvSpPr>
              <p:cNvPr id="8298" name="AutoShape 25"/>
              <p:cNvSpPr>
                <a:spLocks noChangeArrowheads="1"/>
              </p:cNvSpPr>
              <p:nvPr/>
            </p:nvSpPr>
            <p:spPr bwMode="auto">
              <a:xfrm>
                <a:off x="789" y="1406"/>
                <a:ext cx="151" cy="165"/>
              </a:xfrm>
              <a:prstGeom prst="octagon">
                <a:avLst>
                  <a:gd name="adj" fmla="val 29287"/>
                </a:avLst>
              </a:prstGeom>
              <a:solidFill>
                <a:srgbClr val="FF9900"/>
              </a:solidFill>
              <a:ln w="9525">
                <a:solidFill>
                  <a:schemeClr val="tx1"/>
                </a:solidFill>
                <a:miter lim="800000"/>
                <a:headEnd/>
                <a:tailEnd/>
              </a:ln>
            </p:spPr>
            <p:txBody>
              <a:bodyPr wrap="none" anchor="ctr"/>
              <a:lstStyle/>
              <a:p>
                <a:endParaRPr lang="en-US"/>
              </a:p>
            </p:txBody>
          </p:sp>
          <p:sp>
            <p:nvSpPr>
              <p:cNvPr id="8299" name="AutoShape 26"/>
              <p:cNvSpPr>
                <a:spLocks noChangeArrowheads="1"/>
              </p:cNvSpPr>
              <p:nvPr/>
            </p:nvSpPr>
            <p:spPr bwMode="auto">
              <a:xfrm>
                <a:off x="912" y="1166"/>
                <a:ext cx="151" cy="165"/>
              </a:xfrm>
              <a:prstGeom prst="octagon">
                <a:avLst>
                  <a:gd name="adj" fmla="val 29287"/>
                </a:avLst>
              </a:prstGeom>
              <a:solidFill>
                <a:srgbClr val="FF9900"/>
              </a:solidFill>
              <a:ln w="9525">
                <a:solidFill>
                  <a:schemeClr val="tx1"/>
                </a:solidFill>
                <a:miter lim="800000"/>
                <a:headEnd/>
                <a:tailEnd/>
              </a:ln>
            </p:spPr>
            <p:txBody>
              <a:bodyPr wrap="none" anchor="ctr"/>
              <a:lstStyle/>
              <a:p>
                <a:endParaRPr lang="en-US"/>
              </a:p>
            </p:txBody>
          </p:sp>
          <p:sp>
            <p:nvSpPr>
              <p:cNvPr id="8300" name="AutoShape 27"/>
              <p:cNvSpPr>
                <a:spLocks noChangeArrowheads="1"/>
              </p:cNvSpPr>
              <p:nvPr/>
            </p:nvSpPr>
            <p:spPr bwMode="auto">
              <a:xfrm>
                <a:off x="1138" y="987"/>
                <a:ext cx="151" cy="165"/>
              </a:xfrm>
              <a:prstGeom prst="octagon">
                <a:avLst>
                  <a:gd name="adj" fmla="val 29287"/>
                </a:avLst>
              </a:prstGeom>
              <a:solidFill>
                <a:srgbClr val="FF9900"/>
              </a:solidFill>
              <a:ln w="9525">
                <a:solidFill>
                  <a:schemeClr val="tx1"/>
                </a:solidFill>
                <a:miter lim="800000"/>
                <a:headEnd/>
                <a:tailEnd/>
              </a:ln>
            </p:spPr>
            <p:txBody>
              <a:bodyPr wrap="none" anchor="ctr"/>
              <a:lstStyle/>
              <a:p>
                <a:endParaRPr lang="en-US"/>
              </a:p>
            </p:txBody>
          </p:sp>
        </p:grpSp>
        <p:grpSp>
          <p:nvGrpSpPr>
            <p:cNvPr id="9" name="Group 28"/>
            <p:cNvGrpSpPr>
              <a:grpSpLocks/>
            </p:cNvGrpSpPr>
            <p:nvPr/>
          </p:nvGrpSpPr>
          <p:grpSpPr bwMode="auto">
            <a:xfrm rot="-10479779">
              <a:off x="4059" y="3216"/>
              <a:ext cx="500" cy="584"/>
              <a:chOff x="789" y="987"/>
              <a:chExt cx="500" cy="584"/>
            </a:xfrm>
          </p:grpSpPr>
          <p:sp>
            <p:nvSpPr>
              <p:cNvPr id="8295" name="AutoShape 29"/>
              <p:cNvSpPr>
                <a:spLocks noChangeArrowheads="1"/>
              </p:cNvSpPr>
              <p:nvPr/>
            </p:nvSpPr>
            <p:spPr bwMode="auto">
              <a:xfrm>
                <a:off x="789" y="1406"/>
                <a:ext cx="151" cy="165"/>
              </a:xfrm>
              <a:prstGeom prst="octagon">
                <a:avLst>
                  <a:gd name="adj" fmla="val 29287"/>
                </a:avLst>
              </a:prstGeom>
              <a:solidFill>
                <a:srgbClr val="FF9900"/>
              </a:solidFill>
              <a:ln w="9525">
                <a:solidFill>
                  <a:schemeClr val="tx1"/>
                </a:solidFill>
                <a:miter lim="800000"/>
                <a:headEnd/>
                <a:tailEnd/>
              </a:ln>
            </p:spPr>
            <p:txBody>
              <a:bodyPr wrap="none" anchor="ctr"/>
              <a:lstStyle/>
              <a:p>
                <a:endParaRPr lang="en-US"/>
              </a:p>
            </p:txBody>
          </p:sp>
          <p:sp>
            <p:nvSpPr>
              <p:cNvPr id="8296" name="AutoShape 30"/>
              <p:cNvSpPr>
                <a:spLocks noChangeArrowheads="1"/>
              </p:cNvSpPr>
              <p:nvPr/>
            </p:nvSpPr>
            <p:spPr bwMode="auto">
              <a:xfrm>
                <a:off x="912" y="1166"/>
                <a:ext cx="151" cy="165"/>
              </a:xfrm>
              <a:prstGeom prst="octagon">
                <a:avLst>
                  <a:gd name="adj" fmla="val 29287"/>
                </a:avLst>
              </a:prstGeom>
              <a:solidFill>
                <a:srgbClr val="FF9900"/>
              </a:solidFill>
              <a:ln w="9525">
                <a:solidFill>
                  <a:schemeClr val="tx1"/>
                </a:solidFill>
                <a:miter lim="800000"/>
                <a:headEnd/>
                <a:tailEnd/>
              </a:ln>
            </p:spPr>
            <p:txBody>
              <a:bodyPr wrap="none" anchor="ctr"/>
              <a:lstStyle/>
              <a:p>
                <a:endParaRPr lang="en-US"/>
              </a:p>
            </p:txBody>
          </p:sp>
          <p:sp>
            <p:nvSpPr>
              <p:cNvPr id="8297" name="AutoShape 31"/>
              <p:cNvSpPr>
                <a:spLocks noChangeArrowheads="1"/>
              </p:cNvSpPr>
              <p:nvPr/>
            </p:nvSpPr>
            <p:spPr bwMode="auto">
              <a:xfrm>
                <a:off x="1138" y="987"/>
                <a:ext cx="151" cy="165"/>
              </a:xfrm>
              <a:prstGeom prst="octagon">
                <a:avLst>
                  <a:gd name="adj" fmla="val 29287"/>
                </a:avLst>
              </a:prstGeom>
              <a:solidFill>
                <a:srgbClr val="FF9900"/>
              </a:solidFill>
              <a:ln w="9525">
                <a:solidFill>
                  <a:schemeClr val="tx1"/>
                </a:solidFill>
                <a:miter lim="800000"/>
                <a:headEnd/>
                <a:tailEnd/>
              </a:ln>
            </p:spPr>
            <p:txBody>
              <a:bodyPr wrap="none" anchor="ctr"/>
              <a:lstStyle/>
              <a:p>
                <a:endParaRPr lang="en-US"/>
              </a:p>
            </p:txBody>
          </p:sp>
        </p:grpSp>
        <p:grpSp>
          <p:nvGrpSpPr>
            <p:cNvPr id="10" name="Group 32"/>
            <p:cNvGrpSpPr>
              <a:grpSpLocks/>
            </p:cNvGrpSpPr>
            <p:nvPr/>
          </p:nvGrpSpPr>
          <p:grpSpPr bwMode="auto">
            <a:xfrm rot="-6905326">
              <a:off x="3058" y="3449"/>
              <a:ext cx="500" cy="584"/>
              <a:chOff x="789" y="987"/>
              <a:chExt cx="500" cy="584"/>
            </a:xfrm>
          </p:grpSpPr>
          <p:sp>
            <p:nvSpPr>
              <p:cNvPr id="8292" name="AutoShape 33"/>
              <p:cNvSpPr>
                <a:spLocks noChangeArrowheads="1"/>
              </p:cNvSpPr>
              <p:nvPr/>
            </p:nvSpPr>
            <p:spPr bwMode="auto">
              <a:xfrm>
                <a:off x="789" y="1406"/>
                <a:ext cx="151" cy="165"/>
              </a:xfrm>
              <a:prstGeom prst="octagon">
                <a:avLst>
                  <a:gd name="adj" fmla="val 29287"/>
                </a:avLst>
              </a:prstGeom>
              <a:solidFill>
                <a:srgbClr val="FF9900"/>
              </a:solidFill>
              <a:ln w="9525">
                <a:solidFill>
                  <a:schemeClr val="tx1"/>
                </a:solidFill>
                <a:miter lim="800000"/>
                <a:headEnd/>
                <a:tailEnd/>
              </a:ln>
            </p:spPr>
            <p:txBody>
              <a:bodyPr wrap="none" anchor="ctr"/>
              <a:lstStyle/>
              <a:p>
                <a:endParaRPr lang="en-US"/>
              </a:p>
            </p:txBody>
          </p:sp>
          <p:sp>
            <p:nvSpPr>
              <p:cNvPr id="8293" name="AutoShape 34"/>
              <p:cNvSpPr>
                <a:spLocks noChangeArrowheads="1"/>
              </p:cNvSpPr>
              <p:nvPr/>
            </p:nvSpPr>
            <p:spPr bwMode="auto">
              <a:xfrm>
                <a:off x="912" y="1166"/>
                <a:ext cx="151" cy="165"/>
              </a:xfrm>
              <a:prstGeom prst="octagon">
                <a:avLst>
                  <a:gd name="adj" fmla="val 29287"/>
                </a:avLst>
              </a:prstGeom>
              <a:solidFill>
                <a:srgbClr val="FF9900"/>
              </a:solidFill>
              <a:ln w="9525">
                <a:solidFill>
                  <a:schemeClr val="tx1"/>
                </a:solidFill>
                <a:miter lim="800000"/>
                <a:headEnd/>
                <a:tailEnd/>
              </a:ln>
            </p:spPr>
            <p:txBody>
              <a:bodyPr wrap="none" anchor="ctr"/>
              <a:lstStyle/>
              <a:p>
                <a:endParaRPr lang="en-US"/>
              </a:p>
            </p:txBody>
          </p:sp>
          <p:sp>
            <p:nvSpPr>
              <p:cNvPr id="8294" name="AutoShape 35"/>
              <p:cNvSpPr>
                <a:spLocks noChangeArrowheads="1"/>
              </p:cNvSpPr>
              <p:nvPr/>
            </p:nvSpPr>
            <p:spPr bwMode="auto">
              <a:xfrm>
                <a:off x="1138" y="987"/>
                <a:ext cx="151" cy="165"/>
              </a:xfrm>
              <a:prstGeom prst="octagon">
                <a:avLst>
                  <a:gd name="adj" fmla="val 29287"/>
                </a:avLst>
              </a:prstGeom>
              <a:solidFill>
                <a:srgbClr val="FF9900"/>
              </a:solidFill>
              <a:ln w="9525">
                <a:solidFill>
                  <a:schemeClr val="tx1"/>
                </a:solidFill>
                <a:miter lim="800000"/>
                <a:headEnd/>
                <a:tailEnd/>
              </a:ln>
            </p:spPr>
            <p:txBody>
              <a:bodyPr wrap="none" anchor="ctr"/>
              <a:lstStyle/>
              <a:p>
                <a:endParaRPr lang="en-US"/>
              </a:p>
            </p:txBody>
          </p:sp>
        </p:grpSp>
        <p:grpSp>
          <p:nvGrpSpPr>
            <p:cNvPr id="11" name="Group 36"/>
            <p:cNvGrpSpPr>
              <a:grpSpLocks/>
            </p:cNvGrpSpPr>
            <p:nvPr/>
          </p:nvGrpSpPr>
          <p:grpSpPr bwMode="auto">
            <a:xfrm rot="-6905326">
              <a:off x="1735" y="3552"/>
              <a:ext cx="500" cy="584"/>
              <a:chOff x="789" y="987"/>
              <a:chExt cx="500" cy="584"/>
            </a:xfrm>
          </p:grpSpPr>
          <p:sp>
            <p:nvSpPr>
              <p:cNvPr id="8289" name="AutoShape 37"/>
              <p:cNvSpPr>
                <a:spLocks noChangeArrowheads="1"/>
              </p:cNvSpPr>
              <p:nvPr/>
            </p:nvSpPr>
            <p:spPr bwMode="auto">
              <a:xfrm>
                <a:off x="789" y="1406"/>
                <a:ext cx="151" cy="165"/>
              </a:xfrm>
              <a:prstGeom prst="octagon">
                <a:avLst>
                  <a:gd name="adj" fmla="val 29287"/>
                </a:avLst>
              </a:prstGeom>
              <a:solidFill>
                <a:srgbClr val="FF9900"/>
              </a:solidFill>
              <a:ln w="9525">
                <a:solidFill>
                  <a:schemeClr val="tx1"/>
                </a:solidFill>
                <a:miter lim="800000"/>
                <a:headEnd/>
                <a:tailEnd/>
              </a:ln>
            </p:spPr>
            <p:txBody>
              <a:bodyPr wrap="none" anchor="ctr"/>
              <a:lstStyle/>
              <a:p>
                <a:endParaRPr lang="en-US"/>
              </a:p>
            </p:txBody>
          </p:sp>
          <p:sp>
            <p:nvSpPr>
              <p:cNvPr id="8290" name="AutoShape 38"/>
              <p:cNvSpPr>
                <a:spLocks noChangeArrowheads="1"/>
              </p:cNvSpPr>
              <p:nvPr/>
            </p:nvSpPr>
            <p:spPr bwMode="auto">
              <a:xfrm>
                <a:off x="912" y="1166"/>
                <a:ext cx="151" cy="165"/>
              </a:xfrm>
              <a:prstGeom prst="octagon">
                <a:avLst>
                  <a:gd name="adj" fmla="val 29287"/>
                </a:avLst>
              </a:prstGeom>
              <a:solidFill>
                <a:srgbClr val="FF9900"/>
              </a:solidFill>
              <a:ln w="9525">
                <a:solidFill>
                  <a:schemeClr val="tx1"/>
                </a:solidFill>
                <a:miter lim="800000"/>
                <a:headEnd/>
                <a:tailEnd/>
              </a:ln>
            </p:spPr>
            <p:txBody>
              <a:bodyPr wrap="none" anchor="ctr"/>
              <a:lstStyle/>
              <a:p>
                <a:endParaRPr lang="en-US"/>
              </a:p>
            </p:txBody>
          </p:sp>
          <p:sp>
            <p:nvSpPr>
              <p:cNvPr id="8291" name="AutoShape 39"/>
              <p:cNvSpPr>
                <a:spLocks noChangeArrowheads="1"/>
              </p:cNvSpPr>
              <p:nvPr/>
            </p:nvSpPr>
            <p:spPr bwMode="auto">
              <a:xfrm>
                <a:off x="1138" y="987"/>
                <a:ext cx="151" cy="165"/>
              </a:xfrm>
              <a:prstGeom prst="octagon">
                <a:avLst>
                  <a:gd name="adj" fmla="val 29287"/>
                </a:avLst>
              </a:prstGeom>
              <a:solidFill>
                <a:srgbClr val="FF9900"/>
              </a:solidFill>
              <a:ln w="9525">
                <a:solidFill>
                  <a:schemeClr val="tx1"/>
                </a:solidFill>
                <a:miter lim="800000"/>
                <a:headEnd/>
                <a:tailEnd/>
              </a:ln>
            </p:spPr>
            <p:txBody>
              <a:bodyPr wrap="none" anchor="ctr"/>
              <a:lstStyle/>
              <a:p>
                <a:endParaRPr lang="en-US"/>
              </a:p>
            </p:txBody>
          </p:sp>
        </p:grpSp>
        <p:grpSp>
          <p:nvGrpSpPr>
            <p:cNvPr id="12" name="Group 40"/>
            <p:cNvGrpSpPr>
              <a:grpSpLocks/>
            </p:cNvGrpSpPr>
            <p:nvPr/>
          </p:nvGrpSpPr>
          <p:grpSpPr bwMode="auto">
            <a:xfrm rot="-4773065">
              <a:off x="953" y="3264"/>
              <a:ext cx="500" cy="584"/>
              <a:chOff x="789" y="987"/>
              <a:chExt cx="500" cy="584"/>
            </a:xfrm>
          </p:grpSpPr>
          <p:sp>
            <p:nvSpPr>
              <p:cNvPr id="8286" name="AutoShape 41"/>
              <p:cNvSpPr>
                <a:spLocks noChangeArrowheads="1"/>
              </p:cNvSpPr>
              <p:nvPr/>
            </p:nvSpPr>
            <p:spPr bwMode="auto">
              <a:xfrm>
                <a:off x="789" y="1406"/>
                <a:ext cx="151" cy="165"/>
              </a:xfrm>
              <a:prstGeom prst="octagon">
                <a:avLst>
                  <a:gd name="adj" fmla="val 29287"/>
                </a:avLst>
              </a:prstGeom>
              <a:solidFill>
                <a:srgbClr val="FF9900"/>
              </a:solidFill>
              <a:ln w="9525">
                <a:solidFill>
                  <a:schemeClr val="tx1"/>
                </a:solidFill>
                <a:miter lim="800000"/>
                <a:headEnd/>
                <a:tailEnd/>
              </a:ln>
            </p:spPr>
            <p:txBody>
              <a:bodyPr wrap="none" anchor="ctr"/>
              <a:lstStyle/>
              <a:p>
                <a:endParaRPr lang="en-US"/>
              </a:p>
            </p:txBody>
          </p:sp>
          <p:sp>
            <p:nvSpPr>
              <p:cNvPr id="8287" name="AutoShape 42"/>
              <p:cNvSpPr>
                <a:spLocks noChangeArrowheads="1"/>
              </p:cNvSpPr>
              <p:nvPr/>
            </p:nvSpPr>
            <p:spPr bwMode="auto">
              <a:xfrm>
                <a:off x="912" y="1166"/>
                <a:ext cx="151" cy="165"/>
              </a:xfrm>
              <a:prstGeom prst="octagon">
                <a:avLst>
                  <a:gd name="adj" fmla="val 29287"/>
                </a:avLst>
              </a:prstGeom>
              <a:solidFill>
                <a:srgbClr val="FF9900"/>
              </a:solidFill>
              <a:ln w="9525">
                <a:solidFill>
                  <a:schemeClr val="tx1"/>
                </a:solidFill>
                <a:miter lim="800000"/>
                <a:headEnd/>
                <a:tailEnd/>
              </a:ln>
            </p:spPr>
            <p:txBody>
              <a:bodyPr wrap="none" anchor="ctr"/>
              <a:lstStyle/>
              <a:p>
                <a:endParaRPr lang="en-US"/>
              </a:p>
            </p:txBody>
          </p:sp>
          <p:sp>
            <p:nvSpPr>
              <p:cNvPr id="8288" name="AutoShape 43"/>
              <p:cNvSpPr>
                <a:spLocks noChangeArrowheads="1"/>
              </p:cNvSpPr>
              <p:nvPr/>
            </p:nvSpPr>
            <p:spPr bwMode="auto">
              <a:xfrm>
                <a:off x="1138" y="987"/>
                <a:ext cx="151" cy="165"/>
              </a:xfrm>
              <a:prstGeom prst="octagon">
                <a:avLst>
                  <a:gd name="adj" fmla="val 29287"/>
                </a:avLst>
              </a:prstGeom>
              <a:solidFill>
                <a:srgbClr val="FF9900"/>
              </a:solidFill>
              <a:ln w="9525">
                <a:solidFill>
                  <a:schemeClr val="tx1"/>
                </a:solidFill>
                <a:miter lim="800000"/>
                <a:headEnd/>
                <a:tailEnd/>
              </a:ln>
            </p:spPr>
            <p:txBody>
              <a:bodyPr wrap="none" anchor="ctr"/>
              <a:lstStyle/>
              <a:p>
                <a:endParaRPr lang="en-US"/>
              </a:p>
            </p:txBody>
          </p:sp>
        </p:grpSp>
        <p:grpSp>
          <p:nvGrpSpPr>
            <p:cNvPr id="13" name="Group 44"/>
            <p:cNvGrpSpPr>
              <a:grpSpLocks/>
            </p:cNvGrpSpPr>
            <p:nvPr/>
          </p:nvGrpSpPr>
          <p:grpSpPr bwMode="auto">
            <a:xfrm rot="-2497478">
              <a:off x="507" y="2311"/>
              <a:ext cx="500" cy="584"/>
              <a:chOff x="789" y="987"/>
              <a:chExt cx="500" cy="584"/>
            </a:xfrm>
          </p:grpSpPr>
          <p:sp>
            <p:nvSpPr>
              <p:cNvPr id="8283" name="AutoShape 45"/>
              <p:cNvSpPr>
                <a:spLocks noChangeArrowheads="1"/>
              </p:cNvSpPr>
              <p:nvPr/>
            </p:nvSpPr>
            <p:spPr bwMode="auto">
              <a:xfrm>
                <a:off x="789" y="1406"/>
                <a:ext cx="151" cy="165"/>
              </a:xfrm>
              <a:prstGeom prst="octagon">
                <a:avLst>
                  <a:gd name="adj" fmla="val 29287"/>
                </a:avLst>
              </a:prstGeom>
              <a:solidFill>
                <a:srgbClr val="FF9900"/>
              </a:solidFill>
              <a:ln w="9525">
                <a:solidFill>
                  <a:schemeClr val="tx1"/>
                </a:solidFill>
                <a:miter lim="800000"/>
                <a:headEnd/>
                <a:tailEnd/>
              </a:ln>
            </p:spPr>
            <p:txBody>
              <a:bodyPr wrap="none" anchor="ctr"/>
              <a:lstStyle/>
              <a:p>
                <a:endParaRPr lang="en-US"/>
              </a:p>
            </p:txBody>
          </p:sp>
          <p:sp>
            <p:nvSpPr>
              <p:cNvPr id="8284" name="AutoShape 46"/>
              <p:cNvSpPr>
                <a:spLocks noChangeArrowheads="1"/>
              </p:cNvSpPr>
              <p:nvPr/>
            </p:nvSpPr>
            <p:spPr bwMode="auto">
              <a:xfrm>
                <a:off x="912" y="1166"/>
                <a:ext cx="151" cy="165"/>
              </a:xfrm>
              <a:prstGeom prst="octagon">
                <a:avLst>
                  <a:gd name="adj" fmla="val 29287"/>
                </a:avLst>
              </a:prstGeom>
              <a:solidFill>
                <a:srgbClr val="FF9900"/>
              </a:solidFill>
              <a:ln w="9525">
                <a:solidFill>
                  <a:schemeClr val="tx1"/>
                </a:solidFill>
                <a:miter lim="800000"/>
                <a:headEnd/>
                <a:tailEnd/>
              </a:ln>
            </p:spPr>
            <p:txBody>
              <a:bodyPr wrap="none" anchor="ctr"/>
              <a:lstStyle/>
              <a:p>
                <a:endParaRPr lang="en-US"/>
              </a:p>
            </p:txBody>
          </p:sp>
          <p:sp>
            <p:nvSpPr>
              <p:cNvPr id="8285" name="AutoShape 47"/>
              <p:cNvSpPr>
                <a:spLocks noChangeArrowheads="1"/>
              </p:cNvSpPr>
              <p:nvPr/>
            </p:nvSpPr>
            <p:spPr bwMode="auto">
              <a:xfrm>
                <a:off x="1138" y="987"/>
                <a:ext cx="151" cy="165"/>
              </a:xfrm>
              <a:prstGeom prst="octagon">
                <a:avLst>
                  <a:gd name="adj" fmla="val 29287"/>
                </a:avLst>
              </a:prstGeom>
              <a:solidFill>
                <a:srgbClr val="FF9900"/>
              </a:solidFill>
              <a:ln w="9525">
                <a:solidFill>
                  <a:schemeClr val="tx1"/>
                </a:solidFill>
                <a:miter lim="800000"/>
                <a:headEnd/>
                <a:tailEnd/>
              </a:ln>
            </p:spPr>
            <p:txBody>
              <a:bodyPr wrap="none" anchor="ctr"/>
              <a:lstStyle/>
              <a:p>
                <a:endParaRPr lang="en-US"/>
              </a:p>
            </p:txBody>
          </p:sp>
        </p:grpSp>
        <p:grpSp>
          <p:nvGrpSpPr>
            <p:cNvPr id="14" name="Group 48"/>
            <p:cNvGrpSpPr>
              <a:grpSpLocks/>
            </p:cNvGrpSpPr>
            <p:nvPr/>
          </p:nvGrpSpPr>
          <p:grpSpPr bwMode="auto">
            <a:xfrm>
              <a:off x="851" y="1077"/>
              <a:ext cx="706" cy="377"/>
              <a:chOff x="851" y="1077"/>
              <a:chExt cx="706" cy="377"/>
            </a:xfrm>
          </p:grpSpPr>
          <p:sp>
            <p:nvSpPr>
              <p:cNvPr id="8280" name="Line 49"/>
              <p:cNvSpPr>
                <a:spLocks noChangeShapeType="1"/>
              </p:cNvSpPr>
              <p:nvPr/>
            </p:nvSpPr>
            <p:spPr bwMode="auto">
              <a:xfrm flipH="1" flipV="1">
                <a:off x="1214" y="1077"/>
                <a:ext cx="343" cy="356"/>
              </a:xfrm>
              <a:prstGeom prst="line">
                <a:avLst/>
              </a:prstGeom>
              <a:noFill/>
              <a:ln w="12700">
                <a:solidFill>
                  <a:srgbClr val="FF9900"/>
                </a:solidFill>
                <a:round/>
                <a:headEnd/>
                <a:tailEnd/>
              </a:ln>
            </p:spPr>
            <p:txBody>
              <a:bodyPr/>
              <a:lstStyle/>
              <a:p>
                <a:endParaRPr lang="en-GB"/>
              </a:p>
            </p:txBody>
          </p:sp>
          <p:sp>
            <p:nvSpPr>
              <p:cNvPr id="8281" name="Line 50"/>
              <p:cNvSpPr>
                <a:spLocks noChangeShapeType="1"/>
              </p:cNvSpPr>
              <p:nvPr/>
            </p:nvSpPr>
            <p:spPr bwMode="auto">
              <a:xfrm flipH="1" flipV="1">
                <a:off x="960" y="1221"/>
                <a:ext cx="590" cy="198"/>
              </a:xfrm>
              <a:prstGeom prst="line">
                <a:avLst/>
              </a:prstGeom>
              <a:noFill/>
              <a:ln w="12700">
                <a:solidFill>
                  <a:srgbClr val="FF9900"/>
                </a:solidFill>
                <a:round/>
                <a:headEnd/>
                <a:tailEnd/>
              </a:ln>
            </p:spPr>
            <p:txBody>
              <a:bodyPr/>
              <a:lstStyle/>
              <a:p>
                <a:endParaRPr lang="en-GB"/>
              </a:p>
            </p:txBody>
          </p:sp>
          <p:sp>
            <p:nvSpPr>
              <p:cNvPr id="8282" name="Line 51"/>
              <p:cNvSpPr>
                <a:spLocks noChangeShapeType="1"/>
              </p:cNvSpPr>
              <p:nvPr/>
            </p:nvSpPr>
            <p:spPr bwMode="auto">
              <a:xfrm flipH="1">
                <a:off x="851" y="1432"/>
                <a:ext cx="692" cy="22"/>
              </a:xfrm>
              <a:prstGeom prst="line">
                <a:avLst/>
              </a:prstGeom>
              <a:noFill/>
              <a:ln w="12700">
                <a:solidFill>
                  <a:srgbClr val="FF9900"/>
                </a:solidFill>
                <a:round/>
                <a:headEnd/>
                <a:tailEnd/>
              </a:ln>
            </p:spPr>
            <p:txBody>
              <a:bodyPr/>
              <a:lstStyle/>
              <a:p>
                <a:endParaRPr lang="en-GB"/>
              </a:p>
            </p:txBody>
          </p:sp>
        </p:grpSp>
        <p:sp>
          <p:nvSpPr>
            <p:cNvPr id="8214" name="Line 52"/>
            <p:cNvSpPr>
              <a:spLocks noChangeShapeType="1"/>
            </p:cNvSpPr>
            <p:nvPr/>
          </p:nvSpPr>
          <p:spPr bwMode="auto">
            <a:xfrm rot="1561396" flipH="1" flipV="1">
              <a:off x="1995" y="732"/>
              <a:ext cx="102" cy="503"/>
            </a:xfrm>
            <a:prstGeom prst="line">
              <a:avLst/>
            </a:prstGeom>
            <a:noFill/>
            <a:ln w="12700">
              <a:solidFill>
                <a:srgbClr val="FF9900"/>
              </a:solidFill>
              <a:round/>
              <a:headEnd/>
              <a:tailEnd/>
            </a:ln>
          </p:spPr>
          <p:txBody>
            <a:bodyPr/>
            <a:lstStyle/>
            <a:p>
              <a:endParaRPr lang="en-GB"/>
            </a:p>
          </p:txBody>
        </p:sp>
        <p:sp>
          <p:nvSpPr>
            <p:cNvPr id="8215" name="Line 53"/>
            <p:cNvSpPr>
              <a:spLocks noChangeShapeType="1"/>
            </p:cNvSpPr>
            <p:nvPr/>
          </p:nvSpPr>
          <p:spPr bwMode="auto">
            <a:xfrm rot="1561396" flipH="1" flipV="1">
              <a:off x="1720" y="819"/>
              <a:ext cx="383" cy="367"/>
            </a:xfrm>
            <a:prstGeom prst="line">
              <a:avLst/>
            </a:prstGeom>
            <a:noFill/>
            <a:ln w="12700">
              <a:solidFill>
                <a:srgbClr val="FF9900"/>
              </a:solidFill>
              <a:round/>
              <a:headEnd/>
              <a:tailEnd/>
            </a:ln>
          </p:spPr>
          <p:txBody>
            <a:bodyPr/>
            <a:lstStyle/>
            <a:p>
              <a:endParaRPr lang="en-GB"/>
            </a:p>
          </p:txBody>
        </p:sp>
        <p:sp>
          <p:nvSpPr>
            <p:cNvPr id="8216" name="Line 54"/>
            <p:cNvSpPr>
              <a:spLocks noChangeShapeType="1"/>
            </p:cNvSpPr>
            <p:nvPr/>
          </p:nvSpPr>
          <p:spPr bwMode="auto">
            <a:xfrm rot="1561396" flipH="1" flipV="1">
              <a:off x="1561" y="1014"/>
              <a:ext cx="487" cy="153"/>
            </a:xfrm>
            <a:prstGeom prst="line">
              <a:avLst/>
            </a:prstGeom>
            <a:noFill/>
            <a:ln w="12700">
              <a:solidFill>
                <a:srgbClr val="FF9900"/>
              </a:solidFill>
              <a:round/>
              <a:headEnd/>
              <a:tailEnd/>
            </a:ln>
          </p:spPr>
          <p:txBody>
            <a:bodyPr/>
            <a:lstStyle/>
            <a:p>
              <a:endParaRPr lang="en-GB"/>
            </a:p>
          </p:txBody>
        </p:sp>
        <p:sp>
          <p:nvSpPr>
            <p:cNvPr id="8217" name="Line 55"/>
            <p:cNvSpPr>
              <a:spLocks noChangeShapeType="1"/>
            </p:cNvSpPr>
            <p:nvPr/>
          </p:nvSpPr>
          <p:spPr bwMode="auto">
            <a:xfrm rot="1561396" flipH="1" flipV="1">
              <a:off x="2400" y="698"/>
              <a:ext cx="102" cy="503"/>
            </a:xfrm>
            <a:prstGeom prst="line">
              <a:avLst/>
            </a:prstGeom>
            <a:noFill/>
            <a:ln w="12700">
              <a:solidFill>
                <a:srgbClr val="FF9900"/>
              </a:solidFill>
              <a:round/>
              <a:headEnd/>
              <a:tailEnd/>
            </a:ln>
          </p:spPr>
          <p:txBody>
            <a:bodyPr/>
            <a:lstStyle/>
            <a:p>
              <a:endParaRPr lang="en-GB"/>
            </a:p>
          </p:txBody>
        </p:sp>
        <p:sp>
          <p:nvSpPr>
            <p:cNvPr id="8218" name="Line 56"/>
            <p:cNvSpPr>
              <a:spLocks noChangeShapeType="1"/>
            </p:cNvSpPr>
            <p:nvPr/>
          </p:nvSpPr>
          <p:spPr bwMode="auto">
            <a:xfrm rot="1561396" flipV="1">
              <a:off x="2486" y="860"/>
              <a:ext cx="408" cy="490"/>
            </a:xfrm>
            <a:prstGeom prst="line">
              <a:avLst/>
            </a:prstGeom>
            <a:noFill/>
            <a:ln w="12700">
              <a:solidFill>
                <a:srgbClr val="FF9900"/>
              </a:solidFill>
              <a:round/>
              <a:headEnd/>
              <a:tailEnd/>
            </a:ln>
          </p:spPr>
          <p:txBody>
            <a:bodyPr/>
            <a:lstStyle/>
            <a:p>
              <a:endParaRPr lang="en-GB"/>
            </a:p>
          </p:txBody>
        </p:sp>
        <p:sp>
          <p:nvSpPr>
            <p:cNvPr id="8219" name="Line 57"/>
            <p:cNvSpPr>
              <a:spLocks noChangeShapeType="1"/>
            </p:cNvSpPr>
            <p:nvPr/>
          </p:nvSpPr>
          <p:spPr bwMode="auto">
            <a:xfrm rot="1561396" flipV="1">
              <a:off x="2510" y="732"/>
              <a:ext cx="173" cy="519"/>
            </a:xfrm>
            <a:prstGeom prst="line">
              <a:avLst/>
            </a:prstGeom>
            <a:noFill/>
            <a:ln w="12700">
              <a:solidFill>
                <a:srgbClr val="FF9900"/>
              </a:solidFill>
              <a:round/>
              <a:headEnd/>
              <a:tailEnd/>
            </a:ln>
          </p:spPr>
          <p:txBody>
            <a:bodyPr/>
            <a:lstStyle/>
            <a:p>
              <a:endParaRPr lang="en-GB"/>
            </a:p>
          </p:txBody>
        </p:sp>
        <p:sp>
          <p:nvSpPr>
            <p:cNvPr id="8220" name="Line 58"/>
            <p:cNvSpPr>
              <a:spLocks noChangeShapeType="1"/>
            </p:cNvSpPr>
            <p:nvPr/>
          </p:nvSpPr>
          <p:spPr bwMode="auto">
            <a:xfrm rot="1561396" flipV="1">
              <a:off x="3350" y="887"/>
              <a:ext cx="408" cy="490"/>
            </a:xfrm>
            <a:prstGeom prst="line">
              <a:avLst/>
            </a:prstGeom>
            <a:noFill/>
            <a:ln w="12700">
              <a:solidFill>
                <a:srgbClr val="FF9900"/>
              </a:solidFill>
              <a:round/>
              <a:headEnd/>
              <a:tailEnd/>
            </a:ln>
          </p:spPr>
          <p:txBody>
            <a:bodyPr/>
            <a:lstStyle/>
            <a:p>
              <a:endParaRPr lang="en-GB"/>
            </a:p>
          </p:txBody>
        </p:sp>
        <p:sp>
          <p:nvSpPr>
            <p:cNvPr id="8221" name="Line 59"/>
            <p:cNvSpPr>
              <a:spLocks noChangeShapeType="1"/>
            </p:cNvSpPr>
            <p:nvPr/>
          </p:nvSpPr>
          <p:spPr bwMode="auto">
            <a:xfrm rot="1561396" flipV="1">
              <a:off x="3462" y="771"/>
              <a:ext cx="93" cy="496"/>
            </a:xfrm>
            <a:prstGeom prst="line">
              <a:avLst/>
            </a:prstGeom>
            <a:noFill/>
            <a:ln w="12700">
              <a:solidFill>
                <a:srgbClr val="FF9900"/>
              </a:solidFill>
              <a:round/>
              <a:headEnd/>
              <a:tailEnd/>
            </a:ln>
          </p:spPr>
          <p:txBody>
            <a:bodyPr/>
            <a:lstStyle/>
            <a:p>
              <a:endParaRPr lang="en-GB"/>
            </a:p>
          </p:txBody>
        </p:sp>
        <p:sp>
          <p:nvSpPr>
            <p:cNvPr id="8222" name="Line 60"/>
            <p:cNvSpPr>
              <a:spLocks noChangeShapeType="1"/>
            </p:cNvSpPr>
            <p:nvPr/>
          </p:nvSpPr>
          <p:spPr bwMode="auto">
            <a:xfrm rot="1561396" flipH="1" flipV="1">
              <a:off x="3215" y="761"/>
              <a:ext cx="196" cy="445"/>
            </a:xfrm>
            <a:prstGeom prst="line">
              <a:avLst/>
            </a:prstGeom>
            <a:noFill/>
            <a:ln w="12700">
              <a:solidFill>
                <a:srgbClr val="FF9900"/>
              </a:solidFill>
              <a:round/>
              <a:headEnd/>
              <a:tailEnd/>
            </a:ln>
          </p:spPr>
          <p:txBody>
            <a:bodyPr/>
            <a:lstStyle/>
            <a:p>
              <a:endParaRPr lang="en-GB"/>
            </a:p>
          </p:txBody>
        </p:sp>
        <p:sp>
          <p:nvSpPr>
            <p:cNvPr id="8223" name="Line 61"/>
            <p:cNvSpPr>
              <a:spLocks noChangeShapeType="1"/>
            </p:cNvSpPr>
            <p:nvPr/>
          </p:nvSpPr>
          <p:spPr bwMode="auto">
            <a:xfrm rot="1561396" flipV="1">
              <a:off x="3880" y="1182"/>
              <a:ext cx="332" cy="397"/>
            </a:xfrm>
            <a:prstGeom prst="line">
              <a:avLst/>
            </a:prstGeom>
            <a:noFill/>
            <a:ln w="12700">
              <a:solidFill>
                <a:srgbClr val="FF9900"/>
              </a:solidFill>
              <a:round/>
              <a:headEnd/>
              <a:tailEnd/>
            </a:ln>
          </p:spPr>
          <p:txBody>
            <a:bodyPr/>
            <a:lstStyle/>
            <a:p>
              <a:endParaRPr lang="en-GB"/>
            </a:p>
          </p:txBody>
        </p:sp>
        <p:sp>
          <p:nvSpPr>
            <p:cNvPr id="8224" name="Line 62"/>
            <p:cNvSpPr>
              <a:spLocks noChangeShapeType="1"/>
            </p:cNvSpPr>
            <p:nvPr/>
          </p:nvSpPr>
          <p:spPr bwMode="auto">
            <a:xfrm rot="1561396" flipV="1">
              <a:off x="3762" y="1374"/>
              <a:ext cx="574" cy="263"/>
            </a:xfrm>
            <a:prstGeom prst="line">
              <a:avLst/>
            </a:prstGeom>
            <a:noFill/>
            <a:ln w="12700">
              <a:solidFill>
                <a:srgbClr val="FF9900"/>
              </a:solidFill>
              <a:round/>
              <a:headEnd/>
              <a:tailEnd/>
            </a:ln>
          </p:spPr>
          <p:txBody>
            <a:bodyPr/>
            <a:lstStyle/>
            <a:p>
              <a:endParaRPr lang="en-GB"/>
            </a:p>
          </p:txBody>
        </p:sp>
        <p:sp>
          <p:nvSpPr>
            <p:cNvPr id="8225" name="Line 63"/>
            <p:cNvSpPr>
              <a:spLocks noChangeShapeType="1"/>
            </p:cNvSpPr>
            <p:nvPr/>
          </p:nvSpPr>
          <p:spPr bwMode="auto">
            <a:xfrm rot="1561396" flipV="1">
              <a:off x="3788" y="1618"/>
              <a:ext cx="666" cy="25"/>
            </a:xfrm>
            <a:prstGeom prst="line">
              <a:avLst/>
            </a:prstGeom>
            <a:noFill/>
            <a:ln w="12700">
              <a:solidFill>
                <a:srgbClr val="FF9900"/>
              </a:solidFill>
              <a:round/>
              <a:headEnd/>
              <a:tailEnd/>
            </a:ln>
          </p:spPr>
          <p:txBody>
            <a:bodyPr/>
            <a:lstStyle/>
            <a:p>
              <a:endParaRPr lang="en-GB"/>
            </a:p>
          </p:txBody>
        </p:sp>
        <p:sp>
          <p:nvSpPr>
            <p:cNvPr id="8226" name="Line 64"/>
            <p:cNvSpPr>
              <a:spLocks noChangeShapeType="1"/>
            </p:cNvSpPr>
            <p:nvPr/>
          </p:nvSpPr>
          <p:spPr bwMode="auto">
            <a:xfrm rot="1561396">
              <a:off x="4119" y="2682"/>
              <a:ext cx="668" cy="181"/>
            </a:xfrm>
            <a:prstGeom prst="line">
              <a:avLst/>
            </a:prstGeom>
            <a:noFill/>
            <a:ln w="12700">
              <a:solidFill>
                <a:srgbClr val="FF9900"/>
              </a:solidFill>
              <a:round/>
              <a:headEnd/>
              <a:tailEnd/>
            </a:ln>
          </p:spPr>
          <p:txBody>
            <a:bodyPr/>
            <a:lstStyle/>
            <a:p>
              <a:endParaRPr lang="en-GB"/>
            </a:p>
          </p:txBody>
        </p:sp>
        <p:sp>
          <p:nvSpPr>
            <p:cNvPr id="8227" name="Line 65"/>
            <p:cNvSpPr>
              <a:spLocks noChangeShapeType="1"/>
            </p:cNvSpPr>
            <p:nvPr/>
          </p:nvSpPr>
          <p:spPr bwMode="auto">
            <a:xfrm rot="1561396" flipV="1">
              <a:off x="4300" y="2598"/>
              <a:ext cx="468" cy="73"/>
            </a:xfrm>
            <a:prstGeom prst="line">
              <a:avLst/>
            </a:prstGeom>
            <a:noFill/>
            <a:ln w="12700">
              <a:solidFill>
                <a:srgbClr val="FF9900"/>
              </a:solidFill>
              <a:round/>
              <a:headEnd/>
              <a:tailEnd/>
            </a:ln>
          </p:spPr>
          <p:txBody>
            <a:bodyPr/>
            <a:lstStyle/>
            <a:p>
              <a:endParaRPr lang="en-GB"/>
            </a:p>
          </p:txBody>
        </p:sp>
        <p:sp>
          <p:nvSpPr>
            <p:cNvPr id="8228" name="Line 66"/>
            <p:cNvSpPr>
              <a:spLocks noChangeShapeType="1"/>
            </p:cNvSpPr>
            <p:nvPr/>
          </p:nvSpPr>
          <p:spPr bwMode="auto">
            <a:xfrm rot="1561396" flipV="1">
              <a:off x="4298" y="2348"/>
              <a:ext cx="397" cy="297"/>
            </a:xfrm>
            <a:prstGeom prst="line">
              <a:avLst/>
            </a:prstGeom>
            <a:noFill/>
            <a:ln w="12700">
              <a:solidFill>
                <a:srgbClr val="FF9900"/>
              </a:solidFill>
              <a:round/>
              <a:headEnd/>
              <a:tailEnd/>
            </a:ln>
          </p:spPr>
          <p:txBody>
            <a:bodyPr/>
            <a:lstStyle/>
            <a:p>
              <a:endParaRPr lang="en-GB"/>
            </a:p>
          </p:txBody>
        </p:sp>
        <p:sp>
          <p:nvSpPr>
            <p:cNvPr id="8232" name="Line 70"/>
            <p:cNvSpPr>
              <a:spLocks noChangeShapeType="1"/>
            </p:cNvSpPr>
            <p:nvPr/>
          </p:nvSpPr>
          <p:spPr bwMode="auto">
            <a:xfrm rot="1561396">
              <a:off x="3422" y="3489"/>
              <a:ext cx="249" cy="304"/>
            </a:xfrm>
            <a:prstGeom prst="line">
              <a:avLst/>
            </a:prstGeom>
            <a:noFill/>
            <a:ln w="12700">
              <a:solidFill>
                <a:srgbClr val="FF9900"/>
              </a:solidFill>
              <a:round/>
              <a:headEnd/>
              <a:tailEnd/>
            </a:ln>
          </p:spPr>
          <p:txBody>
            <a:bodyPr/>
            <a:lstStyle/>
            <a:p>
              <a:endParaRPr lang="en-GB"/>
            </a:p>
          </p:txBody>
        </p:sp>
        <p:sp>
          <p:nvSpPr>
            <p:cNvPr id="8233" name="Line 71"/>
            <p:cNvSpPr>
              <a:spLocks noChangeShapeType="1"/>
            </p:cNvSpPr>
            <p:nvPr/>
          </p:nvSpPr>
          <p:spPr bwMode="auto">
            <a:xfrm rot="1561396" flipH="1">
              <a:off x="3373" y="3469"/>
              <a:ext cx="15" cy="326"/>
            </a:xfrm>
            <a:prstGeom prst="line">
              <a:avLst/>
            </a:prstGeom>
            <a:noFill/>
            <a:ln w="12700">
              <a:solidFill>
                <a:srgbClr val="FF9900"/>
              </a:solidFill>
              <a:round/>
              <a:headEnd/>
              <a:tailEnd/>
            </a:ln>
          </p:spPr>
          <p:txBody>
            <a:bodyPr/>
            <a:lstStyle/>
            <a:p>
              <a:endParaRPr lang="en-GB"/>
            </a:p>
          </p:txBody>
        </p:sp>
        <p:sp>
          <p:nvSpPr>
            <p:cNvPr id="8234" name="Line 72"/>
            <p:cNvSpPr>
              <a:spLocks noChangeShapeType="1"/>
            </p:cNvSpPr>
            <p:nvPr/>
          </p:nvSpPr>
          <p:spPr bwMode="auto">
            <a:xfrm rot="1561396" flipH="1">
              <a:off x="3176" y="3355"/>
              <a:ext cx="209" cy="382"/>
            </a:xfrm>
            <a:prstGeom prst="line">
              <a:avLst/>
            </a:prstGeom>
            <a:noFill/>
            <a:ln w="12700">
              <a:solidFill>
                <a:srgbClr val="FF9900"/>
              </a:solidFill>
              <a:round/>
              <a:headEnd/>
              <a:tailEnd/>
            </a:ln>
          </p:spPr>
          <p:txBody>
            <a:bodyPr/>
            <a:lstStyle/>
            <a:p>
              <a:endParaRPr lang="en-GB"/>
            </a:p>
          </p:txBody>
        </p:sp>
        <p:sp>
          <p:nvSpPr>
            <p:cNvPr id="8235" name="Line 73"/>
            <p:cNvSpPr>
              <a:spLocks noChangeShapeType="1"/>
            </p:cNvSpPr>
            <p:nvPr/>
          </p:nvSpPr>
          <p:spPr bwMode="auto">
            <a:xfrm rot="1561396" flipH="1">
              <a:off x="1845" y="3451"/>
              <a:ext cx="209" cy="382"/>
            </a:xfrm>
            <a:prstGeom prst="line">
              <a:avLst/>
            </a:prstGeom>
            <a:noFill/>
            <a:ln w="12700">
              <a:solidFill>
                <a:srgbClr val="FF9900"/>
              </a:solidFill>
              <a:round/>
              <a:headEnd/>
              <a:tailEnd/>
            </a:ln>
          </p:spPr>
          <p:txBody>
            <a:bodyPr/>
            <a:lstStyle/>
            <a:p>
              <a:endParaRPr lang="en-GB"/>
            </a:p>
          </p:txBody>
        </p:sp>
        <p:sp>
          <p:nvSpPr>
            <p:cNvPr id="8236" name="Line 74"/>
            <p:cNvSpPr>
              <a:spLocks noChangeShapeType="1"/>
            </p:cNvSpPr>
            <p:nvPr/>
          </p:nvSpPr>
          <p:spPr bwMode="auto">
            <a:xfrm rot="1561396" flipH="1">
              <a:off x="2051" y="3470"/>
              <a:ext cx="50" cy="412"/>
            </a:xfrm>
            <a:prstGeom prst="line">
              <a:avLst/>
            </a:prstGeom>
            <a:noFill/>
            <a:ln w="12700">
              <a:solidFill>
                <a:srgbClr val="FF9900"/>
              </a:solidFill>
              <a:round/>
              <a:headEnd/>
              <a:tailEnd/>
            </a:ln>
          </p:spPr>
          <p:txBody>
            <a:bodyPr/>
            <a:lstStyle/>
            <a:p>
              <a:endParaRPr lang="en-GB"/>
            </a:p>
          </p:txBody>
        </p:sp>
        <p:sp>
          <p:nvSpPr>
            <p:cNvPr id="8237" name="Line 75"/>
            <p:cNvSpPr>
              <a:spLocks noChangeShapeType="1"/>
            </p:cNvSpPr>
            <p:nvPr/>
          </p:nvSpPr>
          <p:spPr bwMode="auto">
            <a:xfrm rot="1561396">
              <a:off x="2152" y="3568"/>
              <a:ext cx="224" cy="302"/>
            </a:xfrm>
            <a:prstGeom prst="line">
              <a:avLst/>
            </a:prstGeom>
            <a:noFill/>
            <a:ln w="12700">
              <a:solidFill>
                <a:srgbClr val="FF9900"/>
              </a:solidFill>
              <a:round/>
              <a:headEnd/>
              <a:tailEnd/>
            </a:ln>
          </p:spPr>
          <p:txBody>
            <a:bodyPr/>
            <a:lstStyle/>
            <a:p>
              <a:endParaRPr lang="en-GB"/>
            </a:p>
          </p:txBody>
        </p:sp>
        <p:sp>
          <p:nvSpPr>
            <p:cNvPr id="8238" name="Line 76"/>
            <p:cNvSpPr>
              <a:spLocks noChangeShapeType="1"/>
            </p:cNvSpPr>
            <p:nvPr/>
          </p:nvSpPr>
          <p:spPr bwMode="auto">
            <a:xfrm rot="1561396" flipH="1">
              <a:off x="1491" y="3331"/>
              <a:ext cx="97" cy="474"/>
            </a:xfrm>
            <a:prstGeom prst="line">
              <a:avLst/>
            </a:prstGeom>
            <a:noFill/>
            <a:ln w="12700">
              <a:solidFill>
                <a:srgbClr val="FF9900"/>
              </a:solidFill>
              <a:round/>
              <a:headEnd/>
              <a:tailEnd/>
            </a:ln>
          </p:spPr>
          <p:txBody>
            <a:bodyPr/>
            <a:lstStyle/>
            <a:p>
              <a:endParaRPr lang="en-GB"/>
            </a:p>
          </p:txBody>
        </p:sp>
        <p:sp>
          <p:nvSpPr>
            <p:cNvPr id="8239" name="Line 77"/>
            <p:cNvSpPr>
              <a:spLocks noChangeShapeType="1"/>
            </p:cNvSpPr>
            <p:nvPr/>
          </p:nvSpPr>
          <p:spPr bwMode="auto">
            <a:xfrm rot="1561396" flipH="1">
              <a:off x="1247" y="3292"/>
              <a:ext cx="256" cy="398"/>
            </a:xfrm>
            <a:prstGeom prst="line">
              <a:avLst/>
            </a:prstGeom>
            <a:noFill/>
            <a:ln w="12700">
              <a:solidFill>
                <a:srgbClr val="FF9900"/>
              </a:solidFill>
              <a:round/>
              <a:headEnd/>
              <a:tailEnd/>
            </a:ln>
          </p:spPr>
          <p:txBody>
            <a:bodyPr/>
            <a:lstStyle/>
            <a:p>
              <a:endParaRPr lang="en-GB"/>
            </a:p>
          </p:txBody>
        </p:sp>
        <p:sp>
          <p:nvSpPr>
            <p:cNvPr id="8240" name="Line 78"/>
            <p:cNvSpPr>
              <a:spLocks noChangeShapeType="1"/>
            </p:cNvSpPr>
            <p:nvPr/>
          </p:nvSpPr>
          <p:spPr bwMode="auto">
            <a:xfrm rot="1561396" flipH="1">
              <a:off x="1121" y="3167"/>
              <a:ext cx="470" cy="319"/>
            </a:xfrm>
            <a:prstGeom prst="line">
              <a:avLst/>
            </a:prstGeom>
            <a:noFill/>
            <a:ln w="12700">
              <a:solidFill>
                <a:srgbClr val="FF9900"/>
              </a:solidFill>
              <a:round/>
              <a:headEnd/>
              <a:tailEnd/>
            </a:ln>
          </p:spPr>
          <p:txBody>
            <a:bodyPr/>
            <a:lstStyle/>
            <a:p>
              <a:endParaRPr lang="en-GB"/>
            </a:p>
          </p:txBody>
        </p:sp>
        <p:sp>
          <p:nvSpPr>
            <p:cNvPr id="8241" name="Line 79"/>
            <p:cNvSpPr>
              <a:spLocks noChangeShapeType="1"/>
            </p:cNvSpPr>
            <p:nvPr/>
          </p:nvSpPr>
          <p:spPr bwMode="auto">
            <a:xfrm rot="1561396" flipH="1">
              <a:off x="805" y="2687"/>
              <a:ext cx="470" cy="319"/>
            </a:xfrm>
            <a:prstGeom prst="line">
              <a:avLst/>
            </a:prstGeom>
            <a:noFill/>
            <a:ln w="12700">
              <a:solidFill>
                <a:srgbClr val="FF9900"/>
              </a:solidFill>
              <a:round/>
              <a:headEnd/>
              <a:tailEnd/>
            </a:ln>
          </p:spPr>
          <p:txBody>
            <a:bodyPr/>
            <a:lstStyle/>
            <a:p>
              <a:endParaRPr lang="en-GB"/>
            </a:p>
          </p:txBody>
        </p:sp>
        <p:sp>
          <p:nvSpPr>
            <p:cNvPr id="8242" name="Line 80"/>
            <p:cNvSpPr>
              <a:spLocks noChangeShapeType="1"/>
            </p:cNvSpPr>
            <p:nvPr/>
          </p:nvSpPr>
          <p:spPr bwMode="auto">
            <a:xfrm rot="1561396" flipH="1">
              <a:off x="676" y="2625"/>
              <a:ext cx="546" cy="98"/>
            </a:xfrm>
            <a:prstGeom prst="line">
              <a:avLst/>
            </a:prstGeom>
            <a:noFill/>
            <a:ln w="12700">
              <a:solidFill>
                <a:srgbClr val="FF9900"/>
              </a:solidFill>
              <a:round/>
              <a:headEnd/>
              <a:tailEnd/>
            </a:ln>
          </p:spPr>
          <p:txBody>
            <a:bodyPr/>
            <a:lstStyle/>
            <a:p>
              <a:endParaRPr lang="en-GB"/>
            </a:p>
          </p:txBody>
        </p:sp>
        <p:sp>
          <p:nvSpPr>
            <p:cNvPr id="8243" name="Line 81"/>
            <p:cNvSpPr>
              <a:spLocks noChangeShapeType="1"/>
            </p:cNvSpPr>
            <p:nvPr/>
          </p:nvSpPr>
          <p:spPr bwMode="auto">
            <a:xfrm rot="1561396" flipH="1" flipV="1">
              <a:off x="644" y="2473"/>
              <a:ext cx="685" cy="139"/>
            </a:xfrm>
            <a:prstGeom prst="line">
              <a:avLst/>
            </a:prstGeom>
            <a:noFill/>
            <a:ln w="12700">
              <a:solidFill>
                <a:srgbClr val="FF9900"/>
              </a:solidFill>
              <a:round/>
              <a:headEnd/>
              <a:tailEnd/>
            </a:ln>
          </p:spPr>
          <p:txBody>
            <a:bodyPr/>
            <a:lstStyle/>
            <a:p>
              <a:endParaRPr lang="en-GB"/>
            </a:p>
          </p:txBody>
        </p:sp>
        <p:grpSp>
          <p:nvGrpSpPr>
            <p:cNvPr id="15" name="Group 82"/>
            <p:cNvGrpSpPr>
              <a:grpSpLocks/>
            </p:cNvGrpSpPr>
            <p:nvPr/>
          </p:nvGrpSpPr>
          <p:grpSpPr bwMode="auto">
            <a:xfrm>
              <a:off x="1111" y="1030"/>
              <a:ext cx="3293" cy="2564"/>
              <a:chOff x="705" y="1174"/>
              <a:chExt cx="2628" cy="2071"/>
            </a:xfrm>
          </p:grpSpPr>
          <p:grpSp>
            <p:nvGrpSpPr>
              <p:cNvPr id="16" name="Group 83"/>
              <p:cNvGrpSpPr>
                <a:grpSpLocks/>
              </p:cNvGrpSpPr>
              <p:nvPr/>
            </p:nvGrpSpPr>
            <p:grpSpPr bwMode="auto">
              <a:xfrm>
                <a:off x="959" y="1180"/>
                <a:ext cx="898" cy="576"/>
                <a:chOff x="959" y="1180"/>
                <a:chExt cx="898" cy="576"/>
              </a:xfrm>
            </p:grpSpPr>
            <p:sp>
              <p:nvSpPr>
                <p:cNvPr id="8274" name="AutoShape 84"/>
                <p:cNvSpPr>
                  <a:spLocks noChangeArrowheads="1"/>
                </p:cNvSpPr>
                <p:nvPr/>
              </p:nvSpPr>
              <p:spPr bwMode="auto">
                <a:xfrm>
                  <a:off x="959" y="1379"/>
                  <a:ext cx="247" cy="213"/>
                </a:xfrm>
                <a:prstGeom prst="triangle">
                  <a:avLst>
                    <a:gd name="adj" fmla="val 50000"/>
                  </a:avLst>
                </a:prstGeom>
                <a:solidFill>
                  <a:srgbClr val="FF0066"/>
                </a:solidFill>
                <a:ln w="9525">
                  <a:solidFill>
                    <a:schemeClr val="tx1"/>
                  </a:solidFill>
                  <a:miter lim="800000"/>
                  <a:headEnd/>
                  <a:tailEnd/>
                </a:ln>
              </p:spPr>
              <p:txBody>
                <a:bodyPr wrap="none" anchor="ctr"/>
                <a:lstStyle/>
                <a:p>
                  <a:endParaRPr lang="en-US"/>
                </a:p>
              </p:txBody>
            </p:sp>
            <p:sp>
              <p:nvSpPr>
                <p:cNvPr id="8275" name="AutoShape 85"/>
                <p:cNvSpPr>
                  <a:spLocks noChangeArrowheads="1"/>
                </p:cNvSpPr>
                <p:nvPr/>
              </p:nvSpPr>
              <p:spPr bwMode="auto">
                <a:xfrm>
                  <a:off x="1610" y="1180"/>
                  <a:ext cx="247" cy="213"/>
                </a:xfrm>
                <a:prstGeom prst="triangle">
                  <a:avLst>
                    <a:gd name="adj" fmla="val 50000"/>
                  </a:avLst>
                </a:prstGeom>
                <a:solidFill>
                  <a:srgbClr val="FF0066"/>
                </a:solidFill>
                <a:ln w="9525">
                  <a:solidFill>
                    <a:schemeClr val="tx1"/>
                  </a:solidFill>
                  <a:miter lim="800000"/>
                  <a:headEnd/>
                  <a:tailEnd/>
                </a:ln>
              </p:spPr>
              <p:txBody>
                <a:bodyPr wrap="none" anchor="ctr"/>
                <a:lstStyle/>
                <a:p>
                  <a:endParaRPr lang="en-US"/>
                </a:p>
              </p:txBody>
            </p:sp>
            <p:sp>
              <p:nvSpPr>
                <p:cNvPr id="8276" name="AutoShape 86"/>
                <p:cNvSpPr>
                  <a:spLocks noChangeArrowheads="1"/>
                </p:cNvSpPr>
                <p:nvPr/>
              </p:nvSpPr>
              <p:spPr bwMode="auto">
                <a:xfrm>
                  <a:off x="1260" y="1208"/>
                  <a:ext cx="247" cy="213"/>
                </a:xfrm>
                <a:prstGeom prst="triangle">
                  <a:avLst>
                    <a:gd name="adj" fmla="val 50000"/>
                  </a:avLst>
                </a:prstGeom>
                <a:solidFill>
                  <a:srgbClr val="FF0066"/>
                </a:solidFill>
                <a:ln w="9525">
                  <a:solidFill>
                    <a:schemeClr val="tx1"/>
                  </a:solidFill>
                  <a:miter lim="800000"/>
                  <a:headEnd/>
                  <a:tailEnd/>
                </a:ln>
              </p:spPr>
              <p:txBody>
                <a:bodyPr wrap="none" anchor="ctr"/>
                <a:lstStyle/>
                <a:p>
                  <a:endParaRPr lang="en-US"/>
                </a:p>
              </p:txBody>
            </p:sp>
            <p:sp>
              <p:nvSpPr>
                <p:cNvPr id="8277" name="Line 87"/>
                <p:cNvSpPr>
                  <a:spLocks noChangeShapeType="1"/>
                </p:cNvSpPr>
                <p:nvPr/>
              </p:nvSpPr>
              <p:spPr bwMode="auto">
                <a:xfrm>
                  <a:off x="1124" y="1557"/>
                  <a:ext cx="480" cy="199"/>
                </a:xfrm>
                <a:prstGeom prst="line">
                  <a:avLst/>
                </a:prstGeom>
                <a:noFill/>
                <a:ln w="28575">
                  <a:solidFill>
                    <a:srgbClr val="FF0066"/>
                  </a:solidFill>
                  <a:round/>
                  <a:headEnd/>
                  <a:tailEnd/>
                </a:ln>
              </p:spPr>
              <p:txBody>
                <a:bodyPr/>
                <a:lstStyle/>
                <a:p>
                  <a:endParaRPr lang="en-GB"/>
                </a:p>
              </p:txBody>
            </p:sp>
            <p:sp>
              <p:nvSpPr>
                <p:cNvPr id="8278" name="Line 88"/>
                <p:cNvSpPr>
                  <a:spLocks noChangeShapeType="1"/>
                </p:cNvSpPr>
                <p:nvPr/>
              </p:nvSpPr>
              <p:spPr bwMode="auto">
                <a:xfrm>
                  <a:off x="1392" y="1399"/>
                  <a:ext cx="240" cy="315"/>
                </a:xfrm>
                <a:prstGeom prst="line">
                  <a:avLst/>
                </a:prstGeom>
                <a:noFill/>
                <a:ln w="28575">
                  <a:solidFill>
                    <a:srgbClr val="FF0066"/>
                  </a:solidFill>
                  <a:round/>
                  <a:headEnd/>
                  <a:tailEnd/>
                </a:ln>
              </p:spPr>
              <p:txBody>
                <a:bodyPr/>
                <a:lstStyle/>
                <a:p>
                  <a:endParaRPr lang="en-GB"/>
                </a:p>
              </p:txBody>
            </p:sp>
            <p:sp>
              <p:nvSpPr>
                <p:cNvPr id="8279" name="Line 89"/>
                <p:cNvSpPr>
                  <a:spLocks noChangeShapeType="1"/>
                </p:cNvSpPr>
                <p:nvPr/>
              </p:nvSpPr>
              <p:spPr bwMode="auto">
                <a:xfrm flipH="1">
                  <a:off x="1666" y="1358"/>
                  <a:ext cx="96" cy="377"/>
                </a:xfrm>
                <a:prstGeom prst="line">
                  <a:avLst/>
                </a:prstGeom>
                <a:noFill/>
                <a:ln w="28575">
                  <a:solidFill>
                    <a:srgbClr val="FF0066"/>
                  </a:solidFill>
                  <a:round/>
                  <a:headEnd/>
                  <a:tailEnd/>
                </a:ln>
              </p:spPr>
              <p:txBody>
                <a:bodyPr/>
                <a:lstStyle/>
                <a:p>
                  <a:endParaRPr lang="en-GB"/>
                </a:p>
              </p:txBody>
            </p:sp>
          </p:grpSp>
          <p:grpSp>
            <p:nvGrpSpPr>
              <p:cNvPr id="17" name="Group 90"/>
              <p:cNvGrpSpPr>
                <a:grpSpLocks/>
              </p:cNvGrpSpPr>
              <p:nvPr/>
            </p:nvGrpSpPr>
            <p:grpSpPr bwMode="auto">
              <a:xfrm>
                <a:off x="2364" y="1174"/>
                <a:ext cx="625" cy="727"/>
                <a:chOff x="2364" y="1174"/>
                <a:chExt cx="625" cy="727"/>
              </a:xfrm>
            </p:grpSpPr>
            <p:sp>
              <p:nvSpPr>
                <p:cNvPr id="8270" name="AutoShape 91"/>
                <p:cNvSpPr>
                  <a:spLocks noChangeArrowheads="1"/>
                </p:cNvSpPr>
                <p:nvPr/>
              </p:nvSpPr>
              <p:spPr bwMode="auto">
                <a:xfrm>
                  <a:off x="2742" y="1399"/>
                  <a:ext cx="247" cy="213"/>
                </a:xfrm>
                <a:prstGeom prst="triangle">
                  <a:avLst>
                    <a:gd name="adj" fmla="val 50000"/>
                  </a:avLst>
                </a:prstGeom>
                <a:solidFill>
                  <a:srgbClr val="FF0066"/>
                </a:solidFill>
                <a:ln w="9525">
                  <a:solidFill>
                    <a:schemeClr val="tx1"/>
                  </a:solidFill>
                  <a:miter lim="800000"/>
                  <a:headEnd/>
                  <a:tailEnd/>
                </a:ln>
              </p:spPr>
              <p:txBody>
                <a:bodyPr wrap="none" anchor="ctr"/>
                <a:lstStyle/>
                <a:p>
                  <a:endParaRPr lang="en-US"/>
                </a:p>
              </p:txBody>
            </p:sp>
            <p:sp>
              <p:nvSpPr>
                <p:cNvPr id="8271" name="AutoShape 92"/>
                <p:cNvSpPr>
                  <a:spLocks noChangeArrowheads="1"/>
                </p:cNvSpPr>
                <p:nvPr/>
              </p:nvSpPr>
              <p:spPr bwMode="auto">
                <a:xfrm>
                  <a:off x="2364" y="1174"/>
                  <a:ext cx="247" cy="213"/>
                </a:xfrm>
                <a:prstGeom prst="triangle">
                  <a:avLst>
                    <a:gd name="adj" fmla="val 50000"/>
                  </a:avLst>
                </a:prstGeom>
                <a:solidFill>
                  <a:srgbClr val="FF0066"/>
                </a:solidFill>
                <a:ln w="9525">
                  <a:solidFill>
                    <a:schemeClr val="tx1"/>
                  </a:solidFill>
                  <a:miter lim="800000"/>
                  <a:headEnd/>
                  <a:tailEnd/>
                </a:ln>
              </p:spPr>
              <p:txBody>
                <a:bodyPr wrap="none" anchor="ctr"/>
                <a:lstStyle/>
                <a:p>
                  <a:endParaRPr lang="en-US"/>
                </a:p>
              </p:txBody>
            </p:sp>
            <p:sp>
              <p:nvSpPr>
                <p:cNvPr id="8272" name="Line 93"/>
                <p:cNvSpPr>
                  <a:spLocks noChangeShapeType="1"/>
                </p:cNvSpPr>
                <p:nvPr/>
              </p:nvSpPr>
              <p:spPr bwMode="auto">
                <a:xfrm flipH="1">
                  <a:off x="2386" y="1351"/>
                  <a:ext cx="96" cy="377"/>
                </a:xfrm>
                <a:prstGeom prst="line">
                  <a:avLst/>
                </a:prstGeom>
                <a:noFill/>
                <a:ln w="28575">
                  <a:solidFill>
                    <a:srgbClr val="FF0066"/>
                  </a:solidFill>
                  <a:round/>
                  <a:headEnd/>
                  <a:tailEnd/>
                </a:ln>
              </p:spPr>
              <p:txBody>
                <a:bodyPr/>
                <a:lstStyle/>
                <a:p>
                  <a:endParaRPr lang="en-GB"/>
                </a:p>
              </p:txBody>
            </p:sp>
            <p:sp>
              <p:nvSpPr>
                <p:cNvPr id="8273" name="Line 94"/>
                <p:cNvSpPr>
                  <a:spLocks noChangeShapeType="1"/>
                </p:cNvSpPr>
                <p:nvPr/>
              </p:nvSpPr>
              <p:spPr bwMode="auto">
                <a:xfrm flipH="1">
                  <a:off x="2373" y="1549"/>
                  <a:ext cx="494" cy="352"/>
                </a:xfrm>
                <a:prstGeom prst="line">
                  <a:avLst/>
                </a:prstGeom>
                <a:noFill/>
                <a:ln w="28575">
                  <a:solidFill>
                    <a:srgbClr val="FF0066"/>
                  </a:solidFill>
                  <a:round/>
                  <a:headEnd/>
                  <a:tailEnd/>
                </a:ln>
              </p:spPr>
              <p:txBody>
                <a:bodyPr/>
                <a:lstStyle/>
                <a:p>
                  <a:endParaRPr lang="en-GB"/>
                </a:p>
              </p:txBody>
            </p:sp>
          </p:grpSp>
          <p:grpSp>
            <p:nvGrpSpPr>
              <p:cNvPr id="18" name="Group 95"/>
              <p:cNvGrpSpPr>
                <a:grpSpLocks/>
              </p:cNvGrpSpPr>
              <p:nvPr/>
            </p:nvGrpSpPr>
            <p:grpSpPr bwMode="auto">
              <a:xfrm>
                <a:off x="2496" y="2264"/>
                <a:ext cx="837" cy="933"/>
                <a:chOff x="2496" y="2264"/>
                <a:chExt cx="837" cy="933"/>
              </a:xfrm>
            </p:grpSpPr>
            <p:sp>
              <p:nvSpPr>
                <p:cNvPr id="8264" name="AutoShape 96"/>
                <p:cNvSpPr>
                  <a:spLocks noChangeArrowheads="1"/>
                </p:cNvSpPr>
                <p:nvPr/>
              </p:nvSpPr>
              <p:spPr bwMode="auto">
                <a:xfrm>
                  <a:off x="2496" y="2984"/>
                  <a:ext cx="247" cy="213"/>
                </a:xfrm>
                <a:prstGeom prst="triangle">
                  <a:avLst>
                    <a:gd name="adj" fmla="val 50000"/>
                  </a:avLst>
                </a:prstGeom>
                <a:solidFill>
                  <a:srgbClr val="FF0066"/>
                </a:solidFill>
                <a:ln w="9525">
                  <a:solidFill>
                    <a:schemeClr val="tx1"/>
                  </a:solidFill>
                  <a:miter lim="800000"/>
                  <a:headEnd/>
                  <a:tailEnd/>
                </a:ln>
              </p:spPr>
              <p:txBody>
                <a:bodyPr wrap="none" anchor="ctr"/>
                <a:lstStyle/>
                <a:p>
                  <a:endParaRPr lang="en-US"/>
                </a:p>
              </p:txBody>
            </p:sp>
            <p:sp>
              <p:nvSpPr>
                <p:cNvPr id="8265" name="AutoShape 97"/>
                <p:cNvSpPr>
                  <a:spLocks noChangeArrowheads="1"/>
                </p:cNvSpPr>
                <p:nvPr/>
              </p:nvSpPr>
              <p:spPr bwMode="auto">
                <a:xfrm>
                  <a:off x="2866" y="2778"/>
                  <a:ext cx="247" cy="213"/>
                </a:xfrm>
                <a:prstGeom prst="triangle">
                  <a:avLst>
                    <a:gd name="adj" fmla="val 50000"/>
                  </a:avLst>
                </a:prstGeom>
                <a:solidFill>
                  <a:srgbClr val="FF0066"/>
                </a:solidFill>
                <a:ln w="9525">
                  <a:solidFill>
                    <a:schemeClr val="tx1"/>
                  </a:solidFill>
                  <a:miter lim="800000"/>
                  <a:headEnd/>
                  <a:tailEnd/>
                </a:ln>
              </p:spPr>
              <p:txBody>
                <a:bodyPr wrap="none" anchor="ctr"/>
                <a:lstStyle/>
                <a:p>
                  <a:endParaRPr lang="en-US"/>
                </a:p>
              </p:txBody>
            </p:sp>
            <p:sp>
              <p:nvSpPr>
                <p:cNvPr id="8266" name="AutoShape 98"/>
                <p:cNvSpPr>
                  <a:spLocks noChangeArrowheads="1"/>
                </p:cNvSpPr>
                <p:nvPr/>
              </p:nvSpPr>
              <p:spPr bwMode="auto">
                <a:xfrm>
                  <a:off x="3086" y="2264"/>
                  <a:ext cx="247" cy="213"/>
                </a:xfrm>
                <a:prstGeom prst="triangle">
                  <a:avLst>
                    <a:gd name="adj" fmla="val 50000"/>
                  </a:avLst>
                </a:prstGeom>
                <a:solidFill>
                  <a:srgbClr val="FF0066"/>
                </a:solidFill>
                <a:ln w="9525">
                  <a:solidFill>
                    <a:schemeClr val="tx1"/>
                  </a:solidFill>
                  <a:miter lim="800000"/>
                  <a:headEnd/>
                  <a:tailEnd/>
                </a:ln>
              </p:spPr>
              <p:txBody>
                <a:bodyPr wrap="none" anchor="ctr"/>
                <a:lstStyle/>
                <a:p>
                  <a:endParaRPr lang="en-US"/>
                </a:p>
              </p:txBody>
            </p:sp>
            <p:sp>
              <p:nvSpPr>
                <p:cNvPr id="8267" name="Line 99"/>
                <p:cNvSpPr>
                  <a:spLocks noChangeShapeType="1"/>
                </p:cNvSpPr>
                <p:nvPr/>
              </p:nvSpPr>
              <p:spPr bwMode="auto">
                <a:xfrm flipH="1">
                  <a:off x="2627" y="2399"/>
                  <a:ext cx="576" cy="105"/>
                </a:xfrm>
                <a:prstGeom prst="line">
                  <a:avLst/>
                </a:prstGeom>
                <a:noFill/>
                <a:ln w="28575">
                  <a:solidFill>
                    <a:srgbClr val="FF0066"/>
                  </a:solidFill>
                  <a:round/>
                  <a:headEnd/>
                  <a:tailEnd/>
                </a:ln>
              </p:spPr>
              <p:txBody>
                <a:bodyPr/>
                <a:lstStyle/>
                <a:p>
                  <a:endParaRPr lang="en-GB"/>
                </a:p>
              </p:txBody>
            </p:sp>
            <p:sp>
              <p:nvSpPr>
                <p:cNvPr id="8268" name="Line 100"/>
                <p:cNvSpPr>
                  <a:spLocks noChangeShapeType="1"/>
                </p:cNvSpPr>
                <p:nvPr/>
              </p:nvSpPr>
              <p:spPr bwMode="auto">
                <a:xfrm flipH="1" flipV="1">
                  <a:off x="2579" y="2572"/>
                  <a:ext cx="432" cy="327"/>
                </a:xfrm>
                <a:prstGeom prst="line">
                  <a:avLst/>
                </a:prstGeom>
                <a:noFill/>
                <a:ln w="28575">
                  <a:solidFill>
                    <a:srgbClr val="FF0066"/>
                  </a:solidFill>
                  <a:round/>
                  <a:headEnd/>
                  <a:tailEnd/>
                </a:ln>
              </p:spPr>
              <p:txBody>
                <a:bodyPr/>
                <a:lstStyle/>
                <a:p>
                  <a:endParaRPr lang="en-GB"/>
                </a:p>
              </p:txBody>
            </p:sp>
            <p:sp>
              <p:nvSpPr>
                <p:cNvPr id="8269" name="Line 101"/>
                <p:cNvSpPr>
                  <a:spLocks noChangeShapeType="1"/>
                </p:cNvSpPr>
                <p:nvPr/>
              </p:nvSpPr>
              <p:spPr bwMode="auto">
                <a:xfrm flipH="1" flipV="1">
                  <a:off x="2497" y="2613"/>
                  <a:ext cx="124" cy="512"/>
                </a:xfrm>
                <a:prstGeom prst="line">
                  <a:avLst/>
                </a:prstGeom>
                <a:noFill/>
                <a:ln w="28575">
                  <a:solidFill>
                    <a:srgbClr val="FF0066"/>
                  </a:solidFill>
                  <a:round/>
                  <a:headEnd/>
                  <a:tailEnd/>
                </a:ln>
              </p:spPr>
              <p:txBody>
                <a:bodyPr/>
                <a:lstStyle/>
                <a:p>
                  <a:endParaRPr lang="en-GB"/>
                </a:p>
              </p:txBody>
            </p:sp>
          </p:grpSp>
          <p:grpSp>
            <p:nvGrpSpPr>
              <p:cNvPr id="19" name="Group 102"/>
              <p:cNvGrpSpPr>
                <a:grpSpLocks/>
              </p:cNvGrpSpPr>
              <p:nvPr/>
            </p:nvGrpSpPr>
            <p:grpSpPr bwMode="auto">
              <a:xfrm>
                <a:off x="705" y="2435"/>
                <a:ext cx="988" cy="810"/>
                <a:chOff x="705" y="2435"/>
                <a:chExt cx="988" cy="810"/>
              </a:xfrm>
            </p:grpSpPr>
            <p:sp>
              <p:nvSpPr>
                <p:cNvPr id="8258" name="AutoShape 103"/>
                <p:cNvSpPr>
                  <a:spLocks noChangeArrowheads="1"/>
                </p:cNvSpPr>
                <p:nvPr/>
              </p:nvSpPr>
              <p:spPr bwMode="auto">
                <a:xfrm>
                  <a:off x="1007" y="2888"/>
                  <a:ext cx="247" cy="213"/>
                </a:xfrm>
                <a:prstGeom prst="triangle">
                  <a:avLst>
                    <a:gd name="adj" fmla="val 50000"/>
                  </a:avLst>
                </a:prstGeom>
                <a:solidFill>
                  <a:srgbClr val="FF0066"/>
                </a:solidFill>
                <a:ln w="9525">
                  <a:solidFill>
                    <a:schemeClr val="tx1"/>
                  </a:solidFill>
                  <a:miter lim="800000"/>
                  <a:headEnd/>
                  <a:tailEnd/>
                </a:ln>
              </p:spPr>
              <p:txBody>
                <a:bodyPr wrap="none" anchor="ctr"/>
                <a:lstStyle/>
                <a:p>
                  <a:endParaRPr lang="en-US"/>
                </a:p>
              </p:txBody>
            </p:sp>
            <p:sp>
              <p:nvSpPr>
                <p:cNvPr id="8259" name="AutoShape 104"/>
                <p:cNvSpPr>
                  <a:spLocks noChangeArrowheads="1"/>
                </p:cNvSpPr>
                <p:nvPr/>
              </p:nvSpPr>
              <p:spPr bwMode="auto">
                <a:xfrm>
                  <a:off x="1446" y="3032"/>
                  <a:ext cx="247" cy="213"/>
                </a:xfrm>
                <a:prstGeom prst="triangle">
                  <a:avLst>
                    <a:gd name="adj" fmla="val 50000"/>
                  </a:avLst>
                </a:prstGeom>
                <a:solidFill>
                  <a:srgbClr val="FF0066"/>
                </a:solidFill>
                <a:ln w="9525">
                  <a:solidFill>
                    <a:schemeClr val="tx1"/>
                  </a:solidFill>
                  <a:miter lim="800000"/>
                  <a:headEnd/>
                  <a:tailEnd/>
                </a:ln>
              </p:spPr>
              <p:txBody>
                <a:bodyPr wrap="none" anchor="ctr"/>
                <a:lstStyle/>
                <a:p>
                  <a:endParaRPr lang="en-US"/>
                </a:p>
              </p:txBody>
            </p:sp>
            <p:sp>
              <p:nvSpPr>
                <p:cNvPr id="8260" name="AutoShape 105"/>
                <p:cNvSpPr>
                  <a:spLocks noChangeArrowheads="1"/>
                </p:cNvSpPr>
                <p:nvPr/>
              </p:nvSpPr>
              <p:spPr bwMode="auto">
                <a:xfrm>
                  <a:off x="705" y="2450"/>
                  <a:ext cx="247" cy="213"/>
                </a:xfrm>
                <a:prstGeom prst="triangle">
                  <a:avLst>
                    <a:gd name="adj" fmla="val 50000"/>
                  </a:avLst>
                </a:prstGeom>
                <a:solidFill>
                  <a:srgbClr val="FF0066"/>
                </a:solidFill>
                <a:ln w="9525">
                  <a:solidFill>
                    <a:schemeClr val="tx1"/>
                  </a:solidFill>
                  <a:miter lim="800000"/>
                  <a:headEnd/>
                  <a:tailEnd/>
                </a:ln>
              </p:spPr>
              <p:txBody>
                <a:bodyPr wrap="none" anchor="ctr"/>
                <a:lstStyle/>
                <a:p>
                  <a:endParaRPr lang="en-US"/>
                </a:p>
              </p:txBody>
            </p:sp>
            <p:sp>
              <p:nvSpPr>
                <p:cNvPr id="8261" name="Line 106"/>
                <p:cNvSpPr>
                  <a:spLocks noChangeShapeType="1"/>
                </p:cNvSpPr>
                <p:nvPr/>
              </p:nvSpPr>
              <p:spPr bwMode="auto">
                <a:xfrm flipH="1" flipV="1">
                  <a:off x="1516" y="2572"/>
                  <a:ext cx="55" cy="553"/>
                </a:xfrm>
                <a:prstGeom prst="line">
                  <a:avLst/>
                </a:prstGeom>
                <a:noFill/>
                <a:ln w="28575">
                  <a:solidFill>
                    <a:srgbClr val="FF0066"/>
                  </a:solidFill>
                  <a:round/>
                  <a:headEnd/>
                  <a:tailEnd/>
                </a:ln>
              </p:spPr>
              <p:txBody>
                <a:bodyPr/>
                <a:lstStyle/>
                <a:p>
                  <a:endParaRPr lang="en-GB"/>
                </a:p>
              </p:txBody>
            </p:sp>
            <p:sp>
              <p:nvSpPr>
                <p:cNvPr id="8262" name="Line 107"/>
                <p:cNvSpPr>
                  <a:spLocks noChangeShapeType="1"/>
                </p:cNvSpPr>
                <p:nvPr/>
              </p:nvSpPr>
              <p:spPr bwMode="auto">
                <a:xfrm flipV="1">
                  <a:off x="1140" y="2565"/>
                  <a:ext cx="294" cy="396"/>
                </a:xfrm>
                <a:prstGeom prst="line">
                  <a:avLst/>
                </a:prstGeom>
                <a:noFill/>
                <a:ln w="28575">
                  <a:solidFill>
                    <a:srgbClr val="FF0066"/>
                  </a:solidFill>
                  <a:round/>
                  <a:headEnd/>
                  <a:tailEnd/>
                </a:ln>
              </p:spPr>
              <p:txBody>
                <a:bodyPr/>
                <a:lstStyle/>
                <a:p>
                  <a:endParaRPr lang="en-GB"/>
                </a:p>
              </p:txBody>
            </p:sp>
            <p:sp>
              <p:nvSpPr>
                <p:cNvPr id="8263" name="Line 108"/>
                <p:cNvSpPr>
                  <a:spLocks noChangeShapeType="1"/>
                </p:cNvSpPr>
                <p:nvPr/>
              </p:nvSpPr>
              <p:spPr bwMode="auto">
                <a:xfrm flipV="1">
                  <a:off x="865" y="2435"/>
                  <a:ext cx="534" cy="163"/>
                </a:xfrm>
                <a:prstGeom prst="line">
                  <a:avLst/>
                </a:prstGeom>
                <a:noFill/>
                <a:ln w="28575">
                  <a:solidFill>
                    <a:srgbClr val="FF0066"/>
                  </a:solidFill>
                  <a:round/>
                  <a:headEnd/>
                  <a:tailEnd/>
                </a:ln>
              </p:spPr>
              <p:txBody>
                <a:bodyPr/>
                <a:lstStyle/>
                <a:p>
                  <a:endParaRPr lang="en-GB"/>
                </a:p>
              </p:txBody>
            </p:sp>
          </p:grpSp>
          <p:grpSp>
            <p:nvGrpSpPr>
              <p:cNvPr id="20" name="Group 109"/>
              <p:cNvGrpSpPr>
                <a:grpSpLocks/>
              </p:cNvGrpSpPr>
              <p:nvPr/>
            </p:nvGrpSpPr>
            <p:grpSpPr bwMode="auto">
              <a:xfrm>
                <a:off x="1385" y="1646"/>
                <a:ext cx="1310" cy="994"/>
                <a:chOff x="1385" y="1646"/>
                <a:chExt cx="1310" cy="994"/>
              </a:xfrm>
            </p:grpSpPr>
            <p:sp>
              <p:nvSpPr>
                <p:cNvPr id="8250" name="Rectangle 110"/>
                <p:cNvSpPr>
                  <a:spLocks noChangeArrowheads="1"/>
                </p:cNvSpPr>
                <p:nvPr/>
              </p:nvSpPr>
              <p:spPr bwMode="auto">
                <a:xfrm>
                  <a:off x="1474" y="1653"/>
                  <a:ext cx="275" cy="295"/>
                </a:xfrm>
                <a:prstGeom prst="rect">
                  <a:avLst/>
                </a:prstGeom>
                <a:solidFill>
                  <a:srgbClr val="800000"/>
                </a:solidFill>
                <a:ln w="9525">
                  <a:solidFill>
                    <a:schemeClr val="tx1"/>
                  </a:solidFill>
                  <a:miter lim="800000"/>
                  <a:headEnd/>
                  <a:tailEnd/>
                </a:ln>
              </p:spPr>
              <p:txBody>
                <a:bodyPr wrap="none" anchor="ctr"/>
                <a:lstStyle/>
                <a:p>
                  <a:endParaRPr lang="en-US"/>
                </a:p>
              </p:txBody>
            </p:sp>
            <p:sp>
              <p:nvSpPr>
                <p:cNvPr id="8251" name="Rectangle 111"/>
                <p:cNvSpPr>
                  <a:spLocks noChangeArrowheads="1"/>
                </p:cNvSpPr>
                <p:nvPr/>
              </p:nvSpPr>
              <p:spPr bwMode="auto">
                <a:xfrm>
                  <a:off x="2256" y="1646"/>
                  <a:ext cx="275" cy="295"/>
                </a:xfrm>
                <a:prstGeom prst="rect">
                  <a:avLst/>
                </a:prstGeom>
                <a:solidFill>
                  <a:srgbClr val="800000"/>
                </a:solidFill>
                <a:ln w="9525">
                  <a:solidFill>
                    <a:schemeClr val="tx1"/>
                  </a:solidFill>
                  <a:miter lim="800000"/>
                  <a:headEnd/>
                  <a:tailEnd/>
                </a:ln>
              </p:spPr>
              <p:txBody>
                <a:bodyPr wrap="none" anchor="ctr"/>
                <a:lstStyle/>
                <a:p>
                  <a:endParaRPr lang="en-US"/>
                </a:p>
              </p:txBody>
            </p:sp>
            <p:sp>
              <p:nvSpPr>
                <p:cNvPr id="8252" name="Rectangle 112"/>
                <p:cNvSpPr>
                  <a:spLocks noChangeArrowheads="1"/>
                </p:cNvSpPr>
                <p:nvPr/>
              </p:nvSpPr>
              <p:spPr bwMode="auto">
                <a:xfrm>
                  <a:off x="1385" y="2325"/>
                  <a:ext cx="275" cy="295"/>
                </a:xfrm>
                <a:prstGeom prst="rect">
                  <a:avLst/>
                </a:prstGeom>
                <a:solidFill>
                  <a:srgbClr val="800000"/>
                </a:solidFill>
                <a:ln w="9525">
                  <a:solidFill>
                    <a:schemeClr val="tx1"/>
                  </a:solidFill>
                  <a:miter lim="800000"/>
                  <a:headEnd/>
                  <a:tailEnd/>
                </a:ln>
              </p:spPr>
              <p:txBody>
                <a:bodyPr wrap="none" anchor="ctr"/>
                <a:lstStyle/>
                <a:p>
                  <a:endParaRPr lang="en-US"/>
                </a:p>
              </p:txBody>
            </p:sp>
            <p:sp>
              <p:nvSpPr>
                <p:cNvPr id="8253" name="Rectangle 113"/>
                <p:cNvSpPr>
                  <a:spLocks noChangeArrowheads="1"/>
                </p:cNvSpPr>
                <p:nvPr/>
              </p:nvSpPr>
              <p:spPr bwMode="auto">
                <a:xfrm>
                  <a:off x="2420" y="2345"/>
                  <a:ext cx="275" cy="295"/>
                </a:xfrm>
                <a:prstGeom prst="rect">
                  <a:avLst/>
                </a:prstGeom>
                <a:solidFill>
                  <a:srgbClr val="800000"/>
                </a:solidFill>
                <a:ln w="9525">
                  <a:solidFill>
                    <a:schemeClr val="tx1"/>
                  </a:solidFill>
                  <a:miter lim="800000"/>
                  <a:headEnd/>
                  <a:tailEnd/>
                </a:ln>
              </p:spPr>
              <p:txBody>
                <a:bodyPr wrap="none" anchor="ctr"/>
                <a:lstStyle/>
                <a:p>
                  <a:endParaRPr lang="en-US"/>
                </a:p>
              </p:txBody>
            </p:sp>
            <p:sp>
              <p:nvSpPr>
                <p:cNvPr id="8254" name="Line 114"/>
                <p:cNvSpPr>
                  <a:spLocks noChangeShapeType="1"/>
                </p:cNvSpPr>
                <p:nvPr/>
              </p:nvSpPr>
              <p:spPr bwMode="auto">
                <a:xfrm flipV="1">
                  <a:off x="1481" y="1830"/>
                  <a:ext cx="961" cy="603"/>
                </a:xfrm>
                <a:prstGeom prst="line">
                  <a:avLst/>
                </a:prstGeom>
                <a:noFill/>
                <a:ln w="57150">
                  <a:solidFill>
                    <a:srgbClr val="800000"/>
                  </a:solidFill>
                  <a:round/>
                  <a:headEnd/>
                  <a:tailEnd/>
                </a:ln>
              </p:spPr>
              <p:txBody>
                <a:bodyPr/>
                <a:lstStyle/>
                <a:p>
                  <a:endParaRPr lang="en-GB"/>
                </a:p>
              </p:txBody>
            </p:sp>
            <p:sp>
              <p:nvSpPr>
                <p:cNvPr id="8255" name="Line 115"/>
                <p:cNvSpPr>
                  <a:spLocks noChangeShapeType="1"/>
                </p:cNvSpPr>
                <p:nvPr/>
              </p:nvSpPr>
              <p:spPr bwMode="auto">
                <a:xfrm flipV="1">
                  <a:off x="1440" y="1795"/>
                  <a:ext cx="111" cy="685"/>
                </a:xfrm>
                <a:prstGeom prst="line">
                  <a:avLst/>
                </a:prstGeom>
                <a:noFill/>
                <a:ln w="57150">
                  <a:solidFill>
                    <a:srgbClr val="800000"/>
                  </a:solidFill>
                  <a:round/>
                  <a:headEnd/>
                  <a:tailEnd/>
                </a:ln>
              </p:spPr>
              <p:txBody>
                <a:bodyPr/>
                <a:lstStyle/>
                <a:p>
                  <a:endParaRPr lang="en-GB"/>
                </a:p>
              </p:txBody>
            </p:sp>
            <p:sp>
              <p:nvSpPr>
                <p:cNvPr id="8256" name="Line 116"/>
                <p:cNvSpPr>
                  <a:spLocks noChangeShapeType="1"/>
                </p:cNvSpPr>
                <p:nvPr/>
              </p:nvSpPr>
              <p:spPr bwMode="auto">
                <a:xfrm flipH="1" flipV="1">
                  <a:off x="1592" y="1836"/>
                  <a:ext cx="1007" cy="672"/>
                </a:xfrm>
                <a:prstGeom prst="line">
                  <a:avLst/>
                </a:prstGeom>
                <a:noFill/>
                <a:ln w="57150">
                  <a:solidFill>
                    <a:srgbClr val="800000"/>
                  </a:solidFill>
                  <a:round/>
                  <a:headEnd/>
                  <a:tailEnd/>
                </a:ln>
              </p:spPr>
              <p:txBody>
                <a:bodyPr/>
                <a:lstStyle/>
                <a:p>
                  <a:endParaRPr lang="en-GB"/>
                </a:p>
              </p:txBody>
            </p:sp>
            <p:sp>
              <p:nvSpPr>
                <p:cNvPr id="8257" name="Line 117"/>
                <p:cNvSpPr>
                  <a:spLocks noChangeShapeType="1"/>
                </p:cNvSpPr>
                <p:nvPr/>
              </p:nvSpPr>
              <p:spPr bwMode="auto">
                <a:xfrm flipH="1" flipV="1">
                  <a:off x="2368" y="1699"/>
                  <a:ext cx="163" cy="761"/>
                </a:xfrm>
                <a:prstGeom prst="line">
                  <a:avLst/>
                </a:prstGeom>
                <a:noFill/>
                <a:ln w="57150">
                  <a:solidFill>
                    <a:srgbClr val="800000"/>
                  </a:solidFill>
                  <a:round/>
                  <a:headEnd/>
                  <a:tailEnd/>
                </a:ln>
              </p:spPr>
              <p:txBody>
                <a:bodyPr/>
                <a:lstStyle/>
                <a:p>
                  <a:endParaRPr lang="en-GB"/>
                </a:p>
              </p:txBody>
            </p:sp>
          </p:grpSp>
        </p:grpSp>
      </p:grpSp>
      <p:sp>
        <p:nvSpPr>
          <p:cNvPr id="8196" name="Text Box 118"/>
          <p:cNvSpPr txBox="1">
            <a:spLocks noChangeArrowheads="1"/>
          </p:cNvSpPr>
          <p:nvPr/>
        </p:nvSpPr>
        <p:spPr bwMode="auto">
          <a:xfrm>
            <a:off x="6808788" y="1096963"/>
            <a:ext cx="184150" cy="457200"/>
          </a:xfrm>
          <a:prstGeom prst="rect">
            <a:avLst/>
          </a:prstGeom>
          <a:noFill/>
          <a:ln w="9525">
            <a:noFill/>
            <a:miter lim="800000"/>
            <a:headEnd/>
            <a:tailEnd/>
          </a:ln>
        </p:spPr>
        <p:txBody>
          <a:bodyPr wrap="none">
            <a:spAutoFit/>
          </a:bodyPr>
          <a:lstStyle/>
          <a:p>
            <a:endParaRPr lang="en-US" sz="2400"/>
          </a:p>
        </p:txBody>
      </p:sp>
      <p:pic>
        <p:nvPicPr>
          <p:cNvPr id="8198" name="Picture 120"/>
          <p:cNvPicPr>
            <a:picLocks noChangeAspect="1" noChangeArrowheads="1"/>
          </p:cNvPicPr>
          <p:nvPr/>
        </p:nvPicPr>
        <p:blipFill>
          <a:blip r:embed="rId2" cstate="print"/>
          <a:srcRect/>
          <a:stretch>
            <a:fillRect/>
          </a:stretch>
        </p:blipFill>
        <p:spPr bwMode="auto">
          <a:xfrm>
            <a:off x="1331913" y="2362200"/>
            <a:ext cx="971550" cy="723900"/>
          </a:xfrm>
          <a:prstGeom prst="rect">
            <a:avLst/>
          </a:prstGeom>
          <a:noFill/>
          <a:ln w="9525">
            <a:noFill/>
            <a:miter lim="800000"/>
            <a:headEnd/>
            <a:tailEnd/>
          </a:ln>
        </p:spPr>
      </p:pic>
      <p:sp>
        <p:nvSpPr>
          <p:cNvPr id="8199" name="Text Box 121"/>
          <p:cNvSpPr txBox="1">
            <a:spLocks noChangeArrowheads="1"/>
          </p:cNvSpPr>
          <p:nvPr/>
        </p:nvSpPr>
        <p:spPr bwMode="auto">
          <a:xfrm>
            <a:off x="4448175" y="4919663"/>
            <a:ext cx="1325563" cy="581025"/>
          </a:xfrm>
          <a:prstGeom prst="rect">
            <a:avLst/>
          </a:prstGeom>
          <a:noFill/>
          <a:ln w="9525">
            <a:noFill/>
            <a:miter lim="800000"/>
            <a:headEnd/>
            <a:tailEnd/>
          </a:ln>
        </p:spPr>
        <p:txBody>
          <a:bodyPr>
            <a:spAutoFit/>
          </a:bodyPr>
          <a:lstStyle/>
          <a:p>
            <a:pPr algn="ctr"/>
            <a:r>
              <a:rPr lang="en-GB" sz="1600"/>
              <a:t>Local Exchanges</a:t>
            </a:r>
            <a:endParaRPr lang="en-US" sz="1600"/>
          </a:p>
        </p:txBody>
      </p:sp>
      <p:sp>
        <p:nvSpPr>
          <p:cNvPr id="8200" name="Text Box 122"/>
          <p:cNvSpPr txBox="1">
            <a:spLocks noChangeArrowheads="1"/>
          </p:cNvSpPr>
          <p:nvPr/>
        </p:nvSpPr>
        <p:spPr bwMode="auto">
          <a:xfrm>
            <a:off x="2260600" y="3328988"/>
            <a:ext cx="1687513" cy="581025"/>
          </a:xfrm>
          <a:prstGeom prst="rect">
            <a:avLst/>
          </a:prstGeom>
          <a:noFill/>
          <a:ln w="9525">
            <a:noFill/>
            <a:miter lim="800000"/>
            <a:headEnd/>
            <a:tailEnd/>
          </a:ln>
        </p:spPr>
        <p:txBody>
          <a:bodyPr>
            <a:spAutoFit/>
          </a:bodyPr>
          <a:lstStyle/>
          <a:p>
            <a:pPr algn="ctr"/>
            <a:r>
              <a:rPr lang="en-GB" sz="1600" dirty="0"/>
              <a:t>Main Switching Centres</a:t>
            </a:r>
            <a:endParaRPr lang="en-US" sz="1600" dirty="0"/>
          </a:p>
        </p:txBody>
      </p:sp>
      <p:sp>
        <p:nvSpPr>
          <p:cNvPr id="8201" name="Text Box 123"/>
          <p:cNvSpPr txBox="1">
            <a:spLocks noChangeArrowheads="1"/>
          </p:cNvSpPr>
          <p:nvPr/>
        </p:nvSpPr>
        <p:spPr bwMode="auto">
          <a:xfrm>
            <a:off x="750888" y="3044825"/>
            <a:ext cx="1687512" cy="336550"/>
          </a:xfrm>
          <a:prstGeom prst="rect">
            <a:avLst/>
          </a:prstGeom>
          <a:noFill/>
          <a:ln w="9525">
            <a:noFill/>
            <a:miter lim="800000"/>
            <a:headEnd/>
            <a:tailEnd/>
          </a:ln>
        </p:spPr>
        <p:txBody>
          <a:bodyPr>
            <a:spAutoFit/>
          </a:bodyPr>
          <a:lstStyle/>
          <a:p>
            <a:pPr algn="ctr"/>
            <a:r>
              <a:rPr lang="en-GB" sz="1600"/>
              <a:t>Subscribers</a:t>
            </a:r>
            <a:endParaRPr lang="en-US" sz="1600"/>
          </a:p>
        </p:txBody>
      </p:sp>
      <p:sp>
        <p:nvSpPr>
          <p:cNvPr id="124" name="Text Box 132"/>
          <p:cNvSpPr txBox="1">
            <a:spLocks noChangeArrowheads="1"/>
          </p:cNvSpPr>
          <p:nvPr/>
        </p:nvSpPr>
        <p:spPr bwMode="auto">
          <a:xfrm>
            <a:off x="6496050" y="381000"/>
            <a:ext cx="2647950" cy="1069975"/>
          </a:xfrm>
          <a:prstGeom prst="rect">
            <a:avLst/>
          </a:prstGeom>
          <a:solidFill>
            <a:schemeClr val="hlink"/>
          </a:solidFill>
          <a:ln w="9525">
            <a:noFill/>
            <a:miter lim="800000"/>
            <a:headEnd/>
            <a:tailEnd/>
          </a:ln>
        </p:spPr>
        <p:txBody>
          <a:bodyPr>
            <a:spAutoFit/>
          </a:bodyPr>
          <a:lstStyle/>
          <a:p>
            <a:r>
              <a:rPr lang="en-GB" sz="1600"/>
              <a:t>Internet Protocol – IP - to carry data, voice and media over telephone networks </a:t>
            </a:r>
            <a:endParaRPr lang="en-US" sz="1600"/>
          </a:p>
        </p:txBody>
      </p:sp>
      <p:pic>
        <p:nvPicPr>
          <p:cNvPr id="2050" name="Picture 2" descr="http://www.troyteq.com/upload/200912140744309865971.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22794" r="23206"/>
          <a:stretch/>
        </p:blipFill>
        <p:spPr bwMode="auto">
          <a:xfrm>
            <a:off x="6404730" y="4569461"/>
            <a:ext cx="297070" cy="550131"/>
          </a:xfrm>
          <a:prstGeom prst="rect">
            <a:avLst/>
          </a:prstGeom>
          <a:noFill/>
          <a:extLst>
            <a:ext uri="{909E8E84-426E-40DD-AFC4-6F175D3DCCD1}">
              <a14:hiddenFill xmlns:a14="http://schemas.microsoft.com/office/drawing/2010/main">
                <a:solidFill>
                  <a:srgbClr val="FFFFFF"/>
                </a:solidFill>
              </a14:hiddenFill>
            </a:ext>
          </a:extLst>
        </p:spPr>
      </p:pic>
      <p:pic>
        <p:nvPicPr>
          <p:cNvPr id="126" name="Picture 4" descr="Image result for mobile phone"/>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39158" r="37400"/>
          <a:stretch/>
        </p:blipFill>
        <p:spPr bwMode="auto">
          <a:xfrm>
            <a:off x="6905611" y="5493164"/>
            <a:ext cx="272381" cy="650687"/>
          </a:xfrm>
          <a:prstGeom prst="rect">
            <a:avLst/>
          </a:prstGeom>
          <a:noFill/>
          <a:extLst>
            <a:ext uri="{909E8E84-426E-40DD-AFC4-6F175D3DCCD1}">
              <a14:hiddenFill xmlns:a14="http://schemas.microsoft.com/office/drawing/2010/main">
                <a:solidFill>
                  <a:srgbClr val="FFFFFF"/>
                </a:solidFill>
              </a14:hiddenFill>
            </a:ext>
          </a:extLst>
        </p:spPr>
      </p:pic>
      <p:pic>
        <p:nvPicPr>
          <p:cNvPr id="127" name="Picture 120"/>
          <p:cNvPicPr>
            <a:picLocks noChangeAspect="1" noChangeArrowheads="1"/>
          </p:cNvPicPr>
          <p:nvPr/>
        </p:nvPicPr>
        <p:blipFill>
          <a:blip r:embed="rId2" cstate="print"/>
          <a:srcRect/>
          <a:stretch>
            <a:fillRect/>
          </a:stretch>
        </p:blipFill>
        <p:spPr bwMode="auto">
          <a:xfrm>
            <a:off x="1801944" y="1865550"/>
            <a:ext cx="554677" cy="413289"/>
          </a:xfrm>
          <a:prstGeom prst="rect">
            <a:avLst/>
          </a:prstGeom>
          <a:noFill/>
          <a:ln w="9525">
            <a:noFill/>
            <a:miter lim="800000"/>
            <a:headEnd/>
            <a:tailEnd/>
          </a:ln>
        </p:spPr>
      </p:pic>
      <p:pic>
        <p:nvPicPr>
          <p:cNvPr id="128" name="Picture 120"/>
          <p:cNvPicPr>
            <a:picLocks noChangeAspect="1" noChangeArrowheads="1"/>
          </p:cNvPicPr>
          <p:nvPr/>
        </p:nvPicPr>
        <p:blipFill>
          <a:blip r:embed="rId2" cstate="print"/>
          <a:srcRect/>
          <a:stretch>
            <a:fillRect/>
          </a:stretch>
        </p:blipFill>
        <p:spPr bwMode="auto">
          <a:xfrm>
            <a:off x="2258702" y="1526649"/>
            <a:ext cx="426598" cy="317858"/>
          </a:xfrm>
          <a:prstGeom prst="rect">
            <a:avLst/>
          </a:prstGeom>
          <a:noFill/>
          <a:ln w="9525">
            <a:noFill/>
            <a:miter lim="800000"/>
            <a:headEnd/>
            <a:tailEnd/>
          </a:ln>
        </p:spPr>
      </p:pic>
      <p:pic>
        <p:nvPicPr>
          <p:cNvPr id="129" name="Picture 4" descr="Image result for mobile phone"/>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39158" r="37400"/>
          <a:stretch/>
        </p:blipFill>
        <p:spPr bwMode="auto">
          <a:xfrm>
            <a:off x="7215145" y="5176975"/>
            <a:ext cx="228244" cy="545249"/>
          </a:xfrm>
          <a:prstGeom prst="rect">
            <a:avLst/>
          </a:prstGeom>
          <a:noFill/>
          <a:extLst>
            <a:ext uri="{909E8E84-426E-40DD-AFC4-6F175D3DCCD1}">
              <a14:hiddenFill xmlns:a14="http://schemas.microsoft.com/office/drawing/2010/main">
                <a:solidFill>
                  <a:srgbClr val="FFFFFF"/>
                </a:solidFill>
              </a14:hiddenFill>
            </a:ext>
          </a:extLst>
        </p:spPr>
      </p:pic>
      <p:pic>
        <p:nvPicPr>
          <p:cNvPr id="130" name="Picture 4" descr="Image result for mobile phone"/>
          <p:cNvPicPr>
            <a:picLocks noChangeAspect="1" noChangeArrowheads="1"/>
          </p:cNvPicPr>
          <p:nvPr/>
        </p:nvPicPr>
        <p:blipFill rotWithShape="1">
          <a:blip r:embed="rId4">
            <a:extLst>
              <a:ext uri="{28A0092B-C50C-407E-A947-70E740481C1C}">
                <a14:useLocalDpi xmlns:a14="http://schemas.microsoft.com/office/drawing/2010/main" val="0"/>
              </a:ext>
            </a:extLst>
          </a:blip>
          <a:srcRect l="39158" r="37400"/>
          <a:stretch/>
        </p:blipFill>
        <p:spPr bwMode="auto">
          <a:xfrm>
            <a:off x="6436905" y="5485203"/>
            <a:ext cx="436201" cy="1042035"/>
          </a:xfrm>
          <a:prstGeom prst="rect">
            <a:avLst/>
          </a:prstGeom>
          <a:noFill/>
          <a:extLst>
            <a:ext uri="{909E8E84-426E-40DD-AFC4-6F175D3DCCD1}">
              <a14:hiddenFill xmlns:a14="http://schemas.microsoft.com/office/drawing/2010/main">
                <a:solidFill>
                  <a:srgbClr val="FFFFFF"/>
                </a:solidFill>
              </a14:hiddenFill>
            </a:ext>
          </a:extLst>
        </p:spPr>
      </p:pic>
      <p:grpSp>
        <p:nvGrpSpPr>
          <p:cNvPr id="22" name="Group 21"/>
          <p:cNvGrpSpPr/>
          <p:nvPr/>
        </p:nvGrpSpPr>
        <p:grpSpPr>
          <a:xfrm rot="1416803">
            <a:off x="6600758" y="5125266"/>
            <a:ext cx="316238" cy="343467"/>
            <a:chOff x="8293395" y="4667693"/>
            <a:chExt cx="585869" cy="948921"/>
          </a:xfrm>
        </p:grpSpPr>
        <p:sp>
          <p:nvSpPr>
            <p:cNvPr id="21" name="Freeform 20"/>
            <p:cNvSpPr/>
            <p:nvPr/>
          </p:nvSpPr>
          <p:spPr bwMode="auto">
            <a:xfrm>
              <a:off x="8293395" y="4667693"/>
              <a:ext cx="340855" cy="744279"/>
            </a:xfrm>
            <a:custGeom>
              <a:avLst/>
              <a:gdLst>
                <a:gd name="connsiteX0" fmla="*/ 0 w 340855"/>
                <a:gd name="connsiteY0" fmla="*/ 744279 h 744279"/>
                <a:gd name="connsiteX1" fmla="*/ 180754 w 340855"/>
                <a:gd name="connsiteY1" fmla="*/ 595423 h 744279"/>
                <a:gd name="connsiteX2" fmla="*/ 329610 w 340855"/>
                <a:gd name="connsiteY2" fmla="*/ 255181 h 744279"/>
                <a:gd name="connsiteX3" fmla="*/ 318977 w 340855"/>
                <a:gd name="connsiteY3" fmla="*/ 0 h 744279"/>
              </a:gdLst>
              <a:ahLst/>
              <a:cxnLst>
                <a:cxn ang="0">
                  <a:pos x="connsiteX0" y="connsiteY0"/>
                </a:cxn>
                <a:cxn ang="0">
                  <a:pos x="connsiteX1" y="connsiteY1"/>
                </a:cxn>
                <a:cxn ang="0">
                  <a:pos x="connsiteX2" y="connsiteY2"/>
                </a:cxn>
                <a:cxn ang="0">
                  <a:pos x="connsiteX3" y="connsiteY3"/>
                </a:cxn>
              </a:cxnLst>
              <a:rect l="l" t="t" r="r" b="b"/>
              <a:pathLst>
                <a:path w="340855" h="744279">
                  <a:moveTo>
                    <a:pt x="0" y="744279"/>
                  </a:moveTo>
                  <a:cubicBezTo>
                    <a:pt x="62909" y="710609"/>
                    <a:pt x="125819" y="676939"/>
                    <a:pt x="180754" y="595423"/>
                  </a:cubicBezTo>
                  <a:cubicBezTo>
                    <a:pt x="235689" y="513907"/>
                    <a:pt x="306573" y="354418"/>
                    <a:pt x="329610" y="255181"/>
                  </a:cubicBezTo>
                  <a:cubicBezTo>
                    <a:pt x="352647" y="155944"/>
                    <a:pt x="335812" y="77972"/>
                    <a:pt x="318977" y="0"/>
                  </a:cubicBezTo>
                </a:path>
              </a:pathLst>
            </a:custGeom>
            <a:noFill/>
            <a:ln w="9525" cap="flat" cmpd="sng" algn="ctr">
              <a:solidFill>
                <a:srgbClr val="8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32" name="Freeform 131"/>
            <p:cNvSpPr/>
            <p:nvPr/>
          </p:nvSpPr>
          <p:spPr bwMode="auto">
            <a:xfrm>
              <a:off x="8403397" y="4786114"/>
              <a:ext cx="340855" cy="744279"/>
            </a:xfrm>
            <a:custGeom>
              <a:avLst/>
              <a:gdLst>
                <a:gd name="connsiteX0" fmla="*/ 0 w 340855"/>
                <a:gd name="connsiteY0" fmla="*/ 744279 h 744279"/>
                <a:gd name="connsiteX1" fmla="*/ 180754 w 340855"/>
                <a:gd name="connsiteY1" fmla="*/ 595423 h 744279"/>
                <a:gd name="connsiteX2" fmla="*/ 329610 w 340855"/>
                <a:gd name="connsiteY2" fmla="*/ 255181 h 744279"/>
                <a:gd name="connsiteX3" fmla="*/ 318977 w 340855"/>
                <a:gd name="connsiteY3" fmla="*/ 0 h 744279"/>
              </a:gdLst>
              <a:ahLst/>
              <a:cxnLst>
                <a:cxn ang="0">
                  <a:pos x="connsiteX0" y="connsiteY0"/>
                </a:cxn>
                <a:cxn ang="0">
                  <a:pos x="connsiteX1" y="connsiteY1"/>
                </a:cxn>
                <a:cxn ang="0">
                  <a:pos x="connsiteX2" y="connsiteY2"/>
                </a:cxn>
                <a:cxn ang="0">
                  <a:pos x="connsiteX3" y="connsiteY3"/>
                </a:cxn>
              </a:cxnLst>
              <a:rect l="l" t="t" r="r" b="b"/>
              <a:pathLst>
                <a:path w="340855" h="744279">
                  <a:moveTo>
                    <a:pt x="0" y="744279"/>
                  </a:moveTo>
                  <a:cubicBezTo>
                    <a:pt x="62909" y="710609"/>
                    <a:pt x="125819" y="676939"/>
                    <a:pt x="180754" y="595423"/>
                  </a:cubicBezTo>
                  <a:cubicBezTo>
                    <a:pt x="235689" y="513907"/>
                    <a:pt x="306573" y="354418"/>
                    <a:pt x="329610" y="255181"/>
                  </a:cubicBezTo>
                  <a:cubicBezTo>
                    <a:pt x="352647" y="155944"/>
                    <a:pt x="335812" y="77972"/>
                    <a:pt x="318977" y="0"/>
                  </a:cubicBezTo>
                </a:path>
              </a:pathLst>
            </a:custGeom>
            <a:noFill/>
            <a:ln w="9525" cap="flat" cmpd="sng" algn="ctr">
              <a:solidFill>
                <a:srgbClr val="8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33" name="Freeform 132"/>
            <p:cNvSpPr/>
            <p:nvPr/>
          </p:nvSpPr>
          <p:spPr bwMode="auto">
            <a:xfrm>
              <a:off x="8538409" y="4872335"/>
              <a:ext cx="340855" cy="744279"/>
            </a:xfrm>
            <a:custGeom>
              <a:avLst/>
              <a:gdLst>
                <a:gd name="connsiteX0" fmla="*/ 0 w 340855"/>
                <a:gd name="connsiteY0" fmla="*/ 744279 h 744279"/>
                <a:gd name="connsiteX1" fmla="*/ 180754 w 340855"/>
                <a:gd name="connsiteY1" fmla="*/ 595423 h 744279"/>
                <a:gd name="connsiteX2" fmla="*/ 329610 w 340855"/>
                <a:gd name="connsiteY2" fmla="*/ 255181 h 744279"/>
                <a:gd name="connsiteX3" fmla="*/ 318977 w 340855"/>
                <a:gd name="connsiteY3" fmla="*/ 0 h 744279"/>
              </a:gdLst>
              <a:ahLst/>
              <a:cxnLst>
                <a:cxn ang="0">
                  <a:pos x="connsiteX0" y="connsiteY0"/>
                </a:cxn>
                <a:cxn ang="0">
                  <a:pos x="connsiteX1" y="connsiteY1"/>
                </a:cxn>
                <a:cxn ang="0">
                  <a:pos x="connsiteX2" y="connsiteY2"/>
                </a:cxn>
                <a:cxn ang="0">
                  <a:pos x="connsiteX3" y="connsiteY3"/>
                </a:cxn>
              </a:cxnLst>
              <a:rect l="l" t="t" r="r" b="b"/>
              <a:pathLst>
                <a:path w="340855" h="744279">
                  <a:moveTo>
                    <a:pt x="0" y="744279"/>
                  </a:moveTo>
                  <a:cubicBezTo>
                    <a:pt x="62909" y="710609"/>
                    <a:pt x="125819" y="676939"/>
                    <a:pt x="180754" y="595423"/>
                  </a:cubicBezTo>
                  <a:cubicBezTo>
                    <a:pt x="235689" y="513907"/>
                    <a:pt x="306573" y="354418"/>
                    <a:pt x="329610" y="255181"/>
                  </a:cubicBezTo>
                  <a:cubicBezTo>
                    <a:pt x="352647" y="155944"/>
                    <a:pt x="335812" y="77972"/>
                    <a:pt x="318977" y="0"/>
                  </a:cubicBezTo>
                </a:path>
              </a:pathLst>
            </a:custGeom>
            <a:noFill/>
            <a:ln w="9525" cap="flat" cmpd="sng" algn="ctr">
              <a:solidFill>
                <a:srgbClr val="8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grpSp>
    </p:spTree>
    <p:extLst>
      <p:ext uri="{BB962C8B-B14F-4D97-AF65-F5344CB8AC3E}">
        <p14:creationId xmlns:p14="http://schemas.microsoft.com/office/powerpoint/2010/main" val="19979104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
          <p:cNvGrpSpPr>
            <a:grpSpLocks/>
          </p:cNvGrpSpPr>
          <p:nvPr/>
        </p:nvGrpSpPr>
        <p:grpSpPr bwMode="auto">
          <a:xfrm>
            <a:off x="1598613" y="1119188"/>
            <a:ext cx="6334125" cy="5270500"/>
            <a:chOff x="507" y="493"/>
            <a:chExt cx="4449" cy="3601"/>
          </a:xfrm>
        </p:grpSpPr>
        <p:grpSp>
          <p:nvGrpSpPr>
            <p:cNvPr id="3" name="Group 4"/>
            <p:cNvGrpSpPr>
              <a:grpSpLocks/>
            </p:cNvGrpSpPr>
            <p:nvPr/>
          </p:nvGrpSpPr>
          <p:grpSpPr bwMode="auto">
            <a:xfrm>
              <a:off x="789" y="987"/>
              <a:ext cx="500" cy="584"/>
              <a:chOff x="789" y="987"/>
              <a:chExt cx="500" cy="584"/>
            </a:xfrm>
          </p:grpSpPr>
          <p:sp>
            <p:nvSpPr>
              <p:cNvPr id="10378" name="AutoShape 5"/>
              <p:cNvSpPr>
                <a:spLocks noChangeArrowheads="1"/>
              </p:cNvSpPr>
              <p:nvPr/>
            </p:nvSpPr>
            <p:spPr bwMode="auto">
              <a:xfrm>
                <a:off x="789" y="1406"/>
                <a:ext cx="151" cy="165"/>
              </a:xfrm>
              <a:prstGeom prst="octagon">
                <a:avLst>
                  <a:gd name="adj" fmla="val 29287"/>
                </a:avLst>
              </a:prstGeom>
              <a:solidFill>
                <a:srgbClr val="FF9900"/>
              </a:solidFill>
              <a:ln w="9525">
                <a:solidFill>
                  <a:schemeClr val="tx1"/>
                </a:solidFill>
                <a:miter lim="800000"/>
                <a:headEnd/>
                <a:tailEnd/>
              </a:ln>
            </p:spPr>
            <p:txBody>
              <a:bodyPr wrap="none" anchor="ctr"/>
              <a:lstStyle/>
              <a:p>
                <a:endParaRPr lang="en-US"/>
              </a:p>
            </p:txBody>
          </p:sp>
          <p:sp>
            <p:nvSpPr>
              <p:cNvPr id="10379" name="AutoShape 6"/>
              <p:cNvSpPr>
                <a:spLocks noChangeArrowheads="1"/>
              </p:cNvSpPr>
              <p:nvPr/>
            </p:nvSpPr>
            <p:spPr bwMode="auto">
              <a:xfrm>
                <a:off x="912" y="1166"/>
                <a:ext cx="151" cy="165"/>
              </a:xfrm>
              <a:prstGeom prst="octagon">
                <a:avLst>
                  <a:gd name="adj" fmla="val 29287"/>
                </a:avLst>
              </a:prstGeom>
              <a:solidFill>
                <a:srgbClr val="FF9900"/>
              </a:solidFill>
              <a:ln w="9525">
                <a:solidFill>
                  <a:schemeClr val="tx1"/>
                </a:solidFill>
                <a:miter lim="800000"/>
                <a:headEnd/>
                <a:tailEnd/>
              </a:ln>
            </p:spPr>
            <p:txBody>
              <a:bodyPr wrap="none" anchor="ctr"/>
              <a:lstStyle/>
              <a:p>
                <a:endParaRPr lang="en-US"/>
              </a:p>
            </p:txBody>
          </p:sp>
          <p:sp>
            <p:nvSpPr>
              <p:cNvPr id="10380" name="AutoShape 7"/>
              <p:cNvSpPr>
                <a:spLocks noChangeArrowheads="1"/>
              </p:cNvSpPr>
              <p:nvPr/>
            </p:nvSpPr>
            <p:spPr bwMode="auto">
              <a:xfrm>
                <a:off x="1138" y="987"/>
                <a:ext cx="151" cy="165"/>
              </a:xfrm>
              <a:prstGeom prst="octagon">
                <a:avLst>
                  <a:gd name="adj" fmla="val 29287"/>
                </a:avLst>
              </a:prstGeom>
              <a:solidFill>
                <a:srgbClr val="FF9900"/>
              </a:solidFill>
              <a:ln w="9525">
                <a:solidFill>
                  <a:schemeClr val="tx1"/>
                </a:solidFill>
                <a:miter lim="800000"/>
                <a:headEnd/>
                <a:tailEnd/>
              </a:ln>
            </p:spPr>
            <p:txBody>
              <a:bodyPr wrap="none" anchor="ctr"/>
              <a:lstStyle/>
              <a:p>
                <a:endParaRPr lang="en-US"/>
              </a:p>
            </p:txBody>
          </p:sp>
        </p:grpSp>
        <p:grpSp>
          <p:nvGrpSpPr>
            <p:cNvPr id="4" name="Group 8"/>
            <p:cNvGrpSpPr>
              <a:grpSpLocks/>
            </p:cNvGrpSpPr>
            <p:nvPr/>
          </p:nvGrpSpPr>
          <p:grpSpPr bwMode="auto">
            <a:xfrm rot="2332010">
              <a:off x="1625" y="493"/>
              <a:ext cx="500" cy="584"/>
              <a:chOff x="789" y="987"/>
              <a:chExt cx="500" cy="584"/>
            </a:xfrm>
          </p:grpSpPr>
          <p:sp>
            <p:nvSpPr>
              <p:cNvPr id="10375" name="AutoShape 9"/>
              <p:cNvSpPr>
                <a:spLocks noChangeArrowheads="1"/>
              </p:cNvSpPr>
              <p:nvPr/>
            </p:nvSpPr>
            <p:spPr bwMode="auto">
              <a:xfrm>
                <a:off x="789" y="1406"/>
                <a:ext cx="151" cy="165"/>
              </a:xfrm>
              <a:prstGeom prst="octagon">
                <a:avLst>
                  <a:gd name="adj" fmla="val 29287"/>
                </a:avLst>
              </a:prstGeom>
              <a:solidFill>
                <a:srgbClr val="FF9900"/>
              </a:solidFill>
              <a:ln w="9525">
                <a:solidFill>
                  <a:schemeClr val="tx1"/>
                </a:solidFill>
                <a:miter lim="800000"/>
                <a:headEnd/>
                <a:tailEnd/>
              </a:ln>
            </p:spPr>
            <p:txBody>
              <a:bodyPr wrap="none" anchor="ctr"/>
              <a:lstStyle/>
              <a:p>
                <a:endParaRPr lang="en-US"/>
              </a:p>
            </p:txBody>
          </p:sp>
          <p:sp>
            <p:nvSpPr>
              <p:cNvPr id="10376" name="AutoShape 10"/>
              <p:cNvSpPr>
                <a:spLocks noChangeArrowheads="1"/>
              </p:cNvSpPr>
              <p:nvPr/>
            </p:nvSpPr>
            <p:spPr bwMode="auto">
              <a:xfrm>
                <a:off x="912" y="1166"/>
                <a:ext cx="151" cy="165"/>
              </a:xfrm>
              <a:prstGeom prst="octagon">
                <a:avLst>
                  <a:gd name="adj" fmla="val 29287"/>
                </a:avLst>
              </a:prstGeom>
              <a:solidFill>
                <a:srgbClr val="FF9900"/>
              </a:solidFill>
              <a:ln w="9525">
                <a:solidFill>
                  <a:schemeClr val="tx1"/>
                </a:solidFill>
                <a:miter lim="800000"/>
                <a:headEnd/>
                <a:tailEnd/>
              </a:ln>
            </p:spPr>
            <p:txBody>
              <a:bodyPr wrap="none" anchor="ctr"/>
              <a:lstStyle/>
              <a:p>
                <a:endParaRPr lang="en-US"/>
              </a:p>
            </p:txBody>
          </p:sp>
          <p:sp>
            <p:nvSpPr>
              <p:cNvPr id="10377" name="AutoShape 11"/>
              <p:cNvSpPr>
                <a:spLocks noChangeArrowheads="1"/>
              </p:cNvSpPr>
              <p:nvPr/>
            </p:nvSpPr>
            <p:spPr bwMode="auto">
              <a:xfrm>
                <a:off x="1138" y="987"/>
                <a:ext cx="151" cy="165"/>
              </a:xfrm>
              <a:prstGeom prst="octagon">
                <a:avLst>
                  <a:gd name="adj" fmla="val 29287"/>
                </a:avLst>
              </a:prstGeom>
              <a:solidFill>
                <a:srgbClr val="FF9900"/>
              </a:solidFill>
              <a:ln w="9525">
                <a:solidFill>
                  <a:schemeClr val="tx1"/>
                </a:solidFill>
                <a:miter lim="800000"/>
                <a:headEnd/>
                <a:tailEnd/>
              </a:ln>
            </p:spPr>
            <p:txBody>
              <a:bodyPr wrap="none" anchor="ctr"/>
              <a:lstStyle/>
              <a:p>
                <a:endParaRPr lang="en-US"/>
              </a:p>
            </p:txBody>
          </p:sp>
        </p:grpSp>
        <p:grpSp>
          <p:nvGrpSpPr>
            <p:cNvPr id="5" name="Group 12"/>
            <p:cNvGrpSpPr>
              <a:grpSpLocks/>
            </p:cNvGrpSpPr>
            <p:nvPr/>
          </p:nvGrpSpPr>
          <p:grpSpPr bwMode="auto">
            <a:xfrm rot="4843881">
              <a:off x="2545" y="534"/>
              <a:ext cx="500" cy="584"/>
              <a:chOff x="789" y="987"/>
              <a:chExt cx="500" cy="584"/>
            </a:xfrm>
          </p:grpSpPr>
          <p:sp>
            <p:nvSpPr>
              <p:cNvPr id="10372" name="AutoShape 13"/>
              <p:cNvSpPr>
                <a:spLocks noChangeArrowheads="1"/>
              </p:cNvSpPr>
              <p:nvPr/>
            </p:nvSpPr>
            <p:spPr bwMode="auto">
              <a:xfrm>
                <a:off x="789" y="1406"/>
                <a:ext cx="151" cy="165"/>
              </a:xfrm>
              <a:prstGeom prst="octagon">
                <a:avLst>
                  <a:gd name="adj" fmla="val 29287"/>
                </a:avLst>
              </a:prstGeom>
              <a:solidFill>
                <a:srgbClr val="FF9900"/>
              </a:solidFill>
              <a:ln w="9525">
                <a:solidFill>
                  <a:schemeClr val="tx1"/>
                </a:solidFill>
                <a:miter lim="800000"/>
                <a:headEnd/>
                <a:tailEnd/>
              </a:ln>
            </p:spPr>
            <p:txBody>
              <a:bodyPr wrap="none" anchor="ctr"/>
              <a:lstStyle/>
              <a:p>
                <a:endParaRPr lang="en-US"/>
              </a:p>
            </p:txBody>
          </p:sp>
          <p:sp>
            <p:nvSpPr>
              <p:cNvPr id="10373" name="AutoShape 14"/>
              <p:cNvSpPr>
                <a:spLocks noChangeArrowheads="1"/>
              </p:cNvSpPr>
              <p:nvPr/>
            </p:nvSpPr>
            <p:spPr bwMode="auto">
              <a:xfrm>
                <a:off x="912" y="1166"/>
                <a:ext cx="151" cy="165"/>
              </a:xfrm>
              <a:prstGeom prst="octagon">
                <a:avLst>
                  <a:gd name="adj" fmla="val 29287"/>
                </a:avLst>
              </a:prstGeom>
              <a:solidFill>
                <a:srgbClr val="FF9900"/>
              </a:solidFill>
              <a:ln w="9525">
                <a:solidFill>
                  <a:schemeClr val="tx1"/>
                </a:solidFill>
                <a:miter lim="800000"/>
                <a:headEnd/>
                <a:tailEnd/>
              </a:ln>
            </p:spPr>
            <p:txBody>
              <a:bodyPr wrap="none" anchor="ctr"/>
              <a:lstStyle/>
              <a:p>
                <a:endParaRPr lang="en-US"/>
              </a:p>
            </p:txBody>
          </p:sp>
          <p:sp>
            <p:nvSpPr>
              <p:cNvPr id="10374" name="AutoShape 15"/>
              <p:cNvSpPr>
                <a:spLocks noChangeArrowheads="1"/>
              </p:cNvSpPr>
              <p:nvPr/>
            </p:nvSpPr>
            <p:spPr bwMode="auto">
              <a:xfrm>
                <a:off x="1138" y="987"/>
                <a:ext cx="151" cy="165"/>
              </a:xfrm>
              <a:prstGeom prst="octagon">
                <a:avLst>
                  <a:gd name="adj" fmla="val 29287"/>
                </a:avLst>
              </a:prstGeom>
              <a:solidFill>
                <a:srgbClr val="FF9900"/>
              </a:solidFill>
              <a:ln w="9525">
                <a:solidFill>
                  <a:schemeClr val="tx1"/>
                </a:solidFill>
                <a:miter lim="800000"/>
                <a:headEnd/>
                <a:tailEnd/>
              </a:ln>
            </p:spPr>
            <p:txBody>
              <a:bodyPr wrap="none" anchor="ctr"/>
              <a:lstStyle/>
              <a:p>
                <a:endParaRPr lang="en-US"/>
              </a:p>
            </p:txBody>
          </p:sp>
        </p:grpSp>
        <p:grpSp>
          <p:nvGrpSpPr>
            <p:cNvPr id="6" name="Group 16"/>
            <p:cNvGrpSpPr>
              <a:grpSpLocks/>
            </p:cNvGrpSpPr>
            <p:nvPr/>
          </p:nvGrpSpPr>
          <p:grpSpPr bwMode="auto">
            <a:xfrm rot="4843881">
              <a:off x="3340" y="569"/>
              <a:ext cx="500" cy="584"/>
              <a:chOff x="789" y="987"/>
              <a:chExt cx="500" cy="584"/>
            </a:xfrm>
          </p:grpSpPr>
          <p:sp>
            <p:nvSpPr>
              <p:cNvPr id="10369" name="AutoShape 17"/>
              <p:cNvSpPr>
                <a:spLocks noChangeArrowheads="1"/>
              </p:cNvSpPr>
              <p:nvPr/>
            </p:nvSpPr>
            <p:spPr bwMode="auto">
              <a:xfrm>
                <a:off x="789" y="1406"/>
                <a:ext cx="151" cy="165"/>
              </a:xfrm>
              <a:prstGeom prst="octagon">
                <a:avLst>
                  <a:gd name="adj" fmla="val 29287"/>
                </a:avLst>
              </a:prstGeom>
              <a:solidFill>
                <a:srgbClr val="FF9900"/>
              </a:solidFill>
              <a:ln w="9525">
                <a:solidFill>
                  <a:schemeClr val="tx1"/>
                </a:solidFill>
                <a:miter lim="800000"/>
                <a:headEnd/>
                <a:tailEnd/>
              </a:ln>
            </p:spPr>
            <p:txBody>
              <a:bodyPr wrap="none" anchor="ctr"/>
              <a:lstStyle/>
              <a:p>
                <a:endParaRPr lang="en-US"/>
              </a:p>
            </p:txBody>
          </p:sp>
          <p:sp>
            <p:nvSpPr>
              <p:cNvPr id="10370" name="AutoShape 18"/>
              <p:cNvSpPr>
                <a:spLocks noChangeArrowheads="1"/>
              </p:cNvSpPr>
              <p:nvPr/>
            </p:nvSpPr>
            <p:spPr bwMode="auto">
              <a:xfrm>
                <a:off x="912" y="1166"/>
                <a:ext cx="151" cy="165"/>
              </a:xfrm>
              <a:prstGeom prst="octagon">
                <a:avLst>
                  <a:gd name="adj" fmla="val 29287"/>
                </a:avLst>
              </a:prstGeom>
              <a:solidFill>
                <a:srgbClr val="FF9900"/>
              </a:solidFill>
              <a:ln w="9525">
                <a:solidFill>
                  <a:schemeClr val="tx1"/>
                </a:solidFill>
                <a:miter lim="800000"/>
                <a:headEnd/>
                <a:tailEnd/>
              </a:ln>
            </p:spPr>
            <p:txBody>
              <a:bodyPr wrap="none" anchor="ctr"/>
              <a:lstStyle/>
              <a:p>
                <a:endParaRPr lang="en-US"/>
              </a:p>
            </p:txBody>
          </p:sp>
          <p:sp>
            <p:nvSpPr>
              <p:cNvPr id="10371" name="AutoShape 19"/>
              <p:cNvSpPr>
                <a:spLocks noChangeArrowheads="1"/>
              </p:cNvSpPr>
              <p:nvPr/>
            </p:nvSpPr>
            <p:spPr bwMode="auto">
              <a:xfrm>
                <a:off x="1138" y="987"/>
                <a:ext cx="151" cy="165"/>
              </a:xfrm>
              <a:prstGeom prst="octagon">
                <a:avLst>
                  <a:gd name="adj" fmla="val 29287"/>
                </a:avLst>
              </a:prstGeom>
              <a:solidFill>
                <a:srgbClr val="FF9900"/>
              </a:solidFill>
              <a:ln w="9525">
                <a:solidFill>
                  <a:schemeClr val="tx1"/>
                </a:solidFill>
                <a:miter lim="800000"/>
                <a:headEnd/>
                <a:tailEnd/>
              </a:ln>
            </p:spPr>
            <p:txBody>
              <a:bodyPr wrap="none" anchor="ctr"/>
              <a:lstStyle/>
              <a:p>
                <a:endParaRPr lang="en-US"/>
              </a:p>
            </p:txBody>
          </p:sp>
        </p:grpSp>
        <p:grpSp>
          <p:nvGrpSpPr>
            <p:cNvPr id="7" name="Group 20"/>
            <p:cNvGrpSpPr>
              <a:grpSpLocks/>
            </p:cNvGrpSpPr>
            <p:nvPr/>
          </p:nvGrpSpPr>
          <p:grpSpPr bwMode="auto">
            <a:xfrm rot="8670102">
              <a:off x="4456" y="2421"/>
              <a:ext cx="500" cy="584"/>
              <a:chOff x="789" y="987"/>
              <a:chExt cx="500" cy="584"/>
            </a:xfrm>
          </p:grpSpPr>
          <p:sp>
            <p:nvSpPr>
              <p:cNvPr id="10366" name="AutoShape 21"/>
              <p:cNvSpPr>
                <a:spLocks noChangeArrowheads="1"/>
              </p:cNvSpPr>
              <p:nvPr/>
            </p:nvSpPr>
            <p:spPr bwMode="auto">
              <a:xfrm>
                <a:off x="789" y="1406"/>
                <a:ext cx="151" cy="165"/>
              </a:xfrm>
              <a:prstGeom prst="octagon">
                <a:avLst>
                  <a:gd name="adj" fmla="val 29287"/>
                </a:avLst>
              </a:prstGeom>
              <a:solidFill>
                <a:srgbClr val="FF9900"/>
              </a:solidFill>
              <a:ln w="9525">
                <a:solidFill>
                  <a:schemeClr val="tx1"/>
                </a:solidFill>
                <a:miter lim="800000"/>
                <a:headEnd/>
                <a:tailEnd/>
              </a:ln>
            </p:spPr>
            <p:txBody>
              <a:bodyPr wrap="none" anchor="ctr"/>
              <a:lstStyle/>
              <a:p>
                <a:endParaRPr lang="en-US"/>
              </a:p>
            </p:txBody>
          </p:sp>
          <p:sp>
            <p:nvSpPr>
              <p:cNvPr id="10367" name="AutoShape 22"/>
              <p:cNvSpPr>
                <a:spLocks noChangeArrowheads="1"/>
              </p:cNvSpPr>
              <p:nvPr/>
            </p:nvSpPr>
            <p:spPr bwMode="auto">
              <a:xfrm>
                <a:off x="912" y="1166"/>
                <a:ext cx="151" cy="165"/>
              </a:xfrm>
              <a:prstGeom prst="octagon">
                <a:avLst>
                  <a:gd name="adj" fmla="val 29287"/>
                </a:avLst>
              </a:prstGeom>
              <a:solidFill>
                <a:srgbClr val="FF9900"/>
              </a:solidFill>
              <a:ln w="9525">
                <a:solidFill>
                  <a:schemeClr val="tx1"/>
                </a:solidFill>
                <a:miter lim="800000"/>
                <a:headEnd/>
                <a:tailEnd/>
              </a:ln>
            </p:spPr>
            <p:txBody>
              <a:bodyPr wrap="none" anchor="ctr"/>
              <a:lstStyle/>
              <a:p>
                <a:endParaRPr lang="en-US"/>
              </a:p>
            </p:txBody>
          </p:sp>
          <p:sp>
            <p:nvSpPr>
              <p:cNvPr id="10368" name="AutoShape 23"/>
              <p:cNvSpPr>
                <a:spLocks noChangeArrowheads="1"/>
              </p:cNvSpPr>
              <p:nvPr/>
            </p:nvSpPr>
            <p:spPr bwMode="auto">
              <a:xfrm>
                <a:off x="1138" y="987"/>
                <a:ext cx="151" cy="165"/>
              </a:xfrm>
              <a:prstGeom prst="octagon">
                <a:avLst>
                  <a:gd name="adj" fmla="val 29287"/>
                </a:avLst>
              </a:prstGeom>
              <a:solidFill>
                <a:srgbClr val="FF9900"/>
              </a:solidFill>
              <a:ln w="9525">
                <a:solidFill>
                  <a:schemeClr val="tx1"/>
                </a:solidFill>
                <a:miter lim="800000"/>
                <a:headEnd/>
                <a:tailEnd/>
              </a:ln>
            </p:spPr>
            <p:txBody>
              <a:bodyPr wrap="none" anchor="ctr"/>
              <a:lstStyle/>
              <a:p>
                <a:endParaRPr lang="en-US"/>
              </a:p>
            </p:txBody>
          </p:sp>
        </p:grpSp>
        <p:grpSp>
          <p:nvGrpSpPr>
            <p:cNvPr id="8" name="Group 24"/>
            <p:cNvGrpSpPr>
              <a:grpSpLocks/>
            </p:cNvGrpSpPr>
            <p:nvPr/>
          </p:nvGrpSpPr>
          <p:grpSpPr bwMode="auto">
            <a:xfrm rot="7226169">
              <a:off x="4115" y="1227"/>
              <a:ext cx="500" cy="584"/>
              <a:chOff x="789" y="987"/>
              <a:chExt cx="500" cy="584"/>
            </a:xfrm>
          </p:grpSpPr>
          <p:sp>
            <p:nvSpPr>
              <p:cNvPr id="10363" name="AutoShape 25"/>
              <p:cNvSpPr>
                <a:spLocks noChangeArrowheads="1"/>
              </p:cNvSpPr>
              <p:nvPr/>
            </p:nvSpPr>
            <p:spPr bwMode="auto">
              <a:xfrm>
                <a:off x="789" y="1406"/>
                <a:ext cx="151" cy="165"/>
              </a:xfrm>
              <a:prstGeom prst="octagon">
                <a:avLst>
                  <a:gd name="adj" fmla="val 29287"/>
                </a:avLst>
              </a:prstGeom>
              <a:solidFill>
                <a:srgbClr val="FF9900"/>
              </a:solidFill>
              <a:ln w="9525">
                <a:solidFill>
                  <a:schemeClr val="tx1"/>
                </a:solidFill>
                <a:miter lim="800000"/>
                <a:headEnd/>
                <a:tailEnd/>
              </a:ln>
            </p:spPr>
            <p:txBody>
              <a:bodyPr wrap="none" anchor="ctr"/>
              <a:lstStyle/>
              <a:p>
                <a:endParaRPr lang="en-US"/>
              </a:p>
            </p:txBody>
          </p:sp>
          <p:sp>
            <p:nvSpPr>
              <p:cNvPr id="10364" name="AutoShape 26"/>
              <p:cNvSpPr>
                <a:spLocks noChangeArrowheads="1"/>
              </p:cNvSpPr>
              <p:nvPr/>
            </p:nvSpPr>
            <p:spPr bwMode="auto">
              <a:xfrm>
                <a:off x="912" y="1166"/>
                <a:ext cx="151" cy="165"/>
              </a:xfrm>
              <a:prstGeom prst="octagon">
                <a:avLst>
                  <a:gd name="adj" fmla="val 29287"/>
                </a:avLst>
              </a:prstGeom>
              <a:solidFill>
                <a:srgbClr val="FF9900"/>
              </a:solidFill>
              <a:ln w="9525">
                <a:solidFill>
                  <a:schemeClr val="tx1"/>
                </a:solidFill>
                <a:miter lim="800000"/>
                <a:headEnd/>
                <a:tailEnd/>
              </a:ln>
            </p:spPr>
            <p:txBody>
              <a:bodyPr wrap="none" anchor="ctr"/>
              <a:lstStyle/>
              <a:p>
                <a:endParaRPr lang="en-US"/>
              </a:p>
            </p:txBody>
          </p:sp>
          <p:sp>
            <p:nvSpPr>
              <p:cNvPr id="10365" name="AutoShape 27"/>
              <p:cNvSpPr>
                <a:spLocks noChangeArrowheads="1"/>
              </p:cNvSpPr>
              <p:nvPr/>
            </p:nvSpPr>
            <p:spPr bwMode="auto">
              <a:xfrm>
                <a:off x="1138" y="987"/>
                <a:ext cx="151" cy="165"/>
              </a:xfrm>
              <a:prstGeom prst="octagon">
                <a:avLst>
                  <a:gd name="adj" fmla="val 29287"/>
                </a:avLst>
              </a:prstGeom>
              <a:solidFill>
                <a:srgbClr val="FF9900"/>
              </a:solidFill>
              <a:ln w="9525">
                <a:solidFill>
                  <a:schemeClr val="tx1"/>
                </a:solidFill>
                <a:miter lim="800000"/>
                <a:headEnd/>
                <a:tailEnd/>
              </a:ln>
            </p:spPr>
            <p:txBody>
              <a:bodyPr wrap="none" anchor="ctr"/>
              <a:lstStyle/>
              <a:p>
                <a:endParaRPr lang="en-US"/>
              </a:p>
            </p:txBody>
          </p:sp>
        </p:grpSp>
        <p:grpSp>
          <p:nvGrpSpPr>
            <p:cNvPr id="9" name="Group 28"/>
            <p:cNvGrpSpPr>
              <a:grpSpLocks/>
            </p:cNvGrpSpPr>
            <p:nvPr/>
          </p:nvGrpSpPr>
          <p:grpSpPr bwMode="auto">
            <a:xfrm rot="-10479779">
              <a:off x="4059" y="3216"/>
              <a:ext cx="500" cy="584"/>
              <a:chOff x="789" y="987"/>
              <a:chExt cx="500" cy="584"/>
            </a:xfrm>
          </p:grpSpPr>
          <p:sp>
            <p:nvSpPr>
              <p:cNvPr id="10360" name="AutoShape 29"/>
              <p:cNvSpPr>
                <a:spLocks noChangeArrowheads="1"/>
              </p:cNvSpPr>
              <p:nvPr/>
            </p:nvSpPr>
            <p:spPr bwMode="auto">
              <a:xfrm>
                <a:off x="789" y="1406"/>
                <a:ext cx="151" cy="165"/>
              </a:xfrm>
              <a:prstGeom prst="octagon">
                <a:avLst>
                  <a:gd name="adj" fmla="val 29287"/>
                </a:avLst>
              </a:prstGeom>
              <a:solidFill>
                <a:srgbClr val="FF9900"/>
              </a:solidFill>
              <a:ln w="9525">
                <a:solidFill>
                  <a:schemeClr val="tx1"/>
                </a:solidFill>
                <a:miter lim="800000"/>
                <a:headEnd/>
                <a:tailEnd/>
              </a:ln>
            </p:spPr>
            <p:txBody>
              <a:bodyPr wrap="none" anchor="ctr"/>
              <a:lstStyle/>
              <a:p>
                <a:endParaRPr lang="en-US"/>
              </a:p>
            </p:txBody>
          </p:sp>
          <p:sp>
            <p:nvSpPr>
              <p:cNvPr id="10361" name="AutoShape 30"/>
              <p:cNvSpPr>
                <a:spLocks noChangeArrowheads="1"/>
              </p:cNvSpPr>
              <p:nvPr/>
            </p:nvSpPr>
            <p:spPr bwMode="auto">
              <a:xfrm>
                <a:off x="912" y="1166"/>
                <a:ext cx="151" cy="165"/>
              </a:xfrm>
              <a:prstGeom prst="octagon">
                <a:avLst>
                  <a:gd name="adj" fmla="val 29287"/>
                </a:avLst>
              </a:prstGeom>
              <a:solidFill>
                <a:srgbClr val="FF9900"/>
              </a:solidFill>
              <a:ln w="9525">
                <a:solidFill>
                  <a:schemeClr val="tx1"/>
                </a:solidFill>
                <a:miter lim="800000"/>
                <a:headEnd/>
                <a:tailEnd/>
              </a:ln>
            </p:spPr>
            <p:txBody>
              <a:bodyPr wrap="none" anchor="ctr"/>
              <a:lstStyle/>
              <a:p>
                <a:endParaRPr lang="en-US"/>
              </a:p>
            </p:txBody>
          </p:sp>
          <p:sp>
            <p:nvSpPr>
              <p:cNvPr id="10362" name="AutoShape 31"/>
              <p:cNvSpPr>
                <a:spLocks noChangeArrowheads="1"/>
              </p:cNvSpPr>
              <p:nvPr/>
            </p:nvSpPr>
            <p:spPr bwMode="auto">
              <a:xfrm>
                <a:off x="1138" y="987"/>
                <a:ext cx="151" cy="165"/>
              </a:xfrm>
              <a:prstGeom prst="octagon">
                <a:avLst>
                  <a:gd name="adj" fmla="val 29287"/>
                </a:avLst>
              </a:prstGeom>
              <a:solidFill>
                <a:srgbClr val="FF9900"/>
              </a:solidFill>
              <a:ln w="9525">
                <a:solidFill>
                  <a:schemeClr val="tx1"/>
                </a:solidFill>
                <a:miter lim="800000"/>
                <a:headEnd/>
                <a:tailEnd/>
              </a:ln>
            </p:spPr>
            <p:txBody>
              <a:bodyPr wrap="none" anchor="ctr"/>
              <a:lstStyle/>
              <a:p>
                <a:endParaRPr lang="en-US"/>
              </a:p>
            </p:txBody>
          </p:sp>
        </p:grpSp>
        <p:grpSp>
          <p:nvGrpSpPr>
            <p:cNvPr id="10" name="Group 32"/>
            <p:cNvGrpSpPr>
              <a:grpSpLocks/>
            </p:cNvGrpSpPr>
            <p:nvPr/>
          </p:nvGrpSpPr>
          <p:grpSpPr bwMode="auto">
            <a:xfrm rot="-6905326">
              <a:off x="3058" y="3449"/>
              <a:ext cx="500" cy="584"/>
              <a:chOff x="789" y="987"/>
              <a:chExt cx="500" cy="584"/>
            </a:xfrm>
          </p:grpSpPr>
          <p:sp>
            <p:nvSpPr>
              <p:cNvPr id="10357" name="AutoShape 33"/>
              <p:cNvSpPr>
                <a:spLocks noChangeArrowheads="1"/>
              </p:cNvSpPr>
              <p:nvPr/>
            </p:nvSpPr>
            <p:spPr bwMode="auto">
              <a:xfrm>
                <a:off x="789" y="1406"/>
                <a:ext cx="151" cy="165"/>
              </a:xfrm>
              <a:prstGeom prst="octagon">
                <a:avLst>
                  <a:gd name="adj" fmla="val 29287"/>
                </a:avLst>
              </a:prstGeom>
              <a:solidFill>
                <a:srgbClr val="FF9900"/>
              </a:solidFill>
              <a:ln w="9525">
                <a:solidFill>
                  <a:schemeClr val="tx1"/>
                </a:solidFill>
                <a:miter lim="800000"/>
                <a:headEnd/>
                <a:tailEnd/>
              </a:ln>
            </p:spPr>
            <p:txBody>
              <a:bodyPr wrap="none" anchor="ctr"/>
              <a:lstStyle/>
              <a:p>
                <a:endParaRPr lang="en-US"/>
              </a:p>
            </p:txBody>
          </p:sp>
          <p:sp>
            <p:nvSpPr>
              <p:cNvPr id="10358" name="AutoShape 34"/>
              <p:cNvSpPr>
                <a:spLocks noChangeArrowheads="1"/>
              </p:cNvSpPr>
              <p:nvPr/>
            </p:nvSpPr>
            <p:spPr bwMode="auto">
              <a:xfrm>
                <a:off x="912" y="1166"/>
                <a:ext cx="151" cy="165"/>
              </a:xfrm>
              <a:prstGeom prst="octagon">
                <a:avLst>
                  <a:gd name="adj" fmla="val 29287"/>
                </a:avLst>
              </a:prstGeom>
              <a:solidFill>
                <a:srgbClr val="FF9900"/>
              </a:solidFill>
              <a:ln w="9525">
                <a:solidFill>
                  <a:schemeClr val="tx1"/>
                </a:solidFill>
                <a:miter lim="800000"/>
                <a:headEnd/>
                <a:tailEnd/>
              </a:ln>
            </p:spPr>
            <p:txBody>
              <a:bodyPr wrap="none" anchor="ctr"/>
              <a:lstStyle/>
              <a:p>
                <a:endParaRPr lang="en-US"/>
              </a:p>
            </p:txBody>
          </p:sp>
          <p:sp>
            <p:nvSpPr>
              <p:cNvPr id="10359" name="AutoShape 35"/>
              <p:cNvSpPr>
                <a:spLocks noChangeArrowheads="1"/>
              </p:cNvSpPr>
              <p:nvPr/>
            </p:nvSpPr>
            <p:spPr bwMode="auto">
              <a:xfrm>
                <a:off x="1138" y="987"/>
                <a:ext cx="151" cy="165"/>
              </a:xfrm>
              <a:prstGeom prst="octagon">
                <a:avLst>
                  <a:gd name="adj" fmla="val 29287"/>
                </a:avLst>
              </a:prstGeom>
              <a:solidFill>
                <a:srgbClr val="FF9900"/>
              </a:solidFill>
              <a:ln w="9525">
                <a:solidFill>
                  <a:schemeClr val="tx1"/>
                </a:solidFill>
                <a:miter lim="800000"/>
                <a:headEnd/>
                <a:tailEnd/>
              </a:ln>
            </p:spPr>
            <p:txBody>
              <a:bodyPr wrap="none" anchor="ctr"/>
              <a:lstStyle/>
              <a:p>
                <a:endParaRPr lang="en-US"/>
              </a:p>
            </p:txBody>
          </p:sp>
        </p:grpSp>
        <p:grpSp>
          <p:nvGrpSpPr>
            <p:cNvPr id="11" name="Group 36"/>
            <p:cNvGrpSpPr>
              <a:grpSpLocks/>
            </p:cNvGrpSpPr>
            <p:nvPr/>
          </p:nvGrpSpPr>
          <p:grpSpPr bwMode="auto">
            <a:xfrm rot="-6905326">
              <a:off x="1735" y="3552"/>
              <a:ext cx="500" cy="584"/>
              <a:chOff x="789" y="987"/>
              <a:chExt cx="500" cy="584"/>
            </a:xfrm>
          </p:grpSpPr>
          <p:sp>
            <p:nvSpPr>
              <p:cNvPr id="10354" name="AutoShape 37"/>
              <p:cNvSpPr>
                <a:spLocks noChangeArrowheads="1"/>
              </p:cNvSpPr>
              <p:nvPr/>
            </p:nvSpPr>
            <p:spPr bwMode="auto">
              <a:xfrm>
                <a:off x="789" y="1406"/>
                <a:ext cx="151" cy="165"/>
              </a:xfrm>
              <a:prstGeom prst="octagon">
                <a:avLst>
                  <a:gd name="adj" fmla="val 29287"/>
                </a:avLst>
              </a:prstGeom>
              <a:solidFill>
                <a:srgbClr val="FF9900"/>
              </a:solidFill>
              <a:ln w="9525">
                <a:solidFill>
                  <a:schemeClr val="tx1"/>
                </a:solidFill>
                <a:miter lim="800000"/>
                <a:headEnd/>
                <a:tailEnd/>
              </a:ln>
            </p:spPr>
            <p:txBody>
              <a:bodyPr wrap="none" anchor="ctr"/>
              <a:lstStyle/>
              <a:p>
                <a:endParaRPr lang="en-US"/>
              </a:p>
            </p:txBody>
          </p:sp>
          <p:sp>
            <p:nvSpPr>
              <p:cNvPr id="10355" name="AutoShape 38"/>
              <p:cNvSpPr>
                <a:spLocks noChangeArrowheads="1"/>
              </p:cNvSpPr>
              <p:nvPr/>
            </p:nvSpPr>
            <p:spPr bwMode="auto">
              <a:xfrm>
                <a:off x="912" y="1166"/>
                <a:ext cx="151" cy="165"/>
              </a:xfrm>
              <a:prstGeom prst="octagon">
                <a:avLst>
                  <a:gd name="adj" fmla="val 29287"/>
                </a:avLst>
              </a:prstGeom>
              <a:solidFill>
                <a:srgbClr val="FF9900"/>
              </a:solidFill>
              <a:ln w="9525">
                <a:solidFill>
                  <a:schemeClr val="tx1"/>
                </a:solidFill>
                <a:miter lim="800000"/>
                <a:headEnd/>
                <a:tailEnd/>
              </a:ln>
            </p:spPr>
            <p:txBody>
              <a:bodyPr wrap="none" anchor="ctr"/>
              <a:lstStyle/>
              <a:p>
                <a:endParaRPr lang="en-US"/>
              </a:p>
            </p:txBody>
          </p:sp>
          <p:sp>
            <p:nvSpPr>
              <p:cNvPr id="10356" name="AutoShape 39"/>
              <p:cNvSpPr>
                <a:spLocks noChangeArrowheads="1"/>
              </p:cNvSpPr>
              <p:nvPr/>
            </p:nvSpPr>
            <p:spPr bwMode="auto">
              <a:xfrm>
                <a:off x="1138" y="987"/>
                <a:ext cx="151" cy="165"/>
              </a:xfrm>
              <a:prstGeom prst="octagon">
                <a:avLst>
                  <a:gd name="adj" fmla="val 29287"/>
                </a:avLst>
              </a:prstGeom>
              <a:solidFill>
                <a:srgbClr val="FF9900"/>
              </a:solidFill>
              <a:ln w="9525">
                <a:solidFill>
                  <a:schemeClr val="tx1"/>
                </a:solidFill>
                <a:miter lim="800000"/>
                <a:headEnd/>
                <a:tailEnd/>
              </a:ln>
            </p:spPr>
            <p:txBody>
              <a:bodyPr wrap="none" anchor="ctr"/>
              <a:lstStyle/>
              <a:p>
                <a:endParaRPr lang="en-US"/>
              </a:p>
            </p:txBody>
          </p:sp>
        </p:grpSp>
        <p:grpSp>
          <p:nvGrpSpPr>
            <p:cNvPr id="12" name="Group 40"/>
            <p:cNvGrpSpPr>
              <a:grpSpLocks/>
            </p:cNvGrpSpPr>
            <p:nvPr/>
          </p:nvGrpSpPr>
          <p:grpSpPr bwMode="auto">
            <a:xfrm rot="-4773065">
              <a:off x="953" y="3264"/>
              <a:ext cx="500" cy="584"/>
              <a:chOff x="789" y="987"/>
              <a:chExt cx="500" cy="584"/>
            </a:xfrm>
          </p:grpSpPr>
          <p:sp>
            <p:nvSpPr>
              <p:cNvPr id="10351" name="AutoShape 41"/>
              <p:cNvSpPr>
                <a:spLocks noChangeArrowheads="1"/>
              </p:cNvSpPr>
              <p:nvPr/>
            </p:nvSpPr>
            <p:spPr bwMode="auto">
              <a:xfrm>
                <a:off x="789" y="1406"/>
                <a:ext cx="151" cy="165"/>
              </a:xfrm>
              <a:prstGeom prst="octagon">
                <a:avLst>
                  <a:gd name="adj" fmla="val 29287"/>
                </a:avLst>
              </a:prstGeom>
              <a:solidFill>
                <a:srgbClr val="FF9900"/>
              </a:solidFill>
              <a:ln w="9525">
                <a:solidFill>
                  <a:schemeClr val="tx1"/>
                </a:solidFill>
                <a:miter lim="800000"/>
                <a:headEnd/>
                <a:tailEnd/>
              </a:ln>
            </p:spPr>
            <p:txBody>
              <a:bodyPr wrap="none" anchor="ctr"/>
              <a:lstStyle/>
              <a:p>
                <a:endParaRPr lang="en-US"/>
              </a:p>
            </p:txBody>
          </p:sp>
          <p:sp>
            <p:nvSpPr>
              <p:cNvPr id="10352" name="AutoShape 42"/>
              <p:cNvSpPr>
                <a:spLocks noChangeArrowheads="1"/>
              </p:cNvSpPr>
              <p:nvPr/>
            </p:nvSpPr>
            <p:spPr bwMode="auto">
              <a:xfrm>
                <a:off x="912" y="1166"/>
                <a:ext cx="151" cy="165"/>
              </a:xfrm>
              <a:prstGeom prst="octagon">
                <a:avLst>
                  <a:gd name="adj" fmla="val 29287"/>
                </a:avLst>
              </a:prstGeom>
              <a:solidFill>
                <a:srgbClr val="FF9900"/>
              </a:solidFill>
              <a:ln w="9525">
                <a:solidFill>
                  <a:schemeClr val="tx1"/>
                </a:solidFill>
                <a:miter lim="800000"/>
                <a:headEnd/>
                <a:tailEnd/>
              </a:ln>
            </p:spPr>
            <p:txBody>
              <a:bodyPr wrap="none" anchor="ctr"/>
              <a:lstStyle/>
              <a:p>
                <a:endParaRPr lang="en-US"/>
              </a:p>
            </p:txBody>
          </p:sp>
          <p:sp>
            <p:nvSpPr>
              <p:cNvPr id="10353" name="AutoShape 43"/>
              <p:cNvSpPr>
                <a:spLocks noChangeArrowheads="1"/>
              </p:cNvSpPr>
              <p:nvPr/>
            </p:nvSpPr>
            <p:spPr bwMode="auto">
              <a:xfrm>
                <a:off x="1138" y="987"/>
                <a:ext cx="151" cy="165"/>
              </a:xfrm>
              <a:prstGeom prst="octagon">
                <a:avLst>
                  <a:gd name="adj" fmla="val 29287"/>
                </a:avLst>
              </a:prstGeom>
              <a:solidFill>
                <a:srgbClr val="FF9900"/>
              </a:solidFill>
              <a:ln w="9525">
                <a:solidFill>
                  <a:schemeClr val="tx1"/>
                </a:solidFill>
                <a:miter lim="800000"/>
                <a:headEnd/>
                <a:tailEnd/>
              </a:ln>
            </p:spPr>
            <p:txBody>
              <a:bodyPr wrap="none" anchor="ctr"/>
              <a:lstStyle/>
              <a:p>
                <a:endParaRPr lang="en-US"/>
              </a:p>
            </p:txBody>
          </p:sp>
        </p:grpSp>
        <p:grpSp>
          <p:nvGrpSpPr>
            <p:cNvPr id="13" name="Group 44"/>
            <p:cNvGrpSpPr>
              <a:grpSpLocks/>
            </p:cNvGrpSpPr>
            <p:nvPr/>
          </p:nvGrpSpPr>
          <p:grpSpPr bwMode="auto">
            <a:xfrm rot="-2497478">
              <a:off x="507" y="2311"/>
              <a:ext cx="500" cy="584"/>
              <a:chOff x="789" y="987"/>
              <a:chExt cx="500" cy="584"/>
            </a:xfrm>
          </p:grpSpPr>
          <p:sp>
            <p:nvSpPr>
              <p:cNvPr id="10348" name="AutoShape 45"/>
              <p:cNvSpPr>
                <a:spLocks noChangeArrowheads="1"/>
              </p:cNvSpPr>
              <p:nvPr/>
            </p:nvSpPr>
            <p:spPr bwMode="auto">
              <a:xfrm>
                <a:off x="789" y="1406"/>
                <a:ext cx="151" cy="165"/>
              </a:xfrm>
              <a:prstGeom prst="octagon">
                <a:avLst>
                  <a:gd name="adj" fmla="val 29287"/>
                </a:avLst>
              </a:prstGeom>
              <a:solidFill>
                <a:srgbClr val="FF9900"/>
              </a:solidFill>
              <a:ln w="9525">
                <a:solidFill>
                  <a:schemeClr val="tx1"/>
                </a:solidFill>
                <a:miter lim="800000"/>
                <a:headEnd/>
                <a:tailEnd/>
              </a:ln>
            </p:spPr>
            <p:txBody>
              <a:bodyPr wrap="none" anchor="ctr"/>
              <a:lstStyle/>
              <a:p>
                <a:endParaRPr lang="en-US"/>
              </a:p>
            </p:txBody>
          </p:sp>
          <p:sp>
            <p:nvSpPr>
              <p:cNvPr id="10349" name="AutoShape 46"/>
              <p:cNvSpPr>
                <a:spLocks noChangeArrowheads="1"/>
              </p:cNvSpPr>
              <p:nvPr/>
            </p:nvSpPr>
            <p:spPr bwMode="auto">
              <a:xfrm>
                <a:off x="912" y="1166"/>
                <a:ext cx="151" cy="165"/>
              </a:xfrm>
              <a:prstGeom prst="octagon">
                <a:avLst>
                  <a:gd name="adj" fmla="val 29287"/>
                </a:avLst>
              </a:prstGeom>
              <a:solidFill>
                <a:srgbClr val="FF9900"/>
              </a:solidFill>
              <a:ln w="9525">
                <a:solidFill>
                  <a:schemeClr val="tx1"/>
                </a:solidFill>
                <a:miter lim="800000"/>
                <a:headEnd/>
                <a:tailEnd/>
              </a:ln>
            </p:spPr>
            <p:txBody>
              <a:bodyPr wrap="none" anchor="ctr"/>
              <a:lstStyle/>
              <a:p>
                <a:endParaRPr lang="en-US"/>
              </a:p>
            </p:txBody>
          </p:sp>
          <p:sp>
            <p:nvSpPr>
              <p:cNvPr id="10350" name="AutoShape 47"/>
              <p:cNvSpPr>
                <a:spLocks noChangeArrowheads="1"/>
              </p:cNvSpPr>
              <p:nvPr/>
            </p:nvSpPr>
            <p:spPr bwMode="auto">
              <a:xfrm>
                <a:off x="1138" y="987"/>
                <a:ext cx="151" cy="165"/>
              </a:xfrm>
              <a:prstGeom prst="octagon">
                <a:avLst>
                  <a:gd name="adj" fmla="val 29287"/>
                </a:avLst>
              </a:prstGeom>
              <a:solidFill>
                <a:srgbClr val="FF9900"/>
              </a:solidFill>
              <a:ln w="9525">
                <a:solidFill>
                  <a:schemeClr val="tx1"/>
                </a:solidFill>
                <a:miter lim="800000"/>
                <a:headEnd/>
                <a:tailEnd/>
              </a:ln>
            </p:spPr>
            <p:txBody>
              <a:bodyPr wrap="none" anchor="ctr"/>
              <a:lstStyle/>
              <a:p>
                <a:endParaRPr lang="en-US"/>
              </a:p>
            </p:txBody>
          </p:sp>
        </p:grpSp>
        <p:grpSp>
          <p:nvGrpSpPr>
            <p:cNvPr id="14" name="Group 48"/>
            <p:cNvGrpSpPr>
              <a:grpSpLocks/>
            </p:cNvGrpSpPr>
            <p:nvPr/>
          </p:nvGrpSpPr>
          <p:grpSpPr bwMode="auto">
            <a:xfrm>
              <a:off x="851" y="1077"/>
              <a:ext cx="706" cy="377"/>
              <a:chOff x="851" y="1077"/>
              <a:chExt cx="706" cy="377"/>
            </a:xfrm>
          </p:grpSpPr>
          <p:sp>
            <p:nvSpPr>
              <p:cNvPr id="10345" name="Line 49"/>
              <p:cNvSpPr>
                <a:spLocks noChangeShapeType="1"/>
              </p:cNvSpPr>
              <p:nvPr/>
            </p:nvSpPr>
            <p:spPr bwMode="auto">
              <a:xfrm flipH="1" flipV="1">
                <a:off x="1214" y="1077"/>
                <a:ext cx="343" cy="356"/>
              </a:xfrm>
              <a:prstGeom prst="line">
                <a:avLst/>
              </a:prstGeom>
              <a:noFill/>
              <a:ln w="12700">
                <a:solidFill>
                  <a:srgbClr val="FF9900"/>
                </a:solidFill>
                <a:round/>
                <a:headEnd/>
                <a:tailEnd/>
              </a:ln>
            </p:spPr>
            <p:txBody>
              <a:bodyPr/>
              <a:lstStyle/>
              <a:p>
                <a:endParaRPr lang="en-GB"/>
              </a:p>
            </p:txBody>
          </p:sp>
          <p:sp>
            <p:nvSpPr>
              <p:cNvPr id="10346" name="Line 50"/>
              <p:cNvSpPr>
                <a:spLocks noChangeShapeType="1"/>
              </p:cNvSpPr>
              <p:nvPr/>
            </p:nvSpPr>
            <p:spPr bwMode="auto">
              <a:xfrm flipH="1" flipV="1">
                <a:off x="960" y="1221"/>
                <a:ext cx="590" cy="198"/>
              </a:xfrm>
              <a:prstGeom prst="line">
                <a:avLst/>
              </a:prstGeom>
              <a:noFill/>
              <a:ln w="12700">
                <a:solidFill>
                  <a:srgbClr val="FF9900"/>
                </a:solidFill>
                <a:round/>
                <a:headEnd/>
                <a:tailEnd/>
              </a:ln>
            </p:spPr>
            <p:txBody>
              <a:bodyPr/>
              <a:lstStyle/>
              <a:p>
                <a:endParaRPr lang="en-GB"/>
              </a:p>
            </p:txBody>
          </p:sp>
          <p:sp>
            <p:nvSpPr>
              <p:cNvPr id="10347" name="Line 51"/>
              <p:cNvSpPr>
                <a:spLocks noChangeShapeType="1"/>
              </p:cNvSpPr>
              <p:nvPr/>
            </p:nvSpPr>
            <p:spPr bwMode="auto">
              <a:xfrm flipH="1">
                <a:off x="851" y="1432"/>
                <a:ext cx="692" cy="22"/>
              </a:xfrm>
              <a:prstGeom prst="line">
                <a:avLst/>
              </a:prstGeom>
              <a:noFill/>
              <a:ln w="12700">
                <a:solidFill>
                  <a:srgbClr val="FF9900"/>
                </a:solidFill>
                <a:round/>
                <a:headEnd/>
                <a:tailEnd/>
              </a:ln>
            </p:spPr>
            <p:txBody>
              <a:bodyPr/>
              <a:lstStyle/>
              <a:p>
                <a:endParaRPr lang="en-GB"/>
              </a:p>
            </p:txBody>
          </p:sp>
        </p:grpSp>
        <p:sp>
          <p:nvSpPr>
            <p:cNvPr id="10279" name="Line 52"/>
            <p:cNvSpPr>
              <a:spLocks noChangeShapeType="1"/>
            </p:cNvSpPr>
            <p:nvPr/>
          </p:nvSpPr>
          <p:spPr bwMode="auto">
            <a:xfrm rot="1561396" flipH="1" flipV="1">
              <a:off x="1995" y="732"/>
              <a:ext cx="102" cy="503"/>
            </a:xfrm>
            <a:prstGeom prst="line">
              <a:avLst/>
            </a:prstGeom>
            <a:noFill/>
            <a:ln w="12700">
              <a:solidFill>
                <a:srgbClr val="FF9900"/>
              </a:solidFill>
              <a:round/>
              <a:headEnd/>
              <a:tailEnd/>
            </a:ln>
          </p:spPr>
          <p:txBody>
            <a:bodyPr/>
            <a:lstStyle/>
            <a:p>
              <a:endParaRPr lang="en-GB"/>
            </a:p>
          </p:txBody>
        </p:sp>
        <p:sp>
          <p:nvSpPr>
            <p:cNvPr id="10280" name="Line 53"/>
            <p:cNvSpPr>
              <a:spLocks noChangeShapeType="1"/>
            </p:cNvSpPr>
            <p:nvPr/>
          </p:nvSpPr>
          <p:spPr bwMode="auto">
            <a:xfrm rot="1561396" flipH="1" flipV="1">
              <a:off x="1720" y="819"/>
              <a:ext cx="383" cy="367"/>
            </a:xfrm>
            <a:prstGeom prst="line">
              <a:avLst/>
            </a:prstGeom>
            <a:noFill/>
            <a:ln w="12700">
              <a:solidFill>
                <a:srgbClr val="FF9900"/>
              </a:solidFill>
              <a:round/>
              <a:headEnd/>
              <a:tailEnd/>
            </a:ln>
          </p:spPr>
          <p:txBody>
            <a:bodyPr/>
            <a:lstStyle/>
            <a:p>
              <a:endParaRPr lang="en-GB"/>
            </a:p>
          </p:txBody>
        </p:sp>
        <p:sp>
          <p:nvSpPr>
            <p:cNvPr id="10281" name="Line 54"/>
            <p:cNvSpPr>
              <a:spLocks noChangeShapeType="1"/>
            </p:cNvSpPr>
            <p:nvPr/>
          </p:nvSpPr>
          <p:spPr bwMode="auto">
            <a:xfrm rot="1561396" flipH="1" flipV="1">
              <a:off x="1561" y="1014"/>
              <a:ext cx="487" cy="153"/>
            </a:xfrm>
            <a:prstGeom prst="line">
              <a:avLst/>
            </a:prstGeom>
            <a:noFill/>
            <a:ln w="12700">
              <a:solidFill>
                <a:srgbClr val="FF9900"/>
              </a:solidFill>
              <a:round/>
              <a:headEnd/>
              <a:tailEnd/>
            </a:ln>
          </p:spPr>
          <p:txBody>
            <a:bodyPr/>
            <a:lstStyle/>
            <a:p>
              <a:endParaRPr lang="en-GB"/>
            </a:p>
          </p:txBody>
        </p:sp>
        <p:sp>
          <p:nvSpPr>
            <p:cNvPr id="10282" name="Line 55"/>
            <p:cNvSpPr>
              <a:spLocks noChangeShapeType="1"/>
            </p:cNvSpPr>
            <p:nvPr/>
          </p:nvSpPr>
          <p:spPr bwMode="auto">
            <a:xfrm rot="1561396" flipH="1" flipV="1">
              <a:off x="2400" y="698"/>
              <a:ext cx="102" cy="503"/>
            </a:xfrm>
            <a:prstGeom prst="line">
              <a:avLst/>
            </a:prstGeom>
            <a:noFill/>
            <a:ln w="12700">
              <a:solidFill>
                <a:srgbClr val="FF9900"/>
              </a:solidFill>
              <a:round/>
              <a:headEnd/>
              <a:tailEnd/>
            </a:ln>
          </p:spPr>
          <p:txBody>
            <a:bodyPr/>
            <a:lstStyle/>
            <a:p>
              <a:endParaRPr lang="en-GB"/>
            </a:p>
          </p:txBody>
        </p:sp>
        <p:sp>
          <p:nvSpPr>
            <p:cNvPr id="10283" name="Line 56"/>
            <p:cNvSpPr>
              <a:spLocks noChangeShapeType="1"/>
            </p:cNvSpPr>
            <p:nvPr/>
          </p:nvSpPr>
          <p:spPr bwMode="auto">
            <a:xfrm rot="1561396" flipV="1">
              <a:off x="2486" y="860"/>
              <a:ext cx="408" cy="490"/>
            </a:xfrm>
            <a:prstGeom prst="line">
              <a:avLst/>
            </a:prstGeom>
            <a:noFill/>
            <a:ln w="12700">
              <a:solidFill>
                <a:srgbClr val="FF9900"/>
              </a:solidFill>
              <a:round/>
              <a:headEnd/>
              <a:tailEnd/>
            </a:ln>
          </p:spPr>
          <p:txBody>
            <a:bodyPr/>
            <a:lstStyle/>
            <a:p>
              <a:endParaRPr lang="en-GB"/>
            </a:p>
          </p:txBody>
        </p:sp>
        <p:sp>
          <p:nvSpPr>
            <p:cNvPr id="10284" name="Line 57"/>
            <p:cNvSpPr>
              <a:spLocks noChangeShapeType="1"/>
            </p:cNvSpPr>
            <p:nvPr/>
          </p:nvSpPr>
          <p:spPr bwMode="auto">
            <a:xfrm rot="1561396" flipV="1">
              <a:off x="2510" y="732"/>
              <a:ext cx="173" cy="519"/>
            </a:xfrm>
            <a:prstGeom prst="line">
              <a:avLst/>
            </a:prstGeom>
            <a:noFill/>
            <a:ln w="12700">
              <a:solidFill>
                <a:srgbClr val="FF9900"/>
              </a:solidFill>
              <a:round/>
              <a:headEnd/>
              <a:tailEnd/>
            </a:ln>
          </p:spPr>
          <p:txBody>
            <a:bodyPr/>
            <a:lstStyle/>
            <a:p>
              <a:endParaRPr lang="en-GB"/>
            </a:p>
          </p:txBody>
        </p:sp>
        <p:sp>
          <p:nvSpPr>
            <p:cNvPr id="10285" name="Line 58"/>
            <p:cNvSpPr>
              <a:spLocks noChangeShapeType="1"/>
            </p:cNvSpPr>
            <p:nvPr/>
          </p:nvSpPr>
          <p:spPr bwMode="auto">
            <a:xfrm rot="1561396" flipV="1">
              <a:off x="3350" y="887"/>
              <a:ext cx="408" cy="490"/>
            </a:xfrm>
            <a:prstGeom prst="line">
              <a:avLst/>
            </a:prstGeom>
            <a:noFill/>
            <a:ln w="12700">
              <a:solidFill>
                <a:srgbClr val="FF9900"/>
              </a:solidFill>
              <a:round/>
              <a:headEnd/>
              <a:tailEnd/>
            </a:ln>
          </p:spPr>
          <p:txBody>
            <a:bodyPr/>
            <a:lstStyle/>
            <a:p>
              <a:endParaRPr lang="en-GB"/>
            </a:p>
          </p:txBody>
        </p:sp>
        <p:sp>
          <p:nvSpPr>
            <p:cNvPr id="10286" name="Line 59"/>
            <p:cNvSpPr>
              <a:spLocks noChangeShapeType="1"/>
            </p:cNvSpPr>
            <p:nvPr/>
          </p:nvSpPr>
          <p:spPr bwMode="auto">
            <a:xfrm rot="1561396" flipV="1">
              <a:off x="3462" y="771"/>
              <a:ext cx="93" cy="496"/>
            </a:xfrm>
            <a:prstGeom prst="line">
              <a:avLst/>
            </a:prstGeom>
            <a:noFill/>
            <a:ln w="12700">
              <a:solidFill>
                <a:srgbClr val="FF9900"/>
              </a:solidFill>
              <a:round/>
              <a:headEnd/>
              <a:tailEnd/>
            </a:ln>
          </p:spPr>
          <p:txBody>
            <a:bodyPr/>
            <a:lstStyle/>
            <a:p>
              <a:endParaRPr lang="en-GB"/>
            </a:p>
          </p:txBody>
        </p:sp>
        <p:sp>
          <p:nvSpPr>
            <p:cNvPr id="10287" name="Line 60"/>
            <p:cNvSpPr>
              <a:spLocks noChangeShapeType="1"/>
            </p:cNvSpPr>
            <p:nvPr/>
          </p:nvSpPr>
          <p:spPr bwMode="auto">
            <a:xfrm rot="1561396" flipH="1" flipV="1">
              <a:off x="3215" y="761"/>
              <a:ext cx="196" cy="445"/>
            </a:xfrm>
            <a:prstGeom prst="line">
              <a:avLst/>
            </a:prstGeom>
            <a:noFill/>
            <a:ln w="12700">
              <a:solidFill>
                <a:srgbClr val="FF9900"/>
              </a:solidFill>
              <a:round/>
              <a:headEnd/>
              <a:tailEnd/>
            </a:ln>
          </p:spPr>
          <p:txBody>
            <a:bodyPr/>
            <a:lstStyle/>
            <a:p>
              <a:endParaRPr lang="en-GB"/>
            </a:p>
          </p:txBody>
        </p:sp>
        <p:sp>
          <p:nvSpPr>
            <p:cNvPr id="10288" name="Line 61"/>
            <p:cNvSpPr>
              <a:spLocks noChangeShapeType="1"/>
            </p:cNvSpPr>
            <p:nvPr/>
          </p:nvSpPr>
          <p:spPr bwMode="auto">
            <a:xfrm rot="1561396" flipV="1">
              <a:off x="3880" y="1182"/>
              <a:ext cx="332" cy="397"/>
            </a:xfrm>
            <a:prstGeom prst="line">
              <a:avLst/>
            </a:prstGeom>
            <a:noFill/>
            <a:ln w="12700">
              <a:solidFill>
                <a:srgbClr val="FF9900"/>
              </a:solidFill>
              <a:round/>
              <a:headEnd/>
              <a:tailEnd/>
            </a:ln>
          </p:spPr>
          <p:txBody>
            <a:bodyPr/>
            <a:lstStyle/>
            <a:p>
              <a:endParaRPr lang="en-GB"/>
            </a:p>
          </p:txBody>
        </p:sp>
        <p:sp>
          <p:nvSpPr>
            <p:cNvPr id="10289" name="Line 62"/>
            <p:cNvSpPr>
              <a:spLocks noChangeShapeType="1"/>
            </p:cNvSpPr>
            <p:nvPr/>
          </p:nvSpPr>
          <p:spPr bwMode="auto">
            <a:xfrm rot="1561396" flipV="1">
              <a:off x="3762" y="1374"/>
              <a:ext cx="574" cy="263"/>
            </a:xfrm>
            <a:prstGeom prst="line">
              <a:avLst/>
            </a:prstGeom>
            <a:noFill/>
            <a:ln w="12700">
              <a:solidFill>
                <a:srgbClr val="FF9900"/>
              </a:solidFill>
              <a:round/>
              <a:headEnd/>
              <a:tailEnd/>
            </a:ln>
          </p:spPr>
          <p:txBody>
            <a:bodyPr/>
            <a:lstStyle/>
            <a:p>
              <a:endParaRPr lang="en-GB"/>
            </a:p>
          </p:txBody>
        </p:sp>
        <p:sp>
          <p:nvSpPr>
            <p:cNvPr id="10290" name="Line 63"/>
            <p:cNvSpPr>
              <a:spLocks noChangeShapeType="1"/>
            </p:cNvSpPr>
            <p:nvPr/>
          </p:nvSpPr>
          <p:spPr bwMode="auto">
            <a:xfrm rot="1561396" flipV="1">
              <a:off x="3788" y="1618"/>
              <a:ext cx="666" cy="25"/>
            </a:xfrm>
            <a:prstGeom prst="line">
              <a:avLst/>
            </a:prstGeom>
            <a:noFill/>
            <a:ln w="12700">
              <a:solidFill>
                <a:srgbClr val="FF9900"/>
              </a:solidFill>
              <a:round/>
              <a:headEnd/>
              <a:tailEnd/>
            </a:ln>
          </p:spPr>
          <p:txBody>
            <a:bodyPr/>
            <a:lstStyle/>
            <a:p>
              <a:endParaRPr lang="en-GB"/>
            </a:p>
          </p:txBody>
        </p:sp>
        <p:sp>
          <p:nvSpPr>
            <p:cNvPr id="10291" name="Line 64"/>
            <p:cNvSpPr>
              <a:spLocks noChangeShapeType="1"/>
            </p:cNvSpPr>
            <p:nvPr/>
          </p:nvSpPr>
          <p:spPr bwMode="auto">
            <a:xfrm rot="1561396">
              <a:off x="4119" y="2682"/>
              <a:ext cx="668" cy="181"/>
            </a:xfrm>
            <a:prstGeom prst="line">
              <a:avLst/>
            </a:prstGeom>
            <a:noFill/>
            <a:ln w="12700">
              <a:solidFill>
                <a:srgbClr val="FF9900"/>
              </a:solidFill>
              <a:round/>
              <a:headEnd/>
              <a:tailEnd/>
            </a:ln>
          </p:spPr>
          <p:txBody>
            <a:bodyPr/>
            <a:lstStyle/>
            <a:p>
              <a:endParaRPr lang="en-GB"/>
            </a:p>
          </p:txBody>
        </p:sp>
        <p:sp>
          <p:nvSpPr>
            <p:cNvPr id="10292" name="Line 65"/>
            <p:cNvSpPr>
              <a:spLocks noChangeShapeType="1"/>
            </p:cNvSpPr>
            <p:nvPr/>
          </p:nvSpPr>
          <p:spPr bwMode="auto">
            <a:xfrm rot="1561396" flipV="1">
              <a:off x="4300" y="2598"/>
              <a:ext cx="468" cy="73"/>
            </a:xfrm>
            <a:prstGeom prst="line">
              <a:avLst/>
            </a:prstGeom>
            <a:noFill/>
            <a:ln w="12700">
              <a:solidFill>
                <a:srgbClr val="FF9900"/>
              </a:solidFill>
              <a:round/>
              <a:headEnd/>
              <a:tailEnd/>
            </a:ln>
          </p:spPr>
          <p:txBody>
            <a:bodyPr/>
            <a:lstStyle/>
            <a:p>
              <a:endParaRPr lang="en-GB"/>
            </a:p>
          </p:txBody>
        </p:sp>
        <p:sp>
          <p:nvSpPr>
            <p:cNvPr id="10293" name="Line 66"/>
            <p:cNvSpPr>
              <a:spLocks noChangeShapeType="1"/>
            </p:cNvSpPr>
            <p:nvPr/>
          </p:nvSpPr>
          <p:spPr bwMode="auto">
            <a:xfrm rot="1561396" flipV="1">
              <a:off x="4298" y="2348"/>
              <a:ext cx="397" cy="297"/>
            </a:xfrm>
            <a:prstGeom prst="line">
              <a:avLst/>
            </a:prstGeom>
            <a:noFill/>
            <a:ln w="12700">
              <a:solidFill>
                <a:srgbClr val="FF9900"/>
              </a:solidFill>
              <a:round/>
              <a:headEnd/>
              <a:tailEnd/>
            </a:ln>
          </p:spPr>
          <p:txBody>
            <a:bodyPr/>
            <a:lstStyle/>
            <a:p>
              <a:endParaRPr lang="en-GB"/>
            </a:p>
          </p:txBody>
        </p:sp>
        <p:sp>
          <p:nvSpPr>
            <p:cNvPr id="10294" name="Line 67"/>
            <p:cNvSpPr>
              <a:spLocks noChangeShapeType="1"/>
            </p:cNvSpPr>
            <p:nvPr/>
          </p:nvSpPr>
          <p:spPr bwMode="auto">
            <a:xfrm rot="1561396" flipV="1">
              <a:off x="3985" y="3197"/>
              <a:ext cx="562" cy="132"/>
            </a:xfrm>
            <a:prstGeom prst="line">
              <a:avLst/>
            </a:prstGeom>
            <a:noFill/>
            <a:ln w="12700">
              <a:solidFill>
                <a:srgbClr val="FF9900"/>
              </a:solidFill>
              <a:round/>
              <a:headEnd/>
              <a:tailEnd/>
            </a:ln>
          </p:spPr>
          <p:txBody>
            <a:bodyPr/>
            <a:lstStyle/>
            <a:p>
              <a:endParaRPr lang="en-GB"/>
            </a:p>
          </p:txBody>
        </p:sp>
        <p:sp>
          <p:nvSpPr>
            <p:cNvPr id="10295" name="Line 68"/>
            <p:cNvSpPr>
              <a:spLocks noChangeShapeType="1"/>
            </p:cNvSpPr>
            <p:nvPr/>
          </p:nvSpPr>
          <p:spPr bwMode="auto">
            <a:xfrm rot="1561396">
              <a:off x="3883" y="3308"/>
              <a:ext cx="557" cy="107"/>
            </a:xfrm>
            <a:prstGeom prst="line">
              <a:avLst/>
            </a:prstGeom>
            <a:noFill/>
            <a:ln w="12700">
              <a:solidFill>
                <a:srgbClr val="FF9900"/>
              </a:solidFill>
              <a:round/>
              <a:headEnd/>
              <a:tailEnd/>
            </a:ln>
          </p:spPr>
          <p:txBody>
            <a:bodyPr/>
            <a:lstStyle/>
            <a:p>
              <a:endParaRPr lang="en-GB"/>
            </a:p>
          </p:txBody>
        </p:sp>
        <p:sp>
          <p:nvSpPr>
            <p:cNvPr id="10296" name="Line 69"/>
            <p:cNvSpPr>
              <a:spLocks noChangeShapeType="1"/>
            </p:cNvSpPr>
            <p:nvPr/>
          </p:nvSpPr>
          <p:spPr bwMode="auto">
            <a:xfrm rot="1561396">
              <a:off x="3845" y="3264"/>
              <a:ext cx="386" cy="351"/>
            </a:xfrm>
            <a:prstGeom prst="line">
              <a:avLst/>
            </a:prstGeom>
            <a:noFill/>
            <a:ln w="12700">
              <a:solidFill>
                <a:srgbClr val="FF9900"/>
              </a:solidFill>
              <a:round/>
              <a:headEnd/>
              <a:tailEnd/>
            </a:ln>
          </p:spPr>
          <p:txBody>
            <a:bodyPr/>
            <a:lstStyle/>
            <a:p>
              <a:endParaRPr lang="en-GB"/>
            </a:p>
          </p:txBody>
        </p:sp>
        <p:sp>
          <p:nvSpPr>
            <p:cNvPr id="10297" name="Line 70"/>
            <p:cNvSpPr>
              <a:spLocks noChangeShapeType="1"/>
            </p:cNvSpPr>
            <p:nvPr/>
          </p:nvSpPr>
          <p:spPr bwMode="auto">
            <a:xfrm rot="1561396">
              <a:off x="3422" y="3489"/>
              <a:ext cx="249" cy="304"/>
            </a:xfrm>
            <a:prstGeom prst="line">
              <a:avLst/>
            </a:prstGeom>
            <a:noFill/>
            <a:ln w="12700">
              <a:solidFill>
                <a:srgbClr val="FF9900"/>
              </a:solidFill>
              <a:round/>
              <a:headEnd/>
              <a:tailEnd/>
            </a:ln>
          </p:spPr>
          <p:txBody>
            <a:bodyPr/>
            <a:lstStyle/>
            <a:p>
              <a:endParaRPr lang="en-GB"/>
            </a:p>
          </p:txBody>
        </p:sp>
        <p:sp>
          <p:nvSpPr>
            <p:cNvPr id="10298" name="Line 71"/>
            <p:cNvSpPr>
              <a:spLocks noChangeShapeType="1"/>
            </p:cNvSpPr>
            <p:nvPr/>
          </p:nvSpPr>
          <p:spPr bwMode="auto">
            <a:xfrm rot="1561396" flipH="1">
              <a:off x="3373" y="3469"/>
              <a:ext cx="15" cy="326"/>
            </a:xfrm>
            <a:prstGeom prst="line">
              <a:avLst/>
            </a:prstGeom>
            <a:noFill/>
            <a:ln w="12700">
              <a:solidFill>
                <a:srgbClr val="FF9900"/>
              </a:solidFill>
              <a:round/>
              <a:headEnd/>
              <a:tailEnd/>
            </a:ln>
          </p:spPr>
          <p:txBody>
            <a:bodyPr/>
            <a:lstStyle/>
            <a:p>
              <a:endParaRPr lang="en-GB"/>
            </a:p>
          </p:txBody>
        </p:sp>
        <p:sp>
          <p:nvSpPr>
            <p:cNvPr id="10299" name="Line 72"/>
            <p:cNvSpPr>
              <a:spLocks noChangeShapeType="1"/>
            </p:cNvSpPr>
            <p:nvPr/>
          </p:nvSpPr>
          <p:spPr bwMode="auto">
            <a:xfrm rot="1561396" flipH="1">
              <a:off x="3176" y="3355"/>
              <a:ext cx="209" cy="382"/>
            </a:xfrm>
            <a:prstGeom prst="line">
              <a:avLst/>
            </a:prstGeom>
            <a:noFill/>
            <a:ln w="12700">
              <a:solidFill>
                <a:srgbClr val="FF9900"/>
              </a:solidFill>
              <a:round/>
              <a:headEnd/>
              <a:tailEnd/>
            </a:ln>
          </p:spPr>
          <p:txBody>
            <a:bodyPr/>
            <a:lstStyle/>
            <a:p>
              <a:endParaRPr lang="en-GB"/>
            </a:p>
          </p:txBody>
        </p:sp>
        <p:sp>
          <p:nvSpPr>
            <p:cNvPr id="10300" name="Line 73"/>
            <p:cNvSpPr>
              <a:spLocks noChangeShapeType="1"/>
            </p:cNvSpPr>
            <p:nvPr/>
          </p:nvSpPr>
          <p:spPr bwMode="auto">
            <a:xfrm rot="1561396" flipH="1">
              <a:off x="1845" y="3451"/>
              <a:ext cx="209" cy="382"/>
            </a:xfrm>
            <a:prstGeom prst="line">
              <a:avLst/>
            </a:prstGeom>
            <a:noFill/>
            <a:ln w="12700">
              <a:solidFill>
                <a:srgbClr val="FF9900"/>
              </a:solidFill>
              <a:round/>
              <a:headEnd/>
              <a:tailEnd/>
            </a:ln>
          </p:spPr>
          <p:txBody>
            <a:bodyPr/>
            <a:lstStyle/>
            <a:p>
              <a:endParaRPr lang="en-GB"/>
            </a:p>
          </p:txBody>
        </p:sp>
        <p:sp>
          <p:nvSpPr>
            <p:cNvPr id="10301" name="Line 74"/>
            <p:cNvSpPr>
              <a:spLocks noChangeShapeType="1"/>
            </p:cNvSpPr>
            <p:nvPr/>
          </p:nvSpPr>
          <p:spPr bwMode="auto">
            <a:xfrm rot="1561396" flipH="1">
              <a:off x="2051" y="3470"/>
              <a:ext cx="50" cy="412"/>
            </a:xfrm>
            <a:prstGeom prst="line">
              <a:avLst/>
            </a:prstGeom>
            <a:noFill/>
            <a:ln w="12700">
              <a:solidFill>
                <a:srgbClr val="FF9900"/>
              </a:solidFill>
              <a:round/>
              <a:headEnd/>
              <a:tailEnd/>
            </a:ln>
          </p:spPr>
          <p:txBody>
            <a:bodyPr/>
            <a:lstStyle/>
            <a:p>
              <a:endParaRPr lang="en-GB"/>
            </a:p>
          </p:txBody>
        </p:sp>
        <p:sp>
          <p:nvSpPr>
            <p:cNvPr id="10302" name="Line 75"/>
            <p:cNvSpPr>
              <a:spLocks noChangeShapeType="1"/>
            </p:cNvSpPr>
            <p:nvPr/>
          </p:nvSpPr>
          <p:spPr bwMode="auto">
            <a:xfrm rot="1561396">
              <a:off x="2152" y="3568"/>
              <a:ext cx="224" cy="302"/>
            </a:xfrm>
            <a:prstGeom prst="line">
              <a:avLst/>
            </a:prstGeom>
            <a:noFill/>
            <a:ln w="12700">
              <a:solidFill>
                <a:srgbClr val="FF9900"/>
              </a:solidFill>
              <a:round/>
              <a:headEnd/>
              <a:tailEnd/>
            </a:ln>
          </p:spPr>
          <p:txBody>
            <a:bodyPr/>
            <a:lstStyle/>
            <a:p>
              <a:endParaRPr lang="en-GB"/>
            </a:p>
          </p:txBody>
        </p:sp>
        <p:sp>
          <p:nvSpPr>
            <p:cNvPr id="10303" name="Line 76"/>
            <p:cNvSpPr>
              <a:spLocks noChangeShapeType="1"/>
            </p:cNvSpPr>
            <p:nvPr/>
          </p:nvSpPr>
          <p:spPr bwMode="auto">
            <a:xfrm rot="1561396" flipH="1">
              <a:off x="1491" y="3331"/>
              <a:ext cx="97" cy="474"/>
            </a:xfrm>
            <a:prstGeom prst="line">
              <a:avLst/>
            </a:prstGeom>
            <a:noFill/>
            <a:ln w="12700">
              <a:solidFill>
                <a:srgbClr val="FF9900"/>
              </a:solidFill>
              <a:round/>
              <a:headEnd/>
              <a:tailEnd/>
            </a:ln>
          </p:spPr>
          <p:txBody>
            <a:bodyPr/>
            <a:lstStyle/>
            <a:p>
              <a:endParaRPr lang="en-GB"/>
            </a:p>
          </p:txBody>
        </p:sp>
        <p:sp>
          <p:nvSpPr>
            <p:cNvPr id="10304" name="Line 77"/>
            <p:cNvSpPr>
              <a:spLocks noChangeShapeType="1"/>
            </p:cNvSpPr>
            <p:nvPr/>
          </p:nvSpPr>
          <p:spPr bwMode="auto">
            <a:xfrm rot="1561396" flipH="1">
              <a:off x="1247" y="3292"/>
              <a:ext cx="256" cy="398"/>
            </a:xfrm>
            <a:prstGeom prst="line">
              <a:avLst/>
            </a:prstGeom>
            <a:noFill/>
            <a:ln w="12700">
              <a:solidFill>
                <a:srgbClr val="FF9900"/>
              </a:solidFill>
              <a:round/>
              <a:headEnd/>
              <a:tailEnd/>
            </a:ln>
          </p:spPr>
          <p:txBody>
            <a:bodyPr/>
            <a:lstStyle/>
            <a:p>
              <a:endParaRPr lang="en-GB"/>
            </a:p>
          </p:txBody>
        </p:sp>
        <p:sp>
          <p:nvSpPr>
            <p:cNvPr id="10305" name="Line 78"/>
            <p:cNvSpPr>
              <a:spLocks noChangeShapeType="1"/>
            </p:cNvSpPr>
            <p:nvPr/>
          </p:nvSpPr>
          <p:spPr bwMode="auto">
            <a:xfrm rot="1561396" flipH="1">
              <a:off x="1121" y="3167"/>
              <a:ext cx="470" cy="319"/>
            </a:xfrm>
            <a:prstGeom prst="line">
              <a:avLst/>
            </a:prstGeom>
            <a:noFill/>
            <a:ln w="12700">
              <a:solidFill>
                <a:srgbClr val="FF9900"/>
              </a:solidFill>
              <a:round/>
              <a:headEnd/>
              <a:tailEnd/>
            </a:ln>
          </p:spPr>
          <p:txBody>
            <a:bodyPr/>
            <a:lstStyle/>
            <a:p>
              <a:endParaRPr lang="en-GB"/>
            </a:p>
          </p:txBody>
        </p:sp>
        <p:sp>
          <p:nvSpPr>
            <p:cNvPr id="10306" name="Line 79"/>
            <p:cNvSpPr>
              <a:spLocks noChangeShapeType="1"/>
            </p:cNvSpPr>
            <p:nvPr/>
          </p:nvSpPr>
          <p:spPr bwMode="auto">
            <a:xfrm rot="1561396" flipH="1">
              <a:off x="805" y="2687"/>
              <a:ext cx="470" cy="319"/>
            </a:xfrm>
            <a:prstGeom prst="line">
              <a:avLst/>
            </a:prstGeom>
            <a:noFill/>
            <a:ln w="12700">
              <a:solidFill>
                <a:srgbClr val="FF9900"/>
              </a:solidFill>
              <a:round/>
              <a:headEnd/>
              <a:tailEnd/>
            </a:ln>
          </p:spPr>
          <p:txBody>
            <a:bodyPr/>
            <a:lstStyle/>
            <a:p>
              <a:endParaRPr lang="en-GB"/>
            </a:p>
          </p:txBody>
        </p:sp>
        <p:sp>
          <p:nvSpPr>
            <p:cNvPr id="10307" name="Line 80"/>
            <p:cNvSpPr>
              <a:spLocks noChangeShapeType="1"/>
            </p:cNvSpPr>
            <p:nvPr/>
          </p:nvSpPr>
          <p:spPr bwMode="auto">
            <a:xfrm rot="1561396" flipH="1">
              <a:off x="676" y="2625"/>
              <a:ext cx="546" cy="98"/>
            </a:xfrm>
            <a:prstGeom prst="line">
              <a:avLst/>
            </a:prstGeom>
            <a:noFill/>
            <a:ln w="12700">
              <a:solidFill>
                <a:srgbClr val="FF9900"/>
              </a:solidFill>
              <a:round/>
              <a:headEnd/>
              <a:tailEnd/>
            </a:ln>
          </p:spPr>
          <p:txBody>
            <a:bodyPr/>
            <a:lstStyle/>
            <a:p>
              <a:endParaRPr lang="en-GB"/>
            </a:p>
          </p:txBody>
        </p:sp>
        <p:sp>
          <p:nvSpPr>
            <p:cNvPr id="10308" name="Line 81"/>
            <p:cNvSpPr>
              <a:spLocks noChangeShapeType="1"/>
            </p:cNvSpPr>
            <p:nvPr/>
          </p:nvSpPr>
          <p:spPr bwMode="auto">
            <a:xfrm rot="1561396" flipH="1" flipV="1">
              <a:off x="644" y="2473"/>
              <a:ext cx="685" cy="139"/>
            </a:xfrm>
            <a:prstGeom prst="line">
              <a:avLst/>
            </a:prstGeom>
            <a:noFill/>
            <a:ln w="12700">
              <a:solidFill>
                <a:srgbClr val="FF9900"/>
              </a:solidFill>
              <a:round/>
              <a:headEnd/>
              <a:tailEnd/>
            </a:ln>
          </p:spPr>
          <p:txBody>
            <a:bodyPr/>
            <a:lstStyle/>
            <a:p>
              <a:endParaRPr lang="en-GB"/>
            </a:p>
          </p:txBody>
        </p:sp>
        <p:grpSp>
          <p:nvGrpSpPr>
            <p:cNvPr id="15" name="Group 82"/>
            <p:cNvGrpSpPr>
              <a:grpSpLocks/>
            </p:cNvGrpSpPr>
            <p:nvPr/>
          </p:nvGrpSpPr>
          <p:grpSpPr bwMode="auto">
            <a:xfrm>
              <a:off x="1111" y="1030"/>
              <a:ext cx="3293" cy="2564"/>
              <a:chOff x="705" y="1174"/>
              <a:chExt cx="2628" cy="2071"/>
            </a:xfrm>
          </p:grpSpPr>
          <p:grpSp>
            <p:nvGrpSpPr>
              <p:cNvPr id="16" name="Group 83"/>
              <p:cNvGrpSpPr>
                <a:grpSpLocks/>
              </p:cNvGrpSpPr>
              <p:nvPr/>
            </p:nvGrpSpPr>
            <p:grpSpPr bwMode="auto">
              <a:xfrm>
                <a:off x="959" y="1180"/>
                <a:ext cx="898" cy="576"/>
                <a:chOff x="959" y="1180"/>
                <a:chExt cx="898" cy="576"/>
              </a:xfrm>
            </p:grpSpPr>
            <p:sp>
              <p:nvSpPr>
                <p:cNvPr id="10339" name="AutoShape 84"/>
                <p:cNvSpPr>
                  <a:spLocks noChangeArrowheads="1"/>
                </p:cNvSpPr>
                <p:nvPr/>
              </p:nvSpPr>
              <p:spPr bwMode="auto">
                <a:xfrm>
                  <a:off x="959" y="1379"/>
                  <a:ext cx="247" cy="213"/>
                </a:xfrm>
                <a:prstGeom prst="triangle">
                  <a:avLst>
                    <a:gd name="adj" fmla="val 50000"/>
                  </a:avLst>
                </a:prstGeom>
                <a:solidFill>
                  <a:srgbClr val="FF0066"/>
                </a:solidFill>
                <a:ln w="9525">
                  <a:solidFill>
                    <a:schemeClr val="tx1"/>
                  </a:solidFill>
                  <a:miter lim="800000"/>
                  <a:headEnd/>
                  <a:tailEnd/>
                </a:ln>
              </p:spPr>
              <p:txBody>
                <a:bodyPr wrap="none" anchor="ctr"/>
                <a:lstStyle/>
                <a:p>
                  <a:endParaRPr lang="en-US"/>
                </a:p>
              </p:txBody>
            </p:sp>
            <p:sp>
              <p:nvSpPr>
                <p:cNvPr id="10340" name="AutoShape 85"/>
                <p:cNvSpPr>
                  <a:spLocks noChangeArrowheads="1"/>
                </p:cNvSpPr>
                <p:nvPr/>
              </p:nvSpPr>
              <p:spPr bwMode="auto">
                <a:xfrm>
                  <a:off x="1610" y="1180"/>
                  <a:ext cx="247" cy="213"/>
                </a:xfrm>
                <a:prstGeom prst="triangle">
                  <a:avLst>
                    <a:gd name="adj" fmla="val 50000"/>
                  </a:avLst>
                </a:prstGeom>
                <a:solidFill>
                  <a:srgbClr val="FF0066"/>
                </a:solidFill>
                <a:ln w="9525">
                  <a:solidFill>
                    <a:schemeClr val="tx1"/>
                  </a:solidFill>
                  <a:miter lim="800000"/>
                  <a:headEnd/>
                  <a:tailEnd/>
                </a:ln>
              </p:spPr>
              <p:txBody>
                <a:bodyPr wrap="none" anchor="ctr"/>
                <a:lstStyle/>
                <a:p>
                  <a:endParaRPr lang="en-US"/>
                </a:p>
              </p:txBody>
            </p:sp>
            <p:sp>
              <p:nvSpPr>
                <p:cNvPr id="10341" name="AutoShape 86"/>
                <p:cNvSpPr>
                  <a:spLocks noChangeArrowheads="1"/>
                </p:cNvSpPr>
                <p:nvPr/>
              </p:nvSpPr>
              <p:spPr bwMode="auto">
                <a:xfrm>
                  <a:off x="1260" y="1208"/>
                  <a:ext cx="247" cy="213"/>
                </a:xfrm>
                <a:prstGeom prst="triangle">
                  <a:avLst>
                    <a:gd name="adj" fmla="val 50000"/>
                  </a:avLst>
                </a:prstGeom>
                <a:solidFill>
                  <a:srgbClr val="FF0066"/>
                </a:solidFill>
                <a:ln w="9525">
                  <a:solidFill>
                    <a:schemeClr val="tx1"/>
                  </a:solidFill>
                  <a:miter lim="800000"/>
                  <a:headEnd/>
                  <a:tailEnd/>
                </a:ln>
              </p:spPr>
              <p:txBody>
                <a:bodyPr wrap="none" anchor="ctr"/>
                <a:lstStyle/>
                <a:p>
                  <a:endParaRPr lang="en-US"/>
                </a:p>
              </p:txBody>
            </p:sp>
            <p:sp>
              <p:nvSpPr>
                <p:cNvPr id="10342" name="Line 87"/>
                <p:cNvSpPr>
                  <a:spLocks noChangeShapeType="1"/>
                </p:cNvSpPr>
                <p:nvPr/>
              </p:nvSpPr>
              <p:spPr bwMode="auto">
                <a:xfrm>
                  <a:off x="1124" y="1557"/>
                  <a:ext cx="480" cy="199"/>
                </a:xfrm>
                <a:prstGeom prst="line">
                  <a:avLst/>
                </a:prstGeom>
                <a:noFill/>
                <a:ln w="28575">
                  <a:solidFill>
                    <a:srgbClr val="FF0066"/>
                  </a:solidFill>
                  <a:round/>
                  <a:headEnd/>
                  <a:tailEnd/>
                </a:ln>
              </p:spPr>
              <p:txBody>
                <a:bodyPr/>
                <a:lstStyle/>
                <a:p>
                  <a:endParaRPr lang="en-GB"/>
                </a:p>
              </p:txBody>
            </p:sp>
            <p:sp>
              <p:nvSpPr>
                <p:cNvPr id="10343" name="Line 88"/>
                <p:cNvSpPr>
                  <a:spLocks noChangeShapeType="1"/>
                </p:cNvSpPr>
                <p:nvPr/>
              </p:nvSpPr>
              <p:spPr bwMode="auto">
                <a:xfrm>
                  <a:off x="1392" y="1399"/>
                  <a:ext cx="240" cy="315"/>
                </a:xfrm>
                <a:prstGeom prst="line">
                  <a:avLst/>
                </a:prstGeom>
                <a:noFill/>
                <a:ln w="28575">
                  <a:solidFill>
                    <a:srgbClr val="FF0066"/>
                  </a:solidFill>
                  <a:round/>
                  <a:headEnd/>
                  <a:tailEnd/>
                </a:ln>
              </p:spPr>
              <p:txBody>
                <a:bodyPr/>
                <a:lstStyle/>
                <a:p>
                  <a:endParaRPr lang="en-GB"/>
                </a:p>
              </p:txBody>
            </p:sp>
            <p:sp>
              <p:nvSpPr>
                <p:cNvPr id="10344" name="Line 89"/>
                <p:cNvSpPr>
                  <a:spLocks noChangeShapeType="1"/>
                </p:cNvSpPr>
                <p:nvPr/>
              </p:nvSpPr>
              <p:spPr bwMode="auto">
                <a:xfrm flipH="1">
                  <a:off x="1666" y="1358"/>
                  <a:ext cx="96" cy="377"/>
                </a:xfrm>
                <a:prstGeom prst="line">
                  <a:avLst/>
                </a:prstGeom>
                <a:noFill/>
                <a:ln w="28575">
                  <a:solidFill>
                    <a:srgbClr val="FF0066"/>
                  </a:solidFill>
                  <a:round/>
                  <a:headEnd/>
                  <a:tailEnd/>
                </a:ln>
              </p:spPr>
              <p:txBody>
                <a:bodyPr/>
                <a:lstStyle/>
                <a:p>
                  <a:endParaRPr lang="en-GB"/>
                </a:p>
              </p:txBody>
            </p:sp>
          </p:grpSp>
          <p:grpSp>
            <p:nvGrpSpPr>
              <p:cNvPr id="17" name="Group 90"/>
              <p:cNvGrpSpPr>
                <a:grpSpLocks/>
              </p:cNvGrpSpPr>
              <p:nvPr/>
            </p:nvGrpSpPr>
            <p:grpSpPr bwMode="auto">
              <a:xfrm>
                <a:off x="2364" y="1174"/>
                <a:ext cx="625" cy="727"/>
                <a:chOff x="2364" y="1174"/>
                <a:chExt cx="625" cy="727"/>
              </a:xfrm>
            </p:grpSpPr>
            <p:sp>
              <p:nvSpPr>
                <p:cNvPr id="10335" name="AutoShape 91"/>
                <p:cNvSpPr>
                  <a:spLocks noChangeArrowheads="1"/>
                </p:cNvSpPr>
                <p:nvPr/>
              </p:nvSpPr>
              <p:spPr bwMode="auto">
                <a:xfrm>
                  <a:off x="2742" y="1399"/>
                  <a:ext cx="247" cy="213"/>
                </a:xfrm>
                <a:prstGeom prst="triangle">
                  <a:avLst>
                    <a:gd name="adj" fmla="val 50000"/>
                  </a:avLst>
                </a:prstGeom>
                <a:solidFill>
                  <a:srgbClr val="FF0066"/>
                </a:solidFill>
                <a:ln w="9525">
                  <a:solidFill>
                    <a:schemeClr val="tx1"/>
                  </a:solidFill>
                  <a:miter lim="800000"/>
                  <a:headEnd/>
                  <a:tailEnd/>
                </a:ln>
              </p:spPr>
              <p:txBody>
                <a:bodyPr wrap="none" anchor="ctr"/>
                <a:lstStyle/>
                <a:p>
                  <a:endParaRPr lang="en-US"/>
                </a:p>
              </p:txBody>
            </p:sp>
            <p:sp>
              <p:nvSpPr>
                <p:cNvPr id="10336" name="AutoShape 92"/>
                <p:cNvSpPr>
                  <a:spLocks noChangeArrowheads="1"/>
                </p:cNvSpPr>
                <p:nvPr/>
              </p:nvSpPr>
              <p:spPr bwMode="auto">
                <a:xfrm>
                  <a:off x="2364" y="1174"/>
                  <a:ext cx="247" cy="213"/>
                </a:xfrm>
                <a:prstGeom prst="triangle">
                  <a:avLst>
                    <a:gd name="adj" fmla="val 50000"/>
                  </a:avLst>
                </a:prstGeom>
                <a:solidFill>
                  <a:srgbClr val="FF0066"/>
                </a:solidFill>
                <a:ln w="9525">
                  <a:solidFill>
                    <a:schemeClr val="tx1"/>
                  </a:solidFill>
                  <a:miter lim="800000"/>
                  <a:headEnd/>
                  <a:tailEnd/>
                </a:ln>
              </p:spPr>
              <p:txBody>
                <a:bodyPr wrap="none" anchor="ctr"/>
                <a:lstStyle/>
                <a:p>
                  <a:endParaRPr lang="en-US"/>
                </a:p>
              </p:txBody>
            </p:sp>
            <p:sp>
              <p:nvSpPr>
                <p:cNvPr id="10337" name="Line 93"/>
                <p:cNvSpPr>
                  <a:spLocks noChangeShapeType="1"/>
                </p:cNvSpPr>
                <p:nvPr/>
              </p:nvSpPr>
              <p:spPr bwMode="auto">
                <a:xfrm flipH="1">
                  <a:off x="2386" y="1351"/>
                  <a:ext cx="96" cy="377"/>
                </a:xfrm>
                <a:prstGeom prst="line">
                  <a:avLst/>
                </a:prstGeom>
                <a:noFill/>
                <a:ln w="28575">
                  <a:solidFill>
                    <a:srgbClr val="FF0066"/>
                  </a:solidFill>
                  <a:round/>
                  <a:headEnd/>
                  <a:tailEnd/>
                </a:ln>
              </p:spPr>
              <p:txBody>
                <a:bodyPr/>
                <a:lstStyle/>
                <a:p>
                  <a:endParaRPr lang="en-GB"/>
                </a:p>
              </p:txBody>
            </p:sp>
            <p:sp>
              <p:nvSpPr>
                <p:cNvPr id="10338" name="Line 94"/>
                <p:cNvSpPr>
                  <a:spLocks noChangeShapeType="1"/>
                </p:cNvSpPr>
                <p:nvPr/>
              </p:nvSpPr>
              <p:spPr bwMode="auto">
                <a:xfrm flipH="1">
                  <a:off x="2373" y="1549"/>
                  <a:ext cx="494" cy="352"/>
                </a:xfrm>
                <a:prstGeom prst="line">
                  <a:avLst/>
                </a:prstGeom>
                <a:noFill/>
                <a:ln w="28575">
                  <a:solidFill>
                    <a:srgbClr val="FF0066"/>
                  </a:solidFill>
                  <a:round/>
                  <a:headEnd/>
                  <a:tailEnd/>
                </a:ln>
              </p:spPr>
              <p:txBody>
                <a:bodyPr/>
                <a:lstStyle/>
                <a:p>
                  <a:endParaRPr lang="en-GB"/>
                </a:p>
              </p:txBody>
            </p:sp>
          </p:grpSp>
          <p:grpSp>
            <p:nvGrpSpPr>
              <p:cNvPr id="18" name="Group 95"/>
              <p:cNvGrpSpPr>
                <a:grpSpLocks/>
              </p:cNvGrpSpPr>
              <p:nvPr/>
            </p:nvGrpSpPr>
            <p:grpSpPr bwMode="auto">
              <a:xfrm>
                <a:off x="2496" y="2264"/>
                <a:ext cx="837" cy="933"/>
                <a:chOff x="2496" y="2264"/>
                <a:chExt cx="837" cy="933"/>
              </a:xfrm>
            </p:grpSpPr>
            <p:sp>
              <p:nvSpPr>
                <p:cNvPr id="10329" name="AutoShape 96"/>
                <p:cNvSpPr>
                  <a:spLocks noChangeArrowheads="1"/>
                </p:cNvSpPr>
                <p:nvPr/>
              </p:nvSpPr>
              <p:spPr bwMode="auto">
                <a:xfrm>
                  <a:off x="2496" y="2984"/>
                  <a:ext cx="247" cy="213"/>
                </a:xfrm>
                <a:prstGeom prst="triangle">
                  <a:avLst>
                    <a:gd name="adj" fmla="val 50000"/>
                  </a:avLst>
                </a:prstGeom>
                <a:solidFill>
                  <a:srgbClr val="FF0066"/>
                </a:solidFill>
                <a:ln w="9525">
                  <a:solidFill>
                    <a:schemeClr val="tx1"/>
                  </a:solidFill>
                  <a:miter lim="800000"/>
                  <a:headEnd/>
                  <a:tailEnd/>
                </a:ln>
              </p:spPr>
              <p:txBody>
                <a:bodyPr wrap="none" anchor="ctr"/>
                <a:lstStyle/>
                <a:p>
                  <a:endParaRPr lang="en-US"/>
                </a:p>
              </p:txBody>
            </p:sp>
            <p:sp>
              <p:nvSpPr>
                <p:cNvPr id="10330" name="AutoShape 97"/>
                <p:cNvSpPr>
                  <a:spLocks noChangeArrowheads="1"/>
                </p:cNvSpPr>
                <p:nvPr/>
              </p:nvSpPr>
              <p:spPr bwMode="auto">
                <a:xfrm>
                  <a:off x="2866" y="2778"/>
                  <a:ext cx="247" cy="213"/>
                </a:xfrm>
                <a:prstGeom prst="triangle">
                  <a:avLst>
                    <a:gd name="adj" fmla="val 50000"/>
                  </a:avLst>
                </a:prstGeom>
                <a:solidFill>
                  <a:srgbClr val="FF0066"/>
                </a:solidFill>
                <a:ln w="9525">
                  <a:solidFill>
                    <a:schemeClr val="tx1"/>
                  </a:solidFill>
                  <a:miter lim="800000"/>
                  <a:headEnd/>
                  <a:tailEnd/>
                </a:ln>
              </p:spPr>
              <p:txBody>
                <a:bodyPr wrap="none" anchor="ctr"/>
                <a:lstStyle/>
                <a:p>
                  <a:endParaRPr lang="en-US"/>
                </a:p>
              </p:txBody>
            </p:sp>
            <p:sp>
              <p:nvSpPr>
                <p:cNvPr id="10331" name="AutoShape 98"/>
                <p:cNvSpPr>
                  <a:spLocks noChangeArrowheads="1"/>
                </p:cNvSpPr>
                <p:nvPr/>
              </p:nvSpPr>
              <p:spPr bwMode="auto">
                <a:xfrm>
                  <a:off x="3086" y="2264"/>
                  <a:ext cx="247" cy="213"/>
                </a:xfrm>
                <a:prstGeom prst="triangle">
                  <a:avLst>
                    <a:gd name="adj" fmla="val 50000"/>
                  </a:avLst>
                </a:prstGeom>
                <a:solidFill>
                  <a:srgbClr val="FF0066"/>
                </a:solidFill>
                <a:ln w="9525">
                  <a:solidFill>
                    <a:schemeClr val="tx1"/>
                  </a:solidFill>
                  <a:miter lim="800000"/>
                  <a:headEnd/>
                  <a:tailEnd/>
                </a:ln>
              </p:spPr>
              <p:txBody>
                <a:bodyPr wrap="none" anchor="ctr"/>
                <a:lstStyle/>
                <a:p>
                  <a:endParaRPr lang="en-US"/>
                </a:p>
              </p:txBody>
            </p:sp>
            <p:sp>
              <p:nvSpPr>
                <p:cNvPr id="10332" name="Line 99"/>
                <p:cNvSpPr>
                  <a:spLocks noChangeShapeType="1"/>
                </p:cNvSpPr>
                <p:nvPr/>
              </p:nvSpPr>
              <p:spPr bwMode="auto">
                <a:xfrm flipH="1">
                  <a:off x="2627" y="2399"/>
                  <a:ext cx="576" cy="105"/>
                </a:xfrm>
                <a:prstGeom prst="line">
                  <a:avLst/>
                </a:prstGeom>
                <a:noFill/>
                <a:ln w="28575">
                  <a:solidFill>
                    <a:srgbClr val="FF0066"/>
                  </a:solidFill>
                  <a:round/>
                  <a:headEnd/>
                  <a:tailEnd/>
                </a:ln>
              </p:spPr>
              <p:txBody>
                <a:bodyPr/>
                <a:lstStyle/>
                <a:p>
                  <a:endParaRPr lang="en-GB"/>
                </a:p>
              </p:txBody>
            </p:sp>
            <p:sp>
              <p:nvSpPr>
                <p:cNvPr id="10333" name="Line 100"/>
                <p:cNvSpPr>
                  <a:spLocks noChangeShapeType="1"/>
                </p:cNvSpPr>
                <p:nvPr/>
              </p:nvSpPr>
              <p:spPr bwMode="auto">
                <a:xfrm flipH="1" flipV="1">
                  <a:off x="2579" y="2572"/>
                  <a:ext cx="432" cy="327"/>
                </a:xfrm>
                <a:prstGeom prst="line">
                  <a:avLst/>
                </a:prstGeom>
                <a:noFill/>
                <a:ln w="28575">
                  <a:solidFill>
                    <a:srgbClr val="FF0066"/>
                  </a:solidFill>
                  <a:round/>
                  <a:headEnd/>
                  <a:tailEnd/>
                </a:ln>
              </p:spPr>
              <p:txBody>
                <a:bodyPr/>
                <a:lstStyle/>
                <a:p>
                  <a:endParaRPr lang="en-GB"/>
                </a:p>
              </p:txBody>
            </p:sp>
            <p:sp>
              <p:nvSpPr>
                <p:cNvPr id="10334" name="Line 101"/>
                <p:cNvSpPr>
                  <a:spLocks noChangeShapeType="1"/>
                </p:cNvSpPr>
                <p:nvPr/>
              </p:nvSpPr>
              <p:spPr bwMode="auto">
                <a:xfrm flipH="1" flipV="1">
                  <a:off x="2497" y="2613"/>
                  <a:ext cx="124" cy="512"/>
                </a:xfrm>
                <a:prstGeom prst="line">
                  <a:avLst/>
                </a:prstGeom>
                <a:noFill/>
                <a:ln w="28575">
                  <a:solidFill>
                    <a:srgbClr val="FF0066"/>
                  </a:solidFill>
                  <a:round/>
                  <a:headEnd/>
                  <a:tailEnd/>
                </a:ln>
              </p:spPr>
              <p:txBody>
                <a:bodyPr/>
                <a:lstStyle/>
                <a:p>
                  <a:endParaRPr lang="en-GB"/>
                </a:p>
              </p:txBody>
            </p:sp>
          </p:grpSp>
          <p:grpSp>
            <p:nvGrpSpPr>
              <p:cNvPr id="19" name="Group 102"/>
              <p:cNvGrpSpPr>
                <a:grpSpLocks/>
              </p:cNvGrpSpPr>
              <p:nvPr/>
            </p:nvGrpSpPr>
            <p:grpSpPr bwMode="auto">
              <a:xfrm>
                <a:off x="705" y="2435"/>
                <a:ext cx="988" cy="810"/>
                <a:chOff x="705" y="2435"/>
                <a:chExt cx="988" cy="810"/>
              </a:xfrm>
            </p:grpSpPr>
            <p:sp>
              <p:nvSpPr>
                <p:cNvPr id="10323" name="AutoShape 103"/>
                <p:cNvSpPr>
                  <a:spLocks noChangeArrowheads="1"/>
                </p:cNvSpPr>
                <p:nvPr/>
              </p:nvSpPr>
              <p:spPr bwMode="auto">
                <a:xfrm>
                  <a:off x="1007" y="2888"/>
                  <a:ext cx="247" cy="213"/>
                </a:xfrm>
                <a:prstGeom prst="triangle">
                  <a:avLst>
                    <a:gd name="adj" fmla="val 50000"/>
                  </a:avLst>
                </a:prstGeom>
                <a:solidFill>
                  <a:srgbClr val="FF0066"/>
                </a:solidFill>
                <a:ln w="9525">
                  <a:solidFill>
                    <a:schemeClr val="tx1"/>
                  </a:solidFill>
                  <a:miter lim="800000"/>
                  <a:headEnd/>
                  <a:tailEnd/>
                </a:ln>
              </p:spPr>
              <p:txBody>
                <a:bodyPr wrap="none" anchor="ctr"/>
                <a:lstStyle/>
                <a:p>
                  <a:endParaRPr lang="en-US"/>
                </a:p>
              </p:txBody>
            </p:sp>
            <p:sp>
              <p:nvSpPr>
                <p:cNvPr id="10324" name="AutoShape 104"/>
                <p:cNvSpPr>
                  <a:spLocks noChangeArrowheads="1"/>
                </p:cNvSpPr>
                <p:nvPr/>
              </p:nvSpPr>
              <p:spPr bwMode="auto">
                <a:xfrm>
                  <a:off x="1446" y="3032"/>
                  <a:ext cx="247" cy="213"/>
                </a:xfrm>
                <a:prstGeom prst="triangle">
                  <a:avLst>
                    <a:gd name="adj" fmla="val 50000"/>
                  </a:avLst>
                </a:prstGeom>
                <a:solidFill>
                  <a:srgbClr val="FF0066"/>
                </a:solidFill>
                <a:ln w="9525">
                  <a:solidFill>
                    <a:schemeClr val="tx1"/>
                  </a:solidFill>
                  <a:miter lim="800000"/>
                  <a:headEnd/>
                  <a:tailEnd/>
                </a:ln>
              </p:spPr>
              <p:txBody>
                <a:bodyPr wrap="none" anchor="ctr"/>
                <a:lstStyle/>
                <a:p>
                  <a:endParaRPr lang="en-US"/>
                </a:p>
              </p:txBody>
            </p:sp>
            <p:sp>
              <p:nvSpPr>
                <p:cNvPr id="10325" name="AutoShape 105"/>
                <p:cNvSpPr>
                  <a:spLocks noChangeArrowheads="1"/>
                </p:cNvSpPr>
                <p:nvPr/>
              </p:nvSpPr>
              <p:spPr bwMode="auto">
                <a:xfrm>
                  <a:off x="705" y="2450"/>
                  <a:ext cx="247" cy="213"/>
                </a:xfrm>
                <a:prstGeom prst="triangle">
                  <a:avLst>
                    <a:gd name="adj" fmla="val 50000"/>
                  </a:avLst>
                </a:prstGeom>
                <a:solidFill>
                  <a:srgbClr val="FF0066"/>
                </a:solidFill>
                <a:ln w="9525">
                  <a:solidFill>
                    <a:schemeClr val="tx1"/>
                  </a:solidFill>
                  <a:miter lim="800000"/>
                  <a:headEnd/>
                  <a:tailEnd/>
                </a:ln>
              </p:spPr>
              <p:txBody>
                <a:bodyPr wrap="none" anchor="ctr"/>
                <a:lstStyle/>
                <a:p>
                  <a:endParaRPr lang="en-US"/>
                </a:p>
              </p:txBody>
            </p:sp>
            <p:sp>
              <p:nvSpPr>
                <p:cNvPr id="10326" name="Line 106"/>
                <p:cNvSpPr>
                  <a:spLocks noChangeShapeType="1"/>
                </p:cNvSpPr>
                <p:nvPr/>
              </p:nvSpPr>
              <p:spPr bwMode="auto">
                <a:xfrm flipH="1" flipV="1">
                  <a:off x="1516" y="2572"/>
                  <a:ext cx="55" cy="553"/>
                </a:xfrm>
                <a:prstGeom prst="line">
                  <a:avLst/>
                </a:prstGeom>
                <a:noFill/>
                <a:ln w="28575">
                  <a:solidFill>
                    <a:srgbClr val="FF0066"/>
                  </a:solidFill>
                  <a:round/>
                  <a:headEnd/>
                  <a:tailEnd/>
                </a:ln>
              </p:spPr>
              <p:txBody>
                <a:bodyPr/>
                <a:lstStyle/>
                <a:p>
                  <a:endParaRPr lang="en-GB"/>
                </a:p>
              </p:txBody>
            </p:sp>
            <p:sp>
              <p:nvSpPr>
                <p:cNvPr id="10327" name="Line 107"/>
                <p:cNvSpPr>
                  <a:spLocks noChangeShapeType="1"/>
                </p:cNvSpPr>
                <p:nvPr/>
              </p:nvSpPr>
              <p:spPr bwMode="auto">
                <a:xfrm flipV="1">
                  <a:off x="1140" y="2565"/>
                  <a:ext cx="294" cy="396"/>
                </a:xfrm>
                <a:prstGeom prst="line">
                  <a:avLst/>
                </a:prstGeom>
                <a:noFill/>
                <a:ln w="28575">
                  <a:solidFill>
                    <a:srgbClr val="FF0066"/>
                  </a:solidFill>
                  <a:round/>
                  <a:headEnd/>
                  <a:tailEnd/>
                </a:ln>
              </p:spPr>
              <p:txBody>
                <a:bodyPr/>
                <a:lstStyle/>
                <a:p>
                  <a:endParaRPr lang="en-GB"/>
                </a:p>
              </p:txBody>
            </p:sp>
            <p:sp>
              <p:nvSpPr>
                <p:cNvPr id="10328" name="Line 108"/>
                <p:cNvSpPr>
                  <a:spLocks noChangeShapeType="1"/>
                </p:cNvSpPr>
                <p:nvPr/>
              </p:nvSpPr>
              <p:spPr bwMode="auto">
                <a:xfrm flipV="1">
                  <a:off x="865" y="2435"/>
                  <a:ext cx="534" cy="163"/>
                </a:xfrm>
                <a:prstGeom prst="line">
                  <a:avLst/>
                </a:prstGeom>
                <a:noFill/>
                <a:ln w="28575">
                  <a:solidFill>
                    <a:srgbClr val="FF0066"/>
                  </a:solidFill>
                  <a:round/>
                  <a:headEnd/>
                  <a:tailEnd/>
                </a:ln>
              </p:spPr>
              <p:txBody>
                <a:bodyPr/>
                <a:lstStyle/>
                <a:p>
                  <a:endParaRPr lang="en-GB"/>
                </a:p>
              </p:txBody>
            </p:sp>
          </p:grpSp>
          <p:grpSp>
            <p:nvGrpSpPr>
              <p:cNvPr id="20" name="Group 109"/>
              <p:cNvGrpSpPr>
                <a:grpSpLocks/>
              </p:cNvGrpSpPr>
              <p:nvPr/>
            </p:nvGrpSpPr>
            <p:grpSpPr bwMode="auto">
              <a:xfrm>
                <a:off x="1385" y="1646"/>
                <a:ext cx="1310" cy="994"/>
                <a:chOff x="1385" y="1646"/>
                <a:chExt cx="1310" cy="994"/>
              </a:xfrm>
            </p:grpSpPr>
            <p:sp>
              <p:nvSpPr>
                <p:cNvPr id="10315" name="Rectangle 110"/>
                <p:cNvSpPr>
                  <a:spLocks noChangeArrowheads="1"/>
                </p:cNvSpPr>
                <p:nvPr/>
              </p:nvSpPr>
              <p:spPr bwMode="auto">
                <a:xfrm>
                  <a:off x="1474" y="1653"/>
                  <a:ext cx="275" cy="295"/>
                </a:xfrm>
                <a:prstGeom prst="rect">
                  <a:avLst/>
                </a:prstGeom>
                <a:solidFill>
                  <a:srgbClr val="800000"/>
                </a:solidFill>
                <a:ln w="9525">
                  <a:solidFill>
                    <a:schemeClr val="tx1"/>
                  </a:solidFill>
                  <a:miter lim="800000"/>
                  <a:headEnd/>
                  <a:tailEnd/>
                </a:ln>
              </p:spPr>
              <p:txBody>
                <a:bodyPr wrap="none" anchor="ctr"/>
                <a:lstStyle/>
                <a:p>
                  <a:endParaRPr lang="en-US"/>
                </a:p>
              </p:txBody>
            </p:sp>
            <p:sp>
              <p:nvSpPr>
                <p:cNvPr id="10316" name="Rectangle 111"/>
                <p:cNvSpPr>
                  <a:spLocks noChangeArrowheads="1"/>
                </p:cNvSpPr>
                <p:nvPr/>
              </p:nvSpPr>
              <p:spPr bwMode="auto">
                <a:xfrm>
                  <a:off x="2256" y="1646"/>
                  <a:ext cx="275" cy="295"/>
                </a:xfrm>
                <a:prstGeom prst="rect">
                  <a:avLst/>
                </a:prstGeom>
                <a:solidFill>
                  <a:srgbClr val="800000"/>
                </a:solidFill>
                <a:ln w="9525">
                  <a:solidFill>
                    <a:schemeClr val="tx1"/>
                  </a:solidFill>
                  <a:miter lim="800000"/>
                  <a:headEnd/>
                  <a:tailEnd/>
                </a:ln>
              </p:spPr>
              <p:txBody>
                <a:bodyPr wrap="none" anchor="ctr"/>
                <a:lstStyle/>
                <a:p>
                  <a:endParaRPr lang="en-US"/>
                </a:p>
              </p:txBody>
            </p:sp>
            <p:sp>
              <p:nvSpPr>
                <p:cNvPr id="10317" name="Rectangle 112"/>
                <p:cNvSpPr>
                  <a:spLocks noChangeArrowheads="1"/>
                </p:cNvSpPr>
                <p:nvPr/>
              </p:nvSpPr>
              <p:spPr bwMode="auto">
                <a:xfrm>
                  <a:off x="1385" y="2325"/>
                  <a:ext cx="275" cy="295"/>
                </a:xfrm>
                <a:prstGeom prst="rect">
                  <a:avLst/>
                </a:prstGeom>
                <a:solidFill>
                  <a:srgbClr val="800000"/>
                </a:solidFill>
                <a:ln w="9525">
                  <a:solidFill>
                    <a:schemeClr val="tx1"/>
                  </a:solidFill>
                  <a:miter lim="800000"/>
                  <a:headEnd/>
                  <a:tailEnd/>
                </a:ln>
              </p:spPr>
              <p:txBody>
                <a:bodyPr wrap="none" anchor="ctr"/>
                <a:lstStyle/>
                <a:p>
                  <a:endParaRPr lang="en-US"/>
                </a:p>
              </p:txBody>
            </p:sp>
            <p:sp>
              <p:nvSpPr>
                <p:cNvPr id="10318" name="Rectangle 113"/>
                <p:cNvSpPr>
                  <a:spLocks noChangeArrowheads="1"/>
                </p:cNvSpPr>
                <p:nvPr/>
              </p:nvSpPr>
              <p:spPr bwMode="auto">
                <a:xfrm>
                  <a:off x="2420" y="2345"/>
                  <a:ext cx="275" cy="295"/>
                </a:xfrm>
                <a:prstGeom prst="rect">
                  <a:avLst/>
                </a:prstGeom>
                <a:solidFill>
                  <a:srgbClr val="800000"/>
                </a:solidFill>
                <a:ln w="9525">
                  <a:solidFill>
                    <a:schemeClr val="tx1"/>
                  </a:solidFill>
                  <a:miter lim="800000"/>
                  <a:headEnd/>
                  <a:tailEnd/>
                </a:ln>
              </p:spPr>
              <p:txBody>
                <a:bodyPr wrap="none" anchor="ctr"/>
                <a:lstStyle/>
                <a:p>
                  <a:endParaRPr lang="en-US"/>
                </a:p>
              </p:txBody>
            </p:sp>
            <p:sp>
              <p:nvSpPr>
                <p:cNvPr id="10319" name="Line 114"/>
                <p:cNvSpPr>
                  <a:spLocks noChangeShapeType="1"/>
                </p:cNvSpPr>
                <p:nvPr/>
              </p:nvSpPr>
              <p:spPr bwMode="auto">
                <a:xfrm flipV="1">
                  <a:off x="1481" y="1830"/>
                  <a:ext cx="961" cy="603"/>
                </a:xfrm>
                <a:prstGeom prst="line">
                  <a:avLst/>
                </a:prstGeom>
                <a:noFill/>
                <a:ln w="57150">
                  <a:solidFill>
                    <a:srgbClr val="800000"/>
                  </a:solidFill>
                  <a:round/>
                  <a:headEnd/>
                  <a:tailEnd/>
                </a:ln>
              </p:spPr>
              <p:txBody>
                <a:bodyPr/>
                <a:lstStyle/>
                <a:p>
                  <a:endParaRPr lang="en-GB"/>
                </a:p>
              </p:txBody>
            </p:sp>
            <p:sp>
              <p:nvSpPr>
                <p:cNvPr id="10320" name="Line 115"/>
                <p:cNvSpPr>
                  <a:spLocks noChangeShapeType="1"/>
                </p:cNvSpPr>
                <p:nvPr/>
              </p:nvSpPr>
              <p:spPr bwMode="auto">
                <a:xfrm flipV="1">
                  <a:off x="1440" y="1795"/>
                  <a:ext cx="111" cy="685"/>
                </a:xfrm>
                <a:prstGeom prst="line">
                  <a:avLst/>
                </a:prstGeom>
                <a:noFill/>
                <a:ln w="57150">
                  <a:solidFill>
                    <a:srgbClr val="800000"/>
                  </a:solidFill>
                  <a:round/>
                  <a:headEnd/>
                  <a:tailEnd/>
                </a:ln>
              </p:spPr>
              <p:txBody>
                <a:bodyPr/>
                <a:lstStyle/>
                <a:p>
                  <a:endParaRPr lang="en-GB"/>
                </a:p>
              </p:txBody>
            </p:sp>
            <p:sp>
              <p:nvSpPr>
                <p:cNvPr id="10321" name="Line 116"/>
                <p:cNvSpPr>
                  <a:spLocks noChangeShapeType="1"/>
                </p:cNvSpPr>
                <p:nvPr/>
              </p:nvSpPr>
              <p:spPr bwMode="auto">
                <a:xfrm flipH="1" flipV="1">
                  <a:off x="1592" y="1836"/>
                  <a:ext cx="1007" cy="672"/>
                </a:xfrm>
                <a:prstGeom prst="line">
                  <a:avLst/>
                </a:prstGeom>
                <a:noFill/>
                <a:ln w="57150">
                  <a:solidFill>
                    <a:srgbClr val="800000"/>
                  </a:solidFill>
                  <a:round/>
                  <a:headEnd/>
                  <a:tailEnd/>
                </a:ln>
              </p:spPr>
              <p:txBody>
                <a:bodyPr/>
                <a:lstStyle/>
                <a:p>
                  <a:endParaRPr lang="en-GB"/>
                </a:p>
              </p:txBody>
            </p:sp>
            <p:sp>
              <p:nvSpPr>
                <p:cNvPr id="10322" name="Line 117"/>
                <p:cNvSpPr>
                  <a:spLocks noChangeShapeType="1"/>
                </p:cNvSpPr>
                <p:nvPr/>
              </p:nvSpPr>
              <p:spPr bwMode="auto">
                <a:xfrm flipH="1" flipV="1">
                  <a:off x="2368" y="1699"/>
                  <a:ext cx="163" cy="761"/>
                </a:xfrm>
                <a:prstGeom prst="line">
                  <a:avLst/>
                </a:prstGeom>
                <a:noFill/>
                <a:ln w="57150">
                  <a:solidFill>
                    <a:srgbClr val="800000"/>
                  </a:solidFill>
                  <a:round/>
                  <a:headEnd/>
                  <a:tailEnd/>
                </a:ln>
              </p:spPr>
              <p:txBody>
                <a:bodyPr/>
                <a:lstStyle/>
                <a:p>
                  <a:endParaRPr lang="en-GB"/>
                </a:p>
              </p:txBody>
            </p:sp>
          </p:grpSp>
        </p:grpSp>
      </p:grpSp>
      <p:pic>
        <p:nvPicPr>
          <p:cNvPr id="149" name="Picture 2" descr="http://www.troyteq.com/upload/200912140744309865971.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22794" r="23206"/>
          <a:stretch/>
        </p:blipFill>
        <p:spPr bwMode="auto">
          <a:xfrm>
            <a:off x="6404730" y="4569461"/>
            <a:ext cx="297070" cy="550131"/>
          </a:xfrm>
          <a:prstGeom prst="rect">
            <a:avLst/>
          </a:prstGeom>
          <a:noFill/>
          <a:extLst>
            <a:ext uri="{909E8E84-426E-40DD-AFC4-6F175D3DCCD1}">
              <a14:hiddenFill xmlns:a14="http://schemas.microsoft.com/office/drawing/2010/main">
                <a:solidFill>
                  <a:srgbClr val="FFFFFF"/>
                </a:solidFill>
              </a14:hiddenFill>
            </a:ext>
          </a:extLst>
        </p:spPr>
      </p:pic>
      <p:pic>
        <p:nvPicPr>
          <p:cNvPr id="150" name="Picture 4" descr="Image result for mobile phone"/>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39158" r="37400"/>
          <a:stretch/>
        </p:blipFill>
        <p:spPr bwMode="auto">
          <a:xfrm>
            <a:off x="6905611" y="5493164"/>
            <a:ext cx="272381" cy="650687"/>
          </a:xfrm>
          <a:prstGeom prst="rect">
            <a:avLst/>
          </a:prstGeom>
          <a:noFill/>
          <a:extLst>
            <a:ext uri="{909E8E84-426E-40DD-AFC4-6F175D3DCCD1}">
              <a14:hiddenFill xmlns:a14="http://schemas.microsoft.com/office/drawing/2010/main">
                <a:solidFill>
                  <a:srgbClr val="FFFFFF"/>
                </a:solidFill>
              </a14:hiddenFill>
            </a:ext>
          </a:extLst>
        </p:spPr>
      </p:pic>
      <p:pic>
        <p:nvPicPr>
          <p:cNvPr id="152" name="Picture 4" descr="Image result for mobile phone"/>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39158" r="37400"/>
          <a:stretch/>
        </p:blipFill>
        <p:spPr bwMode="auto">
          <a:xfrm>
            <a:off x="7215145" y="5176975"/>
            <a:ext cx="228244" cy="545249"/>
          </a:xfrm>
          <a:prstGeom prst="rect">
            <a:avLst/>
          </a:prstGeom>
          <a:noFill/>
          <a:extLst>
            <a:ext uri="{909E8E84-426E-40DD-AFC4-6F175D3DCCD1}">
              <a14:hiddenFill xmlns:a14="http://schemas.microsoft.com/office/drawing/2010/main">
                <a:solidFill>
                  <a:srgbClr val="FFFFFF"/>
                </a:solidFill>
              </a14:hiddenFill>
            </a:ext>
          </a:extLst>
        </p:spPr>
      </p:pic>
      <p:pic>
        <p:nvPicPr>
          <p:cNvPr id="153" name="Picture 4" descr="Image result for mobile phone"/>
          <p:cNvPicPr>
            <a:picLocks noChangeAspect="1" noChangeArrowheads="1"/>
          </p:cNvPicPr>
          <p:nvPr/>
        </p:nvPicPr>
        <p:blipFill rotWithShape="1">
          <a:blip r:embed="rId3">
            <a:extLst>
              <a:ext uri="{28A0092B-C50C-407E-A947-70E740481C1C}">
                <a14:useLocalDpi xmlns:a14="http://schemas.microsoft.com/office/drawing/2010/main" val="0"/>
              </a:ext>
            </a:extLst>
          </a:blip>
          <a:srcRect l="39158" r="37400"/>
          <a:stretch/>
        </p:blipFill>
        <p:spPr bwMode="auto">
          <a:xfrm>
            <a:off x="6404620" y="5508216"/>
            <a:ext cx="436201" cy="1042035"/>
          </a:xfrm>
          <a:prstGeom prst="rect">
            <a:avLst/>
          </a:prstGeom>
          <a:noFill/>
          <a:extLst>
            <a:ext uri="{909E8E84-426E-40DD-AFC4-6F175D3DCCD1}">
              <a14:hiddenFill xmlns:a14="http://schemas.microsoft.com/office/drawing/2010/main">
                <a:solidFill>
                  <a:srgbClr val="FFFFFF"/>
                </a:solidFill>
              </a14:hiddenFill>
            </a:ext>
          </a:extLst>
        </p:spPr>
      </p:pic>
      <p:grpSp>
        <p:nvGrpSpPr>
          <p:cNvPr id="154" name="Group 153"/>
          <p:cNvGrpSpPr/>
          <p:nvPr/>
        </p:nvGrpSpPr>
        <p:grpSpPr>
          <a:xfrm rot="1416803">
            <a:off x="6600758" y="5125266"/>
            <a:ext cx="316238" cy="343467"/>
            <a:chOff x="8293395" y="4667693"/>
            <a:chExt cx="585869" cy="948921"/>
          </a:xfrm>
        </p:grpSpPr>
        <p:sp>
          <p:nvSpPr>
            <p:cNvPr id="155" name="Freeform 154"/>
            <p:cNvSpPr/>
            <p:nvPr/>
          </p:nvSpPr>
          <p:spPr bwMode="auto">
            <a:xfrm>
              <a:off x="8293395" y="4667693"/>
              <a:ext cx="340855" cy="744279"/>
            </a:xfrm>
            <a:custGeom>
              <a:avLst/>
              <a:gdLst>
                <a:gd name="connsiteX0" fmla="*/ 0 w 340855"/>
                <a:gd name="connsiteY0" fmla="*/ 744279 h 744279"/>
                <a:gd name="connsiteX1" fmla="*/ 180754 w 340855"/>
                <a:gd name="connsiteY1" fmla="*/ 595423 h 744279"/>
                <a:gd name="connsiteX2" fmla="*/ 329610 w 340855"/>
                <a:gd name="connsiteY2" fmla="*/ 255181 h 744279"/>
                <a:gd name="connsiteX3" fmla="*/ 318977 w 340855"/>
                <a:gd name="connsiteY3" fmla="*/ 0 h 744279"/>
              </a:gdLst>
              <a:ahLst/>
              <a:cxnLst>
                <a:cxn ang="0">
                  <a:pos x="connsiteX0" y="connsiteY0"/>
                </a:cxn>
                <a:cxn ang="0">
                  <a:pos x="connsiteX1" y="connsiteY1"/>
                </a:cxn>
                <a:cxn ang="0">
                  <a:pos x="connsiteX2" y="connsiteY2"/>
                </a:cxn>
                <a:cxn ang="0">
                  <a:pos x="connsiteX3" y="connsiteY3"/>
                </a:cxn>
              </a:cxnLst>
              <a:rect l="l" t="t" r="r" b="b"/>
              <a:pathLst>
                <a:path w="340855" h="744279">
                  <a:moveTo>
                    <a:pt x="0" y="744279"/>
                  </a:moveTo>
                  <a:cubicBezTo>
                    <a:pt x="62909" y="710609"/>
                    <a:pt x="125819" y="676939"/>
                    <a:pt x="180754" y="595423"/>
                  </a:cubicBezTo>
                  <a:cubicBezTo>
                    <a:pt x="235689" y="513907"/>
                    <a:pt x="306573" y="354418"/>
                    <a:pt x="329610" y="255181"/>
                  </a:cubicBezTo>
                  <a:cubicBezTo>
                    <a:pt x="352647" y="155944"/>
                    <a:pt x="335812" y="77972"/>
                    <a:pt x="318977" y="0"/>
                  </a:cubicBezTo>
                </a:path>
              </a:pathLst>
            </a:custGeom>
            <a:noFill/>
            <a:ln w="9525" cap="flat" cmpd="sng" algn="ctr">
              <a:solidFill>
                <a:srgbClr val="8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56" name="Freeform 155"/>
            <p:cNvSpPr/>
            <p:nvPr/>
          </p:nvSpPr>
          <p:spPr bwMode="auto">
            <a:xfrm>
              <a:off x="8403397" y="4786114"/>
              <a:ext cx="340855" cy="744279"/>
            </a:xfrm>
            <a:custGeom>
              <a:avLst/>
              <a:gdLst>
                <a:gd name="connsiteX0" fmla="*/ 0 w 340855"/>
                <a:gd name="connsiteY0" fmla="*/ 744279 h 744279"/>
                <a:gd name="connsiteX1" fmla="*/ 180754 w 340855"/>
                <a:gd name="connsiteY1" fmla="*/ 595423 h 744279"/>
                <a:gd name="connsiteX2" fmla="*/ 329610 w 340855"/>
                <a:gd name="connsiteY2" fmla="*/ 255181 h 744279"/>
                <a:gd name="connsiteX3" fmla="*/ 318977 w 340855"/>
                <a:gd name="connsiteY3" fmla="*/ 0 h 744279"/>
              </a:gdLst>
              <a:ahLst/>
              <a:cxnLst>
                <a:cxn ang="0">
                  <a:pos x="connsiteX0" y="connsiteY0"/>
                </a:cxn>
                <a:cxn ang="0">
                  <a:pos x="connsiteX1" y="connsiteY1"/>
                </a:cxn>
                <a:cxn ang="0">
                  <a:pos x="connsiteX2" y="connsiteY2"/>
                </a:cxn>
                <a:cxn ang="0">
                  <a:pos x="connsiteX3" y="connsiteY3"/>
                </a:cxn>
              </a:cxnLst>
              <a:rect l="l" t="t" r="r" b="b"/>
              <a:pathLst>
                <a:path w="340855" h="744279">
                  <a:moveTo>
                    <a:pt x="0" y="744279"/>
                  </a:moveTo>
                  <a:cubicBezTo>
                    <a:pt x="62909" y="710609"/>
                    <a:pt x="125819" y="676939"/>
                    <a:pt x="180754" y="595423"/>
                  </a:cubicBezTo>
                  <a:cubicBezTo>
                    <a:pt x="235689" y="513907"/>
                    <a:pt x="306573" y="354418"/>
                    <a:pt x="329610" y="255181"/>
                  </a:cubicBezTo>
                  <a:cubicBezTo>
                    <a:pt x="352647" y="155944"/>
                    <a:pt x="335812" y="77972"/>
                    <a:pt x="318977" y="0"/>
                  </a:cubicBezTo>
                </a:path>
              </a:pathLst>
            </a:custGeom>
            <a:noFill/>
            <a:ln w="9525" cap="flat" cmpd="sng" algn="ctr">
              <a:solidFill>
                <a:srgbClr val="8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57" name="Freeform 156"/>
            <p:cNvSpPr/>
            <p:nvPr/>
          </p:nvSpPr>
          <p:spPr bwMode="auto">
            <a:xfrm>
              <a:off x="8538409" y="4872335"/>
              <a:ext cx="340855" cy="744279"/>
            </a:xfrm>
            <a:custGeom>
              <a:avLst/>
              <a:gdLst>
                <a:gd name="connsiteX0" fmla="*/ 0 w 340855"/>
                <a:gd name="connsiteY0" fmla="*/ 744279 h 744279"/>
                <a:gd name="connsiteX1" fmla="*/ 180754 w 340855"/>
                <a:gd name="connsiteY1" fmla="*/ 595423 h 744279"/>
                <a:gd name="connsiteX2" fmla="*/ 329610 w 340855"/>
                <a:gd name="connsiteY2" fmla="*/ 255181 h 744279"/>
                <a:gd name="connsiteX3" fmla="*/ 318977 w 340855"/>
                <a:gd name="connsiteY3" fmla="*/ 0 h 744279"/>
              </a:gdLst>
              <a:ahLst/>
              <a:cxnLst>
                <a:cxn ang="0">
                  <a:pos x="connsiteX0" y="connsiteY0"/>
                </a:cxn>
                <a:cxn ang="0">
                  <a:pos x="connsiteX1" y="connsiteY1"/>
                </a:cxn>
                <a:cxn ang="0">
                  <a:pos x="connsiteX2" y="connsiteY2"/>
                </a:cxn>
                <a:cxn ang="0">
                  <a:pos x="connsiteX3" y="connsiteY3"/>
                </a:cxn>
              </a:cxnLst>
              <a:rect l="l" t="t" r="r" b="b"/>
              <a:pathLst>
                <a:path w="340855" h="744279">
                  <a:moveTo>
                    <a:pt x="0" y="744279"/>
                  </a:moveTo>
                  <a:cubicBezTo>
                    <a:pt x="62909" y="710609"/>
                    <a:pt x="125819" y="676939"/>
                    <a:pt x="180754" y="595423"/>
                  </a:cubicBezTo>
                  <a:cubicBezTo>
                    <a:pt x="235689" y="513907"/>
                    <a:pt x="306573" y="354418"/>
                    <a:pt x="329610" y="255181"/>
                  </a:cubicBezTo>
                  <a:cubicBezTo>
                    <a:pt x="352647" y="155944"/>
                    <a:pt x="335812" y="77972"/>
                    <a:pt x="318977" y="0"/>
                  </a:cubicBezTo>
                </a:path>
              </a:pathLst>
            </a:custGeom>
            <a:noFill/>
            <a:ln w="9525" cap="flat" cmpd="sng" algn="ctr">
              <a:solidFill>
                <a:srgbClr val="8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grpSp>
      <p:sp>
        <p:nvSpPr>
          <p:cNvPr id="10242" name="Text Box 2"/>
          <p:cNvSpPr txBox="1">
            <a:spLocks noChangeArrowheads="1"/>
          </p:cNvSpPr>
          <p:nvPr/>
        </p:nvSpPr>
        <p:spPr bwMode="auto">
          <a:xfrm>
            <a:off x="381000" y="379413"/>
            <a:ext cx="5772150" cy="457200"/>
          </a:xfrm>
          <a:prstGeom prst="rect">
            <a:avLst/>
          </a:prstGeom>
          <a:noFill/>
          <a:ln w="9525">
            <a:noFill/>
            <a:miter lim="800000"/>
            <a:headEnd/>
            <a:tailEnd/>
          </a:ln>
        </p:spPr>
        <p:txBody>
          <a:bodyPr wrap="none">
            <a:spAutoFit/>
          </a:bodyPr>
          <a:lstStyle/>
          <a:p>
            <a:r>
              <a:rPr lang="en-GB" sz="2400" b="1"/>
              <a:t>Telephone Network – Internet Overlay</a:t>
            </a:r>
            <a:endParaRPr lang="en-US" sz="2400" b="1"/>
          </a:p>
        </p:txBody>
      </p:sp>
      <p:sp>
        <p:nvSpPr>
          <p:cNvPr id="10244" name="Rectangle 118"/>
          <p:cNvSpPr>
            <a:spLocks noChangeArrowheads="1"/>
          </p:cNvSpPr>
          <p:nvPr/>
        </p:nvSpPr>
        <p:spPr bwMode="auto">
          <a:xfrm>
            <a:off x="130837" y="1050932"/>
            <a:ext cx="8207375" cy="5476477"/>
          </a:xfrm>
          <a:prstGeom prst="rect">
            <a:avLst/>
          </a:prstGeom>
          <a:solidFill>
            <a:srgbClr val="FFFFFF">
              <a:alpha val="61960"/>
            </a:srgbClr>
          </a:solidFill>
          <a:ln w="9525">
            <a:noFill/>
            <a:miter lim="800000"/>
            <a:headEnd/>
            <a:tailEnd/>
          </a:ln>
        </p:spPr>
        <p:txBody>
          <a:bodyPr wrap="none" anchor="ctr"/>
          <a:lstStyle/>
          <a:p>
            <a:pPr algn="ctr"/>
            <a:endParaRPr lang="en-US" sz="2400" i="1"/>
          </a:p>
        </p:txBody>
      </p:sp>
      <p:sp>
        <p:nvSpPr>
          <p:cNvPr id="10245" name="AutoShape 119"/>
          <p:cNvSpPr>
            <a:spLocks noChangeArrowheads="1"/>
          </p:cNvSpPr>
          <p:nvPr/>
        </p:nvSpPr>
        <p:spPr bwMode="auto">
          <a:xfrm>
            <a:off x="5778500" y="3113088"/>
            <a:ext cx="588963" cy="533400"/>
          </a:xfrm>
          <a:prstGeom prst="plus">
            <a:avLst>
              <a:gd name="adj" fmla="val 25000"/>
            </a:avLst>
          </a:prstGeom>
          <a:solidFill>
            <a:srgbClr val="00CC66"/>
          </a:solidFill>
          <a:ln w="9525">
            <a:solidFill>
              <a:schemeClr val="tx1"/>
            </a:solidFill>
            <a:miter lim="800000"/>
            <a:headEnd/>
            <a:tailEnd/>
          </a:ln>
        </p:spPr>
        <p:txBody>
          <a:bodyPr wrap="none" anchor="ctr"/>
          <a:lstStyle/>
          <a:p>
            <a:endParaRPr lang="en-US"/>
          </a:p>
        </p:txBody>
      </p:sp>
      <p:sp>
        <p:nvSpPr>
          <p:cNvPr id="10246" name="AutoShape 120"/>
          <p:cNvSpPr>
            <a:spLocks noChangeArrowheads="1"/>
          </p:cNvSpPr>
          <p:nvPr/>
        </p:nvSpPr>
        <p:spPr bwMode="auto">
          <a:xfrm>
            <a:off x="4092575" y="4494213"/>
            <a:ext cx="588963" cy="533400"/>
          </a:xfrm>
          <a:prstGeom prst="plus">
            <a:avLst>
              <a:gd name="adj" fmla="val 25000"/>
            </a:avLst>
          </a:prstGeom>
          <a:solidFill>
            <a:srgbClr val="66FF33"/>
          </a:solidFill>
          <a:ln w="9525">
            <a:solidFill>
              <a:schemeClr val="tx1"/>
            </a:solidFill>
            <a:miter lim="800000"/>
            <a:headEnd/>
            <a:tailEnd/>
          </a:ln>
        </p:spPr>
        <p:txBody>
          <a:bodyPr wrap="none" anchor="ctr"/>
          <a:lstStyle/>
          <a:p>
            <a:endParaRPr lang="en-US"/>
          </a:p>
        </p:txBody>
      </p:sp>
      <p:sp>
        <p:nvSpPr>
          <p:cNvPr id="10247" name="AutoShape 121"/>
          <p:cNvSpPr>
            <a:spLocks noChangeArrowheads="1"/>
          </p:cNvSpPr>
          <p:nvPr/>
        </p:nvSpPr>
        <p:spPr bwMode="auto">
          <a:xfrm>
            <a:off x="2911475" y="2276475"/>
            <a:ext cx="441325" cy="385763"/>
          </a:xfrm>
          <a:prstGeom prst="triangle">
            <a:avLst>
              <a:gd name="adj" fmla="val 50000"/>
            </a:avLst>
          </a:prstGeom>
          <a:noFill/>
          <a:ln w="38100">
            <a:solidFill>
              <a:srgbClr val="00CC66"/>
            </a:solidFill>
            <a:miter lim="800000"/>
            <a:headEnd/>
            <a:tailEnd/>
          </a:ln>
        </p:spPr>
        <p:txBody>
          <a:bodyPr wrap="none" anchor="ctr"/>
          <a:lstStyle/>
          <a:p>
            <a:endParaRPr lang="en-US"/>
          </a:p>
        </p:txBody>
      </p:sp>
      <p:sp>
        <p:nvSpPr>
          <p:cNvPr id="10249" name="Line 123"/>
          <p:cNvSpPr>
            <a:spLocks noChangeShapeType="1"/>
          </p:cNvSpPr>
          <p:nvPr/>
        </p:nvSpPr>
        <p:spPr bwMode="auto">
          <a:xfrm flipV="1">
            <a:off x="2122488" y="2514600"/>
            <a:ext cx="871537" cy="11113"/>
          </a:xfrm>
          <a:prstGeom prst="line">
            <a:avLst/>
          </a:prstGeom>
          <a:noFill/>
          <a:ln w="19050">
            <a:solidFill>
              <a:srgbClr val="00CC66"/>
            </a:solidFill>
            <a:round/>
            <a:headEnd/>
            <a:tailEnd/>
          </a:ln>
        </p:spPr>
        <p:txBody>
          <a:bodyPr/>
          <a:lstStyle/>
          <a:p>
            <a:endParaRPr lang="en-GB"/>
          </a:p>
        </p:txBody>
      </p:sp>
      <p:sp>
        <p:nvSpPr>
          <p:cNvPr id="10250" name="Line 124"/>
          <p:cNvSpPr>
            <a:spLocks noChangeShapeType="1"/>
          </p:cNvSpPr>
          <p:nvPr/>
        </p:nvSpPr>
        <p:spPr bwMode="auto">
          <a:xfrm flipV="1">
            <a:off x="1806575" y="2536825"/>
            <a:ext cx="360363" cy="228600"/>
          </a:xfrm>
          <a:prstGeom prst="line">
            <a:avLst/>
          </a:prstGeom>
          <a:noFill/>
          <a:ln w="19050">
            <a:solidFill>
              <a:srgbClr val="00CC66"/>
            </a:solidFill>
            <a:round/>
            <a:headEnd/>
            <a:tailEnd/>
          </a:ln>
        </p:spPr>
        <p:txBody>
          <a:bodyPr/>
          <a:lstStyle/>
          <a:p>
            <a:endParaRPr lang="en-GB"/>
          </a:p>
        </p:txBody>
      </p:sp>
      <p:sp>
        <p:nvSpPr>
          <p:cNvPr id="10251" name="Line 125"/>
          <p:cNvSpPr>
            <a:spLocks noChangeShapeType="1"/>
          </p:cNvSpPr>
          <p:nvPr/>
        </p:nvSpPr>
        <p:spPr bwMode="auto">
          <a:xfrm>
            <a:off x="3330575" y="2655888"/>
            <a:ext cx="546100" cy="239712"/>
          </a:xfrm>
          <a:prstGeom prst="line">
            <a:avLst/>
          </a:prstGeom>
          <a:noFill/>
          <a:ln w="28575">
            <a:solidFill>
              <a:srgbClr val="00CC66"/>
            </a:solidFill>
            <a:round/>
            <a:headEnd/>
            <a:tailEnd/>
          </a:ln>
        </p:spPr>
        <p:txBody>
          <a:bodyPr/>
          <a:lstStyle/>
          <a:p>
            <a:endParaRPr lang="en-GB"/>
          </a:p>
        </p:txBody>
      </p:sp>
      <p:sp>
        <p:nvSpPr>
          <p:cNvPr id="10252" name="Line 126"/>
          <p:cNvSpPr>
            <a:spLocks noChangeShapeType="1"/>
          </p:cNvSpPr>
          <p:nvPr/>
        </p:nvSpPr>
        <p:spPr bwMode="auto">
          <a:xfrm>
            <a:off x="4213225" y="3222625"/>
            <a:ext cx="1344613" cy="908050"/>
          </a:xfrm>
          <a:prstGeom prst="line">
            <a:avLst/>
          </a:prstGeom>
          <a:noFill/>
          <a:ln w="28575">
            <a:solidFill>
              <a:srgbClr val="00CC66"/>
            </a:solidFill>
            <a:round/>
            <a:headEnd/>
            <a:tailEnd/>
          </a:ln>
        </p:spPr>
        <p:txBody>
          <a:bodyPr/>
          <a:lstStyle/>
          <a:p>
            <a:endParaRPr lang="en-GB"/>
          </a:p>
        </p:txBody>
      </p:sp>
      <p:sp>
        <p:nvSpPr>
          <p:cNvPr id="10253" name="Line 127"/>
          <p:cNvSpPr>
            <a:spLocks noChangeShapeType="1"/>
          </p:cNvSpPr>
          <p:nvPr/>
        </p:nvSpPr>
        <p:spPr bwMode="auto">
          <a:xfrm flipH="1" flipV="1">
            <a:off x="5497513" y="3265488"/>
            <a:ext cx="184150" cy="750887"/>
          </a:xfrm>
          <a:prstGeom prst="line">
            <a:avLst/>
          </a:prstGeom>
          <a:noFill/>
          <a:ln w="28575">
            <a:solidFill>
              <a:srgbClr val="00CC66"/>
            </a:solidFill>
            <a:round/>
            <a:headEnd/>
            <a:tailEnd/>
          </a:ln>
        </p:spPr>
        <p:txBody>
          <a:bodyPr/>
          <a:lstStyle/>
          <a:p>
            <a:endParaRPr lang="en-GB"/>
          </a:p>
        </p:txBody>
      </p:sp>
      <p:sp>
        <p:nvSpPr>
          <p:cNvPr id="10254" name="Line 128"/>
          <p:cNvSpPr>
            <a:spLocks noChangeShapeType="1"/>
          </p:cNvSpPr>
          <p:nvPr/>
        </p:nvSpPr>
        <p:spPr bwMode="auto">
          <a:xfrm>
            <a:off x="5703888" y="3124200"/>
            <a:ext cx="217487" cy="119063"/>
          </a:xfrm>
          <a:prstGeom prst="line">
            <a:avLst/>
          </a:prstGeom>
          <a:noFill/>
          <a:ln w="38100">
            <a:solidFill>
              <a:srgbClr val="00CC66"/>
            </a:solidFill>
            <a:round/>
            <a:headEnd/>
            <a:tailEnd/>
          </a:ln>
        </p:spPr>
        <p:txBody>
          <a:bodyPr/>
          <a:lstStyle/>
          <a:p>
            <a:endParaRPr lang="en-GB"/>
          </a:p>
        </p:txBody>
      </p:sp>
      <p:sp>
        <p:nvSpPr>
          <p:cNvPr id="10255" name="Text Box 129"/>
          <p:cNvSpPr txBox="1">
            <a:spLocks noChangeArrowheads="1"/>
          </p:cNvSpPr>
          <p:nvPr/>
        </p:nvSpPr>
        <p:spPr bwMode="auto">
          <a:xfrm>
            <a:off x="6808788" y="1096963"/>
            <a:ext cx="184150" cy="457200"/>
          </a:xfrm>
          <a:prstGeom prst="rect">
            <a:avLst/>
          </a:prstGeom>
          <a:noFill/>
          <a:ln w="9525">
            <a:noFill/>
            <a:miter lim="800000"/>
            <a:headEnd/>
            <a:tailEnd/>
          </a:ln>
        </p:spPr>
        <p:txBody>
          <a:bodyPr wrap="none">
            <a:spAutoFit/>
          </a:bodyPr>
          <a:lstStyle/>
          <a:p>
            <a:endParaRPr lang="en-US" sz="2400"/>
          </a:p>
        </p:txBody>
      </p:sp>
      <p:sp>
        <p:nvSpPr>
          <p:cNvPr id="10257" name="Text Box 131"/>
          <p:cNvSpPr txBox="1">
            <a:spLocks noChangeArrowheads="1"/>
          </p:cNvSpPr>
          <p:nvPr/>
        </p:nvSpPr>
        <p:spPr bwMode="auto">
          <a:xfrm>
            <a:off x="6429375" y="2782888"/>
            <a:ext cx="1941513" cy="1190625"/>
          </a:xfrm>
          <a:prstGeom prst="rect">
            <a:avLst/>
          </a:prstGeom>
          <a:solidFill>
            <a:srgbClr val="FFFFFF"/>
          </a:solidFill>
          <a:ln w="9525">
            <a:noFill/>
            <a:miter lim="800000"/>
            <a:headEnd/>
            <a:tailEnd/>
          </a:ln>
        </p:spPr>
        <p:txBody>
          <a:bodyPr>
            <a:spAutoFit/>
          </a:bodyPr>
          <a:lstStyle/>
          <a:p>
            <a:r>
              <a:rPr lang="en-GB" dirty="0"/>
              <a:t>ISP equipment (Internet Service Provider)</a:t>
            </a:r>
            <a:endParaRPr lang="en-US" dirty="0"/>
          </a:p>
        </p:txBody>
      </p:sp>
      <p:sp>
        <p:nvSpPr>
          <p:cNvPr id="10258" name="Text Box 132"/>
          <p:cNvSpPr txBox="1">
            <a:spLocks noChangeArrowheads="1"/>
          </p:cNvSpPr>
          <p:nvPr/>
        </p:nvSpPr>
        <p:spPr bwMode="auto">
          <a:xfrm>
            <a:off x="4557713" y="4979988"/>
            <a:ext cx="722312" cy="366712"/>
          </a:xfrm>
          <a:prstGeom prst="rect">
            <a:avLst/>
          </a:prstGeom>
          <a:solidFill>
            <a:srgbClr val="FFFFFF"/>
          </a:solidFill>
          <a:ln w="9525">
            <a:noFill/>
            <a:miter lim="800000"/>
            <a:headEnd/>
            <a:tailEnd/>
          </a:ln>
        </p:spPr>
        <p:txBody>
          <a:bodyPr>
            <a:spAutoFit/>
          </a:bodyPr>
          <a:lstStyle/>
          <a:p>
            <a:r>
              <a:rPr lang="en-GB"/>
              <a:t>ISP</a:t>
            </a:r>
            <a:endParaRPr lang="en-US"/>
          </a:p>
        </p:txBody>
      </p:sp>
      <p:sp>
        <p:nvSpPr>
          <p:cNvPr id="10259" name="Line 133"/>
          <p:cNvSpPr>
            <a:spLocks noChangeShapeType="1"/>
          </p:cNvSpPr>
          <p:nvPr/>
        </p:nvSpPr>
        <p:spPr bwMode="auto">
          <a:xfrm flipH="1">
            <a:off x="4137025" y="3090863"/>
            <a:ext cx="1524000" cy="915987"/>
          </a:xfrm>
          <a:prstGeom prst="line">
            <a:avLst/>
          </a:prstGeom>
          <a:noFill/>
          <a:ln w="57150">
            <a:solidFill>
              <a:srgbClr val="66FF33"/>
            </a:solidFill>
            <a:round/>
            <a:headEnd/>
            <a:tailEnd/>
          </a:ln>
        </p:spPr>
        <p:txBody>
          <a:bodyPr/>
          <a:lstStyle/>
          <a:p>
            <a:endParaRPr lang="en-GB"/>
          </a:p>
        </p:txBody>
      </p:sp>
      <p:sp>
        <p:nvSpPr>
          <p:cNvPr id="10260" name="Line 134"/>
          <p:cNvSpPr>
            <a:spLocks noChangeShapeType="1"/>
          </p:cNvSpPr>
          <p:nvPr/>
        </p:nvSpPr>
        <p:spPr bwMode="auto">
          <a:xfrm>
            <a:off x="4103688" y="4538663"/>
            <a:ext cx="98425" cy="98425"/>
          </a:xfrm>
          <a:prstGeom prst="line">
            <a:avLst/>
          </a:prstGeom>
          <a:noFill/>
          <a:ln w="57150">
            <a:solidFill>
              <a:srgbClr val="66FF33"/>
            </a:solidFill>
            <a:round/>
            <a:headEnd/>
            <a:tailEnd/>
          </a:ln>
        </p:spPr>
        <p:txBody>
          <a:bodyPr/>
          <a:lstStyle/>
          <a:p>
            <a:endParaRPr lang="en-GB"/>
          </a:p>
        </p:txBody>
      </p:sp>
      <p:sp>
        <p:nvSpPr>
          <p:cNvPr id="10262" name="Line 136"/>
          <p:cNvSpPr>
            <a:spLocks noChangeShapeType="1"/>
          </p:cNvSpPr>
          <p:nvPr/>
        </p:nvSpPr>
        <p:spPr bwMode="auto">
          <a:xfrm>
            <a:off x="3908425" y="4538663"/>
            <a:ext cx="76200" cy="795337"/>
          </a:xfrm>
          <a:prstGeom prst="line">
            <a:avLst/>
          </a:prstGeom>
          <a:noFill/>
          <a:ln w="28575">
            <a:solidFill>
              <a:srgbClr val="66FF33"/>
            </a:solidFill>
            <a:round/>
            <a:headEnd/>
            <a:tailEnd/>
          </a:ln>
        </p:spPr>
        <p:txBody>
          <a:bodyPr/>
          <a:lstStyle/>
          <a:p>
            <a:endParaRPr lang="en-GB"/>
          </a:p>
        </p:txBody>
      </p:sp>
      <p:sp>
        <p:nvSpPr>
          <p:cNvPr id="10263" name="Line 137"/>
          <p:cNvSpPr>
            <a:spLocks noChangeShapeType="1"/>
          </p:cNvSpPr>
          <p:nvPr/>
        </p:nvSpPr>
        <p:spPr bwMode="auto">
          <a:xfrm>
            <a:off x="4029075" y="5668963"/>
            <a:ext cx="128588" cy="404812"/>
          </a:xfrm>
          <a:prstGeom prst="line">
            <a:avLst/>
          </a:prstGeom>
          <a:noFill/>
          <a:ln w="28575">
            <a:solidFill>
              <a:srgbClr val="66FF33"/>
            </a:solidFill>
            <a:round/>
            <a:headEnd/>
            <a:tailEnd/>
          </a:ln>
        </p:spPr>
        <p:txBody>
          <a:bodyPr/>
          <a:lstStyle/>
          <a:p>
            <a:endParaRPr lang="en-GB"/>
          </a:p>
        </p:txBody>
      </p:sp>
      <p:sp>
        <p:nvSpPr>
          <p:cNvPr id="10264" name="Line 138"/>
          <p:cNvSpPr>
            <a:spLocks noChangeShapeType="1"/>
          </p:cNvSpPr>
          <p:nvPr/>
        </p:nvSpPr>
        <p:spPr bwMode="auto">
          <a:xfrm>
            <a:off x="4156075" y="6094413"/>
            <a:ext cx="185738" cy="0"/>
          </a:xfrm>
          <a:prstGeom prst="line">
            <a:avLst/>
          </a:prstGeom>
          <a:noFill/>
          <a:ln w="28575">
            <a:solidFill>
              <a:srgbClr val="66FF33"/>
            </a:solidFill>
            <a:round/>
            <a:headEnd/>
            <a:tailEnd/>
          </a:ln>
        </p:spPr>
        <p:txBody>
          <a:bodyPr/>
          <a:lstStyle/>
          <a:p>
            <a:endParaRPr lang="en-GB"/>
          </a:p>
        </p:txBody>
      </p:sp>
      <p:sp>
        <p:nvSpPr>
          <p:cNvPr id="10266" name="Text Box 140"/>
          <p:cNvSpPr txBox="1">
            <a:spLocks noChangeArrowheads="1"/>
          </p:cNvSpPr>
          <p:nvPr/>
        </p:nvSpPr>
        <p:spPr bwMode="auto">
          <a:xfrm>
            <a:off x="0" y="4894531"/>
            <a:ext cx="1679575" cy="1569660"/>
          </a:xfrm>
          <a:prstGeom prst="rect">
            <a:avLst/>
          </a:prstGeom>
          <a:solidFill>
            <a:schemeClr val="hlink"/>
          </a:solidFill>
          <a:ln w="9525">
            <a:noFill/>
            <a:miter lim="800000"/>
            <a:headEnd/>
            <a:tailEnd/>
          </a:ln>
        </p:spPr>
        <p:txBody>
          <a:bodyPr>
            <a:spAutoFit/>
          </a:bodyPr>
          <a:lstStyle/>
          <a:p>
            <a:pPr marL="174625" indent="-174625"/>
            <a:r>
              <a:rPr lang="en-GB" sz="1600" dirty="0"/>
              <a:t>Many ISP’s: </a:t>
            </a:r>
          </a:p>
          <a:p>
            <a:pPr marL="174625" indent="-174625">
              <a:buFontTx/>
              <a:buChar char="•"/>
            </a:pPr>
            <a:r>
              <a:rPr lang="en-GB" sz="1600" dirty="0"/>
              <a:t>calls routed across telephone network to ISPs’ servers</a:t>
            </a:r>
          </a:p>
        </p:txBody>
      </p:sp>
      <p:sp>
        <p:nvSpPr>
          <p:cNvPr id="50178" name="AutoShape 2" descr="data:image/jpeg;base64,/9j/4AAQSkZJRgABAQAAAQABAAD/2wCEAAkGBwgHBgkIBwgKCgkLDRYPDQwMDRsUFRAWIB0iIiAdHx8kKDQsJCYxJx8fLT0tMTU3Ojo6Iys/RD84QzQ5OjcBCgoKDQwNGg8PGjclHyU3Nzc3Nzc3Nzc3Nzc3Nzc3Nzc3Nzc3Nzc3Nzc3Nzc3Nzc3Nzc3Nzc3Nzc3Nzc3Nzc3N//AABEIAFoAewMBIgACEQEDEQH/xAAbAAACAgMBAAAAAAAAAAAAAAAABgQFAgMHAf/EAEkQAAIBAwICBAkGBxEBAAAAAAECAwAEEQUSITEGE0FxIlFhYoGRobHRFDJSgqLBIzNCU3KSkxUXJCY0Q0VUZHN0g6OywtLhB//EABoBAAIDAQEAAAAAAAAAAAAAAAABAgMFBAf/xAAtEQACAgEBBQUJAQAAAAAAAAAAAQIRAxIEITFRYRNSkbHRBSIzNEFxcoGhFP/aAAwDAQACEQMRAD8A7jRRXOZunmqpdXEKWtoRFM8YGxyfBYj6Xko6h0OjUVzcdPdY7bK2/ZyfGti9P9SHz9NhPdvFR7SHeXiiWiXJnRKK59++Dej+iYz/AJrD/jXo/wDoV3+VpCHunb/pRrh3l4oNEuR0Cilvov0p/dya6jmtVteoRWz127OSQewYxj21Zz69o9u22fVbGNvotcID6s1IiWNFVC9J9BIydZsF/TuFX3mpUOr6ZOMw6jaSDzJ1P30ATaKxV1YZVgQe0GsqACiiigAooooAK4+Y+r6U32OS383D0k/fXYK5Zexbek+pf40+1V+NU7V8tk/F+RZhdZYvqh9Kwn+aj/VFedXB+Zi/UFRxJ4IJPOvesrG/1ROzQzd1Vv8A1eH9QVhJb2rIw+TQ8vzYrDfRvoe0QrgPS+ZyvUbdfl67kVvxnMZx4S/GhYuGKsdaQRXKvjm7r68H7qixtlgMc639jlezY30XkZ+b4kvuxu0/UfkOkafEXVQ0bHiAfyv/AGs31eGQfhI7WQefCD99Q1vI7WyskmIwY2xnHPNa21Gxb5wiPfGh94q6ismQGxuZYnhsbKOaK7tSssUAVhmUZ49wp+FIGkTQXFyi26xgC5tySiKuTuY9gHip/quXEkgoooqIwooooAK53qUOOk2pn+0xN60T4V0SknVIv4x6ow57YH+yfhVeZXimujHF1JMzZCxyeNeorLxViO41LMeOfCsSYxzkQfWFeVKc29xtdqjBZZRzIPfXrSOwxgDNe74uxwe7jXu5OwOe5G+FdUFts1UYyf6ZB5MaFLpNEVjjYDldDP7NqqLbjOg8tM/SuMjS5ZtpAEyHj5cL99LFmc3UQ84V6V7PUo7JjUlTpGRldzbQ7WDFLSIZxhalK/bmqvwmRU/JHZW2DdEeHLtFdlFZYqxN7Yjx3K+4010oWTGXVLAY4CYn7DGm+qpcSSCiiiojCiiigApU1Neq6RXUkkFw8c1tEAY7d5ASC4IyoOOY50yzEgZ7KpdR1KO1UtK6qPGzbRTToTK+4lS2t5bh9NuTFEhd32xptUDJPhsDyqjTphDJEJLTTJSDy62QJw9AatXSXpALvT5LS2kRuvIjLL4QxzIzy4gY9NGnaQJoE+TbZEUAZU1ZBJfQTLBtavW0hNQWC1h6yVo1ictIfBVjnPg/QIqgfpbqr5wbeP8Au4viTWi60zX7WdJLnTZp7eF5DGITuADBh2AkfOJ5ZqEosXJVpJrdl+d1icAff7KLFRvvNY1C+hMN3dvJExBKbFUHBBHIDtArHTjm+gHnivRpckmPk80UueQDYJ9HOs7KyurfUbfroWUCRc576YDnsC86wdwKmzWxkTCYDDlUIWN3I+0RkecSMCmBK0fJ1GybxzsP9J6caWbKOKG+06JHUskrEgHj+LcZx6aZRVU+JJHtFFFRGFFFFAHhAIwaqbvo5pt1dtdvHKs7AAukzLy8mcVb14cY40AKWo6VZLcGxiutQluDHvMKpHINpyOO9cY9Na9P6LzRCK7jHyO5V8tCG8BwD5CdufFlgKZb63s7tQt3BHKAcruGSp8YPYe6ueaPrupNcyQXOrz2oztVEjV0B8jSb29ZIqSt8BMdGstTxkXEK+Qoz+3ctVur6betEJgkdzPGfBUKEAzwJJJycDsyM8ONYm3lmAM+p6hNnjkXBjB/Z7axOmadwM9vHJ5bhjIftE06YioRrGxjaGeA73Yu/XTW6gk+QPwHcPWa9EjMP4KojGfBWBJpl9ihffV9C1nANsCxRgdkaAe6t4uY/pH1GnQxfM+sIN01nczRdsm/qiPqou72Vk96RaPcR6XFe7Oai5Mpz6VJzTEsqn6XqqNeWVrdfhJIdsuMCZTsYfWHGhphZRQ9I9Q6rdY29nFECA6LEWZBnjwVuY54IqZHr9k0eX3TNyZ2kJOfXw7hjFabvS4y4c3EUzjgG3bJR3OvPuIHfWgaXLPHHPJawX6MoI61RHMBz5jwW7uHea4JS2rC23FTXTc/R/wtfZTW7c/E3QdJ75b1YLWeOSJlJEc6l2XHnZB5dpzjy54Xtv0lOB8ss5I/G0R6xR7m9QNVVnpF6F229rYWKeQGQn0DaPaas4Ojgc5uru5m81WEQ+yAfWTXFftLJm1wShHlJ35epdeBQp73zRcWep2l222CdGfGSmcMPqnjUzNQbHSbKxJa2too3IwXC+Ee886n1rR1V73E5nV7grXICeVbKKkIgSRtSpqPRNWleazPFmLGNz2k54H7j6xT1gVgQPEKabQCHYNc2L9Rco4A47XHEeUeMeUcKlmS3wX2yP42xTNqkUclhP1kaNtjZ13KDhgOBHlqJotnayWcM8ltC0xHGRowW9dSUyNFGl2j/wAnhEn6B3+xakKNRk/FWrKPHsC/7jmmoAeKvRS1tgkLK6bqkvz5FQHtDnI9AAHtrYnR+V+M9027xxoBnv3bqY6BStjop4uj9qvzt7ePdI2D9XOPZVhFZQxKqooCqMAAYAFSaKQzBY1XkBWdFFABRRRQB//Z"/>
          <p:cNvSpPr>
            <a:spLocks noChangeAspect="1" noChangeArrowheads="1"/>
          </p:cNvSpPr>
          <p:nvPr/>
        </p:nvSpPr>
        <p:spPr bwMode="auto">
          <a:xfrm>
            <a:off x="155575" y="-411163"/>
            <a:ext cx="1171575" cy="857251"/>
          </a:xfrm>
          <a:prstGeom prst="rect">
            <a:avLst/>
          </a:prstGeom>
          <a:noFill/>
        </p:spPr>
        <p:txBody>
          <a:bodyPr vert="horz" wrap="square" lIns="91440" tIns="45720" rIns="91440" bIns="45720" numCol="1" anchor="t" anchorCtr="0" compatLnSpc="1">
            <a:prstTxWarp prst="textNoShape">
              <a:avLst/>
            </a:prstTxWarp>
          </a:bodyPr>
          <a:lstStyle/>
          <a:p>
            <a:endParaRPr lang="en-GB"/>
          </a:p>
        </p:txBody>
      </p:sp>
      <p:sp>
        <p:nvSpPr>
          <p:cNvPr id="50180" name="AutoShape 4" descr="data:image/jpeg;base64,/9j/4AAQSkZJRgABAQAAAQABAAD/2wCEAAkGBwgHBgkIBwgKCgkLDRYPDQwMDRsUFRAWIB0iIiAdHx8kKDQsJCYxJx8fLT0tMTU3Ojo6Iys/RD84QzQ5OjcBCgoKDQwNGg8PGjclHyU3Nzc3Nzc3Nzc3Nzc3Nzc3Nzc3Nzc3Nzc3Nzc3Nzc3Nzc3Nzc3Nzc3Nzc3Nzc3Nzc3N//AABEIAFoAewMBIgACEQEDEQH/xAAbAAACAgMBAAAAAAAAAAAAAAAABgQFAgMHAf/EAEkQAAIBAwICBAkGBxEBAAAAAAECAwAEEQUSITEGE0FxIlFhYoGRobHRFDJSgqLBIzNCU3KSkxUXJCY0Q0VUZHN0g6OywtLhB//EABoBAAIDAQEAAAAAAAAAAAAAAAABAgMFBAf/xAAtEQACAgEBBQUJAQAAAAAAAAAAAQIRAxIEITFRYRNSkbHRBSIzNEFxcoGhFP/aAAwDAQACEQMRAD8A7jRRXOZunmqpdXEKWtoRFM8YGxyfBYj6Xko6h0OjUVzcdPdY7bK2/ZyfGti9P9SHz9NhPdvFR7SHeXiiWiXJnRKK59++Dej+iYz/AJrD/jXo/wDoV3+VpCHunb/pRrh3l4oNEuR0Cilvov0p/dya6jmtVteoRWz127OSQewYxj21Zz69o9u22fVbGNvotcID6s1IiWNFVC9J9BIydZsF/TuFX3mpUOr6ZOMw6jaSDzJ1P30ATaKxV1YZVgQe0GsqACiiigAooooAK4+Y+r6U32OS383D0k/fXYK5Zexbek+pf40+1V+NU7V8tk/F+RZhdZYvqh9Kwn+aj/VFedXB+Zi/UFRxJ4IJPOvesrG/1ROzQzd1Vv8A1eH9QVhJb2rIw+TQ8vzYrDfRvoe0QrgPS+ZyvUbdfl67kVvxnMZx4S/GhYuGKsdaQRXKvjm7r68H7qixtlgMc639jlezY30XkZ+b4kvuxu0/UfkOkafEXVQ0bHiAfyv/AGs31eGQfhI7WQefCD99Q1vI7WyskmIwY2xnHPNa21Gxb5wiPfGh94q6ismQGxuZYnhsbKOaK7tSssUAVhmUZ49wp+FIGkTQXFyi26xgC5tySiKuTuY9gHip/quXEkgoooqIwooooAK53qUOOk2pn+0xN60T4V0SknVIv4x6ow57YH+yfhVeZXimujHF1JMzZCxyeNeorLxViO41LMeOfCsSYxzkQfWFeVKc29xtdqjBZZRzIPfXrSOwxgDNe74uxwe7jXu5OwOe5G+FdUFts1UYyf6ZB5MaFLpNEVjjYDldDP7NqqLbjOg8tM/SuMjS5ZtpAEyHj5cL99LFmc3UQ84V6V7PUo7JjUlTpGRldzbQ7WDFLSIZxhalK/bmqvwmRU/JHZW2DdEeHLtFdlFZYqxN7Yjx3K+4010oWTGXVLAY4CYn7DGm+qpcSSCiiiojCiiigApU1Neq6RXUkkFw8c1tEAY7d5ASC4IyoOOY50yzEgZ7KpdR1KO1UtK6qPGzbRTToTK+4lS2t5bh9NuTFEhd32xptUDJPhsDyqjTphDJEJLTTJSDy62QJw9AatXSXpALvT5LS2kRuvIjLL4QxzIzy4gY9NGnaQJoE+TbZEUAZU1ZBJfQTLBtavW0hNQWC1h6yVo1ictIfBVjnPg/QIqgfpbqr5wbeP8Au4viTWi60zX7WdJLnTZp7eF5DGITuADBh2AkfOJ5ZqEosXJVpJrdl+d1icAff7KLFRvvNY1C+hMN3dvJExBKbFUHBBHIDtArHTjm+gHnivRpckmPk80UueQDYJ9HOs7KyurfUbfroWUCRc576YDnsC86wdwKmzWxkTCYDDlUIWN3I+0RkecSMCmBK0fJ1GybxzsP9J6caWbKOKG+06JHUskrEgHj+LcZx6aZRVU+JJHtFFFRGFFFFAHhAIwaqbvo5pt1dtdvHKs7AAukzLy8mcVb14cY40AKWo6VZLcGxiutQluDHvMKpHINpyOO9cY9Na9P6LzRCK7jHyO5V8tCG8BwD5CdufFlgKZb63s7tQt3BHKAcruGSp8YPYe6ueaPrupNcyQXOrz2oztVEjV0B8jSb29ZIqSt8BMdGstTxkXEK+Qoz+3ctVur6betEJgkdzPGfBUKEAzwJJJycDsyM8ONYm3lmAM+p6hNnjkXBjB/Z7axOmadwM9vHJ5bhjIftE06YioRrGxjaGeA73Yu/XTW6gk+QPwHcPWa9EjMP4KojGfBWBJpl9ihffV9C1nANsCxRgdkaAe6t4uY/pH1GnQxfM+sIN01nczRdsm/qiPqou72Vk96RaPcR6XFe7Oai5Mpz6VJzTEsqn6XqqNeWVrdfhJIdsuMCZTsYfWHGhphZRQ9I9Q6rdY29nFECA6LEWZBnjwVuY54IqZHr9k0eX3TNyZ2kJOfXw7hjFabvS4y4c3EUzjgG3bJR3OvPuIHfWgaXLPHHPJawX6MoI61RHMBz5jwW7uHea4JS2rC23FTXTc/R/wtfZTW7c/E3QdJ75b1YLWeOSJlJEc6l2XHnZB5dpzjy54Xtv0lOB8ss5I/G0R6xR7m9QNVVnpF6F229rYWKeQGQn0DaPaas4Ojgc5uru5m81WEQ+yAfWTXFftLJm1wShHlJ35epdeBQp73zRcWep2l222CdGfGSmcMPqnjUzNQbHSbKxJa2too3IwXC+Ee886n1rR1V73E5nV7grXICeVbKKkIgSRtSpqPRNWleazPFmLGNz2k54H7j6xT1gVgQPEKabQCHYNc2L9Rco4A47XHEeUeMeUcKlmS3wX2yP42xTNqkUclhP1kaNtjZ13KDhgOBHlqJotnayWcM8ltC0xHGRowW9dSUyNFGl2j/wAnhEn6B3+xakKNRk/FWrKPHsC/7jmmoAeKvRS1tgkLK6bqkvz5FQHtDnI9AAHtrYnR+V+M9027xxoBnv3bqY6BStjop4uj9qvzt7ePdI2D9XOPZVhFZQxKqooCqMAAYAFSaKQzBY1XkBWdFFABRRRQB//Z"/>
          <p:cNvSpPr>
            <a:spLocks noChangeAspect="1" noChangeArrowheads="1"/>
          </p:cNvSpPr>
          <p:nvPr/>
        </p:nvSpPr>
        <p:spPr bwMode="auto">
          <a:xfrm>
            <a:off x="155575" y="-411163"/>
            <a:ext cx="1171575" cy="857251"/>
          </a:xfrm>
          <a:prstGeom prst="rect">
            <a:avLst/>
          </a:prstGeom>
          <a:noFill/>
        </p:spPr>
        <p:txBody>
          <a:bodyPr vert="horz" wrap="square" lIns="91440" tIns="45720" rIns="91440" bIns="45720" numCol="1" anchor="t" anchorCtr="0" compatLnSpc="1">
            <a:prstTxWarp prst="textNoShape">
              <a:avLst/>
            </a:prstTxWarp>
          </a:bodyPr>
          <a:lstStyle/>
          <a:p>
            <a:endParaRPr lang="en-GB"/>
          </a:p>
        </p:txBody>
      </p:sp>
      <p:sp>
        <p:nvSpPr>
          <p:cNvPr id="50182" name="AutoShape 6" descr="data:image/jpeg;base64,/9j/4AAQSkZJRgABAQAAAQABAAD/2wCEAAkGBwgHBgkIBwgKCgkLDRYPDQwMDRsUFRAWIB0iIiAdHx8kKDQsJCYxJx8fLT0tMTU3Ojo6Iys/RD84QzQ5OjcBCgoKDQwNGg8PGjclHyU3Nzc3Nzc3Nzc3Nzc3Nzc3Nzc3Nzc3Nzc3Nzc3Nzc3Nzc3Nzc3Nzc3Nzc3Nzc3Nzc3N//AABEIAFoAewMBIgACEQEDEQH/xAAbAAACAgMBAAAAAAAAAAAAAAAABgQFAgMHAf/EAEkQAAIBAwICBAkGBxEBAAAAAAECAwAEEQUSITEGE0FxIlFhYoGRobHRFDJSgqLBIzNCU3KSkxUXJCY0Q0VUZHN0g6OywtLhB//EABoBAAIDAQEAAAAAAAAAAAAAAAABAgMFBAf/xAAtEQACAgEBBQUJAQAAAAAAAAAAAQIRAxIEITFRYRNSkbHRBSIzNEFxcoGhFP/aAAwDAQACEQMRAD8A7jRRXOZunmqpdXEKWtoRFM8YGxyfBYj6Xko6h0OjUVzcdPdY7bK2/ZyfGti9P9SHz9NhPdvFR7SHeXiiWiXJnRKK59++Dej+iYz/AJrD/jXo/wDoV3+VpCHunb/pRrh3l4oNEuR0Cilvov0p/dya6jmtVteoRWz127OSQewYxj21Zz69o9u22fVbGNvotcID6s1IiWNFVC9J9BIydZsF/TuFX3mpUOr6ZOMw6jaSDzJ1P30ATaKxV1YZVgQe0GsqACiiigAooooAK4+Y+r6U32OS383D0k/fXYK5Zexbek+pf40+1V+NU7V8tk/F+RZhdZYvqh9Kwn+aj/VFedXB+Zi/UFRxJ4IJPOvesrG/1ROzQzd1Vv8A1eH9QVhJb2rIw+TQ8vzYrDfRvoe0QrgPS+ZyvUbdfl67kVvxnMZx4S/GhYuGKsdaQRXKvjm7r68H7qixtlgMc639jlezY30XkZ+b4kvuxu0/UfkOkafEXVQ0bHiAfyv/AGs31eGQfhI7WQefCD99Q1vI7WyskmIwY2xnHPNa21Gxb5wiPfGh94q6ismQGxuZYnhsbKOaK7tSssUAVhmUZ49wp+FIGkTQXFyi26xgC5tySiKuTuY9gHip/quXEkgoooqIwooooAK53qUOOk2pn+0xN60T4V0SknVIv4x6ow57YH+yfhVeZXimujHF1JMzZCxyeNeorLxViO41LMeOfCsSYxzkQfWFeVKc29xtdqjBZZRzIPfXrSOwxgDNe74uxwe7jXu5OwOe5G+FdUFts1UYyf6ZB5MaFLpNEVjjYDldDP7NqqLbjOg8tM/SuMjS5ZtpAEyHj5cL99LFmc3UQ84V6V7PUo7JjUlTpGRldzbQ7WDFLSIZxhalK/bmqvwmRU/JHZW2DdEeHLtFdlFZYqxN7Yjx3K+4010oWTGXVLAY4CYn7DGm+qpcSSCiiiojCiiigApU1Neq6RXUkkFw8c1tEAY7d5ASC4IyoOOY50yzEgZ7KpdR1KO1UtK6qPGzbRTToTK+4lS2t5bh9NuTFEhd32xptUDJPhsDyqjTphDJEJLTTJSDy62QJw9AatXSXpALvT5LS2kRuvIjLL4QxzIzy4gY9NGnaQJoE+TbZEUAZU1ZBJfQTLBtavW0hNQWC1h6yVo1ictIfBVjnPg/QIqgfpbqr5wbeP8Au4viTWi60zX7WdJLnTZp7eF5DGITuADBh2AkfOJ5ZqEosXJVpJrdl+d1icAff7KLFRvvNY1C+hMN3dvJExBKbFUHBBHIDtArHTjm+gHnivRpckmPk80UueQDYJ9HOs7KyurfUbfroWUCRc576YDnsC86wdwKmzWxkTCYDDlUIWN3I+0RkecSMCmBK0fJ1GybxzsP9J6caWbKOKG+06JHUskrEgHj+LcZx6aZRVU+JJHtFFFRGFFFFAHhAIwaqbvo5pt1dtdvHKs7AAukzLy8mcVb14cY40AKWo6VZLcGxiutQluDHvMKpHINpyOO9cY9Na9P6LzRCK7jHyO5V8tCG8BwD5CdufFlgKZb63s7tQt3BHKAcruGSp8YPYe6ueaPrupNcyQXOrz2oztVEjV0B8jSb29ZIqSt8BMdGstTxkXEK+Qoz+3ctVur6betEJgkdzPGfBUKEAzwJJJycDsyM8ONYm3lmAM+p6hNnjkXBjB/Z7axOmadwM9vHJ5bhjIftE06YioRrGxjaGeA73Yu/XTW6gk+QPwHcPWa9EjMP4KojGfBWBJpl9ihffV9C1nANsCxRgdkaAe6t4uY/pH1GnQxfM+sIN01nczRdsm/qiPqou72Vk96RaPcR6XFe7Oai5Mpz6VJzTEsqn6XqqNeWVrdfhJIdsuMCZTsYfWHGhphZRQ9I9Q6rdY29nFECA6LEWZBnjwVuY54IqZHr9k0eX3TNyZ2kJOfXw7hjFabvS4y4c3EUzjgG3bJR3OvPuIHfWgaXLPHHPJawX6MoI61RHMBz5jwW7uHea4JS2rC23FTXTc/R/wtfZTW7c/E3QdJ75b1YLWeOSJlJEc6l2XHnZB5dpzjy54Xtv0lOB8ss5I/G0R6xR7m9QNVVnpF6F229rYWKeQGQn0DaPaas4Ojgc5uru5m81WEQ+yAfWTXFftLJm1wShHlJ35epdeBQp73zRcWep2l222CdGfGSmcMPqnjUzNQbHSbKxJa2too3IwXC+Ee886n1rR1V73E5nV7grXICeVbKKkIgSRtSpqPRNWleazPFmLGNz2k54H7j6xT1gVgQPEKabQCHYNc2L9Rco4A47XHEeUeMeUcKlmS3wX2yP42xTNqkUclhP1kaNtjZ13KDhgOBHlqJotnayWcM8ltC0xHGRowW9dSUyNFGl2j/wAnhEn6B3+xakKNRk/FWrKPHsC/7jmmoAeKvRS1tgkLK6bqkvz5FQHtDnI9AAHtrYnR+V+M9027xxoBnv3bqY6BStjop4uj9qvzt7ePdI2D9XOPZVhFZQxKqooCqMAAYAFSaKQzBY1XkBWdFFABRRRQB//Z"/>
          <p:cNvSpPr>
            <a:spLocks noChangeAspect="1" noChangeArrowheads="1"/>
          </p:cNvSpPr>
          <p:nvPr/>
        </p:nvSpPr>
        <p:spPr bwMode="auto">
          <a:xfrm>
            <a:off x="155575" y="-411163"/>
            <a:ext cx="1171575" cy="857251"/>
          </a:xfrm>
          <a:prstGeom prst="rect">
            <a:avLst/>
          </a:prstGeom>
          <a:noFill/>
        </p:spPr>
        <p:txBody>
          <a:bodyPr vert="horz" wrap="square" lIns="91440" tIns="45720" rIns="91440" bIns="45720" numCol="1" anchor="t" anchorCtr="0" compatLnSpc="1">
            <a:prstTxWarp prst="textNoShape">
              <a:avLst/>
            </a:prstTxWarp>
          </a:bodyPr>
          <a:lstStyle/>
          <a:p>
            <a:endParaRPr lang="en-GB"/>
          </a:p>
        </p:txBody>
      </p:sp>
      <p:sp>
        <p:nvSpPr>
          <p:cNvPr id="50184" name="AutoShape 8" descr="data:image/jpeg;base64,/9j/4AAQSkZJRgABAQAAAQABAAD/2wCEAAkGBwgHBgkIBwgKCgkLDRYPDQwMDRsUFRAWIB0iIiAdHx8kKDQsJCYxJx8fLT0tMTU3Ojo6Iys/RD84QzQ5OjcBCgoKDQwNGg8PGjclHyU3Nzc3Nzc3Nzc3Nzc3Nzc3Nzc3Nzc3Nzc3Nzc3Nzc3Nzc3Nzc3Nzc3Nzc3Nzc3Nzc3N//AABEIAFoAewMBIgACEQEDEQH/xAAbAAACAgMBAAAAAAAAAAAAAAAABgQFAgMHAf/EAEkQAAIBAwICBAkGBxEBAAAAAAECAwAEEQUSITEGE0FxIlFhYoGRobHRFDJSgqLBIzNCU3KSkxUXJCY0Q0VUZHN0g6OywtLhB//EABoBAAIDAQEAAAAAAAAAAAAAAAABAgMFBAf/xAAtEQACAgEBBQUJAQAAAAAAAAAAAQIRAxIEITFRYRNSkbHRBSIzNEFxcoGhFP/aAAwDAQACEQMRAD8A7jRRXOZunmqpdXEKWtoRFM8YGxyfBYj6Xko6h0OjUVzcdPdY7bK2/ZyfGti9P9SHz9NhPdvFR7SHeXiiWiXJnRKK59++Dej+iYz/AJrD/jXo/wDoV3+VpCHunb/pRrh3l4oNEuR0Cilvov0p/dya6jmtVteoRWz127OSQewYxj21Zz69o9u22fVbGNvotcID6s1IiWNFVC9J9BIydZsF/TuFX3mpUOr6ZOMw6jaSDzJ1P30ATaKxV1YZVgQe0GsqACiiigAooooAK4+Y+r6U32OS383D0k/fXYK5Zexbek+pf40+1V+NU7V8tk/F+RZhdZYvqh9Kwn+aj/VFedXB+Zi/UFRxJ4IJPOvesrG/1ROzQzd1Vv8A1eH9QVhJb2rIw+TQ8vzYrDfRvoe0QrgPS+ZyvUbdfl67kVvxnMZx4S/GhYuGKsdaQRXKvjm7r68H7qixtlgMc639jlezY30XkZ+b4kvuxu0/UfkOkafEXVQ0bHiAfyv/AGs31eGQfhI7WQefCD99Q1vI7WyskmIwY2xnHPNa21Gxb5wiPfGh94q6ismQGxuZYnhsbKOaK7tSssUAVhmUZ49wp+FIGkTQXFyi26xgC5tySiKuTuY9gHip/quXEkgoooqIwooooAK53qUOOk2pn+0xN60T4V0SknVIv4x6ow57YH+yfhVeZXimujHF1JMzZCxyeNeorLxViO41LMeOfCsSYxzkQfWFeVKc29xtdqjBZZRzIPfXrSOwxgDNe74uxwe7jXu5OwOe5G+FdUFts1UYyf6ZB5MaFLpNEVjjYDldDP7NqqLbjOg8tM/SuMjS5ZtpAEyHj5cL99LFmc3UQ84V6V7PUo7JjUlTpGRldzbQ7WDFLSIZxhalK/bmqvwmRU/JHZW2DdEeHLtFdlFZYqxN7Yjx3K+4010oWTGXVLAY4CYn7DGm+qpcSSCiiiojCiiigApU1Neq6RXUkkFw8c1tEAY7d5ASC4IyoOOY50yzEgZ7KpdR1KO1UtK6qPGzbRTToTK+4lS2t5bh9NuTFEhd32xptUDJPhsDyqjTphDJEJLTTJSDy62QJw9AatXSXpALvT5LS2kRuvIjLL4QxzIzy4gY9NGnaQJoE+TbZEUAZU1ZBJfQTLBtavW0hNQWC1h6yVo1ictIfBVjnPg/QIqgfpbqr5wbeP8Au4viTWi60zX7WdJLnTZp7eF5DGITuADBh2AkfOJ5ZqEosXJVpJrdl+d1icAff7KLFRvvNY1C+hMN3dvJExBKbFUHBBHIDtArHTjm+gHnivRpckmPk80UueQDYJ9HOs7KyurfUbfroWUCRc576YDnsC86wdwKmzWxkTCYDDlUIWN3I+0RkecSMCmBK0fJ1GybxzsP9J6caWbKOKG+06JHUskrEgHj+LcZx6aZRVU+JJHtFFFRGFFFFAHhAIwaqbvo5pt1dtdvHKs7AAukzLy8mcVb14cY40AKWo6VZLcGxiutQluDHvMKpHINpyOO9cY9Na9P6LzRCK7jHyO5V8tCG8BwD5CdufFlgKZb63s7tQt3BHKAcruGSp8YPYe6ueaPrupNcyQXOrz2oztVEjV0B8jSb29ZIqSt8BMdGstTxkXEK+Qoz+3ctVur6betEJgkdzPGfBUKEAzwJJJycDsyM8ONYm3lmAM+p6hNnjkXBjB/Z7axOmadwM9vHJ5bhjIftE06YioRrGxjaGeA73Yu/XTW6gk+QPwHcPWa9EjMP4KojGfBWBJpl9ihffV9C1nANsCxRgdkaAe6t4uY/pH1GnQxfM+sIN01nczRdsm/qiPqou72Vk96RaPcR6XFe7Oai5Mpz6VJzTEsqn6XqqNeWVrdfhJIdsuMCZTsYfWHGhphZRQ9I9Q6rdY29nFECA6LEWZBnjwVuY54IqZHr9k0eX3TNyZ2kJOfXw7hjFabvS4y4c3EUzjgG3bJR3OvPuIHfWgaXLPHHPJawX6MoI61RHMBz5jwW7uHea4JS2rC23FTXTc/R/wtfZTW7c/E3QdJ75b1YLWeOSJlJEc6l2XHnZB5dpzjy54Xtv0lOB8ss5I/G0R6xR7m9QNVVnpF6F229rYWKeQGQn0DaPaas4Ojgc5uru5m81WEQ+yAfWTXFftLJm1wShHlJ35epdeBQp73zRcWep2l222CdGfGSmcMPqnjUzNQbHSbKxJa2too3IwXC+Ee886n1rR1V73E5nV7grXICeVbKKkIgSRtSpqPRNWleazPFmLGNz2k54H7j6xT1gVgQPEKabQCHYNc2L9Rco4A47XHEeUeMeUcKlmS3wX2yP42xTNqkUclhP1kaNtjZ13KDhgOBHlqJotnayWcM8ltC0xHGRowW9dSUyNFGl2j/wAnhEn6B3+xakKNRk/FWrKPHsC/7jmmoAeKvRS1tgkLK6bqkvz5FQHtDnI9AAHtrYnR+V+M9027xxoBnv3bqY6BStjop4uj9qvzt7ePdI2D9XOPZVhFZQxKqooCqMAAYAFSaKQzBY1XkBWdFFABRRRQB//Z"/>
          <p:cNvSpPr>
            <a:spLocks noChangeAspect="1" noChangeArrowheads="1"/>
          </p:cNvSpPr>
          <p:nvPr/>
        </p:nvSpPr>
        <p:spPr bwMode="auto">
          <a:xfrm>
            <a:off x="155575" y="-411163"/>
            <a:ext cx="1171575" cy="857251"/>
          </a:xfrm>
          <a:prstGeom prst="rect">
            <a:avLst/>
          </a:prstGeom>
          <a:noFill/>
        </p:spPr>
        <p:txBody>
          <a:bodyPr vert="horz" wrap="square" lIns="91440" tIns="45720" rIns="91440" bIns="45720" numCol="1" anchor="t" anchorCtr="0" compatLnSpc="1">
            <a:prstTxWarp prst="textNoShape">
              <a:avLst/>
            </a:prstTxWarp>
          </a:bodyPr>
          <a:lstStyle/>
          <a:p>
            <a:endParaRPr lang="en-GB"/>
          </a:p>
        </p:txBody>
      </p:sp>
      <p:sp>
        <p:nvSpPr>
          <p:cNvPr id="50186" name="AutoShape 10" descr="data:image/jpeg;base64,/9j/4AAQSkZJRgABAQAAAQABAAD/2wCEAAkGBwgHBgkIBwgKCgkLDRYPDQwMDRsUFRAWIB0iIiAdHx8kKDQsJCYxJx8fLT0tMTU3Ojo6Iys/RD84QzQ5OjcBCgoKDQwNGg8PGjclHyU3Nzc3Nzc3Nzc3Nzc3Nzc3Nzc3Nzc3Nzc3Nzc3Nzc3Nzc3Nzc3Nzc3Nzc3Nzc3Nzc3N//AABEIAFoAewMBIgACEQEDEQH/xAAbAAACAgMBAAAAAAAAAAAAAAAABgQFAgMHAf/EAEkQAAIBAwICBAkGBxEBAAAAAAECAwAEEQUSITEGE0FxIlFhYoGRobHRFDJSgqLBIzNCU3KSkxUXJCY0Q0VUZHN0g6OywtLhB//EABoBAAIDAQEAAAAAAAAAAAAAAAABAgMFBAf/xAAtEQACAgEBBQUJAQAAAAAAAAAAAQIRAxIEITFRYRNSkbHRBSIzNEFxcoGhFP/aAAwDAQACEQMRAD8A7jRRXOZunmqpdXEKWtoRFM8YGxyfBYj6Xko6h0OjUVzcdPdY7bK2/ZyfGti9P9SHz9NhPdvFR7SHeXiiWiXJnRKK59++Dej+iYz/AJrD/jXo/wDoV3+VpCHunb/pRrh3l4oNEuR0Cilvov0p/dya6jmtVteoRWz127OSQewYxj21Zz69o9u22fVbGNvotcID6s1IiWNFVC9J9BIydZsF/TuFX3mpUOr6ZOMw6jaSDzJ1P30ATaKxV1YZVgQe0GsqACiiigAooooAK4+Y+r6U32OS383D0k/fXYK5Zexbek+pf40+1V+NU7V8tk/F+RZhdZYvqh9Kwn+aj/VFedXB+Zi/UFRxJ4IJPOvesrG/1ROzQzd1Vv8A1eH9QVhJb2rIw+TQ8vzYrDfRvoe0QrgPS+ZyvUbdfl67kVvxnMZx4S/GhYuGKsdaQRXKvjm7r68H7qixtlgMc639jlezY30XkZ+b4kvuxu0/UfkOkafEXVQ0bHiAfyv/AGs31eGQfhI7WQefCD99Q1vI7WyskmIwY2xnHPNa21Gxb5wiPfGh94q6ismQGxuZYnhsbKOaK7tSssUAVhmUZ49wp+FIGkTQXFyi26xgC5tySiKuTuY9gHip/quXEkgoooqIwooooAK53qUOOk2pn+0xN60T4V0SknVIv4x6ow57YH+yfhVeZXimujHF1JMzZCxyeNeorLxViO41LMeOfCsSYxzkQfWFeVKc29xtdqjBZZRzIPfXrSOwxgDNe74uxwe7jXu5OwOe5G+FdUFts1UYyf6ZB5MaFLpNEVjjYDldDP7NqqLbjOg8tM/SuMjS5ZtpAEyHj5cL99LFmc3UQ84V6V7PUo7JjUlTpGRldzbQ7WDFLSIZxhalK/bmqvwmRU/JHZW2DdEeHLtFdlFZYqxN7Yjx3K+4010oWTGXVLAY4CYn7DGm+qpcSSCiiiojCiiigApU1Neq6RXUkkFw8c1tEAY7d5ASC4IyoOOY50yzEgZ7KpdR1KO1UtK6qPGzbRTToTK+4lS2t5bh9NuTFEhd32xptUDJPhsDyqjTphDJEJLTTJSDy62QJw9AatXSXpALvT5LS2kRuvIjLL4QxzIzy4gY9NGnaQJoE+TbZEUAZU1ZBJfQTLBtavW0hNQWC1h6yVo1ictIfBVjnPg/QIqgfpbqr5wbeP8Au4viTWi60zX7WdJLnTZp7eF5DGITuADBh2AkfOJ5ZqEosXJVpJrdl+d1icAff7KLFRvvNY1C+hMN3dvJExBKbFUHBBHIDtArHTjm+gHnivRpckmPk80UueQDYJ9HOs7KyurfUbfroWUCRc576YDnsC86wdwKmzWxkTCYDDlUIWN3I+0RkecSMCmBK0fJ1GybxzsP9J6caWbKOKG+06JHUskrEgHj+LcZx6aZRVU+JJHtFFFRGFFFFAHhAIwaqbvo5pt1dtdvHKs7AAukzLy8mcVb14cY40AKWo6VZLcGxiutQluDHvMKpHINpyOO9cY9Na9P6LzRCK7jHyO5V8tCG8BwD5CdufFlgKZb63s7tQt3BHKAcruGSp8YPYe6ueaPrupNcyQXOrz2oztVEjV0B8jSb29ZIqSt8BMdGstTxkXEK+Qoz+3ctVur6betEJgkdzPGfBUKEAzwJJJycDsyM8ONYm3lmAM+p6hNnjkXBjB/Z7axOmadwM9vHJ5bhjIftE06YioRrGxjaGeA73Yu/XTW6gk+QPwHcPWa9EjMP4KojGfBWBJpl9ihffV9C1nANsCxRgdkaAe6t4uY/pH1GnQxfM+sIN01nczRdsm/qiPqou72Vk96RaPcR6XFe7Oai5Mpz6VJzTEsqn6XqqNeWVrdfhJIdsuMCZTsYfWHGhphZRQ9I9Q6rdY29nFECA6LEWZBnjwVuY54IqZHr9k0eX3TNyZ2kJOfXw7hjFabvS4y4c3EUzjgG3bJR3OvPuIHfWgaXLPHHPJawX6MoI61RHMBz5jwW7uHea4JS2rC23FTXTc/R/wtfZTW7c/E3QdJ75b1YLWeOSJlJEc6l2XHnZB5dpzjy54Xtv0lOB8ss5I/G0R6xR7m9QNVVnpF6F229rYWKeQGQn0DaPaas4Ojgc5uru5m81WEQ+yAfWTXFftLJm1wShHlJ35epdeBQp73zRcWep2l222CdGfGSmcMPqnjUzNQbHSbKxJa2too3IwXC+Ee886n1rR1V73E5nV7grXICeVbKKkIgSRtSpqPRNWleazPFmLGNz2k54H7j6xT1gVgQPEKabQCHYNc2L9Rco4A47XHEeUeMeUcKlmS3wX2yP42xTNqkUclhP1kaNtjZ13KDhgOBHlqJotnayWcM8ltC0xHGRowW9dSUyNFGl2j/wAnhEn6B3+xakKNRk/FWrKPHsC/7jmmoAeKvRS1tgkLK6bqkvz5FQHtDnI9AAHtrYnR+V+M9027xxoBnv3bqY6BStjop4uj9qvzt7ePdI2D9XOPZVhFZQxKqooCqMAAYAFSaKQzBY1XkBWdFFABRRRQB//Z"/>
          <p:cNvSpPr>
            <a:spLocks noChangeAspect="1" noChangeArrowheads="1"/>
          </p:cNvSpPr>
          <p:nvPr/>
        </p:nvSpPr>
        <p:spPr bwMode="auto">
          <a:xfrm>
            <a:off x="155575" y="-411163"/>
            <a:ext cx="1171575" cy="857251"/>
          </a:xfrm>
          <a:prstGeom prst="rect">
            <a:avLst/>
          </a:prstGeom>
          <a:noFill/>
        </p:spPr>
        <p:txBody>
          <a:bodyPr vert="horz" wrap="square" lIns="91440" tIns="45720" rIns="91440" bIns="45720" numCol="1" anchor="t" anchorCtr="0" compatLnSpc="1">
            <a:prstTxWarp prst="textNoShape">
              <a:avLst/>
            </a:prstTxWarp>
          </a:bodyPr>
          <a:lstStyle/>
          <a:p>
            <a:endParaRPr lang="en-GB"/>
          </a:p>
        </p:txBody>
      </p:sp>
      <p:sp>
        <p:nvSpPr>
          <p:cNvPr id="50188" name="AutoShape 12" descr="data:image/jpeg;base64,/9j/4AAQSkZJRgABAQAAAQABAAD/2wCEAAkGBxQQEBASEBAVEBAWEBUUEBYUFRAQFBUQFBcWFhQWFBQYHCggGBolHBQUITEhJSkrLi4uFx8zODMsNygtLjcBCgoKDg0OGBAQGiwcHBwsLCwsLCwsLCwsLCwsLCssLCwsLCwsLC0tLCwsLCwsLCwtLCwsLSwsLCwsLC0sLCwsLP/AABEIALAA8AMBEQACEQEDEQH/xAAbAAEAAgMBAQAAAAAAAAAAAAAAAwQBAgUGB//EAEwQAAEDAgEGCAgJCwMFAAAAAAEAAgMEERIFBiExUXETIkFSYYGRoRQycpKiscHRFiMzQlNigrLCByRDRFRjc3SDs9IVk/IlNOHw8f/EABsBAQEAAwEBAQAAAAAAAAAAAAABAgMFBAYH/8QANxEBAAECAwUFBgQHAQEAAAAAAAECEQMEEgUhMVGRBhVBYXETUoGhsdEiMjPBFCNCYnLh8EMk/9oADAMBAAIRAxEAPwD7igICAgICAgICAgICAgICAgICAgICAgICAgICAgICAgICAgICAgICAgICAgICAgICAgICAgICAgICAgICAgIPNVWfVHHI+N0jy5hwuwxSvAdsuAstMpdq3P2iP6R43xTD8KaZLpmZ60R/WLb2Sj8KmmeS3b/DKi/aW+bJ/immeRdj4Z0P7Wwbw8exLSXbDPKhP65F1ut60tIkbnXRHVWwdcrB6yoJRnJR/ttP/vw/5IMjOGkOqspz/Wh/yQStyzTnVUwndLGfagsQ1bHmzJGPP1XNd6kEyAgICAgICAgICAgICAgICAgICD4blIWrq5v78ntLh7F6KWEkUDni7W3F7awFz8ztbAy+J7Ou9/R7cDZ+LjUa6bWb+Byc30gvP39lPPo2905jy6ngknN7wr39lOc9DunMeXU8Ek5veE7+ynOeid05jlHU8Ek5neFe/snznod1ZjlHU8Ek5ne33p37k+c9E7qzHKOp4JJzD2j3q9+5P3p6Sd1ZjlHVg0Tzrjv1tTvzJ+9PSU7rzHKOrR2TTywjsYnfmS975Sd2Znl81vNSSKCupZXYIm4nNc84IwA5jtbuTkXTr/Ld4Y4vp02dtE02NZET9Rwk+7darMlKXPyjabB8j/JilI7bK6ZS6jJ+UeEHi01Q8bbQN+9ICr7OS8LTM9x86grGDaYmOHovKmmS6Q59Uo8Zs7N8EvuTRJeEsWe9E79OW+VHKPwqaZ5F0zM76I/rkQ8p2D71ktKrUecFI7xaynceiaI/iUHQY4EAggg6QRpBHQUGyAgICAgICAgICD4nnDHbKdcP4Z7XSr0UcGEuxmcbSs6JfWF8rtGdO06J8o/d3MpvyVUer6KXLqanPswbbB2BS8cl3sYRzR2BS1PKFvVzYMbea3sCmmj3Y6Lqq5y14FnMb5rfcpow/djpC66+c9WOAZ9GzzW+5T2eH7sdINdfvT1ljwaP6Nnmt9yezwvdjpC+0xPenrLk5yUzBCC1jWnHyADRY7FytrYdFODE0xEb/u9uRxK5xJiqZnc+Y1rLMjJ5JGeuy+uw5vRTPlDhV7qpSrYxZDUGcCD6jPXcG2IBuIuFtYbbCATrWi15ZtBlc8sTup0Z9qumUuw7KjT40LjvDHe1NMl0bqunPjQ9sIPsS1RuRyU9LMyW0LCWsJILMNrh1jYj6p7EvNx0cxm2ydSAaBwI7ySsJ4sndUBAQEBAQEBAQEHx7OqO2Van60bD5v8AyW+jgwlczZ0Sf1Wd6+U25+HPYM87fV2tnzfL1x6/R7/GvZreazGNNZYxprLGJNZYxJrLGJTWWMSayyhlvTEfKC5+05vl59YerJ7sR80ylF8TukZ/cAX1eXm+DRPlH0cfF3YlXrLIYvQ1tgxBtgQexzhnLPBzYkce9gTbQ217LVTxZS5LsrgazbfcetZ3hi1/1lv0jfOCof6w3njtCDo5Fq8YrCDf4lg7eGWFXGFjg9Vmc22T6P8Aloz2tBWlm7CAgICAgICAgICD5TnlHbKx6adx74besrdRwhhLfIYtI7ew95XyvaP8OPg1f9xh19mz/Lrj/uD2+JZa2NjEprLMYk1ljEmssYk1lmcSayxiU1llXKWmN3V6148/VfAqbsvuxIfPsrMtTynm6fNeD7F9dkZvlcOf7YcnH/Vq9ZRlexpGuQSgXCD2tbUFpjaHFl8VyACeKBbXvWmIuyR+EP8Apj1tYstKXamof9K074wfxJpLtHSE6zEd8N/xpoLswyjg6hoZG2zW6Y24L4gdYudXtUtaVekzUH5hRfykH9tq1MnVQEBAQEBAQEBAQfMs9o/+qRnbAR3A/hW6jgxlrkxtpHeQD2E+9fK9qd0YM/5fs6WzJ/PHp+71rpANZsvHVjU075mzdFMzwR+FN2rT/G4XNl7Krk3bMDqIWdOZoq4TCTRMeDa62a2Ni6ayxdNZYumsshrXcQ9K8mcxbYUxzbMKPxPFZYi/Nqsfu5u0NcQvs9mTfJYX+MOTmf1qvVyr3XQaGQoq7TC7VUejy4yRxiMbC+xfisQLXAtr3FYRuZS52Cf6F3az3rLVCWYwT/QP9H3pqgscHP8AQP8AR96aoLLVG2RkNU6RhZdrcN7acIN9W9Y+I9vm221FSDZSwjsjatLN0UBAQEBAQEBAQEHzzPptso0vTGfVKFto4MZRUTLSjpYe4hfNdqo/kYc8pn6Pds6bVVejqyEuNyvi8TFnEqvLq02pi0NcC13W5gS5duxxGolbKMaujhLGYieKVtQeXSvRTnq4472E4cJBUDlBW6M9T4wwnDlk1A6VZz1B7OVeVxcdK8ONjzizvbaYilxKmDEydu3GO0H3r9H2NN8jh+jiZr9Wp5KifiijO2Np7WgrqNCwEHRoW3arCPYXWtkyCg2BQZBQUsuPtTTn9071FWB63JLMNPANkLB2NC0sltAQEBAQEBAQEBB4LP5n57Qu6HD1/wCS20cGMo6dlpWbnD1e5fPdqY/+SmeVUfSXryM2xJ9HSwL4C7q3MKly7OFLlzAly5gS6XMKXLs4UuXMCXLqMbOO/wAv2BfpfZ+b5DD+P1cbNfqy+e5KFoIRsja072gD2LsRwaFwIOvkwcXrVhHp7rFUZqmjluli6ZjwRcG6CQFFc7OV1qOqOyCQ9jHIj3cDMLWjY0DsC0s26AgICAgICAgICDxH5QdFRk47ZHjvZ71so4Sxlq1lnx+UR3FcTtLTfIVTymG/KTbEdHCvze7q3MKXLmBLpdnAly5hS5cwqXLmBLl2cKXS6mxnHk8oeoL9K7N1XyFPlM/Vy81+o+dRtw4282WVvmyOHsXcaEl1R3cjjidasI6s0hduSIGgYqJYiWm4UFxkw3KWVzc6JL0VWB+zTfcclh9FWhmICAgICAgICAgIPG/lFZpoXbKgDznRrZR4pJMA0sJ0APF+9czbuFVi5GumiLzu3R6s8CbVxMrHhbOQ33AlfntGyc7Xwwqulvq6E41EeJ4UORrj9k+1emns/tCr/wA7fGPuw/iKOZ4Rsjd3D2r009l89PHTHxYzmqDhnckfa4D2L009ksxP5sSmOrGc3TyMUnNYN5cfYvRT2Qn+rG6U/wC2M5vyLSc5o3NJ9ZXoo7JYEfmxJn0iI+7Gc3V4QcE/lk7GgL00dlslTxmqfj9oYzmqzwc8sju4exemns7s+n+i/wAZY/xGJzbxU+G+sk6yTddTL5bCy9GjCjTDVVVNU3l8zqWYZqhuyol73l3tW5Gt0HoshC8Z3rKEdQMVGwYoNw1BlBSy429JUDbE4dot7VJ4LD6MtDMQEBAQEBAQEBAQeR/KRogp3c2rjPUDiP3VnR4pK3wa2MGRGgxLZgu8hg2uIaO0oOfLl2lZrqodwkY49jSUuK0udVI3VIX+THK72INqXOATYvBqWoqA04XFrWMAdYGxMjhpsQetSZstnNrM8Hsvhojoc5p4SZsfGa4tcOIx/KCqWUH56VB8WKGPeZZu+7FCyu/OiqP6VjfJiaPvEoKr8s1Lr3qpOrA31NQU28pJLiSS4uJcSTrJJUVtdB6fNwXjO/3rKEl2A1VGbINS5BGXKKjrm3p5OlzR2vaPapPAh9BWlmICAgICAgICAg1L0HGzmyWK2HgjIY+NiDgA4g2I1HerE2HN+D7tOOvqX9AMMY9Fl+9Za5SzX4M0/wA908u3HUVDgfs4rdymqSzyuf2SqSmp2CCkhjmllAxhjceBgxOOI6eaPtBWmZmSXCydTHg23J06VvhguNpkHps1K+OkpHySODA6eRxvy2OBthymzBoXnq31M44PLVc3CQh9iMU0zrHQRilcbEbdK2RwRzrqDYFAugzdBm6D1uawvEd49qyhJdiTQqiFzlBG5yKjc9BcnhtCwHllgv8Aamj96k8COL260sxAQEBAQEBAQaPKCB5QVpX2QUpqsBBQnynZB4POaoNVVNGsRsEbeh0hDpO4R+atlEMZdVlJYADUBZbWLZ8Qa1ziNDQXG2uwF0HicnZUcWRvFpLMaGP0ubG4i8ha0azc61phm6+T6mMwtjeXHC5/Gwl4dicXAksuR1hZX5pZYioI5TaKRr3coa5pcN7DxgqiObJT2/8AkFqWFd9I8fNvu0qKiNxrFt+hBi6D2eaAvE7ePasoSXdfFcWVRzZgWmx0FRULnqC1k6kLziI4g7yqL+VBZjP5in/vRqVcCOL1i0sxAQEBAQEBAQYIQQTt2IPM5wZYjpcIlccbyRG0C7nEa+gaxrViLjiurKiX5KlAG2SVl/NYHetW0IqS5Pq3eM+KPyWPf3uIU3DjS5Mmge57g6QF2LG1tyNAHGYNI6rrKmqEmHXyXlxpA4Rge06nst/8Kzuj1dA2GYXje07QdBG8FS8q0rc2qSY3kZGXc4cV/nN0qcfAcCv/ACewnTBVOjdyY28M3uLXeklpLuJXZoVDRZwbUMGq2GYb8EgBB3Epp8i7WlgqWMa+JxfG5rXNwyPF2kXHEkxAaDqUipbL1DUSShxDIpC12FzHtdTvDrX0yMxNOvmq6rJZZcxlvjIZo9wbO30dPcE1QWQNyZDK7DHLE5/MJMUn+2dKu6Ud/IGT3Qte1zbC4tpvtusoHXDERFVmNrbzOYxu17msHaUHPirKQm7Hia30QfOPQBCl4W0rra8kDg6aZ2ziNjHpkKa4LSS088xY0wNiYJY3uc+UF1mODrBjGkEm3OCxmq6xD0vCAAkkAAXJJsANpKwZKLc4KY6WTCQbYw+ZvnMBCCzQ5ThnxCGZkhb44a4Fzb6sTdbdXKgtoCAgICAgICCrWZNimFpYmSD6zQ71oOTNmVQu10sY3DD6ldUlkDsx6b5gkj8iWVvtTVJZTrc23QDFFXOjtqE7myMO8vN+8K38kUMl0MWUWzOwCGdjw2SSBwdHI63jAkWfq0ggkbUnccVnJ2Sp6VzwYuHDsNnRFjBxb+MyR12nTqBdv5FYrSYXCan5tIwD95UYPuRvV1mk4KrP7PF9mao78Uams0tfA6k3xVIH8OFjPvl6muV0vMOyizEKSKZlMyJrYzLMQHkNAA4Jh0HQPGPYkU7rl3Wom0sDMLKiK17uJljc5zjrLjfSVJvKtX5bpgbMk4Z3Nia6U+iE0yXRVE0kzcIydwjNlQ+NgP2LOS0c0V2U9Sz5Ok4MbIqt7W26GuYQOoBZX8yyCbKLWOw1MEuImwb4W19zsDMbb7rKfEXKaupYTfwF0L9vgwLutzQT3qWHQbnVDyCY9AhmJ9SaVuqTZ8xg2ZHiP15IYe4ku9FJtEXmSLzuhGc8J9bYYtOoA1Mh84RgLy153K0RvxI6w3U5bGq4Uz0TZPrxV8HPVBr2EB0MViYmjW15a7xnHQbuGjQBbSvdFO555l6P/Vxt700l3KyzURTYS4fGtPxb2nDIy+vC8aQrFKXcmmzirGSujM7JDbFHwkbcL4xYHxC0teLi+saQbcg420c7i5KqKppiqifhMT83QyuXw8xTMXtVHxh3KXO9w+XpnM+tE4Ts9TXej1rXg7byuJxnTPmuJs/Gp4b/AEdmgy9DOcMUzXPtcsvhkA6Y3Wd3Lq0V01xqomJjy3vFVTNM2mLOiJVkjcPQbICAgICDi51ZOmqIg2CQsIcC5uJ7OEaPmF7SHAHoVibDzdIyggP53k0Ur+V72+ERnp4XTo6XALLfPCUe1oJ4nsBgcx0fJwZaWjo4ugLBU5AQRTPY0XcQ0cpJDR2lBxqnOaiZrq4b7GyNkPY25Qc+XPGlvZjpJD9SKR3fZZaZS6lPlzhQQzJk0mzhGwxtPWST3Jpkuptpqh54uTKSDpe/hj5ojZ61beZdcioK06PCIIW7Iof8iUtA2Gb8jvla+d3k4IvUE3chn4JUzvlRJP8AxZZJR2ONlRagzcpGNLWUsTWkWIDGgEbCEvKKrs33Rf8AZzuiHJG+8sW4NJu0dAIUtEqidlOWLRVU7mcmOK80Z6bWxN3WO8qaZ8C7kwZIjw46CYRsvoa20kN9mH5u4WXgzezsvmt9cWq5xxenBzWLhbqZ3cmPDXRaKmEtHPjvIw7x4zd2nevm81sDHw/xYM646S6WFtKmrdXFvo1hyeSwOo52uj1Bjjwkdh81rxxmd9tizy3aHMZedGZp1fKr/f8A29qxclhYn4sObfRWnqJY/lIJG9LWmZvay/eAvo8vtnJ48bq4pnlVu+rnV5XFo8L+iFla95syKV56I5GjznADvW/F2nlMOL1YtPwm/wAoYU4GJVwplfosnTvljfI0RsYSbYg57iWltrDQBp28i+X2xtzL5nB9lhRM7+M7uDo5TLV4VeuqXdEC+W1up7RBX0kRZ8eGGMafjMOEHbd2orZhYuJFX8uZv5cfkwrqpmPxKkGVAywpamZ+wMDqmPteCLbnBfTZHMbXnhRqj+7d89znY1GW529Hp82so1UpcKmnEbA27JAcDnOvqMN3YdGm+PqC+ow5rmmJxIiJ5RN/2hzqrX3b3o2LNG6AgICDBKChlmoLKedzAHPbDI5gcLjG1pLbjeAg+PU7+HmDzOaV/PgY2IkHTpwEEjrK36WF3rxkYyWdJXVMotowyujaRuYdKw3clYjzRow7E6nbI/nP47vOOlW46kOToWeLCwfZB9aXkWmaNAFh0aFBtdBm6DYIMhBsAgygYhtHaEsDnt5SD3q2LuLWZFikeXtaY3n57CWP0bSPGHQbq2vxS6s6gqI9WGqj2G0UoH3JPQ61hNHJdTmnJ0MkpwF9LVWvaxieWja06JGi/JcC68+Yy+Fj06camKo8/u2UV1UzembJ/CKqn+ViFTHz4uLIN7Dod1YetfNZvszTN6svXbyq+72UZ2f6ob/COF2iKOaZ3NbGQesusFyMPs9n66rTTFNvGZbpzlEJGS1kvydKyBvI6V5kd1xtwgecV1cHstHHFxfhEfvP2hpqzs+ELMeb88ny1Y4DlbE1sY7da6uDsLJYXGnVPnLRVmcSfGy9SZpUzHB5i4WQanyEyP8AOdpC6mHh0YcWopimPKLNMzM8Zu71PStb4rQ3cAFsmbotNYoJEBAQYJQRveghfIgryG+g6joO4oPjVFTngob6+CYD5TWgO7wVvYO7krKL4ja928uzrCcR6ukq2yAW0HZ7jyrGYW6yggfV80X7lbJdHw7zsHUraC4MZ+cUsNhG7nHtKqJBAdp70EjaVALWDW4DrClxqamMct9wKXGjsotGphO8ge9LjHhzzpbHo22J79Sgouy0CcInYXcrYy2Rw3tZchLrZtTNfNNCbSGNglcXPa5gxkMYwAOsdTpOTkWFU3ZRDuMp1gqeOm6EE7KdBOynQStiCDcBBlAQEBBo9BC8IInNQQuag4OUc2o5C50fxEhJJLQCxzjyvj1E9IselWKphLPPVmTnwXMzQxo/SNu6K20nXH9rQOcVsiqJSySnDoyCNR07QRyEH2hZI7tPOJG2JsRrB/8AdKCTiDW4etLowalg2ncEuNTXjkZ2myXVqK158Vo6gXKXFeryjwZtLMyI8ge9kZO5pNygjE2PVwknkxyuHUXADvU1QWSMpZj4tM7+pJHCPREh7ljqhbJ2ZIndrfDGNjWSTO89zmj0FNa2WmZBOnFNK7cWRfcaCmqSyYZtQEgvhbKRqMt5yN3CE2WKupFRBoAAsBqAFgOpBM2lQSNgCCQMCDZAQEBAQEBAQEGpag1MSDQwoNDToNfB0HHqc2W6TAeAcTcgNxxE7XRXG3SWlp6VYmYSzkVFJJGbSQuaeQxh9RG7yS1uJu5wG8rOKoSySOhld4tPKdHKI4h2udfuTVBZYjyHUu1tgh6XOlqj1taIgPOKmsstRZtv0Y6h1+Xg44oh3hzu9TVK2WPgzEbh4fKDrEkkj2+bfD3KXlbLlHkeKEWhijiHKI2MZ90KCyKYINhAEG4iCDIaEG1kBAQEBAQEBAQEBB//2Q=="/>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GB"/>
          </a:p>
        </p:txBody>
      </p:sp>
      <p:pic>
        <p:nvPicPr>
          <p:cNvPr id="50190" name="Picture 14" descr="Desktop Computer Clip Art"/>
          <p:cNvPicPr>
            <a:picLocks noChangeAspect="1" noChangeArrowheads="1"/>
          </p:cNvPicPr>
          <p:nvPr/>
        </p:nvPicPr>
        <p:blipFill>
          <a:blip r:embed="rId4" cstate="print"/>
          <a:srcRect/>
          <a:stretch>
            <a:fillRect/>
          </a:stretch>
        </p:blipFill>
        <p:spPr bwMode="auto">
          <a:xfrm>
            <a:off x="1049374" y="2532184"/>
            <a:ext cx="1170175" cy="858129"/>
          </a:xfrm>
          <a:prstGeom prst="rect">
            <a:avLst/>
          </a:prstGeom>
          <a:noFill/>
        </p:spPr>
      </p:pic>
      <p:pic>
        <p:nvPicPr>
          <p:cNvPr id="151" name="Picture 14" descr="Desktop Computer Clip Art"/>
          <p:cNvPicPr>
            <a:picLocks noChangeAspect="1" noChangeArrowheads="1"/>
          </p:cNvPicPr>
          <p:nvPr/>
        </p:nvPicPr>
        <p:blipFill>
          <a:blip r:embed="rId4" cstate="print"/>
          <a:srcRect/>
          <a:stretch>
            <a:fillRect/>
          </a:stretch>
        </p:blipFill>
        <p:spPr bwMode="auto">
          <a:xfrm>
            <a:off x="4270875" y="5669280"/>
            <a:ext cx="1170175" cy="858129"/>
          </a:xfrm>
          <a:prstGeom prst="rect">
            <a:avLst/>
          </a:prstGeom>
          <a:noFill/>
        </p:spPr>
      </p:pic>
    </p:spTree>
    <p:extLst>
      <p:ext uri="{BB962C8B-B14F-4D97-AF65-F5344CB8AC3E}">
        <p14:creationId xmlns:p14="http://schemas.microsoft.com/office/powerpoint/2010/main" val="35715075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Text Box 12"/>
          <p:cNvSpPr txBox="1">
            <a:spLocks noChangeArrowheads="1"/>
          </p:cNvSpPr>
          <p:nvPr/>
        </p:nvSpPr>
        <p:spPr bwMode="auto">
          <a:xfrm>
            <a:off x="3443288" y="3592513"/>
            <a:ext cx="2106612" cy="336550"/>
          </a:xfrm>
          <a:prstGeom prst="rect">
            <a:avLst/>
          </a:prstGeom>
          <a:noFill/>
          <a:ln w="9525">
            <a:noFill/>
            <a:miter lim="800000"/>
            <a:headEnd/>
            <a:tailEnd/>
          </a:ln>
        </p:spPr>
        <p:txBody>
          <a:bodyPr wrap="none">
            <a:spAutoFit/>
          </a:bodyPr>
          <a:lstStyle/>
          <a:p>
            <a:pPr algn="ctr"/>
            <a:r>
              <a:rPr lang="en-GB" sz="1600" b="1" dirty="0">
                <a:solidFill>
                  <a:schemeClr val="bg1"/>
                </a:solidFill>
              </a:rPr>
              <a:t>Telephone Network</a:t>
            </a:r>
            <a:endParaRPr lang="en-US" sz="1600" b="1" dirty="0">
              <a:solidFill>
                <a:schemeClr val="bg1"/>
              </a:solidFill>
            </a:endParaRPr>
          </a:p>
        </p:txBody>
      </p:sp>
      <p:grpSp>
        <p:nvGrpSpPr>
          <p:cNvPr id="3" name="Group 13"/>
          <p:cNvGrpSpPr>
            <a:grpSpLocks/>
          </p:cNvGrpSpPr>
          <p:nvPr/>
        </p:nvGrpSpPr>
        <p:grpSpPr bwMode="auto">
          <a:xfrm>
            <a:off x="1423988" y="2487613"/>
            <a:ext cx="6699250" cy="777875"/>
            <a:chOff x="665" y="1033"/>
            <a:chExt cx="4220" cy="490"/>
          </a:xfrm>
        </p:grpSpPr>
        <p:grpSp>
          <p:nvGrpSpPr>
            <p:cNvPr id="4" name="Group 14"/>
            <p:cNvGrpSpPr>
              <a:grpSpLocks/>
            </p:cNvGrpSpPr>
            <p:nvPr/>
          </p:nvGrpSpPr>
          <p:grpSpPr bwMode="auto">
            <a:xfrm rot="21588274" flipH="1">
              <a:off x="665" y="1033"/>
              <a:ext cx="4220" cy="490"/>
              <a:chOff x="405" y="3126"/>
              <a:chExt cx="4948" cy="583"/>
            </a:xfrm>
          </p:grpSpPr>
          <p:sp>
            <p:nvSpPr>
              <p:cNvPr id="12317" name="Oval 15"/>
              <p:cNvSpPr>
                <a:spLocks noChangeArrowheads="1"/>
              </p:cNvSpPr>
              <p:nvPr/>
            </p:nvSpPr>
            <p:spPr bwMode="auto">
              <a:xfrm>
                <a:off x="405" y="3352"/>
                <a:ext cx="1803" cy="254"/>
              </a:xfrm>
              <a:prstGeom prst="ellipse">
                <a:avLst/>
              </a:prstGeom>
              <a:solidFill>
                <a:srgbClr val="00CC66"/>
              </a:solidFill>
              <a:ln w="9525">
                <a:noFill/>
                <a:round/>
                <a:headEnd/>
                <a:tailEnd/>
              </a:ln>
            </p:spPr>
            <p:txBody>
              <a:bodyPr wrap="none" anchor="ctr"/>
              <a:lstStyle/>
              <a:p>
                <a:endParaRPr lang="en-US"/>
              </a:p>
            </p:txBody>
          </p:sp>
          <p:sp>
            <p:nvSpPr>
              <p:cNvPr id="12318" name="Oval 16"/>
              <p:cNvSpPr>
                <a:spLocks noChangeArrowheads="1"/>
              </p:cNvSpPr>
              <p:nvPr/>
            </p:nvSpPr>
            <p:spPr bwMode="auto">
              <a:xfrm>
                <a:off x="836" y="3243"/>
                <a:ext cx="1803" cy="254"/>
              </a:xfrm>
              <a:prstGeom prst="ellipse">
                <a:avLst/>
              </a:prstGeom>
              <a:solidFill>
                <a:srgbClr val="00CC66"/>
              </a:solidFill>
              <a:ln w="9525">
                <a:noFill/>
                <a:round/>
                <a:headEnd/>
                <a:tailEnd/>
              </a:ln>
            </p:spPr>
            <p:txBody>
              <a:bodyPr wrap="none" anchor="ctr"/>
              <a:lstStyle/>
              <a:p>
                <a:endParaRPr lang="en-US"/>
              </a:p>
            </p:txBody>
          </p:sp>
          <p:sp>
            <p:nvSpPr>
              <p:cNvPr id="12319" name="Oval 17"/>
              <p:cNvSpPr>
                <a:spLocks noChangeArrowheads="1"/>
              </p:cNvSpPr>
              <p:nvPr/>
            </p:nvSpPr>
            <p:spPr bwMode="auto">
              <a:xfrm>
                <a:off x="1652" y="3442"/>
                <a:ext cx="1803" cy="254"/>
              </a:xfrm>
              <a:prstGeom prst="ellipse">
                <a:avLst/>
              </a:prstGeom>
              <a:solidFill>
                <a:srgbClr val="00CC66"/>
              </a:solidFill>
              <a:ln w="9525">
                <a:noFill/>
                <a:round/>
                <a:headEnd/>
                <a:tailEnd/>
              </a:ln>
            </p:spPr>
            <p:txBody>
              <a:bodyPr wrap="none" anchor="ctr"/>
              <a:lstStyle/>
              <a:p>
                <a:endParaRPr lang="en-US"/>
              </a:p>
            </p:txBody>
          </p:sp>
          <p:sp>
            <p:nvSpPr>
              <p:cNvPr id="12320" name="Oval 18"/>
              <p:cNvSpPr>
                <a:spLocks noChangeArrowheads="1"/>
              </p:cNvSpPr>
              <p:nvPr/>
            </p:nvSpPr>
            <p:spPr bwMode="auto">
              <a:xfrm>
                <a:off x="2042" y="3332"/>
                <a:ext cx="1803" cy="254"/>
              </a:xfrm>
              <a:prstGeom prst="ellipse">
                <a:avLst/>
              </a:prstGeom>
              <a:solidFill>
                <a:srgbClr val="00CC66"/>
              </a:solidFill>
              <a:ln w="9525">
                <a:noFill/>
                <a:round/>
                <a:headEnd/>
                <a:tailEnd/>
              </a:ln>
            </p:spPr>
            <p:txBody>
              <a:bodyPr wrap="none" anchor="ctr"/>
              <a:lstStyle/>
              <a:p>
                <a:endParaRPr lang="en-US"/>
              </a:p>
            </p:txBody>
          </p:sp>
          <p:sp>
            <p:nvSpPr>
              <p:cNvPr id="12321" name="Oval 19"/>
              <p:cNvSpPr>
                <a:spLocks noChangeArrowheads="1"/>
              </p:cNvSpPr>
              <p:nvPr/>
            </p:nvSpPr>
            <p:spPr bwMode="auto">
              <a:xfrm>
                <a:off x="3153" y="3455"/>
                <a:ext cx="1803" cy="254"/>
              </a:xfrm>
              <a:prstGeom prst="ellipse">
                <a:avLst/>
              </a:prstGeom>
              <a:solidFill>
                <a:srgbClr val="00CC66"/>
              </a:solidFill>
              <a:ln w="9525">
                <a:noFill/>
                <a:round/>
                <a:headEnd/>
                <a:tailEnd/>
              </a:ln>
            </p:spPr>
            <p:txBody>
              <a:bodyPr wrap="none" anchor="ctr"/>
              <a:lstStyle/>
              <a:p>
                <a:endParaRPr lang="en-US"/>
              </a:p>
            </p:txBody>
          </p:sp>
          <p:sp>
            <p:nvSpPr>
              <p:cNvPr id="12322" name="Oval 20"/>
              <p:cNvSpPr>
                <a:spLocks noChangeArrowheads="1"/>
              </p:cNvSpPr>
              <p:nvPr/>
            </p:nvSpPr>
            <p:spPr bwMode="auto">
              <a:xfrm>
                <a:off x="3276" y="3257"/>
                <a:ext cx="1803" cy="254"/>
              </a:xfrm>
              <a:prstGeom prst="ellipse">
                <a:avLst/>
              </a:prstGeom>
              <a:solidFill>
                <a:srgbClr val="00CC66"/>
              </a:solidFill>
              <a:ln w="9525">
                <a:noFill/>
                <a:round/>
                <a:headEnd/>
                <a:tailEnd/>
              </a:ln>
            </p:spPr>
            <p:txBody>
              <a:bodyPr wrap="none" anchor="ctr"/>
              <a:lstStyle/>
              <a:p>
                <a:endParaRPr lang="en-US"/>
              </a:p>
            </p:txBody>
          </p:sp>
          <p:sp>
            <p:nvSpPr>
              <p:cNvPr id="12323" name="Oval 21"/>
              <p:cNvSpPr>
                <a:spLocks noChangeArrowheads="1"/>
              </p:cNvSpPr>
              <p:nvPr/>
            </p:nvSpPr>
            <p:spPr bwMode="auto">
              <a:xfrm>
                <a:off x="3550" y="3394"/>
                <a:ext cx="1803" cy="254"/>
              </a:xfrm>
              <a:prstGeom prst="ellipse">
                <a:avLst/>
              </a:prstGeom>
              <a:solidFill>
                <a:srgbClr val="00CC66"/>
              </a:solidFill>
              <a:ln w="9525">
                <a:noFill/>
                <a:round/>
                <a:headEnd/>
                <a:tailEnd/>
              </a:ln>
            </p:spPr>
            <p:txBody>
              <a:bodyPr wrap="none" anchor="ctr"/>
              <a:lstStyle/>
              <a:p>
                <a:endParaRPr lang="en-US"/>
              </a:p>
            </p:txBody>
          </p:sp>
          <p:sp>
            <p:nvSpPr>
              <p:cNvPr id="12324" name="Oval 22"/>
              <p:cNvSpPr>
                <a:spLocks noChangeArrowheads="1"/>
              </p:cNvSpPr>
              <p:nvPr/>
            </p:nvSpPr>
            <p:spPr bwMode="auto">
              <a:xfrm>
                <a:off x="1274" y="3126"/>
                <a:ext cx="1803" cy="254"/>
              </a:xfrm>
              <a:prstGeom prst="ellipse">
                <a:avLst/>
              </a:prstGeom>
              <a:solidFill>
                <a:srgbClr val="00CC66"/>
              </a:solidFill>
              <a:ln w="9525">
                <a:noFill/>
                <a:round/>
                <a:headEnd/>
                <a:tailEnd/>
              </a:ln>
            </p:spPr>
            <p:txBody>
              <a:bodyPr wrap="none" anchor="ctr"/>
              <a:lstStyle/>
              <a:p>
                <a:endParaRPr lang="en-US"/>
              </a:p>
            </p:txBody>
          </p:sp>
          <p:sp>
            <p:nvSpPr>
              <p:cNvPr id="12325" name="Oval 23"/>
              <p:cNvSpPr>
                <a:spLocks noChangeArrowheads="1"/>
              </p:cNvSpPr>
              <p:nvPr/>
            </p:nvSpPr>
            <p:spPr bwMode="auto">
              <a:xfrm>
                <a:off x="2782" y="3188"/>
                <a:ext cx="1803" cy="254"/>
              </a:xfrm>
              <a:prstGeom prst="ellipse">
                <a:avLst/>
              </a:prstGeom>
              <a:solidFill>
                <a:srgbClr val="00CC66"/>
              </a:solidFill>
              <a:ln w="9525">
                <a:noFill/>
                <a:round/>
                <a:headEnd/>
                <a:tailEnd/>
              </a:ln>
            </p:spPr>
            <p:txBody>
              <a:bodyPr wrap="none" anchor="ctr"/>
              <a:lstStyle/>
              <a:p>
                <a:endParaRPr lang="en-US"/>
              </a:p>
            </p:txBody>
          </p:sp>
        </p:grpSp>
        <p:sp>
          <p:nvSpPr>
            <p:cNvPr id="12316" name="Text Box 24"/>
            <p:cNvSpPr txBox="1">
              <a:spLocks noChangeArrowheads="1"/>
            </p:cNvSpPr>
            <p:nvPr/>
          </p:nvSpPr>
          <p:spPr bwMode="auto">
            <a:xfrm>
              <a:off x="2383" y="1172"/>
              <a:ext cx="603" cy="212"/>
            </a:xfrm>
            <a:prstGeom prst="rect">
              <a:avLst/>
            </a:prstGeom>
            <a:noFill/>
            <a:ln w="9525">
              <a:noFill/>
              <a:miter lim="800000"/>
              <a:headEnd/>
              <a:tailEnd/>
            </a:ln>
          </p:spPr>
          <p:txBody>
            <a:bodyPr wrap="none">
              <a:spAutoFit/>
            </a:bodyPr>
            <a:lstStyle/>
            <a:p>
              <a:r>
                <a:rPr lang="en-GB" sz="1600" b="1"/>
                <a:t>Internet</a:t>
              </a:r>
              <a:endParaRPr lang="en-US" sz="1600" b="1"/>
            </a:p>
          </p:txBody>
        </p:sp>
      </p:grpSp>
      <p:sp>
        <p:nvSpPr>
          <p:cNvPr id="12293" name="Text Box 25"/>
          <p:cNvSpPr txBox="1">
            <a:spLocks noChangeArrowheads="1"/>
          </p:cNvSpPr>
          <p:nvPr/>
        </p:nvSpPr>
        <p:spPr bwMode="auto">
          <a:xfrm>
            <a:off x="381000" y="379413"/>
            <a:ext cx="3008313" cy="457200"/>
          </a:xfrm>
          <a:prstGeom prst="rect">
            <a:avLst/>
          </a:prstGeom>
          <a:noFill/>
          <a:ln w="9525">
            <a:noFill/>
            <a:miter lim="800000"/>
            <a:headEnd/>
            <a:tailEnd/>
          </a:ln>
        </p:spPr>
        <p:txBody>
          <a:bodyPr wrap="none">
            <a:spAutoFit/>
          </a:bodyPr>
          <a:lstStyle/>
          <a:p>
            <a:r>
              <a:rPr lang="en-GB" sz="2400" b="1"/>
              <a:t>Layers of Networks</a:t>
            </a:r>
            <a:endParaRPr lang="en-US" sz="2400" b="1"/>
          </a:p>
        </p:txBody>
      </p:sp>
      <p:sp>
        <p:nvSpPr>
          <p:cNvPr id="12294" name="Text Box 26"/>
          <p:cNvSpPr txBox="1">
            <a:spLocks noChangeArrowheads="1"/>
          </p:cNvSpPr>
          <p:nvPr/>
        </p:nvSpPr>
        <p:spPr bwMode="auto">
          <a:xfrm>
            <a:off x="374952" y="4589730"/>
            <a:ext cx="5455340" cy="1323439"/>
          </a:xfrm>
          <a:prstGeom prst="rect">
            <a:avLst/>
          </a:prstGeom>
          <a:noFill/>
          <a:ln w="9525">
            <a:noFill/>
            <a:miter lim="800000"/>
            <a:headEnd/>
            <a:tailEnd/>
          </a:ln>
        </p:spPr>
        <p:txBody>
          <a:bodyPr wrap="none">
            <a:spAutoFit/>
          </a:bodyPr>
          <a:lstStyle/>
          <a:p>
            <a:pPr marL="174625" indent="-174625"/>
            <a:r>
              <a:rPr lang="en-GB" sz="1600" b="1"/>
              <a:t>Internet</a:t>
            </a:r>
            <a:endParaRPr lang="en-GB" sz="1600" b="1" dirty="0"/>
          </a:p>
          <a:p>
            <a:pPr marL="174625" indent="-174625">
              <a:buFontTx/>
              <a:buChar char="•"/>
            </a:pPr>
            <a:r>
              <a:rPr lang="en-GB" sz="1600" dirty="0"/>
              <a:t>US, mid ’60’s ARPANET; DOD Universities</a:t>
            </a:r>
          </a:p>
          <a:p>
            <a:pPr marL="174625" indent="-174625">
              <a:buFontTx/>
              <a:buChar char="•"/>
            </a:pPr>
            <a:r>
              <a:rPr lang="en-GB" sz="1600" dirty="0"/>
              <a:t>data (voice, video, data) is sent in packets</a:t>
            </a:r>
          </a:p>
          <a:p>
            <a:pPr marL="174625" indent="-174625">
              <a:buFontTx/>
              <a:buChar char="•"/>
            </a:pPr>
            <a:r>
              <a:rPr lang="en-GB" sz="1600" dirty="0"/>
              <a:t>packets are routed around the network individually</a:t>
            </a:r>
          </a:p>
          <a:p>
            <a:pPr marL="174625" indent="-174625">
              <a:buFontTx/>
              <a:buChar char="•"/>
            </a:pPr>
            <a:r>
              <a:rPr lang="en-GB" sz="1600" dirty="0"/>
              <a:t>“survivable network”</a:t>
            </a:r>
            <a:endParaRPr lang="en-US" sz="1600" dirty="0"/>
          </a:p>
        </p:txBody>
      </p:sp>
      <p:grpSp>
        <p:nvGrpSpPr>
          <p:cNvPr id="5" name="Group 27"/>
          <p:cNvGrpSpPr>
            <a:grpSpLocks/>
          </p:cNvGrpSpPr>
          <p:nvPr/>
        </p:nvGrpSpPr>
        <p:grpSpPr bwMode="auto">
          <a:xfrm>
            <a:off x="1944688" y="1196975"/>
            <a:ext cx="5529262" cy="1335088"/>
            <a:chOff x="1225" y="754"/>
            <a:chExt cx="3483" cy="841"/>
          </a:xfrm>
        </p:grpSpPr>
        <p:grpSp>
          <p:nvGrpSpPr>
            <p:cNvPr id="6" name="Group 28"/>
            <p:cNvGrpSpPr>
              <a:grpSpLocks/>
            </p:cNvGrpSpPr>
            <p:nvPr/>
          </p:nvGrpSpPr>
          <p:grpSpPr bwMode="auto">
            <a:xfrm>
              <a:off x="1248" y="1012"/>
              <a:ext cx="3460" cy="583"/>
              <a:chOff x="405" y="3126"/>
              <a:chExt cx="4948" cy="583"/>
            </a:xfrm>
          </p:grpSpPr>
          <p:sp>
            <p:nvSpPr>
              <p:cNvPr id="12306" name="Oval 29"/>
              <p:cNvSpPr>
                <a:spLocks noChangeArrowheads="1"/>
              </p:cNvSpPr>
              <p:nvPr/>
            </p:nvSpPr>
            <p:spPr bwMode="auto">
              <a:xfrm>
                <a:off x="405" y="3352"/>
                <a:ext cx="1803" cy="254"/>
              </a:xfrm>
              <a:prstGeom prst="ellipse">
                <a:avLst/>
              </a:prstGeom>
              <a:solidFill>
                <a:schemeClr val="folHlink"/>
              </a:solidFill>
              <a:ln w="9525">
                <a:noFill/>
                <a:round/>
                <a:headEnd/>
                <a:tailEnd/>
              </a:ln>
            </p:spPr>
            <p:txBody>
              <a:bodyPr wrap="none" anchor="ctr"/>
              <a:lstStyle/>
              <a:p>
                <a:endParaRPr lang="en-US"/>
              </a:p>
            </p:txBody>
          </p:sp>
          <p:sp>
            <p:nvSpPr>
              <p:cNvPr id="12307" name="Oval 30"/>
              <p:cNvSpPr>
                <a:spLocks noChangeArrowheads="1"/>
              </p:cNvSpPr>
              <p:nvPr/>
            </p:nvSpPr>
            <p:spPr bwMode="auto">
              <a:xfrm>
                <a:off x="836" y="3243"/>
                <a:ext cx="1803" cy="254"/>
              </a:xfrm>
              <a:prstGeom prst="ellipse">
                <a:avLst/>
              </a:prstGeom>
              <a:solidFill>
                <a:schemeClr val="folHlink"/>
              </a:solidFill>
              <a:ln w="9525">
                <a:noFill/>
                <a:round/>
                <a:headEnd/>
                <a:tailEnd/>
              </a:ln>
            </p:spPr>
            <p:txBody>
              <a:bodyPr wrap="none" anchor="ctr"/>
              <a:lstStyle/>
              <a:p>
                <a:endParaRPr lang="en-US"/>
              </a:p>
            </p:txBody>
          </p:sp>
          <p:sp>
            <p:nvSpPr>
              <p:cNvPr id="12308" name="Oval 31"/>
              <p:cNvSpPr>
                <a:spLocks noChangeArrowheads="1"/>
              </p:cNvSpPr>
              <p:nvPr/>
            </p:nvSpPr>
            <p:spPr bwMode="auto">
              <a:xfrm>
                <a:off x="1652" y="3442"/>
                <a:ext cx="1803" cy="254"/>
              </a:xfrm>
              <a:prstGeom prst="ellipse">
                <a:avLst/>
              </a:prstGeom>
              <a:solidFill>
                <a:schemeClr val="folHlink"/>
              </a:solidFill>
              <a:ln w="9525">
                <a:noFill/>
                <a:round/>
                <a:headEnd/>
                <a:tailEnd/>
              </a:ln>
            </p:spPr>
            <p:txBody>
              <a:bodyPr wrap="none" anchor="ctr"/>
              <a:lstStyle/>
              <a:p>
                <a:endParaRPr lang="en-US"/>
              </a:p>
            </p:txBody>
          </p:sp>
          <p:sp>
            <p:nvSpPr>
              <p:cNvPr id="12309" name="Oval 32"/>
              <p:cNvSpPr>
                <a:spLocks noChangeArrowheads="1"/>
              </p:cNvSpPr>
              <p:nvPr/>
            </p:nvSpPr>
            <p:spPr bwMode="auto">
              <a:xfrm>
                <a:off x="2042" y="3332"/>
                <a:ext cx="1803" cy="254"/>
              </a:xfrm>
              <a:prstGeom prst="ellipse">
                <a:avLst/>
              </a:prstGeom>
              <a:solidFill>
                <a:schemeClr val="folHlink"/>
              </a:solidFill>
              <a:ln w="9525">
                <a:noFill/>
                <a:round/>
                <a:headEnd/>
                <a:tailEnd/>
              </a:ln>
            </p:spPr>
            <p:txBody>
              <a:bodyPr wrap="none" anchor="ctr"/>
              <a:lstStyle/>
              <a:p>
                <a:endParaRPr lang="en-US"/>
              </a:p>
            </p:txBody>
          </p:sp>
          <p:sp>
            <p:nvSpPr>
              <p:cNvPr id="12310" name="Oval 33"/>
              <p:cNvSpPr>
                <a:spLocks noChangeArrowheads="1"/>
              </p:cNvSpPr>
              <p:nvPr/>
            </p:nvSpPr>
            <p:spPr bwMode="auto">
              <a:xfrm>
                <a:off x="3153" y="3455"/>
                <a:ext cx="1803" cy="254"/>
              </a:xfrm>
              <a:prstGeom prst="ellipse">
                <a:avLst/>
              </a:prstGeom>
              <a:solidFill>
                <a:schemeClr val="folHlink"/>
              </a:solidFill>
              <a:ln w="9525">
                <a:noFill/>
                <a:round/>
                <a:headEnd/>
                <a:tailEnd/>
              </a:ln>
            </p:spPr>
            <p:txBody>
              <a:bodyPr wrap="none" anchor="ctr"/>
              <a:lstStyle/>
              <a:p>
                <a:endParaRPr lang="en-US"/>
              </a:p>
            </p:txBody>
          </p:sp>
          <p:sp>
            <p:nvSpPr>
              <p:cNvPr id="12311" name="Oval 34"/>
              <p:cNvSpPr>
                <a:spLocks noChangeArrowheads="1"/>
              </p:cNvSpPr>
              <p:nvPr/>
            </p:nvSpPr>
            <p:spPr bwMode="auto">
              <a:xfrm>
                <a:off x="3276" y="3257"/>
                <a:ext cx="1803" cy="254"/>
              </a:xfrm>
              <a:prstGeom prst="ellipse">
                <a:avLst/>
              </a:prstGeom>
              <a:solidFill>
                <a:schemeClr val="folHlink"/>
              </a:solidFill>
              <a:ln w="9525">
                <a:noFill/>
                <a:round/>
                <a:headEnd/>
                <a:tailEnd/>
              </a:ln>
            </p:spPr>
            <p:txBody>
              <a:bodyPr wrap="none" anchor="ctr"/>
              <a:lstStyle/>
              <a:p>
                <a:endParaRPr lang="en-US"/>
              </a:p>
            </p:txBody>
          </p:sp>
          <p:sp>
            <p:nvSpPr>
              <p:cNvPr id="12312" name="Oval 35"/>
              <p:cNvSpPr>
                <a:spLocks noChangeArrowheads="1"/>
              </p:cNvSpPr>
              <p:nvPr/>
            </p:nvSpPr>
            <p:spPr bwMode="auto">
              <a:xfrm>
                <a:off x="3550" y="3394"/>
                <a:ext cx="1803" cy="254"/>
              </a:xfrm>
              <a:prstGeom prst="ellipse">
                <a:avLst/>
              </a:prstGeom>
              <a:solidFill>
                <a:schemeClr val="folHlink"/>
              </a:solidFill>
              <a:ln w="9525">
                <a:noFill/>
                <a:round/>
                <a:headEnd/>
                <a:tailEnd/>
              </a:ln>
            </p:spPr>
            <p:txBody>
              <a:bodyPr wrap="none" anchor="ctr"/>
              <a:lstStyle/>
              <a:p>
                <a:endParaRPr lang="en-US"/>
              </a:p>
            </p:txBody>
          </p:sp>
          <p:sp>
            <p:nvSpPr>
              <p:cNvPr id="12313" name="Oval 36"/>
              <p:cNvSpPr>
                <a:spLocks noChangeArrowheads="1"/>
              </p:cNvSpPr>
              <p:nvPr/>
            </p:nvSpPr>
            <p:spPr bwMode="auto">
              <a:xfrm>
                <a:off x="1274" y="3126"/>
                <a:ext cx="1803" cy="254"/>
              </a:xfrm>
              <a:prstGeom prst="ellipse">
                <a:avLst/>
              </a:prstGeom>
              <a:solidFill>
                <a:schemeClr val="folHlink"/>
              </a:solidFill>
              <a:ln w="9525">
                <a:noFill/>
                <a:round/>
                <a:headEnd/>
                <a:tailEnd/>
              </a:ln>
            </p:spPr>
            <p:txBody>
              <a:bodyPr wrap="none" anchor="ctr"/>
              <a:lstStyle/>
              <a:p>
                <a:endParaRPr lang="en-US"/>
              </a:p>
            </p:txBody>
          </p:sp>
          <p:sp>
            <p:nvSpPr>
              <p:cNvPr id="12314" name="Oval 37"/>
              <p:cNvSpPr>
                <a:spLocks noChangeArrowheads="1"/>
              </p:cNvSpPr>
              <p:nvPr/>
            </p:nvSpPr>
            <p:spPr bwMode="auto">
              <a:xfrm>
                <a:off x="2782" y="3188"/>
                <a:ext cx="1803" cy="254"/>
              </a:xfrm>
              <a:prstGeom prst="ellipse">
                <a:avLst/>
              </a:prstGeom>
              <a:solidFill>
                <a:schemeClr val="folHlink"/>
              </a:solidFill>
              <a:ln w="9525">
                <a:noFill/>
                <a:round/>
                <a:headEnd/>
                <a:tailEnd/>
              </a:ln>
            </p:spPr>
            <p:txBody>
              <a:bodyPr wrap="none" anchor="ctr"/>
              <a:lstStyle/>
              <a:p>
                <a:endParaRPr lang="en-US"/>
              </a:p>
            </p:txBody>
          </p:sp>
        </p:grpSp>
        <p:sp>
          <p:nvSpPr>
            <p:cNvPr id="12297" name="Text Box 38"/>
            <p:cNvSpPr txBox="1">
              <a:spLocks noChangeArrowheads="1"/>
            </p:cNvSpPr>
            <p:nvPr/>
          </p:nvSpPr>
          <p:spPr bwMode="auto">
            <a:xfrm>
              <a:off x="2449" y="1231"/>
              <a:ext cx="1118" cy="212"/>
            </a:xfrm>
            <a:prstGeom prst="rect">
              <a:avLst/>
            </a:prstGeom>
            <a:noFill/>
            <a:ln w="9525">
              <a:noFill/>
              <a:miter lim="800000"/>
              <a:headEnd/>
              <a:tailEnd/>
            </a:ln>
          </p:spPr>
          <p:txBody>
            <a:bodyPr wrap="none">
              <a:spAutoFit/>
            </a:bodyPr>
            <a:lstStyle/>
            <a:p>
              <a:r>
                <a:rPr lang="en-GB" sz="1600" b="1"/>
                <a:t>World Wide Web</a:t>
              </a:r>
              <a:endParaRPr lang="en-US" sz="1600" b="1"/>
            </a:p>
          </p:txBody>
        </p:sp>
        <p:sp>
          <p:nvSpPr>
            <p:cNvPr id="12298" name="Text Box 39"/>
            <p:cNvSpPr txBox="1">
              <a:spLocks noChangeArrowheads="1"/>
            </p:cNvSpPr>
            <p:nvPr/>
          </p:nvSpPr>
          <p:spPr bwMode="auto">
            <a:xfrm>
              <a:off x="1225" y="754"/>
              <a:ext cx="3473" cy="212"/>
            </a:xfrm>
            <a:prstGeom prst="rect">
              <a:avLst/>
            </a:prstGeom>
            <a:noFill/>
            <a:ln w="9525">
              <a:noFill/>
              <a:miter lim="800000"/>
              <a:headEnd/>
              <a:tailEnd/>
            </a:ln>
          </p:spPr>
          <p:txBody>
            <a:bodyPr wrap="none">
              <a:spAutoFit/>
            </a:bodyPr>
            <a:lstStyle/>
            <a:p>
              <a:r>
                <a:rPr lang="en-GB" sz="1600"/>
                <a:t>Services – from servers to clients – data, media, voice </a:t>
              </a:r>
              <a:endParaRPr lang="en-US" sz="1600"/>
            </a:p>
          </p:txBody>
        </p:sp>
        <p:sp>
          <p:nvSpPr>
            <p:cNvPr id="12299" name="Line 40"/>
            <p:cNvSpPr>
              <a:spLocks noChangeShapeType="1"/>
            </p:cNvSpPr>
            <p:nvPr/>
          </p:nvSpPr>
          <p:spPr bwMode="auto">
            <a:xfrm flipH="1" flipV="1">
              <a:off x="1701" y="939"/>
              <a:ext cx="171" cy="343"/>
            </a:xfrm>
            <a:prstGeom prst="line">
              <a:avLst/>
            </a:prstGeom>
            <a:noFill/>
            <a:ln w="57150">
              <a:solidFill>
                <a:schemeClr val="bg2"/>
              </a:solidFill>
              <a:round/>
              <a:headEnd/>
              <a:tailEnd type="triangle" w="med" len="med"/>
            </a:ln>
          </p:spPr>
          <p:txBody>
            <a:bodyPr/>
            <a:lstStyle/>
            <a:p>
              <a:endParaRPr lang="en-GB"/>
            </a:p>
          </p:txBody>
        </p:sp>
        <p:sp>
          <p:nvSpPr>
            <p:cNvPr id="12300" name="Line 41"/>
            <p:cNvSpPr>
              <a:spLocks noChangeShapeType="1"/>
            </p:cNvSpPr>
            <p:nvPr/>
          </p:nvSpPr>
          <p:spPr bwMode="auto">
            <a:xfrm flipV="1">
              <a:off x="4142" y="953"/>
              <a:ext cx="233" cy="336"/>
            </a:xfrm>
            <a:prstGeom prst="line">
              <a:avLst/>
            </a:prstGeom>
            <a:noFill/>
            <a:ln w="57150">
              <a:solidFill>
                <a:schemeClr val="bg2"/>
              </a:solidFill>
              <a:round/>
              <a:headEnd/>
              <a:tailEnd type="triangle" w="med" len="med"/>
            </a:ln>
          </p:spPr>
          <p:txBody>
            <a:bodyPr/>
            <a:lstStyle/>
            <a:p>
              <a:endParaRPr lang="en-GB"/>
            </a:p>
          </p:txBody>
        </p:sp>
        <p:sp>
          <p:nvSpPr>
            <p:cNvPr id="12301" name="Line 42"/>
            <p:cNvSpPr>
              <a:spLocks noChangeShapeType="1"/>
            </p:cNvSpPr>
            <p:nvPr/>
          </p:nvSpPr>
          <p:spPr bwMode="auto">
            <a:xfrm flipV="1">
              <a:off x="3895" y="967"/>
              <a:ext cx="124" cy="247"/>
            </a:xfrm>
            <a:prstGeom prst="line">
              <a:avLst/>
            </a:prstGeom>
            <a:noFill/>
            <a:ln w="57150">
              <a:solidFill>
                <a:schemeClr val="bg2"/>
              </a:solidFill>
              <a:round/>
              <a:headEnd/>
              <a:tailEnd type="triangle" w="med" len="med"/>
            </a:ln>
          </p:spPr>
          <p:txBody>
            <a:bodyPr/>
            <a:lstStyle/>
            <a:p>
              <a:endParaRPr lang="en-GB"/>
            </a:p>
          </p:txBody>
        </p:sp>
        <p:sp>
          <p:nvSpPr>
            <p:cNvPr id="12302" name="Line 43"/>
            <p:cNvSpPr>
              <a:spLocks noChangeShapeType="1"/>
            </p:cNvSpPr>
            <p:nvPr/>
          </p:nvSpPr>
          <p:spPr bwMode="auto">
            <a:xfrm flipV="1">
              <a:off x="3620" y="946"/>
              <a:ext cx="29" cy="192"/>
            </a:xfrm>
            <a:prstGeom prst="line">
              <a:avLst/>
            </a:prstGeom>
            <a:noFill/>
            <a:ln w="57150">
              <a:solidFill>
                <a:schemeClr val="bg2"/>
              </a:solidFill>
              <a:round/>
              <a:headEnd/>
              <a:tailEnd type="triangle" w="med" len="med"/>
            </a:ln>
          </p:spPr>
          <p:txBody>
            <a:bodyPr/>
            <a:lstStyle/>
            <a:p>
              <a:endParaRPr lang="en-GB"/>
            </a:p>
          </p:txBody>
        </p:sp>
        <p:sp>
          <p:nvSpPr>
            <p:cNvPr id="12303" name="Line 44"/>
            <p:cNvSpPr>
              <a:spLocks noChangeShapeType="1"/>
            </p:cNvSpPr>
            <p:nvPr/>
          </p:nvSpPr>
          <p:spPr bwMode="auto">
            <a:xfrm flipV="1">
              <a:off x="3139" y="946"/>
              <a:ext cx="9" cy="247"/>
            </a:xfrm>
            <a:prstGeom prst="line">
              <a:avLst/>
            </a:prstGeom>
            <a:noFill/>
            <a:ln w="57150">
              <a:solidFill>
                <a:schemeClr val="bg2"/>
              </a:solidFill>
              <a:round/>
              <a:headEnd/>
              <a:tailEnd type="triangle" w="med" len="med"/>
            </a:ln>
          </p:spPr>
          <p:txBody>
            <a:bodyPr/>
            <a:lstStyle/>
            <a:p>
              <a:endParaRPr lang="en-GB"/>
            </a:p>
          </p:txBody>
        </p:sp>
        <p:sp>
          <p:nvSpPr>
            <p:cNvPr id="12304" name="Line 45"/>
            <p:cNvSpPr>
              <a:spLocks noChangeShapeType="1"/>
            </p:cNvSpPr>
            <p:nvPr/>
          </p:nvSpPr>
          <p:spPr bwMode="auto">
            <a:xfrm flipH="1" flipV="1">
              <a:off x="2744" y="932"/>
              <a:ext cx="25" cy="212"/>
            </a:xfrm>
            <a:prstGeom prst="line">
              <a:avLst/>
            </a:prstGeom>
            <a:noFill/>
            <a:ln w="57150">
              <a:solidFill>
                <a:schemeClr val="bg2"/>
              </a:solidFill>
              <a:round/>
              <a:headEnd/>
              <a:tailEnd type="triangle" w="med" len="med"/>
            </a:ln>
          </p:spPr>
          <p:txBody>
            <a:bodyPr/>
            <a:lstStyle/>
            <a:p>
              <a:endParaRPr lang="en-GB"/>
            </a:p>
          </p:txBody>
        </p:sp>
        <p:sp>
          <p:nvSpPr>
            <p:cNvPr id="12305" name="Line 46"/>
            <p:cNvSpPr>
              <a:spLocks noChangeShapeType="1"/>
            </p:cNvSpPr>
            <p:nvPr/>
          </p:nvSpPr>
          <p:spPr bwMode="auto">
            <a:xfrm flipH="1" flipV="1">
              <a:off x="2305" y="945"/>
              <a:ext cx="46" cy="233"/>
            </a:xfrm>
            <a:prstGeom prst="line">
              <a:avLst/>
            </a:prstGeom>
            <a:noFill/>
            <a:ln w="57150">
              <a:solidFill>
                <a:schemeClr val="bg2"/>
              </a:solidFill>
              <a:round/>
              <a:headEnd/>
              <a:tailEnd type="triangle" w="med" len="med"/>
            </a:ln>
          </p:spPr>
          <p:txBody>
            <a:bodyPr/>
            <a:lstStyle/>
            <a:p>
              <a:endParaRPr lang="en-GB"/>
            </a:p>
          </p:txBody>
        </p:sp>
      </p:grpSp>
      <p:grpSp>
        <p:nvGrpSpPr>
          <p:cNvPr id="47" name="Group 2"/>
          <p:cNvGrpSpPr>
            <a:grpSpLocks/>
          </p:cNvGrpSpPr>
          <p:nvPr/>
        </p:nvGrpSpPr>
        <p:grpSpPr bwMode="auto">
          <a:xfrm>
            <a:off x="580375" y="3230813"/>
            <a:ext cx="2896354" cy="925513"/>
            <a:chOff x="405" y="3126"/>
            <a:chExt cx="4948" cy="583"/>
          </a:xfrm>
        </p:grpSpPr>
        <p:sp>
          <p:nvSpPr>
            <p:cNvPr id="48" name="Oval 3"/>
            <p:cNvSpPr>
              <a:spLocks noChangeArrowheads="1"/>
            </p:cNvSpPr>
            <p:nvPr/>
          </p:nvSpPr>
          <p:spPr bwMode="auto">
            <a:xfrm>
              <a:off x="405" y="3352"/>
              <a:ext cx="1803" cy="254"/>
            </a:xfrm>
            <a:prstGeom prst="ellipse">
              <a:avLst/>
            </a:prstGeom>
            <a:solidFill>
              <a:srgbClr val="800000"/>
            </a:solidFill>
            <a:ln w="9525">
              <a:noFill/>
              <a:round/>
              <a:headEnd/>
              <a:tailEnd/>
            </a:ln>
          </p:spPr>
          <p:txBody>
            <a:bodyPr wrap="none" anchor="ctr"/>
            <a:lstStyle/>
            <a:p>
              <a:pPr algn="ctr"/>
              <a:endParaRPr lang="en-US"/>
            </a:p>
          </p:txBody>
        </p:sp>
        <p:sp>
          <p:nvSpPr>
            <p:cNvPr id="49" name="Oval 4"/>
            <p:cNvSpPr>
              <a:spLocks noChangeArrowheads="1"/>
            </p:cNvSpPr>
            <p:nvPr/>
          </p:nvSpPr>
          <p:spPr bwMode="auto">
            <a:xfrm>
              <a:off x="836" y="3243"/>
              <a:ext cx="1803" cy="254"/>
            </a:xfrm>
            <a:prstGeom prst="ellipse">
              <a:avLst/>
            </a:prstGeom>
            <a:solidFill>
              <a:srgbClr val="800000"/>
            </a:solidFill>
            <a:ln w="9525">
              <a:noFill/>
              <a:round/>
              <a:headEnd/>
              <a:tailEnd/>
            </a:ln>
          </p:spPr>
          <p:txBody>
            <a:bodyPr wrap="none" anchor="ctr"/>
            <a:lstStyle/>
            <a:p>
              <a:pPr algn="ctr"/>
              <a:endParaRPr lang="en-US"/>
            </a:p>
          </p:txBody>
        </p:sp>
        <p:sp>
          <p:nvSpPr>
            <p:cNvPr id="50" name="Oval 5"/>
            <p:cNvSpPr>
              <a:spLocks noChangeArrowheads="1"/>
            </p:cNvSpPr>
            <p:nvPr/>
          </p:nvSpPr>
          <p:spPr bwMode="auto">
            <a:xfrm>
              <a:off x="1652" y="3442"/>
              <a:ext cx="1803" cy="254"/>
            </a:xfrm>
            <a:prstGeom prst="ellipse">
              <a:avLst/>
            </a:prstGeom>
            <a:solidFill>
              <a:srgbClr val="800000"/>
            </a:solidFill>
            <a:ln w="9525">
              <a:noFill/>
              <a:round/>
              <a:headEnd/>
              <a:tailEnd/>
            </a:ln>
          </p:spPr>
          <p:txBody>
            <a:bodyPr wrap="none" anchor="ctr"/>
            <a:lstStyle/>
            <a:p>
              <a:pPr algn="ctr"/>
              <a:endParaRPr lang="en-US"/>
            </a:p>
          </p:txBody>
        </p:sp>
        <p:sp>
          <p:nvSpPr>
            <p:cNvPr id="51" name="Oval 6"/>
            <p:cNvSpPr>
              <a:spLocks noChangeArrowheads="1"/>
            </p:cNvSpPr>
            <p:nvPr/>
          </p:nvSpPr>
          <p:spPr bwMode="auto">
            <a:xfrm>
              <a:off x="2042" y="3332"/>
              <a:ext cx="1803" cy="254"/>
            </a:xfrm>
            <a:prstGeom prst="ellipse">
              <a:avLst/>
            </a:prstGeom>
            <a:solidFill>
              <a:srgbClr val="800000"/>
            </a:solidFill>
            <a:ln w="9525">
              <a:noFill/>
              <a:round/>
              <a:headEnd/>
              <a:tailEnd/>
            </a:ln>
          </p:spPr>
          <p:txBody>
            <a:bodyPr wrap="none" anchor="ctr"/>
            <a:lstStyle/>
            <a:p>
              <a:pPr algn="ctr"/>
              <a:endParaRPr lang="en-US"/>
            </a:p>
          </p:txBody>
        </p:sp>
        <p:sp>
          <p:nvSpPr>
            <p:cNvPr id="52" name="Oval 7"/>
            <p:cNvSpPr>
              <a:spLocks noChangeArrowheads="1"/>
            </p:cNvSpPr>
            <p:nvPr/>
          </p:nvSpPr>
          <p:spPr bwMode="auto">
            <a:xfrm>
              <a:off x="3153" y="3455"/>
              <a:ext cx="1803" cy="254"/>
            </a:xfrm>
            <a:prstGeom prst="ellipse">
              <a:avLst/>
            </a:prstGeom>
            <a:solidFill>
              <a:srgbClr val="800000"/>
            </a:solidFill>
            <a:ln w="9525">
              <a:noFill/>
              <a:round/>
              <a:headEnd/>
              <a:tailEnd/>
            </a:ln>
          </p:spPr>
          <p:txBody>
            <a:bodyPr wrap="none" anchor="ctr"/>
            <a:lstStyle/>
            <a:p>
              <a:pPr algn="ctr"/>
              <a:endParaRPr lang="en-US"/>
            </a:p>
          </p:txBody>
        </p:sp>
        <p:sp>
          <p:nvSpPr>
            <p:cNvPr id="53" name="Oval 8"/>
            <p:cNvSpPr>
              <a:spLocks noChangeArrowheads="1"/>
            </p:cNvSpPr>
            <p:nvPr/>
          </p:nvSpPr>
          <p:spPr bwMode="auto">
            <a:xfrm>
              <a:off x="3276" y="3257"/>
              <a:ext cx="1803" cy="254"/>
            </a:xfrm>
            <a:prstGeom prst="ellipse">
              <a:avLst/>
            </a:prstGeom>
            <a:solidFill>
              <a:srgbClr val="800000"/>
            </a:solidFill>
            <a:ln w="9525">
              <a:noFill/>
              <a:round/>
              <a:headEnd/>
              <a:tailEnd/>
            </a:ln>
          </p:spPr>
          <p:txBody>
            <a:bodyPr wrap="none" anchor="ctr"/>
            <a:lstStyle/>
            <a:p>
              <a:pPr algn="ctr"/>
              <a:endParaRPr lang="en-US"/>
            </a:p>
          </p:txBody>
        </p:sp>
        <p:sp>
          <p:nvSpPr>
            <p:cNvPr id="54" name="Oval 9"/>
            <p:cNvSpPr>
              <a:spLocks noChangeArrowheads="1"/>
            </p:cNvSpPr>
            <p:nvPr/>
          </p:nvSpPr>
          <p:spPr bwMode="auto">
            <a:xfrm>
              <a:off x="3550" y="3394"/>
              <a:ext cx="1803" cy="254"/>
            </a:xfrm>
            <a:prstGeom prst="ellipse">
              <a:avLst/>
            </a:prstGeom>
            <a:solidFill>
              <a:srgbClr val="800000"/>
            </a:solidFill>
            <a:ln w="9525">
              <a:noFill/>
              <a:round/>
              <a:headEnd/>
              <a:tailEnd/>
            </a:ln>
          </p:spPr>
          <p:txBody>
            <a:bodyPr wrap="none" anchor="ctr"/>
            <a:lstStyle/>
            <a:p>
              <a:pPr algn="ctr"/>
              <a:endParaRPr lang="en-US"/>
            </a:p>
          </p:txBody>
        </p:sp>
        <p:sp>
          <p:nvSpPr>
            <p:cNvPr id="55" name="Oval 10"/>
            <p:cNvSpPr>
              <a:spLocks noChangeArrowheads="1"/>
            </p:cNvSpPr>
            <p:nvPr/>
          </p:nvSpPr>
          <p:spPr bwMode="auto">
            <a:xfrm>
              <a:off x="1274" y="3126"/>
              <a:ext cx="1803" cy="254"/>
            </a:xfrm>
            <a:prstGeom prst="ellipse">
              <a:avLst/>
            </a:prstGeom>
            <a:solidFill>
              <a:srgbClr val="800000"/>
            </a:solidFill>
            <a:ln w="9525">
              <a:noFill/>
              <a:round/>
              <a:headEnd/>
              <a:tailEnd/>
            </a:ln>
          </p:spPr>
          <p:txBody>
            <a:bodyPr wrap="none" anchor="ctr"/>
            <a:lstStyle/>
            <a:p>
              <a:pPr algn="ctr"/>
              <a:endParaRPr lang="en-US"/>
            </a:p>
          </p:txBody>
        </p:sp>
        <p:sp>
          <p:nvSpPr>
            <p:cNvPr id="56" name="Oval 11"/>
            <p:cNvSpPr>
              <a:spLocks noChangeArrowheads="1"/>
            </p:cNvSpPr>
            <p:nvPr/>
          </p:nvSpPr>
          <p:spPr bwMode="auto">
            <a:xfrm>
              <a:off x="2782" y="3188"/>
              <a:ext cx="1803" cy="254"/>
            </a:xfrm>
            <a:prstGeom prst="ellipse">
              <a:avLst/>
            </a:prstGeom>
            <a:solidFill>
              <a:srgbClr val="800000"/>
            </a:solidFill>
            <a:ln w="9525">
              <a:noFill/>
              <a:round/>
              <a:headEnd/>
              <a:tailEnd/>
            </a:ln>
          </p:spPr>
          <p:txBody>
            <a:bodyPr wrap="none" anchor="ctr"/>
            <a:lstStyle/>
            <a:p>
              <a:pPr algn="ctr"/>
              <a:endParaRPr lang="en-US"/>
            </a:p>
          </p:txBody>
        </p:sp>
      </p:grpSp>
      <p:sp>
        <p:nvSpPr>
          <p:cNvPr id="57" name="Text Box 12"/>
          <p:cNvSpPr txBox="1">
            <a:spLocks noChangeArrowheads="1"/>
          </p:cNvSpPr>
          <p:nvPr/>
        </p:nvSpPr>
        <p:spPr bwMode="auto">
          <a:xfrm>
            <a:off x="1033214" y="3432425"/>
            <a:ext cx="1990170" cy="584775"/>
          </a:xfrm>
          <a:prstGeom prst="rect">
            <a:avLst/>
          </a:prstGeom>
          <a:noFill/>
          <a:ln w="9525">
            <a:noFill/>
            <a:miter lim="800000"/>
            <a:headEnd/>
            <a:tailEnd/>
          </a:ln>
        </p:spPr>
        <p:txBody>
          <a:bodyPr wrap="square">
            <a:spAutoFit/>
          </a:bodyPr>
          <a:lstStyle/>
          <a:p>
            <a:pPr algn="ctr"/>
            <a:r>
              <a:rPr lang="en-GB" sz="1600" b="1" dirty="0">
                <a:solidFill>
                  <a:schemeClr val="bg1"/>
                </a:solidFill>
              </a:rPr>
              <a:t>Telephone Network - BT</a:t>
            </a:r>
            <a:endParaRPr lang="en-US" sz="1600" b="1" dirty="0">
              <a:solidFill>
                <a:schemeClr val="bg1"/>
              </a:solidFill>
            </a:endParaRPr>
          </a:p>
        </p:txBody>
      </p:sp>
      <p:grpSp>
        <p:nvGrpSpPr>
          <p:cNvPr id="58" name="Group 13"/>
          <p:cNvGrpSpPr>
            <a:grpSpLocks/>
          </p:cNvGrpSpPr>
          <p:nvPr/>
        </p:nvGrpSpPr>
        <p:grpSpPr bwMode="auto">
          <a:xfrm>
            <a:off x="1423988" y="2487613"/>
            <a:ext cx="6699250" cy="777875"/>
            <a:chOff x="665" y="1033"/>
            <a:chExt cx="4220" cy="490"/>
          </a:xfrm>
        </p:grpSpPr>
        <p:grpSp>
          <p:nvGrpSpPr>
            <p:cNvPr id="59" name="Group 14"/>
            <p:cNvGrpSpPr>
              <a:grpSpLocks/>
            </p:cNvGrpSpPr>
            <p:nvPr/>
          </p:nvGrpSpPr>
          <p:grpSpPr bwMode="auto">
            <a:xfrm rot="21588274" flipH="1">
              <a:off x="665" y="1033"/>
              <a:ext cx="4220" cy="490"/>
              <a:chOff x="405" y="3126"/>
              <a:chExt cx="4948" cy="583"/>
            </a:xfrm>
          </p:grpSpPr>
          <p:sp>
            <p:nvSpPr>
              <p:cNvPr id="61" name="Oval 60"/>
              <p:cNvSpPr>
                <a:spLocks noChangeArrowheads="1"/>
              </p:cNvSpPr>
              <p:nvPr/>
            </p:nvSpPr>
            <p:spPr bwMode="auto">
              <a:xfrm>
                <a:off x="405" y="3352"/>
                <a:ext cx="1803" cy="254"/>
              </a:xfrm>
              <a:prstGeom prst="ellipse">
                <a:avLst/>
              </a:prstGeom>
              <a:solidFill>
                <a:srgbClr val="00CC66"/>
              </a:solidFill>
              <a:ln w="9525">
                <a:noFill/>
                <a:round/>
                <a:headEnd/>
                <a:tailEnd/>
              </a:ln>
            </p:spPr>
            <p:txBody>
              <a:bodyPr wrap="none" anchor="ctr"/>
              <a:lstStyle/>
              <a:p>
                <a:endParaRPr lang="en-US"/>
              </a:p>
            </p:txBody>
          </p:sp>
          <p:sp>
            <p:nvSpPr>
              <p:cNvPr id="62" name="Oval 61"/>
              <p:cNvSpPr>
                <a:spLocks noChangeArrowheads="1"/>
              </p:cNvSpPr>
              <p:nvPr/>
            </p:nvSpPr>
            <p:spPr bwMode="auto">
              <a:xfrm>
                <a:off x="836" y="3243"/>
                <a:ext cx="1803" cy="254"/>
              </a:xfrm>
              <a:prstGeom prst="ellipse">
                <a:avLst/>
              </a:prstGeom>
              <a:solidFill>
                <a:srgbClr val="00CC66"/>
              </a:solidFill>
              <a:ln w="9525">
                <a:noFill/>
                <a:round/>
                <a:headEnd/>
                <a:tailEnd/>
              </a:ln>
            </p:spPr>
            <p:txBody>
              <a:bodyPr wrap="none" anchor="ctr"/>
              <a:lstStyle/>
              <a:p>
                <a:endParaRPr lang="en-US"/>
              </a:p>
            </p:txBody>
          </p:sp>
          <p:sp>
            <p:nvSpPr>
              <p:cNvPr id="63" name="Oval 62"/>
              <p:cNvSpPr>
                <a:spLocks noChangeArrowheads="1"/>
              </p:cNvSpPr>
              <p:nvPr/>
            </p:nvSpPr>
            <p:spPr bwMode="auto">
              <a:xfrm>
                <a:off x="1652" y="3442"/>
                <a:ext cx="1803" cy="254"/>
              </a:xfrm>
              <a:prstGeom prst="ellipse">
                <a:avLst/>
              </a:prstGeom>
              <a:solidFill>
                <a:srgbClr val="00CC66"/>
              </a:solidFill>
              <a:ln w="9525">
                <a:noFill/>
                <a:round/>
                <a:headEnd/>
                <a:tailEnd/>
              </a:ln>
            </p:spPr>
            <p:txBody>
              <a:bodyPr wrap="none" anchor="ctr"/>
              <a:lstStyle/>
              <a:p>
                <a:endParaRPr lang="en-US"/>
              </a:p>
            </p:txBody>
          </p:sp>
          <p:sp>
            <p:nvSpPr>
              <p:cNvPr id="64" name="Oval 63"/>
              <p:cNvSpPr>
                <a:spLocks noChangeArrowheads="1"/>
              </p:cNvSpPr>
              <p:nvPr/>
            </p:nvSpPr>
            <p:spPr bwMode="auto">
              <a:xfrm>
                <a:off x="2042" y="3332"/>
                <a:ext cx="1803" cy="254"/>
              </a:xfrm>
              <a:prstGeom prst="ellipse">
                <a:avLst/>
              </a:prstGeom>
              <a:solidFill>
                <a:srgbClr val="00CC66"/>
              </a:solidFill>
              <a:ln w="9525">
                <a:noFill/>
                <a:round/>
                <a:headEnd/>
                <a:tailEnd/>
              </a:ln>
            </p:spPr>
            <p:txBody>
              <a:bodyPr wrap="none" anchor="ctr"/>
              <a:lstStyle/>
              <a:p>
                <a:endParaRPr lang="en-US"/>
              </a:p>
            </p:txBody>
          </p:sp>
          <p:sp>
            <p:nvSpPr>
              <p:cNvPr id="65" name="Oval 64"/>
              <p:cNvSpPr>
                <a:spLocks noChangeArrowheads="1"/>
              </p:cNvSpPr>
              <p:nvPr/>
            </p:nvSpPr>
            <p:spPr bwMode="auto">
              <a:xfrm>
                <a:off x="3153" y="3455"/>
                <a:ext cx="1803" cy="254"/>
              </a:xfrm>
              <a:prstGeom prst="ellipse">
                <a:avLst/>
              </a:prstGeom>
              <a:solidFill>
                <a:srgbClr val="00CC66"/>
              </a:solidFill>
              <a:ln w="9525">
                <a:noFill/>
                <a:round/>
                <a:headEnd/>
                <a:tailEnd/>
              </a:ln>
            </p:spPr>
            <p:txBody>
              <a:bodyPr wrap="none" anchor="ctr"/>
              <a:lstStyle/>
              <a:p>
                <a:endParaRPr lang="en-US"/>
              </a:p>
            </p:txBody>
          </p:sp>
          <p:sp>
            <p:nvSpPr>
              <p:cNvPr id="66" name="Oval 65"/>
              <p:cNvSpPr>
                <a:spLocks noChangeArrowheads="1"/>
              </p:cNvSpPr>
              <p:nvPr/>
            </p:nvSpPr>
            <p:spPr bwMode="auto">
              <a:xfrm>
                <a:off x="3276" y="3257"/>
                <a:ext cx="1803" cy="254"/>
              </a:xfrm>
              <a:prstGeom prst="ellipse">
                <a:avLst/>
              </a:prstGeom>
              <a:solidFill>
                <a:srgbClr val="00CC66"/>
              </a:solidFill>
              <a:ln w="9525">
                <a:noFill/>
                <a:round/>
                <a:headEnd/>
                <a:tailEnd/>
              </a:ln>
            </p:spPr>
            <p:txBody>
              <a:bodyPr wrap="none" anchor="ctr"/>
              <a:lstStyle/>
              <a:p>
                <a:endParaRPr lang="en-US"/>
              </a:p>
            </p:txBody>
          </p:sp>
          <p:sp>
            <p:nvSpPr>
              <p:cNvPr id="67" name="Oval 66"/>
              <p:cNvSpPr>
                <a:spLocks noChangeArrowheads="1"/>
              </p:cNvSpPr>
              <p:nvPr/>
            </p:nvSpPr>
            <p:spPr bwMode="auto">
              <a:xfrm>
                <a:off x="3550" y="3394"/>
                <a:ext cx="1803" cy="254"/>
              </a:xfrm>
              <a:prstGeom prst="ellipse">
                <a:avLst/>
              </a:prstGeom>
              <a:solidFill>
                <a:srgbClr val="00CC66"/>
              </a:solidFill>
              <a:ln w="9525">
                <a:noFill/>
                <a:round/>
                <a:headEnd/>
                <a:tailEnd/>
              </a:ln>
            </p:spPr>
            <p:txBody>
              <a:bodyPr wrap="none" anchor="ctr"/>
              <a:lstStyle/>
              <a:p>
                <a:endParaRPr lang="en-US"/>
              </a:p>
            </p:txBody>
          </p:sp>
          <p:sp>
            <p:nvSpPr>
              <p:cNvPr id="68" name="Oval 67"/>
              <p:cNvSpPr>
                <a:spLocks noChangeArrowheads="1"/>
              </p:cNvSpPr>
              <p:nvPr/>
            </p:nvSpPr>
            <p:spPr bwMode="auto">
              <a:xfrm>
                <a:off x="1274" y="3126"/>
                <a:ext cx="1803" cy="254"/>
              </a:xfrm>
              <a:prstGeom prst="ellipse">
                <a:avLst/>
              </a:prstGeom>
              <a:solidFill>
                <a:srgbClr val="00CC66"/>
              </a:solidFill>
              <a:ln w="9525">
                <a:noFill/>
                <a:round/>
                <a:headEnd/>
                <a:tailEnd/>
              </a:ln>
            </p:spPr>
            <p:txBody>
              <a:bodyPr wrap="none" anchor="ctr"/>
              <a:lstStyle/>
              <a:p>
                <a:endParaRPr lang="en-US"/>
              </a:p>
            </p:txBody>
          </p:sp>
          <p:sp>
            <p:nvSpPr>
              <p:cNvPr id="69" name="Oval 68"/>
              <p:cNvSpPr>
                <a:spLocks noChangeArrowheads="1"/>
              </p:cNvSpPr>
              <p:nvPr/>
            </p:nvSpPr>
            <p:spPr bwMode="auto">
              <a:xfrm>
                <a:off x="2782" y="3188"/>
                <a:ext cx="1803" cy="254"/>
              </a:xfrm>
              <a:prstGeom prst="ellipse">
                <a:avLst/>
              </a:prstGeom>
              <a:solidFill>
                <a:srgbClr val="00CC66"/>
              </a:solidFill>
              <a:ln w="9525">
                <a:noFill/>
                <a:round/>
                <a:headEnd/>
                <a:tailEnd/>
              </a:ln>
            </p:spPr>
            <p:txBody>
              <a:bodyPr wrap="none" anchor="ctr"/>
              <a:lstStyle/>
              <a:p>
                <a:endParaRPr lang="en-US"/>
              </a:p>
            </p:txBody>
          </p:sp>
        </p:grpSp>
        <p:sp>
          <p:nvSpPr>
            <p:cNvPr id="60" name="Text Box 24"/>
            <p:cNvSpPr txBox="1">
              <a:spLocks noChangeArrowheads="1"/>
            </p:cNvSpPr>
            <p:nvPr/>
          </p:nvSpPr>
          <p:spPr bwMode="auto">
            <a:xfrm>
              <a:off x="2383" y="1172"/>
              <a:ext cx="603" cy="212"/>
            </a:xfrm>
            <a:prstGeom prst="rect">
              <a:avLst/>
            </a:prstGeom>
            <a:noFill/>
            <a:ln w="9525">
              <a:noFill/>
              <a:miter lim="800000"/>
              <a:headEnd/>
              <a:tailEnd/>
            </a:ln>
          </p:spPr>
          <p:txBody>
            <a:bodyPr wrap="none">
              <a:spAutoFit/>
            </a:bodyPr>
            <a:lstStyle/>
            <a:p>
              <a:r>
                <a:rPr lang="en-GB" sz="1600" b="1"/>
                <a:t>Internet</a:t>
              </a:r>
              <a:endParaRPr lang="en-US" sz="1600" b="1"/>
            </a:p>
          </p:txBody>
        </p:sp>
      </p:grpSp>
      <p:grpSp>
        <p:nvGrpSpPr>
          <p:cNvPr id="70" name="Group 27"/>
          <p:cNvGrpSpPr>
            <a:grpSpLocks/>
          </p:cNvGrpSpPr>
          <p:nvPr/>
        </p:nvGrpSpPr>
        <p:grpSpPr bwMode="auto">
          <a:xfrm>
            <a:off x="1944688" y="1196975"/>
            <a:ext cx="5529262" cy="1335088"/>
            <a:chOff x="1225" y="754"/>
            <a:chExt cx="3483" cy="841"/>
          </a:xfrm>
        </p:grpSpPr>
        <p:grpSp>
          <p:nvGrpSpPr>
            <p:cNvPr id="71" name="Group 28"/>
            <p:cNvGrpSpPr>
              <a:grpSpLocks/>
            </p:cNvGrpSpPr>
            <p:nvPr/>
          </p:nvGrpSpPr>
          <p:grpSpPr bwMode="auto">
            <a:xfrm>
              <a:off x="1248" y="1012"/>
              <a:ext cx="3460" cy="583"/>
              <a:chOff x="405" y="3126"/>
              <a:chExt cx="4948" cy="583"/>
            </a:xfrm>
          </p:grpSpPr>
          <p:sp>
            <p:nvSpPr>
              <p:cNvPr id="81" name="Oval 29"/>
              <p:cNvSpPr>
                <a:spLocks noChangeArrowheads="1"/>
              </p:cNvSpPr>
              <p:nvPr/>
            </p:nvSpPr>
            <p:spPr bwMode="auto">
              <a:xfrm>
                <a:off x="405" y="3352"/>
                <a:ext cx="1803" cy="254"/>
              </a:xfrm>
              <a:prstGeom prst="ellipse">
                <a:avLst/>
              </a:prstGeom>
              <a:solidFill>
                <a:schemeClr val="folHlink"/>
              </a:solidFill>
              <a:ln w="9525">
                <a:noFill/>
                <a:round/>
                <a:headEnd/>
                <a:tailEnd/>
              </a:ln>
            </p:spPr>
            <p:txBody>
              <a:bodyPr wrap="none" anchor="ctr"/>
              <a:lstStyle/>
              <a:p>
                <a:endParaRPr lang="en-US"/>
              </a:p>
            </p:txBody>
          </p:sp>
          <p:sp>
            <p:nvSpPr>
              <p:cNvPr id="82" name="Oval 30"/>
              <p:cNvSpPr>
                <a:spLocks noChangeArrowheads="1"/>
              </p:cNvSpPr>
              <p:nvPr/>
            </p:nvSpPr>
            <p:spPr bwMode="auto">
              <a:xfrm>
                <a:off x="836" y="3243"/>
                <a:ext cx="1803" cy="254"/>
              </a:xfrm>
              <a:prstGeom prst="ellipse">
                <a:avLst/>
              </a:prstGeom>
              <a:solidFill>
                <a:schemeClr val="folHlink"/>
              </a:solidFill>
              <a:ln w="9525">
                <a:noFill/>
                <a:round/>
                <a:headEnd/>
                <a:tailEnd/>
              </a:ln>
            </p:spPr>
            <p:txBody>
              <a:bodyPr wrap="none" anchor="ctr"/>
              <a:lstStyle/>
              <a:p>
                <a:endParaRPr lang="en-US"/>
              </a:p>
            </p:txBody>
          </p:sp>
          <p:sp>
            <p:nvSpPr>
              <p:cNvPr id="83" name="Oval 31"/>
              <p:cNvSpPr>
                <a:spLocks noChangeArrowheads="1"/>
              </p:cNvSpPr>
              <p:nvPr/>
            </p:nvSpPr>
            <p:spPr bwMode="auto">
              <a:xfrm>
                <a:off x="1652" y="3442"/>
                <a:ext cx="1803" cy="254"/>
              </a:xfrm>
              <a:prstGeom prst="ellipse">
                <a:avLst/>
              </a:prstGeom>
              <a:solidFill>
                <a:schemeClr val="folHlink"/>
              </a:solidFill>
              <a:ln w="9525">
                <a:noFill/>
                <a:round/>
                <a:headEnd/>
                <a:tailEnd/>
              </a:ln>
            </p:spPr>
            <p:txBody>
              <a:bodyPr wrap="none" anchor="ctr"/>
              <a:lstStyle/>
              <a:p>
                <a:endParaRPr lang="en-US"/>
              </a:p>
            </p:txBody>
          </p:sp>
          <p:sp>
            <p:nvSpPr>
              <p:cNvPr id="84" name="Oval 32"/>
              <p:cNvSpPr>
                <a:spLocks noChangeArrowheads="1"/>
              </p:cNvSpPr>
              <p:nvPr/>
            </p:nvSpPr>
            <p:spPr bwMode="auto">
              <a:xfrm>
                <a:off x="2042" y="3332"/>
                <a:ext cx="1803" cy="254"/>
              </a:xfrm>
              <a:prstGeom prst="ellipse">
                <a:avLst/>
              </a:prstGeom>
              <a:solidFill>
                <a:schemeClr val="folHlink"/>
              </a:solidFill>
              <a:ln w="9525">
                <a:noFill/>
                <a:round/>
                <a:headEnd/>
                <a:tailEnd/>
              </a:ln>
            </p:spPr>
            <p:txBody>
              <a:bodyPr wrap="none" anchor="ctr"/>
              <a:lstStyle/>
              <a:p>
                <a:endParaRPr lang="en-US"/>
              </a:p>
            </p:txBody>
          </p:sp>
          <p:sp>
            <p:nvSpPr>
              <p:cNvPr id="85" name="Oval 33"/>
              <p:cNvSpPr>
                <a:spLocks noChangeArrowheads="1"/>
              </p:cNvSpPr>
              <p:nvPr/>
            </p:nvSpPr>
            <p:spPr bwMode="auto">
              <a:xfrm>
                <a:off x="3153" y="3455"/>
                <a:ext cx="1803" cy="254"/>
              </a:xfrm>
              <a:prstGeom prst="ellipse">
                <a:avLst/>
              </a:prstGeom>
              <a:solidFill>
                <a:schemeClr val="folHlink"/>
              </a:solidFill>
              <a:ln w="9525">
                <a:noFill/>
                <a:round/>
                <a:headEnd/>
                <a:tailEnd/>
              </a:ln>
            </p:spPr>
            <p:txBody>
              <a:bodyPr wrap="none" anchor="ctr"/>
              <a:lstStyle/>
              <a:p>
                <a:endParaRPr lang="en-US"/>
              </a:p>
            </p:txBody>
          </p:sp>
          <p:sp>
            <p:nvSpPr>
              <p:cNvPr id="86" name="Oval 34"/>
              <p:cNvSpPr>
                <a:spLocks noChangeArrowheads="1"/>
              </p:cNvSpPr>
              <p:nvPr/>
            </p:nvSpPr>
            <p:spPr bwMode="auto">
              <a:xfrm>
                <a:off x="3276" y="3257"/>
                <a:ext cx="1803" cy="254"/>
              </a:xfrm>
              <a:prstGeom prst="ellipse">
                <a:avLst/>
              </a:prstGeom>
              <a:solidFill>
                <a:schemeClr val="folHlink"/>
              </a:solidFill>
              <a:ln w="9525">
                <a:noFill/>
                <a:round/>
                <a:headEnd/>
                <a:tailEnd/>
              </a:ln>
            </p:spPr>
            <p:txBody>
              <a:bodyPr wrap="none" anchor="ctr"/>
              <a:lstStyle/>
              <a:p>
                <a:endParaRPr lang="en-US"/>
              </a:p>
            </p:txBody>
          </p:sp>
          <p:sp>
            <p:nvSpPr>
              <p:cNvPr id="87" name="Oval 35"/>
              <p:cNvSpPr>
                <a:spLocks noChangeArrowheads="1"/>
              </p:cNvSpPr>
              <p:nvPr/>
            </p:nvSpPr>
            <p:spPr bwMode="auto">
              <a:xfrm>
                <a:off x="3550" y="3394"/>
                <a:ext cx="1803" cy="254"/>
              </a:xfrm>
              <a:prstGeom prst="ellipse">
                <a:avLst/>
              </a:prstGeom>
              <a:solidFill>
                <a:schemeClr val="folHlink"/>
              </a:solidFill>
              <a:ln w="9525">
                <a:noFill/>
                <a:round/>
                <a:headEnd/>
                <a:tailEnd/>
              </a:ln>
            </p:spPr>
            <p:txBody>
              <a:bodyPr wrap="none" anchor="ctr"/>
              <a:lstStyle/>
              <a:p>
                <a:endParaRPr lang="en-US"/>
              </a:p>
            </p:txBody>
          </p:sp>
          <p:sp>
            <p:nvSpPr>
              <p:cNvPr id="88" name="Oval 36"/>
              <p:cNvSpPr>
                <a:spLocks noChangeArrowheads="1"/>
              </p:cNvSpPr>
              <p:nvPr/>
            </p:nvSpPr>
            <p:spPr bwMode="auto">
              <a:xfrm>
                <a:off x="1274" y="3126"/>
                <a:ext cx="1803" cy="254"/>
              </a:xfrm>
              <a:prstGeom prst="ellipse">
                <a:avLst/>
              </a:prstGeom>
              <a:solidFill>
                <a:schemeClr val="folHlink"/>
              </a:solidFill>
              <a:ln w="9525">
                <a:noFill/>
                <a:round/>
                <a:headEnd/>
                <a:tailEnd/>
              </a:ln>
            </p:spPr>
            <p:txBody>
              <a:bodyPr wrap="none" anchor="ctr"/>
              <a:lstStyle/>
              <a:p>
                <a:endParaRPr lang="en-US"/>
              </a:p>
            </p:txBody>
          </p:sp>
          <p:sp>
            <p:nvSpPr>
              <p:cNvPr id="89" name="Oval 37"/>
              <p:cNvSpPr>
                <a:spLocks noChangeArrowheads="1"/>
              </p:cNvSpPr>
              <p:nvPr/>
            </p:nvSpPr>
            <p:spPr bwMode="auto">
              <a:xfrm>
                <a:off x="2782" y="3188"/>
                <a:ext cx="1803" cy="254"/>
              </a:xfrm>
              <a:prstGeom prst="ellipse">
                <a:avLst/>
              </a:prstGeom>
              <a:solidFill>
                <a:schemeClr val="folHlink"/>
              </a:solidFill>
              <a:ln w="9525">
                <a:noFill/>
                <a:round/>
                <a:headEnd/>
                <a:tailEnd/>
              </a:ln>
            </p:spPr>
            <p:txBody>
              <a:bodyPr wrap="none" anchor="ctr"/>
              <a:lstStyle/>
              <a:p>
                <a:endParaRPr lang="en-US"/>
              </a:p>
            </p:txBody>
          </p:sp>
        </p:grpSp>
        <p:sp>
          <p:nvSpPr>
            <p:cNvPr id="72" name="Text Box 38"/>
            <p:cNvSpPr txBox="1">
              <a:spLocks noChangeArrowheads="1"/>
            </p:cNvSpPr>
            <p:nvPr/>
          </p:nvSpPr>
          <p:spPr bwMode="auto">
            <a:xfrm>
              <a:off x="2449" y="1231"/>
              <a:ext cx="1118" cy="212"/>
            </a:xfrm>
            <a:prstGeom prst="rect">
              <a:avLst/>
            </a:prstGeom>
            <a:noFill/>
            <a:ln w="9525">
              <a:noFill/>
              <a:miter lim="800000"/>
              <a:headEnd/>
              <a:tailEnd/>
            </a:ln>
          </p:spPr>
          <p:txBody>
            <a:bodyPr wrap="none">
              <a:spAutoFit/>
            </a:bodyPr>
            <a:lstStyle/>
            <a:p>
              <a:r>
                <a:rPr lang="en-GB" sz="1600" b="1"/>
                <a:t>World Wide Web</a:t>
              </a:r>
              <a:endParaRPr lang="en-US" sz="1600" b="1"/>
            </a:p>
          </p:txBody>
        </p:sp>
        <p:sp>
          <p:nvSpPr>
            <p:cNvPr id="73" name="Text Box 39"/>
            <p:cNvSpPr txBox="1">
              <a:spLocks noChangeArrowheads="1"/>
            </p:cNvSpPr>
            <p:nvPr/>
          </p:nvSpPr>
          <p:spPr bwMode="auto">
            <a:xfrm>
              <a:off x="1225" y="754"/>
              <a:ext cx="3473" cy="212"/>
            </a:xfrm>
            <a:prstGeom prst="rect">
              <a:avLst/>
            </a:prstGeom>
            <a:noFill/>
            <a:ln w="9525">
              <a:noFill/>
              <a:miter lim="800000"/>
              <a:headEnd/>
              <a:tailEnd/>
            </a:ln>
          </p:spPr>
          <p:txBody>
            <a:bodyPr wrap="none">
              <a:spAutoFit/>
            </a:bodyPr>
            <a:lstStyle/>
            <a:p>
              <a:r>
                <a:rPr lang="en-GB" sz="1600"/>
                <a:t>Services – from servers to clients – data, media, voice </a:t>
              </a:r>
              <a:endParaRPr lang="en-US" sz="1600"/>
            </a:p>
          </p:txBody>
        </p:sp>
        <p:sp>
          <p:nvSpPr>
            <p:cNvPr id="74" name="Line 40"/>
            <p:cNvSpPr>
              <a:spLocks noChangeShapeType="1"/>
            </p:cNvSpPr>
            <p:nvPr/>
          </p:nvSpPr>
          <p:spPr bwMode="auto">
            <a:xfrm flipH="1" flipV="1">
              <a:off x="1701" y="939"/>
              <a:ext cx="171" cy="343"/>
            </a:xfrm>
            <a:prstGeom prst="line">
              <a:avLst/>
            </a:prstGeom>
            <a:noFill/>
            <a:ln w="57150">
              <a:solidFill>
                <a:schemeClr val="bg2"/>
              </a:solidFill>
              <a:round/>
              <a:headEnd/>
              <a:tailEnd type="triangle" w="med" len="med"/>
            </a:ln>
          </p:spPr>
          <p:txBody>
            <a:bodyPr/>
            <a:lstStyle/>
            <a:p>
              <a:endParaRPr lang="en-GB"/>
            </a:p>
          </p:txBody>
        </p:sp>
        <p:sp>
          <p:nvSpPr>
            <p:cNvPr id="75" name="Line 41"/>
            <p:cNvSpPr>
              <a:spLocks noChangeShapeType="1"/>
            </p:cNvSpPr>
            <p:nvPr/>
          </p:nvSpPr>
          <p:spPr bwMode="auto">
            <a:xfrm flipV="1">
              <a:off x="4142" y="953"/>
              <a:ext cx="233" cy="336"/>
            </a:xfrm>
            <a:prstGeom prst="line">
              <a:avLst/>
            </a:prstGeom>
            <a:noFill/>
            <a:ln w="57150">
              <a:solidFill>
                <a:schemeClr val="bg2"/>
              </a:solidFill>
              <a:round/>
              <a:headEnd/>
              <a:tailEnd type="triangle" w="med" len="med"/>
            </a:ln>
          </p:spPr>
          <p:txBody>
            <a:bodyPr/>
            <a:lstStyle/>
            <a:p>
              <a:endParaRPr lang="en-GB"/>
            </a:p>
          </p:txBody>
        </p:sp>
        <p:sp>
          <p:nvSpPr>
            <p:cNvPr id="76" name="Line 42"/>
            <p:cNvSpPr>
              <a:spLocks noChangeShapeType="1"/>
            </p:cNvSpPr>
            <p:nvPr/>
          </p:nvSpPr>
          <p:spPr bwMode="auto">
            <a:xfrm flipV="1">
              <a:off x="3895" y="967"/>
              <a:ext cx="124" cy="247"/>
            </a:xfrm>
            <a:prstGeom prst="line">
              <a:avLst/>
            </a:prstGeom>
            <a:noFill/>
            <a:ln w="57150">
              <a:solidFill>
                <a:schemeClr val="bg2"/>
              </a:solidFill>
              <a:round/>
              <a:headEnd/>
              <a:tailEnd type="triangle" w="med" len="med"/>
            </a:ln>
          </p:spPr>
          <p:txBody>
            <a:bodyPr/>
            <a:lstStyle/>
            <a:p>
              <a:endParaRPr lang="en-GB"/>
            </a:p>
          </p:txBody>
        </p:sp>
        <p:sp>
          <p:nvSpPr>
            <p:cNvPr id="77" name="Line 43"/>
            <p:cNvSpPr>
              <a:spLocks noChangeShapeType="1"/>
            </p:cNvSpPr>
            <p:nvPr/>
          </p:nvSpPr>
          <p:spPr bwMode="auto">
            <a:xfrm flipV="1">
              <a:off x="3620" y="946"/>
              <a:ext cx="29" cy="192"/>
            </a:xfrm>
            <a:prstGeom prst="line">
              <a:avLst/>
            </a:prstGeom>
            <a:noFill/>
            <a:ln w="57150">
              <a:solidFill>
                <a:schemeClr val="bg2"/>
              </a:solidFill>
              <a:round/>
              <a:headEnd/>
              <a:tailEnd type="triangle" w="med" len="med"/>
            </a:ln>
          </p:spPr>
          <p:txBody>
            <a:bodyPr/>
            <a:lstStyle/>
            <a:p>
              <a:endParaRPr lang="en-GB"/>
            </a:p>
          </p:txBody>
        </p:sp>
        <p:sp>
          <p:nvSpPr>
            <p:cNvPr id="78" name="Line 44"/>
            <p:cNvSpPr>
              <a:spLocks noChangeShapeType="1"/>
            </p:cNvSpPr>
            <p:nvPr/>
          </p:nvSpPr>
          <p:spPr bwMode="auto">
            <a:xfrm flipV="1">
              <a:off x="3139" y="946"/>
              <a:ext cx="9" cy="247"/>
            </a:xfrm>
            <a:prstGeom prst="line">
              <a:avLst/>
            </a:prstGeom>
            <a:noFill/>
            <a:ln w="57150">
              <a:solidFill>
                <a:schemeClr val="bg2"/>
              </a:solidFill>
              <a:round/>
              <a:headEnd/>
              <a:tailEnd type="triangle" w="med" len="med"/>
            </a:ln>
          </p:spPr>
          <p:txBody>
            <a:bodyPr/>
            <a:lstStyle/>
            <a:p>
              <a:endParaRPr lang="en-GB"/>
            </a:p>
          </p:txBody>
        </p:sp>
        <p:sp>
          <p:nvSpPr>
            <p:cNvPr id="79" name="Line 45"/>
            <p:cNvSpPr>
              <a:spLocks noChangeShapeType="1"/>
            </p:cNvSpPr>
            <p:nvPr/>
          </p:nvSpPr>
          <p:spPr bwMode="auto">
            <a:xfrm flipH="1" flipV="1">
              <a:off x="2744" y="932"/>
              <a:ext cx="25" cy="212"/>
            </a:xfrm>
            <a:prstGeom prst="line">
              <a:avLst/>
            </a:prstGeom>
            <a:noFill/>
            <a:ln w="57150">
              <a:solidFill>
                <a:schemeClr val="bg2"/>
              </a:solidFill>
              <a:round/>
              <a:headEnd/>
              <a:tailEnd type="triangle" w="med" len="med"/>
            </a:ln>
          </p:spPr>
          <p:txBody>
            <a:bodyPr/>
            <a:lstStyle/>
            <a:p>
              <a:endParaRPr lang="en-GB"/>
            </a:p>
          </p:txBody>
        </p:sp>
        <p:sp>
          <p:nvSpPr>
            <p:cNvPr id="80" name="Line 46"/>
            <p:cNvSpPr>
              <a:spLocks noChangeShapeType="1"/>
            </p:cNvSpPr>
            <p:nvPr/>
          </p:nvSpPr>
          <p:spPr bwMode="auto">
            <a:xfrm flipH="1" flipV="1">
              <a:off x="2305" y="945"/>
              <a:ext cx="46" cy="233"/>
            </a:xfrm>
            <a:prstGeom prst="line">
              <a:avLst/>
            </a:prstGeom>
            <a:noFill/>
            <a:ln w="57150">
              <a:solidFill>
                <a:schemeClr val="bg2"/>
              </a:solidFill>
              <a:round/>
              <a:headEnd/>
              <a:tailEnd type="triangle" w="med" len="med"/>
            </a:ln>
          </p:spPr>
          <p:txBody>
            <a:bodyPr/>
            <a:lstStyle/>
            <a:p>
              <a:endParaRPr lang="en-GB"/>
            </a:p>
          </p:txBody>
        </p:sp>
      </p:grpSp>
      <p:grpSp>
        <p:nvGrpSpPr>
          <p:cNvPr id="90" name="Group 2"/>
          <p:cNvGrpSpPr>
            <a:grpSpLocks/>
          </p:cNvGrpSpPr>
          <p:nvPr/>
        </p:nvGrpSpPr>
        <p:grpSpPr bwMode="auto">
          <a:xfrm>
            <a:off x="3291858" y="3224333"/>
            <a:ext cx="2896354" cy="925513"/>
            <a:chOff x="405" y="3126"/>
            <a:chExt cx="4948" cy="583"/>
          </a:xfrm>
          <a:solidFill>
            <a:schemeClr val="accent6">
              <a:lumMod val="40000"/>
              <a:lumOff val="60000"/>
            </a:schemeClr>
          </a:solidFill>
        </p:grpSpPr>
        <p:sp>
          <p:nvSpPr>
            <p:cNvPr id="91" name="Oval 3"/>
            <p:cNvSpPr>
              <a:spLocks noChangeArrowheads="1"/>
            </p:cNvSpPr>
            <p:nvPr/>
          </p:nvSpPr>
          <p:spPr bwMode="auto">
            <a:xfrm>
              <a:off x="405" y="3352"/>
              <a:ext cx="1803" cy="254"/>
            </a:xfrm>
            <a:prstGeom prst="ellipse">
              <a:avLst/>
            </a:prstGeom>
            <a:grpFill/>
            <a:ln w="9525">
              <a:noFill/>
              <a:round/>
              <a:headEnd/>
              <a:tailEnd/>
            </a:ln>
          </p:spPr>
          <p:txBody>
            <a:bodyPr wrap="none" anchor="ctr"/>
            <a:lstStyle/>
            <a:p>
              <a:pPr algn="ctr"/>
              <a:endParaRPr lang="en-US"/>
            </a:p>
          </p:txBody>
        </p:sp>
        <p:sp>
          <p:nvSpPr>
            <p:cNvPr id="92" name="Oval 4"/>
            <p:cNvSpPr>
              <a:spLocks noChangeArrowheads="1"/>
            </p:cNvSpPr>
            <p:nvPr/>
          </p:nvSpPr>
          <p:spPr bwMode="auto">
            <a:xfrm>
              <a:off x="836" y="3243"/>
              <a:ext cx="1803" cy="254"/>
            </a:xfrm>
            <a:prstGeom prst="ellipse">
              <a:avLst/>
            </a:prstGeom>
            <a:grpFill/>
            <a:ln w="9525">
              <a:noFill/>
              <a:round/>
              <a:headEnd/>
              <a:tailEnd/>
            </a:ln>
          </p:spPr>
          <p:txBody>
            <a:bodyPr wrap="none" anchor="ctr"/>
            <a:lstStyle/>
            <a:p>
              <a:pPr algn="ctr"/>
              <a:endParaRPr lang="en-US"/>
            </a:p>
          </p:txBody>
        </p:sp>
        <p:sp>
          <p:nvSpPr>
            <p:cNvPr id="93" name="Oval 5"/>
            <p:cNvSpPr>
              <a:spLocks noChangeArrowheads="1"/>
            </p:cNvSpPr>
            <p:nvPr/>
          </p:nvSpPr>
          <p:spPr bwMode="auto">
            <a:xfrm>
              <a:off x="1652" y="3442"/>
              <a:ext cx="1803" cy="254"/>
            </a:xfrm>
            <a:prstGeom prst="ellipse">
              <a:avLst/>
            </a:prstGeom>
            <a:grpFill/>
            <a:ln w="9525">
              <a:noFill/>
              <a:round/>
              <a:headEnd/>
              <a:tailEnd/>
            </a:ln>
          </p:spPr>
          <p:txBody>
            <a:bodyPr wrap="none" anchor="ctr"/>
            <a:lstStyle/>
            <a:p>
              <a:pPr algn="ctr"/>
              <a:endParaRPr lang="en-US"/>
            </a:p>
          </p:txBody>
        </p:sp>
        <p:sp>
          <p:nvSpPr>
            <p:cNvPr id="94" name="Oval 6"/>
            <p:cNvSpPr>
              <a:spLocks noChangeArrowheads="1"/>
            </p:cNvSpPr>
            <p:nvPr/>
          </p:nvSpPr>
          <p:spPr bwMode="auto">
            <a:xfrm>
              <a:off x="2042" y="3332"/>
              <a:ext cx="1803" cy="254"/>
            </a:xfrm>
            <a:prstGeom prst="ellipse">
              <a:avLst/>
            </a:prstGeom>
            <a:grpFill/>
            <a:ln w="9525">
              <a:noFill/>
              <a:round/>
              <a:headEnd/>
              <a:tailEnd/>
            </a:ln>
          </p:spPr>
          <p:txBody>
            <a:bodyPr wrap="none" anchor="ctr"/>
            <a:lstStyle/>
            <a:p>
              <a:pPr algn="ctr"/>
              <a:endParaRPr lang="en-US"/>
            </a:p>
          </p:txBody>
        </p:sp>
        <p:sp>
          <p:nvSpPr>
            <p:cNvPr id="95" name="Oval 7"/>
            <p:cNvSpPr>
              <a:spLocks noChangeArrowheads="1"/>
            </p:cNvSpPr>
            <p:nvPr/>
          </p:nvSpPr>
          <p:spPr bwMode="auto">
            <a:xfrm>
              <a:off x="3153" y="3455"/>
              <a:ext cx="1803" cy="254"/>
            </a:xfrm>
            <a:prstGeom prst="ellipse">
              <a:avLst/>
            </a:prstGeom>
            <a:grpFill/>
            <a:ln w="9525">
              <a:noFill/>
              <a:round/>
              <a:headEnd/>
              <a:tailEnd/>
            </a:ln>
          </p:spPr>
          <p:txBody>
            <a:bodyPr wrap="none" anchor="ctr"/>
            <a:lstStyle/>
            <a:p>
              <a:pPr algn="ctr"/>
              <a:endParaRPr lang="en-US"/>
            </a:p>
          </p:txBody>
        </p:sp>
        <p:sp>
          <p:nvSpPr>
            <p:cNvPr id="96" name="Oval 8"/>
            <p:cNvSpPr>
              <a:spLocks noChangeArrowheads="1"/>
            </p:cNvSpPr>
            <p:nvPr/>
          </p:nvSpPr>
          <p:spPr bwMode="auto">
            <a:xfrm>
              <a:off x="3276" y="3257"/>
              <a:ext cx="1803" cy="254"/>
            </a:xfrm>
            <a:prstGeom prst="ellipse">
              <a:avLst/>
            </a:prstGeom>
            <a:grpFill/>
            <a:ln w="9525">
              <a:noFill/>
              <a:round/>
              <a:headEnd/>
              <a:tailEnd/>
            </a:ln>
          </p:spPr>
          <p:txBody>
            <a:bodyPr wrap="none" anchor="ctr"/>
            <a:lstStyle/>
            <a:p>
              <a:pPr algn="ctr"/>
              <a:endParaRPr lang="en-US"/>
            </a:p>
          </p:txBody>
        </p:sp>
        <p:sp>
          <p:nvSpPr>
            <p:cNvPr id="97" name="Oval 9"/>
            <p:cNvSpPr>
              <a:spLocks noChangeArrowheads="1"/>
            </p:cNvSpPr>
            <p:nvPr/>
          </p:nvSpPr>
          <p:spPr bwMode="auto">
            <a:xfrm>
              <a:off x="3550" y="3394"/>
              <a:ext cx="1803" cy="254"/>
            </a:xfrm>
            <a:prstGeom prst="ellipse">
              <a:avLst/>
            </a:prstGeom>
            <a:grpFill/>
            <a:ln w="9525">
              <a:noFill/>
              <a:round/>
              <a:headEnd/>
              <a:tailEnd/>
            </a:ln>
          </p:spPr>
          <p:txBody>
            <a:bodyPr wrap="none" anchor="ctr"/>
            <a:lstStyle/>
            <a:p>
              <a:pPr algn="ctr"/>
              <a:endParaRPr lang="en-US"/>
            </a:p>
          </p:txBody>
        </p:sp>
        <p:sp>
          <p:nvSpPr>
            <p:cNvPr id="98" name="Oval 10"/>
            <p:cNvSpPr>
              <a:spLocks noChangeArrowheads="1"/>
            </p:cNvSpPr>
            <p:nvPr/>
          </p:nvSpPr>
          <p:spPr bwMode="auto">
            <a:xfrm>
              <a:off x="1274" y="3126"/>
              <a:ext cx="1803" cy="254"/>
            </a:xfrm>
            <a:prstGeom prst="ellipse">
              <a:avLst/>
            </a:prstGeom>
            <a:grpFill/>
            <a:ln w="9525">
              <a:noFill/>
              <a:round/>
              <a:headEnd/>
              <a:tailEnd/>
            </a:ln>
          </p:spPr>
          <p:txBody>
            <a:bodyPr wrap="none" anchor="ctr"/>
            <a:lstStyle/>
            <a:p>
              <a:pPr algn="ctr"/>
              <a:endParaRPr lang="en-US"/>
            </a:p>
          </p:txBody>
        </p:sp>
        <p:sp>
          <p:nvSpPr>
            <p:cNvPr id="99" name="Oval 11"/>
            <p:cNvSpPr>
              <a:spLocks noChangeArrowheads="1"/>
            </p:cNvSpPr>
            <p:nvPr/>
          </p:nvSpPr>
          <p:spPr bwMode="auto">
            <a:xfrm>
              <a:off x="2782" y="3188"/>
              <a:ext cx="1803" cy="254"/>
            </a:xfrm>
            <a:prstGeom prst="ellipse">
              <a:avLst/>
            </a:prstGeom>
            <a:grpFill/>
            <a:ln w="9525">
              <a:noFill/>
              <a:round/>
              <a:headEnd/>
              <a:tailEnd/>
            </a:ln>
          </p:spPr>
          <p:txBody>
            <a:bodyPr wrap="none" anchor="ctr"/>
            <a:lstStyle/>
            <a:p>
              <a:pPr algn="ctr"/>
              <a:endParaRPr lang="en-US"/>
            </a:p>
          </p:txBody>
        </p:sp>
      </p:grpSp>
      <p:sp>
        <p:nvSpPr>
          <p:cNvPr id="100" name="Text Box 12"/>
          <p:cNvSpPr txBox="1">
            <a:spLocks noChangeArrowheads="1"/>
          </p:cNvSpPr>
          <p:nvPr/>
        </p:nvSpPr>
        <p:spPr bwMode="auto">
          <a:xfrm>
            <a:off x="3804900" y="3433240"/>
            <a:ext cx="2117873" cy="584775"/>
          </a:xfrm>
          <a:prstGeom prst="rect">
            <a:avLst/>
          </a:prstGeom>
          <a:noFill/>
          <a:ln w="9525">
            <a:noFill/>
            <a:miter lim="800000"/>
            <a:headEnd/>
            <a:tailEnd/>
          </a:ln>
        </p:spPr>
        <p:txBody>
          <a:bodyPr wrap="square">
            <a:spAutoFit/>
          </a:bodyPr>
          <a:lstStyle/>
          <a:p>
            <a:pPr algn="ctr"/>
            <a:r>
              <a:rPr lang="en-GB" sz="1600" b="1" dirty="0"/>
              <a:t>Telephone Network – France Telecom </a:t>
            </a:r>
            <a:endParaRPr lang="en-US" sz="1600" b="1" dirty="0"/>
          </a:p>
        </p:txBody>
      </p:sp>
      <p:grpSp>
        <p:nvGrpSpPr>
          <p:cNvPr id="101" name="Group 2"/>
          <p:cNvGrpSpPr>
            <a:grpSpLocks/>
          </p:cNvGrpSpPr>
          <p:nvPr/>
        </p:nvGrpSpPr>
        <p:grpSpPr bwMode="auto">
          <a:xfrm>
            <a:off x="6027823" y="3214000"/>
            <a:ext cx="2896354" cy="925513"/>
            <a:chOff x="405" y="3126"/>
            <a:chExt cx="4948" cy="583"/>
          </a:xfrm>
          <a:solidFill>
            <a:srgbClr val="FFC000"/>
          </a:solidFill>
        </p:grpSpPr>
        <p:sp>
          <p:nvSpPr>
            <p:cNvPr id="102" name="Oval 3"/>
            <p:cNvSpPr>
              <a:spLocks noChangeArrowheads="1"/>
            </p:cNvSpPr>
            <p:nvPr/>
          </p:nvSpPr>
          <p:spPr bwMode="auto">
            <a:xfrm>
              <a:off x="405" y="3352"/>
              <a:ext cx="1803" cy="254"/>
            </a:xfrm>
            <a:prstGeom prst="ellipse">
              <a:avLst/>
            </a:prstGeom>
            <a:grpFill/>
            <a:ln w="9525">
              <a:noFill/>
              <a:round/>
              <a:headEnd/>
              <a:tailEnd/>
            </a:ln>
          </p:spPr>
          <p:txBody>
            <a:bodyPr wrap="none" anchor="ctr"/>
            <a:lstStyle/>
            <a:p>
              <a:pPr algn="ctr"/>
              <a:endParaRPr lang="en-US"/>
            </a:p>
          </p:txBody>
        </p:sp>
        <p:sp>
          <p:nvSpPr>
            <p:cNvPr id="103" name="Oval 4"/>
            <p:cNvSpPr>
              <a:spLocks noChangeArrowheads="1"/>
            </p:cNvSpPr>
            <p:nvPr/>
          </p:nvSpPr>
          <p:spPr bwMode="auto">
            <a:xfrm>
              <a:off x="836" y="3243"/>
              <a:ext cx="1803" cy="254"/>
            </a:xfrm>
            <a:prstGeom prst="ellipse">
              <a:avLst/>
            </a:prstGeom>
            <a:grpFill/>
            <a:ln w="9525">
              <a:noFill/>
              <a:round/>
              <a:headEnd/>
              <a:tailEnd/>
            </a:ln>
          </p:spPr>
          <p:txBody>
            <a:bodyPr wrap="none" anchor="ctr"/>
            <a:lstStyle/>
            <a:p>
              <a:pPr algn="ctr"/>
              <a:endParaRPr lang="en-US"/>
            </a:p>
          </p:txBody>
        </p:sp>
        <p:sp>
          <p:nvSpPr>
            <p:cNvPr id="104" name="Oval 5"/>
            <p:cNvSpPr>
              <a:spLocks noChangeArrowheads="1"/>
            </p:cNvSpPr>
            <p:nvPr/>
          </p:nvSpPr>
          <p:spPr bwMode="auto">
            <a:xfrm>
              <a:off x="1652" y="3442"/>
              <a:ext cx="1803" cy="254"/>
            </a:xfrm>
            <a:prstGeom prst="ellipse">
              <a:avLst/>
            </a:prstGeom>
            <a:grpFill/>
            <a:ln w="9525">
              <a:noFill/>
              <a:round/>
              <a:headEnd/>
              <a:tailEnd/>
            </a:ln>
          </p:spPr>
          <p:txBody>
            <a:bodyPr wrap="none" anchor="ctr"/>
            <a:lstStyle/>
            <a:p>
              <a:pPr algn="ctr"/>
              <a:endParaRPr lang="en-US"/>
            </a:p>
          </p:txBody>
        </p:sp>
        <p:sp>
          <p:nvSpPr>
            <p:cNvPr id="105" name="Oval 6"/>
            <p:cNvSpPr>
              <a:spLocks noChangeArrowheads="1"/>
            </p:cNvSpPr>
            <p:nvPr/>
          </p:nvSpPr>
          <p:spPr bwMode="auto">
            <a:xfrm>
              <a:off x="2042" y="3332"/>
              <a:ext cx="1803" cy="254"/>
            </a:xfrm>
            <a:prstGeom prst="ellipse">
              <a:avLst/>
            </a:prstGeom>
            <a:grpFill/>
            <a:ln w="9525">
              <a:noFill/>
              <a:round/>
              <a:headEnd/>
              <a:tailEnd/>
            </a:ln>
          </p:spPr>
          <p:txBody>
            <a:bodyPr wrap="none" anchor="ctr"/>
            <a:lstStyle/>
            <a:p>
              <a:pPr algn="ctr"/>
              <a:endParaRPr lang="en-US"/>
            </a:p>
          </p:txBody>
        </p:sp>
        <p:sp>
          <p:nvSpPr>
            <p:cNvPr id="106" name="Oval 7"/>
            <p:cNvSpPr>
              <a:spLocks noChangeArrowheads="1"/>
            </p:cNvSpPr>
            <p:nvPr/>
          </p:nvSpPr>
          <p:spPr bwMode="auto">
            <a:xfrm>
              <a:off x="3153" y="3455"/>
              <a:ext cx="1803" cy="254"/>
            </a:xfrm>
            <a:prstGeom prst="ellipse">
              <a:avLst/>
            </a:prstGeom>
            <a:grpFill/>
            <a:ln w="9525">
              <a:noFill/>
              <a:round/>
              <a:headEnd/>
              <a:tailEnd/>
            </a:ln>
          </p:spPr>
          <p:txBody>
            <a:bodyPr wrap="none" anchor="ctr"/>
            <a:lstStyle/>
            <a:p>
              <a:pPr algn="ctr"/>
              <a:endParaRPr lang="en-US"/>
            </a:p>
          </p:txBody>
        </p:sp>
        <p:sp>
          <p:nvSpPr>
            <p:cNvPr id="107" name="Oval 8"/>
            <p:cNvSpPr>
              <a:spLocks noChangeArrowheads="1"/>
            </p:cNvSpPr>
            <p:nvPr/>
          </p:nvSpPr>
          <p:spPr bwMode="auto">
            <a:xfrm>
              <a:off x="3276" y="3257"/>
              <a:ext cx="1803" cy="254"/>
            </a:xfrm>
            <a:prstGeom prst="ellipse">
              <a:avLst/>
            </a:prstGeom>
            <a:grpFill/>
            <a:ln w="9525">
              <a:noFill/>
              <a:round/>
              <a:headEnd/>
              <a:tailEnd/>
            </a:ln>
          </p:spPr>
          <p:txBody>
            <a:bodyPr wrap="none" anchor="ctr"/>
            <a:lstStyle/>
            <a:p>
              <a:pPr algn="ctr"/>
              <a:endParaRPr lang="en-US"/>
            </a:p>
          </p:txBody>
        </p:sp>
        <p:sp>
          <p:nvSpPr>
            <p:cNvPr id="108" name="Oval 9"/>
            <p:cNvSpPr>
              <a:spLocks noChangeArrowheads="1"/>
            </p:cNvSpPr>
            <p:nvPr/>
          </p:nvSpPr>
          <p:spPr bwMode="auto">
            <a:xfrm>
              <a:off x="3550" y="3394"/>
              <a:ext cx="1803" cy="254"/>
            </a:xfrm>
            <a:prstGeom prst="ellipse">
              <a:avLst/>
            </a:prstGeom>
            <a:grpFill/>
            <a:ln w="9525">
              <a:noFill/>
              <a:round/>
              <a:headEnd/>
              <a:tailEnd/>
            </a:ln>
          </p:spPr>
          <p:txBody>
            <a:bodyPr wrap="none" anchor="ctr"/>
            <a:lstStyle/>
            <a:p>
              <a:pPr algn="ctr"/>
              <a:endParaRPr lang="en-US"/>
            </a:p>
          </p:txBody>
        </p:sp>
        <p:sp>
          <p:nvSpPr>
            <p:cNvPr id="109" name="Oval 10"/>
            <p:cNvSpPr>
              <a:spLocks noChangeArrowheads="1"/>
            </p:cNvSpPr>
            <p:nvPr/>
          </p:nvSpPr>
          <p:spPr bwMode="auto">
            <a:xfrm>
              <a:off x="1274" y="3126"/>
              <a:ext cx="1803" cy="254"/>
            </a:xfrm>
            <a:prstGeom prst="ellipse">
              <a:avLst/>
            </a:prstGeom>
            <a:grpFill/>
            <a:ln w="9525">
              <a:noFill/>
              <a:round/>
              <a:headEnd/>
              <a:tailEnd/>
            </a:ln>
          </p:spPr>
          <p:txBody>
            <a:bodyPr wrap="none" anchor="ctr"/>
            <a:lstStyle/>
            <a:p>
              <a:pPr algn="ctr"/>
              <a:endParaRPr lang="en-US"/>
            </a:p>
          </p:txBody>
        </p:sp>
        <p:sp>
          <p:nvSpPr>
            <p:cNvPr id="110" name="Oval 11"/>
            <p:cNvSpPr>
              <a:spLocks noChangeArrowheads="1"/>
            </p:cNvSpPr>
            <p:nvPr/>
          </p:nvSpPr>
          <p:spPr bwMode="auto">
            <a:xfrm>
              <a:off x="2782" y="3188"/>
              <a:ext cx="1803" cy="254"/>
            </a:xfrm>
            <a:prstGeom prst="ellipse">
              <a:avLst/>
            </a:prstGeom>
            <a:grpFill/>
            <a:ln w="9525">
              <a:noFill/>
              <a:round/>
              <a:headEnd/>
              <a:tailEnd/>
            </a:ln>
          </p:spPr>
          <p:txBody>
            <a:bodyPr wrap="none" anchor="ctr"/>
            <a:lstStyle/>
            <a:p>
              <a:pPr algn="ctr"/>
              <a:endParaRPr lang="en-US"/>
            </a:p>
          </p:txBody>
        </p:sp>
      </p:grpSp>
      <p:sp>
        <p:nvSpPr>
          <p:cNvPr id="111" name="Text Box 12"/>
          <p:cNvSpPr txBox="1">
            <a:spLocks noChangeArrowheads="1"/>
          </p:cNvSpPr>
          <p:nvPr/>
        </p:nvSpPr>
        <p:spPr bwMode="auto">
          <a:xfrm>
            <a:off x="6504815" y="3400584"/>
            <a:ext cx="1969806" cy="584775"/>
          </a:xfrm>
          <a:prstGeom prst="rect">
            <a:avLst/>
          </a:prstGeom>
          <a:noFill/>
          <a:ln w="9525">
            <a:noFill/>
            <a:miter lim="800000"/>
            <a:headEnd/>
            <a:tailEnd/>
          </a:ln>
        </p:spPr>
        <p:txBody>
          <a:bodyPr wrap="square">
            <a:spAutoFit/>
          </a:bodyPr>
          <a:lstStyle/>
          <a:p>
            <a:pPr algn="ctr"/>
            <a:r>
              <a:rPr lang="en-GB" sz="1600" b="1"/>
              <a:t>other Telephone </a:t>
            </a:r>
            <a:r>
              <a:rPr lang="en-GB" sz="1600" b="1" dirty="0"/>
              <a:t>Networks … </a:t>
            </a:r>
            <a:r>
              <a:rPr lang="en-GB" sz="1600" b="1" dirty="0" err="1"/>
              <a:t>etc</a:t>
            </a:r>
            <a:endParaRPr lang="en-US" sz="1600" b="1" dirty="0"/>
          </a:p>
        </p:txBody>
      </p:sp>
    </p:spTree>
    <p:extLst>
      <p:ext uri="{BB962C8B-B14F-4D97-AF65-F5344CB8AC3E}">
        <p14:creationId xmlns:p14="http://schemas.microsoft.com/office/powerpoint/2010/main" val="18217984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1026"/>
          <p:cNvSpPr>
            <a:spLocks noChangeArrowheads="1"/>
          </p:cNvSpPr>
          <p:nvPr/>
        </p:nvSpPr>
        <p:spPr bwMode="auto">
          <a:xfrm>
            <a:off x="395288" y="368300"/>
            <a:ext cx="6061275" cy="1107996"/>
          </a:xfrm>
          <a:prstGeom prst="rect">
            <a:avLst/>
          </a:prstGeom>
          <a:noFill/>
          <a:ln w="9525">
            <a:noFill/>
            <a:miter lim="800000"/>
            <a:headEnd/>
            <a:tailEnd/>
          </a:ln>
        </p:spPr>
        <p:txBody>
          <a:bodyPr wrap="none">
            <a:spAutoFit/>
          </a:bodyPr>
          <a:lstStyle/>
          <a:p>
            <a:r>
              <a:rPr lang="en-GB" sz="6600" b="1"/>
              <a:t>MPEG Systems</a:t>
            </a:r>
            <a:endParaRPr lang="en-GB" sz="6600" b="1" dirty="0"/>
          </a:p>
        </p:txBody>
      </p:sp>
      <p:sp>
        <p:nvSpPr>
          <p:cNvPr id="4099" name="Rectangle 1027"/>
          <p:cNvSpPr>
            <a:spLocks noChangeArrowheads="1"/>
          </p:cNvSpPr>
          <p:nvPr/>
        </p:nvSpPr>
        <p:spPr bwMode="auto">
          <a:xfrm>
            <a:off x="395288" y="1532165"/>
            <a:ext cx="6605726" cy="4770537"/>
          </a:xfrm>
          <a:prstGeom prst="rect">
            <a:avLst/>
          </a:prstGeom>
          <a:noFill/>
          <a:ln w="9525">
            <a:noFill/>
            <a:miter lim="800000"/>
            <a:headEnd/>
            <a:tailEnd/>
          </a:ln>
        </p:spPr>
        <p:txBody>
          <a:bodyPr wrap="square">
            <a:spAutoFit/>
          </a:bodyPr>
          <a:lstStyle/>
          <a:p>
            <a:pPr marL="184150" indent="-184150"/>
            <a:r>
              <a:rPr lang="en-GB" sz="1600" b="1" dirty="0"/>
              <a:t>MPEG family</a:t>
            </a:r>
            <a:endParaRPr lang="en-GB" sz="1600" dirty="0"/>
          </a:p>
          <a:p>
            <a:pPr marL="184150" indent="-184150"/>
            <a:endParaRPr lang="en-GB" sz="1600" dirty="0"/>
          </a:p>
          <a:p>
            <a:pPr marL="184150" indent="-184150"/>
            <a:r>
              <a:rPr lang="en-GB" sz="1600" b="1" dirty="0"/>
              <a:t>Overviews </a:t>
            </a:r>
            <a:endParaRPr lang="en-GB" sz="1600" dirty="0"/>
          </a:p>
          <a:p>
            <a:pPr marL="184150" indent="-184150">
              <a:buFontTx/>
              <a:buChar char="•"/>
            </a:pPr>
            <a:r>
              <a:rPr lang="en-GB" sz="1600" dirty="0"/>
              <a:t>MPEG-1, MPEG-2, MPEG-2 Audio, MPEG4</a:t>
            </a:r>
          </a:p>
          <a:p>
            <a:pPr marL="184150" indent="-184150"/>
            <a:endParaRPr lang="en-GB" sz="1600" dirty="0"/>
          </a:p>
          <a:p>
            <a:pPr marL="184150" indent="-184150"/>
            <a:r>
              <a:rPr lang="en-GB" sz="1600" b="1" dirty="0"/>
              <a:t>Audio Compression</a:t>
            </a:r>
            <a:endParaRPr lang="en-GB" sz="1600" dirty="0"/>
          </a:p>
          <a:p>
            <a:pPr marL="184150" indent="-184150">
              <a:buFontTx/>
              <a:buChar char="•"/>
            </a:pPr>
            <a:r>
              <a:rPr lang="en-GB" sz="1600" dirty="0"/>
              <a:t>Compression Usability, Latency </a:t>
            </a:r>
          </a:p>
          <a:p>
            <a:pPr marL="184150" indent="-184150">
              <a:buFontTx/>
              <a:buChar char="•"/>
            </a:pPr>
            <a:r>
              <a:rPr lang="en-GB" sz="1600" dirty="0"/>
              <a:t>Encoding Architecture</a:t>
            </a:r>
          </a:p>
          <a:p>
            <a:pPr marL="184150" indent="-184150">
              <a:buFontTx/>
              <a:buChar char="•"/>
            </a:pPr>
            <a:r>
              <a:rPr lang="en-GB" sz="1600" dirty="0"/>
              <a:t>Perceptual Coding: Psychoacoustic Models</a:t>
            </a:r>
          </a:p>
          <a:p>
            <a:pPr marL="184150" indent="-184150">
              <a:buFontTx/>
              <a:buChar char="•"/>
            </a:pPr>
            <a:r>
              <a:rPr lang="en-GB" sz="1600" dirty="0"/>
              <a:t>Transform Domain Methods, Decoding</a:t>
            </a:r>
          </a:p>
          <a:p>
            <a:pPr marL="184150" indent="-184150">
              <a:buFontTx/>
              <a:buChar char="•"/>
            </a:pPr>
            <a:r>
              <a:rPr lang="en-GB" sz="1600" dirty="0"/>
              <a:t>Coding, Bit Allocation, Frames</a:t>
            </a:r>
          </a:p>
          <a:p>
            <a:pPr marL="184150" indent="-184150"/>
            <a:endParaRPr lang="en-GB" sz="1600" dirty="0"/>
          </a:p>
          <a:p>
            <a:pPr marL="184150" indent="-184150"/>
            <a:r>
              <a:rPr lang="en-GB" sz="1600" b="1" dirty="0"/>
              <a:t>AAC - Advanced Audio Coding</a:t>
            </a:r>
            <a:endParaRPr lang="en-GB" sz="1600" dirty="0"/>
          </a:p>
          <a:p>
            <a:pPr marL="184150" indent="-184150">
              <a:buFontTx/>
              <a:buChar char="•"/>
            </a:pPr>
            <a:r>
              <a:rPr lang="en-GB" sz="1600" dirty="0"/>
              <a:t>MPEG-4 AAC, Low Delay Coder, Error Resilience, </a:t>
            </a:r>
          </a:p>
          <a:p>
            <a:pPr marL="184150" indent="-184150">
              <a:buFontTx/>
              <a:buChar char="•"/>
            </a:pPr>
            <a:r>
              <a:rPr lang="en-GB" sz="1600" dirty="0"/>
              <a:t>AAC compared to mp3</a:t>
            </a:r>
          </a:p>
          <a:p>
            <a:pPr marL="184150" indent="-184150"/>
            <a:endParaRPr lang="en-GB" sz="1600" dirty="0"/>
          </a:p>
          <a:p>
            <a:pPr marL="184150" indent="-184150"/>
            <a:r>
              <a:rPr lang="en-GB" sz="1600" b="1" dirty="0"/>
              <a:t>Other Formats</a:t>
            </a:r>
          </a:p>
          <a:p>
            <a:pPr marL="184150" indent="-184150"/>
            <a:endParaRPr lang="en-GB" sz="1600" b="1" dirty="0"/>
          </a:p>
          <a:p>
            <a:pPr marL="184150" indent="-184150"/>
            <a:r>
              <a:rPr lang="en-GB" sz="1600" b="1" dirty="0"/>
              <a:t>Variable Bit Rate</a:t>
            </a:r>
            <a:endParaRPr lang="en-GB" sz="1600" dirty="0"/>
          </a:p>
        </p:txBody>
      </p:sp>
    </p:spTree>
    <p:extLst>
      <p:ext uri="{BB962C8B-B14F-4D97-AF65-F5344CB8AC3E}">
        <p14:creationId xmlns:p14="http://schemas.microsoft.com/office/powerpoint/2010/main" val="26718247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2"/>
          <p:cNvSpPr txBox="1">
            <a:spLocks noChangeArrowheads="1"/>
          </p:cNvSpPr>
          <p:nvPr/>
        </p:nvSpPr>
        <p:spPr bwMode="auto">
          <a:xfrm>
            <a:off x="381000" y="331788"/>
            <a:ext cx="1008609" cy="461665"/>
          </a:xfrm>
          <a:prstGeom prst="rect">
            <a:avLst/>
          </a:prstGeom>
          <a:noFill/>
          <a:ln w="9525">
            <a:noFill/>
            <a:miter lim="800000"/>
            <a:headEnd/>
            <a:tailEnd/>
          </a:ln>
        </p:spPr>
        <p:txBody>
          <a:bodyPr wrap="none">
            <a:spAutoFit/>
          </a:bodyPr>
          <a:lstStyle/>
          <a:p>
            <a:r>
              <a:rPr lang="en-GB" sz="2400" b="1" dirty="0"/>
              <a:t>MPEG</a:t>
            </a:r>
          </a:p>
        </p:txBody>
      </p:sp>
      <p:sp>
        <p:nvSpPr>
          <p:cNvPr id="5123" name="Rectangle 3"/>
          <p:cNvSpPr>
            <a:spLocks noChangeArrowheads="1"/>
          </p:cNvSpPr>
          <p:nvPr/>
        </p:nvSpPr>
        <p:spPr bwMode="auto">
          <a:xfrm>
            <a:off x="381000" y="762000"/>
            <a:ext cx="6248400" cy="5281613"/>
          </a:xfrm>
          <a:prstGeom prst="rect">
            <a:avLst/>
          </a:prstGeom>
          <a:noFill/>
          <a:ln w="9525">
            <a:noFill/>
            <a:miter lim="800000"/>
            <a:headEnd/>
            <a:tailEnd/>
          </a:ln>
        </p:spPr>
        <p:txBody>
          <a:bodyPr wrap="none">
            <a:spAutoFit/>
          </a:bodyPr>
          <a:lstStyle/>
          <a:p>
            <a:pPr marL="193675" indent="-193675"/>
            <a:r>
              <a:rPr lang="en-GB" sz="1600"/>
              <a:t>Motion Picture Experts Group</a:t>
            </a:r>
          </a:p>
          <a:p>
            <a:pPr marL="193675" indent="-193675"/>
            <a:endParaRPr lang="en-GB" sz="1600"/>
          </a:p>
          <a:p>
            <a:pPr marL="193675" indent="-193675"/>
            <a:r>
              <a:rPr lang="en-GB" sz="1800" b="1"/>
              <a:t>MPEG 1</a:t>
            </a:r>
            <a:endParaRPr lang="en-GB" sz="1600"/>
          </a:p>
          <a:p>
            <a:pPr marL="193675" indent="-193675"/>
            <a:r>
              <a:rPr lang="en-GB" sz="1600"/>
              <a:t>audio and video coding - parts 1, 2, 3 (layers 1, 2, 3), 4, 5, </a:t>
            </a:r>
          </a:p>
          <a:p>
            <a:pPr marL="193675" indent="-193675"/>
            <a:endParaRPr lang="en-GB" sz="1600"/>
          </a:p>
          <a:p>
            <a:pPr marL="193675" indent="-193675"/>
            <a:r>
              <a:rPr lang="en-GB" sz="1800" b="1"/>
              <a:t>MPEG 2</a:t>
            </a:r>
            <a:endParaRPr lang="en-GB" sz="1600"/>
          </a:p>
          <a:p>
            <a:pPr marL="193675" indent="-193675"/>
            <a:r>
              <a:rPr lang="en-GB" sz="1600"/>
              <a:t>audio and video coding - parts 1, 2, 3 (layers 1, 2, 3), … </a:t>
            </a:r>
          </a:p>
          <a:p>
            <a:pPr marL="193675" indent="-193675"/>
            <a:endParaRPr lang="en-GB" sz="1600"/>
          </a:p>
          <a:p>
            <a:pPr marL="193675" indent="-193675"/>
            <a:r>
              <a:rPr lang="en-GB" sz="1600"/>
              <a:t>MPEG 3 - </a:t>
            </a:r>
            <a:r>
              <a:rPr lang="en-GB" sz="1400"/>
              <a:t>originally for HDTV - abandoned</a:t>
            </a:r>
            <a:endParaRPr lang="en-GB" sz="1600"/>
          </a:p>
          <a:p>
            <a:pPr marL="193675" indent="-193675"/>
            <a:endParaRPr lang="en-GB" sz="1600"/>
          </a:p>
          <a:p>
            <a:pPr marL="193675" indent="-193675"/>
            <a:r>
              <a:rPr lang="en-GB" sz="1800" b="1"/>
              <a:t>MPEG 4</a:t>
            </a:r>
            <a:r>
              <a:rPr lang="en-GB" sz="1600"/>
              <a:t> </a:t>
            </a:r>
          </a:p>
          <a:p>
            <a:pPr marL="193675" indent="-193675"/>
            <a:r>
              <a:rPr lang="en-GB" sz="1600"/>
              <a:t>audio and video coding - parts 1 - 22</a:t>
            </a:r>
          </a:p>
          <a:p>
            <a:pPr marL="193675" indent="-193675"/>
            <a:endParaRPr lang="en-GB" sz="1600"/>
          </a:p>
          <a:p>
            <a:pPr marL="193675" indent="-193675"/>
            <a:r>
              <a:rPr lang="en-GB" sz="1800" b="1"/>
              <a:t>MPEG 7</a:t>
            </a:r>
          </a:p>
          <a:p>
            <a:pPr marL="193675" indent="-193675"/>
            <a:r>
              <a:rPr lang="en-GB" sz="1600"/>
              <a:t>metadata, description</a:t>
            </a:r>
          </a:p>
          <a:p>
            <a:pPr marL="193675" indent="-193675"/>
            <a:endParaRPr lang="en-GB" sz="1600"/>
          </a:p>
          <a:p>
            <a:pPr marL="193675" indent="-193675"/>
            <a:r>
              <a:rPr lang="en-GB" sz="1800" b="1"/>
              <a:t>MPEG 21</a:t>
            </a:r>
          </a:p>
          <a:p>
            <a:pPr marL="193675" indent="-193675"/>
            <a:r>
              <a:rPr lang="en-GB" sz="1600"/>
              <a:t>framework for multimedia content delivery</a:t>
            </a:r>
          </a:p>
          <a:p>
            <a:pPr marL="193675" indent="-193675">
              <a:buFontTx/>
              <a:buChar char="•"/>
            </a:pPr>
            <a:r>
              <a:rPr lang="en-GB" sz="1400"/>
              <a:t>XML-based; to communicate machine-readable license information </a:t>
            </a:r>
          </a:p>
          <a:p>
            <a:pPr marL="193675" indent="-193675">
              <a:buFontTx/>
              <a:buChar char="•"/>
            </a:pPr>
            <a:r>
              <a:rPr lang="en-GB" sz="1400"/>
              <a:t>open framework for multimedia applications</a:t>
            </a:r>
          </a:p>
          <a:p>
            <a:pPr marL="193675" indent="-193675">
              <a:buFontTx/>
              <a:buChar char="•"/>
            </a:pPr>
            <a:r>
              <a:rPr lang="en-GB" sz="1400"/>
              <a:t>"Rights Expression Language" </a:t>
            </a:r>
            <a:endParaRPr lang="en-GB" sz="1600"/>
          </a:p>
        </p:txBody>
      </p:sp>
    </p:spTree>
    <p:extLst>
      <p:ext uri="{BB962C8B-B14F-4D97-AF65-F5344CB8AC3E}">
        <p14:creationId xmlns:p14="http://schemas.microsoft.com/office/powerpoint/2010/main" val="42444141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ChangeArrowheads="1"/>
          </p:cNvSpPr>
          <p:nvPr/>
        </p:nvSpPr>
        <p:spPr bwMode="auto">
          <a:xfrm>
            <a:off x="381000" y="1120775"/>
            <a:ext cx="6598281" cy="4031873"/>
          </a:xfrm>
          <a:prstGeom prst="rect">
            <a:avLst/>
          </a:prstGeom>
          <a:noFill/>
          <a:ln w="9525">
            <a:noFill/>
            <a:miter lim="800000"/>
            <a:headEnd/>
            <a:tailEnd/>
          </a:ln>
        </p:spPr>
        <p:txBody>
          <a:bodyPr wrap="none">
            <a:spAutoFit/>
          </a:bodyPr>
          <a:lstStyle/>
          <a:p>
            <a:pPr marL="193675" indent="-193675"/>
            <a:r>
              <a:rPr lang="en-GB" sz="1600" dirty="0"/>
              <a:t>Audio and video coding</a:t>
            </a:r>
          </a:p>
          <a:p>
            <a:pPr marL="193675" indent="-193675"/>
            <a:endParaRPr lang="en-GB" sz="1600" dirty="0"/>
          </a:p>
          <a:p>
            <a:pPr marL="193675" indent="-193675"/>
            <a:r>
              <a:rPr lang="en-GB" sz="1600" i="1" u="sng" dirty="0"/>
              <a:t>Parts</a:t>
            </a:r>
            <a:endParaRPr lang="en-GB" sz="1600" dirty="0"/>
          </a:p>
          <a:p>
            <a:pPr marL="193675" indent="-193675"/>
            <a:r>
              <a:rPr lang="en-GB" sz="1600" dirty="0"/>
              <a:t>1 - Synchronization and multiplexing of video and audio </a:t>
            </a:r>
          </a:p>
          <a:p>
            <a:pPr marL="193675" indent="-193675"/>
            <a:r>
              <a:rPr lang="en-GB" sz="1600" dirty="0"/>
              <a:t>		- transport stream</a:t>
            </a:r>
          </a:p>
          <a:p>
            <a:pPr marL="193675" indent="-193675"/>
            <a:r>
              <a:rPr lang="en-GB" sz="1600" dirty="0"/>
              <a:t>2 - Compression codec for non-interlaced video signals</a:t>
            </a:r>
          </a:p>
          <a:p>
            <a:pPr marL="193675" indent="-193675"/>
            <a:r>
              <a:rPr lang="en-GB" sz="1600" dirty="0"/>
              <a:t>3 - </a:t>
            </a:r>
            <a:r>
              <a:rPr lang="en-GB" sz="1600" b="1" dirty="0"/>
              <a:t>Compression codec for perceptual coding of audio signals </a:t>
            </a:r>
          </a:p>
          <a:p>
            <a:pPr marL="193675" indent="-193675"/>
            <a:r>
              <a:rPr lang="en-GB" sz="1600" b="1" dirty="0"/>
              <a:t>		- three </a:t>
            </a:r>
            <a:r>
              <a:rPr lang="en-GB" sz="1600" b="1" i="1" u="sng" dirty="0"/>
              <a:t>layers</a:t>
            </a:r>
            <a:r>
              <a:rPr lang="en-GB" sz="1600" b="1" i="1" dirty="0"/>
              <a:t> </a:t>
            </a:r>
            <a:r>
              <a:rPr lang="en-GB" sz="1600" b="1" dirty="0"/>
              <a:t>of audio coding options (mp, mp2, mp3)</a:t>
            </a:r>
          </a:p>
          <a:p>
            <a:pPr marL="193675" indent="-193675"/>
            <a:r>
              <a:rPr lang="en-GB" sz="1600" dirty="0"/>
              <a:t>4 - Procedures for testing conformance</a:t>
            </a:r>
          </a:p>
          <a:p>
            <a:pPr marL="193675" indent="-193675"/>
            <a:r>
              <a:rPr lang="en-GB" sz="1600" dirty="0"/>
              <a:t>5 - Reference software</a:t>
            </a:r>
          </a:p>
          <a:p>
            <a:pPr marL="193675" indent="-193675"/>
            <a:endParaRPr lang="en-GB" sz="1600" dirty="0"/>
          </a:p>
          <a:p>
            <a:pPr marL="193675" indent="-193675">
              <a:buFontTx/>
              <a:buChar char="•"/>
            </a:pPr>
            <a:r>
              <a:rPr lang="en-GB" sz="1600" dirty="0"/>
              <a:t>video CD format - quality ~ VCR</a:t>
            </a:r>
          </a:p>
          <a:p>
            <a:pPr marL="193675" indent="-193675">
              <a:buFontTx/>
              <a:buChar char="•"/>
            </a:pPr>
            <a:r>
              <a:rPr lang="en-GB" sz="1600" dirty="0"/>
              <a:t>originally 1.5M bit/second data rates and 352x240 resolution</a:t>
            </a:r>
          </a:p>
          <a:p>
            <a:pPr marL="193675" indent="-193675">
              <a:buFontTx/>
              <a:buChar char="•"/>
            </a:pPr>
            <a:r>
              <a:rPr lang="en-GB" sz="1600" dirty="0"/>
              <a:t>later up to 4M bit/second </a:t>
            </a:r>
          </a:p>
          <a:p>
            <a:pPr marL="193675" indent="-193675">
              <a:buFontTx/>
              <a:buChar char="•"/>
            </a:pPr>
            <a:r>
              <a:rPr lang="en-GB" sz="1600" dirty="0"/>
              <a:t>the most compatible format in the MPEG family</a:t>
            </a:r>
          </a:p>
          <a:p>
            <a:pPr marL="193675" indent="-193675">
              <a:buFontTx/>
              <a:buChar char="•"/>
            </a:pPr>
            <a:r>
              <a:rPr lang="en-GB" sz="1600" dirty="0"/>
              <a:t>only progressive scan video (... so need for MPEG-2)</a:t>
            </a:r>
            <a:endParaRPr lang="en-GB" sz="1400" dirty="0"/>
          </a:p>
        </p:txBody>
      </p:sp>
      <p:sp>
        <p:nvSpPr>
          <p:cNvPr id="6147" name="Rectangle 3"/>
          <p:cNvSpPr>
            <a:spLocks noChangeArrowheads="1"/>
          </p:cNvSpPr>
          <p:nvPr/>
        </p:nvSpPr>
        <p:spPr bwMode="auto">
          <a:xfrm>
            <a:off x="381000" y="331788"/>
            <a:ext cx="1382110" cy="461665"/>
          </a:xfrm>
          <a:prstGeom prst="rect">
            <a:avLst/>
          </a:prstGeom>
          <a:noFill/>
          <a:ln w="9525">
            <a:noFill/>
            <a:miter lim="800000"/>
            <a:headEnd/>
            <a:tailEnd/>
          </a:ln>
        </p:spPr>
        <p:txBody>
          <a:bodyPr wrap="none">
            <a:spAutoFit/>
          </a:bodyPr>
          <a:lstStyle/>
          <a:p>
            <a:r>
              <a:rPr lang="en-GB" sz="2400" b="1" dirty="0"/>
              <a:t>MPEG-1</a:t>
            </a:r>
          </a:p>
        </p:txBody>
      </p:sp>
    </p:spTree>
    <p:extLst>
      <p:ext uri="{BB962C8B-B14F-4D97-AF65-F5344CB8AC3E}">
        <p14:creationId xmlns:p14="http://schemas.microsoft.com/office/powerpoint/2010/main" val="10305101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ChangeArrowheads="1"/>
          </p:cNvSpPr>
          <p:nvPr/>
        </p:nvSpPr>
        <p:spPr bwMode="auto">
          <a:xfrm>
            <a:off x="395288" y="930535"/>
            <a:ext cx="8458200" cy="5293757"/>
          </a:xfrm>
          <a:prstGeom prst="rect">
            <a:avLst/>
          </a:prstGeom>
          <a:noFill/>
          <a:ln w="9525">
            <a:noFill/>
            <a:miter lim="800000"/>
            <a:headEnd/>
            <a:tailEnd/>
          </a:ln>
        </p:spPr>
        <p:txBody>
          <a:bodyPr>
            <a:spAutoFit/>
          </a:bodyPr>
          <a:lstStyle/>
          <a:p>
            <a:pPr marL="193675" indent="-193675"/>
            <a:r>
              <a:rPr lang="en-GB" sz="1600" dirty="0"/>
              <a:t>(1994) Audio and video coding</a:t>
            </a:r>
          </a:p>
          <a:p>
            <a:pPr marL="193675" indent="-193675">
              <a:buFontTx/>
              <a:buChar char="•"/>
            </a:pPr>
            <a:r>
              <a:rPr lang="en-GB" sz="1600" dirty="0"/>
              <a:t>for broadcast - DVB (satellite, cable, DTT, etc), also DVD  (with </a:t>
            </a:r>
            <a:r>
              <a:rPr lang="en-GB" sz="1600" dirty="0" err="1"/>
              <a:t>mofifications</a:t>
            </a:r>
            <a:r>
              <a:rPr lang="en-GB" sz="1600" dirty="0"/>
              <a:t>)</a:t>
            </a:r>
          </a:p>
          <a:p>
            <a:pPr marL="193675" indent="-193675"/>
            <a:endParaRPr lang="en-GB" sz="1600" dirty="0"/>
          </a:p>
          <a:p>
            <a:pPr marL="193675" indent="-193675"/>
            <a:r>
              <a:rPr lang="en-GB" sz="1600" i="1" u="sng" dirty="0"/>
              <a:t>9 Parts, including - </a:t>
            </a:r>
          </a:p>
          <a:p>
            <a:pPr marL="193675" indent="-193675"/>
            <a:endParaRPr lang="en-GB" sz="1600" dirty="0"/>
          </a:p>
          <a:p>
            <a:pPr marL="193675" indent="-193675"/>
            <a:r>
              <a:rPr lang="en-GB" sz="1600" dirty="0"/>
              <a:t>1 - Transport Streams - TS  </a:t>
            </a:r>
          </a:p>
          <a:p>
            <a:pPr marL="565150" lvl="1" indent="-179388">
              <a:buFontTx/>
              <a:buChar char="•"/>
            </a:pPr>
            <a:r>
              <a:rPr lang="en-GB" sz="1400" dirty="0"/>
              <a:t>to carry digital video and audio in (unreliable) broadcast applications</a:t>
            </a:r>
          </a:p>
          <a:p>
            <a:pPr marL="565150" lvl="1" indent="-179388">
              <a:buFontTx/>
              <a:buChar char="•"/>
            </a:pPr>
            <a:r>
              <a:rPr lang="en-GB" sz="1400" dirty="0"/>
              <a:t>Program streams carry audio and/or video data + time stamp data</a:t>
            </a:r>
          </a:p>
          <a:p>
            <a:pPr marL="565150" lvl="1" indent="-179388">
              <a:buFontTx/>
              <a:buChar char="•"/>
            </a:pPr>
            <a:endParaRPr lang="en-GB" sz="1600" dirty="0"/>
          </a:p>
          <a:p>
            <a:pPr marL="193675" indent="-193675"/>
            <a:r>
              <a:rPr lang="en-GB" sz="1600" dirty="0"/>
              <a:t>2 - Video </a:t>
            </a:r>
          </a:p>
          <a:p>
            <a:pPr marL="565150" lvl="1" indent="-179388">
              <a:buFontTx/>
              <a:buChar char="•"/>
            </a:pPr>
            <a:r>
              <a:rPr lang="en-GB" sz="1400" dirty="0"/>
              <a:t>similar to MPEG-1 </a:t>
            </a:r>
          </a:p>
          <a:p>
            <a:pPr marL="565150" lvl="1" indent="-179388">
              <a:buFontTx/>
              <a:buChar char="•"/>
            </a:pPr>
            <a:r>
              <a:rPr lang="en-GB" sz="1400" dirty="0"/>
              <a:t>support for interlaced video</a:t>
            </a:r>
          </a:p>
          <a:p>
            <a:pPr marL="565150" lvl="1" indent="-179388">
              <a:buFontTx/>
              <a:buChar char="•"/>
            </a:pPr>
            <a:r>
              <a:rPr lang="en-GB" sz="1400" dirty="0"/>
              <a:t>optimised &gt; 3 </a:t>
            </a:r>
            <a:r>
              <a:rPr lang="en-GB" sz="1400" dirty="0" err="1"/>
              <a:t>Mbit</a:t>
            </a:r>
            <a:r>
              <a:rPr lang="en-GB" sz="1400" dirty="0"/>
              <a:t>/s; </a:t>
            </a:r>
            <a:r>
              <a:rPr lang="en-GB" sz="1400" i="1" dirty="0"/>
              <a:t>not </a:t>
            </a:r>
            <a:r>
              <a:rPr lang="en-GB" sz="1400" dirty="0"/>
              <a:t>for low bit-rates (less than 1 </a:t>
            </a:r>
            <a:r>
              <a:rPr lang="en-GB" sz="1400" dirty="0" err="1"/>
              <a:t>Mbit</a:t>
            </a:r>
            <a:r>
              <a:rPr lang="en-GB" sz="1400" dirty="0"/>
              <a:t>/s)</a:t>
            </a:r>
          </a:p>
          <a:p>
            <a:pPr marL="565150" lvl="1" indent="-179388">
              <a:buFontTx/>
              <a:buChar char="•"/>
            </a:pPr>
            <a:r>
              <a:rPr lang="en-GB" sz="1400" dirty="0"/>
              <a:t>backwards compatible to MPEG1</a:t>
            </a:r>
          </a:p>
          <a:p>
            <a:pPr marL="565150" lvl="1" indent="-179388">
              <a:buFontTx/>
              <a:buChar char="•"/>
            </a:pPr>
            <a:r>
              <a:rPr lang="en-GB" sz="1400" dirty="0"/>
              <a:t>enhancements - used (to date) in most HDTV transmission systems</a:t>
            </a:r>
            <a:r>
              <a:rPr lang="en-GB" sz="1600" dirty="0"/>
              <a:t> </a:t>
            </a:r>
          </a:p>
          <a:p>
            <a:pPr marL="565150" lvl="1" indent="-179388">
              <a:buFontTx/>
              <a:buChar char="•"/>
            </a:pPr>
            <a:endParaRPr lang="en-GB" sz="1600" dirty="0"/>
          </a:p>
          <a:p>
            <a:pPr marL="193675" indent="-193675"/>
            <a:r>
              <a:rPr lang="en-GB" sz="1600" dirty="0"/>
              <a:t>3 - </a:t>
            </a:r>
            <a:r>
              <a:rPr lang="en-GB" sz="1600" b="1" dirty="0"/>
              <a:t>Audio</a:t>
            </a:r>
          </a:p>
          <a:p>
            <a:pPr marL="565150" lvl="1" indent="-179388">
              <a:buFontTx/>
              <a:buChar char="•"/>
            </a:pPr>
            <a:r>
              <a:rPr lang="en-GB" sz="1400" b="1" dirty="0"/>
              <a:t>layers 1, 2, 3</a:t>
            </a:r>
          </a:p>
          <a:p>
            <a:pPr marL="565150" lvl="1" indent="-179388">
              <a:buFontTx/>
              <a:buChar char="•"/>
            </a:pPr>
            <a:endParaRPr lang="en-GB" sz="1600" b="1" dirty="0"/>
          </a:p>
          <a:p>
            <a:pPr marL="193675" indent="-193675"/>
            <a:r>
              <a:rPr lang="en-GB" sz="1600" dirty="0"/>
              <a:t>4, 5 - as MPEG-1</a:t>
            </a:r>
          </a:p>
          <a:p>
            <a:pPr marL="193675" indent="-193675"/>
            <a:endParaRPr lang="en-GB" sz="1600" dirty="0"/>
          </a:p>
          <a:p>
            <a:pPr marL="193675" indent="-193675"/>
            <a:r>
              <a:rPr lang="en-GB" sz="1600" dirty="0"/>
              <a:t>7 - Enhanced audio</a:t>
            </a:r>
          </a:p>
        </p:txBody>
      </p:sp>
      <p:sp>
        <p:nvSpPr>
          <p:cNvPr id="7171" name="Rectangle 3"/>
          <p:cNvSpPr>
            <a:spLocks noChangeArrowheads="1"/>
          </p:cNvSpPr>
          <p:nvPr/>
        </p:nvSpPr>
        <p:spPr bwMode="auto">
          <a:xfrm>
            <a:off x="381000" y="331788"/>
            <a:ext cx="1382110" cy="461665"/>
          </a:xfrm>
          <a:prstGeom prst="rect">
            <a:avLst/>
          </a:prstGeom>
          <a:noFill/>
          <a:ln w="9525">
            <a:noFill/>
            <a:miter lim="800000"/>
            <a:headEnd/>
            <a:tailEnd/>
          </a:ln>
        </p:spPr>
        <p:txBody>
          <a:bodyPr wrap="none">
            <a:spAutoFit/>
          </a:bodyPr>
          <a:lstStyle/>
          <a:p>
            <a:r>
              <a:rPr lang="en-GB" sz="2400" b="1" dirty="0"/>
              <a:t>MPEG-2</a:t>
            </a:r>
          </a:p>
        </p:txBody>
      </p:sp>
    </p:spTree>
    <p:extLst>
      <p:ext uri="{BB962C8B-B14F-4D97-AF65-F5344CB8AC3E}">
        <p14:creationId xmlns:p14="http://schemas.microsoft.com/office/powerpoint/2010/main" val="30917050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ChangeArrowheads="1"/>
          </p:cNvSpPr>
          <p:nvPr/>
        </p:nvSpPr>
        <p:spPr bwMode="auto">
          <a:xfrm>
            <a:off x="381000" y="1143000"/>
            <a:ext cx="8153400" cy="3539430"/>
          </a:xfrm>
          <a:prstGeom prst="rect">
            <a:avLst/>
          </a:prstGeom>
          <a:noFill/>
          <a:ln w="9525">
            <a:noFill/>
            <a:miter lim="800000"/>
            <a:headEnd/>
            <a:tailEnd/>
          </a:ln>
        </p:spPr>
        <p:txBody>
          <a:bodyPr>
            <a:spAutoFit/>
          </a:bodyPr>
          <a:lstStyle/>
          <a:p>
            <a:pPr marL="193675" indent="-193675"/>
            <a:r>
              <a:rPr lang="en-GB" sz="1600" b="1" dirty="0"/>
              <a:t>Part 3 </a:t>
            </a:r>
            <a:endParaRPr lang="en-GB" sz="1600" dirty="0"/>
          </a:p>
          <a:p>
            <a:pPr marL="193675" indent="-193675">
              <a:buFontTx/>
              <a:buChar char="•"/>
            </a:pPr>
            <a:r>
              <a:rPr lang="en-GB" sz="1600" dirty="0"/>
              <a:t>new audio encoding (see later...)</a:t>
            </a:r>
          </a:p>
          <a:p>
            <a:pPr marL="193675" indent="-193675">
              <a:buFontTx/>
              <a:buChar char="•"/>
            </a:pPr>
            <a:endParaRPr lang="en-GB" sz="1600" dirty="0"/>
          </a:p>
          <a:p>
            <a:pPr marL="193675" indent="-193675">
              <a:buFontTx/>
              <a:buChar char="•"/>
            </a:pPr>
            <a:r>
              <a:rPr lang="en-GB" sz="1600" dirty="0"/>
              <a:t>low </a:t>
            </a:r>
            <a:r>
              <a:rPr lang="en-GB" sz="1600" dirty="0" err="1"/>
              <a:t>bitrate</a:t>
            </a:r>
            <a:r>
              <a:rPr lang="en-GB" sz="1600" dirty="0"/>
              <a:t> encoding with halved sampling rate </a:t>
            </a:r>
          </a:p>
          <a:p>
            <a:pPr marL="565150" lvl="1" indent="-179388">
              <a:buFontTx/>
              <a:buChar char="•"/>
            </a:pPr>
            <a:r>
              <a:rPr lang="en-GB" sz="1600" dirty="0"/>
              <a:t>MPEG-1 Layer 1/2/3 LSF - low sampling frequency</a:t>
            </a:r>
          </a:p>
          <a:p>
            <a:pPr marL="193675" indent="-193675">
              <a:buFontTx/>
              <a:buChar char="•"/>
            </a:pPr>
            <a:endParaRPr lang="en-GB" sz="1600" dirty="0"/>
          </a:p>
          <a:p>
            <a:pPr marL="193675" indent="-193675">
              <a:buFontTx/>
              <a:buChar char="•"/>
            </a:pPr>
            <a:r>
              <a:rPr lang="en-GB" sz="1600" dirty="0"/>
              <a:t>multichannel encoding with up to 5.1 channels</a:t>
            </a:r>
          </a:p>
          <a:p>
            <a:pPr marL="193675" indent="-193675"/>
            <a:r>
              <a:rPr lang="en-GB" sz="1600" dirty="0"/>
              <a:t>	... backwards compatible - </a:t>
            </a:r>
          </a:p>
          <a:p>
            <a:pPr marL="193675" indent="-193675"/>
            <a:r>
              <a:rPr lang="en-GB" sz="1600" dirty="0"/>
              <a:t>		MPEG-1 audio decoders can decode stereo from MPEG-2 		multi-</a:t>
            </a:r>
            <a:r>
              <a:rPr lang="en-GB" sz="1600" dirty="0" err="1"/>
              <a:t>chan</a:t>
            </a:r>
            <a:r>
              <a:rPr lang="en-GB" sz="1600" dirty="0"/>
              <a:t> audio</a:t>
            </a:r>
          </a:p>
          <a:p>
            <a:pPr marL="193675" indent="-193675"/>
            <a:endParaRPr lang="en-GB" sz="1600" dirty="0"/>
          </a:p>
          <a:p>
            <a:pPr marL="193675" indent="-193675"/>
            <a:r>
              <a:rPr lang="en-GB" sz="1600" b="1" dirty="0"/>
              <a:t>MPEG-2 AAC - Part 7</a:t>
            </a:r>
            <a:r>
              <a:rPr lang="en-GB" sz="1600" dirty="0"/>
              <a:t> </a:t>
            </a:r>
          </a:p>
          <a:p>
            <a:pPr marL="193675" indent="-193675">
              <a:buFontTx/>
              <a:buChar char="•"/>
            </a:pPr>
            <a:r>
              <a:rPr lang="en-GB" sz="1600" dirty="0"/>
              <a:t>make better use of available bandwidth </a:t>
            </a:r>
          </a:p>
          <a:p>
            <a:pPr marL="565150" lvl="1" indent="-179388">
              <a:buFontTx/>
              <a:buChar char="•"/>
            </a:pPr>
            <a:r>
              <a:rPr lang="en-GB" sz="1600" dirty="0"/>
              <a:t>non-backwards-compatible </a:t>
            </a:r>
          </a:p>
        </p:txBody>
      </p:sp>
      <p:sp>
        <p:nvSpPr>
          <p:cNvPr id="8195" name="Rectangle 3"/>
          <p:cNvSpPr>
            <a:spLocks noChangeArrowheads="1"/>
          </p:cNvSpPr>
          <p:nvPr/>
        </p:nvSpPr>
        <p:spPr bwMode="auto">
          <a:xfrm>
            <a:off x="381000" y="331788"/>
            <a:ext cx="2356735" cy="461665"/>
          </a:xfrm>
          <a:prstGeom prst="rect">
            <a:avLst/>
          </a:prstGeom>
          <a:noFill/>
          <a:ln w="9525">
            <a:noFill/>
            <a:miter lim="800000"/>
            <a:headEnd/>
            <a:tailEnd/>
          </a:ln>
        </p:spPr>
        <p:txBody>
          <a:bodyPr wrap="none">
            <a:spAutoFit/>
          </a:bodyPr>
          <a:lstStyle/>
          <a:p>
            <a:r>
              <a:rPr lang="en-GB" sz="2400" b="1" dirty="0"/>
              <a:t>MPEG-2 Audio</a:t>
            </a:r>
          </a:p>
        </p:txBody>
      </p:sp>
    </p:spTree>
    <p:extLst>
      <p:ext uri="{BB962C8B-B14F-4D97-AF65-F5344CB8AC3E}">
        <p14:creationId xmlns:p14="http://schemas.microsoft.com/office/powerpoint/2010/main" val="4506981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5" name="Group 74"/>
          <p:cNvGrpSpPr/>
          <p:nvPr/>
        </p:nvGrpSpPr>
        <p:grpSpPr>
          <a:xfrm>
            <a:off x="2506133" y="1481689"/>
            <a:ext cx="2953621" cy="1041403"/>
            <a:chOff x="2921000" y="1481689"/>
            <a:chExt cx="1456267" cy="1041403"/>
          </a:xfrm>
        </p:grpSpPr>
        <p:cxnSp>
          <p:nvCxnSpPr>
            <p:cNvPr id="39" name="Straight Connector 38"/>
            <p:cNvCxnSpPr>
              <a:cxnSpLocks/>
            </p:cNvCxnSpPr>
            <p:nvPr/>
          </p:nvCxnSpPr>
          <p:spPr>
            <a:xfrm flipV="1">
              <a:off x="2929467" y="1481689"/>
              <a:ext cx="1447800" cy="2"/>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a:cxnSpLocks/>
            </p:cNvCxnSpPr>
            <p:nvPr/>
          </p:nvCxnSpPr>
          <p:spPr>
            <a:xfrm flipV="1">
              <a:off x="2921000" y="1828823"/>
              <a:ext cx="1447800" cy="2"/>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a:cxnSpLocks/>
            </p:cNvCxnSpPr>
            <p:nvPr/>
          </p:nvCxnSpPr>
          <p:spPr>
            <a:xfrm flipV="1">
              <a:off x="2921000" y="2192890"/>
              <a:ext cx="1447800" cy="2"/>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a:cxnSpLocks/>
            </p:cNvCxnSpPr>
            <p:nvPr/>
          </p:nvCxnSpPr>
          <p:spPr>
            <a:xfrm flipV="1">
              <a:off x="2921000" y="2523090"/>
              <a:ext cx="1447800" cy="2"/>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grpSp>
      <p:cxnSp>
        <p:nvCxnSpPr>
          <p:cNvPr id="89" name="Straight Connector 88"/>
          <p:cNvCxnSpPr/>
          <p:nvPr/>
        </p:nvCxnSpPr>
        <p:spPr>
          <a:xfrm>
            <a:off x="3200396" y="3793084"/>
            <a:ext cx="634918" cy="7625"/>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5" name="Straight Connector 64"/>
          <p:cNvCxnSpPr/>
          <p:nvPr/>
        </p:nvCxnSpPr>
        <p:spPr>
          <a:xfrm>
            <a:off x="3200397" y="3369755"/>
            <a:ext cx="0" cy="431874"/>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77" name="TextBox 76"/>
          <p:cNvSpPr txBox="1"/>
          <p:nvPr/>
        </p:nvSpPr>
        <p:spPr>
          <a:xfrm>
            <a:off x="374458" y="4815906"/>
            <a:ext cx="6280342" cy="1554913"/>
          </a:xfrm>
          <a:prstGeom prst="rect">
            <a:avLst/>
          </a:prstGeom>
          <a:solidFill>
            <a:schemeClr val="accent5">
              <a:lumMod val="20000"/>
              <a:lumOff val="80000"/>
            </a:schemeClr>
          </a:solidFill>
        </p:spPr>
        <p:txBody>
          <a:bodyPr wrap="square" rtlCol="0">
            <a:spAutoFit/>
          </a:bodyPr>
          <a:lstStyle/>
          <a:p>
            <a:pPr>
              <a:lnSpc>
                <a:spcPts val="2300"/>
              </a:lnSpc>
            </a:pPr>
            <a:r>
              <a:rPr lang="en-GB" sz="1600" dirty="0">
                <a:latin typeface="Lucida Sans Unicode" pitchFamily="34" charset="0"/>
                <a:cs typeface="Lucida Sans Unicode" pitchFamily="34" charset="0"/>
              </a:rPr>
              <a:t>Requirement:</a:t>
            </a:r>
          </a:p>
          <a:p>
            <a:pPr marL="285750" indent="-285750">
              <a:lnSpc>
                <a:spcPts val="2300"/>
              </a:lnSpc>
              <a:buFont typeface="Arial" panose="020B0604020202020204" pitchFamily="34" charset="0"/>
              <a:buChar char="•"/>
            </a:pPr>
            <a:r>
              <a:rPr lang="en-GB" sz="1600" dirty="0">
                <a:latin typeface="Lucida Sans Unicode" pitchFamily="34" charset="0"/>
                <a:cs typeface="Lucida Sans Unicode" pitchFamily="34" charset="0"/>
              </a:rPr>
              <a:t>To transmit Audio and Video compressed data in: </a:t>
            </a:r>
          </a:p>
          <a:p>
            <a:pPr marL="177800" defTabSz="627063">
              <a:lnSpc>
                <a:spcPts val="2300"/>
              </a:lnSpc>
            </a:pPr>
            <a:r>
              <a:rPr lang="en-GB" sz="1600" dirty="0">
                <a:latin typeface="Lucida Sans Unicode" pitchFamily="34" charset="0"/>
                <a:cs typeface="Lucida Sans Unicode" pitchFamily="34" charset="0"/>
              </a:rPr>
              <a:t>	(i) reliable channels – studio, DVD, reliable media </a:t>
            </a:r>
            <a:r>
              <a:rPr lang="en-GB" sz="1600" b="1" dirty="0">
                <a:solidFill>
                  <a:schemeClr val="tx2">
                    <a:lumMod val="60000"/>
                    <a:lumOff val="40000"/>
                  </a:schemeClr>
                </a:solidFill>
                <a:latin typeface="Lucida Sans Unicode" pitchFamily="34" charset="0"/>
                <a:cs typeface="Lucida Sans Unicode" pitchFamily="34" charset="0"/>
              </a:rPr>
              <a:t>(PS)</a:t>
            </a:r>
          </a:p>
          <a:p>
            <a:pPr marL="177800" defTabSz="627063">
              <a:lnSpc>
                <a:spcPts val="2300"/>
              </a:lnSpc>
            </a:pPr>
            <a:r>
              <a:rPr lang="en-GB" sz="1600" dirty="0">
                <a:latin typeface="Lucida Sans Unicode" pitchFamily="34" charset="0"/>
                <a:cs typeface="Lucida Sans Unicode" pitchFamily="34" charset="0"/>
              </a:rPr>
              <a:t>	(ii) transmission in hostile environments </a:t>
            </a:r>
            <a:r>
              <a:rPr lang="en-GB" sz="1600" b="1" dirty="0">
                <a:solidFill>
                  <a:srgbClr val="FF0000"/>
                </a:solidFill>
                <a:latin typeface="Lucida Sans Unicode" pitchFamily="34" charset="0"/>
                <a:cs typeface="Lucida Sans Unicode" pitchFamily="34" charset="0"/>
              </a:rPr>
              <a:t>(TS)</a:t>
            </a:r>
          </a:p>
          <a:p>
            <a:pPr marL="285750" indent="-285750">
              <a:lnSpc>
                <a:spcPts val="2300"/>
              </a:lnSpc>
              <a:buFont typeface="Arial" panose="020B0604020202020204" pitchFamily="34" charset="0"/>
              <a:buChar char="•"/>
            </a:pPr>
            <a:r>
              <a:rPr lang="en-GB" sz="1600" dirty="0">
                <a:latin typeface="Lucida Sans Unicode" pitchFamily="34" charset="0"/>
                <a:cs typeface="Lucida Sans Unicode" pitchFamily="34" charset="0"/>
              </a:rPr>
              <a:t>Allow interchange between these two formats </a:t>
            </a:r>
          </a:p>
        </p:txBody>
      </p:sp>
      <p:grpSp>
        <p:nvGrpSpPr>
          <p:cNvPr id="2" name="Group 1"/>
          <p:cNvGrpSpPr/>
          <p:nvPr/>
        </p:nvGrpSpPr>
        <p:grpSpPr>
          <a:xfrm>
            <a:off x="1456361" y="1354546"/>
            <a:ext cx="1210733" cy="279400"/>
            <a:chOff x="1701800" y="1075267"/>
            <a:chExt cx="1210733" cy="279400"/>
          </a:xfrm>
        </p:grpSpPr>
        <p:sp>
          <p:nvSpPr>
            <p:cNvPr id="3" name="Rectangle 2"/>
            <p:cNvSpPr/>
            <p:nvPr/>
          </p:nvSpPr>
          <p:spPr>
            <a:xfrm>
              <a:off x="1701800" y="1075267"/>
              <a:ext cx="1210733" cy="279400"/>
            </a:xfrm>
            <a:prstGeom prst="rect">
              <a:avLst/>
            </a:prstGeom>
            <a:solidFill>
              <a:schemeClr val="bg1">
                <a:lumMod val="85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3"/>
            <p:cNvSpPr/>
            <p:nvPr/>
          </p:nvSpPr>
          <p:spPr>
            <a:xfrm>
              <a:off x="1769533" y="1134534"/>
              <a:ext cx="127000" cy="143933"/>
            </a:xfrm>
            <a:prstGeom prst="rect">
              <a:avLst/>
            </a:prstGeom>
            <a:solidFill>
              <a:schemeClr val="tx2">
                <a:lumMod val="40000"/>
                <a:lumOff val="6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p:cNvSpPr/>
            <p:nvPr/>
          </p:nvSpPr>
          <p:spPr>
            <a:xfrm>
              <a:off x="1955800" y="1134534"/>
              <a:ext cx="127000" cy="143933"/>
            </a:xfrm>
            <a:prstGeom prst="rect">
              <a:avLst/>
            </a:prstGeom>
            <a:solidFill>
              <a:schemeClr val="tx2">
                <a:lumMod val="40000"/>
                <a:lumOff val="6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p:cNvSpPr/>
            <p:nvPr/>
          </p:nvSpPr>
          <p:spPr>
            <a:xfrm>
              <a:off x="2150534" y="1134533"/>
              <a:ext cx="127000" cy="143933"/>
            </a:xfrm>
            <a:prstGeom prst="rect">
              <a:avLst/>
            </a:prstGeom>
            <a:solidFill>
              <a:schemeClr val="accent2">
                <a:lumMod val="60000"/>
                <a:lumOff val="4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p:cNvSpPr/>
            <p:nvPr/>
          </p:nvSpPr>
          <p:spPr>
            <a:xfrm>
              <a:off x="2336799" y="1134533"/>
              <a:ext cx="127000" cy="143933"/>
            </a:xfrm>
            <a:prstGeom prst="rect">
              <a:avLst/>
            </a:prstGeom>
            <a:solidFill>
              <a:schemeClr val="tx2">
                <a:lumMod val="40000"/>
                <a:lumOff val="6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p:cNvSpPr/>
            <p:nvPr/>
          </p:nvSpPr>
          <p:spPr>
            <a:xfrm>
              <a:off x="2523066" y="1134533"/>
              <a:ext cx="127000" cy="143933"/>
            </a:xfrm>
            <a:prstGeom prst="rect">
              <a:avLst/>
            </a:prstGeom>
            <a:solidFill>
              <a:schemeClr val="tx2">
                <a:lumMod val="40000"/>
                <a:lumOff val="6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p:cNvSpPr/>
            <p:nvPr/>
          </p:nvSpPr>
          <p:spPr>
            <a:xfrm>
              <a:off x="2717800" y="1134532"/>
              <a:ext cx="127000" cy="143933"/>
            </a:xfrm>
            <a:prstGeom prst="rect">
              <a:avLst/>
            </a:prstGeom>
            <a:solidFill>
              <a:schemeClr val="accent2">
                <a:lumMod val="60000"/>
                <a:lumOff val="4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0" name="Group 9"/>
          <p:cNvGrpSpPr/>
          <p:nvPr/>
        </p:nvGrpSpPr>
        <p:grpSpPr>
          <a:xfrm>
            <a:off x="1456361" y="1701680"/>
            <a:ext cx="1210733" cy="279400"/>
            <a:chOff x="1701800" y="1075267"/>
            <a:chExt cx="1210733" cy="279400"/>
          </a:xfrm>
        </p:grpSpPr>
        <p:sp>
          <p:nvSpPr>
            <p:cNvPr id="11" name="Rectangle 10"/>
            <p:cNvSpPr/>
            <p:nvPr/>
          </p:nvSpPr>
          <p:spPr>
            <a:xfrm>
              <a:off x="1701800" y="1075267"/>
              <a:ext cx="1210733" cy="279400"/>
            </a:xfrm>
            <a:prstGeom prst="rect">
              <a:avLst/>
            </a:prstGeom>
            <a:solidFill>
              <a:schemeClr val="bg1">
                <a:lumMod val="85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p:cNvSpPr/>
            <p:nvPr/>
          </p:nvSpPr>
          <p:spPr>
            <a:xfrm>
              <a:off x="1769533" y="1134534"/>
              <a:ext cx="127000" cy="143933"/>
            </a:xfrm>
            <a:prstGeom prst="rect">
              <a:avLst/>
            </a:prstGeom>
            <a:solidFill>
              <a:schemeClr val="tx2">
                <a:lumMod val="40000"/>
                <a:lumOff val="6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12"/>
            <p:cNvSpPr/>
            <p:nvPr/>
          </p:nvSpPr>
          <p:spPr>
            <a:xfrm>
              <a:off x="1955800" y="1134534"/>
              <a:ext cx="127000" cy="143933"/>
            </a:xfrm>
            <a:prstGeom prst="rect">
              <a:avLst/>
            </a:prstGeom>
            <a:solidFill>
              <a:schemeClr val="tx2">
                <a:lumMod val="40000"/>
                <a:lumOff val="6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p:cNvSpPr/>
            <p:nvPr/>
          </p:nvSpPr>
          <p:spPr>
            <a:xfrm>
              <a:off x="2150534" y="1134533"/>
              <a:ext cx="127000" cy="143933"/>
            </a:xfrm>
            <a:prstGeom prst="rect">
              <a:avLst/>
            </a:prstGeom>
            <a:solidFill>
              <a:schemeClr val="accent2">
                <a:lumMod val="60000"/>
                <a:lumOff val="4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14"/>
            <p:cNvSpPr/>
            <p:nvPr/>
          </p:nvSpPr>
          <p:spPr>
            <a:xfrm>
              <a:off x="2336799" y="1134533"/>
              <a:ext cx="127000" cy="143933"/>
            </a:xfrm>
            <a:prstGeom prst="rect">
              <a:avLst/>
            </a:prstGeom>
            <a:solidFill>
              <a:schemeClr val="tx2">
                <a:lumMod val="40000"/>
                <a:lumOff val="6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Rectangle 15"/>
            <p:cNvSpPr/>
            <p:nvPr/>
          </p:nvSpPr>
          <p:spPr>
            <a:xfrm>
              <a:off x="2523066" y="1134533"/>
              <a:ext cx="127000" cy="143933"/>
            </a:xfrm>
            <a:prstGeom prst="rect">
              <a:avLst/>
            </a:prstGeom>
            <a:solidFill>
              <a:schemeClr val="tx2">
                <a:lumMod val="40000"/>
                <a:lumOff val="6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p:cNvSpPr/>
            <p:nvPr/>
          </p:nvSpPr>
          <p:spPr>
            <a:xfrm>
              <a:off x="2717800" y="1134532"/>
              <a:ext cx="127000" cy="143933"/>
            </a:xfrm>
            <a:prstGeom prst="rect">
              <a:avLst/>
            </a:prstGeom>
            <a:solidFill>
              <a:schemeClr val="accent2">
                <a:lumMod val="60000"/>
                <a:lumOff val="4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8" name="Group 17"/>
          <p:cNvGrpSpPr/>
          <p:nvPr/>
        </p:nvGrpSpPr>
        <p:grpSpPr>
          <a:xfrm>
            <a:off x="1456361" y="2057280"/>
            <a:ext cx="1210733" cy="279400"/>
            <a:chOff x="1701800" y="1075267"/>
            <a:chExt cx="1210733" cy="279400"/>
          </a:xfrm>
        </p:grpSpPr>
        <p:sp>
          <p:nvSpPr>
            <p:cNvPr id="19" name="Rectangle 18"/>
            <p:cNvSpPr/>
            <p:nvPr/>
          </p:nvSpPr>
          <p:spPr>
            <a:xfrm>
              <a:off x="1701800" y="1075267"/>
              <a:ext cx="1210733" cy="279400"/>
            </a:xfrm>
            <a:prstGeom prst="rect">
              <a:avLst/>
            </a:prstGeom>
            <a:solidFill>
              <a:schemeClr val="bg1">
                <a:lumMod val="85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Rectangle 19"/>
            <p:cNvSpPr/>
            <p:nvPr/>
          </p:nvSpPr>
          <p:spPr>
            <a:xfrm>
              <a:off x="1769533" y="1134534"/>
              <a:ext cx="127000" cy="143933"/>
            </a:xfrm>
            <a:prstGeom prst="rect">
              <a:avLst/>
            </a:prstGeom>
            <a:solidFill>
              <a:schemeClr val="tx2">
                <a:lumMod val="40000"/>
                <a:lumOff val="6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Rectangle 20"/>
            <p:cNvSpPr/>
            <p:nvPr/>
          </p:nvSpPr>
          <p:spPr>
            <a:xfrm>
              <a:off x="1955800" y="1134534"/>
              <a:ext cx="127000" cy="143933"/>
            </a:xfrm>
            <a:prstGeom prst="rect">
              <a:avLst/>
            </a:prstGeom>
            <a:solidFill>
              <a:schemeClr val="tx2">
                <a:lumMod val="40000"/>
                <a:lumOff val="6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Rectangle 21"/>
            <p:cNvSpPr/>
            <p:nvPr/>
          </p:nvSpPr>
          <p:spPr>
            <a:xfrm>
              <a:off x="2150534" y="1134533"/>
              <a:ext cx="127000" cy="143933"/>
            </a:xfrm>
            <a:prstGeom prst="rect">
              <a:avLst/>
            </a:prstGeom>
            <a:solidFill>
              <a:schemeClr val="accent2">
                <a:lumMod val="60000"/>
                <a:lumOff val="4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Rectangle 22"/>
            <p:cNvSpPr/>
            <p:nvPr/>
          </p:nvSpPr>
          <p:spPr>
            <a:xfrm>
              <a:off x="2336799" y="1134533"/>
              <a:ext cx="127000" cy="143933"/>
            </a:xfrm>
            <a:prstGeom prst="rect">
              <a:avLst/>
            </a:prstGeom>
            <a:solidFill>
              <a:schemeClr val="tx2">
                <a:lumMod val="40000"/>
                <a:lumOff val="6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Rectangle 23"/>
            <p:cNvSpPr/>
            <p:nvPr/>
          </p:nvSpPr>
          <p:spPr>
            <a:xfrm>
              <a:off x="2523066" y="1134533"/>
              <a:ext cx="127000" cy="143933"/>
            </a:xfrm>
            <a:prstGeom prst="rect">
              <a:avLst/>
            </a:prstGeom>
            <a:solidFill>
              <a:schemeClr val="tx2">
                <a:lumMod val="40000"/>
                <a:lumOff val="6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Rectangle 24"/>
            <p:cNvSpPr/>
            <p:nvPr/>
          </p:nvSpPr>
          <p:spPr>
            <a:xfrm>
              <a:off x="2717800" y="1134532"/>
              <a:ext cx="127000" cy="143933"/>
            </a:xfrm>
            <a:prstGeom prst="rect">
              <a:avLst/>
            </a:prstGeom>
            <a:solidFill>
              <a:schemeClr val="accent2">
                <a:lumMod val="60000"/>
                <a:lumOff val="4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6" name="Group 25"/>
          <p:cNvGrpSpPr/>
          <p:nvPr/>
        </p:nvGrpSpPr>
        <p:grpSpPr>
          <a:xfrm>
            <a:off x="1456361" y="2404414"/>
            <a:ext cx="1210733" cy="279400"/>
            <a:chOff x="1701800" y="1075267"/>
            <a:chExt cx="1210733" cy="279400"/>
          </a:xfrm>
        </p:grpSpPr>
        <p:sp>
          <p:nvSpPr>
            <p:cNvPr id="27" name="Rectangle 26"/>
            <p:cNvSpPr/>
            <p:nvPr/>
          </p:nvSpPr>
          <p:spPr>
            <a:xfrm>
              <a:off x="1701800" y="1075267"/>
              <a:ext cx="1210733" cy="279400"/>
            </a:xfrm>
            <a:prstGeom prst="rect">
              <a:avLst/>
            </a:prstGeom>
            <a:solidFill>
              <a:schemeClr val="bg1">
                <a:lumMod val="85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Rectangle 27"/>
            <p:cNvSpPr/>
            <p:nvPr/>
          </p:nvSpPr>
          <p:spPr>
            <a:xfrm>
              <a:off x="1769533" y="1134534"/>
              <a:ext cx="127000" cy="143933"/>
            </a:xfrm>
            <a:prstGeom prst="rect">
              <a:avLst/>
            </a:prstGeom>
            <a:solidFill>
              <a:schemeClr val="tx2">
                <a:lumMod val="40000"/>
                <a:lumOff val="6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Rectangle 28"/>
            <p:cNvSpPr/>
            <p:nvPr/>
          </p:nvSpPr>
          <p:spPr>
            <a:xfrm>
              <a:off x="1955800" y="1134534"/>
              <a:ext cx="127000" cy="143933"/>
            </a:xfrm>
            <a:prstGeom prst="rect">
              <a:avLst/>
            </a:prstGeom>
            <a:solidFill>
              <a:schemeClr val="tx2">
                <a:lumMod val="40000"/>
                <a:lumOff val="6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Rectangle 29"/>
            <p:cNvSpPr/>
            <p:nvPr/>
          </p:nvSpPr>
          <p:spPr>
            <a:xfrm>
              <a:off x="2150534" y="1134533"/>
              <a:ext cx="127000" cy="143933"/>
            </a:xfrm>
            <a:prstGeom prst="rect">
              <a:avLst/>
            </a:prstGeom>
            <a:solidFill>
              <a:schemeClr val="accent2">
                <a:lumMod val="60000"/>
                <a:lumOff val="4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Rectangle 30"/>
            <p:cNvSpPr/>
            <p:nvPr/>
          </p:nvSpPr>
          <p:spPr>
            <a:xfrm>
              <a:off x="2336799" y="1134533"/>
              <a:ext cx="127000" cy="143933"/>
            </a:xfrm>
            <a:prstGeom prst="rect">
              <a:avLst/>
            </a:prstGeom>
            <a:solidFill>
              <a:schemeClr val="tx2">
                <a:lumMod val="40000"/>
                <a:lumOff val="6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Rectangle 31"/>
            <p:cNvSpPr/>
            <p:nvPr/>
          </p:nvSpPr>
          <p:spPr>
            <a:xfrm>
              <a:off x="2523066" y="1134533"/>
              <a:ext cx="127000" cy="143933"/>
            </a:xfrm>
            <a:prstGeom prst="rect">
              <a:avLst/>
            </a:prstGeom>
            <a:solidFill>
              <a:schemeClr val="tx2">
                <a:lumMod val="40000"/>
                <a:lumOff val="6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Rectangle 32"/>
            <p:cNvSpPr/>
            <p:nvPr/>
          </p:nvSpPr>
          <p:spPr>
            <a:xfrm>
              <a:off x="2717800" y="1134532"/>
              <a:ext cx="127000" cy="143933"/>
            </a:xfrm>
            <a:prstGeom prst="rect">
              <a:avLst/>
            </a:prstGeom>
            <a:solidFill>
              <a:schemeClr val="accent2">
                <a:lumMod val="60000"/>
                <a:lumOff val="4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34" name="TextBox 33"/>
          <p:cNvSpPr txBox="1"/>
          <p:nvPr/>
        </p:nvSpPr>
        <p:spPr>
          <a:xfrm>
            <a:off x="321810" y="1286808"/>
            <a:ext cx="768159" cy="1723549"/>
          </a:xfrm>
          <a:prstGeom prst="rect">
            <a:avLst/>
          </a:prstGeom>
          <a:noFill/>
        </p:spPr>
        <p:txBody>
          <a:bodyPr wrap="none" rtlCol="0">
            <a:spAutoFit/>
          </a:bodyPr>
          <a:lstStyle/>
          <a:p>
            <a:pPr>
              <a:lnSpc>
                <a:spcPts val="2700"/>
              </a:lnSpc>
            </a:pPr>
            <a:r>
              <a:rPr lang="en-GB" sz="1600" dirty="0">
                <a:latin typeface="Lucida Sans Unicode" pitchFamily="34" charset="0"/>
                <a:cs typeface="Lucida Sans Unicode" pitchFamily="34" charset="0"/>
              </a:rPr>
              <a:t>Video</a:t>
            </a:r>
          </a:p>
          <a:p>
            <a:pPr>
              <a:lnSpc>
                <a:spcPts val="2700"/>
              </a:lnSpc>
            </a:pPr>
            <a:r>
              <a:rPr lang="en-GB" sz="1600" dirty="0">
                <a:latin typeface="Lucida Sans Unicode" pitchFamily="34" charset="0"/>
                <a:cs typeface="Lucida Sans Unicode" pitchFamily="34" charset="0"/>
              </a:rPr>
              <a:t>Audio</a:t>
            </a:r>
          </a:p>
          <a:p>
            <a:pPr>
              <a:lnSpc>
                <a:spcPts val="2700"/>
              </a:lnSpc>
            </a:pPr>
            <a:r>
              <a:rPr lang="en-GB" sz="1600" dirty="0">
                <a:latin typeface="Lucida Sans Unicode" pitchFamily="34" charset="0"/>
                <a:cs typeface="Lucida Sans Unicode" pitchFamily="34" charset="0"/>
              </a:rPr>
              <a:t>Video</a:t>
            </a:r>
          </a:p>
          <a:p>
            <a:pPr>
              <a:lnSpc>
                <a:spcPts val="2700"/>
              </a:lnSpc>
            </a:pPr>
            <a:r>
              <a:rPr lang="en-GB" sz="1600" dirty="0">
                <a:latin typeface="Lucida Sans Unicode" pitchFamily="34" charset="0"/>
                <a:cs typeface="Lucida Sans Unicode" pitchFamily="34" charset="0"/>
              </a:rPr>
              <a:t>Audio</a:t>
            </a:r>
          </a:p>
          <a:p>
            <a:endParaRPr lang="en-GB" sz="1600" dirty="0">
              <a:latin typeface="Lucida Sans Unicode" pitchFamily="34" charset="0"/>
              <a:cs typeface="Lucida Sans Unicode" pitchFamily="34" charset="0"/>
            </a:endParaRPr>
          </a:p>
        </p:txBody>
      </p:sp>
      <p:cxnSp>
        <p:nvCxnSpPr>
          <p:cNvPr id="35" name="Straight Connector 34"/>
          <p:cNvCxnSpPr>
            <a:endCxn id="3" idx="1"/>
          </p:cNvCxnSpPr>
          <p:nvPr/>
        </p:nvCxnSpPr>
        <p:spPr>
          <a:xfrm flipV="1">
            <a:off x="914494" y="1494246"/>
            <a:ext cx="541867" cy="4233"/>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flipV="1">
            <a:off x="1083827" y="1849846"/>
            <a:ext cx="541867" cy="4233"/>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flipV="1">
            <a:off x="1075360" y="2196979"/>
            <a:ext cx="541867" cy="4233"/>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flipV="1">
            <a:off x="1092294" y="2544112"/>
            <a:ext cx="541867" cy="4233"/>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sp>
        <p:nvSpPr>
          <p:cNvPr id="43" name="Rectangle 42"/>
          <p:cNvSpPr/>
          <p:nvPr/>
        </p:nvSpPr>
        <p:spPr>
          <a:xfrm>
            <a:off x="5401737" y="1278488"/>
            <a:ext cx="273752" cy="694267"/>
          </a:xfrm>
          <a:prstGeom prst="rect">
            <a:avLst/>
          </a:prstGeom>
          <a:solidFill>
            <a:srgbClr val="FFFF00"/>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Rectangle 43"/>
          <p:cNvSpPr/>
          <p:nvPr/>
        </p:nvSpPr>
        <p:spPr>
          <a:xfrm>
            <a:off x="5401737" y="2040486"/>
            <a:ext cx="273752" cy="694267"/>
          </a:xfrm>
          <a:prstGeom prst="rect">
            <a:avLst/>
          </a:prstGeom>
          <a:solidFill>
            <a:srgbClr val="FFFF00"/>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Rectangle 44"/>
          <p:cNvSpPr/>
          <p:nvPr/>
        </p:nvSpPr>
        <p:spPr>
          <a:xfrm>
            <a:off x="2743197" y="3149620"/>
            <a:ext cx="914400" cy="254003"/>
          </a:xfrm>
          <a:prstGeom prst="rect">
            <a:avLst/>
          </a:prstGeom>
          <a:solidFill>
            <a:srgbClr val="FFFF00"/>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46" name="Straight Connector 45"/>
          <p:cNvCxnSpPr/>
          <p:nvPr/>
        </p:nvCxnSpPr>
        <p:spPr>
          <a:xfrm flipH="1">
            <a:off x="2929464" y="2192892"/>
            <a:ext cx="1" cy="982131"/>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flipH="1">
            <a:off x="3386664" y="2531558"/>
            <a:ext cx="1" cy="626531"/>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sp>
        <p:nvSpPr>
          <p:cNvPr id="48" name="Rectangle 47"/>
          <p:cNvSpPr/>
          <p:nvPr/>
        </p:nvSpPr>
        <p:spPr>
          <a:xfrm>
            <a:off x="6146803" y="609589"/>
            <a:ext cx="359741" cy="2116702"/>
          </a:xfrm>
          <a:prstGeom prst="rect">
            <a:avLst/>
          </a:prstGeom>
          <a:solidFill>
            <a:srgbClr val="FF0000"/>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49" name="Straight Connector 48"/>
          <p:cNvCxnSpPr/>
          <p:nvPr/>
        </p:nvCxnSpPr>
        <p:spPr>
          <a:xfrm flipV="1">
            <a:off x="5681136" y="1642557"/>
            <a:ext cx="457200" cy="1"/>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flipV="1">
            <a:off x="5664203" y="2328357"/>
            <a:ext cx="457200" cy="1"/>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a:cxnSpLocks/>
          </p:cNvCxnSpPr>
          <p:nvPr/>
        </p:nvCxnSpPr>
        <p:spPr>
          <a:xfrm flipV="1">
            <a:off x="5238750" y="794249"/>
            <a:ext cx="1087923" cy="164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a:off x="6098072" y="1632918"/>
            <a:ext cx="1303867" cy="1"/>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flipH="1">
            <a:off x="7390155" y="1600245"/>
            <a:ext cx="11789" cy="213135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a:xfrm flipV="1">
            <a:off x="8070697" y="2349379"/>
            <a:ext cx="360040" cy="801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flipV="1">
            <a:off x="7393362" y="3413880"/>
            <a:ext cx="360040" cy="801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56" name="Rectangle 55"/>
          <p:cNvSpPr/>
          <p:nvPr/>
        </p:nvSpPr>
        <p:spPr>
          <a:xfrm>
            <a:off x="7753402" y="2478144"/>
            <a:ext cx="900100" cy="450050"/>
          </a:xfrm>
          <a:prstGeom prst="rect">
            <a:avLst/>
          </a:prstGeom>
          <a:solidFill>
            <a:schemeClr val="tx1"/>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7" name="Rectangle 56"/>
          <p:cNvSpPr/>
          <p:nvPr/>
        </p:nvSpPr>
        <p:spPr>
          <a:xfrm>
            <a:off x="7781473" y="2523149"/>
            <a:ext cx="855095" cy="360040"/>
          </a:xfrm>
          <a:prstGeom prst="rect">
            <a:avLst/>
          </a:prstGeom>
          <a:gradFill flip="none" rotWithShape="1">
            <a:gsLst>
              <a:gs pos="0">
                <a:srgbClr val="3399FF"/>
              </a:gs>
              <a:gs pos="16000">
                <a:srgbClr val="00CCCC"/>
              </a:gs>
              <a:gs pos="47000">
                <a:srgbClr val="9999FF"/>
              </a:gs>
              <a:gs pos="60001">
                <a:srgbClr val="2E6792"/>
              </a:gs>
              <a:gs pos="71001">
                <a:srgbClr val="3333CC"/>
              </a:gs>
              <a:gs pos="81000">
                <a:srgbClr val="1170FF"/>
              </a:gs>
              <a:gs pos="100000">
                <a:srgbClr val="006699"/>
              </a:gs>
            </a:gsLst>
            <a:lin ang="13500000" scaled="1"/>
            <a:tileRect/>
          </a:gra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 name="Rectangle 59"/>
          <p:cNvSpPr/>
          <p:nvPr/>
        </p:nvSpPr>
        <p:spPr>
          <a:xfrm>
            <a:off x="3527959" y="4051041"/>
            <a:ext cx="900100" cy="470144"/>
          </a:xfrm>
          <a:prstGeom prst="rect">
            <a:avLst/>
          </a:prstGeom>
          <a:solidFill>
            <a:schemeClr val="tx1"/>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1" name="Rectangle 60"/>
          <p:cNvSpPr/>
          <p:nvPr/>
        </p:nvSpPr>
        <p:spPr>
          <a:xfrm>
            <a:off x="3556032" y="4097891"/>
            <a:ext cx="855095" cy="360040"/>
          </a:xfrm>
          <a:prstGeom prst="rect">
            <a:avLst/>
          </a:prstGeom>
          <a:gradFill flip="none" rotWithShape="1">
            <a:gsLst>
              <a:gs pos="0">
                <a:srgbClr val="3399FF"/>
              </a:gs>
              <a:gs pos="16000">
                <a:srgbClr val="00CCCC"/>
              </a:gs>
              <a:gs pos="47000">
                <a:srgbClr val="9999FF"/>
              </a:gs>
              <a:gs pos="60001">
                <a:srgbClr val="2E6792"/>
              </a:gs>
              <a:gs pos="71001">
                <a:srgbClr val="3333CC"/>
              </a:gs>
              <a:gs pos="81000">
                <a:srgbClr val="1170FF"/>
              </a:gs>
              <a:gs pos="100000">
                <a:srgbClr val="006699"/>
              </a:gs>
            </a:gsLst>
            <a:lin ang="13500000" scaled="1"/>
            <a:tileRect/>
          </a:gra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2" name="Rectangle 61"/>
          <p:cNvSpPr/>
          <p:nvPr/>
        </p:nvSpPr>
        <p:spPr>
          <a:xfrm>
            <a:off x="7744936" y="3663474"/>
            <a:ext cx="900100" cy="450050"/>
          </a:xfrm>
          <a:prstGeom prst="rect">
            <a:avLst/>
          </a:prstGeom>
          <a:solidFill>
            <a:schemeClr val="tx1"/>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3" name="Rectangle 62"/>
          <p:cNvSpPr/>
          <p:nvPr/>
        </p:nvSpPr>
        <p:spPr>
          <a:xfrm>
            <a:off x="7773007" y="3708479"/>
            <a:ext cx="855095" cy="360040"/>
          </a:xfrm>
          <a:prstGeom prst="rect">
            <a:avLst/>
          </a:prstGeom>
          <a:gradFill flip="none" rotWithShape="1">
            <a:gsLst>
              <a:gs pos="0">
                <a:srgbClr val="3399FF"/>
              </a:gs>
              <a:gs pos="16000">
                <a:srgbClr val="00CCCC"/>
              </a:gs>
              <a:gs pos="47000">
                <a:srgbClr val="9999FF"/>
              </a:gs>
              <a:gs pos="60001">
                <a:srgbClr val="2E6792"/>
              </a:gs>
              <a:gs pos="71001">
                <a:srgbClr val="3333CC"/>
              </a:gs>
              <a:gs pos="81000">
                <a:srgbClr val="1170FF"/>
              </a:gs>
              <a:gs pos="100000">
                <a:srgbClr val="006699"/>
              </a:gs>
            </a:gsLst>
            <a:lin ang="13500000" scaled="1"/>
            <a:tileRect/>
          </a:gra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6" name="TextBox 65"/>
          <p:cNvSpPr txBox="1"/>
          <p:nvPr/>
        </p:nvSpPr>
        <p:spPr>
          <a:xfrm>
            <a:off x="4610975" y="543184"/>
            <a:ext cx="643125" cy="413575"/>
          </a:xfrm>
          <a:prstGeom prst="rect">
            <a:avLst/>
          </a:prstGeom>
          <a:noFill/>
        </p:spPr>
        <p:txBody>
          <a:bodyPr wrap="none" rtlCol="0">
            <a:spAutoFit/>
          </a:bodyPr>
          <a:lstStyle/>
          <a:p>
            <a:pPr>
              <a:lnSpc>
                <a:spcPts val="2700"/>
              </a:lnSpc>
            </a:pPr>
            <a:r>
              <a:rPr lang="en-GB" sz="1600" dirty="0">
                <a:latin typeface="Lucida Sans Unicode" pitchFamily="34" charset="0"/>
                <a:cs typeface="Lucida Sans Unicode" pitchFamily="34" charset="0"/>
              </a:rPr>
              <a:t>Data</a:t>
            </a:r>
          </a:p>
        </p:txBody>
      </p:sp>
      <p:sp>
        <p:nvSpPr>
          <p:cNvPr id="67" name="TextBox 66"/>
          <p:cNvSpPr txBox="1"/>
          <p:nvPr/>
        </p:nvSpPr>
        <p:spPr>
          <a:xfrm>
            <a:off x="6444503" y="628892"/>
            <a:ext cx="1883002" cy="584775"/>
          </a:xfrm>
          <a:prstGeom prst="rect">
            <a:avLst/>
          </a:prstGeom>
          <a:noFill/>
        </p:spPr>
        <p:txBody>
          <a:bodyPr wrap="square" rtlCol="0">
            <a:spAutoFit/>
          </a:bodyPr>
          <a:lstStyle/>
          <a:p>
            <a:r>
              <a:rPr lang="en-GB" sz="1600" dirty="0">
                <a:latin typeface="Lucida Sans Unicode" pitchFamily="34" charset="0"/>
                <a:cs typeface="Lucida Sans Unicode" pitchFamily="34" charset="0"/>
              </a:rPr>
              <a:t>MPEG-2 Transport Mux</a:t>
            </a:r>
          </a:p>
        </p:txBody>
      </p:sp>
      <p:sp>
        <p:nvSpPr>
          <p:cNvPr id="68" name="TextBox 67"/>
          <p:cNvSpPr txBox="1"/>
          <p:nvPr/>
        </p:nvSpPr>
        <p:spPr>
          <a:xfrm>
            <a:off x="6270889" y="1327383"/>
            <a:ext cx="2648658" cy="338554"/>
          </a:xfrm>
          <a:prstGeom prst="rect">
            <a:avLst/>
          </a:prstGeom>
          <a:noFill/>
        </p:spPr>
        <p:txBody>
          <a:bodyPr wrap="square" rtlCol="0">
            <a:spAutoFit/>
          </a:bodyPr>
          <a:lstStyle/>
          <a:p>
            <a:pPr algn="ctr"/>
            <a:r>
              <a:rPr lang="en-GB" sz="1600" b="1" dirty="0">
                <a:solidFill>
                  <a:srgbClr val="C00000"/>
                </a:solidFill>
                <a:latin typeface="Lucida Sans Unicode" pitchFamily="34" charset="0"/>
                <a:cs typeface="Lucida Sans Unicode" pitchFamily="34" charset="0"/>
              </a:rPr>
              <a:t>Transport Stream, TS</a:t>
            </a:r>
          </a:p>
        </p:txBody>
      </p:sp>
      <p:sp>
        <p:nvSpPr>
          <p:cNvPr id="69" name="TextBox 68"/>
          <p:cNvSpPr txBox="1"/>
          <p:nvPr/>
        </p:nvSpPr>
        <p:spPr>
          <a:xfrm>
            <a:off x="636992" y="3600460"/>
            <a:ext cx="3033247" cy="338554"/>
          </a:xfrm>
          <a:prstGeom prst="rect">
            <a:avLst/>
          </a:prstGeom>
          <a:noFill/>
        </p:spPr>
        <p:txBody>
          <a:bodyPr wrap="square" rtlCol="0">
            <a:spAutoFit/>
          </a:bodyPr>
          <a:lstStyle/>
          <a:p>
            <a:pPr algn="ctr"/>
            <a:r>
              <a:rPr lang="en-GB" sz="1600" b="1" dirty="0">
                <a:solidFill>
                  <a:srgbClr val="0070C0"/>
                </a:solidFill>
                <a:latin typeface="Lucida Sans Unicode" pitchFamily="34" charset="0"/>
                <a:cs typeface="Lucida Sans Unicode" pitchFamily="34" charset="0"/>
              </a:rPr>
              <a:t>Program Stream, PS</a:t>
            </a:r>
          </a:p>
        </p:txBody>
      </p:sp>
      <p:sp>
        <p:nvSpPr>
          <p:cNvPr id="70" name="TextBox 69"/>
          <p:cNvSpPr txBox="1"/>
          <p:nvPr/>
        </p:nvSpPr>
        <p:spPr>
          <a:xfrm>
            <a:off x="4750247" y="2766529"/>
            <a:ext cx="1493969" cy="830997"/>
          </a:xfrm>
          <a:prstGeom prst="rect">
            <a:avLst/>
          </a:prstGeom>
          <a:noFill/>
        </p:spPr>
        <p:txBody>
          <a:bodyPr wrap="square" rtlCol="0">
            <a:spAutoFit/>
          </a:bodyPr>
          <a:lstStyle/>
          <a:p>
            <a:pPr algn="ctr"/>
            <a:r>
              <a:rPr lang="en-GB" sz="1600" dirty="0">
                <a:latin typeface="Lucida Sans Unicode" pitchFamily="34" charset="0"/>
                <a:cs typeface="Lucida Sans Unicode" pitchFamily="34" charset="0"/>
              </a:rPr>
              <a:t>MPEG-2</a:t>
            </a:r>
          </a:p>
          <a:p>
            <a:pPr algn="ctr"/>
            <a:r>
              <a:rPr lang="en-GB" sz="1600" dirty="0">
                <a:latin typeface="Lucida Sans Unicode" pitchFamily="34" charset="0"/>
                <a:cs typeface="Lucida Sans Unicode" pitchFamily="34" charset="0"/>
              </a:rPr>
              <a:t>Systems Processor</a:t>
            </a:r>
          </a:p>
        </p:txBody>
      </p:sp>
      <p:sp>
        <p:nvSpPr>
          <p:cNvPr id="71" name="TextBox 70"/>
          <p:cNvSpPr txBox="1"/>
          <p:nvPr/>
        </p:nvSpPr>
        <p:spPr>
          <a:xfrm>
            <a:off x="348975" y="2944625"/>
            <a:ext cx="2345267" cy="584775"/>
          </a:xfrm>
          <a:prstGeom prst="rect">
            <a:avLst/>
          </a:prstGeom>
          <a:noFill/>
        </p:spPr>
        <p:txBody>
          <a:bodyPr wrap="square" rtlCol="0">
            <a:spAutoFit/>
          </a:bodyPr>
          <a:lstStyle/>
          <a:p>
            <a:pPr algn="r"/>
            <a:r>
              <a:rPr lang="en-GB" sz="1600" dirty="0">
                <a:latin typeface="Lucida Sans Unicode" pitchFamily="34" charset="0"/>
                <a:cs typeface="Lucida Sans Unicode" pitchFamily="34" charset="0"/>
              </a:rPr>
              <a:t>MPEG-2</a:t>
            </a:r>
          </a:p>
          <a:p>
            <a:pPr algn="r"/>
            <a:r>
              <a:rPr lang="en-GB" sz="1600" dirty="0">
                <a:latin typeface="Lucida Sans Unicode" pitchFamily="34" charset="0"/>
                <a:cs typeface="Lucida Sans Unicode" pitchFamily="34" charset="0"/>
              </a:rPr>
              <a:t>Systems Processor</a:t>
            </a:r>
          </a:p>
        </p:txBody>
      </p:sp>
      <p:sp>
        <p:nvSpPr>
          <p:cNvPr id="72" name="TextBox 71"/>
          <p:cNvSpPr txBox="1"/>
          <p:nvPr/>
        </p:nvSpPr>
        <p:spPr>
          <a:xfrm>
            <a:off x="1329342" y="829601"/>
            <a:ext cx="1498617" cy="584775"/>
          </a:xfrm>
          <a:prstGeom prst="rect">
            <a:avLst/>
          </a:prstGeom>
          <a:noFill/>
        </p:spPr>
        <p:txBody>
          <a:bodyPr wrap="square" rtlCol="0">
            <a:spAutoFit/>
          </a:bodyPr>
          <a:lstStyle/>
          <a:p>
            <a:pPr algn="ctr"/>
            <a:r>
              <a:rPr lang="en-GB" sz="1600" dirty="0">
                <a:latin typeface="Lucida Sans Unicode" pitchFamily="34" charset="0"/>
                <a:cs typeface="Lucida Sans Unicode" pitchFamily="34" charset="0"/>
              </a:rPr>
              <a:t>MPEG-2</a:t>
            </a:r>
          </a:p>
          <a:p>
            <a:pPr algn="ctr"/>
            <a:r>
              <a:rPr lang="en-GB" sz="1600" dirty="0">
                <a:latin typeface="Lucida Sans Unicode" pitchFamily="34" charset="0"/>
                <a:cs typeface="Lucida Sans Unicode" pitchFamily="34" charset="0"/>
              </a:rPr>
              <a:t>Compressors</a:t>
            </a:r>
          </a:p>
        </p:txBody>
      </p:sp>
      <p:sp>
        <p:nvSpPr>
          <p:cNvPr id="74" name="Rectangle 26"/>
          <p:cNvSpPr>
            <a:spLocks noChangeArrowheads="1"/>
          </p:cNvSpPr>
          <p:nvPr/>
        </p:nvSpPr>
        <p:spPr bwMode="auto">
          <a:xfrm>
            <a:off x="381000" y="338665"/>
            <a:ext cx="2321469" cy="461665"/>
          </a:xfrm>
          <a:prstGeom prst="rect">
            <a:avLst/>
          </a:prstGeom>
          <a:noFill/>
          <a:ln w="9525">
            <a:noFill/>
            <a:miter lim="800000"/>
            <a:headEnd/>
            <a:tailEnd/>
          </a:ln>
        </p:spPr>
        <p:txBody>
          <a:bodyPr wrap="none">
            <a:spAutoFit/>
          </a:bodyPr>
          <a:lstStyle/>
          <a:p>
            <a:r>
              <a:rPr lang="en-GB" sz="2400" b="1" dirty="0">
                <a:latin typeface="Lucida Sans Unicode" panose="020B0602030504020204" pitchFamily="34" charset="0"/>
              </a:rPr>
              <a:t>MPEG Systems</a:t>
            </a:r>
          </a:p>
        </p:txBody>
      </p:sp>
      <p:sp>
        <p:nvSpPr>
          <p:cNvPr id="76" name="TextBox 75"/>
          <p:cNvSpPr txBox="1"/>
          <p:nvPr/>
        </p:nvSpPr>
        <p:spPr>
          <a:xfrm>
            <a:off x="3522044" y="3572951"/>
            <a:ext cx="906017" cy="438582"/>
          </a:xfrm>
          <a:prstGeom prst="rect">
            <a:avLst/>
          </a:prstGeom>
          <a:solidFill>
            <a:schemeClr val="tx2">
              <a:lumMod val="20000"/>
              <a:lumOff val="80000"/>
            </a:schemeClr>
          </a:solidFill>
          <a:ln>
            <a:solidFill>
              <a:schemeClr val="tx1"/>
            </a:solidFill>
          </a:ln>
        </p:spPr>
        <p:txBody>
          <a:bodyPr wrap="none" rtlCol="0">
            <a:spAutoFit/>
          </a:bodyPr>
          <a:lstStyle/>
          <a:p>
            <a:pPr algn="ctr">
              <a:lnSpc>
                <a:spcPts val="2700"/>
              </a:lnSpc>
            </a:pPr>
            <a:r>
              <a:rPr lang="en-GB" sz="1400" dirty="0">
                <a:latin typeface="Lucida Sans Unicode" pitchFamily="34" charset="0"/>
                <a:cs typeface="Lucida Sans Unicode" pitchFamily="34" charset="0"/>
              </a:rPr>
              <a:t>Decoder</a:t>
            </a:r>
          </a:p>
        </p:txBody>
      </p:sp>
      <p:sp>
        <p:nvSpPr>
          <p:cNvPr id="79" name="TextBox 78"/>
          <p:cNvSpPr txBox="1"/>
          <p:nvPr/>
        </p:nvSpPr>
        <p:spPr>
          <a:xfrm>
            <a:off x="7745050" y="2008593"/>
            <a:ext cx="906017" cy="438582"/>
          </a:xfrm>
          <a:prstGeom prst="rect">
            <a:avLst/>
          </a:prstGeom>
          <a:solidFill>
            <a:schemeClr val="tx2">
              <a:lumMod val="20000"/>
              <a:lumOff val="80000"/>
            </a:schemeClr>
          </a:solidFill>
          <a:ln>
            <a:solidFill>
              <a:schemeClr val="tx1"/>
            </a:solidFill>
          </a:ln>
        </p:spPr>
        <p:txBody>
          <a:bodyPr wrap="none" rtlCol="0">
            <a:spAutoFit/>
          </a:bodyPr>
          <a:lstStyle/>
          <a:p>
            <a:pPr algn="ctr">
              <a:lnSpc>
                <a:spcPts val="2700"/>
              </a:lnSpc>
            </a:pPr>
            <a:r>
              <a:rPr lang="en-GB" sz="1400" dirty="0">
                <a:latin typeface="Lucida Sans Unicode" pitchFamily="34" charset="0"/>
                <a:cs typeface="Lucida Sans Unicode" pitchFamily="34" charset="0"/>
              </a:rPr>
              <a:t>Decoder</a:t>
            </a:r>
          </a:p>
        </p:txBody>
      </p:sp>
      <p:sp>
        <p:nvSpPr>
          <p:cNvPr id="80" name="TextBox 79"/>
          <p:cNvSpPr txBox="1"/>
          <p:nvPr/>
        </p:nvSpPr>
        <p:spPr>
          <a:xfrm>
            <a:off x="7736488" y="3182482"/>
            <a:ext cx="906017" cy="438582"/>
          </a:xfrm>
          <a:prstGeom prst="rect">
            <a:avLst/>
          </a:prstGeom>
          <a:solidFill>
            <a:schemeClr val="tx2">
              <a:lumMod val="20000"/>
              <a:lumOff val="80000"/>
            </a:schemeClr>
          </a:solidFill>
          <a:ln>
            <a:solidFill>
              <a:schemeClr val="tx1"/>
            </a:solidFill>
          </a:ln>
        </p:spPr>
        <p:txBody>
          <a:bodyPr wrap="none" rtlCol="0">
            <a:spAutoFit/>
          </a:bodyPr>
          <a:lstStyle/>
          <a:p>
            <a:pPr algn="ctr">
              <a:lnSpc>
                <a:spcPts val="2700"/>
              </a:lnSpc>
            </a:pPr>
            <a:r>
              <a:rPr lang="en-GB" sz="1400" dirty="0">
                <a:latin typeface="Lucida Sans Unicode" pitchFamily="34" charset="0"/>
                <a:cs typeface="Lucida Sans Unicode" pitchFamily="34" charset="0"/>
              </a:rPr>
              <a:t>Decoder</a:t>
            </a:r>
          </a:p>
        </p:txBody>
      </p:sp>
      <p:cxnSp>
        <p:nvCxnSpPr>
          <p:cNvPr id="83" name="Straight Connector 82"/>
          <p:cNvCxnSpPr/>
          <p:nvPr/>
        </p:nvCxnSpPr>
        <p:spPr>
          <a:xfrm>
            <a:off x="7389763" y="3770210"/>
            <a:ext cx="1" cy="343314"/>
          </a:xfrm>
          <a:prstGeom prst="line">
            <a:avLst/>
          </a:prstGeom>
          <a:ln w="28575">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flipV="1">
            <a:off x="7393362" y="2270960"/>
            <a:ext cx="360040" cy="801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075829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ChangeArrowheads="1"/>
          </p:cNvSpPr>
          <p:nvPr/>
        </p:nvSpPr>
        <p:spPr bwMode="auto">
          <a:xfrm>
            <a:off x="381000" y="381000"/>
            <a:ext cx="4237038" cy="457200"/>
          </a:xfrm>
          <a:prstGeom prst="rect">
            <a:avLst/>
          </a:prstGeom>
          <a:noFill/>
          <a:ln w="9525">
            <a:noFill/>
            <a:miter lim="800000"/>
            <a:headEnd/>
            <a:tailEnd/>
          </a:ln>
        </p:spPr>
        <p:txBody>
          <a:bodyPr wrap="none">
            <a:spAutoFit/>
          </a:bodyPr>
          <a:lstStyle/>
          <a:p>
            <a:r>
              <a:rPr lang="en-GB" sz="2400" b="1" dirty="0">
                <a:latin typeface="Lucida Sans Unicode" panose="020B0602030504020204" pitchFamily="34" charset="0"/>
              </a:rPr>
              <a:t>Transport Stream Multiplex</a:t>
            </a:r>
          </a:p>
        </p:txBody>
      </p:sp>
      <p:grpSp>
        <p:nvGrpSpPr>
          <p:cNvPr id="100" name="Group 99"/>
          <p:cNvGrpSpPr/>
          <p:nvPr/>
        </p:nvGrpSpPr>
        <p:grpSpPr>
          <a:xfrm>
            <a:off x="381000" y="2968625"/>
            <a:ext cx="457200" cy="276225"/>
            <a:chOff x="381000" y="2968625"/>
            <a:chExt cx="457200" cy="276225"/>
          </a:xfrm>
        </p:grpSpPr>
        <p:sp>
          <p:nvSpPr>
            <p:cNvPr id="43106" name="Rectangle 5"/>
            <p:cNvSpPr>
              <a:spLocks noChangeArrowheads="1"/>
            </p:cNvSpPr>
            <p:nvPr/>
          </p:nvSpPr>
          <p:spPr bwMode="auto">
            <a:xfrm>
              <a:off x="381000" y="2992438"/>
              <a:ext cx="457200" cy="228600"/>
            </a:xfrm>
            <a:prstGeom prst="rect">
              <a:avLst/>
            </a:prstGeom>
            <a:solidFill>
              <a:srgbClr val="0066FF"/>
            </a:solidFill>
            <a:ln w="9525">
              <a:solidFill>
                <a:schemeClr val="tx1"/>
              </a:solidFill>
              <a:miter lim="800000"/>
              <a:headEnd/>
              <a:tailEnd/>
            </a:ln>
          </p:spPr>
          <p:txBody>
            <a:bodyPr wrap="none" anchor="ctr"/>
            <a:lstStyle/>
            <a:p>
              <a:endParaRPr lang="en-US" sz="1600" dirty="0">
                <a:latin typeface="Lucida Sans Unicode" panose="020B0602030504020204" pitchFamily="34" charset="0"/>
              </a:endParaRPr>
            </a:p>
          </p:txBody>
        </p:sp>
        <p:sp>
          <p:nvSpPr>
            <p:cNvPr id="43107" name="Text Box 6"/>
            <p:cNvSpPr txBox="1">
              <a:spLocks noChangeArrowheads="1"/>
            </p:cNvSpPr>
            <p:nvPr/>
          </p:nvSpPr>
          <p:spPr bwMode="auto">
            <a:xfrm>
              <a:off x="463550" y="2968625"/>
              <a:ext cx="290513" cy="276225"/>
            </a:xfrm>
            <a:prstGeom prst="rect">
              <a:avLst/>
            </a:prstGeom>
            <a:noFill/>
            <a:ln w="9525">
              <a:noFill/>
              <a:miter lim="800000"/>
              <a:headEnd/>
              <a:tailEnd/>
            </a:ln>
          </p:spPr>
          <p:txBody>
            <a:bodyPr wrap="none">
              <a:spAutoFit/>
            </a:bodyPr>
            <a:lstStyle/>
            <a:p>
              <a:r>
                <a:rPr lang="en-GB" sz="1200" dirty="0">
                  <a:latin typeface="Lucida Sans Unicode" panose="020B0602030504020204" pitchFamily="34" charset="0"/>
                </a:rPr>
                <a:t>A</a:t>
              </a:r>
              <a:endParaRPr lang="en-GB" sz="1600" dirty="0">
                <a:latin typeface="Lucida Sans Unicode" panose="020B0602030504020204" pitchFamily="34" charset="0"/>
              </a:endParaRPr>
            </a:p>
          </p:txBody>
        </p:sp>
      </p:grpSp>
      <p:grpSp>
        <p:nvGrpSpPr>
          <p:cNvPr id="105" name="Group 104"/>
          <p:cNvGrpSpPr/>
          <p:nvPr/>
        </p:nvGrpSpPr>
        <p:grpSpPr>
          <a:xfrm>
            <a:off x="381000" y="2968625"/>
            <a:ext cx="8153400" cy="1495425"/>
            <a:chOff x="381000" y="2968625"/>
            <a:chExt cx="8153400" cy="1495425"/>
          </a:xfrm>
        </p:grpSpPr>
        <p:grpSp>
          <p:nvGrpSpPr>
            <p:cNvPr id="4" name="Group 7"/>
            <p:cNvGrpSpPr>
              <a:grpSpLocks/>
            </p:cNvGrpSpPr>
            <p:nvPr/>
          </p:nvGrpSpPr>
          <p:grpSpPr bwMode="auto">
            <a:xfrm>
              <a:off x="381000" y="3273425"/>
              <a:ext cx="457200" cy="276225"/>
              <a:chOff x="240" y="1040"/>
              <a:chExt cx="288" cy="174"/>
            </a:xfrm>
          </p:grpSpPr>
          <p:sp>
            <p:nvSpPr>
              <p:cNvPr id="43104" name="Rectangle 8"/>
              <p:cNvSpPr>
                <a:spLocks noChangeArrowheads="1"/>
              </p:cNvSpPr>
              <p:nvPr/>
            </p:nvSpPr>
            <p:spPr bwMode="auto">
              <a:xfrm>
                <a:off x="240" y="1056"/>
                <a:ext cx="288" cy="144"/>
              </a:xfrm>
              <a:prstGeom prst="rect">
                <a:avLst/>
              </a:prstGeom>
              <a:solidFill>
                <a:srgbClr val="CCFFCC"/>
              </a:solidFill>
              <a:ln w="9525">
                <a:solidFill>
                  <a:schemeClr val="tx1"/>
                </a:solidFill>
                <a:miter lim="800000"/>
                <a:headEnd/>
                <a:tailEnd/>
              </a:ln>
            </p:spPr>
            <p:txBody>
              <a:bodyPr wrap="none" anchor="ctr"/>
              <a:lstStyle/>
              <a:p>
                <a:endParaRPr lang="en-US" sz="1600" dirty="0">
                  <a:latin typeface="Lucida Sans Unicode" panose="020B0602030504020204" pitchFamily="34" charset="0"/>
                </a:endParaRPr>
              </a:p>
            </p:txBody>
          </p:sp>
          <p:sp>
            <p:nvSpPr>
              <p:cNvPr id="43105" name="Text Box 9"/>
              <p:cNvSpPr txBox="1">
                <a:spLocks noChangeArrowheads="1"/>
              </p:cNvSpPr>
              <p:nvPr/>
            </p:nvSpPr>
            <p:spPr bwMode="auto">
              <a:xfrm>
                <a:off x="281" y="1040"/>
                <a:ext cx="189" cy="174"/>
              </a:xfrm>
              <a:prstGeom prst="rect">
                <a:avLst/>
              </a:prstGeom>
              <a:noFill/>
              <a:ln w="9525">
                <a:noFill/>
                <a:miter lim="800000"/>
                <a:headEnd/>
                <a:tailEnd/>
              </a:ln>
            </p:spPr>
            <p:txBody>
              <a:bodyPr wrap="none">
                <a:spAutoFit/>
              </a:bodyPr>
              <a:lstStyle/>
              <a:p>
                <a:r>
                  <a:rPr lang="en-GB" sz="1200" dirty="0">
                    <a:latin typeface="Lucida Sans Unicode" panose="020B0602030504020204" pitchFamily="34" charset="0"/>
                  </a:rPr>
                  <a:t>D</a:t>
                </a:r>
                <a:endParaRPr lang="en-GB" sz="1600" dirty="0">
                  <a:latin typeface="Lucida Sans Unicode" panose="020B0602030504020204" pitchFamily="34" charset="0"/>
                </a:endParaRPr>
              </a:p>
            </p:txBody>
          </p:sp>
        </p:grpSp>
        <p:grpSp>
          <p:nvGrpSpPr>
            <p:cNvPr id="5" name="Group 10"/>
            <p:cNvGrpSpPr>
              <a:grpSpLocks/>
            </p:cNvGrpSpPr>
            <p:nvPr/>
          </p:nvGrpSpPr>
          <p:grpSpPr bwMode="auto">
            <a:xfrm>
              <a:off x="381000" y="3578225"/>
              <a:ext cx="457200" cy="276225"/>
              <a:chOff x="240" y="1476"/>
              <a:chExt cx="288" cy="174"/>
            </a:xfrm>
          </p:grpSpPr>
          <p:sp>
            <p:nvSpPr>
              <p:cNvPr id="43102" name="Rectangle 11"/>
              <p:cNvSpPr>
                <a:spLocks noChangeArrowheads="1"/>
              </p:cNvSpPr>
              <p:nvPr/>
            </p:nvSpPr>
            <p:spPr bwMode="auto">
              <a:xfrm>
                <a:off x="240" y="1488"/>
                <a:ext cx="288" cy="144"/>
              </a:xfrm>
              <a:prstGeom prst="rect">
                <a:avLst/>
              </a:prstGeom>
              <a:solidFill>
                <a:srgbClr val="FFCC66"/>
              </a:solidFill>
              <a:ln w="9525">
                <a:solidFill>
                  <a:schemeClr val="tx1"/>
                </a:solidFill>
                <a:miter lim="800000"/>
                <a:headEnd/>
                <a:tailEnd/>
              </a:ln>
            </p:spPr>
            <p:txBody>
              <a:bodyPr wrap="none" anchor="ctr"/>
              <a:lstStyle/>
              <a:p>
                <a:endParaRPr lang="en-US" sz="1600" dirty="0">
                  <a:latin typeface="Lucida Sans Unicode" panose="020B0602030504020204" pitchFamily="34" charset="0"/>
                </a:endParaRPr>
              </a:p>
            </p:txBody>
          </p:sp>
          <p:sp>
            <p:nvSpPr>
              <p:cNvPr id="43103" name="Text Box 12"/>
              <p:cNvSpPr txBox="1">
                <a:spLocks noChangeArrowheads="1"/>
              </p:cNvSpPr>
              <p:nvPr/>
            </p:nvSpPr>
            <p:spPr bwMode="auto">
              <a:xfrm>
                <a:off x="300" y="1476"/>
                <a:ext cx="180" cy="174"/>
              </a:xfrm>
              <a:prstGeom prst="rect">
                <a:avLst/>
              </a:prstGeom>
              <a:noFill/>
              <a:ln w="9525">
                <a:noFill/>
                <a:miter lim="800000"/>
                <a:headEnd/>
                <a:tailEnd/>
              </a:ln>
            </p:spPr>
            <p:txBody>
              <a:bodyPr wrap="none">
                <a:spAutoFit/>
              </a:bodyPr>
              <a:lstStyle/>
              <a:p>
                <a:r>
                  <a:rPr lang="en-GB" sz="1200" dirty="0">
                    <a:latin typeface="Lucida Sans Unicode" panose="020B0602030504020204" pitchFamily="34" charset="0"/>
                  </a:rPr>
                  <a:t>V</a:t>
                </a:r>
              </a:p>
            </p:txBody>
          </p:sp>
        </p:grpSp>
        <p:grpSp>
          <p:nvGrpSpPr>
            <p:cNvPr id="6" name="Group 13"/>
            <p:cNvGrpSpPr>
              <a:grpSpLocks/>
            </p:cNvGrpSpPr>
            <p:nvPr/>
          </p:nvGrpSpPr>
          <p:grpSpPr bwMode="auto">
            <a:xfrm>
              <a:off x="381000" y="3883025"/>
              <a:ext cx="457200" cy="276225"/>
              <a:chOff x="255" y="2083"/>
              <a:chExt cx="288" cy="174"/>
            </a:xfrm>
          </p:grpSpPr>
          <p:sp>
            <p:nvSpPr>
              <p:cNvPr id="43100" name="Rectangle 14"/>
              <p:cNvSpPr>
                <a:spLocks noChangeArrowheads="1"/>
              </p:cNvSpPr>
              <p:nvPr/>
            </p:nvSpPr>
            <p:spPr bwMode="auto">
              <a:xfrm>
                <a:off x="255" y="2102"/>
                <a:ext cx="288" cy="144"/>
              </a:xfrm>
              <a:prstGeom prst="rect">
                <a:avLst/>
              </a:prstGeom>
              <a:solidFill>
                <a:schemeClr val="folHlink"/>
              </a:solidFill>
              <a:ln w="9525">
                <a:solidFill>
                  <a:schemeClr val="tx1"/>
                </a:solidFill>
                <a:miter lim="800000"/>
                <a:headEnd/>
                <a:tailEnd/>
              </a:ln>
            </p:spPr>
            <p:txBody>
              <a:bodyPr wrap="none" anchor="ctr"/>
              <a:lstStyle/>
              <a:p>
                <a:endParaRPr lang="en-US" sz="1600" dirty="0">
                  <a:latin typeface="Lucida Sans Unicode" panose="020B0602030504020204" pitchFamily="34" charset="0"/>
                </a:endParaRPr>
              </a:p>
            </p:txBody>
          </p:sp>
          <p:sp>
            <p:nvSpPr>
              <p:cNvPr id="43101" name="Text Box 15"/>
              <p:cNvSpPr txBox="1">
                <a:spLocks noChangeArrowheads="1"/>
              </p:cNvSpPr>
              <p:nvPr/>
            </p:nvSpPr>
            <p:spPr bwMode="auto">
              <a:xfrm>
                <a:off x="292" y="2083"/>
                <a:ext cx="197" cy="174"/>
              </a:xfrm>
              <a:prstGeom prst="rect">
                <a:avLst/>
              </a:prstGeom>
              <a:noFill/>
              <a:ln w="9525">
                <a:noFill/>
                <a:miter lim="800000"/>
                <a:headEnd/>
                <a:tailEnd/>
              </a:ln>
            </p:spPr>
            <p:txBody>
              <a:bodyPr wrap="none">
                <a:spAutoFit/>
              </a:bodyPr>
              <a:lstStyle/>
              <a:p>
                <a:r>
                  <a:rPr lang="en-GB" sz="1200" dirty="0">
                    <a:solidFill>
                      <a:schemeClr val="bg1"/>
                    </a:solidFill>
                    <a:latin typeface="Lucida Sans Unicode" panose="020B0602030504020204" pitchFamily="34" charset="0"/>
                  </a:rPr>
                  <a:t>SI</a:t>
                </a:r>
              </a:p>
            </p:txBody>
          </p:sp>
        </p:grpSp>
        <p:sp>
          <p:nvSpPr>
            <p:cNvPr id="43027" name="Rectangle 16"/>
            <p:cNvSpPr>
              <a:spLocks noChangeArrowheads="1"/>
            </p:cNvSpPr>
            <p:nvPr/>
          </p:nvSpPr>
          <p:spPr bwMode="auto">
            <a:xfrm>
              <a:off x="381000" y="4217988"/>
              <a:ext cx="457200" cy="228600"/>
            </a:xfrm>
            <a:prstGeom prst="rect">
              <a:avLst/>
            </a:prstGeom>
            <a:solidFill>
              <a:srgbClr val="808080"/>
            </a:solidFill>
            <a:ln w="9525">
              <a:solidFill>
                <a:schemeClr val="tx1"/>
              </a:solidFill>
              <a:miter lim="800000"/>
              <a:headEnd/>
              <a:tailEnd/>
            </a:ln>
          </p:spPr>
          <p:txBody>
            <a:bodyPr wrap="none" anchor="ctr"/>
            <a:lstStyle/>
            <a:p>
              <a:endParaRPr lang="en-US" sz="1600" dirty="0">
                <a:latin typeface="Lucida Sans Unicode" panose="020B0602030504020204" pitchFamily="34" charset="0"/>
              </a:endParaRPr>
            </a:p>
          </p:txBody>
        </p:sp>
        <p:sp>
          <p:nvSpPr>
            <p:cNvPr id="43028" name="Text Box 17"/>
            <p:cNvSpPr txBox="1">
              <a:spLocks noChangeArrowheads="1"/>
            </p:cNvSpPr>
            <p:nvPr/>
          </p:nvSpPr>
          <p:spPr bwMode="auto">
            <a:xfrm>
              <a:off x="439738" y="4187825"/>
              <a:ext cx="406400" cy="276225"/>
            </a:xfrm>
            <a:prstGeom prst="rect">
              <a:avLst/>
            </a:prstGeom>
            <a:noFill/>
            <a:ln w="9525">
              <a:noFill/>
              <a:miter lim="800000"/>
              <a:headEnd/>
              <a:tailEnd/>
            </a:ln>
          </p:spPr>
          <p:txBody>
            <a:bodyPr wrap="none">
              <a:spAutoFit/>
            </a:bodyPr>
            <a:lstStyle/>
            <a:p>
              <a:r>
                <a:rPr lang="en-GB" sz="1200" dirty="0" err="1">
                  <a:solidFill>
                    <a:schemeClr val="bg1"/>
                  </a:solidFill>
                  <a:latin typeface="Lucida Sans Unicode" panose="020B0602030504020204" pitchFamily="34" charset="0"/>
                </a:rPr>
                <a:t>etc</a:t>
              </a:r>
              <a:endParaRPr lang="en-GB" sz="1200" dirty="0">
                <a:solidFill>
                  <a:schemeClr val="bg1"/>
                </a:solidFill>
                <a:latin typeface="Lucida Sans Unicode" panose="020B0602030504020204" pitchFamily="34" charset="0"/>
              </a:endParaRPr>
            </a:p>
          </p:txBody>
        </p:sp>
        <p:grpSp>
          <p:nvGrpSpPr>
            <p:cNvPr id="101" name="Group 100"/>
            <p:cNvGrpSpPr/>
            <p:nvPr/>
          </p:nvGrpSpPr>
          <p:grpSpPr>
            <a:xfrm>
              <a:off x="914400" y="2968625"/>
              <a:ext cx="457200" cy="276225"/>
              <a:chOff x="914400" y="2968625"/>
              <a:chExt cx="457200" cy="276225"/>
            </a:xfrm>
          </p:grpSpPr>
          <p:sp>
            <p:nvSpPr>
              <p:cNvPr id="43098" name="Rectangle 19"/>
              <p:cNvSpPr>
                <a:spLocks noChangeArrowheads="1"/>
              </p:cNvSpPr>
              <p:nvPr/>
            </p:nvSpPr>
            <p:spPr bwMode="auto">
              <a:xfrm>
                <a:off x="914400" y="2992438"/>
                <a:ext cx="457200" cy="228600"/>
              </a:xfrm>
              <a:prstGeom prst="rect">
                <a:avLst/>
              </a:prstGeom>
              <a:solidFill>
                <a:srgbClr val="0066FF"/>
              </a:solidFill>
              <a:ln w="9525">
                <a:solidFill>
                  <a:schemeClr val="tx1"/>
                </a:solidFill>
                <a:miter lim="800000"/>
                <a:headEnd/>
                <a:tailEnd/>
              </a:ln>
            </p:spPr>
            <p:txBody>
              <a:bodyPr wrap="none" anchor="ctr"/>
              <a:lstStyle/>
              <a:p>
                <a:endParaRPr lang="en-US" sz="1600" dirty="0">
                  <a:latin typeface="Lucida Sans Unicode" panose="020B0602030504020204" pitchFamily="34" charset="0"/>
                </a:endParaRPr>
              </a:p>
            </p:txBody>
          </p:sp>
          <p:sp>
            <p:nvSpPr>
              <p:cNvPr id="43099" name="Text Box 20"/>
              <p:cNvSpPr txBox="1">
                <a:spLocks noChangeArrowheads="1"/>
              </p:cNvSpPr>
              <p:nvPr/>
            </p:nvSpPr>
            <p:spPr bwMode="auto">
              <a:xfrm>
                <a:off x="996950" y="2968625"/>
                <a:ext cx="290513" cy="276225"/>
              </a:xfrm>
              <a:prstGeom prst="rect">
                <a:avLst/>
              </a:prstGeom>
              <a:noFill/>
              <a:ln w="9525">
                <a:noFill/>
                <a:miter lim="800000"/>
                <a:headEnd/>
                <a:tailEnd/>
              </a:ln>
            </p:spPr>
            <p:txBody>
              <a:bodyPr wrap="none">
                <a:spAutoFit/>
              </a:bodyPr>
              <a:lstStyle/>
              <a:p>
                <a:r>
                  <a:rPr lang="en-GB" sz="1200" dirty="0">
                    <a:latin typeface="Lucida Sans Unicode" panose="020B0602030504020204" pitchFamily="34" charset="0"/>
                  </a:rPr>
                  <a:t>A</a:t>
                </a:r>
                <a:endParaRPr lang="en-GB" sz="1600" dirty="0">
                  <a:latin typeface="Lucida Sans Unicode" panose="020B0602030504020204" pitchFamily="34" charset="0"/>
                </a:endParaRPr>
              </a:p>
            </p:txBody>
          </p:sp>
        </p:grpSp>
        <p:grpSp>
          <p:nvGrpSpPr>
            <p:cNvPr id="8" name="Group 21"/>
            <p:cNvGrpSpPr>
              <a:grpSpLocks/>
            </p:cNvGrpSpPr>
            <p:nvPr/>
          </p:nvGrpSpPr>
          <p:grpSpPr bwMode="auto">
            <a:xfrm>
              <a:off x="914400" y="3273425"/>
              <a:ext cx="457200" cy="276225"/>
              <a:chOff x="240" y="1040"/>
              <a:chExt cx="288" cy="174"/>
            </a:xfrm>
          </p:grpSpPr>
          <p:sp>
            <p:nvSpPr>
              <p:cNvPr id="43096" name="Rectangle 22"/>
              <p:cNvSpPr>
                <a:spLocks noChangeArrowheads="1"/>
              </p:cNvSpPr>
              <p:nvPr/>
            </p:nvSpPr>
            <p:spPr bwMode="auto">
              <a:xfrm>
                <a:off x="240" y="1056"/>
                <a:ext cx="288" cy="144"/>
              </a:xfrm>
              <a:prstGeom prst="rect">
                <a:avLst/>
              </a:prstGeom>
              <a:solidFill>
                <a:srgbClr val="CCFFCC"/>
              </a:solidFill>
              <a:ln w="9525">
                <a:solidFill>
                  <a:schemeClr val="tx1"/>
                </a:solidFill>
                <a:miter lim="800000"/>
                <a:headEnd/>
                <a:tailEnd/>
              </a:ln>
            </p:spPr>
            <p:txBody>
              <a:bodyPr wrap="none" anchor="ctr"/>
              <a:lstStyle/>
              <a:p>
                <a:endParaRPr lang="en-US" sz="1600" dirty="0">
                  <a:latin typeface="Lucida Sans Unicode" panose="020B0602030504020204" pitchFamily="34" charset="0"/>
                </a:endParaRPr>
              </a:p>
            </p:txBody>
          </p:sp>
          <p:sp>
            <p:nvSpPr>
              <p:cNvPr id="43097" name="Text Box 23"/>
              <p:cNvSpPr txBox="1">
                <a:spLocks noChangeArrowheads="1"/>
              </p:cNvSpPr>
              <p:nvPr/>
            </p:nvSpPr>
            <p:spPr bwMode="auto">
              <a:xfrm>
                <a:off x="281" y="1040"/>
                <a:ext cx="189" cy="174"/>
              </a:xfrm>
              <a:prstGeom prst="rect">
                <a:avLst/>
              </a:prstGeom>
              <a:noFill/>
              <a:ln w="9525">
                <a:noFill/>
                <a:miter lim="800000"/>
                <a:headEnd/>
                <a:tailEnd/>
              </a:ln>
            </p:spPr>
            <p:txBody>
              <a:bodyPr wrap="none">
                <a:spAutoFit/>
              </a:bodyPr>
              <a:lstStyle/>
              <a:p>
                <a:r>
                  <a:rPr lang="en-GB" sz="1200" dirty="0">
                    <a:latin typeface="Lucida Sans Unicode" panose="020B0602030504020204" pitchFamily="34" charset="0"/>
                  </a:rPr>
                  <a:t>D</a:t>
                </a:r>
                <a:endParaRPr lang="en-GB" sz="1600" dirty="0">
                  <a:latin typeface="Lucida Sans Unicode" panose="020B0602030504020204" pitchFamily="34" charset="0"/>
                </a:endParaRPr>
              </a:p>
            </p:txBody>
          </p:sp>
        </p:grpSp>
        <p:grpSp>
          <p:nvGrpSpPr>
            <p:cNvPr id="9" name="Group 24"/>
            <p:cNvGrpSpPr>
              <a:grpSpLocks/>
            </p:cNvGrpSpPr>
            <p:nvPr/>
          </p:nvGrpSpPr>
          <p:grpSpPr bwMode="auto">
            <a:xfrm>
              <a:off x="914400" y="3578225"/>
              <a:ext cx="457200" cy="276225"/>
              <a:chOff x="240" y="1476"/>
              <a:chExt cx="288" cy="174"/>
            </a:xfrm>
          </p:grpSpPr>
          <p:sp>
            <p:nvSpPr>
              <p:cNvPr id="43094" name="Rectangle 25"/>
              <p:cNvSpPr>
                <a:spLocks noChangeArrowheads="1"/>
              </p:cNvSpPr>
              <p:nvPr/>
            </p:nvSpPr>
            <p:spPr bwMode="auto">
              <a:xfrm>
                <a:off x="240" y="1488"/>
                <a:ext cx="288" cy="144"/>
              </a:xfrm>
              <a:prstGeom prst="rect">
                <a:avLst/>
              </a:prstGeom>
              <a:solidFill>
                <a:srgbClr val="FFCC66"/>
              </a:solidFill>
              <a:ln w="9525">
                <a:solidFill>
                  <a:schemeClr val="tx1"/>
                </a:solidFill>
                <a:miter lim="800000"/>
                <a:headEnd/>
                <a:tailEnd/>
              </a:ln>
            </p:spPr>
            <p:txBody>
              <a:bodyPr wrap="none" anchor="ctr"/>
              <a:lstStyle/>
              <a:p>
                <a:endParaRPr lang="en-US" sz="1600" dirty="0">
                  <a:latin typeface="Lucida Sans Unicode" panose="020B0602030504020204" pitchFamily="34" charset="0"/>
                </a:endParaRPr>
              </a:p>
            </p:txBody>
          </p:sp>
          <p:sp>
            <p:nvSpPr>
              <p:cNvPr id="43095" name="Text Box 26"/>
              <p:cNvSpPr txBox="1">
                <a:spLocks noChangeArrowheads="1"/>
              </p:cNvSpPr>
              <p:nvPr/>
            </p:nvSpPr>
            <p:spPr bwMode="auto">
              <a:xfrm>
                <a:off x="300" y="1476"/>
                <a:ext cx="180" cy="174"/>
              </a:xfrm>
              <a:prstGeom prst="rect">
                <a:avLst/>
              </a:prstGeom>
              <a:noFill/>
              <a:ln w="9525">
                <a:noFill/>
                <a:miter lim="800000"/>
                <a:headEnd/>
                <a:tailEnd/>
              </a:ln>
            </p:spPr>
            <p:txBody>
              <a:bodyPr wrap="none">
                <a:spAutoFit/>
              </a:bodyPr>
              <a:lstStyle/>
              <a:p>
                <a:r>
                  <a:rPr lang="en-GB" sz="1200" dirty="0">
                    <a:latin typeface="Lucida Sans Unicode" panose="020B0602030504020204" pitchFamily="34" charset="0"/>
                  </a:rPr>
                  <a:t>V</a:t>
                </a:r>
              </a:p>
            </p:txBody>
          </p:sp>
        </p:grpSp>
        <p:grpSp>
          <p:nvGrpSpPr>
            <p:cNvPr id="10" name="Group 27"/>
            <p:cNvGrpSpPr>
              <a:grpSpLocks/>
            </p:cNvGrpSpPr>
            <p:nvPr/>
          </p:nvGrpSpPr>
          <p:grpSpPr bwMode="auto">
            <a:xfrm>
              <a:off x="914400" y="3883025"/>
              <a:ext cx="457200" cy="276225"/>
              <a:chOff x="255" y="2083"/>
              <a:chExt cx="288" cy="174"/>
            </a:xfrm>
          </p:grpSpPr>
          <p:sp>
            <p:nvSpPr>
              <p:cNvPr id="43092" name="Rectangle 28"/>
              <p:cNvSpPr>
                <a:spLocks noChangeArrowheads="1"/>
              </p:cNvSpPr>
              <p:nvPr/>
            </p:nvSpPr>
            <p:spPr bwMode="auto">
              <a:xfrm>
                <a:off x="255" y="2102"/>
                <a:ext cx="288" cy="144"/>
              </a:xfrm>
              <a:prstGeom prst="rect">
                <a:avLst/>
              </a:prstGeom>
              <a:solidFill>
                <a:schemeClr val="folHlink"/>
              </a:solidFill>
              <a:ln w="9525">
                <a:solidFill>
                  <a:schemeClr val="tx1"/>
                </a:solidFill>
                <a:miter lim="800000"/>
                <a:headEnd/>
                <a:tailEnd/>
              </a:ln>
            </p:spPr>
            <p:txBody>
              <a:bodyPr wrap="none" anchor="ctr"/>
              <a:lstStyle/>
              <a:p>
                <a:endParaRPr lang="en-US" sz="1600" dirty="0">
                  <a:latin typeface="Lucida Sans Unicode" panose="020B0602030504020204" pitchFamily="34" charset="0"/>
                </a:endParaRPr>
              </a:p>
            </p:txBody>
          </p:sp>
          <p:sp>
            <p:nvSpPr>
              <p:cNvPr id="43093" name="Text Box 29"/>
              <p:cNvSpPr txBox="1">
                <a:spLocks noChangeArrowheads="1"/>
              </p:cNvSpPr>
              <p:nvPr/>
            </p:nvSpPr>
            <p:spPr bwMode="auto">
              <a:xfrm>
                <a:off x="292" y="2083"/>
                <a:ext cx="197" cy="174"/>
              </a:xfrm>
              <a:prstGeom prst="rect">
                <a:avLst/>
              </a:prstGeom>
              <a:noFill/>
              <a:ln w="9525">
                <a:noFill/>
                <a:miter lim="800000"/>
                <a:headEnd/>
                <a:tailEnd/>
              </a:ln>
            </p:spPr>
            <p:txBody>
              <a:bodyPr wrap="none">
                <a:spAutoFit/>
              </a:bodyPr>
              <a:lstStyle/>
              <a:p>
                <a:r>
                  <a:rPr lang="en-GB" sz="1200" dirty="0">
                    <a:solidFill>
                      <a:schemeClr val="bg1"/>
                    </a:solidFill>
                    <a:latin typeface="Lucida Sans Unicode" panose="020B0602030504020204" pitchFamily="34" charset="0"/>
                  </a:rPr>
                  <a:t>SI</a:t>
                </a:r>
              </a:p>
            </p:txBody>
          </p:sp>
        </p:grpSp>
        <p:sp>
          <p:nvSpPr>
            <p:cNvPr id="43033" name="Rectangle 30"/>
            <p:cNvSpPr>
              <a:spLocks noChangeArrowheads="1"/>
            </p:cNvSpPr>
            <p:nvPr/>
          </p:nvSpPr>
          <p:spPr bwMode="auto">
            <a:xfrm>
              <a:off x="914400" y="4217988"/>
              <a:ext cx="457200" cy="228600"/>
            </a:xfrm>
            <a:prstGeom prst="rect">
              <a:avLst/>
            </a:prstGeom>
            <a:solidFill>
              <a:srgbClr val="808080"/>
            </a:solidFill>
            <a:ln w="9525">
              <a:solidFill>
                <a:schemeClr val="tx1"/>
              </a:solidFill>
              <a:miter lim="800000"/>
              <a:headEnd/>
              <a:tailEnd/>
            </a:ln>
          </p:spPr>
          <p:txBody>
            <a:bodyPr wrap="none" anchor="ctr"/>
            <a:lstStyle/>
            <a:p>
              <a:endParaRPr lang="en-US" sz="1600" dirty="0">
                <a:latin typeface="Lucida Sans Unicode" panose="020B0602030504020204" pitchFamily="34" charset="0"/>
              </a:endParaRPr>
            </a:p>
          </p:txBody>
        </p:sp>
        <p:sp>
          <p:nvSpPr>
            <p:cNvPr id="43034" name="Text Box 31"/>
            <p:cNvSpPr txBox="1">
              <a:spLocks noChangeArrowheads="1"/>
            </p:cNvSpPr>
            <p:nvPr/>
          </p:nvSpPr>
          <p:spPr bwMode="auto">
            <a:xfrm>
              <a:off x="973138" y="4187825"/>
              <a:ext cx="406400" cy="276225"/>
            </a:xfrm>
            <a:prstGeom prst="rect">
              <a:avLst/>
            </a:prstGeom>
            <a:noFill/>
            <a:ln w="9525">
              <a:noFill/>
              <a:miter lim="800000"/>
              <a:headEnd/>
              <a:tailEnd/>
            </a:ln>
          </p:spPr>
          <p:txBody>
            <a:bodyPr wrap="none">
              <a:spAutoFit/>
            </a:bodyPr>
            <a:lstStyle/>
            <a:p>
              <a:r>
                <a:rPr lang="en-GB" sz="1200" dirty="0" err="1">
                  <a:solidFill>
                    <a:schemeClr val="bg1"/>
                  </a:solidFill>
                  <a:latin typeface="Lucida Sans Unicode" panose="020B0602030504020204" pitchFamily="34" charset="0"/>
                </a:rPr>
                <a:t>etc</a:t>
              </a:r>
              <a:endParaRPr lang="en-GB" sz="1200" dirty="0">
                <a:solidFill>
                  <a:schemeClr val="bg1"/>
                </a:solidFill>
                <a:latin typeface="Lucida Sans Unicode" panose="020B0602030504020204" pitchFamily="34" charset="0"/>
              </a:endParaRPr>
            </a:p>
          </p:txBody>
        </p:sp>
        <p:grpSp>
          <p:nvGrpSpPr>
            <p:cNvPr id="102" name="Group 101"/>
            <p:cNvGrpSpPr/>
            <p:nvPr/>
          </p:nvGrpSpPr>
          <p:grpSpPr>
            <a:xfrm>
              <a:off x="1447800" y="2968625"/>
              <a:ext cx="457200" cy="276225"/>
              <a:chOff x="1447800" y="2968625"/>
              <a:chExt cx="457200" cy="276225"/>
            </a:xfrm>
          </p:grpSpPr>
          <p:sp>
            <p:nvSpPr>
              <p:cNvPr id="43090" name="Rectangle 33"/>
              <p:cNvSpPr>
                <a:spLocks noChangeArrowheads="1"/>
              </p:cNvSpPr>
              <p:nvPr/>
            </p:nvSpPr>
            <p:spPr bwMode="auto">
              <a:xfrm>
                <a:off x="1447800" y="2992438"/>
                <a:ext cx="457200" cy="228600"/>
              </a:xfrm>
              <a:prstGeom prst="rect">
                <a:avLst/>
              </a:prstGeom>
              <a:solidFill>
                <a:srgbClr val="0066FF"/>
              </a:solidFill>
              <a:ln w="9525">
                <a:solidFill>
                  <a:schemeClr val="tx1"/>
                </a:solidFill>
                <a:miter lim="800000"/>
                <a:headEnd/>
                <a:tailEnd/>
              </a:ln>
            </p:spPr>
            <p:txBody>
              <a:bodyPr wrap="none" anchor="ctr"/>
              <a:lstStyle/>
              <a:p>
                <a:endParaRPr lang="en-US" sz="1600" dirty="0">
                  <a:latin typeface="Lucida Sans Unicode" panose="020B0602030504020204" pitchFamily="34" charset="0"/>
                </a:endParaRPr>
              </a:p>
            </p:txBody>
          </p:sp>
          <p:sp>
            <p:nvSpPr>
              <p:cNvPr id="43091" name="Text Box 34"/>
              <p:cNvSpPr txBox="1">
                <a:spLocks noChangeArrowheads="1"/>
              </p:cNvSpPr>
              <p:nvPr/>
            </p:nvSpPr>
            <p:spPr bwMode="auto">
              <a:xfrm>
                <a:off x="1530350" y="2968625"/>
                <a:ext cx="290513" cy="276225"/>
              </a:xfrm>
              <a:prstGeom prst="rect">
                <a:avLst/>
              </a:prstGeom>
              <a:noFill/>
              <a:ln w="9525">
                <a:noFill/>
                <a:miter lim="800000"/>
                <a:headEnd/>
                <a:tailEnd/>
              </a:ln>
            </p:spPr>
            <p:txBody>
              <a:bodyPr wrap="none">
                <a:spAutoFit/>
              </a:bodyPr>
              <a:lstStyle/>
              <a:p>
                <a:r>
                  <a:rPr lang="en-GB" sz="1200" dirty="0">
                    <a:latin typeface="Lucida Sans Unicode" panose="020B0602030504020204" pitchFamily="34" charset="0"/>
                  </a:rPr>
                  <a:t>A</a:t>
                </a:r>
                <a:endParaRPr lang="en-GB" sz="1600" dirty="0">
                  <a:latin typeface="Lucida Sans Unicode" panose="020B0602030504020204" pitchFamily="34" charset="0"/>
                </a:endParaRPr>
              </a:p>
            </p:txBody>
          </p:sp>
        </p:grpSp>
        <p:grpSp>
          <p:nvGrpSpPr>
            <p:cNvPr id="12" name="Group 35"/>
            <p:cNvGrpSpPr>
              <a:grpSpLocks/>
            </p:cNvGrpSpPr>
            <p:nvPr/>
          </p:nvGrpSpPr>
          <p:grpSpPr bwMode="auto">
            <a:xfrm>
              <a:off x="1447800" y="3273425"/>
              <a:ext cx="457200" cy="276225"/>
              <a:chOff x="240" y="1040"/>
              <a:chExt cx="288" cy="174"/>
            </a:xfrm>
          </p:grpSpPr>
          <p:sp>
            <p:nvSpPr>
              <p:cNvPr id="43088" name="Rectangle 36"/>
              <p:cNvSpPr>
                <a:spLocks noChangeArrowheads="1"/>
              </p:cNvSpPr>
              <p:nvPr/>
            </p:nvSpPr>
            <p:spPr bwMode="auto">
              <a:xfrm>
                <a:off x="240" y="1056"/>
                <a:ext cx="288" cy="144"/>
              </a:xfrm>
              <a:prstGeom prst="rect">
                <a:avLst/>
              </a:prstGeom>
              <a:solidFill>
                <a:srgbClr val="CCFFCC"/>
              </a:solidFill>
              <a:ln w="9525">
                <a:solidFill>
                  <a:schemeClr val="tx1"/>
                </a:solidFill>
                <a:miter lim="800000"/>
                <a:headEnd/>
                <a:tailEnd/>
              </a:ln>
            </p:spPr>
            <p:txBody>
              <a:bodyPr wrap="none" anchor="ctr"/>
              <a:lstStyle/>
              <a:p>
                <a:endParaRPr lang="en-US" sz="1600" dirty="0">
                  <a:latin typeface="Lucida Sans Unicode" panose="020B0602030504020204" pitchFamily="34" charset="0"/>
                </a:endParaRPr>
              </a:p>
            </p:txBody>
          </p:sp>
          <p:sp>
            <p:nvSpPr>
              <p:cNvPr id="43089" name="Text Box 37"/>
              <p:cNvSpPr txBox="1">
                <a:spLocks noChangeArrowheads="1"/>
              </p:cNvSpPr>
              <p:nvPr/>
            </p:nvSpPr>
            <p:spPr bwMode="auto">
              <a:xfrm>
                <a:off x="281" y="1040"/>
                <a:ext cx="189" cy="174"/>
              </a:xfrm>
              <a:prstGeom prst="rect">
                <a:avLst/>
              </a:prstGeom>
              <a:noFill/>
              <a:ln w="9525">
                <a:noFill/>
                <a:miter lim="800000"/>
                <a:headEnd/>
                <a:tailEnd/>
              </a:ln>
            </p:spPr>
            <p:txBody>
              <a:bodyPr wrap="none">
                <a:spAutoFit/>
              </a:bodyPr>
              <a:lstStyle/>
              <a:p>
                <a:r>
                  <a:rPr lang="en-GB" sz="1200" dirty="0">
                    <a:latin typeface="Lucida Sans Unicode" panose="020B0602030504020204" pitchFamily="34" charset="0"/>
                  </a:rPr>
                  <a:t>D</a:t>
                </a:r>
                <a:endParaRPr lang="en-GB" sz="1600" dirty="0">
                  <a:latin typeface="Lucida Sans Unicode" panose="020B0602030504020204" pitchFamily="34" charset="0"/>
                </a:endParaRPr>
              </a:p>
            </p:txBody>
          </p:sp>
        </p:grpSp>
        <p:grpSp>
          <p:nvGrpSpPr>
            <p:cNvPr id="13" name="Group 38"/>
            <p:cNvGrpSpPr>
              <a:grpSpLocks/>
            </p:cNvGrpSpPr>
            <p:nvPr/>
          </p:nvGrpSpPr>
          <p:grpSpPr bwMode="auto">
            <a:xfrm>
              <a:off x="1447800" y="3578225"/>
              <a:ext cx="457200" cy="276225"/>
              <a:chOff x="240" y="1476"/>
              <a:chExt cx="288" cy="174"/>
            </a:xfrm>
          </p:grpSpPr>
          <p:sp>
            <p:nvSpPr>
              <p:cNvPr id="43086" name="Rectangle 39"/>
              <p:cNvSpPr>
                <a:spLocks noChangeArrowheads="1"/>
              </p:cNvSpPr>
              <p:nvPr/>
            </p:nvSpPr>
            <p:spPr bwMode="auto">
              <a:xfrm>
                <a:off x="240" y="1488"/>
                <a:ext cx="288" cy="144"/>
              </a:xfrm>
              <a:prstGeom prst="rect">
                <a:avLst/>
              </a:prstGeom>
              <a:solidFill>
                <a:srgbClr val="FFCC66"/>
              </a:solidFill>
              <a:ln w="9525">
                <a:solidFill>
                  <a:schemeClr val="tx1"/>
                </a:solidFill>
                <a:miter lim="800000"/>
                <a:headEnd/>
                <a:tailEnd/>
              </a:ln>
            </p:spPr>
            <p:txBody>
              <a:bodyPr wrap="none" anchor="ctr"/>
              <a:lstStyle/>
              <a:p>
                <a:endParaRPr lang="en-US" sz="1600" dirty="0">
                  <a:latin typeface="Lucida Sans Unicode" panose="020B0602030504020204" pitchFamily="34" charset="0"/>
                </a:endParaRPr>
              </a:p>
            </p:txBody>
          </p:sp>
          <p:sp>
            <p:nvSpPr>
              <p:cNvPr id="43087" name="Text Box 40"/>
              <p:cNvSpPr txBox="1">
                <a:spLocks noChangeArrowheads="1"/>
              </p:cNvSpPr>
              <p:nvPr/>
            </p:nvSpPr>
            <p:spPr bwMode="auto">
              <a:xfrm>
                <a:off x="300" y="1476"/>
                <a:ext cx="180" cy="174"/>
              </a:xfrm>
              <a:prstGeom prst="rect">
                <a:avLst/>
              </a:prstGeom>
              <a:noFill/>
              <a:ln w="9525">
                <a:noFill/>
                <a:miter lim="800000"/>
                <a:headEnd/>
                <a:tailEnd/>
              </a:ln>
            </p:spPr>
            <p:txBody>
              <a:bodyPr wrap="none">
                <a:spAutoFit/>
              </a:bodyPr>
              <a:lstStyle/>
              <a:p>
                <a:r>
                  <a:rPr lang="en-GB" sz="1200" dirty="0">
                    <a:latin typeface="Lucida Sans Unicode" panose="020B0602030504020204" pitchFamily="34" charset="0"/>
                  </a:rPr>
                  <a:t>V</a:t>
                </a:r>
              </a:p>
            </p:txBody>
          </p:sp>
        </p:grpSp>
        <p:grpSp>
          <p:nvGrpSpPr>
            <p:cNvPr id="14" name="Group 41"/>
            <p:cNvGrpSpPr>
              <a:grpSpLocks/>
            </p:cNvGrpSpPr>
            <p:nvPr/>
          </p:nvGrpSpPr>
          <p:grpSpPr bwMode="auto">
            <a:xfrm>
              <a:off x="1447800" y="3883025"/>
              <a:ext cx="457200" cy="276225"/>
              <a:chOff x="255" y="2083"/>
              <a:chExt cx="288" cy="174"/>
            </a:xfrm>
          </p:grpSpPr>
          <p:sp>
            <p:nvSpPr>
              <p:cNvPr id="43084" name="Rectangle 42"/>
              <p:cNvSpPr>
                <a:spLocks noChangeArrowheads="1"/>
              </p:cNvSpPr>
              <p:nvPr/>
            </p:nvSpPr>
            <p:spPr bwMode="auto">
              <a:xfrm>
                <a:off x="255" y="2102"/>
                <a:ext cx="288" cy="144"/>
              </a:xfrm>
              <a:prstGeom prst="rect">
                <a:avLst/>
              </a:prstGeom>
              <a:solidFill>
                <a:schemeClr val="folHlink"/>
              </a:solidFill>
              <a:ln w="9525">
                <a:solidFill>
                  <a:schemeClr val="tx1"/>
                </a:solidFill>
                <a:miter lim="800000"/>
                <a:headEnd/>
                <a:tailEnd/>
              </a:ln>
            </p:spPr>
            <p:txBody>
              <a:bodyPr wrap="none" anchor="ctr"/>
              <a:lstStyle/>
              <a:p>
                <a:endParaRPr lang="en-US" sz="1600" dirty="0">
                  <a:latin typeface="Lucida Sans Unicode" panose="020B0602030504020204" pitchFamily="34" charset="0"/>
                </a:endParaRPr>
              </a:p>
            </p:txBody>
          </p:sp>
          <p:sp>
            <p:nvSpPr>
              <p:cNvPr id="43085" name="Text Box 43"/>
              <p:cNvSpPr txBox="1">
                <a:spLocks noChangeArrowheads="1"/>
              </p:cNvSpPr>
              <p:nvPr/>
            </p:nvSpPr>
            <p:spPr bwMode="auto">
              <a:xfrm>
                <a:off x="292" y="2083"/>
                <a:ext cx="197" cy="174"/>
              </a:xfrm>
              <a:prstGeom prst="rect">
                <a:avLst/>
              </a:prstGeom>
              <a:noFill/>
              <a:ln w="9525">
                <a:noFill/>
                <a:miter lim="800000"/>
                <a:headEnd/>
                <a:tailEnd/>
              </a:ln>
            </p:spPr>
            <p:txBody>
              <a:bodyPr wrap="none">
                <a:spAutoFit/>
              </a:bodyPr>
              <a:lstStyle/>
              <a:p>
                <a:r>
                  <a:rPr lang="en-GB" sz="1200" dirty="0">
                    <a:solidFill>
                      <a:schemeClr val="bg1"/>
                    </a:solidFill>
                    <a:latin typeface="Lucida Sans Unicode" panose="020B0602030504020204" pitchFamily="34" charset="0"/>
                  </a:rPr>
                  <a:t>SI</a:t>
                </a:r>
              </a:p>
            </p:txBody>
          </p:sp>
        </p:grpSp>
        <p:sp>
          <p:nvSpPr>
            <p:cNvPr id="43039" name="Rectangle 44"/>
            <p:cNvSpPr>
              <a:spLocks noChangeArrowheads="1"/>
            </p:cNvSpPr>
            <p:nvPr/>
          </p:nvSpPr>
          <p:spPr bwMode="auto">
            <a:xfrm>
              <a:off x="1447800" y="4217988"/>
              <a:ext cx="457200" cy="228600"/>
            </a:xfrm>
            <a:prstGeom prst="rect">
              <a:avLst/>
            </a:prstGeom>
            <a:solidFill>
              <a:srgbClr val="808080"/>
            </a:solidFill>
            <a:ln w="9525">
              <a:solidFill>
                <a:schemeClr val="tx1"/>
              </a:solidFill>
              <a:miter lim="800000"/>
              <a:headEnd/>
              <a:tailEnd/>
            </a:ln>
          </p:spPr>
          <p:txBody>
            <a:bodyPr wrap="none" anchor="ctr"/>
            <a:lstStyle/>
            <a:p>
              <a:endParaRPr lang="en-US" sz="1600" dirty="0">
                <a:latin typeface="Lucida Sans Unicode" panose="020B0602030504020204" pitchFamily="34" charset="0"/>
              </a:endParaRPr>
            </a:p>
          </p:txBody>
        </p:sp>
        <p:sp>
          <p:nvSpPr>
            <p:cNvPr id="43040" name="Text Box 45"/>
            <p:cNvSpPr txBox="1">
              <a:spLocks noChangeArrowheads="1"/>
            </p:cNvSpPr>
            <p:nvPr/>
          </p:nvSpPr>
          <p:spPr bwMode="auto">
            <a:xfrm>
              <a:off x="1506538" y="4187825"/>
              <a:ext cx="406400" cy="276225"/>
            </a:xfrm>
            <a:prstGeom prst="rect">
              <a:avLst/>
            </a:prstGeom>
            <a:noFill/>
            <a:ln w="9525">
              <a:noFill/>
              <a:miter lim="800000"/>
              <a:headEnd/>
              <a:tailEnd/>
            </a:ln>
          </p:spPr>
          <p:txBody>
            <a:bodyPr wrap="none">
              <a:spAutoFit/>
            </a:bodyPr>
            <a:lstStyle/>
            <a:p>
              <a:r>
                <a:rPr lang="en-GB" sz="1200" dirty="0" err="1">
                  <a:solidFill>
                    <a:schemeClr val="bg1"/>
                  </a:solidFill>
                  <a:latin typeface="Lucida Sans Unicode" panose="020B0602030504020204" pitchFamily="34" charset="0"/>
                </a:rPr>
                <a:t>etc</a:t>
              </a:r>
              <a:endParaRPr lang="en-GB" sz="1200" dirty="0">
                <a:solidFill>
                  <a:schemeClr val="bg1"/>
                </a:solidFill>
                <a:latin typeface="Lucida Sans Unicode" panose="020B0602030504020204" pitchFamily="34" charset="0"/>
              </a:endParaRPr>
            </a:p>
          </p:txBody>
        </p:sp>
        <p:grpSp>
          <p:nvGrpSpPr>
            <p:cNvPr id="103" name="Group 102"/>
            <p:cNvGrpSpPr/>
            <p:nvPr/>
          </p:nvGrpSpPr>
          <p:grpSpPr>
            <a:xfrm>
              <a:off x="1981200" y="2968625"/>
              <a:ext cx="457200" cy="276225"/>
              <a:chOff x="1981200" y="2968625"/>
              <a:chExt cx="457200" cy="276225"/>
            </a:xfrm>
          </p:grpSpPr>
          <p:sp>
            <p:nvSpPr>
              <p:cNvPr id="43082" name="Rectangle 47"/>
              <p:cNvSpPr>
                <a:spLocks noChangeArrowheads="1"/>
              </p:cNvSpPr>
              <p:nvPr/>
            </p:nvSpPr>
            <p:spPr bwMode="auto">
              <a:xfrm>
                <a:off x="1981200" y="2992438"/>
                <a:ext cx="457200" cy="228600"/>
              </a:xfrm>
              <a:prstGeom prst="rect">
                <a:avLst/>
              </a:prstGeom>
              <a:solidFill>
                <a:srgbClr val="0066FF"/>
              </a:solidFill>
              <a:ln w="9525">
                <a:solidFill>
                  <a:schemeClr val="tx1"/>
                </a:solidFill>
                <a:miter lim="800000"/>
                <a:headEnd/>
                <a:tailEnd/>
              </a:ln>
            </p:spPr>
            <p:txBody>
              <a:bodyPr wrap="none" anchor="ctr"/>
              <a:lstStyle/>
              <a:p>
                <a:endParaRPr lang="en-US" sz="1600" dirty="0">
                  <a:latin typeface="Lucida Sans Unicode" panose="020B0602030504020204" pitchFamily="34" charset="0"/>
                </a:endParaRPr>
              </a:p>
            </p:txBody>
          </p:sp>
          <p:sp>
            <p:nvSpPr>
              <p:cNvPr id="43083" name="Text Box 48"/>
              <p:cNvSpPr txBox="1">
                <a:spLocks noChangeArrowheads="1"/>
              </p:cNvSpPr>
              <p:nvPr/>
            </p:nvSpPr>
            <p:spPr bwMode="auto">
              <a:xfrm>
                <a:off x="2063750" y="2968625"/>
                <a:ext cx="290513" cy="276225"/>
              </a:xfrm>
              <a:prstGeom prst="rect">
                <a:avLst/>
              </a:prstGeom>
              <a:noFill/>
              <a:ln w="9525">
                <a:noFill/>
                <a:miter lim="800000"/>
                <a:headEnd/>
                <a:tailEnd/>
              </a:ln>
            </p:spPr>
            <p:txBody>
              <a:bodyPr wrap="none">
                <a:spAutoFit/>
              </a:bodyPr>
              <a:lstStyle/>
              <a:p>
                <a:r>
                  <a:rPr lang="en-GB" sz="1200" dirty="0">
                    <a:latin typeface="Lucida Sans Unicode" panose="020B0602030504020204" pitchFamily="34" charset="0"/>
                  </a:rPr>
                  <a:t>A</a:t>
                </a:r>
                <a:endParaRPr lang="en-GB" sz="1600" dirty="0">
                  <a:latin typeface="Lucida Sans Unicode" panose="020B0602030504020204" pitchFamily="34" charset="0"/>
                </a:endParaRPr>
              </a:p>
            </p:txBody>
          </p:sp>
        </p:grpSp>
        <p:grpSp>
          <p:nvGrpSpPr>
            <p:cNvPr id="16" name="Group 49"/>
            <p:cNvGrpSpPr>
              <a:grpSpLocks/>
            </p:cNvGrpSpPr>
            <p:nvPr/>
          </p:nvGrpSpPr>
          <p:grpSpPr bwMode="auto">
            <a:xfrm>
              <a:off x="1981200" y="3273425"/>
              <a:ext cx="457200" cy="276225"/>
              <a:chOff x="240" y="1040"/>
              <a:chExt cx="288" cy="174"/>
            </a:xfrm>
          </p:grpSpPr>
          <p:sp>
            <p:nvSpPr>
              <p:cNvPr id="43080" name="Rectangle 50"/>
              <p:cNvSpPr>
                <a:spLocks noChangeArrowheads="1"/>
              </p:cNvSpPr>
              <p:nvPr/>
            </p:nvSpPr>
            <p:spPr bwMode="auto">
              <a:xfrm>
                <a:off x="240" y="1056"/>
                <a:ext cx="288" cy="144"/>
              </a:xfrm>
              <a:prstGeom prst="rect">
                <a:avLst/>
              </a:prstGeom>
              <a:solidFill>
                <a:srgbClr val="CCFFCC"/>
              </a:solidFill>
              <a:ln w="9525">
                <a:solidFill>
                  <a:schemeClr val="tx1"/>
                </a:solidFill>
                <a:miter lim="800000"/>
                <a:headEnd/>
                <a:tailEnd/>
              </a:ln>
            </p:spPr>
            <p:txBody>
              <a:bodyPr wrap="none" anchor="ctr"/>
              <a:lstStyle/>
              <a:p>
                <a:endParaRPr lang="en-US" sz="1600" dirty="0">
                  <a:latin typeface="Lucida Sans Unicode" panose="020B0602030504020204" pitchFamily="34" charset="0"/>
                </a:endParaRPr>
              </a:p>
            </p:txBody>
          </p:sp>
          <p:sp>
            <p:nvSpPr>
              <p:cNvPr id="43081" name="Text Box 51"/>
              <p:cNvSpPr txBox="1">
                <a:spLocks noChangeArrowheads="1"/>
              </p:cNvSpPr>
              <p:nvPr/>
            </p:nvSpPr>
            <p:spPr bwMode="auto">
              <a:xfrm>
                <a:off x="281" y="1040"/>
                <a:ext cx="189" cy="174"/>
              </a:xfrm>
              <a:prstGeom prst="rect">
                <a:avLst/>
              </a:prstGeom>
              <a:noFill/>
              <a:ln w="9525">
                <a:noFill/>
                <a:miter lim="800000"/>
                <a:headEnd/>
                <a:tailEnd/>
              </a:ln>
            </p:spPr>
            <p:txBody>
              <a:bodyPr wrap="none">
                <a:spAutoFit/>
              </a:bodyPr>
              <a:lstStyle/>
              <a:p>
                <a:r>
                  <a:rPr lang="en-GB" sz="1200" dirty="0">
                    <a:latin typeface="Lucida Sans Unicode" panose="020B0602030504020204" pitchFamily="34" charset="0"/>
                  </a:rPr>
                  <a:t>D</a:t>
                </a:r>
                <a:endParaRPr lang="en-GB" sz="1600" dirty="0">
                  <a:latin typeface="Lucida Sans Unicode" panose="020B0602030504020204" pitchFamily="34" charset="0"/>
                </a:endParaRPr>
              </a:p>
            </p:txBody>
          </p:sp>
        </p:grpSp>
        <p:grpSp>
          <p:nvGrpSpPr>
            <p:cNvPr id="17" name="Group 52"/>
            <p:cNvGrpSpPr>
              <a:grpSpLocks/>
            </p:cNvGrpSpPr>
            <p:nvPr/>
          </p:nvGrpSpPr>
          <p:grpSpPr bwMode="auto">
            <a:xfrm>
              <a:off x="1981200" y="3578225"/>
              <a:ext cx="457200" cy="276225"/>
              <a:chOff x="240" y="1476"/>
              <a:chExt cx="288" cy="174"/>
            </a:xfrm>
          </p:grpSpPr>
          <p:sp>
            <p:nvSpPr>
              <p:cNvPr id="43078" name="Rectangle 53"/>
              <p:cNvSpPr>
                <a:spLocks noChangeArrowheads="1"/>
              </p:cNvSpPr>
              <p:nvPr/>
            </p:nvSpPr>
            <p:spPr bwMode="auto">
              <a:xfrm>
                <a:off x="240" y="1488"/>
                <a:ext cx="288" cy="144"/>
              </a:xfrm>
              <a:prstGeom prst="rect">
                <a:avLst/>
              </a:prstGeom>
              <a:solidFill>
                <a:srgbClr val="FFCC66"/>
              </a:solidFill>
              <a:ln w="9525">
                <a:solidFill>
                  <a:schemeClr val="tx1"/>
                </a:solidFill>
                <a:miter lim="800000"/>
                <a:headEnd/>
                <a:tailEnd/>
              </a:ln>
            </p:spPr>
            <p:txBody>
              <a:bodyPr wrap="none" anchor="ctr"/>
              <a:lstStyle/>
              <a:p>
                <a:endParaRPr lang="en-US" sz="1600" dirty="0">
                  <a:latin typeface="Lucida Sans Unicode" panose="020B0602030504020204" pitchFamily="34" charset="0"/>
                </a:endParaRPr>
              </a:p>
            </p:txBody>
          </p:sp>
          <p:sp>
            <p:nvSpPr>
              <p:cNvPr id="43079" name="Text Box 54"/>
              <p:cNvSpPr txBox="1">
                <a:spLocks noChangeArrowheads="1"/>
              </p:cNvSpPr>
              <p:nvPr/>
            </p:nvSpPr>
            <p:spPr bwMode="auto">
              <a:xfrm>
                <a:off x="300" y="1476"/>
                <a:ext cx="180" cy="174"/>
              </a:xfrm>
              <a:prstGeom prst="rect">
                <a:avLst/>
              </a:prstGeom>
              <a:noFill/>
              <a:ln w="9525">
                <a:noFill/>
                <a:miter lim="800000"/>
                <a:headEnd/>
                <a:tailEnd/>
              </a:ln>
            </p:spPr>
            <p:txBody>
              <a:bodyPr wrap="none">
                <a:spAutoFit/>
              </a:bodyPr>
              <a:lstStyle/>
              <a:p>
                <a:r>
                  <a:rPr lang="en-GB" sz="1200" dirty="0">
                    <a:latin typeface="Lucida Sans Unicode" panose="020B0602030504020204" pitchFamily="34" charset="0"/>
                  </a:rPr>
                  <a:t>V</a:t>
                </a:r>
              </a:p>
            </p:txBody>
          </p:sp>
        </p:grpSp>
        <p:grpSp>
          <p:nvGrpSpPr>
            <p:cNvPr id="18" name="Group 55"/>
            <p:cNvGrpSpPr>
              <a:grpSpLocks/>
            </p:cNvGrpSpPr>
            <p:nvPr/>
          </p:nvGrpSpPr>
          <p:grpSpPr bwMode="auto">
            <a:xfrm>
              <a:off x="1981200" y="3883025"/>
              <a:ext cx="457200" cy="276225"/>
              <a:chOff x="255" y="2083"/>
              <a:chExt cx="288" cy="174"/>
            </a:xfrm>
          </p:grpSpPr>
          <p:sp>
            <p:nvSpPr>
              <p:cNvPr id="43076" name="Rectangle 56"/>
              <p:cNvSpPr>
                <a:spLocks noChangeArrowheads="1"/>
              </p:cNvSpPr>
              <p:nvPr/>
            </p:nvSpPr>
            <p:spPr bwMode="auto">
              <a:xfrm>
                <a:off x="255" y="2102"/>
                <a:ext cx="288" cy="144"/>
              </a:xfrm>
              <a:prstGeom prst="rect">
                <a:avLst/>
              </a:prstGeom>
              <a:solidFill>
                <a:schemeClr val="folHlink"/>
              </a:solidFill>
              <a:ln w="9525">
                <a:solidFill>
                  <a:schemeClr val="tx1"/>
                </a:solidFill>
                <a:miter lim="800000"/>
                <a:headEnd/>
                <a:tailEnd/>
              </a:ln>
            </p:spPr>
            <p:txBody>
              <a:bodyPr wrap="none" anchor="ctr"/>
              <a:lstStyle/>
              <a:p>
                <a:endParaRPr lang="en-US" sz="1600" dirty="0">
                  <a:latin typeface="Lucida Sans Unicode" panose="020B0602030504020204" pitchFamily="34" charset="0"/>
                </a:endParaRPr>
              </a:p>
            </p:txBody>
          </p:sp>
          <p:sp>
            <p:nvSpPr>
              <p:cNvPr id="43077" name="Text Box 57"/>
              <p:cNvSpPr txBox="1">
                <a:spLocks noChangeArrowheads="1"/>
              </p:cNvSpPr>
              <p:nvPr/>
            </p:nvSpPr>
            <p:spPr bwMode="auto">
              <a:xfrm>
                <a:off x="292" y="2083"/>
                <a:ext cx="197" cy="174"/>
              </a:xfrm>
              <a:prstGeom prst="rect">
                <a:avLst/>
              </a:prstGeom>
              <a:noFill/>
              <a:ln w="9525">
                <a:noFill/>
                <a:miter lim="800000"/>
                <a:headEnd/>
                <a:tailEnd/>
              </a:ln>
            </p:spPr>
            <p:txBody>
              <a:bodyPr wrap="none">
                <a:spAutoFit/>
              </a:bodyPr>
              <a:lstStyle/>
              <a:p>
                <a:r>
                  <a:rPr lang="en-GB" sz="1200" dirty="0">
                    <a:solidFill>
                      <a:schemeClr val="bg1"/>
                    </a:solidFill>
                    <a:latin typeface="Lucida Sans Unicode" panose="020B0602030504020204" pitchFamily="34" charset="0"/>
                  </a:rPr>
                  <a:t>SI</a:t>
                </a:r>
              </a:p>
            </p:txBody>
          </p:sp>
        </p:grpSp>
        <p:sp>
          <p:nvSpPr>
            <p:cNvPr id="43045" name="Rectangle 58"/>
            <p:cNvSpPr>
              <a:spLocks noChangeArrowheads="1"/>
            </p:cNvSpPr>
            <p:nvPr/>
          </p:nvSpPr>
          <p:spPr bwMode="auto">
            <a:xfrm>
              <a:off x="1981200" y="4217988"/>
              <a:ext cx="457200" cy="228600"/>
            </a:xfrm>
            <a:prstGeom prst="rect">
              <a:avLst/>
            </a:prstGeom>
            <a:solidFill>
              <a:srgbClr val="808080"/>
            </a:solidFill>
            <a:ln w="9525">
              <a:solidFill>
                <a:schemeClr val="tx1"/>
              </a:solidFill>
              <a:miter lim="800000"/>
              <a:headEnd/>
              <a:tailEnd/>
            </a:ln>
          </p:spPr>
          <p:txBody>
            <a:bodyPr wrap="none" anchor="ctr"/>
            <a:lstStyle/>
            <a:p>
              <a:endParaRPr lang="en-US" sz="1600" dirty="0">
                <a:latin typeface="Lucida Sans Unicode" panose="020B0602030504020204" pitchFamily="34" charset="0"/>
              </a:endParaRPr>
            </a:p>
          </p:txBody>
        </p:sp>
        <p:sp>
          <p:nvSpPr>
            <p:cNvPr id="43046" name="Text Box 59"/>
            <p:cNvSpPr txBox="1">
              <a:spLocks noChangeArrowheads="1"/>
            </p:cNvSpPr>
            <p:nvPr/>
          </p:nvSpPr>
          <p:spPr bwMode="auto">
            <a:xfrm>
              <a:off x="2039938" y="4187825"/>
              <a:ext cx="406400" cy="276225"/>
            </a:xfrm>
            <a:prstGeom prst="rect">
              <a:avLst/>
            </a:prstGeom>
            <a:noFill/>
            <a:ln w="9525">
              <a:noFill/>
              <a:miter lim="800000"/>
              <a:headEnd/>
              <a:tailEnd/>
            </a:ln>
          </p:spPr>
          <p:txBody>
            <a:bodyPr wrap="none">
              <a:spAutoFit/>
            </a:bodyPr>
            <a:lstStyle/>
            <a:p>
              <a:r>
                <a:rPr lang="en-GB" sz="1200" dirty="0" err="1">
                  <a:solidFill>
                    <a:schemeClr val="bg1"/>
                  </a:solidFill>
                  <a:latin typeface="Lucida Sans Unicode" panose="020B0602030504020204" pitchFamily="34" charset="0"/>
                </a:rPr>
                <a:t>etc</a:t>
              </a:r>
              <a:endParaRPr lang="en-GB" sz="1200" dirty="0">
                <a:solidFill>
                  <a:schemeClr val="bg1"/>
                </a:solidFill>
                <a:latin typeface="Lucida Sans Unicode" panose="020B0602030504020204" pitchFamily="34" charset="0"/>
              </a:endParaRPr>
            </a:p>
          </p:txBody>
        </p:sp>
        <p:sp>
          <p:nvSpPr>
            <p:cNvPr id="43047" name="Text Box 60"/>
            <p:cNvSpPr txBox="1">
              <a:spLocks noChangeArrowheads="1"/>
            </p:cNvSpPr>
            <p:nvPr/>
          </p:nvSpPr>
          <p:spPr bwMode="auto">
            <a:xfrm>
              <a:off x="2743200" y="3578225"/>
              <a:ext cx="1103313" cy="336550"/>
            </a:xfrm>
            <a:prstGeom prst="rect">
              <a:avLst/>
            </a:prstGeom>
            <a:noFill/>
            <a:ln w="9525">
              <a:noFill/>
              <a:miter lim="800000"/>
              <a:headEnd/>
              <a:tailEnd/>
            </a:ln>
          </p:spPr>
          <p:txBody>
            <a:bodyPr wrap="none">
              <a:spAutoFit/>
            </a:bodyPr>
            <a:lstStyle/>
            <a:p>
              <a:r>
                <a:rPr lang="en-GB" sz="1600" dirty="0">
                  <a:latin typeface="Lucida Sans Unicode" panose="020B0602030504020204" pitchFamily="34" charset="0"/>
                </a:rPr>
                <a:t>Multiplex</a:t>
              </a:r>
            </a:p>
          </p:txBody>
        </p:sp>
        <p:sp>
          <p:nvSpPr>
            <p:cNvPr id="43048" name="AutoShape 61"/>
            <p:cNvSpPr>
              <a:spLocks/>
            </p:cNvSpPr>
            <p:nvPr/>
          </p:nvSpPr>
          <p:spPr bwMode="auto">
            <a:xfrm>
              <a:off x="2514600" y="2968625"/>
              <a:ext cx="152400" cy="1447800"/>
            </a:xfrm>
            <a:prstGeom prst="rightBrace">
              <a:avLst>
                <a:gd name="adj1" fmla="val 79167"/>
                <a:gd name="adj2" fmla="val 50000"/>
              </a:avLst>
            </a:prstGeom>
            <a:noFill/>
            <a:ln w="19050">
              <a:solidFill>
                <a:schemeClr val="tx1"/>
              </a:solidFill>
              <a:round/>
              <a:headEnd/>
              <a:tailEnd/>
            </a:ln>
          </p:spPr>
          <p:txBody>
            <a:bodyPr wrap="none" anchor="ctr"/>
            <a:lstStyle/>
            <a:p>
              <a:endParaRPr lang="en-US" sz="1600" dirty="0">
                <a:latin typeface="Lucida Sans Unicode" panose="020B0602030504020204" pitchFamily="34" charset="0"/>
              </a:endParaRPr>
            </a:p>
          </p:txBody>
        </p:sp>
        <p:grpSp>
          <p:nvGrpSpPr>
            <p:cNvPr id="104" name="Group 103"/>
            <p:cNvGrpSpPr/>
            <p:nvPr/>
          </p:nvGrpSpPr>
          <p:grpSpPr>
            <a:xfrm>
              <a:off x="5410200" y="3578225"/>
              <a:ext cx="457200" cy="276225"/>
              <a:chOff x="5410200" y="3578225"/>
              <a:chExt cx="457200" cy="276225"/>
            </a:xfrm>
          </p:grpSpPr>
          <p:sp>
            <p:nvSpPr>
              <p:cNvPr id="43074" name="Rectangle 63"/>
              <p:cNvSpPr>
                <a:spLocks noChangeArrowheads="1"/>
              </p:cNvSpPr>
              <p:nvPr/>
            </p:nvSpPr>
            <p:spPr bwMode="auto">
              <a:xfrm>
                <a:off x="5410200" y="3602038"/>
                <a:ext cx="457200" cy="228600"/>
              </a:xfrm>
              <a:prstGeom prst="rect">
                <a:avLst/>
              </a:prstGeom>
              <a:solidFill>
                <a:srgbClr val="0066FF"/>
              </a:solidFill>
              <a:ln w="9525">
                <a:solidFill>
                  <a:schemeClr val="tx1"/>
                </a:solidFill>
                <a:miter lim="800000"/>
                <a:headEnd/>
                <a:tailEnd/>
              </a:ln>
            </p:spPr>
            <p:txBody>
              <a:bodyPr wrap="none" anchor="ctr"/>
              <a:lstStyle/>
              <a:p>
                <a:endParaRPr lang="en-US" sz="1600" dirty="0">
                  <a:latin typeface="Lucida Sans Unicode" panose="020B0602030504020204" pitchFamily="34" charset="0"/>
                </a:endParaRPr>
              </a:p>
            </p:txBody>
          </p:sp>
          <p:sp>
            <p:nvSpPr>
              <p:cNvPr id="43075" name="Text Box 64"/>
              <p:cNvSpPr txBox="1">
                <a:spLocks noChangeArrowheads="1"/>
              </p:cNvSpPr>
              <p:nvPr/>
            </p:nvSpPr>
            <p:spPr bwMode="auto">
              <a:xfrm>
                <a:off x="5492750" y="3578225"/>
                <a:ext cx="290513" cy="276225"/>
              </a:xfrm>
              <a:prstGeom prst="rect">
                <a:avLst/>
              </a:prstGeom>
              <a:noFill/>
              <a:ln w="9525">
                <a:noFill/>
                <a:miter lim="800000"/>
                <a:headEnd/>
                <a:tailEnd/>
              </a:ln>
            </p:spPr>
            <p:txBody>
              <a:bodyPr wrap="none">
                <a:spAutoFit/>
              </a:bodyPr>
              <a:lstStyle/>
              <a:p>
                <a:r>
                  <a:rPr lang="en-GB" sz="1200" dirty="0">
                    <a:latin typeface="Lucida Sans Unicode" panose="020B0602030504020204" pitchFamily="34" charset="0"/>
                  </a:rPr>
                  <a:t>A</a:t>
                </a:r>
                <a:endParaRPr lang="en-GB" sz="1600" dirty="0">
                  <a:latin typeface="Lucida Sans Unicode" panose="020B0602030504020204" pitchFamily="34" charset="0"/>
                </a:endParaRPr>
              </a:p>
            </p:txBody>
          </p:sp>
        </p:grpSp>
        <p:grpSp>
          <p:nvGrpSpPr>
            <p:cNvPr id="20" name="Group 65"/>
            <p:cNvGrpSpPr>
              <a:grpSpLocks/>
            </p:cNvGrpSpPr>
            <p:nvPr/>
          </p:nvGrpSpPr>
          <p:grpSpPr bwMode="auto">
            <a:xfrm>
              <a:off x="3810000" y="3578225"/>
              <a:ext cx="457200" cy="276225"/>
              <a:chOff x="240" y="1476"/>
              <a:chExt cx="288" cy="174"/>
            </a:xfrm>
          </p:grpSpPr>
          <p:sp>
            <p:nvSpPr>
              <p:cNvPr id="43072" name="Rectangle 66"/>
              <p:cNvSpPr>
                <a:spLocks noChangeArrowheads="1"/>
              </p:cNvSpPr>
              <p:nvPr/>
            </p:nvSpPr>
            <p:spPr bwMode="auto">
              <a:xfrm>
                <a:off x="240" y="1488"/>
                <a:ext cx="288" cy="144"/>
              </a:xfrm>
              <a:prstGeom prst="rect">
                <a:avLst/>
              </a:prstGeom>
              <a:solidFill>
                <a:srgbClr val="FFCC66"/>
              </a:solidFill>
              <a:ln w="9525">
                <a:solidFill>
                  <a:schemeClr val="tx1"/>
                </a:solidFill>
                <a:miter lim="800000"/>
                <a:headEnd/>
                <a:tailEnd/>
              </a:ln>
            </p:spPr>
            <p:txBody>
              <a:bodyPr wrap="none" anchor="ctr"/>
              <a:lstStyle/>
              <a:p>
                <a:endParaRPr lang="en-US" sz="1600" dirty="0">
                  <a:latin typeface="Lucida Sans Unicode" panose="020B0602030504020204" pitchFamily="34" charset="0"/>
                </a:endParaRPr>
              </a:p>
            </p:txBody>
          </p:sp>
          <p:sp>
            <p:nvSpPr>
              <p:cNvPr id="43073" name="Text Box 67"/>
              <p:cNvSpPr txBox="1">
                <a:spLocks noChangeArrowheads="1"/>
              </p:cNvSpPr>
              <p:nvPr/>
            </p:nvSpPr>
            <p:spPr bwMode="auto">
              <a:xfrm>
                <a:off x="300" y="1476"/>
                <a:ext cx="180" cy="174"/>
              </a:xfrm>
              <a:prstGeom prst="rect">
                <a:avLst/>
              </a:prstGeom>
              <a:noFill/>
              <a:ln w="9525">
                <a:noFill/>
                <a:miter lim="800000"/>
                <a:headEnd/>
                <a:tailEnd/>
              </a:ln>
            </p:spPr>
            <p:txBody>
              <a:bodyPr wrap="none">
                <a:spAutoFit/>
              </a:bodyPr>
              <a:lstStyle/>
              <a:p>
                <a:r>
                  <a:rPr lang="en-GB" sz="1200" dirty="0">
                    <a:latin typeface="Lucida Sans Unicode" panose="020B0602030504020204" pitchFamily="34" charset="0"/>
                  </a:rPr>
                  <a:t>V</a:t>
                </a:r>
              </a:p>
            </p:txBody>
          </p:sp>
        </p:grpSp>
        <p:grpSp>
          <p:nvGrpSpPr>
            <p:cNvPr id="21" name="Group 68"/>
            <p:cNvGrpSpPr>
              <a:grpSpLocks/>
            </p:cNvGrpSpPr>
            <p:nvPr/>
          </p:nvGrpSpPr>
          <p:grpSpPr bwMode="auto">
            <a:xfrm>
              <a:off x="4343400" y="3578225"/>
              <a:ext cx="457200" cy="276225"/>
              <a:chOff x="240" y="1476"/>
              <a:chExt cx="288" cy="174"/>
            </a:xfrm>
          </p:grpSpPr>
          <p:sp>
            <p:nvSpPr>
              <p:cNvPr id="43070" name="Rectangle 69"/>
              <p:cNvSpPr>
                <a:spLocks noChangeArrowheads="1"/>
              </p:cNvSpPr>
              <p:nvPr/>
            </p:nvSpPr>
            <p:spPr bwMode="auto">
              <a:xfrm>
                <a:off x="240" y="1488"/>
                <a:ext cx="288" cy="144"/>
              </a:xfrm>
              <a:prstGeom prst="rect">
                <a:avLst/>
              </a:prstGeom>
              <a:solidFill>
                <a:srgbClr val="FFCC66"/>
              </a:solidFill>
              <a:ln w="9525">
                <a:solidFill>
                  <a:schemeClr val="tx1"/>
                </a:solidFill>
                <a:miter lim="800000"/>
                <a:headEnd/>
                <a:tailEnd/>
              </a:ln>
            </p:spPr>
            <p:txBody>
              <a:bodyPr wrap="none" anchor="ctr"/>
              <a:lstStyle/>
              <a:p>
                <a:endParaRPr lang="en-US" sz="1600" dirty="0">
                  <a:latin typeface="Lucida Sans Unicode" panose="020B0602030504020204" pitchFamily="34" charset="0"/>
                </a:endParaRPr>
              </a:p>
            </p:txBody>
          </p:sp>
          <p:sp>
            <p:nvSpPr>
              <p:cNvPr id="43071" name="Text Box 70"/>
              <p:cNvSpPr txBox="1">
                <a:spLocks noChangeArrowheads="1"/>
              </p:cNvSpPr>
              <p:nvPr/>
            </p:nvSpPr>
            <p:spPr bwMode="auto">
              <a:xfrm>
                <a:off x="300" y="1476"/>
                <a:ext cx="180" cy="174"/>
              </a:xfrm>
              <a:prstGeom prst="rect">
                <a:avLst/>
              </a:prstGeom>
              <a:noFill/>
              <a:ln w="9525">
                <a:noFill/>
                <a:miter lim="800000"/>
                <a:headEnd/>
                <a:tailEnd/>
              </a:ln>
            </p:spPr>
            <p:txBody>
              <a:bodyPr wrap="none">
                <a:spAutoFit/>
              </a:bodyPr>
              <a:lstStyle/>
              <a:p>
                <a:r>
                  <a:rPr lang="en-GB" sz="1200" dirty="0">
                    <a:latin typeface="Lucida Sans Unicode" panose="020B0602030504020204" pitchFamily="34" charset="0"/>
                  </a:rPr>
                  <a:t>V</a:t>
                </a:r>
              </a:p>
            </p:txBody>
          </p:sp>
        </p:grpSp>
        <p:grpSp>
          <p:nvGrpSpPr>
            <p:cNvPr id="22" name="Group 71"/>
            <p:cNvGrpSpPr>
              <a:grpSpLocks/>
            </p:cNvGrpSpPr>
            <p:nvPr/>
          </p:nvGrpSpPr>
          <p:grpSpPr bwMode="auto">
            <a:xfrm>
              <a:off x="4876800" y="3578225"/>
              <a:ext cx="457200" cy="276225"/>
              <a:chOff x="240" y="1476"/>
              <a:chExt cx="288" cy="174"/>
            </a:xfrm>
          </p:grpSpPr>
          <p:sp>
            <p:nvSpPr>
              <p:cNvPr id="43068" name="Rectangle 72"/>
              <p:cNvSpPr>
                <a:spLocks noChangeArrowheads="1"/>
              </p:cNvSpPr>
              <p:nvPr/>
            </p:nvSpPr>
            <p:spPr bwMode="auto">
              <a:xfrm>
                <a:off x="240" y="1488"/>
                <a:ext cx="288" cy="144"/>
              </a:xfrm>
              <a:prstGeom prst="rect">
                <a:avLst/>
              </a:prstGeom>
              <a:solidFill>
                <a:srgbClr val="FFCC66"/>
              </a:solidFill>
              <a:ln w="9525">
                <a:solidFill>
                  <a:schemeClr val="tx1"/>
                </a:solidFill>
                <a:miter lim="800000"/>
                <a:headEnd/>
                <a:tailEnd/>
              </a:ln>
            </p:spPr>
            <p:txBody>
              <a:bodyPr wrap="none" anchor="ctr"/>
              <a:lstStyle/>
              <a:p>
                <a:endParaRPr lang="en-US" sz="1600" dirty="0">
                  <a:latin typeface="Lucida Sans Unicode" panose="020B0602030504020204" pitchFamily="34" charset="0"/>
                </a:endParaRPr>
              </a:p>
            </p:txBody>
          </p:sp>
          <p:sp>
            <p:nvSpPr>
              <p:cNvPr id="43069" name="Text Box 73"/>
              <p:cNvSpPr txBox="1">
                <a:spLocks noChangeArrowheads="1"/>
              </p:cNvSpPr>
              <p:nvPr/>
            </p:nvSpPr>
            <p:spPr bwMode="auto">
              <a:xfrm>
                <a:off x="300" y="1476"/>
                <a:ext cx="180" cy="174"/>
              </a:xfrm>
              <a:prstGeom prst="rect">
                <a:avLst/>
              </a:prstGeom>
              <a:noFill/>
              <a:ln w="9525">
                <a:noFill/>
                <a:miter lim="800000"/>
                <a:headEnd/>
                <a:tailEnd/>
              </a:ln>
            </p:spPr>
            <p:txBody>
              <a:bodyPr wrap="none">
                <a:spAutoFit/>
              </a:bodyPr>
              <a:lstStyle/>
              <a:p>
                <a:r>
                  <a:rPr lang="en-GB" sz="1200" dirty="0">
                    <a:latin typeface="Lucida Sans Unicode" panose="020B0602030504020204" pitchFamily="34" charset="0"/>
                  </a:rPr>
                  <a:t>V</a:t>
                </a:r>
              </a:p>
            </p:txBody>
          </p:sp>
        </p:grpSp>
        <p:grpSp>
          <p:nvGrpSpPr>
            <p:cNvPr id="23" name="Group 74"/>
            <p:cNvGrpSpPr>
              <a:grpSpLocks/>
            </p:cNvGrpSpPr>
            <p:nvPr/>
          </p:nvGrpSpPr>
          <p:grpSpPr bwMode="auto">
            <a:xfrm>
              <a:off x="5943600" y="3578225"/>
              <a:ext cx="457200" cy="276225"/>
              <a:chOff x="240" y="1476"/>
              <a:chExt cx="288" cy="174"/>
            </a:xfrm>
          </p:grpSpPr>
          <p:sp>
            <p:nvSpPr>
              <p:cNvPr id="43066" name="Rectangle 75"/>
              <p:cNvSpPr>
                <a:spLocks noChangeArrowheads="1"/>
              </p:cNvSpPr>
              <p:nvPr/>
            </p:nvSpPr>
            <p:spPr bwMode="auto">
              <a:xfrm>
                <a:off x="240" y="1488"/>
                <a:ext cx="288" cy="144"/>
              </a:xfrm>
              <a:prstGeom prst="rect">
                <a:avLst/>
              </a:prstGeom>
              <a:solidFill>
                <a:srgbClr val="FFCC66"/>
              </a:solidFill>
              <a:ln w="9525">
                <a:solidFill>
                  <a:schemeClr val="tx1"/>
                </a:solidFill>
                <a:miter lim="800000"/>
                <a:headEnd/>
                <a:tailEnd/>
              </a:ln>
            </p:spPr>
            <p:txBody>
              <a:bodyPr wrap="none" anchor="ctr"/>
              <a:lstStyle/>
              <a:p>
                <a:endParaRPr lang="en-US" sz="1600" dirty="0">
                  <a:latin typeface="Lucida Sans Unicode" panose="020B0602030504020204" pitchFamily="34" charset="0"/>
                </a:endParaRPr>
              </a:p>
            </p:txBody>
          </p:sp>
          <p:sp>
            <p:nvSpPr>
              <p:cNvPr id="43067" name="Text Box 76"/>
              <p:cNvSpPr txBox="1">
                <a:spLocks noChangeArrowheads="1"/>
              </p:cNvSpPr>
              <p:nvPr/>
            </p:nvSpPr>
            <p:spPr bwMode="auto">
              <a:xfrm>
                <a:off x="300" y="1476"/>
                <a:ext cx="180" cy="174"/>
              </a:xfrm>
              <a:prstGeom prst="rect">
                <a:avLst/>
              </a:prstGeom>
              <a:noFill/>
              <a:ln w="9525">
                <a:noFill/>
                <a:miter lim="800000"/>
                <a:headEnd/>
                <a:tailEnd/>
              </a:ln>
            </p:spPr>
            <p:txBody>
              <a:bodyPr wrap="none">
                <a:spAutoFit/>
              </a:bodyPr>
              <a:lstStyle/>
              <a:p>
                <a:r>
                  <a:rPr lang="en-GB" sz="1200" dirty="0">
                    <a:latin typeface="Lucida Sans Unicode" panose="020B0602030504020204" pitchFamily="34" charset="0"/>
                  </a:rPr>
                  <a:t>V</a:t>
                </a:r>
              </a:p>
            </p:txBody>
          </p:sp>
        </p:grpSp>
        <p:grpSp>
          <p:nvGrpSpPr>
            <p:cNvPr id="24" name="Group 77"/>
            <p:cNvGrpSpPr>
              <a:grpSpLocks/>
            </p:cNvGrpSpPr>
            <p:nvPr/>
          </p:nvGrpSpPr>
          <p:grpSpPr bwMode="auto">
            <a:xfrm>
              <a:off x="6477000" y="3578225"/>
              <a:ext cx="457200" cy="276225"/>
              <a:chOff x="240" y="1040"/>
              <a:chExt cx="288" cy="174"/>
            </a:xfrm>
          </p:grpSpPr>
          <p:sp>
            <p:nvSpPr>
              <p:cNvPr id="43064" name="Rectangle 78"/>
              <p:cNvSpPr>
                <a:spLocks noChangeArrowheads="1"/>
              </p:cNvSpPr>
              <p:nvPr/>
            </p:nvSpPr>
            <p:spPr bwMode="auto">
              <a:xfrm>
                <a:off x="240" y="1056"/>
                <a:ext cx="288" cy="144"/>
              </a:xfrm>
              <a:prstGeom prst="rect">
                <a:avLst/>
              </a:prstGeom>
              <a:solidFill>
                <a:srgbClr val="CCFFCC"/>
              </a:solidFill>
              <a:ln w="9525">
                <a:solidFill>
                  <a:schemeClr val="tx1"/>
                </a:solidFill>
                <a:miter lim="800000"/>
                <a:headEnd/>
                <a:tailEnd/>
              </a:ln>
            </p:spPr>
            <p:txBody>
              <a:bodyPr wrap="none" anchor="ctr"/>
              <a:lstStyle/>
              <a:p>
                <a:endParaRPr lang="en-US" sz="1600" dirty="0">
                  <a:latin typeface="Lucida Sans Unicode" panose="020B0602030504020204" pitchFamily="34" charset="0"/>
                </a:endParaRPr>
              </a:p>
            </p:txBody>
          </p:sp>
          <p:sp>
            <p:nvSpPr>
              <p:cNvPr id="43065" name="Text Box 79"/>
              <p:cNvSpPr txBox="1">
                <a:spLocks noChangeArrowheads="1"/>
              </p:cNvSpPr>
              <p:nvPr/>
            </p:nvSpPr>
            <p:spPr bwMode="auto">
              <a:xfrm>
                <a:off x="281" y="1040"/>
                <a:ext cx="189" cy="174"/>
              </a:xfrm>
              <a:prstGeom prst="rect">
                <a:avLst/>
              </a:prstGeom>
              <a:noFill/>
              <a:ln w="9525">
                <a:noFill/>
                <a:miter lim="800000"/>
                <a:headEnd/>
                <a:tailEnd/>
              </a:ln>
            </p:spPr>
            <p:txBody>
              <a:bodyPr wrap="none">
                <a:spAutoFit/>
              </a:bodyPr>
              <a:lstStyle/>
              <a:p>
                <a:r>
                  <a:rPr lang="en-GB" sz="1200" dirty="0">
                    <a:latin typeface="Lucida Sans Unicode" panose="020B0602030504020204" pitchFamily="34" charset="0"/>
                  </a:rPr>
                  <a:t>D</a:t>
                </a:r>
                <a:endParaRPr lang="en-GB" sz="1600" dirty="0">
                  <a:latin typeface="Lucida Sans Unicode" panose="020B0602030504020204" pitchFamily="34" charset="0"/>
                </a:endParaRPr>
              </a:p>
            </p:txBody>
          </p:sp>
        </p:grpSp>
        <p:grpSp>
          <p:nvGrpSpPr>
            <p:cNvPr id="25" name="Group 80"/>
            <p:cNvGrpSpPr>
              <a:grpSpLocks/>
            </p:cNvGrpSpPr>
            <p:nvPr/>
          </p:nvGrpSpPr>
          <p:grpSpPr bwMode="auto">
            <a:xfrm>
              <a:off x="7010400" y="3578225"/>
              <a:ext cx="457200" cy="276225"/>
              <a:chOff x="255" y="2083"/>
              <a:chExt cx="288" cy="174"/>
            </a:xfrm>
          </p:grpSpPr>
          <p:sp>
            <p:nvSpPr>
              <p:cNvPr id="43062" name="Rectangle 81"/>
              <p:cNvSpPr>
                <a:spLocks noChangeArrowheads="1"/>
              </p:cNvSpPr>
              <p:nvPr/>
            </p:nvSpPr>
            <p:spPr bwMode="auto">
              <a:xfrm>
                <a:off x="255" y="2102"/>
                <a:ext cx="288" cy="144"/>
              </a:xfrm>
              <a:prstGeom prst="rect">
                <a:avLst/>
              </a:prstGeom>
              <a:solidFill>
                <a:schemeClr val="folHlink"/>
              </a:solidFill>
              <a:ln w="9525">
                <a:solidFill>
                  <a:schemeClr val="tx1"/>
                </a:solidFill>
                <a:miter lim="800000"/>
                <a:headEnd/>
                <a:tailEnd/>
              </a:ln>
            </p:spPr>
            <p:txBody>
              <a:bodyPr wrap="none" anchor="ctr"/>
              <a:lstStyle/>
              <a:p>
                <a:endParaRPr lang="en-US" sz="1600" dirty="0">
                  <a:latin typeface="Lucida Sans Unicode" panose="020B0602030504020204" pitchFamily="34" charset="0"/>
                </a:endParaRPr>
              </a:p>
            </p:txBody>
          </p:sp>
          <p:sp>
            <p:nvSpPr>
              <p:cNvPr id="43063" name="Text Box 82"/>
              <p:cNvSpPr txBox="1">
                <a:spLocks noChangeArrowheads="1"/>
              </p:cNvSpPr>
              <p:nvPr/>
            </p:nvSpPr>
            <p:spPr bwMode="auto">
              <a:xfrm>
                <a:off x="292" y="2083"/>
                <a:ext cx="197" cy="174"/>
              </a:xfrm>
              <a:prstGeom prst="rect">
                <a:avLst/>
              </a:prstGeom>
              <a:noFill/>
              <a:ln w="9525">
                <a:noFill/>
                <a:miter lim="800000"/>
                <a:headEnd/>
                <a:tailEnd/>
              </a:ln>
            </p:spPr>
            <p:txBody>
              <a:bodyPr wrap="none">
                <a:spAutoFit/>
              </a:bodyPr>
              <a:lstStyle/>
              <a:p>
                <a:r>
                  <a:rPr lang="en-GB" sz="1200" dirty="0">
                    <a:solidFill>
                      <a:schemeClr val="bg1"/>
                    </a:solidFill>
                    <a:latin typeface="Lucida Sans Unicode" panose="020B0602030504020204" pitchFamily="34" charset="0"/>
                  </a:rPr>
                  <a:t>SI</a:t>
                </a:r>
              </a:p>
            </p:txBody>
          </p:sp>
        </p:grpSp>
        <p:grpSp>
          <p:nvGrpSpPr>
            <p:cNvPr id="26" name="Group 83"/>
            <p:cNvGrpSpPr>
              <a:grpSpLocks/>
            </p:cNvGrpSpPr>
            <p:nvPr/>
          </p:nvGrpSpPr>
          <p:grpSpPr bwMode="auto">
            <a:xfrm>
              <a:off x="7543800" y="3578225"/>
              <a:ext cx="457200" cy="276225"/>
              <a:chOff x="240" y="1476"/>
              <a:chExt cx="288" cy="174"/>
            </a:xfrm>
          </p:grpSpPr>
          <p:sp>
            <p:nvSpPr>
              <p:cNvPr id="43060" name="Rectangle 84"/>
              <p:cNvSpPr>
                <a:spLocks noChangeArrowheads="1"/>
              </p:cNvSpPr>
              <p:nvPr/>
            </p:nvSpPr>
            <p:spPr bwMode="auto">
              <a:xfrm>
                <a:off x="240" y="1488"/>
                <a:ext cx="288" cy="144"/>
              </a:xfrm>
              <a:prstGeom prst="rect">
                <a:avLst/>
              </a:prstGeom>
              <a:solidFill>
                <a:srgbClr val="FFCC66"/>
              </a:solidFill>
              <a:ln w="9525">
                <a:solidFill>
                  <a:schemeClr val="tx1"/>
                </a:solidFill>
                <a:miter lim="800000"/>
                <a:headEnd/>
                <a:tailEnd/>
              </a:ln>
            </p:spPr>
            <p:txBody>
              <a:bodyPr wrap="none" anchor="ctr"/>
              <a:lstStyle/>
              <a:p>
                <a:endParaRPr lang="en-US" sz="1600" dirty="0">
                  <a:latin typeface="Lucida Sans Unicode" panose="020B0602030504020204" pitchFamily="34" charset="0"/>
                </a:endParaRPr>
              </a:p>
            </p:txBody>
          </p:sp>
          <p:sp>
            <p:nvSpPr>
              <p:cNvPr id="43061" name="Text Box 85"/>
              <p:cNvSpPr txBox="1">
                <a:spLocks noChangeArrowheads="1"/>
              </p:cNvSpPr>
              <p:nvPr/>
            </p:nvSpPr>
            <p:spPr bwMode="auto">
              <a:xfrm>
                <a:off x="300" y="1476"/>
                <a:ext cx="180" cy="174"/>
              </a:xfrm>
              <a:prstGeom prst="rect">
                <a:avLst/>
              </a:prstGeom>
              <a:noFill/>
              <a:ln w="9525">
                <a:noFill/>
                <a:miter lim="800000"/>
                <a:headEnd/>
                <a:tailEnd/>
              </a:ln>
            </p:spPr>
            <p:txBody>
              <a:bodyPr wrap="none">
                <a:spAutoFit/>
              </a:bodyPr>
              <a:lstStyle/>
              <a:p>
                <a:r>
                  <a:rPr lang="en-GB" sz="1200" dirty="0">
                    <a:latin typeface="Lucida Sans Unicode" panose="020B0602030504020204" pitchFamily="34" charset="0"/>
                  </a:rPr>
                  <a:t>V</a:t>
                </a:r>
              </a:p>
            </p:txBody>
          </p:sp>
        </p:grpSp>
        <p:grpSp>
          <p:nvGrpSpPr>
            <p:cNvPr id="27" name="Group 86"/>
            <p:cNvGrpSpPr>
              <a:grpSpLocks/>
            </p:cNvGrpSpPr>
            <p:nvPr/>
          </p:nvGrpSpPr>
          <p:grpSpPr bwMode="auto">
            <a:xfrm>
              <a:off x="8077200" y="3578225"/>
              <a:ext cx="457200" cy="276225"/>
              <a:chOff x="240" y="1476"/>
              <a:chExt cx="288" cy="174"/>
            </a:xfrm>
          </p:grpSpPr>
          <p:sp>
            <p:nvSpPr>
              <p:cNvPr id="43058" name="Rectangle 87"/>
              <p:cNvSpPr>
                <a:spLocks noChangeArrowheads="1"/>
              </p:cNvSpPr>
              <p:nvPr/>
            </p:nvSpPr>
            <p:spPr bwMode="auto">
              <a:xfrm>
                <a:off x="240" y="1488"/>
                <a:ext cx="288" cy="144"/>
              </a:xfrm>
              <a:prstGeom prst="rect">
                <a:avLst/>
              </a:prstGeom>
              <a:solidFill>
                <a:srgbClr val="FFCC66"/>
              </a:solidFill>
              <a:ln w="9525">
                <a:solidFill>
                  <a:schemeClr val="tx1"/>
                </a:solidFill>
                <a:miter lim="800000"/>
                <a:headEnd/>
                <a:tailEnd/>
              </a:ln>
            </p:spPr>
            <p:txBody>
              <a:bodyPr wrap="none" anchor="ctr"/>
              <a:lstStyle/>
              <a:p>
                <a:endParaRPr lang="en-US" sz="1600" dirty="0">
                  <a:latin typeface="Lucida Sans Unicode" panose="020B0602030504020204" pitchFamily="34" charset="0"/>
                </a:endParaRPr>
              </a:p>
            </p:txBody>
          </p:sp>
          <p:sp>
            <p:nvSpPr>
              <p:cNvPr id="43059" name="Text Box 88"/>
              <p:cNvSpPr txBox="1">
                <a:spLocks noChangeArrowheads="1"/>
              </p:cNvSpPr>
              <p:nvPr/>
            </p:nvSpPr>
            <p:spPr bwMode="auto">
              <a:xfrm>
                <a:off x="300" y="1476"/>
                <a:ext cx="180" cy="174"/>
              </a:xfrm>
              <a:prstGeom prst="rect">
                <a:avLst/>
              </a:prstGeom>
              <a:noFill/>
              <a:ln w="9525">
                <a:noFill/>
                <a:miter lim="800000"/>
                <a:headEnd/>
                <a:tailEnd/>
              </a:ln>
            </p:spPr>
            <p:txBody>
              <a:bodyPr wrap="none">
                <a:spAutoFit/>
              </a:bodyPr>
              <a:lstStyle/>
              <a:p>
                <a:r>
                  <a:rPr lang="en-GB" sz="1200" dirty="0">
                    <a:latin typeface="Lucida Sans Unicode" panose="020B0602030504020204" pitchFamily="34" charset="0"/>
                  </a:rPr>
                  <a:t>V</a:t>
                </a:r>
              </a:p>
            </p:txBody>
          </p:sp>
        </p:grpSp>
      </p:grpSp>
      <p:sp>
        <p:nvSpPr>
          <p:cNvPr id="43012" name="Text Box 89" descr="Large confetti"/>
          <p:cNvSpPr txBox="1">
            <a:spLocks noChangeArrowheads="1"/>
          </p:cNvSpPr>
          <p:nvPr/>
        </p:nvSpPr>
        <p:spPr bwMode="auto">
          <a:xfrm>
            <a:off x="1985963" y="5545138"/>
            <a:ext cx="1622425" cy="346075"/>
          </a:xfrm>
          <a:prstGeom prst="rect">
            <a:avLst/>
          </a:prstGeom>
          <a:pattFill prst="lgConfetti">
            <a:fgClr>
              <a:srgbClr val="FFCC66"/>
            </a:fgClr>
            <a:bgClr>
              <a:srgbClr val="FFFFFF"/>
            </a:bgClr>
          </a:pattFill>
          <a:ln w="9525">
            <a:solidFill>
              <a:schemeClr val="tx2"/>
            </a:solidFill>
            <a:miter lim="800000"/>
            <a:headEnd/>
            <a:tailEnd/>
          </a:ln>
        </p:spPr>
        <p:txBody>
          <a:bodyPr wrap="none">
            <a:spAutoFit/>
          </a:bodyPr>
          <a:lstStyle/>
          <a:p>
            <a:pPr algn="ctr"/>
            <a:r>
              <a:rPr lang="en-GB" sz="1600" dirty="0">
                <a:latin typeface="Lucida Sans Unicode" panose="020B0602030504020204" pitchFamily="34" charset="0"/>
              </a:rPr>
              <a:t>Adaption Field</a:t>
            </a:r>
          </a:p>
        </p:txBody>
      </p:sp>
      <p:sp>
        <p:nvSpPr>
          <p:cNvPr id="43013" name="Text Box 90"/>
          <p:cNvSpPr txBox="1">
            <a:spLocks noChangeArrowheads="1"/>
          </p:cNvSpPr>
          <p:nvPr/>
        </p:nvSpPr>
        <p:spPr bwMode="auto">
          <a:xfrm>
            <a:off x="3586163" y="5545138"/>
            <a:ext cx="2252662" cy="346075"/>
          </a:xfrm>
          <a:prstGeom prst="rect">
            <a:avLst/>
          </a:prstGeom>
          <a:solidFill>
            <a:srgbClr val="FFCC66"/>
          </a:solidFill>
          <a:ln w="9525">
            <a:solidFill>
              <a:schemeClr val="tx2"/>
            </a:solidFill>
            <a:miter lim="800000"/>
            <a:headEnd/>
            <a:tailEnd/>
          </a:ln>
        </p:spPr>
        <p:txBody>
          <a:bodyPr wrap="none">
            <a:spAutoFit/>
          </a:bodyPr>
          <a:lstStyle/>
          <a:p>
            <a:pPr algn="ctr"/>
            <a:r>
              <a:rPr lang="en-GB" sz="1600" dirty="0">
                <a:latin typeface="Lucida Sans Unicode" panose="020B0602030504020204" pitchFamily="34" charset="0"/>
              </a:rPr>
              <a:t>          Payload          </a:t>
            </a:r>
          </a:p>
        </p:txBody>
      </p:sp>
      <p:sp>
        <p:nvSpPr>
          <p:cNvPr id="43014" name="Text Box 91"/>
          <p:cNvSpPr txBox="1">
            <a:spLocks noChangeArrowheads="1"/>
          </p:cNvSpPr>
          <p:nvPr/>
        </p:nvSpPr>
        <p:spPr bwMode="auto">
          <a:xfrm>
            <a:off x="385763" y="5545138"/>
            <a:ext cx="1595437" cy="346075"/>
          </a:xfrm>
          <a:prstGeom prst="rect">
            <a:avLst/>
          </a:prstGeom>
          <a:solidFill>
            <a:schemeClr val="accent3"/>
          </a:solidFill>
          <a:ln w="9525">
            <a:solidFill>
              <a:schemeClr val="tx2"/>
            </a:solidFill>
            <a:miter lim="800000"/>
            <a:headEnd/>
            <a:tailEnd/>
          </a:ln>
        </p:spPr>
        <p:txBody>
          <a:bodyPr wrap="none">
            <a:spAutoFit/>
          </a:bodyPr>
          <a:lstStyle/>
          <a:p>
            <a:pPr algn="ctr"/>
            <a:r>
              <a:rPr lang="en-GB" sz="1600" dirty="0">
                <a:latin typeface="Lucida Sans Unicode" panose="020B0602030504020204" pitchFamily="34" charset="0"/>
              </a:rPr>
              <a:t>Packet Header</a:t>
            </a:r>
          </a:p>
        </p:txBody>
      </p:sp>
      <p:sp>
        <p:nvSpPr>
          <p:cNvPr id="43015" name="Line 92"/>
          <p:cNvSpPr>
            <a:spLocks noChangeShapeType="1"/>
          </p:cNvSpPr>
          <p:nvPr/>
        </p:nvSpPr>
        <p:spPr bwMode="auto">
          <a:xfrm>
            <a:off x="385763" y="5335588"/>
            <a:ext cx="5456237" cy="0"/>
          </a:xfrm>
          <a:prstGeom prst="line">
            <a:avLst/>
          </a:prstGeom>
          <a:noFill/>
          <a:ln w="9525">
            <a:solidFill>
              <a:schemeClr val="tx1"/>
            </a:solidFill>
            <a:round/>
            <a:headEnd type="triangle" w="med" len="med"/>
            <a:tailEnd type="triangle" w="med" len="med"/>
          </a:ln>
        </p:spPr>
        <p:txBody>
          <a:bodyPr wrap="none" anchor="ctr"/>
          <a:lstStyle/>
          <a:p>
            <a:endParaRPr lang="en-GB" sz="1600" dirty="0">
              <a:latin typeface="Lucida Sans Unicode" panose="020B0602030504020204" pitchFamily="34" charset="0"/>
            </a:endParaRPr>
          </a:p>
        </p:txBody>
      </p:sp>
      <p:sp>
        <p:nvSpPr>
          <p:cNvPr id="43016" name="Text Box 93"/>
          <p:cNvSpPr txBox="1">
            <a:spLocks noChangeArrowheads="1"/>
          </p:cNvSpPr>
          <p:nvPr/>
        </p:nvSpPr>
        <p:spPr bwMode="auto">
          <a:xfrm>
            <a:off x="2443163" y="5164138"/>
            <a:ext cx="1150937" cy="336550"/>
          </a:xfrm>
          <a:prstGeom prst="rect">
            <a:avLst/>
          </a:prstGeom>
          <a:solidFill>
            <a:schemeClr val="bg1"/>
          </a:solidFill>
          <a:ln w="9525">
            <a:noFill/>
            <a:miter lim="800000"/>
            <a:headEnd/>
            <a:tailEnd/>
          </a:ln>
        </p:spPr>
        <p:txBody>
          <a:bodyPr wrap="none">
            <a:spAutoFit/>
          </a:bodyPr>
          <a:lstStyle/>
          <a:p>
            <a:r>
              <a:rPr lang="en-GB" sz="1600" dirty="0">
                <a:latin typeface="Lucida Sans Unicode" panose="020B0602030504020204" pitchFamily="34" charset="0"/>
              </a:rPr>
              <a:t>188 Bytes</a:t>
            </a:r>
          </a:p>
        </p:txBody>
      </p:sp>
      <p:sp>
        <p:nvSpPr>
          <p:cNvPr id="43017" name="Text Box 94"/>
          <p:cNvSpPr txBox="1">
            <a:spLocks noChangeArrowheads="1"/>
          </p:cNvSpPr>
          <p:nvPr/>
        </p:nvSpPr>
        <p:spPr bwMode="auto">
          <a:xfrm>
            <a:off x="766763" y="5926138"/>
            <a:ext cx="893762" cy="336550"/>
          </a:xfrm>
          <a:prstGeom prst="rect">
            <a:avLst/>
          </a:prstGeom>
          <a:solidFill>
            <a:schemeClr val="bg1"/>
          </a:solidFill>
          <a:ln w="9525">
            <a:noFill/>
            <a:miter lim="800000"/>
            <a:headEnd/>
            <a:tailEnd/>
          </a:ln>
        </p:spPr>
        <p:txBody>
          <a:bodyPr wrap="none">
            <a:spAutoFit/>
          </a:bodyPr>
          <a:lstStyle/>
          <a:p>
            <a:r>
              <a:rPr lang="en-GB" sz="1600" dirty="0">
                <a:latin typeface="Lucida Sans Unicode" panose="020B0602030504020204" pitchFamily="34" charset="0"/>
              </a:rPr>
              <a:t>4 Bytes</a:t>
            </a:r>
          </a:p>
        </p:txBody>
      </p:sp>
      <p:sp>
        <p:nvSpPr>
          <p:cNvPr id="43018" name="Rectangle 95"/>
          <p:cNvSpPr>
            <a:spLocks noChangeArrowheads="1"/>
          </p:cNvSpPr>
          <p:nvPr/>
        </p:nvSpPr>
        <p:spPr bwMode="auto">
          <a:xfrm>
            <a:off x="381000" y="949325"/>
            <a:ext cx="7880350" cy="1600438"/>
          </a:xfrm>
          <a:prstGeom prst="rect">
            <a:avLst/>
          </a:prstGeom>
          <a:noFill/>
          <a:ln w="9525">
            <a:noFill/>
            <a:miter lim="800000"/>
            <a:headEnd/>
            <a:tailEnd/>
          </a:ln>
        </p:spPr>
        <p:txBody>
          <a:bodyPr>
            <a:spAutoFit/>
          </a:bodyPr>
          <a:lstStyle/>
          <a:p>
            <a:pPr marL="180975" indent="-180975"/>
            <a:r>
              <a:rPr lang="en-GB" sz="1600" b="1" dirty="0">
                <a:latin typeface="Lucida Sans Unicode" panose="020B0602030504020204" pitchFamily="34" charset="0"/>
              </a:rPr>
              <a:t>Transport Steam:  Composed of A number of Program Streams (and their Elementary Streams)</a:t>
            </a:r>
          </a:p>
          <a:p>
            <a:pPr marL="180975" indent="-180975">
              <a:buFontTx/>
              <a:buChar char="•"/>
            </a:pPr>
            <a:r>
              <a:rPr lang="en-GB" sz="1600" dirty="0">
                <a:latin typeface="Lucida Sans Unicode" panose="020B0602030504020204" pitchFamily="34" charset="0"/>
              </a:rPr>
              <a:t>when MPEG-2 content is to be </a:t>
            </a:r>
            <a:r>
              <a:rPr lang="en-GB" sz="1600" u="sng" dirty="0">
                <a:latin typeface="Lucida Sans Unicode" panose="020B0602030504020204" pitchFamily="34" charset="0"/>
              </a:rPr>
              <a:t>distributed / networked</a:t>
            </a:r>
            <a:r>
              <a:rPr lang="en-GB" sz="1600" dirty="0">
                <a:latin typeface="Lucida Sans Unicode" panose="020B0602030504020204" pitchFamily="34" charset="0"/>
              </a:rPr>
              <a:t>, Transport streams are the structure </a:t>
            </a:r>
          </a:p>
          <a:p>
            <a:pPr marL="180975" indent="-180975">
              <a:buFontTx/>
              <a:buChar char="•"/>
            </a:pPr>
            <a:r>
              <a:rPr lang="en-GB" sz="1600" dirty="0">
                <a:latin typeface="Lucida Sans Unicode" panose="020B0602030504020204" pitchFamily="34" charset="0"/>
              </a:rPr>
              <a:t>they are a multiplex of PESs</a:t>
            </a:r>
          </a:p>
          <a:p>
            <a:pPr marL="180975" indent="-180975">
              <a:buFontTx/>
              <a:buChar char="•"/>
            </a:pPr>
            <a:r>
              <a:rPr lang="en-GB" sz="1600" dirty="0">
                <a:latin typeface="Lucida Sans Unicode" panose="020B0602030504020204" pitchFamily="34" charset="0"/>
              </a:rPr>
              <a:t>i.e. carry a number of programmes</a:t>
            </a:r>
            <a:endParaRPr lang="en-GB" sz="2000" i="1" dirty="0">
              <a:latin typeface="Times New Roman" pitchFamily="18" charset="0"/>
            </a:endParaRPr>
          </a:p>
        </p:txBody>
      </p:sp>
      <p:sp>
        <p:nvSpPr>
          <p:cNvPr id="43019" name="Rectangle 96"/>
          <p:cNvSpPr>
            <a:spLocks noChangeArrowheads="1"/>
          </p:cNvSpPr>
          <p:nvPr/>
        </p:nvSpPr>
        <p:spPr bwMode="auto">
          <a:xfrm>
            <a:off x="3814763" y="2801938"/>
            <a:ext cx="2819400" cy="336550"/>
          </a:xfrm>
          <a:prstGeom prst="rect">
            <a:avLst/>
          </a:prstGeom>
          <a:noFill/>
          <a:ln w="9525">
            <a:noFill/>
            <a:miter lim="800000"/>
            <a:headEnd/>
            <a:tailEnd/>
          </a:ln>
        </p:spPr>
        <p:txBody>
          <a:bodyPr>
            <a:spAutoFit/>
          </a:bodyPr>
          <a:lstStyle/>
          <a:p>
            <a:r>
              <a:rPr lang="en-GB" sz="1600" dirty="0">
                <a:latin typeface="Lucida Sans Unicode" panose="020B0602030504020204" pitchFamily="34" charset="0"/>
              </a:rPr>
              <a:t>MPEG-2Transport Stream</a:t>
            </a:r>
            <a:endParaRPr lang="en-GB" sz="2000" i="1" dirty="0">
              <a:latin typeface="Times New Roman" pitchFamily="18" charset="0"/>
            </a:endParaRPr>
          </a:p>
        </p:txBody>
      </p:sp>
      <p:sp>
        <p:nvSpPr>
          <p:cNvPr id="43020" name="Rectangle 97"/>
          <p:cNvSpPr>
            <a:spLocks noChangeArrowheads="1"/>
          </p:cNvSpPr>
          <p:nvPr/>
        </p:nvSpPr>
        <p:spPr bwMode="auto">
          <a:xfrm>
            <a:off x="381000" y="4740275"/>
            <a:ext cx="8556625" cy="336550"/>
          </a:xfrm>
          <a:prstGeom prst="rect">
            <a:avLst/>
          </a:prstGeom>
          <a:noFill/>
          <a:ln w="9525">
            <a:noFill/>
            <a:miter lim="800000"/>
            <a:headEnd/>
            <a:tailEnd/>
          </a:ln>
        </p:spPr>
        <p:txBody>
          <a:bodyPr>
            <a:spAutoFit/>
          </a:bodyPr>
          <a:lstStyle/>
          <a:p>
            <a:r>
              <a:rPr lang="en-GB" sz="1600" dirty="0">
                <a:latin typeface="Lucida Sans Unicode" panose="020B0602030504020204" pitchFamily="34" charset="0"/>
              </a:rPr>
              <a:t>Transport Stream Multiplex consists entirely of short, fixed length transport packets</a:t>
            </a:r>
          </a:p>
        </p:txBody>
      </p:sp>
      <p:sp>
        <p:nvSpPr>
          <p:cNvPr id="43021" name="Line 98"/>
          <p:cNvSpPr>
            <a:spLocks noChangeShapeType="1"/>
          </p:cNvSpPr>
          <p:nvPr/>
        </p:nvSpPr>
        <p:spPr bwMode="auto">
          <a:xfrm>
            <a:off x="6481763" y="2954338"/>
            <a:ext cx="2133600" cy="0"/>
          </a:xfrm>
          <a:prstGeom prst="line">
            <a:avLst/>
          </a:prstGeom>
          <a:noFill/>
          <a:ln w="9525">
            <a:solidFill>
              <a:schemeClr val="tx2"/>
            </a:solidFill>
            <a:round/>
            <a:headEnd/>
            <a:tailEnd type="triangle" w="med" len="med"/>
          </a:ln>
        </p:spPr>
        <p:txBody>
          <a:bodyPr wrap="none" anchor="ctr">
            <a:spAutoFit/>
          </a:bodyPr>
          <a:lstStyle/>
          <a:p>
            <a:endParaRPr lang="en-GB" sz="1600" dirty="0">
              <a:latin typeface="Lucida Sans Unicode" panose="020B0602030504020204" pitchFamily="34" charset="0"/>
            </a:endParaRPr>
          </a:p>
        </p:txBody>
      </p:sp>
      <p:sp>
        <p:nvSpPr>
          <p:cNvPr id="43022" name="Text Box 99"/>
          <p:cNvSpPr txBox="1">
            <a:spLocks noChangeArrowheads="1"/>
          </p:cNvSpPr>
          <p:nvPr/>
        </p:nvSpPr>
        <p:spPr bwMode="auto">
          <a:xfrm>
            <a:off x="6175375" y="4108450"/>
            <a:ext cx="1975221" cy="276999"/>
          </a:xfrm>
          <a:prstGeom prst="rect">
            <a:avLst/>
          </a:prstGeom>
          <a:noFill/>
          <a:ln w="9525">
            <a:noFill/>
            <a:miter lim="800000"/>
            <a:headEnd/>
            <a:tailEnd/>
          </a:ln>
        </p:spPr>
        <p:txBody>
          <a:bodyPr wrap="none">
            <a:spAutoFit/>
          </a:bodyPr>
          <a:lstStyle/>
          <a:p>
            <a:r>
              <a:rPr lang="en-GB" sz="1200" dirty="0">
                <a:latin typeface="Lucida Sans Unicode" panose="020B0602030504020204" pitchFamily="34" charset="0"/>
              </a:rPr>
              <a:t>SI = Service Information</a:t>
            </a:r>
            <a:endParaRPr lang="en-US" sz="1200" dirty="0">
              <a:latin typeface="Lucida Sans Unicode" panose="020B0602030504020204" pitchFamily="34" charset="0"/>
            </a:endParaRPr>
          </a:p>
        </p:txBody>
      </p:sp>
      <p:sp>
        <p:nvSpPr>
          <p:cNvPr id="106" name="TextBox 105"/>
          <p:cNvSpPr txBox="1"/>
          <p:nvPr/>
        </p:nvSpPr>
        <p:spPr>
          <a:xfrm>
            <a:off x="5842001" y="5545667"/>
            <a:ext cx="872066" cy="338554"/>
          </a:xfrm>
          <a:prstGeom prst="rect">
            <a:avLst/>
          </a:prstGeom>
          <a:solidFill>
            <a:schemeClr val="bg1"/>
          </a:solidFill>
          <a:ln>
            <a:solidFill>
              <a:schemeClr val="accent1"/>
            </a:solidFill>
            <a:prstDash val="lgDash"/>
          </a:ln>
        </p:spPr>
        <p:txBody>
          <a:bodyPr wrap="square" rtlCol="0">
            <a:spAutoFit/>
          </a:bodyPr>
          <a:lstStyle/>
          <a:p>
            <a:r>
              <a:rPr lang="en-GB" sz="1600" dirty="0">
                <a:latin typeface="Lucida Sans Unicode" pitchFamily="34" charset="0"/>
                <a:cs typeface="Lucida Sans Unicode" pitchFamily="34" charset="0"/>
              </a:rPr>
              <a:t>   FEC</a:t>
            </a:r>
          </a:p>
        </p:txBody>
      </p:sp>
      <p:cxnSp>
        <p:nvCxnSpPr>
          <p:cNvPr id="108" name="Straight Connector 107"/>
          <p:cNvCxnSpPr/>
          <p:nvPr/>
        </p:nvCxnSpPr>
        <p:spPr>
          <a:xfrm flipH="1" flipV="1">
            <a:off x="5833533" y="5164667"/>
            <a:ext cx="8467" cy="78740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p:nvPr/>
        </p:nvCxnSpPr>
        <p:spPr>
          <a:xfrm flipH="1" flipV="1">
            <a:off x="395288" y="5215467"/>
            <a:ext cx="8467" cy="78740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06610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ChangeArrowheads="1"/>
          </p:cNvSpPr>
          <p:nvPr/>
        </p:nvSpPr>
        <p:spPr bwMode="auto">
          <a:xfrm>
            <a:off x="381000" y="3657600"/>
            <a:ext cx="4800600" cy="2862322"/>
          </a:xfrm>
          <a:prstGeom prst="rect">
            <a:avLst/>
          </a:prstGeom>
          <a:noFill/>
          <a:ln w="9525">
            <a:noFill/>
            <a:miter lim="800000"/>
            <a:headEnd/>
            <a:tailEnd/>
          </a:ln>
        </p:spPr>
        <p:txBody>
          <a:bodyPr>
            <a:spAutoFit/>
          </a:bodyPr>
          <a:lstStyle/>
          <a:p>
            <a:r>
              <a:rPr lang="en-GB" sz="1200" b="1" dirty="0">
                <a:latin typeface="Lucida Sans Unicode" panose="020B0602030504020204" pitchFamily="34" charset="0"/>
              </a:rPr>
              <a:t>Time stamping system</a:t>
            </a:r>
          </a:p>
          <a:p>
            <a:r>
              <a:rPr lang="en-GB" sz="1200" dirty="0">
                <a:latin typeface="Lucida Sans Unicode" panose="020B0602030504020204" pitchFamily="34" charset="0"/>
              </a:rPr>
              <a:t>to ensure that related elementary streams are replayed in synchronism at a decoder</a:t>
            </a:r>
          </a:p>
          <a:p>
            <a:endParaRPr lang="en-GB" sz="1200" dirty="0">
              <a:latin typeface="Lucida Sans Unicode" panose="020B0602030504020204" pitchFamily="34" charset="0"/>
            </a:endParaRPr>
          </a:p>
          <a:p>
            <a:r>
              <a:rPr lang="en-GB" sz="1200" b="1" dirty="0">
                <a:latin typeface="Lucida Sans Unicode" panose="020B0602030504020204" pitchFamily="34" charset="0"/>
              </a:rPr>
              <a:t>Tables of service information</a:t>
            </a:r>
          </a:p>
          <a:p>
            <a:r>
              <a:rPr lang="en-GB" sz="1200" dirty="0">
                <a:latin typeface="Lucida Sans Unicode" panose="020B0602030504020204" pitchFamily="34" charset="0"/>
              </a:rPr>
              <a:t>network parameters, programmes within the multiplex and the nature of the various elementary streams</a:t>
            </a:r>
          </a:p>
          <a:p>
            <a:endParaRPr lang="en-GB" sz="1200" dirty="0">
              <a:latin typeface="Lucida Sans Unicode" panose="020B0602030504020204" pitchFamily="34" charset="0"/>
            </a:endParaRPr>
          </a:p>
          <a:p>
            <a:r>
              <a:rPr lang="en-GB" sz="1200" b="1" dirty="0">
                <a:latin typeface="Lucida Sans Unicode" panose="020B0602030504020204" pitchFamily="34" charset="0"/>
              </a:rPr>
              <a:t>Conditional Access</a:t>
            </a:r>
            <a:endParaRPr lang="en-GB" sz="1200" dirty="0">
              <a:latin typeface="Lucida Sans Unicode" panose="020B0602030504020204" pitchFamily="34" charset="0"/>
            </a:endParaRPr>
          </a:p>
          <a:p>
            <a:r>
              <a:rPr lang="en-GB" sz="1200" dirty="0">
                <a:latin typeface="Lucida Sans Unicode" panose="020B0602030504020204" pitchFamily="34" charset="0"/>
              </a:rPr>
              <a:t>Allow control of scrambling of one or more elementary streams (but CA not specified by MPEG)</a:t>
            </a:r>
          </a:p>
          <a:p>
            <a:endParaRPr lang="en-GB" sz="1200" dirty="0">
              <a:latin typeface="Lucida Sans Unicode" panose="020B0602030504020204" pitchFamily="34" charset="0"/>
            </a:endParaRPr>
          </a:p>
          <a:p>
            <a:r>
              <a:rPr lang="en-GB" sz="1200" b="1" dirty="0">
                <a:latin typeface="Lucida Sans Unicode" panose="020B0602030504020204" pitchFamily="34" charset="0"/>
              </a:rPr>
              <a:t>Private Data</a:t>
            </a:r>
          </a:p>
          <a:p>
            <a:r>
              <a:rPr lang="en-GB" sz="1200" dirty="0">
                <a:latin typeface="Lucida Sans Unicode" panose="020B0602030504020204" pitchFamily="34" charset="0"/>
              </a:rPr>
              <a:t>i.e. not spec’d by MPEG - include network management data, teletext, </a:t>
            </a:r>
            <a:r>
              <a:rPr lang="en-GB" sz="1200" dirty="0" err="1">
                <a:latin typeface="Lucida Sans Unicode" panose="020B0602030504020204" pitchFamily="34" charset="0"/>
              </a:rPr>
              <a:t>etc</a:t>
            </a:r>
            <a:endParaRPr lang="en-GB" sz="1200" dirty="0">
              <a:latin typeface="Lucida Sans Unicode" panose="020B0602030504020204" pitchFamily="34" charset="0"/>
            </a:endParaRPr>
          </a:p>
        </p:txBody>
      </p:sp>
      <p:sp>
        <p:nvSpPr>
          <p:cNvPr id="46083" name="Text Box 4"/>
          <p:cNvSpPr txBox="1">
            <a:spLocks noChangeArrowheads="1"/>
          </p:cNvSpPr>
          <p:nvPr/>
        </p:nvSpPr>
        <p:spPr bwMode="auto">
          <a:xfrm>
            <a:off x="3657600" y="990600"/>
            <a:ext cx="1371600" cy="2831544"/>
          </a:xfrm>
          <a:prstGeom prst="rect">
            <a:avLst/>
          </a:prstGeom>
          <a:solidFill>
            <a:schemeClr val="accent2">
              <a:lumMod val="60000"/>
              <a:lumOff val="40000"/>
            </a:schemeClr>
          </a:solidFill>
          <a:ln w="9525">
            <a:solidFill>
              <a:schemeClr val="tx2"/>
            </a:solidFill>
            <a:miter lim="800000"/>
            <a:headEnd/>
            <a:tailEnd/>
          </a:ln>
          <a:scene3d>
            <a:camera prst="orthographicFront"/>
            <a:lightRig rig="threePt" dir="t"/>
          </a:scene3d>
          <a:sp3d>
            <a:bevelT w="165100" prst="coolSlant"/>
          </a:sp3d>
        </p:spPr>
        <p:txBody>
          <a:bodyPr>
            <a:spAutoFit/>
          </a:bodyPr>
          <a:lstStyle/>
          <a:p>
            <a:pPr algn="ctr"/>
            <a:endParaRPr lang="en-GB" sz="1600" dirty="0">
              <a:latin typeface="Lucida Sans Unicode" panose="020B0602030504020204" pitchFamily="34" charset="0"/>
            </a:endParaRPr>
          </a:p>
          <a:p>
            <a:pPr algn="ctr"/>
            <a:endParaRPr lang="en-GB" sz="1600" dirty="0">
              <a:latin typeface="Lucida Sans Unicode" panose="020B0602030504020204" pitchFamily="34" charset="0"/>
            </a:endParaRPr>
          </a:p>
          <a:p>
            <a:pPr algn="ctr"/>
            <a:endParaRPr lang="en-GB" sz="1600" dirty="0">
              <a:latin typeface="Lucida Sans Unicode" panose="020B0602030504020204" pitchFamily="34" charset="0"/>
            </a:endParaRPr>
          </a:p>
          <a:p>
            <a:pPr algn="ctr"/>
            <a:endParaRPr lang="en-GB" sz="1600" dirty="0">
              <a:latin typeface="Lucida Sans Unicode" panose="020B0602030504020204" pitchFamily="34" charset="0"/>
            </a:endParaRPr>
          </a:p>
          <a:p>
            <a:pPr algn="ctr"/>
            <a:r>
              <a:rPr lang="en-GB" sz="1600" dirty="0">
                <a:latin typeface="Lucida Sans Unicode" panose="020B0602030504020204" pitchFamily="34" charset="0"/>
              </a:rPr>
              <a:t>MPEG-2</a:t>
            </a:r>
          </a:p>
          <a:p>
            <a:pPr algn="ctr"/>
            <a:r>
              <a:rPr lang="en-GB" sz="1600" dirty="0">
                <a:latin typeface="Lucida Sans Unicode" panose="020B0602030504020204" pitchFamily="34" charset="0"/>
              </a:rPr>
              <a:t>Multiplexer </a:t>
            </a:r>
          </a:p>
          <a:p>
            <a:pPr algn="ctr"/>
            <a:endParaRPr lang="en-GB" sz="1600" dirty="0">
              <a:latin typeface="Lucida Sans Unicode" panose="020B0602030504020204" pitchFamily="34" charset="0"/>
            </a:endParaRPr>
          </a:p>
          <a:p>
            <a:pPr algn="ctr"/>
            <a:endParaRPr lang="en-GB" sz="1600" dirty="0">
              <a:latin typeface="Lucida Sans Unicode" panose="020B0602030504020204" pitchFamily="34" charset="0"/>
            </a:endParaRPr>
          </a:p>
          <a:p>
            <a:pPr algn="ctr"/>
            <a:endParaRPr lang="en-GB" sz="1600" dirty="0">
              <a:latin typeface="Lucida Sans Unicode" panose="020B0602030504020204" pitchFamily="34" charset="0"/>
            </a:endParaRPr>
          </a:p>
          <a:p>
            <a:pPr algn="ctr"/>
            <a:endParaRPr lang="en-GB" sz="1600" dirty="0">
              <a:latin typeface="Lucida Sans Unicode" panose="020B0602030504020204" pitchFamily="34" charset="0"/>
            </a:endParaRPr>
          </a:p>
          <a:p>
            <a:pPr algn="ctr"/>
            <a:endParaRPr lang="en-GB" sz="1600" dirty="0">
              <a:latin typeface="Lucida Sans Unicode" panose="020B0602030504020204" pitchFamily="34" charset="0"/>
            </a:endParaRPr>
          </a:p>
        </p:txBody>
      </p:sp>
      <p:sp>
        <p:nvSpPr>
          <p:cNvPr id="46084" name="Text Box 5"/>
          <p:cNvSpPr txBox="1">
            <a:spLocks noChangeArrowheads="1"/>
          </p:cNvSpPr>
          <p:nvPr/>
        </p:nvSpPr>
        <p:spPr bwMode="auto">
          <a:xfrm>
            <a:off x="381000" y="942975"/>
            <a:ext cx="2198688" cy="346075"/>
          </a:xfrm>
          <a:prstGeom prst="rect">
            <a:avLst/>
          </a:prstGeom>
          <a:solidFill>
            <a:srgbClr val="FFCC66"/>
          </a:solidFill>
          <a:ln w="9525">
            <a:solidFill>
              <a:schemeClr val="tx2"/>
            </a:solidFill>
            <a:miter lim="800000"/>
            <a:headEnd/>
            <a:tailEnd/>
          </a:ln>
        </p:spPr>
        <p:txBody>
          <a:bodyPr wrap="none">
            <a:spAutoFit/>
          </a:bodyPr>
          <a:lstStyle/>
          <a:p>
            <a:pPr algn="ctr"/>
            <a:r>
              <a:rPr lang="en-GB" sz="1600" dirty="0">
                <a:latin typeface="Lucida Sans Unicode" panose="020B0602030504020204" pitchFamily="34" charset="0"/>
              </a:rPr>
              <a:t>Elementary Streams </a:t>
            </a:r>
          </a:p>
        </p:txBody>
      </p:sp>
      <p:sp>
        <p:nvSpPr>
          <p:cNvPr id="46085" name="Text Box 6"/>
          <p:cNvSpPr txBox="1">
            <a:spLocks noChangeArrowheads="1"/>
          </p:cNvSpPr>
          <p:nvPr/>
        </p:nvSpPr>
        <p:spPr bwMode="auto">
          <a:xfrm>
            <a:off x="533400" y="1095375"/>
            <a:ext cx="2198688" cy="346075"/>
          </a:xfrm>
          <a:prstGeom prst="rect">
            <a:avLst/>
          </a:prstGeom>
          <a:solidFill>
            <a:srgbClr val="FFCC66"/>
          </a:solidFill>
          <a:ln w="9525">
            <a:solidFill>
              <a:schemeClr val="tx2"/>
            </a:solidFill>
            <a:miter lim="800000"/>
            <a:headEnd/>
            <a:tailEnd/>
          </a:ln>
        </p:spPr>
        <p:txBody>
          <a:bodyPr wrap="none">
            <a:spAutoFit/>
          </a:bodyPr>
          <a:lstStyle/>
          <a:p>
            <a:pPr algn="ctr"/>
            <a:r>
              <a:rPr lang="en-GB" sz="1600" dirty="0">
                <a:latin typeface="Lucida Sans Unicode" panose="020B0602030504020204" pitchFamily="34" charset="0"/>
              </a:rPr>
              <a:t>Elementary Streams </a:t>
            </a:r>
          </a:p>
        </p:txBody>
      </p:sp>
      <p:sp>
        <p:nvSpPr>
          <p:cNvPr id="46086" name="Text Box 7"/>
          <p:cNvSpPr txBox="1">
            <a:spLocks noChangeArrowheads="1"/>
          </p:cNvSpPr>
          <p:nvPr/>
        </p:nvSpPr>
        <p:spPr bwMode="auto">
          <a:xfrm>
            <a:off x="685800" y="1247775"/>
            <a:ext cx="2198688" cy="346075"/>
          </a:xfrm>
          <a:prstGeom prst="rect">
            <a:avLst/>
          </a:prstGeom>
          <a:solidFill>
            <a:srgbClr val="FFCC66"/>
          </a:solidFill>
          <a:ln w="9525">
            <a:solidFill>
              <a:schemeClr val="tx2"/>
            </a:solidFill>
            <a:miter lim="800000"/>
            <a:headEnd/>
            <a:tailEnd/>
          </a:ln>
        </p:spPr>
        <p:txBody>
          <a:bodyPr wrap="none">
            <a:spAutoFit/>
          </a:bodyPr>
          <a:lstStyle/>
          <a:p>
            <a:pPr algn="ctr"/>
            <a:r>
              <a:rPr lang="en-GB" sz="1600" dirty="0">
                <a:latin typeface="Lucida Sans Unicode" panose="020B0602030504020204" pitchFamily="34" charset="0"/>
              </a:rPr>
              <a:t>Elementary Streams </a:t>
            </a:r>
          </a:p>
        </p:txBody>
      </p:sp>
      <p:sp>
        <p:nvSpPr>
          <p:cNvPr id="46087" name="Text Box 8"/>
          <p:cNvSpPr txBox="1">
            <a:spLocks noChangeArrowheads="1"/>
          </p:cNvSpPr>
          <p:nvPr/>
        </p:nvSpPr>
        <p:spPr bwMode="auto">
          <a:xfrm>
            <a:off x="838200" y="1400175"/>
            <a:ext cx="2198688" cy="346075"/>
          </a:xfrm>
          <a:prstGeom prst="rect">
            <a:avLst/>
          </a:prstGeom>
          <a:solidFill>
            <a:srgbClr val="FFCC66"/>
          </a:solidFill>
          <a:ln w="9525">
            <a:solidFill>
              <a:schemeClr val="tx2"/>
            </a:solidFill>
            <a:miter lim="800000"/>
            <a:headEnd/>
            <a:tailEnd/>
          </a:ln>
        </p:spPr>
        <p:txBody>
          <a:bodyPr wrap="none">
            <a:spAutoFit/>
          </a:bodyPr>
          <a:lstStyle/>
          <a:p>
            <a:pPr algn="ctr"/>
            <a:r>
              <a:rPr lang="en-GB" sz="1600" dirty="0">
                <a:latin typeface="Lucida Sans Unicode" panose="020B0602030504020204" pitchFamily="34" charset="0"/>
              </a:rPr>
              <a:t>Elementary Streams </a:t>
            </a:r>
          </a:p>
        </p:txBody>
      </p:sp>
      <p:sp>
        <p:nvSpPr>
          <p:cNvPr id="46088" name="Text Box 9"/>
          <p:cNvSpPr txBox="1">
            <a:spLocks noChangeArrowheads="1"/>
          </p:cNvSpPr>
          <p:nvPr/>
        </p:nvSpPr>
        <p:spPr bwMode="auto">
          <a:xfrm>
            <a:off x="685800" y="1828800"/>
            <a:ext cx="2165350" cy="346075"/>
          </a:xfrm>
          <a:prstGeom prst="rect">
            <a:avLst/>
          </a:prstGeom>
          <a:solidFill>
            <a:srgbClr val="FFCC66"/>
          </a:solidFill>
          <a:ln w="9525">
            <a:solidFill>
              <a:schemeClr val="tx2"/>
            </a:solidFill>
            <a:miter lim="800000"/>
            <a:headEnd/>
            <a:tailEnd/>
          </a:ln>
        </p:spPr>
        <p:txBody>
          <a:bodyPr wrap="none">
            <a:spAutoFit/>
          </a:bodyPr>
          <a:lstStyle/>
          <a:p>
            <a:pPr algn="ctr"/>
            <a:r>
              <a:rPr lang="en-GB" sz="1600" dirty="0">
                <a:latin typeface="Lucida Sans Unicode" panose="020B0602030504020204" pitchFamily="34" charset="0"/>
              </a:rPr>
              <a:t>Service Information </a:t>
            </a:r>
          </a:p>
        </p:txBody>
      </p:sp>
      <p:sp>
        <p:nvSpPr>
          <p:cNvPr id="46089" name="Text Box 10"/>
          <p:cNvSpPr txBox="1">
            <a:spLocks noChangeArrowheads="1"/>
          </p:cNvSpPr>
          <p:nvPr/>
        </p:nvSpPr>
        <p:spPr bwMode="auto">
          <a:xfrm>
            <a:off x="685800" y="2286000"/>
            <a:ext cx="2149475" cy="346075"/>
          </a:xfrm>
          <a:prstGeom prst="rect">
            <a:avLst/>
          </a:prstGeom>
          <a:solidFill>
            <a:srgbClr val="FFCC66"/>
          </a:solidFill>
          <a:ln w="9525">
            <a:solidFill>
              <a:schemeClr val="tx2"/>
            </a:solidFill>
            <a:miter lim="800000"/>
            <a:headEnd/>
            <a:tailEnd/>
          </a:ln>
        </p:spPr>
        <p:txBody>
          <a:bodyPr wrap="none">
            <a:spAutoFit/>
          </a:bodyPr>
          <a:lstStyle/>
          <a:p>
            <a:pPr algn="ctr"/>
            <a:r>
              <a:rPr lang="en-GB" sz="1600" dirty="0">
                <a:latin typeface="Lucida Sans Unicode" panose="020B0602030504020204" pitchFamily="34" charset="0"/>
              </a:rPr>
              <a:t>Synchronisation      </a:t>
            </a:r>
          </a:p>
        </p:txBody>
      </p:sp>
      <p:sp>
        <p:nvSpPr>
          <p:cNvPr id="46090" name="Text Box 11"/>
          <p:cNvSpPr txBox="1">
            <a:spLocks noChangeArrowheads="1"/>
          </p:cNvSpPr>
          <p:nvPr/>
        </p:nvSpPr>
        <p:spPr bwMode="auto">
          <a:xfrm>
            <a:off x="685800" y="2743200"/>
            <a:ext cx="2128838" cy="346075"/>
          </a:xfrm>
          <a:prstGeom prst="rect">
            <a:avLst/>
          </a:prstGeom>
          <a:solidFill>
            <a:srgbClr val="FFCC66"/>
          </a:solidFill>
          <a:ln w="9525">
            <a:solidFill>
              <a:schemeClr val="tx2"/>
            </a:solidFill>
            <a:miter lim="800000"/>
            <a:headEnd/>
            <a:tailEnd/>
          </a:ln>
        </p:spPr>
        <p:txBody>
          <a:bodyPr wrap="none">
            <a:spAutoFit/>
          </a:bodyPr>
          <a:lstStyle/>
          <a:p>
            <a:pPr algn="ctr"/>
            <a:r>
              <a:rPr lang="en-GB" sz="1600" dirty="0">
                <a:latin typeface="Lucida Sans Unicode" panose="020B0602030504020204" pitchFamily="34" charset="0"/>
              </a:rPr>
              <a:t>Conditional Access </a:t>
            </a:r>
          </a:p>
        </p:txBody>
      </p:sp>
      <p:sp>
        <p:nvSpPr>
          <p:cNvPr id="46091" name="Text Box 12"/>
          <p:cNvSpPr txBox="1">
            <a:spLocks noChangeArrowheads="1"/>
          </p:cNvSpPr>
          <p:nvPr/>
        </p:nvSpPr>
        <p:spPr bwMode="auto">
          <a:xfrm>
            <a:off x="5794009" y="2209800"/>
            <a:ext cx="1848583" cy="584775"/>
          </a:xfrm>
          <a:prstGeom prst="rect">
            <a:avLst/>
          </a:prstGeom>
          <a:solidFill>
            <a:srgbClr val="FFCC66"/>
          </a:solidFill>
          <a:ln w="9525">
            <a:solidFill>
              <a:schemeClr val="tx2"/>
            </a:solidFill>
            <a:miter lim="800000"/>
            <a:headEnd/>
            <a:tailEnd/>
          </a:ln>
        </p:spPr>
        <p:txBody>
          <a:bodyPr wrap="none">
            <a:spAutoFit/>
          </a:bodyPr>
          <a:lstStyle/>
          <a:p>
            <a:pPr algn="ctr"/>
            <a:r>
              <a:rPr lang="en-GB" sz="1600" dirty="0">
                <a:latin typeface="Lucida Sans Unicode" panose="020B0602030504020204" pitchFamily="34" charset="0"/>
              </a:rPr>
              <a:t>Channel Adapter</a:t>
            </a:r>
          </a:p>
          <a:p>
            <a:pPr algn="ctr"/>
            <a:r>
              <a:rPr lang="en-GB" sz="1600" dirty="0">
                <a:latin typeface="Lucida Sans Unicode" panose="020B0602030504020204" pitchFamily="34" charset="0"/>
              </a:rPr>
              <a:t>&amp; Modulation </a:t>
            </a:r>
          </a:p>
        </p:txBody>
      </p:sp>
      <p:sp>
        <p:nvSpPr>
          <p:cNvPr id="46092" name="Line 13"/>
          <p:cNvSpPr>
            <a:spLocks noChangeShapeType="1"/>
          </p:cNvSpPr>
          <p:nvPr/>
        </p:nvSpPr>
        <p:spPr bwMode="auto">
          <a:xfrm>
            <a:off x="2895600" y="1089025"/>
            <a:ext cx="609600" cy="0"/>
          </a:xfrm>
          <a:prstGeom prst="line">
            <a:avLst/>
          </a:prstGeom>
          <a:noFill/>
          <a:ln w="9525">
            <a:solidFill>
              <a:schemeClr val="tx1"/>
            </a:solidFill>
            <a:round/>
            <a:headEnd/>
            <a:tailEnd type="triangle" w="med" len="med"/>
          </a:ln>
        </p:spPr>
        <p:txBody>
          <a:bodyPr wrap="none" anchor="ctr"/>
          <a:lstStyle/>
          <a:p>
            <a:endParaRPr lang="en-GB" sz="1600" dirty="0">
              <a:latin typeface="Lucida Sans Unicode" panose="020B0602030504020204" pitchFamily="34" charset="0"/>
            </a:endParaRPr>
          </a:p>
        </p:txBody>
      </p:sp>
      <p:sp>
        <p:nvSpPr>
          <p:cNvPr id="46093" name="Line 14"/>
          <p:cNvSpPr>
            <a:spLocks noChangeShapeType="1"/>
          </p:cNvSpPr>
          <p:nvPr/>
        </p:nvSpPr>
        <p:spPr bwMode="auto">
          <a:xfrm>
            <a:off x="2938463" y="1241425"/>
            <a:ext cx="566737" cy="0"/>
          </a:xfrm>
          <a:prstGeom prst="line">
            <a:avLst/>
          </a:prstGeom>
          <a:noFill/>
          <a:ln w="9525">
            <a:solidFill>
              <a:schemeClr val="tx1"/>
            </a:solidFill>
            <a:round/>
            <a:headEnd/>
            <a:tailEnd type="triangle" w="med" len="med"/>
          </a:ln>
        </p:spPr>
        <p:txBody>
          <a:bodyPr wrap="none" anchor="ctr"/>
          <a:lstStyle/>
          <a:p>
            <a:endParaRPr lang="en-GB" sz="1600" dirty="0">
              <a:latin typeface="Lucida Sans Unicode" panose="020B0602030504020204" pitchFamily="34" charset="0"/>
            </a:endParaRPr>
          </a:p>
        </p:txBody>
      </p:sp>
      <p:sp>
        <p:nvSpPr>
          <p:cNvPr id="46094" name="Line 15"/>
          <p:cNvSpPr>
            <a:spLocks noChangeShapeType="1"/>
          </p:cNvSpPr>
          <p:nvPr/>
        </p:nvSpPr>
        <p:spPr bwMode="auto">
          <a:xfrm flipV="1">
            <a:off x="3144740" y="1393823"/>
            <a:ext cx="360459" cy="1631"/>
          </a:xfrm>
          <a:prstGeom prst="line">
            <a:avLst/>
          </a:prstGeom>
          <a:noFill/>
          <a:ln w="9525">
            <a:solidFill>
              <a:schemeClr val="tx1"/>
            </a:solidFill>
            <a:round/>
            <a:headEnd/>
            <a:tailEnd type="triangle" w="med" len="med"/>
          </a:ln>
        </p:spPr>
        <p:txBody>
          <a:bodyPr wrap="none" anchor="ctr"/>
          <a:lstStyle/>
          <a:p>
            <a:endParaRPr lang="en-GB" sz="1600" dirty="0">
              <a:latin typeface="Lucida Sans Unicode" panose="020B0602030504020204" pitchFamily="34" charset="0"/>
            </a:endParaRPr>
          </a:p>
        </p:txBody>
      </p:sp>
      <p:sp>
        <p:nvSpPr>
          <p:cNvPr id="46095" name="Line 16"/>
          <p:cNvSpPr>
            <a:spLocks noChangeShapeType="1"/>
          </p:cNvSpPr>
          <p:nvPr/>
        </p:nvSpPr>
        <p:spPr bwMode="auto">
          <a:xfrm flipV="1">
            <a:off x="3152692" y="1546223"/>
            <a:ext cx="352508" cy="306"/>
          </a:xfrm>
          <a:prstGeom prst="line">
            <a:avLst/>
          </a:prstGeom>
          <a:noFill/>
          <a:ln w="9525">
            <a:solidFill>
              <a:schemeClr val="tx1"/>
            </a:solidFill>
            <a:round/>
            <a:headEnd/>
            <a:tailEnd type="triangle" w="med" len="med"/>
          </a:ln>
        </p:spPr>
        <p:txBody>
          <a:bodyPr wrap="none" anchor="ctr"/>
          <a:lstStyle/>
          <a:p>
            <a:endParaRPr lang="en-GB" sz="1600" dirty="0">
              <a:latin typeface="Lucida Sans Unicode" panose="020B0602030504020204" pitchFamily="34" charset="0"/>
            </a:endParaRPr>
          </a:p>
        </p:txBody>
      </p:sp>
      <p:sp>
        <p:nvSpPr>
          <p:cNvPr id="46096" name="Line 17"/>
          <p:cNvSpPr>
            <a:spLocks noChangeShapeType="1"/>
          </p:cNvSpPr>
          <p:nvPr/>
        </p:nvSpPr>
        <p:spPr bwMode="auto">
          <a:xfrm>
            <a:off x="2971800" y="1981200"/>
            <a:ext cx="566738" cy="0"/>
          </a:xfrm>
          <a:prstGeom prst="line">
            <a:avLst/>
          </a:prstGeom>
          <a:noFill/>
          <a:ln w="9525">
            <a:solidFill>
              <a:schemeClr val="tx1"/>
            </a:solidFill>
            <a:round/>
            <a:headEnd/>
            <a:tailEnd type="triangle" w="med" len="med"/>
          </a:ln>
        </p:spPr>
        <p:txBody>
          <a:bodyPr wrap="none" anchor="ctr"/>
          <a:lstStyle/>
          <a:p>
            <a:endParaRPr lang="en-GB" sz="1600" dirty="0">
              <a:latin typeface="Lucida Sans Unicode" panose="020B0602030504020204" pitchFamily="34" charset="0"/>
            </a:endParaRPr>
          </a:p>
        </p:txBody>
      </p:sp>
      <p:sp>
        <p:nvSpPr>
          <p:cNvPr id="46097" name="Line 18"/>
          <p:cNvSpPr>
            <a:spLocks noChangeShapeType="1"/>
          </p:cNvSpPr>
          <p:nvPr/>
        </p:nvSpPr>
        <p:spPr bwMode="auto">
          <a:xfrm>
            <a:off x="2971800" y="2438400"/>
            <a:ext cx="566738" cy="0"/>
          </a:xfrm>
          <a:prstGeom prst="line">
            <a:avLst/>
          </a:prstGeom>
          <a:noFill/>
          <a:ln w="9525">
            <a:solidFill>
              <a:schemeClr val="tx1"/>
            </a:solidFill>
            <a:round/>
            <a:headEnd/>
            <a:tailEnd type="triangle" w="med" len="med"/>
          </a:ln>
        </p:spPr>
        <p:txBody>
          <a:bodyPr wrap="none" anchor="ctr"/>
          <a:lstStyle/>
          <a:p>
            <a:endParaRPr lang="en-GB" sz="1600" dirty="0">
              <a:latin typeface="Lucida Sans Unicode" panose="020B0602030504020204" pitchFamily="34" charset="0"/>
            </a:endParaRPr>
          </a:p>
        </p:txBody>
      </p:sp>
      <p:sp>
        <p:nvSpPr>
          <p:cNvPr id="46098" name="Line 19"/>
          <p:cNvSpPr>
            <a:spLocks noChangeShapeType="1"/>
          </p:cNvSpPr>
          <p:nvPr/>
        </p:nvSpPr>
        <p:spPr bwMode="auto">
          <a:xfrm>
            <a:off x="2971800" y="2895600"/>
            <a:ext cx="566738" cy="0"/>
          </a:xfrm>
          <a:prstGeom prst="line">
            <a:avLst/>
          </a:prstGeom>
          <a:noFill/>
          <a:ln w="9525">
            <a:solidFill>
              <a:schemeClr val="tx1"/>
            </a:solidFill>
            <a:round/>
            <a:headEnd/>
            <a:tailEnd type="triangle" w="med" len="med"/>
          </a:ln>
        </p:spPr>
        <p:txBody>
          <a:bodyPr wrap="none" anchor="ctr"/>
          <a:lstStyle/>
          <a:p>
            <a:endParaRPr lang="en-GB" sz="1600" dirty="0">
              <a:latin typeface="Lucida Sans Unicode" panose="020B0602030504020204" pitchFamily="34" charset="0"/>
            </a:endParaRPr>
          </a:p>
        </p:txBody>
      </p:sp>
      <p:sp>
        <p:nvSpPr>
          <p:cNvPr id="46099" name="Line 20"/>
          <p:cNvSpPr>
            <a:spLocks noChangeShapeType="1"/>
          </p:cNvSpPr>
          <p:nvPr/>
        </p:nvSpPr>
        <p:spPr bwMode="auto">
          <a:xfrm>
            <a:off x="5029200" y="2514600"/>
            <a:ext cx="762000" cy="0"/>
          </a:xfrm>
          <a:prstGeom prst="line">
            <a:avLst/>
          </a:prstGeom>
          <a:noFill/>
          <a:ln w="9525">
            <a:solidFill>
              <a:schemeClr val="tx1"/>
            </a:solidFill>
            <a:round/>
            <a:headEnd/>
            <a:tailEnd type="triangle" w="med" len="med"/>
          </a:ln>
        </p:spPr>
        <p:txBody>
          <a:bodyPr wrap="none" anchor="ctr"/>
          <a:lstStyle/>
          <a:p>
            <a:endParaRPr lang="en-GB" dirty="0">
              <a:latin typeface="Lucida Sans Unicode" panose="020B0602030504020204" pitchFamily="34" charset="0"/>
            </a:endParaRPr>
          </a:p>
        </p:txBody>
      </p:sp>
      <p:sp>
        <p:nvSpPr>
          <p:cNvPr id="46100" name="Rectangle 21"/>
          <p:cNvSpPr>
            <a:spLocks noChangeArrowheads="1"/>
          </p:cNvSpPr>
          <p:nvPr/>
        </p:nvSpPr>
        <p:spPr bwMode="auto">
          <a:xfrm>
            <a:off x="5486400" y="3429000"/>
            <a:ext cx="3352800" cy="2954655"/>
          </a:xfrm>
          <a:prstGeom prst="rect">
            <a:avLst/>
          </a:prstGeom>
          <a:noFill/>
          <a:ln w="9525">
            <a:noFill/>
            <a:miter lim="800000"/>
            <a:headEnd/>
            <a:tailEnd/>
          </a:ln>
        </p:spPr>
        <p:txBody>
          <a:bodyPr>
            <a:spAutoFit/>
          </a:bodyPr>
          <a:lstStyle/>
          <a:p>
            <a:r>
              <a:rPr lang="en-GB" sz="1400" b="1" dirty="0">
                <a:latin typeface="Lucida Sans Unicode" panose="020B0602030504020204" pitchFamily="34" charset="0"/>
              </a:rPr>
              <a:t>Data rate </a:t>
            </a:r>
            <a:endParaRPr lang="en-GB" sz="1400" dirty="0">
              <a:latin typeface="Lucida Sans Unicode" panose="020B0602030504020204" pitchFamily="34" charset="0"/>
            </a:endParaRPr>
          </a:p>
          <a:p>
            <a:r>
              <a:rPr lang="en-GB" sz="1400" dirty="0">
                <a:latin typeface="Lucida Sans Unicode" panose="020B0602030504020204" pitchFamily="34" charset="0"/>
              </a:rPr>
              <a:t>No constraints, but must at least equal the total of the combined data rates of the contributing elementary streams</a:t>
            </a:r>
          </a:p>
          <a:p>
            <a:r>
              <a:rPr lang="en-GB" sz="1400" dirty="0">
                <a:latin typeface="Lucida Sans Unicode" panose="020B0602030504020204" pitchFamily="34" charset="0"/>
              </a:rPr>
              <a:t>Fixed or variable data rate; may contain fixed or variable data rate elementary streams</a:t>
            </a:r>
            <a:r>
              <a:rPr lang="en-GB" sz="1400" b="1" dirty="0">
                <a:latin typeface="Lucida Sans Unicode" panose="020B0602030504020204" pitchFamily="34" charset="0"/>
              </a:rPr>
              <a:t> </a:t>
            </a:r>
          </a:p>
          <a:p>
            <a:endParaRPr lang="en-GB" sz="1400" b="1" dirty="0">
              <a:latin typeface="Lucida Sans Unicode" panose="020B0602030504020204" pitchFamily="34" charset="0"/>
            </a:endParaRPr>
          </a:p>
          <a:p>
            <a:r>
              <a:rPr lang="en-GB" sz="1400" b="1" dirty="0">
                <a:latin typeface="Lucida Sans Unicode" panose="020B0602030504020204" pitchFamily="34" charset="0"/>
              </a:rPr>
              <a:t>Not specified:</a:t>
            </a:r>
            <a:endParaRPr lang="en-GB" sz="1400" dirty="0">
              <a:latin typeface="Lucida Sans Unicode" panose="020B0602030504020204" pitchFamily="34" charset="0"/>
            </a:endParaRPr>
          </a:p>
          <a:p>
            <a:r>
              <a:rPr lang="en-GB" sz="1400" dirty="0">
                <a:latin typeface="Lucida Sans Unicode" panose="020B0602030504020204" pitchFamily="34" charset="0"/>
              </a:rPr>
              <a:t>error protection, modulation technique, physical layer technologies</a:t>
            </a:r>
            <a:r>
              <a:rPr lang="en-GB" dirty="0">
                <a:latin typeface="Lucida Sans Unicode" panose="020B0602030504020204" pitchFamily="34" charset="0"/>
              </a:rPr>
              <a:t> </a:t>
            </a:r>
          </a:p>
        </p:txBody>
      </p:sp>
      <p:sp>
        <p:nvSpPr>
          <p:cNvPr id="46101" name="Rectangle 22"/>
          <p:cNvSpPr>
            <a:spLocks noChangeArrowheads="1"/>
          </p:cNvSpPr>
          <p:nvPr/>
        </p:nvSpPr>
        <p:spPr bwMode="auto">
          <a:xfrm>
            <a:off x="5410200" y="914400"/>
            <a:ext cx="3505200" cy="954107"/>
          </a:xfrm>
          <a:prstGeom prst="rect">
            <a:avLst/>
          </a:prstGeom>
          <a:noFill/>
          <a:ln w="9525">
            <a:noFill/>
            <a:miter lim="800000"/>
            <a:headEnd/>
            <a:tailEnd/>
          </a:ln>
        </p:spPr>
        <p:txBody>
          <a:bodyPr>
            <a:spAutoFit/>
          </a:bodyPr>
          <a:lstStyle/>
          <a:p>
            <a:r>
              <a:rPr lang="en-GB" sz="1400" dirty="0">
                <a:latin typeface="Lucida Sans Unicode" panose="020B0602030504020204" pitchFamily="34" charset="0"/>
              </a:rPr>
              <a:t>Output - a contiguous stream of 8-bit-wide data bytes </a:t>
            </a:r>
          </a:p>
          <a:p>
            <a:r>
              <a:rPr lang="en-GB" sz="1400" dirty="0">
                <a:latin typeface="Lucida Sans Unicode" panose="020B0602030504020204" pitchFamily="34" charset="0"/>
              </a:rPr>
              <a:t>e.g. a Freeview Multiplex of ~ 6 TV channels and some radio channels</a:t>
            </a:r>
            <a:endParaRPr lang="en-GB" dirty="0">
              <a:latin typeface="Lucida Sans Unicode" panose="020B0602030504020204" pitchFamily="34" charset="0"/>
            </a:endParaRPr>
          </a:p>
        </p:txBody>
      </p:sp>
      <p:sp>
        <p:nvSpPr>
          <p:cNvPr id="46102" name="Line 23"/>
          <p:cNvSpPr>
            <a:spLocks noChangeShapeType="1"/>
          </p:cNvSpPr>
          <p:nvPr/>
        </p:nvSpPr>
        <p:spPr bwMode="auto">
          <a:xfrm>
            <a:off x="7696200" y="2514600"/>
            <a:ext cx="762000" cy="0"/>
          </a:xfrm>
          <a:prstGeom prst="line">
            <a:avLst/>
          </a:prstGeom>
          <a:noFill/>
          <a:ln w="9525">
            <a:solidFill>
              <a:schemeClr val="tx1"/>
            </a:solidFill>
            <a:round/>
            <a:headEnd/>
            <a:tailEnd type="triangle" w="med" len="med"/>
          </a:ln>
        </p:spPr>
        <p:txBody>
          <a:bodyPr wrap="none" anchor="ctr"/>
          <a:lstStyle/>
          <a:p>
            <a:endParaRPr lang="en-GB" dirty="0">
              <a:latin typeface="Lucida Sans Unicode" panose="020B0602030504020204" pitchFamily="34" charset="0"/>
            </a:endParaRPr>
          </a:p>
        </p:txBody>
      </p:sp>
      <p:sp>
        <p:nvSpPr>
          <p:cNvPr id="46103" name="Text Box 24"/>
          <p:cNvSpPr txBox="1">
            <a:spLocks noChangeArrowheads="1"/>
          </p:cNvSpPr>
          <p:nvPr/>
        </p:nvSpPr>
        <p:spPr bwMode="auto">
          <a:xfrm>
            <a:off x="685800" y="3200400"/>
            <a:ext cx="2154238" cy="346075"/>
          </a:xfrm>
          <a:prstGeom prst="rect">
            <a:avLst/>
          </a:prstGeom>
          <a:solidFill>
            <a:srgbClr val="FFCC66"/>
          </a:solidFill>
          <a:ln w="9525">
            <a:solidFill>
              <a:schemeClr val="tx2"/>
            </a:solidFill>
            <a:miter lim="800000"/>
            <a:headEnd/>
            <a:tailEnd/>
          </a:ln>
        </p:spPr>
        <p:txBody>
          <a:bodyPr wrap="none">
            <a:spAutoFit/>
          </a:bodyPr>
          <a:lstStyle/>
          <a:p>
            <a:pPr algn="ctr"/>
            <a:r>
              <a:rPr lang="en-GB" sz="1600" dirty="0">
                <a:latin typeface="Lucida Sans Unicode" panose="020B0602030504020204" pitchFamily="34" charset="0"/>
              </a:rPr>
              <a:t>Private Data            </a:t>
            </a:r>
          </a:p>
        </p:txBody>
      </p:sp>
      <p:sp>
        <p:nvSpPr>
          <p:cNvPr id="46104" name="Line 25"/>
          <p:cNvSpPr>
            <a:spLocks noChangeShapeType="1"/>
          </p:cNvSpPr>
          <p:nvPr/>
        </p:nvSpPr>
        <p:spPr bwMode="auto">
          <a:xfrm>
            <a:off x="2971800" y="3352800"/>
            <a:ext cx="566738" cy="0"/>
          </a:xfrm>
          <a:prstGeom prst="line">
            <a:avLst/>
          </a:prstGeom>
          <a:noFill/>
          <a:ln w="9525">
            <a:solidFill>
              <a:schemeClr val="tx1"/>
            </a:solidFill>
            <a:round/>
            <a:headEnd/>
            <a:tailEnd type="triangle" w="med" len="med"/>
          </a:ln>
        </p:spPr>
        <p:txBody>
          <a:bodyPr wrap="none" anchor="ctr"/>
          <a:lstStyle/>
          <a:p>
            <a:endParaRPr lang="en-GB" sz="1600" dirty="0">
              <a:latin typeface="Lucida Sans Unicode" panose="020B0602030504020204" pitchFamily="34" charset="0"/>
            </a:endParaRPr>
          </a:p>
        </p:txBody>
      </p:sp>
      <p:sp>
        <p:nvSpPr>
          <p:cNvPr id="46105" name="Rectangle 26"/>
          <p:cNvSpPr>
            <a:spLocks noChangeArrowheads="1"/>
          </p:cNvSpPr>
          <p:nvPr/>
        </p:nvSpPr>
        <p:spPr bwMode="auto">
          <a:xfrm>
            <a:off x="381000" y="338665"/>
            <a:ext cx="4237038" cy="457200"/>
          </a:xfrm>
          <a:prstGeom prst="rect">
            <a:avLst/>
          </a:prstGeom>
          <a:noFill/>
          <a:ln w="9525">
            <a:noFill/>
            <a:miter lim="800000"/>
            <a:headEnd/>
            <a:tailEnd/>
          </a:ln>
        </p:spPr>
        <p:txBody>
          <a:bodyPr wrap="none">
            <a:spAutoFit/>
          </a:bodyPr>
          <a:lstStyle/>
          <a:p>
            <a:r>
              <a:rPr lang="en-GB" sz="2400" b="1" dirty="0">
                <a:latin typeface="Lucida Sans Unicode" panose="020B0602030504020204" pitchFamily="34" charset="0"/>
              </a:rPr>
              <a:t>Transport Stream Multiplex</a:t>
            </a:r>
          </a:p>
        </p:txBody>
      </p:sp>
    </p:spTree>
    <p:extLst>
      <p:ext uri="{BB962C8B-B14F-4D97-AF65-F5344CB8AC3E}">
        <p14:creationId xmlns:p14="http://schemas.microsoft.com/office/powerpoint/2010/main" val="41787841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Rectangle: Rounded Corners 48"/>
          <p:cNvSpPr/>
          <p:nvPr/>
        </p:nvSpPr>
        <p:spPr>
          <a:xfrm>
            <a:off x="334347" y="4406962"/>
            <a:ext cx="1914674" cy="931822"/>
          </a:xfrm>
          <a:prstGeom prst="roundRect">
            <a:avLst/>
          </a:prstGeom>
          <a:solidFill>
            <a:srgbClr val="FDEDE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TextBox 43"/>
          <p:cNvSpPr txBox="1"/>
          <p:nvPr/>
        </p:nvSpPr>
        <p:spPr>
          <a:xfrm>
            <a:off x="356388" y="4409608"/>
            <a:ext cx="1822498" cy="954107"/>
          </a:xfrm>
          <a:prstGeom prst="rect">
            <a:avLst/>
          </a:prstGeom>
          <a:noFill/>
        </p:spPr>
        <p:txBody>
          <a:bodyPr wrap="square" rtlCol="0">
            <a:spAutoFit/>
          </a:bodyPr>
          <a:lstStyle/>
          <a:p>
            <a:r>
              <a:rPr lang="en-GB" sz="1400" b="1" dirty="0">
                <a:latin typeface="Lucida Sans Unicode" pitchFamily="34" charset="0"/>
                <a:cs typeface="Lucida Sans Unicode" pitchFamily="34" charset="0"/>
              </a:rPr>
              <a:t>Video Presentation Units: </a:t>
            </a:r>
            <a:r>
              <a:rPr lang="en-GB" sz="1400" dirty="0">
                <a:latin typeface="Lucida Sans Unicode" pitchFamily="34" charset="0"/>
                <a:cs typeface="Lucida Sans Unicode" pitchFamily="34" charset="0"/>
              </a:rPr>
              <a:t>Raw video coding at discrete time intervals</a:t>
            </a:r>
          </a:p>
        </p:txBody>
      </p:sp>
      <p:sp>
        <p:nvSpPr>
          <p:cNvPr id="23" name="Rectangle 22"/>
          <p:cNvSpPr/>
          <p:nvPr/>
        </p:nvSpPr>
        <p:spPr>
          <a:xfrm>
            <a:off x="1219696" y="2502021"/>
            <a:ext cx="111944" cy="546944"/>
          </a:xfrm>
          <a:prstGeom prst="rect">
            <a:avLst/>
          </a:prstGeom>
          <a:gradFill>
            <a:gsLst>
              <a:gs pos="0">
                <a:srgbClr val="E1E1FF"/>
              </a:gs>
              <a:gs pos="57000">
                <a:srgbClr val="604A7B"/>
              </a:gs>
            </a:gsLst>
            <a:lin ang="54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Rectangle: Rounded Corners 21"/>
          <p:cNvSpPr/>
          <p:nvPr/>
        </p:nvSpPr>
        <p:spPr>
          <a:xfrm>
            <a:off x="418951" y="1765022"/>
            <a:ext cx="1914674" cy="741310"/>
          </a:xfrm>
          <a:prstGeom prst="roundRect">
            <a:avLst/>
          </a:prstGeom>
          <a:solidFill>
            <a:srgbClr val="E1E1FF"/>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Oval 39"/>
          <p:cNvSpPr/>
          <p:nvPr/>
        </p:nvSpPr>
        <p:spPr>
          <a:xfrm>
            <a:off x="3208867" y="1411332"/>
            <a:ext cx="5579533" cy="3958648"/>
          </a:xfrm>
          <a:prstGeom prst="ellipse">
            <a:avLst/>
          </a:prstGeom>
          <a:solidFill>
            <a:schemeClr val="accent6">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extBox 1"/>
          <p:cNvSpPr txBox="1"/>
          <p:nvPr/>
        </p:nvSpPr>
        <p:spPr>
          <a:xfrm>
            <a:off x="395288" y="333375"/>
            <a:ext cx="8209160" cy="461665"/>
          </a:xfrm>
          <a:prstGeom prst="rect">
            <a:avLst/>
          </a:prstGeom>
          <a:noFill/>
        </p:spPr>
        <p:txBody>
          <a:bodyPr wrap="square" rtlCol="0">
            <a:spAutoFit/>
          </a:bodyPr>
          <a:lstStyle/>
          <a:p>
            <a:r>
              <a:rPr lang="en-GB" sz="2400" b="1" dirty="0">
                <a:latin typeface="Lucida Sans Unicode" panose="020B0602030504020204" pitchFamily="34" charset="0"/>
              </a:rPr>
              <a:t>MPEG-2 Packets and Multiplexes</a:t>
            </a:r>
          </a:p>
        </p:txBody>
      </p:sp>
      <p:sp>
        <p:nvSpPr>
          <p:cNvPr id="3" name="TextBox 2"/>
          <p:cNvSpPr txBox="1"/>
          <p:nvPr/>
        </p:nvSpPr>
        <p:spPr>
          <a:xfrm>
            <a:off x="5148064" y="741834"/>
            <a:ext cx="3825614" cy="523220"/>
          </a:xfrm>
          <a:prstGeom prst="rect">
            <a:avLst/>
          </a:prstGeom>
          <a:noFill/>
        </p:spPr>
        <p:txBody>
          <a:bodyPr wrap="square" rtlCol="0">
            <a:spAutoFit/>
          </a:bodyPr>
          <a:lstStyle/>
          <a:p>
            <a:pPr algn="ctr"/>
            <a:r>
              <a:rPr lang="en-GB" sz="1400" i="1" dirty="0">
                <a:latin typeface="Lucida Sans Unicode" pitchFamily="34" charset="0"/>
                <a:cs typeface="Lucida Sans Unicode" pitchFamily="34" charset="0"/>
              </a:rPr>
              <a:t>audio and video data can be exchanged between TS and PS at PES level </a:t>
            </a:r>
          </a:p>
        </p:txBody>
      </p:sp>
      <p:sp>
        <p:nvSpPr>
          <p:cNvPr id="7" name="Right Arrow 6"/>
          <p:cNvSpPr/>
          <p:nvPr/>
        </p:nvSpPr>
        <p:spPr>
          <a:xfrm>
            <a:off x="1331640" y="2826013"/>
            <a:ext cx="432048" cy="288032"/>
          </a:xfrm>
          <a:prstGeom prst="rightArrow">
            <a:avLst>
              <a:gd name="adj1" fmla="val 50000"/>
              <a:gd name="adj2" fmla="val 64697"/>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ight Arrow 7"/>
          <p:cNvSpPr/>
          <p:nvPr/>
        </p:nvSpPr>
        <p:spPr>
          <a:xfrm>
            <a:off x="1331640" y="3690109"/>
            <a:ext cx="432048" cy="288032"/>
          </a:xfrm>
          <a:prstGeom prst="rightArrow">
            <a:avLst>
              <a:gd name="adj1" fmla="val 50000"/>
              <a:gd name="adj2" fmla="val 64697"/>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extBox 8"/>
          <p:cNvSpPr txBox="1"/>
          <p:nvPr/>
        </p:nvSpPr>
        <p:spPr>
          <a:xfrm>
            <a:off x="1835697" y="2609989"/>
            <a:ext cx="1152128" cy="584775"/>
          </a:xfrm>
          <a:prstGeom prst="rect">
            <a:avLst/>
          </a:prstGeom>
          <a:solidFill>
            <a:schemeClr val="accent4">
              <a:lumMod val="40000"/>
              <a:lumOff val="60000"/>
            </a:schemeClr>
          </a:solidFill>
          <a:ln>
            <a:solidFill>
              <a:schemeClr val="tx1"/>
            </a:solidFill>
          </a:ln>
          <a:scene3d>
            <a:camera prst="orthographicFront"/>
            <a:lightRig rig="threePt" dir="t"/>
          </a:scene3d>
          <a:sp3d>
            <a:bevelT w="63500" h="63500" prst="coolSlant"/>
          </a:sp3d>
        </p:spPr>
        <p:txBody>
          <a:bodyPr wrap="square" rtlCol="0">
            <a:spAutoFit/>
          </a:bodyPr>
          <a:lstStyle/>
          <a:p>
            <a:pPr algn="ctr"/>
            <a:r>
              <a:rPr lang="en-GB" sz="1600" dirty="0">
                <a:latin typeface="Lucida Sans Unicode" pitchFamily="34" charset="0"/>
                <a:cs typeface="Lucida Sans Unicode" pitchFamily="34" charset="0"/>
              </a:rPr>
              <a:t>Audio </a:t>
            </a:r>
          </a:p>
          <a:p>
            <a:pPr algn="ctr"/>
            <a:r>
              <a:rPr lang="en-GB" sz="1600" dirty="0">
                <a:latin typeface="Lucida Sans Unicode" pitchFamily="34" charset="0"/>
                <a:cs typeface="Lucida Sans Unicode" pitchFamily="34" charset="0"/>
              </a:rPr>
              <a:t>Encoder</a:t>
            </a:r>
          </a:p>
        </p:txBody>
      </p:sp>
      <p:sp>
        <p:nvSpPr>
          <p:cNvPr id="10" name="TextBox 9"/>
          <p:cNvSpPr txBox="1"/>
          <p:nvPr/>
        </p:nvSpPr>
        <p:spPr>
          <a:xfrm>
            <a:off x="1835696" y="3618101"/>
            <a:ext cx="1170223" cy="584775"/>
          </a:xfrm>
          <a:prstGeom prst="rect">
            <a:avLst/>
          </a:prstGeom>
          <a:solidFill>
            <a:schemeClr val="accent6">
              <a:lumMod val="60000"/>
              <a:lumOff val="40000"/>
            </a:schemeClr>
          </a:solidFill>
          <a:ln>
            <a:solidFill>
              <a:schemeClr val="tx1"/>
            </a:solidFill>
          </a:ln>
          <a:scene3d>
            <a:camera prst="orthographicFront"/>
            <a:lightRig rig="threePt" dir="t"/>
          </a:scene3d>
          <a:sp3d>
            <a:bevelT w="63500" h="63500" prst="coolSlant"/>
          </a:sp3d>
        </p:spPr>
        <p:txBody>
          <a:bodyPr wrap="square" rtlCol="0">
            <a:spAutoFit/>
          </a:bodyPr>
          <a:lstStyle/>
          <a:p>
            <a:pPr algn="ctr"/>
            <a:r>
              <a:rPr lang="en-GB" sz="1600" dirty="0">
                <a:latin typeface="Lucida Sans Unicode" pitchFamily="34" charset="0"/>
                <a:cs typeface="Lucida Sans Unicode" pitchFamily="34" charset="0"/>
              </a:rPr>
              <a:t>Video </a:t>
            </a:r>
          </a:p>
          <a:p>
            <a:pPr algn="ctr"/>
            <a:r>
              <a:rPr lang="en-GB" sz="1600" dirty="0">
                <a:latin typeface="Lucida Sans Unicode" pitchFamily="34" charset="0"/>
                <a:cs typeface="Lucida Sans Unicode" pitchFamily="34" charset="0"/>
              </a:rPr>
              <a:t>Encoder</a:t>
            </a:r>
          </a:p>
        </p:txBody>
      </p:sp>
      <p:sp>
        <p:nvSpPr>
          <p:cNvPr id="11" name="Right Arrow 10"/>
          <p:cNvSpPr/>
          <p:nvPr/>
        </p:nvSpPr>
        <p:spPr>
          <a:xfrm>
            <a:off x="3059832" y="2826013"/>
            <a:ext cx="432048" cy="288032"/>
          </a:xfrm>
          <a:prstGeom prst="rightArrow">
            <a:avLst>
              <a:gd name="adj1" fmla="val 50000"/>
              <a:gd name="adj2" fmla="val 64697"/>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ight Arrow 11"/>
          <p:cNvSpPr/>
          <p:nvPr/>
        </p:nvSpPr>
        <p:spPr>
          <a:xfrm>
            <a:off x="3059832" y="3690109"/>
            <a:ext cx="432048" cy="288032"/>
          </a:xfrm>
          <a:prstGeom prst="rightArrow">
            <a:avLst>
              <a:gd name="adj1" fmla="val 50000"/>
              <a:gd name="adj2" fmla="val 64697"/>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Box 12"/>
          <p:cNvSpPr txBox="1"/>
          <p:nvPr/>
        </p:nvSpPr>
        <p:spPr>
          <a:xfrm>
            <a:off x="3563888" y="2754005"/>
            <a:ext cx="1296144" cy="338554"/>
          </a:xfrm>
          <a:prstGeom prst="rect">
            <a:avLst/>
          </a:prstGeom>
          <a:solidFill>
            <a:schemeClr val="accent4">
              <a:lumMod val="40000"/>
              <a:lumOff val="60000"/>
            </a:schemeClr>
          </a:solidFill>
          <a:ln>
            <a:solidFill>
              <a:schemeClr val="tx1"/>
            </a:solidFill>
          </a:ln>
          <a:scene3d>
            <a:camera prst="orthographicFront"/>
            <a:lightRig rig="threePt" dir="t"/>
          </a:scene3d>
          <a:sp3d>
            <a:bevelT w="63500" h="63500" prst="coolSlant"/>
          </a:sp3d>
        </p:spPr>
        <p:txBody>
          <a:bodyPr wrap="square" rtlCol="0">
            <a:spAutoFit/>
          </a:bodyPr>
          <a:lstStyle/>
          <a:p>
            <a:pPr algn="ctr"/>
            <a:r>
              <a:rPr lang="en-GB" sz="1600" dirty="0" err="1">
                <a:latin typeface="Lucida Sans Unicode" pitchFamily="34" charset="0"/>
                <a:cs typeface="Lucida Sans Unicode" pitchFamily="34" charset="0"/>
              </a:rPr>
              <a:t>Packetiser</a:t>
            </a:r>
            <a:endParaRPr lang="en-GB" sz="1600" dirty="0">
              <a:latin typeface="Lucida Sans Unicode" pitchFamily="34" charset="0"/>
              <a:cs typeface="Lucida Sans Unicode" pitchFamily="34" charset="0"/>
            </a:endParaRPr>
          </a:p>
        </p:txBody>
      </p:sp>
      <p:sp>
        <p:nvSpPr>
          <p:cNvPr id="14" name="TextBox 13"/>
          <p:cNvSpPr txBox="1"/>
          <p:nvPr/>
        </p:nvSpPr>
        <p:spPr>
          <a:xfrm>
            <a:off x="3563888" y="3690109"/>
            <a:ext cx="1296144" cy="338554"/>
          </a:xfrm>
          <a:prstGeom prst="rect">
            <a:avLst/>
          </a:prstGeom>
          <a:solidFill>
            <a:schemeClr val="accent6">
              <a:lumMod val="60000"/>
              <a:lumOff val="40000"/>
            </a:schemeClr>
          </a:solidFill>
          <a:ln>
            <a:solidFill>
              <a:schemeClr val="tx1"/>
            </a:solidFill>
          </a:ln>
          <a:scene3d>
            <a:camera prst="orthographicFront"/>
            <a:lightRig rig="threePt" dir="t"/>
          </a:scene3d>
          <a:sp3d>
            <a:bevelT w="63500" h="63500" prst="coolSlant"/>
          </a:sp3d>
        </p:spPr>
        <p:txBody>
          <a:bodyPr wrap="square" rtlCol="0">
            <a:spAutoFit/>
          </a:bodyPr>
          <a:lstStyle/>
          <a:p>
            <a:pPr algn="ctr"/>
            <a:r>
              <a:rPr lang="en-GB" sz="1600" dirty="0" err="1">
                <a:latin typeface="Lucida Sans Unicode" pitchFamily="34" charset="0"/>
                <a:cs typeface="Lucida Sans Unicode" pitchFamily="34" charset="0"/>
              </a:rPr>
              <a:t>Packetiser</a:t>
            </a:r>
            <a:endParaRPr lang="en-GB" sz="1600" dirty="0">
              <a:latin typeface="Lucida Sans Unicode" pitchFamily="34" charset="0"/>
              <a:cs typeface="Lucida Sans Unicode" pitchFamily="34" charset="0"/>
            </a:endParaRPr>
          </a:p>
        </p:txBody>
      </p:sp>
      <p:sp>
        <p:nvSpPr>
          <p:cNvPr id="15" name="TextBox 14"/>
          <p:cNvSpPr txBox="1"/>
          <p:nvPr/>
        </p:nvSpPr>
        <p:spPr>
          <a:xfrm>
            <a:off x="5707040" y="2537981"/>
            <a:ext cx="1440160" cy="584775"/>
          </a:xfrm>
          <a:prstGeom prst="rect">
            <a:avLst/>
          </a:prstGeom>
          <a:solidFill>
            <a:schemeClr val="accent2">
              <a:lumMod val="60000"/>
              <a:lumOff val="40000"/>
            </a:schemeClr>
          </a:solidFill>
          <a:ln>
            <a:solidFill>
              <a:schemeClr val="tx1"/>
            </a:solidFill>
          </a:ln>
          <a:scene3d>
            <a:camera prst="orthographicFront"/>
            <a:lightRig rig="threePt" dir="t"/>
          </a:scene3d>
          <a:sp3d>
            <a:bevelT w="63500" h="63500" prst="coolSlant"/>
          </a:sp3d>
        </p:spPr>
        <p:txBody>
          <a:bodyPr wrap="square" rtlCol="0">
            <a:spAutoFit/>
          </a:bodyPr>
          <a:lstStyle/>
          <a:p>
            <a:pPr algn="ctr"/>
            <a:r>
              <a:rPr lang="en-GB" sz="1600" dirty="0">
                <a:latin typeface="Lucida Sans Unicode" pitchFamily="34" charset="0"/>
                <a:cs typeface="Lucida Sans Unicode" pitchFamily="34" charset="0"/>
              </a:rPr>
              <a:t>TS Multiplexer</a:t>
            </a:r>
          </a:p>
        </p:txBody>
      </p:sp>
      <p:sp>
        <p:nvSpPr>
          <p:cNvPr id="16" name="TextBox 15"/>
          <p:cNvSpPr txBox="1"/>
          <p:nvPr/>
        </p:nvSpPr>
        <p:spPr>
          <a:xfrm>
            <a:off x="5694378" y="3618101"/>
            <a:ext cx="1440160" cy="584775"/>
          </a:xfrm>
          <a:prstGeom prst="rect">
            <a:avLst/>
          </a:prstGeom>
          <a:solidFill>
            <a:schemeClr val="accent3">
              <a:lumMod val="60000"/>
              <a:lumOff val="40000"/>
            </a:schemeClr>
          </a:solidFill>
          <a:ln>
            <a:solidFill>
              <a:schemeClr val="tx1"/>
            </a:solidFill>
          </a:ln>
          <a:scene3d>
            <a:camera prst="orthographicFront"/>
            <a:lightRig rig="threePt" dir="t"/>
          </a:scene3d>
          <a:sp3d>
            <a:bevelT w="63500" h="63500" prst="coolSlant"/>
          </a:sp3d>
        </p:spPr>
        <p:txBody>
          <a:bodyPr wrap="square" rtlCol="0">
            <a:spAutoFit/>
          </a:bodyPr>
          <a:lstStyle/>
          <a:p>
            <a:pPr algn="ctr"/>
            <a:r>
              <a:rPr lang="en-GB" sz="1600" dirty="0">
                <a:latin typeface="Lucida Sans Unicode" pitchFamily="34" charset="0"/>
                <a:cs typeface="Lucida Sans Unicode" pitchFamily="34" charset="0"/>
              </a:rPr>
              <a:t>PS Multiplexer</a:t>
            </a:r>
          </a:p>
        </p:txBody>
      </p:sp>
      <p:sp>
        <p:nvSpPr>
          <p:cNvPr id="21" name="Right Arrow 20"/>
          <p:cNvSpPr/>
          <p:nvPr/>
        </p:nvSpPr>
        <p:spPr>
          <a:xfrm>
            <a:off x="4932040" y="2826013"/>
            <a:ext cx="432048" cy="196071"/>
          </a:xfrm>
          <a:prstGeom prst="rightArrow">
            <a:avLst>
              <a:gd name="adj1" fmla="val 26080"/>
              <a:gd name="adj2" fmla="val 92552"/>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Right Arrow 23"/>
          <p:cNvSpPr/>
          <p:nvPr/>
        </p:nvSpPr>
        <p:spPr>
          <a:xfrm>
            <a:off x="4932040" y="3762117"/>
            <a:ext cx="432048" cy="196071"/>
          </a:xfrm>
          <a:prstGeom prst="rightArrow">
            <a:avLst>
              <a:gd name="adj1" fmla="val 26080"/>
              <a:gd name="adj2" fmla="val 92552"/>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TextBox 24"/>
          <p:cNvSpPr txBox="1"/>
          <p:nvPr/>
        </p:nvSpPr>
        <p:spPr>
          <a:xfrm>
            <a:off x="7291293" y="2533787"/>
            <a:ext cx="1547664" cy="738664"/>
          </a:xfrm>
          <a:prstGeom prst="rect">
            <a:avLst/>
          </a:prstGeom>
          <a:noFill/>
        </p:spPr>
        <p:txBody>
          <a:bodyPr wrap="square" rtlCol="0">
            <a:spAutoFit/>
          </a:bodyPr>
          <a:lstStyle/>
          <a:p>
            <a:pPr algn="ctr"/>
            <a:r>
              <a:rPr lang="en-GB" sz="1400" dirty="0">
                <a:latin typeface="Lucida Sans Unicode" pitchFamily="34" charset="0"/>
                <a:cs typeface="Lucida Sans Unicode" pitchFamily="34" charset="0"/>
              </a:rPr>
              <a:t>Transport Stream </a:t>
            </a:r>
          </a:p>
          <a:p>
            <a:pPr algn="ctr"/>
            <a:r>
              <a:rPr lang="en-GB" sz="1400" dirty="0">
                <a:latin typeface="Lucida Sans Unicode" pitchFamily="34" charset="0"/>
                <a:cs typeface="Lucida Sans Unicode" pitchFamily="34" charset="0"/>
              </a:rPr>
              <a:t>(TS)</a:t>
            </a:r>
          </a:p>
        </p:txBody>
      </p:sp>
      <p:sp>
        <p:nvSpPr>
          <p:cNvPr id="26" name="Right Arrow 25"/>
          <p:cNvSpPr/>
          <p:nvPr/>
        </p:nvSpPr>
        <p:spPr>
          <a:xfrm>
            <a:off x="7219208" y="2681997"/>
            <a:ext cx="432048" cy="288032"/>
          </a:xfrm>
          <a:prstGeom prst="rightArrow">
            <a:avLst>
              <a:gd name="adj1" fmla="val 50000"/>
              <a:gd name="adj2" fmla="val 64697"/>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TextBox 26"/>
          <p:cNvSpPr txBox="1"/>
          <p:nvPr/>
        </p:nvSpPr>
        <p:spPr>
          <a:xfrm>
            <a:off x="7291293" y="3592700"/>
            <a:ext cx="1547664" cy="738664"/>
          </a:xfrm>
          <a:prstGeom prst="rect">
            <a:avLst/>
          </a:prstGeom>
          <a:noFill/>
        </p:spPr>
        <p:txBody>
          <a:bodyPr wrap="square" rtlCol="0">
            <a:spAutoFit/>
          </a:bodyPr>
          <a:lstStyle/>
          <a:p>
            <a:pPr algn="ctr"/>
            <a:r>
              <a:rPr lang="en-GB" sz="1400" dirty="0">
                <a:latin typeface="Lucida Sans Unicode" pitchFamily="34" charset="0"/>
                <a:cs typeface="Lucida Sans Unicode" pitchFamily="34" charset="0"/>
              </a:rPr>
              <a:t>Program Stream </a:t>
            </a:r>
          </a:p>
          <a:p>
            <a:pPr algn="ctr"/>
            <a:r>
              <a:rPr lang="en-GB" sz="1400" dirty="0">
                <a:latin typeface="Lucida Sans Unicode" pitchFamily="34" charset="0"/>
                <a:cs typeface="Lucida Sans Unicode" pitchFamily="34" charset="0"/>
              </a:rPr>
              <a:t>(PS)</a:t>
            </a:r>
          </a:p>
        </p:txBody>
      </p:sp>
      <p:sp>
        <p:nvSpPr>
          <p:cNvPr id="28" name="Right Arrow 27"/>
          <p:cNvSpPr/>
          <p:nvPr/>
        </p:nvSpPr>
        <p:spPr>
          <a:xfrm>
            <a:off x="7206546" y="3762117"/>
            <a:ext cx="432048" cy="288032"/>
          </a:xfrm>
          <a:prstGeom prst="rightArrow">
            <a:avLst>
              <a:gd name="adj1" fmla="val 50000"/>
              <a:gd name="adj2" fmla="val 64697"/>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TextBox 28"/>
          <p:cNvSpPr txBox="1"/>
          <p:nvPr/>
        </p:nvSpPr>
        <p:spPr>
          <a:xfrm>
            <a:off x="2734507" y="1202928"/>
            <a:ext cx="1331333" cy="1169551"/>
          </a:xfrm>
          <a:prstGeom prst="rect">
            <a:avLst/>
          </a:prstGeom>
          <a:noFill/>
        </p:spPr>
        <p:txBody>
          <a:bodyPr wrap="square" rtlCol="0">
            <a:spAutoFit/>
          </a:bodyPr>
          <a:lstStyle/>
          <a:p>
            <a:pPr algn="ctr"/>
            <a:r>
              <a:rPr lang="en-GB" sz="1400" i="1" dirty="0">
                <a:latin typeface="Lucida Sans Unicode" pitchFamily="34" charset="0"/>
                <a:cs typeface="Lucida Sans Unicode" pitchFamily="34" charset="0"/>
              </a:rPr>
              <a:t>Access Units (AU)</a:t>
            </a:r>
          </a:p>
          <a:p>
            <a:pPr algn="ctr"/>
            <a:r>
              <a:rPr lang="en-GB" sz="1400" i="1" dirty="0">
                <a:latin typeface="Lucida Sans Unicode" pitchFamily="34" charset="0"/>
                <a:cs typeface="Lucida Sans Unicode" pitchFamily="34" charset="0"/>
              </a:rPr>
              <a:t>Audio Elementary Stream</a:t>
            </a:r>
          </a:p>
        </p:txBody>
      </p:sp>
      <p:sp>
        <p:nvSpPr>
          <p:cNvPr id="30" name="TextBox 29"/>
          <p:cNvSpPr txBox="1"/>
          <p:nvPr/>
        </p:nvSpPr>
        <p:spPr>
          <a:xfrm>
            <a:off x="2682942" y="4959120"/>
            <a:ext cx="1332873" cy="1169551"/>
          </a:xfrm>
          <a:prstGeom prst="rect">
            <a:avLst/>
          </a:prstGeom>
          <a:noFill/>
        </p:spPr>
        <p:txBody>
          <a:bodyPr wrap="square" rtlCol="0">
            <a:spAutoFit/>
          </a:bodyPr>
          <a:lstStyle/>
          <a:p>
            <a:pPr algn="ctr"/>
            <a:r>
              <a:rPr lang="en-GB" sz="1400" i="1" dirty="0">
                <a:latin typeface="Lucida Sans Unicode" pitchFamily="34" charset="0"/>
                <a:cs typeface="Lucida Sans Unicode" pitchFamily="34" charset="0"/>
              </a:rPr>
              <a:t>Access Units (AU)</a:t>
            </a:r>
          </a:p>
          <a:p>
            <a:pPr algn="ctr"/>
            <a:r>
              <a:rPr lang="en-GB" sz="1400" i="1" dirty="0">
                <a:latin typeface="Lucida Sans Unicode" pitchFamily="34" charset="0"/>
                <a:cs typeface="Lucida Sans Unicode" pitchFamily="34" charset="0"/>
              </a:rPr>
              <a:t>Video Elementary Stream</a:t>
            </a:r>
          </a:p>
        </p:txBody>
      </p:sp>
      <p:cxnSp>
        <p:nvCxnSpPr>
          <p:cNvPr id="32" name="Straight Arrow Connector 31"/>
          <p:cNvCxnSpPr>
            <a:cxnSpLocks/>
            <a:stCxn id="29" idx="2"/>
          </p:cNvCxnSpPr>
          <p:nvPr/>
        </p:nvCxnSpPr>
        <p:spPr>
          <a:xfrm flipH="1">
            <a:off x="3189898" y="2372479"/>
            <a:ext cx="210276" cy="45353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cxnSpLocks/>
            <a:stCxn id="30" idx="0"/>
          </p:cNvCxnSpPr>
          <p:nvPr/>
        </p:nvCxnSpPr>
        <p:spPr>
          <a:xfrm flipH="1" flipV="1">
            <a:off x="3170360" y="3995564"/>
            <a:ext cx="179019" cy="96355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a:xfrm>
            <a:off x="4139952" y="2033925"/>
            <a:ext cx="1043876" cy="307777"/>
          </a:xfrm>
          <a:prstGeom prst="rect">
            <a:avLst/>
          </a:prstGeom>
          <a:noFill/>
        </p:spPr>
        <p:txBody>
          <a:bodyPr wrap="none" rtlCol="0">
            <a:spAutoFit/>
          </a:bodyPr>
          <a:lstStyle/>
          <a:p>
            <a:r>
              <a:rPr lang="en-GB" sz="1400" i="1" dirty="0">
                <a:latin typeface="Lucida Sans Unicode" pitchFamily="34" charset="0"/>
                <a:cs typeface="Lucida Sans Unicode" pitchFamily="34" charset="0"/>
              </a:rPr>
              <a:t>Audio PES</a:t>
            </a:r>
          </a:p>
        </p:txBody>
      </p:sp>
      <p:sp>
        <p:nvSpPr>
          <p:cNvPr id="37" name="TextBox 36"/>
          <p:cNvSpPr txBox="1"/>
          <p:nvPr/>
        </p:nvSpPr>
        <p:spPr>
          <a:xfrm>
            <a:off x="4211960" y="4626213"/>
            <a:ext cx="1024639" cy="307777"/>
          </a:xfrm>
          <a:prstGeom prst="rect">
            <a:avLst/>
          </a:prstGeom>
          <a:noFill/>
        </p:spPr>
        <p:txBody>
          <a:bodyPr wrap="none" rtlCol="0">
            <a:spAutoFit/>
          </a:bodyPr>
          <a:lstStyle/>
          <a:p>
            <a:r>
              <a:rPr lang="en-GB" sz="1400" i="1" dirty="0">
                <a:latin typeface="Lucida Sans Unicode" pitchFamily="34" charset="0"/>
                <a:cs typeface="Lucida Sans Unicode" pitchFamily="34" charset="0"/>
              </a:rPr>
              <a:t>Video PES</a:t>
            </a:r>
          </a:p>
        </p:txBody>
      </p:sp>
      <p:cxnSp>
        <p:nvCxnSpPr>
          <p:cNvPr id="38" name="Straight Arrow Connector 37"/>
          <p:cNvCxnSpPr>
            <a:cxnSpLocks/>
          </p:cNvCxnSpPr>
          <p:nvPr/>
        </p:nvCxnSpPr>
        <p:spPr>
          <a:xfrm flipV="1">
            <a:off x="4788024" y="3978141"/>
            <a:ext cx="360040" cy="57606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a:cxnSpLocks/>
          </p:cNvCxnSpPr>
          <p:nvPr/>
        </p:nvCxnSpPr>
        <p:spPr>
          <a:xfrm>
            <a:off x="4860032" y="2321957"/>
            <a:ext cx="288032" cy="50405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1" name="TextBox 40"/>
          <p:cNvSpPr txBox="1"/>
          <p:nvPr/>
        </p:nvSpPr>
        <p:spPr>
          <a:xfrm>
            <a:off x="5698907" y="4565099"/>
            <a:ext cx="2160240" cy="523220"/>
          </a:xfrm>
          <a:prstGeom prst="rect">
            <a:avLst/>
          </a:prstGeom>
          <a:noFill/>
        </p:spPr>
        <p:txBody>
          <a:bodyPr wrap="square" rtlCol="0">
            <a:spAutoFit/>
          </a:bodyPr>
          <a:lstStyle/>
          <a:p>
            <a:pPr algn="ctr"/>
            <a:r>
              <a:rPr lang="en-GB" sz="1400" i="1" dirty="0">
                <a:solidFill>
                  <a:schemeClr val="accent6">
                    <a:lumMod val="50000"/>
                  </a:schemeClr>
                </a:solidFill>
                <a:latin typeface="Lucida Sans Unicode" pitchFamily="34" charset="0"/>
                <a:cs typeface="Lucida Sans Unicode" pitchFamily="34" charset="0"/>
              </a:rPr>
              <a:t>Scope of MPEG-2 Systems Standard</a:t>
            </a:r>
          </a:p>
        </p:txBody>
      </p:sp>
      <p:sp>
        <p:nvSpPr>
          <p:cNvPr id="45" name="TextBox 44"/>
          <p:cNvSpPr txBox="1"/>
          <p:nvPr/>
        </p:nvSpPr>
        <p:spPr>
          <a:xfrm>
            <a:off x="3635896" y="3207539"/>
            <a:ext cx="864096" cy="338554"/>
          </a:xfrm>
          <a:prstGeom prst="rect">
            <a:avLst/>
          </a:prstGeom>
          <a:solidFill>
            <a:schemeClr val="bg1">
              <a:lumMod val="65000"/>
            </a:schemeClr>
          </a:solidFill>
          <a:ln>
            <a:solidFill>
              <a:schemeClr val="tx1"/>
            </a:solidFill>
          </a:ln>
          <a:scene3d>
            <a:camera prst="orthographicFront"/>
            <a:lightRig rig="threePt" dir="t"/>
          </a:scene3d>
          <a:sp3d>
            <a:bevelT w="63500" h="63500" prst="coolSlant"/>
          </a:sp3d>
        </p:spPr>
        <p:txBody>
          <a:bodyPr wrap="square" rtlCol="0">
            <a:spAutoFit/>
          </a:bodyPr>
          <a:lstStyle/>
          <a:p>
            <a:pPr algn="ctr"/>
            <a:r>
              <a:rPr lang="en-GB" sz="1600" dirty="0">
                <a:latin typeface="Lucida Sans Unicode" pitchFamily="34" charset="0"/>
                <a:cs typeface="Lucida Sans Unicode" pitchFamily="34" charset="0"/>
              </a:rPr>
              <a:t>Clock</a:t>
            </a:r>
          </a:p>
        </p:txBody>
      </p:sp>
      <p:cxnSp>
        <p:nvCxnSpPr>
          <p:cNvPr id="51" name="Straight Arrow Connector 50"/>
          <p:cNvCxnSpPr/>
          <p:nvPr/>
        </p:nvCxnSpPr>
        <p:spPr>
          <a:xfrm flipV="1">
            <a:off x="4499992" y="3042038"/>
            <a:ext cx="216024" cy="216023"/>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p:nvPr/>
        </p:nvCxnSpPr>
        <p:spPr>
          <a:xfrm>
            <a:off x="4499992" y="3474085"/>
            <a:ext cx="216024" cy="216024"/>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2" name="Right Brace 41"/>
          <p:cNvSpPr/>
          <p:nvPr/>
        </p:nvSpPr>
        <p:spPr>
          <a:xfrm>
            <a:off x="5266258" y="2550557"/>
            <a:ext cx="254003" cy="1557867"/>
          </a:xfrm>
          <a:prstGeom prst="rightBrace">
            <a:avLst>
              <a:gd name="adj1" fmla="val 58331"/>
              <a:gd name="adj2" fmla="val 20731"/>
            </a:avLst>
          </a:prstGeom>
          <a:ln w="28575">
            <a:solidFill>
              <a:schemeClr val="accent6">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43" name="Right Brace 42"/>
          <p:cNvSpPr/>
          <p:nvPr/>
        </p:nvSpPr>
        <p:spPr>
          <a:xfrm>
            <a:off x="5444065" y="2686024"/>
            <a:ext cx="254003" cy="1651000"/>
          </a:xfrm>
          <a:prstGeom prst="rightBrace">
            <a:avLst>
              <a:gd name="adj1" fmla="val 58331"/>
              <a:gd name="adj2" fmla="val 78658"/>
            </a:avLst>
          </a:prstGeom>
          <a:ln w="28575">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cxnSp>
        <p:nvCxnSpPr>
          <p:cNvPr id="46" name="Straight Arrow Connector 45"/>
          <p:cNvCxnSpPr/>
          <p:nvPr/>
        </p:nvCxnSpPr>
        <p:spPr>
          <a:xfrm flipV="1">
            <a:off x="5452533" y="2863825"/>
            <a:ext cx="279400" cy="8466"/>
          </a:xfrm>
          <a:prstGeom prst="straightConnector1">
            <a:avLst/>
          </a:prstGeom>
          <a:ln w="28575">
            <a:solidFill>
              <a:schemeClr val="accent6">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cxnSpLocks/>
          </p:cNvCxnSpPr>
          <p:nvPr/>
        </p:nvCxnSpPr>
        <p:spPr>
          <a:xfrm flipH="1">
            <a:off x="5088468" y="1250300"/>
            <a:ext cx="766042" cy="78381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5" name="TextBox 54"/>
          <p:cNvSpPr txBox="1"/>
          <p:nvPr/>
        </p:nvSpPr>
        <p:spPr>
          <a:xfrm>
            <a:off x="401623" y="1756430"/>
            <a:ext cx="2121689" cy="738664"/>
          </a:xfrm>
          <a:prstGeom prst="rect">
            <a:avLst/>
          </a:prstGeom>
          <a:noFill/>
          <a:ln>
            <a:noFill/>
          </a:ln>
        </p:spPr>
        <p:txBody>
          <a:bodyPr wrap="square" rtlCol="0">
            <a:spAutoFit/>
          </a:bodyPr>
          <a:lstStyle/>
          <a:p>
            <a:r>
              <a:rPr lang="en-GB" sz="1400" b="1" dirty="0">
                <a:latin typeface="Lucida Sans Unicode" pitchFamily="34" charset="0"/>
                <a:cs typeface="Lucida Sans Unicode" pitchFamily="34" charset="0"/>
              </a:rPr>
              <a:t>Audio Presentation Units: </a:t>
            </a:r>
            <a:r>
              <a:rPr lang="en-GB" sz="1400" dirty="0">
                <a:latin typeface="Lucida Sans Unicode" pitchFamily="34" charset="0"/>
                <a:cs typeface="Lucida Sans Unicode" pitchFamily="34" charset="0"/>
              </a:rPr>
              <a:t>24mS of Raw uncompressed audio</a:t>
            </a:r>
          </a:p>
        </p:txBody>
      </p:sp>
      <p:sp>
        <p:nvSpPr>
          <p:cNvPr id="54" name="Rectangle 53"/>
          <p:cNvSpPr/>
          <p:nvPr/>
        </p:nvSpPr>
        <p:spPr>
          <a:xfrm>
            <a:off x="1277727" y="3762116"/>
            <a:ext cx="118864" cy="656083"/>
          </a:xfrm>
          <a:prstGeom prst="rect">
            <a:avLst/>
          </a:prstGeom>
          <a:gradFill>
            <a:gsLst>
              <a:gs pos="20000">
                <a:srgbClr val="E46C0A"/>
              </a:gs>
              <a:gs pos="61000">
                <a:srgbClr val="FDEDE3"/>
              </a:gs>
            </a:gsLst>
            <a:lin ang="54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2941183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Freeform 2"/>
          <p:cNvSpPr>
            <a:spLocks/>
          </p:cNvSpPr>
          <p:nvPr/>
        </p:nvSpPr>
        <p:spPr bwMode="auto">
          <a:xfrm>
            <a:off x="1157818" y="4591987"/>
            <a:ext cx="4937125" cy="1011237"/>
          </a:xfrm>
          <a:custGeom>
            <a:avLst/>
            <a:gdLst>
              <a:gd name="T0" fmla="*/ 0 w 3110"/>
              <a:gd name="T1" fmla="*/ 2147483647 h 637"/>
              <a:gd name="T2" fmla="*/ 2147483647 w 3110"/>
              <a:gd name="T3" fmla="*/ 0 h 637"/>
              <a:gd name="T4" fmla="*/ 2147483647 w 3110"/>
              <a:gd name="T5" fmla="*/ 0 h 637"/>
              <a:gd name="T6" fmla="*/ 2147483647 w 3110"/>
              <a:gd name="T7" fmla="*/ 2147483647 h 637"/>
              <a:gd name="T8" fmla="*/ 0 w 3110"/>
              <a:gd name="T9" fmla="*/ 2147483647 h 637"/>
              <a:gd name="T10" fmla="*/ 0 60000 65536"/>
              <a:gd name="T11" fmla="*/ 0 60000 65536"/>
              <a:gd name="T12" fmla="*/ 0 60000 65536"/>
              <a:gd name="T13" fmla="*/ 0 60000 65536"/>
              <a:gd name="T14" fmla="*/ 0 60000 65536"/>
              <a:gd name="T15" fmla="*/ 0 w 3110"/>
              <a:gd name="T16" fmla="*/ 0 h 637"/>
              <a:gd name="T17" fmla="*/ 3110 w 3110"/>
              <a:gd name="T18" fmla="*/ 637 h 637"/>
            </a:gdLst>
            <a:ahLst/>
            <a:cxnLst>
              <a:cxn ang="T10">
                <a:pos x="T0" y="T1"/>
              </a:cxn>
              <a:cxn ang="T11">
                <a:pos x="T2" y="T3"/>
              </a:cxn>
              <a:cxn ang="T12">
                <a:pos x="T4" y="T5"/>
              </a:cxn>
              <a:cxn ang="T13">
                <a:pos x="T6" y="T7"/>
              </a:cxn>
              <a:cxn ang="T14">
                <a:pos x="T8" y="T9"/>
              </a:cxn>
            </a:cxnLst>
            <a:rect l="T15" t="T16" r="T17" b="T18"/>
            <a:pathLst>
              <a:path w="3110" h="637">
                <a:moveTo>
                  <a:pt x="0" y="630"/>
                </a:moveTo>
                <a:lnTo>
                  <a:pt x="2986" y="0"/>
                </a:lnTo>
                <a:lnTo>
                  <a:pt x="3110" y="0"/>
                </a:lnTo>
                <a:lnTo>
                  <a:pt x="95" y="637"/>
                </a:lnTo>
                <a:lnTo>
                  <a:pt x="0" y="630"/>
                </a:lnTo>
                <a:close/>
              </a:path>
            </a:pathLst>
          </a:custGeom>
          <a:gradFill rotWithShape="0">
            <a:gsLst>
              <a:gs pos="0">
                <a:schemeClr val="hlink"/>
              </a:gs>
              <a:gs pos="100000">
                <a:srgbClr val="00CC00"/>
              </a:gs>
            </a:gsLst>
            <a:lin ang="5400000" scaled="1"/>
          </a:gradFill>
          <a:ln w="9525">
            <a:noFill/>
            <a:round/>
            <a:headEnd/>
            <a:tailEnd/>
          </a:ln>
          <a:effectLst>
            <a:outerShdw blurRad="50800" dist="38100" dir="2700000" algn="tl" rotWithShape="0">
              <a:prstClr val="black">
                <a:alpha val="40000"/>
              </a:prstClr>
            </a:outerShdw>
          </a:effectLst>
        </p:spPr>
        <p:txBody>
          <a:bodyPr wrap="none" anchor="ctr"/>
          <a:lstStyle/>
          <a:p>
            <a:endParaRPr lang="en-GB" sz="1600" dirty="0">
              <a:latin typeface="Lucida Sans Unicode" panose="020B0602030504020204" pitchFamily="34" charset="0"/>
            </a:endParaRPr>
          </a:p>
        </p:txBody>
      </p:sp>
      <p:sp>
        <p:nvSpPr>
          <p:cNvPr id="38915" name="Rectangle 3"/>
          <p:cNvSpPr>
            <a:spLocks noChangeArrowheads="1"/>
          </p:cNvSpPr>
          <p:nvPr/>
        </p:nvSpPr>
        <p:spPr bwMode="auto">
          <a:xfrm>
            <a:off x="607203" y="4606274"/>
            <a:ext cx="381000" cy="990600"/>
          </a:xfrm>
          <a:prstGeom prst="rect">
            <a:avLst/>
          </a:prstGeom>
          <a:gradFill rotWithShape="0">
            <a:gsLst>
              <a:gs pos="0">
                <a:schemeClr val="hlink"/>
              </a:gs>
              <a:gs pos="100000">
                <a:srgbClr val="00CC00"/>
              </a:gs>
            </a:gsLst>
            <a:lin ang="5400000" scaled="1"/>
          </a:gradFill>
          <a:ln w="19050">
            <a:noFill/>
            <a:miter lim="800000"/>
            <a:headEnd/>
            <a:tailEnd/>
          </a:ln>
          <a:effectLst>
            <a:outerShdw blurRad="50800" dist="38100" dir="2700000" algn="tl" rotWithShape="0">
              <a:prstClr val="black">
                <a:alpha val="40000"/>
              </a:prstClr>
            </a:outerShdw>
          </a:effectLst>
        </p:spPr>
        <p:txBody>
          <a:bodyPr wrap="none" anchor="ctr"/>
          <a:lstStyle/>
          <a:p>
            <a:endParaRPr lang="en-US" sz="1600" dirty="0">
              <a:latin typeface="Lucida Sans Unicode" panose="020B0602030504020204" pitchFamily="34" charset="0"/>
            </a:endParaRPr>
          </a:p>
        </p:txBody>
      </p:sp>
      <p:sp>
        <p:nvSpPr>
          <p:cNvPr id="38916" name="Freeform 4"/>
          <p:cNvSpPr>
            <a:spLocks/>
          </p:cNvSpPr>
          <p:nvPr/>
        </p:nvSpPr>
        <p:spPr bwMode="auto">
          <a:xfrm>
            <a:off x="2359555" y="2934066"/>
            <a:ext cx="1792288" cy="1206624"/>
          </a:xfrm>
          <a:custGeom>
            <a:avLst/>
            <a:gdLst>
              <a:gd name="T0" fmla="*/ 0 w 1129"/>
              <a:gd name="T1" fmla="*/ 0 h 397"/>
              <a:gd name="T2" fmla="*/ 2147483647 w 1129"/>
              <a:gd name="T3" fmla="*/ 2147483647 h 397"/>
              <a:gd name="T4" fmla="*/ 2147483647 w 1129"/>
              <a:gd name="T5" fmla="*/ 2147483647 h 397"/>
              <a:gd name="T6" fmla="*/ 0 w 1129"/>
              <a:gd name="T7" fmla="*/ 2147483647 h 397"/>
              <a:gd name="T8" fmla="*/ 0 w 1129"/>
              <a:gd name="T9" fmla="*/ 2147483647 h 397"/>
              <a:gd name="T10" fmla="*/ 0 60000 65536"/>
              <a:gd name="T11" fmla="*/ 0 60000 65536"/>
              <a:gd name="T12" fmla="*/ 0 60000 65536"/>
              <a:gd name="T13" fmla="*/ 0 60000 65536"/>
              <a:gd name="T14" fmla="*/ 0 60000 65536"/>
              <a:gd name="T15" fmla="*/ 0 w 1129"/>
              <a:gd name="T16" fmla="*/ 0 h 397"/>
              <a:gd name="T17" fmla="*/ 1129 w 1129"/>
              <a:gd name="T18" fmla="*/ 397 h 397"/>
            </a:gdLst>
            <a:ahLst/>
            <a:cxnLst>
              <a:cxn ang="T10">
                <a:pos x="T0" y="T1"/>
              </a:cxn>
              <a:cxn ang="T11">
                <a:pos x="T2" y="T3"/>
              </a:cxn>
              <a:cxn ang="T12">
                <a:pos x="T4" y="T5"/>
              </a:cxn>
              <a:cxn ang="T13">
                <a:pos x="T6" y="T7"/>
              </a:cxn>
              <a:cxn ang="T14">
                <a:pos x="T8" y="T9"/>
              </a:cxn>
            </a:cxnLst>
            <a:rect l="T15" t="T16" r="T17" b="T18"/>
            <a:pathLst>
              <a:path w="1129" h="397">
                <a:moveTo>
                  <a:pt x="0" y="0"/>
                </a:moveTo>
                <a:lnTo>
                  <a:pt x="1129" y="31"/>
                </a:lnTo>
                <a:lnTo>
                  <a:pt x="39" y="397"/>
                </a:lnTo>
                <a:lnTo>
                  <a:pt x="0" y="384"/>
                </a:lnTo>
                <a:lnTo>
                  <a:pt x="0" y="48"/>
                </a:lnTo>
              </a:path>
            </a:pathLst>
          </a:custGeom>
          <a:gradFill rotWithShape="0">
            <a:gsLst>
              <a:gs pos="0">
                <a:srgbClr val="FFCC66"/>
              </a:gs>
              <a:gs pos="100000">
                <a:schemeClr val="hlink"/>
              </a:gs>
            </a:gsLst>
            <a:lin ang="5400000" scaled="1"/>
          </a:gradFill>
          <a:ln w="9525">
            <a:noFill/>
            <a:round/>
            <a:headEnd/>
            <a:tailEnd/>
          </a:ln>
          <a:effectLst>
            <a:outerShdw blurRad="50800" dist="38100" dir="2700000" algn="tl" rotWithShape="0">
              <a:prstClr val="black">
                <a:alpha val="40000"/>
              </a:prstClr>
            </a:outerShdw>
          </a:effectLst>
        </p:spPr>
        <p:txBody>
          <a:bodyPr wrap="none" anchor="ctr"/>
          <a:lstStyle/>
          <a:p>
            <a:endParaRPr lang="en-GB" sz="1600" dirty="0">
              <a:latin typeface="Lucida Sans Unicode" panose="020B0602030504020204" pitchFamily="34" charset="0"/>
            </a:endParaRPr>
          </a:p>
        </p:txBody>
      </p:sp>
      <p:sp>
        <p:nvSpPr>
          <p:cNvPr id="38917" name="Freeform 5"/>
          <p:cNvSpPr>
            <a:spLocks/>
          </p:cNvSpPr>
          <p:nvPr/>
        </p:nvSpPr>
        <p:spPr bwMode="auto">
          <a:xfrm>
            <a:off x="4078289" y="2934067"/>
            <a:ext cx="1758950" cy="1206624"/>
          </a:xfrm>
          <a:custGeom>
            <a:avLst/>
            <a:gdLst>
              <a:gd name="T0" fmla="*/ 0 w 1108"/>
              <a:gd name="T1" fmla="*/ 0 h 384"/>
              <a:gd name="T2" fmla="*/ 2147483647 w 1108"/>
              <a:gd name="T3" fmla="*/ 2147483647 h 384"/>
              <a:gd name="T4" fmla="*/ 2147483647 w 1108"/>
              <a:gd name="T5" fmla="*/ 2147483647 h 384"/>
              <a:gd name="T6" fmla="*/ 0 w 1108"/>
              <a:gd name="T7" fmla="*/ 2147483647 h 384"/>
              <a:gd name="T8" fmla="*/ 0 w 1108"/>
              <a:gd name="T9" fmla="*/ 2147483647 h 384"/>
              <a:gd name="T10" fmla="*/ 0 60000 65536"/>
              <a:gd name="T11" fmla="*/ 0 60000 65536"/>
              <a:gd name="T12" fmla="*/ 0 60000 65536"/>
              <a:gd name="T13" fmla="*/ 0 60000 65536"/>
              <a:gd name="T14" fmla="*/ 0 60000 65536"/>
              <a:gd name="T15" fmla="*/ 0 w 1108"/>
              <a:gd name="T16" fmla="*/ 0 h 384"/>
              <a:gd name="T17" fmla="*/ 1108 w 1108"/>
              <a:gd name="T18" fmla="*/ 384 h 384"/>
            </a:gdLst>
            <a:ahLst/>
            <a:cxnLst>
              <a:cxn ang="T10">
                <a:pos x="T0" y="T1"/>
              </a:cxn>
              <a:cxn ang="T11">
                <a:pos x="T2" y="T3"/>
              </a:cxn>
              <a:cxn ang="T12">
                <a:pos x="T4" y="T5"/>
              </a:cxn>
              <a:cxn ang="T13">
                <a:pos x="T6" y="T7"/>
              </a:cxn>
              <a:cxn ang="T14">
                <a:pos x="T8" y="T9"/>
              </a:cxn>
            </a:cxnLst>
            <a:rect l="T15" t="T16" r="T17" b="T18"/>
            <a:pathLst>
              <a:path w="1108" h="384">
                <a:moveTo>
                  <a:pt x="0" y="0"/>
                </a:moveTo>
                <a:lnTo>
                  <a:pt x="1108" y="31"/>
                </a:lnTo>
                <a:lnTo>
                  <a:pt x="40" y="382"/>
                </a:lnTo>
                <a:lnTo>
                  <a:pt x="0" y="384"/>
                </a:lnTo>
                <a:lnTo>
                  <a:pt x="0" y="48"/>
                </a:lnTo>
              </a:path>
            </a:pathLst>
          </a:custGeom>
          <a:gradFill rotWithShape="0">
            <a:gsLst>
              <a:gs pos="0">
                <a:srgbClr val="FFCC66"/>
              </a:gs>
              <a:gs pos="100000">
                <a:schemeClr val="hlink"/>
              </a:gs>
            </a:gsLst>
            <a:lin ang="5400000" scaled="1"/>
          </a:gradFill>
          <a:ln w="9525">
            <a:noFill/>
            <a:round/>
            <a:headEnd/>
            <a:tailEnd/>
          </a:ln>
          <a:effectLst>
            <a:outerShdw blurRad="50800" dist="38100" dir="2700000" algn="tl" rotWithShape="0">
              <a:prstClr val="black">
                <a:alpha val="40000"/>
              </a:prstClr>
            </a:outerShdw>
          </a:effectLst>
        </p:spPr>
        <p:txBody>
          <a:bodyPr wrap="none" anchor="ctr"/>
          <a:lstStyle/>
          <a:p>
            <a:endParaRPr lang="en-GB" sz="1600" dirty="0">
              <a:latin typeface="Lucida Sans Unicode" panose="020B0602030504020204" pitchFamily="34" charset="0"/>
            </a:endParaRPr>
          </a:p>
        </p:txBody>
      </p:sp>
      <p:sp>
        <p:nvSpPr>
          <p:cNvPr id="38918" name="Freeform 6"/>
          <p:cNvSpPr>
            <a:spLocks/>
          </p:cNvSpPr>
          <p:nvPr/>
        </p:nvSpPr>
        <p:spPr bwMode="auto">
          <a:xfrm>
            <a:off x="5864755" y="2934066"/>
            <a:ext cx="1738313" cy="1206624"/>
          </a:xfrm>
          <a:custGeom>
            <a:avLst/>
            <a:gdLst>
              <a:gd name="T0" fmla="*/ 0 w 1095"/>
              <a:gd name="T1" fmla="*/ 0 h 397"/>
              <a:gd name="T2" fmla="*/ 2147483647 w 1095"/>
              <a:gd name="T3" fmla="*/ 2147483647 h 397"/>
              <a:gd name="T4" fmla="*/ 2147483647 w 1095"/>
              <a:gd name="T5" fmla="*/ 2147483647 h 397"/>
              <a:gd name="T6" fmla="*/ 0 w 1095"/>
              <a:gd name="T7" fmla="*/ 2147483647 h 397"/>
              <a:gd name="T8" fmla="*/ 0 w 1095"/>
              <a:gd name="T9" fmla="*/ 2147483647 h 397"/>
              <a:gd name="T10" fmla="*/ 0 60000 65536"/>
              <a:gd name="T11" fmla="*/ 0 60000 65536"/>
              <a:gd name="T12" fmla="*/ 0 60000 65536"/>
              <a:gd name="T13" fmla="*/ 0 60000 65536"/>
              <a:gd name="T14" fmla="*/ 0 60000 65536"/>
              <a:gd name="T15" fmla="*/ 0 w 1095"/>
              <a:gd name="T16" fmla="*/ 0 h 397"/>
              <a:gd name="T17" fmla="*/ 1095 w 1095"/>
              <a:gd name="T18" fmla="*/ 397 h 397"/>
            </a:gdLst>
            <a:ahLst/>
            <a:cxnLst>
              <a:cxn ang="T10">
                <a:pos x="T0" y="T1"/>
              </a:cxn>
              <a:cxn ang="T11">
                <a:pos x="T2" y="T3"/>
              </a:cxn>
              <a:cxn ang="T12">
                <a:pos x="T4" y="T5"/>
              </a:cxn>
              <a:cxn ang="T13">
                <a:pos x="T6" y="T7"/>
              </a:cxn>
              <a:cxn ang="T14">
                <a:pos x="T8" y="T9"/>
              </a:cxn>
            </a:cxnLst>
            <a:rect l="T15" t="T16" r="T17" b="T18"/>
            <a:pathLst>
              <a:path w="1095" h="397">
                <a:moveTo>
                  <a:pt x="0" y="0"/>
                </a:moveTo>
                <a:lnTo>
                  <a:pt x="1095" y="38"/>
                </a:lnTo>
                <a:lnTo>
                  <a:pt x="121" y="397"/>
                </a:lnTo>
                <a:lnTo>
                  <a:pt x="0" y="384"/>
                </a:lnTo>
                <a:lnTo>
                  <a:pt x="0" y="48"/>
                </a:lnTo>
              </a:path>
            </a:pathLst>
          </a:custGeom>
          <a:gradFill rotWithShape="0">
            <a:gsLst>
              <a:gs pos="0">
                <a:srgbClr val="FFCC66"/>
              </a:gs>
              <a:gs pos="100000">
                <a:schemeClr val="hlink"/>
              </a:gs>
            </a:gsLst>
            <a:lin ang="5400000" scaled="1"/>
          </a:gradFill>
          <a:ln w="9525">
            <a:noFill/>
            <a:round/>
            <a:headEnd/>
            <a:tailEnd/>
          </a:ln>
          <a:effectLst>
            <a:outerShdw blurRad="50800" dist="38100" dir="2700000" algn="tl" rotWithShape="0">
              <a:prstClr val="black">
                <a:alpha val="40000"/>
              </a:prstClr>
            </a:outerShdw>
          </a:effectLst>
        </p:spPr>
        <p:txBody>
          <a:bodyPr wrap="none" anchor="ctr"/>
          <a:lstStyle/>
          <a:p>
            <a:endParaRPr lang="en-GB" sz="1600" dirty="0">
              <a:latin typeface="Lucida Sans Unicode" panose="020B0602030504020204" pitchFamily="34" charset="0"/>
            </a:endParaRPr>
          </a:p>
        </p:txBody>
      </p:sp>
      <p:sp>
        <p:nvSpPr>
          <p:cNvPr id="38919" name="Freeform 7"/>
          <p:cNvSpPr>
            <a:spLocks/>
          </p:cNvSpPr>
          <p:nvPr/>
        </p:nvSpPr>
        <p:spPr bwMode="auto">
          <a:xfrm>
            <a:off x="606955" y="2934066"/>
            <a:ext cx="1768475" cy="1206624"/>
          </a:xfrm>
          <a:custGeom>
            <a:avLst/>
            <a:gdLst>
              <a:gd name="T0" fmla="*/ 0 w 1114"/>
              <a:gd name="T1" fmla="*/ 0 h 384"/>
              <a:gd name="T2" fmla="*/ 2147483647 w 1114"/>
              <a:gd name="T3" fmla="*/ 2147483647 h 384"/>
              <a:gd name="T4" fmla="*/ 2147483647 w 1114"/>
              <a:gd name="T5" fmla="*/ 2147483647 h 384"/>
              <a:gd name="T6" fmla="*/ 0 w 1114"/>
              <a:gd name="T7" fmla="*/ 2147483647 h 384"/>
              <a:gd name="T8" fmla="*/ 0 w 1114"/>
              <a:gd name="T9" fmla="*/ 2147483647 h 384"/>
              <a:gd name="T10" fmla="*/ 0 60000 65536"/>
              <a:gd name="T11" fmla="*/ 0 60000 65536"/>
              <a:gd name="T12" fmla="*/ 0 60000 65536"/>
              <a:gd name="T13" fmla="*/ 0 60000 65536"/>
              <a:gd name="T14" fmla="*/ 0 60000 65536"/>
              <a:gd name="T15" fmla="*/ 0 w 1114"/>
              <a:gd name="T16" fmla="*/ 0 h 384"/>
              <a:gd name="T17" fmla="*/ 1114 w 1114"/>
              <a:gd name="T18" fmla="*/ 384 h 384"/>
            </a:gdLst>
            <a:ahLst/>
            <a:cxnLst>
              <a:cxn ang="T10">
                <a:pos x="T0" y="T1"/>
              </a:cxn>
              <a:cxn ang="T11">
                <a:pos x="T2" y="T3"/>
              </a:cxn>
              <a:cxn ang="T12">
                <a:pos x="T4" y="T5"/>
              </a:cxn>
              <a:cxn ang="T13">
                <a:pos x="T6" y="T7"/>
              </a:cxn>
              <a:cxn ang="T14">
                <a:pos x="T8" y="T9"/>
              </a:cxn>
            </a:cxnLst>
            <a:rect l="T15" t="T16" r="T17" b="T18"/>
            <a:pathLst>
              <a:path w="1114" h="384">
                <a:moveTo>
                  <a:pt x="0" y="0"/>
                </a:moveTo>
                <a:lnTo>
                  <a:pt x="1114" y="24"/>
                </a:lnTo>
                <a:lnTo>
                  <a:pt x="240" y="384"/>
                </a:lnTo>
                <a:lnTo>
                  <a:pt x="0" y="384"/>
                </a:lnTo>
                <a:lnTo>
                  <a:pt x="0" y="48"/>
                </a:lnTo>
              </a:path>
            </a:pathLst>
          </a:custGeom>
          <a:gradFill rotWithShape="0">
            <a:gsLst>
              <a:gs pos="0">
                <a:srgbClr val="FFCC66"/>
              </a:gs>
              <a:gs pos="100000">
                <a:schemeClr val="hlink"/>
              </a:gs>
            </a:gsLst>
            <a:lin ang="5400000" scaled="1"/>
          </a:gradFill>
          <a:ln w="9525">
            <a:noFill/>
            <a:round/>
            <a:headEnd/>
            <a:tailEnd/>
          </a:ln>
          <a:effectLst>
            <a:outerShdw blurRad="50800" dist="38100" dir="2700000" algn="tl" rotWithShape="0">
              <a:prstClr val="black">
                <a:alpha val="40000"/>
              </a:prstClr>
            </a:outerShdw>
          </a:effectLst>
        </p:spPr>
        <p:txBody>
          <a:bodyPr wrap="none" anchor="ctr"/>
          <a:lstStyle/>
          <a:p>
            <a:endParaRPr lang="en-GB" sz="1600" dirty="0">
              <a:latin typeface="Lucida Sans Unicode" panose="020B0602030504020204" pitchFamily="34" charset="0"/>
            </a:endParaRPr>
          </a:p>
        </p:txBody>
      </p:sp>
      <p:sp>
        <p:nvSpPr>
          <p:cNvPr id="38920" name="Rectangle 8"/>
          <p:cNvSpPr>
            <a:spLocks noChangeArrowheads="1"/>
          </p:cNvSpPr>
          <p:nvPr/>
        </p:nvSpPr>
        <p:spPr bwMode="auto">
          <a:xfrm>
            <a:off x="395288" y="333375"/>
            <a:ext cx="3913251" cy="461665"/>
          </a:xfrm>
          <a:prstGeom prst="rect">
            <a:avLst/>
          </a:prstGeom>
          <a:noFill/>
          <a:ln w="9525">
            <a:noFill/>
            <a:miter lim="800000"/>
            <a:headEnd/>
            <a:tailEnd/>
          </a:ln>
        </p:spPr>
        <p:txBody>
          <a:bodyPr wrap="none">
            <a:spAutoFit/>
          </a:bodyPr>
          <a:lstStyle/>
          <a:p>
            <a:r>
              <a:rPr lang="en-GB" sz="2400" b="1" dirty="0">
                <a:latin typeface="Lucida Sans Unicode" panose="020B0602030504020204" pitchFamily="34" charset="0"/>
              </a:rPr>
              <a:t>Video Elementary Stream</a:t>
            </a:r>
          </a:p>
        </p:txBody>
      </p:sp>
      <p:sp>
        <p:nvSpPr>
          <p:cNvPr id="38921" name="Text Box 10"/>
          <p:cNvSpPr txBox="1">
            <a:spLocks noChangeArrowheads="1"/>
          </p:cNvSpPr>
          <p:nvPr/>
        </p:nvSpPr>
        <p:spPr bwMode="auto">
          <a:xfrm>
            <a:off x="1002243" y="3996674"/>
            <a:ext cx="1524000" cy="646331"/>
          </a:xfrm>
          <a:prstGeom prst="rect">
            <a:avLst/>
          </a:prstGeom>
          <a:noFill/>
          <a:ln w="9525">
            <a:noFill/>
            <a:miter lim="800000"/>
            <a:headEnd/>
            <a:tailEnd/>
          </a:ln>
        </p:spPr>
        <p:txBody>
          <a:bodyPr>
            <a:spAutoFit/>
          </a:bodyPr>
          <a:lstStyle/>
          <a:p>
            <a:r>
              <a:rPr lang="en-GB" sz="1200" dirty="0">
                <a:latin typeface="Lucida Sans Unicode" panose="020B0602030504020204" pitchFamily="34" charset="0"/>
              </a:rPr>
              <a:t>Compressed</a:t>
            </a:r>
          </a:p>
          <a:p>
            <a:r>
              <a:rPr lang="en-GB" sz="1200" dirty="0">
                <a:latin typeface="Lucida Sans Unicode" panose="020B0602030504020204" pitchFamily="34" charset="0"/>
              </a:rPr>
              <a:t>I-Picture </a:t>
            </a:r>
          </a:p>
          <a:p>
            <a:r>
              <a:rPr lang="en-GB" sz="1200" dirty="0">
                <a:latin typeface="Lucida Sans Unicode" panose="020B0602030504020204" pitchFamily="34" charset="0"/>
              </a:rPr>
              <a:t>~100KB</a:t>
            </a:r>
            <a:endParaRPr lang="en-GB" sz="1600" dirty="0">
              <a:latin typeface="Lucida Sans Unicode" panose="020B0602030504020204" pitchFamily="34" charset="0"/>
            </a:endParaRPr>
          </a:p>
        </p:txBody>
      </p:sp>
      <p:sp>
        <p:nvSpPr>
          <p:cNvPr id="38922" name="Text Box 11"/>
          <p:cNvSpPr txBox="1">
            <a:spLocks noChangeArrowheads="1"/>
          </p:cNvSpPr>
          <p:nvPr/>
        </p:nvSpPr>
        <p:spPr bwMode="auto">
          <a:xfrm>
            <a:off x="4779052" y="700637"/>
            <a:ext cx="3528392" cy="1323439"/>
          </a:xfrm>
          <a:prstGeom prst="rect">
            <a:avLst/>
          </a:prstGeom>
          <a:noFill/>
          <a:ln w="9525">
            <a:noFill/>
            <a:miter lim="800000"/>
            <a:headEnd/>
            <a:tailEnd/>
          </a:ln>
        </p:spPr>
        <p:txBody>
          <a:bodyPr wrap="square">
            <a:spAutoFit/>
          </a:bodyPr>
          <a:lstStyle/>
          <a:p>
            <a:r>
              <a:rPr lang="en-GB" sz="1600" dirty="0">
                <a:latin typeface="Lucida Sans Unicode" panose="020B0602030504020204" pitchFamily="34" charset="0"/>
              </a:rPr>
              <a:t>Video Presentation Unit </a:t>
            </a:r>
          </a:p>
          <a:p>
            <a:pPr marL="355600" indent="-177800">
              <a:buFont typeface="Arial" pitchFamily="34" charset="0"/>
              <a:buChar char="•"/>
            </a:pPr>
            <a:r>
              <a:rPr lang="en-GB" sz="1600" dirty="0">
                <a:latin typeface="Lucida Sans Unicode" panose="020B0602030504020204" pitchFamily="34" charset="0"/>
              </a:rPr>
              <a:t>625 lines </a:t>
            </a:r>
          </a:p>
          <a:p>
            <a:pPr marL="355600" indent="-177800">
              <a:buFont typeface="Arial" pitchFamily="34" charset="0"/>
              <a:buChar char="•"/>
            </a:pPr>
            <a:r>
              <a:rPr lang="en-GB" sz="1600" dirty="0">
                <a:latin typeface="Lucida Sans Unicode" panose="020B0602030504020204" pitchFamily="34" charset="0"/>
              </a:rPr>
              <a:t>4:2:2</a:t>
            </a:r>
          </a:p>
          <a:p>
            <a:pPr marL="355600" indent="-177800"/>
            <a:r>
              <a:rPr lang="en-GB" sz="1600" dirty="0">
                <a:latin typeface="Lucida Sans Unicode" panose="020B0602030504020204" pitchFamily="34" charset="0"/>
              </a:rPr>
              <a:t>=830KB</a:t>
            </a:r>
          </a:p>
          <a:p>
            <a:endParaRPr lang="en-GB" sz="1600" dirty="0">
              <a:latin typeface="Lucida Sans Unicode" panose="020B0602030504020204" pitchFamily="34" charset="0"/>
            </a:endParaRPr>
          </a:p>
        </p:txBody>
      </p:sp>
      <p:sp>
        <p:nvSpPr>
          <p:cNvPr id="38923" name="Text Box 12"/>
          <p:cNvSpPr txBox="1">
            <a:spLocks noChangeArrowheads="1"/>
          </p:cNvSpPr>
          <p:nvPr/>
        </p:nvSpPr>
        <p:spPr bwMode="auto">
          <a:xfrm>
            <a:off x="606955" y="2172066"/>
            <a:ext cx="1768475" cy="861774"/>
          </a:xfrm>
          <a:prstGeom prst="rect">
            <a:avLst/>
          </a:prstGeom>
          <a:solidFill>
            <a:srgbClr val="FFCC66"/>
          </a:solidFill>
          <a:ln w="19050">
            <a:solidFill>
              <a:schemeClr val="accent6">
                <a:lumMod val="50000"/>
              </a:schemeClr>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a:spAutoFit/>
          </a:bodyPr>
          <a:lstStyle/>
          <a:p>
            <a:endParaRPr lang="en-GB" sz="1600" dirty="0">
              <a:latin typeface="Lucida Sans Unicode" panose="020B0602030504020204" pitchFamily="34" charset="0"/>
            </a:endParaRPr>
          </a:p>
          <a:p>
            <a:pPr algn="ctr"/>
            <a:r>
              <a:rPr lang="en-GB" sz="1600" dirty="0">
                <a:latin typeface="Lucida Sans Unicode" panose="020B0602030504020204" pitchFamily="34" charset="0"/>
              </a:rPr>
              <a:t> Picture 830KB                       </a:t>
            </a:r>
          </a:p>
          <a:p>
            <a:endParaRPr lang="en-GB" sz="1600" dirty="0">
              <a:latin typeface="Lucida Sans Unicode" panose="020B0602030504020204" pitchFamily="34" charset="0"/>
            </a:endParaRPr>
          </a:p>
        </p:txBody>
      </p:sp>
      <p:sp>
        <p:nvSpPr>
          <p:cNvPr id="38924" name="Rectangle 13"/>
          <p:cNvSpPr>
            <a:spLocks noChangeArrowheads="1"/>
          </p:cNvSpPr>
          <p:nvPr/>
        </p:nvSpPr>
        <p:spPr bwMode="auto">
          <a:xfrm>
            <a:off x="607203" y="4072874"/>
            <a:ext cx="381000" cy="533400"/>
          </a:xfrm>
          <a:prstGeom prst="rect">
            <a:avLst/>
          </a:prstGeom>
          <a:solidFill>
            <a:schemeClr val="hlink"/>
          </a:solidFill>
          <a:ln w="19050">
            <a:solidFill>
              <a:schemeClr val="tx1"/>
            </a:solidFill>
            <a:miter lim="800000"/>
            <a:headEnd/>
            <a:tailEnd/>
          </a:ln>
          <a:effectLst>
            <a:glow rad="139700">
              <a:srgbClr val="66FF66">
                <a:alpha val="40000"/>
              </a:srgbClr>
            </a:glow>
            <a:outerShdw blurRad="50800" dist="38100" dir="2700000" algn="tl" rotWithShape="0">
              <a:prstClr val="black">
                <a:alpha val="40000"/>
              </a:prstClr>
            </a:outerShdw>
          </a:effectLst>
        </p:spPr>
        <p:txBody>
          <a:bodyPr wrap="none" anchor="ctr"/>
          <a:lstStyle/>
          <a:p>
            <a:endParaRPr lang="en-US" sz="1600" dirty="0">
              <a:latin typeface="Lucida Sans Unicode" panose="020B0602030504020204" pitchFamily="34" charset="0"/>
            </a:endParaRPr>
          </a:p>
        </p:txBody>
      </p:sp>
      <p:sp>
        <p:nvSpPr>
          <p:cNvPr id="38925" name="Text Box 14"/>
          <p:cNvSpPr txBox="1">
            <a:spLocks noChangeArrowheads="1"/>
          </p:cNvSpPr>
          <p:nvPr/>
        </p:nvSpPr>
        <p:spPr bwMode="auto">
          <a:xfrm>
            <a:off x="2359555" y="2172066"/>
            <a:ext cx="1768475" cy="861774"/>
          </a:xfrm>
          <a:prstGeom prst="rect">
            <a:avLst/>
          </a:prstGeom>
          <a:solidFill>
            <a:srgbClr val="FFCC66"/>
          </a:solidFill>
          <a:ln w="19050">
            <a:solidFill>
              <a:schemeClr val="accent6">
                <a:lumMod val="50000"/>
              </a:schemeClr>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a:spAutoFit/>
          </a:bodyPr>
          <a:lstStyle/>
          <a:p>
            <a:endParaRPr lang="en-GB" sz="1600" dirty="0">
              <a:latin typeface="Lucida Sans Unicode" panose="020B0602030504020204" pitchFamily="34" charset="0"/>
            </a:endParaRPr>
          </a:p>
          <a:p>
            <a:pPr algn="ctr"/>
            <a:r>
              <a:rPr lang="en-GB" sz="1600" dirty="0">
                <a:latin typeface="Lucida Sans Unicode" panose="020B0602030504020204" pitchFamily="34" charset="0"/>
              </a:rPr>
              <a:t> Picture 830KB                       </a:t>
            </a:r>
          </a:p>
          <a:p>
            <a:endParaRPr lang="en-GB" sz="1600" dirty="0">
              <a:latin typeface="Lucida Sans Unicode" panose="020B0602030504020204" pitchFamily="34" charset="0"/>
            </a:endParaRPr>
          </a:p>
        </p:txBody>
      </p:sp>
      <p:sp>
        <p:nvSpPr>
          <p:cNvPr id="38926" name="Text Box 15"/>
          <p:cNvSpPr txBox="1">
            <a:spLocks noChangeArrowheads="1"/>
          </p:cNvSpPr>
          <p:nvPr/>
        </p:nvSpPr>
        <p:spPr bwMode="auto">
          <a:xfrm>
            <a:off x="4112155" y="2172066"/>
            <a:ext cx="1768475" cy="861774"/>
          </a:xfrm>
          <a:prstGeom prst="rect">
            <a:avLst/>
          </a:prstGeom>
          <a:solidFill>
            <a:srgbClr val="FFCC66"/>
          </a:solidFill>
          <a:ln w="19050">
            <a:solidFill>
              <a:schemeClr val="accent6">
                <a:lumMod val="50000"/>
              </a:schemeClr>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a:spAutoFit/>
          </a:bodyPr>
          <a:lstStyle/>
          <a:p>
            <a:endParaRPr lang="en-GB" sz="1600" dirty="0">
              <a:latin typeface="Lucida Sans Unicode" panose="020B0602030504020204" pitchFamily="34" charset="0"/>
            </a:endParaRPr>
          </a:p>
          <a:p>
            <a:pPr algn="ctr"/>
            <a:r>
              <a:rPr lang="en-GB" sz="1600" dirty="0">
                <a:latin typeface="Lucida Sans Unicode" panose="020B0602030504020204" pitchFamily="34" charset="0"/>
              </a:rPr>
              <a:t> Picture 830KB                       </a:t>
            </a:r>
          </a:p>
          <a:p>
            <a:endParaRPr lang="en-GB" sz="1600" dirty="0">
              <a:latin typeface="Lucida Sans Unicode" panose="020B0602030504020204" pitchFamily="34" charset="0"/>
            </a:endParaRPr>
          </a:p>
        </p:txBody>
      </p:sp>
      <p:sp>
        <p:nvSpPr>
          <p:cNvPr id="38927" name="Text Box 16"/>
          <p:cNvSpPr txBox="1">
            <a:spLocks noChangeArrowheads="1"/>
          </p:cNvSpPr>
          <p:nvPr/>
        </p:nvSpPr>
        <p:spPr bwMode="auto">
          <a:xfrm>
            <a:off x="5864755" y="2172066"/>
            <a:ext cx="1768475" cy="861774"/>
          </a:xfrm>
          <a:prstGeom prst="rect">
            <a:avLst/>
          </a:prstGeom>
          <a:solidFill>
            <a:srgbClr val="FFCC66"/>
          </a:solidFill>
          <a:ln w="19050">
            <a:solidFill>
              <a:schemeClr val="accent6">
                <a:lumMod val="50000"/>
              </a:schemeClr>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a:spAutoFit/>
          </a:bodyPr>
          <a:lstStyle/>
          <a:p>
            <a:endParaRPr lang="en-GB" sz="1600" dirty="0">
              <a:latin typeface="Lucida Sans Unicode" panose="020B0602030504020204" pitchFamily="34" charset="0"/>
            </a:endParaRPr>
          </a:p>
          <a:p>
            <a:pPr algn="ctr"/>
            <a:r>
              <a:rPr lang="en-GB" sz="1600" dirty="0">
                <a:latin typeface="Lucida Sans Unicode" panose="020B0602030504020204" pitchFamily="34" charset="0"/>
              </a:rPr>
              <a:t> Picture 830KB                       </a:t>
            </a:r>
          </a:p>
          <a:p>
            <a:endParaRPr lang="en-GB" sz="1600" dirty="0">
              <a:latin typeface="Lucida Sans Unicode" panose="020B0602030504020204" pitchFamily="34" charset="0"/>
            </a:endParaRPr>
          </a:p>
        </p:txBody>
      </p:sp>
      <p:sp>
        <p:nvSpPr>
          <p:cNvPr id="38928" name="Rectangle 17"/>
          <p:cNvSpPr>
            <a:spLocks noChangeArrowheads="1"/>
          </p:cNvSpPr>
          <p:nvPr/>
        </p:nvSpPr>
        <p:spPr bwMode="auto">
          <a:xfrm>
            <a:off x="2373843" y="4072874"/>
            <a:ext cx="76200" cy="533400"/>
          </a:xfrm>
          <a:prstGeom prst="rect">
            <a:avLst/>
          </a:prstGeom>
          <a:solidFill>
            <a:schemeClr val="hlink"/>
          </a:solidFill>
          <a:ln w="19050">
            <a:solidFill>
              <a:schemeClr val="tx1"/>
            </a:solidFill>
            <a:miter lim="800000"/>
            <a:headEnd/>
            <a:tailEnd/>
          </a:ln>
          <a:effectLst>
            <a:glow rad="139700">
              <a:srgbClr val="66FF66">
                <a:alpha val="40000"/>
              </a:srgbClr>
            </a:glow>
            <a:outerShdw blurRad="50800" dist="38100" dir="2700000" algn="tl" rotWithShape="0">
              <a:prstClr val="black">
                <a:alpha val="40000"/>
              </a:prstClr>
            </a:outerShdw>
          </a:effectLst>
        </p:spPr>
        <p:txBody>
          <a:bodyPr wrap="none" anchor="ctr"/>
          <a:lstStyle/>
          <a:p>
            <a:endParaRPr lang="en-US" sz="1600" dirty="0">
              <a:latin typeface="Lucida Sans Unicode" panose="020B0602030504020204" pitchFamily="34" charset="0"/>
            </a:endParaRPr>
          </a:p>
        </p:txBody>
      </p:sp>
      <p:sp>
        <p:nvSpPr>
          <p:cNvPr id="38929" name="Text Box 18"/>
          <p:cNvSpPr txBox="1">
            <a:spLocks noChangeArrowheads="1"/>
          </p:cNvSpPr>
          <p:nvPr/>
        </p:nvSpPr>
        <p:spPr bwMode="auto">
          <a:xfrm>
            <a:off x="2526243" y="3996674"/>
            <a:ext cx="1524000" cy="646331"/>
          </a:xfrm>
          <a:prstGeom prst="rect">
            <a:avLst/>
          </a:prstGeom>
          <a:noFill/>
          <a:ln w="9525">
            <a:noFill/>
            <a:miter lim="800000"/>
            <a:headEnd/>
            <a:tailEnd/>
          </a:ln>
        </p:spPr>
        <p:txBody>
          <a:bodyPr>
            <a:spAutoFit/>
          </a:bodyPr>
          <a:lstStyle/>
          <a:p>
            <a:r>
              <a:rPr lang="en-GB" sz="1200" dirty="0">
                <a:latin typeface="Lucida Sans Unicode" panose="020B0602030504020204" pitchFamily="34" charset="0"/>
              </a:rPr>
              <a:t>Compressed</a:t>
            </a:r>
          </a:p>
          <a:p>
            <a:r>
              <a:rPr lang="en-GB" sz="1200" dirty="0">
                <a:latin typeface="Lucida Sans Unicode" panose="020B0602030504020204" pitchFamily="34" charset="0"/>
              </a:rPr>
              <a:t>B-Picture </a:t>
            </a:r>
          </a:p>
          <a:p>
            <a:r>
              <a:rPr lang="en-GB" sz="1200" dirty="0">
                <a:latin typeface="Lucida Sans Unicode" panose="020B0602030504020204" pitchFamily="34" charset="0"/>
              </a:rPr>
              <a:t>~ 12KB</a:t>
            </a:r>
            <a:endParaRPr lang="en-GB" sz="1600" dirty="0">
              <a:latin typeface="Lucida Sans Unicode" panose="020B0602030504020204" pitchFamily="34" charset="0"/>
            </a:endParaRPr>
          </a:p>
        </p:txBody>
      </p:sp>
      <p:sp>
        <p:nvSpPr>
          <p:cNvPr id="38930" name="Text Box 19"/>
          <p:cNvSpPr txBox="1">
            <a:spLocks noChangeArrowheads="1"/>
          </p:cNvSpPr>
          <p:nvPr/>
        </p:nvSpPr>
        <p:spPr bwMode="auto">
          <a:xfrm>
            <a:off x="4278843" y="3996674"/>
            <a:ext cx="1524000" cy="646331"/>
          </a:xfrm>
          <a:prstGeom prst="rect">
            <a:avLst/>
          </a:prstGeom>
          <a:noFill/>
          <a:ln w="9525">
            <a:noFill/>
            <a:miter lim="800000"/>
            <a:headEnd/>
            <a:tailEnd/>
          </a:ln>
        </p:spPr>
        <p:txBody>
          <a:bodyPr>
            <a:spAutoFit/>
          </a:bodyPr>
          <a:lstStyle/>
          <a:p>
            <a:r>
              <a:rPr lang="en-GB" sz="1200" dirty="0">
                <a:latin typeface="Lucida Sans Unicode" panose="020B0602030504020204" pitchFamily="34" charset="0"/>
              </a:rPr>
              <a:t>Compressed</a:t>
            </a:r>
          </a:p>
          <a:p>
            <a:r>
              <a:rPr lang="en-GB" sz="1200" dirty="0">
                <a:latin typeface="Lucida Sans Unicode" panose="020B0602030504020204" pitchFamily="34" charset="0"/>
              </a:rPr>
              <a:t>B-Picture </a:t>
            </a:r>
          </a:p>
          <a:p>
            <a:r>
              <a:rPr lang="en-GB" sz="1200" dirty="0">
                <a:latin typeface="Lucida Sans Unicode" panose="020B0602030504020204" pitchFamily="34" charset="0"/>
              </a:rPr>
              <a:t>~ 12KB</a:t>
            </a:r>
            <a:endParaRPr lang="en-GB" sz="1600" dirty="0">
              <a:latin typeface="Lucida Sans Unicode" panose="020B0602030504020204" pitchFamily="34" charset="0"/>
            </a:endParaRPr>
          </a:p>
        </p:txBody>
      </p:sp>
      <p:sp>
        <p:nvSpPr>
          <p:cNvPr id="38931" name="Text Box 20"/>
          <p:cNvSpPr txBox="1">
            <a:spLocks noChangeArrowheads="1"/>
          </p:cNvSpPr>
          <p:nvPr/>
        </p:nvSpPr>
        <p:spPr bwMode="auto">
          <a:xfrm>
            <a:off x="7860243" y="4072874"/>
            <a:ext cx="919690" cy="581025"/>
          </a:xfrm>
          <a:prstGeom prst="rect">
            <a:avLst/>
          </a:prstGeom>
          <a:noFill/>
          <a:ln w="9525">
            <a:noFill/>
            <a:miter lim="800000"/>
            <a:headEnd/>
            <a:tailEnd/>
          </a:ln>
        </p:spPr>
        <p:txBody>
          <a:bodyPr wrap="square">
            <a:spAutoFit/>
          </a:bodyPr>
          <a:lstStyle/>
          <a:p>
            <a:r>
              <a:rPr lang="en-GB" sz="1600" dirty="0">
                <a:latin typeface="Lucida Sans Unicode" panose="020B0602030504020204" pitchFamily="34" charset="0"/>
              </a:rPr>
              <a:t>Access Units</a:t>
            </a:r>
          </a:p>
        </p:txBody>
      </p:sp>
      <p:sp>
        <p:nvSpPr>
          <p:cNvPr id="38932" name="Text Box 21"/>
          <p:cNvSpPr txBox="1">
            <a:spLocks noChangeArrowheads="1"/>
          </p:cNvSpPr>
          <p:nvPr/>
        </p:nvSpPr>
        <p:spPr bwMode="auto">
          <a:xfrm>
            <a:off x="1688043" y="5596874"/>
            <a:ext cx="5181600" cy="581025"/>
          </a:xfrm>
          <a:prstGeom prst="rect">
            <a:avLst/>
          </a:prstGeom>
          <a:noFill/>
          <a:ln w="9525">
            <a:noFill/>
            <a:miter lim="800000"/>
            <a:headEnd/>
            <a:tailEnd/>
          </a:ln>
        </p:spPr>
        <p:txBody>
          <a:bodyPr>
            <a:spAutoFit/>
          </a:bodyPr>
          <a:lstStyle/>
          <a:p>
            <a:r>
              <a:rPr lang="en-GB" sz="1600" dirty="0">
                <a:latin typeface="Lucida Sans Unicode" panose="020B0602030504020204" pitchFamily="34" charset="0"/>
              </a:rPr>
              <a:t>Video </a:t>
            </a:r>
            <a:r>
              <a:rPr lang="en-GB" sz="1600" b="1" u="sng" dirty="0">
                <a:latin typeface="Lucida Sans Unicode" panose="020B0602030504020204" pitchFamily="34" charset="0"/>
              </a:rPr>
              <a:t>Elementary Stream</a:t>
            </a:r>
            <a:r>
              <a:rPr lang="en-GB" sz="1600" dirty="0">
                <a:latin typeface="Lucida Sans Unicode" panose="020B0602030504020204" pitchFamily="34" charset="0"/>
              </a:rPr>
              <a:t> - figures for SD video and compression of </a:t>
            </a:r>
            <a:r>
              <a:rPr lang="en-GB" sz="1600" dirty="0" err="1">
                <a:latin typeface="Lucida Sans Unicode" panose="020B0602030504020204" pitchFamily="34" charset="0"/>
              </a:rPr>
              <a:t>approx</a:t>
            </a:r>
            <a:r>
              <a:rPr lang="en-GB" sz="1600" dirty="0">
                <a:latin typeface="Lucida Sans Unicode" panose="020B0602030504020204" pitchFamily="34" charset="0"/>
              </a:rPr>
              <a:t> 5Mb/s </a:t>
            </a:r>
          </a:p>
        </p:txBody>
      </p:sp>
      <p:sp>
        <p:nvSpPr>
          <p:cNvPr id="38933" name="Rectangle 22"/>
          <p:cNvSpPr>
            <a:spLocks noChangeArrowheads="1"/>
          </p:cNvSpPr>
          <p:nvPr/>
        </p:nvSpPr>
        <p:spPr bwMode="auto">
          <a:xfrm>
            <a:off x="5879043" y="4072874"/>
            <a:ext cx="228600" cy="533400"/>
          </a:xfrm>
          <a:prstGeom prst="rect">
            <a:avLst/>
          </a:prstGeom>
          <a:solidFill>
            <a:schemeClr val="hlink"/>
          </a:solidFill>
          <a:ln w="19050">
            <a:solidFill>
              <a:schemeClr val="tx1"/>
            </a:solidFill>
            <a:miter lim="800000"/>
            <a:headEnd/>
            <a:tailEnd/>
          </a:ln>
          <a:effectLst>
            <a:glow rad="139700">
              <a:srgbClr val="66FF66">
                <a:alpha val="40000"/>
              </a:srgbClr>
            </a:glow>
            <a:outerShdw blurRad="50800" dist="38100" dir="2700000" algn="tl" rotWithShape="0">
              <a:prstClr val="black">
                <a:alpha val="40000"/>
              </a:prstClr>
            </a:outerShdw>
          </a:effectLst>
        </p:spPr>
        <p:txBody>
          <a:bodyPr wrap="none" anchor="ctr"/>
          <a:lstStyle/>
          <a:p>
            <a:endParaRPr lang="en-US" sz="1600" dirty="0">
              <a:latin typeface="Lucida Sans Unicode" panose="020B0602030504020204" pitchFamily="34" charset="0"/>
            </a:endParaRPr>
          </a:p>
        </p:txBody>
      </p:sp>
      <p:sp>
        <p:nvSpPr>
          <p:cNvPr id="38934" name="Text Box 23"/>
          <p:cNvSpPr txBox="1">
            <a:spLocks noChangeArrowheads="1"/>
          </p:cNvSpPr>
          <p:nvPr/>
        </p:nvSpPr>
        <p:spPr bwMode="auto">
          <a:xfrm>
            <a:off x="6260043" y="3996674"/>
            <a:ext cx="1524000" cy="646331"/>
          </a:xfrm>
          <a:prstGeom prst="rect">
            <a:avLst/>
          </a:prstGeom>
          <a:noFill/>
          <a:ln w="9525">
            <a:noFill/>
            <a:miter lim="800000"/>
            <a:headEnd/>
            <a:tailEnd/>
          </a:ln>
        </p:spPr>
        <p:txBody>
          <a:bodyPr>
            <a:spAutoFit/>
          </a:bodyPr>
          <a:lstStyle/>
          <a:p>
            <a:r>
              <a:rPr lang="en-GB" sz="1200" dirty="0">
                <a:latin typeface="Lucida Sans Unicode" panose="020B0602030504020204" pitchFamily="34" charset="0"/>
              </a:rPr>
              <a:t>Compressed</a:t>
            </a:r>
          </a:p>
          <a:p>
            <a:r>
              <a:rPr lang="en-GB" sz="1200" dirty="0">
                <a:latin typeface="Lucida Sans Unicode" panose="020B0602030504020204" pitchFamily="34" charset="0"/>
              </a:rPr>
              <a:t>P-Picture </a:t>
            </a:r>
          </a:p>
          <a:p>
            <a:r>
              <a:rPr lang="en-GB" sz="1200" dirty="0">
                <a:latin typeface="Lucida Sans Unicode" panose="020B0602030504020204" pitchFamily="34" charset="0"/>
              </a:rPr>
              <a:t>~ 33KB</a:t>
            </a:r>
            <a:endParaRPr lang="en-GB" sz="1600" dirty="0">
              <a:latin typeface="Lucida Sans Unicode" panose="020B0602030504020204" pitchFamily="34" charset="0"/>
            </a:endParaRPr>
          </a:p>
        </p:txBody>
      </p:sp>
      <p:sp>
        <p:nvSpPr>
          <p:cNvPr id="38935" name="Freeform 24"/>
          <p:cNvSpPr>
            <a:spLocks/>
          </p:cNvSpPr>
          <p:nvPr/>
        </p:nvSpPr>
        <p:spPr bwMode="auto">
          <a:xfrm>
            <a:off x="1002243" y="4606274"/>
            <a:ext cx="1447800" cy="990600"/>
          </a:xfrm>
          <a:custGeom>
            <a:avLst/>
            <a:gdLst>
              <a:gd name="T0" fmla="*/ 0 w 912"/>
              <a:gd name="T1" fmla="*/ 2147483647 h 624"/>
              <a:gd name="T2" fmla="*/ 2147483647 w 912"/>
              <a:gd name="T3" fmla="*/ 0 h 624"/>
              <a:gd name="T4" fmla="*/ 2147483647 w 912"/>
              <a:gd name="T5" fmla="*/ 0 h 624"/>
              <a:gd name="T6" fmla="*/ 2147483647 w 912"/>
              <a:gd name="T7" fmla="*/ 2147483647 h 624"/>
              <a:gd name="T8" fmla="*/ 0 w 912"/>
              <a:gd name="T9" fmla="*/ 2147483647 h 624"/>
              <a:gd name="T10" fmla="*/ 0 60000 65536"/>
              <a:gd name="T11" fmla="*/ 0 60000 65536"/>
              <a:gd name="T12" fmla="*/ 0 60000 65536"/>
              <a:gd name="T13" fmla="*/ 0 60000 65536"/>
              <a:gd name="T14" fmla="*/ 0 60000 65536"/>
              <a:gd name="T15" fmla="*/ 0 w 912"/>
              <a:gd name="T16" fmla="*/ 0 h 624"/>
              <a:gd name="T17" fmla="*/ 912 w 912"/>
              <a:gd name="T18" fmla="*/ 624 h 624"/>
            </a:gdLst>
            <a:ahLst/>
            <a:cxnLst>
              <a:cxn ang="T10">
                <a:pos x="T0" y="T1"/>
              </a:cxn>
              <a:cxn ang="T11">
                <a:pos x="T2" y="T3"/>
              </a:cxn>
              <a:cxn ang="T12">
                <a:pos x="T4" y="T5"/>
              </a:cxn>
              <a:cxn ang="T13">
                <a:pos x="T6" y="T7"/>
              </a:cxn>
              <a:cxn ang="T14">
                <a:pos x="T8" y="T9"/>
              </a:cxn>
            </a:cxnLst>
            <a:rect l="T15" t="T16" r="T17" b="T18"/>
            <a:pathLst>
              <a:path w="912" h="624">
                <a:moveTo>
                  <a:pt x="0" y="624"/>
                </a:moveTo>
                <a:lnTo>
                  <a:pt x="864" y="0"/>
                </a:lnTo>
                <a:lnTo>
                  <a:pt x="912" y="0"/>
                </a:lnTo>
                <a:lnTo>
                  <a:pt x="48" y="624"/>
                </a:lnTo>
                <a:lnTo>
                  <a:pt x="0" y="624"/>
                </a:lnTo>
                <a:close/>
              </a:path>
            </a:pathLst>
          </a:custGeom>
          <a:gradFill rotWithShape="0">
            <a:gsLst>
              <a:gs pos="0">
                <a:schemeClr val="hlink"/>
              </a:gs>
              <a:gs pos="100000">
                <a:srgbClr val="00CC00"/>
              </a:gs>
            </a:gsLst>
            <a:lin ang="5400000" scaled="1"/>
          </a:gradFill>
          <a:ln w="9525">
            <a:noFill/>
            <a:round/>
            <a:headEnd/>
            <a:tailEnd/>
          </a:ln>
        </p:spPr>
        <p:txBody>
          <a:bodyPr wrap="none" anchor="ctr"/>
          <a:lstStyle/>
          <a:p>
            <a:endParaRPr lang="en-GB" sz="1600" dirty="0">
              <a:latin typeface="Lucida Sans Unicode" panose="020B0602030504020204" pitchFamily="34" charset="0"/>
            </a:endParaRPr>
          </a:p>
        </p:txBody>
      </p:sp>
      <p:sp>
        <p:nvSpPr>
          <p:cNvPr id="38936" name="Freeform 25"/>
          <p:cNvSpPr>
            <a:spLocks/>
          </p:cNvSpPr>
          <p:nvPr/>
        </p:nvSpPr>
        <p:spPr bwMode="auto">
          <a:xfrm>
            <a:off x="1044577" y="4580875"/>
            <a:ext cx="3111500" cy="1016000"/>
          </a:xfrm>
          <a:custGeom>
            <a:avLst/>
            <a:gdLst>
              <a:gd name="T0" fmla="*/ 0 w 1960"/>
              <a:gd name="T1" fmla="*/ 2147483647 h 640"/>
              <a:gd name="T2" fmla="*/ 2147483647 w 1960"/>
              <a:gd name="T3" fmla="*/ 0 h 640"/>
              <a:gd name="T4" fmla="*/ 2147483647 w 1960"/>
              <a:gd name="T5" fmla="*/ 2147483647 h 640"/>
              <a:gd name="T6" fmla="*/ 2147483647 w 1960"/>
              <a:gd name="T7" fmla="*/ 2147483647 h 640"/>
              <a:gd name="T8" fmla="*/ 0 w 1960"/>
              <a:gd name="T9" fmla="*/ 2147483647 h 640"/>
              <a:gd name="T10" fmla="*/ 0 60000 65536"/>
              <a:gd name="T11" fmla="*/ 0 60000 65536"/>
              <a:gd name="T12" fmla="*/ 0 60000 65536"/>
              <a:gd name="T13" fmla="*/ 0 60000 65536"/>
              <a:gd name="T14" fmla="*/ 0 60000 65536"/>
              <a:gd name="T15" fmla="*/ 0 w 1960"/>
              <a:gd name="T16" fmla="*/ 0 h 640"/>
              <a:gd name="T17" fmla="*/ 1960 w 1960"/>
              <a:gd name="T18" fmla="*/ 640 h 640"/>
            </a:gdLst>
            <a:ahLst/>
            <a:cxnLst>
              <a:cxn ang="T10">
                <a:pos x="T0" y="T1"/>
              </a:cxn>
              <a:cxn ang="T11">
                <a:pos x="T2" y="T3"/>
              </a:cxn>
              <a:cxn ang="T12">
                <a:pos x="T4" y="T5"/>
              </a:cxn>
              <a:cxn ang="T13">
                <a:pos x="T6" y="T7"/>
              </a:cxn>
              <a:cxn ang="T14">
                <a:pos x="T8" y="T9"/>
              </a:cxn>
            </a:cxnLst>
            <a:rect l="T15" t="T16" r="T17" b="T18"/>
            <a:pathLst>
              <a:path w="1960" h="640">
                <a:moveTo>
                  <a:pt x="0" y="640"/>
                </a:moveTo>
                <a:lnTo>
                  <a:pt x="1931" y="0"/>
                </a:lnTo>
                <a:lnTo>
                  <a:pt x="1960" y="15"/>
                </a:lnTo>
                <a:lnTo>
                  <a:pt x="48" y="640"/>
                </a:lnTo>
                <a:lnTo>
                  <a:pt x="0" y="640"/>
                </a:lnTo>
                <a:close/>
              </a:path>
            </a:pathLst>
          </a:custGeom>
          <a:gradFill rotWithShape="0">
            <a:gsLst>
              <a:gs pos="0">
                <a:schemeClr val="hlink"/>
              </a:gs>
              <a:gs pos="100000">
                <a:srgbClr val="00CC00"/>
              </a:gs>
            </a:gsLst>
            <a:lin ang="5400000" scaled="1"/>
          </a:gradFill>
          <a:ln w="9525">
            <a:noFill/>
            <a:round/>
            <a:headEnd/>
            <a:tailEnd/>
          </a:ln>
          <a:effectLst>
            <a:outerShdw blurRad="50800" dist="38100" dir="2700000" algn="tl" rotWithShape="0">
              <a:prstClr val="black">
                <a:alpha val="40000"/>
              </a:prstClr>
            </a:outerShdw>
          </a:effectLst>
        </p:spPr>
        <p:txBody>
          <a:bodyPr wrap="none" anchor="ctr"/>
          <a:lstStyle/>
          <a:p>
            <a:endParaRPr lang="en-GB" sz="1600" dirty="0">
              <a:latin typeface="Lucida Sans Unicode" panose="020B0602030504020204" pitchFamily="34" charset="0"/>
            </a:endParaRPr>
          </a:p>
        </p:txBody>
      </p:sp>
      <p:sp>
        <p:nvSpPr>
          <p:cNvPr id="38937" name="Rectangle 26"/>
          <p:cNvSpPr>
            <a:spLocks noChangeArrowheads="1"/>
          </p:cNvSpPr>
          <p:nvPr/>
        </p:nvSpPr>
        <p:spPr bwMode="auto">
          <a:xfrm>
            <a:off x="1154643" y="5596874"/>
            <a:ext cx="228600" cy="533400"/>
          </a:xfrm>
          <a:prstGeom prst="rect">
            <a:avLst/>
          </a:prstGeom>
          <a:solidFill>
            <a:srgbClr val="00CC00"/>
          </a:solidFill>
          <a:ln w="19050">
            <a:solidFill>
              <a:schemeClr val="tx1"/>
            </a:solidFill>
            <a:miter lim="800000"/>
            <a:headEnd/>
            <a:tailEnd/>
          </a:ln>
          <a:effectLst>
            <a:outerShdw blurRad="50800" dist="38100" dir="2700000" algn="tl" rotWithShape="0">
              <a:prstClr val="black">
                <a:alpha val="40000"/>
              </a:prstClr>
            </a:outerShdw>
          </a:effectLst>
        </p:spPr>
        <p:txBody>
          <a:bodyPr wrap="none" anchor="ctr"/>
          <a:lstStyle/>
          <a:p>
            <a:endParaRPr lang="en-US" sz="1600" dirty="0">
              <a:latin typeface="Lucida Sans Unicode" panose="020B0602030504020204" pitchFamily="34" charset="0"/>
            </a:endParaRPr>
          </a:p>
        </p:txBody>
      </p:sp>
      <p:sp>
        <p:nvSpPr>
          <p:cNvPr id="38938" name="Rectangle 27"/>
          <p:cNvSpPr>
            <a:spLocks noChangeArrowheads="1"/>
          </p:cNvSpPr>
          <p:nvPr/>
        </p:nvSpPr>
        <p:spPr bwMode="auto">
          <a:xfrm>
            <a:off x="621243" y="5596874"/>
            <a:ext cx="381000" cy="533400"/>
          </a:xfrm>
          <a:prstGeom prst="rect">
            <a:avLst/>
          </a:prstGeom>
          <a:solidFill>
            <a:srgbClr val="00CC00"/>
          </a:solidFill>
          <a:ln w="19050">
            <a:solidFill>
              <a:schemeClr val="tx1"/>
            </a:solidFill>
            <a:miter lim="800000"/>
            <a:headEnd/>
            <a:tailEnd/>
          </a:ln>
          <a:effectLst>
            <a:outerShdw blurRad="50800" dist="38100" dir="2700000" algn="tl" rotWithShape="0">
              <a:prstClr val="black">
                <a:alpha val="40000"/>
              </a:prstClr>
            </a:outerShdw>
          </a:effectLst>
        </p:spPr>
        <p:txBody>
          <a:bodyPr wrap="none" anchor="ctr"/>
          <a:lstStyle/>
          <a:p>
            <a:endParaRPr lang="en-US" sz="1600" dirty="0">
              <a:latin typeface="Lucida Sans Unicode" panose="020B0602030504020204" pitchFamily="34" charset="0"/>
            </a:endParaRPr>
          </a:p>
        </p:txBody>
      </p:sp>
      <p:sp>
        <p:nvSpPr>
          <p:cNvPr id="38939" name="Rectangle 28"/>
          <p:cNvSpPr>
            <a:spLocks noChangeArrowheads="1"/>
          </p:cNvSpPr>
          <p:nvPr/>
        </p:nvSpPr>
        <p:spPr bwMode="auto">
          <a:xfrm>
            <a:off x="1002243" y="5596874"/>
            <a:ext cx="76200" cy="533400"/>
          </a:xfrm>
          <a:prstGeom prst="rect">
            <a:avLst/>
          </a:prstGeom>
          <a:solidFill>
            <a:srgbClr val="00CC00"/>
          </a:solidFill>
          <a:ln w="19050">
            <a:solidFill>
              <a:schemeClr val="tx1"/>
            </a:solidFill>
            <a:miter lim="800000"/>
            <a:headEnd/>
            <a:tailEnd/>
          </a:ln>
          <a:effectLst>
            <a:outerShdw blurRad="50800" dist="38100" dir="2700000" algn="tl" rotWithShape="0">
              <a:prstClr val="black">
                <a:alpha val="40000"/>
              </a:prstClr>
            </a:outerShdw>
          </a:effectLst>
        </p:spPr>
        <p:txBody>
          <a:bodyPr wrap="none" anchor="ctr"/>
          <a:lstStyle/>
          <a:p>
            <a:endParaRPr lang="en-US" sz="1600" dirty="0">
              <a:latin typeface="Lucida Sans Unicode" panose="020B0602030504020204" pitchFamily="34" charset="0"/>
            </a:endParaRPr>
          </a:p>
        </p:txBody>
      </p:sp>
      <p:sp>
        <p:nvSpPr>
          <p:cNvPr id="38940" name="Rectangle 29"/>
          <p:cNvSpPr>
            <a:spLocks noChangeArrowheads="1"/>
          </p:cNvSpPr>
          <p:nvPr/>
        </p:nvSpPr>
        <p:spPr bwMode="auto">
          <a:xfrm>
            <a:off x="1078443" y="5596874"/>
            <a:ext cx="76200" cy="533400"/>
          </a:xfrm>
          <a:prstGeom prst="rect">
            <a:avLst/>
          </a:prstGeom>
          <a:solidFill>
            <a:srgbClr val="00CC00"/>
          </a:solidFill>
          <a:ln w="19050">
            <a:solidFill>
              <a:schemeClr val="tx1"/>
            </a:solidFill>
            <a:miter lim="800000"/>
            <a:headEnd/>
            <a:tailEnd/>
          </a:ln>
          <a:effectLst>
            <a:outerShdw blurRad="50800" dist="38100" dir="2700000" algn="tl" rotWithShape="0">
              <a:prstClr val="black">
                <a:alpha val="40000"/>
              </a:prstClr>
            </a:outerShdw>
          </a:effectLst>
        </p:spPr>
        <p:txBody>
          <a:bodyPr wrap="none" anchor="ctr"/>
          <a:lstStyle/>
          <a:p>
            <a:endParaRPr lang="en-US" sz="1600" dirty="0">
              <a:latin typeface="Lucida Sans Unicode" panose="020B0602030504020204" pitchFamily="34" charset="0"/>
            </a:endParaRPr>
          </a:p>
        </p:txBody>
      </p:sp>
      <p:sp>
        <p:nvSpPr>
          <p:cNvPr id="38941" name="Rectangle 30"/>
          <p:cNvSpPr>
            <a:spLocks noChangeArrowheads="1"/>
          </p:cNvSpPr>
          <p:nvPr/>
        </p:nvSpPr>
        <p:spPr bwMode="auto">
          <a:xfrm>
            <a:off x="4092577" y="4072875"/>
            <a:ext cx="76200" cy="533400"/>
          </a:xfrm>
          <a:prstGeom prst="rect">
            <a:avLst/>
          </a:prstGeom>
          <a:solidFill>
            <a:schemeClr val="hlink"/>
          </a:solidFill>
          <a:ln w="19050">
            <a:solidFill>
              <a:schemeClr val="tx1"/>
            </a:solidFill>
            <a:miter lim="800000"/>
            <a:headEnd/>
            <a:tailEnd/>
          </a:ln>
          <a:effectLst>
            <a:glow rad="139700">
              <a:srgbClr val="66FF66">
                <a:alpha val="40000"/>
              </a:srgbClr>
            </a:glow>
            <a:outerShdw blurRad="50800" dist="38100" dir="2700000" algn="tl" rotWithShape="0">
              <a:prstClr val="black">
                <a:alpha val="40000"/>
              </a:prstClr>
            </a:outerShdw>
          </a:effectLst>
        </p:spPr>
        <p:txBody>
          <a:bodyPr wrap="none" anchor="ctr"/>
          <a:lstStyle/>
          <a:p>
            <a:endParaRPr lang="en-US" sz="1600" dirty="0">
              <a:latin typeface="Lucida Sans Unicode" panose="020B0602030504020204" pitchFamily="34" charset="0"/>
            </a:endParaRPr>
          </a:p>
        </p:txBody>
      </p:sp>
      <p:sp>
        <p:nvSpPr>
          <p:cNvPr id="38942" name="Text Box 9"/>
          <p:cNvSpPr txBox="1">
            <a:spLocks noChangeArrowheads="1"/>
          </p:cNvSpPr>
          <p:nvPr/>
        </p:nvSpPr>
        <p:spPr bwMode="auto">
          <a:xfrm>
            <a:off x="438825" y="1511688"/>
            <a:ext cx="3725863" cy="336550"/>
          </a:xfrm>
          <a:prstGeom prst="rect">
            <a:avLst/>
          </a:prstGeom>
          <a:noFill/>
          <a:ln w="9525">
            <a:noFill/>
            <a:miter lim="800000"/>
            <a:headEnd/>
            <a:tailEnd/>
          </a:ln>
        </p:spPr>
        <p:txBody>
          <a:bodyPr wrap="none">
            <a:spAutoFit/>
          </a:bodyPr>
          <a:lstStyle/>
          <a:p>
            <a:r>
              <a:rPr lang="en-GB" sz="1600" dirty="0">
                <a:latin typeface="Lucida Sans Unicode" panose="020B0602030504020204" pitchFamily="34" charset="0"/>
              </a:rPr>
              <a:t>Uncompressed Digital Video Stream</a:t>
            </a:r>
          </a:p>
        </p:txBody>
      </p:sp>
      <p:sp>
        <p:nvSpPr>
          <p:cNvPr id="34" name="TextBox 33"/>
          <p:cNvSpPr txBox="1"/>
          <p:nvPr/>
        </p:nvSpPr>
        <p:spPr>
          <a:xfrm>
            <a:off x="477227" y="3439057"/>
            <a:ext cx="7383016" cy="276999"/>
          </a:xfrm>
          <a:prstGeom prst="rect">
            <a:avLst/>
          </a:prstGeom>
          <a:solidFill>
            <a:schemeClr val="bg1">
              <a:lumMod val="95000"/>
            </a:schemeClr>
          </a:solidFill>
          <a:ln w="28575">
            <a:solidFill>
              <a:schemeClr val="tx2"/>
            </a:solidFill>
          </a:ln>
          <a:effectLst>
            <a:outerShdw blurRad="50800" dist="38100" dir="2700000" algn="tl" rotWithShape="0">
              <a:prstClr val="black">
                <a:alpha val="40000"/>
              </a:prstClr>
            </a:outerShdw>
          </a:effectLst>
        </p:spPr>
        <p:txBody>
          <a:bodyPr wrap="square" rtlCol="0">
            <a:spAutoFit/>
          </a:bodyPr>
          <a:lstStyle/>
          <a:p>
            <a:pPr algn="ctr"/>
            <a:r>
              <a:rPr lang="en-GB" sz="1200" b="1" i="1" dirty="0">
                <a:effectLst>
                  <a:outerShdw blurRad="50800" dist="50800" dir="5400000" algn="ctr" rotWithShape="0">
                    <a:schemeClr val="bg1"/>
                  </a:outerShdw>
                </a:effectLst>
                <a:latin typeface="Lucida Sans Unicode" panose="020B0602030504020204" pitchFamily="34" charset="0"/>
              </a:rPr>
              <a:t>Compression: Raw → DCT → I, P, B</a:t>
            </a:r>
            <a:endParaRPr lang="en-GB" sz="1200" b="1" i="1" dirty="0">
              <a:effectLst>
                <a:outerShdw blurRad="50800" dist="50800" dir="5400000" algn="ctr" rotWithShape="0">
                  <a:schemeClr val="bg1"/>
                </a:outerShdw>
              </a:effectLst>
            </a:endParaRPr>
          </a:p>
        </p:txBody>
      </p:sp>
      <p:cxnSp>
        <p:nvCxnSpPr>
          <p:cNvPr id="4" name="Straight Arrow Connector 3"/>
          <p:cNvCxnSpPr/>
          <p:nvPr/>
        </p:nvCxnSpPr>
        <p:spPr>
          <a:xfrm flipH="1">
            <a:off x="1154643" y="3033840"/>
            <a:ext cx="312018" cy="405217"/>
          </a:xfrm>
          <a:prstGeom prst="straightConnector1">
            <a:avLst/>
          </a:prstGeom>
          <a:ln w="28575">
            <a:solidFill>
              <a:srgbClr val="FF0000"/>
            </a:solidFill>
            <a:headEnd type="none" w="med" len="med"/>
            <a:tailEnd type="arrow" w="med" len="med"/>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p:nvPr/>
        </p:nvCxnSpPr>
        <p:spPr>
          <a:xfrm flipH="1">
            <a:off x="2904861" y="3056913"/>
            <a:ext cx="324245" cy="375795"/>
          </a:xfrm>
          <a:prstGeom prst="straightConnector1">
            <a:avLst/>
          </a:prstGeom>
          <a:ln w="28575">
            <a:solidFill>
              <a:srgbClr val="FF0000"/>
            </a:solidFill>
            <a:headEnd type="none" w="med" len="med"/>
            <a:tailEnd type="arrow" w="med" len="med"/>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71" name="Straight Arrow Connector 70"/>
          <p:cNvCxnSpPr/>
          <p:nvPr/>
        </p:nvCxnSpPr>
        <p:spPr>
          <a:xfrm flipH="1">
            <a:off x="4682910" y="3060570"/>
            <a:ext cx="305549" cy="378487"/>
          </a:xfrm>
          <a:prstGeom prst="straightConnector1">
            <a:avLst/>
          </a:prstGeom>
          <a:ln w="28575">
            <a:solidFill>
              <a:srgbClr val="FF0000"/>
            </a:solidFill>
            <a:headEnd type="none" w="med" len="med"/>
            <a:tailEnd type="arrow" w="med" len="med"/>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p:nvPr/>
        </p:nvCxnSpPr>
        <p:spPr>
          <a:xfrm flipH="1">
            <a:off x="6394186" y="3060570"/>
            <a:ext cx="359699" cy="395305"/>
          </a:xfrm>
          <a:prstGeom prst="straightConnector1">
            <a:avLst/>
          </a:prstGeom>
          <a:ln w="28575">
            <a:solidFill>
              <a:srgbClr val="FF0000"/>
            </a:solidFill>
            <a:headEnd type="none" w="med" len="med"/>
            <a:tailEnd type="arrow" w="med" len="med"/>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75" name="Straight Arrow Connector 74"/>
          <p:cNvCxnSpPr>
            <a:cxnSpLocks/>
            <a:endCxn id="38924" idx="0"/>
          </p:cNvCxnSpPr>
          <p:nvPr/>
        </p:nvCxnSpPr>
        <p:spPr>
          <a:xfrm flipH="1">
            <a:off x="797703" y="3711310"/>
            <a:ext cx="241827" cy="361564"/>
          </a:xfrm>
          <a:prstGeom prst="straightConnector1">
            <a:avLst/>
          </a:prstGeom>
          <a:ln w="28575">
            <a:solidFill>
              <a:schemeClr val="accent1">
                <a:lumMod val="40000"/>
                <a:lumOff val="60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7" name="Straight Arrow Connector 76"/>
          <p:cNvCxnSpPr>
            <a:cxnSpLocks/>
          </p:cNvCxnSpPr>
          <p:nvPr/>
        </p:nvCxnSpPr>
        <p:spPr>
          <a:xfrm flipH="1">
            <a:off x="2444220" y="3713729"/>
            <a:ext cx="235483" cy="310711"/>
          </a:xfrm>
          <a:prstGeom prst="straightConnector1">
            <a:avLst/>
          </a:prstGeom>
          <a:ln w="28575">
            <a:solidFill>
              <a:schemeClr val="accent1">
                <a:lumMod val="40000"/>
                <a:lumOff val="60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a:cxnSpLocks/>
          </p:cNvCxnSpPr>
          <p:nvPr/>
        </p:nvCxnSpPr>
        <p:spPr>
          <a:xfrm flipH="1">
            <a:off x="4177243" y="3728855"/>
            <a:ext cx="270890" cy="307042"/>
          </a:xfrm>
          <a:prstGeom prst="straightConnector1">
            <a:avLst/>
          </a:prstGeom>
          <a:ln w="28575">
            <a:solidFill>
              <a:schemeClr val="accent1">
                <a:lumMod val="40000"/>
                <a:lumOff val="60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a:cxnSpLocks/>
          </p:cNvCxnSpPr>
          <p:nvPr/>
        </p:nvCxnSpPr>
        <p:spPr>
          <a:xfrm flipH="1">
            <a:off x="5993343" y="3739129"/>
            <a:ext cx="270890" cy="307042"/>
          </a:xfrm>
          <a:prstGeom prst="straightConnector1">
            <a:avLst/>
          </a:prstGeom>
          <a:ln w="28575">
            <a:solidFill>
              <a:schemeClr val="accent1">
                <a:lumMod val="40000"/>
                <a:lumOff val="60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 name="Straight Arrow Connector 2"/>
          <p:cNvCxnSpPr/>
          <p:nvPr/>
        </p:nvCxnSpPr>
        <p:spPr>
          <a:xfrm>
            <a:off x="5645679" y="1748329"/>
            <a:ext cx="614364" cy="4237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p:nvPr/>
        </p:nvCxnSpPr>
        <p:spPr>
          <a:xfrm flipH="1">
            <a:off x="5285974" y="1731882"/>
            <a:ext cx="359705" cy="3851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p:nvPr/>
        </p:nvCxnSpPr>
        <p:spPr>
          <a:xfrm flipH="1">
            <a:off x="3460119" y="1753835"/>
            <a:ext cx="2185561" cy="3528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621243" y="1848238"/>
            <a:ext cx="2838876" cy="0"/>
          </a:xfrm>
          <a:prstGeom prst="straightConnector1">
            <a:avLst/>
          </a:prstGeom>
          <a:ln w="19050">
            <a:solidFill>
              <a:srgbClr val="FF0000"/>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44185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95288" y="1072171"/>
            <a:ext cx="8353176" cy="830997"/>
          </a:xfrm>
          <a:prstGeom prst="rect">
            <a:avLst/>
          </a:prstGeom>
          <a:noFill/>
        </p:spPr>
        <p:txBody>
          <a:bodyPr wrap="square" rtlCol="0">
            <a:spAutoFit/>
          </a:bodyPr>
          <a:lstStyle/>
          <a:p>
            <a:pPr marL="180975" indent="-180975">
              <a:buFont typeface="Arial" pitchFamily="34" charset="0"/>
              <a:buChar char="•"/>
            </a:pPr>
            <a:r>
              <a:rPr lang="en-GB" sz="1600" dirty="0">
                <a:latin typeface="Lucida Sans Unicode" pitchFamily="34" charset="0"/>
                <a:cs typeface="Lucida Sans Unicode" pitchFamily="34" charset="0"/>
              </a:rPr>
              <a:t>Elementary Stream - ES - sub-divided – </a:t>
            </a:r>
            <a:r>
              <a:rPr lang="en-GB" sz="1600" dirty="0" err="1">
                <a:latin typeface="Lucida Sans Unicode" pitchFamily="34" charset="0"/>
                <a:cs typeface="Lucida Sans Unicode" pitchFamily="34" charset="0"/>
              </a:rPr>
              <a:t>packetised</a:t>
            </a:r>
            <a:r>
              <a:rPr lang="en-GB" sz="1600" dirty="0">
                <a:latin typeface="Lucida Sans Unicode" pitchFamily="34" charset="0"/>
                <a:cs typeface="Lucida Sans Unicode" pitchFamily="34" charset="0"/>
              </a:rPr>
              <a:t> </a:t>
            </a:r>
          </a:p>
          <a:p>
            <a:pPr marL="180975" indent="-180975"/>
            <a:r>
              <a:rPr lang="en-GB" sz="1600" dirty="0">
                <a:latin typeface="Lucida Sans Unicode" pitchFamily="34" charset="0"/>
                <a:cs typeface="Lucida Sans Unicode" pitchFamily="34" charset="0"/>
              </a:rPr>
              <a:t>		⇒"Packetized Elementary Stream“ = PES </a:t>
            </a:r>
          </a:p>
          <a:p>
            <a:pPr marL="638175" lvl="1" indent="-180975">
              <a:buFont typeface="Arial" pitchFamily="34" charset="0"/>
              <a:buChar char="•"/>
            </a:pPr>
            <a:r>
              <a:rPr lang="en-GB" sz="1600" dirty="0">
                <a:latin typeface="Lucida Sans Unicode" pitchFamily="34" charset="0"/>
                <a:cs typeface="Lucida Sans Unicode" pitchFamily="34" charset="0"/>
              </a:rPr>
              <a:t>fixed-size chunks without regard for access unit </a:t>
            </a:r>
            <a:r>
              <a:rPr lang="en-GB" sz="1600">
                <a:latin typeface="Lucida Sans Unicode" pitchFamily="34" charset="0"/>
                <a:cs typeface="Lucida Sans Unicode" pitchFamily="34" charset="0"/>
              </a:rPr>
              <a:t>boundaries </a:t>
            </a:r>
            <a:endParaRPr lang="en-GB" sz="1600" dirty="0">
              <a:latin typeface="Lucida Sans Unicode" pitchFamily="34" charset="0"/>
              <a:cs typeface="Lucida Sans Unicode" pitchFamily="34" charset="0"/>
            </a:endParaRPr>
          </a:p>
        </p:txBody>
      </p:sp>
      <p:sp>
        <p:nvSpPr>
          <p:cNvPr id="19" name="Rectangle 8"/>
          <p:cNvSpPr>
            <a:spLocks noChangeArrowheads="1"/>
          </p:cNvSpPr>
          <p:nvPr/>
        </p:nvSpPr>
        <p:spPr bwMode="auto">
          <a:xfrm>
            <a:off x="384655" y="322742"/>
            <a:ext cx="1887055" cy="461665"/>
          </a:xfrm>
          <a:prstGeom prst="rect">
            <a:avLst/>
          </a:prstGeom>
          <a:noFill/>
          <a:ln w="9525">
            <a:noFill/>
            <a:miter lim="800000"/>
            <a:headEnd/>
            <a:tailEnd/>
          </a:ln>
        </p:spPr>
        <p:txBody>
          <a:bodyPr wrap="none">
            <a:spAutoFit/>
          </a:bodyPr>
          <a:lstStyle/>
          <a:p>
            <a:r>
              <a:rPr lang="en-GB" sz="2400" b="1" dirty="0">
                <a:latin typeface="Lucida Sans Unicode" panose="020B0602030504020204" pitchFamily="34" charset="0"/>
              </a:rPr>
              <a:t>Packetizing</a:t>
            </a:r>
          </a:p>
        </p:txBody>
      </p:sp>
      <p:pic>
        <p:nvPicPr>
          <p:cNvPr id="3" name="Picture 2"/>
          <p:cNvPicPr>
            <a:picLocks noChangeAspect="1"/>
          </p:cNvPicPr>
          <p:nvPr/>
        </p:nvPicPr>
        <p:blipFill>
          <a:blip r:embed="rId2"/>
          <a:stretch>
            <a:fillRect/>
          </a:stretch>
        </p:blipFill>
        <p:spPr>
          <a:xfrm>
            <a:off x="1426393" y="2271859"/>
            <a:ext cx="6072848" cy="3846137"/>
          </a:xfrm>
          <a:prstGeom prst="rect">
            <a:avLst/>
          </a:prstGeom>
        </p:spPr>
      </p:pic>
      <p:sp>
        <p:nvSpPr>
          <p:cNvPr id="18" name="Rectangle 17"/>
          <p:cNvSpPr/>
          <p:nvPr/>
        </p:nvSpPr>
        <p:spPr>
          <a:xfrm>
            <a:off x="1328182" y="2133732"/>
            <a:ext cx="6948552" cy="4125666"/>
          </a:xfrm>
          <a:prstGeom prst="rect">
            <a:avLst/>
          </a:prstGeom>
          <a:gradFill flip="none" rotWithShape="1">
            <a:gsLst>
              <a:gs pos="0">
                <a:srgbClr val="FFFFFF">
                  <a:alpha val="0"/>
                </a:srgbClr>
              </a:gs>
              <a:gs pos="48000">
                <a:schemeClr val="bg1">
                  <a:lumMod val="75000"/>
                  <a:alpha val="94000"/>
                </a:schemeClr>
              </a:gs>
            </a:gsLst>
            <a:path path="circle">
              <a:fillToRect l="50000" t="50000" r="50000" b="50000"/>
            </a:path>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1" name="Straight Arrow Connector 20"/>
          <p:cNvCxnSpPr>
            <a:cxnSpLocks/>
          </p:cNvCxnSpPr>
          <p:nvPr/>
        </p:nvCxnSpPr>
        <p:spPr>
          <a:xfrm>
            <a:off x="4204355" y="1874568"/>
            <a:ext cx="367521" cy="1735898"/>
          </a:xfrm>
          <a:prstGeom prst="straightConnector1">
            <a:avLst/>
          </a:prstGeom>
          <a:ln w="762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6018473" y="4289196"/>
            <a:ext cx="2258262" cy="584775"/>
          </a:xfrm>
          <a:prstGeom prst="rect">
            <a:avLst/>
          </a:prstGeom>
          <a:solidFill>
            <a:srgbClr val="FFFFFF">
              <a:alpha val="50196"/>
            </a:srgbClr>
          </a:solidFill>
        </p:spPr>
        <p:txBody>
          <a:bodyPr wrap="square" rtlCol="0">
            <a:spAutoFit/>
          </a:bodyPr>
          <a:lstStyle/>
          <a:p>
            <a:r>
              <a:rPr lang="en-GB" sz="1600">
                <a:latin typeface="Lucida Sans Unicode" pitchFamily="34" charset="0"/>
                <a:cs typeface="Lucida Sans Unicode" pitchFamily="34" charset="0"/>
              </a:rPr>
              <a:t>PS: Many packets Form PS Packs</a:t>
            </a:r>
            <a:endParaRPr lang="en-GB" sz="1600" dirty="0">
              <a:latin typeface="Lucida Sans Unicode" pitchFamily="34" charset="0"/>
              <a:cs typeface="Lucida Sans Unicode" pitchFamily="34" charset="0"/>
            </a:endParaRPr>
          </a:p>
        </p:txBody>
      </p:sp>
      <p:sp>
        <p:nvSpPr>
          <p:cNvPr id="29" name="TextBox 28"/>
          <p:cNvSpPr txBox="1"/>
          <p:nvPr/>
        </p:nvSpPr>
        <p:spPr>
          <a:xfrm>
            <a:off x="5835191" y="3610466"/>
            <a:ext cx="2441543" cy="338554"/>
          </a:xfrm>
          <a:prstGeom prst="rect">
            <a:avLst/>
          </a:prstGeom>
          <a:solidFill>
            <a:srgbClr val="FFFFFF">
              <a:alpha val="50196"/>
            </a:srgbClr>
          </a:solidFill>
        </p:spPr>
        <p:txBody>
          <a:bodyPr wrap="square" rtlCol="0">
            <a:spAutoFit/>
          </a:bodyPr>
          <a:lstStyle/>
          <a:p>
            <a:r>
              <a:rPr lang="en-GB" sz="1600">
                <a:latin typeface="Lucida Sans Unicode" pitchFamily="34" charset="0"/>
                <a:cs typeface="Lucida Sans Unicode" pitchFamily="34" charset="0"/>
              </a:rPr>
              <a:t>TS: TS packets, 188B</a:t>
            </a:r>
          </a:p>
        </p:txBody>
      </p:sp>
    </p:spTree>
    <p:extLst>
      <p:ext uri="{BB962C8B-B14F-4D97-AF65-F5344CB8AC3E}">
        <p14:creationId xmlns:p14="http://schemas.microsoft.com/office/powerpoint/2010/main" val="11233870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Rectangle 74"/>
          <p:cNvSpPr/>
          <p:nvPr/>
        </p:nvSpPr>
        <p:spPr>
          <a:xfrm flipV="1">
            <a:off x="0" y="832946"/>
            <a:ext cx="9144000" cy="2846176"/>
          </a:xfrm>
          <a:prstGeom prst="rect">
            <a:avLst/>
          </a:prstGeom>
          <a:gradFill flip="none" rotWithShape="1">
            <a:gsLst>
              <a:gs pos="100000">
                <a:srgbClr val="FFCCCC"/>
              </a:gs>
              <a:gs pos="48000">
                <a:schemeClr val="accent3">
                  <a:lumMod val="40000"/>
                  <a:lumOff val="60000"/>
                </a:schemeClr>
              </a:gs>
            </a:gsLst>
            <a:lin ang="5400000" scaled="0"/>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Rectangle 1"/>
          <p:cNvSpPr/>
          <p:nvPr/>
        </p:nvSpPr>
        <p:spPr>
          <a:xfrm>
            <a:off x="0" y="2762008"/>
            <a:ext cx="9144000" cy="3739000"/>
          </a:xfrm>
          <a:prstGeom prst="rect">
            <a:avLst/>
          </a:prstGeom>
          <a:gradFill flip="none" rotWithShape="1">
            <a:gsLst>
              <a:gs pos="0">
                <a:srgbClr val="FFFFFF">
                  <a:alpha val="0"/>
                </a:srgbClr>
              </a:gs>
              <a:gs pos="48000">
                <a:schemeClr val="accent1">
                  <a:lumMod val="20000"/>
                  <a:lumOff val="80000"/>
                </a:schemeClr>
              </a:gs>
            </a:gsLst>
            <a:lin ang="5400000" scaled="0"/>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Rectangle 2"/>
          <p:cNvSpPr/>
          <p:nvPr/>
        </p:nvSpPr>
        <p:spPr>
          <a:xfrm>
            <a:off x="395287" y="333375"/>
            <a:ext cx="8748713" cy="461665"/>
          </a:xfrm>
          <a:prstGeom prst="rect">
            <a:avLst/>
          </a:prstGeom>
        </p:spPr>
        <p:txBody>
          <a:bodyPr wrap="square">
            <a:spAutoFit/>
          </a:bodyPr>
          <a:lstStyle/>
          <a:p>
            <a:r>
              <a:rPr lang="en-GB" sz="2400" b="1">
                <a:latin typeface="Lucida Sans Unicode" pitchFamily="34" charset="0"/>
                <a:cs typeface="Lucida Sans Unicode" pitchFamily="34" charset="0"/>
              </a:rPr>
              <a:t>MPEG-2 – PES ⇒ PS Packs and TS Packets</a:t>
            </a:r>
            <a:endParaRPr lang="en-GB" sz="2400" b="1" dirty="0">
              <a:latin typeface="Lucida Sans Unicode" pitchFamily="34" charset="0"/>
              <a:cs typeface="Lucida Sans Unicode" pitchFamily="34" charset="0"/>
            </a:endParaRPr>
          </a:p>
        </p:txBody>
      </p:sp>
      <p:sp>
        <p:nvSpPr>
          <p:cNvPr id="4" name="TextBox 3"/>
          <p:cNvSpPr txBox="1"/>
          <p:nvPr/>
        </p:nvSpPr>
        <p:spPr>
          <a:xfrm>
            <a:off x="395288" y="1124743"/>
            <a:ext cx="754911" cy="338554"/>
          </a:xfrm>
          <a:prstGeom prst="rect">
            <a:avLst/>
          </a:prstGeom>
          <a:noFill/>
        </p:spPr>
        <p:txBody>
          <a:bodyPr wrap="square" rtlCol="0">
            <a:spAutoFit/>
          </a:bodyPr>
          <a:lstStyle/>
          <a:p>
            <a:r>
              <a:rPr lang="en-GB" sz="1600" dirty="0">
                <a:latin typeface="Lucida Sans Unicode" pitchFamily="34" charset="0"/>
                <a:cs typeface="Lucida Sans Unicode" pitchFamily="34" charset="0"/>
              </a:rPr>
              <a:t>PS</a:t>
            </a:r>
          </a:p>
        </p:txBody>
      </p:sp>
      <p:sp>
        <p:nvSpPr>
          <p:cNvPr id="5" name="TextBox 4"/>
          <p:cNvSpPr txBox="1"/>
          <p:nvPr/>
        </p:nvSpPr>
        <p:spPr>
          <a:xfrm>
            <a:off x="1403648" y="1124744"/>
            <a:ext cx="1152128" cy="432048"/>
          </a:xfrm>
          <a:prstGeom prst="rect">
            <a:avLst/>
          </a:prstGeom>
          <a:solidFill>
            <a:schemeClr val="accent3">
              <a:lumMod val="40000"/>
              <a:lumOff val="60000"/>
            </a:schemeClr>
          </a:solidFill>
          <a:ln>
            <a:solidFill>
              <a:schemeClr val="accent3">
                <a:lumMod val="50000"/>
              </a:schemeClr>
            </a:solidFill>
          </a:ln>
        </p:spPr>
        <p:txBody>
          <a:bodyPr wrap="square" rtlCol="0" anchor="ctr">
            <a:noAutofit/>
          </a:bodyPr>
          <a:lstStyle/>
          <a:p>
            <a:r>
              <a:rPr lang="en-GB" sz="1600" dirty="0">
                <a:latin typeface="Lucida Sans Unicode" pitchFamily="34" charset="0"/>
                <a:cs typeface="Lucida Sans Unicode" pitchFamily="34" charset="0"/>
              </a:rPr>
              <a:t>Pack</a:t>
            </a:r>
          </a:p>
        </p:txBody>
      </p:sp>
      <p:sp>
        <p:nvSpPr>
          <p:cNvPr id="6" name="TextBox 5"/>
          <p:cNvSpPr txBox="1"/>
          <p:nvPr/>
        </p:nvSpPr>
        <p:spPr>
          <a:xfrm>
            <a:off x="2555776" y="1124744"/>
            <a:ext cx="1152128" cy="432048"/>
          </a:xfrm>
          <a:prstGeom prst="rect">
            <a:avLst/>
          </a:prstGeom>
          <a:solidFill>
            <a:schemeClr val="accent3">
              <a:lumMod val="40000"/>
              <a:lumOff val="60000"/>
            </a:schemeClr>
          </a:solidFill>
          <a:ln>
            <a:solidFill>
              <a:schemeClr val="accent3">
                <a:lumMod val="50000"/>
              </a:schemeClr>
            </a:solidFill>
          </a:ln>
        </p:spPr>
        <p:txBody>
          <a:bodyPr wrap="square" rtlCol="0" anchor="ctr">
            <a:noAutofit/>
          </a:bodyPr>
          <a:lstStyle/>
          <a:p>
            <a:r>
              <a:rPr lang="en-GB" sz="1600" dirty="0">
                <a:latin typeface="Lucida Sans Unicode" pitchFamily="34" charset="0"/>
                <a:cs typeface="Lucida Sans Unicode" pitchFamily="34" charset="0"/>
              </a:rPr>
              <a:t>Pack</a:t>
            </a:r>
          </a:p>
        </p:txBody>
      </p:sp>
      <p:sp>
        <p:nvSpPr>
          <p:cNvPr id="7" name="TextBox 6"/>
          <p:cNvSpPr txBox="1"/>
          <p:nvPr/>
        </p:nvSpPr>
        <p:spPr>
          <a:xfrm>
            <a:off x="5508104" y="1124744"/>
            <a:ext cx="1152128" cy="432048"/>
          </a:xfrm>
          <a:prstGeom prst="rect">
            <a:avLst/>
          </a:prstGeom>
          <a:solidFill>
            <a:schemeClr val="accent3">
              <a:lumMod val="40000"/>
              <a:lumOff val="60000"/>
            </a:schemeClr>
          </a:solidFill>
          <a:ln>
            <a:solidFill>
              <a:schemeClr val="accent3">
                <a:lumMod val="50000"/>
              </a:schemeClr>
            </a:solidFill>
          </a:ln>
        </p:spPr>
        <p:txBody>
          <a:bodyPr wrap="square" rtlCol="0" anchor="ctr">
            <a:noAutofit/>
          </a:bodyPr>
          <a:lstStyle/>
          <a:p>
            <a:r>
              <a:rPr lang="en-GB" sz="1600" dirty="0">
                <a:latin typeface="Lucida Sans Unicode" pitchFamily="34" charset="0"/>
                <a:cs typeface="Lucida Sans Unicode" pitchFamily="34" charset="0"/>
              </a:rPr>
              <a:t>Pack</a:t>
            </a:r>
          </a:p>
        </p:txBody>
      </p:sp>
      <p:sp>
        <p:nvSpPr>
          <p:cNvPr id="8" name="TextBox 7"/>
          <p:cNvSpPr txBox="1"/>
          <p:nvPr/>
        </p:nvSpPr>
        <p:spPr>
          <a:xfrm>
            <a:off x="7697971" y="1124744"/>
            <a:ext cx="946586" cy="432048"/>
          </a:xfrm>
          <a:prstGeom prst="rect">
            <a:avLst/>
          </a:prstGeom>
          <a:solidFill>
            <a:schemeClr val="accent3">
              <a:lumMod val="40000"/>
              <a:lumOff val="60000"/>
            </a:schemeClr>
          </a:solidFill>
          <a:ln>
            <a:solidFill>
              <a:schemeClr val="accent3">
                <a:lumMod val="50000"/>
              </a:schemeClr>
            </a:solidFill>
          </a:ln>
        </p:spPr>
        <p:txBody>
          <a:bodyPr wrap="square" rtlCol="0" anchor="ctr">
            <a:noAutofit/>
          </a:bodyPr>
          <a:lstStyle/>
          <a:p>
            <a:r>
              <a:rPr lang="en-GB" sz="1050" dirty="0">
                <a:latin typeface="Lucida Sans Unicode" pitchFamily="34" charset="0"/>
                <a:cs typeface="Lucida Sans Unicode" pitchFamily="34" charset="0"/>
              </a:rPr>
              <a:t>Program end code</a:t>
            </a:r>
          </a:p>
        </p:txBody>
      </p:sp>
      <p:sp>
        <p:nvSpPr>
          <p:cNvPr id="9" name="TextBox 8"/>
          <p:cNvSpPr txBox="1"/>
          <p:nvPr/>
        </p:nvSpPr>
        <p:spPr>
          <a:xfrm>
            <a:off x="3707904" y="1124744"/>
            <a:ext cx="1800200" cy="432048"/>
          </a:xfrm>
          <a:prstGeom prst="rect">
            <a:avLst/>
          </a:prstGeom>
          <a:solidFill>
            <a:schemeClr val="accent3">
              <a:lumMod val="40000"/>
              <a:lumOff val="60000"/>
            </a:schemeClr>
          </a:solidFill>
          <a:ln>
            <a:solidFill>
              <a:schemeClr val="accent3">
                <a:lumMod val="50000"/>
              </a:schemeClr>
            </a:solidFill>
          </a:ln>
        </p:spPr>
        <p:txBody>
          <a:bodyPr wrap="square" rtlCol="0" anchor="ctr">
            <a:noAutofit/>
          </a:bodyPr>
          <a:lstStyle/>
          <a:p>
            <a:r>
              <a:rPr lang="en-GB" sz="1600" dirty="0">
                <a:latin typeface="Lucida Sans Unicode" pitchFamily="34" charset="0"/>
                <a:cs typeface="Lucida Sans Unicode" pitchFamily="34" charset="0"/>
              </a:rPr>
              <a:t>........................</a:t>
            </a:r>
          </a:p>
        </p:txBody>
      </p:sp>
      <p:sp>
        <p:nvSpPr>
          <p:cNvPr id="10" name="TextBox 9"/>
          <p:cNvSpPr txBox="1"/>
          <p:nvPr/>
        </p:nvSpPr>
        <p:spPr>
          <a:xfrm>
            <a:off x="1403648" y="2132856"/>
            <a:ext cx="720080" cy="432048"/>
          </a:xfrm>
          <a:prstGeom prst="rect">
            <a:avLst/>
          </a:prstGeom>
          <a:solidFill>
            <a:schemeClr val="accent3">
              <a:lumMod val="50000"/>
            </a:schemeClr>
          </a:solidFill>
          <a:ln>
            <a:solidFill>
              <a:schemeClr val="accent4">
                <a:lumMod val="75000"/>
              </a:schemeClr>
            </a:solidFill>
          </a:ln>
        </p:spPr>
        <p:txBody>
          <a:bodyPr wrap="square" rtlCol="0" anchor="ctr">
            <a:noAutofit/>
          </a:bodyPr>
          <a:lstStyle/>
          <a:p>
            <a:r>
              <a:rPr lang="en-GB" sz="1100" b="1" dirty="0">
                <a:solidFill>
                  <a:schemeClr val="bg1">
                    <a:lumMod val="95000"/>
                  </a:schemeClr>
                </a:solidFill>
                <a:latin typeface="Lucida Sans Unicode" pitchFamily="34" charset="0"/>
                <a:cs typeface="Lucida Sans Unicode" pitchFamily="34" charset="0"/>
              </a:rPr>
              <a:t>Pack</a:t>
            </a:r>
            <a:r>
              <a:rPr lang="en-GB" sz="1100" dirty="0">
                <a:solidFill>
                  <a:schemeClr val="bg1">
                    <a:lumMod val="95000"/>
                  </a:schemeClr>
                </a:solidFill>
                <a:latin typeface="Lucida Sans Unicode" pitchFamily="34" charset="0"/>
                <a:cs typeface="Lucida Sans Unicode" pitchFamily="34" charset="0"/>
              </a:rPr>
              <a:t> </a:t>
            </a:r>
          </a:p>
          <a:p>
            <a:r>
              <a:rPr lang="en-GB" sz="1100" dirty="0">
                <a:solidFill>
                  <a:schemeClr val="bg1">
                    <a:lumMod val="95000"/>
                  </a:schemeClr>
                </a:solidFill>
                <a:latin typeface="Lucida Sans Unicode" pitchFamily="34" charset="0"/>
                <a:cs typeface="Lucida Sans Unicode" pitchFamily="34" charset="0"/>
              </a:rPr>
              <a:t>Header</a:t>
            </a:r>
          </a:p>
        </p:txBody>
      </p:sp>
      <p:sp>
        <p:nvSpPr>
          <p:cNvPr id="11" name="TextBox 10"/>
          <p:cNvSpPr txBox="1"/>
          <p:nvPr/>
        </p:nvSpPr>
        <p:spPr>
          <a:xfrm>
            <a:off x="2123728" y="2132856"/>
            <a:ext cx="1152128" cy="432048"/>
          </a:xfrm>
          <a:prstGeom prst="rect">
            <a:avLst/>
          </a:prstGeom>
          <a:solidFill>
            <a:schemeClr val="accent6">
              <a:lumMod val="20000"/>
              <a:lumOff val="80000"/>
            </a:schemeClr>
          </a:solidFill>
          <a:ln>
            <a:solidFill>
              <a:schemeClr val="accent6">
                <a:lumMod val="50000"/>
              </a:schemeClr>
            </a:solidFill>
          </a:ln>
        </p:spPr>
        <p:txBody>
          <a:bodyPr wrap="square" rtlCol="0" anchor="ctr">
            <a:noAutofit/>
          </a:bodyPr>
          <a:lstStyle/>
          <a:p>
            <a:r>
              <a:rPr lang="en-GB" sz="1600" dirty="0">
                <a:latin typeface="Lucida Sans Unicode" pitchFamily="34" charset="0"/>
                <a:cs typeface="Lucida Sans Unicode" pitchFamily="34" charset="0"/>
              </a:rPr>
              <a:t>PES</a:t>
            </a:r>
          </a:p>
        </p:txBody>
      </p:sp>
      <p:sp>
        <p:nvSpPr>
          <p:cNvPr id="12" name="TextBox 11"/>
          <p:cNvSpPr txBox="1"/>
          <p:nvPr/>
        </p:nvSpPr>
        <p:spPr>
          <a:xfrm>
            <a:off x="395288" y="2132855"/>
            <a:ext cx="754911" cy="338554"/>
          </a:xfrm>
          <a:prstGeom prst="rect">
            <a:avLst/>
          </a:prstGeom>
          <a:noFill/>
        </p:spPr>
        <p:txBody>
          <a:bodyPr wrap="square" rtlCol="0">
            <a:spAutoFit/>
          </a:bodyPr>
          <a:lstStyle/>
          <a:p>
            <a:r>
              <a:rPr lang="en-GB" sz="1600" dirty="0">
                <a:latin typeface="Lucida Sans Unicode" pitchFamily="34" charset="0"/>
                <a:cs typeface="Lucida Sans Unicode" pitchFamily="34" charset="0"/>
              </a:rPr>
              <a:t>Pack</a:t>
            </a:r>
          </a:p>
        </p:txBody>
      </p:sp>
      <p:sp>
        <p:nvSpPr>
          <p:cNvPr id="13" name="TextBox 12"/>
          <p:cNvSpPr txBox="1"/>
          <p:nvPr/>
        </p:nvSpPr>
        <p:spPr>
          <a:xfrm>
            <a:off x="3275856" y="2132856"/>
            <a:ext cx="1152128" cy="432048"/>
          </a:xfrm>
          <a:prstGeom prst="rect">
            <a:avLst/>
          </a:prstGeom>
          <a:solidFill>
            <a:schemeClr val="accent3">
              <a:lumMod val="40000"/>
              <a:lumOff val="60000"/>
            </a:schemeClr>
          </a:solidFill>
          <a:ln>
            <a:solidFill>
              <a:schemeClr val="accent6">
                <a:lumMod val="50000"/>
              </a:schemeClr>
            </a:solidFill>
          </a:ln>
        </p:spPr>
        <p:txBody>
          <a:bodyPr wrap="square" rtlCol="0" anchor="ctr">
            <a:noAutofit/>
          </a:bodyPr>
          <a:lstStyle/>
          <a:p>
            <a:r>
              <a:rPr lang="en-GB" sz="1600" dirty="0">
                <a:latin typeface="Lucida Sans Unicode" pitchFamily="34" charset="0"/>
                <a:cs typeface="Lucida Sans Unicode" pitchFamily="34" charset="0"/>
              </a:rPr>
              <a:t>PES</a:t>
            </a:r>
          </a:p>
        </p:txBody>
      </p:sp>
      <p:sp>
        <p:nvSpPr>
          <p:cNvPr id="14" name="TextBox 13"/>
          <p:cNvSpPr txBox="1"/>
          <p:nvPr/>
        </p:nvSpPr>
        <p:spPr>
          <a:xfrm>
            <a:off x="6372200" y="2132856"/>
            <a:ext cx="1152128" cy="432048"/>
          </a:xfrm>
          <a:prstGeom prst="rect">
            <a:avLst/>
          </a:prstGeom>
          <a:solidFill>
            <a:schemeClr val="accent3">
              <a:lumMod val="40000"/>
              <a:lumOff val="60000"/>
            </a:schemeClr>
          </a:solidFill>
          <a:ln>
            <a:solidFill>
              <a:schemeClr val="accent6">
                <a:lumMod val="50000"/>
              </a:schemeClr>
            </a:solidFill>
          </a:ln>
        </p:spPr>
        <p:txBody>
          <a:bodyPr wrap="square" rtlCol="0" anchor="ctr">
            <a:noAutofit/>
          </a:bodyPr>
          <a:lstStyle/>
          <a:p>
            <a:r>
              <a:rPr lang="en-GB" sz="1600" dirty="0">
                <a:latin typeface="Lucida Sans Unicode" pitchFamily="34" charset="0"/>
                <a:cs typeface="Lucida Sans Unicode" pitchFamily="34" charset="0"/>
              </a:rPr>
              <a:t>PES</a:t>
            </a:r>
          </a:p>
        </p:txBody>
      </p:sp>
      <p:sp>
        <p:nvSpPr>
          <p:cNvPr id="15" name="TextBox 14"/>
          <p:cNvSpPr txBox="1"/>
          <p:nvPr/>
        </p:nvSpPr>
        <p:spPr>
          <a:xfrm>
            <a:off x="7524328" y="2132856"/>
            <a:ext cx="1152128" cy="432048"/>
          </a:xfrm>
          <a:prstGeom prst="rect">
            <a:avLst/>
          </a:prstGeom>
          <a:solidFill>
            <a:schemeClr val="accent3">
              <a:lumMod val="40000"/>
              <a:lumOff val="60000"/>
            </a:schemeClr>
          </a:solidFill>
          <a:ln>
            <a:solidFill>
              <a:schemeClr val="accent6">
                <a:lumMod val="50000"/>
              </a:schemeClr>
            </a:solidFill>
          </a:ln>
        </p:spPr>
        <p:txBody>
          <a:bodyPr wrap="square" rtlCol="0" anchor="ctr">
            <a:noAutofit/>
          </a:bodyPr>
          <a:lstStyle/>
          <a:p>
            <a:r>
              <a:rPr lang="en-GB" sz="1600" dirty="0">
                <a:latin typeface="Lucida Sans Unicode" pitchFamily="34" charset="0"/>
                <a:cs typeface="Lucida Sans Unicode" pitchFamily="34" charset="0"/>
              </a:rPr>
              <a:t>PES</a:t>
            </a:r>
          </a:p>
        </p:txBody>
      </p:sp>
      <p:sp>
        <p:nvSpPr>
          <p:cNvPr id="16" name="TextBox 15"/>
          <p:cNvSpPr txBox="1"/>
          <p:nvPr/>
        </p:nvSpPr>
        <p:spPr>
          <a:xfrm>
            <a:off x="4427984" y="2132856"/>
            <a:ext cx="1944216" cy="432048"/>
          </a:xfrm>
          <a:prstGeom prst="rect">
            <a:avLst/>
          </a:prstGeom>
          <a:solidFill>
            <a:schemeClr val="accent3">
              <a:lumMod val="40000"/>
              <a:lumOff val="60000"/>
            </a:schemeClr>
          </a:solidFill>
          <a:ln>
            <a:solidFill>
              <a:schemeClr val="accent3">
                <a:lumMod val="50000"/>
              </a:schemeClr>
            </a:solidFill>
          </a:ln>
        </p:spPr>
        <p:txBody>
          <a:bodyPr wrap="square" rtlCol="0" anchor="ctr">
            <a:noAutofit/>
          </a:bodyPr>
          <a:lstStyle/>
          <a:p>
            <a:r>
              <a:rPr lang="en-GB" sz="1600" dirty="0">
                <a:latin typeface="Lucida Sans Unicode" pitchFamily="34" charset="0"/>
                <a:cs typeface="Lucida Sans Unicode" pitchFamily="34" charset="0"/>
              </a:rPr>
              <a:t>...................</a:t>
            </a:r>
          </a:p>
        </p:txBody>
      </p:sp>
      <p:cxnSp>
        <p:nvCxnSpPr>
          <p:cNvPr id="18" name="Straight Connector 17"/>
          <p:cNvCxnSpPr/>
          <p:nvPr/>
        </p:nvCxnSpPr>
        <p:spPr>
          <a:xfrm>
            <a:off x="1403648" y="1628800"/>
            <a:ext cx="0" cy="532859"/>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2627784" y="1628800"/>
            <a:ext cx="5976664" cy="432048"/>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395288" y="3212975"/>
            <a:ext cx="754911" cy="338554"/>
          </a:xfrm>
          <a:prstGeom prst="rect">
            <a:avLst/>
          </a:prstGeom>
          <a:noFill/>
        </p:spPr>
        <p:txBody>
          <a:bodyPr wrap="square" rtlCol="0">
            <a:spAutoFit/>
          </a:bodyPr>
          <a:lstStyle/>
          <a:p>
            <a:r>
              <a:rPr lang="en-GB" sz="1600" dirty="0">
                <a:latin typeface="Lucida Sans Unicode" pitchFamily="34" charset="0"/>
                <a:cs typeface="Lucida Sans Unicode" pitchFamily="34" charset="0"/>
              </a:rPr>
              <a:t>PES</a:t>
            </a:r>
          </a:p>
        </p:txBody>
      </p:sp>
      <p:sp>
        <p:nvSpPr>
          <p:cNvPr id="24" name="TextBox 23"/>
          <p:cNvSpPr txBox="1"/>
          <p:nvPr/>
        </p:nvSpPr>
        <p:spPr>
          <a:xfrm>
            <a:off x="1403648" y="3140968"/>
            <a:ext cx="720080" cy="432048"/>
          </a:xfrm>
          <a:prstGeom prst="rect">
            <a:avLst/>
          </a:prstGeom>
          <a:solidFill>
            <a:schemeClr val="accent6">
              <a:lumMod val="50000"/>
            </a:schemeClr>
          </a:solidFill>
          <a:ln>
            <a:solidFill>
              <a:schemeClr val="accent4">
                <a:lumMod val="75000"/>
              </a:schemeClr>
            </a:solidFill>
          </a:ln>
        </p:spPr>
        <p:txBody>
          <a:bodyPr wrap="square" rtlCol="0" anchor="ctr">
            <a:noAutofit/>
          </a:bodyPr>
          <a:lstStyle/>
          <a:p>
            <a:r>
              <a:rPr lang="en-GB" sz="1100" b="1" dirty="0">
                <a:solidFill>
                  <a:schemeClr val="bg1">
                    <a:lumMod val="95000"/>
                  </a:schemeClr>
                </a:solidFill>
                <a:latin typeface="Lucida Sans Unicode" pitchFamily="34" charset="0"/>
                <a:cs typeface="Lucida Sans Unicode" pitchFamily="34" charset="0"/>
              </a:rPr>
              <a:t>PES</a:t>
            </a:r>
            <a:r>
              <a:rPr lang="en-GB" sz="1100" dirty="0">
                <a:solidFill>
                  <a:schemeClr val="bg1">
                    <a:lumMod val="95000"/>
                  </a:schemeClr>
                </a:solidFill>
                <a:latin typeface="Lucida Sans Unicode" pitchFamily="34" charset="0"/>
                <a:cs typeface="Lucida Sans Unicode" pitchFamily="34" charset="0"/>
              </a:rPr>
              <a:t> </a:t>
            </a:r>
          </a:p>
          <a:p>
            <a:r>
              <a:rPr lang="en-GB" sz="1100" dirty="0">
                <a:solidFill>
                  <a:schemeClr val="bg1">
                    <a:lumMod val="95000"/>
                  </a:schemeClr>
                </a:solidFill>
                <a:latin typeface="Lucida Sans Unicode" pitchFamily="34" charset="0"/>
                <a:cs typeface="Lucida Sans Unicode" pitchFamily="34" charset="0"/>
              </a:rPr>
              <a:t>Header</a:t>
            </a:r>
          </a:p>
        </p:txBody>
      </p:sp>
      <p:sp>
        <p:nvSpPr>
          <p:cNvPr id="25" name="TextBox 24"/>
          <p:cNvSpPr txBox="1"/>
          <p:nvPr/>
        </p:nvSpPr>
        <p:spPr>
          <a:xfrm>
            <a:off x="2123728" y="3140968"/>
            <a:ext cx="6552728" cy="432048"/>
          </a:xfrm>
          <a:prstGeom prst="rect">
            <a:avLst/>
          </a:prstGeom>
          <a:solidFill>
            <a:schemeClr val="accent6">
              <a:lumMod val="20000"/>
              <a:lumOff val="80000"/>
            </a:schemeClr>
          </a:solidFill>
          <a:ln>
            <a:solidFill>
              <a:schemeClr val="accent6">
                <a:lumMod val="50000"/>
              </a:schemeClr>
            </a:solidFill>
          </a:ln>
        </p:spPr>
        <p:txBody>
          <a:bodyPr wrap="square" rtlCol="0" anchor="ctr">
            <a:noAutofit/>
          </a:bodyPr>
          <a:lstStyle/>
          <a:p>
            <a:r>
              <a:rPr lang="en-GB" sz="1600" dirty="0">
                <a:latin typeface="Lucida Sans Unicode" pitchFamily="34" charset="0"/>
                <a:cs typeface="Lucida Sans Unicode" pitchFamily="34" charset="0"/>
              </a:rPr>
              <a:t>                                        PES payload</a:t>
            </a:r>
          </a:p>
        </p:txBody>
      </p:sp>
      <p:cxnSp>
        <p:nvCxnSpPr>
          <p:cNvPr id="26" name="Straight Connector 25"/>
          <p:cNvCxnSpPr/>
          <p:nvPr/>
        </p:nvCxnSpPr>
        <p:spPr>
          <a:xfrm flipH="1">
            <a:off x="1403648" y="2564904"/>
            <a:ext cx="720080" cy="504056"/>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3275856" y="2564904"/>
            <a:ext cx="5400600" cy="504056"/>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1403648" y="4293096"/>
            <a:ext cx="720080" cy="432048"/>
          </a:xfrm>
          <a:prstGeom prst="rect">
            <a:avLst/>
          </a:prstGeom>
          <a:solidFill>
            <a:schemeClr val="tx2">
              <a:lumMod val="75000"/>
            </a:schemeClr>
          </a:solidFill>
          <a:ln>
            <a:solidFill>
              <a:schemeClr val="accent4">
                <a:lumMod val="75000"/>
              </a:schemeClr>
            </a:solidFill>
          </a:ln>
        </p:spPr>
        <p:txBody>
          <a:bodyPr wrap="square" rtlCol="0" anchor="ctr">
            <a:noAutofit/>
          </a:bodyPr>
          <a:lstStyle/>
          <a:p>
            <a:r>
              <a:rPr lang="en-GB" sz="1200" b="1" dirty="0">
                <a:solidFill>
                  <a:schemeClr val="bg1">
                    <a:lumMod val="95000"/>
                  </a:schemeClr>
                </a:solidFill>
                <a:latin typeface="Lucida Sans Unicode" pitchFamily="34" charset="0"/>
                <a:cs typeface="Lucida Sans Unicode" pitchFamily="34" charset="0"/>
              </a:rPr>
              <a:t>TS </a:t>
            </a:r>
          </a:p>
          <a:p>
            <a:r>
              <a:rPr lang="en-GB" sz="1200" dirty="0">
                <a:solidFill>
                  <a:schemeClr val="bg1">
                    <a:lumMod val="95000"/>
                  </a:schemeClr>
                </a:solidFill>
                <a:latin typeface="Lucida Sans Unicode" pitchFamily="34" charset="0"/>
                <a:cs typeface="Lucida Sans Unicode" pitchFamily="34" charset="0"/>
              </a:rPr>
              <a:t>Header</a:t>
            </a:r>
          </a:p>
        </p:txBody>
      </p:sp>
      <p:sp>
        <p:nvSpPr>
          <p:cNvPr id="31" name="TextBox 30"/>
          <p:cNvSpPr txBox="1"/>
          <p:nvPr/>
        </p:nvSpPr>
        <p:spPr>
          <a:xfrm>
            <a:off x="2123728" y="4293096"/>
            <a:ext cx="1296144" cy="432048"/>
          </a:xfrm>
          <a:prstGeom prst="rect">
            <a:avLst/>
          </a:prstGeom>
          <a:solidFill>
            <a:schemeClr val="accent1">
              <a:lumMod val="60000"/>
              <a:lumOff val="40000"/>
            </a:schemeClr>
          </a:solidFill>
          <a:ln>
            <a:solidFill>
              <a:schemeClr val="accent6">
                <a:lumMod val="50000"/>
              </a:schemeClr>
            </a:solidFill>
          </a:ln>
        </p:spPr>
        <p:txBody>
          <a:bodyPr wrap="square" rtlCol="0" anchor="ctr">
            <a:noAutofit/>
          </a:bodyPr>
          <a:lstStyle/>
          <a:p>
            <a:r>
              <a:rPr lang="en-GB" sz="1600" dirty="0">
                <a:latin typeface="Lucida Sans Unicode" pitchFamily="34" charset="0"/>
                <a:cs typeface="Lucida Sans Unicode" pitchFamily="34" charset="0"/>
              </a:rPr>
              <a:t>TS payload</a:t>
            </a:r>
          </a:p>
        </p:txBody>
      </p:sp>
      <p:sp>
        <p:nvSpPr>
          <p:cNvPr id="40" name="TextBox 39"/>
          <p:cNvSpPr txBox="1"/>
          <p:nvPr/>
        </p:nvSpPr>
        <p:spPr>
          <a:xfrm>
            <a:off x="4716016" y="4293096"/>
            <a:ext cx="720080" cy="432048"/>
          </a:xfrm>
          <a:prstGeom prst="rect">
            <a:avLst/>
          </a:prstGeom>
          <a:solidFill>
            <a:schemeClr val="tx2">
              <a:lumMod val="75000"/>
            </a:schemeClr>
          </a:solidFill>
          <a:ln>
            <a:solidFill>
              <a:schemeClr val="accent4">
                <a:lumMod val="75000"/>
              </a:schemeClr>
            </a:solidFill>
          </a:ln>
        </p:spPr>
        <p:txBody>
          <a:bodyPr wrap="square" rtlCol="0" anchor="ctr">
            <a:noAutofit/>
          </a:bodyPr>
          <a:lstStyle/>
          <a:p>
            <a:r>
              <a:rPr lang="en-GB" sz="1200" b="1" dirty="0">
                <a:solidFill>
                  <a:schemeClr val="bg1">
                    <a:lumMod val="95000"/>
                  </a:schemeClr>
                </a:solidFill>
                <a:latin typeface="Lucida Sans Unicode" pitchFamily="34" charset="0"/>
                <a:cs typeface="Lucida Sans Unicode" pitchFamily="34" charset="0"/>
              </a:rPr>
              <a:t>TS </a:t>
            </a:r>
          </a:p>
          <a:p>
            <a:r>
              <a:rPr lang="en-GB" sz="1200" dirty="0">
                <a:solidFill>
                  <a:schemeClr val="bg1">
                    <a:lumMod val="95000"/>
                  </a:schemeClr>
                </a:solidFill>
                <a:latin typeface="Lucida Sans Unicode" pitchFamily="34" charset="0"/>
                <a:cs typeface="Lucida Sans Unicode" pitchFamily="34" charset="0"/>
              </a:rPr>
              <a:t>Header</a:t>
            </a:r>
          </a:p>
        </p:txBody>
      </p:sp>
      <p:sp>
        <p:nvSpPr>
          <p:cNvPr id="41" name="TextBox 40"/>
          <p:cNvSpPr txBox="1"/>
          <p:nvPr/>
        </p:nvSpPr>
        <p:spPr>
          <a:xfrm>
            <a:off x="5436096" y="4293096"/>
            <a:ext cx="1296144" cy="432048"/>
          </a:xfrm>
          <a:prstGeom prst="rect">
            <a:avLst/>
          </a:prstGeom>
          <a:solidFill>
            <a:schemeClr val="accent1">
              <a:lumMod val="60000"/>
              <a:lumOff val="40000"/>
            </a:schemeClr>
          </a:solidFill>
          <a:ln>
            <a:solidFill>
              <a:schemeClr val="accent6">
                <a:lumMod val="50000"/>
              </a:schemeClr>
            </a:solidFill>
          </a:ln>
        </p:spPr>
        <p:txBody>
          <a:bodyPr wrap="square" rtlCol="0" anchor="ctr">
            <a:noAutofit/>
          </a:bodyPr>
          <a:lstStyle/>
          <a:p>
            <a:r>
              <a:rPr lang="en-GB" sz="1600" dirty="0">
                <a:latin typeface="Lucida Sans Unicode" pitchFamily="34" charset="0"/>
                <a:cs typeface="Lucida Sans Unicode" pitchFamily="34" charset="0"/>
              </a:rPr>
              <a:t>TS payload</a:t>
            </a:r>
          </a:p>
        </p:txBody>
      </p:sp>
      <p:cxnSp>
        <p:nvCxnSpPr>
          <p:cNvPr id="52" name="Straight Connector 51"/>
          <p:cNvCxnSpPr/>
          <p:nvPr/>
        </p:nvCxnSpPr>
        <p:spPr>
          <a:xfrm>
            <a:off x="1403648" y="3717032"/>
            <a:ext cx="0" cy="432048"/>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a:off x="2987824" y="3140968"/>
            <a:ext cx="0" cy="432048"/>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a:off x="2987824" y="3645024"/>
            <a:ext cx="360040" cy="648072"/>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a:off x="4355976" y="3140968"/>
            <a:ext cx="0" cy="432048"/>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a:xfrm>
            <a:off x="4355976" y="3645024"/>
            <a:ext cx="2304256" cy="576064"/>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a:off x="2987824" y="3645024"/>
            <a:ext cx="1728192" cy="576064"/>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65" name="TextBox 64"/>
          <p:cNvSpPr txBox="1"/>
          <p:nvPr/>
        </p:nvSpPr>
        <p:spPr>
          <a:xfrm>
            <a:off x="1403648" y="5373216"/>
            <a:ext cx="1152128" cy="432048"/>
          </a:xfrm>
          <a:prstGeom prst="rect">
            <a:avLst/>
          </a:prstGeom>
          <a:solidFill>
            <a:schemeClr val="accent1">
              <a:lumMod val="60000"/>
              <a:lumOff val="40000"/>
            </a:schemeClr>
          </a:solidFill>
          <a:ln>
            <a:solidFill>
              <a:schemeClr val="accent3">
                <a:lumMod val="50000"/>
              </a:schemeClr>
            </a:solidFill>
          </a:ln>
        </p:spPr>
        <p:txBody>
          <a:bodyPr wrap="square" rtlCol="0" anchor="ctr">
            <a:noAutofit/>
          </a:bodyPr>
          <a:lstStyle/>
          <a:p>
            <a:r>
              <a:rPr lang="en-GB" sz="1100" b="1" dirty="0">
                <a:latin typeface="Lucida Sans Unicode" pitchFamily="34" charset="0"/>
                <a:cs typeface="Lucida Sans Unicode" pitchFamily="34" charset="0"/>
              </a:rPr>
              <a:t>TS Packet </a:t>
            </a:r>
          </a:p>
          <a:p>
            <a:r>
              <a:rPr lang="en-GB" sz="1100" dirty="0">
                <a:latin typeface="Lucida Sans Unicode" pitchFamily="34" charset="0"/>
                <a:cs typeface="Lucida Sans Unicode" pitchFamily="34" charset="0"/>
              </a:rPr>
              <a:t>PID =m</a:t>
            </a:r>
          </a:p>
        </p:txBody>
      </p:sp>
      <p:sp>
        <p:nvSpPr>
          <p:cNvPr id="66" name="TextBox 65"/>
          <p:cNvSpPr txBox="1"/>
          <p:nvPr/>
        </p:nvSpPr>
        <p:spPr>
          <a:xfrm>
            <a:off x="2555776" y="5373216"/>
            <a:ext cx="1152128" cy="432048"/>
          </a:xfrm>
          <a:prstGeom prst="rect">
            <a:avLst/>
          </a:prstGeom>
          <a:solidFill>
            <a:schemeClr val="accent1">
              <a:lumMod val="60000"/>
              <a:lumOff val="40000"/>
            </a:schemeClr>
          </a:solidFill>
          <a:ln>
            <a:solidFill>
              <a:schemeClr val="accent3">
                <a:lumMod val="50000"/>
              </a:schemeClr>
            </a:solidFill>
          </a:ln>
        </p:spPr>
        <p:txBody>
          <a:bodyPr wrap="square" rtlCol="0" anchor="ctr">
            <a:noAutofit/>
          </a:bodyPr>
          <a:lstStyle/>
          <a:p>
            <a:r>
              <a:rPr lang="en-GB" sz="1100" b="1" dirty="0">
                <a:latin typeface="Lucida Sans Unicode" pitchFamily="34" charset="0"/>
                <a:cs typeface="Lucida Sans Unicode" pitchFamily="34" charset="0"/>
              </a:rPr>
              <a:t>TS Packet </a:t>
            </a:r>
          </a:p>
          <a:p>
            <a:r>
              <a:rPr lang="en-GB" sz="1100" dirty="0">
                <a:latin typeface="Lucida Sans Unicode" pitchFamily="34" charset="0"/>
                <a:cs typeface="Lucida Sans Unicode" pitchFamily="34" charset="0"/>
              </a:rPr>
              <a:t>PID = k</a:t>
            </a:r>
          </a:p>
        </p:txBody>
      </p:sp>
      <p:sp>
        <p:nvSpPr>
          <p:cNvPr id="67" name="TextBox 66"/>
          <p:cNvSpPr txBox="1"/>
          <p:nvPr/>
        </p:nvSpPr>
        <p:spPr>
          <a:xfrm>
            <a:off x="3707904" y="5373216"/>
            <a:ext cx="1152128" cy="432048"/>
          </a:xfrm>
          <a:prstGeom prst="rect">
            <a:avLst/>
          </a:prstGeom>
          <a:solidFill>
            <a:schemeClr val="accent1">
              <a:lumMod val="60000"/>
              <a:lumOff val="40000"/>
            </a:schemeClr>
          </a:solidFill>
          <a:ln>
            <a:solidFill>
              <a:schemeClr val="accent3">
                <a:lumMod val="50000"/>
              </a:schemeClr>
            </a:solidFill>
          </a:ln>
        </p:spPr>
        <p:txBody>
          <a:bodyPr wrap="square" rtlCol="0" anchor="ctr">
            <a:noAutofit/>
          </a:bodyPr>
          <a:lstStyle/>
          <a:p>
            <a:r>
              <a:rPr lang="en-GB" sz="1100" b="1" dirty="0">
                <a:latin typeface="Lucida Sans Unicode" pitchFamily="34" charset="0"/>
                <a:cs typeface="Lucida Sans Unicode" pitchFamily="34" charset="0"/>
              </a:rPr>
              <a:t>TS Packet </a:t>
            </a:r>
          </a:p>
          <a:p>
            <a:r>
              <a:rPr lang="en-GB" sz="1100" dirty="0">
                <a:latin typeface="Lucida Sans Unicode" pitchFamily="34" charset="0"/>
                <a:cs typeface="Lucida Sans Unicode" pitchFamily="34" charset="0"/>
              </a:rPr>
              <a:t>PID = m</a:t>
            </a:r>
          </a:p>
        </p:txBody>
      </p:sp>
      <p:sp>
        <p:nvSpPr>
          <p:cNvPr id="68" name="TextBox 67"/>
          <p:cNvSpPr txBox="1"/>
          <p:nvPr/>
        </p:nvSpPr>
        <p:spPr>
          <a:xfrm>
            <a:off x="6516216" y="5373216"/>
            <a:ext cx="1152128" cy="432048"/>
          </a:xfrm>
          <a:prstGeom prst="rect">
            <a:avLst/>
          </a:prstGeom>
          <a:solidFill>
            <a:schemeClr val="accent1">
              <a:lumMod val="60000"/>
              <a:lumOff val="40000"/>
            </a:schemeClr>
          </a:solidFill>
          <a:ln>
            <a:solidFill>
              <a:schemeClr val="accent3">
                <a:lumMod val="50000"/>
              </a:schemeClr>
            </a:solidFill>
          </a:ln>
        </p:spPr>
        <p:txBody>
          <a:bodyPr wrap="square" rtlCol="0" anchor="ctr">
            <a:noAutofit/>
          </a:bodyPr>
          <a:lstStyle/>
          <a:p>
            <a:r>
              <a:rPr lang="en-GB" sz="1100" b="1" dirty="0">
                <a:latin typeface="Lucida Sans Unicode" pitchFamily="34" charset="0"/>
                <a:cs typeface="Lucida Sans Unicode" pitchFamily="34" charset="0"/>
              </a:rPr>
              <a:t>TS Packet </a:t>
            </a:r>
          </a:p>
          <a:p>
            <a:r>
              <a:rPr lang="en-GB" sz="1100" dirty="0">
                <a:latin typeface="Lucida Sans Unicode" pitchFamily="34" charset="0"/>
                <a:cs typeface="Lucida Sans Unicode" pitchFamily="34" charset="0"/>
              </a:rPr>
              <a:t>PID = h</a:t>
            </a:r>
          </a:p>
        </p:txBody>
      </p:sp>
      <p:sp>
        <p:nvSpPr>
          <p:cNvPr id="69" name="TextBox 68"/>
          <p:cNvSpPr txBox="1"/>
          <p:nvPr/>
        </p:nvSpPr>
        <p:spPr>
          <a:xfrm>
            <a:off x="7668344" y="5373216"/>
            <a:ext cx="1152128" cy="432048"/>
          </a:xfrm>
          <a:prstGeom prst="rect">
            <a:avLst/>
          </a:prstGeom>
          <a:solidFill>
            <a:schemeClr val="accent1">
              <a:lumMod val="60000"/>
              <a:lumOff val="40000"/>
            </a:schemeClr>
          </a:solidFill>
          <a:ln>
            <a:solidFill>
              <a:schemeClr val="accent3">
                <a:lumMod val="50000"/>
              </a:schemeClr>
            </a:solidFill>
          </a:ln>
        </p:spPr>
        <p:txBody>
          <a:bodyPr wrap="square" rtlCol="0" anchor="ctr">
            <a:noAutofit/>
          </a:bodyPr>
          <a:lstStyle/>
          <a:p>
            <a:r>
              <a:rPr lang="en-GB" sz="1100" b="1" dirty="0">
                <a:latin typeface="Lucida Sans Unicode" pitchFamily="34" charset="0"/>
                <a:cs typeface="Lucida Sans Unicode" pitchFamily="34" charset="0"/>
              </a:rPr>
              <a:t>TS Packet </a:t>
            </a:r>
          </a:p>
          <a:p>
            <a:r>
              <a:rPr lang="en-GB" sz="1100" dirty="0">
                <a:latin typeface="Lucida Sans Unicode" pitchFamily="34" charset="0"/>
                <a:cs typeface="Lucida Sans Unicode" pitchFamily="34" charset="0"/>
              </a:rPr>
              <a:t>PID = k</a:t>
            </a:r>
          </a:p>
        </p:txBody>
      </p:sp>
      <p:sp>
        <p:nvSpPr>
          <p:cNvPr id="72" name="TextBox 71"/>
          <p:cNvSpPr txBox="1"/>
          <p:nvPr/>
        </p:nvSpPr>
        <p:spPr>
          <a:xfrm>
            <a:off x="4860032" y="5373216"/>
            <a:ext cx="1656184" cy="432048"/>
          </a:xfrm>
          <a:prstGeom prst="rect">
            <a:avLst/>
          </a:prstGeom>
          <a:solidFill>
            <a:schemeClr val="accent1">
              <a:lumMod val="60000"/>
              <a:lumOff val="40000"/>
            </a:schemeClr>
          </a:solidFill>
          <a:ln>
            <a:solidFill>
              <a:schemeClr val="accent3">
                <a:lumMod val="50000"/>
              </a:schemeClr>
            </a:solidFill>
          </a:ln>
        </p:spPr>
        <p:txBody>
          <a:bodyPr wrap="square" rtlCol="0" anchor="ctr">
            <a:noAutofit/>
          </a:bodyPr>
          <a:lstStyle/>
          <a:p>
            <a:r>
              <a:rPr lang="en-GB" sz="1100" b="1" dirty="0">
                <a:latin typeface="Lucida Sans Unicode" pitchFamily="34" charset="0"/>
                <a:cs typeface="Lucida Sans Unicode" pitchFamily="34" charset="0"/>
              </a:rPr>
              <a:t>.................................</a:t>
            </a:r>
            <a:endParaRPr lang="en-GB" sz="1100" dirty="0">
              <a:latin typeface="Lucida Sans Unicode" pitchFamily="34" charset="0"/>
              <a:cs typeface="Lucida Sans Unicode" pitchFamily="34" charset="0"/>
            </a:endParaRPr>
          </a:p>
        </p:txBody>
      </p:sp>
      <p:cxnSp>
        <p:nvCxnSpPr>
          <p:cNvPr id="73" name="Straight Connector 72"/>
          <p:cNvCxnSpPr/>
          <p:nvPr/>
        </p:nvCxnSpPr>
        <p:spPr>
          <a:xfrm>
            <a:off x="1403648" y="4797152"/>
            <a:ext cx="0" cy="432048"/>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74" name="Straight Connector 73"/>
          <p:cNvCxnSpPr/>
          <p:nvPr/>
        </p:nvCxnSpPr>
        <p:spPr>
          <a:xfrm flipH="1">
            <a:off x="2555776" y="4797152"/>
            <a:ext cx="864096" cy="504056"/>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77" name="Straight Connector 76"/>
          <p:cNvCxnSpPr/>
          <p:nvPr/>
        </p:nvCxnSpPr>
        <p:spPr>
          <a:xfrm>
            <a:off x="6732240" y="4797152"/>
            <a:ext cx="936104" cy="504056"/>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4716016" y="4797152"/>
            <a:ext cx="1800200" cy="504056"/>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81" name="TextBox 80"/>
          <p:cNvSpPr txBox="1"/>
          <p:nvPr/>
        </p:nvSpPr>
        <p:spPr>
          <a:xfrm>
            <a:off x="1403648" y="5949280"/>
            <a:ext cx="1152128" cy="307777"/>
          </a:xfrm>
          <a:prstGeom prst="rect">
            <a:avLst/>
          </a:prstGeom>
          <a:noFill/>
        </p:spPr>
        <p:txBody>
          <a:bodyPr wrap="square" rtlCol="0">
            <a:spAutoFit/>
          </a:bodyPr>
          <a:lstStyle/>
          <a:p>
            <a:pPr algn="ctr"/>
            <a:r>
              <a:rPr lang="en-GB" sz="1400" dirty="0">
                <a:latin typeface="Lucida Sans Unicode" pitchFamily="34" charset="0"/>
                <a:cs typeface="Lucida Sans Unicode" pitchFamily="34" charset="0"/>
              </a:rPr>
              <a:t>188 bytes</a:t>
            </a:r>
          </a:p>
        </p:txBody>
      </p:sp>
      <p:cxnSp>
        <p:nvCxnSpPr>
          <p:cNvPr id="83" name="Straight Arrow Connector 82"/>
          <p:cNvCxnSpPr/>
          <p:nvPr/>
        </p:nvCxnSpPr>
        <p:spPr>
          <a:xfrm>
            <a:off x="1403648" y="5949280"/>
            <a:ext cx="1152128"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84" name="TextBox 83"/>
          <p:cNvSpPr txBox="1"/>
          <p:nvPr/>
        </p:nvSpPr>
        <p:spPr>
          <a:xfrm>
            <a:off x="2555776" y="5949280"/>
            <a:ext cx="1152128" cy="307777"/>
          </a:xfrm>
          <a:prstGeom prst="rect">
            <a:avLst/>
          </a:prstGeom>
          <a:noFill/>
        </p:spPr>
        <p:txBody>
          <a:bodyPr wrap="square" rtlCol="0">
            <a:spAutoFit/>
          </a:bodyPr>
          <a:lstStyle/>
          <a:p>
            <a:pPr algn="ctr"/>
            <a:r>
              <a:rPr lang="en-GB" sz="1400" dirty="0">
                <a:latin typeface="Lucida Sans Unicode" pitchFamily="34" charset="0"/>
                <a:cs typeface="Lucida Sans Unicode" pitchFamily="34" charset="0"/>
              </a:rPr>
              <a:t>188 bytes</a:t>
            </a:r>
          </a:p>
        </p:txBody>
      </p:sp>
      <p:cxnSp>
        <p:nvCxnSpPr>
          <p:cNvPr id="85" name="Straight Arrow Connector 84"/>
          <p:cNvCxnSpPr/>
          <p:nvPr/>
        </p:nvCxnSpPr>
        <p:spPr>
          <a:xfrm>
            <a:off x="2555776" y="5949280"/>
            <a:ext cx="1152128"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86" name="TextBox 85"/>
          <p:cNvSpPr txBox="1"/>
          <p:nvPr/>
        </p:nvSpPr>
        <p:spPr>
          <a:xfrm>
            <a:off x="3707904" y="5949280"/>
            <a:ext cx="1152128" cy="307777"/>
          </a:xfrm>
          <a:prstGeom prst="rect">
            <a:avLst/>
          </a:prstGeom>
          <a:noFill/>
        </p:spPr>
        <p:txBody>
          <a:bodyPr wrap="square" rtlCol="0">
            <a:spAutoFit/>
          </a:bodyPr>
          <a:lstStyle/>
          <a:p>
            <a:pPr algn="ctr"/>
            <a:r>
              <a:rPr lang="en-GB" sz="1400" dirty="0">
                <a:latin typeface="Lucida Sans Unicode" pitchFamily="34" charset="0"/>
                <a:cs typeface="Lucida Sans Unicode" pitchFamily="34" charset="0"/>
              </a:rPr>
              <a:t>188 bytes</a:t>
            </a:r>
          </a:p>
        </p:txBody>
      </p:sp>
      <p:cxnSp>
        <p:nvCxnSpPr>
          <p:cNvPr id="87" name="Straight Arrow Connector 86"/>
          <p:cNvCxnSpPr/>
          <p:nvPr/>
        </p:nvCxnSpPr>
        <p:spPr>
          <a:xfrm>
            <a:off x="3707904" y="5949280"/>
            <a:ext cx="1152128"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88" name="TextBox 87"/>
          <p:cNvSpPr txBox="1"/>
          <p:nvPr/>
        </p:nvSpPr>
        <p:spPr>
          <a:xfrm>
            <a:off x="6516216" y="5949280"/>
            <a:ext cx="1152128" cy="307777"/>
          </a:xfrm>
          <a:prstGeom prst="rect">
            <a:avLst/>
          </a:prstGeom>
          <a:noFill/>
        </p:spPr>
        <p:txBody>
          <a:bodyPr wrap="square" rtlCol="0">
            <a:spAutoFit/>
          </a:bodyPr>
          <a:lstStyle/>
          <a:p>
            <a:pPr algn="ctr"/>
            <a:r>
              <a:rPr lang="en-GB" sz="1400" dirty="0">
                <a:latin typeface="Lucida Sans Unicode" pitchFamily="34" charset="0"/>
                <a:cs typeface="Lucida Sans Unicode" pitchFamily="34" charset="0"/>
              </a:rPr>
              <a:t>188 bytes</a:t>
            </a:r>
          </a:p>
        </p:txBody>
      </p:sp>
      <p:cxnSp>
        <p:nvCxnSpPr>
          <p:cNvPr id="89" name="Straight Arrow Connector 88"/>
          <p:cNvCxnSpPr/>
          <p:nvPr/>
        </p:nvCxnSpPr>
        <p:spPr>
          <a:xfrm>
            <a:off x="6516216" y="5949280"/>
            <a:ext cx="1152128"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90" name="TextBox 89"/>
          <p:cNvSpPr txBox="1"/>
          <p:nvPr/>
        </p:nvSpPr>
        <p:spPr>
          <a:xfrm>
            <a:off x="7668344" y="5949280"/>
            <a:ext cx="1152128" cy="307777"/>
          </a:xfrm>
          <a:prstGeom prst="rect">
            <a:avLst/>
          </a:prstGeom>
          <a:noFill/>
        </p:spPr>
        <p:txBody>
          <a:bodyPr wrap="square" rtlCol="0">
            <a:spAutoFit/>
          </a:bodyPr>
          <a:lstStyle/>
          <a:p>
            <a:pPr algn="ctr"/>
            <a:r>
              <a:rPr lang="en-GB" sz="1400" dirty="0">
                <a:latin typeface="Lucida Sans Unicode" pitchFamily="34" charset="0"/>
                <a:cs typeface="Lucida Sans Unicode" pitchFamily="34" charset="0"/>
              </a:rPr>
              <a:t>188 bytes</a:t>
            </a:r>
          </a:p>
        </p:txBody>
      </p:sp>
      <p:cxnSp>
        <p:nvCxnSpPr>
          <p:cNvPr id="91" name="Straight Arrow Connector 90"/>
          <p:cNvCxnSpPr/>
          <p:nvPr/>
        </p:nvCxnSpPr>
        <p:spPr>
          <a:xfrm>
            <a:off x="7668344" y="5949280"/>
            <a:ext cx="1152128"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93" name="TextBox 92"/>
          <p:cNvSpPr txBox="1"/>
          <p:nvPr/>
        </p:nvSpPr>
        <p:spPr>
          <a:xfrm>
            <a:off x="395288" y="4293096"/>
            <a:ext cx="864344" cy="584775"/>
          </a:xfrm>
          <a:prstGeom prst="rect">
            <a:avLst/>
          </a:prstGeom>
          <a:noFill/>
        </p:spPr>
        <p:txBody>
          <a:bodyPr wrap="square" rtlCol="0">
            <a:spAutoFit/>
          </a:bodyPr>
          <a:lstStyle/>
          <a:p>
            <a:r>
              <a:rPr lang="en-GB" sz="1600" dirty="0">
                <a:latin typeface="Lucida Sans Unicode" pitchFamily="34" charset="0"/>
                <a:cs typeface="Lucida Sans Unicode" pitchFamily="34" charset="0"/>
              </a:rPr>
              <a:t>TS</a:t>
            </a:r>
          </a:p>
          <a:p>
            <a:r>
              <a:rPr lang="en-GB" sz="1600" dirty="0">
                <a:latin typeface="Lucida Sans Unicode" pitchFamily="34" charset="0"/>
                <a:cs typeface="Lucida Sans Unicode" pitchFamily="34" charset="0"/>
              </a:rPr>
              <a:t>Packet</a:t>
            </a:r>
          </a:p>
        </p:txBody>
      </p:sp>
      <p:sp>
        <p:nvSpPr>
          <p:cNvPr id="94" name="TextBox 93"/>
          <p:cNvSpPr txBox="1"/>
          <p:nvPr/>
        </p:nvSpPr>
        <p:spPr>
          <a:xfrm>
            <a:off x="395288" y="5373216"/>
            <a:ext cx="864344" cy="338554"/>
          </a:xfrm>
          <a:prstGeom prst="rect">
            <a:avLst/>
          </a:prstGeom>
          <a:noFill/>
        </p:spPr>
        <p:txBody>
          <a:bodyPr wrap="square" rtlCol="0">
            <a:spAutoFit/>
          </a:bodyPr>
          <a:lstStyle/>
          <a:p>
            <a:r>
              <a:rPr lang="en-GB" sz="1600" dirty="0">
                <a:latin typeface="Lucida Sans Unicode" pitchFamily="34" charset="0"/>
                <a:cs typeface="Lucida Sans Unicode" pitchFamily="34" charset="0"/>
              </a:rPr>
              <a:t>TS</a:t>
            </a:r>
          </a:p>
        </p:txBody>
      </p:sp>
      <p:cxnSp>
        <p:nvCxnSpPr>
          <p:cNvPr id="60" name="Straight Arrow Connector 59"/>
          <p:cNvCxnSpPr/>
          <p:nvPr/>
        </p:nvCxnSpPr>
        <p:spPr>
          <a:xfrm flipV="1">
            <a:off x="1903228" y="2583712"/>
            <a:ext cx="202019" cy="159488"/>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p:nvPr/>
        </p:nvCxnSpPr>
        <p:spPr>
          <a:xfrm flipH="1" flipV="1">
            <a:off x="3317359" y="2562447"/>
            <a:ext cx="361507" cy="4253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p:nvPr/>
        </p:nvCxnSpPr>
        <p:spPr>
          <a:xfrm flipH="1" flipV="1">
            <a:off x="2594345" y="1609848"/>
            <a:ext cx="361507" cy="4253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1" name="Straight Arrow Connector 70"/>
          <p:cNvCxnSpPr/>
          <p:nvPr/>
        </p:nvCxnSpPr>
        <p:spPr>
          <a:xfrm flipV="1">
            <a:off x="1403498" y="1605516"/>
            <a:ext cx="0" cy="297712"/>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8" name="Straight Arrow Connector 77"/>
          <p:cNvCxnSpPr/>
          <p:nvPr/>
        </p:nvCxnSpPr>
        <p:spPr>
          <a:xfrm flipH="1">
            <a:off x="1395031" y="3997842"/>
            <a:ext cx="10632" cy="212651"/>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2" name="Straight Arrow Connector 81"/>
          <p:cNvCxnSpPr/>
          <p:nvPr/>
        </p:nvCxnSpPr>
        <p:spPr>
          <a:xfrm>
            <a:off x="3200399" y="4051006"/>
            <a:ext cx="127591" cy="233917"/>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5" name="Straight Arrow Connector 94"/>
          <p:cNvCxnSpPr/>
          <p:nvPr/>
        </p:nvCxnSpPr>
        <p:spPr>
          <a:xfrm>
            <a:off x="4497572" y="4138231"/>
            <a:ext cx="233916" cy="116958"/>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8" name="Straight Arrow Connector 97"/>
          <p:cNvCxnSpPr/>
          <p:nvPr/>
        </p:nvCxnSpPr>
        <p:spPr>
          <a:xfrm>
            <a:off x="6443330" y="4167963"/>
            <a:ext cx="265814" cy="95693"/>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0" name="Straight Arrow Connector 99"/>
          <p:cNvCxnSpPr/>
          <p:nvPr/>
        </p:nvCxnSpPr>
        <p:spPr>
          <a:xfrm>
            <a:off x="6294474" y="5231219"/>
            <a:ext cx="244550" cy="74428"/>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2" name="Straight Arrow Connector 101"/>
          <p:cNvCxnSpPr/>
          <p:nvPr/>
        </p:nvCxnSpPr>
        <p:spPr>
          <a:xfrm>
            <a:off x="7389628" y="5156791"/>
            <a:ext cx="276446" cy="159488"/>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4" name="Straight Arrow Connector 103"/>
          <p:cNvCxnSpPr/>
          <p:nvPr/>
        </p:nvCxnSpPr>
        <p:spPr>
          <a:xfrm flipH="1">
            <a:off x="2488018" y="5188688"/>
            <a:ext cx="265814" cy="148856"/>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7" name="Straight Arrow Connector 106"/>
          <p:cNvCxnSpPr/>
          <p:nvPr/>
        </p:nvCxnSpPr>
        <p:spPr>
          <a:xfrm flipH="1">
            <a:off x="1395032" y="5146158"/>
            <a:ext cx="10632" cy="212651"/>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8" name="TextBox 107"/>
          <p:cNvSpPr txBox="1"/>
          <p:nvPr/>
        </p:nvSpPr>
        <p:spPr>
          <a:xfrm>
            <a:off x="6656419" y="1124744"/>
            <a:ext cx="1041553" cy="432048"/>
          </a:xfrm>
          <a:prstGeom prst="rect">
            <a:avLst/>
          </a:prstGeom>
          <a:solidFill>
            <a:schemeClr val="accent3">
              <a:lumMod val="40000"/>
              <a:lumOff val="60000"/>
            </a:schemeClr>
          </a:solidFill>
          <a:ln>
            <a:solidFill>
              <a:schemeClr val="accent3">
                <a:lumMod val="50000"/>
              </a:schemeClr>
            </a:solidFill>
          </a:ln>
        </p:spPr>
        <p:txBody>
          <a:bodyPr wrap="square" rtlCol="0" anchor="ctr">
            <a:noAutofit/>
          </a:bodyPr>
          <a:lstStyle/>
          <a:p>
            <a:r>
              <a:rPr lang="en-GB" sz="1600" dirty="0">
                <a:latin typeface="Lucida Sans Unicode" pitchFamily="34" charset="0"/>
                <a:cs typeface="Lucida Sans Unicode" pitchFamily="34" charset="0"/>
              </a:rPr>
              <a:t>Pack</a:t>
            </a:r>
          </a:p>
        </p:txBody>
      </p:sp>
    </p:spTree>
    <p:extLst>
      <p:ext uri="{BB962C8B-B14F-4D97-AF65-F5344CB8AC3E}">
        <p14:creationId xmlns:p14="http://schemas.microsoft.com/office/powerpoint/2010/main" val="34955641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Rectangle 109">
            <a:extLst>
              <a:ext uri="{FF2B5EF4-FFF2-40B4-BE49-F238E27FC236}">
                <a16:creationId xmlns:a16="http://schemas.microsoft.com/office/drawing/2014/main" id="{9981FAD8-731D-4203-A7C3-735D5077492B}"/>
              </a:ext>
            </a:extLst>
          </p:cNvPr>
          <p:cNvSpPr/>
          <p:nvPr/>
        </p:nvSpPr>
        <p:spPr>
          <a:xfrm flipV="1">
            <a:off x="0" y="832946"/>
            <a:ext cx="9144000" cy="2846176"/>
          </a:xfrm>
          <a:prstGeom prst="rect">
            <a:avLst/>
          </a:prstGeom>
          <a:gradFill flip="none" rotWithShape="1">
            <a:gsLst>
              <a:gs pos="100000">
                <a:srgbClr val="FFCCCC"/>
              </a:gs>
              <a:gs pos="48000">
                <a:schemeClr val="accent3">
                  <a:lumMod val="40000"/>
                  <a:lumOff val="60000"/>
                </a:schemeClr>
              </a:gs>
            </a:gsLst>
            <a:lin ang="5400000" scaled="0"/>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1" name="Rectangle 110">
            <a:extLst>
              <a:ext uri="{FF2B5EF4-FFF2-40B4-BE49-F238E27FC236}">
                <a16:creationId xmlns:a16="http://schemas.microsoft.com/office/drawing/2014/main" id="{C7A4E64E-19DD-4749-952C-FB545451106A}"/>
              </a:ext>
            </a:extLst>
          </p:cNvPr>
          <p:cNvSpPr/>
          <p:nvPr/>
        </p:nvSpPr>
        <p:spPr>
          <a:xfrm>
            <a:off x="0" y="2762008"/>
            <a:ext cx="9144000" cy="3739000"/>
          </a:xfrm>
          <a:prstGeom prst="rect">
            <a:avLst/>
          </a:prstGeom>
          <a:gradFill flip="none" rotWithShape="1">
            <a:gsLst>
              <a:gs pos="0">
                <a:srgbClr val="FFFFFF">
                  <a:alpha val="0"/>
                </a:srgbClr>
              </a:gs>
              <a:gs pos="48000">
                <a:schemeClr val="accent1">
                  <a:lumMod val="20000"/>
                  <a:lumOff val="80000"/>
                </a:schemeClr>
              </a:gs>
            </a:gsLst>
            <a:lin ang="5400000" scaled="0"/>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3"/>
          <p:cNvSpPr/>
          <p:nvPr/>
        </p:nvSpPr>
        <p:spPr>
          <a:xfrm>
            <a:off x="395287" y="333375"/>
            <a:ext cx="8748713" cy="461665"/>
          </a:xfrm>
          <a:prstGeom prst="rect">
            <a:avLst/>
          </a:prstGeom>
        </p:spPr>
        <p:txBody>
          <a:bodyPr wrap="square">
            <a:spAutoFit/>
          </a:bodyPr>
          <a:lstStyle/>
          <a:p>
            <a:r>
              <a:rPr lang="en-GB" sz="2400" b="1" dirty="0">
                <a:latin typeface="Lucida Sans Unicode" pitchFamily="34" charset="0"/>
                <a:cs typeface="Lucida Sans Unicode" pitchFamily="34" charset="0"/>
              </a:rPr>
              <a:t>MPEG-2 - </a:t>
            </a:r>
            <a:r>
              <a:rPr lang="en-GB" sz="2000" b="1" dirty="0">
                <a:latin typeface="Lucida Sans Unicode" pitchFamily="34" charset="0"/>
                <a:cs typeface="Lucida Sans Unicode" pitchFamily="34" charset="0"/>
              </a:rPr>
              <a:t>Packet Multiplexing, Video, Audio, Data Streams</a:t>
            </a:r>
            <a:endParaRPr lang="en-GB" sz="2400" b="1" dirty="0">
              <a:latin typeface="Lucida Sans Unicode" pitchFamily="34" charset="0"/>
              <a:cs typeface="Lucida Sans Unicode" pitchFamily="34" charset="0"/>
            </a:endParaRPr>
          </a:p>
        </p:txBody>
      </p:sp>
      <p:sp>
        <p:nvSpPr>
          <p:cNvPr id="56" name="TextBox 55"/>
          <p:cNvSpPr txBox="1"/>
          <p:nvPr/>
        </p:nvSpPr>
        <p:spPr>
          <a:xfrm>
            <a:off x="395288" y="1124743"/>
            <a:ext cx="754911" cy="338554"/>
          </a:xfrm>
          <a:prstGeom prst="rect">
            <a:avLst/>
          </a:prstGeom>
          <a:noFill/>
        </p:spPr>
        <p:txBody>
          <a:bodyPr wrap="square" rtlCol="0">
            <a:spAutoFit/>
          </a:bodyPr>
          <a:lstStyle/>
          <a:p>
            <a:r>
              <a:rPr lang="en-GB" sz="1600" dirty="0">
                <a:latin typeface="Lucida Sans Unicode" pitchFamily="34" charset="0"/>
                <a:cs typeface="Lucida Sans Unicode" pitchFamily="34" charset="0"/>
              </a:rPr>
              <a:t>PS</a:t>
            </a:r>
          </a:p>
        </p:txBody>
      </p:sp>
      <p:sp>
        <p:nvSpPr>
          <p:cNvPr id="57" name="TextBox 56"/>
          <p:cNvSpPr txBox="1"/>
          <p:nvPr/>
        </p:nvSpPr>
        <p:spPr>
          <a:xfrm>
            <a:off x="1403648" y="1124744"/>
            <a:ext cx="1152128" cy="432048"/>
          </a:xfrm>
          <a:prstGeom prst="rect">
            <a:avLst/>
          </a:prstGeom>
          <a:solidFill>
            <a:schemeClr val="accent3">
              <a:lumMod val="40000"/>
              <a:lumOff val="60000"/>
            </a:schemeClr>
          </a:solidFill>
          <a:ln>
            <a:solidFill>
              <a:schemeClr val="accent3">
                <a:lumMod val="50000"/>
              </a:schemeClr>
            </a:solidFill>
          </a:ln>
        </p:spPr>
        <p:txBody>
          <a:bodyPr wrap="square" rtlCol="0" anchor="ctr">
            <a:noAutofit/>
          </a:bodyPr>
          <a:lstStyle/>
          <a:p>
            <a:r>
              <a:rPr lang="en-GB" sz="1600" dirty="0">
                <a:latin typeface="Lucida Sans Unicode" pitchFamily="34" charset="0"/>
                <a:cs typeface="Lucida Sans Unicode" pitchFamily="34" charset="0"/>
              </a:rPr>
              <a:t>Pack</a:t>
            </a:r>
          </a:p>
        </p:txBody>
      </p:sp>
      <p:sp>
        <p:nvSpPr>
          <p:cNvPr id="58" name="TextBox 57"/>
          <p:cNvSpPr txBox="1"/>
          <p:nvPr/>
        </p:nvSpPr>
        <p:spPr>
          <a:xfrm>
            <a:off x="2555776" y="1124744"/>
            <a:ext cx="1152128" cy="432048"/>
          </a:xfrm>
          <a:prstGeom prst="rect">
            <a:avLst/>
          </a:prstGeom>
          <a:solidFill>
            <a:schemeClr val="accent3">
              <a:lumMod val="40000"/>
              <a:lumOff val="60000"/>
            </a:schemeClr>
          </a:solidFill>
          <a:ln>
            <a:solidFill>
              <a:schemeClr val="accent3">
                <a:lumMod val="50000"/>
              </a:schemeClr>
            </a:solidFill>
          </a:ln>
        </p:spPr>
        <p:txBody>
          <a:bodyPr wrap="square" rtlCol="0" anchor="ctr">
            <a:noAutofit/>
          </a:bodyPr>
          <a:lstStyle/>
          <a:p>
            <a:r>
              <a:rPr lang="en-GB" sz="1600" dirty="0">
                <a:latin typeface="Lucida Sans Unicode" pitchFamily="34" charset="0"/>
                <a:cs typeface="Lucida Sans Unicode" pitchFamily="34" charset="0"/>
              </a:rPr>
              <a:t>Pack</a:t>
            </a:r>
          </a:p>
        </p:txBody>
      </p:sp>
      <p:sp>
        <p:nvSpPr>
          <p:cNvPr id="59" name="TextBox 58"/>
          <p:cNvSpPr txBox="1"/>
          <p:nvPr/>
        </p:nvSpPr>
        <p:spPr>
          <a:xfrm>
            <a:off x="5508104" y="1124744"/>
            <a:ext cx="1152128" cy="432048"/>
          </a:xfrm>
          <a:prstGeom prst="rect">
            <a:avLst/>
          </a:prstGeom>
          <a:solidFill>
            <a:schemeClr val="accent3">
              <a:lumMod val="40000"/>
              <a:lumOff val="60000"/>
            </a:schemeClr>
          </a:solidFill>
          <a:ln>
            <a:solidFill>
              <a:schemeClr val="accent3">
                <a:lumMod val="50000"/>
              </a:schemeClr>
            </a:solidFill>
          </a:ln>
        </p:spPr>
        <p:txBody>
          <a:bodyPr wrap="square" rtlCol="0" anchor="ctr">
            <a:noAutofit/>
          </a:bodyPr>
          <a:lstStyle/>
          <a:p>
            <a:r>
              <a:rPr lang="en-GB" sz="1600" dirty="0">
                <a:latin typeface="Lucida Sans Unicode" pitchFamily="34" charset="0"/>
                <a:cs typeface="Lucida Sans Unicode" pitchFamily="34" charset="0"/>
              </a:rPr>
              <a:t>Pack</a:t>
            </a:r>
          </a:p>
        </p:txBody>
      </p:sp>
      <p:sp>
        <p:nvSpPr>
          <p:cNvPr id="60" name="TextBox 59"/>
          <p:cNvSpPr txBox="1"/>
          <p:nvPr/>
        </p:nvSpPr>
        <p:spPr>
          <a:xfrm>
            <a:off x="6660232" y="1124744"/>
            <a:ext cx="2016224" cy="432048"/>
          </a:xfrm>
          <a:prstGeom prst="rect">
            <a:avLst/>
          </a:prstGeom>
          <a:solidFill>
            <a:schemeClr val="accent3">
              <a:lumMod val="40000"/>
              <a:lumOff val="60000"/>
            </a:schemeClr>
          </a:solidFill>
          <a:ln>
            <a:solidFill>
              <a:schemeClr val="accent3">
                <a:lumMod val="50000"/>
              </a:schemeClr>
            </a:solidFill>
          </a:ln>
        </p:spPr>
        <p:txBody>
          <a:bodyPr wrap="square" rtlCol="0" anchor="ctr">
            <a:noAutofit/>
          </a:bodyPr>
          <a:lstStyle/>
          <a:p>
            <a:r>
              <a:rPr lang="en-GB" sz="1600" dirty="0">
                <a:latin typeface="Lucida Sans Unicode" pitchFamily="34" charset="0"/>
                <a:cs typeface="Lucida Sans Unicode" pitchFamily="34" charset="0"/>
              </a:rPr>
              <a:t>Program end code</a:t>
            </a:r>
          </a:p>
        </p:txBody>
      </p:sp>
      <p:sp>
        <p:nvSpPr>
          <p:cNvPr id="61" name="TextBox 60"/>
          <p:cNvSpPr txBox="1"/>
          <p:nvPr/>
        </p:nvSpPr>
        <p:spPr>
          <a:xfrm>
            <a:off x="3707904" y="1124744"/>
            <a:ext cx="1800200" cy="432048"/>
          </a:xfrm>
          <a:prstGeom prst="rect">
            <a:avLst/>
          </a:prstGeom>
          <a:solidFill>
            <a:schemeClr val="accent3">
              <a:lumMod val="40000"/>
              <a:lumOff val="60000"/>
            </a:schemeClr>
          </a:solidFill>
          <a:ln>
            <a:solidFill>
              <a:schemeClr val="accent3">
                <a:lumMod val="50000"/>
              </a:schemeClr>
            </a:solidFill>
          </a:ln>
        </p:spPr>
        <p:txBody>
          <a:bodyPr wrap="square" rtlCol="0" anchor="ctr">
            <a:noAutofit/>
          </a:bodyPr>
          <a:lstStyle/>
          <a:p>
            <a:r>
              <a:rPr lang="en-GB" sz="1600" dirty="0">
                <a:latin typeface="Lucida Sans Unicode" pitchFamily="34" charset="0"/>
                <a:cs typeface="Lucida Sans Unicode" pitchFamily="34" charset="0"/>
              </a:rPr>
              <a:t>........................</a:t>
            </a:r>
          </a:p>
        </p:txBody>
      </p:sp>
      <p:sp>
        <p:nvSpPr>
          <p:cNvPr id="62" name="TextBox 61"/>
          <p:cNvSpPr txBox="1"/>
          <p:nvPr/>
        </p:nvSpPr>
        <p:spPr>
          <a:xfrm>
            <a:off x="1403648" y="2132856"/>
            <a:ext cx="720080" cy="432048"/>
          </a:xfrm>
          <a:prstGeom prst="rect">
            <a:avLst/>
          </a:prstGeom>
          <a:solidFill>
            <a:schemeClr val="accent4">
              <a:lumMod val="40000"/>
              <a:lumOff val="60000"/>
            </a:schemeClr>
          </a:solidFill>
          <a:ln>
            <a:solidFill>
              <a:schemeClr val="accent4">
                <a:lumMod val="75000"/>
              </a:schemeClr>
            </a:solidFill>
          </a:ln>
        </p:spPr>
        <p:txBody>
          <a:bodyPr wrap="square" rtlCol="0" anchor="ctr">
            <a:noAutofit/>
          </a:bodyPr>
          <a:lstStyle/>
          <a:p>
            <a:r>
              <a:rPr lang="en-GB" sz="1100" b="1" dirty="0">
                <a:latin typeface="Lucida Sans Unicode" pitchFamily="34" charset="0"/>
                <a:cs typeface="Lucida Sans Unicode" pitchFamily="34" charset="0"/>
              </a:rPr>
              <a:t>Pack</a:t>
            </a:r>
            <a:r>
              <a:rPr lang="en-GB" sz="1100" dirty="0">
                <a:latin typeface="Lucida Sans Unicode" pitchFamily="34" charset="0"/>
                <a:cs typeface="Lucida Sans Unicode" pitchFamily="34" charset="0"/>
              </a:rPr>
              <a:t> </a:t>
            </a:r>
          </a:p>
          <a:p>
            <a:r>
              <a:rPr lang="en-GB" sz="1100" dirty="0">
                <a:latin typeface="Lucida Sans Unicode" pitchFamily="34" charset="0"/>
                <a:cs typeface="Lucida Sans Unicode" pitchFamily="34" charset="0"/>
              </a:rPr>
              <a:t>Header</a:t>
            </a:r>
          </a:p>
        </p:txBody>
      </p:sp>
      <p:sp>
        <p:nvSpPr>
          <p:cNvPr id="63" name="TextBox 62"/>
          <p:cNvSpPr txBox="1"/>
          <p:nvPr/>
        </p:nvSpPr>
        <p:spPr>
          <a:xfrm>
            <a:off x="2123728" y="2132856"/>
            <a:ext cx="1152128" cy="432048"/>
          </a:xfrm>
          <a:prstGeom prst="rect">
            <a:avLst/>
          </a:prstGeom>
          <a:solidFill>
            <a:schemeClr val="accent6">
              <a:lumMod val="60000"/>
              <a:lumOff val="40000"/>
            </a:schemeClr>
          </a:solidFill>
          <a:ln>
            <a:solidFill>
              <a:schemeClr val="accent6">
                <a:lumMod val="50000"/>
              </a:schemeClr>
            </a:solidFill>
          </a:ln>
        </p:spPr>
        <p:txBody>
          <a:bodyPr wrap="square" rtlCol="0" anchor="ctr">
            <a:noAutofit/>
          </a:bodyPr>
          <a:lstStyle/>
          <a:p>
            <a:r>
              <a:rPr lang="en-GB" sz="1600" dirty="0">
                <a:latin typeface="Lucida Sans Unicode" pitchFamily="34" charset="0"/>
                <a:cs typeface="Lucida Sans Unicode" pitchFamily="34" charset="0"/>
              </a:rPr>
              <a:t>PES</a:t>
            </a:r>
          </a:p>
        </p:txBody>
      </p:sp>
      <p:sp>
        <p:nvSpPr>
          <p:cNvPr id="64" name="TextBox 63"/>
          <p:cNvSpPr txBox="1"/>
          <p:nvPr/>
        </p:nvSpPr>
        <p:spPr>
          <a:xfrm>
            <a:off x="395288" y="2132855"/>
            <a:ext cx="754911" cy="338554"/>
          </a:xfrm>
          <a:prstGeom prst="rect">
            <a:avLst/>
          </a:prstGeom>
          <a:noFill/>
        </p:spPr>
        <p:txBody>
          <a:bodyPr wrap="square" rtlCol="0">
            <a:spAutoFit/>
          </a:bodyPr>
          <a:lstStyle/>
          <a:p>
            <a:r>
              <a:rPr lang="en-GB" sz="1600" dirty="0">
                <a:latin typeface="Lucida Sans Unicode" pitchFamily="34" charset="0"/>
                <a:cs typeface="Lucida Sans Unicode" pitchFamily="34" charset="0"/>
              </a:rPr>
              <a:t>Pack</a:t>
            </a:r>
          </a:p>
        </p:txBody>
      </p:sp>
      <p:sp>
        <p:nvSpPr>
          <p:cNvPr id="65" name="TextBox 64"/>
          <p:cNvSpPr txBox="1"/>
          <p:nvPr/>
        </p:nvSpPr>
        <p:spPr>
          <a:xfrm>
            <a:off x="3275856" y="2132856"/>
            <a:ext cx="1152128" cy="432048"/>
          </a:xfrm>
          <a:prstGeom prst="rect">
            <a:avLst/>
          </a:prstGeom>
          <a:solidFill>
            <a:schemeClr val="accent3">
              <a:lumMod val="40000"/>
              <a:lumOff val="60000"/>
            </a:schemeClr>
          </a:solidFill>
          <a:ln>
            <a:solidFill>
              <a:schemeClr val="accent6">
                <a:lumMod val="50000"/>
              </a:schemeClr>
            </a:solidFill>
          </a:ln>
        </p:spPr>
        <p:txBody>
          <a:bodyPr wrap="square" rtlCol="0" anchor="ctr">
            <a:noAutofit/>
          </a:bodyPr>
          <a:lstStyle/>
          <a:p>
            <a:r>
              <a:rPr lang="en-GB" sz="1600" dirty="0">
                <a:latin typeface="Lucida Sans Unicode" pitchFamily="34" charset="0"/>
                <a:cs typeface="Lucida Sans Unicode" pitchFamily="34" charset="0"/>
              </a:rPr>
              <a:t>PES</a:t>
            </a:r>
          </a:p>
        </p:txBody>
      </p:sp>
      <p:sp>
        <p:nvSpPr>
          <p:cNvPr id="66" name="TextBox 65"/>
          <p:cNvSpPr txBox="1"/>
          <p:nvPr/>
        </p:nvSpPr>
        <p:spPr>
          <a:xfrm>
            <a:off x="6372200" y="2132856"/>
            <a:ext cx="1152128" cy="432048"/>
          </a:xfrm>
          <a:prstGeom prst="rect">
            <a:avLst/>
          </a:prstGeom>
          <a:solidFill>
            <a:schemeClr val="accent3">
              <a:lumMod val="40000"/>
              <a:lumOff val="60000"/>
            </a:schemeClr>
          </a:solidFill>
          <a:ln>
            <a:solidFill>
              <a:schemeClr val="accent6">
                <a:lumMod val="50000"/>
              </a:schemeClr>
            </a:solidFill>
          </a:ln>
        </p:spPr>
        <p:txBody>
          <a:bodyPr wrap="square" rtlCol="0" anchor="ctr">
            <a:noAutofit/>
          </a:bodyPr>
          <a:lstStyle/>
          <a:p>
            <a:r>
              <a:rPr lang="en-GB" sz="1600" dirty="0">
                <a:latin typeface="Lucida Sans Unicode" pitchFamily="34" charset="0"/>
                <a:cs typeface="Lucida Sans Unicode" pitchFamily="34" charset="0"/>
              </a:rPr>
              <a:t>PES</a:t>
            </a:r>
          </a:p>
        </p:txBody>
      </p:sp>
      <p:sp>
        <p:nvSpPr>
          <p:cNvPr id="67" name="TextBox 66"/>
          <p:cNvSpPr txBox="1"/>
          <p:nvPr/>
        </p:nvSpPr>
        <p:spPr>
          <a:xfrm>
            <a:off x="7524328" y="2132856"/>
            <a:ext cx="1152128" cy="432048"/>
          </a:xfrm>
          <a:prstGeom prst="rect">
            <a:avLst/>
          </a:prstGeom>
          <a:solidFill>
            <a:schemeClr val="accent3">
              <a:lumMod val="40000"/>
              <a:lumOff val="60000"/>
            </a:schemeClr>
          </a:solidFill>
          <a:ln>
            <a:solidFill>
              <a:schemeClr val="accent6">
                <a:lumMod val="50000"/>
              </a:schemeClr>
            </a:solidFill>
          </a:ln>
        </p:spPr>
        <p:txBody>
          <a:bodyPr wrap="square" rtlCol="0" anchor="ctr">
            <a:noAutofit/>
          </a:bodyPr>
          <a:lstStyle/>
          <a:p>
            <a:r>
              <a:rPr lang="en-GB" sz="1600" dirty="0">
                <a:latin typeface="Lucida Sans Unicode" pitchFamily="34" charset="0"/>
                <a:cs typeface="Lucida Sans Unicode" pitchFamily="34" charset="0"/>
              </a:rPr>
              <a:t>PES</a:t>
            </a:r>
          </a:p>
        </p:txBody>
      </p:sp>
      <p:sp>
        <p:nvSpPr>
          <p:cNvPr id="68" name="TextBox 67"/>
          <p:cNvSpPr txBox="1"/>
          <p:nvPr/>
        </p:nvSpPr>
        <p:spPr>
          <a:xfrm>
            <a:off x="4427984" y="2132856"/>
            <a:ext cx="1944216" cy="432048"/>
          </a:xfrm>
          <a:prstGeom prst="rect">
            <a:avLst/>
          </a:prstGeom>
          <a:solidFill>
            <a:schemeClr val="accent3">
              <a:lumMod val="40000"/>
              <a:lumOff val="60000"/>
            </a:schemeClr>
          </a:solidFill>
          <a:ln>
            <a:solidFill>
              <a:schemeClr val="accent3">
                <a:lumMod val="50000"/>
              </a:schemeClr>
            </a:solidFill>
          </a:ln>
        </p:spPr>
        <p:txBody>
          <a:bodyPr wrap="square" rtlCol="0" anchor="ctr">
            <a:noAutofit/>
          </a:bodyPr>
          <a:lstStyle/>
          <a:p>
            <a:r>
              <a:rPr lang="en-GB" sz="1600" dirty="0">
                <a:latin typeface="Lucida Sans Unicode" pitchFamily="34" charset="0"/>
                <a:cs typeface="Lucida Sans Unicode" pitchFamily="34" charset="0"/>
              </a:rPr>
              <a:t>...................</a:t>
            </a:r>
          </a:p>
        </p:txBody>
      </p:sp>
      <p:cxnSp>
        <p:nvCxnSpPr>
          <p:cNvPr id="69" name="Straight Connector 68"/>
          <p:cNvCxnSpPr/>
          <p:nvPr/>
        </p:nvCxnSpPr>
        <p:spPr>
          <a:xfrm>
            <a:off x="1403648" y="1628800"/>
            <a:ext cx="0" cy="532859"/>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70" name="Straight Connector 69"/>
          <p:cNvCxnSpPr/>
          <p:nvPr/>
        </p:nvCxnSpPr>
        <p:spPr>
          <a:xfrm>
            <a:off x="2627784" y="1628800"/>
            <a:ext cx="5976664" cy="432048"/>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71" name="TextBox 70"/>
          <p:cNvSpPr txBox="1"/>
          <p:nvPr/>
        </p:nvSpPr>
        <p:spPr>
          <a:xfrm>
            <a:off x="395288" y="3212975"/>
            <a:ext cx="754911" cy="338554"/>
          </a:xfrm>
          <a:prstGeom prst="rect">
            <a:avLst/>
          </a:prstGeom>
          <a:noFill/>
        </p:spPr>
        <p:txBody>
          <a:bodyPr wrap="square" rtlCol="0">
            <a:spAutoFit/>
          </a:bodyPr>
          <a:lstStyle/>
          <a:p>
            <a:r>
              <a:rPr lang="en-GB" sz="1600" dirty="0">
                <a:latin typeface="Lucida Sans Unicode" pitchFamily="34" charset="0"/>
                <a:cs typeface="Lucida Sans Unicode" pitchFamily="34" charset="0"/>
              </a:rPr>
              <a:t>PES</a:t>
            </a:r>
          </a:p>
        </p:txBody>
      </p:sp>
      <p:sp>
        <p:nvSpPr>
          <p:cNvPr id="72" name="TextBox 71"/>
          <p:cNvSpPr txBox="1"/>
          <p:nvPr/>
        </p:nvSpPr>
        <p:spPr>
          <a:xfrm>
            <a:off x="1403648" y="3140968"/>
            <a:ext cx="720080" cy="432048"/>
          </a:xfrm>
          <a:prstGeom prst="rect">
            <a:avLst/>
          </a:prstGeom>
          <a:solidFill>
            <a:schemeClr val="accent4">
              <a:lumMod val="40000"/>
              <a:lumOff val="60000"/>
            </a:schemeClr>
          </a:solidFill>
          <a:ln>
            <a:solidFill>
              <a:schemeClr val="accent4">
                <a:lumMod val="75000"/>
              </a:schemeClr>
            </a:solidFill>
          </a:ln>
        </p:spPr>
        <p:txBody>
          <a:bodyPr wrap="square" rtlCol="0" anchor="ctr">
            <a:noAutofit/>
          </a:bodyPr>
          <a:lstStyle/>
          <a:p>
            <a:r>
              <a:rPr lang="en-GB" sz="1100" b="1" dirty="0">
                <a:latin typeface="Lucida Sans Unicode" pitchFamily="34" charset="0"/>
                <a:cs typeface="Lucida Sans Unicode" pitchFamily="34" charset="0"/>
              </a:rPr>
              <a:t>PES</a:t>
            </a:r>
            <a:r>
              <a:rPr lang="en-GB" sz="1100" dirty="0">
                <a:latin typeface="Lucida Sans Unicode" pitchFamily="34" charset="0"/>
                <a:cs typeface="Lucida Sans Unicode" pitchFamily="34" charset="0"/>
              </a:rPr>
              <a:t> </a:t>
            </a:r>
          </a:p>
          <a:p>
            <a:r>
              <a:rPr lang="en-GB" sz="1100" dirty="0">
                <a:latin typeface="Lucida Sans Unicode" pitchFamily="34" charset="0"/>
                <a:cs typeface="Lucida Sans Unicode" pitchFamily="34" charset="0"/>
              </a:rPr>
              <a:t>Header</a:t>
            </a:r>
          </a:p>
        </p:txBody>
      </p:sp>
      <p:sp>
        <p:nvSpPr>
          <p:cNvPr id="73" name="TextBox 72"/>
          <p:cNvSpPr txBox="1"/>
          <p:nvPr/>
        </p:nvSpPr>
        <p:spPr>
          <a:xfrm>
            <a:off x="2123728" y="3140968"/>
            <a:ext cx="6552728" cy="432048"/>
          </a:xfrm>
          <a:prstGeom prst="rect">
            <a:avLst/>
          </a:prstGeom>
          <a:solidFill>
            <a:schemeClr val="accent6">
              <a:lumMod val="60000"/>
              <a:lumOff val="40000"/>
            </a:schemeClr>
          </a:solidFill>
          <a:ln>
            <a:solidFill>
              <a:schemeClr val="accent6">
                <a:lumMod val="50000"/>
              </a:schemeClr>
            </a:solidFill>
          </a:ln>
        </p:spPr>
        <p:txBody>
          <a:bodyPr wrap="square" rtlCol="0" anchor="ctr">
            <a:noAutofit/>
          </a:bodyPr>
          <a:lstStyle/>
          <a:p>
            <a:r>
              <a:rPr lang="en-GB" sz="1600" dirty="0">
                <a:latin typeface="Lucida Sans Unicode" pitchFamily="34" charset="0"/>
                <a:cs typeface="Lucida Sans Unicode" pitchFamily="34" charset="0"/>
              </a:rPr>
              <a:t>                                        PES payload</a:t>
            </a:r>
          </a:p>
        </p:txBody>
      </p:sp>
      <p:cxnSp>
        <p:nvCxnSpPr>
          <p:cNvPr id="74" name="Straight Connector 73"/>
          <p:cNvCxnSpPr/>
          <p:nvPr/>
        </p:nvCxnSpPr>
        <p:spPr>
          <a:xfrm flipH="1">
            <a:off x="1403648" y="2564904"/>
            <a:ext cx="720080" cy="504056"/>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75" name="Straight Connector 74"/>
          <p:cNvCxnSpPr/>
          <p:nvPr/>
        </p:nvCxnSpPr>
        <p:spPr>
          <a:xfrm>
            <a:off x="3275856" y="2564904"/>
            <a:ext cx="5400600" cy="504056"/>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76" name="TextBox 75"/>
          <p:cNvSpPr txBox="1"/>
          <p:nvPr/>
        </p:nvSpPr>
        <p:spPr>
          <a:xfrm>
            <a:off x="1403648" y="4293096"/>
            <a:ext cx="720080" cy="432048"/>
          </a:xfrm>
          <a:prstGeom prst="rect">
            <a:avLst/>
          </a:prstGeom>
          <a:solidFill>
            <a:schemeClr val="accent4">
              <a:lumMod val="40000"/>
              <a:lumOff val="60000"/>
            </a:schemeClr>
          </a:solidFill>
          <a:ln>
            <a:solidFill>
              <a:schemeClr val="accent4">
                <a:lumMod val="75000"/>
              </a:schemeClr>
            </a:solidFill>
          </a:ln>
        </p:spPr>
        <p:txBody>
          <a:bodyPr wrap="square" rtlCol="0" anchor="ctr">
            <a:noAutofit/>
          </a:bodyPr>
          <a:lstStyle/>
          <a:p>
            <a:r>
              <a:rPr lang="en-GB" sz="1200" b="1" dirty="0">
                <a:latin typeface="Lucida Sans Unicode" pitchFamily="34" charset="0"/>
                <a:cs typeface="Lucida Sans Unicode" pitchFamily="34" charset="0"/>
              </a:rPr>
              <a:t>TS </a:t>
            </a:r>
          </a:p>
          <a:p>
            <a:r>
              <a:rPr lang="en-GB" sz="1200" dirty="0">
                <a:latin typeface="Lucida Sans Unicode" pitchFamily="34" charset="0"/>
                <a:cs typeface="Lucida Sans Unicode" pitchFamily="34" charset="0"/>
              </a:rPr>
              <a:t>Header</a:t>
            </a:r>
          </a:p>
        </p:txBody>
      </p:sp>
      <p:sp>
        <p:nvSpPr>
          <p:cNvPr id="77" name="TextBox 76"/>
          <p:cNvSpPr txBox="1"/>
          <p:nvPr/>
        </p:nvSpPr>
        <p:spPr>
          <a:xfrm>
            <a:off x="2123728" y="4293096"/>
            <a:ext cx="1296144" cy="432048"/>
          </a:xfrm>
          <a:prstGeom prst="rect">
            <a:avLst/>
          </a:prstGeom>
          <a:solidFill>
            <a:schemeClr val="accent6">
              <a:lumMod val="60000"/>
              <a:lumOff val="40000"/>
            </a:schemeClr>
          </a:solidFill>
          <a:ln>
            <a:solidFill>
              <a:schemeClr val="accent6">
                <a:lumMod val="50000"/>
              </a:schemeClr>
            </a:solidFill>
          </a:ln>
        </p:spPr>
        <p:txBody>
          <a:bodyPr wrap="square" rtlCol="0" anchor="ctr">
            <a:noAutofit/>
          </a:bodyPr>
          <a:lstStyle/>
          <a:p>
            <a:r>
              <a:rPr lang="en-GB" sz="1600" dirty="0">
                <a:latin typeface="Lucida Sans Unicode" pitchFamily="34" charset="0"/>
                <a:cs typeface="Lucida Sans Unicode" pitchFamily="34" charset="0"/>
              </a:rPr>
              <a:t>TS payload</a:t>
            </a:r>
          </a:p>
        </p:txBody>
      </p:sp>
      <p:sp>
        <p:nvSpPr>
          <p:cNvPr id="78" name="TextBox 77"/>
          <p:cNvSpPr txBox="1"/>
          <p:nvPr/>
        </p:nvSpPr>
        <p:spPr>
          <a:xfrm>
            <a:off x="4716016" y="4293096"/>
            <a:ext cx="720080" cy="432048"/>
          </a:xfrm>
          <a:prstGeom prst="rect">
            <a:avLst/>
          </a:prstGeom>
          <a:solidFill>
            <a:schemeClr val="accent4">
              <a:lumMod val="40000"/>
              <a:lumOff val="60000"/>
            </a:schemeClr>
          </a:solidFill>
          <a:ln>
            <a:solidFill>
              <a:schemeClr val="accent4">
                <a:lumMod val="75000"/>
              </a:schemeClr>
            </a:solidFill>
          </a:ln>
        </p:spPr>
        <p:txBody>
          <a:bodyPr wrap="square" rtlCol="0" anchor="ctr">
            <a:noAutofit/>
          </a:bodyPr>
          <a:lstStyle/>
          <a:p>
            <a:r>
              <a:rPr lang="en-GB" sz="1200" b="1" dirty="0">
                <a:latin typeface="Lucida Sans Unicode" pitchFamily="34" charset="0"/>
                <a:cs typeface="Lucida Sans Unicode" pitchFamily="34" charset="0"/>
              </a:rPr>
              <a:t>TS </a:t>
            </a:r>
          </a:p>
          <a:p>
            <a:r>
              <a:rPr lang="en-GB" sz="1200" dirty="0">
                <a:latin typeface="Lucida Sans Unicode" pitchFamily="34" charset="0"/>
                <a:cs typeface="Lucida Sans Unicode" pitchFamily="34" charset="0"/>
              </a:rPr>
              <a:t>Header</a:t>
            </a:r>
          </a:p>
        </p:txBody>
      </p:sp>
      <p:sp>
        <p:nvSpPr>
          <p:cNvPr id="79" name="TextBox 78"/>
          <p:cNvSpPr txBox="1"/>
          <p:nvPr/>
        </p:nvSpPr>
        <p:spPr>
          <a:xfrm>
            <a:off x="5436096" y="4293096"/>
            <a:ext cx="1296144" cy="432048"/>
          </a:xfrm>
          <a:prstGeom prst="rect">
            <a:avLst/>
          </a:prstGeom>
          <a:solidFill>
            <a:schemeClr val="accent6">
              <a:lumMod val="60000"/>
              <a:lumOff val="40000"/>
            </a:schemeClr>
          </a:solidFill>
          <a:ln>
            <a:solidFill>
              <a:schemeClr val="accent6">
                <a:lumMod val="50000"/>
              </a:schemeClr>
            </a:solidFill>
          </a:ln>
        </p:spPr>
        <p:txBody>
          <a:bodyPr wrap="square" rtlCol="0" anchor="ctr">
            <a:noAutofit/>
          </a:bodyPr>
          <a:lstStyle/>
          <a:p>
            <a:r>
              <a:rPr lang="en-GB" sz="1600" dirty="0">
                <a:latin typeface="Lucida Sans Unicode" pitchFamily="34" charset="0"/>
                <a:cs typeface="Lucida Sans Unicode" pitchFamily="34" charset="0"/>
              </a:rPr>
              <a:t>TS payload</a:t>
            </a:r>
          </a:p>
        </p:txBody>
      </p:sp>
      <p:cxnSp>
        <p:nvCxnSpPr>
          <p:cNvPr id="80" name="Straight Connector 79"/>
          <p:cNvCxnSpPr/>
          <p:nvPr/>
        </p:nvCxnSpPr>
        <p:spPr>
          <a:xfrm>
            <a:off x="1403648" y="3717032"/>
            <a:ext cx="0" cy="432048"/>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2987824" y="3140968"/>
            <a:ext cx="0" cy="432048"/>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2987824" y="3645024"/>
            <a:ext cx="360040" cy="648072"/>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4355976" y="3140968"/>
            <a:ext cx="0" cy="432048"/>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a:off x="4355976" y="3645024"/>
            <a:ext cx="2304256" cy="576064"/>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2987824" y="3645024"/>
            <a:ext cx="1728192" cy="576064"/>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86" name="TextBox 85"/>
          <p:cNvSpPr txBox="1"/>
          <p:nvPr/>
        </p:nvSpPr>
        <p:spPr>
          <a:xfrm>
            <a:off x="1403648" y="5373216"/>
            <a:ext cx="1152128" cy="432048"/>
          </a:xfrm>
          <a:prstGeom prst="rect">
            <a:avLst/>
          </a:prstGeom>
          <a:solidFill>
            <a:schemeClr val="accent3">
              <a:lumMod val="40000"/>
              <a:lumOff val="60000"/>
            </a:schemeClr>
          </a:solidFill>
          <a:ln>
            <a:solidFill>
              <a:schemeClr val="accent3">
                <a:lumMod val="50000"/>
              </a:schemeClr>
            </a:solidFill>
          </a:ln>
        </p:spPr>
        <p:txBody>
          <a:bodyPr wrap="square" rtlCol="0" anchor="ctr">
            <a:noAutofit/>
          </a:bodyPr>
          <a:lstStyle/>
          <a:p>
            <a:r>
              <a:rPr lang="en-GB" sz="1100" b="1" dirty="0">
                <a:latin typeface="Lucida Sans Unicode" pitchFamily="34" charset="0"/>
                <a:cs typeface="Lucida Sans Unicode" pitchFamily="34" charset="0"/>
              </a:rPr>
              <a:t>TS Packet </a:t>
            </a:r>
          </a:p>
          <a:p>
            <a:r>
              <a:rPr lang="en-GB" sz="1100" dirty="0">
                <a:latin typeface="Lucida Sans Unicode" pitchFamily="34" charset="0"/>
                <a:cs typeface="Lucida Sans Unicode" pitchFamily="34" charset="0"/>
              </a:rPr>
              <a:t>PID =m</a:t>
            </a:r>
          </a:p>
        </p:txBody>
      </p:sp>
      <p:sp>
        <p:nvSpPr>
          <p:cNvPr id="87" name="TextBox 86"/>
          <p:cNvSpPr txBox="1"/>
          <p:nvPr/>
        </p:nvSpPr>
        <p:spPr>
          <a:xfrm>
            <a:off x="2555776" y="5373216"/>
            <a:ext cx="1152128" cy="432048"/>
          </a:xfrm>
          <a:prstGeom prst="rect">
            <a:avLst/>
          </a:prstGeom>
          <a:solidFill>
            <a:schemeClr val="accent3">
              <a:lumMod val="40000"/>
              <a:lumOff val="60000"/>
            </a:schemeClr>
          </a:solidFill>
          <a:ln>
            <a:solidFill>
              <a:schemeClr val="accent3">
                <a:lumMod val="50000"/>
              </a:schemeClr>
            </a:solidFill>
          </a:ln>
        </p:spPr>
        <p:txBody>
          <a:bodyPr wrap="square" rtlCol="0" anchor="ctr">
            <a:noAutofit/>
          </a:bodyPr>
          <a:lstStyle/>
          <a:p>
            <a:r>
              <a:rPr lang="en-GB" sz="1100" b="1" dirty="0">
                <a:latin typeface="Lucida Sans Unicode" pitchFamily="34" charset="0"/>
                <a:cs typeface="Lucida Sans Unicode" pitchFamily="34" charset="0"/>
              </a:rPr>
              <a:t>TS Packet </a:t>
            </a:r>
          </a:p>
          <a:p>
            <a:r>
              <a:rPr lang="en-GB" sz="1100" dirty="0">
                <a:latin typeface="Lucida Sans Unicode" pitchFamily="34" charset="0"/>
                <a:cs typeface="Lucida Sans Unicode" pitchFamily="34" charset="0"/>
              </a:rPr>
              <a:t>PID = k</a:t>
            </a:r>
          </a:p>
        </p:txBody>
      </p:sp>
      <p:sp>
        <p:nvSpPr>
          <p:cNvPr id="88" name="TextBox 87"/>
          <p:cNvSpPr txBox="1"/>
          <p:nvPr/>
        </p:nvSpPr>
        <p:spPr>
          <a:xfrm>
            <a:off x="3707904" y="5373216"/>
            <a:ext cx="1152128" cy="432048"/>
          </a:xfrm>
          <a:prstGeom prst="rect">
            <a:avLst/>
          </a:prstGeom>
          <a:solidFill>
            <a:schemeClr val="accent3">
              <a:lumMod val="40000"/>
              <a:lumOff val="60000"/>
            </a:schemeClr>
          </a:solidFill>
          <a:ln>
            <a:solidFill>
              <a:schemeClr val="accent3">
                <a:lumMod val="50000"/>
              </a:schemeClr>
            </a:solidFill>
          </a:ln>
        </p:spPr>
        <p:txBody>
          <a:bodyPr wrap="square" rtlCol="0" anchor="ctr">
            <a:noAutofit/>
          </a:bodyPr>
          <a:lstStyle/>
          <a:p>
            <a:r>
              <a:rPr lang="en-GB" sz="1100" b="1" dirty="0">
                <a:latin typeface="Lucida Sans Unicode" pitchFamily="34" charset="0"/>
                <a:cs typeface="Lucida Sans Unicode" pitchFamily="34" charset="0"/>
              </a:rPr>
              <a:t>TS Packet </a:t>
            </a:r>
          </a:p>
          <a:p>
            <a:r>
              <a:rPr lang="en-GB" sz="1100" dirty="0">
                <a:latin typeface="Lucida Sans Unicode" pitchFamily="34" charset="0"/>
                <a:cs typeface="Lucida Sans Unicode" pitchFamily="34" charset="0"/>
              </a:rPr>
              <a:t>PID = m</a:t>
            </a:r>
          </a:p>
        </p:txBody>
      </p:sp>
      <p:sp>
        <p:nvSpPr>
          <p:cNvPr id="89" name="TextBox 88"/>
          <p:cNvSpPr txBox="1"/>
          <p:nvPr/>
        </p:nvSpPr>
        <p:spPr>
          <a:xfrm>
            <a:off x="6516216" y="5373216"/>
            <a:ext cx="1152128" cy="432048"/>
          </a:xfrm>
          <a:prstGeom prst="rect">
            <a:avLst/>
          </a:prstGeom>
          <a:solidFill>
            <a:schemeClr val="accent3">
              <a:lumMod val="40000"/>
              <a:lumOff val="60000"/>
            </a:schemeClr>
          </a:solidFill>
          <a:ln>
            <a:solidFill>
              <a:schemeClr val="accent3">
                <a:lumMod val="50000"/>
              </a:schemeClr>
            </a:solidFill>
          </a:ln>
        </p:spPr>
        <p:txBody>
          <a:bodyPr wrap="square" rtlCol="0" anchor="ctr">
            <a:noAutofit/>
          </a:bodyPr>
          <a:lstStyle/>
          <a:p>
            <a:r>
              <a:rPr lang="en-GB" sz="1100" b="1" dirty="0">
                <a:latin typeface="Lucida Sans Unicode" pitchFamily="34" charset="0"/>
                <a:cs typeface="Lucida Sans Unicode" pitchFamily="34" charset="0"/>
              </a:rPr>
              <a:t>TS Packet </a:t>
            </a:r>
          </a:p>
          <a:p>
            <a:r>
              <a:rPr lang="en-GB" sz="1100" dirty="0">
                <a:latin typeface="Lucida Sans Unicode" pitchFamily="34" charset="0"/>
                <a:cs typeface="Lucida Sans Unicode" pitchFamily="34" charset="0"/>
              </a:rPr>
              <a:t>PID = h</a:t>
            </a:r>
          </a:p>
        </p:txBody>
      </p:sp>
      <p:sp>
        <p:nvSpPr>
          <p:cNvPr id="90" name="TextBox 89"/>
          <p:cNvSpPr txBox="1"/>
          <p:nvPr/>
        </p:nvSpPr>
        <p:spPr>
          <a:xfrm>
            <a:off x="7668344" y="5373216"/>
            <a:ext cx="1152128" cy="432048"/>
          </a:xfrm>
          <a:prstGeom prst="rect">
            <a:avLst/>
          </a:prstGeom>
          <a:solidFill>
            <a:schemeClr val="accent3">
              <a:lumMod val="40000"/>
              <a:lumOff val="60000"/>
            </a:schemeClr>
          </a:solidFill>
          <a:ln>
            <a:solidFill>
              <a:schemeClr val="accent3">
                <a:lumMod val="50000"/>
              </a:schemeClr>
            </a:solidFill>
          </a:ln>
        </p:spPr>
        <p:txBody>
          <a:bodyPr wrap="square" rtlCol="0" anchor="ctr">
            <a:noAutofit/>
          </a:bodyPr>
          <a:lstStyle/>
          <a:p>
            <a:r>
              <a:rPr lang="en-GB" sz="1100" b="1" dirty="0">
                <a:latin typeface="Lucida Sans Unicode" pitchFamily="34" charset="0"/>
                <a:cs typeface="Lucida Sans Unicode" pitchFamily="34" charset="0"/>
              </a:rPr>
              <a:t>TS Packet </a:t>
            </a:r>
          </a:p>
          <a:p>
            <a:r>
              <a:rPr lang="en-GB" sz="1100" dirty="0">
                <a:latin typeface="Lucida Sans Unicode" pitchFamily="34" charset="0"/>
                <a:cs typeface="Lucida Sans Unicode" pitchFamily="34" charset="0"/>
              </a:rPr>
              <a:t>PID = k</a:t>
            </a:r>
          </a:p>
        </p:txBody>
      </p:sp>
      <p:sp>
        <p:nvSpPr>
          <p:cNvPr id="91" name="TextBox 90"/>
          <p:cNvSpPr txBox="1"/>
          <p:nvPr/>
        </p:nvSpPr>
        <p:spPr>
          <a:xfrm>
            <a:off x="4860032" y="5373216"/>
            <a:ext cx="1656184" cy="432048"/>
          </a:xfrm>
          <a:prstGeom prst="rect">
            <a:avLst/>
          </a:prstGeom>
          <a:solidFill>
            <a:schemeClr val="accent3">
              <a:lumMod val="40000"/>
              <a:lumOff val="60000"/>
            </a:schemeClr>
          </a:solidFill>
          <a:ln>
            <a:solidFill>
              <a:schemeClr val="accent3">
                <a:lumMod val="50000"/>
              </a:schemeClr>
            </a:solidFill>
          </a:ln>
        </p:spPr>
        <p:txBody>
          <a:bodyPr wrap="square" rtlCol="0" anchor="ctr">
            <a:noAutofit/>
          </a:bodyPr>
          <a:lstStyle/>
          <a:p>
            <a:r>
              <a:rPr lang="en-GB" sz="1100" b="1" dirty="0">
                <a:latin typeface="Lucida Sans Unicode" pitchFamily="34" charset="0"/>
                <a:cs typeface="Lucida Sans Unicode" pitchFamily="34" charset="0"/>
              </a:rPr>
              <a:t>.................................</a:t>
            </a:r>
            <a:endParaRPr lang="en-GB" sz="1100" dirty="0">
              <a:latin typeface="Lucida Sans Unicode" pitchFamily="34" charset="0"/>
              <a:cs typeface="Lucida Sans Unicode" pitchFamily="34" charset="0"/>
            </a:endParaRPr>
          </a:p>
        </p:txBody>
      </p:sp>
      <p:cxnSp>
        <p:nvCxnSpPr>
          <p:cNvPr id="92" name="Straight Connector 91"/>
          <p:cNvCxnSpPr/>
          <p:nvPr/>
        </p:nvCxnSpPr>
        <p:spPr>
          <a:xfrm>
            <a:off x="1403648" y="4797152"/>
            <a:ext cx="0" cy="432048"/>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p:nvPr/>
        </p:nvCxnSpPr>
        <p:spPr>
          <a:xfrm flipH="1">
            <a:off x="2555776" y="4797152"/>
            <a:ext cx="864096" cy="504056"/>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94" name="Straight Connector 93"/>
          <p:cNvCxnSpPr/>
          <p:nvPr/>
        </p:nvCxnSpPr>
        <p:spPr>
          <a:xfrm>
            <a:off x="6732240" y="4797152"/>
            <a:ext cx="936104" cy="504056"/>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95" name="Straight Connector 94"/>
          <p:cNvCxnSpPr/>
          <p:nvPr/>
        </p:nvCxnSpPr>
        <p:spPr>
          <a:xfrm>
            <a:off x="4716016" y="4797152"/>
            <a:ext cx="1800200" cy="504056"/>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96" name="TextBox 95"/>
          <p:cNvSpPr txBox="1"/>
          <p:nvPr/>
        </p:nvSpPr>
        <p:spPr>
          <a:xfrm>
            <a:off x="1403648" y="5949280"/>
            <a:ext cx="1152128" cy="307777"/>
          </a:xfrm>
          <a:prstGeom prst="rect">
            <a:avLst/>
          </a:prstGeom>
          <a:noFill/>
        </p:spPr>
        <p:txBody>
          <a:bodyPr wrap="square" rtlCol="0">
            <a:spAutoFit/>
          </a:bodyPr>
          <a:lstStyle/>
          <a:p>
            <a:pPr algn="ctr"/>
            <a:r>
              <a:rPr lang="en-GB" sz="1400" dirty="0">
                <a:latin typeface="Lucida Sans Unicode" pitchFamily="34" charset="0"/>
                <a:cs typeface="Lucida Sans Unicode" pitchFamily="34" charset="0"/>
              </a:rPr>
              <a:t>188 bytes</a:t>
            </a:r>
          </a:p>
        </p:txBody>
      </p:sp>
      <p:cxnSp>
        <p:nvCxnSpPr>
          <p:cNvPr id="97" name="Straight Arrow Connector 96"/>
          <p:cNvCxnSpPr/>
          <p:nvPr/>
        </p:nvCxnSpPr>
        <p:spPr>
          <a:xfrm>
            <a:off x="1403648" y="5949280"/>
            <a:ext cx="1152128"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2555776" y="5949280"/>
            <a:ext cx="1152128" cy="307777"/>
          </a:xfrm>
          <a:prstGeom prst="rect">
            <a:avLst/>
          </a:prstGeom>
          <a:noFill/>
        </p:spPr>
        <p:txBody>
          <a:bodyPr wrap="square" rtlCol="0">
            <a:spAutoFit/>
          </a:bodyPr>
          <a:lstStyle/>
          <a:p>
            <a:pPr algn="ctr"/>
            <a:r>
              <a:rPr lang="en-GB" sz="1400" dirty="0">
                <a:latin typeface="Lucida Sans Unicode" pitchFamily="34" charset="0"/>
                <a:cs typeface="Lucida Sans Unicode" pitchFamily="34" charset="0"/>
              </a:rPr>
              <a:t>188 bytes</a:t>
            </a:r>
          </a:p>
        </p:txBody>
      </p:sp>
      <p:cxnSp>
        <p:nvCxnSpPr>
          <p:cNvPr id="99" name="Straight Arrow Connector 98"/>
          <p:cNvCxnSpPr/>
          <p:nvPr/>
        </p:nvCxnSpPr>
        <p:spPr>
          <a:xfrm>
            <a:off x="2555776" y="5949280"/>
            <a:ext cx="1152128"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00" name="TextBox 99"/>
          <p:cNvSpPr txBox="1"/>
          <p:nvPr/>
        </p:nvSpPr>
        <p:spPr>
          <a:xfrm>
            <a:off x="3707904" y="5949280"/>
            <a:ext cx="1152128" cy="307777"/>
          </a:xfrm>
          <a:prstGeom prst="rect">
            <a:avLst/>
          </a:prstGeom>
          <a:noFill/>
        </p:spPr>
        <p:txBody>
          <a:bodyPr wrap="square" rtlCol="0">
            <a:spAutoFit/>
          </a:bodyPr>
          <a:lstStyle/>
          <a:p>
            <a:pPr algn="ctr"/>
            <a:r>
              <a:rPr lang="en-GB" sz="1400" dirty="0">
                <a:latin typeface="Lucida Sans Unicode" pitchFamily="34" charset="0"/>
                <a:cs typeface="Lucida Sans Unicode" pitchFamily="34" charset="0"/>
              </a:rPr>
              <a:t>188 bytes</a:t>
            </a:r>
          </a:p>
        </p:txBody>
      </p:sp>
      <p:cxnSp>
        <p:nvCxnSpPr>
          <p:cNvPr id="101" name="Straight Arrow Connector 100"/>
          <p:cNvCxnSpPr/>
          <p:nvPr/>
        </p:nvCxnSpPr>
        <p:spPr>
          <a:xfrm>
            <a:off x="3707904" y="5949280"/>
            <a:ext cx="1152128"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02" name="TextBox 101"/>
          <p:cNvSpPr txBox="1"/>
          <p:nvPr/>
        </p:nvSpPr>
        <p:spPr>
          <a:xfrm>
            <a:off x="6516216" y="5949280"/>
            <a:ext cx="1152128" cy="307777"/>
          </a:xfrm>
          <a:prstGeom prst="rect">
            <a:avLst/>
          </a:prstGeom>
          <a:noFill/>
        </p:spPr>
        <p:txBody>
          <a:bodyPr wrap="square" rtlCol="0">
            <a:spAutoFit/>
          </a:bodyPr>
          <a:lstStyle/>
          <a:p>
            <a:pPr algn="ctr"/>
            <a:r>
              <a:rPr lang="en-GB" sz="1400" dirty="0">
                <a:latin typeface="Lucida Sans Unicode" pitchFamily="34" charset="0"/>
                <a:cs typeface="Lucida Sans Unicode" pitchFamily="34" charset="0"/>
              </a:rPr>
              <a:t>188 bytes</a:t>
            </a:r>
          </a:p>
        </p:txBody>
      </p:sp>
      <p:cxnSp>
        <p:nvCxnSpPr>
          <p:cNvPr id="103" name="Straight Arrow Connector 102"/>
          <p:cNvCxnSpPr/>
          <p:nvPr/>
        </p:nvCxnSpPr>
        <p:spPr>
          <a:xfrm>
            <a:off x="6516216" y="5949280"/>
            <a:ext cx="1152128"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04" name="TextBox 103"/>
          <p:cNvSpPr txBox="1"/>
          <p:nvPr/>
        </p:nvSpPr>
        <p:spPr>
          <a:xfrm>
            <a:off x="7668344" y="5949280"/>
            <a:ext cx="1152128" cy="307777"/>
          </a:xfrm>
          <a:prstGeom prst="rect">
            <a:avLst/>
          </a:prstGeom>
          <a:noFill/>
        </p:spPr>
        <p:txBody>
          <a:bodyPr wrap="square" rtlCol="0">
            <a:spAutoFit/>
          </a:bodyPr>
          <a:lstStyle/>
          <a:p>
            <a:pPr algn="ctr"/>
            <a:r>
              <a:rPr lang="en-GB" sz="1400" dirty="0">
                <a:latin typeface="Lucida Sans Unicode" pitchFamily="34" charset="0"/>
                <a:cs typeface="Lucida Sans Unicode" pitchFamily="34" charset="0"/>
              </a:rPr>
              <a:t>188 bytes</a:t>
            </a:r>
          </a:p>
        </p:txBody>
      </p:sp>
      <p:cxnSp>
        <p:nvCxnSpPr>
          <p:cNvPr id="105" name="Straight Arrow Connector 104"/>
          <p:cNvCxnSpPr/>
          <p:nvPr/>
        </p:nvCxnSpPr>
        <p:spPr>
          <a:xfrm>
            <a:off x="7668344" y="5949280"/>
            <a:ext cx="1152128"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06" name="TextBox 105"/>
          <p:cNvSpPr txBox="1"/>
          <p:nvPr/>
        </p:nvSpPr>
        <p:spPr>
          <a:xfrm>
            <a:off x="395288" y="4293096"/>
            <a:ext cx="864344" cy="584775"/>
          </a:xfrm>
          <a:prstGeom prst="rect">
            <a:avLst/>
          </a:prstGeom>
          <a:noFill/>
        </p:spPr>
        <p:txBody>
          <a:bodyPr wrap="square" rtlCol="0">
            <a:spAutoFit/>
          </a:bodyPr>
          <a:lstStyle/>
          <a:p>
            <a:r>
              <a:rPr lang="en-GB" sz="1600" dirty="0">
                <a:latin typeface="Lucida Sans Unicode" pitchFamily="34" charset="0"/>
                <a:cs typeface="Lucida Sans Unicode" pitchFamily="34" charset="0"/>
              </a:rPr>
              <a:t>TS</a:t>
            </a:r>
          </a:p>
          <a:p>
            <a:r>
              <a:rPr lang="en-GB" sz="1600" dirty="0">
                <a:latin typeface="Lucida Sans Unicode" pitchFamily="34" charset="0"/>
                <a:cs typeface="Lucida Sans Unicode" pitchFamily="34" charset="0"/>
              </a:rPr>
              <a:t>Packet</a:t>
            </a:r>
          </a:p>
        </p:txBody>
      </p:sp>
      <p:sp>
        <p:nvSpPr>
          <p:cNvPr id="107" name="TextBox 106"/>
          <p:cNvSpPr txBox="1"/>
          <p:nvPr/>
        </p:nvSpPr>
        <p:spPr>
          <a:xfrm>
            <a:off x="395288" y="5373216"/>
            <a:ext cx="864344" cy="338554"/>
          </a:xfrm>
          <a:prstGeom prst="rect">
            <a:avLst/>
          </a:prstGeom>
          <a:noFill/>
        </p:spPr>
        <p:txBody>
          <a:bodyPr wrap="square" rtlCol="0">
            <a:spAutoFit/>
          </a:bodyPr>
          <a:lstStyle/>
          <a:p>
            <a:r>
              <a:rPr lang="en-GB" sz="1600" dirty="0">
                <a:latin typeface="Lucida Sans Unicode" pitchFamily="34" charset="0"/>
                <a:cs typeface="Lucida Sans Unicode" pitchFamily="34" charset="0"/>
              </a:rPr>
              <a:t>TS</a:t>
            </a:r>
          </a:p>
        </p:txBody>
      </p:sp>
      <p:sp>
        <p:nvSpPr>
          <p:cNvPr id="55" name="TextBox 54"/>
          <p:cNvSpPr txBox="1"/>
          <p:nvPr/>
        </p:nvSpPr>
        <p:spPr>
          <a:xfrm>
            <a:off x="5076056" y="764704"/>
            <a:ext cx="3744663" cy="5755422"/>
          </a:xfrm>
          <a:prstGeom prst="rect">
            <a:avLst/>
          </a:prstGeom>
          <a:solidFill>
            <a:schemeClr val="accent6">
              <a:lumMod val="20000"/>
              <a:lumOff val="80000"/>
            </a:schemeClr>
          </a:solidFill>
          <a:ln w="28575">
            <a:solidFill>
              <a:schemeClr val="tx1"/>
            </a:solidFill>
          </a:ln>
        </p:spPr>
        <p:txBody>
          <a:bodyPr wrap="square" rtlCol="0">
            <a:spAutoFit/>
          </a:bodyPr>
          <a:lstStyle/>
          <a:p>
            <a:pPr marL="180975" indent="-180975"/>
            <a:r>
              <a:rPr lang="en-GB" sz="1600" b="1" dirty="0">
                <a:latin typeface="Lucida Sans Unicode" pitchFamily="34" charset="0"/>
                <a:cs typeface="Lucida Sans Unicode" pitchFamily="34" charset="0"/>
              </a:rPr>
              <a:t>Packets multiplexed</a:t>
            </a:r>
          </a:p>
          <a:p>
            <a:pPr marL="180975" indent="-180975">
              <a:buFont typeface="Arial" pitchFamily="34" charset="0"/>
              <a:buChar char="•"/>
            </a:pPr>
            <a:r>
              <a:rPr lang="en-GB" sz="1600" dirty="0">
                <a:latin typeface="Lucida Sans Unicode" pitchFamily="34" charset="0"/>
                <a:cs typeface="Lucida Sans Unicode" pitchFamily="34" charset="0"/>
              </a:rPr>
              <a:t>efficient and flexible</a:t>
            </a:r>
          </a:p>
          <a:p>
            <a:pPr marL="180975" indent="-180975">
              <a:buFont typeface="Arial" pitchFamily="34" charset="0"/>
              <a:buChar char="•"/>
            </a:pPr>
            <a:r>
              <a:rPr lang="en-GB" sz="1600" dirty="0">
                <a:latin typeface="Lucida Sans Unicode" pitchFamily="34" charset="0"/>
                <a:cs typeface="Lucida Sans Unicode" pitchFamily="34" charset="0"/>
              </a:rPr>
              <a:t>allows for conversion PS ↔ TS</a:t>
            </a:r>
          </a:p>
          <a:p>
            <a:endParaRPr lang="en-GB" sz="1600" dirty="0">
              <a:latin typeface="Lucida Sans Unicode" pitchFamily="34" charset="0"/>
              <a:cs typeface="Lucida Sans Unicode" pitchFamily="34" charset="0"/>
            </a:endParaRPr>
          </a:p>
          <a:p>
            <a:r>
              <a:rPr lang="en-GB" sz="1600" b="1" dirty="0">
                <a:latin typeface="Lucida Sans Unicode" pitchFamily="34" charset="0"/>
                <a:cs typeface="Lucida Sans Unicode" pitchFamily="34" charset="0"/>
              </a:rPr>
              <a:t>Transport Stream – TS </a:t>
            </a:r>
          </a:p>
          <a:p>
            <a:pPr marL="180975" indent="-180975">
              <a:buFont typeface="Arial" pitchFamily="34" charset="0"/>
              <a:buChar char="•"/>
            </a:pPr>
            <a:r>
              <a:rPr lang="en-GB" sz="1600" dirty="0">
                <a:latin typeface="Lucida Sans Unicode" pitchFamily="34" charset="0"/>
                <a:cs typeface="Lucida Sans Unicode" pitchFamily="34" charset="0"/>
              </a:rPr>
              <a:t>for channels with likely errors</a:t>
            </a:r>
          </a:p>
          <a:p>
            <a:pPr marL="177800" indent="-177800">
              <a:buFont typeface="Arial" pitchFamily="34" charset="0"/>
              <a:buChar char="•"/>
            </a:pPr>
            <a:r>
              <a:rPr lang="en-GB" sz="1600" dirty="0">
                <a:latin typeface="Lucida Sans Unicode" pitchFamily="34" charset="0"/>
                <a:cs typeface="Lucida Sans Unicode" pitchFamily="34" charset="0"/>
              </a:rPr>
              <a:t>short fixed-length: 188B</a:t>
            </a:r>
          </a:p>
          <a:p>
            <a:pPr marL="177800" indent="-177800">
              <a:buFont typeface="Arial" pitchFamily="34" charset="0"/>
              <a:buChar char="•"/>
            </a:pPr>
            <a:endParaRPr lang="en-GB" sz="1600" dirty="0">
              <a:latin typeface="Lucida Sans Unicode" pitchFamily="34" charset="0"/>
              <a:cs typeface="Lucida Sans Unicode" pitchFamily="34" charset="0"/>
            </a:endParaRPr>
          </a:p>
          <a:p>
            <a:pPr marL="177800" indent="-177800">
              <a:buFont typeface="Arial" pitchFamily="34" charset="0"/>
              <a:buChar char="•"/>
            </a:pPr>
            <a:r>
              <a:rPr lang="en-GB" sz="1600" dirty="0">
                <a:latin typeface="Lucida Sans Unicode" pitchFamily="34" charset="0"/>
                <a:cs typeface="Lucida Sans Unicode" pitchFamily="34" charset="0"/>
              </a:rPr>
              <a:t>PES packets – long variable length </a:t>
            </a:r>
          </a:p>
          <a:p>
            <a:pPr marL="635000" lvl="1" indent="-177800">
              <a:buFont typeface="Arial" pitchFamily="34" charset="0"/>
              <a:buChar char="•"/>
            </a:pPr>
            <a:r>
              <a:rPr lang="en-GB" sz="1600" dirty="0">
                <a:latin typeface="Lucida Sans Unicode" pitchFamily="34" charset="0"/>
                <a:cs typeface="Lucida Sans Unicode" pitchFamily="34" charset="0"/>
              </a:rPr>
              <a:t>Sub-divided </a:t>
            </a:r>
          </a:p>
          <a:p>
            <a:pPr marL="635000" lvl="1" indent="-177800">
              <a:buFont typeface="Arial" pitchFamily="34" charset="0"/>
              <a:buChar char="•"/>
            </a:pPr>
            <a:r>
              <a:rPr lang="en-GB" sz="1600" dirty="0">
                <a:latin typeface="Lucida Sans Unicode" pitchFamily="34" charset="0"/>
                <a:cs typeface="Lucida Sans Unicode" pitchFamily="34" charset="0"/>
              </a:rPr>
              <a:t>carried as payload of TS packets</a:t>
            </a:r>
          </a:p>
          <a:p>
            <a:endParaRPr lang="en-GB" sz="1600" dirty="0">
              <a:latin typeface="Lucida Sans Unicode" pitchFamily="34" charset="0"/>
              <a:cs typeface="Lucida Sans Unicode" pitchFamily="34" charset="0"/>
            </a:endParaRPr>
          </a:p>
          <a:p>
            <a:r>
              <a:rPr lang="en-GB" sz="1600" b="1" dirty="0">
                <a:latin typeface="Lucida Sans Unicode" pitchFamily="34" charset="0"/>
                <a:cs typeface="Lucida Sans Unicode" pitchFamily="34" charset="0"/>
              </a:rPr>
              <a:t>Program Steam - PS </a:t>
            </a:r>
          </a:p>
          <a:p>
            <a:pPr marL="177800" indent="-177800">
              <a:buFont typeface="Arial" pitchFamily="34" charset="0"/>
              <a:buChar char="•"/>
            </a:pPr>
            <a:r>
              <a:rPr lang="en-GB" sz="1600" dirty="0">
                <a:latin typeface="Lucida Sans Unicode" pitchFamily="34" charset="0"/>
                <a:cs typeface="Lucida Sans Unicode" pitchFamily="34" charset="0"/>
              </a:rPr>
              <a:t>for transmission and storage in error-free channels </a:t>
            </a:r>
          </a:p>
          <a:p>
            <a:pPr marL="177800" indent="-177800">
              <a:buFont typeface="Arial" pitchFamily="34" charset="0"/>
              <a:buChar char="•"/>
            </a:pPr>
            <a:r>
              <a:rPr lang="en-GB" sz="1600" b="1" dirty="0">
                <a:latin typeface="Lucida Sans Unicode" pitchFamily="34" charset="0"/>
                <a:cs typeface="Lucida Sans Unicode" pitchFamily="34" charset="0"/>
              </a:rPr>
              <a:t>PES </a:t>
            </a:r>
            <a:r>
              <a:rPr lang="en-GB" sz="1600" dirty="0">
                <a:latin typeface="Lucida Sans Unicode" pitchFamily="34" charset="0"/>
                <a:cs typeface="Lucida Sans Unicode" pitchFamily="34" charset="0"/>
              </a:rPr>
              <a:t>- long variable-length packets </a:t>
            </a:r>
          </a:p>
          <a:p>
            <a:pPr marL="177800" indent="-177800"/>
            <a:r>
              <a:rPr lang="en-GB" sz="1600" dirty="0">
                <a:latin typeface="Lucida Sans Unicode" pitchFamily="34" charset="0"/>
                <a:cs typeface="Lucida Sans Unicode" pitchFamily="34" charset="0"/>
              </a:rPr>
              <a:t>	... into variable length </a:t>
            </a:r>
            <a:r>
              <a:rPr lang="en-GB" sz="1600" b="1" i="1" dirty="0">
                <a:latin typeface="Lucida Sans Unicode" pitchFamily="34" charset="0"/>
                <a:cs typeface="Lucida Sans Unicode" pitchFamily="34" charset="0"/>
              </a:rPr>
              <a:t>packs</a:t>
            </a:r>
            <a:r>
              <a:rPr lang="en-GB" sz="1600" dirty="0">
                <a:latin typeface="Lucida Sans Unicode" pitchFamily="34" charset="0"/>
                <a:cs typeface="Lucida Sans Unicode" pitchFamily="34" charset="0"/>
              </a:rPr>
              <a:t> </a:t>
            </a:r>
          </a:p>
          <a:p>
            <a:pPr marL="815975" lvl="2" indent="-177800">
              <a:buFont typeface="Arial" pitchFamily="34" charset="0"/>
              <a:buChar char="•"/>
            </a:pPr>
            <a:r>
              <a:rPr lang="en-GB" sz="1600" dirty="0">
                <a:latin typeface="Lucida Sans Unicode" pitchFamily="34" charset="0"/>
                <a:cs typeface="Lucida Sans Unicode" pitchFamily="34" charset="0"/>
              </a:rPr>
              <a:t>multiple PES packets</a:t>
            </a:r>
          </a:p>
          <a:p>
            <a:pPr marL="177800" indent="-177800"/>
            <a:r>
              <a:rPr lang="en-GB" sz="1600" dirty="0">
                <a:latin typeface="Lucida Sans Unicode" pitchFamily="34" charset="0"/>
                <a:cs typeface="Lucida Sans Unicode" pitchFamily="34" charset="0"/>
              </a:rPr>
              <a:t>		... of nearly equal length </a:t>
            </a:r>
          </a:p>
          <a:p>
            <a:pPr marL="177800" indent="-177800"/>
            <a:r>
              <a:rPr lang="en-GB" sz="1600" dirty="0">
                <a:latin typeface="Lucida Sans Unicode" pitchFamily="34" charset="0"/>
                <a:cs typeface="Lucida Sans Unicode" pitchFamily="34" charset="0"/>
              </a:rPr>
              <a:t>		(video and audio)</a:t>
            </a:r>
          </a:p>
          <a:p>
            <a:pPr marL="177800" indent="-177800">
              <a:buFont typeface="Arial" pitchFamily="34" charset="0"/>
              <a:buChar char="•"/>
            </a:pPr>
            <a:endParaRPr lang="en-GB" sz="1600" dirty="0">
              <a:latin typeface="Lucida Sans Unicode" pitchFamily="34" charset="0"/>
              <a:cs typeface="Lucida Sans Unicode" pitchFamily="34" charset="0"/>
            </a:endParaRPr>
          </a:p>
        </p:txBody>
      </p:sp>
    </p:spTree>
    <p:extLst>
      <p:ext uri="{BB962C8B-B14F-4D97-AF65-F5344CB8AC3E}">
        <p14:creationId xmlns:p14="http://schemas.microsoft.com/office/powerpoint/2010/main" val="15985722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http://68.media.tumblr.com/3a08f3947b016dbac889a97c1eae06c7/tumblr_noe42t9Xdv1uvcudho1_128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78003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ext Box 2"/>
          <p:cNvSpPr txBox="1">
            <a:spLocks noChangeArrowheads="1"/>
          </p:cNvSpPr>
          <p:nvPr/>
        </p:nvSpPr>
        <p:spPr bwMode="auto">
          <a:xfrm>
            <a:off x="381000" y="333375"/>
            <a:ext cx="5070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a:solidFill>
                  <a:schemeClr val="tx1"/>
                </a:solidFill>
                <a:latin typeface="Lucida Sans Unicode" pitchFamily="34" charset="0"/>
              </a:defRPr>
            </a:lvl1pPr>
            <a:lvl2pPr marL="742950" indent="-285750">
              <a:defRPr sz="1600">
                <a:solidFill>
                  <a:schemeClr val="tx1"/>
                </a:solidFill>
                <a:latin typeface="Lucida Sans Unicode" pitchFamily="34" charset="0"/>
              </a:defRPr>
            </a:lvl2pPr>
            <a:lvl3pPr marL="1143000" indent="-228600">
              <a:defRPr sz="1600">
                <a:solidFill>
                  <a:schemeClr val="tx1"/>
                </a:solidFill>
                <a:latin typeface="Lucida Sans Unicode" pitchFamily="34" charset="0"/>
              </a:defRPr>
            </a:lvl3pPr>
            <a:lvl4pPr marL="1600200" indent="-228600">
              <a:defRPr sz="1600">
                <a:solidFill>
                  <a:schemeClr val="tx1"/>
                </a:solidFill>
                <a:latin typeface="Lucida Sans Unicode" pitchFamily="34" charset="0"/>
              </a:defRPr>
            </a:lvl4pPr>
            <a:lvl5pPr marL="2057400" indent="-228600">
              <a:defRPr sz="1600">
                <a:solidFill>
                  <a:schemeClr val="tx1"/>
                </a:solidFill>
                <a:latin typeface="Lucida Sans Unicode" pitchFamily="34" charset="0"/>
              </a:defRPr>
            </a:lvl5pPr>
            <a:lvl6pPr marL="2514600" indent="-228600" eaLnBrk="0" fontAlgn="base" hangingPunct="0">
              <a:spcBef>
                <a:spcPct val="0"/>
              </a:spcBef>
              <a:spcAft>
                <a:spcPct val="0"/>
              </a:spcAft>
              <a:defRPr sz="1600">
                <a:solidFill>
                  <a:schemeClr val="tx1"/>
                </a:solidFill>
                <a:latin typeface="Lucida Sans Unicode" pitchFamily="34" charset="0"/>
              </a:defRPr>
            </a:lvl6pPr>
            <a:lvl7pPr marL="2971800" indent="-228600" eaLnBrk="0" fontAlgn="base" hangingPunct="0">
              <a:spcBef>
                <a:spcPct val="0"/>
              </a:spcBef>
              <a:spcAft>
                <a:spcPct val="0"/>
              </a:spcAft>
              <a:defRPr sz="1600">
                <a:solidFill>
                  <a:schemeClr val="tx1"/>
                </a:solidFill>
                <a:latin typeface="Lucida Sans Unicode" pitchFamily="34" charset="0"/>
              </a:defRPr>
            </a:lvl7pPr>
            <a:lvl8pPr marL="3429000" indent="-228600" eaLnBrk="0" fontAlgn="base" hangingPunct="0">
              <a:spcBef>
                <a:spcPct val="0"/>
              </a:spcBef>
              <a:spcAft>
                <a:spcPct val="0"/>
              </a:spcAft>
              <a:defRPr sz="1600">
                <a:solidFill>
                  <a:schemeClr val="tx1"/>
                </a:solidFill>
                <a:latin typeface="Lucida Sans Unicode" pitchFamily="34" charset="0"/>
              </a:defRPr>
            </a:lvl8pPr>
            <a:lvl9pPr marL="3886200" indent="-228600" eaLnBrk="0" fontAlgn="base" hangingPunct="0">
              <a:spcBef>
                <a:spcPct val="0"/>
              </a:spcBef>
              <a:spcAft>
                <a:spcPct val="0"/>
              </a:spcAft>
              <a:defRPr sz="1600">
                <a:solidFill>
                  <a:schemeClr val="tx1"/>
                </a:solidFill>
                <a:latin typeface="Lucida Sans Unicode" pitchFamily="34" charset="0"/>
              </a:defRPr>
            </a:lvl9pPr>
          </a:lstStyle>
          <a:p>
            <a:pPr algn="ctr"/>
            <a:r>
              <a:rPr lang="en-GB" sz="2400" b="1" dirty="0"/>
              <a:t>DVB - Digital Video Broadcasting</a:t>
            </a:r>
            <a:endParaRPr lang="en-GB" sz="2400" dirty="0"/>
          </a:p>
        </p:txBody>
      </p:sp>
      <p:pic>
        <p:nvPicPr>
          <p:cNvPr id="3075"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3700" y="831548"/>
            <a:ext cx="2755017" cy="2225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3076" name="Text Box 4"/>
          <p:cNvSpPr txBox="1">
            <a:spLocks noChangeArrowheads="1"/>
          </p:cNvSpPr>
          <p:nvPr/>
        </p:nvSpPr>
        <p:spPr bwMode="auto">
          <a:xfrm>
            <a:off x="4887035" y="849487"/>
            <a:ext cx="4041494" cy="5186035"/>
          </a:xfrm>
          <a:prstGeom prst="rect">
            <a:avLst/>
          </a:prstGeom>
          <a:solidFill>
            <a:schemeClr val="bg1">
              <a:alpha val="79999"/>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marL="180975" indent="-180975">
              <a:defRPr sz="1600">
                <a:solidFill>
                  <a:schemeClr val="tx1"/>
                </a:solidFill>
                <a:latin typeface="Lucida Sans Unicode" pitchFamily="34" charset="0"/>
              </a:defRPr>
            </a:lvl1pPr>
            <a:lvl2pPr marL="742950" indent="-285750">
              <a:defRPr sz="1600">
                <a:solidFill>
                  <a:schemeClr val="tx1"/>
                </a:solidFill>
                <a:latin typeface="Lucida Sans Unicode" pitchFamily="34" charset="0"/>
              </a:defRPr>
            </a:lvl2pPr>
            <a:lvl3pPr marL="1143000" indent="-228600">
              <a:defRPr sz="1600">
                <a:solidFill>
                  <a:schemeClr val="tx1"/>
                </a:solidFill>
                <a:latin typeface="Lucida Sans Unicode" pitchFamily="34" charset="0"/>
              </a:defRPr>
            </a:lvl3pPr>
            <a:lvl4pPr marL="1600200" indent="-228600">
              <a:defRPr sz="1600">
                <a:solidFill>
                  <a:schemeClr val="tx1"/>
                </a:solidFill>
                <a:latin typeface="Lucida Sans Unicode" pitchFamily="34" charset="0"/>
              </a:defRPr>
            </a:lvl4pPr>
            <a:lvl5pPr marL="2057400" indent="-228600">
              <a:defRPr sz="1600">
                <a:solidFill>
                  <a:schemeClr val="tx1"/>
                </a:solidFill>
                <a:latin typeface="Lucida Sans Unicode" pitchFamily="34" charset="0"/>
              </a:defRPr>
            </a:lvl5pPr>
            <a:lvl6pPr marL="2514600" indent="-228600" eaLnBrk="0" fontAlgn="base" hangingPunct="0">
              <a:spcBef>
                <a:spcPct val="0"/>
              </a:spcBef>
              <a:spcAft>
                <a:spcPct val="0"/>
              </a:spcAft>
              <a:defRPr sz="1600">
                <a:solidFill>
                  <a:schemeClr val="tx1"/>
                </a:solidFill>
                <a:latin typeface="Lucida Sans Unicode" pitchFamily="34" charset="0"/>
              </a:defRPr>
            </a:lvl6pPr>
            <a:lvl7pPr marL="2971800" indent="-228600" eaLnBrk="0" fontAlgn="base" hangingPunct="0">
              <a:spcBef>
                <a:spcPct val="0"/>
              </a:spcBef>
              <a:spcAft>
                <a:spcPct val="0"/>
              </a:spcAft>
              <a:defRPr sz="1600">
                <a:solidFill>
                  <a:schemeClr val="tx1"/>
                </a:solidFill>
                <a:latin typeface="Lucida Sans Unicode" pitchFamily="34" charset="0"/>
              </a:defRPr>
            </a:lvl7pPr>
            <a:lvl8pPr marL="3429000" indent="-228600" eaLnBrk="0" fontAlgn="base" hangingPunct="0">
              <a:spcBef>
                <a:spcPct val="0"/>
              </a:spcBef>
              <a:spcAft>
                <a:spcPct val="0"/>
              </a:spcAft>
              <a:defRPr sz="1600">
                <a:solidFill>
                  <a:schemeClr val="tx1"/>
                </a:solidFill>
                <a:latin typeface="Lucida Sans Unicode" pitchFamily="34" charset="0"/>
              </a:defRPr>
            </a:lvl8pPr>
            <a:lvl9pPr marL="3886200" indent="-228600" eaLnBrk="0" fontAlgn="base" hangingPunct="0">
              <a:spcBef>
                <a:spcPct val="0"/>
              </a:spcBef>
              <a:spcAft>
                <a:spcPct val="0"/>
              </a:spcAft>
              <a:defRPr sz="1600">
                <a:solidFill>
                  <a:schemeClr val="tx1"/>
                </a:solidFill>
                <a:latin typeface="Lucida Sans Unicode" pitchFamily="34" charset="0"/>
              </a:defRPr>
            </a:lvl9pPr>
          </a:lstStyle>
          <a:p>
            <a:pPr marL="898525" indent="-898525"/>
            <a:r>
              <a:rPr lang="en-GB" b="1" dirty="0"/>
              <a:t>Standards</a:t>
            </a:r>
          </a:p>
          <a:p>
            <a:pPr marL="182563" indent="-182563"/>
            <a:r>
              <a:rPr lang="en-GB" sz="1400" dirty="0"/>
              <a:t>Satellite 		DVB-S, DVB-S2, SH</a:t>
            </a:r>
          </a:p>
          <a:p>
            <a:pPr marL="182563" indent="-182563"/>
            <a:r>
              <a:rPr lang="en-GB" sz="1400" dirty="0"/>
              <a:t>Cable 		DVB-C, DVB-C2</a:t>
            </a:r>
          </a:p>
          <a:p>
            <a:pPr marL="182563" indent="-182563"/>
            <a:r>
              <a:rPr lang="en-GB" sz="1400" dirty="0"/>
              <a:t>DTT		DVB-T, DVB-T2 </a:t>
            </a:r>
          </a:p>
          <a:p>
            <a:pPr marL="182563" indent="-182563"/>
            <a:r>
              <a:rPr lang="en-GB" sz="1400" dirty="0"/>
              <a:t>DTT for handhelds 	DVB-H</a:t>
            </a:r>
            <a:r>
              <a:rPr lang="en-GB" sz="1400"/>
              <a:t>, DVB-H2</a:t>
            </a:r>
          </a:p>
          <a:p>
            <a:pPr marL="182563" indent="-182563"/>
            <a:r>
              <a:rPr lang="en-GB" sz="1400"/>
              <a:t>IPTV		DVB-IPTV</a:t>
            </a:r>
          </a:p>
          <a:p>
            <a:pPr marL="182563" indent="-182563"/>
            <a:r>
              <a:rPr lang="en-GB" sz="1400"/>
              <a:t>DASH		DVB-DASH</a:t>
            </a:r>
            <a:endParaRPr lang="en-GB" sz="1400" dirty="0"/>
          </a:p>
          <a:p>
            <a:pPr marL="898525" indent="-898525"/>
            <a:endParaRPr lang="en-GB" sz="1100" dirty="0"/>
          </a:p>
          <a:p>
            <a:pPr marL="898525" indent="-898525"/>
            <a:r>
              <a:rPr lang="en-GB" sz="1000" dirty="0"/>
              <a:t>DVB-3DTV - Frame Compatible Plano-Stereoscopic 3DTV</a:t>
            </a:r>
          </a:p>
          <a:p>
            <a:pPr marL="898525" indent="-898525"/>
            <a:r>
              <a:rPr lang="en-GB" sz="1000" dirty="0"/>
              <a:t>DVB-C2 - 2nd Generation Cable Transmission</a:t>
            </a:r>
          </a:p>
          <a:p>
            <a:pPr marL="898525" indent="-898525"/>
            <a:r>
              <a:rPr lang="en-GB" sz="1000" dirty="0"/>
              <a:t>DVB-CID - Carrier Identification for Satellite Transmission</a:t>
            </a:r>
          </a:p>
          <a:p>
            <a:pPr marL="898525" indent="-898525"/>
            <a:r>
              <a:rPr lang="en-GB" sz="1000" dirty="0"/>
              <a:t>DVB-CPCM - Content Protection and Copy Management</a:t>
            </a:r>
          </a:p>
          <a:p>
            <a:pPr marL="898525" indent="-898525"/>
            <a:r>
              <a:rPr lang="en-GB" sz="1000" dirty="0"/>
              <a:t>DVB-FF - DVB File Format</a:t>
            </a:r>
          </a:p>
          <a:p>
            <a:pPr marL="898525" indent="-898525"/>
            <a:r>
              <a:rPr lang="en-GB" sz="1000" dirty="0"/>
              <a:t>DVB-GEM - Globally Executable MHP</a:t>
            </a:r>
          </a:p>
          <a:p>
            <a:pPr marL="898525" indent="-898525"/>
            <a:r>
              <a:rPr lang="en-GB" sz="1000" dirty="0"/>
              <a:t>DVB-GSE - Generic Stream Encapsulation</a:t>
            </a:r>
          </a:p>
          <a:p>
            <a:pPr marL="898525" indent="-898525"/>
            <a:r>
              <a:rPr lang="en-GB" sz="1000" dirty="0"/>
              <a:t>DVB-H - Broadcasting to Handheld Devices</a:t>
            </a:r>
          </a:p>
          <a:p>
            <a:pPr marL="898525" indent="-898525"/>
            <a:r>
              <a:rPr lang="en-GB" sz="1000" dirty="0"/>
              <a:t>DVB-IPDC - Internet Protocol </a:t>
            </a:r>
            <a:r>
              <a:rPr lang="en-GB" sz="1000" dirty="0" err="1"/>
              <a:t>Datacasting</a:t>
            </a:r>
            <a:endParaRPr lang="en-GB" sz="1000" dirty="0"/>
          </a:p>
          <a:p>
            <a:pPr marL="898525" indent="-898525"/>
            <a:r>
              <a:rPr lang="en-GB" sz="1000" dirty="0"/>
              <a:t>DVB-IPTV - Internet Protocol Television</a:t>
            </a:r>
          </a:p>
          <a:p>
            <a:pPr marL="898525" indent="-898525"/>
            <a:r>
              <a:rPr lang="en-GB" sz="1000" dirty="0"/>
              <a:t>DVB-MHP - Open Middleware for Interactive TV</a:t>
            </a:r>
          </a:p>
          <a:p>
            <a:pPr marL="898525" indent="-898525"/>
            <a:r>
              <a:rPr lang="en-GB" sz="1000" dirty="0"/>
              <a:t>DVB-PCF - Portable Content Format</a:t>
            </a:r>
          </a:p>
          <a:p>
            <a:pPr marL="898525" indent="-898525"/>
            <a:r>
              <a:rPr lang="en-GB" sz="1000" dirty="0"/>
              <a:t>DVB-RCS2 - Return Channel Satellite</a:t>
            </a:r>
          </a:p>
          <a:p>
            <a:pPr marL="898525" indent="-898525"/>
            <a:r>
              <a:rPr lang="en-GB" sz="1000" dirty="0"/>
              <a:t>DVB-RCT - Return Channel Terrestrial (03/2001)</a:t>
            </a:r>
          </a:p>
          <a:p>
            <a:pPr marL="898525" indent="-898525"/>
            <a:r>
              <a:rPr lang="en-GB" sz="1000" dirty="0"/>
              <a:t>DVB-S2 - 2nd Generation Satellite Broadcasting</a:t>
            </a:r>
          </a:p>
          <a:p>
            <a:pPr marL="898525" indent="-898525"/>
            <a:r>
              <a:rPr lang="en-GB" sz="1000" dirty="0"/>
              <a:t>DVB-SH - Satellite Services to Handheld Devices</a:t>
            </a:r>
          </a:p>
          <a:p>
            <a:pPr marL="898525" indent="-898525"/>
            <a:r>
              <a:rPr lang="en-GB" sz="1000" dirty="0"/>
              <a:t>DVB-T - Digital Terrestrial Television</a:t>
            </a:r>
          </a:p>
          <a:p>
            <a:pPr marL="898525" indent="-898525"/>
            <a:r>
              <a:rPr lang="en-GB" sz="1000" dirty="0"/>
              <a:t>DVB-T2 - 2nd Generation Terrestrial Broadcasting</a:t>
            </a:r>
          </a:p>
          <a:p>
            <a:pPr marL="898525" indent="-898525"/>
            <a:r>
              <a:rPr lang="en-GB" sz="1000" dirty="0"/>
              <a:t>DVB - Emergency Warning System</a:t>
            </a:r>
          </a:p>
          <a:p>
            <a:pPr marL="898525" indent="-898525"/>
            <a:r>
              <a:rPr lang="en-GB" sz="1000" dirty="0"/>
              <a:t>DVB Project - An Introduction</a:t>
            </a:r>
          </a:p>
          <a:p>
            <a:pPr marL="898525" indent="-898525"/>
            <a:r>
              <a:rPr lang="en-GB" sz="1000" dirty="0"/>
              <a:t>Hierarchical Modulation in DVB-T (03/2000)</a:t>
            </a:r>
          </a:p>
          <a:p>
            <a:pPr marL="898525" indent="-898525"/>
            <a:r>
              <a:rPr lang="en-GB" sz="1000" dirty="0"/>
              <a:t>plus many others (</a:t>
            </a:r>
            <a:r>
              <a:rPr lang="en-GB" sz="1000" dirty="0" err="1"/>
              <a:t>inc</a:t>
            </a:r>
            <a:r>
              <a:rPr lang="en-GB" sz="1000" dirty="0"/>
              <a:t> addenda, </a:t>
            </a:r>
            <a:r>
              <a:rPr lang="en-GB" sz="1000" dirty="0" err="1"/>
              <a:t>etc</a:t>
            </a:r>
            <a:r>
              <a:rPr lang="en-GB" sz="1000" dirty="0"/>
              <a:t>) …</a:t>
            </a:r>
          </a:p>
        </p:txBody>
      </p:sp>
      <p:sp>
        <p:nvSpPr>
          <p:cNvPr id="5" name="Rectangle 4"/>
          <p:cNvSpPr/>
          <p:nvPr/>
        </p:nvSpPr>
        <p:spPr>
          <a:xfrm>
            <a:off x="395288" y="3248980"/>
            <a:ext cx="4493336" cy="3046988"/>
          </a:xfrm>
          <a:prstGeom prst="rect">
            <a:avLst/>
          </a:prstGeom>
        </p:spPr>
        <p:txBody>
          <a:bodyPr wrap="square">
            <a:spAutoFit/>
          </a:bodyPr>
          <a:lstStyle/>
          <a:p>
            <a:pPr marL="182563" indent="-182563"/>
            <a:r>
              <a:rPr lang="en-GB" sz="1600" b="1" dirty="0"/>
              <a:t>Industry Organisation</a:t>
            </a:r>
          </a:p>
          <a:p>
            <a:pPr marL="182563" indent="-182563"/>
            <a:endParaRPr lang="en-GB" sz="1600" b="1" dirty="0"/>
          </a:p>
          <a:p>
            <a:pPr marL="182563" indent="-182563"/>
            <a:r>
              <a:rPr lang="en-GB" sz="1600" b="1" dirty="0"/>
              <a:t>Standardisation Process –</a:t>
            </a:r>
          </a:p>
          <a:p>
            <a:pPr marL="182563" indent="-182563"/>
            <a:r>
              <a:rPr lang="en-GB" sz="1600" dirty="0"/>
              <a:t>Joint Technical Committee (JTC) of: </a:t>
            </a:r>
          </a:p>
          <a:p>
            <a:pPr marL="182563" indent="-182563">
              <a:buFontTx/>
              <a:buChar char="•"/>
            </a:pPr>
            <a:r>
              <a:rPr lang="en-GB" sz="1600" dirty="0"/>
              <a:t>ETSI - European Telecommunications Standards Institute</a:t>
            </a:r>
          </a:p>
          <a:p>
            <a:pPr marL="182563" indent="-182563">
              <a:buFontTx/>
              <a:buChar char="•"/>
            </a:pPr>
            <a:r>
              <a:rPr lang="en-GB" sz="1600" dirty="0"/>
              <a:t>CENELEC - European Committee for </a:t>
            </a:r>
            <a:r>
              <a:rPr lang="en-GB" sz="1600" dirty="0" err="1"/>
              <a:t>Electrotechnical</a:t>
            </a:r>
            <a:r>
              <a:rPr lang="en-GB" sz="1600" dirty="0"/>
              <a:t> Standardization CENELEC </a:t>
            </a:r>
          </a:p>
          <a:p>
            <a:pPr marL="182563" indent="-182563">
              <a:buFontTx/>
              <a:buChar char="•"/>
            </a:pPr>
            <a:r>
              <a:rPr lang="en-GB" sz="1600" dirty="0"/>
              <a:t>EBU - European Broadcasting Union</a:t>
            </a:r>
          </a:p>
          <a:p>
            <a:pPr marL="182563" indent="-182563">
              <a:buFontTx/>
              <a:buChar char="•"/>
            </a:pPr>
            <a:endParaRPr lang="en-GB" sz="1600" dirty="0"/>
          </a:p>
          <a:p>
            <a:pPr marL="182563" indent="-182563">
              <a:buFontTx/>
              <a:buChar char="•"/>
            </a:pPr>
            <a:r>
              <a:rPr lang="en-GB" sz="1600" dirty="0"/>
              <a:t>Note standards refer to other standards and patents, e.g. MPEG</a:t>
            </a:r>
          </a:p>
        </p:txBody>
      </p:sp>
      <p:sp>
        <p:nvSpPr>
          <p:cNvPr id="6" name="Rectangle 5"/>
          <p:cNvSpPr/>
          <p:nvPr/>
        </p:nvSpPr>
        <p:spPr>
          <a:xfrm>
            <a:off x="5820382" y="6174305"/>
            <a:ext cx="3323205" cy="276999"/>
          </a:xfrm>
          <a:prstGeom prst="rect">
            <a:avLst/>
          </a:prstGeom>
          <a:solidFill>
            <a:srgbClr val="CCCCFF"/>
          </a:solidFill>
        </p:spPr>
        <p:txBody>
          <a:bodyPr wrap="square">
            <a:spAutoFit/>
          </a:bodyPr>
          <a:lstStyle/>
          <a:p>
            <a:pPr marL="898525" indent="-898525"/>
            <a:r>
              <a:rPr lang="en-GB" sz="1200" dirty="0">
                <a:hlinkClick r:id="rId3"/>
              </a:rPr>
              <a:t>http://www.dvb.org/standards/factsheets</a:t>
            </a:r>
            <a:endParaRPr lang="en-GB" sz="1200" dirty="0"/>
          </a:p>
        </p:txBody>
      </p:sp>
    </p:spTree>
    <p:extLst>
      <p:ext uri="{BB962C8B-B14F-4D97-AF65-F5344CB8AC3E}">
        <p14:creationId xmlns:p14="http://schemas.microsoft.com/office/powerpoint/2010/main" val="25435441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5" descr="Global Digital TV Deploymen"/>
          <p:cNvPicPr>
            <a:picLocks noChangeAspect="1" noChangeArrowheads="1"/>
          </p:cNvPicPr>
          <p:nvPr/>
        </p:nvPicPr>
        <p:blipFill>
          <a:blip r:embed="rId2" cstate="print">
            <a:extLst>
              <a:ext uri="{28A0092B-C50C-407E-A947-70E740481C1C}">
                <a14:useLocalDpi xmlns:a14="http://schemas.microsoft.com/office/drawing/2010/main" val="0"/>
              </a:ext>
            </a:extLst>
          </a:blip>
          <a:srcRect l="3252" t="4495" r="3493" b="4675"/>
          <a:stretch>
            <a:fillRect/>
          </a:stretch>
        </p:blipFill>
        <p:spPr bwMode="auto">
          <a:xfrm>
            <a:off x="2679700" y="3281363"/>
            <a:ext cx="6464300" cy="319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9" name="Text Box 5"/>
          <p:cNvSpPr txBox="1">
            <a:spLocks noChangeArrowheads="1"/>
          </p:cNvSpPr>
          <p:nvPr/>
        </p:nvSpPr>
        <p:spPr bwMode="auto">
          <a:xfrm>
            <a:off x="381000" y="333375"/>
            <a:ext cx="4178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a:solidFill>
                  <a:schemeClr val="tx1"/>
                </a:solidFill>
                <a:latin typeface="Lucida Sans Unicode" pitchFamily="34" charset="0"/>
              </a:defRPr>
            </a:lvl1pPr>
            <a:lvl2pPr marL="742950" indent="-285750">
              <a:defRPr sz="1600">
                <a:solidFill>
                  <a:schemeClr val="tx1"/>
                </a:solidFill>
                <a:latin typeface="Lucida Sans Unicode" pitchFamily="34" charset="0"/>
              </a:defRPr>
            </a:lvl2pPr>
            <a:lvl3pPr marL="1143000" indent="-228600">
              <a:defRPr sz="1600">
                <a:solidFill>
                  <a:schemeClr val="tx1"/>
                </a:solidFill>
                <a:latin typeface="Lucida Sans Unicode" pitchFamily="34" charset="0"/>
              </a:defRPr>
            </a:lvl3pPr>
            <a:lvl4pPr marL="1600200" indent="-228600">
              <a:defRPr sz="1600">
                <a:solidFill>
                  <a:schemeClr val="tx1"/>
                </a:solidFill>
                <a:latin typeface="Lucida Sans Unicode" pitchFamily="34" charset="0"/>
              </a:defRPr>
            </a:lvl4pPr>
            <a:lvl5pPr marL="2057400" indent="-228600">
              <a:defRPr sz="1600">
                <a:solidFill>
                  <a:schemeClr val="tx1"/>
                </a:solidFill>
                <a:latin typeface="Lucida Sans Unicode" pitchFamily="34" charset="0"/>
              </a:defRPr>
            </a:lvl5pPr>
            <a:lvl6pPr marL="2514600" indent="-228600" eaLnBrk="0" fontAlgn="base" hangingPunct="0">
              <a:spcBef>
                <a:spcPct val="0"/>
              </a:spcBef>
              <a:spcAft>
                <a:spcPct val="0"/>
              </a:spcAft>
              <a:defRPr sz="1600">
                <a:solidFill>
                  <a:schemeClr val="tx1"/>
                </a:solidFill>
                <a:latin typeface="Lucida Sans Unicode" pitchFamily="34" charset="0"/>
              </a:defRPr>
            </a:lvl6pPr>
            <a:lvl7pPr marL="2971800" indent="-228600" eaLnBrk="0" fontAlgn="base" hangingPunct="0">
              <a:spcBef>
                <a:spcPct val="0"/>
              </a:spcBef>
              <a:spcAft>
                <a:spcPct val="0"/>
              </a:spcAft>
              <a:defRPr sz="1600">
                <a:solidFill>
                  <a:schemeClr val="tx1"/>
                </a:solidFill>
                <a:latin typeface="Lucida Sans Unicode" pitchFamily="34" charset="0"/>
              </a:defRPr>
            </a:lvl7pPr>
            <a:lvl8pPr marL="3429000" indent="-228600" eaLnBrk="0" fontAlgn="base" hangingPunct="0">
              <a:spcBef>
                <a:spcPct val="0"/>
              </a:spcBef>
              <a:spcAft>
                <a:spcPct val="0"/>
              </a:spcAft>
              <a:defRPr sz="1600">
                <a:solidFill>
                  <a:schemeClr val="tx1"/>
                </a:solidFill>
                <a:latin typeface="Lucida Sans Unicode" pitchFamily="34" charset="0"/>
              </a:defRPr>
            </a:lvl8pPr>
            <a:lvl9pPr marL="3886200" indent="-228600" eaLnBrk="0" fontAlgn="base" hangingPunct="0">
              <a:spcBef>
                <a:spcPct val="0"/>
              </a:spcBef>
              <a:spcAft>
                <a:spcPct val="0"/>
              </a:spcAft>
              <a:defRPr sz="1600">
                <a:solidFill>
                  <a:schemeClr val="tx1"/>
                </a:solidFill>
                <a:latin typeface="Lucida Sans Unicode" pitchFamily="34" charset="0"/>
              </a:defRPr>
            </a:lvl9pPr>
          </a:lstStyle>
          <a:p>
            <a:r>
              <a:rPr lang="en-GB" sz="2400" b="1" dirty="0"/>
              <a:t>Digital Terrestrial TV (DTT)</a:t>
            </a:r>
          </a:p>
        </p:txBody>
      </p:sp>
      <p:sp>
        <p:nvSpPr>
          <p:cNvPr id="4100" name="Text Box 6"/>
          <p:cNvSpPr txBox="1">
            <a:spLocks noChangeArrowheads="1"/>
          </p:cNvSpPr>
          <p:nvPr/>
        </p:nvSpPr>
        <p:spPr bwMode="auto">
          <a:xfrm>
            <a:off x="381000" y="3943350"/>
            <a:ext cx="3754438" cy="186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192088" indent="-192088">
              <a:defRPr sz="1600">
                <a:solidFill>
                  <a:schemeClr val="tx1"/>
                </a:solidFill>
                <a:latin typeface="Lucida Sans Unicode" pitchFamily="34" charset="0"/>
              </a:defRPr>
            </a:lvl1pPr>
            <a:lvl2pPr marL="742950" indent="-285750">
              <a:defRPr sz="1600">
                <a:solidFill>
                  <a:schemeClr val="tx1"/>
                </a:solidFill>
                <a:latin typeface="Lucida Sans Unicode" pitchFamily="34" charset="0"/>
              </a:defRPr>
            </a:lvl2pPr>
            <a:lvl3pPr marL="1143000" indent="-228600">
              <a:defRPr sz="1600">
                <a:solidFill>
                  <a:schemeClr val="tx1"/>
                </a:solidFill>
                <a:latin typeface="Lucida Sans Unicode" pitchFamily="34" charset="0"/>
              </a:defRPr>
            </a:lvl3pPr>
            <a:lvl4pPr marL="1600200" indent="-228600">
              <a:defRPr sz="1600">
                <a:solidFill>
                  <a:schemeClr val="tx1"/>
                </a:solidFill>
                <a:latin typeface="Lucida Sans Unicode" pitchFamily="34" charset="0"/>
              </a:defRPr>
            </a:lvl4pPr>
            <a:lvl5pPr marL="2057400" indent="-228600">
              <a:defRPr sz="1600">
                <a:solidFill>
                  <a:schemeClr val="tx1"/>
                </a:solidFill>
                <a:latin typeface="Lucida Sans Unicode" pitchFamily="34" charset="0"/>
              </a:defRPr>
            </a:lvl5pPr>
            <a:lvl6pPr marL="2514600" indent="-228600" eaLnBrk="0" fontAlgn="base" hangingPunct="0">
              <a:spcBef>
                <a:spcPct val="0"/>
              </a:spcBef>
              <a:spcAft>
                <a:spcPct val="0"/>
              </a:spcAft>
              <a:defRPr sz="1600">
                <a:solidFill>
                  <a:schemeClr val="tx1"/>
                </a:solidFill>
                <a:latin typeface="Lucida Sans Unicode" pitchFamily="34" charset="0"/>
              </a:defRPr>
            </a:lvl6pPr>
            <a:lvl7pPr marL="2971800" indent="-228600" eaLnBrk="0" fontAlgn="base" hangingPunct="0">
              <a:spcBef>
                <a:spcPct val="0"/>
              </a:spcBef>
              <a:spcAft>
                <a:spcPct val="0"/>
              </a:spcAft>
              <a:defRPr sz="1600">
                <a:solidFill>
                  <a:schemeClr val="tx1"/>
                </a:solidFill>
                <a:latin typeface="Lucida Sans Unicode" pitchFamily="34" charset="0"/>
              </a:defRPr>
            </a:lvl7pPr>
            <a:lvl8pPr marL="3429000" indent="-228600" eaLnBrk="0" fontAlgn="base" hangingPunct="0">
              <a:spcBef>
                <a:spcPct val="0"/>
              </a:spcBef>
              <a:spcAft>
                <a:spcPct val="0"/>
              </a:spcAft>
              <a:defRPr sz="1600">
                <a:solidFill>
                  <a:schemeClr val="tx1"/>
                </a:solidFill>
                <a:latin typeface="Lucida Sans Unicode" pitchFamily="34" charset="0"/>
              </a:defRPr>
            </a:lvl8pPr>
            <a:lvl9pPr marL="3886200" indent="-228600" eaLnBrk="0" fontAlgn="base" hangingPunct="0">
              <a:spcBef>
                <a:spcPct val="0"/>
              </a:spcBef>
              <a:spcAft>
                <a:spcPct val="0"/>
              </a:spcAft>
              <a:defRPr sz="1600">
                <a:solidFill>
                  <a:schemeClr val="tx1"/>
                </a:solidFill>
                <a:latin typeface="Lucida Sans Unicode" pitchFamily="34" charset="0"/>
              </a:defRPr>
            </a:lvl9pPr>
          </a:lstStyle>
          <a:p>
            <a:pPr>
              <a:lnSpc>
                <a:spcPct val="120000"/>
              </a:lnSpc>
            </a:pPr>
            <a:r>
              <a:rPr lang="en-GB" b="1"/>
              <a:t>Advanced Television Systems Committee - ATSC-8VSB</a:t>
            </a:r>
          </a:p>
          <a:p>
            <a:pPr>
              <a:lnSpc>
                <a:spcPct val="120000"/>
              </a:lnSpc>
              <a:buFontTx/>
              <a:buChar char="•"/>
            </a:pPr>
            <a:r>
              <a:rPr lang="en-GB"/>
              <a:t>Modulation: 8VSB: 8-level Vestigial Sideband </a:t>
            </a:r>
          </a:p>
          <a:p>
            <a:pPr>
              <a:lnSpc>
                <a:spcPct val="120000"/>
              </a:lnSpc>
              <a:buFontTx/>
              <a:buChar char="•"/>
            </a:pPr>
            <a:r>
              <a:rPr lang="en-GB"/>
              <a:t>American Continent</a:t>
            </a:r>
          </a:p>
          <a:p>
            <a:pPr>
              <a:lnSpc>
                <a:spcPct val="120000"/>
              </a:lnSpc>
              <a:buFontTx/>
              <a:buChar char="•"/>
            </a:pPr>
            <a:r>
              <a:rPr lang="en-GB"/>
              <a:t>MPEG2-TS</a:t>
            </a:r>
          </a:p>
        </p:txBody>
      </p:sp>
      <p:sp>
        <p:nvSpPr>
          <p:cNvPr id="4101" name="Text Box 6"/>
          <p:cNvSpPr txBox="1">
            <a:spLocks noChangeArrowheads="1"/>
          </p:cNvSpPr>
          <p:nvPr/>
        </p:nvSpPr>
        <p:spPr bwMode="auto">
          <a:xfrm>
            <a:off x="381000" y="857250"/>
            <a:ext cx="8115300" cy="275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192088" indent="-192088">
              <a:defRPr sz="1600">
                <a:solidFill>
                  <a:schemeClr val="tx1"/>
                </a:solidFill>
                <a:latin typeface="Lucida Sans Unicode" pitchFamily="34" charset="0"/>
              </a:defRPr>
            </a:lvl1pPr>
            <a:lvl2pPr marL="742950" indent="-285750">
              <a:defRPr sz="1600">
                <a:solidFill>
                  <a:schemeClr val="tx1"/>
                </a:solidFill>
                <a:latin typeface="Lucida Sans Unicode" pitchFamily="34" charset="0"/>
              </a:defRPr>
            </a:lvl2pPr>
            <a:lvl3pPr marL="1143000" indent="-228600">
              <a:defRPr sz="1600">
                <a:solidFill>
                  <a:schemeClr val="tx1"/>
                </a:solidFill>
                <a:latin typeface="Lucida Sans Unicode" pitchFamily="34" charset="0"/>
              </a:defRPr>
            </a:lvl3pPr>
            <a:lvl4pPr marL="1600200" indent="-228600">
              <a:defRPr sz="1600">
                <a:solidFill>
                  <a:schemeClr val="tx1"/>
                </a:solidFill>
                <a:latin typeface="Lucida Sans Unicode" pitchFamily="34" charset="0"/>
              </a:defRPr>
            </a:lvl4pPr>
            <a:lvl5pPr marL="2057400" indent="-228600">
              <a:defRPr sz="1600">
                <a:solidFill>
                  <a:schemeClr val="tx1"/>
                </a:solidFill>
                <a:latin typeface="Lucida Sans Unicode" pitchFamily="34" charset="0"/>
              </a:defRPr>
            </a:lvl5pPr>
            <a:lvl6pPr marL="2514600" indent="-228600" eaLnBrk="0" fontAlgn="base" hangingPunct="0">
              <a:spcBef>
                <a:spcPct val="0"/>
              </a:spcBef>
              <a:spcAft>
                <a:spcPct val="0"/>
              </a:spcAft>
              <a:defRPr sz="1600">
                <a:solidFill>
                  <a:schemeClr val="tx1"/>
                </a:solidFill>
                <a:latin typeface="Lucida Sans Unicode" pitchFamily="34" charset="0"/>
              </a:defRPr>
            </a:lvl6pPr>
            <a:lvl7pPr marL="2971800" indent="-228600" eaLnBrk="0" fontAlgn="base" hangingPunct="0">
              <a:spcBef>
                <a:spcPct val="0"/>
              </a:spcBef>
              <a:spcAft>
                <a:spcPct val="0"/>
              </a:spcAft>
              <a:defRPr sz="1600">
                <a:solidFill>
                  <a:schemeClr val="tx1"/>
                </a:solidFill>
                <a:latin typeface="Lucida Sans Unicode" pitchFamily="34" charset="0"/>
              </a:defRPr>
            </a:lvl7pPr>
            <a:lvl8pPr marL="3429000" indent="-228600" eaLnBrk="0" fontAlgn="base" hangingPunct="0">
              <a:spcBef>
                <a:spcPct val="0"/>
              </a:spcBef>
              <a:spcAft>
                <a:spcPct val="0"/>
              </a:spcAft>
              <a:defRPr sz="1600">
                <a:solidFill>
                  <a:schemeClr val="tx1"/>
                </a:solidFill>
                <a:latin typeface="Lucida Sans Unicode" pitchFamily="34" charset="0"/>
              </a:defRPr>
            </a:lvl8pPr>
            <a:lvl9pPr marL="3886200" indent="-228600" eaLnBrk="0" fontAlgn="base" hangingPunct="0">
              <a:spcBef>
                <a:spcPct val="0"/>
              </a:spcBef>
              <a:spcAft>
                <a:spcPct val="0"/>
              </a:spcAft>
              <a:defRPr sz="1600">
                <a:solidFill>
                  <a:schemeClr val="tx1"/>
                </a:solidFill>
                <a:latin typeface="Lucida Sans Unicode" pitchFamily="34" charset="0"/>
              </a:defRPr>
            </a:lvl9pPr>
          </a:lstStyle>
          <a:p>
            <a:pPr>
              <a:lnSpc>
                <a:spcPct val="120000"/>
              </a:lnSpc>
            </a:pPr>
            <a:r>
              <a:rPr lang="en-GB" b="1" dirty="0"/>
              <a:t>Digital Video Broadcast, Terrestrial Television - DVB-T</a:t>
            </a:r>
            <a:endParaRPr lang="en-GB" dirty="0"/>
          </a:p>
          <a:p>
            <a:pPr>
              <a:lnSpc>
                <a:spcPct val="120000"/>
              </a:lnSpc>
              <a:buFontTx/>
              <a:buChar char="•"/>
            </a:pPr>
            <a:r>
              <a:rPr lang="en-GB" dirty="0"/>
              <a:t>Europe; also DVB-S for Satellite, DVB-C for Cable; DVB-H for handhelds</a:t>
            </a:r>
          </a:p>
          <a:p>
            <a:pPr>
              <a:lnSpc>
                <a:spcPct val="120000"/>
              </a:lnSpc>
              <a:buFontTx/>
              <a:buChar char="•"/>
            </a:pPr>
            <a:r>
              <a:rPr lang="en-GB" dirty="0"/>
              <a:t>MPEG2 format; also </a:t>
            </a:r>
          </a:p>
          <a:p>
            <a:pPr>
              <a:lnSpc>
                <a:spcPct val="120000"/>
              </a:lnSpc>
            </a:pPr>
            <a:endParaRPr lang="en-GB" dirty="0"/>
          </a:p>
          <a:p>
            <a:pPr>
              <a:lnSpc>
                <a:spcPct val="120000"/>
              </a:lnSpc>
            </a:pPr>
            <a:r>
              <a:rPr lang="en-GB" b="1" dirty="0"/>
              <a:t>Integrated Services Digital Broadcasting, Television - ISDB-T</a:t>
            </a:r>
            <a:endParaRPr lang="en-GB" dirty="0"/>
          </a:p>
          <a:p>
            <a:pPr>
              <a:lnSpc>
                <a:spcPct val="120000"/>
              </a:lnSpc>
              <a:buFontTx/>
              <a:buChar char="•"/>
            </a:pPr>
            <a:r>
              <a:rPr lang="en-GB" dirty="0"/>
              <a:t>Japan;  also ISDB-S for Satellite, ISDB-C for </a:t>
            </a:r>
            <a:r>
              <a:rPr lang="en-GB" dirty="0" err="1"/>
              <a:t>CableTV</a:t>
            </a:r>
            <a:endParaRPr lang="en-GB" dirty="0"/>
          </a:p>
          <a:p>
            <a:pPr>
              <a:lnSpc>
                <a:spcPct val="120000"/>
              </a:lnSpc>
              <a:buFontTx/>
              <a:buChar char="•"/>
            </a:pPr>
            <a:r>
              <a:rPr lang="en-GB" dirty="0"/>
              <a:t>MPEG2 format</a:t>
            </a:r>
          </a:p>
          <a:p>
            <a:pPr>
              <a:lnSpc>
                <a:spcPct val="120000"/>
              </a:lnSpc>
              <a:buFontTx/>
              <a:buChar char="•"/>
            </a:pPr>
            <a:r>
              <a:rPr lang="en-GB" dirty="0"/>
              <a:t>Modulation: PSK, COFDM/PSK/QAM	</a:t>
            </a:r>
          </a:p>
          <a:p>
            <a:pPr>
              <a:lnSpc>
                <a:spcPct val="120000"/>
              </a:lnSpc>
            </a:pPr>
            <a:endParaRPr lang="en-GB" dirty="0"/>
          </a:p>
        </p:txBody>
      </p:sp>
    </p:spTree>
    <p:extLst>
      <p:ext uri="{BB962C8B-B14F-4D97-AF65-F5344CB8AC3E}">
        <p14:creationId xmlns:p14="http://schemas.microsoft.com/office/powerpoint/2010/main" val="37372596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5"/>
          <p:cNvSpPr txBox="1">
            <a:spLocks noChangeArrowheads="1"/>
          </p:cNvSpPr>
          <p:nvPr/>
        </p:nvSpPr>
        <p:spPr bwMode="auto">
          <a:xfrm>
            <a:off x="381000" y="331143"/>
            <a:ext cx="259558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a:solidFill>
                  <a:schemeClr val="tx1"/>
                </a:solidFill>
                <a:latin typeface="Lucida Sans Unicode" pitchFamily="34" charset="0"/>
              </a:defRPr>
            </a:lvl1pPr>
            <a:lvl2pPr marL="742950" indent="-285750">
              <a:defRPr sz="1600">
                <a:solidFill>
                  <a:schemeClr val="tx1"/>
                </a:solidFill>
                <a:latin typeface="Lucida Sans Unicode" pitchFamily="34" charset="0"/>
              </a:defRPr>
            </a:lvl2pPr>
            <a:lvl3pPr marL="1143000" indent="-228600">
              <a:defRPr sz="1600">
                <a:solidFill>
                  <a:schemeClr val="tx1"/>
                </a:solidFill>
                <a:latin typeface="Lucida Sans Unicode" pitchFamily="34" charset="0"/>
              </a:defRPr>
            </a:lvl3pPr>
            <a:lvl4pPr marL="1600200" indent="-228600">
              <a:defRPr sz="1600">
                <a:solidFill>
                  <a:schemeClr val="tx1"/>
                </a:solidFill>
                <a:latin typeface="Lucida Sans Unicode" pitchFamily="34" charset="0"/>
              </a:defRPr>
            </a:lvl4pPr>
            <a:lvl5pPr marL="2057400" indent="-228600">
              <a:defRPr sz="1600">
                <a:solidFill>
                  <a:schemeClr val="tx1"/>
                </a:solidFill>
                <a:latin typeface="Lucida Sans Unicode" pitchFamily="34" charset="0"/>
              </a:defRPr>
            </a:lvl5pPr>
            <a:lvl6pPr marL="2514600" indent="-228600" eaLnBrk="0" fontAlgn="base" hangingPunct="0">
              <a:spcBef>
                <a:spcPct val="0"/>
              </a:spcBef>
              <a:spcAft>
                <a:spcPct val="0"/>
              </a:spcAft>
              <a:defRPr sz="1600">
                <a:solidFill>
                  <a:schemeClr val="tx1"/>
                </a:solidFill>
                <a:latin typeface="Lucida Sans Unicode" pitchFamily="34" charset="0"/>
              </a:defRPr>
            </a:lvl6pPr>
            <a:lvl7pPr marL="2971800" indent="-228600" eaLnBrk="0" fontAlgn="base" hangingPunct="0">
              <a:spcBef>
                <a:spcPct val="0"/>
              </a:spcBef>
              <a:spcAft>
                <a:spcPct val="0"/>
              </a:spcAft>
              <a:defRPr sz="1600">
                <a:solidFill>
                  <a:schemeClr val="tx1"/>
                </a:solidFill>
                <a:latin typeface="Lucida Sans Unicode" pitchFamily="34" charset="0"/>
              </a:defRPr>
            </a:lvl7pPr>
            <a:lvl8pPr marL="3429000" indent="-228600" eaLnBrk="0" fontAlgn="base" hangingPunct="0">
              <a:spcBef>
                <a:spcPct val="0"/>
              </a:spcBef>
              <a:spcAft>
                <a:spcPct val="0"/>
              </a:spcAft>
              <a:defRPr sz="1600">
                <a:solidFill>
                  <a:schemeClr val="tx1"/>
                </a:solidFill>
                <a:latin typeface="Lucida Sans Unicode" pitchFamily="34" charset="0"/>
              </a:defRPr>
            </a:lvl8pPr>
            <a:lvl9pPr marL="3886200" indent="-228600" eaLnBrk="0" fontAlgn="base" hangingPunct="0">
              <a:spcBef>
                <a:spcPct val="0"/>
              </a:spcBef>
              <a:spcAft>
                <a:spcPct val="0"/>
              </a:spcAft>
              <a:defRPr sz="1600">
                <a:solidFill>
                  <a:schemeClr val="tx1"/>
                </a:solidFill>
                <a:latin typeface="Lucida Sans Unicode" pitchFamily="34" charset="0"/>
              </a:defRPr>
            </a:lvl9pPr>
          </a:lstStyle>
          <a:p>
            <a:r>
              <a:rPr lang="en-GB" sz="2400" b="1" dirty="0"/>
              <a:t>DVB Specifies …</a:t>
            </a:r>
          </a:p>
        </p:txBody>
      </p:sp>
      <p:sp>
        <p:nvSpPr>
          <p:cNvPr id="4" name="TextBox 3"/>
          <p:cNvSpPr txBox="1"/>
          <p:nvPr/>
        </p:nvSpPr>
        <p:spPr>
          <a:xfrm>
            <a:off x="395288" y="953725"/>
            <a:ext cx="7669087" cy="5078313"/>
          </a:xfrm>
          <a:prstGeom prst="rect">
            <a:avLst/>
          </a:prstGeom>
          <a:noFill/>
        </p:spPr>
        <p:txBody>
          <a:bodyPr wrap="none" rtlCol="0">
            <a:spAutoFit/>
          </a:bodyPr>
          <a:lstStyle/>
          <a:p>
            <a:r>
              <a:rPr lang="en-GB" sz="1200" dirty="0">
                <a:latin typeface="Lucida Sans Unicode" pitchFamily="34" charset="0"/>
              </a:rPr>
              <a:t>Specifies - essentially a layer one protocol for transport with Data Link (Transport Streams, GSE, </a:t>
            </a:r>
            <a:r>
              <a:rPr lang="en-GB" sz="1200" dirty="0" err="1">
                <a:latin typeface="Lucida Sans Unicode" pitchFamily="34" charset="0"/>
              </a:rPr>
              <a:t>etc</a:t>
            </a:r>
            <a:r>
              <a:rPr lang="en-GB" sz="1200" dirty="0">
                <a:latin typeface="Lucida Sans Unicode" pitchFamily="34" charset="0"/>
              </a:rPr>
              <a:t>)</a:t>
            </a:r>
          </a:p>
          <a:p>
            <a:endParaRPr lang="en-GB" sz="1200" b="1" dirty="0">
              <a:latin typeface="Lucida Sans Unicode" pitchFamily="34" charset="0"/>
            </a:endParaRPr>
          </a:p>
          <a:p>
            <a:r>
              <a:rPr lang="en-GB" sz="1200" b="1" dirty="0">
                <a:latin typeface="Lucida Sans Unicode" pitchFamily="34" charset="0"/>
              </a:rPr>
              <a:t>Including - </a:t>
            </a:r>
          </a:p>
          <a:p>
            <a:endParaRPr lang="en-GB" sz="1200" dirty="0">
              <a:latin typeface="Lucida Sans Unicode" pitchFamily="34" charset="0"/>
            </a:endParaRPr>
          </a:p>
          <a:p>
            <a:r>
              <a:rPr lang="en-GB" sz="1200" b="1" dirty="0">
                <a:latin typeface="Lucida Sans Unicode" pitchFamily="34" charset="0"/>
              </a:rPr>
              <a:t>Input Interface </a:t>
            </a:r>
          </a:p>
          <a:p>
            <a:pPr marL="171450" indent="-171450">
              <a:buFont typeface="Arial" pitchFamily="34" charset="0"/>
              <a:buChar char="•"/>
            </a:pPr>
            <a:r>
              <a:rPr lang="en-GB" sz="1200" dirty="0">
                <a:latin typeface="Lucida Sans Unicode" pitchFamily="34" charset="0"/>
              </a:rPr>
              <a:t>usually Transport Streams - i.e. TV </a:t>
            </a:r>
          </a:p>
          <a:p>
            <a:pPr marL="171450" indent="-171450">
              <a:buFont typeface="Arial" pitchFamily="34" charset="0"/>
              <a:buChar char="•"/>
            </a:pPr>
            <a:r>
              <a:rPr lang="en-GB" sz="1200" dirty="0">
                <a:latin typeface="Lucida Sans Unicode" pitchFamily="34" charset="0"/>
              </a:rPr>
              <a:t>Generic Stream Encapsulation – e.g. IP </a:t>
            </a:r>
          </a:p>
          <a:p>
            <a:pPr marL="171450" indent="-171450">
              <a:buFont typeface="Arial" pitchFamily="34" charset="0"/>
              <a:buChar char="•"/>
            </a:pPr>
            <a:endParaRPr lang="en-GB" sz="1200" dirty="0">
              <a:latin typeface="Lucida Sans Unicode" pitchFamily="34" charset="0"/>
            </a:endParaRPr>
          </a:p>
          <a:p>
            <a:r>
              <a:rPr lang="en-GB" sz="1200" b="1" dirty="0">
                <a:latin typeface="Lucida Sans Unicode" pitchFamily="34" charset="0"/>
              </a:rPr>
              <a:t>Modes</a:t>
            </a:r>
          </a:p>
          <a:p>
            <a:pPr marL="171450" indent="-171450">
              <a:buFont typeface="Arial" pitchFamily="34" charset="0"/>
              <a:buChar char="•"/>
            </a:pPr>
            <a:r>
              <a:rPr lang="en-GB" sz="1200" dirty="0">
                <a:latin typeface="Lucida Sans Unicode" pitchFamily="34" charset="0"/>
              </a:rPr>
              <a:t>Variable Coding and Modulation</a:t>
            </a:r>
          </a:p>
          <a:p>
            <a:pPr marL="171450" indent="-171450">
              <a:buFont typeface="Arial" pitchFamily="34" charset="0"/>
              <a:buChar char="•"/>
            </a:pPr>
            <a:r>
              <a:rPr lang="en-GB" sz="1200" dirty="0">
                <a:latin typeface="Lucida Sans Unicode" pitchFamily="34" charset="0"/>
              </a:rPr>
              <a:t>Adaptive Coding and Modulation</a:t>
            </a:r>
          </a:p>
          <a:p>
            <a:pPr marL="171450" indent="-171450">
              <a:buFont typeface="Arial" pitchFamily="34" charset="0"/>
              <a:buChar char="•"/>
            </a:pPr>
            <a:endParaRPr lang="en-GB" sz="1200" dirty="0">
              <a:latin typeface="Lucida Sans Unicode" pitchFamily="34" charset="0"/>
            </a:endParaRPr>
          </a:p>
          <a:p>
            <a:r>
              <a:rPr lang="en-GB" sz="1200" b="1" dirty="0">
                <a:latin typeface="Lucida Sans Unicode" pitchFamily="34" charset="0"/>
              </a:rPr>
              <a:t>FEC </a:t>
            </a:r>
          </a:p>
          <a:p>
            <a:pPr marL="171450" indent="-171450">
              <a:buFont typeface="Arial" pitchFamily="34" charset="0"/>
              <a:buChar char="•"/>
            </a:pPr>
            <a:r>
              <a:rPr lang="en-GB" sz="1200" dirty="0">
                <a:latin typeface="Lucida Sans Unicode" pitchFamily="34" charset="0"/>
              </a:rPr>
              <a:t>e.g. DVB-T2: LDCP, BCH ½. 3/5. 2/3. ¾. 4/5. 5/6 </a:t>
            </a:r>
          </a:p>
          <a:p>
            <a:pPr marL="171450" indent="-171450">
              <a:buFont typeface="Arial" pitchFamily="34" charset="0"/>
              <a:buChar char="•"/>
            </a:pPr>
            <a:endParaRPr lang="en-GB" sz="1200" dirty="0">
              <a:latin typeface="Lucida Sans Unicode" pitchFamily="34" charset="0"/>
            </a:endParaRPr>
          </a:p>
          <a:p>
            <a:r>
              <a:rPr lang="en-GB" sz="1200" b="1" dirty="0">
                <a:latin typeface="Lucida Sans Unicode" pitchFamily="34" charset="0"/>
              </a:rPr>
              <a:t>Modulation</a:t>
            </a:r>
          </a:p>
          <a:p>
            <a:pPr marL="171450" indent="-171450">
              <a:buFont typeface="Arial" pitchFamily="34" charset="0"/>
              <a:buChar char="•"/>
            </a:pPr>
            <a:r>
              <a:rPr lang="en-GB" sz="1200" dirty="0">
                <a:latin typeface="Lucida Sans Unicode" pitchFamily="34" charset="0"/>
              </a:rPr>
              <a:t>e.g. DVB-T2: OFDM</a:t>
            </a:r>
          </a:p>
          <a:p>
            <a:endParaRPr lang="en-GB" sz="1200" b="1" dirty="0">
              <a:latin typeface="Lucida Sans Unicode" pitchFamily="34" charset="0"/>
            </a:endParaRPr>
          </a:p>
          <a:p>
            <a:r>
              <a:rPr lang="en-GB" sz="1200" b="1" dirty="0">
                <a:latin typeface="Lucida Sans Unicode" pitchFamily="34" charset="0"/>
              </a:rPr>
              <a:t>Modulation Schemes</a:t>
            </a:r>
          </a:p>
          <a:p>
            <a:pPr marL="171450" indent="-171450">
              <a:buFont typeface="Arial" pitchFamily="34" charset="0"/>
              <a:buChar char="•"/>
            </a:pPr>
            <a:r>
              <a:rPr lang="en-GB" sz="1200" dirty="0">
                <a:latin typeface="Lucida Sans Unicode" pitchFamily="34" charset="0"/>
              </a:rPr>
              <a:t>Q/8/16/32PSK, QAM </a:t>
            </a:r>
          </a:p>
          <a:p>
            <a:pPr marL="171450" indent="-171450">
              <a:buFont typeface="Arial" pitchFamily="34" charset="0"/>
              <a:buChar char="•"/>
            </a:pPr>
            <a:r>
              <a:rPr lang="en-GB" sz="1200" dirty="0">
                <a:latin typeface="Lucida Sans Unicode" pitchFamily="34" charset="0"/>
              </a:rPr>
              <a:t>e.g. DVB-C2: 16-4096QAM</a:t>
            </a:r>
          </a:p>
          <a:p>
            <a:pPr marL="171450" indent="-171450">
              <a:buFont typeface="Arial" pitchFamily="34" charset="0"/>
              <a:buChar char="•"/>
            </a:pPr>
            <a:endParaRPr lang="en-GB" sz="1200" dirty="0">
              <a:latin typeface="Lucida Sans Unicode" pitchFamily="34" charset="0"/>
            </a:endParaRPr>
          </a:p>
          <a:p>
            <a:r>
              <a:rPr lang="en-GB" sz="1200" b="1" dirty="0">
                <a:latin typeface="Lucida Sans Unicode" pitchFamily="34" charset="0"/>
              </a:rPr>
              <a:t>Guard Interval</a:t>
            </a:r>
          </a:p>
          <a:p>
            <a:pPr marL="171450" indent="-171450">
              <a:buFont typeface="Arial" pitchFamily="34" charset="0"/>
              <a:buChar char="•"/>
            </a:pPr>
            <a:r>
              <a:rPr lang="en-GB" sz="1200" dirty="0"/>
              <a:t>e.g. DVB-T2: 1/4, 19/256, 1/8, 19/128, 1/16, 1/32, 1/128 (fractions of a symbol)</a:t>
            </a:r>
          </a:p>
          <a:p>
            <a:pPr marL="171450" indent="-171450">
              <a:buFont typeface="Arial" pitchFamily="34" charset="0"/>
              <a:buChar char="•"/>
            </a:pPr>
            <a:endParaRPr lang="en-GB" sz="1200" dirty="0">
              <a:latin typeface="Lucida Sans Unicode" pitchFamily="34" charset="0"/>
            </a:endParaRPr>
          </a:p>
          <a:p>
            <a:r>
              <a:rPr lang="en-GB" sz="1200" b="1" dirty="0">
                <a:latin typeface="Lucida Sans Unicode" pitchFamily="34" charset="0"/>
              </a:rPr>
              <a:t>Interleaving</a:t>
            </a:r>
          </a:p>
          <a:p>
            <a:pPr marL="171450" indent="-171450">
              <a:buFont typeface="Arial" pitchFamily="34" charset="0"/>
              <a:buChar char="•"/>
            </a:pPr>
            <a:r>
              <a:rPr lang="en-GB" sz="1200" dirty="0"/>
              <a:t>Bit- Time- and Frequency-Interleaving</a:t>
            </a:r>
          </a:p>
        </p:txBody>
      </p:sp>
    </p:spTree>
    <p:extLst>
      <p:ext uri="{BB962C8B-B14F-4D97-AF65-F5344CB8AC3E}">
        <p14:creationId xmlns:p14="http://schemas.microsoft.com/office/powerpoint/2010/main" val="23245563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6"/>
          <p:cNvSpPr>
            <a:spLocks noChangeArrowheads="1"/>
          </p:cNvSpPr>
          <p:nvPr/>
        </p:nvSpPr>
        <p:spPr bwMode="auto">
          <a:xfrm>
            <a:off x="381000" y="333375"/>
            <a:ext cx="42370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GB" sz="2400" b="1">
                <a:latin typeface="Lucida Sans Unicode" pitchFamily="34" charset="0"/>
                <a:cs typeface="Lucida Sans Unicode" pitchFamily="34" charset="0"/>
              </a:rPr>
              <a:t>Transport Stream Multiplex</a:t>
            </a:r>
          </a:p>
        </p:txBody>
      </p:sp>
      <p:pic>
        <p:nvPicPr>
          <p:cNvPr id="6147"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r="16823"/>
          <a:stretch>
            <a:fillRect/>
          </a:stretch>
        </p:blipFill>
        <p:spPr bwMode="auto">
          <a:xfrm>
            <a:off x="2089150" y="1085850"/>
            <a:ext cx="5353050" cy="466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4" name="TextBox 3"/>
          <p:cNvSpPr txBox="1">
            <a:spLocks noChangeArrowheads="1"/>
          </p:cNvSpPr>
          <p:nvPr/>
        </p:nvSpPr>
        <p:spPr bwMode="auto">
          <a:xfrm>
            <a:off x="6634163" y="1131888"/>
            <a:ext cx="1909762" cy="1674305"/>
          </a:xfrm>
          <a:prstGeom prst="rect">
            <a:avLst/>
          </a:prstGeom>
          <a:solidFill>
            <a:schemeClr val="bg1"/>
          </a:solidFill>
          <a:ln w="9525">
            <a:noFill/>
            <a:miter lim="800000"/>
            <a:headEnd/>
            <a:tailEnd/>
          </a:ln>
        </p:spPr>
        <p:txBody>
          <a:bodyPr>
            <a:spAutoFit/>
          </a:bodyPr>
          <a:lstStyle/>
          <a:p>
            <a:pPr>
              <a:lnSpc>
                <a:spcPct val="130000"/>
              </a:lnSpc>
              <a:defRPr/>
            </a:pPr>
            <a:r>
              <a:rPr lang="en-GB" sz="1600" dirty="0">
                <a:latin typeface="Lucida Sans Unicode" pitchFamily="34" charset="0"/>
                <a:cs typeface="Lucida Sans Unicode" pitchFamily="34" charset="0"/>
              </a:rPr>
              <a:t>Transmission: </a:t>
            </a:r>
          </a:p>
          <a:p>
            <a:pPr marL="180975" indent="-180975">
              <a:lnSpc>
                <a:spcPct val="130000"/>
              </a:lnSpc>
              <a:buFont typeface="Arial" charset="0"/>
              <a:buChar char="•"/>
              <a:defRPr/>
            </a:pPr>
            <a:r>
              <a:rPr lang="en-GB" sz="1600" dirty="0">
                <a:latin typeface="Lucida Sans Unicode" pitchFamily="34" charset="0"/>
                <a:cs typeface="Lucida Sans Unicode" pitchFamily="34" charset="0"/>
              </a:rPr>
              <a:t>Terrestrial</a:t>
            </a:r>
          </a:p>
          <a:p>
            <a:pPr marL="180975" indent="-180975">
              <a:lnSpc>
                <a:spcPct val="130000"/>
              </a:lnSpc>
              <a:buFont typeface="Arial" charset="0"/>
              <a:buChar char="•"/>
              <a:defRPr/>
            </a:pPr>
            <a:r>
              <a:rPr lang="en-GB" sz="1600" dirty="0">
                <a:latin typeface="Lucida Sans Unicode" pitchFamily="34" charset="0"/>
                <a:cs typeface="Lucida Sans Unicode" pitchFamily="34" charset="0"/>
              </a:rPr>
              <a:t>Cable</a:t>
            </a:r>
          </a:p>
          <a:p>
            <a:pPr marL="180975" indent="-180975">
              <a:lnSpc>
                <a:spcPct val="130000"/>
              </a:lnSpc>
              <a:buFont typeface="Arial" charset="0"/>
              <a:buChar char="•"/>
              <a:defRPr/>
            </a:pPr>
            <a:r>
              <a:rPr lang="en-GB" sz="1600" dirty="0">
                <a:latin typeface="Lucida Sans Unicode" pitchFamily="34" charset="0"/>
                <a:cs typeface="Lucida Sans Unicode" pitchFamily="34" charset="0"/>
              </a:rPr>
              <a:t>Satellite</a:t>
            </a:r>
          </a:p>
          <a:p>
            <a:pPr marL="180975" indent="-180975">
              <a:lnSpc>
                <a:spcPct val="130000"/>
              </a:lnSpc>
              <a:buFont typeface="Arial" charset="0"/>
              <a:buChar char="•"/>
              <a:defRPr/>
            </a:pPr>
            <a:r>
              <a:rPr lang="en-GB" sz="1600" dirty="0">
                <a:latin typeface="Lucida Sans Unicode" pitchFamily="34" charset="0"/>
                <a:cs typeface="Lucida Sans Unicode" pitchFamily="34" charset="0"/>
              </a:rPr>
              <a:t>Broadband</a:t>
            </a:r>
          </a:p>
        </p:txBody>
      </p:sp>
      <p:sp>
        <p:nvSpPr>
          <p:cNvPr id="6149" name="Text Box 6"/>
          <p:cNvSpPr txBox="1">
            <a:spLocks noChangeArrowheads="1"/>
          </p:cNvSpPr>
          <p:nvPr/>
        </p:nvSpPr>
        <p:spPr bwMode="auto">
          <a:xfrm>
            <a:off x="609600" y="2751138"/>
            <a:ext cx="129063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1600">
                <a:solidFill>
                  <a:schemeClr val="tx1"/>
                </a:solidFill>
                <a:latin typeface="Lucida Sans Unicode" pitchFamily="34" charset="0"/>
              </a:defRPr>
            </a:lvl1pPr>
            <a:lvl2pPr marL="742950" indent="-285750">
              <a:defRPr sz="1600">
                <a:solidFill>
                  <a:schemeClr val="tx1"/>
                </a:solidFill>
                <a:latin typeface="Lucida Sans Unicode" pitchFamily="34" charset="0"/>
              </a:defRPr>
            </a:lvl2pPr>
            <a:lvl3pPr marL="1143000" indent="-228600">
              <a:defRPr sz="1600">
                <a:solidFill>
                  <a:schemeClr val="tx1"/>
                </a:solidFill>
                <a:latin typeface="Lucida Sans Unicode" pitchFamily="34" charset="0"/>
              </a:defRPr>
            </a:lvl3pPr>
            <a:lvl4pPr marL="1600200" indent="-228600">
              <a:defRPr sz="1600">
                <a:solidFill>
                  <a:schemeClr val="tx1"/>
                </a:solidFill>
                <a:latin typeface="Lucida Sans Unicode" pitchFamily="34" charset="0"/>
              </a:defRPr>
            </a:lvl4pPr>
            <a:lvl5pPr marL="2057400" indent="-228600">
              <a:defRPr sz="1600">
                <a:solidFill>
                  <a:schemeClr val="tx1"/>
                </a:solidFill>
                <a:latin typeface="Lucida Sans Unicode" pitchFamily="34" charset="0"/>
              </a:defRPr>
            </a:lvl5pPr>
            <a:lvl6pPr marL="2514600" indent="-228600" eaLnBrk="0" fontAlgn="base" hangingPunct="0">
              <a:spcBef>
                <a:spcPct val="0"/>
              </a:spcBef>
              <a:spcAft>
                <a:spcPct val="0"/>
              </a:spcAft>
              <a:defRPr sz="1600">
                <a:solidFill>
                  <a:schemeClr val="tx1"/>
                </a:solidFill>
                <a:latin typeface="Lucida Sans Unicode" pitchFamily="34" charset="0"/>
              </a:defRPr>
            </a:lvl6pPr>
            <a:lvl7pPr marL="2971800" indent="-228600" eaLnBrk="0" fontAlgn="base" hangingPunct="0">
              <a:spcBef>
                <a:spcPct val="0"/>
              </a:spcBef>
              <a:spcAft>
                <a:spcPct val="0"/>
              </a:spcAft>
              <a:defRPr sz="1600">
                <a:solidFill>
                  <a:schemeClr val="tx1"/>
                </a:solidFill>
                <a:latin typeface="Lucida Sans Unicode" pitchFamily="34" charset="0"/>
              </a:defRPr>
            </a:lvl7pPr>
            <a:lvl8pPr marL="3429000" indent="-228600" eaLnBrk="0" fontAlgn="base" hangingPunct="0">
              <a:spcBef>
                <a:spcPct val="0"/>
              </a:spcBef>
              <a:spcAft>
                <a:spcPct val="0"/>
              </a:spcAft>
              <a:defRPr sz="1600">
                <a:solidFill>
                  <a:schemeClr val="tx1"/>
                </a:solidFill>
                <a:latin typeface="Lucida Sans Unicode" pitchFamily="34" charset="0"/>
              </a:defRPr>
            </a:lvl8pPr>
            <a:lvl9pPr marL="3886200" indent="-228600" eaLnBrk="0" fontAlgn="base" hangingPunct="0">
              <a:spcBef>
                <a:spcPct val="0"/>
              </a:spcBef>
              <a:spcAft>
                <a:spcPct val="0"/>
              </a:spcAft>
              <a:defRPr sz="1600">
                <a:solidFill>
                  <a:schemeClr val="tx1"/>
                </a:solidFill>
                <a:latin typeface="Lucida Sans Unicode" pitchFamily="34" charset="0"/>
              </a:defRPr>
            </a:lvl9pPr>
          </a:lstStyle>
          <a:p>
            <a:r>
              <a:rPr lang="en-GB" dirty="0">
                <a:cs typeface="Lucida Sans Unicode" pitchFamily="34" charset="0"/>
              </a:rPr>
              <a:t>Program Streams</a:t>
            </a:r>
          </a:p>
        </p:txBody>
      </p:sp>
      <p:sp>
        <p:nvSpPr>
          <p:cNvPr id="6150" name="AutoShape 7"/>
          <p:cNvSpPr>
            <a:spLocks/>
          </p:cNvSpPr>
          <p:nvPr/>
        </p:nvSpPr>
        <p:spPr bwMode="auto">
          <a:xfrm>
            <a:off x="1752600" y="2779792"/>
            <a:ext cx="411163" cy="430054"/>
          </a:xfrm>
          <a:prstGeom prst="leftBrace">
            <a:avLst>
              <a:gd name="adj1" fmla="val 63932"/>
              <a:gd name="adj2" fmla="val 50528"/>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sz="1800">
              <a:latin typeface="Lucida Sans Unicode" pitchFamily="34" charset="0"/>
              <a:cs typeface="Lucida Sans Unicode" pitchFamily="34" charset="0"/>
            </a:endParaRPr>
          </a:p>
        </p:txBody>
      </p:sp>
    </p:spTree>
    <p:extLst>
      <p:ext uri="{BB962C8B-B14F-4D97-AF65-F5344CB8AC3E}">
        <p14:creationId xmlns:p14="http://schemas.microsoft.com/office/powerpoint/2010/main" val="4162600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2"/>
          <p:cNvSpPr txBox="1">
            <a:spLocks noChangeArrowheads="1"/>
          </p:cNvSpPr>
          <p:nvPr/>
        </p:nvSpPr>
        <p:spPr bwMode="auto">
          <a:xfrm>
            <a:off x="381000" y="331788"/>
            <a:ext cx="1008609" cy="461665"/>
          </a:xfrm>
          <a:prstGeom prst="rect">
            <a:avLst/>
          </a:prstGeom>
          <a:noFill/>
          <a:ln w="9525">
            <a:noFill/>
            <a:miter lim="800000"/>
            <a:headEnd/>
            <a:tailEnd/>
          </a:ln>
        </p:spPr>
        <p:txBody>
          <a:bodyPr wrap="none">
            <a:spAutoFit/>
          </a:bodyPr>
          <a:lstStyle/>
          <a:p>
            <a:r>
              <a:rPr lang="en-GB" sz="2400" b="1" dirty="0"/>
              <a:t>MPEG</a:t>
            </a:r>
          </a:p>
        </p:txBody>
      </p:sp>
      <p:sp>
        <p:nvSpPr>
          <p:cNvPr id="5123" name="Rectangle 3"/>
          <p:cNvSpPr>
            <a:spLocks noChangeArrowheads="1"/>
          </p:cNvSpPr>
          <p:nvPr/>
        </p:nvSpPr>
        <p:spPr bwMode="auto">
          <a:xfrm>
            <a:off x="381000" y="762000"/>
            <a:ext cx="6248400" cy="5281613"/>
          </a:xfrm>
          <a:prstGeom prst="rect">
            <a:avLst/>
          </a:prstGeom>
          <a:noFill/>
          <a:ln w="9525">
            <a:noFill/>
            <a:miter lim="800000"/>
            <a:headEnd/>
            <a:tailEnd/>
          </a:ln>
        </p:spPr>
        <p:txBody>
          <a:bodyPr wrap="none">
            <a:spAutoFit/>
          </a:bodyPr>
          <a:lstStyle/>
          <a:p>
            <a:pPr marL="193675" indent="-193675"/>
            <a:r>
              <a:rPr lang="en-GB" sz="1600"/>
              <a:t>Motion Picture Experts Group</a:t>
            </a:r>
          </a:p>
          <a:p>
            <a:pPr marL="193675" indent="-193675"/>
            <a:endParaRPr lang="en-GB" sz="1600"/>
          </a:p>
          <a:p>
            <a:pPr marL="193675" indent="-193675"/>
            <a:r>
              <a:rPr lang="en-GB" sz="1800" b="1"/>
              <a:t>MPEG 1</a:t>
            </a:r>
            <a:endParaRPr lang="en-GB" sz="1600"/>
          </a:p>
          <a:p>
            <a:pPr marL="193675" indent="-193675"/>
            <a:r>
              <a:rPr lang="en-GB" sz="1600"/>
              <a:t>audio and video coding - parts 1, 2, 3 (layers 1, 2, 3), 4, 5, </a:t>
            </a:r>
          </a:p>
          <a:p>
            <a:pPr marL="193675" indent="-193675"/>
            <a:endParaRPr lang="en-GB" sz="1600"/>
          </a:p>
          <a:p>
            <a:pPr marL="193675" indent="-193675"/>
            <a:r>
              <a:rPr lang="en-GB" sz="1800" b="1"/>
              <a:t>MPEG 2</a:t>
            </a:r>
            <a:endParaRPr lang="en-GB" sz="1600"/>
          </a:p>
          <a:p>
            <a:pPr marL="193675" indent="-193675"/>
            <a:r>
              <a:rPr lang="en-GB" sz="1600"/>
              <a:t>audio and video coding - parts 1, 2, 3 (layers 1, 2, 3), … </a:t>
            </a:r>
          </a:p>
          <a:p>
            <a:pPr marL="193675" indent="-193675"/>
            <a:endParaRPr lang="en-GB" sz="1600"/>
          </a:p>
          <a:p>
            <a:pPr marL="193675" indent="-193675"/>
            <a:r>
              <a:rPr lang="en-GB" sz="1600"/>
              <a:t>MPEG 3 - </a:t>
            </a:r>
            <a:r>
              <a:rPr lang="en-GB" sz="1400"/>
              <a:t>originally for HDTV - abandoned</a:t>
            </a:r>
            <a:endParaRPr lang="en-GB" sz="1600"/>
          </a:p>
          <a:p>
            <a:pPr marL="193675" indent="-193675"/>
            <a:endParaRPr lang="en-GB" sz="1600"/>
          </a:p>
          <a:p>
            <a:pPr marL="193675" indent="-193675"/>
            <a:r>
              <a:rPr lang="en-GB" sz="1800" b="1"/>
              <a:t>MPEG 4</a:t>
            </a:r>
            <a:r>
              <a:rPr lang="en-GB" sz="1600"/>
              <a:t> </a:t>
            </a:r>
          </a:p>
          <a:p>
            <a:pPr marL="193675" indent="-193675"/>
            <a:r>
              <a:rPr lang="en-GB" sz="1600"/>
              <a:t>audio and video coding - parts 1 - 22</a:t>
            </a:r>
          </a:p>
          <a:p>
            <a:pPr marL="193675" indent="-193675"/>
            <a:endParaRPr lang="en-GB" sz="1600"/>
          </a:p>
          <a:p>
            <a:pPr marL="193675" indent="-193675"/>
            <a:r>
              <a:rPr lang="en-GB" sz="1800" b="1"/>
              <a:t>MPEG 7</a:t>
            </a:r>
          </a:p>
          <a:p>
            <a:pPr marL="193675" indent="-193675"/>
            <a:r>
              <a:rPr lang="en-GB" sz="1600"/>
              <a:t>metadata, description</a:t>
            </a:r>
          </a:p>
          <a:p>
            <a:pPr marL="193675" indent="-193675"/>
            <a:endParaRPr lang="en-GB" sz="1600"/>
          </a:p>
          <a:p>
            <a:pPr marL="193675" indent="-193675"/>
            <a:r>
              <a:rPr lang="en-GB" sz="1800" b="1"/>
              <a:t>MPEG 21</a:t>
            </a:r>
          </a:p>
          <a:p>
            <a:pPr marL="193675" indent="-193675"/>
            <a:r>
              <a:rPr lang="en-GB" sz="1600"/>
              <a:t>framework for multimedia content delivery</a:t>
            </a:r>
          </a:p>
          <a:p>
            <a:pPr marL="193675" indent="-193675">
              <a:buFontTx/>
              <a:buChar char="•"/>
            </a:pPr>
            <a:r>
              <a:rPr lang="en-GB" sz="1400"/>
              <a:t>XML-based; to communicate machine-readable license information </a:t>
            </a:r>
          </a:p>
          <a:p>
            <a:pPr marL="193675" indent="-193675">
              <a:buFontTx/>
              <a:buChar char="•"/>
            </a:pPr>
            <a:r>
              <a:rPr lang="en-GB" sz="1400"/>
              <a:t>open framework for multimedia applications</a:t>
            </a:r>
          </a:p>
          <a:p>
            <a:pPr marL="193675" indent="-193675">
              <a:buFontTx/>
              <a:buChar char="•"/>
            </a:pPr>
            <a:r>
              <a:rPr lang="en-GB" sz="1400"/>
              <a:t>"Rights Expression Language" </a:t>
            </a:r>
            <a:endParaRPr lang="en-GB" sz="1600"/>
          </a:p>
        </p:txBody>
      </p:sp>
    </p:spTree>
    <p:extLst>
      <p:ext uri="{BB962C8B-B14F-4D97-AF65-F5344CB8AC3E}">
        <p14:creationId xmlns:p14="http://schemas.microsoft.com/office/powerpoint/2010/main" val="8331910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C749B27-D106-407C-9307-75D0DF71D60E}"/>
              </a:ext>
            </a:extLst>
          </p:cNvPr>
          <p:cNvSpPr txBox="1"/>
          <p:nvPr/>
        </p:nvSpPr>
        <p:spPr>
          <a:xfrm>
            <a:off x="395288" y="2175630"/>
            <a:ext cx="6000361" cy="2123658"/>
          </a:xfrm>
          <a:prstGeom prst="rect">
            <a:avLst/>
          </a:prstGeom>
          <a:noFill/>
        </p:spPr>
        <p:txBody>
          <a:bodyPr wrap="none" rtlCol="0">
            <a:spAutoFit/>
          </a:bodyPr>
          <a:lstStyle/>
          <a:p>
            <a:r>
              <a:rPr lang="en-GB" sz="6600" b="1"/>
              <a:t>Compression </a:t>
            </a:r>
          </a:p>
          <a:p>
            <a:r>
              <a:rPr lang="en-GB" sz="6600" b="1"/>
              <a:t>- </a:t>
            </a:r>
            <a:r>
              <a:rPr lang="en-GB" sz="6600" b="1" dirty="0"/>
              <a:t>Introduction</a:t>
            </a:r>
          </a:p>
        </p:txBody>
      </p:sp>
    </p:spTree>
    <p:extLst>
      <p:ext uri="{BB962C8B-B14F-4D97-AF65-F5344CB8AC3E}">
        <p14:creationId xmlns:p14="http://schemas.microsoft.com/office/powerpoint/2010/main" val="60431527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GB" sz="2400" b="1" dirty="0"/>
              <a:t>Why Compress Video</a:t>
            </a:r>
          </a:p>
        </p:txBody>
      </p:sp>
      <p:sp>
        <p:nvSpPr>
          <p:cNvPr id="3" name="Content Placeholder 2"/>
          <p:cNvSpPr>
            <a:spLocks noGrp="1"/>
          </p:cNvSpPr>
          <p:nvPr>
            <p:ph idx="1"/>
          </p:nvPr>
        </p:nvSpPr>
        <p:spPr/>
        <p:txBody>
          <a:bodyPr/>
          <a:lstStyle/>
          <a:p>
            <a:pPr>
              <a:lnSpc>
                <a:spcPct val="150000"/>
              </a:lnSpc>
            </a:pPr>
            <a:r>
              <a:rPr lang="en-GB" sz="1800" dirty="0"/>
              <a:t>Size of uncompressed 1080p HDTV</a:t>
            </a:r>
          </a:p>
          <a:p>
            <a:pPr lvl="1">
              <a:lnSpc>
                <a:spcPct val="150000"/>
              </a:lnSpc>
            </a:pPr>
            <a:r>
              <a:rPr lang="en-GB" sz="1400" dirty="0"/>
              <a:t>1920 * 1080 ≈ 2 </a:t>
            </a:r>
            <a:r>
              <a:rPr lang="en-GB" sz="1400" dirty="0" err="1"/>
              <a:t>Mpixels</a:t>
            </a:r>
            <a:r>
              <a:rPr lang="en-GB" sz="1400" dirty="0"/>
              <a:t> per frame</a:t>
            </a:r>
          </a:p>
          <a:p>
            <a:pPr>
              <a:lnSpc>
                <a:spcPct val="150000"/>
              </a:lnSpc>
            </a:pPr>
            <a:r>
              <a:rPr lang="en-GB" sz="1800" dirty="0"/>
              <a:t>For RGB this is 6MB per frame</a:t>
            </a:r>
          </a:p>
          <a:p>
            <a:pPr lvl="1">
              <a:lnSpc>
                <a:spcPct val="150000"/>
              </a:lnSpc>
            </a:pPr>
            <a:r>
              <a:rPr lang="en-GB" sz="1400" dirty="0"/>
              <a:t>Thus </a:t>
            </a:r>
            <a:r>
              <a:rPr lang="en-GB" sz="1400"/>
              <a:t>1 second </a:t>
            </a:r>
            <a:r>
              <a:rPr lang="en-GB" sz="1400" dirty="0"/>
              <a:t>of video </a:t>
            </a:r>
            <a:r>
              <a:rPr lang="en-GB" sz="1400"/>
              <a:t>needs </a:t>
            </a:r>
          </a:p>
          <a:p>
            <a:pPr lvl="1">
              <a:lnSpc>
                <a:spcPct val="150000"/>
              </a:lnSpc>
            </a:pPr>
            <a:r>
              <a:rPr lang="en-GB" sz="1400"/>
              <a:t>25 </a:t>
            </a:r>
            <a:r>
              <a:rPr lang="en-GB" sz="1400" dirty="0"/>
              <a:t>*6MB = 150MB</a:t>
            </a:r>
          </a:p>
          <a:p>
            <a:pPr lvl="1">
              <a:lnSpc>
                <a:spcPct val="150000"/>
              </a:lnSpc>
            </a:pPr>
            <a:r>
              <a:rPr lang="en-GB" sz="1400" dirty="0"/>
              <a:t>Data rate of 150 *8 = 1200 Mbps = 1.2 </a:t>
            </a:r>
            <a:r>
              <a:rPr lang="en-GB" sz="1400" dirty="0" err="1"/>
              <a:t>Gbps</a:t>
            </a:r>
            <a:endParaRPr lang="en-GB" sz="1400" dirty="0"/>
          </a:p>
          <a:p>
            <a:pPr lvl="1">
              <a:lnSpc>
                <a:spcPct val="150000"/>
              </a:lnSpc>
            </a:pPr>
            <a:r>
              <a:rPr lang="en-GB" sz="1400" dirty="0"/>
              <a:t>One hour of video needs 3600*150 MB</a:t>
            </a:r>
          </a:p>
          <a:p>
            <a:pPr marL="0" indent="0">
              <a:lnSpc>
                <a:spcPct val="150000"/>
              </a:lnSpc>
              <a:buNone/>
            </a:pPr>
            <a:r>
              <a:rPr lang="en-GB" sz="1800" dirty="0"/>
              <a:t> = 540,000 MB = 540 GB</a:t>
            </a:r>
          </a:p>
        </p:txBody>
      </p:sp>
    </p:spTree>
    <p:extLst>
      <p:ext uri="{BB962C8B-B14F-4D97-AF65-F5344CB8AC3E}">
        <p14:creationId xmlns:p14="http://schemas.microsoft.com/office/powerpoint/2010/main" val="8094900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288" y="368300"/>
            <a:ext cx="8229600" cy="1143000"/>
          </a:xfrm>
        </p:spPr>
        <p:txBody>
          <a:bodyPr>
            <a:normAutofit/>
          </a:bodyPr>
          <a:lstStyle/>
          <a:p>
            <a:pPr algn="l"/>
            <a:r>
              <a:rPr lang="en-GB" sz="2400" b="1" dirty="0"/>
              <a:t>Why Compress Audio?</a:t>
            </a:r>
          </a:p>
        </p:txBody>
      </p:sp>
      <p:sp>
        <p:nvSpPr>
          <p:cNvPr id="3" name="Content Placeholder 2"/>
          <p:cNvSpPr>
            <a:spLocks noGrp="1"/>
          </p:cNvSpPr>
          <p:nvPr>
            <p:ph idx="1"/>
          </p:nvPr>
        </p:nvSpPr>
        <p:spPr/>
        <p:txBody>
          <a:bodyPr/>
          <a:lstStyle/>
          <a:p>
            <a:pPr>
              <a:lnSpc>
                <a:spcPct val="150000"/>
              </a:lnSpc>
            </a:pPr>
            <a:r>
              <a:rPr lang="en-GB" sz="1800" dirty="0"/>
              <a:t>CD quality = 2* 44.1 *16 Kbps ≈ 1.4 Mbps</a:t>
            </a:r>
          </a:p>
          <a:p>
            <a:pPr lvl="1">
              <a:lnSpc>
                <a:spcPct val="150000"/>
              </a:lnSpc>
            </a:pPr>
            <a:r>
              <a:rPr lang="en-GB" sz="1400" dirty="0"/>
              <a:t>About 1/850 of HDTV video</a:t>
            </a:r>
          </a:p>
          <a:p>
            <a:pPr>
              <a:lnSpc>
                <a:spcPct val="150000"/>
              </a:lnSpc>
            </a:pPr>
            <a:r>
              <a:rPr lang="en-GB" sz="1800" dirty="0"/>
              <a:t>1 hour of audio needs 3600* 1.4 /8 = 630 MB</a:t>
            </a:r>
          </a:p>
          <a:p>
            <a:pPr lvl="1">
              <a:lnSpc>
                <a:spcPct val="150000"/>
              </a:lnSpc>
            </a:pPr>
            <a:r>
              <a:rPr lang="en-GB" sz="1400"/>
              <a:t>100 tracks take </a:t>
            </a:r>
            <a:r>
              <a:rPr lang="en-GB" sz="1400" dirty="0"/>
              <a:t>about 360 minutes ≈ 4 GB </a:t>
            </a:r>
          </a:p>
          <a:p>
            <a:pPr>
              <a:lnSpc>
                <a:spcPct val="150000"/>
              </a:lnSpc>
            </a:pPr>
            <a:endParaRPr lang="en-GB" sz="1800"/>
          </a:p>
          <a:p>
            <a:pPr>
              <a:lnSpc>
                <a:spcPct val="150000"/>
              </a:lnSpc>
            </a:pPr>
            <a:endParaRPr lang="en-GB" sz="1800"/>
          </a:p>
          <a:p>
            <a:pPr>
              <a:lnSpc>
                <a:spcPct val="150000"/>
              </a:lnSpc>
            </a:pPr>
            <a:endParaRPr lang="en-GB" sz="1800" dirty="0"/>
          </a:p>
        </p:txBody>
      </p:sp>
    </p:spTree>
    <p:extLst>
      <p:ext uri="{BB962C8B-B14F-4D97-AF65-F5344CB8AC3E}">
        <p14:creationId xmlns:p14="http://schemas.microsoft.com/office/powerpoint/2010/main" val="30793335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457200" y="274638"/>
            <a:ext cx="8229600" cy="457199"/>
          </a:xfrm>
        </p:spPr>
        <p:txBody>
          <a:bodyPr>
            <a:normAutofit fontScale="90000"/>
          </a:bodyPr>
          <a:lstStyle/>
          <a:p>
            <a:pPr algn="l"/>
            <a:r>
              <a:rPr lang="en-GB" altLang="en-US" sz="2400" b="1"/>
              <a:t>Compression – Information Theory</a:t>
            </a:r>
          </a:p>
        </p:txBody>
      </p:sp>
      <p:sp>
        <p:nvSpPr>
          <p:cNvPr id="19459" name="Rectangle 3"/>
          <p:cNvSpPr>
            <a:spLocks noGrp="1" noChangeArrowheads="1"/>
          </p:cNvSpPr>
          <p:nvPr>
            <p:ph type="body" idx="1"/>
          </p:nvPr>
        </p:nvSpPr>
        <p:spPr>
          <a:xfrm>
            <a:off x="415571" y="908720"/>
            <a:ext cx="6100645" cy="4525963"/>
          </a:xfrm>
        </p:spPr>
        <p:txBody>
          <a:bodyPr>
            <a:normAutofit fontScale="92500" lnSpcReduction="20000"/>
          </a:bodyPr>
          <a:lstStyle/>
          <a:p>
            <a:pPr marL="0" indent="0">
              <a:lnSpc>
                <a:spcPct val="150000"/>
              </a:lnSpc>
              <a:buNone/>
            </a:pPr>
            <a:r>
              <a:rPr lang="en-GB" altLang="en-US" sz="1600"/>
              <a:t>IF …</a:t>
            </a:r>
          </a:p>
          <a:p>
            <a:pPr>
              <a:lnSpc>
                <a:spcPct val="150000"/>
              </a:lnSpc>
            </a:pPr>
            <a:r>
              <a:rPr lang="en-GB" altLang="en-US" sz="1600"/>
              <a:t>image is all the same colour </a:t>
            </a:r>
          </a:p>
          <a:p>
            <a:pPr lvl="1">
              <a:lnSpc>
                <a:spcPct val="150000"/>
              </a:lnSpc>
            </a:pPr>
            <a:r>
              <a:rPr lang="en-GB" altLang="en-US" sz="1600"/>
              <a:t>very easy to compress  - just replace with colour value and codeword to indicate</a:t>
            </a:r>
          </a:p>
          <a:p>
            <a:pPr marL="457200" lvl="1" indent="0">
              <a:lnSpc>
                <a:spcPct val="150000"/>
              </a:lnSpc>
              <a:buNone/>
            </a:pPr>
            <a:endParaRPr lang="en-GB" altLang="en-US" sz="1600"/>
          </a:p>
          <a:p>
            <a:pPr>
              <a:lnSpc>
                <a:spcPct val="150000"/>
              </a:lnSpc>
            </a:pPr>
            <a:r>
              <a:rPr lang="en-GB" altLang="en-US" sz="1600"/>
              <a:t>every pixel is a random number between 0 &amp; 255 and not correlated in any way with other pixels </a:t>
            </a:r>
          </a:p>
          <a:p>
            <a:pPr lvl="1">
              <a:lnSpc>
                <a:spcPct val="150000"/>
              </a:lnSpc>
            </a:pPr>
            <a:r>
              <a:rPr lang="en-GB" altLang="en-US" sz="1600"/>
              <a:t>it is impossible to compress</a:t>
            </a:r>
          </a:p>
          <a:p>
            <a:pPr marL="0" indent="0">
              <a:lnSpc>
                <a:spcPct val="150000"/>
              </a:lnSpc>
              <a:buNone/>
            </a:pPr>
            <a:endParaRPr lang="en-GB" altLang="en-US" sz="1600"/>
          </a:p>
          <a:p>
            <a:pPr marL="0" indent="0">
              <a:lnSpc>
                <a:spcPct val="150000"/>
              </a:lnSpc>
              <a:buNone/>
            </a:pPr>
            <a:r>
              <a:rPr lang="en-GB" altLang="en-US" sz="1600"/>
              <a:t>In between - </a:t>
            </a:r>
          </a:p>
          <a:p>
            <a:pPr>
              <a:lnSpc>
                <a:spcPct val="150000"/>
              </a:lnSpc>
            </a:pPr>
            <a:r>
              <a:rPr lang="en-GB" altLang="en-US" sz="1600"/>
              <a:t>look for patterns only for lossless compression </a:t>
            </a:r>
          </a:p>
          <a:p>
            <a:pPr>
              <a:lnSpc>
                <a:spcPct val="150000"/>
              </a:lnSpc>
            </a:pPr>
            <a:r>
              <a:rPr lang="en-GB" altLang="en-US" sz="1600"/>
              <a:t>additionally psychovisual characteristics for lossy compression</a:t>
            </a:r>
            <a:endParaRPr lang="en-GB" altLang="en-US" sz="1600" dirty="0"/>
          </a:p>
        </p:txBody>
      </p:sp>
      <p:sp>
        <p:nvSpPr>
          <p:cNvPr id="7" name="Rectangle 6">
            <a:extLst>
              <a:ext uri="{FF2B5EF4-FFF2-40B4-BE49-F238E27FC236}">
                <a16:creationId xmlns:a16="http://schemas.microsoft.com/office/drawing/2014/main" id="{64F17E78-F780-4B78-A806-5C5AB5C4920C}"/>
              </a:ext>
            </a:extLst>
          </p:cNvPr>
          <p:cNvSpPr/>
          <p:nvPr/>
        </p:nvSpPr>
        <p:spPr>
          <a:xfrm>
            <a:off x="6660232" y="923043"/>
            <a:ext cx="2026568" cy="1519926"/>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 name="Picture 7">
            <a:extLst>
              <a:ext uri="{FF2B5EF4-FFF2-40B4-BE49-F238E27FC236}">
                <a16:creationId xmlns:a16="http://schemas.microsoft.com/office/drawing/2014/main" id="{940975A9-F284-49AA-A2D9-E5000C0F153A}"/>
              </a:ext>
            </a:extLst>
          </p:cNvPr>
          <p:cNvPicPr>
            <a:picLocks noChangeAspect="1"/>
          </p:cNvPicPr>
          <p:nvPr/>
        </p:nvPicPr>
        <p:blipFill rotWithShape="1">
          <a:blip r:embed="rId2">
            <a:extLst>
              <a:ext uri="{28A0092B-C50C-407E-A947-70E740481C1C}">
                <a14:useLocalDpi xmlns:a14="http://schemas.microsoft.com/office/drawing/2010/main" val="0"/>
              </a:ext>
            </a:extLst>
          </a:blip>
          <a:srcRect l="57594" t="56749" r="17094" b="17938"/>
          <a:stretch/>
        </p:blipFill>
        <p:spPr>
          <a:xfrm>
            <a:off x="6660232" y="2564315"/>
            <a:ext cx="2026568" cy="1519926"/>
          </a:xfrm>
          <a:prstGeom prst="rect">
            <a:avLst/>
          </a:prstGeom>
        </p:spPr>
      </p:pic>
      <p:pic>
        <p:nvPicPr>
          <p:cNvPr id="9" name="Picture 8">
            <a:extLst>
              <a:ext uri="{FF2B5EF4-FFF2-40B4-BE49-F238E27FC236}">
                <a16:creationId xmlns:a16="http://schemas.microsoft.com/office/drawing/2014/main" id="{E7BE95FB-B990-4849-8B1B-4BB1D67432FD}"/>
              </a:ext>
            </a:extLst>
          </p:cNvPr>
          <p:cNvPicPr>
            <a:picLocks noChangeAspect="1"/>
          </p:cNvPicPr>
          <p:nvPr/>
        </p:nvPicPr>
        <p:blipFill rotWithShape="1">
          <a:blip r:embed="rId3">
            <a:extLst>
              <a:ext uri="{28A0092B-C50C-407E-A947-70E740481C1C}">
                <a14:useLocalDpi xmlns:a14="http://schemas.microsoft.com/office/drawing/2010/main" val="0"/>
              </a:ext>
            </a:extLst>
          </a:blip>
          <a:srcRect r="861" b="-624"/>
          <a:stretch/>
        </p:blipFill>
        <p:spPr>
          <a:xfrm>
            <a:off x="6048164" y="4316425"/>
            <a:ext cx="2412268" cy="1828139"/>
          </a:xfrm>
          <a:prstGeom prst="rect">
            <a:avLst/>
          </a:prstGeom>
        </p:spPr>
      </p:pic>
    </p:spTree>
    <p:extLst>
      <p:ext uri="{BB962C8B-B14F-4D97-AF65-F5344CB8AC3E}">
        <p14:creationId xmlns:p14="http://schemas.microsoft.com/office/powerpoint/2010/main" val="21732000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normAutofit/>
          </a:bodyPr>
          <a:lstStyle/>
          <a:p>
            <a:pPr algn="l"/>
            <a:r>
              <a:rPr lang="en-GB" altLang="en-US" sz="2400" b="1" dirty="0"/>
              <a:t>Compressed and Uncompressed Images</a:t>
            </a:r>
          </a:p>
        </p:txBody>
      </p:sp>
      <p:sp>
        <p:nvSpPr>
          <p:cNvPr id="21507" name="Rectangle 3"/>
          <p:cNvSpPr>
            <a:spLocks noGrp="1" noChangeArrowheads="1"/>
          </p:cNvSpPr>
          <p:nvPr>
            <p:ph type="body" idx="1"/>
          </p:nvPr>
        </p:nvSpPr>
        <p:spPr>
          <a:ln/>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lstStyle/>
          <a:p>
            <a:pPr>
              <a:buFontTx/>
              <a:buNone/>
            </a:pPr>
            <a:endParaRPr lang="en-US" altLang="en-US" dirty="0"/>
          </a:p>
        </p:txBody>
      </p:sp>
      <p:sp>
        <p:nvSpPr>
          <p:cNvPr id="21508" name="Rectangle 4"/>
          <p:cNvSpPr>
            <a:spLocks noChangeArrowheads="1"/>
          </p:cNvSpPr>
          <p:nvPr/>
        </p:nvSpPr>
        <p:spPr bwMode="auto">
          <a:xfrm>
            <a:off x="1225550" y="2139950"/>
            <a:ext cx="1587500" cy="143510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1509" name="Line 5"/>
          <p:cNvSpPr>
            <a:spLocks noChangeShapeType="1"/>
          </p:cNvSpPr>
          <p:nvPr/>
        </p:nvSpPr>
        <p:spPr bwMode="auto">
          <a:xfrm>
            <a:off x="2819400" y="2819400"/>
            <a:ext cx="32004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1510" name="Oval 6"/>
          <p:cNvSpPr>
            <a:spLocks noChangeArrowheads="1"/>
          </p:cNvSpPr>
          <p:nvPr/>
        </p:nvSpPr>
        <p:spPr bwMode="auto">
          <a:xfrm>
            <a:off x="6026150" y="2139950"/>
            <a:ext cx="1816100" cy="12827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1511" name="Oval 7"/>
          <p:cNvSpPr>
            <a:spLocks noChangeArrowheads="1"/>
          </p:cNvSpPr>
          <p:nvPr/>
        </p:nvSpPr>
        <p:spPr bwMode="auto">
          <a:xfrm>
            <a:off x="4425950" y="2673350"/>
            <a:ext cx="292100" cy="2921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1512" name="Rectangle 8"/>
          <p:cNvSpPr>
            <a:spLocks noChangeArrowheads="1"/>
          </p:cNvSpPr>
          <p:nvPr/>
        </p:nvSpPr>
        <p:spPr bwMode="auto">
          <a:xfrm>
            <a:off x="1279525" y="2270125"/>
            <a:ext cx="1014413"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GB" altLang="en-US" sz="2400"/>
              <a:t>raster</a:t>
            </a:r>
          </a:p>
          <a:p>
            <a:pPr eaLnBrk="0" hangingPunct="0"/>
            <a:r>
              <a:rPr lang="en-GB" altLang="en-US" sz="2400"/>
              <a:t>image</a:t>
            </a:r>
          </a:p>
        </p:txBody>
      </p:sp>
      <p:sp>
        <p:nvSpPr>
          <p:cNvPr id="21513" name="Rectangle 9"/>
          <p:cNvSpPr>
            <a:spLocks noChangeArrowheads="1"/>
          </p:cNvSpPr>
          <p:nvPr/>
        </p:nvSpPr>
        <p:spPr bwMode="auto">
          <a:xfrm>
            <a:off x="6308725" y="2422525"/>
            <a:ext cx="11334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GB" altLang="en-US" sz="2400"/>
              <a:t>display</a:t>
            </a:r>
          </a:p>
        </p:txBody>
      </p:sp>
      <p:sp>
        <p:nvSpPr>
          <p:cNvPr id="21514" name="Rectangle 10"/>
          <p:cNvSpPr>
            <a:spLocks noChangeArrowheads="1"/>
          </p:cNvSpPr>
          <p:nvPr/>
        </p:nvSpPr>
        <p:spPr bwMode="auto">
          <a:xfrm>
            <a:off x="4111625" y="2268538"/>
            <a:ext cx="920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GB" altLang="en-US" sz="1200" dirty="0"/>
              <a:t>processing</a:t>
            </a:r>
          </a:p>
          <a:p>
            <a:pPr eaLnBrk="0" hangingPunct="0"/>
            <a:r>
              <a:rPr lang="en-GB" altLang="en-US" sz="1200" dirty="0"/>
              <a:t>time</a:t>
            </a:r>
          </a:p>
        </p:txBody>
      </p:sp>
      <p:sp>
        <p:nvSpPr>
          <p:cNvPr id="21515" name="Rectangle 11"/>
          <p:cNvSpPr>
            <a:spLocks noChangeArrowheads="1"/>
          </p:cNvSpPr>
          <p:nvPr/>
        </p:nvSpPr>
        <p:spPr bwMode="auto">
          <a:xfrm>
            <a:off x="1530350" y="4502150"/>
            <a:ext cx="1130300" cy="44450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1516" name="Oval 12"/>
          <p:cNvSpPr>
            <a:spLocks noChangeArrowheads="1"/>
          </p:cNvSpPr>
          <p:nvPr/>
        </p:nvSpPr>
        <p:spPr bwMode="auto">
          <a:xfrm>
            <a:off x="6407150" y="4044950"/>
            <a:ext cx="1816100" cy="12827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1517" name="Line 13"/>
          <p:cNvSpPr>
            <a:spLocks noChangeShapeType="1"/>
          </p:cNvSpPr>
          <p:nvPr/>
        </p:nvSpPr>
        <p:spPr bwMode="auto">
          <a:xfrm>
            <a:off x="2286000" y="4724400"/>
            <a:ext cx="41148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1518" name="Oval 14"/>
          <p:cNvSpPr>
            <a:spLocks noChangeArrowheads="1"/>
          </p:cNvSpPr>
          <p:nvPr/>
        </p:nvSpPr>
        <p:spPr bwMode="auto">
          <a:xfrm>
            <a:off x="3740150" y="4044950"/>
            <a:ext cx="1435100" cy="13589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1519" name="Rectangle 15"/>
          <p:cNvSpPr>
            <a:spLocks noChangeArrowheads="1"/>
          </p:cNvSpPr>
          <p:nvPr/>
        </p:nvSpPr>
        <p:spPr bwMode="auto">
          <a:xfrm>
            <a:off x="6613525" y="4556125"/>
            <a:ext cx="11334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GB" altLang="en-US" sz="2400"/>
              <a:t>display</a:t>
            </a:r>
          </a:p>
        </p:txBody>
      </p:sp>
      <p:sp>
        <p:nvSpPr>
          <p:cNvPr id="21520" name="Rectangle 16"/>
          <p:cNvSpPr>
            <a:spLocks noChangeArrowheads="1"/>
          </p:cNvSpPr>
          <p:nvPr/>
        </p:nvSpPr>
        <p:spPr bwMode="auto">
          <a:xfrm>
            <a:off x="1508125" y="4518025"/>
            <a:ext cx="1152525"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GB" altLang="en-US" sz="1400"/>
              <a:t>compressed</a:t>
            </a:r>
          </a:p>
          <a:p>
            <a:pPr eaLnBrk="0" hangingPunct="0"/>
            <a:r>
              <a:rPr lang="en-GB" altLang="en-US" sz="1400"/>
              <a:t>image</a:t>
            </a:r>
          </a:p>
        </p:txBody>
      </p:sp>
      <p:sp>
        <p:nvSpPr>
          <p:cNvPr id="21521" name="Rectangle 17"/>
          <p:cNvSpPr>
            <a:spLocks noChangeArrowheads="1"/>
          </p:cNvSpPr>
          <p:nvPr/>
        </p:nvSpPr>
        <p:spPr bwMode="auto">
          <a:xfrm>
            <a:off x="3713162" y="5434807"/>
            <a:ext cx="14128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GB" altLang="en-US" sz="2000" dirty="0"/>
              <a:t>processing</a:t>
            </a:r>
          </a:p>
          <a:p>
            <a:pPr eaLnBrk="0" hangingPunct="0"/>
            <a:r>
              <a:rPr lang="en-GB" altLang="en-US" sz="2000" dirty="0"/>
              <a:t>time</a:t>
            </a:r>
          </a:p>
        </p:txBody>
      </p:sp>
    </p:spTree>
    <p:extLst>
      <p:ext uri="{BB962C8B-B14F-4D97-AF65-F5344CB8AC3E}">
        <p14:creationId xmlns:p14="http://schemas.microsoft.com/office/powerpoint/2010/main" val="1017923442"/>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395288" y="368300"/>
            <a:ext cx="8229600" cy="1143000"/>
          </a:xfrm>
          <a:noFill/>
          <a:ln/>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normAutofit/>
          </a:bodyPr>
          <a:lstStyle/>
          <a:p>
            <a:pPr algn="l"/>
            <a:r>
              <a:rPr lang="en-GB" altLang="en-US" sz="2400" b="1" dirty="0"/>
              <a:t>Lossless Compression (of Images)</a:t>
            </a:r>
          </a:p>
        </p:txBody>
      </p:sp>
      <p:sp>
        <p:nvSpPr>
          <p:cNvPr id="22531" name="Rectangle 3"/>
          <p:cNvSpPr>
            <a:spLocks noGrp="1" noChangeArrowheads="1"/>
          </p:cNvSpPr>
          <p:nvPr>
            <p:ph type="body" idx="1"/>
          </p:nvPr>
        </p:nvSpPr>
        <p:spPr>
          <a:noFill/>
          <a:ln/>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normAutofit/>
          </a:bodyPr>
          <a:lstStyle/>
          <a:p>
            <a:pPr>
              <a:lnSpc>
                <a:spcPct val="150000"/>
              </a:lnSpc>
            </a:pPr>
            <a:r>
              <a:rPr lang="en-GB" altLang="en-US" sz="1800" dirty="0"/>
              <a:t>Three standard techniques that take advantage of regular and repeating data</a:t>
            </a:r>
          </a:p>
          <a:p>
            <a:pPr lvl="1">
              <a:lnSpc>
                <a:spcPct val="150000"/>
              </a:lnSpc>
            </a:pPr>
            <a:r>
              <a:rPr lang="en-GB" altLang="en-US" sz="1800" dirty="0"/>
              <a:t>Run Length Encoding (RLE) </a:t>
            </a:r>
          </a:p>
          <a:p>
            <a:pPr lvl="1">
              <a:lnSpc>
                <a:spcPct val="150000"/>
              </a:lnSpc>
            </a:pPr>
            <a:r>
              <a:rPr lang="en-GB" altLang="en-US" sz="1800" dirty="0"/>
              <a:t> Huffman Compression</a:t>
            </a:r>
          </a:p>
          <a:p>
            <a:pPr lvl="1">
              <a:lnSpc>
                <a:spcPct val="150000"/>
              </a:lnSpc>
            </a:pPr>
            <a:r>
              <a:rPr lang="en-GB" altLang="en-US" sz="1800" dirty="0"/>
              <a:t>Differential (or Predictive) Coding</a:t>
            </a:r>
          </a:p>
          <a:p>
            <a:pPr>
              <a:lnSpc>
                <a:spcPct val="150000"/>
              </a:lnSpc>
            </a:pPr>
            <a:r>
              <a:rPr lang="en-GB" altLang="en-US" sz="1800" dirty="0"/>
              <a:t> ironically in their pure form they are most suited to  compression of bitmap representations of computer generated images</a:t>
            </a:r>
          </a:p>
        </p:txBody>
      </p:sp>
    </p:spTree>
    <p:extLst>
      <p:ext uri="{BB962C8B-B14F-4D97-AF65-F5344CB8AC3E}">
        <p14:creationId xmlns:p14="http://schemas.microsoft.com/office/powerpoint/2010/main" val="2034413039"/>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395288" y="368300"/>
            <a:ext cx="8229600" cy="1143000"/>
          </a:xfrm>
          <a:noFill/>
          <a:ln/>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lstStyle/>
          <a:p>
            <a:pPr algn="l"/>
            <a:r>
              <a:rPr lang="en-GB" altLang="en-US" sz="2400" b="1" dirty="0"/>
              <a:t>Lossless Compression</a:t>
            </a:r>
          </a:p>
        </p:txBody>
      </p:sp>
      <p:sp>
        <p:nvSpPr>
          <p:cNvPr id="23555" name="Rectangle 3"/>
          <p:cNvSpPr>
            <a:spLocks noGrp="1" noChangeArrowheads="1"/>
          </p:cNvSpPr>
          <p:nvPr>
            <p:ph type="body" idx="1"/>
          </p:nvPr>
        </p:nvSpPr>
        <p:spPr>
          <a:xfrm>
            <a:off x="395288" y="1460928"/>
            <a:ext cx="8229600" cy="4525963"/>
          </a:xfrm>
          <a:noFill/>
          <a:ln/>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lstStyle/>
          <a:p>
            <a:pPr>
              <a:lnSpc>
                <a:spcPct val="150000"/>
              </a:lnSpc>
            </a:pPr>
            <a:r>
              <a:rPr lang="en-GB" altLang="en-US" sz="1800" dirty="0"/>
              <a:t>RLE replaces repeating bytes with number and kind:</a:t>
            </a:r>
          </a:p>
          <a:p>
            <a:pPr lvl="1">
              <a:lnSpc>
                <a:spcPct val="150000"/>
              </a:lnSpc>
            </a:pPr>
            <a:r>
              <a:rPr lang="en-GB" altLang="en-US" sz="1800" dirty="0"/>
              <a:t> e.g.777555555 becomes 3765</a:t>
            </a:r>
          </a:p>
          <a:p>
            <a:pPr lvl="1">
              <a:lnSpc>
                <a:spcPct val="150000"/>
              </a:lnSpc>
            </a:pPr>
            <a:r>
              <a:rPr lang="en-GB" altLang="en-US" sz="1800" dirty="0"/>
              <a:t>compression ratio 9:4 =2.25</a:t>
            </a:r>
          </a:p>
          <a:p>
            <a:pPr>
              <a:lnSpc>
                <a:spcPct val="150000"/>
              </a:lnSpc>
            </a:pPr>
            <a:r>
              <a:rPr lang="en-GB" altLang="en-US" sz="1800" dirty="0"/>
              <a:t>In most applications RLE files are further compressed using Huffman which scans the whole file to discover the most frequently occurring bytes. These bytes are then translated to bit form, for example using only 1 bit for the most frequently occurring byte , 2 bits for the next most frequently occurring and so on</a:t>
            </a:r>
          </a:p>
        </p:txBody>
      </p:sp>
    </p:spTree>
    <p:extLst>
      <p:ext uri="{BB962C8B-B14F-4D97-AF65-F5344CB8AC3E}">
        <p14:creationId xmlns:p14="http://schemas.microsoft.com/office/powerpoint/2010/main" val="1591662906"/>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ChangeArrowheads="1"/>
          </p:cNvSpPr>
          <p:nvPr/>
        </p:nvSpPr>
        <p:spPr bwMode="auto">
          <a:xfrm>
            <a:off x="381000" y="333375"/>
            <a:ext cx="4402138" cy="457200"/>
          </a:xfrm>
          <a:prstGeom prst="rect">
            <a:avLst/>
          </a:prstGeom>
          <a:noFill/>
          <a:ln w="9525">
            <a:noFill/>
            <a:miter lim="800000"/>
            <a:headEnd/>
            <a:tailEnd/>
          </a:ln>
        </p:spPr>
        <p:txBody>
          <a:bodyPr wrap="none">
            <a:spAutoFit/>
          </a:bodyPr>
          <a:lstStyle/>
          <a:p>
            <a:r>
              <a:rPr lang="en-GB" sz="2400" b="1" dirty="0"/>
              <a:t>Bit Rate Reduction Principles</a:t>
            </a:r>
          </a:p>
        </p:txBody>
      </p:sp>
      <p:sp>
        <p:nvSpPr>
          <p:cNvPr id="11267" name="Rectangle 3"/>
          <p:cNvSpPr>
            <a:spLocks noChangeArrowheads="1"/>
          </p:cNvSpPr>
          <p:nvPr/>
        </p:nvSpPr>
        <p:spPr bwMode="auto">
          <a:xfrm>
            <a:off x="381000" y="1225550"/>
            <a:ext cx="7659688" cy="4413516"/>
          </a:xfrm>
          <a:prstGeom prst="rect">
            <a:avLst/>
          </a:prstGeom>
          <a:noFill/>
          <a:ln w="9525">
            <a:noFill/>
            <a:miter lim="800000"/>
            <a:headEnd/>
            <a:tailEnd/>
          </a:ln>
        </p:spPr>
        <p:txBody>
          <a:bodyPr>
            <a:spAutoFit/>
          </a:bodyPr>
          <a:lstStyle/>
          <a:p>
            <a:pPr marL="185738" indent="-185738">
              <a:lnSpc>
                <a:spcPct val="120000"/>
              </a:lnSpc>
            </a:pPr>
            <a:r>
              <a:rPr lang="en-GB" sz="1800" b="1" dirty="0"/>
              <a:t>Main process of bit-rate </a:t>
            </a:r>
            <a:r>
              <a:rPr lang="en-GB" sz="1800" b="1"/>
              <a:t>reduction:</a:t>
            </a:r>
          </a:p>
          <a:p>
            <a:pPr marL="185738" indent="-185738">
              <a:lnSpc>
                <a:spcPct val="120000"/>
              </a:lnSpc>
            </a:pPr>
            <a:endParaRPr lang="en-GB" sz="1800" dirty="0"/>
          </a:p>
          <a:p>
            <a:pPr marL="185738" indent="-185738">
              <a:lnSpc>
                <a:spcPct val="120000"/>
              </a:lnSpc>
              <a:buFontTx/>
              <a:buChar char="•"/>
            </a:pPr>
            <a:r>
              <a:rPr lang="en-GB" sz="1800" dirty="0"/>
              <a:t>Remove lower priority information from the signal </a:t>
            </a:r>
            <a:r>
              <a:rPr lang="en-GB" sz="1800"/>
              <a:t>at encoder</a:t>
            </a:r>
          </a:p>
          <a:p>
            <a:pPr marL="642938" lvl="1" indent="-185738">
              <a:lnSpc>
                <a:spcPct val="120000"/>
              </a:lnSpc>
            </a:pPr>
            <a:r>
              <a:rPr lang="en-GB" sz="1800"/>
              <a:t>... according to what we </a:t>
            </a:r>
            <a:r>
              <a:rPr lang="en-GB" sz="1800" i="1"/>
              <a:t>perceive </a:t>
            </a:r>
            <a:r>
              <a:rPr lang="en-GB" sz="1800"/>
              <a:t>in the image</a:t>
            </a:r>
          </a:p>
          <a:p>
            <a:pPr marL="185738" indent="-185738">
              <a:lnSpc>
                <a:spcPct val="120000"/>
              </a:lnSpc>
              <a:buFontTx/>
              <a:buChar char="•"/>
            </a:pPr>
            <a:endParaRPr lang="en-GB" sz="1800" dirty="0"/>
          </a:p>
          <a:p>
            <a:pPr marL="185738" indent="-185738">
              <a:lnSpc>
                <a:spcPct val="120000"/>
              </a:lnSpc>
              <a:buFontTx/>
              <a:buChar char="•"/>
            </a:pPr>
            <a:r>
              <a:rPr lang="en-GB" sz="1800" b="1" dirty="0">
                <a:solidFill>
                  <a:srgbClr val="FF0000"/>
                </a:solidFill>
              </a:rPr>
              <a:t>Coding </a:t>
            </a:r>
            <a:r>
              <a:rPr lang="en-GB" sz="1800" dirty="0"/>
              <a:t>- including information about the </a:t>
            </a:r>
            <a:r>
              <a:rPr lang="en-GB" sz="1800"/>
              <a:t>bit-rate reduction</a:t>
            </a:r>
          </a:p>
          <a:p>
            <a:pPr marL="642938" lvl="1" indent="-185738">
              <a:lnSpc>
                <a:spcPct val="120000"/>
              </a:lnSpc>
            </a:pPr>
            <a:r>
              <a:rPr lang="en-GB" sz="1800"/>
              <a:t>... codec at time of image capture</a:t>
            </a:r>
          </a:p>
          <a:p>
            <a:pPr marL="185738" indent="-185738">
              <a:lnSpc>
                <a:spcPct val="120000"/>
              </a:lnSpc>
            </a:pPr>
            <a:r>
              <a:rPr lang="en-GB" sz="1800"/>
              <a:t> </a:t>
            </a:r>
            <a:endParaRPr lang="en-GB" sz="1800" dirty="0"/>
          </a:p>
          <a:p>
            <a:pPr marL="185738" indent="-185738">
              <a:lnSpc>
                <a:spcPct val="120000"/>
              </a:lnSpc>
              <a:buFontTx/>
              <a:buChar char="•"/>
            </a:pPr>
            <a:r>
              <a:rPr lang="en-GB" sz="1800" b="1">
                <a:solidFill>
                  <a:srgbClr val="FF0000"/>
                </a:solidFill>
              </a:rPr>
              <a:t>Decode</a:t>
            </a:r>
            <a:r>
              <a:rPr lang="en-GB" sz="1800"/>
              <a:t>  - to </a:t>
            </a:r>
            <a:r>
              <a:rPr lang="en-GB" sz="1800" dirty="0"/>
              <a:t>assemble and play the compressed file</a:t>
            </a:r>
          </a:p>
          <a:p>
            <a:pPr marL="642938" lvl="1" indent="-185738">
              <a:lnSpc>
                <a:spcPct val="120000"/>
              </a:lnSpc>
            </a:pPr>
            <a:r>
              <a:rPr lang="en-GB" sz="1800"/>
              <a:t>... codec at time of viewing image</a:t>
            </a:r>
          </a:p>
          <a:p>
            <a:pPr marL="185738" indent="-185738">
              <a:lnSpc>
                <a:spcPct val="120000"/>
              </a:lnSpc>
            </a:pPr>
            <a:endParaRPr lang="en-GB" sz="1800" dirty="0"/>
          </a:p>
          <a:p>
            <a:pPr marL="185738" indent="-185738">
              <a:lnSpc>
                <a:spcPct val="120000"/>
              </a:lnSpc>
            </a:pPr>
            <a:endParaRPr lang="en-GB" sz="1800" dirty="0"/>
          </a:p>
          <a:p>
            <a:pPr lvl="1">
              <a:lnSpc>
                <a:spcPct val="120000"/>
              </a:lnSpc>
              <a:buFontTx/>
              <a:buChar char="•"/>
            </a:pPr>
            <a:endParaRPr lang="en-GB" sz="1800" dirty="0"/>
          </a:p>
        </p:txBody>
      </p:sp>
    </p:spTree>
    <p:extLst>
      <p:ext uri="{BB962C8B-B14F-4D97-AF65-F5344CB8AC3E}">
        <p14:creationId xmlns:p14="http://schemas.microsoft.com/office/powerpoint/2010/main" val="379969294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http://68.media.tumblr.com/3a08f3947b016dbac889a97c1eae06c7/tumblr_noe42t9Xdv1uvcudho1_128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9600C991-5720-4862-A801-A095D5009BCB}"/>
              </a:ext>
            </a:extLst>
          </p:cNvPr>
          <p:cNvSpPr/>
          <p:nvPr/>
        </p:nvSpPr>
        <p:spPr>
          <a:xfrm>
            <a:off x="395288" y="368300"/>
            <a:ext cx="7794121" cy="646331"/>
          </a:xfrm>
          <a:prstGeom prst="rect">
            <a:avLst/>
          </a:prstGeom>
          <a:solidFill>
            <a:schemeClr val="tx1"/>
          </a:solidFill>
        </p:spPr>
        <p:txBody>
          <a:bodyPr wrap="none">
            <a:spAutoFit/>
          </a:bodyPr>
          <a:lstStyle/>
          <a:p>
            <a:r>
              <a:rPr lang="en-GB" sz="3600" b="1" dirty="0">
                <a:solidFill>
                  <a:srgbClr val="FFFF00"/>
                </a:solidFill>
              </a:rPr>
              <a:t>Audio Compression (Introduction)</a:t>
            </a:r>
          </a:p>
        </p:txBody>
      </p:sp>
    </p:spTree>
    <p:extLst>
      <p:ext uri="{BB962C8B-B14F-4D97-AF65-F5344CB8AC3E}">
        <p14:creationId xmlns:p14="http://schemas.microsoft.com/office/powerpoint/2010/main" val="70192331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1026"/>
          <p:cNvSpPr>
            <a:spLocks noChangeArrowheads="1"/>
          </p:cNvSpPr>
          <p:nvPr/>
        </p:nvSpPr>
        <p:spPr bwMode="auto">
          <a:xfrm>
            <a:off x="381000" y="331788"/>
            <a:ext cx="3124573" cy="461665"/>
          </a:xfrm>
          <a:prstGeom prst="rect">
            <a:avLst/>
          </a:prstGeom>
          <a:noFill/>
          <a:ln w="9525">
            <a:noFill/>
            <a:miter lim="800000"/>
            <a:headEnd/>
            <a:tailEnd/>
          </a:ln>
        </p:spPr>
        <p:txBody>
          <a:bodyPr wrap="none">
            <a:spAutoFit/>
          </a:bodyPr>
          <a:lstStyle/>
          <a:p>
            <a:r>
              <a:rPr lang="en-GB" sz="2400" b="1" dirty="0"/>
              <a:t>Audio Compression</a:t>
            </a:r>
          </a:p>
        </p:txBody>
      </p:sp>
      <p:sp>
        <p:nvSpPr>
          <p:cNvPr id="4099" name="Rectangle 1027"/>
          <p:cNvSpPr>
            <a:spLocks noChangeArrowheads="1"/>
          </p:cNvSpPr>
          <p:nvPr/>
        </p:nvSpPr>
        <p:spPr bwMode="auto">
          <a:xfrm>
            <a:off x="381000" y="898392"/>
            <a:ext cx="8382000" cy="4862870"/>
          </a:xfrm>
          <a:prstGeom prst="rect">
            <a:avLst/>
          </a:prstGeom>
          <a:noFill/>
          <a:ln w="9525">
            <a:noFill/>
            <a:miter lim="800000"/>
            <a:headEnd/>
            <a:tailEnd/>
          </a:ln>
        </p:spPr>
        <p:txBody>
          <a:bodyPr>
            <a:spAutoFit/>
          </a:bodyPr>
          <a:lstStyle/>
          <a:p>
            <a:pPr marL="184150" indent="-184150">
              <a:lnSpc>
                <a:spcPct val="150000"/>
              </a:lnSpc>
            </a:pPr>
            <a:r>
              <a:rPr lang="en-GB" sz="1600" b="1" dirty="0"/>
              <a:t>Audio Compression</a:t>
            </a:r>
            <a:endParaRPr lang="en-GB" sz="1600" dirty="0"/>
          </a:p>
          <a:p>
            <a:pPr marL="184150" indent="-184150">
              <a:lnSpc>
                <a:spcPct val="150000"/>
              </a:lnSpc>
              <a:buFontTx/>
              <a:buChar char="•"/>
            </a:pPr>
            <a:r>
              <a:rPr lang="en-GB" sz="1600" dirty="0"/>
              <a:t>Compression Usability, Latency </a:t>
            </a:r>
          </a:p>
          <a:p>
            <a:pPr marL="184150" indent="-184150">
              <a:lnSpc>
                <a:spcPct val="150000"/>
              </a:lnSpc>
              <a:buFontTx/>
              <a:buChar char="•"/>
            </a:pPr>
            <a:r>
              <a:rPr lang="en-GB" sz="1600" dirty="0"/>
              <a:t>Encoding Architecture</a:t>
            </a:r>
          </a:p>
          <a:p>
            <a:pPr marL="184150" indent="-184150">
              <a:lnSpc>
                <a:spcPct val="150000"/>
              </a:lnSpc>
              <a:buFontTx/>
              <a:buChar char="•"/>
            </a:pPr>
            <a:r>
              <a:rPr lang="en-GB" sz="1600" dirty="0"/>
              <a:t>Perceptual Coding: Psychoacoustic Models</a:t>
            </a:r>
          </a:p>
          <a:p>
            <a:pPr marL="184150" indent="-184150">
              <a:lnSpc>
                <a:spcPct val="150000"/>
              </a:lnSpc>
              <a:buFontTx/>
              <a:buChar char="•"/>
            </a:pPr>
            <a:r>
              <a:rPr lang="en-GB" sz="1600" dirty="0"/>
              <a:t>Transform Domain Methods, Decoding</a:t>
            </a:r>
          </a:p>
          <a:p>
            <a:pPr marL="184150" indent="-184150">
              <a:lnSpc>
                <a:spcPct val="150000"/>
              </a:lnSpc>
              <a:buFontTx/>
              <a:buChar char="•"/>
            </a:pPr>
            <a:r>
              <a:rPr lang="en-GB" sz="1600" dirty="0"/>
              <a:t>Coding, Bit Allocation, Frames</a:t>
            </a:r>
          </a:p>
          <a:p>
            <a:pPr marL="184150" indent="-184150">
              <a:lnSpc>
                <a:spcPct val="150000"/>
              </a:lnSpc>
            </a:pPr>
            <a:endParaRPr lang="en-GB" sz="1600" dirty="0"/>
          </a:p>
          <a:p>
            <a:pPr marL="184150" indent="-184150">
              <a:lnSpc>
                <a:spcPct val="150000"/>
              </a:lnSpc>
            </a:pPr>
            <a:endParaRPr lang="en-GB" sz="1600" dirty="0"/>
          </a:p>
          <a:p>
            <a:pPr marL="184150" indent="-184150">
              <a:lnSpc>
                <a:spcPct val="150000"/>
              </a:lnSpc>
            </a:pPr>
            <a:r>
              <a:rPr lang="en-GB" sz="1600" b="1" dirty="0"/>
              <a:t>AAC - Advanced Audio Coding</a:t>
            </a:r>
            <a:endParaRPr lang="en-GB" sz="1600" dirty="0"/>
          </a:p>
          <a:p>
            <a:pPr marL="184150" indent="-184150">
              <a:lnSpc>
                <a:spcPct val="150000"/>
              </a:lnSpc>
              <a:buFontTx/>
              <a:buChar char="•"/>
            </a:pPr>
            <a:r>
              <a:rPr lang="en-GB" sz="1600" dirty="0"/>
              <a:t>MPEG-4 AAC, Low Delay Coder, Error Resilience, </a:t>
            </a:r>
          </a:p>
          <a:p>
            <a:pPr marL="184150" indent="-184150">
              <a:lnSpc>
                <a:spcPct val="150000"/>
              </a:lnSpc>
            </a:pPr>
            <a:endParaRPr lang="en-GB" sz="1600" dirty="0"/>
          </a:p>
          <a:p>
            <a:pPr marL="184150" indent="-184150">
              <a:lnSpc>
                <a:spcPct val="150000"/>
              </a:lnSpc>
            </a:pPr>
            <a:endParaRPr lang="en-GB" sz="1600" dirty="0"/>
          </a:p>
          <a:p>
            <a:pPr marL="184150" indent="-184150">
              <a:lnSpc>
                <a:spcPct val="150000"/>
              </a:lnSpc>
            </a:pPr>
            <a:r>
              <a:rPr lang="en-GB" sz="1600" b="1" dirty="0"/>
              <a:t>Variable Bit Rate</a:t>
            </a:r>
            <a:endParaRPr lang="en-GB" sz="1600" dirty="0"/>
          </a:p>
        </p:txBody>
      </p:sp>
    </p:spTree>
    <p:extLst>
      <p:ext uri="{BB962C8B-B14F-4D97-AF65-F5344CB8AC3E}">
        <p14:creationId xmlns:p14="http://schemas.microsoft.com/office/powerpoint/2010/main" val="112317367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ChangeArrowheads="1"/>
          </p:cNvSpPr>
          <p:nvPr/>
        </p:nvSpPr>
        <p:spPr bwMode="auto">
          <a:xfrm>
            <a:off x="395288" y="332085"/>
            <a:ext cx="4094391" cy="461665"/>
          </a:xfrm>
          <a:prstGeom prst="rect">
            <a:avLst/>
          </a:prstGeom>
          <a:noFill/>
          <a:ln w="9525">
            <a:noFill/>
            <a:miter lim="800000"/>
            <a:headEnd/>
            <a:tailEnd/>
          </a:ln>
        </p:spPr>
        <p:txBody>
          <a:bodyPr wrap="none">
            <a:spAutoFit/>
          </a:bodyPr>
          <a:lstStyle/>
          <a:p>
            <a:r>
              <a:rPr lang="en-GB" sz="2400" b="1" dirty="0"/>
              <a:t>The Physiology of Hearing</a:t>
            </a:r>
          </a:p>
        </p:txBody>
      </p:sp>
      <p:sp>
        <p:nvSpPr>
          <p:cNvPr id="1028" name="Freeform 3"/>
          <p:cNvSpPr>
            <a:spLocks/>
          </p:cNvSpPr>
          <p:nvPr/>
        </p:nvSpPr>
        <p:spPr bwMode="auto">
          <a:xfrm>
            <a:off x="3171825" y="1631950"/>
            <a:ext cx="990600" cy="711200"/>
          </a:xfrm>
          <a:custGeom>
            <a:avLst/>
            <a:gdLst>
              <a:gd name="T0" fmla="*/ 0 w 624"/>
              <a:gd name="T1" fmla="*/ 2147483647 h 448"/>
              <a:gd name="T2" fmla="*/ 2147483647 w 624"/>
              <a:gd name="T3" fmla="*/ 2147483647 h 448"/>
              <a:gd name="T4" fmla="*/ 2147483647 w 624"/>
              <a:gd name="T5" fmla="*/ 2147483647 h 448"/>
              <a:gd name="T6" fmla="*/ 2147483647 w 624"/>
              <a:gd name="T7" fmla="*/ 2147483647 h 448"/>
              <a:gd name="T8" fmla="*/ 2147483647 w 624"/>
              <a:gd name="T9" fmla="*/ 2147483647 h 448"/>
              <a:gd name="T10" fmla="*/ 2147483647 w 624"/>
              <a:gd name="T11" fmla="*/ 2147483647 h 448"/>
              <a:gd name="T12" fmla="*/ 2147483647 w 624"/>
              <a:gd name="T13" fmla="*/ 2147483647 h 448"/>
              <a:gd name="T14" fmla="*/ 2147483647 w 624"/>
              <a:gd name="T15" fmla="*/ 2147483647 h 448"/>
              <a:gd name="T16" fmla="*/ 2147483647 w 624"/>
              <a:gd name="T17" fmla="*/ 2147483647 h 448"/>
              <a:gd name="T18" fmla="*/ 2147483647 w 624"/>
              <a:gd name="T19" fmla="*/ 2147483647 h 448"/>
              <a:gd name="T20" fmla="*/ 2147483647 w 624"/>
              <a:gd name="T21" fmla="*/ 2147483647 h 448"/>
              <a:gd name="T22" fmla="*/ 2147483647 w 624"/>
              <a:gd name="T23" fmla="*/ 2147483647 h 448"/>
              <a:gd name="T24" fmla="*/ 2147483647 w 624"/>
              <a:gd name="T25" fmla="*/ 2147483647 h 448"/>
              <a:gd name="T26" fmla="*/ 2147483647 w 624"/>
              <a:gd name="T27" fmla="*/ 2147483647 h 44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448"/>
              <a:gd name="T44" fmla="*/ 624 w 624"/>
              <a:gd name="T45" fmla="*/ 448 h 44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448">
                <a:moveTo>
                  <a:pt x="0" y="99"/>
                </a:moveTo>
                <a:cubicBezTo>
                  <a:pt x="15" y="190"/>
                  <a:pt x="30" y="282"/>
                  <a:pt x="39" y="333"/>
                </a:cubicBezTo>
                <a:cubicBezTo>
                  <a:pt x="48" y="384"/>
                  <a:pt x="33" y="389"/>
                  <a:pt x="55" y="403"/>
                </a:cubicBezTo>
                <a:cubicBezTo>
                  <a:pt x="77" y="417"/>
                  <a:pt x="114" y="412"/>
                  <a:pt x="171" y="418"/>
                </a:cubicBezTo>
                <a:cubicBezTo>
                  <a:pt x="228" y="424"/>
                  <a:pt x="340" y="448"/>
                  <a:pt x="397" y="442"/>
                </a:cubicBezTo>
                <a:cubicBezTo>
                  <a:pt x="454" y="436"/>
                  <a:pt x="487" y="404"/>
                  <a:pt x="514" y="379"/>
                </a:cubicBezTo>
                <a:cubicBezTo>
                  <a:pt x="541" y="354"/>
                  <a:pt x="547" y="321"/>
                  <a:pt x="561" y="294"/>
                </a:cubicBezTo>
                <a:cubicBezTo>
                  <a:pt x="575" y="267"/>
                  <a:pt x="591" y="248"/>
                  <a:pt x="600" y="216"/>
                </a:cubicBezTo>
                <a:cubicBezTo>
                  <a:pt x="609" y="184"/>
                  <a:pt x="624" y="133"/>
                  <a:pt x="616" y="99"/>
                </a:cubicBezTo>
                <a:cubicBezTo>
                  <a:pt x="608" y="65"/>
                  <a:pt x="582" y="26"/>
                  <a:pt x="553" y="13"/>
                </a:cubicBezTo>
                <a:cubicBezTo>
                  <a:pt x="524" y="0"/>
                  <a:pt x="482" y="8"/>
                  <a:pt x="444" y="21"/>
                </a:cubicBezTo>
                <a:cubicBezTo>
                  <a:pt x="406" y="34"/>
                  <a:pt x="361" y="78"/>
                  <a:pt x="327" y="91"/>
                </a:cubicBezTo>
                <a:cubicBezTo>
                  <a:pt x="293" y="104"/>
                  <a:pt x="248" y="82"/>
                  <a:pt x="242" y="99"/>
                </a:cubicBezTo>
                <a:cubicBezTo>
                  <a:pt x="236" y="116"/>
                  <a:pt x="262" y="154"/>
                  <a:pt x="288" y="192"/>
                </a:cubicBezTo>
              </a:path>
            </a:pathLst>
          </a:custGeom>
          <a:noFill/>
          <a:ln w="9525" cap="flat" cmpd="sng">
            <a:noFill/>
            <a:prstDash val="solid"/>
            <a:round/>
            <a:headEnd/>
            <a:tailEnd/>
          </a:ln>
        </p:spPr>
        <p:txBody>
          <a:bodyPr wrap="none" anchor="ctr">
            <a:spAutoFit/>
          </a:bodyPr>
          <a:lstStyle/>
          <a:p>
            <a:endParaRPr lang="en-GB"/>
          </a:p>
        </p:txBody>
      </p:sp>
      <p:graphicFrame>
        <p:nvGraphicFramePr>
          <p:cNvPr id="1026" name="Object 4"/>
          <p:cNvGraphicFramePr>
            <a:graphicFrameLocks noChangeAspect="1"/>
          </p:cNvGraphicFramePr>
          <p:nvPr/>
        </p:nvGraphicFramePr>
        <p:xfrm>
          <a:off x="2706688" y="1644650"/>
          <a:ext cx="6088062" cy="4057650"/>
        </p:xfrm>
        <a:graphic>
          <a:graphicData uri="http://schemas.openxmlformats.org/presentationml/2006/ole">
            <mc:AlternateContent xmlns:mc="http://schemas.openxmlformats.org/markup-compatibility/2006">
              <mc:Choice xmlns:v="urn:schemas-microsoft-com:vml" Requires="v">
                <p:oleObj spid="_x0000_s1026" name="Bitmap Image" r:id="rId3" imgW="6087325" imgH="4057143" progId="PBrush">
                  <p:embed/>
                </p:oleObj>
              </mc:Choice>
              <mc:Fallback>
                <p:oleObj name="Bitmap Image" r:id="rId3" imgW="6087325" imgH="4057143" progId="PBrush">
                  <p:embed/>
                  <p:pic>
                    <p:nvPicPr>
                      <p:cNvPr id="1026"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06688" y="1644650"/>
                        <a:ext cx="6088062" cy="405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29" name="Line 5"/>
          <p:cNvSpPr>
            <a:spLocks noChangeShapeType="1"/>
          </p:cNvSpPr>
          <p:nvPr/>
        </p:nvSpPr>
        <p:spPr bwMode="auto">
          <a:xfrm>
            <a:off x="4703763" y="1998663"/>
            <a:ext cx="347662" cy="1731962"/>
          </a:xfrm>
          <a:prstGeom prst="line">
            <a:avLst/>
          </a:prstGeom>
          <a:noFill/>
          <a:ln w="28575">
            <a:solidFill>
              <a:schemeClr val="tx1"/>
            </a:solidFill>
            <a:round/>
            <a:headEnd/>
            <a:tailEnd type="triangle" w="med" len="med"/>
          </a:ln>
        </p:spPr>
        <p:txBody>
          <a:bodyPr anchor="ctr">
            <a:spAutoFit/>
          </a:bodyPr>
          <a:lstStyle/>
          <a:p>
            <a:endParaRPr lang="en-GB"/>
          </a:p>
        </p:txBody>
      </p:sp>
      <p:sp>
        <p:nvSpPr>
          <p:cNvPr id="1030" name="Text Box 6"/>
          <p:cNvSpPr txBox="1">
            <a:spLocks noChangeArrowheads="1"/>
          </p:cNvSpPr>
          <p:nvPr/>
        </p:nvSpPr>
        <p:spPr bwMode="auto">
          <a:xfrm>
            <a:off x="5716588" y="2151063"/>
            <a:ext cx="985837" cy="336550"/>
          </a:xfrm>
          <a:prstGeom prst="rect">
            <a:avLst/>
          </a:prstGeom>
          <a:noFill/>
          <a:ln w="9525">
            <a:noFill/>
            <a:miter lim="800000"/>
            <a:headEnd/>
            <a:tailEnd/>
          </a:ln>
        </p:spPr>
        <p:txBody>
          <a:bodyPr wrap="none">
            <a:spAutoFit/>
          </a:bodyPr>
          <a:lstStyle/>
          <a:p>
            <a:r>
              <a:rPr lang="en-GB" sz="1600"/>
              <a:t>Ossicles</a:t>
            </a:r>
          </a:p>
        </p:txBody>
      </p:sp>
      <p:sp>
        <p:nvSpPr>
          <p:cNvPr id="1031" name="Line 7"/>
          <p:cNvSpPr>
            <a:spLocks noChangeShapeType="1"/>
          </p:cNvSpPr>
          <p:nvPr/>
        </p:nvSpPr>
        <p:spPr bwMode="auto">
          <a:xfrm flipH="1">
            <a:off x="5634038" y="2468563"/>
            <a:ext cx="344487" cy="977900"/>
          </a:xfrm>
          <a:prstGeom prst="line">
            <a:avLst/>
          </a:prstGeom>
          <a:noFill/>
          <a:ln w="19050">
            <a:solidFill>
              <a:schemeClr val="tx1"/>
            </a:solidFill>
            <a:round/>
            <a:headEnd/>
            <a:tailEnd type="triangle" w="med" len="med"/>
          </a:ln>
        </p:spPr>
        <p:txBody>
          <a:bodyPr anchor="ctr">
            <a:spAutoFit/>
          </a:bodyPr>
          <a:lstStyle/>
          <a:p>
            <a:endParaRPr lang="en-GB"/>
          </a:p>
        </p:txBody>
      </p:sp>
      <p:sp>
        <p:nvSpPr>
          <p:cNvPr id="1032" name="Text Box 8"/>
          <p:cNvSpPr txBox="1">
            <a:spLocks noChangeArrowheads="1"/>
          </p:cNvSpPr>
          <p:nvPr/>
        </p:nvSpPr>
        <p:spPr bwMode="auto">
          <a:xfrm>
            <a:off x="6835775" y="1465263"/>
            <a:ext cx="1655763" cy="336550"/>
          </a:xfrm>
          <a:prstGeom prst="rect">
            <a:avLst/>
          </a:prstGeom>
          <a:noFill/>
          <a:ln w="9525">
            <a:noFill/>
            <a:miter lim="800000"/>
            <a:headEnd/>
            <a:tailEnd/>
          </a:ln>
        </p:spPr>
        <p:txBody>
          <a:bodyPr wrap="none">
            <a:spAutoFit/>
          </a:bodyPr>
          <a:lstStyle/>
          <a:p>
            <a:r>
              <a:rPr lang="en-GB" sz="1600"/>
              <a:t>Auditory Nerve</a:t>
            </a:r>
          </a:p>
        </p:txBody>
      </p:sp>
      <p:sp>
        <p:nvSpPr>
          <p:cNvPr id="1033" name="Line 9"/>
          <p:cNvSpPr>
            <a:spLocks noChangeShapeType="1"/>
          </p:cNvSpPr>
          <p:nvPr/>
        </p:nvSpPr>
        <p:spPr bwMode="auto">
          <a:xfrm>
            <a:off x="7340600" y="1851025"/>
            <a:ext cx="125413" cy="1016000"/>
          </a:xfrm>
          <a:prstGeom prst="line">
            <a:avLst/>
          </a:prstGeom>
          <a:noFill/>
          <a:ln w="19050">
            <a:solidFill>
              <a:schemeClr val="tx1"/>
            </a:solidFill>
            <a:round/>
            <a:headEnd/>
            <a:tailEnd type="triangle" w="med" len="med"/>
          </a:ln>
        </p:spPr>
        <p:txBody>
          <a:bodyPr anchor="ctr">
            <a:spAutoFit/>
          </a:bodyPr>
          <a:lstStyle/>
          <a:p>
            <a:endParaRPr lang="en-GB"/>
          </a:p>
        </p:txBody>
      </p:sp>
      <p:sp>
        <p:nvSpPr>
          <p:cNvPr id="1034" name="Text Box 10"/>
          <p:cNvSpPr txBox="1">
            <a:spLocks noChangeArrowheads="1"/>
          </p:cNvSpPr>
          <p:nvPr/>
        </p:nvSpPr>
        <p:spPr bwMode="auto">
          <a:xfrm>
            <a:off x="8178800" y="4086225"/>
            <a:ext cx="965200" cy="336550"/>
          </a:xfrm>
          <a:prstGeom prst="rect">
            <a:avLst/>
          </a:prstGeom>
          <a:noFill/>
          <a:ln w="9525">
            <a:noFill/>
            <a:miter lim="800000"/>
            <a:headEnd/>
            <a:tailEnd/>
          </a:ln>
        </p:spPr>
        <p:txBody>
          <a:bodyPr wrap="none">
            <a:spAutoFit/>
          </a:bodyPr>
          <a:lstStyle/>
          <a:p>
            <a:r>
              <a:rPr lang="en-GB" sz="1600"/>
              <a:t>Cochlea</a:t>
            </a:r>
          </a:p>
        </p:txBody>
      </p:sp>
      <p:sp>
        <p:nvSpPr>
          <p:cNvPr id="1035" name="Line 11"/>
          <p:cNvSpPr>
            <a:spLocks noChangeShapeType="1"/>
          </p:cNvSpPr>
          <p:nvPr/>
        </p:nvSpPr>
        <p:spPr bwMode="auto">
          <a:xfrm flipH="1" flipV="1">
            <a:off x="7158038" y="3744913"/>
            <a:ext cx="1011237" cy="344487"/>
          </a:xfrm>
          <a:prstGeom prst="line">
            <a:avLst/>
          </a:prstGeom>
          <a:noFill/>
          <a:ln w="19050">
            <a:solidFill>
              <a:schemeClr val="tx1"/>
            </a:solidFill>
            <a:round/>
            <a:headEnd/>
            <a:tailEnd type="triangle" w="med" len="med"/>
          </a:ln>
        </p:spPr>
        <p:txBody>
          <a:bodyPr anchor="ctr">
            <a:spAutoFit/>
          </a:bodyPr>
          <a:lstStyle/>
          <a:p>
            <a:endParaRPr lang="en-GB"/>
          </a:p>
        </p:txBody>
      </p:sp>
      <p:sp>
        <p:nvSpPr>
          <p:cNvPr id="1036" name="Text Box 12"/>
          <p:cNvSpPr txBox="1">
            <a:spLocks noChangeArrowheads="1"/>
          </p:cNvSpPr>
          <p:nvPr/>
        </p:nvSpPr>
        <p:spPr bwMode="auto">
          <a:xfrm>
            <a:off x="4887913" y="5319713"/>
            <a:ext cx="2244725" cy="336550"/>
          </a:xfrm>
          <a:prstGeom prst="rect">
            <a:avLst/>
          </a:prstGeom>
          <a:noFill/>
          <a:ln w="9525">
            <a:noFill/>
            <a:miter lim="800000"/>
            <a:headEnd/>
            <a:tailEnd/>
          </a:ln>
        </p:spPr>
        <p:txBody>
          <a:bodyPr wrap="none">
            <a:spAutoFit/>
          </a:bodyPr>
          <a:lstStyle/>
          <a:p>
            <a:r>
              <a:rPr lang="en-GB" sz="1600"/>
              <a:t>Tympanic Membrane</a:t>
            </a:r>
          </a:p>
        </p:txBody>
      </p:sp>
      <p:sp>
        <p:nvSpPr>
          <p:cNvPr id="1037" name="Line 13"/>
          <p:cNvSpPr>
            <a:spLocks noChangeShapeType="1"/>
          </p:cNvSpPr>
          <p:nvPr/>
        </p:nvSpPr>
        <p:spPr bwMode="auto">
          <a:xfrm flipH="1" flipV="1">
            <a:off x="5599113" y="3905250"/>
            <a:ext cx="7937" cy="1335088"/>
          </a:xfrm>
          <a:prstGeom prst="line">
            <a:avLst/>
          </a:prstGeom>
          <a:noFill/>
          <a:ln w="19050">
            <a:solidFill>
              <a:schemeClr val="tx1"/>
            </a:solidFill>
            <a:round/>
            <a:headEnd/>
            <a:tailEnd type="triangle" w="med" len="med"/>
          </a:ln>
        </p:spPr>
        <p:txBody>
          <a:bodyPr anchor="ctr">
            <a:spAutoFit/>
          </a:bodyPr>
          <a:lstStyle/>
          <a:p>
            <a:endParaRPr lang="en-GB"/>
          </a:p>
        </p:txBody>
      </p:sp>
      <p:sp>
        <p:nvSpPr>
          <p:cNvPr id="1038" name="Rectangle 14"/>
          <p:cNvSpPr>
            <a:spLocks noChangeArrowheads="1"/>
          </p:cNvSpPr>
          <p:nvPr/>
        </p:nvSpPr>
        <p:spPr bwMode="auto">
          <a:xfrm>
            <a:off x="395288" y="1139516"/>
            <a:ext cx="4572000" cy="825500"/>
          </a:xfrm>
          <a:prstGeom prst="rect">
            <a:avLst/>
          </a:prstGeom>
          <a:noFill/>
          <a:ln w="9525">
            <a:noFill/>
            <a:miter lim="800000"/>
            <a:headEnd/>
            <a:tailEnd/>
          </a:ln>
        </p:spPr>
        <p:txBody>
          <a:bodyPr>
            <a:spAutoFit/>
          </a:bodyPr>
          <a:lstStyle/>
          <a:p>
            <a:r>
              <a:rPr lang="en-GB" sz="1600" b="1"/>
              <a:t>Auditory Canal</a:t>
            </a:r>
          </a:p>
          <a:p>
            <a:pPr>
              <a:buFontTx/>
              <a:buChar char="•"/>
            </a:pPr>
            <a:r>
              <a:rPr lang="en-GB" sz="1600"/>
              <a:t>acts as a closed tube resonator</a:t>
            </a:r>
          </a:p>
          <a:p>
            <a:pPr>
              <a:buFontTx/>
              <a:buChar char="•"/>
            </a:pPr>
            <a:r>
              <a:rPr lang="en-GB" sz="1600"/>
              <a:t>enhances sounds in the range 2-5 KHz</a:t>
            </a:r>
          </a:p>
        </p:txBody>
      </p:sp>
      <p:sp>
        <p:nvSpPr>
          <p:cNvPr id="1039" name="Rectangle 15"/>
          <p:cNvSpPr>
            <a:spLocks noChangeArrowheads="1"/>
          </p:cNvSpPr>
          <p:nvPr/>
        </p:nvSpPr>
        <p:spPr bwMode="auto">
          <a:xfrm>
            <a:off x="611188" y="5568950"/>
            <a:ext cx="5233987" cy="1069975"/>
          </a:xfrm>
          <a:prstGeom prst="rect">
            <a:avLst/>
          </a:prstGeom>
          <a:noFill/>
          <a:ln w="9525">
            <a:noFill/>
            <a:miter lim="800000"/>
            <a:headEnd/>
            <a:tailEnd/>
          </a:ln>
        </p:spPr>
        <p:txBody>
          <a:bodyPr>
            <a:spAutoFit/>
          </a:bodyPr>
          <a:lstStyle/>
          <a:p>
            <a:r>
              <a:rPr lang="en-GB" sz="1600" b="1"/>
              <a:t>Pinna</a:t>
            </a:r>
          </a:p>
          <a:p>
            <a:pPr>
              <a:buFontTx/>
              <a:buChar char="•"/>
            </a:pPr>
            <a:r>
              <a:rPr lang="en-GB" sz="1600"/>
              <a:t>presents larger area to received sound energy</a:t>
            </a:r>
          </a:p>
          <a:p>
            <a:pPr>
              <a:buFontTx/>
              <a:buChar char="•"/>
            </a:pPr>
            <a:r>
              <a:rPr lang="en-GB" sz="1600"/>
              <a:t>“collects” sound – like a preamplifier</a:t>
            </a:r>
          </a:p>
          <a:p>
            <a:endParaRPr lang="en-GB" sz="1600"/>
          </a:p>
        </p:txBody>
      </p:sp>
      <p:sp>
        <p:nvSpPr>
          <p:cNvPr id="1040" name="Line 16"/>
          <p:cNvSpPr>
            <a:spLocks noChangeShapeType="1"/>
          </p:cNvSpPr>
          <p:nvPr/>
        </p:nvSpPr>
        <p:spPr bwMode="auto">
          <a:xfrm flipV="1">
            <a:off x="1458913" y="4029075"/>
            <a:ext cx="1901825" cy="1581150"/>
          </a:xfrm>
          <a:prstGeom prst="line">
            <a:avLst/>
          </a:prstGeom>
          <a:noFill/>
          <a:ln w="19050">
            <a:solidFill>
              <a:schemeClr val="tx1"/>
            </a:solidFill>
            <a:round/>
            <a:headEnd/>
            <a:tailEnd type="triangle" w="med" len="med"/>
          </a:ln>
        </p:spPr>
        <p:txBody>
          <a:bodyPr anchor="ctr">
            <a:spAutoFit/>
          </a:bodyPr>
          <a:lstStyle/>
          <a:p>
            <a:endParaRPr lang="en-GB"/>
          </a:p>
        </p:txBody>
      </p:sp>
      <p:sp>
        <p:nvSpPr>
          <p:cNvPr id="1041" name="Text Box 17"/>
          <p:cNvSpPr txBox="1">
            <a:spLocks noChangeArrowheads="1"/>
          </p:cNvSpPr>
          <p:nvPr/>
        </p:nvSpPr>
        <p:spPr bwMode="auto">
          <a:xfrm>
            <a:off x="5840413" y="4922838"/>
            <a:ext cx="847725" cy="336550"/>
          </a:xfrm>
          <a:prstGeom prst="rect">
            <a:avLst/>
          </a:prstGeom>
          <a:noFill/>
          <a:ln w="9525">
            <a:noFill/>
            <a:miter lim="800000"/>
            <a:headEnd/>
            <a:tailEnd/>
          </a:ln>
        </p:spPr>
        <p:txBody>
          <a:bodyPr wrap="none">
            <a:spAutoFit/>
          </a:bodyPr>
          <a:lstStyle/>
          <a:p>
            <a:r>
              <a:rPr lang="en-GB" sz="1600"/>
              <a:t>Stirrup</a:t>
            </a:r>
          </a:p>
        </p:txBody>
      </p:sp>
      <p:sp>
        <p:nvSpPr>
          <p:cNvPr id="1042" name="Line 18"/>
          <p:cNvSpPr>
            <a:spLocks noChangeShapeType="1"/>
          </p:cNvSpPr>
          <p:nvPr/>
        </p:nvSpPr>
        <p:spPr bwMode="auto">
          <a:xfrm flipH="1" flipV="1">
            <a:off x="6007100" y="3694113"/>
            <a:ext cx="95250" cy="1247775"/>
          </a:xfrm>
          <a:prstGeom prst="line">
            <a:avLst/>
          </a:prstGeom>
          <a:noFill/>
          <a:ln w="19050">
            <a:solidFill>
              <a:schemeClr val="tx1"/>
            </a:solidFill>
            <a:round/>
            <a:headEnd/>
            <a:tailEnd type="triangle" w="med" len="med"/>
          </a:ln>
        </p:spPr>
        <p:txBody>
          <a:bodyPr anchor="ctr">
            <a:spAutoFit/>
          </a:bodyPr>
          <a:lstStyle/>
          <a:p>
            <a:endParaRPr lang="en-GB"/>
          </a:p>
        </p:txBody>
      </p:sp>
      <p:grpSp>
        <p:nvGrpSpPr>
          <p:cNvPr id="1043" name="Group 19"/>
          <p:cNvGrpSpPr>
            <a:grpSpLocks/>
          </p:cNvGrpSpPr>
          <p:nvPr/>
        </p:nvGrpSpPr>
        <p:grpSpPr bwMode="auto">
          <a:xfrm>
            <a:off x="0" y="3140075"/>
            <a:ext cx="2162175" cy="1300163"/>
            <a:chOff x="0" y="1978"/>
            <a:chExt cx="1362" cy="819"/>
          </a:xfrm>
        </p:grpSpPr>
        <p:sp>
          <p:nvSpPr>
            <p:cNvPr id="1045" name="AutoShape 20"/>
            <p:cNvSpPr>
              <a:spLocks noChangeArrowheads="1"/>
            </p:cNvSpPr>
            <p:nvPr/>
          </p:nvSpPr>
          <p:spPr bwMode="auto">
            <a:xfrm>
              <a:off x="0" y="1978"/>
              <a:ext cx="1362" cy="819"/>
            </a:xfrm>
            <a:prstGeom prst="rightArrow">
              <a:avLst>
                <a:gd name="adj1" fmla="val 61028"/>
                <a:gd name="adj2" fmla="val 70270"/>
              </a:avLst>
            </a:prstGeom>
            <a:solidFill>
              <a:srgbClr val="FFCC66"/>
            </a:solidFill>
            <a:ln w="9525">
              <a:solidFill>
                <a:srgbClr val="800000"/>
              </a:solidFill>
              <a:miter lim="800000"/>
              <a:headEnd/>
              <a:tailEnd/>
            </a:ln>
          </p:spPr>
          <p:txBody>
            <a:bodyPr anchor="ctr">
              <a:spAutoFit/>
            </a:bodyPr>
            <a:lstStyle/>
            <a:p>
              <a:endParaRPr lang="en-US"/>
            </a:p>
          </p:txBody>
        </p:sp>
        <p:sp>
          <p:nvSpPr>
            <p:cNvPr id="1046" name="Freeform 21"/>
            <p:cNvSpPr>
              <a:spLocks/>
            </p:cNvSpPr>
            <p:nvPr/>
          </p:nvSpPr>
          <p:spPr bwMode="auto">
            <a:xfrm>
              <a:off x="138" y="2215"/>
              <a:ext cx="153" cy="320"/>
            </a:xfrm>
            <a:custGeom>
              <a:avLst/>
              <a:gdLst>
                <a:gd name="T0" fmla="*/ 0 w 3942"/>
                <a:gd name="T1" fmla="*/ 0 h 650"/>
                <a:gd name="T2" fmla="*/ 0 w 3942"/>
                <a:gd name="T3" fmla="*/ 0 h 650"/>
                <a:gd name="T4" fmla="*/ 0 w 3942"/>
                <a:gd name="T5" fmla="*/ 0 h 650"/>
                <a:gd name="T6" fmla="*/ 0 w 3942"/>
                <a:gd name="T7" fmla="*/ 0 h 650"/>
                <a:gd name="T8" fmla="*/ 0 w 3942"/>
                <a:gd name="T9" fmla="*/ 0 h 650"/>
                <a:gd name="T10" fmla="*/ 0 w 3942"/>
                <a:gd name="T11" fmla="*/ 0 h 650"/>
                <a:gd name="T12" fmla="*/ 0 w 3942"/>
                <a:gd name="T13" fmla="*/ 0 h 650"/>
                <a:gd name="T14" fmla="*/ 0 w 3942"/>
                <a:gd name="T15" fmla="*/ 0 h 650"/>
                <a:gd name="T16" fmla="*/ 0 w 3942"/>
                <a:gd name="T17" fmla="*/ 0 h 650"/>
                <a:gd name="T18" fmla="*/ 0 w 3942"/>
                <a:gd name="T19" fmla="*/ 0 h 650"/>
                <a:gd name="T20" fmla="*/ 0 w 3942"/>
                <a:gd name="T21" fmla="*/ 0 h 6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42"/>
                <a:gd name="T34" fmla="*/ 0 h 650"/>
                <a:gd name="T35" fmla="*/ 3942 w 3942"/>
                <a:gd name="T36" fmla="*/ 650 h 6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42" h="650">
                  <a:moveTo>
                    <a:pt x="0" y="325"/>
                  </a:moveTo>
                  <a:cubicBezTo>
                    <a:pt x="161" y="162"/>
                    <a:pt x="322" y="0"/>
                    <a:pt x="482" y="0"/>
                  </a:cubicBezTo>
                  <a:cubicBezTo>
                    <a:pt x="643" y="0"/>
                    <a:pt x="805" y="216"/>
                    <a:pt x="966" y="325"/>
                  </a:cubicBezTo>
                  <a:cubicBezTo>
                    <a:pt x="1126" y="434"/>
                    <a:pt x="1288" y="650"/>
                    <a:pt x="1448" y="650"/>
                  </a:cubicBezTo>
                  <a:cubicBezTo>
                    <a:pt x="1609" y="650"/>
                    <a:pt x="1770" y="434"/>
                    <a:pt x="1931" y="325"/>
                  </a:cubicBezTo>
                  <a:cubicBezTo>
                    <a:pt x="2091" y="216"/>
                    <a:pt x="2254" y="0"/>
                    <a:pt x="2414" y="0"/>
                  </a:cubicBezTo>
                  <a:cubicBezTo>
                    <a:pt x="2575" y="0"/>
                    <a:pt x="2736" y="216"/>
                    <a:pt x="2897" y="325"/>
                  </a:cubicBezTo>
                  <a:cubicBezTo>
                    <a:pt x="3057" y="434"/>
                    <a:pt x="3219" y="650"/>
                    <a:pt x="3379" y="650"/>
                  </a:cubicBezTo>
                  <a:cubicBezTo>
                    <a:pt x="3540" y="650"/>
                    <a:pt x="3784" y="381"/>
                    <a:pt x="3863" y="325"/>
                  </a:cubicBezTo>
                  <a:cubicBezTo>
                    <a:pt x="3942" y="269"/>
                    <a:pt x="3853" y="315"/>
                    <a:pt x="3851" y="316"/>
                  </a:cubicBezTo>
                  <a:cubicBezTo>
                    <a:pt x="3849" y="317"/>
                    <a:pt x="3851" y="328"/>
                    <a:pt x="3851" y="331"/>
                  </a:cubicBezTo>
                </a:path>
              </a:pathLst>
            </a:custGeom>
            <a:noFill/>
            <a:ln w="28575" cmpd="sng">
              <a:solidFill>
                <a:srgbClr val="990000"/>
              </a:solidFill>
              <a:round/>
              <a:headEnd/>
              <a:tailEnd/>
            </a:ln>
          </p:spPr>
          <p:txBody>
            <a:bodyPr/>
            <a:lstStyle/>
            <a:p>
              <a:endParaRPr lang="en-GB"/>
            </a:p>
          </p:txBody>
        </p:sp>
        <p:sp>
          <p:nvSpPr>
            <p:cNvPr id="1047" name="Freeform 22"/>
            <p:cNvSpPr>
              <a:spLocks/>
            </p:cNvSpPr>
            <p:nvPr/>
          </p:nvSpPr>
          <p:spPr bwMode="auto">
            <a:xfrm>
              <a:off x="291" y="2215"/>
              <a:ext cx="152" cy="320"/>
            </a:xfrm>
            <a:custGeom>
              <a:avLst/>
              <a:gdLst>
                <a:gd name="T0" fmla="*/ 0 w 3942"/>
                <a:gd name="T1" fmla="*/ 0 h 650"/>
                <a:gd name="T2" fmla="*/ 0 w 3942"/>
                <a:gd name="T3" fmla="*/ 0 h 650"/>
                <a:gd name="T4" fmla="*/ 0 w 3942"/>
                <a:gd name="T5" fmla="*/ 0 h 650"/>
                <a:gd name="T6" fmla="*/ 0 w 3942"/>
                <a:gd name="T7" fmla="*/ 0 h 650"/>
                <a:gd name="T8" fmla="*/ 0 w 3942"/>
                <a:gd name="T9" fmla="*/ 0 h 650"/>
                <a:gd name="T10" fmla="*/ 0 w 3942"/>
                <a:gd name="T11" fmla="*/ 0 h 650"/>
                <a:gd name="T12" fmla="*/ 0 w 3942"/>
                <a:gd name="T13" fmla="*/ 0 h 650"/>
                <a:gd name="T14" fmla="*/ 0 w 3942"/>
                <a:gd name="T15" fmla="*/ 0 h 650"/>
                <a:gd name="T16" fmla="*/ 0 w 3942"/>
                <a:gd name="T17" fmla="*/ 0 h 650"/>
                <a:gd name="T18" fmla="*/ 0 w 3942"/>
                <a:gd name="T19" fmla="*/ 0 h 650"/>
                <a:gd name="T20" fmla="*/ 0 w 3942"/>
                <a:gd name="T21" fmla="*/ 0 h 6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42"/>
                <a:gd name="T34" fmla="*/ 0 h 650"/>
                <a:gd name="T35" fmla="*/ 3942 w 3942"/>
                <a:gd name="T36" fmla="*/ 650 h 6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42" h="650">
                  <a:moveTo>
                    <a:pt x="0" y="325"/>
                  </a:moveTo>
                  <a:cubicBezTo>
                    <a:pt x="161" y="162"/>
                    <a:pt x="322" y="0"/>
                    <a:pt x="482" y="0"/>
                  </a:cubicBezTo>
                  <a:cubicBezTo>
                    <a:pt x="643" y="0"/>
                    <a:pt x="805" y="216"/>
                    <a:pt x="966" y="325"/>
                  </a:cubicBezTo>
                  <a:cubicBezTo>
                    <a:pt x="1126" y="434"/>
                    <a:pt x="1288" y="650"/>
                    <a:pt x="1448" y="650"/>
                  </a:cubicBezTo>
                  <a:cubicBezTo>
                    <a:pt x="1609" y="650"/>
                    <a:pt x="1770" y="434"/>
                    <a:pt x="1931" y="325"/>
                  </a:cubicBezTo>
                  <a:cubicBezTo>
                    <a:pt x="2091" y="216"/>
                    <a:pt x="2254" y="0"/>
                    <a:pt x="2414" y="0"/>
                  </a:cubicBezTo>
                  <a:cubicBezTo>
                    <a:pt x="2575" y="0"/>
                    <a:pt x="2736" y="216"/>
                    <a:pt x="2897" y="325"/>
                  </a:cubicBezTo>
                  <a:cubicBezTo>
                    <a:pt x="3057" y="434"/>
                    <a:pt x="3219" y="650"/>
                    <a:pt x="3379" y="650"/>
                  </a:cubicBezTo>
                  <a:cubicBezTo>
                    <a:pt x="3540" y="650"/>
                    <a:pt x="3784" y="381"/>
                    <a:pt x="3863" y="325"/>
                  </a:cubicBezTo>
                  <a:cubicBezTo>
                    <a:pt x="3942" y="269"/>
                    <a:pt x="3853" y="315"/>
                    <a:pt x="3851" y="316"/>
                  </a:cubicBezTo>
                  <a:cubicBezTo>
                    <a:pt x="3849" y="317"/>
                    <a:pt x="3851" y="328"/>
                    <a:pt x="3851" y="331"/>
                  </a:cubicBezTo>
                </a:path>
              </a:pathLst>
            </a:custGeom>
            <a:noFill/>
            <a:ln w="28575" cmpd="sng">
              <a:solidFill>
                <a:srgbClr val="990000"/>
              </a:solidFill>
              <a:round/>
              <a:headEnd/>
              <a:tailEnd/>
            </a:ln>
          </p:spPr>
          <p:txBody>
            <a:bodyPr/>
            <a:lstStyle/>
            <a:p>
              <a:endParaRPr lang="en-GB"/>
            </a:p>
          </p:txBody>
        </p:sp>
        <p:sp>
          <p:nvSpPr>
            <p:cNvPr id="1048" name="Freeform 23"/>
            <p:cNvSpPr>
              <a:spLocks/>
            </p:cNvSpPr>
            <p:nvPr/>
          </p:nvSpPr>
          <p:spPr bwMode="auto">
            <a:xfrm>
              <a:off x="450" y="2216"/>
              <a:ext cx="580" cy="320"/>
            </a:xfrm>
            <a:custGeom>
              <a:avLst/>
              <a:gdLst>
                <a:gd name="T0" fmla="*/ 0 w 3942"/>
                <a:gd name="T1" fmla="*/ 0 h 650"/>
                <a:gd name="T2" fmla="*/ 0 w 3942"/>
                <a:gd name="T3" fmla="*/ 0 h 650"/>
                <a:gd name="T4" fmla="*/ 0 w 3942"/>
                <a:gd name="T5" fmla="*/ 0 h 650"/>
                <a:gd name="T6" fmla="*/ 0 w 3942"/>
                <a:gd name="T7" fmla="*/ 0 h 650"/>
                <a:gd name="T8" fmla="*/ 0 w 3942"/>
                <a:gd name="T9" fmla="*/ 0 h 650"/>
                <a:gd name="T10" fmla="*/ 0 w 3942"/>
                <a:gd name="T11" fmla="*/ 0 h 650"/>
                <a:gd name="T12" fmla="*/ 0 w 3942"/>
                <a:gd name="T13" fmla="*/ 0 h 650"/>
                <a:gd name="T14" fmla="*/ 0 w 3942"/>
                <a:gd name="T15" fmla="*/ 0 h 650"/>
                <a:gd name="T16" fmla="*/ 0 w 3942"/>
                <a:gd name="T17" fmla="*/ 0 h 650"/>
                <a:gd name="T18" fmla="*/ 0 w 3942"/>
                <a:gd name="T19" fmla="*/ 0 h 650"/>
                <a:gd name="T20" fmla="*/ 0 w 3942"/>
                <a:gd name="T21" fmla="*/ 0 h 6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42"/>
                <a:gd name="T34" fmla="*/ 0 h 650"/>
                <a:gd name="T35" fmla="*/ 3942 w 3942"/>
                <a:gd name="T36" fmla="*/ 650 h 6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42" h="650">
                  <a:moveTo>
                    <a:pt x="0" y="325"/>
                  </a:moveTo>
                  <a:cubicBezTo>
                    <a:pt x="161" y="162"/>
                    <a:pt x="322" y="0"/>
                    <a:pt x="482" y="0"/>
                  </a:cubicBezTo>
                  <a:cubicBezTo>
                    <a:pt x="643" y="0"/>
                    <a:pt x="805" y="216"/>
                    <a:pt x="966" y="325"/>
                  </a:cubicBezTo>
                  <a:cubicBezTo>
                    <a:pt x="1126" y="434"/>
                    <a:pt x="1288" y="650"/>
                    <a:pt x="1448" y="650"/>
                  </a:cubicBezTo>
                  <a:cubicBezTo>
                    <a:pt x="1609" y="650"/>
                    <a:pt x="1770" y="434"/>
                    <a:pt x="1931" y="325"/>
                  </a:cubicBezTo>
                  <a:cubicBezTo>
                    <a:pt x="2091" y="216"/>
                    <a:pt x="2254" y="0"/>
                    <a:pt x="2414" y="0"/>
                  </a:cubicBezTo>
                  <a:cubicBezTo>
                    <a:pt x="2575" y="0"/>
                    <a:pt x="2736" y="216"/>
                    <a:pt x="2897" y="325"/>
                  </a:cubicBezTo>
                  <a:cubicBezTo>
                    <a:pt x="3057" y="434"/>
                    <a:pt x="3219" y="650"/>
                    <a:pt x="3379" y="650"/>
                  </a:cubicBezTo>
                  <a:cubicBezTo>
                    <a:pt x="3540" y="650"/>
                    <a:pt x="3784" y="381"/>
                    <a:pt x="3863" y="325"/>
                  </a:cubicBezTo>
                  <a:cubicBezTo>
                    <a:pt x="3942" y="269"/>
                    <a:pt x="3853" y="315"/>
                    <a:pt x="3851" y="316"/>
                  </a:cubicBezTo>
                  <a:cubicBezTo>
                    <a:pt x="3849" y="317"/>
                    <a:pt x="3851" y="328"/>
                    <a:pt x="3851" y="331"/>
                  </a:cubicBezTo>
                </a:path>
              </a:pathLst>
            </a:custGeom>
            <a:noFill/>
            <a:ln w="28575" cmpd="sng">
              <a:solidFill>
                <a:srgbClr val="000066"/>
              </a:solidFill>
              <a:round/>
              <a:headEnd/>
              <a:tailEnd/>
            </a:ln>
          </p:spPr>
          <p:txBody>
            <a:bodyPr/>
            <a:lstStyle/>
            <a:p>
              <a:endParaRPr lang="en-GB"/>
            </a:p>
          </p:txBody>
        </p:sp>
      </p:grpSp>
      <p:sp>
        <p:nvSpPr>
          <p:cNvPr id="1044" name="Text Box 24"/>
          <p:cNvSpPr txBox="1">
            <a:spLocks noChangeArrowheads="1"/>
          </p:cNvSpPr>
          <p:nvPr/>
        </p:nvSpPr>
        <p:spPr bwMode="auto">
          <a:xfrm>
            <a:off x="0" y="4421188"/>
            <a:ext cx="2460625" cy="336550"/>
          </a:xfrm>
          <a:prstGeom prst="rect">
            <a:avLst/>
          </a:prstGeom>
          <a:noFill/>
          <a:ln w="9525" algn="ctr">
            <a:noFill/>
            <a:miter lim="800000"/>
            <a:headEnd/>
            <a:tailEnd/>
          </a:ln>
        </p:spPr>
        <p:txBody>
          <a:bodyPr wrap="none">
            <a:spAutoFit/>
          </a:bodyPr>
          <a:lstStyle/>
          <a:p>
            <a:r>
              <a:rPr lang="en-GB" sz="1600"/>
              <a:t>low + high frequencies</a:t>
            </a:r>
            <a:endParaRPr lang="en-US" sz="1600"/>
          </a:p>
        </p:txBody>
      </p:sp>
    </p:spTree>
    <p:extLst>
      <p:ext uri="{BB962C8B-B14F-4D97-AF65-F5344CB8AC3E}">
        <p14:creationId xmlns:p14="http://schemas.microsoft.com/office/powerpoint/2010/main" val="403826270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2" cstate="print"/>
          <a:srcRect/>
          <a:stretch>
            <a:fillRect/>
          </a:stretch>
        </p:blipFill>
        <p:spPr bwMode="auto">
          <a:xfrm>
            <a:off x="395288" y="908177"/>
            <a:ext cx="2546350" cy="3286125"/>
          </a:xfrm>
          <a:prstGeom prst="rect">
            <a:avLst/>
          </a:prstGeom>
          <a:noFill/>
          <a:ln w="9525">
            <a:noFill/>
            <a:miter lim="800000"/>
            <a:headEnd/>
            <a:tailEnd/>
          </a:ln>
        </p:spPr>
      </p:pic>
      <p:sp>
        <p:nvSpPr>
          <p:cNvPr id="11267" name="Rectangle 3"/>
          <p:cNvSpPr>
            <a:spLocks noChangeArrowheads="1"/>
          </p:cNvSpPr>
          <p:nvPr/>
        </p:nvSpPr>
        <p:spPr bwMode="auto">
          <a:xfrm>
            <a:off x="3458545" y="1925679"/>
            <a:ext cx="2513377" cy="338554"/>
          </a:xfrm>
          <a:prstGeom prst="rect">
            <a:avLst/>
          </a:prstGeom>
          <a:noFill/>
          <a:ln w="9525">
            <a:noFill/>
            <a:miter lim="800000"/>
            <a:headEnd/>
            <a:tailEnd/>
          </a:ln>
        </p:spPr>
        <p:txBody>
          <a:bodyPr wrap="square">
            <a:spAutoFit/>
          </a:bodyPr>
          <a:lstStyle/>
          <a:p>
            <a:pPr marL="185738" indent="-185738"/>
            <a:r>
              <a:rPr lang="en-GB" sz="1600" b="1" dirty="0"/>
              <a:t>High frequency sounds</a:t>
            </a:r>
            <a:r>
              <a:rPr lang="en-GB" sz="1600" dirty="0"/>
              <a:t> </a:t>
            </a:r>
          </a:p>
        </p:txBody>
      </p:sp>
      <p:sp>
        <p:nvSpPr>
          <p:cNvPr id="11268" name="Rectangle 4"/>
          <p:cNvSpPr>
            <a:spLocks noChangeArrowheads="1"/>
          </p:cNvSpPr>
          <p:nvPr/>
        </p:nvSpPr>
        <p:spPr bwMode="auto">
          <a:xfrm>
            <a:off x="368871" y="350341"/>
            <a:ext cx="6280887" cy="461665"/>
          </a:xfrm>
          <a:prstGeom prst="rect">
            <a:avLst/>
          </a:prstGeom>
          <a:noFill/>
          <a:ln w="9525">
            <a:noFill/>
            <a:miter lim="800000"/>
            <a:headEnd/>
            <a:tailEnd/>
          </a:ln>
        </p:spPr>
        <p:txBody>
          <a:bodyPr wrap="none">
            <a:spAutoFit/>
          </a:bodyPr>
          <a:lstStyle/>
          <a:p>
            <a:r>
              <a:rPr lang="en-GB" sz="2400" b="1" dirty="0"/>
              <a:t>The Physiology of Hearing – The Cochlea</a:t>
            </a:r>
          </a:p>
        </p:txBody>
      </p:sp>
      <p:sp>
        <p:nvSpPr>
          <p:cNvPr id="11269" name="Rectangle 5"/>
          <p:cNvSpPr>
            <a:spLocks noChangeArrowheads="1"/>
          </p:cNvSpPr>
          <p:nvPr/>
        </p:nvSpPr>
        <p:spPr bwMode="auto">
          <a:xfrm>
            <a:off x="6651653" y="3000080"/>
            <a:ext cx="2223791" cy="1077218"/>
          </a:xfrm>
          <a:prstGeom prst="rect">
            <a:avLst/>
          </a:prstGeom>
          <a:noFill/>
          <a:ln w="9525">
            <a:noFill/>
            <a:miter lim="800000"/>
            <a:headEnd/>
            <a:tailEnd/>
          </a:ln>
        </p:spPr>
        <p:txBody>
          <a:bodyPr wrap="square">
            <a:spAutoFit/>
          </a:bodyPr>
          <a:lstStyle/>
          <a:p>
            <a:r>
              <a:rPr lang="en-GB" sz="1600" dirty="0"/>
              <a:t>schematic view - unroll the cochlea - distribution of sensitive hair cells</a:t>
            </a:r>
          </a:p>
        </p:txBody>
      </p:sp>
      <p:grpSp>
        <p:nvGrpSpPr>
          <p:cNvPr id="11270" name="Group 6"/>
          <p:cNvGrpSpPr>
            <a:grpSpLocks/>
          </p:cNvGrpSpPr>
          <p:nvPr/>
        </p:nvGrpSpPr>
        <p:grpSpPr bwMode="auto">
          <a:xfrm>
            <a:off x="1482725" y="4624388"/>
            <a:ext cx="5691188" cy="1303337"/>
            <a:chOff x="934" y="2913"/>
            <a:chExt cx="3585" cy="821"/>
          </a:xfrm>
        </p:grpSpPr>
        <p:sp>
          <p:nvSpPr>
            <p:cNvPr id="115719" name="AutoShape 7"/>
            <p:cNvSpPr>
              <a:spLocks noChangeArrowheads="1"/>
            </p:cNvSpPr>
            <p:nvPr/>
          </p:nvSpPr>
          <p:spPr bwMode="auto">
            <a:xfrm rot="-5400000">
              <a:off x="2364" y="1491"/>
              <a:ext cx="709" cy="3570"/>
            </a:xfrm>
            <a:prstGeom prst="can">
              <a:avLst>
                <a:gd name="adj" fmla="val 125882"/>
              </a:avLst>
            </a:prstGeom>
            <a:gradFill rotWithShape="0">
              <a:gsLst>
                <a:gs pos="0">
                  <a:schemeClr val="hlink"/>
                </a:gs>
                <a:gs pos="50000">
                  <a:schemeClr val="bg2"/>
                </a:gs>
                <a:gs pos="100000">
                  <a:schemeClr val="hlink"/>
                </a:gs>
              </a:gsLst>
              <a:lin ang="5400000" scaled="1"/>
            </a:gradFill>
            <a:ln w="9525">
              <a:noFill/>
              <a:round/>
              <a:headEnd/>
              <a:tailEnd/>
            </a:ln>
            <a:effectLst/>
          </p:spPr>
          <p:txBody>
            <a:bodyPr anchor="ctr">
              <a:spAutoFit/>
            </a:bodyPr>
            <a:lstStyle/>
            <a:p>
              <a:pPr>
                <a:defRPr/>
              </a:pPr>
              <a:endParaRPr lang="en-GB"/>
            </a:p>
          </p:txBody>
        </p:sp>
        <p:sp>
          <p:nvSpPr>
            <p:cNvPr id="11299" name="Oval 8"/>
            <p:cNvSpPr>
              <a:spLocks noChangeArrowheads="1"/>
            </p:cNvSpPr>
            <p:nvPr/>
          </p:nvSpPr>
          <p:spPr bwMode="auto">
            <a:xfrm>
              <a:off x="935" y="2913"/>
              <a:ext cx="889" cy="694"/>
            </a:xfrm>
            <a:prstGeom prst="ellipse">
              <a:avLst/>
            </a:prstGeom>
            <a:gradFill rotWithShape="0">
              <a:gsLst>
                <a:gs pos="0">
                  <a:schemeClr val="accent2"/>
                </a:gs>
                <a:gs pos="100000">
                  <a:schemeClr val="tx2"/>
                </a:gs>
              </a:gsLst>
              <a:lin ang="0" scaled="1"/>
            </a:gradFill>
            <a:ln w="9525">
              <a:noFill/>
              <a:round/>
              <a:headEnd/>
              <a:tailEnd/>
            </a:ln>
          </p:spPr>
          <p:txBody>
            <a:bodyPr anchor="ctr">
              <a:spAutoFit/>
            </a:bodyPr>
            <a:lstStyle/>
            <a:p>
              <a:endParaRPr lang="en-US"/>
            </a:p>
          </p:txBody>
        </p:sp>
        <p:sp>
          <p:nvSpPr>
            <p:cNvPr id="11300" name="Line 9"/>
            <p:cNvSpPr>
              <a:spLocks noChangeShapeType="1"/>
            </p:cNvSpPr>
            <p:nvPr/>
          </p:nvSpPr>
          <p:spPr bwMode="auto">
            <a:xfrm>
              <a:off x="1753" y="3554"/>
              <a:ext cx="2728" cy="0"/>
            </a:xfrm>
            <a:prstGeom prst="line">
              <a:avLst/>
            </a:prstGeom>
            <a:noFill/>
            <a:ln w="9525">
              <a:solidFill>
                <a:schemeClr val="tx1"/>
              </a:solidFill>
              <a:round/>
              <a:headEnd/>
              <a:tailEnd/>
            </a:ln>
          </p:spPr>
          <p:txBody>
            <a:bodyPr wrap="none" anchor="ctr">
              <a:spAutoFit/>
            </a:bodyPr>
            <a:lstStyle/>
            <a:p>
              <a:endParaRPr lang="en-GB"/>
            </a:p>
          </p:txBody>
        </p:sp>
        <p:grpSp>
          <p:nvGrpSpPr>
            <p:cNvPr id="11301" name="Group 10"/>
            <p:cNvGrpSpPr>
              <a:grpSpLocks/>
            </p:cNvGrpSpPr>
            <p:nvPr/>
          </p:nvGrpSpPr>
          <p:grpSpPr bwMode="auto">
            <a:xfrm>
              <a:off x="1886" y="3421"/>
              <a:ext cx="47" cy="281"/>
              <a:chOff x="1886" y="3421"/>
              <a:chExt cx="47" cy="281"/>
            </a:xfrm>
          </p:grpSpPr>
          <p:sp>
            <p:nvSpPr>
              <p:cNvPr id="11392" name="Rectangle 11"/>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1393" name="Line 12"/>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1302" name="Group 13"/>
            <p:cNvGrpSpPr>
              <a:grpSpLocks/>
            </p:cNvGrpSpPr>
            <p:nvPr/>
          </p:nvGrpSpPr>
          <p:grpSpPr bwMode="auto">
            <a:xfrm>
              <a:off x="1971" y="3421"/>
              <a:ext cx="47" cy="281"/>
              <a:chOff x="1886" y="3421"/>
              <a:chExt cx="47" cy="281"/>
            </a:xfrm>
          </p:grpSpPr>
          <p:sp>
            <p:nvSpPr>
              <p:cNvPr id="11390" name="Rectangle 14"/>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1391" name="Line 15"/>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1303" name="Group 16"/>
            <p:cNvGrpSpPr>
              <a:grpSpLocks/>
            </p:cNvGrpSpPr>
            <p:nvPr/>
          </p:nvGrpSpPr>
          <p:grpSpPr bwMode="auto">
            <a:xfrm>
              <a:off x="2057" y="3429"/>
              <a:ext cx="47" cy="281"/>
              <a:chOff x="1886" y="3421"/>
              <a:chExt cx="47" cy="281"/>
            </a:xfrm>
          </p:grpSpPr>
          <p:sp>
            <p:nvSpPr>
              <p:cNvPr id="11388" name="Rectangle 17"/>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1389" name="Line 18"/>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1304" name="Group 19"/>
            <p:cNvGrpSpPr>
              <a:grpSpLocks/>
            </p:cNvGrpSpPr>
            <p:nvPr/>
          </p:nvGrpSpPr>
          <p:grpSpPr bwMode="auto">
            <a:xfrm>
              <a:off x="2143" y="3421"/>
              <a:ext cx="47" cy="281"/>
              <a:chOff x="1886" y="3421"/>
              <a:chExt cx="47" cy="281"/>
            </a:xfrm>
          </p:grpSpPr>
          <p:sp>
            <p:nvSpPr>
              <p:cNvPr id="11386" name="Rectangle 20"/>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1387" name="Line 21"/>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1305" name="Group 22"/>
            <p:cNvGrpSpPr>
              <a:grpSpLocks/>
            </p:cNvGrpSpPr>
            <p:nvPr/>
          </p:nvGrpSpPr>
          <p:grpSpPr bwMode="auto">
            <a:xfrm>
              <a:off x="2236" y="3429"/>
              <a:ext cx="47" cy="281"/>
              <a:chOff x="1886" y="3421"/>
              <a:chExt cx="47" cy="281"/>
            </a:xfrm>
          </p:grpSpPr>
          <p:sp>
            <p:nvSpPr>
              <p:cNvPr id="11384" name="Rectangle 23"/>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1385" name="Line 24"/>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1306" name="Group 25"/>
            <p:cNvGrpSpPr>
              <a:grpSpLocks/>
            </p:cNvGrpSpPr>
            <p:nvPr/>
          </p:nvGrpSpPr>
          <p:grpSpPr bwMode="auto">
            <a:xfrm>
              <a:off x="2321" y="3429"/>
              <a:ext cx="47" cy="281"/>
              <a:chOff x="1886" y="3421"/>
              <a:chExt cx="47" cy="281"/>
            </a:xfrm>
          </p:grpSpPr>
          <p:sp>
            <p:nvSpPr>
              <p:cNvPr id="11382" name="Rectangle 26"/>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1383" name="Line 27"/>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1307" name="Group 28"/>
            <p:cNvGrpSpPr>
              <a:grpSpLocks/>
            </p:cNvGrpSpPr>
            <p:nvPr/>
          </p:nvGrpSpPr>
          <p:grpSpPr bwMode="auto">
            <a:xfrm>
              <a:off x="2407" y="3437"/>
              <a:ext cx="47" cy="281"/>
              <a:chOff x="1886" y="3421"/>
              <a:chExt cx="47" cy="281"/>
            </a:xfrm>
          </p:grpSpPr>
          <p:sp>
            <p:nvSpPr>
              <p:cNvPr id="11380" name="Rectangle 29"/>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1381" name="Line 30"/>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1308" name="Group 31"/>
            <p:cNvGrpSpPr>
              <a:grpSpLocks/>
            </p:cNvGrpSpPr>
            <p:nvPr/>
          </p:nvGrpSpPr>
          <p:grpSpPr bwMode="auto">
            <a:xfrm>
              <a:off x="2493" y="3429"/>
              <a:ext cx="47" cy="281"/>
              <a:chOff x="1886" y="3421"/>
              <a:chExt cx="47" cy="281"/>
            </a:xfrm>
          </p:grpSpPr>
          <p:sp>
            <p:nvSpPr>
              <p:cNvPr id="11378" name="Rectangle 32"/>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1379" name="Line 33"/>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1309" name="Group 34"/>
            <p:cNvGrpSpPr>
              <a:grpSpLocks/>
            </p:cNvGrpSpPr>
            <p:nvPr/>
          </p:nvGrpSpPr>
          <p:grpSpPr bwMode="auto">
            <a:xfrm>
              <a:off x="2580" y="3429"/>
              <a:ext cx="47" cy="281"/>
              <a:chOff x="1886" y="3421"/>
              <a:chExt cx="47" cy="281"/>
            </a:xfrm>
          </p:grpSpPr>
          <p:sp>
            <p:nvSpPr>
              <p:cNvPr id="11376" name="Rectangle 35"/>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1377" name="Line 36"/>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1310" name="Group 37"/>
            <p:cNvGrpSpPr>
              <a:grpSpLocks/>
            </p:cNvGrpSpPr>
            <p:nvPr/>
          </p:nvGrpSpPr>
          <p:grpSpPr bwMode="auto">
            <a:xfrm>
              <a:off x="2665" y="3429"/>
              <a:ext cx="47" cy="281"/>
              <a:chOff x="1886" y="3421"/>
              <a:chExt cx="47" cy="281"/>
            </a:xfrm>
          </p:grpSpPr>
          <p:sp>
            <p:nvSpPr>
              <p:cNvPr id="11374" name="Rectangle 38"/>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1375" name="Line 39"/>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1311" name="Group 40"/>
            <p:cNvGrpSpPr>
              <a:grpSpLocks/>
            </p:cNvGrpSpPr>
            <p:nvPr/>
          </p:nvGrpSpPr>
          <p:grpSpPr bwMode="auto">
            <a:xfrm>
              <a:off x="2751" y="3437"/>
              <a:ext cx="47" cy="281"/>
              <a:chOff x="1886" y="3421"/>
              <a:chExt cx="47" cy="281"/>
            </a:xfrm>
          </p:grpSpPr>
          <p:sp>
            <p:nvSpPr>
              <p:cNvPr id="11372" name="Rectangle 41"/>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1373" name="Line 42"/>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1312" name="Group 43"/>
            <p:cNvGrpSpPr>
              <a:grpSpLocks/>
            </p:cNvGrpSpPr>
            <p:nvPr/>
          </p:nvGrpSpPr>
          <p:grpSpPr bwMode="auto">
            <a:xfrm>
              <a:off x="2837" y="3429"/>
              <a:ext cx="47" cy="281"/>
              <a:chOff x="1886" y="3421"/>
              <a:chExt cx="47" cy="281"/>
            </a:xfrm>
          </p:grpSpPr>
          <p:sp>
            <p:nvSpPr>
              <p:cNvPr id="11370" name="Rectangle 44"/>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1371" name="Line 45"/>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1313" name="Group 46"/>
            <p:cNvGrpSpPr>
              <a:grpSpLocks/>
            </p:cNvGrpSpPr>
            <p:nvPr/>
          </p:nvGrpSpPr>
          <p:grpSpPr bwMode="auto">
            <a:xfrm>
              <a:off x="2930" y="3437"/>
              <a:ext cx="47" cy="281"/>
              <a:chOff x="1886" y="3421"/>
              <a:chExt cx="47" cy="281"/>
            </a:xfrm>
          </p:grpSpPr>
          <p:sp>
            <p:nvSpPr>
              <p:cNvPr id="11368" name="Rectangle 47"/>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1369" name="Line 48"/>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1314" name="Group 49"/>
            <p:cNvGrpSpPr>
              <a:grpSpLocks/>
            </p:cNvGrpSpPr>
            <p:nvPr/>
          </p:nvGrpSpPr>
          <p:grpSpPr bwMode="auto">
            <a:xfrm>
              <a:off x="3015" y="3437"/>
              <a:ext cx="47" cy="281"/>
              <a:chOff x="1886" y="3421"/>
              <a:chExt cx="47" cy="281"/>
            </a:xfrm>
          </p:grpSpPr>
          <p:sp>
            <p:nvSpPr>
              <p:cNvPr id="11366" name="Rectangle 50"/>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1367" name="Line 51"/>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1315" name="Group 52"/>
            <p:cNvGrpSpPr>
              <a:grpSpLocks/>
            </p:cNvGrpSpPr>
            <p:nvPr/>
          </p:nvGrpSpPr>
          <p:grpSpPr bwMode="auto">
            <a:xfrm>
              <a:off x="3101" y="3445"/>
              <a:ext cx="47" cy="281"/>
              <a:chOff x="1886" y="3421"/>
              <a:chExt cx="47" cy="281"/>
            </a:xfrm>
          </p:grpSpPr>
          <p:sp>
            <p:nvSpPr>
              <p:cNvPr id="11364" name="Rectangle 53"/>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1365" name="Line 54"/>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1316" name="Group 55"/>
            <p:cNvGrpSpPr>
              <a:grpSpLocks/>
            </p:cNvGrpSpPr>
            <p:nvPr/>
          </p:nvGrpSpPr>
          <p:grpSpPr bwMode="auto">
            <a:xfrm>
              <a:off x="3187" y="3437"/>
              <a:ext cx="47" cy="281"/>
              <a:chOff x="1886" y="3421"/>
              <a:chExt cx="47" cy="281"/>
            </a:xfrm>
          </p:grpSpPr>
          <p:sp>
            <p:nvSpPr>
              <p:cNvPr id="11362" name="Rectangle 56"/>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1363" name="Line 57"/>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1317" name="Group 58"/>
            <p:cNvGrpSpPr>
              <a:grpSpLocks/>
            </p:cNvGrpSpPr>
            <p:nvPr/>
          </p:nvGrpSpPr>
          <p:grpSpPr bwMode="auto">
            <a:xfrm>
              <a:off x="3265" y="3437"/>
              <a:ext cx="47" cy="281"/>
              <a:chOff x="1886" y="3421"/>
              <a:chExt cx="47" cy="281"/>
            </a:xfrm>
          </p:grpSpPr>
          <p:sp>
            <p:nvSpPr>
              <p:cNvPr id="11360" name="Rectangle 59"/>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1361" name="Line 60"/>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1318" name="Group 61"/>
            <p:cNvGrpSpPr>
              <a:grpSpLocks/>
            </p:cNvGrpSpPr>
            <p:nvPr/>
          </p:nvGrpSpPr>
          <p:grpSpPr bwMode="auto">
            <a:xfrm>
              <a:off x="3350" y="3437"/>
              <a:ext cx="47" cy="281"/>
              <a:chOff x="1886" y="3421"/>
              <a:chExt cx="47" cy="281"/>
            </a:xfrm>
          </p:grpSpPr>
          <p:sp>
            <p:nvSpPr>
              <p:cNvPr id="11358" name="Rectangle 62"/>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1359" name="Line 63"/>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1319" name="Group 64"/>
            <p:cNvGrpSpPr>
              <a:grpSpLocks/>
            </p:cNvGrpSpPr>
            <p:nvPr/>
          </p:nvGrpSpPr>
          <p:grpSpPr bwMode="auto">
            <a:xfrm>
              <a:off x="3436" y="3445"/>
              <a:ext cx="47" cy="281"/>
              <a:chOff x="1886" y="3421"/>
              <a:chExt cx="47" cy="281"/>
            </a:xfrm>
          </p:grpSpPr>
          <p:sp>
            <p:nvSpPr>
              <p:cNvPr id="11356" name="Rectangle 65"/>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1357" name="Line 66"/>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1320" name="Group 67"/>
            <p:cNvGrpSpPr>
              <a:grpSpLocks/>
            </p:cNvGrpSpPr>
            <p:nvPr/>
          </p:nvGrpSpPr>
          <p:grpSpPr bwMode="auto">
            <a:xfrm>
              <a:off x="3522" y="3437"/>
              <a:ext cx="47" cy="281"/>
              <a:chOff x="1886" y="3421"/>
              <a:chExt cx="47" cy="281"/>
            </a:xfrm>
          </p:grpSpPr>
          <p:sp>
            <p:nvSpPr>
              <p:cNvPr id="11354" name="Rectangle 68"/>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1355" name="Line 69"/>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1321" name="Group 70"/>
            <p:cNvGrpSpPr>
              <a:grpSpLocks/>
            </p:cNvGrpSpPr>
            <p:nvPr/>
          </p:nvGrpSpPr>
          <p:grpSpPr bwMode="auto">
            <a:xfrm>
              <a:off x="3615" y="3445"/>
              <a:ext cx="47" cy="281"/>
              <a:chOff x="1886" y="3421"/>
              <a:chExt cx="47" cy="281"/>
            </a:xfrm>
          </p:grpSpPr>
          <p:sp>
            <p:nvSpPr>
              <p:cNvPr id="11352" name="Rectangle 71"/>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1353" name="Line 72"/>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1322" name="Group 73"/>
            <p:cNvGrpSpPr>
              <a:grpSpLocks/>
            </p:cNvGrpSpPr>
            <p:nvPr/>
          </p:nvGrpSpPr>
          <p:grpSpPr bwMode="auto">
            <a:xfrm>
              <a:off x="3700" y="3445"/>
              <a:ext cx="47" cy="281"/>
              <a:chOff x="1886" y="3421"/>
              <a:chExt cx="47" cy="281"/>
            </a:xfrm>
          </p:grpSpPr>
          <p:sp>
            <p:nvSpPr>
              <p:cNvPr id="11350" name="Rectangle 74"/>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1351" name="Line 75"/>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1323" name="Group 76"/>
            <p:cNvGrpSpPr>
              <a:grpSpLocks/>
            </p:cNvGrpSpPr>
            <p:nvPr/>
          </p:nvGrpSpPr>
          <p:grpSpPr bwMode="auto">
            <a:xfrm>
              <a:off x="3786" y="3453"/>
              <a:ext cx="47" cy="281"/>
              <a:chOff x="1886" y="3421"/>
              <a:chExt cx="47" cy="281"/>
            </a:xfrm>
          </p:grpSpPr>
          <p:sp>
            <p:nvSpPr>
              <p:cNvPr id="11348" name="Rectangle 77"/>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1349" name="Line 78"/>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1324" name="Group 79"/>
            <p:cNvGrpSpPr>
              <a:grpSpLocks/>
            </p:cNvGrpSpPr>
            <p:nvPr/>
          </p:nvGrpSpPr>
          <p:grpSpPr bwMode="auto">
            <a:xfrm>
              <a:off x="3872" y="3445"/>
              <a:ext cx="47" cy="281"/>
              <a:chOff x="1886" y="3421"/>
              <a:chExt cx="47" cy="281"/>
            </a:xfrm>
          </p:grpSpPr>
          <p:sp>
            <p:nvSpPr>
              <p:cNvPr id="11346" name="Rectangle 80"/>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1347" name="Line 81"/>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1325" name="Group 82"/>
            <p:cNvGrpSpPr>
              <a:grpSpLocks/>
            </p:cNvGrpSpPr>
            <p:nvPr/>
          </p:nvGrpSpPr>
          <p:grpSpPr bwMode="auto">
            <a:xfrm>
              <a:off x="3950" y="3422"/>
              <a:ext cx="47" cy="281"/>
              <a:chOff x="1886" y="3421"/>
              <a:chExt cx="47" cy="281"/>
            </a:xfrm>
          </p:grpSpPr>
          <p:sp>
            <p:nvSpPr>
              <p:cNvPr id="11344" name="Rectangle 83"/>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1345" name="Line 84"/>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1326" name="Group 85"/>
            <p:cNvGrpSpPr>
              <a:grpSpLocks/>
            </p:cNvGrpSpPr>
            <p:nvPr/>
          </p:nvGrpSpPr>
          <p:grpSpPr bwMode="auto">
            <a:xfrm>
              <a:off x="4036" y="3430"/>
              <a:ext cx="47" cy="281"/>
              <a:chOff x="1886" y="3421"/>
              <a:chExt cx="47" cy="281"/>
            </a:xfrm>
          </p:grpSpPr>
          <p:sp>
            <p:nvSpPr>
              <p:cNvPr id="11342" name="Rectangle 86"/>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1343" name="Line 87"/>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1327" name="Group 88"/>
            <p:cNvGrpSpPr>
              <a:grpSpLocks/>
            </p:cNvGrpSpPr>
            <p:nvPr/>
          </p:nvGrpSpPr>
          <p:grpSpPr bwMode="auto">
            <a:xfrm>
              <a:off x="4122" y="3422"/>
              <a:ext cx="47" cy="281"/>
              <a:chOff x="1886" y="3421"/>
              <a:chExt cx="47" cy="281"/>
            </a:xfrm>
          </p:grpSpPr>
          <p:sp>
            <p:nvSpPr>
              <p:cNvPr id="11340" name="Rectangle 89"/>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1341" name="Line 90"/>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1328" name="Group 91"/>
            <p:cNvGrpSpPr>
              <a:grpSpLocks/>
            </p:cNvGrpSpPr>
            <p:nvPr/>
          </p:nvGrpSpPr>
          <p:grpSpPr bwMode="auto">
            <a:xfrm>
              <a:off x="4215" y="3430"/>
              <a:ext cx="47" cy="281"/>
              <a:chOff x="1886" y="3421"/>
              <a:chExt cx="47" cy="281"/>
            </a:xfrm>
          </p:grpSpPr>
          <p:sp>
            <p:nvSpPr>
              <p:cNvPr id="11338" name="Rectangle 92"/>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1339" name="Line 93"/>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1329" name="Group 94"/>
            <p:cNvGrpSpPr>
              <a:grpSpLocks/>
            </p:cNvGrpSpPr>
            <p:nvPr/>
          </p:nvGrpSpPr>
          <p:grpSpPr bwMode="auto">
            <a:xfrm>
              <a:off x="4300" y="3430"/>
              <a:ext cx="47" cy="281"/>
              <a:chOff x="1886" y="3421"/>
              <a:chExt cx="47" cy="281"/>
            </a:xfrm>
          </p:grpSpPr>
          <p:sp>
            <p:nvSpPr>
              <p:cNvPr id="11336" name="Rectangle 95"/>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1337" name="Line 96"/>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1330" name="Group 97"/>
            <p:cNvGrpSpPr>
              <a:grpSpLocks/>
            </p:cNvGrpSpPr>
            <p:nvPr/>
          </p:nvGrpSpPr>
          <p:grpSpPr bwMode="auto">
            <a:xfrm>
              <a:off x="4386" y="3438"/>
              <a:ext cx="47" cy="281"/>
              <a:chOff x="1886" y="3421"/>
              <a:chExt cx="47" cy="281"/>
            </a:xfrm>
          </p:grpSpPr>
          <p:sp>
            <p:nvSpPr>
              <p:cNvPr id="11334" name="Rectangle 98"/>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1335" name="Line 99"/>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1331" name="Group 100"/>
            <p:cNvGrpSpPr>
              <a:grpSpLocks/>
            </p:cNvGrpSpPr>
            <p:nvPr/>
          </p:nvGrpSpPr>
          <p:grpSpPr bwMode="auto">
            <a:xfrm>
              <a:off x="4472" y="3430"/>
              <a:ext cx="47" cy="281"/>
              <a:chOff x="1886" y="3421"/>
              <a:chExt cx="47" cy="281"/>
            </a:xfrm>
          </p:grpSpPr>
          <p:sp>
            <p:nvSpPr>
              <p:cNvPr id="11332" name="Rectangle 101"/>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1333" name="Line 102"/>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grpSp>
        <p:nvGrpSpPr>
          <p:cNvPr id="11271" name="Group 103"/>
          <p:cNvGrpSpPr>
            <a:grpSpLocks/>
          </p:cNvGrpSpPr>
          <p:nvPr/>
        </p:nvGrpSpPr>
        <p:grpSpPr bwMode="auto">
          <a:xfrm>
            <a:off x="3016250" y="5018088"/>
            <a:ext cx="669925" cy="363537"/>
            <a:chOff x="1533" y="2808"/>
            <a:chExt cx="609" cy="229"/>
          </a:xfrm>
        </p:grpSpPr>
        <p:sp>
          <p:nvSpPr>
            <p:cNvPr id="11295" name="Freeform 104"/>
            <p:cNvSpPr>
              <a:spLocks/>
            </p:cNvSpPr>
            <p:nvPr/>
          </p:nvSpPr>
          <p:spPr bwMode="auto">
            <a:xfrm>
              <a:off x="1533" y="2808"/>
              <a:ext cx="203" cy="229"/>
            </a:xfrm>
            <a:custGeom>
              <a:avLst/>
              <a:gdLst>
                <a:gd name="T0" fmla="*/ 0 w 3942"/>
                <a:gd name="T1" fmla="*/ 0 h 650"/>
                <a:gd name="T2" fmla="*/ 0 w 3942"/>
                <a:gd name="T3" fmla="*/ 0 h 650"/>
                <a:gd name="T4" fmla="*/ 0 w 3942"/>
                <a:gd name="T5" fmla="*/ 0 h 650"/>
                <a:gd name="T6" fmla="*/ 0 w 3942"/>
                <a:gd name="T7" fmla="*/ 0 h 650"/>
                <a:gd name="T8" fmla="*/ 0 w 3942"/>
                <a:gd name="T9" fmla="*/ 0 h 650"/>
                <a:gd name="T10" fmla="*/ 0 w 3942"/>
                <a:gd name="T11" fmla="*/ 0 h 650"/>
                <a:gd name="T12" fmla="*/ 0 w 3942"/>
                <a:gd name="T13" fmla="*/ 0 h 650"/>
                <a:gd name="T14" fmla="*/ 0 w 3942"/>
                <a:gd name="T15" fmla="*/ 0 h 650"/>
                <a:gd name="T16" fmla="*/ 0 w 3942"/>
                <a:gd name="T17" fmla="*/ 0 h 650"/>
                <a:gd name="T18" fmla="*/ 0 w 3942"/>
                <a:gd name="T19" fmla="*/ 0 h 650"/>
                <a:gd name="T20" fmla="*/ 0 w 3942"/>
                <a:gd name="T21" fmla="*/ 0 h 6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42"/>
                <a:gd name="T34" fmla="*/ 0 h 650"/>
                <a:gd name="T35" fmla="*/ 3942 w 3942"/>
                <a:gd name="T36" fmla="*/ 650 h 6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42" h="650">
                  <a:moveTo>
                    <a:pt x="0" y="325"/>
                  </a:moveTo>
                  <a:cubicBezTo>
                    <a:pt x="161" y="162"/>
                    <a:pt x="322" y="0"/>
                    <a:pt x="482" y="0"/>
                  </a:cubicBezTo>
                  <a:cubicBezTo>
                    <a:pt x="643" y="0"/>
                    <a:pt x="805" y="216"/>
                    <a:pt x="966" y="325"/>
                  </a:cubicBezTo>
                  <a:cubicBezTo>
                    <a:pt x="1126" y="434"/>
                    <a:pt x="1288" y="650"/>
                    <a:pt x="1448" y="650"/>
                  </a:cubicBezTo>
                  <a:cubicBezTo>
                    <a:pt x="1609" y="650"/>
                    <a:pt x="1770" y="434"/>
                    <a:pt x="1931" y="325"/>
                  </a:cubicBezTo>
                  <a:cubicBezTo>
                    <a:pt x="2091" y="216"/>
                    <a:pt x="2254" y="0"/>
                    <a:pt x="2414" y="0"/>
                  </a:cubicBezTo>
                  <a:cubicBezTo>
                    <a:pt x="2575" y="0"/>
                    <a:pt x="2736" y="216"/>
                    <a:pt x="2897" y="325"/>
                  </a:cubicBezTo>
                  <a:cubicBezTo>
                    <a:pt x="3057" y="434"/>
                    <a:pt x="3219" y="650"/>
                    <a:pt x="3379" y="650"/>
                  </a:cubicBezTo>
                  <a:cubicBezTo>
                    <a:pt x="3540" y="650"/>
                    <a:pt x="3784" y="381"/>
                    <a:pt x="3863" y="325"/>
                  </a:cubicBezTo>
                  <a:cubicBezTo>
                    <a:pt x="3942" y="269"/>
                    <a:pt x="3853" y="315"/>
                    <a:pt x="3851" y="316"/>
                  </a:cubicBezTo>
                  <a:cubicBezTo>
                    <a:pt x="3849" y="317"/>
                    <a:pt x="3851" y="328"/>
                    <a:pt x="3851" y="331"/>
                  </a:cubicBezTo>
                </a:path>
              </a:pathLst>
            </a:custGeom>
            <a:noFill/>
            <a:ln w="28575" cmpd="sng">
              <a:solidFill>
                <a:srgbClr val="990000"/>
              </a:solidFill>
              <a:round/>
              <a:headEnd/>
              <a:tailEnd/>
            </a:ln>
          </p:spPr>
          <p:txBody>
            <a:bodyPr/>
            <a:lstStyle/>
            <a:p>
              <a:endParaRPr lang="en-GB"/>
            </a:p>
          </p:txBody>
        </p:sp>
        <p:sp>
          <p:nvSpPr>
            <p:cNvPr id="11296" name="Freeform 105"/>
            <p:cNvSpPr>
              <a:spLocks/>
            </p:cNvSpPr>
            <p:nvPr/>
          </p:nvSpPr>
          <p:spPr bwMode="auto">
            <a:xfrm>
              <a:off x="1736" y="2808"/>
              <a:ext cx="203" cy="229"/>
            </a:xfrm>
            <a:custGeom>
              <a:avLst/>
              <a:gdLst>
                <a:gd name="T0" fmla="*/ 0 w 3942"/>
                <a:gd name="T1" fmla="*/ 0 h 650"/>
                <a:gd name="T2" fmla="*/ 0 w 3942"/>
                <a:gd name="T3" fmla="*/ 0 h 650"/>
                <a:gd name="T4" fmla="*/ 0 w 3942"/>
                <a:gd name="T5" fmla="*/ 0 h 650"/>
                <a:gd name="T6" fmla="*/ 0 w 3942"/>
                <a:gd name="T7" fmla="*/ 0 h 650"/>
                <a:gd name="T8" fmla="*/ 0 w 3942"/>
                <a:gd name="T9" fmla="*/ 0 h 650"/>
                <a:gd name="T10" fmla="*/ 0 w 3942"/>
                <a:gd name="T11" fmla="*/ 0 h 650"/>
                <a:gd name="T12" fmla="*/ 0 w 3942"/>
                <a:gd name="T13" fmla="*/ 0 h 650"/>
                <a:gd name="T14" fmla="*/ 0 w 3942"/>
                <a:gd name="T15" fmla="*/ 0 h 650"/>
                <a:gd name="T16" fmla="*/ 0 w 3942"/>
                <a:gd name="T17" fmla="*/ 0 h 650"/>
                <a:gd name="T18" fmla="*/ 0 w 3942"/>
                <a:gd name="T19" fmla="*/ 0 h 650"/>
                <a:gd name="T20" fmla="*/ 0 w 3942"/>
                <a:gd name="T21" fmla="*/ 0 h 6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42"/>
                <a:gd name="T34" fmla="*/ 0 h 650"/>
                <a:gd name="T35" fmla="*/ 3942 w 3942"/>
                <a:gd name="T36" fmla="*/ 650 h 6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42" h="650">
                  <a:moveTo>
                    <a:pt x="0" y="325"/>
                  </a:moveTo>
                  <a:cubicBezTo>
                    <a:pt x="161" y="162"/>
                    <a:pt x="322" y="0"/>
                    <a:pt x="482" y="0"/>
                  </a:cubicBezTo>
                  <a:cubicBezTo>
                    <a:pt x="643" y="0"/>
                    <a:pt x="805" y="216"/>
                    <a:pt x="966" y="325"/>
                  </a:cubicBezTo>
                  <a:cubicBezTo>
                    <a:pt x="1126" y="434"/>
                    <a:pt x="1288" y="650"/>
                    <a:pt x="1448" y="650"/>
                  </a:cubicBezTo>
                  <a:cubicBezTo>
                    <a:pt x="1609" y="650"/>
                    <a:pt x="1770" y="434"/>
                    <a:pt x="1931" y="325"/>
                  </a:cubicBezTo>
                  <a:cubicBezTo>
                    <a:pt x="2091" y="216"/>
                    <a:pt x="2254" y="0"/>
                    <a:pt x="2414" y="0"/>
                  </a:cubicBezTo>
                  <a:cubicBezTo>
                    <a:pt x="2575" y="0"/>
                    <a:pt x="2736" y="216"/>
                    <a:pt x="2897" y="325"/>
                  </a:cubicBezTo>
                  <a:cubicBezTo>
                    <a:pt x="3057" y="434"/>
                    <a:pt x="3219" y="650"/>
                    <a:pt x="3379" y="650"/>
                  </a:cubicBezTo>
                  <a:cubicBezTo>
                    <a:pt x="3540" y="650"/>
                    <a:pt x="3784" y="381"/>
                    <a:pt x="3863" y="325"/>
                  </a:cubicBezTo>
                  <a:cubicBezTo>
                    <a:pt x="3942" y="269"/>
                    <a:pt x="3853" y="315"/>
                    <a:pt x="3851" y="316"/>
                  </a:cubicBezTo>
                  <a:cubicBezTo>
                    <a:pt x="3849" y="317"/>
                    <a:pt x="3851" y="328"/>
                    <a:pt x="3851" y="331"/>
                  </a:cubicBezTo>
                </a:path>
              </a:pathLst>
            </a:custGeom>
            <a:noFill/>
            <a:ln w="28575" cmpd="sng">
              <a:solidFill>
                <a:srgbClr val="990000"/>
              </a:solidFill>
              <a:round/>
              <a:headEnd/>
              <a:tailEnd/>
            </a:ln>
          </p:spPr>
          <p:txBody>
            <a:bodyPr/>
            <a:lstStyle/>
            <a:p>
              <a:endParaRPr lang="en-GB"/>
            </a:p>
          </p:txBody>
        </p:sp>
        <p:sp>
          <p:nvSpPr>
            <p:cNvPr id="11297" name="Freeform 106"/>
            <p:cNvSpPr>
              <a:spLocks/>
            </p:cNvSpPr>
            <p:nvPr/>
          </p:nvSpPr>
          <p:spPr bwMode="auto">
            <a:xfrm>
              <a:off x="1939" y="2808"/>
              <a:ext cx="203" cy="229"/>
            </a:xfrm>
            <a:custGeom>
              <a:avLst/>
              <a:gdLst>
                <a:gd name="T0" fmla="*/ 0 w 3942"/>
                <a:gd name="T1" fmla="*/ 0 h 650"/>
                <a:gd name="T2" fmla="*/ 0 w 3942"/>
                <a:gd name="T3" fmla="*/ 0 h 650"/>
                <a:gd name="T4" fmla="*/ 0 w 3942"/>
                <a:gd name="T5" fmla="*/ 0 h 650"/>
                <a:gd name="T6" fmla="*/ 0 w 3942"/>
                <a:gd name="T7" fmla="*/ 0 h 650"/>
                <a:gd name="T8" fmla="*/ 0 w 3942"/>
                <a:gd name="T9" fmla="*/ 0 h 650"/>
                <a:gd name="T10" fmla="*/ 0 w 3942"/>
                <a:gd name="T11" fmla="*/ 0 h 650"/>
                <a:gd name="T12" fmla="*/ 0 w 3942"/>
                <a:gd name="T13" fmla="*/ 0 h 650"/>
                <a:gd name="T14" fmla="*/ 0 w 3942"/>
                <a:gd name="T15" fmla="*/ 0 h 650"/>
                <a:gd name="T16" fmla="*/ 0 w 3942"/>
                <a:gd name="T17" fmla="*/ 0 h 650"/>
                <a:gd name="T18" fmla="*/ 0 w 3942"/>
                <a:gd name="T19" fmla="*/ 0 h 650"/>
                <a:gd name="T20" fmla="*/ 0 w 3942"/>
                <a:gd name="T21" fmla="*/ 0 h 6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42"/>
                <a:gd name="T34" fmla="*/ 0 h 650"/>
                <a:gd name="T35" fmla="*/ 3942 w 3942"/>
                <a:gd name="T36" fmla="*/ 650 h 6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42" h="650">
                  <a:moveTo>
                    <a:pt x="0" y="325"/>
                  </a:moveTo>
                  <a:cubicBezTo>
                    <a:pt x="161" y="162"/>
                    <a:pt x="322" y="0"/>
                    <a:pt x="482" y="0"/>
                  </a:cubicBezTo>
                  <a:cubicBezTo>
                    <a:pt x="643" y="0"/>
                    <a:pt x="805" y="216"/>
                    <a:pt x="966" y="325"/>
                  </a:cubicBezTo>
                  <a:cubicBezTo>
                    <a:pt x="1126" y="434"/>
                    <a:pt x="1288" y="650"/>
                    <a:pt x="1448" y="650"/>
                  </a:cubicBezTo>
                  <a:cubicBezTo>
                    <a:pt x="1609" y="650"/>
                    <a:pt x="1770" y="434"/>
                    <a:pt x="1931" y="325"/>
                  </a:cubicBezTo>
                  <a:cubicBezTo>
                    <a:pt x="2091" y="216"/>
                    <a:pt x="2254" y="0"/>
                    <a:pt x="2414" y="0"/>
                  </a:cubicBezTo>
                  <a:cubicBezTo>
                    <a:pt x="2575" y="0"/>
                    <a:pt x="2736" y="216"/>
                    <a:pt x="2897" y="325"/>
                  </a:cubicBezTo>
                  <a:cubicBezTo>
                    <a:pt x="3057" y="434"/>
                    <a:pt x="3219" y="650"/>
                    <a:pt x="3379" y="650"/>
                  </a:cubicBezTo>
                  <a:cubicBezTo>
                    <a:pt x="3540" y="650"/>
                    <a:pt x="3784" y="381"/>
                    <a:pt x="3863" y="325"/>
                  </a:cubicBezTo>
                  <a:cubicBezTo>
                    <a:pt x="3942" y="269"/>
                    <a:pt x="3853" y="315"/>
                    <a:pt x="3851" y="316"/>
                  </a:cubicBezTo>
                  <a:cubicBezTo>
                    <a:pt x="3849" y="317"/>
                    <a:pt x="3851" y="328"/>
                    <a:pt x="3851" y="331"/>
                  </a:cubicBezTo>
                </a:path>
              </a:pathLst>
            </a:custGeom>
            <a:noFill/>
            <a:ln w="28575" cmpd="sng">
              <a:solidFill>
                <a:srgbClr val="990000"/>
              </a:solidFill>
              <a:round/>
              <a:headEnd/>
              <a:tailEnd/>
            </a:ln>
          </p:spPr>
          <p:txBody>
            <a:bodyPr/>
            <a:lstStyle/>
            <a:p>
              <a:endParaRPr lang="en-GB"/>
            </a:p>
          </p:txBody>
        </p:sp>
      </p:grpSp>
      <p:sp>
        <p:nvSpPr>
          <p:cNvPr id="11272" name="Freeform 107"/>
          <p:cNvSpPr>
            <a:spLocks/>
          </p:cNvSpPr>
          <p:nvPr/>
        </p:nvSpPr>
        <p:spPr bwMode="auto">
          <a:xfrm>
            <a:off x="6324600" y="5054600"/>
            <a:ext cx="847725" cy="363538"/>
          </a:xfrm>
          <a:custGeom>
            <a:avLst/>
            <a:gdLst>
              <a:gd name="T0" fmla="*/ 0 w 3942"/>
              <a:gd name="T1" fmla="*/ 2147483647 h 650"/>
              <a:gd name="T2" fmla="*/ 2147483647 w 3942"/>
              <a:gd name="T3" fmla="*/ 0 h 650"/>
              <a:gd name="T4" fmla="*/ 2147483647 w 3942"/>
              <a:gd name="T5" fmla="*/ 2147483647 h 650"/>
              <a:gd name="T6" fmla="*/ 2147483647 w 3942"/>
              <a:gd name="T7" fmla="*/ 2147483647 h 650"/>
              <a:gd name="T8" fmla="*/ 2147483647 w 3942"/>
              <a:gd name="T9" fmla="*/ 2147483647 h 650"/>
              <a:gd name="T10" fmla="*/ 2147483647 w 3942"/>
              <a:gd name="T11" fmla="*/ 0 h 650"/>
              <a:gd name="T12" fmla="*/ 2147483647 w 3942"/>
              <a:gd name="T13" fmla="*/ 2147483647 h 650"/>
              <a:gd name="T14" fmla="*/ 2147483647 w 3942"/>
              <a:gd name="T15" fmla="*/ 2147483647 h 650"/>
              <a:gd name="T16" fmla="*/ 2147483647 w 3942"/>
              <a:gd name="T17" fmla="*/ 2147483647 h 650"/>
              <a:gd name="T18" fmla="*/ 2147483647 w 3942"/>
              <a:gd name="T19" fmla="*/ 2147483647 h 650"/>
              <a:gd name="T20" fmla="*/ 2147483647 w 3942"/>
              <a:gd name="T21" fmla="*/ 2147483647 h 6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42"/>
              <a:gd name="T34" fmla="*/ 0 h 650"/>
              <a:gd name="T35" fmla="*/ 3942 w 3942"/>
              <a:gd name="T36" fmla="*/ 650 h 6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42" h="650">
                <a:moveTo>
                  <a:pt x="0" y="325"/>
                </a:moveTo>
                <a:cubicBezTo>
                  <a:pt x="161" y="162"/>
                  <a:pt x="322" y="0"/>
                  <a:pt x="482" y="0"/>
                </a:cubicBezTo>
                <a:cubicBezTo>
                  <a:pt x="643" y="0"/>
                  <a:pt x="805" y="216"/>
                  <a:pt x="966" y="325"/>
                </a:cubicBezTo>
                <a:cubicBezTo>
                  <a:pt x="1126" y="434"/>
                  <a:pt x="1288" y="650"/>
                  <a:pt x="1448" y="650"/>
                </a:cubicBezTo>
                <a:cubicBezTo>
                  <a:pt x="1609" y="650"/>
                  <a:pt x="1770" y="434"/>
                  <a:pt x="1931" y="325"/>
                </a:cubicBezTo>
                <a:cubicBezTo>
                  <a:pt x="2091" y="216"/>
                  <a:pt x="2254" y="0"/>
                  <a:pt x="2414" y="0"/>
                </a:cubicBezTo>
                <a:cubicBezTo>
                  <a:pt x="2575" y="0"/>
                  <a:pt x="2736" y="216"/>
                  <a:pt x="2897" y="325"/>
                </a:cubicBezTo>
                <a:cubicBezTo>
                  <a:pt x="3057" y="434"/>
                  <a:pt x="3219" y="650"/>
                  <a:pt x="3379" y="650"/>
                </a:cubicBezTo>
                <a:cubicBezTo>
                  <a:pt x="3540" y="650"/>
                  <a:pt x="3784" y="381"/>
                  <a:pt x="3863" y="325"/>
                </a:cubicBezTo>
                <a:cubicBezTo>
                  <a:pt x="3942" y="269"/>
                  <a:pt x="3853" y="315"/>
                  <a:pt x="3851" y="316"/>
                </a:cubicBezTo>
                <a:cubicBezTo>
                  <a:pt x="3849" y="317"/>
                  <a:pt x="3851" y="328"/>
                  <a:pt x="3851" y="331"/>
                </a:cubicBezTo>
              </a:path>
            </a:pathLst>
          </a:custGeom>
          <a:noFill/>
          <a:ln w="28575" cmpd="sng">
            <a:solidFill>
              <a:srgbClr val="000066"/>
            </a:solidFill>
            <a:round/>
            <a:headEnd/>
            <a:tailEnd/>
          </a:ln>
        </p:spPr>
        <p:txBody>
          <a:bodyPr/>
          <a:lstStyle/>
          <a:p>
            <a:endParaRPr lang="en-GB"/>
          </a:p>
        </p:txBody>
      </p:sp>
      <p:sp>
        <p:nvSpPr>
          <p:cNvPr id="11273" name="Line 108"/>
          <p:cNvSpPr>
            <a:spLocks noChangeShapeType="1"/>
          </p:cNvSpPr>
          <p:nvPr/>
        </p:nvSpPr>
        <p:spPr bwMode="auto">
          <a:xfrm>
            <a:off x="5534952" y="3673785"/>
            <a:ext cx="997525" cy="1103130"/>
          </a:xfrm>
          <a:prstGeom prst="line">
            <a:avLst/>
          </a:prstGeom>
          <a:noFill/>
          <a:ln w="9525">
            <a:solidFill>
              <a:schemeClr val="tx2"/>
            </a:solidFill>
            <a:round/>
            <a:headEnd/>
            <a:tailEnd type="triangle" w="med" len="med"/>
          </a:ln>
        </p:spPr>
        <p:txBody>
          <a:bodyPr wrap="square" anchor="ctr">
            <a:spAutoFit/>
          </a:bodyPr>
          <a:lstStyle/>
          <a:p>
            <a:endParaRPr lang="en-GB"/>
          </a:p>
        </p:txBody>
      </p:sp>
      <p:grpSp>
        <p:nvGrpSpPr>
          <p:cNvPr id="11274" name="Group 109"/>
          <p:cNvGrpSpPr>
            <a:grpSpLocks/>
          </p:cNvGrpSpPr>
          <p:nvPr/>
        </p:nvGrpSpPr>
        <p:grpSpPr bwMode="auto">
          <a:xfrm>
            <a:off x="0" y="4749800"/>
            <a:ext cx="1568450" cy="928688"/>
            <a:chOff x="0" y="2992"/>
            <a:chExt cx="988" cy="585"/>
          </a:xfrm>
        </p:grpSpPr>
        <p:sp>
          <p:nvSpPr>
            <p:cNvPr id="11290" name="AutoShape 110"/>
            <p:cNvSpPr>
              <a:spLocks noChangeArrowheads="1"/>
            </p:cNvSpPr>
            <p:nvPr/>
          </p:nvSpPr>
          <p:spPr bwMode="auto">
            <a:xfrm>
              <a:off x="0" y="2992"/>
              <a:ext cx="988" cy="585"/>
            </a:xfrm>
            <a:prstGeom prst="rightArrow">
              <a:avLst>
                <a:gd name="adj1" fmla="val 61028"/>
                <a:gd name="adj2" fmla="val 71363"/>
              </a:avLst>
            </a:prstGeom>
            <a:solidFill>
              <a:srgbClr val="FFCC66"/>
            </a:solidFill>
            <a:ln w="9525">
              <a:solidFill>
                <a:srgbClr val="800000"/>
              </a:solidFill>
              <a:miter lim="800000"/>
              <a:headEnd/>
              <a:tailEnd/>
            </a:ln>
          </p:spPr>
          <p:txBody>
            <a:bodyPr anchor="ctr">
              <a:spAutoFit/>
            </a:bodyPr>
            <a:lstStyle/>
            <a:p>
              <a:endParaRPr lang="en-US"/>
            </a:p>
          </p:txBody>
        </p:sp>
        <p:grpSp>
          <p:nvGrpSpPr>
            <p:cNvPr id="11291" name="Group 111"/>
            <p:cNvGrpSpPr>
              <a:grpSpLocks/>
            </p:cNvGrpSpPr>
            <p:nvPr/>
          </p:nvGrpSpPr>
          <p:grpSpPr bwMode="auto">
            <a:xfrm>
              <a:off x="0" y="3183"/>
              <a:ext cx="281" cy="229"/>
              <a:chOff x="0" y="3183"/>
              <a:chExt cx="281" cy="229"/>
            </a:xfrm>
          </p:grpSpPr>
          <p:sp>
            <p:nvSpPr>
              <p:cNvPr id="11293" name="Freeform 112"/>
              <p:cNvSpPr>
                <a:spLocks/>
              </p:cNvSpPr>
              <p:nvPr/>
            </p:nvSpPr>
            <p:spPr bwMode="auto">
              <a:xfrm>
                <a:off x="0" y="3183"/>
                <a:ext cx="141" cy="229"/>
              </a:xfrm>
              <a:custGeom>
                <a:avLst/>
                <a:gdLst>
                  <a:gd name="T0" fmla="*/ 0 w 3942"/>
                  <a:gd name="T1" fmla="*/ 0 h 650"/>
                  <a:gd name="T2" fmla="*/ 0 w 3942"/>
                  <a:gd name="T3" fmla="*/ 0 h 650"/>
                  <a:gd name="T4" fmla="*/ 0 w 3942"/>
                  <a:gd name="T5" fmla="*/ 0 h 650"/>
                  <a:gd name="T6" fmla="*/ 0 w 3942"/>
                  <a:gd name="T7" fmla="*/ 0 h 650"/>
                  <a:gd name="T8" fmla="*/ 0 w 3942"/>
                  <a:gd name="T9" fmla="*/ 0 h 650"/>
                  <a:gd name="T10" fmla="*/ 0 w 3942"/>
                  <a:gd name="T11" fmla="*/ 0 h 650"/>
                  <a:gd name="T12" fmla="*/ 0 w 3942"/>
                  <a:gd name="T13" fmla="*/ 0 h 650"/>
                  <a:gd name="T14" fmla="*/ 0 w 3942"/>
                  <a:gd name="T15" fmla="*/ 0 h 650"/>
                  <a:gd name="T16" fmla="*/ 0 w 3942"/>
                  <a:gd name="T17" fmla="*/ 0 h 650"/>
                  <a:gd name="T18" fmla="*/ 0 w 3942"/>
                  <a:gd name="T19" fmla="*/ 0 h 650"/>
                  <a:gd name="T20" fmla="*/ 0 w 3942"/>
                  <a:gd name="T21" fmla="*/ 0 h 6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42"/>
                  <a:gd name="T34" fmla="*/ 0 h 650"/>
                  <a:gd name="T35" fmla="*/ 3942 w 3942"/>
                  <a:gd name="T36" fmla="*/ 650 h 6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42" h="650">
                    <a:moveTo>
                      <a:pt x="0" y="325"/>
                    </a:moveTo>
                    <a:cubicBezTo>
                      <a:pt x="161" y="162"/>
                      <a:pt x="322" y="0"/>
                      <a:pt x="482" y="0"/>
                    </a:cubicBezTo>
                    <a:cubicBezTo>
                      <a:pt x="643" y="0"/>
                      <a:pt x="805" y="216"/>
                      <a:pt x="966" y="325"/>
                    </a:cubicBezTo>
                    <a:cubicBezTo>
                      <a:pt x="1126" y="434"/>
                      <a:pt x="1288" y="650"/>
                      <a:pt x="1448" y="650"/>
                    </a:cubicBezTo>
                    <a:cubicBezTo>
                      <a:pt x="1609" y="650"/>
                      <a:pt x="1770" y="434"/>
                      <a:pt x="1931" y="325"/>
                    </a:cubicBezTo>
                    <a:cubicBezTo>
                      <a:pt x="2091" y="216"/>
                      <a:pt x="2254" y="0"/>
                      <a:pt x="2414" y="0"/>
                    </a:cubicBezTo>
                    <a:cubicBezTo>
                      <a:pt x="2575" y="0"/>
                      <a:pt x="2736" y="216"/>
                      <a:pt x="2897" y="325"/>
                    </a:cubicBezTo>
                    <a:cubicBezTo>
                      <a:pt x="3057" y="434"/>
                      <a:pt x="3219" y="650"/>
                      <a:pt x="3379" y="650"/>
                    </a:cubicBezTo>
                    <a:cubicBezTo>
                      <a:pt x="3540" y="650"/>
                      <a:pt x="3784" y="381"/>
                      <a:pt x="3863" y="325"/>
                    </a:cubicBezTo>
                    <a:cubicBezTo>
                      <a:pt x="3942" y="269"/>
                      <a:pt x="3853" y="315"/>
                      <a:pt x="3851" y="316"/>
                    </a:cubicBezTo>
                    <a:cubicBezTo>
                      <a:pt x="3849" y="317"/>
                      <a:pt x="3851" y="328"/>
                      <a:pt x="3851" y="331"/>
                    </a:cubicBezTo>
                  </a:path>
                </a:pathLst>
              </a:custGeom>
              <a:noFill/>
              <a:ln w="28575" cmpd="sng">
                <a:solidFill>
                  <a:srgbClr val="990000"/>
                </a:solidFill>
                <a:round/>
                <a:headEnd/>
                <a:tailEnd/>
              </a:ln>
            </p:spPr>
            <p:txBody>
              <a:bodyPr/>
              <a:lstStyle/>
              <a:p>
                <a:endParaRPr lang="en-GB"/>
              </a:p>
            </p:txBody>
          </p:sp>
          <p:sp>
            <p:nvSpPr>
              <p:cNvPr id="11294" name="Freeform 113"/>
              <p:cNvSpPr>
                <a:spLocks/>
              </p:cNvSpPr>
              <p:nvPr/>
            </p:nvSpPr>
            <p:spPr bwMode="auto">
              <a:xfrm>
                <a:off x="141" y="3183"/>
                <a:ext cx="140" cy="229"/>
              </a:xfrm>
              <a:custGeom>
                <a:avLst/>
                <a:gdLst>
                  <a:gd name="T0" fmla="*/ 0 w 3942"/>
                  <a:gd name="T1" fmla="*/ 0 h 650"/>
                  <a:gd name="T2" fmla="*/ 0 w 3942"/>
                  <a:gd name="T3" fmla="*/ 0 h 650"/>
                  <a:gd name="T4" fmla="*/ 0 w 3942"/>
                  <a:gd name="T5" fmla="*/ 0 h 650"/>
                  <a:gd name="T6" fmla="*/ 0 w 3942"/>
                  <a:gd name="T7" fmla="*/ 0 h 650"/>
                  <a:gd name="T8" fmla="*/ 0 w 3942"/>
                  <a:gd name="T9" fmla="*/ 0 h 650"/>
                  <a:gd name="T10" fmla="*/ 0 w 3942"/>
                  <a:gd name="T11" fmla="*/ 0 h 650"/>
                  <a:gd name="T12" fmla="*/ 0 w 3942"/>
                  <a:gd name="T13" fmla="*/ 0 h 650"/>
                  <a:gd name="T14" fmla="*/ 0 w 3942"/>
                  <a:gd name="T15" fmla="*/ 0 h 650"/>
                  <a:gd name="T16" fmla="*/ 0 w 3942"/>
                  <a:gd name="T17" fmla="*/ 0 h 650"/>
                  <a:gd name="T18" fmla="*/ 0 w 3942"/>
                  <a:gd name="T19" fmla="*/ 0 h 650"/>
                  <a:gd name="T20" fmla="*/ 0 w 3942"/>
                  <a:gd name="T21" fmla="*/ 0 h 6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42"/>
                  <a:gd name="T34" fmla="*/ 0 h 650"/>
                  <a:gd name="T35" fmla="*/ 3942 w 3942"/>
                  <a:gd name="T36" fmla="*/ 650 h 6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42" h="650">
                    <a:moveTo>
                      <a:pt x="0" y="325"/>
                    </a:moveTo>
                    <a:cubicBezTo>
                      <a:pt x="161" y="162"/>
                      <a:pt x="322" y="0"/>
                      <a:pt x="482" y="0"/>
                    </a:cubicBezTo>
                    <a:cubicBezTo>
                      <a:pt x="643" y="0"/>
                      <a:pt x="805" y="216"/>
                      <a:pt x="966" y="325"/>
                    </a:cubicBezTo>
                    <a:cubicBezTo>
                      <a:pt x="1126" y="434"/>
                      <a:pt x="1288" y="650"/>
                      <a:pt x="1448" y="650"/>
                    </a:cubicBezTo>
                    <a:cubicBezTo>
                      <a:pt x="1609" y="650"/>
                      <a:pt x="1770" y="434"/>
                      <a:pt x="1931" y="325"/>
                    </a:cubicBezTo>
                    <a:cubicBezTo>
                      <a:pt x="2091" y="216"/>
                      <a:pt x="2254" y="0"/>
                      <a:pt x="2414" y="0"/>
                    </a:cubicBezTo>
                    <a:cubicBezTo>
                      <a:pt x="2575" y="0"/>
                      <a:pt x="2736" y="216"/>
                      <a:pt x="2897" y="325"/>
                    </a:cubicBezTo>
                    <a:cubicBezTo>
                      <a:pt x="3057" y="434"/>
                      <a:pt x="3219" y="650"/>
                      <a:pt x="3379" y="650"/>
                    </a:cubicBezTo>
                    <a:cubicBezTo>
                      <a:pt x="3540" y="650"/>
                      <a:pt x="3784" y="381"/>
                      <a:pt x="3863" y="325"/>
                    </a:cubicBezTo>
                    <a:cubicBezTo>
                      <a:pt x="3942" y="269"/>
                      <a:pt x="3853" y="315"/>
                      <a:pt x="3851" y="316"/>
                    </a:cubicBezTo>
                    <a:cubicBezTo>
                      <a:pt x="3849" y="317"/>
                      <a:pt x="3851" y="328"/>
                      <a:pt x="3851" y="331"/>
                    </a:cubicBezTo>
                  </a:path>
                </a:pathLst>
              </a:custGeom>
              <a:noFill/>
              <a:ln w="28575" cmpd="sng">
                <a:solidFill>
                  <a:srgbClr val="990000"/>
                </a:solidFill>
                <a:round/>
                <a:headEnd/>
                <a:tailEnd/>
              </a:ln>
            </p:spPr>
            <p:txBody>
              <a:bodyPr/>
              <a:lstStyle/>
              <a:p>
                <a:endParaRPr lang="en-GB"/>
              </a:p>
            </p:txBody>
          </p:sp>
        </p:grpSp>
        <p:sp>
          <p:nvSpPr>
            <p:cNvPr id="11292" name="Freeform 114"/>
            <p:cNvSpPr>
              <a:spLocks/>
            </p:cNvSpPr>
            <p:nvPr/>
          </p:nvSpPr>
          <p:spPr bwMode="auto">
            <a:xfrm>
              <a:off x="287" y="3188"/>
              <a:ext cx="534" cy="229"/>
            </a:xfrm>
            <a:custGeom>
              <a:avLst/>
              <a:gdLst>
                <a:gd name="T0" fmla="*/ 0 w 3942"/>
                <a:gd name="T1" fmla="*/ 0 h 650"/>
                <a:gd name="T2" fmla="*/ 0 w 3942"/>
                <a:gd name="T3" fmla="*/ 0 h 650"/>
                <a:gd name="T4" fmla="*/ 0 w 3942"/>
                <a:gd name="T5" fmla="*/ 0 h 650"/>
                <a:gd name="T6" fmla="*/ 0 w 3942"/>
                <a:gd name="T7" fmla="*/ 0 h 650"/>
                <a:gd name="T8" fmla="*/ 0 w 3942"/>
                <a:gd name="T9" fmla="*/ 0 h 650"/>
                <a:gd name="T10" fmla="*/ 0 w 3942"/>
                <a:gd name="T11" fmla="*/ 0 h 650"/>
                <a:gd name="T12" fmla="*/ 0 w 3942"/>
                <a:gd name="T13" fmla="*/ 0 h 650"/>
                <a:gd name="T14" fmla="*/ 0 w 3942"/>
                <a:gd name="T15" fmla="*/ 0 h 650"/>
                <a:gd name="T16" fmla="*/ 0 w 3942"/>
                <a:gd name="T17" fmla="*/ 0 h 650"/>
                <a:gd name="T18" fmla="*/ 0 w 3942"/>
                <a:gd name="T19" fmla="*/ 0 h 650"/>
                <a:gd name="T20" fmla="*/ 0 w 3942"/>
                <a:gd name="T21" fmla="*/ 0 h 6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42"/>
                <a:gd name="T34" fmla="*/ 0 h 650"/>
                <a:gd name="T35" fmla="*/ 3942 w 3942"/>
                <a:gd name="T36" fmla="*/ 650 h 6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42" h="650">
                  <a:moveTo>
                    <a:pt x="0" y="325"/>
                  </a:moveTo>
                  <a:cubicBezTo>
                    <a:pt x="161" y="162"/>
                    <a:pt x="322" y="0"/>
                    <a:pt x="482" y="0"/>
                  </a:cubicBezTo>
                  <a:cubicBezTo>
                    <a:pt x="643" y="0"/>
                    <a:pt x="805" y="216"/>
                    <a:pt x="966" y="325"/>
                  </a:cubicBezTo>
                  <a:cubicBezTo>
                    <a:pt x="1126" y="434"/>
                    <a:pt x="1288" y="650"/>
                    <a:pt x="1448" y="650"/>
                  </a:cubicBezTo>
                  <a:cubicBezTo>
                    <a:pt x="1609" y="650"/>
                    <a:pt x="1770" y="434"/>
                    <a:pt x="1931" y="325"/>
                  </a:cubicBezTo>
                  <a:cubicBezTo>
                    <a:pt x="2091" y="216"/>
                    <a:pt x="2254" y="0"/>
                    <a:pt x="2414" y="0"/>
                  </a:cubicBezTo>
                  <a:cubicBezTo>
                    <a:pt x="2575" y="0"/>
                    <a:pt x="2736" y="216"/>
                    <a:pt x="2897" y="325"/>
                  </a:cubicBezTo>
                  <a:cubicBezTo>
                    <a:pt x="3057" y="434"/>
                    <a:pt x="3219" y="650"/>
                    <a:pt x="3379" y="650"/>
                  </a:cubicBezTo>
                  <a:cubicBezTo>
                    <a:pt x="3540" y="650"/>
                    <a:pt x="3784" y="381"/>
                    <a:pt x="3863" y="325"/>
                  </a:cubicBezTo>
                  <a:cubicBezTo>
                    <a:pt x="3942" y="269"/>
                    <a:pt x="3853" y="315"/>
                    <a:pt x="3851" y="316"/>
                  </a:cubicBezTo>
                  <a:cubicBezTo>
                    <a:pt x="3849" y="317"/>
                    <a:pt x="3851" y="328"/>
                    <a:pt x="3851" y="331"/>
                  </a:cubicBezTo>
                </a:path>
              </a:pathLst>
            </a:custGeom>
            <a:noFill/>
            <a:ln w="28575" cmpd="sng">
              <a:solidFill>
                <a:srgbClr val="000066"/>
              </a:solidFill>
              <a:round/>
              <a:headEnd/>
              <a:tailEnd/>
            </a:ln>
          </p:spPr>
          <p:txBody>
            <a:bodyPr/>
            <a:lstStyle/>
            <a:p>
              <a:endParaRPr lang="en-GB"/>
            </a:p>
          </p:txBody>
        </p:sp>
      </p:grpSp>
      <p:sp>
        <p:nvSpPr>
          <p:cNvPr id="11275" name="Text Box 115"/>
          <p:cNvSpPr txBox="1">
            <a:spLocks noChangeArrowheads="1"/>
          </p:cNvSpPr>
          <p:nvPr/>
        </p:nvSpPr>
        <p:spPr bwMode="auto">
          <a:xfrm>
            <a:off x="7604125" y="5530850"/>
            <a:ext cx="1133475" cy="581025"/>
          </a:xfrm>
          <a:prstGeom prst="rect">
            <a:avLst/>
          </a:prstGeom>
          <a:noFill/>
          <a:ln w="9525">
            <a:noFill/>
            <a:miter lim="800000"/>
            <a:headEnd/>
            <a:tailEnd/>
          </a:ln>
        </p:spPr>
        <p:txBody>
          <a:bodyPr>
            <a:spAutoFit/>
          </a:bodyPr>
          <a:lstStyle/>
          <a:p>
            <a:r>
              <a:rPr lang="en-GB" sz="1600"/>
              <a:t>nerve endings</a:t>
            </a:r>
            <a:endParaRPr lang="en-GB" sz="1600">
              <a:latin typeface="Times New Roman" pitchFamily="18" charset="0"/>
            </a:endParaRPr>
          </a:p>
        </p:txBody>
      </p:sp>
      <p:sp>
        <p:nvSpPr>
          <p:cNvPr id="11276" name="Line 116"/>
          <p:cNvSpPr>
            <a:spLocks noChangeShapeType="1"/>
          </p:cNvSpPr>
          <p:nvPr/>
        </p:nvSpPr>
        <p:spPr bwMode="auto">
          <a:xfrm flipH="1">
            <a:off x="7261225" y="5753100"/>
            <a:ext cx="396875" cy="11113"/>
          </a:xfrm>
          <a:prstGeom prst="line">
            <a:avLst/>
          </a:prstGeom>
          <a:noFill/>
          <a:ln w="9525">
            <a:solidFill>
              <a:schemeClr val="tx1"/>
            </a:solidFill>
            <a:round/>
            <a:headEnd/>
            <a:tailEnd type="triangle" w="med" len="med"/>
          </a:ln>
        </p:spPr>
        <p:txBody>
          <a:bodyPr anchor="ctr">
            <a:spAutoFit/>
          </a:bodyPr>
          <a:lstStyle/>
          <a:p>
            <a:endParaRPr lang="en-GB"/>
          </a:p>
        </p:txBody>
      </p:sp>
      <p:sp>
        <p:nvSpPr>
          <p:cNvPr id="11277" name="Text Box 117"/>
          <p:cNvSpPr txBox="1">
            <a:spLocks noChangeArrowheads="1"/>
          </p:cNvSpPr>
          <p:nvPr/>
        </p:nvSpPr>
        <p:spPr bwMode="auto">
          <a:xfrm>
            <a:off x="7677150" y="5083175"/>
            <a:ext cx="1133475" cy="336550"/>
          </a:xfrm>
          <a:prstGeom prst="rect">
            <a:avLst/>
          </a:prstGeom>
          <a:noFill/>
          <a:ln w="9525">
            <a:noFill/>
            <a:miter lim="800000"/>
            <a:headEnd/>
            <a:tailEnd/>
          </a:ln>
        </p:spPr>
        <p:txBody>
          <a:bodyPr>
            <a:spAutoFit/>
          </a:bodyPr>
          <a:lstStyle/>
          <a:p>
            <a:r>
              <a:rPr lang="en-GB" sz="1600"/>
              <a:t>hair cells</a:t>
            </a:r>
            <a:endParaRPr lang="en-GB" sz="1600">
              <a:latin typeface="Times New Roman" pitchFamily="18" charset="0"/>
            </a:endParaRPr>
          </a:p>
        </p:txBody>
      </p:sp>
      <p:sp>
        <p:nvSpPr>
          <p:cNvPr id="11278" name="Line 118"/>
          <p:cNvSpPr>
            <a:spLocks noChangeShapeType="1"/>
          </p:cNvSpPr>
          <p:nvPr/>
        </p:nvSpPr>
        <p:spPr bwMode="auto">
          <a:xfrm flipH="1">
            <a:off x="7223125" y="5283200"/>
            <a:ext cx="446088" cy="258763"/>
          </a:xfrm>
          <a:prstGeom prst="line">
            <a:avLst/>
          </a:prstGeom>
          <a:noFill/>
          <a:ln w="9525">
            <a:solidFill>
              <a:schemeClr val="tx1"/>
            </a:solidFill>
            <a:round/>
            <a:headEnd/>
            <a:tailEnd type="triangle" w="med" len="med"/>
          </a:ln>
        </p:spPr>
        <p:txBody>
          <a:bodyPr anchor="ctr">
            <a:spAutoFit/>
          </a:bodyPr>
          <a:lstStyle/>
          <a:p>
            <a:endParaRPr lang="en-GB"/>
          </a:p>
        </p:txBody>
      </p:sp>
      <p:sp>
        <p:nvSpPr>
          <p:cNvPr id="11279" name="AutoShape 119"/>
          <p:cNvSpPr>
            <a:spLocks noChangeArrowheads="1"/>
          </p:cNvSpPr>
          <p:nvPr/>
        </p:nvSpPr>
        <p:spPr bwMode="auto">
          <a:xfrm rot="2449028">
            <a:off x="2981325" y="5380038"/>
            <a:ext cx="247650" cy="234950"/>
          </a:xfrm>
          <a:prstGeom prst="lightningBolt">
            <a:avLst/>
          </a:prstGeom>
          <a:solidFill>
            <a:srgbClr val="FFFF00"/>
          </a:solidFill>
          <a:ln w="9525">
            <a:solidFill>
              <a:schemeClr val="tx1"/>
            </a:solidFill>
            <a:miter lim="800000"/>
            <a:headEnd/>
            <a:tailEnd/>
          </a:ln>
        </p:spPr>
        <p:txBody>
          <a:bodyPr wrap="none" anchor="ctr">
            <a:spAutoFit/>
          </a:bodyPr>
          <a:lstStyle/>
          <a:p>
            <a:endParaRPr lang="en-US"/>
          </a:p>
        </p:txBody>
      </p:sp>
      <p:sp>
        <p:nvSpPr>
          <p:cNvPr id="11280" name="AutoShape 120"/>
          <p:cNvSpPr>
            <a:spLocks noChangeArrowheads="1"/>
          </p:cNvSpPr>
          <p:nvPr/>
        </p:nvSpPr>
        <p:spPr bwMode="auto">
          <a:xfrm rot="2158125">
            <a:off x="3216275" y="5341938"/>
            <a:ext cx="247650" cy="234950"/>
          </a:xfrm>
          <a:prstGeom prst="lightningBolt">
            <a:avLst/>
          </a:prstGeom>
          <a:solidFill>
            <a:srgbClr val="FFFF00"/>
          </a:solidFill>
          <a:ln w="9525">
            <a:solidFill>
              <a:schemeClr val="tx1"/>
            </a:solidFill>
            <a:miter lim="800000"/>
            <a:headEnd/>
            <a:tailEnd/>
          </a:ln>
        </p:spPr>
        <p:txBody>
          <a:bodyPr wrap="none" anchor="ctr">
            <a:spAutoFit/>
          </a:bodyPr>
          <a:lstStyle/>
          <a:p>
            <a:endParaRPr lang="en-US"/>
          </a:p>
        </p:txBody>
      </p:sp>
      <p:sp>
        <p:nvSpPr>
          <p:cNvPr id="11281" name="AutoShape 121"/>
          <p:cNvSpPr>
            <a:spLocks noChangeArrowheads="1"/>
          </p:cNvSpPr>
          <p:nvPr/>
        </p:nvSpPr>
        <p:spPr bwMode="auto">
          <a:xfrm rot="2158125">
            <a:off x="3497263" y="5449888"/>
            <a:ext cx="214312" cy="168275"/>
          </a:xfrm>
          <a:prstGeom prst="lightningBolt">
            <a:avLst/>
          </a:prstGeom>
          <a:solidFill>
            <a:srgbClr val="FFFF00"/>
          </a:solidFill>
          <a:ln w="9525">
            <a:solidFill>
              <a:schemeClr val="tx1"/>
            </a:solidFill>
            <a:miter lim="800000"/>
            <a:headEnd/>
            <a:tailEnd/>
          </a:ln>
        </p:spPr>
        <p:txBody>
          <a:bodyPr anchor="ctr">
            <a:spAutoFit/>
          </a:bodyPr>
          <a:lstStyle/>
          <a:p>
            <a:endParaRPr lang="en-US"/>
          </a:p>
        </p:txBody>
      </p:sp>
      <p:sp>
        <p:nvSpPr>
          <p:cNvPr id="11282" name="AutoShape 122"/>
          <p:cNvSpPr>
            <a:spLocks noChangeArrowheads="1"/>
          </p:cNvSpPr>
          <p:nvPr/>
        </p:nvSpPr>
        <p:spPr bwMode="auto">
          <a:xfrm rot="2158125">
            <a:off x="3352800" y="5318125"/>
            <a:ext cx="247650" cy="234950"/>
          </a:xfrm>
          <a:prstGeom prst="lightningBolt">
            <a:avLst/>
          </a:prstGeom>
          <a:solidFill>
            <a:srgbClr val="FFFF00"/>
          </a:solidFill>
          <a:ln w="9525">
            <a:solidFill>
              <a:schemeClr val="tx1"/>
            </a:solidFill>
            <a:miter lim="800000"/>
            <a:headEnd/>
            <a:tailEnd/>
          </a:ln>
        </p:spPr>
        <p:txBody>
          <a:bodyPr wrap="none" anchor="ctr">
            <a:spAutoFit/>
          </a:bodyPr>
          <a:lstStyle/>
          <a:p>
            <a:endParaRPr lang="en-US"/>
          </a:p>
        </p:txBody>
      </p:sp>
      <p:sp>
        <p:nvSpPr>
          <p:cNvPr id="11283" name="AutoShape 123"/>
          <p:cNvSpPr>
            <a:spLocks noChangeArrowheads="1"/>
          </p:cNvSpPr>
          <p:nvPr/>
        </p:nvSpPr>
        <p:spPr bwMode="auto">
          <a:xfrm rot="2158125">
            <a:off x="6629400" y="5429250"/>
            <a:ext cx="247650" cy="234950"/>
          </a:xfrm>
          <a:prstGeom prst="lightningBolt">
            <a:avLst/>
          </a:prstGeom>
          <a:solidFill>
            <a:srgbClr val="FFFF00"/>
          </a:solidFill>
          <a:ln w="9525">
            <a:solidFill>
              <a:schemeClr val="tx1"/>
            </a:solidFill>
            <a:miter lim="800000"/>
            <a:headEnd/>
            <a:tailEnd/>
          </a:ln>
        </p:spPr>
        <p:txBody>
          <a:bodyPr wrap="none" anchor="ctr">
            <a:spAutoFit/>
          </a:bodyPr>
          <a:lstStyle/>
          <a:p>
            <a:endParaRPr lang="en-US"/>
          </a:p>
        </p:txBody>
      </p:sp>
      <p:sp>
        <p:nvSpPr>
          <p:cNvPr id="11284" name="AutoShape 124"/>
          <p:cNvSpPr>
            <a:spLocks noChangeArrowheads="1"/>
          </p:cNvSpPr>
          <p:nvPr/>
        </p:nvSpPr>
        <p:spPr bwMode="auto">
          <a:xfrm rot="2158125">
            <a:off x="6802438" y="5381625"/>
            <a:ext cx="247650" cy="234950"/>
          </a:xfrm>
          <a:prstGeom prst="lightningBolt">
            <a:avLst/>
          </a:prstGeom>
          <a:solidFill>
            <a:srgbClr val="FFFF00"/>
          </a:solidFill>
          <a:ln w="9525">
            <a:solidFill>
              <a:schemeClr val="tx1"/>
            </a:solidFill>
            <a:miter lim="800000"/>
            <a:headEnd/>
            <a:tailEnd/>
          </a:ln>
        </p:spPr>
        <p:txBody>
          <a:bodyPr wrap="none" anchor="ctr">
            <a:spAutoFit/>
          </a:bodyPr>
          <a:lstStyle/>
          <a:p>
            <a:endParaRPr lang="en-US"/>
          </a:p>
        </p:txBody>
      </p:sp>
      <p:sp>
        <p:nvSpPr>
          <p:cNvPr id="11285" name="AutoShape 125"/>
          <p:cNvSpPr>
            <a:spLocks noChangeArrowheads="1"/>
          </p:cNvSpPr>
          <p:nvPr/>
        </p:nvSpPr>
        <p:spPr bwMode="auto">
          <a:xfrm rot="2158125">
            <a:off x="6197600" y="5405438"/>
            <a:ext cx="247650" cy="234950"/>
          </a:xfrm>
          <a:prstGeom prst="lightningBolt">
            <a:avLst/>
          </a:prstGeom>
          <a:solidFill>
            <a:srgbClr val="FFFF00"/>
          </a:solidFill>
          <a:ln w="9525">
            <a:solidFill>
              <a:schemeClr val="tx1"/>
            </a:solidFill>
            <a:miter lim="800000"/>
            <a:headEnd/>
            <a:tailEnd/>
          </a:ln>
        </p:spPr>
        <p:txBody>
          <a:bodyPr wrap="none" anchor="ctr">
            <a:spAutoFit/>
          </a:bodyPr>
          <a:lstStyle/>
          <a:p>
            <a:endParaRPr lang="en-US"/>
          </a:p>
        </p:txBody>
      </p:sp>
      <p:sp>
        <p:nvSpPr>
          <p:cNvPr id="11286" name="AutoShape 126"/>
          <p:cNvSpPr>
            <a:spLocks noChangeArrowheads="1"/>
          </p:cNvSpPr>
          <p:nvPr/>
        </p:nvSpPr>
        <p:spPr bwMode="auto">
          <a:xfrm rot="2158125">
            <a:off x="6443663" y="5416550"/>
            <a:ext cx="247650" cy="234950"/>
          </a:xfrm>
          <a:prstGeom prst="lightningBolt">
            <a:avLst/>
          </a:prstGeom>
          <a:solidFill>
            <a:srgbClr val="FFFF00"/>
          </a:solidFill>
          <a:ln w="9525">
            <a:solidFill>
              <a:schemeClr val="tx1"/>
            </a:solidFill>
            <a:miter lim="800000"/>
            <a:headEnd/>
            <a:tailEnd/>
          </a:ln>
        </p:spPr>
        <p:txBody>
          <a:bodyPr wrap="none" anchor="ctr">
            <a:spAutoFit/>
          </a:bodyPr>
          <a:lstStyle/>
          <a:p>
            <a:endParaRPr lang="en-US"/>
          </a:p>
        </p:txBody>
      </p:sp>
      <p:sp>
        <p:nvSpPr>
          <p:cNvPr id="11287" name="Line 127"/>
          <p:cNvSpPr>
            <a:spLocks noChangeShapeType="1"/>
          </p:cNvSpPr>
          <p:nvPr/>
        </p:nvSpPr>
        <p:spPr bwMode="auto">
          <a:xfrm flipH="1">
            <a:off x="3154360" y="2306231"/>
            <a:ext cx="430411" cy="2620752"/>
          </a:xfrm>
          <a:prstGeom prst="line">
            <a:avLst/>
          </a:prstGeom>
          <a:noFill/>
          <a:ln w="9525">
            <a:solidFill>
              <a:schemeClr val="tx2"/>
            </a:solidFill>
            <a:round/>
            <a:headEnd/>
            <a:tailEnd type="triangle" w="med" len="med"/>
          </a:ln>
        </p:spPr>
        <p:txBody>
          <a:bodyPr wrap="square" anchor="ctr">
            <a:spAutoFit/>
          </a:bodyPr>
          <a:lstStyle/>
          <a:p>
            <a:endParaRPr lang="en-GB"/>
          </a:p>
        </p:txBody>
      </p:sp>
      <p:sp>
        <p:nvSpPr>
          <p:cNvPr id="11288" name="AutoShape 128"/>
          <p:cNvSpPr>
            <a:spLocks noChangeArrowheads="1"/>
          </p:cNvSpPr>
          <p:nvPr/>
        </p:nvSpPr>
        <p:spPr bwMode="auto">
          <a:xfrm>
            <a:off x="1150586" y="3199979"/>
            <a:ext cx="695325" cy="1898650"/>
          </a:xfrm>
          <a:prstGeom prst="curvedRightArrow">
            <a:avLst>
              <a:gd name="adj1" fmla="val 75875"/>
              <a:gd name="adj2" fmla="val 109224"/>
              <a:gd name="adj3" fmla="val 74236"/>
            </a:avLst>
          </a:prstGeom>
          <a:solidFill>
            <a:srgbClr val="C0C0C0"/>
          </a:solidFill>
          <a:ln w="9525">
            <a:solidFill>
              <a:schemeClr val="accent2"/>
            </a:solidFill>
            <a:miter lim="800000"/>
            <a:headEnd/>
            <a:tailEnd/>
          </a:ln>
        </p:spPr>
        <p:txBody>
          <a:bodyPr anchor="ctr">
            <a:spAutoFit/>
          </a:bodyPr>
          <a:lstStyle/>
          <a:p>
            <a:endParaRPr lang="en-US"/>
          </a:p>
        </p:txBody>
      </p:sp>
      <p:sp>
        <p:nvSpPr>
          <p:cNvPr id="11289" name="Text Box 129"/>
          <p:cNvSpPr txBox="1">
            <a:spLocks noChangeArrowheads="1"/>
          </p:cNvSpPr>
          <p:nvPr/>
        </p:nvSpPr>
        <p:spPr bwMode="auto">
          <a:xfrm>
            <a:off x="395288" y="5544168"/>
            <a:ext cx="1768475" cy="584775"/>
          </a:xfrm>
          <a:prstGeom prst="rect">
            <a:avLst/>
          </a:prstGeom>
          <a:noFill/>
          <a:ln w="9525" algn="ctr">
            <a:noFill/>
            <a:miter lim="800000"/>
            <a:headEnd/>
            <a:tailEnd/>
          </a:ln>
        </p:spPr>
        <p:txBody>
          <a:bodyPr>
            <a:spAutoFit/>
          </a:bodyPr>
          <a:lstStyle/>
          <a:p>
            <a:r>
              <a:rPr lang="en-GB" sz="1600" dirty="0"/>
              <a:t>incoming sounds</a:t>
            </a:r>
            <a:endParaRPr lang="en-US" sz="1600" dirty="0"/>
          </a:p>
        </p:txBody>
      </p:sp>
      <p:sp>
        <p:nvSpPr>
          <p:cNvPr id="130" name="Rectangle 3"/>
          <p:cNvSpPr>
            <a:spLocks noChangeArrowheads="1"/>
          </p:cNvSpPr>
          <p:nvPr/>
        </p:nvSpPr>
        <p:spPr bwMode="auto">
          <a:xfrm>
            <a:off x="3717492" y="3382245"/>
            <a:ext cx="2828966" cy="338554"/>
          </a:xfrm>
          <a:prstGeom prst="rect">
            <a:avLst/>
          </a:prstGeom>
          <a:noFill/>
          <a:ln w="9525">
            <a:noFill/>
            <a:miter lim="800000"/>
            <a:headEnd/>
            <a:tailEnd/>
          </a:ln>
        </p:spPr>
        <p:txBody>
          <a:bodyPr wrap="square">
            <a:spAutoFit/>
          </a:bodyPr>
          <a:lstStyle/>
          <a:p>
            <a:pPr marL="185738" indent="-185738"/>
            <a:r>
              <a:rPr lang="en-GB" sz="1600" b="1" dirty="0"/>
              <a:t>Lower frequencies</a:t>
            </a:r>
            <a:r>
              <a:rPr lang="en-GB" sz="1600" dirty="0"/>
              <a:t> </a:t>
            </a:r>
          </a:p>
        </p:txBody>
      </p:sp>
      <p:sp>
        <p:nvSpPr>
          <p:cNvPr id="229" name="Freeform 107"/>
          <p:cNvSpPr>
            <a:spLocks/>
          </p:cNvSpPr>
          <p:nvPr/>
        </p:nvSpPr>
        <p:spPr bwMode="auto">
          <a:xfrm>
            <a:off x="1793061" y="2532807"/>
            <a:ext cx="675009" cy="247328"/>
          </a:xfrm>
          <a:custGeom>
            <a:avLst/>
            <a:gdLst>
              <a:gd name="T0" fmla="*/ 0 w 3942"/>
              <a:gd name="T1" fmla="*/ 2147483647 h 650"/>
              <a:gd name="T2" fmla="*/ 2147483647 w 3942"/>
              <a:gd name="T3" fmla="*/ 0 h 650"/>
              <a:gd name="T4" fmla="*/ 2147483647 w 3942"/>
              <a:gd name="T5" fmla="*/ 2147483647 h 650"/>
              <a:gd name="T6" fmla="*/ 2147483647 w 3942"/>
              <a:gd name="T7" fmla="*/ 2147483647 h 650"/>
              <a:gd name="T8" fmla="*/ 2147483647 w 3942"/>
              <a:gd name="T9" fmla="*/ 2147483647 h 650"/>
              <a:gd name="T10" fmla="*/ 2147483647 w 3942"/>
              <a:gd name="T11" fmla="*/ 0 h 650"/>
              <a:gd name="T12" fmla="*/ 2147483647 w 3942"/>
              <a:gd name="T13" fmla="*/ 2147483647 h 650"/>
              <a:gd name="T14" fmla="*/ 2147483647 w 3942"/>
              <a:gd name="T15" fmla="*/ 2147483647 h 650"/>
              <a:gd name="T16" fmla="*/ 2147483647 w 3942"/>
              <a:gd name="T17" fmla="*/ 2147483647 h 650"/>
              <a:gd name="T18" fmla="*/ 2147483647 w 3942"/>
              <a:gd name="T19" fmla="*/ 2147483647 h 650"/>
              <a:gd name="T20" fmla="*/ 2147483647 w 3942"/>
              <a:gd name="T21" fmla="*/ 2147483647 h 6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42"/>
              <a:gd name="T34" fmla="*/ 0 h 650"/>
              <a:gd name="T35" fmla="*/ 3942 w 3942"/>
              <a:gd name="T36" fmla="*/ 650 h 6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42" h="650">
                <a:moveTo>
                  <a:pt x="0" y="325"/>
                </a:moveTo>
                <a:cubicBezTo>
                  <a:pt x="161" y="162"/>
                  <a:pt x="322" y="0"/>
                  <a:pt x="482" y="0"/>
                </a:cubicBezTo>
                <a:cubicBezTo>
                  <a:pt x="643" y="0"/>
                  <a:pt x="805" y="216"/>
                  <a:pt x="966" y="325"/>
                </a:cubicBezTo>
                <a:cubicBezTo>
                  <a:pt x="1126" y="434"/>
                  <a:pt x="1288" y="650"/>
                  <a:pt x="1448" y="650"/>
                </a:cubicBezTo>
                <a:cubicBezTo>
                  <a:pt x="1609" y="650"/>
                  <a:pt x="1770" y="434"/>
                  <a:pt x="1931" y="325"/>
                </a:cubicBezTo>
                <a:cubicBezTo>
                  <a:pt x="2091" y="216"/>
                  <a:pt x="2254" y="0"/>
                  <a:pt x="2414" y="0"/>
                </a:cubicBezTo>
                <a:cubicBezTo>
                  <a:pt x="2575" y="0"/>
                  <a:pt x="2736" y="216"/>
                  <a:pt x="2897" y="325"/>
                </a:cubicBezTo>
                <a:cubicBezTo>
                  <a:pt x="3057" y="434"/>
                  <a:pt x="3219" y="650"/>
                  <a:pt x="3379" y="650"/>
                </a:cubicBezTo>
                <a:cubicBezTo>
                  <a:pt x="3540" y="650"/>
                  <a:pt x="3784" y="381"/>
                  <a:pt x="3863" y="325"/>
                </a:cubicBezTo>
                <a:cubicBezTo>
                  <a:pt x="3942" y="269"/>
                  <a:pt x="3853" y="315"/>
                  <a:pt x="3851" y="316"/>
                </a:cubicBezTo>
                <a:cubicBezTo>
                  <a:pt x="3849" y="317"/>
                  <a:pt x="3851" y="328"/>
                  <a:pt x="3851" y="331"/>
                </a:cubicBezTo>
              </a:path>
            </a:pathLst>
          </a:custGeom>
          <a:noFill/>
          <a:ln w="28575" cmpd="sng">
            <a:solidFill>
              <a:srgbClr val="FFFFCC"/>
            </a:solidFill>
            <a:round/>
            <a:headEnd/>
            <a:tailEnd/>
          </a:ln>
        </p:spPr>
        <p:txBody>
          <a:bodyPr/>
          <a:lstStyle/>
          <a:p>
            <a:endParaRPr lang="en-GB"/>
          </a:p>
        </p:txBody>
      </p:sp>
      <p:grpSp>
        <p:nvGrpSpPr>
          <p:cNvPr id="230" name="Group 103"/>
          <p:cNvGrpSpPr>
            <a:grpSpLocks/>
          </p:cNvGrpSpPr>
          <p:nvPr/>
        </p:nvGrpSpPr>
        <p:grpSpPr bwMode="auto">
          <a:xfrm>
            <a:off x="2215139" y="3285366"/>
            <a:ext cx="430957" cy="202722"/>
            <a:chOff x="1533" y="2808"/>
            <a:chExt cx="609" cy="229"/>
          </a:xfrm>
        </p:grpSpPr>
        <p:sp>
          <p:nvSpPr>
            <p:cNvPr id="231" name="Freeform 104"/>
            <p:cNvSpPr>
              <a:spLocks/>
            </p:cNvSpPr>
            <p:nvPr/>
          </p:nvSpPr>
          <p:spPr bwMode="auto">
            <a:xfrm>
              <a:off x="1533" y="2808"/>
              <a:ext cx="203" cy="229"/>
            </a:xfrm>
            <a:custGeom>
              <a:avLst/>
              <a:gdLst>
                <a:gd name="T0" fmla="*/ 0 w 3942"/>
                <a:gd name="T1" fmla="*/ 0 h 650"/>
                <a:gd name="T2" fmla="*/ 0 w 3942"/>
                <a:gd name="T3" fmla="*/ 0 h 650"/>
                <a:gd name="T4" fmla="*/ 0 w 3942"/>
                <a:gd name="T5" fmla="*/ 0 h 650"/>
                <a:gd name="T6" fmla="*/ 0 w 3942"/>
                <a:gd name="T7" fmla="*/ 0 h 650"/>
                <a:gd name="T8" fmla="*/ 0 w 3942"/>
                <a:gd name="T9" fmla="*/ 0 h 650"/>
                <a:gd name="T10" fmla="*/ 0 w 3942"/>
                <a:gd name="T11" fmla="*/ 0 h 650"/>
                <a:gd name="T12" fmla="*/ 0 w 3942"/>
                <a:gd name="T13" fmla="*/ 0 h 650"/>
                <a:gd name="T14" fmla="*/ 0 w 3942"/>
                <a:gd name="T15" fmla="*/ 0 h 650"/>
                <a:gd name="T16" fmla="*/ 0 w 3942"/>
                <a:gd name="T17" fmla="*/ 0 h 650"/>
                <a:gd name="T18" fmla="*/ 0 w 3942"/>
                <a:gd name="T19" fmla="*/ 0 h 650"/>
                <a:gd name="T20" fmla="*/ 0 w 3942"/>
                <a:gd name="T21" fmla="*/ 0 h 6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42"/>
                <a:gd name="T34" fmla="*/ 0 h 650"/>
                <a:gd name="T35" fmla="*/ 3942 w 3942"/>
                <a:gd name="T36" fmla="*/ 650 h 6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42" h="650">
                  <a:moveTo>
                    <a:pt x="0" y="325"/>
                  </a:moveTo>
                  <a:cubicBezTo>
                    <a:pt x="161" y="162"/>
                    <a:pt x="322" y="0"/>
                    <a:pt x="482" y="0"/>
                  </a:cubicBezTo>
                  <a:cubicBezTo>
                    <a:pt x="643" y="0"/>
                    <a:pt x="805" y="216"/>
                    <a:pt x="966" y="325"/>
                  </a:cubicBezTo>
                  <a:cubicBezTo>
                    <a:pt x="1126" y="434"/>
                    <a:pt x="1288" y="650"/>
                    <a:pt x="1448" y="650"/>
                  </a:cubicBezTo>
                  <a:cubicBezTo>
                    <a:pt x="1609" y="650"/>
                    <a:pt x="1770" y="434"/>
                    <a:pt x="1931" y="325"/>
                  </a:cubicBezTo>
                  <a:cubicBezTo>
                    <a:pt x="2091" y="216"/>
                    <a:pt x="2254" y="0"/>
                    <a:pt x="2414" y="0"/>
                  </a:cubicBezTo>
                  <a:cubicBezTo>
                    <a:pt x="2575" y="0"/>
                    <a:pt x="2736" y="216"/>
                    <a:pt x="2897" y="325"/>
                  </a:cubicBezTo>
                  <a:cubicBezTo>
                    <a:pt x="3057" y="434"/>
                    <a:pt x="3219" y="650"/>
                    <a:pt x="3379" y="650"/>
                  </a:cubicBezTo>
                  <a:cubicBezTo>
                    <a:pt x="3540" y="650"/>
                    <a:pt x="3784" y="381"/>
                    <a:pt x="3863" y="325"/>
                  </a:cubicBezTo>
                  <a:cubicBezTo>
                    <a:pt x="3942" y="269"/>
                    <a:pt x="3853" y="315"/>
                    <a:pt x="3851" y="316"/>
                  </a:cubicBezTo>
                  <a:cubicBezTo>
                    <a:pt x="3849" y="317"/>
                    <a:pt x="3851" y="328"/>
                    <a:pt x="3851" y="331"/>
                  </a:cubicBezTo>
                </a:path>
              </a:pathLst>
            </a:custGeom>
            <a:noFill/>
            <a:ln w="12700" cmpd="sng">
              <a:solidFill>
                <a:srgbClr val="FFFFCC"/>
              </a:solidFill>
              <a:round/>
              <a:headEnd/>
              <a:tailEnd/>
            </a:ln>
          </p:spPr>
          <p:txBody>
            <a:bodyPr/>
            <a:lstStyle/>
            <a:p>
              <a:endParaRPr lang="en-GB"/>
            </a:p>
          </p:txBody>
        </p:sp>
        <p:sp>
          <p:nvSpPr>
            <p:cNvPr id="232" name="Freeform 105"/>
            <p:cNvSpPr>
              <a:spLocks/>
            </p:cNvSpPr>
            <p:nvPr/>
          </p:nvSpPr>
          <p:spPr bwMode="auto">
            <a:xfrm>
              <a:off x="1736" y="2808"/>
              <a:ext cx="203" cy="229"/>
            </a:xfrm>
            <a:custGeom>
              <a:avLst/>
              <a:gdLst>
                <a:gd name="T0" fmla="*/ 0 w 3942"/>
                <a:gd name="T1" fmla="*/ 0 h 650"/>
                <a:gd name="T2" fmla="*/ 0 w 3942"/>
                <a:gd name="T3" fmla="*/ 0 h 650"/>
                <a:gd name="T4" fmla="*/ 0 w 3942"/>
                <a:gd name="T5" fmla="*/ 0 h 650"/>
                <a:gd name="T6" fmla="*/ 0 w 3942"/>
                <a:gd name="T7" fmla="*/ 0 h 650"/>
                <a:gd name="T8" fmla="*/ 0 w 3942"/>
                <a:gd name="T9" fmla="*/ 0 h 650"/>
                <a:gd name="T10" fmla="*/ 0 w 3942"/>
                <a:gd name="T11" fmla="*/ 0 h 650"/>
                <a:gd name="T12" fmla="*/ 0 w 3942"/>
                <a:gd name="T13" fmla="*/ 0 h 650"/>
                <a:gd name="T14" fmla="*/ 0 w 3942"/>
                <a:gd name="T15" fmla="*/ 0 h 650"/>
                <a:gd name="T16" fmla="*/ 0 w 3942"/>
                <a:gd name="T17" fmla="*/ 0 h 650"/>
                <a:gd name="T18" fmla="*/ 0 w 3942"/>
                <a:gd name="T19" fmla="*/ 0 h 650"/>
                <a:gd name="T20" fmla="*/ 0 w 3942"/>
                <a:gd name="T21" fmla="*/ 0 h 6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42"/>
                <a:gd name="T34" fmla="*/ 0 h 650"/>
                <a:gd name="T35" fmla="*/ 3942 w 3942"/>
                <a:gd name="T36" fmla="*/ 650 h 6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42" h="650">
                  <a:moveTo>
                    <a:pt x="0" y="325"/>
                  </a:moveTo>
                  <a:cubicBezTo>
                    <a:pt x="161" y="162"/>
                    <a:pt x="322" y="0"/>
                    <a:pt x="482" y="0"/>
                  </a:cubicBezTo>
                  <a:cubicBezTo>
                    <a:pt x="643" y="0"/>
                    <a:pt x="805" y="216"/>
                    <a:pt x="966" y="325"/>
                  </a:cubicBezTo>
                  <a:cubicBezTo>
                    <a:pt x="1126" y="434"/>
                    <a:pt x="1288" y="650"/>
                    <a:pt x="1448" y="650"/>
                  </a:cubicBezTo>
                  <a:cubicBezTo>
                    <a:pt x="1609" y="650"/>
                    <a:pt x="1770" y="434"/>
                    <a:pt x="1931" y="325"/>
                  </a:cubicBezTo>
                  <a:cubicBezTo>
                    <a:pt x="2091" y="216"/>
                    <a:pt x="2254" y="0"/>
                    <a:pt x="2414" y="0"/>
                  </a:cubicBezTo>
                  <a:cubicBezTo>
                    <a:pt x="2575" y="0"/>
                    <a:pt x="2736" y="216"/>
                    <a:pt x="2897" y="325"/>
                  </a:cubicBezTo>
                  <a:cubicBezTo>
                    <a:pt x="3057" y="434"/>
                    <a:pt x="3219" y="650"/>
                    <a:pt x="3379" y="650"/>
                  </a:cubicBezTo>
                  <a:cubicBezTo>
                    <a:pt x="3540" y="650"/>
                    <a:pt x="3784" y="381"/>
                    <a:pt x="3863" y="325"/>
                  </a:cubicBezTo>
                  <a:cubicBezTo>
                    <a:pt x="3942" y="269"/>
                    <a:pt x="3853" y="315"/>
                    <a:pt x="3851" y="316"/>
                  </a:cubicBezTo>
                  <a:cubicBezTo>
                    <a:pt x="3849" y="317"/>
                    <a:pt x="3851" y="328"/>
                    <a:pt x="3851" y="331"/>
                  </a:cubicBezTo>
                </a:path>
              </a:pathLst>
            </a:custGeom>
            <a:noFill/>
            <a:ln w="12700" cmpd="sng">
              <a:solidFill>
                <a:srgbClr val="FFFFCC"/>
              </a:solidFill>
              <a:round/>
              <a:headEnd/>
              <a:tailEnd/>
            </a:ln>
          </p:spPr>
          <p:txBody>
            <a:bodyPr/>
            <a:lstStyle/>
            <a:p>
              <a:endParaRPr lang="en-GB"/>
            </a:p>
          </p:txBody>
        </p:sp>
        <p:sp>
          <p:nvSpPr>
            <p:cNvPr id="233" name="Freeform 106"/>
            <p:cNvSpPr>
              <a:spLocks/>
            </p:cNvSpPr>
            <p:nvPr/>
          </p:nvSpPr>
          <p:spPr bwMode="auto">
            <a:xfrm>
              <a:off x="1939" y="2808"/>
              <a:ext cx="203" cy="229"/>
            </a:xfrm>
            <a:custGeom>
              <a:avLst/>
              <a:gdLst>
                <a:gd name="T0" fmla="*/ 0 w 3942"/>
                <a:gd name="T1" fmla="*/ 0 h 650"/>
                <a:gd name="T2" fmla="*/ 0 w 3942"/>
                <a:gd name="T3" fmla="*/ 0 h 650"/>
                <a:gd name="T4" fmla="*/ 0 w 3942"/>
                <a:gd name="T5" fmla="*/ 0 h 650"/>
                <a:gd name="T6" fmla="*/ 0 w 3942"/>
                <a:gd name="T7" fmla="*/ 0 h 650"/>
                <a:gd name="T8" fmla="*/ 0 w 3942"/>
                <a:gd name="T9" fmla="*/ 0 h 650"/>
                <a:gd name="T10" fmla="*/ 0 w 3942"/>
                <a:gd name="T11" fmla="*/ 0 h 650"/>
                <a:gd name="T12" fmla="*/ 0 w 3942"/>
                <a:gd name="T13" fmla="*/ 0 h 650"/>
                <a:gd name="T14" fmla="*/ 0 w 3942"/>
                <a:gd name="T15" fmla="*/ 0 h 650"/>
                <a:gd name="T16" fmla="*/ 0 w 3942"/>
                <a:gd name="T17" fmla="*/ 0 h 650"/>
                <a:gd name="T18" fmla="*/ 0 w 3942"/>
                <a:gd name="T19" fmla="*/ 0 h 650"/>
                <a:gd name="T20" fmla="*/ 0 w 3942"/>
                <a:gd name="T21" fmla="*/ 0 h 6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42"/>
                <a:gd name="T34" fmla="*/ 0 h 650"/>
                <a:gd name="T35" fmla="*/ 3942 w 3942"/>
                <a:gd name="T36" fmla="*/ 650 h 6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42" h="650">
                  <a:moveTo>
                    <a:pt x="0" y="325"/>
                  </a:moveTo>
                  <a:cubicBezTo>
                    <a:pt x="161" y="162"/>
                    <a:pt x="322" y="0"/>
                    <a:pt x="482" y="0"/>
                  </a:cubicBezTo>
                  <a:cubicBezTo>
                    <a:pt x="643" y="0"/>
                    <a:pt x="805" y="216"/>
                    <a:pt x="966" y="325"/>
                  </a:cubicBezTo>
                  <a:cubicBezTo>
                    <a:pt x="1126" y="434"/>
                    <a:pt x="1288" y="650"/>
                    <a:pt x="1448" y="650"/>
                  </a:cubicBezTo>
                  <a:cubicBezTo>
                    <a:pt x="1609" y="650"/>
                    <a:pt x="1770" y="434"/>
                    <a:pt x="1931" y="325"/>
                  </a:cubicBezTo>
                  <a:cubicBezTo>
                    <a:pt x="2091" y="216"/>
                    <a:pt x="2254" y="0"/>
                    <a:pt x="2414" y="0"/>
                  </a:cubicBezTo>
                  <a:cubicBezTo>
                    <a:pt x="2575" y="0"/>
                    <a:pt x="2736" y="216"/>
                    <a:pt x="2897" y="325"/>
                  </a:cubicBezTo>
                  <a:cubicBezTo>
                    <a:pt x="3057" y="434"/>
                    <a:pt x="3219" y="650"/>
                    <a:pt x="3379" y="650"/>
                  </a:cubicBezTo>
                  <a:cubicBezTo>
                    <a:pt x="3540" y="650"/>
                    <a:pt x="3784" y="381"/>
                    <a:pt x="3863" y="325"/>
                  </a:cubicBezTo>
                  <a:cubicBezTo>
                    <a:pt x="3942" y="269"/>
                    <a:pt x="3853" y="315"/>
                    <a:pt x="3851" y="316"/>
                  </a:cubicBezTo>
                  <a:cubicBezTo>
                    <a:pt x="3849" y="317"/>
                    <a:pt x="3851" y="328"/>
                    <a:pt x="3851" y="331"/>
                  </a:cubicBezTo>
                </a:path>
              </a:pathLst>
            </a:custGeom>
            <a:noFill/>
            <a:ln w="12700" cmpd="sng">
              <a:solidFill>
                <a:srgbClr val="FFFFCC"/>
              </a:solidFill>
              <a:round/>
              <a:headEnd/>
              <a:tailEnd/>
            </a:ln>
          </p:spPr>
          <p:txBody>
            <a:bodyPr/>
            <a:lstStyle/>
            <a:p>
              <a:endParaRPr lang="en-GB"/>
            </a:p>
          </p:txBody>
        </p:sp>
      </p:grpSp>
      <p:grpSp>
        <p:nvGrpSpPr>
          <p:cNvPr id="234" name="Group 103"/>
          <p:cNvGrpSpPr>
            <a:grpSpLocks/>
          </p:cNvGrpSpPr>
          <p:nvPr/>
        </p:nvGrpSpPr>
        <p:grpSpPr bwMode="auto">
          <a:xfrm>
            <a:off x="1648696" y="2031100"/>
            <a:ext cx="625166" cy="202722"/>
            <a:chOff x="1533" y="2808"/>
            <a:chExt cx="609" cy="229"/>
          </a:xfrm>
        </p:grpSpPr>
        <p:sp>
          <p:nvSpPr>
            <p:cNvPr id="235" name="Freeform 104"/>
            <p:cNvSpPr>
              <a:spLocks/>
            </p:cNvSpPr>
            <p:nvPr/>
          </p:nvSpPr>
          <p:spPr bwMode="auto">
            <a:xfrm>
              <a:off x="1533" y="2808"/>
              <a:ext cx="203" cy="229"/>
            </a:xfrm>
            <a:custGeom>
              <a:avLst/>
              <a:gdLst>
                <a:gd name="T0" fmla="*/ 0 w 3942"/>
                <a:gd name="T1" fmla="*/ 0 h 650"/>
                <a:gd name="T2" fmla="*/ 0 w 3942"/>
                <a:gd name="T3" fmla="*/ 0 h 650"/>
                <a:gd name="T4" fmla="*/ 0 w 3942"/>
                <a:gd name="T5" fmla="*/ 0 h 650"/>
                <a:gd name="T6" fmla="*/ 0 w 3942"/>
                <a:gd name="T7" fmla="*/ 0 h 650"/>
                <a:gd name="T8" fmla="*/ 0 w 3942"/>
                <a:gd name="T9" fmla="*/ 0 h 650"/>
                <a:gd name="T10" fmla="*/ 0 w 3942"/>
                <a:gd name="T11" fmla="*/ 0 h 650"/>
                <a:gd name="T12" fmla="*/ 0 w 3942"/>
                <a:gd name="T13" fmla="*/ 0 h 650"/>
                <a:gd name="T14" fmla="*/ 0 w 3942"/>
                <a:gd name="T15" fmla="*/ 0 h 650"/>
                <a:gd name="T16" fmla="*/ 0 w 3942"/>
                <a:gd name="T17" fmla="*/ 0 h 650"/>
                <a:gd name="T18" fmla="*/ 0 w 3942"/>
                <a:gd name="T19" fmla="*/ 0 h 650"/>
                <a:gd name="T20" fmla="*/ 0 w 3942"/>
                <a:gd name="T21" fmla="*/ 0 h 6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42"/>
                <a:gd name="T34" fmla="*/ 0 h 650"/>
                <a:gd name="T35" fmla="*/ 3942 w 3942"/>
                <a:gd name="T36" fmla="*/ 650 h 6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42" h="650">
                  <a:moveTo>
                    <a:pt x="0" y="325"/>
                  </a:moveTo>
                  <a:cubicBezTo>
                    <a:pt x="161" y="162"/>
                    <a:pt x="322" y="0"/>
                    <a:pt x="482" y="0"/>
                  </a:cubicBezTo>
                  <a:cubicBezTo>
                    <a:pt x="643" y="0"/>
                    <a:pt x="805" y="216"/>
                    <a:pt x="966" y="325"/>
                  </a:cubicBezTo>
                  <a:cubicBezTo>
                    <a:pt x="1126" y="434"/>
                    <a:pt x="1288" y="650"/>
                    <a:pt x="1448" y="650"/>
                  </a:cubicBezTo>
                  <a:cubicBezTo>
                    <a:pt x="1609" y="650"/>
                    <a:pt x="1770" y="434"/>
                    <a:pt x="1931" y="325"/>
                  </a:cubicBezTo>
                  <a:cubicBezTo>
                    <a:pt x="2091" y="216"/>
                    <a:pt x="2254" y="0"/>
                    <a:pt x="2414" y="0"/>
                  </a:cubicBezTo>
                  <a:cubicBezTo>
                    <a:pt x="2575" y="0"/>
                    <a:pt x="2736" y="216"/>
                    <a:pt x="2897" y="325"/>
                  </a:cubicBezTo>
                  <a:cubicBezTo>
                    <a:pt x="3057" y="434"/>
                    <a:pt x="3219" y="650"/>
                    <a:pt x="3379" y="650"/>
                  </a:cubicBezTo>
                  <a:cubicBezTo>
                    <a:pt x="3540" y="650"/>
                    <a:pt x="3784" y="381"/>
                    <a:pt x="3863" y="325"/>
                  </a:cubicBezTo>
                  <a:cubicBezTo>
                    <a:pt x="3942" y="269"/>
                    <a:pt x="3853" y="315"/>
                    <a:pt x="3851" y="316"/>
                  </a:cubicBezTo>
                  <a:cubicBezTo>
                    <a:pt x="3849" y="317"/>
                    <a:pt x="3851" y="328"/>
                    <a:pt x="3851" y="331"/>
                  </a:cubicBezTo>
                </a:path>
              </a:pathLst>
            </a:custGeom>
            <a:noFill/>
            <a:ln w="12700" cmpd="sng">
              <a:solidFill>
                <a:srgbClr val="FFFFCC"/>
              </a:solidFill>
              <a:round/>
              <a:headEnd/>
              <a:tailEnd/>
            </a:ln>
          </p:spPr>
          <p:txBody>
            <a:bodyPr/>
            <a:lstStyle/>
            <a:p>
              <a:endParaRPr lang="en-GB"/>
            </a:p>
          </p:txBody>
        </p:sp>
        <p:sp>
          <p:nvSpPr>
            <p:cNvPr id="236" name="Freeform 105"/>
            <p:cNvSpPr>
              <a:spLocks/>
            </p:cNvSpPr>
            <p:nvPr/>
          </p:nvSpPr>
          <p:spPr bwMode="auto">
            <a:xfrm>
              <a:off x="1736" y="2808"/>
              <a:ext cx="203" cy="229"/>
            </a:xfrm>
            <a:custGeom>
              <a:avLst/>
              <a:gdLst>
                <a:gd name="T0" fmla="*/ 0 w 3942"/>
                <a:gd name="T1" fmla="*/ 0 h 650"/>
                <a:gd name="T2" fmla="*/ 0 w 3942"/>
                <a:gd name="T3" fmla="*/ 0 h 650"/>
                <a:gd name="T4" fmla="*/ 0 w 3942"/>
                <a:gd name="T5" fmla="*/ 0 h 650"/>
                <a:gd name="T6" fmla="*/ 0 w 3942"/>
                <a:gd name="T7" fmla="*/ 0 h 650"/>
                <a:gd name="T8" fmla="*/ 0 w 3942"/>
                <a:gd name="T9" fmla="*/ 0 h 650"/>
                <a:gd name="T10" fmla="*/ 0 w 3942"/>
                <a:gd name="T11" fmla="*/ 0 h 650"/>
                <a:gd name="T12" fmla="*/ 0 w 3942"/>
                <a:gd name="T13" fmla="*/ 0 h 650"/>
                <a:gd name="T14" fmla="*/ 0 w 3942"/>
                <a:gd name="T15" fmla="*/ 0 h 650"/>
                <a:gd name="T16" fmla="*/ 0 w 3942"/>
                <a:gd name="T17" fmla="*/ 0 h 650"/>
                <a:gd name="T18" fmla="*/ 0 w 3942"/>
                <a:gd name="T19" fmla="*/ 0 h 650"/>
                <a:gd name="T20" fmla="*/ 0 w 3942"/>
                <a:gd name="T21" fmla="*/ 0 h 6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42"/>
                <a:gd name="T34" fmla="*/ 0 h 650"/>
                <a:gd name="T35" fmla="*/ 3942 w 3942"/>
                <a:gd name="T36" fmla="*/ 650 h 6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42" h="650">
                  <a:moveTo>
                    <a:pt x="0" y="325"/>
                  </a:moveTo>
                  <a:cubicBezTo>
                    <a:pt x="161" y="162"/>
                    <a:pt x="322" y="0"/>
                    <a:pt x="482" y="0"/>
                  </a:cubicBezTo>
                  <a:cubicBezTo>
                    <a:pt x="643" y="0"/>
                    <a:pt x="805" y="216"/>
                    <a:pt x="966" y="325"/>
                  </a:cubicBezTo>
                  <a:cubicBezTo>
                    <a:pt x="1126" y="434"/>
                    <a:pt x="1288" y="650"/>
                    <a:pt x="1448" y="650"/>
                  </a:cubicBezTo>
                  <a:cubicBezTo>
                    <a:pt x="1609" y="650"/>
                    <a:pt x="1770" y="434"/>
                    <a:pt x="1931" y="325"/>
                  </a:cubicBezTo>
                  <a:cubicBezTo>
                    <a:pt x="2091" y="216"/>
                    <a:pt x="2254" y="0"/>
                    <a:pt x="2414" y="0"/>
                  </a:cubicBezTo>
                  <a:cubicBezTo>
                    <a:pt x="2575" y="0"/>
                    <a:pt x="2736" y="216"/>
                    <a:pt x="2897" y="325"/>
                  </a:cubicBezTo>
                  <a:cubicBezTo>
                    <a:pt x="3057" y="434"/>
                    <a:pt x="3219" y="650"/>
                    <a:pt x="3379" y="650"/>
                  </a:cubicBezTo>
                  <a:cubicBezTo>
                    <a:pt x="3540" y="650"/>
                    <a:pt x="3784" y="381"/>
                    <a:pt x="3863" y="325"/>
                  </a:cubicBezTo>
                  <a:cubicBezTo>
                    <a:pt x="3942" y="269"/>
                    <a:pt x="3853" y="315"/>
                    <a:pt x="3851" y="316"/>
                  </a:cubicBezTo>
                  <a:cubicBezTo>
                    <a:pt x="3849" y="317"/>
                    <a:pt x="3851" y="328"/>
                    <a:pt x="3851" y="331"/>
                  </a:cubicBezTo>
                </a:path>
              </a:pathLst>
            </a:custGeom>
            <a:noFill/>
            <a:ln w="12700" cmpd="sng">
              <a:solidFill>
                <a:srgbClr val="FFFFCC"/>
              </a:solidFill>
              <a:round/>
              <a:headEnd/>
              <a:tailEnd/>
            </a:ln>
          </p:spPr>
          <p:txBody>
            <a:bodyPr/>
            <a:lstStyle/>
            <a:p>
              <a:endParaRPr lang="en-GB"/>
            </a:p>
          </p:txBody>
        </p:sp>
        <p:sp>
          <p:nvSpPr>
            <p:cNvPr id="237" name="Freeform 106"/>
            <p:cNvSpPr>
              <a:spLocks/>
            </p:cNvSpPr>
            <p:nvPr/>
          </p:nvSpPr>
          <p:spPr bwMode="auto">
            <a:xfrm>
              <a:off x="1939" y="2808"/>
              <a:ext cx="203" cy="229"/>
            </a:xfrm>
            <a:custGeom>
              <a:avLst/>
              <a:gdLst>
                <a:gd name="T0" fmla="*/ 0 w 3942"/>
                <a:gd name="T1" fmla="*/ 0 h 650"/>
                <a:gd name="T2" fmla="*/ 0 w 3942"/>
                <a:gd name="T3" fmla="*/ 0 h 650"/>
                <a:gd name="T4" fmla="*/ 0 w 3942"/>
                <a:gd name="T5" fmla="*/ 0 h 650"/>
                <a:gd name="T6" fmla="*/ 0 w 3942"/>
                <a:gd name="T7" fmla="*/ 0 h 650"/>
                <a:gd name="T8" fmla="*/ 0 w 3942"/>
                <a:gd name="T9" fmla="*/ 0 h 650"/>
                <a:gd name="T10" fmla="*/ 0 w 3942"/>
                <a:gd name="T11" fmla="*/ 0 h 650"/>
                <a:gd name="T12" fmla="*/ 0 w 3942"/>
                <a:gd name="T13" fmla="*/ 0 h 650"/>
                <a:gd name="T14" fmla="*/ 0 w 3942"/>
                <a:gd name="T15" fmla="*/ 0 h 650"/>
                <a:gd name="T16" fmla="*/ 0 w 3942"/>
                <a:gd name="T17" fmla="*/ 0 h 650"/>
                <a:gd name="T18" fmla="*/ 0 w 3942"/>
                <a:gd name="T19" fmla="*/ 0 h 650"/>
                <a:gd name="T20" fmla="*/ 0 w 3942"/>
                <a:gd name="T21" fmla="*/ 0 h 6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42"/>
                <a:gd name="T34" fmla="*/ 0 h 650"/>
                <a:gd name="T35" fmla="*/ 3942 w 3942"/>
                <a:gd name="T36" fmla="*/ 650 h 6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42" h="650">
                  <a:moveTo>
                    <a:pt x="0" y="325"/>
                  </a:moveTo>
                  <a:cubicBezTo>
                    <a:pt x="161" y="162"/>
                    <a:pt x="322" y="0"/>
                    <a:pt x="482" y="0"/>
                  </a:cubicBezTo>
                  <a:cubicBezTo>
                    <a:pt x="643" y="0"/>
                    <a:pt x="805" y="216"/>
                    <a:pt x="966" y="325"/>
                  </a:cubicBezTo>
                  <a:cubicBezTo>
                    <a:pt x="1126" y="434"/>
                    <a:pt x="1288" y="650"/>
                    <a:pt x="1448" y="650"/>
                  </a:cubicBezTo>
                  <a:cubicBezTo>
                    <a:pt x="1609" y="650"/>
                    <a:pt x="1770" y="434"/>
                    <a:pt x="1931" y="325"/>
                  </a:cubicBezTo>
                  <a:cubicBezTo>
                    <a:pt x="2091" y="216"/>
                    <a:pt x="2254" y="0"/>
                    <a:pt x="2414" y="0"/>
                  </a:cubicBezTo>
                  <a:cubicBezTo>
                    <a:pt x="2575" y="0"/>
                    <a:pt x="2736" y="216"/>
                    <a:pt x="2897" y="325"/>
                  </a:cubicBezTo>
                  <a:cubicBezTo>
                    <a:pt x="3057" y="434"/>
                    <a:pt x="3219" y="650"/>
                    <a:pt x="3379" y="650"/>
                  </a:cubicBezTo>
                  <a:cubicBezTo>
                    <a:pt x="3540" y="650"/>
                    <a:pt x="3784" y="381"/>
                    <a:pt x="3863" y="325"/>
                  </a:cubicBezTo>
                  <a:cubicBezTo>
                    <a:pt x="3942" y="269"/>
                    <a:pt x="3853" y="315"/>
                    <a:pt x="3851" y="316"/>
                  </a:cubicBezTo>
                  <a:cubicBezTo>
                    <a:pt x="3849" y="317"/>
                    <a:pt x="3851" y="328"/>
                    <a:pt x="3851" y="331"/>
                  </a:cubicBezTo>
                </a:path>
              </a:pathLst>
            </a:custGeom>
            <a:noFill/>
            <a:ln w="12700" cmpd="sng">
              <a:solidFill>
                <a:srgbClr val="FFFFCC"/>
              </a:solidFill>
              <a:round/>
              <a:headEnd/>
              <a:tailEnd/>
            </a:ln>
          </p:spPr>
          <p:txBody>
            <a:bodyPr/>
            <a:lstStyle/>
            <a:p>
              <a:endParaRPr lang="en-GB"/>
            </a:p>
          </p:txBody>
        </p:sp>
      </p:grpSp>
    </p:spTree>
    <p:extLst>
      <p:ext uri="{BB962C8B-B14F-4D97-AF65-F5344CB8AC3E}">
        <p14:creationId xmlns:p14="http://schemas.microsoft.com/office/powerpoint/2010/main" val="249939266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cstate="print"/>
          <a:srcRect/>
          <a:stretch>
            <a:fillRect/>
          </a:stretch>
        </p:blipFill>
        <p:spPr bwMode="auto">
          <a:xfrm flipH="1">
            <a:off x="380999" y="991891"/>
            <a:ext cx="2914651" cy="3556356"/>
          </a:xfrm>
          <a:prstGeom prst="rect">
            <a:avLst/>
          </a:prstGeom>
          <a:noFill/>
          <a:ln w="9525">
            <a:noFill/>
            <a:miter lim="800000"/>
            <a:headEnd/>
            <a:tailEnd/>
          </a:ln>
        </p:spPr>
      </p:pic>
      <p:pic>
        <p:nvPicPr>
          <p:cNvPr id="2050" name="Picture 2" descr="http://www.hitl.washington.edu/publications/hollander/figure2.2.gi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80024" y="1077171"/>
            <a:ext cx="2502493" cy="2311828"/>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6754922" y="948252"/>
            <a:ext cx="2381692" cy="400110"/>
          </a:xfrm>
          <a:prstGeom prst="rect">
            <a:avLst/>
          </a:prstGeom>
          <a:solidFill>
            <a:schemeClr val="accent6">
              <a:lumMod val="20000"/>
              <a:lumOff val="80000"/>
            </a:schemeClr>
          </a:solidFill>
        </p:spPr>
        <p:txBody>
          <a:bodyPr wrap="square">
            <a:spAutoFit/>
          </a:bodyPr>
          <a:lstStyle/>
          <a:p>
            <a:r>
              <a:rPr lang="en-GB" sz="1000" dirty="0"/>
              <a:t>http://www.hitl.washington.edu/publications/hollander/2.html</a:t>
            </a:r>
          </a:p>
        </p:txBody>
      </p:sp>
      <p:grpSp>
        <p:nvGrpSpPr>
          <p:cNvPr id="5" name="Group 6"/>
          <p:cNvGrpSpPr>
            <a:grpSpLocks/>
          </p:cNvGrpSpPr>
          <p:nvPr/>
        </p:nvGrpSpPr>
        <p:grpSpPr bwMode="auto">
          <a:xfrm>
            <a:off x="2689733" y="4721523"/>
            <a:ext cx="5691188" cy="1303337"/>
            <a:chOff x="934" y="2913"/>
            <a:chExt cx="3585" cy="821"/>
          </a:xfrm>
        </p:grpSpPr>
        <p:sp>
          <p:nvSpPr>
            <p:cNvPr id="6" name="AutoShape 7"/>
            <p:cNvSpPr>
              <a:spLocks noChangeArrowheads="1"/>
            </p:cNvSpPr>
            <p:nvPr/>
          </p:nvSpPr>
          <p:spPr bwMode="auto">
            <a:xfrm rot="-5400000">
              <a:off x="2364" y="1491"/>
              <a:ext cx="709" cy="3570"/>
            </a:xfrm>
            <a:prstGeom prst="can">
              <a:avLst>
                <a:gd name="adj" fmla="val 125882"/>
              </a:avLst>
            </a:prstGeom>
            <a:gradFill rotWithShape="0">
              <a:gsLst>
                <a:gs pos="0">
                  <a:schemeClr val="hlink"/>
                </a:gs>
                <a:gs pos="50000">
                  <a:schemeClr val="bg2"/>
                </a:gs>
                <a:gs pos="100000">
                  <a:schemeClr val="hlink"/>
                </a:gs>
              </a:gsLst>
              <a:lin ang="5400000" scaled="1"/>
            </a:gradFill>
            <a:ln w="9525">
              <a:noFill/>
              <a:round/>
              <a:headEnd/>
              <a:tailEnd/>
            </a:ln>
            <a:effectLst/>
          </p:spPr>
          <p:txBody>
            <a:bodyPr anchor="ctr">
              <a:spAutoFit/>
            </a:bodyPr>
            <a:lstStyle/>
            <a:p>
              <a:pPr>
                <a:defRPr/>
              </a:pPr>
              <a:endParaRPr lang="en-GB"/>
            </a:p>
          </p:txBody>
        </p:sp>
        <p:sp>
          <p:nvSpPr>
            <p:cNvPr id="7" name="Oval 8"/>
            <p:cNvSpPr>
              <a:spLocks noChangeArrowheads="1"/>
            </p:cNvSpPr>
            <p:nvPr/>
          </p:nvSpPr>
          <p:spPr bwMode="auto">
            <a:xfrm>
              <a:off x="935" y="2913"/>
              <a:ext cx="889" cy="694"/>
            </a:xfrm>
            <a:prstGeom prst="ellipse">
              <a:avLst/>
            </a:prstGeom>
            <a:gradFill rotWithShape="0">
              <a:gsLst>
                <a:gs pos="0">
                  <a:schemeClr val="accent2"/>
                </a:gs>
                <a:gs pos="100000">
                  <a:schemeClr val="tx2"/>
                </a:gs>
              </a:gsLst>
              <a:lin ang="0" scaled="1"/>
            </a:gradFill>
            <a:ln w="9525">
              <a:noFill/>
              <a:round/>
              <a:headEnd/>
              <a:tailEnd/>
            </a:ln>
          </p:spPr>
          <p:txBody>
            <a:bodyPr anchor="ctr">
              <a:spAutoFit/>
            </a:bodyPr>
            <a:lstStyle/>
            <a:p>
              <a:endParaRPr lang="en-US"/>
            </a:p>
          </p:txBody>
        </p:sp>
        <p:sp>
          <p:nvSpPr>
            <p:cNvPr id="8" name="Line 9"/>
            <p:cNvSpPr>
              <a:spLocks noChangeShapeType="1"/>
            </p:cNvSpPr>
            <p:nvPr/>
          </p:nvSpPr>
          <p:spPr bwMode="auto">
            <a:xfrm>
              <a:off x="1753" y="3554"/>
              <a:ext cx="2728" cy="0"/>
            </a:xfrm>
            <a:prstGeom prst="line">
              <a:avLst/>
            </a:prstGeom>
            <a:noFill/>
            <a:ln w="9525">
              <a:solidFill>
                <a:schemeClr val="tx1"/>
              </a:solidFill>
              <a:round/>
              <a:headEnd/>
              <a:tailEnd/>
            </a:ln>
          </p:spPr>
          <p:txBody>
            <a:bodyPr wrap="none" anchor="ctr">
              <a:spAutoFit/>
            </a:bodyPr>
            <a:lstStyle/>
            <a:p>
              <a:endParaRPr lang="en-GB"/>
            </a:p>
          </p:txBody>
        </p:sp>
        <p:grpSp>
          <p:nvGrpSpPr>
            <p:cNvPr id="9" name="Group 10"/>
            <p:cNvGrpSpPr>
              <a:grpSpLocks/>
            </p:cNvGrpSpPr>
            <p:nvPr/>
          </p:nvGrpSpPr>
          <p:grpSpPr bwMode="auto">
            <a:xfrm>
              <a:off x="1886" y="3421"/>
              <a:ext cx="47" cy="281"/>
              <a:chOff x="1886" y="3421"/>
              <a:chExt cx="47" cy="281"/>
            </a:xfrm>
          </p:grpSpPr>
          <p:sp>
            <p:nvSpPr>
              <p:cNvPr id="100" name="Rectangle 11"/>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01" name="Line 12"/>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0" name="Group 13"/>
            <p:cNvGrpSpPr>
              <a:grpSpLocks/>
            </p:cNvGrpSpPr>
            <p:nvPr/>
          </p:nvGrpSpPr>
          <p:grpSpPr bwMode="auto">
            <a:xfrm>
              <a:off x="1971" y="3421"/>
              <a:ext cx="47" cy="281"/>
              <a:chOff x="1886" y="3421"/>
              <a:chExt cx="47" cy="281"/>
            </a:xfrm>
          </p:grpSpPr>
          <p:sp>
            <p:nvSpPr>
              <p:cNvPr id="98" name="Rectangle 14"/>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99" name="Line 15"/>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1" name="Group 16"/>
            <p:cNvGrpSpPr>
              <a:grpSpLocks/>
            </p:cNvGrpSpPr>
            <p:nvPr/>
          </p:nvGrpSpPr>
          <p:grpSpPr bwMode="auto">
            <a:xfrm>
              <a:off x="2057" y="3429"/>
              <a:ext cx="47" cy="281"/>
              <a:chOff x="1886" y="3421"/>
              <a:chExt cx="47" cy="281"/>
            </a:xfrm>
          </p:grpSpPr>
          <p:sp>
            <p:nvSpPr>
              <p:cNvPr id="96" name="Rectangle 17"/>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97" name="Line 18"/>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 name="Group 19"/>
            <p:cNvGrpSpPr>
              <a:grpSpLocks/>
            </p:cNvGrpSpPr>
            <p:nvPr/>
          </p:nvGrpSpPr>
          <p:grpSpPr bwMode="auto">
            <a:xfrm>
              <a:off x="2143" y="3421"/>
              <a:ext cx="47" cy="281"/>
              <a:chOff x="1886" y="3421"/>
              <a:chExt cx="47" cy="281"/>
            </a:xfrm>
          </p:grpSpPr>
          <p:sp>
            <p:nvSpPr>
              <p:cNvPr id="94" name="Rectangle 20"/>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95" name="Line 21"/>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3" name="Group 22"/>
            <p:cNvGrpSpPr>
              <a:grpSpLocks/>
            </p:cNvGrpSpPr>
            <p:nvPr/>
          </p:nvGrpSpPr>
          <p:grpSpPr bwMode="auto">
            <a:xfrm>
              <a:off x="2236" y="3429"/>
              <a:ext cx="47" cy="281"/>
              <a:chOff x="1886" y="3421"/>
              <a:chExt cx="47" cy="281"/>
            </a:xfrm>
          </p:grpSpPr>
          <p:sp>
            <p:nvSpPr>
              <p:cNvPr id="92" name="Rectangle 23"/>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93" name="Line 24"/>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4" name="Group 25"/>
            <p:cNvGrpSpPr>
              <a:grpSpLocks/>
            </p:cNvGrpSpPr>
            <p:nvPr/>
          </p:nvGrpSpPr>
          <p:grpSpPr bwMode="auto">
            <a:xfrm>
              <a:off x="2321" y="3429"/>
              <a:ext cx="47" cy="281"/>
              <a:chOff x="1886" y="3421"/>
              <a:chExt cx="47" cy="281"/>
            </a:xfrm>
          </p:grpSpPr>
          <p:sp>
            <p:nvSpPr>
              <p:cNvPr id="90" name="Rectangle 26"/>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91" name="Line 27"/>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5" name="Group 28"/>
            <p:cNvGrpSpPr>
              <a:grpSpLocks/>
            </p:cNvGrpSpPr>
            <p:nvPr/>
          </p:nvGrpSpPr>
          <p:grpSpPr bwMode="auto">
            <a:xfrm>
              <a:off x="2407" y="3437"/>
              <a:ext cx="47" cy="281"/>
              <a:chOff x="1886" y="3421"/>
              <a:chExt cx="47" cy="281"/>
            </a:xfrm>
          </p:grpSpPr>
          <p:sp>
            <p:nvSpPr>
              <p:cNvPr id="88" name="Rectangle 29"/>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89" name="Line 30"/>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6" name="Group 31"/>
            <p:cNvGrpSpPr>
              <a:grpSpLocks/>
            </p:cNvGrpSpPr>
            <p:nvPr/>
          </p:nvGrpSpPr>
          <p:grpSpPr bwMode="auto">
            <a:xfrm>
              <a:off x="2493" y="3429"/>
              <a:ext cx="47" cy="281"/>
              <a:chOff x="1886" y="3421"/>
              <a:chExt cx="47" cy="281"/>
            </a:xfrm>
          </p:grpSpPr>
          <p:sp>
            <p:nvSpPr>
              <p:cNvPr id="86" name="Rectangle 32"/>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87" name="Line 33"/>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7" name="Group 34"/>
            <p:cNvGrpSpPr>
              <a:grpSpLocks/>
            </p:cNvGrpSpPr>
            <p:nvPr/>
          </p:nvGrpSpPr>
          <p:grpSpPr bwMode="auto">
            <a:xfrm>
              <a:off x="2580" y="3429"/>
              <a:ext cx="47" cy="281"/>
              <a:chOff x="1886" y="3421"/>
              <a:chExt cx="47" cy="281"/>
            </a:xfrm>
          </p:grpSpPr>
          <p:sp>
            <p:nvSpPr>
              <p:cNvPr id="84" name="Rectangle 35"/>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85" name="Line 36"/>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8" name="Group 37"/>
            <p:cNvGrpSpPr>
              <a:grpSpLocks/>
            </p:cNvGrpSpPr>
            <p:nvPr/>
          </p:nvGrpSpPr>
          <p:grpSpPr bwMode="auto">
            <a:xfrm>
              <a:off x="2665" y="3429"/>
              <a:ext cx="47" cy="281"/>
              <a:chOff x="1886" y="3421"/>
              <a:chExt cx="47" cy="281"/>
            </a:xfrm>
          </p:grpSpPr>
          <p:sp>
            <p:nvSpPr>
              <p:cNvPr id="82" name="Rectangle 38"/>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83" name="Line 39"/>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9" name="Group 40"/>
            <p:cNvGrpSpPr>
              <a:grpSpLocks/>
            </p:cNvGrpSpPr>
            <p:nvPr/>
          </p:nvGrpSpPr>
          <p:grpSpPr bwMode="auto">
            <a:xfrm>
              <a:off x="2751" y="3437"/>
              <a:ext cx="47" cy="281"/>
              <a:chOff x="1886" y="3421"/>
              <a:chExt cx="47" cy="281"/>
            </a:xfrm>
          </p:grpSpPr>
          <p:sp>
            <p:nvSpPr>
              <p:cNvPr id="80" name="Rectangle 41"/>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81" name="Line 42"/>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20" name="Group 43"/>
            <p:cNvGrpSpPr>
              <a:grpSpLocks/>
            </p:cNvGrpSpPr>
            <p:nvPr/>
          </p:nvGrpSpPr>
          <p:grpSpPr bwMode="auto">
            <a:xfrm>
              <a:off x="2837" y="3429"/>
              <a:ext cx="47" cy="281"/>
              <a:chOff x="1886" y="3421"/>
              <a:chExt cx="47" cy="281"/>
            </a:xfrm>
          </p:grpSpPr>
          <p:sp>
            <p:nvSpPr>
              <p:cNvPr id="78" name="Rectangle 44"/>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79" name="Line 45"/>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21" name="Group 46"/>
            <p:cNvGrpSpPr>
              <a:grpSpLocks/>
            </p:cNvGrpSpPr>
            <p:nvPr/>
          </p:nvGrpSpPr>
          <p:grpSpPr bwMode="auto">
            <a:xfrm>
              <a:off x="2930" y="3437"/>
              <a:ext cx="47" cy="281"/>
              <a:chOff x="1886" y="3421"/>
              <a:chExt cx="47" cy="281"/>
            </a:xfrm>
          </p:grpSpPr>
          <p:sp>
            <p:nvSpPr>
              <p:cNvPr id="76" name="Rectangle 47"/>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77" name="Line 48"/>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22" name="Group 49"/>
            <p:cNvGrpSpPr>
              <a:grpSpLocks/>
            </p:cNvGrpSpPr>
            <p:nvPr/>
          </p:nvGrpSpPr>
          <p:grpSpPr bwMode="auto">
            <a:xfrm>
              <a:off x="3015" y="3437"/>
              <a:ext cx="47" cy="281"/>
              <a:chOff x="1886" y="3421"/>
              <a:chExt cx="47" cy="281"/>
            </a:xfrm>
          </p:grpSpPr>
          <p:sp>
            <p:nvSpPr>
              <p:cNvPr id="74" name="Rectangle 50"/>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75" name="Line 51"/>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23" name="Group 52"/>
            <p:cNvGrpSpPr>
              <a:grpSpLocks/>
            </p:cNvGrpSpPr>
            <p:nvPr/>
          </p:nvGrpSpPr>
          <p:grpSpPr bwMode="auto">
            <a:xfrm>
              <a:off x="3101" y="3445"/>
              <a:ext cx="47" cy="281"/>
              <a:chOff x="1886" y="3421"/>
              <a:chExt cx="47" cy="281"/>
            </a:xfrm>
          </p:grpSpPr>
          <p:sp>
            <p:nvSpPr>
              <p:cNvPr id="72" name="Rectangle 53"/>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73" name="Line 54"/>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24" name="Group 55"/>
            <p:cNvGrpSpPr>
              <a:grpSpLocks/>
            </p:cNvGrpSpPr>
            <p:nvPr/>
          </p:nvGrpSpPr>
          <p:grpSpPr bwMode="auto">
            <a:xfrm>
              <a:off x="3187" y="3437"/>
              <a:ext cx="47" cy="281"/>
              <a:chOff x="1886" y="3421"/>
              <a:chExt cx="47" cy="281"/>
            </a:xfrm>
          </p:grpSpPr>
          <p:sp>
            <p:nvSpPr>
              <p:cNvPr id="70" name="Rectangle 56"/>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71" name="Line 57"/>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25" name="Group 58"/>
            <p:cNvGrpSpPr>
              <a:grpSpLocks/>
            </p:cNvGrpSpPr>
            <p:nvPr/>
          </p:nvGrpSpPr>
          <p:grpSpPr bwMode="auto">
            <a:xfrm>
              <a:off x="3265" y="3437"/>
              <a:ext cx="47" cy="281"/>
              <a:chOff x="1886" y="3421"/>
              <a:chExt cx="47" cy="281"/>
            </a:xfrm>
          </p:grpSpPr>
          <p:sp>
            <p:nvSpPr>
              <p:cNvPr id="68" name="Rectangle 59"/>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69" name="Line 60"/>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26" name="Group 61"/>
            <p:cNvGrpSpPr>
              <a:grpSpLocks/>
            </p:cNvGrpSpPr>
            <p:nvPr/>
          </p:nvGrpSpPr>
          <p:grpSpPr bwMode="auto">
            <a:xfrm>
              <a:off x="3350" y="3437"/>
              <a:ext cx="47" cy="281"/>
              <a:chOff x="1886" y="3421"/>
              <a:chExt cx="47" cy="281"/>
            </a:xfrm>
          </p:grpSpPr>
          <p:sp>
            <p:nvSpPr>
              <p:cNvPr id="66" name="Rectangle 62"/>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67" name="Line 63"/>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27" name="Group 64"/>
            <p:cNvGrpSpPr>
              <a:grpSpLocks/>
            </p:cNvGrpSpPr>
            <p:nvPr/>
          </p:nvGrpSpPr>
          <p:grpSpPr bwMode="auto">
            <a:xfrm>
              <a:off x="3436" y="3445"/>
              <a:ext cx="47" cy="281"/>
              <a:chOff x="1886" y="3421"/>
              <a:chExt cx="47" cy="281"/>
            </a:xfrm>
          </p:grpSpPr>
          <p:sp>
            <p:nvSpPr>
              <p:cNvPr id="64" name="Rectangle 65"/>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65" name="Line 66"/>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28" name="Group 67"/>
            <p:cNvGrpSpPr>
              <a:grpSpLocks/>
            </p:cNvGrpSpPr>
            <p:nvPr/>
          </p:nvGrpSpPr>
          <p:grpSpPr bwMode="auto">
            <a:xfrm>
              <a:off x="3522" y="3437"/>
              <a:ext cx="47" cy="281"/>
              <a:chOff x="1886" y="3421"/>
              <a:chExt cx="47" cy="281"/>
            </a:xfrm>
          </p:grpSpPr>
          <p:sp>
            <p:nvSpPr>
              <p:cNvPr id="62" name="Rectangle 68"/>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63" name="Line 69"/>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29" name="Group 70"/>
            <p:cNvGrpSpPr>
              <a:grpSpLocks/>
            </p:cNvGrpSpPr>
            <p:nvPr/>
          </p:nvGrpSpPr>
          <p:grpSpPr bwMode="auto">
            <a:xfrm>
              <a:off x="3615" y="3445"/>
              <a:ext cx="47" cy="281"/>
              <a:chOff x="1886" y="3421"/>
              <a:chExt cx="47" cy="281"/>
            </a:xfrm>
          </p:grpSpPr>
          <p:sp>
            <p:nvSpPr>
              <p:cNvPr id="60" name="Rectangle 71"/>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61" name="Line 72"/>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30" name="Group 73"/>
            <p:cNvGrpSpPr>
              <a:grpSpLocks/>
            </p:cNvGrpSpPr>
            <p:nvPr/>
          </p:nvGrpSpPr>
          <p:grpSpPr bwMode="auto">
            <a:xfrm>
              <a:off x="3700" y="3445"/>
              <a:ext cx="47" cy="281"/>
              <a:chOff x="1886" y="3421"/>
              <a:chExt cx="47" cy="281"/>
            </a:xfrm>
          </p:grpSpPr>
          <p:sp>
            <p:nvSpPr>
              <p:cNvPr id="58" name="Rectangle 74"/>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59" name="Line 75"/>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31" name="Group 76"/>
            <p:cNvGrpSpPr>
              <a:grpSpLocks/>
            </p:cNvGrpSpPr>
            <p:nvPr/>
          </p:nvGrpSpPr>
          <p:grpSpPr bwMode="auto">
            <a:xfrm>
              <a:off x="3786" y="3453"/>
              <a:ext cx="47" cy="281"/>
              <a:chOff x="1886" y="3421"/>
              <a:chExt cx="47" cy="281"/>
            </a:xfrm>
          </p:grpSpPr>
          <p:sp>
            <p:nvSpPr>
              <p:cNvPr id="56" name="Rectangle 77"/>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57" name="Line 78"/>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32" name="Group 79"/>
            <p:cNvGrpSpPr>
              <a:grpSpLocks/>
            </p:cNvGrpSpPr>
            <p:nvPr/>
          </p:nvGrpSpPr>
          <p:grpSpPr bwMode="auto">
            <a:xfrm>
              <a:off x="3872" y="3445"/>
              <a:ext cx="47" cy="281"/>
              <a:chOff x="1886" y="3421"/>
              <a:chExt cx="47" cy="281"/>
            </a:xfrm>
          </p:grpSpPr>
          <p:sp>
            <p:nvSpPr>
              <p:cNvPr id="54" name="Rectangle 80"/>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55" name="Line 81"/>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33" name="Group 82"/>
            <p:cNvGrpSpPr>
              <a:grpSpLocks/>
            </p:cNvGrpSpPr>
            <p:nvPr/>
          </p:nvGrpSpPr>
          <p:grpSpPr bwMode="auto">
            <a:xfrm>
              <a:off x="3950" y="3422"/>
              <a:ext cx="47" cy="281"/>
              <a:chOff x="1886" y="3421"/>
              <a:chExt cx="47" cy="281"/>
            </a:xfrm>
          </p:grpSpPr>
          <p:sp>
            <p:nvSpPr>
              <p:cNvPr id="52" name="Rectangle 83"/>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53" name="Line 84"/>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34" name="Group 85"/>
            <p:cNvGrpSpPr>
              <a:grpSpLocks/>
            </p:cNvGrpSpPr>
            <p:nvPr/>
          </p:nvGrpSpPr>
          <p:grpSpPr bwMode="auto">
            <a:xfrm>
              <a:off x="4036" y="3430"/>
              <a:ext cx="47" cy="281"/>
              <a:chOff x="1886" y="3421"/>
              <a:chExt cx="47" cy="281"/>
            </a:xfrm>
          </p:grpSpPr>
          <p:sp>
            <p:nvSpPr>
              <p:cNvPr id="50" name="Rectangle 86"/>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51" name="Line 87"/>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35" name="Group 88"/>
            <p:cNvGrpSpPr>
              <a:grpSpLocks/>
            </p:cNvGrpSpPr>
            <p:nvPr/>
          </p:nvGrpSpPr>
          <p:grpSpPr bwMode="auto">
            <a:xfrm>
              <a:off x="4122" y="3422"/>
              <a:ext cx="47" cy="281"/>
              <a:chOff x="1886" y="3421"/>
              <a:chExt cx="47" cy="281"/>
            </a:xfrm>
          </p:grpSpPr>
          <p:sp>
            <p:nvSpPr>
              <p:cNvPr id="48" name="Rectangle 89"/>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49" name="Line 90"/>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36" name="Group 91"/>
            <p:cNvGrpSpPr>
              <a:grpSpLocks/>
            </p:cNvGrpSpPr>
            <p:nvPr/>
          </p:nvGrpSpPr>
          <p:grpSpPr bwMode="auto">
            <a:xfrm>
              <a:off x="4215" y="3430"/>
              <a:ext cx="47" cy="281"/>
              <a:chOff x="1886" y="3421"/>
              <a:chExt cx="47" cy="281"/>
            </a:xfrm>
          </p:grpSpPr>
          <p:sp>
            <p:nvSpPr>
              <p:cNvPr id="46" name="Rectangle 92"/>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47" name="Line 93"/>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37" name="Group 94"/>
            <p:cNvGrpSpPr>
              <a:grpSpLocks/>
            </p:cNvGrpSpPr>
            <p:nvPr/>
          </p:nvGrpSpPr>
          <p:grpSpPr bwMode="auto">
            <a:xfrm>
              <a:off x="4300" y="3430"/>
              <a:ext cx="47" cy="281"/>
              <a:chOff x="1886" y="3421"/>
              <a:chExt cx="47" cy="281"/>
            </a:xfrm>
          </p:grpSpPr>
          <p:sp>
            <p:nvSpPr>
              <p:cNvPr id="44" name="Rectangle 95"/>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45" name="Line 96"/>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38" name="Group 97"/>
            <p:cNvGrpSpPr>
              <a:grpSpLocks/>
            </p:cNvGrpSpPr>
            <p:nvPr/>
          </p:nvGrpSpPr>
          <p:grpSpPr bwMode="auto">
            <a:xfrm>
              <a:off x="4386" y="3438"/>
              <a:ext cx="47" cy="281"/>
              <a:chOff x="1886" y="3421"/>
              <a:chExt cx="47" cy="281"/>
            </a:xfrm>
          </p:grpSpPr>
          <p:sp>
            <p:nvSpPr>
              <p:cNvPr id="42" name="Rectangle 98"/>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43" name="Line 99"/>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39" name="Group 100"/>
            <p:cNvGrpSpPr>
              <a:grpSpLocks/>
            </p:cNvGrpSpPr>
            <p:nvPr/>
          </p:nvGrpSpPr>
          <p:grpSpPr bwMode="auto">
            <a:xfrm>
              <a:off x="4472" y="3430"/>
              <a:ext cx="47" cy="281"/>
              <a:chOff x="1886" y="3421"/>
              <a:chExt cx="47" cy="281"/>
            </a:xfrm>
          </p:grpSpPr>
          <p:sp>
            <p:nvSpPr>
              <p:cNvPr id="40" name="Rectangle 101"/>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41" name="Line 102"/>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grpSp>
        <p:nvGrpSpPr>
          <p:cNvPr id="102" name="Group 103"/>
          <p:cNvGrpSpPr>
            <a:grpSpLocks/>
          </p:cNvGrpSpPr>
          <p:nvPr/>
        </p:nvGrpSpPr>
        <p:grpSpPr bwMode="auto">
          <a:xfrm>
            <a:off x="4223258" y="5115223"/>
            <a:ext cx="669925" cy="363537"/>
            <a:chOff x="1533" y="2808"/>
            <a:chExt cx="609" cy="229"/>
          </a:xfrm>
        </p:grpSpPr>
        <p:sp>
          <p:nvSpPr>
            <p:cNvPr id="103" name="Freeform 104"/>
            <p:cNvSpPr>
              <a:spLocks/>
            </p:cNvSpPr>
            <p:nvPr/>
          </p:nvSpPr>
          <p:spPr bwMode="auto">
            <a:xfrm>
              <a:off x="1533" y="2808"/>
              <a:ext cx="203" cy="229"/>
            </a:xfrm>
            <a:custGeom>
              <a:avLst/>
              <a:gdLst>
                <a:gd name="T0" fmla="*/ 0 w 3942"/>
                <a:gd name="T1" fmla="*/ 0 h 650"/>
                <a:gd name="T2" fmla="*/ 0 w 3942"/>
                <a:gd name="T3" fmla="*/ 0 h 650"/>
                <a:gd name="T4" fmla="*/ 0 w 3942"/>
                <a:gd name="T5" fmla="*/ 0 h 650"/>
                <a:gd name="T6" fmla="*/ 0 w 3942"/>
                <a:gd name="T7" fmla="*/ 0 h 650"/>
                <a:gd name="T8" fmla="*/ 0 w 3942"/>
                <a:gd name="T9" fmla="*/ 0 h 650"/>
                <a:gd name="T10" fmla="*/ 0 w 3942"/>
                <a:gd name="T11" fmla="*/ 0 h 650"/>
                <a:gd name="T12" fmla="*/ 0 w 3942"/>
                <a:gd name="T13" fmla="*/ 0 h 650"/>
                <a:gd name="T14" fmla="*/ 0 w 3942"/>
                <a:gd name="T15" fmla="*/ 0 h 650"/>
                <a:gd name="T16" fmla="*/ 0 w 3942"/>
                <a:gd name="T17" fmla="*/ 0 h 650"/>
                <a:gd name="T18" fmla="*/ 0 w 3942"/>
                <a:gd name="T19" fmla="*/ 0 h 650"/>
                <a:gd name="T20" fmla="*/ 0 w 3942"/>
                <a:gd name="T21" fmla="*/ 0 h 6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42"/>
                <a:gd name="T34" fmla="*/ 0 h 650"/>
                <a:gd name="T35" fmla="*/ 3942 w 3942"/>
                <a:gd name="T36" fmla="*/ 650 h 6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42" h="650">
                  <a:moveTo>
                    <a:pt x="0" y="325"/>
                  </a:moveTo>
                  <a:cubicBezTo>
                    <a:pt x="161" y="162"/>
                    <a:pt x="322" y="0"/>
                    <a:pt x="482" y="0"/>
                  </a:cubicBezTo>
                  <a:cubicBezTo>
                    <a:pt x="643" y="0"/>
                    <a:pt x="805" y="216"/>
                    <a:pt x="966" y="325"/>
                  </a:cubicBezTo>
                  <a:cubicBezTo>
                    <a:pt x="1126" y="434"/>
                    <a:pt x="1288" y="650"/>
                    <a:pt x="1448" y="650"/>
                  </a:cubicBezTo>
                  <a:cubicBezTo>
                    <a:pt x="1609" y="650"/>
                    <a:pt x="1770" y="434"/>
                    <a:pt x="1931" y="325"/>
                  </a:cubicBezTo>
                  <a:cubicBezTo>
                    <a:pt x="2091" y="216"/>
                    <a:pt x="2254" y="0"/>
                    <a:pt x="2414" y="0"/>
                  </a:cubicBezTo>
                  <a:cubicBezTo>
                    <a:pt x="2575" y="0"/>
                    <a:pt x="2736" y="216"/>
                    <a:pt x="2897" y="325"/>
                  </a:cubicBezTo>
                  <a:cubicBezTo>
                    <a:pt x="3057" y="434"/>
                    <a:pt x="3219" y="650"/>
                    <a:pt x="3379" y="650"/>
                  </a:cubicBezTo>
                  <a:cubicBezTo>
                    <a:pt x="3540" y="650"/>
                    <a:pt x="3784" y="381"/>
                    <a:pt x="3863" y="325"/>
                  </a:cubicBezTo>
                  <a:cubicBezTo>
                    <a:pt x="3942" y="269"/>
                    <a:pt x="3853" y="315"/>
                    <a:pt x="3851" y="316"/>
                  </a:cubicBezTo>
                  <a:cubicBezTo>
                    <a:pt x="3849" y="317"/>
                    <a:pt x="3851" y="328"/>
                    <a:pt x="3851" y="331"/>
                  </a:cubicBezTo>
                </a:path>
              </a:pathLst>
            </a:custGeom>
            <a:noFill/>
            <a:ln w="28575" cmpd="sng">
              <a:solidFill>
                <a:srgbClr val="990000"/>
              </a:solidFill>
              <a:round/>
              <a:headEnd/>
              <a:tailEnd/>
            </a:ln>
          </p:spPr>
          <p:txBody>
            <a:bodyPr/>
            <a:lstStyle/>
            <a:p>
              <a:endParaRPr lang="en-GB"/>
            </a:p>
          </p:txBody>
        </p:sp>
        <p:sp>
          <p:nvSpPr>
            <p:cNvPr id="104" name="Freeform 105"/>
            <p:cNvSpPr>
              <a:spLocks/>
            </p:cNvSpPr>
            <p:nvPr/>
          </p:nvSpPr>
          <p:spPr bwMode="auto">
            <a:xfrm>
              <a:off x="1736" y="2808"/>
              <a:ext cx="203" cy="229"/>
            </a:xfrm>
            <a:custGeom>
              <a:avLst/>
              <a:gdLst>
                <a:gd name="T0" fmla="*/ 0 w 3942"/>
                <a:gd name="T1" fmla="*/ 0 h 650"/>
                <a:gd name="T2" fmla="*/ 0 w 3942"/>
                <a:gd name="T3" fmla="*/ 0 h 650"/>
                <a:gd name="T4" fmla="*/ 0 w 3942"/>
                <a:gd name="T5" fmla="*/ 0 h 650"/>
                <a:gd name="T6" fmla="*/ 0 w 3942"/>
                <a:gd name="T7" fmla="*/ 0 h 650"/>
                <a:gd name="T8" fmla="*/ 0 w 3942"/>
                <a:gd name="T9" fmla="*/ 0 h 650"/>
                <a:gd name="T10" fmla="*/ 0 w 3942"/>
                <a:gd name="T11" fmla="*/ 0 h 650"/>
                <a:gd name="T12" fmla="*/ 0 w 3942"/>
                <a:gd name="T13" fmla="*/ 0 h 650"/>
                <a:gd name="T14" fmla="*/ 0 w 3942"/>
                <a:gd name="T15" fmla="*/ 0 h 650"/>
                <a:gd name="T16" fmla="*/ 0 w 3942"/>
                <a:gd name="T17" fmla="*/ 0 h 650"/>
                <a:gd name="T18" fmla="*/ 0 w 3942"/>
                <a:gd name="T19" fmla="*/ 0 h 650"/>
                <a:gd name="T20" fmla="*/ 0 w 3942"/>
                <a:gd name="T21" fmla="*/ 0 h 6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42"/>
                <a:gd name="T34" fmla="*/ 0 h 650"/>
                <a:gd name="T35" fmla="*/ 3942 w 3942"/>
                <a:gd name="T36" fmla="*/ 650 h 6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42" h="650">
                  <a:moveTo>
                    <a:pt x="0" y="325"/>
                  </a:moveTo>
                  <a:cubicBezTo>
                    <a:pt x="161" y="162"/>
                    <a:pt x="322" y="0"/>
                    <a:pt x="482" y="0"/>
                  </a:cubicBezTo>
                  <a:cubicBezTo>
                    <a:pt x="643" y="0"/>
                    <a:pt x="805" y="216"/>
                    <a:pt x="966" y="325"/>
                  </a:cubicBezTo>
                  <a:cubicBezTo>
                    <a:pt x="1126" y="434"/>
                    <a:pt x="1288" y="650"/>
                    <a:pt x="1448" y="650"/>
                  </a:cubicBezTo>
                  <a:cubicBezTo>
                    <a:pt x="1609" y="650"/>
                    <a:pt x="1770" y="434"/>
                    <a:pt x="1931" y="325"/>
                  </a:cubicBezTo>
                  <a:cubicBezTo>
                    <a:pt x="2091" y="216"/>
                    <a:pt x="2254" y="0"/>
                    <a:pt x="2414" y="0"/>
                  </a:cubicBezTo>
                  <a:cubicBezTo>
                    <a:pt x="2575" y="0"/>
                    <a:pt x="2736" y="216"/>
                    <a:pt x="2897" y="325"/>
                  </a:cubicBezTo>
                  <a:cubicBezTo>
                    <a:pt x="3057" y="434"/>
                    <a:pt x="3219" y="650"/>
                    <a:pt x="3379" y="650"/>
                  </a:cubicBezTo>
                  <a:cubicBezTo>
                    <a:pt x="3540" y="650"/>
                    <a:pt x="3784" y="381"/>
                    <a:pt x="3863" y="325"/>
                  </a:cubicBezTo>
                  <a:cubicBezTo>
                    <a:pt x="3942" y="269"/>
                    <a:pt x="3853" y="315"/>
                    <a:pt x="3851" y="316"/>
                  </a:cubicBezTo>
                  <a:cubicBezTo>
                    <a:pt x="3849" y="317"/>
                    <a:pt x="3851" y="328"/>
                    <a:pt x="3851" y="331"/>
                  </a:cubicBezTo>
                </a:path>
              </a:pathLst>
            </a:custGeom>
            <a:noFill/>
            <a:ln w="28575" cmpd="sng">
              <a:solidFill>
                <a:srgbClr val="990000"/>
              </a:solidFill>
              <a:round/>
              <a:headEnd/>
              <a:tailEnd/>
            </a:ln>
          </p:spPr>
          <p:txBody>
            <a:bodyPr/>
            <a:lstStyle/>
            <a:p>
              <a:endParaRPr lang="en-GB"/>
            </a:p>
          </p:txBody>
        </p:sp>
        <p:sp>
          <p:nvSpPr>
            <p:cNvPr id="105" name="Freeform 106"/>
            <p:cNvSpPr>
              <a:spLocks/>
            </p:cNvSpPr>
            <p:nvPr/>
          </p:nvSpPr>
          <p:spPr bwMode="auto">
            <a:xfrm>
              <a:off x="1939" y="2808"/>
              <a:ext cx="203" cy="229"/>
            </a:xfrm>
            <a:custGeom>
              <a:avLst/>
              <a:gdLst>
                <a:gd name="T0" fmla="*/ 0 w 3942"/>
                <a:gd name="T1" fmla="*/ 0 h 650"/>
                <a:gd name="T2" fmla="*/ 0 w 3942"/>
                <a:gd name="T3" fmla="*/ 0 h 650"/>
                <a:gd name="T4" fmla="*/ 0 w 3942"/>
                <a:gd name="T5" fmla="*/ 0 h 650"/>
                <a:gd name="T6" fmla="*/ 0 w 3942"/>
                <a:gd name="T7" fmla="*/ 0 h 650"/>
                <a:gd name="T8" fmla="*/ 0 w 3942"/>
                <a:gd name="T9" fmla="*/ 0 h 650"/>
                <a:gd name="T10" fmla="*/ 0 w 3942"/>
                <a:gd name="T11" fmla="*/ 0 h 650"/>
                <a:gd name="T12" fmla="*/ 0 w 3942"/>
                <a:gd name="T13" fmla="*/ 0 h 650"/>
                <a:gd name="T14" fmla="*/ 0 w 3942"/>
                <a:gd name="T15" fmla="*/ 0 h 650"/>
                <a:gd name="T16" fmla="*/ 0 w 3942"/>
                <a:gd name="T17" fmla="*/ 0 h 650"/>
                <a:gd name="T18" fmla="*/ 0 w 3942"/>
                <a:gd name="T19" fmla="*/ 0 h 650"/>
                <a:gd name="T20" fmla="*/ 0 w 3942"/>
                <a:gd name="T21" fmla="*/ 0 h 6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42"/>
                <a:gd name="T34" fmla="*/ 0 h 650"/>
                <a:gd name="T35" fmla="*/ 3942 w 3942"/>
                <a:gd name="T36" fmla="*/ 650 h 6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42" h="650">
                  <a:moveTo>
                    <a:pt x="0" y="325"/>
                  </a:moveTo>
                  <a:cubicBezTo>
                    <a:pt x="161" y="162"/>
                    <a:pt x="322" y="0"/>
                    <a:pt x="482" y="0"/>
                  </a:cubicBezTo>
                  <a:cubicBezTo>
                    <a:pt x="643" y="0"/>
                    <a:pt x="805" y="216"/>
                    <a:pt x="966" y="325"/>
                  </a:cubicBezTo>
                  <a:cubicBezTo>
                    <a:pt x="1126" y="434"/>
                    <a:pt x="1288" y="650"/>
                    <a:pt x="1448" y="650"/>
                  </a:cubicBezTo>
                  <a:cubicBezTo>
                    <a:pt x="1609" y="650"/>
                    <a:pt x="1770" y="434"/>
                    <a:pt x="1931" y="325"/>
                  </a:cubicBezTo>
                  <a:cubicBezTo>
                    <a:pt x="2091" y="216"/>
                    <a:pt x="2254" y="0"/>
                    <a:pt x="2414" y="0"/>
                  </a:cubicBezTo>
                  <a:cubicBezTo>
                    <a:pt x="2575" y="0"/>
                    <a:pt x="2736" y="216"/>
                    <a:pt x="2897" y="325"/>
                  </a:cubicBezTo>
                  <a:cubicBezTo>
                    <a:pt x="3057" y="434"/>
                    <a:pt x="3219" y="650"/>
                    <a:pt x="3379" y="650"/>
                  </a:cubicBezTo>
                  <a:cubicBezTo>
                    <a:pt x="3540" y="650"/>
                    <a:pt x="3784" y="381"/>
                    <a:pt x="3863" y="325"/>
                  </a:cubicBezTo>
                  <a:cubicBezTo>
                    <a:pt x="3942" y="269"/>
                    <a:pt x="3853" y="315"/>
                    <a:pt x="3851" y="316"/>
                  </a:cubicBezTo>
                  <a:cubicBezTo>
                    <a:pt x="3849" y="317"/>
                    <a:pt x="3851" y="328"/>
                    <a:pt x="3851" y="331"/>
                  </a:cubicBezTo>
                </a:path>
              </a:pathLst>
            </a:custGeom>
            <a:noFill/>
            <a:ln w="28575" cmpd="sng">
              <a:solidFill>
                <a:srgbClr val="990000"/>
              </a:solidFill>
              <a:round/>
              <a:headEnd/>
              <a:tailEnd/>
            </a:ln>
          </p:spPr>
          <p:txBody>
            <a:bodyPr/>
            <a:lstStyle/>
            <a:p>
              <a:endParaRPr lang="en-GB"/>
            </a:p>
          </p:txBody>
        </p:sp>
      </p:grpSp>
      <p:sp>
        <p:nvSpPr>
          <p:cNvPr id="106" name="Freeform 107"/>
          <p:cNvSpPr>
            <a:spLocks/>
          </p:cNvSpPr>
          <p:nvPr/>
        </p:nvSpPr>
        <p:spPr bwMode="auto">
          <a:xfrm>
            <a:off x="7531608" y="5151735"/>
            <a:ext cx="847725" cy="363538"/>
          </a:xfrm>
          <a:custGeom>
            <a:avLst/>
            <a:gdLst>
              <a:gd name="T0" fmla="*/ 0 w 3942"/>
              <a:gd name="T1" fmla="*/ 2147483647 h 650"/>
              <a:gd name="T2" fmla="*/ 2147483647 w 3942"/>
              <a:gd name="T3" fmla="*/ 0 h 650"/>
              <a:gd name="T4" fmla="*/ 2147483647 w 3942"/>
              <a:gd name="T5" fmla="*/ 2147483647 h 650"/>
              <a:gd name="T6" fmla="*/ 2147483647 w 3942"/>
              <a:gd name="T7" fmla="*/ 2147483647 h 650"/>
              <a:gd name="T8" fmla="*/ 2147483647 w 3942"/>
              <a:gd name="T9" fmla="*/ 2147483647 h 650"/>
              <a:gd name="T10" fmla="*/ 2147483647 w 3942"/>
              <a:gd name="T11" fmla="*/ 0 h 650"/>
              <a:gd name="T12" fmla="*/ 2147483647 w 3942"/>
              <a:gd name="T13" fmla="*/ 2147483647 h 650"/>
              <a:gd name="T14" fmla="*/ 2147483647 w 3942"/>
              <a:gd name="T15" fmla="*/ 2147483647 h 650"/>
              <a:gd name="T16" fmla="*/ 2147483647 w 3942"/>
              <a:gd name="T17" fmla="*/ 2147483647 h 650"/>
              <a:gd name="T18" fmla="*/ 2147483647 w 3942"/>
              <a:gd name="T19" fmla="*/ 2147483647 h 650"/>
              <a:gd name="T20" fmla="*/ 2147483647 w 3942"/>
              <a:gd name="T21" fmla="*/ 2147483647 h 6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42"/>
              <a:gd name="T34" fmla="*/ 0 h 650"/>
              <a:gd name="T35" fmla="*/ 3942 w 3942"/>
              <a:gd name="T36" fmla="*/ 650 h 6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42" h="650">
                <a:moveTo>
                  <a:pt x="0" y="325"/>
                </a:moveTo>
                <a:cubicBezTo>
                  <a:pt x="161" y="162"/>
                  <a:pt x="322" y="0"/>
                  <a:pt x="482" y="0"/>
                </a:cubicBezTo>
                <a:cubicBezTo>
                  <a:pt x="643" y="0"/>
                  <a:pt x="805" y="216"/>
                  <a:pt x="966" y="325"/>
                </a:cubicBezTo>
                <a:cubicBezTo>
                  <a:pt x="1126" y="434"/>
                  <a:pt x="1288" y="650"/>
                  <a:pt x="1448" y="650"/>
                </a:cubicBezTo>
                <a:cubicBezTo>
                  <a:pt x="1609" y="650"/>
                  <a:pt x="1770" y="434"/>
                  <a:pt x="1931" y="325"/>
                </a:cubicBezTo>
                <a:cubicBezTo>
                  <a:pt x="2091" y="216"/>
                  <a:pt x="2254" y="0"/>
                  <a:pt x="2414" y="0"/>
                </a:cubicBezTo>
                <a:cubicBezTo>
                  <a:pt x="2575" y="0"/>
                  <a:pt x="2736" y="216"/>
                  <a:pt x="2897" y="325"/>
                </a:cubicBezTo>
                <a:cubicBezTo>
                  <a:pt x="3057" y="434"/>
                  <a:pt x="3219" y="650"/>
                  <a:pt x="3379" y="650"/>
                </a:cubicBezTo>
                <a:cubicBezTo>
                  <a:pt x="3540" y="650"/>
                  <a:pt x="3784" y="381"/>
                  <a:pt x="3863" y="325"/>
                </a:cubicBezTo>
                <a:cubicBezTo>
                  <a:pt x="3942" y="269"/>
                  <a:pt x="3853" y="315"/>
                  <a:pt x="3851" y="316"/>
                </a:cubicBezTo>
                <a:cubicBezTo>
                  <a:pt x="3849" y="317"/>
                  <a:pt x="3851" y="328"/>
                  <a:pt x="3851" y="331"/>
                </a:cubicBezTo>
              </a:path>
            </a:pathLst>
          </a:custGeom>
          <a:noFill/>
          <a:ln w="28575" cmpd="sng">
            <a:solidFill>
              <a:srgbClr val="000066"/>
            </a:solidFill>
            <a:round/>
            <a:headEnd/>
            <a:tailEnd/>
          </a:ln>
        </p:spPr>
        <p:txBody>
          <a:bodyPr/>
          <a:lstStyle/>
          <a:p>
            <a:endParaRPr lang="en-GB"/>
          </a:p>
        </p:txBody>
      </p:sp>
      <p:grpSp>
        <p:nvGrpSpPr>
          <p:cNvPr id="108" name="Group 109"/>
          <p:cNvGrpSpPr>
            <a:grpSpLocks/>
          </p:cNvGrpSpPr>
          <p:nvPr/>
        </p:nvGrpSpPr>
        <p:grpSpPr bwMode="auto">
          <a:xfrm>
            <a:off x="1207008" y="4846935"/>
            <a:ext cx="1568450" cy="928688"/>
            <a:chOff x="0" y="2992"/>
            <a:chExt cx="988" cy="585"/>
          </a:xfrm>
        </p:grpSpPr>
        <p:sp>
          <p:nvSpPr>
            <p:cNvPr id="109" name="AutoShape 110"/>
            <p:cNvSpPr>
              <a:spLocks noChangeArrowheads="1"/>
            </p:cNvSpPr>
            <p:nvPr/>
          </p:nvSpPr>
          <p:spPr bwMode="auto">
            <a:xfrm>
              <a:off x="0" y="2992"/>
              <a:ext cx="988" cy="585"/>
            </a:xfrm>
            <a:prstGeom prst="rightArrow">
              <a:avLst>
                <a:gd name="adj1" fmla="val 61028"/>
                <a:gd name="adj2" fmla="val 71363"/>
              </a:avLst>
            </a:prstGeom>
            <a:solidFill>
              <a:srgbClr val="FFCC66"/>
            </a:solidFill>
            <a:ln w="9525">
              <a:solidFill>
                <a:srgbClr val="800000"/>
              </a:solidFill>
              <a:miter lim="800000"/>
              <a:headEnd/>
              <a:tailEnd/>
            </a:ln>
          </p:spPr>
          <p:txBody>
            <a:bodyPr anchor="ctr">
              <a:spAutoFit/>
            </a:bodyPr>
            <a:lstStyle/>
            <a:p>
              <a:endParaRPr lang="en-US"/>
            </a:p>
          </p:txBody>
        </p:sp>
        <p:grpSp>
          <p:nvGrpSpPr>
            <p:cNvPr id="110" name="Group 111"/>
            <p:cNvGrpSpPr>
              <a:grpSpLocks/>
            </p:cNvGrpSpPr>
            <p:nvPr/>
          </p:nvGrpSpPr>
          <p:grpSpPr bwMode="auto">
            <a:xfrm>
              <a:off x="0" y="3183"/>
              <a:ext cx="281" cy="229"/>
              <a:chOff x="0" y="3183"/>
              <a:chExt cx="281" cy="229"/>
            </a:xfrm>
          </p:grpSpPr>
          <p:sp>
            <p:nvSpPr>
              <p:cNvPr id="112" name="Freeform 112"/>
              <p:cNvSpPr>
                <a:spLocks/>
              </p:cNvSpPr>
              <p:nvPr/>
            </p:nvSpPr>
            <p:spPr bwMode="auto">
              <a:xfrm>
                <a:off x="0" y="3183"/>
                <a:ext cx="141" cy="229"/>
              </a:xfrm>
              <a:custGeom>
                <a:avLst/>
                <a:gdLst>
                  <a:gd name="T0" fmla="*/ 0 w 3942"/>
                  <a:gd name="T1" fmla="*/ 0 h 650"/>
                  <a:gd name="T2" fmla="*/ 0 w 3942"/>
                  <a:gd name="T3" fmla="*/ 0 h 650"/>
                  <a:gd name="T4" fmla="*/ 0 w 3942"/>
                  <a:gd name="T5" fmla="*/ 0 h 650"/>
                  <a:gd name="T6" fmla="*/ 0 w 3942"/>
                  <a:gd name="T7" fmla="*/ 0 h 650"/>
                  <a:gd name="T8" fmla="*/ 0 w 3942"/>
                  <a:gd name="T9" fmla="*/ 0 h 650"/>
                  <a:gd name="T10" fmla="*/ 0 w 3942"/>
                  <a:gd name="T11" fmla="*/ 0 h 650"/>
                  <a:gd name="T12" fmla="*/ 0 w 3942"/>
                  <a:gd name="T13" fmla="*/ 0 h 650"/>
                  <a:gd name="T14" fmla="*/ 0 w 3942"/>
                  <a:gd name="T15" fmla="*/ 0 h 650"/>
                  <a:gd name="T16" fmla="*/ 0 w 3942"/>
                  <a:gd name="T17" fmla="*/ 0 h 650"/>
                  <a:gd name="T18" fmla="*/ 0 w 3942"/>
                  <a:gd name="T19" fmla="*/ 0 h 650"/>
                  <a:gd name="T20" fmla="*/ 0 w 3942"/>
                  <a:gd name="T21" fmla="*/ 0 h 6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42"/>
                  <a:gd name="T34" fmla="*/ 0 h 650"/>
                  <a:gd name="T35" fmla="*/ 3942 w 3942"/>
                  <a:gd name="T36" fmla="*/ 650 h 6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42" h="650">
                    <a:moveTo>
                      <a:pt x="0" y="325"/>
                    </a:moveTo>
                    <a:cubicBezTo>
                      <a:pt x="161" y="162"/>
                      <a:pt x="322" y="0"/>
                      <a:pt x="482" y="0"/>
                    </a:cubicBezTo>
                    <a:cubicBezTo>
                      <a:pt x="643" y="0"/>
                      <a:pt x="805" y="216"/>
                      <a:pt x="966" y="325"/>
                    </a:cubicBezTo>
                    <a:cubicBezTo>
                      <a:pt x="1126" y="434"/>
                      <a:pt x="1288" y="650"/>
                      <a:pt x="1448" y="650"/>
                    </a:cubicBezTo>
                    <a:cubicBezTo>
                      <a:pt x="1609" y="650"/>
                      <a:pt x="1770" y="434"/>
                      <a:pt x="1931" y="325"/>
                    </a:cubicBezTo>
                    <a:cubicBezTo>
                      <a:pt x="2091" y="216"/>
                      <a:pt x="2254" y="0"/>
                      <a:pt x="2414" y="0"/>
                    </a:cubicBezTo>
                    <a:cubicBezTo>
                      <a:pt x="2575" y="0"/>
                      <a:pt x="2736" y="216"/>
                      <a:pt x="2897" y="325"/>
                    </a:cubicBezTo>
                    <a:cubicBezTo>
                      <a:pt x="3057" y="434"/>
                      <a:pt x="3219" y="650"/>
                      <a:pt x="3379" y="650"/>
                    </a:cubicBezTo>
                    <a:cubicBezTo>
                      <a:pt x="3540" y="650"/>
                      <a:pt x="3784" y="381"/>
                      <a:pt x="3863" y="325"/>
                    </a:cubicBezTo>
                    <a:cubicBezTo>
                      <a:pt x="3942" y="269"/>
                      <a:pt x="3853" y="315"/>
                      <a:pt x="3851" y="316"/>
                    </a:cubicBezTo>
                    <a:cubicBezTo>
                      <a:pt x="3849" y="317"/>
                      <a:pt x="3851" y="328"/>
                      <a:pt x="3851" y="331"/>
                    </a:cubicBezTo>
                  </a:path>
                </a:pathLst>
              </a:custGeom>
              <a:noFill/>
              <a:ln w="28575" cmpd="sng">
                <a:solidFill>
                  <a:srgbClr val="990000"/>
                </a:solidFill>
                <a:round/>
                <a:headEnd/>
                <a:tailEnd/>
              </a:ln>
            </p:spPr>
            <p:txBody>
              <a:bodyPr/>
              <a:lstStyle/>
              <a:p>
                <a:endParaRPr lang="en-GB"/>
              </a:p>
            </p:txBody>
          </p:sp>
          <p:sp>
            <p:nvSpPr>
              <p:cNvPr id="113" name="Freeform 113"/>
              <p:cNvSpPr>
                <a:spLocks/>
              </p:cNvSpPr>
              <p:nvPr/>
            </p:nvSpPr>
            <p:spPr bwMode="auto">
              <a:xfrm>
                <a:off x="141" y="3183"/>
                <a:ext cx="140" cy="229"/>
              </a:xfrm>
              <a:custGeom>
                <a:avLst/>
                <a:gdLst>
                  <a:gd name="T0" fmla="*/ 0 w 3942"/>
                  <a:gd name="T1" fmla="*/ 0 h 650"/>
                  <a:gd name="T2" fmla="*/ 0 w 3942"/>
                  <a:gd name="T3" fmla="*/ 0 h 650"/>
                  <a:gd name="T4" fmla="*/ 0 w 3942"/>
                  <a:gd name="T5" fmla="*/ 0 h 650"/>
                  <a:gd name="T6" fmla="*/ 0 w 3942"/>
                  <a:gd name="T7" fmla="*/ 0 h 650"/>
                  <a:gd name="T8" fmla="*/ 0 w 3942"/>
                  <a:gd name="T9" fmla="*/ 0 h 650"/>
                  <a:gd name="T10" fmla="*/ 0 w 3942"/>
                  <a:gd name="T11" fmla="*/ 0 h 650"/>
                  <a:gd name="T12" fmla="*/ 0 w 3942"/>
                  <a:gd name="T13" fmla="*/ 0 h 650"/>
                  <a:gd name="T14" fmla="*/ 0 w 3942"/>
                  <a:gd name="T15" fmla="*/ 0 h 650"/>
                  <a:gd name="T16" fmla="*/ 0 w 3942"/>
                  <a:gd name="T17" fmla="*/ 0 h 650"/>
                  <a:gd name="T18" fmla="*/ 0 w 3942"/>
                  <a:gd name="T19" fmla="*/ 0 h 650"/>
                  <a:gd name="T20" fmla="*/ 0 w 3942"/>
                  <a:gd name="T21" fmla="*/ 0 h 6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42"/>
                  <a:gd name="T34" fmla="*/ 0 h 650"/>
                  <a:gd name="T35" fmla="*/ 3942 w 3942"/>
                  <a:gd name="T36" fmla="*/ 650 h 6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42" h="650">
                    <a:moveTo>
                      <a:pt x="0" y="325"/>
                    </a:moveTo>
                    <a:cubicBezTo>
                      <a:pt x="161" y="162"/>
                      <a:pt x="322" y="0"/>
                      <a:pt x="482" y="0"/>
                    </a:cubicBezTo>
                    <a:cubicBezTo>
                      <a:pt x="643" y="0"/>
                      <a:pt x="805" y="216"/>
                      <a:pt x="966" y="325"/>
                    </a:cubicBezTo>
                    <a:cubicBezTo>
                      <a:pt x="1126" y="434"/>
                      <a:pt x="1288" y="650"/>
                      <a:pt x="1448" y="650"/>
                    </a:cubicBezTo>
                    <a:cubicBezTo>
                      <a:pt x="1609" y="650"/>
                      <a:pt x="1770" y="434"/>
                      <a:pt x="1931" y="325"/>
                    </a:cubicBezTo>
                    <a:cubicBezTo>
                      <a:pt x="2091" y="216"/>
                      <a:pt x="2254" y="0"/>
                      <a:pt x="2414" y="0"/>
                    </a:cubicBezTo>
                    <a:cubicBezTo>
                      <a:pt x="2575" y="0"/>
                      <a:pt x="2736" y="216"/>
                      <a:pt x="2897" y="325"/>
                    </a:cubicBezTo>
                    <a:cubicBezTo>
                      <a:pt x="3057" y="434"/>
                      <a:pt x="3219" y="650"/>
                      <a:pt x="3379" y="650"/>
                    </a:cubicBezTo>
                    <a:cubicBezTo>
                      <a:pt x="3540" y="650"/>
                      <a:pt x="3784" y="381"/>
                      <a:pt x="3863" y="325"/>
                    </a:cubicBezTo>
                    <a:cubicBezTo>
                      <a:pt x="3942" y="269"/>
                      <a:pt x="3853" y="315"/>
                      <a:pt x="3851" y="316"/>
                    </a:cubicBezTo>
                    <a:cubicBezTo>
                      <a:pt x="3849" y="317"/>
                      <a:pt x="3851" y="328"/>
                      <a:pt x="3851" y="331"/>
                    </a:cubicBezTo>
                  </a:path>
                </a:pathLst>
              </a:custGeom>
              <a:noFill/>
              <a:ln w="28575" cmpd="sng">
                <a:solidFill>
                  <a:srgbClr val="990000"/>
                </a:solidFill>
                <a:round/>
                <a:headEnd/>
                <a:tailEnd/>
              </a:ln>
            </p:spPr>
            <p:txBody>
              <a:bodyPr/>
              <a:lstStyle/>
              <a:p>
                <a:endParaRPr lang="en-GB"/>
              </a:p>
            </p:txBody>
          </p:sp>
        </p:grpSp>
        <p:sp>
          <p:nvSpPr>
            <p:cNvPr id="111" name="Freeform 114"/>
            <p:cNvSpPr>
              <a:spLocks/>
            </p:cNvSpPr>
            <p:nvPr/>
          </p:nvSpPr>
          <p:spPr bwMode="auto">
            <a:xfrm>
              <a:off x="287" y="3188"/>
              <a:ext cx="534" cy="229"/>
            </a:xfrm>
            <a:custGeom>
              <a:avLst/>
              <a:gdLst>
                <a:gd name="T0" fmla="*/ 0 w 3942"/>
                <a:gd name="T1" fmla="*/ 0 h 650"/>
                <a:gd name="T2" fmla="*/ 0 w 3942"/>
                <a:gd name="T3" fmla="*/ 0 h 650"/>
                <a:gd name="T4" fmla="*/ 0 w 3942"/>
                <a:gd name="T5" fmla="*/ 0 h 650"/>
                <a:gd name="T6" fmla="*/ 0 w 3942"/>
                <a:gd name="T7" fmla="*/ 0 h 650"/>
                <a:gd name="T8" fmla="*/ 0 w 3942"/>
                <a:gd name="T9" fmla="*/ 0 h 650"/>
                <a:gd name="T10" fmla="*/ 0 w 3942"/>
                <a:gd name="T11" fmla="*/ 0 h 650"/>
                <a:gd name="T12" fmla="*/ 0 w 3942"/>
                <a:gd name="T13" fmla="*/ 0 h 650"/>
                <a:gd name="T14" fmla="*/ 0 w 3942"/>
                <a:gd name="T15" fmla="*/ 0 h 650"/>
                <a:gd name="T16" fmla="*/ 0 w 3942"/>
                <a:gd name="T17" fmla="*/ 0 h 650"/>
                <a:gd name="T18" fmla="*/ 0 w 3942"/>
                <a:gd name="T19" fmla="*/ 0 h 650"/>
                <a:gd name="T20" fmla="*/ 0 w 3942"/>
                <a:gd name="T21" fmla="*/ 0 h 6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42"/>
                <a:gd name="T34" fmla="*/ 0 h 650"/>
                <a:gd name="T35" fmla="*/ 3942 w 3942"/>
                <a:gd name="T36" fmla="*/ 650 h 6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42" h="650">
                  <a:moveTo>
                    <a:pt x="0" y="325"/>
                  </a:moveTo>
                  <a:cubicBezTo>
                    <a:pt x="161" y="162"/>
                    <a:pt x="322" y="0"/>
                    <a:pt x="482" y="0"/>
                  </a:cubicBezTo>
                  <a:cubicBezTo>
                    <a:pt x="643" y="0"/>
                    <a:pt x="805" y="216"/>
                    <a:pt x="966" y="325"/>
                  </a:cubicBezTo>
                  <a:cubicBezTo>
                    <a:pt x="1126" y="434"/>
                    <a:pt x="1288" y="650"/>
                    <a:pt x="1448" y="650"/>
                  </a:cubicBezTo>
                  <a:cubicBezTo>
                    <a:pt x="1609" y="650"/>
                    <a:pt x="1770" y="434"/>
                    <a:pt x="1931" y="325"/>
                  </a:cubicBezTo>
                  <a:cubicBezTo>
                    <a:pt x="2091" y="216"/>
                    <a:pt x="2254" y="0"/>
                    <a:pt x="2414" y="0"/>
                  </a:cubicBezTo>
                  <a:cubicBezTo>
                    <a:pt x="2575" y="0"/>
                    <a:pt x="2736" y="216"/>
                    <a:pt x="2897" y="325"/>
                  </a:cubicBezTo>
                  <a:cubicBezTo>
                    <a:pt x="3057" y="434"/>
                    <a:pt x="3219" y="650"/>
                    <a:pt x="3379" y="650"/>
                  </a:cubicBezTo>
                  <a:cubicBezTo>
                    <a:pt x="3540" y="650"/>
                    <a:pt x="3784" y="381"/>
                    <a:pt x="3863" y="325"/>
                  </a:cubicBezTo>
                  <a:cubicBezTo>
                    <a:pt x="3942" y="269"/>
                    <a:pt x="3853" y="315"/>
                    <a:pt x="3851" y="316"/>
                  </a:cubicBezTo>
                  <a:cubicBezTo>
                    <a:pt x="3849" y="317"/>
                    <a:pt x="3851" y="328"/>
                    <a:pt x="3851" y="331"/>
                  </a:cubicBezTo>
                </a:path>
              </a:pathLst>
            </a:custGeom>
            <a:noFill/>
            <a:ln w="28575" cmpd="sng">
              <a:solidFill>
                <a:srgbClr val="000066"/>
              </a:solidFill>
              <a:round/>
              <a:headEnd/>
              <a:tailEnd/>
            </a:ln>
          </p:spPr>
          <p:txBody>
            <a:bodyPr/>
            <a:lstStyle/>
            <a:p>
              <a:endParaRPr lang="en-GB"/>
            </a:p>
          </p:txBody>
        </p:sp>
      </p:grpSp>
      <p:sp>
        <p:nvSpPr>
          <p:cNvPr id="114" name="AutoShape 119"/>
          <p:cNvSpPr>
            <a:spLocks noChangeArrowheads="1"/>
          </p:cNvSpPr>
          <p:nvPr/>
        </p:nvSpPr>
        <p:spPr bwMode="auto">
          <a:xfrm rot="2449028">
            <a:off x="4188333" y="5477173"/>
            <a:ext cx="247650" cy="234950"/>
          </a:xfrm>
          <a:prstGeom prst="lightningBolt">
            <a:avLst/>
          </a:prstGeom>
          <a:solidFill>
            <a:srgbClr val="FFFF00"/>
          </a:solidFill>
          <a:ln w="9525">
            <a:solidFill>
              <a:schemeClr val="tx1"/>
            </a:solidFill>
            <a:miter lim="800000"/>
            <a:headEnd/>
            <a:tailEnd/>
          </a:ln>
        </p:spPr>
        <p:txBody>
          <a:bodyPr wrap="none" anchor="ctr">
            <a:spAutoFit/>
          </a:bodyPr>
          <a:lstStyle/>
          <a:p>
            <a:endParaRPr lang="en-US"/>
          </a:p>
        </p:txBody>
      </p:sp>
      <p:sp>
        <p:nvSpPr>
          <p:cNvPr id="115" name="AutoShape 120"/>
          <p:cNvSpPr>
            <a:spLocks noChangeArrowheads="1"/>
          </p:cNvSpPr>
          <p:nvPr/>
        </p:nvSpPr>
        <p:spPr bwMode="auto">
          <a:xfrm rot="2158125">
            <a:off x="4423283" y="5439073"/>
            <a:ext cx="247650" cy="234950"/>
          </a:xfrm>
          <a:prstGeom prst="lightningBolt">
            <a:avLst/>
          </a:prstGeom>
          <a:solidFill>
            <a:srgbClr val="FFFF00"/>
          </a:solidFill>
          <a:ln w="9525">
            <a:solidFill>
              <a:schemeClr val="tx1"/>
            </a:solidFill>
            <a:miter lim="800000"/>
            <a:headEnd/>
            <a:tailEnd/>
          </a:ln>
        </p:spPr>
        <p:txBody>
          <a:bodyPr wrap="none" anchor="ctr">
            <a:spAutoFit/>
          </a:bodyPr>
          <a:lstStyle/>
          <a:p>
            <a:endParaRPr lang="en-US"/>
          </a:p>
        </p:txBody>
      </p:sp>
      <p:sp>
        <p:nvSpPr>
          <p:cNvPr id="116" name="AutoShape 121"/>
          <p:cNvSpPr>
            <a:spLocks noChangeArrowheads="1"/>
          </p:cNvSpPr>
          <p:nvPr/>
        </p:nvSpPr>
        <p:spPr bwMode="auto">
          <a:xfrm rot="2158125">
            <a:off x="4704271" y="5547023"/>
            <a:ext cx="214312" cy="168275"/>
          </a:xfrm>
          <a:prstGeom prst="lightningBolt">
            <a:avLst/>
          </a:prstGeom>
          <a:solidFill>
            <a:srgbClr val="FFFF00"/>
          </a:solidFill>
          <a:ln w="9525">
            <a:solidFill>
              <a:schemeClr val="tx1"/>
            </a:solidFill>
            <a:miter lim="800000"/>
            <a:headEnd/>
            <a:tailEnd/>
          </a:ln>
        </p:spPr>
        <p:txBody>
          <a:bodyPr anchor="ctr">
            <a:spAutoFit/>
          </a:bodyPr>
          <a:lstStyle/>
          <a:p>
            <a:endParaRPr lang="en-US"/>
          </a:p>
        </p:txBody>
      </p:sp>
      <p:sp>
        <p:nvSpPr>
          <p:cNvPr id="117" name="AutoShape 122"/>
          <p:cNvSpPr>
            <a:spLocks noChangeArrowheads="1"/>
          </p:cNvSpPr>
          <p:nvPr/>
        </p:nvSpPr>
        <p:spPr bwMode="auto">
          <a:xfrm rot="2158125">
            <a:off x="4559808" y="5415260"/>
            <a:ext cx="247650" cy="234950"/>
          </a:xfrm>
          <a:prstGeom prst="lightningBolt">
            <a:avLst/>
          </a:prstGeom>
          <a:solidFill>
            <a:srgbClr val="FFFF00"/>
          </a:solidFill>
          <a:ln w="9525">
            <a:solidFill>
              <a:schemeClr val="tx1"/>
            </a:solidFill>
            <a:miter lim="800000"/>
            <a:headEnd/>
            <a:tailEnd/>
          </a:ln>
        </p:spPr>
        <p:txBody>
          <a:bodyPr wrap="none" anchor="ctr">
            <a:spAutoFit/>
          </a:bodyPr>
          <a:lstStyle/>
          <a:p>
            <a:endParaRPr lang="en-US"/>
          </a:p>
        </p:txBody>
      </p:sp>
      <p:sp>
        <p:nvSpPr>
          <p:cNvPr id="118" name="AutoShape 123"/>
          <p:cNvSpPr>
            <a:spLocks noChangeArrowheads="1"/>
          </p:cNvSpPr>
          <p:nvPr/>
        </p:nvSpPr>
        <p:spPr bwMode="auto">
          <a:xfrm rot="2158125">
            <a:off x="7836408" y="5526385"/>
            <a:ext cx="247650" cy="234950"/>
          </a:xfrm>
          <a:prstGeom prst="lightningBolt">
            <a:avLst/>
          </a:prstGeom>
          <a:solidFill>
            <a:srgbClr val="FFFF00"/>
          </a:solidFill>
          <a:ln w="9525">
            <a:solidFill>
              <a:schemeClr val="tx1"/>
            </a:solidFill>
            <a:miter lim="800000"/>
            <a:headEnd/>
            <a:tailEnd/>
          </a:ln>
        </p:spPr>
        <p:txBody>
          <a:bodyPr wrap="none" anchor="ctr">
            <a:spAutoFit/>
          </a:bodyPr>
          <a:lstStyle/>
          <a:p>
            <a:endParaRPr lang="en-US"/>
          </a:p>
        </p:txBody>
      </p:sp>
      <p:sp>
        <p:nvSpPr>
          <p:cNvPr id="119" name="AutoShape 124"/>
          <p:cNvSpPr>
            <a:spLocks noChangeArrowheads="1"/>
          </p:cNvSpPr>
          <p:nvPr/>
        </p:nvSpPr>
        <p:spPr bwMode="auto">
          <a:xfrm rot="2158125">
            <a:off x="8009446" y="5478760"/>
            <a:ext cx="247650" cy="234950"/>
          </a:xfrm>
          <a:prstGeom prst="lightningBolt">
            <a:avLst/>
          </a:prstGeom>
          <a:solidFill>
            <a:srgbClr val="FFFF00"/>
          </a:solidFill>
          <a:ln w="9525">
            <a:solidFill>
              <a:schemeClr val="tx1"/>
            </a:solidFill>
            <a:miter lim="800000"/>
            <a:headEnd/>
            <a:tailEnd/>
          </a:ln>
        </p:spPr>
        <p:txBody>
          <a:bodyPr wrap="none" anchor="ctr">
            <a:spAutoFit/>
          </a:bodyPr>
          <a:lstStyle/>
          <a:p>
            <a:endParaRPr lang="en-US"/>
          </a:p>
        </p:txBody>
      </p:sp>
      <p:sp>
        <p:nvSpPr>
          <p:cNvPr id="120" name="AutoShape 125"/>
          <p:cNvSpPr>
            <a:spLocks noChangeArrowheads="1"/>
          </p:cNvSpPr>
          <p:nvPr/>
        </p:nvSpPr>
        <p:spPr bwMode="auto">
          <a:xfrm rot="2158125">
            <a:off x="7404608" y="5502573"/>
            <a:ext cx="247650" cy="234950"/>
          </a:xfrm>
          <a:prstGeom prst="lightningBolt">
            <a:avLst/>
          </a:prstGeom>
          <a:solidFill>
            <a:srgbClr val="FFFF00"/>
          </a:solidFill>
          <a:ln w="9525">
            <a:solidFill>
              <a:schemeClr val="tx1"/>
            </a:solidFill>
            <a:miter lim="800000"/>
            <a:headEnd/>
            <a:tailEnd/>
          </a:ln>
        </p:spPr>
        <p:txBody>
          <a:bodyPr wrap="none" anchor="ctr">
            <a:spAutoFit/>
          </a:bodyPr>
          <a:lstStyle/>
          <a:p>
            <a:endParaRPr lang="en-US"/>
          </a:p>
        </p:txBody>
      </p:sp>
      <p:sp>
        <p:nvSpPr>
          <p:cNvPr id="121" name="AutoShape 126"/>
          <p:cNvSpPr>
            <a:spLocks noChangeArrowheads="1"/>
          </p:cNvSpPr>
          <p:nvPr/>
        </p:nvSpPr>
        <p:spPr bwMode="auto">
          <a:xfrm rot="2158125">
            <a:off x="7650671" y="5513685"/>
            <a:ext cx="247650" cy="234950"/>
          </a:xfrm>
          <a:prstGeom prst="lightningBolt">
            <a:avLst/>
          </a:prstGeom>
          <a:solidFill>
            <a:srgbClr val="FFFF00"/>
          </a:solidFill>
          <a:ln w="9525">
            <a:solidFill>
              <a:schemeClr val="tx1"/>
            </a:solidFill>
            <a:miter lim="800000"/>
            <a:headEnd/>
            <a:tailEnd/>
          </a:ln>
        </p:spPr>
        <p:txBody>
          <a:bodyPr wrap="none" anchor="ctr">
            <a:spAutoFit/>
          </a:bodyPr>
          <a:lstStyle/>
          <a:p>
            <a:endParaRPr lang="en-US"/>
          </a:p>
        </p:txBody>
      </p:sp>
      <p:sp>
        <p:nvSpPr>
          <p:cNvPr id="123" name="AutoShape 128"/>
          <p:cNvSpPr>
            <a:spLocks noChangeArrowheads="1"/>
          </p:cNvSpPr>
          <p:nvPr/>
        </p:nvSpPr>
        <p:spPr bwMode="auto">
          <a:xfrm>
            <a:off x="1038627" y="3203476"/>
            <a:ext cx="695325" cy="1898650"/>
          </a:xfrm>
          <a:prstGeom prst="curvedRightArrow">
            <a:avLst>
              <a:gd name="adj1" fmla="val 53826"/>
              <a:gd name="adj2" fmla="val 109224"/>
              <a:gd name="adj3" fmla="val 74236"/>
            </a:avLst>
          </a:prstGeom>
          <a:solidFill>
            <a:srgbClr val="C0C0C0"/>
          </a:solidFill>
          <a:ln w="9525">
            <a:solidFill>
              <a:schemeClr val="accent2"/>
            </a:solidFill>
            <a:miter lim="800000"/>
            <a:headEnd/>
            <a:tailEnd/>
          </a:ln>
        </p:spPr>
        <p:txBody>
          <a:bodyPr anchor="ctr">
            <a:spAutoFit/>
          </a:bodyPr>
          <a:lstStyle/>
          <a:p>
            <a:endParaRPr lang="en-US"/>
          </a:p>
        </p:txBody>
      </p:sp>
      <p:sp>
        <p:nvSpPr>
          <p:cNvPr id="124" name="Text Box 129"/>
          <p:cNvSpPr txBox="1">
            <a:spLocks noChangeArrowheads="1"/>
          </p:cNvSpPr>
          <p:nvPr/>
        </p:nvSpPr>
        <p:spPr bwMode="auto">
          <a:xfrm>
            <a:off x="861523" y="5620048"/>
            <a:ext cx="1768475" cy="581025"/>
          </a:xfrm>
          <a:prstGeom prst="rect">
            <a:avLst/>
          </a:prstGeom>
          <a:noFill/>
          <a:ln w="9525" algn="ctr">
            <a:noFill/>
            <a:miter lim="800000"/>
            <a:headEnd/>
            <a:tailEnd/>
          </a:ln>
        </p:spPr>
        <p:txBody>
          <a:bodyPr>
            <a:spAutoFit/>
          </a:bodyPr>
          <a:lstStyle/>
          <a:p>
            <a:r>
              <a:rPr lang="en-GB" sz="1600" dirty="0"/>
              <a:t>low + high frequencies</a:t>
            </a:r>
            <a:endParaRPr lang="en-US" sz="1600" dirty="0"/>
          </a:p>
        </p:txBody>
      </p:sp>
      <p:sp>
        <p:nvSpPr>
          <p:cNvPr id="129" name="Rectangle 4"/>
          <p:cNvSpPr>
            <a:spLocks noChangeArrowheads="1"/>
          </p:cNvSpPr>
          <p:nvPr/>
        </p:nvSpPr>
        <p:spPr bwMode="auto">
          <a:xfrm>
            <a:off x="380771" y="351880"/>
            <a:ext cx="6280887" cy="461665"/>
          </a:xfrm>
          <a:prstGeom prst="rect">
            <a:avLst/>
          </a:prstGeom>
          <a:noFill/>
          <a:ln w="9525">
            <a:noFill/>
            <a:miter lim="800000"/>
            <a:headEnd/>
            <a:tailEnd/>
          </a:ln>
        </p:spPr>
        <p:txBody>
          <a:bodyPr wrap="none">
            <a:spAutoFit/>
          </a:bodyPr>
          <a:lstStyle/>
          <a:p>
            <a:r>
              <a:rPr lang="en-GB" sz="2400" b="1" dirty="0"/>
              <a:t>The Physiology of Hearing – The Cochlea</a:t>
            </a:r>
          </a:p>
        </p:txBody>
      </p:sp>
    </p:spTree>
    <p:extLst>
      <p:ext uri="{BB962C8B-B14F-4D97-AF65-F5344CB8AC3E}">
        <p14:creationId xmlns:p14="http://schemas.microsoft.com/office/powerpoint/2010/main" val="157859847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2"/>
          <p:cNvSpPr txBox="1">
            <a:spLocks noChangeArrowheads="1"/>
          </p:cNvSpPr>
          <p:nvPr/>
        </p:nvSpPr>
        <p:spPr bwMode="auto">
          <a:xfrm>
            <a:off x="395288" y="2715595"/>
            <a:ext cx="6578600" cy="825500"/>
          </a:xfrm>
          <a:prstGeom prst="rect">
            <a:avLst/>
          </a:prstGeom>
          <a:noFill/>
          <a:ln w="9525">
            <a:noFill/>
            <a:miter lim="800000"/>
            <a:headEnd/>
            <a:tailEnd/>
          </a:ln>
        </p:spPr>
        <p:txBody>
          <a:bodyPr wrap="none">
            <a:spAutoFit/>
          </a:bodyPr>
          <a:lstStyle/>
          <a:p>
            <a:r>
              <a:rPr lang="en-GB" sz="1600" b="1" dirty="0"/>
              <a:t>Two signals within a </a:t>
            </a:r>
            <a:r>
              <a:rPr lang="en-GB" sz="1600" b="1" u="sng" dirty="0"/>
              <a:t>critical band</a:t>
            </a:r>
            <a:r>
              <a:rPr lang="en-GB" sz="1600" b="1" dirty="0"/>
              <a:t> - closely related in frequency</a:t>
            </a:r>
          </a:p>
          <a:p>
            <a:pPr>
              <a:buFontTx/>
              <a:buChar char="•"/>
            </a:pPr>
            <a:r>
              <a:rPr lang="en-GB" sz="1600" dirty="0"/>
              <a:t>stimulate the same area of the membrane in the cochlea</a:t>
            </a:r>
          </a:p>
          <a:p>
            <a:pPr>
              <a:buFontTx/>
              <a:buChar char="•"/>
            </a:pPr>
            <a:r>
              <a:rPr lang="en-GB" sz="1600" dirty="0"/>
              <a:t>these two sounds added together don’t give twice the loudness</a:t>
            </a:r>
            <a:endParaRPr lang="en-GB" sz="1600" dirty="0">
              <a:latin typeface="Times New Roman" pitchFamily="18" charset="0"/>
            </a:endParaRPr>
          </a:p>
        </p:txBody>
      </p:sp>
      <p:sp>
        <p:nvSpPr>
          <p:cNvPr id="12291" name="Text Box 3"/>
          <p:cNvSpPr txBox="1">
            <a:spLocks noChangeArrowheads="1"/>
          </p:cNvSpPr>
          <p:nvPr/>
        </p:nvSpPr>
        <p:spPr bwMode="auto">
          <a:xfrm>
            <a:off x="395288" y="5349256"/>
            <a:ext cx="6310312" cy="1069975"/>
          </a:xfrm>
          <a:prstGeom prst="rect">
            <a:avLst/>
          </a:prstGeom>
          <a:noFill/>
          <a:ln w="9525">
            <a:noFill/>
            <a:miter lim="800000"/>
            <a:headEnd/>
            <a:tailEnd/>
          </a:ln>
        </p:spPr>
        <p:txBody>
          <a:bodyPr wrap="none">
            <a:spAutoFit/>
          </a:bodyPr>
          <a:lstStyle/>
          <a:p>
            <a:r>
              <a:rPr lang="en-GB" sz="1600" b="1" dirty="0"/>
              <a:t>Two signals - frequencies separated</a:t>
            </a:r>
          </a:p>
          <a:p>
            <a:pPr>
              <a:buFontTx/>
              <a:buChar char="•"/>
            </a:pPr>
            <a:r>
              <a:rPr lang="en-GB" sz="1600" dirty="0"/>
              <a:t>stimulate the different areas of the membrane in the cochlea</a:t>
            </a:r>
          </a:p>
          <a:p>
            <a:pPr>
              <a:buFontTx/>
              <a:buChar char="•"/>
            </a:pPr>
            <a:r>
              <a:rPr lang="en-GB" sz="1600" dirty="0"/>
              <a:t>not competing for the same nerve endings</a:t>
            </a:r>
          </a:p>
          <a:p>
            <a:pPr>
              <a:buFontTx/>
              <a:buChar char="•"/>
            </a:pPr>
            <a:r>
              <a:rPr lang="en-GB" sz="1600" dirty="0"/>
              <a:t>give an appreciable increase of perceived intensity</a:t>
            </a:r>
            <a:endParaRPr lang="en-GB" sz="1600" dirty="0">
              <a:latin typeface="Times New Roman" pitchFamily="18" charset="0"/>
            </a:endParaRPr>
          </a:p>
        </p:txBody>
      </p:sp>
      <p:sp>
        <p:nvSpPr>
          <p:cNvPr id="12292" name="Rectangle 4"/>
          <p:cNvSpPr>
            <a:spLocks noChangeArrowheads="1"/>
          </p:cNvSpPr>
          <p:nvPr/>
        </p:nvSpPr>
        <p:spPr bwMode="auto">
          <a:xfrm>
            <a:off x="399822" y="325248"/>
            <a:ext cx="4094391" cy="461665"/>
          </a:xfrm>
          <a:prstGeom prst="rect">
            <a:avLst/>
          </a:prstGeom>
          <a:noFill/>
          <a:ln w="9525">
            <a:noFill/>
            <a:miter lim="800000"/>
            <a:headEnd/>
            <a:tailEnd/>
          </a:ln>
        </p:spPr>
        <p:txBody>
          <a:bodyPr wrap="none">
            <a:spAutoFit/>
          </a:bodyPr>
          <a:lstStyle/>
          <a:p>
            <a:r>
              <a:rPr lang="en-GB" sz="2400" b="1" dirty="0"/>
              <a:t>The Physiology of Hearing</a:t>
            </a:r>
          </a:p>
        </p:txBody>
      </p:sp>
      <p:grpSp>
        <p:nvGrpSpPr>
          <p:cNvPr id="12294" name="Group 6"/>
          <p:cNvGrpSpPr>
            <a:grpSpLocks/>
          </p:cNvGrpSpPr>
          <p:nvPr/>
        </p:nvGrpSpPr>
        <p:grpSpPr bwMode="auto">
          <a:xfrm>
            <a:off x="0" y="1271588"/>
            <a:ext cx="6837770" cy="1303337"/>
            <a:chOff x="0" y="801"/>
            <a:chExt cx="4649" cy="821"/>
          </a:xfrm>
        </p:grpSpPr>
        <p:sp>
          <p:nvSpPr>
            <p:cNvPr id="116743" name="AutoShape 7"/>
            <p:cNvSpPr>
              <a:spLocks noChangeArrowheads="1"/>
            </p:cNvSpPr>
            <p:nvPr/>
          </p:nvSpPr>
          <p:spPr bwMode="auto">
            <a:xfrm rot="-5400000">
              <a:off x="2605" y="-485"/>
              <a:ext cx="709" cy="3297"/>
            </a:xfrm>
            <a:prstGeom prst="can">
              <a:avLst>
                <a:gd name="adj" fmla="val 116255"/>
              </a:avLst>
            </a:prstGeom>
            <a:gradFill rotWithShape="0">
              <a:gsLst>
                <a:gs pos="0">
                  <a:schemeClr val="hlink"/>
                </a:gs>
                <a:gs pos="50000">
                  <a:schemeClr val="bg2"/>
                </a:gs>
                <a:gs pos="100000">
                  <a:schemeClr val="hlink"/>
                </a:gs>
              </a:gsLst>
              <a:lin ang="5400000" scaled="1"/>
            </a:gradFill>
            <a:ln w="9525">
              <a:noFill/>
              <a:round/>
              <a:headEnd/>
              <a:tailEnd/>
            </a:ln>
            <a:effectLst/>
          </p:spPr>
          <p:txBody>
            <a:bodyPr anchor="ctr">
              <a:spAutoFit/>
            </a:bodyPr>
            <a:lstStyle/>
            <a:p>
              <a:pPr>
                <a:defRPr/>
              </a:pPr>
              <a:endParaRPr lang="en-GB"/>
            </a:p>
          </p:txBody>
        </p:sp>
        <p:sp>
          <p:nvSpPr>
            <p:cNvPr id="12401" name="Oval 8"/>
            <p:cNvSpPr>
              <a:spLocks noChangeArrowheads="1"/>
            </p:cNvSpPr>
            <p:nvPr/>
          </p:nvSpPr>
          <p:spPr bwMode="auto">
            <a:xfrm>
              <a:off x="1312" y="801"/>
              <a:ext cx="821" cy="694"/>
            </a:xfrm>
            <a:prstGeom prst="ellipse">
              <a:avLst/>
            </a:prstGeom>
            <a:gradFill rotWithShape="0">
              <a:gsLst>
                <a:gs pos="0">
                  <a:schemeClr val="accent2"/>
                </a:gs>
                <a:gs pos="100000">
                  <a:schemeClr val="tx2"/>
                </a:gs>
              </a:gsLst>
              <a:lin ang="0" scaled="1"/>
            </a:gradFill>
            <a:ln w="9525">
              <a:noFill/>
              <a:round/>
              <a:headEnd/>
              <a:tailEnd/>
            </a:ln>
          </p:spPr>
          <p:txBody>
            <a:bodyPr anchor="ctr">
              <a:spAutoFit/>
            </a:bodyPr>
            <a:lstStyle/>
            <a:p>
              <a:endParaRPr lang="en-US"/>
            </a:p>
          </p:txBody>
        </p:sp>
        <p:sp>
          <p:nvSpPr>
            <p:cNvPr id="12402" name="Line 9"/>
            <p:cNvSpPr>
              <a:spLocks noChangeShapeType="1"/>
            </p:cNvSpPr>
            <p:nvPr/>
          </p:nvSpPr>
          <p:spPr bwMode="auto">
            <a:xfrm>
              <a:off x="2130" y="1442"/>
              <a:ext cx="2519" cy="1"/>
            </a:xfrm>
            <a:prstGeom prst="line">
              <a:avLst/>
            </a:prstGeom>
            <a:noFill/>
            <a:ln w="9525">
              <a:solidFill>
                <a:schemeClr val="tx1"/>
              </a:solidFill>
              <a:round/>
              <a:headEnd/>
              <a:tailEnd/>
            </a:ln>
          </p:spPr>
          <p:txBody>
            <a:bodyPr wrap="none" anchor="ctr">
              <a:spAutoFit/>
            </a:bodyPr>
            <a:lstStyle/>
            <a:p>
              <a:endParaRPr lang="en-GB"/>
            </a:p>
          </p:txBody>
        </p:sp>
        <p:grpSp>
          <p:nvGrpSpPr>
            <p:cNvPr id="12403" name="Group 10"/>
            <p:cNvGrpSpPr>
              <a:grpSpLocks/>
            </p:cNvGrpSpPr>
            <p:nvPr/>
          </p:nvGrpSpPr>
          <p:grpSpPr bwMode="auto">
            <a:xfrm>
              <a:off x="2263" y="1309"/>
              <a:ext cx="47" cy="281"/>
              <a:chOff x="1886" y="3421"/>
              <a:chExt cx="47" cy="281"/>
            </a:xfrm>
          </p:grpSpPr>
          <p:sp>
            <p:nvSpPr>
              <p:cNvPr id="12501" name="Rectangle 11"/>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502" name="Line 12"/>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404" name="Group 13"/>
            <p:cNvGrpSpPr>
              <a:grpSpLocks/>
            </p:cNvGrpSpPr>
            <p:nvPr/>
          </p:nvGrpSpPr>
          <p:grpSpPr bwMode="auto">
            <a:xfrm>
              <a:off x="2348" y="1309"/>
              <a:ext cx="47" cy="281"/>
              <a:chOff x="1886" y="3421"/>
              <a:chExt cx="47" cy="281"/>
            </a:xfrm>
          </p:grpSpPr>
          <p:sp>
            <p:nvSpPr>
              <p:cNvPr id="12499" name="Rectangle 14"/>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500" name="Line 15"/>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405" name="Group 16"/>
            <p:cNvGrpSpPr>
              <a:grpSpLocks/>
            </p:cNvGrpSpPr>
            <p:nvPr/>
          </p:nvGrpSpPr>
          <p:grpSpPr bwMode="auto">
            <a:xfrm>
              <a:off x="2434" y="1317"/>
              <a:ext cx="47" cy="281"/>
              <a:chOff x="1886" y="3421"/>
              <a:chExt cx="47" cy="281"/>
            </a:xfrm>
          </p:grpSpPr>
          <p:sp>
            <p:nvSpPr>
              <p:cNvPr id="12497" name="Rectangle 17"/>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498" name="Line 18"/>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406" name="Group 19"/>
            <p:cNvGrpSpPr>
              <a:grpSpLocks/>
            </p:cNvGrpSpPr>
            <p:nvPr/>
          </p:nvGrpSpPr>
          <p:grpSpPr bwMode="auto">
            <a:xfrm>
              <a:off x="2520" y="1309"/>
              <a:ext cx="47" cy="281"/>
              <a:chOff x="1886" y="3421"/>
              <a:chExt cx="47" cy="281"/>
            </a:xfrm>
          </p:grpSpPr>
          <p:sp>
            <p:nvSpPr>
              <p:cNvPr id="12495" name="Rectangle 20"/>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496" name="Line 21"/>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407" name="Group 22"/>
            <p:cNvGrpSpPr>
              <a:grpSpLocks/>
            </p:cNvGrpSpPr>
            <p:nvPr/>
          </p:nvGrpSpPr>
          <p:grpSpPr bwMode="auto">
            <a:xfrm>
              <a:off x="2613" y="1317"/>
              <a:ext cx="47" cy="281"/>
              <a:chOff x="1886" y="3421"/>
              <a:chExt cx="47" cy="281"/>
            </a:xfrm>
          </p:grpSpPr>
          <p:sp>
            <p:nvSpPr>
              <p:cNvPr id="12493" name="Rectangle 23"/>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494" name="Line 24"/>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408" name="Group 25"/>
            <p:cNvGrpSpPr>
              <a:grpSpLocks/>
            </p:cNvGrpSpPr>
            <p:nvPr/>
          </p:nvGrpSpPr>
          <p:grpSpPr bwMode="auto">
            <a:xfrm>
              <a:off x="2698" y="1317"/>
              <a:ext cx="47" cy="281"/>
              <a:chOff x="1886" y="3421"/>
              <a:chExt cx="47" cy="281"/>
            </a:xfrm>
          </p:grpSpPr>
          <p:sp>
            <p:nvSpPr>
              <p:cNvPr id="12491" name="Rectangle 26"/>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492" name="Line 27"/>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409" name="Group 28"/>
            <p:cNvGrpSpPr>
              <a:grpSpLocks/>
            </p:cNvGrpSpPr>
            <p:nvPr/>
          </p:nvGrpSpPr>
          <p:grpSpPr bwMode="auto">
            <a:xfrm>
              <a:off x="2784" y="1325"/>
              <a:ext cx="47" cy="281"/>
              <a:chOff x="1886" y="3421"/>
              <a:chExt cx="47" cy="281"/>
            </a:xfrm>
          </p:grpSpPr>
          <p:sp>
            <p:nvSpPr>
              <p:cNvPr id="12489" name="Rectangle 29"/>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490" name="Line 30"/>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410" name="Group 31"/>
            <p:cNvGrpSpPr>
              <a:grpSpLocks/>
            </p:cNvGrpSpPr>
            <p:nvPr/>
          </p:nvGrpSpPr>
          <p:grpSpPr bwMode="auto">
            <a:xfrm>
              <a:off x="2870" y="1317"/>
              <a:ext cx="47" cy="281"/>
              <a:chOff x="1886" y="3421"/>
              <a:chExt cx="47" cy="281"/>
            </a:xfrm>
          </p:grpSpPr>
          <p:sp>
            <p:nvSpPr>
              <p:cNvPr id="12487" name="Rectangle 32"/>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488" name="Line 33"/>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411" name="Group 34"/>
            <p:cNvGrpSpPr>
              <a:grpSpLocks/>
            </p:cNvGrpSpPr>
            <p:nvPr/>
          </p:nvGrpSpPr>
          <p:grpSpPr bwMode="auto">
            <a:xfrm>
              <a:off x="2957" y="1317"/>
              <a:ext cx="47" cy="281"/>
              <a:chOff x="1886" y="3421"/>
              <a:chExt cx="47" cy="281"/>
            </a:xfrm>
          </p:grpSpPr>
          <p:sp>
            <p:nvSpPr>
              <p:cNvPr id="12485" name="Rectangle 35"/>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486" name="Line 36"/>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412" name="Group 37"/>
            <p:cNvGrpSpPr>
              <a:grpSpLocks/>
            </p:cNvGrpSpPr>
            <p:nvPr/>
          </p:nvGrpSpPr>
          <p:grpSpPr bwMode="auto">
            <a:xfrm>
              <a:off x="3042" y="1317"/>
              <a:ext cx="47" cy="281"/>
              <a:chOff x="1886" y="3421"/>
              <a:chExt cx="47" cy="281"/>
            </a:xfrm>
          </p:grpSpPr>
          <p:sp>
            <p:nvSpPr>
              <p:cNvPr id="12483" name="Rectangle 38"/>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484" name="Line 39"/>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413" name="Group 40"/>
            <p:cNvGrpSpPr>
              <a:grpSpLocks/>
            </p:cNvGrpSpPr>
            <p:nvPr/>
          </p:nvGrpSpPr>
          <p:grpSpPr bwMode="auto">
            <a:xfrm>
              <a:off x="3128" y="1325"/>
              <a:ext cx="47" cy="281"/>
              <a:chOff x="1886" y="3421"/>
              <a:chExt cx="47" cy="281"/>
            </a:xfrm>
          </p:grpSpPr>
          <p:sp>
            <p:nvSpPr>
              <p:cNvPr id="12481" name="Rectangle 41"/>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482" name="Line 42"/>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414" name="Group 43"/>
            <p:cNvGrpSpPr>
              <a:grpSpLocks/>
            </p:cNvGrpSpPr>
            <p:nvPr/>
          </p:nvGrpSpPr>
          <p:grpSpPr bwMode="auto">
            <a:xfrm>
              <a:off x="3214" y="1317"/>
              <a:ext cx="47" cy="281"/>
              <a:chOff x="1886" y="3421"/>
              <a:chExt cx="47" cy="281"/>
            </a:xfrm>
          </p:grpSpPr>
          <p:sp>
            <p:nvSpPr>
              <p:cNvPr id="12479" name="Rectangle 44"/>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480" name="Line 45"/>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415" name="Group 46"/>
            <p:cNvGrpSpPr>
              <a:grpSpLocks/>
            </p:cNvGrpSpPr>
            <p:nvPr/>
          </p:nvGrpSpPr>
          <p:grpSpPr bwMode="auto">
            <a:xfrm>
              <a:off x="3307" y="1325"/>
              <a:ext cx="47" cy="281"/>
              <a:chOff x="1886" y="3421"/>
              <a:chExt cx="47" cy="281"/>
            </a:xfrm>
          </p:grpSpPr>
          <p:sp>
            <p:nvSpPr>
              <p:cNvPr id="12477" name="Rectangle 47"/>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478" name="Line 48"/>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416" name="Group 49"/>
            <p:cNvGrpSpPr>
              <a:grpSpLocks/>
            </p:cNvGrpSpPr>
            <p:nvPr/>
          </p:nvGrpSpPr>
          <p:grpSpPr bwMode="auto">
            <a:xfrm>
              <a:off x="3392" y="1325"/>
              <a:ext cx="47" cy="281"/>
              <a:chOff x="1886" y="3421"/>
              <a:chExt cx="47" cy="281"/>
            </a:xfrm>
          </p:grpSpPr>
          <p:sp>
            <p:nvSpPr>
              <p:cNvPr id="12475" name="Rectangle 50"/>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476" name="Line 51"/>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417" name="Group 52"/>
            <p:cNvGrpSpPr>
              <a:grpSpLocks/>
            </p:cNvGrpSpPr>
            <p:nvPr/>
          </p:nvGrpSpPr>
          <p:grpSpPr bwMode="auto">
            <a:xfrm>
              <a:off x="3478" y="1333"/>
              <a:ext cx="47" cy="281"/>
              <a:chOff x="1886" y="3421"/>
              <a:chExt cx="47" cy="281"/>
            </a:xfrm>
          </p:grpSpPr>
          <p:sp>
            <p:nvSpPr>
              <p:cNvPr id="12473" name="Rectangle 53"/>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474" name="Line 54"/>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418" name="Group 55"/>
            <p:cNvGrpSpPr>
              <a:grpSpLocks/>
            </p:cNvGrpSpPr>
            <p:nvPr/>
          </p:nvGrpSpPr>
          <p:grpSpPr bwMode="auto">
            <a:xfrm>
              <a:off x="3564" y="1325"/>
              <a:ext cx="47" cy="281"/>
              <a:chOff x="1886" y="3421"/>
              <a:chExt cx="47" cy="281"/>
            </a:xfrm>
          </p:grpSpPr>
          <p:sp>
            <p:nvSpPr>
              <p:cNvPr id="12471" name="Rectangle 56"/>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472" name="Line 57"/>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419" name="Group 58"/>
            <p:cNvGrpSpPr>
              <a:grpSpLocks/>
            </p:cNvGrpSpPr>
            <p:nvPr/>
          </p:nvGrpSpPr>
          <p:grpSpPr bwMode="auto">
            <a:xfrm>
              <a:off x="3642" y="1325"/>
              <a:ext cx="47" cy="281"/>
              <a:chOff x="1886" y="3421"/>
              <a:chExt cx="47" cy="281"/>
            </a:xfrm>
          </p:grpSpPr>
          <p:sp>
            <p:nvSpPr>
              <p:cNvPr id="12469" name="Rectangle 59"/>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470" name="Line 60"/>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420" name="Group 61"/>
            <p:cNvGrpSpPr>
              <a:grpSpLocks/>
            </p:cNvGrpSpPr>
            <p:nvPr/>
          </p:nvGrpSpPr>
          <p:grpSpPr bwMode="auto">
            <a:xfrm>
              <a:off x="3727" y="1325"/>
              <a:ext cx="47" cy="281"/>
              <a:chOff x="1886" y="3421"/>
              <a:chExt cx="47" cy="281"/>
            </a:xfrm>
          </p:grpSpPr>
          <p:sp>
            <p:nvSpPr>
              <p:cNvPr id="12467" name="Rectangle 62"/>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468" name="Line 63"/>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421" name="Group 64"/>
            <p:cNvGrpSpPr>
              <a:grpSpLocks/>
            </p:cNvGrpSpPr>
            <p:nvPr/>
          </p:nvGrpSpPr>
          <p:grpSpPr bwMode="auto">
            <a:xfrm>
              <a:off x="3813" y="1333"/>
              <a:ext cx="47" cy="281"/>
              <a:chOff x="1886" y="3421"/>
              <a:chExt cx="47" cy="281"/>
            </a:xfrm>
          </p:grpSpPr>
          <p:sp>
            <p:nvSpPr>
              <p:cNvPr id="12465" name="Rectangle 65"/>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466" name="Line 66"/>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422" name="Group 67"/>
            <p:cNvGrpSpPr>
              <a:grpSpLocks/>
            </p:cNvGrpSpPr>
            <p:nvPr/>
          </p:nvGrpSpPr>
          <p:grpSpPr bwMode="auto">
            <a:xfrm>
              <a:off x="3899" y="1325"/>
              <a:ext cx="47" cy="281"/>
              <a:chOff x="1886" y="3421"/>
              <a:chExt cx="47" cy="281"/>
            </a:xfrm>
          </p:grpSpPr>
          <p:sp>
            <p:nvSpPr>
              <p:cNvPr id="12463" name="Rectangle 68"/>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464" name="Line 69"/>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423" name="Group 70"/>
            <p:cNvGrpSpPr>
              <a:grpSpLocks/>
            </p:cNvGrpSpPr>
            <p:nvPr/>
          </p:nvGrpSpPr>
          <p:grpSpPr bwMode="auto">
            <a:xfrm>
              <a:off x="3992" y="1333"/>
              <a:ext cx="47" cy="281"/>
              <a:chOff x="1886" y="3421"/>
              <a:chExt cx="47" cy="281"/>
            </a:xfrm>
          </p:grpSpPr>
          <p:sp>
            <p:nvSpPr>
              <p:cNvPr id="12461" name="Rectangle 71"/>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462" name="Line 72"/>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424" name="Group 73"/>
            <p:cNvGrpSpPr>
              <a:grpSpLocks/>
            </p:cNvGrpSpPr>
            <p:nvPr/>
          </p:nvGrpSpPr>
          <p:grpSpPr bwMode="auto">
            <a:xfrm>
              <a:off x="4077" y="1333"/>
              <a:ext cx="47" cy="281"/>
              <a:chOff x="1886" y="3421"/>
              <a:chExt cx="47" cy="281"/>
            </a:xfrm>
          </p:grpSpPr>
          <p:sp>
            <p:nvSpPr>
              <p:cNvPr id="12459" name="Rectangle 74"/>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460" name="Line 75"/>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425" name="Group 76"/>
            <p:cNvGrpSpPr>
              <a:grpSpLocks/>
            </p:cNvGrpSpPr>
            <p:nvPr/>
          </p:nvGrpSpPr>
          <p:grpSpPr bwMode="auto">
            <a:xfrm>
              <a:off x="4163" y="1341"/>
              <a:ext cx="47" cy="281"/>
              <a:chOff x="1886" y="3421"/>
              <a:chExt cx="47" cy="281"/>
            </a:xfrm>
          </p:grpSpPr>
          <p:sp>
            <p:nvSpPr>
              <p:cNvPr id="12457" name="Rectangle 77"/>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458" name="Line 78"/>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426" name="Group 79"/>
            <p:cNvGrpSpPr>
              <a:grpSpLocks/>
            </p:cNvGrpSpPr>
            <p:nvPr/>
          </p:nvGrpSpPr>
          <p:grpSpPr bwMode="auto">
            <a:xfrm>
              <a:off x="4249" y="1333"/>
              <a:ext cx="47" cy="281"/>
              <a:chOff x="1886" y="3421"/>
              <a:chExt cx="47" cy="281"/>
            </a:xfrm>
          </p:grpSpPr>
          <p:sp>
            <p:nvSpPr>
              <p:cNvPr id="12455" name="Rectangle 80"/>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456" name="Line 81"/>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427" name="Group 82"/>
            <p:cNvGrpSpPr>
              <a:grpSpLocks/>
            </p:cNvGrpSpPr>
            <p:nvPr/>
          </p:nvGrpSpPr>
          <p:grpSpPr bwMode="auto">
            <a:xfrm>
              <a:off x="4327" y="1310"/>
              <a:ext cx="47" cy="281"/>
              <a:chOff x="1886" y="3421"/>
              <a:chExt cx="47" cy="281"/>
            </a:xfrm>
          </p:grpSpPr>
          <p:sp>
            <p:nvSpPr>
              <p:cNvPr id="12453" name="Rectangle 83"/>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454" name="Line 84"/>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428" name="Group 85"/>
            <p:cNvGrpSpPr>
              <a:grpSpLocks/>
            </p:cNvGrpSpPr>
            <p:nvPr/>
          </p:nvGrpSpPr>
          <p:grpSpPr bwMode="auto">
            <a:xfrm>
              <a:off x="4413" y="1318"/>
              <a:ext cx="47" cy="281"/>
              <a:chOff x="1886" y="3421"/>
              <a:chExt cx="47" cy="281"/>
            </a:xfrm>
          </p:grpSpPr>
          <p:sp>
            <p:nvSpPr>
              <p:cNvPr id="12451" name="Rectangle 86"/>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452" name="Line 87"/>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429" name="Group 88"/>
            <p:cNvGrpSpPr>
              <a:grpSpLocks/>
            </p:cNvGrpSpPr>
            <p:nvPr/>
          </p:nvGrpSpPr>
          <p:grpSpPr bwMode="auto">
            <a:xfrm>
              <a:off x="2807" y="995"/>
              <a:ext cx="648" cy="291"/>
              <a:chOff x="1900" y="1290"/>
              <a:chExt cx="422" cy="229"/>
            </a:xfrm>
          </p:grpSpPr>
          <p:sp>
            <p:nvSpPr>
              <p:cNvPr id="12448" name="Freeform 89"/>
              <p:cNvSpPr>
                <a:spLocks/>
              </p:cNvSpPr>
              <p:nvPr/>
            </p:nvSpPr>
            <p:spPr bwMode="auto">
              <a:xfrm>
                <a:off x="1900" y="1290"/>
                <a:ext cx="141" cy="229"/>
              </a:xfrm>
              <a:custGeom>
                <a:avLst/>
                <a:gdLst>
                  <a:gd name="T0" fmla="*/ 0 w 3942"/>
                  <a:gd name="T1" fmla="*/ 0 h 650"/>
                  <a:gd name="T2" fmla="*/ 0 w 3942"/>
                  <a:gd name="T3" fmla="*/ 0 h 650"/>
                  <a:gd name="T4" fmla="*/ 0 w 3942"/>
                  <a:gd name="T5" fmla="*/ 0 h 650"/>
                  <a:gd name="T6" fmla="*/ 0 w 3942"/>
                  <a:gd name="T7" fmla="*/ 0 h 650"/>
                  <a:gd name="T8" fmla="*/ 0 w 3942"/>
                  <a:gd name="T9" fmla="*/ 0 h 650"/>
                  <a:gd name="T10" fmla="*/ 0 w 3942"/>
                  <a:gd name="T11" fmla="*/ 0 h 650"/>
                  <a:gd name="T12" fmla="*/ 0 w 3942"/>
                  <a:gd name="T13" fmla="*/ 0 h 650"/>
                  <a:gd name="T14" fmla="*/ 0 w 3942"/>
                  <a:gd name="T15" fmla="*/ 0 h 650"/>
                  <a:gd name="T16" fmla="*/ 0 w 3942"/>
                  <a:gd name="T17" fmla="*/ 0 h 650"/>
                  <a:gd name="T18" fmla="*/ 0 w 3942"/>
                  <a:gd name="T19" fmla="*/ 0 h 650"/>
                  <a:gd name="T20" fmla="*/ 0 w 3942"/>
                  <a:gd name="T21" fmla="*/ 0 h 6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42"/>
                  <a:gd name="T34" fmla="*/ 0 h 650"/>
                  <a:gd name="T35" fmla="*/ 3942 w 3942"/>
                  <a:gd name="T36" fmla="*/ 650 h 6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42" h="650">
                    <a:moveTo>
                      <a:pt x="0" y="325"/>
                    </a:moveTo>
                    <a:cubicBezTo>
                      <a:pt x="161" y="162"/>
                      <a:pt x="322" y="0"/>
                      <a:pt x="482" y="0"/>
                    </a:cubicBezTo>
                    <a:cubicBezTo>
                      <a:pt x="643" y="0"/>
                      <a:pt x="805" y="216"/>
                      <a:pt x="966" y="325"/>
                    </a:cubicBezTo>
                    <a:cubicBezTo>
                      <a:pt x="1126" y="434"/>
                      <a:pt x="1288" y="650"/>
                      <a:pt x="1448" y="650"/>
                    </a:cubicBezTo>
                    <a:cubicBezTo>
                      <a:pt x="1609" y="650"/>
                      <a:pt x="1770" y="434"/>
                      <a:pt x="1931" y="325"/>
                    </a:cubicBezTo>
                    <a:cubicBezTo>
                      <a:pt x="2091" y="216"/>
                      <a:pt x="2254" y="0"/>
                      <a:pt x="2414" y="0"/>
                    </a:cubicBezTo>
                    <a:cubicBezTo>
                      <a:pt x="2575" y="0"/>
                      <a:pt x="2736" y="216"/>
                      <a:pt x="2897" y="325"/>
                    </a:cubicBezTo>
                    <a:cubicBezTo>
                      <a:pt x="3057" y="434"/>
                      <a:pt x="3219" y="650"/>
                      <a:pt x="3379" y="650"/>
                    </a:cubicBezTo>
                    <a:cubicBezTo>
                      <a:pt x="3540" y="650"/>
                      <a:pt x="3784" y="381"/>
                      <a:pt x="3863" y="325"/>
                    </a:cubicBezTo>
                    <a:cubicBezTo>
                      <a:pt x="3942" y="269"/>
                      <a:pt x="3853" y="315"/>
                      <a:pt x="3851" y="316"/>
                    </a:cubicBezTo>
                    <a:cubicBezTo>
                      <a:pt x="3849" y="317"/>
                      <a:pt x="3851" y="328"/>
                      <a:pt x="3851" y="331"/>
                    </a:cubicBezTo>
                  </a:path>
                </a:pathLst>
              </a:custGeom>
              <a:noFill/>
              <a:ln w="28575" cmpd="sng">
                <a:solidFill>
                  <a:srgbClr val="990000"/>
                </a:solidFill>
                <a:round/>
                <a:headEnd/>
                <a:tailEnd/>
              </a:ln>
            </p:spPr>
            <p:txBody>
              <a:bodyPr/>
              <a:lstStyle/>
              <a:p>
                <a:endParaRPr lang="en-GB"/>
              </a:p>
            </p:txBody>
          </p:sp>
          <p:sp>
            <p:nvSpPr>
              <p:cNvPr id="12449" name="Freeform 90"/>
              <p:cNvSpPr>
                <a:spLocks/>
              </p:cNvSpPr>
              <p:nvPr/>
            </p:nvSpPr>
            <p:spPr bwMode="auto">
              <a:xfrm>
                <a:off x="2041" y="1290"/>
                <a:ext cx="140" cy="229"/>
              </a:xfrm>
              <a:custGeom>
                <a:avLst/>
                <a:gdLst>
                  <a:gd name="T0" fmla="*/ 0 w 3942"/>
                  <a:gd name="T1" fmla="*/ 0 h 650"/>
                  <a:gd name="T2" fmla="*/ 0 w 3942"/>
                  <a:gd name="T3" fmla="*/ 0 h 650"/>
                  <a:gd name="T4" fmla="*/ 0 w 3942"/>
                  <a:gd name="T5" fmla="*/ 0 h 650"/>
                  <a:gd name="T6" fmla="*/ 0 w 3942"/>
                  <a:gd name="T7" fmla="*/ 0 h 650"/>
                  <a:gd name="T8" fmla="*/ 0 w 3942"/>
                  <a:gd name="T9" fmla="*/ 0 h 650"/>
                  <a:gd name="T10" fmla="*/ 0 w 3942"/>
                  <a:gd name="T11" fmla="*/ 0 h 650"/>
                  <a:gd name="T12" fmla="*/ 0 w 3942"/>
                  <a:gd name="T13" fmla="*/ 0 h 650"/>
                  <a:gd name="T14" fmla="*/ 0 w 3942"/>
                  <a:gd name="T15" fmla="*/ 0 h 650"/>
                  <a:gd name="T16" fmla="*/ 0 w 3942"/>
                  <a:gd name="T17" fmla="*/ 0 h 650"/>
                  <a:gd name="T18" fmla="*/ 0 w 3942"/>
                  <a:gd name="T19" fmla="*/ 0 h 650"/>
                  <a:gd name="T20" fmla="*/ 0 w 3942"/>
                  <a:gd name="T21" fmla="*/ 0 h 6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42"/>
                  <a:gd name="T34" fmla="*/ 0 h 650"/>
                  <a:gd name="T35" fmla="*/ 3942 w 3942"/>
                  <a:gd name="T36" fmla="*/ 650 h 6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42" h="650">
                    <a:moveTo>
                      <a:pt x="0" y="325"/>
                    </a:moveTo>
                    <a:cubicBezTo>
                      <a:pt x="161" y="162"/>
                      <a:pt x="322" y="0"/>
                      <a:pt x="482" y="0"/>
                    </a:cubicBezTo>
                    <a:cubicBezTo>
                      <a:pt x="643" y="0"/>
                      <a:pt x="805" y="216"/>
                      <a:pt x="966" y="325"/>
                    </a:cubicBezTo>
                    <a:cubicBezTo>
                      <a:pt x="1126" y="434"/>
                      <a:pt x="1288" y="650"/>
                      <a:pt x="1448" y="650"/>
                    </a:cubicBezTo>
                    <a:cubicBezTo>
                      <a:pt x="1609" y="650"/>
                      <a:pt x="1770" y="434"/>
                      <a:pt x="1931" y="325"/>
                    </a:cubicBezTo>
                    <a:cubicBezTo>
                      <a:pt x="2091" y="216"/>
                      <a:pt x="2254" y="0"/>
                      <a:pt x="2414" y="0"/>
                    </a:cubicBezTo>
                    <a:cubicBezTo>
                      <a:pt x="2575" y="0"/>
                      <a:pt x="2736" y="216"/>
                      <a:pt x="2897" y="325"/>
                    </a:cubicBezTo>
                    <a:cubicBezTo>
                      <a:pt x="3057" y="434"/>
                      <a:pt x="3219" y="650"/>
                      <a:pt x="3379" y="650"/>
                    </a:cubicBezTo>
                    <a:cubicBezTo>
                      <a:pt x="3540" y="650"/>
                      <a:pt x="3784" y="381"/>
                      <a:pt x="3863" y="325"/>
                    </a:cubicBezTo>
                    <a:cubicBezTo>
                      <a:pt x="3942" y="269"/>
                      <a:pt x="3853" y="315"/>
                      <a:pt x="3851" y="316"/>
                    </a:cubicBezTo>
                    <a:cubicBezTo>
                      <a:pt x="3849" y="317"/>
                      <a:pt x="3851" y="328"/>
                      <a:pt x="3851" y="331"/>
                    </a:cubicBezTo>
                  </a:path>
                </a:pathLst>
              </a:custGeom>
              <a:noFill/>
              <a:ln w="28575" cmpd="sng">
                <a:solidFill>
                  <a:srgbClr val="990000"/>
                </a:solidFill>
                <a:round/>
                <a:headEnd/>
                <a:tailEnd/>
              </a:ln>
            </p:spPr>
            <p:txBody>
              <a:bodyPr/>
              <a:lstStyle/>
              <a:p>
                <a:endParaRPr lang="en-GB"/>
              </a:p>
            </p:txBody>
          </p:sp>
          <p:sp>
            <p:nvSpPr>
              <p:cNvPr id="12450" name="Freeform 91"/>
              <p:cNvSpPr>
                <a:spLocks/>
              </p:cNvSpPr>
              <p:nvPr/>
            </p:nvSpPr>
            <p:spPr bwMode="auto">
              <a:xfrm>
                <a:off x="2181" y="1290"/>
                <a:ext cx="141" cy="229"/>
              </a:xfrm>
              <a:custGeom>
                <a:avLst/>
                <a:gdLst>
                  <a:gd name="T0" fmla="*/ 0 w 3942"/>
                  <a:gd name="T1" fmla="*/ 0 h 650"/>
                  <a:gd name="T2" fmla="*/ 0 w 3942"/>
                  <a:gd name="T3" fmla="*/ 0 h 650"/>
                  <a:gd name="T4" fmla="*/ 0 w 3942"/>
                  <a:gd name="T5" fmla="*/ 0 h 650"/>
                  <a:gd name="T6" fmla="*/ 0 w 3942"/>
                  <a:gd name="T7" fmla="*/ 0 h 650"/>
                  <a:gd name="T8" fmla="*/ 0 w 3942"/>
                  <a:gd name="T9" fmla="*/ 0 h 650"/>
                  <a:gd name="T10" fmla="*/ 0 w 3942"/>
                  <a:gd name="T11" fmla="*/ 0 h 650"/>
                  <a:gd name="T12" fmla="*/ 0 w 3942"/>
                  <a:gd name="T13" fmla="*/ 0 h 650"/>
                  <a:gd name="T14" fmla="*/ 0 w 3942"/>
                  <a:gd name="T15" fmla="*/ 0 h 650"/>
                  <a:gd name="T16" fmla="*/ 0 w 3942"/>
                  <a:gd name="T17" fmla="*/ 0 h 650"/>
                  <a:gd name="T18" fmla="*/ 0 w 3942"/>
                  <a:gd name="T19" fmla="*/ 0 h 650"/>
                  <a:gd name="T20" fmla="*/ 0 w 3942"/>
                  <a:gd name="T21" fmla="*/ 0 h 6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42"/>
                  <a:gd name="T34" fmla="*/ 0 h 650"/>
                  <a:gd name="T35" fmla="*/ 3942 w 3942"/>
                  <a:gd name="T36" fmla="*/ 650 h 6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42" h="650">
                    <a:moveTo>
                      <a:pt x="0" y="325"/>
                    </a:moveTo>
                    <a:cubicBezTo>
                      <a:pt x="161" y="162"/>
                      <a:pt x="322" y="0"/>
                      <a:pt x="482" y="0"/>
                    </a:cubicBezTo>
                    <a:cubicBezTo>
                      <a:pt x="643" y="0"/>
                      <a:pt x="805" y="216"/>
                      <a:pt x="966" y="325"/>
                    </a:cubicBezTo>
                    <a:cubicBezTo>
                      <a:pt x="1126" y="434"/>
                      <a:pt x="1288" y="650"/>
                      <a:pt x="1448" y="650"/>
                    </a:cubicBezTo>
                    <a:cubicBezTo>
                      <a:pt x="1609" y="650"/>
                      <a:pt x="1770" y="434"/>
                      <a:pt x="1931" y="325"/>
                    </a:cubicBezTo>
                    <a:cubicBezTo>
                      <a:pt x="2091" y="216"/>
                      <a:pt x="2254" y="0"/>
                      <a:pt x="2414" y="0"/>
                    </a:cubicBezTo>
                    <a:cubicBezTo>
                      <a:pt x="2575" y="0"/>
                      <a:pt x="2736" y="216"/>
                      <a:pt x="2897" y="325"/>
                    </a:cubicBezTo>
                    <a:cubicBezTo>
                      <a:pt x="3057" y="434"/>
                      <a:pt x="3219" y="650"/>
                      <a:pt x="3379" y="650"/>
                    </a:cubicBezTo>
                    <a:cubicBezTo>
                      <a:pt x="3540" y="650"/>
                      <a:pt x="3784" y="381"/>
                      <a:pt x="3863" y="325"/>
                    </a:cubicBezTo>
                    <a:cubicBezTo>
                      <a:pt x="3942" y="269"/>
                      <a:pt x="3853" y="315"/>
                      <a:pt x="3851" y="316"/>
                    </a:cubicBezTo>
                    <a:cubicBezTo>
                      <a:pt x="3849" y="317"/>
                      <a:pt x="3851" y="328"/>
                      <a:pt x="3851" y="331"/>
                    </a:cubicBezTo>
                  </a:path>
                </a:pathLst>
              </a:custGeom>
              <a:noFill/>
              <a:ln w="28575" cmpd="sng">
                <a:solidFill>
                  <a:srgbClr val="990000"/>
                </a:solidFill>
                <a:round/>
                <a:headEnd/>
                <a:tailEnd/>
              </a:ln>
            </p:spPr>
            <p:txBody>
              <a:bodyPr/>
              <a:lstStyle/>
              <a:p>
                <a:endParaRPr lang="en-GB"/>
              </a:p>
            </p:txBody>
          </p:sp>
        </p:grpSp>
        <p:sp>
          <p:nvSpPr>
            <p:cNvPr id="12430" name="AutoShape 92"/>
            <p:cNvSpPr>
              <a:spLocks noChangeArrowheads="1"/>
            </p:cNvSpPr>
            <p:nvPr/>
          </p:nvSpPr>
          <p:spPr bwMode="auto">
            <a:xfrm>
              <a:off x="0" y="880"/>
              <a:ext cx="1183" cy="585"/>
            </a:xfrm>
            <a:prstGeom prst="rightArrow">
              <a:avLst>
                <a:gd name="adj1" fmla="val 61028"/>
                <a:gd name="adj2" fmla="val 85448"/>
              </a:avLst>
            </a:prstGeom>
            <a:solidFill>
              <a:srgbClr val="FFCC66"/>
            </a:solidFill>
            <a:ln w="9525">
              <a:solidFill>
                <a:srgbClr val="800000"/>
              </a:solidFill>
              <a:miter lim="800000"/>
              <a:headEnd/>
              <a:tailEnd/>
            </a:ln>
          </p:spPr>
          <p:txBody>
            <a:bodyPr anchor="ctr">
              <a:spAutoFit/>
            </a:bodyPr>
            <a:lstStyle/>
            <a:p>
              <a:endParaRPr lang="en-US"/>
            </a:p>
          </p:txBody>
        </p:sp>
        <p:grpSp>
          <p:nvGrpSpPr>
            <p:cNvPr id="12431" name="Group 93"/>
            <p:cNvGrpSpPr>
              <a:grpSpLocks/>
            </p:cNvGrpSpPr>
            <p:nvPr/>
          </p:nvGrpSpPr>
          <p:grpSpPr bwMode="auto">
            <a:xfrm>
              <a:off x="190" y="978"/>
              <a:ext cx="662" cy="284"/>
              <a:chOff x="1900" y="1290"/>
              <a:chExt cx="422" cy="229"/>
            </a:xfrm>
          </p:grpSpPr>
          <p:sp>
            <p:nvSpPr>
              <p:cNvPr id="12445" name="Freeform 94"/>
              <p:cNvSpPr>
                <a:spLocks/>
              </p:cNvSpPr>
              <p:nvPr/>
            </p:nvSpPr>
            <p:spPr bwMode="auto">
              <a:xfrm>
                <a:off x="1900" y="1290"/>
                <a:ext cx="141" cy="229"/>
              </a:xfrm>
              <a:custGeom>
                <a:avLst/>
                <a:gdLst>
                  <a:gd name="T0" fmla="*/ 0 w 3942"/>
                  <a:gd name="T1" fmla="*/ 0 h 650"/>
                  <a:gd name="T2" fmla="*/ 0 w 3942"/>
                  <a:gd name="T3" fmla="*/ 0 h 650"/>
                  <a:gd name="T4" fmla="*/ 0 w 3942"/>
                  <a:gd name="T5" fmla="*/ 0 h 650"/>
                  <a:gd name="T6" fmla="*/ 0 w 3942"/>
                  <a:gd name="T7" fmla="*/ 0 h 650"/>
                  <a:gd name="T8" fmla="*/ 0 w 3942"/>
                  <a:gd name="T9" fmla="*/ 0 h 650"/>
                  <a:gd name="T10" fmla="*/ 0 w 3942"/>
                  <a:gd name="T11" fmla="*/ 0 h 650"/>
                  <a:gd name="T12" fmla="*/ 0 w 3942"/>
                  <a:gd name="T13" fmla="*/ 0 h 650"/>
                  <a:gd name="T14" fmla="*/ 0 w 3942"/>
                  <a:gd name="T15" fmla="*/ 0 h 650"/>
                  <a:gd name="T16" fmla="*/ 0 w 3942"/>
                  <a:gd name="T17" fmla="*/ 0 h 650"/>
                  <a:gd name="T18" fmla="*/ 0 w 3942"/>
                  <a:gd name="T19" fmla="*/ 0 h 650"/>
                  <a:gd name="T20" fmla="*/ 0 w 3942"/>
                  <a:gd name="T21" fmla="*/ 0 h 6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42"/>
                  <a:gd name="T34" fmla="*/ 0 h 650"/>
                  <a:gd name="T35" fmla="*/ 3942 w 3942"/>
                  <a:gd name="T36" fmla="*/ 650 h 6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42" h="650">
                    <a:moveTo>
                      <a:pt x="0" y="325"/>
                    </a:moveTo>
                    <a:cubicBezTo>
                      <a:pt x="161" y="162"/>
                      <a:pt x="322" y="0"/>
                      <a:pt x="482" y="0"/>
                    </a:cubicBezTo>
                    <a:cubicBezTo>
                      <a:pt x="643" y="0"/>
                      <a:pt x="805" y="216"/>
                      <a:pt x="966" y="325"/>
                    </a:cubicBezTo>
                    <a:cubicBezTo>
                      <a:pt x="1126" y="434"/>
                      <a:pt x="1288" y="650"/>
                      <a:pt x="1448" y="650"/>
                    </a:cubicBezTo>
                    <a:cubicBezTo>
                      <a:pt x="1609" y="650"/>
                      <a:pt x="1770" y="434"/>
                      <a:pt x="1931" y="325"/>
                    </a:cubicBezTo>
                    <a:cubicBezTo>
                      <a:pt x="2091" y="216"/>
                      <a:pt x="2254" y="0"/>
                      <a:pt x="2414" y="0"/>
                    </a:cubicBezTo>
                    <a:cubicBezTo>
                      <a:pt x="2575" y="0"/>
                      <a:pt x="2736" y="216"/>
                      <a:pt x="2897" y="325"/>
                    </a:cubicBezTo>
                    <a:cubicBezTo>
                      <a:pt x="3057" y="434"/>
                      <a:pt x="3219" y="650"/>
                      <a:pt x="3379" y="650"/>
                    </a:cubicBezTo>
                    <a:cubicBezTo>
                      <a:pt x="3540" y="650"/>
                      <a:pt x="3784" y="381"/>
                      <a:pt x="3863" y="325"/>
                    </a:cubicBezTo>
                    <a:cubicBezTo>
                      <a:pt x="3942" y="269"/>
                      <a:pt x="3853" y="315"/>
                      <a:pt x="3851" y="316"/>
                    </a:cubicBezTo>
                    <a:cubicBezTo>
                      <a:pt x="3849" y="317"/>
                      <a:pt x="3851" y="328"/>
                      <a:pt x="3851" y="331"/>
                    </a:cubicBezTo>
                  </a:path>
                </a:pathLst>
              </a:custGeom>
              <a:noFill/>
              <a:ln w="28575" cmpd="sng">
                <a:solidFill>
                  <a:srgbClr val="990000"/>
                </a:solidFill>
                <a:round/>
                <a:headEnd/>
                <a:tailEnd/>
              </a:ln>
            </p:spPr>
            <p:txBody>
              <a:bodyPr/>
              <a:lstStyle/>
              <a:p>
                <a:endParaRPr lang="en-GB"/>
              </a:p>
            </p:txBody>
          </p:sp>
          <p:sp>
            <p:nvSpPr>
              <p:cNvPr id="12446" name="Freeform 95"/>
              <p:cNvSpPr>
                <a:spLocks/>
              </p:cNvSpPr>
              <p:nvPr/>
            </p:nvSpPr>
            <p:spPr bwMode="auto">
              <a:xfrm>
                <a:off x="2041" y="1290"/>
                <a:ext cx="140" cy="229"/>
              </a:xfrm>
              <a:custGeom>
                <a:avLst/>
                <a:gdLst>
                  <a:gd name="T0" fmla="*/ 0 w 3942"/>
                  <a:gd name="T1" fmla="*/ 0 h 650"/>
                  <a:gd name="T2" fmla="*/ 0 w 3942"/>
                  <a:gd name="T3" fmla="*/ 0 h 650"/>
                  <a:gd name="T4" fmla="*/ 0 w 3942"/>
                  <a:gd name="T5" fmla="*/ 0 h 650"/>
                  <a:gd name="T6" fmla="*/ 0 w 3942"/>
                  <a:gd name="T7" fmla="*/ 0 h 650"/>
                  <a:gd name="T8" fmla="*/ 0 w 3942"/>
                  <a:gd name="T9" fmla="*/ 0 h 650"/>
                  <a:gd name="T10" fmla="*/ 0 w 3942"/>
                  <a:gd name="T11" fmla="*/ 0 h 650"/>
                  <a:gd name="T12" fmla="*/ 0 w 3942"/>
                  <a:gd name="T13" fmla="*/ 0 h 650"/>
                  <a:gd name="T14" fmla="*/ 0 w 3942"/>
                  <a:gd name="T15" fmla="*/ 0 h 650"/>
                  <a:gd name="T16" fmla="*/ 0 w 3942"/>
                  <a:gd name="T17" fmla="*/ 0 h 650"/>
                  <a:gd name="T18" fmla="*/ 0 w 3942"/>
                  <a:gd name="T19" fmla="*/ 0 h 650"/>
                  <a:gd name="T20" fmla="*/ 0 w 3942"/>
                  <a:gd name="T21" fmla="*/ 0 h 6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42"/>
                  <a:gd name="T34" fmla="*/ 0 h 650"/>
                  <a:gd name="T35" fmla="*/ 3942 w 3942"/>
                  <a:gd name="T36" fmla="*/ 650 h 6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42" h="650">
                    <a:moveTo>
                      <a:pt x="0" y="325"/>
                    </a:moveTo>
                    <a:cubicBezTo>
                      <a:pt x="161" y="162"/>
                      <a:pt x="322" y="0"/>
                      <a:pt x="482" y="0"/>
                    </a:cubicBezTo>
                    <a:cubicBezTo>
                      <a:pt x="643" y="0"/>
                      <a:pt x="805" y="216"/>
                      <a:pt x="966" y="325"/>
                    </a:cubicBezTo>
                    <a:cubicBezTo>
                      <a:pt x="1126" y="434"/>
                      <a:pt x="1288" y="650"/>
                      <a:pt x="1448" y="650"/>
                    </a:cubicBezTo>
                    <a:cubicBezTo>
                      <a:pt x="1609" y="650"/>
                      <a:pt x="1770" y="434"/>
                      <a:pt x="1931" y="325"/>
                    </a:cubicBezTo>
                    <a:cubicBezTo>
                      <a:pt x="2091" y="216"/>
                      <a:pt x="2254" y="0"/>
                      <a:pt x="2414" y="0"/>
                    </a:cubicBezTo>
                    <a:cubicBezTo>
                      <a:pt x="2575" y="0"/>
                      <a:pt x="2736" y="216"/>
                      <a:pt x="2897" y="325"/>
                    </a:cubicBezTo>
                    <a:cubicBezTo>
                      <a:pt x="3057" y="434"/>
                      <a:pt x="3219" y="650"/>
                      <a:pt x="3379" y="650"/>
                    </a:cubicBezTo>
                    <a:cubicBezTo>
                      <a:pt x="3540" y="650"/>
                      <a:pt x="3784" y="381"/>
                      <a:pt x="3863" y="325"/>
                    </a:cubicBezTo>
                    <a:cubicBezTo>
                      <a:pt x="3942" y="269"/>
                      <a:pt x="3853" y="315"/>
                      <a:pt x="3851" y="316"/>
                    </a:cubicBezTo>
                    <a:cubicBezTo>
                      <a:pt x="3849" y="317"/>
                      <a:pt x="3851" y="328"/>
                      <a:pt x="3851" y="331"/>
                    </a:cubicBezTo>
                  </a:path>
                </a:pathLst>
              </a:custGeom>
              <a:noFill/>
              <a:ln w="28575" cmpd="sng">
                <a:solidFill>
                  <a:srgbClr val="990000"/>
                </a:solidFill>
                <a:round/>
                <a:headEnd/>
                <a:tailEnd/>
              </a:ln>
            </p:spPr>
            <p:txBody>
              <a:bodyPr/>
              <a:lstStyle/>
              <a:p>
                <a:endParaRPr lang="en-GB"/>
              </a:p>
            </p:txBody>
          </p:sp>
          <p:sp>
            <p:nvSpPr>
              <p:cNvPr id="12447" name="Freeform 96"/>
              <p:cNvSpPr>
                <a:spLocks/>
              </p:cNvSpPr>
              <p:nvPr/>
            </p:nvSpPr>
            <p:spPr bwMode="auto">
              <a:xfrm>
                <a:off x="2181" y="1290"/>
                <a:ext cx="141" cy="229"/>
              </a:xfrm>
              <a:custGeom>
                <a:avLst/>
                <a:gdLst>
                  <a:gd name="T0" fmla="*/ 0 w 3942"/>
                  <a:gd name="T1" fmla="*/ 0 h 650"/>
                  <a:gd name="T2" fmla="*/ 0 w 3942"/>
                  <a:gd name="T3" fmla="*/ 0 h 650"/>
                  <a:gd name="T4" fmla="*/ 0 w 3942"/>
                  <a:gd name="T5" fmla="*/ 0 h 650"/>
                  <a:gd name="T6" fmla="*/ 0 w 3942"/>
                  <a:gd name="T7" fmla="*/ 0 h 650"/>
                  <a:gd name="T8" fmla="*/ 0 w 3942"/>
                  <a:gd name="T9" fmla="*/ 0 h 650"/>
                  <a:gd name="T10" fmla="*/ 0 w 3942"/>
                  <a:gd name="T11" fmla="*/ 0 h 650"/>
                  <a:gd name="T12" fmla="*/ 0 w 3942"/>
                  <a:gd name="T13" fmla="*/ 0 h 650"/>
                  <a:gd name="T14" fmla="*/ 0 w 3942"/>
                  <a:gd name="T15" fmla="*/ 0 h 650"/>
                  <a:gd name="T16" fmla="*/ 0 w 3942"/>
                  <a:gd name="T17" fmla="*/ 0 h 650"/>
                  <a:gd name="T18" fmla="*/ 0 w 3942"/>
                  <a:gd name="T19" fmla="*/ 0 h 650"/>
                  <a:gd name="T20" fmla="*/ 0 w 3942"/>
                  <a:gd name="T21" fmla="*/ 0 h 6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42"/>
                  <a:gd name="T34" fmla="*/ 0 h 650"/>
                  <a:gd name="T35" fmla="*/ 3942 w 3942"/>
                  <a:gd name="T36" fmla="*/ 650 h 6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42" h="650">
                    <a:moveTo>
                      <a:pt x="0" y="325"/>
                    </a:moveTo>
                    <a:cubicBezTo>
                      <a:pt x="161" y="162"/>
                      <a:pt x="322" y="0"/>
                      <a:pt x="482" y="0"/>
                    </a:cubicBezTo>
                    <a:cubicBezTo>
                      <a:pt x="643" y="0"/>
                      <a:pt x="805" y="216"/>
                      <a:pt x="966" y="325"/>
                    </a:cubicBezTo>
                    <a:cubicBezTo>
                      <a:pt x="1126" y="434"/>
                      <a:pt x="1288" y="650"/>
                      <a:pt x="1448" y="650"/>
                    </a:cubicBezTo>
                    <a:cubicBezTo>
                      <a:pt x="1609" y="650"/>
                      <a:pt x="1770" y="434"/>
                      <a:pt x="1931" y="325"/>
                    </a:cubicBezTo>
                    <a:cubicBezTo>
                      <a:pt x="2091" y="216"/>
                      <a:pt x="2254" y="0"/>
                      <a:pt x="2414" y="0"/>
                    </a:cubicBezTo>
                    <a:cubicBezTo>
                      <a:pt x="2575" y="0"/>
                      <a:pt x="2736" y="216"/>
                      <a:pt x="2897" y="325"/>
                    </a:cubicBezTo>
                    <a:cubicBezTo>
                      <a:pt x="3057" y="434"/>
                      <a:pt x="3219" y="650"/>
                      <a:pt x="3379" y="650"/>
                    </a:cubicBezTo>
                    <a:cubicBezTo>
                      <a:pt x="3540" y="650"/>
                      <a:pt x="3784" y="381"/>
                      <a:pt x="3863" y="325"/>
                    </a:cubicBezTo>
                    <a:cubicBezTo>
                      <a:pt x="3942" y="269"/>
                      <a:pt x="3853" y="315"/>
                      <a:pt x="3851" y="316"/>
                    </a:cubicBezTo>
                    <a:cubicBezTo>
                      <a:pt x="3849" y="317"/>
                      <a:pt x="3851" y="328"/>
                      <a:pt x="3851" y="331"/>
                    </a:cubicBezTo>
                  </a:path>
                </a:pathLst>
              </a:custGeom>
              <a:noFill/>
              <a:ln w="28575" cmpd="sng">
                <a:solidFill>
                  <a:srgbClr val="990000"/>
                </a:solidFill>
                <a:round/>
                <a:headEnd/>
                <a:tailEnd/>
              </a:ln>
            </p:spPr>
            <p:txBody>
              <a:bodyPr/>
              <a:lstStyle/>
              <a:p>
                <a:endParaRPr lang="en-GB"/>
              </a:p>
            </p:txBody>
          </p:sp>
        </p:grpSp>
        <p:grpSp>
          <p:nvGrpSpPr>
            <p:cNvPr id="12432" name="Group 97"/>
            <p:cNvGrpSpPr>
              <a:grpSpLocks/>
            </p:cNvGrpSpPr>
            <p:nvPr/>
          </p:nvGrpSpPr>
          <p:grpSpPr bwMode="auto">
            <a:xfrm flipV="1">
              <a:off x="190" y="1063"/>
              <a:ext cx="662" cy="284"/>
              <a:chOff x="1900" y="1290"/>
              <a:chExt cx="422" cy="229"/>
            </a:xfrm>
          </p:grpSpPr>
          <p:sp>
            <p:nvSpPr>
              <p:cNvPr id="12442" name="Freeform 98"/>
              <p:cNvSpPr>
                <a:spLocks/>
              </p:cNvSpPr>
              <p:nvPr/>
            </p:nvSpPr>
            <p:spPr bwMode="auto">
              <a:xfrm>
                <a:off x="1900" y="1290"/>
                <a:ext cx="141" cy="229"/>
              </a:xfrm>
              <a:custGeom>
                <a:avLst/>
                <a:gdLst>
                  <a:gd name="T0" fmla="*/ 0 w 3942"/>
                  <a:gd name="T1" fmla="*/ 0 h 650"/>
                  <a:gd name="T2" fmla="*/ 0 w 3942"/>
                  <a:gd name="T3" fmla="*/ 0 h 650"/>
                  <a:gd name="T4" fmla="*/ 0 w 3942"/>
                  <a:gd name="T5" fmla="*/ 0 h 650"/>
                  <a:gd name="T6" fmla="*/ 0 w 3942"/>
                  <a:gd name="T7" fmla="*/ 0 h 650"/>
                  <a:gd name="T8" fmla="*/ 0 w 3942"/>
                  <a:gd name="T9" fmla="*/ 0 h 650"/>
                  <a:gd name="T10" fmla="*/ 0 w 3942"/>
                  <a:gd name="T11" fmla="*/ 0 h 650"/>
                  <a:gd name="T12" fmla="*/ 0 w 3942"/>
                  <a:gd name="T13" fmla="*/ 0 h 650"/>
                  <a:gd name="T14" fmla="*/ 0 w 3942"/>
                  <a:gd name="T15" fmla="*/ 0 h 650"/>
                  <a:gd name="T16" fmla="*/ 0 w 3942"/>
                  <a:gd name="T17" fmla="*/ 0 h 650"/>
                  <a:gd name="T18" fmla="*/ 0 w 3942"/>
                  <a:gd name="T19" fmla="*/ 0 h 650"/>
                  <a:gd name="T20" fmla="*/ 0 w 3942"/>
                  <a:gd name="T21" fmla="*/ 0 h 6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42"/>
                  <a:gd name="T34" fmla="*/ 0 h 650"/>
                  <a:gd name="T35" fmla="*/ 3942 w 3942"/>
                  <a:gd name="T36" fmla="*/ 650 h 6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42" h="650">
                    <a:moveTo>
                      <a:pt x="0" y="325"/>
                    </a:moveTo>
                    <a:cubicBezTo>
                      <a:pt x="161" y="162"/>
                      <a:pt x="322" y="0"/>
                      <a:pt x="482" y="0"/>
                    </a:cubicBezTo>
                    <a:cubicBezTo>
                      <a:pt x="643" y="0"/>
                      <a:pt x="805" y="216"/>
                      <a:pt x="966" y="325"/>
                    </a:cubicBezTo>
                    <a:cubicBezTo>
                      <a:pt x="1126" y="434"/>
                      <a:pt x="1288" y="650"/>
                      <a:pt x="1448" y="650"/>
                    </a:cubicBezTo>
                    <a:cubicBezTo>
                      <a:pt x="1609" y="650"/>
                      <a:pt x="1770" y="434"/>
                      <a:pt x="1931" y="325"/>
                    </a:cubicBezTo>
                    <a:cubicBezTo>
                      <a:pt x="2091" y="216"/>
                      <a:pt x="2254" y="0"/>
                      <a:pt x="2414" y="0"/>
                    </a:cubicBezTo>
                    <a:cubicBezTo>
                      <a:pt x="2575" y="0"/>
                      <a:pt x="2736" y="216"/>
                      <a:pt x="2897" y="325"/>
                    </a:cubicBezTo>
                    <a:cubicBezTo>
                      <a:pt x="3057" y="434"/>
                      <a:pt x="3219" y="650"/>
                      <a:pt x="3379" y="650"/>
                    </a:cubicBezTo>
                    <a:cubicBezTo>
                      <a:pt x="3540" y="650"/>
                      <a:pt x="3784" y="381"/>
                      <a:pt x="3863" y="325"/>
                    </a:cubicBezTo>
                    <a:cubicBezTo>
                      <a:pt x="3942" y="269"/>
                      <a:pt x="3853" y="315"/>
                      <a:pt x="3851" y="316"/>
                    </a:cubicBezTo>
                    <a:cubicBezTo>
                      <a:pt x="3849" y="317"/>
                      <a:pt x="3851" y="328"/>
                      <a:pt x="3851" y="331"/>
                    </a:cubicBezTo>
                  </a:path>
                </a:pathLst>
              </a:custGeom>
              <a:noFill/>
              <a:ln w="28575" cmpd="sng">
                <a:solidFill>
                  <a:srgbClr val="00CC99"/>
                </a:solidFill>
                <a:round/>
                <a:headEnd/>
                <a:tailEnd/>
              </a:ln>
            </p:spPr>
            <p:txBody>
              <a:bodyPr/>
              <a:lstStyle/>
              <a:p>
                <a:endParaRPr lang="en-GB"/>
              </a:p>
            </p:txBody>
          </p:sp>
          <p:sp>
            <p:nvSpPr>
              <p:cNvPr id="12443" name="Freeform 99"/>
              <p:cNvSpPr>
                <a:spLocks/>
              </p:cNvSpPr>
              <p:nvPr/>
            </p:nvSpPr>
            <p:spPr bwMode="auto">
              <a:xfrm>
                <a:off x="2041" y="1290"/>
                <a:ext cx="140" cy="229"/>
              </a:xfrm>
              <a:custGeom>
                <a:avLst/>
                <a:gdLst>
                  <a:gd name="T0" fmla="*/ 0 w 3942"/>
                  <a:gd name="T1" fmla="*/ 0 h 650"/>
                  <a:gd name="T2" fmla="*/ 0 w 3942"/>
                  <a:gd name="T3" fmla="*/ 0 h 650"/>
                  <a:gd name="T4" fmla="*/ 0 w 3942"/>
                  <a:gd name="T5" fmla="*/ 0 h 650"/>
                  <a:gd name="T6" fmla="*/ 0 w 3942"/>
                  <a:gd name="T7" fmla="*/ 0 h 650"/>
                  <a:gd name="T8" fmla="*/ 0 w 3942"/>
                  <a:gd name="T9" fmla="*/ 0 h 650"/>
                  <a:gd name="T10" fmla="*/ 0 w 3942"/>
                  <a:gd name="T11" fmla="*/ 0 h 650"/>
                  <a:gd name="T12" fmla="*/ 0 w 3942"/>
                  <a:gd name="T13" fmla="*/ 0 h 650"/>
                  <a:gd name="T14" fmla="*/ 0 w 3942"/>
                  <a:gd name="T15" fmla="*/ 0 h 650"/>
                  <a:gd name="T16" fmla="*/ 0 w 3942"/>
                  <a:gd name="T17" fmla="*/ 0 h 650"/>
                  <a:gd name="T18" fmla="*/ 0 w 3942"/>
                  <a:gd name="T19" fmla="*/ 0 h 650"/>
                  <a:gd name="T20" fmla="*/ 0 w 3942"/>
                  <a:gd name="T21" fmla="*/ 0 h 6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42"/>
                  <a:gd name="T34" fmla="*/ 0 h 650"/>
                  <a:gd name="T35" fmla="*/ 3942 w 3942"/>
                  <a:gd name="T36" fmla="*/ 650 h 6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42" h="650">
                    <a:moveTo>
                      <a:pt x="0" y="325"/>
                    </a:moveTo>
                    <a:cubicBezTo>
                      <a:pt x="161" y="162"/>
                      <a:pt x="322" y="0"/>
                      <a:pt x="482" y="0"/>
                    </a:cubicBezTo>
                    <a:cubicBezTo>
                      <a:pt x="643" y="0"/>
                      <a:pt x="805" y="216"/>
                      <a:pt x="966" y="325"/>
                    </a:cubicBezTo>
                    <a:cubicBezTo>
                      <a:pt x="1126" y="434"/>
                      <a:pt x="1288" y="650"/>
                      <a:pt x="1448" y="650"/>
                    </a:cubicBezTo>
                    <a:cubicBezTo>
                      <a:pt x="1609" y="650"/>
                      <a:pt x="1770" y="434"/>
                      <a:pt x="1931" y="325"/>
                    </a:cubicBezTo>
                    <a:cubicBezTo>
                      <a:pt x="2091" y="216"/>
                      <a:pt x="2254" y="0"/>
                      <a:pt x="2414" y="0"/>
                    </a:cubicBezTo>
                    <a:cubicBezTo>
                      <a:pt x="2575" y="0"/>
                      <a:pt x="2736" y="216"/>
                      <a:pt x="2897" y="325"/>
                    </a:cubicBezTo>
                    <a:cubicBezTo>
                      <a:pt x="3057" y="434"/>
                      <a:pt x="3219" y="650"/>
                      <a:pt x="3379" y="650"/>
                    </a:cubicBezTo>
                    <a:cubicBezTo>
                      <a:pt x="3540" y="650"/>
                      <a:pt x="3784" y="381"/>
                      <a:pt x="3863" y="325"/>
                    </a:cubicBezTo>
                    <a:cubicBezTo>
                      <a:pt x="3942" y="269"/>
                      <a:pt x="3853" y="315"/>
                      <a:pt x="3851" y="316"/>
                    </a:cubicBezTo>
                    <a:cubicBezTo>
                      <a:pt x="3849" y="317"/>
                      <a:pt x="3851" y="328"/>
                      <a:pt x="3851" y="331"/>
                    </a:cubicBezTo>
                  </a:path>
                </a:pathLst>
              </a:custGeom>
              <a:noFill/>
              <a:ln w="28575" cmpd="sng">
                <a:solidFill>
                  <a:srgbClr val="00CC99"/>
                </a:solidFill>
                <a:round/>
                <a:headEnd/>
                <a:tailEnd/>
              </a:ln>
            </p:spPr>
            <p:txBody>
              <a:bodyPr/>
              <a:lstStyle/>
              <a:p>
                <a:endParaRPr lang="en-GB"/>
              </a:p>
            </p:txBody>
          </p:sp>
          <p:sp>
            <p:nvSpPr>
              <p:cNvPr id="12444" name="Freeform 100"/>
              <p:cNvSpPr>
                <a:spLocks/>
              </p:cNvSpPr>
              <p:nvPr/>
            </p:nvSpPr>
            <p:spPr bwMode="auto">
              <a:xfrm>
                <a:off x="2181" y="1290"/>
                <a:ext cx="141" cy="229"/>
              </a:xfrm>
              <a:custGeom>
                <a:avLst/>
                <a:gdLst>
                  <a:gd name="T0" fmla="*/ 0 w 3942"/>
                  <a:gd name="T1" fmla="*/ 0 h 650"/>
                  <a:gd name="T2" fmla="*/ 0 w 3942"/>
                  <a:gd name="T3" fmla="*/ 0 h 650"/>
                  <a:gd name="T4" fmla="*/ 0 w 3942"/>
                  <a:gd name="T5" fmla="*/ 0 h 650"/>
                  <a:gd name="T6" fmla="*/ 0 w 3942"/>
                  <a:gd name="T7" fmla="*/ 0 h 650"/>
                  <a:gd name="T8" fmla="*/ 0 w 3942"/>
                  <a:gd name="T9" fmla="*/ 0 h 650"/>
                  <a:gd name="T10" fmla="*/ 0 w 3942"/>
                  <a:gd name="T11" fmla="*/ 0 h 650"/>
                  <a:gd name="T12" fmla="*/ 0 w 3942"/>
                  <a:gd name="T13" fmla="*/ 0 h 650"/>
                  <a:gd name="T14" fmla="*/ 0 w 3942"/>
                  <a:gd name="T15" fmla="*/ 0 h 650"/>
                  <a:gd name="T16" fmla="*/ 0 w 3942"/>
                  <a:gd name="T17" fmla="*/ 0 h 650"/>
                  <a:gd name="T18" fmla="*/ 0 w 3942"/>
                  <a:gd name="T19" fmla="*/ 0 h 650"/>
                  <a:gd name="T20" fmla="*/ 0 w 3942"/>
                  <a:gd name="T21" fmla="*/ 0 h 6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42"/>
                  <a:gd name="T34" fmla="*/ 0 h 650"/>
                  <a:gd name="T35" fmla="*/ 3942 w 3942"/>
                  <a:gd name="T36" fmla="*/ 650 h 6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42" h="650">
                    <a:moveTo>
                      <a:pt x="0" y="325"/>
                    </a:moveTo>
                    <a:cubicBezTo>
                      <a:pt x="161" y="162"/>
                      <a:pt x="322" y="0"/>
                      <a:pt x="482" y="0"/>
                    </a:cubicBezTo>
                    <a:cubicBezTo>
                      <a:pt x="643" y="0"/>
                      <a:pt x="805" y="216"/>
                      <a:pt x="966" y="325"/>
                    </a:cubicBezTo>
                    <a:cubicBezTo>
                      <a:pt x="1126" y="434"/>
                      <a:pt x="1288" y="650"/>
                      <a:pt x="1448" y="650"/>
                    </a:cubicBezTo>
                    <a:cubicBezTo>
                      <a:pt x="1609" y="650"/>
                      <a:pt x="1770" y="434"/>
                      <a:pt x="1931" y="325"/>
                    </a:cubicBezTo>
                    <a:cubicBezTo>
                      <a:pt x="2091" y="216"/>
                      <a:pt x="2254" y="0"/>
                      <a:pt x="2414" y="0"/>
                    </a:cubicBezTo>
                    <a:cubicBezTo>
                      <a:pt x="2575" y="0"/>
                      <a:pt x="2736" y="216"/>
                      <a:pt x="2897" y="325"/>
                    </a:cubicBezTo>
                    <a:cubicBezTo>
                      <a:pt x="3057" y="434"/>
                      <a:pt x="3219" y="650"/>
                      <a:pt x="3379" y="650"/>
                    </a:cubicBezTo>
                    <a:cubicBezTo>
                      <a:pt x="3540" y="650"/>
                      <a:pt x="3784" y="381"/>
                      <a:pt x="3863" y="325"/>
                    </a:cubicBezTo>
                    <a:cubicBezTo>
                      <a:pt x="3942" y="269"/>
                      <a:pt x="3853" y="315"/>
                      <a:pt x="3851" y="316"/>
                    </a:cubicBezTo>
                    <a:cubicBezTo>
                      <a:pt x="3849" y="317"/>
                      <a:pt x="3851" y="328"/>
                      <a:pt x="3851" y="331"/>
                    </a:cubicBezTo>
                  </a:path>
                </a:pathLst>
              </a:custGeom>
              <a:noFill/>
              <a:ln w="28575" cmpd="sng">
                <a:solidFill>
                  <a:srgbClr val="00CC99"/>
                </a:solidFill>
                <a:round/>
                <a:headEnd/>
                <a:tailEnd/>
              </a:ln>
            </p:spPr>
            <p:txBody>
              <a:bodyPr/>
              <a:lstStyle/>
              <a:p>
                <a:endParaRPr lang="en-GB"/>
              </a:p>
            </p:txBody>
          </p:sp>
        </p:grpSp>
        <p:grpSp>
          <p:nvGrpSpPr>
            <p:cNvPr id="12433" name="Group 101"/>
            <p:cNvGrpSpPr>
              <a:grpSpLocks/>
            </p:cNvGrpSpPr>
            <p:nvPr/>
          </p:nvGrpSpPr>
          <p:grpSpPr bwMode="auto">
            <a:xfrm flipV="1">
              <a:off x="2917" y="1010"/>
              <a:ext cx="648" cy="291"/>
              <a:chOff x="1900" y="1290"/>
              <a:chExt cx="422" cy="229"/>
            </a:xfrm>
          </p:grpSpPr>
          <p:sp>
            <p:nvSpPr>
              <p:cNvPr id="12439" name="Freeform 102"/>
              <p:cNvSpPr>
                <a:spLocks/>
              </p:cNvSpPr>
              <p:nvPr/>
            </p:nvSpPr>
            <p:spPr bwMode="auto">
              <a:xfrm>
                <a:off x="1900" y="1290"/>
                <a:ext cx="141" cy="229"/>
              </a:xfrm>
              <a:custGeom>
                <a:avLst/>
                <a:gdLst>
                  <a:gd name="T0" fmla="*/ 0 w 3942"/>
                  <a:gd name="T1" fmla="*/ 0 h 650"/>
                  <a:gd name="T2" fmla="*/ 0 w 3942"/>
                  <a:gd name="T3" fmla="*/ 0 h 650"/>
                  <a:gd name="T4" fmla="*/ 0 w 3942"/>
                  <a:gd name="T5" fmla="*/ 0 h 650"/>
                  <a:gd name="T6" fmla="*/ 0 w 3942"/>
                  <a:gd name="T7" fmla="*/ 0 h 650"/>
                  <a:gd name="T8" fmla="*/ 0 w 3942"/>
                  <a:gd name="T9" fmla="*/ 0 h 650"/>
                  <a:gd name="T10" fmla="*/ 0 w 3942"/>
                  <a:gd name="T11" fmla="*/ 0 h 650"/>
                  <a:gd name="T12" fmla="*/ 0 w 3942"/>
                  <a:gd name="T13" fmla="*/ 0 h 650"/>
                  <a:gd name="T14" fmla="*/ 0 w 3942"/>
                  <a:gd name="T15" fmla="*/ 0 h 650"/>
                  <a:gd name="T16" fmla="*/ 0 w 3942"/>
                  <a:gd name="T17" fmla="*/ 0 h 650"/>
                  <a:gd name="T18" fmla="*/ 0 w 3942"/>
                  <a:gd name="T19" fmla="*/ 0 h 650"/>
                  <a:gd name="T20" fmla="*/ 0 w 3942"/>
                  <a:gd name="T21" fmla="*/ 0 h 6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42"/>
                  <a:gd name="T34" fmla="*/ 0 h 650"/>
                  <a:gd name="T35" fmla="*/ 3942 w 3942"/>
                  <a:gd name="T36" fmla="*/ 650 h 6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42" h="650">
                    <a:moveTo>
                      <a:pt x="0" y="325"/>
                    </a:moveTo>
                    <a:cubicBezTo>
                      <a:pt x="161" y="162"/>
                      <a:pt x="322" y="0"/>
                      <a:pt x="482" y="0"/>
                    </a:cubicBezTo>
                    <a:cubicBezTo>
                      <a:pt x="643" y="0"/>
                      <a:pt x="805" y="216"/>
                      <a:pt x="966" y="325"/>
                    </a:cubicBezTo>
                    <a:cubicBezTo>
                      <a:pt x="1126" y="434"/>
                      <a:pt x="1288" y="650"/>
                      <a:pt x="1448" y="650"/>
                    </a:cubicBezTo>
                    <a:cubicBezTo>
                      <a:pt x="1609" y="650"/>
                      <a:pt x="1770" y="434"/>
                      <a:pt x="1931" y="325"/>
                    </a:cubicBezTo>
                    <a:cubicBezTo>
                      <a:pt x="2091" y="216"/>
                      <a:pt x="2254" y="0"/>
                      <a:pt x="2414" y="0"/>
                    </a:cubicBezTo>
                    <a:cubicBezTo>
                      <a:pt x="2575" y="0"/>
                      <a:pt x="2736" y="216"/>
                      <a:pt x="2897" y="325"/>
                    </a:cubicBezTo>
                    <a:cubicBezTo>
                      <a:pt x="3057" y="434"/>
                      <a:pt x="3219" y="650"/>
                      <a:pt x="3379" y="650"/>
                    </a:cubicBezTo>
                    <a:cubicBezTo>
                      <a:pt x="3540" y="650"/>
                      <a:pt x="3784" y="381"/>
                      <a:pt x="3863" y="325"/>
                    </a:cubicBezTo>
                    <a:cubicBezTo>
                      <a:pt x="3942" y="269"/>
                      <a:pt x="3853" y="315"/>
                      <a:pt x="3851" y="316"/>
                    </a:cubicBezTo>
                    <a:cubicBezTo>
                      <a:pt x="3849" y="317"/>
                      <a:pt x="3851" y="328"/>
                      <a:pt x="3851" y="331"/>
                    </a:cubicBezTo>
                  </a:path>
                </a:pathLst>
              </a:custGeom>
              <a:noFill/>
              <a:ln w="28575" cmpd="sng">
                <a:solidFill>
                  <a:srgbClr val="00CC99"/>
                </a:solidFill>
                <a:round/>
                <a:headEnd/>
                <a:tailEnd/>
              </a:ln>
            </p:spPr>
            <p:txBody>
              <a:bodyPr/>
              <a:lstStyle/>
              <a:p>
                <a:endParaRPr lang="en-GB"/>
              </a:p>
            </p:txBody>
          </p:sp>
          <p:sp>
            <p:nvSpPr>
              <p:cNvPr id="12440" name="Freeform 103"/>
              <p:cNvSpPr>
                <a:spLocks/>
              </p:cNvSpPr>
              <p:nvPr/>
            </p:nvSpPr>
            <p:spPr bwMode="auto">
              <a:xfrm>
                <a:off x="2041" y="1290"/>
                <a:ext cx="140" cy="229"/>
              </a:xfrm>
              <a:custGeom>
                <a:avLst/>
                <a:gdLst>
                  <a:gd name="T0" fmla="*/ 0 w 3942"/>
                  <a:gd name="T1" fmla="*/ 0 h 650"/>
                  <a:gd name="T2" fmla="*/ 0 w 3942"/>
                  <a:gd name="T3" fmla="*/ 0 h 650"/>
                  <a:gd name="T4" fmla="*/ 0 w 3942"/>
                  <a:gd name="T5" fmla="*/ 0 h 650"/>
                  <a:gd name="T6" fmla="*/ 0 w 3942"/>
                  <a:gd name="T7" fmla="*/ 0 h 650"/>
                  <a:gd name="T8" fmla="*/ 0 w 3942"/>
                  <a:gd name="T9" fmla="*/ 0 h 650"/>
                  <a:gd name="T10" fmla="*/ 0 w 3942"/>
                  <a:gd name="T11" fmla="*/ 0 h 650"/>
                  <a:gd name="T12" fmla="*/ 0 w 3942"/>
                  <a:gd name="T13" fmla="*/ 0 h 650"/>
                  <a:gd name="T14" fmla="*/ 0 w 3942"/>
                  <a:gd name="T15" fmla="*/ 0 h 650"/>
                  <a:gd name="T16" fmla="*/ 0 w 3942"/>
                  <a:gd name="T17" fmla="*/ 0 h 650"/>
                  <a:gd name="T18" fmla="*/ 0 w 3942"/>
                  <a:gd name="T19" fmla="*/ 0 h 650"/>
                  <a:gd name="T20" fmla="*/ 0 w 3942"/>
                  <a:gd name="T21" fmla="*/ 0 h 6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42"/>
                  <a:gd name="T34" fmla="*/ 0 h 650"/>
                  <a:gd name="T35" fmla="*/ 3942 w 3942"/>
                  <a:gd name="T36" fmla="*/ 650 h 6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42" h="650">
                    <a:moveTo>
                      <a:pt x="0" y="325"/>
                    </a:moveTo>
                    <a:cubicBezTo>
                      <a:pt x="161" y="162"/>
                      <a:pt x="322" y="0"/>
                      <a:pt x="482" y="0"/>
                    </a:cubicBezTo>
                    <a:cubicBezTo>
                      <a:pt x="643" y="0"/>
                      <a:pt x="805" y="216"/>
                      <a:pt x="966" y="325"/>
                    </a:cubicBezTo>
                    <a:cubicBezTo>
                      <a:pt x="1126" y="434"/>
                      <a:pt x="1288" y="650"/>
                      <a:pt x="1448" y="650"/>
                    </a:cubicBezTo>
                    <a:cubicBezTo>
                      <a:pt x="1609" y="650"/>
                      <a:pt x="1770" y="434"/>
                      <a:pt x="1931" y="325"/>
                    </a:cubicBezTo>
                    <a:cubicBezTo>
                      <a:pt x="2091" y="216"/>
                      <a:pt x="2254" y="0"/>
                      <a:pt x="2414" y="0"/>
                    </a:cubicBezTo>
                    <a:cubicBezTo>
                      <a:pt x="2575" y="0"/>
                      <a:pt x="2736" y="216"/>
                      <a:pt x="2897" y="325"/>
                    </a:cubicBezTo>
                    <a:cubicBezTo>
                      <a:pt x="3057" y="434"/>
                      <a:pt x="3219" y="650"/>
                      <a:pt x="3379" y="650"/>
                    </a:cubicBezTo>
                    <a:cubicBezTo>
                      <a:pt x="3540" y="650"/>
                      <a:pt x="3784" y="381"/>
                      <a:pt x="3863" y="325"/>
                    </a:cubicBezTo>
                    <a:cubicBezTo>
                      <a:pt x="3942" y="269"/>
                      <a:pt x="3853" y="315"/>
                      <a:pt x="3851" y="316"/>
                    </a:cubicBezTo>
                    <a:cubicBezTo>
                      <a:pt x="3849" y="317"/>
                      <a:pt x="3851" y="328"/>
                      <a:pt x="3851" y="331"/>
                    </a:cubicBezTo>
                  </a:path>
                </a:pathLst>
              </a:custGeom>
              <a:noFill/>
              <a:ln w="28575" cmpd="sng">
                <a:solidFill>
                  <a:srgbClr val="00CC99"/>
                </a:solidFill>
                <a:round/>
                <a:headEnd/>
                <a:tailEnd/>
              </a:ln>
            </p:spPr>
            <p:txBody>
              <a:bodyPr/>
              <a:lstStyle/>
              <a:p>
                <a:endParaRPr lang="en-GB"/>
              </a:p>
            </p:txBody>
          </p:sp>
          <p:sp>
            <p:nvSpPr>
              <p:cNvPr id="12441" name="Freeform 104"/>
              <p:cNvSpPr>
                <a:spLocks/>
              </p:cNvSpPr>
              <p:nvPr/>
            </p:nvSpPr>
            <p:spPr bwMode="auto">
              <a:xfrm>
                <a:off x="2181" y="1290"/>
                <a:ext cx="141" cy="229"/>
              </a:xfrm>
              <a:custGeom>
                <a:avLst/>
                <a:gdLst>
                  <a:gd name="T0" fmla="*/ 0 w 3942"/>
                  <a:gd name="T1" fmla="*/ 0 h 650"/>
                  <a:gd name="T2" fmla="*/ 0 w 3942"/>
                  <a:gd name="T3" fmla="*/ 0 h 650"/>
                  <a:gd name="T4" fmla="*/ 0 w 3942"/>
                  <a:gd name="T5" fmla="*/ 0 h 650"/>
                  <a:gd name="T6" fmla="*/ 0 w 3942"/>
                  <a:gd name="T7" fmla="*/ 0 h 650"/>
                  <a:gd name="T8" fmla="*/ 0 w 3942"/>
                  <a:gd name="T9" fmla="*/ 0 h 650"/>
                  <a:gd name="T10" fmla="*/ 0 w 3942"/>
                  <a:gd name="T11" fmla="*/ 0 h 650"/>
                  <a:gd name="T12" fmla="*/ 0 w 3942"/>
                  <a:gd name="T13" fmla="*/ 0 h 650"/>
                  <a:gd name="T14" fmla="*/ 0 w 3942"/>
                  <a:gd name="T15" fmla="*/ 0 h 650"/>
                  <a:gd name="T16" fmla="*/ 0 w 3942"/>
                  <a:gd name="T17" fmla="*/ 0 h 650"/>
                  <a:gd name="T18" fmla="*/ 0 w 3942"/>
                  <a:gd name="T19" fmla="*/ 0 h 650"/>
                  <a:gd name="T20" fmla="*/ 0 w 3942"/>
                  <a:gd name="T21" fmla="*/ 0 h 6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42"/>
                  <a:gd name="T34" fmla="*/ 0 h 650"/>
                  <a:gd name="T35" fmla="*/ 3942 w 3942"/>
                  <a:gd name="T36" fmla="*/ 650 h 6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42" h="650">
                    <a:moveTo>
                      <a:pt x="0" y="325"/>
                    </a:moveTo>
                    <a:cubicBezTo>
                      <a:pt x="161" y="162"/>
                      <a:pt x="322" y="0"/>
                      <a:pt x="482" y="0"/>
                    </a:cubicBezTo>
                    <a:cubicBezTo>
                      <a:pt x="643" y="0"/>
                      <a:pt x="805" y="216"/>
                      <a:pt x="966" y="325"/>
                    </a:cubicBezTo>
                    <a:cubicBezTo>
                      <a:pt x="1126" y="434"/>
                      <a:pt x="1288" y="650"/>
                      <a:pt x="1448" y="650"/>
                    </a:cubicBezTo>
                    <a:cubicBezTo>
                      <a:pt x="1609" y="650"/>
                      <a:pt x="1770" y="434"/>
                      <a:pt x="1931" y="325"/>
                    </a:cubicBezTo>
                    <a:cubicBezTo>
                      <a:pt x="2091" y="216"/>
                      <a:pt x="2254" y="0"/>
                      <a:pt x="2414" y="0"/>
                    </a:cubicBezTo>
                    <a:cubicBezTo>
                      <a:pt x="2575" y="0"/>
                      <a:pt x="2736" y="216"/>
                      <a:pt x="2897" y="325"/>
                    </a:cubicBezTo>
                    <a:cubicBezTo>
                      <a:pt x="3057" y="434"/>
                      <a:pt x="3219" y="650"/>
                      <a:pt x="3379" y="650"/>
                    </a:cubicBezTo>
                    <a:cubicBezTo>
                      <a:pt x="3540" y="650"/>
                      <a:pt x="3784" y="381"/>
                      <a:pt x="3863" y="325"/>
                    </a:cubicBezTo>
                    <a:cubicBezTo>
                      <a:pt x="3942" y="269"/>
                      <a:pt x="3853" y="315"/>
                      <a:pt x="3851" y="316"/>
                    </a:cubicBezTo>
                    <a:cubicBezTo>
                      <a:pt x="3849" y="317"/>
                      <a:pt x="3851" y="328"/>
                      <a:pt x="3851" y="331"/>
                    </a:cubicBezTo>
                  </a:path>
                </a:pathLst>
              </a:custGeom>
              <a:noFill/>
              <a:ln w="28575" cmpd="sng">
                <a:solidFill>
                  <a:srgbClr val="00CC99"/>
                </a:solidFill>
                <a:round/>
                <a:headEnd/>
                <a:tailEnd/>
              </a:ln>
            </p:spPr>
            <p:txBody>
              <a:bodyPr/>
              <a:lstStyle/>
              <a:p>
                <a:endParaRPr lang="en-GB"/>
              </a:p>
            </p:txBody>
          </p:sp>
        </p:grpSp>
        <p:grpSp>
          <p:nvGrpSpPr>
            <p:cNvPr id="12434" name="Group 105"/>
            <p:cNvGrpSpPr>
              <a:grpSpLocks/>
            </p:cNvGrpSpPr>
            <p:nvPr/>
          </p:nvGrpSpPr>
          <p:grpSpPr bwMode="auto">
            <a:xfrm>
              <a:off x="2914" y="1247"/>
              <a:ext cx="537" cy="178"/>
              <a:chOff x="3904" y="3390"/>
              <a:chExt cx="537" cy="178"/>
            </a:xfrm>
          </p:grpSpPr>
          <p:sp>
            <p:nvSpPr>
              <p:cNvPr id="12435" name="AutoShape 106"/>
              <p:cNvSpPr>
                <a:spLocks noChangeArrowheads="1"/>
              </p:cNvSpPr>
              <p:nvPr/>
            </p:nvSpPr>
            <p:spPr bwMode="auto">
              <a:xfrm rot="2158125">
                <a:off x="4176" y="3420"/>
                <a:ext cx="156" cy="148"/>
              </a:xfrm>
              <a:prstGeom prst="lightningBolt">
                <a:avLst/>
              </a:prstGeom>
              <a:solidFill>
                <a:srgbClr val="FFFF00"/>
              </a:solidFill>
              <a:ln w="9525">
                <a:solidFill>
                  <a:schemeClr val="tx1"/>
                </a:solidFill>
                <a:miter lim="800000"/>
                <a:headEnd/>
                <a:tailEnd/>
              </a:ln>
            </p:spPr>
            <p:txBody>
              <a:bodyPr wrap="none" anchor="ctr">
                <a:spAutoFit/>
              </a:bodyPr>
              <a:lstStyle/>
              <a:p>
                <a:endParaRPr lang="en-US"/>
              </a:p>
            </p:txBody>
          </p:sp>
          <p:sp>
            <p:nvSpPr>
              <p:cNvPr id="12436" name="AutoShape 107"/>
              <p:cNvSpPr>
                <a:spLocks noChangeArrowheads="1"/>
              </p:cNvSpPr>
              <p:nvPr/>
            </p:nvSpPr>
            <p:spPr bwMode="auto">
              <a:xfrm rot="2158125">
                <a:off x="4285" y="3390"/>
                <a:ext cx="156" cy="148"/>
              </a:xfrm>
              <a:prstGeom prst="lightningBolt">
                <a:avLst/>
              </a:prstGeom>
              <a:solidFill>
                <a:srgbClr val="FFFF00"/>
              </a:solidFill>
              <a:ln w="9525">
                <a:solidFill>
                  <a:schemeClr val="tx1"/>
                </a:solidFill>
                <a:miter lim="800000"/>
                <a:headEnd/>
                <a:tailEnd/>
              </a:ln>
            </p:spPr>
            <p:txBody>
              <a:bodyPr wrap="none" anchor="ctr">
                <a:spAutoFit/>
              </a:bodyPr>
              <a:lstStyle/>
              <a:p>
                <a:endParaRPr lang="en-US"/>
              </a:p>
            </p:txBody>
          </p:sp>
          <p:sp>
            <p:nvSpPr>
              <p:cNvPr id="12437" name="AutoShape 108"/>
              <p:cNvSpPr>
                <a:spLocks noChangeArrowheads="1"/>
              </p:cNvSpPr>
              <p:nvPr/>
            </p:nvSpPr>
            <p:spPr bwMode="auto">
              <a:xfrm rot="2158125">
                <a:off x="3904" y="3405"/>
                <a:ext cx="156" cy="148"/>
              </a:xfrm>
              <a:prstGeom prst="lightningBolt">
                <a:avLst/>
              </a:prstGeom>
              <a:solidFill>
                <a:srgbClr val="FFFF00"/>
              </a:solidFill>
              <a:ln w="9525">
                <a:solidFill>
                  <a:schemeClr val="tx1"/>
                </a:solidFill>
                <a:miter lim="800000"/>
                <a:headEnd/>
                <a:tailEnd/>
              </a:ln>
            </p:spPr>
            <p:txBody>
              <a:bodyPr wrap="none" anchor="ctr">
                <a:spAutoFit/>
              </a:bodyPr>
              <a:lstStyle/>
              <a:p>
                <a:endParaRPr lang="en-US"/>
              </a:p>
            </p:txBody>
          </p:sp>
          <p:sp>
            <p:nvSpPr>
              <p:cNvPr id="12438" name="AutoShape 109"/>
              <p:cNvSpPr>
                <a:spLocks noChangeArrowheads="1"/>
              </p:cNvSpPr>
              <p:nvPr/>
            </p:nvSpPr>
            <p:spPr bwMode="auto">
              <a:xfrm rot="2158125">
                <a:off x="4059" y="3412"/>
                <a:ext cx="156" cy="148"/>
              </a:xfrm>
              <a:prstGeom prst="lightningBolt">
                <a:avLst/>
              </a:prstGeom>
              <a:solidFill>
                <a:srgbClr val="FFFF00"/>
              </a:solidFill>
              <a:ln w="9525">
                <a:solidFill>
                  <a:schemeClr val="tx1"/>
                </a:solidFill>
                <a:miter lim="800000"/>
                <a:headEnd/>
                <a:tailEnd/>
              </a:ln>
            </p:spPr>
            <p:txBody>
              <a:bodyPr wrap="none" anchor="ctr">
                <a:spAutoFit/>
              </a:bodyPr>
              <a:lstStyle/>
              <a:p>
                <a:endParaRPr lang="en-US"/>
              </a:p>
            </p:txBody>
          </p:sp>
        </p:grpSp>
      </p:grpSp>
      <p:grpSp>
        <p:nvGrpSpPr>
          <p:cNvPr id="12295" name="Group 110"/>
          <p:cNvGrpSpPr>
            <a:grpSpLocks/>
          </p:cNvGrpSpPr>
          <p:nvPr/>
        </p:nvGrpSpPr>
        <p:grpSpPr bwMode="auto">
          <a:xfrm>
            <a:off x="0" y="3943350"/>
            <a:ext cx="6789218" cy="1303338"/>
            <a:chOff x="0" y="2484"/>
            <a:chExt cx="4638" cy="821"/>
          </a:xfrm>
        </p:grpSpPr>
        <p:sp>
          <p:nvSpPr>
            <p:cNvPr id="116847" name="AutoShape 111"/>
            <p:cNvSpPr>
              <a:spLocks noChangeArrowheads="1"/>
            </p:cNvSpPr>
            <p:nvPr/>
          </p:nvSpPr>
          <p:spPr bwMode="auto">
            <a:xfrm rot="-5400000">
              <a:off x="2608" y="1205"/>
              <a:ext cx="709" cy="3282"/>
            </a:xfrm>
            <a:prstGeom prst="can">
              <a:avLst>
                <a:gd name="adj" fmla="val 115726"/>
              </a:avLst>
            </a:prstGeom>
            <a:gradFill rotWithShape="0">
              <a:gsLst>
                <a:gs pos="0">
                  <a:schemeClr val="hlink"/>
                </a:gs>
                <a:gs pos="50000">
                  <a:schemeClr val="bg2"/>
                </a:gs>
                <a:gs pos="100000">
                  <a:schemeClr val="hlink"/>
                </a:gs>
              </a:gsLst>
              <a:lin ang="5400000" scaled="1"/>
            </a:gradFill>
            <a:ln w="9525">
              <a:noFill/>
              <a:round/>
              <a:headEnd/>
              <a:tailEnd/>
            </a:ln>
            <a:effectLst/>
          </p:spPr>
          <p:txBody>
            <a:bodyPr anchor="ctr">
              <a:spAutoFit/>
            </a:bodyPr>
            <a:lstStyle/>
            <a:p>
              <a:pPr>
                <a:defRPr/>
              </a:pPr>
              <a:endParaRPr lang="en-GB"/>
            </a:p>
          </p:txBody>
        </p:sp>
        <p:sp>
          <p:nvSpPr>
            <p:cNvPr id="12297" name="Oval 112"/>
            <p:cNvSpPr>
              <a:spLocks noChangeArrowheads="1"/>
            </p:cNvSpPr>
            <p:nvPr/>
          </p:nvSpPr>
          <p:spPr bwMode="auto">
            <a:xfrm>
              <a:off x="1312" y="2484"/>
              <a:ext cx="817" cy="694"/>
            </a:xfrm>
            <a:prstGeom prst="ellipse">
              <a:avLst/>
            </a:prstGeom>
            <a:gradFill rotWithShape="0">
              <a:gsLst>
                <a:gs pos="0">
                  <a:schemeClr val="accent2"/>
                </a:gs>
                <a:gs pos="100000">
                  <a:schemeClr val="tx2"/>
                </a:gs>
              </a:gsLst>
              <a:lin ang="0" scaled="1"/>
            </a:gradFill>
            <a:ln w="9525">
              <a:noFill/>
              <a:round/>
              <a:headEnd/>
              <a:tailEnd/>
            </a:ln>
          </p:spPr>
          <p:txBody>
            <a:bodyPr anchor="ctr">
              <a:spAutoFit/>
            </a:bodyPr>
            <a:lstStyle/>
            <a:p>
              <a:endParaRPr lang="en-US"/>
            </a:p>
          </p:txBody>
        </p:sp>
        <p:sp>
          <p:nvSpPr>
            <p:cNvPr id="12298" name="Line 113"/>
            <p:cNvSpPr>
              <a:spLocks noChangeShapeType="1"/>
            </p:cNvSpPr>
            <p:nvPr/>
          </p:nvSpPr>
          <p:spPr bwMode="auto">
            <a:xfrm>
              <a:off x="2130" y="3125"/>
              <a:ext cx="2508" cy="1"/>
            </a:xfrm>
            <a:prstGeom prst="line">
              <a:avLst/>
            </a:prstGeom>
            <a:noFill/>
            <a:ln w="9525">
              <a:solidFill>
                <a:schemeClr val="tx1"/>
              </a:solidFill>
              <a:round/>
              <a:headEnd/>
              <a:tailEnd/>
            </a:ln>
          </p:spPr>
          <p:txBody>
            <a:bodyPr wrap="none" anchor="ctr">
              <a:spAutoFit/>
            </a:bodyPr>
            <a:lstStyle/>
            <a:p>
              <a:endParaRPr lang="en-GB"/>
            </a:p>
          </p:txBody>
        </p:sp>
        <p:grpSp>
          <p:nvGrpSpPr>
            <p:cNvPr id="12299" name="Group 114"/>
            <p:cNvGrpSpPr>
              <a:grpSpLocks/>
            </p:cNvGrpSpPr>
            <p:nvPr/>
          </p:nvGrpSpPr>
          <p:grpSpPr bwMode="auto">
            <a:xfrm>
              <a:off x="2263" y="2992"/>
              <a:ext cx="47" cy="281"/>
              <a:chOff x="1886" y="3421"/>
              <a:chExt cx="47" cy="281"/>
            </a:xfrm>
          </p:grpSpPr>
          <p:sp>
            <p:nvSpPr>
              <p:cNvPr id="12398" name="Rectangle 115"/>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399" name="Line 116"/>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300" name="Group 117"/>
            <p:cNvGrpSpPr>
              <a:grpSpLocks/>
            </p:cNvGrpSpPr>
            <p:nvPr/>
          </p:nvGrpSpPr>
          <p:grpSpPr bwMode="auto">
            <a:xfrm>
              <a:off x="2348" y="2992"/>
              <a:ext cx="47" cy="281"/>
              <a:chOff x="1886" y="3421"/>
              <a:chExt cx="47" cy="281"/>
            </a:xfrm>
          </p:grpSpPr>
          <p:sp>
            <p:nvSpPr>
              <p:cNvPr id="12396" name="Rectangle 118"/>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397" name="Line 119"/>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301" name="Group 120"/>
            <p:cNvGrpSpPr>
              <a:grpSpLocks/>
            </p:cNvGrpSpPr>
            <p:nvPr/>
          </p:nvGrpSpPr>
          <p:grpSpPr bwMode="auto">
            <a:xfrm>
              <a:off x="2434" y="3000"/>
              <a:ext cx="47" cy="281"/>
              <a:chOff x="1886" y="3421"/>
              <a:chExt cx="47" cy="281"/>
            </a:xfrm>
          </p:grpSpPr>
          <p:sp>
            <p:nvSpPr>
              <p:cNvPr id="12394" name="Rectangle 121"/>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395" name="Line 122"/>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302" name="Group 123"/>
            <p:cNvGrpSpPr>
              <a:grpSpLocks/>
            </p:cNvGrpSpPr>
            <p:nvPr/>
          </p:nvGrpSpPr>
          <p:grpSpPr bwMode="auto">
            <a:xfrm>
              <a:off x="2520" y="2992"/>
              <a:ext cx="47" cy="281"/>
              <a:chOff x="1886" y="3421"/>
              <a:chExt cx="47" cy="281"/>
            </a:xfrm>
          </p:grpSpPr>
          <p:sp>
            <p:nvSpPr>
              <p:cNvPr id="12392" name="Rectangle 124"/>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393" name="Line 125"/>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303" name="Group 126"/>
            <p:cNvGrpSpPr>
              <a:grpSpLocks/>
            </p:cNvGrpSpPr>
            <p:nvPr/>
          </p:nvGrpSpPr>
          <p:grpSpPr bwMode="auto">
            <a:xfrm>
              <a:off x="2613" y="3000"/>
              <a:ext cx="47" cy="281"/>
              <a:chOff x="1886" y="3421"/>
              <a:chExt cx="47" cy="281"/>
            </a:xfrm>
          </p:grpSpPr>
          <p:sp>
            <p:nvSpPr>
              <p:cNvPr id="12390" name="Rectangle 127"/>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391" name="Line 128"/>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304" name="Group 129"/>
            <p:cNvGrpSpPr>
              <a:grpSpLocks/>
            </p:cNvGrpSpPr>
            <p:nvPr/>
          </p:nvGrpSpPr>
          <p:grpSpPr bwMode="auto">
            <a:xfrm>
              <a:off x="2698" y="3000"/>
              <a:ext cx="47" cy="281"/>
              <a:chOff x="1886" y="3421"/>
              <a:chExt cx="47" cy="281"/>
            </a:xfrm>
          </p:grpSpPr>
          <p:sp>
            <p:nvSpPr>
              <p:cNvPr id="12388" name="Rectangle 130"/>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389" name="Line 131"/>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305" name="Group 132"/>
            <p:cNvGrpSpPr>
              <a:grpSpLocks/>
            </p:cNvGrpSpPr>
            <p:nvPr/>
          </p:nvGrpSpPr>
          <p:grpSpPr bwMode="auto">
            <a:xfrm>
              <a:off x="2784" y="3008"/>
              <a:ext cx="47" cy="281"/>
              <a:chOff x="1886" y="3421"/>
              <a:chExt cx="47" cy="281"/>
            </a:xfrm>
          </p:grpSpPr>
          <p:sp>
            <p:nvSpPr>
              <p:cNvPr id="12386" name="Rectangle 133"/>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387" name="Line 134"/>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306" name="Group 135"/>
            <p:cNvGrpSpPr>
              <a:grpSpLocks/>
            </p:cNvGrpSpPr>
            <p:nvPr/>
          </p:nvGrpSpPr>
          <p:grpSpPr bwMode="auto">
            <a:xfrm>
              <a:off x="2870" y="3000"/>
              <a:ext cx="47" cy="281"/>
              <a:chOff x="1886" y="3421"/>
              <a:chExt cx="47" cy="281"/>
            </a:xfrm>
          </p:grpSpPr>
          <p:sp>
            <p:nvSpPr>
              <p:cNvPr id="12384" name="Rectangle 136"/>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385" name="Line 137"/>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307" name="Group 138"/>
            <p:cNvGrpSpPr>
              <a:grpSpLocks/>
            </p:cNvGrpSpPr>
            <p:nvPr/>
          </p:nvGrpSpPr>
          <p:grpSpPr bwMode="auto">
            <a:xfrm>
              <a:off x="2957" y="3000"/>
              <a:ext cx="47" cy="281"/>
              <a:chOff x="1886" y="3421"/>
              <a:chExt cx="47" cy="281"/>
            </a:xfrm>
          </p:grpSpPr>
          <p:sp>
            <p:nvSpPr>
              <p:cNvPr id="12382" name="Rectangle 139"/>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383" name="Line 140"/>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308" name="Group 141"/>
            <p:cNvGrpSpPr>
              <a:grpSpLocks/>
            </p:cNvGrpSpPr>
            <p:nvPr/>
          </p:nvGrpSpPr>
          <p:grpSpPr bwMode="auto">
            <a:xfrm>
              <a:off x="3042" y="3000"/>
              <a:ext cx="47" cy="281"/>
              <a:chOff x="1886" y="3421"/>
              <a:chExt cx="47" cy="281"/>
            </a:xfrm>
          </p:grpSpPr>
          <p:sp>
            <p:nvSpPr>
              <p:cNvPr id="12380" name="Rectangle 142"/>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381" name="Line 143"/>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309" name="Group 144"/>
            <p:cNvGrpSpPr>
              <a:grpSpLocks/>
            </p:cNvGrpSpPr>
            <p:nvPr/>
          </p:nvGrpSpPr>
          <p:grpSpPr bwMode="auto">
            <a:xfrm>
              <a:off x="3128" y="3008"/>
              <a:ext cx="47" cy="281"/>
              <a:chOff x="1886" y="3421"/>
              <a:chExt cx="47" cy="281"/>
            </a:xfrm>
          </p:grpSpPr>
          <p:sp>
            <p:nvSpPr>
              <p:cNvPr id="12378" name="Rectangle 145"/>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379" name="Line 146"/>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310" name="Group 147"/>
            <p:cNvGrpSpPr>
              <a:grpSpLocks/>
            </p:cNvGrpSpPr>
            <p:nvPr/>
          </p:nvGrpSpPr>
          <p:grpSpPr bwMode="auto">
            <a:xfrm>
              <a:off x="3214" y="3000"/>
              <a:ext cx="47" cy="281"/>
              <a:chOff x="1886" y="3421"/>
              <a:chExt cx="47" cy="281"/>
            </a:xfrm>
          </p:grpSpPr>
          <p:sp>
            <p:nvSpPr>
              <p:cNvPr id="12376" name="Rectangle 148"/>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377" name="Line 149"/>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311" name="Group 150"/>
            <p:cNvGrpSpPr>
              <a:grpSpLocks/>
            </p:cNvGrpSpPr>
            <p:nvPr/>
          </p:nvGrpSpPr>
          <p:grpSpPr bwMode="auto">
            <a:xfrm>
              <a:off x="3307" y="3008"/>
              <a:ext cx="47" cy="281"/>
              <a:chOff x="1886" y="3421"/>
              <a:chExt cx="47" cy="281"/>
            </a:xfrm>
          </p:grpSpPr>
          <p:sp>
            <p:nvSpPr>
              <p:cNvPr id="12374" name="Rectangle 151"/>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375" name="Line 152"/>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312" name="Group 153"/>
            <p:cNvGrpSpPr>
              <a:grpSpLocks/>
            </p:cNvGrpSpPr>
            <p:nvPr/>
          </p:nvGrpSpPr>
          <p:grpSpPr bwMode="auto">
            <a:xfrm>
              <a:off x="3392" y="3008"/>
              <a:ext cx="47" cy="281"/>
              <a:chOff x="1886" y="3421"/>
              <a:chExt cx="47" cy="281"/>
            </a:xfrm>
          </p:grpSpPr>
          <p:sp>
            <p:nvSpPr>
              <p:cNvPr id="12372" name="Rectangle 154"/>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373" name="Line 155"/>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313" name="Group 156"/>
            <p:cNvGrpSpPr>
              <a:grpSpLocks/>
            </p:cNvGrpSpPr>
            <p:nvPr/>
          </p:nvGrpSpPr>
          <p:grpSpPr bwMode="auto">
            <a:xfrm>
              <a:off x="3478" y="3016"/>
              <a:ext cx="47" cy="281"/>
              <a:chOff x="1886" y="3421"/>
              <a:chExt cx="47" cy="281"/>
            </a:xfrm>
          </p:grpSpPr>
          <p:sp>
            <p:nvSpPr>
              <p:cNvPr id="12370" name="Rectangle 157"/>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371" name="Line 158"/>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314" name="Group 159"/>
            <p:cNvGrpSpPr>
              <a:grpSpLocks/>
            </p:cNvGrpSpPr>
            <p:nvPr/>
          </p:nvGrpSpPr>
          <p:grpSpPr bwMode="auto">
            <a:xfrm>
              <a:off x="3564" y="3008"/>
              <a:ext cx="47" cy="281"/>
              <a:chOff x="1886" y="3421"/>
              <a:chExt cx="47" cy="281"/>
            </a:xfrm>
          </p:grpSpPr>
          <p:sp>
            <p:nvSpPr>
              <p:cNvPr id="12368" name="Rectangle 160"/>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369" name="Line 161"/>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315" name="Group 162"/>
            <p:cNvGrpSpPr>
              <a:grpSpLocks/>
            </p:cNvGrpSpPr>
            <p:nvPr/>
          </p:nvGrpSpPr>
          <p:grpSpPr bwMode="auto">
            <a:xfrm>
              <a:off x="3642" y="3008"/>
              <a:ext cx="47" cy="281"/>
              <a:chOff x="1886" y="3421"/>
              <a:chExt cx="47" cy="281"/>
            </a:xfrm>
          </p:grpSpPr>
          <p:sp>
            <p:nvSpPr>
              <p:cNvPr id="12366" name="Rectangle 163"/>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367" name="Line 164"/>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316" name="Group 165"/>
            <p:cNvGrpSpPr>
              <a:grpSpLocks/>
            </p:cNvGrpSpPr>
            <p:nvPr/>
          </p:nvGrpSpPr>
          <p:grpSpPr bwMode="auto">
            <a:xfrm>
              <a:off x="3727" y="3008"/>
              <a:ext cx="47" cy="281"/>
              <a:chOff x="1886" y="3421"/>
              <a:chExt cx="47" cy="281"/>
            </a:xfrm>
          </p:grpSpPr>
          <p:sp>
            <p:nvSpPr>
              <p:cNvPr id="12364" name="Rectangle 166"/>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365" name="Line 167"/>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317" name="Group 168"/>
            <p:cNvGrpSpPr>
              <a:grpSpLocks/>
            </p:cNvGrpSpPr>
            <p:nvPr/>
          </p:nvGrpSpPr>
          <p:grpSpPr bwMode="auto">
            <a:xfrm>
              <a:off x="3813" y="3016"/>
              <a:ext cx="47" cy="281"/>
              <a:chOff x="1886" y="3421"/>
              <a:chExt cx="47" cy="281"/>
            </a:xfrm>
          </p:grpSpPr>
          <p:sp>
            <p:nvSpPr>
              <p:cNvPr id="12362" name="Rectangle 169"/>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363" name="Line 170"/>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318" name="Group 171"/>
            <p:cNvGrpSpPr>
              <a:grpSpLocks/>
            </p:cNvGrpSpPr>
            <p:nvPr/>
          </p:nvGrpSpPr>
          <p:grpSpPr bwMode="auto">
            <a:xfrm>
              <a:off x="3899" y="3008"/>
              <a:ext cx="47" cy="281"/>
              <a:chOff x="1886" y="3421"/>
              <a:chExt cx="47" cy="281"/>
            </a:xfrm>
          </p:grpSpPr>
          <p:sp>
            <p:nvSpPr>
              <p:cNvPr id="12360" name="Rectangle 172"/>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361" name="Line 173"/>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319" name="Group 174"/>
            <p:cNvGrpSpPr>
              <a:grpSpLocks/>
            </p:cNvGrpSpPr>
            <p:nvPr/>
          </p:nvGrpSpPr>
          <p:grpSpPr bwMode="auto">
            <a:xfrm>
              <a:off x="3992" y="3016"/>
              <a:ext cx="47" cy="281"/>
              <a:chOff x="1886" y="3421"/>
              <a:chExt cx="47" cy="281"/>
            </a:xfrm>
          </p:grpSpPr>
          <p:sp>
            <p:nvSpPr>
              <p:cNvPr id="12358" name="Rectangle 175"/>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359" name="Line 176"/>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320" name="Group 177"/>
            <p:cNvGrpSpPr>
              <a:grpSpLocks/>
            </p:cNvGrpSpPr>
            <p:nvPr/>
          </p:nvGrpSpPr>
          <p:grpSpPr bwMode="auto">
            <a:xfrm>
              <a:off x="4077" y="3016"/>
              <a:ext cx="47" cy="281"/>
              <a:chOff x="1886" y="3421"/>
              <a:chExt cx="47" cy="281"/>
            </a:xfrm>
          </p:grpSpPr>
          <p:sp>
            <p:nvSpPr>
              <p:cNvPr id="12356" name="Rectangle 178"/>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357" name="Line 179"/>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321" name="Group 180"/>
            <p:cNvGrpSpPr>
              <a:grpSpLocks/>
            </p:cNvGrpSpPr>
            <p:nvPr/>
          </p:nvGrpSpPr>
          <p:grpSpPr bwMode="auto">
            <a:xfrm>
              <a:off x="4163" y="3024"/>
              <a:ext cx="47" cy="281"/>
              <a:chOff x="1886" y="3421"/>
              <a:chExt cx="47" cy="281"/>
            </a:xfrm>
          </p:grpSpPr>
          <p:sp>
            <p:nvSpPr>
              <p:cNvPr id="12354" name="Rectangle 181"/>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355" name="Line 182"/>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322" name="Group 183"/>
            <p:cNvGrpSpPr>
              <a:grpSpLocks/>
            </p:cNvGrpSpPr>
            <p:nvPr/>
          </p:nvGrpSpPr>
          <p:grpSpPr bwMode="auto">
            <a:xfrm>
              <a:off x="4249" y="3016"/>
              <a:ext cx="47" cy="281"/>
              <a:chOff x="1886" y="3421"/>
              <a:chExt cx="47" cy="281"/>
            </a:xfrm>
          </p:grpSpPr>
          <p:sp>
            <p:nvSpPr>
              <p:cNvPr id="12352" name="Rectangle 184"/>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353" name="Line 185"/>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323" name="Group 186"/>
            <p:cNvGrpSpPr>
              <a:grpSpLocks/>
            </p:cNvGrpSpPr>
            <p:nvPr/>
          </p:nvGrpSpPr>
          <p:grpSpPr bwMode="auto">
            <a:xfrm>
              <a:off x="4327" y="2993"/>
              <a:ext cx="47" cy="281"/>
              <a:chOff x="1886" y="3421"/>
              <a:chExt cx="47" cy="281"/>
            </a:xfrm>
          </p:grpSpPr>
          <p:sp>
            <p:nvSpPr>
              <p:cNvPr id="12350" name="Rectangle 187"/>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351" name="Line 188"/>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324" name="Group 189"/>
            <p:cNvGrpSpPr>
              <a:grpSpLocks/>
            </p:cNvGrpSpPr>
            <p:nvPr/>
          </p:nvGrpSpPr>
          <p:grpSpPr bwMode="auto">
            <a:xfrm>
              <a:off x="4413" y="3001"/>
              <a:ext cx="47" cy="281"/>
              <a:chOff x="1886" y="3421"/>
              <a:chExt cx="47" cy="281"/>
            </a:xfrm>
          </p:grpSpPr>
          <p:sp>
            <p:nvSpPr>
              <p:cNvPr id="12348" name="Rectangle 190"/>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349" name="Line 191"/>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sp>
          <p:nvSpPr>
            <p:cNvPr id="12325" name="AutoShape 192"/>
            <p:cNvSpPr>
              <a:spLocks noChangeArrowheads="1"/>
            </p:cNvSpPr>
            <p:nvPr/>
          </p:nvSpPr>
          <p:spPr bwMode="auto">
            <a:xfrm>
              <a:off x="0" y="2563"/>
              <a:ext cx="1178" cy="585"/>
            </a:xfrm>
            <a:prstGeom prst="rightArrow">
              <a:avLst>
                <a:gd name="adj1" fmla="val 61028"/>
                <a:gd name="adj2" fmla="val 85087"/>
              </a:avLst>
            </a:prstGeom>
            <a:solidFill>
              <a:srgbClr val="FFCC66"/>
            </a:solidFill>
            <a:ln w="9525">
              <a:solidFill>
                <a:srgbClr val="800000"/>
              </a:solidFill>
              <a:miter lim="800000"/>
              <a:headEnd/>
              <a:tailEnd/>
            </a:ln>
          </p:spPr>
          <p:txBody>
            <a:bodyPr anchor="ctr">
              <a:spAutoFit/>
            </a:bodyPr>
            <a:lstStyle/>
            <a:p>
              <a:endParaRPr lang="en-US"/>
            </a:p>
          </p:txBody>
        </p:sp>
        <p:grpSp>
          <p:nvGrpSpPr>
            <p:cNvPr id="12326" name="Group 193"/>
            <p:cNvGrpSpPr>
              <a:grpSpLocks/>
            </p:cNvGrpSpPr>
            <p:nvPr/>
          </p:nvGrpSpPr>
          <p:grpSpPr bwMode="auto">
            <a:xfrm>
              <a:off x="3575" y="2709"/>
              <a:ext cx="1039" cy="307"/>
              <a:chOff x="3629" y="3145"/>
              <a:chExt cx="624" cy="229"/>
            </a:xfrm>
          </p:grpSpPr>
          <p:sp>
            <p:nvSpPr>
              <p:cNvPr id="12346" name="Freeform 194"/>
              <p:cNvSpPr>
                <a:spLocks/>
              </p:cNvSpPr>
              <p:nvPr/>
            </p:nvSpPr>
            <p:spPr bwMode="auto">
              <a:xfrm>
                <a:off x="3629" y="3145"/>
                <a:ext cx="312" cy="229"/>
              </a:xfrm>
              <a:custGeom>
                <a:avLst/>
                <a:gdLst>
                  <a:gd name="T0" fmla="*/ 0 w 3942"/>
                  <a:gd name="T1" fmla="*/ 0 h 650"/>
                  <a:gd name="T2" fmla="*/ 0 w 3942"/>
                  <a:gd name="T3" fmla="*/ 0 h 650"/>
                  <a:gd name="T4" fmla="*/ 0 w 3942"/>
                  <a:gd name="T5" fmla="*/ 0 h 650"/>
                  <a:gd name="T6" fmla="*/ 0 w 3942"/>
                  <a:gd name="T7" fmla="*/ 0 h 650"/>
                  <a:gd name="T8" fmla="*/ 0 w 3942"/>
                  <a:gd name="T9" fmla="*/ 0 h 650"/>
                  <a:gd name="T10" fmla="*/ 0 w 3942"/>
                  <a:gd name="T11" fmla="*/ 0 h 650"/>
                  <a:gd name="T12" fmla="*/ 0 w 3942"/>
                  <a:gd name="T13" fmla="*/ 0 h 650"/>
                  <a:gd name="T14" fmla="*/ 0 w 3942"/>
                  <a:gd name="T15" fmla="*/ 0 h 650"/>
                  <a:gd name="T16" fmla="*/ 0 w 3942"/>
                  <a:gd name="T17" fmla="*/ 0 h 650"/>
                  <a:gd name="T18" fmla="*/ 0 w 3942"/>
                  <a:gd name="T19" fmla="*/ 0 h 650"/>
                  <a:gd name="T20" fmla="*/ 0 w 3942"/>
                  <a:gd name="T21" fmla="*/ 0 h 6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42"/>
                  <a:gd name="T34" fmla="*/ 0 h 650"/>
                  <a:gd name="T35" fmla="*/ 3942 w 3942"/>
                  <a:gd name="T36" fmla="*/ 650 h 6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42" h="650">
                    <a:moveTo>
                      <a:pt x="0" y="325"/>
                    </a:moveTo>
                    <a:cubicBezTo>
                      <a:pt x="161" y="162"/>
                      <a:pt x="322" y="0"/>
                      <a:pt x="482" y="0"/>
                    </a:cubicBezTo>
                    <a:cubicBezTo>
                      <a:pt x="643" y="0"/>
                      <a:pt x="805" y="216"/>
                      <a:pt x="966" y="325"/>
                    </a:cubicBezTo>
                    <a:cubicBezTo>
                      <a:pt x="1126" y="434"/>
                      <a:pt x="1288" y="650"/>
                      <a:pt x="1448" y="650"/>
                    </a:cubicBezTo>
                    <a:cubicBezTo>
                      <a:pt x="1609" y="650"/>
                      <a:pt x="1770" y="434"/>
                      <a:pt x="1931" y="325"/>
                    </a:cubicBezTo>
                    <a:cubicBezTo>
                      <a:pt x="2091" y="216"/>
                      <a:pt x="2254" y="0"/>
                      <a:pt x="2414" y="0"/>
                    </a:cubicBezTo>
                    <a:cubicBezTo>
                      <a:pt x="2575" y="0"/>
                      <a:pt x="2736" y="216"/>
                      <a:pt x="2897" y="325"/>
                    </a:cubicBezTo>
                    <a:cubicBezTo>
                      <a:pt x="3057" y="434"/>
                      <a:pt x="3219" y="650"/>
                      <a:pt x="3379" y="650"/>
                    </a:cubicBezTo>
                    <a:cubicBezTo>
                      <a:pt x="3540" y="650"/>
                      <a:pt x="3784" y="381"/>
                      <a:pt x="3863" y="325"/>
                    </a:cubicBezTo>
                    <a:cubicBezTo>
                      <a:pt x="3942" y="269"/>
                      <a:pt x="3853" y="315"/>
                      <a:pt x="3851" y="316"/>
                    </a:cubicBezTo>
                    <a:cubicBezTo>
                      <a:pt x="3849" y="317"/>
                      <a:pt x="3851" y="328"/>
                      <a:pt x="3851" y="331"/>
                    </a:cubicBezTo>
                  </a:path>
                </a:pathLst>
              </a:custGeom>
              <a:noFill/>
              <a:ln w="28575" cmpd="sng">
                <a:solidFill>
                  <a:srgbClr val="000066"/>
                </a:solidFill>
                <a:round/>
                <a:headEnd/>
                <a:tailEnd/>
              </a:ln>
            </p:spPr>
            <p:txBody>
              <a:bodyPr/>
              <a:lstStyle/>
              <a:p>
                <a:endParaRPr lang="en-GB"/>
              </a:p>
            </p:txBody>
          </p:sp>
          <p:sp>
            <p:nvSpPr>
              <p:cNvPr id="12347" name="Freeform 195"/>
              <p:cNvSpPr>
                <a:spLocks/>
              </p:cNvSpPr>
              <p:nvPr/>
            </p:nvSpPr>
            <p:spPr bwMode="auto">
              <a:xfrm>
                <a:off x="3941" y="3145"/>
                <a:ext cx="312" cy="229"/>
              </a:xfrm>
              <a:custGeom>
                <a:avLst/>
                <a:gdLst>
                  <a:gd name="T0" fmla="*/ 0 w 3942"/>
                  <a:gd name="T1" fmla="*/ 0 h 650"/>
                  <a:gd name="T2" fmla="*/ 0 w 3942"/>
                  <a:gd name="T3" fmla="*/ 0 h 650"/>
                  <a:gd name="T4" fmla="*/ 0 w 3942"/>
                  <a:gd name="T5" fmla="*/ 0 h 650"/>
                  <a:gd name="T6" fmla="*/ 0 w 3942"/>
                  <a:gd name="T7" fmla="*/ 0 h 650"/>
                  <a:gd name="T8" fmla="*/ 0 w 3942"/>
                  <a:gd name="T9" fmla="*/ 0 h 650"/>
                  <a:gd name="T10" fmla="*/ 0 w 3942"/>
                  <a:gd name="T11" fmla="*/ 0 h 650"/>
                  <a:gd name="T12" fmla="*/ 0 w 3942"/>
                  <a:gd name="T13" fmla="*/ 0 h 650"/>
                  <a:gd name="T14" fmla="*/ 0 w 3942"/>
                  <a:gd name="T15" fmla="*/ 0 h 650"/>
                  <a:gd name="T16" fmla="*/ 0 w 3942"/>
                  <a:gd name="T17" fmla="*/ 0 h 650"/>
                  <a:gd name="T18" fmla="*/ 0 w 3942"/>
                  <a:gd name="T19" fmla="*/ 0 h 650"/>
                  <a:gd name="T20" fmla="*/ 0 w 3942"/>
                  <a:gd name="T21" fmla="*/ 0 h 6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42"/>
                  <a:gd name="T34" fmla="*/ 0 h 650"/>
                  <a:gd name="T35" fmla="*/ 3942 w 3942"/>
                  <a:gd name="T36" fmla="*/ 650 h 6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42" h="650">
                    <a:moveTo>
                      <a:pt x="0" y="325"/>
                    </a:moveTo>
                    <a:cubicBezTo>
                      <a:pt x="161" y="162"/>
                      <a:pt x="322" y="0"/>
                      <a:pt x="482" y="0"/>
                    </a:cubicBezTo>
                    <a:cubicBezTo>
                      <a:pt x="643" y="0"/>
                      <a:pt x="805" y="216"/>
                      <a:pt x="966" y="325"/>
                    </a:cubicBezTo>
                    <a:cubicBezTo>
                      <a:pt x="1126" y="434"/>
                      <a:pt x="1288" y="650"/>
                      <a:pt x="1448" y="650"/>
                    </a:cubicBezTo>
                    <a:cubicBezTo>
                      <a:pt x="1609" y="650"/>
                      <a:pt x="1770" y="434"/>
                      <a:pt x="1931" y="325"/>
                    </a:cubicBezTo>
                    <a:cubicBezTo>
                      <a:pt x="2091" y="216"/>
                      <a:pt x="2254" y="0"/>
                      <a:pt x="2414" y="0"/>
                    </a:cubicBezTo>
                    <a:cubicBezTo>
                      <a:pt x="2575" y="0"/>
                      <a:pt x="2736" y="216"/>
                      <a:pt x="2897" y="325"/>
                    </a:cubicBezTo>
                    <a:cubicBezTo>
                      <a:pt x="3057" y="434"/>
                      <a:pt x="3219" y="650"/>
                      <a:pt x="3379" y="650"/>
                    </a:cubicBezTo>
                    <a:cubicBezTo>
                      <a:pt x="3540" y="650"/>
                      <a:pt x="3784" y="381"/>
                      <a:pt x="3863" y="325"/>
                    </a:cubicBezTo>
                    <a:cubicBezTo>
                      <a:pt x="3942" y="269"/>
                      <a:pt x="3853" y="315"/>
                      <a:pt x="3851" y="316"/>
                    </a:cubicBezTo>
                    <a:cubicBezTo>
                      <a:pt x="3849" y="317"/>
                      <a:pt x="3851" y="328"/>
                      <a:pt x="3851" y="331"/>
                    </a:cubicBezTo>
                  </a:path>
                </a:pathLst>
              </a:custGeom>
              <a:noFill/>
              <a:ln w="28575" cmpd="sng">
                <a:solidFill>
                  <a:srgbClr val="000066"/>
                </a:solidFill>
                <a:round/>
                <a:headEnd/>
                <a:tailEnd/>
              </a:ln>
            </p:spPr>
            <p:txBody>
              <a:bodyPr/>
              <a:lstStyle/>
              <a:p>
                <a:endParaRPr lang="en-GB"/>
              </a:p>
            </p:txBody>
          </p:sp>
        </p:grpSp>
        <p:sp>
          <p:nvSpPr>
            <p:cNvPr id="12327" name="Freeform 196"/>
            <p:cNvSpPr>
              <a:spLocks/>
            </p:cNvSpPr>
            <p:nvPr/>
          </p:nvSpPr>
          <p:spPr bwMode="auto">
            <a:xfrm>
              <a:off x="162" y="2685"/>
              <a:ext cx="491" cy="229"/>
            </a:xfrm>
            <a:custGeom>
              <a:avLst/>
              <a:gdLst>
                <a:gd name="T0" fmla="*/ 0 w 3942"/>
                <a:gd name="T1" fmla="*/ 0 h 650"/>
                <a:gd name="T2" fmla="*/ 0 w 3942"/>
                <a:gd name="T3" fmla="*/ 0 h 650"/>
                <a:gd name="T4" fmla="*/ 0 w 3942"/>
                <a:gd name="T5" fmla="*/ 0 h 650"/>
                <a:gd name="T6" fmla="*/ 0 w 3942"/>
                <a:gd name="T7" fmla="*/ 0 h 650"/>
                <a:gd name="T8" fmla="*/ 0 w 3942"/>
                <a:gd name="T9" fmla="*/ 0 h 650"/>
                <a:gd name="T10" fmla="*/ 0 w 3942"/>
                <a:gd name="T11" fmla="*/ 0 h 650"/>
                <a:gd name="T12" fmla="*/ 0 w 3942"/>
                <a:gd name="T13" fmla="*/ 0 h 650"/>
                <a:gd name="T14" fmla="*/ 0 w 3942"/>
                <a:gd name="T15" fmla="*/ 0 h 650"/>
                <a:gd name="T16" fmla="*/ 0 w 3942"/>
                <a:gd name="T17" fmla="*/ 0 h 650"/>
                <a:gd name="T18" fmla="*/ 0 w 3942"/>
                <a:gd name="T19" fmla="*/ 0 h 650"/>
                <a:gd name="T20" fmla="*/ 0 w 3942"/>
                <a:gd name="T21" fmla="*/ 0 h 6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42"/>
                <a:gd name="T34" fmla="*/ 0 h 650"/>
                <a:gd name="T35" fmla="*/ 3942 w 3942"/>
                <a:gd name="T36" fmla="*/ 650 h 6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42" h="650">
                  <a:moveTo>
                    <a:pt x="0" y="325"/>
                  </a:moveTo>
                  <a:cubicBezTo>
                    <a:pt x="161" y="162"/>
                    <a:pt x="322" y="0"/>
                    <a:pt x="482" y="0"/>
                  </a:cubicBezTo>
                  <a:cubicBezTo>
                    <a:pt x="643" y="0"/>
                    <a:pt x="805" y="216"/>
                    <a:pt x="966" y="325"/>
                  </a:cubicBezTo>
                  <a:cubicBezTo>
                    <a:pt x="1126" y="434"/>
                    <a:pt x="1288" y="650"/>
                    <a:pt x="1448" y="650"/>
                  </a:cubicBezTo>
                  <a:cubicBezTo>
                    <a:pt x="1609" y="650"/>
                    <a:pt x="1770" y="434"/>
                    <a:pt x="1931" y="325"/>
                  </a:cubicBezTo>
                  <a:cubicBezTo>
                    <a:pt x="2091" y="216"/>
                    <a:pt x="2254" y="0"/>
                    <a:pt x="2414" y="0"/>
                  </a:cubicBezTo>
                  <a:cubicBezTo>
                    <a:pt x="2575" y="0"/>
                    <a:pt x="2736" y="216"/>
                    <a:pt x="2897" y="325"/>
                  </a:cubicBezTo>
                  <a:cubicBezTo>
                    <a:pt x="3057" y="434"/>
                    <a:pt x="3219" y="650"/>
                    <a:pt x="3379" y="650"/>
                  </a:cubicBezTo>
                  <a:cubicBezTo>
                    <a:pt x="3540" y="650"/>
                    <a:pt x="3784" y="381"/>
                    <a:pt x="3863" y="325"/>
                  </a:cubicBezTo>
                  <a:cubicBezTo>
                    <a:pt x="3942" y="269"/>
                    <a:pt x="3853" y="315"/>
                    <a:pt x="3851" y="316"/>
                  </a:cubicBezTo>
                  <a:cubicBezTo>
                    <a:pt x="3849" y="317"/>
                    <a:pt x="3851" y="328"/>
                    <a:pt x="3851" y="331"/>
                  </a:cubicBezTo>
                </a:path>
              </a:pathLst>
            </a:custGeom>
            <a:noFill/>
            <a:ln w="28575" cmpd="sng">
              <a:solidFill>
                <a:srgbClr val="000066"/>
              </a:solidFill>
              <a:round/>
              <a:headEnd/>
              <a:tailEnd/>
            </a:ln>
          </p:spPr>
          <p:txBody>
            <a:bodyPr/>
            <a:lstStyle/>
            <a:p>
              <a:endParaRPr lang="en-GB"/>
            </a:p>
          </p:txBody>
        </p:sp>
        <p:grpSp>
          <p:nvGrpSpPr>
            <p:cNvPr id="12328" name="Group 197"/>
            <p:cNvGrpSpPr>
              <a:grpSpLocks/>
            </p:cNvGrpSpPr>
            <p:nvPr/>
          </p:nvGrpSpPr>
          <p:grpSpPr bwMode="auto">
            <a:xfrm>
              <a:off x="377" y="2748"/>
              <a:ext cx="388" cy="229"/>
              <a:chOff x="1533" y="2808"/>
              <a:chExt cx="609" cy="229"/>
            </a:xfrm>
          </p:grpSpPr>
          <p:sp>
            <p:nvSpPr>
              <p:cNvPr id="12343" name="Freeform 198"/>
              <p:cNvSpPr>
                <a:spLocks/>
              </p:cNvSpPr>
              <p:nvPr/>
            </p:nvSpPr>
            <p:spPr bwMode="auto">
              <a:xfrm>
                <a:off x="1533" y="2808"/>
                <a:ext cx="203" cy="229"/>
              </a:xfrm>
              <a:custGeom>
                <a:avLst/>
                <a:gdLst>
                  <a:gd name="T0" fmla="*/ 0 w 3942"/>
                  <a:gd name="T1" fmla="*/ 0 h 650"/>
                  <a:gd name="T2" fmla="*/ 0 w 3942"/>
                  <a:gd name="T3" fmla="*/ 0 h 650"/>
                  <a:gd name="T4" fmla="*/ 0 w 3942"/>
                  <a:gd name="T5" fmla="*/ 0 h 650"/>
                  <a:gd name="T6" fmla="*/ 0 w 3942"/>
                  <a:gd name="T7" fmla="*/ 0 h 650"/>
                  <a:gd name="T8" fmla="*/ 0 w 3942"/>
                  <a:gd name="T9" fmla="*/ 0 h 650"/>
                  <a:gd name="T10" fmla="*/ 0 w 3942"/>
                  <a:gd name="T11" fmla="*/ 0 h 650"/>
                  <a:gd name="T12" fmla="*/ 0 w 3942"/>
                  <a:gd name="T13" fmla="*/ 0 h 650"/>
                  <a:gd name="T14" fmla="*/ 0 w 3942"/>
                  <a:gd name="T15" fmla="*/ 0 h 650"/>
                  <a:gd name="T16" fmla="*/ 0 w 3942"/>
                  <a:gd name="T17" fmla="*/ 0 h 650"/>
                  <a:gd name="T18" fmla="*/ 0 w 3942"/>
                  <a:gd name="T19" fmla="*/ 0 h 650"/>
                  <a:gd name="T20" fmla="*/ 0 w 3942"/>
                  <a:gd name="T21" fmla="*/ 0 h 6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42"/>
                  <a:gd name="T34" fmla="*/ 0 h 650"/>
                  <a:gd name="T35" fmla="*/ 3942 w 3942"/>
                  <a:gd name="T36" fmla="*/ 650 h 6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42" h="650">
                    <a:moveTo>
                      <a:pt x="0" y="325"/>
                    </a:moveTo>
                    <a:cubicBezTo>
                      <a:pt x="161" y="162"/>
                      <a:pt x="322" y="0"/>
                      <a:pt x="482" y="0"/>
                    </a:cubicBezTo>
                    <a:cubicBezTo>
                      <a:pt x="643" y="0"/>
                      <a:pt x="805" y="216"/>
                      <a:pt x="966" y="325"/>
                    </a:cubicBezTo>
                    <a:cubicBezTo>
                      <a:pt x="1126" y="434"/>
                      <a:pt x="1288" y="650"/>
                      <a:pt x="1448" y="650"/>
                    </a:cubicBezTo>
                    <a:cubicBezTo>
                      <a:pt x="1609" y="650"/>
                      <a:pt x="1770" y="434"/>
                      <a:pt x="1931" y="325"/>
                    </a:cubicBezTo>
                    <a:cubicBezTo>
                      <a:pt x="2091" y="216"/>
                      <a:pt x="2254" y="0"/>
                      <a:pt x="2414" y="0"/>
                    </a:cubicBezTo>
                    <a:cubicBezTo>
                      <a:pt x="2575" y="0"/>
                      <a:pt x="2736" y="216"/>
                      <a:pt x="2897" y="325"/>
                    </a:cubicBezTo>
                    <a:cubicBezTo>
                      <a:pt x="3057" y="434"/>
                      <a:pt x="3219" y="650"/>
                      <a:pt x="3379" y="650"/>
                    </a:cubicBezTo>
                    <a:cubicBezTo>
                      <a:pt x="3540" y="650"/>
                      <a:pt x="3784" y="381"/>
                      <a:pt x="3863" y="325"/>
                    </a:cubicBezTo>
                    <a:cubicBezTo>
                      <a:pt x="3942" y="269"/>
                      <a:pt x="3853" y="315"/>
                      <a:pt x="3851" y="316"/>
                    </a:cubicBezTo>
                    <a:cubicBezTo>
                      <a:pt x="3849" y="317"/>
                      <a:pt x="3851" y="328"/>
                      <a:pt x="3851" y="331"/>
                    </a:cubicBezTo>
                  </a:path>
                </a:pathLst>
              </a:custGeom>
              <a:noFill/>
              <a:ln w="28575" cmpd="sng">
                <a:solidFill>
                  <a:srgbClr val="990000"/>
                </a:solidFill>
                <a:round/>
                <a:headEnd/>
                <a:tailEnd/>
              </a:ln>
            </p:spPr>
            <p:txBody>
              <a:bodyPr/>
              <a:lstStyle/>
              <a:p>
                <a:endParaRPr lang="en-GB"/>
              </a:p>
            </p:txBody>
          </p:sp>
          <p:sp>
            <p:nvSpPr>
              <p:cNvPr id="12344" name="Freeform 199"/>
              <p:cNvSpPr>
                <a:spLocks/>
              </p:cNvSpPr>
              <p:nvPr/>
            </p:nvSpPr>
            <p:spPr bwMode="auto">
              <a:xfrm>
                <a:off x="1736" y="2808"/>
                <a:ext cx="203" cy="229"/>
              </a:xfrm>
              <a:custGeom>
                <a:avLst/>
                <a:gdLst>
                  <a:gd name="T0" fmla="*/ 0 w 3942"/>
                  <a:gd name="T1" fmla="*/ 0 h 650"/>
                  <a:gd name="T2" fmla="*/ 0 w 3942"/>
                  <a:gd name="T3" fmla="*/ 0 h 650"/>
                  <a:gd name="T4" fmla="*/ 0 w 3942"/>
                  <a:gd name="T5" fmla="*/ 0 h 650"/>
                  <a:gd name="T6" fmla="*/ 0 w 3942"/>
                  <a:gd name="T7" fmla="*/ 0 h 650"/>
                  <a:gd name="T8" fmla="*/ 0 w 3942"/>
                  <a:gd name="T9" fmla="*/ 0 h 650"/>
                  <a:gd name="T10" fmla="*/ 0 w 3942"/>
                  <a:gd name="T11" fmla="*/ 0 h 650"/>
                  <a:gd name="T12" fmla="*/ 0 w 3942"/>
                  <a:gd name="T13" fmla="*/ 0 h 650"/>
                  <a:gd name="T14" fmla="*/ 0 w 3942"/>
                  <a:gd name="T15" fmla="*/ 0 h 650"/>
                  <a:gd name="T16" fmla="*/ 0 w 3942"/>
                  <a:gd name="T17" fmla="*/ 0 h 650"/>
                  <a:gd name="T18" fmla="*/ 0 w 3942"/>
                  <a:gd name="T19" fmla="*/ 0 h 650"/>
                  <a:gd name="T20" fmla="*/ 0 w 3942"/>
                  <a:gd name="T21" fmla="*/ 0 h 6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42"/>
                  <a:gd name="T34" fmla="*/ 0 h 650"/>
                  <a:gd name="T35" fmla="*/ 3942 w 3942"/>
                  <a:gd name="T36" fmla="*/ 650 h 6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42" h="650">
                    <a:moveTo>
                      <a:pt x="0" y="325"/>
                    </a:moveTo>
                    <a:cubicBezTo>
                      <a:pt x="161" y="162"/>
                      <a:pt x="322" y="0"/>
                      <a:pt x="482" y="0"/>
                    </a:cubicBezTo>
                    <a:cubicBezTo>
                      <a:pt x="643" y="0"/>
                      <a:pt x="805" y="216"/>
                      <a:pt x="966" y="325"/>
                    </a:cubicBezTo>
                    <a:cubicBezTo>
                      <a:pt x="1126" y="434"/>
                      <a:pt x="1288" y="650"/>
                      <a:pt x="1448" y="650"/>
                    </a:cubicBezTo>
                    <a:cubicBezTo>
                      <a:pt x="1609" y="650"/>
                      <a:pt x="1770" y="434"/>
                      <a:pt x="1931" y="325"/>
                    </a:cubicBezTo>
                    <a:cubicBezTo>
                      <a:pt x="2091" y="216"/>
                      <a:pt x="2254" y="0"/>
                      <a:pt x="2414" y="0"/>
                    </a:cubicBezTo>
                    <a:cubicBezTo>
                      <a:pt x="2575" y="0"/>
                      <a:pt x="2736" y="216"/>
                      <a:pt x="2897" y="325"/>
                    </a:cubicBezTo>
                    <a:cubicBezTo>
                      <a:pt x="3057" y="434"/>
                      <a:pt x="3219" y="650"/>
                      <a:pt x="3379" y="650"/>
                    </a:cubicBezTo>
                    <a:cubicBezTo>
                      <a:pt x="3540" y="650"/>
                      <a:pt x="3784" y="381"/>
                      <a:pt x="3863" y="325"/>
                    </a:cubicBezTo>
                    <a:cubicBezTo>
                      <a:pt x="3942" y="269"/>
                      <a:pt x="3853" y="315"/>
                      <a:pt x="3851" y="316"/>
                    </a:cubicBezTo>
                    <a:cubicBezTo>
                      <a:pt x="3849" y="317"/>
                      <a:pt x="3851" y="328"/>
                      <a:pt x="3851" y="331"/>
                    </a:cubicBezTo>
                  </a:path>
                </a:pathLst>
              </a:custGeom>
              <a:noFill/>
              <a:ln w="28575" cmpd="sng">
                <a:solidFill>
                  <a:srgbClr val="990000"/>
                </a:solidFill>
                <a:round/>
                <a:headEnd/>
                <a:tailEnd/>
              </a:ln>
            </p:spPr>
            <p:txBody>
              <a:bodyPr/>
              <a:lstStyle/>
              <a:p>
                <a:endParaRPr lang="en-GB"/>
              </a:p>
            </p:txBody>
          </p:sp>
          <p:sp>
            <p:nvSpPr>
              <p:cNvPr id="12345" name="Freeform 200"/>
              <p:cNvSpPr>
                <a:spLocks/>
              </p:cNvSpPr>
              <p:nvPr/>
            </p:nvSpPr>
            <p:spPr bwMode="auto">
              <a:xfrm>
                <a:off x="1939" y="2808"/>
                <a:ext cx="203" cy="229"/>
              </a:xfrm>
              <a:custGeom>
                <a:avLst/>
                <a:gdLst>
                  <a:gd name="T0" fmla="*/ 0 w 3942"/>
                  <a:gd name="T1" fmla="*/ 0 h 650"/>
                  <a:gd name="T2" fmla="*/ 0 w 3942"/>
                  <a:gd name="T3" fmla="*/ 0 h 650"/>
                  <a:gd name="T4" fmla="*/ 0 w 3942"/>
                  <a:gd name="T5" fmla="*/ 0 h 650"/>
                  <a:gd name="T6" fmla="*/ 0 w 3942"/>
                  <a:gd name="T7" fmla="*/ 0 h 650"/>
                  <a:gd name="T8" fmla="*/ 0 w 3942"/>
                  <a:gd name="T9" fmla="*/ 0 h 650"/>
                  <a:gd name="T10" fmla="*/ 0 w 3942"/>
                  <a:gd name="T11" fmla="*/ 0 h 650"/>
                  <a:gd name="T12" fmla="*/ 0 w 3942"/>
                  <a:gd name="T13" fmla="*/ 0 h 650"/>
                  <a:gd name="T14" fmla="*/ 0 w 3942"/>
                  <a:gd name="T15" fmla="*/ 0 h 650"/>
                  <a:gd name="T16" fmla="*/ 0 w 3942"/>
                  <a:gd name="T17" fmla="*/ 0 h 650"/>
                  <a:gd name="T18" fmla="*/ 0 w 3942"/>
                  <a:gd name="T19" fmla="*/ 0 h 650"/>
                  <a:gd name="T20" fmla="*/ 0 w 3942"/>
                  <a:gd name="T21" fmla="*/ 0 h 6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42"/>
                  <a:gd name="T34" fmla="*/ 0 h 650"/>
                  <a:gd name="T35" fmla="*/ 3942 w 3942"/>
                  <a:gd name="T36" fmla="*/ 650 h 6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42" h="650">
                    <a:moveTo>
                      <a:pt x="0" y="325"/>
                    </a:moveTo>
                    <a:cubicBezTo>
                      <a:pt x="161" y="162"/>
                      <a:pt x="322" y="0"/>
                      <a:pt x="482" y="0"/>
                    </a:cubicBezTo>
                    <a:cubicBezTo>
                      <a:pt x="643" y="0"/>
                      <a:pt x="805" y="216"/>
                      <a:pt x="966" y="325"/>
                    </a:cubicBezTo>
                    <a:cubicBezTo>
                      <a:pt x="1126" y="434"/>
                      <a:pt x="1288" y="650"/>
                      <a:pt x="1448" y="650"/>
                    </a:cubicBezTo>
                    <a:cubicBezTo>
                      <a:pt x="1609" y="650"/>
                      <a:pt x="1770" y="434"/>
                      <a:pt x="1931" y="325"/>
                    </a:cubicBezTo>
                    <a:cubicBezTo>
                      <a:pt x="2091" y="216"/>
                      <a:pt x="2254" y="0"/>
                      <a:pt x="2414" y="0"/>
                    </a:cubicBezTo>
                    <a:cubicBezTo>
                      <a:pt x="2575" y="0"/>
                      <a:pt x="2736" y="216"/>
                      <a:pt x="2897" y="325"/>
                    </a:cubicBezTo>
                    <a:cubicBezTo>
                      <a:pt x="3057" y="434"/>
                      <a:pt x="3219" y="650"/>
                      <a:pt x="3379" y="650"/>
                    </a:cubicBezTo>
                    <a:cubicBezTo>
                      <a:pt x="3540" y="650"/>
                      <a:pt x="3784" y="381"/>
                      <a:pt x="3863" y="325"/>
                    </a:cubicBezTo>
                    <a:cubicBezTo>
                      <a:pt x="3942" y="269"/>
                      <a:pt x="3853" y="315"/>
                      <a:pt x="3851" y="316"/>
                    </a:cubicBezTo>
                    <a:cubicBezTo>
                      <a:pt x="3849" y="317"/>
                      <a:pt x="3851" y="328"/>
                      <a:pt x="3851" y="331"/>
                    </a:cubicBezTo>
                  </a:path>
                </a:pathLst>
              </a:custGeom>
              <a:noFill/>
              <a:ln w="28575" cmpd="sng">
                <a:solidFill>
                  <a:srgbClr val="990000"/>
                </a:solidFill>
                <a:round/>
                <a:headEnd/>
                <a:tailEnd/>
              </a:ln>
            </p:spPr>
            <p:txBody>
              <a:bodyPr/>
              <a:lstStyle/>
              <a:p>
                <a:endParaRPr lang="en-GB"/>
              </a:p>
            </p:txBody>
          </p:sp>
        </p:grpSp>
        <p:grpSp>
          <p:nvGrpSpPr>
            <p:cNvPr id="12329" name="Group 201"/>
            <p:cNvGrpSpPr>
              <a:grpSpLocks/>
            </p:cNvGrpSpPr>
            <p:nvPr/>
          </p:nvGrpSpPr>
          <p:grpSpPr bwMode="auto">
            <a:xfrm>
              <a:off x="2317" y="2694"/>
              <a:ext cx="416" cy="322"/>
              <a:chOff x="1533" y="2808"/>
              <a:chExt cx="609" cy="229"/>
            </a:xfrm>
          </p:grpSpPr>
          <p:sp>
            <p:nvSpPr>
              <p:cNvPr id="12340" name="Freeform 202"/>
              <p:cNvSpPr>
                <a:spLocks/>
              </p:cNvSpPr>
              <p:nvPr/>
            </p:nvSpPr>
            <p:spPr bwMode="auto">
              <a:xfrm>
                <a:off x="1533" y="2808"/>
                <a:ext cx="203" cy="229"/>
              </a:xfrm>
              <a:custGeom>
                <a:avLst/>
                <a:gdLst>
                  <a:gd name="T0" fmla="*/ 0 w 3942"/>
                  <a:gd name="T1" fmla="*/ 0 h 650"/>
                  <a:gd name="T2" fmla="*/ 0 w 3942"/>
                  <a:gd name="T3" fmla="*/ 0 h 650"/>
                  <a:gd name="T4" fmla="*/ 0 w 3942"/>
                  <a:gd name="T5" fmla="*/ 0 h 650"/>
                  <a:gd name="T6" fmla="*/ 0 w 3942"/>
                  <a:gd name="T7" fmla="*/ 0 h 650"/>
                  <a:gd name="T8" fmla="*/ 0 w 3942"/>
                  <a:gd name="T9" fmla="*/ 0 h 650"/>
                  <a:gd name="T10" fmla="*/ 0 w 3942"/>
                  <a:gd name="T11" fmla="*/ 0 h 650"/>
                  <a:gd name="T12" fmla="*/ 0 w 3942"/>
                  <a:gd name="T13" fmla="*/ 0 h 650"/>
                  <a:gd name="T14" fmla="*/ 0 w 3942"/>
                  <a:gd name="T15" fmla="*/ 0 h 650"/>
                  <a:gd name="T16" fmla="*/ 0 w 3942"/>
                  <a:gd name="T17" fmla="*/ 0 h 650"/>
                  <a:gd name="T18" fmla="*/ 0 w 3942"/>
                  <a:gd name="T19" fmla="*/ 0 h 650"/>
                  <a:gd name="T20" fmla="*/ 0 w 3942"/>
                  <a:gd name="T21" fmla="*/ 0 h 6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42"/>
                  <a:gd name="T34" fmla="*/ 0 h 650"/>
                  <a:gd name="T35" fmla="*/ 3942 w 3942"/>
                  <a:gd name="T36" fmla="*/ 650 h 6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42" h="650">
                    <a:moveTo>
                      <a:pt x="0" y="325"/>
                    </a:moveTo>
                    <a:cubicBezTo>
                      <a:pt x="161" y="162"/>
                      <a:pt x="322" y="0"/>
                      <a:pt x="482" y="0"/>
                    </a:cubicBezTo>
                    <a:cubicBezTo>
                      <a:pt x="643" y="0"/>
                      <a:pt x="805" y="216"/>
                      <a:pt x="966" y="325"/>
                    </a:cubicBezTo>
                    <a:cubicBezTo>
                      <a:pt x="1126" y="434"/>
                      <a:pt x="1288" y="650"/>
                      <a:pt x="1448" y="650"/>
                    </a:cubicBezTo>
                    <a:cubicBezTo>
                      <a:pt x="1609" y="650"/>
                      <a:pt x="1770" y="434"/>
                      <a:pt x="1931" y="325"/>
                    </a:cubicBezTo>
                    <a:cubicBezTo>
                      <a:pt x="2091" y="216"/>
                      <a:pt x="2254" y="0"/>
                      <a:pt x="2414" y="0"/>
                    </a:cubicBezTo>
                    <a:cubicBezTo>
                      <a:pt x="2575" y="0"/>
                      <a:pt x="2736" y="216"/>
                      <a:pt x="2897" y="325"/>
                    </a:cubicBezTo>
                    <a:cubicBezTo>
                      <a:pt x="3057" y="434"/>
                      <a:pt x="3219" y="650"/>
                      <a:pt x="3379" y="650"/>
                    </a:cubicBezTo>
                    <a:cubicBezTo>
                      <a:pt x="3540" y="650"/>
                      <a:pt x="3784" y="381"/>
                      <a:pt x="3863" y="325"/>
                    </a:cubicBezTo>
                    <a:cubicBezTo>
                      <a:pt x="3942" y="269"/>
                      <a:pt x="3853" y="315"/>
                      <a:pt x="3851" y="316"/>
                    </a:cubicBezTo>
                    <a:cubicBezTo>
                      <a:pt x="3849" y="317"/>
                      <a:pt x="3851" y="328"/>
                      <a:pt x="3851" y="331"/>
                    </a:cubicBezTo>
                  </a:path>
                </a:pathLst>
              </a:custGeom>
              <a:noFill/>
              <a:ln w="28575" cmpd="sng">
                <a:solidFill>
                  <a:srgbClr val="990000"/>
                </a:solidFill>
                <a:round/>
                <a:headEnd/>
                <a:tailEnd/>
              </a:ln>
            </p:spPr>
            <p:txBody>
              <a:bodyPr/>
              <a:lstStyle/>
              <a:p>
                <a:endParaRPr lang="en-GB"/>
              </a:p>
            </p:txBody>
          </p:sp>
          <p:sp>
            <p:nvSpPr>
              <p:cNvPr id="12341" name="Freeform 203"/>
              <p:cNvSpPr>
                <a:spLocks/>
              </p:cNvSpPr>
              <p:nvPr/>
            </p:nvSpPr>
            <p:spPr bwMode="auto">
              <a:xfrm>
                <a:off x="1736" y="2808"/>
                <a:ext cx="203" cy="229"/>
              </a:xfrm>
              <a:custGeom>
                <a:avLst/>
                <a:gdLst>
                  <a:gd name="T0" fmla="*/ 0 w 3942"/>
                  <a:gd name="T1" fmla="*/ 0 h 650"/>
                  <a:gd name="T2" fmla="*/ 0 w 3942"/>
                  <a:gd name="T3" fmla="*/ 0 h 650"/>
                  <a:gd name="T4" fmla="*/ 0 w 3942"/>
                  <a:gd name="T5" fmla="*/ 0 h 650"/>
                  <a:gd name="T6" fmla="*/ 0 w 3942"/>
                  <a:gd name="T7" fmla="*/ 0 h 650"/>
                  <a:gd name="T8" fmla="*/ 0 w 3942"/>
                  <a:gd name="T9" fmla="*/ 0 h 650"/>
                  <a:gd name="T10" fmla="*/ 0 w 3942"/>
                  <a:gd name="T11" fmla="*/ 0 h 650"/>
                  <a:gd name="T12" fmla="*/ 0 w 3942"/>
                  <a:gd name="T13" fmla="*/ 0 h 650"/>
                  <a:gd name="T14" fmla="*/ 0 w 3942"/>
                  <a:gd name="T15" fmla="*/ 0 h 650"/>
                  <a:gd name="T16" fmla="*/ 0 w 3942"/>
                  <a:gd name="T17" fmla="*/ 0 h 650"/>
                  <a:gd name="T18" fmla="*/ 0 w 3942"/>
                  <a:gd name="T19" fmla="*/ 0 h 650"/>
                  <a:gd name="T20" fmla="*/ 0 w 3942"/>
                  <a:gd name="T21" fmla="*/ 0 h 6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42"/>
                  <a:gd name="T34" fmla="*/ 0 h 650"/>
                  <a:gd name="T35" fmla="*/ 3942 w 3942"/>
                  <a:gd name="T36" fmla="*/ 650 h 6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42" h="650">
                    <a:moveTo>
                      <a:pt x="0" y="325"/>
                    </a:moveTo>
                    <a:cubicBezTo>
                      <a:pt x="161" y="162"/>
                      <a:pt x="322" y="0"/>
                      <a:pt x="482" y="0"/>
                    </a:cubicBezTo>
                    <a:cubicBezTo>
                      <a:pt x="643" y="0"/>
                      <a:pt x="805" y="216"/>
                      <a:pt x="966" y="325"/>
                    </a:cubicBezTo>
                    <a:cubicBezTo>
                      <a:pt x="1126" y="434"/>
                      <a:pt x="1288" y="650"/>
                      <a:pt x="1448" y="650"/>
                    </a:cubicBezTo>
                    <a:cubicBezTo>
                      <a:pt x="1609" y="650"/>
                      <a:pt x="1770" y="434"/>
                      <a:pt x="1931" y="325"/>
                    </a:cubicBezTo>
                    <a:cubicBezTo>
                      <a:pt x="2091" y="216"/>
                      <a:pt x="2254" y="0"/>
                      <a:pt x="2414" y="0"/>
                    </a:cubicBezTo>
                    <a:cubicBezTo>
                      <a:pt x="2575" y="0"/>
                      <a:pt x="2736" y="216"/>
                      <a:pt x="2897" y="325"/>
                    </a:cubicBezTo>
                    <a:cubicBezTo>
                      <a:pt x="3057" y="434"/>
                      <a:pt x="3219" y="650"/>
                      <a:pt x="3379" y="650"/>
                    </a:cubicBezTo>
                    <a:cubicBezTo>
                      <a:pt x="3540" y="650"/>
                      <a:pt x="3784" y="381"/>
                      <a:pt x="3863" y="325"/>
                    </a:cubicBezTo>
                    <a:cubicBezTo>
                      <a:pt x="3942" y="269"/>
                      <a:pt x="3853" y="315"/>
                      <a:pt x="3851" y="316"/>
                    </a:cubicBezTo>
                    <a:cubicBezTo>
                      <a:pt x="3849" y="317"/>
                      <a:pt x="3851" y="328"/>
                      <a:pt x="3851" y="331"/>
                    </a:cubicBezTo>
                  </a:path>
                </a:pathLst>
              </a:custGeom>
              <a:noFill/>
              <a:ln w="28575" cmpd="sng">
                <a:solidFill>
                  <a:srgbClr val="990000"/>
                </a:solidFill>
                <a:round/>
                <a:headEnd/>
                <a:tailEnd/>
              </a:ln>
            </p:spPr>
            <p:txBody>
              <a:bodyPr/>
              <a:lstStyle/>
              <a:p>
                <a:endParaRPr lang="en-GB"/>
              </a:p>
            </p:txBody>
          </p:sp>
          <p:sp>
            <p:nvSpPr>
              <p:cNvPr id="12342" name="Freeform 204"/>
              <p:cNvSpPr>
                <a:spLocks/>
              </p:cNvSpPr>
              <p:nvPr/>
            </p:nvSpPr>
            <p:spPr bwMode="auto">
              <a:xfrm>
                <a:off x="1939" y="2808"/>
                <a:ext cx="203" cy="229"/>
              </a:xfrm>
              <a:custGeom>
                <a:avLst/>
                <a:gdLst>
                  <a:gd name="T0" fmla="*/ 0 w 3942"/>
                  <a:gd name="T1" fmla="*/ 0 h 650"/>
                  <a:gd name="T2" fmla="*/ 0 w 3942"/>
                  <a:gd name="T3" fmla="*/ 0 h 650"/>
                  <a:gd name="T4" fmla="*/ 0 w 3942"/>
                  <a:gd name="T5" fmla="*/ 0 h 650"/>
                  <a:gd name="T6" fmla="*/ 0 w 3942"/>
                  <a:gd name="T7" fmla="*/ 0 h 650"/>
                  <a:gd name="T8" fmla="*/ 0 w 3942"/>
                  <a:gd name="T9" fmla="*/ 0 h 650"/>
                  <a:gd name="T10" fmla="*/ 0 w 3942"/>
                  <a:gd name="T11" fmla="*/ 0 h 650"/>
                  <a:gd name="T12" fmla="*/ 0 w 3942"/>
                  <a:gd name="T13" fmla="*/ 0 h 650"/>
                  <a:gd name="T14" fmla="*/ 0 w 3942"/>
                  <a:gd name="T15" fmla="*/ 0 h 650"/>
                  <a:gd name="T16" fmla="*/ 0 w 3942"/>
                  <a:gd name="T17" fmla="*/ 0 h 650"/>
                  <a:gd name="T18" fmla="*/ 0 w 3942"/>
                  <a:gd name="T19" fmla="*/ 0 h 650"/>
                  <a:gd name="T20" fmla="*/ 0 w 3942"/>
                  <a:gd name="T21" fmla="*/ 0 h 6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42"/>
                  <a:gd name="T34" fmla="*/ 0 h 650"/>
                  <a:gd name="T35" fmla="*/ 3942 w 3942"/>
                  <a:gd name="T36" fmla="*/ 650 h 6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42" h="650">
                    <a:moveTo>
                      <a:pt x="0" y="325"/>
                    </a:moveTo>
                    <a:cubicBezTo>
                      <a:pt x="161" y="162"/>
                      <a:pt x="322" y="0"/>
                      <a:pt x="482" y="0"/>
                    </a:cubicBezTo>
                    <a:cubicBezTo>
                      <a:pt x="643" y="0"/>
                      <a:pt x="805" y="216"/>
                      <a:pt x="966" y="325"/>
                    </a:cubicBezTo>
                    <a:cubicBezTo>
                      <a:pt x="1126" y="434"/>
                      <a:pt x="1288" y="650"/>
                      <a:pt x="1448" y="650"/>
                    </a:cubicBezTo>
                    <a:cubicBezTo>
                      <a:pt x="1609" y="650"/>
                      <a:pt x="1770" y="434"/>
                      <a:pt x="1931" y="325"/>
                    </a:cubicBezTo>
                    <a:cubicBezTo>
                      <a:pt x="2091" y="216"/>
                      <a:pt x="2254" y="0"/>
                      <a:pt x="2414" y="0"/>
                    </a:cubicBezTo>
                    <a:cubicBezTo>
                      <a:pt x="2575" y="0"/>
                      <a:pt x="2736" y="216"/>
                      <a:pt x="2897" y="325"/>
                    </a:cubicBezTo>
                    <a:cubicBezTo>
                      <a:pt x="3057" y="434"/>
                      <a:pt x="3219" y="650"/>
                      <a:pt x="3379" y="650"/>
                    </a:cubicBezTo>
                    <a:cubicBezTo>
                      <a:pt x="3540" y="650"/>
                      <a:pt x="3784" y="381"/>
                      <a:pt x="3863" y="325"/>
                    </a:cubicBezTo>
                    <a:cubicBezTo>
                      <a:pt x="3942" y="269"/>
                      <a:pt x="3853" y="315"/>
                      <a:pt x="3851" y="316"/>
                    </a:cubicBezTo>
                    <a:cubicBezTo>
                      <a:pt x="3849" y="317"/>
                      <a:pt x="3851" y="328"/>
                      <a:pt x="3851" y="331"/>
                    </a:cubicBezTo>
                  </a:path>
                </a:pathLst>
              </a:custGeom>
              <a:noFill/>
              <a:ln w="28575" cmpd="sng">
                <a:solidFill>
                  <a:srgbClr val="990000"/>
                </a:solidFill>
                <a:round/>
                <a:headEnd/>
                <a:tailEnd/>
              </a:ln>
            </p:spPr>
            <p:txBody>
              <a:bodyPr/>
              <a:lstStyle/>
              <a:p>
                <a:endParaRPr lang="en-GB"/>
              </a:p>
            </p:txBody>
          </p:sp>
        </p:grpSp>
        <p:grpSp>
          <p:nvGrpSpPr>
            <p:cNvPr id="12330" name="Group 205"/>
            <p:cNvGrpSpPr>
              <a:grpSpLocks/>
            </p:cNvGrpSpPr>
            <p:nvPr/>
          </p:nvGrpSpPr>
          <p:grpSpPr bwMode="auto">
            <a:xfrm>
              <a:off x="2244" y="2946"/>
              <a:ext cx="537" cy="178"/>
              <a:chOff x="3904" y="3390"/>
              <a:chExt cx="537" cy="178"/>
            </a:xfrm>
          </p:grpSpPr>
          <p:sp>
            <p:nvSpPr>
              <p:cNvPr id="12336" name="AutoShape 206"/>
              <p:cNvSpPr>
                <a:spLocks noChangeArrowheads="1"/>
              </p:cNvSpPr>
              <p:nvPr/>
            </p:nvSpPr>
            <p:spPr bwMode="auto">
              <a:xfrm rot="2158125">
                <a:off x="4176" y="3420"/>
                <a:ext cx="156" cy="148"/>
              </a:xfrm>
              <a:prstGeom prst="lightningBolt">
                <a:avLst/>
              </a:prstGeom>
              <a:solidFill>
                <a:srgbClr val="FFFF00"/>
              </a:solidFill>
              <a:ln w="9525">
                <a:solidFill>
                  <a:schemeClr val="tx1"/>
                </a:solidFill>
                <a:miter lim="800000"/>
                <a:headEnd/>
                <a:tailEnd/>
              </a:ln>
            </p:spPr>
            <p:txBody>
              <a:bodyPr wrap="none" anchor="ctr">
                <a:spAutoFit/>
              </a:bodyPr>
              <a:lstStyle/>
              <a:p>
                <a:endParaRPr lang="en-US"/>
              </a:p>
            </p:txBody>
          </p:sp>
          <p:sp>
            <p:nvSpPr>
              <p:cNvPr id="12337" name="AutoShape 207"/>
              <p:cNvSpPr>
                <a:spLocks noChangeArrowheads="1"/>
              </p:cNvSpPr>
              <p:nvPr/>
            </p:nvSpPr>
            <p:spPr bwMode="auto">
              <a:xfrm rot="2158125">
                <a:off x="4285" y="3390"/>
                <a:ext cx="156" cy="148"/>
              </a:xfrm>
              <a:prstGeom prst="lightningBolt">
                <a:avLst/>
              </a:prstGeom>
              <a:solidFill>
                <a:srgbClr val="FFFF00"/>
              </a:solidFill>
              <a:ln w="9525">
                <a:solidFill>
                  <a:schemeClr val="tx1"/>
                </a:solidFill>
                <a:miter lim="800000"/>
                <a:headEnd/>
                <a:tailEnd/>
              </a:ln>
            </p:spPr>
            <p:txBody>
              <a:bodyPr wrap="none" anchor="ctr">
                <a:spAutoFit/>
              </a:bodyPr>
              <a:lstStyle/>
              <a:p>
                <a:endParaRPr lang="en-US"/>
              </a:p>
            </p:txBody>
          </p:sp>
          <p:sp>
            <p:nvSpPr>
              <p:cNvPr id="12338" name="AutoShape 208"/>
              <p:cNvSpPr>
                <a:spLocks noChangeArrowheads="1"/>
              </p:cNvSpPr>
              <p:nvPr/>
            </p:nvSpPr>
            <p:spPr bwMode="auto">
              <a:xfrm rot="2158125">
                <a:off x="3904" y="3405"/>
                <a:ext cx="156" cy="148"/>
              </a:xfrm>
              <a:prstGeom prst="lightningBolt">
                <a:avLst/>
              </a:prstGeom>
              <a:solidFill>
                <a:srgbClr val="FFFF00"/>
              </a:solidFill>
              <a:ln w="9525">
                <a:solidFill>
                  <a:schemeClr val="tx1"/>
                </a:solidFill>
                <a:miter lim="800000"/>
                <a:headEnd/>
                <a:tailEnd/>
              </a:ln>
            </p:spPr>
            <p:txBody>
              <a:bodyPr wrap="none" anchor="ctr">
                <a:spAutoFit/>
              </a:bodyPr>
              <a:lstStyle/>
              <a:p>
                <a:endParaRPr lang="en-US"/>
              </a:p>
            </p:txBody>
          </p:sp>
          <p:sp>
            <p:nvSpPr>
              <p:cNvPr id="12339" name="AutoShape 209"/>
              <p:cNvSpPr>
                <a:spLocks noChangeArrowheads="1"/>
              </p:cNvSpPr>
              <p:nvPr/>
            </p:nvSpPr>
            <p:spPr bwMode="auto">
              <a:xfrm rot="2158125">
                <a:off x="4059" y="3412"/>
                <a:ext cx="156" cy="148"/>
              </a:xfrm>
              <a:prstGeom prst="lightningBolt">
                <a:avLst/>
              </a:prstGeom>
              <a:solidFill>
                <a:srgbClr val="FFFF00"/>
              </a:solidFill>
              <a:ln w="9525">
                <a:solidFill>
                  <a:schemeClr val="tx1"/>
                </a:solidFill>
                <a:miter lim="800000"/>
                <a:headEnd/>
                <a:tailEnd/>
              </a:ln>
            </p:spPr>
            <p:txBody>
              <a:bodyPr wrap="none" anchor="ctr">
                <a:spAutoFit/>
              </a:bodyPr>
              <a:lstStyle/>
              <a:p>
                <a:endParaRPr lang="en-US"/>
              </a:p>
            </p:txBody>
          </p:sp>
        </p:grpSp>
        <p:grpSp>
          <p:nvGrpSpPr>
            <p:cNvPr id="12331" name="Group 210"/>
            <p:cNvGrpSpPr>
              <a:grpSpLocks/>
            </p:cNvGrpSpPr>
            <p:nvPr/>
          </p:nvGrpSpPr>
          <p:grpSpPr bwMode="auto">
            <a:xfrm>
              <a:off x="3724" y="2947"/>
              <a:ext cx="615" cy="178"/>
              <a:chOff x="3904" y="3390"/>
              <a:chExt cx="537" cy="178"/>
            </a:xfrm>
          </p:grpSpPr>
          <p:sp>
            <p:nvSpPr>
              <p:cNvPr id="12332" name="AutoShape 211"/>
              <p:cNvSpPr>
                <a:spLocks noChangeArrowheads="1"/>
              </p:cNvSpPr>
              <p:nvPr/>
            </p:nvSpPr>
            <p:spPr bwMode="auto">
              <a:xfrm rot="2158125">
                <a:off x="4176" y="3420"/>
                <a:ext cx="156" cy="148"/>
              </a:xfrm>
              <a:prstGeom prst="lightningBolt">
                <a:avLst/>
              </a:prstGeom>
              <a:solidFill>
                <a:srgbClr val="FFFF00"/>
              </a:solidFill>
              <a:ln w="9525">
                <a:solidFill>
                  <a:schemeClr val="tx1"/>
                </a:solidFill>
                <a:miter lim="800000"/>
                <a:headEnd/>
                <a:tailEnd/>
              </a:ln>
            </p:spPr>
            <p:txBody>
              <a:bodyPr wrap="none" anchor="ctr">
                <a:spAutoFit/>
              </a:bodyPr>
              <a:lstStyle/>
              <a:p>
                <a:endParaRPr lang="en-US"/>
              </a:p>
            </p:txBody>
          </p:sp>
          <p:sp>
            <p:nvSpPr>
              <p:cNvPr id="12333" name="AutoShape 212"/>
              <p:cNvSpPr>
                <a:spLocks noChangeArrowheads="1"/>
              </p:cNvSpPr>
              <p:nvPr/>
            </p:nvSpPr>
            <p:spPr bwMode="auto">
              <a:xfrm rot="2158125">
                <a:off x="4285" y="3390"/>
                <a:ext cx="156" cy="148"/>
              </a:xfrm>
              <a:prstGeom prst="lightningBolt">
                <a:avLst/>
              </a:prstGeom>
              <a:solidFill>
                <a:srgbClr val="FFFF00"/>
              </a:solidFill>
              <a:ln w="9525">
                <a:solidFill>
                  <a:schemeClr val="tx1"/>
                </a:solidFill>
                <a:miter lim="800000"/>
                <a:headEnd/>
                <a:tailEnd/>
              </a:ln>
            </p:spPr>
            <p:txBody>
              <a:bodyPr wrap="none" anchor="ctr">
                <a:spAutoFit/>
              </a:bodyPr>
              <a:lstStyle/>
              <a:p>
                <a:endParaRPr lang="en-US"/>
              </a:p>
            </p:txBody>
          </p:sp>
          <p:sp>
            <p:nvSpPr>
              <p:cNvPr id="12334" name="AutoShape 213"/>
              <p:cNvSpPr>
                <a:spLocks noChangeArrowheads="1"/>
              </p:cNvSpPr>
              <p:nvPr/>
            </p:nvSpPr>
            <p:spPr bwMode="auto">
              <a:xfrm rot="2158125">
                <a:off x="3904" y="3405"/>
                <a:ext cx="156" cy="148"/>
              </a:xfrm>
              <a:prstGeom prst="lightningBolt">
                <a:avLst/>
              </a:prstGeom>
              <a:solidFill>
                <a:srgbClr val="FFFF00"/>
              </a:solidFill>
              <a:ln w="9525">
                <a:solidFill>
                  <a:schemeClr val="tx1"/>
                </a:solidFill>
                <a:miter lim="800000"/>
                <a:headEnd/>
                <a:tailEnd/>
              </a:ln>
            </p:spPr>
            <p:txBody>
              <a:bodyPr wrap="none" anchor="ctr">
                <a:spAutoFit/>
              </a:bodyPr>
              <a:lstStyle/>
              <a:p>
                <a:endParaRPr lang="en-US"/>
              </a:p>
            </p:txBody>
          </p:sp>
          <p:sp>
            <p:nvSpPr>
              <p:cNvPr id="12335" name="AutoShape 214"/>
              <p:cNvSpPr>
                <a:spLocks noChangeArrowheads="1"/>
              </p:cNvSpPr>
              <p:nvPr/>
            </p:nvSpPr>
            <p:spPr bwMode="auto">
              <a:xfrm rot="2158125">
                <a:off x="4059" y="3412"/>
                <a:ext cx="156" cy="148"/>
              </a:xfrm>
              <a:prstGeom prst="lightningBolt">
                <a:avLst/>
              </a:prstGeom>
              <a:solidFill>
                <a:srgbClr val="FFFF00"/>
              </a:solidFill>
              <a:ln w="9525">
                <a:solidFill>
                  <a:schemeClr val="tx1"/>
                </a:solidFill>
                <a:miter lim="800000"/>
                <a:headEnd/>
                <a:tailEnd/>
              </a:ln>
            </p:spPr>
            <p:txBody>
              <a:bodyPr wrap="none" anchor="ctr">
                <a:spAutoFit/>
              </a:bodyPr>
              <a:lstStyle/>
              <a:p>
                <a:endParaRPr lang="en-US"/>
              </a:p>
            </p:txBody>
          </p:sp>
        </p:grpSp>
      </p:grpSp>
      <p:sp>
        <p:nvSpPr>
          <p:cNvPr id="215" name="Rectangle 214"/>
          <p:cNvSpPr/>
          <p:nvPr/>
        </p:nvSpPr>
        <p:spPr bwMode="auto">
          <a:xfrm>
            <a:off x="6886322" y="1035781"/>
            <a:ext cx="2039194" cy="1642683"/>
          </a:xfrm>
          <a:prstGeom prst="rect">
            <a:avLst/>
          </a:prstGeom>
          <a:gradFill flip="none" rotWithShape="1">
            <a:gsLst>
              <a:gs pos="0">
                <a:srgbClr val="DDBA97">
                  <a:tint val="66000"/>
                  <a:satMod val="160000"/>
                </a:srgbClr>
              </a:gs>
              <a:gs pos="50000">
                <a:srgbClr val="DDBA97">
                  <a:tint val="44500"/>
                  <a:satMod val="160000"/>
                </a:srgbClr>
              </a:gs>
              <a:gs pos="100000">
                <a:srgbClr val="DDBA97">
                  <a:tint val="23500"/>
                  <a:satMod val="160000"/>
                </a:srgbClr>
              </a:gs>
            </a:gsLst>
            <a:lin ang="135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cxnSp>
        <p:nvCxnSpPr>
          <p:cNvPr id="217" name="Straight Connector 216"/>
          <p:cNvCxnSpPr/>
          <p:nvPr/>
        </p:nvCxnSpPr>
        <p:spPr bwMode="auto">
          <a:xfrm>
            <a:off x="7137175" y="1246173"/>
            <a:ext cx="0" cy="1310910"/>
          </a:xfrm>
          <a:prstGeom prst="line">
            <a:avLst/>
          </a:prstGeom>
          <a:solidFill>
            <a:schemeClr val="accent1"/>
          </a:solidFill>
          <a:ln w="28575" cap="flat" cmpd="sng" algn="ctr">
            <a:solidFill>
              <a:schemeClr val="tx1"/>
            </a:solidFill>
            <a:prstDash val="solid"/>
            <a:round/>
            <a:headEnd type="none" w="med" len="med"/>
            <a:tailEnd type="none" w="med" len="med"/>
          </a:ln>
          <a:effectLst/>
        </p:spPr>
      </p:cxnSp>
      <p:sp>
        <p:nvSpPr>
          <p:cNvPr id="226" name="Freeform 225"/>
          <p:cNvSpPr/>
          <p:nvPr/>
        </p:nvSpPr>
        <p:spPr bwMode="auto">
          <a:xfrm>
            <a:off x="8205325" y="1347324"/>
            <a:ext cx="364141" cy="1145023"/>
          </a:xfrm>
          <a:custGeom>
            <a:avLst/>
            <a:gdLst>
              <a:gd name="connsiteX0" fmla="*/ 0 w 283221"/>
              <a:gd name="connsiteY0" fmla="*/ 1120747 h 1145023"/>
              <a:gd name="connsiteX1" fmla="*/ 137565 w 283221"/>
              <a:gd name="connsiteY1" fmla="*/ 4046 h 1145023"/>
              <a:gd name="connsiteX2" fmla="*/ 283221 w 283221"/>
              <a:gd name="connsiteY2" fmla="*/ 1145023 h 1145023"/>
            </a:gdLst>
            <a:ahLst/>
            <a:cxnLst>
              <a:cxn ang="0">
                <a:pos x="connsiteX0" y="connsiteY0"/>
              </a:cxn>
              <a:cxn ang="0">
                <a:pos x="connsiteX1" y="connsiteY1"/>
              </a:cxn>
              <a:cxn ang="0">
                <a:pos x="connsiteX2" y="connsiteY2"/>
              </a:cxn>
            </a:cxnLst>
            <a:rect l="l" t="t" r="r" b="b"/>
            <a:pathLst>
              <a:path w="283221" h="1145023">
                <a:moveTo>
                  <a:pt x="0" y="1120747"/>
                </a:moveTo>
                <a:cubicBezTo>
                  <a:pt x="45181" y="560373"/>
                  <a:pt x="90362" y="0"/>
                  <a:pt x="137565" y="4046"/>
                </a:cubicBezTo>
                <a:cubicBezTo>
                  <a:pt x="184769" y="8092"/>
                  <a:pt x="233995" y="576557"/>
                  <a:pt x="283221" y="1145023"/>
                </a:cubicBezTo>
              </a:path>
            </a:pathLst>
          </a:custGeom>
          <a:solidFill>
            <a:srgbClr val="DDBA97"/>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27" name="Rectangle 226"/>
          <p:cNvSpPr/>
          <p:nvPr/>
        </p:nvSpPr>
        <p:spPr bwMode="auto">
          <a:xfrm>
            <a:off x="6934874" y="3689968"/>
            <a:ext cx="2039194" cy="1642683"/>
          </a:xfrm>
          <a:prstGeom prst="rect">
            <a:avLst/>
          </a:prstGeom>
          <a:gradFill flip="none" rotWithShape="1">
            <a:gsLst>
              <a:gs pos="0">
                <a:srgbClr val="DDBA97">
                  <a:tint val="66000"/>
                  <a:satMod val="160000"/>
                </a:srgbClr>
              </a:gs>
              <a:gs pos="50000">
                <a:srgbClr val="DDBA97">
                  <a:tint val="44500"/>
                  <a:satMod val="160000"/>
                </a:srgbClr>
              </a:gs>
              <a:gs pos="100000">
                <a:srgbClr val="DDBA97">
                  <a:tint val="23500"/>
                  <a:satMod val="160000"/>
                </a:srgbClr>
              </a:gs>
            </a:gsLst>
            <a:lin ang="135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cxnSp>
        <p:nvCxnSpPr>
          <p:cNvPr id="228" name="Straight Connector 227"/>
          <p:cNvCxnSpPr/>
          <p:nvPr/>
        </p:nvCxnSpPr>
        <p:spPr bwMode="auto">
          <a:xfrm>
            <a:off x="7185727" y="3900360"/>
            <a:ext cx="0" cy="1310910"/>
          </a:xfrm>
          <a:prstGeom prst="line">
            <a:avLst/>
          </a:prstGeom>
          <a:solidFill>
            <a:schemeClr val="accent1"/>
          </a:solidFill>
          <a:ln w="28575" cap="flat" cmpd="sng" algn="ctr">
            <a:solidFill>
              <a:schemeClr val="tx1"/>
            </a:solidFill>
            <a:prstDash val="solid"/>
            <a:round/>
            <a:headEnd type="none" w="med" len="med"/>
            <a:tailEnd type="none" w="med" len="med"/>
          </a:ln>
          <a:effectLst/>
        </p:spPr>
      </p:cxnSp>
      <p:sp>
        <p:nvSpPr>
          <p:cNvPr id="230" name="Freeform 229"/>
          <p:cNvSpPr/>
          <p:nvPr/>
        </p:nvSpPr>
        <p:spPr bwMode="auto">
          <a:xfrm>
            <a:off x="8253877" y="4001511"/>
            <a:ext cx="364141" cy="1145023"/>
          </a:xfrm>
          <a:custGeom>
            <a:avLst/>
            <a:gdLst>
              <a:gd name="connsiteX0" fmla="*/ 0 w 283221"/>
              <a:gd name="connsiteY0" fmla="*/ 1120747 h 1145023"/>
              <a:gd name="connsiteX1" fmla="*/ 137565 w 283221"/>
              <a:gd name="connsiteY1" fmla="*/ 4046 h 1145023"/>
              <a:gd name="connsiteX2" fmla="*/ 283221 w 283221"/>
              <a:gd name="connsiteY2" fmla="*/ 1145023 h 1145023"/>
            </a:gdLst>
            <a:ahLst/>
            <a:cxnLst>
              <a:cxn ang="0">
                <a:pos x="connsiteX0" y="connsiteY0"/>
              </a:cxn>
              <a:cxn ang="0">
                <a:pos x="connsiteX1" y="connsiteY1"/>
              </a:cxn>
              <a:cxn ang="0">
                <a:pos x="connsiteX2" y="connsiteY2"/>
              </a:cxn>
            </a:cxnLst>
            <a:rect l="l" t="t" r="r" b="b"/>
            <a:pathLst>
              <a:path w="283221" h="1145023">
                <a:moveTo>
                  <a:pt x="0" y="1120747"/>
                </a:moveTo>
                <a:cubicBezTo>
                  <a:pt x="45181" y="560373"/>
                  <a:pt x="90362" y="0"/>
                  <a:pt x="137565" y="4046"/>
                </a:cubicBezTo>
                <a:cubicBezTo>
                  <a:pt x="184769" y="8092"/>
                  <a:pt x="233995" y="576557"/>
                  <a:pt x="283221" y="1145023"/>
                </a:cubicBezTo>
              </a:path>
            </a:pathLst>
          </a:custGeom>
          <a:solidFill>
            <a:srgbClr val="DDBA97"/>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31" name="Freeform 230"/>
          <p:cNvSpPr/>
          <p:nvPr/>
        </p:nvSpPr>
        <p:spPr bwMode="auto">
          <a:xfrm>
            <a:off x="7388029" y="3993419"/>
            <a:ext cx="364141" cy="1145023"/>
          </a:xfrm>
          <a:custGeom>
            <a:avLst/>
            <a:gdLst>
              <a:gd name="connsiteX0" fmla="*/ 0 w 283221"/>
              <a:gd name="connsiteY0" fmla="*/ 1120747 h 1145023"/>
              <a:gd name="connsiteX1" fmla="*/ 137565 w 283221"/>
              <a:gd name="connsiteY1" fmla="*/ 4046 h 1145023"/>
              <a:gd name="connsiteX2" fmla="*/ 283221 w 283221"/>
              <a:gd name="connsiteY2" fmla="*/ 1145023 h 1145023"/>
            </a:gdLst>
            <a:ahLst/>
            <a:cxnLst>
              <a:cxn ang="0">
                <a:pos x="connsiteX0" y="connsiteY0"/>
              </a:cxn>
              <a:cxn ang="0">
                <a:pos x="connsiteX1" y="connsiteY1"/>
              </a:cxn>
              <a:cxn ang="0">
                <a:pos x="connsiteX2" y="connsiteY2"/>
              </a:cxn>
            </a:cxnLst>
            <a:rect l="l" t="t" r="r" b="b"/>
            <a:pathLst>
              <a:path w="283221" h="1145023">
                <a:moveTo>
                  <a:pt x="0" y="1120747"/>
                </a:moveTo>
                <a:cubicBezTo>
                  <a:pt x="45181" y="560373"/>
                  <a:pt x="90362" y="0"/>
                  <a:pt x="137565" y="4046"/>
                </a:cubicBezTo>
                <a:cubicBezTo>
                  <a:pt x="184769" y="8092"/>
                  <a:pt x="233995" y="576557"/>
                  <a:pt x="283221" y="1145023"/>
                </a:cubicBezTo>
              </a:path>
            </a:pathLst>
          </a:custGeom>
          <a:solidFill>
            <a:srgbClr val="DDBA97"/>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cxnSp>
        <p:nvCxnSpPr>
          <p:cNvPr id="233" name="Straight Connector 232"/>
          <p:cNvCxnSpPr/>
          <p:nvPr/>
        </p:nvCxnSpPr>
        <p:spPr bwMode="auto">
          <a:xfrm flipV="1">
            <a:off x="8456176" y="1828800"/>
            <a:ext cx="0" cy="623087"/>
          </a:xfrm>
          <a:prstGeom prst="line">
            <a:avLst/>
          </a:prstGeom>
          <a:solidFill>
            <a:schemeClr val="accent1"/>
          </a:solidFill>
          <a:ln w="38100" cap="flat" cmpd="sng" algn="ctr">
            <a:solidFill>
              <a:schemeClr val="accent1">
                <a:lumMod val="75000"/>
              </a:schemeClr>
            </a:solidFill>
            <a:prstDash val="solid"/>
            <a:round/>
            <a:headEnd type="none" w="med" len="med"/>
            <a:tailEnd type="none" w="med" len="med"/>
          </a:ln>
          <a:effectLst/>
        </p:spPr>
      </p:cxnSp>
      <p:cxnSp>
        <p:nvCxnSpPr>
          <p:cNvPr id="234" name="Straight Connector 233"/>
          <p:cNvCxnSpPr/>
          <p:nvPr/>
        </p:nvCxnSpPr>
        <p:spPr bwMode="auto">
          <a:xfrm flipV="1">
            <a:off x="8294335" y="1836892"/>
            <a:ext cx="0" cy="623087"/>
          </a:xfrm>
          <a:prstGeom prst="line">
            <a:avLst/>
          </a:prstGeom>
          <a:solidFill>
            <a:schemeClr val="accent1"/>
          </a:solidFill>
          <a:ln w="38100" cap="flat" cmpd="sng" algn="ctr">
            <a:solidFill>
              <a:srgbClr val="C00000"/>
            </a:solidFill>
            <a:prstDash val="solid"/>
            <a:round/>
            <a:headEnd type="none" w="med" len="med"/>
            <a:tailEnd type="none" w="med" len="med"/>
          </a:ln>
          <a:effectLst/>
        </p:spPr>
      </p:cxnSp>
      <p:cxnSp>
        <p:nvCxnSpPr>
          <p:cNvPr id="219" name="Straight Connector 218"/>
          <p:cNvCxnSpPr/>
          <p:nvPr/>
        </p:nvCxnSpPr>
        <p:spPr bwMode="auto">
          <a:xfrm flipH="1">
            <a:off x="7048163" y="2484255"/>
            <a:ext cx="1780248" cy="16184"/>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229" name="Straight Connector 228"/>
          <p:cNvCxnSpPr/>
          <p:nvPr/>
        </p:nvCxnSpPr>
        <p:spPr bwMode="auto">
          <a:xfrm flipH="1">
            <a:off x="7096715" y="5138442"/>
            <a:ext cx="1780248" cy="16184"/>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235" name="Straight Connector 234"/>
          <p:cNvCxnSpPr/>
          <p:nvPr/>
        </p:nvCxnSpPr>
        <p:spPr bwMode="auto">
          <a:xfrm flipV="1">
            <a:off x="8415716" y="4515356"/>
            <a:ext cx="0" cy="623087"/>
          </a:xfrm>
          <a:prstGeom prst="line">
            <a:avLst/>
          </a:prstGeom>
          <a:solidFill>
            <a:schemeClr val="accent1"/>
          </a:solidFill>
          <a:ln w="38100" cap="flat" cmpd="sng" algn="ctr">
            <a:solidFill>
              <a:schemeClr val="accent1">
                <a:lumMod val="75000"/>
              </a:schemeClr>
            </a:solidFill>
            <a:prstDash val="solid"/>
            <a:round/>
            <a:headEnd type="none" w="med" len="med"/>
            <a:tailEnd type="none" w="med" len="med"/>
          </a:ln>
          <a:effectLst/>
        </p:spPr>
      </p:cxnSp>
      <p:cxnSp>
        <p:nvCxnSpPr>
          <p:cNvPr id="236" name="Straight Connector 235"/>
          <p:cNvCxnSpPr/>
          <p:nvPr/>
        </p:nvCxnSpPr>
        <p:spPr bwMode="auto">
          <a:xfrm flipV="1">
            <a:off x="7549868" y="4499172"/>
            <a:ext cx="0" cy="623087"/>
          </a:xfrm>
          <a:prstGeom prst="line">
            <a:avLst/>
          </a:prstGeom>
          <a:solidFill>
            <a:schemeClr val="accent1"/>
          </a:solidFill>
          <a:ln w="38100" cap="flat" cmpd="sng" algn="ctr">
            <a:solidFill>
              <a:srgbClr val="C00000"/>
            </a:solidFill>
            <a:prstDash val="solid"/>
            <a:round/>
            <a:headEnd type="none" w="med" len="med"/>
            <a:tailEnd type="none" w="med" len="med"/>
          </a:ln>
          <a:effectLst/>
        </p:spPr>
      </p:cxnSp>
      <p:sp>
        <p:nvSpPr>
          <p:cNvPr id="237" name="TextBox 236"/>
          <p:cNvSpPr txBox="1"/>
          <p:nvPr/>
        </p:nvSpPr>
        <p:spPr>
          <a:xfrm>
            <a:off x="5826265" y="873940"/>
            <a:ext cx="484428" cy="276999"/>
          </a:xfrm>
          <a:prstGeom prst="rect">
            <a:avLst/>
          </a:prstGeom>
          <a:noFill/>
        </p:spPr>
        <p:txBody>
          <a:bodyPr wrap="none" rtlCol="0">
            <a:spAutoFit/>
          </a:bodyPr>
          <a:lstStyle/>
          <a:p>
            <a:r>
              <a:rPr lang="en-GB" sz="1200" i="1" dirty="0"/>
              <a:t>freq</a:t>
            </a:r>
          </a:p>
        </p:txBody>
      </p:sp>
      <p:sp>
        <p:nvSpPr>
          <p:cNvPr id="238" name="TextBox 237"/>
          <p:cNvSpPr txBox="1"/>
          <p:nvPr/>
        </p:nvSpPr>
        <p:spPr>
          <a:xfrm>
            <a:off x="8431900" y="2476163"/>
            <a:ext cx="484428" cy="276999"/>
          </a:xfrm>
          <a:prstGeom prst="rect">
            <a:avLst/>
          </a:prstGeom>
          <a:noFill/>
        </p:spPr>
        <p:txBody>
          <a:bodyPr wrap="none" rtlCol="0">
            <a:spAutoFit/>
          </a:bodyPr>
          <a:lstStyle/>
          <a:p>
            <a:r>
              <a:rPr lang="en-GB" sz="1200" i="1" dirty="0"/>
              <a:t>freq</a:t>
            </a:r>
          </a:p>
        </p:txBody>
      </p:sp>
      <p:sp>
        <p:nvSpPr>
          <p:cNvPr id="239" name="TextBox 238"/>
          <p:cNvSpPr txBox="1"/>
          <p:nvPr/>
        </p:nvSpPr>
        <p:spPr>
          <a:xfrm>
            <a:off x="8456176" y="5114167"/>
            <a:ext cx="484428" cy="276999"/>
          </a:xfrm>
          <a:prstGeom prst="rect">
            <a:avLst/>
          </a:prstGeom>
          <a:noFill/>
        </p:spPr>
        <p:txBody>
          <a:bodyPr wrap="none" rtlCol="0">
            <a:spAutoFit/>
          </a:bodyPr>
          <a:lstStyle/>
          <a:p>
            <a:r>
              <a:rPr lang="en-GB" sz="1200" i="1" dirty="0"/>
              <a:t>freq</a:t>
            </a:r>
          </a:p>
        </p:txBody>
      </p:sp>
      <p:sp>
        <p:nvSpPr>
          <p:cNvPr id="240" name="Rectangle 239"/>
          <p:cNvSpPr/>
          <p:nvPr/>
        </p:nvSpPr>
        <p:spPr>
          <a:xfrm>
            <a:off x="7711710" y="2863214"/>
            <a:ext cx="841571" cy="584775"/>
          </a:xfrm>
          <a:prstGeom prst="rect">
            <a:avLst/>
          </a:prstGeom>
        </p:spPr>
        <p:txBody>
          <a:bodyPr wrap="square">
            <a:spAutoFit/>
          </a:bodyPr>
          <a:lstStyle/>
          <a:p>
            <a:pPr algn="ctr"/>
            <a:r>
              <a:rPr lang="en-GB" i="1" dirty="0"/>
              <a:t>critical band </a:t>
            </a:r>
          </a:p>
        </p:txBody>
      </p:sp>
      <p:sp>
        <p:nvSpPr>
          <p:cNvPr id="241" name="Rectangle 240"/>
          <p:cNvSpPr/>
          <p:nvPr/>
        </p:nvSpPr>
        <p:spPr>
          <a:xfrm>
            <a:off x="7315201" y="1155795"/>
            <a:ext cx="841571" cy="584775"/>
          </a:xfrm>
          <a:prstGeom prst="rect">
            <a:avLst/>
          </a:prstGeom>
        </p:spPr>
        <p:txBody>
          <a:bodyPr wrap="square">
            <a:spAutoFit/>
          </a:bodyPr>
          <a:lstStyle/>
          <a:p>
            <a:pPr algn="ctr"/>
            <a:r>
              <a:rPr lang="en-GB" i="1" dirty="0"/>
              <a:t>critical band </a:t>
            </a:r>
          </a:p>
        </p:txBody>
      </p:sp>
      <p:sp>
        <p:nvSpPr>
          <p:cNvPr id="242" name="Rectangle 241"/>
          <p:cNvSpPr/>
          <p:nvPr/>
        </p:nvSpPr>
        <p:spPr>
          <a:xfrm>
            <a:off x="7614606" y="3688602"/>
            <a:ext cx="841571" cy="584775"/>
          </a:xfrm>
          <a:prstGeom prst="rect">
            <a:avLst/>
          </a:prstGeom>
        </p:spPr>
        <p:txBody>
          <a:bodyPr wrap="square">
            <a:spAutoFit/>
          </a:bodyPr>
          <a:lstStyle/>
          <a:p>
            <a:pPr algn="ctr"/>
            <a:r>
              <a:rPr lang="en-GB" i="1" dirty="0"/>
              <a:t>critical bands </a:t>
            </a:r>
          </a:p>
        </p:txBody>
      </p:sp>
      <p:cxnSp>
        <p:nvCxnSpPr>
          <p:cNvPr id="244" name="Straight Arrow Connector 243"/>
          <p:cNvCxnSpPr/>
          <p:nvPr/>
        </p:nvCxnSpPr>
        <p:spPr bwMode="auto">
          <a:xfrm>
            <a:off x="8059667" y="1472751"/>
            <a:ext cx="226577" cy="218485"/>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245" name="Straight Arrow Connector 244"/>
          <p:cNvCxnSpPr>
            <a:stCxn id="242" idx="2"/>
          </p:cNvCxnSpPr>
          <p:nvPr/>
        </p:nvCxnSpPr>
        <p:spPr bwMode="auto">
          <a:xfrm>
            <a:off x="8035392" y="4273377"/>
            <a:ext cx="291312" cy="169151"/>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247" name="Straight Arrow Connector 246"/>
          <p:cNvCxnSpPr>
            <a:stCxn id="242" idx="2"/>
          </p:cNvCxnSpPr>
          <p:nvPr/>
        </p:nvCxnSpPr>
        <p:spPr bwMode="auto">
          <a:xfrm flipH="1">
            <a:off x="7687434" y="4273377"/>
            <a:ext cx="347958" cy="411911"/>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Tree>
    <p:extLst>
      <p:ext uri="{BB962C8B-B14F-4D97-AF65-F5344CB8AC3E}">
        <p14:creationId xmlns:p14="http://schemas.microsoft.com/office/powerpoint/2010/main" val="55191128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descr="http://www.digitalradiotech.co.uk/images/masking_curve.gif"/>
          <p:cNvPicPr>
            <a:picLocks noChangeAspect="1" noChangeArrowheads="1"/>
          </p:cNvPicPr>
          <p:nvPr/>
        </p:nvPicPr>
        <p:blipFill>
          <a:blip r:embed="rId2" cstate="print"/>
          <a:srcRect/>
          <a:stretch>
            <a:fillRect/>
          </a:stretch>
        </p:blipFill>
        <p:spPr bwMode="auto">
          <a:xfrm>
            <a:off x="380999" y="1412776"/>
            <a:ext cx="8027621" cy="4717157"/>
          </a:xfrm>
          <a:prstGeom prst="rect">
            <a:avLst/>
          </a:prstGeom>
          <a:noFill/>
          <a:ln w="9525">
            <a:noFill/>
            <a:miter lim="800000"/>
            <a:headEnd/>
            <a:tailEnd/>
          </a:ln>
        </p:spPr>
      </p:pic>
      <p:sp>
        <p:nvSpPr>
          <p:cNvPr id="18435" name="TextBox 2"/>
          <p:cNvSpPr txBox="1">
            <a:spLocks noChangeArrowheads="1"/>
          </p:cNvSpPr>
          <p:nvPr/>
        </p:nvSpPr>
        <p:spPr bwMode="auto">
          <a:xfrm>
            <a:off x="380999" y="331788"/>
            <a:ext cx="6397905" cy="461665"/>
          </a:xfrm>
          <a:prstGeom prst="rect">
            <a:avLst/>
          </a:prstGeom>
          <a:noFill/>
          <a:ln w="9525">
            <a:noFill/>
            <a:miter lim="800000"/>
            <a:headEnd/>
            <a:tailEnd/>
          </a:ln>
        </p:spPr>
        <p:txBody>
          <a:bodyPr wrap="none">
            <a:spAutoFit/>
          </a:bodyPr>
          <a:lstStyle/>
          <a:p>
            <a:r>
              <a:rPr lang="en-GB" sz="2400" b="1" dirty="0"/>
              <a:t>Threshold of Hearing, Masking Threshold</a:t>
            </a:r>
            <a:endParaRPr lang="en-US" sz="2400" b="1" dirty="0"/>
          </a:p>
        </p:txBody>
      </p:sp>
    </p:spTree>
    <p:extLst>
      <p:ext uri="{BB962C8B-B14F-4D97-AF65-F5344CB8AC3E}">
        <p14:creationId xmlns:p14="http://schemas.microsoft.com/office/powerpoint/2010/main" val="206730536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ChangeArrowheads="1"/>
          </p:cNvSpPr>
          <p:nvPr/>
        </p:nvSpPr>
        <p:spPr bwMode="auto">
          <a:xfrm>
            <a:off x="395288" y="331788"/>
            <a:ext cx="5562600" cy="457200"/>
          </a:xfrm>
          <a:prstGeom prst="rect">
            <a:avLst/>
          </a:prstGeom>
          <a:noFill/>
          <a:ln w="9525">
            <a:noFill/>
            <a:miter lim="800000"/>
            <a:headEnd/>
            <a:tailEnd/>
          </a:ln>
        </p:spPr>
        <p:txBody>
          <a:bodyPr anchor="b"/>
          <a:lstStyle/>
          <a:p>
            <a:r>
              <a:rPr lang="en-US" sz="2400" b="1" dirty="0">
                <a:solidFill>
                  <a:schemeClr val="tx2"/>
                </a:solidFill>
              </a:rPr>
              <a:t>MPEG Psychoacoustic Models</a:t>
            </a:r>
            <a:endParaRPr lang="en-US" sz="6000" dirty="0">
              <a:solidFill>
                <a:schemeClr val="tx2"/>
              </a:solidFill>
            </a:endParaRPr>
          </a:p>
        </p:txBody>
      </p:sp>
      <p:sp>
        <p:nvSpPr>
          <p:cNvPr id="19459" name="Rectangle 3"/>
          <p:cNvSpPr>
            <a:spLocks noChangeArrowheads="1"/>
          </p:cNvSpPr>
          <p:nvPr/>
        </p:nvSpPr>
        <p:spPr bwMode="auto">
          <a:xfrm>
            <a:off x="381000" y="1196752"/>
            <a:ext cx="8153400" cy="4038600"/>
          </a:xfrm>
          <a:prstGeom prst="rect">
            <a:avLst/>
          </a:prstGeom>
          <a:noFill/>
          <a:ln w="9525">
            <a:noFill/>
            <a:miter lim="800000"/>
            <a:headEnd/>
            <a:tailEnd/>
          </a:ln>
        </p:spPr>
        <p:txBody>
          <a:bodyPr/>
          <a:lstStyle/>
          <a:p>
            <a:pPr marL="342900" indent="-342900">
              <a:lnSpc>
                <a:spcPct val="140000"/>
              </a:lnSpc>
              <a:spcBef>
                <a:spcPct val="20000"/>
              </a:spcBef>
            </a:pPr>
            <a:r>
              <a:rPr lang="en-US" sz="1800" b="1" dirty="0"/>
              <a:t>MPEG standard defines two models:</a:t>
            </a:r>
            <a:endParaRPr lang="en-US" sz="1800" dirty="0"/>
          </a:p>
          <a:p>
            <a:pPr marL="342900" indent="-342900">
              <a:lnSpc>
                <a:spcPct val="140000"/>
              </a:lnSpc>
              <a:spcBef>
                <a:spcPct val="20000"/>
              </a:spcBef>
              <a:buFontTx/>
              <a:buChar char="•"/>
            </a:pPr>
            <a:endParaRPr lang="en-US" sz="1800" dirty="0"/>
          </a:p>
          <a:p>
            <a:pPr marL="342900" indent="-342900">
              <a:lnSpc>
                <a:spcPct val="140000"/>
              </a:lnSpc>
              <a:spcBef>
                <a:spcPct val="20000"/>
              </a:spcBef>
              <a:buFontTx/>
              <a:buChar char="•"/>
            </a:pPr>
            <a:r>
              <a:rPr lang="en-US" sz="1800" b="1" dirty="0"/>
              <a:t>Psychoacoustic Model 1:</a:t>
            </a:r>
            <a:endParaRPr lang="en-US" sz="1800" dirty="0"/>
          </a:p>
          <a:p>
            <a:pPr marL="742950" lvl="1" indent="-285750">
              <a:lnSpc>
                <a:spcPct val="140000"/>
              </a:lnSpc>
              <a:spcBef>
                <a:spcPct val="20000"/>
              </a:spcBef>
              <a:buFontTx/>
              <a:buChar char="•"/>
            </a:pPr>
            <a:r>
              <a:rPr lang="en-US" sz="1600" dirty="0"/>
              <a:t>simpler, less computationally expensive</a:t>
            </a:r>
          </a:p>
          <a:p>
            <a:pPr marL="742950" lvl="1" indent="-285750">
              <a:lnSpc>
                <a:spcPct val="140000"/>
              </a:lnSpc>
              <a:spcBef>
                <a:spcPct val="20000"/>
              </a:spcBef>
              <a:buFontTx/>
              <a:buChar char="•"/>
            </a:pPr>
            <a:r>
              <a:rPr lang="en-US" sz="1600" dirty="0"/>
              <a:t>serious compromises in what it assumes a listener cannot hear</a:t>
            </a:r>
          </a:p>
          <a:p>
            <a:pPr marL="742950" lvl="1" indent="-285750">
              <a:lnSpc>
                <a:spcPct val="140000"/>
              </a:lnSpc>
              <a:spcBef>
                <a:spcPct val="20000"/>
              </a:spcBef>
              <a:buFontTx/>
              <a:buChar char="•"/>
            </a:pPr>
            <a:endParaRPr lang="en-US" sz="1600" dirty="0"/>
          </a:p>
          <a:p>
            <a:pPr marL="342900" indent="-342900">
              <a:lnSpc>
                <a:spcPct val="140000"/>
              </a:lnSpc>
              <a:spcBef>
                <a:spcPct val="20000"/>
              </a:spcBef>
              <a:buFontTx/>
              <a:buChar char="•"/>
            </a:pPr>
            <a:r>
              <a:rPr lang="en-US" sz="1800" b="1" dirty="0"/>
              <a:t>Psychoacoustic Model 2:</a:t>
            </a:r>
            <a:endParaRPr lang="en-US" sz="1800" dirty="0"/>
          </a:p>
          <a:p>
            <a:pPr marL="742950" lvl="1" indent="-285750">
              <a:lnSpc>
                <a:spcPct val="140000"/>
              </a:lnSpc>
              <a:spcBef>
                <a:spcPct val="20000"/>
              </a:spcBef>
              <a:buFontTx/>
              <a:buChar char="•"/>
            </a:pPr>
            <a:r>
              <a:rPr lang="en-US" sz="1600" dirty="0"/>
              <a:t>More features </a:t>
            </a:r>
          </a:p>
          <a:p>
            <a:pPr marL="1200150" lvl="2" indent="-285750">
              <a:lnSpc>
                <a:spcPct val="140000"/>
              </a:lnSpc>
              <a:spcBef>
                <a:spcPct val="20000"/>
              </a:spcBef>
              <a:buFontTx/>
              <a:buChar char="•"/>
            </a:pPr>
            <a:r>
              <a:rPr lang="en-US" dirty="0"/>
              <a:t>more complex coding (assuming increased processor bandwidth)</a:t>
            </a:r>
          </a:p>
          <a:p>
            <a:pPr marL="742950" lvl="1" indent="-285750">
              <a:lnSpc>
                <a:spcPct val="140000"/>
              </a:lnSpc>
              <a:spcBef>
                <a:spcPct val="20000"/>
              </a:spcBef>
              <a:buFontTx/>
              <a:buChar char="•"/>
            </a:pPr>
            <a:r>
              <a:rPr lang="en-US" sz="1600" dirty="0"/>
              <a:t>Layer III    (.mp3)</a:t>
            </a:r>
          </a:p>
        </p:txBody>
      </p:sp>
    </p:spTree>
    <p:extLst>
      <p:ext uri="{BB962C8B-B14F-4D97-AF65-F5344CB8AC3E}">
        <p14:creationId xmlns:p14="http://schemas.microsoft.com/office/powerpoint/2010/main" val="60679378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bwMode="auto">
          <a:xfrm>
            <a:off x="0" y="0"/>
            <a:ext cx="9144000" cy="6858001"/>
          </a:xfrm>
          <a:prstGeom prst="rect">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a:ln>
                <a:noFill/>
              </a:ln>
              <a:solidFill>
                <a:schemeClr val="tx1"/>
              </a:solidFill>
              <a:effectLst/>
              <a:latin typeface="Lucida Sans Unicode" pitchFamily="34" charset="0"/>
            </a:endParaRPr>
          </a:p>
        </p:txBody>
      </p:sp>
      <p:pic>
        <p:nvPicPr>
          <p:cNvPr id="4" name="Picture 2" descr="maxresdefault.jpg (1280×720)"/>
          <p:cNvPicPr>
            <a:picLocks noChangeAspect="1" noChangeArrowheads="1"/>
          </p:cNvPicPr>
          <p:nvPr/>
        </p:nvPicPr>
        <p:blipFill rotWithShape="1">
          <a:blip r:embed="rId2">
            <a:extLst>
              <a:ext uri="{28A0092B-C50C-407E-A947-70E740481C1C}">
                <a14:useLocalDpi xmlns:a14="http://schemas.microsoft.com/office/drawing/2010/main" val="0"/>
              </a:ext>
            </a:extLst>
          </a:blip>
          <a:srcRect t="1793" r="3572" b="2062"/>
          <a:stretch/>
        </p:blipFill>
        <p:spPr bwMode="auto">
          <a:xfrm>
            <a:off x="0" y="933061"/>
            <a:ext cx="9150162" cy="5131837"/>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727815DB-12ED-4B14-8E19-9F0F3C75EE85}"/>
              </a:ext>
            </a:extLst>
          </p:cNvPr>
          <p:cNvSpPr txBox="1"/>
          <p:nvPr/>
        </p:nvSpPr>
        <p:spPr>
          <a:xfrm>
            <a:off x="395288" y="368300"/>
            <a:ext cx="5655449" cy="1200329"/>
          </a:xfrm>
          <a:prstGeom prst="rect">
            <a:avLst/>
          </a:prstGeom>
          <a:noFill/>
        </p:spPr>
        <p:txBody>
          <a:bodyPr wrap="square" rtlCol="0">
            <a:spAutoFit/>
          </a:bodyPr>
          <a:lstStyle/>
          <a:p>
            <a:r>
              <a:rPr lang="en-GB" sz="3600" dirty="0">
                <a:solidFill>
                  <a:srgbClr val="FFFF00"/>
                </a:solidFill>
              </a:rPr>
              <a:t>Video Compression (Introduction)</a:t>
            </a:r>
          </a:p>
        </p:txBody>
      </p:sp>
    </p:spTree>
    <p:extLst>
      <p:ext uri="{BB962C8B-B14F-4D97-AF65-F5344CB8AC3E}">
        <p14:creationId xmlns:p14="http://schemas.microsoft.com/office/powerpoint/2010/main" val="11689642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p:cNvGrpSpPr/>
          <p:nvPr/>
        </p:nvGrpSpPr>
        <p:grpSpPr>
          <a:xfrm>
            <a:off x="-6793" y="336379"/>
            <a:ext cx="9144001" cy="6105524"/>
            <a:chOff x="-1" y="381000"/>
            <a:chExt cx="9144001" cy="6105524"/>
          </a:xfrm>
        </p:grpSpPr>
        <p:sp>
          <p:nvSpPr>
            <p:cNvPr id="12290" name="Rectangle 2"/>
            <p:cNvSpPr>
              <a:spLocks noChangeArrowheads="1"/>
            </p:cNvSpPr>
            <p:nvPr/>
          </p:nvSpPr>
          <p:spPr bwMode="auto">
            <a:xfrm>
              <a:off x="427038" y="381000"/>
              <a:ext cx="1327150" cy="457200"/>
            </a:xfrm>
            <a:prstGeom prst="rect">
              <a:avLst/>
            </a:prstGeom>
            <a:noFill/>
            <a:ln w="9525">
              <a:noFill/>
              <a:miter lim="800000"/>
              <a:headEnd/>
              <a:tailEnd/>
            </a:ln>
          </p:spPr>
          <p:txBody>
            <a:bodyPr wrap="none">
              <a:spAutoFit/>
            </a:bodyPr>
            <a:lstStyle/>
            <a:p>
              <a:r>
                <a:rPr lang="en-GB" sz="2400" b="1"/>
                <a:t>The Eye</a:t>
              </a:r>
            </a:p>
          </p:txBody>
        </p:sp>
        <p:pic>
          <p:nvPicPr>
            <p:cNvPr id="5" name="Picture 4"/>
            <p:cNvPicPr>
              <a:picLocks noChangeAspect="1"/>
            </p:cNvPicPr>
            <p:nvPr/>
          </p:nvPicPr>
          <p:blipFill>
            <a:blip r:embed="rId2"/>
            <a:stretch>
              <a:fillRect/>
            </a:stretch>
          </p:blipFill>
          <p:spPr>
            <a:xfrm>
              <a:off x="0" y="392906"/>
              <a:ext cx="1514475" cy="733425"/>
            </a:xfrm>
            <a:prstGeom prst="rect">
              <a:avLst/>
            </a:prstGeom>
            <a:ln>
              <a:noFill/>
            </a:ln>
          </p:spPr>
        </p:pic>
        <p:pic>
          <p:nvPicPr>
            <p:cNvPr id="17" name="Picture 16"/>
            <p:cNvPicPr>
              <a:picLocks noChangeAspect="1"/>
            </p:cNvPicPr>
            <p:nvPr/>
          </p:nvPicPr>
          <p:blipFill>
            <a:blip r:embed="rId2"/>
            <a:stretch>
              <a:fillRect/>
            </a:stretch>
          </p:blipFill>
          <p:spPr>
            <a:xfrm rot="5400000">
              <a:off x="1100137" y="771525"/>
              <a:ext cx="1514475" cy="733425"/>
            </a:xfrm>
            <a:prstGeom prst="rect">
              <a:avLst/>
            </a:prstGeom>
            <a:ln>
              <a:noFill/>
            </a:ln>
          </p:spPr>
        </p:pic>
        <p:pic>
          <p:nvPicPr>
            <p:cNvPr id="18" name="Picture 17"/>
            <p:cNvPicPr>
              <a:picLocks noChangeAspect="1"/>
            </p:cNvPicPr>
            <p:nvPr/>
          </p:nvPicPr>
          <p:blipFill>
            <a:blip r:embed="rId2"/>
            <a:stretch>
              <a:fillRect/>
            </a:stretch>
          </p:blipFill>
          <p:spPr>
            <a:xfrm rot="10800000">
              <a:off x="-1" y="1150143"/>
              <a:ext cx="1514475" cy="733425"/>
            </a:xfrm>
            <a:prstGeom prst="rect">
              <a:avLst/>
            </a:prstGeom>
            <a:ln>
              <a:noFill/>
            </a:ln>
          </p:spPr>
        </p:pic>
        <p:grpSp>
          <p:nvGrpSpPr>
            <p:cNvPr id="6" name="Group 5"/>
            <p:cNvGrpSpPr/>
            <p:nvPr/>
          </p:nvGrpSpPr>
          <p:grpSpPr>
            <a:xfrm rot="10800000">
              <a:off x="0" y="1883568"/>
              <a:ext cx="2247901" cy="1514475"/>
              <a:chOff x="0" y="3587580"/>
              <a:chExt cx="2247901" cy="1514475"/>
            </a:xfrm>
          </p:grpSpPr>
          <p:pic>
            <p:nvPicPr>
              <p:cNvPr id="22" name="Picture 21"/>
              <p:cNvPicPr>
                <a:picLocks noChangeAspect="1"/>
              </p:cNvPicPr>
              <p:nvPr/>
            </p:nvPicPr>
            <p:blipFill>
              <a:blip r:embed="rId2"/>
              <a:stretch>
                <a:fillRect/>
              </a:stretch>
            </p:blipFill>
            <p:spPr>
              <a:xfrm>
                <a:off x="1" y="3587580"/>
                <a:ext cx="1514475" cy="733425"/>
              </a:xfrm>
              <a:prstGeom prst="rect">
                <a:avLst/>
              </a:prstGeom>
              <a:ln>
                <a:noFill/>
              </a:ln>
            </p:spPr>
          </p:pic>
          <p:pic>
            <p:nvPicPr>
              <p:cNvPr id="23" name="Picture 22"/>
              <p:cNvPicPr>
                <a:picLocks noChangeAspect="1"/>
              </p:cNvPicPr>
              <p:nvPr/>
            </p:nvPicPr>
            <p:blipFill>
              <a:blip r:embed="rId2"/>
              <a:stretch>
                <a:fillRect/>
              </a:stretch>
            </p:blipFill>
            <p:spPr>
              <a:xfrm rot="5400000">
                <a:off x="1123951" y="3978105"/>
                <a:ext cx="1514475" cy="733425"/>
              </a:xfrm>
              <a:prstGeom prst="rect">
                <a:avLst/>
              </a:prstGeom>
              <a:ln>
                <a:noFill/>
              </a:ln>
            </p:spPr>
          </p:pic>
          <p:pic>
            <p:nvPicPr>
              <p:cNvPr id="24" name="Picture 23"/>
              <p:cNvPicPr>
                <a:picLocks noChangeAspect="1"/>
              </p:cNvPicPr>
              <p:nvPr/>
            </p:nvPicPr>
            <p:blipFill>
              <a:blip r:embed="rId2"/>
              <a:stretch>
                <a:fillRect/>
              </a:stretch>
            </p:blipFill>
            <p:spPr>
              <a:xfrm rot="10800000">
                <a:off x="0" y="4344817"/>
                <a:ext cx="1514475" cy="733425"/>
              </a:xfrm>
              <a:prstGeom prst="rect">
                <a:avLst/>
              </a:prstGeom>
              <a:ln>
                <a:noFill/>
              </a:ln>
            </p:spPr>
          </p:pic>
        </p:grpSp>
        <p:pic>
          <p:nvPicPr>
            <p:cNvPr id="27" name="Picture 26"/>
            <p:cNvPicPr>
              <a:picLocks noChangeAspect="1"/>
            </p:cNvPicPr>
            <p:nvPr/>
          </p:nvPicPr>
          <p:blipFill>
            <a:blip r:embed="rId2"/>
            <a:stretch>
              <a:fillRect/>
            </a:stretch>
          </p:blipFill>
          <p:spPr>
            <a:xfrm>
              <a:off x="1" y="3421855"/>
              <a:ext cx="1514475" cy="733425"/>
            </a:xfrm>
            <a:prstGeom prst="rect">
              <a:avLst/>
            </a:prstGeom>
            <a:ln>
              <a:noFill/>
            </a:ln>
          </p:spPr>
        </p:pic>
        <p:pic>
          <p:nvPicPr>
            <p:cNvPr id="28" name="Picture 27"/>
            <p:cNvPicPr>
              <a:picLocks noChangeAspect="1"/>
            </p:cNvPicPr>
            <p:nvPr/>
          </p:nvPicPr>
          <p:blipFill>
            <a:blip r:embed="rId2"/>
            <a:stretch>
              <a:fillRect/>
            </a:stretch>
          </p:blipFill>
          <p:spPr>
            <a:xfrm rot="5400000">
              <a:off x="1123951" y="3812380"/>
              <a:ext cx="1514475" cy="733425"/>
            </a:xfrm>
            <a:prstGeom prst="rect">
              <a:avLst/>
            </a:prstGeom>
            <a:ln>
              <a:noFill/>
            </a:ln>
          </p:spPr>
        </p:pic>
        <p:pic>
          <p:nvPicPr>
            <p:cNvPr id="29" name="Picture 28"/>
            <p:cNvPicPr>
              <a:picLocks noChangeAspect="1"/>
            </p:cNvPicPr>
            <p:nvPr/>
          </p:nvPicPr>
          <p:blipFill>
            <a:blip r:embed="rId2"/>
            <a:stretch>
              <a:fillRect/>
            </a:stretch>
          </p:blipFill>
          <p:spPr>
            <a:xfrm rot="10800000">
              <a:off x="0" y="4179092"/>
              <a:ext cx="1514475" cy="733425"/>
            </a:xfrm>
            <a:prstGeom prst="rect">
              <a:avLst/>
            </a:prstGeom>
            <a:ln>
              <a:noFill/>
            </a:ln>
          </p:spPr>
        </p:pic>
        <p:grpSp>
          <p:nvGrpSpPr>
            <p:cNvPr id="30" name="Group 29"/>
            <p:cNvGrpSpPr/>
            <p:nvPr/>
          </p:nvGrpSpPr>
          <p:grpSpPr>
            <a:xfrm rot="10800000">
              <a:off x="24779" y="4960142"/>
              <a:ext cx="2247901" cy="1514475"/>
              <a:chOff x="0" y="3587580"/>
              <a:chExt cx="2247901" cy="1514475"/>
            </a:xfrm>
          </p:grpSpPr>
          <p:pic>
            <p:nvPicPr>
              <p:cNvPr id="31" name="Picture 30"/>
              <p:cNvPicPr>
                <a:picLocks noChangeAspect="1"/>
              </p:cNvPicPr>
              <p:nvPr/>
            </p:nvPicPr>
            <p:blipFill>
              <a:blip r:embed="rId2"/>
              <a:stretch>
                <a:fillRect/>
              </a:stretch>
            </p:blipFill>
            <p:spPr>
              <a:xfrm>
                <a:off x="1" y="3587580"/>
                <a:ext cx="1514475" cy="733425"/>
              </a:xfrm>
              <a:prstGeom prst="rect">
                <a:avLst/>
              </a:prstGeom>
              <a:ln>
                <a:noFill/>
              </a:ln>
            </p:spPr>
          </p:pic>
          <p:pic>
            <p:nvPicPr>
              <p:cNvPr id="32" name="Picture 31"/>
              <p:cNvPicPr>
                <a:picLocks noChangeAspect="1"/>
              </p:cNvPicPr>
              <p:nvPr/>
            </p:nvPicPr>
            <p:blipFill>
              <a:blip r:embed="rId2"/>
              <a:stretch>
                <a:fillRect/>
              </a:stretch>
            </p:blipFill>
            <p:spPr>
              <a:xfrm rot="5400000">
                <a:off x="1123951" y="3978105"/>
                <a:ext cx="1514475" cy="733425"/>
              </a:xfrm>
              <a:prstGeom prst="rect">
                <a:avLst/>
              </a:prstGeom>
              <a:ln>
                <a:noFill/>
              </a:ln>
            </p:spPr>
          </p:pic>
          <p:pic>
            <p:nvPicPr>
              <p:cNvPr id="33" name="Picture 32"/>
              <p:cNvPicPr>
                <a:picLocks noChangeAspect="1"/>
              </p:cNvPicPr>
              <p:nvPr/>
            </p:nvPicPr>
            <p:blipFill>
              <a:blip r:embed="rId2"/>
              <a:stretch>
                <a:fillRect/>
              </a:stretch>
            </p:blipFill>
            <p:spPr>
              <a:xfrm rot="10800000">
                <a:off x="0" y="4344817"/>
                <a:ext cx="1514475" cy="733425"/>
              </a:xfrm>
              <a:prstGeom prst="rect">
                <a:avLst/>
              </a:prstGeom>
              <a:ln>
                <a:noFill/>
              </a:ln>
            </p:spPr>
          </p:pic>
        </p:grpSp>
        <p:sp>
          <p:nvSpPr>
            <p:cNvPr id="34" name="Rectangle 2"/>
            <p:cNvSpPr>
              <a:spLocks noChangeArrowheads="1"/>
            </p:cNvSpPr>
            <p:nvPr/>
          </p:nvSpPr>
          <p:spPr bwMode="auto">
            <a:xfrm>
              <a:off x="7298358" y="392907"/>
              <a:ext cx="1327150" cy="457200"/>
            </a:xfrm>
            <a:prstGeom prst="rect">
              <a:avLst/>
            </a:prstGeom>
            <a:noFill/>
            <a:ln w="9525">
              <a:noFill/>
              <a:miter lim="800000"/>
              <a:headEnd/>
              <a:tailEnd/>
            </a:ln>
          </p:spPr>
          <p:txBody>
            <a:bodyPr wrap="none">
              <a:spAutoFit/>
            </a:bodyPr>
            <a:lstStyle/>
            <a:p>
              <a:r>
                <a:rPr lang="en-GB" sz="2400" b="1"/>
                <a:t>The Eye</a:t>
              </a:r>
            </a:p>
          </p:txBody>
        </p:sp>
        <p:pic>
          <p:nvPicPr>
            <p:cNvPr id="35" name="Picture 34"/>
            <p:cNvPicPr>
              <a:picLocks noChangeAspect="1"/>
            </p:cNvPicPr>
            <p:nvPr/>
          </p:nvPicPr>
          <p:blipFill>
            <a:blip r:embed="rId2"/>
            <a:stretch>
              <a:fillRect/>
            </a:stretch>
          </p:blipFill>
          <p:spPr>
            <a:xfrm>
              <a:off x="6871320" y="404813"/>
              <a:ext cx="1514475" cy="733425"/>
            </a:xfrm>
            <a:prstGeom prst="rect">
              <a:avLst/>
            </a:prstGeom>
            <a:ln>
              <a:noFill/>
            </a:ln>
          </p:spPr>
        </p:pic>
        <p:pic>
          <p:nvPicPr>
            <p:cNvPr id="36" name="Picture 35"/>
            <p:cNvPicPr>
              <a:picLocks noChangeAspect="1"/>
            </p:cNvPicPr>
            <p:nvPr/>
          </p:nvPicPr>
          <p:blipFill>
            <a:blip r:embed="rId2"/>
            <a:stretch>
              <a:fillRect/>
            </a:stretch>
          </p:blipFill>
          <p:spPr>
            <a:xfrm rot="5400000">
              <a:off x="7971457" y="783432"/>
              <a:ext cx="1514475" cy="733425"/>
            </a:xfrm>
            <a:prstGeom prst="rect">
              <a:avLst/>
            </a:prstGeom>
            <a:ln>
              <a:noFill/>
            </a:ln>
          </p:spPr>
        </p:pic>
        <p:pic>
          <p:nvPicPr>
            <p:cNvPr id="37" name="Picture 36"/>
            <p:cNvPicPr>
              <a:picLocks noChangeAspect="1"/>
            </p:cNvPicPr>
            <p:nvPr/>
          </p:nvPicPr>
          <p:blipFill>
            <a:blip r:embed="rId2"/>
            <a:stretch>
              <a:fillRect/>
            </a:stretch>
          </p:blipFill>
          <p:spPr>
            <a:xfrm rot="10800000">
              <a:off x="6871319" y="1162050"/>
              <a:ext cx="1514475" cy="733425"/>
            </a:xfrm>
            <a:prstGeom prst="rect">
              <a:avLst/>
            </a:prstGeom>
            <a:ln>
              <a:noFill/>
            </a:ln>
          </p:spPr>
        </p:pic>
        <p:grpSp>
          <p:nvGrpSpPr>
            <p:cNvPr id="38" name="Group 37"/>
            <p:cNvGrpSpPr/>
            <p:nvPr/>
          </p:nvGrpSpPr>
          <p:grpSpPr>
            <a:xfrm rot="10800000">
              <a:off x="6871320" y="1895475"/>
              <a:ext cx="2247901" cy="1514475"/>
              <a:chOff x="0" y="3587580"/>
              <a:chExt cx="2247901" cy="1514475"/>
            </a:xfrm>
          </p:grpSpPr>
          <p:pic>
            <p:nvPicPr>
              <p:cNvPr id="39" name="Picture 38"/>
              <p:cNvPicPr>
                <a:picLocks noChangeAspect="1"/>
              </p:cNvPicPr>
              <p:nvPr/>
            </p:nvPicPr>
            <p:blipFill>
              <a:blip r:embed="rId2"/>
              <a:stretch>
                <a:fillRect/>
              </a:stretch>
            </p:blipFill>
            <p:spPr>
              <a:xfrm>
                <a:off x="1" y="3587580"/>
                <a:ext cx="1514475" cy="733425"/>
              </a:xfrm>
              <a:prstGeom prst="rect">
                <a:avLst/>
              </a:prstGeom>
              <a:ln>
                <a:noFill/>
              </a:ln>
            </p:spPr>
          </p:pic>
          <p:pic>
            <p:nvPicPr>
              <p:cNvPr id="40" name="Picture 39"/>
              <p:cNvPicPr>
                <a:picLocks noChangeAspect="1"/>
              </p:cNvPicPr>
              <p:nvPr/>
            </p:nvPicPr>
            <p:blipFill>
              <a:blip r:embed="rId2"/>
              <a:stretch>
                <a:fillRect/>
              </a:stretch>
            </p:blipFill>
            <p:spPr>
              <a:xfrm rot="5400000">
                <a:off x="1123951" y="3978105"/>
                <a:ext cx="1514475" cy="733425"/>
              </a:xfrm>
              <a:prstGeom prst="rect">
                <a:avLst/>
              </a:prstGeom>
              <a:ln>
                <a:noFill/>
              </a:ln>
            </p:spPr>
          </p:pic>
          <p:pic>
            <p:nvPicPr>
              <p:cNvPr id="41" name="Picture 40"/>
              <p:cNvPicPr>
                <a:picLocks noChangeAspect="1"/>
              </p:cNvPicPr>
              <p:nvPr/>
            </p:nvPicPr>
            <p:blipFill>
              <a:blip r:embed="rId2"/>
              <a:stretch>
                <a:fillRect/>
              </a:stretch>
            </p:blipFill>
            <p:spPr>
              <a:xfrm rot="10800000">
                <a:off x="0" y="4344817"/>
                <a:ext cx="1514475" cy="733425"/>
              </a:xfrm>
              <a:prstGeom prst="rect">
                <a:avLst/>
              </a:prstGeom>
              <a:ln>
                <a:noFill/>
              </a:ln>
            </p:spPr>
          </p:pic>
        </p:grpSp>
        <p:pic>
          <p:nvPicPr>
            <p:cNvPr id="42" name="Picture 41"/>
            <p:cNvPicPr>
              <a:picLocks noChangeAspect="1"/>
            </p:cNvPicPr>
            <p:nvPr/>
          </p:nvPicPr>
          <p:blipFill>
            <a:blip r:embed="rId2"/>
            <a:stretch>
              <a:fillRect/>
            </a:stretch>
          </p:blipFill>
          <p:spPr>
            <a:xfrm>
              <a:off x="6871321" y="3433762"/>
              <a:ext cx="1514475" cy="733425"/>
            </a:xfrm>
            <a:prstGeom prst="rect">
              <a:avLst/>
            </a:prstGeom>
            <a:ln>
              <a:noFill/>
            </a:ln>
          </p:spPr>
        </p:pic>
        <p:pic>
          <p:nvPicPr>
            <p:cNvPr id="43" name="Picture 42"/>
            <p:cNvPicPr>
              <a:picLocks noChangeAspect="1"/>
            </p:cNvPicPr>
            <p:nvPr/>
          </p:nvPicPr>
          <p:blipFill>
            <a:blip r:embed="rId2"/>
            <a:stretch>
              <a:fillRect/>
            </a:stretch>
          </p:blipFill>
          <p:spPr>
            <a:xfrm rot="5400000">
              <a:off x="7995271" y="3824287"/>
              <a:ext cx="1514475" cy="733425"/>
            </a:xfrm>
            <a:prstGeom prst="rect">
              <a:avLst/>
            </a:prstGeom>
            <a:ln>
              <a:noFill/>
            </a:ln>
          </p:spPr>
        </p:pic>
        <p:pic>
          <p:nvPicPr>
            <p:cNvPr id="44" name="Picture 43"/>
            <p:cNvPicPr>
              <a:picLocks noChangeAspect="1"/>
            </p:cNvPicPr>
            <p:nvPr/>
          </p:nvPicPr>
          <p:blipFill>
            <a:blip r:embed="rId2"/>
            <a:stretch>
              <a:fillRect/>
            </a:stretch>
          </p:blipFill>
          <p:spPr>
            <a:xfrm rot="10800000">
              <a:off x="6871320" y="4190999"/>
              <a:ext cx="1514475" cy="733425"/>
            </a:xfrm>
            <a:prstGeom prst="rect">
              <a:avLst/>
            </a:prstGeom>
            <a:ln>
              <a:noFill/>
            </a:ln>
          </p:spPr>
        </p:pic>
        <p:grpSp>
          <p:nvGrpSpPr>
            <p:cNvPr id="45" name="Group 44"/>
            <p:cNvGrpSpPr/>
            <p:nvPr/>
          </p:nvGrpSpPr>
          <p:grpSpPr>
            <a:xfrm rot="10800000">
              <a:off x="6896099" y="4972049"/>
              <a:ext cx="2247901" cy="1514475"/>
              <a:chOff x="0" y="3587580"/>
              <a:chExt cx="2247901" cy="1514475"/>
            </a:xfrm>
          </p:grpSpPr>
          <p:pic>
            <p:nvPicPr>
              <p:cNvPr id="46" name="Picture 45"/>
              <p:cNvPicPr>
                <a:picLocks noChangeAspect="1"/>
              </p:cNvPicPr>
              <p:nvPr/>
            </p:nvPicPr>
            <p:blipFill>
              <a:blip r:embed="rId2"/>
              <a:stretch>
                <a:fillRect/>
              </a:stretch>
            </p:blipFill>
            <p:spPr>
              <a:xfrm>
                <a:off x="1" y="3587580"/>
                <a:ext cx="1514475" cy="733425"/>
              </a:xfrm>
              <a:prstGeom prst="rect">
                <a:avLst/>
              </a:prstGeom>
              <a:ln>
                <a:noFill/>
              </a:ln>
            </p:spPr>
          </p:pic>
          <p:pic>
            <p:nvPicPr>
              <p:cNvPr id="47" name="Picture 46"/>
              <p:cNvPicPr>
                <a:picLocks noChangeAspect="1"/>
              </p:cNvPicPr>
              <p:nvPr/>
            </p:nvPicPr>
            <p:blipFill>
              <a:blip r:embed="rId2"/>
              <a:stretch>
                <a:fillRect/>
              </a:stretch>
            </p:blipFill>
            <p:spPr>
              <a:xfrm rot="5400000">
                <a:off x="1123951" y="3978105"/>
                <a:ext cx="1514475" cy="733425"/>
              </a:xfrm>
              <a:prstGeom prst="rect">
                <a:avLst/>
              </a:prstGeom>
              <a:ln>
                <a:noFill/>
              </a:ln>
            </p:spPr>
          </p:pic>
          <p:pic>
            <p:nvPicPr>
              <p:cNvPr id="48" name="Picture 47"/>
              <p:cNvPicPr>
                <a:picLocks noChangeAspect="1"/>
              </p:cNvPicPr>
              <p:nvPr/>
            </p:nvPicPr>
            <p:blipFill>
              <a:blip r:embed="rId2"/>
              <a:stretch>
                <a:fillRect/>
              </a:stretch>
            </p:blipFill>
            <p:spPr>
              <a:xfrm rot="10800000">
                <a:off x="0" y="4344817"/>
                <a:ext cx="1514475" cy="733425"/>
              </a:xfrm>
              <a:prstGeom prst="rect">
                <a:avLst/>
              </a:prstGeom>
              <a:ln>
                <a:noFill/>
              </a:ln>
            </p:spPr>
          </p:pic>
        </p:grpSp>
        <p:pic>
          <p:nvPicPr>
            <p:cNvPr id="49" name="Picture 48"/>
            <p:cNvPicPr>
              <a:picLocks noChangeAspect="1"/>
            </p:cNvPicPr>
            <p:nvPr/>
          </p:nvPicPr>
          <p:blipFill>
            <a:blip r:embed="rId2"/>
            <a:stretch>
              <a:fillRect/>
            </a:stretch>
          </p:blipFill>
          <p:spPr>
            <a:xfrm>
              <a:off x="2234672" y="404813"/>
              <a:ext cx="1514475" cy="733425"/>
            </a:xfrm>
            <a:prstGeom prst="rect">
              <a:avLst/>
            </a:prstGeom>
            <a:ln>
              <a:noFill/>
            </a:ln>
          </p:spPr>
        </p:pic>
        <p:pic>
          <p:nvPicPr>
            <p:cNvPr id="50" name="Picture 49"/>
            <p:cNvPicPr>
              <a:picLocks noChangeAspect="1"/>
            </p:cNvPicPr>
            <p:nvPr/>
          </p:nvPicPr>
          <p:blipFill>
            <a:blip r:embed="rId2"/>
            <a:stretch>
              <a:fillRect/>
            </a:stretch>
          </p:blipFill>
          <p:spPr>
            <a:xfrm>
              <a:off x="3778559" y="381000"/>
              <a:ext cx="1514475" cy="733425"/>
            </a:xfrm>
            <a:prstGeom prst="rect">
              <a:avLst/>
            </a:prstGeom>
            <a:ln>
              <a:noFill/>
            </a:ln>
          </p:spPr>
        </p:pic>
        <p:pic>
          <p:nvPicPr>
            <p:cNvPr id="51" name="Picture 50"/>
            <p:cNvPicPr>
              <a:picLocks noChangeAspect="1"/>
            </p:cNvPicPr>
            <p:nvPr/>
          </p:nvPicPr>
          <p:blipFill>
            <a:blip r:embed="rId2"/>
            <a:stretch>
              <a:fillRect/>
            </a:stretch>
          </p:blipFill>
          <p:spPr>
            <a:xfrm>
              <a:off x="5308941" y="381000"/>
              <a:ext cx="1514475" cy="733425"/>
            </a:xfrm>
            <a:prstGeom prst="rect">
              <a:avLst/>
            </a:prstGeom>
            <a:ln>
              <a:noFill/>
            </a:ln>
          </p:spPr>
        </p:pic>
        <p:pic>
          <p:nvPicPr>
            <p:cNvPr id="52" name="Picture 51"/>
            <p:cNvPicPr>
              <a:picLocks noChangeAspect="1"/>
            </p:cNvPicPr>
            <p:nvPr/>
          </p:nvPicPr>
          <p:blipFill>
            <a:blip r:embed="rId2"/>
            <a:stretch>
              <a:fillRect/>
            </a:stretch>
          </p:blipFill>
          <p:spPr>
            <a:xfrm>
              <a:off x="2264084" y="5713652"/>
              <a:ext cx="1514475" cy="733425"/>
            </a:xfrm>
            <a:prstGeom prst="rect">
              <a:avLst/>
            </a:prstGeom>
            <a:ln>
              <a:noFill/>
            </a:ln>
          </p:spPr>
        </p:pic>
        <p:pic>
          <p:nvPicPr>
            <p:cNvPr id="53" name="Picture 52"/>
            <p:cNvPicPr>
              <a:picLocks noChangeAspect="1"/>
            </p:cNvPicPr>
            <p:nvPr/>
          </p:nvPicPr>
          <p:blipFill>
            <a:blip r:embed="rId2"/>
            <a:stretch>
              <a:fillRect/>
            </a:stretch>
          </p:blipFill>
          <p:spPr>
            <a:xfrm>
              <a:off x="3814804" y="5713651"/>
              <a:ext cx="1514475" cy="733425"/>
            </a:xfrm>
            <a:prstGeom prst="rect">
              <a:avLst/>
            </a:prstGeom>
            <a:ln>
              <a:noFill/>
            </a:ln>
          </p:spPr>
        </p:pic>
        <p:pic>
          <p:nvPicPr>
            <p:cNvPr id="55" name="Picture 54"/>
            <p:cNvPicPr>
              <a:picLocks noChangeAspect="1"/>
            </p:cNvPicPr>
            <p:nvPr/>
          </p:nvPicPr>
          <p:blipFill>
            <a:blip r:embed="rId2"/>
            <a:stretch>
              <a:fillRect/>
            </a:stretch>
          </p:blipFill>
          <p:spPr>
            <a:xfrm>
              <a:off x="5316490" y="5729286"/>
              <a:ext cx="1514475" cy="733425"/>
            </a:xfrm>
            <a:prstGeom prst="rect">
              <a:avLst/>
            </a:prstGeom>
            <a:ln>
              <a:noFill/>
            </a:ln>
          </p:spPr>
        </p:pic>
      </p:grpSp>
      <p:pic>
        <p:nvPicPr>
          <p:cNvPr id="3" name="Picture 2"/>
          <p:cNvPicPr>
            <a:picLocks noChangeAspect="1"/>
          </p:cNvPicPr>
          <p:nvPr/>
        </p:nvPicPr>
        <p:blipFill>
          <a:blip r:embed="rId3"/>
          <a:stretch>
            <a:fillRect/>
          </a:stretch>
        </p:blipFill>
        <p:spPr>
          <a:xfrm>
            <a:off x="384699" y="425008"/>
            <a:ext cx="7391373" cy="5351751"/>
          </a:xfrm>
          <a:prstGeom prst="rect">
            <a:avLst/>
          </a:prstGeom>
        </p:spPr>
      </p:pic>
      <p:sp>
        <p:nvSpPr>
          <p:cNvPr id="57" name="Rectangle 56"/>
          <p:cNvSpPr/>
          <p:nvPr/>
        </p:nvSpPr>
        <p:spPr>
          <a:xfrm>
            <a:off x="395288" y="331788"/>
            <a:ext cx="1338828" cy="461665"/>
          </a:xfrm>
          <a:prstGeom prst="rect">
            <a:avLst/>
          </a:prstGeom>
        </p:spPr>
        <p:txBody>
          <a:bodyPr wrap="none">
            <a:spAutoFit/>
          </a:bodyPr>
          <a:lstStyle/>
          <a:p>
            <a:pPr lvl="0"/>
            <a:r>
              <a:rPr lang="en-GB" sz="2400" b="1" dirty="0">
                <a:solidFill>
                  <a:srgbClr val="000000"/>
                </a:solidFill>
              </a:rPr>
              <a:t>The Eye</a:t>
            </a:r>
          </a:p>
        </p:txBody>
      </p:sp>
    </p:spTree>
    <p:extLst>
      <p:ext uri="{BB962C8B-B14F-4D97-AF65-F5344CB8AC3E}">
        <p14:creationId xmlns:p14="http://schemas.microsoft.com/office/powerpoint/2010/main" val="294507059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431800" y="3158066"/>
            <a:ext cx="4775905" cy="3338159"/>
          </a:xfrm>
          <a:prstGeom prst="rect">
            <a:avLst/>
          </a:prstGeom>
        </p:spPr>
      </p:pic>
      <p:sp>
        <p:nvSpPr>
          <p:cNvPr id="8" name="Rectangle 3"/>
          <p:cNvSpPr>
            <a:spLocks noChangeArrowheads="1"/>
          </p:cNvSpPr>
          <p:nvPr/>
        </p:nvSpPr>
        <p:spPr bwMode="auto">
          <a:xfrm>
            <a:off x="431800" y="333375"/>
            <a:ext cx="2295821" cy="738664"/>
          </a:xfrm>
          <a:prstGeom prst="rect">
            <a:avLst/>
          </a:prstGeom>
          <a:noFill/>
          <a:ln w="9525">
            <a:noFill/>
            <a:miter lim="800000"/>
            <a:headEnd/>
            <a:tailEnd/>
          </a:ln>
        </p:spPr>
        <p:txBody>
          <a:bodyPr wrap="none">
            <a:spAutoFit/>
          </a:bodyPr>
          <a:lstStyle/>
          <a:p>
            <a:r>
              <a:rPr lang="en-GB" sz="2400" b="1"/>
              <a:t>Receptors</a:t>
            </a:r>
          </a:p>
          <a:p>
            <a:r>
              <a:rPr lang="en-GB"/>
              <a:t>… Rods and Cones</a:t>
            </a:r>
          </a:p>
        </p:txBody>
      </p:sp>
      <p:pic>
        <p:nvPicPr>
          <p:cNvPr id="28676" name="Picture 4" descr="Image resul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06406" y="333375"/>
            <a:ext cx="4286250" cy="35433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0" y="2502494"/>
            <a:ext cx="2620964" cy="507831"/>
          </a:xfrm>
          <a:prstGeom prst="rect">
            <a:avLst/>
          </a:prstGeom>
          <a:solidFill>
            <a:srgbClr val="CCCCFF"/>
          </a:solidFill>
        </p:spPr>
        <p:txBody>
          <a:bodyPr wrap="square">
            <a:spAutoFit/>
          </a:bodyPr>
          <a:lstStyle/>
          <a:p>
            <a:r>
              <a:rPr lang="en-GB" sz="900"/>
              <a:t>http://www.cellsignallingbiology.org/csb/010/csb010fig10_rod_and_cone_structure.htm</a:t>
            </a:r>
          </a:p>
        </p:txBody>
      </p:sp>
    </p:spTree>
    <p:extLst>
      <p:ext uri="{BB962C8B-B14F-4D97-AF65-F5344CB8AC3E}">
        <p14:creationId xmlns:p14="http://schemas.microsoft.com/office/powerpoint/2010/main" val="171376032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381000" y="333375"/>
            <a:ext cx="6268063" cy="461665"/>
          </a:xfrm>
          <a:prstGeom prst="rect">
            <a:avLst/>
          </a:prstGeom>
          <a:noFill/>
          <a:ln w="9525">
            <a:noFill/>
            <a:miter lim="800000"/>
            <a:headEnd/>
            <a:tailEnd/>
          </a:ln>
        </p:spPr>
        <p:txBody>
          <a:bodyPr wrap="none">
            <a:spAutoFit/>
          </a:bodyPr>
          <a:lstStyle/>
          <a:p>
            <a:r>
              <a:rPr lang="en-GB" sz="2400" b="1" dirty="0" err="1"/>
              <a:t>Psychovisual</a:t>
            </a:r>
            <a:r>
              <a:rPr lang="en-GB" sz="2400" b="1" dirty="0"/>
              <a:t> – how we perceive images</a:t>
            </a:r>
          </a:p>
        </p:txBody>
      </p:sp>
      <p:sp>
        <p:nvSpPr>
          <p:cNvPr id="13" name="Oval 17"/>
          <p:cNvSpPr>
            <a:spLocks noChangeArrowheads="1"/>
          </p:cNvSpPr>
          <p:nvPr/>
        </p:nvSpPr>
        <p:spPr bwMode="auto">
          <a:xfrm>
            <a:off x="6353745" y="1007534"/>
            <a:ext cx="1714988" cy="1507067"/>
          </a:xfrm>
          <a:prstGeom prst="ellipse">
            <a:avLst/>
          </a:prstGeom>
          <a:gradFill rotWithShape="1">
            <a:gsLst>
              <a:gs pos="0">
                <a:schemeClr val="tx1"/>
              </a:gs>
              <a:gs pos="100000">
                <a:srgbClr val="FFFFFF"/>
              </a:gs>
            </a:gsLst>
            <a:lin ang="0" scaled="1"/>
          </a:gradFill>
          <a:ln w="9525" algn="ctr">
            <a:solidFill>
              <a:schemeClr val="tx1"/>
            </a:solidFill>
            <a:round/>
            <a:headEnd/>
            <a:tailEnd/>
          </a:ln>
        </p:spPr>
        <p:txBody>
          <a:bodyPr wrap="square" anchor="ctr">
            <a:noAutofit/>
          </a:bodyPr>
          <a:lstStyle/>
          <a:p>
            <a:endParaRPr lang="en-US"/>
          </a:p>
        </p:txBody>
      </p:sp>
      <p:pic>
        <p:nvPicPr>
          <p:cNvPr id="14" name="Picture 16"/>
          <p:cNvPicPr>
            <a:picLocks noChangeAspect="1" noChangeArrowheads="1"/>
          </p:cNvPicPr>
          <p:nvPr/>
        </p:nvPicPr>
        <p:blipFill>
          <a:blip r:embed="rId2" cstate="print"/>
          <a:srcRect/>
          <a:stretch>
            <a:fillRect/>
          </a:stretch>
        </p:blipFill>
        <p:spPr bwMode="auto">
          <a:xfrm>
            <a:off x="5700137" y="2548467"/>
            <a:ext cx="2935334" cy="1875228"/>
          </a:xfrm>
          <a:prstGeom prst="rect">
            <a:avLst/>
          </a:prstGeom>
          <a:noFill/>
          <a:ln w="9525" algn="ctr">
            <a:noFill/>
            <a:miter lim="800000"/>
            <a:headEnd/>
            <a:tailEnd/>
          </a:ln>
        </p:spPr>
      </p:pic>
      <p:sp>
        <p:nvSpPr>
          <p:cNvPr id="15" name="Rectangle 2"/>
          <p:cNvSpPr>
            <a:spLocks noChangeArrowheads="1"/>
          </p:cNvSpPr>
          <p:nvPr/>
        </p:nvSpPr>
        <p:spPr bwMode="auto">
          <a:xfrm>
            <a:off x="381000" y="880400"/>
            <a:ext cx="5141288" cy="2636106"/>
          </a:xfrm>
          <a:prstGeom prst="rect">
            <a:avLst/>
          </a:prstGeom>
          <a:noFill/>
          <a:ln w="9525" algn="ctr">
            <a:noFill/>
            <a:miter lim="800000"/>
            <a:headEnd/>
            <a:tailEnd/>
          </a:ln>
        </p:spPr>
        <p:txBody>
          <a:bodyPr wrap="square">
            <a:spAutoFit/>
          </a:bodyPr>
          <a:lstStyle/>
          <a:p>
            <a:pPr marL="174625" indent="-174625">
              <a:lnSpc>
                <a:spcPct val="130000"/>
              </a:lnSpc>
            </a:pPr>
            <a:r>
              <a:rPr lang="en-GB" b="1" dirty="0"/>
              <a:t>Light sensitivity in the eye</a:t>
            </a:r>
          </a:p>
          <a:p>
            <a:pPr marL="174625" indent="-174625">
              <a:lnSpc>
                <a:spcPct val="130000"/>
              </a:lnSpc>
            </a:pPr>
            <a:endParaRPr lang="en-GB" sz="900" b="1" dirty="0"/>
          </a:p>
          <a:p>
            <a:pPr marL="174625" indent="-174625">
              <a:lnSpc>
                <a:spcPct val="130000"/>
              </a:lnSpc>
            </a:pPr>
            <a:r>
              <a:rPr lang="en-GB" b="1" dirty="0"/>
              <a:t>Rods - </a:t>
            </a:r>
            <a:r>
              <a:rPr lang="en-GB" dirty="0"/>
              <a:t>light intensity - not colour</a:t>
            </a:r>
          </a:p>
          <a:p>
            <a:pPr marL="174625" indent="-174625">
              <a:lnSpc>
                <a:spcPct val="130000"/>
              </a:lnSpc>
              <a:buFontTx/>
              <a:buChar char="•"/>
            </a:pPr>
            <a:r>
              <a:rPr lang="en-GB" dirty="0"/>
              <a:t>~125 million across the retina</a:t>
            </a:r>
          </a:p>
          <a:p>
            <a:pPr marL="174625" indent="-174625">
              <a:lnSpc>
                <a:spcPct val="130000"/>
              </a:lnSpc>
              <a:buFontTx/>
              <a:buChar char="•"/>
            </a:pPr>
            <a:r>
              <a:rPr lang="en-GB" dirty="0"/>
              <a:t>characteristics of high speed black &amp; white film</a:t>
            </a:r>
          </a:p>
          <a:p>
            <a:pPr marL="174625" indent="-174625"/>
            <a:endParaRPr lang="en-GB" b="1" dirty="0"/>
          </a:p>
          <a:p>
            <a:pPr marL="174625" indent="-174625"/>
            <a:r>
              <a:rPr lang="en-GB" b="1" dirty="0"/>
              <a:t>Cones - </a:t>
            </a:r>
            <a:r>
              <a:rPr lang="en-GB" dirty="0"/>
              <a:t>colour - responsive in three wavebands</a:t>
            </a:r>
          </a:p>
          <a:p>
            <a:pPr marL="174625" indent="-174625">
              <a:lnSpc>
                <a:spcPct val="120000"/>
              </a:lnSpc>
              <a:buFontTx/>
              <a:buChar char="•"/>
            </a:pPr>
            <a:r>
              <a:rPr lang="en-GB" dirty="0"/>
              <a:t>6 or 7 million cones</a:t>
            </a:r>
          </a:p>
          <a:p>
            <a:pPr marL="174625" indent="-174625">
              <a:lnSpc>
                <a:spcPct val="120000"/>
              </a:lnSpc>
              <a:buFontTx/>
              <a:buChar char="•"/>
            </a:pPr>
            <a:r>
              <a:rPr lang="en-GB" dirty="0"/>
              <a:t>characteristics of low-speed colour film</a:t>
            </a:r>
            <a:endParaRPr lang="en-GB" sz="1800" dirty="0"/>
          </a:p>
        </p:txBody>
      </p:sp>
      <p:grpSp>
        <p:nvGrpSpPr>
          <p:cNvPr id="32" name="Group 31"/>
          <p:cNvGrpSpPr/>
          <p:nvPr/>
        </p:nvGrpSpPr>
        <p:grpSpPr>
          <a:xfrm>
            <a:off x="381000" y="4099511"/>
            <a:ext cx="4354781" cy="2268664"/>
            <a:chOff x="1295896" y="2694043"/>
            <a:chExt cx="4354781" cy="2268664"/>
          </a:xfrm>
        </p:grpSpPr>
        <p:grpSp>
          <p:nvGrpSpPr>
            <p:cNvPr id="3" name="Group 3"/>
            <p:cNvGrpSpPr>
              <a:grpSpLocks/>
            </p:cNvGrpSpPr>
            <p:nvPr/>
          </p:nvGrpSpPr>
          <p:grpSpPr bwMode="auto">
            <a:xfrm>
              <a:off x="1295896" y="2694043"/>
              <a:ext cx="2859215" cy="2268664"/>
              <a:chOff x="1310" y="787"/>
              <a:chExt cx="3854" cy="3121"/>
            </a:xfrm>
          </p:grpSpPr>
          <p:pic>
            <p:nvPicPr>
              <p:cNvPr id="4" name="Picture 4"/>
              <p:cNvPicPr>
                <a:picLocks noChangeAspect="1" noChangeArrowheads="1"/>
              </p:cNvPicPr>
              <p:nvPr/>
            </p:nvPicPr>
            <p:blipFill>
              <a:blip r:embed="rId3" cstate="print"/>
              <a:srcRect/>
              <a:stretch>
                <a:fillRect/>
              </a:stretch>
            </p:blipFill>
            <p:spPr bwMode="auto">
              <a:xfrm>
                <a:off x="1352" y="787"/>
                <a:ext cx="3736" cy="3121"/>
              </a:xfrm>
              <a:prstGeom prst="rect">
                <a:avLst/>
              </a:prstGeom>
              <a:noFill/>
              <a:ln w="9525">
                <a:noFill/>
                <a:miter lim="800000"/>
                <a:headEnd/>
                <a:tailEnd/>
              </a:ln>
            </p:spPr>
          </p:pic>
          <p:sp>
            <p:nvSpPr>
              <p:cNvPr id="5" name="Rectangle 5"/>
              <p:cNvSpPr>
                <a:spLocks noChangeArrowheads="1"/>
              </p:cNvSpPr>
              <p:nvPr/>
            </p:nvSpPr>
            <p:spPr bwMode="auto">
              <a:xfrm>
                <a:off x="1324" y="1824"/>
                <a:ext cx="439" cy="185"/>
              </a:xfrm>
              <a:prstGeom prst="rect">
                <a:avLst/>
              </a:prstGeom>
              <a:noFill/>
              <a:ln w="19050" algn="ctr">
                <a:solidFill>
                  <a:srgbClr val="FF0000"/>
                </a:solidFill>
                <a:miter lim="800000"/>
                <a:headEnd/>
                <a:tailEnd/>
              </a:ln>
            </p:spPr>
            <p:txBody>
              <a:bodyPr wrap="none" anchor="ctr"/>
              <a:lstStyle/>
              <a:p>
                <a:endParaRPr lang="en-US"/>
              </a:p>
            </p:txBody>
          </p:sp>
          <p:sp>
            <p:nvSpPr>
              <p:cNvPr id="6" name="Rectangle 6"/>
              <p:cNvSpPr>
                <a:spLocks noChangeArrowheads="1"/>
              </p:cNvSpPr>
              <p:nvPr/>
            </p:nvSpPr>
            <p:spPr bwMode="auto">
              <a:xfrm>
                <a:off x="1310" y="2057"/>
                <a:ext cx="336" cy="185"/>
              </a:xfrm>
              <a:prstGeom prst="rect">
                <a:avLst/>
              </a:prstGeom>
              <a:noFill/>
              <a:ln w="19050" algn="ctr">
                <a:solidFill>
                  <a:srgbClr val="FF0000"/>
                </a:solidFill>
                <a:miter lim="800000"/>
                <a:headEnd/>
                <a:tailEnd/>
              </a:ln>
            </p:spPr>
            <p:txBody>
              <a:bodyPr wrap="none" anchor="ctr"/>
              <a:lstStyle/>
              <a:p>
                <a:endParaRPr lang="en-US"/>
              </a:p>
            </p:txBody>
          </p:sp>
          <p:sp>
            <p:nvSpPr>
              <p:cNvPr id="7" name="Rectangle 7"/>
              <p:cNvSpPr>
                <a:spLocks noChangeArrowheads="1"/>
              </p:cNvSpPr>
              <p:nvPr/>
            </p:nvSpPr>
            <p:spPr bwMode="auto">
              <a:xfrm>
                <a:off x="1317" y="2393"/>
                <a:ext cx="336" cy="185"/>
              </a:xfrm>
              <a:prstGeom prst="rect">
                <a:avLst/>
              </a:prstGeom>
              <a:noFill/>
              <a:ln w="19050" algn="ctr">
                <a:solidFill>
                  <a:srgbClr val="FF0000"/>
                </a:solidFill>
                <a:miter lim="800000"/>
                <a:headEnd/>
                <a:tailEnd/>
              </a:ln>
            </p:spPr>
            <p:txBody>
              <a:bodyPr wrap="none" anchor="ctr"/>
              <a:lstStyle/>
              <a:p>
                <a:endParaRPr lang="en-US"/>
              </a:p>
            </p:txBody>
          </p:sp>
          <p:sp>
            <p:nvSpPr>
              <p:cNvPr id="8" name="Rectangle 8"/>
              <p:cNvSpPr>
                <a:spLocks noChangeArrowheads="1"/>
              </p:cNvSpPr>
              <p:nvPr/>
            </p:nvSpPr>
            <p:spPr bwMode="auto">
              <a:xfrm>
                <a:off x="1317" y="2646"/>
                <a:ext cx="199" cy="185"/>
              </a:xfrm>
              <a:prstGeom prst="rect">
                <a:avLst/>
              </a:prstGeom>
              <a:noFill/>
              <a:ln w="19050" algn="ctr">
                <a:solidFill>
                  <a:srgbClr val="FF0000"/>
                </a:solidFill>
                <a:miter lim="800000"/>
                <a:headEnd/>
                <a:tailEnd/>
              </a:ln>
            </p:spPr>
            <p:txBody>
              <a:bodyPr wrap="none" anchor="ctr"/>
              <a:lstStyle/>
              <a:p>
                <a:endParaRPr lang="en-US"/>
              </a:p>
            </p:txBody>
          </p:sp>
          <p:sp>
            <p:nvSpPr>
              <p:cNvPr id="9" name="Rectangle 9"/>
              <p:cNvSpPr>
                <a:spLocks noChangeArrowheads="1"/>
              </p:cNvSpPr>
              <p:nvPr/>
            </p:nvSpPr>
            <p:spPr bwMode="auto">
              <a:xfrm>
                <a:off x="4718" y="3263"/>
                <a:ext cx="405" cy="281"/>
              </a:xfrm>
              <a:prstGeom prst="rect">
                <a:avLst/>
              </a:prstGeom>
              <a:noFill/>
              <a:ln w="19050" algn="ctr">
                <a:solidFill>
                  <a:srgbClr val="FF0000"/>
                </a:solidFill>
                <a:miter lim="800000"/>
                <a:headEnd/>
                <a:tailEnd/>
              </a:ln>
            </p:spPr>
            <p:txBody>
              <a:bodyPr wrap="none" anchor="ctr"/>
              <a:lstStyle/>
              <a:p>
                <a:endParaRPr lang="en-US"/>
              </a:p>
            </p:txBody>
          </p:sp>
          <p:sp>
            <p:nvSpPr>
              <p:cNvPr id="10" name="Rectangle 10"/>
              <p:cNvSpPr>
                <a:spLocks noChangeArrowheads="1"/>
              </p:cNvSpPr>
              <p:nvPr/>
            </p:nvSpPr>
            <p:spPr bwMode="auto">
              <a:xfrm>
                <a:off x="3510" y="1981"/>
                <a:ext cx="405" cy="199"/>
              </a:xfrm>
              <a:prstGeom prst="rect">
                <a:avLst/>
              </a:prstGeom>
              <a:noFill/>
              <a:ln w="19050" algn="ctr">
                <a:solidFill>
                  <a:srgbClr val="FF0000"/>
                </a:solidFill>
                <a:miter lim="800000"/>
                <a:headEnd/>
                <a:tailEnd/>
              </a:ln>
            </p:spPr>
            <p:txBody>
              <a:bodyPr wrap="none" anchor="ctr"/>
              <a:lstStyle/>
              <a:p>
                <a:endParaRPr lang="en-US"/>
              </a:p>
            </p:txBody>
          </p:sp>
          <p:sp>
            <p:nvSpPr>
              <p:cNvPr id="11" name="Rectangle 11"/>
              <p:cNvSpPr>
                <a:spLocks noChangeArrowheads="1"/>
              </p:cNvSpPr>
              <p:nvPr/>
            </p:nvSpPr>
            <p:spPr bwMode="auto">
              <a:xfrm>
                <a:off x="4690" y="1446"/>
                <a:ext cx="474" cy="199"/>
              </a:xfrm>
              <a:prstGeom prst="rect">
                <a:avLst/>
              </a:prstGeom>
              <a:noFill/>
              <a:ln w="19050" algn="ctr">
                <a:solidFill>
                  <a:srgbClr val="FF0000"/>
                </a:solidFill>
                <a:miter lim="800000"/>
                <a:headEnd/>
                <a:tailEnd/>
              </a:ln>
            </p:spPr>
            <p:txBody>
              <a:bodyPr wrap="none" anchor="ctr"/>
              <a:lstStyle/>
              <a:p>
                <a:endParaRPr lang="en-US"/>
              </a:p>
            </p:txBody>
          </p:sp>
          <p:sp>
            <p:nvSpPr>
              <p:cNvPr id="12" name="Rectangle 12"/>
              <p:cNvSpPr>
                <a:spLocks noChangeArrowheads="1"/>
              </p:cNvSpPr>
              <p:nvPr/>
            </p:nvSpPr>
            <p:spPr bwMode="auto">
              <a:xfrm>
                <a:off x="4635" y="1830"/>
                <a:ext cx="474" cy="199"/>
              </a:xfrm>
              <a:prstGeom prst="rect">
                <a:avLst/>
              </a:prstGeom>
              <a:noFill/>
              <a:ln w="19050" algn="ctr">
                <a:solidFill>
                  <a:srgbClr val="FF0000"/>
                </a:solidFill>
                <a:miter lim="800000"/>
                <a:headEnd/>
                <a:tailEnd/>
              </a:ln>
            </p:spPr>
            <p:txBody>
              <a:bodyPr wrap="none" anchor="ctr"/>
              <a:lstStyle/>
              <a:p>
                <a:endParaRPr lang="en-US"/>
              </a:p>
            </p:txBody>
          </p:sp>
        </p:grpSp>
        <p:sp>
          <p:nvSpPr>
            <p:cNvPr id="17" name="Freeform 16"/>
            <p:cNvSpPr/>
            <p:nvPr/>
          </p:nvSpPr>
          <p:spPr bwMode="auto">
            <a:xfrm>
              <a:off x="2889504" y="3008376"/>
              <a:ext cx="690587" cy="1700784"/>
            </a:xfrm>
            <a:custGeom>
              <a:avLst/>
              <a:gdLst>
                <a:gd name="connsiteX0" fmla="*/ 0 w 690587"/>
                <a:gd name="connsiteY0" fmla="*/ 0 h 1700784"/>
                <a:gd name="connsiteX1" fmla="*/ 246888 w 690587"/>
                <a:gd name="connsiteY1" fmla="*/ 100584 h 1700784"/>
                <a:gd name="connsiteX2" fmla="*/ 448056 w 690587"/>
                <a:gd name="connsiteY2" fmla="*/ 292608 h 1700784"/>
                <a:gd name="connsiteX3" fmla="*/ 603504 w 690587"/>
                <a:gd name="connsiteY3" fmla="*/ 521208 h 1700784"/>
                <a:gd name="connsiteX4" fmla="*/ 685800 w 690587"/>
                <a:gd name="connsiteY4" fmla="*/ 886968 h 1700784"/>
                <a:gd name="connsiteX5" fmla="*/ 667512 w 690587"/>
                <a:gd name="connsiteY5" fmla="*/ 1051560 h 1700784"/>
                <a:gd name="connsiteX6" fmla="*/ 557784 w 690587"/>
                <a:gd name="connsiteY6" fmla="*/ 1280160 h 1700784"/>
                <a:gd name="connsiteX7" fmla="*/ 466344 w 690587"/>
                <a:gd name="connsiteY7" fmla="*/ 1417320 h 1700784"/>
                <a:gd name="connsiteX8" fmla="*/ 310896 w 690587"/>
                <a:gd name="connsiteY8" fmla="*/ 1545336 h 1700784"/>
                <a:gd name="connsiteX9" fmla="*/ 182880 w 690587"/>
                <a:gd name="connsiteY9" fmla="*/ 1655064 h 1700784"/>
                <a:gd name="connsiteX10" fmla="*/ 36576 w 690587"/>
                <a:gd name="connsiteY10" fmla="*/ 1700784 h 1700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0587" h="1700784">
                  <a:moveTo>
                    <a:pt x="0" y="0"/>
                  </a:moveTo>
                  <a:cubicBezTo>
                    <a:pt x="86106" y="25908"/>
                    <a:pt x="172212" y="51816"/>
                    <a:pt x="246888" y="100584"/>
                  </a:cubicBezTo>
                  <a:cubicBezTo>
                    <a:pt x="321564" y="149352"/>
                    <a:pt x="388620" y="222504"/>
                    <a:pt x="448056" y="292608"/>
                  </a:cubicBezTo>
                  <a:cubicBezTo>
                    <a:pt x="507492" y="362712"/>
                    <a:pt x="563880" y="422148"/>
                    <a:pt x="603504" y="521208"/>
                  </a:cubicBezTo>
                  <a:cubicBezTo>
                    <a:pt x="643128" y="620268"/>
                    <a:pt x="675132" y="798576"/>
                    <a:pt x="685800" y="886968"/>
                  </a:cubicBezTo>
                  <a:cubicBezTo>
                    <a:pt x="696468" y="975360"/>
                    <a:pt x="688848" y="986028"/>
                    <a:pt x="667512" y="1051560"/>
                  </a:cubicBezTo>
                  <a:cubicBezTo>
                    <a:pt x="646176" y="1117092"/>
                    <a:pt x="591312" y="1219200"/>
                    <a:pt x="557784" y="1280160"/>
                  </a:cubicBezTo>
                  <a:cubicBezTo>
                    <a:pt x="524256" y="1341120"/>
                    <a:pt x="507492" y="1373124"/>
                    <a:pt x="466344" y="1417320"/>
                  </a:cubicBezTo>
                  <a:cubicBezTo>
                    <a:pt x="425196" y="1461516"/>
                    <a:pt x="358140" y="1505712"/>
                    <a:pt x="310896" y="1545336"/>
                  </a:cubicBezTo>
                  <a:cubicBezTo>
                    <a:pt x="263652" y="1584960"/>
                    <a:pt x="228600" y="1629156"/>
                    <a:pt x="182880" y="1655064"/>
                  </a:cubicBezTo>
                  <a:cubicBezTo>
                    <a:pt x="137160" y="1680972"/>
                    <a:pt x="86868" y="1690878"/>
                    <a:pt x="36576" y="1700784"/>
                  </a:cubicBezTo>
                </a:path>
              </a:pathLst>
            </a:custGeom>
            <a:noFill/>
            <a:ln w="76200" cap="flat" cmpd="sng" algn="ctr">
              <a:solidFill>
                <a:srgbClr val="FF0000"/>
              </a:solidFill>
              <a:prstDash val="sysDash"/>
              <a:round/>
              <a:headEnd type="none" w="med" len="med"/>
              <a:tailEnd type="none" w="med" len="med"/>
            </a:ln>
            <a:effectLst/>
          </p:spPr>
          <p:txBody>
            <a:bodyPr rtlCol="0" anchor="ctr"/>
            <a:lstStyle/>
            <a:p>
              <a:pPr algn="ctr"/>
              <a:endParaRPr lang="en-GB"/>
            </a:p>
          </p:txBody>
        </p:sp>
        <p:sp>
          <p:nvSpPr>
            <p:cNvPr id="24" name="Rectangle 2"/>
            <p:cNvSpPr>
              <a:spLocks noChangeArrowheads="1"/>
            </p:cNvSpPr>
            <p:nvPr/>
          </p:nvSpPr>
          <p:spPr bwMode="auto">
            <a:xfrm>
              <a:off x="4419106" y="2731680"/>
              <a:ext cx="1231571" cy="646331"/>
            </a:xfrm>
            <a:prstGeom prst="rect">
              <a:avLst/>
            </a:prstGeom>
            <a:noFill/>
            <a:ln w="9525">
              <a:noFill/>
              <a:miter lim="800000"/>
              <a:headEnd/>
              <a:tailEnd/>
            </a:ln>
          </p:spPr>
          <p:txBody>
            <a:bodyPr wrap="square">
              <a:spAutoFit/>
            </a:bodyPr>
            <a:lstStyle/>
            <a:p>
              <a:r>
                <a:rPr lang="en-GB" sz="1200" b="1" dirty="0">
                  <a:solidFill>
                    <a:srgbClr val="FF0000"/>
                  </a:solidFill>
                </a:rPr>
                <a:t>RODS </a:t>
              </a:r>
              <a:r>
                <a:rPr lang="en-GB" sz="1200" b="1">
                  <a:solidFill>
                    <a:srgbClr val="FF0000"/>
                  </a:solidFill>
                </a:rPr>
                <a:t>and CONES</a:t>
              </a:r>
            </a:p>
            <a:p>
              <a:r>
                <a:rPr lang="en-GB" sz="1200" b="1">
                  <a:solidFill>
                    <a:srgbClr val="FF0000"/>
                  </a:solidFill>
                </a:rPr>
                <a:t>(retina)</a:t>
              </a:r>
              <a:endParaRPr lang="en-GB" sz="1200" b="1" dirty="0">
                <a:solidFill>
                  <a:srgbClr val="FF0000"/>
                </a:solidFill>
              </a:endParaRPr>
            </a:p>
          </p:txBody>
        </p:sp>
        <p:cxnSp>
          <p:nvCxnSpPr>
            <p:cNvPr id="19" name="Straight Arrow Connector 18"/>
            <p:cNvCxnSpPr>
              <a:stCxn id="24" idx="1"/>
            </p:cNvCxnSpPr>
            <p:nvPr/>
          </p:nvCxnSpPr>
          <p:spPr bwMode="auto">
            <a:xfrm flipH="1">
              <a:off x="3200400" y="3054846"/>
              <a:ext cx="1218706" cy="27021"/>
            </a:xfrm>
            <a:prstGeom prst="straightConnector1">
              <a:avLst/>
            </a:prstGeom>
            <a:noFill/>
            <a:ln w="19050" cap="flat" cmpd="sng" algn="ctr">
              <a:solidFill>
                <a:srgbClr val="FF0000"/>
              </a:solidFill>
              <a:prstDash val="solid"/>
              <a:round/>
              <a:headEnd type="none" w="med" len="med"/>
              <a:tailEnd type="arrow"/>
            </a:ln>
            <a:effectLst/>
          </p:spPr>
        </p:cxnSp>
        <p:cxnSp>
          <p:nvCxnSpPr>
            <p:cNvPr id="23" name="Straight Arrow Connector 22"/>
            <p:cNvCxnSpPr/>
            <p:nvPr/>
          </p:nvCxnSpPr>
          <p:spPr bwMode="auto">
            <a:xfrm flipH="1">
              <a:off x="3488268" y="3183467"/>
              <a:ext cx="922865" cy="254000"/>
            </a:xfrm>
            <a:prstGeom prst="straightConnector1">
              <a:avLst/>
            </a:prstGeom>
            <a:noFill/>
            <a:ln w="19050" cap="flat" cmpd="sng" algn="ctr">
              <a:solidFill>
                <a:srgbClr val="FF0000"/>
              </a:solidFill>
              <a:prstDash val="solid"/>
              <a:round/>
              <a:headEnd type="none" w="med" len="med"/>
              <a:tailEnd type="arrow"/>
            </a:ln>
            <a:effectLst/>
          </p:spPr>
        </p:cxnSp>
        <p:cxnSp>
          <p:nvCxnSpPr>
            <p:cNvPr id="26" name="Straight Arrow Connector 25"/>
            <p:cNvCxnSpPr/>
            <p:nvPr/>
          </p:nvCxnSpPr>
          <p:spPr bwMode="auto">
            <a:xfrm flipH="1">
              <a:off x="3556001" y="3225800"/>
              <a:ext cx="922866" cy="601133"/>
            </a:xfrm>
            <a:prstGeom prst="straightConnector1">
              <a:avLst/>
            </a:prstGeom>
            <a:noFill/>
            <a:ln w="19050" cap="flat" cmpd="sng" algn="ctr">
              <a:solidFill>
                <a:srgbClr val="FF0000"/>
              </a:solidFill>
              <a:prstDash val="solid"/>
              <a:round/>
              <a:headEnd type="none" w="med" len="med"/>
              <a:tailEnd type="arrow"/>
            </a:ln>
            <a:effectLst/>
          </p:spPr>
        </p:cxnSp>
        <p:cxnSp>
          <p:nvCxnSpPr>
            <p:cNvPr id="30" name="Straight Arrow Connector 29"/>
            <p:cNvCxnSpPr/>
            <p:nvPr/>
          </p:nvCxnSpPr>
          <p:spPr bwMode="auto">
            <a:xfrm flipH="1">
              <a:off x="3429001" y="3327400"/>
              <a:ext cx="1024466" cy="965200"/>
            </a:xfrm>
            <a:prstGeom prst="straightConnector1">
              <a:avLst/>
            </a:prstGeom>
            <a:noFill/>
            <a:ln w="19050" cap="flat" cmpd="sng" algn="ctr">
              <a:solidFill>
                <a:srgbClr val="FF0000"/>
              </a:solidFill>
              <a:prstDash val="solid"/>
              <a:round/>
              <a:headEnd type="none" w="med" len="med"/>
              <a:tailEnd type="arrow"/>
            </a:ln>
            <a:effectLst/>
          </p:spPr>
        </p:cxnSp>
      </p:grpSp>
      <p:grpSp>
        <p:nvGrpSpPr>
          <p:cNvPr id="36" name="Group 35"/>
          <p:cNvGrpSpPr/>
          <p:nvPr/>
        </p:nvGrpSpPr>
        <p:grpSpPr>
          <a:xfrm>
            <a:off x="5650298" y="5244860"/>
            <a:ext cx="2907106" cy="888521"/>
            <a:chOff x="5650298" y="5244860"/>
            <a:chExt cx="2907106" cy="888521"/>
          </a:xfrm>
        </p:grpSpPr>
        <p:sp>
          <p:nvSpPr>
            <p:cNvPr id="35" name="Right Arrow 34"/>
            <p:cNvSpPr/>
            <p:nvPr/>
          </p:nvSpPr>
          <p:spPr bwMode="auto">
            <a:xfrm>
              <a:off x="5650302" y="5244860"/>
              <a:ext cx="2907102" cy="888521"/>
            </a:xfrm>
            <a:prstGeom prst="rightArrow">
              <a:avLst>
                <a:gd name="adj1" fmla="val 50000"/>
                <a:gd name="adj2" fmla="val 94737"/>
              </a:avLst>
            </a:prstGeom>
            <a:solidFill>
              <a:srgbClr val="FF33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34" name="TextBox 33"/>
            <p:cNvSpPr txBox="1"/>
            <p:nvPr/>
          </p:nvSpPr>
          <p:spPr>
            <a:xfrm>
              <a:off x="5650298" y="5520905"/>
              <a:ext cx="2700068" cy="338554"/>
            </a:xfrm>
            <a:prstGeom prst="rect">
              <a:avLst/>
            </a:prstGeom>
            <a:noFill/>
          </p:spPr>
          <p:txBody>
            <a:bodyPr wrap="square" rtlCol="0">
              <a:spAutoFit/>
            </a:bodyPr>
            <a:lstStyle/>
            <a:p>
              <a:r>
                <a:rPr lang="en-GB" b="1">
                  <a:solidFill>
                    <a:schemeClr val="bg1"/>
                  </a:solidFill>
                </a:rPr>
                <a:t>... Chroma Sub-sampling</a:t>
              </a:r>
            </a:p>
          </p:txBody>
        </p:sp>
      </p:grpSp>
    </p:spTree>
    <p:extLst>
      <p:ext uri="{BB962C8B-B14F-4D97-AF65-F5344CB8AC3E}">
        <p14:creationId xmlns:p14="http://schemas.microsoft.com/office/powerpoint/2010/main" val="117390354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3"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20040" y="1209040"/>
            <a:ext cx="6423959" cy="386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367473" y="335441"/>
            <a:ext cx="4705134" cy="461665"/>
          </a:xfrm>
          <a:prstGeom prst="rect">
            <a:avLst/>
          </a:prstGeom>
          <a:noFill/>
        </p:spPr>
        <p:txBody>
          <a:bodyPr wrap="none" rtlCol="0">
            <a:spAutoFit/>
          </a:bodyPr>
          <a:lstStyle/>
          <a:p>
            <a:r>
              <a:rPr lang="en-GB" sz="2400" b="1" dirty="0"/>
              <a:t>Images Captured on a Camera</a:t>
            </a:r>
          </a:p>
        </p:txBody>
      </p:sp>
      <p:grpSp>
        <p:nvGrpSpPr>
          <p:cNvPr id="3" name="Group 100"/>
          <p:cNvGrpSpPr/>
          <p:nvPr/>
        </p:nvGrpSpPr>
        <p:grpSpPr>
          <a:xfrm>
            <a:off x="417004" y="1910396"/>
            <a:ext cx="3754946" cy="2518728"/>
            <a:chOff x="417004" y="1079507"/>
            <a:chExt cx="5616872" cy="3886765"/>
          </a:xfrm>
        </p:grpSpPr>
        <p:sp>
          <p:nvSpPr>
            <p:cNvPr id="102" name="Rectangle 101"/>
            <p:cNvSpPr/>
            <p:nvPr/>
          </p:nvSpPr>
          <p:spPr bwMode="auto">
            <a:xfrm>
              <a:off x="993316" y="1691575"/>
              <a:ext cx="709793" cy="709793"/>
            </a:xfrm>
            <a:prstGeom prst="rect">
              <a:avLst/>
            </a:prstGeom>
            <a:solidFill>
              <a:schemeClr val="bg2">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03" name="Rectangle 102"/>
            <p:cNvSpPr/>
            <p:nvPr/>
          </p:nvSpPr>
          <p:spPr bwMode="auto">
            <a:xfrm>
              <a:off x="1880557" y="1691575"/>
              <a:ext cx="709793" cy="709793"/>
            </a:xfrm>
            <a:prstGeom prst="rect">
              <a:avLst/>
            </a:prstGeom>
            <a:solidFill>
              <a:schemeClr val="bg2">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04" name="Rectangle 103"/>
            <p:cNvSpPr/>
            <p:nvPr/>
          </p:nvSpPr>
          <p:spPr bwMode="auto">
            <a:xfrm>
              <a:off x="2767799" y="1691575"/>
              <a:ext cx="709793" cy="709793"/>
            </a:xfrm>
            <a:prstGeom prst="rect">
              <a:avLst/>
            </a:prstGeom>
            <a:solidFill>
              <a:schemeClr val="bg2">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05" name="Rectangle 104"/>
            <p:cNvSpPr/>
            <p:nvPr/>
          </p:nvSpPr>
          <p:spPr bwMode="auto">
            <a:xfrm>
              <a:off x="993316" y="2578816"/>
              <a:ext cx="709793" cy="709793"/>
            </a:xfrm>
            <a:prstGeom prst="rect">
              <a:avLst/>
            </a:prstGeom>
            <a:solidFill>
              <a:schemeClr val="bg2">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06" name="Rectangle 105"/>
            <p:cNvSpPr/>
            <p:nvPr/>
          </p:nvSpPr>
          <p:spPr bwMode="auto">
            <a:xfrm>
              <a:off x="1880557" y="2578816"/>
              <a:ext cx="709793" cy="709793"/>
            </a:xfrm>
            <a:prstGeom prst="rect">
              <a:avLst/>
            </a:prstGeom>
            <a:solidFill>
              <a:schemeClr val="bg2">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07" name="Rectangle 106"/>
            <p:cNvSpPr/>
            <p:nvPr/>
          </p:nvSpPr>
          <p:spPr bwMode="auto">
            <a:xfrm>
              <a:off x="2767799" y="2578816"/>
              <a:ext cx="709793" cy="709793"/>
            </a:xfrm>
            <a:prstGeom prst="rect">
              <a:avLst/>
            </a:prstGeom>
            <a:solidFill>
              <a:schemeClr val="bg2">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08" name="Rectangle 107"/>
            <p:cNvSpPr/>
            <p:nvPr/>
          </p:nvSpPr>
          <p:spPr bwMode="auto">
            <a:xfrm>
              <a:off x="849052" y="1511555"/>
              <a:ext cx="709793" cy="709793"/>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09" name="Rectangle 108"/>
            <p:cNvSpPr/>
            <p:nvPr/>
          </p:nvSpPr>
          <p:spPr bwMode="auto">
            <a:xfrm>
              <a:off x="1736293" y="1511555"/>
              <a:ext cx="709793" cy="709793"/>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10" name="Rectangle 109"/>
            <p:cNvSpPr/>
            <p:nvPr/>
          </p:nvSpPr>
          <p:spPr bwMode="auto">
            <a:xfrm>
              <a:off x="2623535" y="1511555"/>
              <a:ext cx="709793" cy="709793"/>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11" name="Rectangle 110"/>
            <p:cNvSpPr/>
            <p:nvPr/>
          </p:nvSpPr>
          <p:spPr bwMode="auto">
            <a:xfrm>
              <a:off x="849052" y="2398796"/>
              <a:ext cx="709793" cy="709793"/>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12" name="Rectangle 111"/>
            <p:cNvSpPr/>
            <p:nvPr/>
          </p:nvSpPr>
          <p:spPr bwMode="auto">
            <a:xfrm>
              <a:off x="1736293" y="2398796"/>
              <a:ext cx="709793" cy="709793"/>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13" name="Rectangle 112"/>
            <p:cNvSpPr/>
            <p:nvPr/>
          </p:nvSpPr>
          <p:spPr bwMode="auto">
            <a:xfrm>
              <a:off x="2623535" y="2398796"/>
              <a:ext cx="709793" cy="709793"/>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14" name="Rectangle 113"/>
            <p:cNvSpPr/>
            <p:nvPr/>
          </p:nvSpPr>
          <p:spPr bwMode="auto">
            <a:xfrm>
              <a:off x="849052" y="3286038"/>
              <a:ext cx="709793" cy="709793"/>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15" name="Rectangle 114"/>
            <p:cNvSpPr/>
            <p:nvPr/>
          </p:nvSpPr>
          <p:spPr bwMode="auto">
            <a:xfrm>
              <a:off x="1736293" y="3286038"/>
              <a:ext cx="709793" cy="709793"/>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16" name="Rectangle 115"/>
            <p:cNvSpPr/>
            <p:nvPr/>
          </p:nvSpPr>
          <p:spPr bwMode="auto">
            <a:xfrm>
              <a:off x="2623535" y="3286038"/>
              <a:ext cx="709793" cy="709793"/>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17" name="Rectangle 116"/>
            <p:cNvSpPr/>
            <p:nvPr/>
          </p:nvSpPr>
          <p:spPr bwMode="auto">
            <a:xfrm>
              <a:off x="633028" y="1331535"/>
              <a:ext cx="709793" cy="709793"/>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18" name="Rectangle 117"/>
            <p:cNvSpPr/>
            <p:nvPr/>
          </p:nvSpPr>
          <p:spPr bwMode="auto">
            <a:xfrm>
              <a:off x="1520269" y="1331535"/>
              <a:ext cx="709793" cy="709793"/>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19" name="Rectangle 118"/>
            <p:cNvSpPr/>
            <p:nvPr/>
          </p:nvSpPr>
          <p:spPr bwMode="auto">
            <a:xfrm>
              <a:off x="2407511" y="1331535"/>
              <a:ext cx="709793" cy="709793"/>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20" name="Rectangle 119"/>
            <p:cNvSpPr/>
            <p:nvPr/>
          </p:nvSpPr>
          <p:spPr bwMode="auto">
            <a:xfrm>
              <a:off x="633028" y="2218776"/>
              <a:ext cx="709793" cy="709793"/>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21" name="Rectangle 120"/>
            <p:cNvSpPr/>
            <p:nvPr/>
          </p:nvSpPr>
          <p:spPr bwMode="auto">
            <a:xfrm>
              <a:off x="1520269" y="2218776"/>
              <a:ext cx="709793" cy="709793"/>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22" name="Rectangle 121"/>
            <p:cNvSpPr/>
            <p:nvPr/>
          </p:nvSpPr>
          <p:spPr bwMode="auto">
            <a:xfrm>
              <a:off x="2407511" y="2218776"/>
              <a:ext cx="709793" cy="709793"/>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23" name="Rectangle 122"/>
            <p:cNvSpPr/>
            <p:nvPr/>
          </p:nvSpPr>
          <p:spPr bwMode="auto">
            <a:xfrm>
              <a:off x="633028" y="3106018"/>
              <a:ext cx="709793" cy="709793"/>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24" name="Rectangle 123"/>
            <p:cNvSpPr/>
            <p:nvPr/>
          </p:nvSpPr>
          <p:spPr bwMode="auto">
            <a:xfrm>
              <a:off x="1520269" y="3106018"/>
              <a:ext cx="709793" cy="709793"/>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25" name="Rectangle 124"/>
            <p:cNvSpPr/>
            <p:nvPr/>
          </p:nvSpPr>
          <p:spPr bwMode="auto">
            <a:xfrm>
              <a:off x="2407511" y="3106018"/>
              <a:ext cx="709793" cy="709793"/>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26" name="Rectangle 125"/>
            <p:cNvSpPr/>
            <p:nvPr/>
          </p:nvSpPr>
          <p:spPr bwMode="auto">
            <a:xfrm>
              <a:off x="417004" y="1079507"/>
              <a:ext cx="709793" cy="709793"/>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27" name="Rectangle 126"/>
            <p:cNvSpPr/>
            <p:nvPr/>
          </p:nvSpPr>
          <p:spPr bwMode="auto">
            <a:xfrm>
              <a:off x="1304245" y="1079507"/>
              <a:ext cx="709793" cy="709793"/>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28" name="Rectangle 127"/>
            <p:cNvSpPr/>
            <p:nvPr/>
          </p:nvSpPr>
          <p:spPr bwMode="auto">
            <a:xfrm>
              <a:off x="2191487" y="1079507"/>
              <a:ext cx="709793" cy="709793"/>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29" name="Rectangle 128"/>
            <p:cNvSpPr/>
            <p:nvPr/>
          </p:nvSpPr>
          <p:spPr bwMode="auto">
            <a:xfrm>
              <a:off x="417004" y="1966748"/>
              <a:ext cx="709793" cy="709793"/>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30" name="Rectangle 129"/>
            <p:cNvSpPr/>
            <p:nvPr/>
          </p:nvSpPr>
          <p:spPr bwMode="auto">
            <a:xfrm>
              <a:off x="1304245" y="1966748"/>
              <a:ext cx="709793" cy="709793"/>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31" name="Rectangle 130"/>
            <p:cNvSpPr/>
            <p:nvPr/>
          </p:nvSpPr>
          <p:spPr bwMode="auto">
            <a:xfrm>
              <a:off x="2191487" y="1966748"/>
              <a:ext cx="709793" cy="709793"/>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32" name="Rectangle 131"/>
            <p:cNvSpPr/>
            <p:nvPr/>
          </p:nvSpPr>
          <p:spPr bwMode="auto">
            <a:xfrm>
              <a:off x="417004" y="2853990"/>
              <a:ext cx="709793" cy="709793"/>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33" name="Rectangle 132"/>
            <p:cNvSpPr/>
            <p:nvPr/>
          </p:nvSpPr>
          <p:spPr bwMode="auto">
            <a:xfrm>
              <a:off x="1304245" y="2853990"/>
              <a:ext cx="709793" cy="709793"/>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34" name="Rectangle 133"/>
            <p:cNvSpPr/>
            <p:nvPr/>
          </p:nvSpPr>
          <p:spPr bwMode="auto">
            <a:xfrm>
              <a:off x="2191487" y="2853990"/>
              <a:ext cx="709793" cy="709793"/>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35" name="Rectangle 134"/>
            <p:cNvSpPr/>
            <p:nvPr/>
          </p:nvSpPr>
          <p:spPr bwMode="auto">
            <a:xfrm>
              <a:off x="3693864" y="1691575"/>
              <a:ext cx="709793" cy="709793"/>
            </a:xfrm>
            <a:prstGeom prst="rect">
              <a:avLst/>
            </a:prstGeom>
            <a:solidFill>
              <a:schemeClr val="bg2">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36" name="Rectangle 135"/>
            <p:cNvSpPr/>
            <p:nvPr/>
          </p:nvSpPr>
          <p:spPr bwMode="auto">
            <a:xfrm>
              <a:off x="4581105" y="1691575"/>
              <a:ext cx="709793" cy="709793"/>
            </a:xfrm>
            <a:prstGeom prst="rect">
              <a:avLst/>
            </a:prstGeom>
            <a:solidFill>
              <a:schemeClr val="bg2">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37" name="Rectangle 136"/>
            <p:cNvSpPr/>
            <p:nvPr/>
          </p:nvSpPr>
          <p:spPr bwMode="auto">
            <a:xfrm>
              <a:off x="3693864" y="2578816"/>
              <a:ext cx="709793" cy="709793"/>
            </a:xfrm>
            <a:prstGeom prst="rect">
              <a:avLst/>
            </a:prstGeom>
            <a:solidFill>
              <a:schemeClr val="bg2">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38" name="Rectangle 137"/>
            <p:cNvSpPr/>
            <p:nvPr/>
          </p:nvSpPr>
          <p:spPr bwMode="auto">
            <a:xfrm>
              <a:off x="4581105" y="2578816"/>
              <a:ext cx="709793" cy="709793"/>
            </a:xfrm>
            <a:prstGeom prst="rect">
              <a:avLst/>
            </a:prstGeom>
            <a:solidFill>
              <a:schemeClr val="bg2">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39" name="Rectangle 138"/>
            <p:cNvSpPr/>
            <p:nvPr/>
          </p:nvSpPr>
          <p:spPr bwMode="auto">
            <a:xfrm>
              <a:off x="3549600" y="1511555"/>
              <a:ext cx="709793" cy="709793"/>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40" name="Rectangle 139"/>
            <p:cNvSpPr/>
            <p:nvPr/>
          </p:nvSpPr>
          <p:spPr bwMode="auto">
            <a:xfrm>
              <a:off x="4436841" y="1511555"/>
              <a:ext cx="709793" cy="709793"/>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41" name="Rectangle 140"/>
            <p:cNvSpPr/>
            <p:nvPr/>
          </p:nvSpPr>
          <p:spPr bwMode="auto">
            <a:xfrm>
              <a:off x="5324083" y="1511555"/>
              <a:ext cx="709793" cy="709793"/>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42" name="Rectangle 141"/>
            <p:cNvSpPr/>
            <p:nvPr/>
          </p:nvSpPr>
          <p:spPr bwMode="auto">
            <a:xfrm>
              <a:off x="3549600" y="2398796"/>
              <a:ext cx="709793" cy="709793"/>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43" name="Rectangle 142"/>
            <p:cNvSpPr/>
            <p:nvPr/>
          </p:nvSpPr>
          <p:spPr bwMode="auto">
            <a:xfrm>
              <a:off x="4436841" y="2398796"/>
              <a:ext cx="709793" cy="709793"/>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44" name="Rectangle 143"/>
            <p:cNvSpPr/>
            <p:nvPr/>
          </p:nvSpPr>
          <p:spPr bwMode="auto">
            <a:xfrm>
              <a:off x="5324083" y="2398796"/>
              <a:ext cx="709793" cy="709793"/>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45" name="Rectangle 144"/>
            <p:cNvSpPr/>
            <p:nvPr/>
          </p:nvSpPr>
          <p:spPr bwMode="auto">
            <a:xfrm>
              <a:off x="3549600" y="3286038"/>
              <a:ext cx="709793" cy="709793"/>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46" name="Rectangle 145"/>
            <p:cNvSpPr/>
            <p:nvPr/>
          </p:nvSpPr>
          <p:spPr bwMode="auto">
            <a:xfrm>
              <a:off x="4436841" y="3286038"/>
              <a:ext cx="709793" cy="709793"/>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47" name="Rectangle 146"/>
            <p:cNvSpPr/>
            <p:nvPr/>
          </p:nvSpPr>
          <p:spPr bwMode="auto">
            <a:xfrm>
              <a:off x="5324083" y="3286038"/>
              <a:ext cx="709793" cy="709793"/>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48" name="Rectangle 147"/>
            <p:cNvSpPr/>
            <p:nvPr/>
          </p:nvSpPr>
          <p:spPr bwMode="auto">
            <a:xfrm>
              <a:off x="3333576" y="1331535"/>
              <a:ext cx="709793" cy="709793"/>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49" name="Rectangle 148"/>
            <p:cNvSpPr/>
            <p:nvPr/>
          </p:nvSpPr>
          <p:spPr bwMode="auto">
            <a:xfrm>
              <a:off x="4220817" y="1331535"/>
              <a:ext cx="709793" cy="709793"/>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50" name="Rectangle 149"/>
            <p:cNvSpPr/>
            <p:nvPr/>
          </p:nvSpPr>
          <p:spPr bwMode="auto">
            <a:xfrm>
              <a:off x="5108059" y="1331535"/>
              <a:ext cx="709793" cy="709793"/>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51" name="Rectangle 150"/>
            <p:cNvSpPr/>
            <p:nvPr/>
          </p:nvSpPr>
          <p:spPr bwMode="auto">
            <a:xfrm>
              <a:off x="3333576" y="2218776"/>
              <a:ext cx="709793" cy="709793"/>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52" name="Rectangle 151"/>
            <p:cNvSpPr/>
            <p:nvPr/>
          </p:nvSpPr>
          <p:spPr bwMode="auto">
            <a:xfrm>
              <a:off x="4220817" y="2218776"/>
              <a:ext cx="709793" cy="709793"/>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53" name="Rectangle 152"/>
            <p:cNvSpPr/>
            <p:nvPr/>
          </p:nvSpPr>
          <p:spPr bwMode="auto">
            <a:xfrm>
              <a:off x="5108059" y="2218776"/>
              <a:ext cx="709793" cy="709793"/>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54" name="Rectangle 153"/>
            <p:cNvSpPr/>
            <p:nvPr/>
          </p:nvSpPr>
          <p:spPr bwMode="auto">
            <a:xfrm>
              <a:off x="3333576" y="3106018"/>
              <a:ext cx="709793" cy="709793"/>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55" name="Rectangle 154"/>
            <p:cNvSpPr/>
            <p:nvPr/>
          </p:nvSpPr>
          <p:spPr bwMode="auto">
            <a:xfrm>
              <a:off x="4220817" y="3106018"/>
              <a:ext cx="709793" cy="709793"/>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56" name="Rectangle 155"/>
            <p:cNvSpPr/>
            <p:nvPr/>
          </p:nvSpPr>
          <p:spPr bwMode="auto">
            <a:xfrm>
              <a:off x="5108059" y="3106018"/>
              <a:ext cx="709793" cy="709793"/>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57" name="Rectangle 156"/>
            <p:cNvSpPr/>
            <p:nvPr/>
          </p:nvSpPr>
          <p:spPr bwMode="auto">
            <a:xfrm>
              <a:off x="3117552" y="1079507"/>
              <a:ext cx="709793" cy="709793"/>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58" name="Rectangle 157"/>
            <p:cNvSpPr/>
            <p:nvPr/>
          </p:nvSpPr>
          <p:spPr bwMode="auto">
            <a:xfrm>
              <a:off x="4004793" y="1079507"/>
              <a:ext cx="709793" cy="709793"/>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59" name="Rectangle 158"/>
            <p:cNvSpPr/>
            <p:nvPr/>
          </p:nvSpPr>
          <p:spPr bwMode="auto">
            <a:xfrm>
              <a:off x="4892035" y="1079507"/>
              <a:ext cx="709793" cy="709793"/>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60" name="Rectangle 159"/>
            <p:cNvSpPr/>
            <p:nvPr/>
          </p:nvSpPr>
          <p:spPr bwMode="auto">
            <a:xfrm>
              <a:off x="3117552" y="1966748"/>
              <a:ext cx="709793" cy="709793"/>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61" name="Rectangle 160"/>
            <p:cNvSpPr/>
            <p:nvPr/>
          </p:nvSpPr>
          <p:spPr bwMode="auto">
            <a:xfrm>
              <a:off x="4004793" y="1966748"/>
              <a:ext cx="709793" cy="709793"/>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62" name="Rectangle 161"/>
            <p:cNvSpPr/>
            <p:nvPr/>
          </p:nvSpPr>
          <p:spPr bwMode="auto">
            <a:xfrm>
              <a:off x="4892035" y="1966748"/>
              <a:ext cx="709793" cy="709793"/>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63" name="Rectangle 162"/>
            <p:cNvSpPr/>
            <p:nvPr/>
          </p:nvSpPr>
          <p:spPr bwMode="auto">
            <a:xfrm>
              <a:off x="3117552" y="2853990"/>
              <a:ext cx="709793" cy="709793"/>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64" name="Rectangle 163"/>
            <p:cNvSpPr/>
            <p:nvPr/>
          </p:nvSpPr>
          <p:spPr bwMode="auto">
            <a:xfrm>
              <a:off x="4004793" y="2853990"/>
              <a:ext cx="709793" cy="709793"/>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65" name="Rectangle 164"/>
            <p:cNvSpPr/>
            <p:nvPr/>
          </p:nvSpPr>
          <p:spPr bwMode="auto">
            <a:xfrm>
              <a:off x="4892035" y="2853990"/>
              <a:ext cx="709793" cy="709793"/>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66" name="Rectangle 165"/>
            <p:cNvSpPr/>
            <p:nvPr/>
          </p:nvSpPr>
          <p:spPr bwMode="auto">
            <a:xfrm>
              <a:off x="849052" y="4256479"/>
              <a:ext cx="709793" cy="709793"/>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67" name="Rectangle 166"/>
            <p:cNvSpPr/>
            <p:nvPr/>
          </p:nvSpPr>
          <p:spPr bwMode="auto">
            <a:xfrm>
              <a:off x="1736293" y="4256479"/>
              <a:ext cx="709793" cy="709793"/>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68" name="Rectangle 167"/>
            <p:cNvSpPr/>
            <p:nvPr/>
          </p:nvSpPr>
          <p:spPr bwMode="auto">
            <a:xfrm>
              <a:off x="2623535" y="4256479"/>
              <a:ext cx="709793" cy="709793"/>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69" name="Rectangle 168"/>
            <p:cNvSpPr/>
            <p:nvPr/>
          </p:nvSpPr>
          <p:spPr bwMode="auto">
            <a:xfrm>
              <a:off x="633028" y="4076459"/>
              <a:ext cx="709793" cy="709793"/>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70" name="Rectangle 169"/>
            <p:cNvSpPr/>
            <p:nvPr/>
          </p:nvSpPr>
          <p:spPr bwMode="auto">
            <a:xfrm>
              <a:off x="1520269" y="4076459"/>
              <a:ext cx="709793" cy="709793"/>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71" name="Rectangle 170"/>
            <p:cNvSpPr/>
            <p:nvPr/>
          </p:nvSpPr>
          <p:spPr bwMode="auto">
            <a:xfrm>
              <a:off x="2407511" y="4076459"/>
              <a:ext cx="709793" cy="709793"/>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72" name="Rectangle 171"/>
            <p:cNvSpPr/>
            <p:nvPr/>
          </p:nvSpPr>
          <p:spPr bwMode="auto">
            <a:xfrm>
              <a:off x="417004" y="3824431"/>
              <a:ext cx="709793" cy="709793"/>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73" name="Rectangle 172"/>
            <p:cNvSpPr/>
            <p:nvPr/>
          </p:nvSpPr>
          <p:spPr bwMode="auto">
            <a:xfrm>
              <a:off x="1304245" y="3824431"/>
              <a:ext cx="709793" cy="709793"/>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74" name="Rectangle 173"/>
            <p:cNvSpPr/>
            <p:nvPr/>
          </p:nvSpPr>
          <p:spPr bwMode="auto">
            <a:xfrm>
              <a:off x="2191487" y="3824431"/>
              <a:ext cx="709793" cy="709793"/>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75" name="Rectangle 174"/>
            <p:cNvSpPr/>
            <p:nvPr/>
          </p:nvSpPr>
          <p:spPr bwMode="auto">
            <a:xfrm>
              <a:off x="3549600" y="4256479"/>
              <a:ext cx="709793" cy="709793"/>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76" name="Rectangle 175"/>
            <p:cNvSpPr/>
            <p:nvPr/>
          </p:nvSpPr>
          <p:spPr bwMode="auto">
            <a:xfrm>
              <a:off x="4436841" y="4256479"/>
              <a:ext cx="709793" cy="709793"/>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77" name="Rectangle 176"/>
            <p:cNvSpPr/>
            <p:nvPr/>
          </p:nvSpPr>
          <p:spPr bwMode="auto">
            <a:xfrm>
              <a:off x="5324083" y="4256479"/>
              <a:ext cx="709793" cy="709793"/>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78" name="Rectangle 177"/>
            <p:cNvSpPr/>
            <p:nvPr/>
          </p:nvSpPr>
          <p:spPr bwMode="auto">
            <a:xfrm>
              <a:off x="3333576" y="4076459"/>
              <a:ext cx="709793" cy="709793"/>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79" name="Rectangle 178"/>
            <p:cNvSpPr/>
            <p:nvPr/>
          </p:nvSpPr>
          <p:spPr bwMode="auto">
            <a:xfrm>
              <a:off x="4220817" y="4076459"/>
              <a:ext cx="709793" cy="709793"/>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80" name="Rectangle 179"/>
            <p:cNvSpPr/>
            <p:nvPr/>
          </p:nvSpPr>
          <p:spPr bwMode="auto">
            <a:xfrm>
              <a:off x="5108059" y="4076459"/>
              <a:ext cx="709793" cy="709793"/>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81" name="Rectangle 180"/>
            <p:cNvSpPr/>
            <p:nvPr/>
          </p:nvSpPr>
          <p:spPr bwMode="auto">
            <a:xfrm>
              <a:off x="3117552" y="3824431"/>
              <a:ext cx="709793" cy="709793"/>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82" name="Rectangle 181"/>
            <p:cNvSpPr/>
            <p:nvPr/>
          </p:nvSpPr>
          <p:spPr bwMode="auto">
            <a:xfrm>
              <a:off x="4004793" y="3824431"/>
              <a:ext cx="709793" cy="709793"/>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83" name="Rectangle 182"/>
            <p:cNvSpPr/>
            <p:nvPr/>
          </p:nvSpPr>
          <p:spPr bwMode="auto">
            <a:xfrm>
              <a:off x="4892035" y="3824431"/>
              <a:ext cx="709793" cy="709793"/>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grpSp>
      <p:sp>
        <p:nvSpPr>
          <p:cNvPr id="184" name="TextBox 183"/>
          <p:cNvSpPr txBox="1"/>
          <p:nvPr/>
        </p:nvSpPr>
        <p:spPr>
          <a:xfrm>
            <a:off x="381000" y="5478726"/>
            <a:ext cx="8104632" cy="830997"/>
          </a:xfrm>
          <a:prstGeom prst="rect">
            <a:avLst/>
          </a:prstGeom>
          <a:noFill/>
        </p:spPr>
        <p:txBody>
          <a:bodyPr wrap="square" rtlCol="0">
            <a:spAutoFit/>
          </a:bodyPr>
          <a:lstStyle/>
          <a:p>
            <a:pPr marL="285750" indent="-285750">
              <a:buFont typeface="Arial" panose="020B0604020202020204" pitchFamily="34" charset="0"/>
              <a:buChar char="•"/>
            </a:pPr>
            <a:r>
              <a:rPr lang="en-GB" dirty="0"/>
              <a:t>Image captured on red blue and green – responsive photo-sites</a:t>
            </a:r>
          </a:p>
          <a:p>
            <a:pPr marL="285750" indent="-285750">
              <a:buFont typeface="Arial" panose="020B0604020202020204" pitchFamily="34" charset="0"/>
              <a:buChar char="•"/>
            </a:pPr>
            <a:r>
              <a:rPr lang="en-GB" dirty="0"/>
              <a:t>each pixel is represented by R, B, G</a:t>
            </a:r>
          </a:p>
          <a:p>
            <a:pPr marL="285750" indent="-285750">
              <a:buFont typeface="Arial" panose="020B0604020202020204" pitchFamily="34" charset="0"/>
              <a:buChar char="•"/>
            </a:pPr>
            <a:r>
              <a:rPr lang="en-GB" dirty="0"/>
              <a:t>each pixel has its own value of light intensity </a:t>
            </a:r>
          </a:p>
        </p:txBody>
      </p:sp>
      <p:sp>
        <p:nvSpPr>
          <p:cNvPr id="7" name="TextBox 6"/>
          <p:cNvSpPr txBox="1"/>
          <p:nvPr/>
        </p:nvSpPr>
        <p:spPr>
          <a:xfrm>
            <a:off x="381000" y="1016000"/>
            <a:ext cx="2199640" cy="830997"/>
          </a:xfrm>
          <a:prstGeom prst="rect">
            <a:avLst/>
          </a:prstGeom>
          <a:noFill/>
        </p:spPr>
        <p:txBody>
          <a:bodyPr wrap="square" rtlCol="0">
            <a:spAutoFit/>
          </a:bodyPr>
          <a:lstStyle/>
          <a:p>
            <a:r>
              <a:rPr lang="en-GB" b="1" dirty="0"/>
              <a:t>Original captured image at camera sensor: </a:t>
            </a:r>
          </a:p>
        </p:txBody>
      </p:sp>
      <p:cxnSp>
        <p:nvCxnSpPr>
          <p:cNvPr id="9" name="Straight Arrow Connector 8"/>
          <p:cNvCxnSpPr/>
          <p:nvPr/>
        </p:nvCxnSpPr>
        <p:spPr bwMode="auto">
          <a:xfrm flipH="1">
            <a:off x="4267200" y="2418080"/>
            <a:ext cx="1127760" cy="589280"/>
          </a:xfrm>
          <a:prstGeom prst="straightConnector1">
            <a:avLst/>
          </a:prstGeom>
          <a:noFill/>
          <a:ln w="50800" cap="flat" cmpd="sng" algn="ctr">
            <a:solidFill>
              <a:srgbClr val="FFFF00"/>
            </a:solidFill>
            <a:prstDash val="solid"/>
            <a:round/>
            <a:headEnd type="none" w="med" len="med"/>
            <a:tailEnd type="arrow"/>
          </a:ln>
          <a:effectLst/>
        </p:spPr>
      </p:cxnSp>
      <p:sp>
        <p:nvSpPr>
          <p:cNvPr id="11" name="Rectangle 10"/>
          <p:cNvSpPr/>
          <p:nvPr/>
        </p:nvSpPr>
        <p:spPr bwMode="auto">
          <a:xfrm>
            <a:off x="381000" y="1828800"/>
            <a:ext cx="3865880" cy="2702560"/>
          </a:xfrm>
          <a:prstGeom prst="rect">
            <a:avLst/>
          </a:prstGeom>
          <a:noFill/>
          <a:ln w="50800" cap="flat" cmpd="sng" algn="ctr">
            <a:solidFill>
              <a:srgbClr val="FFFF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2" name="Rectangle 11"/>
          <p:cNvSpPr/>
          <p:nvPr/>
        </p:nvSpPr>
        <p:spPr bwMode="auto">
          <a:xfrm>
            <a:off x="5405120" y="2316480"/>
            <a:ext cx="193040" cy="111760"/>
          </a:xfrm>
          <a:prstGeom prst="rect">
            <a:avLst/>
          </a:prstGeom>
          <a:solidFill>
            <a:srgbClr val="FFFF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Tree>
    <p:extLst>
      <p:ext uri="{BB962C8B-B14F-4D97-AF65-F5344CB8AC3E}">
        <p14:creationId xmlns:p14="http://schemas.microsoft.com/office/powerpoint/2010/main" val="99361906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bwMode="auto">
          <a:xfrm>
            <a:off x="5093836" y="2191412"/>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5" name="Rectangle 14"/>
          <p:cNvSpPr/>
          <p:nvPr/>
        </p:nvSpPr>
        <p:spPr bwMode="auto">
          <a:xfrm>
            <a:off x="5641845" y="2191412"/>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6" name="Rectangle 15"/>
          <p:cNvSpPr/>
          <p:nvPr/>
        </p:nvSpPr>
        <p:spPr bwMode="auto">
          <a:xfrm>
            <a:off x="6189856" y="2191412"/>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3" name="Rectangle 22"/>
          <p:cNvSpPr/>
          <p:nvPr/>
        </p:nvSpPr>
        <p:spPr bwMode="auto">
          <a:xfrm>
            <a:off x="4960407" y="2070024"/>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4" name="Rectangle 23"/>
          <p:cNvSpPr/>
          <p:nvPr/>
        </p:nvSpPr>
        <p:spPr bwMode="auto">
          <a:xfrm>
            <a:off x="5508417" y="2070024"/>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5" name="Rectangle 24"/>
          <p:cNvSpPr/>
          <p:nvPr/>
        </p:nvSpPr>
        <p:spPr bwMode="auto">
          <a:xfrm>
            <a:off x="6056427" y="2070024"/>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32" name="Rectangle 31"/>
          <p:cNvSpPr/>
          <p:nvPr/>
        </p:nvSpPr>
        <p:spPr bwMode="auto">
          <a:xfrm>
            <a:off x="4826978" y="1900081"/>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33" name="Rectangle 32"/>
          <p:cNvSpPr/>
          <p:nvPr/>
        </p:nvSpPr>
        <p:spPr bwMode="auto">
          <a:xfrm>
            <a:off x="5374988" y="1900081"/>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34" name="Rectangle 33"/>
          <p:cNvSpPr/>
          <p:nvPr/>
        </p:nvSpPr>
        <p:spPr bwMode="auto">
          <a:xfrm>
            <a:off x="5922999" y="1900081"/>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50" name="Rectangle 49"/>
          <p:cNvSpPr/>
          <p:nvPr/>
        </p:nvSpPr>
        <p:spPr bwMode="auto">
          <a:xfrm>
            <a:off x="6761846" y="2191412"/>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51" name="Rectangle 50"/>
          <p:cNvSpPr/>
          <p:nvPr/>
        </p:nvSpPr>
        <p:spPr bwMode="auto">
          <a:xfrm>
            <a:off x="7309855" y="2191412"/>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52" name="Rectangle 51"/>
          <p:cNvSpPr/>
          <p:nvPr/>
        </p:nvSpPr>
        <p:spPr bwMode="auto">
          <a:xfrm>
            <a:off x="7857866" y="2191412"/>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59" name="Rectangle 58"/>
          <p:cNvSpPr/>
          <p:nvPr/>
        </p:nvSpPr>
        <p:spPr bwMode="auto">
          <a:xfrm>
            <a:off x="6628417" y="2070024"/>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60" name="Rectangle 59"/>
          <p:cNvSpPr/>
          <p:nvPr/>
        </p:nvSpPr>
        <p:spPr bwMode="auto">
          <a:xfrm>
            <a:off x="7176427" y="2070024"/>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61" name="Rectangle 60"/>
          <p:cNvSpPr/>
          <p:nvPr/>
        </p:nvSpPr>
        <p:spPr bwMode="auto">
          <a:xfrm>
            <a:off x="7724437" y="2070024"/>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68" name="Rectangle 67"/>
          <p:cNvSpPr/>
          <p:nvPr/>
        </p:nvSpPr>
        <p:spPr bwMode="auto">
          <a:xfrm>
            <a:off x="6494989" y="1900081"/>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69" name="Rectangle 68"/>
          <p:cNvSpPr/>
          <p:nvPr/>
        </p:nvSpPr>
        <p:spPr bwMode="auto">
          <a:xfrm>
            <a:off x="7042998" y="1900081"/>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70" name="Rectangle 69"/>
          <p:cNvSpPr/>
          <p:nvPr/>
        </p:nvSpPr>
        <p:spPr bwMode="auto">
          <a:xfrm>
            <a:off x="7591009" y="1900081"/>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03" name="Rectangle 102"/>
          <p:cNvSpPr/>
          <p:nvPr/>
        </p:nvSpPr>
        <p:spPr bwMode="auto">
          <a:xfrm>
            <a:off x="5093836" y="277060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04" name="Rectangle 103"/>
          <p:cNvSpPr/>
          <p:nvPr/>
        </p:nvSpPr>
        <p:spPr bwMode="auto">
          <a:xfrm>
            <a:off x="5641845" y="277060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05" name="Rectangle 104"/>
          <p:cNvSpPr/>
          <p:nvPr/>
        </p:nvSpPr>
        <p:spPr bwMode="auto">
          <a:xfrm>
            <a:off x="6189856" y="277060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06" name="Rectangle 105"/>
          <p:cNvSpPr/>
          <p:nvPr/>
        </p:nvSpPr>
        <p:spPr bwMode="auto">
          <a:xfrm>
            <a:off x="4960407" y="2649216"/>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07" name="Rectangle 106"/>
          <p:cNvSpPr/>
          <p:nvPr/>
        </p:nvSpPr>
        <p:spPr bwMode="auto">
          <a:xfrm>
            <a:off x="5508417" y="2649216"/>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08" name="Rectangle 107"/>
          <p:cNvSpPr/>
          <p:nvPr/>
        </p:nvSpPr>
        <p:spPr bwMode="auto">
          <a:xfrm>
            <a:off x="6056427" y="2649216"/>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09" name="Rectangle 108"/>
          <p:cNvSpPr/>
          <p:nvPr/>
        </p:nvSpPr>
        <p:spPr bwMode="auto">
          <a:xfrm>
            <a:off x="4826978" y="2479273"/>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10" name="Rectangle 109"/>
          <p:cNvSpPr/>
          <p:nvPr/>
        </p:nvSpPr>
        <p:spPr bwMode="auto">
          <a:xfrm>
            <a:off x="5374988" y="2479273"/>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11" name="Rectangle 110"/>
          <p:cNvSpPr/>
          <p:nvPr/>
        </p:nvSpPr>
        <p:spPr bwMode="auto">
          <a:xfrm>
            <a:off x="5922999" y="2479273"/>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12" name="Rectangle 111"/>
          <p:cNvSpPr/>
          <p:nvPr/>
        </p:nvSpPr>
        <p:spPr bwMode="auto">
          <a:xfrm>
            <a:off x="6761846" y="277060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13" name="Rectangle 112"/>
          <p:cNvSpPr/>
          <p:nvPr/>
        </p:nvSpPr>
        <p:spPr bwMode="auto">
          <a:xfrm>
            <a:off x="7309855" y="277060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14" name="Rectangle 113"/>
          <p:cNvSpPr/>
          <p:nvPr/>
        </p:nvSpPr>
        <p:spPr bwMode="auto">
          <a:xfrm>
            <a:off x="7857866" y="277060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15" name="Rectangle 114"/>
          <p:cNvSpPr/>
          <p:nvPr/>
        </p:nvSpPr>
        <p:spPr bwMode="auto">
          <a:xfrm>
            <a:off x="6628417" y="2649216"/>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16" name="Rectangle 115"/>
          <p:cNvSpPr/>
          <p:nvPr/>
        </p:nvSpPr>
        <p:spPr bwMode="auto">
          <a:xfrm>
            <a:off x="7176427" y="2649216"/>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17" name="Rectangle 116"/>
          <p:cNvSpPr/>
          <p:nvPr/>
        </p:nvSpPr>
        <p:spPr bwMode="auto">
          <a:xfrm>
            <a:off x="7724437" y="2649216"/>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18" name="Rectangle 117"/>
          <p:cNvSpPr/>
          <p:nvPr/>
        </p:nvSpPr>
        <p:spPr bwMode="auto">
          <a:xfrm>
            <a:off x="6494989" y="2479273"/>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19" name="Rectangle 118"/>
          <p:cNvSpPr/>
          <p:nvPr/>
        </p:nvSpPr>
        <p:spPr bwMode="auto">
          <a:xfrm>
            <a:off x="7042998" y="2479273"/>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20" name="Rectangle 119"/>
          <p:cNvSpPr/>
          <p:nvPr/>
        </p:nvSpPr>
        <p:spPr bwMode="auto">
          <a:xfrm>
            <a:off x="7591009" y="2479273"/>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22" name="Rectangle 121"/>
          <p:cNvSpPr/>
          <p:nvPr/>
        </p:nvSpPr>
        <p:spPr bwMode="auto">
          <a:xfrm>
            <a:off x="5087594" y="3359618"/>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23" name="Rectangle 122"/>
          <p:cNvSpPr/>
          <p:nvPr/>
        </p:nvSpPr>
        <p:spPr bwMode="auto">
          <a:xfrm>
            <a:off x="5635604" y="3359618"/>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24" name="Rectangle 123"/>
          <p:cNvSpPr/>
          <p:nvPr/>
        </p:nvSpPr>
        <p:spPr bwMode="auto">
          <a:xfrm>
            <a:off x="6183614" y="3359618"/>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25" name="Rectangle 124"/>
          <p:cNvSpPr/>
          <p:nvPr/>
        </p:nvSpPr>
        <p:spPr bwMode="auto">
          <a:xfrm>
            <a:off x="4954166" y="3238230"/>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26" name="Rectangle 125"/>
          <p:cNvSpPr/>
          <p:nvPr/>
        </p:nvSpPr>
        <p:spPr bwMode="auto">
          <a:xfrm>
            <a:off x="5502175" y="3238230"/>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27" name="Rectangle 126"/>
          <p:cNvSpPr/>
          <p:nvPr/>
        </p:nvSpPr>
        <p:spPr bwMode="auto">
          <a:xfrm>
            <a:off x="6050186" y="3238230"/>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28" name="Rectangle 127"/>
          <p:cNvSpPr/>
          <p:nvPr/>
        </p:nvSpPr>
        <p:spPr bwMode="auto">
          <a:xfrm>
            <a:off x="4820737" y="3068287"/>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29" name="Rectangle 128"/>
          <p:cNvSpPr/>
          <p:nvPr/>
        </p:nvSpPr>
        <p:spPr bwMode="auto">
          <a:xfrm>
            <a:off x="5368747" y="3068287"/>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30" name="Rectangle 129"/>
          <p:cNvSpPr/>
          <p:nvPr/>
        </p:nvSpPr>
        <p:spPr bwMode="auto">
          <a:xfrm>
            <a:off x="5916757" y="3068287"/>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31" name="Rectangle 130"/>
          <p:cNvSpPr/>
          <p:nvPr/>
        </p:nvSpPr>
        <p:spPr bwMode="auto">
          <a:xfrm>
            <a:off x="6755604" y="3359618"/>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32" name="Rectangle 131"/>
          <p:cNvSpPr/>
          <p:nvPr/>
        </p:nvSpPr>
        <p:spPr bwMode="auto">
          <a:xfrm>
            <a:off x="7303614" y="3359618"/>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33" name="Rectangle 132"/>
          <p:cNvSpPr/>
          <p:nvPr/>
        </p:nvSpPr>
        <p:spPr bwMode="auto">
          <a:xfrm>
            <a:off x="7851625" y="3359618"/>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34" name="Rectangle 133"/>
          <p:cNvSpPr/>
          <p:nvPr/>
        </p:nvSpPr>
        <p:spPr bwMode="auto">
          <a:xfrm>
            <a:off x="6622176" y="3238230"/>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35" name="Rectangle 134"/>
          <p:cNvSpPr/>
          <p:nvPr/>
        </p:nvSpPr>
        <p:spPr bwMode="auto">
          <a:xfrm>
            <a:off x="7170186" y="3238230"/>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36" name="Rectangle 135"/>
          <p:cNvSpPr/>
          <p:nvPr/>
        </p:nvSpPr>
        <p:spPr bwMode="auto">
          <a:xfrm>
            <a:off x="7718196" y="3238230"/>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37" name="Rectangle 136"/>
          <p:cNvSpPr/>
          <p:nvPr/>
        </p:nvSpPr>
        <p:spPr bwMode="auto">
          <a:xfrm>
            <a:off x="6488747" y="3068287"/>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38" name="Rectangle 137"/>
          <p:cNvSpPr/>
          <p:nvPr/>
        </p:nvSpPr>
        <p:spPr bwMode="auto">
          <a:xfrm>
            <a:off x="7036757" y="3068287"/>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39" name="Rectangle 138"/>
          <p:cNvSpPr/>
          <p:nvPr/>
        </p:nvSpPr>
        <p:spPr bwMode="auto">
          <a:xfrm>
            <a:off x="7584767" y="3068287"/>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41" name="Rectangle 140"/>
          <p:cNvSpPr/>
          <p:nvPr/>
        </p:nvSpPr>
        <p:spPr bwMode="auto">
          <a:xfrm>
            <a:off x="5093836" y="395050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42" name="Rectangle 141"/>
          <p:cNvSpPr/>
          <p:nvPr/>
        </p:nvSpPr>
        <p:spPr bwMode="auto">
          <a:xfrm>
            <a:off x="5641845" y="395050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43" name="Rectangle 142"/>
          <p:cNvSpPr/>
          <p:nvPr/>
        </p:nvSpPr>
        <p:spPr bwMode="auto">
          <a:xfrm>
            <a:off x="6189856" y="395050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44" name="Rectangle 143"/>
          <p:cNvSpPr/>
          <p:nvPr/>
        </p:nvSpPr>
        <p:spPr bwMode="auto">
          <a:xfrm>
            <a:off x="4960407" y="3829121"/>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45" name="Rectangle 144"/>
          <p:cNvSpPr/>
          <p:nvPr/>
        </p:nvSpPr>
        <p:spPr bwMode="auto">
          <a:xfrm>
            <a:off x="5508417" y="3829121"/>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46" name="Rectangle 145"/>
          <p:cNvSpPr/>
          <p:nvPr/>
        </p:nvSpPr>
        <p:spPr bwMode="auto">
          <a:xfrm>
            <a:off x="6056427" y="3829121"/>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47" name="Rectangle 146"/>
          <p:cNvSpPr/>
          <p:nvPr/>
        </p:nvSpPr>
        <p:spPr bwMode="auto">
          <a:xfrm>
            <a:off x="4826978" y="3659178"/>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48" name="Rectangle 147"/>
          <p:cNvSpPr/>
          <p:nvPr/>
        </p:nvSpPr>
        <p:spPr bwMode="auto">
          <a:xfrm>
            <a:off x="5374988" y="3659178"/>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49" name="Rectangle 148"/>
          <p:cNvSpPr/>
          <p:nvPr/>
        </p:nvSpPr>
        <p:spPr bwMode="auto">
          <a:xfrm>
            <a:off x="5922999" y="3659178"/>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50" name="Rectangle 149"/>
          <p:cNvSpPr/>
          <p:nvPr/>
        </p:nvSpPr>
        <p:spPr bwMode="auto">
          <a:xfrm>
            <a:off x="6761846" y="395050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51" name="Rectangle 150"/>
          <p:cNvSpPr/>
          <p:nvPr/>
        </p:nvSpPr>
        <p:spPr bwMode="auto">
          <a:xfrm>
            <a:off x="7309855" y="395050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52" name="Rectangle 151"/>
          <p:cNvSpPr/>
          <p:nvPr/>
        </p:nvSpPr>
        <p:spPr bwMode="auto">
          <a:xfrm>
            <a:off x="7857866" y="395050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53" name="Rectangle 152"/>
          <p:cNvSpPr/>
          <p:nvPr/>
        </p:nvSpPr>
        <p:spPr bwMode="auto">
          <a:xfrm>
            <a:off x="6628417" y="3829121"/>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54" name="Rectangle 153"/>
          <p:cNvSpPr/>
          <p:nvPr/>
        </p:nvSpPr>
        <p:spPr bwMode="auto">
          <a:xfrm>
            <a:off x="7176427" y="3829121"/>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55" name="Rectangle 154"/>
          <p:cNvSpPr/>
          <p:nvPr/>
        </p:nvSpPr>
        <p:spPr bwMode="auto">
          <a:xfrm>
            <a:off x="7724437" y="3829121"/>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56" name="Rectangle 155"/>
          <p:cNvSpPr/>
          <p:nvPr/>
        </p:nvSpPr>
        <p:spPr bwMode="auto">
          <a:xfrm>
            <a:off x="6494989" y="3659178"/>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57" name="Rectangle 156"/>
          <p:cNvSpPr/>
          <p:nvPr/>
        </p:nvSpPr>
        <p:spPr bwMode="auto">
          <a:xfrm>
            <a:off x="7042998" y="3659178"/>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58" name="Rectangle 157"/>
          <p:cNvSpPr/>
          <p:nvPr/>
        </p:nvSpPr>
        <p:spPr bwMode="auto">
          <a:xfrm>
            <a:off x="7591009" y="3659178"/>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cxnSp>
        <p:nvCxnSpPr>
          <p:cNvPr id="205" name="Straight Arrow Connector 204"/>
          <p:cNvCxnSpPr/>
          <p:nvPr/>
        </p:nvCxnSpPr>
        <p:spPr bwMode="auto">
          <a:xfrm flipH="1" flipV="1">
            <a:off x="7628283" y="4381440"/>
            <a:ext cx="528321" cy="863600"/>
          </a:xfrm>
          <a:prstGeom prst="straightConnector1">
            <a:avLst/>
          </a:prstGeom>
          <a:noFill/>
          <a:ln w="9525" cap="flat" cmpd="sng" algn="ctr">
            <a:solidFill>
              <a:srgbClr val="FFFF00"/>
            </a:solidFill>
            <a:prstDash val="solid"/>
            <a:round/>
            <a:headEnd type="none" w="med" len="med"/>
            <a:tailEnd type="arrow"/>
          </a:ln>
          <a:effectLst/>
        </p:spPr>
      </p:cxnSp>
      <p:sp>
        <p:nvSpPr>
          <p:cNvPr id="2" name="TextBox 1"/>
          <p:cNvSpPr txBox="1"/>
          <p:nvPr/>
        </p:nvSpPr>
        <p:spPr>
          <a:xfrm>
            <a:off x="381000" y="381000"/>
            <a:ext cx="2611612" cy="461665"/>
          </a:xfrm>
          <a:prstGeom prst="rect">
            <a:avLst/>
          </a:prstGeom>
          <a:noFill/>
        </p:spPr>
        <p:txBody>
          <a:bodyPr wrap="none" rtlCol="0">
            <a:spAutoFit/>
          </a:bodyPr>
          <a:lstStyle/>
          <a:p>
            <a:r>
              <a:rPr lang="en-GB" sz="2400" b="1" dirty="0"/>
              <a:t>RGB  to  </a:t>
            </a:r>
            <a:r>
              <a:rPr lang="en-GB" sz="2400" b="1" dirty="0" err="1"/>
              <a:t>Y,Cb,Cr</a:t>
            </a:r>
            <a:endParaRPr lang="en-GB" sz="2400" b="1" dirty="0"/>
          </a:p>
        </p:txBody>
      </p:sp>
      <p:sp>
        <p:nvSpPr>
          <p:cNvPr id="161" name="TextBox 160"/>
          <p:cNvSpPr txBox="1"/>
          <p:nvPr/>
        </p:nvSpPr>
        <p:spPr>
          <a:xfrm>
            <a:off x="381000" y="4605566"/>
            <a:ext cx="7203767" cy="1384995"/>
          </a:xfrm>
          <a:prstGeom prst="rect">
            <a:avLst/>
          </a:prstGeom>
          <a:noFill/>
        </p:spPr>
        <p:txBody>
          <a:bodyPr wrap="square" rtlCol="0">
            <a:spAutoFit/>
          </a:bodyPr>
          <a:lstStyle/>
          <a:p>
            <a:r>
              <a:rPr lang="en-GB" sz="2000" b="1" dirty="0"/>
              <a:t>RGB</a:t>
            </a:r>
            <a:r>
              <a:rPr lang="en-GB" sz="1600" dirty="0"/>
              <a:t> pixel format … … …  is converted to … … … </a:t>
            </a:r>
            <a:r>
              <a:rPr lang="en-GB" sz="2000" b="1" dirty="0" err="1"/>
              <a:t>Y,Cb,Cr</a:t>
            </a:r>
            <a:endParaRPr lang="en-GB" sz="2000" b="1" dirty="0"/>
          </a:p>
          <a:p>
            <a:endParaRPr lang="en-GB" sz="1600" dirty="0"/>
          </a:p>
          <a:p>
            <a:r>
              <a:rPr lang="en-GB" sz="1600" dirty="0"/>
              <a:t>where </a:t>
            </a:r>
          </a:p>
          <a:p>
            <a:r>
              <a:rPr lang="en-GB" dirty="0"/>
              <a:t>Y = luminance (light intensity)</a:t>
            </a:r>
          </a:p>
          <a:p>
            <a:r>
              <a:rPr lang="en-GB" dirty="0" err="1"/>
              <a:t>Cb</a:t>
            </a:r>
            <a:r>
              <a:rPr lang="en-GB" dirty="0"/>
              <a:t>, Cr = colour information </a:t>
            </a:r>
          </a:p>
        </p:txBody>
      </p:sp>
      <p:grpSp>
        <p:nvGrpSpPr>
          <p:cNvPr id="258" name="Group 257"/>
          <p:cNvGrpSpPr/>
          <p:nvPr/>
        </p:nvGrpSpPr>
        <p:grpSpPr>
          <a:xfrm>
            <a:off x="417004" y="1910396"/>
            <a:ext cx="3754946" cy="2518728"/>
            <a:chOff x="417004" y="1910396"/>
            <a:chExt cx="3754946" cy="2518728"/>
          </a:xfrm>
        </p:grpSpPr>
        <p:sp>
          <p:nvSpPr>
            <p:cNvPr id="162" name="Rectangle 161"/>
            <p:cNvSpPr/>
            <p:nvPr/>
          </p:nvSpPr>
          <p:spPr bwMode="auto">
            <a:xfrm>
              <a:off x="802275" y="2307032"/>
              <a:ext cx="474505" cy="459965"/>
            </a:xfrm>
            <a:prstGeom prst="rect">
              <a:avLst/>
            </a:prstGeom>
            <a:solidFill>
              <a:schemeClr val="bg2">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63" name="Rectangle 162"/>
            <p:cNvSpPr/>
            <p:nvPr/>
          </p:nvSpPr>
          <p:spPr bwMode="auto">
            <a:xfrm>
              <a:off x="1395407" y="2307032"/>
              <a:ext cx="474505" cy="459965"/>
            </a:xfrm>
            <a:prstGeom prst="rect">
              <a:avLst/>
            </a:prstGeom>
            <a:solidFill>
              <a:schemeClr val="bg2">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64" name="Rectangle 163"/>
            <p:cNvSpPr/>
            <p:nvPr/>
          </p:nvSpPr>
          <p:spPr bwMode="auto">
            <a:xfrm>
              <a:off x="1988539" y="2307032"/>
              <a:ext cx="474505" cy="459965"/>
            </a:xfrm>
            <a:prstGeom prst="rect">
              <a:avLst/>
            </a:prstGeom>
            <a:solidFill>
              <a:schemeClr val="bg2">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65" name="Rectangle 164"/>
            <p:cNvSpPr/>
            <p:nvPr/>
          </p:nvSpPr>
          <p:spPr bwMode="auto">
            <a:xfrm>
              <a:off x="802275" y="2881988"/>
              <a:ext cx="474505" cy="459965"/>
            </a:xfrm>
            <a:prstGeom prst="rect">
              <a:avLst/>
            </a:prstGeom>
            <a:solidFill>
              <a:schemeClr val="bg2">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66" name="Rectangle 165"/>
            <p:cNvSpPr/>
            <p:nvPr/>
          </p:nvSpPr>
          <p:spPr bwMode="auto">
            <a:xfrm>
              <a:off x="1395407" y="2881988"/>
              <a:ext cx="474505" cy="459965"/>
            </a:xfrm>
            <a:prstGeom prst="rect">
              <a:avLst/>
            </a:prstGeom>
            <a:solidFill>
              <a:schemeClr val="bg2">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67" name="Rectangle 166"/>
            <p:cNvSpPr/>
            <p:nvPr/>
          </p:nvSpPr>
          <p:spPr bwMode="auto">
            <a:xfrm>
              <a:off x="1988539" y="2881988"/>
              <a:ext cx="474505" cy="459965"/>
            </a:xfrm>
            <a:prstGeom prst="rect">
              <a:avLst/>
            </a:prstGeom>
            <a:solidFill>
              <a:schemeClr val="bg2">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71" name="Rectangle 170"/>
            <p:cNvSpPr/>
            <p:nvPr/>
          </p:nvSpPr>
          <p:spPr bwMode="auto">
            <a:xfrm>
              <a:off x="705833" y="2190375"/>
              <a:ext cx="474505" cy="45996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72" name="Rectangle 171"/>
            <p:cNvSpPr/>
            <p:nvPr/>
          </p:nvSpPr>
          <p:spPr bwMode="auto">
            <a:xfrm>
              <a:off x="1298964" y="2190375"/>
              <a:ext cx="474505" cy="45996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73" name="Rectangle 172"/>
            <p:cNvSpPr/>
            <p:nvPr/>
          </p:nvSpPr>
          <p:spPr bwMode="auto">
            <a:xfrm>
              <a:off x="1892096" y="2190375"/>
              <a:ext cx="474505" cy="45996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74" name="Rectangle 173"/>
            <p:cNvSpPr/>
            <p:nvPr/>
          </p:nvSpPr>
          <p:spPr bwMode="auto">
            <a:xfrm>
              <a:off x="705833" y="2765331"/>
              <a:ext cx="474505" cy="45996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75" name="Rectangle 174"/>
            <p:cNvSpPr/>
            <p:nvPr/>
          </p:nvSpPr>
          <p:spPr bwMode="auto">
            <a:xfrm>
              <a:off x="1298964" y="2765331"/>
              <a:ext cx="474505" cy="45996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76" name="Rectangle 175"/>
            <p:cNvSpPr/>
            <p:nvPr/>
          </p:nvSpPr>
          <p:spPr bwMode="auto">
            <a:xfrm>
              <a:off x="1892096" y="2765331"/>
              <a:ext cx="474505" cy="45996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77" name="Rectangle 176"/>
            <p:cNvSpPr/>
            <p:nvPr/>
          </p:nvSpPr>
          <p:spPr bwMode="auto">
            <a:xfrm>
              <a:off x="705833" y="3340287"/>
              <a:ext cx="474505" cy="45996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78" name="Rectangle 177"/>
            <p:cNvSpPr/>
            <p:nvPr/>
          </p:nvSpPr>
          <p:spPr bwMode="auto">
            <a:xfrm>
              <a:off x="1298964" y="3340287"/>
              <a:ext cx="474505" cy="45996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79" name="Rectangle 178"/>
            <p:cNvSpPr/>
            <p:nvPr/>
          </p:nvSpPr>
          <p:spPr bwMode="auto">
            <a:xfrm>
              <a:off x="1892096" y="3340287"/>
              <a:ext cx="474505" cy="45996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80" name="Rectangle 179"/>
            <p:cNvSpPr/>
            <p:nvPr/>
          </p:nvSpPr>
          <p:spPr bwMode="auto">
            <a:xfrm>
              <a:off x="561419" y="2073717"/>
              <a:ext cx="474505" cy="459965"/>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81" name="Rectangle 180"/>
            <p:cNvSpPr/>
            <p:nvPr/>
          </p:nvSpPr>
          <p:spPr bwMode="auto">
            <a:xfrm>
              <a:off x="1154550" y="2073717"/>
              <a:ext cx="474505" cy="459965"/>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82" name="Rectangle 181"/>
            <p:cNvSpPr/>
            <p:nvPr/>
          </p:nvSpPr>
          <p:spPr bwMode="auto">
            <a:xfrm>
              <a:off x="1747682" y="2073717"/>
              <a:ext cx="474505" cy="459965"/>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83" name="Rectangle 182"/>
            <p:cNvSpPr/>
            <p:nvPr/>
          </p:nvSpPr>
          <p:spPr bwMode="auto">
            <a:xfrm>
              <a:off x="561419" y="2648673"/>
              <a:ext cx="474505" cy="459965"/>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84" name="Rectangle 183"/>
            <p:cNvSpPr/>
            <p:nvPr/>
          </p:nvSpPr>
          <p:spPr bwMode="auto">
            <a:xfrm>
              <a:off x="1154550" y="2648673"/>
              <a:ext cx="474505" cy="459965"/>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85" name="Rectangle 184"/>
            <p:cNvSpPr/>
            <p:nvPr/>
          </p:nvSpPr>
          <p:spPr bwMode="auto">
            <a:xfrm>
              <a:off x="1747682" y="2648673"/>
              <a:ext cx="474505" cy="459965"/>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86" name="Rectangle 185"/>
            <p:cNvSpPr/>
            <p:nvPr/>
          </p:nvSpPr>
          <p:spPr bwMode="auto">
            <a:xfrm>
              <a:off x="561419" y="3223629"/>
              <a:ext cx="474505" cy="459965"/>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87" name="Rectangle 186"/>
            <p:cNvSpPr/>
            <p:nvPr/>
          </p:nvSpPr>
          <p:spPr bwMode="auto">
            <a:xfrm>
              <a:off x="1154550" y="3223629"/>
              <a:ext cx="474505" cy="459965"/>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88" name="Rectangle 187"/>
            <p:cNvSpPr/>
            <p:nvPr/>
          </p:nvSpPr>
          <p:spPr bwMode="auto">
            <a:xfrm>
              <a:off x="1747682" y="3223629"/>
              <a:ext cx="474505" cy="459965"/>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89" name="Rectangle 188"/>
            <p:cNvSpPr/>
            <p:nvPr/>
          </p:nvSpPr>
          <p:spPr bwMode="auto">
            <a:xfrm>
              <a:off x="417004" y="1910396"/>
              <a:ext cx="474505" cy="459965"/>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90" name="Rectangle 189"/>
            <p:cNvSpPr/>
            <p:nvPr/>
          </p:nvSpPr>
          <p:spPr bwMode="auto">
            <a:xfrm>
              <a:off x="1010135" y="1910396"/>
              <a:ext cx="474505" cy="459965"/>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91" name="Rectangle 190"/>
            <p:cNvSpPr/>
            <p:nvPr/>
          </p:nvSpPr>
          <p:spPr bwMode="auto">
            <a:xfrm>
              <a:off x="1603267" y="1910396"/>
              <a:ext cx="474505" cy="459965"/>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92" name="Rectangle 191"/>
            <p:cNvSpPr/>
            <p:nvPr/>
          </p:nvSpPr>
          <p:spPr bwMode="auto">
            <a:xfrm>
              <a:off x="417004" y="2485352"/>
              <a:ext cx="474505" cy="459965"/>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93" name="Rectangle 192"/>
            <p:cNvSpPr/>
            <p:nvPr/>
          </p:nvSpPr>
          <p:spPr bwMode="auto">
            <a:xfrm>
              <a:off x="1010135" y="2485352"/>
              <a:ext cx="474505" cy="459965"/>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94" name="Rectangle 193"/>
            <p:cNvSpPr/>
            <p:nvPr/>
          </p:nvSpPr>
          <p:spPr bwMode="auto">
            <a:xfrm>
              <a:off x="1603267" y="2485352"/>
              <a:ext cx="474505" cy="459965"/>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95" name="Rectangle 194"/>
            <p:cNvSpPr/>
            <p:nvPr/>
          </p:nvSpPr>
          <p:spPr bwMode="auto">
            <a:xfrm>
              <a:off x="417004" y="3060309"/>
              <a:ext cx="474505" cy="459965"/>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96" name="Rectangle 195"/>
            <p:cNvSpPr/>
            <p:nvPr/>
          </p:nvSpPr>
          <p:spPr bwMode="auto">
            <a:xfrm>
              <a:off x="1010135" y="3060309"/>
              <a:ext cx="474505" cy="459965"/>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97" name="Rectangle 196"/>
            <p:cNvSpPr/>
            <p:nvPr/>
          </p:nvSpPr>
          <p:spPr bwMode="auto">
            <a:xfrm>
              <a:off x="1603267" y="3060309"/>
              <a:ext cx="474505" cy="459965"/>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98" name="Rectangle 197"/>
            <p:cNvSpPr/>
            <p:nvPr/>
          </p:nvSpPr>
          <p:spPr bwMode="auto">
            <a:xfrm>
              <a:off x="2607624" y="2307032"/>
              <a:ext cx="474505" cy="459965"/>
            </a:xfrm>
            <a:prstGeom prst="rect">
              <a:avLst/>
            </a:prstGeom>
            <a:solidFill>
              <a:schemeClr val="bg2">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99" name="Rectangle 198"/>
            <p:cNvSpPr/>
            <p:nvPr/>
          </p:nvSpPr>
          <p:spPr bwMode="auto">
            <a:xfrm>
              <a:off x="3200755" y="2307032"/>
              <a:ext cx="474505" cy="459965"/>
            </a:xfrm>
            <a:prstGeom prst="rect">
              <a:avLst/>
            </a:prstGeom>
            <a:solidFill>
              <a:schemeClr val="bg2">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01" name="Rectangle 200"/>
            <p:cNvSpPr/>
            <p:nvPr/>
          </p:nvSpPr>
          <p:spPr bwMode="auto">
            <a:xfrm>
              <a:off x="2607624" y="2881988"/>
              <a:ext cx="474505" cy="459965"/>
            </a:xfrm>
            <a:prstGeom prst="rect">
              <a:avLst/>
            </a:prstGeom>
            <a:solidFill>
              <a:schemeClr val="bg2">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02" name="Rectangle 201"/>
            <p:cNvSpPr/>
            <p:nvPr/>
          </p:nvSpPr>
          <p:spPr bwMode="auto">
            <a:xfrm>
              <a:off x="3200755" y="2881988"/>
              <a:ext cx="474505" cy="459965"/>
            </a:xfrm>
            <a:prstGeom prst="rect">
              <a:avLst/>
            </a:prstGeom>
            <a:solidFill>
              <a:schemeClr val="bg2">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07" name="Rectangle 206"/>
            <p:cNvSpPr/>
            <p:nvPr/>
          </p:nvSpPr>
          <p:spPr bwMode="auto">
            <a:xfrm>
              <a:off x="2511182" y="2190375"/>
              <a:ext cx="474505" cy="45996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08" name="Rectangle 207"/>
            <p:cNvSpPr/>
            <p:nvPr/>
          </p:nvSpPr>
          <p:spPr bwMode="auto">
            <a:xfrm>
              <a:off x="3104313" y="2190375"/>
              <a:ext cx="474505" cy="45996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09" name="Rectangle 208"/>
            <p:cNvSpPr/>
            <p:nvPr/>
          </p:nvSpPr>
          <p:spPr bwMode="auto">
            <a:xfrm>
              <a:off x="3697445" y="2190375"/>
              <a:ext cx="474505" cy="45996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10" name="Rectangle 209"/>
            <p:cNvSpPr/>
            <p:nvPr/>
          </p:nvSpPr>
          <p:spPr bwMode="auto">
            <a:xfrm>
              <a:off x="2511182" y="2765331"/>
              <a:ext cx="474505" cy="45996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11" name="Rectangle 210"/>
            <p:cNvSpPr/>
            <p:nvPr/>
          </p:nvSpPr>
          <p:spPr bwMode="auto">
            <a:xfrm>
              <a:off x="3104313" y="2765331"/>
              <a:ext cx="474505" cy="45996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12" name="Rectangle 211"/>
            <p:cNvSpPr/>
            <p:nvPr/>
          </p:nvSpPr>
          <p:spPr bwMode="auto">
            <a:xfrm>
              <a:off x="3697445" y="2765331"/>
              <a:ext cx="474505" cy="45996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13" name="Rectangle 212"/>
            <p:cNvSpPr/>
            <p:nvPr/>
          </p:nvSpPr>
          <p:spPr bwMode="auto">
            <a:xfrm>
              <a:off x="2511182" y="3340287"/>
              <a:ext cx="474505" cy="45996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14" name="Rectangle 213"/>
            <p:cNvSpPr/>
            <p:nvPr/>
          </p:nvSpPr>
          <p:spPr bwMode="auto">
            <a:xfrm>
              <a:off x="3104313" y="3340287"/>
              <a:ext cx="474505" cy="45996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15" name="Rectangle 214"/>
            <p:cNvSpPr/>
            <p:nvPr/>
          </p:nvSpPr>
          <p:spPr bwMode="auto">
            <a:xfrm>
              <a:off x="3697445" y="3340287"/>
              <a:ext cx="474505" cy="45996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16" name="Rectangle 215"/>
            <p:cNvSpPr/>
            <p:nvPr/>
          </p:nvSpPr>
          <p:spPr bwMode="auto">
            <a:xfrm>
              <a:off x="2366767" y="2073717"/>
              <a:ext cx="474505" cy="459965"/>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17" name="Rectangle 216"/>
            <p:cNvSpPr/>
            <p:nvPr/>
          </p:nvSpPr>
          <p:spPr bwMode="auto">
            <a:xfrm>
              <a:off x="2959898" y="2073717"/>
              <a:ext cx="474505" cy="459965"/>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18" name="Rectangle 217"/>
            <p:cNvSpPr/>
            <p:nvPr/>
          </p:nvSpPr>
          <p:spPr bwMode="auto">
            <a:xfrm>
              <a:off x="3553030" y="2073717"/>
              <a:ext cx="474505" cy="459965"/>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19" name="Rectangle 218"/>
            <p:cNvSpPr/>
            <p:nvPr/>
          </p:nvSpPr>
          <p:spPr bwMode="auto">
            <a:xfrm>
              <a:off x="2366767" y="2648673"/>
              <a:ext cx="474505" cy="459965"/>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20" name="Rectangle 219"/>
            <p:cNvSpPr/>
            <p:nvPr/>
          </p:nvSpPr>
          <p:spPr bwMode="auto">
            <a:xfrm>
              <a:off x="2959898" y="2648673"/>
              <a:ext cx="474505" cy="459965"/>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21" name="Rectangle 220"/>
            <p:cNvSpPr/>
            <p:nvPr/>
          </p:nvSpPr>
          <p:spPr bwMode="auto">
            <a:xfrm>
              <a:off x="3553030" y="2648673"/>
              <a:ext cx="474505" cy="459965"/>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22" name="Rectangle 221"/>
            <p:cNvSpPr/>
            <p:nvPr/>
          </p:nvSpPr>
          <p:spPr bwMode="auto">
            <a:xfrm>
              <a:off x="2366767" y="3223629"/>
              <a:ext cx="474505" cy="459965"/>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23" name="Rectangle 222"/>
            <p:cNvSpPr/>
            <p:nvPr/>
          </p:nvSpPr>
          <p:spPr bwMode="auto">
            <a:xfrm>
              <a:off x="2959898" y="3223629"/>
              <a:ext cx="474505" cy="459965"/>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24" name="Rectangle 223"/>
            <p:cNvSpPr/>
            <p:nvPr/>
          </p:nvSpPr>
          <p:spPr bwMode="auto">
            <a:xfrm>
              <a:off x="3553030" y="3223629"/>
              <a:ext cx="474505" cy="459965"/>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25" name="Rectangle 224"/>
            <p:cNvSpPr/>
            <p:nvPr/>
          </p:nvSpPr>
          <p:spPr bwMode="auto">
            <a:xfrm>
              <a:off x="2222353" y="1910396"/>
              <a:ext cx="474505" cy="459965"/>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26" name="Rectangle 225"/>
            <p:cNvSpPr/>
            <p:nvPr/>
          </p:nvSpPr>
          <p:spPr bwMode="auto">
            <a:xfrm>
              <a:off x="2815484" y="1910396"/>
              <a:ext cx="474505" cy="459965"/>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27" name="Rectangle 226"/>
            <p:cNvSpPr/>
            <p:nvPr/>
          </p:nvSpPr>
          <p:spPr bwMode="auto">
            <a:xfrm>
              <a:off x="3408616" y="1910396"/>
              <a:ext cx="474505" cy="459965"/>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28" name="Rectangle 227"/>
            <p:cNvSpPr/>
            <p:nvPr/>
          </p:nvSpPr>
          <p:spPr bwMode="auto">
            <a:xfrm>
              <a:off x="2222353" y="2485352"/>
              <a:ext cx="474505" cy="459965"/>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29" name="Rectangle 228"/>
            <p:cNvSpPr/>
            <p:nvPr/>
          </p:nvSpPr>
          <p:spPr bwMode="auto">
            <a:xfrm>
              <a:off x="2815484" y="2485352"/>
              <a:ext cx="474505" cy="459965"/>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30" name="Rectangle 229"/>
            <p:cNvSpPr/>
            <p:nvPr/>
          </p:nvSpPr>
          <p:spPr bwMode="auto">
            <a:xfrm>
              <a:off x="3408616" y="2485352"/>
              <a:ext cx="474505" cy="459965"/>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31" name="Rectangle 230"/>
            <p:cNvSpPr/>
            <p:nvPr/>
          </p:nvSpPr>
          <p:spPr bwMode="auto">
            <a:xfrm>
              <a:off x="2222353" y="3060309"/>
              <a:ext cx="474505" cy="459965"/>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32" name="Rectangle 231"/>
            <p:cNvSpPr/>
            <p:nvPr/>
          </p:nvSpPr>
          <p:spPr bwMode="auto">
            <a:xfrm>
              <a:off x="2815484" y="3060309"/>
              <a:ext cx="474505" cy="459965"/>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33" name="Rectangle 232"/>
            <p:cNvSpPr/>
            <p:nvPr/>
          </p:nvSpPr>
          <p:spPr bwMode="auto">
            <a:xfrm>
              <a:off x="3408616" y="3060309"/>
              <a:ext cx="474505" cy="459965"/>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37" name="Rectangle 236"/>
            <p:cNvSpPr/>
            <p:nvPr/>
          </p:nvSpPr>
          <p:spPr bwMode="auto">
            <a:xfrm>
              <a:off x="705833" y="3969159"/>
              <a:ext cx="474505" cy="45996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38" name="Rectangle 237"/>
            <p:cNvSpPr/>
            <p:nvPr/>
          </p:nvSpPr>
          <p:spPr bwMode="auto">
            <a:xfrm>
              <a:off x="1298964" y="3969159"/>
              <a:ext cx="474505" cy="45996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39" name="Rectangle 238"/>
            <p:cNvSpPr/>
            <p:nvPr/>
          </p:nvSpPr>
          <p:spPr bwMode="auto">
            <a:xfrm>
              <a:off x="1892096" y="3969159"/>
              <a:ext cx="474505" cy="45996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40" name="Rectangle 239"/>
            <p:cNvSpPr/>
            <p:nvPr/>
          </p:nvSpPr>
          <p:spPr bwMode="auto">
            <a:xfrm>
              <a:off x="561419" y="3852501"/>
              <a:ext cx="474505" cy="459965"/>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41" name="Rectangle 240"/>
            <p:cNvSpPr/>
            <p:nvPr/>
          </p:nvSpPr>
          <p:spPr bwMode="auto">
            <a:xfrm>
              <a:off x="1154550" y="3852501"/>
              <a:ext cx="474505" cy="459965"/>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42" name="Rectangle 241"/>
            <p:cNvSpPr/>
            <p:nvPr/>
          </p:nvSpPr>
          <p:spPr bwMode="auto">
            <a:xfrm>
              <a:off x="1747682" y="3852501"/>
              <a:ext cx="474505" cy="459965"/>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43" name="Rectangle 242"/>
            <p:cNvSpPr/>
            <p:nvPr/>
          </p:nvSpPr>
          <p:spPr bwMode="auto">
            <a:xfrm>
              <a:off x="417004" y="3689180"/>
              <a:ext cx="474505" cy="459965"/>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44" name="Rectangle 243"/>
            <p:cNvSpPr/>
            <p:nvPr/>
          </p:nvSpPr>
          <p:spPr bwMode="auto">
            <a:xfrm>
              <a:off x="1010135" y="3689180"/>
              <a:ext cx="474505" cy="459965"/>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45" name="Rectangle 244"/>
            <p:cNvSpPr/>
            <p:nvPr/>
          </p:nvSpPr>
          <p:spPr bwMode="auto">
            <a:xfrm>
              <a:off x="1603267" y="3689180"/>
              <a:ext cx="474505" cy="459965"/>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49" name="Rectangle 248"/>
            <p:cNvSpPr/>
            <p:nvPr/>
          </p:nvSpPr>
          <p:spPr bwMode="auto">
            <a:xfrm>
              <a:off x="2511182" y="3969159"/>
              <a:ext cx="474505" cy="45996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50" name="Rectangle 249"/>
            <p:cNvSpPr/>
            <p:nvPr/>
          </p:nvSpPr>
          <p:spPr bwMode="auto">
            <a:xfrm>
              <a:off x="3104313" y="3969159"/>
              <a:ext cx="474505" cy="45996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51" name="Rectangle 250"/>
            <p:cNvSpPr/>
            <p:nvPr/>
          </p:nvSpPr>
          <p:spPr bwMode="auto">
            <a:xfrm>
              <a:off x="3697445" y="3969159"/>
              <a:ext cx="474505" cy="45996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52" name="Rectangle 251"/>
            <p:cNvSpPr/>
            <p:nvPr/>
          </p:nvSpPr>
          <p:spPr bwMode="auto">
            <a:xfrm>
              <a:off x="2366767" y="3852501"/>
              <a:ext cx="474505" cy="459965"/>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53" name="Rectangle 252"/>
            <p:cNvSpPr/>
            <p:nvPr/>
          </p:nvSpPr>
          <p:spPr bwMode="auto">
            <a:xfrm>
              <a:off x="2959898" y="3852501"/>
              <a:ext cx="474505" cy="459965"/>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54" name="Rectangle 253"/>
            <p:cNvSpPr/>
            <p:nvPr/>
          </p:nvSpPr>
          <p:spPr bwMode="auto">
            <a:xfrm>
              <a:off x="3553030" y="3852501"/>
              <a:ext cx="474505" cy="459965"/>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55" name="Rectangle 254"/>
            <p:cNvSpPr/>
            <p:nvPr/>
          </p:nvSpPr>
          <p:spPr bwMode="auto">
            <a:xfrm>
              <a:off x="2222353" y="3689180"/>
              <a:ext cx="474505" cy="459965"/>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56" name="Rectangle 255"/>
            <p:cNvSpPr/>
            <p:nvPr/>
          </p:nvSpPr>
          <p:spPr bwMode="auto">
            <a:xfrm>
              <a:off x="2815484" y="3689180"/>
              <a:ext cx="474505" cy="459965"/>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57" name="Rectangle 256"/>
            <p:cNvSpPr/>
            <p:nvPr/>
          </p:nvSpPr>
          <p:spPr bwMode="auto">
            <a:xfrm>
              <a:off x="3408616" y="3689180"/>
              <a:ext cx="474505" cy="459965"/>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grpSp>
      <p:sp>
        <p:nvSpPr>
          <p:cNvPr id="260" name="Right Arrow 259"/>
          <p:cNvSpPr/>
          <p:nvPr/>
        </p:nvSpPr>
        <p:spPr bwMode="auto">
          <a:xfrm>
            <a:off x="4276725" y="2995313"/>
            <a:ext cx="529216" cy="458298"/>
          </a:xfrm>
          <a:prstGeom prst="rightArrow">
            <a:avLst/>
          </a:prstGeom>
          <a:solidFill>
            <a:schemeClr val="bg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62" name="TextBox 261"/>
          <p:cNvSpPr txBox="1"/>
          <p:nvPr/>
        </p:nvSpPr>
        <p:spPr>
          <a:xfrm>
            <a:off x="5222845" y="5723687"/>
            <a:ext cx="3917962" cy="738664"/>
          </a:xfrm>
          <a:prstGeom prst="rect">
            <a:avLst/>
          </a:prstGeom>
          <a:solidFill>
            <a:schemeClr val="accent6">
              <a:lumMod val="20000"/>
              <a:lumOff val="80000"/>
            </a:schemeClr>
          </a:solidFill>
        </p:spPr>
        <p:txBody>
          <a:bodyPr wrap="square" rtlCol="0">
            <a:spAutoFit/>
          </a:bodyPr>
          <a:lstStyle/>
          <a:p>
            <a:endParaRPr lang="en-GB" sz="1050" dirty="0"/>
          </a:p>
          <a:p>
            <a:r>
              <a:rPr lang="en-GB" sz="1050" dirty="0"/>
              <a:t>Weighted RGB converted to Y </a:t>
            </a:r>
            <a:r>
              <a:rPr lang="en-GB" sz="1050" dirty="0" err="1"/>
              <a:t>Cb</a:t>
            </a:r>
            <a:r>
              <a:rPr lang="en-GB" sz="1050" dirty="0"/>
              <a:t>, Cr</a:t>
            </a:r>
          </a:p>
          <a:p>
            <a:r>
              <a:rPr lang="pt-BR" sz="1050" dirty="0"/>
              <a:t>0.2989*R + 0.5870*G + 0.1140*B </a:t>
            </a:r>
          </a:p>
          <a:p>
            <a:endParaRPr lang="en-GB" sz="1050" dirty="0"/>
          </a:p>
        </p:txBody>
      </p:sp>
      <p:sp>
        <p:nvSpPr>
          <p:cNvPr id="200" name="TextBox 199"/>
          <p:cNvSpPr txBox="1"/>
          <p:nvPr/>
        </p:nvSpPr>
        <p:spPr>
          <a:xfrm>
            <a:off x="8256298" y="5208845"/>
            <a:ext cx="410690" cy="338554"/>
          </a:xfrm>
          <a:prstGeom prst="rect">
            <a:avLst/>
          </a:prstGeom>
          <a:noFill/>
        </p:spPr>
        <p:txBody>
          <a:bodyPr wrap="none" rtlCol="0">
            <a:spAutoFit/>
          </a:bodyPr>
          <a:lstStyle/>
          <a:p>
            <a:r>
              <a:rPr lang="en-GB" dirty="0"/>
              <a:t>Cr</a:t>
            </a:r>
          </a:p>
        </p:txBody>
      </p:sp>
      <p:sp>
        <p:nvSpPr>
          <p:cNvPr id="203" name="TextBox 202"/>
          <p:cNvSpPr txBox="1"/>
          <p:nvPr/>
        </p:nvSpPr>
        <p:spPr>
          <a:xfrm>
            <a:off x="6724650" y="1143000"/>
            <a:ext cx="457176" cy="338554"/>
          </a:xfrm>
          <a:prstGeom prst="rect">
            <a:avLst/>
          </a:prstGeom>
          <a:noFill/>
        </p:spPr>
        <p:txBody>
          <a:bodyPr wrap="none" rtlCol="0">
            <a:spAutoFit/>
          </a:bodyPr>
          <a:lstStyle/>
          <a:p>
            <a:r>
              <a:rPr lang="en-GB" dirty="0" err="1"/>
              <a:t>Cb</a:t>
            </a:r>
            <a:endParaRPr lang="en-GB" dirty="0"/>
          </a:p>
        </p:txBody>
      </p:sp>
      <p:sp>
        <p:nvSpPr>
          <p:cNvPr id="204" name="TextBox 203"/>
          <p:cNvSpPr txBox="1"/>
          <p:nvPr/>
        </p:nvSpPr>
        <p:spPr>
          <a:xfrm>
            <a:off x="8162925" y="800100"/>
            <a:ext cx="361950" cy="338554"/>
          </a:xfrm>
          <a:prstGeom prst="rect">
            <a:avLst/>
          </a:prstGeom>
          <a:noFill/>
        </p:spPr>
        <p:txBody>
          <a:bodyPr wrap="square" rtlCol="0">
            <a:spAutoFit/>
          </a:bodyPr>
          <a:lstStyle/>
          <a:p>
            <a:r>
              <a:rPr lang="en-GB" dirty="0"/>
              <a:t>Y</a:t>
            </a:r>
          </a:p>
        </p:txBody>
      </p:sp>
      <p:cxnSp>
        <p:nvCxnSpPr>
          <p:cNvPr id="206" name="Straight Arrow Connector 205"/>
          <p:cNvCxnSpPr/>
          <p:nvPr/>
        </p:nvCxnSpPr>
        <p:spPr bwMode="auto">
          <a:xfrm flipH="1">
            <a:off x="8286750" y="1181100"/>
            <a:ext cx="85725" cy="1000125"/>
          </a:xfrm>
          <a:prstGeom prst="straightConnector1">
            <a:avLst/>
          </a:prstGeom>
          <a:noFill/>
          <a:ln w="9525" cap="flat" cmpd="sng" algn="ctr">
            <a:solidFill>
              <a:schemeClr val="tx1"/>
            </a:solidFill>
            <a:prstDash val="solid"/>
            <a:round/>
            <a:headEnd type="none" w="med" len="med"/>
            <a:tailEnd type="arrow"/>
          </a:ln>
          <a:effectLst/>
        </p:spPr>
      </p:cxnSp>
      <p:cxnSp>
        <p:nvCxnSpPr>
          <p:cNvPr id="236" name="Straight Arrow Connector 235"/>
          <p:cNvCxnSpPr/>
          <p:nvPr/>
        </p:nvCxnSpPr>
        <p:spPr bwMode="auto">
          <a:xfrm flipH="1" flipV="1">
            <a:off x="7628283" y="4361120"/>
            <a:ext cx="528321" cy="863600"/>
          </a:xfrm>
          <a:prstGeom prst="straightConnector1">
            <a:avLst/>
          </a:prstGeom>
          <a:noFill/>
          <a:ln w="9525" cap="flat" cmpd="sng" algn="ctr">
            <a:solidFill>
              <a:schemeClr val="tx1"/>
            </a:solidFill>
            <a:prstDash val="solid"/>
            <a:round/>
            <a:headEnd type="none" w="med" len="med"/>
            <a:tailEnd type="arrow"/>
          </a:ln>
          <a:effectLst/>
        </p:spPr>
      </p:cxnSp>
      <p:cxnSp>
        <p:nvCxnSpPr>
          <p:cNvPr id="247" name="Straight Arrow Connector 246"/>
          <p:cNvCxnSpPr/>
          <p:nvPr/>
        </p:nvCxnSpPr>
        <p:spPr bwMode="auto">
          <a:xfrm flipH="1">
            <a:off x="6762750" y="1495425"/>
            <a:ext cx="114301" cy="609600"/>
          </a:xfrm>
          <a:prstGeom prst="straightConnector1">
            <a:avLst/>
          </a:prstGeom>
          <a:noFill/>
          <a:ln w="9525" cap="flat" cmpd="sng" algn="ctr">
            <a:solidFill>
              <a:schemeClr val="tx1"/>
            </a:solidFill>
            <a:prstDash val="solid"/>
            <a:round/>
            <a:headEnd type="none" w="med" len="med"/>
            <a:tailEnd type="arrow"/>
          </a:ln>
          <a:effectLst/>
        </p:spPr>
      </p:cxnSp>
      <p:sp>
        <p:nvSpPr>
          <p:cNvPr id="169" name="TextBox 168"/>
          <p:cNvSpPr txBox="1"/>
          <p:nvPr/>
        </p:nvSpPr>
        <p:spPr>
          <a:xfrm>
            <a:off x="369211" y="1134418"/>
            <a:ext cx="3811786" cy="338554"/>
          </a:xfrm>
          <a:prstGeom prst="rect">
            <a:avLst/>
          </a:prstGeom>
          <a:noFill/>
        </p:spPr>
        <p:txBody>
          <a:bodyPr wrap="square" rtlCol="0">
            <a:spAutoFit/>
          </a:bodyPr>
          <a:lstStyle/>
          <a:p>
            <a:r>
              <a:rPr lang="en-GB" sz="1600" dirty="0"/>
              <a:t>During the </a:t>
            </a:r>
            <a:r>
              <a:rPr lang="en-GB" sz="1600" b="1" i="1" dirty="0"/>
              <a:t>encoding</a:t>
            </a:r>
            <a:r>
              <a:rPr lang="en-GB" sz="1600" dirty="0"/>
              <a:t> stage ... </a:t>
            </a:r>
          </a:p>
        </p:txBody>
      </p:sp>
    </p:spTree>
    <p:extLst>
      <p:ext uri="{BB962C8B-B14F-4D97-AF65-F5344CB8AC3E}">
        <p14:creationId xmlns:p14="http://schemas.microsoft.com/office/powerpoint/2010/main" val="172107753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 name="Rectangle 192"/>
          <p:cNvSpPr/>
          <p:nvPr/>
        </p:nvSpPr>
        <p:spPr bwMode="auto">
          <a:xfrm>
            <a:off x="854764" y="4164496"/>
            <a:ext cx="4651513" cy="2365511"/>
          </a:xfrm>
          <a:prstGeom prst="rect">
            <a:avLst/>
          </a:prstGeom>
          <a:solidFill>
            <a:schemeClr val="bg2">
              <a:lumMod val="20000"/>
              <a:lumOff val="80000"/>
            </a:schemeClr>
          </a:solidFill>
          <a:ln w="25400" cap="flat" cmpd="sng" algn="ctr">
            <a:solidFill>
              <a:schemeClr val="bg1">
                <a:lumMod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 name="TextBox 1"/>
          <p:cNvSpPr txBox="1"/>
          <p:nvPr/>
        </p:nvSpPr>
        <p:spPr>
          <a:xfrm>
            <a:off x="381000" y="381000"/>
            <a:ext cx="4482317" cy="461665"/>
          </a:xfrm>
          <a:prstGeom prst="rect">
            <a:avLst/>
          </a:prstGeom>
          <a:noFill/>
        </p:spPr>
        <p:txBody>
          <a:bodyPr wrap="none" rtlCol="0">
            <a:spAutoFit/>
          </a:bodyPr>
          <a:lstStyle/>
          <a:p>
            <a:r>
              <a:rPr lang="en-GB" sz="2400" b="1" dirty="0"/>
              <a:t>RGB  to  </a:t>
            </a:r>
            <a:r>
              <a:rPr lang="en-GB" sz="2400" b="1" dirty="0" err="1"/>
              <a:t>Y,Cb,Cr</a:t>
            </a:r>
            <a:r>
              <a:rPr lang="en-GB" sz="2400" b="1" dirty="0"/>
              <a:t> – each pixel</a:t>
            </a:r>
          </a:p>
        </p:txBody>
      </p:sp>
      <p:sp>
        <p:nvSpPr>
          <p:cNvPr id="162" name="TextBox 161"/>
          <p:cNvSpPr txBox="1"/>
          <p:nvPr/>
        </p:nvSpPr>
        <p:spPr>
          <a:xfrm>
            <a:off x="940936" y="5931902"/>
            <a:ext cx="3917962" cy="523220"/>
          </a:xfrm>
          <a:prstGeom prst="rect">
            <a:avLst/>
          </a:prstGeom>
          <a:solidFill>
            <a:schemeClr val="accent6">
              <a:lumMod val="20000"/>
              <a:lumOff val="80000"/>
            </a:schemeClr>
          </a:solidFill>
        </p:spPr>
        <p:txBody>
          <a:bodyPr wrap="square" rtlCol="0">
            <a:spAutoFit/>
          </a:bodyPr>
          <a:lstStyle/>
          <a:p>
            <a:r>
              <a:rPr lang="en-GB" sz="1400" dirty="0"/>
              <a:t>Weighted RGB luminance: </a:t>
            </a:r>
          </a:p>
          <a:p>
            <a:r>
              <a:rPr lang="pt-BR" sz="1400" dirty="0"/>
              <a:t>approx  29% Red + 59% Green + 11% Blue </a:t>
            </a:r>
            <a:endParaRPr lang="en-GB" sz="1400" dirty="0"/>
          </a:p>
        </p:txBody>
      </p:sp>
      <p:sp>
        <p:nvSpPr>
          <p:cNvPr id="171" name="Rectangle 170"/>
          <p:cNvSpPr/>
          <p:nvPr/>
        </p:nvSpPr>
        <p:spPr bwMode="auto">
          <a:xfrm>
            <a:off x="1059020" y="2076075"/>
            <a:ext cx="1560355" cy="14958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72" name="Rectangle 171"/>
          <p:cNvSpPr/>
          <p:nvPr/>
        </p:nvSpPr>
        <p:spPr bwMode="auto">
          <a:xfrm>
            <a:off x="914605" y="1959417"/>
            <a:ext cx="1560355" cy="1495800"/>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73" name="Rectangle 172"/>
          <p:cNvSpPr/>
          <p:nvPr/>
        </p:nvSpPr>
        <p:spPr bwMode="auto">
          <a:xfrm>
            <a:off x="770191" y="1796096"/>
            <a:ext cx="1560355" cy="1495800"/>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80" name="Right Brace 179"/>
          <p:cNvSpPr/>
          <p:nvPr/>
        </p:nvSpPr>
        <p:spPr bwMode="auto">
          <a:xfrm rot="5400000">
            <a:off x="1600199" y="3067052"/>
            <a:ext cx="295275" cy="1819275"/>
          </a:xfrm>
          <a:prstGeom prst="rightBrace">
            <a:avLst>
              <a:gd name="adj1" fmla="val 31589"/>
              <a:gd name="adj2" fmla="val 50000"/>
            </a:avLst>
          </a:prstGeom>
          <a:noFill/>
          <a:ln w="9525" cap="flat" cmpd="sng" algn="ctr">
            <a:solidFill>
              <a:schemeClr val="tx1"/>
            </a:solidFill>
            <a:prstDash val="solid"/>
            <a:round/>
            <a:headEnd type="none" w="med" len="med"/>
            <a:tailEnd type="none"/>
          </a:ln>
          <a:effectLst/>
        </p:spPr>
        <p:txBody>
          <a:bodyPr rtlCol="0" anchor="ctr"/>
          <a:lstStyle/>
          <a:p>
            <a:pPr algn="ctr"/>
            <a:endParaRPr lang="en-GB"/>
          </a:p>
        </p:txBody>
      </p:sp>
      <p:sp>
        <p:nvSpPr>
          <p:cNvPr id="182" name="Rectangle 181"/>
          <p:cNvSpPr/>
          <p:nvPr/>
        </p:nvSpPr>
        <p:spPr bwMode="auto">
          <a:xfrm>
            <a:off x="978912" y="4269283"/>
            <a:ext cx="1560355" cy="1495800"/>
          </a:xfrm>
          <a:prstGeom prst="rect">
            <a:avLst/>
          </a:prstGeom>
          <a:solidFill>
            <a:schemeClr val="bg2">
              <a:lumMod val="60000"/>
              <a:lumOff val="4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83" name="TextBox 182"/>
          <p:cNvSpPr txBox="1"/>
          <p:nvPr/>
        </p:nvSpPr>
        <p:spPr>
          <a:xfrm>
            <a:off x="2601111" y="4561877"/>
            <a:ext cx="2925046" cy="1077218"/>
          </a:xfrm>
          <a:prstGeom prst="rect">
            <a:avLst/>
          </a:prstGeom>
          <a:noFill/>
        </p:spPr>
        <p:txBody>
          <a:bodyPr wrap="square" rtlCol="0">
            <a:spAutoFit/>
          </a:bodyPr>
          <a:lstStyle/>
          <a:p>
            <a:r>
              <a:rPr lang="en-GB" sz="1600" dirty="0"/>
              <a:t>Overall luminance </a:t>
            </a:r>
          </a:p>
          <a:p>
            <a:r>
              <a:rPr lang="en-GB" sz="1600" dirty="0"/>
              <a:t>i.e. greyscale, monochrome </a:t>
            </a:r>
          </a:p>
          <a:p>
            <a:r>
              <a:rPr lang="en-GB" sz="1600" dirty="0"/>
              <a:t>of this pixel </a:t>
            </a:r>
          </a:p>
          <a:p>
            <a:r>
              <a:rPr lang="en-GB" sz="1600" dirty="0"/>
              <a:t>= Y,  ...  i.e. the </a:t>
            </a:r>
            <a:r>
              <a:rPr lang="en-GB" sz="1600" b="1" i="1" dirty="0" err="1"/>
              <a:t>luma</a:t>
            </a:r>
            <a:endParaRPr lang="en-GB" sz="1600" b="1" i="1" dirty="0"/>
          </a:p>
        </p:txBody>
      </p:sp>
      <p:pic>
        <p:nvPicPr>
          <p:cNvPr id="2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15079" y="863600"/>
            <a:ext cx="2037081" cy="30749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9" name="Picture 3"/>
          <p:cNvPicPr>
            <a:picLocks noChangeAspect="1" noChangeArrowheads="1"/>
          </p:cNvPicPr>
          <p:nvPr/>
        </p:nvPicPr>
        <p:blipFill>
          <a:blip r:embed="rId3" cstate="print"/>
          <a:srcRect/>
          <a:stretch>
            <a:fillRect/>
          </a:stretch>
        </p:blipFill>
        <p:spPr bwMode="auto">
          <a:xfrm>
            <a:off x="6392496" y="3155959"/>
            <a:ext cx="2260376" cy="3411889"/>
          </a:xfrm>
          <a:prstGeom prst="rect">
            <a:avLst/>
          </a:prstGeom>
          <a:noFill/>
          <a:ln w="9525" cap="flat" cmpd="sng" algn="ctr">
            <a:noFill/>
            <a:prstDash val="solid"/>
            <a:miter lim="800000"/>
            <a:headEnd/>
            <a:tailEnd/>
          </a:ln>
        </p:spPr>
      </p:pic>
      <p:sp>
        <p:nvSpPr>
          <p:cNvPr id="3" name="Right Brace 2"/>
          <p:cNvSpPr/>
          <p:nvPr/>
        </p:nvSpPr>
        <p:spPr bwMode="auto">
          <a:xfrm flipH="1">
            <a:off x="3027680" y="914400"/>
            <a:ext cx="447040" cy="2976880"/>
          </a:xfrm>
          <a:prstGeom prst="rightBrace">
            <a:avLst>
              <a:gd name="adj1" fmla="val 39912"/>
              <a:gd name="adj2" fmla="val 56826"/>
            </a:avLst>
          </a:prstGeom>
          <a:noFill/>
          <a:ln w="9525" cap="flat" cmpd="sng" algn="ctr">
            <a:solidFill>
              <a:schemeClr val="tx1"/>
            </a:solidFill>
            <a:prstDash val="solid"/>
            <a:round/>
            <a:headEnd type="none" w="med" len="med"/>
            <a:tailEnd type="none"/>
          </a:ln>
          <a:effectLst/>
        </p:spPr>
        <p:txBody>
          <a:bodyPr rtlCol="0" anchor="ctr"/>
          <a:lstStyle/>
          <a:p>
            <a:pPr algn="ctr"/>
            <a:endParaRPr lang="en-GB"/>
          </a:p>
        </p:txBody>
      </p:sp>
      <p:sp>
        <p:nvSpPr>
          <p:cNvPr id="31" name="Right Brace 30"/>
          <p:cNvSpPr/>
          <p:nvPr/>
        </p:nvSpPr>
        <p:spPr bwMode="auto">
          <a:xfrm flipH="1">
            <a:off x="5842000" y="3159760"/>
            <a:ext cx="447040" cy="3332480"/>
          </a:xfrm>
          <a:prstGeom prst="rightBrace">
            <a:avLst>
              <a:gd name="adj1" fmla="val 39912"/>
              <a:gd name="adj2" fmla="val 63110"/>
            </a:avLst>
          </a:prstGeom>
          <a:noFill/>
          <a:ln w="9525" cap="flat" cmpd="sng" algn="ctr">
            <a:solidFill>
              <a:schemeClr val="tx1"/>
            </a:solidFill>
            <a:prstDash val="solid"/>
            <a:round/>
            <a:headEnd type="none" w="med" len="med"/>
            <a:tailEnd type="none"/>
          </a:ln>
          <a:effectLst/>
        </p:spPr>
        <p:txBody>
          <a:bodyPr rtlCol="0" anchor="ctr"/>
          <a:lstStyle/>
          <a:p>
            <a:pPr algn="ctr"/>
            <a:endParaRPr lang="en-GB"/>
          </a:p>
        </p:txBody>
      </p:sp>
    </p:spTree>
    <p:extLst>
      <p:ext uri="{BB962C8B-B14F-4D97-AF65-F5344CB8AC3E}">
        <p14:creationId xmlns:p14="http://schemas.microsoft.com/office/powerpoint/2010/main" val="229065894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bwMode="auto">
          <a:xfrm>
            <a:off x="854764" y="4164496"/>
            <a:ext cx="4651513" cy="2365511"/>
          </a:xfrm>
          <a:prstGeom prst="rect">
            <a:avLst/>
          </a:prstGeom>
          <a:solidFill>
            <a:schemeClr val="bg2">
              <a:lumMod val="20000"/>
              <a:lumOff val="80000"/>
            </a:schemeClr>
          </a:solidFill>
          <a:ln w="25400" cap="flat" cmpd="sng" algn="ctr">
            <a:solidFill>
              <a:schemeClr val="bg1">
                <a:lumMod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3" name="Rectangle 2"/>
          <p:cNvSpPr/>
          <p:nvPr/>
        </p:nvSpPr>
        <p:spPr bwMode="auto">
          <a:xfrm>
            <a:off x="5913781" y="4025348"/>
            <a:ext cx="3011557" cy="1540566"/>
          </a:xfrm>
          <a:prstGeom prst="rect">
            <a:avLst/>
          </a:prstGeom>
          <a:solidFill>
            <a:schemeClr val="accent1">
              <a:lumMod val="20000"/>
              <a:lumOff val="80000"/>
            </a:schemeClr>
          </a:solidFill>
          <a:ln w="25400" cap="flat" cmpd="sng" algn="ctr">
            <a:solidFill>
              <a:srgbClr val="00B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4" name="Rectangle 3"/>
          <p:cNvSpPr/>
          <p:nvPr/>
        </p:nvSpPr>
        <p:spPr bwMode="auto">
          <a:xfrm>
            <a:off x="5893683" y="525448"/>
            <a:ext cx="3001618" cy="2969592"/>
          </a:xfrm>
          <a:prstGeom prst="rect">
            <a:avLst/>
          </a:prstGeom>
          <a:solidFill>
            <a:schemeClr val="accent6">
              <a:lumMod val="20000"/>
              <a:lumOff val="80000"/>
            </a:schemeClr>
          </a:solidFill>
          <a:ln w="25400" cap="flat" cmpd="sng" algn="ctr">
            <a:solidFill>
              <a:srgbClr val="9966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5" name="TextBox 4"/>
          <p:cNvSpPr txBox="1"/>
          <p:nvPr/>
        </p:nvSpPr>
        <p:spPr>
          <a:xfrm>
            <a:off x="381000" y="381000"/>
            <a:ext cx="4482317" cy="461665"/>
          </a:xfrm>
          <a:prstGeom prst="rect">
            <a:avLst/>
          </a:prstGeom>
          <a:noFill/>
        </p:spPr>
        <p:txBody>
          <a:bodyPr wrap="none" rtlCol="0">
            <a:spAutoFit/>
          </a:bodyPr>
          <a:lstStyle/>
          <a:p>
            <a:r>
              <a:rPr lang="en-GB" sz="2400" b="1" dirty="0"/>
              <a:t>RGB  to  </a:t>
            </a:r>
            <a:r>
              <a:rPr lang="en-GB" sz="2400" b="1" dirty="0" err="1"/>
              <a:t>Y,Cb,Cr</a:t>
            </a:r>
            <a:r>
              <a:rPr lang="en-GB" sz="2400" b="1" dirty="0"/>
              <a:t> – each pixel</a:t>
            </a:r>
          </a:p>
        </p:txBody>
      </p:sp>
      <p:sp>
        <p:nvSpPr>
          <p:cNvPr id="6" name="Rectangle 5"/>
          <p:cNvSpPr/>
          <p:nvPr/>
        </p:nvSpPr>
        <p:spPr bwMode="auto">
          <a:xfrm>
            <a:off x="3979410" y="2134262"/>
            <a:ext cx="1506989" cy="1504288"/>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7" name="Rectangle 6"/>
          <p:cNvSpPr/>
          <p:nvPr/>
        </p:nvSpPr>
        <p:spPr bwMode="auto">
          <a:xfrm>
            <a:off x="3845981" y="2012874"/>
            <a:ext cx="1506989" cy="1504288"/>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8" name="Rectangle 7"/>
          <p:cNvSpPr/>
          <p:nvPr/>
        </p:nvSpPr>
        <p:spPr bwMode="auto">
          <a:xfrm>
            <a:off x="3712552" y="1842931"/>
            <a:ext cx="1506989" cy="1504288"/>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9" name="TextBox 8"/>
          <p:cNvSpPr txBox="1"/>
          <p:nvPr/>
        </p:nvSpPr>
        <p:spPr>
          <a:xfrm>
            <a:off x="940936" y="5931902"/>
            <a:ext cx="3917962" cy="523220"/>
          </a:xfrm>
          <a:prstGeom prst="rect">
            <a:avLst/>
          </a:prstGeom>
          <a:solidFill>
            <a:schemeClr val="accent6">
              <a:lumMod val="20000"/>
              <a:lumOff val="80000"/>
            </a:schemeClr>
          </a:solidFill>
        </p:spPr>
        <p:txBody>
          <a:bodyPr wrap="square" rtlCol="0">
            <a:spAutoFit/>
          </a:bodyPr>
          <a:lstStyle/>
          <a:p>
            <a:r>
              <a:rPr lang="en-GB" sz="1400" dirty="0"/>
              <a:t>Weighted RGB luminance: </a:t>
            </a:r>
          </a:p>
          <a:p>
            <a:r>
              <a:rPr lang="pt-BR" sz="1400" dirty="0"/>
              <a:t>approx  29% Red + 59% Green + 11% Blue </a:t>
            </a:r>
            <a:endParaRPr lang="en-GB" sz="1400" dirty="0"/>
          </a:p>
        </p:txBody>
      </p:sp>
      <p:sp>
        <p:nvSpPr>
          <p:cNvPr id="10" name="TextBox 9"/>
          <p:cNvSpPr txBox="1"/>
          <p:nvPr/>
        </p:nvSpPr>
        <p:spPr>
          <a:xfrm>
            <a:off x="6028083" y="4140062"/>
            <a:ext cx="1781257" cy="1077218"/>
          </a:xfrm>
          <a:prstGeom prst="rect">
            <a:avLst/>
          </a:prstGeom>
          <a:noFill/>
        </p:spPr>
        <p:txBody>
          <a:bodyPr wrap="none" rtlCol="0">
            <a:spAutoFit/>
          </a:bodyPr>
          <a:lstStyle/>
          <a:p>
            <a:r>
              <a:rPr lang="en-GB" dirty="0"/>
              <a:t>similarly, </a:t>
            </a:r>
          </a:p>
          <a:p>
            <a:r>
              <a:rPr lang="en-GB" b="1" dirty="0"/>
              <a:t>Cr = R – Y</a:t>
            </a:r>
          </a:p>
          <a:p>
            <a:endParaRPr lang="en-GB" b="1" dirty="0"/>
          </a:p>
          <a:p>
            <a:r>
              <a:rPr lang="en-GB" b="1" dirty="0"/>
              <a:t>          =          -</a:t>
            </a:r>
          </a:p>
        </p:txBody>
      </p:sp>
      <p:sp>
        <p:nvSpPr>
          <p:cNvPr id="11" name="TextBox 10"/>
          <p:cNvSpPr txBox="1"/>
          <p:nvPr/>
        </p:nvSpPr>
        <p:spPr>
          <a:xfrm>
            <a:off x="5990590" y="672465"/>
            <a:ext cx="2746586" cy="3293209"/>
          </a:xfrm>
          <a:prstGeom prst="rect">
            <a:avLst/>
          </a:prstGeom>
          <a:noFill/>
        </p:spPr>
        <p:txBody>
          <a:bodyPr wrap="none" rtlCol="0">
            <a:spAutoFit/>
          </a:bodyPr>
          <a:lstStyle/>
          <a:p>
            <a:r>
              <a:rPr lang="en-GB" b="1" dirty="0" err="1"/>
              <a:t>Cb</a:t>
            </a:r>
            <a:r>
              <a:rPr lang="en-GB" b="1" dirty="0"/>
              <a:t> = B – Y</a:t>
            </a:r>
          </a:p>
          <a:p>
            <a:pPr marL="179388" indent="-179388">
              <a:buFont typeface="Arial" pitchFamily="34" charset="0"/>
              <a:buChar char="•"/>
            </a:pPr>
            <a:r>
              <a:rPr lang="en-GB" dirty="0"/>
              <a:t>i.e. 8 bits of </a:t>
            </a:r>
            <a:r>
              <a:rPr lang="en-GB" dirty="0" err="1"/>
              <a:t>Cb</a:t>
            </a:r>
            <a:r>
              <a:rPr lang="en-GB" dirty="0"/>
              <a:t> (0-255)</a:t>
            </a:r>
          </a:p>
          <a:p>
            <a:pPr marL="179388" indent="-179388">
              <a:buFont typeface="Arial" pitchFamily="34" charset="0"/>
              <a:buChar char="•"/>
            </a:pPr>
            <a:r>
              <a:rPr lang="en-GB" dirty="0"/>
              <a:t>value of </a:t>
            </a:r>
            <a:r>
              <a:rPr lang="en-GB" dirty="0" err="1"/>
              <a:t>Cb</a:t>
            </a:r>
            <a:r>
              <a:rPr lang="en-GB" dirty="0"/>
              <a:t>:</a:t>
            </a:r>
          </a:p>
          <a:p>
            <a:pPr marL="179388" indent="-179388">
              <a:tabLst>
                <a:tab pos="357188" algn="l"/>
              </a:tabLst>
            </a:pPr>
            <a:r>
              <a:rPr lang="en-GB" dirty="0"/>
              <a:t>		value of original Blue </a:t>
            </a:r>
          </a:p>
          <a:p>
            <a:pPr marL="179388" indent="-179388"/>
            <a:r>
              <a:rPr lang="en-GB" dirty="0"/>
              <a:t>		minus</a:t>
            </a:r>
          </a:p>
          <a:p>
            <a:pPr marL="179388" indent="-179388">
              <a:tabLst>
                <a:tab pos="357188" algn="l"/>
              </a:tabLst>
            </a:pPr>
            <a:r>
              <a:rPr lang="en-GB" dirty="0"/>
              <a:t>		value of </a:t>
            </a:r>
            <a:r>
              <a:rPr lang="en-GB" dirty="0" err="1"/>
              <a:t>luma</a:t>
            </a:r>
            <a:endParaRPr lang="en-GB" dirty="0"/>
          </a:p>
          <a:p>
            <a:pPr marL="179388" indent="-179388">
              <a:tabLst>
                <a:tab pos="357188" algn="l"/>
              </a:tabLst>
            </a:pPr>
            <a:endParaRPr lang="en-GB" dirty="0"/>
          </a:p>
          <a:p>
            <a:pPr marL="179388" indent="-179388">
              <a:tabLst>
                <a:tab pos="357188" algn="l"/>
              </a:tabLst>
            </a:pPr>
            <a:r>
              <a:rPr lang="en-GB" dirty="0"/>
              <a:t>         =           -  </a:t>
            </a:r>
          </a:p>
          <a:p>
            <a:pPr marL="179388" indent="-179388">
              <a:tabLst>
                <a:tab pos="357188" algn="l"/>
              </a:tabLst>
            </a:pPr>
            <a:endParaRPr lang="en-GB" dirty="0"/>
          </a:p>
          <a:p>
            <a:pPr marL="179388" indent="-179388">
              <a:tabLst>
                <a:tab pos="357188" algn="l"/>
              </a:tabLst>
            </a:pPr>
            <a:r>
              <a:rPr lang="en-GB" dirty="0"/>
              <a:t>e.g.</a:t>
            </a:r>
          </a:p>
          <a:p>
            <a:pPr marL="342900" indent="-342900">
              <a:buAutoNum type="arabicPlain" startAt="120"/>
              <a:tabLst>
                <a:tab pos="357188" algn="l"/>
              </a:tabLst>
            </a:pPr>
            <a:r>
              <a:rPr lang="en-GB" dirty="0"/>
              <a:t>=   210  -   90</a:t>
            </a:r>
          </a:p>
          <a:p>
            <a:pPr>
              <a:tabLst>
                <a:tab pos="357188" algn="l"/>
              </a:tabLst>
            </a:pPr>
            <a:endParaRPr lang="en-GB" dirty="0"/>
          </a:p>
          <a:p>
            <a:pPr>
              <a:tabLst>
                <a:tab pos="357188" algn="l"/>
              </a:tabLst>
            </a:pPr>
            <a:r>
              <a:rPr lang="en-GB" dirty="0"/>
              <a:t> </a:t>
            </a:r>
          </a:p>
        </p:txBody>
      </p:sp>
      <p:cxnSp>
        <p:nvCxnSpPr>
          <p:cNvPr id="12" name="Straight Arrow Connector 11"/>
          <p:cNvCxnSpPr/>
          <p:nvPr/>
        </p:nvCxnSpPr>
        <p:spPr bwMode="auto">
          <a:xfrm flipH="1">
            <a:off x="5010150" y="1466850"/>
            <a:ext cx="971550" cy="495300"/>
          </a:xfrm>
          <a:prstGeom prst="straightConnector1">
            <a:avLst/>
          </a:prstGeom>
          <a:noFill/>
          <a:ln w="9525" cap="flat" cmpd="sng" algn="ctr">
            <a:solidFill>
              <a:schemeClr val="tx1"/>
            </a:solidFill>
            <a:prstDash val="solid"/>
            <a:round/>
            <a:headEnd type="none" w="med" len="med"/>
            <a:tailEnd type="arrow"/>
          </a:ln>
          <a:effectLst/>
        </p:spPr>
      </p:cxnSp>
      <p:cxnSp>
        <p:nvCxnSpPr>
          <p:cNvPr id="13" name="Straight Arrow Connector 12"/>
          <p:cNvCxnSpPr/>
          <p:nvPr/>
        </p:nvCxnSpPr>
        <p:spPr bwMode="auto">
          <a:xfrm flipH="1" flipV="1">
            <a:off x="5224256" y="3429829"/>
            <a:ext cx="808796" cy="714788"/>
          </a:xfrm>
          <a:prstGeom prst="straightConnector1">
            <a:avLst/>
          </a:prstGeom>
          <a:noFill/>
          <a:ln w="9525" cap="flat" cmpd="sng" algn="ctr">
            <a:solidFill>
              <a:schemeClr val="tx1"/>
            </a:solidFill>
            <a:prstDash val="solid"/>
            <a:round/>
            <a:headEnd type="none" w="med" len="med"/>
            <a:tailEnd type="arrow"/>
          </a:ln>
          <a:effectLst/>
        </p:spPr>
      </p:cxnSp>
      <p:sp>
        <p:nvSpPr>
          <p:cNvPr id="14" name="Rectangle 13"/>
          <p:cNvSpPr/>
          <p:nvPr/>
        </p:nvSpPr>
        <p:spPr bwMode="auto">
          <a:xfrm>
            <a:off x="1059020" y="2076075"/>
            <a:ext cx="1560355" cy="14958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5" name="Rectangle 14"/>
          <p:cNvSpPr/>
          <p:nvPr/>
        </p:nvSpPr>
        <p:spPr bwMode="auto">
          <a:xfrm>
            <a:off x="914605" y="1959417"/>
            <a:ext cx="1560355" cy="1495800"/>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6" name="Rectangle 15"/>
          <p:cNvSpPr/>
          <p:nvPr/>
        </p:nvSpPr>
        <p:spPr bwMode="auto">
          <a:xfrm>
            <a:off x="770191" y="1796096"/>
            <a:ext cx="1560355" cy="1495800"/>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7" name="Right Arrow 16"/>
          <p:cNvSpPr/>
          <p:nvPr/>
        </p:nvSpPr>
        <p:spPr bwMode="auto">
          <a:xfrm>
            <a:off x="2990850" y="2433338"/>
            <a:ext cx="529216" cy="458298"/>
          </a:xfrm>
          <a:prstGeom prst="rightArrow">
            <a:avLst/>
          </a:prstGeom>
          <a:solidFill>
            <a:schemeClr val="bg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8" name="Right Brace 17"/>
          <p:cNvSpPr/>
          <p:nvPr/>
        </p:nvSpPr>
        <p:spPr bwMode="auto">
          <a:xfrm rot="5400000">
            <a:off x="1600199" y="3067052"/>
            <a:ext cx="295275" cy="1819275"/>
          </a:xfrm>
          <a:prstGeom prst="rightBrace">
            <a:avLst>
              <a:gd name="adj1" fmla="val 31589"/>
              <a:gd name="adj2" fmla="val 50000"/>
            </a:avLst>
          </a:prstGeom>
          <a:noFill/>
          <a:ln w="9525" cap="flat" cmpd="sng" algn="ctr">
            <a:solidFill>
              <a:schemeClr val="tx1"/>
            </a:solidFill>
            <a:prstDash val="solid"/>
            <a:round/>
            <a:headEnd type="none" w="med" len="med"/>
            <a:tailEnd type="none"/>
          </a:ln>
          <a:effectLst/>
        </p:spPr>
        <p:txBody>
          <a:bodyPr rtlCol="0" anchor="ctr"/>
          <a:lstStyle/>
          <a:p>
            <a:pPr algn="ctr"/>
            <a:endParaRPr lang="en-GB"/>
          </a:p>
        </p:txBody>
      </p:sp>
      <p:sp>
        <p:nvSpPr>
          <p:cNvPr id="19" name="Rectangle 18"/>
          <p:cNvSpPr/>
          <p:nvPr/>
        </p:nvSpPr>
        <p:spPr bwMode="auto">
          <a:xfrm>
            <a:off x="978912" y="4269283"/>
            <a:ext cx="1560355" cy="1495800"/>
          </a:xfrm>
          <a:prstGeom prst="rect">
            <a:avLst/>
          </a:prstGeom>
          <a:solidFill>
            <a:schemeClr val="bg2">
              <a:lumMod val="60000"/>
              <a:lumOff val="4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0" name="TextBox 19"/>
          <p:cNvSpPr txBox="1"/>
          <p:nvPr/>
        </p:nvSpPr>
        <p:spPr>
          <a:xfrm>
            <a:off x="2601111" y="4561877"/>
            <a:ext cx="2925046" cy="1077218"/>
          </a:xfrm>
          <a:prstGeom prst="rect">
            <a:avLst/>
          </a:prstGeom>
          <a:noFill/>
        </p:spPr>
        <p:txBody>
          <a:bodyPr wrap="square" rtlCol="0">
            <a:spAutoFit/>
          </a:bodyPr>
          <a:lstStyle/>
          <a:p>
            <a:r>
              <a:rPr lang="en-GB" sz="1600" dirty="0"/>
              <a:t>Overall luminance </a:t>
            </a:r>
          </a:p>
          <a:p>
            <a:r>
              <a:rPr lang="en-GB" sz="1600" dirty="0"/>
              <a:t>i.e. greyscale, monochrome </a:t>
            </a:r>
          </a:p>
          <a:p>
            <a:r>
              <a:rPr lang="en-GB" sz="1600" dirty="0"/>
              <a:t>of this pixel </a:t>
            </a:r>
          </a:p>
          <a:p>
            <a:r>
              <a:rPr lang="en-GB" sz="1600" dirty="0"/>
              <a:t>= Y,  ...  i.e. the </a:t>
            </a:r>
            <a:r>
              <a:rPr lang="en-GB" sz="1600" b="1" i="1" dirty="0" err="1"/>
              <a:t>luma</a:t>
            </a:r>
            <a:endParaRPr lang="en-GB" sz="1600" b="1" i="1" dirty="0"/>
          </a:p>
        </p:txBody>
      </p:sp>
      <p:sp>
        <p:nvSpPr>
          <p:cNvPr id="21" name="Rectangle 20"/>
          <p:cNvSpPr/>
          <p:nvPr/>
        </p:nvSpPr>
        <p:spPr bwMode="auto">
          <a:xfrm>
            <a:off x="6057968" y="2338562"/>
            <a:ext cx="491699" cy="472887"/>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2" name="Rectangle 21"/>
          <p:cNvSpPr/>
          <p:nvPr/>
        </p:nvSpPr>
        <p:spPr bwMode="auto">
          <a:xfrm>
            <a:off x="6937498" y="2346959"/>
            <a:ext cx="499621" cy="464489"/>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3" name="Rectangle 22"/>
          <p:cNvSpPr/>
          <p:nvPr/>
        </p:nvSpPr>
        <p:spPr bwMode="auto">
          <a:xfrm>
            <a:off x="7737302" y="2336800"/>
            <a:ext cx="511956" cy="484588"/>
          </a:xfrm>
          <a:prstGeom prst="rect">
            <a:avLst/>
          </a:prstGeom>
          <a:solidFill>
            <a:schemeClr val="bg2">
              <a:lumMod val="60000"/>
              <a:lumOff val="4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4" name="Rectangle 23"/>
          <p:cNvSpPr/>
          <p:nvPr/>
        </p:nvSpPr>
        <p:spPr bwMode="auto">
          <a:xfrm>
            <a:off x="6131982" y="4815708"/>
            <a:ext cx="537176" cy="452030"/>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5" name="Rectangle 24"/>
          <p:cNvSpPr/>
          <p:nvPr/>
        </p:nvSpPr>
        <p:spPr bwMode="auto">
          <a:xfrm>
            <a:off x="7002025" y="4817592"/>
            <a:ext cx="521897" cy="440208"/>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6" name="Rectangle 25"/>
          <p:cNvSpPr/>
          <p:nvPr/>
        </p:nvSpPr>
        <p:spPr bwMode="auto">
          <a:xfrm>
            <a:off x="7836913" y="4805996"/>
            <a:ext cx="531836" cy="471682"/>
          </a:xfrm>
          <a:prstGeom prst="rect">
            <a:avLst/>
          </a:prstGeom>
          <a:solidFill>
            <a:schemeClr val="bg2">
              <a:lumMod val="60000"/>
              <a:lumOff val="4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cxnSp>
        <p:nvCxnSpPr>
          <p:cNvPr id="27" name="Straight Arrow Connector 26"/>
          <p:cNvCxnSpPr/>
          <p:nvPr/>
        </p:nvCxnSpPr>
        <p:spPr bwMode="auto">
          <a:xfrm flipH="1" flipV="1">
            <a:off x="5234416" y="3460309"/>
            <a:ext cx="808796" cy="714788"/>
          </a:xfrm>
          <a:prstGeom prst="straightConnector1">
            <a:avLst/>
          </a:prstGeom>
          <a:noFill/>
          <a:ln w="9525" cap="flat" cmpd="sng" algn="ctr">
            <a:solidFill>
              <a:srgbClr val="FFFF00"/>
            </a:solidFill>
            <a:prstDash val="solid"/>
            <a:round/>
            <a:headEnd type="none" w="med" len="med"/>
            <a:tailEnd type="arrow"/>
          </a:ln>
          <a:effectLst/>
        </p:spPr>
      </p:cxnSp>
      <p:sp>
        <p:nvSpPr>
          <p:cNvPr id="29" name="Rectangle 28"/>
          <p:cNvSpPr/>
          <p:nvPr/>
        </p:nvSpPr>
        <p:spPr>
          <a:xfrm>
            <a:off x="3689935" y="1837323"/>
            <a:ext cx="869149" cy="276999"/>
          </a:xfrm>
          <a:prstGeom prst="rect">
            <a:avLst/>
          </a:prstGeom>
        </p:spPr>
        <p:txBody>
          <a:bodyPr wrap="none">
            <a:spAutoFit/>
          </a:bodyPr>
          <a:lstStyle/>
          <a:p>
            <a:r>
              <a:rPr lang="en-GB" sz="1200" dirty="0"/>
              <a:t>1111000</a:t>
            </a:r>
          </a:p>
        </p:txBody>
      </p:sp>
      <p:sp>
        <p:nvSpPr>
          <p:cNvPr id="30" name="Rectangle 29"/>
          <p:cNvSpPr/>
          <p:nvPr/>
        </p:nvSpPr>
        <p:spPr>
          <a:xfrm>
            <a:off x="1257734" y="3259723"/>
            <a:ext cx="966931" cy="276999"/>
          </a:xfrm>
          <a:prstGeom prst="rect">
            <a:avLst/>
          </a:prstGeom>
        </p:spPr>
        <p:txBody>
          <a:bodyPr wrap="none">
            <a:spAutoFit/>
          </a:bodyPr>
          <a:lstStyle/>
          <a:p>
            <a:r>
              <a:rPr lang="en-GB" sz="1200" dirty="0">
                <a:solidFill>
                  <a:srgbClr val="FFFF00"/>
                </a:solidFill>
              </a:rPr>
              <a:t>11010010</a:t>
            </a:r>
          </a:p>
        </p:txBody>
      </p:sp>
      <p:sp>
        <p:nvSpPr>
          <p:cNvPr id="31" name="Rectangle 30"/>
          <p:cNvSpPr/>
          <p:nvPr/>
        </p:nvSpPr>
        <p:spPr>
          <a:xfrm>
            <a:off x="967055" y="4285883"/>
            <a:ext cx="966931" cy="276999"/>
          </a:xfrm>
          <a:prstGeom prst="rect">
            <a:avLst/>
          </a:prstGeom>
        </p:spPr>
        <p:txBody>
          <a:bodyPr wrap="none">
            <a:spAutoFit/>
          </a:bodyPr>
          <a:lstStyle/>
          <a:p>
            <a:r>
              <a:rPr lang="en-GB" sz="1200" dirty="0"/>
              <a:t>01011010</a:t>
            </a:r>
          </a:p>
        </p:txBody>
      </p:sp>
    </p:spTree>
    <p:extLst>
      <p:ext uri="{BB962C8B-B14F-4D97-AF65-F5344CB8AC3E}">
        <p14:creationId xmlns:p14="http://schemas.microsoft.com/office/powerpoint/2010/main" val="63421779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bwMode="auto">
          <a:xfrm>
            <a:off x="1217161" y="1277012"/>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4" name="Rectangle 3"/>
          <p:cNvSpPr/>
          <p:nvPr/>
        </p:nvSpPr>
        <p:spPr bwMode="auto">
          <a:xfrm>
            <a:off x="1765170" y="1277012"/>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5" name="Rectangle 4"/>
          <p:cNvSpPr/>
          <p:nvPr/>
        </p:nvSpPr>
        <p:spPr bwMode="auto">
          <a:xfrm>
            <a:off x="2313181" y="1277012"/>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6" name="Rectangle 5"/>
          <p:cNvSpPr/>
          <p:nvPr/>
        </p:nvSpPr>
        <p:spPr bwMode="auto">
          <a:xfrm>
            <a:off x="1083732" y="1155624"/>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7" name="Rectangle 6"/>
          <p:cNvSpPr/>
          <p:nvPr/>
        </p:nvSpPr>
        <p:spPr bwMode="auto">
          <a:xfrm>
            <a:off x="1631742" y="1155624"/>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8" name="Rectangle 7"/>
          <p:cNvSpPr/>
          <p:nvPr/>
        </p:nvSpPr>
        <p:spPr bwMode="auto">
          <a:xfrm>
            <a:off x="2179752" y="1155624"/>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9" name="Rectangle 8"/>
          <p:cNvSpPr/>
          <p:nvPr/>
        </p:nvSpPr>
        <p:spPr bwMode="auto">
          <a:xfrm>
            <a:off x="950303" y="985681"/>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0" name="Rectangle 9"/>
          <p:cNvSpPr/>
          <p:nvPr/>
        </p:nvSpPr>
        <p:spPr bwMode="auto">
          <a:xfrm>
            <a:off x="1498313" y="985681"/>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1" name="Rectangle 10"/>
          <p:cNvSpPr/>
          <p:nvPr/>
        </p:nvSpPr>
        <p:spPr bwMode="auto">
          <a:xfrm>
            <a:off x="2046324" y="985681"/>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2" name="Rectangle 11"/>
          <p:cNvSpPr/>
          <p:nvPr/>
        </p:nvSpPr>
        <p:spPr bwMode="auto">
          <a:xfrm>
            <a:off x="2885171" y="1277012"/>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3" name="Rectangle 12"/>
          <p:cNvSpPr/>
          <p:nvPr/>
        </p:nvSpPr>
        <p:spPr bwMode="auto">
          <a:xfrm>
            <a:off x="3433180" y="1277012"/>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4" name="Rectangle 13"/>
          <p:cNvSpPr/>
          <p:nvPr/>
        </p:nvSpPr>
        <p:spPr bwMode="auto">
          <a:xfrm>
            <a:off x="3981191" y="1277012"/>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5" name="Rectangle 14"/>
          <p:cNvSpPr/>
          <p:nvPr/>
        </p:nvSpPr>
        <p:spPr bwMode="auto">
          <a:xfrm>
            <a:off x="2751742" y="1155624"/>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6" name="Rectangle 15"/>
          <p:cNvSpPr/>
          <p:nvPr/>
        </p:nvSpPr>
        <p:spPr bwMode="auto">
          <a:xfrm>
            <a:off x="3299752" y="1155624"/>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7" name="Rectangle 16"/>
          <p:cNvSpPr/>
          <p:nvPr/>
        </p:nvSpPr>
        <p:spPr bwMode="auto">
          <a:xfrm>
            <a:off x="3847762" y="1155624"/>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8" name="Rectangle 17"/>
          <p:cNvSpPr/>
          <p:nvPr/>
        </p:nvSpPr>
        <p:spPr bwMode="auto">
          <a:xfrm>
            <a:off x="2618314" y="985681"/>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9" name="Rectangle 18"/>
          <p:cNvSpPr/>
          <p:nvPr/>
        </p:nvSpPr>
        <p:spPr bwMode="auto">
          <a:xfrm>
            <a:off x="3166323" y="985681"/>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0" name="Rectangle 19"/>
          <p:cNvSpPr/>
          <p:nvPr/>
        </p:nvSpPr>
        <p:spPr bwMode="auto">
          <a:xfrm>
            <a:off x="3714334" y="985681"/>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1" name="Rectangle 20"/>
          <p:cNvSpPr/>
          <p:nvPr/>
        </p:nvSpPr>
        <p:spPr bwMode="auto">
          <a:xfrm>
            <a:off x="1217161" y="185620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2" name="Rectangle 21"/>
          <p:cNvSpPr/>
          <p:nvPr/>
        </p:nvSpPr>
        <p:spPr bwMode="auto">
          <a:xfrm>
            <a:off x="1765170" y="185620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3" name="Rectangle 22"/>
          <p:cNvSpPr/>
          <p:nvPr/>
        </p:nvSpPr>
        <p:spPr bwMode="auto">
          <a:xfrm>
            <a:off x="2313181" y="185620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4" name="Rectangle 23"/>
          <p:cNvSpPr/>
          <p:nvPr/>
        </p:nvSpPr>
        <p:spPr bwMode="auto">
          <a:xfrm>
            <a:off x="1083732" y="1734816"/>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5" name="Rectangle 24"/>
          <p:cNvSpPr/>
          <p:nvPr/>
        </p:nvSpPr>
        <p:spPr bwMode="auto">
          <a:xfrm>
            <a:off x="1631742" y="1734816"/>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6" name="Rectangle 25"/>
          <p:cNvSpPr/>
          <p:nvPr/>
        </p:nvSpPr>
        <p:spPr bwMode="auto">
          <a:xfrm>
            <a:off x="2179752" y="1734816"/>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7" name="Rectangle 26"/>
          <p:cNvSpPr/>
          <p:nvPr/>
        </p:nvSpPr>
        <p:spPr bwMode="auto">
          <a:xfrm>
            <a:off x="950303" y="1564873"/>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8" name="Rectangle 27"/>
          <p:cNvSpPr/>
          <p:nvPr/>
        </p:nvSpPr>
        <p:spPr bwMode="auto">
          <a:xfrm>
            <a:off x="1498313" y="1564873"/>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9" name="Rectangle 28"/>
          <p:cNvSpPr/>
          <p:nvPr/>
        </p:nvSpPr>
        <p:spPr bwMode="auto">
          <a:xfrm>
            <a:off x="2046324" y="1564873"/>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30" name="Rectangle 29"/>
          <p:cNvSpPr/>
          <p:nvPr/>
        </p:nvSpPr>
        <p:spPr bwMode="auto">
          <a:xfrm>
            <a:off x="2885171" y="185620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31" name="Rectangle 30"/>
          <p:cNvSpPr/>
          <p:nvPr/>
        </p:nvSpPr>
        <p:spPr bwMode="auto">
          <a:xfrm>
            <a:off x="3433180" y="185620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32" name="Rectangle 31"/>
          <p:cNvSpPr/>
          <p:nvPr/>
        </p:nvSpPr>
        <p:spPr bwMode="auto">
          <a:xfrm>
            <a:off x="3981191" y="185620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33" name="Rectangle 32"/>
          <p:cNvSpPr/>
          <p:nvPr/>
        </p:nvSpPr>
        <p:spPr bwMode="auto">
          <a:xfrm>
            <a:off x="2751742" y="1734816"/>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34" name="Rectangle 33"/>
          <p:cNvSpPr/>
          <p:nvPr/>
        </p:nvSpPr>
        <p:spPr bwMode="auto">
          <a:xfrm>
            <a:off x="3299752" y="1734816"/>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35" name="Rectangle 34"/>
          <p:cNvSpPr/>
          <p:nvPr/>
        </p:nvSpPr>
        <p:spPr bwMode="auto">
          <a:xfrm>
            <a:off x="3847762" y="1734816"/>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36" name="Rectangle 35"/>
          <p:cNvSpPr/>
          <p:nvPr/>
        </p:nvSpPr>
        <p:spPr bwMode="auto">
          <a:xfrm>
            <a:off x="2618314" y="1564873"/>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37" name="Rectangle 36"/>
          <p:cNvSpPr/>
          <p:nvPr/>
        </p:nvSpPr>
        <p:spPr bwMode="auto">
          <a:xfrm>
            <a:off x="3166323" y="1564873"/>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38" name="Rectangle 37"/>
          <p:cNvSpPr/>
          <p:nvPr/>
        </p:nvSpPr>
        <p:spPr bwMode="auto">
          <a:xfrm>
            <a:off x="3714334" y="1564873"/>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39" name="Rectangle 38"/>
          <p:cNvSpPr/>
          <p:nvPr/>
        </p:nvSpPr>
        <p:spPr bwMode="auto">
          <a:xfrm>
            <a:off x="1210919" y="2445218"/>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40" name="Rectangle 39"/>
          <p:cNvSpPr/>
          <p:nvPr/>
        </p:nvSpPr>
        <p:spPr bwMode="auto">
          <a:xfrm>
            <a:off x="1758929" y="2445218"/>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41" name="Rectangle 40"/>
          <p:cNvSpPr/>
          <p:nvPr/>
        </p:nvSpPr>
        <p:spPr bwMode="auto">
          <a:xfrm>
            <a:off x="2306939" y="2445218"/>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42" name="Rectangle 41"/>
          <p:cNvSpPr/>
          <p:nvPr/>
        </p:nvSpPr>
        <p:spPr bwMode="auto">
          <a:xfrm>
            <a:off x="1077491" y="2323830"/>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43" name="Rectangle 42"/>
          <p:cNvSpPr/>
          <p:nvPr/>
        </p:nvSpPr>
        <p:spPr bwMode="auto">
          <a:xfrm>
            <a:off x="1625500" y="2323830"/>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44" name="Rectangle 43"/>
          <p:cNvSpPr/>
          <p:nvPr/>
        </p:nvSpPr>
        <p:spPr bwMode="auto">
          <a:xfrm>
            <a:off x="2173511" y="2323830"/>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45" name="Rectangle 44"/>
          <p:cNvSpPr/>
          <p:nvPr/>
        </p:nvSpPr>
        <p:spPr bwMode="auto">
          <a:xfrm>
            <a:off x="944062" y="2153887"/>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46" name="Rectangle 45"/>
          <p:cNvSpPr/>
          <p:nvPr/>
        </p:nvSpPr>
        <p:spPr bwMode="auto">
          <a:xfrm>
            <a:off x="1492072" y="2153887"/>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47" name="Rectangle 46"/>
          <p:cNvSpPr/>
          <p:nvPr/>
        </p:nvSpPr>
        <p:spPr bwMode="auto">
          <a:xfrm>
            <a:off x="2040082" y="2153887"/>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48" name="Rectangle 47"/>
          <p:cNvSpPr/>
          <p:nvPr/>
        </p:nvSpPr>
        <p:spPr bwMode="auto">
          <a:xfrm>
            <a:off x="2878929" y="2445218"/>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49" name="Rectangle 48"/>
          <p:cNvSpPr/>
          <p:nvPr/>
        </p:nvSpPr>
        <p:spPr bwMode="auto">
          <a:xfrm>
            <a:off x="3426939" y="2445218"/>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50" name="Rectangle 49"/>
          <p:cNvSpPr/>
          <p:nvPr/>
        </p:nvSpPr>
        <p:spPr bwMode="auto">
          <a:xfrm>
            <a:off x="3974950" y="2445218"/>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51" name="Rectangle 50"/>
          <p:cNvSpPr/>
          <p:nvPr/>
        </p:nvSpPr>
        <p:spPr bwMode="auto">
          <a:xfrm>
            <a:off x="2745501" y="2323830"/>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52" name="Rectangle 51"/>
          <p:cNvSpPr/>
          <p:nvPr/>
        </p:nvSpPr>
        <p:spPr bwMode="auto">
          <a:xfrm>
            <a:off x="3293511" y="2323830"/>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53" name="Rectangle 52"/>
          <p:cNvSpPr/>
          <p:nvPr/>
        </p:nvSpPr>
        <p:spPr bwMode="auto">
          <a:xfrm>
            <a:off x="3841521" y="2323830"/>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54" name="Rectangle 53"/>
          <p:cNvSpPr/>
          <p:nvPr/>
        </p:nvSpPr>
        <p:spPr bwMode="auto">
          <a:xfrm>
            <a:off x="2612072" y="2153887"/>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55" name="Rectangle 54"/>
          <p:cNvSpPr/>
          <p:nvPr/>
        </p:nvSpPr>
        <p:spPr bwMode="auto">
          <a:xfrm>
            <a:off x="3160082" y="2153887"/>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56" name="Rectangle 55"/>
          <p:cNvSpPr/>
          <p:nvPr/>
        </p:nvSpPr>
        <p:spPr bwMode="auto">
          <a:xfrm>
            <a:off x="3708092" y="2153887"/>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57" name="Rectangle 56"/>
          <p:cNvSpPr/>
          <p:nvPr/>
        </p:nvSpPr>
        <p:spPr bwMode="auto">
          <a:xfrm>
            <a:off x="1217161" y="303610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58" name="Rectangle 57"/>
          <p:cNvSpPr/>
          <p:nvPr/>
        </p:nvSpPr>
        <p:spPr bwMode="auto">
          <a:xfrm>
            <a:off x="1765170" y="303610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59" name="Rectangle 58"/>
          <p:cNvSpPr/>
          <p:nvPr/>
        </p:nvSpPr>
        <p:spPr bwMode="auto">
          <a:xfrm>
            <a:off x="2313181" y="303610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60" name="Rectangle 59"/>
          <p:cNvSpPr/>
          <p:nvPr/>
        </p:nvSpPr>
        <p:spPr bwMode="auto">
          <a:xfrm>
            <a:off x="1083732" y="2914721"/>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61" name="Rectangle 60"/>
          <p:cNvSpPr/>
          <p:nvPr/>
        </p:nvSpPr>
        <p:spPr bwMode="auto">
          <a:xfrm>
            <a:off x="1631742" y="2914721"/>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62" name="Rectangle 61"/>
          <p:cNvSpPr/>
          <p:nvPr/>
        </p:nvSpPr>
        <p:spPr bwMode="auto">
          <a:xfrm>
            <a:off x="2179752" y="2914721"/>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63" name="Rectangle 62"/>
          <p:cNvSpPr/>
          <p:nvPr/>
        </p:nvSpPr>
        <p:spPr bwMode="auto">
          <a:xfrm>
            <a:off x="950303" y="2744778"/>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64" name="Rectangle 63"/>
          <p:cNvSpPr/>
          <p:nvPr/>
        </p:nvSpPr>
        <p:spPr bwMode="auto">
          <a:xfrm>
            <a:off x="1498313" y="2744778"/>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65" name="Rectangle 64"/>
          <p:cNvSpPr/>
          <p:nvPr/>
        </p:nvSpPr>
        <p:spPr bwMode="auto">
          <a:xfrm>
            <a:off x="2046324" y="2744778"/>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66" name="Rectangle 65"/>
          <p:cNvSpPr/>
          <p:nvPr/>
        </p:nvSpPr>
        <p:spPr bwMode="auto">
          <a:xfrm>
            <a:off x="2885171" y="303610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67" name="Rectangle 66"/>
          <p:cNvSpPr/>
          <p:nvPr/>
        </p:nvSpPr>
        <p:spPr bwMode="auto">
          <a:xfrm>
            <a:off x="3433180" y="303610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68" name="Rectangle 67"/>
          <p:cNvSpPr/>
          <p:nvPr/>
        </p:nvSpPr>
        <p:spPr bwMode="auto">
          <a:xfrm>
            <a:off x="3981191" y="303610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69" name="Rectangle 68"/>
          <p:cNvSpPr/>
          <p:nvPr/>
        </p:nvSpPr>
        <p:spPr bwMode="auto">
          <a:xfrm>
            <a:off x="2751742" y="2914721"/>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70" name="Rectangle 69"/>
          <p:cNvSpPr/>
          <p:nvPr/>
        </p:nvSpPr>
        <p:spPr bwMode="auto">
          <a:xfrm>
            <a:off x="3299752" y="2914721"/>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71" name="Rectangle 70"/>
          <p:cNvSpPr/>
          <p:nvPr/>
        </p:nvSpPr>
        <p:spPr bwMode="auto">
          <a:xfrm>
            <a:off x="3847762" y="2914721"/>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72" name="Rectangle 71"/>
          <p:cNvSpPr/>
          <p:nvPr/>
        </p:nvSpPr>
        <p:spPr bwMode="auto">
          <a:xfrm>
            <a:off x="2618314" y="2744778"/>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73" name="Rectangle 72"/>
          <p:cNvSpPr/>
          <p:nvPr/>
        </p:nvSpPr>
        <p:spPr bwMode="auto">
          <a:xfrm>
            <a:off x="3166323" y="2744778"/>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74" name="Rectangle 73"/>
          <p:cNvSpPr/>
          <p:nvPr/>
        </p:nvSpPr>
        <p:spPr bwMode="auto">
          <a:xfrm>
            <a:off x="3714334" y="2744778"/>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75" name="Rectangle 74"/>
          <p:cNvSpPr/>
          <p:nvPr/>
        </p:nvSpPr>
        <p:spPr bwMode="auto">
          <a:xfrm>
            <a:off x="4522336" y="1286537"/>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76" name="Rectangle 75"/>
          <p:cNvSpPr/>
          <p:nvPr/>
        </p:nvSpPr>
        <p:spPr bwMode="auto">
          <a:xfrm>
            <a:off x="5070345" y="1286537"/>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77" name="Rectangle 76"/>
          <p:cNvSpPr/>
          <p:nvPr/>
        </p:nvSpPr>
        <p:spPr bwMode="auto">
          <a:xfrm>
            <a:off x="5618356" y="1286537"/>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78" name="Rectangle 77"/>
          <p:cNvSpPr/>
          <p:nvPr/>
        </p:nvSpPr>
        <p:spPr bwMode="auto">
          <a:xfrm>
            <a:off x="4388907" y="1165149"/>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79" name="Rectangle 78"/>
          <p:cNvSpPr/>
          <p:nvPr/>
        </p:nvSpPr>
        <p:spPr bwMode="auto">
          <a:xfrm>
            <a:off x="4936917" y="1165149"/>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80" name="Rectangle 79"/>
          <p:cNvSpPr/>
          <p:nvPr/>
        </p:nvSpPr>
        <p:spPr bwMode="auto">
          <a:xfrm>
            <a:off x="5484927" y="1165149"/>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81" name="Rectangle 80"/>
          <p:cNvSpPr/>
          <p:nvPr/>
        </p:nvSpPr>
        <p:spPr bwMode="auto">
          <a:xfrm>
            <a:off x="4255478" y="995206"/>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82" name="Rectangle 81"/>
          <p:cNvSpPr/>
          <p:nvPr/>
        </p:nvSpPr>
        <p:spPr bwMode="auto">
          <a:xfrm>
            <a:off x="4803488" y="995206"/>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83" name="Rectangle 82"/>
          <p:cNvSpPr/>
          <p:nvPr/>
        </p:nvSpPr>
        <p:spPr bwMode="auto">
          <a:xfrm>
            <a:off x="5351499" y="995206"/>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84" name="Rectangle 83"/>
          <p:cNvSpPr/>
          <p:nvPr/>
        </p:nvSpPr>
        <p:spPr bwMode="auto">
          <a:xfrm>
            <a:off x="6190346" y="1286537"/>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85" name="Rectangle 84"/>
          <p:cNvSpPr/>
          <p:nvPr/>
        </p:nvSpPr>
        <p:spPr bwMode="auto">
          <a:xfrm>
            <a:off x="6738355" y="1286537"/>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86" name="Rectangle 85"/>
          <p:cNvSpPr/>
          <p:nvPr/>
        </p:nvSpPr>
        <p:spPr bwMode="auto">
          <a:xfrm>
            <a:off x="7286366" y="1286537"/>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87" name="Rectangle 86"/>
          <p:cNvSpPr/>
          <p:nvPr/>
        </p:nvSpPr>
        <p:spPr bwMode="auto">
          <a:xfrm>
            <a:off x="6056917" y="1165149"/>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88" name="Rectangle 87"/>
          <p:cNvSpPr/>
          <p:nvPr/>
        </p:nvSpPr>
        <p:spPr bwMode="auto">
          <a:xfrm>
            <a:off x="6604927" y="1165149"/>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89" name="Rectangle 88"/>
          <p:cNvSpPr/>
          <p:nvPr/>
        </p:nvSpPr>
        <p:spPr bwMode="auto">
          <a:xfrm>
            <a:off x="7152937" y="1165149"/>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90" name="Rectangle 89"/>
          <p:cNvSpPr/>
          <p:nvPr/>
        </p:nvSpPr>
        <p:spPr bwMode="auto">
          <a:xfrm>
            <a:off x="5923489" y="995206"/>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91" name="Rectangle 90"/>
          <p:cNvSpPr/>
          <p:nvPr/>
        </p:nvSpPr>
        <p:spPr bwMode="auto">
          <a:xfrm>
            <a:off x="6471498" y="995206"/>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92" name="Rectangle 91"/>
          <p:cNvSpPr/>
          <p:nvPr/>
        </p:nvSpPr>
        <p:spPr bwMode="auto">
          <a:xfrm>
            <a:off x="7019509" y="995206"/>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93" name="Rectangle 92"/>
          <p:cNvSpPr/>
          <p:nvPr/>
        </p:nvSpPr>
        <p:spPr bwMode="auto">
          <a:xfrm>
            <a:off x="4522336" y="186572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94" name="Rectangle 93"/>
          <p:cNvSpPr/>
          <p:nvPr/>
        </p:nvSpPr>
        <p:spPr bwMode="auto">
          <a:xfrm>
            <a:off x="5070345" y="186572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95" name="Rectangle 94"/>
          <p:cNvSpPr/>
          <p:nvPr/>
        </p:nvSpPr>
        <p:spPr bwMode="auto">
          <a:xfrm>
            <a:off x="5618356" y="186572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96" name="Rectangle 95"/>
          <p:cNvSpPr/>
          <p:nvPr/>
        </p:nvSpPr>
        <p:spPr bwMode="auto">
          <a:xfrm>
            <a:off x="4388907" y="1744341"/>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97" name="Rectangle 96"/>
          <p:cNvSpPr/>
          <p:nvPr/>
        </p:nvSpPr>
        <p:spPr bwMode="auto">
          <a:xfrm>
            <a:off x="4936917" y="1744341"/>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98" name="Rectangle 97"/>
          <p:cNvSpPr/>
          <p:nvPr/>
        </p:nvSpPr>
        <p:spPr bwMode="auto">
          <a:xfrm>
            <a:off x="5484927" y="1744341"/>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99" name="Rectangle 98"/>
          <p:cNvSpPr/>
          <p:nvPr/>
        </p:nvSpPr>
        <p:spPr bwMode="auto">
          <a:xfrm>
            <a:off x="4255478" y="1574398"/>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00" name="Rectangle 99"/>
          <p:cNvSpPr/>
          <p:nvPr/>
        </p:nvSpPr>
        <p:spPr bwMode="auto">
          <a:xfrm>
            <a:off x="4803488" y="1574398"/>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01" name="Rectangle 100"/>
          <p:cNvSpPr/>
          <p:nvPr/>
        </p:nvSpPr>
        <p:spPr bwMode="auto">
          <a:xfrm>
            <a:off x="5351499" y="1574398"/>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02" name="Rectangle 101"/>
          <p:cNvSpPr/>
          <p:nvPr/>
        </p:nvSpPr>
        <p:spPr bwMode="auto">
          <a:xfrm>
            <a:off x="6190346" y="186572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03" name="Rectangle 102"/>
          <p:cNvSpPr/>
          <p:nvPr/>
        </p:nvSpPr>
        <p:spPr bwMode="auto">
          <a:xfrm>
            <a:off x="6738355" y="186572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04" name="Rectangle 103"/>
          <p:cNvSpPr/>
          <p:nvPr/>
        </p:nvSpPr>
        <p:spPr bwMode="auto">
          <a:xfrm>
            <a:off x="7286366" y="186572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05" name="Rectangle 104"/>
          <p:cNvSpPr/>
          <p:nvPr/>
        </p:nvSpPr>
        <p:spPr bwMode="auto">
          <a:xfrm>
            <a:off x="6056917" y="1744341"/>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06" name="Rectangle 105"/>
          <p:cNvSpPr/>
          <p:nvPr/>
        </p:nvSpPr>
        <p:spPr bwMode="auto">
          <a:xfrm>
            <a:off x="6604927" y="1744341"/>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07" name="Rectangle 106"/>
          <p:cNvSpPr/>
          <p:nvPr/>
        </p:nvSpPr>
        <p:spPr bwMode="auto">
          <a:xfrm>
            <a:off x="7152937" y="1744341"/>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08" name="Rectangle 107"/>
          <p:cNvSpPr/>
          <p:nvPr/>
        </p:nvSpPr>
        <p:spPr bwMode="auto">
          <a:xfrm>
            <a:off x="5923489" y="1574398"/>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09" name="Rectangle 108"/>
          <p:cNvSpPr/>
          <p:nvPr/>
        </p:nvSpPr>
        <p:spPr bwMode="auto">
          <a:xfrm>
            <a:off x="6471498" y="1574398"/>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10" name="Rectangle 109"/>
          <p:cNvSpPr/>
          <p:nvPr/>
        </p:nvSpPr>
        <p:spPr bwMode="auto">
          <a:xfrm>
            <a:off x="7019509" y="1574398"/>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11" name="Rectangle 110"/>
          <p:cNvSpPr/>
          <p:nvPr/>
        </p:nvSpPr>
        <p:spPr bwMode="auto">
          <a:xfrm>
            <a:off x="4516094" y="2454743"/>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12" name="Rectangle 111"/>
          <p:cNvSpPr/>
          <p:nvPr/>
        </p:nvSpPr>
        <p:spPr bwMode="auto">
          <a:xfrm>
            <a:off x="5064104" y="2454743"/>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13" name="Rectangle 112"/>
          <p:cNvSpPr/>
          <p:nvPr/>
        </p:nvSpPr>
        <p:spPr bwMode="auto">
          <a:xfrm>
            <a:off x="5612114" y="2454743"/>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14" name="Rectangle 113"/>
          <p:cNvSpPr/>
          <p:nvPr/>
        </p:nvSpPr>
        <p:spPr bwMode="auto">
          <a:xfrm>
            <a:off x="4382666" y="2333355"/>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15" name="Rectangle 114"/>
          <p:cNvSpPr/>
          <p:nvPr/>
        </p:nvSpPr>
        <p:spPr bwMode="auto">
          <a:xfrm>
            <a:off x="4930675" y="2333355"/>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16" name="Rectangle 115"/>
          <p:cNvSpPr/>
          <p:nvPr/>
        </p:nvSpPr>
        <p:spPr bwMode="auto">
          <a:xfrm>
            <a:off x="5478686" y="2333355"/>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17" name="Rectangle 116"/>
          <p:cNvSpPr/>
          <p:nvPr/>
        </p:nvSpPr>
        <p:spPr bwMode="auto">
          <a:xfrm>
            <a:off x="4249237" y="2163412"/>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18" name="Rectangle 117"/>
          <p:cNvSpPr/>
          <p:nvPr/>
        </p:nvSpPr>
        <p:spPr bwMode="auto">
          <a:xfrm>
            <a:off x="4797247" y="2163412"/>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20" name="Rectangle 119"/>
          <p:cNvSpPr/>
          <p:nvPr/>
        </p:nvSpPr>
        <p:spPr bwMode="auto">
          <a:xfrm>
            <a:off x="6184104" y="2454743"/>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21" name="Rectangle 120"/>
          <p:cNvSpPr/>
          <p:nvPr/>
        </p:nvSpPr>
        <p:spPr bwMode="auto">
          <a:xfrm>
            <a:off x="6732114" y="2454743"/>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22" name="Rectangle 121"/>
          <p:cNvSpPr/>
          <p:nvPr/>
        </p:nvSpPr>
        <p:spPr bwMode="auto">
          <a:xfrm>
            <a:off x="7280125" y="2454743"/>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23" name="Rectangle 122"/>
          <p:cNvSpPr/>
          <p:nvPr/>
        </p:nvSpPr>
        <p:spPr bwMode="auto">
          <a:xfrm>
            <a:off x="6050676" y="2333355"/>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24" name="Rectangle 123"/>
          <p:cNvSpPr/>
          <p:nvPr/>
        </p:nvSpPr>
        <p:spPr bwMode="auto">
          <a:xfrm>
            <a:off x="6598686" y="2333355"/>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25" name="Rectangle 124"/>
          <p:cNvSpPr/>
          <p:nvPr/>
        </p:nvSpPr>
        <p:spPr bwMode="auto">
          <a:xfrm>
            <a:off x="7146696" y="2333355"/>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26" name="Rectangle 125"/>
          <p:cNvSpPr/>
          <p:nvPr/>
        </p:nvSpPr>
        <p:spPr bwMode="auto">
          <a:xfrm>
            <a:off x="5917247" y="2163412"/>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27" name="Rectangle 126"/>
          <p:cNvSpPr/>
          <p:nvPr/>
        </p:nvSpPr>
        <p:spPr bwMode="auto">
          <a:xfrm>
            <a:off x="6465257" y="2163412"/>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28" name="Rectangle 127"/>
          <p:cNvSpPr/>
          <p:nvPr/>
        </p:nvSpPr>
        <p:spPr bwMode="auto">
          <a:xfrm>
            <a:off x="7013267" y="2163412"/>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29" name="Rectangle 128"/>
          <p:cNvSpPr/>
          <p:nvPr/>
        </p:nvSpPr>
        <p:spPr bwMode="auto">
          <a:xfrm>
            <a:off x="4522336" y="304563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30" name="Rectangle 129"/>
          <p:cNvSpPr/>
          <p:nvPr/>
        </p:nvSpPr>
        <p:spPr bwMode="auto">
          <a:xfrm>
            <a:off x="5070345" y="304563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31" name="Rectangle 130"/>
          <p:cNvSpPr/>
          <p:nvPr/>
        </p:nvSpPr>
        <p:spPr bwMode="auto">
          <a:xfrm>
            <a:off x="5618356" y="304563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32" name="Rectangle 131"/>
          <p:cNvSpPr/>
          <p:nvPr/>
        </p:nvSpPr>
        <p:spPr bwMode="auto">
          <a:xfrm>
            <a:off x="4388907" y="2924246"/>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33" name="Rectangle 132"/>
          <p:cNvSpPr/>
          <p:nvPr/>
        </p:nvSpPr>
        <p:spPr bwMode="auto">
          <a:xfrm>
            <a:off x="4936917" y="2924246"/>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34" name="Rectangle 133"/>
          <p:cNvSpPr/>
          <p:nvPr/>
        </p:nvSpPr>
        <p:spPr bwMode="auto">
          <a:xfrm>
            <a:off x="5484927" y="2924246"/>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35" name="Rectangle 134"/>
          <p:cNvSpPr/>
          <p:nvPr/>
        </p:nvSpPr>
        <p:spPr bwMode="auto">
          <a:xfrm>
            <a:off x="4255478" y="2754303"/>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36" name="Rectangle 135"/>
          <p:cNvSpPr/>
          <p:nvPr/>
        </p:nvSpPr>
        <p:spPr bwMode="auto">
          <a:xfrm>
            <a:off x="4803488" y="2754303"/>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37" name="Rectangle 136"/>
          <p:cNvSpPr/>
          <p:nvPr/>
        </p:nvSpPr>
        <p:spPr bwMode="auto">
          <a:xfrm>
            <a:off x="5351499" y="2754303"/>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38" name="Rectangle 137"/>
          <p:cNvSpPr/>
          <p:nvPr/>
        </p:nvSpPr>
        <p:spPr bwMode="auto">
          <a:xfrm>
            <a:off x="6190346" y="304563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39" name="Rectangle 138"/>
          <p:cNvSpPr/>
          <p:nvPr/>
        </p:nvSpPr>
        <p:spPr bwMode="auto">
          <a:xfrm>
            <a:off x="6738355" y="304563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40" name="Rectangle 139"/>
          <p:cNvSpPr/>
          <p:nvPr/>
        </p:nvSpPr>
        <p:spPr bwMode="auto">
          <a:xfrm>
            <a:off x="7286366" y="304563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41" name="Rectangle 140"/>
          <p:cNvSpPr/>
          <p:nvPr/>
        </p:nvSpPr>
        <p:spPr bwMode="auto">
          <a:xfrm>
            <a:off x="6056917" y="2924246"/>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42" name="Rectangle 141"/>
          <p:cNvSpPr/>
          <p:nvPr/>
        </p:nvSpPr>
        <p:spPr bwMode="auto">
          <a:xfrm>
            <a:off x="6604927" y="2924246"/>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43" name="Rectangle 142"/>
          <p:cNvSpPr/>
          <p:nvPr/>
        </p:nvSpPr>
        <p:spPr bwMode="auto">
          <a:xfrm>
            <a:off x="7152937" y="2924246"/>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44" name="Rectangle 143"/>
          <p:cNvSpPr/>
          <p:nvPr/>
        </p:nvSpPr>
        <p:spPr bwMode="auto">
          <a:xfrm>
            <a:off x="5923489" y="2754303"/>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45" name="Rectangle 144"/>
          <p:cNvSpPr/>
          <p:nvPr/>
        </p:nvSpPr>
        <p:spPr bwMode="auto">
          <a:xfrm>
            <a:off x="6471498" y="2754303"/>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46" name="Rectangle 145"/>
          <p:cNvSpPr/>
          <p:nvPr/>
        </p:nvSpPr>
        <p:spPr bwMode="auto">
          <a:xfrm>
            <a:off x="7019509" y="2754303"/>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47" name="Rectangle 146"/>
          <p:cNvSpPr/>
          <p:nvPr/>
        </p:nvSpPr>
        <p:spPr bwMode="auto">
          <a:xfrm>
            <a:off x="1207636" y="3620162"/>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48" name="Rectangle 147"/>
          <p:cNvSpPr/>
          <p:nvPr/>
        </p:nvSpPr>
        <p:spPr bwMode="auto">
          <a:xfrm>
            <a:off x="1755645" y="3620162"/>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49" name="Rectangle 148"/>
          <p:cNvSpPr/>
          <p:nvPr/>
        </p:nvSpPr>
        <p:spPr bwMode="auto">
          <a:xfrm>
            <a:off x="2303656" y="3620162"/>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50" name="Rectangle 149"/>
          <p:cNvSpPr/>
          <p:nvPr/>
        </p:nvSpPr>
        <p:spPr bwMode="auto">
          <a:xfrm>
            <a:off x="1074207" y="3498774"/>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51" name="Rectangle 150"/>
          <p:cNvSpPr/>
          <p:nvPr/>
        </p:nvSpPr>
        <p:spPr bwMode="auto">
          <a:xfrm>
            <a:off x="1622217" y="3498774"/>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52" name="Rectangle 151"/>
          <p:cNvSpPr/>
          <p:nvPr/>
        </p:nvSpPr>
        <p:spPr bwMode="auto">
          <a:xfrm>
            <a:off x="2170227" y="3498774"/>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53" name="Rectangle 152"/>
          <p:cNvSpPr/>
          <p:nvPr/>
        </p:nvSpPr>
        <p:spPr bwMode="auto">
          <a:xfrm>
            <a:off x="940778" y="3328831"/>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54" name="Rectangle 153"/>
          <p:cNvSpPr/>
          <p:nvPr/>
        </p:nvSpPr>
        <p:spPr bwMode="auto">
          <a:xfrm>
            <a:off x="1488788" y="3328831"/>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55" name="Rectangle 154"/>
          <p:cNvSpPr/>
          <p:nvPr/>
        </p:nvSpPr>
        <p:spPr bwMode="auto">
          <a:xfrm>
            <a:off x="2036799" y="3328831"/>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56" name="Rectangle 155"/>
          <p:cNvSpPr/>
          <p:nvPr/>
        </p:nvSpPr>
        <p:spPr bwMode="auto">
          <a:xfrm>
            <a:off x="2875646" y="3620162"/>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57" name="Rectangle 156"/>
          <p:cNvSpPr/>
          <p:nvPr/>
        </p:nvSpPr>
        <p:spPr bwMode="auto">
          <a:xfrm>
            <a:off x="3423655" y="3620162"/>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58" name="Rectangle 157"/>
          <p:cNvSpPr/>
          <p:nvPr/>
        </p:nvSpPr>
        <p:spPr bwMode="auto">
          <a:xfrm>
            <a:off x="3971666" y="3620162"/>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59" name="Rectangle 158"/>
          <p:cNvSpPr/>
          <p:nvPr/>
        </p:nvSpPr>
        <p:spPr bwMode="auto">
          <a:xfrm>
            <a:off x="2742217" y="3498774"/>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60" name="Rectangle 159"/>
          <p:cNvSpPr/>
          <p:nvPr/>
        </p:nvSpPr>
        <p:spPr bwMode="auto">
          <a:xfrm>
            <a:off x="3290227" y="3498774"/>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61" name="Rectangle 160"/>
          <p:cNvSpPr/>
          <p:nvPr/>
        </p:nvSpPr>
        <p:spPr bwMode="auto">
          <a:xfrm>
            <a:off x="3838237" y="3498774"/>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62" name="Rectangle 161"/>
          <p:cNvSpPr/>
          <p:nvPr/>
        </p:nvSpPr>
        <p:spPr bwMode="auto">
          <a:xfrm>
            <a:off x="2608789" y="3328831"/>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63" name="Rectangle 162"/>
          <p:cNvSpPr/>
          <p:nvPr/>
        </p:nvSpPr>
        <p:spPr bwMode="auto">
          <a:xfrm>
            <a:off x="3156798" y="3328831"/>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64" name="Rectangle 163"/>
          <p:cNvSpPr/>
          <p:nvPr/>
        </p:nvSpPr>
        <p:spPr bwMode="auto">
          <a:xfrm>
            <a:off x="3704809" y="3328831"/>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65" name="Rectangle 164"/>
          <p:cNvSpPr/>
          <p:nvPr/>
        </p:nvSpPr>
        <p:spPr bwMode="auto">
          <a:xfrm>
            <a:off x="1207636" y="419935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66" name="Rectangle 165"/>
          <p:cNvSpPr/>
          <p:nvPr/>
        </p:nvSpPr>
        <p:spPr bwMode="auto">
          <a:xfrm>
            <a:off x="1755645" y="419935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67" name="Rectangle 166"/>
          <p:cNvSpPr/>
          <p:nvPr/>
        </p:nvSpPr>
        <p:spPr bwMode="auto">
          <a:xfrm>
            <a:off x="2303656" y="419935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68" name="Rectangle 167"/>
          <p:cNvSpPr/>
          <p:nvPr/>
        </p:nvSpPr>
        <p:spPr bwMode="auto">
          <a:xfrm>
            <a:off x="1074207" y="4077966"/>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69" name="Rectangle 168"/>
          <p:cNvSpPr/>
          <p:nvPr/>
        </p:nvSpPr>
        <p:spPr bwMode="auto">
          <a:xfrm>
            <a:off x="1622217" y="4077966"/>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70" name="Rectangle 169"/>
          <p:cNvSpPr/>
          <p:nvPr/>
        </p:nvSpPr>
        <p:spPr bwMode="auto">
          <a:xfrm>
            <a:off x="2170227" y="4077966"/>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71" name="Rectangle 170"/>
          <p:cNvSpPr/>
          <p:nvPr/>
        </p:nvSpPr>
        <p:spPr bwMode="auto">
          <a:xfrm>
            <a:off x="940778" y="3908023"/>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72" name="Rectangle 171"/>
          <p:cNvSpPr/>
          <p:nvPr/>
        </p:nvSpPr>
        <p:spPr bwMode="auto">
          <a:xfrm>
            <a:off x="1488788" y="3908023"/>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73" name="Rectangle 172"/>
          <p:cNvSpPr/>
          <p:nvPr/>
        </p:nvSpPr>
        <p:spPr bwMode="auto">
          <a:xfrm>
            <a:off x="2036799" y="3908023"/>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74" name="Rectangle 173"/>
          <p:cNvSpPr/>
          <p:nvPr/>
        </p:nvSpPr>
        <p:spPr bwMode="auto">
          <a:xfrm>
            <a:off x="2875646" y="419935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75" name="Rectangle 174"/>
          <p:cNvSpPr/>
          <p:nvPr/>
        </p:nvSpPr>
        <p:spPr bwMode="auto">
          <a:xfrm>
            <a:off x="3423655" y="419935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76" name="Rectangle 175"/>
          <p:cNvSpPr/>
          <p:nvPr/>
        </p:nvSpPr>
        <p:spPr bwMode="auto">
          <a:xfrm>
            <a:off x="3971666" y="419935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77" name="Rectangle 176"/>
          <p:cNvSpPr/>
          <p:nvPr/>
        </p:nvSpPr>
        <p:spPr bwMode="auto">
          <a:xfrm>
            <a:off x="2742217" y="4077966"/>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78" name="Rectangle 177"/>
          <p:cNvSpPr/>
          <p:nvPr/>
        </p:nvSpPr>
        <p:spPr bwMode="auto">
          <a:xfrm>
            <a:off x="3290227" y="4077966"/>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79" name="Rectangle 178"/>
          <p:cNvSpPr/>
          <p:nvPr/>
        </p:nvSpPr>
        <p:spPr bwMode="auto">
          <a:xfrm>
            <a:off x="3838237" y="4077966"/>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80" name="Rectangle 179"/>
          <p:cNvSpPr/>
          <p:nvPr/>
        </p:nvSpPr>
        <p:spPr bwMode="auto">
          <a:xfrm>
            <a:off x="2608789" y="3908023"/>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81" name="Rectangle 180"/>
          <p:cNvSpPr/>
          <p:nvPr/>
        </p:nvSpPr>
        <p:spPr bwMode="auto">
          <a:xfrm>
            <a:off x="3156798" y="3908023"/>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82" name="Rectangle 181"/>
          <p:cNvSpPr/>
          <p:nvPr/>
        </p:nvSpPr>
        <p:spPr bwMode="auto">
          <a:xfrm>
            <a:off x="3704809" y="3908023"/>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83" name="Rectangle 182"/>
          <p:cNvSpPr/>
          <p:nvPr/>
        </p:nvSpPr>
        <p:spPr bwMode="auto">
          <a:xfrm>
            <a:off x="1201394" y="4788368"/>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84" name="Rectangle 183"/>
          <p:cNvSpPr/>
          <p:nvPr/>
        </p:nvSpPr>
        <p:spPr bwMode="auto">
          <a:xfrm>
            <a:off x="1749404" y="4788368"/>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85" name="Rectangle 184"/>
          <p:cNvSpPr/>
          <p:nvPr/>
        </p:nvSpPr>
        <p:spPr bwMode="auto">
          <a:xfrm>
            <a:off x="2297414" y="4788368"/>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86" name="Rectangle 185"/>
          <p:cNvSpPr/>
          <p:nvPr/>
        </p:nvSpPr>
        <p:spPr bwMode="auto">
          <a:xfrm>
            <a:off x="1067966" y="4666980"/>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87" name="Rectangle 186"/>
          <p:cNvSpPr/>
          <p:nvPr/>
        </p:nvSpPr>
        <p:spPr bwMode="auto">
          <a:xfrm>
            <a:off x="1615975" y="4666980"/>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88" name="Rectangle 187"/>
          <p:cNvSpPr/>
          <p:nvPr/>
        </p:nvSpPr>
        <p:spPr bwMode="auto">
          <a:xfrm>
            <a:off x="2163986" y="4666980"/>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89" name="Rectangle 188"/>
          <p:cNvSpPr/>
          <p:nvPr/>
        </p:nvSpPr>
        <p:spPr bwMode="auto">
          <a:xfrm>
            <a:off x="934537" y="4497037"/>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90" name="Rectangle 189"/>
          <p:cNvSpPr/>
          <p:nvPr/>
        </p:nvSpPr>
        <p:spPr bwMode="auto">
          <a:xfrm>
            <a:off x="1482547" y="4497037"/>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91" name="Rectangle 190"/>
          <p:cNvSpPr/>
          <p:nvPr/>
        </p:nvSpPr>
        <p:spPr bwMode="auto">
          <a:xfrm>
            <a:off x="2030557" y="4497037"/>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92" name="Rectangle 191"/>
          <p:cNvSpPr/>
          <p:nvPr/>
        </p:nvSpPr>
        <p:spPr bwMode="auto">
          <a:xfrm>
            <a:off x="2869404" y="4788368"/>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93" name="Rectangle 192"/>
          <p:cNvSpPr/>
          <p:nvPr/>
        </p:nvSpPr>
        <p:spPr bwMode="auto">
          <a:xfrm>
            <a:off x="3417414" y="4788368"/>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94" name="Rectangle 193"/>
          <p:cNvSpPr/>
          <p:nvPr/>
        </p:nvSpPr>
        <p:spPr bwMode="auto">
          <a:xfrm>
            <a:off x="3965425" y="4788368"/>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95" name="Rectangle 194"/>
          <p:cNvSpPr/>
          <p:nvPr/>
        </p:nvSpPr>
        <p:spPr bwMode="auto">
          <a:xfrm>
            <a:off x="2735976" y="4666980"/>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96" name="Rectangle 195"/>
          <p:cNvSpPr/>
          <p:nvPr/>
        </p:nvSpPr>
        <p:spPr bwMode="auto">
          <a:xfrm>
            <a:off x="3283986" y="4666980"/>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97" name="Rectangle 196"/>
          <p:cNvSpPr/>
          <p:nvPr/>
        </p:nvSpPr>
        <p:spPr bwMode="auto">
          <a:xfrm>
            <a:off x="3831996" y="4666980"/>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98" name="Rectangle 197"/>
          <p:cNvSpPr/>
          <p:nvPr/>
        </p:nvSpPr>
        <p:spPr bwMode="auto">
          <a:xfrm>
            <a:off x="2602547" y="4497037"/>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99" name="Rectangle 198"/>
          <p:cNvSpPr/>
          <p:nvPr/>
        </p:nvSpPr>
        <p:spPr bwMode="auto">
          <a:xfrm>
            <a:off x="3150557" y="4497037"/>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00" name="Rectangle 199"/>
          <p:cNvSpPr/>
          <p:nvPr/>
        </p:nvSpPr>
        <p:spPr bwMode="auto">
          <a:xfrm>
            <a:off x="3698567" y="4497037"/>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01" name="Rectangle 200"/>
          <p:cNvSpPr/>
          <p:nvPr/>
        </p:nvSpPr>
        <p:spPr bwMode="auto">
          <a:xfrm>
            <a:off x="1207636" y="537925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02" name="Rectangle 201"/>
          <p:cNvSpPr/>
          <p:nvPr/>
        </p:nvSpPr>
        <p:spPr bwMode="auto">
          <a:xfrm>
            <a:off x="1755645" y="537925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03" name="Rectangle 202"/>
          <p:cNvSpPr/>
          <p:nvPr/>
        </p:nvSpPr>
        <p:spPr bwMode="auto">
          <a:xfrm>
            <a:off x="2303656" y="537925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04" name="Rectangle 203"/>
          <p:cNvSpPr/>
          <p:nvPr/>
        </p:nvSpPr>
        <p:spPr bwMode="auto">
          <a:xfrm>
            <a:off x="1074207" y="5257871"/>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05" name="Rectangle 204"/>
          <p:cNvSpPr/>
          <p:nvPr/>
        </p:nvSpPr>
        <p:spPr bwMode="auto">
          <a:xfrm>
            <a:off x="1622217" y="5257871"/>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06" name="Rectangle 205"/>
          <p:cNvSpPr/>
          <p:nvPr/>
        </p:nvSpPr>
        <p:spPr bwMode="auto">
          <a:xfrm>
            <a:off x="2170227" y="5257871"/>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07" name="Rectangle 206"/>
          <p:cNvSpPr/>
          <p:nvPr/>
        </p:nvSpPr>
        <p:spPr bwMode="auto">
          <a:xfrm>
            <a:off x="940778" y="5087928"/>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08" name="Rectangle 207"/>
          <p:cNvSpPr/>
          <p:nvPr/>
        </p:nvSpPr>
        <p:spPr bwMode="auto">
          <a:xfrm>
            <a:off x="1488788" y="5087928"/>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09" name="Rectangle 208"/>
          <p:cNvSpPr/>
          <p:nvPr/>
        </p:nvSpPr>
        <p:spPr bwMode="auto">
          <a:xfrm>
            <a:off x="2036799" y="5087928"/>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10" name="Rectangle 209"/>
          <p:cNvSpPr/>
          <p:nvPr/>
        </p:nvSpPr>
        <p:spPr bwMode="auto">
          <a:xfrm>
            <a:off x="2875646" y="537925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11" name="Rectangle 210"/>
          <p:cNvSpPr/>
          <p:nvPr/>
        </p:nvSpPr>
        <p:spPr bwMode="auto">
          <a:xfrm>
            <a:off x="3423655" y="537925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12" name="Rectangle 211"/>
          <p:cNvSpPr/>
          <p:nvPr/>
        </p:nvSpPr>
        <p:spPr bwMode="auto">
          <a:xfrm>
            <a:off x="3971666" y="537925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13" name="Rectangle 212"/>
          <p:cNvSpPr/>
          <p:nvPr/>
        </p:nvSpPr>
        <p:spPr bwMode="auto">
          <a:xfrm>
            <a:off x="2742217" y="5257871"/>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14" name="Rectangle 213"/>
          <p:cNvSpPr/>
          <p:nvPr/>
        </p:nvSpPr>
        <p:spPr bwMode="auto">
          <a:xfrm>
            <a:off x="3290227" y="5257871"/>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15" name="Rectangle 214"/>
          <p:cNvSpPr/>
          <p:nvPr/>
        </p:nvSpPr>
        <p:spPr bwMode="auto">
          <a:xfrm>
            <a:off x="3838237" y="5257871"/>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16" name="Rectangle 215"/>
          <p:cNvSpPr/>
          <p:nvPr/>
        </p:nvSpPr>
        <p:spPr bwMode="auto">
          <a:xfrm>
            <a:off x="2608789" y="5087928"/>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17" name="Rectangle 216"/>
          <p:cNvSpPr/>
          <p:nvPr/>
        </p:nvSpPr>
        <p:spPr bwMode="auto">
          <a:xfrm>
            <a:off x="3156798" y="5087928"/>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18" name="Rectangle 217"/>
          <p:cNvSpPr/>
          <p:nvPr/>
        </p:nvSpPr>
        <p:spPr bwMode="auto">
          <a:xfrm>
            <a:off x="3704809" y="5087928"/>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19" name="Rectangle 218"/>
          <p:cNvSpPr/>
          <p:nvPr/>
        </p:nvSpPr>
        <p:spPr bwMode="auto">
          <a:xfrm>
            <a:off x="4512811" y="3629687"/>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20" name="Rectangle 219"/>
          <p:cNvSpPr/>
          <p:nvPr/>
        </p:nvSpPr>
        <p:spPr bwMode="auto">
          <a:xfrm>
            <a:off x="5060820" y="3629687"/>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21" name="Rectangle 220"/>
          <p:cNvSpPr/>
          <p:nvPr/>
        </p:nvSpPr>
        <p:spPr bwMode="auto">
          <a:xfrm>
            <a:off x="5608831" y="3629687"/>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22" name="Rectangle 221"/>
          <p:cNvSpPr/>
          <p:nvPr/>
        </p:nvSpPr>
        <p:spPr bwMode="auto">
          <a:xfrm>
            <a:off x="4379382" y="3508299"/>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23" name="Rectangle 222"/>
          <p:cNvSpPr/>
          <p:nvPr/>
        </p:nvSpPr>
        <p:spPr bwMode="auto">
          <a:xfrm>
            <a:off x="4927392" y="3508299"/>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24" name="Rectangle 223"/>
          <p:cNvSpPr/>
          <p:nvPr/>
        </p:nvSpPr>
        <p:spPr bwMode="auto">
          <a:xfrm>
            <a:off x="5475402" y="3508299"/>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25" name="Rectangle 224"/>
          <p:cNvSpPr/>
          <p:nvPr/>
        </p:nvSpPr>
        <p:spPr bwMode="auto">
          <a:xfrm>
            <a:off x="4245953" y="3338356"/>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26" name="Rectangle 225"/>
          <p:cNvSpPr/>
          <p:nvPr/>
        </p:nvSpPr>
        <p:spPr bwMode="auto">
          <a:xfrm>
            <a:off x="4793963" y="3338356"/>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27" name="Rectangle 226"/>
          <p:cNvSpPr/>
          <p:nvPr/>
        </p:nvSpPr>
        <p:spPr bwMode="auto">
          <a:xfrm>
            <a:off x="5341974" y="3338356"/>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28" name="Rectangle 227"/>
          <p:cNvSpPr/>
          <p:nvPr/>
        </p:nvSpPr>
        <p:spPr bwMode="auto">
          <a:xfrm>
            <a:off x="6180821" y="3629687"/>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29" name="Rectangle 228"/>
          <p:cNvSpPr/>
          <p:nvPr/>
        </p:nvSpPr>
        <p:spPr bwMode="auto">
          <a:xfrm>
            <a:off x="6728830" y="3629687"/>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30" name="Rectangle 229"/>
          <p:cNvSpPr/>
          <p:nvPr/>
        </p:nvSpPr>
        <p:spPr bwMode="auto">
          <a:xfrm>
            <a:off x="7276841" y="3629687"/>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31" name="Rectangle 230"/>
          <p:cNvSpPr/>
          <p:nvPr/>
        </p:nvSpPr>
        <p:spPr bwMode="auto">
          <a:xfrm>
            <a:off x="6047392" y="3508299"/>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32" name="Rectangle 231"/>
          <p:cNvSpPr/>
          <p:nvPr/>
        </p:nvSpPr>
        <p:spPr bwMode="auto">
          <a:xfrm>
            <a:off x="6595402" y="3508299"/>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33" name="Rectangle 232"/>
          <p:cNvSpPr/>
          <p:nvPr/>
        </p:nvSpPr>
        <p:spPr bwMode="auto">
          <a:xfrm>
            <a:off x="7143412" y="3508299"/>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34" name="Rectangle 233"/>
          <p:cNvSpPr/>
          <p:nvPr/>
        </p:nvSpPr>
        <p:spPr bwMode="auto">
          <a:xfrm>
            <a:off x="5913964" y="3338356"/>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35" name="Rectangle 234"/>
          <p:cNvSpPr/>
          <p:nvPr/>
        </p:nvSpPr>
        <p:spPr bwMode="auto">
          <a:xfrm>
            <a:off x="6461973" y="3338356"/>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36" name="Rectangle 235"/>
          <p:cNvSpPr/>
          <p:nvPr/>
        </p:nvSpPr>
        <p:spPr bwMode="auto">
          <a:xfrm>
            <a:off x="7009984" y="3338356"/>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37" name="Rectangle 236"/>
          <p:cNvSpPr/>
          <p:nvPr/>
        </p:nvSpPr>
        <p:spPr bwMode="auto">
          <a:xfrm>
            <a:off x="4512811" y="420887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38" name="Rectangle 237"/>
          <p:cNvSpPr/>
          <p:nvPr/>
        </p:nvSpPr>
        <p:spPr bwMode="auto">
          <a:xfrm>
            <a:off x="5060820" y="420887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39" name="Rectangle 238"/>
          <p:cNvSpPr/>
          <p:nvPr/>
        </p:nvSpPr>
        <p:spPr bwMode="auto">
          <a:xfrm>
            <a:off x="5608831" y="420887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40" name="Rectangle 239"/>
          <p:cNvSpPr/>
          <p:nvPr/>
        </p:nvSpPr>
        <p:spPr bwMode="auto">
          <a:xfrm>
            <a:off x="4379382" y="4087491"/>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41" name="Rectangle 240"/>
          <p:cNvSpPr/>
          <p:nvPr/>
        </p:nvSpPr>
        <p:spPr bwMode="auto">
          <a:xfrm>
            <a:off x="4927392" y="4087491"/>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42" name="Rectangle 241"/>
          <p:cNvSpPr/>
          <p:nvPr/>
        </p:nvSpPr>
        <p:spPr bwMode="auto">
          <a:xfrm>
            <a:off x="5475402" y="4087491"/>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43" name="Rectangle 242"/>
          <p:cNvSpPr/>
          <p:nvPr/>
        </p:nvSpPr>
        <p:spPr bwMode="auto">
          <a:xfrm>
            <a:off x="4245953" y="3917548"/>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44" name="Rectangle 243"/>
          <p:cNvSpPr/>
          <p:nvPr/>
        </p:nvSpPr>
        <p:spPr bwMode="auto">
          <a:xfrm>
            <a:off x="4793963" y="3917548"/>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45" name="Rectangle 244"/>
          <p:cNvSpPr/>
          <p:nvPr/>
        </p:nvSpPr>
        <p:spPr bwMode="auto">
          <a:xfrm>
            <a:off x="5341974" y="3917548"/>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46" name="Rectangle 245"/>
          <p:cNvSpPr/>
          <p:nvPr/>
        </p:nvSpPr>
        <p:spPr bwMode="auto">
          <a:xfrm>
            <a:off x="6180821" y="420887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47" name="Rectangle 246"/>
          <p:cNvSpPr/>
          <p:nvPr/>
        </p:nvSpPr>
        <p:spPr bwMode="auto">
          <a:xfrm>
            <a:off x="6728830" y="420887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48" name="Rectangle 247"/>
          <p:cNvSpPr/>
          <p:nvPr/>
        </p:nvSpPr>
        <p:spPr bwMode="auto">
          <a:xfrm>
            <a:off x="7276841" y="420887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49" name="Rectangle 248"/>
          <p:cNvSpPr/>
          <p:nvPr/>
        </p:nvSpPr>
        <p:spPr bwMode="auto">
          <a:xfrm>
            <a:off x="6047392" y="4087491"/>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50" name="Rectangle 249"/>
          <p:cNvSpPr/>
          <p:nvPr/>
        </p:nvSpPr>
        <p:spPr bwMode="auto">
          <a:xfrm>
            <a:off x="6595402" y="4087491"/>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51" name="Rectangle 250"/>
          <p:cNvSpPr/>
          <p:nvPr/>
        </p:nvSpPr>
        <p:spPr bwMode="auto">
          <a:xfrm>
            <a:off x="7143412" y="4087491"/>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52" name="Rectangle 251"/>
          <p:cNvSpPr/>
          <p:nvPr/>
        </p:nvSpPr>
        <p:spPr bwMode="auto">
          <a:xfrm>
            <a:off x="5913964" y="3917548"/>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53" name="Rectangle 252"/>
          <p:cNvSpPr/>
          <p:nvPr/>
        </p:nvSpPr>
        <p:spPr bwMode="auto">
          <a:xfrm>
            <a:off x="6461973" y="3917548"/>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54" name="Rectangle 253"/>
          <p:cNvSpPr/>
          <p:nvPr/>
        </p:nvSpPr>
        <p:spPr bwMode="auto">
          <a:xfrm>
            <a:off x="7009984" y="3917548"/>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55" name="Rectangle 254"/>
          <p:cNvSpPr/>
          <p:nvPr/>
        </p:nvSpPr>
        <p:spPr bwMode="auto">
          <a:xfrm>
            <a:off x="4506569" y="4797893"/>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56" name="Rectangle 255"/>
          <p:cNvSpPr/>
          <p:nvPr/>
        </p:nvSpPr>
        <p:spPr bwMode="auto">
          <a:xfrm>
            <a:off x="5054579" y="4797893"/>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57" name="Rectangle 256"/>
          <p:cNvSpPr/>
          <p:nvPr/>
        </p:nvSpPr>
        <p:spPr bwMode="auto">
          <a:xfrm>
            <a:off x="5602589" y="4797893"/>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58" name="Rectangle 257"/>
          <p:cNvSpPr/>
          <p:nvPr/>
        </p:nvSpPr>
        <p:spPr bwMode="auto">
          <a:xfrm>
            <a:off x="4373141" y="4676505"/>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59" name="Rectangle 258"/>
          <p:cNvSpPr/>
          <p:nvPr/>
        </p:nvSpPr>
        <p:spPr bwMode="auto">
          <a:xfrm>
            <a:off x="4921150" y="4676505"/>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60" name="Rectangle 259"/>
          <p:cNvSpPr/>
          <p:nvPr/>
        </p:nvSpPr>
        <p:spPr bwMode="auto">
          <a:xfrm>
            <a:off x="5469161" y="4676505"/>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61" name="Rectangle 260"/>
          <p:cNvSpPr/>
          <p:nvPr/>
        </p:nvSpPr>
        <p:spPr bwMode="auto">
          <a:xfrm>
            <a:off x="4239712" y="4506562"/>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62" name="Rectangle 261"/>
          <p:cNvSpPr/>
          <p:nvPr/>
        </p:nvSpPr>
        <p:spPr bwMode="auto">
          <a:xfrm>
            <a:off x="4787722" y="4506562"/>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63" name="Rectangle 262"/>
          <p:cNvSpPr/>
          <p:nvPr/>
        </p:nvSpPr>
        <p:spPr bwMode="auto">
          <a:xfrm>
            <a:off x="5335732" y="4506562"/>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64" name="Rectangle 263"/>
          <p:cNvSpPr/>
          <p:nvPr/>
        </p:nvSpPr>
        <p:spPr bwMode="auto">
          <a:xfrm>
            <a:off x="6174579" y="4797893"/>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65" name="Rectangle 264"/>
          <p:cNvSpPr/>
          <p:nvPr/>
        </p:nvSpPr>
        <p:spPr bwMode="auto">
          <a:xfrm>
            <a:off x="6722589" y="4797893"/>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66" name="Rectangle 265"/>
          <p:cNvSpPr/>
          <p:nvPr/>
        </p:nvSpPr>
        <p:spPr bwMode="auto">
          <a:xfrm>
            <a:off x="7270600" y="4797893"/>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67" name="Rectangle 266"/>
          <p:cNvSpPr/>
          <p:nvPr/>
        </p:nvSpPr>
        <p:spPr bwMode="auto">
          <a:xfrm>
            <a:off x="6041151" y="4676505"/>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68" name="Rectangle 267"/>
          <p:cNvSpPr/>
          <p:nvPr/>
        </p:nvSpPr>
        <p:spPr bwMode="auto">
          <a:xfrm>
            <a:off x="6589161" y="4676505"/>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69" name="Rectangle 268"/>
          <p:cNvSpPr/>
          <p:nvPr/>
        </p:nvSpPr>
        <p:spPr bwMode="auto">
          <a:xfrm>
            <a:off x="7137171" y="4676505"/>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70" name="Rectangle 269"/>
          <p:cNvSpPr/>
          <p:nvPr/>
        </p:nvSpPr>
        <p:spPr bwMode="auto">
          <a:xfrm>
            <a:off x="5907722" y="4506562"/>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71" name="Rectangle 270"/>
          <p:cNvSpPr/>
          <p:nvPr/>
        </p:nvSpPr>
        <p:spPr bwMode="auto">
          <a:xfrm>
            <a:off x="6455732" y="4506562"/>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72" name="Rectangle 271"/>
          <p:cNvSpPr/>
          <p:nvPr/>
        </p:nvSpPr>
        <p:spPr bwMode="auto">
          <a:xfrm>
            <a:off x="7003742" y="4506562"/>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73" name="Rectangle 272"/>
          <p:cNvSpPr/>
          <p:nvPr/>
        </p:nvSpPr>
        <p:spPr bwMode="auto">
          <a:xfrm>
            <a:off x="4512811" y="538878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74" name="Rectangle 273"/>
          <p:cNvSpPr/>
          <p:nvPr/>
        </p:nvSpPr>
        <p:spPr bwMode="auto">
          <a:xfrm>
            <a:off x="5060820" y="538878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75" name="Rectangle 274"/>
          <p:cNvSpPr/>
          <p:nvPr/>
        </p:nvSpPr>
        <p:spPr bwMode="auto">
          <a:xfrm>
            <a:off x="5608831" y="538878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76" name="Rectangle 275"/>
          <p:cNvSpPr/>
          <p:nvPr/>
        </p:nvSpPr>
        <p:spPr bwMode="auto">
          <a:xfrm>
            <a:off x="4379382" y="5267396"/>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77" name="Rectangle 276"/>
          <p:cNvSpPr/>
          <p:nvPr/>
        </p:nvSpPr>
        <p:spPr bwMode="auto">
          <a:xfrm>
            <a:off x="4927392" y="5267396"/>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78" name="Rectangle 277"/>
          <p:cNvSpPr/>
          <p:nvPr/>
        </p:nvSpPr>
        <p:spPr bwMode="auto">
          <a:xfrm>
            <a:off x="5475402" y="5267396"/>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79" name="Rectangle 278"/>
          <p:cNvSpPr/>
          <p:nvPr/>
        </p:nvSpPr>
        <p:spPr bwMode="auto">
          <a:xfrm>
            <a:off x="4245953" y="5097453"/>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80" name="Rectangle 279"/>
          <p:cNvSpPr/>
          <p:nvPr/>
        </p:nvSpPr>
        <p:spPr bwMode="auto">
          <a:xfrm>
            <a:off x="4793963" y="5097453"/>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81" name="Rectangle 280"/>
          <p:cNvSpPr/>
          <p:nvPr/>
        </p:nvSpPr>
        <p:spPr bwMode="auto">
          <a:xfrm>
            <a:off x="5341974" y="5097453"/>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82" name="Rectangle 281"/>
          <p:cNvSpPr/>
          <p:nvPr/>
        </p:nvSpPr>
        <p:spPr bwMode="auto">
          <a:xfrm>
            <a:off x="6180821" y="538878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83" name="Rectangle 282"/>
          <p:cNvSpPr/>
          <p:nvPr/>
        </p:nvSpPr>
        <p:spPr bwMode="auto">
          <a:xfrm>
            <a:off x="6728830" y="538878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84" name="Rectangle 283"/>
          <p:cNvSpPr/>
          <p:nvPr/>
        </p:nvSpPr>
        <p:spPr bwMode="auto">
          <a:xfrm>
            <a:off x="7276841" y="538878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85" name="Rectangle 284"/>
          <p:cNvSpPr/>
          <p:nvPr/>
        </p:nvSpPr>
        <p:spPr bwMode="auto">
          <a:xfrm>
            <a:off x="6047392" y="5267396"/>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86" name="Rectangle 285"/>
          <p:cNvSpPr/>
          <p:nvPr/>
        </p:nvSpPr>
        <p:spPr bwMode="auto">
          <a:xfrm>
            <a:off x="6595402" y="5267396"/>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87" name="Rectangle 286"/>
          <p:cNvSpPr/>
          <p:nvPr/>
        </p:nvSpPr>
        <p:spPr bwMode="auto">
          <a:xfrm>
            <a:off x="7143412" y="5267396"/>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88" name="Rectangle 287"/>
          <p:cNvSpPr/>
          <p:nvPr/>
        </p:nvSpPr>
        <p:spPr bwMode="auto">
          <a:xfrm>
            <a:off x="5913964" y="5097453"/>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89" name="Rectangle 288"/>
          <p:cNvSpPr/>
          <p:nvPr/>
        </p:nvSpPr>
        <p:spPr bwMode="auto">
          <a:xfrm>
            <a:off x="6461973" y="5097453"/>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90" name="Rectangle 289"/>
          <p:cNvSpPr/>
          <p:nvPr/>
        </p:nvSpPr>
        <p:spPr bwMode="auto">
          <a:xfrm>
            <a:off x="7009984" y="5097453"/>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91" name="TextBox 290"/>
          <p:cNvSpPr txBox="1"/>
          <p:nvPr/>
        </p:nvSpPr>
        <p:spPr>
          <a:xfrm>
            <a:off x="381000" y="381000"/>
            <a:ext cx="6697667" cy="461665"/>
          </a:xfrm>
          <a:prstGeom prst="rect">
            <a:avLst/>
          </a:prstGeom>
          <a:noFill/>
        </p:spPr>
        <p:txBody>
          <a:bodyPr wrap="none" rtlCol="0">
            <a:spAutoFit/>
          </a:bodyPr>
          <a:lstStyle/>
          <a:p>
            <a:r>
              <a:rPr lang="en-GB" sz="2400" b="1" dirty="0" err="1"/>
              <a:t>Y,Cb,Cr</a:t>
            </a:r>
            <a:r>
              <a:rPr lang="en-GB" sz="2400" b="1" dirty="0"/>
              <a:t> – for image of </a:t>
            </a:r>
            <a:r>
              <a:rPr lang="en-GB" sz="2400" b="1" i="1" dirty="0"/>
              <a:t>x</a:t>
            </a:r>
            <a:r>
              <a:rPr lang="en-GB" sz="2400" b="1" dirty="0"/>
              <a:t> </a:t>
            </a:r>
            <a:r>
              <a:rPr lang="en-GB" sz="1400" b="1" dirty="0"/>
              <a:t>x </a:t>
            </a:r>
            <a:r>
              <a:rPr lang="en-GB" sz="2400" b="1" i="1" dirty="0"/>
              <a:t>y</a:t>
            </a:r>
            <a:r>
              <a:rPr lang="en-GB" sz="2400" b="1" dirty="0"/>
              <a:t> pixels in “4:4:4”</a:t>
            </a:r>
          </a:p>
        </p:txBody>
      </p:sp>
      <p:cxnSp>
        <p:nvCxnSpPr>
          <p:cNvPr id="293" name="Straight Arrow Connector 292"/>
          <p:cNvCxnSpPr/>
          <p:nvPr/>
        </p:nvCxnSpPr>
        <p:spPr bwMode="auto">
          <a:xfrm>
            <a:off x="1003852" y="6092687"/>
            <a:ext cx="6738731" cy="9939"/>
          </a:xfrm>
          <a:prstGeom prst="straightConnector1">
            <a:avLst/>
          </a:prstGeom>
          <a:noFill/>
          <a:ln w="9525" cap="flat" cmpd="sng" algn="ctr">
            <a:solidFill>
              <a:schemeClr val="tx1"/>
            </a:solidFill>
            <a:prstDash val="solid"/>
            <a:round/>
            <a:headEnd type="none" w="med" len="med"/>
            <a:tailEnd type="arrow"/>
          </a:ln>
          <a:effectLst/>
        </p:spPr>
      </p:cxnSp>
      <p:cxnSp>
        <p:nvCxnSpPr>
          <p:cNvPr id="294" name="Straight Arrow Connector 293"/>
          <p:cNvCxnSpPr/>
          <p:nvPr/>
        </p:nvCxnSpPr>
        <p:spPr bwMode="auto">
          <a:xfrm flipH="1" flipV="1">
            <a:off x="7861853" y="1023730"/>
            <a:ext cx="29817" cy="5049078"/>
          </a:xfrm>
          <a:prstGeom prst="straightConnector1">
            <a:avLst/>
          </a:prstGeom>
          <a:noFill/>
          <a:ln w="9525" cap="flat" cmpd="sng" algn="ctr">
            <a:solidFill>
              <a:schemeClr val="tx1"/>
            </a:solidFill>
            <a:prstDash val="solid"/>
            <a:round/>
            <a:headEnd type="none" w="med" len="med"/>
            <a:tailEnd type="arrow"/>
          </a:ln>
          <a:effectLst/>
        </p:spPr>
      </p:cxnSp>
      <p:sp>
        <p:nvSpPr>
          <p:cNvPr id="296" name="TextBox 295"/>
          <p:cNvSpPr txBox="1"/>
          <p:nvPr/>
        </p:nvSpPr>
        <p:spPr>
          <a:xfrm>
            <a:off x="3916017" y="6132443"/>
            <a:ext cx="970137" cy="338554"/>
          </a:xfrm>
          <a:prstGeom prst="rect">
            <a:avLst/>
          </a:prstGeom>
          <a:noFill/>
        </p:spPr>
        <p:txBody>
          <a:bodyPr wrap="none" rtlCol="0">
            <a:spAutoFit/>
          </a:bodyPr>
          <a:lstStyle/>
          <a:p>
            <a:r>
              <a:rPr lang="en-GB" i="1" dirty="0"/>
              <a:t>x pixels</a:t>
            </a:r>
          </a:p>
        </p:txBody>
      </p:sp>
      <p:sp>
        <p:nvSpPr>
          <p:cNvPr id="297" name="TextBox 296"/>
          <p:cNvSpPr txBox="1"/>
          <p:nvPr/>
        </p:nvSpPr>
        <p:spPr>
          <a:xfrm>
            <a:off x="7955202" y="3190460"/>
            <a:ext cx="970137" cy="338554"/>
          </a:xfrm>
          <a:prstGeom prst="rect">
            <a:avLst/>
          </a:prstGeom>
          <a:noFill/>
        </p:spPr>
        <p:txBody>
          <a:bodyPr wrap="none" rtlCol="0">
            <a:spAutoFit/>
          </a:bodyPr>
          <a:lstStyle/>
          <a:p>
            <a:r>
              <a:rPr lang="en-GB" i="1" dirty="0"/>
              <a:t>y pixels</a:t>
            </a:r>
          </a:p>
        </p:txBody>
      </p:sp>
      <p:sp>
        <p:nvSpPr>
          <p:cNvPr id="295" name="Rectangle 294"/>
          <p:cNvSpPr/>
          <p:nvPr/>
        </p:nvSpPr>
        <p:spPr bwMode="auto">
          <a:xfrm>
            <a:off x="5356047" y="2163412"/>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Tree>
    <p:extLst>
      <p:ext uri="{BB962C8B-B14F-4D97-AF65-F5344CB8AC3E}">
        <p14:creationId xmlns:p14="http://schemas.microsoft.com/office/powerpoint/2010/main" val="277130824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bwMode="auto">
          <a:xfrm>
            <a:off x="1217161" y="1277012"/>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3" name="Rectangle 2"/>
          <p:cNvSpPr/>
          <p:nvPr/>
        </p:nvSpPr>
        <p:spPr bwMode="auto">
          <a:xfrm>
            <a:off x="1765170" y="1277012"/>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4" name="Rectangle 3"/>
          <p:cNvSpPr/>
          <p:nvPr/>
        </p:nvSpPr>
        <p:spPr bwMode="auto">
          <a:xfrm>
            <a:off x="2313181" y="1277012"/>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5" name="Rectangle 4"/>
          <p:cNvSpPr/>
          <p:nvPr/>
        </p:nvSpPr>
        <p:spPr bwMode="auto">
          <a:xfrm>
            <a:off x="1083732" y="1155624"/>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8" name="Rectangle 7"/>
          <p:cNvSpPr/>
          <p:nvPr/>
        </p:nvSpPr>
        <p:spPr bwMode="auto">
          <a:xfrm>
            <a:off x="950303" y="985681"/>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1" name="Rectangle 10"/>
          <p:cNvSpPr/>
          <p:nvPr/>
        </p:nvSpPr>
        <p:spPr bwMode="auto">
          <a:xfrm>
            <a:off x="2885171" y="1277012"/>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2" name="Rectangle 11"/>
          <p:cNvSpPr/>
          <p:nvPr/>
        </p:nvSpPr>
        <p:spPr bwMode="auto">
          <a:xfrm>
            <a:off x="3433180" y="1277012"/>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3" name="Rectangle 12"/>
          <p:cNvSpPr/>
          <p:nvPr/>
        </p:nvSpPr>
        <p:spPr bwMode="auto">
          <a:xfrm>
            <a:off x="3981191" y="1277012"/>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5" name="Rectangle 14"/>
          <p:cNvSpPr/>
          <p:nvPr/>
        </p:nvSpPr>
        <p:spPr bwMode="auto">
          <a:xfrm>
            <a:off x="3299752" y="1155624"/>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8" name="Rectangle 17"/>
          <p:cNvSpPr/>
          <p:nvPr/>
        </p:nvSpPr>
        <p:spPr bwMode="auto">
          <a:xfrm>
            <a:off x="3166323" y="985681"/>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0" name="Rectangle 19"/>
          <p:cNvSpPr/>
          <p:nvPr/>
        </p:nvSpPr>
        <p:spPr bwMode="auto">
          <a:xfrm>
            <a:off x="1217161" y="185620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1" name="Rectangle 20"/>
          <p:cNvSpPr/>
          <p:nvPr/>
        </p:nvSpPr>
        <p:spPr bwMode="auto">
          <a:xfrm>
            <a:off x="1765170" y="185620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2" name="Rectangle 21"/>
          <p:cNvSpPr/>
          <p:nvPr/>
        </p:nvSpPr>
        <p:spPr bwMode="auto">
          <a:xfrm>
            <a:off x="2313181" y="185620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3" name="Rectangle 22"/>
          <p:cNvSpPr/>
          <p:nvPr/>
        </p:nvSpPr>
        <p:spPr bwMode="auto">
          <a:xfrm>
            <a:off x="1083732" y="1734816"/>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6" name="Rectangle 25"/>
          <p:cNvSpPr/>
          <p:nvPr/>
        </p:nvSpPr>
        <p:spPr bwMode="auto">
          <a:xfrm>
            <a:off x="950303" y="1564873"/>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9" name="Rectangle 28"/>
          <p:cNvSpPr/>
          <p:nvPr/>
        </p:nvSpPr>
        <p:spPr bwMode="auto">
          <a:xfrm>
            <a:off x="2885171" y="185620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30" name="Rectangle 29"/>
          <p:cNvSpPr/>
          <p:nvPr/>
        </p:nvSpPr>
        <p:spPr bwMode="auto">
          <a:xfrm>
            <a:off x="3433180" y="185620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31" name="Rectangle 30"/>
          <p:cNvSpPr/>
          <p:nvPr/>
        </p:nvSpPr>
        <p:spPr bwMode="auto">
          <a:xfrm>
            <a:off x="3981191" y="185620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33" name="Rectangle 32"/>
          <p:cNvSpPr/>
          <p:nvPr/>
        </p:nvSpPr>
        <p:spPr bwMode="auto">
          <a:xfrm>
            <a:off x="3299752" y="1734816"/>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36" name="Rectangle 35"/>
          <p:cNvSpPr/>
          <p:nvPr/>
        </p:nvSpPr>
        <p:spPr bwMode="auto">
          <a:xfrm>
            <a:off x="3166323" y="1564873"/>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38" name="Rectangle 37"/>
          <p:cNvSpPr/>
          <p:nvPr/>
        </p:nvSpPr>
        <p:spPr bwMode="auto">
          <a:xfrm>
            <a:off x="1210919" y="2445218"/>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39" name="Rectangle 38"/>
          <p:cNvSpPr/>
          <p:nvPr/>
        </p:nvSpPr>
        <p:spPr bwMode="auto">
          <a:xfrm>
            <a:off x="1758929" y="2445218"/>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40" name="Rectangle 39"/>
          <p:cNvSpPr/>
          <p:nvPr/>
        </p:nvSpPr>
        <p:spPr bwMode="auto">
          <a:xfrm>
            <a:off x="2306939" y="2445218"/>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41" name="Rectangle 40"/>
          <p:cNvSpPr/>
          <p:nvPr/>
        </p:nvSpPr>
        <p:spPr bwMode="auto">
          <a:xfrm>
            <a:off x="1077491" y="2323830"/>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44" name="Rectangle 43"/>
          <p:cNvSpPr/>
          <p:nvPr/>
        </p:nvSpPr>
        <p:spPr bwMode="auto">
          <a:xfrm>
            <a:off x="944062" y="2153887"/>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47" name="Rectangle 46"/>
          <p:cNvSpPr/>
          <p:nvPr/>
        </p:nvSpPr>
        <p:spPr bwMode="auto">
          <a:xfrm>
            <a:off x="2878929" y="2445218"/>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48" name="Rectangle 47"/>
          <p:cNvSpPr/>
          <p:nvPr/>
        </p:nvSpPr>
        <p:spPr bwMode="auto">
          <a:xfrm>
            <a:off x="3426939" y="2445218"/>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49" name="Rectangle 48"/>
          <p:cNvSpPr/>
          <p:nvPr/>
        </p:nvSpPr>
        <p:spPr bwMode="auto">
          <a:xfrm>
            <a:off x="3974950" y="2445218"/>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51" name="Rectangle 50"/>
          <p:cNvSpPr/>
          <p:nvPr/>
        </p:nvSpPr>
        <p:spPr bwMode="auto">
          <a:xfrm>
            <a:off x="3293511" y="2323830"/>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54" name="Rectangle 53"/>
          <p:cNvSpPr/>
          <p:nvPr/>
        </p:nvSpPr>
        <p:spPr bwMode="auto">
          <a:xfrm>
            <a:off x="3160082" y="2153887"/>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56" name="Rectangle 55"/>
          <p:cNvSpPr/>
          <p:nvPr/>
        </p:nvSpPr>
        <p:spPr bwMode="auto">
          <a:xfrm>
            <a:off x="1217161" y="303610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57" name="Rectangle 56"/>
          <p:cNvSpPr/>
          <p:nvPr/>
        </p:nvSpPr>
        <p:spPr bwMode="auto">
          <a:xfrm>
            <a:off x="1765170" y="303610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58" name="Rectangle 57"/>
          <p:cNvSpPr/>
          <p:nvPr/>
        </p:nvSpPr>
        <p:spPr bwMode="auto">
          <a:xfrm>
            <a:off x="2313181" y="303610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59" name="Rectangle 58"/>
          <p:cNvSpPr/>
          <p:nvPr/>
        </p:nvSpPr>
        <p:spPr bwMode="auto">
          <a:xfrm>
            <a:off x="1083732" y="2914721"/>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62" name="Rectangle 61"/>
          <p:cNvSpPr/>
          <p:nvPr/>
        </p:nvSpPr>
        <p:spPr bwMode="auto">
          <a:xfrm>
            <a:off x="950303" y="2744778"/>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65" name="Rectangle 64"/>
          <p:cNvSpPr/>
          <p:nvPr/>
        </p:nvSpPr>
        <p:spPr bwMode="auto">
          <a:xfrm>
            <a:off x="2885171" y="303610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66" name="Rectangle 65"/>
          <p:cNvSpPr/>
          <p:nvPr/>
        </p:nvSpPr>
        <p:spPr bwMode="auto">
          <a:xfrm>
            <a:off x="3433180" y="303610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67" name="Rectangle 66"/>
          <p:cNvSpPr/>
          <p:nvPr/>
        </p:nvSpPr>
        <p:spPr bwMode="auto">
          <a:xfrm>
            <a:off x="3981191" y="303610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69" name="Rectangle 68"/>
          <p:cNvSpPr/>
          <p:nvPr/>
        </p:nvSpPr>
        <p:spPr bwMode="auto">
          <a:xfrm>
            <a:off x="3299752" y="2914721"/>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72" name="Rectangle 71"/>
          <p:cNvSpPr/>
          <p:nvPr/>
        </p:nvSpPr>
        <p:spPr bwMode="auto">
          <a:xfrm>
            <a:off x="3166323" y="2744778"/>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74" name="Rectangle 73"/>
          <p:cNvSpPr/>
          <p:nvPr/>
        </p:nvSpPr>
        <p:spPr bwMode="auto">
          <a:xfrm>
            <a:off x="4522336" y="1286537"/>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75" name="Rectangle 74"/>
          <p:cNvSpPr/>
          <p:nvPr/>
        </p:nvSpPr>
        <p:spPr bwMode="auto">
          <a:xfrm>
            <a:off x="5070345" y="1286537"/>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76" name="Rectangle 75"/>
          <p:cNvSpPr/>
          <p:nvPr/>
        </p:nvSpPr>
        <p:spPr bwMode="auto">
          <a:xfrm>
            <a:off x="5618356" y="1286537"/>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79" name="Rectangle 78"/>
          <p:cNvSpPr/>
          <p:nvPr/>
        </p:nvSpPr>
        <p:spPr bwMode="auto">
          <a:xfrm>
            <a:off x="5484927" y="1165149"/>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82" name="Rectangle 81"/>
          <p:cNvSpPr/>
          <p:nvPr/>
        </p:nvSpPr>
        <p:spPr bwMode="auto">
          <a:xfrm>
            <a:off x="5351499" y="995206"/>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83" name="Rectangle 82"/>
          <p:cNvSpPr/>
          <p:nvPr/>
        </p:nvSpPr>
        <p:spPr bwMode="auto">
          <a:xfrm>
            <a:off x="6190346" y="1286537"/>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84" name="Rectangle 83"/>
          <p:cNvSpPr/>
          <p:nvPr/>
        </p:nvSpPr>
        <p:spPr bwMode="auto">
          <a:xfrm>
            <a:off x="6738355" y="1286537"/>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85" name="Rectangle 84"/>
          <p:cNvSpPr/>
          <p:nvPr/>
        </p:nvSpPr>
        <p:spPr bwMode="auto">
          <a:xfrm>
            <a:off x="7286366" y="1286537"/>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92" name="Rectangle 91"/>
          <p:cNvSpPr/>
          <p:nvPr/>
        </p:nvSpPr>
        <p:spPr bwMode="auto">
          <a:xfrm>
            <a:off x="4522336" y="186572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93" name="Rectangle 92"/>
          <p:cNvSpPr/>
          <p:nvPr/>
        </p:nvSpPr>
        <p:spPr bwMode="auto">
          <a:xfrm>
            <a:off x="5070345" y="186572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94" name="Rectangle 93"/>
          <p:cNvSpPr/>
          <p:nvPr/>
        </p:nvSpPr>
        <p:spPr bwMode="auto">
          <a:xfrm>
            <a:off x="5618356" y="186572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97" name="Rectangle 96"/>
          <p:cNvSpPr/>
          <p:nvPr/>
        </p:nvSpPr>
        <p:spPr bwMode="auto">
          <a:xfrm>
            <a:off x="5484927" y="1744341"/>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00" name="Rectangle 99"/>
          <p:cNvSpPr/>
          <p:nvPr/>
        </p:nvSpPr>
        <p:spPr bwMode="auto">
          <a:xfrm>
            <a:off x="5351499" y="1574398"/>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01" name="Rectangle 100"/>
          <p:cNvSpPr/>
          <p:nvPr/>
        </p:nvSpPr>
        <p:spPr bwMode="auto">
          <a:xfrm>
            <a:off x="6190346" y="186572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02" name="Rectangle 101"/>
          <p:cNvSpPr/>
          <p:nvPr/>
        </p:nvSpPr>
        <p:spPr bwMode="auto">
          <a:xfrm>
            <a:off x="6738355" y="186572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03" name="Rectangle 102"/>
          <p:cNvSpPr/>
          <p:nvPr/>
        </p:nvSpPr>
        <p:spPr bwMode="auto">
          <a:xfrm>
            <a:off x="7286366" y="186572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10" name="Rectangle 109"/>
          <p:cNvSpPr/>
          <p:nvPr/>
        </p:nvSpPr>
        <p:spPr bwMode="auto">
          <a:xfrm>
            <a:off x="4516094" y="2454743"/>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11" name="Rectangle 110"/>
          <p:cNvSpPr/>
          <p:nvPr/>
        </p:nvSpPr>
        <p:spPr bwMode="auto">
          <a:xfrm>
            <a:off x="5064104" y="2454743"/>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12" name="Rectangle 111"/>
          <p:cNvSpPr/>
          <p:nvPr/>
        </p:nvSpPr>
        <p:spPr bwMode="auto">
          <a:xfrm>
            <a:off x="5612114" y="2454743"/>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15" name="Rectangle 114"/>
          <p:cNvSpPr/>
          <p:nvPr/>
        </p:nvSpPr>
        <p:spPr bwMode="auto">
          <a:xfrm>
            <a:off x="5478686" y="2333355"/>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18" name="Rectangle 117"/>
          <p:cNvSpPr/>
          <p:nvPr/>
        </p:nvSpPr>
        <p:spPr bwMode="auto">
          <a:xfrm>
            <a:off x="5345257" y="2163412"/>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19" name="Rectangle 118"/>
          <p:cNvSpPr/>
          <p:nvPr/>
        </p:nvSpPr>
        <p:spPr bwMode="auto">
          <a:xfrm>
            <a:off x="6184104" y="2454743"/>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20" name="Rectangle 119"/>
          <p:cNvSpPr/>
          <p:nvPr/>
        </p:nvSpPr>
        <p:spPr bwMode="auto">
          <a:xfrm>
            <a:off x="6732114" y="2454743"/>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21" name="Rectangle 120"/>
          <p:cNvSpPr/>
          <p:nvPr/>
        </p:nvSpPr>
        <p:spPr bwMode="auto">
          <a:xfrm>
            <a:off x="7280125" y="2454743"/>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28" name="Rectangle 127"/>
          <p:cNvSpPr/>
          <p:nvPr/>
        </p:nvSpPr>
        <p:spPr bwMode="auto">
          <a:xfrm>
            <a:off x="4522336" y="304563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29" name="Rectangle 128"/>
          <p:cNvSpPr/>
          <p:nvPr/>
        </p:nvSpPr>
        <p:spPr bwMode="auto">
          <a:xfrm>
            <a:off x="5070345" y="304563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30" name="Rectangle 129"/>
          <p:cNvSpPr/>
          <p:nvPr/>
        </p:nvSpPr>
        <p:spPr bwMode="auto">
          <a:xfrm>
            <a:off x="5618356" y="304563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33" name="Rectangle 132"/>
          <p:cNvSpPr/>
          <p:nvPr/>
        </p:nvSpPr>
        <p:spPr bwMode="auto">
          <a:xfrm>
            <a:off x="5484927" y="2924246"/>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36" name="Rectangle 135"/>
          <p:cNvSpPr/>
          <p:nvPr/>
        </p:nvSpPr>
        <p:spPr bwMode="auto">
          <a:xfrm>
            <a:off x="5351499" y="2754303"/>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37" name="Rectangle 136"/>
          <p:cNvSpPr/>
          <p:nvPr/>
        </p:nvSpPr>
        <p:spPr bwMode="auto">
          <a:xfrm>
            <a:off x="6190346" y="304563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38" name="Rectangle 137"/>
          <p:cNvSpPr/>
          <p:nvPr/>
        </p:nvSpPr>
        <p:spPr bwMode="auto">
          <a:xfrm>
            <a:off x="6738355" y="304563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39" name="Rectangle 138"/>
          <p:cNvSpPr/>
          <p:nvPr/>
        </p:nvSpPr>
        <p:spPr bwMode="auto">
          <a:xfrm>
            <a:off x="7286366" y="304563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46" name="Rectangle 145"/>
          <p:cNvSpPr/>
          <p:nvPr/>
        </p:nvSpPr>
        <p:spPr bwMode="auto">
          <a:xfrm>
            <a:off x="1207636" y="3620162"/>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47" name="Rectangle 146"/>
          <p:cNvSpPr/>
          <p:nvPr/>
        </p:nvSpPr>
        <p:spPr bwMode="auto">
          <a:xfrm>
            <a:off x="1755645" y="3620162"/>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48" name="Rectangle 147"/>
          <p:cNvSpPr/>
          <p:nvPr/>
        </p:nvSpPr>
        <p:spPr bwMode="auto">
          <a:xfrm>
            <a:off x="2303656" y="3620162"/>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49" name="Rectangle 148"/>
          <p:cNvSpPr/>
          <p:nvPr/>
        </p:nvSpPr>
        <p:spPr bwMode="auto">
          <a:xfrm>
            <a:off x="1074207" y="3498774"/>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52" name="Rectangle 151"/>
          <p:cNvSpPr/>
          <p:nvPr/>
        </p:nvSpPr>
        <p:spPr bwMode="auto">
          <a:xfrm>
            <a:off x="940778" y="3328831"/>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55" name="Rectangle 154"/>
          <p:cNvSpPr/>
          <p:nvPr/>
        </p:nvSpPr>
        <p:spPr bwMode="auto">
          <a:xfrm>
            <a:off x="2875646" y="3620162"/>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56" name="Rectangle 155"/>
          <p:cNvSpPr/>
          <p:nvPr/>
        </p:nvSpPr>
        <p:spPr bwMode="auto">
          <a:xfrm>
            <a:off x="3423655" y="3620162"/>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57" name="Rectangle 156"/>
          <p:cNvSpPr/>
          <p:nvPr/>
        </p:nvSpPr>
        <p:spPr bwMode="auto">
          <a:xfrm>
            <a:off x="3971666" y="3620162"/>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59" name="Rectangle 158"/>
          <p:cNvSpPr/>
          <p:nvPr/>
        </p:nvSpPr>
        <p:spPr bwMode="auto">
          <a:xfrm>
            <a:off x="3290227" y="3498774"/>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62" name="Rectangle 161"/>
          <p:cNvSpPr/>
          <p:nvPr/>
        </p:nvSpPr>
        <p:spPr bwMode="auto">
          <a:xfrm>
            <a:off x="3156798" y="3328831"/>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64" name="Rectangle 163"/>
          <p:cNvSpPr/>
          <p:nvPr/>
        </p:nvSpPr>
        <p:spPr bwMode="auto">
          <a:xfrm>
            <a:off x="1207636" y="419935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65" name="Rectangle 164"/>
          <p:cNvSpPr/>
          <p:nvPr/>
        </p:nvSpPr>
        <p:spPr bwMode="auto">
          <a:xfrm>
            <a:off x="1755645" y="419935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66" name="Rectangle 165"/>
          <p:cNvSpPr/>
          <p:nvPr/>
        </p:nvSpPr>
        <p:spPr bwMode="auto">
          <a:xfrm>
            <a:off x="2303656" y="419935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67" name="Rectangle 166"/>
          <p:cNvSpPr/>
          <p:nvPr/>
        </p:nvSpPr>
        <p:spPr bwMode="auto">
          <a:xfrm>
            <a:off x="1074207" y="4077966"/>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70" name="Rectangle 169"/>
          <p:cNvSpPr/>
          <p:nvPr/>
        </p:nvSpPr>
        <p:spPr bwMode="auto">
          <a:xfrm>
            <a:off x="940778" y="3908023"/>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73" name="Rectangle 172"/>
          <p:cNvSpPr/>
          <p:nvPr/>
        </p:nvSpPr>
        <p:spPr bwMode="auto">
          <a:xfrm>
            <a:off x="2875646" y="419935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74" name="Rectangle 173"/>
          <p:cNvSpPr/>
          <p:nvPr/>
        </p:nvSpPr>
        <p:spPr bwMode="auto">
          <a:xfrm>
            <a:off x="3423655" y="419935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75" name="Rectangle 174"/>
          <p:cNvSpPr/>
          <p:nvPr/>
        </p:nvSpPr>
        <p:spPr bwMode="auto">
          <a:xfrm>
            <a:off x="3971666" y="419935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77" name="Rectangle 176"/>
          <p:cNvSpPr/>
          <p:nvPr/>
        </p:nvSpPr>
        <p:spPr bwMode="auto">
          <a:xfrm>
            <a:off x="3290227" y="4077966"/>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80" name="Rectangle 179"/>
          <p:cNvSpPr/>
          <p:nvPr/>
        </p:nvSpPr>
        <p:spPr bwMode="auto">
          <a:xfrm>
            <a:off x="3156798" y="3908023"/>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82" name="Rectangle 181"/>
          <p:cNvSpPr/>
          <p:nvPr/>
        </p:nvSpPr>
        <p:spPr bwMode="auto">
          <a:xfrm>
            <a:off x="1201394" y="4788368"/>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83" name="Rectangle 182"/>
          <p:cNvSpPr/>
          <p:nvPr/>
        </p:nvSpPr>
        <p:spPr bwMode="auto">
          <a:xfrm>
            <a:off x="1749404" y="4788368"/>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84" name="Rectangle 183"/>
          <p:cNvSpPr/>
          <p:nvPr/>
        </p:nvSpPr>
        <p:spPr bwMode="auto">
          <a:xfrm>
            <a:off x="2297414" y="4788368"/>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85" name="Rectangle 184"/>
          <p:cNvSpPr/>
          <p:nvPr/>
        </p:nvSpPr>
        <p:spPr bwMode="auto">
          <a:xfrm>
            <a:off x="1067966" y="4666980"/>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88" name="Rectangle 187"/>
          <p:cNvSpPr/>
          <p:nvPr/>
        </p:nvSpPr>
        <p:spPr bwMode="auto">
          <a:xfrm>
            <a:off x="934537" y="4497037"/>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91" name="Rectangle 190"/>
          <p:cNvSpPr/>
          <p:nvPr/>
        </p:nvSpPr>
        <p:spPr bwMode="auto">
          <a:xfrm>
            <a:off x="2869404" y="4788368"/>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92" name="Rectangle 191"/>
          <p:cNvSpPr/>
          <p:nvPr/>
        </p:nvSpPr>
        <p:spPr bwMode="auto">
          <a:xfrm>
            <a:off x="3417414" y="4788368"/>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93" name="Rectangle 192"/>
          <p:cNvSpPr/>
          <p:nvPr/>
        </p:nvSpPr>
        <p:spPr bwMode="auto">
          <a:xfrm>
            <a:off x="3965425" y="4788368"/>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95" name="Rectangle 194"/>
          <p:cNvSpPr/>
          <p:nvPr/>
        </p:nvSpPr>
        <p:spPr bwMode="auto">
          <a:xfrm>
            <a:off x="3283986" y="4666980"/>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98" name="Rectangle 197"/>
          <p:cNvSpPr/>
          <p:nvPr/>
        </p:nvSpPr>
        <p:spPr bwMode="auto">
          <a:xfrm>
            <a:off x="3150557" y="4497037"/>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00" name="Rectangle 199"/>
          <p:cNvSpPr/>
          <p:nvPr/>
        </p:nvSpPr>
        <p:spPr bwMode="auto">
          <a:xfrm>
            <a:off x="1207636" y="537925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01" name="Rectangle 200"/>
          <p:cNvSpPr/>
          <p:nvPr/>
        </p:nvSpPr>
        <p:spPr bwMode="auto">
          <a:xfrm>
            <a:off x="1755645" y="537925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02" name="Rectangle 201"/>
          <p:cNvSpPr/>
          <p:nvPr/>
        </p:nvSpPr>
        <p:spPr bwMode="auto">
          <a:xfrm>
            <a:off x="2303656" y="537925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03" name="Rectangle 202"/>
          <p:cNvSpPr/>
          <p:nvPr/>
        </p:nvSpPr>
        <p:spPr bwMode="auto">
          <a:xfrm>
            <a:off x="1074207" y="5257871"/>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06" name="Rectangle 205"/>
          <p:cNvSpPr/>
          <p:nvPr/>
        </p:nvSpPr>
        <p:spPr bwMode="auto">
          <a:xfrm>
            <a:off x="940778" y="5087928"/>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09" name="Rectangle 208"/>
          <p:cNvSpPr/>
          <p:nvPr/>
        </p:nvSpPr>
        <p:spPr bwMode="auto">
          <a:xfrm>
            <a:off x="2875646" y="537925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10" name="Rectangle 209"/>
          <p:cNvSpPr/>
          <p:nvPr/>
        </p:nvSpPr>
        <p:spPr bwMode="auto">
          <a:xfrm>
            <a:off x="3423655" y="537925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11" name="Rectangle 210"/>
          <p:cNvSpPr/>
          <p:nvPr/>
        </p:nvSpPr>
        <p:spPr bwMode="auto">
          <a:xfrm>
            <a:off x="3971666" y="537925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13" name="Rectangle 212"/>
          <p:cNvSpPr/>
          <p:nvPr/>
        </p:nvSpPr>
        <p:spPr bwMode="auto">
          <a:xfrm>
            <a:off x="3290227" y="5257871"/>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16" name="Rectangle 215"/>
          <p:cNvSpPr/>
          <p:nvPr/>
        </p:nvSpPr>
        <p:spPr bwMode="auto">
          <a:xfrm>
            <a:off x="3156798" y="5087928"/>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18" name="Rectangle 217"/>
          <p:cNvSpPr/>
          <p:nvPr/>
        </p:nvSpPr>
        <p:spPr bwMode="auto">
          <a:xfrm>
            <a:off x="4512811" y="3629687"/>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19" name="Rectangle 218"/>
          <p:cNvSpPr/>
          <p:nvPr/>
        </p:nvSpPr>
        <p:spPr bwMode="auto">
          <a:xfrm>
            <a:off x="5060820" y="3629687"/>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20" name="Rectangle 219"/>
          <p:cNvSpPr/>
          <p:nvPr/>
        </p:nvSpPr>
        <p:spPr bwMode="auto">
          <a:xfrm>
            <a:off x="5608831" y="3629687"/>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23" name="Rectangle 222"/>
          <p:cNvSpPr/>
          <p:nvPr/>
        </p:nvSpPr>
        <p:spPr bwMode="auto">
          <a:xfrm>
            <a:off x="5475402" y="3508299"/>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26" name="Rectangle 225"/>
          <p:cNvSpPr/>
          <p:nvPr/>
        </p:nvSpPr>
        <p:spPr bwMode="auto">
          <a:xfrm>
            <a:off x="5341974" y="3338356"/>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27" name="Rectangle 226"/>
          <p:cNvSpPr/>
          <p:nvPr/>
        </p:nvSpPr>
        <p:spPr bwMode="auto">
          <a:xfrm>
            <a:off x="6180821" y="3629687"/>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28" name="Rectangle 227"/>
          <p:cNvSpPr/>
          <p:nvPr/>
        </p:nvSpPr>
        <p:spPr bwMode="auto">
          <a:xfrm>
            <a:off x="6728830" y="3629687"/>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29" name="Rectangle 228"/>
          <p:cNvSpPr/>
          <p:nvPr/>
        </p:nvSpPr>
        <p:spPr bwMode="auto">
          <a:xfrm>
            <a:off x="7276841" y="3629687"/>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36" name="Rectangle 235"/>
          <p:cNvSpPr/>
          <p:nvPr/>
        </p:nvSpPr>
        <p:spPr bwMode="auto">
          <a:xfrm>
            <a:off x="4512811" y="420887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37" name="Rectangle 236"/>
          <p:cNvSpPr/>
          <p:nvPr/>
        </p:nvSpPr>
        <p:spPr bwMode="auto">
          <a:xfrm>
            <a:off x="5060820" y="420887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38" name="Rectangle 237"/>
          <p:cNvSpPr/>
          <p:nvPr/>
        </p:nvSpPr>
        <p:spPr bwMode="auto">
          <a:xfrm>
            <a:off x="5608831" y="420887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41" name="Rectangle 240"/>
          <p:cNvSpPr/>
          <p:nvPr/>
        </p:nvSpPr>
        <p:spPr bwMode="auto">
          <a:xfrm>
            <a:off x="5475402" y="4087491"/>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44" name="Rectangle 243"/>
          <p:cNvSpPr/>
          <p:nvPr/>
        </p:nvSpPr>
        <p:spPr bwMode="auto">
          <a:xfrm>
            <a:off x="5341974" y="3917548"/>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45" name="Rectangle 244"/>
          <p:cNvSpPr/>
          <p:nvPr/>
        </p:nvSpPr>
        <p:spPr bwMode="auto">
          <a:xfrm>
            <a:off x="6180821" y="420887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46" name="Rectangle 245"/>
          <p:cNvSpPr/>
          <p:nvPr/>
        </p:nvSpPr>
        <p:spPr bwMode="auto">
          <a:xfrm>
            <a:off x="6728830" y="420887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47" name="Rectangle 246"/>
          <p:cNvSpPr/>
          <p:nvPr/>
        </p:nvSpPr>
        <p:spPr bwMode="auto">
          <a:xfrm>
            <a:off x="7276841" y="420887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54" name="Rectangle 253"/>
          <p:cNvSpPr/>
          <p:nvPr/>
        </p:nvSpPr>
        <p:spPr bwMode="auto">
          <a:xfrm>
            <a:off x="4506569" y="4797893"/>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55" name="Rectangle 254"/>
          <p:cNvSpPr/>
          <p:nvPr/>
        </p:nvSpPr>
        <p:spPr bwMode="auto">
          <a:xfrm>
            <a:off x="5054579" y="4797893"/>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56" name="Rectangle 255"/>
          <p:cNvSpPr/>
          <p:nvPr/>
        </p:nvSpPr>
        <p:spPr bwMode="auto">
          <a:xfrm>
            <a:off x="5602589" y="4797893"/>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59" name="Rectangle 258"/>
          <p:cNvSpPr/>
          <p:nvPr/>
        </p:nvSpPr>
        <p:spPr bwMode="auto">
          <a:xfrm>
            <a:off x="5469161" y="4676505"/>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62" name="Rectangle 261"/>
          <p:cNvSpPr/>
          <p:nvPr/>
        </p:nvSpPr>
        <p:spPr bwMode="auto">
          <a:xfrm>
            <a:off x="5335732" y="4506562"/>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63" name="Rectangle 262"/>
          <p:cNvSpPr/>
          <p:nvPr/>
        </p:nvSpPr>
        <p:spPr bwMode="auto">
          <a:xfrm>
            <a:off x="6174579" y="4797893"/>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64" name="Rectangle 263"/>
          <p:cNvSpPr/>
          <p:nvPr/>
        </p:nvSpPr>
        <p:spPr bwMode="auto">
          <a:xfrm>
            <a:off x="6722589" y="4797893"/>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65" name="Rectangle 264"/>
          <p:cNvSpPr/>
          <p:nvPr/>
        </p:nvSpPr>
        <p:spPr bwMode="auto">
          <a:xfrm>
            <a:off x="7270600" y="4797893"/>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72" name="Rectangle 271"/>
          <p:cNvSpPr/>
          <p:nvPr/>
        </p:nvSpPr>
        <p:spPr bwMode="auto">
          <a:xfrm>
            <a:off x="4512811" y="538878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73" name="Rectangle 272"/>
          <p:cNvSpPr/>
          <p:nvPr/>
        </p:nvSpPr>
        <p:spPr bwMode="auto">
          <a:xfrm>
            <a:off x="5060820" y="538878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74" name="Rectangle 273"/>
          <p:cNvSpPr/>
          <p:nvPr/>
        </p:nvSpPr>
        <p:spPr bwMode="auto">
          <a:xfrm>
            <a:off x="5608831" y="538878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77" name="Rectangle 276"/>
          <p:cNvSpPr/>
          <p:nvPr/>
        </p:nvSpPr>
        <p:spPr bwMode="auto">
          <a:xfrm>
            <a:off x="5475402" y="5267396"/>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80" name="Rectangle 279"/>
          <p:cNvSpPr/>
          <p:nvPr/>
        </p:nvSpPr>
        <p:spPr bwMode="auto">
          <a:xfrm>
            <a:off x="5341974" y="5097453"/>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81" name="Rectangle 280"/>
          <p:cNvSpPr/>
          <p:nvPr/>
        </p:nvSpPr>
        <p:spPr bwMode="auto">
          <a:xfrm>
            <a:off x="6180821" y="538878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82" name="Rectangle 281"/>
          <p:cNvSpPr/>
          <p:nvPr/>
        </p:nvSpPr>
        <p:spPr bwMode="auto">
          <a:xfrm>
            <a:off x="6728830" y="538878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83" name="Rectangle 282"/>
          <p:cNvSpPr/>
          <p:nvPr/>
        </p:nvSpPr>
        <p:spPr bwMode="auto">
          <a:xfrm>
            <a:off x="7276841" y="538878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90" name="TextBox 289"/>
          <p:cNvSpPr txBox="1"/>
          <p:nvPr/>
        </p:nvSpPr>
        <p:spPr>
          <a:xfrm>
            <a:off x="381000" y="381000"/>
            <a:ext cx="6546985" cy="461665"/>
          </a:xfrm>
          <a:prstGeom prst="rect">
            <a:avLst/>
          </a:prstGeom>
          <a:noFill/>
        </p:spPr>
        <p:txBody>
          <a:bodyPr wrap="none" rtlCol="0">
            <a:spAutoFit/>
          </a:bodyPr>
          <a:lstStyle/>
          <a:p>
            <a:r>
              <a:rPr lang="en-GB" sz="2400" b="1" dirty="0" err="1"/>
              <a:t>Y,Cb,Cr</a:t>
            </a:r>
            <a:r>
              <a:rPr lang="en-GB" sz="2400" b="1" dirty="0"/>
              <a:t> – Chroma Sub-sampled to “4:1:1” </a:t>
            </a:r>
          </a:p>
        </p:txBody>
      </p:sp>
      <p:cxnSp>
        <p:nvCxnSpPr>
          <p:cNvPr id="291" name="Straight Arrow Connector 290"/>
          <p:cNvCxnSpPr/>
          <p:nvPr/>
        </p:nvCxnSpPr>
        <p:spPr bwMode="auto">
          <a:xfrm>
            <a:off x="1003852" y="6092687"/>
            <a:ext cx="6738731" cy="9939"/>
          </a:xfrm>
          <a:prstGeom prst="straightConnector1">
            <a:avLst/>
          </a:prstGeom>
          <a:noFill/>
          <a:ln w="9525" cap="flat" cmpd="sng" algn="ctr">
            <a:solidFill>
              <a:schemeClr val="tx1"/>
            </a:solidFill>
            <a:prstDash val="solid"/>
            <a:round/>
            <a:headEnd type="none" w="med" len="med"/>
            <a:tailEnd type="arrow"/>
          </a:ln>
          <a:effectLst/>
        </p:spPr>
      </p:cxnSp>
      <p:cxnSp>
        <p:nvCxnSpPr>
          <p:cNvPr id="292" name="Straight Arrow Connector 291"/>
          <p:cNvCxnSpPr/>
          <p:nvPr/>
        </p:nvCxnSpPr>
        <p:spPr bwMode="auto">
          <a:xfrm flipH="1" flipV="1">
            <a:off x="7861853" y="1023730"/>
            <a:ext cx="29817" cy="5049078"/>
          </a:xfrm>
          <a:prstGeom prst="straightConnector1">
            <a:avLst/>
          </a:prstGeom>
          <a:noFill/>
          <a:ln w="9525" cap="flat" cmpd="sng" algn="ctr">
            <a:solidFill>
              <a:schemeClr val="tx1"/>
            </a:solidFill>
            <a:prstDash val="solid"/>
            <a:round/>
            <a:headEnd type="none" w="med" len="med"/>
            <a:tailEnd type="arrow"/>
          </a:ln>
          <a:effectLst/>
        </p:spPr>
      </p:cxnSp>
      <p:sp>
        <p:nvSpPr>
          <p:cNvPr id="293" name="TextBox 292"/>
          <p:cNvSpPr txBox="1"/>
          <p:nvPr/>
        </p:nvSpPr>
        <p:spPr>
          <a:xfrm>
            <a:off x="3916017" y="6132443"/>
            <a:ext cx="970137" cy="338554"/>
          </a:xfrm>
          <a:prstGeom prst="rect">
            <a:avLst/>
          </a:prstGeom>
          <a:noFill/>
        </p:spPr>
        <p:txBody>
          <a:bodyPr wrap="none" rtlCol="0">
            <a:spAutoFit/>
          </a:bodyPr>
          <a:lstStyle/>
          <a:p>
            <a:r>
              <a:rPr lang="en-GB" i="1" dirty="0"/>
              <a:t>x pixels</a:t>
            </a:r>
          </a:p>
        </p:txBody>
      </p:sp>
      <p:sp>
        <p:nvSpPr>
          <p:cNvPr id="294" name="TextBox 293"/>
          <p:cNvSpPr txBox="1"/>
          <p:nvPr/>
        </p:nvSpPr>
        <p:spPr>
          <a:xfrm>
            <a:off x="7955202" y="3190460"/>
            <a:ext cx="970137" cy="338554"/>
          </a:xfrm>
          <a:prstGeom prst="rect">
            <a:avLst/>
          </a:prstGeom>
          <a:noFill/>
        </p:spPr>
        <p:txBody>
          <a:bodyPr wrap="none" rtlCol="0">
            <a:spAutoFit/>
          </a:bodyPr>
          <a:lstStyle/>
          <a:p>
            <a:r>
              <a:rPr lang="en-GB" i="1" dirty="0"/>
              <a:t>y pixels</a:t>
            </a:r>
          </a:p>
        </p:txBody>
      </p:sp>
      <p:sp>
        <p:nvSpPr>
          <p:cNvPr id="326" name="TextBox 325"/>
          <p:cNvSpPr txBox="1"/>
          <p:nvPr/>
        </p:nvSpPr>
        <p:spPr>
          <a:xfrm>
            <a:off x="6372750" y="3929932"/>
            <a:ext cx="2507090" cy="1384995"/>
          </a:xfrm>
          <a:prstGeom prst="rect">
            <a:avLst/>
          </a:prstGeom>
          <a:solidFill>
            <a:schemeClr val="bg1">
              <a:alpha val="83000"/>
            </a:schemeClr>
          </a:solidFill>
        </p:spPr>
        <p:txBody>
          <a:bodyPr wrap="square" rtlCol="0">
            <a:spAutoFit/>
          </a:bodyPr>
          <a:lstStyle/>
          <a:p>
            <a:r>
              <a:rPr lang="en-GB" sz="1400" dirty="0"/>
              <a:t>Reason: To greatly reduce the amount of data</a:t>
            </a:r>
          </a:p>
          <a:p>
            <a:endParaRPr lang="en-GB" sz="1400" dirty="0"/>
          </a:p>
          <a:p>
            <a:r>
              <a:rPr lang="en-GB" sz="1400" dirty="0"/>
              <a:t>Rationale: The eye’s resolution of luminance is greater than for colour</a:t>
            </a:r>
          </a:p>
        </p:txBody>
      </p:sp>
    </p:spTree>
    <p:extLst>
      <p:ext uri="{BB962C8B-B14F-4D97-AF65-F5344CB8AC3E}">
        <p14:creationId xmlns:p14="http://schemas.microsoft.com/office/powerpoint/2010/main" val="265129153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Text Box 3"/>
          <p:cNvSpPr txBox="1">
            <a:spLocks noChangeArrowheads="1"/>
          </p:cNvSpPr>
          <p:nvPr/>
        </p:nvSpPr>
        <p:spPr bwMode="auto">
          <a:xfrm>
            <a:off x="450091" y="1728650"/>
            <a:ext cx="5265737" cy="3811587"/>
          </a:xfrm>
          <a:prstGeom prst="rect">
            <a:avLst/>
          </a:prstGeom>
          <a:noFill/>
          <a:ln w="9525">
            <a:noFill/>
            <a:miter lim="800000"/>
            <a:headEnd/>
            <a:tailEnd/>
          </a:ln>
        </p:spPr>
        <p:txBody>
          <a:bodyPr>
            <a:spAutoFit/>
          </a:bodyPr>
          <a:lstStyle/>
          <a:p>
            <a:pPr marL="187325" indent="-187325">
              <a:lnSpc>
                <a:spcPct val="120000"/>
              </a:lnSpc>
            </a:pPr>
            <a:r>
              <a:rPr lang="en-GB" sz="1600" b="1" dirty="0" err="1"/>
              <a:t>YCbCr</a:t>
            </a:r>
            <a:r>
              <a:rPr lang="en-GB" sz="1600" dirty="0"/>
              <a:t> </a:t>
            </a:r>
          </a:p>
          <a:p>
            <a:pPr marL="187325" indent="-187325">
              <a:lnSpc>
                <a:spcPct val="120000"/>
              </a:lnSpc>
            </a:pPr>
            <a:endParaRPr lang="en-GB" sz="1600" dirty="0"/>
          </a:p>
          <a:p>
            <a:pPr marL="187325" indent="-187325">
              <a:lnSpc>
                <a:spcPct val="120000"/>
              </a:lnSpc>
              <a:buFontTx/>
              <a:buChar char="•"/>
            </a:pPr>
            <a:r>
              <a:rPr lang="en-GB" sz="1600" dirty="0"/>
              <a:t>Colour Space: Y = </a:t>
            </a:r>
            <a:r>
              <a:rPr lang="en-GB" sz="1600" dirty="0" err="1"/>
              <a:t>Luminence</a:t>
            </a:r>
            <a:r>
              <a:rPr lang="en-GB" sz="1600" dirty="0"/>
              <a:t> Information; Cr, </a:t>
            </a:r>
            <a:r>
              <a:rPr lang="en-GB" sz="1600" dirty="0" err="1"/>
              <a:t>Cb</a:t>
            </a:r>
            <a:r>
              <a:rPr lang="en-GB" sz="1600" dirty="0"/>
              <a:t> = Chrominance Information</a:t>
            </a:r>
          </a:p>
          <a:p>
            <a:pPr marL="187325" indent="-187325">
              <a:lnSpc>
                <a:spcPct val="120000"/>
              </a:lnSpc>
              <a:buFontTx/>
              <a:buChar char="•"/>
            </a:pPr>
            <a:endParaRPr lang="en-GB" sz="1600" dirty="0"/>
          </a:p>
          <a:p>
            <a:pPr marL="187325" indent="-187325">
              <a:lnSpc>
                <a:spcPct val="120000"/>
              </a:lnSpc>
              <a:buFontTx/>
              <a:buChar char="•"/>
            </a:pPr>
            <a:r>
              <a:rPr lang="en-GB" sz="1600" dirty="0"/>
              <a:t>Derived from RGB (gamma corrected)</a:t>
            </a:r>
          </a:p>
          <a:p>
            <a:pPr marL="187325" indent="-187325">
              <a:lnSpc>
                <a:spcPct val="120000"/>
              </a:lnSpc>
              <a:buFontTx/>
              <a:buChar char="•"/>
            </a:pPr>
            <a:endParaRPr lang="en-GB" sz="1600" dirty="0"/>
          </a:p>
          <a:p>
            <a:pPr marL="187325" indent="-187325">
              <a:lnSpc>
                <a:spcPct val="120000"/>
              </a:lnSpc>
              <a:buFontTx/>
              <a:buChar char="•"/>
            </a:pPr>
            <a:r>
              <a:rPr lang="en-GB" sz="1600" dirty="0"/>
              <a:t>Y is dominant information; RGB colour info derived from Y, Cr, </a:t>
            </a:r>
            <a:r>
              <a:rPr lang="en-GB" sz="1600" dirty="0" err="1"/>
              <a:t>Cb</a:t>
            </a:r>
            <a:r>
              <a:rPr lang="en-GB" sz="1600" dirty="0"/>
              <a:t> relationships</a:t>
            </a:r>
          </a:p>
          <a:p>
            <a:pPr marL="187325" indent="-187325">
              <a:lnSpc>
                <a:spcPct val="120000"/>
              </a:lnSpc>
              <a:buFontTx/>
              <a:buChar char="•"/>
            </a:pPr>
            <a:endParaRPr lang="en-GB" sz="1600" dirty="0"/>
          </a:p>
          <a:p>
            <a:pPr marL="582613" lvl="1" indent="-204788">
              <a:lnSpc>
                <a:spcPct val="120000"/>
              </a:lnSpc>
              <a:buFontTx/>
              <a:buChar char="•"/>
            </a:pPr>
            <a:r>
              <a:rPr lang="en-GB" sz="1600" dirty="0"/>
              <a:t>(simplified</a:t>
            </a:r>
            <a:r>
              <a:rPr lang="en-GB" sz="1600" dirty="0">
                <a:sym typeface="Wingdings" pitchFamily="2" charset="2"/>
              </a:rPr>
              <a:t>):   </a:t>
            </a:r>
            <a:r>
              <a:rPr lang="en-GB" sz="1600" dirty="0" err="1"/>
              <a:t>Cb</a:t>
            </a:r>
            <a:r>
              <a:rPr lang="en-GB" sz="1600" dirty="0"/>
              <a:t> = B-Y ;  Cr = R-Y</a:t>
            </a:r>
          </a:p>
          <a:p>
            <a:pPr marL="187325" indent="-187325"/>
            <a:endParaRPr lang="en-GB" sz="1600" dirty="0"/>
          </a:p>
          <a:p>
            <a:pPr marL="187325" indent="-187325"/>
            <a:endParaRPr lang="en-GB" sz="1600" dirty="0"/>
          </a:p>
        </p:txBody>
      </p:sp>
      <p:pic>
        <p:nvPicPr>
          <p:cNvPr id="9220" name="Picture 4"/>
          <p:cNvPicPr>
            <a:picLocks noChangeAspect="1" noChangeArrowheads="1"/>
          </p:cNvPicPr>
          <p:nvPr/>
        </p:nvPicPr>
        <p:blipFill>
          <a:blip r:embed="rId2" cstate="print"/>
          <a:srcRect/>
          <a:stretch>
            <a:fillRect/>
          </a:stretch>
        </p:blipFill>
        <p:spPr bwMode="auto">
          <a:xfrm>
            <a:off x="6426200" y="527050"/>
            <a:ext cx="1905000" cy="5695950"/>
          </a:xfrm>
          <a:prstGeom prst="rect">
            <a:avLst/>
          </a:prstGeom>
          <a:noFill/>
          <a:ln w="9525" algn="ctr">
            <a:noFill/>
            <a:miter lim="800000"/>
            <a:headEnd/>
            <a:tailEnd/>
          </a:ln>
        </p:spPr>
      </p:pic>
      <p:sp>
        <p:nvSpPr>
          <p:cNvPr id="9221" name="Rectangle 6"/>
          <p:cNvSpPr>
            <a:spLocks noChangeArrowheads="1"/>
          </p:cNvSpPr>
          <p:nvPr/>
        </p:nvSpPr>
        <p:spPr bwMode="auto">
          <a:xfrm>
            <a:off x="8366125" y="5849938"/>
            <a:ext cx="410690" cy="338554"/>
          </a:xfrm>
          <a:prstGeom prst="rect">
            <a:avLst/>
          </a:prstGeom>
          <a:noFill/>
          <a:ln w="9525">
            <a:noFill/>
            <a:miter lim="800000"/>
            <a:headEnd/>
            <a:tailEnd/>
          </a:ln>
        </p:spPr>
        <p:txBody>
          <a:bodyPr wrap="none">
            <a:spAutoFit/>
          </a:bodyPr>
          <a:lstStyle/>
          <a:p>
            <a:r>
              <a:rPr lang="en-GB" sz="1600"/>
              <a:t>Cr</a:t>
            </a:r>
            <a:endParaRPr lang="en-US" sz="1600"/>
          </a:p>
        </p:txBody>
      </p:sp>
      <p:sp>
        <p:nvSpPr>
          <p:cNvPr id="9222" name="Rectangle 7"/>
          <p:cNvSpPr>
            <a:spLocks noChangeArrowheads="1"/>
          </p:cNvSpPr>
          <p:nvPr/>
        </p:nvSpPr>
        <p:spPr bwMode="auto">
          <a:xfrm>
            <a:off x="8347075" y="4452938"/>
            <a:ext cx="457176" cy="338554"/>
          </a:xfrm>
          <a:prstGeom prst="rect">
            <a:avLst/>
          </a:prstGeom>
          <a:noFill/>
          <a:ln w="9525">
            <a:noFill/>
            <a:miter lim="800000"/>
            <a:headEnd/>
            <a:tailEnd/>
          </a:ln>
        </p:spPr>
        <p:txBody>
          <a:bodyPr wrap="none">
            <a:spAutoFit/>
          </a:bodyPr>
          <a:lstStyle/>
          <a:p>
            <a:r>
              <a:rPr lang="en-GB" sz="1600"/>
              <a:t>Cb</a:t>
            </a:r>
            <a:endParaRPr lang="en-US" sz="1600"/>
          </a:p>
        </p:txBody>
      </p:sp>
      <p:sp>
        <p:nvSpPr>
          <p:cNvPr id="9223" name="Rectangle 8"/>
          <p:cNvSpPr>
            <a:spLocks noChangeArrowheads="1"/>
          </p:cNvSpPr>
          <p:nvPr/>
        </p:nvSpPr>
        <p:spPr bwMode="auto">
          <a:xfrm>
            <a:off x="8339138" y="3022600"/>
            <a:ext cx="312906" cy="338554"/>
          </a:xfrm>
          <a:prstGeom prst="rect">
            <a:avLst/>
          </a:prstGeom>
          <a:noFill/>
          <a:ln w="9525">
            <a:noFill/>
            <a:miter lim="800000"/>
            <a:headEnd/>
            <a:tailEnd/>
          </a:ln>
        </p:spPr>
        <p:txBody>
          <a:bodyPr wrap="none">
            <a:spAutoFit/>
          </a:bodyPr>
          <a:lstStyle/>
          <a:p>
            <a:r>
              <a:rPr lang="en-GB" sz="1600"/>
              <a:t>Y</a:t>
            </a:r>
            <a:endParaRPr lang="en-US" sz="1600"/>
          </a:p>
        </p:txBody>
      </p:sp>
      <p:sp>
        <p:nvSpPr>
          <p:cNvPr id="9224" name="Rectangle 9"/>
          <p:cNvSpPr>
            <a:spLocks noChangeArrowheads="1"/>
          </p:cNvSpPr>
          <p:nvPr/>
        </p:nvSpPr>
        <p:spPr bwMode="auto">
          <a:xfrm>
            <a:off x="4603750" y="1541463"/>
            <a:ext cx="1646605" cy="338554"/>
          </a:xfrm>
          <a:prstGeom prst="rect">
            <a:avLst/>
          </a:prstGeom>
          <a:noFill/>
          <a:ln w="9525">
            <a:noFill/>
            <a:miter lim="800000"/>
            <a:headEnd/>
            <a:tailEnd/>
          </a:ln>
        </p:spPr>
        <p:txBody>
          <a:bodyPr wrap="none">
            <a:spAutoFit/>
          </a:bodyPr>
          <a:lstStyle/>
          <a:p>
            <a:r>
              <a:rPr lang="en-GB" sz="1600"/>
              <a:t>Original image</a:t>
            </a:r>
            <a:endParaRPr lang="en-US" sz="1600"/>
          </a:p>
        </p:txBody>
      </p:sp>
      <p:sp>
        <p:nvSpPr>
          <p:cNvPr id="9" name="TextBox 8"/>
          <p:cNvSpPr txBox="1"/>
          <p:nvPr/>
        </p:nvSpPr>
        <p:spPr>
          <a:xfrm>
            <a:off x="381000" y="381000"/>
            <a:ext cx="1319592" cy="461665"/>
          </a:xfrm>
          <a:prstGeom prst="rect">
            <a:avLst/>
          </a:prstGeom>
          <a:noFill/>
        </p:spPr>
        <p:txBody>
          <a:bodyPr wrap="none" rtlCol="0">
            <a:spAutoFit/>
          </a:bodyPr>
          <a:lstStyle/>
          <a:p>
            <a:r>
              <a:rPr lang="en-GB" sz="2400" b="1" dirty="0" err="1"/>
              <a:t>Y,Cb,Cr</a:t>
            </a:r>
            <a:endParaRPr lang="en-GB" sz="2400" b="1" dirty="0"/>
          </a:p>
        </p:txBody>
      </p:sp>
    </p:spTree>
    <p:extLst>
      <p:ext uri="{BB962C8B-B14F-4D97-AF65-F5344CB8AC3E}">
        <p14:creationId xmlns:p14="http://schemas.microsoft.com/office/powerpoint/2010/main" val="149634123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p:cNvPicPr>
            <a:picLocks noChangeAspect="1" noChangeArrowheads="1"/>
          </p:cNvPicPr>
          <p:nvPr/>
        </p:nvPicPr>
        <p:blipFill>
          <a:blip r:embed="rId2" cstate="print"/>
          <a:srcRect/>
          <a:stretch>
            <a:fillRect/>
          </a:stretch>
        </p:blipFill>
        <p:spPr bwMode="auto">
          <a:xfrm>
            <a:off x="6426200" y="527050"/>
            <a:ext cx="1905000" cy="5695950"/>
          </a:xfrm>
          <a:prstGeom prst="rect">
            <a:avLst/>
          </a:prstGeom>
          <a:noFill/>
          <a:ln w="9525" algn="ctr">
            <a:noFill/>
            <a:miter lim="800000"/>
            <a:headEnd/>
            <a:tailEnd/>
          </a:ln>
        </p:spPr>
      </p:pic>
      <p:pic>
        <p:nvPicPr>
          <p:cNvPr id="205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48025" y="2995613"/>
            <a:ext cx="1905000" cy="1400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267075" y="4791075"/>
            <a:ext cx="1885950" cy="1390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238500" y="1195388"/>
            <a:ext cx="1905000" cy="1419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6"/>
          <p:cNvSpPr>
            <a:spLocks noChangeArrowheads="1"/>
          </p:cNvSpPr>
          <p:nvPr/>
        </p:nvSpPr>
        <p:spPr bwMode="auto">
          <a:xfrm>
            <a:off x="8366125" y="5849938"/>
            <a:ext cx="436563" cy="366712"/>
          </a:xfrm>
          <a:prstGeom prst="rect">
            <a:avLst/>
          </a:prstGeom>
          <a:noFill/>
          <a:ln w="9525">
            <a:noFill/>
            <a:miter lim="800000"/>
            <a:headEnd/>
            <a:tailEnd/>
          </a:ln>
        </p:spPr>
        <p:txBody>
          <a:bodyPr wrap="none">
            <a:spAutoFit/>
          </a:bodyPr>
          <a:lstStyle/>
          <a:p>
            <a:r>
              <a:rPr lang="en-GB"/>
              <a:t>Cr</a:t>
            </a:r>
            <a:endParaRPr lang="en-US"/>
          </a:p>
        </p:txBody>
      </p:sp>
      <p:sp>
        <p:nvSpPr>
          <p:cNvPr id="7" name="Rectangle 7"/>
          <p:cNvSpPr>
            <a:spLocks noChangeArrowheads="1"/>
          </p:cNvSpPr>
          <p:nvPr/>
        </p:nvSpPr>
        <p:spPr bwMode="auto">
          <a:xfrm>
            <a:off x="8347075" y="4452938"/>
            <a:ext cx="487363" cy="366712"/>
          </a:xfrm>
          <a:prstGeom prst="rect">
            <a:avLst/>
          </a:prstGeom>
          <a:noFill/>
          <a:ln w="9525">
            <a:noFill/>
            <a:miter lim="800000"/>
            <a:headEnd/>
            <a:tailEnd/>
          </a:ln>
        </p:spPr>
        <p:txBody>
          <a:bodyPr wrap="none">
            <a:spAutoFit/>
          </a:bodyPr>
          <a:lstStyle/>
          <a:p>
            <a:r>
              <a:rPr lang="en-GB"/>
              <a:t>Cb</a:t>
            </a:r>
            <a:endParaRPr lang="en-US"/>
          </a:p>
        </p:txBody>
      </p:sp>
      <p:sp>
        <p:nvSpPr>
          <p:cNvPr id="8" name="Rectangle 8"/>
          <p:cNvSpPr>
            <a:spLocks noChangeArrowheads="1"/>
          </p:cNvSpPr>
          <p:nvPr/>
        </p:nvSpPr>
        <p:spPr bwMode="auto">
          <a:xfrm>
            <a:off x="8339138" y="3022600"/>
            <a:ext cx="327025" cy="366713"/>
          </a:xfrm>
          <a:prstGeom prst="rect">
            <a:avLst/>
          </a:prstGeom>
          <a:noFill/>
          <a:ln w="9525">
            <a:noFill/>
            <a:miter lim="800000"/>
            <a:headEnd/>
            <a:tailEnd/>
          </a:ln>
        </p:spPr>
        <p:txBody>
          <a:bodyPr wrap="none">
            <a:spAutoFit/>
          </a:bodyPr>
          <a:lstStyle/>
          <a:p>
            <a:r>
              <a:rPr lang="en-GB"/>
              <a:t>Y</a:t>
            </a:r>
            <a:endParaRPr lang="en-US"/>
          </a:p>
        </p:txBody>
      </p:sp>
      <p:sp>
        <p:nvSpPr>
          <p:cNvPr id="9" name="Rectangle 6"/>
          <p:cNvSpPr>
            <a:spLocks noChangeArrowheads="1"/>
          </p:cNvSpPr>
          <p:nvPr/>
        </p:nvSpPr>
        <p:spPr bwMode="auto">
          <a:xfrm>
            <a:off x="5137150" y="5935663"/>
            <a:ext cx="436563" cy="366712"/>
          </a:xfrm>
          <a:prstGeom prst="rect">
            <a:avLst/>
          </a:prstGeom>
          <a:noFill/>
          <a:ln w="9525">
            <a:noFill/>
            <a:miter lim="800000"/>
            <a:headEnd/>
            <a:tailEnd/>
          </a:ln>
        </p:spPr>
        <p:txBody>
          <a:bodyPr wrap="none">
            <a:spAutoFit/>
          </a:bodyPr>
          <a:lstStyle/>
          <a:p>
            <a:r>
              <a:rPr lang="en-GB" dirty="0"/>
              <a:t>Cr</a:t>
            </a:r>
            <a:endParaRPr lang="en-US" dirty="0"/>
          </a:p>
        </p:txBody>
      </p:sp>
      <p:sp>
        <p:nvSpPr>
          <p:cNvPr id="10" name="Rectangle 7"/>
          <p:cNvSpPr>
            <a:spLocks noChangeArrowheads="1"/>
          </p:cNvSpPr>
          <p:nvPr/>
        </p:nvSpPr>
        <p:spPr bwMode="auto">
          <a:xfrm>
            <a:off x="5241925" y="4024313"/>
            <a:ext cx="487363" cy="366712"/>
          </a:xfrm>
          <a:prstGeom prst="rect">
            <a:avLst/>
          </a:prstGeom>
          <a:noFill/>
          <a:ln w="9525">
            <a:noFill/>
            <a:miter lim="800000"/>
            <a:headEnd/>
            <a:tailEnd/>
          </a:ln>
        </p:spPr>
        <p:txBody>
          <a:bodyPr wrap="none">
            <a:spAutoFit/>
          </a:bodyPr>
          <a:lstStyle/>
          <a:p>
            <a:r>
              <a:rPr lang="en-GB" dirty="0" err="1"/>
              <a:t>Cb</a:t>
            </a:r>
            <a:endParaRPr lang="en-US" dirty="0"/>
          </a:p>
        </p:txBody>
      </p:sp>
      <p:sp>
        <p:nvSpPr>
          <p:cNvPr id="11" name="Rectangle 8"/>
          <p:cNvSpPr>
            <a:spLocks noChangeArrowheads="1"/>
          </p:cNvSpPr>
          <p:nvPr/>
        </p:nvSpPr>
        <p:spPr bwMode="auto">
          <a:xfrm>
            <a:off x="5214938" y="2355850"/>
            <a:ext cx="327025" cy="366713"/>
          </a:xfrm>
          <a:prstGeom prst="rect">
            <a:avLst/>
          </a:prstGeom>
          <a:noFill/>
          <a:ln w="9525">
            <a:noFill/>
            <a:miter lim="800000"/>
            <a:headEnd/>
            <a:tailEnd/>
          </a:ln>
        </p:spPr>
        <p:txBody>
          <a:bodyPr wrap="none">
            <a:spAutoFit/>
          </a:bodyPr>
          <a:lstStyle/>
          <a:p>
            <a:r>
              <a:rPr lang="en-GB" dirty="0"/>
              <a:t>Y</a:t>
            </a:r>
            <a:endParaRPr lang="en-US" dirty="0"/>
          </a:p>
        </p:txBody>
      </p:sp>
      <p:sp>
        <p:nvSpPr>
          <p:cNvPr id="12" name="TextBox 11"/>
          <p:cNvSpPr txBox="1"/>
          <p:nvPr/>
        </p:nvSpPr>
        <p:spPr>
          <a:xfrm>
            <a:off x="381000" y="381000"/>
            <a:ext cx="2611612" cy="461665"/>
          </a:xfrm>
          <a:prstGeom prst="rect">
            <a:avLst/>
          </a:prstGeom>
          <a:noFill/>
        </p:spPr>
        <p:txBody>
          <a:bodyPr wrap="none" rtlCol="0">
            <a:spAutoFit/>
          </a:bodyPr>
          <a:lstStyle/>
          <a:p>
            <a:r>
              <a:rPr lang="en-GB" sz="2400" b="1" dirty="0"/>
              <a:t>RGB  to  </a:t>
            </a:r>
            <a:r>
              <a:rPr lang="en-GB" sz="2400" b="1" dirty="0" err="1"/>
              <a:t>Y,Cr,Cb</a:t>
            </a:r>
            <a:endParaRPr lang="en-GB" sz="2400" b="1" dirty="0"/>
          </a:p>
        </p:txBody>
      </p:sp>
      <p:cxnSp>
        <p:nvCxnSpPr>
          <p:cNvPr id="4" name="Straight Arrow Connector 3"/>
          <p:cNvCxnSpPr/>
          <p:nvPr/>
        </p:nvCxnSpPr>
        <p:spPr bwMode="auto">
          <a:xfrm flipH="1" flipV="1">
            <a:off x="5248275" y="1952625"/>
            <a:ext cx="1076325" cy="247650"/>
          </a:xfrm>
          <a:prstGeom prst="straightConnector1">
            <a:avLst/>
          </a:prstGeom>
          <a:noFill/>
          <a:ln w="9525" cap="flat" cmpd="sng" algn="ctr">
            <a:solidFill>
              <a:schemeClr val="tx1"/>
            </a:solidFill>
            <a:prstDash val="solid"/>
            <a:round/>
            <a:headEnd type="none" w="med" len="med"/>
            <a:tailEnd type="arrow"/>
          </a:ln>
          <a:effectLst/>
        </p:spPr>
      </p:cxnSp>
      <p:cxnSp>
        <p:nvCxnSpPr>
          <p:cNvPr id="15" name="Straight Arrow Connector 14"/>
          <p:cNvCxnSpPr/>
          <p:nvPr/>
        </p:nvCxnSpPr>
        <p:spPr bwMode="auto">
          <a:xfrm flipH="1" flipV="1">
            <a:off x="5257800" y="3752850"/>
            <a:ext cx="1095376" cy="161925"/>
          </a:xfrm>
          <a:prstGeom prst="straightConnector1">
            <a:avLst/>
          </a:prstGeom>
          <a:noFill/>
          <a:ln w="9525" cap="flat" cmpd="sng" algn="ctr">
            <a:solidFill>
              <a:schemeClr val="tx1"/>
            </a:solidFill>
            <a:prstDash val="solid"/>
            <a:round/>
            <a:headEnd type="none" w="med" len="med"/>
            <a:tailEnd type="arrow"/>
          </a:ln>
          <a:effectLst/>
        </p:spPr>
      </p:cxnSp>
      <p:cxnSp>
        <p:nvCxnSpPr>
          <p:cNvPr id="16" name="Straight Arrow Connector 15"/>
          <p:cNvCxnSpPr/>
          <p:nvPr/>
        </p:nvCxnSpPr>
        <p:spPr bwMode="auto">
          <a:xfrm flipH="1" flipV="1">
            <a:off x="5305425" y="5381625"/>
            <a:ext cx="1104901" cy="57150"/>
          </a:xfrm>
          <a:prstGeom prst="straightConnector1">
            <a:avLst/>
          </a:prstGeom>
          <a:noFill/>
          <a:ln w="9525" cap="flat" cmpd="sng" algn="ctr">
            <a:solidFill>
              <a:schemeClr val="tx1"/>
            </a:solidFill>
            <a:prstDash val="solid"/>
            <a:round/>
            <a:headEnd type="none" w="med" len="med"/>
            <a:tailEnd type="arrow"/>
          </a:ln>
          <a:effectLst/>
        </p:spPr>
      </p:cxnSp>
      <p:sp>
        <p:nvSpPr>
          <p:cNvPr id="14" name="TextBox 13"/>
          <p:cNvSpPr txBox="1"/>
          <p:nvPr/>
        </p:nvSpPr>
        <p:spPr>
          <a:xfrm flipH="1">
            <a:off x="381000" y="1152525"/>
            <a:ext cx="2162175" cy="4770537"/>
          </a:xfrm>
          <a:prstGeom prst="rect">
            <a:avLst/>
          </a:prstGeom>
          <a:noFill/>
        </p:spPr>
        <p:txBody>
          <a:bodyPr wrap="square" rtlCol="0">
            <a:spAutoFit/>
          </a:bodyPr>
          <a:lstStyle/>
          <a:p>
            <a:r>
              <a:rPr lang="en-GB" dirty="0"/>
              <a:t>i.e. there are now three mappings of the original RGB image:</a:t>
            </a:r>
          </a:p>
          <a:p>
            <a:endParaRPr lang="en-GB" dirty="0"/>
          </a:p>
          <a:p>
            <a:endParaRPr lang="en-GB" dirty="0"/>
          </a:p>
          <a:p>
            <a:r>
              <a:rPr lang="en-GB" dirty="0"/>
              <a:t>Y: Luminance intensity</a:t>
            </a:r>
          </a:p>
          <a:p>
            <a:endParaRPr lang="en-GB" dirty="0"/>
          </a:p>
          <a:p>
            <a:r>
              <a:rPr lang="en-GB" dirty="0" err="1"/>
              <a:t>Cb</a:t>
            </a:r>
            <a:r>
              <a:rPr lang="en-GB" dirty="0"/>
              <a:t>: Intensity of the values of </a:t>
            </a:r>
          </a:p>
          <a:p>
            <a:r>
              <a:rPr lang="en-GB" dirty="0"/>
              <a:t>[B minus Y]</a:t>
            </a:r>
          </a:p>
          <a:p>
            <a:endParaRPr lang="en-GB" dirty="0"/>
          </a:p>
          <a:p>
            <a:r>
              <a:rPr lang="en-GB" dirty="0"/>
              <a:t>Cr: Intensity of the values of </a:t>
            </a:r>
          </a:p>
          <a:p>
            <a:r>
              <a:rPr lang="en-GB" dirty="0"/>
              <a:t>[R minus Y]</a:t>
            </a:r>
          </a:p>
          <a:p>
            <a:endParaRPr lang="en-GB" dirty="0"/>
          </a:p>
          <a:p>
            <a:endParaRPr lang="en-GB" dirty="0"/>
          </a:p>
          <a:p>
            <a:endParaRPr lang="en-GB" dirty="0"/>
          </a:p>
        </p:txBody>
      </p:sp>
      <p:cxnSp>
        <p:nvCxnSpPr>
          <p:cNvPr id="20" name="Straight Arrow Connector 19"/>
          <p:cNvCxnSpPr/>
          <p:nvPr/>
        </p:nvCxnSpPr>
        <p:spPr bwMode="auto">
          <a:xfrm flipV="1">
            <a:off x="1876425" y="2000250"/>
            <a:ext cx="1190626" cy="771525"/>
          </a:xfrm>
          <a:prstGeom prst="straightConnector1">
            <a:avLst/>
          </a:prstGeom>
          <a:noFill/>
          <a:ln w="9525" cap="flat" cmpd="sng" algn="ctr">
            <a:solidFill>
              <a:schemeClr val="tx1"/>
            </a:solidFill>
            <a:prstDash val="solid"/>
            <a:round/>
            <a:headEnd type="none" w="med" len="med"/>
            <a:tailEnd type="arrow"/>
          </a:ln>
          <a:effectLst/>
        </p:spPr>
      </p:cxnSp>
      <p:cxnSp>
        <p:nvCxnSpPr>
          <p:cNvPr id="22" name="Straight Arrow Connector 21"/>
          <p:cNvCxnSpPr/>
          <p:nvPr/>
        </p:nvCxnSpPr>
        <p:spPr bwMode="auto">
          <a:xfrm flipV="1">
            <a:off x="1733550" y="3667125"/>
            <a:ext cx="1381126" cy="152400"/>
          </a:xfrm>
          <a:prstGeom prst="straightConnector1">
            <a:avLst/>
          </a:prstGeom>
          <a:noFill/>
          <a:ln w="9525" cap="flat" cmpd="sng" algn="ctr">
            <a:solidFill>
              <a:schemeClr val="tx1"/>
            </a:solidFill>
            <a:prstDash val="solid"/>
            <a:round/>
            <a:headEnd type="none" w="med" len="med"/>
            <a:tailEnd type="arrow"/>
          </a:ln>
          <a:effectLst/>
        </p:spPr>
      </p:cxnSp>
      <p:cxnSp>
        <p:nvCxnSpPr>
          <p:cNvPr id="24" name="Straight Arrow Connector 23"/>
          <p:cNvCxnSpPr/>
          <p:nvPr/>
        </p:nvCxnSpPr>
        <p:spPr bwMode="auto">
          <a:xfrm>
            <a:off x="1666875" y="4914900"/>
            <a:ext cx="1457326" cy="514350"/>
          </a:xfrm>
          <a:prstGeom prst="straightConnector1">
            <a:avLst/>
          </a:prstGeom>
          <a:noFill/>
          <a:ln w="9525" cap="flat" cmpd="sng" algn="ctr">
            <a:solidFill>
              <a:schemeClr val="tx1"/>
            </a:solidFill>
            <a:prstDash val="solid"/>
            <a:round/>
            <a:headEnd type="none" w="med" len="med"/>
            <a:tailEnd type="arrow"/>
          </a:ln>
          <a:effectLst/>
        </p:spPr>
      </p:cxnSp>
      <p:pic>
        <p:nvPicPr>
          <p:cNvPr id="21" name="Picture 2"/>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438900" y="3371850"/>
            <a:ext cx="1885950" cy="285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5527573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381000" y="381000"/>
            <a:ext cx="3432350" cy="461665"/>
          </a:xfrm>
          <a:prstGeom prst="rect">
            <a:avLst/>
          </a:prstGeom>
          <a:noFill/>
          <a:ln w="9525">
            <a:noFill/>
            <a:miter lim="800000"/>
            <a:headEnd/>
            <a:tailEnd/>
          </a:ln>
        </p:spPr>
        <p:txBody>
          <a:bodyPr wrap="none">
            <a:spAutoFit/>
          </a:bodyPr>
          <a:lstStyle/>
          <a:p>
            <a:r>
              <a:rPr lang="en-GB" sz="2400" b="1" dirty="0">
                <a:solidFill>
                  <a:srgbClr val="000000"/>
                </a:solidFill>
              </a:rPr>
              <a:t>Reception / Decoding</a:t>
            </a:r>
          </a:p>
        </p:txBody>
      </p:sp>
      <p:sp>
        <p:nvSpPr>
          <p:cNvPr id="7" name="Right Arrow 6"/>
          <p:cNvSpPr/>
          <p:nvPr/>
        </p:nvSpPr>
        <p:spPr bwMode="auto">
          <a:xfrm rot="5400000">
            <a:off x="6241773" y="3339546"/>
            <a:ext cx="983975" cy="672525"/>
          </a:xfrm>
          <a:prstGeom prst="rightArrow">
            <a:avLst>
              <a:gd name="adj1" fmla="val 50000"/>
              <a:gd name="adj2" fmla="val 77027"/>
            </a:avLst>
          </a:prstGeom>
          <a:solidFill>
            <a:schemeClr val="accent3">
              <a:lumMod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9" name="TextBox 8"/>
          <p:cNvSpPr txBox="1"/>
          <p:nvPr/>
        </p:nvSpPr>
        <p:spPr>
          <a:xfrm>
            <a:off x="501155" y="3525033"/>
            <a:ext cx="4965368" cy="2800767"/>
          </a:xfrm>
          <a:prstGeom prst="rect">
            <a:avLst/>
          </a:prstGeom>
          <a:noFill/>
        </p:spPr>
        <p:txBody>
          <a:bodyPr wrap="square" rtlCol="0">
            <a:spAutoFit/>
          </a:bodyPr>
          <a:lstStyle/>
          <a:p>
            <a:pPr marL="179388" indent="-179388"/>
            <a:r>
              <a:rPr lang="en-GB" dirty="0"/>
              <a:t>Decoding, reverse process ... </a:t>
            </a:r>
          </a:p>
          <a:p>
            <a:pPr marL="636588" lvl="1" indent="-179388"/>
            <a:r>
              <a:rPr lang="en-GB" dirty="0"/>
              <a:t>from </a:t>
            </a:r>
            <a:r>
              <a:rPr lang="en-GB" dirty="0" err="1"/>
              <a:t>Chroma</a:t>
            </a:r>
            <a:r>
              <a:rPr lang="en-GB" dirty="0"/>
              <a:t> sub-sampled to full RGB</a:t>
            </a:r>
          </a:p>
          <a:p>
            <a:pPr marL="636588" lvl="1" indent="-179388"/>
            <a:endParaRPr lang="en-GB" dirty="0"/>
          </a:p>
          <a:p>
            <a:pPr marL="179388" indent="-179388">
              <a:buFont typeface="Arial" pitchFamily="34" charset="0"/>
              <a:buChar char="•"/>
            </a:pPr>
            <a:r>
              <a:rPr lang="en-GB" dirty="0"/>
              <a:t>note – interpolating lost information</a:t>
            </a:r>
          </a:p>
          <a:p>
            <a:pPr marL="179388" indent="-179388"/>
            <a:r>
              <a:rPr lang="en-GB" dirty="0"/>
              <a:t>		∴ detail is lost in the process</a:t>
            </a:r>
          </a:p>
          <a:p>
            <a:pPr marL="179388" indent="-179388">
              <a:buFont typeface="Arial" pitchFamily="34" charset="0"/>
              <a:buChar char="•"/>
            </a:pPr>
            <a:endParaRPr lang="en-GB" dirty="0"/>
          </a:p>
          <a:p>
            <a:pPr marL="179388" indent="-179388">
              <a:buFont typeface="Arial" pitchFamily="34" charset="0"/>
              <a:buChar char="•"/>
            </a:pPr>
            <a:r>
              <a:rPr lang="en-GB" dirty="0"/>
              <a:t>Perceptual (e.g. MPEG, etc ) encoding + decoding is also part of this process and loses a lot more detail </a:t>
            </a:r>
          </a:p>
          <a:p>
            <a:pPr marL="179388" indent="-179388"/>
            <a:endParaRPr lang="en-GB" i="1" dirty="0"/>
          </a:p>
          <a:p>
            <a:pPr marL="179388" indent="-179388"/>
            <a:r>
              <a:rPr lang="en-GB" i="1" dirty="0"/>
              <a:t>... more later in the module</a:t>
            </a:r>
            <a:endParaRPr lang="en-GB" dirty="0"/>
          </a:p>
        </p:txBody>
      </p:sp>
      <p:grpSp>
        <p:nvGrpSpPr>
          <p:cNvPr id="11" name="Group 10"/>
          <p:cNvGrpSpPr/>
          <p:nvPr/>
        </p:nvGrpSpPr>
        <p:grpSpPr>
          <a:xfrm>
            <a:off x="5575852" y="4343401"/>
            <a:ext cx="2991679" cy="2126974"/>
            <a:chOff x="5377069" y="4065106"/>
            <a:chExt cx="2991679" cy="2126974"/>
          </a:xfrm>
        </p:grpSpPr>
        <p:pic>
          <p:nvPicPr>
            <p:cNvPr id="5" name="Picture 2"/>
            <p:cNvPicPr>
              <a:picLocks noChangeAspect="1" noChangeArrowheads="1"/>
            </p:cNvPicPr>
            <p:nvPr/>
          </p:nvPicPr>
          <p:blipFill>
            <a:blip r:embed="rId2" cstate="print"/>
            <a:srcRect/>
            <a:stretch>
              <a:fillRect/>
            </a:stretch>
          </p:blipFill>
          <p:spPr bwMode="auto">
            <a:xfrm>
              <a:off x="5403367" y="4083345"/>
              <a:ext cx="2965381" cy="2098794"/>
            </a:xfrm>
            <a:prstGeom prst="rect">
              <a:avLst/>
            </a:prstGeom>
            <a:noFill/>
            <a:ln w="9525">
              <a:noFill/>
              <a:miter lim="800000"/>
              <a:headEnd/>
              <a:tailEnd/>
            </a:ln>
          </p:spPr>
        </p:pic>
        <p:sp>
          <p:nvSpPr>
            <p:cNvPr id="10" name="Rectangle 9"/>
            <p:cNvSpPr/>
            <p:nvPr/>
          </p:nvSpPr>
          <p:spPr bwMode="auto">
            <a:xfrm>
              <a:off x="5377069" y="4065106"/>
              <a:ext cx="2991679" cy="2126974"/>
            </a:xfrm>
            <a:prstGeom prst="rect">
              <a:avLst/>
            </a:prstGeom>
            <a:blipFill dpi="0" rotWithShape="1">
              <a:blip r:embed="rId3" cstate="print">
                <a:alphaModFix amt="46000"/>
              </a:blip>
              <a:srcRect/>
              <a:tile tx="0" ty="0" sx="100000" sy="100000" flip="none" algn="tl"/>
            </a:bli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grpSp>
      <p:sp>
        <p:nvSpPr>
          <p:cNvPr id="12" name="Right Arrow 11"/>
          <p:cNvSpPr/>
          <p:nvPr/>
        </p:nvSpPr>
        <p:spPr bwMode="auto">
          <a:xfrm>
            <a:off x="3916016" y="1202634"/>
            <a:ext cx="983975" cy="672525"/>
          </a:xfrm>
          <a:prstGeom prst="rightArrow">
            <a:avLst>
              <a:gd name="adj1" fmla="val 50000"/>
              <a:gd name="adj2" fmla="val 77027"/>
            </a:avLst>
          </a:prstGeom>
          <a:solidFill>
            <a:schemeClr val="accent3">
              <a:lumMod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pic>
        <p:nvPicPr>
          <p:cNvPr id="14" name="Picture 2"/>
          <p:cNvPicPr>
            <a:picLocks noChangeAspect="1" noChangeArrowheads="1"/>
          </p:cNvPicPr>
          <p:nvPr/>
        </p:nvPicPr>
        <p:blipFill>
          <a:blip r:embed="rId2" cstate="print"/>
          <a:srcRect/>
          <a:stretch>
            <a:fillRect/>
          </a:stretch>
        </p:blipFill>
        <p:spPr bwMode="auto">
          <a:xfrm>
            <a:off x="483497" y="932640"/>
            <a:ext cx="2965381" cy="2098794"/>
          </a:xfrm>
          <a:prstGeom prst="rect">
            <a:avLst/>
          </a:prstGeom>
          <a:noFill/>
          <a:ln w="9525">
            <a:noFill/>
            <a:miter lim="800000"/>
            <a:headEnd/>
            <a:tailEnd/>
          </a:ln>
        </p:spPr>
      </p:pic>
      <p:sp>
        <p:nvSpPr>
          <p:cNvPr id="16" name="TextBox 15"/>
          <p:cNvSpPr txBox="1"/>
          <p:nvPr/>
        </p:nvSpPr>
        <p:spPr>
          <a:xfrm>
            <a:off x="3532592" y="1924832"/>
            <a:ext cx="1625818" cy="584775"/>
          </a:xfrm>
          <a:prstGeom prst="rect">
            <a:avLst/>
          </a:prstGeom>
          <a:noFill/>
        </p:spPr>
        <p:txBody>
          <a:bodyPr wrap="square" rtlCol="0">
            <a:spAutoFit/>
          </a:bodyPr>
          <a:lstStyle/>
          <a:p>
            <a:pPr algn="ctr"/>
            <a:r>
              <a:rPr lang="en-GB" dirty="0"/>
              <a:t>encoding process</a:t>
            </a:r>
          </a:p>
        </p:txBody>
      </p:sp>
      <p:sp>
        <p:nvSpPr>
          <p:cNvPr id="17" name="TextBox 16"/>
          <p:cNvSpPr txBox="1"/>
          <p:nvPr/>
        </p:nvSpPr>
        <p:spPr>
          <a:xfrm>
            <a:off x="7160375" y="3316312"/>
            <a:ext cx="1307765" cy="584775"/>
          </a:xfrm>
          <a:prstGeom prst="rect">
            <a:avLst/>
          </a:prstGeom>
          <a:noFill/>
        </p:spPr>
        <p:txBody>
          <a:bodyPr wrap="square" rtlCol="0">
            <a:spAutoFit/>
          </a:bodyPr>
          <a:lstStyle/>
          <a:p>
            <a:pPr algn="ctr"/>
            <a:r>
              <a:rPr lang="en-GB" dirty="0"/>
              <a:t>decoding process</a:t>
            </a:r>
          </a:p>
        </p:txBody>
      </p:sp>
      <p:pic>
        <p:nvPicPr>
          <p:cNvPr id="13"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347335" y="924561"/>
            <a:ext cx="2921455" cy="21031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575896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9979" y="1137992"/>
            <a:ext cx="8230138" cy="3724096"/>
          </a:xfrm>
          <a:prstGeom prst="rect">
            <a:avLst/>
          </a:prstGeom>
          <a:noFill/>
        </p:spPr>
        <p:txBody>
          <a:bodyPr wrap="none" rtlCol="0">
            <a:spAutoFit/>
          </a:bodyPr>
          <a:lstStyle/>
          <a:p>
            <a:r>
              <a:rPr lang="en-GB" sz="6000" b="1" dirty="0"/>
              <a:t>MPEG – </a:t>
            </a:r>
          </a:p>
          <a:p>
            <a:r>
              <a:rPr lang="en-GB" sz="6000" b="1" dirty="0"/>
              <a:t>Coding For </a:t>
            </a:r>
          </a:p>
          <a:p>
            <a:r>
              <a:rPr lang="en-GB" sz="6000" b="1" dirty="0"/>
              <a:t>Moving Images</a:t>
            </a:r>
          </a:p>
          <a:p>
            <a:endParaRPr lang="en-GB" sz="2400" b="1" dirty="0"/>
          </a:p>
          <a:p>
            <a:r>
              <a:rPr lang="en-GB" sz="3200" b="1" dirty="0"/>
              <a:t>Intraframe and Interframe Compression </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4"/>
          <p:cNvSpPr>
            <a:spLocks noChangeArrowheads="1"/>
          </p:cNvSpPr>
          <p:nvPr/>
        </p:nvSpPr>
        <p:spPr bwMode="auto">
          <a:xfrm>
            <a:off x="381000" y="1295400"/>
            <a:ext cx="228600" cy="530225"/>
          </a:xfrm>
          <a:prstGeom prst="rect">
            <a:avLst/>
          </a:prstGeom>
          <a:solidFill>
            <a:srgbClr val="FFCC66"/>
          </a:solidFill>
          <a:ln w="9525">
            <a:solidFill>
              <a:schemeClr val="tx1"/>
            </a:solidFill>
            <a:miter lim="800000"/>
            <a:headEnd/>
            <a:tailEnd/>
          </a:ln>
        </p:spPr>
        <p:txBody>
          <a:bodyPr wrap="none" anchor="ctr"/>
          <a:lstStyle/>
          <a:p>
            <a:endParaRPr lang="en-US"/>
          </a:p>
        </p:txBody>
      </p:sp>
      <p:sp>
        <p:nvSpPr>
          <p:cNvPr id="14339" name="Rectangle 5"/>
          <p:cNvSpPr>
            <a:spLocks noChangeArrowheads="1"/>
          </p:cNvSpPr>
          <p:nvPr/>
        </p:nvSpPr>
        <p:spPr bwMode="auto">
          <a:xfrm>
            <a:off x="1295400" y="1295400"/>
            <a:ext cx="228600" cy="530225"/>
          </a:xfrm>
          <a:prstGeom prst="rect">
            <a:avLst/>
          </a:prstGeom>
          <a:solidFill>
            <a:srgbClr val="FFCC66"/>
          </a:solidFill>
          <a:ln w="9525">
            <a:solidFill>
              <a:schemeClr val="tx1"/>
            </a:solidFill>
            <a:miter lim="800000"/>
            <a:headEnd/>
            <a:tailEnd/>
          </a:ln>
        </p:spPr>
        <p:txBody>
          <a:bodyPr wrap="none" anchor="ctr"/>
          <a:lstStyle/>
          <a:p>
            <a:endParaRPr lang="en-US"/>
          </a:p>
        </p:txBody>
      </p:sp>
      <p:sp>
        <p:nvSpPr>
          <p:cNvPr id="14340" name="Rectangle 6"/>
          <p:cNvSpPr>
            <a:spLocks noChangeArrowheads="1"/>
          </p:cNvSpPr>
          <p:nvPr/>
        </p:nvSpPr>
        <p:spPr bwMode="auto">
          <a:xfrm>
            <a:off x="685800" y="1295400"/>
            <a:ext cx="228600" cy="530225"/>
          </a:xfrm>
          <a:prstGeom prst="rect">
            <a:avLst/>
          </a:prstGeom>
          <a:solidFill>
            <a:srgbClr val="FFCC66"/>
          </a:solidFill>
          <a:ln w="9525">
            <a:solidFill>
              <a:schemeClr val="tx1"/>
            </a:solidFill>
            <a:miter lim="800000"/>
            <a:headEnd/>
            <a:tailEnd/>
          </a:ln>
        </p:spPr>
        <p:txBody>
          <a:bodyPr wrap="none" anchor="ctr"/>
          <a:lstStyle/>
          <a:p>
            <a:endParaRPr lang="en-US"/>
          </a:p>
        </p:txBody>
      </p:sp>
      <p:sp>
        <p:nvSpPr>
          <p:cNvPr id="14341" name="Rectangle 7"/>
          <p:cNvSpPr>
            <a:spLocks noChangeArrowheads="1"/>
          </p:cNvSpPr>
          <p:nvPr/>
        </p:nvSpPr>
        <p:spPr bwMode="auto">
          <a:xfrm>
            <a:off x="1600200" y="1295400"/>
            <a:ext cx="228600" cy="530225"/>
          </a:xfrm>
          <a:prstGeom prst="rect">
            <a:avLst/>
          </a:prstGeom>
          <a:solidFill>
            <a:srgbClr val="FFCC66"/>
          </a:solidFill>
          <a:ln w="9525">
            <a:solidFill>
              <a:schemeClr val="tx1"/>
            </a:solidFill>
            <a:miter lim="800000"/>
            <a:headEnd/>
            <a:tailEnd/>
          </a:ln>
        </p:spPr>
        <p:txBody>
          <a:bodyPr wrap="none" anchor="ctr"/>
          <a:lstStyle/>
          <a:p>
            <a:endParaRPr lang="en-US"/>
          </a:p>
        </p:txBody>
      </p:sp>
      <p:sp>
        <p:nvSpPr>
          <p:cNvPr id="14342" name="Rectangle 8"/>
          <p:cNvSpPr>
            <a:spLocks noChangeArrowheads="1"/>
          </p:cNvSpPr>
          <p:nvPr/>
        </p:nvSpPr>
        <p:spPr bwMode="auto">
          <a:xfrm>
            <a:off x="990600" y="1295400"/>
            <a:ext cx="228600" cy="530225"/>
          </a:xfrm>
          <a:prstGeom prst="rect">
            <a:avLst/>
          </a:prstGeom>
          <a:solidFill>
            <a:srgbClr val="FFCC66"/>
          </a:solidFill>
          <a:ln w="9525">
            <a:solidFill>
              <a:schemeClr val="tx1"/>
            </a:solidFill>
            <a:miter lim="800000"/>
            <a:headEnd/>
            <a:tailEnd/>
          </a:ln>
        </p:spPr>
        <p:txBody>
          <a:bodyPr wrap="none" anchor="ctr"/>
          <a:lstStyle/>
          <a:p>
            <a:endParaRPr lang="en-US"/>
          </a:p>
        </p:txBody>
      </p:sp>
      <p:sp>
        <p:nvSpPr>
          <p:cNvPr id="14343" name="Rectangle 9"/>
          <p:cNvSpPr>
            <a:spLocks noChangeArrowheads="1"/>
          </p:cNvSpPr>
          <p:nvPr/>
        </p:nvSpPr>
        <p:spPr bwMode="auto">
          <a:xfrm>
            <a:off x="1905000" y="1295400"/>
            <a:ext cx="228600" cy="530225"/>
          </a:xfrm>
          <a:prstGeom prst="rect">
            <a:avLst/>
          </a:prstGeom>
          <a:solidFill>
            <a:srgbClr val="99CCFF"/>
          </a:solidFill>
          <a:ln w="9525">
            <a:solidFill>
              <a:schemeClr val="tx1"/>
            </a:solidFill>
            <a:miter lim="800000"/>
            <a:headEnd/>
            <a:tailEnd/>
          </a:ln>
        </p:spPr>
        <p:txBody>
          <a:bodyPr wrap="none" anchor="ctr"/>
          <a:lstStyle/>
          <a:p>
            <a:endParaRPr lang="en-US"/>
          </a:p>
        </p:txBody>
      </p:sp>
      <p:sp>
        <p:nvSpPr>
          <p:cNvPr id="14344" name="Rectangle 10"/>
          <p:cNvSpPr>
            <a:spLocks noChangeArrowheads="1"/>
          </p:cNvSpPr>
          <p:nvPr/>
        </p:nvSpPr>
        <p:spPr bwMode="auto">
          <a:xfrm>
            <a:off x="2209800" y="1295400"/>
            <a:ext cx="228600" cy="530225"/>
          </a:xfrm>
          <a:prstGeom prst="rect">
            <a:avLst/>
          </a:prstGeom>
          <a:solidFill>
            <a:srgbClr val="99CCFF"/>
          </a:solidFill>
          <a:ln w="9525">
            <a:solidFill>
              <a:schemeClr val="tx1"/>
            </a:solidFill>
            <a:miter lim="800000"/>
            <a:headEnd/>
            <a:tailEnd/>
          </a:ln>
        </p:spPr>
        <p:txBody>
          <a:bodyPr wrap="none" anchor="ctr"/>
          <a:lstStyle/>
          <a:p>
            <a:endParaRPr lang="en-US"/>
          </a:p>
        </p:txBody>
      </p:sp>
      <p:sp>
        <p:nvSpPr>
          <p:cNvPr id="14345" name="Rectangle 11"/>
          <p:cNvSpPr>
            <a:spLocks noChangeArrowheads="1"/>
          </p:cNvSpPr>
          <p:nvPr/>
        </p:nvSpPr>
        <p:spPr bwMode="auto">
          <a:xfrm>
            <a:off x="3124200" y="1295400"/>
            <a:ext cx="228600" cy="530225"/>
          </a:xfrm>
          <a:prstGeom prst="rect">
            <a:avLst/>
          </a:prstGeom>
          <a:solidFill>
            <a:srgbClr val="99CCFF"/>
          </a:solidFill>
          <a:ln w="9525">
            <a:solidFill>
              <a:schemeClr val="tx1"/>
            </a:solidFill>
            <a:miter lim="800000"/>
            <a:headEnd/>
            <a:tailEnd/>
          </a:ln>
        </p:spPr>
        <p:txBody>
          <a:bodyPr wrap="none" anchor="ctr"/>
          <a:lstStyle/>
          <a:p>
            <a:endParaRPr lang="en-US"/>
          </a:p>
        </p:txBody>
      </p:sp>
      <p:sp>
        <p:nvSpPr>
          <p:cNvPr id="14346" name="Rectangle 12"/>
          <p:cNvSpPr>
            <a:spLocks noChangeArrowheads="1"/>
          </p:cNvSpPr>
          <p:nvPr/>
        </p:nvSpPr>
        <p:spPr bwMode="auto">
          <a:xfrm>
            <a:off x="2514600" y="1295400"/>
            <a:ext cx="228600" cy="530225"/>
          </a:xfrm>
          <a:prstGeom prst="rect">
            <a:avLst/>
          </a:prstGeom>
          <a:solidFill>
            <a:srgbClr val="99CCFF"/>
          </a:solidFill>
          <a:ln w="9525">
            <a:solidFill>
              <a:schemeClr val="tx1"/>
            </a:solidFill>
            <a:miter lim="800000"/>
            <a:headEnd/>
            <a:tailEnd/>
          </a:ln>
        </p:spPr>
        <p:txBody>
          <a:bodyPr wrap="none" anchor="ctr"/>
          <a:lstStyle/>
          <a:p>
            <a:endParaRPr lang="en-US"/>
          </a:p>
        </p:txBody>
      </p:sp>
      <p:sp>
        <p:nvSpPr>
          <p:cNvPr id="14347" name="Rectangle 13"/>
          <p:cNvSpPr>
            <a:spLocks noChangeArrowheads="1"/>
          </p:cNvSpPr>
          <p:nvPr/>
        </p:nvSpPr>
        <p:spPr bwMode="auto">
          <a:xfrm>
            <a:off x="3429000" y="1295400"/>
            <a:ext cx="228600" cy="530225"/>
          </a:xfrm>
          <a:prstGeom prst="rect">
            <a:avLst/>
          </a:prstGeom>
          <a:solidFill>
            <a:srgbClr val="99CCFF"/>
          </a:solidFill>
          <a:ln w="9525">
            <a:solidFill>
              <a:schemeClr val="tx1"/>
            </a:solidFill>
            <a:miter lim="800000"/>
            <a:headEnd/>
            <a:tailEnd/>
          </a:ln>
        </p:spPr>
        <p:txBody>
          <a:bodyPr wrap="none" anchor="ctr"/>
          <a:lstStyle/>
          <a:p>
            <a:endParaRPr lang="en-US"/>
          </a:p>
        </p:txBody>
      </p:sp>
      <p:sp>
        <p:nvSpPr>
          <p:cNvPr id="14348" name="Rectangle 14"/>
          <p:cNvSpPr>
            <a:spLocks noChangeArrowheads="1"/>
          </p:cNvSpPr>
          <p:nvPr/>
        </p:nvSpPr>
        <p:spPr bwMode="auto">
          <a:xfrm>
            <a:off x="2819400" y="1295400"/>
            <a:ext cx="228600" cy="530225"/>
          </a:xfrm>
          <a:prstGeom prst="rect">
            <a:avLst/>
          </a:prstGeom>
          <a:solidFill>
            <a:srgbClr val="99CCFF"/>
          </a:solidFill>
          <a:ln w="9525">
            <a:solidFill>
              <a:schemeClr val="tx1"/>
            </a:solidFill>
            <a:miter lim="800000"/>
            <a:headEnd/>
            <a:tailEnd/>
          </a:ln>
        </p:spPr>
        <p:txBody>
          <a:bodyPr wrap="none" anchor="ctr"/>
          <a:lstStyle/>
          <a:p>
            <a:endParaRPr lang="en-US"/>
          </a:p>
        </p:txBody>
      </p:sp>
      <p:sp>
        <p:nvSpPr>
          <p:cNvPr id="14349" name="Rectangle 15"/>
          <p:cNvSpPr>
            <a:spLocks noChangeArrowheads="1"/>
          </p:cNvSpPr>
          <p:nvPr/>
        </p:nvSpPr>
        <p:spPr bwMode="auto">
          <a:xfrm>
            <a:off x="3733800" y="1295400"/>
            <a:ext cx="228600" cy="530225"/>
          </a:xfrm>
          <a:prstGeom prst="rect">
            <a:avLst/>
          </a:prstGeom>
          <a:solidFill>
            <a:srgbClr val="99CCFF"/>
          </a:solidFill>
          <a:ln w="9525">
            <a:solidFill>
              <a:schemeClr val="tx1"/>
            </a:solidFill>
            <a:miter lim="800000"/>
            <a:headEnd/>
            <a:tailEnd/>
          </a:ln>
        </p:spPr>
        <p:txBody>
          <a:bodyPr wrap="none" anchor="ctr"/>
          <a:lstStyle/>
          <a:p>
            <a:endParaRPr lang="en-US"/>
          </a:p>
        </p:txBody>
      </p:sp>
      <p:sp>
        <p:nvSpPr>
          <p:cNvPr id="14350" name="Rectangle 16"/>
          <p:cNvSpPr>
            <a:spLocks noChangeArrowheads="1"/>
          </p:cNvSpPr>
          <p:nvPr/>
        </p:nvSpPr>
        <p:spPr bwMode="auto">
          <a:xfrm>
            <a:off x="4038600" y="1295400"/>
            <a:ext cx="228600" cy="530225"/>
          </a:xfrm>
          <a:prstGeom prst="rect">
            <a:avLst/>
          </a:prstGeom>
          <a:solidFill>
            <a:srgbClr val="99CCFF"/>
          </a:solidFill>
          <a:ln w="9525">
            <a:solidFill>
              <a:schemeClr val="tx1"/>
            </a:solidFill>
            <a:miter lim="800000"/>
            <a:headEnd/>
            <a:tailEnd/>
          </a:ln>
        </p:spPr>
        <p:txBody>
          <a:bodyPr wrap="none" anchor="ctr"/>
          <a:lstStyle/>
          <a:p>
            <a:endParaRPr lang="en-US"/>
          </a:p>
        </p:txBody>
      </p:sp>
      <p:sp>
        <p:nvSpPr>
          <p:cNvPr id="14351" name="Rectangle 17"/>
          <p:cNvSpPr>
            <a:spLocks noChangeArrowheads="1"/>
          </p:cNvSpPr>
          <p:nvPr/>
        </p:nvSpPr>
        <p:spPr bwMode="auto">
          <a:xfrm>
            <a:off x="4953000" y="1295400"/>
            <a:ext cx="228600" cy="530225"/>
          </a:xfrm>
          <a:prstGeom prst="rect">
            <a:avLst/>
          </a:prstGeom>
          <a:solidFill>
            <a:srgbClr val="99CCFF"/>
          </a:solidFill>
          <a:ln w="9525">
            <a:solidFill>
              <a:schemeClr val="tx1"/>
            </a:solidFill>
            <a:miter lim="800000"/>
            <a:headEnd/>
            <a:tailEnd/>
          </a:ln>
        </p:spPr>
        <p:txBody>
          <a:bodyPr wrap="none" anchor="ctr"/>
          <a:lstStyle/>
          <a:p>
            <a:endParaRPr lang="en-US"/>
          </a:p>
        </p:txBody>
      </p:sp>
      <p:sp>
        <p:nvSpPr>
          <p:cNvPr id="14352" name="Rectangle 18"/>
          <p:cNvSpPr>
            <a:spLocks noChangeArrowheads="1"/>
          </p:cNvSpPr>
          <p:nvPr/>
        </p:nvSpPr>
        <p:spPr bwMode="auto">
          <a:xfrm>
            <a:off x="4343400" y="1295400"/>
            <a:ext cx="228600" cy="530225"/>
          </a:xfrm>
          <a:prstGeom prst="rect">
            <a:avLst/>
          </a:prstGeom>
          <a:solidFill>
            <a:srgbClr val="99CCFF"/>
          </a:solidFill>
          <a:ln w="9525">
            <a:solidFill>
              <a:schemeClr val="tx1"/>
            </a:solidFill>
            <a:miter lim="800000"/>
            <a:headEnd/>
            <a:tailEnd/>
          </a:ln>
        </p:spPr>
        <p:txBody>
          <a:bodyPr wrap="none" anchor="ctr"/>
          <a:lstStyle/>
          <a:p>
            <a:endParaRPr lang="en-US"/>
          </a:p>
        </p:txBody>
      </p:sp>
      <p:sp>
        <p:nvSpPr>
          <p:cNvPr id="14353" name="Rectangle 19"/>
          <p:cNvSpPr>
            <a:spLocks noChangeArrowheads="1"/>
          </p:cNvSpPr>
          <p:nvPr/>
        </p:nvSpPr>
        <p:spPr bwMode="auto">
          <a:xfrm>
            <a:off x="5257800" y="1295400"/>
            <a:ext cx="228600" cy="530225"/>
          </a:xfrm>
          <a:prstGeom prst="rect">
            <a:avLst/>
          </a:prstGeom>
          <a:solidFill>
            <a:srgbClr val="99CCFF"/>
          </a:solidFill>
          <a:ln w="9525">
            <a:solidFill>
              <a:schemeClr val="tx1"/>
            </a:solidFill>
            <a:miter lim="800000"/>
            <a:headEnd/>
            <a:tailEnd/>
          </a:ln>
        </p:spPr>
        <p:txBody>
          <a:bodyPr wrap="none" anchor="ctr"/>
          <a:lstStyle/>
          <a:p>
            <a:endParaRPr lang="en-US"/>
          </a:p>
        </p:txBody>
      </p:sp>
      <p:sp>
        <p:nvSpPr>
          <p:cNvPr id="14354" name="Rectangle 20"/>
          <p:cNvSpPr>
            <a:spLocks noChangeArrowheads="1"/>
          </p:cNvSpPr>
          <p:nvPr/>
        </p:nvSpPr>
        <p:spPr bwMode="auto">
          <a:xfrm>
            <a:off x="4648200" y="1295400"/>
            <a:ext cx="228600" cy="530225"/>
          </a:xfrm>
          <a:prstGeom prst="rect">
            <a:avLst/>
          </a:prstGeom>
          <a:solidFill>
            <a:srgbClr val="99CCFF"/>
          </a:solidFill>
          <a:ln w="9525">
            <a:solidFill>
              <a:schemeClr val="tx1"/>
            </a:solidFill>
            <a:miter lim="800000"/>
            <a:headEnd/>
            <a:tailEnd/>
          </a:ln>
        </p:spPr>
        <p:txBody>
          <a:bodyPr wrap="none" anchor="ctr"/>
          <a:lstStyle/>
          <a:p>
            <a:endParaRPr lang="en-US"/>
          </a:p>
        </p:txBody>
      </p:sp>
      <p:sp>
        <p:nvSpPr>
          <p:cNvPr id="14355" name="Rectangle 21"/>
          <p:cNvSpPr>
            <a:spLocks noChangeArrowheads="1"/>
          </p:cNvSpPr>
          <p:nvPr/>
        </p:nvSpPr>
        <p:spPr bwMode="auto">
          <a:xfrm>
            <a:off x="5562600" y="1295400"/>
            <a:ext cx="228600" cy="530225"/>
          </a:xfrm>
          <a:prstGeom prst="rect">
            <a:avLst/>
          </a:prstGeom>
          <a:solidFill>
            <a:srgbClr val="99CCFF"/>
          </a:solidFill>
          <a:ln w="9525">
            <a:solidFill>
              <a:schemeClr val="tx1"/>
            </a:solidFill>
            <a:miter lim="800000"/>
            <a:headEnd/>
            <a:tailEnd/>
          </a:ln>
        </p:spPr>
        <p:txBody>
          <a:bodyPr wrap="none" anchor="ctr"/>
          <a:lstStyle/>
          <a:p>
            <a:endParaRPr lang="en-US"/>
          </a:p>
        </p:txBody>
      </p:sp>
      <p:sp>
        <p:nvSpPr>
          <p:cNvPr id="14356" name="Rectangle 22"/>
          <p:cNvSpPr>
            <a:spLocks noChangeArrowheads="1"/>
          </p:cNvSpPr>
          <p:nvPr/>
        </p:nvSpPr>
        <p:spPr bwMode="auto">
          <a:xfrm>
            <a:off x="5867400" y="1295400"/>
            <a:ext cx="228600" cy="530225"/>
          </a:xfrm>
          <a:prstGeom prst="rect">
            <a:avLst/>
          </a:prstGeom>
          <a:solidFill>
            <a:srgbClr val="99CCFF"/>
          </a:solidFill>
          <a:ln w="9525">
            <a:solidFill>
              <a:schemeClr val="tx1"/>
            </a:solidFill>
            <a:miter lim="800000"/>
            <a:headEnd/>
            <a:tailEnd/>
          </a:ln>
        </p:spPr>
        <p:txBody>
          <a:bodyPr wrap="none" anchor="ctr"/>
          <a:lstStyle/>
          <a:p>
            <a:endParaRPr lang="en-US"/>
          </a:p>
        </p:txBody>
      </p:sp>
      <p:sp>
        <p:nvSpPr>
          <p:cNvPr id="14357" name="Rectangle 23"/>
          <p:cNvSpPr>
            <a:spLocks noChangeArrowheads="1"/>
          </p:cNvSpPr>
          <p:nvPr/>
        </p:nvSpPr>
        <p:spPr bwMode="auto">
          <a:xfrm>
            <a:off x="6781800" y="1295400"/>
            <a:ext cx="228600" cy="530225"/>
          </a:xfrm>
          <a:prstGeom prst="rect">
            <a:avLst/>
          </a:prstGeom>
          <a:solidFill>
            <a:srgbClr val="99CCFF"/>
          </a:solidFill>
          <a:ln w="9525">
            <a:solidFill>
              <a:schemeClr val="tx1"/>
            </a:solidFill>
            <a:miter lim="800000"/>
            <a:headEnd/>
            <a:tailEnd/>
          </a:ln>
        </p:spPr>
        <p:txBody>
          <a:bodyPr wrap="none" anchor="ctr"/>
          <a:lstStyle/>
          <a:p>
            <a:endParaRPr lang="en-US"/>
          </a:p>
        </p:txBody>
      </p:sp>
      <p:sp>
        <p:nvSpPr>
          <p:cNvPr id="14358" name="Rectangle 24"/>
          <p:cNvSpPr>
            <a:spLocks noChangeArrowheads="1"/>
          </p:cNvSpPr>
          <p:nvPr/>
        </p:nvSpPr>
        <p:spPr bwMode="auto">
          <a:xfrm>
            <a:off x="6172200" y="1295400"/>
            <a:ext cx="228600" cy="530225"/>
          </a:xfrm>
          <a:prstGeom prst="rect">
            <a:avLst/>
          </a:prstGeom>
          <a:solidFill>
            <a:srgbClr val="99CCFF"/>
          </a:solidFill>
          <a:ln w="9525">
            <a:solidFill>
              <a:schemeClr val="tx1"/>
            </a:solidFill>
            <a:miter lim="800000"/>
            <a:headEnd/>
            <a:tailEnd/>
          </a:ln>
        </p:spPr>
        <p:txBody>
          <a:bodyPr wrap="none" anchor="ctr"/>
          <a:lstStyle/>
          <a:p>
            <a:endParaRPr lang="en-US"/>
          </a:p>
        </p:txBody>
      </p:sp>
      <p:sp>
        <p:nvSpPr>
          <p:cNvPr id="14359" name="Rectangle 25"/>
          <p:cNvSpPr>
            <a:spLocks noChangeArrowheads="1"/>
          </p:cNvSpPr>
          <p:nvPr/>
        </p:nvSpPr>
        <p:spPr bwMode="auto">
          <a:xfrm>
            <a:off x="7086600" y="1295400"/>
            <a:ext cx="228600" cy="530225"/>
          </a:xfrm>
          <a:prstGeom prst="rect">
            <a:avLst/>
          </a:prstGeom>
          <a:solidFill>
            <a:srgbClr val="99CCFF"/>
          </a:solidFill>
          <a:ln w="9525">
            <a:solidFill>
              <a:schemeClr val="tx1"/>
            </a:solidFill>
            <a:miter lim="800000"/>
            <a:headEnd/>
            <a:tailEnd/>
          </a:ln>
        </p:spPr>
        <p:txBody>
          <a:bodyPr wrap="none" anchor="ctr"/>
          <a:lstStyle/>
          <a:p>
            <a:endParaRPr lang="en-US"/>
          </a:p>
        </p:txBody>
      </p:sp>
      <p:sp>
        <p:nvSpPr>
          <p:cNvPr id="14360" name="Rectangle 26"/>
          <p:cNvSpPr>
            <a:spLocks noChangeArrowheads="1"/>
          </p:cNvSpPr>
          <p:nvPr/>
        </p:nvSpPr>
        <p:spPr bwMode="auto">
          <a:xfrm>
            <a:off x="6477000" y="1295400"/>
            <a:ext cx="228600" cy="530225"/>
          </a:xfrm>
          <a:prstGeom prst="rect">
            <a:avLst/>
          </a:prstGeom>
          <a:solidFill>
            <a:srgbClr val="99CCFF"/>
          </a:solidFill>
          <a:ln w="9525">
            <a:solidFill>
              <a:schemeClr val="tx1"/>
            </a:solidFill>
            <a:miter lim="800000"/>
            <a:headEnd/>
            <a:tailEnd/>
          </a:ln>
        </p:spPr>
        <p:txBody>
          <a:bodyPr wrap="none" anchor="ctr"/>
          <a:lstStyle/>
          <a:p>
            <a:endParaRPr lang="en-US"/>
          </a:p>
        </p:txBody>
      </p:sp>
      <p:sp>
        <p:nvSpPr>
          <p:cNvPr id="14361" name="Rectangle 27"/>
          <p:cNvSpPr>
            <a:spLocks noChangeArrowheads="1"/>
          </p:cNvSpPr>
          <p:nvPr/>
        </p:nvSpPr>
        <p:spPr bwMode="auto">
          <a:xfrm>
            <a:off x="7391400" y="1295400"/>
            <a:ext cx="228600" cy="530225"/>
          </a:xfrm>
          <a:prstGeom prst="rect">
            <a:avLst/>
          </a:prstGeom>
          <a:solidFill>
            <a:srgbClr val="FFCC66"/>
          </a:solidFill>
          <a:ln w="9525">
            <a:solidFill>
              <a:schemeClr val="tx1"/>
            </a:solidFill>
            <a:miter lim="800000"/>
            <a:headEnd/>
            <a:tailEnd/>
          </a:ln>
        </p:spPr>
        <p:txBody>
          <a:bodyPr wrap="none" anchor="ctr"/>
          <a:lstStyle/>
          <a:p>
            <a:endParaRPr lang="en-US"/>
          </a:p>
        </p:txBody>
      </p:sp>
      <p:sp>
        <p:nvSpPr>
          <p:cNvPr id="14362" name="Rectangle 28"/>
          <p:cNvSpPr>
            <a:spLocks noChangeArrowheads="1"/>
          </p:cNvSpPr>
          <p:nvPr/>
        </p:nvSpPr>
        <p:spPr bwMode="auto">
          <a:xfrm>
            <a:off x="8001000" y="1295400"/>
            <a:ext cx="228600" cy="530225"/>
          </a:xfrm>
          <a:prstGeom prst="rect">
            <a:avLst/>
          </a:prstGeom>
          <a:solidFill>
            <a:srgbClr val="FFCC66"/>
          </a:solidFill>
          <a:ln w="9525">
            <a:solidFill>
              <a:schemeClr val="tx1"/>
            </a:solidFill>
            <a:miter lim="800000"/>
            <a:headEnd/>
            <a:tailEnd/>
          </a:ln>
        </p:spPr>
        <p:txBody>
          <a:bodyPr wrap="none" anchor="ctr"/>
          <a:lstStyle/>
          <a:p>
            <a:endParaRPr lang="en-US"/>
          </a:p>
        </p:txBody>
      </p:sp>
      <p:sp>
        <p:nvSpPr>
          <p:cNvPr id="14363" name="Rectangle 29"/>
          <p:cNvSpPr>
            <a:spLocks noChangeArrowheads="1"/>
          </p:cNvSpPr>
          <p:nvPr/>
        </p:nvSpPr>
        <p:spPr bwMode="auto">
          <a:xfrm>
            <a:off x="8305800" y="1295400"/>
            <a:ext cx="228600" cy="530225"/>
          </a:xfrm>
          <a:prstGeom prst="rect">
            <a:avLst/>
          </a:prstGeom>
          <a:solidFill>
            <a:srgbClr val="FFCC66"/>
          </a:solidFill>
          <a:ln w="9525">
            <a:solidFill>
              <a:schemeClr val="tx1"/>
            </a:solidFill>
            <a:miter lim="800000"/>
            <a:headEnd/>
            <a:tailEnd/>
          </a:ln>
        </p:spPr>
        <p:txBody>
          <a:bodyPr wrap="none" anchor="ctr"/>
          <a:lstStyle/>
          <a:p>
            <a:endParaRPr lang="en-US"/>
          </a:p>
        </p:txBody>
      </p:sp>
      <p:sp>
        <p:nvSpPr>
          <p:cNvPr id="14364" name="Rectangle 30"/>
          <p:cNvSpPr>
            <a:spLocks noChangeArrowheads="1"/>
          </p:cNvSpPr>
          <p:nvPr/>
        </p:nvSpPr>
        <p:spPr bwMode="auto">
          <a:xfrm>
            <a:off x="7696200" y="1295400"/>
            <a:ext cx="228600" cy="530225"/>
          </a:xfrm>
          <a:prstGeom prst="rect">
            <a:avLst/>
          </a:prstGeom>
          <a:solidFill>
            <a:srgbClr val="FFCC66"/>
          </a:solidFill>
          <a:ln w="9525">
            <a:solidFill>
              <a:schemeClr val="tx1"/>
            </a:solidFill>
            <a:miter lim="800000"/>
            <a:headEnd/>
            <a:tailEnd/>
          </a:ln>
        </p:spPr>
        <p:txBody>
          <a:bodyPr wrap="none" anchor="ctr"/>
          <a:lstStyle/>
          <a:p>
            <a:endParaRPr lang="en-US"/>
          </a:p>
        </p:txBody>
      </p:sp>
      <p:sp>
        <p:nvSpPr>
          <p:cNvPr id="14365" name="Rectangle 31"/>
          <p:cNvSpPr>
            <a:spLocks noChangeArrowheads="1"/>
          </p:cNvSpPr>
          <p:nvPr/>
        </p:nvSpPr>
        <p:spPr bwMode="auto">
          <a:xfrm>
            <a:off x="8610600" y="1295400"/>
            <a:ext cx="228600" cy="530225"/>
          </a:xfrm>
          <a:prstGeom prst="rect">
            <a:avLst/>
          </a:prstGeom>
          <a:solidFill>
            <a:srgbClr val="FFCC66"/>
          </a:solidFill>
          <a:ln w="9525">
            <a:solidFill>
              <a:schemeClr val="tx1"/>
            </a:solidFill>
            <a:miter lim="800000"/>
            <a:headEnd/>
            <a:tailEnd/>
          </a:ln>
        </p:spPr>
        <p:txBody>
          <a:bodyPr wrap="none" anchor="ctr"/>
          <a:lstStyle/>
          <a:p>
            <a:endParaRPr lang="en-US"/>
          </a:p>
        </p:txBody>
      </p:sp>
      <p:sp>
        <p:nvSpPr>
          <p:cNvPr id="14366" name="Text Box 104"/>
          <p:cNvSpPr txBox="1">
            <a:spLocks noChangeArrowheads="1"/>
          </p:cNvSpPr>
          <p:nvPr/>
        </p:nvSpPr>
        <p:spPr bwMode="auto">
          <a:xfrm>
            <a:off x="381000" y="990600"/>
            <a:ext cx="1739900" cy="336550"/>
          </a:xfrm>
          <a:prstGeom prst="rect">
            <a:avLst/>
          </a:prstGeom>
          <a:noFill/>
          <a:ln w="9525">
            <a:noFill/>
            <a:miter lim="800000"/>
            <a:headEnd/>
            <a:tailEnd/>
          </a:ln>
        </p:spPr>
        <p:txBody>
          <a:bodyPr wrap="none">
            <a:spAutoFit/>
          </a:bodyPr>
          <a:lstStyle/>
          <a:p>
            <a:r>
              <a:rPr lang="en-GB"/>
              <a:t>Video Sequence</a:t>
            </a:r>
            <a:endParaRPr lang="en-GB" sz="2400"/>
          </a:p>
        </p:txBody>
      </p:sp>
      <p:sp>
        <p:nvSpPr>
          <p:cNvPr id="14367" name="Line 105"/>
          <p:cNvSpPr>
            <a:spLocks noChangeShapeType="1"/>
          </p:cNvSpPr>
          <p:nvPr/>
        </p:nvSpPr>
        <p:spPr bwMode="auto">
          <a:xfrm>
            <a:off x="2133600" y="1143000"/>
            <a:ext cx="6629400" cy="0"/>
          </a:xfrm>
          <a:prstGeom prst="line">
            <a:avLst/>
          </a:prstGeom>
          <a:noFill/>
          <a:ln w="9525">
            <a:solidFill>
              <a:schemeClr val="tx1"/>
            </a:solidFill>
            <a:round/>
            <a:headEnd/>
            <a:tailEnd type="triangle" w="med" len="med"/>
          </a:ln>
        </p:spPr>
        <p:txBody>
          <a:bodyPr wrap="none" anchor="ctr"/>
          <a:lstStyle/>
          <a:p>
            <a:endParaRPr lang="en-GB"/>
          </a:p>
        </p:txBody>
      </p:sp>
      <p:sp>
        <p:nvSpPr>
          <p:cNvPr id="14368" name="Line 106"/>
          <p:cNvSpPr>
            <a:spLocks noChangeShapeType="1"/>
          </p:cNvSpPr>
          <p:nvPr/>
        </p:nvSpPr>
        <p:spPr bwMode="auto">
          <a:xfrm>
            <a:off x="1828800" y="1600200"/>
            <a:ext cx="5410200" cy="0"/>
          </a:xfrm>
          <a:prstGeom prst="line">
            <a:avLst/>
          </a:prstGeom>
          <a:noFill/>
          <a:ln w="9525">
            <a:solidFill>
              <a:schemeClr val="tx1"/>
            </a:solidFill>
            <a:round/>
            <a:headEnd type="triangle" w="med" len="med"/>
            <a:tailEnd type="triangle" w="med" len="med"/>
          </a:ln>
        </p:spPr>
        <p:txBody>
          <a:bodyPr wrap="none" anchor="ctr"/>
          <a:lstStyle/>
          <a:p>
            <a:endParaRPr lang="en-GB"/>
          </a:p>
        </p:txBody>
      </p:sp>
      <p:sp>
        <p:nvSpPr>
          <p:cNvPr id="14369" name="Text Box 107"/>
          <p:cNvSpPr txBox="1">
            <a:spLocks noChangeArrowheads="1"/>
          </p:cNvSpPr>
          <p:nvPr/>
        </p:nvSpPr>
        <p:spPr bwMode="auto">
          <a:xfrm>
            <a:off x="3352800" y="1492250"/>
            <a:ext cx="1951038" cy="274638"/>
          </a:xfrm>
          <a:prstGeom prst="rect">
            <a:avLst/>
          </a:prstGeom>
          <a:solidFill>
            <a:schemeClr val="bg1">
              <a:alpha val="88000"/>
            </a:schemeClr>
          </a:solidFill>
          <a:ln w="9525">
            <a:noFill/>
            <a:miter lim="800000"/>
            <a:headEnd/>
            <a:tailEnd/>
          </a:ln>
        </p:spPr>
        <p:txBody>
          <a:bodyPr wrap="none">
            <a:spAutoFit/>
          </a:bodyPr>
          <a:lstStyle/>
          <a:p>
            <a:r>
              <a:rPr lang="en-GB" sz="1200" dirty="0"/>
              <a:t>Group Of Pictures (GOP)</a:t>
            </a:r>
          </a:p>
        </p:txBody>
      </p:sp>
      <p:sp>
        <p:nvSpPr>
          <p:cNvPr id="14370" name="Text Box 120"/>
          <p:cNvSpPr txBox="1">
            <a:spLocks noChangeArrowheads="1"/>
          </p:cNvSpPr>
          <p:nvPr/>
        </p:nvSpPr>
        <p:spPr bwMode="auto">
          <a:xfrm>
            <a:off x="381000" y="392113"/>
            <a:ext cx="4129657" cy="461665"/>
          </a:xfrm>
          <a:prstGeom prst="rect">
            <a:avLst/>
          </a:prstGeom>
          <a:noFill/>
          <a:ln w="9525">
            <a:noFill/>
            <a:miter lim="800000"/>
            <a:headEnd/>
            <a:tailEnd/>
          </a:ln>
        </p:spPr>
        <p:txBody>
          <a:bodyPr wrap="none">
            <a:spAutoFit/>
          </a:bodyPr>
          <a:lstStyle/>
          <a:p>
            <a:r>
              <a:rPr lang="en-GB" sz="2400" b="1" dirty="0"/>
              <a:t>GOPs – Groups Of Pictures</a:t>
            </a:r>
            <a:endParaRPr lang="en-GB" sz="2400" dirty="0"/>
          </a:p>
        </p:txBody>
      </p:sp>
      <p:sp>
        <p:nvSpPr>
          <p:cNvPr id="14371" name="Rectangle 134"/>
          <p:cNvSpPr>
            <a:spLocks noChangeArrowheads="1"/>
          </p:cNvSpPr>
          <p:nvPr/>
        </p:nvSpPr>
        <p:spPr bwMode="auto">
          <a:xfrm>
            <a:off x="380999" y="1997075"/>
            <a:ext cx="8315325" cy="1569660"/>
          </a:xfrm>
          <a:prstGeom prst="rect">
            <a:avLst/>
          </a:prstGeom>
          <a:noFill/>
          <a:ln w="9525">
            <a:noFill/>
            <a:miter lim="800000"/>
            <a:headEnd/>
            <a:tailEnd/>
          </a:ln>
        </p:spPr>
        <p:txBody>
          <a:bodyPr wrap="square">
            <a:spAutoFit/>
          </a:bodyPr>
          <a:lstStyle/>
          <a:p>
            <a:r>
              <a:rPr lang="en-GB" b="1" dirty="0"/>
              <a:t>Group of Pictures (GOP)</a:t>
            </a:r>
          </a:p>
          <a:p>
            <a:pPr marL="180975" indent="-180975">
              <a:buFont typeface="Arial" panose="020B0604020202020204" pitchFamily="34" charset="0"/>
              <a:buChar char="•"/>
            </a:pPr>
            <a:r>
              <a:rPr lang="en-GB" dirty="0"/>
              <a:t>Header + series of one of more pictures</a:t>
            </a:r>
          </a:p>
          <a:p>
            <a:pPr marL="180975" indent="-180975">
              <a:buFont typeface="Arial" panose="020B0604020202020204" pitchFamily="34" charset="0"/>
              <a:buChar char="•"/>
            </a:pPr>
            <a:r>
              <a:rPr lang="en-GB" dirty="0"/>
              <a:t>3 types of pictures: I, P, B</a:t>
            </a:r>
          </a:p>
          <a:p>
            <a:pPr marL="180975" indent="-180975">
              <a:buFont typeface="Arial" panose="020B0604020202020204" pitchFamily="34" charset="0"/>
              <a:buChar char="•"/>
            </a:pPr>
            <a:r>
              <a:rPr lang="en-GB" dirty="0"/>
              <a:t>Provides a regular structure of video content </a:t>
            </a:r>
          </a:p>
          <a:p>
            <a:pPr marL="638175" lvl="1" indent="-180975">
              <a:buFont typeface="Arial" panose="020B0604020202020204" pitchFamily="34" charset="0"/>
              <a:buChar char="•"/>
            </a:pPr>
            <a:r>
              <a:rPr lang="en-GB" dirty="0"/>
              <a:t>recurring pattern of pictures </a:t>
            </a:r>
          </a:p>
          <a:p>
            <a:pPr marL="638175" lvl="1" indent="-180975">
              <a:buFont typeface="Arial" panose="020B0604020202020204" pitchFamily="34" charset="0"/>
              <a:buChar char="•"/>
            </a:pPr>
            <a:r>
              <a:rPr lang="en-GB" dirty="0"/>
              <a:t>allow easy access to the video stream</a:t>
            </a:r>
          </a:p>
        </p:txBody>
      </p:sp>
      <p:pic>
        <p:nvPicPr>
          <p:cNvPr id="37" name="Picture 3"/>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54220"/>
          <a:stretch/>
        </p:blipFill>
        <p:spPr bwMode="auto">
          <a:xfrm>
            <a:off x="381000" y="3848100"/>
            <a:ext cx="8296275" cy="15481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8" name="Rectangle 37"/>
          <p:cNvSpPr/>
          <p:nvPr/>
        </p:nvSpPr>
        <p:spPr>
          <a:xfrm>
            <a:off x="381000" y="5644545"/>
            <a:ext cx="8362950" cy="584775"/>
          </a:xfrm>
          <a:prstGeom prst="rect">
            <a:avLst/>
          </a:prstGeom>
        </p:spPr>
        <p:txBody>
          <a:bodyPr wrap="square">
            <a:spAutoFit/>
          </a:bodyPr>
          <a:lstStyle/>
          <a:p>
            <a:pPr marL="180975" indent="-180975">
              <a:buFont typeface="Arial" panose="020B0604020202020204" pitchFamily="34" charset="0"/>
              <a:buChar char="•"/>
            </a:pPr>
            <a:r>
              <a:rPr lang="en-US" dirty="0"/>
              <a:t>For TV the GOP is 12 pictures ( </a:t>
            </a:r>
            <a:r>
              <a:rPr lang="en-US" i="1" dirty="0"/>
              <a:t>0.5 s of a projected at 24 frames / s movie</a:t>
            </a:r>
            <a:r>
              <a:rPr lang="en-US" dirty="0"/>
              <a:t> </a:t>
            </a:r>
          </a:p>
          <a:p>
            <a:pPr marL="180975" indent="-180975">
              <a:buFont typeface="Arial" panose="020B0604020202020204" pitchFamily="34" charset="0"/>
              <a:buChar char="•"/>
            </a:pPr>
            <a:r>
              <a:rPr lang="en-US" dirty="0"/>
              <a:t>For NTSC 30 fps, uses 15 pictures</a:t>
            </a:r>
            <a:endParaRPr lang="en-GB" dirty="0"/>
          </a:p>
        </p:txBody>
      </p:sp>
      <p:sp>
        <p:nvSpPr>
          <p:cNvPr id="40" name="Rectangle 31"/>
          <p:cNvSpPr>
            <a:spLocks noChangeArrowheads="1"/>
          </p:cNvSpPr>
          <p:nvPr/>
        </p:nvSpPr>
        <p:spPr bwMode="auto">
          <a:xfrm>
            <a:off x="8924924" y="1295399"/>
            <a:ext cx="228600" cy="530225"/>
          </a:xfrm>
          <a:prstGeom prst="rect">
            <a:avLst/>
          </a:prstGeom>
          <a:gradFill flip="none" rotWithShape="1">
            <a:gsLst>
              <a:gs pos="0">
                <a:srgbClr val="FFC000"/>
              </a:gs>
              <a:gs pos="100000">
                <a:schemeClr val="bg1"/>
              </a:gs>
            </a:gsLst>
            <a:lin ang="0" scaled="1"/>
            <a:tileRect/>
          </a:gradFill>
          <a:ln w="9525">
            <a:solidFill>
              <a:schemeClr val="tx1"/>
            </a:solidFill>
            <a:miter lim="800000"/>
            <a:headEnd/>
            <a:tailEnd/>
          </a:ln>
        </p:spPr>
        <p:txBody>
          <a:bodyPr wrap="none" anchor="ctr"/>
          <a:lstStyle/>
          <a:p>
            <a:endParaRPr lang="en-US"/>
          </a:p>
        </p:txBody>
      </p:sp>
      <p:sp>
        <p:nvSpPr>
          <p:cNvPr id="41" name="Rectangle 31"/>
          <p:cNvSpPr>
            <a:spLocks noChangeArrowheads="1"/>
          </p:cNvSpPr>
          <p:nvPr/>
        </p:nvSpPr>
        <p:spPr bwMode="auto">
          <a:xfrm>
            <a:off x="67083" y="1295399"/>
            <a:ext cx="228600" cy="530225"/>
          </a:xfrm>
          <a:prstGeom prst="rect">
            <a:avLst/>
          </a:prstGeom>
          <a:gradFill flip="none" rotWithShape="1">
            <a:gsLst>
              <a:gs pos="0">
                <a:srgbClr val="FFC000"/>
              </a:gs>
              <a:gs pos="100000">
                <a:schemeClr val="bg1"/>
              </a:gs>
            </a:gsLst>
            <a:lin ang="10800000" scaled="1"/>
            <a:tileRect/>
          </a:gradFill>
          <a:ln w="9525">
            <a:solidFill>
              <a:schemeClr val="tx1"/>
            </a:solidFill>
            <a:miter lim="800000"/>
            <a:headEnd/>
            <a:tailEnd/>
          </a:ln>
        </p:spPr>
        <p:txBody>
          <a:bodyPr wrap="none" anchor="ctr"/>
          <a:lstStyle/>
          <a:p>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2" name="Picture 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1000" y="1109663"/>
            <a:ext cx="8258175" cy="336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1"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1000" y="4481513"/>
            <a:ext cx="8258175" cy="166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1" name="Group 10"/>
          <p:cNvGrpSpPr/>
          <p:nvPr/>
        </p:nvGrpSpPr>
        <p:grpSpPr>
          <a:xfrm>
            <a:off x="1385887" y="1838325"/>
            <a:ext cx="3305175" cy="1466850"/>
            <a:chOff x="1447800" y="2466975"/>
            <a:chExt cx="3305175" cy="1466850"/>
          </a:xfrm>
        </p:grpSpPr>
        <p:cxnSp>
          <p:nvCxnSpPr>
            <p:cNvPr id="7" name="Straight Arrow Connector 6"/>
            <p:cNvCxnSpPr/>
            <p:nvPr/>
          </p:nvCxnSpPr>
          <p:spPr bwMode="auto">
            <a:xfrm>
              <a:off x="1719263" y="3524250"/>
              <a:ext cx="3019425" cy="9525"/>
            </a:xfrm>
            <a:prstGeom prst="straightConnector1">
              <a:avLst/>
            </a:prstGeom>
            <a:noFill/>
            <a:ln w="19050" cap="flat" cmpd="sng" algn="ctr">
              <a:solidFill>
                <a:schemeClr val="accent1">
                  <a:lumMod val="75000"/>
                </a:schemeClr>
              </a:solidFill>
              <a:prstDash val="dash"/>
              <a:round/>
              <a:headEnd type="none" w="med" len="med"/>
              <a:tailEnd type="arrow"/>
            </a:ln>
            <a:effectLst/>
          </p:spPr>
        </p:cxnSp>
        <p:cxnSp>
          <p:nvCxnSpPr>
            <p:cNvPr id="12" name="Straight Arrow Connector 11"/>
            <p:cNvCxnSpPr/>
            <p:nvPr/>
          </p:nvCxnSpPr>
          <p:spPr bwMode="auto">
            <a:xfrm>
              <a:off x="1447800" y="2466975"/>
              <a:ext cx="2695575" cy="9525"/>
            </a:xfrm>
            <a:prstGeom prst="straightConnector1">
              <a:avLst/>
            </a:prstGeom>
            <a:noFill/>
            <a:ln w="19050" cap="flat" cmpd="sng" algn="ctr">
              <a:solidFill>
                <a:schemeClr val="accent1">
                  <a:lumMod val="75000"/>
                </a:schemeClr>
              </a:solidFill>
              <a:prstDash val="dash"/>
              <a:round/>
              <a:headEnd type="none" w="med" len="med"/>
              <a:tailEnd type="arrow"/>
            </a:ln>
            <a:effectLst/>
          </p:spPr>
        </p:cxnSp>
        <p:cxnSp>
          <p:nvCxnSpPr>
            <p:cNvPr id="14" name="Straight Arrow Connector 13"/>
            <p:cNvCxnSpPr/>
            <p:nvPr/>
          </p:nvCxnSpPr>
          <p:spPr bwMode="auto">
            <a:xfrm>
              <a:off x="1857375" y="3905250"/>
              <a:ext cx="2895600" cy="28575"/>
            </a:xfrm>
            <a:prstGeom prst="straightConnector1">
              <a:avLst/>
            </a:prstGeom>
            <a:noFill/>
            <a:ln w="19050" cap="flat" cmpd="sng" algn="ctr">
              <a:solidFill>
                <a:schemeClr val="accent1">
                  <a:lumMod val="75000"/>
                </a:schemeClr>
              </a:solidFill>
              <a:prstDash val="dash"/>
              <a:round/>
              <a:headEnd type="none" w="med" len="med"/>
              <a:tailEnd type="arrow"/>
            </a:ln>
            <a:effectLst/>
          </p:spPr>
        </p:cxnSp>
      </p:grpSp>
      <p:sp>
        <p:nvSpPr>
          <p:cNvPr id="17" name="Text Box 120"/>
          <p:cNvSpPr txBox="1">
            <a:spLocks noChangeArrowheads="1"/>
          </p:cNvSpPr>
          <p:nvPr/>
        </p:nvSpPr>
        <p:spPr bwMode="auto">
          <a:xfrm>
            <a:off x="381000" y="392113"/>
            <a:ext cx="7170553" cy="461665"/>
          </a:xfrm>
          <a:prstGeom prst="rect">
            <a:avLst/>
          </a:prstGeom>
          <a:noFill/>
          <a:ln w="9525">
            <a:noFill/>
            <a:miter lim="800000"/>
            <a:headEnd/>
            <a:tailEnd/>
          </a:ln>
        </p:spPr>
        <p:txBody>
          <a:bodyPr wrap="none">
            <a:spAutoFit/>
          </a:bodyPr>
          <a:lstStyle/>
          <a:p>
            <a:r>
              <a:rPr lang="en-GB" sz="2400" b="1" dirty="0"/>
              <a:t>Basic Principles for Moving Elements in Images</a:t>
            </a:r>
            <a:endParaRPr lang="en-GB" sz="2400" dirty="0"/>
          </a:p>
        </p:txBody>
      </p:sp>
      <p:sp>
        <p:nvSpPr>
          <p:cNvPr id="13" name="TextBox 12"/>
          <p:cNvSpPr txBox="1"/>
          <p:nvPr/>
        </p:nvSpPr>
        <p:spPr>
          <a:xfrm>
            <a:off x="609599" y="4086225"/>
            <a:ext cx="2943226" cy="830997"/>
          </a:xfrm>
          <a:prstGeom prst="rect">
            <a:avLst/>
          </a:prstGeom>
          <a:noFill/>
        </p:spPr>
        <p:txBody>
          <a:bodyPr wrap="square" rtlCol="0">
            <a:spAutoFit/>
          </a:bodyPr>
          <a:lstStyle/>
          <a:p>
            <a:pPr algn="ctr"/>
            <a:r>
              <a:rPr lang="en-GB" dirty="0"/>
              <a:t>Blocks Identical or nearly-identical in following frames</a:t>
            </a:r>
          </a:p>
        </p:txBody>
      </p:sp>
      <p:sp>
        <p:nvSpPr>
          <p:cNvPr id="19" name="TextBox 18"/>
          <p:cNvSpPr txBox="1"/>
          <p:nvPr/>
        </p:nvSpPr>
        <p:spPr>
          <a:xfrm>
            <a:off x="4552949" y="4076700"/>
            <a:ext cx="3533776" cy="1785104"/>
          </a:xfrm>
          <a:prstGeom prst="rect">
            <a:avLst/>
          </a:prstGeom>
          <a:noFill/>
        </p:spPr>
        <p:txBody>
          <a:bodyPr wrap="square" rtlCol="0">
            <a:spAutoFit/>
          </a:bodyPr>
          <a:lstStyle/>
          <a:p>
            <a:pPr algn="ctr"/>
            <a:r>
              <a:rPr lang="en-GB" dirty="0"/>
              <a:t>Blocks with </a:t>
            </a:r>
            <a:r>
              <a:rPr lang="en-GB" b="1" i="1" dirty="0"/>
              <a:t>nearly*</a:t>
            </a:r>
            <a:r>
              <a:rPr lang="en-GB" dirty="0"/>
              <a:t> identical characteristics are replicated; spatial displacement is coded with a </a:t>
            </a:r>
            <a:r>
              <a:rPr lang="en-GB" i="1" dirty="0"/>
              <a:t>motion vector</a:t>
            </a:r>
          </a:p>
          <a:p>
            <a:pPr algn="ctr"/>
            <a:endParaRPr lang="en-GB" sz="1400" dirty="0"/>
          </a:p>
          <a:p>
            <a:pPr algn="ctr"/>
            <a:r>
              <a:rPr lang="en-GB" sz="1400" dirty="0"/>
              <a:t>*we’ll deal with the “</a:t>
            </a:r>
            <a:r>
              <a:rPr lang="en-GB" sz="1400" i="1" dirty="0"/>
              <a:t>nearly” </a:t>
            </a:r>
            <a:r>
              <a:rPr lang="en-GB" sz="1400" dirty="0"/>
              <a:t>part shortly …</a:t>
            </a:r>
            <a:endParaRPr lang="en-GB" sz="1400" i="1" dirty="0"/>
          </a:p>
        </p:txBody>
      </p:sp>
    </p:spTree>
    <p:extLst>
      <p:ext uri="{BB962C8B-B14F-4D97-AF65-F5344CB8AC3E}">
        <p14:creationId xmlns:p14="http://schemas.microsoft.com/office/powerpoint/2010/main" val="35380922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2"/>
          <p:cNvPicPr>
            <a:picLocks noChangeAspect="1" noChangeArrowheads="1"/>
          </p:cNvPicPr>
          <p:nvPr/>
        </p:nvPicPr>
        <p:blipFill>
          <a:blip r:embed="rId2" cstate="print"/>
          <a:srcRect/>
          <a:stretch>
            <a:fillRect/>
          </a:stretch>
        </p:blipFill>
        <p:spPr bwMode="auto">
          <a:xfrm>
            <a:off x="381000" y="1495425"/>
            <a:ext cx="8437563" cy="3978275"/>
          </a:xfrm>
          <a:prstGeom prst="rect">
            <a:avLst/>
          </a:prstGeom>
          <a:noFill/>
          <a:ln w="9525" algn="ctr">
            <a:noFill/>
            <a:miter lim="800000"/>
            <a:headEnd/>
            <a:tailEnd/>
          </a:ln>
        </p:spPr>
      </p:pic>
      <p:sp>
        <p:nvSpPr>
          <p:cNvPr id="28675" name="Rectangle 2"/>
          <p:cNvSpPr>
            <a:spLocks noChangeArrowheads="1"/>
          </p:cNvSpPr>
          <p:nvPr/>
        </p:nvSpPr>
        <p:spPr bwMode="auto">
          <a:xfrm>
            <a:off x="382588" y="392113"/>
            <a:ext cx="2889250" cy="461962"/>
          </a:xfrm>
          <a:prstGeom prst="rect">
            <a:avLst/>
          </a:prstGeom>
          <a:noFill/>
          <a:ln w="9525">
            <a:noFill/>
            <a:miter lim="800000"/>
            <a:headEnd/>
            <a:tailEnd/>
          </a:ln>
        </p:spPr>
        <p:txBody>
          <a:bodyPr wrap="none">
            <a:spAutoFit/>
          </a:bodyPr>
          <a:lstStyle/>
          <a:p>
            <a:r>
              <a:rPr lang="en-GB" sz="2400" b="1" dirty="0"/>
              <a:t>Difference Coding</a:t>
            </a:r>
          </a:p>
        </p:txBody>
      </p:sp>
      <p:sp>
        <p:nvSpPr>
          <p:cNvPr id="28676" name="TextBox 3"/>
          <p:cNvSpPr txBox="1">
            <a:spLocks noChangeArrowheads="1"/>
          </p:cNvSpPr>
          <p:nvPr/>
        </p:nvSpPr>
        <p:spPr bwMode="auto">
          <a:xfrm>
            <a:off x="381000" y="873125"/>
            <a:ext cx="7346950" cy="585788"/>
          </a:xfrm>
          <a:prstGeom prst="rect">
            <a:avLst/>
          </a:prstGeom>
          <a:noFill/>
          <a:ln w="9525">
            <a:noFill/>
            <a:miter lim="800000"/>
            <a:headEnd/>
            <a:tailEnd/>
          </a:ln>
        </p:spPr>
        <p:txBody>
          <a:bodyPr>
            <a:spAutoFit/>
          </a:bodyPr>
          <a:lstStyle/>
          <a:p>
            <a:r>
              <a:rPr lang="en-GB" dirty="0"/>
              <a:t>Amount of information in the difference between the two frames is a lot less than in Frame 2</a:t>
            </a:r>
          </a:p>
        </p:txBody>
      </p:sp>
      <p:sp>
        <p:nvSpPr>
          <p:cNvPr id="28677" name="TextBox 4"/>
          <p:cNvSpPr txBox="1">
            <a:spLocks noChangeArrowheads="1"/>
          </p:cNvSpPr>
          <p:nvPr/>
        </p:nvSpPr>
        <p:spPr bwMode="auto">
          <a:xfrm>
            <a:off x="381000" y="4147245"/>
            <a:ext cx="5518638" cy="2308324"/>
          </a:xfrm>
          <a:prstGeom prst="rect">
            <a:avLst/>
          </a:prstGeom>
          <a:noFill/>
          <a:ln w="9525">
            <a:noFill/>
            <a:miter lim="800000"/>
            <a:headEnd/>
            <a:tailEnd/>
          </a:ln>
        </p:spPr>
        <p:txBody>
          <a:bodyPr wrap="square">
            <a:spAutoFit/>
          </a:bodyPr>
          <a:lstStyle/>
          <a:p>
            <a:pPr marL="180975" indent="-180975">
              <a:buFont typeface="Arial" charset="0"/>
              <a:buChar char="•"/>
            </a:pPr>
            <a:r>
              <a:rPr lang="en-GB" dirty="0"/>
              <a:t>motion in the scene will increase the differences</a:t>
            </a:r>
          </a:p>
          <a:p>
            <a:pPr marL="180975" indent="-180975">
              <a:buFont typeface="Arial" charset="0"/>
              <a:buChar char="•"/>
            </a:pPr>
            <a:r>
              <a:rPr lang="en-GB" dirty="0"/>
              <a:t>analyse motion </a:t>
            </a:r>
          </a:p>
          <a:p>
            <a:pPr marL="180975" lvl="1"/>
            <a:r>
              <a:rPr lang="en-GB" dirty="0"/>
              <a:t>… where each block moved since previous frame</a:t>
            </a:r>
          </a:p>
          <a:p>
            <a:pPr marL="361950" lvl="1" indent="-180975">
              <a:buFont typeface="Arial" charset="0"/>
              <a:buChar char="•"/>
            </a:pPr>
            <a:r>
              <a:rPr lang="en-GB" dirty="0"/>
              <a:t>encode motion as vector - </a:t>
            </a:r>
          </a:p>
          <a:p>
            <a:pPr marL="638175" lvl="2"/>
            <a:r>
              <a:rPr lang="en-GB" dirty="0"/>
              <a:t>x- and y- direction vectors</a:t>
            </a:r>
          </a:p>
          <a:p>
            <a:pPr marL="361950" lvl="1" indent="-180975">
              <a:buFont typeface="Arial" charset="0"/>
              <a:buChar char="•"/>
            </a:pPr>
            <a:r>
              <a:rPr lang="en-GB" dirty="0"/>
              <a:t>encode differences for the moved block like a jpg, </a:t>
            </a:r>
          </a:p>
          <a:p>
            <a:pPr marL="180975" lvl="1"/>
            <a:r>
              <a:rPr lang="en-GB" dirty="0"/>
              <a:t>	</a:t>
            </a:r>
            <a:r>
              <a:rPr lang="en-GB" sz="1200" dirty="0"/>
              <a:t>i.e. DCT, quantization, RLE (zig-</a:t>
            </a:r>
            <a:r>
              <a:rPr lang="en-GB" sz="1200" dirty="0" err="1"/>
              <a:t>zag</a:t>
            </a:r>
            <a:r>
              <a:rPr lang="en-GB" sz="1200" dirty="0"/>
              <a:t>), Huffman</a:t>
            </a:r>
          </a:p>
          <a:p>
            <a:pPr marL="180975" lvl="1"/>
            <a:r>
              <a:rPr lang="en-GB" i="1" dirty="0"/>
              <a:t>(… but this jpeg is very simple to encode due to little changed information in the image)</a:t>
            </a:r>
          </a:p>
        </p:txBody>
      </p:sp>
      <p:sp>
        <p:nvSpPr>
          <p:cNvPr id="28678" name="Rectangle 5"/>
          <p:cNvSpPr>
            <a:spLocks noChangeArrowheads="1"/>
          </p:cNvSpPr>
          <p:nvPr/>
        </p:nvSpPr>
        <p:spPr bwMode="auto">
          <a:xfrm>
            <a:off x="5826125" y="6348413"/>
            <a:ext cx="3317875" cy="214312"/>
          </a:xfrm>
          <a:prstGeom prst="rect">
            <a:avLst/>
          </a:prstGeom>
          <a:solidFill>
            <a:schemeClr val="accent6">
              <a:lumMod val="40000"/>
              <a:lumOff val="60000"/>
            </a:schemeClr>
          </a:solidFill>
          <a:ln w="9525">
            <a:noFill/>
            <a:miter lim="800000"/>
            <a:headEnd/>
            <a:tailEnd/>
          </a:ln>
        </p:spPr>
        <p:txBody>
          <a:bodyPr>
            <a:spAutoFit/>
          </a:bodyPr>
          <a:lstStyle/>
          <a:p>
            <a:r>
              <a:rPr lang="en-GB" sz="800" dirty="0"/>
              <a:t>see - </a:t>
            </a:r>
            <a:r>
              <a:rPr lang="en-GB" sz="800" dirty="0">
                <a:hlinkClick r:id="rId3"/>
              </a:rPr>
              <a:t>http://www.cs.ucl.ac.uk/teaching/GZ05/08-h261.pdf</a:t>
            </a:r>
            <a:r>
              <a:rPr lang="en-GB" sz="800" dirty="0"/>
              <a:t> </a:t>
            </a:r>
          </a:p>
        </p:txBody>
      </p:sp>
      <p:cxnSp>
        <p:nvCxnSpPr>
          <p:cNvPr id="3" name="Straight Arrow Connector 2"/>
          <p:cNvCxnSpPr/>
          <p:nvPr/>
        </p:nvCxnSpPr>
        <p:spPr bwMode="auto">
          <a:xfrm flipV="1">
            <a:off x="5565531" y="5418382"/>
            <a:ext cx="1248507" cy="534010"/>
          </a:xfrm>
          <a:prstGeom prst="straightConnector1">
            <a:avLst/>
          </a:prstGeom>
          <a:noFill/>
          <a:ln w="9525" cap="flat" cmpd="sng" algn="ctr">
            <a:solidFill>
              <a:schemeClr val="tx1"/>
            </a:solidFill>
            <a:prstDash val="solid"/>
            <a:round/>
            <a:headEnd type="none" w="med" len="med"/>
            <a:tailEnd type="triangle"/>
          </a:ln>
          <a:effectLst/>
        </p:spPr>
      </p:cxn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40B4C93-C406-4818-843C-6330233F3400}"/>
              </a:ext>
            </a:extLst>
          </p:cNvPr>
          <p:cNvSpPr txBox="1"/>
          <p:nvPr/>
        </p:nvSpPr>
        <p:spPr>
          <a:xfrm>
            <a:off x="385763" y="1398776"/>
            <a:ext cx="8078729" cy="3785652"/>
          </a:xfrm>
          <a:prstGeom prst="rect">
            <a:avLst/>
          </a:prstGeom>
          <a:noFill/>
        </p:spPr>
        <p:txBody>
          <a:bodyPr wrap="square" rtlCol="0">
            <a:spAutoFit/>
          </a:bodyPr>
          <a:lstStyle/>
          <a:p>
            <a:r>
              <a:rPr lang="en-GB" sz="6000" b="1" dirty="0"/>
              <a:t>Codecs – </a:t>
            </a:r>
          </a:p>
          <a:p>
            <a:r>
              <a:rPr lang="en-GB" sz="6000" b="1" dirty="0"/>
              <a:t>Current, Emerging: Tensions in the Market</a:t>
            </a:r>
          </a:p>
        </p:txBody>
      </p:sp>
    </p:spTree>
    <p:extLst>
      <p:ext uri="{BB962C8B-B14F-4D97-AF65-F5344CB8AC3E}">
        <p14:creationId xmlns:p14="http://schemas.microsoft.com/office/powerpoint/2010/main" val="26580961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489D8B2-F40A-4AED-A2D5-74650CE57756}"/>
              </a:ext>
            </a:extLst>
          </p:cNvPr>
          <p:cNvSpPr txBox="1"/>
          <p:nvPr/>
        </p:nvSpPr>
        <p:spPr>
          <a:xfrm>
            <a:off x="385762" y="333375"/>
            <a:ext cx="8227296" cy="461665"/>
          </a:xfrm>
          <a:prstGeom prst="rect">
            <a:avLst/>
          </a:prstGeom>
          <a:noFill/>
        </p:spPr>
        <p:txBody>
          <a:bodyPr wrap="square" rtlCol="0">
            <a:spAutoFit/>
          </a:bodyPr>
          <a:lstStyle/>
          <a:p>
            <a:r>
              <a:rPr lang="en-GB" sz="2400" b="1" dirty="0"/>
              <a:t>Codecs – Current, Emerging, Tensions in the Market</a:t>
            </a:r>
          </a:p>
        </p:txBody>
      </p:sp>
      <p:sp>
        <p:nvSpPr>
          <p:cNvPr id="3" name="TextBox 2">
            <a:extLst>
              <a:ext uri="{FF2B5EF4-FFF2-40B4-BE49-F238E27FC236}">
                <a16:creationId xmlns:a16="http://schemas.microsoft.com/office/drawing/2014/main" id="{9C3E9BD6-DD65-4269-BB4B-FC632A23C1A8}"/>
              </a:ext>
            </a:extLst>
          </p:cNvPr>
          <p:cNvSpPr txBox="1"/>
          <p:nvPr/>
        </p:nvSpPr>
        <p:spPr>
          <a:xfrm>
            <a:off x="385763" y="1074674"/>
            <a:ext cx="8003103" cy="4493538"/>
          </a:xfrm>
          <a:prstGeom prst="rect">
            <a:avLst/>
          </a:prstGeom>
          <a:noFill/>
        </p:spPr>
        <p:txBody>
          <a:bodyPr wrap="square" rtlCol="0">
            <a:spAutoFit/>
          </a:bodyPr>
          <a:lstStyle/>
          <a:p>
            <a:pPr>
              <a:lnSpc>
                <a:spcPct val="150000"/>
              </a:lnSpc>
            </a:pPr>
            <a:r>
              <a:rPr lang="en-US" b="1" dirty="0"/>
              <a:t>New formats - AV1, VVC</a:t>
            </a:r>
            <a:r>
              <a:rPr lang="en-US" b="1"/>
              <a:t>, EVC, and NDI</a:t>
            </a:r>
            <a:endParaRPr lang="en-US"/>
          </a:p>
          <a:p>
            <a:pPr marL="285750" indent="-285750">
              <a:lnSpc>
                <a:spcPct val="150000"/>
              </a:lnSpc>
              <a:buFont typeface="Arial" panose="020B0604020202020204" pitchFamily="34" charset="0"/>
              <a:buChar char="•"/>
            </a:pPr>
            <a:r>
              <a:rPr lang="en-US"/>
              <a:t>Rising video consumption </a:t>
            </a:r>
          </a:p>
          <a:p>
            <a:pPr marL="285750" indent="-285750">
              <a:lnSpc>
                <a:spcPct val="150000"/>
              </a:lnSpc>
              <a:buFont typeface="Arial" panose="020B0604020202020204" pitchFamily="34" charset="0"/>
              <a:buChar char="•"/>
            </a:pPr>
            <a:r>
              <a:rPr lang="en-US"/>
              <a:t>more </a:t>
            </a:r>
            <a:r>
              <a:rPr lang="en-US" dirty="0"/>
              <a:t>immersive higher resolution TV</a:t>
            </a:r>
          </a:p>
          <a:p>
            <a:pPr marL="285750" indent="-285750">
              <a:lnSpc>
                <a:spcPct val="150000"/>
              </a:lnSpc>
              <a:buFont typeface="Arial" panose="020B0604020202020204" pitchFamily="34" charset="0"/>
              <a:buChar char="•"/>
            </a:pPr>
            <a:r>
              <a:rPr lang="en-US" dirty="0"/>
              <a:t>major new family of video compression standards from </a:t>
            </a:r>
          </a:p>
          <a:p>
            <a:pPr lvl="1">
              <a:lnSpc>
                <a:spcPct val="150000"/>
              </a:lnSpc>
            </a:pPr>
            <a:r>
              <a:rPr lang="en-US" dirty="0"/>
              <a:t>MPEG + ITU-T Study Group 16’s VCEG </a:t>
            </a:r>
          </a:p>
          <a:p>
            <a:pPr lvl="1">
              <a:lnSpc>
                <a:spcPct val="150000"/>
              </a:lnSpc>
            </a:pPr>
            <a:r>
              <a:rPr lang="en-US"/>
              <a:t>			</a:t>
            </a:r>
            <a:r>
              <a:rPr lang="en-US" dirty="0"/>
              <a:t>	(Video Coding Experts Group) </a:t>
            </a:r>
          </a:p>
          <a:p>
            <a:pPr marL="285750" indent="-285750">
              <a:lnSpc>
                <a:spcPct val="150000"/>
              </a:lnSpc>
              <a:buFont typeface="Arial" panose="020B0604020202020204" pitchFamily="34" charset="0"/>
              <a:buChar char="•"/>
            </a:pPr>
            <a:endParaRPr lang="en-US" dirty="0"/>
          </a:p>
          <a:p>
            <a:pPr>
              <a:lnSpc>
                <a:spcPct val="150000"/>
              </a:lnSpc>
            </a:pPr>
            <a:r>
              <a:rPr lang="en-US"/>
              <a:t>Undermining </a:t>
            </a:r>
            <a:r>
              <a:rPr lang="en-US" dirty="0"/>
              <a:t>of MPEG HEVC by some of its own patent holders </a:t>
            </a:r>
          </a:p>
          <a:p>
            <a:pPr lvl="1">
              <a:lnSpc>
                <a:spcPct val="150000"/>
              </a:lnSpc>
            </a:pPr>
            <a:r>
              <a:rPr lang="en-US" dirty="0"/>
              <a:t>⇨ traditional codecs versus potentially disruptive alternatives</a:t>
            </a:r>
          </a:p>
          <a:p>
            <a:pPr marL="285750" indent="-285750">
              <a:lnSpc>
                <a:spcPct val="150000"/>
              </a:lnSpc>
              <a:buFont typeface="Arial" panose="020B0604020202020204" pitchFamily="34" charset="0"/>
              <a:buChar char="•"/>
            </a:pPr>
            <a:endParaRPr lang="en-US" dirty="0"/>
          </a:p>
          <a:p>
            <a:pPr>
              <a:lnSpc>
                <a:spcPct val="150000"/>
              </a:lnSpc>
            </a:pPr>
            <a:r>
              <a:rPr lang="en-US"/>
              <a:t>Cost </a:t>
            </a:r>
            <a:r>
              <a:rPr lang="en-US" dirty="0"/>
              <a:t>for distributing video is a major factor </a:t>
            </a:r>
          </a:p>
          <a:p>
            <a:pPr lvl="1">
              <a:lnSpc>
                <a:spcPct val="150000"/>
              </a:lnSpc>
            </a:pPr>
            <a:r>
              <a:rPr lang="en-US" dirty="0"/>
              <a:t>- especially in  IP nets (the quality is </a:t>
            </a:r>
            <a:r>
              <a:rPr lang="en-US"/>
              <a:t>compressed)</a:t>
            </a:r>
            <a:endParaRPr lang="en-US" dirty="0"/>
          </a:p>
        </p:txBody>
      </p:sp>
    </p:spTree>
    <p:extLst>
      <p:ext uri="{BB962C8B-B14F-4D97-AF65-F5344CB8AC3E}">
        <p14:creationId xmlns:p14="http://schemas.microsoft.com/office/powerpoint/2010/main" val="388238715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F1EC143-4ADB-4113-A514-3E1677F79A13}"/>
              </a:ext>
            </a:extLst>
          </p:cNvPr>
          <p:cNvSpPr txBox="1"/>
          <p:nvPr/>
        </p:nvSpPr>
        <p:spPr>
          <a:xfrm>
            <a:off x="385762" y="333375"/>
            <a:ext cx="8227296" cy="461665"/>
          </a:xfrm>
          <a:prstGeom prst="rect">
            <a:avLst/>
          </a:prstGeom>
          <a:noFill/>
        </p:spPr>
        <p:txBody>
          <a:bodyPr wrap="square" rtlCol="0">
            <a:spAutoFit/>
          </a:bodyPr>
          <a:lstStyle/>
          <a:p>
            <a:r>
              <a:rPr lang="en-GB" sz="2400" b="1"/>
              <a:t>Codecs – Current, Emerging, Tensions in the Market</a:t>
            </a:r>
            <a:endParaRPr lang="en-GB" sz="2400" b="1" dirty="0"/>
          </a:p>
        </p:txBody>
      </p:sp>
      <p:sp>
        <p:nvSpPr>
          <p:cNvPr id="3" name="TextBox 2">
            <a:extLst>
              <a:ext uri="{FF2B5EF4-FFF2-40B4-BE49-F238E27FC236}">
                <a16:creationId xmlns:a16="http://schemas.microsoft.com/office/drawing/2014/main" id="{58390E4E-EC7A-47CA-ADCA-86368012127C}"/>
              </a:ext>
            </a:extLst>
          </p:cNvPr>
          <p:cNvSpPr txBox="1"/>
          <p:nvPr/>
        </p:nvSpPr>
        <p:spPr>
          <a:xfrm>
            <a:off x="385762" y="976405"/>
            <a:ext cx="8128972" cy="4708981"/>
          </a:xfrm>
          <a:prstGeom prst="rect">
            <a:avLst/>
          </a:prstGeom>
          <a:noFill/>
        </p:spPr>
        <p:txBody>
          <a:bodyPr wrap="square" rtlCol="0">
            <a:spAutoFit/>
          </a:bodyPr>
          <a:lstStyle/>
          <a:p>
            <a:pPr>
              <a:lnSpc>
                <a:spcPts val="2400"/>
              </a:lnSpc>
            </a:pPr>
            <a:r>
              <a:rPr lang="en-US" b="1" dirty="0"/>
              <a:t>Current market </a:t>
            </a:r>
            <a:endParaRPr lang="en-US" dirty="0"/>
          </a:p>
          <a:p>
            <a:pPr marL="285750" indent="-285750">
              <a:lnSpc>
                <a:spcPts val="2400"/>
              </a:lnSpc>
              <a:buFont typeface="Arial" panose="020B0604020202020204" pitchFamily="34" charset="0"/>
              <a:buChar char="•"/>
            </a:pPr>
            <a:r>
              <a:rPr lang="en-US" dirty="0"/>
              <a:t>AVC/H.264 codec </a:t>
            </a:r>
          </a:p>
          <a:p>
            <a:pPr marL="742950" lvl="1" indent="-285750">
              <a:lnSpc>
                <a:spcPts val="2400"/>
              </a:lnSpc>
              <a:buFont typeface="Arial" panose="020B0604020202020204" pitchFamily="34" charset="0"/>
              <a:buChar char="•"/>
            </a:pPr>
            <a:r>
              <a:rPr lang="en-US" dirty="0"/>
              <a:t>old, popular, widespread decoder support, well-functioning licensing situation</a:t>
            </a:r>
          </a:p>
          <a:p>
            <a:pPr marL="285750" indent="-285750">
              <a:lnSpc>
                <a:spcPts val="2400"/>
              </a:lnSpc>
              <a:buFont typeface="Arial" panose="020B0604020202020204" pitchFamily="34" charset="0"/>
              <a:buChar char="•"/>
            </a:pPr>
            <a:r>
              <a:rPr lang="en-US" dirty="0"/>
              <a:t>HEVC - adoption low in streaming …</a:t>
            </a:r>
          </a:p>
          <a:p>
            <a:pPr marL="742950" lvl="1" indent="-285750">
              <a:lnSpc>
                <a:spcPts val="2400"/>
              </a:lnSpc>
              <a:buFont typeface="Arial" panose="020B0604020202020204" pitchFamily="34" charset="0"/>
              <a:buChar char="•"/>
            </a:pPr>
            <a:endParaRPr lang="en-US" dirty="0"/>
          </a:p>
          <a:p>
            <a:pPr marL="742950" lvl="1" indent="-285750">
              <a:lnSpc>
                <a:spcPts val="2400"/>
              </a:lnSpc>
              <a:buFont typeface="Arial" panose="020B0604020202020204" pitchFamily="34" charset="0"/>
              <a:buChar char="•"/>
            </a:pPr>
            <a:endParaRPr lang="en-US" dirty="0"/>
          </a:p>
          <a:p>
            <a:pPr>
              <a:lnSpc>
                <a:spcPts val="2400"/>
              </a:lnSpc>
            </a:pPr>
            <a:r>
              <a:rPr lang="en-US" b="1" dirty="0"/>
              <a:t>HEVC Advance </a:t>
            </a:r>
            <a:r>
              <a:rPr lang="en-US" dirty="0"/>
              <a:t>(licensing admin)  </a:t>
            </a:r>
          </a:p>
          <a:p>
            <a:pPr marL="285750" indent="-285750">
              <a:lnSpc>
                <a:spcPts val="2400"/>
              </a:lnSpc>
              <a:buFont typeface="Arial" panose="020B0604020202020204" pitchFamily="34" charset="0"/>
              <a:buChar char="•"/>
            </a:pPr>
            <a:r>
              <a:rPr lang="en-US"/>
              <a:t>licensing </a:t>
            </a:r>
            <a:r>
              <a:rPr lang="en-US" dirty="0"/>
              <a:t>cost issues </a:t>
            </a:r>
          </a:p>
          <a:p>
            <a:pPr marL="285750" indent="-285750">
              <a:lnSpc>
                <a:spcPts val="2400"/>
              </a:lnSpc>
              <a:buFont typeface="Arial" panose="020B0604020202020204" pitchFamily="34" charset="0"/>
              <a:buChar char="•"/>
            </a:pPr>
            <a:r>
              <a:rPr lang="en-US" dirty="0"/>
              <a:t>slow take-up in key market segments</a:t>
            </a:r>
          </a:p>
          <a:p>
            <a:pPr>
              <a:lnSpc>
                <a:spcPts val="2400"/>
              </a:lnSpc>
            </a:pPr>
            <a:r>
              <a:rPr lang="en-US" dirty="0"/>
              <a:t>  	⇨ Rival codecs - better performance / royalty free / or both </a:t>
            </a:r>
          </a:p>
          <a:p>
            <a:pPr marL="285750" indent="-285750">
              <a:lnSpc>
                <a:spcPts val="2400"/>
              </a:lnSpc>
              <a:buFont typeface="Arial" panose="020B0604020202020204" pitchFamily="34" charset="0"/>
              <a:buChar char="•"/>
            </a:pPr>
            <a:endParaRPr lang="en-US" dirty="0"/>
          </a:p>
          <a:p>
            <a:pPr marL="285750" indent="-285750">
              <a:lnSpc>
                <a:spcPts val="2400"/>
              </a:lnSpc>
              <a:buFont typeface="Arial" panose="020B0604020202020204" pitchFamily="34" charset="0"/>
              <a:buChar char="•"/>
            </a:pPr>
            <a:r>
              <a:rPr lang="en-US" u="sng" dirty="0"/>
              <a:t>Patent holders</a:t>
            </a:r>
            <a:r>
              <a:rPr lang="en-US" dirty="0"/>
              <a:t> had technology accepted before declaring rights and costs in the patent pools</a:t>
            </a:r>
          </a:p>
          <a:p>
            <a:pPr marL="742950" lvl="1" indent="-285750">
              <a:lnSpc>
                <a:spcPts val="2400"/>
              </a:lnSpc>
              <a:buFont typeface="Arial" panose="020B0604020202020204" pitchFamily="34" charset="0"/>
              <a:buChar char="•"/>
            </a:pPr>
            <a:r>
              <a:rPr lang="en-US" dirty="0"/>
              <a:t>further fragmented by HEVC IP holders </a:t>
            </a:r>
          </a:p>
        </p:txBody>
      </p:sp>
    </p:spTree>
    <p:extLst>
      <p:ext uri="{BB962C8B-B14F-4D97-AF65-F5344CB8AC3E}">
        <p14:creationId xmlns:p14="http://schemas.microsoft.com/office/powerpoint/2010/main" val="334875241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B6706F-E318-4140-BF80-12AB19CADA6B}"/>
              </a:ext>
            </a:extLst>
          </p:cNvPr>
          <p:cNvSpPr txBox="1"/>
          <p:nvPr/>
        </p:nvSpPr>
        <p:spPr>
          <a:xfrm>
            <a:off x="385762" y="333375"/>
            <a:ext cx="8227296" cy="461665"/>
          </a:xfrm>
          <a:prstGeom prst="rect">
            <a:avLst/>
          </a:prstGeom>
          <a:noFill/>
        </p:spPr>
        <p:txBody>
          <a:bodyPr wrap="square" rtlCol="0">
            <a:spAutoFit/>
          </a:bodyPr>
          <a:lstStyle/>
          <a:p>
            <a:r>
              <a:rPr lang="en-GB" sz="2400" b="1"/>
              <a:t>Codecs – Current, Emerging, Tensions in the Market</a:t>
            </a:r>
            <a:endParaRPr lang="en-GB" sz="2400" b="1" dirty="0"/>
          </a:p>
        </p:txBody>
      </p:sp>
      <p:sp>
        <p:nvSpPr>
          <p:cNvPr id="3" name="TextBox 2">
            <a:extLst>
              <a:ext uri="{FF2B5EF4-FFF2-40B4-BE49-F238E27FC236}">
                <a16:creationId xmlns:a16="http://schemas.microsoft.com/office/drawing/2014/main" id="{DF7B77B4-1E3F-4B51-B4C7-76429CBCC118}"/>
              </a:ext>
            </a:extLst>
          </p:cNvPr>
          <p:cNvSpPr txBox="1"/>
          <p:nvPr/>
        </p:nvSpPr>
        <p:spPr>
          <a:xfrm>
            <a:off x="385763" y="974482"/>
            <a:ext cx="8416413" cy="4212692"/>
          </a:xfrm>
          <a:prstGeom prst="rect">
            <a:avLst/>
          </a:prstGeom>
          <a:noFill/>
        </p:spPr>
        <p:txBody>
          <a:bodyPr wrap="square" rtlCol="0">
            <a:spAutoFit/>
          </a:bodyPr>
          <a:lstStyle/>
          <a:p>
            <a:pPr>
              <a:lnSpc>
                <a:spcPct val="150000"/>
              </a:lnSpc>
            </a:pPr>
            <a:r>
              <a:rPr lang="en-US" b="1" dirty="0"/>
              <a:t>The “Tax on distribution”</a:t>
            </a:r>
          </a:p>
          <a:p>
            <a:pPr>
              <a:lnSpc>
                <a:spcPct val="150000"/>
              </a:lnSpc>
            </a:pPr>
            <a:endParaRPr lang="en-US" b="1" dirty="0"/>
          </a:p>
          <a:p>
            <a:pPr marL="285750" indent="-285750">
              <a:lnSpc>
                <a:spcPct val="150000"/>
              </a:lnSpc>
              <a:buFont typeface="Arial" panose="020B0604020202020204" pitchFamily="34" charset="0"/>
              <a:buChar char="•"/>
            </a:pPr>
            <a:r>
              <a:rPr lang="en-US" b="1" dirty="0"/>
              <a:t>MPEG LA</a:t>
            </a:r>
            <a:r>
              <a:rPr lang="en-US" dirty="0"/>
              <a:t> - charges per decoding units capped at U$25m a year</a:t>
            </a:r>
          </a:p>
          <a:p>
            <a:pPr marL="285750" indent="-285750">
              <a:lnSpc>
                <a:spcPct val="150000"/>
              </a:lnSpc>
              <a:buFont typeface="Arial" panose="020B0604020202020204" pitchFamily="34" charset="0"/>
              <a:buChar char="•"/>
            </a:pPr>
            <a:r>
              <a:rPr lang="en-US" b="1" dirty="0"/>
              <a:t>HEVC Advance</a:t>
            </a:r>
            <a:r>
              <a:rPr lang="en-US" dirty="0"/>
              <a:t> caps annual unit charge at U$40m</a:t>
            </a:r>
          </a:p>
          <a:p>
            <a:pPr marL="742950" lvl="1" indent="-285750">
              <a:lnSpc>
                <a:spcPct val="150000"/>
              </a:lnSpc>
              <a:buFont typeface="Arial" panose="020B0604020202020204" pitchFamily="34" charset="0"/>
              <a:buChar char="•"/>
            </a:pPr>
            <a:r>
              <a:rPr lang="en-US" dirty="0"/>
              <a:t>demands royalties for streaming, capped at U$5m a year</a:t>
            </a:r>
          </a:p>
          <a:p>
            <a:pPr marL="285750" indent="-285750">
              <a:lnSpc>
                <a:spcPct val="150000"/>
              </a:lnSpc>
              <a:buFont typeface="Arial" panose="020B0604020202020204" pitchFamily="34" charset="0"/>
              <a:buChar char="•"/>
            </a:pPr>
            <a:endParaRPr lang="en-US" dirty="0"/>
          </a:p>
          <a:p>
            <a:pPr marL="285750" indent="-285750">
              <a:lnSpc>
                <a:spcPct val="150000"/>
              </a:lnSpc>
              <a:buFont typeface="Arial" panose="020B0604020202020204" pitchFamily="34" charset="0"/>
              <a:buChar char="•"/>
            </a:pPr>
            <a:r>
              <a:rPr lang="en-US" dirty="0"/>
              <a:t>other HEVC IP owners - Nokia and Technicolor late to join a pool or announce royalty policy</a:t>
            </a:r>
          </a:p>
          <a:p>
            <a:pPr marL="285750" indent="-285750">
              <a:lnSpc>
                <a:spcPct val="150000"/>
              </a:lnSpc>
              <a:buFont typeface="Arial" panose="020B0604020202020204" pitchFamily="34" charset="0"/>
              <a:buChar char="•"/>
            </a:pPr>
            <a:endParaRPr lang="en-US" dirty="0"/>
          </a:p>
          <a:p>
            <a:pPr marL="285750" indent="-285750">
              <a:lnSpc>
                <a:spcPct val="150000"/>
              </a:lnSpc>
              <a:buFont typeface="Arial" panose="020B0604020202020204" pitchFamily="34" charset="0"/>
              <a:buChar char="•"/>
            </a:pPr>
            <a:r>
              <a:rPr lang="en-US" dirty="0"/>
              <a:t>HEVC royalties significantly more expensive than H.264</a:t>
            </a:r>
          </a:p>
        </p:txBody>
      </p:sp>
    </p:spTree>
    <p:extLst>
      <p:ext uri="{BB962C8B-B14F-4D97-AF65-F5344CB8AC3E}">
        <p14:creationId xmlns:p14="http://schemas.microsoft.com/office/powerpoint/2010/main" val="142703912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4892762-DC27-427D-B7E1-D6DD787FB46F}"/>
              </a:ext>
            </a:extLst>
          </p:cNvPr>
          <p:cNvSpPr txBox="1"/>
          <p:nvPr/>
        </p:nvSpPr>
        <p:spPr>
          <a:xfrm>
            <a:off x="385762" y="333375"/>
            <a:ext cx="8227296" cy="461665"/>
          </a:xfrm>
          <a:prstGeom prst="rect">
            <a:avLst/>
          </a:prstGeom>
          <a:noFill/>
        </p:spPr>
        <p:txBody>
          <a:bodyPr wrap="square" rtlCol="0">
            <a:spAutoFit/>
          </a:bodyPr>
          <a:lstStyle/>
          <a:p>
            <a:r>
              <a:rPr lang="en-GB" sz="2400" b="1"/>
              <a:t>Codecs – Current, Emerging, Tensions in the Market</a:t>
            </a:r>
            <a:endParaRPr lang="en-GB" sz="2400" b="1" dirty="0"/>
          </a:p>
        </p:txBody>
      </p:sp>
      <p:sp>
        <p:nvSpPr>
          <p:cNvPr id="3" name="TextBox 2">
            <a:extLst>
              <a:ext uri="{FF2B5EF4-FFF2-40B4-BE49-F238E27FC236}">
                <a16:creationId xmlns:a16="http://schemas.microsoft.com/office/drawing/2014/main" id="{B120A370-15EB-446D-884E-245FD70A74BB}"/>
              </a:ext>
            </a:extLst>
          </p:cNvPr>
          <p:cNvSpPr txBox="1"/>
          <p:nvPr/>
        </p:nvSpPr>
        <p:spPr>
          <a:xfrm>
            <a:off x="385763" y="1009224"/>
            <a:ext cx="8469481" cy="4539704"/>
          </a:xfrm>
          <a:prstGeom prst="rect">
            <a:avLst/>
          </a:prstGeom>
          <a:noFill/>
        </p:spPr>
        <p:txBody>
          <a:bodyPr wrap="square" rtlCol="0">
            <a:spAutoFit/>
          </a:bodyPr>
          <a:lstStyle/>
          <a:p>
            <a:pPr>
              <a:lnSpc>
                <a:spcPct val="150000"/>
              </a:lnSpc>
            </a:pPr>
            <a:r>
              <a:rPr lang="en-US" b="1" dirty="0"/>
              <a:t>Emerging … AV1 </a:t>
            </a:r>
          </a:p>
          <a:p>
            <a:pPr marL="285750" indent="-285750">
              <a:lnSpc>
                <a:spcPct val="150000"/>
              </a:lnSpc>
              <a:buFont typeface="Arial" panose="020B0604020202020204" pitchFamily="34" charset="0"/>
              <a:buChar char="•"/>
            </a:pPr>
            <a:r>
              <a:rPr lang="en-US" sz="1600" dirty="0"/>
              <a:t>Royalty-free (but not yet contested in court … ) </a:t>
            </a:r>
          </a:p>
          <a:p>
            <a:pPr marL="285750" indent="-285750">
              <a:lnSpc>
                <a:spcPct val="150000"/>
              </a:lnSpc>
              <a:buFont typeface="Arial" panose="020B0604020202020204" pitchFamily="34" charset="0"/>
              <a:buChar char="•"/>
            </a:pPr>
            <a:r>
              <a:rPr lang="en-US" sz="1600" dirty="0"/>
              <a:t>Based on VP9 </a:t>
            </a:r>
          </a:p>
          <a:p>
            <a:pPr marL="742950" lvl="1" indent="-285750">
              <a:lnSpc>
                <a:spcPct val="150000"/>
              </a:lnSpc>
              <a:buFont typeface="Arial" panose="020B0604020202020204" pitchFamily="34" charset="0"/>
              <a:buChar char="•"/>
            </a:pPr>
            <a:r>
              <a:rPr lang="en-US" sz="1600" dirty="0"/>
              <a:t>Alliance for Open Media (</a:t>
            </a:r>
            <a:r>
              <a:rPr lang="en-US" sz="1600" dirty="0" err="1"/>
              <a:t>AOMedia</a:t>
            </a:r>
            <a:r>
              <a:rPr lang="en-US" sz="1600" dirty="0"/>
              <a:t>) (BBC R&amp;D is a member)</a:t>
            </a:r>
          </a:p>
          <a:p>
            <a:pPr marL="285750" indent="-285750">
              <a:lnSpc>
                <a:spcPct val="150000"/>
              </a:lnSpc>
              <a:buFont typeface="Arial" panose="020B0604020202020204" pitchFamily="34" charset="0"/>
              <a:buChar char="•"/>
            </a:pPr>
            <a:endParaRPr lang="en-US" sz="1600" dirty="0"/>
          </a:p>
          <a:p>
            <a:pPr marL="285750" indent="-285750">
              <a:lnSpc>
                <a:spcPct val="150000"/>
              </a:lnSpc>
              <a:buFont typeface="Arial" panose="020B0604020202020204" pitchFamily="34" charset="0"/>
              <a:buChar char="•"/>
            </a:pPr>
            <a:r>
              <a:rPr lang="en-US" sz="1600" b="1" dirty="0"/>
              <a:t>Few well-conducted comparisons  </a:t>
            </a:r>
            <a:r>
              <a:rPr lang="en-US" sz="1600" dirty="0"/>
              <a:t>between AV1 &lt;&gt; HEVC</a:t>
            </a:r>
          </a:p>
          <a:p>
            <a:pPr marL="742950" lvl="1" indent="-285750">
              <a:lnSpc>
                <a:spcPct val="150000"/>
              </a:lnSpc>
              <a:buFont typeface="Arial" panose="020B0604020202020204" pitchFamily="34" charset="0"/>
              <a:buChar char="•"/>
            </a:pPr>
            <a:r>
              <a:rPr lang="en-US" sz="1600" dirty="0"/>
              <a:t>HEVC supporters say  HEVC is 30% better than AV1</a:t>
            </a:r>
          </a:p>
          <a:p>
            <a:pPr marL="742950" lvl="1" indent="-285750">
              <a:lnSpc>
                <a:spcPct val="150000"/>
              </a:lnSpc>
              <a:buFont typeface="Arial" panose="020B0604020202020204" pitchFamily="34" charset="0"/>
              <a:buChar char="•"/>
            </a:pPr>
            <a:r>
              <a:rPr lang="en-US" sz="1600" dirty="0"/>
              <a:t>AV1 supporters say AV1 is 40% better than HEVC</a:t>
            </a:r>
          </a:p>
          <a:p>
            <a:pPr marL="742950" lvl="1" indent="-285750">
              <a:lnSpc>
                <a:spcPct val="150000"/>
              </a:lnSpc>
              <a:buFont typeface="Arial" panose="020B0604020202020204" pitchFamily="34" charset="0"/>
              <a:buChar char="•"/>
            </a:pPr>
            <a:r>
              <a:rPr lang="en-US" sz="1600" dirty="0"/>
              <a:t>(see later in these slides …)</a:t>
            </a:r>
          </a:p>
          <a:p>
            <a:pPr marL="285750" indent="-285750">
              <a:lnSpc>
                <a:spcPct val="150000"/>
              </a:lnSpc>
              <a:buFont typeface="Arial" panose="020B0604020202020204" pitchFamily="34" charset="0"/>
              <a:buChar char="•"/>
            </a:pPr>
            <a:endParaRPr lang="en-US" sz="1600" dirty="0"/>
          </a:p>
          <a:p>
            <a:pPr marL="285750" indent="-285750">
              <a:lnSpc>
                <a:spcPct val="150000"/>
              </a:lnSpc>
              <a:buFont typeface="Arial" panose="020B0604020202020204" pitchFamily="34" charset="0"/>
              <a:buChar char="•"/>
            </a:pPr>
            <a:r>
              <a:rPr lang="en-US" sz="1600" b="1" dirty="0"/>
              <a:t>AV1 - significantly more complex </a:t>
            </a:r>
            <a:r>
              <a:rPr lang="en-US" sz="1600" dirty="0"/>
              <a:t>encoder to achieve performance </a:t>
            </a:r>
          </a:p>
          <a:p>
            <a:pPr lvl="1">
              <a:lnSpc>
                <a:spcPct val="150000"/>
              </a:lnSpc>
            </a:pPr>
            <a:r>
              <a:rPr lang="en-US" sz="1600" dirty="0"/>
              <a:t>... so not good for real time</a:t>
            </a:r>
          </a:p>
        </p:txBody>
      </p:sp>
    </p:spTree>
    <p:extLst>
      <p:ext uri="{BB962C8B-B14F-4D97-AF65-F5344CB8AC3E}">
        <p14:creationId xmlns:p14="http://schemas.microsoft.com/office/powerpoint/2010/main" val="183495978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2A6B829-2453-4737-9ACE-E91251E2D1CA}"/>
              </a:ext>
            </a:extLst>
          </p:cNvPr>
          <p:cNvSpPr txBox="1"/>
          <p:nvPr/>
        </p:nvSpPr>
        <p:spPr>
          <a:xfrm>
            <a:off x="385762" y="333375"/>
            <a:ext cx="8227296" cy="461665"/>
          </a:xfrm>
          <a:prstGeom prst="rect">
            <a:avLst/>
          </a:prstGeom>
          <a:noFill/>
        </p:spPr>
        <p:txBody>
          <a:bodyPr wrap="square" rtlCol="0">
            <a:spAutoFit/>
          </a:bodyPr>
          <a:lstStyle/>
          <a:p>
            <a:r>
              <a:rPr lang="en-GB" sz="2400" b="1" dirty="0"/>
              <a:t>Codecs – Current, Emerging, Tensions in the Market</a:t>
            </a:r>
          </a:p>
        </p:txBody>
      </p:sp>
      <p:sp>
        <p:nvSpPr>
          <p:cNvPr id="3" name="TextBox 2">
            <a:extLst>
              <a:ext uri="{FF2B5EF4-FFF2-40B4-BE49-F238E27FC236}">
                <a16:creationId xmlns:a16="http://schemas.microsoft.com/office/drawing/2014/main" id="{F326DB63-5949-4345-90DE-99E3C595AA37}"/>
              </a:ext>
            </a:extLst>
          </p:cNvPr>
          <p:cNvSpPr txBox="1"/>
          <p:nvPr/>
        </p:nvSpPr>
        <p:spPr>
          <a:xfrm>
            <a:off x="385763" y="1204540"/>
            <a:ext cx="8450229" cy="3970318"/>
          </a:xfrm>
          <a:prstGeom prst="rect">
            <a:avLst/>
          </a:prstGeom>
          <a:noFill/>
        </p:spPr>
        <p:txBody>
          <a:bodyPr wrap="square" rtlCol="0">
            <a:spAutoFit/>
          </a:bodyPr>
          <a:lstStyle/>
          <a:p>
            <a:r>
              <a:rPr lang="en-US" b="1"/>
              <a:t>Joint Video Exploration Team (JVET) – </a:t>
            </a:r>
            <a:r>
              <a:rPr lang="en-US" b="1" dirty="0"/>
              <a:t>VVC</a:t>
            </a:r>
          </a:p>
          <a:p>
            <a:r>
              <a:rPr lang="en-US"/>
              <a:t>Versatile Video Coding (VVC)</a:t>
            </a:r>
          </a:p>
          <a:p>
            <a:endParaRPr lang="en-US" dirty="0"/>
          </a:p>
          <a:p>
            <a:r>
              <a:rPr lang="en-US" dirty="0">
                <a:solidFill>
                  <a:srgbClr val="444444"/>
                </a:solidFill>
              </a:rPr>
              <a:t>MPEG – collaborate with ISO and </a:t>
            </a:r>
            <a:r>
              <a:rPr lang="en-US" dirty="0"/>
              <a:t>ITU-VCEG  </a:t>
            </a:r>
            <a:r>
              <a:rPr lang="en-US" sz="1400" dirty="0"/>
              <a:t>(Video Coding Experts Group)</a:t>
            </a:r>
            <a:r>
              <a:rPr lang="en-US" dirty="0">
                <a:solidFill>
                  <a:srgbClr val="444444"/>
                </a:solidFill>
              </a:rPr>
              <a:t>:  </a:t>
            </a:r>
          </a:p>
          <a:p>
            <a:pPr marL="285750" indent="-285750">
              <a:buFont typeface="Arial" panose="020B0604020202020204" pitchFamily="34" charset="0"/>
              <a:buChar char="•"/>
            </a:pPr>
            <a:r>
              <a:rPr lang="en-US">
                <a:solidFill>
                  <a:srgbClr val="444444"/>
                </a:solidFill>
              </a:rPr>
              <a:t>formed </a:t>
            </a:r>
            <a:r>
              <a:rPr lang="en-US"/>
              <a:t>JVET </a:t>
            </a:r>
            <a:endParaRPr lang="en-US" dirty="0"/>
          </a:p>
          <a:p>
            <a:pPr marL="742950" lvl="1" indent="-285750">
              <a:buFont typeface="Arial" panose="020B0604020202020204" pitchFamily="34" charset="0"/>
              <a:buChar char="•"/>
            </a:pPr>
            <a:r>
              <a:rPr lang="en-US" dirty="0"/>
              <a:t>new suite of video coding technologies </a:t>
            </a:r>
          </a:p>
          <a:p>
            <a:pPr marL="742950" lvl="1" indent="-285750">
              <a:buFont typeface="Arial" panose="020B0604020202020204" pitchFamily="34" charset="0"/>
              <a:buChar char="•"/>
            </a:pPr>
            <a:r>
              <a:rPr lang="en-US" dirty="0">
                <a:solidFill>
                  <a:srgbClr val="444444"/>
                </a:solidFill>
              </a:rPr>
              <a:t>basing its work on HEVC</a:t>
            </a:r>
          </a:p>
          <a:p>
            <a:pPr lvl="1"/>
            <a:endParaRPr lang="en-US">
              <a:solidFill>
                <a:srgbClr val="444444"/>
              </a:solidFill>
            </a:endParaRPr>
          </a:p>
          <a:p>
            <a:pPr lvl="1"/>
            <a:endParaRPr lang="en-US" dirty="0">
              <a:solidFill>
                <a:srgbClr val="444444"/>
              </a:solidFill>
            </a:endParaRPr>
          </a:p>
          <a:p>
            <a:pPr marL="285750" indent="-285750">
              <a:buFont typeface="Arial" panose="020B0604020202020204" pitchFamily="34" charset="0"/>
              <a:buChar char="•"/>
            </a:pPr>
            <a:r>
              <a:rPr lang="en-US"/>
              <a:t>BBC </a:t>
            </a:r>
            <a:r>
              <a:rPr lang="en-US" dirty="0"/>
              <a:t>R&amp;D (Marta </a:t>
            </a:r>
            <a:r>
              <a:rPr lang="en-US" dirty="0" err="1"/>
              <a:t>Mrak</a:t>
            </a:r>
            <a:r>
              <a:rPr lang="en-US" dirty="0"/>
              <a:t>):  </a:t>
            </a:r>
          </a:p>
          <a:p>
            <a:pPr marL="742950" lvl="1" indent="-285750">
              <a:buFont typeface="Arial" panose="020B0604020202020204" pitchFamily="34" charset="0"/>
              <a:buChar char="•"/>
            </a:pPr>
            <a:r>
              <a:rPr lang="en-US" dirty="0"/>
              <a:t>“HEVC and AV1 are similar; VCC 30% better”</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UHD bitrates similar to current HDTV;  storage: 2x as much</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316826300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D6303B0-42D1-4F1A-AC9D-5E8B811D6583}"/>
              </a:ext>
            </a:extLst>
          </p:cNvPr>
          <p:cNvSpPr/>
          <p:nvPr/>
        </p:nvSpPr>
        <p:spPr>
          <a:xfrm>
            <a:off x="385762" y="1336807"/>
            <a:ext cx="8372475" cy="4078039"/>
          </a:xfrm>
          <a:prstGeom prst="rect">
            <a:avLst/>
          </a:prstGeom>
        </p:spPr>
        <p:txBody>
          <a:bodyPr wrap="square">
            <a:spAutoFit/>
          </a:bodyPr>
          <a:lstStyle/>
          <a:p>
            <a:pPr>
              <a:lnSpc>
                <a:spcPct val="150000"/>
              </a:lnSpc>
            </a:pPr>
            <a:r>
              <a:rPr lang="en-US" sz="2000" b="1" dirty="0" err="1">
                <a:solidFill>
                  <a:srgbClr val="444444"/>
                </a:solidFill>
              </a:rPr>
              <a:t>Bitmovin</a:t>
            </a:r>
            <a:r>
              <a:rPr lang="en-US" sz="2000" b="1" dirty="0">
                <a:solidFill>
                  <a:srgbClr val="444444"/>
                </a:solidFill>
              </a:rPr>
              <a:t> - AV1 will be standard for future content - hi res, VR and AR </a:t>
            </a:r>
          </a:p>
          <a:p>
            <a:pPr>
              <a:lnSpc>
                <a:spcPct val="150000"/>
              </a:lnSpc>
            </a:pPr>
            <a:endParaRPr lang="en-US" sz="2000" b="1" dirty="0">
              <a:solidFill>
                <a:srgbClr val="444444"/>
              </a:solidFill>
            </a:endParaRPr>
          </a:p>
          <a:p>
            <a:pPr>
              <a:lnSpc>
                <a:spcPct val="150000"/>
              </a:lnSpc>
            </a:pPr>
            <a:r>
              <a:rPr lang="en-US" sz="2000" dirty="0">
                <a:solidFill>
                  <a:srgbClr val="444444"/>
                </a:solidFill>
              </a:rPr>
              <a:t>Others say - new codec needed </a:t>
            </a:r>
          </a:p>
          <a:p>
            <a:pPr marL="285750" indent="-285750">
              <a:lnSpc>
                <a:spcPct val="150000"/>
              </a:lnSpc>
              <a:buFont typeface="Arial" panose="020B0604020202020204" pitchFamily="34" charset="0"/>
              <a:buChar char="•"/>
            </a:pPr>
            <a:r>
              <a:rPr lang="en-US" sz="2000" dirty="0">
                <a:solidFill>
                  <a:srgbClr val="444444"/>
                </a:solidFill>
              </a:rPr>
              <a:t>data demands of 5G - ultra-high bandwidth low latency streaming - VR, 8K - need a new codec - AV1 is not designed for that </a:t>
            </a:r>
          </a:p>
          <a:p>
            <a:pPr marL="285750" indent="-285750">
              <a:lnSpc>
                <a:spcPct val="150000"/>
              </a:lnSpc>
              <a:buFont typeface="Arial" panose="020B0604020202020204" pitchFamily="34" charset="0"/>
              <a:buChar char="•"/>
            </a:pPr>
            <a:endParaRPr lang="en-US" dirty="0">
              <a:solidFill>
                <a:srgbClr val="444444"/>
              </a:solidFill>
            </a:endParaRPr>
          </a:p>
          <a:p>
            <a:pPr>
              <a:lnSpc>
                <a:spcPct val="150000"/>
              </a:lnSpc>
            </a:pPr>
            <a:endParaRPr lang="en-US" sz="1600" dirty="0">
              <a:solidFill>
                <a:srgbClr val="444444"/>
              </a:solidFill>
            </a:endParaRPr>
          </a:p>
        </p:txBody>
      </p:sp>
      <p:sp>
        <p:nvSpPr>
          <p:cNvPr id="4" name="TextBox 3">
            <a:extLst>
              <a:ext uri="{FF2B5EF4-FFF2-40B4-BE49-F238E27FC236}">
                <a16:creationId xmlns:a16="http://schemas.microsoft.com/office/drawing/2014/main" id="{A21ACBC3-C90C-44A7-BB4E-7BF5260415A9}"/>
              </a:ext>
            </a:extLst>
          </p:cNvPr>
          <p:cNvSpPr txBox="1"/>
          <p:nvPr/>
        </p:nvSpPr>
        <p:spPr>
          <a:xfrm>
            <a:off x="385762" y="333375"/>
            <a:ext cx="8227296" cy="461665"/>
          </a:xfrm>
          <a:prstGeom prst="rect">
            <a:avLst/>
          </a:prstGeom>
          <a:noFill/>
        </p:spPr>
        <p:txBody>
          <a:bodyPr wrap="square" rtlCol="0">
            <a:spAutoFit/>
          </a:bodyPr>
          <a:lstStyle/>
          <a:p>
            <a:r>
              <a:rPr lang="en-GB" sz="2400" b="1"/>
              <a:t>Codecs – Current, Emerging, Tensions in the Market</a:t>
            </a:r>
            <a:endParaRPr lang="en-GB" sz="2400" b="1" dirty="0"/>
          </a:p>
        </p:txBody>
      </p:sp>
    </p:spTree>
    <p:extLst>
      <p:ext uri="{BB962C8B-B14F-4D97-AF65-F5344CB8AC3E}">
        <p14:creationId xmlns:p14="http://schemas.microsoft.com/office/powerpoint/2010/main" val="324299225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0FF2C79-61E7-4F9C-BC7D-FBDC1C213D3B}"/>
              </a:ext>
            </a:extLst>
          </p:cNvPr>
          <p:cNvSpPr txBox="1"/>
          <p:nvPr/>
        </p:nvSpPr>
        <p:spPr>
          <a:xfrm>
            <a:off x="385762" y="333375"/>
            <a:ext cx="8227296" cy="461665"/>
          </a:xfrm>
          <a:prstGeom prst="rect">
            <a:avLst/>
          </a:prstGeom>
          <a:noFill/>
        </p:spPr>
        <p:txBody>
          <a:bodyPr wrap="square" rtlCol="0">
            <a:spAutoFit/>
          </a:bodyPr>
          <a:lstStyle/>
          <a:p>
            <a:r>
              <a:rPr lang="en-GB" sz="2400" b="1"/>
              <a:t>Codecs – Current, Emerging, Tensions in the Market</a:t>
            </a:r>
            <a:endParaRPr lang="en-GB" sz="2400" b="1" dirty="0"/>
          </a:p>
        </p:txBody>
      </p:sp>
      <p:sp>
        <p:nvSpPr>
          <p:cNvPr id="3" name="Rectangle 2">
            <a:extLst>
              <a:ext uri="{FF2B5EF4-FFF2-40B4-BE49-F238E27FC236}">
                <a16:creationId xmlns:a16="http://schemas.microsoft.com/office/drawing/2014/main" id="{8F7A2E61-4642-42BA-988E-3D9E6C8BB8EC}"/>
              </a:ext>
            </a:extLst>
          </p:cNvPr>
          <p:cNvSpPr/>
          <p:nvPr/>
        </p:nvSpPr>
        <p:spPr>
          <a:xfrm>
            <a:off x="385762" y="1050948"/>
            <a:ext cx="8372475" cy="4485843"/>
          </a:xfrm>
          <a:prstGeom prst="rect">
            <a:avLst/>
          </a:prstGeom>
        </p:spPr>
        <p:txBody>
          <a:bodyPr wrap="square">
            <a:spAutoFit/>
          </a:bodyPr>
          <a:lstStyle/>
          <a:p>
            <a:pPr>
              <a:lnSpc>
                <a:spcPct val="150000"/>
              </a:lnSpc>
            </a:pPr>
            <a:r>
              <a:rPr lang="en-US" sz="2000" b="1" dirty="0">
                <a:solidFill>
                  <a:srgbClr val="444444"/>
                </a:solidFill>
              </a:rPr>
              <a:t>EVC - Essential Video Coding</a:t>
            </a:r>
            <a:endParaRPr lang="en-US" dirty="0">
              <a:solidFill>
                <a:srgbClr val="444444"/>
              </a:solidFill>
            </a:endParaRPr>
          </a:p>
          <a:p>
            <a:pPr>
              <a:lnSpc>
                <a:spcPct val="150000"/>
              </a:lnSpc>
            </a:pPr>
            <a:r>
              <a:rPr lang="en-US" sz="1600" b="1" dirty="0">
                <a:solidFill>
                  <a:srgbClr val="444444"/>
                </a:solidFill>
              </a:rPr>
              <a:t>MPEG-5</a:t>
            </a:r>
          </a:p>
          <a:p>
            <a:pPr>
              <a:lnSpc>
                <a:spcPct val="150000"/>
              </a:lnSpc>
            </a:pPr>
            <a:r>
              <a:rPr lang="en-US" sz="1600" dirty="0">
                <a:solidFill>
                  <a:srgbClr val="444444"/>
                </a:solidFill>
              </a:rPr>
              <a:t>Extensible from Royalty free basic profiles</a:t>
            </a:r>
          </a:p>
          <a:p>
            <a:pPr>
              <a:lnSpc>
                <a:spcPct val="150000"/>
              </a:lnSpc>
            </a:pPr>
            <a:r>
              <a:rPr lang="en-US" sz="1600" dirty="0">
                <a:solidFill>
                  <a:srgbClr val="444444"/>
                </a:solidFill>
              </a:rPr>
              <a:t>to </a:t>
            </a:r>
          </a:p>
          <a:p>
            <a:pPr>
              <a:lnSpc>
                <a:spcPct val="150000"/>
              </a:lnSpc>
            </a:pPr>
            <a:r>
              <a:rPr lang="en-US" sz="1600" dirty="0">
                <a:solidFill>
                  <a:srgbClr val="444444"/>
                </a:solidFill>
              </a:rPr>
              <a:t>licensed more complex profiles</a:t>
            </a:r>
          </a:p>
          <a:p>
            <a:pPr>
              <a:lnSpc>
                <a:spcPct val="150000"/>
              </a:lnSpc>
            </a:pPr>
            <a:endParaRPr lang="en-US" sz="1600" dirty="0">
              <a:solidFill>
                <a:srgbClr val="444444"/>
              </a:solidFill>
            </a:endParaRPr>
          </a:p>
          <a:p>
            <a:pPr>
              <a:lnSpc>
                <a:spcPct val="150000"/>
              </a:lnSpc>
            </a:pPr>
            <a:endParaRPr lang="en-US" sz="1600" dirty="0">
              <a:solidFill>
                <a:srgbClr val="444444"/>
              </a:solidFill>
            </a:endParaRPr>
          </a:p>
          <a:p>
            <a:pPr>
              <a:lnSpc>
                <a:spcPct val="150000"/>
              </a:lnSpc>
            </a:pPr>
            <a:r>
              <a:rPr lang="en-US" sz="1600" dirty="0">
                <a:solidFill>
                  <a:srgbClr val="444444"/>
                </a:solidFill>
              </a:rPr>
              <a:t>also … </a:t>
            </a:r>
          </a:p>
          <a:p>
            <a:pPr>
              <a:lnSpc>
                <a:spcPct val="150000"/>
              </a:lnSpc>
            </a:pPr>
            <a:r>
              <a:rPr lang="en-US" sz="2000" b="1" dirty="0" err="1">
                <a:solidFill>
                  <a:srgbClr val="444444"/>
                </a:solidFill>
              </a:rPr>
              <a:t>NewTek</a:t>
            </a:r>
            <a:r>
              <a:rPr lang="en-US" sz="2000" b="1" dirty="0">
                <a:solidFill>
                  <a:srgbClr val="444444"/>
                </a:solidFill>
              </a:rPr>
              <a:t> </a:t>
            </a:r>
          </a:p>
          <a:p>
            <a:pPr>
              <a:lnSpc>
                <a:spcPct val="150000"/>
              </a:lnSpc>
            </a:pPr>
            <a:r>
              <a:rPr lang="en-US" sz="2000" b="1" dirty="0">
                <a:solidFill>
                  <a:srgbClr val="444444"/>
                </a:solidFill>
              </a:rPr>
              <a:t>NDI </a:t>
            </a:r>
            <a:r>
              <a:rPr lang="en-US" sz="1600" dirty="0">
                <a:solidFill>
                  <a:srgbClr val="444444"/>
                </a:solidFill>
              </a:rPr>
              <a:t>– Royalty Free s/w standard for video device intercommunication</a:t>
            </a:r>
          </a:p>
          <a:p>
            <a:pPr>
              <a:lnSpc>
                <a:spcPct val="150000"/>
              </a:lnSpc>
            </a:pPr>
            <a:r>
              <a:rPr lang="en-US" sz="2000" b="1" dirty="0">
                <a:solidFill>
                  <a:srgbClr val="444444"/>
                </a:solidFill>
              </a:rPr>
              <a:t>ND1- </a:t>
            </a:r>
            <a:r>
              <a:rPr lang="en-US" sz="1600" dirty="0">
                <a:solidFill>
                  <a:srgbClr val="444444"/>
                </a:solidFill>
              </a:rPr>
              <a:t>Codec - Low latency, ~4:1 UHD</a:t>
            </a:r>
          </a:p>
        </p:txBody>
      </p:sp>
    </p:spTree>
    <p:extLst>
      <p:ext uri="{BB962C8B-B14F-4D97-AF65-F5344CB8AC3E}">
        <p14:creationId xmlns:p14="http://schemas.microsoft.com/office/powerpoint/2010/main" val="289183543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95288" y="908720"/>
            <a:ext cx="8378825" cy="4339650"/>
          </a:xfrm>
          <a:prstGeom prst="rect">
            <a:avLst/>
          </a:prstGeom>
          <a:noFill/>
        </p:spPr>
        <p:txBody>
          <a:bodyPr wrap="square" rtlCol="0">
            <a:spAutoFit/>
          </a:bodyPr>
          <a:lstStyle/>
          <a:p>
            <a:r>
              <a:rPr lang="en-GB" sz="9600" dirty="0">
                <a:latin typeface="Lucida Sans Unicode" pitchFamily="34" charset="0"/>
                <a:cs typeface="Lucida Sans Unicode" pitchFamily="34" charset="0"/>
              </a:rPr>
              <a:t>Streaming</a:t>
            </a:r>
          </a:p>
          <a:p>
            <a:pPr marL="541338" indent="-541338">
              <a:buFont typeface="Arial" pitchFamily="34" charset="0"/>
              <a:buChar char="•"/>
            </a:pPr>
            <a:r>
              <a:rPr lang="en-GB" sz="6000" dirty="0">
                <a:latin typeface="Lucida Sans Unicode" pitchFamily="34" charset="0"/>
                <a:cs typeface="Lucida Sans Unicode" pitchFamily="34" charset="0"/>
              </a:rPr>
              <a:t>HTTP, HLS</a:t>
            </a:r>
          </a:p>
          <a:p>
            <a:pPr marL="998538" lvl="1" indent="-541338">
              <a:buFont typeface="Arial" pitchFamily="34" charset="0"/>
              <a:buChar char="•"/>
            </a:pPr>
            <a:r>
              <a:rPr lang="en-GB" sz="6000" dirty="0">
                <a:latin typeface="Lucida Sans Unicode" pitchFamily="34" charset="0"/>
                <a:cs typeface="Lucida Sans Unicode" pitchFamily="34" charset="0"/>
              </a:rPr>
              <a:t>MPEG-DASH</a:t>
            </a:r>
          </a:p>
          <a:p>
            <a:pPr marL="541338" indent="-541338">
              <a:buFont typeface="Arial" pitchFamily="34" charset="0"/>
              <a:buChar char="•"/>
            </a:pPr>
            <a:r>
              <a:rPr lang="en-GB" sz="6000" dirty="0">
                <a:latin typeface="Lucida Sans Unicode" pitchFamily="34" charset="0"/>
                <a:cs typeface="Lucida Sans Unicode" pitchFamily="34" charset="0"/>
              </a:rPr>
              <a:t>RTP/RTSP</a:t>
            </a:r>
          </a:p>
        </p:txBody>
      </p:sp>
    </p:spTree>
    <p:extLst>
      <p:ext uri="{BB962C8B-B14F-4D97-AF65-F5344CB8AC3E}">
        <p14:creationId xmlns:p14="http://schemas.microsoft.com/office/powerpoint/2010/main" val="131079692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5288" y="1223755"/>
            <a:ext cx="8114196" cy="1567096"/>
          </a:xfrm>
          <a:prstGeom prst="rect">
            <a:avLst/>
          </a:prstGeom>
        </p:spPr>
        <p:txBody>
          <a:bodyPr wrap="square">
            <a:spAutoFit/>
          </a:bodyPr>
          <a:lstStyle/>
          <a:p>
            <a:pPr marL="177800" indent="-177800">
              <a:lnSpc>
                <a:spcPts val="2300"/>
              </a:lnSpc>
            </a:pPr>
            <a:r>
              <a:rPr lang="en-GB" sz="1600" b="1" dirty="0"/>
              <a:t>The original solution for streaming</a:t>
            </a:r>
          </a:p>
          <a:p>
            <a:pPr lvl="1">
              <a:lnSpc>
                <a:spcPts val="2300"/>
              </a:lnSpc>
            </a:pPr>
            <a:r>
              <a:rPr lang="en-GB" sz="1600" dirty="0"/>
              <a:t>... overtaken by RTP/RTSP based for large IPTV deployments</a:t>
            </a:r>
          </a:p>
          <a:p>
            <a:pPr lvl="1">
              <a:lnSpc>
                <a:spcPts val="2300"/>
              </a:lnSpc>
            </a:pPr>
            <a:r>
              <a:rPr lang="en-GB" sz="1600" dirty="0"/>
              <a:t>	... more recently back in favour</a:t>
            </a:r>
          </a:p>
          <a:p>
            <a:pPr lvl="1">
              <a:lnSpc>
                <a:spcPts val="2300"/>
              </a:lnSpc>
            </a:pPr>
            <a:endParaRPr lang="en-GB" sz="1600" dirty="0"/>
          </a:p>
          <a:p>
            <a:pPr marL="177800" indent="-177800">
              <a:lnSpc>
                <a:spcPts val="2300"/>
              </a:lnSpc>
              <a:buFont typeface="Arial" pitchFamily="34" charset="0"/>
              <a:buChar char="•"/>
            </a:pPr>
            <a:r>
              <a:rPr lang="en-GB" sz="1600" dirty="0"/>
              <a:t>used generic HTTP servers (often based on Apache or Windows Server) </a:t>
            </a:r>
          </a:p>
        </p:txBody>
      </p:sp>
      <p:sp>
        <p:nvSpPr>
          <p:cNvPr id="3" name="TextBox 2"/>
          <p:cNvSpPr txBox="1"/>
          <p:nvPr/>
        </p:nvSpPr>
        <p:spPr>
          <a:xfrm>
            <a:off x="395288" y="331788"/>
            <a:ext cx="7389469" cy="461665"/>
          </a:xfrm>
          <a:prstGeom prst="rect">
            <a:avLst/>
          </a:prstGeom>
          <a:noFill/>
        </p:spPr>
        <p:txBody>
          <a:bodyPr wrap="square" rtlCol="0">
            <a:spAutoFit/>
          </a:bodyPr>
          <a:lstStyle/>
          <a:p>
            <a:pPr marL="180975" indent="-180975"/>
            <a:r>
              <a:rPr lang="en-GB" sz="2400" b="1" dirty="0"/>
              <a:t>HTTP Streaming</a:t>
            </a:r>
          </a:p>
        </p:txBody>
      </p:sp>
      <p:sp>
        <p:nvSpPr>
          <p:cNvPr id="4" name="Rectangle 3"/>
          <p:cNvSpPr/>
          <p:nvPr/>
        </p:nvSpPr>
        <p:spPr>
          <a:xfrm>
            <a:off x="395288" y="3248980"/>
            <a:ext cx="8002137" cy="2157001"/>
          </a:xfrm>
          <a:prstGeom prst="rect">
            <a:avLst/>
          </a:prstGeom>
        </p:spPr>
        <p:txBody>
          <a:bodyPr wrap="square">
            <a:spAutoFit/>
          </a:bodyPr>
          <a:lstStyle/>
          <a:p>
            <a:pPr marL="179388" indent="-179388">
              <a:lnSpc>
                <a:spcPts val="2300"/>
              </a:lnSpc>
            </a:pPr>
            <a:r>
              <a:rPr lang="en-GB" sz="1600" b="1" dirty="0"/>
              <a:t>Early days </a:t>
            </a:r>
          </a:p>
          <a:p>
            <a:pPr marL="182563" indent="-182563">
              <a:lnSpc>
                <a:spcPts val="2300"/>
              </a:lnSpc>
              <a:buFont typeface="Arial" pitchFamily="34" charset="0"/>
              <a:buChar char="•"/>
            </a:pPr>
            <a:r>
              <a:rPr lang="en-GB" sz="1600" dirty="0"/>
              <a:t>Limited bandwidth available </a:t>
            </a:r>
          </a:p>
          <a:p>
            <a:pPr marL="638175" lvl="2" indent="-179388">
              <a:lnSpc>
                <a:spcPts val="2300"/>
              </a:lnSpc>
              <a:buFont typeface="Arial" pitchFamily="34" charset="0"/>
              <a:buChar char="•"/>
            </a:pPr>
            <a:r>
              <a:rPr lang="en-GB" sz="1600" dirty="0"/>
              <a:t>“Download and play”  </a:t>
            </a:r>
          </a:p>
          <a:p>
            <a:pPr marL="1273175" lvl="4" indent="-179388">
              <a:lnSpc>
                <a:spcPts val="2300"/>
              </a:lnSpc>
              <a:buFont typeface="Arial" pitchFamily="34" charset="0"/>
              <a:buChar char="•"/>
            </a:pPr>
            <a:r>
              <a:rPr lang="en-GB" sz="1600" dirty="0"/>
              <a:t>no </a:t>
            </a:r>
            <a:r>
              <a:rPr lang="en-GB" sz="1600" i="1" dirty="0" err="1"/>
              <a:t>lookahead</a:t>
            </a:r>
            <a:r>
              <a:rPr lang="en-GB" sz="1600" i="1" dirty="0"/>
              <a:t> seeking  </a:t>
            </a:r>
            <a:r>
              <a:rPr lang="en-GB" sz="1600" dirty="0"/>
              <a:t>or random access</a:t>
            </a:r>
          </a:p>
          <a:p>
            <a:pPr marL="914400" lvl="3" indent="-277813">
              <a:lnSpc>
                <a:spcPts val="2300"/>
              </a:lnSpc>
              <a:buFont typeface="Arial" pitchFamily="34" charset="0"/>
              <a:buChar char="•"/>
            </a:pPr>
            <a:r>
              <a:rPr lang="en-GB" sz="1600" dirty="0"/>
              <a:t>Multiple viewers – server bandwidth issues</a:t>
            </a:r>
          </a:p>
          <a:p>
            <a:pPr marL="180975" indent="-179388">
              <a:lnSpc>
                <a:spcPts val="2300"/>
              </a:lnSpc>
              <a:buFont typeface="Arial" pitchFamily="34" charset="0"/>
              <a:buChar char="•"/>
            </a:pPr>
            <a:endParaRPr lang="en-GB" sz="1600" dirty="0"/>
          </a:p>
          <a:p>
            <a:pPr marL="180975" indent="-179388">
              <a:lnSpc>
                <a:spcPts val="2300"/>
              </a:lnSpc>
              <a:buFont typeface="Arial" pitchFamily="34" charset="0"/>
              <a:buChar char="•"/>
            </a:pPr>
            <a:r>
              <a:rPr lang="en-GB" sz="1600" dirty="0"/>
              <a:t>Apple introduce progressive download</a:t>
            </a:r>
          </a:p>
        </p:txBody>
      </p:sp>
    </p:spTree>
    <p:extLst>
      <p:ext uri="{BB962C8B-B14F-4D97-AF65-F5344CB8AC3E}">
        <p14:creationId xmlns:p14="http://schemas.microsoft.com/office/powerpoint/2010/main" val="374922845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3700" y="813645"/>
            <a:ext cx="8090342" cy="3029676"/>
          </a:xfrm>
          <a:prstGeom prst="rect">
            <a:avLst/>
          </a:prstGeom>
        </p:spPr>
        <p:txBody>
          <a:bodyPr wrap="square">
            <a:spAutoFit/>
          </a:bodyPr>
          <a:lstStyle/>
          <a:p>
            <a:pPr marL="179388" indent="-179388">
              <a:lnSpc>
                <a:spcPts val="2300"/>
              </a:lnSpc>
            </a:pPr>
            <a:r>
              <a:rPr lang="en-GB" sz="1600" b="1" dirty="0"/>
              <a:t>HTTP server/client – </a:t>
            </a:r>
            <a:r>
              <a:rPr lang="en-GB" sz="1600" b="1" i="1" dirty="0"/>
              <a:t>stateless</a:t>
            </a:r>
          </a:p>
          <a:p>
            <a:pPr marL="182563" lvl="1" indent="-182563">
              <a:lnSpc>
                <a:spcPts val="2300"/>
              </a:lnSpc>
              <a:buFont typeface="Arial" pitchFamily="34" charset="0"/>
              <a:buChar char="•"/>
            </a:pPr>
            <a:r>
              <a:rPr lang="en-GB" sz="1600" dirty="0"/>
              <a:t>HTTP-streaming: retrieves consecutive short chunks on as-needed basis</a:t>
            </a:r>
          </a:p>
          <a:p>
            <a:pPr marL="895350" lvl="3" indent="-182563">
              <a:lnSpc>
                <a:spcPts val="2300"/>
              </a:lnSpc>
              <a:buFont typeface="Arial" pitchFamily="34" charset="0"/>
              <a:buChar char="•"/>
            </a:pPr>
            <a:r>
              <a:rPr lang="en-GB" sz="1600" dirty="0"/>
              <a:t>little waste (the video is delivered as it is watched) </a:t>
            </a:r>
          </a:p>
          <a:p>
            <a:pPr marL="895350" lvl="5" indent="-182563">
              <a:lnSpc>
                <a:spcPts val="2300"/>
              </a:lnSpc>
              <a:buFont typeface="Arial" pitchFamily="34" charset="0"/>
              <a:buChar char="•"/>
            </a:pPr>
            <a:r>
              <a:rPr lang="en-GB" sz="1600" dirty="0"/>
              <a:t>server efficiently serves more streams</a:t>
            </a:r>
          </a:p>
          <a:p>
            <a:pPr marL="895350" lvl="3" indent="-182563">
              <a:lnSpc>
                <a:spcPts val="2300"/>
              </a:lnSpc>
              <a:buFont typeface="Arial" pitchFamily="34" charset="0"/>
              <a:buChar char="•"/>
            </a:pPr>
            <a:r>
              <a:rPr lang="en-GB" sz="1600" dirty="0"/>
              <a:t>Random seeking</a:t>
            </a:r>
          </a:p>
          <a:p>
            <a:pPr marL="1169987" lvl="4">
              <a:lnSpc>
                <a:spcPts val="2300"/>
              </a:lnSpc>
            </a:pPr>
            <a:r>
              <a:rPr lang="en-GB" sz="1600" dirty="0"/>
              <a:t>(viewer selects – player retrieves the appropriate chunks)</a:t>
            </a:r>
          </a:p>
          <a:p>
            <a:pPr marL="895350" lvl="2" indent="-182563">
              <a:lnSpc>
                <a:spcPts val="2300"/>
              </a:lnSpc>
              <a:buFont typeface="Arial" pitchFamily="34" charset="0"/>
              <a:buChar char="•"/>
            </a:pPr>
            <a:r>
              <a:rPr lang="en-GB" sz="1600" dirty="0"/>
              <a:t>firewall friendly </a:t>
            </a:r>
          </a:p>
          <a:p>
            <a:pPr marL="895350" lvl="2" indent="-182563">
              <a:lnSpc>
                <a:spcPts val="2300"/>
              </a:lnSpc>
              <a:buFont typeface="Arial" pitchFamily="34" charset="0"/>
              <a:buChar char="•"/>
            </a:pPr>
            <a:r>
              <a:rPr lang="en-GB" sz="1600" dirty="0"/>
              <a:t>can utilise HTTP caching mechanisms</a:t>
            </a:r>
          </a:p>
          <a:p>
            <a:pPr marL="895350" lvl="2" indent="-182563">
              <a:lnSpc>
                <a:spcPts val="2300"/>
              </a:lnSpc>
              <a:buFont typeface="Arial" pitchFamily="34" charset="0"/>
              <a:buChar char="•"/>
            </a:pPr>
            <a:r>
              <a:rPr lang="en-GB" sz="1600" dirty="0"/>
              <a:t>less expensive to implement (no streaming server required)</a:t>
            </a:r>
          </a:p>
          <a:p>
            <a:pPr marL="895350" lvl="3" indent="-182563">
              <a:lnSpc>
                <a:spcPts val="2300"/>
              </a:lnSpc>
              <a:buFont typeface="Arial" pitchFamily="34" charset="0"/>
              <a:buChar char="•"/>
            </a:pPr>
            <a:r>
              <a:rPr lang="en-GB" sz="1600" dirty="0"/>
              <a:t>scale more cheaply and effectively to serve available users</a:t>
            </a:r>
            <a:endParaRPr lang="en-GB" sz="1600" b="1" dirty="0">
              <a:latin typeface="Lucida Sans Unicode" pitchFamily="34" charset="0"/>
            </a:endParaRPr>
          </a:p>
        </p:txBody>
      </p:sp>
      <p:sp>
        <p:nvSpPr>
          <p:cNvPr id="3" name="Rectangle 2"/>
          <p:cNvSpPr/>
          <p:nvPr/>
        </p:nvSpPr>
        <p:spPr>
          <a:xfrm>
            <a:off x="393700" y="331788"/>
            <a:ext cx="8079456" cy="461665"/>
          </a:xfrm>
          <a:prstGeom prst="rect">
            <a:avLst/>
          </a:prstGeom>
        </p:spPr>
        <p:txBody>
          <a:bodyPr wrap="none">
            <a:spAutoFit/>
          </a:bodyPr>
          <a:lstStyle/>
          <a:p>
            <a:r>
              <a:rPr lang="en-GB" sz="2400" b="1" dirty="0"/>
              <a:t>Streaming Media Protocols </a:t>
            </a:r>
            <a:r>
              <a:rPr lang="en-GB" sz="2000" b="1" dirty="0"/>
              <a:t>– HTTP addresses RTMP Issues</a:t>
            </a:r>
            <a:endParaRPr lang="en-GB" sz="2000" dirty="0"/>
          </a:p>
        </p:txBody>
      </p:sp>
      <p:sp>
        <p:nvSpPr>
          <p:cNvPr id="4" name="Rectangle 3"/>
          <p:cNvSpPr/>
          <p:nvPr/>
        </p:nvSpPr>
        <p:spPr>
          <a:xfrm>
            <a:off x="395288" y="4329100"/>
            <a:ext cx="8465581" cy="1538883"/>
          </a:xfrm>
          <a:prstGeom prst="rect">
            <a:avLst/>
          </a:prstGeom>
          <a:solidFill>
            <a:srgbClr val="FFFFCC"/>
          </a:solidFill>
        </p:spPr>
        <p:txBody>
          <a:bodyPr wrap="square">
            <a:spAutoFit/>
          </a:bodyPr>
          <a:lstStyle/>
          <a:p>
            <a:pPr>
              <a:lnSpc>
                <a:spcPct val="150000"/>
              </a:lnSpc>
            </a:pPr>
            <a:r>
              <a:rPr lang="en-GB" sz="1600" b="1" dirty="0"/>
              <a:t>RTMP/RTSP/HTTP – state of the market</a:t>
            </a:r>
          </a:p>
          <a:p>
            <a:pPr marL="182563" indent="-182563">
              <a:lnSpc>
                <a:spcPct val="150000"/>
              </a:lnSpc>
              <a:buFont typeface="Arial" pitchFamily="34" charset="0"/>
              <a:buChar char="•"/>
            </a:pPr>
            <a:r>
              <a:rPr lang="en-GB" sz="1600" dirty="0"/>
              <a:t>little impetus for RTMP/RTSP sites to change –still widely used</a:t>
            </a:r>
          </a:p>
          <a:p>
            <a:pPr marL="179388" indent="-179388">
              <a:lnSpc>
                <a:spcPct val="150000"/>
              </a:lnSpc>
              <a:buFont typeface="Arial" pitchFamily="34" charset="0"/>
              <a:buChar char="•"/>
            </a:pPr>
            <a:r>
              <a:rPr lang="en-GB" sz="1600" dirty="0"/>
              <a:t>new installations - overwhelming view – HTTP</a:t>
            </a:r>
          </a:p>
          <a:p>
            <a:pPr marL="179388" indent="-179388">
              <a:lnSpc>
                <a:spcPct val="150000"/>
              </a:lnSpc>
              <a:buFont typeface="Arial" pitchFamily="34" charset="0"/>
              <a:buChar char="•"/>
            </a:pPr>
            <a:r>
              <a:rPr lang="en-GB" sz="1600" dirty="0"/>
              <a:t>in fact most video content is delivered via plain old HTTP </a:t>
            </a:r>
            <a:r>
              <a:rPr lang="en-GB" sz="1600" i="1" dirty="0"/>
              <a:t>progressive download</a:t>
            </a:r>
          </a:p>
        </p:txBody>
      </p:sp>
    </p:spTree>
    <p:extLst>
      <p:ext uri="{BB962C8B-B14F-4D97-AF65-F5344CB8AC3E}">
        <p14:creationId xmlns:p14="http://schemas.microsoft.com/office/powerpoint/2010/main" val="48977957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94283" y="1043735"/>
            <a:ext cx="1027368" cy="720080"/>
          </a:xfrm>
          <a:prstGeom prst="rect">
            <a:avLst/>
          </a:prstGeom>
          <a:solidFill>
            <a:schemeClr val="accent5">
              <a:lumMod val="20000"/>
              <a:lumOff val="80000"/>
            </a:schemeClr>
          </a:solidFill>
          <a:ln>
            <a:solidFill>
              <a:schemeClr val="accent1"/>
            </a:solidFill>
          </a:ln>
        </p:spPr>
        <p:txBody>
          <a:bodyPr wrap="square" rtlCol="0">
            <a:noAutofit/>
          </a:bodyPr>
          <a:lstStyle/>
          <a:p>
            <a:pPr algn="ctr"/>
            <a:endParaRPr lang="en-GB" sz="1600">
              <a:latin typeface="Lucida Sans Unicode" pitchFamily="34" charset="0"/>
            </a:endParaRPr>
          </a:p>
          <a:p>
            <a:pPr algn="ctr"/>
            <a:r>
              <a:rPr lang="en-GB" sz="1600">
                <a:latin typeface="Lucida Sans Unicode" pitchFamily="34" charset="0"/>
              </a:rPr>
              <a:t>Client</a:t>
            </a:r>
            <a:endParaRPr lang="en-GB" sz="1600" dirty="0">
              <a:latin typeface="Lucida Sans Unicode" pitchFamily="34" charset="0"/>
            </a:endParaRPr>
          </a:p>
        </p:txBody>
      </p:sp>
      <p:sp>
        <p:nvSpPr>
          <p:cNvPr id="3" name="TextBox 2"/>
          <p:cNvSpPr txBox="1"/>
          <p:nvPr/>
        </p:nvSpPr>
        <p:spPr>
          <a:xfrm>
            <a:off x="4058316" y="1043735"/>
            <a:ext cx="1027368" cy="720080"/>
          </a:xfrm>
          <a:prstGeom prst="rect">
            <a:avLst/>
          </a:prstGeom>
          <a:solidFill>
            <a:schemeClr val="accent5">
              <a:lumMod val="20000"/>
              <a:lumOff val="80000"/>
            </a:schemeClr>
          </a:solidFill>
          <a:ln>
            <a:solidFill>
              <a:schemeClr val="accent1"/>
            </a:solidFill>
          </a:ln>
        </p:spPr>
        <p:txBody>
          <a:bodyPr wrap="square" rtlCol="0">
            <a:noAutofit/>
          </a:bodyPr>
          <a:lstStyle/>
          <a:p>
            <a:pPr algn="ctr"/>
            <a:endParaRPr lang="en-GB" sz="1600">
              <a:latin typeface="Lucida Sans Unicode" pitchFamily="34" charset="0"/>
            </a:endParaRPr>
          </a:p>
          <a:p>
            <a:pPr algn="ctr"/>
            <a:r>
              <a:rPr lang="en-GB" sz="1600">
                <a:latin typeface="Lucida Sans Unicode" pitchFamily="34" charset="0"/>
              </a:rPr>
              <a:t>Server</a:t>
            </a:r>
            <a:endParaRPr lang="en-GB" sz="1600" dirty="0">
              <a:latin typeface="Lucida Sans Unicode" pitchFamily="34" charset="0"/>
            </a:endParaRPr>
          </a:p>
        </p:txBody>
      </p:sp>
      <p:cxnSp>
        <p:nvCxnSpPr>
          <p:cNvPr id="5" name="Straight Arrow Connector 4"/>
          <p:cNvCxnSpPr>
            <a:cxnSpLocks/>
          </p:cNvCxnSpPr>
          <p:nvPr/>
        </p:nvCxnSpPr>
        <p:spPr>
          <a:xfrm>
            <a:off x="881590" y="2348880"/>
            <a:ext cx="369041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2074223" y="2036747"/>
            <a:ext cx="1305145" cy="338554"/>
          </a:xfrm>
          <a:prstGeom prst="rect">
            <a:avLst/>
          </a:prstGeom>
          <a:noFill/>
        </p:spPr>
        <p:txBody>
          <a:bodyPr wrap="square" rtlCol="0">
            <a:spAutoFit/>
          </a:bodyPr>
          <a:lstStyle/>
          <a:p>
            <a:pPr algn="ctr"/>
            <a:r>
              <a:rPr lang="en-GB" sz="1600">
                <a:latin typeface="Lucida Sans Unicode" pitchFamily="34" charset="0"/>
              </a:rPr>
              <a:t>http GET</a:t>
            </a:r>
            <a:endParaRPr lang="en-GB" sz="1600" dirty="0">
              <a:latin typeface="Lucida Sans Unicode" pitchFamily="34" charset="0"/>
            </a:endParaRPr>
          </a:p>
        </p:txBody>
      </p:sp>
      <p:cxnSp>
        <p:nvCxnSpPr>
          <p:cNvPr id="8" name="Straight Arrow Connector 7"/>
          <p:cNvCxnSpPr>
            <a:cxnSpLocks/>
          </p:cNvCxnSpPr>
          <p:nvPr/>
        </p:nvCxnSpPr>
        <p:spPr>
          <a:xfrm flipH="1">
            <a:off x="883824" y="2962237"/>
            <a:ext cx="369041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cxnSpLocks/>
          </p:cNvCxnSpPr>
          <p:nvPr/>
        </p:nvCxnSpPr>
        <p:spPr>
          <a:xfrm flipH="1">
            <a:off x="883824" y="4104401"/>
            <a:ext cx="369041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2079976" y="3206013"/>
            <a:ext cx="1305145" cy="338554"/>
          </a:xfrm>
          <a:prstGeom prst="rect">
            <a:avLst/>
          </a:prstGeom>
          <a:noFill/>
        </p:spPr>
        <p:txBody>
          <a:bodyPr wrap="square" rtlCol="0">
            <a:spAutoFit/>
          </a:bodyPr>
          <a:lstStyle/>
          <a:p>
            <a:pPr algn="ctr"/>
            <a:r>
              <a:rPr lang="en-GB" sz="1600">
                <a:latin typeface="Lucida Sans Unicode" pitchFamily="34" charset="0"/>
              </a:rPr>
              <a:t>http GET</a:t>
            </a:r>
            <a:endParaRPr lang="en-GB" sz="1600" dirty="0">
              <a:latin typeface="Lucida Sans Unicode" pitchFamily="34" charset="0"/>
            </a:endParaRPr>
          </a:p>
        </p:txBody>
      </p:sp>
      <p:cxnSp>
        <p:nvCxnSpPr>
          <p:cNvPr id="12" name="Straight Arrow Connector 11"/>
          <p:cNvCxnSpPr>
            <a:cxnSpLocks/>
          </p:cNvCxnSpPr>
          <p:nvPr/>
        </p:nvCxnSpPr>
        <p:spPr>
          <a:xfrm>
            <a:off x="883824" y="3522071"/>
            <a:ext cx="369041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5225046" y="808430"/>
            <a:ext cx="3570457" cy="5262979"/>
          </a:xfrm>
          <a:prstGeom prst="rect">
            <a:avLst/>
          </a:prstGeom>
          <a:noFill/>
        </p:spPr>
        <p:txBody>
          <a:bodyPr wrap="square" rtlCol="0">
            <a:spAutoFit/>
          </a:bodyPr>
          <a:lstStyle/>
          <a:p>
            <a:r>
              <a:rPr lang="en-GB" sz="1600" b="1"/>
              <a:t>Segment timing:</a:t>
            </a:r>
          </a:p>
          <a:p>
            <a:pPr marL="180975" indent="-180975">
              <a:buFont typeface="Arial" panose="020B0604020202020204" pitchFamily="34" charset="0"/>
              <a:buChar char="•"/>
            </a:pPr>
            <a:r>
              <a:rPr lang="en-GB" sz="1600"/>
              <a:t>10 seconds = reasonable balance for most broadcast content</a:t>
            </a:r>
            <a:endParaRPr lang="en-GB" sz="1200">
              <a:latin typeface="Lucida Sans Unicode" pitchFamily="34" charset="0"/>
            </a:endParaRPr>
          </a:p>
          <a:p>
            <a:pPr marL="180975" indent="-180975">
              <a:buFont typeface="Arial" panose="020B0604020202020204" pitchFamily="34" charset="0"/>
              <a:buChar char="•"/>
            </a:pPr>
            <a:r>
              <a:rPr lang="en-GB" sz="1600"/>
              <a:t>Shorter segments </a:t>
            </a:r>
          </a:p>
          <a:p>
            <a:pPr marL="180975"/>
            <a:r>
              <a:rPr lang="en-GB" sz="1600"/>
              <a:t>= more frequent refreshes of the index file</a:t>
            </a:r>
          </a:p>
          <a:p>
            <a:pPr marL="180975"/>
            <a:r>
              <a:rPr lang="en-GB" sz="1600"/>
              <a:t>.. unnecessary network overhead for the client</a:t>
            </a:r>
          </a:p>
          <a:p>
            <a:pPr marL="180975" indent="-180975">
              <a:buFont typeface="Arial" panose="020B0604020202020204" pitchFamily="34" charset="0"/>
              <a:buChar char="•"/>
            </a:pPr>
            <a:r>
              <a:rPr lang="en-GB" sz="1600"/>
              <a:t>Longer segments </a:t>
            </a:r>
          </a:p>
          <a:p>
            <a:pPr marL="180975"/>
            <a:r>
              <a:rPr lang="en-GB" sz="1600"/>
              <a:t>= latency and initial startup time</a:t>
            </a:r>
          </a:p>
          <a:p>
            <a:pPr marL="180975"/>
            <a:endParaRPr lang="en-GB" sz="1600"/>
          </a:p>
          <a:p>
            <a:r>
              <a:rPr lang="en-GB" sz="1600" b="1"/>
              <a:t>Media Formats</a:t>
            </a:r>
          </a:p>
          <a:p>
            <a:pPr marL="180975"/>
            <a:r>
              <a:rPr lang="en-GB" sz="1600"/>
              <a:t>e.g. video: H.264 / VP9, </a:t>
            </a:r>
          </a:p>
          <a:p>
            <a:pPr lvl="1"/>
            <a:r>
              <a:rPr lang="en-GB" sz="1600"/>
              <a:t>audio: .aac / Opus, etc</a:t>
            </a:r>
          </a:p>
          <a:p>
            <a:pPr marL="180975" lvl="1" indent="-180975">
              <a:buFont typeface="Arial" panose="020B0604020202020204" pitchFamily="34" charset="0"/>
              <a:buChar char="•"/>
            </a:pPr>
            <a:r>
              <a:rPr lang="en-GB" sz="1600"/>
              <a:t>video + audio file segments unwrapped</a:t>
            </a:r>
          </a:p>
          <a:p>
            <a:pPr marL="180975" lvl="1"/>
            <a:r>
              <a:rPr lang="en-GB" sz="1600"/>
              <a:t>… but certain applications – </a:t>
            </a:r>
          </a:p>
          <a:p>
            <a:pPr marL="180975" lvl="1"/>
            <a:r>
              <a:rPr lang="en-GB" sz="1600"/>
              <a:t>can be wrapped in MPEG-TS (DVB)</a:t>
            </a:r>
          </a:p>
        </p:txBody>
      </p:sp>
      <p:cxnSp>
        <p:nvCxnSpPr>
          <p:cNvPr id="17" name="Straight Connector 16"/>
          <p:cNvCxnSpPr>
            <a:cxnSpLocks/>
          </p:cNvCxnSpPr>
          <p:nvPr/>
        </p:nvCxnSpPr>
        <p:spPr>
          <a:xfrm>
            <a:off x="881590" y="1748846"/>
            <a:ext cx="0" cy="3088632"/>
          </a:xfrm>
          <a:prstGeom prst="line">
            <a:avLst/>
          </a:prstGeom>
          <a:ln>
            <a:solidFill>
              <a:schemeClr val="accent1"/>
            </a:solidFill>
            <a:prstDash val="lgDash"/>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a:cxnSpLocks/>
          </p:cNvCxnSpPr>
          <p:nvPr/>
        </p:nvCxnSpPr>
        <p:spPr>
          <a:xfrm>
            <a:off x="4572000" y="1763815"/>
            <a:ext cx="0" cy="3088632"/>
          </a:xfrm>
          <a:prstGeom prst="line">
            <a:avLst/>
          </a:prstGeom>
          <a:ln>
            <a:solidFill>
              <a:schemeClr val="accent1"/>
            </a:solidFill>
            <a:prstDash val="lgDash"/>
          </a:ln>
        </p:spPr>
        <p:style>
          <a:lnRef idx="1">
            <a:schemeClr val="accent1"/>
          </a:lnRef>
          <a:fillRef idx="0">
            <a:schemeClr val="accent1"/>
          </a:fillRef>
          <a:effectRef idx="0">
            <a:schemeClr val="accent1"/>
          </a:effectRef>
          <a:fontRef idx="minor">
            <a:schemeClr val="tx1"/>
          </a:fontRef>
        </p:style>
      </p:cxnSp>
      <p:grpSp>
        <p:nvGrpSpPr>
          <p:cNvPr id="23" name="Group 22"/>
          <p:cNvGrpSpPr/>
          <p:nvPr/>
        </p:nvGrpSpPr>
        <p:grpSpPr>
          <a:xfrm>
            <a:off x="1279522" y="2404592"/>
            <a:ext cx="2410799" cy="686000"/>
            <a:chOff x="1534796" y="2764632"/>
            <a:chExt cx="2410799" cy="686000"/>
          </a:xfrm>
        </p:grpSpPr>
        <p:sp>
          <p:nvSpPr>
            <p:cNvPr id="9" name="TextBox 8"/>
            <p:cNvSpPr txBox="1"/>
            <p:nvPr/>
          </p:nvSpPr>
          <p:spPr>
            <a:xfrm>
              <a:off x="2023010" y="2933945"/>
              <a:ext cx="1922585" cy="338554"/>
            </a:xfrm>
            <a:prstGeom prst="rect">
              <a:avLst/>
            </a:prstGeom>
            <a:solidFill>
              <a:schemeClr val="bg1">
                <a:lumMod val="85000"/>
              </a:schemeClr>
            </a:solidFill>
          </p:spPr>
          <p:txBody>
            <a:bodyPr wrap="square" rtlCol="0">
              <a:spAutoFit/>
            </a:bodyPr>
            <a:lstStyle/>
            <a:p>
              <a:pPr algn="ctr"/>
              <a:r>
                <a:rPr lang="en-GB" sz="1600">
                  <a:latin typeface="Lucida Sans Unicode" pitchFamily="34" charset="0"/>
                </a:rPr>
                <a:t>Audio segment</a:t>
              </a:r>
              <a:endParaRPr lang="en-GB" sz="1600" dirty="0">
                <a:latin typeface="Lucida Sans Unicode" pitchFamily="34" charset="0"/>
              </a:endParaRPr>
            </a:p>
          </p:txBody>
        </p:sp>
        <p:sp>
          <p:nvSpPr>
            <p:cNvPr id="20" name="Arrow: Right 19"/>
            <p:cNvSpPr/>
            <p:nvPr/>
          </p:nvSpPr>
          <p:spPr>
            <a:xfrm flipH="1">
              <a:off x="1534796" y="2764632"/>
              <a:ext cx="495055" cy="686000"/>
            </a:xfrm>
            <a:prstGeom prst="rightArrow">
              <a:avLst>
                <a:gd name="adj1" fmla="val 50000"/>
                <a:gd name="adj2" fmla="val 79025"/>
              </a:avLst>
            </a:prstGeom>
            <a:solidFill>
              <a:schemeClr val="bg1">
                <a:lumMod val="85000"/>
              </a:schemeClr>
            </a:solidFill>
            <a:ln>
              <a:noFill/>
            </a:ln>
          </p:spPr>
          <p:txBody>
            <a:bodyPr wrap="square" rtlCol="0" anchor="ctr">
              <a:noAutofit/>
            </a:bodyPr>
            <a:lstStyle/>
            <a:p>
              <a:pPr algn="ctr"/>
              <a:endParaRPr lang="en-GB" sz="1600" b="1" dirty="0"/>
            </a:p>
          </p:txBody>
        </p:sp>
      </p:grpSp>
      <p:grpSp>
        <p:nvGrpSpPr>
          <p:cNvPr id="22" name="Group 21"/>
          <p:cNvGrpSpPr/>
          <p:nvPr/>
        </p:nvGrpSpPr>
        <p:grpSpPr>
          <a:xfrm>
            <a:off x="1279522" y="3528274"/>
            <a:ext cx="2417640" cy="686000"/>
            <a:chOff x="1534796" y="3888314"/>
            <a:chExt cx="2417640" cy="686000"/>
          </a:xfrm>
        </p:grpSpPr>
        <p:sp>
          <p:nvSpPr>
            <p:cNvPr id="13" name="TextBox 12"/>
            <p:cNvSpPr txBox="1"/>
            <p:nvPr/>
          </p:nvSpPr>
          <p:spPr>
            <a:xfrm>
              <a:off x="2029851" y="4059070"/>
              <a:ext cx="1922585" cy="338554"/>
            </a:xfrm>
            <a:prstGeom prst="rect">
              <a:avLst/>
            </a:prstGeom>
            <a:solidFill>
              <a:schemeClr val="bg1">
                <a:lumMod val="85000"/>
              </a:schemeClr>
            </a:solidFill>
          </p:spPr>
          <p:txBody>
            <a:bodyPr wrap="square" rtlCol="0">
              <a:spAutoFit/>
            </a:bodyPr>
            <a:lstStyle/>
            <a:p>
              <a:pPr algn="ctr"/>
              <a:r>
                <a:rPr lang="en-GB" sz="1600">
                  <a:latin typeface="Lucida Sans Unicode" pitchFamily="34" charset="0"/>
                </a:rPr>
                <a:t>Video segment</a:t>
              </a:r>
              <a:endParaRPr lang="en-GB" sz="1600" dirty="0">
                <a:latin typeface="Lucida Sans Unicode" pitchFamily="34" charset="0"/>
              </a:endParaRPr>
            </a:p>
          </p:txBody>
        </p:sp>
        <p:sp>
          <p:nvSpPr>
            <p:cNvPr id="21" name="Arrow: Right 20"/>
            <p:cNvSpPr/>
            <p:nvPr/>
          </p:nvSpPr>
          <p:spPr>
            <a:xfrm flipH="1">
              <a:off x="1534796" y="3888314"/>
              <a:ext cx="495055" cy="686000"/>
            </a:xfrm>
            <a:prstGeom prst="rightArrow">
              <a:avLst>
                <a:gd name="adj1" fmla="val 50000"/>
                <a:gd name="adj2" fmla="val 79025"/>
              </a:avLst>
            </a:prstGeom>
            <a:solidFill>
              <a:schemeClr val="bg1">
                <a:lumMod val="85000"/>
              </a:schemeClr>
            </a:solidFill>
            <a:ln>
              <a:noFill/>
            </a:ln>
          </p:spPr>
          <p:txBody>
            <a:bodyPr wrap="square" rtlCol="0" anchor="ctr">
              <a:noAutofit/>
            </a:bodyPr>
            <a:lstStyle/>
            <a:p>
              <a:pPr algn="ctr"/>
              <a:endParaRPr lang="en-GB" sz="1600" b="1" dirty="0"/>
            </a:p>
          </p:txBody>
        </p:sp>
      </p:grpSp>
      <p:sp>
        <p:nvSpPr>
          <p:cNvPr id="24" name="TextBox 23"/>
          <p:cNvSpPr txBox="1"/>
          <p:nvPr/>
        </p:nvSpPr>
        <p:spPr>
          <a:xfrm>
            <a:off x="2014721" y="4316232"/>
            <a:ext cx="1305145" cy="338554"/>
          </a:xfrm>
          <a:prstGeom prst="rect">
            <a:avLst/>
          </a:prstGeom>
          <a:noFill/>
        </p:spPr>
        <p:txBody>
          <a:bodyPr wrap="square" rtlCol="0">
            <a:spAutoFit/>
          </a:bodyPr>
          <a:lstStyle/>
          <a:p>
            <a:pPr algn="ctr"/>
            <a:r>
              <a:rPr lang="en-GB" sz="1600">
                <a:latin typeface="Lucida Sans Unicode" pitchFamily="34" charset="0"/>
              </a:rPr>
              <a:t>etc</a:t>
            </a:r>
            <a:endParaRPr lang="en-GB" sz="1600" dirty="0">
              <a:latin typeface="Lucida Sans Unicode" pitchFamily="34" charset="0"/>
            </a:endParaRPr>
          </a:p>
        </p:txBody>
      </p:sp>
      <p:cxnSp>
        <p:nvCxnSpPr>
          <p:cNvPr id="25" name="Straight Connector 24"/>
          <p:cNvCxnSpPr>
            <a:cxnSpLocks/>
          </p:cNvCxnSpPr>
          <p:nvPr/>
        </p:nvCxnSpPr>
        <p:spPr>
          <a:xfrm>
            <a:off x="2660236" y="4732867"/>
            <a:ext cx="14114" cy="1081398"/>
          </a:xfrm>
          <a:prstGeom prst="line">
            <a:avLst/>
          </a:prstGeom>
          <a:ln>
            <a:solidFill>
              <a:schemeClr val="accent1"/>
            </a:solidFill>
            <a:prstDash val="lgDash"/>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393700" y="331788"/>
            <a:ext cx="2579552" cy="461665"/>
          </a:xfrm>
          <a:prstGeom prst="rect">
            <a:avLst/>
          </a:prstGeom>
        </p:spPr>
        <p:txBody>
          <a:bodyPr wrap="none">
            <a:spAutoFit/>
          </a:bodyPr>
          <a:lstStyle/>
          <a:p>
            <a:r>
              <a:rPr lang="en-GB" sz="2400" b="1"/>
              <a:t>HTTP Streaming</a:t>
            </a:r>
            <a:endParaRPr lang="en-GB" sz="2000" dirty="0"/>
          </a:p>
        </p:txBody>
      </p:sp>
    </p:spTree>
    <p:extLst>
      <p:ext uri="{BB962C8B-B14F-4D97-AF65-F5344CB8AC3E}">
        <p14:creationId xmlns:p14="http://schemas.microsoft.com/office/powerpoint/2010/main" val="210767419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Article4a.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66755" y="1133745"/>
            <a:ext cx="6695327" cy="532667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393700" y="331788"/>
            <a:ext cx="4190571" cy="461665"/>
          </a:xfrm>
          <a:prstGeom prst="rect">
            <a:avLst/>
          </a:prstGeom>
        </p:spPr>
        <p:txBody>
          <a:bodyPr wrap="none">
            <a:spAutoFit/>
          </a:bodyPr>
          <a:lstStyle/>
          <a:p>
            <a:r>
              <a:rPr lang="en-GB" sz="2400" b="1" dirty="0"/>
              <a:t>HTTP Live Streaming - HLS</a:t>
            </a:r>
          </a:p>
        </p:txBody>
      </p:sp>
      <p:sp>
        <p:nvSpPr>
          <p:cNvPr id="4" name="Rectangle 3"/>
          <p:cNvSpPr/>
          <p:nvPr/>
        </p:nvSpPr>
        <p:spPr>
          <a:xfrm>
            <a:off x="395288" y="834535"/>
            <a:ext cx="2995973" cy="1754326"/>
          </a:xfrm>
          <a:prstGeom prst="rect">
            <a:avLst/>
          </a:prstGeom>
        </p:spPr>
        <p:txBody>
          <a:bodyPr wrap="square">
            <a:spAutoFit/>
          </a:bodyPr>
          <a:lstStyle/>
          <a:p>
            <a:pPr marL="182563" indent="-182563"/>
            <a:r>
              <a:rPr lang="en-GB" dirty="0"/>
              <a:t>Apple (part of QuickTime and iOS)</a:t>
            </a:r>
          </a:p>
          <a:p>
            <a:pPr marL="182563" indent="-182563"/>
            <a:r>
              <a:rPr lang="en-GB" dirty="0"/>
              <a:t>HLS v5 announced in Sept16</a:t>
            </a:r>
          </a:p>
          <a:p>
            <a:pPr marL="182563" indent="-182563">
              <a:buFont typeface="Arial" pitchFamily="34" charset="0"/>
              <a:buChar char="•"/>
            </a:pPr>
            <a:r>
              <a:rPr lang="en-GB" dirty="0"/>
              <a:t>support for Fragmented MP4</a:t>
            </a:r>
          </a:p>
        </p:txBody>
      </p:sp>
    </p:spTree>
    <p:extLst>
      <p:ext uri="{BB962C8B-B14F-4D97-AF65-F5344CB8AC3E}">
        <p14:creationId xmlns:p14="http://schemas.microsoft.com/office/powerpoint/2010/main" val="282941146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95288" y="331788"/>
            <a:ext cx="2020105" cy="461665"/>
          </a:xfrm>
          <a:prstGeom prst="rect">
            <a:avLst/>
          </a:prstGeom>
        </p:spPr>
        <p:txBody>
          <a:bodyPr wrap="none">
            <a:spAutoFit/>
          </a:bodyPr>
          <a:lstStyle/>
          <a:p>
            <a:r>
              <a:rPr lang="en-GB" sz="2400" b="1" dirty="0">
                <a:latin typeface="Lucida Sans Unicode" pitchFamily="34" charset="0"/>
              </a:rPr>
              <a:t>MPEG-DASH</a:t>
            </a:r>
          </a:p>
        </p:txBody>
      </p:sp>
      <p:sp>
        <p:nvSpPr>
          <p:cNvPr id="4" name="Rectangle 3"/>
          <p:cNvSpPr/>
          <p:nvPr/>
        </p:nvSpPr>
        <p:spPr>
          <a:xfrm>
            <a:off x="395288" y="773705"/>
            <a:ext cx="4631396" cy="369332"/>
          </a:xfrm>
          <a:prstGeom prst="rect">
            <a:avLst/>
          </a:prstGeom>
        </p:spPr>
        <p:txBody>
          <a:bodyPr wrap="none">
            <a:spAutoFit/>
          </a:bodyPr>
          <a:lstStyle/>
          <a:p>
            <a:r>
              <a:rPr lang="en-GB" dirty="0">
                <a:latin typeface="Lucida Sans Unicode" pitchFamily="34" charset="0"/>
              </a:rPr>
              <a:t>Dynamic Adaptive Streaming over HTTP</a:t>
            </a:r>
          </a:p>
        </p:txBody>
      </p:sp>
      <p:sp>
        <p:nvSpPr>
          <p:cNvPr id="5" name="Rectangle 4"/>
          <p:cNvSpPr/>
          <p:nvPr/>
        </p:nvSpPr>
        <p:spPr>
          <a:xfrm>
            <a:off x="-8545" y="6039290"/>
            <a:ext cx="2513115" cy="369332"/>
          </a:xfrm>
          <a:prstGeom prst="rect">
            <a:avLst/>
          </a:prstGeom>
          <a:solidFill>
            <a:srgbClr val="CCCCFF"/>
          </a:solidFill>
        </p:spPr>
        <p:txBody>
          <a:bodyPr wrap="square">
            <a:spAutoFit/>
          </a:bodyPr>
          <a:lstStyle/>
          <a:p>
            <a:r>
              <a:rPr lang="en-GB" sz="900" dirty="0">
                <a:latin typeface="Lucida Sans Unicode" pitchFamily="34" charset="0"/>
                <a:hlinkClick r:id="rId2"/>
              </a:rPr>
              <a:t>http://www.streamingmedia.com/Articles/ReadArticle.aspx?ArticleID=79041</a:t>
            </a:r>
            <a:r>
              <a:rPr lang="en-GB" sz="900" dirty="0">
                <a:latin typeface="Lucida Sans Unicode" pitchFamily="34" charset="0"/>
              </a:rPr>
              <a:t> </a:t>
            </a:r>
          </a:p>
        </p:txBody>
      </p:sp>
      <p:pic>
        <p:nvPicPr>
          <p:cNvPr id="2050" name="Picture 2"/>
          <p:cNvPicPr>
            <a:picLocks noChangeAspect="1" noChangeArrowheads="1"/>
          </p:cNvPicPr>
          <p:nvPr/>
        </p:nvPicPr>
        <p:blipFill>
          <a:blip r:embed="rId3" cstate="print"/>
          <a:srcRect/>
          <a:stretch>
            <a:fillRect/>
          </a:stretch>
        </p:blipFill>
        <p:spPr bwMode="auto">
          <a:xfrm>
            <a:off x="6010275" y="331788"/>
            <a:ext cx="3133725" cy="657225"/>
          </a:xfrm>
          <a:prstGeom prst="rect">
            <a:avLst/>
          </a:prstGeom>
          <a:noFill/>
          <a:ln w="9525">
            <a:noFill/>
            <a:miter lim="800000"/>
            <a:headEnd/>
            <a:tailEnd/>
          </a:ln>
        </p:spPr>
      </p:pic>
      <p:sp>
        <p:nvSpPr>
          <p:cNvPr id="7" name="Rectangle 6"/>
          <p:cNvSpPr/>
          <p:nvPr/>
        </p:nvSpPr>
        <p:spPr>
          <a:xfrm>
            <a:off x="395287" y="1403775"/>
            <a:ext cx="8542197" cy="3770263"/>
          </a:xfrm>
          <a:prstGeom prst="rect">
            <a:avLst/>
          </a:prstGeom>
        </p:spPr>
        <p:txBody>
          <a:bodyPr wrap="square">
            <a:spAutoFit/>
          </a:bodyPr>
          <a:lstStyle/>
          <a:p>
            <a:pPr marL="180975" indent="-180975">
              <a:lnSpc>
                <a:spcPts val="2400"/>
              </a:lnSpc>
            </a:pPr>
            <a:r>
              <a:rPr lang="en-GB" sz="1600" b="1" dirty="0"/>
              <a:t>Background</a:t>
            </a:r>
          </a:p>
          <a:p>
            <a:pPr marL="180975" indent="-180975">
              <a:lnSpc>
                <a:spcPts val="2400"/>
              </a:lnSpc>
              <a:buFont typeface="Arial" pitchFamily="34" charset="0"/>
              <a:buChar char="•"/>
            </a:pPr>
            <a:r>
              <a:rPr lang="en-GB" sz="1600" dirty="0"/>
              <a:t>(commercial) audio/video was typically transported over RTP/UDP</a:t>
            </a:r>
          </a:p>
          <a:p>
            <a:pPr marL="638175" lvl="1" indent="-180975">
              <a:lnSpc>
                <a:spcPts val="2400"/>
              </a:lnSpc>
              <a:buFont typeface="Arial" pitchFamily="34" charset="0"/>
              <a:buChar char="•"/>
            </a:pPr>
            <a:r>
              <a:rPr lang="en-GB" sz="1600" dirty="0"/>
              <a:t>(but streaming proprietary solutions based HTTP/TCP) </a:t>
            </a:r>
          </a:p>
          <a:p>
            <a:pPr marL="180975" indent="-180975">
              <a:lnSpc>
                <a:spcPts val="2400"/>
              </a:lnSpc>
              <a:buFont typeface="Arial" pitchFamily="34" charset="0"/>
              <a:buChar char="•"/>
            </a:pPr>
            <a:r>
              <a:rPr lang="en-GB" sz="1600" dirty="0"/>
              <a:t>HTTP streaming - good - provided that the increased latency is acceptable</a:t>
            </a:r>
          </a:p>
          <a:p>
            <a:pPr marL="180975" indent="-180975">
              <a:lnSpc>
                <a:spcPts val="2400"/>
              </a:lnSpc>
              <a:buFont typeface="Arial" pitchFamily="34" charset="0"/>
              <a:buChar char="•"/>
            </a:pPr>
            <a:endParaRPr lang="en-GB" sz="1600" dirty="0"/>
          </a:p>
          <a:p>
            <a:pPr marL="180975" indent="-180975">
              <a:lnSpc>
                <a:spcPts val="2400"/>
              </a:lnSpc>
            </a:pPr>
            <a:r>
              <a:rPr lang="en-GB" sz="1600" b="1" dirty="0"/>
              <a:t>Benefits:</a:t>
            </a:r>
          </a:p>
          <a:p>
            <a:pPr marL="180975" indent="-180975">
              <a:lnSpc>
                <a:spcPts val="2400"/>
              </a:lnSpc>
              <a:buFont typeface="Arial" pitchFamily="34" charset="0"/>
              <a:buChar char="•"/>
            </a:pPr>
            <a:r>
              <a:rPr lang="en-GB" sz="1600" b="1" dirty="0"/>
              <a:t>Firewall and NAT traversal </a:t>
            </a:r>
            <a:r>
              <a:rPr lang="en-GB" sz="1600" dirty="0"/>
              <a:t>(c.f. services based on RTP/UDP)</a:t>
            </a:r>
          </a:p>
          <a:p>
            <a:pPr marL="180975" indent="-180975">
              <a:lnSpc>
                <a:spcPts val="2400"/>
              </a:lnSpc>
              <a:buFont typeface="Arial" pitchFamily="34" charset="0"/>
              <a:buChar char="•"/>
            </a:pPr>
            <a:r>
              <a:rPr lang="en-GB" sz="1600" dirty="0"/>
              <a:t>Widely deployed </a:t>
            </a:r>
            <a:r>
              <a:rPr lang="en-GB" sz="1600" b="1" dirty="0"/>
              <a:t>network caches (CDNs)</a:t>
            </a:r>
            <a:endParaRPr lang="en-GB" sz="1600" dirty="0"/>
          </a:p>
          <a:p>
            <a:pPr marL="638175" lvl="1" indent="-180975">
              <a:lnSpc>
                <a:spcPts val="2400"/>
              </a:lnSpc>
              <a:buFont typeface="Arial" pitchFamily="34" charset="0"/>
              <a:buChar char="•"/>
            </a:pPr>
            <a:r>
              <a:rPr lang="en-GB" sz="1600" dirty="0"/>
              <a:t>Deployment of CDN caches can be kept simple</a:t>
            </a:r>
          </a:p>
          <a:p>
            <a:pPr marL="180975" indent="-180975">
              <a:lnSpc>
                <a:spcPts val="2400"/>
              </a:lnSpc>
              <a:buFont typeface="Arial" pitchFamily="34" charset="0"/>
              <a:buChar char="•"/>
            </a:pPr>
            <a:r>
              <a:rPr lang="en-GB" sz="1600" dirty="0"/>
              <a:t>Complexity (adaptation) </a:t>
            </a:r>
            <a:r>
              <a:rPr lang="en-GB" sz="1600" b="1" dirty="0"/>
              <a:t>moved to client</a:t>
            </a:r>
          </a:p>
          <a:p>
            <a:pPr marL="180975" indent="-180975">
              <a:lnSpc>
                <a:spcPts val="2400"/>
              </a:lnSpc>
              <a:buFont typeface="Arial" pitchFamily="34" charset="0"/>
              <a:buChar char="•"/>
            </a:pPr>
            <a:r>
              <a:rPr lang="en-GB" sz="1600" dirty="0"/>
              <a:t>Servers are </a:t>
            </a:r>
            <a:r>
              <a:rPr lang="en-GB" sz="1600" b="1" dirty="0"/>
              <a:t>agnostic </a:t>
            </a:r>
            <a:r>
              <a:rPr lang="en-GB" sz="1600" dirty="0"/>
              <a:t>to delivered content</a:t>
            </a:r>
          </a:p>
          <a:p>
            <a:pPr marL="180975" indent="-180975">
              <a:lnSpc>
                <a:spcPts val="2400"/>
              </a:lnSpc>
              <a:buFont typeface="Arial" pitchFamily="34" charset="0"/>
              <a:buChar char="•"/>
            </a:pPr>
            <a:r>
              <a:rPr lang="en-GB" sz="1600" dirty="0"/>
              <a:t>network resources / configuration may </a:t>
            </a:r>
            <a:r>
              <a:rPr lang="en-GB" sz="1600" b="1" dirty="0"/>
              <a:t>vary over time</a:t>
            </a:r>
          </a:p>
        </p:txBody>
      </p:sp>
    </p:spTree>
    <p:extLst>
      <p:ext uri="{BB962C8B-B14F-4D97-AF65-F5344CB8AC3E}">
        <p14:creationId xmlns:p14="http://schemas.microsoft.com/office/powerpoint/2010/main" val="87820021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95288" y="331788"/>
            <a:ext cx="2020105" cy="461665"/>
          </a:xfrm>
          <a:prstGeom prst="rect">
            <a:avLst/>
          </a:prstGeom>
        </p:spPr>
        <p:txBody>
          <a:bodyPr wrap="none">
            <a:spAutoFit/>
          </a:bodyPr>
          <a:lstStyle/>
          <a:p>
            <a:r>
              <a:rPr lang="en-GB" sz="2400" b="1" dirty="0">
                <a:latin typeface="Lucida Sans Unicode" pitchFamily="34" charset="0"/>
              </a:rPr>
              <a:t>MPEG-DASH</a:t>
            </a:r>
          </a:p>
        </p:txBody>
      </p:sp>
      <p:sp>
        <p:nvSpPr>
          <p:cNvPr id="4" name="Rectangle 3"/>
          <p:cNvSpPr/>
          <p:nvPr/>
        </p:nvSpPr>
        <p:spPr>
          <a:xfrm>
            <a:off x="393702" y="1162645"/>
            <a:ext cx="2558118" cy="3631763"/>
          </a:xfrm>
          <a:prstGeom prst="rect">
            <a:avLst/>
          </a:prstGeom>
        </p:spPr>
        <p:txBody>
          <a:bodyPr wrap="square">
            <a:spAutoFit/>
          </a:bodyPr>
          <a:lstStyle/>
          <a:p>
            <a:pPr>
              <a:lnSpc>
                <a:spcPts val="2000"/>
              </a:lnSpc>
            </a:pPr>
            <a:r>
              <a:rPr lang="en-GB" sz="1600" dirty="0"/>
              <a:t>DASH client obtains the MPD … </a:t>
            </a:r>
          </a:p>
          <a:p>
            <a:pPr marL="176213" indent="-176213">
              <a:lnSpc>
                <a:spcPts val="2000"/>
              </a:lnSpc>
              <a:buFont typeface="Arial" pitchFamily="34" charset="0"/>
              <a:buChar char="•"/>
            </a:pPr>
            <a:endParaRPr lang="en-GB" sz="1600" b="1" dirty="0"/>
          </a:p>
          <a:p>
            <a:pPr>
              <a:lnSpc>
                <a:spcPts val="2000"/>
              </a:lnSpc>
            </a:pPr>
            <a:r>
              <a:rPr lang="en-GB" sz="1600" b="1" dirty="0"/>
              <a:t>MPD </a:t>
            </a:r>
            <a:r>
              <a:rPr lang="en-GB" sz="1200" dirty="0"/>
              <a:t>(Media Presentation Description) – </a:t>
            </a:r>
          </a:p>
          <a:p>
            <a:pPr>
              <a:lnSpc>
                <a:spcPts val="2000"/>
              </a:lnSpc>
            </a:pPr>
            <a:r>
              <a:rPr lang="en-GB" sz="1600" b="1" dirty="0"/>
              <a:t>XML document </a:t>
            </a:r>
          </a:p>
          <a:p>
            <a:pPr marL="180975" lvl="1" indent="-176213">
              <a:lnSpc>
                <a:spcPts val="2000"/>
              </a:lnSpc>
              <a:buFont typeface="Arial" pitchFamily="34" charset="0"/>
              <a:buChar char="•"/>
            </a:pPr>
            <a:r>
              <a:rPr lang="en-GB" sz="1600" dirty="0"/>
              <a:t>delivered using HTTP or other transport</a:t>
            </a:r>
          </a:p>
          <a:p>
            <a:pPr marL="180975" indent="-180975">
              <a:buFont typeface="Arial" pitchFamily="34" charset="0"/>
              <a:buChar char="•"/>
            </a:pPr>
            <a:r>
              <a:rPr lang="en-GB" sz="1600" dirty="0"/>
              <a:t>describes media data available at the servers</a:t>
            </a:r>
          </a:p>
          <a:p>
            <a:pPr marL="180975" indent="-180975">
              <a:buFont typeface="Arial" pitchFamily="34" charset="0"/>
              <a:buChar char="•"/>
            </a:pPr>
            <a:r>
              <a:rPr lang="en-GB" sz="1600" dirty="0"/>
              <a:t>allows clients to select the data</a:t>
            </a:r>
          </a:p>
          <a:p>
            <a:pPr marL="176213" indent="-176213">
              <a:lnSpc>
                <a:spcPts val="2000"/>
              </a:lnSpc>
              <a:buFont typeface="Arial" pitchFamily="34" charset="0"/>
              <a:buChar char="•"/>
            </a:pPr>
            <a:endParaRPr lang="en-GB" sz="1600" dirty="0"/>
          </a:p>
        </p:txBody>
      </p:sp>
      <p:pic>
        <p:nvPicPr>
          <p:cNvPr id="6" name="Picture 2" descr="http://dashif.org/w/2011/11/MPEG-DASHScope.png"/>
          <p:cNvPicPr>
            <a:picLocks noChangeAspect="1" noChangeArrowheads="1"/>
          </p:cNvPicPr>
          <p:nvPr/>
        </p:nvPicPr>
        <p:blipFill>
          <a:blip r:embed="rId2" cstate="print"/>
          <a:srcRect/>
          <a:stretch>
            <a:fillRect/>
          </a:stretch>
        </p:blipFill>
        <p:spPr bwMode="auto">
          <a:xfrm>
            <a:off x="2831575" y="546985"/>
            <a:ext cx="6154585" cy="3547938"/>
          </a:xfrm>
          <a:prstGeom prst="rect">
            <a:avLst/>
          </a:prstGeom>
          <a:noFill/>
        </p:spPr>
      </p:pic>
      <p:sp>
        <p:nvSpPr>
          <p:cNvPr id="8" name="Rectangle 7"/>
          <p:cNvSpPr/>
          <p:nvPr/>
        </p:nvSpPr>
        <p:spPr>
          <a:xfrm>
            <a:off x="393702" y="4464115"/>
            <a:ext cx="8370462" cy="2062103"/>
          </a:xfrm>
          <a:prstGeom prst="rect">
            <a:avLst/>
          </a:prstGeom>
        </p:spPr>
        <p:txBody>
          <a:bodyPr wrap="square">
            <a:spAutoFit/>
          </a:bodyPr>
          <a:lstStyle/>
          <a:p>
            <a:pPr marL="180975" indent="-180975">
              <a:buFont typeface="Arial" pitchFamily="34" charset="0"/>
              <a:buChar char="•"/>
            </a:pPr>
            <a:r>
              <a:rPr lang="en-GB" sz="1600" dirty="0"/>
              <a:t>defines segments available </a:t>
            </a:r>
          </a:p>
          <a:p>
            <a:pPr marL="180975" indent="-180975">
              <a:buFont typeface="Arial" pitchFamily="34" charset="0"/>
              <a:buChar char="•"/>
            </a:pPr>
            <a:r>
              <a:rPr lang="en-GB" sz="1600" dirty="0"/>
              <a:t>can either be </a:t>
            </a:r>
          </a:p>
          <a:p>
            <a:pPr marL="638175" lvl="1" indent="-180975">
              <a:buFont typeface="Arial" pitchFamily="34" charset="0"/>
              <a:buChar char="•"/>
            </a:pPr>
            <a:r>
              <a:rPr lang="en-GB" sz="1600" i="1" dirty="0"/>
              <a:t>initialization segments</a:t>
            </a:r>
            <a:r>
              <a:rPr lang="en-GB" sz="1600" dirty="0"/>
              <a:t> - initialization data for decoding</a:t>
            </a:r>
          </a:p>
          <a:p>
            <a:pPr marL="638175" lvl="1" indent="-180975">
              <a:buFont typeface="Arial" pitchFamily="34" charset="0"/>
              <a:buChar char="•"/>
            </a:pPr>
            <a:r>
              <a:rPr lang="en-GB" sz="1600" i="1" dirty="0"/>
              <a:t>media segments</a:t>
            </a:r>
            <a:endParaRPr lang="en-GB" sz="1600" dirty="0"/>
          </a:p>
          <a:p>
            <a:pPr marL="180975" indent="-180975">
              <a:buFont typeface="Arial" pitchFamily="34" charset="0"/>
              <a:buChar char="•"/>
            </a:pPr>
            <a:r>
              <a:rPr lang="en-GB" sz="1600" dirty="0"/>
              <a:t>segment format based on MPEG2-TS </a:t>
            </a:r>
          </a:p>
          <a:p>
            <a:pPr marL="638175" lvl="1" indent="-180975">
              <a:buFont typeface="Arial" pitchFamily="34" charset="0"/>
              <a:buChar char="•"/>
            </a:pPr>
            <a:r>
              <a:rPr lang="en-GB" sz="1600" dirty="0"/>
              <a:t>Using ISO base Media File Format (ISOBMFF - general structure for time-based media</a:t>
            </a:r>
          </a:p>
          <a:p>
            <a:pPr marL="638175" lvl="1" indent="-180975">
              <a:buFont typeface="Arial" pitchFamily="34" charset="0"/>
              <a:buChar char="•"/>
            </a:pPr>
            <a:r>
              <a:rPr lang="en-GB" sz="1600" dirty="0"/>
              <a:t>(however, segments based on other formats can be specified)</a:t>
            </a:r>
          </a:p>
        </p:txBody>
      </p:sp>
    </p:spTree>
    <p:extLst>
      <p:ext uri="{BB962C8B-B14F-4D97-AF65-F5344CB8AC3E}">
        <p14:creationId xmlns:p14="http://schemas.microsoft.com/office/powerpoint/2010/main" val="422118378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bwMode="auto">
          <a:xfrm>
            <a:off x="0" y="0"/>
            <a:ext cx="9144000" cy="6858001"/>
          </a:xfrm>
          <a:prstGeom prst="rect">
            <a:avLst/>
          </a:prstGeom>
          <a:solidFill>
            <a:schemeClr val="accent4">
              <a:lumMod val="75000"/>
              <a:lumOff val="2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pic>
        <p:nvPicPr>
          <p:cNvPr id="2050" name="Picture 2" descr="BBCHD_testcard_big.jpg (1920×1080)"/>
          <p:cNvPicPr>
            <a:picLocks noChangeAspect="1" noChangeArrowheads="1"/>
          </p:cNvPicPr>
          <p:nvPr/>
        </p:nvPicPr>
        <p:blipFill>
          <a:blip r:embed="rId2">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val="0"/>
              </a:ext>
            </a:extLst>
          </a:blip>
          <a:srcRect/>
          <a:stretch>
            <a:fillRect/>
          </a:stretch>
        </p:blipFill>
        <p:spPr bwMode="auto">
          <a:xfrm>
            <a:off x="921" y="857509"/>
            <a:ext cx="9143079" cy="51429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2987414"/>
      </p:ext>
    </p:extLst>
  </p:cSld>
  <p:clrMapOvr>
    <a:masterClrMapping/>
  </p:clrMapOvr>
</p:sld>
</file>

<file path=ppt/theme/theme1.xml><?xml version="1.0" encoding="utf-8"?>
<a:theme xmlns:a="http://schemas.openxmlformats.org/drawingml/2006/main" name="Template">
  <a:themeElements>
    <a:clrScheme name="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Template">
      <a:majorFont>
        <a:latin typeface="Lucida Sans Unicode"/>
        <a:ea typeface=""/>
        <a:cs typeface=""/>
      </a:majorFont>
      <a:minorFont>
        <a:latin typeface="Lucida Sans Unicod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1600" b="0" i="0" u="none" strike="noStrike" cap="none" normalizeH="0" baseline="0" smtClean="0">
            <a:ln>
              <a:noFill/>
            </a:ln>
            <a:solidFill>
              <a:schemeClr val="tx1"/>
            </a:solidFill>
            <a:effectLst/>
            <a:latin typeface="Lucida Sans Unicode"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1600" b="0" i="0" u="none" strike="noStrike" cap="none" normalizeH="0" baseline="0" smtClean="0">
            <a:ln>
              <a:noFill/>
            </a:ln>
            <a:solidFill>
              <a:schemeClr val="tx1"/>
            </a:solidFill>
            <a:effectLst/>
            <a:latin typeface="Lucida Sans Unicode" pitchFamily="34" charset="0"/>
          </a:defRPr>
        </a:defPPr>
      </a:lstStyle>
    </a:lnDef>
  </a:objectDefaults>
  <a:extraClrSchemeLst>
    <a:extraClrScheme>
      <a:clrScheme name="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1600" b="0" i="0" u="none" strike="noStrike" cap="none" normalizeH="0" baseline="0" smtClean="0">
            <a:ln>
              <a:noFill/>
            </a:ln>
            <a:solidFill>
              <a:schemeClr val="tx1"/>
            </a:solidFill>
            <a:effectLst/>
            <a:latin typeface="Lucida Sans Unicode"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1600" b="0" i="0" u="none" strike="noStrike" cap="none" normalizeH="0" baseline="0" smtClean="0">
            <a:ln>
              <a:noFill/>
            </a:ln>
            <a:solidFill>
              <a:schemeClr val="tx1"/>
            </a:solidFill>
            <a:effectLst/>
            <a:latin typeface="Lucida Sans Unicode" pitchFamily="34" charset="0"/>
          </a:defRPr>
        </a:defPPr>
      </a:lstStyle>
    </a:lnDef>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Template</Template>
  <TotalTime>1164</TotalTime>
  <Words>4875</Words>
  <Application>Microsoft Office PowerPoint</Application>
  <PresentationFormat>On-screen Show (4:3)</PresentationFormat>
  <Paragraphs>1103</Paragraphs>
  <Slides>82</Slides>
  <Notes>10</Notes>
  <HiddenSlides>0</HiddenSlides>
  <MMClips>0</MMClips>
  <ScaleCrop>false</ScaleCrop>
  <HeadingPairs>
    <vt:vector size="8" baseType="variant">
      <vt:variant>
        <vt:lpstr>Fonts Used</vt:lpstr>
      </vt:variant>
      <vt:variant>
        <vt:i4>4</vt:i4>
      </vt:variant>
      <vt:variant>
        <vt:lpstr>Theme</vt:lpstr>
      </vt:variant>
      <vt:variant>
        <vt:i4>2</vt:i4>
      </vt:variant>
      <vt:variant>
        <vt:lpstr>Embedded OLE Servers</vt:lpstr>
      </vt:variant>
      <vt:variant>
        <vt:i4>1</vt:i4>
      </vt:variant>
      <vt:variant>
        <vt:lpstr>Slide Titles</vt:lpstr>
      </vt:variant>
      <vt:variant>
        <vt:i4>82</vt:i4>
      </vt:variant>
    </vt:vector>
  </HeadingPairs>
  <TitlesOfParts>
    <vt:vector size="89" baseType="lpstr">
      <vt:lpstr>Arial Unicode MS</vt:lpstr>
      <vt:lpstr>Arial</vt:lpstr>
      <vt:lpstr>Lucida Sans Unicode</vt:lpstr>
      <vt:lpstr>Times New Roman</vt:lpstr>
      <vt:lpstr>Template</vt:lpstr>
      <vt:lpstr>Custom Design</vt:lpstr>
      <vt:lpstr>Bitmap Image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Why Compress Video</vt:lpstr>
      <vt:lpstr>Why Compress Audio?</vt:lpstr>
      <vt:lpstr>Compression – Information Theory</vt:lpstr>
      <vt:lpstr>Compressed and Uncompressed Images</vt:lpstr>
      <vt:lpstr>Lossless Compression (of Images)</vt:lpstr>
      <vt:lpstr>Lossless Compression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n/a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JFoss</dc:creator>
  <cp:lastModifiedBy>Jeremy Foss</cp:lastModifiedBy>
  <cp:revision>129</cp:revision>
  <cp:lastPrinted>2019-05-13T14:03:43Z</cp:lastPrinted>
  <dcterms:created xsi:type="dcterms:W3CDTF">2006-09-10T21:25:56Z</dcterms:created>
  <dcterms:modified xsi:type="dcterms:W3CDTF">2020-05-18T22:19:07Z</dcterms:modified>
</cp:coreProperties>
</file>