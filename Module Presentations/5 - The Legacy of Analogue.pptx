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73"/>
  </p:notesMasterIdLst>
  <p:handoutMasterIdLst>
    <p:handoutMasterId r:id="rId74"/>
  </p:handoutMasterIdLst>
  <p:sldIdLst>
    <p:sldId id="256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73" r:id="rId20"/>
    <p:sldId id="374" r:id="rId21"/>
    <p:sldId id="375" r:id="rId22"/>
    <p:sldId id="376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52" r:id="rId32"/>
    <p:sldId id="360" r:id="rId33"/>
    <p:sldId id="361" r:id="rId34"/>
    <p:sldId id="362" r:id="rId35"/>
    <p:sldId id="363" r:id="rId36"/>
    <p:sldId id="364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69" r:id="rId48"/>
    <p:sldId id="370" r:id="rId49"/>
    <p:sldId id="328" r:id="rId50"/>
    <p:sldId id="327" r:id="rId51"/>
    <p:sldId id="372" r:id="rId52"/>
    <p:sldId id="371" r:id="rId53"/>
    <p:sldId id="379" r:id="rId54"/>
    <p:sldId id="365" r:id="rId55"/>
    <p:sldId id="338" r:id="rId56"/>
    <p:sldId id="339" r:id="rId57"/>
    <p:sldId id="340" r:id="rId58"/>
    <p:sldId id="366" r:id="rId59"/>
    <p:sldId id="341" r:id="rId60"/>
    <p:sldId id="342" r:id="rId61"/>
    <p:sldId id="343" r:id="rId62"/>
    <p:sldId id="346" r:id="rId63"/>
    <p:sldId id="347" r:id="rId64"/>
    <p:sldId id="348" r:id="rId65"/>
    <p:sldId id="349" r:id="rId66"/>
    <p:sldId id="378" r:id="rId67"/>
    <p:sldId id="351" r:id="rId68"/>
    <p:sldId id="367" r:id="rId69"/>
    <p:sldId id="368" r:id="rId70"/>
    <p:sldId id="377" r:id="rId71"/>
    <p:sldId id="280" r:id="rId72"/>
  </p:sldIdLst>
  <p:sldSz cx="9144000" cy="6858000" type="screen4x3"/>
  <p:notesSz cx="6781800" cy="991235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2" userDrawn="1">
          <p15:clr>
            <a:srgbClr val="A4A3A4"/>
          </p15:clr>
        </p15:guide>
        <p15:guide id="2" pos="21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FF9900"/>
    <a:srgbClr val="00FFCC"/>
    <a:srgbClr val="FFCC66"/>
    <a:srgbClr val="800000"/>
    <a:srgbClr val="FFFFCC"/>
    <a:srgbClr val="CCECFF"/>
    <a:srgbClr val="99CCFF"/>
    <a:srgbClr val="66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96" y="84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2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handoutMaster" Target="handoutMasters/handout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" userId="09ac0925-c8bb-438c-a205-6311faa2bcaf" providerId="ADAL" clId="{3B46F779-C359-4D35-9682-BAC3D13B7A3A}"/>
    <pc:docChg chg="delSld">
      <pc:chgData name="Jeremy" userId="09ac0925-c8bb-438c-a205-6311faa2bcaf" providerId="ADAL" clId="{3B46F779-C359-4D35-9682-BAC3D13B7A3A}" dt="2020-05-15T16:22:07.076" v="1" actId="47"/>
      <pc:docMkLst>
        <pc:docMk/>
      </pc:docMkLst>
      <pc:sldChg chg="del">
        <pc:chgData name="Jeremy" userId="09ac0925-c8bb-438c-a205-6311faa2bcaf" providerId="ADAL" clId="{3B46F779-C359-4D35-9682-BAC3D13B7A3A}" dt="2020-05-15T16:22:07.076" v="1" actId="47"/>
        <pc:sldMkLst>
          <pc:docMk/>
          <pc:sldMk cId="3692851137" sldId="281"/>
        </pc:sldMkLst>
      </pc:sldChg>
      <pc:sldChg chg="del">
        <pc:chgData name="Jeremy" userId="09ac0925-c8bb-438c-a205-6311faa2bcaf" providerId="ADAL" clId="{3B46F779-C359-4D35-9682-BAC3D13B7A3A}" dt="2020-05-15T16:21:54.681" v="0" actId="47"/>
        <pc:sldMkLst>
          <pc:docMk/>
          <pc:sldMk cId="2793626893" sldId="329"/>
        </pc:sldMkLst>
      </pc:sldChg>
      <pc:sldChg chg="del">
        <pc:chgData name="Jeremy" userId="09ac0925-c8bb-438c-a205-6311faa2bcaf" providerId="ADAL" clId="{3B46F779-C359-4D35-9682-BAC3D13B7A3A}" dt="2020-05-15T16:21:54.681" v="0" actId="47"/>
        <pc:sldMkLst>
          <pc:docMk/>
          <pc:sldMk cId="1927181469" sldId="330"/>
        </pc:sldMkLst>
      </pc:sldChg>
      <pc:sldChg chg="del">
        <pc:chgData name="Jeremy" userId="09ac0925-c8bb-438c-a205-6311faa2bcaf" providerId="ADAL" clId="{3B46F779-C359-4D35-9682-BAC3D13B7A3A}" dt="2020-05-15T16:21:54.681" v="0" actId="47"/>
        <pc:sldMkLst>
          <pc:docMk/>
          <pc:sldMk cId="1374740928" sldId="331"/>
        </pc:sldMkLst>
      </pc:sldChg>
      <pc:sldChg chg="del">
        <pc:chgData name="Jeremy" userId="09ac0925-c8bb-438c-a205-6311faa2bcaf" providerId="ADAL" clId="{3B46F779-C359-4D35-9682-BAC3D13B7A3A}" dt="2020-05-15T16:21:54.681" v="0" actId="47"/>
        <pc:sldMkLst>
          <pc:docMk/>
          <pc:sldMk cId="899364910" sldId="332"/>
        </pc:sldMkLst>
      </pc:sldChg>
      <pc:sldChg chg="del">
        <pc:chgData name="Jeremy" userId="09ac0925-c8bb-438c-a205-6311faa2bcaf" providerId="ADAL" clId="{3B46F779-C359-4D35-9682-BAC3D13B7A3A}" dt="2020-05-15T16:21:54.681" v="0" actId="47"/>
        <pc:sldMkLst>
          <pc:docMk/>
          <pc:sldMk cId="386538634" sldId="333"/>
        </pc:sldMkLst>
      </pc:sldChg>
      <pc:sldChg chg="del">
        <pc:chgData name="Jeremy" userId="09ac0925-c8bb-438c-a205-6311faa2bcaf" providerId="ADAL" clId="{3B46F779-C359-4D35-9682-BAC3D13B7A3A}" dt="2020-05-15T16:21:54.681" v="0" actId="47"/>
        <pc:sldMkLst>
          <pc:docMk/>
          <pc:sldMk cId="3536656100" sldId="334"/>
        </pc:sldMkLst>
      </pc:sldChg>
      <pc:sldChg chg="del">
        <pc:chgData name="Jeremy" userId="09ac0925-c8bb-438c-a205-6311faa2bcaf" providerId="ADAL" clId="{3B46F779-C359-4D35-9682-BAC3D13B7A3A}" dt="2020-05-15T16:21:54.681" v="0" actId="47"/>
        <pc:sldMkLst>
          <pc:docMk/>
          <pc:sldMk cId="3487501368" sldId="335"/>
        </pc:sldMkLst>
      </pc:sldChg>
      <pc:sldChg chg="del">
        <pc:chgData name="Jeremy" userId="09ac0925-c8bb-438c-a205-6311faa2bcaf" providerId="ADAL" clId="{3B46F779-C359-4D35-9682-BAC3D13B7A3A}" dt="2020-05-15T16:22:07.076" v="1" actId="47"/>
        <pc:sldMkLst>
          <pc:docMk/>
          <pc:sldMk cId="3118617686" sldId="336"/>
        </pc:sldMkLst>
      </pc:sldChg>
      <pc:sldChg chg="del">
        <pc:chgData name="Jeremy" userId="09ac0925-c8bb-438c-a205-6311faa2bcaf" providerId="ADAL" clId="{3B46F779-C359-4D35-9682-BAC3D13B7A3A}" dt="2020-05-15T16:22:07.076" v="1" actId="47"/>
        <pc:sldMkLst>
          <pc:docMk/>
          <pc:sldMk cId="1654357597" sldId="337"/>
        </pc:sldMkLst>
      </pc:sldChg>
    </pc:docChg>
  </pc:docChgLst>
  <pc:docChgLst>
    <pc:chgData name="Jeremy Foss" userId="09ac0925-c8bb-438c-a205-6311faa2bcaf" providerId="ADAL" clId="{5ADDB175-845E-49AF-8B8E-8BB6CEA1C58F}"/>
    <pc:docChg chg="modSld">
      <pc:chgData name="Jeremy Foss" userId="09ac0925-c8bb-438c-a205-6311faa2bcaf" providerId="ADAL" clId="{5ADDB175-845E-49AF-8B8E-8BB6CEA1C58F}" dt="2021-04-01T12:14:41.049" v="32" actId="20577"/>
      <pc:docMkLst>
        <pc:docMk/>
      </pc:docMkLst>
      <pc:sldChg chg="modSp mod">
        <pc:chgData name="Jeremy Foss" userId="09ac0925-c8bb-438c-a205-6311faa2bcaf" providerId="ADAL" clId="{5ADDB175-845E-49AF-8B8E-8BB6CEA1C58F}" dt="2021-04-01T12:14:41.049" v="32" actId="20577"/>
        <pc:sldMkLst>
          <pc:docMk/>
          <pc:sldMk cId="0" sldId="256"/>
        </pc:sldMkLst>
        <pc:spChg chg="mod">
          <ac:chgData name="Jeremy Foss" userId="09ac0925-c8bb-438c-a205-6311faa2bcaf" providerId="ADAL" clId="{5ADDB175-845E-49AF-8B8E-8BB6CEA1C58F}" dt="2021-04-01T12:14:41.049" v="32" actId="20577"/>
          <ac:spMkLst>
            <pc:docMk/>
            <pc:sldMk cId="0" sldId="256"/>
            <ac:spMk id="614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451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4/1/2021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451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02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2950"/>
            <a:ext cx="4956175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240" y="4708366"/>
            <a:ext cx="4973320" cy="446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02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fld id="{A91B772D-4E2A-45C4-A54A-98CB8A1F7BA5}" type="slidenum">
              <a:rPr lang="en-AU" altLang="en-US" sz="1200"/>
              <a:pPr/>
              <a:t>34</a:t>
            </a:fld>
            <a:endParaRPr lang="en-AU" altLang="en-US" sz="1200"/>
          </a:p>
        </p:txBody>
      </p:sp>
      <p:sp>
        <p:nvSpPr>
          <p:cNvPr id="71683" name="Rectangle 3074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>
            <a:solidFill>
              <a:schemeClr val="tx1"/>
            </a:solidFill>
          </a:ln>
        </p:spPr>
      </p:sp>
      <p:sp>
        <p:nvSpPr>
          <p:cNvPr id="71684" name="Rectangle 307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The current interlace system uses 2 interleaved fields of lines to make up every picture.  Differences between the temporal sampling of the two fields lead to effects such as twitter and judder on moving objects.</a:t>
            </a:r>
          </a:p>
          <a:p>
            <a:r>
              <a:rPr lang="en-US" altLang="en-US"/>
              <a:t>With progressive scanning adjacent lines come from adjacent temporal moments and so do not exhibit these effects.</a:t>
            </a:r>
          </a:p>
        </p:txBody>
      </p:sp>
    </p:spTree>
    <p:extLst>
      <p:ext uri="{BB962C8B-B14F-4D97-AF65-F5344CB8AC3E}">
        <p14:creationId xmlns:p14="http://schemas.microsoft.com/office/powerpoint/2010/main" val="2231559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346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troleum.co.uk/electronics-articles/pal-tv-timing-and-voltages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qmbrt17DjE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41.gif"/><Relationship Id="rId4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59.jpeg"/><Relationship Id="rId7" Type="http://schemas.openxmlformats.org/officeDocument/2006/relationships/image" Target="../media/image63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eg"/><Relationship Id="rId3" Type="http://schemas.openxmlformats.org/officeDocument/2006/relationships/image" Target="../media/image67.jpeg"/><Relationship Id="rId7" Type="http://schemas.openxmlformats.org/officeDocument/2006/relationships/image" Target="../media/image71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Relationship Id="rId9" Type="http://schemas.openxmlformats.org/officeDocument/2006/relationships/image" Target="../media/image58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395288" y="2122347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dirty="0"/>
              <a:t>Broadcast Technology UG1</a:t>
            </a:r>
          </a:p>
          <a:p>
            <a:endParaRPr lang="en-GB" sz="2800" b="1" dirty="0"/>
          </a:p>
          <a:p>
            <a:r>
              <a:rPr lang="en-GB" sz="3200" dirty="0"/>
              <a:t>5</a:t>
            </a:r>
            <a:r>
              <a:rPr lang="en-GB" sz="3200"/>
              <a:t>: The Legacy of Analogue</a:t>
            </a:r>
            <a:endParaRPr lang="en-GB" sz="3200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3700" y="2422083"/>
            <a:ext cx="44358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Lucida Sans Unicode" pitchFamily="34" charset="0"/>
                <a:cs typeface="Lucida Sans Unicode" pitchFamily="34" charset="0"/>
              </a:rPr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39002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074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 dirty="0"/>
              <a:t>History - Ferdinand Braun - CRT </a:t>
            </a:r>
          </a:p>
        </p:txBody>
      </p:sp>
      <p:sp>
        <p:nvSpPr>
          <p:cNvPr id="1169411" name="Rectangle 307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879475"/>
            <a:ext cx="6891337" cy="17684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  <a:defRPr/>
            </a:pPr>
            <a:r>
              <a:rPr lang="en-AU" sz="1400" b="1" dirty="0"/>
              <a:t>Ferdinand Braun: </a:t>
            </a:r>
          </a:p>
          <a:p>
            <a:pPr>
              <a:defRPr/>
            </a:pPr>
            <a:endParaRPr lang="en-AU" sz="1400" dirty="0"/>
          </a:p>
          <a:p>
            <a:pPr marL="180975" indent="-180975">
              <a:defRPr/>
            </a:pPr>
            <a:r>
              <a:rPr lang="en-AU" sz="1400" dirty="0"/>
              <a:t>1890 - developed the Cathode Ray Tube (CRT)</a:t>
            </a:r>
          </a:p>
          <a:p>
            <a:pPr marL="180975" indent="-180975">
              <a:defRPr/>
            </a:pPr>
            <a:r>
              <a:rPr lang="en-AU" sz="1400" dirty="0"/>
              <a:t>1897 - developed the Cathode Ray </a:t>
            </a:r>
            <a:r>
              <a:rPr lang="en-AU" sz="1400" dirty="0" err="1"/>
              <a:t>Oscillograph</a:t>
            </a:r>
            <a:endParaRPr lang="en-AU" sz="1400" dirty="0"/>
          </a:p>
          <a:p>
            <a:pPr marL="400050" lvl="1" indent="0">
              <a:buFontTx/>
              <a:buNone/>
              <a:defRPr/>
            </a:pPr>
            <a:r>
              <a:rPr lang="en-AU" sz="1400" dirty="0"/>
              <a:t>… the precursor to the radar screen and the television tube</a:t>
            </a:r>
          </a:p>
        </p:txBody>
      </p:sp>
      <p:pic>
        <p:nvPicPr>
          <p:cNvPr id="9220" name="Picture 3076" descr="D:\IMAGES\dmv\FerdinandBraun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331788"/>
            <a:ext cx="1857375" cy="262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6" descr="http://upload.wikimedia.org/wikipedia/commons/f/f1/KF_Braun_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59"/>
          <a:stretch>
            <a:fillRect/>
          </a:stretch>
        </p:blipFill>
        <p:spPr bwMode="auto">
          <a:xfrm>
            <a:off x="3028950" y="2843213"/>
            <a:ext cx="6115050" cy="401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1"/>
          <p:cNvSpPr>
            <a:spLocks noChangeArrowheads="1"/>
          </p:cNvSpPr>
          <p:nvPr/>
        </p:nvSpPr>
        <p:spPr bwMode="auto">
          <a:xfrm>
            <a:off x="395288" y="2749550"/>
            <a:ext cx="263366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lvl="1" indent="-180975">
              <a:buFont typeface="Arial" pitchFamily="34" charset="0"/>
              <a:buChar char="•"/>
            </a:pPr>
            <a:endParaRPr lang="en-AU" sz="14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AU" sz="1400" dirty="0">
                <a:latin typeface="Lucida Sans Unicode" pitchFamily="34" charset="0"/>
              </a:rPr>
              <a:t>1907 - First use of cathode ray tube to </a:t>
            </a:r>
            <a:br>
              <a:rPr lang="en-AU" sz="1400" dirty="0">
                <a:latin typeface="Lucida Sans Unicode" pitchFamily="34" charset="0"/>
              </a:rPr>
            </a:br>
            <a:r>
              <a:rPr lang="en-AU" sz="1400" dirty="0">
                <a:latin typeface="Lucida Sans Unicode" pitchFamily="34" charset="0"/>
              </a:rPr>
              <a:t>produce the rudiments of television images</a:t>
            </a:r>
          </a:p>
          <a:p>
            <a:pPr marL="180975" indent="-180975">
              <a:buFont typeface="Arial" pitchFamily="34" charset="0"/>
              <a:buChar char="•"/>
            </a:pPr>
            <a:endParaRPr lang="en-AU" sz="14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AU" sz="1400" dirty="0">
                <a:latin typeface="Lucida Sans Unicode" pitchFamily="34" charset="0"/>
              </a:rPr>
              <a:t>1909 - shared the Nobel Prize for physics in 1909 with </a:t>
            </a:r>
            <a:r>
              <a:rPr lang="en-AU" sz="1400" dirty="0" err="1">
                <a:latin typeface="Lucida Sans Unicode" pitchFamily="34" charset="0"/>
              </a:rPr>
              <a:t>Guglielmo</a:t>
            </a:r>
            <a:r>
              <a:rPr lang="en-AU" sz="1400" dirty="0">
                <a:latin typeface="Lucida Sans Unicode" pitchFamily="34" charset="0"/>
              </a:rPr>
              <a:t> Marconi for his contributions to the development of wireless telegraphy </a:t>
            </a:r>
          </a:p>
        </p:txBody>
      </p:sp>
    </p:spTree>
    <p:extLst>
      <p:ext uri="{BB962C8B-B14F-4D97-AF65-F5344CB8AC3E}">
        <p14:creationId xmlns:p14="http://schemas.microsoft.com/office/powerpoint/2010/main" val="346925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 dirty="0"/>
              <a:t>John Logie Baird - Basic TV</a:t>
            </a:r>
          </a:p>
        </p:txBody>
      </p:sp>
      <p:sp>
        <p:nvSpPr>
          <p:cNvPr id="5529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823913"/>
            <a:ext cx="5678487" cy="533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80975" indent="-180975"/>
            <a:r>
              <a:rPr lang="en-AU" sz="1400" dirty="0"/>
              <a:t>Oct 1923 - the first person in the world to demonstrate true television, recognisable images, instantaneous movement, correct gradations in light </a:t>
            </a:r>
            <a:br>
              <a:rPr lang="en-AU" sz="1400" dirty="0"/>
            </a:br>
            <a:r>
              <a:rPr lang="en-AU" sz="1400" dirty="0"/>
              <a:t>and shade</a:t>
            </a:r>
          </a:p>
          <a:p>
            <a:pPr marL="180975" indent="-180975"/>
            <a:r>
              <a:rPr lang="en-AU" sz="1400" dirty="0"/>
              <a:t>Scanning was done mechanically with a </a:t>
            </a:r>
            <a:r>
              <a:rPr lang="en-AU" sz="1400" dirty="0" err="1"/>
              <a:t>Nipkow</a:t>
            </a:r>
            <a:r>
              <a:rPr lang="en-AU" sz="1400" dirty="0"/>
              <a:t> disc. The first 30 line picture transmitted was a Maltese cross</a:t>
            </a:r>
          </a:p>
          <a:p>
            <a:pPr marL="180975" indent="-180975"/>
            <a:r>
              <a:rPr lang="en-AU" sz="1400" dirty="0"/>
              <a:t>1927 demonstrated video recording</a:t>
            </a:r>
          </a:p>
          <a:p>
            <a:pPr marL="180975" indent="-180975"/>
            <a:r>
              <a:rPr lang="en-AU" sz="1400" dirty="0"/>
              <a:t>1928 transatlantic television</a:t>
            </a:r>
          </a:p>
          <a:p>
            <a:pPr marL="180975" indent="-180975"/>
            <a:r>
              <a:rPr lang="en-AU" sz="1400" dirty="0"/>
              <a:t>1937 broadcast of good definition colour pictures</a:t>
            </a:r>
          </a:p>
          <a:p>
            <a:pPr marL="180975" indent="-180975"/>
            <a:r>
              <a:rPr lang="en-AU" sz="1400" dirty="0"/>
              <a:t>1941 stereoscopic television in colour</a:t>
            </a:r>
          </a:p>
          <a:p>
            <a:pPr marL="180975" indent="-180975"/>
            <a:r>
              <a:rPr lang="en-AU" sz="1400" dirty="0"/>
              <a:t>1944 multi-gun colour television tube</a:t>
            </a:r>
          </a:p>
        </p:txBody>
      </p:sp>
      <p:pic>
        <p:nvPicPr>
          <p:cNvPr id="10244" name="Picture 1029" descr="D:\IMAGES\dmv\jlbaird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331788"/>
            <a:ext cx="3086100" cy="268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4154488"/>
            <a:ext cx="5362575" cy="270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72150" y="3048000"/>
            <a:ext cx="3305175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latin typeface="Lucida Sans Unicode" pitchFamily="34" charset="0"/>
              </a:rPr>
              <a:t>Baird’s </a:t>
            </a:r>
            <a:r>
              <a:rPr lang="en-US" sz="1200" dirty="0" err="1">
                <a:latin typeface="Lucida Sans Unicode" pitchFamily="34" charset="0"/>
              </a:rPr>
              <a:t>televisor</a:t>
            </a:r>
            <a:r>
              <a:rPr lang="en-US" sz="1200" dirty="0">
                <a:latin typeface="Lucida Sans Unicode" pitchFamily="34" charset="0"/>
              </a:rPr>
              <a:t>, 1925: before transmission, the received image at left has been scanned by a spiral of revolving lenses, shown at right with inventor </a:t>
            </a:r>
            <a:r>
              <a:rPr lang="en-US" sz="1200" dirty="0" err="1">
                <a:latin typeface="Lucida Sans Unicode" pitchFamily="34" charset="0"/>
              </a:rPr>
              <a:t>Logie</a:t>
            </a:r>
            <a:r>
              <a:rPr lang="en-US" sz="1200" dirty="0">
                <a:latin typeface="Lucida Sans Unicode" pitchFamily="34" charset="0"/>
              </a:rPr>
              <a:t> Baird.  </a:t>
            </a:r>
            <a:r>
              <a:rPr lang="en-US" sz="1050" dirty="0">
                <a:latin typeface="Lucida Sans Unicode" pitchFamily="34" charset="0"/>
              </a:rPr>
              <a:t>Photo: </a:t>
            </a:r>
            <a:r>
              <a:rPr lang="en-US" sz="1050" dirty="0" err="1">
                <a:latin typeface="Lucida Sans Unicode" pitchFamily="34" charset="0"/>
              </a:rPr>
              <a:t>Hulton</a:t>
            </a:r>
            <a:r>
              <a:rPr lang="en-US" sz="1050" dirty="0">
                <a:latin typeface="Lucida Sans Unicode" pitchFamily="34" charset="0"/>
              </a:rPr>
              <a:t>/Getty</a:t>
            </a:r>
            <a:endParaRPr lang="en-GB" sz="1200" dirty="0">
              <a:latin typeface="Lucida Sans Unicode" pitchFamily="34" charset="0"/>
            </a:endParaRPr>
          </a:p>
        </p:txBody>
      </p:sp>
      <p:pic>
        <p:nvPicPr>
          <p:cNvPr id="10247" name="Picture 7" descr="Stookie Bil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4333875"/>
            <a:ext cx="2068513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2047875" y="4486275"/>
            <a:ext cx="15906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200" dirty="0">
                <a:latin typeface="Lucida Sans Unicode" pitchFamily="34" charset="0"/>
              </a:rPr>
              <a:t>left – early tests were with this ventriloquist’s dummy</a:t>
            </a:r>
            <a:endParaRPr lang="en-GB" sz="12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825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 dirty="0"/>
              <a:t>30 Line Mechanical TV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854075"/>
            <a:ext cx="8107362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50" y="4086225"/>
            <a:ext cx="1546225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76700"/>
            <a:ext cx="5843587" cy="2376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48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/>
              <a:t>Early Mechanical Approach to TV</a:t>
            </a:r>
          </a:p>
        </p:txBody>
      </p:sp>
      <p:sp>
        <p:nvSpPr>
          <p:cNvPr id="11267" name="Text Box 2052"/>
          <p:cNvSpPr txBox="1">
            <a:spLocks noChangeArrowheads="1"/>
          </p:cNvSpPr>
          <p:nvPr/>
        </p:nvSpPr>
        <p:spPr bwMode="auto">
          <a:xfrm>
            <a:off x="395288" y="855663"/>
            <a:ext cx="808831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AU" sz="1400" dirty="0"/>
              <a:t>Mechanical </a:t>
            </a:r>
            <a:r>
              <a:rPr lang="en-AU" sz="1400" dirty="0" err="1"/>
              <a:t>Nipkow</a:t>
            </a:r>
            <a:r>
              <a:rPr lang="en-AU" sz="1400" dirty="0"/>
              <a:t> discs were used to scan the image and reconstitute the image at the receiver.  PE cells were used to capture the image.  The problem was synchronising the disks.</a:t>
            </a:r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89125"/>
            <a:ext cx="8434387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36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7" descr="gallery_tv_gallery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3124200"/>
            <a:ext cx="558482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/>
              <a:t>Electronic Television - Farnsworth</a:t>
            </a:r>
          </a:p>
        </p:txBody>
      </p:sp>
      <p:sp>
        <p:nvSpPr>
          <p:cNvPr id="1165315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871538"/>
            <a:ext cx="7319962" cy="2700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80975" indent="-180975">
              <a:buFontTx/>
              <a:buNone/>
              <a:tabLst>
                <a:tab pos="266700" algn="l"/>
              </a:tabLst>
            </a:pPr>
            <a:r>
              <a:rPr lang="en-AU" sz="1600" dirty="0"/>
              <a:t>Philo Farnsworth</a:t>
            </a:r>
          </a:p>
          <a:p>
            <a:pPr marL="180975" indent="-180975">
              <a:tabLst>
                <a:tab pos="266700" algn="l"/>
              </a:tabLst>
            </a:pPr>
            <a:r>
              <a:rPr lang="en-AU" sz="1600" dirty="0"/>
              <a:t>1922 (at Age 14) concepts of Electronic Television</a:t>
            </a:r>
          </a:p>
          <a:p>
            <a:pPr marL="180975" indent="-180975">
              <a:tabLst>
                <a:tab pos="266700" algn="l"/>
              </a:tabLst>
            </a:pPr>
            <a:endParaRPr lang="en-AU" sz="1050" dirty="0"/>
          </a:p>
          <a:p>
            <a:pPr marL="180975" indent="-180975">
              <a:tabLst>
                <a:tab pos="266700" algn="l"/>
              </a:tabLst>
            </a:pPr>
            <a:r>
              <a:rPr lang="en-AU" sz="1600" dirty="0"/>
              <a:t>Demonstration, Sept 1927: </a:t>
            </a:r>
          </a:p>
          <a:p>
            <a:pPr marL="466725" lvl="1">
              <a:buFont typeface="Arial" pitchFamily="34" charset="0"/>
              <a:buChar char="•"/>
              <a:tabLst>
                <a:tab pos="266700" algn="l"/>
              </a:tabLst>
            </a:pPr>
            <a:r>
              <a:rPr lang="en-AU" sz="1600" dirty="0"/>
              <a:t>painted a square of glass black and scratched a straight line on the centre</a:t>
            </a:r>
          </a:p>
          <a:p>
            <a:pPr marL="466725" lvl="1">
              <a:buFont typeface="Arial" pitchFamily="34" charset="0"/>
              <a:buChar char="•"/>
              <a:tabLst>
                <a:tab pos="266700" algn="l"/>
              </a:tabLst>
            </a:pPr>
            <a:r>
              <a:rPr lang="en-AU" sz="1600" dirty="0"/>
              <a:t>The slide was dropped between the </a:t>
            </a:r>
            <a:r>
              <a:rPr lang="en-AU" sz="1600" i="1" dirty="0">
                <a:solidFill>
                  <a:schemeClr val="tx2"/>
                </a:solidFill>
              </a:rPr>
              <a:t>Image Dissector</a:t>
            </a:r>
            <a:r>
              <a:rPr lang="en-AU" sz="1600" i="1" dirty="0"/>
              <a:t> </a:t>
            </a:r>
            <a:r>
              <a:rPr lang="en-AU" sz="1600" dirty="0"/>
              <a:t>(camera tube Farnsworth invented earlier that year) and a hot, bright, carbon arc lamp. </a:t>
            </a:r>
          </a:p>
        </p:txBody>
      </p:sp>
      <p:sp>
        <p:nvSpPr>
          <p:cNvPr id="2" name="Rectangle 1"/>
          <p:cNvSpPr/>
          <p:nvPr/>
        </p:nvSpPr>
        <p:spPr>
          <a:xfrm>
            <a:off x="395288" y="3219452"/>
            <a:ext cx="316388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6725" lvl="1" indent="-285750">
              <a:buFont typeface="Arial" pitchFamily="34" charset="0"/>
              <a:buChar char="•"/>
              <a:tabLst>
                <a:tab pos="266700" algn="l"/>
              </a:tabLst>
              <a:defRPr/>
            </a:pPr>
            <a:r>
              <a:rPr lang="en-AU" sz="1600">
                <a:latin typeface="Lucida Sans Unicode" pitchFamily="34" charset="0"/>
              </a:rPr>
              <a:t>receiver </a:t>
            </a:r>
            <a:r>
              <a:rPr lang="en-AU" sz="1600" dirty="0">
                <a:latin typeface="Lucida Sans Unicode" pitchFamily="34" charset="0"/>
              </a:rPr>
              <a:t>- saw the straight-line image</a:t>
            </a:r>
          </a:p>
          <a:p>
            <a:pPr marL="466725" lvl="1" indent="-285750">
              <a:buFont typeface="Arial" pitchFamily="34" charset="0"/>
              <a:buChar char="•"/>
              <a:tabLst>
                <a:tab pos="266700" algn="l"/>
              </a:tabLst>
              <a:defRPr/>
            </a:pPr>
            <a:r>
              <a:rPr lang="en-AU" sz="1600" dirty="0">
                <a:latin typeface="Lucida Sans Unicode" pitchFamily="34" charset="0"/>
              </a:rPr>
              <a:t>as the slide was turned 90 degrees, image moved </a:t>
            </a:r>
          </a:p>
          <a:p>
            <a:pPr marL="466725" lvl="1" indent="-285750">
              <a:buFont typeface="Arial" pitchFamily="34" charset="0"/>
              <a:buChar char="•"/>
              <a:tabLst>
                <a:tab pos="266700" algn="l"/>
              </a:tabLst>
              <a:defRPr/>
            </a:pPr>
            <a:r>
              <a:rPr lang="en-AU" sz="1600" dirty="0">
                <a:latin typeface="Lucida Sans Unicode" pitchFamily="34" charset="0"/>
              </a:rPr>
              <a:t>the first all-electronic television picture ever transmitted. </a:t>
            </a:r>
          </a:p>
        </p:txBody>
      </p:sp>
    </p:spTree>
    <p:extLst>
      <p:ext uri="{BB962C8B-B14F-4D97-AF65-F5344CB8AC3E}">
        <p14:creationId xmlns:p14="http://schemas.microsoft.com/office/powerpoint/2010/main" val="61108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/>
              <a:t>Vladimir Zworykin - Iconoscope</a:t>
            </a:r>
          </a:p>
        </p:txBody>
      </p:sp>
      <p:sp>
        <p:nvSpPr>
          <p:cNvPr id="1166339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811213"/>
            <a:ext cx="5776912" cy="14557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80975" indent="-180975">
              <a:buFontTx/>
              <a:buNone/>
            </a:pPr>
            <a:r>
              <a:rPr lang="en-AU" sz="1400" dirty="0"/>
              <a:t>Vladimir Zworykin of RCA </a:t>
            </a:r>
          </a:p>
          <a:p>
            <a:pPr marL="180975" indent="-180975"/>
            <a:r>
              <a:rPr lang="en-AU" sz="1400" dirty="0"/>
              <a:t>1923 - patent application for a camera device</a:t>
            </a:r>
          </a:p>
          <a:p>
            <a:pPr marL="180975" indent="-180975"/>
            <a:r>
              <a:rPr lang="en-AU" sz="1400" dirty="0"/>
              <a:t>1933 - developed a camera tube he called an </a:t>
            </a:r>
            <a:r>
              <a:rPr lang="en-AU" sz="1400" dirty="0">
                <a:solidFill>
                  <a:schemeClr val="tx2"/>
                </a:solidFill>
              </a:rPr>
              <a:t>Iconoscope</a:t>
            </a:r>
          </a:p>
          <a:p>
            <a:pPr marL="180975" indent="-180975"/>
            <a:r>
              <a:rPr lang="en-AU" sz="1400" dirty="0"/>
              <a:t>Zworykin submitted his patent application first …</a:t>
            </a:r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725" y="331788"/>
            <a:ext cx="2835275" cy="229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10" descr="http://uv201.com/Tube_Pages/Tube_Images/iconoscope/1849_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363" y="3581400"/>
            <a:ext cx="6370637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Rectangle 1"/>
          <p:cNvSpPr>
            <a:spLocks noChangeArrowheads="1"/>
          </p:cNvSpPr>
          <p:nvPr/>
        </p:nvSpPr>
        <p:spPr bwMode="auto">
          <a:xfrm>
            <a:off x="375761" y="2033845"/>
            <a:ext cx="47482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/>
            <a:r>
              <a:rPr lang="en-AU" sz="1400" dirty="0">
                <a:latin typeface="Lucida Sans Unicode" pitchFamily="34" charset="0"/>
              </a:rPr>
              <a:t>	… but after many years of legal battle Farnsworth was acknowledged as the inventor of electronic television.</a:t>
            </a:r>
          </a:p>
          <a:p>
            <a:pPr marL="180975" indent="-180975"/>
            <a:endParaRPr lang="en-AU" sz="1400" dirty="0">
              <a:latin typeface="Lucida Sans Unicode" pitchFamily="34" charset="0"/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en-AU" sz="1400" dirty="0">
                <a:latin typeface="Lucida Sans Unicode" pitchFamily="34" charset="0"/>
              </a:rPr>
              <a:t>end 1923 - he produced a picture display tube, the "Kinescope”</a:t>
            </a:r>
          </a:p>
        </p:txBody>
      </p:sp>
    </p:spTree>
    <p:extLst>
      <p:ext uri="{BB962C8B-B14F-4D97-AF65-F5344CB8AC3E}">
        <p14:creationId xmlns:p14="http://schemas.microsoft.com/office/powerpoint/2010/main" val="3019175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 descr="D:\IMAGES\dmv\iconoscope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60438"/>
            <a:ext cx="6014486" cy="3428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/>
              <a:t>Vladimir Zworykin - Iconoscope</a:t>
            </a:r>
          </a:p>
        </p:txBody>
      </p:sp>
      <p:pic>
        <p:nvPicPr>
          <p:cNvPr id="15364" name="Picture 10" descr="http://uv201.com/Tube_Pages/Tube_Images/iconoscope/1849_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249" y="4158532"/>
            <a:ext cx="5249751" cy="2699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230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3700" y="1440611"/>
            <a:ext cx="789155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9600" b="1" dirty="0">
                <a:latin typeface="Lucida Sans Unicode" pitchFamily="34" charset="0"/>
              </a:rPr>
              <a:t>Analogue TV Technology</a:t>
            </a:r>
          </a:p>
          <a:p>
            <a:pPr>
              <a:defRPr/>
            </a:pPr>
            <a:r>
              <a:rPr lang="en-GB" sz="2800" b="1" dirty="0">
                <a:latin typeface="Lucida Sans Unicode" pitchFamily="34" charset="0"/>
              </a:rPr>
              <a:t> 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2000" b="1" dirty="0">
                <a:latin typeface="Lucida Sans Unicode" pitchFamily="34" charset="0"/>
              </a:rPr>
              <a:t>mostly history</a:t>
            </a:r>
          </a:p>
          <a:p>
            <a:pPr marL="180975" indent="-180975">
              <a:buFont typeface="Arial" pitchFamily="34" charset="0"/>
              <a:buChar char="•"/>
              <a:defRPr/>
            </a:pPr>
            <a:r>
              <a:rPr lang="en-GB" sz="2000" b="1" dirty="0">
                <a:latin typeface="Lucida Sans Unicode" pitchFamily="34" charset="0"/>
              </a:rPr>
              <a:t>but many elements remain in digital systems </a:t>
            </a:r>
            <a:r>
              <a:rPr lang="en-GB" sz="2800" b="1" dirty="0">
                <a:latin typeface="Lucida Sans Unicode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963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395288" y="323850"/>
            <a:ext cx="28924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Thermionic Valves</a:t>
            </a:r>
          </a:p>
        </p:txBody>
      </p:sp>
      <p:sp>
        <p:nvSpPr>
          <p:cNvPr id="4099" name="AutoShape 5"/>
          <p:cNvSpPr>
            <a:spLocks noChangeArrowheads="1"/>
          </p:cNvSpPr>
          <p:nvPr/>
        </p:nvSpPr>
        <p:spPr bwMode="auto">
          <a:xfrm>
            <a:off x="3657600" y="1473200"/>
            <a:ext cx="1612900" cy="39497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100" name="Line 6"/>
          <p:cNvSpPr>
            <a:spLocks noChangeShapeType="1"/>
          </p:cNvSpPr>
          <p:nvPr/>
        </p:nvSpPr>
        <p:spPr bwMode="auto">
          <a:xfrm flipV="1">
            <a:off x="4064000" y="485140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1" name="Line 7"/>
          <p:cNvSpPr>
            <a:spLocks noChangeShapeType="1"/>
          </p:cNvSpPr>
          <p:nvPr/>
        </p:nvSpPr>
        <p:spPr bwMode="auto">
          <a:xfrm flipV="1">
            <a:off x="4787900" y="485775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2" name="Line 8"/>
          <p:cNvSpPr>
            <a:spLocks noChangeShapeType="1"/>
          </p:cNvSpPr>
          <p:nvPr/>
        </p:nvSpPr>
        <p:spPr bwMode="auto">
          <a:xfrm flipH="1">
            <a:off x="4049713" y="5778500"/>
            <a:ext cx="323850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3" name="Line 9"/>
          <p:cNvSpPr>
            <a:spLocks noChangeShapeType="1"/>
          </p:cNvSpPr>
          <p:nvPr/>
        </p:nvSpPr>
        <p:spPr bwMode="auto">
          <a:xfrm flipH="1">
            <a:off x="4502150" y="5783263"/>
            <a:ext cx="290513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4" name="Line 10"/>
          <p:cNvSpPr>
            <a:spLocks noChangeShapeType="1"/>
          </p:cNvSpPr>
          <p:nvPr/>
        </p:nvSpPr>
        <p:spPr bwMode="auto">
          <a:xfrm flipV="1">
            <a:off x="4497388" y="5676900"/>
            <a:ext cx="0" cy="209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5" name="Line 11"/>
          <p:cNvSpPr>
            <a:spLocks noChangeShapeType="1"/>
          </p:cNvSpPr>
          <p:nvPr/>
        </p:nvSpPr>
        <p:spPr bwMode="auto">
          <a:xfrm flipV="1">
            <a:off x="4368800" y="5576888"/>
            <a:ext cx="0" cy="401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4106" name="Picture 30" descr="Clipboard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8150" y="4735513"/>
            <a:ext cx="35083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7" name="Line 31"/>
          <p:cNvSpPr>
            <a:spLocks noChangeShapeType="1"/>
          </p:cNvSpPr>
          <p:nvPr/>
        </p:nvSpPr>
        <p:spPr bwMode="auto">
          <a:xfrm flipH="1" flipV="1">
            <a:off x="4040188" y="4857750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8" name="Line 32"/>
          <p:cNvSpPr>
            <a:spLocks noChangeShapeType="1"/>
          </p:cNvSpPr>
          <p:nvPr/>
        </p:nvSpPr>
        <p:spPr bwMode="auto">
          <a:xfrm flipH="1" flipV="1">
            <a:off x="4554538" y="4867275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9" name="Line 33"/>
          <p:cNvSpPr>
            <a:spLocks noChangeShapeType="1"/>
          </p:cNvSpPr>
          <p:nvPr/>
        </p:nvSpPr>
        <p:spPr bwMode="auto">
          <a:xfrm flipV="1">
            <a:off x="3444875" y="4695825"/>
            <a:ext cx="488950" cy="758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0" name="Line 34"/>
          <p:cNvSpPr>
            <a:spLocks noChangeShapeType="1"/>
          </p:cNvSpPr>
          <p:nvPr/>
        </p:nvSpPr>
        <p:spPr bwMode="auto">
          <a:xfrm flipV="1">
            <a:off x="3933825" y="4695825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1" name="Line 35"/>
          <p:cNvSpPr>
            <a:spLocks noChangeShapeType="1"/>
          </p:cNvSpPr>
          <p:nvPr/>
        </p:nvSpPr>
        <p:spPr bwMode="auto">
          <a:xfrm>
            <a:off x="4886325" y="4695825"/>
            <a:ext cx="152400" cy="190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2" name="Line 36"/>
          <p:cNvSpPr>
            <a:spLocks noChangeShapeType="1"/>
          </p:cNvSpPr>
          <p:nvPr/>
        </p:nvSpPr>
        <p:spPr bwMode="auto">
          <a:xfrm flipH="1" flipV="1">
            <a:off x="3448050" y="5422900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3" name="Line 37"/>
          <p:cNvSpPr>
            <a:spLocks noChangeShapeType="1"/>
          </p:cNvSpPr>
          <p:nvPr/>
        </p:nvSpPr>
        <p:spPr bwMode="auto">
          <a:xfrm flipH="1" flipV="1">
            <a:off x="4479925" y="1284288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4" name="Line 38"/>
          <p:cNvSpPr>
            <a:spLocks noChangeShapeType="1"/>
          </p:cNvSpPr>
          <p:nvPr/>
        </p:nvSpPr>
        <p:spPr bwMode="auto">
          <a:xfrm flipV="1">
            <a:off x="4040188" y="1789113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5" name="Line 39"/>
          <p:cNvSpPr>
            <a:spLocks noChangeShapeType="1"/>
          </p:cNvSpPr>
          <p:nvPr/>
        </p:nvSpPr>
        <p:spPr bwMode="auto">
          <a:xfrm flipV="1">
            <a:off x="2409825" y="1296988"/>
            <a:ext cx="2070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6" name="Line 41"/>
          <p:cNvSpPr>
            <a:spLocks noChangeShapeType="1"/>
          </p:cNvSpPr>
          <p:nvPr/>
        </p:nvSpPr>
        <p:spPr bwMode="auto">
          <a:xfrm flipH="1" flipV="1">
            <a:off x="2405063" y="3876675"/>
            <a:ext cx="17462" cy="2063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7" name="Line 49"/>
          <p:cNvSpPr>
            <a:spLocks noChangeShapeType="1"/>
          </p:cNvSpPr>
          <p:nvPr/>
        </p:nvSpPr>
        <p:spPr bwMode="auto">
          <a:xfrm flipV="1">
            <a:off x="2398713" y="5915025"/>
            <a:ext cx="1038225" cy="238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8" name="Text Box 50"/>
          <p:cNvSpPr txBox="1">
            <a:spLocks noChangeArrowheads="1"/>
          </p:cNvSpPr>
          <p:nvPr/>
        </p:nvSpPr>
        <p:spPr bwMode="auto">
          <a:xfrm>
            <a:off x="5772150" y="4843463"/>
            <a:ext cx="83708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</a:t>
            </a:r>
          </a:p>
        </p:txBody>
      </p:sp>
      <p:sp>
        <p:nvSpPr>
          <p:cNvPr id="4119" name="Text Box 51"/>
          <p:cNvSpPr txBox="1">
            <a:spLocks noChangeArrowheads="1"/>
          </p:cNvSpPr>
          <p:nvPr/>
        </p:nvSpPr>
        <p:spPr bwMode="auto">
          <a:xfrm>
            <a:off x="5772150" y="5418138"/>
            <a:ext cx="155683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 Circuit</a:t>
            </a:r>
          </a:p>
        </p:txBody>
      </p:sp>
      <p:sp>
        <p:nvSpPr>
          <p:cNvPr id="4120" name="Text Box 52"/>
          <p:cNvSpPr txBox="1">
            <a:spLocks noChangeArrowheads="1"/>
          </p:cNvSpPr>
          <p:nvPr/>
        </p:nvSpPr>
        <p:spPr bwMode="auto">
          <a:xfrm>
            <a:off x="5737225" y="4364038"/>
            <a:ext cx="101502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Cathode</a:t>
            </a: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 rot="5400000">
            <a:off x="2032794" y="3291681"/>
            <a:ext cx="742950" cy="401638"/>
            <a:chOff x="868" y="1755"/>
            <a:chExt cx="468" cy="253"/>
          </a:xfrm>
        </p:grpSpPr>
        <p:sp>
          <p:nvSpPr>
            <p:cNvPr id="4131" name="Line 53"/>
            <p:cNvSpPr>
              <a:spLocks noChangeShapeType="1"/>
            </p:cNvSpPr>
            <p:nvPr/>
          </p:nvSpPr>
          <p:spPr bwMode="auto">
            <a:xfrm flipH="1">
              <a:off x="868" y="1882"/>
              <a:ext cx="204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4132" name="Line 54"/>
            <p:cNvSpPr>
              <a:spLocks noChangeShapeType="1"/>
            </p:cNvSpPr>
            <p:nvPr/>
          </p:nvSpPr>
          <p:spPr bwMode="auto">
            <a:xfrm flipH="1">
              <a:off x="1153" y="1885"/>
              <a:ext cx="183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4133" name="Line 55"/>
            <p:cNvSpPr>
              <a:spLocks noChangeShapeType="1"/>
            </p:cNvSpPr>
            <p:nvPr/>
          </p:nvSpPr>
          <p:spPr bwMode="auto">
            <a:xfrm flipV="1">
              <a:off x="1150" y="1818"/>
              <a:ext cx="0" cy="1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4134" name="Line 56"/>
            <p:cNvSpPr>
              <a:spLocks noChangeShapeType="1"/>
            </p:cNvSpPr>
            <p:nvPr/>
          </p:nvSpPr>
          <p:spPr bwMode="auto">
            <a:xfrm flipV="1">
              <a:off x="1069" y="175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4122" name="Line 58"/>
          <p:cNvSpPr>
            <a:spLocks noChangeShapeType="1"/>
          </p:cNvSpPr>
          <p:nvPr/>
        </p:nvSpPr>
        <p:spPr bwMode="auto">
          <a:xfrm flipV="1">
            <a:off x="2398713" y="1296988"/>
            <a:ext cx="17462" cy="19224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23" name="Line 59"/>
          <p:cNvSpPr>
            <a:spLocks noChangeShapeType="1"/>
          </p:cNvSpPr>
          <p:nvPr/>
        </p:nvSpPr>
        <p:spPr bwMode="auto">
          <a:xfrm flipH="1" flipV="1">
            <a:off x="4865688" y="4924425"/>
            <a:ext cx="960437" cy="9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24" name="Line 60"/>
          <p:cNvSpPr>
            <a:spLocks noChangeShapeType="1"/>
          </p:cNvSpPr>
          <p:nvPr/>
        </p:nvSpPr>
        <p:spPr bwMode="auto">
          <a:xfrm flipH="1">
            <a:off x="4760913" y="5521325"/>
            <a:ext cx="1076325" cy="58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25" name="Line 61"/>
          <p:cNvSpPr>
            <a:spLocks noChangeShapeType="1"/>
          </p:cNvSpPr>
          <p:nvPr/>
        </p:nvSpPr>
        <p:spPr bwMode="auto">
          <a:xfrm flipH="1" flipV="1">
            <a:off x="4972050" y="1874838"/>
            <a:ext cx="808038" cy="23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26" name="Line 62"/>
          <p:cNvSpPr>
            <a:spLocks noChangeShapeType="1"/>
          </p:cNvSpPr>
          <p:nvPr/>
        </p:nvSpPr>
        <p:spPr bwMode="auto">
          <a:xfrm flipH="1">
            <a:off x="4995863" y="4524375"/>
            <a:ext cx="747712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27" name="Text Box 63"/>
          <p:cNvSpPr txBox="1">
            <a:spLocks noChangeArrowheads="1"/>
          </p:cNvSpPr>
          <p:nvPr/>
        </p:nvSpPr>
        <p:spPr bwMode="auto">
          <a:xfrm>
            <a:off x="5735638" y="2041525"/>
            <a:ext cx="82266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Anode</a:t>
            </a:r>
          </a:p>
        </p:txBody>
      </p:sp>
      <p:sp>
        <p:nvSpPr>
          <p:cNvPr id="4128" name="Text Box 64"/>
          <p:cNvSpPr txBox="1">
            <a:spLocks noChangeArrowheads="1"/>
          </p:cNvSpPr>
          <p:nvPr/>
        </p:nvSpPr>
        <p:spPr bwMode="auto">
          <a:xfrm>
            <a:off x="5759450" y="2968625"/>
            <a:ext cx="984565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Vacuum</a:t>
            </a:r>
          </a:p>
        </p:txBody>
      </p:sp>
      <p:sp>
        <p:nvSpPr>
          <p:cNvPr id="4129" name="Line 65"/>
          <p:cNvSpPr>
            <a:spLocks noChangeShapeType="1"/>
          </p:cNvSpPr>
          <p:nvPr/>
        </p:nvSpPr>
        <p:spPr bwMode="auto">
          <a:xfrm flipH="1" flipV="1">
            <a:off x="4872038" y="3025775"/>
            <a:ext cx="858837" cy="34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4130" name="Picture 69"/>
          <p:cNvPicPr>
            <a:picLocks noChangeAspect="1" noChangeArrowheads="1"/>
          </p:cNvPicPr>
          <p:nvPr/>
        </p:nvPicPr>
        <p:blipFill>
          <a:blip r:embed="rId3" cstate="print"/>
          <a:srcRect l="18445" r="20999"/>
          <a:stretch>
            <a:fillRect/>
          </a:stretch>
        </p:blipFill>
        <p:spPr bwMode="auto">
          <a:xfrm>
            <a:off x="7693025" y="1435100"/>
            <a:ext cx="1450975" cy="4200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39527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395288" y="323850"/>
            <a:ext cx="28924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Thermionic Valves</a:t>
            </a:r>
          </a:p>
        </p:txBody>
      </p:sp>
      <p:sp>
        <p:nvSpPr>
          <p:cNvPr id="5123" name="AutoShape 5"/>
          <p:cNvSpPr>
            <a:spLocks noChangeArrowheads="1"/>
          </p:cNvSpPr>
          <p:nvPr/>
        </p:nvSpPr>
        <p:spPr bwMode="auto">
          <a:xfrm>
            <a:off x="3657600" y="1473200"/>
            <a:ext cx="1612900" cy="39497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5124" name="Line 6"/>
          <p:cNvSpPr>
            <a:spLocks noChangeShapeType="1"/>
          </p:cNvSpPr>
          <p:nvPr/>
        </p:nvSpPr>
        <p:spPr bwMode="auto">
          <a:xfrm flipV="1">
            <a:off x="4064000" y="485140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25" name="Line 7"/>
          <p:cNvSpPr>
            <a:spLocks noChangeShapeType="1"/>
          </p:cNvSpPr>
          <p:nvPr/>
        </p:nvSpPr>
        <p:spPr bwMode="auto">
          <a:xfrm flipV="1">
            <a:off x="4787900" y="485775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26" name="Line 8"/>
          <p:cNvSpPr>
            <a:spLocks noChangeShapeType="1"/>
          </p:cNvSpPr>
          <p:nvPr/>
        </p:nvSpPr>
        <p:spPr bwMode="auto">
          <a:xfrm flipH="1">
            <a:off x="4049713" y="5778500"/>
            <a:ext cx="323850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27" name="Line 9"/>
          <p:cNvSpPr>
            <a:spLocks noChangeShapeType="1"/>
          </p:cNvSpPr>
          <p:nvPr/>
        </p:nvSpPr>
        <p:spPr bwMode="auto">
          <a:xfrm flipH="1">
            <a:off x="4502150" y="5783263"/>
            <a:ext cx="290513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28" name="Line 10"/>
          <p:cNvSpPr>
            <a:spLocks noChangeShapeType="1"/>
          </p:cNvSpPr>
          <p:nvPr/>
        </p:nvSpPr>
        <p:spPr bwMode="auto">
          <a:xfrm flipV="1">
            <a:off x="4497388" y="5676900"/>
            <a:ext cx="0" cy="209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29" name="Line 11"/>
          <p:cNvSpPr>
            <a:spLocks noChangeShapeType="1"/>
          </p:cNvSpPr>
          <p:nvPr/>
        </p:nvSpPr>
        <p:spPr bwMode="auto">
          <a:xfrm flipV="1">
            <a:off x="4368800" y="5576888"/>
            <a:ext cx="0" cy="401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5130" name="Picture 12" descr="Clipboard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8150" y="4735513"/>
            <a:ext cx="35083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1" name="Line 13"/>
          <p:cNvSpPr>
            <a:spLocks noChangeShapeType="1"/>
          </p:cNvSpPr>
          <p:nvPr/>
        </p:nvSpPr>
        <p:spPr bwMode="auto">
          <a:xfrm flipH="1" flipV="1">
            <a:off x="4040188" y="4857750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32" name="Line 14"/>
          <p:cNvSpPr>
            <a:spLocks noChangeShapeType="1"/>
          </p:cNvSpPr>
          <p:nvPr/>
        </p:nvSpPr>
        <p:spPr bwMode="auto">
          <a:xfrm flipH="1" flipV="1">
            <a:off x="4554538" y="4867275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33" name="Line 15"/>
          <p:cNvSpPr>
            <a:spLocks noChangeShapeType="1"/>
          </p:cNvSpPr>
          <p:nvPr/>
        </p:nvSpPr>
        <p:spPr bwMode="auto">
          <a:xfrm flipV="1">
            <a:off x="3444875" y="4695825"/>
            <a:ext cx="488950" cy="758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34" name="Line 16"/>
          <p:cNvSpPr>
            <a:spLocks noChangeShapeType="1"/>
          </p:cNvSpPr>
          <p:nvPr/>
        </p:nvSpPr>
        <p:spPr bwMode="auto">
          <a:xfrm flipV="1">
            <a:off x="3933825" y="4695825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35" name="Line 17"/>
          <p:cNvSpPr>
            <a:spLocks noChangeShapeType="1"/>
          </p:cNvSpPr>
          <p:nvPr/>
        </p:nvSpPr>
        <p:spPr bwMode="auto">
          <a:xfrm>
            <a:off x="4886325" y="4695825"/>
            <a:ext cx="152400" cy="190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5136" name="Line 18"/>
          <p:cNvSpPr>
            <a:spLocks noChangeShapeType="1"/>
          </p:cNvSpPr>
          <p:nvPr/>
        </p:nvSpPr>
        <p:spPr bwMode="auto">
          <a:xfrm flipH="1" flipV="1">
            <a:off x="3448050" y="5422900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37" name="Line 19"/>
          <p:cNvSpPr>
            <a:spLocks noChangeShapeType="1"/>
          </p:cNvSpPr>
          <p:nvPr/>
        </p:nvSpPr>
        <p:spPr bwMode="auto">
          <a:xfrm flipH="1" flipV="1">
            <a:off x="4479925" y="1284288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38" name="Line 20"/>
          <p:cNvSpPr>
            <a:spLocks noChangeShapeType="1"/>
          </p:cNvSpPr>
          <p:nvPr/>
        </p:nvSpPr>
        <p:spPr bwMode="auto">
          <a:xfrm flipV="1">
            <a:off x="4040188" y="1789113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39" name="Line 21"/>
          <p:cNvSpPr>
            <a:spLocks noChangeShapeType="1"/>
          </p:cNvSpPr>
          <p:nvPr/>
        </p:nvSpPr>
        <p:spPr bwMode="auto">
          <a:xfrm flipV="1">
            <a:off x="2409825" y="1296988"/>
            <a:ext cx="2070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40" name="Line 23"/>
          <p:cNvSpPr>
            <a:spLocks noChangeShapeType="1"/>
          </p:cNvSpPr>
          <p:nvPr/>
        </p:nvSpPr>
        <p:spPr bwMode="auto">
          <a:xfrm flipH="1" flipV="1">
            <a:off x="2405063" y="3876675"/>
            <a:ext cx="17462" cy="2063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41" name="Line 25"/>
          <p:cNvSpPr>
            <a:spLocks noChangeShapeType="1"/>
          </p:cNvSpPr>
          <p:nvPr/>
        </p:nvSpPr>
        <p:spPr bwMode="auto">
          <a:xfrm flipV="1">
            <a:off x="2398713" y="5915025"/>
            <a:ext cx="1038225" cy="238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42" name="Text Box 26"/>
          <p:cNvSpPr txBox="1">
            <a:spLocks noChangeArrowheads="1"/>
          </p:cNvSpPr>
          <p:nvPr/>
        </p:nvSpPr>
        <p:spPr bwMode="auto">
          <a:xfrm>
            <a:off x="5772150" y="4843463"/>
            <a:ext cx="83708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</a:t>
            </a:r>
          </a:p>
        </p:txBody>
      </p:sp>
      <p:sp>
        <p:nvSpPr>
          <p:cNvPr id="5143" name="Text Box 27"/>
          <p:cNvSpPr txBox="1">
            <a:spLocks noChangeArrowheads="1"/>
          </p:cNvSpPr>
          <p:nvPr/>
        </p:nvSpPr>
        <p:spPr bwMode="auto">
          <a:xfrm>
            <a:off x="5772150" y="5418138"/>
            <a:ext cx="155683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 Circuit</a:t>
            </a:r>
          </a:p>
        </p:txBody>
      </p:sp>
      <p:sp>
        <p:nvSpPr>
          <p:cNvPr id="5144" name="Text Box 28"/>
          <p:cNvSpPr txBox="1">
            <a:spLocks noChangeArrowheads="1"/>
          </p:cNvSpPr>
          <p:nvPr/>
        </p:nvSpPr>
        <p:spPr bwMode="auto">
          <a:xfrm>
            <a:off x="5749925" y="3179763"/>
            <a:ext cx="1760538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Electrons released from cathode due to heating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 rot="5400000">
            <a:off x="2032794" y="3291681"/>
            <a:ext cx="742950" cy="401638"/>
            <a:chOff x="868" y="1755"/>
            <a:chExt cx="468" cy="253"/>
          </a:xfrm>
        </p:grpSpPr>
        <p:sp>
          <p:nvSpPr>
            <p:cNvPr id="5178" name="Line 30"/>
            <p:cNvSpPr>
              <a:spLocks noChangeShapeType="1"/>
            </p:cNvSpPr>
            <p:nvPr/>
          </p:nvSpPr>
          <p:spPr bwMode="auto">
            <a:xfrm flipH="1">
              <a:off x="868" y="1882"/>
              <a:ext cx="204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5179" name="Line 31"/>
            <p:cNvSpPr>
              <a:spLocks noChangeShapeType="1"/>
            </p:cNvSpPr>
            <p:nvPr/>
          </p:nvSpPr>
          <p:spPr bwMode="auto">
            <a:xfrm flipH="1">
              <a:off x="1153" y="1885"/>
              <a:ext cx="183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5180" name="Line 32"/>
            <p:cNvSpPr>
              <a:spLocks noChangeShapeType="1"/>
            </p:cNvSpPr>
            <p:nvPr/>
          </p:nvSpPr>
          <p:spPr bwMode="auto">
            <a:xfrm flipV="1">
              <a:off x="1150" y="1818"/>
              <a:ext cx="0" cy="1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5181" name="Line 33"/>
            <p:cNvSpPr>
              <a:spLocks noChangeShapeType="1"/>
            </p:cNvSpPr>
            <p:nvPr/>
          </p:nvSpPr>
          <p:spPr bwMode="auto">
            <a:xfrm flipV="1">
              <a:off x="1069" y="175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5146" name="Line 34"/>
          <p:cNvSpPr>
            <a:spLocks noChangeShapeType="1"/>
          </p:cNvSpPr>
          <p:nvPr/>
        </p:nvSpPr>
        <p:spPr bwMode="auto">
          <a:xfrm flipV="1">
            <a:off x="2398713" y="1296988"/>
            <a:ext cx="17462" cy="19224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47" name="Line 35"/>
          <p:cNvSpPr>
            <a:spLocks noChangeShapeType="1"/>
          </p:cNvSpPr>
          <p:nvPr/>
        </p:nvSpPr>
        <p:spPr bwMode="auto">
          <a:xfrm flipH="1" flipV="1">
            <a:off x="4865688" y="4924425"/>
            <a:ext cx="960437" cy="9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5148" name="Line 36"/>
          <p:cNvSpPr>
            <a:spLocks noChangeShapeType="1"/>
          </p:cNvSpPr>
          <p:nvPr/>
        </p:nvSpPr>
        <p:spPr bwMode="auto">
          <a:xfrm flipH="1">
            <a:off x="4760913" y="5521325"/>
            <a:ext cx="1076325" cy="58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149" name="Line 37"/>
          <p:cNvSpPr>
            <a:spLocks noChangeShapeType="1"/>
          </p:cNvSpPr>
          <p:nvPr/>
        </p:nvSpPr>
        <p:spPr bwMode="auto">
          <a:xfrm flipH="1" flipV="1">
            <a:off x="4972050" y="1874838"/>
            <a:ext cx="808038" cy="23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5150" name="Line 38"/>
          <p:cNvSpPr>
            <a:spLocks noChangeShapeType="1"/>
          </p:cNvSpPr>
          <p:nvPr/>
        </p:nvSpPr>
        <p:spPr bwMode="auto">
          <a:xfrm flipH="1">
            <a:off x="4995863" y="4524375"/>
            <a:ext cx="747712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 dirty="0">
              <a:latin typeface="Lucida Sans Unicode" pitchFamily="34" charset="0"/>
            </a:endParaRPr>
          </a:p>
        </p:txBody>
      </p:sp>
      <p:sp>
        <p:nvSpPr>
          <p:cNvPr id="5151" name="Text Box 39"/>
          <p:cNvSpPr txBox="1">
            <a:spLocks noChangeArrowheads="1"/>
          </p:cNvSpPr>
          <p:nvPr/>
        </p:nvSpPr>
        <p:spPr bwMode="auto">
          <a:xfrm>
            <a:off x="5735638" y="2041525"/>
            <a:ext cx="82266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Anode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4079875" y="4056063"/>
            <a:ext cx="269875" cy="198437"/>
            <a:chOff x="635" y="2710"/>
            <a:chExt cx="303" cy="177"/>
          </a:xfrm>
        </p:grpSpPr>
        <p:sp>
          <p:nvSpPr>
            <p:cNvPr id="5176" name="Oval 40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77" name="Line 41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3856038" y="4313238"/>
            <a:ext cx="269875" cy="198437"/>
            <a:chOff x="635" y="2710"/>
            <a:chExt cx="303" cy="177"/>
          </a:xfrm>
        </p:grpSpPr>
        <p:sp>
          <p:nvSpPr>
            <p:cNvPr id="5174" name="Oval 44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75" name="Line 45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4360863" y="4395788"/>
            <a:ext cx="269875" cy="198437"/>
            <a:chOff x="635" y="2710"/>
            <a:chExt cx="303" cy="177"/>
          </a:xfrm>
        </p:grpSpPr>
        <p:sp>
          <p:nvSpPr>
            <p:cNvPr id="5172" name="Oval 47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73" name="Line 48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4548188" y="4149725"/>
            <a:ext cx="269875" cy="198438"/>
            <a:chOff x="635" y="2710"/>
            <a:chExt cx="303" cy="177"/>
          </a:xfrm>
        </p:grpSpPr>
        <p:sp>
          <p:nvSpPr>
            <p:cNvPr id="5170" name="Oval 50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71" name="Line 51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4841875" y="4291013"/>
            <a:ext cx="269875" cy="198437"/>
            <a:chOff x="635" y="2710"/>
            <a:chExt cx="303" cy="177"/>
          </a:xfrm>
        </p:grpSpPr>
        <p:sp>
          <p:nvSpPr>
            <p:cNvPr id="5168" name="Oval 53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latin typeface="Lucida Sans Unicode" pitchFamily="34" charset="0"/>
              </a:endParaRPr>
            </a:p>
          </p:txBody>
        </p:sp>
        <p:sp>
          <p:nvSpPr>
            <p:cNvPr id="5169" name="Line 54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 dirty="0">
                <a:latin typeface="Lucida Sans Unicode" pitchFamily="34" charset="0"/>
              </a:endParaRPr>
            </a:p>
          </p:txBody>
        </p:sp>
      </p:grp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4352925" y="4008438"/>
            <a:ext cx="269875" cy="198437"/>
            <a:chOff x="635" y="2710"/>
            <a:chExt cx="303" cy="177"/>
          </a:xfrm>
        </p:grpSpPr>
        <p:sp>
          <p:nvSpPr>
            <p:cNvPr id="5166" name="Oval 56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67" name="Line 57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9" name="Group 58"/>
          <p:cNvGrpSpPr>
            <a:grpSpLocks/>
          </p:cNvGrpSpPr>
          <p:nvPr/>
        </p:nvGrpSpPr>
        <p:grpSpPr bwMode="auto">
          <a:xfrm>
            <a:off x="4735513" y="4027488"/>
            <a:ext cx="269875" cy="198437"/>
            <a:chOff x="635" y="2710"/>
            <a:chExt cx="303" cy="177"/>
          </a:xfrm>
        </p:grpSpPr>
        <p:sp>
          <p:nvSpPr>
            <p:cNvPr id="5164" name="Oval 59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65" name="Line 60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5159" name="Text Box 61"/>
          <p:cNvSpPr txBox="1">
            <a:spLocks noChangeArrowheads="1"/>
          </p:cNvSpPr>
          <p:nvPr/>
        </p:nvSpPr>
        <p:spPr bwMode="auto">
          <a:xfrm>
            <a:off x="5737225" y="4364038"/>
            <a:ext cx="101502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Cathode</a:t>
            </a:r>
          </a:p>
        </p:txBody>
      </p:sp>
      <p:sp>
        <p:nvSpPr>
          <p:cNvPr id="5160" name="Line 62"/>
          <p:cNvSpPr>
            <a:spLocks noChangeShapeType="1"/>
          </p:cNvSpPr>
          <p:nvPr/>
        </p:nvSpPr>
        <p:spPr bwMode="auto">
          <a:xfrm flipH="1">
            <a:off x="5114925" y="3684588"/>
            <a:ext cx="654050" cy="23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 dirty="0">
              <a:latin typeface="Lucida Sans Unicode" pitchFamily="34" charset="0"/>
            </a:endParaRPr>
          </a:p>
        </p:txBody>
      </p:sp>
      <p:grpSp>
        <p:nvGrpSpPr>
          <p:cNvPr id="10" name="Group 63"/>
          <p:cNvGrpSpPr>
            <a:grpSpLocks/>
          </p:cNvGrpSpPr>
          <p:nvPr/>
        </p:nvGrpSpPr>
        <p:grpSpPr bwMode="auto">
          <a:xfrm>
            <a:off x="4133850" y="4295775"/>
            <a:ext cx="269875" cy="198438"/>
            <a:chOff x="635" y="2710"/>
            <a:chExt cx="303" cy="177"/>
          </a:xfrm>
        </p:grpSpPr>
        <p:sp>
          <p:nvSpPr>
            <p:cNvPr id="5162" name="Oval 64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63" name="Line 65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1108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4"/>
          <p:cNvSpPr txBox="1">
            <a:spLocks noChangeArrowheads="1"/>
          </p:cNvSpPr>
          <p:nvPr/>
        </p:nvSpPr>
        <p:spPr bwMode="auto">
          <a:xfrm>
            <a:off x="395288" y="323850"/>
            <a:ext cx="28924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Thermionic Valves</a:t>
            </a:r>
          </a:p>
        </p:txBody>
      </p:sp>
      <p:sp>
        <p:nvSpPr>
          <p:cNvPr id="6147" name="AutoShape 5"/>
          <p:cNvSpPr>
            <a:spLocks noChangeArrowheads="1"/>
          </p:cNvSpPr>
          <p:nvPr/>
        </p:nvSpPr>
        <p:spPr bwMode="auto">
          <a:xfrm>
            <a:off x="3657600" y="1473200"/>
            <a:ext cx="1612900" cy="39497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6148" name="Line 6"/>
          <p:cNvSpPr>
            <a:spLocks noChangeShapeType="1"/>
          </p:cNvSpPr>
          <p:nvPr/>
        </p:nvSpPr>
        <p:spPr bwMode="auto">
          <a:xfrm flipV="1">
            <a:off x="4064000" y="485140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49" name="Line 7"/>
          <p:cNvSpPr>
            <a:spLocks noChangeShapeType="1"/>
          </p:cNvSpPr>
          <p:nvPr/>
        </p:nvSpPr>
        <p:spPr bwMode="auto">
          <a:xfrm flipV="1">
            <a:off x="4787900" y="485775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0" name="Line 8"/>
          <p:cNvSpPr>
            <a:spLocks noChangeShapeType="1"/>
          </p:cNvSpPr>
          <p:nvPr/>
        </p:nvSpPr>
        <p:spPr bwMode="auto">
          <a:xfrm flipH="1">
            <a:off x="4049713" y="5778500"/>
            <a:ext cx="323850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1" name="Line 9"/>
          <p:cNvSpPr>
            <a:spLocks noChangeShapeType="1"/>
          </p:cNvSpPr>
          <p:nvPr/>
        </p:nvSpPr>
        <p:spPr bwMode="auto">
          <a:xfrm flipH="1">
            <a:off x="4502150" y="5783263"/>
            <a:ext cx="290513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2" name="Line 10"/>
          <p:cNvSpPr>
            <a:spLocks noChangeShapeType="1"/>
          </p:cNvSpPr>
          <p:nvPr/>
        </p:nvSpPr>
        <p:spPr bwMode="auto">
          <a:xfrm flipV="1">
            <a:off x="4497388" y="5676900"/>
            <a:ext cx="0" cy="209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3" name="Line 11"/>
          <p:cNvSpPr>
            <a:spLocks noChangeShapeType="1"/>
          </p:cNvSpPr>
          <p:nvPr/>
        </p:nvSpPr>
        <p:spPr bwMode="auto">
          <a:xfrm flipV="1">
            <a:off x="4368800" y="5576888"/>
            <a:ext cx="0" cy="401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6154" name="Picture 12" descr="Clipboard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8150" y="4735513"/>
            <a:ext cx="35083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5" name="Line 13"/>
          <p:cNvSpPr>
            <a:spLocks noChangeShapeType="1"/>
          </p:cNvSpPr>
          <p:nvPr/>
        </p:nvSpPr>
        <p:spPr bwMode="auto">
          <a:xfrm flipH="1" flipV="1">
            <a:off x="4040188" y="4857750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6" name="Line 14"/>
          <p:cNvSpPr>
            <a:spLocks noChangeShapeType="1"/>
          </p:cNvSpPr>
          <p:nvPr/>
        </p:nvSpPr>
        <p:spPr bwMode="auto">
          <a:xfrm flipH="1" flipV="1">
            <a:off x="4554538" y="4867275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7" name="Line 15"/>
          <p:cNvSpPr>
            <a:spLocks noChangeShapeType="1"/>
          </p:cNvSpPr>
          <p:nvPr/>
        </p:nvSpPr>
        <p:spPr bwMode="auto">
          <a:xfrm flipV="1">
            <a:off x="3444875" y="4695825"/>
            <a:ext cx="488950" cy="758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8" name="Line 16"/>
          <p:cNvSpPr>
            <a:spLocks noChangeShapeType="1"/>
          </p:cNvSpPr>
          <p:nvPr/>
        </p:nvSpPr>
        <p:spPr bwMode="auto">
          <a:xfrm flipV="1">
            <a:off x="3933825" y="4695825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59" name="Line 17"/>
          <p:cNvSpPr>
            <a:spLocks noChangeShapeType="1"/>
          </p:cNvSpPr>
          <p:nvPr/>
        </p:nvSpPr>
        <p:spPr bwMode="auto">
          <a:xfrm>
            <a:off x="4886325" y="4695825"/>
            <a:ext cx="152400" cy="190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60" name="Line 18"/>
          <p:cNvSpPr>
            <a:spLocks noChangeShapeType="1"/>
          </p:cNvSpPr>
          <p:nvPr/>
        </p:nvSpPr>
        <p:spPr bwMode="auto">
          <a:xfrm flipH="1" flipV="1">
            <a:off x="3448050" y="5422900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61" name="Line 19"/>
          <p:cNvSpPr>
            <a:spLocks noChangeShapeType="1"/>
          </p:cNvSpPr>
          <p:nvPr/>
        </p:nvSpPr>
        <p:spPr bwMode="auto">
          <a:xfrm flipH="1" flipV="1">
            <a:off x="4479925" y="1284288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62" name="Line 20"/>
          <p:cNvSpPr>
            <a:spLocks noChangeShapeType="1"/>
          </p:cNvSpPr>
          <p:nvPr/>
        </p:nvSpPr>
        <p:spPr bwMode="auto">
          <a:xfrm flipV="1">
            <a:off x="4040188" y="1789113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63" name="Line 21"/>
          <p:cNvSpPr>
            <a:spLocks noChangeShapeType="1"/>
          </p:cNvSpPr>
          <p:nvPr/>
        </p:nvSpPr>
        <p:spPr bwMode="auto">
          <a:xfrm flipV="1">
            <a:off x="2409825" y="1296988"/>
            <a:ext cx="2070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64" name="Line 22"/>
          <p:cNvSpPr>
            <a:spLocks noChangeShapeType="1"/>
          </p:cNvSpPr>
          <p:nvPr/>
        </p:nvSpPr>
        <p:spPr bwMode="auto">
          <a:xfrm flipH="1" flipV="1">
            <a:off x="2405063" y="3876675"/>
            <a:ext cx="17462" cy="2063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65" name="Line 23"/>
          <p:cNvSpPr>
            <a:spLocks noChangeShapeType="1"/>
          </p:cNvSpPr>
          <p:nvPr/>
        </p:nvSpPr>
        <p:spPr bwMode="auto">
          <a:xfrm flipV="1">
            <a:off x="2398713" y="5915025"/>
            <a:ext cx="1038225" cy="238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66" name="Text Box 24"/>
          <p:cNvSpPr txBox="1">
            <a:spLocks noChangeArrowheads="1"/>
          </p:cNvSpPr>
          <p:nvPr/>
        </p:nvSpPr>
        <p:spPr bwMode="auto">
          <a:xfrm>
            <a:off x="5772150" y="4843463"/>
            <a:ext cx="83708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</a:t>
            </a:r>
          </a:p>
        </p:txBody>
      </p:sp>
      <p:sp>
        <p:nvSpPr>
          <p:cNvPr id="6167" name="Text Box 25"/>
          <p:cNvSpPr txBox="1">
            <a:spLocks noChangeArrowheads="1"/>
          </p:cNvSpPr>
          <p:nvPr/>
        </p:nvSpPr>
        <p:spPr bwMode="auto">
          <a:xfrm>
            <a:off x="5772150" y="5418138"/>
            <a:ext cx="155683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 Circuit</a:t>
            </a:r>
          </a:p>
        </p:txBody>
      </p:sp>
      <p:sp>
        <p:nvSpPr>
          <p:cNvPr id="6168" name="Text Box 26"/>
          <p:cNvSpPr txBox="1">
            <a:spLocks noChangeArrowheads="1"/>
          </p:cNvSpPr>
          <p:nvPr/>
        </p:nvSpPr>
        <p:spPr bwMode="auto">
          <a:xfrm>
            <a:off x="5716588" y="2870200"/>
            <a:ext cx="1760537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Electrons attracted to Anode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rot="5400000">
            <a:off x="2032794" y="3291681"/>
            <a:ext cx="742950" cy="401638"/>
            <a:chOff x="868" y="1755"/>
            <a:chExt cx="468" cy="253"/>
          </a:xfrm>
        </p:grpSpPr>
        <p:sp>
          <p:nvSpPr>
            <p:cNvPr id="6208" name="Line 28"/>
            <p:cNvSpPr>
              <a:spLocks noChangeShapeType="1"/>
            </p:cNvSpPr>
            <p:nvPr/>
          </p:nvSpPr>
          <p:spPr bwMode="auto">
            <a:xfrm flipH="1">
              <a:off x="868" y="1882"/>
              <a:ext cx="204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6209" name="Line 29"/>
            <p:cNvSpPr>
              <a:spLocks noChangeShapeType="1"/>
            </p:cNvSpPr>
            <p:nvPr/>
          </p:nvSpPr>
          <p:spPr bwMode="auto">
            <a:xfrm flipH="1">
              <a:off x="1153" y="1885"/>
              <a:ext cx="183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6210" name="Line 30"/>
            <p:cNvSpPr>
              <a:spLocks noChangeShapeType="1"/>
            </p:cNvSpPr>
            <p:nvPr/>
          </p:nvSpPr>
          <p:spPr bwMode="auto">
            <a:xfrm flipV="1">
              <a:off x="1150" y="1818"/>
              <a:ext cx="0" cy="1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6211" name="Line 31"/>
            <p:cNvSpPr>
              <a:spLocks noChangeShapeType="1"/>
            </p:cNvSpPr>
            <p:nvPr/>
          </p:nvSpPr>
          <p:spPr bwMode="auto">
            <a:xfrm flipV="1">
              <a:off x="1069" y="175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6170" name="Line 32"/>
          <p:cNvSpPr>
            <a:spLocks noChangeShapeType="1"/>
          </p:cNvSpPr>
          <p:nvPr/>
        </p:nvSpPr>
        <p:spPr bwMode="auto">
          <a:xfrm flipV="1">
            <a:off x="2398713" y="1296988"/>
            <a:ext cx="17462" cy="19224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71" name="Line 33"/>
          <p:cNvSpPr>
            <a:spLocks noChangeShapeType="1"/>
          </p:cNvSpPr>
          <p:nvPr/>
        </p:nvSpPr>
        <p:spPr bwMode="auto">
          <a:xfrm flipH="1" flipV="1">
            <a:off x="4865688" y="4924425"/>
            <a:ext cx="960437" cy="9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72" name="Line 34"/>
          <p:cNvSpPr>
            <a:spLocks noChangeShapeType="1"/>
          </p:cNvSpPr>
          <p:nvPr/>
        </p:nvSpPr>
        <p:spPr bwMode="auto">
          <a:xfrm flipH="1">
            <a:off x="4760913" y="5521325"/>
            <a:ext cx="1076325" cy="58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73" name="Line 35"/>
          <p:cNvSpPr>
            <a:spLocks noChangeShapeType="1"/>
          </p:cNvSpPr>
          <p:nvPr/>
        </p:nvSpPr>
        <p:spPr bwMode="auto">
          <a:xfrm flipH="1" flipV="1">
            <a:off x="4972050" y="1874838"/>
            <a:ext cx="808038" cy="23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74" name="Line 36"/>
          <p:cNvSpPr>
            <a:spLocks noChangeShapeType="1"/>
          </p:cNvSpPr>
          <p:nvPr/>
        </p:nvSpPr>
        <p:spPr bwMode="auto">
          <a:xfrm flipH="1">
            <a:off x="4995863" y="4524375"/>
            <a:ext cx="747712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75" name="Text Box 37"/>
          <p:cNvSpPr txBox="1">
            <a:spLocks noChangeArrowheads="1"/>
          </p:cNvSpPr>
          <p:nvPr/>
        </p:nvSpPr>
        <p:spPr bwMode="auto">
          <a:xfrm>
            <a:off x="5735638" y="2041525"/>
            <a:ext cx="82266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Anode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4365625" y="2095500"/>
            <a:ext cx="269875" cy="198438"/>
            <a:chOff x="635" y="2710"/>
            <a:chExt cx="303" cy="177"/>
          </a:xfrm>
        </p:grpSpPr>
        <p:sp>
          <p:nvSpPr>
            <p:cNvPr id="6206" name="Oval 39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207" name="Line 40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4010025" y="4268788"/>
            <a:ext cx="269875" cy="198437"/>
            <a:chOff x="635" y="2710"/>
            <a:chExt cx="303" cy="177"/>
          </a:xfrm>
        </p:grpSpPr>
        <p:sp>
          <p:nvSpPr>
            <p:cNvPr id="6204" name="Oval 42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205" name="Line 43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4295775" y="4362450"/>
            <a:ext cx="269875" cy="198438"/>
            <a:chOff x="635" y="2710"/>
            <a:chExt cx="303" cy="177"/>
          </a:xfrm>
        </p:grpSpPr>
        <p:sp>
          <p:nvSpPr>
            <p:cNvPr id="6202" name="Oval 45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203" name="Line 46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481513" y="4105275"/>
            <a:ext cx="269875" cy="198438"/>
            <a:chOff x="635" y="2710"/>
            <a:chExt cx="303" cy="177"/>
          </a:xfrm>
        </p:grpSpPr>
        <p:sp>
          <p:nvSpPr>
            <p:cNvPr id="6200" name="Oval 48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201" name="Line 49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6180" name="AutoShape 64"/>
          <p:cNvSpPr>
            <a:spLocks noChangeArrowheads="1"/>
          </p:cNvSpPr>
          <p:nvPr/>
        </p:nvSpPr>
        <p:spPr bwMode="auto">
          <a:xfrm>
            <a:off x="4043363" y="2379663"/>
            <a:ext cx="803275" cy="1774825"/>
          </a:xfrm>
          <a:prstGeom prst="upArrow">
            <a:avLst>
              <a:gd name="adj1" fmla="val 46639"/>
              <a:gd name="adj2" fmla="val 90118"/>
            </a:avLst>
          </a:prstGeom>
          <a:solidFill>
            <a:schemeClr val="accent5">
              <a:lumMod val="75000"/>
              <a:alpha val="70195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4708525" y="4378325"/>
            <a:ext cx="269875" cy="198438"/>
            <a:chOff x="635" y="2710"/>
            <a:chExt cx="303" cy="177"/>
          </a:xfrm>
        </p:grpSpPr>
        <p:sp>
          <p:nvSpPr>
            <p:cNvPr id="6198" name="Oval 51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199" name="Line 52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8" name="Group 53"/>
          <p:cNvGrpSpPr>
            <a:grpSpLocks/>
          </p:cNvGrpSpPr>
          <p:nvPr/>
        </p:nvGrpSpPr>
        <p:grpSpPr bwMode="auto">
          <a:xfrm>
            <a:off x="4352925" y="3060700"/>
            <a:ext cx="269875" cy="198438"/>
            <a:chOff x="635" y="2710"/>
            <a:chExt cx="303" cy="177"/>
          </a:xfrm>
        </p:grpSpPr>
        <p:sp>
          <p:nvSpPr>
            <p:cNvPr id="6196" name="Oval 54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197" name="Line 55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4427538" y="3519488"/>
            <a:ext cx="269875" cy="198437"/>
            <a:chOff x="635" y="2710"/>
            <a:chExt cx="303" cy="177"/>
          </a:xfrm>
        </p:grpSpPr>
        <p:sp>
          <p:nvSpPr>
            <p:cNvPr id="6194" name="Oval 57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195" name="Line 58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6184" name="Text Box 59"/>
          <p:cNvSpPr txBox="1">
            <a:spLocks noChangeArrowheads="1"/>
          </p:cNvSpPr>
          <p:nvPr/>
        </p:nvSpPr>
        <p:spPr bwMode="auto">
          <a:xfrm>
            <a:off x="5737225" y="4364038"/>
            <a:ext cx="101502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Cathode</a:t>
            </a:r>
          </a:p>
        </p:txBody>
      </p:sp>
      <p:sp>
        <p:nvSpPr>
          <p:cNvPr id="6185" name="Line 60"/>
          <p:cNvSpPr>
            <a:spLocks noChangeShapeType="1"/>
          </p:cNvSpPr>
          <p:nvPr/>
        </p:nvSpPr>
        <p:spPr bwMode="auto">
          <a:xfrm flipH="1" flipV="1">
            <a:off x="4729163" y="3262313"/>
            <a:ext cx="98425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4232275" y="2478088"/>
            <a:ext cx="269875" cy="198437"/>
            <a:chOff x="635" y="2710"/>
            <a:chExt cx="303" cy="177"/>
          </a:xfrm>
        </p:grpSpPr>
        <p:sp>
          <p:nvSpPr>
            <p:cNvPr id="6192" name="Oval 62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193" name="Line 63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6187" name="Line 65"/>
          <p:cNvSpPr>
            <a:spLocks noChangeShapeType="1"/>
          </p:cNvSpPr>
          <p:nvPr/>
        </p:nvSpPr>
        <p:spPr bwMode="auto">
          <a:xfrm flipV="1">
            <a:off x="4340225" y="2270125"/>
            <a:ext cx="0" cy="1984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88" name="Line 66"/>
          <p:cNvSpPr>
            <a:spLocks noChangeShapeType="1"/>
          </p:cNvSpPr>
          <p:nvPr/>
        </p:nvSpPr>
        <p:spPr bwMode="auto">
          <a:xfrm flipV="1">
            <a:off x="4473575" y="2852738"/>
            <a:ext cx="0" cy="19843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89" name="Line 67"/>
          <p:cNvSpPr>
            <a:spLocks noChangeShapeType="1"/>
          </p:cNvSpPr>
          <p:nvPr/>
        </p:nvSpPr>
        <p:spPr bwMode="auto">
          <a:xfrm flipH="1" flipV="1">
            <a:off x="4484688" y="1849438"/>
            <a:ext cx="11112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90" name="Line 68"/>
          <p:cNvSpPr>
            <a:spLocks noChangeShapeType="1"/>
          </p:cNvSpPr>
          <p:nvPr/>
        </p:nvSpPr>
        <p:spPr bwMode="auto">
          <a:xfrm flipV="1">
            <a:off x="4595813" y="3249613"/>
            <a:ext cx="0" cy="2206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191" name="Line 69"/>
          <p:cNvSpPr>
            <a:spLocks noChangeShapeType="1"/>
          </p:cNvSpPr>
          <p:nvPr/>
        </p:nvSpPr>
        <p:spPr bwMode="auto">
          <a:xfrm flipH="1" flipV="1">
            <a:off x="4518025" y="3778250"/>
            <a:ext cx="0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340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95288" y="323850"/>
            <a:ext cx="28924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Thermionic Valves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657600" y="1473200"/>
            <a:ext cx="1612900" cy="39497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 flipV="1">
            <a:off x="4064000" y="485140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V="1">
            <a:off x="4787900" y="485775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H="1">
            <a:off x="4049713" y="5778500"/>
            <a:ext cx="323850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H="1">
            <a:off x="4502150" y="5783263"/>
            <a:ext cx="290513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V="1">
            <a:off x="4497388" y="5676900"/>
            <a:ext cx="0" cy="209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V="1">
            <a:off x="4368800" y="5576888"/>
            <a:ext cx="0" cy="401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10" name="Picture 12" descr="Clipboard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8150" y="4735513"/>
            <a:ext cx="35083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Line 13"/>
          <p:cNvSpPr>
            <a:spLocks noChangeShapeType="1"/>
          </p:cNvSpPr>
          <p:nvPr/>
        </p:nvSpPr>
        <p:spPr bwMode="auto">
          <a:xfrm flipH="1" flipV="1">
            <a:off x="4040188" y="4857750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flipH="1" flipV="1">
            <a:off x="4554538" y="4867275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flipV="1">
            <a:off x="3444875" y="4695825"/>
            <a:ext cx="488950" cy="758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flipV="1">
            <a:off x="3933825" y="4695825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4886325" y="4695825"/>
            <a:ext cx="152400" cy="190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 flipH="1" flipV="1">
            <a:off x="3448050" y="5422900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 flipH="1" flipV="1">
            <a:off x="4479925" y="1284288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 flipV="1">
            <a:off x="4040188" y="1789113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 flipV="1">
            <a:off x="2409825" y="1296988"/>
            <a:ext cx="2070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 flipH="1" flipV="1">
            <a:off x="2405063" y="3876675"/>
            <a:ext cx="17462" cy="2063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flipV="1">
            <a:off x="2398713" y="5915025"/>
            <a:ext cx="1038225" cy="238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5772150" y="4843463"/>
            <a:ext cx="83708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</a:t>
            </a: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5772150" y="5418138"/>
            <a:ext cx="155683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Heater Circuit</a:t>
            </a: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5716588" y="2870200"/>
            <a:ext cx="1760537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Electrons attracted to Anode</a:t>
            </a:r>
          </a:p>
        </p:txBody>
      </p:sp>
      <p:grpSp>
        <p:nvGrpSpPr>
          <p:cNvPr id="25" name="Group 27"/>
          <p:cNvGrpSpPr>
            <a:grpSpLocks/>
          </p:cNvGrpSpPr>
          <p:nvPr/>
        </p:nvGrpSpPr>
        <p:grpSpPr bwMode="auto">
          <a:xfrm rot="5400000">
            <a:off x="2032794" y="3291681"/>
            <a:ext cx="742950" cy="401638"/>
            <a:chOff x="868" y="1755"/>
            <a:chExt cx="468" cy="253"/>
          </a:xfrm>
        </p:grpSpPr>
        <p:sp>
          <p:nvSpPr>
            <p:cNvPr id="26" name="Line 28"/>
            <p:cNvSpPr>
              <a:spLocks noChangeShapeType="1"/>
            </p:cNvSpPr>
            <p:nvPr/>
          </p:nvSpPr>
          <p:spPr bwMode="auto">
            <a:xfrm flipH="1">
              <a:off x="868" y="1882"/>
              <a:ext cx="204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/>
          </p:nvSpPr>
          <p:spPr bwMode="auto">
            <a:xfrm flipH="1">
              <a:off x="1153" y="1885"/>
              <a:ext cx="183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 flipV="1">
              <a:off x="1150" y="1818"/>
              <a:ext cx="0" cy="1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flipV="1">
              <a:off x="1069" y="175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30" name="Line 32"/>
          <p:cNvSpPr>
            <a:spLocks noChangeShapeType="1"/>
          </p:cNvSpPr>
          <p:nvPr/>
        </p:nvSpPr>
        <p:spPr bwMode="auto">
          <a:xfrm flipV="1">
            <a:off x="2398713" y="1296988"/>
            <a:ext cx="17462" cy="19224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 flipH="1" flipV="1">
            <a:off x="4865688" y="4924425"/>
            <a:ext cx="960437" cy="9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H="1">
            <a:off x="4760913" y="5521325"/>
            <a:ext cx="1076325" cy="58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 flipH="1" flipV="1">
            <a:off x="4972050" y="1874838"/>
            <a:ext cx="808038" cy="23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34" name="Line 36"/>
          <p:cNvSpPr>
            <a:spLocks noChangeShapeType="1"/>
          </p:cNvSpPr>
          <p:nvPr/>
        </p:nvSpPr>
        <p:spPr bwMode="auto">
          <a:xfrm flipH="1">
            <a:off x="4995863" y="4524375"/>
            <a:ext cx="747712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35" name="Text Box 37"/>
          <p:cNvSpPr txBox="1">
            <a:spLocks noChangeArrowheads="1"/>
          </p:cNvSpPr>
          <p:nvPr/>
        </p:nvSpPr>
        <p:spPr bwMode="auto">
          <a:xfrm>
            <a:off x="5735638" y="2041525"/>
            <a:ext cx="82266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Anode</a:t>
            </a:r>
          </a:p>
        </p:txBody>
      </p:sp>
      <p:grpSp>
        <p:nvGrpSpPr>
          <p:cNvPr id="36" name="Group 38"/>
          <p:cNvGrpSpPr>
            <a:grpSpLocks/>
          </p:cNvGrpSpPr>
          <p:nvPr/>
        </p:nvGrpSpPr>
        <p:grpSpPr bwMode="auto">
          <a:xfrm>
            <a:off x="4365625" y="2095500"/>
            <a:ext cx="269875" cy="198438"/>
            <a:chOff x="635" y="2710"/>
            <a:chExt cx="303" cy="177"/>
          </a:xfrm>
        </p:grpSpPr>
        <p:sp>
          <p:nvSpPr>
            <p:cNvPr id="37" name="Oval 39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39" name="Group 41"/>
          <p:cNvGrpSpPr>
            <a:grpSpLocks/>
          </p:cNvGrpSpPr>
          <p:nvPr/>
        </p:nvGrpSpPr>
        <p:grpSpPr bwMode="auto">
          <a:xfrm>
            <a:off x="4010025" y="4268788"/>
            <a:ext cx="269875" cy="198437"/>
            <a:chOff x="635" y="2710"/>
            <a:chExt cx="303" cy="177"/>
          </a:xfrm>
        </p:grpSpPr>
        <p:sp>
          <p:nvSpPr>
            <p:cNvPr id="40" name="Oval 42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42" name="Group 44"/>
          <p:cNvGrpSpPr>
            <a:grpSpLocks/>
          </p:cNvGrpSpPr>
          <p:nvPr/>
        </p:nvGrpSpPr>
        <p:grpSpPr bwMode="auto">
          <a:xfrm>
            <a:off x="4295775" y="4362450"/>
            <a:ext cx="269875" cy="198438"/>
            <a:chOff x="635" y="2710"/>
            <a:chExt cx="303" cy="177"/>
          </a:xfrm>
        </p:grpSpPr>
        <p:sp>
          <p:nvSpPr>
            <p:cNvPr id="43" name="Oval 45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44" name="Line 46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45" name="Group 47"/>
          <p:cNvGrpSpPr>
            <a:grpSpLocks/>
          </p:cNvGrpSpPr>
          <p:nvPr/>
        </p:nvGrpSpPr>
        <p:grpSpPr bwMode="auto">
          <a:xfrm>
            <a:off x="4481513" y="4105275"/>
            <a:ext cx="269875" cy="198438"/>
            <a:chOff x="635" y="2710"/>
            <a:chExt cx="303" cy="177"/>
          </a:xfrm>
        </p:grpSpPr>
        <p:sp>
          <p:nvSpPr>
            <p:cNvPr id="46" name="Oval 48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48" name="AutoShape 64"/>
          <p:cNvSpPr>
            <a:spLocks noChangeArrowheads="1"/>
          </p:cNvSpPr>
          <p:nvPr/>
        </p:nvSpPr>
        <p:spPr bwMode="auto">
          <a:xfrm>
            <a:off x="4043363" y="2379663"/>
            <a:ext cx="803275" cy="1774825"/>
          </a:xfrm>
          <a:prstGeom prst="upArrow">
            <a:avLst>
              <a:gd name="adj1" fmla="val 46639"/>
              <a:gd name="adj2" fmla="val 90118"/>
            </a:avLst>
          </a:prstGeom>
          <a:solidFill>
            <a:schemeClr val="accent5">
              <a:lumMod val="75000"/>
              <a:alpha val="70195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grpSp>
        <p:nvGrpSpPr>
          <p:cNvPr id="49" name="Group 50"/>
          <p:cNvGrpSpPr>
            <a:grpSpLocks/>
          </p:cNvGrpSpPr>
          <p:nvPr/>
        </p:nvGrpSpPr>
        <p:grpSpPr bwMode="auto">
          <a:xfrm>
            <a:off x="4708525" y="4378325"/>
            <a:ext cx="269875" cy="198438"/>
            <a:chOff x="635" y="2710"/>
            <a:chExt cx="303" cy="177"/>
          </a:xfrm>
        </p:grpSpPr>
        <p:sp>
          <p:nvSpPr>
            <p:cNvPr id="50" name="Oval 51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1" name="Line 52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52" name="Group 53"/>
          <p:cNvGrpSpPr>
            <a:grpSpLocks/>
          </p:cNvGrpSpPr>
          <p:nvPr/>
        </p:nvGrpSpPr>
        <p:grpSpPr bwMode="auto">
          <a:xfrm>
            <a:off x="4352925" y="3060700"/>
            <a:ext cx="269875" cy="198438"/>
            <a:chOff x="635" y="2710"/>
            <a:chExt cx="303" cy="177"/>
          </a:xfrm>
        </p:grpSpPr>
        <p:sp>
          <p:nvSpPr>
            <p:cNvPr id="53" name="Oval 54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4" name="Line 55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55" name="Group 56"/>
          <p:cNvGrpSpPr>
            <a:grpSpLocks/>
          </p:cNvGrpSpPr>
          <p:nvPr/>
        </p:nvGrpSpPr>
        <p:grpSpPr bwMode="auto">
          <a:xfrm>
            <a:off x="4427538" y="3519488"/>
            <a:ext cx="269875" cy="198437"/>
            <a:chOff x="635" y="2710"/>
            <a:chExt cx="303" cy="177"/>
          </a:xfrm>
        </p:grpSpPr>
        <p:sp>
          <p:nvSpPr>
            <p:cNvPr id="56" name="Oval 57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57" name="Line 58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58" name="Text Box 59"/>
          <p:cNvSpPr txBox="1">
            <a:spLocks noChangeArrowheads="1"/>
          </p:cNvSpPr>
          <p:nvPr/>
        </p:nvSpPr>
        <p:spPr bwMode="auto">
          <a:xfrm>
            <a:off x="5737225" y="4364038"/>
            <a:ext cx="101502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Cathode</a:t>
            </a:r>
          </a:p>
        </p:txBody>
      </p:sp>
      <p:sp>
        <p:nvSpPr>
          <p:cNvPr id="59" name="Line 60"/>
          <p:cNvSpPr>
            <a:spLocks noChangeShapeType="1"/>
          </p:cNvSpPr>
          <p:nvPr/>
        </p:nvSpPr>
        <p:spPr bwMode="auto">
          <a:xfrm flipH="1" flipV="1">
            <a:off x="4729163" y="3262313"/>
            <a:ext cx="984250" cy="69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grpSp>
        <p:nvGrpSpPr>
          <p:cNvPr id="60" name="Group 61"/>
          <p:cNvGrpSpPr>
            <a:grpSpLocks/>
          </p:cNvGrpSpPr>
          <p:nvPr/>
        </p:nvGrpSpPr>
        <p:grpSpPr bwMode="auto">
          <a:xfrm>
            <a:off x="4232275" y="2478088"/>
            <a:ext cx="269875" cy="198437"/>
            <a:chOff x="635" y="2710"/>
            <a:chExt cx="303" cy="177"/>
          </a:xfrm>
        </p:grpSpPr>
        <p:sp>
          <p:nvSpPr>
            <p:cNvPr id="61" name="Oval 62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62" name="Line 63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63" name="Line 65"/>
          <p:cNvSpPr>
            <a:spLocks noChangeShapeType="1"/>
          </p:cNvSpPr>
          <p:nvPr/>
        </p:nvSpPr>
        <p:spPr bwMode="auto">
          <a:xfrm flipV="1">
            <a:off x="4340225" y="2270125"/>
            <a:ext cx="0" cy="1984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4" name="Line 66"/>
          <p:cNvSpPr>
            <a:spLocks noChangeShapeType="1"/>
          </p:cNvSpPr>
          <p:nvPr/>
        </p:nvSpPr>
        <p:spPr bwMode="auto">
          <a:xfrm flipV="1">
            <a:off x="4473575" y="2852738"/>
            <a:ext cx="0" cy="19843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5" name="Line 67"/>
          <p:cNvSpPr>
            <a:spLocks noChangeShapeType="1"/>
          </p:cNvSpPr>
          <p:nvPr/>
        </p:nvSpPr>
        <p:spPr bwMode="auto">
          <a:xfrm flipH="1" flipV="1">
            <a:off x="4484688" y="1849438"/>
            <a:ext cx="11112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6" name="Line 68"/>
          <p:cNvSpPr>
            <a:spLocks noChangeShapeType="1"/>
          </p:cNvSpPr>
          <p:nvPr/>
        </p:nvSpPr>
        <p:spPr bwMode="auto">
          <a:xfrm flipV="1">
            <a:off x="4595813" y="3249613"/>
            <a:ext cx="0" cy="2206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7" name="Line 69"/>
          <p:cNvSpPr>
            <a:spLocks noChangeShapeType="1"/>
          </p:cNvSpPr>
          <p:nvPr/>
        </p:nvSpPr>
        <p:spPr bwMode="auto">
          <a:xfrm flipH="1" flipV="1">
            <a:off x="4518025" y="3778250"/>
            <a:ext cx="0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69" name="U-Turn Arrow 68"/>
          <p:cNvSpPr/>
          <p:nvPr/>
        </p:nvSpPr>
        <p:spPr bwMode="auto">
          <a:xfrm rot="10800000">
            <a:off x="2183750" y="3249613"/>
            <a:ext cx="2545413" cy="2204942"/>
          </a:xfrm>
          <a:prstGeom prst="uturnArrow">
            <a:avLst/>
          </a:prstGeom>
          <a:solidFill>
            <a:srgbClr val="FF0000">
              <a:alpha val="5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0" name="U-Turn Arrow 69"/>
          <p:cNvSpPr/>
          <p:nvPr/>
        </p:nvSpPr>
        <p:spPr bwMode="auto">
          <a:xfrm>
            <a:off x="2395538" y="1314546"/>
            <a:ext cx="2545413" cy="2204942"/>
          </a:xfrm>
          <a:prstGeom prst="uturnArrow">
            <a:avLst/>
          </a:prstGeom>
          <a:solidFill>
            <a:srgbClr val="FF0000">
              <a:alpha val="5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71737" y="1992313"/>
            <a:ext cx="14237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Lucida Sans Unicode" pitchFamily="34" charset="0"/>
              </a:rPr>
              <a:t>Current flow</a:t>
            </a:r>
          </a:p>
          <a:p>
            <a:r>
              <a:rPr lang="en-GB" dirty="0">
                <a:solidFill>
                  <a:srgbClr val="FF0000"/>
                </a:solidFill>
                <a:latin typeface="Lucida Sans Unicode" pitchFamily="34" charset="0"/>
              </a:rPr>
              <a:t>(is opposite to electron movement)</a:t>
            </a:r>
          </a:p>
        </p:txBody>
      </p:sp>
    </p:spTree>
    <p:extLst>
      <p:ext uri="{BB962C8B-B14F-4D97-AF65-F5344CB8AC3E}">
        <p14:creationId xmlns:p14="http://schemas.microsoft.com/office/powerpoint/2010/main" val="2734594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395288" y="331788"/>
            <a:ext cx="425949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Thermionic Valves - Triode</a:t>
            </a:r>
          </a:p>
        </p:txBody>
      </p:sp>
      <p:sp>
        <p:nvSpPr>
          <p:cNvPr id="7171" name="AutoShape 5"/>
          <p:cNvSpPr>
            <a:spLocks noChangeArrowheads="1"/>
          </p:cNvSpPr>
          <p:nvPr/>
        </p:nvSpPr>
        <p:spPr bwMode="auto">
          <a:xfrm>
            <a:off x="3657600" y="1473200"/>
            <a:ext cx="1612900" cy="39497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7172" name="Line 6"/>
          <p:cNvSpPr>
            <a:spLocks noChangeShapeType="1"/>
          </p:cNvSpPr>
          <p:nvPr/>
        </p:nvSpPr>
        <p:spPr bwMode="auto">
          <a:xfrm flipV="1">
            <a:off x="4064000" y="485140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 flipV="1">
            <a:off x="4787900" y="485775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74" name="Line 8"/>
          <p:cNvSpPr>
            <a:spLocks noChangeShapeType="1"/>
          </p:cNvSpPr>
          <p:nvPr/>
        </p:nvSpPr>
        <p:spPr bwMode="auto">
          <a:xfrm flipH="1">
            <a:off x="4049713" y="5778500"/>
            <a:ext cx="323850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75" name="Line 9"/>
          <p:cNvSpPr>
            <a:spLocks noChangeShapeType="1"/>
          </p:cNvSpPr>
          <p:nvPr/>
        </p:nvSpPr>
        <p:spPr bwMode="auto">
          <a:xfrm flipH="1">
            <a:off x="4502150" y="5783263"/>
            <a:ext cx="290513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76" name="Line 10"/>
          <p:cNvSpPr>
            <a:spLocks noChangeShapeType="1"/>
          </p:cNvSpPr>
          <p:nvPr/>
        </p:nvSpPr>
        <p:spPr bwMode="auto">
          <a:xfrm flipV="1">
            <a:off x="4497388" y="5676900"/>
            <a:ext cx="0" cy="209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77" name="Line 11"/>
          <p:cNvSpPr>
            <a:spLocks noChangeShapeType="1"/>
          </p:cNvSpPr>
          <p:nvPr/>
        </p:nvSpPr>
        <p:spPr bwMode="auto">
          <a:xfrm flipV="1">
            <a:off x="4368800" y="5576888"/>
            <a:ext cx="0" cy="401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pic>
        <p:nvPicPr>
          <p:cNvPr id="7178" name="Picture 12" descr="Clipboard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8150" y="4735513"/>
            <a:ext cx="35083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9" name="Line 13"/>
          <p:cNvSpPr>
            <a:spLocks noChangeShapeType="1"/>
          </p:cNvSpPr>
          <p:nvPr/>
        </p:nvSpPr>
        <p:spPr bwMode="auto">
          <a:xfrm flipH="1" flipV="1">
            <a:off x="4040188" y="4857750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80" name="Line 14"/>
          <p:cNvSpPr>
            <a:spLocks noChangeShapeType="1"/>
          </p:cNvSpPr>
          <p:nvPr/>
        </p:nvSpPr>
        <p:spPr bwMode="auto">
          <a:xfrm flipH="1" flipV="1">
            <a:off x="4554538" y="4867275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81" name="Line 15"/>
          <p:cNvSpPr>
            <a:spLocks noChangeShapeType="1"/>
          </p:cNvSpPr>
          <p:nvPr/>
        </p:nvSpPr>
        <p:spPr bwMode="auto">
          <a:xfrm flipV="1">
            <a:off x="3444875" y="4695825"/>
            <a:ext cx="488950" cy="758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82" name="Line 16"/>
          <p:cNvSpPr>
            <a:spLocks noChangeShapeType="1"/>
          </p:cNvSpPr>
          <p:nvPr/>
        </p:nvSpPr>
        <p:spPr bwMode="auto">
          <a:xfrm flipV="1">
            <a:off x="3933825" y="4695825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83" name="Line 18"/>
          <p:cNvSpPr>
            <a:spLocks noChangeShapeType="1"/>
          </p:cNvSpPr>
          <p:nvPr/>
        </p:nvSpPr>
        <p:spPr bwMode="auto">
          <a:xfrm flipH="1" flipV="1">
            <a:off x="3448050" y="5422900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84" name="Line 21"/>
          <p:cNvSpPr>
            <a:spLocks noChangeShapeType="1"/>
          </p:cNvSpPr>
          <p:nvPr/>
        </p:nvSpPr>
        <p:spPr bwMode="auto">
          <a:xfrm flipV="1">
            <a:off x="2430463" y="3522663"/>
            <a:ext cx="1387475" cy="111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85" name="Line 22"/>
          <p:cNvSpPr>
            <a:spLocks noChangeShapeType="1"/>
          </p:cNvSpPr>
          <p:nvPr/>
        </p:nvSpPr>
        <p:spPr bwMode="auto">
          <a:xfrm flipH="1" flipV="1">
            <a:off x="2405063" y="4537075"/>
            <a:ext cx="17462" cy="14033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86" name="Line 23"/>
          <p:cNvSpPr>
            <a:spLocks noChangeShapeType="1"/>
          </p:cNvSpPr>
          <p:nvPr/>
        </p:nvSpPr>
        <p:spPr bwMode="auto">
          <a:xfrm flipV="1">
            <a:off x="2398713" y="5915025"/>
            <a:ext cx="1038225" cy="238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rot="5400000">
            <a:off x="2043907" y="4096544"/>
            <a:ext cx="742950" cy="401637"/>
            <a:chOff x="868" y="1755"/>
            <a:chExt cx="468" cy="253"/>
          </a:xfrm>
        </p:grpSpPr>
        <p:sp>
          <p:nvSpPr>
            <p:cNvPr id="7228" name="Line 28"/>
            <p:cNvSpPr>
              <a:spLocks noChangeShapeType="1"/>
            </p:cNvSpPr>
            <p:nvPr/>
          </p:nvSpPr>
          <p:spPr bwMode="auto">
            <a:xfrm flipH="1">
              <a:off x="868" y="1882"/>
              <a:ext cx="204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7229" name="Line 29"/>
            <p:cNvSpPr>
              <a:spLocks noChangeShapeType="1"/>
            </p:cNvSpPr>
            <p:nvPr/>
          </p:nvSpPr>
          <p:spPr bwMode="auto">
            <a:xfrm flipH="1">
              <a:off x="1153" y="1885"/>
              <a:ext cx="183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7230" name="Line 30"/>
            <p:cNvSpPr>
              <a:spLocks noChangeShapeType="1"/>
            </p:cNvSpPr>
            <p:nvPr/>
          </p:nvSpPr>
          <p:spPr bwMode="auto">
            <a:xfrm flipV="1">
              <a:off x="1150" y="1818"/>
              <a:ext cx="0" cy="1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  <p:sp>
          <p:nvSpPr>
            <p:cNvPr id="7231" name="Line 31"/>
            <p:cNvSpPr>
              <a:spLocks noChangeShapeType="1"/>
            </p:cNvSpPr>
            <p:nvPr/>
          </p:nvSpPr>
          <p:spPr bwMode="auto">
            <a:xfrm flipV="1">
              <a:off x="1069" y="175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4365625" y="2095500"/>
            <a:ext cx="269875" cy="198438"/>
            <a:chOff x="635" y="2710"/>
            <a:chExt cx="303" cy="177"/>
          </a:xfrm>
        </p:grpSpPr>
        <p:sp>
          <p:nvSpPr>
            <p:cNvPr id="7226" name="Oval 39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27" name="Line 40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4010025" y="4268788"/>
            <a:ext cx="269875" cy="198437"/>
            <a:chOff x="635" y="2710"/>
            <a:chExt cx="303" cy="177"/>
          </a:xfrm>
        </p:grpSpPr>
        <p:sp>
          <p:nvSpPr>
            <p:cNvPr id="7224" name="Oval 42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25" name="Line 43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4295775" y="4362450"/>
            <a:ext cx="269875" cy="198438"/>
            <a:chOff x="635" y="2710"/>
            <a:chExt cx="303" cy="177"/>
          </a:xfrm>
        </p:grpSpPr>
        <p:sp>
          <p:nvSpPr>
            <p:cNvPr id="7222" name="Oval 45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23" name="Line 46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4481513" y="4105275"/>
            <a:ext cx="269875" cy="198438"/>
            <a:chOff x="635" y="2710"/>
            <a:chExt cx="303" cy="177"/>
          </a:xfrm>
        </p:grpSpPr>
        <p:sp>
          <p:nvSpPr>
            <p:cNvPr id="7220" name="Oval 48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21" name="Line 49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4708525" y="4378325"/>
            <a:ext cx="269875" cy="198438"/>
            <a:chOff x="635" y="2710"/>
            <a:chExt cx="303" cy="177"/>
          </a:xfrm>
        </p:grpSpPr>
        <p:sp>
          <p:nvSpPr>
            <p:cNvPr id="7218" name="Oval 52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19" name="Line 53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7193" name="Line 67"/>
          <p:cNvSpPr>
            <a:spLocks noChangeShapeType="1"/>
          </p:cNvSpPr>
          <p:nvPr/>
        </p:nvSpPr>
        <p:spPr bwMode="auto">
          <a:xfrm flipH="1" flipV="1">
            <a:off x="4484688" y="1849438"/>
            <a:ext cx="11112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94" name="Line 68"/>
          <p:cNvSpPr>
            <a:spLocks noChangeShapeType="1"/>
          </p:cNvSpPr>
          <p:nvPr/>
        </p:nvSpPr>
        <p:spPr bwMode="auto">
          <a:xfrm flipV="1">
            <a:off x="4595813" y="3249613"/>
            <a:ext cx="0" cy="2206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195" name="Rectangle 74"/>
          <p:cNvSpPr>
            <a:spLocks noChangeArrowheads="1"/>
          </p:cNvSpPr>
          <p:nvPr/>
        </p:nvSpPr>
        <p:spPr bwMode="auto">
          <a:xfrm>
            <a:off x="4241800" y="3448050"/>
            <a:ext cx="385763" cy="704850"/>
          </a:xfrm>
          <a:prstGeom prst="rect">
            <a:avLst/>
          </a:prstGeom>
          <a:solidFill>
            <a:schemeClr val="accent5">
              <a:lumMod val="75000"/>
              <a:alpha val="70195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grpSp>
        <p:nvGrpSpPr>
          <p:cNvPr id="8" name="Group 72"/>
          <p:cNvGrpSpPr>
            <a:grpSpLocks/>
          </p:cNvGrpSpPr>
          <p:nvPr/>
        </p:nvGrpSpPr>
        <p:grpSpPr bwMode="auto">
          <a:xfrm>
            <a:off x="3844925" y="3392488"/>
            <a:ext cx="1235075" cy="285750"/>
            <a:chOff x="403" y="2450"/>
            <a:chExt cx="923" cy="180"/>
          </a:xfrm>
        </p:grpSpPr>
        <p:sp>
          <p:nvSpPr>
            <p:cNvPr id="7216" name="Oval 70"/>
            <p:cNvSpPr>
              <a:spLocks noChangeArrowheads="1"/>
            </p:cNvSpPr>
            <p:nvPr/>
          </p:nvSpPr>
          <p:spPr bwMode="auto">
            <a:xfrm>
              <a:off x="403" y="2450"/>
              <a:ext cx="916" cy="157"/>
            </a:xfrm>
            <a:prstGeom prst="ellips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17" name="Oval 71"/>
            <p:cNvSpPr>
              <a:spLocks noChangeArrowheads="1"/>
            </p:cNvSpPr>
            <p:nvPr/>
          </p:nvSpPr>
          <p:spPr bwMode="auto">
            <a:xfrm>
              <a:off x="410" y="2456"/>
              <a:ext cx="916" cy="174"/>
            </a:xfrm>
            <a:prstGeom prst="ellips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</p:grpSp>
      <p:sp>
        <p:nvSpPr>
          <p:cNvPr id="7197" name="AutoShape 50"/>
          <p:cNvSpPr>
            <a:spLocks noChangeArrowheads="1"/>
          </p:cNvSpPr>
          <p:nvPr/>
        </p:nvSpPr>
        <p:spPr bwMode="auto">
          <a:xfrm>
            <a:off x="4043363" y="2379663"/>
            <a:ext cx="803275" cy="1125537"/>
          </a:xfrm>
          <a:prstGeom prst="upArrow">
            <a:avLst>
              <a:gd name="adj1" fmla="val 46639"/>
              <a:gd name="adj2" fmla="val 88735"/>
            </a:avLst>
          </a:prstGeom>
          <a:solidFill>
            <a:schemeClr val="accent5">
              <a:lumMod val="75000"/>
              <a:alpha val="70195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7198" name="Line 73"/>
          <p:cNvSpPr>
            <a:spLocks noChangeShapeType="1"/>
          </p:cNvSpPr>
          <p:nvPr/>
        </p:nvSpPr>
        <p:spPr bwMode="auto">
          <a:xfrm flipH="1" flipV="1">
            <a:off x="2401888" y="3527425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4352925" y="3060700"/>
            <a:ext cx="269875" cy="198438"/>
            <a:chOff x="635" y="2710"/>
            <a:chExt cx="303" cy="177"/>
          </a:xfrm>
        </p:grpSpPr>
        <p:sp>
          <p:nvSpPr>
            <p:cNvPr id="7214" name="Oval 55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15" name="Line 56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7200" name="Line 66"/>
          <p:cNvSpPr>
            <a:spLocks noChangeShapeType="1"/>
          </p:cNvSpPr>
          <p:nvPr/>
        </p:nvSpPr>
        <p:spPr bwMode="auto">
          <a:xfrm flipV="1">
            <a:off x="4473575" y="2852738"/>
            <a:ext cx="0" cy="19843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grpSp>
        <p:nvGrpSpPr>
          <p:cNvPr id="10" name="Group 62"/>
          <p:cNvGrpSpPr>
            <a:grpSpLocks/>
          </p:cNvGrpSpPr>
          <p:nvPr/>
        </p:nvGrpSpPr>
        <p:grpSpPr bwMode="auto">
          <a:xfrm>
            <a:off x="4232275" y="2478088"/>
            <a:ext cx="269875" cy="198437"/>
            <a:chOff x="635" y="2710"/>
            <a:chExt cx="303" cy="177"/>
          </a:xfrm>
        </p:grpSpPr>
        <p:sp>
          <p:nvSpPr>
            <p:cNvPr id="7212" name="Oval 63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13" name="Line 64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7202" name="Line 65"/>
          <p:cNvSpPr>
            <a:spLocks noChangeShapeType="1"/>
          </p:cNvSpPr>
          <p:nvPr/>
        </p:nvSpPr>
        <p:spPr bwMode="auto">
          <a:xfrm flipV="1">
            <a:off x="4340225" y="2270125"/>
            <a:ext cx="0" cy="1984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grpSp>
        <p:nvGrpSpPr>
          <p:cNvPr id="11" name="Group 57"/>
          <p:cNvGrpSpPr>
            <a:grpSpLocks/>
          </p:cNvGrpSpPr>
          <p:nvPr/>
        </p:nvGrpSpPr>
        <p:grpSpPr bwMode="auto">
          <a:xfrm>
            <a:off x="4427538" y="3519488"/>
            <a:ext cx="269875" cy="198437"/>
            <a:chOff x="635" y="2710"/>
            <a:chExt cx="303" cy="177"/>
          </a:xfrm>
        </p:grpSpPr>
        <p:sp>
          <p:nvSpPr>
            <p:cNvPr id="7210" name="Oval 58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Lucida Sans Unicode" pitchFamily="34" charset="0"/>
              </a:endParaRPr>
            </a:p>
          </p:txBody>
        </p:sp>
        <p:sp>
          <p:nvSpPr>
            <p:cNvPr id="7211" name="Line 59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>
                <a:latin typeface="Lucida Sans Unicode" pitchFamily="34" charset="0"/>
              </a:endParaRPr>
            </a:p>
          </p:txBody>
        </p:sp>
      </p:grpSp>
      <p:sp>
        <p:nvSpPr>
          <p:cNvPr id="7204" name="Line 69"/>
          <p:cNvSpPr>
            <a:spLocks noChangeShapeType="1"/>
          </p:cNvSpPr>
          <p:nvPr/>
        </p:nvSpPr>
        <p:spPr bwMode="auto">
          <a:xfrm flipH="1" flipV="1">
            <a:off x="4518025" y="3778250"/>
            <a:ext cx="0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205" name="Text Box 75"/>
          <p:cNvSpPr txBox="1">
            <a:spLocks noChangeArrowheads="1"/>
          </p:cNvSpPr>
          <p:nvPr/>
        </p:nvSpPr>
        <p:spPr bwMode="auto">
          <a:xfrm>
            <a:off x="5991225" y="3171825"/>
            <a:ext cx="2349500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Anode – attracts electrons, which pass straight through</a:t>
            </a:r>
          </a:p>
        </p:txBody>
      </p:sp>
      <p:sp>
        <p:nvSpPr>
          <p:cNvPr id="7206" name="Line 76"/>
          <p:cNvSpPr>
            <a:spLocks noChangeShapeType="1"/>
          </p:cNvSpPr>
          <p:nvPr/>
        </p:nvSpPr>
        <p:spPr bwMode="auto">
          <a:xfrm flipH="1" flipV="1">
            <a:off x="5124450" y="3560763"/>
            <a:ext cx="819150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207" name="Text Box 77"/>
          <p:cNvSpPr txBox="1">
            <a:spLocks noChangeArrowheads="1"/>
          </p:cNvSpPr>
          <p:nvPr/>
        </p:nvSpPr>
        <p:spPr bwMode="auto">
          <a:xfrm>
            <a:off x="5902325" y="1541463"/>
            <a:ext cx="234950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Electrons carry on to end of tube</a:t>
            </a:r>
          </a:p>
        </p:txBody>
      </p:sp>
      <p:sp>
        <p:nvSpPr>
          <p:cNvPr id="7208" name="Line 78"/>
          <p:cNvSpPr>
            <a:spLocks noChangeShapeType="1"/>
          </p:cNvSpPr>
          <p:nvPr/>
        </p:nvSpPr>
        <p:spPr bwMode="auto">
          <a:xfrm flipH="1">
            <a:off x="4760913" y="1924050"/>
            <a:ext cx="1095375" cy="84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7209" name="Line 79"/>
          <p:cNvSpPr>
            <a:spLocks noChangeShapeType="1"/>
          </p:cNvSpPr>
          <p:nvPr/>
        </p:nvSpPr>
        <p:spPr bwMode="auto">
          <a:xfrm>
            <a:off x="4886325" y="4695825"/>
            <a:ext cx="152400" cy="190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802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4"/>
          <p:cNvSpPr>
            <a:spLocks noChangeArrowheads="1"/>
          </p:cNvSpPr>
          <p:nvPr/>
        </p:nvSpPr>
        <p:spPr bwMode="auto">
          <a:xfrm>
            <a:off x="2644775" y="1866900"/>
            <a:ext cx="1612900" cy="3949700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b="0" dirty="0">
              <a:latin typeface="Lucida Sans Unicode" pitchFamily="34" charset="0"/>
            </a:endParaRPr>
          </a:p>
        </p:txBody>
      </p:sp>
      <p:sp>
        <p:nvSpPr>
          <p:cNvPr id="36867" name="Line 5"/>
          <p:cNvSpPr>
            <a:spLocks noChangeShapeType="1"/>
          </p:cNvSpPr>
          <p:nvPr/>
        </p:nvSpPr>
        <p:spPr bwMode="auto">
          <a:xfrm flipV="1">
            <a:off x="3051175" y="524510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68" name="Line 6"/>
          <p:cNvSpPr>
            <a:spLocks noChangeShapeType="1"/>
          </p:cNvSpPr>
          <p:nvPr/>
        </p:nvSpPr>
        <p:spPr bwMode="auto">
          <a:xfrm flipV="1">
            <a:off x="3775075" y="5251450"/>
            <a:ext cx="0" cy="939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69" name="Line 7"/>
          <p:cNvSpPr>
            <a:spLocks noChangeShapeType="1"/>
          </p:cNvSpPr>
          <p:nvPr/>
        </p:nvSpPr>
        <p:spPr bwMode="auto">
          <a:xfrm flipH="1">
            <a:off x="3036888" y="6172200"/>
            <a:ext cx="323850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0" name="Line 8"/>
          <p:cNvSpPr>
            <a:spLocks noChangeShapeType="1"/>
          </p:cNvSpPr>
          <p:nvPr/>
        </p:nvSpPr>
        <p:spPr bwMode="auto">
          <a:xfrm flipH="1">
            <a:off x="3489325" y="6176963"/>
            <a:ext cx="290513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1" name="Line 9"/>
          <p:cNvSpPr>
            <a:spLocks noChangeShapeType="1"/>
          </p:cNvSpPr>
          <p:nvPr/>
        </p:nvSpPr>
        <p:spPr bwMode="auto">
          <a:xfrm flipV="1">
            <a:off x="3484563" y="6070600"/>
            <a:ext cx="0" cy="2095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2" name="Line 10"/>
          <p:cNvSpPr>
            <a:spLocks noChangeShapeType="1"/>
          </p:cNvSpPr>
          <p:nvPr/>
        </p:nvSpPr>
        <p:spPr bwMode="auto">
          <a:xfrm flipV="1">
            <a:off x="3355975" y="5970588"/>
            <a:ext cx="0" cy="40163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pic>
        <p:nvPicPr>
          <p:cNvPr id="36873" name="Picture 11" descr="Clipboard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325" y="5129213"/>
            <a:ext cx="350838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Line 12"/>
          <p:cNvSpPr>
            <a:spLocks noChangeShapeType="1"/>
          </p:cNvSpPr>
          <p:nvPr/>
        </p:nvSpPr>
        <p:spPr bwMode="auto">
          <a:xfrm flipH="1" flipV="1">
            <a:off x="3027363" y="5251450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5" name="Line 13"/>
          <p:cNvSpPr>
            <a:spLocks noChangeShapeType="1"/>
          </p:cNvSpPr>
          <p:nvPr/>
        </p:nvSpPr>
        <p:spPr bwMode="auto">
          <a:xfrm flipH="1" flipV="1">
            <a:off x="3541713" y="5260975"/>
            <a:ext cx="2476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6" name="Line 14"/>
          <p:cNvSpPr>
            <a:spLocks noChangeShapeType="1"/>
          </p:cNvSpPr>
          <p:nvPr/>
        </p:nvSpPr>
        <p:spPr bwMode="auto">
          <a:xfrm flipV="1">
            <a:off x="2432050" y="5089525"/>
            <a:ext cx="488950" cy="758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7" name="Line 15"/>
          <p:cNvSpPr>
            <a:spLocks noChangeShapeType="1"/>
          </p:cNvSpPr>
          <p:nvPr/>
        </p:nvSpPr>
        <p:spPr bwMode="auto">
          <a:xfrm flipV="1">
            <a:off x="2921000" y="5089525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8" name="Line 16"/>
          <p:cNvSpPr>
            <a:spLocks noChangeShapeType="1"/>
          </p:cNvSpPr>
          <p:nvPr/>
        </p:nvSpPr>
        <p:spPr bwMode="auto">
          <a:xfrm>
            <a:off x="3873500" y="5089525"/>
            <a:ext cx="152400" cy="1905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79" name="Line 17"/>
          <p:cNvSpPr>
            <a:spLocks noChangeShapeType="1"/>
          </p:cNvSpPr>
          <p:nvPr/>
        </p:nvSpPr>
        <p:spPr bwMode="auto">
          <a:xfrm flipH="1" flipV="1">
            <a:off x="2435225" y="5816600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80" name="Line 18"/>
          <p:cNvSpPr>
            <a:spLocks noChangeShapeType="1"/>
          </p:cNvSpPr>
          <p:nvPr/>
        </p:nvSpPr>
        <p:spPr bwMode="auto">
          <a:xfrm flipH="1" flipV="1">
            <a:off x="3467100" y="1677988"/>
            <a:ext cx="3175" cy="504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81" name="Line 19"/>
          <p:cNvSpPr>
            <a:spLocks noChangeShapeType="1"/>
          </p:cNvSpPr>
          <p:nvPr/>
        </p:nvSpPr>
        <p:spPr bwMode="auto">
          <a:xfrm flipV="1">
            <a:off x="3027363" y="2182813"/>
            <a:ext cx="933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82" name="Line 20"/>
          <p:cNvSpPr>
            <a:spLocks noChangeShapeType="1"/>
          </p:cNvSpPr>
          <p:nvPr/>
        </p:nvSpPr>
        <p:spPr bwMode="auto">
          <a:xfrm flipV="1">
            <a:off x="1397000" y="1690688"/>
            <a:ext cx="2070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83" name="Line 21"/>
          <p:cNvSpPr>
            <a:spLocks noChangeShapeType="1"/>
          </p:cNvSpPr>
          <p:nvPr/>
        </p:nvSpPr>
        <p:spPr bwMode="auto">
          <a:xfrm flipH="1" flipV="1">
            <a:off x="1392238" y="4270375"/>
            <a:ext cx="17462" cy="2063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84" name="Line 22"/>
          <p:cNvSpPr>
            <a:spLocks noChangeShapeType="1"/>
          </p:cNvSpPr>
          <p:nvPr/>
        </p:nvSpPr>
        <p:spPr bwMode="auto">
          <a:xfrm flipV="1">
            <a:off x="1385888" y="6308725"/>
            <a:ext cx="1038225" cy="238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85" name="Text Box 23"/>
          <p:cNvSpPr txBox="1">
            <a:spLocks noChangeArrowheads="1"/>
          </p:cNvSpPr>
          <p:nvPr/>
        </p:nvSpPr>
        <p:spPr bwMode="auto">
          <a:xfrm>
            <a:off x="4759325" y="5237163"/>
            <a:ext cx="83708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 dirty="0">
                <a:latin typeface="Lucida Sans Unicode" pitchFamily="34" charset="0"/>
              </a:rPr>
              <a:t>Heater</a:t>
            </a:r>
          </a:p>
        </p:txBody>
      </p:sp>
      <p:sp>
        <p:nvSpPr>
          <p:cNvPr id="36886" name="Text Box 24"/>
          <p:cNvSpPr txBox="1">
            <a:spLocks noChangeArrowheads="1"/>
          </p:cNvSpPr>
          <p:nvPr/>
        </p:nvSpPr>
        <p:spPr bwMode="auto">
          <a:xfrm>
            <a:off x="4759325" y="5811838"/>
            <a:ext cx="155683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 dirty="0">
                <a:latin typeface="Lucida Sans Unicode" pitchFamily="34" charset="0"/>
              </a:rPr>
              <a:t>Heater Circuit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 rot="5400000">
            <a:off x="1019969" y="3685381"/>
            <a:ext cx="742950" cy="401638"/>
            <a:chOff x="868" y="1755"/>
            <a:chExt cx="468" cy="253"/>
          </a:xfrm>
        </p:grpSpPr>
        <p:sp>
          <p:nvSpPr>
            <p:cNvPr id="36936" name="Line 27"/>
            <p:cNvSpPr>
              <a:spLocks noChangeShapeType="1"/>
            </p:cNvSpPr>
            <p:nvPr/>
          </p:nvSpPr>
          <p:spPr bwMode="auto">
            <a:xfrm flipH="1">
              <a:off x="868" y="1882"/>
              <a:ext cx="204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  <p:sp>
          <p:nvSpPr>
            <p:cNvPr id="36937" name="Line 28"/>
            <p:cNvSpPr>
              <a:spLocks noChangeShapeType="1"/>
            </p:cNvSpPr>
            <p:nvPr/>
          </p:nvSpPr>
          <p:spPr bwMode="auto">
            <a:xfrm flipH="1">
              <a:off x="1153" y="1885"/>
              <a:ext cx="183" cy="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  <p:sp>
          <p:nvSpPr>
            <p:cNvPr id="36938" name="Line 29"/>
            <p:cNvSpPr>
              <a:spLocks noChangeShapeType="1"/>
            </p:cNvSpPr>
            <p:nvPr/>
          </p:nvSpPr>
          <p:spPr bwMode="auto">
            <a:xfrm flipV="1">
              <a:off x="1150" y="1818"/>
              <a:ext cx="0" cy="1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  <p:sp>
          <p:nvSpPr>
            <p:cNvPr id="36939" name="Line 30"/>
            <p:cNvSpPr>
              <a:spLocks noChangeShapeType="1"/>
            </p:cNvSpPr>
            <p:nvPr/>
          </p:nvSpPr>
          <p:spPr bwMode="auto">
            <a:xfrm flipV="1">
              <a:off x="1069" y="175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sp>
        <p:nvSpPr>
          <p:cNvPr id="36888" name="Line 31"/>
          <p:cNvSpPr>
            <a:spLocks noChangeShapeType="1"/>
          </p:cNvSpPr>
          <p:nvPr/>
        </p:nvSpPr>
        <p:spPr bwMode="auto">
          <a:xfrm flipV="1">
            <a:off x="1385888" y="1690688"/>
            <a:ext cx="17462" cy="19224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89" name="Line 32"/>
          <p:cNvSpPr>
            <a:spLocks noChangeShapeType="1"/>
          </p:cNvSpPr>
          <p:nvPr/>
        </p:nvSpPr>
        <p:spPr bwMode="auto">
          <a:xfrm flipH="1" flipV="1">
            <a:off x="3852863" y="5318125"/>
            <a:ext cx="960437" cy="9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90" name="Line 33"/>
          <p:cNvSpPr>
            <a:spLocks noChangeShapeType="1"/>
          </p:cNvSpPr>
          <p:nvPr/>
        </p:nvSpPr>
        <p:spPr bwMode="auto">
          <a:xfrm flipH="1">
            <a:off x="3748088" y="5915025"/>
            <a:ext cx="1076325" cy="58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91" name="Line 34"/>
          <p:cNvSpPr>
            <a:spLocks noChangeShapeType="1"/>
          </p:cNvSpPr>
          <p:nvPr/>
        </p:nvSpPr>
        <p:spPr bwMode="auto">
          <a:xfrm flipH="1" flipV="1">
            <a:off x="3959225" y="2268538"/>
            <a:ext cx="808038" cy="23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92" name="Line 35"/>
          <p:cNvSpPr>
            <a:spLocks noChangeShapeType="1"/>
          </p:cNvSpPr>
          <p:nvPr/>
        </p:nvSpPr>
        <p:spPr bwMode="auto">
          <a:xfrm flipH="1">
            <a:off x="3983038" y="4918075"/>
            <a:ext cx="747712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893" name="Text Box 36"/>
          <p:cNvSpPr txBox="1">
            <a:spLocks noChangeArrowheads="1"/>
          </p:cNvSpPr>
          <p:nvPr/>
        </p:nvSpPr>
        <p:spPr bwMode="auto">
          <a:xfrm>
            <a:off x="4722813" y="2435225"/>
            <a:ext cx="82266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 dirty="0">
                <a:latin typeface="Lucida Sans Unicode" pitchFamily="34" charset="0"/>
              </a:rPr>
              <a:t>Anode</a:t>
            </a: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3352800" y="2489200"/>
            <a:ext cx="269875" cy="198438"/>
            <a:chOff x="635" y="2710"/>
            <a:chExt cx="303" cy="177"/>
          </a:xfrm>
        </p:grpSpPr>
        <p:sp>
          <p:nvSpPr>
            <p:cNvPr id="36934" name="Oval 38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35" name="Line 39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997200" y="4662488"/>
            <a:ext cx="269875" cy="198437"/>
            <a:chOff x="635" y="2710"/>
            <a:chExt cx="303" cy="177"/>
          </a:xfrm>
        </p:grpSpPr>
        <p:sp>
          <p:nvSpPr>
            <p:cNvPr id="36932" name="Oval 41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33" name="Line 42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3282950" y="4756150"/>
            <a:ext cx="269875" cy="198438"/>
            <a:chOff x="635" y="2710"/>
            <a:chExt cx="303" cy="177"/>
          </a:xfrm>
        </p:grpSpPr>
        <p:sp>
          <p:nvSpPr>
            <p:cNvPr id="36930" name="Oval 44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31" name="Line 45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468688" y="4498975"/>
            <a:ext cx="269875" cy="198438"/>
            <a:chOff x="635" y="2710"/>
            <a:chExt cx="303" cy="177"/>
          </a:xfrm>
        </p:grpSpPr>
        <p:sp>
          <p:nvSpPr>
            <p:cNvPr id="36928" name="Oval 47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29" name="Line 48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sp>
        <p:nvSpPr>
          <p:cNvPr id="36898" name="AutoShape 49"/>
          <p:cNvSpPr>
            <a:spLocks noChangeArrowheads="1"/>
          </p:cNvSpPr>
          <p:nvPr/>
        </p:nvSpPr>
        <p:spPr bwMode="auto">
          <a:xfrm>
            <a:off x="3030538" y="2773363"/>
            <a:ext cx="803275" cy="1774825"/>
          </a:xfrm>
          <a:prstGeom prst="upArrow">
            <a:avLst>
              <a:gd name="adj1" fmla="val 46639"/>
              <a:gd name="adj2" fmla="val 90118"/>
            </a:avLst>
          </a:prstGeom>
          <a:solidFill>
            <a:schemeClr val="accent5">
              <a:lumMod val="75000"/>
              <a:alpha val="70195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 dirty="0">
              <a:latin typeface="Lucida Sans Unicode" pitchFamily="34" charset="0"/>
            </a:endParaRP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3695700" y="4772025"/>
            <a:ext cx="269875" cy="198438"/>
            <a:chOff x="635" y="2710"/>
            <a:chExt cx="303" cy="177"/>
          </a:xfrm>
        </p:grpSpPr>
        <p:sp>
          <p:nvSpPr>
            <p:cNvPr id="36926" name="Oval 51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27" name="Line 52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grpSp>
        <p:nvGrpSpPr>
          <p:cNvPr id="8" name="Group 53"/>
          <p:cNvGrpSpPr>
            <a:grpSpLocks/>
          </p:cNvGrpSpPr>
          <p:nvPr/>
        </p:nvGrpSpPr>
        <p:grpSpPr bwMode="auto">
          <a:xfrm>
            <a:off x="3340100" y="3454400"/>
            <a:ext cx="269875" cy="198438"/>
            <a:chOff x="635" y="2710"/>
            <a:chExt cx="303" cy="177"/>
          </a:xfrm>
        </p:grpSpPr>
        <p:sp>
          <p:nvSpPr>
            <p:cNvPr id="36924" name="Oval 54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25" name="Line 55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3414713" y="3913188"/>
            <a:ext cx="269875" cy="198437"/>
            <a:chOff x="635" y="2710"/>
            <a:chExt cx="303" cy="177"/>
          </a:xfrm>
        </p:grpSpPr>
        <p:sp>
          <p:nvSpPr>
            <p:cNvPr id="36922" name="Oval 57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23" name="Line 58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sp>
        <p:nvSpPr>
          <p:cNvPr id="36902" name="Text Box 59"/>
          <p:cNvSpPr txBox="1">
            <a:spLocks noChangeArrowheads="1"/>
          </p:cNvSpPr>
          <p:nvPr/>
        </p:nvSpPr>
        <p:spPr bwMode="auto">
          <a:xfrm>
            <a:off x="4724400" y="4757738"/>
            <a:ext cx="101502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 dirty="0">
                <a:latin typeface="Lucida Sans Unicode" pitchFamily="34" charset="0"/>
              </a:rPr>
              <a:t>Cathode</a:t>
            </a:r>
          </a:p>
        </p:txBody>
      </p: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3219450" y="2871788"/>
            <a:ext cx="269875" cy="198437"/>
            <a:chOff x="635" y="2710"/>
            <a:chExt cx="303" cy="177"/>
          </a:xfrm>
        </p:grpSpPr>
        <p:sp>
          <p:nvSpPr>
            <p:cNvPr id="36920" name="Oval 62"/>
            <p:cNvSpPr>
              <a:spLocks noChangeArrowheads="1"/>
            </p:cNvSpPr>
            <p:nvPr/>
          </p:nvSpPr>
          <p:spPr bwMode="auto">
            <a:xfrm>
              <a:off x="635" y="2710"/>
              <a:ext cx="303" cy="177"/>
            </a:xfrm>
            <a:prstGeom prst="ellipse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b="0" dirty="0">
                <a:latin typeface="Lucida Sans Unicode" pitchFamily="34" charset="0"/>
              </a:endParaRPr>
            </a:p>
          </p:txBody>
        </p:sp>
        <p:sp>
          <p:nvSpPr>
            <p:cNvPr id="36921" name="Line 63"/>
            <p:cNvSpPr>
              <a:spLocks noChangeShapeType="1"/>
            </p:cNvSpPr>
            <p:nvPr/>
          </p:nvSpPr>
          <p:spPr bwMode="auto">
            <a:xfrm>
              <a:off x="702" y="2799"/>
              <a:ext cx="1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b="0" dirty="0">
                <a:latin typeface="Lucida Sans Unicode" pitchFamily="34" charset="0"/>
              </a:endParaRPr>
            </a:p>
          </p:txBody>
        </p:sp>
      </p:grpSp>
      <p:sp>
        <p:nvSpPr>
          <p:cNvPr id="36904" name="Line 64"/>
          <p:cNvSpPr>
            <a:spLocks noChangeShapeType="1"/>
          </p:cNvSpPr>
          <p:nvPr/>
        </p:nvSpPr>
        <p:spPr bwMode="auto">
          <a:xfrm flipV="1">
            <a:off x="3327400" y="2663825"/>
            <a:ext cx="0" cy="198438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05" name="Line 65"/>
          <p:cNvSpPr>
            <a:spLocks noChangeShapeType="1"/>
          </p:cNvSpPr>
          <p:nvPr/>
        </p:nvSpPr>
        <p:spPr bwMode="auto">
          <a:xfrm flipV="1">
            <a:off x="3460750" y="3246438"/>
            <a:ext cx="0" cy="19843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06" name="Line 66"/>
          <p:cNvSpPr>
            <a:spLocks noChangeShapeType="1"/>
          </p:cNvSpPr>
          <p:nvPr/>
        </p:nvSpPr>
        <p:spPr bwMode="auto">
          <a:xfrm flipH="1" flipV="1">
            <a:off x="3471863" y="2243138"/>
            <a:ext cx="11112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07" name="Line 67"/>
          <p:cNvSpPr>
            <a:spLocks noChangeShapeType="1"/>
          </p:cNvSpPr>
          <p:nvPr/>
        </p:nvSpPr>
        <p:spPr bwMode="auto">
          <a:xfrm flipV="1">
            <a:off x="3582988" y="3643313"/>
            <a:ext cx="0" cy="2206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08" name="Line 68"/>
          <p:cNvSpPr>
            <a:spLocks noChangeShapeType="1"/>
          </p:cNvSpPr>
          <p:nvPr/>
        </p:nvSpPr>
        <p:spPr bwMode="auto">
          <a:xfrm flipH="1" flipV="1">
            <a:off x="3505200" y="4171950"/>
            <a:ext cx="0" cy="241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09" name="Text Box 69"/>
          <p:cNvSpPr txBox="1">
            <a:spLocks noChangeArrowheads="1"/>
          </p:cNvSpPr>
          <p:nvPr/>
        </p:nvSpPr>
        <p:spPr bwMode="auto">
          <a:xfrm>
            <a:off x="395288" y="323850"/>
            <a:ext cx="42211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Basic Amplification Circuits</a:t>
            </a:r>
            <a:endParaRPr lang="en-US" sz="2400" b="1" dirty="0">
              <a:latin typeface="Lucida Sans Unicode" pitchFamily="34" charset="0"/>
            </a:endParaRPr>
          </a:p>
        </p:txBody>
      </p:sp>
      <p:sp>
        <p:nvSpPr>
          <p:cNvPr id="36910" name="Text Box 70"/>
          <p:cNvSpPr txBox="1">
            <a:spLocks noChangeArrowheads="1"/>
          </p:cNvSpPr>
          <p:nvPr/>
        </p:nvSpPr>
        <p:spPr bwMode="auto">
          <a:xfrm>
            <a:off x="441325" y="892175"/>
            <a:ext cx="297549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0" dirty="0">
                <a:latin typeface="Lucida Sans Unicode" pitchFamily="34" charset="0"/>
              </a:rPr>
              <a:t>Simple Triode (amplifies)</a:t>
            </a:r>
            <a:endParaRPr lang="en-US" b="0" dirty="0">
              <a:latin typeface="Lucida Sans Unicode" pitchFamily="34" charset="0"/>
            </a:endParaRPr>
          </a:p>
        </p:txBody>
      </p:sp>
      <p:sp>
        <p:nvSpPr>
          <p:cNvPr id="36911" name="Line 71"/>
          <p:cNvSpPr>
            <a:spLocks noChangeShapeType="1"/>
          </p:cNvSpPr>
          <p:nvPr/>
        </p:nvSpPr>
        <p:spPr bwMode="auto">
          <a:xfrm flipV="1">
            <a:off x="2757488" y="3741738"/>
            <a:ext cx="1397000" cy="11112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12" name="Line 72"/>
          <p:cNvSpPr>
            <a:spLocks noChangeShapeType="1"/>
          </p:cNvSpPr>
          <p:nvPr/>
        </p:nvSpPr>
        <p:spPr bwMode="auto">
          <a:xfrm>
            <a:off x="4195763" y="3732213"/>
            <a:ext cx="1397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13" name="Text Box 73"/>
          <p:cNvSpPr txBox="1">
            <a:spLocks noChangeArrowheads="1"/>
          </p:cNvSpPr>
          <p:nvPr/>
        </p:nvSpPr>
        <p:spPr bwMode="auto">
          <a:xfrm>
            <a:off x="4970463" y="3217863"/>
            <a:ext cx="60625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0" dirty="0">
                <a:latin typeface="Lucida Sans Unicode" pitchFamily="34" charset="0"/>
              </a:rPr>
              <a:t>Grid</a:t>
            </a:r>
          </a:p>
        </p:txBody>
      </p:sp>
      <p:sp>
        <p:nvSpPr>
          <p:cNvPr id="36914" name="Line 74"/>
          <p:cNvSpPr>
            <a:spLocks noChangeShapeType="1"/>
          </p:cNvSpPr>
          <p:nvPr/>
        </p:nvSpPr>
        <p:spPr bwMode="auto">
          <a:xfrm flipH="1">
            <a:off x="4503738" y="3468688"/>
            <a:ext cx="458787" cy="176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 b="0" dirty="0">
              <a:latin typeface="Lucida Sans Unicode" pitchFamily="34" charset="0"/>
            </a:endParaRPr>
          </a:p>
        </p:txBody>
      </p:sp>
      <p:sp>
        <p:nvSpPr>
          <p:cNvPr id="36915" name="Text Box 75"/>
          <p:cNvSpPr txBox="1">
            <a:spLocks noChangeArrowheads="1"/>
          </p:cNvSpPr>
          <p:nvPr/>
        </p:nvSpPr>
        <p:spPr bwMode="auto">
          <a:xfrm>
            <a:off x="6226175" y="620713"/>
            <a:ext cx="2743200" cy="57554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A current flows through the valve</a:t>
            </a:r>
          </a:p>
          <a:p>
            <a:pPr marL="174625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This is initially set up as a “quiescent condition” by circuitry </a:t>
            </a:r>
          </a:p>
          <a:p>
            <a:pPr marL="534988" lvl="1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circuit </a:t>
            </a:r>
            <a:r>
              <a:rPr lang="en-GB" sz="1600" b="0" i="1" dirty="0">
                <a:latin typeface="Lucida Sans Unicode" pitchFamily="34" charset="0"/>
              </a:rPr>
              <a:t>bias </a:t>
            </a:r>
            <a:endParaRPr lang="en-GB" sz="1600" b="0" dirty="0">
              <a:latin typeface="Lucida Sans Unicode" pitchFamily="34" charset="0"/>
            </a:endParaRPr>
          </a:p>
          <a:p>
            <a:pPr marL="534988" lvl="1" indent="-174625">
              <a:buFontTx/>
              <a:buChar char="•"/>
            </a:pPr>
            <a:endParaRPr lang="en-GB" sz="1600" b="0" i="1" dirty="0">
              <a:latin typeface="Lucida Sans Unicode" pitchFamily="34" charset="0"/>
            </a:endParaRPr>
          </a:p>
          <a:p>
            <a:pPr marL="174625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The (large) anode-cathode current can be varied by a small voltage applied to the grid</a:t>
            </a:r>
          </a:p>
          <a:p>
            <a:pPr marL="534988" lvl="1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grid voltage varies as the signal input</a:t>
            </a:r>
          </a:p>
          <a:p>
            <a:pPr marL="534988" lvl="1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output taken from anode</a:t>
            </a:r>
          </a:p>
          <a:p>
            <a:pPr marL="534988" lvl="1" indent="-174625">
              <a:buFontTx/>
              <a:buChar char="•"/>
            </a:pPr>
            <a:endParaRPr lang="en-GB" sz="1600" b="0" dirty="0">
              <a:latin typeface="Lucida Sans Unicode" pitchFamily="34" charset="0"/>
            </a:endParaRPr>
          </a:p>
          <a:p>
            <a:pPr marL="174625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i.e. a small varying input voltage will cause much larger variations in the current flowing through the valve</a:t>
            </a:r>
          </a:p>
          <a:p>
            <a:pPr marL="174625" indent="-174625"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hence … amplification</a:t>
            </a:r>
            <a:endParaRPr lang="en-US" sz="1600" b="0" dirty="0">
              <a:latin typeface="Lucida Sans Unicode" pitchFamily="34" charset="0"/>
            </a:endParaRPr>
          </a:p>
        </p:txBody>
      </p:sp>
      <p:sp>
        <p:nvSpPr>
          <p:cNvPr id="36916" name="Line 76"/>
          <p:cNvSpPr>
            <a:spLocks noChangeShapeType="1"/>
          </p:cNvSpPr>
          <p:nvPr/>
        </p:nvSpPr>
        <p:spPr bwMode="auto">
          <a:xfrm flipH="1" flipV="1">
            <a:off x="4335463" y="3884613"/>
            <a:ext cx="544512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17" name="Text Box 77"/>
          <p:cNvSpPr txBox="1">
            <a:spLocks noChangeArrowheads="1"/>
          </p:cNvSpPr>
          <p:nvPr/>
        </p:nvSpPr>
        <p:spPr bwMode="auto">
          <a:xfrm>
            <a:off x="4840288" y="3795713"/>
            <a:ext cx="137636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0" dirty="0">
                <a:latin typeface="Lucida Sans Unicode" pitchFamily="34" charset="0"/>
              </a:rPr>
              <a:t>low level input signal</a:t>
            </a:r>
            <a:endParaRPr lang="en-US" sz="1600" b="0" dirty="0">
              <a:latin typeface="Lucida Sans Unicode" pitchFamily="34" charset="0"/>
            </a:endParaRPr>
          </a:p>
        </p:txBody>
      </p:sp>
      <p:sp>
        <p:nvSpPr>
          <p:cNvPr id="36918" name="AutoShape 78"/>
          <p:cNvSpPr>
            <a:spLocks noChangeArrowheads="1"/>
          </p:cNvSpPr>
          <p:nvPr/>
        </p:nvSpPr>
        <p:spPr bwMode="auto">
          <a:xfrm>
            <a:off x="1514475" y="2128838"/>
            <a:ext cx="1473200" cy="3548062"/>
          </a:xfrm>
          <a:custGeom>
            <a:avLst/>
            <a:gdLst>
              <a:gd name="T0" fmla="*/ 2791032 w 21600"/>
              <a:gd name="T1" fmla="*/ 387165207 h 21600"/>
              <a:gd name="T2" fmla="*/ 95965475 w 21600"/>
              <a:gd name="T3" fmla="*/ 381957771 h 21600"/>
              <a:gd name="T4" fmla="*/ 6414763 w 21600"/>
              <a:gd name="T5" fmla="*/ 379853245 h 21600"/>
              <a:gd name="T6" fmla="*/ 84229191 w 21600"/>
              <a:gd name="T7" fmla="*/ -14894140 h 21600"/>
              <a:gd name="T8" fmla="*/ 88569263 w 21600"/>
              <a:gd name="T9" fmla="*/ 101209623 h 21600"/>
              <a:gd name="T10" fmla="*/ 68552763 w 21600"/>
              <a:gd name="T11" fmla="*/ 126329893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199" y="2412"/>
                </a:moveTo>
                <a:cubicBezTo>
                  <a:pt x="14589" y="1376"/>
                  <a:pt x="12714" y="825"/>
                  <a:pt x="10800" y="825"/>
                </a:cubicBezTo>
                <a:cubicBezTo>
                  <a:pt x="5290" y="825"/>
                  <a:pt x="825" y="5290"/>
                  <a:pt x="825" y="10800"/>
                </a:cubicBezTo>
                <a:cubicBezTo>
                  <a:pt x="825" y="16309"/>
                  <a:pt x="5290" y="20775"/>
                  <a:pt x="10800" y="20775"/>
                </a:cubicBezTo>
                <a:cubicBezTo>
                  <a:pt x="15067" y="20775"/>
                  <a:pt x="18861" y="18060"/>
                  <a:pt x="20240" y="14022"/>
                </a:cubicBezTo>
                <a:lnTo>
                  <a:pt x="21020" y="14289"/>
                </a:lnTo>
                <a:cubicBezTo>
                  <a:pt x="19528" y="18661"/>
                  <a:pt x="15419" y="21599"/>
                  <a:pt x="10800" y="21600"/>
                </a:cubicBezTo>
                <a:cubicBezTo>
                  <a:pt x="4835" y="21600"/>
                  <a:pt x="0" y="16764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2873" y="-1"/>
                  <a:pt x="14902" y="596"/>
                  <a:pt x="16646" y="1719"/>
                </a:cubicBezTo>
                <a:lnTo>
                  <a:pt x="18107" y="-552"/>
                </a:lnTo>
                <a:lnTo>
                  <a:pt x="19040" y="3751"/>
                </a:lnTo>
                <a:lnTo>
                  <a:pt x="14737" y="4682"/>
                </a:lnTo>
                <a:lnTo>
                  <a:pt x="16199" y="2412"/>
                </a:lnTo>
                <a:close/>
              </a:path>
            </a:pathLst>
          </a:custGeom>
          <a:solidFill>
            <a:srgbClr val="B2B2B2">
              <a:alpha val="59999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 b="0" dirty="0">
              <a:latin typeface="Lucida Sans Unicode" pitchFamily="34" charset="0"/>
            </a:endParaRPr>
          </a:p>
        </p:txBody>
      </p:sp>
      <p:sp>
        <p:nvSpPr>
          <p:cNvPr id="36919" name="Text Box 79"/>
          <p:cNvSpPr txBox="1">
            <a:spLocks noChangeArrowheads="1"/>
          </p:cNvSpPr>
          <p:nvPr/>
        </p:nvSpPr>
        <p:spPr bwMode="auto">
          <a:xfrm>
            <a:off x="1322388" y="2835275"/>
            <a:ext cx="120491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 b="0" dirty="0">
                <a:solidFill>
                  <a:schemeClr val="bg1">
                    <a:lumMod val="50000"/>
                  </a:schemeClr>
                </a:solidFill>
                <a:latin typeface="Lucida Sans Unicode" pitchFamily="34" charset="0"/>
              </a:rPr>
              <a:t>current direction</a:t>
            </a:r>
          </a:p>
        </p:txBody>
      </p:sp>
    </p:spTree>
    <p:extLst>
      <p:ext uri="{BB962C8B-B14F-4D97-AF65-F5344CB8AC3E}">
        <p14:creationId xmlns:p14="http://schemas.microsoft.com/office/powerpoint/2010/main" val="1129654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7"/>
          <p:cNvSpPr txBox="1">
            <a:spLocks noChangeArrowheads="1"/>
          </p:cNvSpPr>
          <p:nvPr/>
        </p:nvSpPr>
        <p:spPr bwMode="auto">
          <a:xfrm>
            <a:off x="395288" y="323850"/>
            <a:ext cx="42211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Basic Amplification Circuits</a:t>
            </a:r>
            <a:endParaRPr lang="en-US" sz="2400" b="1" dirty="0">
              <a:latin typeface="Lucida Sans Unicode" pitchFamily="34" charset="0"/>
            </a:endParaRPr>
          </a:p>
        </p:txBody>
      </p:sp>
      <p:pic>
        <p:nvPicPr>
          <p:cNvPr id="37891" name="Picture 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1138" y="3587750"/>
            <a:ext cx="3852862" cy="29225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7892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0213" y="1498600"/>
            <a:ext cx="3484562" cy="3883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7893" name="Text Box 22"/>
          <p:cNvSpPr txBox="1">
            <a:spLocks noChangeArrowheads="1"/>
          </p:cNvSpPr>
          <p:nvPr/>
        </p:nvSpPr>
        <p:spPr bwMode="auto">
          <a:xfrm>
            <a:off x="441325" y="892175"/>
            <a:ext cx="297549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0" dirty="0">
                <a:latin typeface="Lucida Sans Unicode" pitchFamily="34" charset="0"/>
              </a:rPr>
              <a:t>Simple Triode (amplifies)</a:t>
            </a:r>
            <a:endParaRPr lang="en-US" b="0" dirty="0">
              <a:latin typeface="Lucida Sans Unicode" pitchFamily="34" charset="0"/>
            </a:endParaRPr>
          </a:p>
        </p:txBody>
      </p:sp>
      <p:sp>
        <p:nvSpPr>
          <p:cNvPr id="37894" name="Text Box 23"/>
          <p:cNvSpPr txBox="1">
            <a:spLocks noChangeArrowheads="1"/>
          </p:cNvSpPr>
          <p:nvPr/>
        </p:nvSpPr>
        <p:spPr bwMode="auto">
          <a:xfrm>
            <a:off x="3797300" y="982663"/>
            <a:ext cx="5053013" cy="22590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lnSpc>
                <a:spcPct val="110000"/>
              </a:lnSpc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Circuit components set up working conditions for valve operation</a:t>
            </a:r>
          </a:p>
          <a:p>
            <a:pPr marL="177800" indent="-177800">
              <a:lnSpc>
                <a:spcPct val="110000"/>
              </a:lnSpc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e.g. R3 allows O/P to be taken from anode, other wise O/P would be directly connected to the power supply (!)</a:t>
            </a:r>
          </a:p>
          <a:p>
            <a:pPr marL="177800" indent="-177800">
              <a:lnSpc>
                <a:spcPct val="110000"/>
              </a:lnSpc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similarly R1 allows I/P to grid, which also needs to be allied to the 0v supply</a:t>
            </a:r>
          </a:p>
          <a:p>
            <a:pPr marL="177800" indent="-177800">
              <a:lnSpc>
                <a:spcPct val="110000"/>
              </a:lnSpc>
              <a:buFontTx/>
              <a:buChar char="•"/>
            </a:pPr>
            <a:r>
              <a:rPr lang="en-GB" sz="1600" b="0" dirty="0">
                <a:latin typeface="Lucida Sans Unicode" pitchFamily="34" charset="0"/>
              </a:rPr>
              <a:t>(also note the large power supply voltage)</a:t>
            </a:r>
          </a:p>
        </p:txBody>
      </p:sp>
    </p:spTree>
    <p:extLst>
      <p:ext uri="{BB962C8B-B14F-4D97-AF65-F5344CB8AC3E}">
        <p14:creationId xmlns:p14="http://schemas.microsoft.com/office/powerpoint/2010/main" val="2517637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6805613" y="6315075"/>
            <a:ext cx="2338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900"/>
              <a:t>www.dlt.ncssm.edu/TIGER/chem1.htm</a:t>
            </a:r>
          </a:p>
        </p:txBody>
      </p:sp>
      <p:sp>
        <p:nvSpPr>
          <p:cNvPr id="8195" name="Text Box 7"/>
          <p:cNvSpPr txBox="1">
            <a:spLocks noChangeArrowheads="1"/>
          </p:cNvSpPr>
          <p:nvPr/>
        </p:nvSpPr>
        <p:spPr bwMode="auto">
          <a:xfrm>
            <a:off x="381000" y="381000"/>
            <a:ext cx="3843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Cathode Ray Tube - CRT</a:t>
            </a:r>
          </a:p>
        </p:txBody>
      </p:sp>
      <p:sp>
        <p:nvSpPr>
          <p:cNvPr id="8196" name="Text Box 8"/>
          <p:cNvSpPr txBox="1">
            <a:spLocks noChangeArrowheads="1"/>
          </p:cNvSpPr>
          <p:nvPr/>
        </p:nvSpPr>
        <p:spPr bwMode="auto">
          <a:xfrm>
            <a:off x="433388" y="5008563"/>
            <a:ext cx="4655762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85738" indent="-185738"/>
            <a:r>
              <a:rPr lang="en-GB" sz="1600" b="1" dirty="0"/>
              <a:t>Tube consists of a valve:  </a:t>
            </a:r>
          </a:p>
          <a:p>
            <a:pPr marL="185738" indent="-185738">
              <a:buFontTx/>
              <a:buChar char="•"/>
            </a:pPr>
            <a:r>
              <a:rPr lang="en-GB" sz="1600" dirty="0"/>
              <a:t>the cathode emits electrons (“cathode ray”)</a:t>
            </a:r>
          </a:p>
          <a:p>
            <a:pPr marL="542925" lvl="1" indent="-177800">
              <a:buFontTx/>
              <a:buChar char="•"/>
            </a:pPr>
            <a:r>
              <a:rPr lang="en-GB" sz="1600" dirty="0"/>
              <a:t>electrons are negative charges</a:t>
            </a:r>
          </a:p>
          <a:p>
            <a:pPr marL="908050" lvl="2" indent="-185738">
              <a:buFontTx/>
              <a:buChar char="•"/>
            </a:pPr>
            <a:r>
              <a:rPr lang="en-GB" sz="1600" dirty="0"/>
              <a:t>attracted to anode</a:t>
            </a:r>
          </a:p>
          <a:p>
            <a:pPr marL="908050" lvl="2" indent="-185738">
              <a:buFontTx/>
              <a:buChar char="•"/>
            </a:pPr>
            <a:r>
              <a:rPr lang="en-GB" sz="1600" dirty="0"/>
              <a:t>shoot through anode</a:t>
            </a:r>
          </a:p>
          <a:p>
            <a:pPr marL="542925" lvl="1" indent="-177800">
              <a:buFontTx/>
              <a:buChar char="•"/>
            </a:pPr>
            <a:r>
              <a:rPr lang="en-GB" sz="1600" dirty="0"/>
              <a:t>can be deflected by a magnetic field ...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33388" y="819150"/>
            <a:ext cx="8001000" cy="4600575"/>
            <a:chOff x="273" y="516"/>
            <a:chExt cx="5040" cy="2898"/>
          </a:xfrm>
        </p:grpSpPr>
        <p:pic>
          <p:nvPicPr>
            <p:cNvPr id="8198" name="Picture 6" descr="Clipboard0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73" y="516"/>
              <a:ext cx="5040" cy="28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2056" y="1651"/>
              <a:ext cx="185" cy="212"/>
            </a:xfrm>
            <a:prstGeom prst="rect">
              <a:avLst/>
            </a:prstGeom>
            <a:gradFill rotWithShape="1">
              <a:gsLst>
                <a:gs pos="0">
                  <a:srgbClr val="5F5F5F"/>
                </a:gs>
                <a:gs pos="50000">
                  <a:srgbClr val="EAEAEA"/>
                </a:gs>
                <a:gs pos="100000">
                  <a:srgbClr val="5F5F5F"/>
                </a:gs>
              </a:gsLst>
              <a:lin ang="27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b="1"/>
                <a:t>S</a:t>
              </a:r>
            </a:p>
          </p:txBody>
        </p:sp>
        <p:sp>
          <p:nvSpPr>
            <p:cNvPr id="8200" name="Text Box 11"/>
            <p:cNvSpPr txBox="1">
              <a:spLocks noChangeArrowheads="1"/>
            </p:cNvSpPr>
            <p:nvPr/>
          </p:nvSpPr>
          <p:spPr bwMode="auto">
            <a:xfrm>
              <a:off x="2947" y="966"/>
              <a:ext cx="211" cy="173"/>
            </a:xfrm>
            <a:prstGeom prst="rect">
              <a:avLst/>
            </a:prstGeom>
            <a:gradFill rotWithShape="1">
              <a:gsLst>
                <a:gs pos="0">
                  <a:srgbClr val="5F5F5F"/>
                </a:gs>
                <a:gs pos="50000">
                  <a:srgbClr val="EAEAEA"/>
                </a:gs>
                <a:gs pos="100000">
                  <a:srgbClr val="5F5F5F"/>
                </a:gs>
              </a:gsLst>
              <a:lin ang="270000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200" b="1"/>
                <a:t>N</a:t>
              </a:r>
            </a:p>
          </p:txBody>
        </p:sp>
      </p:grpSp>
      <p:sp>
        <p:nvSpPr>
          <p:cNvPr id="3" name="Rounded Rectangular Callout 2"/>
          <p:cNvSpPr/>
          <p:nvPr/>
        </p:nvSpPr>
        <p:spPr bwMode="auto">
          <a:xfrm>
            <a:off x="1304102" y="920115"/>
            <a:ext cx="2330768" cy="729393"/>
          </a:xfrm>
          <a:prstGeom prst="wedgeRoundRectCallout">
            <a:avLst>
              <a:gd name="adj1" fmla="val -24602"/>
              <a:gd name="adj2" fmla="val 147115"/>
              <a:gd name="adj3" fmla="val 16667"/>
            </a:avLst>
          </a:prstGeom>
          <a:solidFill>
            <a:schemeClr val="accent6">
              <a:lumMod val="20000"/>
              <a:lumOff val="80000"/>
              <a:alpha val="5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Fleming’s LH rule indicates the field/current/deflection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3987085" y="2538829"/>
            <a:ext cx="893606" cy="8213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1880573" y="2973266"/>
            <a:ext cx="761355" cy="20766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 rot="20679634">
            <a:off x="1756815" y="2705754"/>
            <a:ext cx="90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current</a:t>
            </a:r>
          </a:p>
        </p:txBody>
      </p:sp>
      <p:sp>
        <p:nvSpPr>
          <p:cNvPr id="18" name="TextBox 17"/>
          <p:cNvSpPr txBox="1"/>
          <p:nvPr/>
        </p:nvSpPr>
        <p:spPr>
          <a:xfrm rot="21317812">
            <a:off x="3679721" y="2189439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electrons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>
            <a:off x="1444752" y="2377440"/>
            <a:ext cx="0" cy="74199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280475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 descr="Clipboard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388" y="814388"/>
            <a:ext cx="8002587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6"/>
          <p:cNvSpPr>
            <a:spLocks noChangeArrowheads="1"/>
          </p:cNvSpPr>
          <p:nvPr/>
        </p:nvSpPr>
        <p:spPr bwMode="auto">
          <a:xfrm>
            <a:off x="6916664" y="6378803"/>
            <a:ext cx="211628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www.dlt.ncssm.edu/TIGER/chem1.htm</a:t>
            </a:r>
          </a:p>
        </p:txBody>
      </p:sp>
      <p:sp>
        <p:nvSpPr>
          <p:cNvPr id="9220" name="Text Box 7"/>
          <p:cNvSpPr txBox="1">
            <a:spLocks noChangeArrowheads="1"/>
          </p:cNvSpPr>
          <p:nvPr/>
        </p:nvSpPr>
        <p:spPr bwMode="auto">
          <a:xfrm>
            <a:off x="381000" y="381000"/>
            <a:ext cx="3843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Cathode Ray Tube - CRT</a:t>
            </a:r>
          </a:p>
        </p:txBody>
      </p:sp>
      <p:sp>
        <p:nvSpPr>
          <p:cNvPr id="9221" name="Text Box 9"/>
          <p:cNvSpPr txBox="1">
            <a:spLocks noChangeArrowheads="1"/>
          </p:cNvSpPr>
          <p:nvPr/>
        </p:nvSpPr>
        <p:spPr bwMode="auto">
          <a:xfrm>
            <a:off x="433388" y="5265738"/>
            <a:ext cx="2805112" cy="1069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The flourescent screen is a coating of phosphor dots which glow when the beam hits them</a:t>
            </a:r>
          </a:p>
        </p:txBody>
      </p:sp>
      <p:sp>
        <p:nvSpPr>
          <p:cNvPr id="9222" name="Text Box 10"/>
          <p:cNvSpPr txBox="1">
            <a:spLocks noChangeArrowheads="1"/>
          </p:cNvSpPr>
          <p:nvPr/>
        </p:nvSpPr>
        <p:spPr bwMode="auto">
          <a:xfrm>
            <a:off x="5233988" y="5680075"/>
            <a:ext cx="3910012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There are three beams: Red, Blue and Green, to produce RBG pixels on the screen (see later for more details) </a:t>
            </a:r>
          </a:p>
        </p:txBody>
      </p:sp>
      <p:sp>
        <p:nvSpPr>
          <p:cNvPr id="9223" name="Text Box 11"/>
          <p:cNvSpPr txBox="1">
            <a:spLocks noChangeArrowheads="1"/>
          </p:cNvSpPr>
          <p:nvPr/>
        </p:nvSpPr>
        <p:spPr bwMode="auto">
          <a:xfrm>
            <a:off x="3290888" y="4240213"/>
            <a:ext cx="2184400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 dirty="0"/>
              <a:t>electron beam could be guided by charged plates ...</a:t>
            </a:r>
          </a:p>
        </p:txBody>
      </p:sp>
    </p:spTree>
    <p:extLst>
      <p:ext uri="{BB962C8B-B14F-4D97-AF65-F5344CB8AC3E}">
        <p14:creationId xmlns:p14="http://schemas.microsoft.com/office/powerpoint/2010/main" val="1608078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ChangeArrowheads="1"/>
          </p:cNvSpPr>
          <p:nvPr/>
        </p:nvSpPr>
        <p:spPr bwMode="auto">
          <a:xfrm>
            <a:off x="6805613" y="6372225"/>
            <a:ext cx="233838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900">
                <a:solidFill>
                  <a:schemeClr val="bg1"/>
                </a:solidFill>
              </a:rPr>
              <a:t>www.dlt.ncssm.edu/TIGER/chem1.htm</a:t>
            </a:r>
          </a:p>
        </p:txBody>
      </p:sp>
      <p:sp>
        <p:nvSpPr>
          <p:cNvPr id="10243" name="Text Box 6"/>
          <p:cNvSpPr txBox="1">
            <a:spLocks noChangeArrowheads="1"/>
          </p:cNvSpPr>
          <p:nvPr/>
        </p:nvSpPr>
        <p:spPr bwMode="auto">
          <a:xfrm>
            <a:off x="381000" y="381000"/>
            <a:ext cx="3843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Cathode Ray Tube - CRT</a:t>
            </a:r>
          </a:p>
        </p:txBody>
      </p:sp>
      <p:sp>
        <p:nvSpPr>
          <p:cNvPr id="10244" name="Text Box 23"/>
          <p:cNvSpPr txBox="1">
            <a:spLocks noChangeArrowheads="1"/>
          </p:cNvSpPr>
          <p:nvPr/>
        </p:nvSpPr>
        <p:spPr bwMode="auto">
          <a:xfrm>
            <a:off x="433388" y="5413375"/>
            <a:ext cx="8164512" cy="107721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>
              <a:buFontTx/>
              <a:buChar char="•"/>
            </a:pPr>
            <a:r>
              <a:rPr lang="en-GB" sz="1600" dirty="0"/>
              <a:t>Two sets of coils apply appropriate magnetic field alignments to steer the beam vertically and horizontally across the screen</a:t>
            </a:r>
          </a:p>
          <a:p>
            <a:pPr marL="176213" indent="-176213">
              <a:buFontTx/>
              <a:buChar char="•"/>
            </a:pPr>
            <a:endParaRPr lang="en-GB" sz="1600" dirty="0"/>
          </a:p>
          <a:p>
            <a:pPr marL="176213" indent="-176213">
              <a:buFontTx/>
              <a:buChar char="•"/>
            </a:pPr>
            <a:r>
              <a:rPr lang="en-GB" sz="1600" dirty="0"/>
              <a:t>Voltage to control the coils are derived from the received TV signal </a:t>
            </a:r>
          </a:p>
        </p:txBody>
      </p:sp>
      <p:pic>
        <p:nvPicPr>
          <p:cNvPr id="10245" name="Picture 4" descr="Clipboard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388" y="814388"/>
            <a:ext cx="8002587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6" name="Oval 11"/>
          <p:cNvSpPr>
            <a:spLocks noChangeArrowheads="1"/>
          </p:cNvSpPr>
          <p:nvPr/>
        </p:nvSpPr>
        <p:spPr bwMode="auto">
          <a:xfrm>
            <a:off x="3657600" y="2898775"/>
            <a:ext cx="1333500" cy="407988"/>
          </a:xfrm>
          <a:prstGeom prst="ellipse">
            <a:avLst/>
          </a:prstGeom>
          <a:solidFill>
            <a:schemeClr val="accent1"/>
          </a:solidFill>
          <a:ln w="9525">
            <a:round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sp>
        <p:nvSpPr>
          <p:cNvPr id="10247" name="Text Box 16"/>
          <p:cNvSpPr txBox="1">
            <a:spLocks noChangeArrowheads="1"/>
          </p:cNvSpPr>
          <p:nvPr/>
        </p:nvSpPr>
        <p:spPr bwMode="auto">
          <a:xfrm>
            <a:off x="4587875" y="1222375"/>
            <a:ext cx="184150" cy="3365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b="1"/>
          </a:p>
        </p:txBody>
      </p:sp>
      <p:sp>
        <p:nvSpPr>
          <p:cNvPr id="10248" name="Oval 17"/>
          <p:cNvSpPr>
            <a:spLocks noChangeArrowheads="1"/>
          </p:cNvSpPr>
          <p:nvPr/>
        </p:nvSpPr>
        <p:spPr bwMode="auto">
          <a:xfrm>
            <a:off x="3548063" y="2205038"/>
            <a:ext cx="990600" cy="1200150"/>
          </a:xfrm>
          <a:prstGeom prst="ellipse">
            <a:avLst/>
          </a:prstGeom>
          <a:solidFill>
            <a:srgbClr val="FFCC99"/>
          </a:solidFill>
          <a:ln w="9525">
            <a:round/>
            <a:headEnd/>
            <a:tailEnd/>
          </a:ln>
          <a:scene3d>
            <a:camera prst="legacyObliqueTopRight"/>
            <a:lightRig rig="legacyFlat3" dir="b"/>
          </a:scene3d>
          <a:sp3d extrusionH="1000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672013" y="2063750"/>
            <a:ext cx="692150" cy="844550"/>
            <a:chOff x="3102" y="2262"/>
            <a:chExt cx="402" cy="609"/>
          </a:xfrm>
        </p:grpSpPr>
        <p:sp>
          <p:nvSpPr>
            <p:cNvPr id="10262" name="Oval 19"/>
            <p:cNvSpPr>
              <a:spLocks noChangeArrowheads="1"/>
            </p:cNvSpPr>
            <p:nvPr/>
          </p:nvSpPr>
          <p:spPr bwMode="auto">
            <a:xfrm>
              <a:off x="3102" y="2262"/>
              <a:ext cx="402" cy="604"/>
            </a:xfrm>
            <a:prstGeom prst="ellipse">
              <a:avLst/>
            </a:prstGeom>
            <a:solidFill>
              <a:srgbClr val="FFFFCC">
                <a:alpha val="10196"/>
              </a:srgbClr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00000" prstMaterial="legacyMatte">
              <a:bevelT w="13500" h="13500" prst="angle"/>
              <a:bevelB w="13500" h="13500" prst="angle"/>
              <a:extrusionClr>
                <a:srgbClr val="FFFFCC"/>
              </a:extrusionClr>
            </a:sp3d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10263" name="Oval 24"/>
            <p:cNvSpPr>
              <a:spLocks noChangeArrowheads="1"/>
            </p:cNvSpPr>
            <p:nvPr/>
          </p:nvSpPr>
          <p:spPr bwMode="auto">
            <a:xfrm>
              <a:off x="3109" y="2269"/>
              <a:ext cx="395" cy="602"/>
            </a:xfrm>
            <a:prstGeom prst="ellipse">
              <a:avLst/>
            </a:prstGeom>
            <a:gradFill rotWithShape="1">
              <a:gsLst>
                <a:gs pos="0">
                  <a:srgbClr val="FFFFCC">
                    <a:alpha val="20000"/>
                  </a:srgbClr>
                </a:gs>
                <a:gs pos="100000">
                  <a:srgbClr val="EAEAEA"/>
                </a:gs>
              </a:gsLst>
              <a:path path="rect">
                <a:fillToRect l="100000" b="100000"/>
              </a:path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50" name="AutoShape 27"/>
          <p:cNvSpPr>
            <a:spLocks noChangeArrowheads="1"/>
          </p:cNvSpPr>
          <p:nvPr/>
        </p:nvSpPr>
        <p:spPr bwMode="auto">
          <a:xfrm rot="14452049" flipH="1">
            <a:off x="3503612" y="2520951"/>
            <a:ext cx="100013" cy="1192212"/>
          </a:xfrm>
          <a:custGeom>
            <a:avLst/>
            <a:gdLst>
              <a:gd name="T0" fmla="*/ 1948336 w 21600"/>
              <a:gd name="T1" fmla="*/ 1816029207 h 21600"/>
              <a:gd name="T2" fmla="*/ 1072102 w 21600"/>
              <a:gd name="T3" fmla="*/ 2147483647 h 21600"/>
              <a:gd name="T4" fmla="*/ 195845 w 21600"/>
              <a:gd name="T5" fmla="*/ 1816029207 h 21600"/>
              <a:gd name="T6" fmla="*/ 1072102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73 w 21600"/>
              <a:gd name="T13" fmla="*/ 3773 h 21600"/>
              <a:gd name="T14" fmla="*/ 17827 w 21600"/>
              <a:gd name="T15" fmla="*/ 1782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946" y="21600"/>
                </a:lnTo>
                <a:lnTo>
                  <a:pt x="17654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FFCC66"/>
              </a:gs>
              <a:gs pos="100000">
                <a:srgbClr val="765E2F"/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1" name="AutoShape 28"/>
          <p:cNvSpPr>
            <a:spLocks noChangeArrowheads="1"/>
          </p:cNvSpPr>
          <p:nvPr/>
        </p:nvSpPr>
        <p:spPr bwMode="auto">
          <a:xfrm rot="14418102" flipH="1">
            <a:off x="5512594" y="1742282"/>
            <a:ext cx="53975" cy="935037"/>
          </a:xfrm>
          <a:custGeom>
            <a:avLst/>
            <a:gdLst>
              <a:gd name="T0" fmla="*/ 306248 w 21600"/>
              <a:gd name="T1" fmla="*/ 876090912 h 21600"/>
              <a:gd name="T2" fmla="*/ 168519 w 21600"/>
              <a:gd name="T3" fmla="*/ 1752180438 h 21600"/>
              <a:gd name="T4" fmla="*/ 30783 w 21600"/>
              <a:gd name="T5" fmla="*/ 876090912 h 21600"/>
              <a:gd name="T6" fmla="*/ 16851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773 w 21600"/>
              <a:gd name="T13" fmla="*/ 3773 h 21600"/>
              <a:gd name="T14" fmla="*/ 17827 w 21600"/>
              <a:gd name="T15" fmla="*/ 1782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946" y="21600"/>
                </a:lnTo>
                <a:lnTo>
                  <a:pt x="1765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5F5F5F">
              <a:alpha val="20000"/>
            </a:srgbClr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666650" name="Rectangle 26"/>
          <p:cNvSpPr>
            <a:spLocks noChangeArrowheads="1"/>
          </p:cNvSpPr>
          <p:nvPr/>
        </p:nvSpPr>
        <p:spPr bwMode="auto">
          <a:xfrm rot="218142">
            <a:off x="4679950" y="2359025"/>
            <a:ext cx="695325" cy="204788"/>
          </a:xfrm>
          <a:prstGeom prst="rect">
            <a:avLst/>
          </a:prstGeom>
          <a:gradFill rotWithShape="1">
            <a:gsLst>
              <a:gs pos="0">
                <a:srgbClr val="E3E6E9"/>
              </a:gs>
              <a:gs pos="50000">
                <a:srgbClr val="CC0066">
                  <a:alpha val="39999"/>
                </a:srgbClr>
              </a:gs>
              <a:gs pos="100000">
                <a:srgbClr val="E3E6E9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10255" name="AutoShape 29"/>
          <p:cNvSpPr>
            <a:spLocks noChangeArrowheads="1"/>
          </p:cNvSpPr>
          <p:nvPr/>
        </p:nvSpPr>
        <p:spPr bwMode="auto">
          <a:xfrm>
            <a:off x="3644900" y="3227388"/>
            <a:ext cx="363538" cy="320675"/>
          </a:xfrm>
          <a:prstGeom prst="rtTriangle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Oval 12"/>
          <p:cNvSpPr>
            <a:spLocks noChangeArrowheads="1"/>
          </p:cNvSpPr>
          <p:nvPr/>
        </p:nvSpPr>
        <p:spPr bwMode="auto">
          <a:xfrm>
            <a:off x="3679825" y="1676400"/>
            <a:ext cx="1311275" cy="407988"/>
          </a:xfrm>
          <a:prstGeom prst="ellipse">
            <a:avLst/>
          </a:prstGeom>
          <a:solidFill>
            <a:srgbClr val="9999FF"/>
          </a:solidFill>
          <a:ln w="9525">
            <a:round/>
            <a:headEnd/>
            <a:tailEnd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99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4287838" y="1087438"/>
            <a:ext cx="122237" cy="752475"/>
            <a:chOff x="3295" y="655"/>
            <a:chExt cx="113" cy="474"/>
          </a:xfrm>
        </p:grpSpPr>
        <p:sp>
          <p:nvSpPr>
            <p:cNvPr id="10260" name="Rectangle 33"/>
            <p:cNvSpPr>
              <a:spLocks noChangeArrowheads="1"/>
            </p:cNvSpPr>
            <p:nvPr/>
          </p:nvSpPr>
          <p:spPr bwMode="auto">
            <a:xfrm flipH="1">
              <a:off x="3295" y="655"/>
              <a:ext cx="27" cy="474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2A2AA8"/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1" name="Rectangle 34"/>
            <p:cNvSpPr>
              <a:spLocks noChangeArrowheads="1"/>
            </p:cNvSpPr>
            <p:nvPr/>
          </p:nvSpPr>
          <p:spPr bwMode="auto">
            <a:xfrm>
              <a:off x="3313" y="655"/>
              <a:ext cx="95" cy="474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2A2AA8"/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58" name="Text Box 32"/>
          <p:cNvSpPr txBox="1">
            <a:spLocks noChangeArrowheads="1"/>
          </p:cNvSpPr>
          <p:nvPr/>
        </p:nvSpPr>
        <p:spPr bwMode="auto">
          <a:xfrm>
            <a:off x="2962275" y="3841750"/>
            <a:ext cx="2852738" cy="83099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 dirty="0"/>
              <a:t>actually …</a:t>
            </a:r>
          </a:p>
          <a:p>
            <a:pPr algn="ctr"/>
            <a:r>
              <a:rPr lang="en-GB" sz="1600" dirty="0"/>
              <a:t>magnetic fields produced by electromagnetic coils</a:t>
            </a:r>
          </a:p>
        </p:txBody>
      </p:sp>
      <p:sp>
        <p:nvSpPr>
          <p:cNvPr id="10259" name="Text Box 13"/>
          <p:cNvSpPr txBox="1">
            <a:spLocks noChangeArrowheads="1"/>
          </p:cNvSpPr>
          <p:nvPr/>
        </p:nvSpPr>
        <p:spPr bwMode="auto">
          <a:xfrm>
            <a:off x="4535488" y="3568700"/>
            <a:ext cx="184150" cy="3365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91255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9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1463" y="1260475"/>
            <a:ext cx="6315075" cy="4838700"/>
          </a:xfrm>
          <a:noFill/>
          <a:ln algn="ctr">
            <a:miter lim="800000"/>
            <a:headEnd/>
            <a:tailEnd/>
          </a:ln>
        </p:spPr>
      </p:pic>
      <p:sp>
        <p:nvSpPr>
          <p:cNvPr id="11267" name="Text Box 11"/>
          <p:cNvSpPr txBox="1">
            <a:spLocks noChangeArrowheads="1"/>
          </p:cNvSpPr>
          <p:nvPr/>
        </p:nvSpPr>
        <p:spPr bwMode="auto">
          <a:xfrm>
            <a:off x="433388" y="361950"/>
            <a:ext cx="3843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Cathode Ray Tube - CRT</a:t>
            </a:r>
          </a:p>
        </p:txBody>
      </p:sp>
    </p:spTree>
    <p:extLst>
      <p:ext uri="{BB962C8B-B14F-4D97-AF65-F5344CB8AC3E}">
        <p14:creationId xmlns:p14="http://schemas.microsoft.com/office/powerpoint/2010/main" val="4231733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5"/>
          <p:cNvSpPr>
            <a:spLocks noChangeArrowheads="1"/>
          </p:cNvSpPr>
          <p:nvPr/>
        </p:nvSpPr>
        <p:spPr bwMode="auto">
          <a:xfrm>
            <a:off x="609600" y="1676400"/>
            <a:ext cx="5791200" cy="411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AutoShape 6"/>
          <p:cNvSpPr>
            <a:spLocks noChangeArrowheads="1"/>
          </p:cNvSpPr>
          <p:nvPr/>
        </p:nvSpPr>
        <p:spPr bwMode="auto">
          <a:xfrm>
            <a:off x="685800" y="1752600"/>
            <a:ext cx="5638800" cy="39624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Line 7"/>
          <p:cNvSpPr>
            <a:spLocks noChangeShapeType="1"/>
          </p:cNvSpPr>
          <p:nvPr/>
        </p:nvSpPr>
        <p:spPr bwMode="auto">
          <a:xfrm>
            <a:off x="609600" y="16764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09600" y="1981200"/>
            <a:ext cx="5791200" cy="0"/>
            <a:chOff x="384" y="1392"/>
            <a:chExt cx="3648" cy="0"/>
          </a:xfrm>
        </p:grpSpPr>
        <p:sp>
          <p:nvSpPr>
            <p:cNvPr id="12347" name="Line 9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48" name="Line 10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2294" name="Line 11"/>
          <p:cNvSpPr>
            <a:spLocks noChangeShapeType="1"/>
          </p:cNvSpPr>
          <p:nvPr/>
        </p:nvSpPr>
        <p:spPr bwMode="auto">
          <a:xfrm>
            <a:off x="609600" y="19812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09600" y="2286000"/>
            <a:ext cx="5791200" cy="0"/>
            <a:chOff x="384" y="1392"/>
            <a:chExt cx="3648" cy="0"/>
          </a:xfrm>
        </p:grpSpPr>
        <p:sp>
          <p:nvSpPr>
            <p:cNvPr id="12345" name="Line 1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46" name="Line 1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2296" name="Line 15"/>
          <p:cNvSpPr>
            <a:spLocks noChangeShapeType="1"/>
          </p:cNvSpPr>
          <p:nvPr/>
        </p:nvSpPr>
        <p:spPr bwMode="auto">
          <a:xfrm>
            <a:off x="609600" y="22860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85800" y="4876800"/>
            <a:ext cx="5791200" cy="914400"/>
            <a:chOff x="432" y="3072"/>
            <a:chExt cx="3648" cy="576"/>
          </a:xfrm>
        </p:grpSpPr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432" y="3072"/>
              <a:ext cx="3648" cy="0"/>
              <a:chOff x="384" y="1392"/>
              <a:chExt cx="3648" cy="0"/>
            </a:xfrm>
          </p:grpSpPr>
          <p:sp>
            <p:nvSpPr>
              <p:cNvPr id="12343" name="Line 18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44" name="Line 19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34" name="Line 20"/>
            <p:cNvSpPr>
              <a:spLocks noChangeShapeType="1"/>
            </p:cNvSpPr>
            <p:nvPr/>
          </p:nvSpPr>
          <p:spPr bwMode="auto">
            <a:xfrm>
              <a:off x="432" y="307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432" y="3264"/>
              <a:ext cx="3648" cy="0"/>
              <a:chOff x="384" y="1392"/>
              <a:chExt cx="3648" cy="0"/>
            </a:xfrm>
          </p:grpSpPr>
          <p:sp>
            <p:nvSpPr>
              <p:cNvPr id="12341" name="Line 22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42" name="Line 23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36" name="Line 24"/>
            <p:cNvSpPr>
              <a:spLocks noChangeShapeType="1"/>
            </p:cNvSpPr>
            <p:nvPr/>
          </p:nvSpPr>
          <p:spPr bwMode="auto">
            <a:xfrm>
              <a:off x="432" y="3264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432" y="3456"/>
              <a:ext cx="3648" cy="0"/>
              <a:chOff x="384" y="1392"/>
              <a:chExt cx="3648" cy="0"/>
            </a:xfrm>
          </p:grpSpPr>
          <p:sp>
            <p:nvSpPr>
              <p:cNvPr id="12339" name="Line 26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40" name="Line 27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38" name="Line 28"/>
            <p:cNvSpPr>
              <a:spLocks noChangeShapeType="1"/>
            </p:cNvSpPr>
            <p:nvPr/>
          </p:nvSpPr>
          <p:spPr bwMode="auto">
            <a:xfrm>
              <a:off x="432" y="3456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609600" y="2667000"/>
            <a:ext cx="5791200" cy="0"/>
            <a:chOff x="384" y="1392"/>
            <a:chExt cx="3648" cy="0"/>
          </a:xfrm>
        </p:grpSpPr>
        <p:sp>
          <p:nvSpPr>
            <p:cNvPr id="12331" name="Line 30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32" name="Line 31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584200" y="2667000"/>
            <a:ext cx="5791200" cy="914400"/>
            <a:chOff x="392" y="2008"/>
            <a:chExt cx="3648" cy="576"/>
          </a:xfrm>
        </p:grpSpPr>
        <p:sp>
          <p:nvSpPr>
            <p:cNvPr id="12322" name="Line 33"/>
            <p:cNvSpPr>
              <a:spLocks noChangeShapeType="1"/>
            </p:cNvSpPr>
            <p:nvPr/>
          </p:nvSpPr>
          <p:spPr bwMode="auto">
            <a:xfrm>
              <a:off x="392" y="2008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" name="Group 34"/>
            <p:cNvGrpSpPr>
              <a:grpSpLocks/>
            </p:cNvGrpSpPr>
            <p:nvPr/>
          </p:nvGrpSpPr>
          <p:grpSpPr bwMode="auto">
            <a:xfrm>
              <a:off x="392" y="2200"/>
              <a:ext cx="3648" cy="0"/>
              <a:chOff x="384" y="1392"/>
              <a:chExt cx="3648" cy="0"/>
            </a:xfrm>
          </p:grpSpPr>
          <p:sp>
            <p:nvSpPr>
              <p:cNvPr id="12329" name="Line 35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30" name="Line 36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24" name="Line 37"/>
            <p:cNvSpPr>
              <a:spLocks noChangeShapeType="1"/>
            </p:cNvSpPr>
            <p:nvPr/>
          </p:nvSpPr>
          <p:spPr bwMode="auto">
            <a:xfrm>
              <a:off x="392" y="2200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392" y="2392"/>
              <a:ext cx="3648" cy="0"/>
              <a:chOff x="384" y="1392"/>
              <a:chExt cx="3648" cy="0"/>
            </a:xfrm>
          </p:grpSpPr>
          <p:sp>
            <p:nvSpPr>
              <p:cNvPr id="12327" name="Line 39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28" name="Line 40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26" name="Line 41"/>
            <p:cNvSpPr>
              <a:spLocks noChangeShapeType="1"/>
            </p:cNvSpPr>
            <p:nvPr/>
          </p:nvSpPr>
          <p:spPr bwMode="auto">
            <a:xfrm>
              <a:off x="392" y="239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2" name="Group 42"/>
          <p:cNvGrpSpPr>
            <a:grpSpLocks/>
          </p:cNvGrpSpPr>
          <p:nvPr/>
        </p:nvGrpSpPr>
        <p:grpSpPr bwMode="auto">
          <a:xfrm>
            <a:off x="622300" y="3302000"/>
            <a:ext cx="5791200" cy="914400"/>
            <a:chOff x="392" y="2008"/>
            <a:chExt cx="3648" cy="576"/>
          </a:xfrm>
        </p:grpSpPr>
        <p:sp>
          <p:nvSpPr>
            <p:cNvPr id="12313" name="Line 43"/>
            <p:cNvSpPr>
              <a:spLocks noChangeShapeType="1"/>
            </p:cNvSpPr>
            <p:nvPr/>
          </p:nvSpPr>
          <p:spPr bwMode="auto">
            <a:xfrm>
              <a:off x="392" y="2008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" name="Group 44"/>
            <p:cNvGrpSpPr>
              <a:grpSpLocks/>
            </p:cNvGrpSpPr>
            <p:nvPr/>
          </p:nvGrpSpPr>
          <p:grpSpPr bwMode="auto">
            <a:xfrm>
              <a:off x="392" y="2200"/>
              <a:ext cx="3648" cy="0"/>
              <a:chOff x="384" y="1392"/>
              <a:chExt cx="3648" cy="0"/>
            </a:xfrm>
          </p:grpSpPr>
          <p:sp>
            <p:nvSpPr>
              <p:cNvPr id="12320" name="Line 45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21" name="Line 46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15" name="Line 47"/>
            <p:cNvSpPr>
              <a:spLocks noChangeShapeType="1"/>
            </p:cNvSpPr>
            <p:nvPr/>
          </p:nvSpPr>
          <p:spPr bwMode="auto">
            <a:xfrm>
              <a:off x="392" y="2200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" name="Group 48"/>
            <p:cNvGrpSpPr>
              <a:grpSpLocks/>
            </p:cNvGrpSpPr>
            <p:nvPr/>
          </p:nvGrpSpPr>
          <p:grpSpPr bwMode="auto">
            <a:xfrm>
              <a:off x="392" y="2392"/>
              <a:ext cx="3648" cy="0"/>
              <a:chOff x="384" y="1392"/>
              <a:chExt cx="3648" cy="0"/>
            </a:xfrm>
          </p:grpSpPr>
          <p:sp>
            <p:nvSpPr>
              <p:cNvPr id="12318" name="Line 49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19" name="Line 50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17" name="Line 51"/>
            <p:cNvSpPr>
              <a:spLocks noChangeShapeType="1"/>
            </p:cNvSpPr>
            <p:nvPr/>
          </p:nvSpPr>
          <p:spPr bwMode="auto">
            <a:xfrm>
              <a:off x="392" y="239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5" name="Group 52"/>
          <p:cNvGrpSpPr>
            <a:grpSpLocks/>
          </p:cNvGrpSpPr>
          <p:nvPr/>
        </p:nvGrpSpPr>
        <p:grpSpPr bwMode="auto">
          <a:xfrm>
            <a:off x="584200" y="3911600"/>
            <a:ext cx="5791200" cy="914400"/>
            <a:chOff x="392" y="2008"/>
            <a:chExt cx="3648" cy="576"/>
          </a:xfrm>
        </p:grpSpPr>
        <p:sp>
          <p:nvSpPr>
            <p:cNvPr id="12304" name="Line 53"/>
            <p:cNvSpPr>
              <a:spLocks noChangeShapeType="1"/>
            </p:cNvSpPr>
            <p:nvPr/>
          </p:nvSpPr>
          <p:spPr bwMode="auto">
            <a:xfrm>
              <a:off x="392" y="2008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6" name="Group 54"/>
            <p:cNvGrpSpPr>
              <a:grpSpLocks/>
            </p:cNvGrpSpPr>
            <p:nvPr/>
          </p:nvGrpSpPr>
          <p:grpSpPr bwMode="auto">
            <a:xfrm>
              <a:off x="392" y="2200"/>
              <a:ext cx="3648" cy="0"/>
              <a:chOff x="384" y="1392"/>
              <a:chExt cx="3648" cy="0"/>
            </a:xfrm>
          </p:grpSpPr>
          <p:sp>
            <p:nvSpPr>
              <p:cNvPr id="12311" name="Line 55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12" name="Line 56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06" name="Line 57"/>
            <p:cNvSpPr>
              <a:spLocks noChangeShapeType="1"/>
            </p:cNvSpPr>
            <p:nvPr/>
          </p:nvSpPr>
          <p:spPr bwMode="auto">
            <a:xfrm>
              <a:off x="392" y="2200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7" name="Group 58"/>
            <p:cNvGrpSpPr>
              <a:grpSpLocks/>
            </p:cNvGrpSpPr>
            <p:nvPr/>
          </p:nvGrpSpPr>
          <p:grpSpPr bwMode="auto">
            <a:xfrm>
              <a:off x="392" y="2392"/>
              <a:ext cx="3648" cy="0"/>
              <a:chOff x="384" y="1392"/>
              <a:chExt cx="3648" cy="0"/>
            </a:xfrm>
          </p:grpSpPr>
          <p:sp>
            <p:nvSpPr>
              <p:cNvPr id="12309" name="Line 59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2310" name="Line 60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2308" name="Line 61"/>
            <p:cNvSpPr>
              <a:spLocks noChangeShapeType="1"/>
            </p:cNvSpPr>
            <p:nvPr/>
          </p:nvSpPr>
          <p:spPr bwMode="auto">
            <a:xfrm>
              <a:off x="392" y="239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2302" name="Text Box 62"/>
          <p:cNvSpPr txBox="1">
            <a:spLocks noChangeArrowheads="1"/>
          </p:cNvSpPr>
          <p:nvPr/>
        </p:nvSpPr>
        <p:spPr bwMode="auto">
          <a:xfrm>
            <a:off x="381000" y="38100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GB" sz="2400" b="1"/>
              <a:t>Line Scanning</a:t>
            </a:r>
          </a:p>
        </p:txBody>
      </p:sp>
      <p:sp>
        <p:nvSpPr>
          <p:cNvPr id="12303" name="Text Box 63"/>
          <p:cNvSpPr txBox="1">
            <a:spLocks noChangeArrowheads="1"/>
          </p:cNvSpPr>
          <p:nvPr/>
        </p:nvSpPr>
        <p:spPr bwMode="auto">
          <a:xfrm>
            <a:off x="6489700" y="2036763"/>
            <a:ext cx="230187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Electron beam is traced across and down the screen,  controlled by coils (i.e. electromagnets) fed with a signal:</a:t>
            </a:r>
          </a:p>
          <a:p>
            <a:r>
              <a:rPr lang="en-GB" dirty="0"/>
              <a:t>to trace the “across and down” movement of the beam (= 625 lines in PAL) 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754394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609600" y="1676400"/>
            <a:ext cx="5791200" cy="411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AutoShape 6"/>
          <p:cNvSpPr>
            <a:spLocks noChangeArrowheads="1"/>
          </p:cNvSpPr>
          <p:nvPr/>
        </p:nvSpPr>
        <p:spPr bwMode="auto">
          <a:xfrm>
            <a:off x="685800" y="1752600"/>
            <a:ext cx="5638800" cy="39624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Line 7"/>
          <p:cNvSpPr>
            <a:spLocks noChangeShapeType="1"/>
          </p:cNvSpPr>
          <p:nvPr/>
        </p:nvSpPr>
        <p:spPr bwMode="auto">
          <a:xfrm>
            <a:off x="609600" y="16764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09600" y="1981200"/>
            <a:ext cx="5791200" cy="0"/>
            <a:chOff x="384" y="1392"/>
            <a:chExt cx="3648" cy="0"/>
          </a:xfrm>
        </p:grpSpPr>
        <p:sp>
          <p:nvSpPr>
            <p:cNvPr id="13330" name="Line 9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31" name="Line 10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3318" name="Line 11"/>
          <p:cNvSpPr>
            <a:spLocks noChangeShapeType="1"/>
          </p:cNvSpPr>
          <p:nvPr/>
        </p:nvSpPr>
        <p:spPr bwMode="auto">
          <a:xfrm>
            <a:off x="609600" y="19812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09600" y="2286000"/>
            <a:ext cx="5791200" cy="0"/>
            <a:chOff x="384" y="1392"/>
            <a:chExt cx="3648" cy="0"/>
          </a:xfrm>
        </p:grpSpPr>
        <p:sp>
          <p:nvSpPr>
            <p:cNvPr id="13328" name="Line 1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29" name="Line 1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3320" name="Line 15"/>
          <p:cNvSpPr>
            <a:spLocks noChangeShapeType="1"/>
          </p:cNvSpPr>
          <p:nvPr/>
        </p:nvSpPr>
        <p:spPr bwMode="auto">
          <a:xfrm>
            <a:off x="609600" y="22860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1" name="Text Box 16"/>
          <p:cNvSpPr txBox="1">
            <a:spLocks noChangeArrowheads="1"/>
          </p:cNvSpPr>
          <p:nvPr/>
        </p:nvSpPr>
        <p:spPr bwMode="auto">
          <a:xfrm>
            <a:off x="381000" y="381000"/>
            <a:ext cx="3309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Progressive Scanning</a:t>
            </a:r>
          </a:p>
        </p:txBody>
      </p:sp>
      <p:sp>
        <p:nvSpPr>
          <p:cNvPr id="13322" name="Text Box 17"/>
          <p:cNvSpPr txBox="1">
            <a:spLocks noChangeArrowheads="1"/>
          </p:cNvSpPr>
          <p:nvPr/>
        </p:nvSpPr>
        <p:spPr bwMode="auto">
          <a:xfrm>
            <a:off x="6781800" y="2590800"/>
            <a:ext cx="1223963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800" b="1" u="sng">
                <a:solidFill>
                  <a:srgbClr val="CC3300"/>
                </a:solidFill>
              </a:rPr>
              <a:t>Field</a:t>
            </a:r>
          </a:p>
          <a:p>
            <a:endParaRPr lang="en-GB" sz="1800" b="1" u="sng">
              <a:solidFill>
                <a:srgbClr val="CC3300"/>
              </a:solidFill>
            </a:endParaRPr>
          </a:p>
          <a:p>
            <a:r>
              <a:rPr lang="en-GB" sz="1800">
                <a:solidFill>
                  <a:srgbClr val="CC3300"/>
                </a:solidFill>
              </a:rPr>
              <a:t>Scan Line</a:t>
            </a:r>
          </a:p>
          <a:p>
            <a:endParaRPr lang="en-GB" sz="1800">
              <a:solidFill>
                <a:srgbClr val="CC3300"/>
              </a:solidFill>
            </a:endParaRPr>
          </a:p>
          <a:p>
            <a:r>
              <a:rPr lang="en-GB" sz="1800">
                <a:solidFill>
                  <a:srgbClr val="CC3300"/>
                </a:solidFill>
              </a:rPr>
              <a:t>Retrace</a:t>
            </a:r>
            <a:endParaRPr lang="en-GB" sz="1800"/>
          </a:p>
        </p:txBody>
      </p:sp>
      <p:sp>
        <p:nvSpPr>
          <p:cNvPr id="13323" name="Line 18"/>
          <p:cNvSpPr>
            <a:spLocks noChangeShapeType="1"/>
          </p:cNvSpPr>
          <p:nvPr/>
        </p:nvSpPr>
        <p:spPr bwMode="auto">
          <a:xfrm flipH="1" flipV="1">
            <a:off x="4572000" y="2514600"/>
            <a:ext cx="2133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4" name="Line 19"/>
          <p:cNvSpPr>
            <a:spLocks noChangeShapeType="1"/>
          </p:cNvSpPr>
          <p:nvPr/>
        </p:nvSpPr>
        <p:spPr bwMode="auto">
          <a:xfrm flipH="1" flipV="1">
            <a:off x="4038600" y="2667000"/>
            <a:ext cx="2819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609600" y="2667000"/>
            <a:ext cx="5791200" cy="0"/>
            <a:chOff x="384" y="1392"/>
            <a:chExt cx="3648" cy="0"/>
          </a:xfrm>
        </p:grpSpPr>
        <p:sp>
          <p:nvSpPr>
            <p:cNvPr id="13326" name="Line 21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27" name="Line 22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35826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ChangeArrowheads="1"/>
          </p:cNvSpPr>
          <p:nvPr/>
        </p:nvSpPr>
        <p:spPr bwMode="auto">
          <a:xfrm>
            <a:off x="609600" y="1676400"/>
            <a:ext cx="5791200" cy="411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AutoShape 6"/>
          <p:cNvSpPr>
            <a:spLocks noChangeArrowheads="1"/>
          </p:cNvSpPr>
          <p:nvPr/>
        </p:nvSpPr>
        <p:spPr bwMode="auto">
          <a:xfrm>
            <a:off x="685800" y="1752600"/>
            <a:ext cx="5638800" cy="39624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Line 7"/>
          <p:cNvSpPr>
            <a:spLocks noChangeShapeType="1"/>
          </p:cNvSpPr>
          <p:nvPr/>
        </p:nvSpPr>
        <p:spPr bwMode="auto">
          <a:xfrm>
            <a:off x="609600" y="16764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09600" y="1981200"/>
            <a:ext cx="5791200" cy="0"/>
            <a:chOff x="384" y="1392"/>
            <a:chExt cx="3648" cy="0"/>
          </a:xfrm>
        </p:grpSpPr>
        <p:sp>
          <p:nvSpPr>
            <p:cNvPr id="14398" name="Line 9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99" name="Line 10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4342" name="Line 11"/>
          <p:cNvSpPr>
            <a:spLocks noChangeShapeType="1"/>
          </p:cNvSpPr>
          <p:nvPr/>
        </p:nvSpPr>
        <p:spPr bwMode="auto">
          <a:xfrm>
            <a:off x="609600" y="19812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09600" y="2286000"/>
            <a:ext cx="5791200" cy="0"/>
            <a:chOff x="384" y="1392"/>
            <a:chExt cx="3648" cy="0"/>
          </a:xfrm>
        </p:grpSpPr>
        <p:sp>
          <p:nvSpPr>
            <p:cNvPr id="14396" name="Line 1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97" name="Line 1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4344" name="Line 15"/>
          <p:cNvSpPr>
            <a:spLocks noChangeShapeType="1"/>
          </p:cNvSpPr>
          <p:nvPr/>
        </p:nvSpPr>
        <p:spPr bwMode="auto">
          <a:xfrm>
            <a:off x="609600" y="2286000"/>
            <a:ext cx="57912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685800" y="4876800"/>
            <a:ext cx="5791200" cy="914400"/>
            <a:chOff x="432" y="3072"/>
            <a:chExt cx="3648" cy="576"/>
          </a:xfrm>
        </p:grpSpPr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432" y="3072"/>
              <a:ext cx="3648" cy="0"/>
              <a:chOff x="384" y="1392"/>
              <a:chExt cx="3648" cy="0"/>
            </a:xfrm>
          </p:grpSpPr>
          <p:sp>
            <p:nvSpPr>
              <p:cNvPr id="14394" name="Line 18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95" name="Line 19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85" name="Line 20"/>
            <p:cNvSpPr>
              <a:spLocks noChangeShapeType="1"/>
            </p:cNvSpPr>
            <p:nvPr/>
          </p:nvSpPr>
          <p:spPr bwMode="auto">
            <a:xfrm>
              <a:off x="432" y="307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432" y="3264"/>
              <a:ext cx="3648" cy="0"/>
              <a:chOff x="384" y="1392"/>
              <a:chExt cx="3648" cy="0"/>
            </a:xfrm>
          </p:grpSpPr>
          <p:sp>
            <p:nvSpPr>
              <p:cNvPr id="14392" name="Line 22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93" name="Line 23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87" name="Line 24"/>
            <p:cNvSpPr>
              <a:spLocks noChangeShapeType="1"/>
            </p:cNvSpPr>
            <p:nvPr/>
          </p:nvSpPr>
          <p:spPr bwMode="auto">
            <a:xfrm>
              <a:off x="432" y="3264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432" y="3456"/>
              <a:ext cx="3648" cy="0"/>
              <a:chOff x="384" y="1392"/>
              <a:chExt cx="3648" cy="0"/>
            </a:xfrm>
          </p:grpSpPr>
          <p:sp>
            <p:nvSpPr>
              <p:cNvPr id="14390" name="Line 26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91" name="Line 27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89" name="Line 28"/>
            <p:cNvSpPr>
              <a:spLocks noChangeShapeType="1"/>
            </p:cNvSpPr>
            <p:nvPr/>
          </p:nvSpPr>
          <p:spPr bwMode="auto">
            <a:xfrm>
              <a:off x="432" y="3456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4346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3309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Progressive Scanning</a:t>
            </a:r>
          </a:p>
        </p:txBody>
      </p:sp>
      <p:sp>
        <p:nvSpPr>
          <p:cNvPr id="14347" name="Text Box 30"/>
          <p:cNvSpPr txBox="1">
            <a:spLocks noChangeArrowheads="1"/>
          </p:cNvSpPr>
          <p:nvPr/>
        </p:nvSpPr>
        <p:spPr bwMode="auto">
          <a:xfrm>
            <a:off x="6781800" y="2590800"/>
            <a:ext cx="1223963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800" b="1" u="sng">
                <a:solidFill>
                  <a:srgbClr val="CC3300"/>
                </a:solidFill>
              </a:rPr>
              <a:t>Field</a:t>
            </a:r>
          </a:p>
          <a:p>
            <a:endParaRPr lang="en-GB" sz="1800" b="1" u="sng">
              <a:solidFill>
                <a:srgbClr val="CC3300"/>
              </a:solidFill>
            </a:endParaRPr>
          </a:p>
          <a:p>
            <a:r>
              <a:rPr lang="en-GB" sz="1800">
                <a:solidFill>
                  <a:srgbClr val="CC3300"/>
                </a:solidFill>
              </a:rPr>
              <a:t>Scan Line</a:t>
            </a:r>
          </a:p>
          <a:p>
            <a:endParaRPr lang="en-GB" sz="1800">
              <a:solidFill>
                <a:srgbClr val="CC3300"/>
              </a:solidFill>
            </a:endParaRPr>
          </a:p>
          <a:p>
            <a:r>
              <a:rPr lang="en-GB" sz="1800">
                <a:solidFill>
                  <a:srgbClr val="CC3300"/>
                </a:solidFill>
              </a:rPr>
              <a:t>Retrace</a:t>
            </a:r>
            <a:endParaRPr lang="en-GB" sz="1800"/>
          </a:p>
        </p:txBody>
      </p:sp>
      <p:sp>
        <p:nvSpPr>
          <p:cNvPr id="14348" name="Line 31"/>
          <p:cNvSpPr>
            <a:spLocks noChangeShapeType="1"/>
          </p:cNvSpPr>
          <p:nvPr/>
        </p:nvSpPr>
        <p:spPr bwMode="auto">
          <a:xfrm flipH="1" flipV="1">
            <a:off x="4572000" y="2514600"/>
            <a:ext cx="2133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9" name="Line 32"/>
          <p:cNvSpPr>
            <a:spLocks noChangeShapeType="1"/>
          </p:cNvSpPr>
          <p:nvPr/>
        </p:nvSpPr>
        <p:spPr bwMode="auto">
          <a:xfrm flipH="1" flipV="1">
            <a:off x="4038600" y="2667000"/>
            <a:ext cx="28194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609600" y="2667000"/>
            <a:ext cx="5791200" cy="0"/>
            <a:chOff x="384" y="1392"/>
            <a:chExt cx="3648" cy="0"/>
          </a:xfrm>
        </p:grpSpPr>
        <p:sp>
          <p:nvSpPr>
            <p:cNvPr id="14382" name="Line 34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83" name="Line 35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4351" name="Line 36"/>
          <p:cNvSpPr>
            <a:spLocks noChangeShapeType="1"/>
          </p:cNvSpPr>
          <p:nvPr/>
        </p:nvSpPr>
        <p:spPr bwMode="auto">
          <a:xfrm flipH="1" flipV="1">
            <a:off x="685800" y="1676400"/>
            <a:ext cx="5638800" cy="41148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584200" y="2667000"/>
            <a:ext cx="5791200" cy="914400"/>
            <a:chOff x="392" y="2008"/>
            <a:chExt cx="3648" cy="576"/>
          </a:xfrm>
        </p:grpSpPr>
        <p:sp>
          <p:nvSpPr>
            <p:cNvPr id="14373" name="Line 38"/>
            <p:cNvSpPr>
              <a:spLocks noChangeShapeType="1"/>
            </p:cNvSpPr>
            <p:nvPr/>
          </p:nvSpPr>
          <p:spPr bwMode="auto">
            <a:xfrm>
              <a:off x="392" y="2008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" name="Group 39"/>
            <p:cNvGrpSpPr>
              <a:grpSpLocks/>
            </p:cNvGrpSpPr>
            <p:nvPr/>
          </p:nvGrpSpPr>
          <p:grpSpPr bwMode="auto">
            <a:xfrm>
              <a:off x="392" y="2200"/>
              <a:ext cx="3648" cy="0"/>
              <a:chOff x="384" y="1392"/>
              <a:chExt cx="3648" cy="0"/>
            </a:xfrm>
          </p:grpSpPr>
          <p:sp>
            <p:nvSpPr>
              <p:cNvPr id="14380" name="Line 40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81" name="Line 41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75" name="Line 42"/>
            <p:cNvSpPr>
              <a:spLocks noChangeShapeType="1"/>
            </p:cNvSpPr>
            <p:nvPr/>
          </p:nvSpPr>
          <p:spPr bwMode="auto">
            <a:xfrm>
              <a:off x="392" y="2200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1" name="Group 43"/>
            <p:cNvGrpSpPr>
              <a:grpSpLocks/>
            </p:cNvGrpSpPr>
            <p:nvPr/>
          </p:nvGrpSpPr>
          <p:grpSpPr bwMode="auto">
            <a:xfrm>
              <a:off x="392" y="2392"/>
              <a:ext cx="3648" cy="0"/>
              <a:chOff x="384" y="1392"/>
              <a:chExt cx="3648" cy="0"/>
            </a:xfrm>
          </p:grpSpPr>
          <p:sp>
            <p:nvSpPr>
              <p:cNvPr id="14378" name="Line 44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79" name="Line 45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77" name="Line 46"/>
            <p:cNvSpPr>
              <a:spLocks noChangeShapeType="1"/>
            </p:cNvSpPr>
            <p:nvPr/>
          </p:nvSpPr>
          <p:spPr bwMode="auto">
            <a:xfrm>
              <a:off x="392" y="239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2" name="Group 47"/>
          <p:cNvGrpSpPr>
            <a:grpSpLocks/>
          </p:cNvGrpSpPr>
          <p:nvPr/>
        </p:nvGrpSpPr>
        <p:grpSpPr bwMode="auto">
          <a:xfrm>
            <a:off x="622300" y="3302000"/>
            <a:ext cx="5791200" cy="914400"/>
            <a:chOff x="392" y="2008"/>
            <a:chExt cx="3648" cy="576"/>
          </a:xfrm>
        </p:grpSpPr>
        <p:sp>
          <p:nvSpPr>
            <p:cNvPr id="14364" name="Line 48"/>
            <p:cNvSpPr>
              <a:spLocks noChangeShapeType="1"/>
            </p:cNvSpPr>
            <p:nvPr/>
          </p:nvSpPr>
          <p:spPr bwMode="auto">
            <a:xfrm>
              <a:off x="392" y="2008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3" name="Group 49"/>
            <p:cNvGrpSpPr>
              <a:grpSpLocks/>
            </p:cNvGrpSpPr>
            <p:nvPr/>
          </p:nvGrpSpPr>
          <p:grpSpPr bwMode="auto">
            <a:xfrm>
              <a:off x="392" y="2200"/>
              <a:ext cx="3648" cy="0"/>
              <a:chOff x="384" y="1392"/>
              <a:chExt cx="3648" cy="0"/>
            </a:xfrm>
          </p:grpSpPr>
          <p:sp>
            <p:nvSpPr>
              <p:cNvPr id="14371" name="Line 50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72" name="Line 51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66" name="Line 52"/>
            <p:cNvSpPr>
              <a:spLocks noChangeShapeType="1"/>
            </p:cNvSpPr>
            <p:nvPr/>
          </p:nvSpPr>
          <p:spPr bwMode="auto">
            <a:xfrm>
              <a:off x="392" y="2200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4" name="Group 53"/>
            <p:cNvGrpSpPr>
              <a:grpSpLocks/>
            </p:cNvGrpSpPr>
            <p:nvPr/>
          </p:nvGrpSpPr>
          <p:grpSpPr bwMode="auto">
            <a:xfrm>
              <a:off x="392" y="2392"/>
              <a:ext cx="3648" cy="0"/>
              <a:chOff x="384" y="1392"/>
              <a:chExt cx="3648" cy="0"/>
            </a:xfrm>
          </p:grpSpPr>
          <p:sp>
            <p:nvSpPr>
              <p:cNvPr id="14369" name="Line 54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70" name="Line 55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68" name="Line 56"/>
            <p:cNvSpPr>
              <a:spLocks noChangeShapeType="1"/>
            </p:cNvSpPr>
            <p:nvPr/>
          </p:nvSpPr>
          <p:spPr bwMode="auto">
            <a:xfrm>
              <a:off x="392" y="239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5" name="Group 57"/>
          <p:cNvGrpSpPr>
            <a:grpSpLocks/>
          </p:cNvGrpSpPr>
          <p:nvPr/>
        </p:nvGrpSpPr>
        <p:grpSpPr bwMode="auto">
          <a:xfrm>
            <a:off x="584200" y="3911600"/>
            <a:ext cx="5791200" cy="914400"/>
            <a:chOff x="392" y="2008"/>
            <a:chExt cx="3648" cy="576"/>
          </a:xfrm>
        </p:grpSpPr>
        <p:sp>
          <p:nvSpPr>
            <p:cNvPr id="14355" name="Line 58"/>
            <p:cNvSpPr>
              <a:spLocks noChangeShapeType="1"/>
            </p:cNvSpPr>
            <p:nvPr/>
          </p:nvSpPr>
          <p:spPr bwMode="auto">
            <a:xfrm>
              <a:off x="392" y="2008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6" name="Group 59"/>
            <p:cNvGrpSpPr>
              <a:grpSpLocks/>
            </p:cNvGrpSpPr>
            <p:nvPr/>
          </p:nvGrpSpPr>
          <p:grpSpPr bwMode="auto">
            <a:xfrm>
              <a:off x="392" y="2200"/>
              <a:ext cx="3648" cy="0"/>
              <a:chOff x="384" y="1392"/>
              <a:chExt cx="3648" cy="0"/>
            </a:xfrm>
          </p:grpSpPr>
          <p:sp>
            <p:nvSpPr>
              <p:cNvPr id="14362" name="Line 60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63" name="Line 61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57" name="Line 62"/>
            <p:cNvSpPr>
              <a:spLocks noChangeShapeType="1"/>
            </p:cNvSpPr>
            <p:nvPr/>
          </p:nvSpPr>
          <p:spPr bwMode="auto">
            <a:xfrm>
              <a:off x="392" y="2200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7" name="Group 63"/>
            <p:cNvGrpSpPr>
              <a:grpSpLocks/>
            </p:cNvGrpSpPr>
            <p:nvPr/>
          </p:nvGrpSpPr>
          <p:grpSpPr bwMode="auto">
            <a:xfrm>
              <a:off x="392" y="2392"/>
              <a:ext cx="3648" cy="0"/>
              <a:chOff x="384" y="1392"/>
              <a:chExt cx="3648" cy="0"/>
            </a:xfrm>
          </p:grpSpPr>
          <p:sp>
            <p:nvSpPr>
              <p:cNvPr id="14360" name="Line 64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4361" name="Line 65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359" name="Line 66"/>
            <p:cNvSpPr>
              <a:spLocks noChangeShapeType="1"/>
            </p:cNvSpPr>
            <p:nvPr/>
          </p:nvSpPr>
          <p:spPr bwMode="auto">
            <a:xfrm>
              <a:off x="392" y="2392"/>
              <a:ext cx="3648" cy="192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0636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1600190"/>
            <a:ext cx="7505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Movies: 24 full pictorial frames / second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Flicker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… but no motion of the flicker.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… eye not so sensitive to flicker in a dark cinema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TV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Scanned – light emission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896938"/>
            <a:r>
              <a:rPr lang="en-GB" b="1" i="1" dirty="0"/>
              <a:t>	… Need to reduce flicker without requiring excessive bandwidth </a:t>
            </a:r>
          </a:p>
        </p:txBody>
      </p:sp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3309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Progressive Scanning</a:t>
            </a:r>
          </a:p>
        </p:txBody>
      </p:sp>
    </p:spTree>
    <p:extLst>
      <p:ext uri="{BB962C8B-B14F-4D97-AF65-F5344CB8AC3E}">
        <p14:creationId xmlns:p14="http://schemas.microsoft.com/office/powerpoint/2010/main" val="220665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ChangeArrowheads="1"/>
          </p:cNvSpPr>
          <p:nvPr/>
        </p:nvSpPr>
        <p:spPr bwMode="auto">
          <a:xfrm>
            <a:off x="609600" y="1676400"/>
            <a:ext cx="5791200" cy="411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AutoShape 6"/>
          <p:cNvSpPr>
            <a:spLocks noChangeArrowheads="1"/>
          </p:cNvSpPr>
          <p:nvPr/>
        </p:nvSpPr>
        <p:spPr bwMode="auto">
          <a:xfrm>
            <a:off x="685800" y="1752600"/>
            <a:ext cx="5638800" cy="39624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Line 7"/>
          <p:cNvSpPr>
            <a:spLocks noChangeShapeType="1"/>
          </p:cNvSpPr>
          <p:nvPr/>
        </p:nvSpPr>
        <p:spPr bwMode="auto">
          <a:xfrm>
            <a:off x="609600" y="16764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5" name="Line 8"/>
          <p:cNvSpPr>
            <a:spLocks noChangeShapeType="1"/>
          </p:cNvSpPr>
          <p:nvPr/>
        </p:nvSpPr>
        <p:spPr bwMode="auto">
          <a:xfrm>
            <a:off x="609600" y="22098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09600" y="2209800"/>
            <a:ext cx="5791200" cy="0"/>
            <a:chOff x="384" y="1392"/>
            <a:chExt cx="3648" cy="0"/>
          </a:xfrm>
        </p:grpSpPr>
        <p:sp>
          <p:nvSpPr>
            <p:cNvPr id="15375" name="Line 10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76" name="Line 11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5367" name="Text Box 12"/>
          <p:cNvSpPr txBox="1">
            <a:spLocks noChangeArrowheads="1"/>
          </p:cNvSpPr>
          <p:nvPr/>
        </p:nvSpPr>
        <p:spPr bwMode="auto">
          <a:xfrm>
            <a:off x="2771800" y="5994285"/>
            <a:ext cx="364540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just">
              <a:lnSpc>
                <a:spcPct val="140000"/>
              </a:lnSpc>
            </a:pPr>
            <a:r>
              <a:rPr lang="en-GB" sz="1800" b="1" u="sng" dirty="0">
                <a:solidFill>
                  <a:srgbClr val="CC3300"/>
                </a:solidFill>
              </a:rPr>
              <a:t>Field 1:</a:t>
            </a:r>
            <a:r>
              <a:rPr lang="en-GB" sz="1800" b="1" dirty="0">
                <a:solidFill>
                  <a:srgbClr val="CC3300"/>
                </a:solidFill>
              </a:rPr>
              <a:t> </a:t>
            </a:r>
            <a:r>
              <a:rPr lang="en-GB" sz="1800" dirty="0">
                <a:solidFill>
                  <a:srgbClr val="CC3300"/>
                </a:solidFill>
              </a:rPr>
              <a:t>Scan Line; Retrace</a:t>
            </a:r>
            <a:endParaRPr lang="en-GB" sz="1800" dirty="0"/>
          </a:p>
        </p:txBody>
      </p:sp>
      <p:sp>
        <p:nvSpPr>
          <p:cNvPr id="15368" name="Line 13"/>
          <p:cNvSpPr>
            <a:spLocks noChangeShapeType="1"/>
          </p:cNvSpPr>
          <p:nvPr/>
        </p:nvSpPr>
        <p:spPr bwMode="auto">
          <a:xfrm flipH="1" flipV="1">
            <a:off x="3492500" y="2489199"/>
            <a:ext cx="1844585" cy="35050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609600" y="2743200"/>
            <a:ext cx="5791200" cy="0"/>
            <a:chOff x="384" y="1392"/>
            <a:chExt cx="3648" cy="0"/>
          </a:xfrm>
        </p:grpSpPr>
        <p:sp>
          <p:nvSpPr>
            <p:cNvPr id="15373" name="Line 15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74" name="Line 16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5370" name="Line 17"/>
          <p:cNvSpPr>
            <a:spLocks noChangeShapeType="1"/>
          </p:cNvSpPr>
          <p:nvPr/>
        </p:nvSpPr>
        <p:spPr bwMode="auto">
          <a:xfrm flipH="1" flipV="1">
            <a:off x="2400299" y="2755900"/>
            <a:ext cx="1676645" cy="32833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71" name="Text Box 18"/>
          <p:cNvSpPr txBox="1">
            <a:spLocks noChangeArrowheads="1"/>
          </p:cNvSpPr>
          <p:nvPr/>
        </p:nvSpPr>
        <p:spPr bwMode="auto">
          <a:xfrm>
            <a:off x="381000" y="381000"/>
            <a:ext cx="307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Interlaced Scanning</a:t>
            </a:r>
            <a:endParaRPr lang="en-GB" sz="2400" dirty="0"/>
          </a:p>
        </p:txBody>
      </p:sp>
      <p:sp>
        <p:nvSpPr>
          <p:cNvPr id="15372" name="Text Box 19"/>
          <p:cNvSpPr txBox="1">
            <a:spLocks noChangeArrowheads="1"/>
          </p:cNvSpPr>
          <p:nvPr/>
        </p:nvSpPr>
        <p:spPr bwMode="auto">
          <a:xfrm>
            <a:off x="6417205" y="683695"/>
            <a:ext cx="25527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GB" b="1" dirty="0"/>
          </a:p>
          <a:p>
            <a:r>
              <a:rPr lang="en-GB" dirty="0"/>
              <a:t>Odd / even lines are scanned alternately - </a:t>
            </a:r>
          </a:p>
          <a:p>
            <a:endParaRPr lang="en-GB" dirty="0"/>
          </a:p>
          <a:p>
            <a:pPr>
              <a:buFontTx/>
              <a:buChar char="•"/>
            </a:pPr>
            <a:r>
              <a:rPr lang="en-GB" dirty="0"/>
              <a:t>Frame consists of two fields, each at 50 Hz (PAL system); </a:t>
            </a:r>
          </a:p>
          <a:p>
            <a:r>
              <a:rPr lang="en-GB" dirty="0"/>
              <a:t>	... i.e. 25 full frames / second</a:t>
            </a:r>
          </a:p>
          <a:p>
            <a:pPr>
              <a:buFontTx/>
              <a:buChar char="•"/>
            </a:pPr>
            <a:endParaRPr lang="en-GB" dirty="0"/>
          </a:p>
          <a:p>
            <a:pPr>
              <a:buFontTx/>
              <a:buChar char="•"/>
            </a:pPr>
            <a:r>
              <a:rPr lang="en-GB" dirty="0"/>
              <a:t>Line scan rate is determined by human eye </a:t>
            </a:r>
            <a:r>
              <a:rPr lang="en-GB" dirty="0" err="1"/>
              <a:t>persistance</a:t>
            </a:r>
            <a:endParaRPr lang="en-GB" dirty="0"/>
          </a:p>
          <a:p>
            <a:r>
              <a:rPr lang="en-GB" dirty="0"/>
              <a:t>	i.e. at this frequency (and higher) the eye can’t detect the difference between scans</a:t>
            </a:r>
          </a:p>
          <a:p>
            <a:endParaRPr lang="en-GB" dirty="0"/>
          </a:p>
          <a:p>
            <a:r>
              <a:rPr lang="en-GB" dirty="0"/>
              <a:t>Only achievable on CRT, plasma displays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288" y="863715"/>
            <a:ext cx="39516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/>
              <a:t>To give (“apparent”) higher resolution whilst conserving bandwidth</a:t>
            </a:r>
          </a:p>
        </p:txBody>
      </p:sp>
    </p:spTree>
    <p:extLst>
      <p:ext uri="{BB962C8B-B14F-4D97-AF65-F5344CB8AC3E}">
        <p14:creationId xmlns:p14="http://schemas.microsoft.com/office/powerpoint/2010/main" val="1734990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ChangeArrowheads="1"/>
          </p:cNvSpPr>
          <p:nvPr/>
        </p:nvSpPr>
        <p:spPr bwMode="auto">
          <a:xfrm>
            <a:off x="609600" y="1676400"/>
            <a:ext cx="5791200" cy="411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AutoShape 6"/>
          <p:cNvSpPr>
            <a:spLocks noChangeArrowheads="1"/>
          </p:cNvSpPr>
          <p:nvPr/>
        </p:nvSpPr>
        <p:spPr bwMode="auto">
          <a:xfrm>
            <a:off x="685800" y="1752600"/>
            <a:ext cx="5638800" cy="39624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Line 7"/>
          <p:cNvSpPr>
            <a:spLocks noChangeShapeType="1"/>
          </p:cNvSpPr>
          <p:nvPr/>
        </p:nvSpPr>
        <p:spPr bwMode="auto">
          <a:xfrm>
            <a:off x="609600" y="16764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89" name="Line 8"/>
          <p:cNvSpPr>
            <a:spLocks noChangeShapeType="1"/>
          </p:cNvSpPr>
          <p:nvPr/>
        </p:nvSpPr>
        <p:spPr bwMode="auto">
          <a:xfrm>
            <a:off x="609600" y="5410200"/>
            <a:ext cx="30480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0" name="Line 9"/>
          <p:cNvSpPr>
            <a:spLocks noChangeShapeType="1"/>
          </p:cNvSpPr>
          <p:nvPr/>
        </p:nvSpPr>
        <p:spPr bwMode="auto">
          <a:xfrm flipH="1">
            <a:off x="609600" y="5410200"/>
            <a:ext cx="5791200" cy="0"/>
          </a:xfrm>
          <a:prstGeom prst="line">
            <a:avLst/>
          </a:prstGeom>
          <a:noFill/>
          <a:ln w="28575">
            <a:solidFill>
              <a:srgbClr val="FF9933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1" name="Line 10"/>
          <p:cNvSpPr>
            <a:spLocks noChangeShapeType="1"/>
          </p:cNvSpPr>
          <p:nvPr/>
        </p:nvSpPr>
        <p:spPr bwMode="auto">
          <a:xfrm>
            <a:off x="609600" y="48768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92" name="Line 11"/>
          <p:cNvSpPr>
            <a:spLocks noChangeShapeType="1"/>
          </p:cNvSpPr>
          <p:nvPr/>
        </p:nvSpPr>
        <p:spPr bwMode="auto">
          <a:xfrm>
            <a:off x="609600" y="22098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09600" y="2209800"/>
            <a:ext cx="5791200" cy="0"/>
            <a:chOff x="384" y="1392"/>
            <a:chExt cx="3648" cy="0"/>
          </a:xfrm>
        </p:grpSpPr>
        <p:sp>
          <p:nvSpPr>
            <p:cNvPr id="16416" name="Line 1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17" name="Line 1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394" name="Line 15"/>
          <p:cNvSpPr>
            <a:spLocks noChangeShapeType="1"/>
          </p:cNvSpPr>
          <p:nvPr/>
        </p:nvSpPr>
        <p:spPr bwMode="auto">
          <a:xfrm>
            <a:off x="3200400" y="5410200"/>
            <a:ext cx="609600" cy="0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09600" y="2743200"/>
            <a:ext cx="5791200" cy="0"/>
            <a:chOff x="384" y="1392"/>
            <a:chExt cx="3648" cy="0"/>
          </a:xfrm>
        </p:grpSpPr>
        <p:sp>
          <p:nvSpPr>
            <p:cNvPr id="16414" name="Line 17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15" name="Line 18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396" name="Line 19"/>
          <p:cNvSpPr>
            <a:spLocks noChangeShapeType="1"/>
          </p:cNvSpPr>
          <p:nvPr/>
        </p:nvSpPr>
        <p:spPr bwMode="auto">
          <a:xfrm>
            <a:off x="685800" y="27432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609600" y="3276600"/>
            <a:ext cx="5791200" cy="0"/>
            <a:chOff x="384" y="1392"/>
            <a:chExt cx="3648" cy="0"/>
          </a:xfrm>
        </p:grpSpPr>
        <p:sp>
          <p:nvSpPr>
            <p:cNvPr id="16412" name="Line 21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13" name="Line 22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398" name="Line 23"/>
          <p:cNvSpPr>
            <a:spLocks noChangeShapeType="1"/>
          </p:cNvSpPr>
          <p:nvPr/>
        </p:nvSpPr>
        <p:spPr bwMode="auto">
          <a:xfrm>
            <a:off x="685800" y="32766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09600" y="3810000"/>
            <a:ext cx="5791200" cy="0"/>
            <a:chOff x="384" y="1392"/>
            <a:chExt cx="3648" cy="0"/>
          </a:xfrm>
        </p:grpSpPr>
        <p:sp>
          <p:nvSpPr>
            <p:cNvPr id="16410" name="Line 25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11" name="Line 26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400" name="Line 27"/>
          <p:cNvSpPr>
            <a:spLocks noChangeShapeType="1"/>
          </p:cNvSpPr>
          <p:nvPr/>
        </p:nvSpPr>
        <p:spPr bwMode="auto">
          <a:xfrm>
            <a:off x="609600" y="38100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609600" y="4343400"/>
            <a:ext cx="5791200" cy="0"/>
            <a:chOff x="384" y="1392"/>
            <a:chExt cx="3648" cy="0"/>
          </a:xfrm>
        </p:grpSpPr>
        <p:sp>
          <p:nvSpPr>
            <p:cNvPr id="16408" name="Line 29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09" name="Line 30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402" name="Line 31"/>
          <p:cNvSpPr>
            <a:spLocks noChangeShapeType="1"/>
          </p:cNvSpPr>
          <p:nvPr/>
        </p:nvSpPr>
        <p:spPr bwMode="auto">
          <a:xfrm>
            <a:off x="609600" y="43434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09600" y="4876800"/>
            <a:ext cx="5791200" cy="0"/>
            <a:chOff x="384" y="1392"/>
            <a:chExt cx="3648" cy="0"/>
          </a:xfrm>
        </p:grpSpPr>
        <p:sp>
          <p:nvSpPr>
            <p:cNvPr id="16406" name="Line 3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07" name="Line 3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404" name="Text Box 35"/>
          <p:cNvSpPr txBox="1">
            <a:spLocks noChangeArrowheads="1"/>
          </p:cNvSpPr>
          <p:nvPr/>
        </p:nvSpPr>
        <p:spPr bwMode="auto">
          <a:xfrm>
            <a:off x="381000" y="381000"/>
            <a:ext cx="307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Interlaced Scanning</a:t>
            </a:r>
            <a:endParaRPr lang="en-GB" sz="2400"/>
          </a:p>
        </p:txBody>
      </p:sp>
      <p:sp>
        <p:nvSpPr>
          <p:cNvPr id="16405" name="Text Box 36"/>
          <p:cNvSpPr txBox="1">
            <a:spLocks noChangeArrowheads="1"/>
          </p:cNvSpPr>
          <p:nvPr/>
        </p:nvSpPr>
        <p:spPr bwMode="auto">
          <a:xfrm>
            <a:off x="6591300" y="2617788"/>
            <a:ext cx="25527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>
                <a:solidFill>
                  <a:srgbClr val="FF0066"/>
                </a:solidFill>
              </a:rPr>
              <a:t>Fully scanned field 1</a:t>
            </a:r>
          </a:p>
          <a:p>
            <a:endParaRPr lang="en-GB">
              <a:solidFill>
                <a:srgbClr val="FF0066"/>
              </a:solidFill>
            </a:endParaRPr>
          </a:p>
          <a:p>
            <a:r>
              <a:rPr lang="en-GB"/>
              <a:t>e.g. for PAL 625 line system, field 1 + 312½ lines</a:t>
            </a:r>
          </a:p>
        </p:txBody>
      </p:sp>
    </p:spTree>
    <p:extLst>
      <p:ext uri="{BB962C8B-B14F-4D97-AF65-F5344CB8AC3E}">
        <p14:creationId xmlns:p14="http://schemas.microsoft.com/office/powerpoint/2010/main" val="2983152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ChangeArrowheads="1"/>
          </p:cNvSpPr>
          <p:nvPr/>
        </p:nvSpPr>
        <p:spPr bwMode="auto">
          <a:xfrm>
            <a:off x="609600" y="1676400"/>
            <a:ext cx="5791200" cy="411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AutoShape 6"/>
          <p:cNvSpPr>
            <a:spLocks noChangeArrowheads="1"/>
          </p:cNvSpPr>
          <p:nvPr/>
        </p:nvSpPr>
        <p:spPr bwMode="auto">
          <a:xfrm>
            <a:off x="685800" y="1752600"/>
            <a:ext cx="5638800" cy="39624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7"/>
          <p:cNvSpPr>
            <a:spLocks noChangeShapeType="1"/>
          </p:cNvSpPr>
          <p:nvPr/>
        </p:nvSpPr>
        <p:spPr bwMode="auto">
          <a:xfrm>
            <a:off x="609600" y="16764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3" name="Line 8"/>
          <p:cNvSpPr>
            <a:spLocks noChangeShapeType="1"/>
          </p:cNvSpPr>
          <p:nvPr/>
        </p:nvSpPr>
        <p:spPr bwMode="auto">
          <a:xfrm>
            <a:off x="609600" y="5410200"/>
            <a:ext cx="3048000" cy="3048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4" name="Line 9"/>
          <p:cNvSpPr>
            <a:spLocks noChangeShapeType="1"/>
          </p:cNvSpPr>
          <p:nvPr/>
        </p:nvSpPr>
        <p:spPr bwMode="auto">
          <a:xfrm flipH="1">
            <a:off x="609600" y="5410200"/>
            <a:ext cx="5791200" cy="0"/>
          </a:xfrm>
          <a:prstGeom prst="line">
            <a:avLst/>
          </a:prstGeom>
          <a:noFill/>
          <a:ln w="28575">
            <a:solidFill>
              <a:srgbClr val="FF9933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5" name="Line 10"/>
          <p:cNvSpPr>
            <a:spLocks noChangeShapeType="1"/>
          </p:cNvSpPr>
          <p:nvPr/>
        </p:nvSpPr>
        <p:spPr bwMode="auto">
          <a:xfrm>
            <a:off x="609600" y="48768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6" name="Line 11"/>
          <p:cNvSpPr>
            <a:spLocks noChangeShapeType="1"/>
          </p:cNvSpPr>
          <p:nvPr/>
        </p:nvSpPr>
        <p:spPr bwMode="auto">
          <a:xfrm>
            <a:off x="609600" y="22098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09600" y="2209800"/>
            <a:ext cx="5791200" cy="0"/>
            <a:chOff x="384" y="1392"/>
            <a:chExt cx="3648" cy="0"/>
          </a:xfrm>
        </p:grpSpPr>
        <p:sp>
          <p:nvSpPr>
            <p:cNvPr id="17456" name="Line 1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57" name="Line 1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18" name="Line 15"/>
          <p:cNvSpPr>
            <a:spLocks noChangeShapeType="1"/>
          </p:cNvSpPr>
          <p:nvPr/>
        </p:nvSpPr>
        <p:spPr bwMode="auto">
          <a:xfrm>
            <a:off x="3200400" y="5410200"/>
            <a:ext cx="609600" cy="0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09600" y="2743200"/>
            <a:ext cx="5791200" cy="0"/>
            <a:chOff x="384" y="1392"/>
            <a:chExt cx="3648" cy="0"/>
          </a:xfrm>
        </p:grpSpPr>
        <p:sp>
          <p:nvSpPr>
            <p:cNvPr id="17454" name="Line 17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55" name="Line 18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20" name="Line 19"/>
          <p:cNvSpPr>
            <a:spLocks noChangeShapeType="1"/>
          </p:cNvSpPr>
          <p:nvPr/>
        </p:nvSpPr>
        <p:spPr bwMode="auto">
          <a:xfrm>
            <a:off x="685800" y="27432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609600" y="3276600"/>
            <a:ext cx="5791200" cy="0"/>
            <a:chOff x="384" y="1392"/>
            <a:chExt cx="3648" cy="0"/>
          </a:xfrm>
        </p:grpSpPr>
        <p:sp>
          <p:nvSpPr>
            <p:cNvPr id="17452" name="Line 21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53" name="Line 22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22" name="Line 23"/>
          <p:cNvSpPr>
            <a:spLocks noChangeShapeType="1"/>
          </p:cNvSpPr>
          <p:nvPr/>
        </p:nvSpPr>
        <p:spPr bwMode="auto">
          <a:xfrm>
            <a:off x="685800" y="32766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09600" y="3810000"/>
            <a:ext cx="5791200" cy="0"/>
            <a:chOff x="384" y="1392"/>
            <a:chExt cx="3648" cy="0"/>
          </a:xfrm>
        </p:grpSpPr>
        <p:sp>
          <p:nvSpPr>
            <p:cNvPr id="17450" name="Line 25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51" name="Line 26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24" name="Line 27"/>
          <p:cNvSpPr>
            <a:spLocks noChangeShapeType="1"/>
          </p:cNvSpPr>
          <p:nvPr/>
        </p:nvSpPr>
        <p:spPr bwMode="auto">
          <a:xfrm>
            <a:off x="609600" y="38100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609600" y="4343400"/>
            <a:ext cx="5791200" cy="0"/>
            <a:chOff x="384" y="1392"/>
            <a:chExt cx="3648" cy="0"/>
          </a:xfrm>
        </p:grpSpPr>
        <p:sp>
          <p:nvSpPr>
            <p:cNvPr id="17448" name="Line 29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49" name="Line 30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26" name="Line 31"/>
          <p:cNvSpPr>
            <a:spLocks noChangeShapeType="1"/>
          </p:cNvSpPr>
          <p:nvPr/>
        </p:nvSpPr>
        <p:spPr bwMode="auto">
          <a:xfrm>
            <a:off x="609600" y="4343400"/>
            <a:ext cx="5791200" cy="53340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609600" y="4876800"/>
            <a:ext cx="5791200" cy="0"/>
            <a:chOff x="384" y="1392"/>
            <a:chExt cx="3648" cy="0"/>
          </a:xfrm>
        </p:grpSpPr>
        <p:sp>
          <p:nvSpPr>
            <p:cNvPr id="17446" name="Line 3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47" name="Line 3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28" name="Rectangle 35"/>
          <p:cNvSpPr>
            <a:spLocks noChangeArrowheads="1"/>
          </p:cNvSpPr>
          <p:nvPr/>
        </p:nvSpPr>
        <p:spPr bwMode="auto">
          <a:xfrm>
            <a:off x="533400" y="1676400"/>
            <a:ext cx="5943600" cy="41148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9" name="Line 36"/>
          <p:cNvSpPr>
            <a:spLocks noChangeShapeType="1"/>
          </p:cNvSpPr>
          <p:nvPr/>
        </p:nvSpPr>
        <p:spPr bwMode="auto">
          <a:xfrm flipV="1">
            <a:off x="3581400" y="1752600"/>
            <a:ext cx="0" cy="39624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30" name="Line 37"/>
          <p:cNvSpPr>
            <a:spLocks noChangeShapeType="1"/>
          </p:cNvSpPr>
          <p:nvPr/>
        </p:nvSpPr>
        <p:spPr bwMode="auto">
          <a:xfrm>
            <a:off x="3581400" y="1676400"/>
            <a:ext cx="2819400" cy="3048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8" name="Group 38"/>
          <p:cNvGrpSpPr>
            <a:grpSpLocks/>
          </p:cNvGrpSpPr>
          <p:nvPr/>
        </p:nvGrpSpPr>
        <p:grpSpPr bwMode="auto">
          <a:xfrm>
            <a:off x="533400" y="1981200"/>
            <a:ext cx="5791200" cy="0"/>
            <a:chOff x="384" y="1392"/>
            <a:chExt cx="3648" cy="0"/>
          </a:xfrm>
        </p:grpSpPr>
        <p:sp>
          <p:nvSpPr>
            <p:cNvPr id="17444" name="Line 39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45" name="Line 40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32" name="Line 41"/>
          <p:cNvSpPr>
            <a:spLocks noChangeShapeType="1"/>
          </p:cNvSpPr>
          <p:nvPr/>
        </p:nvSpPr>
        <p:spPr bwMode="auto">
          <a:xfrm>
            <a:off x="685800" y="1981200"/>
            <a:ext cx="5791200" cy="5334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609600" y="2514600"/>
            <a:ext cx="5791200" cy="0"/>
            <a:chOff x="384" y="1392"/>
            <a:chExt cx="3648" cy="0"/>
          </a:xfrm>
        </p:grpSpPr>
        <p:sp>
          <p:nvSpPr>
            <p:cNvPr id="17442" name="Line 43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43" name="Line 44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34" name="Line 45"/>
          <p:cNvSpPr>
            <a:spLocks noChangeShapeType="1"/>
          </p:cNvSpPr>
          <p:nvPr/>
        </p:nvSpPr>
        <p:spPr bwMode="auto">
          <a:xfrm>
            <a:off x="609600" y="2514600"/>
            <a:ext cx="5791200" cy="5334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0" name="Group 46"/>
          <p:cNvGrpSpPr>
            <a:grpSpLocks/>
          </p:cNvGrpSpPr>
          <p:nvPr/>
        </p:nvGrpSpPr>
        <p:grpSpPr bwMode="auto">
          <a:xfrm>
            <a:off x="609600" y="3048000"/>
            <a:ext cx="5791200" cy="0"/>
            <a:chOff x="384" y="1392"/>
            <a:chExt cx="3648" cy="0"/>
          </a:xfrm>
        </p:grpSpPr>
        <p:sp>
          <p:nvSpPr>
            <p:cNvPr id="17440" name="Line 47"/>
            <p:cNvSpPr>
              <a:spLocks noChangeShapeType="1"/>
            </p:cNvSpPr>
            <p:nvPr/>
          </p:nvSpPr>
          <p:spPr bwMode="auto">
            <a:xfrm flipH="1">
              <a:off x="384" y="1392"/>
              <a:ext cx="364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441" name="Line 48"/>
            <p:cNvSpPr>
              <a:spLocks noChangeShapeType="1"/>
            </p:cNvSpPr>
            <p:nvPr/>
          </p:nvSpPr>
          <p:spPr bwMode="auto">
            <a:xfrm>
              <a:off x="2016" y="1392"/>
              <a:ext cx="38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7436" name="Text Box 49"/>
          <p:cNvSpPr txBox="1">
            <a:spLocks noChangeArrowheads="1"/>
          </p:cNvSpPr>
          <p:nvPr/>
        </p:nvSpPr>
        <p:spPr bwMode="auto">
          <a:xfrm>
            <a:off x="381000" y="381000"/>
            <a:ext cx="307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Interlaced Scanning</a:t>
            </a:r>
            <a:endParaRPr lang="en-GB" sz="2400"/>
          </a:p>
        </p:txBody>
      </p:sp>
      <p:sp>
        <p:nvSpPr>
          <p:cNvPr id="17437" name="Text Box 50"/>
          <p:cNvSpPr txBox="1">
            <a:spLocks noChangeArrowheads="1"/>
          </p:cNvSpPr>
          <p:nvPr/>
        </p:nvSpPr>
        <p:spPr bwMode="auto">
          <a:xfrm>
            <a:off x="6858000" y="2133600"/>
            <a:ext cx="22860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800" b="1" u="sng">
                <a:solidFill>
                  <a:schemeClr val="accent2"/>
                </a:solidFill>
              </a:rPr>
              <a:t>Field 2</a:t>
            </a:r>
            <a:endParaRPr lang="en-GB" sz="1800">
              <a:solidFill>
                <a:schemeClr val="accent2"/>
              </a:solidFill>
            </a:endParaRPr>
          </a:p>
          <a:p>
            <a:endParaRPr lang="en-GB" sz="1800">
              <a:solidFill>
                <a:schemeClr val="accent2"/>
              </a:solidFill>
            </a:endParaRPr>
          </a:p>
          <a:p>
            <a:r>
              <a:rPr lang="en-GB" sz="1800">
                <a:solidFill>
                  <a:schemeClr val="accent2"/>
                </a:solidFill>
              </a:rPr>
              <a:t>Scan Line</a:t>
            </a:r>
          </a:p>
          <a:p>
            <a:endParaRPr lang="en-GB" sz="1800">
              <a:solidFill>
                <a:schemeClr val="accent2"/>
              </a:solidFill>
            </a:endParaRPr>
          </a:p>
          <a:p>
            <a:r>
              <a:rPr lang="en-GB" sz="1800">
                <a:solidFill>
                  <a:schemeClr val="accent2"/>
                </a:solidFill>
              </a:rPr>
              <a:t>Retrace</a:t>
            </a:r>
          </a:p>
          <a:p>
            <a:endParaRPr lang="en-GB" sz="1800">
              <a:solidFill>
                <a:schemeClr val="accent2"/>
              </a:solidFill>
            </a:endParaRPr>
          </a:p>
          <a:p>
            <a:r>
              <a:rPr lang="en-GB"/>
              <a:t>e.g. for PAL 625 line system, field 2 = 312½ ... starting with the half line)</a:t>
            </a:r>
          </a:p>
        </p:txBody>
      </p:sp>
      <p:sp>
        <p:nvSpPr>
          <p:cNvPr id="17438" name="Line 51"/>
          <p:cNvSpPr>
            <a:spLocks noChangeShapeType="1"/>
          </p:cNvSpPr>
          <p:nvPr/>
        </p:nvSpPr>
        <p:spPr bwMode="auto">
          <a:xfrm flipH="1" flipV="1">
            <a:off x="4775200" y="1803400"/>
            <a:ext cx="2133600" cy="1028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39" name="Line 52"/>
          <p:cNvSpPr>
            <a:spLocks noChangeShapeType="1"/>
          </p:cNvSpPr>
          <p:nvPr/>
        </p:nvSpPr>
        <p:spPr bwMode="auto">
          <a:xfrm flipH="1" flipV="1">
            <a:off x="2425700" y="3035300"/>
            <a:ext cx="45085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418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8"/>
          <p:cNvSpPr txBox="1">
            <a:spLocks noChangeArrowheads="1"/>
          </p:cNvSpPr>
          <p:nvPr/>
        </p:nvSpPr>
        <p:spPr bwMode="auto">
          <a:xfrm>
            <a:off x="433388" y="361950"/>
            <a:ext cx="307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Interlaced Scanning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33388" y="990600"/>
            <a:ext cx="8140700" cy="3122613"/>
            <a:chOff x="273" y="638"/>
            <a:chExt cx="5128" cy="1967"/>
          </a:xfrm>
        </p:grpSpPr>
        <p:pic>
          <p:nvPicPr>
            <p:cNvPr id="18440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" y="698"/>
              <a:ext cx="2540" cy="1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41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6" y="708"/>
              <a:ext cx="2475" cy="1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2" name="Text Box 9"/>
            <p:cNvSpPr txBox="1">
              <a:spLocks noChangeArrowheads="1"/>
            </p:cNvSpPr>
            <p:nvPr/>
          </p:nvSpPr>
          <p:spPr bwMode="auto">
            <a:xfrm>
              <a:off x="273" y="638"/>
              <a:ext cx="8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start field 1</a:t>
              </a:r>
            </a:p>
          </p:txBody>
        </p:sp>
        <p:sp>
          <p:nvSpPr>
            <p:cNvPr id="18443" name="Line 10"/>
            <p:cNvSpPr>
              <a:spLocks noChangeShapeType="1"/>
            </p:cNvSpPr>
            <p:nvPr/>
          </p:nvSpPr>
          <p:spPr bwMode="auto">
            <a:xfrm>
              <a:off x="1039" y="794"/>
              <a:ext cx="54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4" name="Line 11"/>
            <p:cNvSpPr>
              <a:spLocks noChangeShapeType="1"/>
            </p:cNvSpPr>
            <p:nvPr/>
          </p:nvSpPr>
          <p:spPr bwMode="auto">
            <a:xfrm>
              <a:off x="614" y="969"/>
              <a:ext cx="54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5" name="Line 12"/>
            <p:cNvSpPr>
              <a:spLocks noChangeShapeType="1"/>
            </p:cNvSpPr>
            <p:nvPr/>
          </p:nvSpPr>
          <p:spPr bwMode="auto">
            <a:xfrm>
              <a:off x="1114" y="935"/>
              <a:ext cx="54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6" name="Line 13"/>
            <p:cNvSpPr>
              <a:spLocks noChangeShapeType="1"/>
            </p:cNvSpPr>
            <p:nvPr/>
          </p:nvSpPr>
          <p:spPr bwMode="auto">
            <a:xfrm flipV="1">
              <a:off x="1579" y="792"/>
              <a:ext cx="2628" cy="18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7" name="Text Box 14"/>
            <p:cNvSpPr txBox="1">
              <a:spLocks noChangeArrowheads="1"/>
            </p:cNvSpPr>
            <p:nvPr/>
          </p:nvSpPr>
          <p:spPr bwMode="auto">
            <a:xfrm>
              <a:off x="2970" y="704"/>
              <a:ext cx="8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itchFamily="34" charset="0"/>
                </a:defRPr>
              </a:lvl9pPr>
            </a:lstStyle>
            <a:p>
              <a:r>
                <a:rPr lang="en-GB"/>
                <a:t>start field 2</a:t>
              </a:r>
            </a:p>
          </p:txBody>
        </p:sp>
        <p:sp>
          <p:nvSpPr>
            <p:cNvPr id="18448" name="Line 15"/>
            <p:cNvSpPr>
              <a:spLocks noChangeShapeType="1"/>
            </p:cNvSpPr>
            <p:nvPr/>
          </p:nvSpPr>
          <p:spPr bwMode="auto">
            <a:xfrm flipH="1" flipV="1">
              <a:off x="376" y="843"/>
              <a:ext cx="4964" cy="16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9" name="Line 16"/>
            <p:cNvSpPr>
              <a:spLocks noChangeShapeType="1"/>
            </p:cNvSpPr>
            <p:nvPr/>
          </p:nvSpPr>
          <p:spPr bwMode="auto">
            <a:xfrm>
              <a:off x="4208" y="759"/>
              <a:ext cx="6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0" name="Line 17"/>
            <p:cNvSpPr>
              <a:spLocks noChangeShapeType="1"/>
            </p:cNvSpPr>
            <p:nvPr/>
          </p:nvSpPr>
          <p:spPr bwMode="auto">
            <a:xfrm>
              <a:off x="788" y="2547"/>
              <a:ext cx="54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2992" y="2456"/>
              <a:ext cx="54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18436" name="Picture 3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38" y="4194175"/>
            <a:ext cx="3094037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35"/>
          <p:cNvSpPr txBox="1">
            <a:spLocks noChangeArrowheads="1"/>
          </p:cNvSpPr>
          <p:nvPr/>
        </p:nvSpPr>
        <p:spPr bwMode="auto">
          <a:xfrm>
            <a:off x="433388" y="4203700"/>
            <a:ext cx="1581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field 1 = </a:t>
            </a:r>
          </a:p>
          <a:p>
            <a:r>
              <a:rPr lang="en-GB"/>
              <a:t>1/50</a:t>
            </a:r>
            <a:r>
              <a:rPr lang="en-GB" baseline="30000"/>
              <a:t>th</a:t>
            </a:r>
            <a:r>
              <a:rPr lang="en-GB"/>
              <a:t> second</a:t>
            </a:r>
          </a:p>
        </p:txBody>
      </p:sp>
      <p:sp>
        <p:nvSpPr>
          <p:cNvPr id="18438" name="Text Box 36"/>
          <p:cNvSpPr txBox="1">
            <a:spLocks noChangeArrowheads="1"/>
          </p:cNvSpPr>
          <p:nvPr/>
        </p:nvSpPr>
        <p:spPr bwMode="auto">
          <a:xfrm>
            <a:off x="7053263" y="4092575"/>
            <a:ext cx="1581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field 2 =</a:t>
            </a:r>
          </a:p>
          <a:p>
            <a:r>
              <a:rPr lang="en-GB"/>
              <a:t>1/50</a:t>
            </a:r>
            <a:r>
              <a:rPr lang="en-GB" baseline="30000"/>
              <a:t>th</a:t>
            </a:r>
            <a:r>
              <a:rPr lang="en-GB"/>
              <a:t> second</a:t>
            </a:r>
          </a:p>
        </p:txBody>
      </p:sp>
      <p:sp>
        <p:nvSpPr>
          <p:cNvPr id="18439" name="Text Box 37"/>
          <p:cNvSpPr txBox="1">
            <a:spLocks noChangeArrowheads="1"/>
          </p:cNvSpPr>
          <p:nvPr/>
        </p:nvSpPr>
        <p:spPr bwMode="auto">
          <a:xfrm>
            <a:off x="1411288" y="5529263"/>
            <a:ext cx="18081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complete frame </a:t>
            </a:r>
          </a:p>
          <a:p>
            <a:r>
              <a:rPr lang="en-GB"/>
              <a:t>= 1/25</a:t>
            </a:r>
            <a:r>
              <a:rPr lang="en-GB" baseline="30000"/>
              <a:t>th</a:t>
            </a:r>
            <a:r>
              <a:rPr lang="en-GB"/>
              <a:t> second</a:t>
            </a:r>
          </a:p>
        </p:txBody>
      </p:sp>
    </p:spTree>
    <p:extLst>
      <p:ext uri="{BB962C8B-B14F-4D97-AF65-F5344CB8AC3E}">
        <p14:creationId xmlns:p14="http://schemas.microsoft.com/office/powerpoint/2010/main" val="3583245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962" y="368300"/>
            <a:ext cx="5211343" cy="61546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1026" y="5503125"/>
            <a:ext cx="2657475" cy="6001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>
                <a:hlinkClick r:id="rId3"/>
              </a:rPr>
              <a:t>http://www.retroleum.co.uk/electronics-articles/pal-tv-timing-and-voltages/</a:t>
            </a:r>
            <a:r>
              <a:rPr lang="en-GB" sz="1100"/>
              <a:t> 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433388" y="361950"/>
            <a:ext cx="307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Interlaced Scanning</a:t>
            </a:r>
          </a:p>
        </p:txBody>
      </p:sp>
    </p:spTree>
    <p:extLst>
      <p:ext uri="{BB962C8B-B14F-4D97-AF65-F5344CB8AC3E}">
        <p14:creationId xmlns:p14="http://schemas.microsoft.com/office/powerpoint/2010/main" val="331690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altLang="en-US" sz="2400" b="1"/>
              <a:t>Frame Rate (In Analogue Days) </a:t>
            </a:r>
          </a:p>
        </p:txBody>
      </p:sp>
      <p:sp>
        <p:nvSpPr>
          <p:cNvPr id="5386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858838"/>
            <a:ext cx="4224337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200"/>
              </a:lnSpc>
            </a:pPr>
            <a:r>
              <a:rPr lang="en-US" altLang="en-US" sz="1600"/>
              <a:t>A Frame represents a complete TV picture</a:t>
            </a:r>
          </a:p>
          <a:p>
            <a:pPr lvl="1">
              <a:lnSpc>
                <a:spcPts val="2200"/>
              </a:lnSpc>
            </a:pPr>
            <a:r>
              <a:rPr lang="en-US" altLang="en-US" sz="1600"/>
              <a:t>analog TV Frame consists of 625 lines.</a:t>
            </a:r>
          </a:p>
          <a:p>
            <a:pPr>
              <a:lnSpc>
                <a:spcPts val="2200"/>
              </a:lnSpc>
            </a:pPr>
            <a:r>
              <a:rPr lang="en-US" altLang="en-US" sz="1600"/>
              <a:t>Frame = 2 Fields each containing 1/2 the picture information </a:t>
            </a:r>
          </a:p>
          <a:p>
            <a:pPr>
              <a:lnSpc>
                <a:spcPts val="2200"/>
              </a:lnSpc>
            </a:pPr>
            <a:r>
              <a:rPr lang="en-US" altLang="en-US" sz="1600"/>
              <a:t>PAL system Frame rate = 25 Hz; Field rate is 50 Hz</a:t>
            </a:r>
          </a:p>
          <a:p>
            <a:pPr>
              <a:lnSpc>
                <a:spcPts val="2200"/>
              </a:lnSpc>
            </a:pPr>
            <a:r>
              <a:rPr lang="en-US" altLang="en-US" sz="1600"/>
              <a:t>NTSC … 30Hz; Field rate = 60Hz; </a:t>
            </a:r>
          </a:p>
          <a:p>
            <a:pPr>
              <a:lnSpc>
                <a:spcPts val="2200"/>
              </a:lnSpc>
            </a:pPr>
            <a:r>
              <a:rPr lang="en-US" altLang="en-US" sz="1600"/>
              <a:t>Pictures displayed at frame rate exhibit obvious flicker</a:t>
            </a:r>
          </a:p>
          <a:p>
            <a:pPr>
              <a:lnSpc>
                <a:spcPts val="2200"/>
              </a:lnSpc>
            </a:pPr>
            <a:r>
              <a:rPr lang="en-US" altLang="en-US" sz="1600"/>
              <a:t>Interleaving the Fields reduces flicker.</a:t>
            </a:r>
          </a:p>
        </p:txBody>
      </p:sp>
      <p:pic>
        <p:nvPicPr>
          <p:cNvPr id="21508" name="Picture 5" descr="http://www.hometheatersound.com/features/videonoise/pics/200108_interlace_graphi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725" y="3009900"/>
            <a:ext cx="3341688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Box 1"/>
          <p:cNvSpPr txBox="1">
            <a:spLocks noChangeArrowheads="1"/>
          </p:cNvSpPr>
          <p:nvPr/>
        </p:nvSpPr>
        <p:spPr bwMode="auto">
          <a:xfrm>
            <a:off x="4572000" y="5638800"/>
            <a:ext cx="1476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NTSC figures</a:t>
            </a:r>
          </a:p>
        </p:txBody>
      </p:sp>
      <p:cxnSp>
        <p:nvCxnSpPr>
          <p:cNvPr id="21510" name="Straight Arrow Connector 3"/>
          <p:cNvCxnSpPr>
            <a:cxnSpLocks noChangeShapeType="1"/>
          </p:cNvCxnSpPr>
          <p:nvPr/>
        </p:nvCxnSpPr>
        <p:spPr bwMode="auto">
          <a:xfrm flipV="1">
            <a:off x="5143500" y="5372100"/>
            <a:ext cx="333375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pic>
        <p:nvPicPr>
          <p:cNvPr id="21511" name="Picture 7" descr="C:\Documents and Settings\jeremy.foss\Desktop\interlac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31788"/>
            <a:ext cx="3114675" cy="258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308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018462" cy="6858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defRPr/>
            </a:pPr>
            <a:r>
              <a:rPr lang="en-AU" sz="2400" b="1" dirty="0">
                <a:latin typeface="+mn-lt"/>
              </a:rPr>
              <a:t>Flicker and Judder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35063"/>
            <a:ext cx="8215312" cy="43322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1600"/>
              <a:t>Flicker and Judder: visual interruptions between successive fields of a displayed image (affected both Film &amp; TV).</a:t>
            </a:r>
          </a:p>
          <a:p>
            <a:pPr>
              <a:lnSpc>
                <a:spcPct val="150000"/>
              </a:lnSpc>
            </a:pPr>
            <a:r>
              <a:rPr lang="en-US" altLang="en-US" sz="1600"/>
              <a:t>If the update rate is too low, persistence of vision is unable to give illusion of continuous motion.</a:t>
            </a:r>
          </a:p>
          <a:p>
            <a:pPr>
              <a:lnSpc>
                <a:spcPct val="150000"/>
              </a:lnSpc>
            </a:pPr>
            <a:r>
              <a:rPr lang="en-US" altLang="en-US" sz="1600"/>
              <a:t>Flicker is caused by: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Slow update of motion Information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Refresh rate of the Display device</a:t>
            </a:r>
          </a:p>
          <a:p>
            <a:pPr lvl="1">
              <a:lnSpc>
                <a:spcPct val="150000"/>
              </a:lnSpc>
            </a:pPr>
            <a:r>
              <a:rPr lang="en-US" altLang="en-US" sz="1600"/>
              <a:t>Phosphor persistence Vs Motion Blur</a:t>
            </a:r>
          </a:p>
          <a:p>
            <a:pPr>
              <a:lnSpc>
                <a:spcPct val="150000"/>
              </a:lnSpc>
            </a:pPr>
            <a:r>
              <a:rPr lang="en-US" altLang="en-US" sz="1600"/>
              <a:t>Judder usually results from Aliasing between Sampling rates, Display rates and Scene motion</a:t>
            </a:r>
          </a:p>
        </p:txBody>
      </p:sp>
    </p:spTree>
    <p:extLst>
      <p:ext uri="{BB962C8B-B14F-4D97-AF65-F5344CB8AC3E}">
        <p14:creationId xmlns:p14="http://schemas.microsoft.com/office/powerpoint/2010/main" val="416906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altLang="en-US" sz="2400" b="1"/>
              <a:t>Interlace	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9963"/>
            <a:ext cx="5681662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AU" altLang="en-US" sz="1600"/>
              <a:t>To reduce the perceived screen flicker (25 Hz) on a television, a technique called 'interlacing‘ is employed.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AU" altLang="en-US" sz="1600"/>
              <a:t> </a:t>
            </a:r>
          </a:p>
          <a:p>
            <a:pPr>
              <a:lnSpc>
                <a:spcPct val="150000"/>
              </a:lnSpc>
            </a:pPr>
            <a:r>
              <a:rPr lang="en-AU" altLang="en-US" sz="1600"/>
              <a:t>Interlacing divides each video frame into two fields; the first field consists of the odd scan lines of the image, and the second field of each frame consists even scan lines. </a:t>
            </a:r>
          </a:p>
          <a:p>
            <a:pPr>
              <a:lnSpc>
                <a:spcPct val="150000"/>
              </a:lnSpc>
            </a:pPr>
            <a:endParaRPr lang="en-AU" altLang="en-US" sz="1600"/>
          </a:p>
        </p:txBody>
      </p:sp>
      <p:pic>
        <p:nvPicPr>
          <p:cNvPr id="23556" name="Picture 4" descr="D:\IMAGES\dmv\interlac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331788"/>
            <a:ext cx="3000375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900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altLang="en-US" sz="2400" b="1"/>
              <a:t>Interlaced Vs Progressive Scan</a:t>
            </a:r>
          </a:p>
        </p:txBody>
      </p:sp>
      <p:sp>
        <p:nvSpPr>
          <p:cNvPr id="10803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322388"/>
            <a:ext cx="8229600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AU" altLang="en-US" sz="1600"/>
              <a:t>Interlaced pictures. - 1/2 the lines presented each scan</a:t>
            </a:r>
            <a:br>
              <a:rPr lang="en-AU" altLang="en-US" sz="1600"/>
            </a:br>
            <a:r>
              <a:rPr lang="en-AU" altLang="en-US" sz="1600"/>
              <a:t>1,3,5,7,9,11,13...............623,625 field 1</a:t>
            </a:r>
            <a:br>
              <a:rPr lang="en-AU" altLang="en-US" sz="1600"/>
            </a:br>
            <a:r>
              <a:rPr lang="en-AU" altLang="en-US" sz="1600"/>
              <a:t>2,4,6,8,10,12,14.............622,624 field 2</a:t>
            </a:r>
          </a:p>
          <a:p>
            <a:pPr>
              <a:lnSpc>
                <a:spcPct val="150000"/>
              </a:lnSpc>
            </a:pPr>
            <a:endParaRPr lang="en-AU" altLang="en-US" sz="1600"/>
          </a:p>
          <a:p>
            <a:pPr>
              <a:lnSpc>
                <a:spcPct val="150000"/>
              </a:lnSpc>
            </a:pPr>
            <a:r>
              <a:rPr lang="en-AU" altLang="en-US" sz="1600"/>
              <a:t>Because the fields are recorded at separate times this leads to picture twitter &amp; judder</a:t>
            </a:r>
          </a:p>
          <a:p>
            <a:pPr>
              <a:lnSpc>
                <a:spcPct val="150000"/>
              </a:lnSpc>
            </a:pPr>
            <a:endParaRPr lang="en-AU" altLang="en-US" sz="1600"/>
          </a:p>
          <a:p>
            <a:pPr>
              <a:lnSpc>
                <a:spcPct val="150000"/>
              </a:lnSpc>
            </a:pPr>
            <a:r>
              <a:rPr lang="en-AU" altLang="en-US" sz="1600"/>
              <a:t>Progressive pictures - all the lines sent in the one scan.</a:t>
            </a:r>
            <a:br>
              <a:rPr lang="en-AU" altLang="en-US" sz="1600"/>
            </a:br>
            <a:r>
              <a:rPr lang="en-AU" altLang="en-US" sz="1600"/>
              <a:t>1,2,3,4,5,6,7,8................623,624,625 picture</a:t>
            </a:r>
          </a:p>
          <a:p>
            <a:pPr>
              <a:lnSpc>
                <a:spcPct val="150000"/>
              </a:lnSpc>
            </a:pPr>
            <a:r>
              <a:rPr lang="en-AU" altLang="en-US" sz="1600"/>
              <a:t>No twitter or judder. </a:t>
            </a:r>
          </a:p>
        </p:txBody>
      </p:sp>
    </p:spTree>
    <p:extLst>
      <p:ext uri="{BB962C8B-B14F-4D97-AF65-F5344CB8AC3E}">
        <p14:creationId xmlns:p14="http://schemas.microsoft.com/office/powerpoint/2010/main" val="42654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3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altLang="en-US" sz="2400" b="1"/>
              <a:t>Progressive Scan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95388"/>
            <a:ext cx="5989637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  <a:spcBef>
                <a:spcPts val="675"/>
              </a:spcBef>
            </a:pPr>
            <a:r>
              <a:rPr lang="en-AU" altLang="en-US" sz="1600"/>
              <a:t>Simplifies the interpolation and filtering of images</a:t>
            </a:r>
          </a:p>
          <a:p>
            <a:pPr>
              <a:lnSpc>
                <a:spcPct val="150000"/>
              </a:lnSpc>
              <a:spcBef>
                <a:spcPts val="675"/>
              </a:spcBef>
            </a:pPr>
            <a:r>
              <a:rPr lang="en-AU" altLang="en-US" sz="1600"/>
              <a:t>Allows MPEG-2 compression to work more efficiently by </a:t>
            </a:r>
            <a:br>
              <a:rPr lang="en-AU" altLang="en-US" sz="1600"/>
            </a:br>
            <a:r>
              <a:rPr lang="en-AU" altLang="en-US" sz="1600"/>
              <a:t>processing complete pictures</a:t>
            </a:r>
          </a:p>
          <a:p>
            <a:pPr>
              <a:lnSpc>
                <a:spcPct val="150000"/>
              </a:lnSpc>
              <a:spcBef>
                <a:spcPts val="675"/>
              </a:spcBef>
            </a:pPr>
            <a:r>
              <a:rPr lang="en-AU" altLang="en-US" sz="1600"/>
              <a:t>Direct processing of progressively-scanned sources</a:t>
            </a:r>
          </a:p>
          <a:p>
            <a:pPr>
              <a:lnSpc>
                <a:spcPct val="150000"/>
              </a:lnSpc>
              <a:spcBef>
                <a:spcPts val="675"/>
              </a:spcBef>
            </a:pPr>
            <a:r>
              <a:rPr lang="en-AU" altLang="en-US" sz="1600"/>
              <a:t>24 frame/second progressive film mode can be provided.</a:t>
            </a:r>
          </a:p>
          <a:p>
            <a:pPr>
              <a:lnSpc>
                <a:spcPct val="150000"/>
              </a:lnSpc>
            </a:pPr>
            <a:r>
              <a:rPr lang="en-AU" altLang="en-US" sz="1600"/>
              <a:t>Assists video conversions with different:</a:t>
            </a:r>
          </a:p>
          <a:p>
            <a:pPr lvl="1">
              <a:lnSpc>
                <a:spcPct val="150000"/>
              </a:lnSpc>
              <a:spcBef>
                <a:spcPts val="675"/>
              </a:spcBef>
            </a:pPr>
            <a:r>
              <a:rPr lang="en-AU" altLang="en-US" sz="1600"/>
              <a:t>numbers of scan lines</a:t>
            </a:r>
          </a:p>
          <a:p>
            <a:pPr lvl="1">
              <a:lnSpc>
                <a:spcPct val="150000"/>
              </a:lnSpc>
              <a:spcBef>
                <a:spcPts val="675"/>
              </a:spcBef>
            </a:pPr>
            <a:r>
              <a:rPr lang="en-AU" altLang="en-US" sz="1600"/>
              <a:t>numbers of samples per line</a:t>
            </a:r>
          </a:p>
          <a:p>
            <a:pPr lvl="1">
              <a:lnSpc>
                <a:spcPct val="150000"/>
              </a:lnSpc>
              <a:spcBef>
                <a:spcPts val="675"/>
              </a:spcBef>
            </a:pPr>
            <a:r>
              <a:rPr lang="en-AU" altLang="en-US" sz="1600"/>
              <a:t>temporal sampling (i.e., picture rate)</a:t>
            </a:r>
          </a:p>
        </p:txBody>
      </p:sp>
      <p:pic>
        <p:nvPicPr>
          <p:cNvPr id="25604" name="Picture 4" descr="C:\Download\images\dvb\progsca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738" y="331788"/>
            <a:ext cx="2735262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367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9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433388" y="361950"/>
            <a:ext cx="39853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(De-) Interlaced </a:t>
            </a:r>
            <a:r>
              <a:rPr lang="en-GB" sz="2400" b="1" dirty="0"/>
              <a:t>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3388" y="1406677"/>
            <a:ext cx="68659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Problems – </a:t>
            </a:r>
          </a:p>
          <a:p>
            <a:r>
              <a:rPr lang="en-GB" sz="1600" dirty="0">
                <a:latin typeface="Lucida Sans Unicode" pitchFamily="34" charset="0"/>
              </a:rPr>
              <a:t>… </a:t>
            </a:r>
            <a:r>
              <a:rPr lang="en-GB" sz="1600" dirty="0" err="1">
                <a:latin typeface="Lucida Sans Unicode" pitchFamily="34" charset="0"/>
              </a:rPr>
              <a:t>deinterlace</a:t>
            </a:r>
            <a:r>
              <a:rPr lang="en-GB" sz="1600" dirty="0">
                <a:latin typeface="Lucida Sans Unicode" pitchFamily="34" charset="0"/>
              </a:rPr>
              <a:t> required for progressive </a:t>
            </a:r>
            <a:r>
              <a:rPr lang="en-GB" sz="1600" dirty="0" err="1">
                <a:latin typeface="Lucida Sans Unicode" pitchFamily="34" charset="0"/>
              </a:rPr>
              <a:t>playouts</a:t>
            </a:r>
            <a:r>
              <a:rPr lang="en-GB" sz="1600" dirty="0">
                <a:latin typeface="Lucida Sans Unicode" pitchFamily="34" charset="0"/>
              </a:rPr>
              <a:t> - LCDs, LEDs, etc.,</a:t>
            </a:r>
          </a:p>
          <a:p>
            <a:r>
              <a:rPr lang="en-GB" sz="1600" dirty="0">
                <a:latin typeface="Lucida Sans Unicode" pitchFamily="34" charset="0"/>
              </a:rPr>
              <a:t>		... introduces lag between frames</a:t>
            </a:r>
          </a:p>
          <a:p>
            <a:endParaRPr lang="en-GB" sz="1600" dirty="0">
              <a:latin typeface="Lucida Sans Unicode" pitchFamily="34" charset="0"/>
            </a:endParaRPr>
          </a:p>
          <a:p>
            <a:endParaRPr lang="en-GB" sz="1600" dirty="0">
              <a:latin typeface="Lucida Sans Unicode" pitchFamily="34" charset="0"/>
            </a:endParaRPr>
          </a:p>
        </p:txBody>
      </p:sp>
      <p:pic>
        <p:nvPicPr>
          <p:cNvPr id="89090" name="Picture 2" descr="Interlaced image"/>
          <p:cNvPicPr>
            <a:picLocks noChangeAspect="1" noChangeArrowheads="1"/>
          </p:cNvPicPr>
          <p:nvPr/>
        </p:nvPicPr>
        <p:blipFill>
          <a:blip r:embed="rId2" cstate="print">
            <a:lum bright="20000" contrast="10000"/>
          </a:blip>
          <a:srcRect/>
          <a:stretch>
            <a:fillRect/>
          </a:stretch>
        </p:blipFill>
        <p:spPr bwMode="auto">
          <a:xfrm>
            <a:off x="4481991" y="2483895"/>
            <a:ext cx="3912058" cy="34266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55783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8"/>
          <p:cNvSpPr>
            <a:spLocks noChangeArrowheads="1"/>
          </p:cNvSpPr>
          <p:nvPr/>
        </p:nvSpPr>
        <p:spPr bwMode="auto">
          <a:xfrm>
            <a:off x="3697288" y="1066800"/>
            <a:ext cx="4724400" cy="34290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59" name="Freeform 80"/>
          <p:cNvSpPr>
            <a:spLocks/>
          </p:cNvSpPr>
          <p:nvPr/>
        </p:nvSpPr>
        <p:spPr bwMode="auto">
          <a:xfrm>
            <a:off x="6505575" y="2308225"/>
            <a:ext cx="476250" cy="866775"/>
          </a:xfrm>
          <a:custGeom>
            <a:avLst/>
            <a:gdLst>
              <a:gd name="T0" fmla="*/ 269655914 w 300"/>
              <a:gd name="T1" fmla="*/ 0 h 546"/>
              <a:gd name="T2" fmla="*/ 756046766 w 300"/>
              <a:gd name="T3" fmla="*/ 0 h 546"/>
              <a:gd name="T4" fmla="*/ 231854380 w 300"/>
              <a:gd name="T5" fmla="*/ 1376005094 h 546"/>
              <a:gd name="T6" fmla="*/ 0 w 300"/>
              <a:gd name="T7" fmla="*/ 889614362 h 546"/>
              <a:gd name="T8" fmla="*/ 269655914 w 300"/>
              <a:gd name="T9" fmla="*/ 0 h 5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0"/>
              <a:gd name="T16" fmla="*/ 0 h 546"/>
              <a:gd name="T17" fmla="*/ 300 w 300"/>
              <a:gd name="T18" fmla="*/ 546 h 5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0" h="546">
                <a:moveTo>
                  <a:pt x="107" y="0"/>
                </a:moveTo>
                <a:lnTo>
                  <a:pt x="300" y="0"/>
                </a:lnTo>
                <a:lnTo>
                  <a:pt x="92" y="546"/>
                </a:lnTo>
                <a:lnTo>
                  <a:pt x="0" y="353"/>
                </a:lnTo>
                <a:lnTo>
                  <a:pt x="107" y="0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9460" name="AutoShape 79"/>
          <p:cNvSpPr>
            <a:spLocks noChangeArrowheads="1"/>
          </p:cNvSpPr>
          <p:nvPr/>
        </p:nvSpPr>
        <p:spPr bwMode="auto">
          <a:xfrm>
            <a:off x="3773488" y="1143000"/>
            <a:ext cx="4572000" cy="3276600"/>
          </a:xfrm>
          <a:prstGeom prst="flowChartAlternateProcess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9600" b="1">
                <a:solidFill>
                  <a:srgbClr val="000066"/>
                </a:solidFill>
                <a:latin typeface="Arial Black" pitchFamily="34" charset="0"/>
              </a:rPr>
              <a:t>T</a:t>
            </a:r>
            <a:r>
              <a:rPr lang="en-GB" sz="9600" b="1">
                <a:solidFill>
                  <a:schemeClr val="accent2"/>
                </a:solidFill>
                <a:latin typeface="Arial Black" pitchFamily="34" charset="0"/>
              </a:rPr>
              <a:t>V</a:t>
            </a:r>
            <a:endParaRPr lang="en-GB" sz="9600">
              <a:latin typeface="Arial Black" pitchFamily="34" charset="0"/>
            </a:endParaRPr>
          </a:p>
        </p:txBody>
      </p:sp>
      <p:sp>
        <p:nvSpPr>
          <p:cNvPr id="19461" name="Text Box 41"/>
          <p:cNvSpPr txBox="1">
            <a:spLocks noChangeArrowheads="1"/>
          </p:cNvSpPr>
          <p:nvPr/>
        </p:nvSpPr>
        <p:spPr bwMode="auto">
          <a:xfrm>
            <a:off x="381000" y="381000"/>
            <a:ext cx="1568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Scan Line</a:t>
            </a:r>
            <a:endParaRPr lang="en-GB" sz="2400"/>
          </a:p>
        </p:txBody>
      </p:sp>
      <p:sp>
        <p:nvSpPr>
          <p:cNvPr id="19462" name="Text Box 51"/>
          <p:cNvSpPr txBox="1">
            <a:spLocks noChangeArrowheads="1"/>
          </p:cNvSpPr>
          <p:nvPr/>
        </p:nvSpPr>
        <p:spPr bwMode="auto">
          <a:xfrm>
            <a:off x="341313" y="1038225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endParaRPr lang="en-US"/>
          </a:p>
        </p:txBody>
      </p:sp>
      <p:sp>
        <p:nvSpPr>
          <p:cNvPr id="19463" name="Text Box 52"/>
          <p:cNvSpPr txBox="1">
            <a:spLocks noChangeArrowheads="1"/>
          </p:cNvSpPr>
          <p:nvPr/>
        </p:nvSpPr>
        <p:spPr bwMode="auto">
          <a:xfrm>
            <a:off x="433388" y="1404938"/>
            <a:ext cx="281463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e.g. scan this image:</a:t>
            </a:r>
          </a:p>
          <a:p>
            <a:pPr>
              <a:buFontTx/>
              <a:buChar char="•"/>
            </a:pPr>
            <a:r>
              <a:rPr lang="en-GB" dirty="0"/>
              <a:t>312 ½ lines for the first field of a 625 line scan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3671888" y="1181100"/>
            <a:ext cx="4724400" cy="3327400"/>
            <a:chOff x="2313" y="744"/>
            <a:chExt cx="2976" cy="2096"/>
          </a:xfrm>
        </p:grpSpPr>
        <p:sp>
          <p:nvSpPr>
            <p:cNvPr id="19466" name="Line 53"/>
            <p:cNvSpPr>
              <a:spLocks noChangeShapeType="1"/>
            </p:cNvSpPr>
            <p:nvPr/>
          </p:nvSpPr>
          <p:spPr bwMode="auto">
            <a:xfrm>
              <a:off x="2329" y="744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67" name="Line 54"/>
            <p:cNvSpPr>
              <a:spLocks noChangeShapeType="1"/>
            </p:cNvSpPr>
            <p:nvPr/>
          </p:nvSpPr>
          <p:spPr bwMode="auto">
            <a:xfrm>
              <a:off x="2329" y="840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68" name="Line 55"/>
            <p:cNvSpPr>
              <a:spLocks noChangeShapeType="1"/>
            </p:cNvSpPr>
            <p:nvPr/>
          </p:nvSpPr>
          <p:spPr bwMode="auto">
            <a:xfrm>
              <a:off x="2313" y="936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69" name="Line 56"/>
            <p:cNvSpPr>
              <a:spLocks noChangeShapeType="1"/>
            </p:cNvSpPr>
            <p:nvPr/>
          </p:nvSpPr>
          <p:spPr bwMode="auto">
            <a:xfrm>
              <a:off x="2313" y="1024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0" name="Line 57"/>
            <p:cNvSpPr>
              <a:spLocks noChangeShapeType="1"/>
            </p:cNvSpPr>
            <p:nvPr/>
          </p:nvSpPr>
          <p:spPr bwMode="auto">
            <a:xfrm>
              <a:off x="2321" y="1128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1" name="Line 58"/>
            <p:cNvSpPr>
              <a:spLocks noChangeShapeType="1"/>
            </p:cNvSpPr>
            <p:nvPr/>
          </p:nvSpPr>
          <p:spPr bwMode="auto">
            <a:xfrm>
              <a:off x="2337" y="1240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2" name="Line 59"/>
            <p:cNvSpPr>
              <a:spLocks noChangeShapeType="1"/>
            </p:cNvSpPr>
            <p:nvPr/>
          </p:nvSpPr>
          <p:spPr bwMode="auto">
            <a:xfrm>
              <a:off x="2337" y="1336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3" name="Line 60"/>
            <p:cNvSpPr>
              <a:spLocks noChangeShapeType="1"/>
            </p:cNvSpPr>
            <p:nvPr/>
          </p:nvSpPr>
          <p:spPr bwMode="auto">
            <a:xfrm>
              <a:off x="2321" y="1432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4" name="Line 61"/>
            <p:cNvSpPr>
              <a:spLocks noChangeShapeType="1"/>
            </p:cNvSpPr>
            <p:nvPr/>
          </p:nvSpPr>
          <p:spPr bwMode="auto">
            <a:xfrm>
              <a:off x="2321" y="1520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5" name="Line 62"/>
            <p:cNvSpPr>
              <a:spLocks noChangeShapeType="1"/>
            </p:cNvSpPr>
            <p:nvPr/>
          </p:nvSpPr>
          <p:spPr bwMode="auto">
            <a:xfrm>
              <a:off x="2329" y="1624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6" name="Line 63"/>
            <p:cNvSpPr>
              <a:spLocks noChangeShapeType="1"/>
            </p:cNvSpPr>
            <p:nvPr/>
          </p:nvSpPr>
          <p:spPr bwMode="auto">
            <a:xfrm>
              <a:off x="2361" y="1728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7" name="Line 64"/>
            <p:cNvSpPr>
              <a:spLocks noChangeShapeType="1"/>
            </p:cNvSpPr>
            <p:nvPr/>
          </p:nvSpPr>
          <p:spPr bwMode="auto">
            <a:xfrm>
              <a:off x="2361" y="1824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8" name="Line 65"/>
            <p:cNvSpPr>
              <a:spLocks noChangeShapeType="1"/>
            </p:cNvSpPr>
            <p:nvPr/>
          </p:nvSpPr>
          <p:spPr bwMode="auto">
            <a:xfrm>
              <a:off x="2345" y="1920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79" name="Line 66"/>
            <p:cNvSpPr>
              <a:spLocks noChangeShapeType="1"/>
            </p:cNvSpPr>
            <p:nvPr/>
          </p:nvSpPr>
          <p:spPr bwMode="auto">
            <a:xfrm>
              <a:off x="2345" y="2008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0" name="Line 67"/>
            <p:cNvSpPr>
              <a:spLocks noChangeShapeType="1"/>
            </p:cNvSpPr>
            <p:nvPr/>
          </p:nvSpPr>
          <p:spPr bwMode="auto">
            <a:xfrm>
              <a:off x="2353" y="2112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1" name="Line 68"/>
            <p:cNvSpPr>
              <a:spLocks noChangeShapeType="1"/>
            </p:cNvSpPr>
            <p:nvPr/>
          </p:nvSpPr>
          <p:spPr bwMode="auto">
            <a:xfrm>
              <a:off x="2337" y="2208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2" name="Line 69"/>
            <p:cNvSpPr>
              <a:spLocks noChangeShapeType="1"/>
            </p:cNvSpPr>
            <p:nvPr/>
          </p:nvSpPr>
          <p:spPr bwMode="auto">
            <a:xfrm>
              <a:off x="2337" y="2304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3" name="Line 70"/>
            <p:cNvSpPr>
              <a:spLocks noChangeShapeType="1"/>
            </p:cNvSpPr>
            <p:nvPr/>
          </p:nvSpPr>
          <p:spPr bwMode="auto">
            <a:xfrm>
              <a:off x="2321" y="2400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4" name="Line 71"/>
            <p:cNvSpPr>
              <a:spLocks noChangeShapeType="1"/>
            </p:cNvSpPr>
            <p:nvPr/>
          </p:nvSpPr>
          <p:spPr bwMode="auto">
            <a:xfrm>
              <a:off x="2321" y="2488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5" name="Line 72"/>
            <p:cNvSpPr>
              <a:spLocks noChangeShapeType="1"/>
            </p:cNvSpPr>
            <p:nvPr/>
          </p:nvSpPr>
          <p:spPr bwMode="auto">
            <a:xfrm>
              <a:off x="2329" y="2592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6" name="Line 73"/>
            <p:cNvSpPr>
              <a:spLocks noChangeShapeType="1"/>
            </p:cNvSpPr>
            <p:nvPr/>
          </p:nvSpPr>
          <p:spPr bwMode="auto">
            <a:xfrm>
              <a:off x="2345" y="2688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487" name="Line 74"/>
            <p:cNvSpPr>
              <a:spLocks noChangeShapeType="1"/>
            </p:cNvSpPr>
            <p:nvPr/>
          </p:nvSpPr>
          <p:spPr bwMode="auto">
            <a:xfrm>
              <a:off x="2353" y="2792"/>
              <a:ext cx="2928" cy="48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3101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3697288" y="1066800"/>
            <a:ext cx="4724400" cy="3429000"/>
          </a:xfrm>
          <a:prstGeom prst="rect">
            <a:avLst/>
          </a:prstGeom>
          <a:solidFill>
            <a:schemeClr val="folHlink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3" name="AutoShape 5"/>
          <p:cNvSpPr>
            <a:spLocks noChangeArrowheads="1"/>
          </p:cNvSpPr>
          <p:nvPr/>
        </p:nvSpPr>
        <p:spPr bwMode="auto">
          <a:xfrm>
            <a:off x="3773488" y="1143000"/>
            <a:ext cx="4572000" cy="3276600"/>
          </a:xfrm>
          <a:prstGeom prst="flowChartAlternateProcess">
            <a:avLst/>
          </a:prstGeom>
          <a:solidFill>
            <a:srgbClr val="FFFFCC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9600" b="1">
                <a:solidFill>
                  <a:srgbClr val="000066"/>
                </a:solidFill>
                <a:latin typeface="Arial Black" pitchFamily="34" charset="0"/>
              </a:rPr>
              <a:t>T</a:t>
            </a:r>
            <a:r>
              <a:rPr lang="en-GB" sz="9600" b="1">
                <a:solidFill>
                  <a:schemeClr val="accent2"/>
                </a:solidFill>
                <a:latin typeface="Arial Black" pitchFamily="34" charset="0"/>
              </a:rPr>
              <a:t>V</a:t>
            </a:r>
            <a:endParaRPr lang="en-GB" sz="9600">
              <a:latin typeface="Arial Black" pitchFamily="34" charset="0"/>
            </a:endParaRPr>
          </a:p>
        </p:txBody>
      </p:sp>
      <p:sp>
        <p:nvSpPr>
          <p:cNvPr id="20484" name="Freeform 6"/>
          <p:cNvSpPr>
            <a:spLocks/>
          </p:cNvSpPr>
          <p:nvPr/>
        </p:nvSpPr>
        <p:spPr bwMode="auto">
          <a:xfrm>
            <a:off x="6505575" y="2308225"/>
            <a:ext cx="476250" cy="866775"/>
          </a:xfrm>
          <a:custGeom>
            <a:avLst/>
            <a:gdLst>
              <a:gd name="T0" fmla="*/ 269655914 w 300"/>
              <a:gd name="T1" fmla="*/ 0 h 546"/>
              <a:gd name="T2" fmla="*/ 756046766 w 300"/>
              <a:gd name="T3" fmla="*/ 0 h 546"/>
              <a:gd name="T4" fmla="*/ 231854380 w 300"/>
              <a:gd name="T5" fmla="*/ 1376005094 h 546"/>
              <a:gd name="T6" fmla="*/ 0 w 300"/>
              <a:gd name="T7" fmla="*/ 889614362 h 546"/>
              <a:gd name="T8" fmla="*/ 269655914 w 300"/>
              <a:gd name="T9" fmla="*/ 0 h 5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0"/>
              <a:gd name="T16" fmla="*/ 0 h 546"/>
              <a:gd name="T17" fmla="*/ 300 w 300"/>
              <a:gd name="T18" fmla="*/ 546 h 5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0" h="546">
                <a:moveTo>
                  <a:pt x="107" y="0"/>
                </a:moveTo>
                <a:lnTo>
                  <a:pt x="300" y="0"/>
                </a:lnTo>
                <a:lnTo>
                  <a:pt x="92" y="546"/>
                </a:lnTo>
                <a:lnTo>
                  <a:pt x="0" y="353"/>
                </a:lnTo>
                <a:lnTo>
                  <a:pt x="107" y="0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5446713" y="2706688"/>
            <a:ext cx="1379537" cy="3529012"/>
            <a:chOff x="3431" y="1705"/>
            <a:chExt cx="869" cy="2223"/>
          </a:xfrm>
        </p:grpSpPr>
        <p:sp>
          <p:nvSpPr>
            <p:cNvPr id="20508" name="Line 8"/>
            <p:cNvSpPr>
              <a:spLocks noChangeShapeType="1"/>
            </p:cNvSpPr>
            <p:nvPr/>
          </p:nvSpPr>
          <p:spPr bwMode="auto">
            <a:xfrm>
              <a:off x="3608" y="1720"/>
              <a:ext cx="0" cy="2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9" name="Line 9"/>
            <p:cNvSpPr>
              <a:spLocks noChangeShapeType="1"/>
            </p:cNvSpPr>
            <p:nvPr/>
          </p:nvSpPr>
          <p:spPr bwMode="auto">
            <a:xfrm>
              <a:off x="3431" y="1720"/>
              <a:ext cx="0" cy="2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0" name="Line 10"/>
            <p:cNvSpPr>
              <a:spLocks noChangeShapeType="1"/>
            </p:cNvSpPr>
            <p:nvPr/>
          </p:nvSpPr>
          <p:spPr bwMode="auto">
            <a:xfrm>
              <a:off x="3877" y="1713"/>
              <a:ext cx="0" cy="2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1" name="Line 11"/>
            <p:cNvSpPr>
              <a:spLocks noChangeShapeType="1"/>
            </p:cNvSpPr>
            <p:nvPr/>
          </p:nvSpPr>
          <p:spPr bwMode="auto">
            <a:xfrm>
              <a:off x="4062" y="1713"/>
              <a:ext cx="0" cy="2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2" name="Line 12"/>
            <p:cNvSpPr>
              <a:spLocks noChangeShapeType="1"/>
            </p:cNvSpPr>
            <p:nvPr/>
          </p:nvSpPr>
          <p:spPr bwMode="auto">
            <a:xfrm>
              <a:off x="4131" y="1705"/>
              <a:ext cx="0" cy="2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13" name="Line 13"/>
            <p:cNvSpPr>
              <a:spLocks noChangeShapeType="1"/>
            </p:cNvSpPr>
            <p:nvPr/>
          </p:nvSpPr>
          <p:spPr bwMode="auto">
            <a:xfrm>
              <a:off x="4300" y="1705"/>
              <a:ext cx="0" cy="2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0486" name="Text Box 41"/>
          <p:cNvSpPr txBox="1">
            <a:spLocks noChangeArrowheads="1"/>
          </p:cNvSpPr>
          <p:nvPr/>
        </p:nvSpPr>
        <p:spPr bwMode="auto">
          <a:xfrm>
            <a:off x="381000" y="381000"/>
            <a:ext cx="3492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Scan Line - Brightness</a:t>
            </a:r>
            <a:endParaRPr lang="en-GB" sz="2400"/>
          </a:p>
        </p:txBody>
      </p:sp>
      <p:sp>
        <p:nvSpPr>
          <p:cNvPr id="20487" name="Text Box 51"/>
          <p:cNvSpPr txBox="1">
            <a:spLocks noChangeArrowheads="1"/>
          </p:cNvSpPr>
          <p:nvPr/>
        </p:nvSpPr>
        <p:spPr bwMode="auto">
          <a:xfrm>
            <a:off x="341313" y="1038225"/>
            <a:ext cx="1841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3697288" y="2667000"/>
            <a:ext cx="4778375" cy="3227388"/>
            <a:chOff x="2329" y="1680"/>
            <a:chExt cx="3010" cy="2033"/>
          </a:xfrm>
        </p:grpSpPr>
        <p:sp>
          <p:nvSpPr>
            <p:cNvPr id="20493" name="Line 7"/>
            <p:cNvSpPr>
              <a:spLocks noChangeShapeType="1"/>
            </p:cNvSpPr>
            <p:nvPr/>
          </p:nvSpPr>
          <p:spPr bwMode="auto">
            <a:xfrm>
              <a:off x="2329" y="1680"/>
              <a:ext cx="2928" cy="4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4" name="Line 17"/>
            <p:cNvSpPr>
              <a:spLocks noChangeShapeType="1"/>
            </p:cNvSpPr>
            <p:nvPr/>
          </p:nvSpPr>
          <p:spPr bwMode="auto">
            <a:xfrm flipV="1">
              <a:off x="2352" y="3124"/>
              <a:ext cx="1085" cy="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5" name="Line 18"/>
            <p:cNvSpPr>
              <a:spLocks noChangeShapeType="1"/>
            </p:cNvSpPr>
            <p:nvPr/>
          </p:nvSpPr>
          <p:spPr bwMode="auto">
            <a:xfrm>
              <a:off x="4300" y="3111"/>
              <a:ext cx="1039" cy="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6" name="Line 19"/>
            <p:cNvSpPr>
              <a:spLocks noChangeShapeType="1"/>
            </p:cNvSpPr>
            <p:nvPr/>
          </p:nvSpPr>
          <p:spPr bwMode="auto">
            <a:xfrm>
              <a:off x="3437" y="3115"/>
              <a:ext cx="0" cy="50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7" name="Line 20"/>
            <p:cNvSpPr>
              <a:spLocks noChangeShapeType="1"/>
            </p:cNvSpPr>
            <p:nvPr/>
          </p:nvSpPr>
          <p:spPr bwMode="auto">
            <a:xfrm>
              <a:off x="3606" y="3115"/>
              <a:ext cx="0" cy="52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8" name="Line 21"/>
            <p:cNvSpPr>
              <a:spLocks noChangeShapeType="1"/>
            </p:cNvSpPr>
            <p:nvPr/>
          </p:nvSpPr>
          <p:spPr bwMode="auto">
            <a:xfrm>
              <a:off x="3875" y="3122"/>
              <a:ext cx="0" cy="32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499" name="Line 22"/>
            <p:cNvSpPr>
              <a:spLocks noChangeShapeType="1"/>
            </p:cNvSpPr>
            <p:nvPr/>
          </p:nvSpPr>
          <p:spPr bwMode="auto">
            <a:xfrm>
              <a:off x="4060" y="3130"/>
              <a:ext cx="0" cy="339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0" name="Line 23"/>
            <p:cNvSpPr>
              <a:spLocks noChangeShapeType="1"/>
            </p:cNvSpPr>
            <p:nvPr/>
          </p:nvSpPr>
          <p:spPr bwMode="auto">
            <a:xfrm flipH="1">
              <a:off x="4128" y="3130"/>
              <a:ext cx="1" cy="20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1" name="Line 24"/>
            <p:cNvSpPr>
              <a:spLocks noChangeShapeType="1"/>
            </p:cNvSpPr>
            <p:nvPr/>
          </p:nvSpPr>
          <p:spPr bwMode="auto">
            <a:xfrm>
              <a:off x="4298" y="3118"/>
              <a:ext cx="0" cy="22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2" name="Line 25"/>
            <p:cNvSpPr>
              <a:spLocks noChangeShapeType="1"/>
            </p:cNvSpPr>
            <p:nvPr/>
          </p:nvSpPr>
          <p:spPr bwMode="auto">
            <a:xfrm flipV="1">
              <a:off x="3614" y="3123"/>
              <a:ext cx="26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3" name="Line 26"/>
            <p:cNvSpPr>
              <a:spLocks noChangeShapeType="1"/>
            </p:cNvSpPr>
            <p:nvPr/>
          </p:nvSpPr>
          <p:spPr bwMode="auto">
            <a:xfrm flipV="1">
              <a:off x="4067" y="3123"/>
              <a:ext cx="7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4" name="Line 28"/>
            <p:cNvSpPr>
              <a:spLocks noChangeShapeType="1"/>
            </p:cNvSpPr>
            <p:nvPr/>
          </p:nvSpPr>
          <p:spPr bwMode="auto">
            <a:xfrm>
              <a:off x="3875" y="3451"/>
              <a:ext cx="178" cy="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5" name="Line 29"/>
            <p:cNvSpPr>
              <a:spLocks noChangeShapeType="1"/>
            </p:cNvSpPr>
            <p:nvPr/>
          </p:nvSpPr>
          <p:spPr bwMode="auto">
            <a:xfrm>
              <a:off x="4126" y="3340"/>
              <a:ext cx="180" cy="5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6" name="Line 42"/>
            <p:cNvSpPr>
              <a:spLocks noChangeShapeType="1"/>
            </p:cNvSpPr>
            <p:nvPr/>
          </p:nvSpPr>
          <p:spPr bwMode="auto">
            <a:xfrm>
              <a:off x="5336" y="3122"/>
              <a:ext cx="3" cy="59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507" name="Line 52"/>
            <p:cNvSpPr>
              <a:spLocks noChangeShapeType="1"/>
            </p:cNvSpPr>
            <p:nvPr/>
          </p:nvSpPr>
          <p:spPr bwMode="auto">
            <a:xfrm>
              <a:off x="3451" y="3627"/>
              <a:ext cx="178" cy="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0490" name="Text Box 55"/>
          <p:cNvSpPr txBox="1">
            <a:spLocks noChangeArrowheads="1"/>
          </p:cNvSpPr>
          <p:nvPr/>
        </p:nvSpPr>
        <p:spPr bwMode="auto">
          <a:xfrm>
            <a:off x="395288" y="4959170"/>
            <a:ext cx="2759075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u="sng" dirty="0"/>
              <a:t>Voltage</a:t>
            </a:r>
            <a:r>
              <a:rPr lang="en-GB" sz="1600" dirty="0"/>
              <a:t> of signal denotes the required level of </a:t>
            </a:r>
            <a:r>
              <a:rPr lang="en-GB" sz="1600" u="sng" dirty="0"/>
              <a:t>brightness</a:t>
            </a:r>
            <a:r>
              <a:rPr lang="en-GB" sz="1600" dirty="0"/>
              <a:t> in the image 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3131840" y="5319209"/>
            <a:ext cx="2943524" cy="379915"/>
            <a:chOff x="3131840" y="5319209"/>
            <a:chExt cx="2943524" cy="379915"/>
          </a:xfrm>
        </p:grpSpPr>
        <p:sp>
          <p:nvSpPr>
            <p:cNvPr id="20491" name="Line 57"/>
            <p:cNvSpPr>
              <a:spLocks noChangeShapeType="1"/>
            </p:cNvSpPr>
            <p:nvPr/>
          </p:nvSpPr>
          <p:spPr bwMode="auto">
            <a:xfrm>
              <a:off x="3176845" y="5319209"/>
              <a:ext cx="2273044" cy="3799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492" name="Line 58"/>
            <p:cNvSpPr>
              <a:spLocks noChangeShapeType="1"/>
            </p:cNvSpPr>
            <p:nvPr/>
          </p:nvSpPr>
          <p:spPr bwMode="auto">
            <a:xfrm>
              <a:off x="3131840" y="5319210"/>
              <a:ext cx="2943524" cy="1290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21640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2"/>
          <p:cNvSpPr>
            <a:spLocks noChangeArrowheads="1"/>
          </p:cNvSpPr>
          <p:nvPr/>
        </p:nvSpPr>
        <p:spPr bwMode="auto">
          <a:xfrm>
            <a:off x="3697288" y="1066800"/>
            <a:ext cx="4724400" cy="3429000"/>
          </a:xfrm>
          <a:prstGeom prst="rect">
            <a:avLst/>
          </a:prstGeom>
          <a:solidFill>
            <a:schemeClr val="folHlink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07" name="AutoShape 53"/>
          <p:cNvSpPr>
            <a:spLocks noChangeArrowheads="1"/>
          </p:cNvSpPr>
          <p:nvPr/>
        </p:nvSpPr>
        <p:spPr bwMode="auto">
          <a:xfrm>
            <a:off x="3773488" y="1143000"/>
            <a:ext cx="4572000" cy="3276600"/>
          </a:xfrm>
          <a:prstGeom prst="flowChartAlternateProcess">
            <a:avLst/>
          </a:prstGeom>
          <a:solidFill>
            <a:srgbClr val="FFFFCC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9600" b="1">
                <a:solidFill>
                  <a:srgbClr val="000066"/>
                </a:solidFill>
                <a:latin typeface="Arial Black" pitchFamily="34" charset="0"/>
              </a:rPr>
              <a:t>T</a:t>
            </a:r>
            <a:r>
              <a:rPr lang="en-GB" sz="9600" b="1">
                <a:solidFill>
                  <a:schemeClr val="accent2"/>
                </a:solidFill>
                <a:latin typeface="Arial Black" pitchFamily="34" charset="0"/>
              </a:rPr>
              <a:t>V</a:t>
            </a:r>
            <a:endParaRPr lang="en-GB" sz="9600">
              <a:latin typeface="Arial Black" pitchFamily="34" charset="0"/>
            </a:endParaRPr>
          </a:p>
        </p:txBody>
      </p:sp>
      <p:sp>
        <p:nvSpPr>
          <p:cNvPr id="21508" name="Freeform 54"/>
          <p:cNvSpPr>
            <a:spLocks/>
          </p:cNvSpPr>
          <p:nvPr/>
        </p:nvSpPr>
        <p:spPr bwMode="auto">
          <a:xfrm>
            <a:off x="6505575" y="2308225"/>
            <a:ext cx="476250" cy="866775"/>
          </a:xfrm>
          <a:custGeom>
            <a:avLst/>
            <a:gdLst>
              <a:gd name="T0" fmla="*/ 269655914 w 300"/>
              <a:gd name="T1" fmla="*/ 0 h 546"/>
              <a:gd name="T2" fmla="*/ 756046766 w 300"/>
              <a:gd name="T3" fmla="*/ 0 h 546"/>
              <a:gd name="T4" fmla="*/ 231854380 w 300"/>
              <a:gd name="T5" fmla="*/ 1376005094 h 546"/>
              <a:gd name="T6" fmla="*/ 0 w 300"/>
              <a:gd name="T7" fmla="*/ 889614362 h 546"/>
              <a:gd name="T8" fmla="*/ 269655914 w 300"/>
              <a:gd name="T9" fmla="*/ 0 h 5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0"/>
              <a:gd name="T16" fmla="*/ 0 h 546"/>
              <a:gd name="T17" fmla="*/ 300 w 300"/>
              <a:gd name="T18" fmla="*/ 546 h 5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0" h="546">
                <a:moveTo>
                  <a:pt x="107" y="0"/>
                </a:moveTo>
                <a:lnTo>
                  <a:pt x="300" y="0"/>
                </a:lnTo>
                <a:lnTo>
                  <a:pt x="92" y="546"/>
                </a:lnTo>
                <a:lnTo>
                  <a:pt x="0" y="353"/>
                </a:lnTo>
                <a:lnTo>
                  <a:pt x="107" y="0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1509" name="Text Box 62"/>
          <p:cNvSpPr txBox="1">
            <a:spLocks noChangeArrowheads="1"/>
          </p:cNvSpPr>
          <p:nvPr/>
        </p:nvSpPr>
        <p:spPr bwMode="auto">
          <a:xfrm>
            <a:off x="381000" y="381000"/>
            <a:ext cx="3492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Scan Line - Brightness</a:t>
            </a:r>
            <a:endParaRPr lang="en-GB" sz="2400"/>
          </a:p>
        </p:txBody>
      </p:sp>
      <p:sp>
        <p:nvSpPr>
          <p:cNvPr id="21510" name="Text Box 63"/>
          <p:cNvSpPr txBox="1">
            <a:spLocks noChangeArrowheads="1"/>
          </p:cNvSpPr>
          <p:nvPr/>
        </p:nvSpPr>
        <p:spPr bwMode="auto">
          <a:xfrm>
            <a:off x="341313" y="1038225"/>
            <a:ext cx="1841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2420938" y="2667000"/>
            <a:ext cx="6054725" cy="3435350"/>
            <a:chOff x="1525" y="1680"/>
            <a:chExt cx="3814" cy="2164"/>
          </a:xfrm>
        </p:grpSpPr>
        <p:grpSp>
          <p:nvGrpSpPr>
            <p:cNvPr id="3" name="Group 64"/>
            <p:cNvGrpSpPr>
              <a:grpSpLocks/>
            </p:cNvGrpSpPr>
            <p:nvPr/>
          </p:nvGrpSpPr>
          <p:grpSpPr bwMode="auto">
            <a:xfrm>
              <a:off x="2329" y="1680"/>
              <a:ext cx="3010" cy="2033"/>
              <a:chOff x="2329" y="1680"/>
              <a:chExt cx="3010" cy="2033"/>
            </a:xfrm>
          </p:grpSpPr>
          <p:sp>
            <p:nvSpPr>
              <p:cNvPr id="21522" name="Line 65"/>
              <p:cNvSpPr>
                <a:spLocks noChangeShapeType="1"/>
              </p:cNvSpPr>
              <p:nvPr/>
            </p:nvSpPr>
            <p:spPr bwMode="auto">
              <a:xfrm>
                <a:off x="2329" y="1680"/>
                <a:ext cx="2928" cy="48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3" name="Line 66"/>
              <p:cNvSpPr>
                <a:spLocks noChangeShapeType="1"/>
              </p:cNvSpPr>
              <p:nvPr/>
            </p:nvSpPr>
            <p:spPr bwMode="auto">
              <a:xfrm flipV="1">
                <a:off x="2352" y="3124"/>
                <a:ext cx="1085" cy="1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4" name="Line 67"/>
              <p:cNvSpPr>
                <a:spLocks noChangeShapeType="1"/>
              </p:cNvSpPr>
              <p:nvPr/>
            </p:nvSpPr>
            <p:spPr bwMode="auto">
              <a:xfrm>
                <a:off x="4300" y="3111"/>
                <a:ext cx="1039" cy="2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5" name="Line 68"/>
              <p:cNvSpPr>
                <a:spLocks noChangeShapeType="1"/>
              </p:cNvSpPr>
              <p:nvPr/>
            </p:nvSpPr>
            <p:spPr bwMode="auto">
              <a:xfrm>
                <a:off x="3437" y="3115"/>
                <a:ext cx="0" cy="508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6" name="Line 69"/>
              <p:cNvSpPr>
                <a:spLocks noChangeShapeType="1"/>
              </p:cNvSpPr>
              <p:nvPr/>
            </p:nvSpPr>
            <p:spPr bwMode="auto">
              <a:xfrm>
                <a:off x="3606" y="3115"/>
                <a:ext cx="0" cy="524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7" name="Line 70"/>
              <p:cNvSpPr>
                <a:spLocks noChangeShapeType="1"/>
              </p:cNvSpPr>
              <p:nvPr/>
            </p:nvSpPr>
            <p:spPr bwMode="auto">
              <a:xfrm>
                <a:off x="3875" y="3122"/>
                <a:ext cx="0" cy="323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8" name="Line 71"/>
              <p:cNvSpPr>
                <a:spLocks noChangeShapeType="1"/>
              </p:cNvSpPr>
              <p:nvPr/>
            </p:nvSpPr>
            <p:spPr bwMode="auto">
              <a:xfrm>
                <a:off x="4060" y="3130"/>
                <a:ext cx="0" cy="339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9" name="Line 72"/>
              <p:cNvSpPr>
                <a:spLocks noChangeShapeType="1"/>
              </p:cNvSpPr>
              <p:nvPr/>
            </p:nvSpPr>
            <p:spPr bwMode="auto">
              <a:xfrm flipH="1">
                <a:off x="4128" y="3130"/>
                <a:ext cx="1" cy="208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30" name="Line 73"/>
              <p:cNvSpPr>
                <a:spLocks noChangeShapeType="1"/>
              </p:cNvSpPr>
              <p:nvPr/>
            </p:nvSpPr>
            <p:spPr bwMode="auto">
              <a:xfrm>
                <a:off x="4298" y="3118"/>
                <a:ext cx="0" cy="228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31" name="Line 74"/>
              <p:cNvSpPr>
                <a:spLocks noChangeShapeType="1"/>
              </p:cNvSpPr>
              <p:nvPr/>
            </p:nvSpPr>
            <p:spPr bwMode="auto">
              <a:xfrm flipV="1">
                <a:off x="3614" y="3123"/>
                <a:ext cx="262" cy="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32" name="Line 75"/>
              <p:cNvSpPr>
                <a:spLocks noChangeShapeType="1"/>
              </p:cNvSpPr>
              <p:nvPr/>
            </p:nvSpPr>
            <p:spPr bwMode="auto">
              <a:xfrm flipV="1">
                <a:off x="4067" y="3123"/>
                <a:ext cx="70" cy="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33" name="Line 76"/>
              <p:cNvSpPr>
                <a:spLocks noChangeShapeType="1"/>
              </p:cNvSpPr>
              <p:nvPr/>
            </p:nvSpPr>
            <p:spPr bwMode="auto">
              <a:xfrm>
                <a:off x="3875" y="3451"/>
                <a:ext cx="178" cy="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34" name="Line 77"/>
              <p:cNvSpPr>
                <a:spLocks noChangeShapeType="1"/>
              </p:cNvSpPr>
              <p:nvPr/>
            </p:nvSpPr>
            <p:spPr bwMode="auto">
              <a:xfrm>
                <a:off x="4126" y="3340"/>
                <a:ext cx="180" cy="5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35" name="Line 78"/>
              <p:cNvSpPr>
                <a:spLocks noChangeShapeType="1"/>
              </p:cNvSpPr>
              <p:nvPr/>
            </p:nvSpPr>
            <p:spPr bwMode="auto">
              <a:xfrm>
                <a:off x="5336" y="3122"/>
                <a:ext cx="3" cy="591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36" name="Line 79"/>
              <p:cNvSpPr>
                <a:spLocks noChangeShapeType="1"/>
              </p:cNvSpPr>
              <p:nvPr/>
            </p:nvSpPr>
            <p:spPr bwMode="auto">
              <a:xfrm>
                <a:off x="3451" y="3627"/>
                <a:ext cx="178" cy="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4" name="Group 91"/>
            <p:cNvGrpSpPr>
              <a:grpSpLocks/>
            </p:cNvGrpSpPr>
            <p:nvPr/>
          </p:nvGrpSpPr>
          <p:grpSpPr bwMode="auto">
            <a:xfrm>
              <a:off x="1525" y="3115"/>
              <a:ext cx="827" cy="729"/>
              <a:chOff x="1525" y="3115"/>
              <a:chExt cx="827" cy="729"/>
            </a:xfrm>
          </p:grpSpPr>
          <p:sp>
            <p:nvSpPr>
              <p:cNvPr id="21515" name="Line 80"/>
              <p:cNvSpPr>
                <a:spLocks noChangeShapeType="1"/>
              </p:cNvSpPr>
              <p:nvPr/>
            </p:nvSpPr>
            <p:spPr bwMode="auto">
              <a:xfrm>
                <a:off x="2352" y="3115"/>
                <a:ext cx="0" cy="585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16" name="Line 83"/>
              <p:cNvSpPr>
                <a:spLocks noChangeShapeType="1"/>
              </p:cNvSpPr>
              <p:nvPr/>
            </p:nvSpPr>
            <p:spPr bwMode="auto">
              <a:xfrm flipV="1">
                <a:off x="1525" y="3700"/>
                <a:ext cx="124" cy="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17" name="Line 84"/>
              <p:cNvSpPr>
                <a:spLocks noChangeShapeType="1"/>
              </p:cNvSpPr>
              <p:nvPr/>
            </p:nvSpPr>
            <p:spPr bwMode="auto">
              <a:xfrm>
                <a:off x="1643" y="3699"/>
                <a:ext cx="1" cy="141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18" name="Line 85"/>
              <p:cNvSpPr>
                <a:spLocks noChangeShapeType="1"/>
              </p:cNvSpPr>
              <p:nvPr/>
            </p:nvSpPr>
            <p:spPr bwMode="auto">
              <a:xfrm flipV="1">
                <a:off x="1643" y="3838"/>
                <a:ext cx="125" cy="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19" name="Line 86"/>
              <p:cNvSpPr>
                <a:spLocks noChangeShapeType="1"/>
              </p:cNvSpPr>
              <p:nvPr/>
            </p:nvSpPr>
            <p:spPr bwMode="auto">
              <a:xfrm>
                <a:off x="1762" y="3703"/>
                <a:ext cx="1" cy="141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0" name="Line 87"/>
              <p:cNvSpPr>
                <a:spLocks noChangeShapeType="1"/>
              </p:cNvSpPr>
              <p:nvPr/>
            </p:nvSpPr>
            <p:spPr bwMode="auto">
              <a:xfrm flipV="1">
                <a:off x="1756" y="3703"/>
                <a:ext cx="594" cy="0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521" name="Rectangle 90"/>
              <p:cNvSpPr>
                <a:spLocks noChangeArrowheads="1"/>
              </p:cNvSpPr>
              <p:nvPr/>
            </p:nvSpPr>
            <p:spPr bwMode="auto">
              <a:xfrm>
                <a:off x="2006" y="3571"/>
                <a:ext cx="200" cy="271"/>
              </a:xfrm>
              <a:prstGeom prst="rect">
                <a:avLst/>
              </a:prstGeom>
              <a:solidFill>
                <a:srgbClr val="CC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1512" name="Text Box 93"/>
          <p:cNvSpPr txBox="1">
            <a:spLocks noChangeArrowheads="1"/>
          </p:cNvSpPr>
          <p:nvPr/>
        </p:nvSpPr>
        <p:spPr bwMode="auto">
          <a:xfrm>
            <a:off x="433388" y="1404938"/>
            <a:ext cx="2814637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/>
            <a:r>
              <a:rPr lang="en-GB" sz="1600" dirty="0"/>
              <a:t>... now add the line synchronisation at the start of the line</a:t>
            </a:r>
          </a:p>
        </p:txBody>
      </p:sp>
    </p:spTree>
    <p:extLst>
      <p:ext uri="{BB962C8B-B14F-4D97-AF65-F5344CB8AC3E}">
        <p14:creationId xmlns:p14="http://schemas.microsoft.com/office/powerpoint/2010/main" val="256198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ChangeArrowheads="1"/>
          </p:cNvSpPr>
          <p:nvPr/>
        </p:nvSpPr>
        <p:spPr bwMode="auto">
          <a:xfrm>
            <a:off x="3697288" y="1066800"/>
            <a:ext cx="4724400" cy="3429000"/>
          </a:xfrm>
          <a:prstGeom prst="rect">
            <a:avLst/>
          </a:prstGeom>
          <a:solidFill>
            <a:schemeClr val="folHlink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1" name="AutoShape 6"/>
          <p:cNvSpPr>
            <a:spLocks noChangeArrowheads="1"/>
          </p:cNvSpPr>
          <p:nvPr/>
        </p:nvSpPr>
        <p:spPr bwMode="auto">
          <a:xfrm>
            <a:off x="3773488" y="1143000"/>
            <a:ext cx="4572000" cy="3276600"/>
          </a:xfrm>
          <a:prstGeom prst="flowChartAlternateProcess">
            <a:avLst/>
          </a:prstGeom>
          <a:solidFill>
            <a:srgbClr val="FFFFCC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9600" b="1">
                <a:solidFill>
                  <a:srgbClr val="000066"/>
                </a:solidFill>
                <a:latin typeface="Arial Black" pitchFamily="34" charset="0"/>
              </a:rPr>
              <a:t>T</a:t>
            </a:r>
            <a:r>
              <a:rPr lang="en-GB" sz="9600" b="1">
                <a:solidFill>
                  <a:schemeClr val="accent2"/>
                </a:solidFill>
                <a:latin typeface="Arial Black" pitchFamily="34" charset="0"/>
              </a:rPr>
              <a:t>V</a:t>
            </a:r>
            <a:endParaRPr lang="en-GB" sz="9600">
              <a:latin typeface="Arial Black" pitchFamily="34" charset="0"/>
            </a:endParaRPr>
          </a:p>
        </p:txBody>
      </p:sp>
      <p:sp>
        <p:nvSpPr>
          <p:cNvPr id="22532" name="Freeform 7"/>
          <p:cNvSpPr>
            <a:spLocks/>
          </p:cNvSpPr>
          <p:nvPr/>
        </p:nvSpPr>
        <p:spPr bwMode="auto">
          <a:xfrm>
            <a:off x="6505575" y="2308225"/>
            <a:ext cx="476250" cy="866775"/>
          </a:xfrm>
          <a:custGeom>
            <a:avLst/>
            <a:gdLst>
              <a:gd name="T0" fmla="*/ 269655914 w 300"/>
              <a:gd name="T1" fmla="*/ 0 h 546"/>
              <a:gd name="T2" fmla="*/ 756046766 w 300"/>
              <a:gd name="T3" fmla="*/ 0 h 546"/>
              <a:gd name="T4" fmla="*/ 231854380 w 300"/>
              <a:gd name="T5" fmla="*/ 1376005094 h 546"/>
              <a:gd name="T6" fmla="*/ 0 w 300"/>
              <a:gd name="T7" fmla="*/ 889614362 h 546"/>
              <a:gd name="T8" fmla="*/ 269655914 w 300"/>
              <a:gd name="T9" fmla="*/ 0 h 5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0"/>
              <a:gd name="T16" fmla="*/ 0 h 546"/>
              <a:gd name="T17" fmla="*/ 300 w 300"/>
              <a:gd name="T18" fmla="*/ 546 h 5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0" h="546">
                <a:moveTo>
                  <a:pt x="107" y="0"/>
                </a:moveTo>
                <a:lnTo>
                  <a:pt x="300" y="0"/>
                </a:lnTo>
                <a:lnTo>
                  <a:pt x="92" y="546"/>
                </a:lnTo>
                <a:lnTo>
                  <a:pt x="0" y="353"/>
                </a:lnTo>
                <a:lnTo>
                  <a:pt x="107" y="0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3" name="Line 8"/>
          <p:cNvSpPr>
            <a:spLocks noChangeShapeType="1"/>
          </p:cNvSpPr>
          <p:nvPr/>
        </p:nvSpPr>
        <p:spPr bwMode="auto">
          <a:xfrm>
            <a:off x="3697288" y="2667000"/>
            <a:ext cx="4648200" cy="762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4" name="Line 9"/>
          <p:cNvSpPr>
            <a:spLocks noChangeShapeType="1"/>
          </p:cNvSpPr>
          <p:nvPr/>
        </p:nvSpPr>
        <p:spPr bwMode="auto">
          <a:xfrm>
            <a:off x="5727700" y="2730500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5" name="Line 10"/>
          <p:cNvSpPr>
            <a:spLocks noChangeShapeType="1"/>
          </p:cNvSpPr>
          <p:nvPr/>
        </p:nvSpPr>
        <p:spPr bwMode="auto">
          <a:xfrm>
            <a:off x="5446713" y="2730500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6" name="Line 11"/>
          <p:cNvSpPr>
            <a:spLocks noChangeShapeType="1"/>
          </p:cNvSpPr>
          <p:nvPr/>
        </p:nvSpPr>
        <p:spPr bwMode="auto">
          <a:xfrm>
            <a:off x="6154738" y="2719388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7" name="Line 12"/>
          <p:cNvSpPr>
            <a:spLocks noChangeShapeType="1"/>
          </p:cNvSpPr>
          <p:nvPr/>
        </p:nvSpPr>
        <p:spPr bwMode="auto">
          <a:xfrm>
            <a:off x="6448425" y="2719388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8" name="Line 13"/>
          <p:cNvSpPr>
            <a:spLocks noChangeShapeType="1"/>
          </p:cNvSpPr>
          <p:nvPr/>
        </p:nvSpPr>
        <p:spPr bwMode="auto">
          <a:xfrm>
            <a:off x="6557963" y="2706688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39" name="Line 14"/>
          <p:cNvSpPr>
            <a:spLocks noChangeShapeType="1"/>
          </p:cNvSpPr>
          <p:nvPr/>
        </p:nvSpPr>
        <p:spPr bwMode="auto">
          <a:xfrm>
            <a:off x="6826250" y="2706688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0" name="Line 15"/>
          <p:cNvSpPr>
            <a:spLocks noChangeShapeType="1"/>
          </p:cNvSpPr>
          <p:nvPr/>
        </p:nvSpPr>
        <p:spPr bwMode="auto">
          <a:xfrm>
            <a:off x="2259013" y="5873750"/>
            <a:ext cx="6488112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1" name="Line 16"/>
          <p:cNvSpPr>
            <a:spLocks noChangeShapeType="1"/>
          </p:cNvSpPr>
          <p:nvPr/>
        </p:nvSpPr>
        <p:spPr bwMode="auto">
          <a:xfrm>
            <a:off x="1712913" y="4848225"/>
            <a:ext cx="5761037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2" name="Line 17"/>
          <p:cNvSpPr>
            <a:spLocks noChangeShapeType="1"/>
          </p:cNvSpPr>
          <p:nvPr/>
        </p:nvSpPr>
        <p:spPr bwMode="auto">
          <a:xfrm>
            <a:off x="3733800" y="4945063"/>
            <a:ext cx="0" cy="928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3" name="Line 18"/>
          <p:cNvSpPr>
            <a:spLocks noChangeShapeType="1"/>
          </p:cNvSpPr>
          <p:nvPr/>
        </p:nvSpPr>
        <p:spPr bwMode="auto">
          <a:xfrm flipV="1">
            <a:off x="3733800" y="4959350"/>
            <a:ext cx="1722438" cy="1588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4" name="Line 19"/>
          <p:cNvSpPr>
            <a:spLocks noChangeShapeType="1"/>
          </p:cNvSpPr>
          <p:nvPr/>
        </p:nvSpPr>
        <p:spPr bwMode="auto">
          <a:xfrm>
            <a:off x="6826250" y="4938713"/>
            <a:ext cx="1649413" cy="317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5" name="Line 20"/>
          <p:cNvSpPr>
            <a:spLocks noChangeShapeType="1"/>
          </p:cNvSpPr>
          <p:nvPr/>
        </p:nvSpPr>
        <p:spPr bwMode="auto">
          <a:xfrm>
            <a:off x="5456238" y="4945063"/>
            <a:ext cx="0" cy="80645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6" name="Line 21"/>
          <p:cNvSpPr>
            <a:spLocks noChangeShapeType="1"/>
          </p:cNvSpPr>
          <p:nvPr/>
        </p:nvSpPr>
        <p:spPr bwMode="auto">
          <a:xfrm>
            <a:off x="5724525" y="4945063"/>
            <a:ext cx="0" cy="83185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7" name="Line 22"/>
          <p:cNvSpPr>
            <a:spLocks noChangeShapeType="1"/>
          </p:cNvSpPr>
          <p:nvPr/>
        </p:nvSpPr>
        <p:spPr bwMode="auto">
          <a:xfrm>
            <a:off x="6151563" y="4956175"/>
            <a:ext cx="0" cy="512763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8" name="Line 23"/>
          <p:cNvSpPr>
            <a:spLocks noChangeShapeType="1"/>
          </p:cNvSpPr>
          <p:nvPr/>
        </p:nvSpPr>
        <p:spPr bwMode="auto">
          <a:xfrm>
            <a:off x="6445250" y="4968875"/>
            <a:ext cx="0" cy="538163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49" name="Line 24"/>
          <p:cNvSpPr>
            <a:spLocks noChangeShapeType="1"/>
          </p:cNvSpPr>
          <p:nvPr/>
        </p:nvSpPr>
        <p:spPr bwMode="auto">
          <a:xfrm flipH="1">
            <a:off x="6553200" y="4968875"/>
            <a:ext cx="1588" cy="33020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0" name="Line 25"/>
          <p:cNvSpPr>
            <a:spLocks noChangeShapeType="1"/>
          </p:cNvSpPr>
          <p:nvPr/>
        </p:nvSpPr>
        <p:spPr bwMode="auto">
          <a:xfrm>
            <a:off x="6823075" y="4949825"/>
            <a:ext cx="0" cy="36195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1" name="Line 26"/>
          <p:cNvSpPr>
            <a:spLocks noChangeShapeType="1"/>
          </p:cNvSpPr>
          <p:nvPr/>
        </p:nvSpPr>
        <p:spPr bwMode="auto">
          <a:xfrm flipV="1">
            <a:off x="5737225" y="4957763"/>
            <a:ext cx="415925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2" name="Line 27"/>
          <p:cNvSpPr>
            <a:spLocks noChangeShapeType="1"/>
          </p:cNvSpPr>
          <p:nvPr/>
        </p:nvSpPr>
        <p:spPr bwMode="auto">
          <a:xfrm flipV="1">
            <a:off x="6456363" y="4957763"/>
            <a:ext cx="111125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3" name="Line 28"/>
          <p:cNvSpPr>
            <a:spLocks noChangeShapeType="1"/>
          </p:cNvSpPr>
          <p:nvPr/>
        </p:nvSpPr>
        <p:spPr bwMode="auto">
          <a:xfrm flipV="1">
            <a:off x="5443538" y="5751513"/>
            <a:ext cx="282575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4" name="Line 29"/>
          <p:cNvSpPr>
            <a:spLocks noChangeShapeType="1"/>
          </p:cNvSpPr>
          <p:nvPr/>
        </p:nvSpPr>
        <p:spPr bwMode="auto">
          <a:xfrm>
            <a:off x="6151563" y="5478463"/>
            <a:ext cx="282575" cy="3175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5" name="Line 30"/>
          <p:cNvSpPr>
            <a:spLocks noChangeShapeType="1"/>
          </p:cNvSpPr>
          <p:nvPr/>
        </p:nvSpPr>
        <p:spPr bwMode="auto">
          <a:xfrm>
            <a:off x="6550025" y="5302250"/>
            <a:ext cx="285750" cy="7938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6" name="Line 31"/>
          <p:cNvSpPr>
            <a:spLocks noChangeShapeType="1"/>
          </p:cNvSpPr>
          <p:nvPr/>
        </p:nvSpPr>
        <p:spPr bwMode="auto">
          <a:xfrm flipV="1">
            <a:off x="8445500" y="5884863"/>
            <a:ext cx="33655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7" name="Text Box 32"/>
          <p:cNvSpPr txBox="1">
            <a:spLocks noChangeArrowheads="1"/>
          </p:cNvSpPr>
          <p:nvPr/>
        </p:nvSpPr>
        <p:spPr bwMode="auto">
          <a:xfrm>
            <a:off x="381000" y="4699000"/>
            <a:ext cx="1566454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    white level</a:t>
            </a:r>
          </a:p>
          <a:p>
            <a:endParaRPr lang="en-GB" sz="2000" dirty="0"/>
          </a:p>
          <a:p>
            <a:endParaRPr lang="en-GB" dirty="0"/>
          </a:p>
          <a:p>
            <a:r>
              <a:rPr lang="en-GB" sz="1600" dirty="0"/>
              <a:t>black level</a:t>
            </a:r>
          </a:p>
          <a:p>
            <a:endParaRPr lang="en-GB" sz="1600" dirty="0"/>
          </a:p>
          <a:p>
            <a:r>
              <a:rPr lang="en-GB" sz="1600" dirty="0"/>
              <a:t>blanking level</a:t>
            </a:r>
          </a:p>
        </p:txBody>
      </p:sp>
      <p:sp>
        <p:nvSpPr>
          <p:cNvPr id="22558" name="Line 33"/>
          <p:cNvSpPr>
            <a:spLocks noChangeShapeType="1"/>
          </p:cNvSpPr>
          <p:nvPr/>
        </p:nvSpPr>
        <p:spPr bwMode="auto">
          <a:xfrm>
            <a:off x="2146300" y="5805488"/>
            <a:ext cx="664527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59" name="Line 34"/>
          <p:cNvSpPr>
            <a:spLocks noChangeShapeType="1"/>
          </p:cNvSpPr>
          <p:nvPr/>
        </p:nvSpPr>
        <p:spPr bwMode="auto">
          <a:xfrm>
            <a:off x="1701800" y="5761038"/>
            <a:ext cx="474663" cy="444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0" name="Line 35"/>
          <p:cNvSpPr>
            <a:spLocks noChangeShapeType="1"/>
          </p:cNvSpPr>
          <p:nvPr/>
        </p:nvSpPr>
        <p:spPr bwMode="auto">
          <a:xfrm flipV="1">
            <a:off x="1881188" y="5884863"/>
            <a:ext cx="350837" cy="904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1" name="Line 36"/>
          <p:cNvSpPr>
            <a:spLocks noChangeShapeType="1"/>
          </p:cNvSpPr>
          <p:nvPr/>
        </p:nvSpPr>
        <p:spPr bwMode="auto">
          <a:xfrm flipH="1">
            <a:off x="381000" y="2665413"/>
            <a:ext cx="3201988" cy="9525"/>
          </a:xfrm>
          <a:prstGeom prst="line">
            <a:avLst/>
          </a:prstGeom>
          <a:noFill/>
          <a:ln w="285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2" name="Line 37"/>
          <p:cNvSpPr>
            <a:spLocks noChangeShapeType="1"/>
          </p:cNvSpPr>
          <p:nvPr/>
        </p:nvSpPr>
        <p:spPr bwMode="auto">
          <a:xfrm flipH="1" flipV="1">
            <a:off x="381000" y="5327650"/>
            <a:ext cx="1184275" cy="1588"/>
          </a:xfrm>
          <a:prstGeom prst="line">
            <a:avLst/>
          </a:prstGeom>
          <a:noFill/>
          <a:ln w="285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3" name="Line 38"/>
          <p:cNvSpPr>
            <a:spLocks noChangeShapeType="1"/>
          </p:cNvSpPr>
          <p:nvPr/>
        </p:nvSpPr>
        <p:spPr bwMode="auto">
          <a:xfrm flipH="1" flipV="1">
            <a:off x="381000" y="2674938"/>
            <a:ext cx="0" cy="2676525"/>
          </a:xfrm>
          <a:prstGeom prst="line">
            <a:avLst/>
          </a:prstGeom>
          <a:noFill/>
          <a:ln w="285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4" name="Line 39"/>
          <p:cNvSpPr>
            <a:spLocks noChangeShapeType="1"/>
          </p:cNvSpPr>
          <p:nvPr/>
        </p:nvSpPr>
        <p:spPr bwMode="auto">
          <a:xfrm>
            <a:off x="3254375" y="2663825"/>
            <a:ext cx="3175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5" name="Line 40"/>
          <p:cNvSpPr>
            <a:spLocks noChangeShapeType="1"/>
          </p:cNvSpPr>
          <p:nvPr/>
        </p:nvSpPr>
        <p:spPr bwMode="auto">
          <a:xfrm>
            <a:off x="1439863" y="5327650"/>
            <a:ext cx="3175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6" name="Text Box 41"/>
          <p:cNvSpPr txBox="1">
            <a:spLocks noChangeArrowheads="1"/>
          </p:cNvSpPr>
          <p:nvPr/>
        </p:nvSpPr>
        <p:spPr bwMode="auto">
          <a:xfrm>
            <a:off x="381000" y="2782888"/>
            <a:ext cx="1057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>
                <a:solidFill>
                  <a:srgbClr val="CC3300"/>
                </a:solidFill>
              </a:rPr>
              <a:t>Scan line</a:t>
            </a:r>
            <a:endParaRPr lang="en-GB"/>
          </a:p>
        </p:txBody>
      </p:sp>
      <p:sp>
        <p:nvSpPr>
          <p:cNvPr id="22567" name="Text Box 42"/>
          <p:cNvSpPr txBox="1">
            <a:spLocks noChangeArrowheads="1"/>
          </p:cNvSpPr>
          <p:nvPr/>
        </p:nvSpPr>
        <p:spPr bwMode="auto">
          <a:xfrm>
            <a:off x="381000" y="381000"/>
            <a:ext cx="3492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Scan Line - Brightness</a:t>
            </a:r>
            <a:endParaRPr lang="en-GB" sz="2400"/>
          </a:p>
        </p:txBody>
      </p:sp>
      <p:sp>
        <p:nvSpPr>
          <p:cNvPr id="22568" name="Line 43"/>
          <p:cNvSpPr>
            <a:spLocks noChangeShapeType="1"/>
          </p:cNvSpPr>
          <p:nvPr/>
        </p:nvSpPr>
        <p:spPr bwMode="auto">
          <a:xfrm>
            <a:off x="8470900" y="4956175"/>
            <a:ext cx="4763" cy="938213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69" name="Line 44"/>
          <p:cNvSpPr>
            <a:spLocks noChangeShapeType="1"/>
          </p:cNvSpPr>
          <p:nvPr/>
        </p:nvSpPr>
        <p:spPr bwMode="auto">
          <a:xfrm flipV="1">
            <a:off x="2420938" y="5873750"/>
            <a:ext cx="19685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70" name="Line 45"/>
          <p:cNvSpPr>
            <a:spLocks noChangeShapeType="1"/>
          </p:cNvSpPr>
          <p:nvPr/>
        </p:nvSpPr>
        <p:spPr bwMode="auto">
          <a:xfrm>
            <a:off x="2608263" y="5872163"/>
            <a:ext cx="1587" cy="22383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71" name="Line 46"/>
          <p:cNvSpPr>
            <a:spLocks noChangeShapeType="1"/>
          </p:cNvSpPr>
          <p:nvPr/>
        </p:nvSpPr>
        <p:spPr bwMode="auto">
          <a:xfrm flipV="1">
            <a:off x="2608263" y="6092825"/>
            <a:ext cx="19843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72" name="Line 47"/>
          <p:cNvSpPr>
            <a:spLocks noChangeShapeType="1"/>
          </p:cNvSpPr>
          <p:nvPr/>
        </p:nvSpPr>
        <p:spPr bwMode="auto">
          <a:xfrm>
            <a:off x="2797175" y="5878513"/>
            <a:ext cx="1588" cy="22383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73" name="Line 48"/>
          <p:cNvSpPr>
            <a:spLocks noChangeShapeType="1"/>
          </p:cNvSpPr>
          <p:nvPr/>
        </p:nvSpPr>
        <p:spPr bwMode="auto">
          <a:xfrm flipV="1">
            <a:off x="2787650" y="5878513"/>
            <a:ext cx="942975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2574" name="Text Box 49"/>
          <p:cNvSpPr txBox="1">
            <a:spLocks noChangeArrowheads="1"/>
          </p:cNvSpPr>
          <p:nvPr/>
        </p:nvSpPr>
        <p:spPr bwMode="auto">
          <a:xfrm>
            <a:off x="2563813" y="4654550"/>
            <a:ext cx="114776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200" dirty="0">
                <a:solidFill>
                  <a:srgbClr val="CC3300"/>
                </a:solidFill>
              </a:rPr>
              <a:t>Horizontal blanking interval</a:t>
            </a:r>
            <a:endParaRPr lang="en-GB" sz="1600" dirty="0"/>
          </a:p>
        </p:txBody>
      </p:sp>
      <p:sp>
        <p:nvSpPr>
          <p:cNvPr id="22575" name="AutoShape 50"/>
          <p:cNvSpPr>
            <a:spLocks/>
          </p:cNvSpPr>
          <p:nvPr/>
        </p:nvSpPr>
        <p:spPr bwMode="auto">
          <a:xfrm rot="-5400000">
            <a:off x="2993232" y="4898231"/>
            <a:ext cx="214312" cy="1044575"/>
          </a:xfrm>
          <a:prstGeom prst="rightBrace">
            <a:avLst>
              <a:gd name="adj1" fmla="val 40617"/>
              <a:gd name="adj2" fmla="val 50148"/>
            </a:avLst>
          </a:prstGeom>
          <a:noFill/>
          <a:ln w="127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76" name="Rectangle 51"/>
          <p:cNvSpPr>
            <a:spLocks noChangeArrowheads="1"/>
          </p:cNvSpPr>
          <p:nvPr/>
        </p:nvSpPr>
        <p:spPr bwMode="auto">
          <a:xfrm>
            <a:off x="3184525" y="5668963"/>
            <a:ext cx="317500" cy="430212"/>
          </a:xfrm>
          <a:prstGeom prst="rect">
            <a:avLst/>
          </a:pr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77" name="Text Box 52"/>
          <p:cNvSpPr txBox="1">
            <a:spLocks noChangeArrowheads="1"/>
          </p:cNvSpPr>
          <p:nvPr/>
        </p:nvSpPr>
        <p:spPr bwMode="auto">
          <a:xfrm>
            <a:off x="341313" y="1038225"/>
            <a:ext cx="1841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438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ChangeArrowheads="1"/>
          </p:cNvSpPr>
          <p:nvPr/>
        </p:nvSpPr>
        <p:spPr bwMode="auto">
          <a:xfrm>
            <a:off x="3697288" y="1066800"/>
            <a:ext cx="4724400" cy="3429000"/>
          </a:xfrm>
          <a:prstGeom prst="rect">
            <a:avLst/>
          </a:prstGeom>
          <a:solidFill>
            <a:schemeClr val="folHlink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AutoShape 5"/>
          <p:cNvSpPr>
            <a:spLocks noChangeArrowheads="1"/>
          </p:cNvSpPr>
          <p:nvPr/>
        </p:nvSpPr>
        <p:spPr bwMode="auto">
          <a:xfrm>
            <a:off x="3773488" y="1143000"/>
            <a:ext cx="4572000" cy="3276600"/>
          </a:xfrm>
          <a:prstGeom prst="flowChartAlternateProcess">
            <a:avLst/>
          </a:prstGeom>
          <a:solidFill>
            <a:srgbClr val="FFFFCC"/>
          </a:solidFill>
          <a:ln w="571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9600" b="1">
                <a:solidFill>
                  <a:srgbClr val="000066"/>
                </a:solidFill>
                <a:latin typeface="Arial Black" pitchFamily="34" charset="0"/>
              </a:rPr>
              <a:t>T</a:t>
            </a:r>
            <a:r>
              <a:rPr lang="en-GB" sz="9600" b="1">
                <a:solidFill>
                  <a:schemeClr val="accent2"/>
                </a:solidFill>
                <a:latin typeface="Arial Black" pitchFamily="34" charset="0"/>
              </a:rPr>
              <a:t>V</a:t>
            </a:r>
            <a:endParaRPr lang="en-GB" sz="9600">
              <a:latin typeface="Arial Black" pitchFamily="34" charset="0"/>
            </a:endParaRPr>
          </a:p>
        </p:txBody>
      </p:sp>
      <p:sp>
        <p:nvSpPr>
          <p:cNvPr id="23556" name="Freeform 6"/>
          <p:cNvSpPr>
            <a:spLocks/>
          </p:cNvSpPr>
          <p:nvPr/>
        </p:nvSpPr>
        <p:spPr bwMode="auto">
          <a:xfrm>
            <a:off x="6505575" y="2308225"/>
            <a:ext cx="476250" cy="866775"/>
          </a:xfrm>
          <a:custGeom>
            <a:avLst/>
            <a:gdLst>
              <a:gd name="T0" fmla="*/ 269655914 w 300"/>
              <a:gd name="T1" fmla="*/ 0 h 546"/>
              <a:gd name="T2" fmla="*/ 756046766 w 300"/>
              <a:gd name="T3" fmla="*/ 0 h 546"/>
              <a:gd name="T4" fmla="*/ 231854380 w 300"/>
              <a:gd name="T5" fmla="*/ 1376005094 h 546"/>
              <a:gd name="T6" fmla="*/ 0 w 300"/>
              <a:gd name="T7" fmla="*/ 889614362 h 546"/>
              <a:gd name="T8" fmla="*/ 269655914 w 300"/>
              <a:gd name="T9" fmla="*/ 0 h 5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0"/>
              <a:gd name="T16" fmla="*/ 0 h 546"/>
              <a:gd name="T17" fmla="*/ 300 w 300"/>
              <a:gd name="T18" fmla="*/ 546 h 5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0" h="546">
                <a:moveTo>
                  <a:pt x="107" y="0"/>
                </a:moveTo>
                <a:lnTo>
                  <a:pt x="300" y="0"/>
                </a:lnTo>
                <a:lnTo>
                  <a:pt x="92" y="546"/>
                </a:lnTo>
                <a:lnTo>
                  <a:pt x="0" y="353"/>
                </a:lnTo>
                <a:lnTo>
                  <a:pt x="107" y="0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57" name="Line 7"/>
          <p:cNvSpPr>
            <a:spLocks noChangeShapeType="1"/>
          </p:cNvSpPr>
          <p:nvPr/>
        </p:nvSpPr>
        <p:spPr bwMode="auto">
          <a:xfrm>
            <a:off x="3711575" y="2909888"/>
            <a:ext cx="4648200" cy="762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58" name="Line 8"/>
          <p:cNvSpPr>
            <a:spLocks noChangeShapeType="1"/>
          </p:cNvSpPr>
          <p:nvPr/>
        </p:nvSpPr>
        <p:spPr bwMode="auto">
          <a:xfrm>
            <a:off x="5727700" y="2730500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59" name="Line 9"/>
          <p:cNvSpPr>
            <a:spLocks noChangeShapeType="1"/>
          </p:cNvSpPr>
          <p:nvPr/>
        </p:nvSpPr>
        <p:spPr bwMode="auto">
          <a:xfrm>
            <a:off x="5446713" y="2730500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0" name="Line 10"/>
          <p:cNvSpPr>
            <a:spLocks noChangeShapeType="1"/>
          </p:cNvSpPr>
          <p:nvPr/>
        </p:nvSpPr>
        <p:spPr bwMode="auto">
          <a:xfrm>
            <a:off x="6275388" y="2719388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1" name="Line 12"/>
          <p:cNvSpPr>
            <a:spLocks noChangeShapeType="1"/>
          </p:cNvSpPr>
          <p:nvPr/>
        </p:nvSpPr>
        <p:spPr bwMode="auto">
          <a:xfrm>
            <a:off x="6553200" y="2730500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2" name="Line 13"/>
          <p:cNvSpPr>
            <a:spLocks noChangeShapeType="1"/>
          </p:cNvSpPr>
          <p:nvPr/>
        </p:nvSpPr>
        <p:spPr bwMode="auto">
          <a:xfrm>
            <a:off x="6731000" y="2719388"/>
            <a:ext cx="0" cy="350520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3" name="Line 14"/>
          <p:cNvSpPr>
            <a:spLocks noChangeShapeType="1"/>
          </p:cNvSpPr>
          <p:nvPr/>
        </p:nvSpPr>
        <p:spPr bwMode="auto">
          <a:xfrm>
            <a:off x="2259013" y="5873750"/>
            <a:ext cx="6488112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4" name="Line 15"/>
          <p:cNvSpPr>
            <a:spLocks noChangeShapeType="1"/>
          </p:cNvSpPr>
          <p:nvPr/>
        </p:nvSpPr>
        <p:spPr bwMode="auto">
          <a:xfrm>
            <a:off x="1712913" y="4848225"/>
            <a:ext cx="5761037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5" name="Line 16"/>
          <p:cNvSpPr>
            <a:spLocks noChangeShapeType="1"/>
          </p:cNvSpPr>
          <p:nvPr/>
        </p:nvSpPr>
        <p:spPr bwMode="auto">
          <a:xfrm>
            <a:off x="3733800" y="4945063"/>
            <a:ext cx="0" cy="92868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6" name="Line 17"/>
          <p:cNvSpPr>
            <a:spLocks noChangeShapeType="1"/>
          </p:cNvSpPr>
          <p:nvPr/>
        </p:nvSpPr>
        <p:spPr bwMode="auto">
          <a:xfrm flipV="1">
            <a:off x="3733800" y="4959350"/>
            <a:ext cx="1722438" cy="1588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7" name="Line 18"/>
          <p:cNvSpPr>
            <a:spLocks noChangeShapeType="1"/>
          </p:cNvSpPr>
          <p:nvPr/>
        </p:nvSpPr>
        <p:spPr bwMode="auto">
          <a:xfrm flipV="1">
            <a:off x="6731000" y="4941888"/>
            <a:ext cx="1744663" cy="3175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8" name="Line 19"/>
          <p:cNvSpPr>
            <a:spLocks noChangeShapeType="1"/>
          </p:cNvSpPr>
          <p:nvPr/>
        </p:nvSpPr>
        <p:spPr bwMode="auto">
          <a:xfrm>
            <a:off x="5456238" y="4945063"/>
            <a:ext cx="0" cy="80645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69" name="Line 20"/>
          <p:cNvSpPr>
            <a:spLocks noChangeShapeType="1"/>
          </p:cNvSpPr>
          <p:nvPr/>
        </p:nvSpPr>
        <p:spPr bwMode="auto">
          <a:xfrm>
            <a:off x="5724525" y="4945063"/>
            <a:ext cx="0" cy="83185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0" name="Line 21"/>
          <p:cNvSpPr>
            <a:spLocks noChangeShapeType="1"/>
          </p:cNvSpPr>
          <p:nvPr/>
        </p:nvSpPr>
        <p:spPr bwMode="auto">
          <a:xfrm>
            <a:off x="6275388" y="4968875"/>
            <a:ext cx="0" cy="512763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1" name="Line 23"/>
          <p:cNvSpPr>
            <a:spLocks noChangeShapeType="1"/>
          </p:cNvSpPr>
          <p:nvPr/>
        </p:nvSpPr>
        <p:spPr bwMode="auto">
          <a:xfrm flipH="1">
            <a:off x="6554788" y="5299075"/>
            <a:ext cx="1587" cy="195263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2" name="Line 24"/>
          <p:cNvSpPr>
            <a:spLocks noChangeShapeType="1"/>
          </p:cNvSpPr>
          <p:nvPr/>
        </p:nvSpPr>
        <p:spPr bwMode="auto">
          <a:xfrm>
            <a:off x="6731000" y="4956175"/>
            <a:ext cx="0" cy="36195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3" name="Line 25"/>
          <p:cNvSpPr>
            <a:spLocks noChangeShapeType="1"/>
          </p:cNvSpPr>
          <p:nvPr/>
        </p:nvSpPr>
        <p:spPr bwMode="auto">
          <a:xfrm flipV="1">
            <a:off x="5737225" y="4956175"/>
            <a:ext cx="538163" cy="1588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4" name="Line 27"/>
          <p:cNvSpPr>
            <a:spLocks noChangeShapeType="1"/>
          </p:cNvSpPr>
          <p:nvPr/>
        </p:nvSpPr>
        <p:spPr bwMode="auto">
          <a:xfrm flipV="1">
            <a:off x="5443538" y="5751513"/>
            <a:ext cx="282575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5" name="Line 28"/>
          <p:cNvSpPr>
            <a:spLocks noChangeShapeType="1"/>
          </p:cNvSpPr>
          <p:nvPr/>
        </p:nvSpPr>
        <p:spPr bwMode="auto">
          <a:xfrm>
            <a:off x="6267450" y="5478463"/>
            <a:ext cx="282575" cy="3175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6" name="Line 29"/>
          <p:cNvSpPr>
            <a:spLocks noChangeShapeType="1"/>
          </p:cNvSpPr>
          <p:nvPr/>
        </p:nvSpPr>
        <p:spPr bwMode="auto">
          <a:xfrm flipV="1">
            <a:off x="6550025" y="5299075"/>
            <a:ext cx="180975" cy="3175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7" name="Line 30"/>
          <p:cNvSpPr>
            <a:spLocks noChangeShapeType="1"/>
          </p:cNvSpPr>
          <p:nvPr/>
        </p:nvSpPr>
        <p:spPr bwMode="auto">
          <a:xfrm flipV="1">
            <a:off x="8445500" y="5884863"/>
            <a:ext cx="33655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78" name="Text Box 31"/>
          <p:cNvSpPr txBox="1">
            <a:spLocks noChangeArrowheads="1"/>
          </p:cNvSpPr>
          <p:nvPr/>
        </p:nvSpPr>
        <p:spPr bwMode="auto">
          <a:xfrm>
            <a:off x="381000" y="4699000"/>
            <a:ext cx="1566454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    white level</a:t>
            </a:r>
          </a:p>
          <a:p>
            <a:endParaRPr lang="en-GB" sz="2000" dirty="0"/>
          </a:p>
          <a:p>
            <a:endParaRPr lang="en-GB" dirty="0"/>
          </a:p>
          <a:p>
            <a:r>
              <a:rPr lang="en-GB" sz="1600" dirty="0"/>
              <a:t>black level</a:t>
            </a:r>
          </a:p>
          <a:p>
            <a:endParaRPr lang="en-GB" sz="1600" dirty="0"/>
          </a:p>
          <a:p>
            <a:r>
              <a:rPr lang="en-GB" sz="1600" dirty="0"/>
              <a:t>blanking level</a:t>
            </a:r>
          </a:p>
        </p:txBody>
      </p:sp>
      <p:sp>
        <p:nvSpPr>
          <p:cNvPr id="23579" name="Line 32"/>
          <p:cNvSpPr>
            <a:spLocks noChangeShapeType="1"/>
          </p:cNvSpPr>
          <p:nvPr/>
        </p:nvSpPr>
        <p:spPr bwMode="auto">
          <a:xfrm>
            <a:off x="2146300" y="5805488"/>
            <a:ext cx="664527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80" name="Line 33"/>
          <p:cNvSpPr>
            <a:spLocks noChangeShapeType="1"/>
          </p:cNvSpPr>
          <p:nvPr/>
        </p:nvSpPr>
        <p:spPr bwMode="auto">
          <a:xfrm>
            <a:off x="1701800" y="5761038"/>
            <a:ext cx="474663" cy="4445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1" name="Line 34"/>
          <p:cNvSpPr>
            <a:spLocks noChangeShapeType="1"/>
          </p:cNvSpPr>
          <p:nvPr/>
        </p:nvSpPr>
        <p:spPr bwMode="auto">
          <a:xfrm flipV="1">
            <a:off x="1881188" y="5884863"/>
            <a:ext cx="350837" cy="90487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2" name="Line 35"/>
          <p:cNvSpPr>
            <a:spLocks noChangeShapeType="1"/>
          </p:cNvSpPr>
          <p:nvPr/>
        </p:nvSpPr>
        <p:spPr bwMode="auto">
          <a:xfrm flipH="1">
            <a:off x="433388" y="2894013"/>
            <a:ext cx="3201987" cy="9525"/>
          </a:xfrm>
          <a:prstGeom prst="line">
            <a:avLst/>
          </a:prstGeom>
          <a:noFill/>
          <a:ln w="285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83" name="Line 36"/>
          <p:cNvSpPr>
            <a:spLocks noChangeShapeType="1"/>
          </p:cNvSpPr>
          <p:nvPr/>
        </p:nvSpPr>
        <p:spPr bwMode="auto">
          <a:xfrm flipH="1" flipV="1">
            <a:off x="381000" y="5327650"/>
            <a:ext cx="1184275" cy="1588"/>
          </a:xfrm>
          <a:prstGeom prst="line">
            <a:avLst/>
          </a:prstGeom>
          <a:noFill/>
          <a:ln w="285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4" name="Line 37"/>
          <p:cNvSpPr>
            <a:spLocks noChangeShapeType="1"/>
          </p:cNvSpPr>
          <p:nvPr/>
        </p:nvSpPr>
        <p:spPr bwMode="auto">
          <a:xfrm flipV="1">
            <a:off x="381000" y="2903538"/>
            <a:ext cx="0" cy="2447925"/>
          </a:xfrm>
          <a:prstGeom prst="line">
            <a:avLst/>
          </a:prstGeom>
          <a:noFill/>
          <a:ln w="28575">
            <a:solidFill>
              <a:srgbClr val="CC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85" name="Line 38"/>
          <p:cNvSpPr>
            <a:spLocks noChangeShapeType="1"/>
          </p:cNvSpPr>
          <p:nvPr/>
        </p:nvSpPr>
        <p:spPr bwMode="auto">
          <a:xfrm>
            <a:off x="3343275" y="2900363"/>
            <a:ext cx="3175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86" name="Line 39"/>
          <p:cNvSpPr>
            <a:spLocks noChangeShapeType="1"/>
          </p:cNvSpPr>
          <p:nvPr/>
        </p:nvSpPr>
        <p:spPr bwMode="auto">
          <a:xfrm>
            <a:off x="1439863" y="5327650"/>
            <a:ext cx="3175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7" name="Text Box 40"/>
          <p:cNvSpPr txBox="1">
            <a:spLocks noChangeArrowheads="1"/>
          </p:cNvSpPr>
          <p:nvPr/>
        </p:nvSpPr>
        <p:spPr bwMode="auto">
          <a:xfrm>
            <a:off x="433388" y="2986088"/>
            <a:ext cx="10572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>
                <a:solidFill>
                  <a:srgbClr val="CC3300"/>
                </a:solidFill>
              </a:rPr>
              <a:t>Scan line</a:t>
            </a:r>
            <a:endParaRPr lang="en-GB"/>
          </a:p>
        </p:txBody>
      </p:sp>
      <p:sp>
        <p:nvSpPr>
          <p:cNvPr id="23588" name="Text Box 41"/>
          <p:cNvSpPr txBox="1">
            <a:spLocks noChangeArrowheads="1"/>
          </p:cNvSpPr>
          <p:nvPr/>
        </p:nvSpPr>
        <p:spPr bwMode="auto">
          <a:xfrm>
            <a:off x="381000" y="381000"/>
            <a:ext cx="3492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Scan Line - Brightness</a:t>
            </a:r>
            <a:endParaRPr lang="en-GB" sz="2400"/>
          </a:p>
        </p:txBody>
      </p:sp>
      <p:sp>
        <p:nvSpPr>
          <p:cNvPr id="23589" name="Line 42"/>
          <p:cNvSpPr>
            <a:spLocks noChangeShapeType="1"/>
          </p:cNvSpPr>
          <p:nvPr/>
        </p:nvSpPr>
        <p:spPr bwMode="auto">
          <a:xfrm>
            <a:off x="8470900" y="4956175"/>
            <a:ext cx="4763" cy="938213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3590" name="Line 43"/>
          <p:cNvSpPr>
            <a:spLocks noChangeShapeType="1"/>
          </p:cNvSpPr>
          <p:nvPr/>
        </p:nvSpPr>
        <p:spPr bwMode="auto">
          <a:xfrm flipV="1">
            <a:off x="2420938" y="5873750"/>
            <a:ext cx="19685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1" name="Line 44"/>
          <p:cNvSpPr>
            <a:spLocks noChangeShapeType="1"/>
          </p:cNvSpPr>
          <p:nvPr/>
        </p:nvSpPr>
        <p:spPr bwMode="auto">
          <a:xfrm>
            <a:off x="2608263" y="5872163"/>
            <a:ext cx="1587" cy="22383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2" name="Line 45"/>
          <p:cNvSpPr>
            <a:spLocks noChangeShapeType="1"/>
          </p:cNvSpPr>
          <p:nvPr/>
        </p:nvSpPr>
        <p:spPr bwMode="auto">
          <a:xfrm flipV="1">
            <a:off x="2608263" y="6092825"/>
            <a:ext cx="198437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3" name="Line 46"/>
          <p:cNvSpPr>
            <a:spLocks noChangeShapeType="1"/>
          </p:cNvSpPr>
          <p:nvPr/>
        </p:nvSpPr>
        <p:spPr bwMode="auto">
          <a:xfrm>
            <a:off x="2797175" y="5878513"/>
            <a:ext cx="1588" cy="223837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4" name="Line 47"/>
          <p:cNvSpPr>
            <a:spLocks noChangeShapeType="1"/>
          </p:cNvSpPr>
          <p:nvPr/>
        </p:nvSpPr>
        <p:spPr bwMode="auto">
          <a:xfrm flipV="1">
            <a:off x="2787650" y="5878513"/>
            <a:ext cx="942975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5" name="Text Box 48"/>
          <p:cNvSpPr txBox="1">
            <a:spLocks noChangeArrowheads="1"/>
          </p:cNvSpPr>
          <p:nvPr/>
        </p:nvSpPr>
        <p:spPr bwMode="auto">
          <a:xfrm>
            <a:off x="2563813" y="4654550"/>
            <a:ext cx="114776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200">
                <a:solidFill>
                  <a:srgbClr val="CC3300"/>
                </a:solidFill>
              </a:rPr>
              <a:t>Horizontal blanking interval</a:t>
            </a:r>
            <a:endParaRPr lang="en-GB" sz="1600"/>
          </a:p>
        </p:txBody>
      </p:sp>
      <p:sp>
        <p:nvSpPr>
          <p:cNvPr id="23596" name="AutoShape 49"/>
          <p:cNvSpPr>
            <a:spLocks/>
          </p:cNvSpPr>
          <p:nvPr/>
        </p:nvSpPr>
        <p:spPr bwMode="auto">
          <a:xfrm rot="-5400000">
            <a:off x="2993232" y="4898231"/>
            <a:ext cx="214312" cy="1044575"/>
          </a:xfrm>
          <a:prstGeom prst="rightBrace">
            <a:avLst>
              <a:gd name="adj1" fmla="val 40617"/>
              <a:gd name="adj2" fmla="val 50148"/>
            </a:avLst>
          </a:prstGeom>
          <a:noFill/>
          <a:ln w="1270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7" name="Rectangle 50"/>
          <p:cNvSpPr>
            <a:spLocks noChangeArrowheads="1"/>
          </p:cNvSpPr>
          <p:nvPr/>
        </p:nvSpPr>
        <p:spPr bwMode="auto">
          <a:xfrm>
            <a:off x="3184525" y="5668963"/>
            <a:ext cx="317500" cy="430212"/>
          </a:xfrm>
          <a:prstGeom prst="rect">
            <a:avLst/>
          </a:pr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8" name="Text Box 51"/>
          <p:cNvSpPr txBox="1">
            <a:spLocks noChangeArrowheads="1"/>
          </p:cNvSpPr>
          <p:nvPr/>
        </p:nvSpPr>
        <p:spPr bwMode="auto">
          <a:xfrm>
            <a:off x="433388" y="1066800"/>
            <a:ext cx="1841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599" name="Text Box 52"/>
          <p:cNvSpPr txBox="1">
            <a:spLocks noChangeArrowheads="1"/>
          </p:cNvSpPr>
          <p:nvPr/>
        </p:nvSpPr>
        <p:spPr bwMode="auto">
          <a:xfrm>
            <a:off x="433388" y="1193800"/>
            <a:ext cx="291782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Line scan further down the screen</a:t>
            </a:r>
          </a:p>
        </p:txBody>
      </p:sp>
    </p:spTree>
    <p:extLst>
      <p:ext uri="{BB962C8B-B14F-4D97-AF65-F5344CB8AC3E}">
        <p14:creationId xmlns:p14="http://schemas.microsoft.com/office/powerpoint/2010/main" val="39566698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/>
          <p:cNvSpPr/>
          <p:nvPr/>
        </p:nvSpPr>
        <p:spPr>
          <a:xfrm>
            <a:off x="195942" y="3883568"/>
            <a:ext cx="5386252" cy="2551611"/>
          </a:xfrm>
          <a:prstGeom prst="round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24578" name="Line 5"/>
          <p:cNvSpPr>
            <a:spLocks noChangeShapeType="1"/>
          </p:cNvSpPr>
          <p:nvPr/>
        </p:nvSpPr>
        <p:spPr bwMode="auto">
          <a:xfrm>
            <a:off x="381000" y="2000250"/>
            <a:ext cx="1409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79" name="Freeform 6"/>
          <p:cNvSpPr>
            <a:spLocks/>
          </p:cNvSpPr>
          <p:nvPr/>
        </p:nvSpPr>
        <p:spPr bwMode="auto">
          <a:xfrm>
            <a:off x="419100" y="1397000"/>
            <a:ext cx="8318500" cy="1663700"/>
          </a:xfrm>
          <a:custGeom>
            <a:avLst/>
            <a:gdLst>
              <a:gd name="T0" fmla="*/ 0 w 5240"/>
              <a:gd name="T1" fmla="*/ 1612899645 h 1048"/>
              <a:gd name="T2" fmla="*/ 161289989 w 5240"/>
              <a:gd name="T3" fmla="*/ 1895157411 h 1048"/>
              <a:gd name="T4" fmla="*/ 403224949 w 5240"/>
              <a:gd name="T5" fmla="*/ 1895157411 h 1048"/>
              <a:gd name="T6" fmla="*/ 544353746 w 5240"/>
              <a:gd name="T7" fmla="*/ 2147483647 h 1048"/>
              <a:gd name="T8" fmla="*/ 1108868734 w 5240"/>
              <a:gd name="T9" fmla="*/ 2147483647 h 1048"/>
              <a:gd name="T10" fmla="*/ 1249997431 w 5240"/>
              <a:gd name="T11" fmla="*/ 1854834930 h 1048"/>
              <a:gd name="T12" fmla="*/ 2147483647 w 5240"/>
              <a:gd name="T13" fmla="*/ 1854834930 h 1048"/>
              <a:gd name="T14" fmla="*/ 2147483647 w 5240"/>
              <a:gd name="T15" fmla="*/ 1633060886 h 1048"/>
              <a:gd name="T16" fmla="*/ 2147483647 w 5240"/>
              <a:gd name="T17" fmla="*/ 1633060886 h 1048"/>
              <a:gd name="T18" fmla="*/ 2147483647 w 5240"/>
              <a:gd name="T19" fmla="*/ 0 h 1048"/>
              <a:gd name="T20" fmla="*/ 2147483647 w 5240"/>
              <a:gd name="T21" fmla="*/ 0 h 1048"/>
              <a:gd name="T22" fmla="*/ 2147483647 w 5240"/>
              <a:gd name="T23" fmla="*/ 1612899645 h 1048"/>
              <a:gd name="T24" fmla="*/ 2147483647 w 5240"/>
              <a:gd name="T25" fmla="*/ 1612899645 h 1048"/>
              <a:gd name="T26" fmla="*/ 2147483647 w 5240"/>
              <a:gd name="T27" fmla="*/ 1874996170 h 1048"/>
              <a:gd name="T28" fmla="*/ 2147483647 w 5240"/>
              <a:gd name="T29" fmla="*/ 1874996170 h 1048"/>
              <a:gd name="T30" fmla="*/ 2147483647 w 5240"/>
              <a:gd name="T31" fmla="*/ 2147483647 h 1048"/>
              <a:gd name="T32" fmla="*/ 2147483647 w 5240"/>
              <a:gd name="T33" fmla="*/ 2147483647 h 1048"/>
              <a:gd name="T34" fmla="*/ 2147483647 w 5240"/>
              <a:gd name="T35" fmla="*/ 1895157411 h 1048"/>
              <a:gd name="T36" fmla="*/ 2147483647 w 5240"/>
              <a:gd name="T37" fmla="*/ 1895157411 h 10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240"/>
              <a:gd name="T58" fmla="*/ 0 h 1048"/>
              <a:gd name="T59" fmla="*/ 5240 w 5240"/>
              <a:gd name="T60" fmla="*/ 1048 h 10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240" h="1048">
                <a:moveTo>
                  <a:pt x="0" y="640"/>
                </a:moveTo>
                <a:lnTo>
                  <a:pt x="64" y="752"/>
                </a:lnTo>
                <a:lnTo>
                  <a:pt x="160" y="752"/>
                </a:lnTo>
                <a:lnTo>
                  <a:pt x="216" y="1048"/>
                </a:lnTo>
                <a:lnTo>
                  <a:pt x="440" y="1048"/>
                </a:lnTo>
                <a:lnTo>
                  <a:pt x="496" y="736"/>
                </a:lnTo>
                <a:lnTo>
                  <a:pt x="888" y="736"/>
                </a:lnTo>
                <a:lnTo>
                  <a:pt x="960" y="648"/>
                </a:lnTo>
                <a:lnTo>
                  <a:pt x="1088" y="648"/>
                </a:lnTo>
                <a:lnTo>
                  <a:pt x="1256" y="0"/>
                </a:lnTo>
                <a:lnTo>
                  <a:pt x="4472" y="0"/>
                </a:lnTo>
                <a:lnTo>
                  <a:pt x="4592" y="640"/>
                </a:lnTo>
                <a:lnTo>
                  <a:pt x="4680" y="640"/>
                </a:lnTo>
                <a:lnTo>
                  <a:pt x="4712" y="744"/>
                </a:lnTo>
                <a:lnTo>
                  <a:pt x="4824" y="744"/>
                </a:lnTo>
                <a:lnTo>
                  <a:pt x="4896" y="1048"/>
                </a:lnTo>
                <a:lnTo>
                  <a:pt x="5128" y="1040"/>
                </a:lnTo>
                <a:lnTo>
                  <a:pt x="5184" y="752"/>
                </a:lnTo>
                <a:lnTo>
                  <a:pt x="5240" y="752"/>
                </a:ln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371600" y="2422525"/>
            <a:ext cx="381000" cy="304800"/>
            <a:chOff x="2064" y="1248"/>
            <a:chExt cx="432" cy="468"/>
          </a:xfrm>
        </p:grpSpPr>
        <p:sp>
          <p:nvSpPr>
            <p:cNvPr id="24624" name="Line 8"/>
            <p:cNvSpPr>
              <a:spLocks noChangeShapeType="1"/>
            </p:cNvSpPr>
            <p:nvPr/>
          </p:nvSpPr>
          <p:spPr bwMode="auto">
            <a:xfrm flipH="1">
              <a:off x="2064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25" name="Line 9"/>
            <p:cNvSpPr>
              <a:spLocks noChangeShapeType="1"/>
            </p:cNvSpPr>
            <p:nvPr/>
          </p:nvSpPr>
          <p:spPr bwMode="auto">
            <a:xfrm flipH="1">
              <a:off x="2112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26" name="Line 10"/>
            <p:cNvSpPr>
              <a:spLocks noChangeShapeType="1"/>
            </p:cNvSpPr>
            <p:nvPr/>
          </p:nvSpPr>
          <p:spPr bwMode="auto">
            <a:xfrm flipH="1">
              <a:off x="2160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27" name="Line 11"/>
            <p:cNvSpPr>
              <a:spLocks noChangeShapeType="1"/>
            </p:cNvSpPr>
            <p:nvPr/>
          </p:nvSpPr>
          <p:spPr bwMode="auto">
            <a:xfrm flipH="1">
              <a:off x="2208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28" name="Line 12"/>
            <p:cNvSpPr>
              <a:spLocks noChangeShapeType="1"/>
            </p:cNvSpPr>
            <p:nvPr/>
          </p:nvSpPr>
          <p:spPr bwMode="auto">
            <a:xfrm flipH="1">
              <a:off x="2256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29" name="Line 13"/>
            <p:cNvSpPr>
              <a:spLocks noChangeShapeType="1"/>
            </p:cNvSpPr>
            <p:nvPr/>
          </p:nvSpPr>
          <p:spPr bwMode="auto">
            <a:xfrm flipH="1">
              <a:off x="2304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30" name="Line 14"/>
            <p:cNvSpPr>
              <a:spLocks noChangeShapeType="1"/>
            </p:cNvSpPr>
            <p:nvPr/>
          </p:nvSpPr>
          <p:spPr bwMode="auto">
            <a:xfrm flipH="1">
              <a:off x="2352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31" name="Line 15"/>
            <p:cNvSpPr>
              <a:spLocks noChangeShapeType="1"/>
            </p:cNvSpPr>
            <p:nvPr/>
          </p:nvSpPr>
          <p:spPr bwMode="auto">
            <a:xfrm flipH="1">
              <a:off x="2400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4581" name="Line 16"/>
          <p:cNvSpPr>
            <a:spLocks noChangeShapeType="1"/>
          </p:cNvSpPr>
          <p:nvPr/>
        </p:nvSpPr>
        <p:spPr bwMode="auto">
          <a:xfrm flipV="1">
            <a:off x="1819275" y="14128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2" name="Line 17"/>
          <p:cNvSpPr>
            <a:spLocks noChangeShapeType="1"/>
          </p:cNvSpPr>
          <p:nvPr/>
        </p:nvSpPr>
        <p:spPr bwMode="auto">
          <a:xfrm flipV="1">
            <a:off x="7915275" y="1393825"/>
            <a:ext cx="0" cy="11049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3" name="Line 18"/>
          <p:cNvSpPr>
            <a:spLocks noChangeShapeType="1"/>
          </p:cNvSpPr>
          <p:nvPr/>
        </p:nvSpPr>
        <p:spPr bwMode="auto">
          <a:xfrm>
            <a:off x="1828800" y="1660525"/>
            <a:ext cx="606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4" name="Text Box 19"/>
          <p:cNvSpPr txBox="1">
            <a:spLocks noChangeArrowheads="1"/>
          </p:cNvSpPr>
          <p:nvPr/>
        </p:nvSpPr>
        <p:spPr bwMode="auto">
          <a:xfrm>
            <a:off x="4319588" y="1528763"/>
            <a:ext cx="1246187" cy="5175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400"/>
              <a:t>Active Video</a:t>
            </a:r>
          </a:p>
          <a:p>
            <a:pPr algn="ctr"/>
            <a:r>
              <a:rPr lang="en-GB" sz="1400"/>
              <a:t>52.6</a:t>
            </a:r>
            <a:r>
              <a:rPr lang="en-GB" sz="1400">
                <a:sym typeface="Symbol" pitchFamily="18" charset="2"/>
              </a:rPr>
              <a:t></a:t>
            </a:r>
            <a:r>
              <a:rPr lang="en-GB" sz="1400"/>
              <a:t>S</a:t>
            </a:r>
            <a:endParaRPr lang="en-GB"/>
          </a:p>
        </p:txBody>
      </p:sp>
      <p:sp>
        <p:nvSpPr>
          <p:cNvPr id="24585" name="Line 20"/>
          <p:cNvSpPr>
            <a:spLocks noChangeShapeType="1"/>
          </p:cNvSpPr>
          <p:nvPr/>
        </p:nvSpPr>
        <p:spPr bwMode="auto">
          <a:xfrm flipV="1">
            <a:off x="381000" y="18319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6" name="Text Box 21"/>
          <p:cNvSpPr txBox="1">
            <a:spLocks noChangeArrowheads="1"/>
          </p:cNvSpPr>
          <p:nvPr/>
        </p:nvSpPr>
        <p:spPr bwMode="auto">
          <a:xfrm>
            <a:off x="558800" y="1325563"/>
            <a:ext cx="10922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Horizontal Blanking</a:t>
            </a:r>
          </a:p>
          <a:p>
            <a:pPr algn="ctr"/>
            <a:r>
              <a:rPr lang="en-GB" sz="1400"/>
              <a:t>10.9</a:t>
            </a:r>
            <a:r>
              <a:rPr lang="en-GB" sz="1400">
                <a:sym typeface="Symbol" pitchFamily="18" charset="2"/>
              </a:rPr>
              <a:t></a:t>
            </a:r>
            <a:r>
              <a:rPr lang="en-GB" sz="1400"/>
              <a:t>S</a:t>
            </a:r>
            <a:endParaRPr lang="en-GB"/>
          </a:p>
        </p:txBody>
      </p:sp>
      <p:sp>
        <p:nvSpPr>
          <p:cNvPr id="24587" name="Line 22"/>
          <p:cNvSpPr>
            <a:spLocks noChangeShapeType="1"/>
          </p:cNvSpPr>
          <p:nvPr/>
        </p:nvSpPr>
        <p:spPr bwMode="auto">
          <a:xfrm>
            <a:off x="2162175" y="2400300"/>
            <a:ext cx="1727200" cy="31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8" name="Line 23"/>
          <p:cNvSpPr>
            <a:spLocks noChangeShapeType="1"/>
          </p:cNvSpPr>
          <p:nvPr/>
        </p:nvSpPr>
        <p:spPr bwMode="auto">
          <a:xfrm>
            <a:off x="1933575" y="2552700"/>
            <a:ext cx="1727200" cy="31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89" name="Text Box 24"/>
          <p:cNvSpPr txBox="1">
            <a:spLocks noChangeArrowheads="1"/>
          </p:cNvSpPr>
          <p:nvPr/>
        </p:nvSpPr>
        <p:spPr bwMode="auto">
          <a:xfrm>
            <a:off x="3632200" y="2246313"/>
            <a:ext cx="15621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Black Level</a:t>
            </a:r>
          </a:p>
          <a:p>
            <a:pPr algn="ctr"/>
            <a:r>
              <a:rPr lang="en-GB" sz="1400"/>
              <a:t>Blanking Level</a:t>
            </a:r>
            <a:endParaRPr lang="en-GB"/>
          </a:p>
        </p:txBody>
      </p:sp>
      <p:sp>
        <p:nvSpPr>
          <p:cNvPr id="24590" name="Line 25"/>
          <p:cNvSpPr>
            <a:spLocks noChangeShapeType="1"/>
          </p:cNvSpPr>
          <p:nvPr/>
        </p:nvSpPr>
        <p:spPr bwMode="auto">
          <a:xfrm flipV="1">
            <a:off x="714375" y="25812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91" name="Line 26"/>
          <p:cNvSpPr>
            <a:spLocks noChangeShapeType="1"/>
          </p:cNvSpPr>
          <p:nvPr/>
        </p:nvSpPr>
        <p:spPr bwMode="auto">
          <a:xfrm flipV="1">
            <a:off x="8118475" y="25812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4592" name="Text Box 27"/>
          <p:cNvSpPr txBox="1">
            <a:spLocks noChangeArrowheads="1"/>
          </p:cNvSpPr>
          <p:nvPr/>
        </p:nvSpPr>
        <p:spPr bwMode="auto">
          <a:xfrm>
            <a:off x="4133850" y="3141663"/>
            <a:ext cx="776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400">
                <a:sym typeface="Symbol" pitchFamily="18" charset="2"/>
              </a:rPr>
              <a:t>63.5</a:t>
            </a:r>
            <a:r>
              <a:rPr lang="en-GB" sz="1400"/>
              <a:t>S</a:t>
            </a:r>
            <a:endParaRPr lang="en-GB"/>
          </a:p>
        </p:txBody>
      </p:sp>
      <p:sp>
        <p:nvSpPr>
          <p:cNvPr id="24594" name="Line 29"/>
          <p:cNvSpPr>
            <a:spLocks noChangeShapeType="1"/>
          </p:cNvSpPr>
          <p:nvPr/>
        </p:nvSpPr>
        <p:spPr bwMode="auto">
          <a:xfrm flipH="1" flipV="1">
            <a:off x="381000" y="2416175"/>
            <a:ext cx="0" cy="23209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381000" y="4051300"/>
            <a:ext cx="5073650" cy="2203450"/>
            <a:chOff x="240" y="2648"/>
            <a:chExt cx="3196" cy="1388"/>
          </a:xfrm>
        </p:grpSpPr>
        <p:sp>
          <p:nvSpPr>
            <p:cNvPr id="24599" name="Line 31"/>
            <p:cNvSpPr>
              <a:spLocks noChangeShapeType="1"/>
            </p:cNvSpPr>
            <p:nvPr/>
          </p:nvSpPr>
          <p:spPr bwMode="auto">
            <a:xfrm flipV="1">
              <a:off x="656" y="3278"/>
              <a:ext cx="918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" name="Group 32"/>
            <p:cNvGrpSpPr>
              <a:grpSpLocks/>
            </p:cNvGrpSpPr>
            <p:nvPr/>
          </p:nvGrpSpPr>
          <p:grpSpPr bwMode="auto">
            <a:xfrm>
              <a:off x="240" y="2648"/>
              <a:ext cx="2602" cy="990"/>
              <a:chOff x="1398" y="2448"/>
              <a:chExt cx="2346" cy="798"/>
            </a:xfrm>
          </p:grpSpPr>
          <p:sp>
            <p:nvSpPr>
              <p:cNvPr id="24614" name="Freeform 33"/>
              <p:cNvSpPr>
                <a:spLocks/>
              </p:cNvSpPr>
              <p:nvPr/>
            </p:nvSpPr>
            <p:spPr bwMode="auto">
              <a:xfrm>
                <a:off x="1398" y="2586"/>
                <a:ext cx="2346" cy="660"/>
              </a:xfrm>
              <a:custGeom>
                <a:avLst/>
                <a:gdLst>
                  <a:gd name="T0" fmla="*/ 0 w 2346"/>
                  <a:gd name="T1" fmla="*/ 6 h 660"/>
                  <a:gd name="T2" fmla="*/ 66 w 2346"/>
                  <a:gd name="T3" fmla="*/ 126 h 660"/>
                  <a:gd name="T4" fmla="*/ 330 w 2346"/>
                  <a:gd name="T5" fmla="*/ 126 h 660"/>
                  <a:gd name="T6" fmla="*/ 390 w 2346"/>
                  <a:gd name="T7" fmla="*/ 660 h 660"/>
                  <a:gd name="T8" fmla="*/ 1212 w 2346"/>
                  <a:gd name="T9" fmla="*/ 660 h 660"/>
                  <a:gd name="T10" fmla="*/ 1272 w 2346"/>
                  <a:gd name="T11" fmla="*/ 108 h 660"/>
                  <a:gd name="T12" fmla="*/ 2298 w 2346"/>
                  <a:gd name="T13" fmla="*/ 108 h 660"/>
                  <a:gd name="T14" fmla="*/ 2346 w 2346"/>
                  <a:gd name="T15" fmla="*/ 0 h 6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346"/>
                  <a:gd name="T25" fmla="*/ 0 h 660"/>
                  <a:gd name="T26" fmla="*/ 2346 w 2346"/>
                  <a:gd name="T27" fmla="*/ 660 h 6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346" h="660">
                    <a:moveTo>
                      <a:pt x="0" y="6"/>
                    </a:moveTo>
                    <a:lnTo>
                      <a:pt x="66" y="126"/>
                    </a:lnTo>
                    <a:lnTo>
                      <a:pt x="330" y="126"/>
                    </a:lnTo>
                    <a:lnTo>
                      <a:pt x="390" y="660"/>
                    </a:lnTo>
                    <a:lnTo>
                      <a:pt x="1212" y="660"/>
                    </a:lnTo>
                    <a:lnTo>
                      <a:pt x="1272" y="108"/>
                    </a:lnTo>
                    <a:lnTo>
                      <a:pt x="2298" y="108"/>
                    </a:lnTo>
                    <a:lnTo>
                      <a:pt x="2346" y="0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5" name="Group 34"/>
              <p:cNvGrpSpPr>
                <a:grpSpLocks/>
              </p:cNvGrpSpPr>
              <p:nvPr/>
            </p:nvGrpSpPr>
            <p:grpSpPr bwMode="auto">
              <a:xfrm>
                <a:off x="2868" y="2448"/>
                <a:ext cx="666" cy="522"/>
                <a:chOff x="2064" y="1248"/>
                <a:chExt cx="432" cy="468"/>
              </a:xfrm>
            </p:grpSpPr>
            <p:sp>
              <p:nvSpPr>
                <p:cNvPr id="24616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617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618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619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620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621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622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4623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24601" name="Text Box 43"/>
            <p:cNvSpPr txBox="1">
              <a:spLocks noChangeArrowheads="1"/>
            </p:cNvSpPr>
            <p:nvPr/>
          </p:nvSpPr>
          <p:spPr bwMode="auto">
            <a:xfrm>
              <a:off x="896" y="3071"/>
              <a:ext cx="432" cy="4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/>
                <a:t>sync</a:t>
              </a:r>
            </a:p>
            <a:p>
              <a:pPr algn="ctr"/>
              <a:r>
                <a:rPr lang="en-GB" sz="1400"/>
                <a:t>tip</a:t>
              </a:r>
            </a:p>
            <a:p>
              <a:pPr algn="ctr"/>
              <a:r>
                <a:rPr lang="en-GB" sz="1400"/>
                <a:t>4.7</a:t>
              </a:r>
              <a:r>
                <a:rPr lang="en-GB" sz="1400">
                  <a:sym typeface="Symbol" pitchFamily="18" charset="2"/>
                </a:rPr>
                <a:t></a:t>
              </a:r>
              <a:r>
                <a:rPr lang="en-GB" sz="1400"/>
                <a:t>S</a:t>
              </a:r>
            </a:p>
          </p:txBody>
        </p:sp>
        <p:sp>
          <p:nvSpPr>
            <p:cNvPr id="24602" name="Line 44"/>
            <p:cNvSpPr>
              <a:spLocks noChangeShapeType="1"/>
            </p:cNvSpPr>
            <p:nvPr/>
          </p:nvSpPr>
          <p:spPr bwMode="auto">
            <a:xfrm flipV="1">
              <a:off x="1880" y="3550"/>
              <a:ext cx="710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3" name="Text Box 45"/>
            <p:cNvSpPr txBox="1">
              <a:spLocks noChangeArrowheads="1"/>
            </p:cNvSpPr>
            <p:nvPr/>
          </p:nvSpPr>
          <p:spPr bwMode="auto">
            <a:xfrm>
              <a:off x="2004" y="3355"/>
              <a:ext cx="459" cy="4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400">
                  <a:sym typeface="Symbol" pitchFamily="18" charset="2"/>
                </a:rPr>
                <a:t>colour</a:t>
              </a:r>
            </a:p>
            <a:p>
              <a:pPr algn="ctr"/>
              <a:r>
                <a:rPr lang="en-GB" sz="1400">
                  <a:sym typeface="Symbol" pitchFamily="18" charset="2"/>
                </a:rPr>
                <a:t>burst</a:t>
              </a:r>
            </a:p>
            <a:p>
              <a:pPr algn="ctr"/>
              <a:r>
                <a:rPr lang="en-GB" sz="1400">
                  <a:sym typeface="Symbol" pitchFamily="18" charset="2"/>
                </a:rPr>
                <a:t>2.5</a:t>
              </a:r>
              <a:r>
                <a:rPr lang="en-GB" sz="1400"/>
                <a:t>S</a:t>
              </a:r>
              <a:endParaRPr lang="en-GB"/>
            </a:p>
          </p:txBody>
        </p:sp>
        <p:sp>
          <p:nvSpPr>
            <p:cNvPr id="24604" name="Line 46"/>
            <p:cNvSpPr>
              <a:spLocks noChangeShapeType="1"/>
            </p:cNvSpPr>
            <p:nvPr/>
          </p:nvSpPr>
          <p:spPr bwMode="auto">
            <a:xfrm flipV="1">
              <a:off x="2610" y="2866"/>
              <a:ext cx="0" cy="75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5" name="Line 47"/>
            <p:cNvSpPr>
              <a:spLocks noChangeShapeType="1"/>
            </p:cNvSpPr>
            <p:nvPr/>
          </p:nvSpPr>
          <p:spPr bwMode="auto">
            <a:xfrm flipV="1">
              <a:off x="1866" y="2850"/>
              <a:ext cx="0" cy="75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6" name="Line 48"/>
            <p:cNvSpPr>
              <a:spLocks noChangeShapeType="1"/>
            </p:cNvSpPr>
            <p:nvPr/>
          </p:nvSpPr>
          <p:spPr bwMode="auto">
            <a:xfrm flipV="1">
              <a:off x="1602" y="2850"/>
              <a:ext cx="0" cy="75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7" name="Line 49"/>
            <p:cNvSpPr>
              <a:spLocks noChangeShapeType="1"/>
            </p:cNvSpPr>
            <p:nvPr/>
          </p:nvSpPr>
          <p:spPr bwMode="auto">
            <a:xfrm flipV="1">
              <a:off x="2802" y="2866"/>
              <a:ext cx="0" cy="75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08" name="Text Box 50"/>
            <p:cNvSpPr txBox="1">
              <a:spLocks noChangeArrowheads="1"/>
            </p:cNvSpPr>
            <p:nvPr/>
          </p:nvSpPr>
          <p:spPr bwMode="auto">
            <a:xfrm>
              <a:off x="3016" y="3091"/>
              <a:ext cx="420" cy="4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400" dirty="0">
                  <a:sym typeface="Symbol" pitchFamily="18" charset="2"/>
                </a:rPr>
                <a:t>Back</a:t>
              </a:r>
            </a:p>
            <a:p>
              <a:pPr algn="ctr"/>
              <a:r>
                <a:rPr lang="en-GB" sz="1400" dirty="0">
                  <a:sym typeface="Symbol" pitchFamily="18" charset="2"/>
                </a:rPr>
                <a:t>Porch</a:t>
              </a:r>
            </a:p>
            <a:p>
              <a:pPr algn="ctr"/>
              <a:r>
                <a:rPr lang="en-GB" sz="1400" dirty="0">
                  <a:sym typeface="Symbol" pitchFamily="18" charset="2"/>
                </a:rPr>
                <a:t>1.6</a:t>
              </a:r>
              <a:r>
                <a:rPr lang="en-GB" sz="1400" dirty="0"/>
                <a:t>S</a:t>
              </a:r>
              <a:endParaRPr lang="en-GB" dirty="0"/>
            </a:p>
          </p:txBody>
        </p:sp>
        <p:sp>
          <p:nvSpPr>
            <p:cNvPr id="24609" name="Line 51"/>
            <p:cNvSpPr>
              <a:spLocks noChangeShapeType="1"/>
            </p:cNvSpPr>
            <p:nvPr/>
          </p:nvSpPr>
          <p:spPr bwMode="auto">
            <a:xfrm flipH="1" flipV="1">
              <a:off x="2720" y="3120"/>
              <a:ext cx="288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10" name="Line 52"/>
            <p:cNvSpPr>
              <a:spLocks noChangeShapeType="1"/>
            </p:cNvSpPr>
            <p:nvPr/>
          </p:nvSpPr>
          <p:spPr bwMode="auto">
            <a:xfrm flipH="1" flipV="1">
              <a:off x="642" y="2850"/>
              <a:ext cx="8" cy="1094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11" name="Text Box 53"/>
            <p:cNvSpPr txBox="1">
              <a:spLocks noChangeArrowheads="1"/>
            </p:cNvSpPr>
            <p:nvPr/>
          </p:nvSpPr>
          <p:spPr bwMode="auto">
            <a:xfrm>
              <a:off x="868" y="3844"/>
              <a:ext cx="153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>
                  <a:sym typeface="Symbol" pitchFamily="18" charset="2"/>
                </a:rPr>
                <a:t>Breezeway 1.6</a:t>
              </a:r>
              <a:r>
                <a:rPr lang="en-GB" sz="1400"/>
                <a:t>S</a:t>
              </a:r>
              <a:endParaRPr lang="en-GB"/>
            </a:p>
          </p:txBody>
        </p:sp>
        <p:sp>
          <p:nvSpPr>
            <p:cNvPr id="24612" name="Line 54"/>
            <p:cNvSpPr>
              <a:spLocks noChangeShapeType="1"/>
            </p:cNvSpPr>
            <p:nvPr/>
          </p:nvSpPr>
          <p:spPr bwMode="auto">
            <a:xfrm flipV="1">
              <a:off x="1632" y="3416"/>
              <a:ext cx="88" cy="4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613" name="Text Box 55"/>
            <p:cNvSpPr txBox="1">
              <a:spLocks noChangeArrowheads="1"/>
            </p:cNvSpPr>
            <p:nvPr/>
          </p:nvSpPr>
          <p:spPr bwMode="auto">
            <a:xfrm>
              <a:off x="244" y="3467"/>
              <a:ext cx="420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400">
                  <a:sym typeface="Symbol" pitchFamily="18" charset="2"/>
                </a:rPr>
                <a:t>Front</a:t>
              </a:r>
            </a:p>
            <a:p>
              <a:pPr algn="ctr"/>
              <a:r>
                <a:rPr lang="en-GB" sz="1400">
                  <a:sym typeface="Symbol" pitchFamily="18" charset="2"/>
                </a:rPr>
                <a:t>Porch</a:t>
              </a:r>
            </a:p>
            <a:p>
              <a:pPr algn="ctr"/>
              <a:r>
                <a:rPr lang="en-GB" sz="1400">
                  <a:sym typeface="Symbol" pitchFamily="18" charset="2"/>
                </a:rPr>
                <a:t>1.6</a:t>
              </a:r>
              <a:r>
                <a:rPr lang="en-GB" sz="1400"/>
                <a:t>S</a:t>
              </a:r>
              <a:endParaRPr lang="en-GB"/>
            </a:p>
          </p:txBody>
        </p:sp>
      </p:grpSp>
      <p:sp>
        <p:nvSpPr>
          <p:cNvPr id="24596" name="Text Box 56"/>
          <p:cNvSpPr txBox="1">
            <a:spLocks noChangeArrowheads="1"/>
          </p:cNvSpPr>
          <p:nvPr/>
        </p:nvSpPr>
        <p:spPr bwMode="auto">
          <a:xfrm>
            <a:off x="381000" y="381000"/>
            <a:ext cx="267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Scan Line Details</a:t>
            </a:r>
          </a:p>
        </p:txBody>
      </p:sp>
      <p:sp>
        <p:nvSpPr>
          <p:cNvPr id="24597" name="Text Box 57"/>
          <p:cNvSpPr txBox="1">
            <a:spLocks noChangeArrowheads="1"/>
          </p:cNvSpPr>
          <p:nvPr/>
        </p:nvSpPr>
        <p:spPr bwMode="auto">
          <a:xfrm>
            <a:off x="5767252" y="4210050"/>
            <a:ext cx="3376748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/>
            <a:r>
              <a:rPr lang="en-GB" sz="1600" b="1" dirty="0"/>
              <a:t>Typical waveform of a TV signal</a:t>
            </a:r>
          </a:p>
          <a:p>
            <a:pPr marL="185738" indent="-185738">
              <a:buFontTx/>
              <a:buChar char="•"/>
            </a:pPr>
            <a:r>
              <a:rPr lang="en-GB" sz="1600" dirty="0"/>
              <a:t>Blanking – when the beam reaches the end of a line, the must be blanked as the beam flies back to the start of the next line (i.e. so it is not visible on the screen</a:t>
            </a:r>
            <a:endParaRPr lang="en-GB" sz="1600" b="1" dirty="0"/>
          </a:p>
        </p:txBody>
      </p:sp>
      <p:sp>
        <p:nvSpPr>
          <p:cNvPr id="24598" name="Line 58"/>
          <p:cNvSpPr>
            <a:spLocks noChangeShapeType="1"/>
          </p:cNvSpPr>
          <p:nvPr/>
        </p:nvSpPr>
        <p:spPr bwMode="auto">
          <a:xfrm>
            <a:off x="381000" y="3384550"/>
            <a:ext cx="7723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cxnSp>
        <p:nvCxnSpPr>
          <p:cNvPr id="8" name="Straight Connector 7"/>
          <p:cNvCxnSpPr>
            <a:endCxn id="24594" idx="1"/>
          </p:cNvCxnSpPr>
          <p:nvPr/>
        </p:nvCxnSpPr>
        <p:spPr>
          <a:xfrm flipV="1">
            <a:off x="195942" y="2416175"/>
            <a:ext cx="185057" cy="179387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2191928" y="2317480"/>
            <a:ext cx="3157676" cy="1587499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79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5"/>
          <p:cNvSpPr>
            <a:spLocks noChangeArrowheads="1"/>
          </p:cNvSpPr>
          <p:nvPr/>
        </p:nvSpPr>
        <p:spPr bwMode="auto">
          <a:xfrm>
            <a:off x="433388" y="361950"/>
            <a:ext cx="68818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Several Lines Progressing Down The Screen...</a:t>
            </a:r>
          </a:p>
        </p:txBody>
      </p:sp>
      <p:grpSp>
        <p:nvGrpSpPr>
          <p:cNvPr id="2" name="Group 317"/>
          <p:cNvGrpSpPr>
            <a:grpSpLocks/>
          </p:cNvGrpSpPr>
          <p:nvPr/>
        </p:nvGrpSpPr>
        <p:grpSpPr bwMode="auto">
          <a:xfrm>
            <a:off x="200025" y="1447800"/>
            <a:ext cx="8953500" cy="2163763"/>
            <a:chOff x="126" y="912"/>
            <a:chExt cx="5640" cy="1363"/>
          </a:xfrm>
        </p:grpSpPr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273" y="912"/>
              <a:ext cx="339" cy="1048"/>
              <a:chOff x="240" y="880"/>
              <a:chExt cx="5264" cy="1048"/>
            </a:xfrm>
          </p:grpSpPr>
          <p:sp>
            <p:nvSpPr>
              <p:cNvPr id="25744" name="Freeform 5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747" name="Line 7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48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49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50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51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52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5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54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746" name="Line 19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612" y="920"/>
              <a:ext cx="338" cy="1048"/>
              <a:chOff x="240" y="880"/>
              <a:chExt cx="5264" cy="1048"/>
            </a:xfrm>
          </p:grpSpPr>
          <p:sp>
            <p:nvSpPr>
              <p:cNvPr id="25733" name="Freeform 27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736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37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38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39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40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41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42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43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735" name="Line 37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" name="Group 39"/>
            <p:cNvGrpSpPr>
              <a:grpSpLocks/>
            </p:cNvGrpSpPr>
            <p:nvPr/>
          </p:nvGrpSpPr>
          <p:grpSpPr bwMode="auto">
            <a:xfrm>
              <a:off x="950" y="912"/>
              <a:ext cx="339" cy="1048"/>
              <a:chOff x="240" y="880"/>
              <a:chExt cx="5264" cy="1048"/>
            </a:xfrm>
          </p:grpSpPr>
          <p:sp>
            <p:nvSpPr>
              <p:cNvPr id="25722" name="Freeform 40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8" name="Group 41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725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26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27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28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29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30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31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32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724" name="Line 50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9" name="Group 51"/>
            <p:cNvGrpSpPr>
              <a:grpSpLocks/>
            </p:cNvGrpSpPr>
            <p:nvPr/>
          </p:nvGrpSpPr>
          <p:grpSpPr bwMode="auto">
            <a:xfrm>
              <a:off x="1289" y="920"/>
              <a:ext cx="338" cy="1048"/>
              <a:chOff x="240" y="880"/>
              <a:chExt cx="5264" cy="1048"/>
            </a:xfrm>
          </p:grpSpPr>
          <p:sp>
            <p:nvSpPr>
              <p:cNvPr id="25711" name="Freeform 52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0" name="Group 53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714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15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16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17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18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19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20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21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713" name="Line 62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1" name="Group 63"/>
            <p:cNvGrpSpPr>
              <a:grpSpLocks/>
            </p:cNvGrpSpPr>
            <p:nvPr/>
          </p:nvGrpSpPr>
          <p:grpSpPr bwMode="auto">
            <a:xfrm>
              <a:off x="1627" y="920"/>
              <a:ext cx="339" cy="1048"/>
              <a:chOff x="240" y="880"/>
              <a:chExt cx="5264" cy="1048"/>
            </a:xfrm>
          </p:grpSpPr>
          <p:sp>
            <p:nvSpPr>
              <p:cNvPr id="25700" name="Freeform 64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2" name="Group 65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703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04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05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06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07" name="Line 70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08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09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710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702" name="Line 74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3" name="Group 75"/>
            <p:cNvGrpSpPr>
              <a:grpSpLocks/>
            </p:cNvGrpSpPr>
            <p:nvPr/>
          </p:nvGrpSpPr>
          <p:grpSpPr bwMode="auto">
            <a:xfrm>
              <a:off x="1966" y="928"/>
              <a:ext cx="338" cy="1048"/>
              <a:chOff x="240" y="880"/>
              <a:chExt cx="5264" cy="1048"/>
            </a:xfrm>
          </p:grpSpPr>
          <p:sp>
            <p:nvSpPr>
              <p:cNvPr id="25689" name="Freeform 76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4" name="Group 77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69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93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94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95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96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97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98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99" name="Line 85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691" name="Line 86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5" name="Group 87"/>
            <p:cNvGrpSpPr>
              <a:grpSpLocks/>
            </p:cNvGrpSpPr>
            <p:nvPr/>
          </p:nvGrpSpPr>
          <p:grpSpPr bwMode="auto">
            <a:xfrm>
              <a:off x="2304" y="920"/>
              <a:ext cx="339" cy="1048"/>
              <a:chOff x="240" y="880"/>
              <a:chExt cx="5264" cy="1048"/>
            </a:xfrm>
          </p:grpSpPr>
          <p:sp>
            <p:nvSpPr>
              <p:cNvPr id="25678" name="Freeform 88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6" name="Group 89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681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82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83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84" name="Line 93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85" name="Line 94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86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87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88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680" name="Line 98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7" name="Group 99"/>
            <p:cNvGrpSpPr>
              <a:grpSpLocks/>
            </p:cNvGrpSpPr>
            <p:nvPr/>
          </p:nvGrpSpPr>
          <p:grpSpPr bwMode="auto">
            <a:xfrm>
              <a:off x="2643" y="928"/>
              <a:ext cx="338" cy="1048"/>
              <a:chOff x="240" y="880"/>
              <a:chExt cx="5264" cy="1048"/>
            </a:xfrm>
          </p:grpSpPr>
          <p:sp>
            <p:nvSpPr>
              <p:cNvPr id="25667" name="Freeform 100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8" name="Group 101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670" name="Line 102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71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72" name="Line 104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73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74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75" name="Line 107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76" name="Line 108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77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669" name="Line 110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19" name="Group 112"/>
            <p:cNvGrpSpPr>
              <a:grpSpLocks/>
            </p:cNvGrpSpPr>
            <p:nvPr/>
          </p:nvGrpSpPr>
          <p:grpSpPr bwMode="auto">
            <a:xfrm>
              <a:off x="4238" y="920"/>
              <a:ext cx="339" cy="1048"/>
              <a:chOff x="240" y="880"/>
              <a:chExt cx="5264" cy="1048"/>
            </a:xfrm>
          </p:grpSpPr>
          <p:sp>
            <p:nvSpPr>
              <p:cNvPr id="25656" name="Freeform 113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20" name="Group 114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659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60" name="Line 116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61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62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63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64" name="Line 120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65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66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658" name="Line 123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21" name="Group 124"/>
            <p:cNvGrpSpPr>
              <a:grpSpLocks/>
            </p:cNvGrpSpPr>
            <p:nvPr/>
          </p:nvGrpSpPr>
          <p:grpSpPr bwMode="auto">
            <a:xfrm>
              <a:off x="4577" y="928"/>
              <a:ext cx="338" cy="1048"/>
              <a:chOff x="240" y="880"/>
              <a:chExt cx="5264" cy="1048"/>
            </a:xfrm>
          </p:grpSpPr>
          <p:sp>
            <p:nvSpPr>
              <p:cNvPr id="25645" name="Freeform 125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22" name="Group 126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648" name="Line 127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49" name="Line 128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50" name="Line 129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51" name="Line 130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52" name="Line 131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53" name="Line 132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54" name="Line 133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55" name="Line 134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647" name="Line 135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23" name="Group 136"/>
            <p:cNvGrpSpPr>
              <a:grpSpLocks/>
            </p:cNvGrpSpPr>
            <p:nvPr/>
          </p:nvGrpSpPr>
          <p:grpSpPr bwMode="auto">
            <a:xfrm>
              <a:off x="4915" y="920"/>
              <a:ext cx="339" cy="1048"/>
              <a:chOff x="240" y="880"/>
              <a:chExt cx="5264" cy="1048"/>
            </a:xfrm>
          </p:grpSpPr>
          <p:sp>
            <p:nvSpPr>
              <p:cNvPr id="25634" name="Freeform 137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24" name="Group 138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637" name="Line 139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38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39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40" name="Line 142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41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42" name="Line 144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43" name="Line 145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44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636" name="Line 147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25" name="Group 148"/>
            <p:cNvGrpSpPr>
              <a:grpSpLocks/>
            </p:cNvGrpSpPr>
            <p:nvPr/>
          </p:nvGrpSpPr>
          <p:grpSpPr bwMode="auto">
            <a:xfrm>
              <a:off x="5254" y="928"/>
              <a:ext cx="194" cy="1048"/>
              <a:chOff x="240" y="880"/>
              <a:chExt cx="5264" cy="1048"/>
            </a:xfrm>
          </p:grpSpPr>
          <p:sp>
            <p:nvSpPr>
              <p:cNvPr id="25623" name="Freeform 149"/>
              <p:cNvSpPr>
                <a:spLocks/>
              </p:cNvSpPr>
              <p:nvPr/>
            </p:nvSpPr>
            <p:spPr bwMode="auto">
              <a:xfrm>
                <a:off x="264" y="880"/>
                <a:ext cx="5240" cy="1048"/>
              </a:xfrm>
              <a:custGeom>
                <a:avLst/>
                <a:gdLst>
                  <a:gd name="T0" fmla="*/ 0 w 5240"/>
                  <a:gd name="T1" fmla="*/ 640 h 1048"/>
                  <a:gd name="T2" fmla="*/ 64 w 5240"/>
                  <a:gd name="T3" fmla="*/ 752 h 1048"/>
                  <a:gd name="T4" fmla="*/ 160 w 5240"/>
                  <a:gd name="T5" fmla="*/ 752 h 1048"/>
                  <a:gd name="T6" fmla="*/ 216 w 5240"/>
                  <a:gd name="T7" fmla="*/ 1048 h 1048"/>
                  <a:gd name="T8" fmla="*/ 440 w 5240"/>
                  <a:gd name="T9" fmla="*/ 1048 h 1048"/>
                  <a:gd name="T10" fmla="*/ 496 w 5240"/>
                  <a:gd name="T11" fmla="*/ 736 h 1048"/>
                  <a:gd name="T12" fmla="*/ 888 w 5240"/>
                  <a:gd name="T13" fmla="*/ 736 h 1048"/>
                  <a:gd name="T14" fmla="*/ 960 w 5240"/>
                  <a:gd name="T15" fmla="*/ 648 h 1048"/>
                  <a:gd name="T16" fmla="*/ 1088 w 5240"/>
                  <a:gd name="T17" fmla="*/ 648 h 1048"/>
                  <a:gd name="T18" fmla="*/ 1256 w 5240"/>
                  <a:gd name="T19" fmla="*/ 0 h 1048"/>
                  <a:gd name="T20" fmla="*/ 4472 w 5240"/>
                  <a:gd name="T21" fmla="*/ 0 h 1048"/>
                  <a:gd name="T22" fmla="*/ 4592 w 5240"/>
                  <a:gd name="T23" fmla="*/ 640 h 1048"/>
                  <a:gd name="T24" fmla="*/ 4680 w 5240"/>
                  <a:gd name="T25" fmla="*/ 640 h 1048"/>
                  <a:gd name="T26" fmla="*/ 4712 w 5240"/>
                  <a:gd name="T27" fmla="*/ 744 h 1048"/>
                  <a:gd name="T28" fmla="*/ 4824 w 5240"/>
                  <a:gd name="T29" fmla="*/ 744 h 1048"/>
                  <a:gd name="T30" fmla="*/ 4896 w 5240"/>
                  <a:gd name="T31" fmla="*/ 1048 h 1048"/>
                  <a:gd name="T32" fmla="*/ 5128 w 5240"/>
                  <a:gd name="T33" fmla="*/ 1040 h 1048"/>
                  <a:gd name="T34" fmla="*/ 5184 w 5240"/>
                  <a:gd name="T35" fmla="*/ 752 h 1048"/>
                  <a:gd name="T36" fmla="*/ 5240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26" name="Group 150"/>
              <p:cNvGrpSpPr>
                <a:grpSpLocks/>
              </p:cNvGrpSpPr>
              <p:nvPr/>
            </p:nvGrpSpPr>
            <p:grpSpPr bwMode="auto">
              <a:xfrm>
                <a:off x="864" y="1526"/>
                <a:ext cx="240" cy="192"/>
                <a:chOff x="2064" y="1248"/>
                <a:chExt cx="432" cy="468"/>
              </a:xfrm>
            </p:grpSpPr>
            <p:sp>
              <p:nvSpPr>
                <p:cNvPr id="25626" name="Line 151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27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28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29" name="Line 154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30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31" name="Line 156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32" name="Line 157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5633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CC33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5625" name="Line 159"/>
              <p:cNvSpPr>
                <a:spLocks noChangeShapeType="1"/>
              </p:cNvSpPr>
              <p:nvPr/>
            </p:nvSpPr>
            <p:spPr bwMode="auto">
              <a:xfrm flipV="1">
                <a:off x="240" y="1154"/>
                <a:ext cx="0" cy="63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5618" name="Line 161"/>
            <p:cNvSpPr>
              <a:spLocks noChangeShapeType="1"/>
            </p:cNvSpPr>
            <p:nvPr/>
          </p:nvSpPr>
          <p:spPr bwMode="auto">
            <a:xfrm>
              <a:off x="2981" y="912"/>
              <a:ext cx="1259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619" name="Line 162"/>
            <p:cNvSpPr>
              <a:spLocks noChangeShapeType="1"/>
            </p:cNvSpPr>
            <p:nvPr/>
          </p:nvSpPr>
          <p:spPr bwMode="auto">
            <a:xfrm>
              <a:off x="2981" y="1566"/>
              <a:ext cx="1259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620" name="Line 163"/>
            <p:cNvSpPr>
              <a:spLocks noChangeShapeType="1"/>
            </p:cNvSpPr>
            <p:nvPr/>
          </p:nvSpPr>
          <p:spPr bwMode="auto">
            <a:xfrm>
              <a:off x="2981" y="1750"/>
              <a:ext cx="1259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621" name="Line 164"/>
            <p:cNvSpPr>
              <a:spLocks noChangeShapeType="1"/>
            </p:cNvSpPr>
            <p:nvPr/>
          </p:nvSpPr>
          <p:spPr bwMode="auto">
            <a:xfrm>
              <a:off x="2979" y="1950"/>
              <a:ext cx="1259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622" name="Text Box 165"/>
            <p:cNvSpPr txBox="1">
              <a:spLocks noChangeArrowheads="1"/>
            </p:cNvSpPr>
            <p:nvPr/>
          </p:nvSpPr>
          <p:spPr bwMode="auto">
            <a:xfrm>
              <a:off x="126" y="2083"/>
              <a:ext cx="5640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dirty="0"/>
                <a:t>Line 1........2.......3.......4........5........6.......7........8........ 9 to 309 ...................310...311.....312...312½ </a:t>
              </a:r>
            </a:p>
          </p:txBody>
        </p:sp>
      </p:grpSp>
      <p:sp>
        <p:nvSpPr>
          <p:cNvPr id="25604" name="Text Box 318"/>
          <p:cNvSpPr txBox="1">
            <a:spLocks noChangeArrowheads="1"/>
          </p:cNvSpPr>
          <p:nvPr/>
        </p:nvSpPr>
        <p:spPr bwMode="auto">
          <a:xfrm>
            <a:off x="433388" y="4351338"/>
            <a:ext cx="798512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>
              <a:buFontTx/>
              <a:buChar char="•"/>
            </a:pPr>
            <a:r>
              <a:rPr lang="en-GB" sz="1600" dirty="0"/>
              <a:t>The scanned lines have now reached the middle of the bottom of the screen</a:t>
            </a:r>
          </a:p>
          <a:p>
            <a:pPr marL="533400" lvl="1" indent="-176213">
              <a:buFontTx/>
              <a:buChar char="•"/>
            </a:pPr>
            <a:r>
              <a:rPr lang="en-GB" sz="1600" dirty="0"/>
              <a:t>hence the half line at the end</a:t>
            </a:r>
          </a:p>
          <a:p>
            <a:pPr marL="533400" lvl="1" indent="-176213">
              <a:buFontTx/>
              <a:buChar char="•"/>
            </a:pPr>
            <a:endParaRPr lang="en-GB" sz="1600" dirty="0"/>
          </a:p>
          <a:p>
            <a:pPr marL="177800" indent="-177800">
              <a:buFontTx/>
              <a:buChar char="•"/>
            </a:pPr>
            <a:r>
              <a:rPr lang="en-GB" sz="1600" dirty="0"/>
              <a:t>Now they need a sync pulse to get the beam back to the top of the screen for Field 2</a:t>
            </a:r>
          </a:p>
        </p:txBody>
      </p:sp>
      <p:sp>
        <p:nvSpPr>
          <p:cNvPr id="25605" name="Text Box 319"/>
          <p:cNvSpPr txBox="1">
            <a:spLocks noChangeArrowheads="1"/>
          </p:cNvSpPr>
          <p:nvPr/>
        </p:nvSpPr>
        <p:spPr bwMode="auto">
          <a:xfrm>
            <a:off x="436563" y="1035050"/>
            <a:ext cx="79851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A series of line scans for Field 1:</a:t>
            </a:r>
          </a:p>
        </p:txBody>
      </p:sp>
    </p:spTree>
    <p:extLst>
      <p:ext uri="{BB962C8B-B14F-4D97-AF65-F5344CB8AC3E}">
        <p14:creationId xmlns:p14="http://schemas.microsoft.com/office/powerpoint/2010/main" val="201193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5"/>
          <p:cNvGrpSpPr>
            <a:grpSpLocks/>
          </p:cNvGrpSpPr>
          <p:nvPr/>
        </p:nvGrpSpPr>
        <p:grpSpPr bwMode="auto">
          <a:xfrm>
            <a:off x="433388" y="1419225"/>
            <a:ext cx="8710612" cy="2266951"/>
            <a:chOff x="273" y="894"/>
            <a:chExt cx="5487" cy="1428"/>
          </a:xfrm>
        </p:grpSpPr>
        <p:grpSp>
          <p:nvGrpSpPr>
            <p:cNvPr id="3" name="Group 308"/>
            <p:cNvGrpSpPr>
              <a:grpSpLocks/>
            </p:cNvGrpSpPr>
            <p:nvPr/>
          </p:nvGrpSpPr>
          <p:grpSpPr bwMode="auto">
            <a:xfrm>
              <a:off x="2553" y="910"/>
              <a:ext cx="2895" cy="1092"/>
              <a:chOff x="1965" y="910"/>
              <a:chExt cx="3483" cy="1092"/>
            </a:xfrm>
          </p:grpSpPr>
          <p:sp>
            <p:nvSpPr>
              <p:cNvPr id="26761" name="Freeform 6"/>
              <p:cNvSpPr>
                <a:spLocks/>
              </p:cNvSpPr>
              <p:nvPr/>
            </p:nvSpPr>
            <p:spPr bwMode="auto">
              <a:xfrm>
                <a:off x="2161" y="920"/>
                <a:ext cx="337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5 w 5240"/>
                  <a:gd name="T17" fmla="*/ 648 h 1048"/>
                  <a:gd name="T18" fmla="*/ 5 w 5240"/>
                  <a:gd name="T19" fmla="*/ 0 h 1048"/>
                  <a:gd name="T20" fmla="*/ 19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2" name="Line 8"/>
              <p:cNvSpPr>
                <a:spLocks noChangeShapeType="1"/>
              </p:cNvSpPr>
              <p:nvPr/>
            </p:nvSpPr>
            <p:spPr bwMode="auto">
              <a:xfrm flipH="1">
                <a:off x="2199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3" name="Line 9"/>
              <p:cNvSpPr>
                <a:spLocks noChangeShapeType="1"/>
              </p:cNvSpPr>
              <p:nvPr/>
            </p:nvSpPr>
            <p:spPr bwMode="auto">
              <a:xfrm flipH="1">
                <a:off x="2201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4" name="Line 10"/>
              <p:cNvSpPr>
                <a:spLocks noChangeShapeType="1"/>
              </p:cNvSpPr>
              <p:nvPr/>
            </p:nvSpPr>
            <p:spPr bwMode="auto">
              <a:xfrm flipH="1">
                <a:off x="2203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5" name="Line 11"/>
              <p:cNvSpPr>
                <a:spLocks noChangeShapeType="1"/>
              </p:cNvSpPr>
              <p:nvPr/>
            </p:nvSpPr>
            <p:spPr bwMode="auto">
              <a:xfrm flipH="1">
                <a:off x="2204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6" name="Line 12"/>
              <p:cNvSpPr>
                <a:spLocks noChangeShapeType="1"/>
              </p:cNvSpPr>
              <p:nvPr/>
            </p:nvSpPr>
            <p:spPr bwMode="auto">
              <a:xfrm flipH="1">
                <a:off x="2206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7" name="Line 13"/>
              <p:cNvSpPr>
                <a:spLocks noChangeShapeType="1"/>
              </p:cNvSpPr>
              <p:nvPr/>
            </p:nvSpPr>
            <p:spPr bwMode="auto">
              <a:xfrm flipH="1">
                <a:off x="2208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8" name="Line 14"/>
              <p:cNvSpPr>
                <a:spLocks noChangeShapeType="1"/>
              </p:cNvSpPr>
              <p:nvPr/>
            </p:nvSpPr>
            <p:spPr bwMode="auto">
              <a:xfrm flipH="1">
                <a:off x="2210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69" name="Line 15"/>
              <p:cNvSpPr>
                <a:spLocks noChangeShapeType="1"/>
              </p:cNvSpPr>
              <p:nvPr/>
            </p:nvSpPr>
            <p:spPr bwMode="auto">
              <a:xfrm flipH="1">
                <a:off x="2211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0" name="Line 16"/>
              <p:cNvSpPr>
                <a:spLocks noChangeShapeType="1"/>
              </p:cNvSpPr>
              <p:nvPr/>
            </p:nvSpPr>
            <p:spPr bwMode="auto">
              <a:xfrm flipV="1">
                <a:off x="2159" y="1194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1" name="Freeform 18"/>
              <p:cNvSpPr>
                <a:spLocks/>
              </p:cNvSpPr>
              <p:nvPr/>
            </p:nvSpPr>
            <p:spPr bwMode="auto">
              <a:xfrm>
                <a:off x="2500" y="928"/>
                <a:ext cx="336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4 w 5240"/>
                  <a:gd name="T17" fmla="*/ 648 h 1048"/>
                  <a:gd name="T18" fmla="*/ 5 w 5240"/>
                  <a:gd name="T19" fmla="*/ 0 h 1048"/>
                  <a:gd name="T20" fmla="*/ 18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2" name="Line 20"/>
              <p:cNvSpPr>
                <a:spLocks noChangeShapeType="1"/>
              </p:cNvSpPr>
              <p:nvPr/>
            </p:nvSpPr>
            <p:spPr bwMode="auto">
              <a:xfrm flipH="1">
                <a:off x="2538" y="1574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3" name="Line 21"/>
              <p:cNvSpPr>
                <a:spLocks noChangeShapeType="1"/>
              </p:cNvSpPr>
              <p:nvPr/>
            </p:nvSpPr>
            <p:spPr bwMode="auto">
              <a:xfrm flipH="1">
                <a:off x="2540" y="1574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4" name="Line 22"/>
              <p:cNvSpPr>
                <a:spLocks noChangeShapeType="1"/>
              </p:cNvSpPr>
              <p:nvPr/>
            </p:nvSpPr>
            <p:spPr bwMode="auto">
              <a:xfrm flipH="1">
                <a:off x="2541" y="1574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5" name="Line 23"/>
              <p:cNvSpPr>
                <a:spLocks noChangeShapeType="1"/>
              </p:cNvSpPr>
              <p:nvPr/>
            </p:nvSpPr>
            <p:spPr bwMode="auto">
              <a:xfrm flipH="1">
                <a:off x="2543" y="1574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6" name="Line 24"/>
              <p:cNvSpPr>
                <a:spLocks noChangeShapeType="1"/>
              </p:cNvSpPr>
              <p:nvPr/>
            </p:nvSpPr>
            <p:spPr bwMode="auto">
              <a:xfrm flipH="1">
                <a:off x="2545" y="1574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7" name="Line 25"/>
              <p:cNvSpPr>
                <a:spLocks noChangeShapeType="1"/>
              </p:cNvSpPr>
              <p:nvPr/>
            </p:nvSpPr>
            <p:spPr bwMode="auto">
              <a:xfrm flipH="1">
                <a:off x="2546" y="1574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8" name="Line 26"/>
              <p:cNvSpPr>
                <a:spLocks noChangeShapeType="1"/>
              </p:cNvSpPr>
              <p:nvPr/>
            </p:nvSpPr>
            <p:spPr bwMode="auto">
              <a:xfrm flipH="1">
                <a:off x="2548" y="1574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79" name="Line 27"/>
              <p:cNvSpPr>
                <a:spLocks noChangeShapeType="1"/>
              </p:cNvSpPr>
              <p:nvPr/>
            </p:nvSpPr>
            <p:spPr bwMode="auto">
              <a:xfrm flipH="1">
                <a:off x="2550" y="1574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0" name="Line 28"/>
              <p:cNvSpPr>
                <a:spLocks noChangeShapeType="1"/>
              </p:cNvSpPr>
              <p:nvPr/>
            </p:nvSpPr>
            <p:spPr bwMode="auto">
              <a:xfrm flipV="1">
                <a:off x="2498" y="1202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1" name="Freeform 30"/>
              <p:cNvSpPr>
                <a:spLocks/>
              </p:cNvSpPr>
              <p:nvPr/>
            </p:nvSpPr>
            <p:spPr bwMode="auto">
              <a:xfrm>
                <a:off x="2838" y="920"/>
                <a:ext cx="337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5 w 5240"/>
                  <a:gd name="T17" fmla="*/ 648 h 1048"/>
                  <a:gd name="T18" fmla="*/ 5 w 5240"/>
                  <a:gd name="T19" fmla="*/ 0 h 1048"/>
                  <a:gd name="T20" fmla="*/ 19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2" name="Line 32"/>
              <p:cNvSpPr>
                <a:spLocks noChangeShapeType="1"/>
              </p:cNvSpPr>
              <p:nvPr/>
            </p:nvSpPr>
            <p:spPr bwMode="auto">
              <a:xfrm flipH="1">
                <a:off x="2876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3" name="Line 33"/>
              <p:cNvSpPr>
                <a:spLocks noChangeShapeType="1"/>
              </p:cNvSpPr>
              <p:nvPr/>
            </p:nvSpPr>
            <p:spPr bwMode="auto">
              <a:xfrm flipH="1">
                <a:off x="2878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4" name="Line 34"/>
              <p:cNvSpPr>
                <a:spLocks noChangeShapeType="1"/>
              </p:cNvSpPr>
              <p:nvPr/>
            </p:nvSpPr>
            <p:spPr bwMode="auto">
              <a:xfrm flipH="1">
                <a:off x="2880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5" name="Line 35"/>
              <p:cNvSpPr>
                <a:spLocks noChangeShapeType="1"/>
              </p:cNvSpPr>
              <p:nvPr/>
            </p:nvSpPr>
            <p:spPr bwMode="auto">
              <a:xfrm flipH="1">
                <a:off x="2881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6" name="Line 36"/>
              <p:cNvSpPr>
                <a:spLocks noChangeShapeType="1"/>
              </p:cNvSpPr>
              <p:nvPr/>
            </p:nvSpPr>
            <p:spPr bwMode="auto">
              <a:xfrm flipH="1">
                <a:off x="2883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7" name="Line 37"/>
              <p:cNvSpPr>
                <a:spLocks noChangeShapeType="1"/>
              </p:cNvSpPr>
              <p:nvPr/>
            </p:nvSpPr>
            <p:spPr bwMode="auto">
              <a:xfrm flipH="1">
                <a:off x="2885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8" name="Line 38"/>
              <p:cNvSpPr>
                <a:spLocks noChangeShapeType="1"/>
              </p:cNvSpPr>
              <p:nvPr/>
            </p:nvSpPr>
            <p:spPr bwMode="auto">
              <a:xfrm flipH="1">
                <a:off x="2887" y="1566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89" name="Line 39"/>
              <p:cNvSpPr>
                <a:spLocks noChangeShapeType="1"/>
              </p:cNvSpPr>
              <p:nvPr/>
            </p:nvSpPr>
            <p:spPr bwMode="auto">
              <a:xfrm flipH="1">
                <a:off x="2888" y="1566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0" name="Line 40"/>
              <p:cNvSpPr>
                <a:spLocks noChangeShapeType="1"/>
              </p:cNvSpPr>
              <p:nvPr/>
            </p:nvSpPr>
            <p:spPr bwMode="auto">
              <a:xfrm flipV="1">
                <a:off x="2836" y="1194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1" name="Freeform 102"/>
              <p:cNvSpPr>
                <a:spLocks/>
              </p:cNvSpPr>
              <p:nvPr/>
            </p:nvSpPr>
            <p:spPr bwMode="auto">
              <a:xfrm>
                <a:off x="4434" y="946"/>
                <a:ext cx="337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5 w 5240"/>
                  <a:gd name="T17" fmla="*/ 648 h 1048"/>
                  <a:gd name="T18" fmla="*/ 5 w 5240"/>
                  <a:gd name="T19" fmla="*/ 0 h 1048"/>
                  <a:gd name="T20" fmla="*/ 19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2" name="Line 104"/>
              <p:cNvSpPr>
                <a:spLocks noChangeShapeType="1"/>
              </p:cNvSpPr>
              <p:nvPr/>
            </p:nvSpPr>
            <p:spPr bwMode="auto">
              <a:xfrm flipH="1">
                <a:off x="4472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3" name="Line 105"/>
              <p:cNvSpPr>
                <a:spLocks noChangeShapeType="1"/>
              </p:cNvSpPr>
              <p:nvPr/>
            </p:nvSpPr>
            <p:spPr bwMode="auto">
              <a:xfrm flipH="1">
                <a:off x="4474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4" name="Line 106"/>
              <p:cNvSpPr>
                <a:spLocks noChangeShapeType="1"/>
              </p:cNvSpPr>
              <p:nvPr/>
            </p:nvSpPr>
            <p:spPr bwMode="auto">
              <a:xfrm flipH="1">
                <a:off x="4476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5" name="Line 107"/>
              <p:cNvSpPr>
                <a:spLocks noChangeShapeType="1"/>
              </p:cNvSpPr>
              <p:nvPr/>
            </p:nvSpPr>
            <p:spPr bwMode="auto">
              <a:xfrm flipH="1">
                <a:off x="4477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6" name="Line 108"/>
              <p:cNvSpPr>
                <a:spLocks noChangeShapeType="1"/>
              </p:cNvSpPr>
              <p:nvPr/>
            </p:nvSpPr>
            <p:spPr bwMode="auto">
              <a:xfrm flipH="1">
                <a:off x="4479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7" name="Line 109"/>
              <p:cNvSpPr>
                <a:spLocks noChangeShapeType="1"/>
              </p:cNvSpPr>
              <p:nvPr/>
            </p:nvSpPr>
            <p:spPr bwMode="auto">
              <a:xfrm flipH="1">
                <a:off x="4481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8" name="Line 110"/>
              <p:cNvSpPr>
                <a:spLocks noChangeShapeType="1"/>
              </p:cNvSpPr>
              <p:nvPr/>
            </p:nvSpPr>
            <p:spPr bwMode="auto">
              <a:xfrm flipH="1">
                <a:off x="4483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99" name="Line 111"/>
              <p:cNvSpPr>
                <a:spLocks noChangeShapeType="1"/>
              </p:cNvSpPr>
              <p:nvPr/>
            </p:nvSpPr>
            <p:spPr bwMode="auto">
              <a:xfrm flipH="1">
                <a:off x="4484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0" name="Line 112"/>
              <p:cNvSpPr>
                <a:spLocks noChangeShapeType="1"/>
              </p:cNvSpPr>
              <p:nvPr/>
            </p:nvSpPr>
            <p:spPr bwMode="auto">
              <a:xfrm flipV="1">
                <a:off x="4432" y="1220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1" name="Freeform 114"/>
              <p:cNvSpPr>
                <a:spLocks/>
              </p:cNvSpPr>
              <p:nvPr/>
            </p:nvSpPr>
            <p:spPr bwMode="auto">
              <a:xfrm>
                <a:off x="4773" y="954"/>
                <a:ext cx="336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4 w 5240"/>
                  <a:gd name="T17" fmla="*/ 648 h 1048"/>
                  <a:gd name="T18" fmla="*/ 5 w 5240"/>
                  <a:gd name="T19" fmla="*/ 0 h 1048"/>
                  <a:gd name="T20" fmla="*/ 18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2" name="Line 116"/>
              <p:cNvSpPr>
                <a:spLocks noChangeShapeType="1"/>
              </p:cNvSpPr>
              <p:nvPr/>
            </p:nvSpPr>
            <p:spPr bwMode="auto">
              <a:xfrm flipH="1">
                <a:off x="4811" y="1600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3" name="Line 117"/>
              <p:cNvSpPr>
                <a:spLocks noChangeShapeType="1"/>
              </p:cNvSpPr>
              <p:nvPr/>
            </p:nvSpPr>
            <p:spPr bwMode="auto">
              <a:xfrm flipH="1">
                <a:off x="4813" y="1600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4" name="Line 118"/>
              <p:cNvSpPr>
                <a:spLocks noChangeShapeType="1"/>
              </p:cNvSpPr>
              <p:nvPr/>
            </p:nvSpPr>
            <p:spPr bwMode="auto">
              <a:xfrm flipH="1">
                <a:off x="4814" y="1600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5" name="Line 119"/>
              <p:cNvSpPr>
                <a:spLocks noChangeShapeType="1"/>
              </p:cNvSpPr>
              <p:nvPr/>
            </p:nvSpPr>
            <p:spPr bwMode="auto">
              <a:xfrm flipH="1">
                <a:off x="4816" y="1600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6" name="Line 120"/>
              <p:cNvSpPr>
                <a:spLocks noChangeShapeType="1"/>
              </p:cNvSpPr>
              <p:nvPr/>
            </p:nvSpPr>
            <p:spPr bwMode="auto">
              <a:xfrm flipH="1">
                <a:off x="4818" y="1600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7" name="Line 121"/>
              <p:cNvSpPr>
                <a:spLocks noChangeShapeType="1"/>
              </p:cNvSpPr>
              <p:nvPr/>
            </p:nvSpPr>
            <p:spPr bwMode="auto">
              <a:xfrm flipH="1">
                <a:off x="4819" y="1600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8" name="Line 122"/>
              <p:cNvSpPr>
                <a:spLocks noChangeShapeType="1"/>
              </p:cNvSpPr>
              <p:nvPr/>
            </p:nvSpPr>
            <p:spPr bwMode="auto">
              <a:xfrm flipH="1">
                <a:off x="4821" y="1600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09" name="Line 123"/>
              <p:cNvSpPr>
                <a:spLocks noChangeShapeType="1"/>
              </p:cNvSpPr>
              <p:nvPr/>
            </p:nvSpPr>
            <p:spPr bwMode="auto">
              <a:xfrm flipH="1">
                <a:off x="4823" y="1600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0" name="Line 124"/>
              <p:cNvSpPr>
                <a:spLocks noChangeShapeType="1"/>
              </p:cNvSpPr>
              <p:nvPr/>
            </p:nvSpPr>
            <p:spPr bwMode="auto">
              <a:xfrm flipV="1">
                <a:off x="4771" y="1228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1" name="Freeform 126"/>
              <p:cNvSpPr>
                <a:spLocks/>
              </p:cNvSpPr>
              <p:nvPr/>
            </p:nvSpPr>
            <p:spPr bwMode="auto">
              <a:xfrm>
                <a:off x="5111" y="946"/>
                <a:ext cx="337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5 w 5240"/>
                  <a:gd name="T17" fmla="*/ 648 h 1048"/>
                  <a:gd name="T18" fmla="*/ 5 w 5240"/>
                  <a:gd name="T19" fmla="*/ 0 h 1048"/>
                  <a:gd name="T20" fmla="*/ 19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2" name="Line 128"/>
              <p:cNvSpPr>
                <a:spLocks noChangeShapeType="1"/>
              </p:cNvSpPr>
              <p:nvPr/>
            </p:nvSpPr>
            <p:spPr bwMode="auto">
              <a:xfrm flipH="1">
                <a:off x="5149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3" name="Line 129"/>
              <p:cNvSpPr>
                <a:spLocks noChangeShapeType="1"/>
              </p:cNvSpPr>
              <p:nvPr/>
            </p:nvSpPr>
            <p:spPr bwMode="auto">
              <a:xfrm flipH="1">
                <a:off x="5151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4" name="Line 130"/>
              <p:cNvSpPr>
                <a:spLocks noChangeShapeType="1"/>
              </p:cNvSpPr>
              <p:nvPr/>
            </p:nvSpPr>
            <p:spPr bwMode="auto">
              <a:xfrm flipH="1">
                <a:off x="5153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5" name="Line 131"/>
              <p:cNvSpPr>
                <a:spLocks noChangeShapeType="1"/>
              </p:cNvSpPr>
              <p:nvPr/>
            </p:nvSpPr>
            <p:spPr bwMode="auto">
              <a:xfrm flipH="1">
                <a:off x="5154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6" name="Line 132"/>
              <p:cNvSpPr>
                <a:spLocks noChangeShapeType="1"/>
              </p:cNvSpPr>
              <p:nvPr/>
            </p:nvSpPr>
            <p:spPr bwMode="auto">
              <a:xfrm flipH="1">
                <a:off x="5156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7" name="Line 133"/>
              <p:cNvSpPr>
                <a:spLocks noChangeShapeType="1"/>
              </p:cNvSpPr>
              <p:nvPr/>
            </p:nvSpPr>
            <p:spPr bwMode="auto">
              <a:xfrm flipH="1">
                <a:off x="5158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8" name="Line 134"/>
              <p:cNvSpPr>
                <a:spLocks noChangeShapeType="1"/>
              </p:cNvSpPr>
              <p:nvPr/>
            </p:nvSpPr>
            <p:spPr bwMode="auto">
              <a:xfrm flipH="1">
                <a:off x="5160" y="1592"/>
                <a:ext cx="3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19" name="Line 135"/>
              <p:cNvSpPr>
                <a:spLocks noChangeShapeType="1"/>
              </p:cNvSpPr>
              <p:nvPr/>
            </p:nvSpPr>
            <p:spPr bwMode="auto">
              <a:xfrm flipH="1">
                <a:off x="5161" y="1592"/>
                <a:ext cx="4" cy="192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820" name="Line 136"/>
              <p:cNvSpPr>
                <a:spLocks noChangeShapeType="1"/>
              </p:cNvSpPr>
              <p:nvPr/>
            </p:nvSpPr>
            <p:spPr bwMode="auto">
              <a:xfrm flipV="1">
                <a:off x="5109" y="1220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4" name="Group 307"/>
              <p:cNvGrpSpPr>
                <a:grpSpLocks/>
              </p:cNvGrpSpPr>
              <p:nvPr/>
            </p:nvGrpSpPr>
            <p:grpSpPr bwMode="auto">
              <a:xfrm>
                <a:off x="1965" y="910"/>
                <a:ext cx="194" cy="1048"/>
                <a:chOff x="1965" y="910"/>
                <a:chExt cx="194" cy="1048"/>
              </a:xfrm>
            </p:grpSpPr>
            <p:sp>
              <p:nvSpPr>
                <p:cNvPr id="26826" name="Freeform 138"/>
                <p:cNvSpPr>
                  <a:spLocks/>
                </p:cNvSpPr>
                <p:nvPr/>
              </p:nvSpPr>
              <p:spPr bwMode="auto">
                <a:xfrm>
                  <a:off x="1966" y="910"/>
                  <a:ext cx="193" cy="1048"/>
                </a:xfrm>
                <a:custGeom>
                  <a:avLst/>
                  <a:gdLst>
                    <a:gd name="T0" fmla="*/ 0 w 5240"/>
                    <a:gd name="T1" fmla="*/ 640 h 1048"/>
                    <a:gd name="T2" fmla="*/ 0 w 5240"/>
                    <a:gd name="T3" fmla="*/ 752 h 1048"/>
                    <a:gd name="T4" fmla="*/ 0 w 5240"/>
                    <a:gd name="T5" fmla="*/ 752 h 1048"/>
                    <a:gd name="T6" fmla="*/ 0 w 5240"/>
                    <a:gd name="T7" fmla="*/ 1048 h 1048"/>
                    <a:gd name="T8" fmla="*/ 1 w 5240"/>
                    <a:gd name="T9" fmla="*/ 1048 h 1048"/>
                    <a:gd name="T10" fmla="*/ 1 w 5240"/>
                    <a:gd name="T11" fmla="*/ 736 h 1048"/>
                    <a:gd name="T12" fmla="*/ 1 w 5240"/>
                    <a:gd name="T13" fmla="*/ 736 h 1048"/>
                    <a:gd name="T14" fmla="*/ 1 w 5240"/>
                    <a:gd name="T15" fmla="*/ 648 h 1048"/>
                    <a:gd name="T16" fmla="*/ 1 w 5240"/>
                    <a:gd name="T17" fmla="*/ 648 h 1048"/>
                    <a:gd name="T18" fmla="*/ 2 w 5240"/>
                    <a:gd name="T19" fmla="*/ 0 h 1048"/>
                    <a:gd name="T20" fmla="*/ 6 w 5240"/>
                    <a:gd name="T21" fmla="*/ 0 h 1048"/>
                    <a:gd name="T22" fmla="*/ 6 w 5240"/>
                    <a:gd name="T23" fmla="*/ 640 h 1048"/>
                    <a:gd name="T24" fmla="*/ 6 w 5240"/>
                    <a:gd name="T25" fmla="*/ 640 h 1048"/>
                    <a:gd name="T26" fmla="*/ 6 w 5240"/>
                    <a:gd name="T27" fmla="*/ 744 h 1048"/>
                    <a:gd name="T28" fmla="*/ 7 w 5240"/>
                    <a:gd name="T29" fmla="*/ 744 h 1048"/>
                    <a:gd name="T30" fmla="*/ 7 w 5240"/>
                    <a:gd name="T31" fmla="*/ 1048 h 1048"/>
                    <a:gd name="T32" fmla="*/ 7 w 5240"/>
                    <a:gd name="T33" fmla="*/ 1040 h 1048"/>
                    <a:gd name="T34" fmla="*/ 7 w 5240"/>
                    <a:gd name="T35" fmla="*/ 752 h 1048"/>
                    <a:gd name="T36" fmla="*/ 7 w 5240"/>
                    <a:gd name="T37" fmla="*/ 752 h 104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5240"/>
                    <a:gd name="T58" fmla="*/ 0 h 1048"/>
                    <a:gd name="T59" fmla="*/ 5240 w 5240"/>
                    <a:gd name="T60" fmla="*/ 1048 h 104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5240" h="1048">
                      <a:moveTo>
                        <a:pt x="0" y="640"/>
                      </a:moveTo>
                      <a:lnTo>
                        <a:pt x="64" y="752"/>
                      </a:lnTo>
                      <a:lnTo>
                        <a:pt x="160" y="752"/>
                      </a:lnTo>
                      <a:lnTo>
                        <a:pt x="216" y="1048"/>
                      </a:lnTo>
                      <a:lnTo>
                        <a:pt x="440" y="1048"/>
                      </a:lnTo>
                      <a:lnTo>
                        <a:pt x="496" y="736"/>
                      </a:lnTo>
                      <a:lnTo>
                        <a:pt x="888" y="736"/>
                      </a:lnTo>
                      <a:lnTo>
                        <a:pt x="960" y="648"/>
                      </a:lnTo>
                      <a:lnTo>
                        <a:pt x="1088" y="648"/>
                      </a:lnTo>
                      <a:lnTo>
                        <a:pt x="1256" y="0"/>
                      </a:lnTo>
                      <a:lnTo>
                        <a:pt x="4472" y="0"/>
                      </a:lnTo>
                      <a:lnTo>
                        <a:pt x="4592" y="640"/>
                      </a:lnTo>
                      <a:lnTo>
                        <a:pt x="4680" y="640"/>
                      </a:lnTo>
                      <a:lnTo>
                        <a:pt x="4712" y="744"/>
                      </a:lnTo>
                      <a:lnTo>
                        <a:pt x="4824" y="744"/>
                      </a:lnTo>
                      <a:lnTo>
                        <a:pt x="4896" y="1048"/>
                      </a:lnTo>
                      <a:lnTo>
                        <a:pt x="5128" y="1040"/>
                      </a:lnTo>
                      <a:lnTo>
                        <a:pt x="5184" y="752"/>
                      </a:lnTo>
                      <a:lnTo>
                        <a:pt x="5240" y="752"/>
                      </a:lnTo>
                    </a:path>
                  </a:pathLst>
                </a:custGeom>
                <a:noFill/>
                <a:ln w="28575" cmpd="sng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5" name="Group 139"/>
                <p:cNvGrpSpPr>
                  <a:grpSpLocks/>
                </p:cNvGrpSpPr>
                <p:nvPr/>
              </p:nvGrpSpPr>
              <p:grpSpPr bwMode="auto">
                <a:xfrm>
                  <a:off x="1988" y="1556"/>
                  <a:ext cx="9" cy="192"/>
                  <a:chOff x="2064" y="1248"/>
                  <a:chExt cx="432" cy="468"/>
                </a:xfrm>
              </p:grpSpPr>
              <p:sp>
                <p:nvSpPr>
                  <p:cNvPr id="26829" name="Line 1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64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26830" name="Line 1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12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26831" name="Line 1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60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26832" name="Line 14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08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26833" name="Line 1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56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26834" name="Line 1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04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26835" name="Line 1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52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26836" name="Line 1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00" y="1248"/>
                    <a:ext cx="96" cy="468"/>
                  </a:xfrm>
                  <a:prstGeom prst="line">
                    <a:avLst/>
                  </a:prstGeom>
                  <a:noFill/>
                  <a:ln w="28575">
                    <a:solidFill>
                      <a:srgbClr val="FF0066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26828" name="Line 148"/>
                <p:cNvSpPr>
                  <a:spLocks noChangeShapeType="1"/>
                </p:cNvSpPr>
                <p:nvPr/>
              </p:nvSpPr>
              <p:spPr bwMode="auto">
                <a:xfrm flipV="1">
                  <a:off x="1965" y="1184"/>
                  <a:ext cx="0" cy="630"/>
                </a:xfrm>
                <a:prstGeom prst="line">
                  <a:avLst/>
                </a:prstGeom>
                <a:noFill/>
                <a:ln w="19050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6822" name="Line 149"/>
              <p:cNvSpPr>
                <a:spLocks noChangeShapeType="1"/>
              </p:cNvSpPr>
              <p:nvPr/>
            </p:nvSpPr>
            <p:spPr bwMode="auto">
              <a:xfrm>
                <a:off x="3175" y="938"/>
                <a:ext cx="1259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823" name="Line 150"/>
              <p:cNvSpPr>
                <a:spLocks noChangeShapeType="1"/>
              </p:cNvSpPr>
              <p:nvPr/>
            </p:nvSpPr>
            <p:spPr bwMode="auto">
              <a:xfrm>
                <a:off x="3175" y="1592"/>
                <a:ext cx="1259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824" name="Line 151"/>
              <p:cNvSpPr>
                <a:spLocks noChangeShapeType="1"/>
              </p:cNvSpPr>
              <p:nvPr/>
            </p:nvSpPr>
            <p:spPr bwMode="auto">
              <a:xfrm>
                <a:off x="3175" y="1776"/>
                <a:ext cx="1259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825" name="Line 152"/>
              <p:cNvSpPr>
                <a:spLocks noChangeShapeType="1"/>
              </p:cNvSpPr>
              <p:nvPr/>
            </p:nvSpPr>
            <p:spPr bwMode="auto">
              <a:xfrm>
                <a:off x="3173" y="1976"/>
                <a:ext cx="1259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6677" name="Text Box 153"/>
            <p:cNvSpPr txBox="1">
              <a:spLocks noChangeArrowheads="1"/>
            </p:cNvSpPr>
            <p:nvPr/>
          </p:nvSpPr>
          <p:spPr bwMode="auto">
            <a:xfrm>
              <a:off x="1048" y="2109"/>
              <a:ext cx="4712" cy="2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600" dirty="0"/>
                <a:t>.........312½ ..................</a:t>
              </a:r>
              <a:r>
                <a:rPr lang="en-GB" sz="1200" dirty="0"/>
                <a:t> </a:t>
              </a:r>
              <a:r>
                <a:rPr lang="en-GB" sz="1600" dirty="0"/>
                <a:t>½ </a:t>
              </a:r>
              <a:r>
                <a:rPr lang="en-GB" sz="1200" dirty="0"/>
                <a:t>................................ to ..................................625</a:t>
              </a:r>
            </a:p>
          </p:txBody>
        </p:sp>
        <p:grpSp>
          <p:nvGrpSpPr>
            <p:cNvPr id="6" name="Group 309"/>
            <p:cNvGrpSpPr>
              <a:grpSpLocks/>
            </p:cNvGrpSpPr>
            <p:nvPr/>
          </p:nvGrpSpPr>
          <p:grpSpPr bwMode="auto">
            <a:xfrm>
              <a:off x="273" y="894"/>
              <a:ext cx="1355" cy="1064"/>
              <a:chOff x="273" y="904"/>
              <a:chExt cx="1549" cy="1064"/>
            </a:xfrm>
          </p:grpSpPr>
          <p:sp>
            <p:nvSpPr>
              <p:cNvPr id="26712" name="Freeform 254"/>
              <p:cNvSpPr>
                <a:spLocks/>
              </p:cNvSpPr>
              <p:nvPr/>
            </p:nvSpPr>
            <p:spPr bwMode="auto">
              <a:xfrm>
                <a:off x="614" y="912"/>
                <a:ext cx="337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5 w 5240"/>
                  <a:gd name="T17" fmla="*/ 648 h 1048"/>
                  <a:gd name="T18" fmla="*/ 5 w 5240"/>
                  <a:gd name="T19" fmla="*/ 0 h 1048"/>
                  <a:gd name="T20" fmla="*/ 19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7" name="Group 255"/>
              <p:cNvGrpSpPr>
                <a:grpSpLocks/>
              </p:cNvGrpSpPr>
              <p:nvPr/>
            </p:nvGrpSpPr>
            <p:grpSpPr bwMode="auto">
              <a:xfrm>
                <a:off x="652" y="1558"/>
                <a:ext cx="16" cy="192"/>
                <a:chOff x="2064" y="1248"/>
                <a:chExt cx="432" cy="468"/>
              </a:xfrm>
            </p:grpSpPr>
            <p:sp>
              <p:nvSpPr>
                <p:cNvPr id="26753" name="Line 256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4" name="Line 257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5" name="Line 258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6" name="Line 259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7" name="Line 260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8" name="Line 261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9" name="Line 262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60" name="Line 263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6714" name="Freeform 266"/>
              <p:cNvSpPr>
                <a:spLocks/>
              </p:cNvSpPr>
              <p:nvPr/>
            </p:nvSpPr>
            <p:spPr bwMode="auto">
              <a:xfrm>
                <a:off x="953" y="920"/>
                <a:ext cx="336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4 w 5240"/>
                  <a:gd name="T17" fmla="*/ 648 h 1048"/>
                  <a:gd name="T18" fmla="*/ 5 w 5240"/>
                  <a:gd name="T19" fmla="*/ 0 h 1048"/>
                  <a:gd name="T20" fmla="*/ 18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8" name="Group 267"/>
              <p:cNvGrpSpPr>
                <a:grpSpLocks/>
              </p:cNvGrpSpPr>
              <p:nvPr/>
            </p:nvGrpSpPr>
            <p:grpSpPr bwMode="auto">
              <a:xfrm>
                <a:off x="991" y="1566"/>
                <a:ext cx="15" cy="192"/>
                <a:chOff x="2064" y="1248"/>
                <a:chExt cx="432" cy="468"/>
              </a:xfrm>
            </p:grpSpPr>
            <p:sp>
              <p:nvSpPr>
                <p:cNvPr id="26745" name="Line 268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6" name="Line 269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7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8" name="Line 271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9" name="Line 272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0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1" name="Line 274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52" name="Line 275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6716" name="Line 276"/>
              <p:cNvSpPr>
                <a:spLocks noChangeShapeType="1"/>
              </p:cNvSpPr>
              <p:nvPr/>
            </p:nvSpPr>
            <p:spPr bwMode="auto">
              <a:xfrm flipV="1">
                <a:off x="951" y="1194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17" name="Freeform 278"/>
              <p:cNvSpPr>
                <a:spLocks/>
              </p:cNvSpPr>
              <p:nvPr/>
            </p:nvSpPr>
            <p:spPr bwMode="auto">
              <a:xfrm>
                <a:off x="1291" y="912"/>
                <a:ext cx="337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1 w 5240"/>
                  <a:gd name="T5" fmla="*/ 752 h 1048"/>
                  <a:gd name="T6" fmla="*/ 1 w 5240"/>
                  <a:gd name="T7" fmla="*/ 1048 h 1048"/>
                  <a:gd name="T8" fmla="*/ 2 w 5240"/>
                  <a:gd name="T9" fmla="*/ 1048 h 1048"/>
                  <a:gd name="T10" fmla="*/ 2 w 5240"/>
                  <a:gd name="T11" fmla="*/ 736 h 1048"/>
                  <a:gd name="T12" fmla="*/ 4 w 5240"/>
                  <a:gd name="T13" fmla="*/ 736 h 1048"/>
                  <a:gd name="T14" fmla="*/ 4 w 5240"/>
                  <a:gd name="T15" fmla="*/ 648 h 1048"/>
                  <a:gd name="T16" fmla="*/ 5 w 5240"/>
                  <a:gd name="T17" fmla="*/ 648 h 1048"/>
                  <a:gd name="T18" fmla="*/ 5 w 5240"/>
                  <a:gd name="T19" fmla="*/ 0 h 1048"/>
                  <a:gd name="T20" fmla="*/ 19 w 5240"/>
                  <a:gd name="T21" fmla="*/ 0 h 1048"/>
                  <a:gd name="T22" fmla="*/ 19 w 5240"/>
                  <a:gd name="T23" fmla="*/ 640 h 1048"/>
                  <a:gd name="T24" fmla="*/ 19 w 5240"/>
                  <a:gd name="T25" fmla="*/ 640 h 1048"/>
                  <a:gd name="T26" fmla="*/ 19 w 5240"/>
                  <a:gd name="T27" fmla="*/ 744 h 1048"/>
                  <a:gd name="T28" fmla="*/ 20 w 5240"/>
                  <a:gd name="T29" fmla="*/ 744 h 1048"/>
                  <a:gd name="T30" fmla="*/ 20 w 5240"/>
                  <a:gd name="T31" fmla="*/ 1048 h 1048"/>
                  <a:gd name="T32" fmla="*/ 21 w 5240"/>
                  <a:gd name="T33" fmla="*/ 1040 h 1048"/>
                  <a:gd name="T34" fmla="*/ 21 w 5240"/>
                  <a:gd name="T35" fmla="*/ 752 h 1048"/>
                  <a:gd name="T36" fmla="*/ 22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9" name="Group 279"/>
              <p:cNvGrpSpPr>
                <a:grpSpLocks/>
              </p:cNvGrpSpPr>
              <p:nvPr/>
            </p:nvGrpSpPr>
            <p:grpSpPr bwMode="auto">
              <a:xfrm>
                <a:off x="1329" y="1558"/>
                <a:ext cx="16" cy="192"/>
                <a:chOff x="2064" y="1248"/>
                <a:chExt cx="432" cy="468"/>
              </a:xfrm>
            </p:grpSpPr>
            <p:sp>
              <p:nvSpPr>
                <p:cNvPr id="26737" name="Line 280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8" name="Line 281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9" name="Line 282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0" name="Line 283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1" name="Line 284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2" name="Line 285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3" name="Line 286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44" name="Line 287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6719" name="Line 288"/>
              <p:cNvSpPr>
                <a:spLocks noChangeShapeType="1"/>
              </p:cNvSpPr>
              <p:nvPr/>
            </p:nvSpPr>
            <p:spPr bwMode="auto">
              <a:xfrm flipV="1">
                <a:off x="1289" y="1186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720" name="Freeform 290"/>
              <p:cNvSpPr>
                <a:spLocks/>
              </p:cNvSpPr>
              <p:nvPr/>
            </p:nvSpPr>
            <p:spPr bwMode="auto">
              <a:xfrm>
                <a:off x="1629" y="920"/>
                <a:ext cx="193" cy="1048"/>
              </a:xfrm>
              <a:custGeom>
                <a:avLst/>
                <a:gdLst>
                  <a:gd name="T0" fmla="*/ 0 w 5240"/>
                  <a:gd name="T1" fmla="*/ 640 h 1048"/>
                  <a:gd name="T2" fmla="*/ 0 w 5240"/>
                  <a:gd name="T3" fmla="*/ 752 h 1048"/>
                  <a:gd name="T4" fmla="*/ 0 w 5240"/>
                  <a:gd name="T5" fmla="*/ 752 h 1048"/>
                  <a:gd name="T6" fmla="*/ 0 w 5240"/>
                  <a:gd name="T7" fmla="*/ 1048 h 1048"/>
                  <a:gd name="T8" fmla="*/ 1 w 5240"/>
                  <a:gd name="T9" fmla="*/ 1048 h 1048"/>
                  <a:gd name="T10" fmla="*/ 1 w 5240"/>
                  <a:gd name="T11" fmla="*/ 736 h 1048"/>
                  <a:gd name="T12" fmla="*/ 1 w 5240"/>
                  <a:gd name="T13" fmla="*/ 736 h 1048"/>
                  <a:gd name="T14" fmla="*/ 1 w 5240"/>
                  <a:gd name="T15" fmla="*/ 648 h 1048"/>
                  <a:gd name="T16" fmla="*/ 1 w 5240"/>
                  <a:gd name="T17" fmla="*/ 648 h 1048"/>
                  <a:gd name="T18" fmla="*/ 2 w 5240"/>
                  <a:gd name="T19" fmla="*/ 0 h 1048"/>
                  <a:gd name="T20" fmla="*/ 6 w 5240"/>
                  <a:gd name="T21" fmla="*/ 0 h 1048"/>
                  <a:gd name="T22" fmla="*/ 6 w 5240"/>
                  <a:gd name="T23" fmla="*/ 640 h 1048"/>
                  <a:gd name="T24" fmla="*/ 6 w 5240"/>
                  <a:gd name="T25" fmla="*/ 640 h 1048"/>
                  <a:gd name="T26" fmla="*/ 6 w 5240"/>
                  <a:gd name="T27" fmla="*/ 744 h 1048"/>
                  <a:gd name="T28" fmla="*/ 7 w 5240"/>
                  <a:gd name="T29" fmla="*/ 744 h 1048"/>
                  <a:gd name="T30" fmla="*/ 7 w 5240"/>
                  <a:gd name="T31" fmla="*/ 1048 h 1048"/>
                  <a:gd name="T32" fmla="*/ 7 w 5240"/>
                  <a:gd name="T33" fmla="*/ 1040 h 1048"/>
                  <a:gd name="T34" fmla="*/ 7 w 5240"/>
                  <a:gd name="T35" fmla="*/ 752 h 1048"/>
                  <a:gd name="T36" fmla="*/ 7 w 5240"/>
                  <a:gd name="T37" fmla="*/ 752 h 104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240"/>
                  <a:gd name="T58" fmla="*/ 0 h 1048"/>
                  <a:gd name="T59" fmla="*/ 5240 w 5240"/>
                  <a:gd name="T60" fmla="*/ 1048 h 1048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240" h="1048">
                    <a:moveTo>
                      <a:pt x="0" y="640"/>
                    </a:moveTo>
                    <a:lnTo>
                      <a:pt x="64" y="752"/>
                    </a:lnTo>
                    <a:lnTo>
                      <a:pt x="160" y="752"/>
                    </a:lnTo>
                    <a:lnTo>
                      <a:pt x="216" y="1048"/>
                    </a:lnTo>
                    <a:lnTo>
                      <a:pt x="440" y="1048"/>
                    </a:lnTo>
                    <a:lnTo>
                      <a:pt x="496" y="736"/>
                    </a:lnTo>
                    <a:lnTo>
                      <a:pt x="888" y="736"/>
                    </a:lnTo>
                    <a:lnTo>
                      <a:pt x="960" y="648"/>
                    </a:lnTo>
                    <a:lnTo>
                      <a:pt x="1088" y="648"/>
                    </a:lnTo>
                    <a:lnTo>
                      <a:pt x="1256" y="0"/>
                    </a:lnTo>
                    <a:lnTo>
                      <a:pt x="4472" y="0"/>
                    </a:lnTo>
                    <a:lnTo>
                      <a:pt x="4592" y="640"/>
                    </a:lnTo>
                    <a:lnTo>
                      <a:pt x="4680" y="640"/>
                    </a:lnTo>
                    <a:lnTo>
                      <a:pt x="4712" y="744"/>
                    </a:lnTo>
                    <a:lnTo>
                      <a:pt x="4824" y="744"/>
                    </a:lnTo>
                    <a:lnTo>
                      <a:pt x="4896" y="1048"/>
                    </a:lnTo>
                    <a:lnTo>
                      <a:pt x="5128" y="1040"/>
                    </a:lnTo>
                    <a:lnTo>
                      <a:pt x="5184" y="752"/>
                    </a:lnTo>
                    <a:lnTo>
                      <a:pt x="5240" y="752"/>
                    </a:lnTo>
                  </a:path>
                </a:pathLst>
              </a:custGeom>
              <a:noFill/>
              <a:ln w="28575" cmpd="sng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0" name="Group 291"/>
              <p:cNvGrpSpPr>
                <a:grpSpLocks/>
              </p:cNvGrpSpPr>
              <p:nvPr/>
            </p:nvGrpSpPr>
            <p:grpSpPr bwMode="auto">
              <a:xfrm>
                <a:off x="1651" y="1566"/>
                <a:ext cx="9" cy="192"/>
                <a:chOff x="2064" y="1248"/>
                <a:chExt cx="432" cy="468"/>
              </a:xfrm>
            </p:grpSpPr>
            <p:sp>
              <p:nvSpPr>
                <p:cNvPr id="26729" name="Line 292"/>
                <p:cNvSpPr>
                  <a:spLocks noChangeShapeType="1"/>
                </p:cNvSpPr>
                <p:nvPr/>
              </p:nvSpPr>
              <p:spPr bwMode="auto">
                <a:xfrm flipH="1">
                  <a:off x="206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0" name="Line 293"/>
                <p:cNvSpPr>
                  <a:spLocks noChangeShapeType="1"/>
                </p:cNvSpPr>
                <p:nvPr/>
              </p:nvSpPr>
              <p:spPr bwMode="auto">
                <a:xfrm flipH="1">
                  <a:off x="211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1" name="Line 294"/>
                <p:cNvSpPr>
                  <a:spLocks noChangeShapeType="1"/>
                </p:cNvSpPr>
                <p:nvPr/>
              </p:nvSpPr>
              <p:spPr bwMode="auto">
                <a:xfrm flipH="1">
                  <a:off x="216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2" name="Line 295"/>
                <p:cNvSpPr>
                  <a:spLocks noChangeShapeType="1"/>
                </p:cNvSpPr>
                <p:nvPr/>
              </p:nvSpPr>
              <p:spPr bwMode="auto">
                <a:xfrm flipH="1">
                  <a:off x="2208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3" name="Line 296"/>
                <p:cNvSpPr>
                  <a:spLocks noChangeShapeType="1"/>
                </p:cNvSpPr>
                <p:nvPr/>
              </p:nvSpPr>
              <p:spPr bwMode="auto">
                <a:xfrm flipH="1">
                  <a:off x="2256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4" name="Line 297"/>
                <p:cNvSpPr>
                  <a:spLocks noChangeShapeType="1"/>
                </p:cNvSpPr>
                <p:nvPr/>
              </p:nvSpPr>
              <p:spPr bwMode="auto">
                <a:xfrm flipH="1">
                  <a:off x="2304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5" name="Line 298"/>
                <p:cNvSpPr>
                  <a:spLocks noChangeShapeType="1"/>
                </p:cNvSpPr>
                <p:nvPr/>
              </p:nvSpPr>
              <p:spPr bwMode="auto">
                <a:xfrm flipH="1">
                  <a:off x="2352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36" name="Line 299"/>
                <p:cNvSpPr>
                  <a:spLocks noChangeShapeType="1"/>
                </p:cNvSpPr>
                <p:nvPr/>
              </p:nvSpPr>
              <p:spPr bwMode="auto">
                <a:xfrm flipH="1">
                  <a:off x="2400" y="1248"/>
                  <a:ext cx="96" cy="468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6722" name="Line 300"/>
              <p:cNvSpPr>
                <a:spLocks noChangeShapeType="1"/>
              </p:cNvSpPr>
              <p:nvPr/>
            </p:nvSpPr>
            <p:spPr bwMode="auto">
              <a:xfrm flipV="1">
                <a:off x="1628" y="1194"/>
                <a:ext cx="0" cy="63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1" name="Group 306"/>
              <p:cNvGrpSpPr>
                <a:grpSpLocks/>
              </p:cNvGrpSpPr>
              <p:nvPr/>
            </p:nvGrpSpPr>
            <p:grpSpPr bwMode="auto">
              <a:xfrm>
                <a:off x="273" y="904"/>
                <a:ext cx="341" cy="1038"/>
                <a:chOff x="3014" y="2600"/>
                <a:chExt cx="1261" cy="1038"/>
              </a:xfrm>
            </p:grpSpPr>
            <p:sp>
              <p:nvSpPr>
                <p:cNvPr id="26724" name="Line 264"/>
                <p:cNvSpPr>
                  <a:spLocks noChangeShapeType="1"/>
                </p:cNvSpPr>
                <p:nvPr/>
              </p:nvSpPr>
              <p:spPr bwMode="auto">
                <a:xfrm flipV="1">
                  <a:off x="4273" y="2882"/>
                  <a:ext cx="0" cy="630"/>
                </a:xfrm>
                <a:prstGeom prst="line">
                  <a:avLst/>
                </a:prstGeom>
                <a:noFill/>
                <a:ln w="19050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725" name="Line 301"/>
                <p:cNvSpPr>
                  <a:spLocks noChangeShapeType="1"/>
                </p:cNvSpPr>
                <p:nvPr/>
              </p:nvSpPr>
              <p:spPr bwMode="auto">
                <a:xfrm>
                  <a:off x="3016" y="2600"/>
                  <a:ext cx="125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6" name="Line 302"/>
                <p:cNvSpPr>
                  <a:spLocks noChangeShapeType="1"/>
                </p:cNvSpPr>
                <p:nvPr/>
              </p:nvSpPr>
              <p:spPr bwMode="auto">
                <a:xfrm>
                  <a:off x="3016" y="3254"/>
                  <a:ext cx="125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7" name="Line 303"/>
                <p:cNvSpPr>
                  <a:spLocks noChangeShapeType="1"/>
                </p:cNvSpPr>
                <p:nvPr/>
              </p:nvSpPr>
              <p:spPr bwMode="auto">
                <a:xfrm>
                  <a:off x="3016" y="3438"/>
                  <a:ext cx="125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28" name="Line 304"/>
                <p:cNvSpPr>
                  <a:spLocks noChangeShapeType="1"/>
                </p:cNvSpPr>
                <p:nvPr/>
              </p:nvSpPr>
              <p:spPr bwMode="auto">
                <a:xfrm>
                  <a:off x="3014" y="3638"/>
                  <a:ext cx="125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12" name="Group 342"/>
            <p:cNvGrpSpPr>
              <a:grpSpLocks/>
            </p:cNvGrpSpPr>
            <p:nvPr/>
          </p:nvGrpSpPr>
          <p:grpSpPr bwMode="auto">
            <a:xfrm>
              <a:off x="1606" y="1568"/>
              <a:ext cx="947" cy="400"/>
              <a:chOff x="571" y="2456"/>
              <a:chExt cx="947" cy="344"/>
            </a:xfrm>
          </p:grpSpPr>
          <p:grpSp>
            <p:nvGrpSpPr>
              <p:cNvPr id="13" name="Group 317"/>
              <p:cNvGrpSpPr>
                <a:grpSpLocks/>
              </p:cNvGrpSpPr>
              <p:nvPr/>
            </p:nvGrpSpPr>
            <p:grpSpPr bwMode="auto">
              <a:xfrm>
                <a:off x="571" y="2456"/>
                <a:ext cx="218" cy="344"/>
                <a:chOff x="571" y="2456"/>
                <a:chExt cx="367" cy="344"/>
              </a:xfrm>
            </p:grpSpPr>
            <p:sp>
              <p:nvSpPr>
                <p:cNvPr id="26705" name="Line 310"/>
                <p:cNvSpPr>
                  <a:spLocks noChangeShapeType="1"/>
                </p:cNvSpPr>
                <p:nvPr/>
              </p:nvSpPr>
              <p:spPr bwMode="auto">
                <a:xfrm>
                  <a:off x="571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6" name="Line 311"/>
                <p:cNvSpPr>
                  <a:spLocks noChangeShapeType="1"/>
                </p:cNvSpPr>
                <p:nvPr/>
              </p:nvSpPr>
              <p:spPr bwMode="auto">
                <a:xfrm flipV="1">
                  <a:off x="571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7" name="Line 312"/>
                <p:cNvSpPr>
                  <a:spLocks noChangeShapeType="1"/>
                </p:cNvSpPr>
                <p:nvPr/>
              </p:nvSpPr>
              <p:spPr bwMode="auto">
                <a:xfrm flipV="1">
                  <a:off x="720" y="245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8" name="Line 313"/>
                <p:cNvSpPr>
                  <a:spLocks noChangeShapeType="1"/>
                </p:cNvSpPr>
                <p:nvPr/>
              </p:nvSpPr>
              <p:spPr bwMode="auto">
                <a:xfrm>
                  <a:off x="789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9" name="Line 314"/>
                <p:cNvSpPr>
                  <a:spLocks noChangeShapeType="1"/>
                </p:cNvSpPr>
                <p:nvPr/>
              </p:nvSpPr>
              <p:spPr bwMode="auto">
                <a:xfrm flipV="1">
                  <a:off x="789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0" name="Line 315"/>
                <p:cNvSpPr>
                  <a:spLocks noChangeShapeType="1"/>
                </p:cNvSpPr>
                <p:nvPr/>
              </p:nvSpPr>
              <p:spPr bwMode="auto">
                <a:xfrm flipV="1">
                  <a:off x="938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11" name="Line 316"/>
                <p:cNvSpPr>
                  <a:spLocks noChangeShapeType="1"/>
                </p:cNvSpPr>
                <p:nvPr/>
              </p:nvSpPr>
              <p:spPr bwMode="auto">
                <a:xfrm>
                  <a:off x="720" y="2800"/>
                  <a:ext cx="6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4" name="Group 318"/>
              <p:cNvGrpSpPr>
                <a:grpSpLocks/>
              </p:cNvGrpSpPr>
              <p:nvPr/>
            </p:nvGrpSpPr>
            <p:grpSpPr bwMode="auto">
              <a:xfrm>
                <a:off x="816" y="2456"/>
                <a:ext cx="218" cy="344"/>
                <a:chOff x="571" y="2456"/>
                <a:chExt cx="367" cy="344"/>
              </a:xfrm>
            </p:grpSpPr>
            <p:sp>
              <p:nvSpPr>
                <p:cNvPr id="26698" name="Line 319"/>
                <p:cNvSpPr>
                  <a:spLocks noChangeShapeType="1"/>
                </p:cNvSpPr>
                <p:nvPr/>
              </p:nvSpPr>
              <p:spPr bwMode="auto">
                <a:xfrm>
                  <a:off x="571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9" name="Line 320"/>
                <p:cNvSpPr>
                  <a:spLocks noChangeShapeType="1"/>
                </p:cNvSpPr>
                <p:nvPr/>
              </p:nvSpPr>
              <p:spPr bwMode="auto">
                <a:xfrm flipV="1">
                  <a:off x="571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0" name="Line 321"/>
                <p:cNvSpPr>
                  <a:spLocks noChangeShapeType="1"/>
                </p:cNvSpPr>
                <p:nvPr/>
              </p:nvSpPr>
              <p:spPr bwMode="auto">
                <a:xfrm flipV="1">
                  <a:off x="720" y="245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1" name="Line 322"/>
                <p:cNvSpPr>
                  <a:spLocks noChangeShapeType="1"/>
                </p:cNvSpPr>
                <p:nvPr/>
              </p:nvSpPr>
              <p:spPr bwMode="auto">
                <a:xfrm>
                  <a:off x="789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2" name="Line 323"/>
                <p:cNvSpPr>
                  <a:spLocks noChangeShapeType="1"/>
                </p:cNvSpPr>
                <p:nvPr/>
              </p:nvSpPr>
              <p:spPr bwMode="auto">
                <a:xfrm flipV="1">
                  <a:off x="789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3" name="Line 324"/>
                <p:cNvSpPr>
                  <a:spLocks noChangeShapeType="1"/>
                </p:cNvSpPr>
                <p:nvPr/>
              </p:nvSpPr>
              <p:spPr bwMode="auto">
                <a:xfrm flipV="1">
                  <a:off x="938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704" name="Line 325"/>
                <p:cNvSpPr>
                  <a:spLocks noChangeShapeType="1"/>
                </p:cNvSpPr>
                <p:nvPr/>
              </p:nvSpPr>
              <p:spPr bwMode="auto">
                <a:xfrm>
                  <a:off x="720" y="2800"/>
                  <a:ext cx="6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5" name="Group 326"/>
              <p:cNvGrpSpPr>
                <a:grpSpLocks/>
              </p:cNvGrpSpPr>
              <p:nvPr/>
            </p:nvGrpSpPr>
            <p:grpSpPr bwMode="auto">
              <a:xfrm>
                <a:off x="1055" y="2456"/>
                <a:ext cx="218" cy="344"/>
                <a:chOff x="571" y="2456"/>
                <a:chExt cx="367" cy="344"/>
              </a:xfrm>
            </p:grpSpPr>
            <p:sp>
              <p:nvSpPr>
                <p:cNvPr id="26691" name="Line 327"/>
                <p:cNvSpPr>
                  <a:spLocks noChangeShapeType="1"/>
                </p:cNvSpPr>
                <p:nvPr/>
              </p:nvSpPr>
              <p:spPr bwMode="auto">
                <a:xfrm>
                  <a:off x="571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2" name="Line 328"/>
                <p:cNvSpPr>
                  <a:spLocks noChangeShapeType="1"/>
                </p:cNvSpPr>
                <p:nvPr/>
              </p:nvSpPr>
              <p:spPr bwMode="auto">
                <a:xfrm flipV="1">
                  <a:off x="571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3" name="Line 329"/>
                <p:cNvSpPr>
                  <a:spLocks noChangeShapeType="1"/>
                </p:cNvSpPr>
                <p:nvPr/>
              </p:nvSpPr>
              <p:spPr bwMode="auto">
                <a:xfrm flipV="1">
                  <a:off x="720" y="245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4" name="Line 330"/>
                <p:cNvSpPr>
                  <a:spLocks noChangeShapeType="1"/>
                </p:cNvSpPr>
                <p:nvPr/>
              </p:nvSpPr>
              <p:spPr bwMode="auto">
                <a:xfrm>
                  <a:off x="789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5" name="Line 331"/>
                <p:cNvSpPr>
                  <a:spLocks noChangeShapeType="1"/>
                </p:cNvSpPr>
                <p:nvPr/>
              </p:nvSpPr>
              <p:spPr bwMode="auto">
                <a:xfrm flipV="1">
                  <a:off x="789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6" name="Line 332"/>
                <p:cNvSpPr>
                  <a:spLocks noChangeShapeType="1"/>
                </p:cNvSpPr>
                <p:nvPr/>
              </p:nvSpPr>
              <p:spPr bwMode="auto">
                <a:xfrm flipV="1">
                  <a:off x="938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7" name="Line 333"/>
                <p:cNvSpPr>
                  <a:spLocks noChangeShapeType="1"/>
                </p:cNvSpPr>
                <p:nvPr/>
              </p:nvSpPr>
              <p:spPr bwMode="auto">
                <a:xfrm>
                  <a:off x="720" y="2800"/>
                  <a:ext cx="6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16" name="Group 334"/>
              <p:cNvGrpSpPr>
                <a:grpSpLocks/>
              </p:cNvGrpSpPr>
              <p:nvPr/>
            </p:nvGrpSpPr>
            <p:grpSpPr bwMode="auto">
              <a:xfrm>
                <a:off x="1300" y="2456"/>
                <a:ext cx="218" cy="344"/>
                <a:chOff x="571" y="2456"/>
                <a:chExt cx="367" cy="344"/>
              </a:xfrm>
            </p:grpSpPr>
            <p:sp>
              <p:nvSpPr>
                <p:cNvPr id="26684" name="Line 335"/>
                <p:cNvSpPr>
                  <a:spLocks noChangeShapeType="1"/>
                </p:cNvSpPr>
                <p:nvPr/>
              </p:nvSpPr>
              <p:spPr bwMode="auto">
                <a:xfrm>
                  <a:off x="571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5" name="Line 336"/>
                <p:cNvSpPr>
                  <a:spLocks noChangeShapeType="1"/>
                </p:cNvSpPr>
                <p:nvPr/>
              </p:nvSpPr>
              <p:spPr bwMode="auto">
                <a:xfrm flipV="1">
                  <a:off x="571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6" name="Line 337"/>
                <p:cNvSpPr>
                  <a:spLocks noChangeShapeType="1"/>
                </p:cNvSpPr>
                <p:nvPr/>
              </p:nvSpPr>
              <p:spPr bwMode="auto">
                <a:xfrm flipV="1">
                  <a:off x="720" y="2456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7" name="Line 338"/>
                <p:cNvSpPr>
                  <a:spLocks noChangeShapeType="1"/>
                </p:cNvSpPr>
                <p:nvPr/>
              </p:nvSpPr>
              <p:spPr bwMode="auto">
                <a:xfrm>
                  <a:off x="789" y="2472"/>
                  <a:ext cx="14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8" name="Line 339"/>
                <p:cNvSpPr>
                  <a:spLocks noChangeShapeType="1"/>
                </p:cNvSpPr>
                <p:nvPr/>
              </p:nvSpPr>
              <p:spPr bwMode="auto">
                <a:xfrm flipV="1">
                  <a:off x="789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89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938" y="24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690" name="Line 341"/>
                <p:cNvSpPr>
                  <a:spLocks noChangeShapeType="1"/>
                </p:cNvSpPr>
                <p:nvPr/>
              </p:nvSpPr>
              <p:spPr bwMode="auto">
                <a:xfrm>
                  <a:off x="720" y="2800"/>
                  <a:ext cx="69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27" name="Text Box 343"/>
          <p:cNvSpPr txBox="1">
            <a:spLocks noChangeArrowheads="1"/>
          </p:cNvSpPr>
          <p:nvPr/>
        </p:nvSpPr>
        <p:spPr bwMode="auto">
          <a:xfrm>
            <a:off x="433388" y="989013"/>
            <a:ext cx="74803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end of Field 1 ...............................start of Field 2</a:t>
            </a:r>
            <a:endParaRPr lang="en-GB" sz="1200" dirty="0"/>
          </a:p>
        </p:txBody>
      </p:sp>
      <p:sp>
        <p:nvSpPr>
          <p:cNvPr id="26628" name="Rectangle 344"/>
          <p:cNvSpPr>
            <a:spLocks noChangeArrowheads="1"/>
          </p:cNvSpPr>
          <p:nvPr/>
        </p:nvSpPr>
        <p:spPr bwMode="auto">
          <a:xfrm>
            <a:off x="433388" y="361950"/>
            <a:ext cx="85296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Vertical Sync – Return the Beam to the Top of the Screen</a:t>
            </a:r>
          </a:p>
        </p:txBody>
      </p:sp>
      <p:sp>
        <p:nvSpPr>
          <p:cNvPr id="657754" name="AutoShape 346"/>
          <p:cNvSpPr>
            <a:spLocks noChangeArrowheads="1"/>
          </p:cNvSpPr>
          <p:nvPr/>
        </p:nvSpPr>
        <p:spPr bwMode="auto">
          <a:xfrm>
            <a:off x="2195513" y="4540250"/>
            <a:ext cx="2921000" cy="1191816"/>
          </a:xfrm>
          <a:prstGeom prst="wedgeRoundRectCallout">
            <a:avLst>
              <a:gd name="adj1" fmla="val -12773"/>
              <a:gd name="adj2" fmla="val -1623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Vertical sync pulses – guide beam back to the middle of the top of the screen for Field 2</a:t>
            </a:r>
          </a:p>
        </p:txBody>
      </p:sp>
      <p:grpSp>
        <p:nvGrpSpPr>
          <p:cNvPr id="17" name="Group 349"/>
          <p:cNvGrpSpPr>
            <a:grpSpLocks/>
          </p:cNvGrpSpPr>
          <p:nvPr/>
        </p:nvGrpSpPr>
        <p:grpSpPr bwMode="auto">
          <a:xfrm>
            <a:off x="5868988" y="4227513"/>
            <a:ext cx="2895600" cy="2114550"/>
            <a:chOff x="336" y="1056"/>
            <a:chExt cx="3744" cy="2592"/>
          </a:xfrm>
        </p:grpSpPr>
        <p:sp>
          <p:nvSpPr>
            <p:cNvPr id="26632" name="Rectangle 350"/>
            <p:cNvSpPr>
              <a:spLocks noChangeArrowheads="1"/>
            </p:cNvSpPr>
            <p:nvPr/>
          </p:nvSpPr>
          <p:spPr bwMode="auto">
            <a:xfrm>
              <a:off x="384" y="1056"/>
              <a:ext cx="3648" cy="25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3" name="AutoShape 351"/>
            <p:cNvSpPr>
              <a:spLocks noChangeArrowheads="1"/>
            </p:cNvSpPr>
            <p:nvPr/>
          </p:nvSpPr>
          <p:spPr bwMode="auto">
            <a:xfrm>
              <a:off x="432" y="1104"/>
              <a:ext cx="3552" cy="2496"/>
            </a:xfrm>
            <a:prstGeom prst="flowChartAlternateProcess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4" name="Line 352"/>
            <p:cNvSpPr>
              <a:spLocks noChangeShapeType="1"/>
            </p:cNvSpPr>
            <p:nvPr/>
          </p:nvSpPr>
          <p:spPr bwMode="auto">
            <a:xfrm>
              <a:off x="384" y="1056"/>
              <a:ext cx="3648" cy="33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5" name="Line 353"/>
            <p:cNvSpPr>
              <a:spLocks noChangeShapeType="1"/>
            </p:cNvSpPr>
            <p:nvPr/>
          </p:nvSpPr>
          <p:spPr bwMode="auto">
            <a:xfrm>
              <a:off x="384" y="3408"/>
              <a:ext cx="1920" cy="192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6" name="Line 354"/>
            <p:cNvSpPr>
              <a:spLocks noChangeShapeType="1"/>
            </p:cNvSpPr>
            <p:nvPr/>
          </p:nvSpPr>
          <p:spPr bwMode="auto">
            <a:xfrm flipH="1">
              <a:off x="384" y="3408"/>
              <a:ext cx="3648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7" name="Line 355"/>
            <p:cNvSpPr>
              <a:spLocks noChangeShapeType="1"/>
            </p:cNvSpPr>
            <p:nvPr/>
          </p:nvSpPr>
          <p:spPr bwMode="auto">
            <a:xfrm>
              <a:off x="384" y="3072"/>
              <a:ext cx="3648" cy="33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38" name="Line 356"/>
            <p:cNvSpPr>
              <a:spLocks noChangeShapeType="1"/>
            </p:cNvSpPr>
            <p:nvPr/>
          </p:nvSpPr>
          <p:spPr bwMode="auto">
            <a:xfrm>
              <a:off x="384" y="1392"/>
              <a:ext cx="3648" cy="33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8" name="Group 357"/>
            <p:cNvGrpSpPr>
              <a:grpSpLocks/>
            </p:cNvGrpSpPr>
            <p:nvPr/>
          </p:nvGrpSpPr>
          <p:grpSpPr bwMode="auto">
            <a:xfrm>
              <a:off x="384" y="1392"/>
              <a:ext cx="3648" cy="0"/>
              <a:chOff x="384" y="1392"/>
              <a:chExt cx="3648" cy="0"/>
            </a:xfrm>
          </p:grpSpPr>
          <p:sp>
            <p:nvSpPr>
              <p:cNvPr id="26674" name="Line 358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75" name="Line 359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40" name="Line 360"/>
            <p:cNvSpPr>
              <a:spLocks noChangeShapeType="1"/>
            </p:cNvSpPr>
            <p:nvPr/>
          </p:nvSpPr>
          <p:spPr bwMode="auto">
            <a:xfrm>
              <a:off x="2016" y="3408"/>
              <a:ext cx="384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9" name="Group 361"/>
            <p:cNvGrpSpPr>
              <a:grpSpLocks/>
            </p:cNvGrpSpPr>
            <p:nvPr/>
          </p:nvGrpSpPr>
          <p:grpSpPr bwMode="auto">
            <a:xfrm>
              <a:off x="384" y="1728"/>
              <a:ext cx="3648" cy="0"/>
              <a:chOff x="384" y="1392"/>
              <a:chExt cx="3648" cy="0"/>
            </a:xfrm>
          </p:grpSpPr>
          <p:sp>
            <p:nvSpPr>
              <p:cNvPr id="26672" name="Line 362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73" name="Line 363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42" name="Line 364"/>
            <p:cNvSpPr>
              <a:spLocks noChangeShapeType="1"/>
            </p:cNvSpPr>
            <p:nvPr/>
          </p:nvSpPr>
          <p:spPr bwMode="auto">
            <a:xfrm>
              <a:off x="432" y="1728"/>
              <a:ext cx="3648" cy="33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0" name="Group 365"/>
            <p:cNvGrpSpPr>
              <a:grpSpLocks/>
            </p:cNvGrpSpPr>
            <p:nvPr/>
          </p:nvGrpSpPr>
          <p:grpSpPr bwMode="auto">
            <a:xfrm>
              <a:off x="384" y="2064"/>
              <a:ext cx="3648" cy="0"/>
              <a:chOff x="384" y="1392"/>
              <a:chExt cx="3648" cy="0"/>
            </a:xfrm>
          </p:grpSpPr>
          <p:sp>
            <p:nvSpPr>
              <p:cNvPr id="26670" name="Line 366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71" name="Line 367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44" name="Line 368"/>
            <p:cNvSpPr>
              <a:spLocks noChangeShapeType="1"/>
            </p:cNvSpPr>
            <p:nvPr/>
          </p:nvSpPr>
          <p:spPr bwMode="auto">
            <a:xfrm>
              <a:off x="432" y="2064"/>
              <a:ext cx="3648" cy="33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1" name="Group 369"/>
            <p:cNvGrpSpPr>
              <a:grpSpLocks/>
            </p:cNvGrpSpPr>
            <p:nvPr/>
          </p:nvGrpSpPr>
          <p:grpSpPr bwMode="auto">
            <a:xfrm>
              <a:off x="384" y="2400"/>
              <a:ext cx="3648" cy="0"/>
              <a:chOff x="384" y="1392"/>
              <a:chExt cx="3648" cy="0"/>
            </a:xfrm>
          </p:grpSpPr>
          <p:sp>
            <p:nvSpPr>
              <p:cNvPr id="26668" name="Line 370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69" name="Line 371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46" name="Line 372"/>
            <p:cNvSpPr>
              <a:spLocks noChangeShapeType="1"/>
            </p:cNvSpPr>
            <p:nvPr/>
          </p:nvSpPr>
          <p:spPr bwMode="auto">
            <a:xfrm>
              <a:off x="384" y="2400"/>
              <a:ext cx="3648" cy="33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2" name="Group 373"/>
            <p:cNvGrpSpPr>
              <a:grpSpLocks/>
            </p:cNvGrpSpPr>
            <p:nvPr/>
          </p:nvGrpSpPr>
          <p:grpSpPr bwMode="auto">
            <a:xfrm>
              <a:off x="384" y="2736"/>
              <a:ext cx="3648" cy="0"/>
              <a:chOff x="384" y="1392"/>
              <a:chExt cx="3648" cy="0"/>
            </a:xfrm>
          </p:grpSpPr>
          <p:sp>
            <p:nvSpPr>
              <p:cNvPr id="26666" name="Line 374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67" name="Line 375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48" name="Line 376"/>
            <p:cNvSpPr>
              <a:spLocks noChangeShapeType="1"/>
            </p:cNvSpPr>
            <p:nvPr/>
          </p:nvSpPr>
          <p:spPr bwMode="auto">
            <a:xfrm>
              <a:off x="384" y="2736"/>
              <a:ext cx="3648" cy="33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3" name="Group 377"/>
            <p:cNvGrpSpPr>
              <a:grpSpLocks/>
            </p:cNvGrpSpPr>
            <p:nvPr/>
          </p:nvGrpSpPr>
          <p:grpSpPr bwMode="auto">
            <a:xfrm>
              <a:off x="384" y="3072"/>
              <a:ext cx="3648" cy="0"/>
              <a:chOff x="384" y="1392"/>
              <a:chExt cx="3648" cy="0"/>
            </a:xfrm>
          </p:grpSpPr>
          <p:sp>
            <p:nvSpPr>
              <p:cNvPr id="26664" name="Line 378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65" name="Line 379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50" name="Rectangle 380"/>
            <p:cNvSpPr>
              <a:spLocks noChangeArrowheads="1"/>
            </p:cNvSpPr>
            <p:nvPr/>
          </p:nvSpPr>
          <p:spPr bwMode="auto">
            <a:xfrm>
              <a:off x="336" y="1056"/>
              <a:ext cx="3744" cy="2592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1" name="Line 381"/>
            <p:cNvSpPr>
              <a:spLocks noChangeShapeType="1"/>
            </p:cNvSpPr>
            <p:nvPr/>
          </p:nvSpPr>
          <p:spPr bwMode="auto">
            <a:xfrm flipV="1">
              <a:off x="2256" y="1104"/>
              <a:ext cx="0" cy="249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652" name="Line 382"/>
            <p:cNvSpPr>
              <a:spLocks noChangeShapeType="1"/>
            </p:cNvSpPr>
            <p:nvPr/>
          </p:nvSpPr>
          <p:spPr bwMode="auto">
            <a:xfrm>
              <a:off x="2256" y="1056"/>
              <a:ext cx="1776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4" name="Group 383"/>
            <p:cNvGrpSpPr>
              <a:grpSpLocks/>
            </p:cNvGrpSpPr>
            <p:nvPr/>
          </p:nvGrpSpPr>
          <p:grpSpPr bwMode="auto">
            <a:xfrm>
              <a:off x="336" y="1248"/>
              <a:ext cx="3648" cy="0"/>
              <a:chOff x="384" y="1392"/>
              <a:chExt cx="3648" cy="0"/>
            </a:xfrm>
          </p:grpSpPr>
          <p:sp>
            <p:nvSpPr>
              <p:cNvPr id="26662" name="Line 384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63" name="Line 385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54" name="Line 386"/>
            <p:cNvSpPr>
              <a:spLocks noChangeShapeType="1"/>
            </p:cNvSpPr>
            <p:nvPr/>
          </p:nvSpPr>
          <p:spPr bwMode="auto">
            <a:xfrm>
              <a:off x="432" y="1248"/>
              <a:ext cx="3648" cy="3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5" name="Group 387"/>
            <p:cNvGrpSpPr>
              <a:grpSpLocks/>
            </p:cNvGrpSpPr>
            <p:nvPr/>
          </p:nvGrpSpPr>
          <p:grpSpPr bwMode="auto">
            <a:xfrm>
              <a:off x="384" y="1584"/>
              <a:ext cx="3648" cy="0"/>
              <a:chOff x="384" y="1392"/>
              <a:chExt cx="3648" cy="0"/>
            </a:xfrm>
          </p:grpSpPr>
          <p:sp>
            <p:nvSpPr>
              <p:cNvPr id="26660" name="Line 388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61" name="Line 389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656" name="Line 390"/>
            <p:cNvSpPr>
              <a:spLocks noChangeShapeType="1"/>
            </p:cNvSpPr>
            <p:nvPr/>
          </p:nvSpPr>
          <p:spPr bwMode="auto">
            <a:xfrm>
              <a:off x="384" y="1584"/>
              <a:ext cx="3648" cy="3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6" name="Group 391"/>
            <p:cNvGrpSpPr>
              <a:grpSpLocks/>
            </p:cNvGrpSpPr>
            <p:nvPr/>
          </p:nvGrpSpPr>
          <p:grpSpPr bwMode="auto">
            <a:xfrm>
              <a:off x="384" y="1920"/>
              <a:ext cx="3648" cy="0"/>
              <a:chOff x="384" y="1392"/>
              <a:chExt cx="3648" cy="0"/>
            </a:xfrm>
          </p:grpSpPr>
          <p:sp>
            <p:nvSpPr>
              <p:cNvPr id="26658" name="Line 392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59" name="Line 393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26631" name="AutoShape 394"/>
          <p:cNvSpPr>
            <a:spLocks noChangeArrowheads="1"/>
          </p:cNvSpPr>
          <p:nvPr/>
        </p:nvSpPr>
        <p:spPr bwMode="auto">
          <a:xfrm rot="6679275">
            <a:off x="5834856" y="4474369"/>
            <a:ext cx="428625" cy="2554288"/>
          </a:xfrm>
          <a:prstGeom prst="triangle">
            <a:avLst>
              <a:gd name="adj" fmla="val 50000"/>
            </a:avLst>
          </a:prstGeom>
          <a:solidFill>
            <a:srgbClr val="E6E0EC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1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75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4"/>
          <p:cNvSpPr>
            <a:spLocks noChangeShapeType="1"/>
          </p:cNvSpPr>
          <p:nvPr/>
        </p:nvSpPr>
        <p:spPr bwMode="auto">
          <a:xfrm>
            <a:off x="381000" y="2000250"/>
            <a:ext cx="1409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23" name="Freeform 5"/>
          <p:cNvSpPr>
            <a:spLocks/>
          </p:cNvSpPr>
          <p:nvPr/>
        </p:nvSpPr>
        <p:spPr bwMode="auto">
          <a:xfrm>
            <a:off x="419100" y="1397000"/>
            <a:ext cx="8318500" cy="1663700"/>
          </a:xfrm>
          <a:custGeom>
            <a:avLst/>
            <a:gdLst>
              <a:gd name="T0" fmla="*/ 0 w 5240"/>
              <a:gd name="T1" fmla="*/ 1612899645 h 1048"/>
              <a:gd name="T2" fmla="*/ 161289989 w 5240"/>
              <a:gd name="T3" fmla="*/ 1895157411 h 1048"/>
              <a:gd name="T4" fmla="*/ 403224949 w 5240"/>
              <a:gd name="T5" fmla="*/ 1895157411 h 1048"/>
              <a:gd name="T6" fmla="*/ 544353746 w 5240"/>
              <a:gd name="T7" fmla="*/ 2147483647 h 1048"/>
              <a:gd name="T8" fmla="*/ 1108868734 w 5240"/>
              <a:gd name="T9" fmla="*/ 2147483647 h 1048"/>
              <a:gd name="T10" fmla="*/ 1249997431 w 5240"/>
              <a:gd name="T11" fmla="*/ 1854834930 h 1048"/>
              <a:gd name="T12" fmla="*/ 2147483647 w 5240"/>
              <a:gd name="T13" fmla="*/ 1854834930 h 1048"/>
              <a:gd name="T14" fmla="*/ 2147483647 w 5240"/>
              <a:gd name="T15" fmla="*/ 1633060886 h 1048"/>
              <a:gd name="T16" fmla="*/ 2147483647 w 5240"/>
              <a:gd name="T17" fmla="*/ 1633060886 h 1048"/>
              <a:gd name="T18" fmla="*/ 2147483647 w 5240"/>
              <a:gd name="T19" fmla="*/ 0 h 1048"/>
              <a:gd name="T20" fmla="*/ 2147483647 w 5240"/>
              <a:gd name="T21" fmla="*/ 0 h 1048"/>
              <a:gd name="T22" fmla="*/ 2147483647 w 5240"/>
              <a:gd name="T23" fmla="*/ 1612899645 h 1048"/>
              <a:gd name="T24" fmla="*/ 2147483647 w 5240"/>
              <a:gd name="T25" fmla="*/ 1612899645 h 1048"/>
              <a:gd name="T26" fmla="*/ 2147483647 w 5240"/>
              <a:gd name="T27" fmla="*/ 1874996170 h 1048"/>
              <a:gd name="T28" fmla="*/ 2147483647 w 5240"/>
              <a:gd name="T29" fmla="*/ 1874996170 h 1048"/>
              <a:gd name="T30" fmla="*/ 2147483647 w 5240"/>
              <a:gd name="T31" fmla="*/ 2147483647 h 1048"/>
              <a:gd name="T32" fmla="*/ 2147483647 w 5240"/>
              <a:gd name="T33" fmla="*/ 2147483647 h 1048"/>
              <a:gd name="T34" fmla="*/ 2147483647 w 5240"/>
              <a:gd name="T35" fmla="*/ 1895157411 h 1048"/>
              <a:gd name="T36" fmla="*/ 2147483647 w 5240"/>
              <a:gd name="T37" fmla="*/ 1895157411 h 10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240"/>
              <a:gd name="T58" fmla="*/ 0 h 1048"/>
              <a:gd name="T59" fmla="*/ 5240 w 5240"/>
              <a:gd name="T60" fmla="*/ 1048 h 10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240" h="1048">
                <a:moveTo>
                  <a:pt x="0" y="640"/>
                </a:moveTo>
                <a:lnTo>
                  <a:pt x="64" y="752"/>
                </a:lnTo>
                <a:lnTo>
                  <a:pt x="160" y="752"/>
                </a:lnTo>
                <a:lnTo>
                  <a:pt x="216" y="1048"/>
                </a:lnTo>
                <a:lnTo>
                  <a:pt x="440" y="1048"/>
                </a:lnTo>
                <a:lnTo>
                  <a:pt x="496" y="736"/>
                </a:lnTo>
                <a:lnTo>
                  <a:pt x="888" y="736"/>
                </a:lnTo>
                <a:lnTo>
                  <a:pt x="960" y="648"/>
                </a:lnTo>
                <a:lnTo>
                  <a:pt x="1088" y="648"/>
                </a:lnTo>
                <a:lnTo>
                  <a:pt x="1256" y="0"/>
                </a:lnTo>
                <a:lnTo>
                  <a:pt x="4472" y="0"/>
                </a:lnTo>
                <a:lnTo>
                  <a:pt x="4592" y="640"/>
                </a:lnTo>
                <a:lnTo>
                  <a:pt x="4680" y="640"/>
                </a:lnTo>
                <a:lnTo>
                  <a:pt x="4712" y="744"/>
                </a:lnTo>
                <a:lnTo>
                  <a:pt x="4824" y="744"/>
                </a:lnTo>
                <a:lnTo>
                  <a:pt x="4896" y="1048"/>
                </a:lnTo>
                <a:lnTo>
                  <a:pt x="5128" y="1040"/>
                </a:lnTo>
                <a:lnTo>
                  <a:pt x="5184" y="752"/>
                </a:lnTo>
                <a:lnTo>
                  <a:pt x="5240" y="752"/>
                </a:ln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371600" y="2422525"/>
            <a:ext cx="381000" cy="304800"/>
            <a:chOff x="2064" y="1248"/>
            <a:chExt cx="432" cy="468"/>
          </a:xfrm>
        </p:grpSpPr>
        <p:sp>
          <p:nvSpPr>
            <p:cNvPr id="30760" name="Line 7"/>
            <p:cNvSpPr>
              <a:spLocks noChangeShapeType="1"/>
            </p:cNvSpPr>
            <p:nvPr/>
          </p:nvSpPr>
          <p:spPr bwMode="auto">
            <a:xfrm flipH="1">
              <a:off x="2064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61" name="Line 8"/>
            <p:cNvSpPr>
              <a:spLocks noChangeShapeType="1"/>
            </p:cNvSpPr>
            <p:nvPr/>
          </p:nvSpPr>
          <p:spPr bwMode="auto">
            <a:xfrm flipH="1">
              <a:off x="2112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62" name="Line 9"/>
            <p:cNvSpPr>
              <a:spLocks noChangeShapeType="1"/>
            </p:cNvSpPr>
            <p:nvPr/>
          </p:nvSpPr>
          <p:spPr bwMode="auto">
            <a:xfrm flipH="1">
              <a:off x="2160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63" name="Line 10"/>
            <p:cNvSpPr>
              <a:spLocks noChangeShapeType="1"/>
            </p:cNvSpPr>
            <p:nvPr/>
          </p:nvSpPr>
          <p:spPr bwMode="auto">
            <a:xfrm flipH="1">
              <a:off x="2208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64" name="Line 11"/>
            <p:cNvSpPr>
              <a:spLocks noChangeShapeType="1"/>
            </p:cNvSpPr>
            <p:nvPr/>
          </p:nvSpPr>
          <p:spPr bwMode="auto">
            <a:xfrm flipH="1">
              <a:off x="2256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65" name="Line 12"/>
            <p:cNvSpPr>
              <a:spLocks noChangeShapeType="1"/>
            </p:cNvSpPr>
            <p:nvPr/>
          </p:nvSpPr>
          <p:spPr bwMode="auto">
            <a:xfrm flipH="1">
              <a:off x="2304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66" name="Line 13"/>
            <p:cNvSpPr>
              <a:spLocks noChangeShapeType="1"/>
            </p:cNvSpPr>
            <p:nvPr/>
          </p:nvSpPr>
          <p:spPr bwMode="auto">
            <a:xfrm flipH="1">
              <a:off x="2352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0767" name="Line 14"/>
            <p:cNvSpPr>
              <a:spLocks noChangeShapeType="1"/>
            </p:cNvSpPr>
            <p:nvPr/>
          </p:nvSpPr>
          <p:spPr bwMode="auto">
            <a:xfrm flipH="1">
              <a:off x="2400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0725" name="Line 15"/>
          <p:cNvSpPr>
            <a:spLocks noChangeShapeType="1"/>
          </p:cNvSpPr>
          <p:nvPr/>
        </p:nvSpPr>
        <p:spPr bwMode="auto">
          <a:xfrm flipV="1">
            <a:off x="1819275" y="14128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26" name="Line 16"/>
          <p:cNvSpPr>
            <a:spLocks noChangeShapeType="1"/>
          </p:cNvSpPr>
          <p:nvPr/>
        </p:nvSpPr>
        <p:spPr bwMode="auto">
          <a:xfrm flipV="1">
            <a:off x="7915275" y="1393825"/>
            <a:ext cx="0" cy="11049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27" name="Line 17"/>
          <p:cNvSpPr>
            <a:spLocks noChangeShapeType="1"/>
          </p:cNvSpPr>
          <p:nvPr/>
        </p:nvSpPr>
        <p:spPr bwMode="auto">
          <a:xfrm>
            <a:off x="1828800" y="1660525"/>
            <a:ext cx="606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28" name="Text Box 18"/>
          <p:cNvSpPr txBox="1">
            <a:spLocks noChangeArrowheads="1"/>
          </p:cNvSpPr>
          <p:nvPr/>
        </p:nvSpPr>
        <p:spPr bwMode="auto">
          <a:xfrm>
            <a:off x="4319588" y="1528763"/>
            <a:ext cx="1246187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400"/>
              <a:t>Active Video</a:t>
            </a:r>
          </a:p>
        </p:txBody>
      </p:sp>
      <p:sp>
        <p:nvSpPr>
          <p:cNvPr id="30729" name="Line 19"/>
          <p:cNvSpPr>
            <a:spLocks noChangeShapeType="1"/>
          </p:cNvSpPr>
          <p:nvPr/>
        </p:nvSpPr>
        <p:spPr bwMode="auto">
          <a:xfrm flipV="1">
            <a:off x="381000" y="18319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30" name="Text Box 20"/>
          <p:cNvSpPr txBox="1">
            <a:spLocks noChangeArrowheads="1"/>
          </p:cNvSpPr>
          <p:nvPr/>
        </p:nvSpPr>
        <p:spPr bwMode="auto">
          <a:xfrm>
            <a:off x="558800" y="1325563"/>
            <a:ext cx="1092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/>
              <a:t>Horizontal Blanking</a:t>
            </a:r>
          </a:p>
        </p:txBody>
      </p:sp>
      <p:sp>
        <p:nvSpPr>
          <p:cNvPr id="30731" name="Line 21"/>
          <p:cNvSpPr>
            <a:spLocks noChangeShapeType="1"/>
          </p:cNvSpPr>
          <p:nvPr/>
        </p:nvSpPr>
        <p:spPr bwMode="auto">
          <a:xfrm>
            <a:off x="2162175" y="2400300"/>
            <a:ext cx="1727200" cy="31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32" name="Line 22"/>
          <p:cNvSpPr>
            <a:spLocks noChangeShapeType="1"/>
          </p:cNvSpPr>
          <p:nvPr/>
        </p:nvSpPr>
        <p:spPr bwMode="auto">
          <a:xfrm>
            <a:off x="1933575" y="2552700"/>
            <a:ext cx="1727200" cy="31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33" name="Line 24"/>
          <p:cNvSpPr>
            <a:spLocks noChangeShapeType="1"/>
          </p:cNvSpPr>
          <p:nvPr/>
        </p:nvSpPr>
        <p:spPr bwMode="auto">
          <a:xfrm flipV="1">
            <a:off x="714375" y="25812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34" name="Line 25"/>
          <p:cNvSpPr>
            <a:spLocks noChangeShapeType="1"/>
          </p:cNvSpPr>
          <p:nvPr/>
        </p:nvSpPr>
        <p:spPr bwMode="auto">
          <a:xfrm flipV="1">
            <a:off x="8118475" y="25812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35" name="Text Box 26"/>
          <p:cNvSpPr txBox="1">
            <a:spLocks noChangeArrowheads="1"/>
          </p:cNvSpPr>
          <p:nvPr/>
        </p:nvSpPr>
        <p:spPr bwMode="auto">
          <a:xfrm>
            <a:off x="4133850" y="3141663"/>
            <a:ext cx="776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400">
                <a:sym typeface="Symbol" pitchFamily="18" charset="2"/>
              </a:rPr>
              <a:t>63.5</a:t>
            </a:r>
            <a:r>
              <a:rPr lang="en-GB" sz="1400"/>
              <a:t>S</a:t>
            </a:r>
            <a:endParaRPr lang="en-GB"/>
          </a:p>
        </p:txBody>
      </p:sp>
      <p:sp>
        <p:nvSpPr>
          <p:cNvPr id="30737" name="Line 28"/>
          <p:cNvSpPr>
            <a:spLocks noChangeShapeType="1"/>
          </p:cNvSpPr>
          <p:nvPr/>
        </p:nvSpPr>
        <p:spPr bwMode="auto">
          <a:xfrm flipH="1" flipV="1">
            <a:off x="381000" y="2416175"/>
            <a:ext cx="0" cy="23209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0738" name="Freeform 32"/>
          <p:cNvSpPr>
            <a:spLocks/>
          </p:cNvSpPr>
          <p:nvPr/>
        </p:nvSpPr>
        <p:spPr bwMode="auto">
          <a:xfrm>
            <a:off x="381000" y="4322763"/>
            <a:ext cx="4130675" cy="1300162"/>
          </a:xfrm>
          <a:custGeom>
            <a:avLst/>
            <a:gdLst>
              <a:gd name="T0" fmla="*/ 0 w 2346"/>
              <a:gd name="T1" fmla="*/ 23284719 h 660"/>
              <a:gd name="T2" fmla="*/ 204611002 w 2346"/>
              <a:gd name="T3" fmla="*/ 488965261 h 660"/>
              <a:gd name="T4" fmla="*/ 1023056934 w 2346"/>
              <a:gd name="T5" fmla="*/ 488965261 h 660"/>
              <a:gd name="T6" fmla="*/ 1209067525 w 2346"/>
              <a:gd name="T7" fmla="*/ 2147483647 h 660"/>
              <a:gd name="T8" fmla="*/ 2147483647 w 2346"/>
              <a:gd name="T9" fmla="*/ 2147483647 h 660"/>
              <a:gd name="T10" fmla="*/ 2147483647 w 2346"/>
              <a:gd name="T11" fmla="*/ 419113099 h 660"/>
              <a:gd name="T12" fmla="*/ 2147483647 w 2346"/>
              <a:gd name="T13" fmla="*/ 419113099 h 660"/>
              <a:gd name="T14" fmla="*/ 2147483647 w 2346"/>
              <a:gd name="T15" fmla="*/ 0 h 6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346"/>
              <a:gd name="T25" fmla="*/ 0 h 660"/>
              <a:gd name="T26" fmla="*/ 2346 w 2346"/>
              <a:gd name="T27" fmla="*/ 660 h 6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346" h="660">
                <a:moveTo>
                  <a:pt x="0" y="6"/>
                </a:moveTo>
                <a:lnTo>
                  <a:pt x="66" y="126"/>
                </a:lnTo>
                <a:lnTo>
                  <a:pt x="330" y="126"/>
                </a:lnTo>
                <a:lnTo>
                  <a:pt x="390" y="660"/>
                </a:lnTo>
                <a:lnTo>
                  <a:pt x="1212" y="660"/>
                </a:lnTo>
                <a:lnTo>
                  <a:pt x="1272" y="108"/>
                </a:lnTo>
                <a:lnTo>
                  <a:pt x="2298" y="108"/>
                </a:lnTo>
                <a:lnTo>
                  <a:pt x="2346" y="0"/>
                </a:ln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39" name="Line 34"/>
          <p:cNvSpPr>
            <a:spLocks noChangeShapeType="1"/>
          </p:cNvSpPr>
          <p:nvPr/>
        </p:nvSpPr>
        <p:spPr bwMode="auto">
          <a:xfrm flipH="1">
            <a:off x="2968625" y="4051300"/>
            <a:ext cx="260350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0" name="Line 35"/>
          <p:cNvSpPr>
            <a:spLocks noChangeShapeType="1"/>
          </p:cNvSpPr>
          <p:nvPr/>
        </p:nvSpPr>
        <p:spPr bwMode="auto">
          <a:xfrm flipH="1">
            <a:off x="3098800" y="4051300"/>
            <a:ext cx="260350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1" name="Line 36"/>
          <p:cNvSpPr>
            <a:spLocks noChangeShapeType="1"/>
          </p:cNvSpPr>
          <p:nvPr/>
        </p:nvSpPr>
        <p:spPr bwMode="auto">
          <a:xfrm flipH="1">
            <a:off x="3228975" y="4051300"/>
            <a:ext cx="260350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2" name="Line 37"/>
          <p:cNvSpPr>
            <a:spLocks noChangeShapeType="1"/>
          </p:cNvSpPr>
          <p:nvPr/>
        </p:nvSpPr>
        <p:spPr bwMode="auto">
          <a:xfrm flipH="1">
            <a:off x="3359150" y="4051300"/>
            <a:ext cx="261938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3" name="Line 38"/>
          <p:cNvSpPr>
            <a:spLocks noChangeShapeType="1"/>
          </p:cNvSpPr>
          <p:nvPr/>
        </p:nvSpPr>
        <p:spPr bwMode="auto">
          <a:xfrm flipH="1">
            <a:off x="3489325" y="4051300"/>
            <a:ext cx="261938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4" name="Line 39"/>
          <p:cNvSpPr>
            <a:spLocks noChangeShapeType="1"/>
          </p:cNvSpPr>
          <p:nvPr/>
        </p:nvSpPr>
        <p:spPr bwMode="auto">
          <a:xfrm flipH="1">
            <a:off x="3621088" y="4051300"/>
            <a:ext cx="260350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5" name="Line 40"/>
          <p:cNvSpPr>
            <a:spLocks noChangeShapeType="1"/>
          </p:cNvSpPr>
          <p:nvPr/>
        </p:nvSpPr>
        <p:spPr bwMode="auto">
          <a:xfrm flipH="1">
            <a:off x="3751263" y="4051300"/>
            <a:ext cx="260350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6" name="Line 41"/>
          <p:cNvSpPr>
            <a:spLocks noChangeShapeType="1"/>
          </p:cNvSpPr>
          <p:nvPr/>
        </p:nvSpPr>
        <p:spPr bwMode="auto">
          <a:xfrm flipH="1">
            <a:off x="3881438" y="4051300"/>
            <a:ext cx="260350" cy="10287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7" name="Line 43"/>
          <p:cNvSpPr>
            <a:spLocks noChangeShapeType="1"/>
          </p:cNvSpPr>
          <p:nvPr/>
        </p:nvSpPr>
        <p:spPr bwMode="auto">
          <a:xfrm flipV="1">
            <a:off x="2984500" y="5483225"/>
            <a:ext cx="112712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48" name="Text Box 44"/>
          <p:cNvSpPr txBox="1">
            <a:spLocks noChangeArrowheads="1"/>
          </p:cNvSpPr>
          <p:nvPr/>
        </p:nvSpPr>
        <p:spPr bwMode="auto">
          <a:xfrm>
            <a:off x="3181350" y="5173663"/>
            <a:ext cx="728663" cy="5175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400">
                <a:sym typeface="Symbol" pitchFamily="18" charset="2"/>
              </a:rPr>
              <a:t>colour</a:t>
            </a:r>
          </a:p>
          <a:p>
            <a:pPr algn="ctr"/>
            <a:r>
              <a:rPr lang="en-GB" sz="1400">
                <a:sym typeface="Symbol" pitchFamily="18" charset="2"/>
              </a:rPr>
              <a:t>burst</a:t>
            </a:r>
          </a:p>
        </p:txBody>
      </p:sp>
      <p:sp>
        <p:nvSpPr>
          <p:cNvPr id="30749" name="Line 45"/>
          <p:cNvSpPr>
            <a:spLocks noChangeShapeType="1"/>
          </p:cNvSpPr>
          <p:nvPr/>
        </p:nvSpPr>
        <p:spPr bwMode="auto">
          <a:xfrm flipV="1">
            <a:off x="4143375" y="4397375"/>
            <a:ext cx="0" cy="12033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50" name="Line 46"/>
          <p:cNvSpPr>
            <a:spLocks noChangeShapeType="1"/>
          </p:cNvSpPr>
          <p:nvPr/>
        </p:nvSpPr>
        <p:spPr bwMode="auto">
          <a:xfrm flipV="1">
            <a:off x="2962275" y="4371975"/>
            <a:ext cx="0" cy="12033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51" name="Line 47"/>
          <p:cNvSpPr>
            <a:spLocks noChangeShapeType="1"/>
          </p:cNvSpPr>
          <p:nvPr/>
        </p:nvSpPr>
        <p:spPr bwMode="auto">
          <a:xfrm flipV="1">
            <a:off x="2543175" y="4371975"/>
            <a:ext cx="0" cy="12033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52" name="Line 48"/>
          <p:cNvSpPr>
            <a:spLocks noChangeShapeType="1"/>
          </p:cNvSpPr>
          <p:nvPr/>
        </p:nvSpPr>
        <p:spPr bwMode="auto">
          <a:xfrm flipV="1">
            <a:off x="4448175" y="4397375"/>
            <a:ext cx="0" cy="12033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53" name="Text Box 49"/>
          <p:cNvSpPr txBox="1">
            <a:spLocks noChangeArrowheads="1"/>
          </p:cNvSpPr>
          <p:nvPr/>
        </p:nvSpPr>
        <p:spPr bwMode="auto">
          <a:xfrm>
            <a:off x="5029200" y="4732338"/>
            <a:ext cx="1841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en-US"/>
          </a:p>
        </p:txBody>
      </p:sp>
      <p:sp>
        <p:nvSpPr>
          <p:cNvPr id="30754" name="Line 51"/>
          <p:cNvSpPr>
            <a:spLocks noChangeShapeType="1"/>
          </p:cNvSpPr>
          <p:nvPr/>
        </p:nvSpPr>
        <p:spPr bwMode="auto">
          <a:xfrm flipH="1" flipV="1">
            <a:off x="1019175" y="4371975"/>
            <a:ext cx="12700" cy="17367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55" name="Text Box 52"/>
          <p:cNvSpPr txBox="1">
            <a:spLocks noChangeArrowheads="1"/>
          </p:cNvSpPr>
          <p:nvPr/>
        </p:nvSpPr>
        <p:spPr bwMode="auto">
          <a:xfrm>
            <a:off x="1377950" y="5949950"/>
            <a:ext cx="24320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/>
          </a:p>
        </p:txBody>
      </p:sp>
      <p:sp>
        <p:nvSpPr>
          <p:cNvPr id="30756" name="Text Box 55"/>
          <p:cNvSpPr txBox="1">
            <a:spLocks noChangeArrowheads="1"/>
          </p:cNvSpPr>
          <p:nvPr/>
        </p:nvSpPr>
        <p:spPr bwMode="auto">
          <a:xfrm>
            <a:off x="381000" y="381000"/>
            <a:ext cx="267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Scan Line Details</a:t>
            </a:r>
          </a:p>
        </p:txBody>
      </p:sp>
      <p:sp>
        <p:nvSpPr>
          <p:cNvPr id="30757" name="Line 57"/>
          <p:cNvSpPr>
            <a:spLocks noChangeShapeType="1"/>
          </p:cNvSpPr>
          <p:nvPr/>
        </p:nvSpPr>
        <p:spPr bwMode="auto">
          <a:xfrm>
            <a:off x="381000" y="3384550"/>
            <a:ext cx="7723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58" name="Text Box 58"/>
          <p:cNvSpPr txBox="1">
            <a:spLocks noChangeArrowheads="1"/>
          </p:cNvSpPr>
          <p:nvPr/>
        </p:nvSpPr>
        <p:spPr bwMode="auto">
          <a:xfrm>
            <a:off x="5860535" y="3989822"/>
            <a:ext cx="3237065" cy="23391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/>
            <a:r>
              <a:rPr lang="en-GB" sz="1600" b="1" dirty="0"/>
              <a:t>Video signal is encoded and transmitted </a:t>
            </a:r>
            <a:r>
              <a:rPr lang="en-GB" sz="1600" b="1" i="1" u="sng" dirty="0"/>
              <a:t>not</a:t>
            </a:r>
            <a:r>
              <a:rPr lang="en-GB" sz="1600" b="1" dirty="0"/>
              <a:t> as RBG, but as </a:t>
            </a:r>
            <a:r>
              <a:rPr lang="en-GB" sz="1600" b="1" dirty="0" err="1"/>
              <a:t>YCrCb</a:t>
            </a:r>
            <a:endParaRPr lang="en-GB" sz="1600" b="1" dirty="0"/>
          </a:p>
          <a:p>
            <a:pPr marL="185738" indent="-185738"/>
            <a:endParaRPr lang="en-GB" sz="1600" b="1" dirty="0"/>
          </a:p>
          <a:p>
            <a:pPr marL="185738" indent="-185738"/>
            <a:r>
              <a:rPr lang="en-GB" sz="1600" dirty="0"/>
              <a:t>The signal contains </a:t>
            </a:r>
          </a:p>
          <a:p>
            <a:pPr marL="185738" indent="-185738">
              <a:buFontTx/>
              <a:buChar char="•"/>
            </a:pPr>
            <a:r>
              <a:rPr lang="en-GB" sz="1600" dirty="0"/>
              <a:t>luminance signal (Y)</a:t>
            </a:r>
          </a:p>
          <a:p>
            <a:pPr marL="185738" indent="-185738">
              <a:buFontTx/>
              <a:buChar char="•"/>
            </a:pPr>
            <a:r>
              <a:rPr lang="en-GB" sz="1600" dirty="0"/>
              <a:t>colour information – chrominance in terms of... </a:t>
            </a:r>
          </a:p>
          <a:p>
            <a:pPr marL="185738" indent="-185738"/>
            <a:r>
              <a:rPr lang="en-GB" sz="1600" dirty="0"/>
              <a:t>		... (see next slide) ...</a:t>
            </a:r>
          </a:p>
        </p:txBody>
      </p:sp>
      <p:sp>
        <p:nvSpPr>
          <p:cNvPr id="30759" name="Rectangle 85"/>
          <p:cNvSpPr>
            <a:spLocks noChangeArrowheads="1"/>
          </p:cNvSpPr>
          <p:nvPr/>
        </p:nvSpPr>
        <p:spPr bwMode="auto">
          <a:xfrm>
            <a:off x="2286000" y="3138488"/>
            <a:ext cx="8858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sz="1400">
              <a:sym typeface="Symbol" pitchFamily="18" charset="2"/>
            </a:endParaRPr>
          </a:p>
        </p:txBody>
      </p:sp>
      <p:sp>
        <p:nvSpPr>
          <p:cNvPr id="48" name="Rectangle: Rounded Corners 47"/>
          <p:cNvSpPr/>
          <p:nvPr/>
        </p:nvSpPr>
        <p:spPr>
          <a:xfrm>
            <a:off x="195942" y="3883568"/>
            <a:ext cx="5386252" cy="2551611"/>
          </a:xfrm>
          <a:prstGeom prst="roundRect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195942" y="2416175"/>
            <a:ext cx="185057" cy="1793875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2191928" y="2317480"/>
            <a:ext cx="3157676" cy="1587499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3568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2765093"/>
            <a:ext cx="77998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Total Scan Lines = 625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Total Visible Lines = 576 – i.e. 49 lines (each frame) are invisible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Picture Frequency = 50 fields per second (50 Hz)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Line Frequency = 15625 Hz (625 lines x 50Hz / 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Frame Rate / Refresh Rate / Picture Rate = 25 frames per second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Total Bandwidth = 7 MHz + 1MHz guard band = 8MHz spacing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Colour Clock Cycles per line = 283.75 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Colour Sub-Carrier (Chroma Carrier), f</a:t>
            </a:r>
            <a:r>
              <a:rPr lang="en-GB" baseline="-25000">
                <a:cs typeface="Lucida Sans Unicode" panose="020B0602030504020204" pitchFamily="34" charset="0"/>
              </a:rPr>
              <a:t>sc</a:t>
            </a:r>
            <a:r>
              <a:rPr lang="en-GB">
                <a:cs typeface="Lucida Sans Unicode" panose="020B0602030504020204" pitchFamily="34" charset="0"/>
              </a:rPr>
              <a:t> = 4.43361875 MHz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Visible Line Bandwidth for the PAL (D) Standard = 6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Total Time each scan line = 64µs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Active Video each scan line = 52µs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Front Porch = 1.65µs (+ 0.4µs – 01µs), Sync Pulse = 4.7µs (± 0.20µs), Back Porch = 5.7µs (± 0.20µs)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Aspect Ratio = 4:3 (1.3333333)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368300"/>
            <a:ext cx="2156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cs typeface="Lucida Sans Unicode" panose="020B0602030504020204" pitchFamily="34" charset="0"/>
              </a:rPr>
              <a:t>PAL Standard</a:t>
            </a:r>
          </a:p>
        </p:txBody>
      </p:sp>
      <p:sp>
        <p:nvSpPr>
          <p:cNvPr id="4" name="Freeform 5"/>
          <p:cNvSpPr>
            <a:spLocks/>
          </p:cNvSpPr>
          <p:nvPr/>
        </p:nvSpPr>
        <p:spPr bwMode="auto">
          <a:xfrm>
            <a:off x="395288" y="965679"/>
            <a:ext cx="8318500" cy="1663700"/>
          </a:xfrm>
          <a:custGeom>
            <a:avLst/>
            <a:gdLst>
              <a:gd name="T0" fmla="*/ 0 w 5240"/>
              <a:gd name="T1" fmla="*/ 1612899645 h 1048"/>
              <a:gd name="T2" fmla="*/ 161289989 w 5240"/>
              <a:gd name="T3" fmla="*/ 1895157411 h 1048"/>
              <a:gd name="T4" fmla="*/ 403224949 w 5240"/>
              <a:gd name="T5" fmla="*/ 1895157411 h 1048"/>
              <a:gd name="T6" fmla="*/ 544353746 w 5240"/>
              <a:gd name="T7" fmla="*/ 2147483647 h 1048"/>
              <a:gd name="T8" fmla="*/ 1108868734 w 5240"/>
              <a:gd name="T9" fmla="*/ 2147483647 h 1048"/>
              <a:gd name="T10" fmla="*/ 1249997431 w 5240"/>
              <a:gd name="T11" fmla="*/ 1854834930 h 1048"/>
              <a:gd name="T12" fmla="*/ 2147483647 w 5240"/>
              <a:gd name="T13" fmla="*/ 1854834930 h 1048"/>
              <a:gd name="T14" fmla="*/ 2147483647 w 5240"/>
              <a:gd name="T15" fmla="*/ 1633060886 h 1048"/>
              <a:gd name="T16" fmla="*/ 2147483647 w 5240"/>
              <a:gd name="T17" fmla="*/ 1633060886 h 1048"/>
              <a:gd name="T18" fmla="*/ 2147483647 w 5240"/>
              <a:gd name="T19" fmla="*/ 0 h 1048"/>
              <a:gd name="T20" fmla="*/ 2147483647 w 5240"/>
              <a:gd name="T21" fmla="*/ 0 h 1048"/>
              <a:gd name="T22" fmla="*/ 2147483647 w 5240"/>
              <a:gd name="T23" fmla="*/ 1612899645 h 1048"/>
              <a:gd name="T24" fmla="*/ 2147483647 w 5240"/>
              <a:gd name="T25" fmla="*/ 1612899645 h 1048"/>
              <a:gd name="T26" fmla="*/ 2147483647 w 5240"/>
              <a:gd name="T27" fmla="*/ 1874996170 h 1048"/>
              <a:gd name="T28" fmla="*/ 2147483647 w 5240"/>
              <a:gd name="T29" fmla="*/ 1874996170 h 1048"/>
              <a:gd name="T30" fmla="*/ 2147483647 w 5240"/>
              <a:gd name="T31" fmla="*/ 2147483647 h 1048"/>
              <a:gd name="T32" fmla="*/ 2147483647 w 5240"/>
              <a:gd name="T33" fmla="*/ 2147483647 h 1048"/>
              <a:gd name="T34" fmla="*/ 2147483647 w 5240"/>
              <a:gd name="T35" fmla="*/ 1895157411 h 1048"/>
              <a:gd name="T36" fmla="*/ 2147483647 w 5240"/>
              <a:gd name="T37" fmla="*/ 1895157411 h 10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240"/>
              <a:gd name="T58" fmla="*/ 0 h 1048"/>
              <a:gd name="T59" fmla="*/ 5240 w 5240"/>
              <a:gd name="T60" fmla="*/ 1048 h 10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240" h="1048">
                <a:moveTo>
                  <a:pt x="0" y="640"/>
                </a:moveTo>
                <a:lnTo>
                  <a:pt x="64" y="752"/>
                </a:lnTo>
                <a:lnTo>
                  <a:pt x="160" y="752"/>
                </a:lnTo>
                <a:lnTo>
                  <a:pt x="216" y="1048"/>
                </a:lnTo>
                <a:lnTo>
                  <a:pt x="440" y="1048"/>
                </a:lnTo>
                <a:lnTo>
                  <a:pt x="496" y="736"/>
                </a:lnTo>
                <a:lnTo>
                  <a:pt x="888" y="736"/>
                </a:lnTo>
                <a:lnTo>
                  <a:pt x="960" y="648"/>
                </a:lnTo>
                <a:lnTo>
                  <a:pt x="1088" y="648"/>
                </a:lnTo>
                <a:lnTo>
                  <a:pt x="1256" y="0"/>
                </a:lnTo>
                <a:lnTo>
                  <a:pt x="4472" y="0"/>
                </a:lnTo>
                <a:lnTo>
                  <a:pt x="4592" y="640"/>
                </a:lnTo>
                <a:lnTo>
                  <a:pt x="4680" y="640"/>
                </a:lnTo>
                <a:lnTo>
                  <a:pt x="4712" y="744"/>
                </a:lnTo>
                <a:lnTo>
                  <a:pt x="4824" y="744"/>
                </a:lnTo>
                <a:lnTo>
                  <a:pt x="4896" y="1048"/>
                </a:lnTo>
                <a:lnTo>
                  <a:pt x="5128" y="1040"/>
                </a:lnTo>
                <a:lnTo>
                  <a:pt x="5184" y="752"/>
                </a:lnTo>
                <a:lnTo>
                  <a:pt x="5240" y="752"/>
                </a:ln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2578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3532989" y="2489454"/>
            <a:ext cx="5248702" cy="3530272"/>
            <a:chOff x="2991928" y="1797170"/>
            <a:chExt cx="5943600" cy="4114800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3068128" y="1797170"/>
              <a:ext cx="5791200" cy="411480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AutoShape 6"/>
            <p:cNvSpPr>
              <a:spLocks noChangeArrowheads="1"/>
            </p:cNvSpPr>
            <p:nvPr/>
          </p:nvSpPr>
          <p:spPr bwMode="auto">
            <a:xfrm>
              <a:off x="3144328" y="1873370"/>
              <a:ext cx="5638800" cy="3962400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3068128" y="1797170"/>
              <a:ext cx="5791200" cy="5334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3068128" y="5530970"/>
              <a:ext cx="3048000" cy="3048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H="1">
              <a:off x="3068128" y="5530970"/>
              <a:ext cx="5791200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068128" y="4997570"/>
              <a:ext cx="5791200" cy="5334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3068128" y="2330570"/>
              <a:ext cx="5791200" cy="5334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1" name="Group 12"/>
            <p:cNvGrpSpPr>
              <a:grpSpLocks/>
            </p:cNvGrpSpPr>
            <p:nvPr/>
          </p:nvGrpSpPr>
          <p:grpSpPr bwMode="auto">
            <a:xfrm>
              <a:off x="3068128" y="2330570"/>
              <a:ext cx="5791200" cy="0"/>
              <a:chOff x="384" y="1392"/>
              <a:chExt cx="3648" cy="0"/>
            </a:xfrm>
          </p:grpSpPr>
          <p:sp>
            <p:nvSpPr>
              <p:cNvPr id="12" name="Line 13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3" name="Line 14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5658928" y="5530970"/>
              <a:ext cx="609600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5" name="Group 16"/>
            <p:cNvGrpSpPr>
              <a:grpSpLocks/>
            </p:cNvGrpSpPr>
            <p:nvPr/>
          </p:nvGrpSpPr>
          <p:grpSpPr bwMode="auto">
            <a:xfrm>
              <a:off x="3068128" y="2863970"/>
              <a:ext cx="5791200" cy="0"/>
              <a:chOff x="384" y="1392"/>
              <a:chExt cx="3648" cy="0"/>
            </a:xfrm>
          </p:grpSpPr>
          <p:sp>
            <p:nvSpPr>
              <p:cNvPr id="16" name="Line 17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" name="Line 18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3144328" y="2863970"/>
              <a:ext cx="5791200" cy="5334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9" name="Group 20"/>
            <p:cNvGrpSpPr>
              <a:grpSpLocks/>
            </p:cNvGrpSpPr>
            <p:nvPr/>
          </p:nvGrpSpPr>
          <p:grpSpPr bwMode="auto">
            <a:xfrm>
              <a:off x="3068128" y="3397370"/>
              <a:ext cx="5791200" cy="0"/>
              <a:chOff x="384" y="1392"/>
              <a:chExt cx="3648" cy="0"/>
            </a:xfrm>
          </p:grpSpPr>
          <p:sp>
            <p:nvSpPr>
              <p:cNvPr id="20" name="Line 21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1" name="Line 22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3144328" y="3397370"/>
              <a:ext cx="5791200" cy="5334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3" name="Group 24"/>
            <p:cNvGrpSpPr>
              <a:grpSpLocks/>
            </p:cNvGrpSpPr>
            <p:nvPr/>
          </p:nvGrpSpPr>
          <p:grpSpPr bwMode="auto">
            <a:xfrm>
              <a:off x="3068128" y="3930770"/>
              <a:ext cx="5791200" cy="0"/>
              <a:chOff x="384" y="1392"/>
              <a:chExt cx="3648" cy="0"/>
            </a:xfrm>
          </p:grpSpPr>
          <p:sp>
            <p:nvSpPr>
              <p:cNvPr id="24" name="Line 25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5" name="Line 26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068128" y="3930770"/>
              <a:ext cx="5791200" cy="5334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" name="Group 28"/>
            <p:cNvGrpSpPr>
              <a:grpSpLocks/>
            </p:cNvGrpSpPr>
            <p:nvPr/>
          </p:nvGrpSpPr>
          <p:grpSpPr bwMode="auto">
            <a:xfrm>
              <a:off x="3068128" y="4464170"/>
              <a:ext cx="5791200" cy="0"/>
              <a:chOff x="384" y="1392"/>
              <a:chExt cx="3648" cy="0"/>
            </a:xfrm>
          </p:grpSpPr>
          <p:sp>
            <p:nvSpPr>
              <p:cNvPr id="28" name="Line 29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9" name="Line 30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3068128" y="4464170"/>
              <a:ext cx="5791200" cy="53340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1" name="Group 32"/>
            <p:cNvGrpSpPr>
              <a:grpSpLocks/>
            </p:cNvGrpSpPr>
            <p:nvPr/>
          </p:nvGrpSpPr>
          <p:grpSpPr bwMode="auto">
            <a:xfrm>
              <a:off x="3068128" y="4997570"/>
              <a:ext cx="5791200" cy="0"/>
              <a:chOff x="384" y="1392"/>
              <a:chExt cx="3648" cy="0"/>
            </a:xfrm>
          </p:grpSpPr>
          <p:sp>
            <p:nvSpPr>
              <p:cNvPr id="32" name="Line 33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3" name="Line 34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9933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2991928" y="1797170"/>
              <a:ext cx="5943600" cy="411480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 flipV="1">
              <a:off x="6039928" y="1873370"/>
              <a:ext cx="0" cy="396240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6039928" y="1797170"/>
              <a:ext cx="2819400" cy="3048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7" name="Group 38"/>
            <p:cNvGrpSpPr>
              <a:grpSpLocks/>
            </p:cNvGrpSpPr>
            <p:nvPr/>
          </p:nvGrpSpPr>
          <p:grpSpPr bwMode="auto">
            <a:xfrm>
              <a:off x="2991928" y="2101970"/>
              <a:ext cx="5791200" cy="0"/>
              <a:chOff x="384" y="1392"/>
              <a:chExt cx="3648" cy="0"/>
            </a:xfrm>
          </p:grpSpPr>
          <p:sp>
            <p:nvSpPr>
              <p:cNvPr id="38" name="Line 39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9" name="Line 40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106228" y="2082920"/>
              <a:ext cx="5791200" cy="533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3068128" y="2635370"/>
              <a:ext cx="5791200" cy="0"/>
              <a:chOff x="384" y="1392"/>
              <a:chExt cx="3648" cy="0"/>
            </a:xfrm>
          </p:grpSpPr>
          <p:sp>
            <p:nvSpPr>
              <p:cNvPr id="42" name="Line 43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3" name="Line 44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3068128" y="2635370"/>
              <a:ext cx="5791200" cy="533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5" name="Group 46"/>
            <p:cNvGrpSpPr>
              <a:grpSpLocks/>
            </p:cNvGrpSpPr>
            <p:nvPr/>
          </p:nvGrpSpPr>
          <p:grpSpPr bwMode="auto">
            <a:xfrm>
              <a:off x="3068128" y="3168770"/>
              <a:ext cx="5791200" cy="0"/>
              <a:chOff x="384" y="1392"/>
              <a:chExt cx="3648" cy="0"/>
            </a:xfrm>
          </p:grpSpPr>
          <p:sp>
            <p:nvSpPr>
              <p:cNvPr id="46" name="Line 47"/>
              <p:cNvSpPr>
                <a:spLocks noChangeShapeType="1"/>
              </p:cNvSpPr>
              <p:nvPr/>
            </p:nvSpPr>
            <p:spPr bwMode="auto">
              <a:xfrm flipH="1">
                <a:off x="384" y="1392"/>
                <a:ext cx="3648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7" name="Line 48"/>
              <p:cNvSpPr>
                <a:spLocks noChangeShapeType="1"/>
              </p:cNvSpPr>
              <p:nvPr/>
            </p:nvSpPr>
            <p:spPr bwMode="auto">
              <a:xfrm>
                <a:off x="2016" y="139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3144328" y="3130671"/>
              <a:ext cx="5791200" cy="533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" name="Line 45"/>
            <p:cNvSpPr>
              <a:spLocks noChangeShapeType="1"/>
            </p:cNvSpPr>
            <p:nvPr/>
          </p:nvSpPr>
          <p:spPr bwMode="auto">
            <a:xfrm>
              <a:off x="3068128" y="3664071"/>
              <a:ext cx="5791200" cy="533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" name="Line 41"/>
            <p:cNvSpPr>
              <a:spLocks noChangeShapeType="1"/>
            </p:cNvSpPr>
            <p:nvPr/>
          </p:nvSpPr>
          <p:spPr bwMode="auto">
            <a:xfrm>
              <a:off x="3068128" y="4159370"/>
              <a:ext cx="5791200" cy="533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Line 45"/>
            <p:cNvSpPr>
              <a:spLocks noChangeShapeType="1"/>
            </p:cNvSpPr>
            <p:nvPr/>
          </p:nvSpPr>
          <p:spPr bwMode="auto">
            <a:xfrm>
              <a:off x="3106228" y="4730869"/>
              <a:ext cx="5791200" cy="533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" name="Line 45"/>
            <p:cNvSpPr>
              <a:spLocks noChangeShapeType="1"/>
            </p:cNvSpPr>
            <p:nvPr/>
          </p:nvSpPr>
          <p:spPr bwMode="auto">
            <a:xfrm>
              <a:off x="3068128" y="5302370"/>
              <a:ext cx="5791200" cy="53340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" name="Line 36"/>
            <p:cNvSpPr>
              <a:spLocks noChangeShapeType="1"/>
            </p:cNvSpPr>
            <p:nvPr/>
          </p:nvSpPr>
          <p:spPr bwMode="auto">
            <a:xfrm flipH="1" flipV="1">
              <a:off x="3144327" y="1797170"/>
              <a:ext cx="5707812" cy="403860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" name="Rectangle: Rounded Corners 60"/>
            <p:cNvSpPr/>
            <p:nvPr/>
          </p:nvSpPr>
          <p:spPr bwMode="auto">
            <a:xfrm>
              <a:off x="3068127" y="2411532"/>
              <a:ext cx="5867401" cy="2809875"/>
            </a:xfrm>
            <a:prstGeom prst="roundRect">
              <a:avLst>
                <a:gd name="adj" fmla="val 11244"/>
              </a:avLst>
            </a:prstGeom>
            <a:solidFill>
              <a:srgbClr val="FFFF00">
                <a:alpha val="62000"/>
              </a:srgb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191769" y="3534857"/>
              <a:ext cx="19495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/>
                <a:t>576 VISIBLE LINES</a:t>
              </a:r>
            </a:p>
          </p:txBody>
        </p:sp>
      </p:grpSp>
      <p:sp>
        <p:nvSpPr>
          <p:cNvPr id="63" name="Rectangle 62"/>
          <p:cNvSpPr/>
          <p:nvPr/>
        </p:nvSpPr>
        <p:spPr>
          <a:xfrm>
            <a:off x="395288" y="368300"/>
            <a:ext cx="22797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cs typeface="Lucida Sans Unicode" panose="020B0602030504020204" pitchFamily="34" charset="0"/>
              </a:rPr>
              <a:t>“Visible Lines”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5288" y="779950"/>
            <a:ext cx="83864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Vertical retrace is slow compared to horizontal trace (due to magnetic inertia of coils in the receiver)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The retrace takes the same time as 49 horizontal lines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History: it is the field governing the coils which control the beam which continues operating whilst the vertical retrace takes place</a:t>
            </a:r>
          </a:p>
          <a:p>
            <a:r>
              <a:rPr lang="en-GB">
                <a:cs typeface="Lucida Sans Unicode" panose="020B0602030504020204" pitchFamily="34" charset="0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5288" y="2118207"/>
            <a:ext cx="26397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This takes the same time as the missing lines</a:t>
            </a:r>
          </a:p>
          <a:p>
            <a:endParaRPr lang="en-GB">
              <a:cs typeface="Lucida Sans Unicode" panose="020B0602030504020204" pitchFamily="34" charset="0"/>
            </a:endParaRPr>
          </a:p>
          <a:p>
            <a:r>
              <a:rPr lang="en-GB">
                <a:cs typeface="Lucida Sans Unicode" panose="020B0602030504020204" pitchFamily="34" charset="0"/>
              </a:rPr>
              <a:t>… so only 576 lines carry video (PAL) </a:t>
            </a:r>
          </a:p>
          <a:p>
            <a:endParaRPr lang="en-GB">
              <a:cs typeface="Lucida Sans Unicode" panose="020B0602030504020204" pitchFamily="3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This time is utilised for the horizltal lines to carry additional information …</a:t>
            </a:r>
          </a:p>
          <a:p>
            <a:pPr marL="638175" lvl="1" indent="-180975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teletext</a:t>
            </a:r>
          </a:p>
          <a:p>
            <a:pPr marL="638175" lvl="1" indent="-180975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closed captioning</a:t>
            </a:r>
          </a:p>
          <a:p>
            <a:pPr marL="638175" lvl="1" indent="-180975">
              <a:buFont typeface="Arial" panose="020B0604020202020204" pitchFamily="34" charset="0"/>
              <a:buChar char="•"/>
            </a:pPr>
            <a:r>
              <a:rPr lang="en-GB">
                <a:cs typeface="Lucida Sans Unicode" panose="020B0602030504020204" pitchFamily="34" charset="0"/>
              </a:rPr>
              <a:t>etc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n-GB">
              <a:cs typeface="Lucida Sans Unicode" panose="020B0602030504020204" pitchFamily="34" charset="0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390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388" y="755650"/>
            <a:ext cx="7620000" cy="5715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5843" name="Rectangle 5"/>
          <p:cNvSpPr>
            <a:spLocks noChangeArrowheads="1"/>
          </p:cNvSpPr>
          <p:nvPr/>
        </p:nvSpPr>
        <p:spPr bwMode="auto">
          <a:xfrm>
            <a:off x="5237163" y="6334125"/>
            <a:ext cx="3906837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900">
                <a:solidFill>
                  <a:schemeClr val="bg1"/>
                </a:solidFill>
              </a:rPr>
              <a:t>http://www.danalee.ca/ttt/images/6/camera_and_monitor_big.jpg</a:t>
            </a:r>
          </a:p>
        </p:txBody>
      </p:sp>
      <p:sp>
        <p:nvSpPr>
          <p:cNvPr id="35844" name="Text Box 6"/>
          <p:cNvSpPr txBox="1">
            <a:spLocks noChangeArrowheads="1"/>
          </p:cNvSpPr>
          <p:nvPr/>
        </p:nvSpPr>
        <p:spPr bwMode="auto">
          <a:xfrm>
            <a:off x="433388" y="361950"/>
            <a:ext cx="36385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From Camera to Screen</a:t>
            </a:r>
          </a:p>
        </p:txBody>
      </p:sp>
    </p:spTree>
    <p:extLst>
      <p:ext uri="{BB962C8B-B14F-4D97-AF65-F5344CB8AC3E}">
        <p14:creationId xmlns:p14="http://schemas.microsoft.com/office/powerpoint/2010/main" val="40969524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452473"/>
            <a:ext cx="6096000" cy="4572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5865538" y="6161298"/>
            <a:ext cx="3278462" cy="261610"/>
          </a:xfrm>
          <a:prstGeom prst="rect">
            <a:avLst/>
          </a:prstGeom>
          <a:solidFill>
            <a:srgbClr val="9999FF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http://www.danalee.ca/ttt/analog_video.htm</a:t>
            </a:r>
          </a:p>
        </p:txBody>
      </p:sp>
      <p:sp>
        <p:nvSpPr>
          <p:cNvPr id="27652" name="Rectangle 6"/>
          <p:cNvSpPr>
            <a:spLocks noChangeArrowheads="1"/>
          </p:cNvSpPr>
          <p:nvPr/>
        </p:nvSpPr>
        <p:spPr bwMode="auto">
          <a:xfrm flipH="1">
            <a:off x="393700" y="1426546"/>
            <a:ext cx="2498006" cy="40318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GB" sz="1600" dirty="0"/>
              <a:t>Scrambled video - </a:t>
            </a:r>
          </a:p>
          <a:p>
            <a:r>
              <a:rPr lang="en-GB" sz="1600" dirty="0"/>
              <a:t>sync removed </a:t>
            </a:r>
          </a:p>
          <a:p>
            <a:endParaRPr lang="en-GB" sz="1600" dirty="0"/>
          </a:p>
          <a:p>
            <a:r>
              <a:rPr lang="en-GB" sz="1600" dirty="0"/>
              <a:t>i.e. subscribers were only paying for the horizontal sync signal! 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However, modern systems (cable, satellite and IPTV) rely on more sophisticated methods  </a:t>
            </a:r>
          </a:p>
          <a:p>
            <a:r>
              <a:rPr lang="en-GB" sz="1600" dirty="0"/>
              <a:t>(CAS – Conditional Access Systems; later in module)</a:t>
            </a:r>
          </a:p>
        </p:txBody>
      </p:sp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433388" y="361950"/>
            <a:ext cx="858921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Analogue Pay-TV Scrambling </a:t>
            </a:r>
            <a:r>
              <a:rPr lang="en-GB" sz="2400" i="1" dirty="0"/>
              <a:t>(Historical interest only ...)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8004057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368300"/>
            <a:ext cx="82525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cs typeface="Lucida Sans Unicode" panose="020B0602030504020204" pitchFamily="34" charset="0"/>
              </a:rPr>
              <a:t>Tri Level Sync – Video Synchronisation, mainly for HD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2864272"/>
            <a:ext cx="428022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/>
              <a:t>Used in HD facilities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equipment output HD-SDI video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where baseband video needs to be </a:t>
            </a:r>
          </a:p>
          <a:p>
            <a:pPr marL="630238" indent="-171450">
              <a:buFont typeface="Arial" panose="020B0604020202020204" pitchFamily="34" charset="0"/>
              <a:buChar char="•"/>
            </a:pPr>
            <a:r>
              <a:rPr lang="en-GB"/>
              <a:t>mixed</a:t>
            </a:r>
          </a:p>
          <a:p>
            <a:pPr marL="630238" indent="-171450">
              <a:buFont typeface="Arial" panose="020B0604020202020204" pitchFamily="34" charset="0"/>
              <a:buChar char="•"/>
            </a:pPr>
            <a:r>
              <a:rPr lang="en-GB"/>
              <a:t>switched </a:t>
            </a:r>
          </a:p>
          <a:p>
            <a:pPr marL="630238" indent="-171450">
              <a:buFont typeface="Arial" panose="020B0604020202020204" pitchFamily="34" charset="0"/>
              <a:buChar char="•"/>
            </a:pPr>
            <a:r>
              <a:rPr lang="en-GB"/>
              <a:t>luma keyed with any other 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/>
              <a:t>… need to be synchronous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/>
              <a:t>first pixel of first line transmitted at the same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allows switcher to cut, mix or key sources together</a:t>
            </a:r>
          </a:p>
          <a:p>
            <a:pPr lvl="1"/>
            <a:r>
              <a:rPr lang="en-GB"/>
              <a:t>… min delay (~1 HD video line </a:t>
            </a: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622" y="2810778"/>
            <a:ext cx="4166816" cy="277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95288" y="823168"/>
            <a:ext cx="83691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/>
              <a:t>Syncing devices together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Genlock </a:t>
            </a:r>
            <a:r>
              <a:rPr lang="en-GB" sz="1400"/>
              <a:t>(Generator lock)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/>
              <a:t>traditionally black-burst (single –ve pulse)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/>
              <a:t>vertical, horizontal, frame, and color synchronization.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HD environments – Tri sync prfered</a:t>
            </a:r>
            <a:endParaRPr lang="en-GB" i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timing jitter reduced (higher frequency)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pulses in both polarities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91169" y="5803358"/>
            <a:ext cx="1751163" cy="6001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>
                <a:hlinkClick r:id="rId3"/>
              </a:rPr>
              <a:t>https://www.youtube.com/watch?v=qqmbrt17DjE</a:t>
            </a:r>
            <a:r>
              <a:rPr lang="en-GB" sz="1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62953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135" y="3303918"/>
            <a:ext cx="6282246" cy="29944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93" y="829965"/>
            <a:ext cx="4197690" cy="29243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5288" y="368300"/>
            <a:ext cx="2222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cs typeface="Lucida Sans Unicode" panose="020B0602030504020204" pitchFamily="34" charset="0"/>
              </a:rPr>
              <a:t>Tri Level Sync</a:t>
            </a:r>
          </a:p>
        </p:txBody>
      </p:sp>
    </p:spTree>
    <p:extLst>
      <p:ext uri="{BB962C8B-B14F-4D97-AF65-F5344CB8AC3E}">
        <p14:creationId xmlns:p14="http://schemas.microsoft.com/office/powerpoint/2010/main" val="25991438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829965"/>
            <a:ext cx="6965733" cy="349408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5288" y="368300"/>
            <a:ext cx="16401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>
                <a:cs typeface="Lucida Sans Unicode" panose="020B0602030504020204" pitchFamily="34" charset="0"/>
              </a:rPr>
              <a:t>Timecode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7" y="4650613"/>
            <a:ext cx="382668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222222"/>
                </a:solidFill>
                <a:latin typeface="Arial" panose="020B0604020202020204" pitchFamily="34" charset="0"/>
              </a:rPr>
              <a:t>HH:MM:SS:FF</a:t>
            </a:r>
          </a:p>
          <a:p>
            <a:endParaRPr lang="en-GB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GB">
                <a:solidFill>
                  <a:srgbClr val="222222"/>
                </a:solidFill>
                <a:latin typeface="Arial" panose="020B0604020202020204" pitchFamily="34" charset="0"/>
              </a:rPr>
              <a:t>plus drop codes for 29.97 (i.e. 30/1.001)</a:t>
            </a:r>
          </a:p>
          <a:p>
            <a:r>
              <a:rPr lang="en-GB"/>
              <a:t>HH:MM:SS.FF</a:t>
            </a:r>
          </a:p>
          <a:p>
            <a:endParaRPr lang="en-GB"/>
          </a:p>
          <a:p>
            <a:r>
              <a:rPr lang="en-GB" i="1"/>
              <a:t>… more on this later in the course</a:t>
            </a:r>
          </a:p>
        </p:txBody>
      </p:sp>
    </p:spTree>
    <p:extLst>
      <p:ext uri="{BB962C8B-B14F-4D97-AF65-F5344CB8AC3E}">
        <p14:creationId xmlns:p14="http://schemas.microsoft.com/office/powerpoint/2010/main" val="31478555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229600" cy="1143000"/>
          </a:xfrm>
        </p:spPr>
        <p:txBody>
          <a:bodyPr/>
          <a:lstStyle/>
          <a:p>
            <a:pPr algn="l">
              <a:defRPr/>
            </a:pPr>
            <a:r>
              <a:rPr lang="en-AU" sz="2400" b="1" dirty="0">
                <a:latin typeface="+mn-lt"/>
              </a:rPr>
              <a:t>Resolution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250950"/>
            <a:ext cx="5591175" cy="3902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600"/>
              <a:t>The number of picture elements resolved on the display</a:t>
            </a:r>
          </a:p>
          <a:p>
            <a:endParaRPr lang="en-US" altLang="en-US" sz="1600"/>
          </a:p>
          <a:p>
            <a:r>
              <a:rPr lang="en-US" altLang="en-US" sz="1600"/>
              <a:t>Resolution in TV is limited by:</a:t>
            </a:r>
          </a:p>
          <a:p>
            <a:pPr lvl="1"/>
            <a:r>
              <a:rPr lang="en-US" altLang="en-US" sz="1600"/>
              <a:t>Capture device</a:t>
            </a:r>
          </a:p>
          <a:p>
            <a:pPr lvl="1"/>
            <a:r>
              <a:rPr lang="en-US" altLang="en-US" sz="1600"/>
              <a:t>Sampling Rate</a:t>
            </a:r>
          </a:p>
          <a:p>
            <a:pPr lvl="1"/>
            <a:r>
              <a:rPr lang="en-US" altLang="en-US" sz="1600"/>
              <a:t>Transmission System / Bandwidth</a:t>
            </a:r>
          </a:p>
          <a:p>
            <a:pPr lvl="1"/>
            <a:r>
              <a:rPr lang="en-US" altLang="en-US" sz="1600"/>
              <a:t>Display Device</a:t>
            </a:r>
          </a:p>
          <a:p>
            <a:pPr lvl="2"/>
            <a:r>
              <a:rPr lang="en-US" altLang="en-US" sz="1600"/>
              <a:t>Dot Pitch (LCD or plasma cells)</a:t>
            </a:r>
          </a:p>
          <a:p>
            <a:pPr lvl="2"/>
            <a:r>
              <a:rPr lang="en-US" altLang="en-US" sz="1600"/>
              <a:t>Focus &amp; Convergence</a:t>
            </a:r>
          </a:p>
          <a:p>
            <a:pPr lvl="1"/>
            <a:r>
              <a:rPr lang="en-US" altLang="en-US" sz="1600"/>
              <a:t>Viewing distance / Display size</a:t>
            </a:r>
          </a:p>
          <a:p>
            <a:pPr lvl="1"/>
            <a:r>
              <a:rPr lang="en-US" altLang="en-US" sz="1600"/>
              <a:t>Human Eye</a:t>
            </a:r>
          </a:p>
          <a:p>
            <a:pPr lvl="1"/>
            <a:endParaRPr lang="en-US" altLang="en-US" sz="1600"/>
          </a:p>
        </p:txBody>
      </p:sp>
      <p:pic>
        <p:nvPicPr>
          <p:cNvPr id="26628" name="Picture 4" descr="D:\IMAGES\dmv\dot_pitch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5" y="871538"/>
            <a:ext cx="2536825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 descr="D:\IMAGES\dmv\pixel_size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025" y="5297488"/>
            <a:ext cx="17589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7696200" y="4191000"/>
            <a:ext cx="695325" cy="962025"/>
          </a:xfrm>
          <a:prstGeom prst="rect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939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ChangeArrowheads="1"/>
          </p:cNvSpPr>
          <p:nvPr/>
        </p:nvSpPr>
        <p:spPr bwMode="auto">
          <a:xfrm>
            <a:off x="433388" y="361950"/>
            <a:ext cx="2043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GB" sz="2400" b="1"/>
              <a:t>Refresh Rate</a:t>
            </a:r>
          </a:p>
        </p:txBody>
      </p:sp>
      <p:sp>
        <p:nvSpPr>
          <p:cNvPr id="28675" name="Text Box 6"/>
          <p:cNvSpPr txBox="1">
            <a:spLocks noChangeArrowheads="1"/>
          </p:cNvSpPr>
          <p:nvPr/>
        </p:nvSpPr>
        <p:spPr bwMode="auto">
          <a:xfrm>
            <a:off x="433388" y="993775"/>
            <a:ext cx="6470361" cy="42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541338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l">
              <a:lnSpc>
                <a:spcPts val="2300"/>
              </a:lnSpc>
            </a:pPr>
            <a:r>
              <a:rPr lang="en-GB" b="1" dirty="0"/>
              <a:t>CRT is an instantaneous response</a:t>
            </a:r>
          </a:p>
          <a:p>
            <a:pPr marL="177800" indent="-17780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dirty="0"/>
              <a:t>phosphors quick to light</a:t>
            </a:r>
          </a:p>
          <a:p>
            <a:pPr marL="177800" indent="-177800" algn="l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en-GB" dirty="0"/>
              <a:t>dims after the beam has moved on down the screen</a:t>
            </a:r>
          </a:p>
          <a:p>
            <a:pPr algn="l">
              <a:lnSpc>
                <a:spcPts val="2300"/>
              </a:lnSpc>
              <a:buFont typeface="Symbol" pitchFamily="18" charset="2"/>
              <a:buChar char="\"/>
            </a:pPr>
            <a:r>
              <a:rPr lang="en-GB" dirty="0"/>
              <a:t> CRTs prone to flicker</a:t>
            </a:r>
          </a:p>
          <a:p>
            <a:pPr lvl="1">
              <a:lnSpc>
                <a:spcPts val="2300"/>
              </a:lnSpc>
              <a:buFontTx/>
              <a:buChar char="•"/>
            </a:pPr>
            <a:r>
              <a:rPr lang="en-GB" dirty="0"/>
              <a:t>high refresh rates (&gt;70Hz) </a:t>
            </a:r>
            <a:r>
              <a:rPr lang="en-GB" dirty="0" err="1"/>
              <a:t>alieviate</a:t>
            </a:r>
            <a:r>
              <a:rPr lang="en-GB" dirty="0"/>
              <a:t> this</a:t>
            </a:r>
          </a:p>
          <a:p>
            <a:pPr lvl="1">
              <a:lnSpc>
                <a:spcPts val="2300"/>
              </a:lnSpc>
              <a:buFontTx/>
              <a:buChar char="•"/>
            </a:pPr>
            <a:r>
              <a:rPr lang="en-GB" dirty="0"/>
              <a:t>but TVs are limited to 25Hz frame rates</a:t>
            </a:r>
          </a:p>
          <a:p>
            <a:pPr marL="360363" lvl="1" indent="0" algn="l">
              <a:lnSpc>
                <a:spcPts val="2300"/>
              </a:lnSpc>
            </a:pPr>
            <a:r>
              <a:rPr lang="en-GB" dirty="0"/>
              <a:t>… higher rates achieved by doubling (i.e. repeating) frames</a:t>
            </a:r>
          </a:p>
          <a:p>
            <a:pPr marL="360363" lvl="1" indent="0" algn="l">
              <a:lnSpc>
                <a:spcPts val="2300"/>
              </a:lnSpc>
            </a:pPr>
            <a:endParaRPr lang="en-GB" dirty="0"/>
          </a:p>
          <a:p>
            <a:pPr algn="l">
              <a:lnSpc>
                <a:spcPts val="2300"/>
              </a:lnSpc>
              <a:buFontTx/>
              <a:buChar char="-"/>
            </a:pPr>
            <a:endParaRPr lang="en-GB" dirty="0"/>
          </a:p>
          <a:p>
            <a:pPr algn="l">
              <a:lnSpc>
                <a:spcPts val="2300"/>
              </a:lnSpc>
            </a:pPr>
            <a:r>
              <a:rPr lang="en-GB" b="1" dirty="0"/>
              <a:t>LCD – cells remains active until the next scan</a:t>
            </a:r>
          </a:p>
          <a:p>
            <a:pPr algn="l">
              <a:lnSpc>
                <a:spcPts val="2300"/>
              </a:lnSpc>
              <a:buFontTx/>
              <a:buChar char="•"/>
            </a:pPr>
            <a:r>
              <a:rPr lang="en-GB" dirty="0"/>
              <a:t>this relies on a fast response by the LCD cells</a:t>
            </a:r>
          </a:p>
          <a:p>
            <a:pPr algn="l">
              <a:lnSpc>
                <a:spcPts val="2300"/>
              </a:lnSpc>
              <a:buFontTx/>
              <a:buChar char="•"/>
            </a:pPr>
            <a:r>
              <a:rPr lang="en-GB" dirty="0"/>
              <a:t>slow refresh gives blurring on moving images</a:t>
            </a:r>
          </a:p>
          <a:p>
            <a:pPr algn="l">
              <a:lnSpc>
                <a:spcPts val="2300"/>
              </a:lnSpc>
              <a:buFontTx/>
              <a:buChar char="•"/>
            </a:pPr>
            <a:r>
              <a:rPr lang="en-GB" dirty="0"/>
              <a:t>lower than 20mS required</a:t>
            </a:r>
          </a:p>
          <a:p>
            <a:pPr lvl="1" algn="l">
              <a:lnSpc>
                <a:spcPts val="2300"/>
              </a:lnSpc>
              <a:buFontTx/>
              <a:buChar char="•"/>
            </a:pPr>
            <a:r>
              <a:rPr lang="en-GB" dirty="0"/>
              <a:t>10-15mS fairly common; down to 1- 3</a:t>
            </a:r>
          </a:p>
        </p:txBody>
      </p:sp>
    </p:spTree>
    <p:extLst>
      <p:ext uri="{BB962C8B-B14F-4D97-AF65-F5344CB8AC3E}">
        <p14:creationId xmlns:p14="http://schemas.microsoft.com/office/powerpoint/2010/main" val="11853930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1"/>
          <p:cNvSpPr txBox="1">
            <a:spLocks noChangeArrowheads="1"/>
          </p:cNvSpPr>
          <p:nvPr/>
        </p:nvSpPr>
        <p:spPr bwMode="auto">
          <a:xfrm>
            <a:off x="433388" y="361950"/>
            <a:ext cx="4160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Lines, Pixels, Dots, Scaling</a:t>
            </a:r>
          </a:p>
        </p:txBody>
      </p:sp>
      <p:sp>
        <p:nvSpPr>
          <p:cNvPr id="29699" name="TextBox 2"/>
          <p:cNvSpPr txBox="1">
            <a:spLocks noChangeArrowheads="1"/>
          </p:cNvSpPr>
          <p:nvPr/>
        </p:nvSpPr>
        <p:spPr bwMode="auto">
          <a:xfrm>
            <a:off x="433388" y="1029759"/>
            <a:ext cx="8430513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4625" indent="-17462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631825" indent="-174625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CRT – scans 625 lines / frame (2 x 312.5 lines / field interlaced</a:t>
            </a:r>
          </a:p>
          <a:p>
            <a:pPr marL="457200" lvl="1" indent="0">
              <a:lnSpc>
                <a:spcPct val="150000"/>
              </a:lnSpc>
            </a:pPr>
            <a:r>
              <a:rPr lang="en-GB" dirty="0"/>
              <a:t>… but only 576 are active video</a:t>
            </a:r>
          </a:p>
          <a:p>
            <a:pPr marL="457200" lvl="1" indent="0">
              <a:lnSpc>
                <a:spcPct val="150000"/>
              </a:lnSpc>
            </a:pPr>
            <a:endParaRPr lang="en-GB" dirty="0"/>
          </a:p>
          <a:p>
            <a:pPr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LCD and Plasma have more dots / pixels than 625 lines</a:t>
            </a:r>
          </a:p>
          <a:p>
            <a:pPr marL="0" indent="0" algn="l" defTabSz="444500">
              <a:lnSpc>
                <a:spcPct val="150000"/>
              </a:lnSpc>
            </a:pPr>
            <a:r>
              <a:rPr lang="en-GB" dirty="0"/>
              <a:t>	… so picture needs to be scaled to fit the particular screen</a:t>
            </a:r>
          </a:p>
          <a:p>
            <a:pPr marL="457200" lvl="1" indent="0" algn="l">
              <a:lnSpc>
                <a:spcPct val="150000"/>
              </a:lnSpc>
            </a:pPr>
            <a:r>
              <a:rPr lang="en-GB" dirty="0"/>
              <a:t>…  “upscaling” – important specification</a:t>
            </a:r>
          </a:p>
          <a:p>
            <a:pPr lvl="1" algn="l">
              <a:lnSpc>
                <a:spcPct val="150000"/>
              </a:lnSpc>
              <a:buFont typeface="Arial" charset="0"/>
              <a:buChar char="•"/>
            </a:pPr>
            <a:endParaRPr lang="en-GB" dirty="0"/>
          </a:p>
          <a:p>
            <a:pPr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Analogue signals transmitted by 625 lines / line scan</a:t>
            </a:r>
          </a:p>
          <a:p>
            <a:pPr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Digital signals – captured at required resolution (or above and then scaled down)</a:t>
            </a:r>
          </a:p>
          <a:p>
            <a:pPr lvl="1"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Transmitted as a digital file/stream format at that resolution</a:t>
            </a:r>
          </a:p>
          <a:p>
            <a:pPr lvl="1"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“mapped” on to required screen resolution</a:t>
            </a:r>
          </a:p>
          <a:p>
            <a:pPr lvl="2"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either as full screen TV</a:t>
            </a:r>
          </a:p>
          <a:p>
            <a:pPr lvl="2" algn="l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or as video window in graphics-card / PC</a:t>
            </a:r>
          </a:p>
          <a:p>
            <a:pPr algn="l"/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5461985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5" name="Rectangle 15"/>
          <p:cNvSpPr>
            <a:spLocks noChangeArrowheads="1"/>
          </p:cNvSpPr>
          <p:nvPr/>
        </p:nvSpPr>
        <p:spPr bwMode="auto">
          <a:xfrm>
            <a:off x="393700" y="1332302"/>
            <a:ext cx="8137825" cy="1714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algn="ctr">
            <a:noFill/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433388" y="4054415"/>
            <a:ext cx="254000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600" b="1" dirty="0"/>
              <a:t>Digital Signal - </a:t>
            </a:r>
            <a:r>
              <a:rPr lang="en-GB" sz="1600" dirty="0"/>
              <a:t>(MPEG, etc) off air, from DVD, or Hard Disk</a:t>
            </a:r>
          </a:p>
        </p:txBody>
      </p:sp>
      <p:sp>
        <p:nvSpPr>
          <p:cNvPr id="36868" name="Text Box 5"/>
          <p:cNvSpPr txBox="1">
            <a:spLocks noChangeArrowheads="1"/>
          </p:cNvSpPr>
          <p:nvPr/>
        </p:nvSpPr>
        <p:spPr bwMode="auto">
          <a:xfrm>
            <a:off x="631797" y="1488566"/>
            <a:ext cx="1211262" cy="581025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b="1"/>
              <a:t>Analogue TV Signal</a:t>
            </a:r>
          </a:p>
        </p:txBody>
      </p:sp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3470276" y="1518040"/>
            <a:ext cx="2425700" cy="13542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/>
            <a:r>
              <a:rPr lang="en-GB" sz="1600" b="1"/>
              <a:t>Analogue TV Receiver</a:t>
            </a:r>
          </a:p>
          <a:p>
            <a:pPr marL="177800" indent="-177800">
              <a:buFontTx/>
              <a:buChar char="•"/>
            </a:pPr>
            <a:r>
              <a:rPr lang="en-GB" sz="1600"/>
              <a:t>625 lines (PAL)</a:t>
            </a:r>
          </a:p>
          <a:p>
            <a:pPr marL="177800" indent="-177800">
              <a:buFontTx/>
              <a:buChar char="•"/>
            </a:pPr>
            <a:r>
              <a:rPr lang="en-GB" sz="1600"/>
              <a:t>25 frames / sec interlaced fields</a:t>
            </a:r>
          </a:p>
          <a:p>
            <a:pPr marL="177800" indent="-177800"/>
            <a:endParaRPr lang="en-GB" sz="1600"/>
          </a:p>
        </p:txBody>
      </p:sp>
      <p:sp>
        <p:nvSpPr>
          <p:cNvPr id="36870" name="Text Box 8"/>
          <p:cNvSpPr txBox="1">
            <a:spLocks noChangeArrowheads="1"/>
          </p:cNvSpPr>
          <p:nvPr/>
        </p:nvSpPr>
        <p:spPr bwMode="auto">
          <a:xfrm>
            <a:off x="433388" y="5201788"/>
            <a:ext cx="4767262" cy="1107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7800" indent="-177800"/>
            <a:r>
              <a:rPr lang="en-GB" sz="1600" b="1"/>
              <a:t>Video card</a:t>
            </a:r>
          </a:p>
          <a:p>
            <a:pPr marL="177800" indent="-177800"/>
            <a:r>
              <a:rPr lang="en-GB" sz="1600"/>
              <a:t>eg PC (or </a:t>
            </a:r>
            <a:r>
              <a:rPr lang="en-GB" sz="1600" i="1"/>
              <a:t>Set Top Box</a:t>
            </a:r>
            <a:r>
              <a:rPr lang="en-GB" sz="1600"/>
              <a:t>)</a:t>
            </a:r>
          </a:p>
          <a:p>
            <a:pPr marL="177800" indent="-177800">
              <a:buFontTx/>
              <a:buChar char="•"/>
            </a:pPr>
            <a:r>
              <a:rPr lang="en-GB" sz="1600"/>
              <a:t>receives </a:t>
            </a:r>
            <a:r>
              <a:rPr lang="en-GB" sz="1600" i="1"/>
              <a:t>(e.g.) </a:t>
            </a:r>
            <a:r>
              <a:rPr lang="en-GB" sz="1600"/>
              <a:t>MPEG info plus sync info;</a:t>
            </a:r>
          </a:p>
          <a:p>
            <a:pPr marL="177800" indent="-177800">
              <a:buFontTx/>
              <a:buChar char="•"/>
            </a:pPr>
            <a:r>
              <a:rPr lang="en-GB" sz="1600"/>
              <a:t>knows monitor settings</a:t>
            </a:r>
          </a:p>
        </p:txBody>
      </p:sp>
      <p:sp>
        <p:nvSpPr>
          <p:cNvPr id="36871" name="Text Box 9"/>
          <p:cNvSpPr txBox="1">
            <a:spLocks noChangeArrowheads="1"/>
          </p:cNvSpPr>
          <p:nvPr/>
        </p:nvSpPr>
        <p:spPr bwMode="auto">
          <a:xfrm>
            <a:off x="5736566" y="3959525"/>
            <a:ext cx="3064534" cy="24071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177800" indent="-177800"/>
            <a:endParaRPr lang="en-GB" sz="1600" b="1" dirty="0"/>
          </a:p>
          <a:p>
            <a:pPr marL="177800" indent="-177800"/>
            <a:endParaRPr lang="en-GB" sz="1600" b="1" dirty="0"/>
          </a:p>
          <a:p>
            <a:pPr marL="177800" indent="-177800"/>
            <a:endParaRPr lang="en-GB" sz="1600" b="1" dirty="0"/>
          </a:p>
          <a:p>
            <a:pPr marL="177800" indent="-177800"/>
            <a:r>
              <a:rPr lang="en-GB" sz="1600" b="1" dirty="0"/>
              <a:t>Monitor</a:t>
            </a:r>
          </a:p>
          <a:p>
            <a:pPr marL="361950" indent="-180975"/>
            <a:r>
              <a:rPr lang="en-GB" sz="1600" dirty="0"/>
              <a:t>parameters – resolution, refresh - set on PC (graphics card)</a:t>
            </a:r>
          </a:p>
          <a:p>
            <a:pPr marL="358775" indent="-177800"/>
            <a:r>
              <a:rPr lang="en-GB" sz="1600" b="1" i="1" dirty="0"/>
              <a:t>... and modern TVs are monitors to STB, etc ...</a:t>
            </a:r>
          </a:p>
        </p:txBody>
      </p:sp>
      <p:sp>
        <p:nvSpPr>
          <p:cNvPr id="36872" name="Text Box 10"/>
          <p:cNvSpPr txBox="1">
            <a:spLocks noChangeArrowheads="1"/>
          </p:cNvSpPr>
          <p:nvPr/>
        </p:nvSpPr>
        <p:spPr bwMode="auto">
          <a:xfrm>
            <a:off x="433388" y="361950"/>
            <a:ext cx="5157181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TVs, Monitors, Graphics Adapters</a:t>
            </a:r>
          </a:p>
        </p:txBody>
      </p:sp>
      <p:sp>
        <p:nvSpPr>
          <p:cNvPr id="36873" name="Text Box 11"/>
          <p:cNvSpPr txBox="1">
            <a:spLocks noChangeArrowheads="1"/>
          </p:cNvSpPr>
          <p:nvPr/>
        </p:nvSpPr>
        <p:spPr bwMode="auto">
          <a:xfrm>
            <a:off x="393700" y="836074"/>
            <a:ext cx="7935186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77800" indent="-177800"/>
            <a:r>
              <a:rPr lang="en-GB" sz="1600" b="1" dirty="0"/>
              <a:t>Broadcast TVs – </a:t>
            </a:r>
            <a:r>
              <a:rPr lang="en-GB" sz="1600" dirty="0"/>
              <a:t>assume standard line scan rates, frame rates, lines/frame, etc</a:t>
            </a:r>
          </a:p>
        </p:txBody>
      </p:sp>
      <p:sp>
        <p:nvSpPr>
          <p:cNvPr id="36876" name="AutoShape 16"/>
          <p:cNvSpPr>
            <a:spLocks noChangeArrowheads="1"/>
          </p:cNvSpPr>
          <p:nvPr/>
        </p:nvSpPr>
        <p:spPr bwMode="auto">
          <a:xfrm>
            <a:off x="1759790" y="1470415"/>
            <a:ext cx="1767636" cy="571500"/>
          </a:xfrm>
          <a:prstGeom prst="rightArrow">
            <a:avLst>
              <a:gd name="adj1" fmla="val 50556"/>
              <a:gd name="adj2" fmla="val 126661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6877" name="AutoShape 17"/>
          <p:cNvSpPr>
            <a:spLocks noChangeArrowheads="1"/>
          </p:cNvSpPr>
          <p:nvPr/>
        </p:nvSpPr>
        <p:spPr bwMode="auto">
          <a:xfrm>
            <a:off x="5816601" y="1700602"/>
            <a:ext cx="533400" cy="571500"/>
          </a:xfrm>
          <a:prstGeom prst="rightArrow">
            <a:avLst>
              <a:gd name="adj1" fmla="val 50000"/>
              <a:gd name="adj2" fmla="val 67856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6879" name="AutoShape 23"/>
          <p:cNvSpPr>
            <a:spLocks noChangeArrowheads="1"/>
          </p:cNvSpPr>
          <p:nvPr/>
        </p:nvSpPr>
        <p:spPr bwMode="auto">
          <a:xfrm>
            <a:off x="5167224" y="4068074"/>
            <a:ext cx="740434" cy="571500"/>
          </a:xfrm>
          <a:prstGeom prst="rightArrow">
            <a:avLst>
              <a:gd name="adj1" fmla="val 58889"/>
              <a:gd name="adj2" fmla="val 76664"/>
            </a:avLst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6880" name="AutoShape 24"/>
          <p:cNvSpPr>
            <a:spLocks noChangeArrowheads="1"/>
          </p:cNvSpPr>
          <p:nvPr/>
        </p:nvSpPr>
        <p:spPr bwMode="auto">
          <a:xfrm rot="5400000">
            <a:off x="1854200" y="4855713"/>
            <a:ext cx="647700" cy="571500"/>
          </a:xfrm>
          <a:prstGeom prst="rightArrow">
            <a:avLst>
              <a:gd name="adj1" fmla="val 58889"/>
              <a:gd name="adj2" fmla="val 58356"/>
            </a:avLst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6881" name="Text Box 25"/>
          <p:cNvSpPr txBox="1">
            <a:spLocks noChangeArrowheads="1"/>
          </p:cNvSpPr>
          <p:nvPr/>
        </p:nvSpPr>
        <p:spPr bwMode="auto">
          <a:xfrm>
            <a:off x="393700" y="3203785"/>
            <a:ext cx="669927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77800" indent="-177800"/>
            <a:r>
              <a:rPr lang="en-GB" sz="1600" b="1" dirty="0"/>
              <a:t>PC’s – require higher resolution, higher refresh rates (less flicker)</a:t>
            </a:r>
          </a:p>
          <a:p>
            <a:pPr marL="177800" indent="-177800">
              <a:buFontTx/>
              <a:buChar char="•"/>
            </a:pPr>
            <a:r>
              <a:rPr lang="en-GB" sz="1600" dirty="0"/>
              <a:t>handled by video card</a:t>
            </a:r>
          </a:p>
        </p:txBody>
      </p:sp>
      <p:sp>
        <p:nvSpPr>
          <p:cNvPr id="36882" name="Text Box 27"/>
          <p:cNvSpPr txBox="1">
            <a:spLocks noChangeArrowheads="1"/>
          </p:cNvSpPr>
          <p:nvPr/>
        </p:nvSpPr>
        <p:spPr bwMode="auto">
          <a:xfrm>
            <a:off x="8226425" y="3661705"/>
            <a:ext cx="58578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LCD</a:t>
            </a:r>
          </a:p>
        </p:txBody>
      </p:sp>
      <p:pic>
        <p:nvPicPr>
          <p:cNvPr id="36883" name="Picture 28" descr="Clipboard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5263" y="3594580"/>
            <a:ext cx="1328737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4" name="Picture 29" descr="Clipboard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18275" y="3591855"/>
            <a:ext cx="1309688" cy="124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85" name="Text Box 26"/>
          <p:cNvSpPr txBox="1">
            <a:spLocks noChangeArrowheads="1"/>
          </p:cNvSpPr>
          <p:nvPr/>
        </p:nvSpPr>
        <p:spPr bwMode="auto">
          <a:xfrm>
            <a:off x="7138298" y="3757793"/>
            <a:ext cx="582613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CRT</a:t>
            </a:r>
          </a:p>
        </p:txBody>
      </p:sp>
      <p:sp>
        <p:nvSpPr>
          <p:cNvPr id="36886" name="Text Box 30"/>
          <p:cNvSpPr txBox="1">
            <a:spLocks noChangeArrowheads="1"/>
          </p:cNvSpPr>
          <p:nvPr/>
        </p:nvSpPr>
        <p:spPr bwMode="auto">
          <a:xfrm>
            <a:off x="8141119" y="3696690"/>
            <a:ext cx="58578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LCD</a:t>
            </a:r>
          </a:p>
        </p:txBody>
      </p:sp>
      <p:pic>
        <p:nvPicPr>
          <p:cNvPr id="36887" name="Picture 31"/>
          <p:cNvPicPr>
            <a:picLocks noChangeAspect="1" noChangeArrowheads="1"/>
          </p:cNvPicPr>
          <p:nvPr/>
        </p:nvPicPr>
        <p:blipFill>
          <a:blip r:embed="rId4" cstate="print"/>
          <a:srcRect t="35046" b="35417"/>
          <a:stretch>
            <a:fillRect/>
          </a:stretch>
        </p:blipFill>
        <p:spPr bwMode="auto">
          <a:xfrm>
            <a:off x="3246933" y="3807724"/>
            <a:ext cx="1763713" cy="520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1986" name="Picture 2" descr="C:\Users\Jeremy\Desktop\Clipboard01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92068" y="1392418"/>
            <a:ext cx="1819275" cy="1581150"/>
          </a:xfrm>
          <a:prstGeom prst="rect">
            <a:avLst/>
          </a:prstGeom>
          <a:noFill/>
        </p:spPr>
      </p:pic>
      <p:sp>
        <p:nvSpPr>
          <p:cNvPr id="36874" name="Text Box 7"/>
          <p:cNvSpPr txBox="1">
            <a:spLocks noChangeArrowheads="1"/>
          </p:cNvSpPr>
          <p:nvPr/>
        </p:nvSpPr>
        <p:spPr bwMode="auto">
          <a:xfrm>
            <a:off x="6775721" y="2271354"/>
            <a:ext cx="8255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screen</a:t>
            </a:r>
          </a:p>
        </p:txBody>
      </p:sp>
      <p:pic>
        <p:nvPicPr>
          <p:cNvPr id="26626" name="Picture 2" descr="Gigabyte Nvidia GeForce GT 610 810MHz 2GB 64bit DDR3 Graphics Car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2" b="23759"/>
          <a:stretch/>
        </p:blipFill>
        <p:spPr bwMode="auto">
          <a:xfrm>
            <a:off x="3270739" y="4328424"/>
            <a:ext cx="1533525" cy="8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8472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5052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1289" y="3536080"/>
            <a:ext cx="4176143" cy="6828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9600" b="1">
                <a:solidFill>
                  <a:srgbClr val="FF0000"/>
                </a:solidFill>
                <a:latin typeface="Lucida Sans Unicode" pitchFamily="34" charset="0"/>
                <a:cs typeface="Lucida Sans Unicode" pitchFamily="34" charset="0"/>
              </a:rPr>
              <a:t>C</a:t>
            </a:r>
            <a:r>
              <a:rPr lang="en-GB" sz="9600" b="1">
                <a:solidFill>
                  <a:srgbClr val="FFC000"/>
                </a:solidFill>
                <a:latin typeface="Lucida Sans Unicode" pitchFamily="34" charset="0"/>
                <a:cs typeface="Lucida Sans Unicode" pitchFamily="34" charset="0"/>
              </a:rPr>
              <a:t>o</a:t>
            </a:r>
            <a:r>
              <a:rPr lang="en-GB" sz="9600" b="1">
                <a:solidFill>
                  <a:srgbClr val="FFFF00"/>
                </a:solidFill>
                <a:latin typeface="Lucida Sans Unicode" pitchFamily="34" charset="0"/>
                <a:cs typeface="Lucida Sans Unicode" pitchFamily="34" charset="0"/>
              </a:rPr>
              <a:t>l</a:t>
            </a:r>
            <a:r>
              <a:rPr lang="en-GB" sz="9600" b="1">
                <a:solidFill>
                  <a:srgbClr val="92D050"/>
                </a:solidFill>
                <a:latin typeface="Lucida Sans Unicode" pitchFamily="34" charset="0"/>
                <a:cs typeface="Lucida Sans Unicode" pitchFamily="34" charset="0"/>
              </a:rPr>
              <a:t>o</a:t>
            </a:r>
            <a:r>
              <a:rPr lang="en-GB" sz="9600" b="1">
                <a:solidFill>
                  <a:schemeClr val="accent2"/>
                </a:solidFill>
                <a:latin typeface="Lucida Sans Unicode" pitchFamily="34" charset="0"/>
                <a:cs typeface="Lucida Sans Unicode" pitchFamily="34" charset="0"/>
              </a:rPr>
              <a:t>u</a:t>
            </a:r>
            <a:r>
              <a:rPr lang="en-GB" sz="9600" b="1">
                <a:solidFill>
                  <a:srgbClr val="6600FF"/>
                </a:solidFill>
                <a:latin typeface="Lucida Sans Unicode" pitchFamily="34" charset="0"/>
                <a:cs typeface="Lucida Sans Unicode" pitchFamily="34" charset="0"/>
              </a:rPr>
              <a:t>r</a:t>
            </a:r>
            <a:endParaRPr lang="en-GB" sz="9600" b="1" dirty="0">
              <a:solidFill>
                <a:srgbClr val="6600FF"/>
              </a:solidFill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2951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433388" y="361950"/>
            <a:ext cx="546893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Colour – Requires 3 Beams – R, G, B</a:t>
            </a:r>
          </a:p>
        </p:txBody>
      </p:sp>
      <p:pic>
        <p:nvPicPr>
          <p:cNvPr id="28675" name="Picture 12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1063" y="1311275"/>
            <a:ext cx="6315075" cy="4838700"/>
          </a:xfrm>
          <a:noFill/>
          <a:ln algn="ctr">
            <a:miter lim="800000"/>
            <a:headEnd/>
            <a:tailEnd/>
          </a:ln>
        </p:spPr>
      </p:pic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1625600" y="1543050"/>
            <a:ext cx="6656388" cy="2468563"/>
            <a:chOff x="640" y="940"/>
            <a:chExt cx="4193" cy="1555"/>
          </a:xfrm>
        </p:grpSpPr>
        <p:sp>
          <p:nvSpPr>
            <p:cNvPr id="28690" name="Freeform 17"/>
            <p:cNvSpPr>
              <a:spLocks/>
            </p:cNvSpPr>
            <p:nvPr/>
          </p:nvSpPr>
          <p:spPr bwMode="auto">
            <a:xfrm>
              <a:off x="1504" y="2148"/>
              <a:ext cx="3329" cy="347"/>
            </a:xfrm>
            <a:custGeom>
              <a:avLst/>
              <a:gdLst>
                <a:gd name="T0" fmla="*/ 0 w 3329"/>
                <a:gd name="T1" fmla="*/ 0 h 347"/>
                <a:gd name="T2" fmla="*/ 0 w 3329"/>
                <a:gd name="T3" fmla="*/ 347 h 347"/>
                <a:gd name="T4" fmla="*/ 152 w 3329"/>
                <a:gd name="T5" fmla="*/ 291 h 347"/>
                <a:gd name="T6" fmla="*/ 236 w 3329"/>
                <a:gd name="T7" fmla="*/ 303 h 347"/>
                <a:gd name="T8" fmla="*/ 3329 w 3329"/>
                <a:gd name="T9" fmla="*/ 189 h 347"/>
                <a:gd name="T10" fmla="*/ 3329 w 3329"/>
                <a:gd name="T11" fmla="*/ 47 h 347"/>
                <a:gd name="T12" fmla="*/ 353 w 3329"/>
                <a:gd name="T13" fmla="*/ 39 h 347"/>
                <a:gd name="T14" fmla="*/ 89 w 3329"/>
                <a:gd name="T15" fmla="*/ 45 h 347"/>
                <a:gd name="T16" fmla="*/ 89 w 3329"/>
                <a:gd name="T17" fmla="*/ 57 h 347"/>
                <a:gd name="T18" fmla="*/ 0 w 3329"/>
                <a:gd name="T19" fmla="*/ 0 h 3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29"/>
                <a:gd name="T31" fmla="*/ 0 h 347"/>
                <a:gd name="T32" fmla="*/ 3329 w 3329"/>
                <a:gd name="T33" fmla="*/ 347 h 34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29" h="347">
                  <a:moveTo>
                    <a:pt x="0" y="0"/>
                  </a:moveTo>
                  <a:lnTo>
                    <a:pt x="0" y="347"/>
                  </a:lnTo>
                  <a:lnTo>
                    <a:pt x="152" y="291"/>
                  </a:lnTo>
                  <a:lnTo>
                    <a:pt x="236" y="303"/>
                  </a:lnTo>
                  <a:lnTo>
                    <a:pt x="3329" y="189"/>
                  </a:lnTo>
                  <a:lnTo>
                    <a:pt x="3329" y="47"/>
                  </a:lnTo>
                  <a:lnTo>
                    <a:pt x="353" y="39"/>
                  </a:lnTo>
                  <a:lnTo>
                    <a:pt x="89" y="45"/>
                  </a:lnTo>
                  <a:lnTo>
                    <a:pt x="89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512" y="2201"/>
              <a:ext cx="1278" cy="237"/>
              <a:chOff x="1492" y="2201"/>
              <a:chExt cx="1278" cy="237"/>
            </a:xfrm>
          </p:grpSpPr>
          <p:sp>
            <p:nvSpPr>
              <p:cNvPr id="28704" name="AutoShape 13"/>
              <p:cNvSpPr>
                <a:spLocks noChangeArrowheads="1"/>
              </p:cNvSpPr>
              <p:nvPr/>
            </p:nvSpPr>
            <p:spPr bwMode="auto">
              <a:xfrm rot="5400000">
                <a:off x="2075" y="1618"/>
                <a:ext cx="111" cy="1278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AutoShape 14"/>
              <p:cNvSpPr>
                <a:spLocks noChangeArrowheads="1"/>
              </p:cNvSpPr>
              <p:nvPr/>
            </p:nvSpPr>
            <p:spPr bwMode="auto">
              <a:xfrm rot="5400000">
                <a:off x="2075" y="1681"/>
                <a:ext cx="111" cy="1278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6" name="AutoShape 15"/>
              <p:cNvSpPr>
                <a:spLocks noChangeArrowheads="1"/>
              </p:cNvSpPr>
              <p:nvPr/>
            </p:nvSpPr>
            <p:spPr bwMode="auto">
              <a:xfrm rot="5400000">
                <a:off x="2075" y="1744"/>
                <a:ext cx="111" cy="1278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 w="9525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692" name="Line 18"/>
            <p:cNvSpPr>
              <a:spLocks noChangeShapeType="1"/>
            </p:cNvSpPr>
            <p:nvPr/>
          </p:nvSpPr>
          <p:spPr bwMode="auto">
            <a:xfrm>
              <a:off x="2166" y="2256"/>
              <a:ext cx="2664" cy="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3" name="Line 19"/>
            <p:cNvSpPr>
              <a:spLocks noChangeShapeType="1"/>
            </p:cNvSpPr>
            <p:nvPr/>
          </p:nvSpPr>
          <p:spPr bwMode="auto">
            <a:xfrm flipV="1">
              <a:off x="2166" y="2316"/>
              <a:ext cx="2664" cy="1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4" name="Line 22"/>
            <p:cNvSpPr>
              <a:spLocks noChangeShapeType="1"/>
            </p:cNvSpPr>
            <p:nvPr/>
          </p:nvSpPr>
          <p:spPr bwMode="auto">
            <a:xfrm flipV="1">
              <a:off x="2166" y="2376"/>
              <a:ext cx="2664" cy="12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95" name="Rectangle 23"/>
            <p:cNvSpPr>
              <a:spLocks noChangeArrowheads="1"/>
            </p:cNvSpPr>
            <p:nvPr/>
          </p:nvSpPr>
          <p:spPr bwMode="auto">
            <a:xfrm>
              <a:off x="944" y="940"/>
              <a:ext cx="888" cy="3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Rectangle 24"/>
            <p:cNvSpPr>
              <a:spLocks noChangeArrowheads="1"/>
            </p:cNvSpPr>
            <p:nvPr/>
          </p:nvSpPr>
          <p:spPr bwMode="auto">
            <a:xfrm>
              <a:off x="776" y="1188"/>
              <a:ext cx="272" cy="1232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7" name="Rectangle 25"/>
            <p:cNvSpPr>
              <a:spLocks noChangeArrowheads="1"/>
            </p:cNvSpPr>
            <p:nvPr/>
          </p:nvSpPr>
          <p:spPr bwMode="auto">
            <a:xfrm>
              <a:off x="640" y="1100"/>
              <a:ext cx="744" cy="328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7674" name="Rectangle 26"/>
            <p:cNvSpPr>
              <a:spLocks noChangeArrowheads="1"/>
            </p:cNvSpPr>
            <p:nvPr/>
          </p:nvSpPr>
          <p:spPr bwMode="auto">
            <a:xfrm>
              <a:off x="1072" y="2196"/>
              <a:ext cx="440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667676" name="Rectangle 28"/>
            <p:cNvSpPr>
              <a:spLocks noChangeArrowheads="1"/>
            </p:cNvSpPr>
            <p:nvPr/>
          </p:nvSpPr>
          <p:spPr bwMode="auto">
            <a:xfrm>
              <a:off x="1072" y="2340"/>
              <a:ext cx="440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chemeClr val="accent2"/>
                </a:gs>
                <a:gs pos="100000">
                  <a:schemeClr val="tx1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667675" name="Rectangle 27"/>
            <p:cNvSpPr>
              <a:spLocks noChangeArrowheads="1"/>
            </p:cNvSpPr>
            <p:nvPr/>
          </p:nvSpPr>
          <p:spPr bwMode="auto">
            <a:xfrm>
              <a:off x="1092" y="2260"/>
              <a:ext cx="440" cy="9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50000">
                  <a:srgbClr val="FF0000"/>
                </a:gs>
                <a:gs pos="100000">
                  <a:schemeClr val="tx1"/>
                </a:gs>
              </a:gsLst>
              <a:lin ang="540000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667677" name="Rectangle 29"/>
            <p:cNvSpPr>
              <a:spLocks noChangeArrowheads="1"/>
            </p:cNvSpPr>
            <p:nvPr/>
          </p:nvSpPr>
          <p:spPr bwMode="auto">
            <a:xfrm>
              <a:off x="1092" y="2292"/>
              <a:ext cx="440" cy="40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667678" name="Rectangle 30"/>
            <p:cNvSpPr>
              <a:spLocks noChangeArrowheads="1"/>
            </p:cNvSpPr>
            <p:nvPr/>
          </p:nvSpPr>
          <p:spPr bwMode="auto">
            <a:xfrm>
              <a:off x="1072" y="2220"/>
              <a:ext cx="440" cy="32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667681" name="Rectangle 33"/>
            <p:cNvSpPr>
              <a:spLocks noChangeArrowheads="1"/>
            </p:cNvSpPr>
            <p:nvPr/>
          </p:nvSpPr>
          <p:spPr bwMode="auto">
            <a:xfrm>
              <a:off x="1072" y="2372"/>
              <a:ext cx="440" cy="4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5000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</p:grpSp>
      <p:sp>
        <p:nvSpPr>
          <p:cNvPr id="28677" name="Text Box 39"/>
          <p:cNvSpPr txBox="1">
            <a:spLocks noChangeArrowheads="1"/>
          </p:cNvSpPr>
          <p:nvPr/>
        </p:nvSpPr>
        <p:spPr bwMode="auto">
          <a:xfrm>
            <a:off x="433388" y="3360738"/>
            <a:ext cx="1423987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200" b="1" dirty="0">
                <a:latin typeface="Arial" charset="0"/>
              </a:rPr>
              <a:t>Red, Blue and Green Colour Guns</a:t>
            </a:r>
            <a:r>
              <a:rPr lang="en-GB" sz="1600" dirty="0"/>
              <a:t> </a:t>
            </a:r>
          </a:p>
        </p:txBody>
      </p:sp>
      <p:sp>
        <p:nvSpPr>
          <p:cNvPr id="28678" name="Freeform 60"/>
          <p:cNvSpPr>
            <a:spLocks/>
          </p:cNvSpPr>
          <p:nvPr/>
        </p:nvSpPr>
        <p:spPr bwMode="auto">
          <a:xfrm>
            <a:off x="6959600" y="4114800"/>
            <a:ext cx="1346200" cy="1371600"/>
          </a:xfrm>
          <a:custGeom>
            <a:avLst/>
            <a:gdLst>
              <a:gd name="T0" fmla="*/ 0 w 848"/>
              <a:gd name="T1" fmla="*/ 0 h 864"/>
              <a:gd name="T2" fmla="*/ 241935030 w 848"/>
              <a:gd name="T3" fmla="*/ 0 h 864"/>
              <a:gd name="T4" fmla="*/ 2137092678 w 848"/>
              <a:gd name="T5" fmla="*/ 161290004 h 864"/>
              <a:gd name="T6" fmla="*/ 403224983 w 848"/>
              <a:gd name="T7" fmla="*/ 2147483647 h 864"/>
              <a:gd name="T8" fmla="*/ 161290003 w 848"/>
              <a:gd name="T9" fmla="*/ 2137092690 h 864"/>
              <a:gd name="T10" fmla="*/ 30241879 w 848"/>
              <a:gd name="T11" fmla="*/ 2076608957 h 864"/>
              <a:gd name="T12" fmla="*/ 0 w 848"/>
              <a:gd name="T13" fmla="*/ 0 h 8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48"/>
              <a:gd name="T22" fmla="*/ 0 h 864"/>
              <a:gd name="T23" fmla="*/ 848 w 848"/>
              <a:gd name="T24" fmla="*/ 864 h 8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48" h="864">
                <a:moveTo>
                  <a:pt x="0" y="0"/>
                </a:moveTo>
                <a:cubicBezTo>
                  <a:pt x="32" y="0"/>
                  <a:pt x="64" y="0"/>
                  <a:pt x="96" y="0"/>
                </a:cubicBezTo>
                <a:lnTo>
                  <a:pt x="848" y="64"/>
                </a:lnTo>
                <a:lnTo>
                  <a:pt x="160" y="864"/>
                </a:lnTo>
                <a:lnTo>
                  <a:pt x="64" y="848"/>
                </a:lnTo>
                <a:lnTo>
                  <a:pt x="12" y="82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679" name="Freeform 61"/>
          <p:cNvSpPr>
            <a:spLocks/>
          </p:cNvSpPr>
          <p:nvPr/>
        </p:nvSpPr>
        <p:spPr bwMode="auto">
          <a:xfrm>
            <a:off x="5907088" y="5334000"/>
            <a:ext cx="1844675" cy="1217613"/>
          </a:xfrm>
          <a:custGeom>
            <a:avLst/>
            <a:gdLst>
              <a:gd name="T0" fmla="*/ 27720926 w 1162"/>
              <a:gd name="T1" fmla="*/ 120967561 h 767"/>
              <a:gd name="T2" fmla="*/ 229333428 w 1162"/>
              <a:gd name="T3" fmla="*/ 1532255538 h 767"/>
              <a:gd name="T4" fmla="*/ 390623360 w 1162"/>
              <a:gd name="T5" fmla="*/ 1794352209 h 767"/>
              <a:gd name="T6" fmla="*/ 874493454 w 1162"/>
              <a:gd name="T7" fmla="*/ 1874997217 h 767"/>
              <a:gd name="T8" fmla="*/ 2147483647 w 1162"/>
              <a:gd name="T9" fmla="*/ 1713707202 h 767"/>
              <a:gd name="T10" fmla="*/ 2147483647 w 1162"/>
              <a:gd name="T11" fmla="*/ 1350804272 h 767"/>
              <a:gd name="T12" fmla="*/ 2147483647 w 1162"/>
              <a:gd name="T13" fmla="*/ 846772975 h 767"/>
              <a:gd name="T14" fmla="*/ 2147483647 w 1162"/>
              <a:gd name="T15" fmla="*/ 766127769 h 767"/>
              <a:gd name="T16" fmla="*/ 2144652068 w 1162"/>
              <a:gd name="T17" fmla="*/ 604837754 h 767"/>
              <a:gd name="T18" fmla="*/ 2043845860 w 1162"/>
              <a:gd name="T19" fmla="*/ 504031495 h 767"/>
              <a:gd name="T20" fmla="*/ 1963200894 w 1162"/>
              <a:gd name="T21" fmla="*/ 463708991 h 767"/>
              <a:gd name="T22" fmla="*/ 2003523377 w 1162"/>
              <a:gd name="T23" fmla="*/ 403225136 h 767"/>
              <a:gd name="T24" fmla="*/ 1781749720 w 1162"/>
              <a:gd name="T25" fmla="*/ 282257625 h 767"/>
              <a:gd name="T26" fmla="*/ 1580136908 w 1162"/>
              <a:gd name="T27" fmla="*/ 221773870 h 767"/>
              <a:gd name="T28" fmla="*/ 1035783387 w 1162"/>
              <a:gd name="T29" fmla="*/ 181451316 h 767"/>
              <a:gd name="T30" fmla="*/ 733364565 w 1162"/>
              <a:gd name="T31" fmla="*/ 80645032 h 767"/>
              <a:gd name="T32" fmla="*/ 88206250 w 1162"/>
              <a:gd name="T33" fmla="*/ 0 h 767"/>
              <a:gd name="T34" fmla="*/ 27720926 w 1162"/>
              <a:gd name="T35" fmla="*/ 120967561 h 76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162"/>
              <a:gd name="T55" fmla="*/ 0 h 767"/>
              <a:gd name="T56" fmla="*/ 1162 w 1162"/>
              <a:gd name="T57" fmla="*/ 767 h 767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162" h="767">
                <a:moveTo>
                  <a:pt x="11" y="48"/>
                </a:moveTo>
                <a:cubicBezTo>
                  <a:pt x="16" y="219"/>
                  <a:pt x="0" y="449"/>
                  <a:pt x="91" y="608"/>
                </a:cubicBezTo>
                <a:cubicBezTo>
                  <a:pt x="95" y="614"/>
                  <a:pt x="138" y="699"/>
                  <a:pt x="155" y="712"/>
                </a:cubicBezTo>
                <a:cubicBezTo>
                  <a:pt x="201" y="746"/>
                  <a:pt x="303" y="741"/>
                  <a:pt x="347" y="744"/>
                </a:cubicBezTo>
                <a:cubicBezTo>
                  <a:pt x="633" y="740"/>
                  <a:pt x="871" y="767"/>
                  <a:pt x="1131" y="680"/>
                </a:cubicBezTo>
                <a:cubicBezTo>
                  <a:pt x="1162" y="617"/>
                  <a:pt x="1152" y="652"/>
                  <a:pt x="1139" y="536"/>
                </a:cubicBezTo>
                <a:cubicBezTo>
                  <a:pt x="1131" y="461"/>
                  <a:pt x="1061" y="369"/>
                  <a:pt x="995" y="336"/>
                </a:cubicBezTo>
                <a:cubicBezTo>
                  <a:pt x="974" y="325"/>
                  <a:pt x="950" y="319"/>
                  <a:pt x="931" y="304"/>
                </a:cubicBezTo>
                <a:cubicBezTo>
                  <a:pt x="904" y="284"/>
                  <a:pt x="876" y="261"/>
                  <a:pt x="851" y="240"/>
                </a:cubicBezTo>
                <a:cubicBezTo>
                  <a:pt x="837" y="228"/>
                  <a:pt x="828" y="208"/>
                  <a:pt x="811" y="200"/>
                </a:cubicBezTo>
                <a:cubicBezTo>
                  <a:pt x="800" y="195"/>
                  <a:pt x="779" y="184"/>
                  <a:pt x="779" y="184"/>
                </a:cubicBezTo>
                <a:cubicBezTo>
                  <a:pt x="765" y="156"/>
                  <a:pt x="824" y="174"/>
                  <a:pt x="795" y="160"/>
                </a:cubicBezTo>
                <a:cubicBezTo>
                  <a:pt x="790" y="157"/>
                  <a:pt x="707" y="112"/>
                  <a:pt x="707" y="112"/>
                </a:cubicBezTo>
                <a:cubicBezTo>
                  <a:pt x="699" y="104"/>
                  <a:pt x="668" y="92"/>
                  <a:pt x="627" y="88"/>
                </a:cubicBezTo>
                <a:cubicBezTo>
                  <a:pt x="544" y="80"/>
                  <a:pt x="491" y="79"/>
                  <a:pt x="411" y="72"/>
                </a:cubicBezTo>
                <a:cubicBezTo>
                  <a:pt x="368" y="63"/>
                  <a:pt x="332" y="43"/>
                  <a:pt x="291" y="32"/>
                </a:cubicBezTo>
                <a:cubicBezTo>
                  <a:pt x="202" y="8"/>
                  <a:pt x="128" y="0"/>
                  <a:pt x="35" y="0"/>
                </a:cubicBezTo>
                <a:lnTo>
                  <a:pt x="11" y="48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680" name="Rectangle 62"/>
          <p:cNvSpPr>
            <a:spLocks noChangeArrowheads="1"/>
          </p:cNvSpPr>
          <p:nvPr/>
        </p:nvSpPr>
        <p:spPr bwMode="auto">
          <a:xfrm>
            <a:off x="2260600" y="4711700"/>
            <a:ext cx="2501900" cy="1003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63"/>
          <p:cNvSpPr>
            <a:spLocks noChangeArrowheads="1"/>
          </p:cNvSpPr>
          <p:nvPr/>
        </p:nvSpPr>
        <p:spPr bwMode="auto">
          <a:xfrm>
            <a:off x="2679700" y="4356100"/>
            <a:ext cx="368300" cy="3175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Rectangle 64"/>
          <p:cNvSpPr>
            <a:spLocks noChangeArrowheads="1"/>
          </p:cNvSpPr>
          <p:nvPr/>
        </p:nvSpPr>
        <p:spPr bwMode="auto">
          <a:xfrm>
            <a:off x="2476500" y="1308100"/>
            <a:ext cx="2463800" cy="14605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65"/>
          <p:cNvSpPr>
            <a:spLocks noChangeArrowheads="1"/>
          </p:cNvSpPr>
          <p:nvPr/>
        </p:nvSpPr>
        <p:spPr bwMode="auto">
          <a:xfrm>
            <a:off x="4711700" y="1358900"/>
            <a:ext cx="1231900" cy="4445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Rectangle 66"/>
          <p:cNvSpPr>
            <a:spLocks noChangeArrowheads="1"/>
          </p:cNvSpPr>
          <p:nvPr/>
        </p:nvSpPr>
        <p:spPr bwMode="auto">
          <a:xfrm>
            <a:off x="3365500" y="2806700"/>
            <a:ext cx="1993900" cy="1397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Rectangle 67"/>
          <p:cNvSpPr>
            <a:spLocks noChangeArrowheads="1"/>
          </p:cNvSpPr>
          <p:nvPr/>
        </p:nvSpPr>
        <p:spPr bwMode="auto">
          <a:xfrm>
            <a:off x="3289300" y="2933700"/>
            <a:ext cx="1041400" cy="1397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Rectangle 68"/>
          <p:cNvSpPr>
            <a:spLocks noChangeArrowheads="1"/>
          </p:cNvSpPr>
          <p:nvPr/>
        </p:nvSpPr>
        <p:spPr bwMode="auto">
          <a:xfrm>
            <a:off x="4787900" y="2946400"/>
            <a:ext cx="1041400" cy="1397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69"/>
          <p:cNvSpPr>
            <a:spLocks noChangeShapeType="1"/>
          </p:cNvSpPr>
          <p:nvPr/>
        </p:nvSpPr>
        <p:spPr bwMode="auto">
          <a:xfrm flipV="1">
            <a:off x="1816100" y="3708400"/>
            <a:ext cx="450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8688" name="Text Box 70"/>
          <p:cNvSpPr txBox="1">
            <a:spLocks noChangeArrowheads="1"/>
          </p:cNvSpPr>
          <p:nvPr/>
        </p:nvSpPr>
        <p:spPr bwMode="auto">
          <a:xfrm>
            <a:off x="433388" y="1219200"/>
            <a:ext cx="4392612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 err="1"/>
              <a:t>n.b</a:t>
            </a:r>
            <a:r>
              <a:rPr lang="en-GB" sz="1600" dirty="0"/>
              <a:t>. – these are all identical electron beams – </a:t>
            </a:r>
            <a:r>
              <a:rPr lang="en-GB" sz="1600" i="1" u="sng" dirty="0"/>
              <a:t>not</a:t>
            </a:r>
            <a:r>
              <a:rPr lang="en-GB" sz="1600" dirty="0"/>
              <a:t> red, blue and green beams (!)</a:t>
            </a:r>
          </a:p>
        </p:txBody>
      </p:sp>
      <p:sp>
        <p:nvSpPr>
          <p:cNvPr id="28689" name="Text Box 71"/>
          <p:cNvSpPr txBox="1">
            <a:spLocks noChangeArrowheads="1"/>
          </p:cNvSpPr>
          <p:nvPr/>
        </p:nvSpPr>
        <p:spPr bwMode="auto">
          <a:xfrm>
            <a:off x="433388" y="4851400"/>
            <a:ext cx="4392612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>
              <a:buFontTx/>
              <a:buChar char="•"/>
            </a:pPr>
            <a:r>
              <a:rPr lang="en-GB" sz="1600" dirty="0"/>
              <a:t>The beams have voltage values </a:t>
            </a:r>
            <a:r>
              <a:rPr lang="en-GB" sz="1600" dirty="0" err="1"/>
              <a:t>comensurate</a:t>
            </a:r>
            <a:r>
              <a:rPr lang="en-GB" sz="1600" dirty="0"/>
              <a:t> with the required red, blue or green image levels</a:t>
            </a:r>
          </a:p>
          <a:p>
            <a:pPr marL="174625" indent="-174625">
              <a:buFontTx/>
              <a:buChar char="•"/>
            </a:pPr>
            <a:r>
              <a:rPr lang="en-GB" sz="1600" dirty="0"/>
              <a:t>They hit red, blue and green phosphor dots on the screen</a:t>
            </a:r>
            <a:endParaRPr lang="en-GB" sz="1600" i="1" u="sng" dirty="0"/>
          </a:p>
        </p:txBody>
      </p:sp>
    </p:spTree>
    <p:extLst>
      <p:ext uri="{BB962C8B-B14F-4D97-AF65-F5344CB8AC3E}">
        <p14:creationId xmlns:p14="http://schemas.microsoft.com/office/powerpoint/2010/main" val="22072352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3063" y="1033463"/>
            <a:ext cx="3690937" cy="3381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9699" name="Text Box 7"/>
          <p:cNvSpPr txBox="1">
            <a:spLocks noChangeArrowheads="1"/>
          </p:cNvSpPr>
          <p:nvPr/>
        </p:nvSpPr>
        <p:spPr bwMode="auto">
          <a:xfrm>
            <a:off x="433388" y="361950"/>
            <a:ext cx="51355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Colour Scanning via Shadowmask</a:t>
            </a:r>
          </a:p>
        </p:txBody>
      </p:sp>
      <p:sp>
        <p:nvSpPr>
          <p:cNvPr id="29700" name="Text Box 8"/>
          <p:cNvSpPr txBox="1">
            <a:spLocks noChangeArrowheads="1"/>
          </p:cNvSpPr>
          <p:nvPr/>
        </p:nvSpPr>
        <p:spPr bwMode="auto">
          <a:xfrm>
            <a:off x="433388" y="971550"/>
            <a:ext cx="5121275" cy="163121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5738" indent="-185738">
              <a:buFontTx/>
              <a:buChar char="•"/>
            </a:pPr>
            <a:r>
              <a:rPr lang="en-GB" sz="1600" dirty="0"/>
              <a:t>Red Blue and Green colour guns scan image on to screen</a:t>
            </a:r>
          </a:p>
          <a:p>
            <a:pPr marL="185738" indent="-185738"/>
            <a:r>
              <a:rPr lang="en-GB" sz="1600" dirty="0"/>
              <a:t>	... but need to be directed towards specific R, G or B phosphor dots on the screen</a:t>
            </a:r>
          </a:p>
          <a:p>
            <a:pPr marL="185738" indent="-185738">
              <a:buFontTx/>
              <a:buChar char="•"/>
            </a:pPr>
            <a:r>
              <a:rPr lang="en-GB" sz="1600" dirty="0"/>
              <a:t>A </a:t>
            </a:r>
            <a:r>
              <a:rPr lang="en-GB" sz="1600" dirty="0" err="1"/>
              <a:t>shadowmask</a:t>
            </a:r>
            <a:r>
              <a:rPr lang="en-GB" sz="1600" dirty="0"/>
              <a:t> masks off the areas each beam should </a:t>
            </a:r>
            <a:r>
              <a:rPr lang="en-GB" sz="1600" i="1" u="sng" dirty="0"/>
              <a:t>not </a:t>
            </a:r>
            <a:r>
              <a:rPr lang="en-GB" sz="1600" dirty="0"/>
              <a:t>cover </a:t>
            </a:r>
          </a:p>
        </p:txBody>
      </p:sp>
      <p:sp>
        <p:nvSpPr>
          <p:cNvPr id="29701" name="Text Box 9"/>
          <p:cNvSpPr txBox="1">
            <a:spLocks noChangeArrowheads="1"/>
          </p:cNvSpPr>
          <p:nvPr/>
        </p:nvSpPr>
        <p:spPr bwMode="auto">
          <a:xfrm>
            <a:off x="6296025" y="4879975"/>
            <a:ext cx="284797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/>
            <a:r>
              <a:rPr lang="en-GB" sz="1600" dirty="0"/>
              <a:t>An alternative to the </a:t>
            </a:r>
            <a:r>
              <a:rPr lang="en-GB" sz="1600" dirty="0" err="1"/>
              <a:t>shadowmask</a:t>
            </a:r>
            <a:r>
              <a:rPr lang="en-GB" sz="1600" dirty="0"/>
              <a:t> is an </a:t>
            </a:r>
            <a:r>
              <a:rPr lang="en-GB" sz="1600" u="sng" dirty="0"/>
              <a:t>aperture grille</a:t>
            </a:r>
          </a:p>
          <a:p>
            <a:pPr marL="174625" indent="-174625">
              <a:buFontTx/>
              <a:buChar char="•"/>
            </a:pPr>
            <a:r>
              <a:rPr lang="en-GB" sz="1600" dirty="0"/>
              <a:t>similar function</a:t>
            </a:r>
          </a:p>
          <a:p>
            <a:pPr marL="174625" indent="-174625">
              <a:buFontTx/>
              <a:buChar char="•"/>
            </a:pPr>
            <a:r>
              <a:rPr lang="en-GB" sz="1600" dirty="0"/>
              <a:t>allows flatter displays</a:t>
            </a:r>
          </a:p>
        </p:txBody>
      </p:sp>
      <p:pic>
        <p:nvPicPr>
          <p:cNvPr id="2970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388" y="2605088"/>
            <a:ext cx="4999037" cy="3794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91558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4"/>
          <p:cNvSpPr>
            <a:spLocks noChangeShapeType="1"/>
          </p:cNvSpPr>
          <p:nvPr/>
        </p:nvSpPr>
        <p:spPr bwMode="auto">
          <a:xfrm>
            <a:off x="381000" y="2000250"/>
            <a:ext cx="1409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19" name="Freeform 5"/>
          <p:cNvSpPr>
            <a:spLocks/>
          </p:cNvSpPr>
          <p:nvPr/>
        </p:nvSpPr>
        <p:spPr bwMode="auto">
          <a:xfrm>
            <a:off x="419100" y="1397000"/>
            <a:ext cx="8318500" cy="1663700"/>
          </a:xfrm>
          <a:custGeom>
            <a:avLst/>
            <a:gdLst>
              <a:gd name="T0" fmla="*/ 0 w 5240"/>
              <a:gd name="T1" fmla="*/ 1612899645 h 1048"/>
              <a:gd name="T2" fmla="*/ 161289989 w 5240"/>
              <a:gd name="T3" fmla="*/ 1895157411 h 1048"/>
              <a:gd name="T4" fmla="*/ 403224949 w 5240"/>
              <a:gd name="T5" fmla="*/ 1895157411 h 1048"/>
              <a:gd name="T6" fmla="*/ 544353746 w 5240"/>
              <a:gd name="T7" fmla="*/ 2147483647 h 1048"/>
              <a:gd name="T8" fmla="*/ 1108868734 w 5240"/>
              <a:gd name="T9" fmla="*/ 2147483647 h 1048"/>
              <a:gd name="T10" fmla="*/ 1249997431 w 5240"/>
              <a:gd name="T11" fmla="*/ 1854834930 h 1048"/>
              <a:gd name="T12" fmla="*/ 2147483647 w 5240"/>
              <a:gd name="T13" fmla="*/ 1854834930 h 1048"/>
              <a:gd name="T14" fmla="*/ 2147483647 w 5240"/>
              <a:gd name="T15" fmla="*/ 1633060886 h 1048"/>
              <a:gd name="T16" fmla="*/ 2147483647 w 5240"/>
              <a:gd name="T17" fmla="*/ 1633060886 h 1048"/>
              <a:gd name="T18" fmla="*/ 2147483647 w 5240"/>
              <a:gd name="T19" fmla="*/ 0 h 1048"/>
              <a:gd name="T20" fmla="*/ 2147483647 w 5240"/>
              <a:gd name="T21" fmla="*/ 0 h 1048"/>
              <a:gd name="T22" fmla="*/ 2147483647 w 5240"/>
              <a:gd name="T23" fmla="*/ 1612899645 h 1048"/>
              <a:gd name="T24" fmla="*/ 2147483647 w 5240"/>
              <a:gd name="T25" fmla="*/ 1612899645 h 1048"/>
              <a:gd name="T26" fmla="*/ 2147483647 w 5240"/>
              <a:gd name="T27" fmla="*/ 1874996170 h 1048"/>
              <a:gd name="T28" fmla="*/ 2147483647 w 5240"/>
              <a:gd name="T29" fmla="*/ 1874996170 h 1048"/>
              <a:gd name="T30" fmla="*/ 2147483647 w 5240"/>
              <a:gd name="T31" fmla="*/ 2147483647 h 1048"/>
              <a:gd name="T32" fmla="*/ 2147483647 w 5240"/>
              <a:gd name="T33" fmla="*/ 2147483647 h 1048"/>
              <a:gd name="T34" fmla="*/ 2147483647 w 5240"/>
              <a:gd name="T35" fmla="*/ 1895157411 h 1048"/>
              <a:gd name="T36" fmla="*/ 2147483647 w 5240"/>
              <a:gd name="T37" fmla="*/ 1895157411 h 104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240"/>
              <a:gd name="T58" fmla="*/ 0 h 1048"/>
              <a:gd name="T59" fmla="*/ 5240 w 5240"/>
              <a:gd name="T60" fmla="*/ 1048 h 104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240" h="1048">
                <a:moveTo>
                  <a:pt x="0" y="640"/>
                </a:moveTo>
                <a:lnTo>
                  <a:pt x="64" y="752"/>
                </a:lnTo>
                <a:lnTo>
                  <a:pt x="160" y="752"/>
                </a:lnTo>
                <a:lnTo>
                  <a:pt x="216" y="1048"/>
                </a:lnTo>
                <a:lnTo>
                  <a:pt x="440" y="1048"/>
                </a:lnTo>
                <a:lnTo>
                  <a:pt x="496" y="736"/>
                </a:lnTo>
                <a:lnTo>
                  <a:pt x="888" y="736"/>
                </a:lnTo>
                <a:lnTo>
                  <a:pt x="960" y="648"/>
                </a:lnTo>
                <a:lnTo>
                  <a:pt x="1088" y="648"/>
                </a:lnTo>
                <a:lnTo>
                  <a:pt x="1256" y="0"/>
                </a:lnTo>
                <a:lnTo>
                  <a:pt x="4472" y="0"/>
                </a:lnTo>
                <a:lnTo>
                  <a:pt x="4592" y="640"/>
                </a:lnTo>
                <a:lnTo>
                  <a:pt x="4680" y="640"/>
                </a:lnTo>
                <a:lnTo>
                  <a:pt x="4712" y="744"/>
                </a:lnTo>
                <a:lnTo>
                  <a:pt x="4824" y="744"/>
                </a:lnTo>
                <a:lnTo>
                  <a:pt x="4896" y="1048"/>
                </a:lnTo>
                <a:lnTo>
                  <a:pt x="5128" y="1040"/>
                </a:lnTo>
                <a:lnTo>
                  <a:pt x="5184" y="752"/>
                </a:lnTo>
                <a:lnTo>
                  <a:pt x="5240" y="752"/>
                </a:ln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371600" y="2422525"/>
            <a:ext cx="381000" cy="304800"/>
            <a:chOff x="2064" y="1248"/>
            <a:chExt cx="432" cy="468"/>
          </a:xfrm>
        </p:grpSpPr>
        <p:sp>
          <p:nvSpPr>
            <p:cNvPr id="34835" name="Line 7"/>
            <p:cNvSpPr>
              <a:spLocks noChangeShapeType="1"/>
            </p:cNvSpPr>
            <p:nvPr/>
          </p:nvSpPr>
          <p:spPr bwMode="auto">
            <a:xfrm flipH="1">
              <a:off x="2064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836" name="Line 8"/>
            <p:cNvSpPr>
              <a:spLocks noChangeShapeType="1"/>
            </p:cNvSpPr>
            <p:nvPr/>
          </p:nvSpPr>
          <p:spPr bwMode="auto">
            <a:xfrm flipH="1">
              <a:off x="2112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837" name="Line 9"/>
            <p:cNvSpPr>
              <a:spLocks noChangeShapeType="1"/>
            </p:cNvSpPr>
            <p:nvPr/>
          </p:nvSpPr>
          <p:spPr bwMode="auto">
            <a:xfrm flipH="1">
              <a:off x="2160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838" name="Line 10"/>
            <p:cNvSpPr>
              <a:spLocks noChangeShapeType="1"/>
            </p:cNvSpPr>
            <p:nvPr/>
          </p:nvSpPr>
          <p:spPr bwMode="auto">
            <a:xfrm flipH="1">
              <a:off x="2208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839" name="Line 11"/>
            <p:cNvSpPr>
              <a:spLocks noChangeShapeType="1"/>
            </p:cNvSpPr>
            <p:nvPr/>
          </p:nvSpPr>
          <p:spPr bwMode="auto">
            <a:xfrm flipH="1">
              <a:off x="2256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840" name="Line 12"/>
            <p:cNvSpPr>
              <a:spLocks noChangeShapeType="1"/>
            </p:cNvSpPr>
            <p:nvPr/>
          </p:nvSpPr>
          <p:spPr bwMode="auto">
            <a:xfrm flipH="1">
              <a:off x="2304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841" name="Line 13"/>
            <p:cNvSpPr>
              <a:spLocks noChangeShapeType="1"/>
            </p:cNvSpPr>
            <p:nvPr/>
          </p:nvSpPr>
          <p:spPr bwMode="auto">
            <a:xfrm flipH="1">
              <a:off x="2352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842" name="Line 14"/>
            <p:cNvSpPr>
              <a:spLocks noChangeShapeType="1"/>
            </p:cNvSpPr>
            <p:nvPr/>
          </p:nvSpPr>
          <p:spPr bwMode="auto">
            <a:xfrm flipH="1">
              <a:off x="2400" y="1248"/>
              <a:ext cx="96" cy="46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34821" name="Line 15"/>
          <p:cNvSpPr>
            <a:spLocks noChangeShapeType="1"/>
          </p:cNvSpPr>
          <p:nvPr/>
        </p:nvSpPr>
        <p:spPr bwMode="auto">
          <a:xfrm flipV="1">
            <a:off x="1819275" y="14128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22" name="Line 16"/>
          <p:cNvSpPr>
            <a:spLocks noChangeShapeType="1"/>
          </p:cNvSpPr>
          <p:nvPr/>
        </p:nvSpPr>
        <p:spPr bwMode="auto">
          <a:xfrm flipV="1">
            <a:off x="7915275" y="1393825"/>
            <a:ext cx="0" cy="11049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23" name="Line 17"/>
          <p:cNvSpPr>
            <a:spLocks noChangeShapeType="1"/>
          </p:cNvSpPr>
          <p:nvPr/>
        </p:nvSpPr>
        <p:spPr bwMode="auto">
          <a:xfrm>
            <a:off x="1828800" y="1660525"/>
            <a:ext cx="6067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24" name="Text Box 18"/>
          <p:cNvSpPr txBox="1">
            <a:spLocks noChangeArrowheads="1"/>
          </p:cNvSpPr>
          <p:nvPr/>
        </p:nvSpPr>
        <p:spPr bwMode="auto">
          <a:xfrm>
            <a:off x="4389485" y="1528763"/>
            <a:ext cx="1106392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200"/>
              <a:t>Active Video</a:t>
            </a:r>
          </a:p>
        </p:txBody>
      </p:sp>
      <p:sp>
        <p:nvSpPr>
          <p:cNvPr id="34825" name="Line 19"/>
          <p:cNvSpPr>
            <a:spLocks noChangeShapeType="1"/>
          </p:cNvSpPr>
          <p:nvPr/>
        </p:nvSpPr>
        <p:spPr bwMode="auto">
          <a:xfrm flipV="1">
            <a:off x="381000" y="18319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26" name="Text Box 20"/>
          <p:cNvSpPr txBox="1">
            <a:spLocks noChangeArrowheads="1"/>
          </p:cNvSpPr>
          <p:nvPr/>
        </p:nvSpPr>
        <p:spPr bwMode="auto">
          <a:xfrm>
            <a:off x="558800" y="1325563"/>
            <a:ext cx="1092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200"/>
              <a:t>Horizontal Blanking</a:t>
            </a:r>
          </a:p>
        </p:txBody>
      </p:sp>
      <p:sp>
        <p:nvSpPr>
          <p:cNvPr id="34827" name="Line 21"/>
          <p:cNvSpPr>
            <a:spLocks noChangeShapeType="1"/>
          </p:cNvSpPr>
          <p:nvPr/>
        </p:nvSpPr>
        <p:spPr bwMode="auto">
          <a:xfrm>
            <a:off x="2162175" y="2400300"/>
            <a:ext cx="1727200" cy="31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28" name="Line 22"/>
          <p:cNvSpPr>
            <a:spLocks noChangeShapeType="1"/>
          </p:cNvSpPr>
          <p:nvPr/>
        </p:nvSpPr>
        <p:spPr bwMode="auto">
          <a:xfrm>
            <a:off x="1933575" y="2552700"/>
            <a:ext cx="1727200" cy="317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29" name="Line 23"/>
          <p:cNvSpPr>
            <a:spLocks noChangeShapeType="1"/>
          </p:cNvSpPr>
          <p:nvPr/>
        </p:nvSpPr>
        <p:spPr bwMode="auto">
          <a:xfrm flipV="1">
            <a:off x="714375" y="25812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30" name="Line 24"/>
          <p:cNvSpPr>
            <a:spLocks noChangeShapeType="1"/>
          </p:cNvSpPr>
          <p:nvPr/>
        </p:nvSpPr>
        <p:spPr bwMode="auto">
          <a:xfrm flipV="1">
            <a:off x="8118475" y="2581275"/>
            <a:ext cx="0" cy="1000125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31" name="AutoShape 27"/>
          <p:cNvSpPr>
            <a:spLocks noChangeArrowheads="1"/>
          </p:cNvSpPr>
          <p:nvPr/>
        </p:nvSpPr>
        <p:spPr bwMode="auto">
          <a:xfrm>
            <a:off x="4516438" y="3706813"/>
            <a:ext cx="4098925" cy="2717340"/>
          </a:xfrm>
          <a:prstGeom prst="wedgeRoundRectCallout">
            <a:avLst>
              <a:gd name="adj1" fmla="val -36718"/>
              <a:gd name="adj2" fmla="val -12725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1"/>
              <a:t>Active Video section of the signal (above)</a:t>
            </a:r>
          </a:p>
          <a:p>
            <a:pPr>
              <a:lnSpc>
                <a:spcPct val="120000"/>
              </a:lnSpc>
            </a:pPr>
            <a:r>
              <a:rPr lang="en-GB" sz="1600"/>
              <a:t>Y, Cr and Cb (analogue: Y, Pb,Pr) signals are </a:t>
            </a:r>
            <a:r>
              <a:rPr lang="en-GB" sz="1600" u="sng"/>
              <a:t>modulated</a:t>
            </a:r>
            <a:r>
              <a:rPr lang="en-GB" sz="1600"/>
              <a:t> on to the signal carriers:</a:t>
            </a:r>
          </a:p>
          <a:p>
            <a:pPr marL="542925" lvl="1" indent="-177800">
              <a:lnSpc>
                <a:spcPct val="120000"/>
              </a:lnSpc>
              <a:buFontTx/>
              <a:buChar char="•"/>
            </a:pPr>
            <a:r>
              <a:rPr lang="en-GB" sz="1600"/>
              <a:t>FM carriers + phase modulated carriers for colour (chrominance) information</a:t>
            </a:r>
          </a:p>
        </p:txBody>
      </p:sp>
      <p:sp>
        <p:nvSpPr>
          <p:cNvPr id="34832" name="Rectangle 28"/>
          <p:cNvSpPr>
            <a:spLocks noChangeArrowheads="1"/>
          </p:cNvSpPr>
          <p:nvPr/>
        </p:nvSpPr>
        <p:spPr bwMode="auto">
          <a:xfrm>
            <a:off x="1014413" y="2724150"/>
            <a:ext cx="111442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200">
                <a:sym typeface="Symbol" pitchFamily="18" charset="2"/>
              </a:rPr>
              <a:t>colour</a:t>
            </a:r>
          </a:p>
          <a:p>
            <a:pPr algn="ctr"/>
            <a:r>
              <a:rPr lang="en-GB" sz="1200">
                <a:sym typeface="Symbol" pitchFamily="18" charset="2"/>
              </a:rPr>
              <a:t>burst</a:t>
            </a:r>
          </a:p>
        </p:txBody>
      </p:sp>
      <p:sp>
        <p:nvSpPr>
          <p:cNvPr id="34833" name="Rectangle 29"/>
          <p:cNvSpPr>
            <a:spLocks noChangeArrowheads="1"/>
          </p:cNvSpPr>
          <p:nvPr/>
        </p:nvSpPr>
        <p:spPr bwMode="auto">
          <a:xfrm>
            <a:off x="433388" y="361950"/>
            <a:ext cx="713849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Decoding Colour Information (analogue scans)</a:t>
            </a:r>
          </a:p>
        </p:txBody>
      </p:sp>
      <p:sp>
        <p:nvSpPr>
          <p:cNvPr id="34834" name="AutoShape 32"/>
          <p:cNvSpPr>
            <a:spLocks noChangeArrowheads="1"/>
          </p:cNvSpPr>
          <p:nvPr/>
        </p:nvSpPr>
        <p:spPr bwMode="auto">
          <a:xfrm>
            <a:off x="433388" y="4449763"/>
            <a:ext cx="3454400" cy="2063544"/>
          </a:xfrm>
          <a:prstGeom prst="wedgeRoundRectCallout">
            <a:avLst>
              <a:gd name="adj1" fmla="val -18889"/>
              <a:gd name="adj2" fmla="val -11441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1"/>
              <a:t>Colour burst</a:t>
            </a:r>
            <a:r>
              <a:rPr lang="en-GB" sz="1600"/>
              <a:t> </a:t>
            </a:r>
          </a:p>
          <a:p>
            <a:pPr>
              <a:lnSpc>
                <a:spcPct val="120000"/>
              </a:lnSpc>
            </a:pPr>
            <a:r>
              <a:rPr lang="en-GB" sz="1600"/>
              <a:t>gives information on synchronising the demodulation of the colour information from this part of the signal (on a per line basis)</a:t>
            </a:r>
          </a:p>
        </p:txBody>
      </p:sp>
    </p:spTree>
    <p:extLst>
      <p:ext uri="{BB962C8B-B14F-4D97-AF65-F5344CB8AC3E}">
        <p14:creationId xmlns:p14="http://schemas.microsoft.com/office/powerpoint/2010/main" val="1511221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12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17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AU" sz="2400" b="1"/>
              <a:t>A Compatible Colour System</a:t>
            </a:r>
          </a:p>
        </p:txBody>
      </p:sp>
      <p:pic>
        <p:nvPicPr>
          <p:cNvPr id="31747" name="Picture 5123" descr="D:\IMAGES\dmv\colortv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92" y="966259"/>
            <a:ext cx="74453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9652" name="Text Box 5124"/>
          <p:cNvSpPr txBox="1">
            <a:spLocks noChangeArrowheads="1"/>
          </p:cNvSpPr>
          <p:nvPr/>
        </p:nvSpPr>
        <p:spPr bwMode="auto">
          <a:xfrm>
            <a:off x="4588405" y="2065867"/>
            <a:ext cx="574675" cy="8239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4800" b="1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Lucida Sans Unicode" pitchFamily="34" charset="0"/>
              </a:rPr>
              <a:t>Y</a:t>
            </a:r>
          </a:p>
        </p:txBody>
      </p:sp>
      <p:sp>
        <p:nvSpPr>
          <p:cNvPr id="1179653" name="Text Box 5125"/>
          <p:cNvSpPr txBox="1">
            <a:spLocks noChangeArrowheads="1"/>
          </p:cNvSpPr>
          <p:nvPr/>
        </p:nvSpPr>
        <p:spPr bwMode="auto">
          <a:xfrm>
            <a:off x="4588405" y="3285067"/>
            <a:ext cx="585787" cy="830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4800" b="1" dirty="0">
                <a:solidFill>
                  <a:srgbClr val="CF0E3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Unicode" pitchFamily="34" charset="0"/>
              </a:rPr>
              <a:t>V</a:t>
            </a:r>
          </a:p>
        </p:txBody>
      </p:sp>
      <p:sp>
        <p:nvSpPr>
          <p:cNvPr id="1179654" name="Text Box 5126"/>
          <p:cNvSpPr txBox="1">
            <a:spLocks noChangeArrowheads="1"/>
          </p:cNvSpPr>
          <p:nvPr/>
        </p:nvSpPr>
        <p:spPr bwMode="auto">
          <a:xfrm>
            <a:off x="4588405" y="4504267"/>
            <a:ext cx="611187" cy="830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Unicode" pitchFamily="34" charset="0"/>
              </a:rPr>
              <a:t>U</a:t>
            </a:r>
          </a:p>
        </p:txBody>
      </p:sp>
      <p:sp>
        <p:nvSpPr>
          <p:cNvPr id="1179655" name="Text Box 5127"/>
          <p:cNvSpPr txBox="1">
            <a:spLocks noChangeArrowheads="1"/>
          </p:cNvSpPr>
          <p:nvPr/>
        </p:nvSpPr>
        <p:spPr bwMode="auto">
          <a:xfrm>
            <a:off x="6769630" y="3742267"/>
            <a:ext cx="444352" cy="13849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Unicode" pitchFamily="34" charset="0"/>
              </a:rPr>
              <a:t>R</a:t>
            </a:r>
            <a:br>
              <a:rPr lang="en-A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Unicode" pitchFamily="34" charset="0"/>
              </a:rPr>
            </a:br>
            <a:r>
              <a:rPr lang="en-AU" sz="2800" b="1" dirty="0">
                <a:solidFill>
                  <a:srgbClr val="33CC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Unicode" pitchFamily="34" charset="0"/>
              </a:rPr>
              <a:t>G</a:t>
            </a:r>
            <a:br>
              <a:rPr lang="en-A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Unicode" pitchFamily="34" charset="0"/>
              </a:rPr>
            </a:br>
            <a:r>
              <a:rPr lang="en-A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Unicode" pitchFamily="34" charset="0"/>
              </a:rPr>
              <a:t>B</a:t>
            </a:r>
          </a:p>
        </p:txBody>
      </p:sp>
      <p:sp>
        <p:nvSpPr>
          <p:cNvPr id="1179656" name="Text Box 5128"/>
          <p:cNvSpPr txBox="1">
            <a:spLocks noChangeArrowheads="1"/>
          </p:cNvSpPr>
          <p:nvPr/>
        </p:nvSpPr>
        <p:spPr bwMode="auto">
          <a:xfrm>
            <a:off x="6839480" y="2218267"/>
            <a:ext cx="407987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Lucida Sans Unicode" pitchFamily="34" charset="0"/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4192" y="5698596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/>
              <a:t>Now, digital …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1831784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040" y="1209040"/>
            <a:ext cx="6423959" cy="386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" y="381000"/>
            <a:ext cx="347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Image Comprises RGB</a:t>
            </a:r>
          </a:p>
        </p:txBody>
      </p:sp>
      <p:grpSp>
        <p:nvGrpSpPr>
          <p:cNvPr id="3" name="Group 100"/>
          <p:cNvGrpSpPr/>
          <p:nvPr/>
        </p:nvGrpSpPr>
        <p:grpSpPr>
          <a:xfrm>
            <a:off x="417004" y="1910396"/>
            <a:ext cx="3754946" cy="2518728"/>
            <a:chOff x="417004" y="1079507"/>
            <a:chExt cx="5616872" cy="3886765"/>
          </a:xfrm>
        </p:grpSpPr>
        <p:sp>
          <p:nvSpPr>
            <p:cNvPr id="102" name="Rectangle 101"/>
            <p:cNvSpPr/>
            <p:nvPr/>
          </p:nvSpPr>
          <p:spPr bwMode="auto">
            <a:xfrm>
              <a:off x="993316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3" name="Rectangle 102"/>
            <p:cNvSpPr/>
            <p:nvPr/>
          </p:nvSpPr>
          <p:spPr bwMode="auto">
            <a:xfrm>
              <a:off x="1880557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4" name="Rectangle 103"/>
            <p:cNvSpPr/>
            <p:nvPr/>
          </p:nvSpPr>
          <p:spPr bwMode="auto">
            <a:xfrm>
              <a:off x="2767799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5" name="Rectangle 104"/>
            <p:cNvSpPr/>
            <p:nvPr/>
          </p:nvSpPr>
          <p:spPr bwMode="auto">
            <a:xfrm>
              <a:off x="993316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6" name="Rectangle 105"/>
            <p:cNvSpPr/>
            <p:nvPr/>
          </p:nvSpPr>
          <p:spPr bwMode="auto">
            <a:xfrm>
              <a:off x="1880557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 bwMode="auto">
            <a:xfrm>
              <a:off x="2767799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849052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09" name="Rectangle 108"/>
            <p:cNvSpPr/>
            <p:nvPr/>
          </p:nvSpPr>
          <p:spPr bwMode="auto">
            <a:xfrm>
              <a:off x="1736293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2623535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1" name="Rectangle 110"/>
            <p:cNvSpPr/>
            <p:nvPr/>
          </p:nvSpPr>
          <p:spPr bwMode="auto">
            <a:xfrm>
              <a:off x="849052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2" name="Rectangle 111"/>
            <p:cNvSpPr/>
            <p:nvPr/>
          </p:nvSpPr>
          <p:spPr bwMode="auto">
            <a:xfrm>
              <a:off x="1736293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2623535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849052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1736293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2623535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633028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1520269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2407511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633028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1520269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2407511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633028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1520269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2407511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6" name="Rectangle 125"/>
            <p:cNvSpPr/>
            <p:nvPr/>
          </p:nvSpPr>
          <p:spPr bwMode="auto">
            <a:xfrm>
              <a:off x="417004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1304245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2191487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417004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0" name="Rectangle 129"/>
            <p:cNvSpPr/>
            <p:nvPr/>
          </p:nvSpPr>
          <p:spPr bwMode="auto">
            <a:xfrm>
              <a:off x="1304245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1" name="Rectangle 130"/>
            <p:cNvSpPr/>
            <p:nvPr/>
          </p:nvSpPr>
          <p:spPr bwMode="auto">
            <a:xfrm>
              <a:off x="2191487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2" name="Rectangle 131"/>
            <p:cNvSpPr/>
            <p:nvPr/>
          </p:nvSpPr>
          <p:spPr bwMode="auto">
            <a:xfrm>
              <a:off x="417004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1304245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2191487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5" name="Rectangle 134"/>
            <p:cNvSpPr/>
            <p:nvPr/>
          </p:nvSpPr>
          <p:spPr bwMode="auto">
            <a:xfrm>
              <a:off x="3693864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6" name="Rectangle 135"/>
            <p:cNvSpPr/>
            <p:nvPr/>
          </p:nvSpPr>
          <p:spPr bwMode="auto">
            <a:xfrm>
              <a:off x="4581105" y="1691575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7" name="Rectangle 136"/>
            <p:cNvSpPr/>
            <p:nvPr/>
          </p:nvSpPr>
          <p:spPr bwMode="auto">
            <a:xfrm>
              <a:off x="3693864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8" name="Rectangle 137"/>
            <p:cNvSpPr/>
            <p:nvPr/>
          </p:nvSpPr>
          <p:spPr bwMode="auto">
            <a:xfrm>
              <a:off x="4581105" y="2578816"/>
              <a:ext cx="709793" cy="7097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 bwMode="auto">
            <a:xfrm>
              <a:off x="3549600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 bwMode="auto">
            <a:xfrm>
              <a:off x="4436841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5324083" y="1511555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2" name="Rectangle 141"/>
            <p:cNvSpPr/>
            <p:nvPr/>
          </p:nvSpPr>
          <p:spPr bwMode="auto">
            <a:xfrm>
              <a:off x="3549600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3" name="Rectangle 142"/>
            <p:cNvSpPr/>
            <p:nvPr/>
          </p:nvSpPr>
          <p:spPr bwMode="auto">
            <a:xfrm>
              <a:off x="4436841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4" name="Rectangle 143"/>
            <p:cNvSpPr/>
            <p:nvPr/>
          </p:nvSpPr>
          <p:spPr bwMode="auto">
            <a:xfrm>
              <a:off x="5324083" y="2398796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5" name="Rectangle 144"/>
            <p:cNvSpPr/>
            <p:nvPr/>
          </p:nvSpPr>
          <p:spPr bwMode="auto">
            <a:xfrm>
              <a:off x="3549600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6" name="Rectangle 145"/>
            <p:cNvSpPr/>
            <p:nvPr/>
          </p:nvSpPr>
          <p:spPr bwMode="auto">
            <a:xfrm>
              <a:off x="4436841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5324083" y="3286038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8" name="Rectangle 147"/>
            <p:cNvSpPr/>
            <p:nvPr/>
          </p:nvSpPr>
          <p:spPr bwMode="auto">
            <a:xfrm>
              <a:off x="3333576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49" name="Rectangle 148"/>
            <p:cNvSpPr/>
            <p:nvPr/>
          </p:nvSpPr>
          <p:spPr bwMode="auto">
            <a:xfrm>
              <a:off x="4220817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0" name="Rectangle 149"/>
            <p:cNvSpPr/>
            <p:nvPr/>
          </p:nvSpPr>
          <p:spPr bwMode="auto">
            <a:xfrm>
              <a:off x="5108059" y="1331535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1" name="Rectangle 150"/>
            <p:cNvSpPr/>
            <p:nvPr/>
          </p:nvSpPr>
          <p:spPr bwMode="auto">
            <a:xfrm>
              <a:off x="3333576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2" name="Rectangle 151"/>
            <p:cNvSpPr/>
            <p:nvPr/>
          </p:nvSpPr>
          <p:spPr bwMode="auto">
            <a:xfrm>
              <a:off x="4220817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3" name="Rectangle 152"/>
            <p:cNvSpPr/>
            <p:nvPr/>
          </p:nvSpPr>
          <p:spPr bwMode="auto">
            <a:xfrm>
              <a:off x="5108059" y="2218776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4" name="Rectangle 153"/>
            <p:cNvSpPr/>
            <p:nvPr/>
          </p:nvSpPr>
          <p:spPr bwMode="auto">
            <a:xfrm>
              <a:off x="3333576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5" name="Rectangle 154"/>
            <p:cNvSpPr/>
            <p:nvPr/>
          </p:nvSpPr>
          <p:spPr bwMode="auto">
            <a:xfrm>
              <a:off x="4220817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5108059" y="3106018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7" name="Rectangle 156"/>
            <p:cNvSpPr/>
            <p:nvPr/>
          </p:nvSpPr>
          <p:spPr bwMode="auto">
            <a:xfrm>
              <a:off x="3117552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4004793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59" name="Rectangle 158"/>
            <p:cNvSpPr/>
            <p:nvPr/>
          </p:nvSpPr>
          <p:spPr bwMode="auto">
            <a:xfrm>
              <a:off x="4892035" y="1079507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0" name="Rectangle 159"/>
            <p:cNvSpPr/>
            <p:nvPr/>
          </p:nvSpPr>
          <p:spPr bwMode="auto">
            <a:xfrm>
              <a:off x="3117552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1" name="Rectangle 160"/>
            <p:cNvSpPr/>
            <p:nvPr/>
          </p:nvSpPr>
          <p:spPr bwMode="auto">
            <a:xfrm>
              <a:off x="4004793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2" name="Rectangle 161"/>
            <p:cNvSpPr/>
            <p:nvPr/>
          </p:nvSpPr>
          <p:spPr bwMode="auto">
            <a:xfrm>
              <a:off x="4892035" y="1966748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3117552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4004793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4892035" y="2853990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849052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1736293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2623535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633028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1520269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2407511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2" name="Rectangle 171"/>
            <p:cNvSpPr/>
            <p:nvPr/>
          </p:nvSpPr>
          <p:spPr bwMode="auto">
            <a:xfrm>
              <a:off x="417004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1304245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2191487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3549600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4436841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5324083" y="4256479"/>
              <a:ext cx="709793" cy="70979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8" name="Rectangle 177"/>
            <p:cNvSpPr/>
            <p:nvPr/>
          </p:nvSpPr>
          <p:spPr bwMode="auto">
            <a:xfrm>
              <a:off x="3333576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9" name="Rectangle 178"/>
            <p:cNvSpPr/>
            <p:nvPr/>
          </p:nvSpPr>
          <p:spPr bwMode="auto">
            <a:xfrm>
              <a:off x="4220817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0" name="Rectangle 179"/>
            <p:cNvSpPr/>
            <p:nvPr/>
          </p:nvSpPr>
          <p:spPr bwMode="auto">
            <a:xfrm>
              <a:off x="5108059" y="4076459"/>
              <a:ext cx="709793" cy="709793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1" name="Rectangle 180"/>
            <p:cNvSpPr/>
            <p:nvPr/>
          </p:nvSpPr>
          <p:spPr bwMode="auto">
            <a:xfrm>
              <a:off x="3117552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 bwMode="auto">
            <a:xfrm>
              <a:off x="4004793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83" name="Rectangle 182"/>
            <p:cNvSpPr/>
            <p:nvPr/>
          </p:nvSpPr>
          <p:spPr bwMode="auto">
            <a:xfrm>
              <a:off x="4892035" y="3824431"/>
              <a:ext cx="709793" cy="70979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sp>
        <p:nvSpPr>
          <p:cNvPr id="184" name="TextBox 183"/>
          <p:cNvSpPr txBox="1"/>
          <p:nvPr/>
        </p:nvSpPr>
        <p:spPr>
          <a:xfrm>
            <a:off x="381000" y="5647446"/>
            <a:ext cx="547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Each pixel is represented by R, B, G</a:t>
            </a:r>
          </a:p>
          <a:p>
            <a:r>
              <a:rPr lang="en-GB" sz="1800" dirty="0"/>
              <a:t>(each pixel has its own unique value)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1016000"/>
            <a:ext cx="2199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Original captured image at camera sensor: 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4267200" y="2418080"/>
            <a:ext cx="1127760" cy="589280"/>
          </a:xfrm>
          <a:prstGeom prst="straightConnector1">
            <a:avLst/>
          </a:prstGeom>
          <a:noFill/>
          <a:ln w="508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Rectangle 10"/>
          <p:cNvSpPr/>
          <p:nvPr/>
        </p:nvSpPr>
        <p:spPr bwMode="auto">
          <a:xfrm>
            <a:off x="381000" y="1828800"/>
            <a:ext cx="3865880" cy="2702560"/>
          </a:xfrm>
          <a:prstGeom prst="rect">
            <a:avLst/>
          </a:prstGeom>
          <a:noFill/>
          <a:ln w="508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405120" y="2316480"/>
            <a:ext cx="193040" cy="11176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0558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395288" y="1029230"/>
            <a:ext cx="8305800" cy="3613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7325" indent="-187325">
              <a:lnSpc>
                <a:spcPct val="110000"/>
              </a:lnSpc>
            </a:pPr>
            <a:r>
              <a:rPr lang="en-GB" sz="1600" b="1" dirty="0"/>
              <a:t>Human Eye Perception</a:t>
            </a:r>
          </a:p>
          <a:p>
            <a:pPr marL="187325" indent="-187325">
              <a:lnSpc>
                <a:spcPct val="110000"/>
              </a:lnSpc>
              <a:buFontTx/>
              <a:buChar char="•"/>
            </a:pPr>
            <a:r>
              <a:rPr lang="en-GB" sz="1600" dirty="0"/>
              <a:t>eye more sensitive to moving objects and edges rather than gradual transitions</a:t>
            </a:r>
          </a:p>
          <a:p>
            <a:pPr marL="187325" indent="-187325">
              <a:lnSpc>
                <a:spcPct val="110000"/>
              </a:lnSpc>
              <a:buFontTx/>
              <a:buChar char="•"/>
            </a:pPr>
            <a:r>
              <a:rPr lang="en-GB" sz="1600" dirty="0"/>
              <a:t>… red  / green / blue sensitivities</a:t>
            </a:r>
          </a:p>
          <a:p>
            <a:pPr marL="187325" indent="-187325">
              <a:lnSpc>
                <a:spcPct val="110000"/>
              </a:lnSpc>
              <a:buFontTx/>
              <a:buChar char="•"/>
            </a:pPr>
            <a:r>
              <a:rPr lang="en-GB" sz="1600" dirty="0"/>
              <a:t>… more sensitive to changes in </a:t>
            </a:r>
            <a:r>
              <a:rPr lang="en-GB" sz="1600"/>
              <a:t>brightness (luminance) </a:t>
            </a:r>
          </a:p>
          <a:p>
            <a:pPr lvl="5">
              <a:lnSpc>
                <a:spcPct val="110000"/>
              </a:lnSpc>
            </a:pPr>
            <a:r>
              <a:rPr lang="en-GB"/>
              <a:t>… than colour (chroma)</a:t>
            </a:r>
            <a:endParaRPr lang="en-GB" dirty="0"/>
          </a:p>
          <a:p>
            <a:pPr marL="187325" indent="-187325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 marL="187325" indent="-187325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 marL="187325" indent="-187325">
              <a:lnSpc>
                <a:spcPct val="110000"/>
              </a:lnSpc>
              <a:buFontTx/>
              <a:buChar char="•"/>
            </a:pPr>
            <a:endParaRPr lang="en-GB" sz="1600" dirty="0"/>
          </a:p>
          <a:p>
            <a:pPr>
              <a:lnSpc>
                <a:spcPct val="110000"/>
              </a:lnSpc>
            </a:pPr>
            <a:r>
              <a:rPr lang="en-GB" sz="1600" b="1" dirty="0"/>
              <a:t>Coding for Colour Information </a:t>
            </a:r>
          </a:p>
          <a:p>
            <a:pPr>
              <a:lnSpc>
                <a:spcPct val="110000"/>
              </a:lnSpc>
            </a:pPr>
            <a:r>
              <a:rPr lang="en-GB" sz="1600" dirty="0"/>
              <a:t>… as </a:t>
            </a:r>
            <a:r>
              <a:rPr lang="en-GB" sz="1600" i="1" dirty="0"/>
              <a:t>colour spaces – </a:t>
            </a:r>
            <a:r>
              <a:rPr lang="en-GB" sz="1600" i="1" dirty="0" err="1"/>
              <a:t>luma+chroma</a:t>
            </a:r>
            <a:endParaRPr lang="en-GB" sz="1600" i="1" dirty="0"/>
          </a:p>
          <a:p>
            <a:pPr>
              <a:lnSpc>
                <a:spcPct val="110000"/>
              </a:lnSpc>
            </a:pPr>
            <a:r>
              <a:rPr lang="en-GB" sz="1600" dirty="0"/>
              <a:t>… typically encoded as </a:t>
            </a:r>
            <a:r>
              <a:rPr lang="en-GB" sz="1600" dirty="0" err="1"/>
              <a:t>Y,Cb,Cr</a:t>
            </a:r>
            <a:r>
              <a:rPr lang="en-GB" sz="1600" dirty="0"/>
              <a:t> </a:t>
            </a:r>
          </a:p>
          <a:p>
            <a:pPr>
              <a:lnSpc>
                <a:spcPct val="110000"/>
              </a:lnSpc>
            </a:pPr>
            <a:endParaRPr lang="en-GB" sz="1600" dirty="0"/>
          </a:p>
          <a:p>
            <a:pPr>
              <a:lnSpc>
                <a:spcPct val="110000"/>
              </a:lnSpc>
            </a:pPr>
            <a:r>
              <a:rPr lang="en-GB" sz="1600" dirty="0"/>
              <a:t>	(c.f. </a:t>
            </a:r>
            <a:r>
              <a:rPr lang="en-GB" sz="1600" dirty="0" err="1"/>
              <a:t>Y,Pb,Pr</a:t>
            </a:r>
            <a:r>
              <a:rPr lang="en-GB" sz="1600" dirty="0"/>
              <a:t>, YUV, other variants for PAL, NTSC)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431800" y="382588"/>
            <a:ext cx="21209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Colour Space</a:t>
            </a:r>
          </a:p>
        </p:txBody>
      </p:sp>
    </p:spTree>
    <p:extLst>
      <p:ext uri="{BB962C8B-B14F-4D97-AF65-F5344CB8AC3E}">
        <p14:creationId xmlns:p14="http://schemas.microsoft.com/office/powerpoint/2010/main" val="33254682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81000" y="333375"/>
            <a:ext cx="62680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 err="1"/>
              <a:t>Psychovisual</a:t>
            </a:r>
            <a:r>
              <a:rPr lang="en-GB" sz="2400" b="1" dirty="0"/>
              <a:t> – how we perceive images</a:t>
            </a:r>
          </a:p>
        </p:txBody>
      </p:sp>
      <p:sp>
        <p:nvSpPr>
          <p:cNvPr id="13" name="Oval 17"/>
          <p:cNvSpPr>
            <a:spLocks noChangeArrowheads="1"/>
          </p:cNvSpPr>
          <p:nvPr/>
        </p:nvSpPr>
        <p:spPr bwMode="auto">
          <a:xfrm>
            <a:off x="6353745" y="1007534"/>
            <a:ext cx="1714988" cy="1507067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noAutofit/>
          </a:bodyPr>
          <a:lstStyle/>
          <a:p>
            <a:endParaRPr lang="en-US"/>
          </a:p>
        </p:txBody>
      </p:sp>
      <p:pic>
        <p:nvPicPr>
          <p:cNvPr id="1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0137" y="2548467"/>
            <a:ext cx="2935334" cy="18752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381000" y="880400"/>
            <a:ext cx="5141288" cy="26361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>
              <a:lnSpc>
                <a:spcPct val="130000"/>
              </a:lnSpc>
            </a:pPr>
            <a:r>
              <a:rPr lang="en-GB" b="1" dirty="0"/>
              <a:t>Light sensitivity in the eye</a:t>
            </a:r>
          </a:p>
          <a:p>
            <a:pPr marL="174625" indent="-174625">
              <a:lnSpc>
                <a:spcPct val="130000"/>
              </a:lnSpc>
            </a:pPr>
            <a:endParaRPr lang="en-GB" sz="900" b="1" dirty="0"/>
          </a:p>
          <a:p>
            <a:pPr marL="174625" indent="-174625">
              <a:lnSpc>
                <a:spcPct val="130000"/>
              </a:lnSpc>
            </a:pPr>
            <a:r>
              <a:rPr lang="en-GB" b="1" dirty="0"/>
              <a:t>Rods - </a:t>
            </a:r>
            <a:r>
              <a:rPr lang="en-GB" dirty="0"/>
              <a:t>light intensity - not colour</a:t>
            </a:r>
          </a:p>
          <a:p>
            <a:pPr marL="174625" indent="-174625">
              <a:lnSpc>
                <a:spcPct val="130000"/>
              </a:lnSpc>
              <a:buFontTx/>
              <a:buChar char="•"/>
            </a:pPr>
            <a:r>
              <a:rPr lang="en-GB" dirty="0"/>
              <a:t>~125 million across the retina</a:t>
            </a:r>
          </a:p>
          <a:p>
            <a:pPr marL="174625" indent="-174625">
              <a:lnSpc>
                <a:spcPct val="130000"/>
              </a:lnSpc>
              <a:buFontTx/>
              <a:buChar char="•"/>
            </a:pPr>
            <a:r>
              <a:rPr lang="en-GB" dirty="0"/>
              <a:t>characteristics of high speed black &amp; white film</a:t>
            </a:r>
          </a:p>
          <a:p>
            <a:pPr marL="174625" indent="-174625"/>
            <a:endParaRPr lang="en-GB" b="1" dirty="0"/>
          </a:p>
          <a:p>
            <a:pPr marL="174625" indent="-174625"/>
            <a:r>
              <a:rPr lang="en-GB" b="1" dirty="0"/>
              <a:t>Cones - </a:t>
            </a:r>
            <a:r>
              <a:rPr lang="en-GB" dirty="0"/>
              <a:t>colour - responsive in three wavebands</a:t>
            </a:r>
          </a:p>
          <a:p>
            <a:pPr marL="174625" indent="-174625">
              <a:lnSpc>
                <a:spcPct val="120000"/>
              </a:lnSpc>
              <a:buFontTx/>
              <a:buChar char="•"/>
            </a:pPr>
            <a:r>
              <a:rPr lang="en-GB" dirty="0"/>
              <a:t>6 or 7 million cones</a:t>
            </a:r>
          </a:p>
          <a:p>
            <a:pPr marL="174625" indent="-174625">
              <a:lnSpc>
                <a:spcPct val="120000"/>
              </a:lnSpc>
              <a:buFontTx/>
              <a:buChar char="•"/>
            </a:pPr>
            <a:r>
              <a:rPr lang="en-GB" dirty="0"/>
              <a:t>characteristics of low-speed colour film</a:t>
            </a:r>
            <a:endParaRPr lang="en-GB" sz="18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381000" y="4099511"/>
            <a:ext cx="4354781" cy="2268664"/>
            <a:chOff x="1295896" y="2694043"/>
            <a:chExt cx="4354781" cy="2268664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295896" y="2694043"/>
              <a:ext cx="2859215" cy="2268664"/>
              <a:chOff x="1310" y="787"/>
              <a:chExt cx="3854" cy="3121"/>
            </a:xfrm>
          </p:grpSpPr>
          <p:pic>
            <p:nvPicPr>
              <p:cNvPr id="4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352" y="787"/>
                <a:ext cx="3736" cy="3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1324" y="1824"/>
                <a:ext cx="439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1310" y="2057"/>
                <a:ext cx="336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317" y="2393"/>
                <a:ext cx="336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317" y="2646"/>
                <a:ext cx="199" cy="185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4718" y="3263"/>
                <a:ext cx="405" cy="281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3510" y="1981"/>
                <a:ext cx="405" cy="199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4690" y="1446"/>
                <a:ext cx="474" cy="199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4635" y="1830"/>
                <a:ext cx="474" cy="199"/>
              </a:xfrm>
              <a:prstGeom prst="rect">
                <a:avLst/>
              </a:prstGeom>
              <a:noFill/>
              <a:ln w="1905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7" name="Freeform 16"/>
            <p:cNvSpPr/>
            <p:nvPr/>
          </p:nvSpPr>
          <p:spPr bwMode="auto">
            <a:xfrm>
              <a:off x="2889504" y="3008376"/>
              <a:ext cx="690587" cy="1700784"/>
            </a:xfrm>
            <a:custGeom>
              <a:avLst/>
              <a:gdLst>
                <a:gd name="connsiteX0" fmla="*/ 0 w 690587"/>
                <a:gd name="connsiteY0" fmla="*/ 0 h 1700784"/>
                <a:gd name="connsiteX1" fmla="*/ 246888 w 690587"/>
                <a:gd name="connsiteY1" fmla="*/ 100584 h 1700784"/>
                <a:gd name="connsiteX2" fmla="*/ 448056 w 690587"/>
                <a:gd name="connsiteY2" fmla="*/ 292608 h 1700784"/>
                <a:gd name="connsiteX3" fmla="*/ 603504 w 690587"/>
                <a:gd name="connsiteY3" fmla="*/ 521208 h 1700784"/>
                <a:gd name="connsiteX4" fmla="*/ 685800 w 690587"/>
                <a:gd name="connsiteY4" fmla="*/ 886968 h 1700784"/>
                <a:gd name="connsiteX5" fmla="*/ 667512 w 690587"/>
                <a:gd name="connsiteY5" fmla="*/ 1051560 h 1700784"/>
                <a:gd name="connsiteX6" fmla="*/ 557784 w 690587"/>
                <a:gd name="connsiteY6" fmla="*/ 1280160 h 1700784"/>
                <a:gd name="connsiteX7" fmla="*/ 466344 w 690587"/>
                <a:gd name="connsiteY7" fmla="*/ 1417320 h 1700784"/>
                <a:gd name="connsiteX8" fmla="*/ 310896 w 690587"/>
                <a:gd name="connsiteY8" fmla="*/ 1545336 h 1700784"/>
                <a:gd name="connsiteX9" fmla="*/ 182880 w 690587"/>
                <a:gd name="connsiteY9" fmla="*/ 1655064 h 1700784"/>
                <a:gd name="connsiteX10" fmla="*/ 36576 w 690587"/>
                <a:gd name="connsiteY10" fmla="*/ 1700784 h 1700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0587" h="1700784">
                  <a:moveTo>
                    <a:pt x="0" y="0"/>
                  </a:moveTo>
                  <a:cubicBezTo>
                    <a:pt x="86106" y="25908"/>
                    <a:pt x="172212" y="51816"/>
                    <a:pt x="246888" y="100584"/>
                  </a:cubicBezTo>
                  <a:cubicBezTo>
                    <a:pt x="321564" y="149352"/>
                    <a:pt x="388620" y="222504"/>
                    <a:pt x="448056" y="292608"/>
                  </a:cubicBezTo>
                  <a:cubicBezTo>
                    <a:pt x="507492" y="362712"/>
                    <a:pt x="563880" y="422148"/>
                    <a:pt x="603504" y="521208"/>
                  </a:cubicBezTo>
                  <a:cubicBezTo>
                    <a:pt x="643128" y="620268"/>
                    <a:pt x="675132" y="798576"/>
                    <a:pt x="685800" y="886968"/>
                  </a:cubicBezTo>
                  <a:cubicBezTo>
                    <a:pt x="696468" y="975360"/>
                    <a:pt x="688848" y="986028"/>
                    <a:pt x="667512" y="1051560"/>
                  </a:cubicBezTo>
                  <a:cubicBezTo>
                    <a:pt x="646176" y="1117092"/>
                    <a:pt x="591312" y="1219200"/>
                    <a:pt x="557784" y="1280160"/>
                  </a:cubicBezTo>
                  <a:cubicBezTo>
                    <a:pt x="524256" y="1341120"/>
                    <a:pt x="507492" y="1373124"/>
                    <a:pt x="466344" y="1417320"/>
                  </a:cubicBezTo>
                  <a:cubicBezTo>
                    <a:pt x="425196" y="1461516"/>
                    <a:pt x="358140" y="1505712"/>
                    <a:pt x="310896" y="1545336"/>
                  </a:cubicBezTo>
                  <a:cubicBezTo>
                    <a:pt x="263652" y="1584960"/>
                    <a:pt x="228600" y="1629156"/>
                    <a:pt x="182880" y="1655064"/>
                  </a:cubicBezTo>
                  <a:cubicBezTo>
                    <a:pt x="137160" y="1680972"/>
                    <a:pt x="86868" y="1690878"/>
                    <a:pt x="36576" y="1700784"/>
                  </a:cubicBezTo>
                </a:path>
              </a:pathLst>
            </a:custGeom>
            <a:noFill/>
            <a:ln w="762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"/>
            <p:cNvSpPr>
              <a:spLocks noChangeArrowheads="1"/>
            </p:cNvSpPr>
            <p:nvPr/>
          </p:nvSpPr>
          <p:spPr bwMode="auto">
            <a:xfrm>
              <a:off x="4419106" y="2731680"/>
              <a:ext cx="123157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solidFill>
                    <a:srgbClr val="FF0000"/>
                  </a:solidFill>
                </a:rPr>
                <a:t>RODS </a:t>
              </a:r>
              <a:r>
                <a:rPr lang="en-GB" sz="1200" b="1">
                  <a:solidFill>
                    <a:srgbClr val="FF0000"/>
                  </a:solidFill>
                </a:rPr>
                <a:t>and CONES</a:t>
              </a:r>
            </a:p>
            <a:p>
              <a:r>
                <a:rPr lang="en-GB" sz="1200" b="1">
                  <a:solidFill>
                    <a:srgbClr val="FF0000"/>
                  </a:solidFill>
                </a:rPr>
                <a:t>(retina)</a:t>
              </a:r>
              <a:endParaRPr lang="en-GB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/>
            <p:cNvCxnSpPr>
              <a:stCxn id="24" idx="1"/>
            </p:cNvCxnSpPr>
            <p:nvPr/>
          </p:nvCxnSpPr>
          <p:spPr bwMode="auto">
            <a:xfrm flipH="1">
              <a:off x="3200400" y="3054846"/>
              <a:ext cx="1218706" cy="27021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" name="Straight Arrow Connector 22"/>
            <p:cNvCxnSpPr/>
            <p:nvPr/>
          </p:nvCxnSpPr>
          <p:spPr bwMode="auto">
            <a:xfrm flipH="1">
              <a:off x="3488268" y="3183467"/>
              <a:ext cx="922865" cy="25400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 flipH="1">
              <a:off x="3556001" y="3225800"/>
              <a:ext cx="922866" cy="601133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 bwMode="auto">
            <a:xfrm flipH="1">
              <a:off x="3429001" y="3327400"/>
              <a:ext cx="1024466" cy="96520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6" name="Group 35"/>
          <p:cNvGrpSpPr/>
          <p:nvPr/>
        </p:nvGrpSpPr>
        <p:grpSpPr>
          <a:xfrm>
            <a:off x="5650298" y="5244860"/>
            <a:ext cx="2907106" cy="888521"/>
            <a:chOff x="5650298" y="5244860"/>
            <a:chExt cx="2907106" cy="888521"/>
          </a:xfrm>
        </p:grpSpPr>
        <p:sp>
          <p:nvSpPr>
            <p:cNvPr id="35" name="Right Arrow 34"/>
            <p:cNvSpPr/>
            <p:nvPr/>
          </p:nvSpPr>
          <p:spPr bwMode="auto">
            <a:xfrm>
              <a:off x="5650302" y="5244860"/>
              <a:ext cx="2907102" cy="888521"/>
            </a:xfrm>
            <a:prstGeom prst="rightArrow">
              <a:avLst>
                <a:gd name="adj1" fmla="val 50000"/>
                <a:gd name="adj2" fmla="val 94737"/>
              </a:avLst>
            </a:prstGeom>
            <a:solidFill>
              <a:srgbClr val="FF33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50298" y="5520905"/>
              <a:ext cx="27000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>
                  <a:solidFill>
                    <a:schemeClr val="bg1"/>
                  </a:solidFill>
                </a:rPr>
                <a:t>... Chroma Sub-sampling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1006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93700" y="358351"/>
            <a:ext cx="410686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Colour Image using YCrCb</a:t>
            </a: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8084322" y="5127362"/>
            <a:ext cx="4540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Cb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8084322" y="3834806"/>
            <a:ext cx="4079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Cr</a:t>
            </a: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431800" y="839788"/>
            <a:ext cx="5270995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 err="1"/>
              <a:t>YCbCr</a:t>
            </a:r>
            <a:r>
              <a:rPr lang="en-GB" sz="1600" b="1" dirty="0"/>
              <a:t> elements of a </a:t>
            </a:r>
            <a:r>
              <a:rPr lang="en-GB" sz="1600" b="1"/>
              <a:t>colour image (digital codings)</a:t>
            </a:r>
            <a:endParaRPr lang="en-GB" sz="1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296988"/>
            <a:ext cx="2328040" cy="17425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65" y="3244135"/>
            <a:ext cx="1309813" cy="2997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6273" y="1305176"/>
            <a:ext cx="2314100" cy="17425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386" y="3244135"/>
            <a:ext cx="1204485" cy="9069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6273" y="3244135"/>
            <a:ext cx="1226924" cy="9069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386" y="4495481"/>
            <a:ext cx="1204485" cy="9069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6273" y="4500511"/>
            <a:ext cx="1226924" cy="9132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8009" y="3228181"/>
            <a:ext cx="1220712" cy="9069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8010" y="4484555"/>
            <a:ext cx="1209322" cy="906992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5520373" y="2702626"/>
            <a:ext cx="3289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Y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6181436" y="3864610"/>
            <a:ext cx="3289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Y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6181436" y="5115956"/>
            <a:ext cx="3289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Y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2058467" y="3921018"/>
            <a:ext cx="3289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R</a:t>
            </a: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2038139" y="4937280"/>
            <a:ext cx="35137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G</a:t>
            </a: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024078" y="5968879"/>
            <a:ext cx="31771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B</a:t>
            </a: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4344278" y="3923560"/>
            <a:ext cx="3289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R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4349888" y="5126539"/>
            <a:ext cx="31771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/>
              <a:t>B</a:t>
            </a:r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4588214" y="3562447"/>
            <a:ext cx="3289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-</a:t>
            </a: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588214" y="4733685"/>
            <a:ext cx="328936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-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6404509" y="3532757"/>
            <a:ext cx="36901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=</a:t>
            </a: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6404509" y="4723806"/>
            <a:ext cx="369012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5886" y="5775236"/>
            <a:ext cx="5037909" cy="387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sz="1600">
                <a:latin typeface="Lucida Sans Unicode" pitchFamily="34" charset="0"/>
                <a:cs typeface="Lucida Sans Unicode" pitchFamily="34" charset="0"/>
              </a:rPr>
              <a:t>i.e. each pixel (RGB) → Y, Cb, Cr arithmetic 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1750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Colour 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12875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395288" y="2951163"/>
            <a:ext cx="1666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Original colour</a:t>
            </a:r>
          </a:p>
        </p:txBody>
      </p:sp>
      <p:pic>
        <p:nvPicPr>
          <p:cNvPr id="22532" name="Picture 8" descr="Colour separation R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412875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10" descr="Colour separation Gree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412875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12" descr="Colour separation Blu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1412875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Rectangle 11"/>
          <p:cNvSpPr>
            <a:spLocks noChangeArrowheads="1"/>
          </p:cNvSpPr>
          <p:nvPr/>
        </p:nvSpPr>
        <p:spPr bwMode="auto">
          <a:xfrm>
            <a:off x="2987675" y="2997200"/>
            <a:ext cx="3457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Colour Separation signals R, G, B</a:t>
            </a:r>
          </a:p>
        </p:txBody>
      </p:sp>
      <p:pic>
        <p:nvPicPr>
          <p:cNvPr id="22536" name="Picture 14" descr="Luminan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57346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7" name="TextBox 13"/>
          <p:cNvSpPr txBox="1">
            <a:spLocks noChangeArrowheads="1"/>
          </p:cNvSpPr>
          <p:nvPr/>
        </p:nvSpPr>
        <p:spPr bwMode="auto">
          <a:xfrm>
            <a:off x="395288" y="5157788"/>
            <a:ext cx="21097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Luminance signal Y</a:t>
            </a:r>
          </a:p>
        </p:txBody>
      </p:sp>
      <p:pic>
        <p:nvPicPr>
          <p:cNvPr id="22538" name="Picture 18" descr="Colour difference Re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57346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Picture 20" descr="Colour difference Gree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57346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22" descr="Colour difference Blu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357346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1" name="Rectangle 18"/>
          <p:cNvSpPr>
            <a:spLocks noChangeArrowheads="1"/>
          </p:cNvSpPr>
          <p:nvPr/>
        </p:nvSpPr>
        <p:spPr bwMode="auto">
          <a:xfrm>
            <a:off x="2849563" y="5157788"/>
            <a:ext cx="41649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Colour Difference signals R-Y, G-Y, B-Y</a:t>
            </a:r>
          </a:p>
        </p:txBody>
      </p:sp>
      <p:sp>
        <p:nvSpPr>
          <p:cNvPr id="22542" name="TextBox 19"/>
          <p:cNvSpPr txBox="1">
            <a:spLocks noChangeArrowheads="1"/>
          </p:cNvSpPr>
          <p:nvPr/>
        </p:nvSpPr>
        <p:spPr bwMode="auto">
          <a:xfrm>
            <a:off x="395288" y="331788"/>
            <a:ext cx="4751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R, G, B  and  Colour Difference</a:t>
            </a:r>
          </a:p>
        </p:txBody>
      </p:sp>
    </p:spTree>
    <p:extLst>
      <p:ext uri="{BB962C8B-B14F-4D97-AF65-F5344CB8AC3E}">
        <p14:creationId xmlns:p14="http://schemas.microsoft.com/office/powerpoint/2010/main" val="2223093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Colour difference R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26841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4" descr="Colour difference Gre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26841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6" descr="Colour difference Blu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26841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8" descr="Colour differen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1268413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395288" y="2852738"/>
            <a:ext cx="8424862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s-ES" altLang="en-US"/>
              <a:t>Colour difference displays  - (R-Y);  (G-Y);    (B-Y);                    (R-Y), (G-Y), (B-Y)</a:t>
            </a:r>
          </a:p>
          <a:p>
            <a:r>
              <a:rPr lang="es-ES" altLang="en-US"/>
              <a:t>These show absence of the Y signal</a:t>
            </a:r>
          </a:p>
          <a:p>
            <a:endParaRPr lang="es-ES" altLang="en-US"/>
          </a:p>
          <a:p>
            <a:r>
              <a:rPr lang="es-ES" altLang="en-US"/>
              <a:t>When Y is added, displays are:  </a:t>
            </a:r>
            <a:endParaRPr lang="en-GB" altLang="en-US"/>
          </a:p>
        </p:txBody>
      </p:sp>
      <p:pic>
        <p:nvPicPr>
          <p:cNvPr id="23559" name="Picture 10" descr="Colour separation Re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0767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12" descr="Colour separation Gree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0767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14" descr="Colour separation Blu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40767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2" name="Picture 16" descr="Colour pictur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4076700"/>
            <a:ext cx="1828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3" name="Rectangle 12"/>
          <p:cNvSpPr>
            <a:spLocks noChangeArrowheads="1"/>
          </p:cNvSpPr>
          <p:nvPr/>
        </p:nvSpPr>
        <p:spPr bwMode="auto">
          <a:xfrm>
            <a:off x="395288" y="5732463"/>
            <a:ext cx="8280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              R	                 G	                      B	                        RGB</a:t>
            </a:r>
          </a:p>
        </p:txBody>
      </p:sp>
      <p:sp>
        <p:nvSpPr>
          <p:cNvPr id="23564" name="TextBox 13"/>
          <p:cNvSpPr txBox="1">
            <a:spLocks noChangeArrowheads="1"/>
          </p:cNvSpPr>
          <p:nvPr/>
        </p:nvSpPr>
        <p:spPr bwMode="auto">
          <a:xfrm>
            <a:off x="395288" y="331788"/>
            <a:ext cx="4556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R, G, B and Colour Difference</a:t>
            </a:r>
          </a:p>
        </p:txBody>
      </p:sp>
    </p:spTree>
    <p:extLst>
      <p:ext uri="{BB962C8B-B14F-4D97-AF65-F5344CB8AC3E}">
        <p14:creationId xmlns:p14="http://schemas.microsoft.com/office/powerpoint/2010/main" val="2337248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073852"/>
            <a:ext cx="775682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R’G’B’ and Y’CBCR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8 or 10 bits per sample in each color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8-bit encoding - R’, B’, G’, and Y’ channels range of 16..235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Cb,  Cr channels = 16..240 (128 = neutral value)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R’G’B’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reference black = 16, 16, 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reference white = 235, 235, 235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Y’CbCr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reference black = 16, 128, 128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reference white = 235, 128, 128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Values outside nominal ranges allowed, but usually clamped for broadcast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0 and 255 = timing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10-bit encoding - 4x 8-bit encoding</a:t>
            </a:r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395288" y="368300"/>
            <a:ext cx="35092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Digital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5870393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987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1371</TotalTime>
  <Words>3443</Words>
  <Application>Microsoft Office PowerPoint</Application>
  <PresentationFormat>On-screen Show (4:3)</PresentationFormat>
  <Paragraphs>558</Paragraphs>
  <Slides>70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Arial</vt:lpstr>
      <vt:lpstr>Arial Black</vt:lpstr>
      <vt:lpstr>Lucida Sans Unicode</vt:lpstr>
      <vt:lpstr>Symbol</vt:lpstr>
      <vt:lpstr>Template</vt:lpstr>
      <vt:lpstr>Custom Design</vt:lpstr>
      <vt:lpstr>PowerPoint Presentation</vt:lpstr>
      <vt:lpstr>PowerPoint Presentation</vt:lpstr>
      <vt:lpstr>History - Ferdinand Braun - CRT </vt:lpstr>
      <vt:lpstr>John Logie Baird - Basic TV</vt:lpstr>
      <vt:lpstr>30 Line Mechanical TV</vt:lpstr>
      <vt:lpstr>Early Mechanical Approach to TV</vt:lpstr>
      <vt:lpstr>Electronic Television - Farnsworth</vt:lpstr>
      <vt:lpstr>Vladimir Zworykin - Iconoscope</vt:lpstr>
      <vt:lpstr>Vladimir Zworykin - Iconoscope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Frame Rate (In Analogue Days) </vt:lpstr>
      <vt:lpstr>Flicker and Judder</vt:lpstr>
      <vt:lpstr>Interlace </vt:lpstr>
      <vt:lpstr>Interlaced Vs Progressive Scan</vt:lpstr>
      <vt:lpstr>Progressive Scan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Compatible Colour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137</cp:revision>
  <cp:lastPrinted>2018-04-19T07:23:04Z</cp:lastPrinted>
  <dcterms:created xsi:type="dcterms:W3CDTF">2006-09-10T21:25:56Z</dcterms:created>
  <dcterms:modified xsi:type="dcterms:W3CDTF">2021-04-01T12:15:02Z</dcterms:modified>
</cp:coreProperties>
</file>