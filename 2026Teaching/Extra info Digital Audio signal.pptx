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34"/>
  </p:notesMasterIdLst>
  <p:handoutMasterIdLst>
    <p:handoutMasterId r:id="rId35"/>
  </p:handout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286" r:id="rId10"/>
    <p:sldId id="287" r:id="rId11"/>
    <p:sldId id="289" r:id="rId12"/>
    <p:sldId id="288" r:id="rId13"/>
    <p:sldId id="313" r:id="rId14"/>
    <p:sldId id="290" r:id="rId15"/>
    <p:sldId id="291" r:id="rId16"/>
    <p:sldId id="314" r:id="rId17"/>
    <p:sldId id="315" r:id="rId18"/>
    <p:sldId id="294" r:id="rId19"/>
    <p:sldId id="295" r:id="rId20"/>
    <p:sldId id="296" r:id="rId21"/>
    <p:sldId id="333" r:id="rId22"/>
    <p:sldId id="334" r:id="rId23"/>
    <p:sldId id="335" r:id="rId24"/>
    <p:sldId id="336" r:id="rId25"/>
    <p:sldId id="305" r:id="rId26"/>
    <p:sldId id="306" r:id="rId27"/>
    <p:sldId id="307" r:id="rId28"/>
    <p:sldId id="311" r:id="rId29"/>
    <p:sldId id="317" r:id="rId30"/>
    <p:sldId id="322" r:id="rId31"/>
    <p:sldId id="337" r:id="rId32"/>
    <p:sldId id="284" r:id="rId3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华文细黑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99D99-320D-9348-807D-37361B464965}" v="1" dt="2022-02-14T11:19:10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54"/>
    <p:restoredTop sz="97305"/>
  </p:normalViewPr>
  <p:slideViewPr>
    <p:cSldViewPr>
      <p:cViewPr varScale="1">
        <p:scale>
          <a:sx n="224" d="100"/>
          <a:sy n="224" d="100"/>
        </p:scale>
        <p:origin x="3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121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Wang" userId="70a85ec7-6c49-40c8-aaab-d36b51e3500d" providerId="ADAL" clId="{995E8E77-5A66-8242-B488-E07DC4375733}"/>
    <pc:docChg chg="modSld">
      <pc:chgData name="Leo Wang" userId="70a85ec7-6c49-40c8-aaab-d36b51e3500d" providerId="ADAL" clId="{995E8E77-5A66-8242-B488-E07DC4375733}" dt="2022-02-14T10:02:33.299" v="1" actId="20577"/>
      <pc:docMkLst>
        <pc:docMk/>
      </pc:docMkLst>
      <pc:sldChg chg="modSp mod modShow">
        <pc:chgData name="Leo Wang" userId="70a85ec7-6c49-40c8-aaab-d36b51e3500d" providerId="ADAL" clId="{995E8E77-5A66-8242-B488-E07DC4375733}" dt="2022-02-14T10:02:33.299" v="1" actId="20577"/>
        <pc:sldMkLst>
          <pc:docMk/>
          <pc:sldMk cId="0" sldId="284"/>
        </pc:sldMkLst>
        <pc:spChg chg="mod">
          <ac:chgData name="Leo Wang" userId="70a85ec7-6c49-40c8-aaab-d36b51e3500d" providerId="ADAL" clId="{995E8E77-5A66-8242-B488-E07DC4375733}" dt="2022-02-14T10:02:33.299" v="1" actId="20577"/>
          <ac:spMkLst>
            <pc:docMk/>
            <pc:sldMk cId="0" sldId="284"/>
            <ac:spMk id="70661" creationId="{00000000-0000-0000-0000-000000000000}"/>
          </ac:spMkLst>
        </pc:spChg>
      </pc:sldChg>
    </pc:docChg>
  </pc:docChgLst>
  <pc:docChgLst>
    <pc:chgData name="Leo Wang" userId="70a85ec7-6c49-40c8-aaab-d36b51e3500d" providerId="ADAL" clId="{E6B99D99-320D-9348-807D-37361B464965}"/>
    <pc:docChg chg="modSld">
      <pc:chgData name="Leo Wang" userId="70a85ec7-6c49-40c8-aaab-d36b51e3500d" providerId="ADAL" clId="{E6B99D99-320D-9348-807D-37361B464965}" dt="2022-02-14T11:09:52.525" v="1" actId="14100"/>
      <pc:docMkLst>
        <pc:docMk/>
      </pc:docMkLst>
      <pc:sldChg chg="modSp mod">
        <pc:chgData name="Leo Wang" userId="70a85ec7-6c49-40c8-aaab-d36b51e3500d" providerId="ADAL" clId="{E6B99D99-320D-9348-807D-37361B464965}" dt="2022-02-14T11:09:52.525" v="1" actId="14100"/>
        <pc:sldMkLst>
          <pc:docMk/>
          <pc:sldMk cId="0" sldId="329"/>
        </pc:sldMkLst>
        <pc:graphicFrameChg chg="mod modGraphic">
          <ac:chgData name="Leo Wang" userId="70a85ec7-6c49-40c8-aaab-d36b51e3500d" providerId="ADAL" clId="{E6B99D99-320D-9348-807D-37361B464965}" dt="2022-02-14T11:09:52.525" v="1" actId="14100"/>
          <ac:graphicFrameMkLst>
            <pc:docMk/>
            <pc:sldMk cId="0" sldId="329"/>
            <ac:graphicFrameMk id="7" creationId="{00000000-0000-0000-0000-000000000000}"/>
          </ac:graphicFrameMkLst>
        </pc:graphicFrameChg>
      </pc:sldChg>
    </pc:docChg>
  </pc:docChgLst>
  <pc:docChgLst>
    <pc:chgData name="Leo Wang" userId="70a85ec7-6c49-40c8-aaab-d36b51e3500d" providerId="ADAL" clId="{3931B536-4591-1142-994F-0A898978C088}"/>
    <pc:docChg chg="undo custSel addSld delSld modSld">
      <pc:chgData name="Leo Wang" userId="70a85ec7-6c49-40c8-aaab-d36b51e3500d" providerId="ADAL" clId="{3931B536-4591-1142-994F-0A898978C088}" dt="2021-03-09T10:55:02.897" v="660" actId="20577"/>
      <pc:docMkLst>
        <pc:docMk/>
      </pc:docMkLst>
      <pc:sldChg chg="modSp mod modNotesTx">
        <pc:chgData name="Leo Wang" userId="70a85ec7-6c49-40c8-aaab-d36b51e3500d" providerId="ADAL" clId="{3931B536-4591-1142-994F-0A898978C088}" dt="2021-03-09T10:48:40.700" v="589" actId="20577"/>
        <pc:sldMkLst>
          <pc:docMk/>
          <pc:sldMk cId="0" sldId="284"/>
        </pc:sldMkLst>
        <pc:spChg chg="mod">
          <ac:chgData name="Leo Wang" userId="70a85ec7-6c49-40c8-aaab-d36b51e3500d" providerId="ADAL" clId="{3931B536-4591-1142-994F-0A898978C088}" dt="2021-03-09T10:42:58.056" v="396" actId="20577"/>
          <ac:spMkLst>
            <pc:docMk/>
            <pc:sldMk cId="0" sldId="284"/>
            <ac:spMk id="70660" creationId="{00000000-0000-0000-0000-000000000000}"/>
          </ac:spMkLst>
        </pc:spChg>
        <pc:spChg chg="mod">
          <ac:chgData name="Leo Wang" userId="70a85ec7-6c49-40c8-aaab-d36b51e3500d" providerId="ADAL" clId="{3931B536-4591-1142-994F-0A898978C088}" dt="2021-03-09T10:44:28.691" v="548" actId="20577"/>
          <ac:spMkLst>
            <pc:docMk/>
            <pc:sldMk cId="0" sldId="284"/>
            <ac:spMk id="70661" creationId="{00000000-0000-0000-0000-000000000000}"/>
          </ac:spMkLst>
        </pc:spChg>
      </pc:sldChg>
      <pc:sldChg chg="addSp delSp modSp mod">
        <pc:chgData name="Leo Wang" userId="70a85ec7-6c49-40c8-aaab-d36b51e3500d" providerId="ADAL" clId="{3931B536-4591-1142-994F-0A898978C088}" dt="2021-03-09T10:55:02.897" v="660" actId="20577"/>
        <pc:sldMkLst>
          <pc:docMk/>
          <pc:sldMk cId="0" sldId="307"/>
        </pc:sldMkLst>
        <pc:spChg chg="add mod">
          <ac:chgData name="Leo Wang" userId="70a85ec7-6c49-40c8-aaab-d36b51e3500d" providerId="ADAL" clId="{3931B536-4591-1142-994F-0A898978C088}" dt="2021-03-09T10:55:02.897" v="660" actId="20577"/>
          <ac:spMkLst>
            <pc:docMk/>
            <pc:sldMk cId="0" sldId="307"/>
            <ac:spMk id="2" creationId="{812EC50E-7562-9C42-ADFF-706D0FE829BF}"/>
          </ac:spMkLst>
        </pc:spChg>
        <pc:spChg chg="del">
          <ac:chgData name="Leo Wang" userId="70a85ec7-6c49-40c8-aaab-d36b51e3500d" providerId="ADAL" clId="{3931B536-4591-1142-994F-0A898978C088}" dt="2021-03-09T10:26:22.698" v="301" actId="478"/>
          <ac:spMkLst>
            <pc:docMk/>
            <pc:sldMk cId="0" sldId="307"/>
            <ac:spMk id="57391" creationId="{00000000-0000-0000-0000-000000000000}"/>
          </ac:spMkLst>
        </pc:spChg>
        <pc:graphicFrameChg chg="mod modGraphic">
          <ac:chgData name="Leo Wang" userId="70a85ec7-6c49-40c8-aaab-d36b51e3500d" providerId="ADAL" clId="{3931B536-4591-1142-994F-0A898978C088}" dt="2021-03-09T10:50:10.070" v="591" actId="1076"/>
          <ac:graphicFrameMkLst>
            <pc:docMk/>
            <pc:sldMk cId="0" sldId="307"/>
            <ac:graphicFrameMk id="450563" creationId="{00000000-0000-0000-0000-000000000000}"/>
          </ac:graphicFrameMkLst>
        </pc:graphicFrameChg>
      </pc:sldChg>
      <pc:sldChg chg="del">
        <pc:chgData name="Leo Wang" userId="70a85ec7-6c49-40c8-aaab-d36b51e3500d" providerId="ADAL" clId="{3931B536-4591-1142-994F-0A898978C088}" dt="2021-03-09T09:50:01.004" v="59" actId="2696"/>
        <pc:sldMkLst>
          <pc:docMk/>
          <pc:sldMk cId="0" sldId="308"/>
        </pc:sldMkLst>
      </pc:sldChg>
      <pc:sldChg chg="addSp modSp mod">
        <pc:chgData name="Leo Wang" userId="70a85ec7-6c49-40c8-aaab-d36b51e3500d" providerId="ADAL" clId="{3931B536-4591-1142-994F-0A898978C088}" dt="2021-03-09T09:51:37.775" v="74" actId="1076"/>
        <pc:sldMkLst>
          <pc:docMk/>
          <pc:sldMk cId="0" sldId="311"/>
        </pc:sldMkLst>
        <pc:spChg chg="add mod">
          <ac:chgData name="Leo Wang" userId="70a85ec7-6c49-40c8-aaab-d36b51e3500d" providerId="ADAL" clId="{3931B536-4591-1142-994F-0A898978C088}" dt="2021-03-09T09:51:37.775" v="74" actId="1076"/>
          <ac:spMkLst>
            <pc:docMk/>
            <pc:sldMk cId="0" sldId="311"/>
            <ac:spMk id="7" creationId="{13517E2F-0E41-BC43-83FF-53FCBDD9DFC3}"/>
          </ac:spMkLst>
        </pc:spChg>
        <pc:spChg chg="mod">
          <ac:chgData name="Leo Wang" userId="70a85ec7-6c49-40c8-aaab-d36b51e3500d" providerId="ADAL" clId="{3931B536-4591-1142-994F-0A898978C088}" dt="2021-03-09T09:51:26.711" v="70" actId="14100"/>
          <ac:spMkLst>
            <pc:docMk/>
            <pc:sldMk cId="0" sldId="311"/>
            <ac:spMk id="60421" creationId="{00000000-0000-0000-0000-000000000000}"/>
          </ac:spMkLst>
        </pc:spChg>
      </pc:sldChg>
      <pc:sldChg chg="addSp delSp modSp mod modNotesTx">
        <pc:chgData name="Leo Wang" userId="70a85ec7-6c49-40c8-aaab-d36b51e3500d" providerId="ADAL" clId="{3931B536-4591-1142-994F-0A898978C088}" dt="2021-03-09T10:15:44.198" v="299" actId="20577"/>
        <pc:sldMkLst>
          <pc:docMk/>
          <pc:sldMk cId="0" sldId="317"/>
        </pc:sldMkLst>
        <pc:spChg chg="add mod">
          <ac:chgData name="Leo Wang" userId="70a85ec7-6c49-40c8-aaab-d36b51e3500d" providerId="ADAL" clId="{3931B536-4591-1142-994F-0A898978C088}" dt="2021-03-09T10:15:44.198" v="299" actId="20577"/>
          <ac:spMkLst>
            <pc:docMk/>
            <pc:sldMk cId="0" sldId="317"/>
            <ac:spMk id="2" creationId="{BB906C62-0986-A344-93D0-35F005BC3D82}"/>
          </ac:spMkLst>
        </pc:spChg>
        <pc:spChg chg="mod">
          <ac:chgData name="Leo Wang" userId="70a85ec7-6c49-40c8-aaab-d36b51e3500d" providerId="ADAL" clId="{3931B536-4591-1142-994F-0A898978C088}" dt="2021-03-09T09:53:29.910" v="132" actId="403"/>
          <ac:spMkLst>
            <pc:docMk/>
            <pc:sldMk cId="0" sldId="317"/>
            <ac:spMk id="62465" creationId="{00000000-0000-0000-0000-000000000000}"/>
          </ac:spMkLst>
        </pc:spChg>
        <pc:spChg chg="del mod">
          <ac:chgData name="Leo Wang" userId="70a85ec7-6c49-40c8-aaab-d36b51e3500d" providerId="ADAL" clId="{3931B536-4591-1142-994F-0A898978C088}" dt="2021-03-09T09:51:02.598" v="64" actId="21"/>
          <ac:spMkLst>
            <pc:docMk/>
            <pc:sldMk cId="0" sldId="317"/>
            <ac:spMk id="62466" creationId="{00000000-0000-0000-0000-000000000000}"/>
          </ac:spMkLst>
        </pc:spChg>
      </pc:sldChg>
      <pc:sldChg chg="modSp">
        <pc:chgData name="Leo Wang" userId="70a85ec7-6c49-40c8-aaab-d36b51e3500d" providerId="ADAL" clId="{3931B536-4591-1142-994F-0A898978C088}" dt="2021-03-09T10:15:51.903" v="300" actId="14100"/>
        <pc:sldMkLst>
          <pc:docMk/>
          <pc:sldMk cId="0" sldId="322"/>
        </pc:sldMkLst>
        <pc:spChg chg="mod">
          <ac:chgData name="Leo Wang" userId="70a85ec7-6c49-40c8-aaab-d36b51e3500d" providerId="ADAL" clId="{3931B536-4591-1142-994F-0A898978C088}" dt="2021-03-09T10:15:51.903" v="300" actId="14100"/>
          <ac:spMkLst>
            <pc:docMk/>
            <pc:sldMk cId="0" sldId="322"/>
            <ac:spMk id="67586" creationId="{00000000-0000-0000-0000-000000000000}"/>
          </ac:spMkLst>
        </pc:spChg>
      </pc:sldChg>
      <pc:sldChg chg="modSp mod">
        <pc:chgData name="Leo Wang" userId="70a85ec7-6c49-40c8-aaab-d36b51e3500d" providerId="ADAL" clId="{3931B536-4591-1142-994F-0A898978C088}" dt="2021-03-09T09:38:08.848" v="53" actId="20577"/>
        <pc:sldMkLst>
          <pc:docMk/>
          <pc:sldMk cId="0" sldId="326"/>
        </pc:sldMkLst>
        <pc:spChg chg="mod">
          <ac:chgData name="Leo Wang" userId="70a85ec7-6c49-40c8-aaab-d36b51e3500d" providerId="ADAL" clId="{3931B536-4591-1142-994F-0A898978C088}" dt="2021-03-09T09:38:08.848" v="53" actId="20577"/>
          <ac:spMkLst>
            <pc:docMk/>
            <pc:sldMk cId="0" sldId="326"/>
            <ac:spMk id="19460" creationId="{00000000-0000-0000-0000-000000000000}"/>
          </ac:spMkLst>
        </pc:spChg>
      </pc:sldChg>
      <pc:sldChg chg="addSp delSp modSp new mod modNotesTx">
        <pc:chgData name="Leo Wang" userId="70a85ec7-6c49-40c8-aaab-d36b51e3500d" providerId="ADAL" clId="{3931B536-4591-1142-994F-0A898978C088}" dt="2021-03-09T10:42:42.097" v="384" actId="20577"/>
        <pc:sldMkLst>
          <pc:docMk/>
          <pc:sldMk cId="2968408252" sldId="337"/>
        </pc:sldMkLst>
        <pc:spChg chg="mod">
          <ac:chgData name="Leo Wang" userId="70a85ec7-6c49-40c8-aaab-d36b51e3500d" providerId="ADAL" clId="{3931B536-4591-1142-994F-0A898978C088}" dt="2021-03-09T09:40:17.548" v="58"/>
          <ac:spMkLst>
            <pc:docMk/>
            <pc:sldMk cId="2968408252" sldId="337"/>
            <ac:spMk id="2" creationId="{953A5DBB-5CC2-E245-9DB5-8BF6E24B5CEF}"/>
          </ac:spMkLst>
        </pc:spChg>
        <pc:spChg chg="del">
          <ac:chgData name="Leo Wang" userId="70a85ec7-6c49-40c8-aaab-d36b51e3500d" providerId="ADAL" clId="{3931B536-4591-1142-994F-0A898978C088}" dt="2021-03-09T10:42:12.572" v="376"/>
          <ac:spMkLst>
            <pc:docMk/>
            <pc:sldMk cId="2968408252" sldId="337"/>
            <ac:spMk id="3" creationId="{A95590AE-BDDB-9047-B81B-8383C5816F87}"/>
          </ac:spMkLst>
        </pc:spChg>
        <pc:graphicFrameChg chg="add mod modGraphic">
          <ac:chgData name="Leo Wang" userId="70a85ec7-6c49-40c8-aaab-d36b51e3500d" providerId="ADAL" clId="{3931B536-4591-1142-994F-0A898978C088}" dt="2021-03-09T10:42:27.461" v="381" actId="14100"/>
          <ac:graphicFrameMkLst>
            <pc:docMk/>
            <pc:sldMk cId="2968408252" sldId="337"/>
            <ac:graphicFrameMk id="7" creationId="{9BB75966-35FE-DA43-9671-D59500CB1527}"/>
          </ac:graphicFrameMkLst>
        </pc:graphicFrameChg>
      </pc:sldChg>
    </pc:docChg>
  </pc:docChgLst>
  <pc:docChgLst>
    <pc:chgData name="Samuel Smith" userId="S::samuel.smith@bcu.ac.uk::b6577e3f-31a1-4058-ab32-c78c3e6edc3c" providerId="AD" clId="Web-{C881E85E-95EC-34A5-B722-4EAE171D4D43}"/>
    <pc:docChg chg="modSld">
      <pc:chgData name="Samuel Smith" userId="S::samuel.smith@bcu.ac.uk::b6577e3f-31a1-4058-ab32-c78c3e6edc3c" providerId="AD" clId="Web-{C881E85E-95EC-34A5-B722-4EAE171D4D43}" dt="2019-02-19T21:28:07.117" v="22" actId="20577"/>
      <pc:docMkLst>
        <pc:docMk/>
      </pc:docMkLst>
      <pc:sldChg chg="modSp">
        <pc:chgData name="Samuel Smith" userId="S::samuel.smith@bcu.ac.uk::b6577e3f-31a1-4058-ab32-c78c3e6edc3c" providerId="AD" clId="Web-{C881E85E-95EC-34A5-B722-4EAE171D4D43}" dt="2019-02-19T21:28:07.117" v="22" actId="20577"/>
        <pc:sldMkLst>
          <pc:docMk/>
          <pc:sldMk cId="0" sldId="287"/>
        </pc:sldMkLst>
        <pc:spChg chg="mod">
          <ac:chgData name="Samuel Smith" userId="S::samuel.smith@bcu.ac.uk::b6577e3f-31a1-4058-ab32-c78c3e6edc3c" providerId="AD" clId="Web-{C881E85E-95EC-34A5-B722-4EAE171D4D43}" dt="2019-02-19T21:28:07.117" v="22" actId="20577"/>
          <ac:spMkLst>
            <pc:docMk/>
            <pc:sldMk cId="0" sldId="287"/>
            <ac:spMk id="28677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35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35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613BBAB-AB85-475D-89A8-3AE3696CBD62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001086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4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单击此处编辑母版文本样式</a:t>
            </a:r>
          </a:p>
          <a:p>
            <a:pPr lvl="1"/>
            <a:r>
              <a:rPr lang="zh-CN" altLang="en-GB"/>
              <a:t>第二级</a:t>
            </a:r>
          </a:p>
          <a:p>
            <a:pPr lvl="2"/>
            <a:r>
              <a:rPr lang="zh-CN" altLang="en-GB"/>
              <a:t>第三级</a:t>
            </a:r>
          </a:p>
          <a:p>
            <a:pPr lvl="3"/>
            <a:r>
              <a:rPr lang="zh-CN" altLang="en-GB"/>
              <a:t>第四级</a:t>
            </a:r>
          </a:p>
          <a:p>
            <a:pPr lvl="4"/>
            <a:r>
              <a:rPr lang="zh-CN" altLang="en-GB"/>
              <a:t>第五级</a:t>
            </a:r>
          </a:p>
        </p:txBody>
      </p:sp>
      <p:sp>
        <p:nvSpPr>
          <p:cNvPr id="334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34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93A1081-D77D-49AE-9B13-FB577209F53B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056110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华文细黑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华文细黑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华文细黑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华文细黑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华文细黑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tdl-org.github.io/youtube-dl/index.html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1F251558-2968-42F4-8ABA-A73BB83CF246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华文细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169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1C9DAF6A-3C8A-4DBB-AB9E-C7A5429FFF95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18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altLang="en-US">
                <a:latin typeface="Arial" panose="020B0604020202020204" pitchFamily="34" charset="0"/>
                <a:ea typeface="华文细黑" charset="-122"/>
              </a:rPr>
              <a:t>Let's look at how this happens, beginning with single-frequency waves, from which we can generalize to waves with more than one frequency component. </a:t>
            </a:r>
          </a:p>
          <a:p>
            <a:pPr eaLnBrk="1" hangingPunct="1"/>
            <a:endParaRPr lang="en-GB" altLang="en-US">
              <a:latin typeface="Arial" panose="020B0604020202020204" pitchFamily="34" charset="0"/>
              <a:ea typeface="华文细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41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922DB885-3C09-4848-B510-9576D203B8F5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19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More accurate mathematical definition of aliasing will be discussed in later sessions. </a:t>
            </a:r>
          </a:p>
        </p:txBody>
      </p:sp>
    </p:spTree>
    <p:extLst>
      <p:ext uri="{BB962C8B-B14F-4D97-AF65-F5344CB8AC3E}">
        <p14:creationId xmlns:p14="http://schemas.microsoft.com/office/powerpoint/2010/main" val="4040477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ACE0AF20-1D82-4075-95A8-5DD722878875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20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Dashed line represents original 637 Hz signal.</a:t>
            </a:r>
          </a:p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Black dot are sampled points.</a:t>
            </a:r>
          </a:p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Red line represents aliased signal 363 Hz.</a:t>
            </a:r>
          </a:p>
        </p:txBody>
      </p:sp>
    </p:spTree>
    <p:extLst>
      <p:ext uri="{BB962C8B-B14F-4D97-AF65-F5344CB8AC3E}">
        <p14:creationId xmlns:p14="http://schemas.microsoft.com/office/powerpoint/2010/main" val="312780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956871D0-8823-4CBA-BB44-7BFD5FD7BABD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24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Fs is sampling frequency;</a:t>
            </a:r>
          </a:p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Fmax is maximum frequency components of original signal.</a:t>
            </a:r>
          </a:p>
        </p:txBody>
      </p:sp>
    </p:spTree>
    <p:extLst>
      <p:ext uri="{BB962C8B-B14F-4D97-AF65-F5344CB8AC3E}">
        <p14:creationId xmlns:p14="http://schemas.microsoft.com/office/powerpoint/2010/main" val="3996657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290CA6E3-BE6A-496D-8425-C08D6E878A83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26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The actual Audio data can be encoded in different formats such as MPEG-1 Audio Layer III (MP3) or PCM (uncompressed raw data)</a:t>
            </a:r>
          </a:p>
        </p:txBody>
      </p:sp>
    </p:spTree>
    <p:extLst>
      <p:ext uri="{BB962C8B-B14F-4D97-AF65-F5344CB8AC3E}">
        <p14:creationId xmlns:p14="http://schemas.microsoft.com/office/powerpoint/2010/main" val="2803152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3A1081-D77D-49AE-9B13-FB577209F53B}" type="slidenum">
              <a:rPr lang="en-GB" altLang="zh-CN" smtClean="0"/>
              <a:pPr>
                <a:defRPr/>
              </a:pPr>
              <a:t>27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25470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</a:pPr>
            <a:fld id="{23FA185E-1AE9-4BF3-801E-428D3146EFF3}" type="slidenum">
              <a:rPr lang="en-GB" altLang="zh-CN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28</a:t>
            </a:fld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ea typeface="华文细黑" charset="-122"/>
              </a:rPr>
              <a:t>Because wav file is default of windows machine.</a:t>
            </a:r>
          </a:p>
        </p:txBody>
      </p:sp>
    </p:spTree>
    <p:extLst>
      <p:ext uri="{BB962C8B-B14F-4D97-AF65-F5344CB8AC3E}">
        <p14:creationId xmlns:p14="http://schemas.microsoft.com/office/powerpoint/2010/main" val="1866806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www.analog.com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/education/education-library/articles/fixed-point-vs-floating-point-</a:t>
            </a:r>
            <a:r>
              <a:rPr lang="en-US" dirty="0" err="1"/>
              <a:t>dsp.html</a:t>
            </a:r>
            <a:r>
              <a:rPr lang="en-US" dirty="0"/>
              <a:t># </a:t>
            </a:r>
          </a:p>
          <a:p>
            <a:endParaRPr lang="en-US" dirty="0"/>
          </a:p>
          <a:p>
            <a:r>
              <a:rPr lang="en-US" dirty="0"/>
              <a:t>Size is not the possible patterns </a:t>
            </a:r>
          </a:p>
          <a:p>
            <a:r>
              <a:rPr lang="en-US" dirty="0"/>
              <a:t>https://</a:t>
            </a:r>
            <a:r>
              <a:rPr lang="en-US" dirty="0" err="1"/>
              <a:t>chortle.ccsu.edu</a:t>
            </a:r>
            <a:r>
              <a:rPr lang="en-US" dirty="0"/>
              <a:t>/java5/notes/chap11/ch11_2.html</a:t>
            </a:r>
          </a:p>
          <a:p>
            <a:r>
              <a:rPr lang="en-GB" dirty="0"/>
              <a:t>float32 bits-3.4E+38 to +3.4E+38about 7 decimal digits</a:t>
            </a:r>
          </a:p>
          <a:p>
            <a:endParaRPr lang="en-GB" dirty="0"/>
          </a:p>
          <a:p>
            <a:r>
              <a:rPr lang="en-US" dirty="0"/>
              <a:t>Dynamic Range</a:t>
            </a:r>
          </a:p>
          <a:p>
            <a:r>
              <a:rPr lang="en-US" dirty="0"/>
              <a:t>https://</a:t>
            </a:r>
            <a:r>
              <a:rPr lang="en-US" dirty="0" err="1"/>
              <a:t>www.sounddevices.com</a:t>
            </a:r>
            <a:r>
              <a:rPr lang="en-US" dirty="0"/>
              <a:t>/32-bit-float-files-explained/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3A1081-D77D-49AE-9B13-FB577209F53B}" type="slidenum">
              <a:rPr lang="en-GB" altLang="zh-CN" smtClean="0"/>
              <a:pPr>
                <a:defRPr/>
              </a:pPr>
              <a:t>29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642157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3A1081-D77D-49AE-9B13-FB577209F53B}" type="slidenum">
              <a:rPr lang="en-GB" altLang="zh-CN" smtClean="0"/>
              <a:pPr>
                <a:defRPr/>
              </a:pPr>
              <a:t>30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392387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trac.ffmpeg.org</a:t>
            </a:r>
            <a:r>
              <a:rPr lang="en-US" dirty="0"/>
              <a:t>/wiki/Encode/MP3 </a:t>
            </a:r>
          </a:p>
          <a:p>
            <a:endParaRPr lang="en-US" dirty="0"/>
          </a:p>
          <a:p>
            <a:r>
              <a:rPr lang="en-GB" dirty="0" err="1"/>
              <a:t>ffmpeg</a:t>
            </a:r>
            <a:r>
              <a:rPr lang="en-GB" dirty="0"/>
              <a:t> -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input.wav</a:t>
            </a:r>
            <a:r>
              <a:rPr lang="en-GB" dirty="0"/>
              <a:t> -</a:t>
            </a:r>
            <a:r>
              <a:rPr lang="en-GB" dirty="0" err="1"/>
              <a:t>codec:a</a:t>
            </a:r>
            <a:r>
              <a:rPr lang="en-GB" dirty="0"/>
              <a:t> libmp3lame -</a:t>
            </a:r>
            <a:r>
              <a:rPr lang="en-GB" dirty="0" err="1"/>
              <a:t>qscale:a</a:t>
            </a:r>
            <a:r>
              <a:rPr lang="en-GB" dirty="0"/>
              <a:t> 2 output.mp3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3A1081-D77D-49AE-9B13-FB577209F53B}" type="slidenum">
              <a:rPr lang="en-GB" altLang="zh-CN" smtClean="0"/>
              <a:pPr>
                <a:defRPr/>
              </a:pPr>
              <a:t>31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408755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hKRUPYrAQoE</a:t>
            </a:r>
            <a:endParaRPr lang="en-US" dirty="0"/>
          </a:p>
          <a:p>
            <a:endParaRPr lang="en-US" dirty="0"/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Youtube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-dl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  <a:hlinkClick r:id="rId3"/>
              </a:rPr>
              <a:t>https://ytdl-org.github.io/youtube-dl/index.html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 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华文细黑" pitchFamily="2" charset="-122"/>
              <a:cs typeface="华文细黑" charset="0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Check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youtube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-dl -F </a:t>
            </a:r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hKRUPYrAQoE</a:t>
            </a:r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华文细黑" pitchFamily="2" charset="-122"/>
              <a:cs typeface="华文细黑" charset="0"/>
            </a:endParaRPr>
          </a:p>
          <a:p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华文细黑" pitchFamily="2" charset="-122"/>
              <a:cs typeface="华文细黑" charset="0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Actual download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youtube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-dl -f 22 </a:t>
            </a:r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hKRUPYrAQoE</a:t>
            </a:r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华文细黑" pitchFamily="2" charset="-122"/>
              <a:cs typeface="华文细黑" charset="0"/>
            </a:endParaRPr>
          </a:p>
          <a:p>
            <a:endParaRPr lang="en-US" dirty="0"/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Audio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youtube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华文细黑" pitchFamily="2" charset="-122"/>
                <a:cs typeface="华文细黑" charset="0"/>
              </a:rPr>
              <a:t>-dl --extract-audio --audio-format mp3 </a:t>
            </a:r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hKRUPYrAQoE</a:t>
            </a:r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华文细黑" pitchFamily="2" charset="-122"/>
              <a:cs typeface="华文细黑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3A1081-D77D-49AE-9B13-FB577209F53B}" type="slidenum">
              <a:rPr lang="en-GB" altLang="zh-CN" smtClean="0"/>
              <a:pPr>
                <a:defRPr/>
              </a:pPr>
              <a:t>32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74820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9pPr>
            </a:lstStyle>
            <a:p>
              <a:pPr eaLnBrk="1" hangingPunct="1">
                <a:defRPr/>
              </a:pPr>
              <a:endParaRPr lang="en-US" altLang="en-US" sz="1800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9pPr>
            </a:lstStyle>
            <a:p>
              <a:pPr eaLnBrk="1" hangingPunct="1">
                <a:defRPr/>
              </a:pPr>
              <a:endParaRPr lang="en-US" altLang="en-US" sz="1800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华文细黑" charset="-122"/>
                </a:defRPr>
              </a:lvl9pPr>
            </a:lstStyle>
            <a:p>
              <a:pPr eaLnBrk="1" hangingPunct="1">
                <a:defRPr/>
              </a:pPr>
              <a:endParaRPr lang="en-US" altLang="en-US" sz="1800"/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B045C-33A3-4B43-9203-35FA51013521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5E88F-90B4-4383-AD27-50B4D2DA9456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56753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26748-AE6A-48C3-B4F4-0C3A1A997A1D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AAF44-A253-4C68-A827-42FCA0ED193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12533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34FE2-3650-4716-9C85-B50B293F54C2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B00BD-6CFA-41B6-A0A8-2AD06C8032C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85550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341438"/>
            <a:ext cx="4038600" cy="48180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341438"/>
            <a:ext cx="4038600" cy="48180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0F9084-E1D5-47E7-A080-136FC7B68197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CCEF8-B595-43E7-A995-583DC42F2356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58144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6F832-222A-4F11-8208-3B80E34FFD88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B7B51-E9B8-4A23-811B-52E3ECEF0F9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94656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D434E-DDD0-4185-9A2B-44A122B4111B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57C9-9C94-4FD3-80B9-C73A36753C16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96269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D14FE-FE7D-4B49-9A14-163858D99E5B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E694DA-7F6E-4F5B-A814-568BA20A5317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6745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4DC98-0728-4652-AE0A-DF8BA47DEA58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86ED2-D61B-4422-8549-38DA76CB164E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38465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21B46-E91C-434B-BAB3-A6DAB6647F51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CF49A-E232-486E-9EF6-E599A6C8F05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22841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5F43F-ED6F-4B17-8C7A-C4BA271C1411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4EE06-A8A0-4731-9A13-31DFFCFB9DE5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52799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277813"/>
            <a:ext cx="2058988" cy="5881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29325" cy="5881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3029D-2674-4527-8F9E-932832D4D578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FC25B-1957-4FE7-BFA6-9007239B12B1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41903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0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341438"/>
            <a:ext cx="4038600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341438"/>
            <a:ext cx="4038600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38439-B1F9-4483-92BB-AF1B890CF5AF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B55ED-4D71-478B-BF0F-A90A8C9D7417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847035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0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68313" y="1341438"/>
            <a:ext cx="8229600" cy="4818062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4C9B2-4311-474A-B0CC-040E37A22CAC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59607-FAE2-410F-9094-F477B2DBE766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9185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1438"/>
            <a:ext cx="8229600" cy="481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15C510-27E4-4BF7-8C55-F0C288FF1F21}" type="datetime1">
              <a:rPr lang="en-GB" altLang="en-US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Verdana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290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72AB565-4231-4DB7-A9E9-420B40FB7078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68313" y="1196975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华文细黑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  <a:cs typeface="华文细黑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  <a:cs typeface="华文细黑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  <a:cs typeface="华文细黑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  <a:cs typeface="华文细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华文细黑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华文细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细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ea typeface="+mn-ea"/>
          <a:cs typeface="华文细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  <a:cs typeface="华文细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  <a:cs typeface="华文细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11188" y="908050"/>
            <a:ext cx="7773987" cy="1512888"/>
          </a:xfrm>
        </p:spPr>
        <p:txBody>
          <a:bodyPr/>
          <a:lstStyle/>
          <a:p>
            <a:pPr eaLnBrk="1" hangingPunct="1"/>
            <a:r>
              <a:rPr lang="en-GB" altLang="zh-CN" sz="4800" dirty="0">
                <a:ea typeface="宋体" panose="02010600030101010101" pitchFamily="2" charset="-122"/>
              </a:rPr>
              <a:t>Digital Signal Processing UG2</a:t>
            </a:r>
          </a:p>
        </p:txBody>
      </p:sp>
      <p:sp>
        <p:nvSpPr>
          <p:cNvPr id="17410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500438"/>
            <a:ext cx="6400800" cy="1814512"/>
          </a:xfrm>
        </p:spPr>
        <p:txBody>
          <a:bodyPr/>
          <a:lstStyle/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Digital </a:t>
            </a:r>
            <a:r>
              <a:rPr lang="en-GB" altLang="zh-CN" dirty="0">
                <a:ea typeface="宋体" panose="02010600030101010101" pitchFamily="2" charset="-122"/>
              </a:rPr>
              <a:t>Audio Representation PCM/WAV</a:t>
            </a:r>
          </a:p>
          <a:p>
            <a:pPr eaLnBrk="1" hangingPunct="1"/>
            <a:r>
              <a:rPr lang="en-GB" altLang="zh-CN" dirty="0">
                <a:ea typeface="宋体" panose="02010600030101010101" pitchFamily="2" charset="-122"/>
              </a:rPr>
              <a:t>By </a:t>
            </a:r>
            <a:r>
              <a:rPr lang="en-GB" altLang="zh-CN" dirty="0" err="1">
                <a:ea typeface="宋体" panose="02010600030101010101" pitchFamily="2" charset="-122"/>
              </a:rPr>
              <a:t>Yonghao</a:t>
            </a:r>
            <a:r>
              <a:rPr lang="en-GB" altLang="zh-CN" dirty="0">
                <a:ea typeface="宋体" panose="02010600030101010101" pitchFamily="2" charset="-122"/>
              </a:rPr>
              <a:t> Wang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9970DD-73D3-4235-BFAF-9DA5AAC2ED2E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0007C6-E528-454A-8B68-E48789F0B566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zh-CN" dirty="0">
                <a:ea typeface="宋体" panose="02010600030101010101" pitchFamily="2" charset="-122"/>
              </a:rPr>
              <a:t>Matlab Lab Review</a:t>
            </a:r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31875"/>
            <a:ext cx="82804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Variables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</a:rPr>
              <a:t>A = 3; </a:t>
            </a:r>
            <a:r>
              <a:rPr lang="en-GB" altLang="en-US">
                <a:solidFill>
                  <a:srgbClr val="228B22"/>
                </a:solidFill>
                <a:latin typeface="Courier New" panose="02070309020205020404" pitchFamily="49" charset="0"/>
              </a:rPr>
              <a:t>%assign value ‘3’ into variable A</a:t>
            </a:r>
          </a:p>
          <a:p>
            <a: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</a:rPr>
              <a:t>name = </a:t>
            </a:r>
            <a:r>
              <a:rPr lang="en-GB" altLang="en-US">
                <a:solidFill>
                  <a:srgbClr val="A020F0"/>
                </a:solidFill>
                <a:latin typeface="Courier New" panose="02070309020205020404" pitchFamily="49" charset="0"/>
              </a:rPr>
              <a:t>'Peter'</a:t>
            </a:r>
            <a: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GB" altLang="en-US">
                <a:solidFill>
                  <a:srgbClr val="228B22"/>
                </a:solidFill>
                <a:latin typeface="Courier New" panose="02070309020205020404" pitchFamily="49" charset="0"/>
              </a:rPr>
              <a:t>%assign array 'Peter' to &lt;name&gt;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name(1) = 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name(5) = 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name(6)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??? Attempted to access name(6);</a:t>
            </a:r>
          </a:p>
        </p:txBody>
      </p:sp>
      <p:sp>
        <p:nvSpPr>
          <p:cNvPr id="2048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024026-14D7-435F-BAEC-2E2719BAE39E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D2D14C-1C5A-480D-A9AD-BEBB02C8DFE6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GB" altLang="zh-CN" sz="1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arithmetic operators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+, -, *, / and ^</a:t>
            </a:r>
          </a:p>
          <a:p>
            <a:r>
              <a:rPr lang="en-GB" altLang="en-US"/>
              <a:t>a = 1:10</a:t>
            </a:r>
          </a:p>
          <a:p>
            <a:r>
              <a:rPr lang="en-GB" altLang="en-US"/>
              <a:t>b = 10:-1:1</a:t>
            </a:r>
          </a:p>
          <a:p>
            <a:r>
              <a:rPr lang="en-GB" altLang="en-US"/>
              <a:t>c = a+b</a:t>
            </a:r>
          </a:p>
          <a:p>
            <a:r>
              <a:rPr lang="en-GB" altLang="en-US"/>
              <a:t>c = a*b </a:t>
            </a:r>
            <a:r>
              <a:rPr lang="en-GB" altLang="en-US">
                <a:solidFill>
                  <a:srgbClr val="FF0000"/>
                </a:solidFill>
              </a:rPr>
              <a:t>%Wrong!!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en-US">
                <a:solidFill>
                  <a:srgbClr val="FF0000"/>
                </a:solidFill>
              </a:rPr>
              <a:t>??? Error using ==&gt; mtimes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en-US">
                <a:solidFill>
                  <a:srgbClr val="FF0000"/>
                </a:solidFill>
              </a:rPr>
              <a:t>Inner matrix dimensions must agree.</a:t>
            </a:r>
          </a:p>
          <a:p>
            <a:r>
              <a:rPr lang="en-GB" altLang="en-US"/>
              <a:t>c = a.*b; %correct way to multiply cell by cell.</a:t>
            </a:r>
          </a:p>
          <a:p>
            <a:endParaRPr lang="en-GB" altLang="en-US"/>
          </a:p>
        </p:txBody>
      </p:sp>
      <p:sp>
        <p:nvSpPr>
          <p:cNvPr id="2150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2B8EF3-AE3A-4F9C-BC7B-60844A735872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0E326A-5A61-4856-BB06-0FB7FB6FF1E2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GB" altLang="zh-CN" sz="1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Array manipulation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A = 1:5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en-US" dirty="0"/>
              <a:t>A=</a:t>
            </a:r>
          </a:p>
          <a:p>
            <a:pPr>
              <a:buFont typeface="Wingdings" panose="05000000000000000000" pitchFamily="2" charset="2"/>
              <a:buNone/>
            </a:pPr>
            <a:endParaRPr lang="en-GB" altLang="en-US" dirty="0"/>
          </a:p>
          <a:p>
            <a:r>
              <a:rPr lang="en-GB" altLang="en-US" dirty="0"/>
              <a:t>A = A’;</a:t>
            </a:r>
            <a:r>
              <a:rPr lang="en-GB" altLang="en-US" b="1" dirty="0"/>
              <a:t>  </a:t>
            </a:r>
            <a:r>
              <a:rPr lang="en-GB" altLang="en-US" dirty="0"/>
              <a:t>% transpose symbol the ' (apostrophe) operator.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en-US" dirty="0"/>
              <a:t>A = </a:t>
            </a:r>
          </a:p>
          <a:p>
            <a:pPr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253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54138F-0416-4A16-A0BD-DD88B009D61B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CFD2F1-A09D-4702-A438-95649ADE1B50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54443"/>
              </p:ext>
            </p:extLst>
          </p:nvPr>
        </p:nvGraphicFramePr>
        <p:xfrm>
          <a:off x="1547664" y="2276475"/>
          <a:ext cx="4392761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8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GB" sz="1800" dirty="0"/>
                        <a:t>1</a:t>
                      </a:r>
                    </a:p>
                  </a:txBody>
                  <a:tcPr marL="91443" marR="91443" marT="45839" marB="4583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2</a:t>
                      </a:r>
                    </a:p>
                  </a:txBody>
                  <a:tcPr marL="91443" marR="91443" marT="45839" marB="4583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3</a:t>
                      </a:r>
                    </a:p>
                  </a:txBody>
                  <a:tcPr marL="91443" marR="91443" marT="45839" marB="4583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4</a:t>
                      </a:r>
                    </a:p>
                  </a:txBody>
                  <a:tcPr marL="91443" marR="91443" marT="45839" marB="4583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5</a:t>
                      </a:r>
                    </a:p>
                  </a:txBody>
                  <a:tcPr marL="91443" marR="91443" marT="45839" marB="45839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63713" y="4149725"/>
          <a:ext cx="360362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522" marR="91522" marT="45694" marB="45694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GB" sz="1800" b="1" dirty="0"/>
                        <a:t>2</a:t>
                      </a:r>
                    </a:p>
                  </a:txBody>
                  <a:tcPr marL="91522" marR="91522" marT="45694" marB="45694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GB" sz="1800" b="1" dirty="0"/>
                        <a:t>3</a:t>
                      </a:r>
                    </a:p>
                  </a:txBody>
                  <a:tcPr marL="91522" marR="91522" marT="45694" marB="45694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GB" sz="1800" b="1" dirty="0"/>
                        <a:t>4</a:t>
                      </a:r>
                    </a:p>
                  </a:txBody>
                  <a:tcPr marL="91522" marR="91522" marT="45694" marB="45694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GB" sz="1800" b="1" dirty="0"/>
                        <a:t>5</a:t>
                      </a:r>
                    </a:p>
                  </a:txBody>
                  <a:tcPr marL="91522" marR="91522" marT="45694" marB="45694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Built-in functions 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 err="1">
                <a:latin typeface="Courier"/>
              </a:rPr>
              <a:t>disp</a:t>
            </a:r>
            <a:r>
              <a:rPr lang="en-GB" altLang="en-US" dirty="0">
                <a:latin typeface="Courier"/>
              </a:rPr>
              <a:t> (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en-US" dirty="0"/>
              <a:t>Example: </a:t>
            </a: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GB" altLang="en-US" dirty="0">
                <a:latin typeface="Courier"/>
              </a:rPr>
              <a:t>A=5;</a:t>
            </a:r>
          </a:p>
          <a:p>
            <a:pPr marL="400050" lvl="1" indent="0">
              <a:buFont typeface="Wingdings" panose="05000000000000000000" pitchFamily="2" charset="2"/>
              <a:buNone/>
            </a:pPr>
            <a:r>
              <a:rPr lang="en-GB" altLang="en-US" dirty="0" err="1">
                <a:latin typeface="Courier"/>
              </a:rPr>
              <a:t>disp</a:t>
            </a:r>
            <a:r>
              <a:rPr lang="en-GB" altLang="en-US" dirty="0">
                <a:latin typeface="Courier"/>
              </a:rPr>
              <a:t>(A);</a:t>
            </a:r>
          </a:p>
          <a:p>
            <a:r>
              <a:rPr lang="en-GB" altLang="en-US" dirty="0">
                <a:latin typeface="Courier"/>
              </a:rPr>
              <a:t>plot(); stem();</a:t>
            </a:r>
            <a:r>
              <a:rPr lang="en-US" altLang="en-US" dirty="0" err="1">
                <a:latin typeface="Courier"/>
              </a:rPr>
              <a:t>xlabel</a:t>
            </a:r>
            <a:r>
              <a:rPr lang="en-US" altLang="en-US" dirty="0">
                <a:latin typeface="Courier"/>
              </a:rPr>
              <a:t>(); </a:t>
            </a:r>
            <a:r>
              <a:rPr lang="en-US" altLang="en-US" dirty="0" err="1">
                <a:latin typeface="Courier"/>
              </a:rPr>
              <a:t>ylabel</a:t>
            </a:r>
            <a:r>
              <a:rPr lang="en-US" altLang="en-US" dirty="0">
                <a:latin typeface="Courier"/>
              </a:rPr>
              <a:t>();</a:t>
            </a:r>
          </a:p>
          <a:p>
            <a:r>
              <a:rPr lang="en-GB" altLang="en-US" dirty="0">
                <a:latin typeface="Courier"/>
              </a:rPr>
              <a:t>sin(); cos(); conv();</a:t>
            </a:r>
          </a:p>
          <a:p>
            <a:r>
              <a:rPr lang="en-US" altLang="en-US" dirty="0">
                <a:latin typeface="Courier"/>
              </a:rPr>
              <a:t>length(); abs(); max();</a:t>
            </a:r>
          </a:p>
          <a:p>
            <a:r>
              <a:rPr lang="en-US" altLang="en-US" dirty="0" err="1">
                <a:latin typeface="Courier"/>
              </a:rPr>
              <a:t>audioread</a:t>
            </a:r>
            <a:r>
              <a:rPr lang="en-US" altLang="en-US" dirty="0">
                <a:latin typeface="Courier"/>
              </a:rPr>
              <a:t>(); </a:t>
            </a:r>
            <a:r>
              <a:rPr lang="en-US" altLang="en-US" dirty="0" err="1">
                <a:latin typeface="Courier"/>
              </a:rPr>
              <a:t>audiowrite</a:t>
            </a:r>
            <a:r>
              <a:rPr lang="en-US" altLang="en-US" dirty="0">
                <a:latin typeface="Courier"/>
              </a:rPr>
              <a:t>();</a:t>
            </a:r>
            <a:endParaRPr lang="en-GB" altLang="en-US" dirty="0">
              <a:latin typeface="Courier"/>
            </a:endParaRPr>
          </a:p>
        </p:txBody>
      </p:sp>
      <p:sp>
        <p:nvSpPr>
          <p:cNvPr id="2355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DCA4E3-3EE8-45AD-87CB-A195989E6BA0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3B5D12-7ABA-473A-BE1A-3993C0518271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GB" altLang="zh-CN" sz="1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Plot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x=a; y=b; </a:t>
            </a:r>
            <a:r>
              <a:rPr lang="en-GB" sz="2400" dirty="0">
                <a:solidFill>
                  <a:srgbClr val="228B22"/>
                </a:solidFill>
                <a:latin typeface="Courier" charset="0"/>
                <a:ea typeface="Courier" charset="0"/>
                <a:cs typeface="Courier" charset="0"/>
              </a:rPr>
              <a:t>% plot with default </a:t>
            </a:r>
            <a:r>
              <a:rPr lang="en-GB" sz="2400" dirty="0" err="1">
                <a:solidFill>
                  <a:srgbClr val="228B22"/>
                </a:solidFill>
                <a:latin typeface="Courier" charset="0"/>
                <a:ea typeface="Courier" charset="0"/>
                <a:cs typeface="Courier" charset="0"/>
              </a:rPr>
              <a:t>color</a:t>
            </a:r>
            <a:r>
              <a:rPr lang="en-GB" sz="2400" dirty="0">
                <a:solidFill>
                  <a:srgbClr val="228B22"/>
                </a:solidFill>
                <a:latin typeface="Courier" charset="0"/>
                <a:ea typeface="Courier" charset="0"/>
                <a:cs typeface="Courier" charset="0"/>
              </a:rPr>
              <a:t> and line style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figure(1);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plot(</a:t>
            </a:r>
            <a:r>
              <a:rPr lang="en-GB" sz="2400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x,y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GB" sz="2400" dirty="0">
                <a:solidFill>
                  <a:srgbClr val="A020F0"/>
                </a:solidFill>
                <a:latin typeface="Courier" charset="0"/>
                <a:ea typeface="Courier" charset="0"/>
                <a:cs typeface="Courier" charset="0"/>
              </a:rPr>
              <a:t>'*-r'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); </a:t>
            </a:r>
            <a:r>
              <a:rPr lang="en-GB" sz="2400" dirty="0">
                <a:solidFill>
                  <a:srgbClr val="228B22"/>
                </a:solidFill>
                <a:latin typeface="Courier" charset="0"/>
                <a:ea typeface="Courier" charset="0"/>
                <a:cs typeface="Courier" charset="0"/>
              </a:rPr>
              <a:t>% red </a:t>
            </a:r>
            <a:r>
              <a:rPr lang="en-GB" sz="2400" dirty="0" err="1">
                <a:solidFill>
                  <a:srgbClr val="228B22"/>
                </a:solidFill>
                <a:latin typeface="Courier" charset="0"/>
                <a:ea typeface="Courier" charset="0"/>
                <a:cs typeface="Courier" charset="0"/>
              </a:rPr>
              <a:t>color</a:t>
            </a:r>
            <a:r>
              <a:rPr lang="en-GB" sz="2400" dirty="0">
                <a:solidFill>
                  <a:srgbClr val="228B22"/>
                </a:solidFill>
                <a:latin typeface="Courier" charset="0"/>
                <a:ea typeface="Courier" charset="0"/>
                <a:cs typeface="Courier" charset="0"/>
              </a:rPr>
              <a:t> and dash star style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title(</a:t>
            </a:r>
            <a:r>
              <a:rPr lang="en-GB" sz="2400" dirty="0">
                <a:solidFill>
                  <a:srgbClr val="A020F0"/>
                </a:solidFill>
                <a:latin typeface="Courier" charset="0"/>
                <a:ea typeface="Courier" charset="0"/>
                <a:cs typeface="Courier" charset="0"/>
              </a:rPr>
              <a:t>'test figure1'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xlabel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2400" dirty="0">
                <a:solidFill>
                  <a:srgbClr val="A020F0"/>
                </a:solidFill>
                <a:latin typeface="Courier" charset="0"/>
                <a:ea typeface="Courier" charset="0"/>
                <a:cs typeface="Courier" charset="0"/>
              </a:rPr>
              <a:t>'time'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ylabel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2400" dirty="0">
                <a:solidFill>
                  <a:srgbClr val="A020F0"/>
                </a:solidFill>
                <a:latin typeface="Courier" charset="0"/>
                <a:ea typeface="Courier" charset="0"/>
                <a:cs typeface="Courier" charset="0"/>
              </a:rPr>
              <a:t>'amplitude'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figure(2);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stem(</a:t>
            </a:r>
            <a:r>
              <a:rPr lang="en-GB" sz="2400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x,y</a:t>
            </a:r>
            <a:r>
              <a:rPr lang="en-GB" sz="2400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2457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469D5C-40EA-4445-9BBD-B5FC937046F6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EE4625-56D4-4383-85FB-53078504DF77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GB" altLang="zh-CN" sz="1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AAD872-1593-4547-AF89-2D907456B2F0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897A7D-8647-4601-95E7-F2DCD9E3E8E0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pic>
        <p:nvPicPr>
          <p:cNvPr id="2560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68413"/>
            <a:ext cx="404812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413" y="1277938"/>
            <a:ext cx="398780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D14E24-64F4-4BA5-A133-3342D15ECD6A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F62CBD-1325-458E-B8C0-BE2B0C7A2FC6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Audio Waveform in software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611188" y="1341438"/>
            <a:ext cx="7262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/>
              <a:t>Waveform for note A 440HZ generated by @Audacity@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271" t="26739" b="4770"/>
          <a:stretch/>
        </p:blipFill>
        <p:spPr>
          <a:xfrm>
            <a:off x="624798" y="1916832"/>
            <a:ext cx="8248600" cy="3816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9C1F03-896F-48B6-AF7C-13C6406F3D65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27444F-425B-4AAB-9C15-00E0F327AE60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Pure tone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3095625"/>
          </a:xfrm>
        </p:spPr>
        <p:txBody>
          <a:bodyPr/>
          <a:lstStyle/>
          <a:p>
            <a:pPr eaLnBrk="1" hangingPunct="1"/>
            <a:r>
              <a:rPr lang="en-GB" altLang="en-US" dirty="0"/>
              <a:t>If the sound is a pure tone, the waveform will be a single-frequency sinusoidal wave.</a:t>
            </a:r>
          </a:p>
          <a:p>
            <a:pPr eaLnBrk="1" hangingPunct="1"/>
            <a:r>
              <a:rPr lang="en-GB" altLang="en-US" dirty="0"/>
              <a:t>This is very important because</a:t>
            </a:r>
          </a:p>
          <a:p>
            <a:pPr lvl="1" eaLnBrk="1" hangingPunct="1"/>
            <a:r>
              <a:rPr lang="en-GB" altLang="en-US" dirty="0"/>
              <a:t>There is a simple mathematic representation of pure sound (single frequency).</a:t>
            </a:r>
          </a:p>
          <a:p>
            <a:pPr lvl="1" eaLnBrk="1" hangingPunct="1"/>
            <a:r>
              <a:rPr lang="en-GB" altLang="en-US" dirty="0"/>
              <a:t>This provides a mathematical framework to synthesize the real instruments.</a:t>
            </a:r>
          </a:p>
          <a:p>
            <a:pPr lvl="1" eaLnBrk="1" hangingPunct="1"/>
            <a:endParaRPr lang="en-GB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/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28679" name="Object 4"/>
          <p:cNvGraphicFramePr>
            <a:graphicFrameLocks noChangeAspect="1"/>
          </p:cNvGraphicFramePr>
          <p:nvPr/>
        </p:nvGraphicFramePr>
        <p:xfrm>
          <a:off x="2484438" y="4581525"/>
          <a:ext cx="367030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3" imgW="1231366" imgH="609336" progId="Equation.3">
                  <p:embed/>
                </p:oleObj>
              </mc:Choice>
              <mc:Fallback>
                <p:oleObj name="Equation" r:id="rId3" imgW="1231366" imgH="609336" progId="Equation.3">
                  <p:embed/>
                  <p:pic>
                    <p:nvPicPr>
                      <p:cNvPr id="2867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581525"/>
                        <a:ext cx="3670300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5137AB-3961-41FD-9D5F-F14ED224D066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0CED43-E8B4-4094-A7C4-B43A70EDF3B3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Review of digitisation</a:t>
            </a: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395288" y="1268413"/>
            <a:ext cx="74168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1800" b="1"/>
              <a:t>Signals be sampled at discrete points in time, each sample be quantized and encoded in binary (0s and 1s).</a:t>
            </a:r>
          </a:p>
        </p:txBody>
      </p:sp>
      <p:pic>
        <p:nvPicPr>
          <p:cNvPr id="3072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44675"/>
            <a:ext cx="7334250" cy="440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8E6C07-3386-41AC-98E1-A8AAF1479AAA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DD3C39-6E66-4D36-B277-78E54C7F39AB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/>
              <a:t>Pulse Code Modulation and Audio </a:t>
            </a:r>
            <a:r>
              <a:rPr lang="en-GB" altLang="en-US" sz="2800"/>
              <a:t>Digitization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Pulse Code Modulation (PCM) is common uncompressed digital format of audio.</a:t>
            </a:r>
          </a:p>
          <a:p>
            <a:pPr eaLnBrk="1" hangingPunct="1"/>
            <a:r>
              <a:rPr lang="en-GB" altLang="en-US"/>
              <a:t>PCM was first invented in 1937 by Alec Reeves for Telecommunication purpose.</a:t>
            </a:r>
          </a:p>
          <a:p>
            <a:pPr eaLnBrk="1" hangingPunct="1"/>
            <a:r>
              <a:rPr lang="en-GB" altLang="en-US"/>
              <a:t>PCM now becomes standard raw digital audio format for CD, and Digital Audio Tape (DAT) and DVD.</a:t>
            </a:r>
          </a:p>
          <a:p>
            <a:pPr eaLnBrk="1" hangingPunct="1"/>
            <a:r>
              <a:rPr lang="en-GB" altLang="en-US"/>
              <a:t>PCM files are digitised but NOT compressed audio format.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1C5366-2A3F-4B1A-9E72-D83CEBBB1F2A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066A14-801B-4A14-9A54-347AEECA30D6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8229600" cy="431800"/>
          </a:xfrm>
        </p:spPr>
        <p:txBody>
          <a:bodyPr/>
          <a:lstStyle/>
          <a:p>
            <a:pPr eaLnBrk="1" hangingPunct="1"/>
            <a:r>
              <a:rPr lang="en-GB" altLang="zh-CN" sz="4000">
                <a:ea typeface="宋体" panose="02010600030101010101" pitchFamily="2" charset="-122"/>
              </a:rPr>
              <a:t>Sampling and PCM</a:t>
            </a:r>
          </a:p>
        </p:txBody>
      </p:sp>
      <p:pic>
        <p:nvPicPr>
          <p:cNvPr id="36869" name="Picture 3" descr="Pictur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341438"/>
            <a:ext cx="7751762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3D0A5C-C487-4908-9D0A-595F9E087AF2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E0ADDA-8278-4236-9DF2-9908E9A96BF6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Two important measurements - I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464050"/>
          </a:xfrm>
        </p:spPr>
        <p:txBody>
          <a:bodyPr/>
          <a:lstStyle/>
          <a:p>
            <a:pPr eaLnBrk="1" hangingPunct="1"/>
            <a:r>
              <a:rPr lang="en-GB" altLang="en-US" dirty="0"/>
              <a:t>Sampling rate (Sampling frequency)</a:t>
            </a:r>
          </a:p>
          <a:p>
            <a:pPr lvl="1" eaLnBrk="1" hangingPunct="1"/>
            <a:r>
              <a:rPr lang="en-GB" altLang="en-US" dirty="0"/>
              <a:t>How many samples per second</a:t>
            </a:r>
          </a:p>
          <a:p>
            <a:pPr lvl="1" eaLnBrk="1" hangingPunct="1"/>
            <a:r>
              <a:rPr lang="en-GB" altLang="en-US" dirty="0"/>
              <a:t>The unit of sampling frequency is Hertz</a:t>
            </a:r>
          </a:p>
          <a:p>
            <a:pPr eaLnBrk="1" hangingPunct="1"/>
            <a:r>
              <a:rPr lang="en-GB" altLang="en-US" dirty="0"/>
              <a:t>Commonly used sampling frequencies</a:t>
            </a:r>
          </a:p>
          <a:p>
            <a:pPr lvl="1" eaLnBrk="1" hangingPunct="1"/>
            <a:r>
              <a:rPr lang="en-GB" altLang="en-US" dirty="0"/>
              <a:t>8000 Hz mono for telephone quality voice</a:t>
            </a:r>
          </a:p>
          <a:p>
            <a:pPr lvl="1" eaLnBrk="1" hangingPunct="1"/>
            <a:r>
              <a:rPr lang="en-GB" altLang="en-US" dirty="0"/>
              <a:t>44.1 kHz two-channel stereo with 16 bits per channel for CD-quality sound.</a:t>
            </a:r>
          </a:p>
          <a:p>
            <a:pPr lvl="1" eaLnBrk="1" hangingPunct="1"/>
            <a:r>
              <a:rPr lang="en-GB" altLang="en-US" dirty="0"/>
              <a:t>48 kHz for DAT</a:t>
            </a:r>
          </a:p>
          <a:p>
            <a:pPr lvl="1" eaLnBrk="1" hangingPunct="1"/>
            <a:r>
              <a:rPr lang="en-GB" altLang="en-US" dirty="0"/>
              <a:t>96 or 192 kHz for DVD audio</a:t>
            </a:r>
          </a:p>
          <a:p>
            <a:pPr lvl="1" eaLnBrk="1" hangingPunct="1"/>
            <a:endParaRPr lang="en-GB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CED175-7056-4464-8671-1F449358DA22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3D5695-F63E-4F52-BBEF-63324F2786B7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Two important measurements – II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248150"/>
          </a:xfrm>
        </p:spPr>
        <p:txBody>
          <a:bodyPr/>
          <a:lstStyle/>
          <a:p>
            <a:pPr eaLnBrk="1" hangingPunct="1"/>
            <a:r>
              <a:rPr lang="en-GB" altLang="en-US" dirty="0"/>
              <a:t>Bit depth (resolution)</a:t>
            </a:r>
          </a:p>
          <a:p>
            <a:pPr lvl="1" eaLnBrk="1" hangingPunct="1"/>
            <a:r>
              <a:rPr lang="en-GB" altLang="en-US" dirty="0"/>
              <a:t>2 bit – 4 possible values</a:t>
            </a:r>
          </a:p>
          <a:p>
            <a:pPr lvl="1" eaLnBrk="1" hangingPunct="1"/>
            <a:r>
              <a:rPr lang="en-GB" altLang="en-US" dirty="0"/>
              <a:t>8 bit – 256 possible values</a:t>
            </a:r>
          </a:p>
          <a:p>
            <a:pPr lvl="1" eaLnBrk="1" hangingPunct="1"/>
            <a:r>
              <a:rPr lang="en-GB" altLang="en-US" dirty="0"/>
              <a:t>16 bit – 65536 possible values (CD quality)</a:t>
            </a:r>
          </a:p>
          <a:p>
            <a:pPr eaLnBrk="1" hangingPunct="1"/>
            <a:r>
              <a:rPr lang="en-GB" altLang="en-US" dirty="0"/>
              <a:t>Commonly used bit depth</a:t>
            </a:r>
          </a:p>
          <a:p>
            <a:pPr lvl="1" eaLnBrk="1" hangingPunct="1"/>
            <a:r>
              <a:rPr lang="en-GB" altLang="en-US" dirty="0"/>
              <a:t>CD – 16 bit per channel</a:t>
            </a:r>
          </a:p>
          <a:p>
            <a:pPr lvl="1" eaLnBrk="1" hangingPunct="1"/>
            <a:r>
              <a:rPr lang="en-GB" altLang="en-US" dirty="0"/>
              <a:t>DVD -  24 bit per channel</a:t>
            </a:r>
          </a:p>
          <a:p>
            <a:pPr lvl="1" eaLnBrk="1" hangingPunct="1"/>
            <a:r>
              <a:rPr lang="en-GB" altLang="en-US" dirty="0"/>
              <a:t>Pro audio internal – 32 bit per channel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9A6424-53AB-4AF5-888B-EF102BDC0E7A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8D6719-2F89-4E6E-AB61-3D11154DC072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792162"/>
          </a:xfrm>
        </p:spPr>
        <p:txBody>
          <a:bodyPr/>
          <a:lstStyle/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Effect of Resolution</a:t>
            </a:r>
          </a:p>
        </p:txBody>
      </p:sp>
      <p:pic>
        <p:nvPicPr>
          <p:cNvPr id="3789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1557338"/>
            <a:ext cx="8158162" cy="370522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5C43D6-46A4-4007-9C24-9DC5C534FEEE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DDB426-6881-48D1-9D0B-DB3631FBD64B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Effect of Sample Rate (Fs)</a:t>
            </a:r>
          </a:p>
        </p:txBody>
      </p:sp>
      <p:pic>
        <p:nvPicPr>
          <p:cNvPr id="3891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484313"/>
            <a:ext cx="8086725" cy="3705225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4C7B5F-BBF7-4F4D-A74E-2C6C9A8AE96A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5E8F0D-FFCD-456F-B56D-513833CAD1D3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Audio Aliasing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684213" y="1557338"/>
            <a:ext cx="71294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GB" altLang="en-US" sz="2400" b="1" dirty="0"/>
              <a:t>Question:</a:t>
            </a:r>
            <a:r>
              <a:rPr lang="en-GB" altLang="en-US" sz="2400" dirty="0"/>
              <a:t> What if sampling rate is below Nyquist rate?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684213" y="2708275"/>
            <a:ext cx="7920037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GB" altLang="en-US" sz="2400" b="1" dirty="0"/>
              <a:t>Answer:</a:t>
            </a:r>
            <a:r>
              <a:rPr lang="en-GB" altLang="en-US" sz="2400" dirty="0"/>
              <a:t> when you're digitizing an </a:t>
            </a:r>
            <a:r>
              <a:rPr lang="en-GB" altLang="en-US" sz="2400" dirty="0" err="1"/>
              <a:t>analog</a:t>
            </a:r>
            <a:r>
              <a:rPr lang="en-GB" altLang="en-US" sz="2400" dirty="0"/>
              <a:t> audio wave and your sampling rate is below the Nyquist rate, </a:t>
            </a:r>
            <a:r>
              <a:rPr lang="en-GB" altLang="en-US" sz="2400" b="1" i="1" dirty="0"/>
              <a:t>audio aliasing </a:t>
            </a:r>
            <a:r>
              <a:rPr lang="en-GB" altLang="en-US" sz="2400" dirty="0"/>
              <a:t>will occur. That is, when the digitised sound is played, the frequency from the original sound will be translated to a different frequency, so the digitized sound </a:t>
            </a:r>
            <a:r>
              <a:rPr lang="en-GB" altLang="en-US" sz="2400" dirty="0" err="1"/>
              <a:t>doesn</a:t>
            </a:r>
            <a:r>
              <a:rPr lang="ja-JP" altLang="en-GB" sz="2400"/>
              <a:t>’</a:t>
            </a:r>
            <a:r>
              <a:rPr lang="en-GB" altLang="ja-JP" sz="2400" dirty="0"/>
              <a:t>t sound exactly like the original. </a:t>
            </a:r>
            <a:endParaRPr lang="en-GB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0C9FC0-1633-43D1-A5A4-254F0546BBAB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50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8CC223-2860-43F4-BBF1-FB5B051C25D9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Example of Aliasing 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1943100"/>
          </a:xfrm>
        </p:spPr>
        <p:txBody>
          <a:bodyPr/>
          <a:lstStyle/>
          <a:p>
            <a:pPr eaLnBrk="1" hangingPunct="1"/>
            <a:r>
              <a:rPr lang="en-GB" altLang="en-US"/>
              <a:t>A sound wave being sampled has a frequency of 637 Hz. This means that we need to sample it a Nyquist rate of at least 2*637=1274 samples/s – i.e., 1274 Hz. </a:t>
            </a:r>
          </a:p>
        </p:txBody>
      </p:sp>
      <p:pic>
        <p:nvPicPr>
          <p:cNvPr id="4506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213100"/>
            <a:ext cx="4752975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Text Box 5"/>
          <p:cNvSpPr txBox="1">
            <a:spLocks noChangeArrowheads="1"/>
          </p:cNvSpPr>
          <p:nvPr/>
        </p:nvSpPr>
        <p:spPr bwMode="auto">
          <a:xfrm>
            <a:off x="1116013" y="3716338"/>
            <a:ext cx="244792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1800"/>
              <a:t>Left diagram sampling rate at 1490Hz &gt; 1274, hence no aliasing.</a:t>
            </a:r>
          </a:p>
        </p:txBody>
      </p:sp>
      <p:sp>
        <p:nvSpPr>
          <p:cNvPr id="45064" name="AutoShape 6"/>
          <p:cNvSpPr>
            <a:spLocks noChangeArrowheads="1"/>
          </p:cNvSpPr>
          <p:nvPr/>
        </p:nvSpPr>
        <p:spPr bwMode="auto">
          <a:xfrm>
            <a:off x="3563938" y="4292600"/>
            <a:ext cx="720725" cy="144463"/>
          </a:xfrm>
          <a:prstGeom prst="rightArrow">
            <a:avLst>
              <a:gd name="adj1" fmla="val 50000"/>
              <a:gd name="adj2" fmla="val 1247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59433C-449D-401B-B86F-6F99B5E9421B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471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9470A8-D7D4-4C5C-8272-C1C8DC9E6E85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Example of Aliasing</a:t>
            </a:r>
          </a:p>
        </p:txBody>
      </p:sp>
      <p:pic>
        <p:nvPicPr>
          <p:cNvPr id="4710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565400"/>
            <a:ext cx="6118225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 Box 5"/>
          <p:cNvSpPr txBox="1">
            <a:spLocks noChangeArrowheads="1"/>
          </p:cNvSpPr>
          <p:nvPr/>
        </p:nvSpPr>
        <p:spPr bwMode="auto">
          <a:xfrm>
            <a:off x="539750" y="1341438"/>
            <a:ext cx="777716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1800" b="1"/>
              <a:t>For same 637 Hz signal, we sampled at 1000Hz the digitised signal will be aliased at 363 Hz. That means, aliasing will introduce the distortion of original signal.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2FD0E6-017A-47FE-A091-DEE28E3600F0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30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2008</a:t>
            </a:r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93D257-0DE5-48F9-B434-711B1E804C3A}" type="slidenum">
              <a:rPr lang="en-GB" altLang="zh-CN" sz="100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Aliasing in Frequency domain</a:t>
            </a:r>
          </a:p>
        </p:txBody>
      </p:sp>
      <p:pic>
        <p:nvPicPr>
          <p:cNvPr id="4301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84" b="16310"/>
          <a:stretch>
            <a:fillRect/>
          </a:stretch>
        </p:blipFill>
        <p:spPr>
          <a:xfrm>
            <a:off x="468313" y="1268413"/>
            <a:ext cx="8229600" cy="4897437"/>
          </a:xfrm>
        </p:spPr>
      </p:pic>
    </p:spTree>
    <p:extLst>
      <p:ext uri="{BB962C8B-B14F-4D97-AF65-F5344CB8AC3E}">
        <p14:creationId xmlns:p14="http://schemas.microsoft.com/office/powerpoint/2010/main" val="1703788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Nov'09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Comp30291 Sectn 6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E469-2518-451F-9469-B2497E4BD522}" type="slidenum">
              <a:rPr lang="en-GB"/>
              <a:pPr/>
              <a:t>22</a:t>
            </a:fld>
            <a:endParaRPr lang="en-GB"/>
          </a:p>
        </p:txBody>
      </p:sp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2257425" y="693738"/>
            <a:ext cx="40274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solidFill>
                  <a:srgbClr val="FF0000"/>
                </a:solidFill>
              </a:rPr>
              <a:t>Remember:</a:t>
            </a:r>
          </a:p>
        </p:txBody>
      </p:sp>
      <p:sp>
        <p:nvSpPr>
          <p:cNvPr id="112696" name="Text Box 56"/>
          <p:cNvSpPr txBox="1">
            <a:spLocks noChangeArrowheads="1"/>
          </p:cNvSpPr>
          <p:nvPr/>
        </p:nvSpPr>
        <p:spPr bwMode="auto">
          <a:xfrm>
            <a:off x="522288" y="1625600"/>
            <a:ext cx="8258175" cy="289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/>
              <a:t>Sample in time-domain  </a:t>
            </a:r>
            <a:r>
              <a:rPr lang="en-GB" sz="2800">
                <a:sym typeface="Symbol" panose="05050102010706020507" pitchFamily="18" charset="2"/>
              </a:rPr>
              <a:t> repeat in frequency-domain</a:t>
            </a:r>
          </a:p>
          <a:p>
            <a:pPr>
              <a:spcBef>
                <a:spcPct val="50000"/>
              </a:spcBef>
            </a:pPr>
            <a:endParaRPr lang="en-GB" sz="28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GB" sz="2800" b="1">
                <a:solidFill>
                  <a:srgbClr val="006600"/>
                </a:solidFill>
              </a:rPr>
              <a:t>          sample</a:t>
            </a:r>
            <a:r>
              <a:rPr lang="en-GB" sz="2800" b="1" baseline="-25000">
                <a:solidFill>
                  <a:srgbClr val="006600"/>
                </a:solidFill>
              </a:rPr>
              <a:t>T</a:t>
            </a:r>
            <a:r>
              <a:rPr lang="en-GB" sz="2800" b="1">
                <a:solidFill>
                  <a:srgbClr val="006600"/>
                </a:solidFill>
              </a:rPr>
              <a:t>{x</a:t>
            </a:r>
            <a:r>
              <a:rPr lang="en-GB" sz="2800" b="1" baseline="-25000">
                <a:solidFill>
                  <a:srgbClr val="006600"/>
                </a:solidFill>
              </a:rPr>
              <a:t>a</a:t>
            </a:r>
            <a:r>
              <a:rPr lang="en-GB" sz="2800" b="1">
                <a:solidFill>
                  <a:srgbClr val="006600"/>
                </a:solidFill>
              </a:rPr>
              <a:t>(t)}      -&gt;    (1/T)repeat</a:t>
            </a:r>
            <a:r>
              <a:rPr lang="en-GB" sz="2800" b="1" baseline="-25000">
                <a:solidFill>
                  <a:srgbClr val="006600"/>
                </a:solidFill>
              </a:rPr>
              <a:t>2</a:t>
            </a:r>
            <a:r>
              <a:rPr lang="en-GB" sz="2800" b="1" baseline="-25000">
                <a:solidFill>
                  <a:srgbClr val="006600"/>
                </a:solidFill>
                <a:sym typeface="Symbol" panose="05050102010706020507" pitchFamily="18" charset="2"/>
              </a:rPr>
              <a:t></a:t>
            </a:r>
            <a:r>
              <a:rPr lang="en-GB" sz="2800" b="1" baseline="-25000">
                <a:solidFill>
                  <a:srgbClr val="006600"/>
                </a:solidFill>
              </a:rPr>
              <a:t>/T</a:t>
            </a:r>
            <a:r>
              <a:rPr lang="en-GB" sz="2800" b="1">
                <a:solidFill>
                  <a:srgbClr val="006600"/>
                </a:solidFill>
              </a:rPr>
              <a:t>{X</a:t>
            </a:r>
            <a:r>
              <a:rPr lang="en-GB" sz="2800" b="1" baseline="-25000">
                <a:solidFill>
                  <a:srgbClr val="006600"/>
                </a:solidFill>
              </a:rPr>
              <a:t>a</a:t>
            </a:r>
            <a:r>
              <a:rPr lang="en-GB" sz="2800" b="1">
                <a:solidFill>
                  <a:srgbClr val="006600"/>
                </a:solidFill>
              </a:rPr>
              <a:t>(j</a:t>
            </a:r>
            <a:r>
              <a:rPr lang="en-GB" sz="2800" b="1">
                <a:solidFill>
                  <a:srgbClr val="006600"/>
                </a:solidFill>
                <a:sym typeface="Symbol" panose="05050102010706020507" pitchFamily="18" charset="2"/>
              </a:rPr>
              <a:t></a:t>
            </a:r>
            <a:r>
              <a:rPr lang="en-GB" sz="2800" b="1">
                <a:solidFill>
                  <a:srgbClr val="006600"/>
                </a:solidFill>
              </a:rPr>
              <a:t>)}</a:t>
            </a:r>
            <a:endParaRPr lang="en-GB" sz="28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endParaRPr lang="en-GB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GB">
                <a:sym typeface="Symbol" panose="05050102010706020507" pitchFamily="18" charset="2"/>
              </a:rPr>
              <a:t> ( 2/T is the sampling frequency in radians/second)</a:t>
            </a:r>
          </a:p>
        </p:txBody>
      </p:sp>
    </p:spTree>
    <p:extLst>
      <p:ext uri="{BB962C8B-B14F-4D97-AF65-F5344CB8AC3E}">
        <p14:creationId xmlns:p14="http://schemas.microsoft.com/office/powerpoint/2010/main" val="449841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Nov'09</a:t>
            </a:r>
          </a:p>
        </p:txBody>
      </p:sp>
      <p:sp>
        <p:nvSpPr>
          <p:cNvPr id="5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Comp30291 Sectn 6</a:t>
            </a:r>
          </a:p>
        </p:txBody>
      </p:sp>
      <p:sp>
        <p:nvSpPr>
          <p:cNvPr id="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9AC02-2EAB-4CC8-B85C-A334AD3E1F36}" type="slidenum">
              <a:rPr lang="en-GB"/>
              <a:pPr/>
              <a:t>23</a:t>
            </a:fld>
            <a:endParaRPr lang="en-GB"/>
          </a:p>
        </p:txBody>
      </p:sp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1619250" y="404813"/>
            <a:ext cx="61896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solidFill>
                  <a:srgbClr val="FF0000"/>
                </a:solidFill>
              </a:rPr>
              <a:t>By this precise definition</a:t>
            </a:r>
            <a:r>
              <a:rPr lang="en-US" sz="2800" b="1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8458200" y="5519738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endParaRPr lang="en-US"/>
          </a:p>
        </p:txBody>
      </p:sp>
      <p:sp>
        <p:nvSpPr>
          <p:cNvPr id="113668" name="Line 4"/>
          <p:cNvSpPr>
            <a:spLocks noChangeShapeType="1"/>
          </p:cNvSpPr>
          <p:nvPr/>
        </p:nvSpPr>
        <p:spPr bwMode="auto">
          <a:xfrm>
            <a:off x="600075" y="2922588"/>
            <a:ext cx="800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69" name="Line 5"/>
          <p:cNvSpPr>
            <a:spLocks noChangeShapeType="1"/>
          </p:cNvSpPr>
          <p:nvPr/>
        </p:nvSpPr>
        <p:spPr bwMode="auto">
          <a:xfrm flipV="1">
            <a:off x="4562475" y="1550988"/>
            <a:ext cx="0" cy="1600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13670" name="Group 6"/>
          <p:cNvGrpSpPr>
            <a:grpSpLocks/>
          </p:cNvGrpSpPr>
          <p:nvPr/>
        </p:nvGrpSpPr>
        <p:grpSpPr bwMode="auto">
          <a:xfrm>
            <a:off x="3952875" y="1779588"/>
            <a:ext cx="1219200" cy="1143000"/>
            <a:chOff x="2496" y="3024"/>
            <a:chExt cx="768" cy="720"/>
          </a:xfrm>
        </p:grpSpPr>
        <p:sp>
          <p:nvSpPr>
            <p:cNvPr id="113671" name="Line 7"/>
            <p:cNvSpPr>
              <a:spLocks noChangeShapeType="1"/>
            </p:cNvSpPr>
            <p:nvPr/>
          </p:nvSpPr>
          <p:spPr bwMode="auto">
            <a:xfrm>
              <a:off x="2880" y="3024"/>
              <a:ext cx="384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3672" name="Line 8"/>
            <p:cNvSpPr>
              <a:spLocks noChangeShapeType="1"/>
            </p:cNvSpPr>
            <p:nvPr/>
          </p:nvSpPr>
          <p:spPr bwMode="auto">
            <a:xfrm flipH="1">
              <a:off x="2496" y="3024"/>
              <a:ext cx="384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13673" name="Line 9"/>
          <p:cNvSpPr>
            <a:spLocks noChangeShapeType="1"/>
          </p:cNvSpPr>
          <p:nvPr/>
        </p:nvSpPr>
        <p:spPr bwMode="auto">
          <a:xfrm>
            <a:off x="5248275" y="28463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74" name="Line 10"/>
          <p:cNvSpPr>
            <a:spLocks noChangeShapeType="1"/>
          </p:cNvSpPr>
          <p:nvPr/>
        </p:nvSpPr>
        <p:spPr bwMode="auto">
          <a:xfrm>
            <a:off x="3876675" y="28463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75" name="Text Box 11"/>
          <p:cNvSpPr txBox="1">
            <a:spLocks noChangeArrowheads="1"/>
          </p:cNvSpPr>
          <p:nvPr/>
        </p:nvSpPr>
        <p:spPr bwMode="auto">
          <a:xfrm>
            <a:off x="5019675" y="2906713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/T</a:t>
            </a:r>
            <a:endParaRPr lang="en-US"/>
          </a:p>
        </p:txBody>
      </p: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3495675" y="2936875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chemeClr val="accent2"/>
                </a:solidFill>
              </a:rPr>
              <a:t>-</a:t>
            </a:r>
            <a:r>
              <a:rPr lang="en-US" sz="1800" b="1" dirty="0">
                <a:solidFill>
                  <a:schemeClr val="accent2"/>
                </a:solidFill>
                <a:sym typeface="Symbol" panose="05050102010706020507" pitchFamily="18" charset="2"/>
              </a:rPr>
              <a:t>/T</a:t>
            </a:r>
            <a:endParaRPr lang="en-US" sz="2000" dirty="0">
              <a:sym typeface="Symbol" panose="05050102010706020507" pitchFamily="18" charset="2"/>
            </a:endParaRPr>
          </a:p>
        </p:txBody>
      </p:sp>
      <p:sp>
        <p:nvSpPr>
          <p:cNvPr id="113677" name="Line 13"/>
          <p:cNvSpPr>
            <a:spLocks noChangeShapeType="1"/>
          </p:cNvSpPr>
          <p:nvPr/>
        </p:nvSpPr>
        <p:spPr bwMode="auto">
          <a:xfrm>
            <a:off x="5934075" y="28463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78" name="Line 14"/>
          <p:cNvSpPr>
            <a:spLocks noChangeShapeType="1"/>
          </p:cNvSpPr>
          <p:nvPr/>
        </p:nvSpPr>
        <p:spPr bwMode="auto">
          <a:xfrm>
            <a:off x="3190875" y="28463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79" name="Line 15"/>
          <p:cNvSpPr>
            <a:spLocks noChangeShapeType="1"/>
          </p:cNvSpPr>
          <p:nvPr/>
        </p:nvSpPr>
        <p:spPr bwMode="auto">
          <a:xfrm>
            <a:off x="7305675" y="28463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80" name="Line 16"/>
          <p:cNvSpPr>
            <a:spLocks noChangeShapeType="1"/>
          </p:cNvSpPr>
          <p:nvPr/>
        </p:nvSpPr>
        <p:spPr bwMode="auto">
          <a:xfrm>
            <a:off x="1743075" y="28463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81" name="Text Box 17"/>
          <p:cNvSpPr txBox="1">
            <a:spLocks noChangeArrowheads="1"/>
          </p:cNvSpPr>
          <p:nvPr/>
        </p:nvSpPr>
        <p:spPr bwMode="auto">
          <a:xfrm>
            <a:off x="4562475" y="1398588"/>
            <a:ext cx="1762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b="1">
                <a:solidFill>
                  <a:schemeClr val="accent2"/>
                </a:solidFill>
              </a:rPr>
              <a:t>|</a:t>
            </a:r>
            <a:r>
              <a:rPr lang="en-GB" sz="2000" b="1" dirty="0" err="1">
                <a:solidFill>
                  <a:schemeClr val="accent2"/>
                </a:solidFill>
              </a:rPr>
              <a:t>X</a:t>
            </a:r>
            <a:r>
              <a:rPr lang="en-GB" sz="2000" b="1" baseline="-25000" dirty="0" err="1">
                <a:solidFill>
                  <a:schemeClr val="accent2"/>
                </a:solidFill>
              </a:rPr>
              <a:t>a</a:t>
            </a:r>
            <a:r>
              <a:rPr lang="en-GB" sz="2000" b="1" dirty="0">
                <a:solidFill>
                  <a:schemeClr val="accent2"/>
                </a:solidFill>
              </a:rPr>
              <a:t>(j</a:t>
            </a:r>
            <a:r>
              <a:rPr lang="en-GB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)|</a:t>
            </a:r>
            <a:endParaRPr lang="en-US" sz="2000" b="1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13682" name="Text Box 18"/>
          <p:cNvSpPr txBox="1">
            <a:spLocks noChangeArrowheads="1"/>
          </p:cNvSpPr>
          <p:nvPr/>
        </p:nvSpPr>
        <p:spPr bwMode="auto">
          <a:xfrm>
            <a:off x="8458200" y="2540000"/>
            <a:ext cx="5334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681038" y="1687513"/>
            <a:ext cx="3057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3200" dirty="0"/>
              <a:t>Given a spectrum </a:t>
            </a:r>
            <a:endParaRPr lang="en-US" sz="3200" dirty="0"/>
          </a:p>
        </p:txBody>
      </p:sp>
      <p:grpSp>
        <p:nvGrpSpPr>
          <p:cNvPr id="113684" name="Group 20"/>
          <p:cNvGrpSpPr>
            <a:grpSpLocks/>
          </p:cNvGrpSpPr>
          <p:nvPr/>
        </p:nvGrpSpPr>
        <p:grpSpPr bwMode="auto">
          <a:xfrm>
            <a:off x="457200" y="3771900"/>
            <a:ext cx="8153400" cy="2430463"/>
            <a:chOff x="288" y="2592"/>
            <a:chExt cx="5136" cy="1377"/>
          </a:xfrm>
        </p:grpSpPr>
        <p:grpSp>
          <p:nvGrpSpPr>
            <p:cNvPr id="113685" name="Group 21"/>
            <p:cNvGrpSpPr>
              <a:grpSpLocks/>
            </p:cNvGrpSpPr>
            <p:nvPr/>
          </p:nvGrpSpPr>
          <p:grpSpPr bwMode="auto">
            <a:xfrm>
              <a:off x="288" y="2784"/>
              <a:ext cx="5136" cy="1185"/>
              <a:chOff x="288" y="2784"/>
              <a:chExt cx="5136" cy="1185"/>
            </a:xfrm>
          </p:grpSpPr>
          <p:sp>
            <p:nvSpPr>
              <p:cNvPr id="113686" name="Line 22"/>
              <p:cNvSpPr>
                <a:spLocks noChangeShapeType="1"/>
              </p:cNvSpPr>
              <p:nvPr/>
            </p:nvSpPr>
            <p:spPr bwMode="auto">
              <a:xfrm>
                <a:off x="384" y="3744"/>
                <a:ext cx="504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687" name="Line 23"/>
              <p:cNvSpPr>
                <a:spLocks noChangeShapeType="1"/>
              </p:cNvSpPr>
              <p:nvPr/>
            </p:nvSpPr>
            <p:spPr bwMode="auto">
              <a:xfrm flipV="1">
                <a:off x="2880" y="2880"/>
                <a:ext cx="0" cy="100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13688" name="Group 24"/>
              <p:cNvGrpSpPr>
                <a:grpSpLocks/>
              </p:cNvGrpSpPr>
              <p:nvPr/>
            </p:nvGrpSpPr>
            <p:grpSpPr bwMode="auto">
              <a:xfrm>
                <a:off x="2496" y="3024"/>
                <a:ext cx="768" cy="720"/>
                <a:chOff x="2496" y="3024"/>
                <a:chExt cx="768" cy="720"/>
              </a:xfrm>
            </p:grpSpPr>
            <p:sp>
              <p:nvSpPr>
                <p:cNvPr id="113689" name="Line 25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13690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496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3691" name="Group 27"/>
              <p:cNvGrpSpPr>
                <a:grpSpLocks/>
              </p:cNvGrpSpPr>
              <p:nvPr/>
            </p:nvGrpSpPr>
            <p:grpSpPr bwMode="auto">
              <a:xfrm>
                <a:off x="3360" y="3024"/>
                <a:ext cx="768" cy="720"/>
                <a:chOff x="2496" y="3024"/>
                <a:chExt cx="768" cy="720"/>
              </a:xfrm>
            </p:grpSpPr>
            <p:sp>
              <p:nvSpPr>
                <p:cNvPr id="113692" name="Line 28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13693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496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3694" name="Group 30"/>
              <p:cNvGrpSpPr>
                <a:grpSpLocks/>
              </p:cNvGrpSpPr>
              <p:nvPr/>
            </p:nvGrpSpPr>
            <p:grpSpPr bwMode="auto">
              <a:xfrm>
                <a:off x="1632" y="3024"/>
                <a:ext cx="768" cy="720"/>
                <a:chOff x="2496" y="3024"/>
                <a:chExt cx="768" cy="720"/>
              </a:xfrm>
            </p:grpSpPr>
            <p:sp>
              <p:nvSpPr>
                <p:cNvPr id="113695" name="Line 31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13696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2496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3697" name="Group 33"/>
              <p:cNvGrpSpPr>
                <a:grpSpLocks/>
              </p:cNvGrpSpPr>
              <p:nvPr/>
            </p:nvGrpSpPr>
            <p:grpSpPr bwMode="auto">
              <a:xfrm>
                <a:off x="4224" y="3024"/>
                <a:ext cx="768" cy="720"/>
                <a:chOff x="2496" y="3024"/>
                <a:chExt cx="768" cy="720"/>
              </a:xfrm>
            </p:grpSpPr>
            <p:sp>
              <p:nvSpPr>
                <p:cNvPr id="113698" name="Line 34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13699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496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3700" name="Group 36"/>
              <p:cNvGrpSpPr>
                <a:grpSpLocks/>
              </p:cNvGrpSpPr>
              <p:nvPr/>
            </p:nvGrpSpPr>
            <p:grpSpPr bwMode="auto">
              <a:xfrm>
                <a:off x="768" y="3024"/>
                <a:ext cx="768" cy="720"/>
                <a:chOff x="2496" y="3024"/>
                <a:chExt cx="768" cy="720"/>
              </a:xfrm>
            </p:grpSpPr>
            <p:sp>
              <p:nvSpPr>
                <p:cNvPr id="113701" name="Line 37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13702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2496" y="3024"/>
                  <a:ext cx="384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13703" name="Line 39"/>
              <p:cNvSpPr>
                <a:spLocks noChangeShapeType="1"/>
              </p:cNvSpPr>
              <p:nvPr/>
            </p:nvSpPr>
            <p:spPr bwMode="auto">
              <a:xfrm flipV="1">
                <a:off x="5136" y="3312"/>
                <a:ext cx="240" cy="43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04" name="Line 40"/>
              <p:cNvSpPr>
                <a:spLocks noChangeShapeType="1"/>
              </p:cNvSpPr>
              <p:nvPr/>
            </p:nvSpPr>
            <p:spPr bwMode="auto">
              <a:xfrm flipH="1" flipV="1">
                <a:off x="288" y="3360"/>
                <a:ext cx="288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05" name="Line 41"/>
              <p:cNvSpPr>
                <a:spLocks noChangeShapeType="1"/>
              </p:cNvSpPr>
              <p:nvPr/>
            </p:nvSpPr>
            <p:spPr bwMode="auto">
              <a:xfrm>
                <a:off x="3312" y="36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06" name="Line 42"/>
              <p:cNvSpPr>
                <a:spLocks noChangeShapeType="1"/>
              </p:cNvSpPr>
              <p:nvPr/>
            </p:nvSpPr>
            <p:spPr bwMode="auto">
              <a:xfrm>
                <a:off x="2448" y="36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07" name="Text Box 43"/>
              <p:cNvSpPr txBox="1">
                <a:spLocks noChangeArrowheads="1"/>
              </p:cNvSpPr>
              <p:nvPr/>
            </p:nvSpPr>
            <p:spPr bwMode="auto">
              <a:xfrm>
                <a:off x="3168" y="3734"/>
                <a:ext cx="52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b="1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/T</a:t>
                </a:r>
                <a:endParaRPr lang="en-US" dirty="0"/>
              </a:p>
            </p:txBody>
          </p:sp>
          <p:sp>
            <p:nvSpPr>
              <p:cNvPr id="113708" name="Text Box 44"/>
              <p:cNvSpPr txBox="1">
                <a:spLocks noChangeArrowheads="1"/>
              </p:cNvSpPr>
              <p:nvPr/>
            </p:nvSpPr>
            <p:spPr bwMode="auto">
              <a:xfrm>
                <a:off x="2208" y="3753"/>
                <a:ext cx="576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b="1" dirty="0">
                    <a:solidFill>
                      <a:schemeClr val="accent2"/>
                    </a:solidFill>
                  </a:rPr>
                  <a:t>-</a:t>
                </a:r>
                <a:r>
                  <a:rPr lang="en-US" sz="1800" b="1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/T</a:t>
                </a:r>
                <a:endParaRPr lang="en-US" sz="2000" dirty="0">
                  <a:sym typeface="Symbol" panose="05050102010706020507" pitchFamily="18" charset="2"/>
                </a:endParaRPr>
              </a:p>
            </p:txBody>
          </p:sp>
          <p:sp>
            <p:nvSpPr>
              <p:cNvPr id="113709" name="Line 45"/>
              <p:cNvSpPr>
                <a:spLocks noChangeShapeType="1"/>
              </p:cNvSpPr>
              <p:nvPr/>
            </p:nvSpPr>
            <p:spPr bwMode="auto">
              <a:xfrm>
                <a:off x="3744" y="36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10" name="Line 46"/>
              <p:cNvSpPr>
                <a:spLocks noChangeShapeType="1"/>
              </p:cNvSpPr>
              <p:nvPr/>
            </p:nvSpPr>
            <p:spPr bwMode="auto">
              <a:xfrm>
                <a:off x="2016" y="36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11" name="Text Box 47"/>
              <p:cNvSpPr txBox="1">
                <a:spLocks noChangeArrowheads="1"/>
              </p:cNvSpPr>
              <p:nvPr/>
            </p:nvSpPr>
            <p:spPr bwMode="auto">
              <a:xfrm>
                <a:off x="3552" y="3696"/>
                <a:ext cx="528" cy="2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>
                    <a:sym typeface="Symbol" panose="05050102010706020507" pitchFamily="18" charset="2"/>
                  </a:rPr>
                  <a:t>2/T</a:t>
                </a:r>
              </a:p>
            </p:txBody>
          </p:sp>
          <p:sp>
            <p:nvSpPr>
              <p:cNvPr id="113712" name="Line 48"/>
              <p:cNvSpPr>
                <a:spLocks noChangeShapeType="1"/>
              </p:cNvSpPr>
              <p:nvPr/>
            </p:nvSpPr>
            <p:spPr bwMode="auto">
              <a:xfrm>
                <a:off x="4608" y="36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13" name="Text Box 49"/>
              <p:cNvSpPr txBox="1">
                <a:spLocks noChangeArrowheads="1"/>
              </p:cNvSpPr>
              <p:nvPr/>
            </p:nvSpPr>
            <p:spPr bwMode="auto">
              <a:xfrm>
                <a:off x="4416" y="3734"/>
                <a:ext cx="503" cy="2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>
                    <a:sym typeface="Symbol" panose="05050102010706020507" pitchFamily="18" charset="2"/>
                  </a:rPr>
                  <a:t>4/T</a:t>
                </a:r>
              </a:p>
            </p:txBody>
          </p:sp>
          <p:sp>
            <p:nvSpPr>
              <p:cNvPr id="113714" name="Line 50"/>
              <p:cNvSpPr>
                <a:spLocks noChangeShapeType="1"/>
              </p:cNvSpPr>
              <p:nvPr/>
            </p:nvSpPr>
            <p:spPr bwMode="auto">
              <a:xfrm>
                <a:off x="1104" y="36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13715" name="Text Box 51"/>
              <p:cNvSpPr txBox="1">
                <a:spLocks noChangeArrowheads="1"/>
              </p:cNvSpPr>
              <p:nvPr/>
            </p:nvSpPr>
            <p:spPr bwMode="auto">
              <a:xfrm>
                <a:off x="864" y="3744"/>
                <a:ext cx="624" cy="2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>
                    <a:sym typeface="Symbol" panose="05050102010706020507" pitchFamily="18" charset="2"/>
                  </a:rPr>
                  <a:t>-4/T</a:t>
                </a:r>
              </a:p>
            </p:txBody>
          </p:sp>
          <p:sp>
            <p:nvSpPr>
              <p:cNvPr id="113716" name="Text Box 52"/>
              <p:cNvSpPr txBox="1">
                <a:spLocks noChangeArrowheads="1"/>
              </p:cNvSpPr>
              <p:nvPr/>
            </p:nvSpPr>
            <p:spPr bwMode="auto">
              <a:xfrm>
                <a:off x="1728" y="3696"/>
                <a:ext cx="672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/>
                  <a:t>-2</a:t>
                </a:r>
                <a:r>
                  <a:rPr lang="en-US" sz="2000" dirty="0">
                    <a:sym typeface="Symbol" panose="05050102010706020507" pitchFamily="18" charset="2"/>
                  </a:rPr>
                  <a:t>/T</a:t>
                </a:r>
              </a:p>
            </p:txBody>
          </p:sp>
          <p:sp>
            <p:nvSpPr>
              <p:cNvPr id="113717" name="Text Box 53"/>
              <p:cNvSpPr txBox="1">
                <a:spLocks noChangeArrowheads="1"/>
              </p:cNvSpPr>
              <p:nvPr/>
            </p:nvSpPr>
            <p:spPr bwMode="auto">
              <a:xfrm>
                <a:off x="2880" y="2784"/>
                <a:ext cx="858" cy="2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b="1" dirty="0">
                    <a:solidFill>
                      <a:schemeClr val="accent2"/>
                    </a:solidFill>
                  </a:rPr>
                  <a:t>|X</a:t>
                </a:r>
                <a:r>
                  <a:rPr lang="en-GB" sz="2000" b="1" baseline="-25000" dirty="0">
                    <a:solidFill>
                      <a:schemeClr val="accent2"/>
                    </a:solidFill>
                  </a:rPr>
                  <a:t>S</a:t>
                </a:r>
                <a:r>
                  <a:rPr lang="en-GB" sz="2000" b="1" dirty="0">
                    <a:solidFill>
                      <a:schemeClr val="accent2"/>
                    </a:solidFill>
                  </a:rPr>
                  <a:t>(j</a:t>
                </a:r>
                <a:r>
                  <a:rPr lang="en-GB" sz="2000" b="1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)|</a:t>
                </a:r>
                <a:endParaRPr lang="en-US" sz="2000" b="1" dirty="0">
                  <a:solidFill>
                    <a:schemeClr val="accent2"/>
                  </a:solidFill>
                  <a:sym typeface="Symbol" panose="05050102010706020507" pitchFamily="18" charset="2"/>
                </a:endParaRPr>
              </a:p>
            </p:txBody>
          </p:sp>
          <p:sp>
            <p:nvSpPr>
              <p:cNvPr id="113718" name="Text Box 54"/>
              <p:cNvSpPr txBox="1">
                <a:spLocks noChangeArrowheads="1"/>
              </p:cNvSpPr>
              <p:nvPr/>
            </p:nvSpPr>
            <p:spPr bwMode="auto">
              <a:xfrm>
                <a:off x="2304" y="3168"/>
                <a:ext cx="52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b="1"/>
                  <a:t>X</a:t>
                </a:r>
                <a:r>
                  <a:rPr lang="en-US" sz="1800" b="1" baseline="-25000"/>
                  <a:t>a</a:t>
                </a:r>
                <a:r>
                  <a:rPr lang="en-US" sz="1800" b="1"/>
                  <a:t>(j</a:t>
                </a:r>
                <a:r>
                  <a:rPr lang="en-US" sz="1800" b="1">
                    <a:sym typeface="Symbol" panose="05050102010706020507" pitchFamily="18" charset="2"/>
                  </a:rPr>
                  <a:t>)</a:t>
                </a:r>
                <a:endParaRPr lang="en-US" sz="1600"/>
              </a:p>
            </p:txBody>
          </p:sp>
        </p:grpSp>
        <p:sp>
          <p:nvSpPr>
            <p:cNvPr id="113719" name="Text Box 55"/>
            <p:cNvSpPr txBox="1">
              <a:spLocks noChangeArrowheads="1"/>
            </p:cNvSpPr>
            <p:nvPr/>
          </p:nvSpPr>
          <p:spPr bwMode="auto">
            <a:xfrm>
              <a:off x="312" y="2592"/>
              <a:ext cx="2448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800" dirty="0"/>
                <a:t>|REPEAT</a:t>
              </a:r>
              <a:r>
                <a:rPr lang="en-GB" sz="2800" baseline="-25000" dirty="0"/>
                <a:t>2</a:t>
              </a:r>
              <a:r>
                <a:rPr lang="en-GB" sz="2800" baseline="-25000" dirty="0">
                  <a:sym typeface="Symbol" panose="05050102010706020507" pitchFamily="18" charset="2"/>
                </a:rPr>
                <a:t>/T</a:t>
              </a:r>
              <a:r>
                <a:rPr lang="en-GB" sz="2800" dirty="0">
                  <a:sym typeface="Symbol" panose="05050102010706020507" pitchFamily="18" charset="2"/>
                </a:rPr>
                <a:t> {</a:t>
              </a:r>
              <a:r>
                <a:rPr lang="en-GB" sz="2800" dirty="0" err="1">
                  <a:sym typeface="Symbol" panose="05050102010706020507" pitchFamily="18" charset="2"/>
                </a:rPr>
                <a:t>X</a:t>
              </a:r>
              <a:r>
                <a:rPr lang="en-GB" sz="2800" baseline="-25000" dirty="0" err="1">
                  <a:sym typeface="Symbol" panose="05050102010706020507" pitchFamily="18" charset="2"/>
                </a:rPr>
                <a:t>a</a:t>
              </a:r>
              <a:r>
                <a:rPr lang="en-GB" sz="2800" dirty="0">
                  <a:sym typeface="Symbol" panose="05050102010706020507" pitchFamily="18" charset="2"/>
                </a:rPr>
                <a:t>(j)}|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568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523F4D-FEEE-4B9B-A799-6B72CEA5E940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BCEC0A-EF03-4070-83BA-C7057DF307F4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Sampling Rate and Aliasing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2592387"/>
          </a:xfrm>
        </p:spPr>
        <p:txBody>
          <a:bodyPr/>
          <a:lstStyle/>
          <a:p>
            <a:pPr eaLnBrk="1" hangingPunct="1"/>
            <a:r>
              <a:rPr lang="en-GB" altLang="en-US" b="1" i="1"/>
              <a:t>Nyquist theorem</a:t>
            </a:r>
            <a:r>
              <a:rPr lang="en-GB" altLang="en-US"/>
              <a:t>:</a:t>
            </a:r>
          </a:p>
          <a:p>
            <a:pPr lvl="1" eaLnBrk="1" hangingPunct="1"/>
            <a:r>
              <a:rPr lang="en-GB" altLang="en-US"/>
              <a:t>To guarantee accurate reconstruction of a sampled analogue signal, we must use a sampling rate that is greater than twice the frequency of the highest frequency component in the signal. </a:t>
            </a: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40967" name="Object 4"/>
          <p:cNvGraphicFramePr>
            <a:graphicFrameLocks noChangeAspect="1"/>
          </p:cNvGraphicFramePr>
          <p:nvPr/>
        </p:nvGraphicFramePr>
        <p:xfrm>
          <a:off x="2195513" y="4076700"/>
          <a:ext cx="4392612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4" imgW="787400" imgH="228600" progId="Equation.3">
                  <p:embed/>
                </p:oleObj>
              </mc:Choice>
              <mc:Fallback>
                <p:oleObj name="Equation" r:id="rId4" imgW="787400" imgH="228600" progId="Equation.3">
                  <p:embed/>
                  <p:pic>
                    <p:nvPicPr>
                      <p:cNvPr id="4096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76700"/>
                        <a:ext cx="4392612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250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FA2AAE-3AB8-4D68-B2E8-BB2CFD3D0344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C86D8B-7C73-42A2-91F0-6C068BF0BC36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229600" cy="638175"/>
          </a:xfrm>
        </p:spPr>
        <p:txBody>
          <a:bodyPr/>
          <a:lstStyle/>
          <a:p>
            <a:pPr eaLnBrk="1" hangingPunct="1"/>
            <a:r>
              <a:rPr lang="en-GB" altLang="zh-CN" sz="4000" b="1">
                <a:ea typeface="宋体" panose="02010600030101010101" pitchFamily="2" charset="-122"/>
              </a:rPr>
              <a:t>Digital Audio Formats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103687"/>
          </a:xfrm>
        </p:spPr>
        <p:txBody>
          <a:bodyPr/>
          <a:lstStyle/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Digital audio comes in many different formats.</a:t>
            </a:r>
          </a:p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Groups like MPEG</a:t>
            </a:r>
            <a:r>
              <a:rPr lang="en-GB" altLang="zh-CN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en-GB" altLang="zh-CN">
                <a:ea typeface="宋体" panose="02010600030101010101" pitchFamily="2" charset="-122"/>
              </a:rPr>
              <a:t>have created open standards.</a:t>
            </a:r>
          </a:p>
          <a:p>
            <a:pPr eaLnBrk="1" hangingPunct="1"/>
            <a:r>
              <a:rPr lang="en-GB" altLang="zh-CN">
                <a:ea typeface="宋体" panose="02010600030101010101" pitchFamily="2" charset="-122"/>
              </a:rPr>
              <a:t>Even formats based on the same MPEG standard may not compatible with each other because of proprietary components.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3F8310-70D9-4A04-8D95-49B2783B589F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552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552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ECB843-4B2A-4C8E-BBA8-48D45E8B89EC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647700"/>
          </a:xfrm>
        </p:spPr>
        <p:txBody>
          <a:bodyPr/>
          <a:lstStyle/>
          <a:p>
            <a:pPr eaLnBrk="1" hangingPunct="1"/>
            <a:r>
              <a:rPr lang="en-GB" altLang="zh-CN" sz="4000" b="1">
                <a:ea typeface="宋体" panose="02010600030101010101" pitchFamily="2" charset="-122"/>
              </a:rPr>
              <a:t>Digital Audio Files</a:t>
            </a:r>
          </a:p>
        </p:txBody>
      </p:sp>
      <p:pic>
        <p:nvPicPr>
          <p:cNvPr id="5530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4508500"/>
            <a:ext cx="8229600" cy="1655763"/>
          </a:xfrm>
        </p:spPr>
      </p:pic>
      <p:sp>
        <p:nvSpPr>
          <p:cNvPr id="55302" name="Rectangle 4"/>
          <p:cNvSpPr>
            <a:spLocks noChangeArrowheads="1"/>
          </p:cNvSpPr>
          <p:nvPr/>
        </p:nvSpPr>
        <p:spPr bwMode="auto">
          <a:xfrm>
            <a:off x="755650" y="1341438"/>
            <a:ext cx="7345363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An audio file has two main parts: a header and the audio data.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The header is used to store information about the file, including the resolution, sampling rate and type of compression.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A “wrapper” is used to add features, such as license management information or streaming capability, to a digital audio file.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3D8C0D-7319-4EC9-BC04-6651BCF54F6B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573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 dirty="0">
                <a:ea typeface="宋体" panose="02010600030101010101" pitchFamily="2" charset="-122"/>
              </a:rPr>
              <a:t>by </a:t>
            </a:r>
            <a:r>
              <a:rPr lang="en-GB" altLang="zh-CN" sz="1000" dirty="0" err="1">
                <a:ea typeface="宋体" panose="02010600030101010101" pitchFamily="2" charset="-122"/>
              </a:rPr>
              <a:t>Y.Wang</a:t>
            </a:r>
            <a:r>
              <a:rPr lang="en-GB" altLang="zh-CN" sz="1000" dirty="0">
                <a:ea typeface="宋体" panose="02010600030101010101" pitchFamily="2" charset="-122"/>
              </a:rPr>
              <a:t> 2007</a:t>
            </a:r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81911E-1406-4E7F-BEAC-7CA850E3F362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719137"/>
          </a:xfrm>
        </p:spPr>
        <p:txBody>
          <a:bodyPr/>
          <a:lstStyle/>
          <a:p>
            <a:pPr eaLnBrk="1" hangingPunct="1"/>
            <a:r>
              <a:rPr lang="en-GB" altLang="zh-CN" sz="4000">
                <a:ea typeface="宋体" panose="02010600030101010101" pitchFamily="2" charset="-122"/>
              </a:rPr>
              <a:t>Common Digital Audio Formats </a:t>
            </a:r>
          </a:p>
        </p:txBody>
      </p:sp>
      <p:graphicFrame>
        <p:nvGraphicFramePr>
          <p:cNvPr id="45056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848161"/>
              </p:ext>
            </p:extLst>
          </p:nvPr>
        </p:nvGraphicFramePr>
        <p:xfrm>
          <a:off x="457200" y="1340768"/>
          <a:ext cx="8569325" cy="3439612"/>
        </p:xfrm>
        <a:graphic>
          <a:graphicData uri="http://schemas.openxmlformats.org/drawingml/2006/table">
            <a:tbl>
              <a:tblPr/>
              <a:tblGrid>
                <a:gridCol w="2252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3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Extensions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Codec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AIFF (Mac)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.aif, .aiff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*PCM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CD audio (CDDA)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PCM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WAV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.wav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*PCM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144291"/>
                  </a:ext>
                </a:extLst>
              </a:tr>
              <a:tr h="327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MP3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.mp3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MPEG1&amp;2 Audio Layer-III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1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AAC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.m4a;.mp4; .3gp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MPEG2 Part 7; MPEG4 Part3 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892177"/>
                  </a:ext>
                </a:extLst>
              </a:tr>
              <a:tr h="4891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Windows Media Audio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wma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Proprietary (Microsoft)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53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QuickTime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.qt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Proprietary (Apple Computer)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RealAudio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.ra, ram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华文细黑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Proprietary (Real Networks)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12EC50E-7562-9C42-ADFF-706D0FE829BF}"/>
              </a:ext>
            </a:extLst>
          </p:cNvPr>
          <p:cNvSpPr txBox="1"/>
          <p:nvPr/>
        </p:nvSpPr>
        <p:spPr>
          <a:xfrm>
            <a:off x="363031" y="4960392"/>
            <a:ext cx="3994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popular ones: OPUS, FLAC</a:t>
            </a:r>
          </a:p>
          <a:p>
            <a:r>
              <a:rPr lang="en-US" dirty="0"/>
              <a:t>File Containers: OGG, WEBM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D6EE22-A670-4CDD-A75A-DDAB1CD62D03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604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1FCCA6-27B1-4532-B5FD-F3D39C90A624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WAV files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7704087" cy="2015554"/>
          </a:xfrm>
        </p:spPr>
        <p:txBody>
          <a:bodyPr/>
          <a:lstStyle/>
          <a:p>
            <a:pPr eaLnBrk="1" hangingPunct="1"/>
            <a:r>
              <a:rPr lang="en-GB" altLang="en-US" dirty="0"/>
              <a:t>WAV file format may use different encodings (PCM, DPCM, ADPCM). </a:t>
            </a:r>
          </a:p>
          <a:p>
            <a:pPr eaLnBrk="1" hangingPunct="1"/>
            <a:r>
              <a:rPr lang="en-GB" altLang="en-US" dirty="0"/>
              <a:t>When you recording, editing, exporting audio files, you use PCM encoding.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517E2F-0E41-BC43-83FF-53FCBDD9DFC3}"/>
              </a:ext>
            </a:extLst>
          </p:cNvPr>
          <p:cNvSpPr txBox="1">
            <a:spLocks/>
          </p:cNvSpPr>
          <p:nvPr/>
        </p:nvSpPr>
        <p:spPr bwMode="auto">
          <a:xfrm>
            <a:off x="539552" y="3284984"/>
            <a:ext cx="7890188" cy="249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华文细黑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细黑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  <a:cs typeface="华文细黑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华文细黑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华文细黑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GB" altLang="en-US" kern="0" dirty="0"/>
              <a:t>[</a:t>
            </a:r>
            <a:r>
              <a:rPr lang="en-GB" altLang="en-US" kern="0" dirty="0" err="1"/>
              <a:t>y,Fs</a:t>
            </a:r>
            <a:r>
              <a:rPr lang="en-GB" altLang="en-US" kern="0" dirty="0"/>
              <a:t>] = </a:t>
            </a:r>
            <a:r>
              <a:rPr lang="en-GB" altLang="en-US" kern="0" dirty="0" err="1"/>
              <a:t>audioread</a:t>
            </a:r>
            <a:r>
              <a:rPr lang="en-GB" altLang="en-US" kern="0" dirty="0"/>
              <a:t>('filename')</a:t>
            </a:r>
          </a:p>
          <a:p>
            <a:pPr lvl="1"/>
            <a:r>
              <a:rPr lang="en-GB" altLang="en-US" kern="0" dirty="0"/>
              <a:t>y : raw samples</a:t>
            </a:r>
          </a:p>
          <a:p>
            <a:pPr lvl="1"/>
            <a:r>
              <a:rPr lang="en-GB" altLang="en-US" kern="0" dirty="0"/>
              <a:t>Fs : Sampling frequency</a:t>
            </a:r>
          </a:p>
          <a:p>
            <a:r>
              <a:rPr lang="en-GB" altLang="en-US" kern="0" dirty="0"/>
              <a:t>It does internally convert the fixed point wav file to float point audio data.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Fixed-Point vs. Floating-Point</a:t>
            </a:r>
          </a:p>
        </p:txBody>
      </p:sp>
      <p:sp>
        <p:nvSpPr>
          <p:cNvPr id="6246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7B8D71-07EF-4347-A41F-090F586DD234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624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624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14EBC4-FF6F-41F8-85CB-AAAF6E8BA3DB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906C62-0986-A344-93D0-35F005BC3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341438"/>
            <a:ext cx="7920111" cy="4103786"/>
          </a:xfrm>
        </p:spPr>
        <p:txBody>
          <a:bodyPr/>
          <a:lstStyle/>
          <a:p>
            <a:r>
              <a:rPr lang="en-US" dirty="0"/>
              <a:t>16-bit Fixed point: </a:t>
            </a:r>
            <a:r>
              <a:rPr lang="en-GB" dirty="0"/>
              <a:t>65,536 possible bit patterns (2</a:t>
            </a:r>
            <a:r>
              <a:rPr lang="en-GB" baseline="30000" dirty="0"/>
              <a:t>16</a:t>
            </a:r>
            <a:r>
              <a:rPr lang="en-GB" dirty="0"/>
              <a:t>) =&gt; 96dB dynamic range</a:t>
            </a:r>
          </a:p>
          <a:p>
            <a:r>
              <a:rPr lang="en-GB" dirty="0"/>
              <a:t>Floating-point DSPs via a minimum of 32 bits using scientific notation</a:t>
            </a:r>
          </a:p>
          <a:p>
            <a:r>
              <a:rPr lang="en-GB" dirty="0"/>
              <a:t>number is represented with a mantissa and an exponent (e.g., A x 2</a:t>
            </a:r>
            <a:r>
              <a:rPr lang="en-GB" baseline="30000" dirty="0"/>
              <a:t>B</a:t>
            </a:r>
            <a:r>
              <a:rPr lang="en-GB" dirty="0"/>
              <a:t>, 'A' is the mantissa and ‘B’ is the exponent), yielding up to 4,294,967,296 possible bit patterns (2</a:t>
            </a:r>
            <a:r>
              <a:rPr lang="en-GB" baseline="30000" dirty="0"/>
              <a:t>32</a:t>
            </a:r>
            <a:r>
              <a:rPr lang="en-GB" dirty="0"/>
              <a:t>). (1528 dB)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Fix to float points conversion</a:t>
            </a:r>
          </a:p>
        </p:txBody>
      </p:sp>
      <p:sp>
        <p:nvSpPr>
          <p:cNvPr id="67586" name="Content Placeholder 2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3383706"/>
          </a:xfrm>
        </p:spPr>
        <p:txBody>
          <a:bodyPr/>
          <a:lstStyle/>
          <a:p>
            <a:r>
              <a:rPr lang="en-US" altLang="en-US" dirty="0"/>
              <a:t>CD /DVD/MD using integer format such as 16 bits and 24 bits audio format.</a:t>
            </a:r>
          </a:p>
          <a:p>
            <a:r>
              <a:rPr lang="en-US" altLang="en-US" dirty="0"/>
              <a:t>Audio processing software use IEEE Float point sometimes double precision point.</a:t>
            </a:r>
          </a:p>
          <a:p>
            <a:r>
              <a:rPr lang="en-US" altLang="en-US" dirty="0"/>
              <a:t>Matlab </a:t>
            </a:r>
            <a:r>
              <a:rPr lang="en-US" altLang="en-US" dirty="0" err="1">
                <a:latin typeface="Courier"/>
              </a:rPr>
              <a:t>audioread</a:t>
            </a:r>
            <a:r>
              <a:rPr lang="en-US" altLang="en-US" dirty="0">
                <a:latin typeface="Courier"/>
              </a:rPr>
              <a:t>()</a:t>
            </a:r>
            <a:r>
              <a:rPr lang="en-US" altLang="en-US" dirty="0"/>
              <a:t> function can import the native format.</a:t>
            </a:r>
          </a:p>
          <a:p>
            <a:r>
              <a:rPr lang="en-US" altLang="en-US" dirty="0"/>
              <a:t>You can convert audio format by scaling.</a:t>
            </a:r>
          </a:p>
        </p:txBody>
      </p:sp>
      <p:sp>
        <p:nvSpPr>
          <p:cNvPr id="6758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E478D1-1E8B-4EDC-A495-DFB08466BA32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675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675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F9403B-10F5-4CA8-A5F9-25F055C3E402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GB" altLang="zh-CN" sz="1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5DBB-5CC2-E245-9DB5-8BF6E24B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FFMPEG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B75966-35FE-DA43-9671-D59500CB1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174568"/>
              </p:ext>
            </p:extLst>
          </p:nvPr>
        </p:nvGraphicFramePr>
        <p:xfrm>
          <a:off x="457200" y="1340768"/>
          <a:ext cx="7776864" cy="4438608"/>
        </p:xfrm>
        <a:graphic>
          <a:graphicData uri="http://schemas.openxmlformats.org/drawingml/2006/table">
            <a:tbl>
              <a:tblPr/>
              <a:tblGrid>
                <a:gridCol w="1657875">
                  <a:extLst>
                    <a:ext uri="{9D8B030D-6E8A-4147-A177-3AD203B41FA5}">
                      <a16:colId xmlns:a16="http://schemas.microsoft.com/office/drawing/2014/main" val="1367393001"/>
                    </a:ext>
                  </a:extLst>
                </a:gridCol>
                <a:gridCol w="1657875">
                  <a:extLst>
                    <a:ext uri="{9D8B030D-6E8A-4147-A177-3AD203B41FA5}">
                      <a16:colId xmlns:a16="http://schemas.microsoft.com/office/drawing/2014/main" val="2579491602"/>
                    </a:ext>
                  </a:extLst>
                </a:gridCol>
                <a:gridCol w="1657875">
                  <a:extLst>
                    <a:ext uri="{9D8B030D-6E8A-4147-A177-3AD203B41FA5}">
                      <a16:colId xmlns:a16="http://schemas.microsoft.com/office/drawing/2014/main" val="4036433757"/>
                    </a:ext>
                  </a:extLst>
                </a:gridCol>
                <a:gridCol w="2803239">
                  <a:extLst>
                    <a:ext uri="{9D8B030D-6E8A-4147-A177-3AD203B41FA5}">
                      <a16:colId xmlns:a16="http://schemas.microsoft.com/office/drawing/2014/main" val="1773814295"/>
                    </a:ext>
                  </a:extLst>
                </a:gridCol>
              </a:tblGrid>
              <a:tr h="244570">
                <a:tc gridSpan="4">
                  <a:txBody>
                    <a:bodyPr/>
                    <a:lstStyle/>
                    <a:p>
                      <a:r>
                        <a:rPr lang="en-GB" sz="1400" b="1"/>
                        <a:t>LAME Bitrate Overview</a:t>
                      </a:r>
                      <a:r>
                        <a:rPr lang="en-GB" sz="1400"/>
                        <a:t>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900633"/>
                  </a:ext>
                </a:extLst>
              </a:tr>
              <a:tr h="427488">
                <a:tc>
                  <a:txBody>
                    <a:bodyPr/>
                    <a:lstStyle/>
                    <a:p>
                      <a:r>
                        <a:rPr lang="en-GB" sz="1400"/>
                        <a:t>lame option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Average kbit/s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Bitrate range kbit/s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ffmpeg option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552980"/>
                  </a:ext>
                </a:extLst>
              </a:tr>
              <a:tr h="543628">
                <a:tc>
                  <a:txBody>
                    <a:bodyPr/>
                    <a:lstStyle/>
                    <a:p>
                      <a:r>
                        <a:rPr lang="en-GB" sz="1400" dirty="0"/>
                        <a:t>-b 320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320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320 CBR (non VBR) example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-b:a 320k (NB this is 32KB/s, or its max)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18640"/>
                  </a:ext>
                </a:extLst>
              </a:tr>
              <a:tr h="543628">
                <a:tc>
                  <a:txBody>
                    <a:bodyPr/>
                    <a:lstStyle/>
                    <a:p>
                      <a:r>
                        <a:rPr lang="en-GB" sz="1400" dirty="0"/>
                        <a:t>-V 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245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220-260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0 (NB this is VBR from 22 to 26 KB/s)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517945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1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225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190-250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1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401901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2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190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170-210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2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855352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3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175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150-195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3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936516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4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165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140-185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4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087977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130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120-150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221774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6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115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100-130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6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775709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7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100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80-120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7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660739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8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70-105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-q:a 8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250774"/>
                  </a:ext>
                </a:extLst>
              </a:tr>
              <a:tr h="244570">
                <a:tc>
                  <a:txBody>
                    <a:bodyPr/>
                    <a:lstStyle/>
                    <a:p>
                      <a:r>
                        <a:rPr lang="en-GB" sz="1400"/>
                        <a:t>-V 9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65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45-85 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q:a</a:t>
                      </a:r>
                      <a:r>
                        <a:rPr lang="en-GB" sz="1400" dirty="0"/>
                        <a:t> 9</a:t>
                      </a:r>
                    </a:p>
                  </a:txBody>
                  <a:tcPr marL="71911" marR="71911" marT="35956" marB="359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12214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EDEB-80C8-6F43-8881-A2755970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226748-AE6A-48C3-B4F4-0C3A1A997A1D}" type="datetime1">
              <a:rPr lang="en-GB" altLang="en-US" smtClean="0"/>
              <a:pPr>
                <a:defRPr/>
              </a:pPr>
              <a:t>14/02/2022</a:t>
            </a:fld>
            <a:endParaRPr lang="en-GB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D05A-E3A2-5D45-9E5E-79CDB29F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zh-CN"/>
              <a:t>by Y.Wang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4037-8DE8-6848-BF0C-1E0A6A42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AAF44-A253-4C68-A827-42FCA0ED193A}" type="slidenum">
              <a:rPr lang="en-GB" altLang="zh-CN" smtClean="0"/>
              <a:pPr>
                <a:defRPr/>
              </a:pPr>
              <a:t>31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968408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B24F76-5514-4E4C-947D-5B89272FA920}" type="datetime1">
              <a:rPr lang="en-GB" altLang="en-US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14/02/2022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706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000">
                <a:ea typeface="宋体" panose="02010600030101010101" pitchFamily="2" charset="-122"/>
              </a:rPr>
              <a:t>by Y.Wang 2007</a:t>
            </a:r>
          </a:p>
        </p:txBody>
      </p:sp>
      <p:sp>
        <p:nvSpPr>
          <p:cNvPr id="706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ea typeface="华文细黑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2B67CE-438B-4478-A29B-4DCF9BFDF70A}" type="slidenum">
              <a:rPr lang="en-GB" altLang="zh-CN" sz="10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GB" altLang="zh-CN" sz="1000">
              <a:ea typeface="宋体" panose="02010600030101010101" pitchFamily="2" charset="-122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dirty="0"/>
              <a:t>Practice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Compare the spectrum between WAV and MP3.</a:t>
            </a:r>
          </a:p>
          <a:p>
            <a:pPr eaLnBrk="1" hangingPunct="1"/>
            <a:r>
              <a:rPr lang="en-GB" altLang="en-US"/>
              <a:t>Using </a:t>
            </a:r>
            <a:r>
              <a:rPr lang="en-GB" altLang="en-US" dirty="0"/>
              <a:t>FFMPEG to compress online audio into MP4 or MP3 (</a:t>
            </a:r>
            <a:r>
              <a:rPr lang="en-GB" altLang="en-US" dirty="0" err="1"/>
              <a:t>youtube</a:t>
            </a:r>
            <a:r>
              <a:rPr lang="en-GB" altLang="en-US" dirty="0"/>
              <a:t>-dl with FFMPEG).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 design template">
  <a:themeElements>
    <a:clrScheme name="Level design template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 design template">
      <a:majorFont>
        <a:latin typeface="Arial"/>
        <a:ea typeface="华文细黑"/>
        <a:cs typeface=""/>
      </a:majorFont>
      <a:minorFont>
        <a:latin typeface="Verdana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design template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design template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design template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 design template</Template>
  <TotalTime>1575</TotalTime>
  <Words>1922</Words>
  <Application>Microsoft Macintosh PowerPoint</Application>
  <PresentationFormat>On-screen Show (4:3)</PresentationFormat>
  <Paragraphs>369</Paragraphs>
  <Slides>32</Slides>
  <Notes>12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Courier</vt:lpstr>
      <vt:lpstr>Courier New</vt:lpstr>
      <vt:lpstr>Times New Roman</vt:lpstr>
      <vt:lpstr>Verdana</vt:lpstr>
      <vt:lpstr>Wingdings</vt:lpstr>
      <vt:lpstr>Level design template</vt:lpstr>
      <vt:lpstr>Equation</vt:lpstr>
      <vt:lpstr>Digital Signal Processing UG2</vt:lpstr>
      <vt:lpstr>Matlab Lab Review</vt:lpstr>
      <vt:lpstr>Variables</vt:lpstr>
      <vt:lpstr>arithmetic operators</vt:lpstr>
      <vt:lpstr>Array manipulation</vt:lpstr>
      <vt:lpstr>Built-in functions </vt:lpstr>
      <vt:lpstr>Plot function </vt:lpstr>
      <vt:lpstr>PowerPoint Presentation</vt:lpstr>
      <vt:lpstr>Audio Waveform in software</vt:lpstr>
      <vt:lpstr>Pure tone</vt:lpstr>
      <vt:lpstr>Review of digitisation</vt:lpstr>
      <vt:lpstr>Pulse Code Modulation and Audio Digitization</vt:lpstr>
      <vt:lpstr>Sampling and PCM</vt:lpstr>
      <vt:lpstr>Two important measurements - I</vt:lpstr>
      <vt:lpstr>Two important measurements – II</vt:lpstr>
      <vt:lpstr>Effect of Resolution</vt:lpstr>
      <vt:lpstr>Effect of Sample Rate (Fs)</vt:lpstr>
      <vt:lpstr>Audio Aliasing</vt:lpstr>
      <vt:lpstr>Example of Aliasing </vt:lpstr>
      <vt:lpstr>Example of Aliasing</vt:lpstr>
      <vt:lpstr>Aliasing in Frequency domain</vt:lpstr>
      <vt:lpstr>PowerPoint Presentation</vt:lpstr>
      <vt:lpstr>PowerPoint Presentation</vt:lpstr>
      <vt:lpstr>Sampling Rate and Aliasing</vt:lpstr>
      <vt:lpstr>Digital Audio Formats</vt:lpstr>
      <vt:lpstr>Digital Audio Files</vt:lpstr>
      <vt:lpstr>Common Digital Audio Formats </vt:lpstr>
      <vt:lpstr>WAV files</vt:lpstr>
      <vt:lpstr>Fixed-Point vs. Floating-Point</vt:lpstr>
      <vt:lpstr>Fix to float points conversion</vt:lpstr>
      <vt:lpstr>FFMPEG</vt:lpstr>
      <vt:lpstr>Practice</vt:lpstr>
    </vt:vector>
  </TitlesOfParts>
  <Company>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ms</dc:creator>
  <cp:lastModifiedBy>Leo Wang</cp:lastModifiedBy>
  <cp:revision>85</cp:revision>
  <cp:lastPrinted>2009-04-22T19:24:48Z</cp:lastPrinted>
  <dcterms:created xsi:type="dcterms:W3CDTF">2007-01-03T18:18:42Z</dcterms:created>
  <dcterms:modified xsi:type="dcterms:W3CDTF">2022-02-14T11:32:20Z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TC102037781033</vt:lpwstr>
  </property>
</Properties>
</file>