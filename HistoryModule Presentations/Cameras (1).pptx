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Roboto" panose="020B060402020202020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366"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c6f73a04f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c6f73a0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c6f73a04f_0_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c6f73a04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Light enters the camera through the lens,  a piece of glass that has been shaped to direct the light in a specific way. For smaller cameras these are built into the camera body but for larger cameras, lenses are usually interchangeable based on the effect the photographer wants to achieve. </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solidFill>
                  <a:schemeClr val="dk1"/>
                </a:solidFill>
              </a:rPr>
              <a:t>Most cameras have viewfinders to enable the photographer to see the image they will be capturing. These can be optical or electronic depending on the type of camera. For optical viewfinders, once the light has entered the lens, it hits a mirror that directs most of the light towards the viewfinder as seen in the diagram. For mirrorless cameras, a live view is transmitted digitally to the viewfinder.</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t>When the shutter release button is pressed to take a photo, the shutter opens allowing the light to hit the camera sensor. The sensor then measures the intensity of light hitting the sensor and records it. The sensor is made up of individual pixels that each measure the intensity of light. They do this by detecting how many photons reach the pixel. This information is then recorded as a voltage value. </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t>To record colour, each pixel needs a colour filter. The most common filter array is a bayer filter as can be seen in the image. There are more green filters since humans are more sensitive to green light. Some modified Bayer filters also incorporate clear filters where some green ones should be in order to improve the sensitivity of the sensor.</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t>The camera processor takes all the information recorded by the sensor and uses it to build the image that we see. It converts the red, green, blue colour into natural colour by using information from neighbouring pixels. This is usually stored on a memory card so that images can be viewed on other devices.</a:t>
            </a:r>
            <a:endParaRPr sz="1200"/>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dbab1c5bb9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dbab1c5bb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the image characteristics in the list, generally some mechanical operation</a:t>
            </a:r>
            <a:endParaRPr/>
          </a:p>
          <a:p>
            <a:pPr marL="0" lvl="0" indent="0" algn="l" rtl="0">
              <a:spcBef>
                <a:spcPts val="0"/>
              </a:spcBef>
              <a:spcAft>
                <a:spcPts val="0"/>
              </a:spcAft>
              <a:buNone/>
            </a:pPr>
            <a:endParaRPr/>
          </a:p>
          <a:p>
            <a:pPr marL="0" lvl="0" indent="0" algn="l" rtl="0">
              <a:spcBef>
                <a:spcPts val="0"/>
              </a:spcBef>
              <a:spcAft>
                <a:spcPts val="0"/>
              </a:spcAft>
              <a:buNone/>
            </a:pPr>
            <a:r>
              <a:rPr lang="en"/>
              <a:t>Zoom 		</a:t>
            </a:r>
            <a:endParaRPr/>
          </a:p>
          <a:p>
            <a:pPr marL="457200" lvl="0" indent="457200" algn="l" rtl="0">
              <a:spcBef>
                <a:spcPts val="0"/>
              </a:spcBef>
              <a:spcAft>
                <a:spcPts val="0"/>
              </a:spcAft>
              <a:buNone/>
            </a:pPr>
            <a:r>
              <a:rPr lang="en"/>
              <a:t>Optical: The zoom lens moves away from the sensor, </a:t>
            </a:r>
            <a:r>
              <a:rPr lang="en">
                <a:solidFill>
                  <a:schemeClr val="dk1"/>
                </a:solidFill>
              </a:rPr>
              <a:t>diagrams (&gt;&gt;&gt;&gt;&gt;), as zoom lens (concave) moves to the left, light rays reaching the sensor on the right are wider apart,</a:t>
            </a:r>
            <a:r>
              <a:rPr lang="en"/>
              <a:t> resulting in a more zoomed in image</a:t>
            </a:r>
            <a:endParaRPr/>
          </a:p>
          <a:p>
            <a:pPr marL="0" lvl="0" indent="0" algn="l" rtl="0">
              <a:spcBef>
                <a:spcPts val="0"/>
              </a:spcBef>
              <a:spcAft>
                <a:spcPts val="0"/>
              </a:spcAft>
              <a:buNone/>
            </a:pPr>
            <a:endParaRPr/>
          </a:p>
          <a:p>
            <a:pPr marL="0" lvl="0" indent="0" algn="l" rtl="0">
              <a:spcBef>
                <a:spcPts val="0"/>
              </a:spcBef>
              <a:spcAft>
                <a:spcPts val="0"/>
              </a:spcAft>
              <a:buNone/>
            </a:pPr>
            <a:r>
              <a:rPr lang="en"/>
              <a:t>		Digital: The enlargement of a section of an image, achieved by cropping, worse quality image than optical zoom</a:t>
            </a:r>
            <a:endParaRPr/>
          </a:p>
          <a:p>
            <a:pPr marL="0" lvl="0" indent="0" algn="l" rtl="0">
              <a:spcBef>
                <a:spcPts val="0"/>
              </a:spcBef>
              <a:spcAft>
                <a:spcPts val="0"/>
              </a:spcAft>
              <a:buNone/>
            </a:pPr>
            <a:endParaRPr/>
          </a:p>
          <a:p>
            <a:pPr marL="0" lvl="0" indent="0" algn="l" rtl="0">
              <a:spcBef>
                <a:spcPts val="0"/>
              </a:spcBef>
              <a:spcAft>
                <a:spcPts val="0"/>
              </a:spcAft>
              <a:buNone/>
            </a:pPr>
            <a:r>
              <a:rPr lang="en"/>
              <a:t>Focus		</a:t>
            </a:r>
            <a:endParaRPr/>
          </a:p>
          <a:p>
            <a:pPr marL="0" lvl="0" indent="457200" algn="l" rtl="0">
              <a:spcBef>
                <a:spcPts val="0"/>
              </a:spcBef>
              <a:spcAft>
                <a:spcPts val="0"/>
              </a:spcAft>
              <a:buNone/>
            </a:pPr>
            <a:r>
              <a:rPr lang="en"/>
              <a:t>Adjusting the lenses to find maximum detail and sharpness in the subject of the image</a:t>
            </a:r>
            <a:endParaRPr/>
          </a:p>
          <a:p>
            <a:pPr marL="457200" lvl="0" indent="457200" algn="l" rtl="0">
              <a:spcBef>
                <a:spcPts val="0"/>
              </a:spcBef>
              <a:spcAft>
                <a:spcPts val="0"/>
              </a:spcAft>
              <a:buNone/>
            </a:pPr>
            <a:r>
              <a:rPr lang="en"/>
              <a:t>Achieved by changing the focal length depending on the distance to the subject/changes with level of zoom</a:t>
            </a:r>
            <a:endParaRPr/>
          </a:p>
          <a:p>
            <a:pPr marL="457200" lvl="0" indent="457200" algn="l" rtl="0">
              <a:spcBef>
                <a:spcPts val="0"/>
              </a:spcBef>
              <a:spcAft>
                <a:spcPts val="0"/>
              </a:spcAft>
              <a:buNone/>
            </a:pPr>
            <a:r>
              <a:rPr lang="en"/>
              <a:t>Can be done manually (usually twisting the lens) or using autofocus camera setting</a:t>
            </a:r>
            <a:endParaRPr/>
          </a:p>
          <a:p>
            <a:pPr marL="0" lvl="0" indent="0" algn="l" rtl="0">
              <a:spcBef>
                <a:spcPts val="0"/>
              </a:spcBef>
              <a:spcAft>
                <a:spcPts val="0"/>
              </a:spcAft>
              <a:buNone/>
            </a:pPr>
            <a:endParaRPr/>
          </a:p>
          <a:p>
            <a:pPr marL="0" lvl="0" indent="0" algn="l" rtl="0">
              <a:spcBef>
                <a:spcPts val="0"/>
              </a:spcBef>
              <a:spcAft>
                <a:spcPts val="0"/>
              </a:spcAft>
              <a:buNone/>
            </a:pPr>
            <a:r>
              <a:rPr lang="en"/>
              <a:t>Exposure</a:t>
            </a:r>
            <a:endParaRPr/>
          </a:p>
          <a:p>
            <a:pPr marL="0" lvl="0" indent="457200" algn="l" rtl="0">
              <a:spcBef>
                <a:spcPts val="0"/>
              </a:spcBef>
              <a:spcAft>
                <a:spcPts val="0"/>
              </a:spcAft>
              <a:buNone/>
            </a:pPr>
            <a:r>
              <a:rPr lang="en"/>
              <a:t>Overall brightness/darkness of an image, controlled by 3 parameters</a:t>
            </a:r>
            <a:endParaRPr/>
          </a:p>
          <a:p>
            <a:pPr marL="457200" lvl="0" indent="457200" algn="l" rtl="0">
              <a:spcBef>
                <a:spcPts val="0"/>
              </a:spcBef>
              <a:spcAft>
                <a:spcPts val="0"/>
              </a:spcAft>
              <a:buNone/>
            </a:pPr>
            <a:endParaRPr/>
          </a:p>
          <a:p>
            <a:pPr marL="0" lvl="0" indent="457200" algn="l" rtl="0">
              <a:spcBef>
                <a:spcPts val="0"/>
              </a:spcBef>
              <a:spcAft>
                <a:spcPts val="0"/>
              </a:spcAft>
              <a:buNone/>
            </a:pPr>
            <a:r>
              <a:rPr lang="en"/>
              <a:t>Aperture: 		</a:t>
            </a:r>
            <a:endParaRPr/>
          </a:p>
          <a:p>
            <a:pPr marL="0" lvl="0" indent="457200" algn="l" rtl="0">
              <a:spcBef>
                <a:spcPts val="0"/>
              </a:spcBef>
              <a:spcAft>
                <a:spcPts val="0"/>
              </a:spcAft>
              <a:buNone/>
            </a:pPr>
            <a:r>
              <a:rPr lang="en"/>
              <a:t>Size of the opening before the lens, to let in more/less light, measured in f-stops</a:t>
            </a:r>
            <a:endParaRPr/>
          </a:p>
          <a:p>
            <a:pPr marL="457200" lvl="0" indent="457200" algn="l" rtl="0">
              <a:spcBef>
                <a:spcPts val="0"/>
              </a:spcBef>
              <a:spcAft>
                <a:spcPts val="0"/>
              </a:spcAft>
              <a:buNone/>
            </a:pPr>
            <a:endParaRPr/>
          </a:p>
          <a:p>
            <a:pPr marL="0" lvl="0" indent="0" algn="l" rtl="0">
              <a:spcBef>
                <a:spcPts val="0"/>
              </a:spcBef>
              <a:spcAft>
                <a:spcPts val="0"/>
              </a:spcAft>
              <a:buNone/>
            </a:pPr>
            <a:r>
              <a:rPr lang="en"/>
              <a:t>	ISO: 			</a:t>
            </a:r>
            <a:endParaRPr/>
          </a:p>
          <a:p>
            <a:pPr marL="0" lvl="0" indent="457200" algn="l" rtl="0">
              <a:spcBef>
                <a:spcPts val="0"/>
              </a:spcBef>
              <a:spcAft>
                <a:spcPts val="0"/>
              </a:spcAft>
              <a:buNone/>
            </a:pPr>
            <a:r>
              <a:rPr lang="en"/>
              <a:t>Changing the sensitivity/signal gain of sensor, measured as a scale, low is dark, high is bright</a:t>
            </a:r>
            <a:endParaRPr/>
          </a:p>
          <a:p>
            <a:pPr marL="0" lvl="0" indent="457200" algn="l" rtl="0">
              <a:spcBef>
                <a:spcPts val="0"/>
              </a:spcBef>
              <a:spcAft>
                <a:spcPts val="0"/>
              </a:spcAft>
              <a:buNone/>
            </a:pPr>
            <a:r>
              <a:rPr lang="en"/>
              <a:t>High ISO results in more graininess to image</a:t>
            </a:r>
            <a:endParaRPr/>
          </a:p>
          <a:p>
            <a:pPr marL="1828800" lvl="0" indent="457200" algn="l" rtl="0">
              <a:spcBef>
                <a:spcPts val="0"/>
              </a:spcBef>
              <a:spcAft>
                <a:spcPts val="0"/>
              </a:spcAft>
              <a:buNone/>
            </a:pPr>
            <a:endParaRPr/>
          </a:p>
          <a:p>
            <a:pPr marL="0" lvl="0" indent="0" algn="l" rtl="0">
              <a:spcBef>
                <a:spcPts val="0"/>
              </a:spcBef>
              <a:spcAft>
                <a:spcPts val="0"/>
              </a:spcAft>
              <a:buNone/>
            </a:pPr>
            <a:r>
              <a:rPr lang="en"/>
              <a:t>	Shutter speed: 	</a:t>
            </a:r>
            <a:endParaRPr/>
          </a:p>
          <a:p>
            <a:pPr marL="0" lvl="0" indent="457200" algn="l" rtl="0">
              <a:spcBef>
                <a:spcPts val="0"/>
              </a:spcBef>
              <a:spcAft>
                <a:spcPts val="0"/>
              </a:spcAft>
              <a:buNone/>
            </a:pPr>
            <a:r>
              <a:rPr lang="en"/>
              <a:t>The time the camera shutter is open, letting in light. More time, brighter image</a:t>
            </a:r>
            <a:endParaRPr/>
          </a:p>
          <a:p>
            <a:pPr marL="0" lvl="0" indent="457200" algn="l" rtl="0">
              <a:spcBef>
                <a:spcPts val="0"/>
              </a:spcBef>
              <a:spcAft>
                <a:spcPts val="0"/>
              </a:spcAft>
              <a:buNone/>
            </a:pPr>
            <a:r>
              <a:rPr lang="en"/>
              <a:t>Tied to motion blur, more time open = more blur for moving subject, less time open = sharper “freeze framed” image</a:t>
            </a:r>
            <a:endParaRPr/>
          </a:p>
          <a:p>
            <a:pPr marL="0" lvl="0" indent="0" algn="l" rtl="0">
              <a:spcBef>
                <a:spcPts val="0"/>
              </a:spcBef>
              <a:spcAft>
                <a:spcPts val="0"/>
              </a:spcAft>
              <a:buNone/>
            </a:pPr>
            <a:endParaRPr/>
          </a:p>
          <a:p>
            <a:pPr marL="0" lvl="0" indent="0" algn="l" rtl="0">
              <a:spcBef>
                <a:spcPts val="0"/>
              </a:spcBef>
              <a:spcAft>
                <a:spcPts val="0"/>
              </a:spcAft>
              <a:buNone/>
            </a:pPr>
            <a:r>
              <a:rPr lang="en"/>
              <a:t>DoF		</a:t>
            </a:r>
            <a:endParaRPr/>
          </a:p>
          <a:p>
            <a:pPr marL="0" lvl="0" indent="457200" algn="l" rtl="0">
              <a:spcBef>
                <a:spcPts val="0"/>
              </a:spcBef>
              <a:spcAft>
                <a:spcPts val="0"/>
              </a:spcAft>
              <a:buNone/>
            </a:pPr>
            <a:r>
              <a:rPr lang="en"/>
              <a:t>Distance between the closest and farther points that are in focus</a:t>
            </a:r>
            <a:endParaRPr/>
          </a:p>
          <a:p>
            <a:pPr marL="0" lvl="0" indent="457200" algn="l" rtl="0">
              <a:spcBef>
                <a:spcPts val="0"/>
              </a:spcBef>
              <a:spcAft>
                <a:spcPts val="0"/>
              </a:spcAft>
              <a:buNone/>
            </a:pPr>
            <a:r>
              <a:rPr lang="en"/>
              <a:t>Determined by aperture size, wider aperture results in shallow DoF, smaller the aperture the wider the DoF</a:t>
            </a:r>
            <a:endParaRPr/>
          </a:p>
          <a:p>
            <a:pPr marL="457200" lvl="0" indent="457200" algn="l" rtl="0">
              <a:spcBef>
                <a:spcPts val="0"/>
              </a:spcBef>
              <a:spcAft>
                <a:spcPts val="0"/>
              </a:spcAft>
              <a:buNone/>
            </a:pPr>
            <a:endParaRPr/>
          </a:p>
          <a:p>
            <a:pPr marL="45720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c6f73a04f_0_2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c6f73a04f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c6f73a04f_0_1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c6f73a04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rPr>
              <a:t>In a studio, high end professional video cameras are used, such as commonly used Sony HDC-4300 - £50,000</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None/>
            </a:pPr>
            <a:r>
              <a:rPr lang="en" sz="1200">
                <a:solidFill>
                  <a:schemeClr val="dk1"/>
                </a:solidFill>
              </a:rPr>
              <a:t>In a multi-camera set-up like most studios, the cameras are connected via triax or fibre optic to the CCU in the Apps room.</a:t>
            </a:r>
            <a:endParaRPr sz="1200">
              <a:solidFill>
                <a:schemeClr val="dk1"/>
              </a:solidFill>
            </a:endParaRPr>
          </a:p>
          <a:p>
            <a:pPr marL="0" lvl="0" indent="457200" algn="l" rtl="0">
              <a:lnSpc>
                <a:spcPct val="115000"/>
              </a:lnSpc>
              <a:spcBef>
                <a:spcPts val="0"/>
              </a:spcBef>
              <a:spcAft>
                <a:spcPts val="0"/>
              </a:spcAft>
              <a:buNone/>
            </a:pPr>
            <a:r>
              <a:rPr lang="en" sz="1200">
                <a:solidFill>
                  <a:schemeClr val="dk1"/>
                </a:solidFill>
              </a:rPr>
              <a:t>Through this cable video and audio are sent using frequency division multiplexing</a:t>
            </a:r>
            <a:endParaRPr sz="1200">
              <a:solidFill>
                <a:schemeClr val="dk1"/>
              </a:solidFill>
            </a:endParaRPr>
          </a:p>
          <a:p>
            <a:pPr marL="0" lvl="0" indent="45720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None/>
            </a:pPr>
            <a:r>
              <a:rPr lang="en" sz="1200">
                <a:solidFill>
                  <a:schemeClr val="dk1"/>
                </a:solidFill>
              </a:rPr>
              <a:t>The CCU (camera control unit) handles signals sent from the different studio cameras, and allows centralised control of camera parameters, via transmission back down the same triax cable, such as</a:t>
            </a:r>
            <a:endParaRPr sz="1200">
              <a:solidFill>
                <a:schemeClr val="dk1"/>
              </a:solidFill>
            </a:endParaRPr>
          </a:p>
          <a:p>
            <a:pPr marL="0" lvl="0" indent="457200" algn="l" rtl="0">
              <a:lnSpc>
                <a:spcPct val="115000"/>
              </a:lnSpc>
              <a:spcBef>
                <a:spcPts val="0"/>
              </a:spcBef>
              <a:spcAft>
                <a:spcPts val="0"/>
              </a:spcAft>
              <a:buClr>
                <a:schemeClr val="dk1"/>
              </a:buClr>
              <a:buSzPts val="1100"/>
              <a:buFont typeface="Arial"/>
              <a:buNone/>
            </a:pPr>
            <a:r>
              <a:rPr lang="en" sz="1200">
                <a:solidFill>
                  <a:schemeClr val="dk1"/>
                </a:solidFill>
              </a:rPr>
              <a:t>Colour balance</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  	Iris &amp; Aperture control</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  	Shutter speed</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  	Black level</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  	Allows camera operators to focus on camera positioning and image composition instead of camera settings</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  	Triax also allows transmission of studio communication such as intercom and tally (signal that turns on red light that tells operator &amp; presenter which camera is live at a given time)</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Modern Studio cameras use a CMOS sensor, often with optical format of 2/3”, which indicates the size of the sensor and the resultant angle of view that the sensor can detect</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Format	Often HD 1920x1080, progressive scan, broadcast TV - 25 frames per second</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Cameras also have an XLR port for an external microphone for recording the studio audio, as mentioned sent down triax with video feed</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Number of different movement systems for studio cameras</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Most common is the Ped (Pedestal) (&gt;&gt;&gt;&gt;&gt;)</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  		Camera is mounted on stand</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  		Wheels with steering ring used to rotate wheels and move camera about</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Dolly rail system (&gt;&gt;&gt;&gt;&gt;)</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  		Creates smooth horizontal camera movements and adjustments</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  		Removes need for operator</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  		BBC Automation Software: Mosart Automation</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Studio camera are not normally handheld but can be in some situations</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daf060199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daf060199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EFP cameras (Electronic field production cameras) are used for outside broadcasts. These cameras are very versatile. They can be carried around on the shoulder, or mounted on pedestals or cranes depending on the situation and what footage is needed. Most outside broadcasts use tripods to position the cameras as they are easy to set up and allow the camera to be moved about a point if needed. </a:t>
            </a:r>
            <a:endParaRPr sz="1200"/>
          </a:p>
          <a:p>
            <a:pPr marL="0" lvl="0" indent="0" algn="l" rtl="0">
              <a:spcBef>
                <a:spcPts val="0"/>
              </a:spcBef>
              <a:spcAft>
                <a:spcPts val="0"/>
              </a:spcAft>
              <a:buNone/>
            </a:pPr>
            <a:r>
              <a:rPr lang="en" sz="1200"/>
              <a:t>&gt;&gt;&gt;&gt;&gt;&gt;</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t>To film sports, cameras can be mounted on rails or pivots and controlled remotely by the operator to produce smoother footage as seen in the pictures above. Usually multiple cameras will have to be used in these situations to capture all the movement and at different angles.</a:t>
            </a:r>
            <a:endParaRPr sz="1200"/>
          </a:p>
          <a:p>
            <a:pPr marL="0" lvl="0" indent="0" algn="l" rtl="0">
              <a:spcBef>
                <a:spcPts val="0"/>
              </a:spcBef>
              <a:spcAft>
                <a:spcPts val="0"/>
              </a:spcAft>
              <a:buNone/>
            </a:pPr>
            <a:r>
              <a:rPr lang="en" sz="1200"/>
              <a:t>&gt;&gt;&gt;&gt;&gt;</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t>Outside broadcasts need all the equipment used in the gallery for broadcasting but on a smaller scale so it is portable. An OB truck is fitted with all the equipment needed to process, record and transmit outside events. </a:t>
            </a:r>
            <a:endParaRPr sz="1200"/>
          </a:p>
          <a:p>
            <a:pPr marL="0" lvl="0" indent="0" algn="l" rtl="0">
              <a:spcBef>
                <a:spcPts val="0"/>
              </a:spcBef>
              <a:spcAft>
                <a:spcPts val="0"/>
              </a:spcAft>
              <a:buNone/>
            </a:pPr>
            <a:r>
              <a:rPr lang="en" sz="1200"/>
              <a:t>&gt;&gt;&gt;&gt;&gt;&gt;</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t>EFP cameras have no recording capabilities so have to be connected to the truck using either triax cables or fiber optic cables. Fiber optic cables can carry signals further, are small and lightweight and are immune to Electromagnetic and radio frequency interference but they are expensive in terms of equipment and labor. There are some large venues where permanent fiber optic infrastructure is feasible but for other smaller venues where filming takes place less often, it is too costly and impractical meaning they have to be installed and removed each time they are used. Fiber optic connectors can also be quite expensive  Triax cables on the other hand are less expensive, more flexible and easy to fix if anything goes wrong.</a:t>
            </a:r>
            <a:endParaRPr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c6f73a04f_0_4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c6f73a04f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c6f73a04f_0_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c6f73a04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3" name="Google Shape;13;p2"/>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Google Shape;14;p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Autofit/>
          </a:bodyPr>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17" name="Google Shape;17;p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5" name="Google Shape;35;p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lt1"/>
              </a:buClr>
              <a:buSzPts val="1200"/>
              <a:buChar char="●"/>
              <a:defRPr sz="1200">
                <a:solidFill>
                  <a:schemeClr val="lt1"/>
                </a:solidFill>
              </a:defRPr>
            </a:lvl1pPr>
            <a:lvl2pPr marL="914400" lvl="1" indent="-304800" rtl="0">
              <a:spcBef>
                <a:spcPts val="1600"/>
              </a:spcBef>
              <a:spcAft>
                <a:spcPts val="0"/>
              </a:spcAft>
              <a:buClr>
                <a:schemeClr val="lt1"/>
              </a:buClr>
              <a:buSzPts val="1200"/>
              <a:buChar char="○"/>
              <a:defRPr sz="1200">
                <a:solidFill>
                  <a:schemeClr val="lt1"/>
                </a:solidFill>
              </a:defRPr>
            </a:lvl2pPr>
            <a:lvl3pPr marL="1371600" lvl="2" indent="-304800" rtl="0">
              <a:spcBef>
                <a:spcPts val="1600"/>
              </a:spcBef>
              <a:spcAft>
                <a:spcPts val="0"/>
              </a:spcAft>
              <a:buClr>
                <a:schemeClr val="lt1"/>
              </a:buClr>
              <a:buSzPts val="1200"/>
              <a:buChar char="■"/>
              <a:defRPr sz="1200">
                <a:solidFill>
                  <a:schemeClr val="lt1"/>
                </a:solidFill>
              </a:defRPr>
            </a:lvl3pPr>
            <a:lvl4pPr marL="1828800" lvl="3" indent="-304800" rtl="0">
              <a:spcBef>
                <a:spcPts val="1600"/>
              </a:spcBef>
              <a:spcAft>
                <a:spcPts val="0"/>
              </a:spcAft>
              <a:buClr>
                <a:schemeClr val="lt1"/>
              </a:buClr>
              <a:buSzPts val="1200"/>
              <a:buChar char="●"/>
              <a:defRPr sz="1200">
                <a:solidFill>
                  <a:schemeClr val="lt1"/>
                </a:solidFill>
              </a:defRPr>
            </a:lvl4pPr>
            <a:lvl5pPr marL="2286000" lvl="4" indent="-304800" rtl="0">
              <a:spcBef>
                <a:spcPts val="1600"/>
              </a:spcBef>
              <a:spcAft>
                <a:spcPts val="0"/>
              </a:spcAft>
              <a:buClr>
                <a:schemeClr val="lt1"/>
              </a:buClr>
              <a:buSzPts val="1200"/>
              <a:buChar char="○"/>
              <a:defRPr sz="1200">
                <a:solidFill>
                  <a:schemeClr val="lt1"/>
                </a:solidFill>
              </a:defRPr>
            </a:lvl5pPr>
            <a:lvl6pPr marL="2743200" lvl="5" indent="-304800" rtl="0">
              <a:spcBef>
                <a:spcPts val="1600"/>
              </a:spcBef>
              <a:spcAft>
                <a:spcPts val="0"/>
              </a:spcAft>
              <a:buClr>
                <a:schemeClr val="lt1"/>
              </a:buClr>
              <a:buSzPts val="1200"/>
              <a:buChar char="■"/>
              <a:defRPr sz="1200">
                <a:solidFill>
                  <a:schemeClr val="lt1"/>
                </a:solidFill>
              </a:defRPr>
            </a:lvl6pPr>
            <a:lvl7pPr marL="3200400" lvl="6" indent="-304800" rtl="0">
              <a:spcBef>
                <a:spcPts val="1600"/>
              </a:spcBef>
              <a:spcAft>
                <a:spcPts val="0"/>
              </a:spcAft>
              <a:buClr>
                <a:schemeClr val="lt1"/>
              </a:buClr>
              <a:buSzPts val="1200"/>
              <a:buChar char="●"/>
              <a:defRPr sz="1200">
                <a:solidFill>
                  <a:schemeClr val="lt1"/>
                </a:solidFill>
              </a:defRPr>
            </a:lvl7pPr>
            <a:lvl8pPr marL="3657600" lvl="7" indent="-304800" rtl="0">
              <a:spcBef>
                <a:spcPts val="1600"/>
              </a:spcBef>
              <a:spcAft>
                <a:spcPts val="0"/>
              </a:spcAft>
              <a:buClr>
                <a:schemeClr val="lt1"/>
              </a:buClr>
              <a:buSzPts val="1200"/>
              <a:buChar char="○"/>
              <a:defRPr sz="1200">
                <a:solidFill>
                  <a:schemeClr val="lt1"/>
                </a:solidFill>
              </a:defRPr>
            </a:lvl8pPr>
            <a:lvl9pPr marL="4114800" lvl="8" indent="-304800" rtl="0">
              <a:spcBef>
                <a:spcPts val="1600"/>
              </a:spcBef>
              <a:spcAft>
                <a:spcPts val="1600"/>
              </a:spcAft>
              <a:buClr>
                <a:schemeClr val="lt1"/>
              </a:buClr>
              <a:buSzPts val="1200"/>
              <a:buChar char="■"/>
              <a:defRPr sz="1200">
                <a:solidFill>
                  <a:schemeClr val="lt1"/>
                </a:solidFill>
              </a:defRPr>
            </a:lvl9pPr>
          </a:lstStyle>
          <a:p>
            <a:endParaRPr/>
          </a:p>
        </p:txBody>
      </p:sp>
      <p:sp>
        <p:nvSpPr>
          <p:cNvPr id="41" name="Google Shape;41;p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endParaRPr/>
          </a:p>
        </p:txBody>
      </p:sp>
      <p:sp>
        <p:nvSpPr>
          <p:cNvPr id="44" name="Google Shape;44;p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4200"/>
              <a:buNone/>
              <a:defRPr sz="4200">
                <a:solidFill>
                  <a:schemeClr val="dk2"/>
                </a:solidFill>
              </a:defRPr>
            </a:lvl1pPr>
            <a:lvl2pPr lvl="1" algn="ctr" rtl="0">
              <a:spcBef>
                <a:spcPts val="0"/>
              </a:spcBef>
              <a:spcAft>
                <a:spcPts val="0"/>
              </a:spcAft>
              <a:buClr>
                <a:schemeClr val="dk2"/>
              </a:buClr>
              <a:buSzPts val="4200"/>
              <a:buNone/>
              <a:defRPr sz="4200">
                <a:solidFill>
                  <a:schemeClr val="dk2"/>
                </a:solidFill>
              </a:defRPr>
            </a:lvl2pPr>
            <a:lvl3pPr lvl="2" algn="ctr" rtl="0">
              <a:spcBef>
                <a:spcPts val="0"/>
              </a:spcBef>
              <a:spcAft>
                <a:spcPts val="0"/>
              </a:spcAft>
              <a:buClr>
                <a:schemeClr val="dk2"/>
              </a:buClr>
              <a:buSzPts val="4200"/>
              <a:buNone/>
              <a:defRPr sz="4200">
                <a:solidFill>
                  <a:schemeClr val="dk2"/>
                </a:solidFill>
              </a:defRPr>
            </a:lvl3pPr>
            <a:lvl4pPr lvl="3" algn="ctr" rtl="0">
              <a:spcBef>
                <a:spcPts val="0"/>
              </a:spcBef>
              <a:spcAft>
                <a:spcPts val="0"/>
              </a:spcAft>
              <a:buClr>
                <a:schemeClr val="dk2"/>
              </a:buClr>
              <a:buSzPts val="4200"/>
              <a:buNone/>
              <a:defRPr sz="4200">
                <a:solidFill>
                  <a:schemeClr val="dk2"/>
                </a:solidFill>
              </a:defRPr>
            </a:lvl4pPr>
            <a:lvl5pPr lvl="4" algn="ctr" rtl="0">
              <a:spcBef>
                <a:spcPts val="0"/>
              </a:spcBef>
              <a:spcAft>
                <a:spcPts val="0"/>
              </a:spcAft>
              <a:buClr>
                <a:schemeClr val="dk2"/>
              </a:buClr>
              <a:buSzPts val="4200"/>
              <a:buNone/>
              <a:defRPr sz="4200">
                <a:solidFill>
                  <a:schemeClr val="dk2"/>
                </a:solidFill>
              </a:defRPr>
            </a:lvl5pPr>
            <a:lvl6pPr lvl="5" algn="ctr" rtl="0">
              <a:spcBef>
                <a:spcPts val="0"/>
              </a:spcBef>
              <a:spcAft>
                <a:spcPts val="0"/>
              </a:spcAft>
              <a:buClr>
                <a:schemeClr val="dk2"/>
              </a:buClr>
              <a:buSzPts val="4200"/>
              <a:buNone/>
              <a:defRPr sz="4200">
                <a:solidFill>
                  <a:schemeClr val="dk2"/>
                </a:solidFill>
              </a:defRPr>
            </a:lvl6pPr>
            <a:lvl7pPr lvl="6" algn="ctr" rtl="0">
              <a:spcBef>
                <a:spcPts val="0"/>
              </a:spcBef>
              <a:spcAft>
                <a:spcPts val="0"/>
              </a:spcAft>
              <a:buClr>
                <a:schemeClr val="dk2"/>
              </a:buClr>
              <a:buSzPts val="4200"/>
              <a:buNone/>
              <a:defRPr sz="4200">
                <a:solidFill>
                  <a:schemeClr val="dk2"/>
                </a:solidFill>
              </a:defRPr>
            </a:lvl7pPr>
            <a:lvl8pPr lvl="7" algn="ctr" rtl="0">
              <a:spcBef>
                <a:spcPts val="0"/>
              </a:spcBef>
              <a:spcAft>
                <a:spcPts val="0"/>
              </a:spcAft>
              <a:buClr>
                <a:schemeClr val="dk2"/>
              </a:buClr>
              <a:buSzPts val="4200"/>
              <a:buNone/>
              <a:defRPr sz="4200">
                <a:solidFill>
                  <a:schemeClr val="dk2"/>
                </a:solidFill>
              </a:defRPr>
            </a:lvl8pPr>
            <a:lvl9pPr lvl="8" algn="ctr" rtl="0">
              <a:spcBef>
                <a:spcPts val="0"/>
              </a:spcBef>
              <a:spcAft>
                <a:spcPts val="0"/>
              </a:spcAft>
              <a:buClr>
                <a:schemeClr val="dk2"/>
              </a:buClr>
              <a:buSzPts val="4200"/>
              <a:buNone/>
              <a:defRPr sz="4200">
                <a:solidFill>
                  <a:schemeClr val="dk2"/>
                </a:solidFill>
              </a:defRPr>
            </a:lvl9pPr>
          </a:lstStyle>
          <a:p>
            <a:endParaRPr/>
          </a:p>
        </p:txBody>
      </p:sp>
      <p:sp>
        <p:nvSpPr>
          <p:cNvPr id="49" name="Google Shape;49;p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Google Shape;56;p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2000"/>
              <a:buNone/>
              <a:defRPr sz="12000">
                <a:solidFill>
                  <a:schemeClr val="dk2"/>
                </a:solidFill>
              </a:defRPr>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AUTOLAYOUT">
    <p:bg>
      <p:bgPr>
        <a:solidFill>
          <a:srgbClr val="FFFFFF"/>
        </a:solidFill>
        <a:effectLst/>
      </p:bgPr>
    </p:bg>
    <p:spTree>
      <p:nvGrpSpPr>
        <p:cNvPr id="1" name="Shape 63"/>
        <p:cNvGrpSpPr/>
        <p:nvPr/>
      </p:nvGrpSpPr>
      <p:grpSpPr>
        <a:xfrm>
          <a:off x="0" y="0"/>
          <a:ext cx="0" cy="0"/>
          <a:chOff x="0" y="0"/>
          <a:chExt cx="0" cy="0"/>
        </a:xfrm>
      </p:grpSpPr>
      <p:sp>
        <p:nvSpPr>
          <p:cNvPr id="64" name="Google Shape;64;p13"/>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 name="Google Shape;65;p13"/>
          <p:cNvGrpSpPr/>
          <p:nvPr/>
        </p:nvGrpSpPr>
        <p:grpSpPr>
          <a:xfrm>
            <a:off x="809650" y="887725"/>
            <a:ext cx="7524600" cy="3641441"/>
            <a:chOff x="809650" y="887725"/>
            <a:chExt cx="7524600" cy="3641441"/>
          </a:xfrm>
        </p:grpSpPr>
        <p:sp>
          <p:nvSpPr>
            <p:cNvPr id="66" name="Google Shape;66;p13"/>
            <p:cNvSpPr/>
            <p:nvPr/>
          </p:nvSpPr>
          <p:spPr>
            <a:xfrm>
              <a:off x="809650" y="887725"/>
              <a:ext cx="7524600" cy="3456650"/>
            </a:xfrm>
            <a:prstGeom prst="flowChartProcess">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3"/>
            <p:cNvSpPr/>
            <p:nvPr/>
          </p:nvSpPr>
          <p:spPr>
            <a:xfrm rot="10800000">
              <a:off x="1076300" y="4212066"/>
              <a:ext cx="548700" cy="317100"/>
            </a:xfrm>
            <a:prstGeom prst="triangl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 name="Google Shape;68;p13"/>
          <p:cNvSpPr txBox="1">
            <a:spLocks noGrp="1"/>
          </p:cNvSpPr>
          <p:nvPr>
            <p:ph type="body" idx="1"/>
          </p:nvPr>
        </p:nvSpPr>
        <p:spPr>
          <a:xfrm>
            <a:off x="1219225" y="1373750"/>
            <a:ext cx="6705300" cy="2484600"/>
          </a:xfrm>
          <a:prstGeom prst="rect">
            <a:avLst/>
          </a:prstGeom>
          <a:noFill/>
        </p:spPr>
        <p:txBody>
          <a:bodyPr spcFirstLastPara="1" wrap="square" lIns="91425" tIns="91425" rIns="91425" bIns="91425" anchor="t" anchorCtr="0">
            <a:noAutofit/>
          </a:bodyPr>
          <a:lstStyle>
            <a:lvl1pPr marL="457200" lvl="0" indent="-355600" algn="l">
              <a:lnSpc>
                <a:spcPct val="115000"/>
              </a:lnSpc>
              <a:spcBef>
                <a:spcPts val="0"/>
              </a:spcBef>
              <a:spcAft>
                <a:spcPts val="0"/>
              </a:spcAft>
              <a:buClr>
                <a:schemeClr val="lt1"/>
              </a:buClr>
              <a:buSzPts val="2000"/>
              <a:buChar char="●"/>
              <a:defRPr sz="2000">
                <a:solidFill>
                  <a:schemeClr val="lt1"/>
                </a:solidFill>
              </a:defRPr>
            </a:lvl1pPr>
            <a:lvl2pPr marL="914400" lvl="1" indent="-330200" algn="l">
              <a:lnSpc>
                <a:spcPct val="115000"/>
              </a:lnSpc>
              <a:spcBef>
                <a:spcPts val="1600"/>
              </a:spcBef>
              <a:spcAft>
                <a:spcPts val="0"/>
              </a:spcAft>
              <a:buClr>
                <a:schemeClr val="lt1"/>
              </a:buClr>
              <a:buSzPts val="1600"/>
              <a:buChar char="○"/>
              <a:defRPr sz="1600">
                <a:solidFill>
                  <a:schemeClr val="lt1"/>
                </a:solidFill>
              </a:defRPr>
            </a:lvl2pPr>
            <a:lvl3pPr marL="1371600" lvl="2" indent="-330200" algn="l">
              <a:lnSpc>
                <a:spcPct val="115000"/>
              </a:lnSpc>
              <a:spcBef>
                <a:spcPts val="1600"/>
              </a:spcBef>
              <a:spcAft>
                <a:spcPts val="0"/>
              </a:spcAft>
              <a:buClr>
                <a:schemeClr val="lt1"/>
              </a:buClr>
              <a:buSzPts val="1600"/>
              <a:buChar char="■"/>
              <a:defRPr sz="1600">
                <a:solidFill>
                  <a:schemeClr val="lt1"/>
                </a:solidFill>
              </a:defRPr>
            </a:lvl3pPr>
            <a:lvl4pPr marL="1828800" lvl="3" indent="-330200" algn="l">
              <a:lnSpc>
                <a:spcPct val="115000"/>
              </a:lnSpc>
              <a:spcBef>
                <a:spcPts val="1600"/>
              </a:spcBef>
              <a:spcAft>
                <a:spcPts val="0"/>
              </a:spcAft>
              <a:buClr>
                <a:schemeClr val="lt1"/>
              </a:buClr>
              <a:buSzPts val="1600"/>
              <a:buChar char="●"/>
              <a:defRPr sz="1600">
                <a:solidFill>
                  <a:schemeClr val="lt1"/>
                </a:solidFill>
              </a:defRPr>
            </a:lvl4pPr>
            <a:lvl5pPr marL="2286000" lvl="4" indent="-330200" algn="l">
              <a:lnSpc>
                <a:spcPct val="115000"/>
              </a:lnSpc>
              <a:spcBef>
                <a:spcPts val="1600"/>
              </a:spcBef>
              <a:spcAft>
                <a:spcPts val="0"/>
              </a:spcAft>
              <a:buClr>
                <a:schemeClr val="lt1"/>
              </a:buClr>
              <a:buSzPts val="1600"/>
              <a:buChar char="○"/>
              <a:defRPr sz="1600">
                <a:solidFill>
                  <a:schemeClr val="lt1"/>
                </a:solidFill>
              </a:defRPr>
            </a:lvl5pPr>
            <a:lvl6pPr marL="2743200" lvl="5" indent="-330200" algn="l">
              <a:lnSpc>
                <a:spcPct val="115000"/>
              </a:lnSpc>
              <a:spcBef>
                <a:spcPts val="1600"/>
              </a:spcBef>
              <a:spcAft>
                <a:spcPts val="0"/>
              </a:spcAft>
              <a:buClr>
                <a:schemeClr val="lt1"/>
              </a:buClr>
              <a:buSzPts val="1600"/>
              <a:buChar char="■"/>
              <a:defRPr sz="1600">
                <a:solidFill>
                  <a:schemeClr val="lt1"/>
                </a:solidFill>
              </a:defRPr>
            </a:lvl6pPr>
            <a:lvl7pPr marL="3200400" lvl="6" indent="-330200" algn="l">
              <a:lnSpc>
                <a:spcPct val="115000"/>
              </a:lnSpc>
              <a:spcBef>
                <a:spcPts val="1600"/>
              </a:spcBef>
              <a:spcAft>
                <a:spcPts val="0"/>
              </a:spcAft>
              <a:buClr>
                <a:schemeClr val="lt1"/>
              </a:buClr>
              <a:buSzPts val="1600"/>
              <a:buChar char="●"/>
              <a:defRPr sz="1600">
                <a:solidFill>
                  <a:schemeClr val="lt1"/>
                </a:solidFill>
              </a:defRPr>
            </a:lvl7pPr>
            <a:lvl8pPr marL="3657600" lvl="7" indent="-330200" algn="l">
              <a:lnSpc>
                <a:spcPct val="115000"/>
              </a:lnSpc>
              <a:spcBef>
                <a:spcPts val="1600"/>
              </a:spcBef>
              <a:spcAft>
                <a:spcPts val="0"/>
              </a:spcAft>
              <a:buClr>
                <a:schemeClr val="lt1"/>
              </a:buClr>
              <a:buSzPts val="1600"/>
              <a:buChar char="○"/>
              <a:defRPr sz="1600">
                <a:solidFill>
                  <a:schemeClr val="lt1"/>
                </a:solidFill>
              </a:defRPr>
            </a:lvl8pPr>
            <a:lvl9pPr marL="4114800" lvl="8" indent="-330200" algn="l">
              <a:lnSpc>
                <a:spcPct val="115000"/>
              </a:lnSpc>
              <a:spcBef>
                <a:spcPts val="1600"/>
              </a:spcBef>
              <a:spcAft>
                <a:spcPts val="1600"/>
              </a:spcAft>
              <a:buClr>
                <a:schemeClr val="lt1"/>
              </a:buClr>
              <a:buSzPts val="1600"/>
              <a:buChar char="■"/>
              <a:defRPr sz="1600">
                <a:solidFill>
                  <a:schemeClr val="lt1"/>
                </a:solidFill>
              </a:defRPr>
            </a:lvl9pPr>
          </a:lstStyle>
          <a:p>
            <a:endParaRPr/>
          </a:p>
        </p:txBody>
      </p:sp>
      <p:sp>
        <p:nvSpPr>
          <p:cNvPr id="69" name="Google Shape;69;p13"/>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accen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rtl="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lt2"/>
                </a:solidFill>
                <a:latin typeface="Roboto"/>
                <a:ea typeface="Roboto"/>
                <a:cs typeface="Roboto"/>
                <a:sym typeface="Roboto"/>
              </a:defRPr>
            </a:lvl1pPr>
            <a:lvl2pPr lvl="1" algn="r" rtl="0">
              <a:buNone/>
              <a:defRPr sz="1000">
                <a:solidFill>
                  <a:schemeClr val="lt2"/>
                </a:solidFill>
                <a:latin typeface="Roboto"/>
                <a:ea typeface="Roboto"/>
                <a:cs typeface="Roboto"/>
                <a:sym typeface="Roboto"/>
              </a:defRPr>
            </a:lvl2pPr>
            <a:lvl3pPr lvl="2" algn="r" rtl="0">
              <a:buNone/>
              <a:defRPr sz="1000">
                <a:solidFill>
                  <a:schemeClr val="lt2"/>
                </a:solidFill>
                <a:latin typeface="Roboto"/>
                <a:ea typeface="Roboto"/>
                <a:cs typeface="Roboto"/>
                <a:sym typeface="Roboto"/>
              </a:defRPr>
            </a:lvl3pPr>
            <a:lvl4pPr lvl="3" algn="r" rtl="0">
              <a:buNone/>
              <a:defRPr sz="1000">
                <a:solidFill>
                  <a:schemeClr val="lt2"/>
                </a:solidFill>
                <a:latin typeface="Roboto"/>
                <a:ea typeface="Roboto"/>
                <a:cs typeface="Roboto"/>
                <a:sym typeface="Roboto"/>
              </a:defRPr>
            </a:lvl4pPr>
            <a:lvl5pPr lvl="4" algn="r" rtl="0">
              <a:buNone/>
              <a:defRPr sz="1000">
                <a:solidFill>
                  <a:schemeClr val="lt2"/>
                </a:solidFill>
                <a:latin typeface="Roboto"/>
                <a:ea typeface="Roboto"/>
                <a:cs typeface="Roboto"/>
                <a:sym typeface="Roboto"/>
              </a:defRPr>
            </a:lvl5pPr>
            <a:lvl6pPr lvl="5" algn="r" rtl="0">
              <a:buNone/>
              <a:defRPr sz="1000">
                <a:solidFill>
                  <a:schemeClr val="lt2"/>
                </a:solidFill>
                <a:latin typeface="Roboto"/>
                <a:ea typeface="Roboto"/>
                <a:cs typeface="Roboto"/>
                <a:sym typeface="Roboto"/>
              </a:defRPr>
            </a:lvl6pPr>
            <a:lvl7pPr lvl="6" algn="r" rtl="0">
              <a:buNone/>
              <a:defRPr sz="1000">
                <a:solidFill>
                  <a:schemeClr val="lt2"/>
                </a:solidFill>
                <a:latin typeface="Roboto"/>
                <a:ea typeface="Roboto"/>
                <a:cs typeface="Roboto"/>
                <a:sym typeface="Roboto"/>
              </a:defRPr>
            </a:lvl7pPr>
            <a:lvl8pPr lvl="7" algn="r" rtl="0">
              <a:buNone/>
              <a:defRPr sz="1000">
                <a:solidFill>
                  <a:schemeClr val="lt2"/>
                </a:solidFill>
                <a:latin typeface="Roboto"/>
                <a:ea typeface="Roboto"/>
                <a:cs typeface="Roboto"/>
                <a:sym typeface="Roboto"/>
              </a:defRPr>
            </a:lvl8pPr>
            <a:lvl9pPr lvl="8" algn="r" rtl="0">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2.jp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4"/>
          <p:cNvSpPr txBox="1">
            <a:spLocks noGrp="1"/>
          </p:cNvSpPr>
          <p:nvPr>
            <p:ph type="ctrTitle"/>
          </p:nvPr>
        </p:nvSpPr>
        <p:spPr>
          <a:xfrm>
            <a:off x="390525" y="2086800"/>
            <a:ext cx="6871800" cy="969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900"/>
              <a:t>Cameras Used In Studio and On Location</a:t>
            </a:r>
            <a:endParaRPr sz="3900"/>
          </a:p>
        </p:txBody>
      </p:sp>
      <p:sp>
        <p:nvSpPr>
          <p:cNvPr id="75" name="Google Shape;75;p14"/>
          <p:cNvSpPr txBox="1">
            <a:spLocks noGrp="1"/>
          </p:cNvSpPr>
          <p:nvPr>
            <p:ph type="subTitle" idx="1"/>
          </p:nvPr>
        </p:nvSpPr>
        <p:spPr>
          <a:xfrm>
            <a:off x="390525" y="3203680"/>
            <a:ext cx="8222100" cy="4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Emily Serle and Joseph Gadd</a:t>
            </a:r>
            <a:endParaRPr sz="2000"/>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1000"/>
                                        <p:tgtEl>
                                          <p:spTgt spid="74"/>
                                        </p:tgtEl>
                                      </p:cBhvr>
                                    </p:animEffect>
                                  </p:childTnLst>
                                </p:cTn>
                              </p:par>
                              <p:par>
                                <p:cTn id="8" presetID="10" presetClass="entr" presetSubtype="0" fill="hold"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fade">
                                      <p:cBhvr>
                                        <p:cTn id="10" dur="1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5"/>
          <p:cNvPicPr preferRelativeResize="0"/>
          <p:nvPr/>
        </p:nvPicPr>
        <p:blipFill>
          <a:blip r:embed="rId3">
            <a:alphaModFix/>
          </a:blip>
          <a:stretch>
            <a:fillRect/>
          </a:stretch>
        </p:blipFill>
        <p:spPr>
          <a:xfrm>
            <a:off x="4821200" y="1942100"/>
            <a:ext cx="4240775" cy="2714100"/>
          </a:xfrm>
          <a:prstGeom prst="rect">
            <a:avLst/>
          </a:prstGeom>
          <a:noFill/>
          <a:ln>
            <a:noFill/>
          </a:ln>
        </p:spPr>
      </p:pic>
      <p:sp>
        <p:nvSpPr>
          <p:cNvPr id="81" name="Google Shape;81;p1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How Cameras work</a:t>
            </a:r>
            <a:endParaRPr/>
          </a:p>
        </p:txBody>
      </p:sp>
      <p:pic>
        <p:nvPicPr>
          <p:cNvPr id="82" name="Google Shape;82;p15"/>
          <p:cNvPicPr preferRelativeResize="0"/>
          <p:nvPr/>
        </p:nvPicPr>
        <p:blipFill>
          <a:blip r:embed="rId4">
            <a:alphaModFix/>
          </a:blip>
          <a:stretch>
            <a:fillRect/>
          </a:stretch>
        </p:blipFill>
        <p:spPr>
          <a:xfrm>
            <a:off x="263750" y="1825075"/>
            <a:ext cx="4480200" cy="3151821"/>
          </a:xfrm>
          <a:prstGeom prst="rect">
            <a:avLst/>
          </a:prstGeom>
          <a:noFill/>
          <a:ln>
            <a:noFill/>
          </a:ln>
        </p:spPr>
      </p:pic>
      <p:pic>
        <p:nvPicPr>
          <p:cNvPr id="83" name="Google Shape;83;p15"/>
          <p:cNvPicPr preferRelativeResize="0"/>
          <p:nvPr/>
        </p:nvPicPr>
        <p:blipFill>
          <a:blip r:embed="rId5">
            <a:alphaModFix/>
          </a:blip>
          <a:stretch>
            <a:fillRect/>
          </a:stretch>
        </p:blipFill>
        <p:spPr>
          <a:xfrm>
            <a:off x="5044075" y="1942111"/>
            <a:ext cx="3591074" cy="2917749"/>
          </a:xfrm>
          <a:prstGeom prst="rect">
            <a:avLst/>
          </a:prstGeom>
          <a:noFill/>
          <a:ln>
            <a:noFill/>
          </a:ln>
        </p:spPr>
      </p:pic>
      <p:pic>
        <p:nvPicPr>
          <p:cNvPr id="84" name="Google Shape;84;p15"/>
          <p:cNvPicPr preferRelativeResize="0"/>
          <p:nvPr/>
        </p:nvPicPr>
        <p:blipFill>
          <a:blip r:embed="rId6">
            <a:alphaModFix/>
          </a:blip>
          <a:stretch>
            <a:fillRect/>
          </a:stretch>
        </p:blipFill>
        <p:spPr>
          <a:xfrm>
            <a:off x="4821200" y="1825075"/>
            <a:ext cx="4036825" cy="3151825"/>
          </a:xfrm>
          <a:prstGeom prst="rect">
            <a:avLst/>
          </a:prstGeom>
          <a:noFill/>
          <a:ln>
            <a:noFill/>
          </a:ln>
        </p:spPr>
      </p:pic>
      <p:pic>
        <p:nvPicPr>
          <p:cNvPr id="85" name="Google Shape;85;p15"/>
          <p:cNvPicPr preferRelativeResize="0"/>
          <p:nvPr/>
        </p:nvPicPr>
        <p:blipFill rotWithShape="1">
          <a:blip r:embed="rId7">
            <a:alphaModFix/>
          </a:blip>
          <a:srcRect l="12927" r="15888"/>
          <a:stretch/>
        </p:blipFill>
        <p:spPr>
          <a:xfrm>
            <a:off x="4922187" y="1885812"/>
            <a:ext cx="3834851" cy="3030354"/>
          </a:xfrm>
          <a:prstGeom prst="rect">
            <a:avLst/>
          </a:prstGeom>
          <a:noFill/>
          <a:ln>
            <a:noFill/>
          </a:ln>
        </p:spPr>
      </p:pic>
      <p:pic>
        <p:nvPicPr>
          <p:cNvPr id="86" name="Google Shape;86;p15"/>
          <p:cNvPicPr preferRelativeResize="0"/>
          <p:nvPr/>
        </p:nvPicPr>
        <p:blipFill>
          <a:blip r:embed="rId8">
            <a:alphaModFix/>
          </a:blip>
          <a:stretch>
            <a:fillRect/>
          </a:stretch>
        </p:blipFill>
        <p:spPr>
          <a:xfrm>
            <a:off x="4968900" y="2146538"/>
            <a:ext cx="3945375" cy="230522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fade">
                                      <p:cBhvr>
                                        <p:cTn id="7" dur="1000"/>
                                        <p:tgtEl>
                                          <p:spTgt spid="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1000"/>
                                        <p:tgtEl>
                                          <p:spTgt spid="83"/>
                                        </p:tgtEl>
                                      </p:cBhvr>
                                    </p:animEffect>
                                    <p:set>
                                      <p:cBhvr>
                                        <p:cTn id="12" dur="1" fill="hold">
                                          <p:stCondLst>
                                            <p:cond delay="1000"/>
                                          </p:stCondLst>
                                        </p:cTn>
                                        <p:tgtEl>
                                          <p:spTgt spid="83"/>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86"/>
                                        </p:tgtEl>
                                        <p:attrNameLst>
                                          <p:attrName>style.visibility</p:attrName>
                                        </p:attrNameLst>
                                      </p:cBhvr>
                                      <p:to>
                                        <p:strVal val="visible"/>
                                      </p:to>
                                    </p:set>
                                    <p:animEffect transition="in" filter="fade">
                                      <p:cBhvr>
                                        <p:cTn id="15" dur="1000"/>
                                        <p:tgtEl>
                                          <p:spTgt spid="8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1000"/>
                                        <p:tgtEl>
                                          <p:spTgt spid="86"/>
                                        </p:tgtEl>
                                      </p:cBhvr>
                                    </p:animEffect>
                                    <p:set>
                                      <p:cBhvr>
                                        <p:cTn id="20" dur="1" fill="hold">
                                          <p:stCondLst>
                                            <p:cond delay="1000"/>
                                          </p:stCondLst>
                                        </p:cTn>
                                        <p:tgtEl>
                                          <p:spTgt spid="86"/>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85"/>
                                        </p:tgtEl>
                                        <p:attrNameLst>
                                          <p:attrName>style.visibility</p:attrName>
                                        </p:attrNameLst>
                                      </p:cBhvr>
                                      <p:to>
                                        <p:strVal val="visible"/>
                                      </p:to>
                                    </p:set>
                                    <p:animEffect transition="in" filter="fade">
                                      <p:cBhvr>
                                        <p:cTn id="23" dur="1000"/>
                                        <p:tgtEl>
                                          <p:spTgt spid="8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1000"/>
                                        <p:tgtEl>
                                          <p:spTgt spid="85"/>
                                        </p:tgtEl>
                                      </p:cBhvr>
                                    </p:animEffect>
                                    <p:set>
                                      <p:cBhvr>
                                        <p:cTn id="28" dur="1" fill="hold">
                                          <p:stCondLst>
                                            <p:cond delay="1000"/>
                                          </p:stCondLst>
                                        </p:cTn>
                                        <p:tgtEl>
                                          <p:spTgt spid="85"/>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80"/>
                                        </p:tgtEl>
                                        <p:attrNameLst>
                                          <p:attrName>style.visibility</p:attrName>
                                        </p:attrNameLst>
                                      </p:cBhvr>
                                      <p:to>
                                        <p:strVal val="visible"/>
                                      </p:to>
                                    </p:set>
                                    <p:animEffect transition="in" filter="fade">
                                      <p:cBhvr>
                                        <p:cTn id="31" dur="1000"/>
                                        <p:tgtEl>
                                          <p:spTgt spid="8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1000"/>
                                        <p:tgtEl>
                                          <p:spTgt spid="80"/>
                                        </p:tgtEl>
                                      </p:cBhvr>
                                    </p:animEffect>
                                    <p:set>
                                      <p:cBhvr>
                                        <p:cTn id="36" dur="1" fill="hold">
                                          <p:stCondLst>
                                            <p:cond delay="1000"/>
                                          </p:stCondLst>
                                        </p:cTn>
                                        <p:tgtEl>
                                          <p:spTgt spid="80"/>
                                        </p:tgtEl>
                                        <p:attrNameLst>
                                          <p:attrName>style.visibility</p:attrName>
                                        </p:attrNameLst>
                                      </p:cBhvr>
                                      <p:to>
                                        <p:strVal val="hidden"/>
                                      </p:to>
                                    </p:set>
                                  </p:childTnLst>
                                </p:cTn>
                              </p:par>
                              <p:par>
                                <p:cTn id="37" presetID="10" presetClass="entr" presetSubtype="0" fill="hold" nodeType="withEffect">
                                  <p:stCondLst>
                                    <p:cond delay="0"/>
                                  </p:stCondLst>
                                  <p:childTnLst>
                                    <p:set>
                                      <p:cBhvr>
                                        <p:cTn id="38" dur="1" fill="hold">
                                          <p:stCondLst>
                                            <p:cond delay="0"/>
                                          </p:stCondLst>
                                        </p:cTn>
                                        <p:tgtEl>
                                          <p:spTgt spid="84"/>
                                        </p:tgtEl>
                                        <p:attrNameLst>
                                          <p:attrName>style.visibility</p:attrName>
                                        </p:attrNameLst>
                                      </p:cBhvr>
                                      <p:to>
                                        <p:strVal val="visible"/>
                                      </p:to>
                                    </p:set>
                                    <p:animEffect transition="in" filter="fade">
                                      <p:cBhvr>
                                        <p:cTn id="39" dur="10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How Cameras work</a:t>
            </a:r>
            <a:endParaRPr/>
          </a:p>
        </p:txBody>
      </p:sp>
      <p:sp>
        <p:nvSpPr>
          <p:cNvPr id="92" name="Google Shape;92;p16"/>
          <p:cNvSpPr txBox="1">
            <a:spLocks noGrp="1"/>
          </p:cNvSpPr>
          <p:nvPr>
            <p:ph type="body" idx="1"/>
          </p:nvPr>
        </p:nvSpPr>
        <p:spPr>
          <a:xfrm>
            <a:off x="838200" y="2333350"/>
            <a:ext cx="7855800" cy="213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Image profile can changed through the mechanical operation of the components.</a:t>
            </a:r>
            <a:endParaRPr sz="1600"/>
          </a:p>
          <a:p>
            <a:pPr marL="457200" lvl="0" indent="-330200" algn="l" rtl="0">
              <a:lnSpc>
                <a:spcPct val="150000"/>
              </a:lnSpc>
              <a:spcBef>
                <a:spcPts val="1600"/>
              </a:spcBef>
              <a:spcAft>
                <a:spcPts val="0"/>
              </a:spcAft>
              <a:buSzPts val="1600"/>
              <a:buChar char="-"/>
            </a:pPr>
            <a:r>
              <a:rPr lang="en" sz="1600"/>
              <a:t>Zoom</a:t>
            </a:r>
            <a:endParaRPr sz="1600"/>
          </a:p>
          <a:p>
            <a:pPr marL="457200" lvl="0" indent="-330200" algn="l" rtl="0">
              <a:lnSpc>
                <a:spcPct val="150000"/>
              </a:lnSpc>
              <a:spcBef>
                <a:spcPts val="0"/>
              </a:spcBef>
              <a:spcAft>
                <a:spcPts val="0"/>
              </a:spcAft>
              <a:buSzPts val="1600"/>
              <a:buChar char="-"/>
            </a:pPr>
            <a:r>
              <a:rPr lang="en" sz="1600"/>
              <a:t>Focus</a:t>
            </a:r>
            <a:endParaRPr sz="1600"/>
          </a:p>
          <a:p>
            <a:pPr marL="457200" lvl="0" indent="-330200" algn="l" rtl="0">
              <a:lnSpc>
                <a:spcPct val="150000"/>
              </a:lnSpc>
              <a:spcBef>
                <a:spcPts val="0"/>
              </a:spcBef>
              <a:spcAft>
                <a:spcPts val="0"/>
              </a:spcAft>
              <a:buSzPts val="1600"/>
              <a:buChar char="-"/>
            </a:pPr>
            <a:r>
              <a:rPr lang="en" sz="1600"/>
              <a:t>Exposure (Aperture, ISO, Shutter speed)</a:t>
            </a:r>
            <a:endParaRPr sz="1600"/>
          </a:p>
          <a:p>
            <a:pPr marL="457200" lvl="0" indent="-330200" algn="l" rtl="0">
              <a:lnSpc>
                <a:spcPct val="150000"/>
              </a:lnSpc>
              <a:spcBef>
                <a:spcPts val="0"/>
              </a:spcBef>
              <a:spcAft>
                <a:spcPts val="0"/>
              </a:spcAft>
              <a:buSzPts val="1600"/>
              <a:buChar char="-"/>
            </a:pPr>
            <a:r>
              <a:rPr lang="en" sz="1600"/>
              <a:t>Depth of Field</a:t>
            </a:r>
            <a:endParaRPr sz="1600"/>
          </a:p>
          <a:p>
            <a:pPr marL="0" lvl="0" indent="0" algn="l" rtl="0">
              <a:lnSpc>
                <a:spcPct val="150000"/>
              </a:lnSpc>
              <a:spcBef>
                <a:spcPts val="1600"/>
              </a:spcBef>
              <a:spcAft>
                <a:spcPts val="1600"/>
              </a:spcAft>
              <a:buNone/>
            </a:pPr>
            <a:endParaRPr/>
          </a:p>
        </p:txBody>
      </p:sp>
      <p:pic>
        <p:nvPicPr>
          <p:cNvPr id="93" name="Google Shape;93;p16"/>
          <p:cNvPicPr preferRelativeResize="0"/>
          <p:nvPr/>
        </p:nvPicPr>
        <p:blipFill>
          <a:blip r:embed="rId3">
            <a:alphaModFix/>
          </a:blip>
          <a:stretch>
            <a:fillRect/>
          </a:stretch>
        </p:blipFill>
        <p:spPr>
          <a:xfrm>
            <a:off x="1988521" y="1248237"/>
            <a:ext cx="5166967" cy="2647024"/>
          </a:xfrm>
          <a:prstGeom prst="rect">
            <a:avLst/>
          </a:prstGeom>
          <a:noFill/>
          <a:ln>
            <a:noFill/>
          </a:ln>
        </p:spPr>
      </p:pic>
      <p:pic>
        <p:nvPicPr>
          <p:cNvPr id="94" name="Google Shape;94;p16"/>
          <p:cNvPicPr preferRelativeResize="0"/>
          <p:nvPr/>
        </p:nvPicPr>
        <p:blipFill>
          <a:blip r:embed="rId4">
            <a:alphaModFix/>
          </a:blip>
          <a:stretch>
            <a:fillRect/>
          </a:stretch>
        </p:blipFill>
        <p:spPr>
          <a:xfrm>
            <a:off x="1988513" y="1190579"/>
            <a:ext cx="5166974" cy="2762332"/>
          </a:xfrm>
          <a:prstGeom prst="rect">
            <a:avLst/>
          </a:prstGeom>
          <a:noFill/>
          <a:ln>
            <a:noFill/>
          </a:ln>
        </p:spPr>
      </p:pic>
      <p:pic>
        <p:nvPicPr>
          <p:cNvPr id="95" name="Google Shape;95;p16"/>
          <p:cNvPicPr preferRelativeResize="0"/>
          <p:nvPr/>
        </p:nvPicPr>
        <p:blipFill>
          <a:blip r:embed="rId5">
            <a:alphaModFix/>
          </a:blip>
          <a:stretch>
            <a:fillRect/>
          </a:stretch>
        </p:blipFill>
        <p:spPr>
          <a:xfrm>
            <a:off x="1988500" y="1118826"/>
            <a:ext cx="5166976" cy="29058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fade">
                                      <p:cBhvr>
                                        <p:cTn id="7" dur="300"/>
                                        <p:tgtEl>
                                          <p:spTgt spid="9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93"/>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94"/>
                                        </p:tgtEl>
                                        <p:attrNameLst>
                                          <p:attrName>style.visibility</p:attrName>
                                        </p:attrNameLst>
                                      </p:cBhvr>
                                      <p:to>
                                        <p:strVal val="visible"/>
                                      </p:to>
                                    </p:set>
                                    <p:animEffect transition="in" filter="fade">
                                      <p:cBhvr>
                                        <p:cTn id="14" dur="300"/>
                                        <p:tgtEl>
                                          <p:spTgt spid="9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94"/>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95"/>
                                        </p:tgtEl>
                                        <p:attrNameLst>
                                          <p:attrName>style.visibility</p:attrName>
                                        </p:attrNameLst>
                                      </p:cBhvr>
                                      <p:to>
                                        <p:strVal val="visible"/>
                                      </p:to>
                                    </p:set>
                                    <p:animEffect transition="in" filter="fade">
                                      <p:cBhvr>
                                        <p:cTn id="21" dur="300"/>
                                        <p:tgtEl>
                                          <p:spTgt spid="9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nodeType="clickEffect">
                                  <p:stCondLst>
                                    <p:cond delay="0"/>
                                  </p:stCondLst>
                                  <p:childTnLst>
                                    <p:set>
                                      <p:cBhvr>
                                        <p:cTn id="25" dur="1" fill="hold">
                                          <p:stCondLst>
                                            <p:cond delay="0"/>
                                          </p:stCondLst>
                                        </p:cTn>
                                        <p:tgtEl>
                                          <p:spTgt spid="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7"/>
          <p:cNvSpPr txBox="1">
            <a:spLocks noGrp="1"/>
          </p:cNvSpPr>
          <p:nvPr>
            <p:ph type="body" idx="1"/>
          </p:nvPr>
        </p:nvSpPr>
        <p:spPr>
          <a:xfrm>
            <a:off x="1219225" y="1373750"/>
            <a:ext cx="6705300" cy="2484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Estimates suggest that more than 1 trillion photos are taken in a year. On average, 95 million photos are uploaded daily on instagram and over 300 million photos are uploaded to Facebook every day.</a:t>
            </a:r>
            <a:endParaRPr/>
          </a:p>
        </p:txBody>
      </p:sp>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animEffect transition="in" filter="fade">
                                      <p:cBhvr>
                                        <p:cTn id="7" dur="1000"/>
                                        <p:tgtEl>
                                          <p:spTgt spid="10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8"/>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Studio Cameras</a:t>
            </a:r>
            <a:endParaRPr/>
          </a:p>
        </p:txBody>
      </p:sp>
      <p:sp>
        <p:nvSpPr>
          <p:cNvPr id="106" name="Google Shape;106;p18"/>
          <p:cNvSpPr txBox="1">
            <a:spLocks noGrp="1"/>
          </p:cNvSpPr>
          <p:nvPr>
            <p:ph type="body" idx="1"/>
          </p:nvPr>
        </p:nvSpPr>
        <p:spPr>
          <a:xfrm>
            <a:off x="471900" y="2286700"/>
            <a:ext cx="3332100" cy="225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Why type of camera is used?</a:t>
            </a:r>
            <a:endParaRPr/>
          </a:p>
          <a:p>
            <a:pPr marL="0" lvl="0" indent="0" algn="l" rtl="0">
              <a:spcBef>
                <a:spcPts val="1600"/>
              </a:spcBef>
              <a:spcAft>
                <a:spcPts val="0"/>
              </a:spcAft>
              <a:buNone/>
            </a:pPr>
            <a:r>
              <a:rPr lang="en"/>
              <a:t>What is the camera connected to?</a:t>
            </a:r>
            <a:endParaRPr/>
          </a:p>
          <a:p>
            <a:pPr marL="0" lvl="0" indent="0" algn="l" rtl="0">
              <a:spcBef>
                <a:spcPts val="1600"/>
              </a:spcBef>
              <a:spcAft>
                <a:spcPts val="0"/>
              </a:spcAft>
              <a:buNone/>
            </a:pPr>
            <a:r>
              <a:rPr lang="en"/>
              <a:t>What type of sensor is used?</a:t>
            </a:r>
            <a:endParaRPr/>
          </a:p>
          <a:p>
            <a:pPr marL="0" lvl="0" indent="0" algn="l" rtl="0">
              <a:spcBef>
                <a:spcPts val="1600"/>
              </a:spcBef>
              <a:spcAft>
                <a:spcPts val="0"/>
              </a:spcAft>
              <a:buNone/>
            </a:pPr>
            <a:r>
              <a:rPr lang="en"/>
              <a:t>What format is the video in?</a:t>
            </a:r>
            <a:endParaRPr/>
          </a:p>
          <a:p>
            <a:pPr marL="0" lvl="0" indent="0" algn="l" rtl="0">
              <a:spcBef>
                <a:spcPts val="1600"/>
              </a:spcBef>
              <a:spcAft>
                <a:spcPts val="1600"/>
              </a:spcAft>
              <a:buNone/>
            </a:pPr>
            <a:r>
              <a:rPr lang="en"/>
              <a:t>How does the camera move around?</a:t>
            </a:r>
            <a:endParaRPr/>
          </a:p>
        </p:txBody>
      </p:sp>
      <p:pic>
        <p:nvPicPr>
          <p:cNvPr id="107" name="Google Shape;107;p18" descr="Sony HDC-4300 4K/HD System Camera"/>
          <p:cNvPicPr preferRelativeResize="0"/>
          <p:nvPr/>
        </p:nvPicPr>
        <p:blipFill>
          <a:blip r:embed="rId3">
            <a:alphaModFix/>
          </a:blip>
          <a:stretch>
            <a:fillRect/>
          </a:stretch>
        </p:blipFill>
        <p:spPr>
          <a:xfrm>
            <a:off x="4506263" y="2212912"/>
            <a:ext cx="3607600" cy="2405075"/>
          </a:xfrm>
          <a:prstGeom prst="rect">
            <a:avLst/>
          </a:prstGeom>
          <a:noFill/>
          <a:ln>
            <a:noFill/>
          </a:ln>
        </p:spPr>
      </p:pic>
      <p:pic>
        <p:nvPicPr>
          <p:cNvPr id="108" name="Google Shape;108;p18" descr="Vinten | pro-ped pedestal | pro-ped pedestal www.vinten.com"/>
          <p:cNvPicPr preferRelativeResize="0"/>
          <p:nvPr/>
        </p:nvPicPr>
        <p:blipFill>
          <a:blip r:embed="rId4">
            <a:alphaModFix/>
          </a:blip>
          <a:stretch>
            <a:fillRect/>
          </a:stretch>
        </p:blipFill>
        <p:spPr>
          <a:xfrm>
            <a:off x="4393400" y="2081227"/>
            <a:ext cx="3987865" cy="2668450"/>
          </a:xfrm>
          <a:prstGeom prst="rect">
            <a:avLst/>
          </a:prstGeom>
          <a:noFill/>
          <a:ln>
            <a:noFill/>
          </a:ln>
        </p:spPr>
      </p:pic>
      <p:pic>
        <p:nvPicPr>
          <p:cNvPr id="109" name="Google Shape;109;p18" descr="What Autocue equipment is used by the BBC?"/>
          <p:cNvPicPr preferRelativeResize="0"/>
          <p:nvPr/>
        </p:nvPicPr>
        <p:blipFill>
          <a:blip r:embed="rId5">
            <a:alphaModFix/>
          </a:blip>
          <a:stretch>
            <a:fillRect/>
          </a:stretch>
        </p:blipFill>
        <p:spPr>
          <a:xfrm>
            <a:off x="4324238" y="2081225"/>
            <a:ext cx="4126196" cy="26684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107"/>
                                        </p:tgtEl>
                                      </p:cBhvr>
                                    </p:animEffect>
                                    <p:set>
                                      <p:cBhvr>
                                        <p:cTn id="7" dur="1" fill="hold">
                                          <p:stCondLst>
                                            <p:cond delay="1000"/>
                                          </p:stCondLst>
                                        </p:cTn>
                                        <p:tgtEl>
                                          <p:spTgt spid="107"/>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08"/>
                                        </p:tgtEl>
                                        <p:attrNameLst>
                                          <p:attrName>style.visibility</p:attrName>
                                        </p:attrNameLst>
                                      </p:cBhvr>
                                      <p:to>
                                        <p:strVal val="visible"/>
                                      </p:to>
                                    </p:set>
                                    <p:animEffect transition="in" filter="fade">
                                      <p:cBhvr>
                                        <p:cTn id="10" dur="1000"/>
                                        <p:tgtEl>
                                          <p:spTgt spid="10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9"/>
                                        </p:tgtEl>
                                        <p:attrNameLst>
                                          <p:attrName>style.visibility</p:attrName>
                                        </p:attrNameLst>
                                      </p:cBhvr>
                                      <p:to>
                                        <p:strVal val="visible"/>
                                      </p:to>
                                    </p:set>
                                    <p:animEffect transition="in" filter="fade">
                                      <p:cBhvr>
                                        <p:cTn id="15" dur="10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9"/>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Outside Broadcast Cameras</a:t>
            </a:r>
            <a:endParaRPr/>
          </a:p>
        </p:txBody>
      </p:sp>
      <p:sp>
        <p:nvSpPr>
          <p:cNvPr id="115" name="Google Shape;115;p19"/>
          <p:cNvSpPr txBox="1">
            <a:spLocks noGrp="1"/>
          </p:cNvSpPr>
          <p:nvPr>
            <p:ph type="body" idx="1"/>
          </p:nvPr>
        </p:nvSpPr>
        <p:spPr>
          <a:xfrm>
            <a:off x="-3035575" y="398675"/>
            <a:ext cx="3999900" cy="27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Make/Model</a:t>
            </a:r>
            <a:endParaRPr/>
          </a:p>
          <a:p>
            <a:pPr marL="0" lvl="0" indent="0" algn="l" rtl="0">
              <a:spcBef>
                <a:spcPts val="1600"/>
              </a:spcBef>
              <a:spcAft>
                <a:spcPts val="0"/>
              </a:spcAft>
              <a:buNone/>
            </a:pPr>
            <a:r>
              <a:rPr lang="en"/>
              <a:t>Handheld/Freestanding/Movement</a:t>
            </a:r>
            <a:endParaRPr/>
          </a:p>
          <a:p>
            <a:pPr marL="0" lvl="0" indent="0" algn="l" rtl="0">
              <a:spcBef>
                <a:spcPts val="1600"/>
              </a:spcBef>
              <a:spcAft>
                <a:spcPts val="0"/>
              </a:spcAft>
              <a:buNone/>
            </a:pPr>
            <a:r>
              <a:rPr lang="en"/>
              <a:t>Sensor dimensions </a:t>
            </a:r>
            <a:endParaRPr/>
          </a:p>
          <a:p>
            <a:pPr marL="0" lvl="0" indent="0" algn="l" rtl="0">
              <a:spcBef>
                <a:spcPts val="1600"/>
              </a:spcBef>
              <a:spcAft>
                <a:spcPts val="0"/>
              </a:spcAft>
              <a:buNone/>
            </a:pPr>
            <a:r>
              <a:rPr lang="en"/>
              <a:t>Format</a:t>
            </a:r>
            <a:endParaRPr/>
          </a:p>
          <a:p>
            <a:pPr marL="0" lvl="0" indent="0" algn="l" rtl="0">
              <a:spcBef>
                <a:spcPts val="1600"/>
              </a:spcBef>
              <a:spcAft>
                <a:spcPts val="1600"/>
              </a:spcAft>
              <a:buNone/>
            </a:pPr>
            <a:r>
              <a:rPr lang="en"/>
              <a:t>Cabling/Networking</a:t>
            </a:r>
            <a:endParaRPr/>
          </a:p>
        </p:txBody>
      </p:sp>
      <p:sp>
        <p:nvSpPr>
          <p:cNvPr id="116" name="Google Shape;116;p19"/>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17" name="Google Shape;117;p19"/>
          <p:cNvPicPr preferRelativeResize="0"/>
          <p:nvPr/>
        </p:nvPicPr>
        <p:blipFill>
          <a:blip r:embed="rId3">
            <a:alphaModFix/>
          </a:blip>
          <a:stretch>
            <a:fillRect/>
          </a:stretch>
        </p:blipFill>
        <p:spPr>
          <a:xfrm>
            <a:off x="4109450" y="1790250"/>
            <a:ext cx="4821200" cy="3224200"/>
          </a:xfrm>
          <a:prstGeom prst="rect">
            <a:avLst/>
          </a:prstGeom>
          <a:noFill/>
          <a:ln>
            <a:noFill/>
          </a:ln>
        </p:spPr>
      </p:pic>
      <p:pic>
        <p:nvPicPr>
          <p:cNvPr id="118" name="Google Shape;118;p19"/>
          <p:cNvPicPr preferRelativeResize="0"/>
          <p:nvPr/>
        </p:nvPicPr>
        <p:blipFill rotWithShape="1">
          <a:blip r:embed="rId4">
            <a:alphaModFix/>
          </a:blip>
          <a:srcRect t="-6710" b="6710"/>
          <a:stretch/>
        </p:blipFill>
        <p:spPr>
          <a:xfrm>
            <a:off x="109550" y="1901758"/>
            <a:ext cx="3999899" cy="3001192"/>
          </a:xfrm>
          <a:prstGeom prst="rect">
            <a:avLst/>
          </a:prstGeom>
          <a:noFill/>
          <a:ln>
            <a:noFill/>
          </a:ln>
        </p:spPr>
      </p:pic>
      <p:pic>
        <p:nvPicPr>
          <p:cNvPr id="119" name="Google Shape;119;p19"/>
          <p:cNvPicPr preferRelativeResize="0"/>
          <p:nvPr/>
        </p:nvPicPr>
        <p:blipFill>
          <a:blip r:embed="rId5">
            <a:alphaModFix/>
          </a:blip>
          <a:stretch>
            <a:fillRect/>
          </a:stretch>
        </p:blipFill>
        <p:spPr>
          <a:xfrm>
            <a:off x="4572000" y="1834826"/>
            <a:ext cx="3999900" cy="2999899"/>
          </a:xfrm>
          <a:prstGeom prst="rect">
            <a:avLst/>
          </a:prstGeom>
          <a:noFill/>
          <a:ln>
            <a:noFill/>
          </a:ln>
        </p:spPr>
      </p:pic>
      <p:pic>
        <p:nvPicPr>
          <p:cNvPr id="120" name="Google Shape;120;p19"/>
          <p:cNvPicPr preferRelativeResize="0"/>
          <p:nvPr/>
        </p:nvPicPr>
        <p:blipFill>
          <a:blip r:embed="rId6">
            <a:alphaModFix/>
          </a:blip>
          <a:stretch>
            <a:fillRect/>
          </a:stretch>
        </p:blipFill>
        <p:spPr>
          <a:xfrm>
            <a:off x="109550" y="1834825"/>
            <a:ext cx="4378552" cy="2999900"/>
          </a:xfrm>
          <a:prstGeom prst="rect">
            <a:avLst/>
          </a:prstGeom>
          <a:noFill/>
          <a:ln>
            <a:noFill/>
          </a:ln>
        </p:spPr>
      </p:pic>
      <p:pic>
        <p:nvPicPr>
          <p:cNvPr id="121" name="Google Shape;121;p19"/>
          <p:cNvPicPr preferRelativeResize="0"/>
          <p:nvPr/>
        </p:nvPicPr>
        <p:blipFill>
          <a:blip r:embed="rId7">
            <a:alphaModFix/>
          </a:blip>
          <a:stretch>
            <a:fillRect/>
          </a:stretch>
        </p:blipFill>
        <p:spPr>
          <a:xfrm>
            <a:off x="776650" y="1790250"/>
            <a:ext cx="3332800" cy="3332800"/>
          </a:xfrm>
          <a:prstGeom prst="rect">
            <a:avLst/>
          </a:prstGeom>
          <a:noFill/>
          <a:ln>
            <a:noFill/>
          </a:ln>
        </p:spPr>
      </p:pic>
      <p:pic>
        <p:nvPicPr>
          <p:cNvPr id="122" name="Google Shape;122;p19"/>
          <p:cNvPicPr preferRelativeResize="0"/>
          <p:nvPr/>
        </p:nvPicPr>
        <p:blipFill>
          <a:blip r:embed="rId8">
            <a:alphaModFix/>
          </a:blip>
          <a:stretch>
            <a:fillRect/>
          </a:stretch>
        </p:blipFill>
        <p:spPr>
          <a:xfrm>
            <a:off x="5086350" y="1790250"/>
            <a:ext cx="3332800" cy="33328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2700"/>
                                        <p:tgtEl>
                                          <p:spTgt spid="114"/>
                                        </p:tgtEl>
                                      </p:cBhvr>
                                    </p:animEffect>
                                  </p:childTnLst>
                                </p:cTn>
                              </p:par>
                              <p:par>
                                <p:cTn id="8" presetID="10" presetClass="entr" presetSubtype="0" fill="hold" nodeType="withEffect">
                                  <p:stCondLst>
                                    <p:cond delay="0"/>
                                  </p:stCondLst>
                                  <p:childTnLst>
                                    <p:set>
                                      <p:cBhvr>
                                        <p:cTn id="9" dur="1" fill="hold">
                                          <p:stCondLst>
                                            <p:cond delay="0"/>
                                          </p:stCondLst>
                                        </p:cTn>
                                        <p:tgtEl>
                                          <p:spTgt spid="120"/>
                                        </p:tgtEl>
                                        <p:attrNameLst>
                                          <p:attrName>style.visibility</p:attrName>
                                        </p:attrNameLst>
                                      </p:cBhvr>
                                      <p:to>
                                        <p:strVal val="visible"/>
                                      </p:to>
                                    </p:set>
                                    <p:animEffect transition="in" filter="fade">
                                      <p:cBhvr>
                                        <p:cTn id="10" dur="1000"/>
                                        <p:tgtEl>
                                          <p:spTgt spid="1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1000"/>
                                        <p:tgtEl>
                                          <p:spTgt spid="120"/>
                                        </p:tgtEl>
                                      </p:cBhvr>
                                    </p:animEffect>
                                    <p:set>
                                      <p:cBhvr>
                                        <p:cTn id="15" dur="1" fill="hold">
                                          <p:stCondLst>
                                            <p:cond delay="1000"/>
                                          </p:stCondLst>
                                        </p:cTn>
                                        <p:tgtEl>
                                          <p:spTgt spid="120"/>
                                        </p:tgtEl>
                                        <p:attrNameLst>
                                          <p:attrName>style.visibility</p:attrName>
                                        </p:attrNameLst>
                                      </p:cBhvr>
                                      <p:to>
                                        <p:strVal val="hidden"/>
                                      </p:to>
                                    </p:se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119"/>
                                        </p:tgtEl>
                                        <p:attrNameLst>
                                          <p:attrName>style.visibility</p:attrName>
                                        </p:attrNameLst>
                                      </p:cBhvr>
                                      <p:to>
                                        <p:strVal val="visible"/>
                                      </p:to>
                                    </p:set>
                                    <p:animEffect transition="in" filter="fade">
                                      <p:cBhvr>
                                        <p:cTn id="19" dur="2600"/>
                                        <p:tgtEl>
                                          <p:spTgt spid="119"/>
                                        </p:tgtEl>
                                      </p:cBhvr>
                                    </p:animEffect>
                                  </p:childTnLst>
                                </p:cTn>
                              </p:par>
                              <p:par>
                                <p:cTn id="20" presetID="10" presetClass="entr" presetSubtype="0" fill="hold" nodeType="withEffect">
                                  <p:stCondLst>
                                    <p:cond delay="0"/>
                                  </p:stCondLst>
                                  <p:childTnLst>
                                    <p:set>
                                      <p:cBhvr>
                                        <p:cTn id="21" dur="1" fill="hold">
                                          <p:stCondLst>
                                            <p:cond delay="0"/>
                                          </p:stCondLst>
                                        </p:cTn>
                                        <p:tgtEl>
                                          <p:spTgt spid="118"/>
                                        </p:tgtEl>
                                        <p:attrNameLst>
                                          <p:attrName>style.visibility</p:attrName>
                                        </p:attrNameLst>
                                      </p:cBhvr>
                                      <p:to>
                                        <p:strVal val="visible"/>
                                      </p:to>
                                    </p:set>
                                    <p:animEffect transition="in" filter="fade">
                                      <p:cBhvr>
                                        <p:cTn id="22" dur="2600"/>
                                        <p:tgtEl>
                                          <p:spTgt spid="1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1000"/>
                                        <p:tgtEl>
                                          <p:spTgt spid="118"/>
                                        </p:tgtEl>
                                      </p:cBhvr>
                                    </p:animEffect>
                                    <p:set>
                                      <p:cBhvr>
                                        <p:cTn id="27" dur="1" fill="hold">
                                          <p:stCondLst>
                                            <p:cond delay="1000"/>
                                          </p:stCondLst>
                                        </p:cTn>
                                        <p:tgtEl>
                                          <p:spTgt spid="118"/>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29" dur="1000"/>
                                        <p:tgtEl>
                                          <p:spTgt spid="119"/>
                                        </p:tgtEl>
                                      </p:cBhvr>
                                    </p:animEffect>
                                    <p:set>
                                      <p:cBhvr>
                                        <p:cTn id="30" dur="1" fill="hold">
                                          <p:stCondLst>
                                            <p:cond delay="1000"/>
                                          </p:stCondLst>
                                        </p:cTn>
                                        <p:tgtEl>
                                          <p:spTgt spid="119"/>
                                        </p:tgtEl>
                                        <p:attrNameLst>
                                          <p:attrName>style.visibility</p:attrName>
                                        </p:attrNameLst>
                                      </p:cBhvr>
                                      <p:to>
                                        <p:strVal val="hidden"/>
                                      </p:to>
                                    </p:set>
                                  </p:childTnLst>
                                </p:cTn>
                              </p:par>
                              <p:par>
                                <p:cTn id="31" presetID="10" presetClass="entr" presetSubtype="0" fill="hold" nodeType="withEffect">
                                  <p:stCondLst>
                                    <p:cond delay="0"/>
                                  </p:stCondLst>
                                  <p:childTnLst>
                                    <p:set>
                                      <p:cBhvr>
                                        <p:cTn id="32" dur="1" fill="hold">
                                          <p:stCondLst>
                                            <p:cond delay="0"/>
                                          </p:stCondLst>
                                        </p:cTn>
                                        <p:tgtEl>
                                          <p:spTgt spid="117"/>
                                        </p:tgtEl>
                                        <p:attrNameLst>
                                          <p:attrName>style.visibility</p:attrName>
                                        </p:attrNameLst>
                                      </p:cBhvr>
                                      <p:to>
                                        <p:strVal val="visible"/>
                                      </p:to>
                                    </p:set>
                                    <p:animEffect transition="in" filter="fade">
                                      <p:cBhvr>
                                        <p:cTn id="33" dur="1000"/>
                                        <p:tgtEl>
                                          <p:spTgt spid="11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nodeType="clickEffect">
                                  <p:stCondLst>
                                    <p:cond delay="0"/>
                                  </p:stCondLst>
                                  <p:childTnLst>
                                    <p:animEffect transition="out" filter="fade">
                                      <p:cBhvr>
                                        <p:cTn id="37" dur="1000"/>
                                        <p:tgtEl>
                                          <p:spTgt spid="117"/>
                                        </p:tgtEl>
                                      </p:cBhvr>
                                    </p:animEffect>
                                    <p:set>
                                      <p:cBhvr>
                                        <p:cTn id="38" dur="1" fill="hold">
                                          <p:stCondLst>
                                            <p:cond delay="1000"/>
                                          </p:stCondLst>
                                        </p:cTn>
                                        <p:tgtEl>
                                          <p:spTgt spid="117"/>
                                        </p:tgtEl>
                                        <p:attrNameLst>
                                          <p:attrName>style.visibility</p:attrName>
                                        </p:attrNameLst>
                                      </p:cBhvr>
                                      <p:to>
                                        <p:strVal val="hidden"/>
                                      </p:to>
                                    </p:set>
                                  </p:childTnLst>
                                </p:cTn>
                              </p:par>
                              <p:par>
                                <p:cTn id="39" presetID="10" presetClass="entr" presetSubtype="0" fill="hold" nodeType="withEffect">
                                  <p:stCondLst>
                                    <p:cond delay="0"/>
                                  </p:stCondLst>
                                  <p:childTnLst>
                                    <p:set>
                                      <p:cBhvr>
                                        <p:cTn id="40" dur="1" fill="hold">
                                          <p:stCondLst>
                                            <p:cond delay="0"/>
                                          </p:stCondLst>
                                        </p:cTn>
                                        <p:tgtEl>
                                          <p:spTgt spid="121"/>
                                        </p:tgtEl>
                                        <p:attrNameLst>
                                          <p:attrName>style.visibility</p:attrName>
                                        </p:attrNameLst>
                                      </p:cBhvr>
                                      <p:to>
                                        <p:strVal val="visible"/>
                                      </p:to>
                                    </p:set>
                                    <p:animEffect transition="in" filter="fade">
                                      <p:cBhvr>
                                        <p:cTn id="41" dur="1000"/>
                                        <p:tgtEl>
                                          <p:spTgt spid="121"/>
                                        </p:tgtEl>
                                      </p:cBhvr>
                                    </p:animEffect>
                                  </p:childTnLst>
                                </p:cTn>
                              </p:par>
                              <p:par>
                                <p:cTn id="42" presetID="10" presetClass="entr" presetSubtype="0" fill="hold" nodeType="withEffect">
                                  <p:stCondLst>
                                    <p:cond delay="0"/>
                                  </p:stCondLst>
                                  <p:childTnLst>
                                    <p:set>
                                      <p:cBhvr>
                                        <p:cTn id="43" dur="1" fill="hold">
                                          <p:stCondLst>
                                            <p:cond delay="0"/>
                                          </p:stCondLst>
                                        </p:cTn>
                                        <p:tgtEl>
                                          <p:spTgt spid="122"/>
                                        </p:tgtEl>
                                        <p:attrNameLst>
                                          <p:attrName>style.visibility</p:attrName>
                                        </p:attrNameLst>
                                      </p:cBhvr>
                                      <p:to>
                                        <p:strVal val="visible"/>
                                      </p:to>
                                    </p:set>
                                    <p:animEffect transition="in" filter="fade">
                                      <p:cBhvr>
                                        <p:cTn id="44" dur="10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226078" y="2095050"/>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Thanks for listening!</a:t>
            </a:r>
            <a:endParaRPr sz="3000"/>
          </a:p>
        </p:txBody>
      </p:sp>
      <p:pic>
        <p:nvPicPr>
          <p:cNvPr id="128" name="Google Shape;128;p20" descr="Watch ANCHORMAN: THE LEGEND OF RON BURGUNDY | Prime Video"/>
          <p:cNvPicPr preferRelativeResize="0"/>
          <p:nvPr/>
        </p:nvPicPr>
        <p:blipFill rotWithShape="1">
          <a:blip r:embed="rId3">
            <a:alphaModFix/>
          </a:blip>
          <a:srcRect l="7740" r="3497"/>
          <a:stretch/>
        </p:blipFill>
        <p:spPr>
          <a:xfrm>
            <a:off x="2508075" y="0"/>
            <a:ext cx="6635925" cy="51435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1000"/>
                                        <p:tgtEl>
                                          <p:spTgt spid="127"/>
                                        </p:tgtEl>
                                      </p:cBhvr>
                                    </p:animEffect>
                                  </p:childTnLst>
                                </p:cTn>
                              </p:par>
                              <p:par>
                                <p:cTn id="8" presetID="2" presetClass="entr" presetSubtype="2" fill="hold" nodeType="withEffect">
                                  <p:stCondLst>
                                    <p:cond delay="0"/>
                                  </p:stCondLst>
                                  <p:childTnLst>
                                    <p:set>
                                      <p:cBhvr>
                                        <p:cTn id="9" dur="1" fill="hold">
                                          <p:stCondLst>
                                            <p:cond delay="0"/>
                                          </p:stCondLst>
                                        </p:cTn>
                                        <p:tgtEl>
                                          <p:spTgt spid="128"/>
                                        </p:tgtEl>
                                        <p:attrNameLst>
                                          <p:attrName>style.visibility</p:attrName>
                                        </p:attrNameLst>
                                      </p:cBhvr>
                                      <p:to>
                                        <p:strVal val="visible"/>
                                      </p:to>
                                    </p:set>
                                    <p:anim calcmode="lin" valueType="num">
                                      <p:cBhvr additive="base">
                                        <p:cTn id="10" dur="1000"/>
                                        <p:tgtEl>
                                          <p:spTgt spid="12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Any Questions?</a:t>
            </a:r>
            <a:endParaRPr/>
          </a:p>
        </p:txBody>
      </p:sp>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3"/>
                                        </p:tgtEl>
                                        <p:attrNameLst>
                                          <p:attrName>style.visibility</p:attrName>
                                        </p:attrNameLst>
                                      </p:cBhvr>
                                      <p:to>
                                        <p:strVal val="visible"/>
                                      </p:to>
                                    </p:set>
                                    <p:animEffect transition="in" filter="fade">
                                      <p:cBhvr>
                                        <p:cTn id="7" dur="10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878</Words>
  <Application>Microsoft Office PowerPoint</Application>
  <PresentationFormat>On-screen Show (16:9)</PresentationFormat>
  <Paragraphs>100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Roboto</vt:lpstr>
      <vt:lpstr>Material</vt:lpstr>
      <vt:lpstr>Cameras Used In Studio and On Location</vt:lpstr>
      <vt:lpstr>How Cameras work</vt:lpstr>
      <vt:lpstr>How Cameras work</vt:lpstr>
      <vt:lpstr>PowerPoint Presentation</vt:lpstr>
      <vt:lpstr>Studio Cameras</vt:lpstr>
      <vt:lpstr>Outside Broadcast Cameras</vt:lpstr>
      <vt:lpstr>Thanks for listening!</vt:lpstr>
      <vt:lpstr>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Cameras Used In Studio and On Location</dc:title>
  <dc:creator>Emily Serle</dc:creator>
  <cp:lastModifiedBy>Emily Serle</cp:lastModifiedBy>
  <cp:revision>1</cp:revision>
  <dcterms:modified xsi:type="dcterms:W3CDTF">2021-06-11T10:07:56Z</dcterms:modified>
</cp:coreProperties>
</file>