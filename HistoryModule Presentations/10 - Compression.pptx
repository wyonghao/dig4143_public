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85"/>
  </p:notesMasterIdLst>
  <p:handoutMasterIdLst>
    <p:handoutMasterId r:id="rId86"/>
  </p:handoutMasterIdLst>
  <p:sldIdLst>
    <p:sldId id="256" r:id="rId3"/>
    <p:sldId id="849" r:id="rId4"/>
    <p:sldId id="850" r:id="rId5"/>
    <p:sldId id="851" r:id="rId6"/>
    <p:sldId id="852" r:id="rId7"/>
    <p:sldId id="853" r:id="rId8"/>
    <p:sldId id="259" r:id="rId9"/>
    <p:sldId id="260" r:id="rId10"/>
    <p:sldId id="261" r:id="rId11"/>
    <p:sldId id="262" r:id="rId12"/>
    <p:sldId id="861" r:id="rId13"/>
    <p:sldId id="855" r:id="rId14"/>
    <p:sldId id="257" r:id="rId15"/>
    <p:sldId id="858" r:id="rId16"/>
    <p:sldId id="857" r:id="rId17"/>
    <p:sldId id="875" r:id="rId18"/>
    <p:sldId id="860" r:id="rId19"/>
    <p:sldId id="298" r:id="rId20"/>
    <p:sldId id="278" r:id="rId21"/>
    <p:sldId id="258" r:id="rId22"/>
    <p:sldId id="263" r:id="rId23"/>
    <p:sldId id="264" r:id="rId24"/>
    <p:sldId id="265" r:id="rId25"/>
    <p:sldId id="266" r:id="rId26"/>
    <p:sldId id="267" r:id="rId27"/>
    <p:sldId id="270" r:id="rId28"/>
    <p:sldId id="271" r:id="rId29"/>
    <p:sldId id="272" r:id="rId30"/>
    <p:sldId id="273" r:id="rId31"/>
    <p:sldId id="854" r:id="rId32"/>
    <p:sldId id="299" r:id="rId33"/>
    <p:sldId id="346" r:id="rId34"/>
    <p:sldId id="347"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62" r:id="rId50"/>
    <p:sldId id="876" r:id="rId51"/>
    <p:sldId id="877" r:id="rId52"/>
    <p:sldId id="878" r:id="rId53"/>
    <p:sldId id="879" r:id="rId54"/>
    <p:sldId id="322" r:id="rId55"/>
    <p:sldId id="880" r:id="rId56"/>
    <p:sldId id="881" r:id="rId57"/>
    <p:sldId id="835" r:id="rId58"/>
    <p:sldId id="329" r:id="rId59"/>
    <p:sldId id="330" r:id="rId60"/>
    <p:sldId id="331" r:id="rId61"/>
    <p:sldId id="332" r:id="rId62"/>
    <p:sldId id="333" r:id="rId63"/>
    <p:sldId id="334" r:id="rId64"/>
    <p:sldId id="335" r:id="rId65"/>
    <p:sldId id="336" r:id="rId66"/>
    <p:sldId id="337" r:id="rId67"/>
    <p:sldId id="338" r:id="rId68"/>
    <p:sldId id="339" r:id="rId69"/>
    <p:sldId id="340" r:id="rId70"/>
    <p:sldId id="341" r:id="rId71"/>
    <p:sldId id="342" r:id="rId72"/>
    <p:sldId id="343" r:id="rId73"/>
    <p:sldId id="344" r:id="rId74"/>
    <p:sldId id="345" r:id="rId75"/>
    <p:sldId id="297" r:id="rId76"/>
    <p:sldId id="314" r:id="rId77"/>
    <p:sldId id="315" r:id="rId78"/>
    <p:sldId id="316" r:id="rId79"/>
    <p:sldId id="317" r:id="rId80"/>
    <p:sldId id="318" r:id="rId81"/>
    <p:sldId id="319" r:id="rId82"/>
    <p:sldId id="320" r:id="rId83"/>
    <p:sldId id="281" r:id="rId84"/>
  </p:sldIdLst>
  <p:sldSz cx="9144000" cy="6858000" type="screen4x3"/>
  <p:notesSz cx="6797675" cy="9928225"/>
  <p:defaultTextStyle>
    <a:defPPr>
      <a:defRPr lang="en-GB"/>
    </a:defPPr>
    <a:lvl1pPr algn="l" rtl="0" eaLnBrk="0" fontAlgn="base" hangingPunct="0">
      <a:spcBef>
        <a:spcPct val="0"/>
      </a:spcBef>
      <a:spcAft>
        <a:spcPct val="0"/>
      </a:spcAft>
      <a:defRPr sz="1600" kern="1200">
        <a:solidFill>
          <a:schemeClr val="tx1"/>
        </a:solidFill>
        <a:latin typeface="Lucida Sans Unicode" pitchFamily="34" charset="0"/>
        <a:ea typeface="+mn-ea"/>
        <a:cs typeface="+mn-cs"/>
      </a:defRPr>
    </a:lvl1pPr>
    <a:lvl2pPr marL="457200" algn="l" rtl="0" eaLnBrk="0" fontAlgn="base" hangingPunct="0">
      <a:spcBef>
        <a:spcPct val="0"/>
      </a:spcBef>
      <a:spcAft>
        <a:spcPct val="0"/>
      </a:spcAft>
      <a:defRPr sz="1600" kern="1200">
        <a:solidFill>
          <a:schemeClr val="tx1"/>
        </a:solidFill>
        <a:latin typeface="Lucida Sans Unicode" pitchFamily="34" charset="0"/>
        <a:ea typeface="+mn-ea"/>
        <a:cs typeface="+mn-cs"/>
      </a:defRPr>
    </a:lvl2pPr>
    <a:lvl3pPr marL="914400" algn="l" rtl="0" eaLnBrk="0" fontAlgn="base" hangingPunct="0">
      <a:spcBef>
        <a:spcPct val="0"/>
      </a:spcBef>
      <a:spcAft>
        <a:spcPct val="0"/>
      </a:spcAft>
      <a:defRPr sz="1600" kern="1200">
        <a:solidFill>
          <a:schemeClr val="tx1"/>
        </a:solidFill>
        <a:latin typeface="Lucida Sans Unicode"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Lucida Sans Unicode"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Lucida Sans Unicode" pitchFamily="34" charset="0"/>
        <a:ea typeface="+mn-ea"/>
        <a:cs typeface="+mn-cs"/>
      </a:defRPr>
    </a:lvl5pPr>
    <a:lvl6pPr marL="2286000" algn="l" defTabSz="914400" rtl="0" eaLnBrk="1" latinLnBrk="0" hangingPunct="1">
      <a:defRPr sz="1600" kern="1200">
        <a:solidFill>
          <a:schemeClr val="tx1"/>
        </a:solidFill>
        <a:latin typeface="Lucida Sans Unicode" pitchFamily="34" charset="0"/>
        <a:ea typeface="+mn-ea"/>
        <a:cs typeface="+mn-cs"/>
      </a:defRPr>
    </a:lvl6pPr>
    <a:lvl7pPr marL="2743200" algn="l" defTabSz="914400" rtl="0" eaLnBrk="1" latinLnBrk="0" hangingPunct="1">
      <a:defRPr sz="1600" kern="1200">
        <a:solidFill>
          <a:schemeClr val="tx1"/>
        </a:solidFill>
        <a:latin typeface="Lucida Sans Unicode" pitchFamily="34" charset="0"/>
        <a:ea typeface="+mn-ea"/>
        <a:cs typeface="+mn-cs"/>
      </a:defRPr>
    </a:lvl7pPr>
    <a:lvl8pPr marL="3200400" algn="l" defTabSz="914400" rtl="0" eaLnBrk="1" latinLnBrk="0" hangingPunct="1">
      <a:defRPr sz="1600" kern="1200">
        <a:solidFill>
          <a:schemeClr val="tx1"/>
        </a:solidFill>
        <a:latin typeface="Lucida Sans Unicode" pitchFamily="34" charset="0"/>
        <a:ea typeface="+mn-ea"/>
        <a:cs typeface="+mn-cs"/>
      </a:defRPr>
    </a:lvl8pPr>
    <a:lvl9pPr marL="3657600" algn="l" defTabSz="914400" rtl="0" eaLnBrk="1" latinLnBrk="0" hangingPunct="1">
      <a:defRPr sz="1600" kern="1200">
        <a:solidFill>
          <a:schemeClr val="tx1"/>
        </a:solidFill>
        <a:latin typeface="Lucida Sans Unicode" pitchFamily="34" charset="0"/>
        <a:ea typeface="+mn-ea"/>
        <a:cs typeface="+mn-cs"/>
      </a:defRPr>
    </a:lvl9pPr>
  </p:defaultTextStyle>
  <p:extLst>
    <p:ext uri="{EFAFB233-063F-42B5-8137-9DF3F51BA10A}">
      <p15:sldGuideLst xmlns:p15="http://schemas.microsoft.com/office/powerpoint/2012/main">
        <p15:guide id="1" orient="horz" pos="232" userDrawn="1">
          <p15:clr>
            <a:srgbClr val="A4A3A4"/>
          </p15:clr>
        </p15:guide>
        <p15:guide id="2" pos="249">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66"/>
    <a:srgbClr val="800000"/>
    <a:srgbClr val="FFFFCC"/>
    <a:srgbClr val="CCECFF"/>
    <a:srgbClr val="99CCFF"/>
    <a:srgbClr val="663300"/>
    <a:srgbClr val="99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3EFF60-8D6A-47A4-A582-52F157813DD1}" v="5" dt="2021-06-01T09:45:39.8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110" d="100"/>
          <a:sy n="110" d="100"/>
        </p:scale>
        <p:origin x="108" y="294"/>
      </p:cViewPr>
      <p:guideLst>
        <p:guide orient="horz" pos="232"/>
        <p:guide pos="249"/>
      </p:guideLst>
    </p:cSldViewPr>
  </p:slideViewPr>
  <p:notesTextViewPr>
    <p:cViewPr>
      <p:scale>
        <a:sx n="100" d="100"/>
        <a:sy n="100" d="100"/>
      </p:scale>
      <p:origin x="0" y="0"/>
    </p:cViewPr>
  </p:notesTextViewPr>
  <p:sorterViewPr>
    <p:cViewPr>
      <p:scale>
        <a:sx n="150" d="100"/>
        <a:sy n="150" d="100"/>
      </p:scale>
      <p:origin x="0" y="-23490"/>
    </p:cViewPr>
  </p:sorterViewPr>
  <p:notesViewPr>
    <p:cSldViewPr snapToGrid="0">
      <p:cViewPr varScale="1">
        <p:scale>
          <a:sx n="65" d="100"/>
          <a:sy n="65" d="100"/>
        </p:scale>
        <p:origin x="-1092" y="-7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Foss" userId="09ac0925-c8bb-438c-a205-6311faa2bcaf" providerId="ADAL" clId="{5F8670D6-AC22-4634-9EB3-17AFEED90A94}"/>
    <pc:docChg chg="custSel addSld delSld modSld">
      <pc:chgData name="Jeremy Foss" userId="09ac0925-c8bb-438c-a205-6311faa2bcaf" providerId="ADAL" clId="{5F8670D6-AC22-4634-9EB3-17AFEED90A94}" dt="2019-05-21T07:54:16.641" v="107" actId="1076"/>
      <pc:docMkLst>
        <pc:docMk/>
      </pc:docMkLst>
      <pc:sldChg chg="modSp add">
        <pc:chgData name="Jeremy Foss" userId="09ac0925-c8bb-438c-a205-6311faa2bcaf" providerId="ADAL" clId="{5F8670D6-AC22-4634-9EB3-17AFEED90A94}" dt="2019-05-21T07:51:45.548" v="57" actId="2710"/>
        <pc:sldMkLst>
          <pc:docMk/>
          <pc:sldMk cId="809490093" sldId="257"/>
        </pc:sldMkLst>
        <pc:spChg chg="mod">
          <ac:chgData name="Jeremy Foss" userId="09ac0925-c8bb-438c-a205-6311faa2bcaf" providerId="ADAL" clId="{5F8670D6-AC22-4634-9EB3-17AFEED90A94}" dt="2019-05-21T07:51:41.571" v="56" actId="120"/>
          <ac:spMkLst>
            <pc:docMk/>
            <pc:sldMk cId="809490093" sldId="257"/>
            <ac:spMk id="2" creationId="{00000000-0000-0000-0000-000000000000}"/>
          </ac:spMkLst>
        </pc:spChg>
        <pc:spChg chg="mod">
          <ac:chgData name="Jeremy Foss" userId="09ac0925-c8bb-438c-a205-6311faa2bcaf" providerId="ADAL" clId="{5F8670D6-AC22-4634-9EB3-17AFEED90A94}" dt="2019-05-21T07:51:45.548" v="57" actId="2710"/>
          <ac:spMkLst>
            <pc:docMk/>
            <pc:sldMk cId="809490093" sldId="257"/>
            <ac:spMk id="3" creationId="{00000000-0000-0000-0000-000000000000}"/>
          </ac:spMkLst>
        </pc:spChg>
      </pc:sldChg>
      <pc:sldChg chg="modSp add">
        <pc:chgData name="Jeremy Foss" userId="09ac0925-c8bb-438c-a205-6311faa2bcaf" providerId="ADAL" clId="{5F8670D6-AC22-4634-9EB3-17AFEED90A94}" dt="2019-05-21T07:52:17.957" v="70" actId="1076"/>
        <pc:sldMkLst>
          <pc:docMk/>
          <pc:sldMk cId="3079333540" sldId="855"/>
        </pc:sldMkLst>
        <pc:spChg chg="mod">
          <ac:chgData name="Jeremy Foss" userId="09ac0925-c8bb-438c-a205-6311faa2bcaf" providerId="ADAL" clId="{5F8670D6-AC22-4634-9EB3-17AFEED90A94}" dt="2019-05-21T07:52:17.957" v="70" actId="1076"/>
          <ac:spMkLst>
            <pc:docMk/>
            <pc:sldMk cId="3079333540" sldId="855"/>
            <ac:spMk id="2" creationId="{00000000-0000-0000-0000-000000000000}"/>
          </ac:spMkLst>
        </pc:spChg>
        <pc:spChg chg="mod">
          <ac:chgData name="Jeremy Foss" userId="09ac0925-c8bb-438c-a205-6311faa2bcaf" providerId="ADAL" clId="{5F8670D6-AC22-4634-9EB3-17AFEED90A94}" dt="2019-05-21T07:52:06.451" v="64" actId="2710"/>
          <ac:spMkLst>
            <pc:docMk/>
            <pc:sldMk cId="3079333540" sldId="855"/>
            <ac:spMk id="3" creationId="{00000000-0000-0000-0000-000000000000}"/>
          </ac:spMkLst>
        </pc:spChg>
      </pc:sldChg>
      <pc:sldChg chg="modSp add">
        <pc:chgData name="Jeremy Foss" userId="09ac0925-c8bb-438c-a205-6311faa2bcaf" providerId="ADAL" clId="{5F8670D6-AC22-4634-9EB3-17AFEED90A94}" dt="2019-05-21T07:52:36.272" v="78" actId="2710"/>
        <pc:sldMkLst>
          <pc:docMk/>
          <pc:sldMk cId="1876992373" sldId="856"/>
        </pc:sldMkLst>
        <pc:spChg chg="mod">
          <ac:chgData name="Jeremy Foss" userId="09ac0925-c8bb-438c-a205-6311faa2bcaf" providerId="ADAL" clId="{5F8670D6-AC22-4634-9EB3-17AFEED90A94}" dt="2019-05-21T07:52:29.638" v="76" actId="113"/>
          <ac:spMkLst>
            <pc:docMk/>
            <pc:sldMk cId="1876992373" sldId="856"/>
            <ac:spMk id="19458" creationId="{00000000-0000-0000-0000-000000000000}"/>
          </ac:spMkLst>
        </pc:spChg>
        <pc:spChg chg="mod">
          <ac:chgData name="Jeremy Foss" userId="09ac0925-c8bb-438c-a205-6311faa2bcaf" providerId="ADAL" clId="{5F8670D6-AC22-4634-9EB3-17AFEED90A94}" dt="2019-05-21T07:52:36.272" v="78" actId="2710"/>
          <ac:spMkLst>
            <pc:docMk/>
            <pc:sldMk cId="1876992373" sldId="856"/>
            <ac:spMk id="19459" creationId="{00000000-0000-0000-0000-000000000000}"/>
          </ac:spMkLst>
        </pc:spChg>
      </pc:sldChg>
      <pc:sldChg chg="modSp add">
        <pc:chgData name="Jeremy Foss" userId="09ac0925-c8bb-438c-a205-6311faa2bcaf" providerId="ADAL" clId="{5F8670D6-AC22-4634-9EB3-17AFEED90A94}" dt="2019-05-21T07:53:02.707" v="84" actId="1076"/>
        <pc:sldMkLst>
          <pc:docMk/>
          <pc:sldMk cId="3485486991" sldId="857"/>
        </pc:sldMkLst>
        <pc:spChg chg="mod">
          <ac:chgData name="Jeremy Foss" userId="09ac0925-c8bb-438c-a205-6311faa2bcaf" providerId="ADAL" clId="{5F8670D6-AC22-4634-9EB3-17AFEED90A94}" dt="2019-05-21T07:53:02.707" v="84" actId="1076"/>
          <ac:spMkLst>
            <pc:docMk/>
            <pc:sldMk cId="3485486991" sldId="857"/>
            <ac:spMk id="20482" creationId="{00000000-0000-0000-0000-000000000000}"/>
          </ac:spMkLst>
        </pc:spChg>
        <pc:spChg chg="mod">
          <ac:chgData name="Jeremy Foss" userId="09ac0925-c8bb-438c-a205-6311faa2bcaf" providerId="ADAL" clId="{5F8670D6-AC22-4634-9EB3-17AFEED90A94}" dt="2019-05-21T07:52:59.210" v="83" actId="2710"/>
          <ac:spMkLst>
            <pc:docMk/>
            <pc:sldMk cId="3485486991" sldId="857"/>
            <ac:spMk id="20483" creationId="{00000000-0000-0000-0000-000000000000}"/>
          </ac:spMkLst>
        </pc:spChg>
      </pc:sldChg>
      <pc:sldChg chg="modSp add">
        <pc:chgData name="Jeremy Foss" userId="09ac0925-c8bb-438c-a205-6311faa2bcaf" providerId="ADAL" clId="{5F8670D6-AC22-4634-9EB3-17AFEED90A94}" dt="2019-05-21T07:53:25.201" v="90" actId="1076"/>
        <pc:sldMkLst>
          <pc:docMk/>
          <pc:sldMk cId="1017923442" sldId="858"/>
        </pc:sldMkLst>
        <pc:spChg chg="mod">
          <ac:chgData name="Jeremy Foss" userId="09ac0925-c8bb-438c-a205-6311faa2bcaf" providerId="ADAL" clId="{5F8670D6-AC22-4634-9EB3-17AFEED90A94}" dt="2019-05-21T07:53:14.717" v="88" actId="113"/>
          <ac:spMkLst>
            <pc:docMk/>
            <pc:sldMk cId="1017923442" sldId="858"/>
            <ac:spMk id="21506" creationId="{00000000-0000-0000-0000-000000000000}"/>
          </ac:spMkLst>
        </pc:spChg>
        <pc:spChg chg="mod">
          <ac:chgData name="Jeremy Foss" userId="09ac0925-c8bb-438c-a205-6311faa2bcaf" providerId="ADAL" clId="{5F8670D6-AC22-4634-9EB3-17AFEED90A94}" dt="2019-05-21T07:53:21.668" v="89" actId="1076"/>
          <ac:spMkLst>
            <pc:docMk/>
            <pc:sldMk cId="1017923442" sldId="858"/>
            <ac:spMk id="21514" creationId="{00000000-0000-0000-0000-000000000000}"/>
          </ac:spMkLst>
        </pc:spChg>
        <pc:spChg chg="mod">
          <ac:chgData name="Jeremy Foss" userId="09ac0925-c8bb-438c-a205-6311faa2bcaf" providerId="ADAL" clId="{5F8670D6-AC22-4634-9EB3-17AFEED90A94}" dt="2019-05-21T07:53:25.201" v="90" actId="1076"/>
          <ac:spMkLst>
            <pc:docMk/>
            <pc:sldMk cId="1017923442" sldId="858"/>
            <ac:spMk id="21521" creationId="{00000000-0000-0000-0000-000000000000}"/>
          </ac:spMkLst>
        </pc:spChg>
      </pc:sldChg>
      <pc:sldChg chg="modSp add">
        <pc:chgData name="Jeremy Foss" userId="09ac0925-c8bb-438c-a205-6311faa2bcaf" providerId="ADAL" clId="{5F8670D6-AC22-4634-9EB3-17AFEED90A94}" dt="2019-05-21T07:53:44.870" v="98" actId="1076"/>
        <pc:sldMkLst>
          <pc:docMk/>
          <pc:sldMk cId="2034413039" sldId="859"/>
        </pc:sldMkLst>
        <pc:spChg chg="mod">
          <ac:chgData name="Jeremy Foss" userId="09ac0925-c8bb-438c-a205-6311faa2bcaf" providerId="ADAL" clId="{5F8670D6-AC22-4634-9EB3-17AFEED90A94}" dt="2019-05-21T07:53:44.870" v="98" actId="1076"/>
          <ac:spMkLst>
            <pc:docMk/>
            <pc:sldMk cId="2034413039" sldId="859"/>
            <ac:spMk id="22530" creationId="{00000000-0000-0000-0000-000000000000}"/>
          </ac:spMkLst>
        </pc:spChg>
        <pc:spChg chg="mod">
          <ac:chgData name="Jeremy Foss" userId="09ac0925-c8bb-438c-a205-6311faa2bcaf" providerId="ADAL" clId="{5F8670D6-AC22-4634-9EB3-17AFEED90A94}" dt="2019-05-21T07:53:41.190" v="97" actId="2710"/>
          <ac:spMkLst>
            <pc:docMk/>
            <pc:sldMk cId="2034413039" sldId="859"/>
            <ac:spMk id="22531" creationId="{00000000-0000-0000-0000-000000000000}"/>
          </ac:spMkLst>
        </pc:spChg>
      </pc:sldChg>
      <pc:sldChg chg="modSp add">
        <pc:chgData name="Jeremy Foss" userId="09ac0925-c8bb-438c-a205-6311faa2bcaf" providerId="ADAL" clId="{5F8670D6-AC22-4634-9EB3-17AFEED90A94}" dt="2019-05-21T07:54:16.641" v="107" actId="1076"/>
        <pc:sldMkLst>
          <pc:docMk/>
          <pc:sldMk cId="1591662906" sldId="860"/>
        </pc:sldMkLst>
        <pc:spChg chg="mod">
          <ac:chgData name="Jeremy Foss" userId="09ac0925-c8bb-438c-a205-6311faa2bcaf" providerId="ADAL" clId="{5F8670D6-AC22-4634-9EB3-17AFEED90A94}" dt="2019-05-21T07:54:08.058" v="106" actId="1076"/>
          <ac:spMkLst>
            <pc:docMk/>
            <pc:sldMk cId="1591662906" sldId="860"/>
            <ac:spMk id="23554" creationId="{00000000-0000-0000-0000-000000000000}"/>
          </ac:spMkLst>
        </pc:spChg>
        <pc:spChg chg="mod">
          <ac:chgData name="Jeremy Foss" userId="09ac0925-c8bb-438c-a205-6311faa2bcaf" providerId="ADAL" clId="{5F8670D6-AC22-4634-9EB3-17AFEED90A94}" dt="2019-05-21T07:54:16.641" v="107" actId="1076"/>
          <ac:spMkLst>
            <pc:docMk/>
            <pc:sldMk cId="1591662906" sldId="860"/>
            <ac:spMk id="23555" creationId="{00000000-0000-0000-0000-000000000000}"/>
          </ac:spMkLst>
        </pc:spChg>
      </pc:sldChg>
      <pc:sldChg chg="addSp modSp add">
        <pc:chgData name="Jeremy Foss" userId="09ac0925-c8bb-438c-a205-6311faa2bcaf" providerId="ADAL" clId="{5F8670D6-AC22-4634-9EB3-17AFEED90A94}" dt="2019-05-21T07:51:10.830" v="51" actId="403"/>
        <pc:sldMkLst>
          <pc:docMk/>
          <pc:sldMk cId="604315270" sldId="861"/>
        </pc:sldMkLst>
        <pc:spChg chg="add mod">
          <ac:chgData name="Jeremy Foss" userId="09ac0925-c8bb-438c-a205-6311faa2bcaf" providerId="ADAL" clId="{5F8670D6-AC22-4634-9EB3-17AFEED90A94}" dt="2019-05-21T07:51:10.830" v="51" actId="403"/>
          <ac:spMkLst>
            <pc:docMk/>
            <pc:sldMk cId="604315270" sldId="861"/>
            <ac:spMk id="2" creationId="{9C749B27-D106-407C-9307-75D0DF71D60E}"/>
          </ac:spMkLst>
        </pc:spChg>
      </pc:sldChg>
      <pc:sldChg chg="add del">
        <pc:chgData name="Jeremy Foss" userId="09ac0925-c8bb-438c-a205-6311faa2bcaf" providerId="ADAL" clId="{5F8670D6-AC22-4634-9EB3-17AFEED90A94}" dt="2019-05-21T07:50:39.102" v="5" actId="2696"/>
        <pc:sldMkLst>
          <pc:docMk/>
          <pc:sldMk cId="2729654353" sldId="862"/>
        </pc:sldMkLst>
      </pc:sldChg>
    </pc:docChg>
  </pc:docChgLst>
  <pc:docChgLst>
    <pc:chgData name="Jeremy Foss" userId="09ac0925-c8bb-438c-a205-6311faa2bcaf" providerId="ADAL" clId="{523EFF60-8D6A-47A4-A582-52F157813DD1}"/>
    <pc:docChg chg="undo custSel addSld delSld modSld sldOrd">
      <pc:chgData name="Jeremy Foss" userId="09ac0925-c8bb-438c-a205-6311faa2bcaf" providerId="ADAL" clId="{523EFF60-8D6A-47A4-A582-52F157813DD1}" dt="2021-06-08T10:32:04.052" v="41" actId="6549"/>
      <pc:docMkLst>
        <pc:docMk/>
      </pc:docMkLst>
      <pc:sldChg chg="modSp mod">
        <pc:chgData name="Jeremy Foss" userId="09ac0925-c8bb-438c-a205-6311faa2bcaf" providerId="ADAL" clId="{523EFF60-8D6A-47A4-A582-52F157813DD1}" dt="2021-06-08T10:32:04.052" v="41" actId="6549"/>
        <pc:sldMkLst>
          <pc:docMk/>
          <pc:sldMk cId="0" sldId="256"/>
        </pc:sldMkLst>
        <pc:spChg chg="mod">
          <ac:chgData name="Jeremy Foss" userId="09ac0925-c8bb-438c-a205-6311faa2bcaf" providerId="ADAL" clId="{523EFF60-8D6A-47A4-A582-52F157813DD1}" dt="2021-06-08T10:32:04.052" v="41" actId="6549"/>
          <ac:spMkLst>
            <pc:docMk/>
            <pc:sldMk cId="0" sldId="256"/>
            <ac:spMk id="6147" creationId="{00000000-0000-0000-0000-000000000000}"/>
          </ac:spMkLst>
        </pc:spChg>
      </pc:sldChg>
      <pc:sldChg chg="add del">
        <pc:chgData name="Jeremy Foss" userId="09ac0925-c8bb-438c-a205-6311faa2bcaf" providerId="ADAL" clId="{523EFF60-8D6A-47A4-A582-52F157813DD1}" dt="2021-06-01T09:43:30.399" v="16"/>
        <pc:sldMkLst>
          <pc:docMk/>
          <pc:sldMk cId="3862987414" sldId="280"/>
        </pc:sldMkLst>
      </pc:sldChg>
      <pc:sldChg chg="ord">
        <pc:chgData name="Jeremy Foss" userId="09ac0925-c8bb-438c-a205-6311faa2bcaf" providerId="ADAL" clId="{523EFF60-8D6A-47A4-A582-52F157813DD1}" dt="2021-06-01T09:43:40.406" v="17" actId="20578"/>
        <pc:sldMkLst>
          <pc:docMk/>
          <pc:sldMk cId="3799692948" sldId="298"/>
        </pc:sldMkLst>
      </pc:sldChg>
      <pc:sldChg chg="add del">
        <pc:chgData name="Jeremy Foss" userId="09ac0925-c8bb-438c-a205-6311faa2bcaf" providerId="ADAL" clId="{523EFF60-8D6A-47A4-A582-52F157813DD1}" dt="2021-06-01T09:45:39.805" v="19"/>
        <pc:sldMkLst>
          <pc:docMk/>
          <pc:sldMk cId="3749228451" sldId="322"/>
        </pc:sldMkLst>
      </pc:sldChg>
      <pc:sldChg chg="add del">
        <pc:chgData name="Jeremy Foss" userId="09ac0925-c8bb-438c-a205-6311faa2bcaf" providerId="ADAL" clId="{523EFF60-8D6A-47A4-A582-52F157813DD1}" dt="2021-06-01T09:43:30.399" v="16"/>
        <pc:sldMkLst>
          <pc:docMk/>
          <pc:sldMk cId="3882387155" sldId="324"/>
        </pc:sldMkLst>
      </pc:sldChg>
      <pc:sldChg chg="add del">
        <pc:chgData name="Jeremy Foss" userId="09ac0925-c8bb-438c-a205-6311faa2bcaf" providerId="ADAL" clId="{523EFF60-8D6A-47A4-A582-52F157813DD1}" dt="2021-06-01T09:44:41.604" v="18"/>
        <pc:sldMkLst>
          <pc:docMk/>
          <pc:sldMk cId="0" sldId="362"/>
        </pc:sldMkLst>
      </pc:sldChg>
      <pc:sldChg chg="add del">
        <pc:chgData name="Jeremy Foss" userId="09ac0925-c8bb-438c-a205-6311faa2bcaf" providerId="ADAL" clId="{523EFF60-8D6A-47A4-A582-52F157813DD1}" dt="2021-06-01T09:45:49.326" v="20" actId="47"/>
        <pc:sldMkLst>
          <pc:docMk/>
          <pc:sldMk cId="878200210" sldId="768"/>
        </pc:sldMkLst>
      </pc:sldChg>
      <pc:sldChg chg="add del">
        <pc:chgData name="Jeremy Foss" userId="09ac0925-c8bb-438c-a205-6311faa2bcaf" providerId="ADAL" clId="{523EFF60-8D6A-47A4-A582-52F157813DD1}" dt="2021-06-01T09:43:30.399" v="16"/>
        <pc:sldMkLst>
          <pc:docMk/>
          <pc:sldMk cId="4221183784" sldId="820"/>
        </pc:sldMkLst>
      </pc:sldChg>
      <pc:sldChg chg="modSp add del mod">
        <pc:chgData name="Jeremy Foss" userId="09ac0925-c8bb-438c-a205-6311faa2bcaf" providerId="ADAL" clId="{523EFF60-8D6A-47A4-A582-52F157813DD1}" dt="2021-06-01T09:46:08.878" v="40" actId="20577"/>
        <pc:sldMkLst>
          <pc:docMk/>
          <pc:sldMk cId="2829411462" sldId="835"/>
        </pc:sldMkLst>
        <pc:spChg chg="mod">
          <ac:chgData name="Jeremy Foss" userId="09ac0925-c8bb-438c-a205-6311faa2bcaf" providerId="ADAL" clId="{523EFF60-8D6A-47A4-A582-52F157813DD1}" dt="2021-06-01T09:46:08.878" v="40" actId="20577"/>
          <ac:spMkLst>
            <pc:docMk/>
            <pc:sldMk cId="2829411462" sldId="835"/>
            <ac:spMk id="3" creationId="{00000000-0000-0000-0000-000000000000}"/>
          </ac:spMkLst>
        </pc:spChg>
      </pc:sldChg>
      <pc:sldChg chg="ord">
        <pc:chgData name="Jeremy Foss" userId="09ac0925-c8bb-438c-a205-6311faa2bcaf" providerId="ADAL" clId="{523EFF60-8D6A-47A4-A582-52F157813DD1}" dt="2021-06-01T09:16:12.550" v="1"/>
        <pc:sldMkLst>
          <pc:docMk/>
          <pc:sldMk cId="3079333540" sldId="855"/>
        </pc:sldMkLst>
      </pc:sldChg>
      <pc:sldChg chg="del">
        <pc:chgData name="Jeremy Foss" userId="09ac0925-c8bb-438c-a205-6311faa2bcaf" providerId="ADAL" clId="{523EFF60-8D6A-47A4-A582-52F157813DD1}" dt="2021-06-01T09:16:36.746" v="3" actId="47"/>
        <pc:sldMkLst>
          <pc:docMk/>
          <pc:sldMk cId="1876992373" sldId="856"/>
        </pc:sldMkLst>
      </pc:sldChg>
      <pc:sldChg chg="ord">
        <pc:chgData name="Jeremy Foss" userId="09ac0925-c8bb-438c-a205-6311faa2bcaf" providerId="ADAL" clId="{523EFF60-8D6A-47A4-A582-52F157813DD1}" dt="2021-06-01T09:17:59.435" v="10"/>
        <pc:sldMkLst>
          <pc:docMk/>
          <pc:sldMk cId="3485486991" sldId="857"/>
        </pc:sldMkLst>
      </pc:sldChg>
      <pc:sldChg chg="ord">
        <pc:chgData name="Jeremy Foss" userId="09ac0925-c8bb-438c-a205-6311faa2bcaf" providerId="ADAL" clId="{523EFF60-8D6A-47A4-A582-52F157813DD1}" dt="2021-06-01T09:16:51.204" v="5"/>
        <pc:sldMkLst>
          <pc:docMk/>
          <pc:sldMk cId="1017923442" sldId="858"/>
        </pc:sldMkLst>
      </pc:sldChg>
      <pc:sldChg chg="add del">
        <pc:chgData name="Jeremy Foss" userId="09ac0925-c8bb-438c-a205-6311faa2bcaf" providerId="ADAL" clId="{523EFF60-8D6A-47A4-A582-52F157813DD1}" dt="2021-06-01T09:17:51.818" v="8" actId="47"/>
        <pc:sldMkLst>
          <pc:docMk/>
          <pc:sldMk cId="2034413039" sldId="859"/>
        </pc:sldMkLst>
      </pc:sldChg>
      <pc:sldChg chg="add">
        <pc:chgData name="Jeremy Foss" userId="09ac0925-c8bb-438c-a205-6311faa2bcaf" providerId="ADAL" clId="{523EFF60-8D6A-47A4-A582-52F157813DD1}" dt="2021-06-01T09:16:31.519" v="2"/>
        <pc:sldMkLst>
          <pc:docMk/>
          <pc:sldMk cId="2173200016" sldId="875"/>
        </pc:sldMkLst>
      </pc:sldChg>
      <pc:sldChg chg="add del">
        <pc:chgData name="Jeremy Foss" userId="09ac0925-c8bb-438c-a205-6311faa2bcaf" providerId="ADAL" clId="{523EFF60-8D6A-47A4-A582-52F157813DD1}" dt="2021-06-01T09:44:41.604" v="18"/>
        <pc:sldMkLst>
          <pc:docMk/>
          <pc:sldMk cId="0" sldId="876"/>
        </pc:sldMkLst>
      </pc:sldChg>
      <pc:sldChg chg="add del">
        <pc:chgData name="Jeremy Foss" userId="09ac0925-c8bb-438c-a205-6311faa2bcaf" providerId="ADAL" clId="{523EFF60-8D6A-47A4-A582-52F157813DD1}" dt="2021-06-01T09:44:41.604" v="18"/>
        <pc:sldMkLst>
          <pc:docMk/>
          <pc:sldMk cId="353809221" sldId="877"/>
        </pc:sldMkLst>
      </pc:sldChg>
      <pc:sldChg chg="add del">
        <pc:chgData name="Jeremy Foss" userId="09ac0925-c8bb-438c-a205-6311faa2bcaf" providerId="ADAL" clId="{523EFF60-8D6A-47A4-A582-52F157813DD1}" dt="2021-06-01T09:44:41.604" v="18"/>
        <pc:sldMkLst>
          <pc:docMk/>
          <pc:sldMk cId="0" sldId="878"/>
        </pc:sldMkLst>
      </pc:sldChg>
      <pc:sldChg chg="add del">
        <pc:chgData name="Jeremy Foss" userId="09ac0925-c8bb-438c-a205-6311faa2bcaf" providerId="ADAL" clId="{523EFF60-8D6A-47A4-A582-52F157813DD1}" dt="2021-06-01T09:43:30.399" v="16"/>
        <pc:sldMkLst>
          <pc:docMk/>
          <pc:sldMk cId="265809614" sldId="879"/>
        </pc:sldMkLst>
      </pc:sldChg>
      <pc:sldChg chg="add">
        <pc:chgData name="Jeremy Foss" userId="09ac0925-c8bb-438c-a205-6311faa2bcaf" providerId="ADAL" clId="{523EFF60-8D6A-47A4-A582-52F157813DD1}" dt="2021-06-01T09:45:39.805" v="19"/>
        <pc:sldMkLst>
          <pc:docMk/>
          <pc:sldMk cId="1310796929" sldId="879"/>
        </pc:sldMkLst>
      </pc:sldChg>
      <pc:sldChg chg="add">
        <pc:chgData name="Jeremy Foss" userId="09ac0925-c8bb-438c-a205-6311faa2bcaf" providerId="ADAL" clId="{523EFF60-8D6A-47A4-A582-52F157813DD1}" dt="2021-06-01T09:45:39.805" v="19"/>
        <pc:sldMkLst>
          <pc:docMk/>
          <pc:sldMk cId="489779574" sldId="880"/>
        </pc:sldMkLst>
      </pc:sldChg>
      <pc:sldChg chg="add del">
        <pc:chgData name="Jeremy Foss" userId="09ac0925-c8bb-438c-a205-6311faa2bcaf" providerId="ADAL" clId="{523EFF60-8D6A-47A4-A582-52F157813DD1}" dt="2021-06-01T09:43:30.399" v="16"/>
        <pc:sldMkLst>
          <pc:docMk/>
          <pc:sldMk cId="3348752414" sldId="880"/>
        </pc:sldMkLst>
      </pc:sldChg>
      <pc:sldChg chg="add del">
        <pc:chgData name="Jeremy Foss" userId="09ac0925-c8bb-438c-a205-6311faa2bcaf" providerId="ADAL" clId="{523EFF60-8D6A-47A4-A582-52F157813DD1}" dt="2021-06-01T09:43:30.399" v="16"/>
        <pc:sldMkLst>
          <pc:docMk/>
          <pc:sldMk cId="1427039125" sldId="881"/>
        </pc:sldMkLst>
      </pc:sldChg>
      <pc:sldChg chg="add">
        <pc:chgData name="Jeremy Foss" userId="09ac0925-c8bb-438c-a205-6311faa2bcaf" providerId="ADAL" clId="{523EFF60-8D6A-47A4-A582-52F157813DD1}" dt="2021-06-01T09:45:39.805" v="19"/>
        <pc:sldMkLst>
          <pc:docMk/>
          <pc:sldMk cId="2107674196" sldId="881"/>
        </pc:sldMkLst>
      </pc:sldChg>
      <pc:sldChg chg="add del">
        <pc:chgData name="Jeremy Foss" userId="09ac0925-c8bb-438c-a205-6311faa2bcaf" providerId="ADAL" clId="{523EFF60-8D6A-47A4-A582-52F157813DD1}" dt="2021-06-01T09:43:30.399" v="16"/>
        <pc:sldMkLst>
          <pc:docMk/>
          <pc:sldMk cId="1834959780" sldId="882"/>
        </pc:sldMkLst>
      </pc:sldChg>
      <pc:sldChg chg="add del">
        <pc:chgData name="Jeremy Foss" userId="09ac0925-c8bb-438c-a205-6311faa2bcaf" providerId="ADAL" clId="{523EFF60-8D6A-47A4-A582-52F157813DD1}" dt="2021-06-01T09:43:30.399" v="16"/>
        <pc:sldMkLst>
          <pc:docMk/>
          <pc:sldMk cId="3168263008" sldId="883"/>
        </pc:sldMkLst>
      </pc:sldChg>
      <pc:sldChg chg="add del">
        <pc:chgData name="Jeremy Foss" userId="09ac0925-c8bb-438c-a205-6311faa2bcaf" providerId="ADAL" clId="{523EFF60-8D6A-47A4-A582-52F157813DD1}" dt="2021-06-01T09:43:30.399" v="16"/>
        <pc:sldMkLst>
          <pc:docMk/>
          <pc:sldMk cId="3242992259" sldId="884"/>
        </pc:sldMkLst>
      </pc:sldChg>
      <pc:sldChg chg="add del">
        <pc:chgData name="Jeremy Foss" userId="09ac0925-c8bb-438c-a205-6311faa2bcaf" providerId="ADAL" clId="{523EFF60-8D6A-47A4-A582-52F157813DD1}" dt="2021-06-01T09:43:30.399" v="16"/>
        <pc:sldMkLst>
          <pc:docMk/>
          <pc:sldMk cId="2891835432" sldId="885"/>
        </pc:sldMkLst>
      </pc:sldChg>
      <pc:sldChg chg="add del">
        <pc:chgData name="Jeremy Foss" userId="09ac0925-c8bb-438c-a205-6311faa2bcaf" providerId="ADAL" clId="{523EFF60-8D6A-47A4-A582-52F157813DD1}" dt="2021-06-01T09:43:30.399" v="16"/>
        <pc:sldMkLst>
          <pc:docMk/>
          <pc:sldMk cId="1310796929" sldId="886"/>
        </pc:sldMkLst>
      </pc:sldChg>
      <pc:sldChg chg="add del">
        <pc:chgData name="Jeremy Foss" userId="09ac0925-c8bb-438c-a205-6311faa2bcaf" providerId="ADAL" clId="{523EFF60-8D6A-47A4-A582-52F157813DD1}" dt="2021-06-01T09:43:30.399" v="16"/>
        <pc:sldMkLst>
          <pc:docMk/>
          <pc:sldMk cId="489779574" sldId="887"/>
        </pc:sldMkLst>
      </pc:sldChg>
      <pc:sldChg chg="add del">
        <pc:chgData name="Jeremy Foss" userId="09ac0925-c8bb-438c-a205-6311faa2bcaf" providerId="ADAL" clId="{523EFF60-8D6A-47A4-A582-52F157813DD1}" dt="2021-06-01T09:43:30.399" v="16"/>
        <pc:sldMkLst>
          <pc:docMk/>
          <pc:sldMk cId="2107674196" sldId="888"/>
        </pc:sldMkLst>
      </pc:sldChg>
      <pc:sldMasterChg chg="addSldLayout delSldLayout">
        <pc:chgData name="Jeremy Foss" userId="09ac0925-c8bb-438c-a205-6311faa2bcaf" providerId="ADAL" clId="{523EFF60-8D6A-47A4-A582-52F157813DD1}" dt="2021-06-01T09:43:27.962" v="15" actId="47"/>
        <pc:sldMasterMkLst>
          <pc:docMk/>
          <pc:sldMasterMk cId="0" sldId="2147483648"/>
        </pc:sldMasterMkLst>
        <pc:sldLayoutChg chg="add del">
          <pc:chgData name="Jeremy Foss" userId="09ac0925-c8bb-438c-a205-6311faa2bcaf" providerId="ADAL" clId="{523EFF60-8D6A-47A4-A582-52F157813DD1}" dt="2021-06-01T09:43:27.962" v="15" actId="47"/>
          <pc:sldLayoutMkLst>
            <pc:docMk/>
            <pc:sldMasterMk cId="0" sldId="2147483648"/>
            <pc:sldLayoutMk cId="2685651133" sldId="214748367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9635" name="Rectangle 3"/>
          <p:cNvSpPr>
            <a:spLocks noGrp="1" noChangeArrowheads="1"/>
          </p:cNvSpPr>
          <p:nvPr>
            <p:ph type="dt" sz="quarter"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5FCF019E-1375-4D69-90D7-05D62CCBD7E5}" type="datetimeFigureOut">
              <a:rPr lang="en-US"/>
              <a:pPr>
                <a:defRPr/>
              </a:pPr>
              <a:t>6/8/2021</a:t>
            </a:fld>
            <a:endParaRPr lang="en-US"/>
          </a:p>
        </p:txBody>
      </p:sp>
      <p:sp>
        <p:nvSpPr>
          <p:cNvPr id="69636" name="Rectangle 4"/>
          <p:cNvSpPr>
            <a:spLocks noGrp="1" noChangeArrowheads="1"/>
          </p:cNvSpPr>
          <p:nvPr>
            <p:ph type="ftr" sz="quarter" idx="2"/>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9637" name="Rectangle 5"/>
          <p:cNvSpPr>
            <a:spLocks noGrp="1" noChangeArrowheads="1"/>
          </p:cNvSpPr>
          <p:nvPr>
            <p:ph type="sldNum" sz="quarter" idx="3"/>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0E66841-25FA-4912-8AB9-E1C40B086689}" type="slidenum">
              <a:rPr lang="en-US"/>
              <a:pPr>
                <a:defRPr/>
              </a:pPr>
              <a:t>‹#›</a:t>
            </a:fld>
            <a:endParaRPr lang="en-US"/>
          </a:p>
        </p:txBody>
      </p:sp>
    </p:spTree>
    <p:extLst>
      <p:ext uri="{BB962C8B-B14F-4D97-AF65-F5344CB8AC3E}">
        <p14:creationId xmlns:p14="http://schemas.microsoft.com/office/powerpoint/2010/main" val="19070822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3" name="Rectangle 3"/>
          <p:cNvSpPr>
            <a:spLocks noGrp="1" noChangeArrowheads="1"/>
          </p:cNvSpPr>
          <p:nvPr>
            <p:ph type="dt" idx="1"/>
          </p:nvPr>
        </p:nvSpPr>
        <p:spPr bwMode="auto">
          <a:xfrm>
            <a:off x="3852016"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096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06357" y="4715907"/>
            <a:ext cx="4984962"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9431814"/>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7" name="Rectangle 7"/>
          <p:cNvSpPr>
            <a:spLocks noGrp="1" noChangeArrowheads="1"/>
          </p:cNvSpPr>
          <p:nvPr>
            <p:ph type="sldNum" sz="quarter" idx="5"/>
          </p:nvPr>
        </p:nvSpPr>
        <p:spPr bwMode="auto">
          <a:xfrm>
            <a:off x="3852016" y="9431814"/>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FA0F4D4-A3A6-48C1-B1F1-4280E9CA502D}" type="slidenum">
              <a:rPr lang="en-GB"/>
              <a:pPr>
                <a:defRPr/>
              </a:pPr>
              <a:t>‹#›</a:t>
            </a:fld>
            <a:endParaRPr lang="en-GB"/>
          </a:p>
        </p:txBody>
      </p:sp>
    </p:spTree>
    <p:extLst>
      <p:ext uri="{BB962C8B-B14F-4D97-AF65-F5344CB8AC3E}">
        <p14:creationId xmlns:p14="http://schemas.microsoft.com/office/powerpoint/2010/main" val="3911817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Lucida Sans Unicode"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Lucida Sans Unicode"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532FAAA-12F3-4BC2-A6AB-5F2151B69C26}" type="slidenum">
              <a:rPr lang="en-GB" smtClean="0"/>
              <a:pPr/>
              <a:t>1</a:t>
            </a:fld>
            <a:endParaRPr lang="en-GB"/>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62786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590B2BC-7EFC-4CAF-B0C7-B7C952B197EC}" type="slidenum">
              <a:rPr lang="en-GB" smtClean="0"/>
              <a:pPr/>
              <a:t>7</a:t>
            </a:fld>
            <a:endParaRPr lang="en-GB"/>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539576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8CB2EEE8-8BD7-4AFC-A266-119B46C76177}" type="slidenum">
              <a:rPr lang="en-GB" smtClean="0"/>
              <a:pPr/>
              <a:t>8</a:t>
            </a:fld>
            <a:endParaRPr lang="en-GB"/>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833263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8D2A5628-E94A-4504-AE73-AEA95151C117}" type="slidenum">
              <a:rPr lang="en-GB" smtClean="0"/>
              <a:pPr/>
              <a:t>9</a:t>
            </a:fld>
            <a:endParaRPr lang="en-GB"/>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89385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C4C237B-3DC5-451A-8751-56BE81F2401D}" type="slidenum">
              <a:rPr lang="en-GB" smtClean="0"/>
              <a:pPr/>
              <a:t>10</a:t>
            </a:fld>
            <a:endParaRPr lang="en-GB"/>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67772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106B23C4-A6DD-421E-85D9-96D34AC2A454}" type="slidenum">
              <a:rPr lang="en-GB" smtClean="0"/>
              <a:pPr/>
              <a:t>20</a:t>
            </a:fld>
            <a:endParaRPr lang="en-GB"/>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609178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C6323A17-1241-4CA7-8490-4FA758D1B585}" type="slidenum">
              <a:rPr lang="en-GB" smtClean="0"/>
              <a:pPr/>
              <a:t>25</a:t>
            </a:fld>
            <a:endParaRPr lang="en-GB"/>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69395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31E14489-E23B-4EF0-8DC3-BBC91907E028}" type="slidenum">
              <a:rPr lang="en-GB" smtClean="0"/>
              <a:pPr/>
              <a:t>26</a:t>
            </a:fld>
            <a:endParaRPr lang="en-GB"/>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91764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6E2C1D1-B210-48E7-A962-1BD80133DA7D}" type="slidenum">
              <a:rPr lang="en-GB" smtClean="0"/>
              <a:pPr/>
              <a:t>28</a:t>
            </a:fld>
            <a:endParaRPr lang="en-GB"/>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53987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p>
            <a:fld id="{D41D2EDC-42CC-4B11-B6D2-C27BE5E5A2BA}" type="slidenum">
              <a:rPr lang="en-GB" smtClean="0"/>
              <a:pPr/>
              <a:t>57</a:t>
            </a:fld>
            <a:endParaRPr lang="en-GB"/>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95460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40238B-0726-474E-B974-88CBDE8C0C5C}"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F416D4-773B-48A2-8963-76985CBDF909}"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CFCD34A-EAD6-4A2B-83C8-A41A7A6369FA}"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5F2F47E-1FAC-4F39-B0C2-6BDEE08DC123}"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AFF5F79-2FCA-49FD-9F46-111551135F83}"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755E2EB-362B-43CF-A641-DDD132543682}"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56EFDB2-3113-4A37-B07C-D041BB6DF69A}"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CA4BBE9-EDC8-4FC6-8E4A-9557837D9BA7}"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77EF81-6B76-4DEC-98FB-1D4D8A5EABA8}"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FB5DE6-76C7-4CED-BEDC-D3B153CD2797}"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9464A3C-67AD-4626-8890-8B49EF23BCC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rot="10800000" flipH="1">
            <a:off x="0" y="0"/>
            <a:ext cx="9144000" cy="457200"/>
          </a:xfrm>
          <a:prstGeom prst="rect">
            <a:avLst/>
          </a:prstGeom>
          <a:gradFill rotWithShape="0">
            <a:gsLst>
              <a:gs pos="0">
                <a:srgbClr val="CCCCFF"/>
              </a:gs>
              <a:gs pos="100000">
                <a:srgbClr val="FFFFFF"/>
              </a:gs>
            </a:gsLst>
            <a:lin ang="5400000" scaled="1"/>
          </a:gradFill>
          <a:ln w="9525">
            <a:noFill/>
            <a:miter lim="800000"/>
            <a:headEnd/>
            <a:tailEnd/>
          </a:ln>
        </p:spPr>
        <p:txBody>
          <a:bodyPr wrap="none" anchor="ctr"/>
          <a:lstStyle/>
          <a:p>
            <a:pPr>
              <a:defRPr/>
            </a:pPr>
            <a:endParaRPr lang="en-US"/>
          </a:p>
        </p:txBody>
      </p:sp>
      <p:sp>
        <p:nvSpPr>
          <p:cNvPr id="1027" name="Rectangle 8"/>
          <p:cNvSpPr>
            <a:spLocks noChangeArrowheads="1"/>
          </p:cNvSpPr>
          <p:nvPr/>
        </p:nvSpPr>
        <p:spPr bwMode="auto">
          <a:xfrm>
            <a:off x="0" y="6400800"/>
            <a:ext cx="9144000" cy="457200"/>
          </a:xfrm>
          <a:prstGeom prst="rect">
            <a:avLst/>
          </a:prstGeom>
          <a:gradFill rotWithShape="0">
            <a:gsLst>
              <a:gs pos="0">
                <a:srgbClr val="FFFFFF"/>
              </a:gs>
              <a:gs pos="100000">
                <a:srgbClr val="CCCCFF"/>
              </a:gs>
            </a:gsLst>
            <a:lin ang="5400000" scaled="1"/>
          </a:gradFill>
          <a:ln w="9525">
            <a:noFill/>
            <a:miter lim="800000"/>
            <a:headEnd/>
            <a:tailEnd/>
          </a:ln>
        </p:spPr>
        <p:txBody>
          <a:bodyPr wrap="none" anchor="ctr"/>
          <a:lstStyle/>
          <a:p>
            <a:pPr>
              <a:defRPr/>
            </a:pPr>
            <a:endParaRPr lang="en-US"/>
          </a:p>
        </p:txBody>
      </p:sp>
      <p:sp>
        <p:nvSpPr>
          <p:cNvPr id="1028" name="Rectangle 9"/>
          <p:cNvSpPr>
            <a:spLocks noChangeArrowheads="1"/>
          </p:cNvSpPr>
          <p:nvPr/>
        </p:nvSpPr>
        <p:spPr bwMode="auto">
          <a:xfrm>
            <a:off x="2387600" y="6591300"/>
            <a:ext cx="4392613" cy="266700"/>
          </a:xfrm>
          <a:prstGeom prst="rect">
            <a:avLst/>
          </a:prstGeom>
          <a:noFill/>
          <a:ln w="9525">
            <a:noFill/>
            <a:miter lim="800000"/>
            <a:headEnd/>
            <a:tailEnd/>
          </a:ln>
        </p:spPr>
        <p:txBody>
          <a:bodyPr/>
          <a:lstStyle/>
          <a:p>
            <a:pPr algn="ctr">
              <a:defRPr/>
            </a:pPr>
            <a:r>
              <a:rPr lang="en-GB" sz="1200" dirty="0">
                <a:solidFill>
                  <a:srgbClr val="000066"/>
                </a:solidFill>
              </a:rPr>
              <a:t> Broadcast Technology UG1</a:t>
            </a:r>
          </a:p>
        </p:txBody>
      </p:sp>
      <p:sp>
        <p:nvSpPr>
          <p:cNvPr id="1029" name="Rectangle 10"/>
          <p:cNvSpPr>
            <a:spLocks noChangeArrowheads="1"/>
          </p:cNvSpPr>
          <p:nvPr/>
        </p:nvSpPr>
        <p:spPr bwMode="auto">
          <a:xfrm>
            <a:off x="0" y="6591300"/>
            <a:ext cx="2895600" cy="266700"/>
          </a:xfrm>
          <a:prstGeom prst="rect">
            <a:avLst/>
          </a:prstGeom>
          <a:noFill/>
          <a:ln w="9525">
            <a:noFill/>
            <a:miter lim="800000"/>
            <a:headEnd/>
            <a:tailEnd/>
          </a:ln>
        </p:spPr>
        <p:txBody>
          <a:bodyPr/>
          <a:lstStyle/>
          <a:p>
            <a:pPr>
              <a:defRPr/>
            </a:pPr>
            <a:r>
              <a:rPr lang="en-GB" sz="1200">
                <a:solidFill>
                  <a:srgbClr val="000066"/>
                </a:solidFill>
              </a:rPr>
              <a:t>jeremy.foss@bcu.ac.uk</a:t>
            </a:r>
          </a:p>
        </p:txBody>
      </p:sp>
      <p:sp>
        <p:nvSpPr>
          <p:cNvPr id="1030" name="Rectangle 11"/>
          <p:cNvSpPr>
            <a:spLocks noChangeArrowheads="1"/>
          </p:cNvSpPr>
          <p:nvPr/>
        </p:nvSpPr>
        <p:spPr bwMode="auto">
          <a:xfrm>
            <a:off x="5868988" y="6591300"/>
            <a:ext cx="2895600" cy="266700"/>
          </a:xfrm>
          <a:prstGeom prst="rect">
            <a:avLst/>
          </a:prstGeom>
          <a:noFill/>
          <a:ln w="9525">
            <a:noFill/>
            <a:miter lim="800000"/>
            <a:headEnd/>
            <a:tailEnd/>
          </a:ln>
        </p:spPr>
        <p:txBody>
          <a:bodyPr/>
          <a:lstStyle/>
          <a:p>
            <a:pPr algn="r">
              <a:defRPr/>
            </a:pPr>
            <a:endParaRPr lang="en-US" sz="1200">
              <a:solidFill>
                <a:srgbClr val="000066"/>
              </a:solidFill>
            </a:endParaRPr>
          </a:p>
        </p:txBody>
      </p:sp>
      <p:sp>
        <p:nvSpPr>
          <p:cNvPr id="1031" name="Rectangle 13"/>
          <p:cNvSpPr>
            <a:spLocks noChangeArrowheads="1"/>
          </p:cNvSpPr>
          <p:nvPr/>
        </p:nvSpPr>
        <p:spPr bwMode="auto">
          <a:xfrm>
            <a:off x="0" y="0"/>
            <a:ext cx="3492500" cy="304800"/>
          </a:xfrm>
          <a:prstGeom prst="rect">
            <a:avLst/>
          </a:prstGeom>
          <a:noFill/>
          <a:ln w="9525">
            <a:noFill/>
            <a:miter lim="800000"/>
            <a:headEnd/>
            <a:tailEnd/>
          </a:ln>
        </p:spPr>
        <p:txBody>
          <a:bodyPr/>
          <a:lstStyle/>
          <a:p>
            <a:pPr>
              <a:defRPr/>
            </a:pPr>
            <a:endParaRPr lang="en-GB" sz="1200" b="1">
              <a:solidFill>
                <a:srgbClr val="000066"/>
              </a:solidFill>
            </a:endParaRPr>
          </a:p>
          <a:p>
            <a:pPr>
              <a:defRPr/>
            </a:pPr>
            <a:endParaRPr lang="en-GB" sz="1200">
              <a:solidFill>
                <a:srgbClr val="000066"/>
              </a:solidFill>
            </a:endParaRPr>
          </a:p>
        </p:txBody>
      </p:sp>
      <p:sp>
        <p:nvSpPr>
          <p:cNvPr id="1032" name="Rectangle 15"/>
          <p:cNvSpPr>
            <a:spLocks noChangeArrowheads="1"/>
          </p:cNvSpPr>
          <p:nvPr userDrawn="1"/>
        </p:nvSpPr>
        <p:spPr bwMode="auto">
          <a:xfrm>
            <a:off x="6248400" y="6591300"/>
            <a:ext cx="2895600" cy="266700"/>
          </a:xfrm>
          <a:prstGeom prst="rect">
            <a:avLst/>
          </a:prstGeom>
          <a:noFill/>
          <a:ln w="9525">
            <a:noFill/>
            <a:miter lim="800000"/>
            <a:headEnd/>
            <a:tailEnd/>
          </a:ln>
        </p:spPr>
        <p:txBody>
          <a:bodyPr/>
          <a:lstStyle/>
          <a:p>
            <a:pPr algn="r">
              <a:defRPr/>
            </a:pPr>
            <a:r>
              <a:rPr lang="en-GB" sz="1200">
                <a:solidFill>
                  <a:srgbClr val="000066"/>
                </a:solidFill>
              </a:rPr>
              <a:t>Jerry Foss, CEng, MIET</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Lucida Sans Unicode" pitchFamily="34" charset="0"/>
        </a:defRPr>
      </a:lvl2pPr>
      <a:lvl3pPr algn="ctr" rtl="0" eaLnBrk="0" fontAlgn="base" hangingPunct="0">
        <a:spcBef>
          <a:spcPct val="0"/>
        </a:spcBef>
        <a:spcAft>
          <a:spcPct val="0"/>
        </a:spcAft>
        <a:defRPr sz="4400">
          <a:solidFill>
            <a:schemeClr val="tx2"/>
          </a:solidFill>
          <a:latin typeface="Lucida Sans Unicode" pitchFamily="34" charset="0"/>
        </a:defRPr>
      </a:lvl3pPr>
      <a:lvl4pPr algn="ctr" rtl="0" eaLnBrk="0" fontAlgn="base" hangingPunct="0">
        <a:spcBef>
          <a:spcPct val="0"/>
        </a:spcBef>
        <a:spcAft>
          <a:spcPct val="0"/>
        </a:spcAft>
        <a:defRPr sz="4400">
          <a:solidFill>
            <a:schemeClr val="tx2"/>
          </a:solidFill>
          <a:latin typeface="Lucida Sans Unicode" pitchFamily="34" charset="0"/>
        </a:defRPr>
      </a:lvl4pPr>
      <a:lvl5pPr algn="ctr" rtl="0" eaLnBrk="0" fontAlgn="base" hangingPunct="0">
        <a:spcBef>
          <a:spcPct val="0"/>
        </a:spcBef>
        <a:spcAft>
          <a:spcPct val="0"/>
        </a:spcAft>
        <a:defRPr sz="4400">
          <a:solidFill>
            <a:schemeClr val="tx2"/>
          </a:solidFill>
          <a:latin typeface="Lucida Sans Unicode" pitchFamily="34" charset="0"/>
        </a:defRPr>
      </a:lvl5pPr>
      <a:lvl6pPr marL="457200" algn="ctr" rtl="0" eaLnBrk="0" fontAlgn="base" hangingPunct="0">
        <a:spcBef>
          <a:spcPct val="0"/>
        </a:spcBef>
        <a:spcAft>
          <a:spcPct val="0"/>
        </a:spcAft>
        <a:defRPr sz="4400">
          <a:solidFill>
            <a:schemeClr val="tx2"/>
          </a:solidFill>
          <a:latin typeface="Lucida Sans Unicode" pitchFamily="34" charset="0"/>
        </a:defRPr>
      </a:lvl6pPr>
      <a:lvl7pPr marL="914400" algn="ctr" rtl="0" eaLnBrk="0" fontAlgn="base" hangingPunct="0">
        <a:spcBef>
          <a:spcPct val="0"/>
        </a:spcBef>
        <a:spcAft>
          <a:spcPct val="0"/>
        </a:spcAft>
        <a:defRPr sz="4400">
          <a:solidFill>
            <a:schemeClr val="tx2"/>
          </a:solidFill>
          <a:latin typeface="Lucida Sans Unicode" pitchFamily="34" charset="0"/>
        </a:defRPr>
      </a:lvl7pPr>
      <a:lvl8pPr marL="1371600" algn="ctr" rtl="0" eaLnBrk="0" fontAlgn="base" hangingPunct="0">
        <a:spcBef>
          <a:spcPct val="0"/>
        </a:spcBef>
        <a:spcAft>
          <a:spcPct val="0"/>
        </a:spcAft>
        <a:defRPr sz="4400">
          <a:solidFill>
            <a:schemeClr val="tx2"/>
          </a:solidFill>
          <a:latin typeface="Lucida Sans Unicode" pitchFamily="34" charset="0"/>
        </a:defRPr>
      </a:lvl8pPr>
      <a:lvl9pPr marL="1828800" algn="ctr" rtl="0" eaLnBrk="0" fontAlgn="base" hangingPunct="0">
        <a:spcBef>
          <a:spcPct val="0"/>
        </a:spcBef>
        <a:spcAft>
          <a:spcPct val="0"/>
        </a:spcAft>
        <a:defRPr sz="4400">
          <a:solidFill>
            <a:schemeClr val="tx2"/>
          </a:solidFill>
          <a:latin typeface="Lucida Sans Unicode"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28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628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628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16144C6-4CBB-464E-8B86-D02262D719D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www.dvb.org/standards/factsheets"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www.cs.ucl.ac.uk/teaching/GZ05/08-h261.pdf" TargetMode="External"/><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42.wmf"/><Relationship Id="rId4" Type="http://schemas.openxmlformats.org/officeDocument/2006/relationships/oleObject" Target="../embeddings/oleObject3.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46.wmf"/><Relationship Id="rId4" Type="http://schemas.openxmlformats.org/officeDocument/2006/relationships/oleObject" Target="../embeddings/oleObject6.bin"/></Relationships>
</file>

<file path=ppt/slides/_rels/slide73.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48.gi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8"/>
          <p:cNvSpPr>
            <a:spLocks noChangeArrowheads="1"/>
          </p:cNvSpPr>
          <p:nvPr/>
        </p:nvSpPr>
        <p:spPr bwMode="auto">
          <a:xfrm>
            <a:off x="0" y="1809750"/>
            <a:ext cx="9144000" cy="3262313"/>
          </a:xfrm>
          <a:prstGeom prst="rect">
            <a:avLst/>
          </a:prstGeom>
          <a:gradFill rotWithShape="0">
            <a:gsLst>
              <a:gs pos="0">
                <a:schemeClr val="bg1"/>
              </a:gs>
              <a:gs pos="100000">
                <a:srgbClr val="FFCC99"/>
              </a:gs>
            </a:gsLst>
            <a:lin ang="0" scaled="1"/>
          </a:gradFill>
          <a:ln w="9525">
            <a:noFill/>
            <a:miter lim="800000"/>
            <a:headEnd/>
            <a:tailEnd/>
          </a:ln>
        </p:spPr>
        <p:txBody>
          <a:bodyPr wrap="none" anchor="ctr"/>
          <a:lstStyle/>
          <a:p>
            <a:pPr algn="ctr"/>
            <a:endParaRPr lang="en-US" sz="2400"/>
          </a:p>
        </p:txBody>
      </p:sp>
      <p:sp>
        <p:nvSpPr>
          <p:cNvPr id="6147" name="Text Box 9"/>
          <p:cNvSpPr txBox="1">
            <a:spLocks noChangeArrowheads="1"/>
          </p:cNvSpPr>
          <p:nvPr/>
        </p:nvSpPr>
        <p:spPr bwMode="auto">
          <a:xfrm>
            <a:off x="612775" y="2058988"/>
            <a:ext cx="8561388" cy="2554545"/>
          </a:xfrm>
          <a:prstGeom prst="rect">
            <a:avLst/>
          </a:prstGeom>
          <a:noFill/>
          <a:ln w="9525">
            <a:noFill/>
            <a:miter lim="800000"/>
            <a:headEnd/>
            <a:tailEnd/>
          </a:ln>
        </p:spPr>
        <p:txBody>
          <a:bodyPr>
            <a:spAutoFit/>
          </a:bodyPr>
          <a:lstStyle/>
          <a:p>
            <a:r>
              <a:rPr lang="en-GB" sz="2400" dirty="0"/>
              <a:t>Broadcast Technology UG1</a:t>
            </a:r>
          </a:p>
          <a:p>
            <a:endParaRPr lang="en-GB" sz="2800" b="1" dirty="0"/>
          </a:p>
          <a:p>
            <a:r>
              <a:rPr lang="en-GB" sz="3200"/>
              <a:t>DVB</a:t>
            </a:r>
            <a:r>
              <a:rPr lang="en-GB" sz="3200" dirty="0"/>
              <a:t>, Compression</a:t>
            </a:r>
          </a:p>
          <a:p>
            <a:endParaRPr lang="en-GB" sz="3200" dirty="0"/>
          </a:p>
          <a:p>
            <a:r>
              <a:rPr lang="en-GB" sz="2800" dirty="0"/>
              <a:t>Jerry Foss</a:t>
            </a:r>
          </a:p>
          <a:p>
            <a:r>
              <a:rPr lang="en-GB" dirty="0"/>
              <a:t>jeremy.foss@bcu.ac.uk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288" y="2663915"/>
            <a:ext cx="6862401" cy="1569660"/>
          </a:xfrm>
          <a:prstGeom prst="rect">
            <a:avLst/>
          </a:prstGeom>
        </p:spPr>
        <p:txBody>
          <a:bodyPr wrap="square">
            <a:spAutoFit/>
          </a:bodyPr>
          <a:lstStyle/>
          <a:p>
            <a:r>
              <a:rPr lang="en-GB" sz="9600" b="1" dirty="0">
                <a:latin typeface="Lucida Sans Unicode" pitchFamily="34" charset="0"/>
              </a:rPr>
              <a:t>DVB</a:t>
            </a:r>
          </a:p>
        </p:txBody>
      </p:sp>
    </p:spTree>
    <p:extLst>
      <p:ext uri="{BB962C8B-B14F-4D97-AF65-F5344CB8AC3E}">
        <p14:creationId xmlns:p14="http://schemas.microsoft.com/office/powerpoint/2010/main" val="1944301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381000" y="333375"/>
            <a:ext cx="507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algn="ctr"/>
            <a:r>
              <a:rPr lang="en-GB" sz="2400" b="1" dirty="0"/>
              <a:t>DVB - Digital Video Broadcasting</a:t>
            </a:r>
            <a:endParaRPr lang="en-GB" sz="2400" dirty="0"/>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700" y="831548"/>
            <a:ext cx="2755017" cy="222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6" name="Text Box 4"/>
          <p:cNvSpPr txBox="1">
            <a:spLocks noChangeArrowheads="1"/>
          </p:cNvSpPr>
          <p:nvPr/>
        </p:nvSpPr>
        <p:spPr bwMode="auto">
          <a:xfrm>
            <a:off x="4887035" y="849487"/>
            <a:ext cx="4041494" cy="5186035"/>
          </a:xfrm>
          <a:prstGeom prst="rect">
            <a:avLst/>
          </a:prstGeom>
          <a:solidFill>
            <a:schemeClr val="bg1">
              <a:alpha val="7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180975" indent="-180975">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marL="898525" indent="-898525"/>
            <a:r>
              <a:rPr lang="en-GB" b="1" dirty="0"/>
              <a:t>Standards</a:t>
            </a:r>
          </a:p>
          <a:p>
            <a:pPr marL="182563" indent="-182563"/>
            <a:r>
              <a:rPr lang="en-GB" sz="1400" dirty="0"/>
              <a:t>Satellite 		DVB-S, DVB-S2, SH</a:t>
            </a:r>
          </a:p>
          <a:p>
            <a:pPr marL="182563" indent="-182563"/>
            <a:r>
              <a:rPr lang="en-GB" sz="1400" dirty="0"/>
              <a:t>Cable 		DVB-C, DVB-C2</a:t>
            </a:r>
          </a:p>
          <a:p>
            <a:pPr marL="182563" indent="-182563"/>
            <a:r>
              <a:rPr lang="en-GB" sz="1400" dirty="0"/>
              <a:t>DTT		DVB-T, DVB-T2 </a:t>
            </a:r>
          </a:p>
          <a:p>
            <a:pPr marL="182563" indent="-182563"/>
            <a:r>
              <a:rPr lang="en-GB" sz="1400" dirty="0"/>
              <a:t>DTT for handhelds 	DVB-H</a:t>
            </a:r>
            <a:r>
              <a:rPr lang="en-GB" sz="1400"/>
              <a:t>, DVB-H2</a:t>
            </a:r>
          </a:p>
          <a:p>
            <a:pPr marL="182563" indent="-182563"/>
            <a:r>
              <a:rPr lang="en-GB" sz="1400"/>
              <a:t>IPTV		DVB-IPTV</a:t>
            </a:r>
          </a:p>
          <a:p>
            <a:pPr marL="182563" indent="-182563"/>
            <a:r>
              <a:rPr lang="en-GB" sz="1400"/>
              <a:t>DASH		DVB-DASH</a:t>
            </a:r>
            <a:endParaRPr lang="en-GB" sz="1400" dirty="0"/>
          </a:p>
          <a:p>
            <a:pPr marL="898525" indent="-898525"/>
            <a:endParaRPr lang="en-GB" sz="1100" dirty="0"/>
          </a:p>
          <a:p>
            <a:pPr marL="898525" indent="-898525"/>
            <a:r>
              <a:rPr lang="en-GB" sz="1000" dirty="0"/>
              <a:t>DVB-3DTV - Frame Compatible Plano-Stereoscopic 3DTV</a:t>
            </a:r>
          </a:p>
          <a:p>
            <a:pPr marL="898525" indent="-898525"/>
            <a:r>
              <a:rPr lang="en-GB" sz="1000" dirty="0"/>
              <a:t>DVB-C2 - 2nd Generation Cable Transmission</a:t>
            </a:r>
          </a:p>
          <a:p>
            <a:pPr marL="898525" indent="-898525"/>
            <a:r>
              <a:rPr lang="en-GB" sz="1000" dirty="0"/>
              <a:t>DVB-CID - Carrier Identification for Satellite Transmission</a:t>
            </a:r>
          </a:p>
          <a:p>
            <a:pPr marL="898525" indent="-898525"/>
            <a:r>
              <a:rPr lang="en-GB" sz="1000" dirty="0"/>
              <a:t>DVB-CPCM - Content Protection and Copy Management</a:t>
            </a:r>
          </a:p>
          <a:p>
            <a:pPr marL="898525" indent="-898525"/>
            <a:r>
              <a:rPr lang="en-GB" sz="1000" dirty="0"/>
              <a:t>DVB-FF - DVB File Format</a:t>
            </a:r>
          </a:p>
          <a:p>
            <a:pPr marL="898525" indent="-898525"/>
            <a:r>
              <a:rPr lang="en-GB" sz="1000" dirty="0"/>
              <a:t>DVB-GEM - Globally Executable MHP</a:t>
            </a:r>
          </a:p>
          <a:p>
            <a:pPr marL="898525" indent="-898525"/>
            <a:r>
              <a:rPr lang="en-GB" sz="1000" dirty="0"/>
              <a:t>DVB-GSE - Generic Stream Encapsulation</a:t>
            </a:r>
          </a:p>
          <a:p>
            <a:pPr marL="898525" indent="-898525"/>
            <a:r>
              <a:rPr lang="en-GB" sz="1000" dirty="0"/>
              <a:t>DVB-H - Broadcasting to Handheld Devices</a:t>
            </a:r>
          </a:p>
          <a:p>
            <a:pPr marL="898525" indent="-898525"/>
            <a:r>
              <a:rPr lang="en-GB" sz="1000" dirty="0"/>
              <a:t>DVB-IPDC - Internet Protocol </a:t>
            </a:r>
            <a:r>
              <a:rPr lang="en-GB" sz="1000" dirty="0" err="1"/>
              <a:t>Datacasting</a:t>
            </a:r>
            <a:endParaRPr lang="en-GB" sz="1000" dirty="0"/>
          </a:p>
          <a:p>
            <a:pPr marL="898525" indent="-898525"/>
            <a:r>
              <a:rPr lang="en-GB" sz="1000" dirty="0"/>
              <a:t>DVB-IPTV - Internet Protocol Television</a:t>
            </a:r>
          </a:p>
          <a:p>
            <a:pPr marL="898525" indent="-898525"/>
            <a:r>
              <a:rPr lang="en-GB" sz="1000" dirty="0"/>
              <a:t>DVB-MHP - Open Middleware for Interactive TV</a:t>
            </a:r>
          </a:p>
          <a:p>
            <a:pPr marL="898525" indent="-898525"/>
            <a:r>
              <a:rPr lang="en-GB" sz="1000" dirty="0"/>
              <a:t>DVB-PCF - Portable Content Format</a:t>
            </a:r>
          </a:p>
          <a:p>
            <a:pPr marL="898525" indent="-898525"/>
            <a:r>
              <a:rPr lang="en-GB" sz="1000" dirty="0"/>
              <a:t>DVB-RCS2 - Return Channel Satellite</a:t>
            </a:r>
          </a:p>
          <a:p>
            <a:pPr marL="898525" indent="-898525"/>
            <a:r>
              <a:rPr lang="en-GB" sz="1000" dirty="0"/>
              <a:t>DVB-RCT - Return Channel Terrestrial (03/2001)</a:t>
            </a:r>
          </a:p>
          <a:p>
            <a:pPr marL="898525" indent="-898525"/>
            <a:r>
              <a:rPr lang="en-GB" sz="1000" dirty="0"/>
              <a:t>DVB-S2 - 2nd Generation Satellite Broadcasting</a:t>
            </a:r>
          </a:p>
          <a:p>
            <a:pPr marL="898525" indent="-898525"/>
            <a:r>
              <a:rPr lang="en-GB" sz="1000" dirty="0"/>
              <a:t>DVB-SH - Satellite Services to Handheld Devices</a:t>
            </a:r>
          </a:p>
          <a:p>
            <a:pPr marL="898525" indent="-898525"/>
            <a:r>
              <a:rPr lang="en-GB" sz="1000" dirty="0"/>
              <a:t>DVB-T - Digital Terrestrial Television</a:t>
            </a:r>
          </a:p>
          <a:p>
            <a:pPr marL="898525" indent="-898525"/>
            <a:r>
              <a:rPr lang="en-GB" sz="1000" dirty="0"/>
              <a:t>DVB-T2 - 2nd Generation Terrestrial Broadcasting</a:t>
            </a:r>
          </a:p>
          <a:p>
            <a:pPr marL="898525" indent="-898525"/>
            <a:r>
              <a:rPr lang="en-GB" sz="1000" dirty="0"/>
              <a:t>DVB - Emergency Warning System</a:t>
            </a:r>
          </a:p>
          <a:p>
            <a:pPr marL="898525" indent="-898525"/>
            <a:r>
              <a:rPr lang="en-GB" sz="1000" dirty="0"/>
              <a:t>DVB Project - An Introduction</a:t>
            </a:r>
          </a:p>
          <a:p>
            <a:pPr marL="898525" indent="-898525"/>
            <a:r>
              <a:rPr lang="en-GB" sz="1000" dirty="0"/>
              <a:t>Hierarchical Modulation in DVB-T (03/2000)</a:t>
            </a:r>
          </a:p>
          <a:p>
            <a:pPr marL="898525" indent="-898525"/>
            <a:r>
              <a:rPr lang="en-GB" sz="1000" dirty="0"/>
              <a:t>plus many others (</a:t>
            </a:r>
            <a:r>
              <a:rPr lang="en-GB" sz="1000" dirty="0" err="1"/>
              <a:t>inc</a:t>
            </a:r>
            <a:r>
              <a:rPr lang="en-GB" sz="1000" dirty="0"/>
              <a:t> addenda, </a:t>
            </a:r>
            <a:r>
              <a:rPr lang="en-GB" sz="1000" dirty="0" err="1"/>
              <a:t>etc</a:t>
            </a:r>
            <a:r>
              <a:rPr lang="en-GB" sz="1000" dirty="0"/>
              <a:t>) …</a:t>
            </a:r>
          </a:p>
        </p:txBody>
      </p:sp>
      <p:sp>
        <p:nvSpPr>
          <p:cNvPr id="5" name="Rectangle 4"/>
          <p:cNvSpPr/>
          <p:nvPr/>
        </p:nvSpPr>
        <p:spPr>
          <a:xfrm>
            <a:off x="395288" y="3248980"/>
            <a:ext cx="4493336" cy="3046988"/>
          </a:xfrm>
          <a:prstGeom prst="rect">
            <a:avLst/>
          </a:prstGeom>
        </p:spPr>
        <p:txBody>
          <a:bodyPr wrap="square">
            <a:spAutoFit/>
          </a:bodyPr>
          <a:lstStyle/>
          <a:p>
            <a:pPr marL="182563" indent="-182563"/>
            <a:r>
              <a:rPr lang="en-GB" sz="1600" b="1" dirty="0"/>
              <a:t>Industry Organisation</a:t>
            </a:r>
          </a:p>
          <a:p>
            <a:pPr marL="182563" indent="-182563"/>
            <a:endParaRPr lang="en-GB" sz="1600" b="1" dirty="0"/>
          </a:p>
          <a:p>
            <a:pPr marL="182563" indent="-182563"/>
            <a:r>
              <a:rPr lang="en-GB" sz="1600" b="1" dirty="0"/>
              <a:t>Standardisation Process –</a:t>
            </a:r>
          </a:p>
          <a:p>
            <a:pPr marL="182563" indent="-182563"/>
            <a:r>
              <a:rPr lang="en-GB" sz="1600" dirty="0"/>
              <a:t>Joint Technical Committee (JTC) of: </a:t>
            </a:r>
          </a:p>
          <a:p>
            <a:pPr marL="182563" indent="-182563">
              <a:buFontTx/>
              <a:buChar char="•"/>
            </a:pPr>
            <a:r>
              <a:rPr lang="en-GB" sz="1600" dirty="0"/>
              <a:t>ETSI - European Telecommunications Standards Institute</a:t>
            </a:r>
          </a:p>
          <a:p>
            <a:pPr marL="182563" indent="-182563">
              <a:buFontTx/>
              <a:buChar char="•"/>
            </a:pPr>
            <a:r>
              <a:rPr lang="en-GB" sz="1600" dirty="0"/>
              <a:t>CENELEC - European Committee for </a:t>
            </a:r>
            <a:r>
              <a:rPr lang="en-GB" sz="1600" dirty="0" err="1"/>
              <a:t>Electrotechnical</a:t>
            </a:r>
            <a:r>
              <a:rPr lang="en-GB" sz="1600" dirty="0"/>
              <a:t> Standardization CENELEC </a:t>
            </a:r>
          </a:p>
          <a:p>
            <a:pPr marL="182563" indent="-182563">
              <a:buFontTx/>
              <a:buChar char="•"/>
            </a:pPr>
            <a:r>
              <a:rPr lang="en-GB" sz="1600" dirty="0"/>
              <a:t>EBU - European Broadcasting Union</a:t>
            </a:r>
          </a:p>
          <a:p>
            <a:pPr marL="182563" indent="-182563">
              <a:buFontTx/>
              <a:buChar char="•"/>
            </a:pPr>
            <a:endParaRPr lang="en-GB" sz="1600" dirty="0"/>
          </a:p>
          <a:p>
            <a:pPr marL="182563" indent="-182563">
              <a:buFontTx/>
              <a:buChar char="•"/>
            </a:pPr>
            <a:r>
              <a:rPr lang="en-GB" sz="1600" dirty="0"/>
              <a:t>Note standards refer to other standards and patents, e.g. MPEG</a:t>
            </a:r>
          </a:p>
        </p:txBody>
      </p:sp>
      <p:sp>
        <p:nvSpPr>
          <p:cNvPr id="6" name="Rectangle 5"/>
          <p:cNvSpPr/>
          <p:nvPr/>
        </p:nvSpPr>
        <p:spPr>
          <a:xfrm>
            <a:off x="5820382" y="6174305"/>
            <a:ext cx="3323205" cy="276999"/>
          </a:xfrm>
          <a:prstGeom prst="rect">
            <a:avLst/>
          </a:prstGeom>
          <a:solidFill>
            <a:srgbClr val="CCCCFF"/>
          </a:solidFill>
        </p:spPr>
        <p:txBody>
          <a:bodyPr wrap="square">
            <a:spAutoFit/>
          </a:bodyPr>
          <a:lstStyle/>
          <a:p>
            <a:pPr marL="898525" indent="-898525"/>
            <a:r>
              <a:rPr lang="en-GB" sz="1200" dirty="0">
                <a:hlinkClick r:id="rId3"/>
              </a:rPr>
              <a:t>http://www.dvb.org/standards/factsheets</a:t>
            </a:r>
            <a:endParaRPr lang="en-GB" sz="1200" dirty="0"/>
          </a:p>
        </p:txBody>
      </p:sp>
    </p:spTree>
    <p:extLst>
      <p:ext uri="{BB962C8B-B14F-4D97-AF65-F5344CB8AC3E}">
        <p14:creationId xmlns:p14="http://schemas.microsoft.com/office/powerpoint/2010/main" val="1470244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5" descr="Global Digital TV Deploymen"/>
          <p:cNvPicPr>
            <a:picLocks noChangeAspect="1" noChangeArrowheads="1"/>
          </p:cNvPicPr>
          <p:nvPr/>
        </p:nvPicPr>
        <p:blipFill>
          <a:blip r:embed="rId2" cstate="print">
            <a:extLst>
              <a:ext uri="{28A0092B-C50C-407E-A947-70E740481C1C}">
                <a14:useLocalDpi xmlns:a14="http://schemas.microsoft.com/office/drawing/2010/main" val="0"/>
              </a:ext>
            </a:extLst>
          </a:blip>
          <a:srcRect l="3252" t="4495" r="3493" b="4675"/>
          <a:stretch>
            <a:fillRect/>
          </a:stretch>
        </p:blipFill>
        <p:spPr bwMode="auto">
          <a:xfrm>
            <a:off x="2679700" y="3281363"/>
            <a:ext cx="6464300"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ext Box 5"/>
          <p:cNvSpPr txBox="1">
            <a:spLocks noChangeArrowheads="1"/>
          </p:cNvSpPr>
          <p:nvPr/>
        </p:nvSpPr>
        <p:spPr bwMode="auto">
          <a:xfrm>
            <a:off x="381000" y="333375"/>
            <a:ext cx="417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r>
              <a:rPr lang="en-GB" sz="2400" b="1" dirty="0"/>
              <a:t>Digital Terrestrial TV (DTT)</a:t>
            </a:r>
          </a:p>
        </p:txBody>
      </p:sp>
      <p:sp>
        <p:nvSpPr>
          <p:cNvPr id="4100" name="Text Box 6"/>
          <p:cNvSpPr txBox="1">
            <a:spLocks noChangeArrowheads="1"/>
          </p:cNvSpPr>
          <p:nvPr/>
        </p:nvSpPr>
        <p:spPr bwMode="auto">
          <a:xfrm>
            <a:off x="381000" y="3943350"/>
            <a:ext cx="3754438"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192088" indent="-192088">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a:lnSpc>
                <a:spcPct val="120000"/>
              </a:lnSpc>
            </a:pPr>
            <a:r>
              <a:rPr lang="en-GB" b="1"/>
              <a:t>Advanced Television Systems Committee - ATSC-8VSB</a:t>
            </a:r>
          </a:p>
          <a:p>
            <a:pPr>
              <a:lnSpc>
                <a:spcPct val="120000"/>
              </a:lnSpc>
              <a:buFontTx/>
              <a:buChar char="•"/>
            </a:pPr>
            <a:r>
              <a:rPr lang="en-GB"/>
              <a:t>Modulation: 8VSB: 8-level Vestigial Sideband </a:t>
            </a:r>
          </a:p>
          <a:p>
            <a:pPr>
              <a:lnSpc>
                <a:spcPct val="120000"/>
              </a:lnSpc>
              <a:buFontTx/>
              <a:buChar char="•"/>
            </a:pPr>
            <a:r>
              <a:rPr lang="en-GB"/>
              <a:t>American Continent</a:t>
            </a:r>
          </a:p>
          <a:p>
            <a:pPr>
              <a:lnSpc>
                <a:spcPct val="120000"/>
              </a:lnSpc>
              <a:buFontTx/>
              <a:buChar char="•"/>
            </a:pPr>
            <a:r>
              <a:rPr lang="en-GB"/>
              <a:t>MPEG2-TS</a:t>
            </a:r>
          </a:p>
        </p:txBody>
      </p:sp>
      <p:sp>
        <p:nvSpPr>
          <p:cNvPr id="4101" name="Text Box 6"/>
          <p:cNvSpPr txBox="1">
            <a:spLocks noChangeArrowheads="1"/>
          </p:cNvSpPr>
          <p:nvPr/>
        </p:nvSpPr>
        <p:spPr bwMode="auto">
          <a:xfrm>
            <a:off x="381000" y="857250"/>
            <a:ext cx="81153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192088" indent="-192088">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pPr>
              <a:lnSpc>
                <a:spcPct val="120000"/>
              </a:lnSpc>
            </a:pPr>
            <a:r>
              <a:rPr lang="en-GB" b="1" dirty="0"/>
              <a:t>Digital Video Broadcast, Terrestrial Television - DVB-T</a:t>
            </a:r>
            <a:endParaRPr lang="en-GB" dirty="0"/>
          </a:p>
          <a:p>
            <a:pPr>
              <a:lnSpc>
                <a:spcPct val="120000"/>
              </a:lnSpc>
              <a:buFontTx/>
              <a:buChar char="•"/>
            </a:pPr>
            <a:r>
              <a:rPr lang="en-GB" dirty="0"/>
              <a:t>Europe; also DVB-S for Satellite, DVB-C for Cable; DVB-H for handhelds</a:t>
            </a:r>
          </a:p>
          <a:p>
            <a:pPr>
              <a:lnSpc>
                <a:spcPct val="120000"/>
              </a:lnSpc>
              <a:buFontTx/>
              <a:buChar char="•"/>
            </a:pPr>
            <a:r>
              <a:rPr lang="en-GB" dirty="0"/>
              <a:t>MPEG2 format; also </a:t>
            </a:r>
          </a:p>
          <a:p>
            <a:pPr>
              <a:lnSpc>
                <a:spcPct val="120000"/>
              </a:lnSpc>
            </a:pPr>
            <a:endParaRPr lang="en-GB" dirty="0"/>
          </a:p>
          <a:p>
            <a:pPr>
              <a:lnSpc>
                <a:spcPct val="120000"/>
              </a:lnSpc>
            </a:pPr>
            <a:r>
              <a:rPr lang="en-GB" b="1" dirty="0"/>
              <a:t>Integrated Services Digital Broadcasting, Television - ISDB-T</a:t>
            </a:r>
            <a:endParaRPr lang="en-GB" dirty="0"/>
          </a:p>
          <a:p>
            <a:pPr>
              <a:lnSpc>
                <a:spcPct val="120000"/>
              </a:lnSpc>
              <a:buFontTx/>
              <a:buChar char="•"/>
            </a:pPr>
            <a:r>
              <a:rPr lang="en-GB" dirty="0"/>
              <a:t>Japan;  also ISDB-S for Satellite, ISDB-C for </a:t>
            </a:r>
            <a:r>
              <a:rPr lang="en-GB" dirty="0" err="1"/>
              <a:t>CableTV</a:t>
            </a:r>
            <a:endParaRPr lang="en-GB" dirty="0"/>
          </a:p>
          <a:p>
            <a:pPr>
              <a:lnSpc>
                <a:spcPct val="120000"/>
              </a:lnSpc>
              <a:buFontTx/>
              <a:buChar char="•"/>
            </a:pPr>
            <a:r>
              <a:rPr lang="en-GB" dirty="0"/>
              <a:t>MPEG2 format</a:t>
            </a:r>
          </a:p>
          <a:p>
            <a:pPr>
              <a:lnSpc>
                <a:spcPct val="120000"/>
              </a:lnSpc>
              <a:buFontTx/>
              <a:buChar char="•"/>
            </a:pPr>
            <a:r>
              <a:rPr lang="en-GB" dirty="0"/>
              <a:t>Modulation: PSK, COFDM/PSK/QAM	</a:t>
            </a:r>
          </a:p>
          <a:p>
            <a:pPr>
              <a:lnSpc>
                <a:spcPct val="120000"/>
              </a:lnSpc>
            </a:pPr>
            <a:endParaRPr lang="en-GB" dirty="0"/>
          </a:p>
        </p:txBody>
      </p:sp>
    </p:spTree>
    <p:extLst>
      <p:ext uri="{BB962C8B-B14F-4D97-AF65-F5344CB8AC3E}">
        <p14:creationId xmlns:p14="http://schemas.microsoft.com/office/powerpoint/2010/main" val="1713156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381000" y="331143"/>
            <a:ext cx="25955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r>
              <a:rPr lang="en-GB" sz="2400" b="1" dirty="0"/>
              <a:t>DVB Specifies …</a:t>
            </a:r>
          </a:p>
        </p:txBody>
      </p:sp>
      <p:sp>
        <p:nvSpPr>
          <p:cNvPr id="4" name="TextBox 3"/>
          <p:cNvSpPr txBox="1"/>
          <p:nvPr/>
        </p:nvSpPr>
        <p:spPr>
          <a:xfrm>
            <a:off x="395288" y="953725"/>
            <a:ext cx="7669087" cy="5078313"/>
          </a:xfrm>
          <a:prstGeom prst="rect">
            <a:avLst/>
          </a:prstGeom>
          <a:noFill/>
        </p:spPr>
        <p:txBody>
          <a:bodyPr wrap="none" rtlCol="0">
            <a:spAutoFit/>
          </a:bodyPr>
          <a:lstStyle/>
          <a:p>
            <a:r>
              <a:rPr lang="en-GB" sz="1200" dirty="0">
                <a:latin typeface="Lucida Sans Unicode" pitchFamily="34" charset="0"/>
              </a:rPr>
              <a:t>Specifies - essentially a layer one protocol for transport with Data Link (Transport Streams, GSE, </a:t>
            </a:r>
            <a:r>
              <a:rPr lang="en-GB" sz="1200" dirty="0" err="1">
                <a:latin typeface="Lucida Sans Unicode" pitchFamily="34" charset="0"/>
              </a:rPr>
              <a:t>etc</a:t>
            </a:r>
            <a:r>
              <a:rPr lang="en-GB" sz="1200" dirty="0">
                <a:latin typeface="Lucida Sans Unicode" pitchFamily="34" charset="0"/>
              </a:rPr>
              <a:t>)</a:t>
            </a:r>
          </a:p>
          <a:p>
            <a:endParaRPr lang="en-GB" sz="1200" b="1" dirty="0">
              <a:latin typeface="Lucida Sans Unicode" pitchFamily="34" charset="0"/>
            </a:endParaRPr>
          </a:p>
          <a:p>
            <a:r>
              <a:rPr lang="en-GB" sz="1200" b="1" dirty="0">
                <a:latin typeface="Lucida Sans Unicode" pitchFamily="34" charset="0"/>
              </a:rPr>
              <a:t>Including - </a:t>
            </a:r>
          </a:p>
          <a:p>
            <a:endParaRPr lang="en-GB" sz="1200" dirty="0">
              <a:latin typeface="Lucida Sans Unicode" pitchFamily="34" charset="0"/>
            </a:endParaRPr>
          </a:p>
          <a:p>
            <a:r>
              <a:rPr lang="en-GB" sz="1200" b="1" dirty="0">
                <a:latin typeface="Lucida Sans Unicode" pitchFamily="34" charset="0"/>
              </a:rPr>
              <a:t>Input Interface </a:t>
            </a:r>
          </a:p>
          <a:p>
            <a:pPr marL="171450" indent="-171450">
              <a:buFont typeface="Arial" pitchFamily="34" charset="0"/>
              <a:buChar char="•"/>
            </a:pPr>
            <a:r>
              <a:rPr lang="en-GB" sz="1200" dirty="0">
                <a:latin typeface="Lucida Sans Unicode" pitchFamily="34" charset="0"/>
              </a:rPr>
              <a:t>usually Transport Streams - i.e. TV </a:t>
            </a:r>
          </a:p>
          <a:p>
            <a:pPr marL="171450" indent="-171450">
              <a:buFont typeface="Arial" pitchFamily="34" charset="0"/>
              <a:buChar char="•"/>
            </a:pPr>
            <a:r>
              <a:rPr lang="en-GB" sz="1200" dirty="0">
                <a:latin typeface="Lucida Sans Unicode" pitchFamily="34" charset="0"/>
              </a:rPr>
              <a:t>Generic Stream Encapsulation – e.g. IP </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Modes</a:t>
            </a:r>
          </a:p>
          <a:p>
            <a:pPr marL="171450" indent="-171450">
              <a:buFont typeface="Arial" pitchFamily="34" charset="0"/>
              <a:buChar char="•"/>
            </a:pPr>
            <a:r>
              <a:rPr lang="en-GB" sz="1200" dirty="0">
                <a:latin typeface="Lucida Sans Unicode" pitchFamily="34" charset="0"/>
              </a:rPr>
              <a:t>Variable Coding and Modulation</a:t>
            </a:r>
          </a:p>
          <a:p>
            <a:pPr marL="171450" indent="-171450">
              <a:buFont typeface="Arial" pitchFamily="34" charset="0"/>
              <a:buChar char="•"/>
            </a:pPr>
            <a:r>
              <a:rPr lang="en-GB" sz="1200" dirty="0">
                <a:latin typeface="Lucida Sans Unicode" pitchFamily="34" charset="0"/>
              </a:rPr>
              <a:t>Adaptive Coding and Modulation</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FEC </a:t>
            </a:r>
          </a:p>
          <a:p>
            <a:pPr marL="171450" indent="-171450">
              <a:buFont typeface="Arial" pitchFamily="34" charset="0"/>
              <a:buChar char="•"/>
            </a:pPr>
            <a:r>
              <a:rPr lang="en-GB" sz="1200" dirty="0">
                <a:latin typeface="Lucida Sans Unicode" pitchFamily="34" charset="0"/>
              </a:rPr>
              <a:t>e.g. DVB-T2: LDCP, BCH ½. 3/5. 2/3. ¾. 4/5. 5/6 </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Modulation</a:t>
            </a:r>
          </a:p>
          <a:p>
            <a:pPr marL="171450" indent="-171450">
              <a:buFont typeface="Arial" pitchFamily="34" charset="0"/>
              <a:buChar char="•"/>
            </a:pPr>
            <a:r>
              <a:rPr lang="en-GB" sz="1200" dirty="0">
                <a:latin typeface="Lucida Sans Unicode" pitchFamily="34" charset="0"/>
              </a:rPr>
              <a:t>e.g. DVB-T2: OFDM</a:t>
            </a:r>
          </a:p>
          <a:p>
            <a:endParaRPr lang="en-GB" sz="1200" b="1" dirty="0">
              <a:latin typeface="Lucida Sans Unicode" pitchFamily="34" charset="0"/>
            </a:endParaRPr>
          </a:p>
          <a:p>
            <a:r>
              <a:rPr lang="en-GB" sz="1200" b="1" dirty="0">
                <a:latin typeface="Lucida Sans Unicode" pitchFamily="34" charset="0"/>
              </a:rPr>
              <a:t>Modulation Schemes</a:t>
            </a:r>
          </a:p>
          <a:p>
            <a:pPr marL="171450" indent="-171450">
              <a:buFont typeface="Arial" pitchFamily="34" charset="0"/>
              <a:buChar char="•"/>
            </a:pPr>
            <a:r>
              <a:rPr lang="en-GB" sz="1200" dirty="0">
                <a:latin typeface="Lucida Sans Unicode" pitchFamily="34" charset="0"/>
              </a:rPr>
              <a:t>Q/8/16/32PSK, QAM </a:t>
            </a:r>
          </a:p>
          <a:p>
            <a:pPr marL="171450" indent="-171450">
              <a:buFont typeface="Arial" pitchFamily="34" charset="0"/>
              <a:buChar char="•"/>
            </a:pPr>
            <a:r>
              <a:rPr lang="en-GB" sz="1200" dirty="0">
                <a:latin typeface="Lucida Sans Unicode" pitchFamily="34" charset="0"/>
              </a:rPr>
              <a:t>e.g. DVB-C2: 16-4096QAM</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Guard Interval</a:t>
            </a:r>
          </a:p>
          <a:p>
            <a:pPr marL="171450" indent="-171450">
              <a:buFont typeface="Arial" pitchFamily="34" charset="0"/>
              <a:buChar char="•"/>
            </a:pPr>
            <a:r>
              <a:rPr lang="en-GB" sz="1200" dirty="0"/>
              <a:t>e.g. DVB-T2: 1/4, 19/256, 1/8, 19/128, 1/16, 1/32, 1/128 (fractions of a symbol)</a:t>
            </a:r>
          </a:p>
          <a:p>
            <a:pPr marL="171450" indent="-171450">
              <a:buFont typeface="Arial" pitchFamily="34" charset="0"/>
              <a:buChar char="•"/>
            </a:pPr>
            <a:endParaRPr lang="en-GB" sz="1200" dirty="0">
              <a:latin typeface="Lucida Sans Unicode" pitchFamily="34" charset="0"/>
            </a:endParaRPr>
          </a:p>
          <a:p>
            <a:r>
              <a:rPr lang="en-GB" sz="1200" b="1" dirty="0">
                <a:latin typeface="Lucida Sans Unicode" pitchFamily="34" charset="0"/>
              </a:rPr>
              <a:t>Interleaving</a:t>
            </a:r>
          </a:p>
          <a:p>
            <a:pPr marL="171450" indent="-171450">
              <a:buFont typeface="Arial" pitchFamily="34" charset="0"/>
              <a:buChar char="•"/>
            </a:pPr>
            <a:r>
              <a:rPr lang="en-GB" sz="1200" dirty="0"/>
              <a:t>Bit- Time- and Frequency-Interleaving</a:t>
            </a:r>
          </a:p>
        </p:txBody>
      </p:sp>
    </p:spTree>
    <p:extLst>
      <p:ext uri="{BB962C8B-B14F-4D97-AF65-F5344CB8AC3E}">
        <p14:creationId xmlns:p14="http://schemas.microsoft.com/office/powerpoint/2010/main" val="1548991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
          <p:cNvSpPr>
            <a:spLocks noChangeArrowheads="1"/>
          </p:cNvSpPr>
          <p:nvPr/>
        </p:nvSpPr>
        <p:spPr bwMode="auto">
          <a:xfrm>
            <a:off x="381000" y="333375"/>
            <a:ext cx="4237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sz="2400" b="1">
                <a:latin typeface="Lucida Sans Unicode" pitchFamily="34" charset="0"/>
                <a:cs typeface="Lucida Sans Unicode" pitchFamily="34" charset="0"/>
              </a:rPr>
              <a:t>Transport Stream Multiplex</a:t>
            </a:r>
          </a:p>
        </p:txBody>
      </p:sp>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r="16823"/>
          <a:stretch>
            <a:fillRect/>
          </a:stretch>
        </p:blipFill>
        <p:spPr bwMode="auto">
          <a:xfrm>
            <a:off x="2089150" y="1085850"/>
            <a:ext cx="535305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 name="TextBox 3"/>
          <p:cNvSpPr txBox="1">
            <a:spLocks noChangeArrowheads="1"/>
          </p:cNvSpPr>
          <p:nvPr/>
        </p:nvSpPr>
        <p:spPr bwMode="auto">
          <a:xfrm>
            <a:off x="6634163" y="1131888"/>
            <a:ext cx="1909762" cy="1674305"/>
          </a:xfrm>
          <a:prstGeom prst="rect">
            <a:avLst/>
          </a:prstGeom>
          <a:solidFill>
            <a:schemeClr val="bg1"/>
          </a:solidFill>
          <a:ln w="9525">
            <a:noFill/>
            <a:miter lim="800000"/>
            <a:headEnd/>
            <a:tailEnd/>
          </a:ln>
        </p:spPr>
        <p:txBody>
          <a:bodyPr>
            <a:spAutoFit/>
          </a:bodyPr>
          <a:lstStyle/>
          <a:p>
            <a:pPr>
              <a:lnSpc>
                <a:spcPct val="130000"/>
              </a:lnSpc>
              <a:defRPr/>
            </a:pPr>
            <a:r>
              <a:rPr lang="en-GB" sz="1600" dirty="0">
                <a:latin typeface="Lucida Sans Unicode" pitchFamily="34" charset="0"/>
                <a:cs typeface="Lucida Sans Unicode" pitchFamily="34" charset="0"/>
              </a:rPr>
              <a:t>Transmission: </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Terrestrial</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Cable</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Satellite</a:t>
            </a:r>
          </a:p>
          <a:p>
            <a:pPr marL="180975" indent="-180975">
              <a:lnSpc>
                <a:spcPct val="130000"/>
              </a:lnSpc>
              <a:buFont typeface="Arial" charset="0"/>
              <a:buChar char="•"/>
              <a:defRPr/>
            </a:pPr>
            <a:r>
              <a:rPr lang="en-GB" sz="1600" dirty="0">
                <a:latin typeface="Lucida Sans Unicode" pitchFamily="34" charset="0"/>
                <a:cs typeface="Lucida Sans Unicode" pitchFamily="34" charset="0"/>
              </a:rPr>
              <a:t>Broadband</a:t>
            </a:r>
          </a:p>
        </p:txBody>
      </p:sp>
      <p:sp>
        <p:nvSpPr>
          <p:cNvPr id="6149" name="Text Box 6"/>
          <p:cNvSpPr txBox="1">
            <a:spLocks noChangeArrowheads="1"/>
          </p:cNvSpPr>
          <p:nvPr/>
        </p:nvSpPr>
        <p:spPr bwMode="auto">
          <a:xfrm>
            <a:off x="609600" y="2751138"/>
            <a:ext cx="12906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1600">
                <a:solidFill>
                  <a:schemeClr val="tx1"/>
                </a:solidFill>
                <a:latin typeface="Lucida Sans Unicode" pitchFamily="34" charset="0"/>
              </a:defRPr>
            </a:lvl1pPr>
            <a:lvl2pPr marL="742950" indent="-285750">
              <a:defRPr sz="1600">
                <a:solidFill>
                  <a:schemeClr val="tx1"/>
                </a:solidFill>
                <a:latin typeface="Lucida Sans Unicode" pitchFamily="34" charset="0"/>
              </a:defRPr>
            </a:lvl2pPr>
            <a:lvl3pPr marL="1143000" indent="-228600">
              <a:defRPr sz="1600">
                <a:solidFill>
                  <a:schemeClr val="tx1"/>
                </a:solidFill>
                <a:latin typeface="Lucida Sans Unicode" pitchFamily="34" charset="0"/>
              </a:defRPr>
            </a:lvl3pPr>
            <a:lvl4pPr marL="1600200" indent="-228600">
              <a:defRPr sz="1600">
                <a:solidFill>
                  <a:schemeClr val="tx1"/>
                </a:solidFill>
                <a:latin typeface="Lucida Sans Unicode" pitchFamily="34" charset="0"/>
              </a:defRPr>
            </a:lvl4pPr>
            <a:lvl5pPr marL="2057400" indent="-228600">
              <a:defRPr sz="1600">
                <a:solidFill>
                  <a:schemeClr val="tx1"/>
                </a:solidFill>
                <a:latin typeface="Lucida Sans Unicode" pitchFamily="34" charset="0"/>
              </a:defRPr>
            </a:lvl5pPr>
            <a:lvl6pPr marL="2514600" indent="-228600" eaLnBrk="0" fontAlgn="base" hangingPunct="0">
              <a:spcBef>
                <a:spcPct val="0"/>
              </a:spcBef>
              <a:spcAft>
                <a:spcPct val="0"/>
              </a:spcAft>
              <a:defRPr sz="1600">
                <a:solidFill>
                  <a:schemeClr val="tx1"/>
                </a:solidFill>
                <a:latin typeface="Lucida Sans Unicode" pitchFamily="34" charset="0"/>
              </a:defRPr>
            </a:lvl6pPr>
            <a:lvl7pPr marL="2971800" indent="-228600" eaLnBrk="0" fontAlgn="base" hangingPunct="0">
              <a:spcBef>
                <a:spcPct val="0"/>
              </a:spcBef>
              <a:spcAft>
                <a:spcPct val="0"/>
              </a:spcAft>
              <a:defRPr sz="1600">
                <a:solidFill>
                  <a:schemeClr val="tx1"/>
                </a:solidFill>
                <a:latin typeface="Lucida Sans Unicode" pitchFamily="34" charset="0"/>
              </a:defRPr>
            </a:lvl7pPr>
            <a:lvl8pPr marL="3429000" indent="-228600" eaLnBrk="0" fontAlgn="base" hangingPunct="0">
              <a:spcBef>
                <a:spcPct val="0"/>
              </a:spcBef>
              <a:spcAft>
                <a:spcPct val="0"/>
              </a:spcAft>
              <a:defRPr sz="1600">
                <a:solidFill>
                  <a:schemeClr val="tx1"/>
                </a:solidFill>
                <a:latin typeface="Lucida Sans Unicode" pitchFamily="34" charset="0"/>
              </a:defRPr>
            </a:lvl8pPr>
            <a:lvl9pPr marL="3886200" indent="-228600" eaLnBrk="0" fontAlgn="base" hangingPunct="0">
              <a:spcBef>
                <a:spcPct val="0"/>
              </a:spcBef>
              <a:spcAft>
                <a:spcPct val="0"/>
              </a:spcAft>
              <a:defRPr sz="1600">
                <a:solidFill>
                  <a:schemeClr val="tx1"/>
                </a:solidFill>
                <a:latin typeface="Lucida Sans Unicode" pitchFamily="34" charset="0"/>
              </a:defRPr>
            </a:lvl9pPr>
          </a:lstStyle>
          <a:p>
            <a:r>
              <a:rPr lang="en-GB" dirty="0">
                <a:cs typeface="Lucida Sans Unicode" pitchFamily="34" charset="0"/>
              </a:rPr>
              <a:t>Program Streams</a:t>
            </a:r>
          </a:p>
        </p:txBody>
      </p:sp>
      <p:sp>
        <p:nvSpPr>
          <p:cNvPr id="6150" name="AutoShape 7"/>
          <p:cNvSpPr>
            <a:spLocks/>
          </p:cNvSpPr>
          <p:nvPr/>
        </p:nvSpPr>
        <p:spPr bwMode="auto">
          <a:xfrm>
            <a:off x="1752600" y="2779792"/>
            <a:ext cx="411163" cy="430054"/>
          </a:xfrm>
          <a:prstGeom prst="leftBrace">
            <a:avLst>
              <a:gd name="adj1" fmla="val 63932"/>
              <a:gd name="adj2" fmla="val 5052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sz="1800">
              <a:latin typeface="Lucida Sans Unicode" pitchFamily="34" charset="0"/>
              <a:cs typeface="Lucida Sans Unicode" pitchFamily="34" charset="0"/>
            </a:endParaRPr>
          </a:p>
        </p:txBody>
      </p:sp>
    </p:spTree>
    <p:extLst>
      <p:ext uri="{BB962C8B-B14F-4D97-AF65-F5344CB8AC3E}">
        <p14:creationId xmlns:p14="http://schemas.microsoft.com/office/powerpoint/2010/main" val="416260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81000" y="331788"/>
            <a:ext cx="1008609" cy="461665"/>
          </a:xfrm>
          <a:prstGeom prst="rect">
            <a:avLst/>
          </a:prstGeom>
          <a:noFill/>
          <a:ln w="9525">
            <a:noFill/>
            <a:miter lim="800000"/>
            <a:headEnd/>
            <a:tailEnd/>
          </a:ln>
        </p:spPr>
        <p:txBody>
          <a:bodyPr wrap="none">
            <a:spAutoFit/>
          </a:bodyPr>
          <a:lstStyle/>
          <a:p>
            <a:r>
              <a:rPr lang="en-GB" sz="2400" b="1" dirty="0"/>
              <a:t>MPEG</a:t>
            </a:r>
          </a:p>
        </p:txBody>
      </p:sp>
      <p:sp>
        <p:nvSpPr>
          <p:cNvPr id="5123" name="Rectangle 3"/>
          <p:cNvSpPr>
            <a:spLocks noChangeArrowheads="1"/>
          </p:cNvSpPr>
          <p:nvPr/>
        </p:nvSpPr>
        <p:spPr bwMode="auto">
          <a:xfrm>
            <a:off x="381000" y="762000"/>
            <a:ext cx="6248400" cy="5281613"/>
          </a:xfrm>
          <a:prstGeom prst="rect">
            <a:avLst/>
          </a:prstGeom>
          <a:noFill/>
          <a:ln w="9525">
            <a:noFill/>
            <a:miter lim="800000"/>
            <a:headEnd/>
            <a:tailEnd/>
          </a:ln>
        </p:spPr>
        <p:txBody>
          <a:bodyPr wrap="none">
            <a:spAutoFit/>
          </a:bodyPr>
          <a:lstStyle/>
          <a:p>
            <a:pPr marL="193675" indent="-193675"/>
            <a:r>
              <a:rPr lang="en-GB" sz="1600"/>
              <a:t>Motion Picture Experts Group</a:t>
            </a:r>
          </a:p>
          <a:p>
            <a:pPr marL="193675" indent="-193675"/>
            <a:endParaRPr lang="en-GB" sz="1600"/>
          </a:p>
          <a:p>
            <a:pPr marL="193675" indent="-193675"/>
            <a:r>
              <a:rPr lang="en-GB" sz="1800" b="1"/>
              <a:t>MPEG 1</a:t>
            </a:r>
            <a:endParaRPr lang="en-GB" sz="1600"/>
          </a:p>
          <a:p>
            <a:pPr marL="193675" indent="-193675"/>
            <a:r>
              <a:rPr lang="en-GB" sz="1600"/>
              <a:t>audio and video coding - parts 1, 2, 3 (layers 1, 2, 3), 4, 5, </a:t>
            </a:r>
          </a:p>
          <a:p>
            <a:pPr marL="193675" indent="-193675"/>
            <a:endParaRPr lang="en-GB" sz="1600"/>
          </a:p>
          <a:p>
            <a:pPr marL="193675" indent="-193675"/>
            <a:r>
              <a:rPr lang="en-GB" sz="1800" b="1"/>
              <a:t>MPEG 2</a:t>
            </a:r>
            <a:endParaRPr lang="en-GB" sz="1600"/>
          </a:p>
          <a:p>
            <a:pPr marL="193675" indent="-193675"/>
            <a:r>
              <a:rPr lang="en-GB" sz="1600"/>
              <a:t>audio and video coding - parts 1, 2, 3 (layers 1, 2, 3), … </a:t>
            </a:r>
          </a:p>
          <a:p>
            <a:pPr marL="193675" indent="-193675"/>
            <a:endParaRPr lang="en-GB" sz="1600"/>
          </a:p>
          <a:p>
            <a:pPr marL="193675" indent="-193675"/>
            <a:r>
              <a:rPr lang="en-GB" sz="1600"/>
              <a:t>MPEG 3 - </a:t>
            </a:r>
            <a:r>
              <a:rPr lang="en-GB" sz="1400"/>
              <a:t>originally for HDTV - abandoned</a:t>
            </a:r>
            <a:endParaRPr lang="en-GB" sz="1600"/>
          </a:p>
          <a:p>
            <a:pPr marL="193675" indent="-193675"/>
            <a:endParaRPr lang="en-GB" sz="1600"/>
          </a:p>
          <a:p>
            <a:pPr marL="193675" indent="-193675"/>
            <a:r>
              <a:rPr lang="en-GB" sz="1800" b="1"/>
              <a:t>MPEG 4</a:t>
            </a:r>
            <a:r>
              <a:rPr lang="en-GB" sz="1600"/>
              <a:t> </a:t>
            </a:r>
          </a:p>
          <a:p>
            <a:pPr marL="193675" indent="-193675"/>
            <a:r>
              <a:rPr lang="en-GB" sz="1600"/>
              <a:t>audio and video coding - parts 1 - 22</a:t>
            </a:r>
          </a:p>
          <a:p>
            <a:pPr marL="193675" indent="-193675"/>
            <a:endParaRPr lang="en-GB" sz="1600"/>
          </a:p>
          <a:p>
            <a:pPr marL="193675" indent="-193675"/>
            <a:r>
              <a:rPr lang="en-GB" sz="1800" b="1"/>
              <a:t>MPEG 7</a:t>
            </a:r>
          </a:p>
          <a:p>
            <a:pPr marL="193675" indent="-193675"/>
            <a:r>
              <a:rPr lang="en-GB" sz="1600"/>
              <a:t>metadata, description</a:t>
            </a:r>
          </a:p>
          <a:p>
            <a:pPr marL="193675" indent="-193675"/>
            <a:endParaRPr lang="en-GB" sz="1600"/>
          </a:p>
          <a:p>
            <a:pPr marL="193675" indent="-193675"/>
            <a:r>
              <a:rPr lang="en-GB" sz="1800" b="1"/>
              <a:t>MPEG 21</a:t>
            </a:r>
          </a:p>
          <a:p>
            <a:pPr marL="193675" indent="-193675"/>
            <a:r>
              <a:rPr lang="en-GB" sz="1600"/>
              <a:t>framework for multimedia content delivery</a:t>
            </a:r>
          </a:p>
          <a:p>
            <a:pPr marL="193675" indent="-193675">
              <a:buFontTx/>
              <a:buChar char="•"/>
            </a:pPr>
            <a:r>
              <a:rPr lang="en-GB" sz="1400"/>
              <a:t>XML-based; to communicate machine-readable license information </a:t>
            </a:r>
          </a:p>
          <a:p>
            <a:pPr marL="193675" indent="-193675">
              <a:buFontTx/>
              <a:buChar char="•"/>
            </a:pPr>
            <a:r>
              <a:rPr lang="en-GB" sz="1400"/>
              <a:t>open framework for multimedia applications</a:t>
            </a:r>
          </a:p>
          <a:p>
            <a:pPr marL="193675" indent="-193675">
              <a:buFontTx/>
              <a:buChar char="•"/>
            </a:pPr>
            <a:r>
              <a:rPr lang="en-GB" sz="1400"/>
              <a:t>"Rights Expression Language" </a:t>
            </a:r>
            <a:endParaRPr lang="en-GB" sz="1600"/>
          </a:p>
        </p:txBody>
      </p:sp>
    </p:spTree>
    <p:extLst>
      <p:ext uri="{BB962C8B-B14F-4D97-AF65-F5344CB8AC3E}">
        <p14:creationId xmlns:p14="http://schemas.microsoft.com/office/powerpoint/2010/main" val="833191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81000" y="1120775"/>
            <a:ext cx="6598281" cy="4031873"/>
          </a:xfrm>
          <a:prstGeom prst="rect">
            <a:avLst/>
          </a:prstGeom>
          <a:noFill/>
          <a:ln w="9525">
            <a:noFill/>
            <a:miter lim="800000"/>
            <a:headEnd/>
            <a:tailEnd/>
          </a:ln>
        </p:spPr>
        <p:txBody>
          <a:bodyPr wrap="none">
            <a:spAutoFit/>
          </a:bodyPr>
          <a:lstStyle/>
          <a:p>
            <a:pPr marL="193675" indent="-193675"/>
            <a:r>
              <a:rPr lang="en-GB" sz="1600" dirty="0"/>
              <a:t>Audio and video coding</a:t>
            </a:r>
          </a:p>
          <a:p>
            <a:pPr marL="193675" indent="-193675"/>
            <a:endParaRPr lang="en-GB" sz="1600" dirty="0"/>
          </a:p>
          <a:p>
            <a:pPr marL="193675" indent="-193675"/>
            <a:r>
              <a:rPr lang="en-GB" sz="1600" i="1" u="sng" dirty="0"/>
              <a:t>Parts</a:t>
            </a:r>
            <a:endParaRPr lang="en-GB" sz="1600" dirty="0"/>
          </a:p>
          <a:p>
            <a:pPr marL="193675" indent="-193675"/>
            <a:r>
              <a:rPr lang="en-GB" sz="1600" dirty="0"/>
              <a:t>1 - Synchronization and multiplexing of video and audio </a:t>
            </a:r>
          </a:p>
          <a:p>
            <a:pPr marL="193675" indent="-193675"/>
            <a:r>
              <a:rPr lang="en-GB" sz="1600" dirty="0"/>
              <a:t>		- transport stream</a:t>
            </a:r>
          </a:p>
          <a:p>
            <a:pPr marL="193675" indent="-193675"/>
            <a:r>
              <a:rPr lang="en-GB" sz="1600" dirty="0"/>
              <a:t>2 - Compression codec for non-interlaced video signals</a:t>
            </a:r>
          </a:p>
          <a:p>
            <a:pPr marL="193675" indent="-193675"/>
            <a:r>
              <a:rPr lang="en-GB" sz="1600" dirty="0"/>
              <a:t>3 - </a:t>
            </a:r>
            <a:r>
              <a:rPr lang="en-GB" sz="1600" b="1" dirty="0"/>
              <a:t>Compression codec for perceptual coding of audio signals </a:t>
            </a:r>
          </a:p>
          <a:p>
            <a:pPr marL="193675" indent="-193675"/>
            <a:r>
              <a:rPr lang="en-GB" sz="1600" b="1" dirty="0"/>
              <a:t>		- three </a:t>
            </a:r>
            <a:r>
              <a:rPr lang="en-GB" sz="1600" b="1" i="1" u="sng" dirty="0"/>
              <a:t>layers</a:t>
            </a:r>
            <a:r>
              <a:rPr lang="en-GB" sz="1600" b="1" i="1" dirty="0"/>
              <a:t> </a:t>
            </a:r>
            <a:r>
              <a:rPr lang="en-GB" sz="1600" b="1" dirty="0"/>
              <a:t>of audio coding options (mp, mp2, mp3)</a:t>
            </a:r>
          </a:p>
          <a:p>
            <a:pPr marL="193675" indent="-193675"/>
            <a:r>
              <a:rPr lang="en-GB" sz="1600" dirty="0"/>
              <a:t>4 - Procedures for testing conformance</a:t>
            </a:r>
          </a:p>
          <a:p>
            <a:pPr marL="193675" indent="-193675"/>
            <a:r>
              <a:rPr lang="en-GB" sz="1600" dirty="0"/>
              <a:t>5 - Reference software</a:t>
            </a:r>
          </a:p>
          <a:p>
            <a:pPr marL="193675" indent="-193675"/>
            <a:endParaRPr lang="en-GB" sz="1600" dirty="0"/>
          </a:p>
          <a:p>
            <a:pPr marL="193675" indent="-193675">
              <a:buFontTx/>
              <a:buChar char="•"/>
            </a:pPr>
            <a:r>
              <a:rPr lang="en-GB" sz="1600" dirty="0"/>
              <a:t>video CD format - quality ~ VCR</a:t>
            </a:r>
          </a:p>
          <a:p>
            <a:pPr marL="193675" indent="-193675">
              <a:buFontTx/>
              <a:buChar char="•"/>
            </a:pPr>
            <a:r>
              <a:rPr lang="en-GB" sz="1600" dirty="0"/>
              <a:t>originally 1.5M bit/second data rates and 352x240 resolution</a:t>
            </a:r>
          </a:p>
          <a:p>
            <a:pPr marL="193675" indent="-193675">
              <a:buFontTx/>
              <a:buChar char="•"/>
            </a:pPr>
            <a:r>
              <a:rPr lang="en-GB" sz="1600" dirty="0"/>
              <a:t>later up to 4M bit/second </a:t>
            </a:r>
          </a:p>
          <a:p>
            <a:pPr marL="193675" indent="-193675">
              <a:buFontTx/>
              <a:buChar char="•"/>
            </a:pPr>
            <a:r>
              <a:rPr lang="en-GB" sz="1600" dirty="0"/>
              <a:t>the most compatible format in the MPEG family</a:t>
            </a:r>
          </a:p>
          <a:p>
            <a:pPr marL="193675" indent="-193675">
              <a:buFontTx/>
              <a:buChar char="•"/>
            </a:pPr>
            <a:r>
              <a:rPr lang="en-GB" sz="1600" dirty="0"/>
              <a:t>only progressive scan video (... so need for MPEG-2)</a:t>
            </a:r>
            <a:endParaRPr lang="en-GB" sz="1400" dirty="0"/>
          </a:p>
        </p:txBody>
      </p:sp>
      <p:sp>
        <p:nvSpPr>
          <p:cNvPr id="6147" name="Rectangle 3"/>
          <p:cNvSpPr>
            <a:spLocks noChangeArrowheads="1"/>
          </p:cNvSpPr>
          <p:nvPr/>
        </p:nvSpPr>
        <p:spPr bwMode="auto">
          <a:xfrm>
            <a:off x="381000" y="331788"/>
            <a:ext cx="1382110" cy="461665"/>
          </a:xfrm>
          <a:prstGeom prst="rect">
            <a:avLst/>
          </a:prstGeom>
          <a:noFill/>
          <a:ln w="9525">
            <a:noFill/>
            <a:miter lim="800000"/>
            <a:headEnd/>
            <a:tailEnd/>
          </a:ln>
        </p:spPr>
        <p:txBody>
          <a:bodyPr wrap="none">
            <a:spAutoFit/>
          </a:bodyPr>
          <a:lstStyle/>
          <a:p>
            <a:r>
              <a:rPr lang="en-GB" sz="2400" b="1" dirty="0"/>
              <a:t>MPEG-1</a:t>
            </a:r>
          </a:p>
        </p:txBody>
      </p:sp>
    </p:spTree>
    <p:extLst>
      <p:ext uri="{BB962C8B-B14F-4D97-AF65-F5344CB8AC3E}">
        <p14:creationId xmlns:p14="http://schemas.microsoft.com/office/powerpoint/2010/main" val="130869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95288" y="930535"/>
            <a:ext cx="8458200" cy="5293757"/>
          </a:xfrm>
          <a:prstGeom prst="rect">
            <a:avLst/>
          </a:prstGeom>
          <a:noFill/>
          <a:ln w="9525">
            <a:noFill/>
            <a:miter lim="800000"/>
            <a:headEnd/>
            <a:tailEnd/>
          </a:ln>
        </p:spPr>
        <p:txBody>
          <a:bodyPr>
            <a:spAutoFit/>
          </a:bodyPr>
          <a:lstStyle/>
          <a:p>
            <a:pPr marL="193675" indent="-193675"/>
            <a:r>
              <a:rPr lang="en-GB" sz="1600" dirty="0"/>
              <a:t>(1994) Audio and video coding</a:t>
            </a:r>
          </a:p>
          <a:p>
            <a:pPr marL="193675" indent="-193675">
              <a:buFontTx/>
              <a:buChar char="•"/>
            </a:pPr>
            <a:r>
              <a:rPr lang="en-GB" sz="1600" dirty="0"/>
              <a:t>for broadcast - DVB (satellite, cable, DTT, etc), also DVD  (with </a:t>
            </a:r>
            <a:r>
              <a:rPr lang="en-GB" sz="1600" dirty="0" err="1"/>
              <a:t>mofifications</a:t>
            </a:r>
            <a:r>
              <a:rPr lang="en-GB" sz="1600" dirty="0"/>
              <a:t>)</a:t>
            </a:r>
          </a:p>
          <a:p>
            <a:pPr marL="193675" indent="-193675"/>
            <a:endParaRPr lang="en-GB" sz="1600" dirty="0"/>
          </a:p>
          <a:p>
            <a:pPr marL="193675" indent="-193675"/>
            <a:r>
              <a:rPr lang="en-GB" sz="1600" i="1" u="sng" dirty="0"/>
              <a:t>9 Parts, including - </a:t>
            </a:r>
          </a:p>
          <a:p>
            <a:pPr marL="193675" indent="-193675"/>
            <a:endParaRPr lang="en-GB" sz="1600" dirty="0"/>
          </a:p>
          <a:p>
            <a:pPr marL="193675" indent="-193675"/>
            <a:r>
              <a:rPr lang="en-GB" sz="1600" dirty="0"/>
              <a:t>1 - Transport Streams - TS  </a:t>
            </a:r>
          </a:p>
          <a:p>
            <a:pPr marL="565150" lvl="1" indent="-179388">
              <a:buFontTx/>
              <a:buChar char="•"/>
            </a:pPr>
            <a:r>
              <a:rPr lang="en-GB" sz="1400" dirty="0"/>
              <a:t>to carry digital video and audio in (unreliable) broadcast applications</a:t>
            </a:r>
          </a:p>
          <a:p>
            <a:pPr marL="565150" lvl="1" indent="-179388">
              <a:buFontTx/>
              <a:buChar char="•"/>
            </a:pPr>
            <a:r>
              <a:rPr lang="en-GB" sz="1400" dirty="0"/>
              <a:t>Program streams carry audio and/or video data + time stamp data</a:t>
            </a:r>
          </a:p>
          <a:p>
            <a:pPr marL="565150" lvl="1" indent="-179388">
              <a:buFontTx/>
              <a:buChar char="•"/>
            </a:pPr>
            <a:endParaRPr lang="en-GB" sz="1600" dirty="0"/>
          </a:p>
          <a:p>
            <a:pPr marL="193675" indent="-193675"/>
            <a:r>
              <a:rPr lang="en-GB" sz="1600" dirty="0"/>
              <a:t>2 - Video </a:t>
            </a:r>
          </a:p>
          <a:p>
            <a:pPr marL="565150" lvl="1" indent="-179388">
              <a:buFontTx/>
              <a:buChar char="•"/>
            </a:pPr>
            <a:r>
              <a:rPr lang="en-GB" sz="1400" dirty="0"/>
              <a:t>similar to MPEG-1 </a:t>
            </a:r>
          </a:p>
          <a:p>
            <a:pPr marL="565150" lvl="1" indent="-179388">
              <a:buFontTx/>
              <a:buChar char="•"/>
            </a:pPr>
            <a:r>
              <a:rPr lang="en-GB" sz="1400" dirty="0"/>
              <a:t>support for interlaced video</a:t>
            </a:r>
          </a:p>
          <a:p>
            <a:pPr marL="565150" lvl="1" indent="-179388">
              <a:buFontTx/>
              <a:buChar char="•"/>
            </a:pPr>
            <a:r>
              <a:rPr lang="en-GB" sz="1400" dirty="0"/>
              <a:t>optimised &gt; 3 </a:t>
            </a:r>
            <a:r>
              <a:rPr lang="en-GB" sz="1400" dirty="0" err="1"/>
              <a:t>Mbit</a:t>
            </a:r>
            <a:r>
              <a:rPr lang="en-GB" sz="1400" dirty="0"/>
              <a:t>/s; </a:t>
            </a:r>
            <a:r>
              <a:rPr lang="en-GB" sz="1400" i="1" dirty="0"/>
              <a:t>not </a:t>
            </a:r>
            <a:r>
              <a:rPr lang="en-GB" sz="1400" dirty="0"/>
              <a:t>for low bit-rates (less than 1 </a:t>
            </a:r>
            <a:r>
              <a:rPr lang="en-GB" sz="1400" dirty="0" err="1"/>
              <a:t>Mbit</a:t>
            </a:r>
            <a:r>
              <a:rPr lang="en-GB" sz="1400" dirty="0"/>
              <a:t>/s)</a:t>
            </a:r>
          </a:p>
          <a:p>
            <a:pPr marL="565150" lvl="1" indent="-179388">
              <a:buFontTx/>
              <a:buChar char="•"/>
            </a:pPr>
            <a:r>
              <a:rPr lang="en-GB" sz="1400" dirty="0"/>
              <a:t>backwards compatible to MPEG1</a:t>
            </a:r>
          </a:p>
          <a:p>
            <a:pPr marL="565150" lvl="1" indent="-179388">
              <a:buFontTx/>
              <a:buChar char="•"/>
            </a:pPr>
            <a:r>
              <a:rPr lang="en-GB" sz="1400" dirty="0"/>
              <a:t>enhancements - used (to date) in most HDTV transmission systems</a:t>
            </a:r>
            <a:r>
              <a:rPr lang="en-GB" sz="1600" dirty="0"/>
              <a:t> </a:t>
            </a:r>
          </a:p>
          <a:p>
            <a:pPr marL="565150" lvl="1" indent="-179388">
              <a:buFontTx/>
              <a:buChar char="•"/>
            </a:pPr>
            <a:endParaRPr lang="en-GB" sz="1600" dirty="0"/>
          </a:p>
          <a:p>
            <a:pPr marL="193675" indent="-193675"/>
            <a:r>
              <a:rPr lang="en-GB" sz="1600" dirty="0"/>
              <a:t>3 - </a:t>
            </a:r>
            <a:r>
              <a:rPr lang="en-GB" sz="1600" b="1" dirty="0"/>
              <a:t>Audio</a:t>
            </a:r>
          </a:p>
          <a:p>
            <a:pPr marL="565150" lvl="1" indent="-179388">
              <a:buFontTx/>
              <a:buChar char="•"/>
            </a:pPr>
            <a:r>
              <a:rPr lang="en-GB" sz="1400" b="1" dirty="0"/>
              <a:t>layers 1, 2, 3</a:t>
            </a:r>
          </a:p>
          <a:p>
            <a:pPr marL="565150" lvl="1" indent="-179388">
              <a:buFontTx/>
              <a:buChar char="•"/>
            </a:pPr>
            <a:endParaRPr lang="en-GB" sz="1600" b="1" dirty="0"/>
          </a:p>
          <a:p>
            <a:pPr marL="193675" indent="-193675"/>
            <a:r>
              <a:rPr lang="en-GB" sz="1600" dirty="0"/>
              <a:t>4, 5 - as MPEG-1</a:t>
            </a:r>
          </a:p>
          <a:p>
            <a:pPr marL="193675" indent="-193675"/>
            <a:endParaRPr lang="en-GB" sz="1600" dirty="0"/>
          </a:p>
          <a:p>
            <a:pPr marL="193675" indent="-193675"/>
            <a:r>
              <a:rPr lang="en-GB" sz="1600" dirty="0"/>
              <a:t>7 - Enhanced audio</a:t>
            </a:r>
          </a:p>
        </p:txBody>
      </p:sp>
      <p:sp>
        <p:nvSpPr>
          <p:cNvPr id="7171" name="Rectangle 3"/>
          <p:cNvSpPr>
            <a:spLocks noChangeArrowheads="1"/>
          </p:cNvSpPr>
          <p:nvPr/>
        </p:nvSpPr>
        <p:spPr bwMode="auto">
          <a:xfrm>
            <a:off x="381000" y="331788"/>
            <a:ext cx="1382110" cy="461665"/>
          </a:xfrm>
          <a:prstGeom prst="rect">
            <a:avLst/>
          </a:prstGeom>
          <a:noFill/>
          <a:ln w="9525">
            <a:noFill/>
            <a:miter lim="800000"/>
            <a:headEnd/>
            <a:tailEnd/>
          </a:ln>
        </p:spPr>
        <p:txBody>
          <a:bodyPr wrap="none">
            <a:spAutoFit/>
          </a:bodyPr>
          <a:lstStyle/>
          <a:p>
            <a:r>
              <a:rPr lang="en-GB" sz="2400" b="1" dirty="0"/>
              <a:t>MPEG-2</a:t>
            </a:r>
          </a:p>
        </p:txBody>
      </p:sp>
    </p:spTree>
    <p:extLst>
      <p:ext uri="{BB962C8B-B14F-4D97-AF65-F5344CB8AC3E}">
        <p14:creationId xmlns:p14="http://schemas.microsoft.com/office/powerpoint/2010/main" val="218377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81000" y="1143000"/>
            <a:ext cx="8153400" cy="3539430"/>
          </a:xfrm>
          <a:prstGeom prst="rect">
            <a:avLst/>
          </a:prstGeom>
          <a:noFill/>
          <a:ln w="9525">
            <a:noFill/>
            <a:miter lim="800000"/>
            <a:headEnd/>
            <a:tailEnd/>
          </a:ln>
        </p:spPr>
        <p:txBody>
          <a:bodyPr>
            <a:spAutoFit/>
          </a:bodyPr>
          <a:lstStyle/>
          <a:p>
            <a:pPr marL="193675" indent="-193675"/>
            <a:r>
              <a:rPr lang="en-GB" sz="1600" b="1" dirty="0"/>
              <a:t>Part 3 </a:t>
            </a:r>
            <a:endParaRPr lang="en-GB" sz="1600" dirty="0"/>
          </a:p>
          <a:p>
            <a:pPr marL="193675" indent="-193675">
              <a:buFontTx/>
              <a:buChar char="•"/>
            </a:pPr>
            <a:r>
              <a:rPr lang="en-GB" sz="1600" dirty="0"/>
              <a:t>new audio encoding (see later...)</a:t>
            </a:r>
          </a:p>
          <a:p>
            <a:pPr marL="193675" indent="-193675">
              <a:buFontTx/>
              <a:buChar char="•"/>
            </a:pPr>
            <a:endParaRPr lang="en-GB" sz="1600" dirty="0"/>
          </a:p>
          <a:p>
            <a:pPr marL="193675" indent="-193675">
              <a:buFontTx/>
              <a:buChar char="•"/>
            </a:pPr>
            <a:r>
              <a:rPr lang="en-GB" sz="1600" dirty="0"/>
              <a:t>low </a:t>
            </a:r>
            <a:r>
              <a:rPr lang="en-GB" sz="1600" dirty="0" err="1"/>
              <a:t>bitrate</a:t>
            </a:r>
            <a:r>
              <a:rPr lang="en-GB" sz="1600" dirty="0"/>
              <a:t> encoding with halved sampling rate </a:t>
            </a:r>
          </a:p>
          <a:p>
            <a:pPr marL="565150" lvl="1" indent="-179388">
              <a:buFontTx/>
              <a:buChar char="•"/>
            </a:pPr>
            <a:r>
              <a:rPr lang="en-GB" sz="1600" dirty="0"/>
              <a:t>MPEG-1 Layer 1/2/3 LSF - low sampling frequency</a:t>
            </a:r>
          </a:p>
          <a:p>
            <a:pPr marL="193675" indent="-193675">
              <a:buFontTx/>
              <a:buChar char="•"/>
            </a:pPr>
            <a:endParaRPr lang="en-GB" sz="1600" dirty="0"/>
          </a:p>
          <a:p>
            <a:pPr marL="193675" indent="-193675">
              <a:buFontTx/>
              <a:buChar char="•"/>
            </a:pPr>
            <a:r>
              <a:rPr lang="en-GB" sz="1600" dirty="0"/>
              <a:t>multichannel encoding with up to 5.1 channels</a:t>
            </a:r>
          </a:p>
          <a:p>
            <a:pPr marL="193675" indent="-193675"/>
            <a:r>
              <a:rPr lang="en-GB" sz="1600" dirty="0"/>
              <a:t>	... backwards compatible - </a:t>
            </a:r>
          </a:p>
          <a:p>
            <a:pPr marL="193675" indent="-193675"/>
            <a:r>
              <a:rPr lang="en-GB" sz="1600" dirty="0"/>
              <a:t>		MPEG-1 audio decoders can decode stereo from MPEG-2 		multi-</a:t>
            </a:r>
            <a:r>
              <a:rPr lang="en-GB" sz="1600" dirty="0" err="1"/>
              <a:t>chan</a:t>
            </a:r>
            <a:r>
              <a:rPr lang="en-GB" sz="1600" dirty="0"/>
              <a:t> audio</a:t>
            </a:r>
          </a:p>
          <a:p>
            <a:pPr marL="193675" indent="-193675"/>
            <a:endParaRPr lang="en-GB" sz="1600" dirty="0"/>
          </a:p>
          <a:p>
            <a:pPr marL="193675" indent="-193675"/>
            <a:r>
              <a:rPr lang="en-GB" sz="1600" b="1" dirty="0"/>
              <a:t>MPEG-2 AAC - Part 7</a:t>
            </a:r>
            <a:r>
              <a:rPr lang="en-GB" sz="1600" dirty="0"/>
              <a:t> </a:t>
            </a:r>
          </a:p>
          <a:p>
            <a:pPr marL="193675" indent="-193675">
              <a:buFontTx/>
              <a:buChar char="•"/>
            </a:pPr>
            <a:r>
              <a:rPr lang="en-GB" sz="1600" dirty="0"/>
              <a:t>make better use of available bandwidth </a:t>
            </a:r>
          </a:p>
          <a:p>
            <a:pPr marL="565150" lvl="1" indent="-179388">
              <a:buFontTx/>
              <a:buChar char="•"/>
            </a:pPr>
            <a:r>
              <a:rPr lang="en-GB" sz="1600" dirty="0"/>
              <a:t>non-backwards-compatible </a:t>
            </a:r>
          </a:p>
        </p:txBody>
      </p:sp>
      <p:sp>
        <p:nvSpPr>
          <p:cNvPr id="8195" name="Rectangle 3"/>
          <p:cNvSpPr>
            <a:spLocks noChangeArrowheads="1"/>
          </p:cNvSpPr>
          <p:nvPr/>
        </p:nvSpPr>
        <p:spPr bwMode="auto">
          <a:xfrm>
            <a:off x="381000" y="331788"/>
            <a:ext cx="2356735" cy="461665"/>
          </a:xfrm>
          <a:prstGeom prst="rect">
            <a:avLst/>
          </a:prstGeom>
          <a:noFill/>
          <a:ln w="9525">
            <a:noFill/>
            <a:miter lim="800000"/>
            <a:headEnd/>
            <a:tailEnd/>
          </a:ln>
        </p:spPr>
        <p:txBody>
          <a:bodyPr wrap="none">
            <a:spAutoFit/>
          </a:bodyPr>
          <a:lstStyle/>
          <a:p>
            <a:r>
              <a:rPr lang="en-GB" sz="2400" b="1" dirty="0"/>
              <a:t>MPEG-2 Audio</a:t>
            </a:r>
          </a:p>
        </p:txBody>
      </p:sp>
    </p:spTree>
    <p:extLst>
      <p:ext uri="{BB962C8B-B14F-4D97-AF65-F5344CB8AC3E}">
        <p14:creationId xmlns:p14="http://schemas.microsoft.com/office/powerpoint/2010/main" val="202643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749B27-D106-407C-9307-75D0DF71D60E}"/>
              </a:ext>
            </a:extLst>
          </p:cNvPr>
          <p:cNvSpPr txBox="1"/>
          <p:nvPr/>
        </p:nvSpPr>
        <p:spPr>
          <a:xfrm>
            <a:off x="395288" y="2782669"/>
            <a:ext cx="7845417" cy="769441"/>
          </a:xfrm>
          <a:prstGeom prst="rect">
            <a:avLst/>
          </a:prstGeom>
          <a:noFill/>
        </p:spPr>
        <p:txBody>
          <a:bodyPr wrap="none" rtlCol="0">
            <a:spAutoFit/>
          </a:bodyPr>
          <a:lstStyle/>
          <a:p>
            <a:r>
              <a:rPr lang="en-GB" sz="4400" b="1" dirty="0"/>
              <a:t>Compression - Introduction</a:t>
            </a:r>
          </a:p>
        </p:txBody>
      </p:sp>
    </p:spTree>
    <p:extLst>
      <p:ext uri="{BB962C8B-B14F-4D97-AF65-F5344CB8AC3E}">
        <p14:creationId xmlns:p14="http://schemas.microsoft.com/office/powerpoint/2010/main" val="604315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368300"/>
            <a:ext cx="8229600" cy="1143000"/>
          </a:xfrm>
        </p:spPr>
        <p:txBody>
          <a:bodyPr>
            <a:normAutofit/>
          </a:bodyPr>
          <a:lstStyle/>
          <a:p>
            <a:pPr algn="l"/>
            <a:r>
              <a:rPr lang="en-GB" sz="2400" b="1" dirty="0"/>
              <a:t>Why Compress Audio?</a:t>
            </a:r>
          </a:p>
        </p:txBody>
      </p:sp>
      <p:sp>
        <p:nvSpPr>
          <p:cNvPr id="3" name="Content Placeholder 2"/>
          <p:cNvSpPr>
            <a:spLocks noGrp="1"/>
          </p:cNvSpPr>
          <p:nvPr>
            <p:ph idx="1"/>
          </p:nvPr>
        </p:nvSpPr>
        <p:spPr/>
        <p:txBody>
          <a:bodyPr/>
          <a:lstStyle/>
          <a:p>
            <a:pPr>
              <a:lnSpc>
                <a:spcPct val="150000"/>
              </a:lnSpc>
            </a:pPr>
            <a:r>
              <a:rPr lang="en-GB" sz="1800" dirty="0"/>
              <a:t>CD quality = 2* 44.1 *16 Kbps ≈ 1.4 Mbps</a:t>
            </a:r>
          </a:p>
          <a:p>
            <a:pPr>
              <a:lnSpc>
                <a:spcPct val="150000"/>
              </a:lnSpc>
            </a:pPr>
            <a:r>
              <a:rPr lang="en-GB" sz="1800" dirty="0"/>
              <a:t>About 1/850 of HDTV video</a:t>
            </a:r>
          </a:p>
          <a:p>
            <a:pPr>
              <a:lnSpc>
                <a:spcPct val="150000"/>
              </a:lnSpc>
            </a:pPr>
            <a:r>
              <a:rPr lang="en-GB" sz="1800" dirty="0"/>
              <a:t>1 hour of audio needs 3600* 1.4 /8 = 630 MB</a:t>
            </a:r>
          </a:p>
          <a:p>
            <a:pPr>
              <a:lnSpc>
                <a:spcPct val="150000"/>
              </a:lnSpc>
            </a:pPr>
            <a:r>
              <a:rPr lang="en-GB" sz="1800" dirty="0"/>
              <a:t>100 songs  take about 360 minutes ≈ 4 GB </a:t>
            </a:r>
          </a:p>
          <a:p>
            <a:pPr>
              <a:lnSpc>
                <a:spcPct val="150000"/>
              </a:lnSpc>
            </a:pPr>
            <a:r>
              <a:rPr lang="en-GB" sz="1800" dirty="0"/>
              <a:t>Will we continue to compress audio –</a:t>
            </a:r>
          </a:p>
          <a:p>
            <a:pPr>
              <a:lnSpc>
                <a:spcPct val="150000"/>
              </a:lnSpc>
            </a:pPr>
            <a:r>
              <a:rPr lang="en-GB" sz="1800" dirty="0"/>
              <a:t>Mobile devices may prefer to save battery power by not decompressing??</a:t>
            </a:r>
          </a:p>
          <a:p>
            <a:pPr>
              <a:lnSpc>
                <a:spcPct val="150000"/>
              </a:lnSpc>
            </a:pPr>
            <a:endParaRPr lang="en-GB" sz="1800" dirty="0"/>
          </a:p>
        </p:txBody>
      </p:sp>
    </p:spTree>
    <p:extLst>
      <p:ext uri="{BB962C8B-B14F-4D97-AF65-F5344CB8AC3E}">
        <p14:creationId xmlns:p14="http://schemas.microsoft.com/office/powerpoint/2010/main" val="3079333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sz="2400" b="1" dirty="0"/>
              <a:t>Why Compress Video</a:t>
            </a:r>
          </a:p>
        </p:txBody>
      </p:sp>
      <p:sp>
        <p:nvSpPr>
          <p:cNvPr id="3" name="Content Placeholder 2"/>
          <p:cNvSpPr>
            <a:spLocks noGrp="1"/>
          </p:cNvSpPr>
          <p:nvPr>
            <p:ph idx="1"/>
          </p:nvPr>
        </p:nvSpPr>
        <p:spPr/>
        <p:txBody>
          <a:bodyPr/>
          <a:lstStyle/>
          <a:p>
            <a:pPr>
              <a:lnSpc>
                <a:spcPct val="150000"/>
              </a:lnSpc>
            </a:pPr>
            <a:r>
              <a:rPr lang="en-GB" sz="1800" dirty="0"/>
              <a:t>Size of uncompressed 1080p HDTV</a:t>
            </a:r>
          </a:p>
          <a:p>
            <a:pPr>
              <a:lnSpc>
                <a:spcPct val="150000"/>
              </a:lnSpc>
            </a:pPr>
            <a:r>
              <a:rPr lang="en-GB" sz="1800" dirty="0"/>
              <a:t>1920 * 1080 ≈ 2 </a:t>
            </a:r>
            <a:r>
              <a:rPr lang="en-GB" sz="1800" dirty="0" err="1"/>
              <a:t>Mpixels</a:t>
            </a:r>
            <a:r>
              <a:rPr lang="en-GB" sz="1800" dirty="0"/>
              <a:t> per frame</a:t>
            </a:r>
          </a:p>
          <a:p>
            <a:pPr>
              <a:lnSpc>
                <a:spcPct val="150000"/>
              </a:lnSpc>
            </a:pPr>
            <a:r>
              <a:rPr lang="en-GB" sz="1800" dirty="0"/>
              <a:t>For RGB this is 6MB per frame</a:t>
            </a:r>
          </a:p>
          <a:p>
            <a:pPr>
              <a:lnSpc>
                <a:spcPct val="150000"/>
              </a:lnSpc>
            </a:pPr>
            <a:r>
              <a:rPr lang="en-GB" sz="1800" dirty="0"/>
              <a:t>Thus 1 s of video needs 25 *6MB = 150MB</a:t>
            </a:r>
          </a:p>
          <a:p>
            <a:pPr>
              <a:lnSpc>
                <a:spcPct val="150000"/>
              </a:lnSpc>
            </a:pPr>
            <a:r>
              <a:rPr lang="en-GB" sz="1800" dirty="0"/>
              <a:t>Data rate of 150 *8 = 1200 Mbps = 1.2 </a:t>
            </a:r>
            <a:r>
              <a:rPr lang="en-GB" sz="1800" dirty="0" err="1"/>
              <a:t>Gbps</a:t>
            </a:r>
            <a:endParaRPr lang="en-GB" sz="1800" dirty="0"/>
          </a:p>
          <a:p>
            <a:pPr>
              <a:lnSpc>
                <a:spcPct val="150000"/>
              </a:lnSpc>
            </a:pPr>
            <a:r>
              <a:rPr lang="en-GB" sz="1800" dirty="0"/>
              <a:t>One hour of video needs 3600*150 MB</a:t>
            </a:r>
          </a:p>
          <a:p>
            <a:pPr marL="0" indent="0">
              <a:lnSpc>
                <a:spcPct val="150000"/>
              </a:lnSpc>
              <a:buNone/>
            </a:pPr>
            <a:r>
              <a:rPr lang="en-GB" sz="1800" dirty="0"/>
              <a:t> = 540,000 MB = 540 GB</a:t>
            </a:r>
          </a:p>
        </p:txBody>
      </p:sp>
    </p:spTree>
    <p:extLst>
      <p:ext uri="{BB962C8B-B14F-4D97-AF65-F5344CB8AC3E}">
        <p14:creationId xmlns:p14="http://schemas.microsoft.com/office/powerpoint/2010/main" val="809490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rmAutofit/>
          </a:bodyPr>
          <a:lstStyle/>
          <a:p>
            <a:pPr algn="l"/>
            <a:r>
              <a:rPr lang="en-GB" altLang="en-US" sz="2400" b="1" dirty="0"/>
              <a:t>Compressed and Uncompressed Images</a:t>
            </a:r>
          </a:p>
        </p:txBody>
      </p:sp>
      <p:sp>
        <p:nvSpPr>
          <p:cNvPr id="21507" name="Rectangle 3"/>
          <p:cNvSpPr>
            <a:spLocks noGrp="1" noChangeArrowheads="1"/>
          </p:cNvSpPr>
          <p:nvPr>
            <p:ph type="body" idx="1"/>
          </p:nvPr>
        </p:nvSpPr>
        <p:spPr>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buFontTx/>
              <a:buNone/>
            </a:pPr>
            <a:endParaRPr lang="en-US" altLang="en-US" dirty="0"/>
          </a:p>
        </p:txBody>
      </p:sp>
      <p:sp>
        <p:nvSpPr>
          <p:cNvPr id="21508" name="Rectangle 4"/>
          <p:cNvSpPr>
            <a:spLocks noChangeArrowheads="1"/>
          </p:cNvSpPr>
          <p:nvPr/>
        </p:nvSpPr>
        <p:spPr bwMode="auto">
          <a:xfrm>
            <a:off x="1225550" y="2139950"/>
            <a:ext cx="1587500" cy="14351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09" name="Line 5"/>
          <p:cNvSpPr>
            <a:spLocks noChangeShapeType="1"/>
          </p:cNvSpPr>
          <p:nvPr/>
        </p:nvSpPr>
        <p:spPr bwMode="auto">
          <a:xfrm>
            <a:off x="2819400" y="2819400"/>
            <a:ext cx="3200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10" name="Oval 6"/>
          <p:cNvSpPr>
            <a:spLocks noChangeArrowheads="1"/>
          </p:cNvSpPr>
          <p:nvPr/>
        </p:nvSpPr>
        <p:spPr bwMode="auto">
          <a:xfrm>
            <a:off x="6026150" y="2139950"/>
            <a:ext cx="1816100" cy="12827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1" name="Oval 7"/>
          <p:cNvSpPr>
            <a:spLocks noChangeArrowheads="1"/>
          </p:cNvSpPr>
          <p:nvPr/>
        </p:nvSpPr>
        <p:spPr bwMode="auto">
          <a:xfrm>
            <a:off x="4425950" y="2673350"/>
            <a:ext cx="292100" cy="2921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2" name="Rectangle 8"/>
          <p:cNvSpPr>
            <a:spLocks noChangeArrowheads="1"/>
          </p:cNvSpPr>
          <p:nvPr/>
        </p:nvSpPr>
        <p:spPr bwMode="auto">
          <a:xfrm>
            <a:off x="1279525" y="2270125"/>
            <a:ext cx="10144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400"/>
              <a:t>raster</a:t>
            </a:r>
          </a:p>
          <a:p>
            <a:pPr eaLnBrk="0" hangingPunct="0"/>
            <a:r>
              <a:rPr lang="en-GB" altLang="en-US" sz="2400"/>
              <a:t>image</a:t>
            </a:r>
          </a:p>
        </p:txBody>
      </p:sp>
      <p:sp>
        <p:nvSpPr>
          <p:cNvPr id="21513" name="Rectangle 9"/>
          <p:cNvSpPr>
            <a:spLocks noChangeArrowheads="1"/>
          </p:cNvSpPr>
          <p:nvPr/>
        </p:nvSpPr>
        <p:spPr bwMode="auto">
          <a:xfrm>
            <a:off x="6308725" y="2422525"/>
            <a:ext cx="1133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400"/>
              <a:t>display</a:t>
            </a:r>
          </a:p>
        </p:txBody>
      </p:sp>
      <p:sp>
        <p:nvSpPr>
          <p:cNvPr id="21514" name="Rectangle 10"/>
          <p:cNvSpPr>
            <a:spLocks noChangeArrowheads="1"/>
          </p:cNvSpPr>
          <p:nvPr/>
        </p:nvSpPr>
        <p:spPr bwMode="auto">
          <a:xfrm>
            <a:off x="4111625" y="2268538"/>
            <a:ext cx="920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1200" dirty="0"/>
              <a:t>processing</a:t>
            </a:r>
          </a:p>
          <a:p>
            <a:pPr eaLnBrk="0" hangingPunct="0"/>
            <a:r>
              <a:rPr lang="en-GB" altLang="en-US" sz="1200" dirty="0"/>
              <a:t>time</a:t>
            </a:r>
          </a:p>
        </p:txBody>
      </p:sp>
      <p:sp>
        <p:nvSpPr>
          <p:cNvPr id="21515" name="Rectangle 11"/>
          <p:cNvSpPr>
            <a:spLocks noChangeArrowheads="1"/>
          </p:cNvSpPr>
          <p:nvPr/>
        </p:nvSpPr>
        <p:spPr bwMode="auto">
          <a:xfrm>
            <a:off x="1530350" y="4502150"/>
            <a:ext cx="1130300" cy="4445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6" name="Oval 12"/>
          <p:cNvSpPr>
            <a:spLocks noChangeArrowheads="1"/>
          </p:cNvSpPr>
          <p:nvPr/>
        </p:nvSpPr>
        <p:spPr bwMode="auto">
          <a:xfrm>
            <a:off x="6407150" y="4044950"/>
            <a:ext cx="1816100" cy="12827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7" name="Line 13"/>
          <p:cNvSpPr>
            <a:spLocks noChangeShapeType="1"/>
          </p:cNvSpPr>
          <p:nvPr/>
        </p:nvSpPr>
        <p:spPr bwMode="auto">
          <a:xfrm>
            <a:off x="2286000" y="4724400"/>
            <a:ext cx="4114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18" name="Oval 14"/>
          <p:cNvSpPr>
            <a:spLocks noChangeArrowheads="1"/>
          </p:cNvSpPr>
          <p:nvPr/>
        </p:nvSpPr>
        <p:spPr bwMode="auto">
          <a:xfrm>
            <a:off x="3740150" y="4044950"/>
            <a:ext cx="1435100" cy="13589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9" name="Rectangle 15"/>
          <p:cNvSpPr>
            <a:spLocks noChangeArrowheads="1"/>
          </p:cNvSpPr>
          <p:nvPr/>
        </p:nvSpPr>
        <p:spPr bwMode="auto">
          <a:xfrm>
            <a:off x="6613525" y="4556125"/>
            <a:ext cx="1133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400"/>
              <a:t>display</a:t>
            </a:r>
          </a:p>
        </p:txBody>
      </p:sp>
      <p:sp>
        <p:nvSpPr>
          <p:cNvPr id="21520" name="Rectangle 16"/>
          <p:cNvSpPr>
            <a:spLocks noChangeArrowheads="1"/>
          </p:cNvSpPr>
          <p:nvPr/>
        </p:nvSpPr>
        <p:spPr bwMode="auto">
          <a:xfrm>
            <a:off x="1508125" y="4518025"/>
            <a:ext cx="11525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1400"/>
              <a:t>compressed</a:t>
            </a:r>
          </a:p>
          <a:p>
            <a:pPr eaLnBrk="0" hangingPunct="0"/>
            <a:r>
              <a:rPr lang="en-GB" altLang="en-US" sz="1400"/>
              <a:t>image</a:t>
            </a:r>
          </a:p>
        </p:txBody>
      </p:sp>
      <p:sp>
        <p:nvSpPr>
          <p:cNvPr id="21521" name="Rectangle 17"/>
          <p:cNvSpPr>
            <a:spLocks noChangeArrowheads="1"/>
          </p:cNvSpPr>
          <p:nvPr/>
        </p:nvSpPr>
        <p:spPr bwMode="auto">
          <a:xfrm>
            <a:off x="3713162" y="5434807"/>
            <a:ext cx="1412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GB" altLang="en-US" sz="2000" dirty="0"/>
              <a:t>processing</a:t>
            </a:r>
          </a:p>
          <a:p>
            <a:pPr eaLnBrk="0" hangingPunct="0"/>
            <a:r>
              <a:rPr lang="en-GB" altLang="en-US" sz="2000" dirty="0"/>
              <a:t>time</a:t>
            </a:r>
          </a:p>
        </p:txBody>
      </p:sp>
    </p:spTree>
    <p:extLst>
      <p:ext uri="{BB962C8B-B14F-4D97-AF65-F5344CB8AC3E}">
        <p14:creationId xmlns:p14="http://schemas.microsoft.com/office/powerpoint/2010/main" val="101792344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8" y="457200"/>
            <a:ext cx="8229600" cy="11430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gn="l"/>
            <a:r>
              <a:rPr lang="en-GB" altLang="en-US" sz="2400" b="1" dirty="0"/>
              <a:t>Compression Techniques: Lossless</a:t>
            </a:r>
          </a:p>
        </p:txBody>
      </p:sp>
      <p:sp>
        <p:nvSpPr>
          <p:cNvPr id="20483" name="Rectangle 3"/>
          <p:cNvSpPr>
            <a:spLocks noGrp="1" noChangeArrowheads="1"/>
          </p:cNvSpPr>
          <p:nvPr>
            <p:ph type="body" idx="1"/>
          </p:nvPr>
        </p:nvSpPr>
        <p:spPr>
          <a:xfrm>
            <a:off x="457200" y="1600200"/>
            <a:ext cx="8435280" cy="4525963"/>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nSpc>
                <a:spcPct val="150000"/>
              </a:lnSpc>
            </a:pPr>
            <a:r>
              <a:rPr lang="en-GB" altLang="en-US" sz="1800" dirty="0"/>
              <a:t>uses techniques (tricks) to reduce data storage requirements whilst maintaining ability to reproduce original file exactly</a:t>
            </a:r>
          </a:p>
          <a:p>
            <a:pPr>
              <a:lnSpc>
                <a:spcPct val="150000"/>
              </a:lnSpc>
            </a:pPr>
            <a:r>
              <a:rPr lang="en-GB" altLang="en-US" sz="1800" dirty="0"/>
              <a:t>possible because image is generally stored in a format that is logical and also compatible with the capture or display medium</a:t>
            </a:r>
          </a:p>
          <a:p>
            <a:pPr>
              <a:lnSpc>
                <a:spcPct val="150000"/>
              </a:lnSpc>
            </a:pPr>
            <a:r>
              <a:rPr lang="en-GB" altLang="en-US" sz="1800" dirty="0"/>
              <a:t>lossless compression will generally compact data by processing it from the most logical or compatible structure to a format that requires minimal storage space</a:t>
            </a:r>
          </a:p>
          <a:p>
            <a:pPr>
              <a:lnSpc>
                <a:spcPct val="150000"/>
              </a:lnSpc>
            </a:pPr>
            <a:r>
              <a:rPr lang="en-GB" altLang="en-US" sz="1800" dirty="0"/>
              <a:t>trades storage space for additional processing time</a:t>
            </a:r>
          </a:p>
        </p:txBody>
      </p:sp>
    </p:spTree>
    <p:extLst>
      <p:ext uri="{BB962C8B-B14F-4D97-AF65-F5344CB8AC3E}">
        <p14:creationId xmlns:p14="http://schemas.microsoft.com/office/powerpoint/2010/main" val="348548699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274638"/>
            <a:ext cx="8229600" cy="457199"/>
          </a:xfrm>
        </p:spPr>
        <p:txBody>
          <a:bodyPr>
            <a:normAutofit fontScale="90000"/>
          </a:bodyPr>
          <a:lstStyle/>
          <a:p>
            <a:pPr algn="l"/>
            <a:r>
              <a:rPr lang="en-GB" altLang="en-US" sz="2400" b="1"/>
              <a:t>Compression – Information Theory</a:t>
            </a:r>
          </a:p>
        </p:txBody>
      </p:sp>
      <p:sp>
        <p:nvSpPr>
          <p:cNvPr id="19459" name="Rectangle 3"/>
          <p:cNvSpPr>
            <a:spLocks noGrp="1" noChangeArrowheads="1"/>
          </p:cNvSpPr>
          <p:nvPr>
            <p:ph type="body" idx="1"/>
          </p:nvPr>
        </p:nvSpPr>
        <p:spPr>
          <a:xfrm>
            <a:off x="415571" y="908720"/>
            <a:ext cx="6100645" cy="4525963"/>
          </a:xfrm>
        </p:spPr>
        <p:txBody>
          <a:bodyPr>
            <a:normAutofit fontScale="92500" lnSpcReduction="20000"/>
          </a:bodyPr>
          <a:lstStyle/>
          <a:p>
            <a:pPr marL="0" indent="0">
              <a:lnSpc>
                <a:spcPct val="150000"/>
              </a:lnSpc>
              <a:buNone/>
            </a:pPr>
            <a:r>
              <a:rPr lang="en-GB" altLang="en-US" sz="1600"/>
              <a:t>IF …</a:t>
            </a:r>
          </a:p>
          <a:p>
            <a:pPr>
              <a:lnSpc>
                <a:spcPct val="150000"/>
              </a:lnSpc>
            </a:pPr>
            <a:r>
              <a:rPr lang="en-GB" altLang="en-US" sz="1600"/>
              <a:t>image is all the same colour </a:t>
            </a:r>
          </a:p>
          <a:p>
            <a:pPr lvl="1">
              <a:lnSpc>
                <a:spcPct val="150000"/>
              </a:lnSpc>
            </a:pPr>
            <a:r>
              <a:rPr lang="en-GB" altLang="en-US" sz="1600"/>
              <a:t>very easy to compress  - just replace with colour value and codeword to indicate</a:t>
            </a:r>
          </a:p>
          <a:p>
            <a:pPr marL="457200" lvl="1" indent="0">
              <a:lnSpc>
                <a:spcPct val="150000"/>
              </a:lnSpc>
              <a:buNone/>
            </a:pPr>
            <a:endParaRPr lang="en-GB" altLang="en-US" sz="1600"/>
          </a:p>
          <a:p>
            <a:pPr>
              <a:lnSpc>
                <a:spcPct val="150000"/>
              </a:lnSpc>
            </a:pPr>
            <a:r>
              <a:rPr lang="en-GB" altLang="en-US" sz="1600"/>
              <a:t>every pixel is a random number between 0 &amp; 255 and not correlated in any way with other pixels </a:t>
            </a:r>
          </a:p>
          <a:p>
            <a:pPr lvl="1">
              <a:lnSpc>
                <a:spcPct val="150000"/>
              </a:lnSpc>
            </a:pPr>
            <a:r>
              <a:rPr lang="en-GB" altLang="en-US" sz="1600"/>
              <a:t>it is impossible to compress</a:t>
            </a:r>
          </a:p>
          <a:p>
            <a:pPr marL="0" indent="0">
              <a:lnSpc>
                <a:spcPct val="150000"/>
              </a:lnSpc>
              <a:buNone/>
            </a:pPr>
            <a:endParaRPr lang="en-GB" altLang="en-US" sz="1600"/>
          </a:p>
          <a:p>
            <a:pPr marL="0" indent="0">
              <a:lnSpc>
                <a:spcPct val="150000"/>
              </a:lnSpc>
              <a:buNone/>
            </a:pPr>
            <a:r>
              <a:rPr lang="en-GB" altLang="en-US" sz="1600"/>
              <a:t>In between - </a:t>
            </a:r>
          </a:p>
          <a:p>
            <a:pPr>
              <a:lnSpc>
                <a:spcPct val="150000"/>
              </a:lnSpc>
            </a:pPr>
            <a:r>
              <a:rPr lang="en-GB" altLang="en-US" sz="1600"/>
              <a:t>look for patterns only for lossless compression </a:t>
            </a:r>
          </a:p>
          <a:p>
            <a:pPr>
              <a:lnSpc>
                <a:spcPct val="150000"/>
              </a:lnSpc>
            </a:pPr>
            <a:r>
              <a:rPr lang="en-GB" altLang="en-US" sz="1600"/>
              <a:t>additionally psychovisual characteristics for lossy compression</a:t>
            </a:r>
            <a:endParaRPr lang="en-GB" altLang="en-US" sz="1600" dirty="0"/>
          </a:p>
        </p:txBody>
      </p:sp>
      <p:sp>
        <p:nvSpPr>
          <p:cNvPr id="7" name="Rectangle 6">
            <a:extLst>
              <a:ext uri="{FF2B5EF4-FFF2-40B4-BE49-F238E27FC236}">
                <a16:creationId xmlns:a16="http://schemas.microsoft.com/office/drawing/2014/main" id="{64F17E78-F780-4B78-A806-5C5AB5C4920C}"/>
              </a:ext>
            </a:extLst>
          </p:cNvPr>
          <p:cNvSpPr/>
          <p:nvPr/>
        </p:nvSpPr>
        <p:spPr>
          <a:xfrm>
            <a:off x="6660232" y="923043"/>
            <a:ext cx="2026568" cy="151992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940975A9-F284-49AA-A2D9-E5000C0F153A}"/>
              </a:ext>
            </a:extLst>
          </p:cNvPr>
          <p:cNvPicPr>
            <a:picLocks noChangeAspect="1"/>
          </p:cNvPicPr>
          <p:nvPr/>
        </p:nvPicPr>
        <p:blipFill rotWithShape="1">
          <a:blip r:embed="rId2">
            <a:extLst>
              <a:ext uri="{28A0092B-C50C-407E-A947-70E740481C1C}">
                <a14:useLocalDpi xmlns:a14="http://schemas.microsoft.com/office/drawing/2010/main" val="0"/>
              </a:ext>
            </a:extLst>
          </a:blip>
          <a:srcRect l="57594" t="56749" r="17094" b="17938"/>
          <a:stretch/>
        </p:blipFill>
        <p:spPr>
          <a:xfrm>
            <a:off x="6660232" y="2564315"/>
            <a:ext cx="2026568" cy="1519926"/>
          </a:xfrm>
          <a:prstGeom prst="rect">
            <a:avLst/>
          </a:prstGeom>
        </p:spPr>
      </p:pic>
      <p:pic>
        <p:nvPicPr>
          <p:cNvPr id="9" name="Picture 8">
            <a:extLst>
              <a:ext uri="{FF2B5EF4-FFF2-40B4-BE49-F238E27FC236}">
                <a16:creationId xmlns:a16="http://schemas.microsoft.com/office/drawing/2014/main" id="{E7BE95FB-B990-4849-8B1B-4BB1D67432FD}"/>
              </a:ext>
            </a:extLst>
          </p:cNvPr>
          <p:cNvPicPr>
            <a:picLocks noChangeAspect="1"/>
          </p:cNvPicPr>
          <p:nvPr/>
        </p:nvPicPr>
        <p:blipFill rotWithShape="1">
          <a:blip r:embed="rId3">
            <a:extLst>
              <a:ext uri="{28A0092B-C50C-407E-A947-70E740481C1C}">
                <a14:useLocalDpi xmlns:a14="http://schemas.microsoft.com/office/drawing/2010/main" val="0"/>
              </a:ext>
            </a:extLst>
          </a:blip>
          <a:srcRect r="861" b="-624"/>
          <a:stretch/>
        </p:blipFill>
        <p:spPr>
          <a:xfrm>
            <a:off x="6048164" y="4316425"/>
            <a:ext cx="2412268" cy="1828139"/>
          </a:xfrm>
          <a:prstGeom prst="rect">
            <a:avLst/>
          </a:prstGeom>
        </p:spPr>
      </p:pic>
    </p:spTree>
    <p:extLst>
      <p:ext uri="{BB962C8B-B14F-4D97-AF65-F5344CB8AC3E}">
        <p14:creationId xmlns:p14="http://schemas.microsoft.com/office/powerpoint/2010/main" val="217320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95288" y="368300"/>
            <a:ext cx="8229600" cy="11430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gn="l"/>
            <a:r>
              <a:rPr lang="en-GB" altLang="en-US" sz="2400" b="1" dirty="0"/>
              <a:t>Lossless Compression</a:t>
            </a:r>
          </a:p>
        </p:txBody>
      </p:sp>
      <p:sp>
        <p:nvSpPr>
          <p:cNvPr id="23555" name="Rectangle 3"/>
          <p:cNvSpPr>
            <a:spLocks noGrp="1" noChangeArrowheads="1"/>
          </p:cNvSpPr>
          <p:nvPr>
            <p:ph type="body" idx="1"/>
          </p:nvPr>
        </p:nvSpPr>
        <p:spPr>
          <a:xfrm>
            <a:off x="395288" y="1460928"/>
            <a:ext cx="8229600" cy="4525963"/>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nSpc>
                <a:spcPct val="150000"/>
              </a:lnSpc>
            </a:pPr>
            <a:r>
              <a:rPr lang="en-GB" altLang="en-US" sz="1800" dirty="0"/>
              <a:t>RLE replaces repeating bytes with number and kind:</a:t>
            </a:r>
          </a:p>
          <a:p>
            <a:pPr lvl="1">
              <a:lnSpc>
                <a:spcPct val="150000"/>
              </a:lnSpc>
            </a:pPr>
            <a:r>
              <a:rPr lang="en-GB" altLang="en-US" sz="1800" dirty="0"/>
              <a:t> e.g.777555555 becomes 3765</a:t>
            </a:r>
          </a:p>
          <a:p>
            <a:pPr lvl="1">
              <a:lnSpc>
                <a:spcPct val="150000"/>
              </a:lnSpc>
            </a:pPr>
            <a:r>
              <a:rPr lang="en-GB" altLang="en-US" sz="1800" dirty="0"/>
              <a:t>compression ratio 9:4 =2.25</a:t>
            </a:r>
          </a:p>
          <a:p>
            <a:pPr>
              <a:lnSpc>
                <a:spcPct val="150000"/>
              </a:lnSpc>
            </a:pPr>
            <a:r>
              <a:rPr lang="en-GB" altLang="en-US" sz="1800" dirty="0"/>
              <a:t>In most applications RLE files are further compressed using Huffman which scans the whole file to discover the most frequently occurring bytes. These bytes are then translated to bit form, for example using only 1 bit for the most frequently occurring byte , 2 bits for the next most frequently occurring and so on</a:t>
            </a:r>
          </a:p>
        </p:txBody>
      </p:sp>
    </p:spTree>
    <p:extLst>
      <p:ext uri="{BB962C8B-B14F-4D97-AF65-F5344CB8AC3E}">
        <p14:creationId xmlns:p14="http://schemas.microsoft.com/office/powerpoint/2010/main" val="159166290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1000" y="333375"/>
            <a:ext cx="4402138" cy="457200"/>
          </a:xfrm>
          <a:prstGeom prst="rect">
            <a:avLst/>
          </a:prstGeom>
          <a:noFill/>
          <a:ln w="9525">
            <a:noFill/>
            <a:miter lim="800000"/>
            <a:headEnd/>
            <a:tailEnd/>
          </a:ln>
        </p:spPr>
        <p:txBody>
          <a:bodyPr wrap="none">
            <a:spAutoFit/>
          </a:bodyPr>
          <a:lstStyle/>
          <a:p>
            <a:r>
              <a:rPr lang="en-GB" sz="2400" b="1" dirty="0"/>
              <a:t>Bit Rate Reduction Principles</a:t>
            </a:r>
          </a:p>
        </p:txBody>
      </p:sp>
      <p:sp>
        <p:nvSpPr>
          <p:cNvPr id="11267" name="Rectangle 3"/>
          <p:cNvSpPr>
            <a:spLocks noChangeArrowheads="1"/>
          </p:cNvSpPr>
          <p:nvPr/>
        </p:nvSpPr>
        <p:spPr bwMode="auto">
          <a:xfrm>
            <a:off x="381000" y="1225550"/>
            <a:ext cx="7659688" cy="4413516"/>
          </a:xfrm>
          <a:prstGeom prst="rect">
            <a:avLst/>
          </a:prstGeom>
          <a:noFill/>
          <a:ln w="9525">
            <a:noFill/>
            <a:miter lim="800000"/>
            <a:headEnd/>
            <a:tailEnd/>
          </a:ln>
        </p:spPr>
        <p:txBody>
          <a:bodyPr>
            <a:spAutoFit/>
          </a:bodyPr>
          <a:lstStyle/>
          <a:p>
            <a:pPr marL="185738" indent="-185738">
              <a:lnSpc>
                <a:spcPct val="120000"/>
              </a:lnSpc>
            </a:pPr>
            <a:r>
              <a:rPr lang="en-GB" sz="1800" b="1" dirty="0"/>
              <a:t>Main process of bit-rate </a:t>
            </a:r>
            <a:r>
              <a:rPr lang="en-GB" sz="1800" b="1"/>
              <a:t>reduction:</a:t>
            </a:r>
          </a:p>
          <a:p>
            <a:pPr marL="185738" indent="-185738">
              <a:lnSpc>
                <a:spcPct val="120000"/>
              </a:lnSpc>
            </a:pPr>
            <a:endParaRPr lang="en-GB" sz="1800" dirty="0"/>
          </a:p>
          <a:p>
            <a:pPr marL="185738" indent="-185738">
              <a:lnSpc>
                <a:spcPct val="120000"/>
              </a:lnSpc>
              <a:buFontTx/>
              <a:buChar char="•"/>
            </a:pPr>
            <a:r>
              <a:rPr lang="en-GB" sz="1800" dirty="0"/>
              <a:t>Remove lower priority information from the signal </a:t>
            </a:r>
            <a:r>
              <a:rPr lang="en-GB" sz="1800"/>
              <a:t>at encoder</a:t>
            </a:r>
          </a:p>
          <a:p>
            <a:pPr marL="642938" lvl="1" indent="-185738">
              <a:lnSpc>
                <a:spcPct val="120000"/>
              </a:lnSpc>
            </a:pPr>
            <a:r>
              <a:rPr lang="en-GB" sz="1800"/>
              <a:t>... according to what we </a:t>
            </a:r>
            <a:r>
              <a:rPr lang="en-GB" sz="1800" i="1"/>
              <a:t>perceive </a:t>
            </a:r>
            <a:r>
              <a:rPr lang="en-GB" sz="1800"/>
              <a:t>in the image</a:t>
            </a:r>
          </a:p>
          <a:p>
            <a:pPr marL="185738" indent="-185738">
              <a:lnSpc>
                <a:spcPct val="120000"/>
              </a:lnSpc>
              <a:buFontTx/>
              <a:buChar char="•"/>
            </a:pPr>
            <a:endParaRPr lang="en-GB" sz="1800" dirty="0"/>
          </a:p>
          <a:p>
            <a:pPr marL="185738" indent="-185738">
              <a:lnSpc>
                <a:spcPct val="120000"/>
              </a:lnSpc>
              <a:buFontTx/>
              <a:buChar char="•"/>
            </a:pPr>
            <a:r>
              <a:rPr lang="en-GB" sz="1800" b="1" dirty="0">
                <a:solidFill>
                  <a:srgbClr val="FF0000"/>
                </a:solidFill>
              </a:rPr>
              <a:t>Coding </a:t>
            </a:r>
            <a:r>
              <a:rPr lang="en-GB" sz="1800" dirty="0"/>
              <a:t>- including information about the </a:t>
            </a:r>
            <a:r>
              <a:rPr lang="en-GB" sz="1800"/>
              <a:t>bit-rate reduction</a:t>
            </a:r>
          </a:p>
          <a:p>
            <a:pPr marL="642938" lvl="1" indent="-185738">
              <a:lnSpc>
                <a:spcPct val="120000"/>
              </a:lnSpc>
            </a:pPr>
            <a:r>
              <a:rPr lang="en-GB" sz="1800"/>
              <a:t>... codec at time of image capture</a:t>
            </a:r>
          </a:p>
          <a:p>
            <a:pPr marL="185738" indent="-185738">
              <a:lnSpc>
                <a:spcPct val="120000"/>
              </a:lnSpc>
            </a:pPr>
            <a:r>
              <a:rPr lang="en-GB" sz="1800"/>
              <a:t> </a:t>
            </a:r>
            <a:endParaRPr lang="en-GB" sz="1800" dirty="0"/>
          </a:p>
          <a:p>
            <a:pPr marL="185738" indent="-185738">
              <a:lnSpc>
                <a:spcPct val="120000"/>
              </a:lnSpc>
              <a:buFontTx/>
              <a:buChar char="•"/>
            </a:pPr>
            <a:r>
              <a:rPr lang="en-GB" sz="1800" b="1">
                <a:solidFill>
                  <a:srgbClr val="FF0000"/>
                </a:solidFill>
              </a:rPr>
              <a:t>Decode</a:t>
            </a:r>
            <a:r>
              <a:rPr lang="en-GB" sz="1800"/>
              <a:t>  - to </a:t>
            </a:r>
            <a:r>
              <a:rPr lang="en-GB" sz="1800" dirty="0"/>
              <a:t>assemble and play the compressed file</a:t>
            </a:r>
          </a:p>
          <a:p>
            <a:pPr marL="642938" lvl="1" indent="-185738">
              <a:lnSpc>
                <a:spcPct val="120000"/>
              </a:lnSpc>
            </a:pPr>
            <a:r>
              <a:rPr lang="en-GB" sz="1800"/>
              <a:t>... codec at time of viewing image</a:t>
            </a:r>
          </a:p>
          <a:p>
            <a:pPr marL="185738" indent="-185738">
              <a:lnSpc>
                <a:spcPct val="120000"/>
              </a:lnSpc>
            </a:pPr>
            <a:endParaRPr lang="en-GB" sz="1800" dirty="0"/>
          </a:p>
          <a:p>
            <a:pPr marL="185738" indent="-185738">
              <a:lnSpc>
                <a:spcPct val="120000"/>
              </a:lnSpc>
            </a:pPr>
            <a:endParaRPr lang="en-GB" sz="1800" dirty="0"/>
          </a:p>
          <a:p>
            <a:pPr lvl="1">
              <a:lnSpc>
                <a:spcPct val="120000"/>
              </a:lnSpc>
              <a:buFontTx/>
              <a:buChar char="•"/>
            </a:pPr>
            <a:endParaRPr lang="en-GB" sz="1800" dirty="0"/>
          </a:p>
        </p:txBody>
      </p:sp>
    </p:spTree>
    <p:extLst>
      <p:ext uri="{BB962C8B-B14F-4D97-AF65-F5344CB8AC3E}">
        <p14:creationId xmlns:p14="http://schemas.microsoft.com/office/powerpoint/2010/main" val="3799692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68.media.tumblr.com/3a08f3947b016dbac889a97c1eae06c7/tumblr_noe42t9Xdv1uvcudho1_1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600C991-5720-4862-A801-A095D5009BCB}"/>
              </a:ext>
            </a:extLst>
          </p:cNvPr>
          <p:cNvSpPr/>
          <p:nvPr/>
        </p:nvSpPr>
        <p:spPr>
          <a:xfrm>
            <a:off x="395288" y="368300"/>
            <a:ext cx="7794121" cy="646331"/>
          </a:xfrm>
          <a:prstGeom prst="rect">
            <a:avLst/>
          </a:prstGeom>
          <a:solidFill>
            <a:schemeClr val="tx1"/>
          </a:solidFill>
        </p:spPr>
        <p:txBody>
          <a:bodyPr wrap="none">
            <a:spAutoFit/>
          </a:bodyPr>
          <a:lstStyle/>
          <a:p>
            <a:r>
              <a:rPr lang="en-GB" sz="3600" b="1" dirty="0">
                <a:solidFill>
                  <a:srgbClr val="FFFF00"/>
                </a:solidFill>
              </a:rPr>
              <a:t>Audio Compression (Introduction)</a:t>
            </a:r>
          </a:p>
        </p:txBody>
      </p:sp>
    </p:spTree>
    <p:extLst>
      <p:ext uri="{BB962C8B-B14F-4D97-AF65-F5344CB8AC3E}">
        <p14:creationId xmlns:p14="http://schemas.microsoft.com/office/powerpoint/2010/main" val="701923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ChangeArrowheads="1"/>
          </p:cNvSpPr>
          <p:nvPr/>
        </p:nvSpPr>
        <p:spPr bwMode="auto">
          <a:xfrm>
            <a:off x="381000" y="331788"/>
            <a:ext cx="3124573" cy="461665"/>
          </a:xfrm>
          <a:prstGeom prst="rect">
            <a:avLst/>
          </a:prstGeom>
          <a:noFill/>
          <a:ln w="9525">
            <a:noFill/>
            <a:miter lim="800000"/>
            <a:headEnd/>
            <a:tailEnd/>
          </a:ln>
        </p:spPr>
        <p:txBody>
          <a:bodyPr wrap="none">
            <a:spAutoFit/>
          </a:bodyPr>
          <a:lstStyle/>
          <a:p>
            <a:r>
              <a:rPr lang="en-GB" sz="2400" b="1" dirty="0"/>
              <a:t>Audio Compression</a:t>
            </a:r>
          </a:p>
        </p:txBody>
      </p:sp>
      <p:sp>
        <p:nvSpPr>
          <p:cNvPr id="4099" name="Rectangle 1027"/>
          <p:cNvSpPr>
            <a:spLocks noChangeArrowheads="1"/>
          </p:cNvSpPr>
          <p:nvPr/>
        </p:nvSpPr>
        <p:spPr bwMode="auto">
          <a:xfrm>
            <a:off x="381000" y="898392"/>
            <a:ext cx="8382000" cy="4862870"/>
          </a:xfrm>
          <a:prstGeom prst="rect">
            <a:avLst/>
          </a:prstGeom>
          <a:noFill/>
          <a:ln w="9525">
            <a:noFill/>
            <a:miter lim="800000"/>
            <a:headEnd/>
            <a:tailEnd/>
          </a:ln>
        </p:spPr>
        <p:txBody>
          <a:bodyPr>
            <a:spAutoFit/>
          </a:bodyPr>
          <a:lstStyle/>
          <a:p>
            <a:pPr marL="184150" indent="-184150">
              <a:lnSpc>
                <a:spcPct val="150000"/>
              </a:lnSpc>
            </a:pPr>
            <a:r>
              <a:rPr lang="en-GB" sz="1600" b="1" dirty="0"/>
              <a:t>Audio Compression</a:t>
            </a:r>
            <a:endParaRPr lang="en-GB" sz="1600" dirty="0"/>
          </a:p>
          <a:p>
            <a:pPr marL="184150" indent="-184150">
              <a:lnSpc>
                <a:spcPct val="150000"/>
              </a:lnSpc>
              <a:buFontTx/>
              <a:buChar char="•"/>
            </a:pPr>
            <a:r>
              <a:rPr lang="en-GB" sz="1600" dirty="0"/>
              <a:t>Compression Usability, Latency </a:t>
            </a:r>
          </a:p>
          <a:p>
            <a:pPr marL="184150" indent="-184150">
              <a:lnSpc>
                <a:spcPct val="150000"/>
              </a:lnSpc>
              <a:buFontTx/>
              <a:buChar char="•"/>
            </a:pPr>
            <a:r>
              <a:rPr lang="en-GB" sz="1600" dirty="0"/>
              <a:t>Encoding Architecture</a:t>
            </a:r>
          </a:p>
          <a:p>
            <a:pPr marL="184150" indent="-184150">
              <a:lnSpc>
                <a:spcPct val="150000"/>
              </a:lnSpc>
              <a:buFontTx/>
              <a:buChar char="•"/>
            </a:pPr>
            <a:r>
              <a:rPr lang="en-GB" sz="1600" dirty="0"/>
              <a:t>Perceptual Coding: Psychoacoustic Models</a:t>
            </a:r>
          </a:p>
          <a:p>
            <a:pPr marL="184150" indent="-184150">
              <a:lnSpc>
                <a:spcPct val="150000"/>
              </a:lnSpc>
              <a:buFontTx/>
              <a:buChar char="•"/>
            </a:pPr>
            <a:r>
              <a:rPr lang="en-GB" sz="1600" dirty="0"/>
              <a:t>Transform Domain Methods, Decoding</a:t>
            </a:r>
          </a:p>
          <a:p>
            <a:pPr marL="184150" indent="-184150">
              <a:lnSpc>
                <a:spcPct val="150000"/>
              </a:lnSpc>
              <a:buFontTx/>
              <a:buChar char="•"/>
            </a:pPr>
            <a:r>
              <a:rPr lang="en-GB" sz="1600" dirty="0"/>
              <a:t>Coding, Bit Allocation, Frames</a:t>
            </a:r>
          </a:p>
          <a:p>
            <a:pPr marL="184150" indent="-184150">
              <a:lnSpc>
                <a:spcPct val="150000"/>
              </a:lnSpc>
            </a:pPr>
            <a:endParaRPr lang="en-GB" sz="1600" dirty="0"/>
          </a:p>
          <a:p>
            <a:pPr marL="184150" indent="-184150">
              <a:lnSpc>
                <a:spcPct val="150000"/>
              </a:lnSpc>
            </a:pPr>
            <a:endParaRPr lang="en-GB" sz="1600" dirty="0"/>
          </a:p>
          <a:p>
            <a:pPr marL="184150" indent="-184150">
              <a:lnSpc>
                <a:spcPct val="150000"/>
              </a:lnSpc>
            </a:pPr>
            <a:r>
              <a:rPr lang="en-GB" sz="1600" b="1" dirty="0"/>
              <a:t>AAC - Advanced Audio Coding</a:t>
            </a:r>
            <a:endParaRPr lang="en-GB" sz="1600" dirty="0"/>
          </a:p>
          <a:p>
            <a:pPr marL="184150" indent="-184150">
              <a:lnSpc>
                <a:spcPct val="150000"/>
              </a:lnSpc>
              <a:buFontTx/>
              <a:buChar char="•"/>
            </a:pPr>
            <a:r>
              <a:rPr lang="en-GB" sz="1600" dirty="0"/>
              <a:t>MPEG-4 AAC, Low Delay Coder, Error Resilience, </a:t>
            </a:r>
          </a:p>
          <a:p>
            <a:pPr marL="184150" indent="-184150">
              <a:lnSpc>
                <a:spcPct val="150000"/>
              </a:lnSpc>
            </a:pPr>
            <a:endParaRPr lang="en-GB" sz="1600" dirty="0"/>
          </a:p>
          <a:p>
            <a:pPr marL="184150" indent="-184150">
              <a:lnSpc>
                <a:spcPct val="150000"/>
              </a:lnSpc>
            </a:pPr>
            <a:endParaRPr lang="en-GB" sz="1600" dirty="0"/>
          </a:p>
          <a:p>
            <a:pPr marL="184150" indent="-184150">
              <a:lnSpc>
                <a:spcPct val="150000"/>
              </a:lnSpc>
            </a:pPr>
            <a:r>
              <a:rPr lang="en-GB" sz="1600" b="1" dirty="0"/>
              <a:t>Variable Bit Rate</a:t>
            </a:r>
            <a:endParaRPr lang="en-GB" sz="1600" dirty="0"/>
          </a:p>
        </p:txBody>
      </p:sp>
    </p:spTree>
    <p:extLst>
      <p:ext uri="{BB962C8B-B14F-4D97-AF65-F5344CB8AC3E}">
        <p14:creationId xmlns:p14="http://schemas.microsoft.com/office/powerpoint/2010/main" val="1123173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395288" y="332085"/>
            <a:ext cx="4094391" cy="461665"/>
          </a:xfrm>
          <a:prstGeom prst="rect">
            <a:avLst/>
          </a:prstGeom>
          <a:noFill/>
          <a:ln w="9525">
            <a:noFill/>
            <a:miter lim="800000"/>
            <a:headEnd/>
            <a:tailEnd/>
          </a:ln>
        </p:spPr>
        <p:txBody>
          <a:bodyPr wrap="none">
            <a:spAutoFit/>
          </a:bodyPr>
          <a:lstStyle/>
          <a:p>
            <a:r>
              <a:rPr lang="en-GB" sz="2400" b="1" dirty="0"/>
              <a:t>The Physiology of Hearing</a:t>
            </a:r>
          </a:p>
        </p:txBody>
      </p:sp>
      <p:sp>
        <p:nvSpPr>
          <p:cNvPr id="1028" name="Freeform 3"/>
          <p:cNvSpPr>
            <a:spLocks/>
          </p:cNvSpPr>
          <p:nvPr/>
        </p:nvSpPr>
        <p:spPr bwMode="auto">
          <a:xfrm>
            <a:off x="3171825" y="1631950"/>
            <a:ext cx="990600" cy="711200"/>
          </a:xfrm>
          <a:custGeom>
            <a:avLst/>
            <a:gdLst>
              <a:gd name="T0" fmla="*/ 0 w 624"/>
              <a:gd name="T1" fmla="*/ 2147483647 h 448"/>
              <a:gd name="T2" fmla="*/ 2147483647 w 624"/>
              <a:gd name="T3" fmla="*/ 2147483647 h 448"/>
              <a:gd name="T4" fmla="*/ 2147483647 w 624"/>
              <a:gd name="T5" fmla="*/ 2147483647 h 448"/>
              <a:gd name="T6" fmla="*/ 2147483647 w 624"/>
              <a:gd name="T7" fmla="*/ 2147483647 h 448"/>
              <a:gd name="T8" fmla="*/ 2147483647 w 624"/>
              <a:gd name="T9" fmla="*/ 2147483647 h 448"/>
              <a:gd name="T10" fmla="*/ 2147483647 w 624"/>
              <a:gd name="T11" fmla="*/ 2147483647 h 448"/>
              <a:gd name="T12" fmla="*/ 2147483647 w 624"/>
              <a:gd name="T13" fmla="*/ 2147483647 h 448"/>
              <a:gd name="T14" fmla="*/ 2147483647 w 624"/>
              <a:gd name="T15" fmla="*/ 2147483647 h 448"/>
              <a:gd name="T16" fmla="*/ 2147483647 w 624"/>
              <a:gd name="T17" fmla="*/ 2147483647 h 448"/>
              <a:gd name="T18" fmla="*/ 2147483647 w 624"/>
              <a:gd name="T19" fmla="*/ 2147483647 h 448"/>
              <a:gd name="T20" fmla="*/ 2147483647 w 624"/>
              <a:gd name="T21" fmla="*/ 2147483647 h 448"/>
              <a:gd name="T22" fmla="*/ 2147483647 w 624"/>
              <a:gd name="T23" fmla="*/ 2147483647 h 448"/>
              <a:gd name="T24" fmla="*/ 2147483647 w 624"/>
              <a:gd name="T25" fmla="*/ 2147483647 h 448"/>
              <a:gd name="T26" fmla="*/ 2147483647 w 624"/>
              <a:gd name="T27" fmla="*/ 2147483647 h 4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448"/>
              <a:gd name="T44" fmla="*/ 624 w 624"/>
              <a:gd name="T45" fmla="*/ 448 h 4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448">
                <a:moveTo>
                  <a:pt x="0" y="99"/>
                </a:moveTo>
                <a:cubicBezTo>
                  <a:pt x="15" y="190"/>
                  <a:pt x="30" y="282"/>
                  <a:pt x="39" y="333"/>
                </a:cubicBezTo>
                <a:cubicBezTo>
                  <a:pt x="48" y="384"/>
                  <a:pt x="33" y="389"/>
                  <a:pt x="55" y="403"/>
                </a:cubicBezTo>
                <a:cubicBezTo>
                  <a:pt x="77" y="417"/>
                  <a:pt x="114" y="412"/>
                  <a:pt x="171" y="418"/>
                </a:cubicBezTo>
                <a:cubicBezTo>
                  <a:pt x="228" y="424"/>
                  <a:pt x="340" y="448"/>
                  <a:pt x="397" y="442"/>
                </a:cubicBezTo>
                <a:cubicBezTo>
                  <a:pt x="454" y="436"/>
                  <a:pt x="487" y="404"/>
                  <a:pt x="514" y="379"/>
                </a:cubicBezTo>
                <a:cubicBezTo>
                  <a:pt x="541" y="354"/>
                  <a:pt x="547" y="321"/>
                  <a:pt x="561" y="294"/>
                </a:cubicBezTo>
                <a:cubicBezTo>
                  <a:pt x="575" y="267"/>
                  <a:pt x="591" y="248"/>
                  <a:pt x="600" y="216"/>
                </a:cubicBezTo>
                <a:cubicBezTo>
                  <a:pt x="609" y="184"/>
                  <a:pt x="624" y="133"/>
                  <a:pt x="616" y="99"/>
                </a:cubicBezTo>
                <a:cubicBezTo>
                  <a:pt x="608" y="65"/>
                  <a:pt x="582" y="26"/>
                  <a:pt x="553" y="13"/>
                </a:cubicBezTo>
                <a:cubicBezTo>
                  <a:pt x="524" y="0"/>
                  <a:pt x="482" y="8"/>
                  <a:pt x="444" y="21"/>
                </a:cubicBezTo>
                <a:cubicBezTo>
                  <a:pt x="406" y="34"/>
                  <a:pt x="361" y="78"/>
                  <a:pt x="327" y="91"/>
                </a:cubicBezTo>
                <a:cubicBezTo>
                  <a:pt x="293" y="104"/>
                  <a:pt x="248" y="82"/>
                  <a:pt x="242" y="99"/>
                </a:cubicBezTo>
                <a:cubicBezTo>
                  <a:pt x="236" y="116"/>
                  <a:pt x="262" y="154"/>
                  <a:pt x="288" y="192"/>
                </a:cubicBezTo>
              </a:path>
            </a:pathLst>
          </a:custGeom>
          <a:noFill/>
          <a:ln w="9525" cap="flat" cmpd="sng">
            <a:noFill/>
            <a:prstDash val="solid"/>
            <a:round/>
            <a:headEnd/>
            <a:tailEnd/>
          </a:ln>
        </p:spPr>
        <p:txBody>
          <a:bodyPr wrap="none" anchor="ctr">
            <a:spAutoFit/>
          </a:bodyPr>
          <a:lstStyle/>
          <a:p>
            <a:endParaRPr lang="en-GB"/>
          </a:p>
        </p:txBody>
      </p:sp>
      <p:graphicFrame>
        <p:nvGraphicFramePr>
          <p:cNvPr id="1026" name="Object 4"/>
          <p:cNvGraphicFramePr>
            <a:graphicFrameLocks noChangeAspect="1"/>
          </p:cNvGraphicFramePr>
          <p:nvPr/>
        </p:nvGraphicFramePr>
        <p:xfrm>
          <a:off x="2706688" y="1644650"/>
          <a:ext cx="6088062" cy="4057650"/>
        </p:xfrm>
        <a:graphic>
          <a:graphicData uri="http://schemas.openxmlformats.org/presentationml/2006/ole">
            <mc:AlternateContent xmlns:mc="http://schemas.openxmlformats.org/markup-compatibility/2006">
              <mc:Choice xmlns:v="urn:schemas-microsoft-com:vml" Requires="v">
                <p:oleObj name="Bitmap Image" r:id="rId2" imgW="6087325" imgH="4057143" progId="PBrush">
                  <p:embed/>
                </p:oleObj>
              </mc:Choice>
              <mc:Fallback>
                <p:oleObj name="Bitmap Image" r:id="rId2" imgW="6087325" imgH="4057143" progId="PBrush">
                  <p:embed/>
                  <p:pic>
                    <p:nvPicPr>
                      <p:cNvPr id="102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688" y="1644650"/>
                        <a:ext cx="6088062"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Line 5"/>
          <p:cNvSpPr>
            <a:spLocks noChangeShapeType="1"/>
          </p:cNvSpPr>
          <p:nvPr/>
        </p:nvSpPr>
        <p:spPr bwMode="auto">
          <a:xfrm>
            <a:off x="4703763" y="1998663"/>
            <a:ext cx="347662" cy="1731962"/>
          </a:xfrm>
          <a:prstGeom prst="line">
            <a:avLst/>
          </a:prstGeom>
          <a:noFill/>
          <a:ln w="28575">
            <a:solidFill>
              <a:schemeClr val="tx1"/>
            </a:solidFill>
            <a:round/>
            <a:headEnd/>
            <a:tailEnd type="triangle" w="med" len="med"/>
          </a:ln>
        </p:spPr>
        <p:txBody>
          <a:bodyPr anchor="ctr">
            <a:spAutoFit/>
          </a:bodyPr>
          <a:lstStyle/>
          <a:p>
            <a:endParaRPr lang="en-GB"/>
          </a:p>
        </p:txBody>
      </p:sp>
      <p:sp>
        <p:nvSpPr>
          <p:cNvPr id="1030" name="Text Box 6"/>
          <p:cNvSpPr txBox="1">
            <a:spLocks noChangeArrowheads="1"/>
          </p:cNvSpPr>
          <p:nvPr/>
        </p:nvSpPr>
        <p:spPr bwMode="auto">
          <a:xfrm>
            <a:off x="5716588" y="2151063"/>
            <a:ext cx="985837" cy="336550"/>
          </a:xfrm>
          <a:prstGeom prst="rect">
            <a:avLst/>
          </a:prstGeom>
          <a:noFill/>
          <a:ln w="9525">
            <a:noFill/>
            <a:miter lim="800000"/>
            <a:headEnd/>
            <a:tailEnd/>
          </a:ln>
        </p:spPr>
        <p:txBody>
          <a:bodyPr wrap="none">
            <a:spAutoFit/>
          </a:bodyPr>
          <a:lstStyle/>
          <a:p>
            <a:r>
              <a:rPr lang="en-GB" sz="1600"/>
              <a:t>Ossicles</a:t>
            </a:r>
          </a:p>
        </p:txBody>
      </p:sp>
      <p:sp>
        <p:nvSpPr>
          <p:cNvPr id="1031" name="Line 7"/>
          <p:cNvSpPr>
            <a:spLocks noChangeShapeType="1"/>
          </p:cNvSpPr>
          <p:nvPr/>
        </p:nvSpPr>
        <p:spPr bwMode="auto">
          <a:xfrm flipH="1">
            <a:off x="5634038" y="2468563"/>
            <a:ext cx="344487" cy="977900"/>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2" name="Text Box 8"/>
          <p:cNvSpPr txBox="1">
            <a:spLocks noChangeArrowheads="1"/>
          </p:cNvSpPr>
          <p:nvPr/>
        </p:nvSpPr>
        <p:spPr bwMode="auto">
          <a:xfrm>
            <a:off x="6835775" y="1465263"/>
            <a:ext cx="1655763" cy="336550"/>
          </a:xfrm>
          <a:prstGeom prst="rect">
            <a:avLst/>
          </a:prstGeom>
          <a:noFill/>
          <a:ln w="9525">
            <a:noFill/>
            <a:miter lim="800000"/>
            <a:headEnd/>
            <a:tailEnd/>
          </a:ln>
        </p:spPr>
        <p:txBody>
          <a:bodyPr wrap="none">
            <a:spAutoFit/>
          </a:bodyPr>
          <a:lstStyle/>
          <a:p>
            <a:r>
              <a:rPr lang="en-GB" sz="1600"/>
              <a:t>Auditory Nerve</a:t>
            </a:r>
          </a:p>
        </p:txBody>
      </p:sp>
      <p:sp>
        <p:nvSpPr>
          <p:cNvPr id="1033" name="Line 9"/>
          <p:cNvSpPr>
            <a:spLocks noChangeShapeType="1"/>
          </p:cNvSpPr>
          <p:nvPr/>
        </p:nvSpPr>
        <p:spPr bwMode="auto">
          <a:xfrm>
            <a:off x="7340600" y="1851025"/>
            <a:ext cx="125413" cy="1016000"/>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4" name="Text Box 10"/>
          <p:cNvSpPr txBox="1">
            <a:spLocks noChangeArrowheads="1"/>
          </p:cNvSpPr>
          <p:nvPr/>
        </p:nvSpPr>
        <p:spPr bwMode="auto">
          <a:xfrm>
            <a:off x="8178800" y="4086225"/>
            <a:ext cx="965200" cy="336550"/>
          </a:xfrm>
          <a:prstGeom prst="rect">
            <a:avLst/>
          </a:prstGeom>
          <a:noFill/>
          <a:ln w="9525">
            <a:noFill/>
            <a:miter lim="800000"/>
            <a:headEnd/>
            <a:tailEnd/>
          </a:ln>
        </p:spPr>
        <p:txBody>
          <a:bodyPr wrap="none">
            <a:spAutoFit/>
          </a:bodyPr>
          <a:lstStyle/>
          <a:p>
            <a:r>
              <a:rPr lang="en-GB" sz="1600"/>
              <a:t>Cochlea</a:t>
            </a:r>
          </a:p>
        </p:txBody>
      </p:sp>
      <p:sp>
        <p:nvSpPr>
          <p:cNvPr id="1035" name="Line 11"/>
          <p:cNvSpPr>
            <a:spLocks noChangeShapeType="1"/>
          </p:cNvSpPr>
          <p:nvPr/>
        </p:nvSpPr>
        <p:spPr bwMode="auto">
          <a:xfrm flipH="1" flipV="1">
            <a:off x="7158038" y="3744913"/>
            <a:ext cx="1011237" cy="344487"/>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6" name="Text Box 12"/>
          <p:cNvSpPr txBox="1">
            <a:spLocks noChangeArrowheads="1"/>
          </p:cNvSpPr>
          <p:nvPr/>
        </p:nvSpPr>
        <p:spPr bwMode="auto">
          <a:xfrm>
            <a:off x="4887913" y="5319713"/>
            <a:ext cx="2244725" cy="336550"/>
          </a:xfrm>
          <a:prstGeom prst="rect">
            <a:avLst/>
          </a:prstGeom>
          <a:noFill/>
          <a:ln w="9525">
            <a:noFill/>
            <a:miter lim="800000"/>
            <a:headEnd/>
            <a:tailEnd/>
          </a:ln>
        </p:spPr>
        <p:txBody>
          <a:bodyPr wrap="none">
            <a:spAutoFit/>
          </a:bodyPr>
          <a:lstStyle/>
          <a:p>
            <a:r>
              <a:rPr lang="en-GB" sz="1600"/>
              <a:t>Tympanic Membrane</a:t>
            </a:r>
          </a:p>
        </p:txBody>
      </p:sp>
      <p:sp>
        <p:nvSpPr>
          <p:cNvPr id="1037" name="Line 13"/>
          <p:cNvSpPr>
            <a:spLocks noChangeShapeType="1"/>
          </p:cNvSpPr>
          <p:nvPr/>
        </p:nvSpPr>
        <p:spPr bwMode="auto">
          <a:xfrm flipH="1" flipV="1">
            <a:off x="5599113" y="3905250"/>
            <a:ext cx="7937" cy="1335088"/>
          </a:xfrm>
          <a:prstGeom prst="line">
            <a:avLst/>
          </a:prstGeom>
          <a:noFill/>
          <a:ln w="19050">
            <a:solidFill>
              <a:schemeClr val="tx1"/>
            </a:solidFill>
            <a:round/>
            <a:headEnd/>
            <a:tailEnd type="triangle" w="med" len="med"/>
          </a:ln>
        </p:spPr>
        <p:txBody>
          <a:bodyPr anchor="ctr">
            <a:spAutoFit/>
          </a:bodyPr>
          <a:lstStyle/>
          <a:p>
            <a:endParaRPr lang="en-GB"/>
          </a:p>
        </p:txBody>
      </p:sp>
      <p:sp>
        <p:nvSpPr>
          <p:cNvPr id="1038" name="Rectangle 14"/>
          <p:cNvSpPr>
            <a:spLocks noChangeArrowheads="1"/>
          </p:cNvSpPr>
          <p:nvPr/>
        </p:nvSpPr>
        <p:spPr bwMode="auto">
          <a:xfrm>
            <a:off x="395288" y="1139516"/>
            <a:ext cx="4572000" cy="825500"/>
          </a:xfrm>
          <a:prstGeom prst="rect">
            <a:avLst/>
          </a:prstGeom>
          <a:noFill/>
          <a:ln w="9525">
            <a:noFill/>
            <a:miter lim="800000"/>
            <a:headEnd/>
            <a:tailEnd/>
          </a:ln>
        </p:spPr>
        <p:txBody>
          <a:bodyPr>
            <a:spAutoFit/>
          </a:bodyPr>
          <a:lstStyle/>
          <a:p>
            <a:r>
              <a:rPr lang="en-GB" sz="1600" b="1"/>
              <a:t>Auditory Canal</a:t>
            </a:r>
          </a:p>
          <a:p>
            <a:pPr>
              <a:buFontTx/>
              <a:buChar char="•"/>
            </a:pPr>
            <a:r>
              <a:rPr lang="en-GB" sz="1600"/>
              <a:t>acts as a closed tube resonator</a:t>
            </a:r>
          </a:p>
          <a:p>
            <a:pPr>
              <a:buFontTx/>
              <a:buChar char="•"/>
            </a:pPr>
            <a:r>
              <a:rPr lang="en-GB" sz="1600"/>
              <a:t>enhances sounds in the range 2-5 KHz</a:t>
            </a:r>
          </a:p>
        </p:txBody>
      </p:sp>
      <p:sp>
        <p:nvSpPr>
          <p:cNvPr id="1039" name="Rectangle 15"/>
          <p:cNvSpPr>
            <a:spLocks noChangeArrowheads="1"/>
          </p:cNvSpPr>
          <p:nvPr/>
        </p:nvSpPr>
        <p:spPr bwMode="auto">
          <a:xfrm>
            <a:off x="611188" y="5568950"/>
            <a:ext cx="5233987" cy="1069975"/>
          </a:xfrm>
          <a:prstGeom prst="rect">
            <a:avLst/>
          </a:prstGeom>
          <a:noFill/>
          <a:ln w="9525">
            <a:noFill/>
            <a:miter lim="800000"/>
            <a:headEnd/>
            <a:tailEnd/>
          </a:ln>
        </p:spPr>
        <p:txBody>
          <a:bodyPr>
            <a:spAutoFit/>
          </a:bodyPr>
          <a:lstStyle/>
          <a:p>
            <a:r>
              <a:rPr lang="en-GB" sz="1600" b="1"/>
              <a:t>Pinna</a:t>
            </a:r>
          </a:p>
          <a:p>
            <a:pPr>
              <a:buFontTx/>
              <a:buChar char="•"/>
            </a:pPr>
            <a:r>
              <a:rPr lang="en-GB" sz="1600"/>
              <a:t>presents larger area to received sound energy</a:t>
            </a:r>
          </a:p>
          <a:p>
            <a:pPr>
              <a:buFontTx/>
              <a:buChar char="•"/>
            </a:pPr>
            <a:r>
              <a:rPr lang="en-GB" sz="1600"/>
              <a:t>“collects” sound – like a preamplifier</a:t>
            </a:r>
          </a:p>
          <a:p>
            <a:endParaRPr lang="en-GB" sz="1600"/>
          </a:p>
        </p:txBody>
      </p:sp>
      <p:sp>
        <p:nvSpPr>
          <p:cNvPr id="1040" name="Line 16"/>
          <p:cNvSpPr>
            <a:spLocks noChangeShapeType="1"/>
          </p:cNvSpPr>
          <p:nvPr/>
        </p:nvSpPr>
        <p:spPr bwMode="auto">
          <a:xfrm flipV="1">
            <a:off x="1458913" y="4029075"/>
            <a:ext cx="1901825" cy="1581150"/>
          </a:xfrm>
          <a:prstGeom prst="line">
            <a:avLst/>
          </a:prstGeom>
          <a:noFill/>
          <a:ln w="19050">
            <a:solidFill>
              <a:schemeClr val="tx1"/>
            </a:solidFill>
            <a:round/>
            <a:headEnd/>
            <a:tailEnd type="triangle" w="med" len="med"/>
          </a:ln>
        </p:spPr>
        <p:txBody>
          <a:bodyPr anchor="ctr">
            <a:spAutoFit/>
          </a:bodyPr>
          <a:lstStyle/>
          <a:p>
            <a:endParaRPr lang="en-GB"/>
          </a:p>
        </p:txBody>
      </p:sp>
      <p:sp>
        <p:nvSpPr>
          <p:cNvPr id="1041" name="Text Box 17"/>
          <p:cNvSpPr txBox="1">
            <a:spLocks noChangeArrowheads="1"/>
          </p:cNvSpPr>
          <p:nvPr/>
        </p:nvSpPr>
        <p:spPr bwMode="auto">
          <a:xfrm>
            <a:off x="5840413" y="4922838"/>
            <a:ext cx="847725" cy="336550"/>
          </a:xfrm>
          <a:prstGeom prst="rect">
            <a:avLst/>
          </a:prstGeom>
          <a:noFill/>
          <a:ln w="9525">
            <a:noFill/>
            <a:miter lim="800000"/>
            <a:headEnd/>
            <a:tailEnd/>
          </a:ln>
        </p:spPr>
        <p:txBody>
          <a:bodyPr wrap="none">
            <a:spAutoFit/>
          </a:bodyPr>
          <a:lstStyle/>
          <a:p>
            <a:r>
              <a:rPr lang="en-GB" sz="1600"/>
              <a:t>Stirrup</a:t>
            </a:r>
          </a:p>
        </p:txBody>
      </p:sp>
      <p:sp>
        <p:nvSpPr>
          <p:cNvPr id="1042" name="Line 18"/>
          <p:cNvSpPr>
            <a:spLocks noChangeShapeType="1"/>
          </p:cNvSpPr>
          <p:nvPr/>
        </p:nvSpPr>
        <p:spPr bwMode="auto">
          <a:xfrm flipH="1" flipV="1">
            <a:off x="6007100" y="3694113"/>
            <a:ext cx="95250" cy="1247775"/>
          </a:xfrm>
          <a:prstGeom prst="line">
            <a:avLst/>
          </a:prstGeom>
          <a:noFill/>
          <a:ln w="19050">
            <a:solidFill>
              <a:schemeClr val="tx1"/>
            </a:solidFill>
            <a:round/>
            <a:headEnd/>
            <a:tailEnd type="triangle" w="med" len="med"/>
          </a:ln>
        </p:spPr>
        <p:txBody>
          <a:bodyPr anchor="ctr">
            <a:spAutoFit/>
          </a:bodyPr>
          <a:lstStyle/>
          <a:p>
            <a:endParaRPr lang="en-GB"/>
          </a:p>
        </p:txBody>
      </p:sp>
      <p:grpSp>
        <p:nvGrpSpPr>
          <p:cNvPr id="1043" name="Group 19"/>
          <p:cNvGrpSpPr>
            <a:grpSpLocks/>
          </p:cNvGrpSpPr>
          <p:nvPr/>
        </p:nvGrpSpPr>
        <p:grpSpPr bwMode="auto">
          <a:xfrm>
            <a:off x="0" y="3140075"/>
            <a:ext cx="2162175" cy="1300163"/>
            <a:chOff x="0" y="1978"/>
            <a:chExt cx="1362" cy="819"/>
          </a:xfrm>
        </p:grpSpPr>
        <p:sp>
          <p:nvSpPr>
            <p:cNvPr id="1045" name="AutoShape 20"/>
            <p:cNvSpPr>
              <a:spLocks noChangeArrowheads="1"/>
            </p:cNvSpPr>
            <p:nvPr/>
          </p:nvSpPr>
          <p:spPr bwMode="auto">
            <a:xfrm>
              <a:off x="0" y="1978"/>
              <a:ext cx="1362" cy="819"/>
            </a:xfrm>
            <a:prstGeom prst="rightArrow">
              <a:avLst>
                <a:gd name="adj1" fmla="val 61028"/>
                <a:gd name="adj2" fmla="val 70270"/>
              </a:avLst>
            </a:prstGeom>
            <a:solidFill>
              <a:srgbClr val="FFCC66"/>
            </a:solidFill>
            <a:ln w="9525">
              <a:solidFill>
                <a:srgbClr val="800000"/>
              </a:solidFill>
              <a:miter lim="800000"/>
              <a:headEnd/>
              <a:tailEnd/>
            </a:ln>
          </p:spPr>
          <p:txBody>
            <a:bodyPr anchor="ctr">
              <a:spAutoFit/>
            </a:bodyPr>
            <a:lstStyle/>
            <a:p>
              <a:endParaRPr lang="en-US"/>
            </a:p>
          </p:txBody>
        </p:sp>
        <p:sp>
          <p:nvSpPr>
            <p:cNvPr id="1046" name="Freeform 21"/>
            <p:cNvSpPr>
              <a:spLocks/>
            </p:cNvSpPr>
            <p:nvPr/>
          </p:nvSpPr>
          <p:spPr bwMode="auto">
            <a:xfrm>
              <a:off x="138" y="2215"/>
              <a:ext cx="153" cy="320"/>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47" name="Freeform 22"/>
            <p:cNvSpPr>
              <a:spLocks/>
            </p:cNvSpPr>
            <p:nvPr/>
          </p:nvSpPr>
          <p:spPr bwMode="auto">
            <a:xfrm>
              <a:off x="291" y="2215"/>
              <a:ext cx="152" cy="320"/>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48" name="Freeform 23"/>
            <p:cNvSpPr>
              <a:spLocks/>
            </p:cNvSpPr>
            <p:nvPr/>
          </p:nvSpPr>
          <p:spPr bwMode="auto">
            <a:xfrm>
              <a:off x="450" y="2216"/>
              <a:ext cx="580" cy="320"/>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044" name="Text Box 24"/>
          <p:cNvSpPr txBox="1">
            <a:spLocks noChangeArrowheads="1"/>
          </p:cNvSpPr>
          <p:nvPr/>
        </p:nvSpPr>
        <p:spPr bwMode="auto">
          <a:xfrm>
            <a:off x="0" y="4421188"/>
            <a:ext cx="2460625" cy="336550"/>
          </a:xfrm>
          <a:prstGeom prst="rect">
            <a:avLst/>
          </a:prstGeom>
          <a:noFill/>
          <a:ln w="9525" algn="ctr">
            <a:noFill/>
            <a:miter lim="800000"/>
            <a:headEnd/>
            <a:tailEnd/>
          </a:ln>
        </p:spPr>
        <p:txBody>
          <a:bodyPr wrap="none">
            <a:spAutoFit/>
          </a:bodyPr>
          <a:lstStyle/>
          <a:p>
            <a:r>
              <a:rPr lang="en-GB" sz="1600"/>
              <a:t>low + high frequencies</a:t>
            </a:r>
            <a:endParaRPr lang="en-US" sz="1600"/>
          </a:p>
        </p:txBody>
      </p:sp>
    </p:spTree>
    <p:extLst>
      <p:ext uri="{BB962C8B-B14F-4D97-AF65-F5344CB8AC3E}">
        <p14:creationId xmlns:p14="http://schemas.microsoft.com/office/powerpoint/2010/main" val="4038262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395288" y="908177"/>
            <a:ext cx="2546350" cy="3286125"/>
          </a:xfrm>
          <a:prstGeom prst="rect">
            <a:avLst/>
          </a:prstGeom>
          <a:noFill/>
          <a:ln w="9525">
            <a:noFill/>
            <a:miter lim="800000"/>
            <a:headEnd/>
            <a:tailEnd/>
          </a:ln>
        </p:spPr>
      </p:pic>
      <p:sp>
        <p:nvSpPr>
          <p:cNvPr id="11267" name="Rectangle 3"/>
          <p:cNvSpPr>
            <a:spLocks noChangeArrowheads="1"/>
          </p:cNvSpPr>
          <p:nvPr/>
        </p:nvSpPr>
        <p:spPr bwMode="auto">
          <a:xfrm>
            <a:off x="3458545" y="1925679"/>
            <a:ext cx="2513377" cy="338554"/>
          </a:xfrm>
          <a:prstGeom prst="rect">
            <a:avLst/>
          </a:prstGeom>
          <a:noFill/>
          <a:ln w="9525">
            <a:noFill/>
            <a:miter lim="800000"/>
            <a:headEnd/>
            <a:tailEnd/>
          </a:ln>
        </p:spPr>
        <p:txBody>
          <a:bodyPr wrap="square">
            <a:spAutoFit/>
          </a:bodyPr>
          <a:lstStyle/>
          <a:p>
            <a:pPr marL="185738" indent="-185738"/>
            <a:r>
              <a:rPr lang="en-GB" sz="1600" b="1" dirty="0"/>
              <a:t>High frequency sounds</a:t>
            </a:r>
            <a:r>
              <a:rPr lang="en-GB" sz="1600" dirty="0"/>
              <a:t> </a:t>
            </a:r>
          </a:p>
        </p:txBody>
      </p:sp>
      <p:sp>
        <p:nvSpPr>
          <p:cNvPr id="11268" name="Rectangle 4"/>
          <p:cNvSpPr>
            <a:spLocks noChangeArrowheads="1"/>
          </p:cNvSpPr>
          <p:nvPr/>
        </p:nvSpPr>
        <p:spPr bwMode="auto">
          <a:xfrm>
            <a:off x="368871" y="350341"/>
            <a:ext cx="6280887" cy="461665"/>
          </a:xfrm>
          <a:prstGeom prst="rect">
            <a:avLst/>
          </a:prstGeom>
          <a:noFill/>
          <a:ln w="9525">
            <a:noFill/>
            <a:miter lim="800000"/>
            <a:headEnd/>
            <a:tailEnd/>
          </a:ln>
        </p:spPr>
        <p:txBody>
          <a:bodyPr wrap="none">
            <a:spAutoFit/>
          </a:bodyPr>
          <a:lstStyle/>
          <a:p>
            <a:r>
              <a:rPr lang="en-GB" sz="2400" b="1" dirty="0"/>
              <a:t>The Physiology of Hearing – The Cochlea</a:t>
            </a:r>
          </a:p>
        </p:txBody>
      </p:sp>
      <p:sp>
        <p:nvSpPr>
          <p:cNvPr id="11269" name="Rectangle 5"/>
          <p:cNvSpPr>
            <a:spLocks noChangeArrowheads="1"/>
          </p:cNvSpPr>
          <p:nvPr/>
        </p:nvSpPr>
        <p:spPr bwMode="auto">
          <a:xfrm>
            <a:off x="6651653" y="3000080"/>
            <a:ext cx="2223791" cy="1077218"/>
          </a:xfrm>
          <a:prstGeom prst="rect">
            <a:avLst/>
          </a:prstGeom>
          <a:noFill/>
          <a:ln w="9525">
            <a:noFill/>
            <a:miter lim="800000"/>
            <a:headEnd/>
            <a:tailEnd/>
          </a:ln>
        </p:spPr>
        <p:txBody>
          <a:bodyPr wrap="square">
            <a:spAutoFit/>
          </a:bodyPr>
          <a:lstStyle/>
          <a:p>
            <a:r>
              <a:rPr lang="en-GB" sz="1600" dirty="0"/>
              <a:t>schematic view - unroll the cochlea - distribution of sensitive hair cells</a:t>
            </a:r>
          </a:p>
        </p:txBody>
      </p:sp>
      <p:grpSp>
        <p:nvGrpSpPr>
          <p:cNvPr id="11270" name="Group 6"/>
          <p:cNvGrpSpPr>
            <a:grpSpLocks/>
          </p:cNvGrpSpPr>
          <p:nvPr/>
        </p:nvGrpSpPr>
        <p:grpSpPr bwMode="auto">
          <a:xfrm>
            <a:off x="1482725" y="4624388"/>
            <a:ext cx="5691188" cy="1303337"/>
            <a:chOff x="934" y="2913"/>
            <a:chExt cx="3585" cy="821"/>
          </a:xfrm>
        </p:grpSpPr>
        <p:sp>
          <p:nvSpPr>
            <p:cNvPr id="115719" name="AutoShape 7"/>
            <p:cNvSpPr>
              <a:spLocks noChangeArrowheads="1"/>
            </p:cNvSpPr>
            <p:nvPr/>
          </p:nvSpPr>
          <p:spPr bwMode="auto">
            <a:xfrm rot="-5400000">
              <a:off x="2364" y="1491"/>
              <a:ext cx="709" cy="3570"/>
            </a:xfrm>
            <a:prstGeom prst="can">
              <a:avLst>
                <a:gd name="adj" fmla="val 125882"/>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11299" name="Oval 8"/>
            <p:cNvSpPr>
              <a:spLocks noChangeArrowheads="1"/>
            </p:cNvSpPr>
            <p:nvPr/>
          </p:nvSpPr>
          <p:spPr bwMode="auto">
            <a:xfrm>
              <a:off x="935" y="2913"/>
              <a:ext cx="889"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11300" name="Line 9"/>
            <p:cNvSpPr>
              <a:spLocks noChangeShapeType="1"/>
            </p:cNvSpPr>
            <p:nvPr/>
          </p:nvSpPr>
          <p:spPr bwMode="auto">
            <a:xfrm>
              <a:off x="1753" y="3554"/>
              <a:ext cx="2728" cy="0"/>
            </a:xfrm>
            <a:prstGeom prst="line">
              <a:avLst/>
            </a:prstGeom>
            <a:noFill/>
            <a:ln w="9525">
              <a:solidFill>
                <a:schemeClr val="tx1"/>
              </a:solidFill>
              <a:round/>
              <a:headEnd/>
              <a:tailEnd/>
            </a:ln>
          </p:spPr>
          <p:txBody>
            <a:bodyPr wrap="none" anchor="ctr">
              <a:spAutoFit/>
            </a:bodyPr>
            <a:lstStyle/>
            <a:p>
              <a:endParaRPr lang="en-GB"/>
            </a:p>
          </p:txBody>
        </p:sp>
        <p:grpSp>
          <p:nvGrpSpPr>
            <p:cNvPr id="11301" name="Group 10"/>
            <p:cNvGrpSpPr>
              <a:grpSpLocks/>
            </p:cNvGrpSpPr>
            <p:nvPr/>
          </p:nvGrpSpPr>
          <p:grpSpPr bwMode="auto">
            <a:xfrm>
              <a:off x="1886" y="3421"/>
              <a:ext cx="47" cy="281"/>
              <a:chOff x="1886" y="3421"/>
              <a:chExt cx="47" cy="281"/>
            </a:xfrm>
          </p:grpSpPr>
          <p:sp>
            <p:nvSpPr>
              <p:cNvPr id="11392" name="Rectangle 1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93" name="Line 1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2" name="Group 13"/>
            <p:cNvGrpSpPr>
              <a:grpSpLocks/>
            </p:cNvGrpSpPr>
            <p:nvPr/>
          </p:nvGrpSpPr>
          <p:grpSpPr bwMode="auto">
            <a:xfrm>
              <a:off x="1971" y="3421"/>
              <a:ext cx="47" cy="281"/>
              <a:chOff x="1886" y="3421"/>
              <a:chExt cx="47" cy="281"/>
            </a:xfrm>
          </p:grpSpPr>
          <p:sp>
            <p:nvSpPr>
              <p:cNvPr id="11390" name="Rectangle 1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91" name="Line 1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3" name="Group 16"/>
            <p:cNvGrpSpPr>
              <a:grpSpLocks/>
            </p:cNvGrpSpPr>
            <p:nvPr/>
          </p:nvGrpSpPr>
          <p:grpSpPr bwMode="auto">
            <a:xfrm>
              <a:off x="2057" y="3429"/>
              <a:ext cx="47" cy="281"/>
              <a:chOff x="1886" y="3421"/>
              <a:chExt cx="47" cy="281"/>
            </a:xfrm>
          </p:grpSpPr>
          <p:sp>
            <p:nvSpPr>
              <p:cNvPr id="11388" name="Rectangle 1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9" name="Line 1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4" name="Group 19"/>
            <p:cNvGrpSpPr>
              <a:grpSpLocks/>
            </p:cNvGrpSpPr>
            <p:nvPr/>
          </p:nvGrpSpPr>
          <p:grpSpPr bwMode="auto">
            <a:xfrm>
              <a:off x="2143" y="3421"/>
              <a:ext cx="47" cy="281"/>
              <a:chOff x="1886" y="3421"/>
              <a:chExt cx="47" cy="281"/>
            </a:xfrm>
          </p:grpSpPr>
          <p:sp>
            <p:nvSpPr>
              <p:cNvPr id="11386" name="Rectangle 2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7" name="Line 2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5" name="Group 22"/>
            <p:cNvGrpSpPr>
              <a:grpSpLocks/>
            </p:cNvGrpSpPr>
            <p:nvPr/>
          </p:nvGrpSpPr>
          <p:grpSpPr bwMode="auto">
            <a:xfrm>
              <a:off x="2236" y="3429"/>
              <a:ext cx="47" cy="281"/>
              <a:chOff x="1886" y="3421"/>
              <a:chExt cx="47" cy="281"/>
            </a:xfrm>
          </p:grpSpPr>
          <p:sp>
            <p:nvSpPr>
              <p:cNvPr id="11384" name="Rectangle 2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5" name="Line 2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6" name="Group 25"/>
            <p:cNvGrpSpPr>
              <a:grpSpLocks/>
            </p:cNvGrpSpPr>
            <p:nvPr/>
          </p:nvGrpSpPr>
          <p:grpSpPr bwMode="auto">
            <a:xfrm>
              <a:off x="2321" y="3429"/>
              <a:ext cx="47" cy="281"/>
              <a:chOff x="1886" y="3421"/>
              <a:chExt cx="47" cy="281"/>
            </a:xfrm>
          </p:grpSpPr>
          <p:sp>
            <p:nvSpPr>
              <p:cNvPr id="11382" name="Rectangle 2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3" name="Line 2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7" name="Group 28"/>
            <p:cNvGrpSpPr>
              <a:grpSpLocks/>
            </p:cNvGrpSpPr>
            <p:nvPr/>
          </p:nvGrpSpPr>
          <p:grpSpPr bwMode="auto">
            <a:xfrm>
              <a:off x="2407" y="3437"/>
              <a:ext cx="47" cy="281"/>
              <a:chOff x="1886" y="3421"/>
              <a:chExt cx="47" cy="281"/>
            </a:xfrm>
          </p:grpSpPr>
          <p:sp>
            <p:nvSpPr>
              <p:cNvPr id="11380" name="Rectangle 2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81" name="Line 3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8" name="Group 31"/>
            <p:cNvGrpSpPr>
              <a:grpSpLocks/>
            </p:cNvGrpSpPr>
            <p:nvPr/>
          </p:nvGrpSpPr>
          <p:grpSpPr bwMode="auto">
            <a:xfrm>
              <a:off x="2493" y="3429"/>
              <a:ext cx="47" cy="281"/>
              <a:chOff x="1886" y="3421"/>
              <a:chExt cx="47" cy="281"/>
            </a:xfrm>
          </p:grpSpPr>
          <p:sp>
            <p:nvSpPr>
              <p:cNvPr id="11378" name="Rectangle 3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9" name="Line 3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09" name="Group 34"/>
            <p:cNvGrpSpPr>
              <a:grpSpLocks/>
            </p:cNvGrpSpPr>
            <p:nvPr/>
          </p:nvGrpSpPr>
          <p:grpSpPr bwMode="auto">
            <a:xfrm>
              <a:off x="2580" y="3429"/>
              <a:ext cx="47" cy="281"/>
              <a:chOff x="1886" y="3421"/>
              <a:chExt cx="47" cy="281"/>
            </a:xfrm>
          </p:grpSpPr>
          <p:sp>
            <p:nvSpPr>
              <p:cNvPr id="11376" name="Rectangle 3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7" name="Line 3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0" name="Group 37"/>
            <p:cNvGrpSpPr>
              <a:grpSpLocks/>
            </p:cNvGrpSpPr>
            <p:nvPr/>
          </p:nvGrpSpPr>
          <p:grpSpPr bwMode="auto">
            <a:xfrm>
              <a:off x="2665" y="3429"/>
              <a:ext cx="47" cy="281"/>
              <a:chOff x="1886" y="3421"/>
              <a:chExt cx="47" cy="281"/>
            </a:xfrm>
          </p:grpSpPr>
          <p:sp>
            <p:nvSpPr>
              <p:cNvPr id="11374" name="Rectangle 3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5" name="Line 3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1" name="Group 40"/>
            <p:cNvGrpSpPr>
              <a:grpSpLocks/>
            </p:cNvGrpSpPr>
            <p:nvPr/>
          </p:nvGrpSpPr>
          <p:grpSpPr bwMode="auto">
            <a:xfrm>
              <a:off x="2751" y="3437"/>
              <a:ext cx="47" cy="281"/>
              <a:chOff x="1886" y="3421"/>
              <a:chExt cx="47" cy="281"/>
            </a:xfrm>
          </p:grpSpPr>
          <p:sp>
            <p:nvSpPr>
              <p:cNvPr id="11372" name="Rectangle 4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3" name="Line 4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2" name="Group 43"/>
            <p:cNvGrpSpPr>
              <a:grpSpLocks/>
            </p:cNvGrpSpPr>
            <p:nvPr/>
          </p:nvGrpSpPr>
          <p:grpSpPr bwMode="auto">
            <a:xfrm>
              <a:off x="2837" y="3429"/>
              <a:ext cx="47" cy="281"/>
              <a:chOff x="1886" y="3421"/>
              <a:chExt cx="47" cy="281"/>
            </a:xfrm>
          </p:grpSpPr>
          <p:sp>
            <p:nvSpPr>
              <p:cNvPr id="11370" name="Rectangle 4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71" name="Line 4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3" name="Group 46"/>
            <p:cNvGrpSpPr>
              <a:grpSpLocks/>
            </p:cNvGrpSpPr>
            <p:nvPr/>
          </p:nvGrpSpPr>
          <p:grpSpPr bwMode="auto">
            <a:xfrm>
              <a:off x="2930" y="3437"/>
              <a:ext cx="47" cy="281"/>
              <a:chOff x="1886" y="3421"/>
              <a:chExt cx="47" cy="281"/>
            </a:xfrm>
          </p:grpSpPr>
          <p:sp>
            <p:nvSpPr>
              <p:cNvPr id="11368" name="Rectangle 4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9" name="Line 4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4" name="Group 49"/>
            <p:cNvGrpSpPr>
              <a:grpSpLocks/>
            </p:cNvGrpSpPr>
            <p:nvPr/>
          </p:nvGrpSpPr>
          <p:grpSpPr bwMode="auto">
            <a:xfrm>
              <a:off x="3015" y="3437"/>
              <a:ext cx="47" cy="281"/>
              <a:chOff x="1886" y="3421"/>
              <a:chExt cx="47" cy="281"/>
            </a:xfrm>
          </p:grpSpPr>
          <p:sp>
            <p:nvSpPr>
              <p:cNvPr id="11366" name="Rectangle 5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7" name="Line 5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5" name="Group 52"/>
            <p:cNvGrpSpPr>
              <a:grpSpLocks/>
            </p:cNvGrpSpPr>
            <p:nvPr/>
          </p:nvGrpSpPr>
          <p:grpSpPr bwMode="auto">
            <a:xfrm>
              <a:off x="3101" y="3445"/>
              <a:ext cx="47" cy="281"/>
              <a:chOff x="1886" y="3421"/>
              <a:chExt cx="47" cy="281"/>
            </a:xfrm>
          </p:grpSpPr>
          <p:sp>
            <p:nvSpPr>
              <p:cNvPr id="11364" name="Rectangle 5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5" name="Line 5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6" name="Group 55"/>
            <p:cNvGrpSpPr>
              <a:grpSpLocks/>
            </p:cNvGrpSpPr>
            <p:nvPr/>
          </p:nvGrpSpPr>
          <p:grpSpPr bwMode="auto">
            <a:xfrm>
              <a:off x="3187" y="3437"/>
              <a:ext cx="47" cy="281"/>
              <a:chOff x="1886" y="3421"/>
              <a:chExt cx="47" cy="281"/>
            </a:xfrm>
          </p:grpSpPr>
          <p:sp>
            <p:nvSpPr>
              <p:cNvPr id="11362" name="Rectangle 5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3" name="Line 5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7" name="Group 58"/>
            <p:cNvGrpSpPr>
              <a:grpSpLocks/>
            </p:cNvGrpSpPr>
            <p:nvPr/>
          </p:nvGrpSpPr>
          <p:grpSpPr bwMode="auto">
            <a:xfrm>
              <a:off x="3265" y="3437"/>
              <a:ext cx="47" cy="281"/>
              <a:chOff x="1886" y="3421"/>
              <a:chExt cx="47" cy="281"/>
            </a:xfrm>
          </p:grpSpPr>
          <p:sp>
            <p:nvSpPr>
              <p:cNvPr id="11360" name="Rectangle 5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61" name="Line 6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8" name="Group 61"/>
            <p:cNvGrpSpPr>
              <a:grpSpLocks/>
            </p:cNvGrpSpPr>
            <p:nvPr/>
          </p:nvGrpSpPr>
          <p:grpSpPr bwMode="auto">
            <a:xfrm>
              <a:off x="3350" y="3437"/>
              <a:ext cx="47" cy="281"/>
              <a:chOff x="1886" y="3421"/>
              <a:chExt cx="47" cy="281"/>
            </a:xfrm>
          </p:grpSpPr>
          <p:sp>
            <p:nvSpPr>
              <p:cNvPr id="11358" name="Rectangle 6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9" name="Line 6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19" name="Group 64"/>
            <p:cNvGrpSpPr>
              <a:grpSpLocks/>
            </p:cNvGrpSpPr>
            <p:nvPr/>
          </p:nvGrpSpPr>
          <p:grpSpPr bwMode="auto">
            <a:xfrm>
              <a:off x="3436" y="3445"/>
              <a:ext cx="47" cy="281"/>
              <a:chOff x="1886" y="3421"/>
              <a:chExt cx="47" cy="281"/>
            </a:xfrm>
          </p:grpSpPr>
          <p:sp>
            <p:nvSpPr>
              <p:cNvPr id="11356" name="Rectangle 6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7" name="Line 6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0" name="Group 67"/>
            <p:cNvGrpSpPr>
              <a:grpSpLocks/>
            </p:cNvGrpSpPr>
            <p:nvPr/>
          </p:nvGrpSpPr>
          <p:grpSpPr bwMode="auto">
            <a:xfrm>
              <a:off x="3522" y="3437"/>
              <a:ext cx="47" cy="281"/>
              <a:chOff x="1886" y="3421"/>
              <a:chExt cx="47" cy="281"/>
            </a:xfrm>
          </p:grpSpPr>
          <p:sp>
            <p:nvSpPr>
              <p:cNvPr id="11354" name="Rectangle 6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5" name="Line 6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1" name="Group 70"/>
            <p:cNvGrpSpPr>
              <a:grpSpLocks/>
            </p:cNvGrpSpPr>
            <p:nvPr/>
          </p:nvGrpSpPr>
          <p:grpSpPr bwMode="auto">
            <a:xfrm>
              <a:off x="3615" y="3445"/>
              <a:ext cx="47" cy="281"/>
              <a:chOff x="1886" y="3421"/>
              <a:chExt cx="47" cy="281"/>
            </a:xfrm>
          </p:grpSpPr>
          <p:sp>
            <p:nvSpPr>
              <p:cNvPr id="11352" name="Rectangle 7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3" name="Line 7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2" name="Group 73"/>
            <p:cNvGrpSpPr>
              <a:grpSpLocks/>
            </p:cNvGrpSpPr>
            <p:nvPr/>
          </p:nvGrpSpPr>
          <p:grpSpPr bwMode="auto">
            <a:xfrm>
              <a:off x="3700" y="3445"/>
              <a:ext cx="47" cy="281"/>
              <a:chOff x="1886" y="3421"/>
              <a:chExt cx="47" cy="281"/>
            </a:xfrm>
          </p:grpSpPr>
          <p:sp>
            <p:nvSpPr>
              <p:cNvPr id="11350" name="Rectangle 7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51" name="Line 7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3" name="Group 76"/>
            <p:cNvGrpSpPr>
              <a:grpSpLocks/>
            </p:cNvGrpSpPr>
            <p:nvPr/>
          </p:nvGrpSpPr>
          <p:grpSpPr bwMode="auto">
            <a:xfrm>
              <a:off x="3786" y="3453"/>
              <a:ext cx="47" cy="281"/>
              <a:chOff x="1886" y="3421"/>
              <a:chExt cx="47" cy="281"/>
            </a:xfrm>
          </p:grpSpPr>
          <p:sp>
            <p:nvSpPr>
              <p:cNvPr id="11348" name="Rectangle 7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9" name="Line 7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4" name="Group 79"/>
            <p:cNvGrpSpPr>
              <a:grpSpLocks/>
            </p:cNvGrpSpPr>
            <p:nvPr/>
          </p:nvGrpSpPr>
          <p:grpSpPr bwMode="auto">
            <a:xfrm>
              <a:off x="3872" y="3445"/>
              <a:ext cx="47" cy="281"/>
              <a:chOff x="1886" y="3421"/>
              <a:chExt cx="47" cy="281"/>
            </a:xfrm>
          </p:grpSpPr>
          <p:sp>
            <p:nvSpPr>
              <p:cNvPr id="11346" name="Rectangle 8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7" name="Line 8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5" name="Group 82"/>
            <p:cNvGrpSpPr>
              <a:grpSpLocks/>
            </p:cNvGrpSpPr>
            <p:nvPr/>
          </p:nvGrpSpPr>
          <p:grpSpPr bwMode="auto">
            <a:xfrm>
              <a:off x="3950" y="3422"/>
              <a:ext cx="47" cy="281"/>
              <a:chOff x="1886" y="3421"/>
              <a:chExt cx="47" cy="281"/>
            </a:xfrm>
          </p:grpSpPr>
          <p:sp>
            <p:nvSpPr>
              <p:cNvPr id="11344" name="Rectangle 8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5" name="Line 8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6" name="Group 85"/>
            <p:cNvGrpSpPr>
              <a:grpSpLocks/>
            </p:cNvGrpSpPr>
            <p:nvPr/>
          </p:nvGrpSpPr>
          <p:grpSpPr bwMode="auto">
            <a:xfrm>
              <a:off x="4036" y="3430"/>
              <a:ext cx="47" cy="281"/>
              <a:chOff x="1886" y="3421"/>
              <a:chExt cx="47" cy="281"/>
            </a:xfrm>
          </p:grpSpPr>
          <p:sp>
            <p:nvSpPr>
              <p:cNvPr id="11342" name="Rectangle 8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3" name="Line 8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7" name="Group 88"/>
            <p:cNvGrpSpPr>
              <a:grpSpLocks/>
            </p:cNvGrpSpPr>
            <p:nvPr/>
          </p:nvGrpSpPr>
          <p:grpSpPr bwMode="auto">
            <a:xfrm>
              <a:off x="4122" y="3422"/>
              <a:ext cx="47" cy="281"/>
              <a:chOff x="1886" y="3421"/>
              <a:chExt cx="47" cy="281"/>
            </a:xfrm>
          </p:grpSpPr>
          <p:sp>
            <p:nvSpPr>
              <p:cNvPr id="11340" name="Rectangle 8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41" name="Line 9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8" name="Group 91"/>
            <p:cNvGrpSpPr>
              <a:grpSpLocks/>
            </p:cNvGrpSpPr>
            <p:nvPr/>
          </p:nvGrpSpPr>
          <p:grpSpPr bwMode="auto">
            <a:xfrm>
              <a:off x="4215" y="3430"/>
              <a:ext cx="47" cy="281"/>
              <a:chOff x="1886" y="3421"/>
              <a:chExt cx="47" cy="281"/>
            </a:xfrm>
          </p:grpSpPr>
          <p:sp>
            <p:nvSpPr>
              <p:cNvPr id="11338" name="Rectangle 9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9" name="Line 9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29" name="Group 94"/>
            <p:cNvGrpSpPr>
              <a:grpSpLocks/>
            </p:cNvGrpSpPr>
            <p:nvPr/>
          </p:nvGrpSpPr>
          <p:grpSpPr bwMode="auto">
            <a:xfrm>
              <a:off x="4300" y="3430"/>
              <a:ext cx="47" cy="281"/>
              <a:chOff x="1886" y="3421"/>
              <a:chExt cx="47" cy="281"/>
            </a:xfrm>
          </p:grpSpPr>
          <p:sp>
            <p:nvSpPr>
              <p:cNvPr id="11336" name="Rectangle 9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7" name="Line 9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30" name="Group 97"/>
            <p:cNvGrpSpPr>
              <a:grpSpLocks/>
            </p:cNvGrpSpPr>
            <p:nvPr/>
          </p:nvGrpSpPr>
          <p:grpSpPr bwMode="auto">
            <a:xfrm>
              <a:off x="4386" y="3438"/>
              <a:ext cx="47" cy="281"/>
              <a:chOff x="1886" y="3421"/>
              <a:chExt cx="47" cy="281"/>
            </a:xfrm>
          </p:grpSpPr>
          <p:sp>
            <p:nvSpPr>
              <p:cNvPr id="11334" name="Rectangle 9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5" name="Line 9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331" name="Group 100"/>
            <p:cNvGrpSpPr>
              <a:grpSpLocks/>
            </p:cNvGrpSpPr>
            <p:nvPr/>
          </p:nvGrpSpPr>
          <p:grpSpPr bwMode="auto">
            <a:xfrm>
              <a:off x="4472" y="3430"/>
              <a:ext cx="47" cy="281"/>
              <a:chOff x="1886" y="3421"/>
              <a:chExt cx="47" cy="281"/>
            </a:xfrm>
          </p:grpSpPr>
          <p:sp>
            <p:nvSpPr>
              <p:cNvPr id="11332" name="Rectangle 10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1333" name="Line 10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grpSp>
        <p:nvGrpSpPr>
          <p:cNvPr id="11271" name="Group 103"/>
          <p:cNvGrpSpPr>
            <a:grpSpLocks/>
          </p:cNvGrpSpPr>
          <p:nvPr/>
        </p:nvGrpSpPr>
        <p:grpSpPr bwMode="auto">
          <a:xfrm>
            <a:off x="3016250" y="5018088"/>
            <a:ext cx="669925" cy="363537"/>
            <a:chOff x="1533" y="2808"/>
            <a:chExt cx="609" cy="229"/>
          </a:xfrm>
        </p:grpSpPr>
        <p:sp>
          <p:nvSpPr>
            <p:cNvPr id="11295"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296"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297"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1272" name="Freeform 107"/>
          <p:cNvSpPr>
            <a:spLocks/>
          </p:cNvSpPr>
          <p:nvPr/>
        </p:nvSpPr>
        <p:spPr bwMode="auto">
          <a:xfrm>
            <a:off x="6324600" y="5054600"/>
            <a:ext cx="847725" cy="363538"/>
          </a:xfrm>
          <a:custGeom>
            <a:avLst/>
            <a:gdLst>
              <a:gd name="T0" fmla="*/ 0 w 3942"/>
              <a:gd name="T1" fmla="*/ 2147483647 h 650"/>
              <a:gd name="T2" fmla="*/ 2147483647 w 3942"/>
              <a:gd name="T3" fmla="*/ 0 h 650"/>
              <a:gd name="T4" fmla="*/ 2147483647 w 3942"/>
              <a:gd name="T5" fmla="*/ 2147483647 h 650"/>
              <a:gd name="T6" fmla="*/ 2147483647 w 3942"/>
              <a:gd name="T7" fmla="*/ 2147483647 h 650"/>
              <a:gd name="T8" fmla="*/ 2147483647 w 3942"/>
              <a:gd name="T9" fmla="*/ 2147483647 h 650"/>
              <a:gd name="T10" fmla="*/ 2147483647 w 3942"/>
              <a:gd name="T11" fmla="*/ 0 h 650"/>
              <a:gd name="T12" fmla="*/ 2147483647 w 3942"/>
              <a:gd name="T13" fmla="*/ 2147483647 h 650"/>
              <a:gd name="T14" fmla="*/ 2147483647 w 3942"/>
              <a:gd name="T15" fmla="*/ 2147483647 h 650"/>
              <a:gd name="T16" fmla="*/ 2147483647 w 3942"/>
              <a:gd name="T17" fmla="*/ 2147483647 h 650"/>
              <a:gd name="T18" fmla="*/ 2147483647 w 3942"/>
              <a:gd name="T19" fmla="*/ 2147483647 h 650"/>
              <a:gd name="T20" fmla="*/ 2147483647 w 3942"/>
              <a:gd name="T21" fmla="*/ 2147483647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sp>
        <p:nvSpPr>
          <p:cNvPr id="11273" name="Line 108"/>
          <p:cNvSpPr>
            <a:spLocks noChangeShapeType="1"/>
          </p:cNvSpPr>
          <p:nvPr/>
        </p:nvSpPr>
        <p:spPr bwMode="auto">
          <a:xfrm>
            <a:off x="5534952" y="3673785"/>
            <a:ext cx="997525" cy="1103130"/>
          </a:xfrm>
          <a:prstGeom prst="line">
            <a:avLst/>
          </a:prstGeom>
          <a:noFill/>
          <a:ln w="9525">
            <a:solidFill>
              <a:schemeClr val="tx2"/>
            </a:solidFill>
            <a:round/>
            <a:headEnd/>
            <a:tailEnd type="triangle" w="med" len="med"/>
          </a:ln>
        </p:spPr>
        <p:txBody>
          <a:bodyPr wrap="square" anchor="ctr">
            <a:spAutoFit/>
          </a:bodyPr>
          <a:lstStyle/>
          <a:p>
            <a:endParaRPr lang="en-GB"/>
          </a:p>
        </p:txBody>
      </p:sp>
      <p:grpSp>
        <p:nvGrpSpPr>
          <p:cNvPr id="11274" name="Group 109"/>
          <p:cNvGrpSpPr>
            <a:grpSpLocks/>
          </p:cNvGrpSpPr>
          <p:nvPr/>
        </p:nvGrpSpPr>
        <p:grpSpPr bwMode="auto">
          <a:xfrm>
            <a:off x="0" y="4749800"/>
            <a:ext cx="1568450" cy="928688"/>
            <a:chOff x="0" y="2992"/>
            <a:chExt cx="988" cy="585"/>
          </a:xfrm>
        </p:grpSpPr>
        <p:sp>
          <p:nvSpPr>
            <p:cNvPr id="11290" name="AutoShape 110"/>
            <p:cNvSpPr>
              <a:spLocks noChangeArrowheads="1"/>
            </p:cNvSpPr>
            <p:nvPr/>
          </p:nvSpPr>
          <p:spPr bwMode="auto">
            <a:xfrm>
              <a:off x="0" y="2992"/>
              <a:ext cx="988" cy="585"/>
            </a:xfrm>
            <a:prstGeom prst="rightArrow">
              <a:avLst>
                <a:gd name="adj1" fmla="val 61028"/>
                <a:gd name="adj2" fmla="val 71363"/>
              </a:avLst>
            </a:prstGeom>
            <a:solidFill>
              <a:srgbClr val="FFCC66"/>
            </a:solidFill>
            <a:ln w="9525">
              <a:solidFill>
                <a:srgbClr val="800000"/>
              </a:solidFill>
              <a:miter lim="800000"/>
              <a:headEnd/>
              <a:tailEnd/>
            </a:ln>
          </p:spPr>
          <p:txBody>
            <a:bodyPr anchor="ctr">
              <a:spAutoFit/>
            </a:bodyPr>
            <a:lstStyle/>
            <a:p>
              <a:endParaRPr lang="en-US"/>
            </a:p>
          </p:txBody>
        </p:sp>
        <p:grpSp>
          <p:nvGrpSpPr>
            <p:cNvPr id="11291" name="Group 111"/>
            <p:cNvGrpSpPr>
              <a:grpSpLocks/>
            </p:cNvGrpSpPr>
            <p:nvPr/>
          </p:nvGrpSpPr>
          <p:grpSpPr bwMode="auto">
            <a:xfrm>
              <a:off x="0" y="3183"/>
              <a:ext cx="281" cy="229"/>
              <a:chOff x="0" y="3183"/>
              <a:chExt cx="281" cy="229"/>
            </a:xfrm>
          </p:grpSpPr>
          <p:sp>
            <p:nvSpPr>
              <p:cNvPr id="11293" name="Freeform 112"/>
              <p:cNvSpPr>
                <a:spLocks/>
              </p:cNvSpPr>
              <p:nvPr/>
            </p:nvSpPr>
            <p:spPr bwMode="auto">
              <a:xfrm>
                <a:off x="0" y="3183"/>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294" name="Freeform 113"/>
              <p:cNvSpPr>
                <a:spLocks/>
              </p:cNvSpPr>
              <p:nvPr/>
            </p:nvSpPr>
            <p:spPr bwMode="auto">
              <a:xfrm>
                <a:off x="141" y="3183"/>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1292" name="Freeform 114"/>
            <p:cNvSpPr>
              <a:spLocks/>
            </p:cNvSpPr>
            <p:nvPr/>
          </p:nvSpPr>
          <p:spPr bwMode="auto">
            <a:xfrm>
              <a:off x="287" y="3188"/>
              <a:ext cx="534"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1275" name="Text Box 115"/>
          <p:cNvSpPr txBox="1">
            <a:spLocks noChangeArrowheads="1"/>
          </p:cNvSpPr>
          <p:nvPr/>
        </p:nvSpPr>
        <p:spPr bwMode="auto">
          <a:xfrm>
            <a:off x="7604125" y="5530850"/>
            <a:ext cx="1133475" cy="581025"/>
          </a:xfrm>
          <a:prstGeom prst="rect">
            <a:avLst/>
          </a:prstGeom>
          <a:noFill/>
          <a:ln w="9525">
            <a:noFill/>
            <a:miter lim="800000"/>
            <a:headEnd/>
            <a:tailEnd/>
          </a:ln>
        </p:spPr>
        <p:txBody>
          <a:bodyPr>
            <a:spAutoFit/>
          </a:bodyPr>
          <a:lstStyle/>
          <a:p>
            <a:r>
              <a:rPr lang="en-GB" sz="1600"/>
              <a:t>nerve endings</a:t>
            </a:r>
            <a:endParaRPr lang="en-GB" sz="1600">
              <a:latin typeface="Times New Roman" pitchFamily="18" charset="0"/>
            </a:endParaRPr>
          </a:p>
        </p:txBody>
      </p:sp>
      <p:sp>
        <p:nvSpPr>
          <p:cNvPr id="11276" name="Line 116"/>
          <p:cNvSpPr>
            <a:spLocks noChangeShapeType="1"/>
          </p:cNvSpPr>
          <p:nvPr/>
        </p:nvSpPr>
        <p:spPr bwMode="auto">
          <a:xfrm flipH="1">
            <a:off x="7261225" y="5753100"/>
            <a:ext cx="396875" cy="11113"/>
          </a:xfrm>
          <a:prstGeom prst="line">
            <a:avLst/>
          </a:prstGeom>
          <a:noFill/>
          <a:ln w="9525">
            <a:solidFill>
              <a:schemeClr val="tx1"/>
            </a:solidFill>
            <a:round/>
            <a:headEnd/>
            <a:tailEnd type="triangle" w="med" len="med"/>
          </a:ln>
        </p:spPr>
        <p:txBody>
          <a:bodyPr anchor="ctr">
            <a:spAutoFit/>
          </a:bodyPr>
          <a:lstStyle/>
          <a:p>
            <a:endParaRPr lang="en-GB"/>
          </a:p>
        </p:txBody>
      </p:sp>
      <p:sp>
        <p:nvSpPr>
          <p:cNvPr id="11277" name="Text Box 117"/>
          <p:cNvSpPr txBox="1">
            <a:spLocks noChangeArrowheads="1"/>
          </p:cNvSpPr>
          <p:nvPr/>
        </p:nvSpPr>
        <p:spPr bwMode="auto">
          <a:xfrm>
            <a:off x="7677150" y="5083175"/>
            <a:ext cx="1133475" cy="336550"/>
          </a:xfrm>
          <a:prstGeom prst="rect">
            <a:avLst/>
          </a:prstGeom>
          <a:noFill/>
          <a:ln w="9525">
            <a:noFill/>
            <a:miter lim="800000"/>
            <a:headEnd/>
            <a:tailEnd/>
          </a:ln>
        </p:spPr>
        <p:txBody>
          <a:bodyPr>
            <a:spAutoFit/>
          </a:bodyPr>
          <a:lstStyle/>
          <a:p>
            <a:r>
              <a:rPr lang="en-GB" sz="1600"/>
              <a:t>hair cells</a:t>
            </a:r>
            <a:endParaRPr lang="en-GB" sz="1600">
              <a:latin typeface="Times New Roman" pitchFamily="18" charset="0"/>
            </a:endParaRPr>
          </a:p>
        </p:txBody>
      </p:sp>
      <p:sp>
        <p:nvSpPr>
          <p:cNvPr id="11278" name="Line 118"/>
          <p:cNvSpPr>
            <a:spLocks noChangeShapeType="1"/>
          </p:cNvSpPr>
          <p:nvPr/>
        </p:nvSpPr>
        <p:spPr bwMode="auto">
          <a:xfrm flipH="1">
            <a:off x="7223125" y="5283200"/>
            <a:ext cx="446088" cy="258763"/>
          </a:xfrm>
          <a:prstGeom prst="line">
            <a:avLst/>
          </a:prstGeom>
          <a:noFill/>
          <a:ln w="9525">
            <a:solidFill>
              <a:schemeClr val="tx1"/>
            </a:solidFill>
            <a:round/>
            <a:headEnd/>
            <a:tailEnd type="triangle" w="med" len="med"/>
          </a:ln>
        </p:spPr>
        <p:txBody>
          <a:bodyPr anchor="ctr">
            <a:spAutoFit/>
          </a:bodyPr>
          <a:lstStyle/>
          <a:p>
            <a:endParaRPr lang="en-GB"/>
          </a:p>
        </p:txBody>
      </p:sp>
      <p:sp>
        <p:nvSpPr>
          <p:cNvPr id="11279" name="AutoShape 119"/>
          <p:cNvSpPr>
            <a:spLocks noChangeArrowheads="1"/>
          </p:cNvSpPr>
          <p:nvPr/>
        </p:nvSpPr>
        <p:spPr bwMode="auto">
          <a:xfrm rot="2449028">
            <a:off x="2981325" y="5380038"/>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0" name="AutoShape 120"/>
          <p:cNvSpPr>
            <a:spLocks noChangeArrowheads="1"/>
          </p:cNvSpPr>
          <p:nvPr/>
        </p:nvSpPr>
        <p:spPr bwMode="auto">
          <a:xfrm rot="2158125">
            <a:off x="3216275" y="5341938"/>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1" name="AutoShape 121"/>
          <p:cNvSpPr>
            <a:spLocks noChangeArrowheads="1"/>
          </p:cNvSpPr>
          <p:nvPr/>
        </p:nvSpPr>
        <p:spPr bwMode="auto">
          <a:xfrm rot="2158125">
            <a:off x="3497263" y="5449888"/>
            <a:ext cx="214312" cy="168275"/>
          </a:xfrm>
          <a:prstGeom prst="lightningBolt">
            <a:avLst/>
          </a:prstGeom>
          <a:solidFill>
            <a:srgbClr val="FFFF00"/>
          </a:solidFill>
          <a:ln w="9525">
            <a:solidFill>
              <a:schemeClr val="tx1"/>
            </a:solidFill>
            <a:miter lim="800000"/>
            <a:headEnd/>
            <a:tailEnd/>
          </a:ln>
        </p:spPr>
        <p:txBody>
          <a:bodyPr anchor="ctr">
            <a:spAutoFit/>
          </a:bodyPr>
          <a:lstStyle/>
          <a:p>
            <a:endParaRPr lang="en-US"/>
          </a:p>
        </p:txBody>
      </p:sp>
      <p:sp>
        <p:nvSpPr>
          <p:cNvPr id="11282" name="AutoShape 122"/>
          <p:cNvSpPr>
            <a:spLocks noChangeArrowheads="1"/>
          </p:cNvSpPr>
          <p:nvPr/>
        </p:nvSpPr>
        <p:spPr bwMode="auto">
          <a:xfrm rot="2158125">
            <a:off x="3352800" y="531812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3" name="AutoShape 123"/>
          <p:cNvSpPr>
            <a:spLocks noChangeArrowheads="1"/>
          </p:cNvSpPr>
          <p:nvPr/>
        </p:nvSpPr>
        <p:spPr bwMode="auto">
          <a:xfrm rot="2158125">
            <a:off x="6629400" y="542925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4" name="AutoShape 124"/>
          <p:cNvSpPr>
            <a:spLocks noChangeArrowheads="1"/>
          </p:cNvSpPr>
          <p:nvPr/>
        </p:nvSpPr>
        <p:spPr bwMode="auto">
          <a:xfrm rot="2158125">
            <a:off x="6802438" y="538162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5" name="AutoShape 125"/>
          <p:cNvSpPr>
            <a:spLocks noChangeArrowheads="1"/>
          </p:cNvSpPr>
          <p:nvPr/>
        </p:nvSpPr>
        <p:spPr bwMode="auto">
          <a:xfrm rot="2158125">
            <a:off x="6197600" y="5405438"/>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6" name="AutoShape 126"/>
          <p:cNvSpPr>
            <a:spLocks noChangeArrowheads="1"/>
          </p:cNvSpPr>
          <p:nvPr/>
        </p:nvSpPr>
        <p:spPr bwMode="auto">
          <a:xfrm rot="2158125">
            <a:off x="6443663" y="541655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287" name="Line 127"/>
          <p:cNvSpPr>
            <a:spLocks noChangeShapeType="1"/>
          </p:cNvSpPr>
          <p:nvPr/>
        </p:nvSpPr>
        <p:spPr bwMode="auto">
          <a:xfrm flipH="1">
            <a:off x="3154360" y="2306231"/>
            <a:ext cx="430411" cy="2620752"/>
          </a:xfrm>
          <a:prstGeom prst="line">
            <a:avLst/>
          </a:prstGeom>
          <a:noFill/>
          <a:ln w="9525">
            <a:solidFill>
              <a:schemeClr val="tx2"/>
            </a:solidFill>
            <a:round/>
            <a:headEnd/>
            <a:tailEnd type="triangle" w="med" len="med"/>
          </a:ln>
        </p:spPr>
        <p:txBody>
          <a:bodyPr wrap="square" anchor="ctr">
            <a:spAutoFit/>
          </a:bodyPr>
          <a:lstStyle/>
          <a:p>
            <a:endParaRPr lang="en-GB"/>
          </a:p>
        </p:txBody>
      </p:sp>
      <p:sp>
        <p:nvSpPr>
          <p:cNvPr id="11288" name="AutoShape 128"/>
          <p:cNvSpPr>
            <a:spLocks noChangeArrowheads="1"/>
          </p:cNvSpPr>
          <p:nvPr/>
        </p:nvSpPr>
        <p:spPr bwMode="auto">
          <a:xfrm>
            <a:off x="1150586" y="3199979"/>
            <a:ext cx="695325" cy="1898650"/>
          </a:xfrm>
          <a:prstGeom prst="curvedRightArrow">
            <a:avLst>
              <a:gd name="adj1" fmla="val 75875"/>
              <a:gd name="adj2" fmla="val 109224"/>
              <a:gd name="adj3" fmla="val 74236"/>
            </a:avLst>
          </a:prstGeom>
          <a:solidFill>
            <a:srgbClr val="C0C0C0"/>
          </a:solidFill>
          <a:ln w="9525">
            <a:solidFill>
              <a:schemeClr val="accent2"/>
            </a:solidFill>
            <a:miter lim="800000"/>
            <a:headEnd/>
            <a:tailEnd/>
          </a:ln>
        </p:spPr>
        <p:txBody>
          <a:bodyPr anchor="ctr">
            <a:spAutoFit/>
          </a:bodyPr>
          <a:lstStyle/>
          <a:p>
            <a:endParaRPr lang="en-US"/>
          </a:p>
        </p:txBody>
      </p:sp>
      <p:sp>
        <p:nvSpPr>
          <p:cNvPr id="11289" name="Text Box 129"/>
          <p:cNvSpPr txBox="1">
            <a:spLocks noChangeArrowheads="1"/>
          </p:cNvSpPr>
          <p:nvPr/>
        </p:nvSpPr>
        <p:spPr bwMode="auto">
          <a:xfrm>
            <a:off x="395288" y="5544168"/>
            <a:ext cx="1768475" cy="584775"/>
          </a:xfrm>
          <a:prstGeom prst="rect">
            <a:avLst/>
          </a:prstGeom>
          <a:noFill/>
          <a:ln w="9525" algn="ctr">
            <a:noFill/>
            <a:miter lim="800000"/>
            <a:headEnd/>
            <a:tailEnd/>
          </a:ln>
        </p:spPr>
        <p:txBody>
          <a:bodyPr>
            <a:spAutoFit/>
          </a:bodyPr>
          <a:lstStyle/>
          <a:p>
            <a:r>
              <a:rPr lang="en-GB" sz="1600" dirty="0"/>
              <a:t>incoming sounds</a:t>
            </a:r>
            <a:endParaRPr lang="en-US" sz="1600" dirty="0"/>
          </a:p>
        </p:txBody>
      </p:sp>
      <p:sp>
        <p:nvSpPr>
          <p:cNvPr id="130" name="Rectangle 3"/>
          <p:cNvSpPr>
            <a:spLocks noChangeArrowheads="1"/>
          </p:cNvSpPr>
          <p:nvPr/>
        </p:nvSpPr>
        <p:spPr bwMode="auto">
          <a:xfrm>
            <a:off x="3717492" y="3382245"/>
            <a:ext cx="2828966" cy="338554"/>
          </a:xfrm>
          <a:prstGeom prst="rect">
            <a:avLst/>
          </a:prstGeom>
          <a:noFill/>
          <a:ln w="9525">
            <a:noFill/>
            <a:miter lim="800000"/>
            <a:headEnd/>
            <a:tailEnd/>
          </a:ln>
        </p:spPr>
        <p:txBody>
          <a:bodyPr wrap="square">
            <a:spAutoFit/>
          </a:bodyPr>
          <a:lstStyle/>
          <a:p>
            <a:pPr marL="185738" indent="-185738"/>
            <a:r>
              <a:rPr lang="en-GB" sz="1600" b="1" dirty="0"/>
              <a:t>Lower frequencies</a:t>
            </a:r>
            <a:r>
              <a:rPr lang="en-GB" sz="1600" dirty="0"/>
              <a:t> </a:t>
            </a:r>
          </a:p>
        </p:txBody>
      </p:sp>
      <p:sp>
        <p:nvSpPr>
          <p:cNvPr id="229" name="Freeform 107"/>
          <p:cNvSpPr>
            <a:spLocks/>
          </p:cNvSpPr>
          <p:nvPr/>
        </p:nvSpPr>
        <p:spPr bwMode="auto">
          <a:xfrm>
            <a:off x="1793061" y="2532807"/>
            <a:ext cx="675009" cy="247328"/>
          </a:xfrm>
          <a:custGeom>
            <a:avLst/>
            <a:gdLst>
              <a:gd name="T0" fmla="*/ 0 w 3942"/>
              <a:gd name="T1" fmla="*/ 2147483647 h 650"/>
              <a:gd name="T2" fmla="*/ 2147483647 w 3942"/>
              <a:gd name="T3" fmla="*/ 0 h 650"/>
              <a:gd name="T4" fmla="*/ 2147483647 w 3942"/>
              <a:gd name="T5" fmla="*/ 2147483647 h 650"/>
              <a:gd name="T6" fmla="*/ 2147483647 w 3942"/>
              <a:gd name="T7" fmla="*/ 2147483647 h 650"/>
              <a:gd name="T8" fmla="*/ 2147483647 w 3942"/>
              <a:gd name="T9" fmla="*/ 2147483647 h 650"/>
              <a:gd name="T10" fmla="*/ 2147483647 w 3942"/>
              <a:gd name="T11" fmla="*/ 0 h 650"/>
              <a:gd name="T12" fmla="*/ 2147483647 w 3942"/>
              <a:gd name="T13" fmla="*/ 2147483647 h 650"/>
              <a:gd name="T14" fmla="*/ 2147483647 w 3942"/>
              <a:gd name="T15" fmla="*/ 2147483647 h 650"/>
              <a:gd name="T16" fmla="*/ 2147483647 w 3942"/>
              <a:gd name="T17" fmla="*/ 2147483647 h 650"/>
              <a:gd name="T18" fmla="*/ 2147483647 w 3942"/>
              <a:gd name="T19" fmla="*/ 2147483647 h 650"/>
              <a:gd name="T20" fmla="*/ 2147483647 w 3942"/>
              <a:gd name="T21" fmla="*/ 2147483647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FFFFCC"/>
            </a:solidFill>
            <a:round/>
            <a:headEnd/>
            <a:tailEnd/>
          </a:ln>
        </p:spPr>
        <p:txBody>
          <a:bodyPr/>
          <a:lstStyle/>
          <a:p>
            <a:endParaRPr lang="en-GB"/>
          </a:p>
        </p:txBody>
      </p:sp>
      <p:grpSp>
        <p:nvGrpSpPr>
          <p:cNvPr id="230" name="Group 103"/>
          <p:cNvGrpSpPr>
            <a:grpSpLocks/>
          </p:cNvGrpSpPr>
          <p:nvPr/>
        </p:nvGrpSpPr>
        <p:grpSpPr bwMode="auto">
          <a:xfrm>
            <a:off x="2215139" y="3285366"/>
            <a:ext cx="430957" cy="202722"/>
            <a:chOff x="1533" y="2808"/>
            <a:chExt cx="609" cy="229"/>
          </a:xfrm>
        </p:grpSpPr>
        <p:sp>
          <p:nvSpPr>
            <p:cNvPr id="231"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2"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3"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grpSp>
      <p:grpSp>
        <p:nvGrpSpPr>
          <p:cNvPr id="234" name="Group 103"/>
          <p:cNvGrpSpPr>
            <a:grpSpLocks/>
          </p:cNvGrpSpPr>
          <p:nvPr/>
        </p:nvGrpSpPr>
        <p:grpSpPr bwMode="auto">
          <a:xfrm>
            <a:off x="1648696" y="2031100"/>
            <a:ext cx="625166" cy="202722"/>
            <a:chOff x="1533" y="2808"/>
            <a:chExt cx="609" cy="229"/>
          </a:xfrm>
        </p:grpSpPr>
        <p:sp>
          <p:nvSpPr>
            <p:cNvPr id="235"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6"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sp>
          <p:nvSpPr>
            <p:cNvPr id="237"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12700" cmpd="sng">
              <a:solidFill>
                <a:srgbClr val="FFFFCC"/>
              </a:solidFill>
              <a:round/>
              <a:headEnd/>
              <a:tailEnd/>
            </a:ln>
          </p:spPr>
          <p:txBody>
            <a:bodyPr/>
            <a:lstStyle/>
            <a:p>
              <a:endParaRPr lang="en-GB"/>
            </a:p>
          </p:txBody>
        </p:sp>
      </p:grpSp>
    </p:spTree>
    <p:extLst>
      <p:ext uri="{BB962C8B-B14F-4D97-AF65-F5344CB8AC3E}">
        <p14:creationId xmlns:p14="http://schemas.microsoft.com/office/powerpoint/2010/main" val="2499392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flipH="1">
            <a:off x="380999" y="991891"/>
            <a:ext cx="2914651" cy="3556356"/>
          </a:xfrm>
          <a:prstGeom prst="rect">
            <a:avLst/>
          </a:prstGeom>
          <a:noFill/>
          <a:ln w="9525">
            <a:noFill/>
            <a:miter lim="800000"/>
            <a:headEnd/>
            <a:tailEnd/>
          </a:ln>
        </p:spPr>
      </p:pic>
      <p:pic>
        <p:nvPicPr>
          <p:cNvPr id="2050" name="Picture 2" descr="http://www.hitl.washington.edu/publications/hollander/figure2.2.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0024" y="1077171"/>
            <a:ext cx="2502493" cy="231182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754922" y="948252"/>
            <a:ext cx="2381692" cy="400110"/>
          </a:xfrm>
          <a:prstGeom prst="rect">
            <a:avLst/>
          </a:prstGeom>
          <a:solidFill>
            <a:schemeClr val="accent6">
              <a:lumMod val="20000"/>
              <a:lumOff val="80000"/>
            </a:schemeClr>
          </a:solidFill>
        </p:spPr>
        <p:txBody>
          <a:bodyPr wrap="square">
            <a:spAutoFit/>
          </a:bodyPr>
          <a:lstStyle/>
          <a:p>
            <a:r>
              <a:rPr lang="en-GB" sz="1000" dirty="0"/>
              <a:t>http://www.hitl.washington.edu/publications/hollander/2.html</a:t>
            </a:r>
          </a:p>
        </p:txBody>
      </p:sp>
      <p:grpSp>
        <p:nvGrpSpPr>
          <p:cNvPr id="5" name="Group 6"/>
          <p:cNvGrpSpPr>
            <a:grpSpLocks/>
          </p:cNvGrpSpPr>
          <p:nvPr/>
        </p:nvGrpSpPr>
        <p:grpSpPr bwMode="auto">
          <a:xfrm>
            <a:off x="2689733" y="4721523"/>
            <a:ext cx="5691188" cy="1303337"/>
            <a:chOff x="934" y="2913"/>
            <a:chExt cx="3585" cy="821"/>
          </a:xfrm>
        </p:grpSpPr>
        <p:sp>
          <p:nvSpPr>
            <p:cNvPr id="6" name="AutoShape 7"/>
            <p:cNvSpPr>
              <a:spLocks noChangeArrowheads="1"/>
            </p:cNvSpPr>
            <p:nvPr/>
          </p:nvSpPr>
          <p:spPr bwMode="auto">
            <a:xfrm rot="-5400000">
              <a:off x="2364" y="1491"/>
              <a:ext cx="709" cy="3570"/>
            </a:xfrm>
            <a:prstGeom prst="can">
              <a:avLst>
                <a:gd name="adj" fmla="val 125882"/>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7" name="Oval 8"/>
            <p:cNvSpPr>
              <a:spLocks noChangeArrowheads="1"/>
            </p:cNvSpPr>
            <p:nvPr/>
          </p:nvSpPr>
          <p:spPr bwMode="auto">
            <a:xfrm>
              <a:off x="935" y="2913"/>
              <a:ext cx="889"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8" name="Line 9"/>
            <p:cNvSpPr>
              <a:spLocks noChangeShapeType="1"/>
            </p:cNvSpPr>
            <p:nvPr/>
          </p:nvSpPr>
          <p:spPr bwMode="auto">
            <a:xfrm>
              <a:off x="1753" y="3554"/>
              <a:ext cx="2728" cy="0"/>
            </a:xfrm>
            <a:prstGeom prst="line">
              <a:avLst/>
            </a:prstGeom>
            <a:noFill/>
            <a:ln w="9525">
              <a:solidFill>
                <a:schemeClr val="tx1"/>
              </a:solidFill>
              <a:round/>
              <a:headEnd/>
              <a:tailEnd/>
            </a:ln>
          </p:spPr>
          <p:txBody>
            <a:bodyPr wrap="none" anchor="ctr">
              <a:spAutoFit/>
            </a:bodyPr>
            <a:lstStyle/>
            <a:p>
              <a:endParaRPr lang="en-GB"/>
            </a:p>
          </p:txBody>
        </p:sp>
        <p:grpSp>
          <p:nvGrpSpPr>
            <p:cNvPr id="9" name="Group 10"/>
            <p:cNvGrpSpPr>
              <a:grpSpLocks/>
            </p:cNvGrpSpPr>
            <p:nvPr/>
          </p:nvGrpSpPr>
          <p:grpSpPr bwMode="auto">
            <a:xfrm>
              <a:off x="1886" y="3421"/>
              <a:ext cx="47" cy="281"/>
              <a:chOff x="1886" y="3421"/>
              <a:chExt cx="47" cy="281"/>
            </a:xfrm>
          </p:grpSpPr>
          <p:sp>
            <p:nvSpPr>
              <p:cNvPr id="100" name="Rectangle 1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01" name="Line 1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0" name="Group 13"/>
            <p:cNvGrpSpPr>
              <a:grpSpLocks/>
            </p:cNvGrpSpPr>
            <p:nvPr/>
          </p:nvGrpSpPr>
          <p:grpSpPr bwMode="auto">
            <a:xfrm>
              <a:off x="1971" y="3421"/>
              <a:ext cx="47" cy="281"/>
              <a:chOff x="1886" y="3421"/>
              <a:chExt cx="47" cy="281"/>
            </a:xfrm>
          </p:grpSpPr>
          <p:sp>
            <p:nvSpPr>
              <p:cNvPr id="98" name="Rectangle 1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9" name="Line 1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1" name="Group 16"/>
            <p:cNvGrpSpPr>
              <a:grpSpLocks/>
            </p:cNvGrpSpPr>
            <p:nvPr/>
          </p:nvGrpSpPr>
          <p:grpSpPr bwMode="auto">
            <a:xfrm>
              <a:off x="2057" y="3429"/>
              <a:ext cx="47" cy="281"/>
              <a:chOff x="1886" y="3421"/>
              <a:chExt cx="47" cy="281"/>
            </a:xfrm>
          </p:grpSpPr>
          <p:sp>
            <p:nvSpPr>
              <p:cNvPr id="96" name="Rectangle 1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7" name="Line 1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 name="Group 19"/>
            <p:cNvGrpSpPr>
              <a:grpSpLocks/>
            </p:cNvGrpSpPr>
            <p:nvPr/>
          </p:nvGrpSpPr>
          <p:grpSpPr bwMode="auto">
            <a:xfrm>
              <a:off x="2143" y="3421"/>
              <a:ext cx="47" cy="281"/>
              <a:chOff x="1886" y="3421"/>
              <a:chExt cx="47" cy="281"/>
            </a:xfrm>
          </p:grpSpPr>
          <p:sp>
            <p:nvSpPr>
              <p:cNvPr id="94" name="Rectangle 2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5" name="Line 2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3" name="Group 22"/>
            <p:cNvGrpSpPr>
              <a:grpSpLocks/>
            </p:cNvGrpSpPr>
            <p:nvPr/>
          </p:nvGrpSpPr>
          <p:grpSpPr bwMode="auto">
            <a:xfrm>
              <a:off x="2236" y="3429"/>
              <a:ext cx="47" cy="281"/>
              <a:chOff x="1886" y="3421"/>
              <a:chExt cx="47" cy="281"/>
            </a:xfrm>
          </p:grpSpPr>
          <p:sp>
            <p:nvSpPr>
              <p:cNvPr id="92" name="Rectangle 2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3" name="Line 2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4" name="Group 25"/>
            <p:cNvGrpSpPr>
              <a:grpSpLocks/>
            </p:cNvGrpSpPr>
            <p:nvPr/>
          </p:nvGrpSpPr>
          <p:grpSpPr bwMode="auto">
            <a:xfrm>
              <a:off x="2321" y="3429"/>
              <a:ext cx="47" cy="281"/>
              <a:chOff x="1886" y="3421"/>
              <a:chExt cx="47" cy="281"/>
            </a:xfrm>
          </p:grpSpPr>
          <p:sp>
            <p:nvSpPr>
              <p:cNvPr id="90" name="Rectangle 2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91" name="Line 2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5" name="Group 28"/>
            <p:cNvGrpSpPr>
              <a:grpSpLocks/>
            </p:cNvGrpSpPr>
            <p:nvPr/>
          </p:nvGrpSpPr>
          <p:grpSpPr bwMode="auto">
            <a:xfrm>
              <a:off x="2407" y="3437"/>
              <a:ext cx="47" cy="281"/>
              <a:chOff x="1886" y="3421"/>
              <a:chExt cx="47" cy="281"/>
            </a:xfrm>
          </p:grpSpPr>
          <p:sp>
            <p:nvSpPr>
              <p:cNvPr id="88" name="Rectangle 2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9" name="Line 3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6" name="Group 31"/>
            <p:cNvGrpSpPr>
              <a:grpSpLocks/>
            </p:cNvGrpSpPr>
            <p:nvPr/>
          </p:nvGrpSpPr>
          <p:grpSpPr bwMode="auto">
            <a:xfrm>
              <a:off x="2493" y="3429"/>
              <a:ext cx="47" cy="281"/>
              <a:chOff x="1886" y="3421"/>
              <a:chExt cx="47" cy="281"/>
            </a:xfrm>
          </p:grpSpPr>
          <p:sp>
            <p:nvSpPr>
              <p:cNvPr id="86" name="Rectangle 3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7" name="Line 3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7" name="Group 34"/>
            <p:cNvGrpSpPr>
              <a:grpSpLocks/>
            </p:cNvGrpSpPr>
            <p:nvPr/>
          </p:nvGrpSpPr>
          <p:grpSpPr bwMode="auto">
            <a:xfrm>
              <a:off x="2580" y="3429"/>
              <a:ext cx="47" cy="281"/>
              <a:chOff x="1886" y="3421"/>
              <a:chExt cx="47" cy="281"/>
            </a:xfrm>
          </p:grpSpPr>
          <p:sp>
            <p:nvSpPr>
              <p:cNvPr id="84" name="Rectangle 3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5" name="Line 3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8" name="Group 37"/>
            <p:cNvGrpSpPr>
              <a:grpSpLocks/>
            </p:cNvGrpSpPr>
            <p:nvPr/>
          </p:nvGrpSpPr>
          <p:grpSpPr bwMode="auto">
            <a:xfrm>
              <a:off x="2665" y="3429"/>
              <a:ext cx="47" cy="281"/>
              <a:chOff x="1886" y="3421"/>
              <a:chExt cx="47" cy="281"/>
            </a:xfrm>
          </p:grpSpPr>
          <p:sp>
            <p:nvSpPr>
              <p:cNvPr id="82" name="Rectangle 3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3" name="Line 3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9" name="Group 40"/>
            <p:cNvGrpSpPr>
              <a:grpSpLocks/>
            </p:cNvGrpSpPr>
            <p:nvPr/>
          </p:nvGrpSpPr>
          <p:grpSpPr bwMode="auto">
            <a:xfrm>
              <a:off x="2751" y="3437"/>
              <a:ext cx="47" cy="281"/>
              <a:chOff x="1886" y="3421"/>
              <a:chExt cx="47" cy="281"/>
            </a:xfrm>
          </p:grpSpPr>
          <p:sp>
            <p:nvSpPr>
              <p:cNvPr id="80" name="Rectangle 4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81" name="Line 4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0" name="Group 43"/>
            <p:cNvGrpSpPr>
              <a:grpSpLocks/>
            </p:cNvGrpSpPr>
            <p:nvPr/>
          </p:nvGrpSpPr>
          <p:grpSpPr bwMode="auto">
            <a:xfrm>
              <a:off x="2837" y="3429"/>
              <a:ext cx="47" cy="281"/>
              <a:chOff x="1886" y="3421"/>
              <a:chExt cx="47" cy="281"/>
            </a:xfrm>
          </p:grpSpPr>
          <p:sp>
            <p:nvSpPr>
              <p:cNvPr id="78" name="Rectangle 4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9" name="Line 4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1" name="Group 46"/>
            <p:cNvGrpSpPr>
              <a:grpSpLocks/>
            </p:cNvGrpSpPr>
            <p:nvPr/>
          </p:nvGrpSpPr>
          <p:grpSpPr bwMode="auto">
            <a:xfrm>
              <a:off x="2930" y="3437"/>
              <a:ext cx="47" cy="281"/>
              <a:chOff x="1886" y="3421"/>
              <a:chExt cx="47" cy="281"/>
            </a:xfrm>
          </p:grpSpPr>
          <p:sp>
            <p:nvSpPr>
              <p:cNvPr id="76" name="Rectangle 4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7" name="Line 4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2" name="Group 49"/>
            <p:cNvGrpSpPr>
              <a:grpSpLocks/>
            </p:cNvGrpSpPr>
            <p:nvPr/>
          </p:nvGrpSpPr>
          <p:grpSpPr bwMode="auto">
            <a:xfrm>
              <a:off x="3015" y="3437"/>
              <a:ext cx="47" cy="281"/>
              <a:chOff x="1886" y="3421"/>
              <a:chExt cx="47" cy="281"/>
            </a:xfrm>
          </p:grpSpPr>
          <p:sp>
            <p:nvSpPr>
              <p:cNvPr id="74" name="Rectangle 5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5" name="Line 5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3" name="Group 52"/>
            <p:cNvGrpSpPr>
              <a:grpSpLocks/>
            </p:cNvGrpSpPr>
            <p:nvPr/>
          </p:nvGrpSpPr>
          <p:grpSpPr bwMode="auto">
            <a:xfrm>
              <a:off x="3101" y="3445"/>
              <a:ext cx="47" cy="281"/>
              <a:chOff x="1886" y="3421"/>
              <a:chExt cx="47" cy="281"/>
            </a:xfrm>
          </p:grpSpPr>
          <p:sp>
            <p:nvSpPr>
              <p:cNvPr id="72" name="Rectangle 5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3" name="Line 5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4" name="Group 55"/>
            <p:cNvGrpSpPr>
              <a:grpSpLocks/>
            </p:cNvGrpSpPr>
            <p:nvPr/>
          </p:nvGrpSpPr>
          <p:grpSpPr bwMode="auto">
            <a:xfrm>
              <a:off x="3187" y="3437"/>
              <a:ext cx="47" cy="281"/>
              <a:chOff x="1886" y="3421"/>
              <a:chExt cx="47" cy="281"/>
            </a:xfrm>
          </p:grpSpPr>
          <p:sp>
            <p:nvSpPr>
              <p:cNvPr id="70" name="Rectangle 5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71" name="Line 5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5" name="Group 58"/>
            <p:cNvGrpSpPr>
              <a:grpSpLocks/>
            </p:cNvGrpSpPr>
            <p:nvPr/>
          </p:nvGrpSpPr>
          <p:grpSpPr bwMode="auto">
            <a:xfrm>
              <a:off x="3265" y="3437"/>
              <a:ext cx="47" cy="281"/>
              <a:chOff x="1886" y="3421"/>
              <a:chExt cx="47" cy="281"/>
            </a:xfrm>
          </p:grpSpPr>
          <p:sp>
            <p:nvSpPr>
              <p:cNvPr id="68" name="Rectangle 5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9" name="Line 6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6" name="Group 61"/>
            <p:cNvGrpSpPr>
              <a:grpSpLocks/>
            </p:cNvGrpSpPr>
            <p:nvPr/>
          </p:nvGrpSpPr>
          <p:grpSpPr bwMode="auto">
            <a:xfrm>
              <a:off x="3350" y="3437"/>
              <a:ext cx="47" cy="281"/>
              <a:chOff x="1886" y="3421"/>
              <a:chExt cx="47" cy="281"/>
            </a:xfrm>
          </p:grpSpPr>
          <p:sp>
            <p:nvSpPr>
              <p:cNvPr id="66" name="Rectangle 6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7" name="Line 6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7" name="Group 64"/>
            <p:cNvGrpSpPr>
              <a:grpSpLocks/>
            </p:cNvGrpSpPr>
            <p:nvPr/>
          </p:nvGrpSpPr>
          <p:grpSpPr bwMode="auto">
            <a:xfrm>
              <a:off x="3436" y="3445"/>
              <a:ext cx="47" cy="281"/>
              <a:chOff x="1886" y="3421"/>
              <a:chExt cx="47" cy="281"/>
            </a:xfrm>
          </p:grpSpPr>
          <p:sp>
            <p:nvSpPr>
              <p:cNvPr id="64" name="Rectangle 6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5" name="Line 6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8" name="Group 67"/>
            <p:cNvGrpSpPr>
              <a:grpSpLocks/>
            </p:cNvGrpSpPr>
            <p:nvPr/>
          </p:nvGrpSpPr>
          <p:grpSpPr bwMode="auto">
            <a:xfrm>
              <a:off x="3522" y="3437"/>
              <a:ext cx="47" cy="281"/>
              <a:chOff x="1886" y="3421"/>
              <a:chExt cx="47" cy="281"/>
            </a:xfrm>
          </p:grpSpPr>
          <p:sp>
            <p:nvSpPr>
              <p:cNvPr id="62" name="Rectangle 6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3" name="Line 6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29" name="Group 70"/>
            <p:cNvGrpSpPr>
              <a:grpSpLocks/>
            </p:cNvGrpSpPr>
            <p:nvPr/>
          </p:nvGrpSpPr>
          <p:grpSpPr bwMode="auto">
            <a:xfrm>
              <a:off x="3615" y="3445"/>
              <a:ext cx="47" cy="281"/>
              <a:chOff x="1886" y="3421"/>
              <a:chExt cx="47" cy="281"/>
            </a:xfrm>
          </p:grpSpPr>
          <p:sp>
            <p:nvSpPr>
              <p:cNvPr id="60" name="Rectangle 7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61" name="Line 7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0" name="Group 73"/>
            <p:cNvGrpSpPr>
              <a:grpSpLocks/>
            </p:cNvGrpSpPr>
            <p:nvPr/>
          </p:nvGrpSpPr>
          <p:grpSpPr bwMode="auto">
            <a:xfrm>
              <a:off x="3700" y="3445"/>
              <a:ext cx="47" cy="281"/>
              <a:chOff x="1886" y="3421"/>
              <a:chExt cx="47" cy="281"/>
            </a:xfrm>
          </p:grpSpPr>
          <p:sp>
            <p:nvSpPr>
              <p:cNvPr id="58" name="Rectangle 7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9" name="Line 7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1" name="Group 76"/>
            <p:cNvGrpSpPr>
              <a:grpSpLocks/>
            </p:cNvGrpSpPr>
            <p:nvPr/>
          </p:nvGrpSpPr>
          <p:grpSpPr bwMode="auto">
            <a:xfrm>
              <a:off x="3786" y="3453"/>
              <a:ext cx="47" cy="281"/>
              <a:chOff x="1886" y="3421"/>
              <a:chExt cx="47" cy="281"/>
            </a:xfrm>
          </p:grpSpPr>
          <p:sp>
            <p:nvSpPr>
              <p:cNvPr id="56" name="Rectangle 7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7" name="Line 7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2" name="Group 79"/>
            <p:cNvGrpSpPr>
              <a:grpSpLocks/>
            </p:cNvGrpSpPr>
            <p:nvPr/>
          </p:nvGrpSpPr>
          <p:grpSpPr bwMode="auto">
            <a:xfrm>
              <a:off x="3872" y="3445"/>
              <a:ext cx="47" cy="281"/>
              <a:chOff x="1886" y="3421"/>
              <a:chExt cx="47" cy="281"/>
            </a:xfrm>
          </p:grpSpPr>
          <p:sp>
            <p:nvSpPr>
              <p:cNvPr id="54" name="Rectangle 8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5" name="Line 8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3" name="Group 82"/>
            <p:cNvGrpSpPr>
              <a:grpSpLocks/>
            </p:cNvGrpSpPr>
            <p:nvPr/>
          </p:nvGrpSpPr>
          <p:grpSpPr bwMode="auto">
            <a:xfrm>
              <a:off x="3950" y="3422"/>
              <a:ext cx="47" cy="281"/>
              <a:chOff x="1886" y="3421"/>
              <a:chExt cx="47" cy="281"/>
            </a:xfrm>
          </p:grpSpPr>
          <p:sp>
            <p:nvSpPr>
              <p:cNvPr id="52" name="Rectangle 8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3" name="Line 8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4" name="Group 85"/>
            <p:cNvGrpSpPr>
              <a:grpSpLocks/>
            </p:cNvGrpSpPr>
            <p:nvPr/>
          </p:nvGrpSpPr>
          <p:grpSpPr bwMode="auto">
            <a:xfrm>
              <a:off x="4036" y="3430"/>
              <a:ext cx="47" cy="281"/>
              <a:chOff x="1886" y="3421"/>
              <a:chExt cx="47" cy="281"/>
            </a:xfrm>
          </p:grpSpPr>
          <p:sp>
            <p:nvSpPr>
              <p:cNvPr id="50" name="Rectangle 8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51" name="Line 8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5" name="Group 88"/>
            <p:cNvGrpSpPr>
              <a:grpSpLocks/>
            </p:cNvGrpSpPr>
            <p:nvPr/>
          </p:nvGrpSpPr>
          <p:grpSpPr bwMode="auto">
            <a:xfrm>
              <a:off x="4122" y="3422"/>
              <a:ext cx="47" cy="281"/>
              <a:chOff x="1886" y="3421"/>
              <a:chExt cx="47" cy="281"/>
            </a:xfrm>
          </p:grpSpPr>
          <p:sp>
            <p:nvSpPr>
              <p:cNvPr id="48" name="Rectangle 8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9" name="Line 9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6" name="Group 91"/>
            <p:cNvGrpSpPr>
              <a:grpSpLocks/>
            </p:cNvGrpSpPr>
            <p:nvPr/>
          </p:nvGrpSpPr>
          <p:grpSpPr bwMode="auto">
            <a:xfrm>
              <a:off x="4215" y="3430"/>
              <a:ext cx="47" cy="281"/>
              <a:chOff x="1886" y="3421"/>
              <a:chExt cx="47" cy="281"/>
            </a:xfrm>
          </p:grpSpPr>
          <p:sp>
            <p:nvSpPr>
              <p:cNvPr id="46" name="Rectangle 9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7" name="Line 9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7" name="Group 94"/>
            <p:cNvGrpSpPr>
              <a:grpSpLocks/>
            </p:cNvGrpSpPr>
            <p:nvPr/>
          </p:nvGrpSpPr>
          <p:grpSpPr bwMode="auto">
            <a:xfrm>
              <a:off x="4300" y="3430"/>
              <a:ext cx="47" cy="281"/>
              <a:chOff x="1886" y="3421"/>
              <a:chExt cx="47" cy="281"/>
            </a:xfrm>
          </p:grpSpPr>
          <p:sp>
            <p:nvSpPr>
              <p:cNvPr id="44" name="Rectangle 9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5" name="Line 9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8" name="Group 97"/>
            <p:cNvGrpSpPr>
              <a:grpSpLocks/>
            </p:cNvGrpSpPr>
            <p:nvPr/>
          </p:nvGrpSpPr>
          <p:grpSpPr bwMode="auto">
            <a:xfrm>
              <a:off x="4386" y="3438"/>
              <a:ext cx="47" cy="281"/>
              <a:chOff x="1886" y="3421"/>
              <a:chExt cx="47" cy="281"/>
            </a:xfrm>
          </p:grpSpPr>
          <p:sp>
            <p:nvSpPr>
              <p:cNvPr id="42" name="Rectangle 9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3" name="Line 9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39" name="Group 100"/>
            <p:cNvGrpSpPr>
              <a:grpSpLocks/>
            </p:cNvGrpSpPr>
            <p:nvPr/>
          </p:nvGrpSpPr>
          <p:grpSpPr bwMode="auto">
            <a:xfrm>
              <a:off x="4472" y="3430"/>
              <a:ext cx="47" cy="281"/>
              <a:chOff x="1886" y="3421"/>
              <a:chExt cx="47" cy="281"/>
            </a:xfrm>
          </p:grpSpPr>
          <p:sp>
            <p:nvSpPr>
              <p:cNvPr id="40" name="Rectangle 10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41" name="Line 10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grpSp>
        <p:nvGrpSpPr>
          <p:cNvPr id="102" name="Group 103"/>
          <p:cNvGrpSpPr>
            <a:grpSpLocks/>
          </p:cNvGrpSpPr>
          <p:nvPr/>
        </p:nvGrpSpPr>
        <p:grpSpPr bwMode="auto">
          <a:xfrm>
            <a:off x="4223258" y="5115223"/>
            <a:ext cx="669925" cy="363537"/>
            <a:chOff x="1533" y="2808"/>
            <a:chExt cx="609" cy="229"/>
          </a:xfrm>
        </p:grpSpPr>
        <p:sp>
          <p:nvSpPr>
            <p:cNvPr id="103" name="Freeform 104"/>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4" name="Freeform 105"/>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05" name="Freeform 106"/>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06" name="Freeform 107"/>
          <p:cNvSpPr>
            <a:spLocks/>
          </p:cNvSpPr>
          <p:nvPr/>
        </p:nvSpPr>
        <p:spPr bwMode="auto">
          <a:xfrm>
            <a:off x="7531608" y="5151735"/>
            <a:ext cx="847725" cy="363538"/>
          </a:xfrm>
          <a:custGeom>
            <a:avLst/>
            <a:gdLst>
              <a:gd name="T0" fmla="*/ 0 w 3942"/>
              <a:gd name="T1" fmla="*/ 2147483647 h 650"/>
              <a:gd name="T2" fmla="*/ 2147483647 w 3942"/>
              <a:gd name="T3" fmla="*/ 0 h 650"/>
              <a:gd name="T4" fmla="*/ 2147483647 w 3942"/>
              <a:gd name="T5" fmla="*/ 2147483647 h 650"/>
              <a:gd name="T6" fmla="*/ 2147483647 w 3942"/>
              <a:gd name="T7" fmla="*/ 2147483647 h 650"/>
              <a:gd name="T8" fmla="*/ 2147483647 w 3942"/>
              <a:gd name="T9" fmla="*/ 2147483647 h 650"/>
              <a:gd name="T10" fmla="*/ 2147483647 w 3942"/>
              <a:gd name="T11" fmla="*/ 0 h 650"/>
              <a:gd name="T12" fmla="*/ 2147483647 w 3942"/>
              <a:gd name="T13" fmla="*/ 2147483647 h 650"/>
              <a:gd name="T14" fmla="*/ 2147483647 w 3942"/>
              <a:gd name="T15" fmla="*/ 2147483647 h 650"/>
              <a:gd name="T16" fmla="*/ 2147483647 w 3942"/>
              <a:gd name="T17" fmla="*/ 2147483647 h 650"/>
              <a:gd name="T18" fmla="*/ 2147483647 w 3942"/>
              <a:gd name="T19" fmla="*/ 2147483647 h 650"/>
              <a:gd name="T20" fmla="*/ 2147483647 w 3942"/>
              <a:gd name="T21" fmla="*/ 2147483647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nvGrpSpPr>
          <p:cNvPr id="108" name="Group 109"/>
          <p:cNvGrpSpPr>
            <a:grpSpLocks/>
          </p:cNvGrpSpPr>
          <p:nvPr/>
        </p:nvGrpSpPr>
        <p:grpSpPr bwMode="auto">
          <a:xfrm>
            <a:off x="1207008" y="4846935"/>
            <a:ext cx="1568450" cy="928688"/>
            <a:chOff x="0" y="2992"/>
            <a:chExt cx="988" cy="585"/>
          </a:xfrm>
        </p:grpSpPr>
        <p:sp>
          <p:nvSpPr>
            <p:cNvPr id="109" name="AutoShape 110"/>
            <p:cNvSpPr>
              <a:spLocks noChangeArrowheads="1"/>
            </p:cNvSpPr>
            <p:nvPr/>
          </p:nvSpPr>
          <p:spPr bwMode="auto">
            <a:xfrm>
              <a:off x="0" y="2992"/>
              <a:ext cx="988" cy="585"/>
            </a:xfrm>
            <a:prstGeom prst="rightArrow">
              <a:avLst>
                <a:gd name="adj1" fmla="val 61028"/>
                <a:gd name="adj2" fmla="val 71363"/>
              </a:avLst>
            </a:prstGeom>
            <a:solidFill>
              <a:srgbClr val="FFCC66"/>
            </a:solidFill>
            <a:ln w="9525">
              <a:solidFill>
                <a:srgbClr val="800000"/>
              </a:solidFill>
              <a:miter lim="800000"/>
              <a:headEnd/>
              <a:tailEnd/>
            </a:ln>
          </p:spPr>
          <p:txBody>
            <a:bodyPr anchor="ctr">
              <a:spAutoFit/>
            </a:bodyPr>
            <a:lstStyle/>
            <a:p>
              <a:endParaRPr lang="en-US"/>
            </a:p>
          </p:txBody>
        </p:sp>
        <p:grpSp>
          <p:nvGrpSpPr>
            <p:cNvPr id="110" name="Group 111"/>
            <p:cNvGrpSpPr>
              <a:grpSpLocks/>
            </p:cNvGrpSpPr>
            <p:nvPr/>
          </p:nvGrpSpPr>
          <p:grpSpPr bwMode="auto">
            <a:xfrm>
              <a:off x="0" y="3183"/>
              <a:ext cx="281" cy="229"/>
              <a:chOff x="0" y="3183"/>
              <a:chExt cx="281" cy="229"/>
            </a:xfrm>
          </p:grpSpPr>
          <p:sp>
            <p:nvSpPr>
              <p:cNvPr id="112" name="Freeform 112"/>
              <p:cNvSpPr>
                <a:spLocks/>
              </p:cNvSpPr>
              <p:nvPr/>
            </p:nvSpPr>
            <p:spPr bwMode="auto">
              <a:xfrm>
                <a:off x="0" y="3183"/>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13" name="Freeform 113"/>
              <p:cNvSpPr>
                <a:spLocks/>
              </p:cNvSpPr>
              <p:nvPr/>
            </p:nvSpPr>
            <p:spPr bwMode="auto">
              <a:xfrm>
                <a:off x="141" y="3183"/>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11" name="Freeform 114"/>
            <p:cNvSpPr>
              <a:spLocks/>
            </p:cNvSpPr>
            <p:nvPr/>
          </p:nvSpPr>
          <p:spPr bwMode="auto">
            <a:xfrm>
              <a:off x="287" y="3188"/>
              <a:ext cx="534"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14" name="AutoShape 119"/>
          <p:cNvSpPr>
            <a:spLocks noChangeArrowheads="1"/>
          </p:cNvSpPr>
          <p:nvPr/>
        </p:nvSpPr>
        <p:spPr bwMode="auto">
          <a:xfrm rot="2449028">
            <a:off x="4188333" y="5477173"/>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5" name="AutoShape 120"/>
          <p:cNvSpPr>
            <a:spLocks noChangeArrowheads="1"/>
          </p:cNvSpPr>
          <p:nvPr/>
        </p:nvSpPr>
        <p:spPr bwMode="auto">
          <a:xfrm rot="2158125">
            <a:off x="4423283" y="5439073"/>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6" name="AutoShape 121"/>
          <p:cNvSpPr>
            <a:spLocks noChangeArrowheads="1"/>
          </p:cNvSpPr>
          <p:nvPr/>
        </p:nvSpPr>
        <p:spPr bwMode="auto">
          <a:xfrm rot="2158125">
            <a:off x="4704271" y="5547023"/>
            <a:ext cx="214312" cy="168275"/>
          </a:xfrm>
          <a:prstGeom prst="lightningBolt">
            <a:avLst/>
          </a:prstGeom>
          <a:solidFill>
            <a:srgbClr val="FFFF00"/>
          </a:solidFill>
          <a:ln w="9525">
            <a:solidFill>
              <a:schemeClr val="tx1"/>
            </a:solidFill>
            <a:miter lim="800000"/>
            <a:headEnd/>
            <a:tailEnd/>
          </a:ln>
        </p:spPr>
        <p:txBody>
          <a:bodyPr anchor="ctr">
            <a:spAutoFit/>
          </a:bodyPr>
          <a:lstStyle/>
          <a:p>
            <a:endParaRPr lang="en-US"/>
          </a:p>
        </p:txBody>
      </p:sp>
      <p:sp>
        <p:nvSpPr>
          <p:cNvPr id="117" name="AutoShape 122"/>
          <p:cNvSpPr>
            <a:spLocks noChangeArrowheads="1"/>
          </p:cNvSpPr>
          <p:nvPr/>
        </p:nvSpPr>
        <p:spPr bwMode="auto">
          <a:xfrm rot="2158125">
            <a:off x="4559808" y="541526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8" name="AutoShape 123"/>
          <p:cNvSpPr>
            <a:spLocks noChangeArrowheads="1"/>
          </p:cNvSpPr>
          <p:nvPr/>
        </p:nvSpPr>
        <p:spPr bwMode="auto">
          <a:xfrm rot="2158125">
            <a:off x="7836408" y="552638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19" name="AutoShape 124"/>
          <p:cNvSpPr>
            <a:spLocks noChangeArrowheads="1"/>
          </p:cNvSpPr>
          <p:nvPr/>
        </p:nvSpPr>
        <p:spPr bwMode="auto">
          <a:xfrm rot="2158125">
            <a:off x="8009446" y="5478760"/>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0" name="AutoShape 125"/>
          <p:cNvSpPr>
            <a:spLocks noChangeArrowheads="1"/>
          </p:cNvSpPr>
          <p:nvPr/>
        </p:nvSpPr>
        <p:spPr bwMode="auto">
          <a:xfrm rot="2158125">
            <a:off x="7404608" y="5502573"/>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1" name="AutoShape 126"/>
          <p:cNvSpPr>
            <a:spLocks noChangeArrowheads="1"/>
          </p:cNvSpPr>
          <p:nvPr/>
        </p:nvSpPr>
        <p:spPr bwMode="auto">
          <a:xfrm rot="2158125">
            <a:off x="7650671" y="5513685"/>
            <a:ext cx="247650" cy="234950"/>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 name="AutoShape 128"/>
          <p:cNvSpPr>
            <a:spLocks noChangeArrowheads="1"/>
          </p:cNvSpPr>
          <p:nvPr/>
        </p:nvSpPr>
        <p:spPr bwMode="auto">
          <a:xfrm>
            <a:off x="1038627" y="3203476"/>
            <a:ext cx="695325" cy="1898650"/>
          </a:xfrm>
          <a:prstGeom prst="curvedRightArrow">
            <a:avLst>
              <a:gd name="adj1" fmla="val 53826"/>
              <a:gd name="adj2" fmla="val 109224"/>
              <a:gd name="adj3" fmla="val 74236"/>
            </a:avLst>
          </a:prstGeom>
          <a:solidFill>
            <a:srgbClr val="C0C0C0"/>
          </a:solidFill>
          <a:ln w="9525">
            <a:solidFill>
              <a:schemeClr val="accent2"/>
            </a:solidFill>
            <a:miter lim="800000"/>
            <a:headEnd/>
            <a:tailEnd/>
          </a:ln>
        </p:spPr>
        <p:txBody>
          <a:bodyPr anchor="ctr">
            <a:spAutoFit/>
          </a:bodyPr>
          <a:lstStyle/>
          <a:p>
            <a:endParaRPr lang="en-US"/>
          </a:p>
        </p:txBody>
      </p:sp>
      <p:sp>
        <p:nvSpPr>
          <p:cNvPr id="124" name="Text Box 129"/>
          <p:cNvSpPr txBox="1">
            <a:spLocks noChangeArrowheads="1"/>
          </p:cNvSpPr>
          <p:nvPr/>
        </p:nvSpPr>
        <p:spPr bwMode="auto">
          <a:xfrm>
            <a:off x="861523" y="5620048"/>
            <a:ext cx="1768475" cy="581025"/>
          </a:xfrm>
          <a:prstGeom prst="rect">
            <a:avLst/>
          </a:prstGeom>
          <a:noFill/>
          <a:ln w="9525" algn="ctr">
            <a:noFill/>
            <a:miter lim="800000"/>
            <a:headEnd/>
            <a:tailEnd/>
          </a:ln>
        </p:spPr>
        <p:txBody>
          <a:bodyPr>
            <a:spAutoFit/>
          </a:bodyPr>
          <a:lstStyle/>
          <a:p>
            <a:r>
              <a:rPr lang="en-GB" sz="1600" dirty="0"/>
              <a:t>low + high frequencies</a:t>
            </a:r>
            <a:endParaRPr lang="en-US" sz="1600" dirty="0"/>
          </a:p>
        </p:txBody>
      </p:sp>
      <p:sp>
        <p:nvSpPr>
          <p:cNvPr id="129" name="Rectangle 4"/>
          <p:cNvSpPr>
            <a:spLocks noChangeArrowheads="1"/>
          </p:cNvSpPr>
          <p:nvPr/>
        </p:nvSpPr>
        <p:spPr bwMode="auto">
          <a:xfrm>
            <a:off x="380771" y="351880"/>
            <a:ext cx="6280887" cy="461665"/>
          </a:xfrm>
          <a:prstGeom prst="rect">
            <a:avLst/>
          </a:prstGeom>
          <a:noFill/>
          <a:ln w="9525">
            <a:noFill/>
            <a:miter lim="800000"/>
            <a:headEnd/>
            <a:tailEnd/>
          </a:ln>
        </p:spPr>
        <p:txBody>
          <a:bodyPr wrap="none">
            <a:spAutoFit/>
          </a:bodyPr>
          <a:lstStyle/>
          <a:p>
            <a:r>
              <a:rPr lang="en-GB" sz="2400" b="1" dirty="0"/>
              <a:t>The Physiology of Hearing – The Cochlea</a:t>
            </a:r>
          </a:p>
        </p:txBody>
      </p:sp>
    </p:spTree>
    <p:extLst>
      <p:ext uri="{BB962C8B-B14F-4D97-AF65-F5344CB8AC3E}">
        <p14:creationId xmlns:p14="http://schemas.microsoft.com/office/powerpoint/2010/main" val="1578598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95288" y="2715595"/>
            <a:ext cx="6578600" cy="825500"/>
          </a:xfrm>
          <a:prstGeom prst="rect">
            <a:avLst/>
          </a:prstGeom>
          <a:noFill/>
          <a:ln w="9525">
            <a:noFill/>
            <a:miter lim="800000"/>
            <a:headEnd/>
            <a:tailEnd/>
          </a:ln>
        </p:spPr>
        <p:txBody>
          <a:bodyPr wrap="none">
            <a:spAutoFit/>
          </a:bodyPr>
          <a:lstStyle/>
          <a:p>
            <a:r>
              <a:rPr lang="en-GB" sz="1600" b="1" dirty="0"/>
              <a:t>Two signals within a </a:t>
            </a:r>
            <a:r>
              <a:rPr lang="en-GB" sz="1600" b="1" u="sng" dirty="0"/>
              <a:t>critical band</a:t>
            </a:r>
            <a:r>
              <a:rPr lang="en-GB" sz="1600" b="1" dirty="0"/>
              <a:t> - closely related in frequency</a:t>
            </a:r>
          </a:p>
          <a:p>
            <a:pPr>
              <a:buFontTx/>
              <a:buChar char="•"/>
            </a:pPr>
            <a:r>
              <a:rPr lang="en-GB" sz="1600" dirty="0"/>
              <a:t>stimulate the same area of the membrane in the cochlea</a:t>
            </a:r>
          </a:p>
          <a:p>
            <a:pPr>
              <a:buFontTx/>
              <a:buChar char="•"/>
            </a:pPr>
            <a:r>
              <a:rPr lang="en-GB" sz="1600" dirty="0"/>
              <a:t>these two sounds added together don’t give twice the loudness</a:t>
            </a:r>
            <a:endParaRPr lang="en-GB" sz="1600" dirty="0">
              <a:latin typeface="Times New Roman" pitchFamily="18" charset="0"/>
            </a:endParaRPr>
          </a:p>
        </p:txBody>
      </p:sp>
      <p:sp>
        <p:nvSpPr>
          <p:cNvPr id="12291" name="Text Box 3"/>
          <p:cNvSpPr txBox="1">
            <a:spLocks noChangeArrowheads="1"/>
          </p:cNvSpPr>
          <p:nvPr/>
        </p:nvSpPr>
        <p:spPr bwMode="auto">
          <a:xfrm>
            <a:off x="395288" y="5349256"/>
            <a:ext cx="6310312" cy="1069975"/>
          </a:xfrm>
          <a:prstGeom prst="rect">
            <a:avLst/>
          </a:prstGeom>
          <a:noFill/>
          <a:ln w="9525">
            <a:noFill/>
            <a:miter lim="800000"/>
            <a:headEnd/>
            <a:tailEnd/>
          </a:ln>
        </p:spPr>
        <p:txBody>
          <a:bodyPr wrap="none">
            <a:spAutoFit/>
          </a:bodyPr>
          <a:lstStyle/>
          <a:p>
            <a:r>
              <a:rPr lang="en-GB" sz="1600" b="1" dirty="0"/>
              <a:t>Two signals - frequencies separated</a:t>
            </a:r>
          </a:p>
          <a:p>
            <a:pPr>
              <a:buFontTx/>
              <a:buChar char="•"/>
            </a:pPr>
            <a:r>
              <a:rPr lang="en-GB" sz="1600" dirty="0"/>
              <a:t>stimulate the different areas of the membrane in the cochlea</a:t>
            </a:r>
          </a:p>
          <a:p>
            <a:pPr>
              <a:buFontTx/>
              <a:buChar char="•"/>
            </a:pPr>
            <a:r>
              <a:rPr lang="en-GB" sz="1600" dirty="0"/>
              <a:t>not competing for the same nerve endings</a:t>
            </a:r>
          </a:p>
          <a:p>
            <a:pPr>
              <a:buFontTx/>
              <a:buChar char="•"/>
            </a:pPr>
            <a:r>
              <a:rPr lang="en-GB" sz="1600" dirty="0"/>
              <a:t>give an appreciable increase of perceived intensity</a:t>
            </a:r>
            <a:endParaRPr lang="en-GB" sz="1600" dirty="0">
              <a:latin typeface="Times New Roman" pitchFamily="18" charset="0"/>
            </a:endParaRPr>
          </a:p>
        </p:txBody>
      </p:sp>
      <p:sp>
        <p:nvSpPr>
          <p:cNvPr id="12292" name="Rectangle 4"/>
          <p:cNvSpPr>
            <a:spLocks noChangeArrowheads="1"/>
          </p:cNvSpPr>
          <p:nvPr/>
        </p:nvSpPr>
        <p:spPr bwMode="auto">
          <a:xfrm>
            <a:off x="399822" y="325248"/>
            <a:ext cx="4094391" cy="461665"/>
          </a:xfrm>
          <a:prstGeom prst="rect">
            <a:avLst/>
          </a:prstGeom>
          <a:noFill/>
          <a:ln w="9525">
            <a:noFill/>
            <a:miter lim="800000"/>
            <a:headEnd/>
            <a:tailEnd/>
          </a:ln>
        </p:spPr>
        <p:txBody>
          <a:bodyPr wrap="none">
            <a:spAutoFit/>
          </a:bodyPr>
          <a:lstStyle/>
          <a:p>
            <a:r>
              <a:rPr lang="en-GB" sz="2400" b="1" dirty="0"/>
              <a:t>The Physiology of Hearing</a:t>
            </a:r>
          </a:p>
        </p:txBody>
      </p:sp>
      <p:grpSp>
        <p:nvGrpSpPr>
          <p:cNvPr id="12294" name="Group 6"/>
          <p:cNvGrpSpPr>
            <a:grpSpLocks/>
          </p:cNvGrpSpPr>
          <p:nvPr/>
        </p:nvGrpSpPr>
        <p:grpSpPr bwMode="auto">
          <a:xfrm>
            <a:off x="0" y="1271588"/>
            <a:ext cx="6837770" cy="1303337"/>
            <a:chOff x="0" y="801"/>
            <a:chExt cx="4649" cy="821"/>
          </a:xfrm>
        </p:grpSpPr>
        <p:sp>
          <p:nvSpPr>
            <p:cNvPr id="116743" name="AutoShape 7"/>
            <p:cNvSpPr>
              <a:spLocks noChangeArrowheads="1"/>
            </p:cNvSpPr>
            <p:nvPr/>
          </p:nvSpPr>
          <p:spPr bwMode="auto">
            <a:xfrm rot="-5400000">
              <a:off x="2605" y="-485"/>
              <a:ext cx="709" cy="3297"/>
            </a:xfrm>
            <a:prstGeom prst="can">
              <a:avLst>
                <a:gd name="adj" fmla="val 116255"/>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12401" name="Oval 8"/>
            <p:cNvSpPr>
              <a:spLocks noChangeArrowheads="1"/>
            </p:cNvSpPr>
            <p:nvPr/>
          </p:nvSpPr>
          <p:spPr bwMode="auto">
            <a:xfrm>
              <a:off x="1312" y="801"/>
              <a:ext cx="821"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12402" name="Line 9"/>
            <p:cNvSpPr>
              <a:spLocks noChangeShapeType="1"/>
            </p:cNvSpPr>
            <p:nvPr/>
          </p:nvSpPr>
          <p:spPr bwMode="auto">
            <a:xfrm>
              <a:off x="2130" y="1442"/>
              <a:ext cx="2519" cy="1"/>
            </a:xfrm>
            <a:prstGeom prst="line">
              <a:avLst/>
            </a:prstGeom>
            <a:noFill/>
            <a:ln w="9525">
              <a:solidFill>
                <a:schemeClr val="tx1"/>
              </a:solidFill>
              <a:round/>
              <a:headEnd/>
              <a:tailEnd/>
            </a:ln>
          </p:spPr>
          <p:txBody>
            <a:bodyPr wrap="none" anchor="ctr">
              <a:spAutoFit/>
            </a:bodyPr>
            <a:lstStyle/>
            <a:p>
              <a:endParaRPr lang="en-GB"/>
            </a:p>
          </p:txBody>
        </p:sp>
        <p:grpSp>
          <p:nvGrpSpPr>
            <p:cNvPr id="12403" name="Group 10"/>
            <p:cNvGrpSpPr>
              <a:grpSpLocks/>
            </p:cNvGrpSpPr>
            <p:nvPr/>
          </p:nvGrpSpPr>
          <p:grpSpPr bwMode="auto">
            <a:xfrm>
              <a:off x="2263" y="1309"/>
              <a:ext cx="47" cy="281"/>
              <a:chOff x="1886" y="3421"/>
              <a:chExt cx="47" cy="281"/>
            </a:xfrm>
          </p:grpSpPr>
          <p:sp>
            <p:nvSpPr>
              <p:cNvPr id="12501" name="Rectangle 1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502" name="Line 1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4" name="Group 13"/>
            <p:cNvGrpSpPr>
              <a:grpSpLocks/>
            </p:cNvGrpSpPr>
            <p:nvPr/>
          </p:nvGrpSpPr>
          <p:grpSpPr bwMode="auto">
            <a:xfrm>
              <a:off x="2348" y="1309"/>
              <a:ext cx="47" cy="281"/>
              <a:chOff x="1886" y="3421"/>
              <a:chExt cx="47" cy="281"/>
            </a:xfrm>
          </p:grpSpPr>
          <p:sp>
            <p:nvSpPr>
              <p:cNvPr id="12499" name="Rectangle 1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500" name="Line 1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5" name="Group 16"/>
            <p:cNvGrpSpPr>
              <a:grpSpLocks/>
            </p:cNvGrpSpPr>
            <p:nvPr/>
          </p:nvGrpSpPr>
          <p:grpSpPr bwMode="auto">
            <a:xfrm>
              <a:off x="2434" y="1317"/>
              <a:ext cx="47" cy="281"/>
              <a:chOff x="1886" y="3421"/>
              <a:chExt cx="47" cy="281"/>
            </a:xfrm>
          </p:grpSpPr>
          <p:sp>
            <p:nvSpPr>
              <p:cNvPr id="12497" name="Rectangle 1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8" name="Line 1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6" name="Group 19"/>
            <p:cNvGrpSpPr>
              <a:grpSpLocks/>
            </p:cNvGrpSpPr>
            <p:nvPr/>
          </p:nvGrpSpPr>
          <p:grpSpPr bwMode="auto">
            <a:xfrm>
              <a:off x="2520" y="1309"/>
              <a:ext cx="47" cy="281"/>
              <a:chOff x="1886" y="3421"/>
              <a:chExt cx="47" cy="281"/>
            </a:xfrm>
          </p:grpSpPr>
          <p:sp>
            <p:nvSpPr>
              <p:cNvPr id="12495" name="Rectangle 2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6" name="Line 2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7" name="Group 22"/>
            <p:cNvGrpSpPr>
              <a:grpSpLocks/>
            </p:cNvGrpSpPr>
            <p:nvPr/>
          </p:nvGrpSpPr>
          <p:grpSpPr bwMode="auto">
            <a:xfrm>
              <a:off x="2613" y="1317"/>
              <a:ext cx="47" cy="281"/>
              <a:chOff x="1886" y="3421"/>
              <a:chExt cx="47" cy="281"/>
            </a:xfrm>
          </p:grpSpPr>
          <p:sp>
            <p:nvSpPr>
              <p:cNvPr id="12493" name="Rectangle 2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4" name="Line 2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8" name="Group 25"/>
            <p:cNvGrpSpPr>
              <a:grpSpLocks/>
            </p:cNvGrpSpPr>
            <p:nvPr/>
          </p:nvGrpSpPr>
          <p:grpSpPr bwMode="auto">
            <a:xfrm>
              <a:off x="2698" y="1317"/>
              <a:ext cx="47" cy="281"/>
              <a:chOff x="1886" y="3421"/>
              <a:chExt cx="47" cy="281"/>
            </a:xfrm>
          </p:grpSpPr>
          <p:sp>
            <p:nvSpPr>
              <p:cNvPr id="12491" name="Rectangle 2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2" name="Line 2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09" name="Group 28"/>
            <p:cNvGrpSpPr>
              <a:grpSpLocks/>
            </p:cNvGrpSpPr>
            <p:nvPr/>
          </p:nvGrpSpPr>
          <p:grpSpPr bwMode="auto">
            <a:xfrm>
              <a:off x="2784" y="1325"/>
              <a:ext cx="47" cy="281"/>
              <a:chOff x="1886" y="3421"/>
              <a:chExt cx="47" cy="281"/>
            </a:xfrm>
          </p:grpSpPr>
          <p:sp>
            <p:nvSpPr>
              <p:cNvPr id="12489" name="Rectangle 2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90" name="Line 3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0" name="Group 31"/>
            <p:cNvGrpSpPr>
              <a:grpSpLocks/>
            </p:cNvGrpSpPr>
            <p:nvPr/>
          </p:nvGrpSpPr>
          <p:grpSpPr bwMode="auto">
            <a:xfrm>
              <a:off x="2870" y="1317"/>
              <a:ext cx="47" cy="281"/>
              <a:chOff x="1886" y="3421"/>
              <a:chExt cx="47" cy="281"/>
            </a:xfrm>
          </p:grpSpPr>
          <p:sp>
            <p:nvSpPr>
              <p:cNvPr id="12487" name="Rectangle 3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8" name="Line 3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1" name="Group 34"/>
            <p:cNvGrpSpPr>
              <a:grpSpLocks/>
            </p:cNvGrpSpPr>
            <p:nvPr/>
          </p:nvGrpSpPr>
          <p:grpSpPr bwMode="auto">
            <a:xfrm>
              <a:off x="2957" y="1317"/>
              <a:ext cx="47" cy="281"/>
              <a:chOff x="1886" y="3421"/>
              <a:chExt cx="47" cy="281"/>
            </a:xfrm>
          </p:grpSpPr>
          <p:sp>
            <p:nvSpPr>
              <p:cNvPr id="12485" name="Rectangle 3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6" name="Line 3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2" name="Group 37"/>
            <p:cNvGrpSpPr>
              <a:grpSpLocks/>
            </p:cNvGrpSpPr>
            <p:nvPr/>
          </p:nvGrpSpPr>
          <p:grpSpPr bwMode="auto">
            <a:xfrm>
              <a:off x="3042" y="1317"/>
              <a:ext cx="47" cy="281"/>
              <a:chOff x="1886" y="3421"/>
              <a:chExt cx="47" cy="281"/>
            </a:xfrm>
          </p:grpSpPr>
          <p:sp>
            <p:nvSpPr>
              <p:cNvPr id="12483" name="Rectangle 3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4" name="Line 3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3" name="Group 40"/>
            <p:cNvGrpSpPr>
              <a:grpSpLocks/>
            </p:cNvGrpSpPr>
            <p:nvPr/>
          </p:nvGrpSpPr>
          <p:grpSpPr bwMode="auto">
            <a:xfrm>
              <a:off x="3128" y="1325"/>
              <a:ext cx="47" cy="281"/>
              <a:chOff x="1886" y="3421"/>
              <a:chExt cx="47" cy="281"/>
            </a:xfrm>
          </p:grpSpPr>
          <p:sp>
            <p:nvSpPr>
              <p:cNvPr id="12481" name="Rectangle 4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2" name="Line 4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4" name="Group 43"/>
            <p:cNvGrpSpPr>
              <a:grpSpLocks/>
            </p:cNvGrpSpPr>
            <p:nvPr/>
          </p:nvGrpSpPr>
          <p:grpSpPr bwMode="auto">
            <a:xfrm>
              <a:off x="3214" y="1317"/>
              <a:ext cx="47" cy="281"/>
              <a:chOff x="1886" y="3421"/>
              <a:chExt cx="47" cy="281"/>
            </a:xfrm>
          </p:grpSpPr>
          <p:sp>
            <p:nvSpPr>
              <p:cNvPr id="12479" name="Rectangle 4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80" name="Line 4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5" name="Group 46"/>
            <p:cNvGrpSpPr>
              <a:grpSpLocks/>
            </p:cNvGrpSpPr>
            <p:nvPr/>
          </p:nvGrpSpPr>
          <p:grpSpPr bwMode="auto">
            <a:xfrm>
              <a:off x="3307" y="1325"/>
              <a:ext cx="47" cy="281"/>
              <a:chOff x="1886" y="3421"/>
              <a:chExt cx="47" cy="281"/>
            </a:xfrm>
          </p:grpSpPr>
          <p:sp>
            <p:nvSpPr>
              <p:cNvPr id="12477" name="Rectangle 4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8" name="Line 4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6" name="Group 49"/>
            <p:cNvGrpSpPr>
              <a:grpSpLocks/>
            </p:cNvGrpSpPr>
            <p:nvPr/>
          </p:nvGrpSpPr>
          <p:grpSpPr bwMode="auto">
            <a:xfrm>
              <a:off x="3392" y="1325"/>
              <a:ext cx="47" cy="281"/>
              <a:chOff x="1886" y="3421"/>
              <a:chExt cx="47" cy="281"/>
            </a:xfrm>
          </p:grpSpPr>
          <p:sp>
            <p:nvSpPr>
              <p:cNvPr id="12475" name="Rectangle 5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6" name="Line 5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7" name="Group 52"/>
            <p:cNvGrpSpPr>
              <a:grpSpLocks/>
            </p:cNvGrpSpPr>
            <p:nvPr/>
          </p:nvGrpSpPr>
          <p:grpSpPr bwMode="auto">
            <a:xfrm>
              <a:off x="3478" y="1333"/>
              <a:ext cx="47" cy="281"/>
              <a:chOff x="1886" y="3421"/>
              <a:chExt cx="47" cy="281"/>
            </a:xfrm>
          </p:grpSpPr>
          <p:sp>
            <p:nvSpPr>
              <p:cNvPr id="12473" name="Rectangle 5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4" name="Line 5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8" name="Group 55"/>
            <p:cNvGrpSpPr>
              <a:grpSpLocks/>
            </p:cNvGrpSpPr>
            <p:nvPr/>
          </p:nvGrpSpPr>
          <p:grpSpPr bwMode="auto">
            <a:xfrm>
              <a:off x="3564" y="1325"/>
              <a:ext cx="47" cy="281"/>
              <a:chOff x="1886" y="3421"/>
              <a:chExt cx="47" cy="281"/>
            </a:xfrm>
          </p:grpSpPr>
          <p:sp>
            <p:nvSpPr>
              <p:cNvPr id="12471" name="Rectangle 5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2" name="Line 5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19" name="Group 58"/>
            <p:cNvGrpSpPr>
              <a:grpSpLocks/>
            </p:cNvGrpSpPr>
            <p:nvPr/>
          </p:nvGrpSpPr>
          <p:grpSpPr bwMode="auto">
            <a:xfrm>
              <a:off x="3642" y="1325"/>
              <a:ext cx="47" cy="281"/>
              <a:chOff x="1886" y="3421"/>
              <a:chExt cx="47" cy="281"/>
            </a:xfrm>
          </p:grpSpPr>
          <p:sp>
            <p:nvSpPr>
              <p:cNvPr id="12469" name="Rectangle 5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70" name="Line 6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0" name="Group 61"/>
            <p:cNvGrpSpPr>
              <a:grpSpLocks/>
            </p:cNvGrpSpPr>
            <p:nvPr/>
          </p:nvGrpSpPr>
          <p:grpSpPr bwMode="auto">
            <a:xfrm>
              <a:off x="3727" y="1325"/>
              <a:ext cx="47" cy="281"/>
              <a:chOff x="1886" y="3421"/>
              <a:chExt cx="47" cy="281"/>
            </a:xfrm>
          </p:grpSpPr>
          <p:sp>
            <p:nvSpPr>
              <p:cNvPr id="12467" name="Rectangle 6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8" name="Line 6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1" name="Group 64"/>
            <p:cNvGrpSpPr>
              <a:grpSpLocks/>
            </p:cNvGrpSpPr>
            <p:nvPr/>
          </p:nvGrpSpPr>
          <p:grpSpPr bwMode="auto">
            <a:xfrm>
              <a:off x="3813" y="1333"/>
              <a:ext cx="47" cy="281"/>
              <a:chOff x="1886" y="3421"/>
              <a:chExt cx="47" cy="281"/>
            </a:xfrm>
          </p:grpSpPr>
          <p:sp>
            <p:nvSpPr>
              <p:cNvPr id="12465" name="Rectangle 6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6" name="Line 6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2" name="Group 67"/>
            <p:cNvGrpSpPr>
              <a:grpSpLocks/>
            </p:cNvGrpSpPr>
            <p:nvPr/>
          </p:nvGrpSpPr>
          <p:grpSpPr bwMode="auto">
            <a:xfrm>
              <a:off x="3899" y="1325"/>
              <a:ext cx="47" cy="281"/>
              <a:chOff x="1886" y="3421"/>
              <a:chExt cx="47" cy="281"/>
            </a:xfrm>
          </p:grpSpPr>
          <p:sp>
            <p:nvSpPr>
              <p:cNvPr id="12463" name="Rectangle 6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4" name="Line 6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3" name="Group 70"/>
            <p:cNvGrpSpPr>
              <a:grpSpLocks/>
            </p:cNvGrpSpPr>
            <p:nvPr/>
          </p:nvGrpSpPr>
          <p:grpSpPr bwMode="auto">
            <a:xfrm>
              <a:off x="3992" y="1333"/>
              <a:ext cx="47" cy="281"/>
              <a:chOff x="1886" y="3421"/>
              <a:chExt cx="47" cy="281"/>
            </a:xfrm>
          </p:grpSpPr>
          <p:sp>
            <p:nvSpPr>
              <p:cNvPr id="12461" name="Rectangle 7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2" name="Line 7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4" name="Group 73"/>
            <p:cNvGrpSpPr>
              <a:grpSpLocks/>
            </p:cNvGrpSpPr>
            <p:nvPr/>
          </p:nvGrpSpPr>
          <p:grpSpPr bwMode="auto">
            <a:xfrm>
              <a:off x="4077" y="1333"/>
              <a:ext cx="47" cy="281"/>
              <a:chOff x="1886" y="3421"/>
              <a:chExt cx="47" cy="281"/>
            </a:xfrm>
          </p:grpSpPr>
          <p:sp>
            <p:nvSpPr>
              <p:cNvPr id="12459" name="Rectangle 7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60" name="Line 7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5" name="Group 76"/>
            <p:cNvGrpSpPr>
              <a:grpSpLocks/>
            </p:cNvGrpSpPr>
            <p:nvPr/>
          </p:nvGrpSpPr>
          <p:grpSpPr bwMode="auto">
            <a:xfrm>
              <a:off x="4163" y="1341"/>
              <a:ext cx="47" cy="281"/>
              <a:chOff x="1886" y="3421"/>
              <a:chExt cx="47" cy="281"/>
            </a:xfrm>
          </p:grpSpPr>
          <p:sp>
            <p:nvSpPr>
              <p:cNvPr id="12457" name="Rectangle 7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8" name="Line 7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6" name="Group 79"/>
            <p:cNvGrpSpPr>
              <a:grpSpLocks/>
            </p:cNvGrpSpPr>
            <p:nvPr/>
          </p:nvGrpSpPr>
          <p:grpSpPr bwMode="auto">
            <a:xfrm>
              <a:off x="4249" y="1333"/>
              <a:ext cx="47" cy="281"/>
              <a:chOff x="1886" y="3421"/>
              <a:chExt cx="47" cy="281"/>
            </a:xfrm>
          </p:grpSpPr>
          <p:sp>
            <p:nvSpPr>
              <p:cNvPr id="12455" name="Rectangle 8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6" name="Line 8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7" name="Group 82"/>
            <p:cNvGrpSpPr>
              <a:grpSpLocks/>
            </p:cNvGrpSpPr>
            <p:nvPr/>
          </p:nvGrpSpPr>
          <p:grpSpPr bwMode="auto">
            <a:xfrm>
              <a:off x="4327" y="1310"/>
              <a:ext cx="47" cy="281"/>
              <a:chOff x="1886" y="3421"/>
              <a:chExt cx="47" cy="281"/>
            </a:xfrm>
          </p:grpSpPr>
          <p:sp>
            <p:nvSpPr>
              <p:cNvPr id="12453" name="Rectangle 8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4" name="Line 8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8" name="Group 85"/>
            <p:cNvGrpSpPr>
              <a:grpSpLocks/>
            </p:cNvGrpSpPr>
            <p:nvPr/>
          </p:nvGrpSpPr>
          <p:grpSpPr bwMode="auto">
            <a:xfrm>
              <a:off x="4413" y="1318"/>
              <a:ext cx="47" cy="281"/>
              <a:chOff x="1886" y="3421"/>
              <a:chExt cx="47" cy="281"/>
            </a:xfrm>
          </p:grpSpPr>
          <p:sp>
            <p:nvSpPr>
              <p:cNvPr id="12451" name="Rectangle 8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452" name="Line 8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429" name="Group 88"/>
            <p:cNvGrpSpPr>
              <a:grpSpLocks/>
            </p:cNvGrpSpPr>
            <p:nvPr/>
          </p:nvGrpSpPr>
          <p:grpSpPr bwMode="auto">
            <a:xfrm>
              <a:off x="2807" y="995"/>
              <a:ext cx="648" cy="291"/>
              <a:chOff x="1900" y="1290"/>
              <a:chExt cx="422" cy="229"/>
            </a:xfrm>
          </p:grpSpPr>
          <p:sp>
            <p:nvSpPr>
              <p:cNvPr id="12448" name="Freeform 89"/>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49" name="Freeform 90"/>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50" name="Freeform 91"/>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sp>
          <p:nvSpPr>
            <p:cNvPr id="12430" name="AutoShape 92"/>
            <p:cNvSpPr>
              <a:spLocks noChangeArrowheads="1"/>
            </p:cNvSpPr>
            <p:nvPr/>
          </p:nvSpPr>
          <p:spPr bwMode="auto">
            <a:xfrm>
              <a:off x="0" y="880"/>
              <a:ext cx="1183" cy="585"/>
            </a:xfrm>
            <a:prstGeom prst="rightArrow">
              <a:avLst>
                <a:gd name="adj1" fmla="val 61028"/>
                <a:gd name="adj2" fmla="val 85448"/>
              </a:avLst>
            </a:prstGeom>
            <a:solidFill>
              <a:srgbClr val="FFCC66"/>
            </a:solidFill>
            <a:ln w="9525">
              <a:solidFill>
                <a:srgbClr val="800000"/>
              </a:solidFill>
              <a:miter lim="800000"/>
              <a:headEnd/>
              <a:tailEnd/>
            </a:ln>
          </p:spPr>
          <p:txBody>
            <a:bodyPr anchor="ctr">
              <a:spAutoFit/>
            </a:bodyPr>
            <a:lstStyle/>
            <a:p>
              <a:endParaRPr lang="en-US"/>
            </a:p>
          </p:txBody>
        </p:sp>
        <p:grpSp>
          <p:nvGrpSpPr>
            <p:cNvPr id="12431" name="Group 93"/>
            <p:cNvGrpSpPr>
              <a:grpSpLocks/>
            </p:cNvGrpSpPr>
            <p:nvPr/>
          </p:nvGrpSpPr>
          <p:grpSpPr bwMode="auto">
            <a:xfrm>
              <a:off x="190" y="978"/>
              <a:ext cx="662" cy="284"/>
              <a:chOff x="1900" y="1290"/>
              <a:chExt cx="422" cy="229"/>
            </a:xfrm>
          </p:grpSpPr>
          <p:sp>
            <p:nvSpPr>
              <p:cNvPr id="12445" name="Freeform 94"/>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46" name="Freeform 95"/>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447" name="Freeform 96"/>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grpSp>
          <p:nvGrpSpPr>
            <p:cNvPr id="12432" name="Group 97"/>
            <p:cNvGrpSpPr>
              <a:grpSpLocks/>
            </p:cNvGrpSpPr>
            <p:nvPr/>
          </p:nvGrpSpPr>
          <p:grpSpPr bwMode="auto">
            <a:xfrm flipV="1">
              <a:off x="190" y="1063"/>
              <a:ext cx="662" cy="284"/>
              <a:chOff x="1900" y="1290"/>
              <a:chExt cx="422" cy="229"/>
            </a:xfrm>
          </p:grpSpPr>
          <p:sp>
            <p:nvSpPr>
              <p:cNvPr id="12442" name="Freeform 98"/>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3" name="Freeform 99"/>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4" name="Freeform 100"/>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grpSp>
        <p:grpSp>
          <p:nvGrpSpPr>
            <p:cNvPr id="12433" name="Group 101"/>
            <p:cNvGrpSpPr>
              <a:grpSpLocks/>
            </p:cNvGrpSpPr>
            <p:nvPr/>
          </p:nvGrpSpPr>
          <p:grpSpPr bwMode="auto">
            <a:xfrm flipV="1">
              <a:off x="2917" y="1010"/>
              <a:ext cx="648" cy="291"/>
              <a:chOff x="1900" y="1290"/>
              <a:chExt cx="422" cy="229"/>
            </a:xfrm>
          </p:grpSpPr>
          <p:sp>
            <p:nvSpPr>
              <p:cNvPr id="12439" name="Freeform 102"/>
              <p:cNvSpPr>
                <a:spLocks/>
              </p:cNvSpPr>
              <p:nvPr/>
            </p:nvSpPr>
            <p:spPr bwMode="auto">
              <a:xfrm>
                <a:off x="1900"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0" name="Freeform 103"/>
              <p:cNvSpPr>
                <a:spLocks/>
              </p:cNvSpPr>
              <p:nvPr/>
            </p:nvSpPr>
            <p:spPr bwMode="auto">
              <a:xfrm>
                <a:off x="2041" y="1290"/>
                <a:ext cx="140"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sp>
            <p:nvSpPr>
              <p:cNvPr id="12441" name="Freeform 104"/>
              <p:cNvSpPr>
                <a:spLocks/>
              </p:cNvSpPr>
              <p:nvPr/>
            </p:nvSpPr>
            <p:spPr bwMode="auto">
              <a:xfrm>
                <a:off x="2181" y="1290"/>
                <a:ext cx="14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CC99"/>
                </a:solidFill>
                <a:round/>
                <a:headEnd/>
                <a:tailEnd/>
              </a:ln>
            </p:spPr>
            <p:txBody>
              <a:bodyPr/>
              <a:lstStyle/>
              <a:p>
                <a:endParaRPr lang="en-GB"/>
              </a:p>
            </p:txBody>
          </p:sp>
        </p:grpSp>
        <p:grpSp>
          <p:nvGrpSpPr>
            <p:cNvPr id="12434" name="Group 105"/>
            <p:cNvGrpSpPr>
              <a:grpSpLocks/>
            </p:cNvGrpSpPr>
            <p:nvPr/>
          </p:nvGrpSpPr>
          <p:grpSpPr bwMode="auto">
            <a:xfrm>
              <a:off x="2914" y="1247"/>
              <a:ext cx="537" cy="178"/>
              <a:chOff x="3904" y="3390"/>
              <a:chExt cx="537" cy="178"/>
            </a:xfrm>
          </p:grpSpPr>
          <p:sp>
            <p:nvSpPr>
              <p:cNvPr id="12435" name="AutoShape 106"/>
              <p:cNvSpPr>
                <a:spLocks noChangeArrowheads="1"/>
              </p:cNvSpPr>
              <p:nvPr/>
            </p:nvSpPr>
            <p:spPr bwMode="auto">
              <a:xfrm rot="2158125">
                <a:off x="4176" y="342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436" name="AutoShape 107"/>
              <p:cNvSpPr>
                <a:spLocks noChangeArrowheads="1"/>
              </p:cNvSpPr>
              <p:nvPr/>
            </p:nvSpPr>
            <p:spPr bwMode="auto">
              <a:xfrm rot="2158125">
                <a:off x="4285" y="339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437" name="AutoShape 108"/>
              <p:cNvSpPr>
                <a:spLocks noChangeArrowheads="1"/>
              </p:cNvSpPr>
              <p:nvPr/>
            </p:nvSpPr>
            <p:spPr bwMode="auto">
              <a:xfrm rot="2158125">
                <a:off x="3904" y="3405"/>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438" name="AutoShape 109"/>
              <p:cNvSpPr>
                <a:spLocks noChangeArrowheads="1"/>
              </p:cNvSpPr>
              <p:nvPr/>
            </p:nvSpPr>
            <p:spPr bwMode="auto">
              <a:xfrm rot="2158125">
                <a:off x="4059" y="3412"/>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grpSp>
      </p:grpSp>
      <p:grpSp>
        <p:nvGrpSpPr>
          <p:cNvPr id="12295" name="Group 110"/>
          <p:cNvGrpSpPr>
            <a:grpSpLocks/>
          </p:cNvGrpSpPr>
          <p:nvPr/>
        </p:nvGrpSpPr>
        <p:grpSpPr bwMode="auto">
          <a:xfrm>
            <a:off x="0" y="3943350"/>
            <a:ext cx="6789218" cy="1303338"/>
            <a:chOff x="0" y="2484"/>
            <a:chExt cx="4638" cy="821"/>
          </a:xfrm>
        </p:grpSpPr>
        <p:sp>
          <p:nvSpPr>
            <p:cNvPr id="116847" name="AutoShape 111"/>
            <p:cNvSpPr>
              <a:spLocks noChangeArrowheads="1"/>
            </p:cNvSpPr>
            <p:nvPr/>
          </p:nvSpPr>
          <p:spPr bwMode="auto">
            <a:xfrm rot="-5400000">
              <a:off x="2608" y="1205"/>
              <a:ext cx="709" cy="3282"/>
            </a:xfrm>
            <a:prstGeom prst="can">
              <a:avLst>
                <a:gd name="adj" fmla="val 115726"/>
              </a:avLst>
            </a:prstGeom>
            <a:gradFill rotWithShape="0">
              <a:gsLst>
                <a:gs pos="0">
                  <a:schemeClr val="hlink"/>
                </a:gs>
                <a:gs pos="50000">
                  <a:schemeClr val="bg2"/>
                </a:gs>
                <a:gs pos="100000">
                  <a:schemeClr val="hlink"/>
                </a:gs>
              </a:gsLst>
              <a:lin ang="5400000" scaled="1"/>
            </a:gradFill>
            <a:ln w="9525">
              <a:noFill/>
              <a:round/>
              <a:headEnd/>
              <a:tailEnd/>
            </a:ln>
            <a:effectLst/>
          </p:spPr>
          <p:txBody>
            <a:bodyPr anchor="ctr">
              <a:spAutoFit/>
            </a:bodyPr>
            <a:lstStyle/>
            <a:p>
              <a:pPr>
                <a:defRPr/>
              </a:pPr>
              <a:endParaRPr lang="en-GB"/>
            </a:p>
          </p:txBody>
        </p:sp>
        <p:sp>
          <p:nvSpPr>
            <p:cNvPr id="12297" name="Oval 112"/>
            <p:cNvSpPr>
              <a:spLocks noChangeArrowheads="1"/>
            </p:cNvSpPr>
            <p:nvPr/>
          </p:nvSpPr>
          <p:spPr bwMode="auto">
            <a:xfrm>
              <a:off x="1312" y="2484"/>
              <a:ext cx="817" cy="694"/>
            </a:xfrm>
            <a:prstGeom prst="ellipse">
              <a:avLst/>
            </a:prstGeom>
            <a:gradFill rotWithShape="0">
              <a:gsLst>
                <a:gs pos="0">
                  <a:schemeClr val="accent2"/>
                </a:gs>
                <a:gs pos="100000">
                  <a:schemeClr val="tx2"/>
                </a:gs>
              </a:gsLst>
              <a:lin ang="0" scaled="1"/>
            </a:gradFill>
            <a:ln w="9525">
              <a:noFill/>
              <a:round/>
              <a:headEnd/>
              <a:tailEnd/>
            </a:ln>
          </p:spPr>
          <p:txBody>
            <a:bodyPr anchor="ctr">
              <a:spAutoFit/>
            </a:bodyPr>
            <a:lstStyle/>
            <a:p>
              <a:endParaRPr lang="en-US"/>
            </a:p>
          </p:txBody>
        </p:sp>
        <p:sp>
          <p:nvSpPr>
            <p:cNvPr id="12298" name="Line 113"/>
            <p:cNvSpPr>
              <a:spLocks noChangeShapeType="1"/>
            </p:cNvSpPr>
            <p:nvPr/>
          </p:nvSpPr>
          <p:spPr bwMode="auto">
            <a:xfrm>
              <a:off x="2130" y="3125"/>
              <a:ext cx="2508" cy="1"/>
            </a:xfrm>
            <a:prstGeom prst="line">
              <a:avLst/>
            </a:prstGeom>
            <a:noFill/>
            <a:ln w="9525">
              <a:solidFill>
                <a:schemeClr val="tx1"/>
              </a:solidFill>
              <a:round/>
              <a:headEnd/>
              <a:tailEnd/>
            </a:ln>
          </p:spPr>
          <p:txBody>
            <a:bodyPr wrap="none" anchor="ctr">
              <a:spAutoFit/>
            </a:bodyPr>
            <a:lstStyle/>
            <a:p>
              <a:endParaRPr lang="en-GB"/>
            </a:p>
          </p:txBody>
        </p:sp>
        <p:grpSp>
          <p:nvGrpSpPr>
            <p:cNvPr id="12299" name="Group 114"/>
            <p:cNvGrpSpPr>
              <a:grpSpLocks/>
            </p:cNvGrpSpPr>
            <p:nvPr/>
          </p:nvGrpSpPr>
          <p:grpSpPr bwMode="auto">
            <a:xfrm>
              <a:off x="2263" y="2992"/>
              <a:ext cx="47" cy="281"/>
              <a:chOff x="1886" y="3421"/>
              <a:chExt cx="47" cy="281"/>
            </a:xfrm>
          </p:grpSpPr>
          <p:sp>
            <p:nvSpPr>
              <p:cNvPr id="12398" name="Rectangle 11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9" name="Line 11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0" name="Group 117"/>
            <p:cNvGrpSpPr>
              <a:grpSpLocks/>
            </p:cNvGrpSpPr>
            <p:nvPr/>
          </p:nvGrpSpPr>
          <p:grpSpPr bwMode="auto">
            <a:xfrm>
              <a:off x="2348" y="2992"/>
              <a:ext cx="47" cy="281"/>
              <a:chOff x="1886" y="3421"/>
              <a:chExt cx="47" cy="281"/>
            </a:xfrm>
          </p:grpSpPr>
          <p:sp>
            <p:nvSpPr>
              <p:cNvPr id="12396" name="Rectangle 11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7" name="Line 11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1" name="Group 120"/>
            <p:cNvGrpSpPr>
              <a:grpSpLocks/>
            </p:cNvGrpSpPr>
            <p:nvPr/>
          </p:nvGrpSpPr>
          <p:grpSpPr bwMode="auto">
            <a:xfrm>
              <a:off x="2434" y="3000"/>
              <a:ext cx="47" cy="281"/>
              <a:chOff x="1886" y="3421"/>
              <a:chExt cx="47" cy="281"/>
            </a:xfrm>
          </p:grpSpPr>
          <p:sp>
            <p:nvSpPr>
              <p:cNvPr id="12394" name="Rectangle 12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5" name="Line 12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2" name="Group 123"/>
            <p:cNvGrpSpPr>
              <a:grpSpLocks/>
            </p:cNvGrpSpPr>
            <p:nvPr/>
          </p:nvGrpSpPr>
          <p:grpSpPr bwMode="auto">
            <a:xfrm>
              <a:off x="2520" y="2992"/>
              <a:ext cx="47" cy="281"/>
              <a:chOff x="1886" y="3421"/>
              <a:chExt cx="47" cy="281"/>
            </a:xfrm>
          </p:grpSpPr>
          <p:sp>
            <p:nvSpPr>
              <p:cNvPr id="12392" name="Rectangle 12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3" name="Line 12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3" name="Group 126"/>
            <p:cNvGrpSpPr>
              <a:grpSpLocks/>
            </p:cNvGrpSpPr>
            <p:nvPr/>
          </p:nvGrpSpPr>
          <p:grpSpPr bwMode="auto">
            <a:xfrm>
              <a:off x="2613" y="3000"/>
              <a:ext cx="47" cy="281"/>
              <a:chOff x="1886" y="3421"/>
              <a:chExt cx="47" cy="281"/>
            </a:xfrm>
          </p:grpSpPr>
          <p:sp>
            <p:nvSpPr>
              <p:cNvPr id="12390" name="Rectangle 12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91" name="Line 12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4" name="Group 129"/>
            <p:cNvGrpSpPr>
              <a:grpSpLocks/>
            </p:cNvGrpSpPr>
            <p:nvPr/>
          </p:nvGrpSpPr>
          <p:grpSpPr bwMode="auto">
            <a:xfrm>
              <a:off x="2698" y="3000"/>
              <a:ext cx="47" cy="281"/>
              <a:chOff x="1886" y="3421"/>
              <a:chExt cx="47" cy="281"/>
            </a:xfrm>
          </p:grpSpPr>
          <p:sp>
            <p:nvSpPr>
              <p:cNvPr id="12388" name="Rectangle 13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9" name="Line 13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5" name="Group 132"/>
            <p:cNvGrpSpPr>
              <a:grpSpLocks/>
            </p:cNvGrpSpPr>
            <p:nvPr/>
          </p:nvGrpSpPr>
          <p:grpSpPr bwMode="auto">
            <a:xfrm>
              <a:off x="2784" y="3008"/>
              <a:ext cx="47" cy="281"/>
              <a:chOff x="1886" y="3421"/>
              <a:chExt cx="47" cy="281"/>
            </a:xfrm>
          </p:grpSpPr>
          <p:sp>
            <p:nvSpPr>
              <p:cNvPr id="12386" name="Rectangle 13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7" name="Line 13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6" name="Group 135"/>
            <p:cNvGrpSpPr>
              <a:grpSpLocks/>
            </p:cNvGrpSpPr>
            <p:nvPr/>
          </p:nvGrpSpPr>
          <p:grpSpPr bwMode="auto">
            <a:xfrm>
              <a:off x="2870" y="3000"/>
              <a:ext cx="47" cy="281"/>
              <a:chOff x="1886" y="3421"/>
              <a:chExt cx="47" cy="281"/>
            </a:xfrm>
          </p:grpSpPr>
          <p:sp>
            <p:nvSpPr>
              <p:cNvPr id="12384" name="Rectangle 13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5" name="Line 13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7" name="Group 138"/>
            <p:cNvGrpSpPr>
              <a:grpSpLocks/>
            </p:cNvGrpSpPr>
            <p:nvPr/>
          </p:nvGrpSpPr>
          <p:grpSpPr bwMode="auto">
            <a:xfrm>
              <a:off x="2957" y="3000"/>
              <a:ext cx="47" cy="281"/>
              <a:chOff x="1886" y="3421"/>
              <a:chExt cx="47" cy="281"/>
            </a:xfrm>
          </p:grpSpPr>
          <p:sp>
            <p:nvSpPr>
              <p:cNvPr id="12382" name="Rectangle 13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3" name="Line 14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8" name="Group 141"/>
            <p:cNvGrpSpPr>
              <a:grpSpLocks/>
            </p:cNvGrpSpPr>
            <p:nvPr/>
          </p:nvGrpSpPr>
          <p:grpSpPr bwMode="auto">
            <a:xfrm>
              <a:off x="3042" y="3000"/>
              <a:ext cx="47" cy="281"/>
              <a:chOff x="1886" y="3421"/>
              <a:chExt cx="47" cy="281"/>
            </a:xfrm>
          </p:grpSpPr>
          <p:sp>
            <p:nvSpPr>
              <p:cNvPr id="12380" name="Rectangle 14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81" name="Line 14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09" name="Group 144"/>
            <p:cNvGrpSpPr>
              <a:grpSpLocks/>
            </p:cNvGrpSpPr>
            <p:nvPr/>
          </p:nvGrpSpPr>
          <p:grpSpPr bwMode="auto">
            <a:xfrm>
              <a:off x="3128" y="3008"/>
              <a:ext cx="47" cy="281"/>
              <a:chOff x="1886" y="3421"/>
              <a:chExt cx="47" cy="281"/>
            </a:xfrm>
          </p:grpSpPr>
          <p:sp>
            <p:nvSpPr>
              <p:cNvPr id="12378" name="Rectangle 14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9" name="Line 14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0" name="Group 147"/>
            <p:cNvGrpSpPr>
              <a:grpSpLocks/>
            </p:cNvGrpSpPr>
            <p:nvPr/>
          </p:nvGrpSpPr>
          <p:grpSpPr bwMode="auto">
            <a:xfrm>
              <a:off x="3214" y="3000"/>
              <a:ext cx="47" cy="281"/>
              <a:chOff x="1886" y="3421"/>
              <a:chExt cx="47" cy="281"/>
            </a:xfrm>
          </p:grpSpPr>
          <p:sp>
            <p:nvSpPr>
              <p:cNvPr id="12376" name="Rectangle 14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7" name="Line 14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1" name="Group 150"/>
            <p:cNvGrpSpPr>
              <a:grpSpLocks/>
            </p:cNvGrpSpPr>
            <p:nvPr/>
          </p:nvGrpSpPr>
          <p:grpSpPr bwMode="auto">
            <a:xfrm>
              <a:off x="3307" y="3008"/>
              <a:ext cx="47" cy="281"/>
              <a:chOff x="1886" y="3421"/>
              <a:chExt cx="47" cy="281"/>
            </a:xfrm>
          </p:grpSpPr>
          <p:sp>
            <p:nvSpPr>
              <p:cNvPr id="12374" name="Rectangle 15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5" name="Line 15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2" name="Group 153"/>
            <p:cNvGrpSpPr>
              <a:grpSpLocks/>
            </p:cNvGrpSpPr>
            <p:nvPr/>
          </p:nvGrpSpPr>
          <p:grpSpPr bwMode="auto">
            <a:xfrm>
              <a:off x="3392" y="3008"/>
              <a:ext cx="47" cy="281"/>
              <a:chOff x="1886" y="3421"/>
              <a:chExt cx="47" cy="281"/>
            </a:xfrm>
          </p:grpSpPr>
          <p:sp>
            <p:nvSpPr>
              <p:cNvPr id="12372" name="Rectangle 15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3" name="Line 15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3" name="Group 156"/>
            <p:cNvGrpSpPr>
              <a:grpSpLocks/>
            </p:cNvGrpSpPr>
            <p:nvPr/>
          </p:nvGrpSpPr>
          <p:grpSpPr bwMode="auto">
            <a:xfrm>
              <a:off x="3478" y="3016"/>
              <a:ext cx="47" cy="281"/>
              <a:chOff x="1886" y="3421"/>
              <a:chExt cx="47" cy="281"/>
            </a:xfrm>
          </p:grpSpPr>
          <p:sp>
            <p:nvSpPr>
              <p:cNvPr id="12370" name="Rectangle 15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71" name="Line 15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4" name="Group 159"/>
            <p:cNvGrpSpPr>
              <a:grpSpLocks/>
            </p:cNvGrpSpPr>
            <p:nvPr/>
          </p:nvGrpSpPr>
          <p:grpSpPr bwMode="auto">
            <a:xfrm>
              <a:off x="3564" y="3008"/>
              <a:ext cx="47" cy="281"/>
              <a:chOff x="1886" y="3421"/>
              <a:chExt cx="47" cy="281"/>
            </a:xfrm>
          </p:grpSpPr>
          <p:sp>
            <p:nvSpPr>
              <p:cNvPr id="12368" name="Rectangle 16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9" name="Line 16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5" name="Group 162"/>
            <p:cNvGrpSpPr>
              <a:grpSpLocks/>
            </p:cNvGrpSpPr>
            <p:nvPr/>
          </p:nvGrpSpPr>
          <p:grpSpPr bwMode="auto">
            <a:xfrm>
              <a:off x="3642" y="3008"/>
              <a:ext cx="47" cy="281"/>
              <a:chOff x="1886" y="3421"/>
              <a:chExt cx="47" cy="281"/>
            </a:xfrm>
          </p:grpSpPr>
          <p:sp>
            <p:nvSpPr>
              <p:cNvPr id="12366" name="Rectangle 163"/>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7" name="Line 164"/>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6" name="Group 165"/>
            <p:cNvGrpSpPr>
              <a:grpSpLocks/>
            </p:cNvGrpSpPr>
            <p:nvPr/>
          </p:nvGrpSpPr>
          <p:grpSpPr bwMode="auto">
            <a:xfrm>
              <a:off x="3727" y="3008"/>
              <a:ext cx="47" cy="281"/>
              <a:chOff x="1886" y="3421"/>
              <a:chExt cx="47" cy="281"/>
            </a:xfrm>
          </p:grpSpPr>
          <p:sp>
            <p:nvSpPr>
              <p:cNvPr id="12364" name="Rectangle 166"/>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5" name="Line 167"/>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7" name="Group 168"/>
            <p:cNvGrpSpPr>
              <a:grpSpLocks/>
            </p:cNvGrpSpPr>
            <p:nvPr/>
          </p:nvGrpSpPr>
          <p:grpSpPr bwMode="auto">
            <a:xfrm>
              <a:off x="3813" y="3016"/>
              <a:ext cx="47" cy="281"/>
              <a:chOff x="1886" y="3421"/>
              <a:chExt cx="47" cy="281"/>
            </a:xfrm>
          </p:grpSpPr>
          <p:sp>
            <p:nvSpPr>
              <p:cNvPr id="12362" name="Rectangle 169"/>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3" name="Line 170"/>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8" name="Group 171"/>
            <p:cNvGrpSpPr>
              <a:grpSpLocks/>
            </p:cNvGrpSpPr>
            <p:nvPr/>
          </p:nvGrpSpPr>
          <p:grpSpPr bwMode="auto">
            <a:xfrm>
              <a:off x="3899" y="3008"/>
              <a:ext cx="47" cy="281"/>
              <a:chOff x="1886" y="3421"/>
              <a:chExt cx="47" cy="281"/>
            </a:xfrm>
          </p:grpSpPr>
          <p:sp>
            <p:nvSpPr>
              <p:cNvPr id="12360" name="Rectangle 172"/>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61" name="Line 173"/>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19" name="Group 174"/>
            <p:cNvGrpSpPr>
              <a:grpSpLocks/>
            </p:cNvGrpSpPr>
            <p:nvPr/>
          </p:nvGrpSpPr>
          <p:grpSpPr bwMode="auto">
            <a:xfrm>
              <a:off x="3992" y="3016"/>
              <a:ext cx="47" cy="281"/>
              <a:chOff x="1886" y="3421"/>
              <a:chExt cx="47" cy="281"/>
            </a:xfrm>
          </p:grpSpPr>
          <p:sp>
            <p:nvSpPr>
              <p:cNvPr id="12358" name="Rectangle 175"/>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9" name="Line 176"/>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0" name="Group 177"/>
            <p:cNvGrpSpPr>
              <a:grpSpLocks/>
            </p:cNvGrpSpPr>
            <p:nvPr/>
          </p:nvGrpSpPr>
          <p:grpSpPr bwMode="auto">
            <a:xfrm>
              <a:off x="4077" y="3016"/>
              <a:ext cx="47" cy="281"/>
              <a:chOff x="1886" y="3421"/>
              <a:chExt cx="47" cy="281"/>
            </a:xfrm>
          </p:grpSpPr>
          <p:sp>
            <p:nvSpPr>
              <p:cNvPr id="12356" name="Rectangle 178"/>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7" name="Line 179"/>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1" name="Group 180"/>
            <p:cNvGrpSpPr>
              <a:grpSpLocks/>
            </p:cNvGrpSpPr>
            <p:nvPr/>
          </p:nvGrpSpPr>
          <p:grpSpPr bwMode="auto">
            <a:xfrm>
              <a:off x="4163" y="3024"/>
              <a:ext cx="47" cy="281"/>
              <a:chOff x="1886" y="3421"/>
              <a:chExt cx="47" cy="281"/>
            </a:xfrm>
          </p:grpSpPr>
          <p:sp>
            <p:nvSpPr>
              <p:cNvPr id="12354" name="Rectangle 181"/>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5" name="Line 182"/>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2" name="Group 183"/>
            <p:cNvGrpSpPr>
              <a:grpSpLocks/>
            </p:cNvGrpSpPr>
            <p:nvPr/>
          </p:nvGrpSpPr>
          <p:grpSpPr bwMode="auto">
            <a:xfrm>
              <a:off x="4249" y="3016"/>
              <a:ext cx="47" cy="281"/>
              <a:chOff x="1886" y="3421"/>
              <a:chExt cx="47" cy="281"/>
            </a:xfrm>
          </p:grpSpPr>
          <p:sp>
            <p:nvSpPr>
              <p:cNvPr id="12352" name="Rectangle 184"/>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3" name="Line 185"/>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3" name="Group 186"/>
            <p:cNvGrpSpPr>
              <a:grpSpLocks/>
            </p:cNvGrpSpPr>
            <p:nvPr/>
          </p:nvGrpSpPr>
          <p:grpSpPr bwMode="auto">
            <a:xfrm>
              <a:off x="4327" y="2993"/>
              <a:ext cx="47" cy="281"/>
              <a:chOff x="1886" y="3421"/>
              <a:chExt cx="47" cy="281"/>
            </a:xfrm>
          </p:grpSpPr>
          <p:sp>
            <p:nvSpPr>
              <p:cNvPr id="12350" name="Rectangle 187"/>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51" name="Line 188"/>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grpSp>
          <p:nvGrpSpPr>
            <p:cNvPr id="12324" name="Group 189"/>
            <p:cNvGrpSpPr>
              <a:grpSpLocks/>
            </p:cNvGrpSpPr>
            <p:nvPr/>
          </p:nvGrpSpPr>
          <p:grpSpPr bwMode="auto">
            <a:xfrm>
              <a:off x="4413" y="3001"/>
              <a:ext cx="47" cy="281"/>
              <a:chOff x="1886" y="3421"/>
              <a:chExt cx="47" cy="281"/>
            </a:xfrm>
          </p:grpSpPr>
          <p:sp>
            <p:nvSpPr>
              <p:cNvPr id="12348" name="Rectangle 190"/>
              <p:cNvSpPr>
                <a:spLocks noChangeArrowheads="1"/>
              </p:cNvSpPr>
              <p:nvPr/>
            </p:nvSpPr>
            <p:spPr bwMode="auto">
              <a:xfrm>
                <a:off x="1886" y="3553"/>
                <a:ext cx="47" cy="149"/>
              </a:xfrm>
              <a:prstGeom prst="rect">
                <a:avLst/>
              </a:prstGeom>
              <a:solidFill>
                <a:schemeClr val="tx2"/>
              </a:solidFill>
              <a:ln w="9525">
                <a:solidFill>
                  <a:schemeClr val="tx1"/>
                </a:solidFill>
                <a:miter lim="800000"/>
                <a:headEnd/>
                <a:tailEnd/>
              </a:ln>
            </p:spPr>
            <p:txBody>
              <a:bodyPr wrap="none" anchor="ctr">
                <a:spAutoFit/>
              </a:bodyPr>
              <a:lstStyle/>
              <a:p>
                <a:endParaRPr lang="en-US"/>
              </a:p>
            </p:txBody>
          </p:sp>
          <p:sp>
            <p:nvSpPr>
              <p:cNvPr id="12349" name="Line 191"/>
              <p:cNvSpPr>
                <a:spLocks noChangeShapeType="1"/>
              </p:cNvSpPr>
              <p:nvPr/>
            </p:nvSpPr>
            <p:spPr bwMode="auto">
              <a:xfrm flipV="1">
                <a:off x="1909" y="3421"/>
                <a:ext cx="8" cy="125"/>
              </a:xfrm>
              <a:prstGeom prst="line">
                <a:avLst/>
              </a:prstGeom>
              <a:noFill/>
              <a:ln w="9525">
                <a:solidFill>
                  <a:schemeClr val="tx1"/>
                </a:solidFill>
                <a:round/>
                <a:headEnd/>
                <a:tailEnd/>
              </a:ln>
            </p:spPr>
            <p:txBody>
              <a:bodyPr wrap="none" anchor="ctr">
                <a:spAutoFit/>
              </a:bodyPr>
              <a:lstStyle/>
              <a:p>
                <a:endParaRPr lang="en-GB"/>
              </a:p>
            </p:txBody>
          </p:sp>
        </p:grpSp>
        <p:sp>
          <p:nvSpPr>
            <p:cNvPr id="12325" name="AutoShape 192"/>
            <p:cNvSpPr>
              <a:spLocks noChangeArrowheads="1"/>
            </p:cNvSpPr>
            <p:nvPr/>
          </p:nvSpPr>
          <p:spPr bwMode="auto">
            <a:xfrm>
              <a:off x="0" y="2563"/>
              <a:ext cx="1178" cy="585"/>
            </a:xfrm>
            <a:prstGeom prst="rightArrow">
              <a:avLst>
                <a:gd name="adj1" fmla="val 61028"/>
                <a:gd name="adj2" fmla="val 85087"/>
              </a:avLst>
            </a:prstGeom>
            <a:solidFill>
              <a:srgbClr val="FFCC66"/>
            </a:solidFill>
            <a:ln w="9525">
              <a:solidFill>
                <a:srgbClr val="800000"/>
              </a:solidFill>
              <a:miter lim="800000"/>
              <a:headEnd/>
              <a:tailEnd/>
            </a:ln>
          </p:spPr>
          <p:txBody>
            <a:bodyPr anchor="ctr">
              <a:spAutoFit/>
            </a:bodyPr>
            <a:lstStyle/>
            <a:p>
              <a:endParaRPr lang="en-US"/>
            </a:p>
          </p:txBody>
        </p:sp>
        <p:grpSp>
          <p:nvGrpSpPr>
            <p:cNvPr id="12326" name="Group 193"/>
            <p:cNvGrpSpPr>
              <a:grpSpLocks/>
            </p:cNvGrpSpPr>
            <p:nvPr/>
          </p:nvGrpSpPr>
          <p:grpSpPr bwMode="auto">
            <a:xfrm>
              <a:off x="3575" y="2709"/>
              <a:ext cx="1039" cy="307"/>
              <a:chOff x="3629" y="3145"/>
              <a:chExt cx="624" cy="229"/>
            </a:xfrm>
          </p:grpSpPr>
          <p:sp>
            <p:nvSpPr>
              <p:cNvPr id="12346" name="Freeform 194"/>
              <p:cNvSpPr>
                <a:spLocks/>
              </p:cNvSpPr>
              <p:nvPr/>
            </p:nvSpPr>
            <p:spPr bwMode="auto">
              <a:xfrm>
                <a:off x="3629" y="3145"/>
                <a:ext cx="312"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sp>
            <p:nvSpPr>
              <p:cNvPr id="12347" name="Freeform 195"/>
              <p:cNvSpPr>
                <a:spLocks/>
              </p:cNvSpPr>
              <p:nvPr/>
            </p:nvSpPr>
            <p:spPr bwMode="auto">
              <a:xfrm>
                <a:off x="3941" y="3145"/>
                <a:ext cx="312"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sp>
          <p:nvSpPr>
            <p:cNvPr id="12327" name="Freeform 196"/>
            <p:cNvSpPr>
              <a:spLocks/>
            </p:cNvSpPr>
            <p:nvPr/>
          </p:nvSpPr>
          <p:spPr bwMode="auto">
            <a:xfrm>
              <a:off x="162" y="2685"/>
              <a:ext cx="491"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000066"/>
              </a:solidFill>
              <a:round/>
              <a:headEnd/>
              <a:tailEnd/>
            </a:ln>
          </p:spPr>
          <p:txBody>
            <a:bodyPr/>
            <a:lstStyle/>
            <a:p>
              <a:endParaRPr lang="en-GB"/>
            </a:p>
          </p:txBody>
        </p:sp>
        <p:grpSp>
          <p:nvGrpSpPr>
            <p:cNvPr id="12328" name="Group 197"/>
            <p:cNvGrpSpPr>
              <a:grpSpLocks/>
            </p:cNvGrpSpPr>
            <p:nvPr/>
          </p:nvGrpSpPr>
          <p:grpSpPr bwMode="auto">
            <a:xfrm>
              <a:off x="377" y="2748"/>
              <a:ext cx="388" cy="229"/>
              <a:chOff x="1533" y="2808"/>
              <a:chExt cx="609" cy="229"/>
            </a:xfrm>
          </p:grpSpPr>
          <p:sp>
            <p:nvSpPr>
              <p:cNvPr id="12343" name="Freeform 198"/>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4" name="Freeform 199"/>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5" name="Freeform 200"/>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grpSp>
          <p:nvGrpSpPr>
            <p:cNvPr id="12329" name="Group 201"/>
            <p:cNvGrpSpPr>
              <a:grpSpLocks/>
            </p:cNvGrpSpPr>
            <p:nvPr/>
          </p:nvGrpSpPr>
          <p:grpSpPr bwMode="auto">
            <a:xfrm>
              <a:off x="2317" y="2694"/>
              <a:ext cx="416" cy="322"/>
              <a:chOff x="1533" y="2808"/>
              <a:chExt cx="609" cy="229"/>
            </a:xfrm>
          </p:grpSpPr>
          <p:sp>
            <p:nvSpPr>
              <p:cNvPr id="12340" name="Freeform 202"/>
              <p:cNvSpPr>
                <a:spLocks/>
              </p:cNvSpPr>
              <p:nvPr/>
            </p:nvSpPr>
            <p:spPr bwMode="auto">
              <a:xfrm>
                <a:off x="1533"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1" name="Freeform 203"/>
              <p:cNvSpPr>
                <a:spLocks/>
              </p:cNvSpPr>
              <p:nvPr/>
            </p:nvSpPr>
            <p:spPr bwMode="auto">
              <a:xfrm>
                <a:off x="1736"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sp>
            <p:nvSpPr>
              <p:cNvPr id="12342" name="Freeform 204"/>
              <p:cNvSpPr>
                <a:spLocks/>
              </p:cNvSpPr>
              <p:nvPr/>
            </p:nvSpPr>
            <p:spPr bwMode="auto">
              <a:xfrm>
                <a:off x="1939" y="2808"/>
                <a:ext cx="203" cy="229"/>
              </a:xfrm>
              <a:custGeom>
                <a:avLst/>
                <a:gdLst>
                  <a:gd name="T0" fmla="*/ 0 w 3942"/>
                  <a:gd name="T1" fmla="*/ 0 h 650"/>
                  <a:gd name="T2" fmla="*/ 0 w 3942"/>
                  <a:gd name="T3" fmla="*/ 0 h 650"/>
                  <a:gd name="T4" fmla="*/ 0 w 3942"/>
                  <a:gd name="T5" fmla="*/ 0 h 650"/>
                  <a:gd name="T6" fmla="*/ 0 w 3942"/>
                  <a:gd name="T7" fmla="*/ 0 h 650"/>
                  <a:gd name="T8" fmla="*/ 0 w 3942"/>
                  <a:gd name="T9" fmla="*/ 0 h 650"/>
                  <a:gd name="T10" fmla="*/ 0 w 3942"/>
                  <a:gd name="T11" fmla="*/ 0 h 650"/>
                  <a:gd name="T12" fmla="*/ 0 w 3942"/>
                  <a:gd name="T13" fmla="*/ 0 h 650"/>
                  <a:gd name="T14" fmla="*/ 0 w 3942"/>
                  <a:gd name="T15" fmla="*/ 0 h 650"/>
                  <a:gd name="T16" fmla="*/ 0 w 3942"/>
                  <a:gd name="T17" fmla="*/ 0 h 650"/>
                  <a:gd name="T18" fmla="*/ 0 w 3942"/>
                  <a:gd name="T19" fmla="*/ 0 h 650"/>
                  <a:gd name="T20" fmla="*/ 0 w 3942"/>
                  <a:gd name="T21" fmla="*/ 0 h 6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42"/>
                  <a:gd name="T34" fmla="*/ 0 h 650"/>
                  <a:gd name="T35" fmla="*/ 3942 w 3942"/>
                  <a:gd name="T36" fmla="*/ 650 h 6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42" h="650">
                    <a:moveTo>
                      <a:pt x="0" y="325"/>
                    </a:moveTo>
                    <a:cubicBezTo>
                      <a:pt x="161" y="162"/>
                      <a:pt x="322" y="0"/>
                      <a:pt x="482" y="0"/>
                    </a:cubicBezTo>
                    <a:cubicBezTo>
                      <a:pt x="643" y="0"/>
                      <a:pt x="805" y="216"/>
                      <a:pt x="966" y="325"/>
                    </a:cubicBezTo>
                    <a:cubicBezTo>
                      <a:pt x="1126" y="434"/>
                      <a:pt x="1288" y="650"/>
                      <a:pt x="1448" y="650"/>
                    </a:cubicBezTo>
                    <a:cubicBezTo>
                      <a:pt x="1609" y="650"/>
                      <a:pt x="1770" y="434"/>
                      <a:pt x="1931" y="325"/>
                    </a:cubicBezTo>
                    <a:cubicBezTo>
                      <a:pt x="2091" y="216"/>
                      <a:pt x="2254" y="0"/>
                      <a:pt x="2414" y="0"/>
                    </a:cubicBezTo>
                    <a:cubicBezTo>
                      <a:pt x="2575" y="0"/>
                      <a:pt x="2736" y="216"/>
                      <a:pt x="2897" y="325"/>
                    </a:cubicBezTo>
                    <a:cubicBezTo>
                      <a:pt x="3057" y="434"/>
                      <a:pt x="3219" y="650"/>
                      <a:pt x="3379" y="650"/>
                    </a:cubicBezTo>
                    <a:cubicBezTo>
                      <a:pt x="3540" y="650"/>
                      <a:pt x="3784" y="381"/>
                      <a:pt x="3863" y="325"/>
                    </a:cubicBezTo>
                    <a:cubicBezTo>
                      <a:pt x="3942" y="269"/>
                      <a:pt x="3853" y="315"/>
                      <a:pt x="3851" y="316"/>
                    </a:cubicBezTo>
                    <a:cubicBezTo>
                      <a:pt x="3849" y="317"/>
                      <a:pt x="3851" y="328"/>
                      <a:pt x="3851" y="331"/>
                    </a:cubicBezTo>
                  </a:path>
                </a:pathLst>
              </a:custGeom>
              <a:noFill/>
              <a:ln w="28575" cmpd="sng">
                <a:solidFill>
                  <a:srgbClr val="990000"/>
                </a:solidFill>
                <a:round/>
                <a:headEnd/>
                <a:tailEnd/>
              </a:ln>
            </p:spPr>
            <p:txBody>
              <a:bodyPr/>
              <a:lstStyle/>
              <a:p>
                <a:endParaRPr lang="en-GB"/>
              </a:p>
            </p:txBody>
          </p:sp>
        </p:grpSp>
        <p:grpSp>
          <p:nvGrpSpPr>
            <p:cNvPr id="12330" name="Group 205"/>
            <p:cNvGrpSpPr>
              <a:grpSpLocks/>
            </p:cNvGrpSpPr>
            <p:nvPr/>
          </p:nvGrpSpPr>
          <p:grpSpPr bwMode="auto">
            <a:xfrm>
              <a:off x="2244" y="2946"/>
              <a:ext cx="537" cy="178"/>
              <a:chOff x="3904" y="3390"/>
              <a:chExt cx="537" cy="178"/>
            </a:xfrm>
          </p:grpSpPr>
          <p:sp>
            <p:nvSpPr>
              <p:cNvPr id="12336" name="AutoShape 206"/>
              <p:cNvSpPr>
                <a:spLocks noChangeArrowheads="1"/>
              </p:cNvSpPr>
              <p:nvPr/>
            </p:nvSpPr>
            <p:spPr bwMode="auto">
              <a:xfrm rot="2158125">
                <a:off x="4176" y="342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7" name="AutoShape 207"/>
              <p:cNvSpPr>
                <a:spLocks noChangeArrowheads="1"/>
              </p:cNvSpPr>
              <p:nvPr/>
            </p:nvSpPr>
            <p:spPr bwMode="auto">
              <a:xfrm rot="2158125">
                <a:off x="4285" y="339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8" name="AutoShape 208"/>
              <p:cNvSpPr>
                <a:spLocks noChangeArrowheads="1"/>
              </p:cNvSpPr>
              <p:nvPr/>
            </p:nvSpPr>
            <p:spPr bwMode="auto">
              <a:xfrm rot="2158125">
                <a:off x="3904" y="3405"/>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9" name="AutoShape 209"/>
              <p:cNvSpPr>
                <a:spLocks noChangeArrowheads="1"/>
              </p:cNvSpPr>
              <p:nvPr/>
            </p:nvSpPr>
            <p:spPr bwMode="auto">
              <a:xfrm rot="2158125">
                <a:off x="4059" y="3412"/>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grpSp>
        <p:grpSp>
          <p:nvGrpSpPr>
            <p:cNvPr id="12331" name="Group 210"/>
            <p:cNvGrpSpPr>
              <a:grpSpLocks/>
            </p:cNvGrpSpPr>
            <p:nvPr/>
          </p:nvGrpSpPr>
          <p:grpSpPr bwMode="auto">
            <a:xfrm>
              <a:off x="3724" y="2947"/>
              <a:ext cx="615" cy="178"/>
              <a:chOff x="3904" y="3390"/>
              <a:chExt cx="537" cy="178"/>
            </a:xfrm>
          </p:grpSpPr>
          <p:sp>
            <p:nvSpPr>
              <p:cNvPr id="12332" name="AutoShape 211"/>
              <p:cNvSpPr>
                <a:spLocks noChangeArrowheads="1"/>
              </p:cNvSpPr>
              <p:nvPr/>
            </p:nvSpPr>
            <p:spPr bwMode="auto">
              <a:xfrm rot="2158125">
                <a:off x="4176" y="342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3" name="AutoShape 212"/>
              <p:cNvSpPr>
                <a:spLocks noChangeArrowheads="1"/>
              </p:cNvSpPr>
              <p:nvPr/>
            </p:nvSpPr>
            <p:spPr bwMode="auto">
              <a:xfrm rot="2158125">
                <a:off x="4285" y="3390"/>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4" name="AutoShape 213"/>
              <p:cNvSpPr>
                <a:spLocks noChangeArrowheads="1"/>
              </p:cNvSpPr>
              <p:nvPr/>
            </p:nvSpPr>
            <p:spPr bwMode="auto">
              <a:xfrm rot="2158125">
                <a:off x="3904" y="3405"/>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sp>
            <p:nvSpPr>
              <p:cNvPr id="12335" name="AutoShape 214"/>
              <p:cNvSpPr>
                <a:spLocks noChangeArrowheads="1"/>
              </p:cNvSpPr>
              <p:nvPr/>
            </p:nvSpPr>
            <p:spPr bwMode="auto">
              <a:xfrm rot="2158125">
                <a:off x="4059" y="3412"/>
                <a:ext cx="156" cy="148"/>
              </a:xfrm>
              <a:prstGeom prst="lightningBolt">
                <a:avLst/>
              </a:prstGeom>
              <a:solidFill>
                <a:srgbClr val="FFFF00"/>
              </a:solidFill>
              <a:ln w="9525">
                <a:solidFill>
                  <a:schemeClr val="tx1"/>
                </a:solidFill>
                <a:miter lim="800000"/>
                <a:headEnd/>
                <a:tailEnd/>
              </a:ln>
            </p:spPr>
            <p:txBody>
              <a:bodyPr wrap="none" anchor="ctr">
                <a:spAutoFit/>
              </a:bodyPr>
              <a:lstStyle/>
              <a:p>
                <a:endParaRPr lang="en-US"/>
              </a:p>
            </p:txBody>
          </p:sp>
        </p:grpSp>
      </p:grpSp>
      <p:sp>
        <p:nvSpPr>
          <p:cNvPr id="215" name="Rectangle 214"/>
          <p:cNvSpPr/>
          <p:nvPr/>
        </p:nvSpPr>
        <p:spPr bwMode="auto">
          <a:xfrm>
            <a:off x="6886322" y="1035781"/>
            <a:ext cx="2039194" cy="1642683"/>
          </a:xfrm>
          <a:prstGeom prst="rect">
            <a:avLst/>
          </a:prstGeom>
          <a:gradFill flip="none" rotWithShape="1">
            <a:gsLst>
              <a:gs pos="0">
                <a:srgbClr val="DDBA97">
                  <a:tint val="66000"/>
                  <a:satMod val="160000"/>
                </a:srgbClr>
              </a:gs>
              <a:gs pos="50000">
                <a:srgbClr val="DDBA97">
                  <a:tint val="44500"/>
                  <a:satMod val="160000"/>
                </a:srgbClr>
              </a:gs>
              <a:gs pos="100000">
                <a:srgbClr val="DDBA97">
                  <a:tint val="23500"/>
                  <a:satMod val="160000"/>
                </a:srgb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17" name="Straight Connector 216"/>
          <p:cNvCxnSpPr/>
          <p:nvPr/>
        </p:nvCxnSpPr>
        <p:spPr bwMode="auto">
          <a:xfrm>
            <a:off x="7137175" y="1246173"/>
            <a:ext cx="0" cy="131091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26" name="Freeform 225"/>
          <p:cNvSpPr/>
          <p:nvPr/>
        </p:nvSpPr>
        <p:spPr bwMode="auto">
          <a:xfrm>
            <a:off x="8205325" y="1347324"/>
            <a:ext cx="364141" cy="1145023"/>
          </a:xfrm>
          <a:custGeom>
            <a:avLst/>
            <a:gdLst>
              <a:gd name="connsiteX0" fmla="*/ 0 w 283221"/>
              <a:gd name="connsiteY0" fmla="*/ 1120747 h 1145023"/>
              <a:gd name="connsiteX1" fmla="*/ 137565 w 283221"/>
              <a:gd name="connsiteY1" fmla="*/ 4046 h 1145023"/>
              <a:gd name="connsiteX2" fmla="*/ 283221 w 283221"/>
              <a:gd name="connsiteY2" fmla="*/ 1145023 h 1145023"/>
            </a:gdLst>
            <a:ahLst/>
            <a:cxnLst>
              <a:cxn ang="0">
                <a:pos x="connsiteX0" y="connsiteY0"/>
              </a:cxn>
              <a:cxn ang="0">
                <a:pos x="connsiteX1" y="connsiteY1"/>
              </a:cxn>
              <a:cxn ang="0">
                <a:pos x="connsiteX2" y="connsiteY2"/>
              </a:cxn>
            </a:cxnLst>
            <a:rect l="l" t="t" r="r" b="b"/>
            <a:pathLst>
              <a:path w="283221" h="1145023">
                <a:moveTo>
                  <a:pt x="0" y="1120747"/>
                </a:moveTo>
                <a:cubicBezTo>
                  <a:pt x="45181" y="560373"/>
                  <a:pt x="90362" y="0"/>
                  <a:pt x="137565" y="4046"/>
                </a:cubicBezTo>
                <a:cubicBezTo>
                  <a:pt x="184769" y="8092"/>
                  <a:pt x="233995" y="576557"/>
                  <a:pt x="283221" y="1145023"/>
                </a:cubicBezTo>
              </a:path>
            </a:pathLst>
          </a:custGeom>
          <a:solidFill>
            <a:srgbClr val="DDBA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6934874" y="3689968"/>
            <a:ext cx="2039194" cy="1642683"/>
          </a:xfrm>
          <a:prstGeom prst="rect">
            <a:avLst/>
          </a:prstGeom>
          <a:gradFill flip="none" rotWithShape="1">
            <a:gsLst>
              <a:gs pos="0">
                <a:srgbClr val="DDBA97">
                  <a:tint val="66000"/>
                  <a:satMod val="160000"/>
                </a:srgbClr>
              </a:gs>
              <a:gs pos="50000">
                <a:srgbClr val="DDBA97">
                  <a:tint val="44500"/>
                  <a:satMod val="160000"/>
                </a:srgbClr>
              </a:gs>
              <a:gs pos="100000">
                <a:srgbClr val="DDBA97">
                  <a:tint val="23500"/>
                  <a:satMod val="160000"/>
                </a:srgb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28" name="Straight Connector 227"/>
          <p:cNvCxnSpPr/>
          <p:nvPr/>
        </p:nvCxnSpPr>
        <p:spPr bwMode="auto">
          <a:xfrm>
            <a:off x="7185727" y="3900360"/>
            <a:ext cx="0" cy="131091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230" name="Freeform 229"/>
          <p:cNvSpPr/>
          <p:nvPr/>
        </p:nvSpPr>
        <p:spPr bwMode="auto">
          <a:xfrm>
            <a:off x="8253877" y="4001511"/>
            <a:ext cx="364141" cy="1145023"/>
          </a:xfrm>
          <a:custGeom>
            <a:avLst/>
            <a:gdLst>
              <a:gd name="connsiteX0" fmla="*/ 0 w 283221"/>
              <a:gd name="connsiteY0" fmla="*/ 1120747 h 1145023"/>
              <a:gd name="connsiteX1" fmla="*/ 137565 w 283221"/>
              <a:gd name="connsiteY1" fmla="*/ 4046 h 1145023"/>
              <a:gd name="connsiteX2" fmla="*/ 283221 w 283221"/>
              <a:gd name="connsiteY2" fmla="*/ 1145023 h 1145023"/>
            </a:gdLst>
            <a:ahLst/>
            <a:cxnLst>
              <a:cxn ang="0">
                <a:pos x="connsiteX0" y="connsiteY0"/>
              </a:cxn>
              <a:cxn ang="0">
                <a:pos x="connsiteX1" y="connsiteY1"/>
              </a:cxn>
              <a:cxn ang="0">
                <a:pos x="connsiteX2" y="connsiteY2"/>
              </a:cxn>
            </a:cxnLst>
            <a:rect l="l" t="t" r="r" b="b"/>
            <a:pathLst>
              <a:path w="283221" h="1145023">
                <a:moveTo>
                  <a:pt x="0" y="1120747"/>
                </a:moveTo>
                <a:cubicBezTo>
                  <a:pt x="45181" y="560373"/>
                  <a:pt x="90362" y="0"/>
                  <a:pt x="137565" y="4046"/>
                </a:cubicBezTo>
                <a:cubicBezTo>
                  <a:pt x="184769" y="8092"/>
                  <a:pt x="233995" y="576557"/>
                  <a:pt x="283221" y="1145023"/>
                </a:cubicBezTo>
              </a:path>
            </a:pathLst>
          </a:custGeom>
          <a:solidFill>
            <a:srgbClr val="DDBA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1" name="Freeform 230"/>
          <p:cNvSpPr/>
          <p:nvPr/>
        </p:nvSpPr>
        <p:spPr bwMode="auto">
          <a:xfrm>
            <a:off x="7388029" y="3993419"/>
            <a:ext cx="364141" cy="1145023"/>
          </a:xfrm>
          <a:custGeom>
            <a:avLst/>
            <a:gdLst>
              <a:gd name="connsiteX0" fmla="*/ 0 w 283221"/>
              <a:gd name="connsiteY0" fmla="*/ 1120747 h 1145023"/>
              <a:gd name="connsiteX1" fmla="*/ 137565 w 283221"/>
              <a:gd name="connsiteY1" fmla="*/ 4046 h 1145023"/>
              <a:gd name="connsiteX2" fmla="*/ 283221 w 283221"/>
              <a:gd name="connsiteY2" fmla="*/ 1145023 h 1145023"/>
            </a:gdLst>
            <a:ahLst/>
            <a:cxnLst>
              <a:cxn ang="0">
                <a:pos x="connsiteX0" y="connsiteY0"/>
              </a:cxn>
              <a:cxn ang="0">
                <a:pos x="connsiteX1" y="connsiteY1"/>
              </a:cxn>
              <a:cxn ang="0">
                <a:pos x="connsiteX2" y="connsiteY2"/>
              </a:cxn>
            </a:cxnLst>
            <a:rect l="l" t="t" r="r" b="b"/>
            <a:pathLst>
              <a:path w="283221" h="1145023">
                <a:moveTo>
                  <a:pt x="0" y="1120747"/>
                </a:moveTo>
                <a:cubicBezTo>
                  <a:pt x="45181" y="560373"/>
                  <a:pt x="90362" y="0"/>
                  <a:pt x="137565" y="4046"/>
                </a:cubicBezTo>
                <a:cubicBezTo>
                  <a:pt x="184769" y="8092"/>
                  <a:pt x="233995" y="576557"/>
                  <a:pt x="283221" y="1145023"/>
                </a:cubicBezTo>
              </a:path>
            </a:pathLst>
          </a:custGeom>
          <a:solidFill>
            <a:srgbClr val="DDBA9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33" name="Straight Connector 232"/>
          <p:cNvCxnSpPr/>
          <p:nvPr/>
        </p:nvCxnSpPr>
        <p:spPr bwMode="auto">
          <a:xfrm flipV="1">
            <a:off x="8456176" y="1828800"/>
            <a:ext cx="0" cy="623087"/>
          </a:xfrm>
          <a:prstGeom prst="line">
            <a:avLst/>
          </a:prstGeom>
          <a:solidFill>
            <a:schemeClr val="accent1"/>
          </a:solidFill>
          <a:ln w="38100" cap="flat" cmpd="sng" algn="ctr">
            <a:solidFill>
              <a:schemeClr val="accent1">
                <a:lumMod val="75000"/>
              </a:schemeClr>
            </a:solidFill>
            <a:prstDash val="solid"/>
            <a:round/>
            <a:headEnd type="none" w="med" len="med"/>
            <a:tailEnd type="none" w="med" len="med"/>
          </a:ln>
          <a:effectLst/>
        </p:spPr>
      </p:cxnSp>
      <p:cxnSp>
        <p:nvCxnSpPr>
          <p:cNvPr id="234" name="Straight Connector 233"/>
          <p:cNvCxnSpPr/>
          <p:nvPr/>
        </p:nvCxnSpPr>
        <p:spPr bwMode="auto">
          <a:xfrm flipV="1">
            <a:off x="8294335" y="1836892"/>
            <a:ext cx="0" cy="623087"/>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219" name="Straight Connector 218"/>
          <p:cNvCxnSpPr/>
          <p:nvPr/>
        </p:nvCxnSpPr>
        <p:spPr bwMode="auto">
          <a:xfrm flipH="1">
            <a:off x="7048163" y="2484255"/>
            <a:ext cx="1780248" cy="1618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29" name="Straight Connector 228"/>
          <p:cNvCxnSpPr/>
          <p:nvPr/>
        </p:nvCxnSpPr>
        <p:spPr bwMode="auto">
          <a:xfrm flipH="1">
            <a:off x="7096715" y="5138442"/>
            <a:ext cx="1780248" cy="1618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35" name="Straight Connector 234"/>
          <p:cNvCxnSpPr/>
          <p:nvPr/>
        </p:nvCxnSpPr>
        <p:spPr bwMode="auto">
          <a:xfrm flipV="1">
            <a:off x="8415716" y="4515356"/>
            <a:ext cx="0" cy="623087"/>
          </a:xfrm>
          <a:prstGeom prst="line">
            <a:avLst/>
          </a:prstGeom>
          <a:solidFill>
            <a:schemeClr val="accent1"/>
          </a:solidFill>
          <a:ln w="38100" cap="flat" cmpd="sng" algn="ctr">
            <a:solidFill>
              <a:schemeClr val="accent1">
                <a:lumMod val="75000"/>
              </a:schemeClr>
            </a:solidFill>
            <a:prstDash val="solid"/>
            <a:round/>
            <a:headEnd type="none" w="med" len="med"/>
            <a:tailEnd type="none" w="med" len="med"/>
          </a:ln>
          <a:effectLst/>
        </p:spPr>
      </p:cxnSp>
      <p:cxnSp>
        <p:nvCxnSpPr>
          <p:cNvPr id="236" name="Straight Connector 235"/>
          <p:cNvCxnSpPr/>
          <p:nvPr/>
        </p:nvCxnSpPr>
        <p:spPr bwMode="auto">
          <a:xfrm flipV="1">
            <a:off x="7549868" y="4499172"/>
            <a:ext cx="0" cy="623087"/>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237" name="TextBox 236"/>
          <p:cNvSpPr txBox="1"/>
          <p:nvPr/>
        </p:nvSpPr>
        <p:spPr>
          <a:xfrm>
            <a:off x="5826265" y="873940"/>
            <a:ext cx="484428" cy="276999"/>
          </a:xfrm>
          <a:prstGeom prst="rect">
            <a:avLst/>
          </a:prstGeom>
          <a:noFill/>
        </p:spPr>
        <p:txBody>
          <a:bodyPr wrap="none" rtlCol="0">
            <a:spAutoFit/>
          </a:bodyPr>
          <a:lstStyle/>
          <a:p>
            <a:r>
              <a:rPr lang="en-GB" sz="1200" i="1" dirty="0"/>
              <a:t>freq</a:t>
            </a:r>
          </a:p>
        </p:txBody>
      </p:sp>
      <p:sp>
        <p:nvSpPr>
          <p:cNvPr id="238" name="TextBox 237"/>
          <p:cNvSpPr txBox="1"/>
          <p:nvPr/>
        </p:nvSpPr>
        <p:spPr>
          <a:xfrm>
            <a:off x="8431900" y="2476163"/>
            <a:ext cx="484428" cy="276999"/>
          </a:xfrm>
          <a:prstGeom prst="rect">
            <a:avLst/>
          </a:prstGeom>
          <a:noFill/>
        </p:spPr>
        <p:txBody>
          <a:bodyPr wrap="none" rtlCol="0">
            <a:spAutoFit/>
          </a:bodyPr>
          <a:lstStyle/>
          <a:p>
            <a:r>
              <a:rPr lang="en-GB" sz="1200" i="1" dirty="0"/>
              <a:t>freq</a:t>
            </a:r>
          </a:p>
        </p:txBody>
      </p:sp>
      <p:sp>
        <p:nvSpPr>
          <p:cNvPr id="239" name="TextBox 238"/>
          <p:cNvSpPr txBox="1"/>
          <p:nvPr/>
        </p:nvSpPr>
        <p:spPr>
          <a:xfrm>
            <a:off x="8456176" y="5114167"/>
            <a:ext cx="484428" cy="276999"/>
          </a:xfrm>
          <a:prstGeom prst="rect">
            <a:avLst/>
          </a:prstGeom>
          <a:noFill/>
        </p:spPr>
        <p:txBody>
          <a:bodyPr wrap="none" rtlCol="0">
            <a:spAutoFit/>
          </a:bodyPr>
          <a:lstStyle/>
          <a:p>
            <a:r>
              <a:rPr lang="en-GB" sz="1200" i="1" dirty="0"/>
              <a:t>freq</a:t>
            </a:r>
          </a:p>
        </p:txBody>
      </p:sp>
      <p:sp>
        <p:nvSpPr>
          <p:cNvPr id="240" name="Rectangle 239"/>
          <p:cNvSpPr/>
          <p:nvPr/>
        </p:nvSpPr>
        <p:spPr>
          <a:xfrm>
            <a:off x="7711710" y="2863214"/>
            <a:ext cx="841571" cy="584775"/>
          </a:xfrm>
          <a:prstGeom prst="rect">
            <a:avLst/>
          </a:prstGeom>
        </p:spPr>
        <p:txBody>
          <a:bodyPr wrap="square">
            <a:spAutoFit/>
          </a:bodyPr>
          <a:lstStyle/>
          <a:p>
            <a:pPr algn="ctr"/>
            <a:r>
              <a:rPr lang="en-GB" i="1" dirty="0"/>
              <a:t>critical band </a:t>
            </a:r>
          </a:p>
        </p:txBody>
      </p:sp>
      <p:sp>
        <p:nvSpPr>
          <p:cNvPr id="241" name="Rectangle 240"/>
          <p:cNvSpPr/>
          <p:nvPr/>
        </p:nvSpPr>
        <p:spPr>
          <a:xfrm>
            <a:off x="7315201" y="1155795"/>
            <a:ext cx="841571" cy="584775"/>
          </a:xfrm>
          <a:prstGeom prst="rect">
            <a:avLst/>
          </a:prstGeom>
        </p:spPr>
        <p:txBody>
          <a:bodyPr wrap="square">
            <a:spAutoFit/>
          </a:bodyPr>
          <a:lstStyle/>
          <a:p>
            <a:pPr algn="ctr"/>
            <a:r>
              <a:rPr lang="en-GB" i="1" dirty="0"/>
              <a:t>critical band </a:t>
            </a:r>
          </a:p>
        </p:txBody>
      </p:sp>
      <p:sp>
        <p:nvSpPr>
          <p:cNvPr id="242" name="Rectangle 241"/>
          <p:cNvSpPr/>
          <p:nvPr/>
        </p:nvSpPr>
        <p:spPr>
          <a:xfrm>
            <a:off x="7614606" y="3688602"/>
            <a:ext cx="841571" cy="584775"/>
          </a:xfrm>
          <a:prstGeom prst="rect">
            <a:avLst/>
          </a:prstGeom>
        </p:spPr>
        <p:txBody>
          <a:bodyPr wrap="square">
            <a:spAutoFit/>
          </a:bodyPr>
          <a:lstStyle/>
          <a:p>
            <a:pPr algn="ctr"/>
            <a:r>
              <a:rPr lang="en-GB" i="1" dirty="0"/>
              <a:t>critical bands </a:t>
            </a:r>
          </a:p>
        </p:txBody>
      </p:sp>
      <p:cxnSp>
        <p:nvCxnSpPr>
          <p:cNvPr id="244" name="Straight Arrow Connector 243"/>
          <p:cNvCxnSpPr/>
          <p:nvPr/>
        </p:nvCxnSpPr>
        <p:spPr bwMode="auto">
          <a:xfrm>
            <a:off x="8059667" y="1472751"/>
            <a:ext cx="226577" cy="21848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45" name="Straight Arrow Connector 244"/>
          <p:cNvCxnSpPr>
            <a:stCxn id="242" idx="2"/>
          </p:cNvCxnSpPr>
          <p:nvPr/>
        </p:nvCxnSpPr>
        <p:spPr bwMode="auto">
          <a:xfrm>
            <a:off x="8035392" y="4273377"/>
            <a:ext cx="291312" cy="16915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47" name="Straight Arrow Connector 246"/>
          <p:cNvCxnSpPr>
            <a:stCxn id="242" idx="2"/>
          </p:cNvCxnSpPr>
          <p:nvPr/>
        </p:nvCxnSpPr>
        <p:spPr bwMode="auto">
          <a:xfrm flipH="1">
            <a:off x="7687434" y="4273377"/>
            <a:ext cx="347958" cy="41191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551911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81000" y="331788"/>
            <a:ext cx="2592376" cy="461665"/>
          </a:xfrm>
          <a:prstGeom prst="rect">
            <a:avLst/>
          </a:prstGeom>
          <a:noFill/>
          <a:ln w="9525">
            <a:noFill/>
            <a:miter lim="800000"/>
            <a:headEnd/>
            <a:tailEnd/>
          </a:ln>
        </p:spPr>
        <p:txBody>
          <a:bodyPr wrap="none">
            <a:spAutoFit/>
          </a:bodyPr>
          <a:lstStyle/>
          <a:p>
            <a:r>
              <a:rPr lang="en-GB" sz="2400" b="1" dirty="0"/>
              <a:t>Psychoacoustics</a:t>
            </a:r>
          </a:p>
        </p:txBody>
      </p:sp>
      <p:sp>
        <p:nvSpPr>
          <p:cNvPr id="13315" name="Rectangle 3"/>
          <p:cNvSpPr>
            <a:spLocks noChangeArrowheads="1"/>
          </p:cNvSpPr>
          <p:nvPr/>
        </p:nvSpPr>
        <p:spPr bwMode="auto">
          <a:xfrm>
            <a:off x="381000" y="914400"/>
            <a:ext cx="8382000" cy="3336811"/>
          </a:xfrm>
          <a:prstGeom prst="rect">
            <a:avLst/>
          </a:prstGeom>
          <a:noFill/>
          <a:ln w="9525">
            <a:noFill/>
            <a:miter lim="800000"/>
            <a:headEnd/>
            <a:tailEnd/>
          </a:ln>
        </p:spPr>
        <p:txBody>
          <a:bodyPr>
            <a:spAutoFit/>
          </a:bodyPr>
          <a:lstStyle/>
          <a:p>
            <a:pPr marL="193675" indent="-193675">
              <a:lnSpc>
                <a:spcPts val="2300"/>
              </a:lnSpc>
            </a:pPr>
            <a:r>
              <a:rPr lang="en-GB" sz="1600" b="1" dirty="0"/>
              <a:t> Frequency dependent resolution:</a:t>
            </a:r>
            <a:endParaRPr lang="en-GB" sz="1600" dirty="0"/>
          </a:p>
          <a:p>
            <a:pPr marL="563563" lvl="1" indent="-177800">
              <a:lnSpc>
                <a:spcPts val="2300"/>
              </a:lnSpc>
              <a:buFontTx/>
              <a:buChar char="•"/>
            </a:pPr>
            <a:r>
              <a:rPr lang="en-GB" sz="1600" dirty="0"/>
              <a:t>Human inability to discern minute differences in frequency </a:t>
            </a:r>
          </a:p>
          <a:p>
            <a:pPr marL="563563" lvl="1" indent="-177800">
              <a:lnSpc>
                <a:spcPts val="2300"/>
              </a:lnSpc>
            </a:pPr>
            <a:r>
              <a:rPr lang="en-GB" dirty="0"/>
              <a:t>		</a:t>
            </a:r>
            <a:r>
              <a:rPr lang="en-GB" sz="1600" i="1" dirty="0"/>
              <a:t>within the critical bands</a:t>
            </a:r>
          </a:p>
          <a:p>
            <a:pPr marL="563563" lvl="1" indent="-177800">
              <a:lnSpc>
                <a:spcPts val="2300"/>
              </a:lnSpc>
            </a:pPr>
            <a:endParaRPr lang="en-GB" sz="1600" i="1" dirty="0"/>
          </a:p>
          <a:p>
            <a:pPr marL="563563" lvl="1" indent="-177800">
              <a:lnSpc>
                <a:spcPts val="2300"/>
              </a:lnSpc>
              <a:buFontTx/>
              <a:buChar char="•"/>
            </a:pPr>
            <a:endParaRPr lang="en-GB" sz="1600" dirty="0"/>
          </a:p>
          <a:p>
            <a:pPr marL="193675" indent="-193675">
              <a:lnSpc>
                <a:spcPts val="2300"/>
              </a:lnSpc>
            </a:pPr>
            <a:r>
              <a:rPr lang="en-GB" sz="1600" b="1" dirty="0"/>
              <a:t>Auditory masking:</a:t>
            </a:r>
            <a:endParaRPr lang="en-GB" sz="1600" dirty="0"/>
          </a:p>
          <a:p>
            <a:pPr marL="563563" lvl="1" indent="-177800">
              <a:lnSpc>
                <a:spcPts val="2300"/>
              </a:lnSpc>
              <a:buFontTx/>
              <a:buChar char="•"/>
            </a:pPr>
            <a:r>
              <a:rPr lang="en-GB" sz="1600" dirty="0"/>
              <a:t>Two signals in a critical band: the louder will mask the softer</a:t>
            </a:r>
          </a:p>
          <a:p>
            <a:pPr marL="1020763" lvl="2" indent="-177800">
              <a:lnSpc>
                <a:spcPts val="2300"/>
              </a:lnSpc>
            </a:pPr>
            <a:r>
              <a:rPr lang="en-GB" dirty="0"/>
              <a:t>(either completely or to a certain extent)</a:t>
            </a:r>
          </a:p>
          <a:p>
            <a:pPr marL="563563" lvl="1" indent="-177800">
              <a:lnSpc>
                <a:spcPts val="2300"/>
              </a:lnSpc>
              <a:buFontTx/>
              <a:buChar char="•"/>
            </a:pPr>
            <a:r>
              <a:rPr lang="en-GB" sz="1600" dirty="0"/>
              <a:t>A masked signal must be louder than some threshold for it to be heard  </a:t>
            </a:r>
          </a:p>
          <a:p>
            <a:pPr marL="193675" indent="-193675">
              <a:lnSpc>
                <a:spcPts val="2300"/>
              </a:lnSpc>
              <a:buFontTx/>
              <a:buChar char="•"/>
            </a:pPr>
            <a:endParaRPr lang="en-GB" sz="1600" dirty="0"/>
          </a:p>
          <a:p>
            <a:pPr marL="193675" indent="-193675">
              <a:lnSpc>
                <a:spcPts val="2300"/>
              </a:lnSpc>
              <a:buFontTx/>
              <a:buChar char="•"/>
            </a:pPr>
            <a:r>
              <a:rPr lang="en-GB" sz="1600" dirty="0"/>
              <a:t>User selection of bit rates: </a:t>
            </a:r>
            <a:r>
              <a:rPr lang="en-GB" sz="1600" b="1" dirty="0"/>
              <a:t>file size </a:t>
            </a:r>
            <a:r>
              <a:rPr lang="en-GB" sz="1600" dirty="0" err="1"/>
              <a:t>vs</a:t>
            </a:r>
            <a:r>
              <a:rPr lang="en-GB" sz="1600" dirty="0"/>
              <a:t> </a:t>
            </a:r>
            <a:r>
              <a:rPr lang="en-GB" sz="1600" b="1" dirty="0"/>
              <a:t>quality</a:t>
            </a:r>
          </a:p>
        </p:txBody>
      </p:sp>
    </p:spTree>
    <p:extLst>
      <p:ext uri="{BB962C8B-B14F-4D97-AF65-F5344CB8AC3E}">
        <p14:creationId xmlns:p14="http://schemas.microsoft.com/office/powerpoint/2010/main" val="1794337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1000" y="793453"/>
            <a:ext cx="7848600" cy="1268039"/>
          </a:xfrm>
          <a:prstGeom prst="rect">
            <a:avLst/>
          </a:prstGeom>
          <a:noFill/>
          <a:ln w="9525">
            <a:noFill/>
            <a:miter lim="800000"/>
            <a:headEnd/>
            <a:tailEnd/>
          </a:ln>
        </p:spPr>
        <p:txBody>
          <a:bodyPr>
            <a:spAutoFit/>
          </a:bodyPr>
          <a:lstStyle/>
          <a:p>
            <a:pPr marL="193675" indent="-193675">
              <a:lnSpc>
                <a:spcPct val="130000"/>
              </a:lnSpc>
            </a:pPr>
            <a:r>
              <a:rPr lang="en-GB" sz="1600" b="1" dirty="0"/>
              <a:t>Model - To determine perceptually irrelevant information in the signal</a:t>
            </a:r>
          </a:p>
          <a:p>
            <a:pPr marL="193675" indent="-193675">
              <a:lnSpc>
                <a:spcPct val="130000"/>
              </a:lnSpc>
              <a:buFontTx/>
              <a:buChar char="•"/>
            </a:pPr>
            <a:r>
              <a:rPr lang="en-GB" sz="1600" dirty="0"/>
              <a:t>an assimilation of human perception of (coincident) sounds</a:t>
            </a:r>
          </a:p>
          <a:p>
            <a:pPr marL="193675" indent="-193675">
              <a:lnSpc>
                <a:spcPct val="130000"/>
              </a:lnSpc>
              <a:buFontTx/>
              <a:buChar char="•"/>
            </a:pPr>
            <a:r>
              <a:rPr lang="en-GB" sz="1600" dirty="0"/>
              <a:t>component frequencies allocated bits according (perceived) audibility</a:t>
            </a:r>
          </a:p>
          <a:p>
            <a:pPr marL="193675" indent="-193675"/>
            <a:r>
              <a:rPr lang="en-GB" sz="1400" dirty="0"/>
              <a:t> </a:t>
            </a:r>
          </a:p>
        </p:txBody>
      </p:sp>
      <p:sp>
        <p:nvSpPr>
          <p:cNvPr id="17411" name="Text Box 3"/>
          <p:cNvSpPr txBox="1">
            <a:spLocks noChangeArrowheads="1"/>
          </p:cNvSpPr>
          <p:nvPr/>
        </p:nvSpPr>
        <p:spPr bwMode="auto">
          <a:xfrm>
            <a:off x="381000" y="331788"/>
            <a:ext cx="3599062" cy="461665"/>
          </a:xfrm>
          <a:prstGeom prst="rect">
            <a:avLst/>
          </a:prstGeom>
          <a:noFill/>
          <a:ln w="9525">
            <a:noFill/>
            <a:miter lim="800000"/>
            <a:headEnd/>
            <a:tailEnd/>
          </a:ln>
        </p:spPr>
        <p:txBody>
          <a:bodyPr wrap="none">
            <a:spAutoFit/>
          </a:bodyPr>
          <a:lstStyle/>
          <a:p>
            <a:r>
              <a:rPr lang="en-GB" sz="2400" b="1" dirty="0"/>
              <a:t>Psychoacoustic Models</a:t>
            </a:r>
          </a:p>
        </p:txBody>
      </p:sp>
      <p:pic>
        <p:nvPicPr>
          <p:cNvPr id="2" name="Picture 1"/>
          <p:cNvPicPr>
            <a:picLocks noChangeAspect="1"/>
          </p:cNvPicPr>
          <p:nvPr/>
        </p:nvPicPr>
        <p:blipFill rotWithShape="1">
          <a:blip r:embed="rId3" cstate="print"/>
          <a:srcRect l="941" t="3889" r="-941" b="-3889"/>
          <a:stretch/>
        </p:blipFill>
        <p:spPr>
          <a:xfrm>
            <a:off x="889064" y="1960839"/>
            <a:ext cx="7669720" cy="4243052"/>
          </a:xfrm>
          <a:prstGeom prst="rect">
            <a:avLst/>
          </a:prstGeom>
        </p:spPr>
      </p:pic>
      <p:sp>
        <p:nvSpPr>
          <p:cNvPr id="3" name="Rectangle 2"/>
          <p:cNvSpPr/>
          <p:nvPr/>
        </p:nvSpPr>
        <p:spPr>
          <a:xfrm>
            <a:off x="381000" y="6103238"/>
            <a:ext cx="4572000" cy="400110"/>
          </a:xfrm>
          <a:prstGeom prst="rect">
            <a:avLst/>
          </a:prstGeom>
          <a:solidFill>
            <a:schemeClr val="accent6">
              <a:lumMod val="40000"/>
              <a:lumOff val="60000"/>
            </a:schemeClr>
          </a:solidFill>
        </p:spPr>
        <p:txBody>
          <a:bodyPr>
            <a:spAutoFit/>
          </a:bodyPr>
          <a:lstStyle/>
          <a:p>
            <a:r>
              <a:rPr lang="en-GB" sz="1000" dirty="0">
                <a:solidFill>
                  <a:schemeClr val="bg1">
                    <a:lumMod val="95000"/>
                  </a:schemeClr>
                </a:solidFill>
              </a:rPr>
              <a:t>http://www.head-fi.org/t/610161/lightbox/post/8384518/id/604385</a:t>
            </a:r>
          </a:p>
        </p:txBody>
      </p:sp>
      <p:sp>
        <p:nvSpPr>
          <p:cNvPr id="4" name="TextBox 3"/>
          <p:cNvSpPr txBox="1"/>
          <p:nvPr/>
        </p:nvSpPr>
        <p:spPr>
          <a:xfrm>
            <a:off x="889064" y="2041944"/>
            <a:ext cx="1930337" cy="338554"/>
          </a:xfrm>
          <a:prstGeom prst="rect">
            <a:avLst/>
          </a:prstGeom>
          <a:noFill/>
        </p:spPr>
        <p:txBody>
          <a:bodyPr wrap="none" rtlCol="0">
            <a:spAutoFit/>
          </a:bodyPr>
          <a:lstStyle/>
          <a:p>
            <a:r>
              <a:rPr lang="en-GB" dirty="0"/>
              <a:t>Auditory Masking</a:t>
            </a:r>
          </a:p>
        </p:txBody>
      </p:sp>
    </p:spTree>
    <p:extLst>
      <p:ext uri="{BB962C8B-B14F-4D97-AF65-F5344CB8AC3E}">
        <p14:creationId xmlns:p14="http://schemas.microsoft.com/office/powerpoint/2010/main" val="4143181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www.digitalradiotech.co.uk/images/masking_curve.gif"/>
          <p:cNvPicPr>
            <a:picLocks noChangeAspect="1" noChangeArrowheads="1"/>
          </p:cNvPicPr>
          <p:nvPr/>
        </p:nvPicPr>
        <p:blipFill>
          <a:blip r:embed="rId2" cstate="print"/>
          <a:srcRect/>
          <a:stretch>
            <a:fillRect/>
          </a:stretch>
        </p:blipFill>
        <p:spPr bwMode="auto">
          <a:xfrm>
            <a:off x="380999" y="1412776"/>
            <a:ext cx="8027621" cy="4717157"/>
          </a:xfrm>
          <a:prstGeom prst="rect">
            <a:avLst/>
          </a:prstGeom>
          <a:noFill/>
          <a:ln w="9525">
            <a:noFill/>
            <a:miter lim="800000"/>
            <a:headEnd/>
            <a:tailEnd/>
          </a:ln>
        </p:spPr>
      </p:pic>
      <p:sp>
        <p:nvSpPr>
          <p:cNvPr id="18435" name="TextBox 2"/>
          <p:cNvSpPr txBox="1">
            <a:spLocks noChangeArrowheads="1"/>
          </p:cNvSpPr>
          <p:nvPr/>
        </p:nvSpPr>
        <p:spPr bwMode="auto">
          <a:xfrm>
            <a:off x="380999" y="331788"/>
            <a:ext cx="6397905" cy="461665"/>
          </a:xfrm>
          <a:prstGeom prst="rect">
            <a:avLst/>
          </a:prstGeom>
          <a:noFill/>
          <a:ln w="9525">
            <a:noFill/>
            <a:miter lim="800000"/>
            <a:headEnd/>
            <a:tailEnd/>
          </a:ln>
        </p:spPr>
        <p:txBody>
          <a:bodyPr wrap="none">
            <a:spAutoFit/>
          </a:bodyPr>
          <a:lstStyle/>
          <a:p>
            <a:r>
              <a:rPr lang="en-GB" sz="2400" b="1" dirty="0"/>
              <a:t>Threshold of Hearing, Masking Threshold</a:t>
            </a:r>
            <a:endParaRPr lang="en-US" sz="2400" b="1" dirty="0"/>
          </a:p>
        </p:txBody>
      </p:sp>
    </p:spTree>
    <p:extLst>
      <p:ext uri="{BB962C8B-B14F-4D97-AF65-F5344CB8AC3E}">
        <p14:creationId xmlns:p14="http://schemas.microsoft.com/office/powerpoint/2010/main" val="2067305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95288" y="331788"/>
            <a:ext cx="5562600" cy="457200"/>
          </a:xfrm>
          <a:prstGeom prst="rect">
            <a:avLst/>
          </a:prstGeom>
          <a:noFill/>
          <a:ln w="9525">
            <a:noFill/>
            <a:miter lim="800000"/>
            <a:headEnd/>
            <a:tailEnd/>
          </a:ln>
        </p:spPr>
        <p:txBody>
          <a:bodyPr anchor="b"/>
          <a:lstStyle/>
          <a:p>
            <a:r>
              <a:rPr lang="en-US" sz="2400" b="1" dirty="0">
                <a:solidFill>
                  <a:schemeClr val="tx2"/>
                </a:solidFill>
              </a:rPr>
              <a:t>MPEG Psychoacoustic Models</a:t>
            </a:r>
            <a:endParaRPr lang="en-US" sz="6000" dirty="0">
              <a:solidFill>
                <a:schemeClr val="tx2"/>
              </a:solidFill>
            </a:endParaRPr>
          </a:p>
        </p:txBody>
      </p:sp>
      <p:sp>
        <p:nvSpPr>
          <p:cNvPr id="19459" name="Rectangle 3"/>
          <p:cNvSpPr>
            <a:spLocks noChangeArrowheads="1"/>
          </p:cNvSpPr>
          <p:nvPr/>
        </p:nvSpPr>
        <p:spPr bwMode="auto">
          <a:xfrm>
            <a:off x="381000" y="1196752"/>
            <a:ext cx="8153400" cy="4038600"/>
          </a:xfrm>
          <a:prstGeom prst="rect">
            <a:avLst/>
          </a:prstGeom>
          <a:noFill/>
          <a:ln w="9525">
            <a:noFill/>
            <a:miter lim="800000"/>
            <a:headEnd/>
            <a:tailEnd/>
          </a:ln>
        </p:spPr>
        <p:txBody>
          <a:bodyPr/>
          <a:lstStyle/>
          <a:p>
            <a:pPr marL="342900" indent="-342900">
              <a:lnSpc>
                <a:spcPct val="140000"/>
              </a:lnSpc>
              <a:spcBef>
                <a:spcPct val="20000"/>
              </a:spcBef>
            </a:pPr>
            <a:r>
              <a:rPr lang="en-US" sz="1800" b="1" dirty="0"/>
              <a:t>MPEG standard defines two models:</a:t>
            </a:r>
            <a:endParaRPr lang="en-US" sz="1800" dirty="0"/>
          </a:p>
          <a:p>
            <a:pPr marL="342900" indent="-342900">
              <a:lnSpc>
                <a:spcPct val="140000"/>
              </a:lnSpc>
              <a:spcBef>
                <a:spcPct val="20000"/>
              </a:spcBef>
              <a:buFontTx/>
              <a:buChar char="•"/>
            </a:pPr>
            <a:endParaRPr lang="en-US" sz="1800" dirty="0"/>
          </a:p>
          <a:p>
            <a:pPr marL="342900" indent="-342900">
              <a:lnSpc>
                <a:spcPct val="140000"/>
              </a:lnSpc>
              <a:spcBef>
                <a:spcPct val="20000"/>
              </a:spcBef>
              <a:buFontTx/>
              <a:buChar char="•"/>
            </a:pPr>
            <a:r>
              <a:rPr lang="en-US" sz="1800" b="1" dirty="0"/>
              <a:t>Psychoacoustic Model 1:</a:t>
            </a:r>
            <a:endParaRPr lang="en-US" sz="1800" dirty="0"/>
          </a:p>
          <a:p>
            <a:pPr marL="742950" lvl="1" indent="-285750">
              <a:lnSpc>
                <a:spcPct val="140000"/>
              </a:lnSpc>
              <a:spcBef>
                <a:spcPct val="20000"/>
              </a:spcBef>
              <a:buFontTx/>
              <a:buChar char="•"/>
            </a:pPr>
            <a:r>
              <a:rPr lang="en-US" sz="1600" dirty="0"/>
              <a:t>simpler, less computationally expensive</a:t>
            </a:r>
          </a:p>
          <a:p>
            <a:pPr marL="742950" lvl="1" indent="-285750">
              <a:lnSpc>
                <a:spcPct val="140000"/>
              </a:lnSpc>
              <a:spcBef>
                <a:spcPct val="20000"/>
              </a:spcBef>
              <a:buFontTx/>
              <a:buChar char="•"/>
            </a:pPr>
            <a:r>
              <a:rPr lang="en-US" sz="1600" dirty="0"/>
              <a:t>serious compromises in what it assumes a listener cannot hear</a:t>
            </a:r>
          </a:p>
          <a:p>
            <a:pPr marL="742950" lvl="1" indent="-285750">
              <a:lnSpc>
                <a:spcPct val="140000"/>
              </a:lnSpc>
              <a:spcBef>
                <a:spcPct val="20000"/>
              </a:spcBef>
              <a:buFontTx/>
              <a:buChar char="•"/>
            </a:pPr>
            <a:endParaRPr lang="en-US" sz="1600" dirty="0"/>
          </a:p>
          <a:p>
            <a:pPr marL="342900" indent="-342900">
              <a:lnSpc>
                <a:spcPct val="140000"/>
              </a:lnSpc>
              <a:spcBef>
                <a:spcPct val="20000"/>
              </a:spcBef>
              <a:buFontTx/>
              <a:buChar char="•"/>
            </a:pPr>
            <a:r>
              <a:rPr lang="en-US" sz="1800" b="1" dirty="0"/>
              <a:t>Psychoacoustic Model 2:</a:t>
            </a:r>
            <a:endParaRPr lang="en-US" sz="1800" dirty="0"/>
          </a:p>
          <a:p>
            <a:pPr marL="742950" lvl="1" indent="-285750">
              <a:lnSpc>
                <a:spcPct val="140000"/>
              </a:lnSpc>
              <a:spcBef>
                <a:spcPct val="20000"/>
              </a:spcBef>
              <a:buFontTx/>
              <a:buChar char="•"/>
            </a:pPr>
            <a:r>
              <a:rPr lang="en-US" sz="1600" dirty="0"/>
              <a:t>More features </a:t>
            </a:r>
          </a:p>
          <a:p>
            <a:pPr marL="1200150" lvl="2" indent="-285750">
              <a:lnSpc>
                <a:spcPct val="140000"/>
              </a:lnSpc>
              <a:spcBef>
                <a:spcPct val="20000"/>
              </a:spcBef>
              <a:buFontTx/>
              <a:buChar char="•"/>
            </a:pPr>
            <a:r>
              <a:rPr lang="en-US" dirty="0"/>
              <a:t>more complex coding (assuming increased processor bandwidth)</a:t>
            </a:r>
          </a:p>
          <a:p>
            <a:pPr marL="742950" lvl="1" indent="-285750">
              <a:lnSpc>
                <a:spcPct val="140000"/>
              </a:lnSpc>
              <a:spcBef>
                <a:spcPct val="20000"/>
              </a:spcBef>
              <a:buFontTx/>
              <a:buChar char="•"/>
            </a:pPr>
            <a:r>
              <a:rPr lang="en-US" sz="1600" dirty="0"/>
              <a:t>Layer III    (.mp3)</a:t>
            </a:r>
          </a:p>
        </p:txBody>
      </p:sp>
    </p:spTree>
    <p:extLst>
      <p:ext uri="{BB962C8B-B14F-4D97-AF65-F5344CB8AC3E}">
        <p14:creationId xmlns:p14="http://schemas.microsoft.com/office/powerpoint/2010/main" val="606793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95288" y="331788"/>
            <a:ext cx="3686175" cy="441325"/>
          </a:xfrm>
          <a:prstGeom prst="rect">
            <a:avLst/>
          </a:prstGeom>
          <a:noFill/>
          <a:ln w="9525">
            <a:noFill/>
            <a:miter lim="800000"/>
            <a:headEnd/>
            <a:tailEnd/>
          </a:ln>
        </p:spPr>
        <p:txBody>
          <a:bodyPr anchor="b"/>
          <a:lstStyle/>
          <a:p>
            <a:r>
              <a:rPr lang="en-US" sz="2400" b="1" dirty="0"/>
              <a:t>Temporal Masking</a:t>
            </a:r>
          </a:p>
        </p:txBody>
      </p:sp>
      <p:sp>
        <p:nvSpPr>
          <p:cNvPr id="16387" name="Rectangle 5"/>
          <p:cNvSpPr>
            <a:spLocks noChangeArrowheads="1"/>
          </p:cNvSpPr>
          <p:nvPr/>
        </p:nvSpPr>
        <p:spPr bwMode="auto">
          <a:xfrm>
            <a:off x="381000" y="1341438"/>
            <a:ext cx="8294688" cy="2376487"/>
          </a:xfrm>
          <a:prstGeom prst="rect">
            <a:avLst/>
          </a:prstGeom>
          <a:noFill/>
          <a:ln w="9525">
            <a:noFill/>
            <a:miter lim="800000"/>
            <a:headEnd/>
            <a:tailEnd/>
          </a:ln>
        </p:spPr>
        <p:txBody>
          <a:bodyPr/>
          <a:lstStyle/>
          <a:p>
            <a:pPr marL="171450" indent="-166688">
              <a:spcBef>
                <a:spcPct val="20000"/>
              </a:spcBef>
              <a:buFontTx/>
              <a:buChar char="•"/>
            </a:pPr>
            <a:r>
              <a:rPr lang="en-US" sz="1800" dirty="0"/>
              <a:t>Temporal </a:t>
            </a:r>
          </a:p>
          <a:p>
            <a:pPr marL="536575" lvl="1" indent="-185738">
              <a:spcBef>
                <a:spcPct val="20000"/>
              </a:spcBef>
            </a:pPr>
            <a:r>
              <a:rPr lang="en-US" sz="1800" dirty="0"/>
              <a:t>- faint sounds not heard </a:t>
            </a:r>
            <a:r>
              <a:rPr lang="en-US" sz="1800" i="1" dirty="0"/>
              <a:t>following </a:t>
            </a:r>
            <a:r>
              <a:rPr lang="en-US" sz="1800" dirty="0"/>
              <a:t>loud sounds </a:t>
            </a:r>
            <a:endParaRPr lang="en-US" sz="1800" b="1" dirty="0"/>
          </a:p>
          <a:p>
            <a:pPr marL="536575" lvl="1" indent="-185738">
              <a:spcBef>
                <a:spcPct val="20000"/>
              </a:spcBef>
              <a:buFontTx/>
              <a:buChar char="•"/>
            </a:pPr>
            <a:endParaRPr lang="en-US" sz="1800" dirty="0"/>
          </a:p>
          <a:p>
            <a:pPr marL="536575" lvl="1" indent="-185738">
              <a:spcBef>
                <a:spcPct val="20000"/>
              </a:spcBef>
              <a:buFontTx/>
              <a:buChar char="•"/>
            </a:pPr>
            <a:r>
              <a:rPr lang="en-US" sz="1800" dirty="0"/>
              <a:t>Layer 1 - smaller frames - no temporal knowledge</a:t>
            </a:r>
          </a:p>
          <a:p>
            <a:pPr marL="536575" lvl="1" indent="-185738">
              <a:spcBef>
                <a:spcPct val="20000"/>
              </a:spcBef>
              <a:buFontTx/>
              <a:buChar char="•"/>
            </a:pPr>
            <a:endParaRPr lang="en-US" sz="1800" dirty="0"/>
          </a:p>
          <a:p>
            <a:pPr marL="536575" lvl="1" indent="-185738">
              <a:spcBef>
                <a:spcPct val="20000"/>
              </a:spcBef>
              <a:buFontTx/>
              <a:buChar char="•"/>
            </a:pPr>
            <a:r>
              <a:rPr lang="en-US" sz="1800" dirty="0"/>
              <a:t>Layers II, III - </a:t>
            </a:r>
            <a:r>
              <a:rPr lang="en-US" sz="1800" i="1" dirty="0"/>
              <a:t>do</a:t>
            </a:r>
            <a:r>
              <a:rPr lang="en-US" sz="1800" dirty="0"/>
              <a:t> support temporal masking</a:t>
            </a:r>
          </a:p>
        </p:txBody>
      </p:sp>
    </p:spTree>
    <p:extLst>
      <p:ext uri="{BB962C8B-B14F-4D97-AF65-F5344CB8AC3E}">
        <p14:creationId xmlns:p14="http://schemas.microsoft.com/office/powerpoint/2010/main" val="4185917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0" y="0"/>
            <a:ext cx="9144000" cy="6858001"/>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Lucida Sans Unicode" pitchFamily="34" charset="0"/>
            </a:endParaRPr>
          </a:p>
        </p:txBody>
      </p:sp>
      <p:pic>
        <p:nvPicPr>
          <p:cNvPr id="4" name="Picture 2" descr="maxresdefault.jpg (1280×720)"/>
          <p:cNvPicPr>
            <a:picLocks noChangeAspect="1" noChangeArrowheads="1"/>
          </p:cNvPicPr>
          <p:nvPr/>
        </p:nvPicPr>
        <p:blipFill rotWithShape="1">
          <a:blip r:embed="rId2">
            <a:extLst>
              <a:ext uri="{28A0092B-C50C-407E-A947-70E740481C1C}">
                <a14:useLocalDpi xmlns:a14="http://schemas.microsoft.com/office/drawing/2010/main" val="0"/>
              </a:ext>
            </a:extLst>
          </a:blip>
          <a:srcRect t="1793" r="3572" b="2062"/>
          <a:stretch/>
        </p:blipFill>
        <p:spPr bwMode="auto">
          <a:xfrm>
            <a:off x="0" y="933061"/>
            <a:ext cx="9150162" cy="51318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27815DB-12ED-4B14-8E19-9F0F3C75EE85}"/>
              </a:ext>
            </a:extLst>
          </p:cNvPr>
          <p:cNvSpPr txBox="1"/>
          <p:nvPr/>
        </p:nvSpPr>
        <p:spPr>
          <a:xfrm>
            <a:off x="395288" y="368300"/>
            <a:ext cx="5655449" cy="1200329"/>
          </a:xfrm>
          <a:prstGeom prst="rect">
            <a:avLst/>
          </a:prstGeom>
          <a:noFill/>
        </p:spPr>
        <p:txBody>
          <a:bodyPr wrap="square" rtlCol="0">
            <a:spAutoFit/>
          </a:bodyPr>
          <a:lstStyle/>
          <a:p>
            <a:r>
              <a:rPr lang="en-GB" sz="3600" dirty="0">
                <a:solidFill>
                  <a:srgbClr val="FFFF00"/>
                </a:solidFill>
              </a:rPr>
              <a:t>Video Compression (Introduction)</a:t>
            </a:r>
          </a:p>
        </p:txBody>
      </p:sp>
    </p:spTree>
    <p:extLst>
      <p:ext uri="{BB962C8B-B14F-4D97-AF65-F5344CB8AC3E}">
        <p14:creationId xmlns:p14="http://schemas.microsoft.com/office/powerpoint/2010/main" val="116896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381000"/>
            <a:ext cx="7923964" cy="461665"/>
          </a:xfrm>
          <a:prstGeom prst="rect">
            <a:avLst/>
          </a:prstGeom>
          <a:noFill/>
        </p:spPr>
        <p:txBody>
          <a:bodyPr wrap="none" rtlCol="0">
            <a:spAutoFit/>
          </a:bodyPr>
          <a:lstStyle/>
          <a:p>
            <a:r>
              <a:rPr lang="en-GB" sz="2400" b="1" dirty="0"/>
              <a:t>Image Compression – A Number of Stages are used:</a:t>
            </a:r>
          </a:p>
        </p:txBody>
      </p:sp>
      <p:sp>
        <p:nvSpPr>
          <p:cNvPr id="3" name="TextBox 2"/>
          <p:cNvSpPr txBox="1"/>
          <p:nvPr/>
        </p:nvSpPr>
        <p:spPr>
          <a:xfrm>
            <a:off x="381000" y="1190625"/>
            <a:ext cx="6516528" cy="2823850"/>
          </a:xfrm>
          <a:prstGeom prst="rect">
            <a:avLst/>
          </a:prstGeom>
          <a:noFill/>
        </p:spPr>
        <p:txBody>
          <a:bodyPr wrap="none" rtlCol="0">
            <a:spAutoFit/>
          </a:bodyPr>
          <a:lstStyle/>
          <a:p>
            <a:pPr marL="400050" indent="-400050">
              <a:lnSpc>
                <a:spcPct val="150000"/>
              </a:lnSpc>
            </a:pPr>
            <a:r>
              <a:rPr lang="en-GB" sz="2000" b="1" dirty="0" err="1"/>
              <a:t>Lossy</a:t>
            </a:r>
            <a:endParaRPr lang="en-GB" sz="2000" b="1" dirty="0"/>
          </a:p>
          <a:p>
            <a:pPr marL="400050" indent="-400050">
              <a:lnSpc>
                <a:spcPct val="150000"/>
              </a:lnSpc>
              <a:buFont typeface="+mj-lt"/>
              <a:buAutoNum type="romanLcPeriod"/>
            </a:pPr>
            <a:r>
              <a:rPr lang="en-GB" sz="2000" dirty="0" err="1"/>
              <a:t>Chroma</a:t>
            </a:r>
            <a:r>
              <a:rPr lang="en-GB" sz="2000" dirty="0"/>
              <a:t> </a:t>
            </a:r>
            <a:r>
              <a:rPr lang="en-GB" sz="2000" dirty="0" err="1"/>
              <a:t>Subsampling</a:t>
            </a:r>
            <a:r>
              <a:rPr lang="en-GB" sz="2000" dirty="0"/>
              <a:t> </a:t>
            </a:r>
            <a:endParaRPr lang="en-GB" sz="2000" i="1" dirty="0"/>
          </a:p>
          <a:p>
            <a:pPr marL="400050" indent="-400050">
              <a:lnSpc>
                <a:spcPct val="150000"/>
              </a:lnSpc>
              <a:buFont typeface="+mj-lt"/>
              <a:buAutoNum type="romanLcPeriod"/>
            </a:pPr>
            <a:r>
              <a:rPr lang="en-GB" sz="2000" dirty="0"/>
              <a:t>DCT-based (harmonics/synthesis) compression</a:t>
            </a:r>
          </a:p>
          <a:p>
            <a:pPr marL="400050" indent="-400050">
              <a:lnSpc>
                <a:spcPct val="150000"/>
              </a:lnSpc>
            </a:pPr>
            <a:endParaRPr lang="en-GB" sz="2000" dirty="0"/>
          </a:p>
          <a:p>
            <a:pPr marL="400050" indent="-400050">
              <a:lnSpc>
                <a:spcPct val="150000"/>
              </a:lnSpc>
            </a:pPr>
            <a:r>
              <a:rPr lang="en-GB" sz="2000" b="1" dirty="0"/>
              <a:t>Lossless</a:t>
            </a:r>
          </a:p>
          <a:p>
            <a:pPr marL="400050" indent="-400050">
              <a:lnSpc>
                <a:spcPct val="150000"/>
              </a:lnSpc>
            </a:pPr>
            <a:r>
              <a:rPr lang="en-GB" sz="2000" dirty="0"/>
              <a:t>iii.	Huffman (statistical) coding</a:t>
            </a:r>
          </a:p>
        </p:txBody>
      </p:sp>
    </p:spTree>
    <p:extLst>
      <p:ext uri="{BB962C8B-B14F-4D97-AF65-F5344CB8AC3E}">
        <p14:creationId xmlns:p14="http://schemas.microsoft.com/office/powerpoint/2010/main" val="2063099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6793" y="336379"/>
            <a:ext cx="9144001" cy="6105524"/>
            <a:chOff x="-1" y="381000"/>
            <a:chExt cx="9144001" cy="6105524"/>
          </a:xfrm>
        </p:grpSpPr>
        <p:sp>
          <p:nvSpPr>
            <p:cNvPr id="12290" name="Rectangle 2"/>
            <p:cNvSpPr>
              <a:spLocks noChangeArrowheads="1"/>
            </p:cNvSpPr>
            <p:nvPr/>
          </p:nvSpPr>
          <p:spPr bwMode="auto">
            <a:xfrm>
              <a:off x="427038" y="381000"/>
              <a:ext cx="1327150" cy="457200"/>
            </a:xfrm>
            <a:prstGeom prst="rect">
              <a:avLst/>
            </a:prstGeom>
            <a:noFill/>
            <a:ln w="9525">
              <a:noFill/>
              <a:miter lim="800000"/>
              <a:headEnd/>
              <a:tailEnd/>
            </a:ln>
          </p:spPr>
          <p:txBody>
            <a:bodyPr wrap="none">
              <a:spAutoFit/>
            </a:bodyPr>
            <a:lstStyle/>
            <a:p>
              <a:r>
                <a:rPr lang="en-GB" sz="2400" b="1"/>
                <a:t>The Eye</a:t>
              </a:r>
            </a:p>
          </p:txBody>
        </p:sp>
        <p:pic>
          <p:nvPicPr>
            <p:cNvPr id="5" name="Picture 4"/>
            <p:cNvPicPr>
              <a:picLocks noChangeAspect="1"/>
            </p:cNvPicPr>
            <p:nvPr/>
          </p:nvPicPr>
          <p:blipFill>
            <a:blip r:embed="rId2"/>
            <a:stretch>
              <a:fillRect/>
            </a:stretch>
          </p:blipFill>
          <p:spPr>
            <a:xfrm>
              <a:off x="0" y="392906"/>
              <a:ext cx="1514475" cy="733425"/>
            </a:xfrm>
            <a:prstGeom prst="rect">
              <a:avLst/>
            </a:prstGeom>
            <a:ln>
              <a:noFill/>
            </a:ln>
          </p:spPr>
        </p:pic>
        <p:pic>
          <p:nvPicPr>
            <p:cNvPr id="17" name="Picture 16"/>
            <p:cNvPicPr>
              <a:picLocks noChangeAspect="1"/>
            </p:cNvPicPr>
            <p:nvPr/>
          </p:nvPicPr>
          <p:blipFill>
            <a:blip r:embed="rId2"/>
            <a:stretch>
              <a:fillRect/>
            </a:stretch>
          </p:blipFill>
          <p:spPr>
            <a:xfrm rot="5400000">
              <a:off x="1100137" y="771525"/>
              <a:ext cx="1514475" cy="733425"/>
            </a:xfrm>
            <a:prstGeom prst="rect">
              <a:avLst/>
            </a:prstGeom>
            <a:ln>
              <a:noFill/>
            </a:ln>
          </p:spPr>
        </p:pic>
        <p:pic>
          <p:nvPicPr>
            <p:cNvPr id="18" name="Picture 17"/>
            <p:cNvPicPr>
              <a:picLocks noChangeAspect="1"/>
            </p:cNvPicPr>
            <p:nvPr/>
          </p:nvPicPr>
          <p:blipFill>
            <a:blip r:embed="rId2"/>
            <a:stretch>
              <a:fillRect/>
            </a:stretch>
          </p:blipFill>
          <p:spPr>
            <a:xfrm rot="10800000">
              <a:off x="-1" y="1150143"/>
              <a:ext cx="1514475" cy="733425"/>
            </a:xfrm>
            <a:prstGeom prst="rect">
              <a:avLst/>
            </a:prstGeom>
            <a:ln>
              <a:noFill/>
            </a:ln>
          </p:spPr>
        </p:pic>
        <p:grpSp>
          <p:nvGrpSpPr>
            <p:cNvPr id="6" name="Group 5"/>
            <p:cNvGrpSpPr/>
            <p:nvPr/>
          </p:nvGrpSpPr>
          <p:grpSpPr>
            <a:xfrm rot="10800000">
              <a:off x="0" y="1883568"/>
              <a:ext cx="2247901" cy="1514475"/>
              <a:chOff x="0" y="3587580"/>
              <a:chExt cx="2247901" cy="1514475"/>
            </a:xfrm>
          </p:grpSpPr>
          <p:pic>
            <p:nvPicPr>
              <p:cNvPr id="22" name="Picture 21"/>
              <p:cNvPicPr>
                <a:picLocks noChangeAspect="1"/>
              </p:cNvPicPr>
              <p:nvPr/>
            </p:nvPicPr>
            <p:blipFill>
              <a:blip r:embed="rId2"/>
              <a:stretch>
                <a:fillRect/>
              </a:stretch>
            </p:blipFill>
            <p:spPr>
              <a:xfrm>
                <a:off x="1" y="3587580"/>
                <a:ext cx="1514475" cy="733425"/>
              </a:xfrm>
              <a:prstGeom prst="rect">
                <a:avLst/>
              </a:prstGeom>
              <a:ln>
                <a:noFill/>
              </a:ln>
            </p:spPr>
          </p:pic>
          <p:pic>
            <p:nvPicPr>
              <p:cNvPr id="23" name="Picture 22"/>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24" name="Picture 23"/>
              <p:cNvPicPr>
                <a:picLocks noChangeAspect="1"/>
              </p:cNvPicPr>
              <p:nvPr/>
            </p:nvPicPr>
            <p:blipFill>
              <a:blip r:embed="rId2"/>
              <a:stretch>
                <a:fillRect/>
              </a:stretch>
            </p:blipFill>
            <p:spPr>
              <a:xfrm rot="10800000">
                <a:off x="0" y="4344817"/>
                <a:ext cx="1514475" cy="733425"/>
              </a:xfrm>
              <a:prstGeom prst="rect">
                <a:avLst/>
              </a:prstGeom>
              <a:ln>
                <a:noFill/>
              </a:ln>
            </p:spPr>
          </p:pic>
        </p:grpSp>
        <p:pic>
          <p:nvPicPr>
            <p:cNvPr id="27" name="Picture 26"/>
            <p:cNvPicPr>
              <a:picLocks noChangeAspect="1"/>
            </p:cNvPicPr>
            <p:nvPr/>
          </p:nvPicPr>
          <p:blipFill>
            <a:blip r:embed="rId2"/>
            <a:stretch>
              <a:fillRect/>
            </a:stretch>
          </p:blipFill>
          <p:spPr>
            <a:xfrm>
              <a:off x="1" y="3421855"/>
              <a:ext cx="1514475" cy="733425"/>
            </a:xfrm>
            <a:prstGeom prst="rect">
              <a:avLst/>
            </a:prstGeom>
            <a:ln>
              <a:noFill/>
            </a:ln>
          </p:spPr>
        </p:pic>
        <p:pic>
          <p:nvPicPr>
            <p:cNvPr id="28" name="Picture 27"/>
            <p:cNvPicPr>
              <a:picLocks noChangeAspect="1"/>
            </p:cNvPicPr>
            <p:nvPr/>
          </p:nvPicPr>
          <p:blipFill>
            <a:blip r:embed="rId2"/>
            <a:stretch>
              <a:fillRect/>
            </a:stretch>
          </p:blipFill>
          <p:spPr>
            <a:xfrm rot="5400000">
              <a:off x="1123951" y="3812380"/>
              <a:ext cx="1514475" cy="733425"/>
            </a:xfrm>
            <a:prstGeom prst="rect">
              <a:avLst/>
            </a:prstGeom>
            <a:ln>
              <a:noFill/>
            </a:ln>
          </p:spPr>
        </p:pic>
        <p:pic>
          <p:nvPicPr>
            <p:cNvPr id="29" name="Picture 28"/>
            <p:cNvPicPr>
              <a:picLocks noChangeAspect="1"/>
            </p:cNvPicPr>
            <p:nvPr/>
          </p:nvPicPr>
          <p:blipFill>
            <a:blip r:embed="rId2"/>
            <a:stretch>
              <a:fillRect/>
            </a:stretch>
          </p:blipFill>
          <p:spPr>
            <a:xfrm rot="10800000">
              <a:off x="0" y="4179092"/>
              <a:ext cx="1514475" cy="733425"/>
            </a:xfrm>
            <a:prstGeom prst="rect">
              <a:avLst/>
            </a:prstGeom>
            <a:ln>
              <a:noFill/>
            </a:ln>
          </p:spPr>
        </p:pic>
        <p:grpSp>
          <p:nvGrpSpPr>
            <p:cNvPr id="30" name="Group 29"/>
            <p:cNvGrpSpPr/>
            <p:nvPr/>
          </p:nvGrpSpPr>
          <p:grpSpPr>
            <a:xfrm rot="10800000">
              <a:off x="24779" y="4960142"/>
              <a:ext cx="2247901" cy="1514475"/>
              <a:chOff x="0" y="3587580"/>
              <a:chExt cx="2247901" cy="1514475"/>
            </a:xfrm>
          </p:grpSpPr>
          <p:pic>
            <p:nvPicPr>
              <p:cNvPr id="31" name="Picture 30"/>
              <p:cNvPicPr>
                <a:picLocks noChangeAspect="1"/>
              </p:cNvPicPr>
              <p:nvPr/>
            </p:nvPicPr>
            <p:blipFill>
              <a:blip r:embed="rId2"/>
              <a:stretch>
                <a:fillRect/>
              </a:stretch>
            </p:blipFill>
            <p:spPr>
              <a:xfrm>
                <a:off x="1" y="3587580"/>
                <a:ext cx="1514475" cy="733425"/>
              </a:xfrm>
              <a:prstGeom prst="rect">
                <a:avLst/>
              </a:prstGeom>
              <a:ln>
                <a:noFill/>
              </a:ln>
            </p:spPr>
          </p:pic>
          <p:pic>
            <p:nvPicPr>
              <p:cNvPr id="32" name="Picture 31"/>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33" name="Picture 32"/>
              <p:cNvPicPr>
                <a:picLocks noChangeAspect="1"/>
              </p:cNvPicPr>
              <p:nvPr/>
            </p:nvPicPr>
            <p:blipFill>
              <a:blip r:embed="rId2"/>
              <a:stretch>
                <a:fillRect/>
              </a:stretch>
            </p:blipFill>
            <p:spPr>
              <a:xfrm rot="10800000">
                <a:off x="0" y="4344817"/>
                <a:ext cx="1514475" cy="733425"/>
              </a:xfrm>
              <a:prstGeom prst="rect">
                <a:avLst/>
              </a:prstGeom>
              <a:ln>
                <a:noFill/>
              </a:ln>
            </p:spPr>
          </p:pic>
        </p:grpSp>
        <p:sp>
          <p:nvSpPr>
            <p:cNvPr id="34" name="Rectangle 2"/>
            <p:cNvSpPr>
              <a:spLocks noChangeArrowheads="1"/>
            </p:cNvSpPr>
            <p:nvPr/>
          </p:nvSpPr>
          <p:spPr bwMode="auto">
            <a:xfrm>
              <a:off x="7298358" y="392907"/>
              <a:ext cx="1327150" cy="457200"/>
            </a:xfrm>
            <a:prstGeom prst="rect">
              <a:avLst/>
            </a:prstGeom>
            <a:noFill/>
            <a:ln w="9525">
              <a:noFill/>
              <a:miter lim="800000"/>
              <a:headEnd/>
              <a:tailEnd/>
            </a:ln>
          </p:spPr>
          <p:txBody>
            <a:bodyPr wrap="none">
              <a:spAutoFit/>
            </a:bodyPr>
            <a:lstStyle/>
            <a:p>
              <a:r>
                <a:rPr lang="en-GB" sz="2400" b="1"/>
                <a:t>The Eye</a:t>
              </a:r>
            </a:p>
          </p:txBody>
        </p:sp>
        <p:pic>
          <p:nvPicPr>
            <p:cNvPr id="35" name="Picture 34"/>
            <p:cNvPicPr>
              <a:picLocks noChangeAspect="1"/>
            </p:cNvPicPr>
            <p:nvPr/>
          </p:nvPicPr>
          <p:blipFill>
            <a:blip r:embed="rId2"/>
            <a:stretch>
              <a:fillRect/>
            </a:stretch>
          </p:blipFill>
          <p:spPr>
            <a:xfrm>
              <a:off x="6871320" y="404813"/>
              <a:ext cx="1514475" cy="733425"/>
            </a:xfrm>
            <a:prstGeom prst="rect">
              <a:avLst/>
            </a:prstGeom>
            <a:ln>
              <a:noFill/>
            </a:ln>
          </p:spPr>
        </p:pic>
        <p:pic>
          <p:nvPicPr>
            <p:cNvPr id="36" name="Picture 35"/>
            <p:cNvPicPr>
              <a:picLocks noChangeAspect="1"/>
            </p:cNvPicPr>
            <p:nvPr/>
          </p:nvPicPr>
          <p:blipFill>
            <a:blip r:embed="rId2"/>
            <a:stretch>
              <a:fillRect/>
            </a:stretch>
          </p:blipFill>
          <p:spPr>
            <a:xfrm rot="5400000">
              <a:off x="7971457" y="783432"/>
              <a:ext cx="1514475" cy="733425"/>
            </a:xfrm>
            <a:prstGeom prst="rect">
              <a:avLst/>
            </a:prstGeom>
            <a:ln>
              <a:noFill/>
            </a:ln>
          </p:spPr>
        </p:pic>
        <p:pic>
          <p:nvPicPr>
            <p:cNvPr id="37" name="Picture 36"/>
            <p:cNvPicPr>
              <a:picLocks noChangeAspect="1"/>
            </p:cNvPicPr>
            <p:nvPr/>
          </p:nvPicPr>
          <p:blipFill>
            <a:blip r:embed="rId2"/>
            <a:stretch>
              <a:fillRect/>
            </a:stretch>
          </p:blipFill>
          <p:spPr>
            <a:xfrm rot="10800000">
              <a:off x="6871319" y="1162050"/>
              <a:ext cx="1514475" cy="733425"/>
            </a:xfrm>
            <a:prstGeom prst="rect">
              <a:avLst/>
            </a:prstGeom>
            <a:ln>
              <a:noFill/>
            </a:ln>
          </p:spPr>
        </p:pic>
        <p:grpSp>
          <p:nvGrpSpPr>
            <p:cNvPr id="38" name="Group 37"/>
            <p:cNvGrpSpPr/>
            <p:nvPr/>
          </p:nvGrpSpPr>
          <p:grpSpPr>
            <a:xfrm rot="10800000">
              <a:off x="6871320" y="1895475"/>
              <a:ext cx="2247901" cy="1514475"/>
              <a:chOff x="0" y="3587580"/>
              <a:chExt cx="2247901" cy="1514475"/>
            </a:xfrm>
          </p:grpSpPr>
          <p:pic>
            <p:nvPicPr>
              <p:cNvPr id="39" name="Picture 38"/>
              <p:cNvPicPr>
                <a:picLocks noChangeAspect="1"/>
              </p:cNvPicPr>
              <p:nvPr/>
            </p:nvPicPr>
            <p:blipFill>
              <a:blip r:embed="rId2"/>
              <a:stretch>
                <a:fillRect/>
              </a:stretch>
            </p:blipFill>
            <p:spPr>
              <a:xfrm>
                <a:off x="1" y="3587580"/>
                <a:ext cx="1514475" cy="733425"/>
              </a:xfrm>
              <a:prstGeom prst="rect">
                <a:avLst/>
              </a:prstGeom>
              <a:ln>
                <a:noFill/>
              </a:ln>
            </p:spPr>
          </p:pic>
          <p:pic>
            <p:nvPicPr>
              <p:cNvPr id="40" name="Picture 39"/>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41" name="Picture 40"/>
              <p:cNvPicPr>
                <a:picLocks noChangeAspect="1"/>
              </p:cNvPicPr>
              <p:nvPr/>
            </p:nvPicPr>
            <p:blipFill>
              <a:blip r:embed="rId2"/>
              <a:stretch>
                <a:fillRect/>
              </a:stretch>
            </p:blipFill>
            <p:spPr>
              <a:xfrm rot="10800000">
                <a:off x="0" y="4344817"/>
                <a:ext cx="1514475" cy="733425"/>
              </a:xfrm>
              <a:prstGeom prst="rect">
                <a:avLst/>
              </a:prstGeom>
              <a:ln>
                <a:noFill/>
              </a:ln>
            </p:spPr>
          </p:pic>
        </p:grpSp>
        <p:pic>
          <p:nvPicPr>
            <p:cNvPr id="42" name="Picture 41"/>
            <p:cNvPicPr>
              <a:picLocks noChangeAspect="1"/>
            </p:cNvPicPr>
            <p:nvPr/>
          </p:nvPicPr>
          <p:blipFill>
            <a:blip r:embed="rId2"/>
            <a:stretch>
              <a:fillRect/>
            </a:stretch>
          </p:blipFill>
          <p:spPr>
            <a:xfrm>
              <a:off x="6871321" y="3433762"/>
              <a:ext cx="1514475" cy="733425"/>
            </a:xfrm>
            <a:prstGeom prst="rect">
              <a:avLst/>
            </a:prstGeom>
            <a:ln>
              <a:noFill/>
            </a:ln>
          </p:spPr>
        </p:pic>
        <p:pic>
          <p:nvPicPr>
            <p:cNvPr id="43" name="Picture 42"/>
            <p:cNvPicPr>
              <a:picLocks noChangeAspect="1"/>
            </p:cNvPicPr>
            <p:nvPr/>
          </p:nvPicPr>
          <p:blipFill>
            <a:blip r:embed="rId2"/>
            <a:stretch>
              <a:fillRect/>
            </a:stretch>
          </p:blipFill>
          <p:spPr>
            <a:xfrm rot="5400000">
              <a:off x="7995271" y="3824287"/>
              <a:ext cx="1514475" cy="733425"/>
            </a:xfrm>
            <a:prstGeom prst="rect">
              <a:avLst/>
            </a:prstGeom>
            <a:ln>
              <a:noFill/>
            </a:ln>
          </p:spPr>
        </p:pic>
        <p:pic>
          <p:nvPicPr>
            <p:cNvPr id="44" name="Picture 43"/>
            <p:cNvPicPr>
              <a:picLocks noChangeAspect="1"/>
            </p:cNvPicPr>
            <p:nvPr/>
          </p:nvPicPr>
          <p:blipFill>
            <a:blip r:embed="rId2"/>
            <a:stretch>
              <a:fillRect/>
            </a:stretch>
          </p:blipFill>
          <p:spPr>
            <a:xfrm rot="10800000">
              <a:off x="6871320" y="4190999"/>
              <a:ext cx="1514475" cy="733425"/>
            </a:xfrm>
            <a:prstGeom prst="rect">
              <a:avLst/>
            </a:prstGeom>
            <a:ln>
              <a:noFill/>
            </a:ln>
          </p:spPr>
        </p:pic>
        <p:grpSp>
          <p:nvGrpSpPr>
            <p:cNvPr id="45" name="Group 44"/>
            <p:cNvGrpSpPr/>
            <p:nvPr/>
          </p:nvGrpSpPr>
          <p:grpSpPr>
            <a:xfrm rot="10800000">
              <a:off x="6896099" y="4972049"/>
              <a:ext cx="2247901" cy="1514475"/>
              <a:chOff x="0" y="3587580"/>
              <a:chExt cx="2247901" cy="1514475"/>
            </a:xfrm>
          </p:grpSpPr>
          <p:pic>
            <p:nvPicPr>
              <p:cNvPr id="46" name="Picture 45"/>
              <p:cNvPicPr>
                <a:picLocks noChangeAspect="1"/>
              </p:cNvPicPr>
              <p:nvPr/>
            </p:nvPicPr>
            <p:blipFill>
              <a:blip r:embed="rId2"/>
              <a:stretch>
                <a:fillRect/>
              </a:stretch>
            </p:blipFill>
            <p:spPr>
              <a:xfrm>
                <a:off x="1" y="3587580"/>
                <a:ext cx="1514475" cy="733425"/>
              </a:xfrm>
              <a:prstGeom prst="rect">
                <a:avLst/>
              </a:prstGeom>
              <a:ln>
                <a:noFill/>
              </a:ln>
            </p:spPr>
          </p:pic>
          <p:pic>
            <p:nvPicPr>
              <p:cNvPr id="47" name="Picture 46"/>
              <p:cNvPicPr>
                <a:picLocks noChangeAspect="1"/>
              </p:cNvPicPr>
              <p:nvPr/>
            </p:nvPicPr>
            <p:blipFill>
              <a:blip r:embed="rId2"/>
              <a:stretch>
                <a:fillRect/>
              </a:stretch>
            </p:blipFill>
            <p:spPr>
              <a:xfrm rot="5400000">
                <a:off x="1123951" y="3978105"/>
                <a:ext cx="1514475" cy="733425"/>
              </a:xfrm>
              <a:prstGeom prst="rect">
                <a:avLst/>
              </a:prstGeom>
              <a:ln>
                <a:noFill/>
              </a:ln>
            </p:spPr>
          </p:pic>
          <p:pic>
            <p:nvPicPr>
              <p:cNvPr id="48" name="Picture 47"/>
              <p:cNvPicPr>
                <a:picLocks noChangeAspect="1"/>
              </p:cNvPicPr>
              <p:nvPr/>
            </p:nvPicPr>
            <p:blipFill>
              <a:blip r:embed="rId2"/>
              <a:stretch>
                <a:fillRect/>
              </a:stretch>
            </p:blipFill>
            <p:spPr>
              <a:xfrm rot="10800000">
                <a:off x="0" y="4344817"/>
                <a:ext cx="1514475" cy="733425"/>
              </a:xfrm>
              <a:prstGeom prst="rect">
                <a:avLst/>
              </a:prstGeom>
              <a:ln>
                <a:noFill/>
              </a:ln>
            </p:spPr>
          </p:pic>
        </p:grpSp>
        <p:pic>
          <p:nvPicPr>
            <p:cNvPr id="49" name="Picture 48"/>
            <p:cNvPicPr>
              <a:picLocks noChangeAspect="1"/>
            </p:cNvPicPr>
            <p:nvPr/>
          </p:nvPicPr>
          <p:blipFill>
            <a:blip r:embed="rId2"/>
            <a:stretch>
              <a:fillRect/>
            </a:stretch>
          </p:blipFill>
          <p:spPr>
            <a:xfrm>
              <a:off x="2234672" y="404813"/>
              <a:ext cx="1514475" cy="733425"/>
            </a:xfrm>
            <a:prstGeom prst="rect">
              <a:avLst/>
            </a:prstGeom>
            <a:ln>
              <a:noFill/>
            </a:ln>
          </p:spPr>
        </p:pic>
        <p:pic>
          <p:nvPicPr>
            <p:cNvPr id="50" name="Picture 49"/>
            <p:cNvPicPr>
              <a:picLocks noChangeAspect="1"/>
            </p:cNvPicPr>
            <p:nvPr/>
          </p:nvPicPr>
          <p:blipFill>
            <a:blip r:embed="rId2"/>
            <a:stretch>
              <a:fillRect/>
            </a:stretch>
          </p:blipFill>
          <p:spPr>
            <a:xfrm>
              <a:off x="3778559" y="381000"/>
              <a:ext cx="1514475" cy="733425"/>
            </a:xfrm>
            <a:prstGeom prst="rect">
              <a:avLst/>
            </a:prstGeom>
            <a:ln>
              <a:noFill/>
            </a:ln>
          </p:spPr>
        </p:pic>
        <p:pic>
          <p:nvPicPr>
            <p:cNvPr id="51" name="Picture 50"/>
            <p:cNvPicPr>
              <a:picLocks noChangeAspect="1"/>
            </p:cNvPicPr>
            <p:nvPr/>
          </p:nvPicPr>
          <p:blipFill>
            <a:blip r:embed="rId2"/>
            <a:stretch>
              <a:fillRect/>
            </a:stretch>
          </p:blipFill>
          <p:spPr>
            <a:xfrm>
              <a:off x="5308941" y="381000"/>
              <a:ext cx="1514475" cy="733425"/>
            </a:xfrm>
            <a:prstGeom prst="rect">
              <a:avLst/>
            </a:prstGeom>
            <a:ln>
              <a:noFill/>
            </a:ln>
          </p:spPr>
        </p:pic>
        <p:pic>
          <p:nvPicPr>
            <p:cNvPr id="52" name="Picture 51"/>
            <p:cNvPicPr>
              <a:picLocks noChangeAspect="1"/>
            </p:cNvPicPr>
            <p:nvPr/>
          </p:nvPicPr>
          <p:blipFill>
            <a:blip r:embed="rId2"/>
            <a:stretch>
              <a:fillRect/>
            </a:stretch>
          </p:blipFill>
          <p:spPr>
            <a:xfrm>
              <a:off x="2264084" y="5713652"/>
              <a:ext cx="1514475" cy="733425"/>
            </a:xfrm>
            <a:prstGeom prst="rect">
              <a:avLst/>
            </a:prstGeom>
            <a:ln>
              <a:noFill/>
            </a:ln>
          </p:spPr>
        </p:pic>
        <p:pic>
          <p:nvPicPr>
            <p:cNvPr id="53" name="Picture 52"/>
            <p:cNvPicPr>
              <a:picLocks noChangeAspect="1"/>
            </p:cNvPicPr>
            <p:nvPr/>
          </p:nvPicPr>
          <p:blipFill>
            <a:blip r:embed="rId2"/>
            <a:stretch>
              <a:fillRect/>
            </a:stretch>
          </p:blipFill>
          <p:spPr>
            <a:xfrm>
              <a:off x="3814804" y="5713651"/>
              <a:ext cx="1514475" cy="733425"/>
            </a:xfrm>
            <a:prstGeom prst="rect">
              <a:avLst/>
            </a:prstGeom>
            <a:ln>
              <a:noFill/>
            </a:ln>
          </p:spPr>
        </p:pic>
        <p:pic>
          <p:nvPicPr>
            <p:cNvPr id="55" name="Picture 54"/>
            <p:cNvPicPr>
              <a:picLocks noChangeAspect="1"/>
            </p:cNvPicPr>
            <p:nvPr/>
          </p:nvPicPr>
          <p:blipFill>
            <a:blip r:embed="rId2"/>
            <a:stretch>
              <a:fillRect/>
            </a:stretch>
          </p:blipFill>
          <p:spPr>
            <a:xfrm>
              <a:off x="5316490" y="5729286"/>
              <a:ext cx="1514475" cy="733425"/>
            </a:xfrm>
            <a:prstGeom prst="rect">
              <a:avLst/>
            </a:prstGeom>
            <a:ln>
              <a:noFill/>
            </a:ln>
          </p:spPr>
        </p:pic>
      </p:grpSp>
      <p:pic>
        <p:nvPicPr>
          <p:cNvPr id="3" name="Picture 2"/>
          <p:cNvPicPr>
            <a:picLocks noChangeAspect="1"/>
          </p:cNvPicPr>
          <p:nvPr/>
        </p:nvPicPr>
        <p:blipFill>
          <a:blip r:embed="rId3"/>
          <a:stretch>
            <a:fillRect/>
          </a:stretch>
        </p:blipFill>
        <p:spPr>
          <a:xfrm>
            <a:off x="384699" y="425008"/>
            <a:ext cx="7391373" cy="5351751"/>
          </a:xfrm>
          <a:prstGeom prst="rect">
            <a:avLst/>
          </a:prstGeom>
        </p:spPr>
      </p:pic>
      <p:sp>
        <p:nvSpPr>
          <p:cNvPr id="57" name="Rectangle 56"/>
          <p:cNvSpPr/>
          <p:nvPr/>
        </p:nvSpPr>
        <p:spPr>
          <a:xfrm>
            <a:off x="395288" y="331788"/>
            <a:ext cx="1338828" cy="461665"/>
          </a:xfrm>
          <a:prstGeom prst="rect">
            <a:avLst/>
          </a:prstGeom>
        </p:spPr>
        <p:txBody>
          <a:bodyPr wrap="none">
            <a:spAutoFit/>
          </a:bodyPr>
          <a:lstStyle/>
          <a:p>
            <a:pPr lvl="0"/>
            <a:r>
              <a:rPr lang="en-GB" sz="2400" b="1" dirty="0">
                <a:solidFill>
                  <a:srgbClr val="000000"/>
                </a:solidFill>
              </a:rPr>
              <a:t>The Eye</a:t>
            </a:r>
          </a:p>
        </p:txBody>
      </p:sp>
    </p:spTree>
    <p:extLst>
      <p:ext uri="{BB962C8B-B14F-4D97-AF65-F5344CB8AC3E}">
        <p14:creationId xmlns:p14="http://schemas.microsoft.com/office/powerpoint/2010/main" val="2945070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31800" y="3158066"/>
            <a:ext cx="4775905" cy="3338159"/>
          </a:xfrm>
          <a:prstGeom prst="rect">
            <a:avLst/>
          </a:prstGeom>
        </p:spPr>
      </p:pic>
      <p:sp>
        <p:nvSpPr>
          <p:cNvPr id="8" name="Rectangle 3"/>
          <p:cNvSpPr>
            <a:spLocks noChangeArrowheads="1"/>
          </p:cNvSpPr>
          <p:nvPr/>
        </p:nvSpPr>
        <p:spPr bwMode="auto">
          <a:xfrm>
            <a:off x="431800" y="333375"/>
            <a:ext cx="2295821" cy="738664"/>
          </a:xfrm>
          <a:prstGeom prst="rect">
            <a:avLst/>
          </a:prstGeom>
          <a:noFill/>
          <a:ln w="9525">
            <a:noFill/>
            <a:miter lim="800000"/>
            <a:headEnd/>
            <a:tailEnd/>
          </a:ln>
        </p:spPr>
        <p:txBody>
          <a:bodyPr wrap="none">
            <a:spAutoFit/>
          </a:bodyPr>
          <a:lstStyle/>
          <a:p>
            <a:r>
              <a:rPr lang="en-GB" sz="2400" b="1"/>
              <a:t>Receptors</a:t>
            </a:r>
          </a:p>
          <a:p>
            <a:r>
              <a:rPr lang="en-GB"/>
              <a:t>… Rods and Cones</a:t>
            </a:r>
          </a:p>
        </p:txBody>
      </p:sp>
      <p:pic>
        <p:nvPicPr>
          <p:cNvPr id="28676" name="Picture 4" descr="Image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6406" y="333375"/>
            <a:ext cx="4286250" cy="3543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2502494"/>
            <a:ext cx="2620964" cy="507831"/>
          </a:xfrm>
          <a:prstGeom prst="rect">
            <a:avLst/>
          </a:prstGeom>
          <a:solidFill>
            <a:srgbClr val="CCCCFF"/>
          </a:solidFill>
        </p:spPr>
        <p:txBody>
          <a:bodyPr wrap="square">
            <a:spAutoFit/>
          </a:bodyPr>
          <a:lstStyle/>
          <a:p>
            <a:r>
              <a:rPr lang="en-GB" sz="900"/>
              <a:t>http://www.cellsignallingbiology.org/csb/010/csb010fig10_rod_and_cone_structure.htm</a:t>
            </a:r>
          </a:p>
        </p:txBody>
      </p:sp>
    </p:spTree>
    <p:extLst>
      <p:ext uri="{BB962C8B-B14F-4D97-AF65-F5344CB8AC3E}">
        <p14:creationId xmlns:p14="http://schemas.microsoft.com/office/powerpoint/2010/main" val="1713760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1000" y="333375"/>
            <a:ext cx="6268063" cy="461665"/>
          </a:xfrm>
          <a:prstGeom prst="rect">
            <a:avLst/>
          </a:prstGeom>
          <a:noFill/>
          <a:ln w="9525">
            <a:noFill/>
            <a:miter lim="800000"/>
            <a:headEnd/>
            <a:tailEnd/>
          </a:ln>
        </p:spPr>
        <p:txBody>
          <a:bodyPr wrap="none">
            <a:spAutoFit/>
          </a:bodyPr>
          <a:lstStyle/>
          <a:p>
            <a:r>
              <a:rPr lang="en-GB" sz="2400" b="1" dirty="0" err="1"/>
              <a:t>Psychovisual</a:t>
            </a:r>
            <a:r>
              <a:rPr lang="en-GB" sz="2400" b="1" dirty="0"/>
              <a:t> – how we perceive images</a:t>
            </a:r>
          </a:p>
        </p:txBody>
      </p:sp>
      <p:sp>
        <p:nvSpPr>
          <p:cNvPr id="13" name="Oval 17"/>
          <p:cNvSpPr>
            <a:spLocks noChangeArrowheads="1"/>
          </p:cNvSpPr>
          <p:nvPr/>
        </p:nvSpPr>
        <p:spPr bwMode="auto">
          <a:xfrm>
            <a:off x="6353745" y="1007534"/>
            <a:ext cx="1714988" cy="1507067"/>
          </a:xfrm>
          <a:prstGeom prst="ellipse">
            <a:avLst/>
          </a:prstGeom>
          <a:gradFill rotWithShape="1">
            <a:gsLst>
              <a:gs pos="0">
                <a:schemeClr val="tx1"/>
              </a:gs>
              <a:gs pos="100000">
                <a:srgbClr val="FFFFFF"/>
              </a:gs>
            </a:gsLst>
            <a:lin ang="0" scaled="1"/>
          </a:gradFill>
          <a:ln w="9525" algn="ctr">
            <a:solidFill>
              <a:schemeClr val="tx1"/>
            </a:solidFill>
            <a:round/>
            <a:headEnd/>
            <a:tailEnd/>
          </a:ln>
        </p:spPr>
        <p:txBody>
          <a:bodyPr wrap="square" anchor="ctr">
            <a:noAutofit/>
          </a:bodyPr>
          <a:lstStyle/>
          <a:p>
            <a:endParaRPr lang="en-US"/>
          </a:p>
        </p:txBody>
      </p:sp>
      <p:pic>
        <p:nvPicPr>
          <p:cNvPr id="14" name="Picture 16"/>
          <p:cNvPicPr>
            <a:picLocks noChangeAspect="1" noChangeArrowheads="1"/>
          </p:cNvPicPr>
          <p:nvPr/>
        </p:nvPicPr>
        <p:blipFill>
          <a:blip r:embed="rId2" cstate="print"/>
          <a:srcRect/>
          <a:stretch>
            <a:fillRect/>
          </a:stretch>
        </p:blipFill>
        <p:spPr bwMode="auto">
          <a:xfrm>
            <a:off x="5700137" y="2548467"/>
            <a:ext cx="2935334" cy="1875228"/>
          </a:xfrm>
          <a:prstGeom prst="rect">
            <a:avLst/>
          </a:prstGeom>
          <a:noFill/>
          <a:ln w="9525" algn="ctr">
            <a:noFill/>
            <a:miter lim="800000"/>
            <a:headEnd/>
            <a:tailEnd/>
          </a:ln>
        </p:spPr>
      </p:pic>
      <p:sp>
        <p:nvSpPr>
          <p:cNvPr id="15" name="Rectangle 2"/>
          <p:cNvSpPr>
            <a:spLocks noChangeArrowheads="1"/>
          </p:cNvSpPr>
          <p:nvPr/>
        </p:nvSpPr>
        <p:spPr bwMode="auto">
          <a:xfrm>
            <a:off x="381000" y="880400"/>
            <a:ext cx="5141288" cy="2636106"/>
          </a:xfrm>
          <a:prstGeom prst="rect">
            <a:avLst/>
          </a:prstGeom>
          <a:noFill/>
          <a:ln w="9525" algn="ctr">
            <a:noFill/>
            <a:miter lim="800000"/>
            <a:headEnd/>
            <a:tailEnd/>
          </a:ln>
        </p:spPr>
        <p:txBody>
          <a:bodyPr wrap="square">
            <a:spAutoFit/>
          </a:bodyPr>
          <a:lstStyle/>
          <a:p>
            <a:pPr marL="174625" indent="-174625">
              <a:lnSpc>
                <a:spcPct val="130000"/>
              </a:lnSpc>
            </a:pPr>
            <a:r>
              <a:rPr lang="en-GB" b="1" dirty="0"/>
              <a:t>Light sensitivity in the eye</a:t>
            </a:r>
          </a:p>
          <a:p>
            <a:pPr marL="174625" indent="-174625">
              <a:lnSpc>
                <a:spcPct val="130000"/>
              </a:lnSpc>
            </a:pPr>
            <a:endParaRPr lang="en-GB" sz="900" b="1" dirty="0"/>
          </a:p>
          <a:p>
            <a:pPr marL="174625" indent="-174625">
              <a:lnSpc>
                <a:spcPct val="130000"/>
              </a:lnSpc>
            </a:pPr>
            <a:r>
              <a:rPr lang="en-GB" b="1" dirty="0"/>
              <a:t>Rods - </a:t>
            </a:r>
            <a:r>
              <a:rPr lang="en-GB" dirty="0"/>
              <a:t>light intensity - not colour</a:t>
            </a:r>
          </a:p>
          <a:p>
            <a:pPr marL="174625" indent="-174625">
              <a:lnSpc>
                <a:spcPct val="130000"/>
              </a:lnSpc>
              <a:buFontTx/>
              <a:buChar char="•"/>
            </a:pPr>
            <a:r>
              <a:rPr lang="en-GB" dirty="0"/>
              <a:t>~125 million across the retina</a:t>
            </a:r>
          </a:p>
          <a:p>
            <a:pPr marL="174625" indent="-174625">
              <a:lnSpc>
                <a:spcPct val="130000"/>
              </a:lnSpc>
              <a:buFontTx/>
              <a:buChar char="•"/>
            </a:pPr>
            <a:r>
              <a:rPr lang="en-GB" dirty="0"/>
              <a:t>characteristics of high speed black &amp; white film</a:t>
            </a:r>
          </a:p>
          <a:p>
            <a:pPr marL="174625" indent="-174625"/>
            <a:endParaRPr lang="en-GB" b="1" dirty="0"/>
          </a:p>
          <a:p>
            <a:pPr marL="174625" indent="-174625"/>
            <a:r>
              <a:rPr lang="en-GB" b="1" dirty="0"/>
              <a:t>Cones - </a:t>
            </a:r>
            <a:r>
              <a:rPr lang="en-GB" dirty="0"/>
              <a:t>colour - responsive in three wavebands</a:t>
            </a:r>
          </a:p>
          <a:p>
            <a:pPr marL="174625" indent="-174625">
              <a:lnSpc>
                <a:spcPct val="120000"/>
              </a:lnSpc>
              <a:buFontTx/>
              <a:buChar char="•"/>
            </a:pPr>
            <a:r>
              <a:rPr lang="en-GB" dirty="0"/>
              <a:t>6 or 7 million cones</a:t>
            </a:r>
          </a:p>
          <a:p>
            <a:pPr marL="174625" indent="-174625">
              <a:lnSpc>
                <a:spcPct val="120000"/>
              </a:lnSpc>
              <a:buFontTx/>
              <a:buChar char="•"/>
            </a:pPr>
            <a:r>
              <a:rPr lang="en-GB" dirty="0"/>
              <a:t>characteristics of low-speed colour film</a:t>
            </a:r>
            <a:endParaRPr lang="en-GB" sz="1800" dirty="0"/>
          </a:p>
        </p:txBody>
      </p:sp>
      <p:grpSp>
        <p:nvGrpSpPr>
          <p:cNvPr id="32" name="Group 31"/>
          <p:cNvGrpSpPr/>
          <p:nvPr/>
        </p:nvGrpSpPr>
        <p:grpSpPr>
          <a:xfrm>
            <a:off x="381000" y="4099511"/>
            <a:ext cx="4354781" cy="2268664"/>
            <a:chOff x="1295896" y="2694043"/>
            <a:chExt cx="4354781" cy="2268664"/>
          </a:xfrm>
        </p:grpSpPr>
        <p:grpSp>
          <p:nvGrpSpPr>
            <p:cNvPr id="3" name="Group 3"/>
            <p:cNvGrpSpPr>
              <a:grpSpLocks/>
            </p:cNvGrpSpPr>
            <p:nvPr/>
          </p:nvGrpSpPr>
          <p:grpSpPr bwMode="auto">
            <a:xfrm>
              <a:off x="1295896" y="2694043"/>
              <a:ext cx="2859215" cy="2268664"/>
              <a:chOff x="1310" y="787"/>
              <a:chExt cx="3854" cy="3121"/>
            </a:xfrm>
          </p:grpSpPr>
          <p:pic>
            <p:nvPicPr>
              <p:cNvPr id="4" name="Picture 4"/>
              <p:cNvPicPr>
                <a:picLocks noChangeAspect="1" noChangeArrowheads="1"/>
              </p:cNvPicPr>
              <p:nvPr/>
            </p:nvPicPr>
            <p:blipFill>
              <a:blip r:embed="rId3" cstate="print"/>
              <a:srcRect/>
              <a:stretch>
                <a:fillRect/>
              </a:stretch>
            </p:blipFill>
            <p:spPr bwMode="auto">
              <a:xfrm>
                <a:off x="1352" y="787"/>
                <a:ext cx="3736" cy="3121"/>
              </a:xfrm>
              <a:prstGeom prst="rect">
                <a:avLst/>
              </a:prstGeom>
              <a:noFill/>
              <a:ln w="9525">
                <a:noFill/>
                <a:miter lim="800000"/>
                <a:headEnd/>
                <a:tailEnd/>
              </a:ln>
            </p:spPr>
          </p:pic>
          <p:sp>
            <p:nvSpPr>
              <p:cNvPr id="5" name="Rectangle 5"/>
              <p:cNvSpPr>
                <a:spLocks noChangeArrowheads="1"/>
              </p:cNvSpPr>
              <p:nvPr/>
            </p:nvSpPr>
            <p:spPr bwMode="auto">
              <a:xfrm>
                <a:off x="1324" y="1824"/>
                <a:ext cx="439" cy="185"/>
              </a:xfrm>
              <a:prstGeom prst="rect">
                <a:avLst/>
              </a:prstGeom>
              <a:noFill/>
              <a:ln w="19050" algn="ctr">
                <a:solidFill>
                  <a:srgbClr val="FF0000"/>
                </a:solidFill>
                <a:miter lim="800000"/>
                <a:headEnd/>
                <a:tailEnd/>
              </a:ln>
            </p:spPr>
            <p:txBody>
              <a:bodyPr wrap="none" anchor="ctr"/>
              <a:lstStyle/>
              <a:p>
                <a:endParaRPr lang="en-US"/>
              </a:p>
            </p:txBody>
          </p:sp>
          <p:sp>
            <p:nvSpPr>
              <p:cNvPr id="6" name="Rectangle 6"/>
              <p:cNvSpPr>
                <a:spLocks noChangeArrowheads="1"/>
              </p:cNvSpPr>
              <p:nvPr/>
            </p:nvSpPr>
            <p:spPr bwMode="auto">
              <a:xfrm>
                <a:off x="1310" y="2057"/>
                <a:ext cx="336" cy="185"/>
              </a:xfrm>
              <a:prstGeom prst="rect">
                <a:avLst/>
              </a:prstGeom>
              <a:noFill/>
              <a:ln w="19050" algn="ctr">
                <a:solidFill>
                  <a:srgbClr val="FF0000"/>
                </a:solidFill>
                <a:miter lim="800000"/>
                <a:headEnd/>
                <a:tailEnd/>
              </a:ln>
            </p:spPr>
            <p:txBody>
              <a:bodyPr wrap="none" anchor="ctr"/>
              <a:lstStyle/>
              <a:p>
                <a:endParaRPr lang="en-US"/>
              </a:p>
            </p:txBody>
          </p:sp>
          <p:sp>
            <p:nvSpPr>
              <p:cNvPr id="7" name="Rectangle 7"/>
              <p:cNvSpPr>
                <a:spLocks noChangeArrowheads="1"/>
              </p:cNvSpPr>
              <p:nvPr/>
            </p:nvSpPr>
            <p:spPr bwMode="auto">
              <a:xfrm>
                <a:off x="1317" y="2393"/>
                <a:ext cx="336" cy="185"/>
              </a:xfrm>
              <a:prstGeom prst="rect">
                <a:avLst/>
              </a:prstGeom>
              <a:noFill/>
              <a:ln w="19050" algn="ctr">
                <a:solidFill>
                  <a:srgbClr val="FF0000"/>
                </a:solidFill>
                <a:miter lim="800000"/>
                <a:headEnd/>
                <a:tailEnd/>
              </a:ln>
            </p:spPr>
            <p:txBody>
              <a:bodyPr wrap="none" anchor="ctr"/>
              <a:lstStyle/>
              <a:p>
                <a:endParaRPr lang="en-US"/>
              </a:p>
            </p:txBody>
          </p:sp>
          <p:sp>
            <p:nvSpPr>
              <p:cNvPr id="8" name="Rectangle 8"/>
              <p:cNvSpPr>
                <a:spLocks noChangeArrowheads="1"/>
              </p:cNvSpPr>
              <p:nvPr/>
            </p:nvSpPr>
            <p:spPr bwMode="auto">
              <a:xfrm>
                <a:off x="1317" y="2646"/>
                <a:ext cx="199" cy="185"/>
              </a:xfrm>
              <a:prstGeom prst="rect">
                <a:avLst/>
              </a:prstGeom>
              <a:noFill/>
              <a:ln w="19050" algn="ctr">
                <a:solidFill>
                  <a:srgbClr val="FF0000"/>
                </a:solidFill>
                <a:miter lim="800000"/>
                <a:headEnd/>
                <a:tailEnd/>
              </a:ln>
            </p:spPr>
            <p:txBody>
              <a:bodyPr wrap="none" anchor="ctr"/>
              <a:lstStyle/>
              <a:p>
                <a:endParaRPr lang="en-US"/>
              </a:p>
            </p:txBody>
          </p:sp>
          <p:sp>
            <p:nvSpPr>
              <p:cNvPr id="9" name="Rectangle 9"/>
              <p:cNvSpPr>
                <a:spLocks noChangeArrowheads="1"/>
              </p:cNvSpPr>
              <p:nvPr/>
            </p:nvSpPr>
            <p:spPr bwMode="auto">
              <a:xfrm>
                <a:off x="4718" y="3263"/>
                <a:ext cx="405" cy="281"/>
              </a:xfrm>
              <a:prstGeom prst="rect">
                <a:avLst/>
              </a:prstGeom>
              <a:noFill/>
              <a:ln w="19050" algn="ctr">
                <a:solidFill>
                  <a:srgbClr val="FF0000"/>
                </a:solidFill>
                <a:miter lim="800000"/>
                <a:headEnd/>
                <a:tailEnd/>
              </a:ln>
            </p:spPr>
            <p:txBody>
              <a:bodyPr wrap="none" anchor="ctr"/>
              <a:lstStyle/>
              <a:p>
                <a:endParaRPr lang="en-US"/>
              </a:p>
            </p:txBody>
          </p:sp>
          <p:sp>
            <p:nvSpPr>
              <p:cNvPr id="10" name="Rectangle 10"/>
              <p:cNvSpPr>
                <a:spLocks noChangeArrowheads="1"/>
              </p:cNvSpPr>
              <p:nvPr/>
            </p:nvSpPr>
            <p:spPr bwMode="auto">
              <a:xfrm>
                <a:off x="3510" y="1981"/>
                <a:ext cx="405" cy="199"/>
              </a:xfrm>
              <a:prstGeom prst="rect">
                <a:avLst/>
              </a:prstGeom>
              <a:noFill/>
              <a:ln w="19050" algn="ctr">
                <a:solidFill>
                  <a:srgbClr val="FF0000"/>
                </a:solidFill>
                <a:miter lim="800000"/>
                <a:headEnd/>
                <a:tailEnd/>
              </a:ln>
            </p:spPr>
            <p:txBody>
              <a:bodyPr wrap="none" anchor="ctr"/>
              <a:lstStyle/>
              <a:p>
                <a:endParaRPr lang="en-US"/>
              </a:p>
            </p:txBody>
          </p:sp>
          <p:sp>
            <p:nvSpPr>
              <p:cNvPr id="11" name="Rectangle 11"/>
              <p:cNvSpPr>
                <a:spLocks noChangeArrowheads="1"/>
              </p:cNvSpPr>
              <p:nvPr/>
            </p:nvSpPr>
            <p:spPr bwMode="auto">
              <a:xfrm>
                <a:off x="4690" y="1446"/>
                <a:ext cx="474" cy="199"/>
              </a:xfrm>
              <a:prstGeom prst="rect">
                <a:avLst/>
              </a:prstGeom>
              <a:noFill/>
              <a:ln w="19050" algn="ctr">
                <a:solidFill>
                  <a:srgbClr val="FF0000"/>
                </a:solidFill>
                <a:miter lim="800000"/>
                <a:headEnd/>
                <a:tailEnd/>
              </a:ln>
            </p:spPr>
            <p:txBody>
              <a:bodyPr wrap="none" anchor="ctr"/>
              <a:lstStyle/>
              <a:p>
                <a:endParaRPr lang="en-US"/>
              </a:p>
            </p:txBody>
          </p:sp>
          <p:sp>
            <p:nvSpPr>
              <p:cNvPr id="12" name="Rectangle 12"/>
              <p:cNvSpPr>
                <a:spLocks noChangeArrowheads="1"/>
              </p:cNvSpPr>
              <p:nvPr/>
            </p:nvSpPr>
            <p:spPr bwMode="auto">
              <a:xfrm>
                <a:off x="4635" y="1830"/>
                <a:ext cx="474" cy="199"/>
              </a:xfrm>
              <a:prstGeom prst="rect">
                <a:avLst/>
              </a:prstGeom>
              <a:noFill/>
              <a:ln w="19050" algn="ctr">
                <a:solidFill>
                  <a:srgbClr val="FF0000"/>
                </a:solidFill>
                <a:miter lim="800000"/>
                <a:headEnd/>
                <a:tailEnd/>
              </a:ln>
            </p:spPr>
            <p:txBody>
              <a:bodyPr wrap="none" anchor="ctr"/>
              <a:lstStyle/>
              <a:p>
                <a:endParaRPr lang="en-US"/>
              </a:p>
            </p:txBody>
          </p:sp>
        </p:grpSp>
        <p:sp>
          <p:nvSpPr>
            <p:cNvPr id="17" name="Freeform 16"/>
            <p:cNvSpPr/>
            <p:nvPr/>
          </p:nvSpPr>
          <p:spPr bwMode="auto">
            <a:xfrm>
              <a:off x="2889504" y="3008376"/>
              <a:ext cx="690587" cy="1700784"/>
            </a:xfrm>
            <a:custGeom>
              <a:avLst/>
              <a:gdLst>
                <a:gd name="connsiteX0" fmla="*/ 0 w 690587"/>
                <a:gd name="connsiteY0" fmla="*/ 0 h 1700784"/>
                <a:gd name="connsiteX1" fmla="*/ 246888 w 690587"/>
                <a:gd name="connsiteY1" fmla="*/ 100584 h 1700784"/>
                <a:gd name="connsiteX2" fmla="*/ 448056 w 690587"/>
                <a:gd name="connsiteY2" fmla="*/ 292608 h 1700784"/>
                <a:gd name="connsiteX3" fmla="*/ 603504 w 690587"/>
                <a:gd name="connsiteY3" fmla="*/ 521208 h 1700784"/>
                <a:gd name="connsiteX4" fmla="*/ 685800 w 690587"/>
                <a:gd name="connsiteY4" fmla="*/ 886968 h 1700784"/>
                <a:gd name="connsiteX5" fmla="*/ 667512 w 690587"/>
                <a:gd name="connsiteY5" fmla="*/ 1051560 h 1700784"/>
                <a:gd name="connsiteX6" fmla="*/ 557784 w 690587"/>
                <a:gd name="connsiteY6" fmla="*/ 1280160 h 1700784"/>
                <a:gd name="connsiteX7" fmla="*/ 466344 w 690587"/>
                <a:gd name="connsiteY7" fmla="*/ 1417320 h 1700784"/>
                <a:gd name="connsiteX8" fmla="*/ 310896 w 690587"/>
                <a:gd name="connsiteY8" fmla="*/ 1545336 h 1700784"/>
                <a:gd name="connsiteX9" fmla="*/ 182880 w 690587"/>
                <a:gd name="connsiteY9" fmla="*/ 1655064 h 1700784"/>
                <a:gd name="connsiteX10" fmla="*/ 36576 w 690587"/>
                <a:gd name="connsiteY10" fmla="*/ 1700784 h 1700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0587" h="1700784">
                  <a:moveTo>
                    <a:pt x="0" y="0"/>
                  </a:moveTo>
                  <a:cubicBezTo>
                    <a:pt x="86106" y="25908"/>
                    <a:pt x="172212" y="51816"/>
                    <a:pt x="246888" y="100584"/>
                  </a:cubicBezTo>
                  <a:cubicBezTo>
                    <a:pt x="321564" y="149352"/>
                    <a:pt x="388620" y="222504"/>
                    <a:pt x="448056" y="292608"/>
                  </a:cubicBezTo>
                  <a:cubicBezTo>
                    <a:pt x="507492" y="362712"/>
                    <a:pt x="563880" y="422148"/>
                    <a:pt x="603504" y="521208"/>
                  </a:cubicBezTo>
                  <a:cubicBezTo>
                    <a:pt x="643128" y="620268"/>
                    <a:pt x="675132" y="798576"/>
                    <a:pt x="685800" y="886968"/>
                  </a:cubicBezTo>
                  <a:cubicBezTo>
                    <a:pt x="696468" y="975360"/>
                    <a:pt x="688848" y="986028"/>
                    <a:pt x="667512" y="1051560"/>
                  </a:cubicBezTo>
                  <a:cubicBezTo>
                    <a:pt x="646176" y="1117092"/>
                    <a:pt x="591312" y="1219200"/>
                    <a:pt x="557784" y="1280160"/>
                  </a:cubicBezTo>
                  <a:cubicBezTo>
                    <a:pt x="524256" y="1341120"/>
                    <a:pt x="507492" y="1373124"/>
                    <a:pt x="466344" y="1417320"/>
                  </a:cubicBezTo>
                  <a:cubicBezTo>
                    <a:pt x="425196" y="1461516"/>
                    <a:pt x="358140" y="1505712"/>
                    <a:pt x="310896" y="1545336"/>
                  </a:cubicBezTo>
                  <a:cubicBezTo>
                    <a:pt x="263652" y="1584960"/>
                    <a:pt x="228600" y="1629156"/>
                    <a:pt x="182880" y="1655064"/>
                  </a:cubicBezTo>
                  <a:cubicBezTo>
                    <a:pt x="137160" y="1680972"/>
                    <a:pt x="86868" y="1690878"/>
                    <a:pt x="36576" y="1700784"/>
                  </a:cubicBezTo>
                </a:path>
              </a:pathLst>
            </a:custGeom>
            <a:noFill/>
            <a:ln w="76200" cap="flat" cmpd="sng" algn="ctr">
              <a:solidFill>
                <a:srgbClr val="FF0000"/>
              </a:solidFill>
              <a:prstDash val="sysDash"/>
              <a:round/>
              <a:headEnd type="none" w="med" len="med"/>
              <a:tailEnd type="none" w="med" len="med"/>
            </a:ln>
            <a:effectLst/>
          </p:spPr>
          <p:txBody>
            <a:bodyPr rtlCol="0" anchor="ctr"/>
            <a:lstStyle/>
            <a:p>
              <a:pPr algn="ctr"/>
              <a:endParaRPr lang="en-GB"/>
            </a:p>
          </p:txBody>
        </p:sp>
        <p:sp>
          <p:nvSpPr>
            <p:cNvPr id="24" name="Rectangle 2"/>
            <p:cNvSpPr>
              <a:spLocks noChangeArrowheads="1"/>
            </p:cNvSpPr>
            <p:nvPr/>
          </p:nvSpPr>
          <p:spPr bwMode="auto">
            <a:xfrm>
              <a:off x="4419106" y="2731680"/>
              <a:ext cx="1231571" cy="646331"/>
            </a:xfrm>
            <a:prstGeom prst="rect">
              <a:avLst/>
            </a:prstGeom>
            <a:noFill/>
            <a:ln w="9525">
              <a:noFill/>
              <a:miter lim="800000"/>
              <a:headEnd/>
              <a:tailEnd/>
            </a:ln>
          </p:spPr>
          <p:txBody>
            <a:bodyPr wrap="square">
              <a:spAutoFit/>
            </a:bodyPr>
            <a:lstStyle/>
            <a:p>
              <a:r>
                <a:rPr lang="en-GB" sz="1200" b="1" dirty="0">
                  <a:solidFill>
                    <a:srgbClr val="FF0000"/>
                  </a:solidFill>
                </a:rPr>
                <a:t>RODS </a:t>
              </a:r>
              <a:r>
                <a:rPr lang="en-GB" sz="1200" b="1">
                  <a:solidFill>
                    <a:srgbClr val="FF0000"/>
                  </a:solidFill>
                </a:rPr>
                <a:t>and CONES</a:t>
              </a:r>
            </a:p>
            <a:p>
              <a:r>
                <a:rPr lang="en-GB" sz="1200" b="1">
                  <a:solidFill>
                    <a:srgbClr val="FF0000"/>
                  </a:solidFill>
                </a:rPr>
                <a:t>(retina)</a:t>
              </a:r>
              <a:endParaRPr lang="en-GB" sz="1200" b="1" dirty="0">
                <a:solidFill>
                  <a:srgbClr val="FF0000"/>
                </a:solidFill>
              </a:endParaRPr>
            </a:p>
          </p:txBody>
        </p:sp>
        <p:cxnSp>
          <p:nvCxnSpPr>
            <p:cNvPr id="19" name="Straight Arrow Connector 18"/>
            <p:cNvCxnSpPr>
              <a:stCxn id="24" idx="1"/>
            </p:cNvCxnSpPr>
            <p:nvPr/>
          </p:nvCxnSpPr>
          <p:spPr bwMode="auto">
            <a:xfrm flipH="1">
              <a:off x="3200400" y="3054846"/>
              <a:ext cx="1218706" cy="27021"/>
            </a:xfrm>
            <a:prstGeom prst="straightConnector1">
              <a:avLst/>
            </a:prstGeom>
            <a:noFill/>
            <a:ln w="19050" cap="flat" cmpd="sng" algn="ctr">
              <a:solidFill>
                <a:srgbClr val="FF0000"/>
              </a:solidFill>
              <a:prstDash val="solid"/>
              <a:round/>
              <a:headEnd type="none" w="med" len="med"/>
              <a:tailEnd type="arrow"/>
            </a:ln>
            <a:effectLst/>
          </p:spPr>
        </p:cxnSp>
        <p:cxnSp>
          <p:nvCxnSpPr>
            <p:cNvPr id="23" name="Straight Arrow Connector 22"/>
            <p:cNvCxnSpPr/>
            <p:nvPr/>
          </p:nvCxnSpPr>
          <p:spPr bwMode="auto">
            <a:xfrm flipH="1">
              <a:off x="3488268" y="3183467"/>
              <a:ext cx="922865"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26" name="Straight Arrow Connector 25"/>
            <p:cNvCxnSpPr/>
            <p:nvPr/>
          </p:nvCxnSpPr>
          <p:spPr bwMode="auto">
            <a:xfrm flipH="1">
              <a:off x="3556001" y="3225800"/>
              <a:ext cx="922866" cy="601133"/>
            </a:xfrm>
            <a:prstGeom prst="straightConnector1">
              <a:avLst/>
            </a:prstGeom>
            <a:noFill/>
            <a:ln w="19050" cap="flat" cmpd="sng" algn="ctr">
              <a:solidFill>
                <a:srgbClr val="FF0000"/>
              </a:solidFill>
              <a:prstDash val="solid"/>
              <a:round/>
              <a:headEnd type="none" w="med" len="med"/>
              <a:tailEnd type="arrow"/>
            </a:ln>
            <a:effectLst/>
          </p:spPr>
        </p:cxnSp>
        <p:cxnSp>
          <p:nvCxnSpPr>
            <p:cNvPr id="30" name="Straight Arrow Connector 29"/>
            <p:cNvCxnSpPr/>
            <p:nvPr/>
          </p:nvCxnSpPr>
          <p:spPr bwMode="auto">
            <a:xfrm flipH="1">
              <a:off x="3429001" y="3327400"/>
              <a:ext cx="1024466" cy="965200"/>
            </a:xfrm>
            <a:prstGeom prst="straightConnector1">
              <a:avLst/>
            </a:prstGeom>
            <a:noFill/>
            <a:ln w="19050" cap="flat" cmpd="sng" algn="ctr">
              <a:solidFill>
                <a:srgbClr val="FF0000"/>
              </a:solidFill>
              <a:prstDash val="solid"/>
              <a:round/>
              <a:headEnd type="none" w="med" len="med"/>
              <a:tailEnd type="arrow"/>
            </a:ln>
            <a:effectLst/>
          </p:spPr>
        </p:cxnSp>
      </p:grpSp>
      <p:grpSp>
        <p:nvGrpSpPr>
          <p:cNvPr id="36" name="Group 35"/>
          <p:cNvGrpSpPr/>
          <p:nvPr/>
        </p:nvGrpSpPr>
        <p:grpSpPr>
          <a:xfrm>
            <a:off x="5650298" y="5244860"/>
            <a:ext cx="2907106" cy="888521"/>
            <a:chOff x="5650298" y="5244860"/>
            <a:chExt cx="2907106" cy="888521"/>
          </a:xfrm>
        </p:grpSpPr>
        <p:sp>
          <p:nvSpPr>
            <p:cNvPr id="35" name="Right Arrow 34"/>
            <p:cNvSpPr/>
            <p:nvPr/>
          </p:nvSpPr>
          <p:spPr bwMode="auto">
            <a:xfrm>
              <a:off x="5650302" y="5244860"/>
              <a:ext cx="2907102" cy="888521"/>
            </a:xfrm>
            <a:prstGeom prst="rightArrow">
              <a:avLst>
                <a:gd name="adj1" fmla="val 50000"/>
                <a:gd name="adj2" fmla="val 94737"/>
              </a:avLst>
            </a:prstGeom>
            <a:solidFill>
              <a:srgbClr val="FF33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4" name="TextBox 33"/>
            <p:cNvSpPr txBox="1"/>
            <p:nvPr/>
          </p:nvSpPr>
          <p:spPr>
            <a:xfrm>
              <a:off x="5650298" y="5520905"/>
              <a:ext cx="2700068" cy="338554"/>
            </a:xfrm>
            <a:prstGeom prst="rect">
              <a:avLst/>
            </a:prstGeom>
            <a:noFill/>
          </p:spPr>
          <p:txBody>
            <a:bodyPr wrap="square" rtlCol="0">
              <a:spAutoFit/>
            </a:bodyPr>
            <a:lstStyle/>
            <a:p>
              <a:r>
                <a:rPr lang="en-GB" b="1">
                  <a:solidFill>
                    <a:schemeClr val="bg1"/>
                  </a:solidFill>
                </a:rPr>
                <a:t>... Chroma Sub-sampling</a:t>
              </a:r>
            </a:p>
          </p:txBody>
        </p:sp>
      </p:grpSp>
    </p:spTree>
    <p:extLst>
      <p:ext uri="{BB962C8B-B14F-4D97-AF65-F5344CB8AC3E}">
        <p14:creationId xmlns:p14="http://schemas.microsoft.com/office/powerpoint/2010/main" val="1173903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0040" y="1209040"/>
            <a:ext cx="6423959"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67473" y="335441"/>
            <a:ext cx="4705134" cy="461665"/>
          </a:xfrm>
          <a:prstGeom prst="rect">
            <a:avLst/>
          </a:prstGeom>
          <a:noFill/>
        </p:spPr>
        <p:txBody>
          <a:bodyPr wrap="none" rtlCol="0">
            <a:spAutoFit/>
          </a:bodyPr>
          <a:lstStyle/>
          <a:p>
            <a:r>
              <a:rPr lang="en-GB" sz="2400" b="1" dirty="0"/>
              <a:t>Images Captured on a Camera</a:t>
            </a:r>
          </a:p>
        </p:txBody>
      </p:sp>
      <p:grpSp>
        <p:nvGrpSpPr>
          <p:cNvPr id="3" name="Group 100"/>
          <p:cNvGrpSpPr/>
          <p:nvPr/>
        </p:nvGrpSpPr>
        <p:grpSpPr>
          <a:xfrm>
            <a:off x="417004" y="1910396"/>
            <a:ext cx="3754946" cy="2518728"/>
            <a:chOff x="417004" y="1079507"/>
            <a:chExt cx="5616872" cy="3886765"/>
          </a:xfrm>
        </p:grpSpPr>
        <p:sp>
          <p:nvSpPr>
            <p:cNvPr id="102" name="Rectangle 101"/>
            <p:cNvSpPr/>
            <p:nvPr/>
          </p:nvSpPr>
          <p:spPr bwMode="auto">
            <a:xfrm>
              <a:off x="993316"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1880557"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4" name="Rectangle 103"/>
            <p:cNvSpPr/>
            <p:nvPr/>
          </p:nvSpPr>
          <p:spPr bwMode="auto">
            <a:xfrm>
              <a:off x="2767799"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5" name="Rectangle 104"/>
            <p:cNvSpPr/>
            <p:nvPr/>
          </p:nvSpPr>
          <p:spPr bwMode="auto">
            <a:xfrm>
              <a:off x="993316"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6" name="Rectangle 105"/>
            <p:cNvSpPr/>
            <p:nvPr/>
          </p:nvSpPr>
          <p:spPr bwMode="auto">
            <a:xfrm>
              <a:off x="1880557"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7" name="Rectangle 106"/>
            <p:cNvSpPr/>
            <p:nvPr/>
          </p:nvSpPr>
          <p:spPr bwMode="auto">
            <a:xfrm>
              <a:off x="2767799"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8" name="Rectangle 107"/>
            <p:cNvSpPr/>
            <p:nvPr/>
          </p:nvSpPr>
          <p:spPr bwMode="auto">
            <a:xfrm>
              <a:off x="849052"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09" name="Rectangle 108"/>
            <p:cNvSpPr/>
            <p:nvPr/>
          </p:nvSpPr>
          <p:spPr bwMode="auto">
            <a:xfrm>
              <a:off x="1736293"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2623535"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849052"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1736293"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3" name="Rectangle 112"/>
            <p:cNvSpPr/>
            <p:nvPr/>
          </p:nvSpPr>
          <p:spPr bwMode="auto">
            <a:xfrm>
              <a:off x="2623535"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4" name="Rectangle 113"/>
            <p:cNvSpPr/>
            <p:nvPr/>
          </p:nvSpPr>
          <p:spPr bwMode="auto">
            <a:xfrm>
              <a:off x="849052"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1736293"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6" name="Rectangle 115"/>
            <p:cNvSpPr/>
            <p:nvPr/>
          </p:nvSpPr>
          <p:spPr bwMode="auto">
            <a:xfrm>
              <a:off x="2623535"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7" name="Rectangle 116"/>
            <p:cNvSpPr/>
            <p:nvPr/>
          </p:nvSpPr>
          <p:spPr bwMode="auto">
            <a:xfrm>
              <a:off x="633028"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1520269"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19" name="Rectangle 118"/>
            <p:cNvSpPr/>
            <p:nvPr/>
          </p:nvSpPr>
          <p:spPr bwMode="auto">
            <a:xfrm>
              <a:off x="2407511"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633028"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1" name="Rectangle 120"/>
            <p:cNvSpPr/>
            <p:nvPr/>
          </p:nvSpPr>
          <p:spPr bwMode="auto">
            <a:xfrm>
              <a:off x="1520269"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2" name="Rectangle 121"/>
            <p:cNvSpPr/>
            <p:nvPr/>
          </p:nvSpPr>
          <p:spPr bwMode="auto">
            <a:xfrm>
              <a:off x="2407511"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3" name="Rectangle 122"/>
            <p:cNvSpPr/>
            <p:nvPr/>
          </p:nvSpPr>
          <p:spPr bwMode="auto">
            <a:xfrm>
              <a:off x="633028"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4" name="Rectangle 123"/>
            <p:cNvSpPr/>
            <p:nvPr/>
          </p:nvSpPr>
          <p:spPr bwMode="auto">
            <a:xfrm>
              <a:off x="1520269"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5" name="Rectangle 124"/>
            <p:cNvSpPr/>
            <p:nvPr/>
          </p:nvSpPr>
          <p:spPr bwMode="auto">
            <a:xfrm>
              <a:off x="2407511"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6" name="Rectangle 125"/>
            <p:cNvSpPr/>
            <p:nvPr/>
          </p:nvSpPr>
          <p:spPr bwMode="auto">
            <a:xfrm>
              <a:off x="417004"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7" name="Rectangle 126"/>
            <p:cNvSpPr/>
            <p:nvPr/>
          </p:nvSpPr>
          <p:spPr bwMode="auto">
            <a:xfrm>
              <a:off x="1304245"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2191487"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417004"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1304245"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1" name="Rectangle 130"/>
            <p:cNvSpPr/>
            <p:nvPr/>
          </p:nvSpPr>
          <p:spPr bwMode="auto">
            <a:xfrm>
              <a:off x="2191487"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2" name="Rectangle 131"/>
            <p:cNvSpPr/>
            <p:nvPr/>
          </p:nvSpPr>
          <p:spPr bwMode="auto">
            <a:xfrm>
              <a:off x="417004"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1304245"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4" name="Rectangle 133"/>
            <p:cNvSpPr/>
            <p:nvPr/>
          </p:nvSpPr>
          <p:spPr bwMode="auto">
            <a:xfrm>
              <a:off x="2191487"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5" name="Rectangle 134"/>
            <p:cNvSpPr/>
            <p:nvPr/>
          </p:nvSpPr>
          <p:spPr bwMode="auto">
            <a:xfrm>
              <a:off x="3693864"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4581105" y="1691575"/>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3693864"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4581105" y="2578816"/>
              <a:ext cx="709793" cy="709793"/>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3549600"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0" name="Rectangle 139"/>
            <p:cNvSpPr/>
            <p:nvPr/>
          </p:nvSpPr>
          <p:spPr bwMode="auto">
            <a:xfrm>
              <a:off x="4436841"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1" name="Rectangle 140"/>
            <p:cNvSpPr/>
            <p:nvPr/>
          </p:nvSpPr>
          <p:spPr bwMode="auto">
            <a:xfrm>
              <a:off x="5324083" y="1511555"/>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2" name="Rectangle 141"/>
            <p:cNvSpPr/>
            <p:nvPr/>
          </p:nvSpPr>
          <p:spPr bwMode="auto">
            <a:xfrm>
              <a:off x="3549600"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3" name="Rectangle 142"/>
            <p:cNvSpPr/>
            <p:nvPr/>
          </p:nvSpPr>
          <p:spPr bwMode="auto">
            <a:xfrm>
              <a:off x="4436841"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4" name="Rectangle 143"/>
            <p:cNvSpPr/>
            <p:nvPr/>
          </p:nvSpPr>
          <p:spPr bwMode="auto">
            <a:xfrm>
              <a:off x="5324083" y="2398796"/>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5" name="Rectangle 144"/>
            <p:cNvSpPr/>
            <p:nvPr/>
          </p:nvSpPr>
          <p:spPr bwMode="auto">
            <a:xfrm>
              <a:off x="3549600"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4436841"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5324083" y="3286038"/>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3333576"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4220817"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0" name="Rectangle 149"/>
            <p:cNvSpPr/>
            <p:nvPr/>
          </p:nvSpPr>
          <p:spPr bwMode="auto">
            <a:xfrm>
              <a:off x="5108059" y="1331535"/>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1" name="Rectangle 150"/>
            <p:cNvSpPr/>
            <p:nvPr/>
          </p:nvSpPr>
          <p:spPr bwMode="auto">
            <a:xfrm>
              <a:off x="3333576"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4220817"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3" name="Rectangle 152"/>
            <p:cNvSpPr/>
            <p:nvPr/>
          </p:nvSpPr>
          <p:spPr bwMode="auto">
            <a:xfrm>
              <a:off x="5108059" y="2218776"/>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4" name="Rectangle 153"/>
            <p:cNvSpPr/>
            <p:nvPr/>
          </p:nvSpPr>
          <p:spPr bwMode="auto">
            <a:xfrm>
              <a:off x="3333576"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4220817"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5108059" y="3106018"/>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3117552"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8" name="Rectangle 157"/>
            <p:cNvSpPr/>
            <p:nvPr/>
          </p:nvSpPr>
          <p:spPr bwMode="auto">
            <a:xfrm>
              <a:off x="4004793"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59" name="Rectangle 158"/>
            <p:cNvSpPr/>
            <p:nvPr/>
          </p:nvSpPr>
          <p:spPr bwMode="auto">
            <a:xfrm>
              <a:off x="4892035" y="1079507"/>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0" name="Rectangle 159"/>
            <p:cNvSpPr/>
            <p:nvPr/>
          </p:nvSpPr>
          <p:spPr bwMode="auto">
            <a:xfrm>
              <a:off x="3117552"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1" name="Rectangle 160"/>
            <p:cNvSpPr/>
            <p:nvPr/>
          </p:nvSpPr>
          <p:spPr bwMode="auto">
            <a:xfrm>
              <a:off x="4004793"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2" name="Rectangle 161"/>
            <p:cNvSpPr/>
            <p:nvPr/>
          </p:nvSpPr>
          <p:spPr bwMode="auto">
            <a:xfrm>
              <a:off x="4892035" y="1966748"/>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3" name="Rectangle 162"/>
            <p:cNvSpPr/>
            <p:nvPr/>
          </p:nvSpPr>
          <p:spPr bwMode="auto">
            <a:xfrm>
              <a:off x="3117552"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4004793"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4892035" y="2853990"/>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849052"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1736293"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8" name="Rectangle 167"/>
            <p:cNvSpPr/>
            <p:nvPr/>
          </p:nvSpPr>
          <p:spPr bwMode="auto">
            <a:xfrm>
              <a:off x="2623535"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69" name="Rectangle 168"/>
            <p:cNvSpPr/>
            <p:nvPr/>
          </p:nvSpPr>
          <p:spPr bwMode="auto">
            <a:xfrm>
              <a:off x="633028"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0" name="Rectangle 169"/>
            <p:cNvSpPr/>
            <p:nvPr/>
          </p:nvSpPr>
          <p:spPr bwMode="auto">
            <a:xfrm>
              <a:off x="1520269"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1" name="Rectangle 170"/>
            <p:cNvSpPr/>
            <p:nvPr/>
          </p:nvSpPr>
          <p:spPr bwMode="auto">
            <a:xfrm>
              <a:off x="2407511"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417004"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1304245"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2191487"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3549600"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6" name="Rectangle 175"/>
            <p:cNvSpPr/>
            <p:nvPr/>
          </p:nvSpPr>
          <p:spPr bwMode="auto">
            <a:xfrm>
              <a:off x="4436841"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5324083" y="4256479"/>
              <a:ext cx="709793" cy="70979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8" name="Rectangle 177"/>
            <p:cNvSpPr/>
            <p:nvPr/>
          </p:nvSpPr>
          <p:spPr bwMode="auto">
            <a:xfrm>
              <a:off x="3333576"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79" name="Rectangle 178"/>
            <p:cNvSpPr/>
            <p:nvPr/>
          </p:nvSpPr>
          <p:spPr bwMode="auto">
            <a:xfrm>
              <a:off x="4220817"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5108059" y="4076459"/>
              <a:ext cx="709793" cy="709793"/>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1" name="Rectangle 180"/>
            <p:cNvSpPr/>
            <p:nvPr/>
          </p:nvSpPr>
          <p:spPr bwMode="auto">
            <a:xfrm>
              <a:off x="3117552"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4004793"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4892035" y="3824431"/>
              <a:ext cx="709793" cy="709793"/>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Lucida Sans Unicode" pitchFamily="34" charset="0"/>
              </a:endParaRPr>
            </a:p>
          </p:txBody>
        </p:sp>
      </p:grpSp>
      <p:sp>
        <p:nvSpPr>
          <p:cNvPr id="184" name="TextBox 183"/>
          <p:cNvSpPr txBox="1"/>
          <p:nvPr/>
        </p:nvSpPr>
        <p:spPr>
          <a:xfrm>
            <a:off x="381000" y="5478726"/>
            <a:ext cx="8104632" cy="830997"/>
          </a:xfrm>
          <a:prstGeom prst="rect">
            <a:avLst/>
          </a:prstGeom>
          <a:noFill/>
        </p:spPr>
        <p:txBody>
          <a:bodyPr wrap="square" rtlCol="0">
            <a:spAutoFit/>
          </a:bodyPr>
          <a:lstStyle/>
          <a:p>
            <a:pPr marL="285750" indent="-285750">
              <a:buFont typeface="Arial" panose="020B0604020202020204" pitchFamily="34" charset="0"/>
              <a:buChar char="•"/>
            </a:pPr>
            <a:r>
              <a:rPr lang="en-GB" dirty="0"/>
              <a:t>Image captured on red blue and green – responsive photo-sites</a:t>
            </a:r>
          </a:p>
          <a:p>
            <a:pPr marL="285750" indent="-285750">
              <a:buFont typeface="Arial" panose="020B0604020202020204" pitchFamily="34" charset="0"/>
              <a:buChar char="•"/>
            </a:pPr>
            <a:r>
              <a:rPr lang="en-GB" dirty="0"/>
              <a:t>each pixel is represented by R, B, G</a:t>
            </a:r>
          </a:p>
          <a:p>
            <a:pPr marL="285750" indent="-285750">
              <a:buFont typeface="Arial" panose="020B0604020202020204" pitchFamily="34" charset="0"/>
              <a:buChar char="•"/>
            </a:pPr>
            <a:r>
              <a:rPr lang="en-GB" dirty="0"/>
              <a:t>each pixel has its own value of light intensity </a:t>
            </a:r>
          </a:p>
        </p:txBody>
      </p:sp>
      <p:sp>
        <p:nvSpPr>
          <p:cNvPr id="7" name="TextBox 6"/>
          <p:cNvSpPr txBox="1"/>
          <p:nvPr/>
        </p:nvSpPr>
        <p:spPr>
          <a:xfrm>
            <a:off x="381000" y="1016000"/>
            <a:ext cx="2199640" cy="830997"/>
          </a:xfrm>
          <a:prstGeom prst="rect">
            <a:avLst/>
          </a:prstGeom>
          <a:noFill/>
        </p:spPr>
        <p:txBody>
          <a:bodyPr wrap="square" rtlCol="0">
            <a:spAutoFit/>
          </a:bodyPr>
          <a:lstStyle/>
          <a:p>
            <a:r>
              <a:rPr lang="en-GB" b="1" dirty="0"/>
              <a:t>Original captured image at camera sensor: </a:t>
            </a:r>
          </a:p>
        </p:txBody>
      </p:sp>
      <p:cxnSp>
        <p:nvCxnSpPr>
          <p:cNvPr id="9" name="Straight Arrow Connector 8"/>
          <p:cNvCxnSpPr/>
          <p:nvPr/>
        </p:nvCxnSpPr>
        <p:spPr bwMode="auto">
          <a:xfrm flipH="1">
            <a:off x="4267200" y="2418080"/>
            <a:ext cx="1127760" cy="589280"/>
          </a:xfrm>
          <a:prstGeom prst="straightConnector1">
            <a:avLst/>
          </a:prstGeom>
          <a:noFill/>
          <a:ln w="50800" cap="flat" cmpd="sng" algn="ctr">
            <a:solidFill>
              <a:srgbClr val="FFFF00"/>
            </a:solidFill>
            <a:prstDash val="solid"/>
            <a:round/>
            <a:headEnd type="none" w="med" len="med"/>
            <a:tailEnd type="arrow"/>
          </a:ln>
          <a:effectLst/>
        </p:spPr>
      </p:cxnSp>
      <p:sp>
        <p:nvSpPr>
          <p:cNvPr id="11" name="Rectangle 10"/>
          <p:cNvSpPr/>
          <p:nvPr/>
        </p:nvSpPr>
        <p:spPr bwMode="auto">
          <a:xfrm>
            <a:off x="381000" y="1828800"/>
            <a:ext cx="3865880" cy="2702560"/>
          </a:xfrm>
          <a:prstGeom prst="rect">
            <a:avLst/>
          </a:prstGeom>
          <a:noFill/>
          <a:ln w="50800"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 name="Rectangle 11"/>
          <p:cNvSpPr/>
          <p:nvPr/>
        </p:nvSpPr>
        <p:spPr bwMode="auto">
          <a:xfrm>
            <a:off x="5405120" y="2316480"/>
            <a:ext cx="193040" cy="111760"/>
          </a:xfrm>
          <a:prstGeom prst="rect">
            <a:avLst/>
          </a:pr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Tree>
    <p:extLst>
      <p:ext uri="{BB962C8B-B14F-4D97-AF65-F5344CB8AC3E}">
        <p14:creationId xmlns:p14="http://schemas.microsoft.com/office/powerpoint/2010/main" val="9936190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509383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5641845"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 name="Rectangle 15"/>
          <p:cNvSpPr/>
          <p:nvPr/>
        </p:nvSpPr>
        <p:spPr bwMode="auto">
          <a:xfrm>
            <a:off x="618985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496040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 name="Rectangle 23"/>
          <p:cNvSpPr/>
          <p:nvPr/>
        </p:nvSpPr>
        <p:spPr bwMode="auto">
          <a:xfrm>
            <a:off x="550841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 name="Rectangle 24"/>
          <p:cNvSpPr/>
          <p:nvPr/>
        </p:nvSpPr>
        <p:spPr bwMode="auto">
          <a:xfrm>
            <a:off x="605642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2" name="Rectangle 31"/>
          <p:cNvSpPr/>
          <p:nvPr/>
        </p:nvSpPr>
        <p:spPr bwMode="auto">
          <a:xfrm>
            <a:off x="4826978"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 name="Rectangle 32"/>
          <p:cNvSpPr/>
          <p:nvPr/>
        </p:nvSpPr>
        <p:spPr bwMode="auto">
          <a:xfrm>
            <a:off x="5374988"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4" name="Rectangle 33"/>
          <p:cNvSpPr/>
          <p:nvPr/>
        </p:nvSpPr>
        <p:spPr bwMode="auto">
          <a:xfrm>
            <a:off x="5922999"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0" name="Rectangle 49"/>
          <p:cNvSpPr/>
          <p:nvPr/>
        </p:nvSpPr>
        <p:spPr bwMode="auto">
          <a:xfrm>
            <a:off x="676184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7309855"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2" name="Rectangle 51"/>
          <p:cNvSpPr/>
          <p:nvPr/>
        </p:nvSpPr>
        <p:spPr bwMode="auto">
          <a:xfrm>
            <a:off x="7857866" y="21914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9" name="Rectangle 58"/>
          <p:cNvSpPr/>
          <p:nvPr/>
        </p:nvSpPr>
        <p:spPr bwMode="auto">
          <a:xfrm>
            <a:off x="662841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0" name="Rectangle 59"/>
          <p:cNvSpPr/>
          <p:nvPr/>
        </p:nvSpPr>
        <p:spPr bwMode="auto">
          <a:xfrm>
            <a:off x="717642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1" name="Rectangle 60"/>
          <p:cNvSpPr/>
          <p:nvPr/>
        </p:nvSpPr>
        <p:spPr bwMode="auto">
          <a:xfrm>
            <a:off x="7724437" y="20700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8" name="Rectangle 67"/>
          <p:cNvSpPr/>
          <p:nvPr/>
        </p:nvSpPr>
        <p:spPr bwMode="auto">
          <a:xfrm>
            <a:off x="6494989"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9" name="Rectangle 68"/>
          <p:cNvSpPr/>
          <p:nvPr/>
        </p:nvSpPr>
        <p:spPr bwMode="auto">
          <a:xfrm>
            <a:off x="7042998"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0" name="Rectangle 69"/>
          <p:cNvSpPr/>
          <p:nvPr/>
        </p:nvSpPr>
        <p:spPr bwMode="auto">
          <a:xfrm>
            <a:off x="7591009" y="19000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509383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4" name="Rectangle 103"/>
          <p:cNvSpPr/>
          <p:nvPr/>
        </p:nvSpPr>
        <p:spPr bwMode="auto">
          <a:xfrm>
            <a:off x="5641845"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5" name="Rectangle 104"/>
          <p:cNvSpPr/>
          <p:nvPr/>
        </p:nvSpPr>
        <p:spPr bwMode="auto">
          <a:xfrm>
            <a:off x="618985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6" name="Rectangle 105"/>
          <p:cNvSpPr/>
          <p:nvPr/>
        </p:nvSpPr>
        <p:spPr bwMode="auto">
          <a:xfrm>
            <a:off x="496040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7" name="Rectangle 106"/>
          <p:cNvSpPr/>
          <p:nvPr/>
        </p:nvSpPr>
        <p:spPr bwMode="auto">
          <a:xfrm>
            <a:off x="550841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8" name="Rectangle 107"/>
          <p:cNvSpPr/>
          <p:nvPr/>
        </p:nvSpPr>
        <p:spPr bwMode="auto">
          <a:xfrm>
            <a:off x="605642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9" name="Rectangle 108"/>
          <p:cNvSpPr/>
          <p:nvPr/>
        </p:nvSpPr>
        <p:spPr bwMode="auto">
          <a:xfrm>
            <a:off x="4826978"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5374988"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5922999"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676184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3" name="Rectangle 112"/>
          <p:cNvSpPr/>
          <p:nvPr/>
        </p:nvSpPr>
        <p:spPr bwMode="auto">
          <a:xfrm>
            <a:off x="7309855"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4" name="Rectangle 113"/>
          <p:cNvSpPr/>
          <p:nvPr/>
        </p:nvSpPr>
        <p:spPr bwMode="auto">
          <a:xfrm>
            <a:off x="7857866" y="27706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662841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6" name="Rectangle 115"/>
          <p:cNvSpPr/>
          <p:nvPr/>
        </p:nvSpPr>
        <p:spPr bwMode="auto">
          <a:xfrm>
            <a:off x="717642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7" name="Rectangle 116"/>
          <p:cNvSpPr/>
          <p:nvPr/>
        </p:nvSpPr>
        <p:spPr bwMode="auto">
          <a:xfrm>
            <a:off x="7724437" y="26492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6494989"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9" name="Rectangle 118"/>
          <p:cNvSpPr/>
          <p:nvPr/>
        </p:nvSpPr>
        <p:spPr bwMode="auto">
          <a:xfrm>
            <a:off x="7042998"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7591009" y="24792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2" name="Rectangle 121"/>
          <p:cNvSpPr/>
          <p:nvPr/>
        </p:nvSpPr>
        <p:spPr bwMode="auto">
          <a:xfrm>
            <a:off x="508759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3" name="Rectangle 122"/>
          <p:cNvSpPr/>
          <p:nvPr/>
        </p:nvSpPr>
        <p:spPr bwMode="auto">
          <a:xfrm>
            <a:off x="563560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4" name="Rectangle 123"/>
          <p:cNvSpPr/>
          <p:nvPr/>
        </p:nvSpPr>
        <p:spPr bwMode="auto">
          <a:xfrm>
            <a:off x="618361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5" name="Rectangle 124"/>
          <p:cNvSpPr/>
          <p:nvPr/>
        </p:nvSpPr>
        <p:spPr bwMode="auto">
          <a:xfrm>
            <a:off x="495416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6" name="Rectangle 125"/>
          <p:cNvSpPr/>
          <p:nvPr/>
        </p:nvSpPr>
        <p:spPr bwMode="auto">
          <a:xfrm>
            <a:off x="5502175"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7" name="Rectangle 126"/>
          <p:cNvSpPr/>
          <p:nvPr/>
        </p:nvSpPr>
        <p:spPr bwMode="auto">
          <a:xfrm>
            <a:off x="605018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482073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536874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591675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1" name="Rectangle 130"/>
          <p:cNvSpPr/>
          <p:nvPr/>
        </p:nvSpPr>
        <p:spPr bwMode="auto">
          <a:xfrm>
            <a:off x="675560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2" name="Rectangle 131"/>
          <p:cNvSpPr/>
          <p:nvPr/>
        </p:nvSpPr>
        <p:spPr bwMode="auto">
          <a:xfrm>
            <a:off x="7303614"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7851625" y="33596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4" name="Rectangle 133"/>
          <p:cNvSpPr/>
          <p:nvPr/>
        </p:nvSpPr>
        <p:spPr bwMode="auto">
          <a:xfrm>
            <a:off x="662217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5" name="Rectangle 134"/>
          <p:cNvSpPr/>
          <p:nvPr/>
        </p:nvSpPr>
        <p:spPr bwMode="auto">
          <a:xfrm>
            <a:off x="717018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7718196" y="32382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648874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703675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7584767" y="30682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1" name="Rectangle 140"/>
          <p:cNvSpPr/>
          <p:nvPr/>
        </p:nvSpPr>
        <p:spPr bwMode="auto">
          <a:xfrm>
            <a:off x="509383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2" name="Rectangle 141"/>
          <p:cNvSpPr/>
          <p:nvPr/>
        </p:nvSpPr>
        <p:spPr bwMode="auto">
          <a:xfrm>
            <a:off x="5641845"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3" name="Rectangle 142"/>
          <p:cNvSpPr/>
          <p:nvPr/>
        </p:nvSpPr>
        <p:spPr bwMode="auto">
          <a:xfrm>
            <a:off x="618985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4" name="Rectangle 143"/>
          <p:cNvSpPr/>
          <p:nvPr/>
        </p:nvSpPr>
        <p:spPr bwMode="auto">
          <a:xfrm>
            <a:off x="496040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5" name="Rectangle 144"/>
          <p:cNvSpPr/>
          <p:nvPr/>
        </p:nvSpPr>
        <p:spPr bwMode="auto">
          <a:xfrm>
            <a:off x="550841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605642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4826978"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5374988"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5922999"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0" name="Rectangle 149"/>
          <p:cNvSpPr/>
          <p:nvPr/>
        </p:nvSpPr>
        <p:spPr bwMode="auto">
          <a:xfrm>
            <a:off x="676184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1" name="Rectangle 150"/>
          <p:cNvSpPr/>
          <p:nvPr/>
        </p:nvSpPr>
        <p:spPr bwMode="auto">
          <a:xfrm>
            <a:off x="7309855"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7857866" y="39505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3" name="Rectangle 152"/>
          <p:cNvSpPr/>
          <p:nvPr/>
        </p:nvSpPr>
        <p:spPr bwMode="auto">
          <a:xfrm>
            <a:off x="662841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4" name="Rectangle 153"/>
          <p:cNvSpPr/>
          <p:nvPr/>
        </p:nvSpPr>
        <p:spPr bwMode="auto">
          <a:xfrm>
            <a:off x="717642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7724437" y="38291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6494989"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7042998"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8" name="Rectangle 157"/>
          <p:cNvSpPr/>
          <p:nvPr/>
        </p:nvSpPr>
        <p:spPr bwMode="auto">
          <a:xfrm>
            <a:off x="7591009" y="36591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05" name="Straight Arrow Connector 204"/>
          <p:cNvCxnSpPr/>
          <p:nvPr/>
        </p:nvCxnSpPr>
        <p:spPr bwMode="auto">
          <a:xfrm flipH="1" flipV="1">
            <a:off x="7628283" y="4381440"/>
            <a:ext cx="528321" cy="863600"/>
          </a:xfrm>
          <a:prstGeom prst="straightConnector1">
            <a:avLst/>
          </a:prstGeom>
          <a:noFill/>
          <a:ln w="9525" cap="flat" cmpd="sng" algn="ctr">
            <a:solidFill>
              <a:srgbClr val="FFFF00"/>
            </a:solidFill>
            <a:prstDash val="solid"/>
            <a:round/>
            <a:headEnd type="none" w="med" len="med"/>
            <a:tailEnd type="arrow"/>
          </a:ln>
          <a:effectLst/>
        </p:spPr>
      </p:cxnSp>
      <p:sp>
        <p:nvSpPr>
          <p:cNvPr id="2" name="TextBox 1"/>
          <p:cNvSpPr txBox="1"/>
          <p:nvPr/>
        </p:nvSpPr>
        <p:spPr>
          <a:xfrm>
            <a:off x="381000" y="381000"/>
            <a:ext cx="2611612" cy="461665"/>
          </a:xfrm>
          <a:prstGeom prst="rect">
            <a:avLst/>
          </a:prstGeom>
          <a:noFill/>
        </p:spPr>
        <p:txBody>
          <a:bodyPr wrap="none" rtlCol="0">
            <a:spAutoFit/>
          </a:bodyPr>
          <a:lstStyle/>
          <a:p>
            <a:r>
              <a:rPr lang="en-GB" sz="2400" b="1" dirty="0"/>
              <a:t>RGB  to  </a:t>
            </a:r>
            <a:r>
              <a:rPr lang="en-GB" sz="2400" b="1" dirty="0" err="1"/>
              <a:t>Y,Cb,Cr</a:t>
            </a:r>
            <a:endParaRPr lang="en-GB" sz="2400" b="1" dirty="0"/>
          </a:p>
        </p:txBody>
      </p:sp>
      <p:sp>
        <p:nvSpPr>
          <p:cNvPr id="161" name="TextBox 160"/>
          <p:cNvSpPr txBox="1"/>
          <p:nvPr/>
        </p:nvSpPr>
        <p:spPr>
          <a:xfrm>
            <a:off x="381000" y="4605566"/>
            <a:ext cx="7203767" cy="1384995"/>
          </a:xfrm>
          <a:prstGeom prst="rect">
            <a:avLst/>
          </a:prstGeom>
          <a:noFill/>
        </p:spPr>
        <p:txBody>
          <a:bodyPr wrap="square" rtlCol="0">
            <a:spAutoFit/>
          </a:bodyPr>
          <a:lstStyle/>
          <a:p>
            <a:r>
              <a:rPr lang="en-GB" sz="2000" b="1" dirty="0"/>
              <a:t>RGB</a:t>
            </a:r>
            <a:r>
              <a:rPr lang="en-GB" sz="1600" dirty="0"/>
              <a:t> pixel format … … …  is converted to … … … </a:t>
            </a:r>
            <a:r>
              <a:rPr lang="en-GB" sz="2000" b="1" dirty="0" err="1"/>
              <a:t>Y,Cb,Cr</a:t>
            </a:r>
            <a:endParaRPr lang="en-GB" sz="2000" b="1" dirty="0"/>
          </a:p>
          <a:p>
            <a:endParaRPr lang="en-GB" sz="1600" dirty="0"/>
          </a:p>
          <a:p>
            <a:r>
              <a:rPr lang="en-GB" sz="1600" dirty="0"/>
              <a:t>where </a:t>
            </a:r>
          </a:p>
          <a:p>
            <a:r>
              <a:rPr lang="en-GB" dirty="0"/>
              <a:t>Y = luminance (light intensity)</a:t>
            </a:r>
          </a:p>
          <a:p>
            <a:r>
              <a:rPr lang="en-GB" dirty="0" err="1"/>
              <a:t>Cb</a:t>
            </a:r>
            <a:r>
              <a:rPr lang="en-GB" dirty="0"/>
              <a:t>, Cr = colour information </a:t>
            </a:r>
          </a:p>
        </p:txBody>
      </p:sp>
      <p:grpSp>
        <p:nvGrpSpPr>
          <p:cNvPr id="258" name="Group 257"/>
          <p:cNvGrpSpPr/>
          <p:nvPr/>
        </p:nvGrpSpPr>
        <p:grpSpPr>
          <a:xfrm>
            <a:off x="417004" y="1910396"/>
            <a:ext cx="3754946" cy="2518728"/>
            <a:chOff x="417004" y="1910396"/>
            <a:chExt cx="3754946" cy="2518728"/>
          </a:xfrm>
        </p:grpSpPr>
        <p:sp>
          <p:nvSpPr>
            <p:cNvPr id="162" name="Rectangle 161"/>
            <p:cNvSpPr/>
            <p:nvPr/>
          </p:nvSpPr>
          <p:spPr bwMode="auto">
            <a:xfrm>
              <a:off x="802275"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3" name="Rectangle 162"/>
            <p:cNvSpPr/>
            <p:nvPr/>
          </p:nvSpPr>
          <p:spPr bwMode="auto">
            <a:xfrm>
              <a:off x="1395407"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1988539"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802275"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1395407"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1988539"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1" name="Rectangle 170"/>
            <p:cNvSpPr/>
            <p:nvPr/>
          </p:nvSpPr>
          <p:spPr bwMode="auto">
            <a:xfrm>
              <a:off x="705833"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1298964"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1892096"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705833"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1298964"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6" name="Rectangle 175"/>
            <p:cNvSpPr/>
            <p:nvPr/>
          </p:nvSpPr>
          <p:spPr bwMode="auto">
            <a:xfrm>
              <a:off x="1892096"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705833"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8" name="Rectangle 177"/>
            <p:cNvSpPr/>
            <p:nvPr/>
          </p:nvSpPr>
          <p:spPr bwMode="auto">
            <a:xfrm>
              <a:off x="1298964"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9" name="Rectangle 178"/>
            <p:cNvSpPr/>
            <p:nvPr/>
          </p:nvSpPr>
          <p:spPr bwMode="auto">
            <a:xfrm>
              <a:off x="1892096"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561419"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1" name="Rectangle 180"/>
            <p:cNvSpPr/>
            <p:nvPr/>
          </p:nvSpPr>
          <p:spPr bwMode="auto">
            <a:xfrm>
              <a:off x="1154550"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1747682"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561419"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4" name="Rectangle 183"/>
            <p:cNvSpPr/>
            <p:nvPr/>
          </p:nvSpPr>
          <p:spPr bwMode="auto">
            <a:xfrm>
              <a:off x="1154550"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5" name="Rectangle 184"/>
            <p:cNvSpPr/>
            <p:nvPr/>
          </p:nvSpPr>
          <p:spPr bwMode="auto">
            <a:xfrm>
              <a:off x="1747682"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6" name="Rectangle 185"/>
            <p:cNvSpPr/>
            <p:nvPr/>
          </p:nvSpPr>
          <p:spPr bwMode="auto">
            <a:xfrm>
              <a:off x="561419"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7" name="Rectangle 186"/>
            <p:cNvSpPr/>
            <p:nvPr/>
          </p:nvSpPr>
          <p:spPr bwMode="auto">
            <a:xfrm>
              <a:off x="1154550"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8" name="Rectangle 187"/>
            <p:cNvSpPr/>
            <p:nvPr/>
          </p:nvSpPr>
          <p:spPr bwMode="auto">
            <a:xfrm>
              <a:off x="1747682"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9" name="Rectangle 188"/>
            <p:cNvSpPr/>
            <p:nvPr/>
          </p:nvSpPr>
          <p:spPr bwMode="auto">
            <a:xfrm>
              <a:off x="417004"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0" name="Rectangle 189"/>
            <p:cNvSpPr/>
            <p:nvPr/>
          </p:nvSpPr>
          <p:spPr bwMode="auto">
            <a:xfrm>
              <a:off x="1010135"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1" name="Rectangle 190"/>
            <p:cNvSpPr/>
            <p:nvPr/>
          </p:nvSpPr>
          <p:spPr bwMode="auto">
            <a:xfrm>
              <a:off x="1603267"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2" name="Rectangle 191"/>
            <p:cNvSpPr/>
            <p:nvPr/>
          </p:nvSpPr>
          <p:spPr bwMode="auto">
            <a:xfrm>
              <a:off x="417004"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3" name="Rectangle 192"/>
            <p:cNvSpPr/>
            <p:nvPr/>
          </p:nvSpPr>
          <p:spPr bwMode="auto">
            <a:xfrm>
              <a:off x="1010135"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4" name="Rectangle 193"/>
            <p:cNvSpPr/>
            <p:nvPr/>
          </p:nvSpPr>
          <p:spPr bwMode="auto">
            <a:xfrm>
              <a:off x="1603267"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5" name="Rectangle 194"/>
            <p:cNvSpPr/>
            <p:nvPr/>
          </p:nvSpPr>
          <p:spPr bwMode="auto">
            <a:xfrm>
              <a:off x="417004"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6" name="Rectangle 195"/>
            <p:cNvSpPr/>
            <p:nvPr/>
          </p:nvSpPr>
          <p:spPr bwMode="auto">
            <a:xfrm>
              <a:off x="1010135"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7" name="Rectangle 196"/>
            <p:cNvSpPr/>
            <p:nvPr/>
          </p:nvSpPr>
          <p:spPr bwMode="auto">
            <a:xfrm>
              <a:off x="1603267"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8" name="Rectangle 197"/>
            <p:cNvSpPr/>
            <p:nvPr/>
          </p:nvSpPr>
          <p:spPr bwMode="auto">
            <a:xfrm>
              <a:off x="2607624"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9" name="Rectangle 198"/>
            <p:cNvSpPr/>
            <p:nvPr/>
          </p:nvSpPr>
          <p:spPr bwMode="auto">
            <a:xfrm>
              <a:off x="3200755" y="2307032"/>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1" name="Rectangle 200"/>
            <p:cNvSpPr/>
            <p:nvPr/>
          </p:nvSpPr>
          <p:spPr bwMode="auto">
            <a:xfrm>
              <a:off x="2607624"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2" name="Rectangle 201"/>
            <p:cNvSpPr/>
            <p:nvPr/>
          </p:nvSpPr>
          <p:spPr bwMode="auto">
            <a:xfrm>
              <a:off x="3200755" y="2881988"/>
              <a:ext cx="474505" cy="459965"/>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7" name="Rectangle 206"/>
            <p:cNvSpPr/>
            <p:nvPr/>
          </p:nvSpPr>
          <p:spPr bwMode="auto">
            <a:xfrm>
              <a:off x="2511182"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8" name="Rectangle 207"/>
            <p:cNvSpPr/>
            <p:nvPr/>
          </p:nvSpPr>
          <p:spPr bwMode="auto">
            <a:xfrm>
              <a:off x="3104313"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9" name="Rectangle 208"/>
            <p:cNvSpPr/>
            <p:nvPr/>
          </p:nvSpPr>
          <p:spPr bwMode="auto">
            <a:xfrm>
              <a:off x="3697445" y="2190375"/>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0" name="Rectangle 209"/>
            <p:cNvSpPr/>
            <p:nvPr/>
          </p:nvSpPr>
          <p:spPr bwMode="auto">
            <a:xfrm>
              <a:off x="2511182"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1" name="Rectangle 210"/>
            <p:cNvSpPr/>
            <p:nvPr/>
          </p:nvSpPr>
          <p:spPr bwMode="auto">
            <a:xfrm>
              <a:off x="3104313"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2" name="Rectangle 211"/>
            <p:cNvSpPr/>
            <p:nvPr/>
          </p:nvSpPr>
          <p:spPr bwMode="auto">
            <a:xfrm>
              <a:off x="3697445" y="2765331"/>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3" name="Rectangle 212"/>
            <p:cNvSpPr/>
            <p:nvPr/>
          </p:nvSpPr>
          <p:spPr bwMode="auto">
            <a:xfrm>
              <a:off x="2511182"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4" name="Rectangle 213"/>
            <p:cNvSpPr/>
            <p:nvPr/>
          </p:nvSpPr>
          <p:spPr bwMode="auto">
            <a:xfrm>
              <a:off x="3104313"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5" name="Rectangle 214"/>
            <p:cNvSpPr/>
            <p:nvPr/>
          </p:nvSpPr>
          <p:spPr bwMode="auto">
            <a:xfrm>
              <a:off x="3697445" y="3340287"/>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6" name="Rectangle 215"/>
            <p:cNvSpPr/>
            <p:nvPr/>
          </p:nvSpPr>
          <p:spPr bwMode="auto">
            <a:xfrm>
              <a:off x="2366767"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7" name="Rectangle 216"/>
            <p:cNvSpPr/>
            <p:nvPr/>
          </p:nvSpPr>
          <p:spPr bwMode="auto">
            <a:xfrm>
              <a:off x="2959898"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8" name="Rectangle 217"/>
            <p:cNvSpPr/>
            <p:nvPr/>
          </p:nvSpPr>
          <p:spPr bwMode="auto">
            <a:xfrm>
              <a:off x="3553030" y="2073717"/>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9" name="Rectangle 218"/>
            <p:cNvSpPr/>
            <p:nvPr/>
          </p:nvSpPr>
          <p:spPr bwMode="auto">
            <a:xfrm>
              <a:off x="2366767"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0" name="Rectangle 219"/>
            <p:cNvSpPr/>
            <p:nvPr/>
          </p:nvSpPr>
          <p:spPr bwMode="auto">
            <a:xfrm>
              <a:off x="2959898"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1" name="Rectangle 220"/>
            <p:cNvSpPr/>
            <p:nvPr/>
          </p:nvSpPr>
          <p:spPr bwMode="auto">
            <a:xfrm>
              <a:off x="3553030" y="2648673"/>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2" name="Rectangle 221"/>
            <p:cNvSpPr/>
            <p:nvPr/>
          </p:nvSpPr>
          <p:spPr bwMode="auto">
            <a:xfrm>
              <a:off x="2366767"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3" name="Rectangle 222"/>
            <p:cNvSpPr/>
            <p:nvPr/>
          </p:nvSpPr>
          <p:spPr bwMode="auto">
            <a:xfrm>
              <a:off x="2959898"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4" name="Rectangle 223"/>
            <p:cNvSpPr/>
            <p:nvPr/>
          </p:nvSpPr>
          <p:spPr bwMode="auto">
            <a:xfrm>
              <a:off x="3553030" y="3223629"/>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5" name="Rectangle 224"/>
            <p:cNvSpPr/>
            <p:nvPr/>
          </p:nvSpPr>
          <p:spPr bwMode="auto">
            <a:xfrm>
              <a:off x="2222353"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6" name="Rectangle 225"/>
            <p:cNvSpPr/>
            <p:nvPr/>
          </p:nvSpPr>
          <p:spPr bwMode="auto">
            <a:xfrm>
              <a:off x="2815484"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3408616" y="1910396"/>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8" name="Rectangle 227"/>
            <p:cNvSpPr/>
            <p:nvPr/>
          </p:nvSpPr>
          <p:spPr bwMode="auto">
            <a:xfrm>
              <a:off x="2222353"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9" name="Rectangle 228"/>
            <p:cNvSpPr/>
            <p:nvPr/>
          </p:nvSpPr>
          <p:spPr bwMode="auto">
            <a:xfrm>
              <a:off x="2815484"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0" name="Rectangle 229"/>
            <p:cNvSpPr/>
            <p:nvPr/>
          </p:nvSpPr>
          <p:spPr bwMode="auto">
            <a:xfrm>
              <a:off x="3408616" y="2485352"/>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1" name="Rectangle 230"/>
            <p:cNvSpPr/>
            <p:nvPr/>
          </p:nvSpPr>
          <p:spPr bwMode="auto">
            <a:xfrm>
              <a:off x="2222353"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2" name="Rectangle 231"/>
            <p:cNvSpPr/>
            <p:nvPr/>
          </p:nvSpPr>
          <p:spPr bwMode="auto">
            <a:xfrm>
              <a:off x="2815484"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3" name="Rectangle 232"/>
            <p:cNvSpPr/>
            <p:nvPr/>
          </p:nvSpPr>
          <p:spPr bwMode="auto">
            <a:xfrm>
              <a:off x="3408616" y="3060309"/>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7" name="Rectangle 236"/>
            <p:cNvSpPr/>
            <p:nvPr/>
          </p:nvSpPr>
          <p:spPr bwMode="auto">
            <a:xfrm>
              <a:off x="705833"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8" name="Rectangle 237"/>
            <p:cNvSpPr/>
            <p:nvPr/>
          </p:nvSpPr>
          <p:spPr bwMode="auto">
            <a:xfrm>
              <a:off x="1298964"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9" name="Rectangle 238"/>
            <p:cNvSpPr/>
            <p:nvPr/>
          </p:nvSpPr>
          <p:spPr bwMode="auto">
            <a:xfrm>
              <a:off x="1892096"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0" name="Rectangle 239"/>
            <p:cNvSpPr/>
            <p:nvPr/>
          </p:nvSpPr>
          <p:spPr bwMode="auto">
            <a:xfrm>
              <a:off x="561419"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1" name="Rectangle 240"/>
            <p:cNvSpPr/>
            <p:nvPr/>
          </p:nvSpPr>
          <p:spPr bwMode="auto">
            <a:xfrm>
              <a:off x="1154550"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2" name="Rectangle 241"/>
            <p:cNvSpPr/>
            <p:nvPr/>
          </p:nvSpPr>
          <p:spPr bwMode="auto">
            <a:xfrm>
              <a:off x="1747682"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3" name="Rectangle 242"/>
            <p:cNvSpPr/>
            <p:nvPr/>
          </p:nvSpPr>
          <p:spPr bwMode="auto">
            <a:xfrm>
              <a:off x="417004"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4" name="Rectangle 243"/>
            <p:cNvSpPr/>
            <p:nvPr/>
          </p:nvSpPr>
          <p:spPr bwMode="auto">
            <a:xfrm>
              <a:off x="1010135"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5" name="Rectangle 244"/>
            <p:cNvSpPr/>
            <p:nvPr/>
          </p:nvSpPr>
          <p:spPr bwMode="auto">
            <a:xfrm>
              <a:off x="1603267"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9" name="Rectangle 248"/>
            <p:cNvSpPr/>
            <p:nvPr/>
          </p:nvSpPr>
          <p:spPr bwMode="auto">
            <a:xfrm>
              <a:off x="2511182"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0" name="Rectangle 249"/>
            <p:cNvSpPr/>
            <p:nvPr/>
          </p:nvSpPr>
          <p:spPr bwMode="auto">
            <a:xfrm>
              <a:off x="3104313"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1" name="Rectangle 250"/>
            <p:cNvSpPr/>
            <p:nvPr/>
          </p:nvSpPr>
          <p:spPr bwMode="auto">
            <a:xfrm>
              <a:off x="3697445" y="3969159"/>
              <a:ext cx="474505" cy="45996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2" name="Rectangle 251"/>
            <p:cNvSpPr/>
            <p:nvPr/>
          </p:nvSpPr>
          <p:spPr bwMode="auto">
            <a:xfrm>
              <a:off x="2366767"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3" name="Rectangle 252"/>
            <p:cNvSpPr/>
            <p:nvPr/>
          </p:nvSpPr>
          <p:spPr bwMode="auto">
            <a:xfrm>
              <a:off x="2959898"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4" name="Rectangle 253"/>
            <p:cNvSpPr/>
            <p:nvPr/>
          </p:nvSpPr>
          <p:spPr bwMode="auto">
            <a:xfrm>
              <a:off x="3553030" y="3852501"/>
              <a:ext cx="474505" cy="459965"/>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5" name="Rectangle 254"/>
            <p:cNvSpPr/>
            <p:nvPr/>
          </p:nvSpPr>
          <p:spPr bwMode="auto">
            <a:xfrm>
              <a:off x="2222353"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6" name="Rectangle 255"/>
            <p:cNvSpPr/>
            <p:nvPr/>
          </p:nvSpPr>
          <p:spPr bwMode="auto">
            <a:xfrm>
              <a:off x="2815484"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7" name="Rectangle 256"/>
            <p:cNvSpPr/>
            <p:nvPr/>
          </p:nvSpPr>
          <p:spPr bwMode="auto">
            <a:xfrm>
              <a:off x="3408616" y="3689180"/>
              <a:ext cx="474505" cy="459965"/>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sp>
        <p:nvSpPr>
          <p:cNvPr id="260" name="Right Arrow 259"/>
          <p:cNvSpPr/>
          <p:nvPr/>
        </p:nvSpPr>
        <p:spPr bwMode="auto">
          <a:xfrm>
            <a:off x="4276725" y="2995313"/>
            <a:ext cx="529216" cy="458298"/>
          </a:xfrm>
          <a:prstGeom prst="rightArrow">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2" name="TextBox 261"/>
          <p:cNvSpPr txBox="1"/>
          <p:nvPr/>
        </p:nvSpPr>
        <p:spPr>
          <a:xfrm>
            <a:off x="5222845" y="5723687"/>
            <a:ext cx="3917962" cy="738664"/>
          </a:xfrm>
          <a:prstGeom prst="rect">
            <a:avLst/>
          </a:prstGeom>
          <a:solidFill>
            <a:schemeClr val="accent6">
              <a:lumMod val="20000"/>
              <a:lumOff val="80000"/>
            </a:schemeClr>
          </a:solidFill>
        </p:spPr>
        <p:txBody>
          <a:bodyPr wrap="square" rtlCol="0">
            <a:spAutoFit/>
          </a:bodyPr>
          <a:lstStyle/>
          <a:p>
            <a:endParaRPr lang="en-GB" sz="1050" dirty="0"/>
          </a:p>
          <a:p>
            <a:r>
              <a:rPr lang="en-GB" sz="1050" dirty="0"/>
              <a:t>Weighted RGB converted to Y </a:t>
            </a:r>
            <a:r>
              <a:rPr lang="en-GB" sz="1050" dirty="0" err="1"/>
              <a:t>Cb</a:t>
            </a:r>
            <a:r>
              <a:rPr lang="en-GB" sz="1050" dirty="0"/>
              <a:t>, Cr</a:t>
            </a:r>
          </a:p>
          <a:p>
            <a:r>
              <a:rPr lang="pt-BR" sz="1050" dirty="0"/>
              <a:t>0.2989*R + 0.5870*G + 0.1140*B </a:t>
            </a:r>
          </a:p>
          <a:p>
            <a:endParaRPr lang="en-GB" sz="1050" dirty="0"/>
          </a:p>
        </p:txBody>
      </p:sp>
      <p:sp>
        <p:nvSpPr>
          <p:cNvPr id="200" name="TextBox 199"/>
          <p:cNvSpPr txBox="1"/>
          <p:nvPr/>
        </p:nvSpPr>
        <p:spPr>
          <a:xfrm>
            <a:off x="8256298" y="5208845"/>
            <a:ext cx="410690" cy="338554"/>
          </a:xfrm>
          <a:prstGeom prst="rect">
            <a:avLst/>
          </a:prstGeom>
          <a:noFill/>
        </p:spPr>
        <p:txBody>
          <a:bodyPr wrap="none" rtlCol="0">
            <a:spAutoFit/>
          </a:bodyPr>
          <a:lstStyle/>
          <a:p>
            <a:r>
              <a:rPr lang="en-GB" dirty="0"/>
              <a:t>Cr</a:t>
            </a:r>
          </a:p>
        </p:txBody>
      </p:sp>
      <p:sp>
        <p:nvSpPr>
          <p:cNvPr id="203" name="TextBox 202"/>
          <p:cNvSpPr txBox="1"/>
          <p:nvPr/>
        </p:nvSpPr>
        <p:spPr>
          <a:xfrm>
            <a:off x="6724650" y="1143000"/>
            <a:ext cx="457176" cy="338554"/>
          </a:xfrm>
          <a:prstGeom prst="rect">
            <a:avLst/>
          </a:prstGeom>
          <a:noFill/>
        </p:spPr>
        <p:txBody>
          <a:bodyPr wrap="none" rtlCol="0">
            <a:spAutoFit/>
          </a:bodyPr>
          <a:lstStyle/>
          <a:p>
            <a:r>
              <a:rPr lang="en-GB" dirty="0" err="1"/>
              <a:t>Cb</a:t>
            </a:r>
            <a:endParaRPr lang="en-GB" dirty="0"/>
          </a:p>
        </p:txBody>
      </p:sp>
      <p:sp>
        <p:nvSpPr>
          <p:cNvPr id="204" name="TextBox 203"/>
          <p:cNvSpPr txBox="1"/>
          <p:nvPr/>
        </p:nvSpPr>
        <p:spPr>
          <a:xfrm>
            <a:off x="8162925" y="800100"/>
            <a:ext cx="361950" cy="338554"/>
          </a:xfrm>
          <a:prstGeom prst="rect">
            <a:avLst/>
          </a:prstGeom>
          <a:noFill/>
        </p:spPr>
        <p:txBody>
          <a:bodyPr wrap="square" rtlCol="0">
            <a:spAutoFit/>
          </a:bodyPr>
          <a:lstStyle/>
          <a:p>
            <a:r>
              <a:rPr lang="en-GB" dirty="0"/>
              <a:t>Y</a:t>
            </a:r>
          </a:p>
        </p:txBody>
      </p:sp>
      <p:cxnSp>
        <p:nvCxnSpPr>
          <p:cNvPr id="206" name="Straight Arrow Connector 205"/>
          <p:cNvCxnSpPr/>
          <p:nvPr/>
        </p:nvCxnSpPr>
        <p:spPr bwMode="auto">
          <a:xfrm flipH="1">
            <a:off x="8286750" y="1181100"/>
            <a:ext cx="85725" cy="1000125"/>
          </a:xfrm>
          <a:prstGeom prst="straightConnector1">
            <a:avLst/>
          </a:prstGeom>
          <a:noFill/>
          <a:ln w="9525" cap="flat" cmpd="sng" algn="ctr">
            <a:solidFill>
              <a:schemeClr val="tx1"/>
            </a:solidFill>
            <a:prstDash val="solid"/>
            <a:round/>
            <a:headEnd type="none" w="med" len="med"/>
            <a:tailEnd type="arrow"/>
          </a:ln>
          <a:effectLst/>
        </p:spPr>
      </p:cxnSp>
      <p:cxnSp>
        <p:nvCxnSpPr>
          <p:cNvPr id="236" name="Straight Arrow Connector 235"/>
          <p:cNvCxnSpPr/>
          <p:nvPr/>
        </p:nvCxnSpPr>
        <p:spPr bwMode="auto">
          <a:xfrm flipH="1" flipV="1">
            <a:off x="7628283" y="4361120"/>
            <a:ext cx="528321" cy="863600"/>
          </a:xfrm>
          <a:prstGeom prst="straightConnector1">
            <a:avLst/>
          </a:prstGeom>
          <a:noFill/>
          <a:ln w="9525" cap="flat" cmpd="sng" algn="ctr">
            <a:solidFill>
              <a:schemeClr val="tx1"/>
            </a:solidFill>
            <a:prstDash val="solid"/>
            <a:round/>
            <a:headEnd type="none" w="med" len="med"/>
            <a:tailEnd type="arrow"/>
          </a:ln>
          <a:effectLst/>
        </p:spPr>
      </p:cxnSp>
      <p:cxnSp>
        <p:nvCxnSpPr>
          <p:cNvPr id="247" name="Straight Arrow Connector 246"/>
          <p:cNvCxnSpPr/>
          <p:nvPr/>
        </p:nvCxnSpPr>
        <p:spPr bwMode="auto">
          <a:xfrm flipH="1">
            <a:off x="6762750" y="1495425"/>
            <a:ext cx="114301" cy="609600"/>
          </a:xfrm>
          <a:prstGeom prst="straightConnector1">
            <a:avLst/>
          </a:prstGeom>
          <a:noFill/>
          <a:ln w="9525" cap="flat" cmpd="sng" algn="ctr">
            <a:solidFill>
              <a:schemeClr val="tx1"/>
            </a:solidFill>
            <a:prstDash val="solid"/>
            <a:round/>
            <a:headEnd type="none" w="med" len="med"/>
            <a:tailEnd type="arrow"/>
          </a:ln>
          <a:effectLst/>
        </p:spPr>
      </p:cxnSp>
      <p:sp>
        <p:nvSpPr>
          <p:cNvPr id="169" name="TextBox 168"/>
          <p:cNvSpPr txBox="1"/>
          <p:nvPr/>
        </p:nvSpPr>
        <p:spPr>
          <a:xfrm>
            <a:off x="369211" y="1134418"/>
            <a:ext cx="3811786" cy="338554"/>
          </a:xfrm>
          <a:prstGeom prst="rect">
            <a:avLst/>
          </a:prstGeom>
          <a:noFill/>
        </p:spPr>
        <p:txBody>
          <a:bodyPr wrap="square" rtlCol="0">
            <a:spAutoFit/>
          </a:bodyPr>
          <a:lstStyle/>
          <a:p>
            <a:r>
              <a:rPr lang="en-GB" sz="1600" dirty="0"/>
              <a:t>During the </a:t>
            </a:r>
            <a:r>
              <a:rPr lang="en-GB" sz="1600" b="1" i="1" dirty="0"/>
              <a:t>encoding</a:t>
            </a:r>
            <a:r>
              <a:rPr lang="en-GB" sz="1600" dirty="0"/>
              <a:t> stage ... </a:t>
            </a:r>
          </a:p>
        </p:txBody>
      </p:sp>
    </p:spTree>
    <p:extLst>
      <p:ext uri="{BB962C8B-B14F-4D97-AF65-F5344CB8AC3E}">
        <p14:creationId xmlns:p14="http://schemas.microsoft.com/office/powerpoint/2010/main" val="1721077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Rectangle 192"/>
          <p:cNvSpPr/>
          <p:nvPr/>
        </p:nvSpPr>
        <p:spPr bwMode="auto">
          <a:xfrm>
            <a:off x="854764" y="4164496"/>
            <a:ext cx="4651513" cy="2365511"/>
          </a:xfrm>
          <a:prstGeom prst="rect">
            <a:avLst/>
          </a:prstGeom>
          <a:solidFill>
            <a:schemeClr val="bg2">
              <a:lumMod val="20000"/>
              <a:lumOff val="80000"/>
            </a:schemeClr>
          </a:solidFill>
          <a:ln w="2540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 name="TextBox 1"/>
          <p:cNvSpPr txBox="1"/>
          <p:nvPr/>
        </p:nvSpPr>
        <p:spPr>
          <a:xfrm>
            <a:off x="381000" y="381000"/>
            <a:ext cx="4482317" cy="461665"/>
          </a:xfrm>
          <a:prstGeom prst="rect">
            <a:avLst/>
          </a:prstGeom>
          <a:noFill/>
        </p:spPr>
        <p:txBody>
          <a:bodyPr wrap="none" rtlCol="0">
            <a:spAutoFit/>
          </a:bodyPr>
          <a:lstStyle/>
          <a:p>
            <a:r>
              <a:rPr lang="en-GB" sz="2400" b="1" dirty="0"/>
              <a:t>RGB  to  </a:t>
            </a:r>
            <a:r>
              <a:rPr lang="en-GB" sz="2400" b="1" dirty="0" err="1"/>
              <a:t>Y,Cb,Cr</a:t>
            </a:r>
            <a:r>
              <a:rPr lang="en-GB" sz="2400" b="1" dirty="0"/>
              <a:t> – each pixel</a:t>
            </a:r>
          </a:p>
        </p:txBody>
      </p:sp>
      <p:sp>
        <p:nvSpPr>
          <p:cNvPr id="162" name="TextBox 161"/>
          <p:cNvSpPr txBox="1"/>
          <p:nvPr/>
        </p:nvSpPr>
        <p:spPr>
          <a:xfrm>
            <a:off x="940936" y="5931902"/>
            <a:ext cx="3917962" cy="523220"/>
          </a:xfrm>
          <a:prstGeom prst="rect">
            <a:avLst/>
          </a:prstGeom>
          <a:solidFill>
            <a:schemeClr val="accent6">
              <a:lumMod val="20000"/>
              <a:lumOff val="80000"/>
            </a:schemeClr>
          </a:solidFill>
        </p:spPr>
        <p:txBody>
          <a:bodyPr wrap="square" rtlCol="0">
            <a:spAutoFit/>
          </a:bodyPr>
          <a:lstStyle/>
          <a:p>
            <a:r>
              <a:rPr lang="en-GB" sz="1400" dirty="0"/>
              <a:t>Weighted RGB luminance: </a:t>
            </a:r>
          </a:p>
          <a:p>
            <a:r>
              <a:rPr lang="pt-BR" sz="1400" dirty="0"/>
              <a:t>approx  29% Red + 59% Green + 11% Blue </a:t>
            </a:r>
            <a:endParaRPr lang="en-GB" sz="1400" dirty="0"/>
          </a:p>
        </p:txBody>
      </p:sp>
      <p:sp>
        <p:nvSpPr>
          <p:cNvPr id="171" name="Rectangle 170"/>
          <p:cNvSpPr/>
          <p:nvPr/>
        </p:nvSpPr>
        <p:spPr bwMode="auto">
          <a:xfrm>
            <a:off x="1059020" y="2076075"/>
            <a:ext cx="1560355" cy="149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914605" y="1959417"/>
            <a:ext cx="1560355" cy="14958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770191" y="1796096"/>
            <a:ext cx="1560355" cy="1495800"/>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ight Brace 179"/>
          <p:cNvSpPr/>
          <p:nvPr/>
        </p:nvSpPr>
        <p:spPr bwMode="auto">
          <a:xfrm rot="5400000">
            <a:off x="1600199" y="3067052"/>
            <a:ext cx="295275" cy="1819275"/>
          </a:xfrm>
          <a:prstGeom prst="rightBrace">
            <a:avLst>
              <a:gd name="adj1" fmla="val 3158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
        <p:nvSpPr>
          <p:cNvPr id="182" name="Rectangle 181"/>
          <p:cNvSpPr/>
          <p:nvPr/>
        </p:nvSpPr>
        <p:spPr bwMode="auto">
          <a:xfrm>
            <a:off x="978912" y="4269283"/>
            <a:ext cx="1560355" cy="1495800"/>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TextBox 182"/>
          <p:cNvSpPr txBox="1"/>
          <p:nvPr/>
        </p:nvSpPr>
        <p:spPr>
          <a:xfrm>
            <a:off x="2601111" y="4561877"/>
            <a:ext cx="2925046" cy="1077218"/>
          </a:xfrm>
          <a:prstGeom prst="rect">
            <a:avLst/>
          </a:prstGeom>
          <a:noFill/>
        </p:spPr>
        <p:txBody>
          <a:bodyPr wrap="square" rtlCol="0">
            <a:spAutoFit/>
          </a:bodyPr>
          <a:lstStyle/>
          <a:p>
            <a:r>
              <a:rPr lang="en-GB" sz="1600" dirty="0"/>
              <a:t>Overall luminance </a:t>
            </a:r>
          </a:p>
          <a:p>
            <a:r>
              <a:rPr lang="en-GB" sz="1600" dirty="0"/>
              <a:t>i.e. greyscale, monochrome </a:t>
            </a:r>
          </a:p>
          <a:p>
            <a:r>
              <a:rPr lang="en-GB" sz="1600" dirty="0"/>
              <a:t>of this pixel </a:t>
            </a:r>
          </a:p>
          <a:p>
            <a:r>
              <a:rPr lang="en-GB" sz="1600" dirty="0"/>
              <a:t>= Y,  ...  i.e. the </a:t>
            </a:r>
            <a:r>
              <a:rPr lang="en-GB" sz="1600" b="1" i="1" dirty="0" err="1"/>
              <a:t>luma</a:t>
            </a:r>
            <a:endParaRPr lang="en-GB" sz="1600" b="1" i="1" dirty="0"/>
          </a:p>
        </p:txBody>
      </p:sp>
      <p:pic>
        <p:nvPicPr>
          <p:cNvPr id="2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5079" y="863600"/>
            <a:ext cx="2037081" cy="3074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
          <p:cNvPicPr>
            <a:picLocks noChangeAspect="1" noChangeArrowheads="1"/>
          </p:cNvPicPr>
          <p:nvPr/>
        </p:nvPicPr>
        <p:blipFill>
          <a:blip r:embed="rId3" cstate="print"/>
          <a:srcRect/>
          <a:stretch>
            <a:fillRect/>
          </a:stretch>
        </p:blipFill>
        <p:spPr bwMode="auto">
          <a:xfrm>
            <a:off x="6392496" y="3155959"/>
            <a:ext cx="2260376" cy="3411889"/>
          </a:xfrm>
          <a:prstGeom prst="rect">
            <a:avLst/>
          </a:prstGeom>
          <a:noFill/>
          <a:ln w="9525" cap="flat" cmpd="sng" algn="ctr">
            <a:noFill/>
            <a:prstDash val="solid"/>
            <a:miter lim="800000"/>
            <a:headEnd/>
            <a:tailEnd/>
          </a:ln>
        </p:spPr>
      </p:pic>
      <p:sp>
        <p:nvSpPr>
          <p:cNvPr id="3" name="Right Brace 2"/>
          <p:cNvSpPr/>
          <p:nvPr/>
        </p:nvSpPr>
        <p:spPr bwMode="auto">
          <a:xfrm flipH="1">
            <a:off x="3027680" y="914400"/>
            <a:ext cx="447040" cy="2976880"/>
          </a:xfrm>
          <a:prstGeom prst="rightBrace">
            <a:avLst>
              <a:gd name="adj1" fmla="val 39912"/>
              <a:gd name="adj2" fmla="val 56826"/>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
        <p:nvSpPr>
          <p:cNvPr id="31" name="Right Brace 30"/>
          <p:cNvSpPr/>
          <p:nvPr/>
        </p:nvSpPr>
        <p:spPr bwMode="auto">
          <a:xfrm flipH="1">
            <a:off x="5842000" y="3159760"/>
            <a:ext cx="447040" cy="3332480"/>
          </a:xfrm>
          <a:prstGeom prst="rightBrace">
            <a:avLst>
              <a:gd name="adj1" fmla="val 39912"/>
              <a:gd name="adj2" fmla="val 63110"/>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Tree>
    <p:extLst>
      <p:ext uri="{BB962C8B-B14F-4D97-AF65-F5344CB8AC3E}">
        <p14:creationId xmlns:p14="http://schemas.microsoft.com/office/powerpoint/2010/main" val="2290658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854764" y="4164496"/>
            <a:ext cx="4651513" cy="2365511"/>
          </a:xfrm>
          <a:prstGeom prst="rect">
            <a:avLst/>
          </a:prstGeom>
          <a:solidFill>
            <a:schemeClr val="bg2">
              <a:lumMod val="20000"/>
              <a:lumOff val="80000"/>
            </a:schemeClr>
          </a:solidFill>
          <a:ln w="2540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 name="Rectangle 2"/>
          <p:cNvSpPr/>
          <p:nvPr/>
        </p:nvSpPr>
        <p:spPr bwMode="auto">
          <a:xfrm>
            <a:off x="5913781" y="4025348"/>
            <a:ext cx="3011557" cy="1540566"/>
          </a:xfrm>
          <a:prstGeom prst="rect">
            <a:avLst/>
          </a:prstGeom>
          <a:solidFill>
            <a:schemeClr val="accent1">
              <a:lumMod val="20000"/>
              <a:lumOff val="80000"/>
            </a:schemeClr>
          </a:solidFill>
          <a:ln w="254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 name="Rectangle 3"/>
          <p:cNvSpPr/>
          <p:nvPr/>
        </p:nvSpPr>
        <p:spPr bwMode="auto">
          <a:xfrm>
            <a:off x="5893683" y="525448"/>
            <a:ext cx="3001618" cy="2969592"/>
          </a:xfrm>
          <a:prstGeom prst="rect">
            <a:avLst/>
          </a:prstGeom>
          <a:solidFill>
            <a:schemeClr val="accent6">
              <a:lumMod val="20000"/>
              <a:lumOff val="80000"/>
            </a:schemeClr>
          </a:solidFill>
          <a:ln w="25400"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 name="TextBox 4"/>
          <p:cNvSpPr txBox="1"/>
          <p:nvPr/>
        </p:nvSpPr>
        <p:spPr>
          <a:xfrm>
            <a:off x="381000" y="381000"/>
            <a:ext cx="4482317" cy="461665"/>
          </a:xfrm>
          <a:prstGeom prst="rect">
            <a:avLst/>
          </a:prstGeom>
          <a:noFill/>
        </p:spPr>
        <p:txBody>
          <a:bodyPr wrap="none" rtlCol="0">
            <a:spAutoFit/>
          </a:bodyPr>
          <a:lstStyle/>
          <a:p>
            <a:r>
              <a:rPr lang="en-GB" sz="2400" b="1" dirty="0"/>
              <a:t>RGB  to  </a:t>
            </a:r>
            <a:r>
              <a:rPr lang="en-GB" sz="2400" b="1" dirty="0" err="1"/>
              <a:t>Y,Cb,Cr</a:t>
            </a:r>
            <a:r>
              <a:rPr lang="en-GB" sz="2400" b="1" dirty="0"/>
              <a:t> – each pixel</a:t>
            </a:r>
          </a:p>
        </p:txBody>
      </p:sp>
      <p:sp>
        <p:nvSpPr>
          <p:cNvPr id="6" name="Rectangle 5"/>
          <p:cNvSpPr/>
          <p:nvPr/>
        </p:nvSpPr>
        <p:spPr bwMode="auto">
          <a:xfrm>
            <a:off x="3979410" y="2134262"/>
            <a:ext cx="1506989" cy="1504288"/>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 name="Rectangle 6"/>
          <p:cNvSpPr/>
          <p:nvPr/>
        </p:nvSpPr>
        <p:spPr bwMode="auto">
          <a:xfrm>
            <a:off x="3845981" y="2012874"/>
            <a:ext cx="1506989" cy="1504288"/>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 name="Rectangle 7"/>
          <p:cNvSpPr/>
          <p:nvPr/>
        </p:nvSpPr>
        <p:spPr bwMode="auto">
          <a:xfrm>
            <a:off x="3712552" y="1842931"/>
            <a:ext cx="1506989" cy="1504288"/>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 name="TextBox 8"/>
          <p:cNvSpPr txBox="1"/>
          <p:nvPr/>
        </p:nvSpPr>
        <p:spPr>
          <a:xfrm>
            <a:off x="940936" y="5931902"/>
            <a:ext cx="3917962" cy="523220"/>
          </a:xfrm>
          <a:prstGeom prst="rect">
            <a:avLst/>
          </a:prstGeom>
          <a:solidFill>
            <a:schemeClr val="accent6">
              <a:lumMod val="20000"/>
              <a:lumOff val="80000"/>
            </a:schemeClr>
          </a:solidFill>
        </p:spPr>
        <p:txBody>
          <a:bodyPr wrap="square" rtlCol="0">
            <a:spAutoFit/>
          </a:bodyPr>
          <a:lstStyle/>
          <a:p>
            <a:r>
              <a:rPr lang="en-GB" sz="1400" dirty="0"/>
              <a:t>Weighted RGB luminance: </a:t>
            </a:r>
          </a:p>
          <a:p>
            <a:r>
              <a:rPr lang="pt-BR" sz="1400" dirty="0"/>
              <a:t>approx  29% Red + 59% Green + 11% Blue </a:t>
            </a:r>
            <a:endParaRPr lang="en-GB" sz="1400" dirty="0"/>
          </a:p>
        </p:txBody>
      </p:sp>
      <p:sp>
        <p:nvSpPr>
          <p:cNvPr id="10" name="TextBox 9"/>
          <p:cNvSpPr txBox="1"/>
          <p:nvPr/>
        </p:nvSpPr>
        <p:spPr>
          <a:xfrm>
            <a:off x="6028083" y="4140062"/>
            <a:ext cx="1781257" cy="1077218"/>
          </a:xfrm>
          <a:prstGeom prst="rect">
            <a:avLst/>
          </a:prstGeom>
          <a:noFill/>
        </p:spPr>
        <p:txBody>
          <a:bodyPr wrap="none" rtlCol="0">
            <a:spAutoFit/>
          </a:bodyPr>
          <a:lstStyle/>
          <a:p>
            <a:r>
              <a:rPr lang="en-GB" dirty="0"/>
              <a:t>similarly, </a:t>
            </a:r>
          </a:p>
          <a:p>
            <a:r>
              <a:rPr lang="en-GB" b="1" dirty="0"/>
              <a:t>Cr = R – Y</a:t>
            </a:r>
          </a:p>
          <a:p>
            <a:endParaRPr lang="en-GB" b="1" dirty="0"/>
          </a:p>
          <a:p>
            <a:r>
              <a:rPr lang="en-GB" b="1" dirty="0"/>
              <a:t>          =          -</a:t>
            </a:r>
          </a:p>
        </p:txBody>
      </p:sp>
      <p:sp>
        <p:nvSpPr>
          <p:cNvPr id="11" name="TextBox 10"/>
          <p:cNvSpPr txBox="1"/>
          <p:nvPr/>
        </p:nvSpPr>
        <p:spPr>
          <a:xfrm>
            <a:off x="5990590" y="672465"/>
            <a:ext cx="2746586" cy="3293209"/>
          </a:xfrm>
          <a:prstGeom prst="rect">
            <a:avLst/>
          </a:prstGeom>
          <a:noFill/>
        </p:spPr>
        <p:txBody>
          <a:bodyPr wrap="none" rtlCol="0">
            <a:spAutoFit/>
          </a:bodyPr>
          <a:lstStyle/>
          <a:p>
            <a:r>
              <a:rPr lang="en-GB" b="1" dirty="0" err="1"/>
              <a:t>Cb</a:t>
            </a:r>
            <a:r>
              <a:rPr lang="en-GB" b="1" dirty="0"/>
              <a:t> = B – Y</a:t>
            </a:r>
          </a:p>
          <a:p>
            <a:pPr marL="179388" indent="-179388">
              <a:buFont typeface="Arial" pitchFamily="34" charset="0"/>
              <a:buChar char="•"/>
            </a:pPr>
            <a:r>
              <a:rPr lang="en-GB" dirty="0"/>
              <a:t>i.e. 8 bits of </a:t>
            </a:r>
            <a:r>
              <a:rPr lang="en-GB" dirty="0" err="1"/>
              <a:t>Cb</a:t>
            </a:r>
            <a:r>
              <a:rPr lang="en-GB" dirty="0"/>
              <a:t> (0-255)</a:t>
            </a:r>
          </a:p>
          <a:p>
            <a:pPr marL="179388" indent="-179388">
              <a:buFont typeface="Arial" pitchFamily="34" charset="0"/>
              <a:buChar char="•"/>
            </a:pPr>
            <a:r>
              <a:rPr lang="en-GB" dirty="0"/>
              <a:t>value of </a:t>
            </a:r>
            <a:r>
              <a:rPr lang="en-GB" dirty="0" err="1"/>
              <a:t>Cb</a:t>
            </a:r>
            <a:r>
              <a:rPr lang="en-GB" dirty="0"/>
              <a:t>:</a:t>
            </a:r>
          </a:p>
          <a:p>
            <a:pPr marL="179388" indent="-179388">
              <a:tabLst>
                <a:tab pos="357188" algn="l"/>
              </a:tabLst>
            </a:pPr>
            <a:r>
              <a:rPr lang="en-GB" dirty="0"/>
              <a:t>		value of original Blue </a:t>
            </a:r>
          </a:p>
          <a:p>
            <a:pPr marL="179388" indent="-179388"/>
            <a:r>
              <a:rPr lang="en-GB" dirty="0"/>
              <a:t>		minus</a:t>
            </a:r>
          </a:p>
          <a:p>
            <a:pPr marL="179388" indent="-179388">
              <a:tabLst>
                <a:tab pos="357188" algn="l"/>
              </a:tabLst>
            </a:pPr>
            <a:r>
              <a:rPr lang="en-GB" dirty="0"/>
              <a:t>		value of </a:t>
            </a:r>
            <a:r>
              <a:rPr lang="en-GB" dirty="0" err="1"/>
              <a:t>luma</a:t>
            </a:r>
            <a:endParaRPr lang="en-GB" dirty="0"/>
          </a:p>
          <a:p>
            <a:pPr marL="179388" indent="-179388">
              <a:tabLst>
                <a:tab pos="357188" algn="l"/>
              </a:tabLst>
            </a:pPr>
            <a:endParaRPr lang="en-GB" dirty="0"/>
          </a:p>
          <a:p>
            <a:pPr marL="179388" indent="-179388">
              <a:tabLst>
                <a:tab pos="357188" algn="l"/>
              </a:tabLst>
            </a:pPr>
            <a:r>
              <a:rPr lang="en-GB" dirty="0"/>
              <a:t>         =           -  </a:t>
            </a:r>
          </a:p>
          <a:p>
            <a:pPr marL="179388" indent="-179388">
              <a:tabLst>
                <a:tab pos="357188" algn="l"/>
              </a:tabLst>
            </a:pPr>
            <a:endParaRPr lang="en-GB" dirty="0"/>
          </a:p>
          <a:p>
            <a:pPr marL="179388" indent="-179388">
              <a:tabLst>
                <a:tab pos="357188" algn="l"/>
              </a:tabLst>
            </a:pPr>
            <a:r>
              <a:rPr lang="en-GB" dirty="0"/>
              <a:t>e.g.</a:t>
            </a:r>
          </a:p>
          <a:p>
            <a:pPr marL="342900" indent="-342900">
              <a:buAutoNum type="arabicPlain" startAt="120"/>
              <a:tabLst>
                <a:tab pos="357188" algn="l"/>
              </a:tabLst>
            </a:pPr>
            <a:r>
              <a:rPr lang="en-GB" dirty="0"/>
              <a:t>=   210  -   90</a:t>
            </a:r>
          </a:p>
          <a:p>
            <a:pPr>
              <a:tabLst>
                <a:tab pos="357188" algn="l"/>
              </a:tabLst>
            </a:pPr>
            <a:endParaRPr lang="en-GB" dirty="0"/>
          </a:p>
          <a:p>
            <a:pPr>
              <a:tabLst>
                <a:tab pos="357188" algn="l"/>
              </a:tabLst>
            </a:pPr>
            <a:r>
              <a:rPr lang="en-GB" dirty="0"/>
              <a:t> </a:t>
            </a:r>
          </a:p>
        </p:txBody>
      </p:sp>
      <p:cxnSp>
        <p:nvCxnSpPr>
          <p:cNvPr id="12" name="Straight Arrow Connector 11"/>
          <p:cNvCxnSpPr/>
          <p:nvPr/>
        </p:nvCxnSpPr>
        <p:spPr bwMode="auto">
          <a:xfrm flipH="1">
            <a:off x="5010150" y="1466850"/>
            <a:ext cx="971550" cy="495300"/>
          </a:xfrm>
          <a:prstGeom prst="straightConnector1">
            <a:avLst/>
          </a:prstGeom>
          <a:noFill/>
          <a:ln w="9525" cap="flat" cmpd="sng" algn="ctr">
            <a:solidFill>
              <a:schemeClr val="tx1"/>
            </a:solidFill>
            <a:prstDash val="solid"/>
            <a:round/>
            <a:headEnd type="none" w="med" len="med"/>
            <a:tailEnd type="arrow"/>
          </a:ln>
          <a:effectLst/>
        </p:spPr>
      </p:cxnSp>
      <p:cxnSp>
        <p:nvCxnSpPr>
          <p:cNvPr id="13" name="Straight Arrow Connector 12"/>
          <p:cNvCxnSpPr/>
          <p:nvPr/>
        </p:nvCxnSpPr>
        <p:spPr bwMode="auto">
          <a:xfrm flipH="1" flipV="1">
            <a:off x="5224256" y="3429829"/>
            <a:ext cx="808796" cy="714788"/>
          </a:xfrm>
          <a:prstGeom prst="straightConnector1">
            <a:avLst/>
          </a:prstGeom>
          <a:noFill/>
          <a:ln w="9525" cap="flat" cmpd="sng" algn="ctr">
            <a:solidFill>
              <a:schemeClr val="tx1"/>
            </a:solidFill>
            <a:prstDash val="solid"/>
            <a:round/>
            <a:headEnd type="none" w="med" len="med"/>
            <a:tailEnd type="arrow"/>
          </a:ln>
          <a:effectLst/>
        </p:spPr>
      </p:cxnSp>
      <p:sp>
        <p:nvSpPr>
          <p:cNvPr id="14" name="Rectangle 13"/>
          <p:cNvSpPr/>
          <p:nvPr/>
        </p:nvSpPr>
        <p:spPr bwMode="auto">
          <a:xfrm>
            <a:off x="1059020" y="2076075"/>
            <a:ext cx="1560355" cy="149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914605" y="1959417"/>
            <a:ext cx="1560355" cy="14958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 name="Rectangle 15"/>
          <p:cNvSpPr/>
          <p:nvPr/>
        </p:nvSpPr>
        <p:spPr bwMode="auto">
          <a:xfrm>
            <a:off x="770191" y="1796096"/>
            <a:ext cx="1560355" cy="1495800"/>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 name="Right Arrow 16"/>
          <p:cNvSpPr/>
          <p:nvPr/>
        </p:nvSpPr>
        <p:spPr bwMode="auto">
          <a:xfrm>
            <a:off x="2990850" y="2433338"/>
            <a:ext cx="529216" cy="458298"/>
          </a:xfrm>
          <a:prstGeom prst="rightArrow">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 name="Right Brace 17"/>
          <p:cNvSpPr/>
          <p:nvPr/>
        </p:nvSpPr>
        <p:spPr bwMode="auto">
          <a:xfrm rot="5400000">
            <a:off x="1600199" y="3067052"/>
            <a:ext cx="295275" cy="1819275"/>
          </a:xfrm>
          <a:prstGeom prst="rightBrace">
            <a:avLst>
              <a:gd name="adj1" fmla="val 31589"/>
              <a:gd name="adj2" fmla="val 50000"/>
            </a:avLst>
          </a:prstGeom>
          <a:noFill/>
          <a:ln w="9525" cap="flat" cmpd="sng" algn="ctr">
            <a:solidFill>
              <a:schemeClr val="tx1"/>
            </a:solidFill>
            <a:prstDash val="solid"/>
            <a:round/>
            <a:headEnd type="none" w="med" len="med"/>
            <a:tailEnd type="none"/>
          </a:ln>
          <a:effectLst/>
        </p:spPr>
        <p:txBody>
          <a:bodyPr rtlCol="0" anchor="ctr"/>
          <a:lstStyle/>
          <a:p>
            <a:pPr algn="ctr"/>
            <a:endParaRPr lang="en-GB"/>
          </a:p>
        </p:txBody>
      </p:sp>
      <p:sp>
        <p:nvSpPr>
          <p:cNvPr id="19" name="Rectangle 18"/>
          <p:cNvSpPr/>
          <p:nvPr/>
        </p:nvSpPr>
        <p:spPr bwMode="auto">
          <a:xfrm>
            <a:off x="978912" y="4269283"/>
            <a:ext cx="1560355" cy="1495800"/>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 name="TextBox 19"/>
          <p:cNvSpPr txBox="1"/>
          <p:nvPr/>
        </p:nvSpPr>
        <p:spPr>
          <a:xfrm>
            <a:off x="2601111" y="4561877"/>
            <a:ext cx="2925046" cy="1077218"/>
          </a:xfrm>
          <a:prstGeom prst="rect">
            <a:avLst/>
          </a:prstGeom>
          <a:noFill/>
        </p:spPr>
        <p:txBody>
          <a:bodyPr wrap="square" rtlCol="0">
            <a:spAutoFit/>
          </a:bodyPr>
          <a:lstStyle/>
          <a:p>
            <a:r>
              <a:rPr lang="en-GB" sz="1600" dirty="0"/>
              <a:t>Overall luminance </a:t>
            </a:r>
          </a:p>
          <a:p>
            <a:r>
              <a:rPr lang="en-GB" sz="1600" dirty="0"/>
              <a:t>i.e. greyscale, monochrome </a:t>
            </a:r>
          </a:p>
          <a:p>
            <a:r>
              <a:rPr lang="en-GB" sz="1600" dirty="0"/>
              <a:t>of this pixel </a:t>
            </a:r>
          </a:p>
          <a:p>
            <a:r>
              <a:rPr lang="en-GB" sz="1600" dirty="0"/>
              <a:t>= Y,  ...  i.e. the </a:t>
            </a:r>
            <a:r>
              <a:rPr lang="en-GB" sz="1600" b="1" i="1" dirty="0" err="1"/>
              <a:t>luma</a:t>
            </a:r>
            <a:endParaRPr lang="en-GB" sz="1600" b="1" i="1" dirty="0"/>
          </a:p>
        </p:txBody>
      </p:sp>
      <p:sp>
        <p:nvSpPr>
          <p:cNvPr id="21" name="Rectangle 20"/>
          <p:cNvSpPr/>
          <p:nvPr/>
        </p:nvSpPr>
        <p:spPr bwMode="auto">
          <a:xfrm>
            <a:off x="6057968" y="2338562"/>
            <a:ext cx="491699" cy="472887"/>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 name="Rectangle 21"/>
          <p:cNvSpPr/>
          <p:nvPr/>
        </p:nvSpPr>
        <p:spPr bwMode="auto">
          <a:xfrm>
            <a:off x="6937498" y="2346959"/>
            <a:ext cx="499621" cy="464489"/>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7737302" y="2336800"/>
            <a:ext cx="511956" cy="484588"/>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 name="Rectangle 23"/>
          <p:cNvSpPr/>
          <p:nvPr/>
        </p:nvSpPr>
        <p:spPr bwMode="auto">
          <a:xfrm>
            <a:off x="6131982" y="4815708"/>
            <a:ext cx="537176" cy="452030"/>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 name="Rectangle 24"/>
          <p:cNvSpPr/>
          <p:nvPr/>
        </p:nvSpPr>
        <p:spPr bwMode="auto">
          <a:xfrm>
            <a:off x="7002025" y="4817592"/>
            <a:ext cx="521897" cy="440208"/>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 name="Rectangle 25"/>
          <p:cNvSpPr/>
          <p:nvPr/>
        </p:nvSpPr>
        <p:spPr bwMode="auto">
          <a:xfrm>
            <a:off x="7836913" y="4805996"/>
            <a:ext cx="531836" cy="471682"/>
          </a:xfrm>
          <a:prstGeom prst="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27" name="Straight Arrow Connector 26"/>
          <p:cNvCxnSpPr/>
          <p:nvPr/>
        </p:nvCxnSpPr>
        <p:spPr bwMode="auto">
          <a:xfrm flipH="1" flipV="1">
            <a:off x="5234416" y="3460309"/>
            <a:ext cx="808796" cy="714788"/>
          </a:xfrm>
          <a:prstGeom prst="straightConnector1">
            <a:avLst/>
          </a:prstGeom>
          <a:noFill/>
          <a:ln w="9525" cap="flat" cmpd="sng" algn="ctr">
            <a:solidFill>
              <a:srgbClr val="FFFF00"/>
            </a:solidFill>
            <a:prstDash val="solid"/>
            <a:round/>
            <a:headEnd type="none" w="med" len="med"/>
            <a:tailEnd type="arrow"/>
          </a:ln>
          <a:effectLst/>
        </p:spPr>
      </p:cxnSp>
      <p:sp>
        <p:nvSpPr>
          <p:cNvPr id="29" name="Rectangle 28"/>
          <p:cNvSpPr/>
          <p:nvPr/>
        </p:nvSpPr>
        <p:spPr>
          <a:xfrm>
            <a:off x="3689935" y="1837323"/>
            <a:ext cx="869149" cy="276999"/>
          </a:xfrm>
          <a:prstGeom prst="rect">
            <a:avLst/>
          </a:prstGeom>
        </p:spPr>
        <p:txBody>
          <a:bodyPr wrap="none">
            <a:spAutoFit/>
          </a:bodyPr>
          <a:lstStyle/>
          <a:p>
            <a:r>
              <a:rPr lang="en-GB" sz="1200" dirty="0"/>
              <a:t>1111000</a:t>
            </a:r>
          </a:p>
        </p:txBody>
      </p:sp>
      <p:sp>
        <p:nvSpPr>
          <p:cNvPr id="30" name="Rectangle 29"/>
          <p:cNvSpPr/>
          <p:nvPr/>
        </p:nvSpPr>
        <p:spPr>
          <a:xfrm>
            <a:off x="1257734" y="3259723"/>
            <a:ext cx="966931" cy="276999"/>
          </a:xfrm>
          <a:prstGeom prst="rect">
            <a:avLst/>
          </a:prstGeom>
        </p:spPr>
        <p:txBody>
          <a:bodyPr wrap="none">
            <a:spAutoFit/>
          </a:bodyPr>
          <a:lstStyle/>
          <a:p>
            <a:r>
              <a:rPr lang="en-GB" sz="1200" dirty="0">
                <a:solidFill>
                  <a:srgbClr val="FFFF00"/>
                </a:solidFill>
              </a:rPr>
              <a:t>11010010</a:t>
            </a:r>
          </a:p>
        </p:txBody>
      </p:sp>
      <p:sp>
        <p:nvSpPr>
          <p:cNvPr id="31" name="Rectangle 30"/>
          <p:cNvSpPr/>
          <p:nvPr/>
        </p:nvSpPr>
        <p:spPr>
          <a:xfrm>
            <a:off x="967055" y="4285883"/>
            <a:ext cx="966931" cy="276999"/>
          </a:xfrm>
          <a:prstGeom prst="rect">
            <a:avLst/>
          </a:prstGeom>
        </p:spPr>
        <p:txBody>
          <a:bodyPr wrap="none">
            <a:spAutoFit/>
          </a:bodyPr>
          <a:lstStyle/>
          <a:p>
            <a:r>
              <a:rPr lang="en-GB" sz="1200" dirty="0"/>
              <a:t>01011010</a:t>
            </a:r>
          </a:p>
        </p:txBody>
      </p:sp>
    </p:spTree>
    <p:extLst>
      <p:ext uri="{BB962C8B-B14F-4D97-AF65-F5344CB8AC3E}">
        <p14:creationId xmlns:p14="http://schemas.microsoft.com/office/powerpoint/2010/main" val="634217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121716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 name="Rectangle 3"/>
          <p:cNvSpPr/>
          <p:nvPr/>
        </p:nvSpPr>
        <p:spPr bwMode="auto">
          <a:xfrm>
            <a:off x="176517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 name="Rectangle 4"/>
          <p:cNvSpPr/>
          <p:nvPr/>
        </p:nvSpPr>
        <p:spPr bwMode="auto">
          <a:xfrm>
            <a:off x="231318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 name="Rectangle 5"/>
          <p:cNvSpPr/>
          <p:nvPr/>
        </p:nvSpPr>
        <p:spPr bwMode="auto">
          <a:xfrm>
            <a:off x="108373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 name="Rectangle 6"/>
          <p:cNvSpPr/>
          <p:nvPr/>
        </p:nvSpPr>
        <p:spPr bwMode="auto">
          <a:xfrm>
            <a:off x="163174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 name="Rectangle 7"/>
          <p:cNvSpPr/>
          <p:nvPr/>
        </p:nvSpPr>
        <p:spPr bwMode="auto">
          <a:xfrm>
            <a:off x="217975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 name="Rectangle 8"/>
          <p:cNvSpPr/>
          <p:nvPr/>
        </p:nvSpPr>
        <p:spPr bwMode="auto">
          <a:xfrm>
            <a:off x="95030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 name="Rectangle 9"/>
          <p:cNvSpPr/>
          <p:nvPr/>
        </p:nvSpPr>
        <p:spPr bwMode="auto">
          <a:xfrm>
            <a:off x="149831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 name="Rectangle 10"/>
          <p:cNvSpPr/>
          <p:nvPr/>
        </p:nvSpPr>
        <p:spPr bwMode="auto">
          <a:xfrm>
            <a:off x="2046324"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 name="Rectangle 11"/>
          <p:cNvSpPr/>
          <p:nvPr/>
        </p:nvSpPr>
        <p:spPr bwMode="auto">
          <a:xfrm>
            <a:off x="288517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 name="Rectangle 12"/>
          <p:cNvSpPr/>
          <p:nvPr/>
        </p:nvSpPr>
        <p:spPr bwMode="auto">
          <a:xfrm>
            <a:off x="343318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 name="Rectangle 13"/>
          <p:cNvSpPr/>
          <p:nvPr/>
        </p:nvSpPr>
        <p:spPr bwMode="auto">
          <a:xfrm>
            <a:off x="398119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275174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 name="Rectangle 15"/>
          <p:cNvSpPr/>
          <p:nvPr/>
        </p:nvSpPr>
        <p:spPr bwMode="auto">
          <a:xfrm>
            <a:off x="329975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 name="Rectangle 16"/>
          <p:cNvSpPr/>
          <p:nvPr/>
        </p:nvSpPr>
        <p:spPr bwMode="auto">
          <a:xfrm>
            <a:off x="384776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 name="Rectangle 17"/>
          <p:cNvSpPr/>
          <p:nvPr/>
        </p:nvSpPr>
        <p:spPr bwMode="auto">
          <a:xfrm>
            <a:off x="2618314"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 name="Rectangle 18"/>
          <p:cNvSpPr/>
          <p:nvPr/>
        </p:nvSpPr>
        <p:spPr bwMode="auto">
          <a:xfrm>
            <a:off x="316632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 name="Rectangle 19"/>
          <p:cNvSpPr/>
          <p:nvPr/>
        </p:nvSpPr>
        <p:spPr bwMode="auto">
          <a:xfrm>
            <a:off x="3714334"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 name="Rectangle 20"/>
          <p:cNvSpPr/>
          <p:nvPr/>
        </p:nvSpPr>
        <p:spPr bwMode="auto">
          <a:xfrm>
            <a:off x="121716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 name="Rectangle 21"/>
          <p:cNvSpPr/>
          <p:nvPr/>
        </p:nvSpPr>
        <p:spPr bwMode="auto">
          <a:xfrm>
            <a:off x="176517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231318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 name="Rectangle 23"/>
          <p:cNvSpPr/>
          <p:nvPr/>
        </p:nvSpPr>
        <p:spPr bwMode="auto">
          <a:xfrm>
            <a:off x="108373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 name="Rectangle 24"/>
          <p:cNvSpPr/>
          <p:nvPr/>
        </p:nvSpPr>
        <p:spPr bwMode="auto">
          <a:xfrm>
            <a:off x="163174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 name="Rectangle 25"/>
          <p:cNvSpPr/>
          <p:nvPr/>
        </p:nvSpPr>
        <p:spPr bwMode="auto">
          <a:xfrm>
            <a:off x="217975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 name="Rectangle 26"/>
          <p:cNvSpPr/>
          <p:nvPr/>
        </p:nvSpPr>
        <p:spPr bwMode="auto">
          <a:xfrm>
            <a:off x="95030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 name="Rectangle 27"/>
          <p:cNvSpPr/>
          <p:nvPr/>
        </p:nvSpPr>
        <p:spPr bwMode="auto">
          <a:xfrm>
            <a:off x="149831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 name="Rectangle 28"/>
          <p:cNvSpPr/>
          <p:nvPr/>
        </p:nvSpPr>
        <p:spPr bwMode="auto">
          <a:xfrm>
            <a:off x="2046324"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0" name="Rectangle 29"/>
          <p:cNvSpPr/>
          <p:nvPr/>
        </p:nvSpPr>
        <p:spPr bwMode="auto">
          <a:xfrm>
            <a:off x="288517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1" name="Rectangle 30"/>
          <p:cNvSpPr/>
          <p:nvPr/>
        </p:nvSpPr>
        <p:spPr bwMode="auto">
          <a:xfrm>
            <a:off x="343318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2" name="Rectangle 31"/>
          <p:cNvSpPr/>
          <p:nvPr/>
        </p:nvSpPr>
        <p:spPr bwMode="auto">
          <a:xfrm>
            <a:off x="398119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 name="Rectangle 32"/>
          <p:cNvSpPr/>
          <p:nvPr/>
        </p:nvSpPr>
        <p:spPr bwMode="auto">
          <a:xfrm>
            <a:off x="275174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4" name="Rectangle 33"/>
          <p:cNvSpPr/>
          <p:nvPr/>
        </p:nvSpPr>
        <p:spPr bwMode="auto">
          <a:xfrm>
            <a:off x="329975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5" name="Rectangle 34"/>
          <p:cNvSpPr/>
          <p:nvPr/>
        </p:nvSpPr>
        <p:spPr bwMode="auto">
          <a:xfrm>
            <a:off x="384776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6" name="Rectangle 35"/>
          <p:cNvSpPr/>
          <p:nvPr/>
        </p:nvSpPr>
        <p:spPr bwMode="auto">
          <a:xfrm>
            <a:off x="2618314"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7" name="Rectangle 36"/>
          <p:cNvSpPr/>
          <p:nvPr/>
        </p:nvSpPr>
        <p:spPr bwMode="auto">
          <a:xfrm>
            <a:off x="316632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8" name="Rectangle 37"/>
          <p:cNvSpPr/>
          <p:nvPr/>
        </p:nvSpPr>
        <p:spPr bwMode="auto">
          <a:xfrm>
            <a:off x="3714334"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9" name="Rectangle 38"/>
          <p:cNvSpPr/>
          <p:nvPr/>
        </p:nvSpPr>
        <p:spPr bwMode="auto">
          <a:xfrm>
            <a:off x="121091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0" name="Rectangle 39"/>
          <p:cNvSpPr/>
          <p:nvPr/>
        </p:nvSpPr>
        <p:spPr bwMode="auto">
          <a:xfrm>
            <a:off x="175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1" name="Rectangle 40"/>
          <p:cNvSpPr/>
          <p:nvPr/>
        </p:nvSpPr>
        <p:spPr bwMode="auto">
          <a:xfrm>
            <a:off x="230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2" name="Rectangle 41"/>
          <p:cNvSpPr/>
          <p:nvPr/>
        </p:nvSpPr>
        <p:spPr bwMode="auto">
          <a:xfrm>
            <a:off x="107749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3" name="Rectangle 42"/>
          <p:cNvSpPr/>
          <p:nvPr/>
        </p:nvSpPr>
        <p:spPr bwMode="auto">
          <a:xfrm>
            <a:off x="1625500"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4" name="Rectangle 43"/>
          <p:cNvSpPr/>
          <p:nvPr/>
        </p:nvSpPr>
        <p:spPr bwMode="auto">
          <a:xfrm>
            <a:off x="217351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5" name="Rectangle 44"/>
          <p:cNvSpPr/>
          <p:nvPr/>
        </p:nvSpPr>
        <p:spPr bwMode="auto">
          <a:xfrm>
            <a:off x="94406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6" name="Rectangle 45"/>
          <p:cNvSpPr/>
          <p:nvPr/>
        </p:nvSpPr>
        <p:spPr bwMode="auto">
          <a:xfrm>
            <a:off x="149207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7" name="Rectangle 46"/>
          <p:cNvSpPr/>
          <p:nvPr/>
        </p:nvSpPr>
        <p:spPr bwMode="auto">
          <a:xfrm>
            <a:off x="204008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8" name="Rectangle 47"/>
          <p:cNvSpPr/>
          <p:nvPr/>
        </p:nvSpPr>
        <p:spPr bwMode="auto">
          <a:xfrm>
            <a:off x="287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9" name="Rectangle 48"/>
          <p:cNvSpPr/>
          <p:nvPr/>
        </p:nvSpPr>
        <p:spPr bwMode="auto">
          <a:xfrm>
            <a:off x="342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0" name="Rectangle 49"/>
          <p:cNvSpPr/>
          <p:nvPr/>
        </p:nvSpPr>
        <p:spPr bwMode="auto">
          <a:xfrm>
            <a:off x="3974950"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274550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2" name="Rectangle 51"/>
          <p:cNvSpPr/>
          <p:nvPr/>
        </p:nvSpPr>
        <p:spPr bwMode="auto">
          <a:xfrm>
            <a:off x="329351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3" name="Rectangle 52"/>
          <p:cNvSpPr/>
          <p:nvPr/>
        </p:nvSpPr>
        <p:spPr bwMode="auto">
          <a:xfrm>
            <a:off x="384152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4" name="Rectangle 53"/>
          <p:cNvSpPr/>
          <p:nvPr/>
        </p:nvSpPr>
        <p:spPr bwMode="auto">
          <a:xfrm>
            <a:off x="261207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5" name="Rectangle 54"/>
          <p:cNvSpPr/>
          <p:nvPr/>
        </p:nvSpPr>
        <p:spPr bwMode="auto">
          <a:xfrm>
            <a:off x="316008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6" name="Rectangle 55"/>
          <p:cNvSpPr/>
          <p:nvPr/>
        </p:nvSpPr>
        <p:spPr bwMode="auto">
          <a:xfrm>
            <a:off x="370809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7" name="Rectangle 56"/>
          <p:cNvSpPr/>
          <p:nvPr/>
        </p:nvSpPr>
        <p:spPr bwMode="auto">
          <a:xfrm>
            <a:off x="121716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8" name="Rectangle 57"/>
          <p:cNvSpPr/>
          <p:nvPr/>
        </p:nvSpPr>
        <p:spPr bwMode="auto">
          <a:xfrm>
            <a:off x="176517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9" name="Rectangle 58"/>
          <p:cNvSpPr/>
          <p:nvPr/>
        </p:nvSpPr>
        <p:spPr bwMode="auto">
          <a:xfrm>
            <a:off x="231318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0" name="Rectangle 59"/>
          <p:cNvSpPr/>
          <p:nvPr/>
        </p:nvSpPr>
        <p:spPr bwMode="auto">
          <a:xfrm>
            <a:off x="108373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1" name="Rectangle 60"/>
          <p:cNvSpPr/>
          <p:nvPr/>
        </p:nvSpPr>
        <p:spPr bwMode="auto">
          <a:xfrm>
            <a:off x="163174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2" name="Rectangle 61"/>
          <p:cNvSpPr/>
          <p:nvPr/>
        </p:nvSpPr>
        <p:spPr bwMode="auto">
          <a:xfrm>
            <a:off x="217975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3" name="Rectangle 62"/>
          <p:cNvSpPr/>
          <p:nvPr/>
        </p:nvSpPr>
        <p:spPr bwMode="auto">
          <a:xfrm>
            <a:off x="95030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4" name="Rectangle 63"/>
          <p:cNvSpPr/>
          <p:nvPr/>
        </p:nvSpPr>
        <p:spPr bwMode="auto">
          <a:xfrm>
            <a:off x="149831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5" name="Rectangle 64"/>
          <p:cNvSpPr/>
          <p:nvPr/>
        </p:nvSpPr>
        <p:spPr bwMode="auto">
          <a:xfrm>
            <a:off x="2046324"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6" name="Rectangle 65"/>
          <p:cNvSpPr/>
          <p:nvPr/>
        </p:nvSpPr>
        <p:spPr bwMode="auto">
          <a:xfrm>
            <a:off x="288517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7" name="Rectangle 66"/>
          <p:cNvSpPr/>
          <p:nvPr/>
        </p:nvSpPr>
        <p:spPr bwMode="auto">
          <a:xfrm>
            <a:off x="343318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8" name="Rectangle 67"/>
          <p:cNvSpPr/>
          <p:nvPr/>
        </p:nvSpPr>
        <p:spPr bwMode="auto">
          <a:xfrm>
            <a:off x="398119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9" name="Rectangle 68"/>
          <p:cNvSpPr/>
          <p:nvPr/>
        </p:nvSpPr>
        <p:spPr bwMode="auto">
          <a:xfrm>
            <a:off x="275174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0" name="Rectangle 69"/>
          <p:cNvSpPr/>
          <p:nvPr/>
        </p:nvSpPr>
        <p:spPr bwMode="auto">
          <a:xfrm>
            <a:off x="329975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1" name="Rectangle 70"/>
          <p:cNvSpPr/>
          <p:nvPr/>
        </p:nvSpPr>
        <p:spPr bwMode="auto">
          <a:xfrm>
            <a:off x="384776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2" name="Rectangle 71"/>
          <p:cNvSpPr/>
          <p:nvPr/>
        </p:nvSpPr>
        <p:spPr bwMode="auto">
          <a:xfrm>
            <a:off x="2618314"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3" name="Rectangle 72"/>
          <p:cNvSpPr/>
          <p:nvPr/>
        </p:nvSpPr>
        <p:spPr bwMode="auto">
          <a:xfrm>
            <a:off x="316632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4" name="Rectangle 73"/>
          <p:cNvSpPr/>
          <p:nvPr/>
        </p:nvSpPr>
        <p:spPr bwMode="auto">
          <a:xfrm>
            <a:off x="3714334"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5" name="Rectangle 74"/>
          <p:cNvSpPr/>
          <p:nvPr/>
        </p:nvSpPr>
        <p:spPr bwMode="auto">
          <a:xfrm>
            <a:off x="452233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6" name="Rectangle 75"/>
          <p:cNvSpPr/>
          <p:nvPr/>
        </p:nvSpPr>
        <p:spPr bwMode="auto">
          <a:xfrm>
            <a:off x="507034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7" name="Rectangle 76"/>
          <p:cNvSpPr/>
          <p:nvPr/>
        </p:nvSpPr>
        <p:spPr bwMode="auto">
          <a:xfrm>
            <a:off x="561835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8" name="Rectangle 77"/>
          <p:cNvSpPr/>
          <p:nvPr/>
        </p:nvSpPr>
        <p:spPr bwMode="auto">
          <a:xfrm>
            <a:off x="438890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9" name="Rectangle 78"/>
          <p:cNvSpPr/>
          <p:nvPr/>
        </p:nvSpPr>
        <p:spPr bwMode="auto">
          <a:xfrm>
            <a:off x="493691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0" name="Rectangle 79"/>
          <p:cNvSpPr/>
          <p:nvPr/>
        </p:nvSpPr>
        <p:spPr bwMode="auto">
          <a:xfrm>
            <a:off x="548492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1" name="Rectangle 80"/>
          <p:cNvSpPr/>
          <p:nvPr/>
        </p:nvSpPr>
        <p:spPr bwMode="auto">
          <a:xfrm>
            <a:off x="4255478"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2" name="Rectangle 81"/>
          <p:cNvSpPr/>
          <p:nvPr/>
        </p:nvSpPr>
        <p:spPr bwMode="auto">
          <a:xfrm>
            <a:off x="4803488"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3" name="Rectangle 82"/>
          <p:cNvSpPr/>
          <p:nvPr/>
        </p:nvSpPr>
        <p:spPr bwMode="auto">
          <a:xfrm>
            <a:off x="535149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4" name="Rectangle 83"/>
          <p:cNvSpPr/>
          <p:nvPr/>
        </p:nvSpPr>
        <p:spPr bwMode="auto">
          <a:xfrm>
            <a:off x="619034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5" name="Rectangle 84"/>
          <p:cNvSpPr/>
          <p:nvPr/>
        </p:nvSpPr>
        <p:spPr bwMode="auto">
          <a:xfrm>
            <a:off x="673835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6" name="Rectangle 85"/>
          <p:cNvSpPr/>
          <p:nvPr/>
        </p:nvSpPr>
        <p:spPr bwMode="auto">
          <a:xfrm>
            <a:off x="728636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7" name="Rectangle 86"/>
          <p:cNvSpPr/>
          <p:nvPr/>
        </p:nvSpPr>
        <p:spPr bwMode="auto">
          <a:xfrm>
            <a:off x="605691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8" name="Rectangle 87"/>
          <p:cNvSpPr/>
          <p:nvPr/>
        </p:nvSpPr>
        <p:spPr bwMode="auto">
          <a:xfrm>
            <a:off x="660492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9" name="Rectangle 88"/>
          <p:cNvSpPr/>
          <p:nvPr/>
        </p:nvSpPr>
        <p:spPr bwMode="auto">
          <a:xfrm>
            <a:off x="715293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0" name="Rectangle 89"/>
          <p:cNvSpPr/>
          <p:nvPr/>
        </p:nvSpPr>
        <p:spPr bwMode="auto">
          <a:xfrm>
            <a:off x="592348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1" name="Rectangle 90"/>
          <p:cNvSpPr/>
          <p:nvPr/>
        </p:nvSpPr>
        <p:spPr bwMode="auto">
          <a:xfrm>
            <a:off x="6471498"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2" name="Rectangle 91"/>
          <p:cNvSpPr/>
          <p:nvPr/>
        </p:nvSpPr>
        <p:spPr bwMode="auto">
          <a:xfrm>
            <a:off x="701950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3" name="Rectangle 92"/>
          <p:cNvSpPr/>
          <p:nvPr/>
        </p:nvSpPr>
        <p:spPr bwMode="auto">
          <a:xfrm>
            <a:off x="452233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4" name="Rectangle 93"/>
          <p:cNvSpPr/>
          <p:nvPr/>
        </p:nvSpPr>
        <p:spPr bwMode="auto">
          <a:xfrm>
            <a:off x="507034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5" name="Rectangle 94"/>
          <p:cNvSpPr/>
          <p:nvPr/>
        </p:nvSpPr>
        <p:spPr bwMode="auto">
          <a:xfrm>
            <a:off x="561835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6" name="Rectangle 95"/>
          <p:cNvSpPr/>
          <p:nvPr/>
        </p:nvSpPr>
        <p:spPr bwMode="auto">
          <a:xfrm>
            <a:off x="438890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7" name="Rectangle 96"/>
          <p:cNvSpPr/>
          <p:nvPr/>
        </p:nvSpPr>
        <p:spPr bwMode="auto">
          <a:xfrm>
            <a:off x="493691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8" name="Rectangle 97"/>
          <p:cNvSpPr/>
          <p:nvPr/>
        </p:nvSpPr>
        <p:spPr bwMode="auto">
          <a:xfrm>
            <a:off x="548492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9" name="Rectangle 98"/>
          <p:cNvSpPr/>
          <p:nvPr/>
        </p:nvSpPr>
        <p:spPr bwMode="auto">
          <a:xfrm>
            <a:off x="4255478"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0" name="Rectangle 99"/>
          <p:cNvSpPr/>
          <p:nvPr/>
        </p:nvSpPr>
        <p:spPr bwMode="auto">
          <a:xfrm>
            <a:off x="4803488"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1" name="Rectangle 100"/>
          <p:cNvSpPr/>
          <p:nvPr/>
        </p:nvSpPr>
        <p:spPr bwMode="auto">
          <a:xfrm>
            <a:off x="535149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2" name="Rectangle 101"/>
          <p:cNvSpPr/>
          <p:nvPr/>
        </p:nvSpPr>
        <p:spPr bwMode="auto">
          <a:xfrm>
            <a:off x="619034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673835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4" name="Rectangle 103"/>
          <p:cNvSpPr/>
          <p:nvPr/>
        </p:nvSpPr>
        <p:spPr bwMode="auto">
          <a:xfrm>
            <a:off x="728636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5" name="Rectangle 104"/>
          <p:cNvSpPr/>
          <p:nvPr/>
        </p:nvSpPr>
        <p:spPr bwMode="auto">
          <a:xfrm>
            <a:off x="605691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6" name="Rectangle 105"/>
          <p:cNvSpPr/>
          <p:nvPr/>
        </p:nvSpPr>
        <p:spPr bwMode="auto">
          <a:xfrm>
            <a:off x="660492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7" name="Rectangle 106"/>
          <p:cNvSpPr/>
          <p:nvPr/>
        </p:nvSpPr>
        <p:spPr bwMode="auto">
          <a:xfrm>
            <a:off x="715293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8" name="Rectangle 107"/>
          <p:cNvSpPr/>
          <p:nvPr/>
        </p:nvSpPr>
        <p:spPr bwMode="auto">
          <a:xfrm>
            <a:off x="592348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9" name="Rectangle 108"/>
          <p:cNvSpPr/>
          <p:nvPr/>
        </p:nvSpPr>
        <p:spPr bwMode="auto">
          <a:xfrm>
            <a:off x="6471498"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701950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451609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506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3" name="Rectangle 112"/>
          <p:cNvSpPr/>
          <p:nvPr/>
        </p:nvSpPr>
        <p:spPr bwMode="auto">
          <a:xfrm>
            <a:off x="561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4" name="Rectangle 113"/>
          <p:cNvSpPr/>
          <p:nvPr/>
        </p:nvSpPr>
        <p:spPr bwMode="auto">
          <a:xfrm>
            <a:off x="438266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4930675"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6" name="Rectangle 115"/>
          <p:cNvSpPr/>
          <p:nvPr/>
        </p:nvSpPr>
        <p:spPr bwMode="auto">
          <a:xfrm>
            <a:off x="547868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7" name="Rectangle 116"/>
          <p:cNvSpPr/>
          <p:nvPr/>
        </p:nvSpPr>
        <p:spPr bwMode="auto">
          <a:xfrm>
            <a:off x="424923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479724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618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1" name="Rectangle 120"/>
          <p:cNvSpPr/>
          <p:nvPr/>
        </p:nvSpPr>
        <p:spPr bwMode="auto">
          <a:xfrm>
            <a:off x="673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2" name="Rectangle 121"/>
          <p:cNvSpPr/>
          <p:nvPr/>
        </p:nvSpPr>
        <p:spPr bwMode="auto">
          <a:xfrm>
            <a:off x="7280125"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3" name="Rectangle 122"/>
          <p:cNvSpPr/>
          <p:nvPr/>
        </p:nvSpPr>
        <p:spPr bwMode="auto">
          <a:xfrm>
            <a:off x="605067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4" name="Rectangle 123"/>
          <p:cNvSpPr/>
          <p:nvPr/>
        </p:nvSpPr>
        <p:spPr bwMode="auto">
          <a:xfrm>
            <a:off x="659868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5" name="Rectangle 124"/>
          <p:cNvSpPr/>
          <p:nvPr/>
        </p:nvSpPr>
        <p:spPr bwMode="auto">
          <a:xfrm>
            <a:off x="714669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6" name="Rectangle 125"/>
          <p:cNvSpPr/>
          <p:nvPr/>
        </p:nvSpPr>
        <p:spPr bwMode="auto">
          <a:xfrm>
            <a:off x="591724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7" name="Rectangle 126"/>
          <p:cNvSpPr/>
          <p:nvPr/>
        </p:nvSpPr>
        <p:spPr bwMode="auto">
          <a:xfrm>
            <a:off x="646525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701326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452233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507034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1" name="Rectangle 130"/>
          <p:cNvSpPr/>
          <p:nvPr/>
        </p:nvSpPr>
        <p:spPr bwMode="auto">
          <a:xfrm>
            <a:off x="561835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2" name="Rectangle 131"/>
          <p:cNvSpPr/>
          <p:nvPr/>
        </p:nvSpPr>
        <p:spPr bwMode="auto">
          <a:xfrm>
            <a:off x="438890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493691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4" name="Rectangle 133"/>
          <p:cNvSpPr/>
          <p:nvPr/>
        </p:nvSpPr>
        <p:spPr bwMode="auto">
          <a:xfrm>
            <a:off x="548492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5" name="Rectangle 134"/>
          <p:cNvSpPr/>
          <p:nvPr/>
        </p:nvSpPr>
        <p:spPr bwMode="auto">
          <a:xfrm>
            <a:off x="4255478"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4803488"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535149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619034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673835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0" name="Rectangle 139"/>
          <p:cNvSpPr/>
          <p:nvPr/>
        </p:nvSpPr>
        <p:spPr bwMode="auto">
          <a:xfrm>
            <a:off x="728636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1" name="Rectangle 140"/>
          <p:cNvSpPr/>
          <p:nvPr/>
        </p:nvSpPr>
        <p:spPr bwMode="auto">
          <a:xfrm>
            <a:off x="605691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2" name="Rectangle 141"/>
          <p:cNvSpPr/>
          <p:nvPr/>
        </p:nvSpPr>
        <p:spPr bwMode="auto">
          <a:xfrm>
            <a:off x="660492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3" name="Rectangle 142"/>
          <p:cNvSpPr/>
          <p:nvPr/>
        </p:nvSpPr>
        <p:spPr bwMode="auto">
          <a:xfrm>
            <a:off x="715293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4" name="Rectangle 143"/>
          <p:cNvSpPr/>
          <p:nvPr/>
        </p:nvSpPr>
        <p:spPr bwMode="auto">
          <a:xfrm>
            <a:off x="592348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5" name="Rectangle 144"/>
          <p:cNvSpPr/>
          <p:nvPr/>
        </p:nvSpPr>
        <p:spPr bwMode="auto">
          <a:xfrm>
            <a:off x="6471498"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701950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120763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175564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230365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0" name="Rectangle 149"/>
          <p:cNvSpPr/>
          <p:nvPr/>
        </p:nvSpPr>
        <p:spPr bwMode="auto">
          <a:xfrm>
            <a:off x="107420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1" name="Rectangle 150"/>
          <p:cNvSpPr/>
          <p:nvPr/>
        </p:nvSpPr>
        <p:spPr bwMode="auto">
          <a:xfrm>
            <a:off x="162221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217022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3" name="Rectangle 152"/>
          <p:cNvSpPr/>
          <p:nvPr/>
        </p:nvSpPr>
        <p:spPr bwMode="auto">
          <a:xfrm>
            <a:off x="94077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4" name="Rectangle 153"/>
          <p:cNvSpPr/>
          <p:nvPr/>
        </p:nvSpPr>
        <p:spPr bwMode="auto">
          <a:xfrm>
            <a:off x="148878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2036799"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287564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342365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8" name="Rectangle 157"/>
          <p:cNvSpPr/>
          <p:nvPr/>
        </p:nvSpPr>
        <p:spPr bwMode="auto">
          <a:xfrm>
            <a:off x="397166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9" name="Rectangle 158"/>
          <p:cNvSpPr/>
          <p:nvPr/>
        </p:nvSpPr>
        <p:spPr bwMode="auto">
          <a:xfrm>
            <a:off x="274221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0" name="Rectangle 159"/>
          <p:cNvSpPr/>
          <p:nvPr/>
        </p:nvSpPr>
        <p:spPr bwMode="auto">
          <a:xfrm>
            <a:off x="329022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1" name="Rectangle 160"/>
          <p:cNvSpPr/>
          <p:nvPr/>
        </p:nvSpPr>
        <p:spPr bwMode="auto">
          <a:xfrm>
            <a:off x="383823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2" name="Rectangle 161"/>
          <p:cNvSpPr/>
          <p:nvPr/>
        </p:nvSpPr>
        <p:spPr bwMode="auto">
          <a:xfrm>
            <a:off x="2608789"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3" name="Rectangle 162"/>
          <p:cNvSpPr/>
          <p:nvPr/>
        </p:nvSpPr>
        <p:spPr bwMode="auto">
          <a:xfrm>
            <a:off x="315679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3704809"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120763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175564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230365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8" name="Rectangle 167"/>
          <p:cNvSpPr/>
          <p:nvPr/>
        </p:nvSpPr>
        <p:spPr bwMode="auto">
          <a:xfrm>
            <a:off x="107420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9" name="Rectangle 168"/>
          <p:cNvSpPr/>
          <p:nvPr/>
        </p:nvSpPr>
        <p:spPr bwMode="auto">
          <a:xfrm>
            <a:off x="162221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0" name="Rectangle 169"/>
          <p:cNvSpPr/>
          <p:nvPr/>
        </p:nvSpPr>
        <p:spPr bwMode="auto">
          <a:xfrm>
            <a:off x="217022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1" name="Rectangle 170"/>
          <p:cNvSpPr/>
          <p:nvPr/>
        </p:nvSpPr>
        <p:spPr bwMode="auto">
          <a:xfrm>
            <a:off x="94077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2" name="Rectangle 171"/>
          <p:cNvSpPr/>
          <p:nvPr/>
        </p:nvSpPr>
        <p:spPr bwMode="auto">
          <a:xfrm>
            <a:off x="148878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2036799"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287564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342365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6" name="Rectangle 175"/>
          <p:cNvSpPr/>
          <p:nvPr/>
        </p:nvSpPr>
        <p:spPr bwMode="auto">
          <a:xfrm>
            <a:off x="397166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274221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8" name="Rectangle 177"/>
          <p:cNvSpPr/>
          <p:nvPr/>
        </p:nvSpPr>
        <p:spPr bwMode="auto">
          <a:xfrm>
            <a:off x="329022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9" name="Rectangle 178"/>
          <p:cNvSpPr/>
          <p:nvPr/>
        </p:nvSpPr>
        <p:spPr bwMode="auto">
          <a:xfrm>
            <a:off x="383823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2608789"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1" name="Rectangle 180"/>
          <p:cNvSpPr/>
          <p:nvPr/>
        </p:nvSpPr>
        <p:spPr bwMode="auto">
          <a:xfrm>
            <a:off x="315679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3704809"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120139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4" name="Rectangle 183"/>
          <p:cNvSpPr/>
          <p:nvPr/>
        </p:nvSpPr>
        <p:spPr bwMode="auto">
          <a:xfrm>
            <a:off x="174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5" name="Rectangle 184"/>
          <p:cNvSpPr/>
          <p:nvPr/>
        </p:nvSpPr>
        <p:spPr bwMode="auto">
          <a:xfrm>
            <a:off x="229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6" name="Rectangle 185"/>
          <p:cNvSpPr/>
          <p:nvPr/>
        </p:nvSpPr>
        <p:spPr bwMode="auto">
          <a:xfrm>
            <a:off x="106796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7" name="Rectangle 186"/>
          <p:cNvSpPr/>
          <p:nvPr/>
        </p:nvSpPr>
        <p:spPr bwMode="auto">
          <a:xfrm>
            <a:off x="1615975"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8" name="Rectangle 187"/>
          <p:cNvSpPr/>
          <p:nvPr/>
        </p:nvSpPr>
        <p:spPr bwMode="auto">
          <a:xfrm>
            <a:off x="216398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9" name="Rectangle 188"/>
          <p:cNvSpPr/>
          <p:nvPr/>
        </p:nvSpPr>
        <p:spPr bwMode="auto">
          <a:xfrm>
            <a:off x="93453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0" name="Rectangle 189"/>
          <p:cNvSpPr/>
          <p:nvPr/>
        </p:nvSpPr>
        <p:spPr bwMode="auto">
          <a:xfrm>
            <a:off x="148254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1" name="Rectangle 190"/>
          <p:cNvSpPr/>
          <p:nvPr/>
        </p:nvSpPr>
        <p:spPr bwMode="auto">
          <a:xfrm>
            <a:off x="203055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2" name="Rectangle 191"/>
          <p:cNvSpPr/>
          <p:nvPr/>
        </p:nvSpPr>
        <p:spPr bwMode="auto">
          <a:xfrm>
            <a:off x="286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3" name="Rectangle 192"/>
          <p:cNvSpPr/>
          <p:nvPr/>
        </p:nvSpPr>
        <p:spPr bwMode="auto">
          <a:xfrm>
            <a:off x="341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4" name="Rectangle 193"/>
          <p:cNvSpPr/>
          <p:nvPr/>
        </p:nvSpPr>
        <p:spPr bwMode="auto">
          <a:xfrm>
            <a:off x="3965425"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5" name="Rectangle 194"/>
          <p:cNvSpPr/>
          <p:nvPr/>
        </p:nvSpPr>
        <p:spPr bwMode="auto">
          <a:xfrm>
            <a:off x="273597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6" name="Rectangle 195"/>
          <p:cNvSpPr/>
          <p:nvPr/>
        </p:nvSpPr>
        <p:spPr bwMode="auto">
          <a:xfrm>
            <a:off x="328398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7" name="Rectangle 196"/>
          <p:cNvSpPr/>
          <p:nvPr/>
        </p:nvSpPr>
        <p:spPr bwMode="auto">
          <a:xfrm>
            <a:off x="383199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8" name="Rectangle 197"/>
          <p:cNvSpPr/>
          <p:nvPr/>
        </p:nvSpPr>
        <p:spPr bwMode="auto">
          <a:xfrm>
            <a:off x="260254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9" name="Rectangle 198"/>
          <p:cNvSpPr/>
          <p:nvPr/>
        </p:nvSpPr>
        <p:spPr bwMode="auto">
          <a:xfrm>
            <a:off x="315055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0" name="Rectangle 199"/>
          <p:cNvSpPr/>
          <p:nvPr/>
        </p:nvSpPr>
        <p:spPr bwMode="auto">
          <a:xfrm>
            <a:off x="369856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1" name="Rectangle 200"/>
          <p:cNvSpPr/>
          <p:nvPr/>
        </p:nvSpPr>
        <p:spPr bwMode="auto">
          <a:xfrm>
            <a:off x="120763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2" name="Rectangle 201"/>
          <p:cNvSpPr/>
          <p:nvPr/>
        </p:nvSpPr>
        <p:spPr bwMode="auto">
          <a:xfrm>
            <a:off x="175564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3" name="Rectangle 202"/>
          <p:cNvSpPr/>
          <p:nvPr/>
        </p:nvSpPr>
        <p:spPr bwMode="auto">
          <a:xfrm>
            <a:off x="230365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4" name="Rectangle 203"/>
          <p:cNvSpPr/>
          <p:nvPr/>
        </p:nvSpPr>
        <p:spPr bwMode="auto">
          <a:xfrm>
            <a:off x="107420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5" name="Rectangle 204"/>
          <p:cNvSpPr/>
          <p:nvPr/>
        </p:nvSpPr>
        <p:spPr bwMode="auto">
          <a:xfrm>
            <a:off x="162221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6" name="Rectangle 205"/>
          <p:cNvSpPr/>
          <p:nvPr/>
        </p:nvSpPr>
        <p:spPr bwMode="auto">
          <a:xfrm>
            <a:off x="217022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7" name="Rectangle 206"/>
          <p:cNvSpPr/>
          <p:nvPr/>
        </p:nvSpPr>
        <p:spPr bwMode="auto">
          <a:xfrm>
            <a:off x="94077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8" name="Rectangle 207"/>
          <p:cNvSpPr/>
          <p:nvPr/>
        </p:nvSpPr>
        <p:spPr bwMode="auto">
          <a:xfrm>
            <a:off x="148878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9" name="Rectangle 208"/>
          <p:cNvSpPr/>
          <p:nvPr/>
        </p:nvSpPr>
        <p:spPr bwMode="auto">
          <a:xfrm>
            <a:off x="2036799"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0" name="Rectangle 209"/>
          <p:cNvSpPr/>
          <p:nvPr/>
        </p:nvSpPr>
        <p:spPr bwMode="auto">
          <a:xfrm>
            <a:off x="287564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1" name="Rectangle 210"/>
          <p:cNvSpPr/>
          <p:nvPr/>
        </p:nvSpPr>
        <p:spPr bwMode="auto">
          <a:xfrm>
            <a:off x="342365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2" name="Rectangle 211"/>
          <p:cNvSpPr/>
          <p:nvPr/>
        </p:nvSpPr>
        <p:spPr bwMode="auto">
          <a:xfrm>
            <a:off x="397166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3" name="Rectangle 212"/>
          <p:cNvSpPr/>
          <p:nvPr/>
        </p:nvSpPr>
        <p:spPr bwMode="auto">
          <a:xfrm>
            <a:off x="274221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4" name="Rectangle 213"/>
          <p:cNvSpPr/>
          <p:nvPr/>
        </p:nvSpPr>
        <p:spPr bwMode="auto">
          <a:xfrm>
            <a:off x="329022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5" name="Rectangle 214"/>
          <p:cNvSpPr/>
          <p:nvPr/>
        </p:nvSpPr>
        <p:spPr bwMode="auto">
          <a:xfrm>
            <a:off x="383823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6" name="Rectangle 215"/>
          <p:cNvSpPr/>
          <p:nvPr/>
        </p:nvSpPr>
        <p:spPr bwMode="auto">
          <a:xfrm>
            <a:off x="2608789"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7" name="Rectangle 216"/>
          <p:cNvSpPr/>
          <p:nvPr/>
        </p:nvSpPr>
        <p:spPr bwMode="auto">
          <a:xfrm>
            <a:off x="315679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8" name="Rectangle 217"/>
          <p:cNvSpPr/>
          <p:nvPr/>
        </p:nvSpPr>
        <p:spPr bwMode="auto">
          <a:xfrm>
            <a:off x="3704809"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9" name="Rectangle 218"/>
          <p:cNvSpPr/>
          <p:nvPr/>
        </p:nvSpPr>
        <p:spPr bwMode="auto">
          <a:xfrm>
            <a:off x="451281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0" name="Rectangle 219"/>
          <p:cNvSpPr/>
          <p:nvPr/>
        </p:nvSpPr>
        <p:spPr bwMode="auto">
          <a:xfrm>
            <a:off x="506082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1" name="Rectangle 220"/>
          <p:cNvSpPr/>
          <p:nvPr/>
        </p:nvSpPr>
        <p:spPr bwMode="auto">
          <a:xfrm>
            <a:off x="560883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2" name="Rectangle 221"/>
          <p:cNvSpPr/>
          <p:nvPr/>
        </p:nvSpPr>
        <p:spPr bwMode="auto">
          <a:xfrm>
            <a:off x="437938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3" name="Rectangle 222"/>
          <p:cNvSpPr/>
          <p:nvPr/>
        </p:nvSpPr>
        <p:spPr bwMode="auto">
          <a:xfrm>
            <a:off x="492739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4" name="Rectangle 223"/>
          <p:cNvSpPr/>
          <p:nvPr/>
        </p:nvSpPr>
        <p:spPr bwMode="auto">
          <a:xfrm>
            <a:off x="547540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5" name="Rectangle 224"/>
          <p:cNvSpPr/>
          <p:nvPr/>
        </p:nvSpPr>
        <p:spPr bwMode="auto">
          <a:xfrm>
            <a:off x="4245953"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6" name="Rectangle 225"/>
          <p:cNvSpPr/>
          <p:nvPr/>
        </p:nvSpPr>
        <p:spPr bwMode="auto">
          <a:xfrm>
            <a:off x="4793963"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534197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8" name="Rectangle 227"/>
          <p:cNvSpPr/>
          <p:nvPr/>
        </p:nvSpPr>
        <p:spPr bwMode="auto">
          <a:xfrm>
            <a:off x="618082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9" name="Rectangle 228"/>
          <p:cNvSpPr/>
          <p:nvPr/>
        </p:nvSpPr>
        <p:spPr bwMode="auto">
          <a:xfrm>
            <a:off x="672883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0" name="Rectangle 229"/>
          <p:cNvSpPr/>
          <p:nvPr/>
        </p:nvSpPr>
        <p:spPr bwMode="auto">
          <a:xfrm>
            <a:off x="727684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1" name="Rectangle 230"/>
          <p:cNvSpPr/>
          <p:nvPr/>
        </p:nvSpPr>
        <p:spPr bwMode="auto">
          <a:xfrm>
            <a:off x="604739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2" name="Rectangle 231"/>
          <p:cNvSpPr/>
          <p:nvPr/>
        </p:nvSpPr>
        <p:spPr bwMode="auto">
          <a:xfrm>
            <a:off x="659540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3" name="Rectangle 232"/>
          <p:cNvSpPr/>
          <p:nvPr/>
        </p:nvSpPr>
        <p:spPr bwMode="auto">
          <a:xfrm>
            <a:off x="714341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4" name="Rectangle 233"/>
          <p:cNvSpPr/>
          <p:nvPr/>
        </p:nvSpPr>
        <p:spPr bwMode="auto">
          <a:xfrm>
            <a:off x="591396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5" name="Rectangle 234"/>
          <p:cNvSpPr/>
          <p:nvPr/>
        </p:nvSpPr>
        <p:spPr bwMode="auto">
          <a:xfrm>
            <a:off x="6461973"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6" name="Rectangle 235"/>
          <p:cNvSpPr/>
          <p:nvPr/>
        </p:nvSpPr>
        <p:spPr bwMode="auto">
          <a:xfrm>
            <a:off x="700998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7" name="Rectangle 236"/>
          <p:cNvSpPr/>
          <p:nvPr/>
        </p:nvSpPr>
        <p:spPr bwMode="auto">
          <a:xfrm>
            <a:off x="451281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8" name="Rectangle 237"/>
          <p:cNvSpPr/>
          <p:nvPr/>
        </p:nvSpPr>
        <p:spPr bwMode="auto">
          <a:xfrm>
            <a:off x="506082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9" name="Rectangle 238"/>
          <p:cNvSpPr/>
          <p:nvPr/>
        </p:nvSpPr>
        <p:spPr bwMode="auto">
          <a:xfrm>
            <a:off x="560883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0" name="Rectangle 239"/>
          <p:cNvSpPr/>
          <p:nvPr/>
        </p:nvSpPr>
        <p:spPr bwMode="auto">
          <a:xfrm>
            <a:off x="437938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1" name="Rectangle 240"/>
          <p:cNvSpPr/>
          <p:nvPr/>
        </p:nvSpPr>
        <p:spPr bwMode="auto">
          <a:xfrm>
            <a:off x="492739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2" name="Rectangle 241"/>
          <p:cNvSpPr/>
          <p:nvPr/>
        </p:nvSpPr>
        <p:spPr bwMode="auto">
          <a:xfrm>
            <a:off x="547540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3" name="Rectangle 242"/>
          <p:cNvSpPr/>
          <p:nvPr/>
        </p:nvSpPr>
        <p:spPr bwMode="auto">
          <a:xfrm>
            <a:off x="4245953"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4" name="Rectangle 243"/>
          <p:cNvSpPr/>
          <p:nvPr/>
        </p:nvSpPr>
        <p:spPr bwMode="auto">
          <a:xfrm>
            <a:off x="4793963"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5" name="Rectangle 244"/>
          <p:cNvSpPr/>
          <p:nvPr/>
        </p:nvSpPr>
        <p:spPr bwMode="auto">
          <a:xfrm>
            <a:off x="534197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6" name="Rectangle 245"/>
          <p:cNvSpPr/>
          <p:nvPr/>
        </p:nvSpPr>
        <p:spPr bwMode="auto">
          <a:xfrm>
            <a:off x="618082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7" name="Rectangle 246"/>
          <p:cNvSpPr/>
          <p:nvPr/>
        </p:nvSpPr>
        <p:spPr bwMode="auto">
          <a:xfrm>
            <a:off x="672883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8" name="Rectangle 247"/>
          <p:cNvSpPr/>
          <p:nvPr/>
        </p:nvSpPr>
        <p:spPr bwMode="auto">
          <a:xfrm>
            <a:off x="727684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9" name="Rectangle 248"/>
          <p:cNvSpPr/>
          <p:nvPr/>
        </p:nvSpPr>
        <p:spPr bwMode="auto">
          <a:xfrm>
            <a:off x="604739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0" name="Rectangle 249"/>
          <p:cNvSpPr/>
          <p:nvPr/>
        </p:nvSpPr>
        <p:spPr bwMode="auto">
          <a:xfrm>
            <a:off x="659540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1" name="Rectangle 250"/>
          <p:cNvSpPr/>
          <p:nvPr/>
        </p:nvSpPr>
        <p:spPr bwMode="auto">
          <a:xfrm>
            <a:off x="714341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2" name="Rectangle 251"/>
          <p:cNvSpPr/>
          <p:nvPr/>
        </p:nvSpPr>
        <p:spPr bwMode="auto">
          <a:xfrm>
            <a:off x="591396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3" name="Rectangle 252"/>
          <p:cNvSpPr/>
          <p:nvPr/>
        </p:nvSpPr>
        <p:spPr bwMode="auto">
          <a:xfrm>
            <a:off x="6461973"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4" name="Rectangle 253"/>
          <p:cNvSpPr/>
          <p:nvPr/>
        </p:nvSpPr>
        <p:spPr bwMode="auto">
          <a:xfrm>
            <a:off x="700998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5" name="Rectangle 254"/>
          <p:cNvSpPr/>
          <p:nvPr/>
        </p:nvSpPr>
        <p:spPr bwMode="auto">
          <a:xfrm>
            <a:off x="450656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6" name="Rectangle 255"/>
          <p:cNvSpPr/>
          <p:nvPr/>
        </p:nvSpPr>
        <p:spPr bwMode="auto">
          <a:xfrm>
            <a:off x="505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7" name="Rectangle 256"/>
          <p:cNvSpPr/>
          <p:nvPr/>
        </p:nvSpPr>
        <p:spPr bwMode="auto">
          <a:xfrm>
            <a:off x="560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8" name="Rectangle 257"/>
          <p:cNvSpPr/>
          <p:nvPr/>
        </p:nvSpPr>
        <p:spPr bwMode="auto">
          <a:xfrm>
            <a:off x="437314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9" name="Rectangle 258"/>
          <p:cNvSpPr/>
          <p:nvPr/>
        </p:nvSpPr>
        <p:spPr bwMode="auto">
          <a:xfrm>
            <a:off x="4921150"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0" name="Rectangle 259"/>
          <p:cNvSpPr/>
          <p:nvPr/>
        </p:nvSpPr>
        <p:spPr bwMode="auto">
          <a:xfrm>
            <a:off x="546916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1" name="Rectangle 260"/>
          <p:cNvSpPr/>
          <p:nvPr/>
        </p:nvSpPr>
        <p:spPr bwMode="auto">
          <a:xfrm>
            <a:off x="423971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2" name="Rectangle 261"/>
          <p:cNvSpPr/>
          <p:nvPr/>
        </p:nvSpPr>
        <p:spPr bwMode="auto">
          <a:xfrm>
            <a:off x="478772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3" name="Rectangle 262"/>
          <p:cNvSpPr/>
          <p:nvPr/>
        </p:nvSpPr>
        <p:spPr bwMode="auto">
          <a:xfrm>
            <a:off x="533573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4" name="Rectangle 263"/>
          <p:cNvSpPr/>
          <p:nvPr/>
        </p:nvSpPr>
        <p:spPr bwMode="auto">
          <a:xfrm>
            <a:off x="617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5" name="Rectangle 264"/>
          <p:cNvSpPr/>
          <p:nvPr/>
        </p:nvSpPr>
        <p:spPr bwMode="auto">
          <a:xfrm>
            <a:off x="672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6" name="Rectangle 265"/>
          <p:cNvSpPr/>
          <p:nvPr/>
        </p:nvSpPr>
        <p:spPr bwMode="auto">
          <a:xfrm>
            <a:off x="7270600"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7" name="Rectangle 266"/>
          <p:cNvSpPr/>
          <p:nvPr/>
        </p:nvSpPr>
        <p:spPr bwMode="auto">
          <a:xfrm>
            <a:off x="604115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8" name="Rectangle 267"/>
          <p:cNvSpPr/>
          <p:nvPr/>
        </p:nvSpPr>
        <p:spPr bwMode="auto">
          <a:xfrm>
            <a:off x="658916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9" name="Rectangle 268"/>
          <p:cNvSpPr/>
          <p:nvPr/>
        </p:nvSpPr>
        <p:spPr bwMode="auto">
          <a:xfrm>
            <a:off x="713717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0" name="Rectangle 269"/>
          <p:cNvSpPr/>
          <p:nvPr/>
        </p:nvSpPr>
        <p:spPr bwMode="auto">
          <a:xfrm>
            <a:off x="590772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1" name="Rectangle 270"/>
          <p:cNvSpPr/>
          <p:nvPr/>
        </p:nvSpPr>
        <p:spPr bwMode="auto">
          <a:xfrm>
            <a:off x="645573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2" name="Rectangle 271"/>
          <p:cNvSpPr/>
          <p:nvPr/>
        </p:nvSpPr>
        <p:spPr bwMode="auto">
          <a:xfrm>
            <a:off x="700374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3" name="Rectangle 272"/>
          <p:cNvSpPr/>
          <p:nvPr/>
        </p:nvSpPr>
        <p:spPr bwMode="auto">
          <a:xfrm>
            <a:off x="451281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4" name="Rectangle 273"/>
          <p:cNvSpPr/>
          <p:nvPr/>
        </p:nvSpPr>
        <p:spPr bwMode="auto">
          <a:xfrm>
            <a:off x="506082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5" name="Rectangle 274"/>
          <p:cNvSpPr/>
          <p:nvPr/>
        </p:nvSpPr>
        <p:spPr bwMode="auto">
          <a:xfrm>
            <a:off x="560883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6" name="Rectangle 275"/>
          <p:cNvSpPr/>
          <p:nvPr/>
        </p:nvSpPr>
        <p:spPr bwMode="auto">
          <a:xfrm>
            <a:off x="437938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7" name="Rectangle 276"/>
          <p:cNvSpPr/>
          <p:nvPr/>
        </p:nvSpPr>
        <p:spPr bwMode="auto">
          <a:xfrm>
            <a:off x="492739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8" name="Rectangle 277"/>
          <p:cNvSpPr/>
          <p:nvPr/>
        </p:nvSpPr>
        <p:spPr bwMode="auto">
          <a:xfrm>
            <a:off x="547540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9" name="Rectangle 278"/>
          <p:cNvSpPr/>
          <p:nvPr/>
        </p:nvSpPr>
        <p:spPr bwMode="auto">
          <a:xfrm>
            <a:off x="4245953"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0" name="Rectangle 279"/>
          <p:cNvSpPr/>
          <p:nvPr/>
        </p:nvSpPr>
        <p:spPr bwMode="auto">
          <a:xfrm>
            <a:off x="4793963"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1" name="Rectangle 280"/>
          <p:cNvSpPr/>
          <p:nvPr/>
        </p:nvSpPr>
        <p:spPr bwMode="auto">
          <a:xfrm>
            <a:off x="534197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2" name="Rectangle 281"/>
          <p:cNvSpPr/>
          <p:nvPr/>
        </p:nvSpPr>
        <p:spPr bwMode="auto">
          <a:xfrm>
            <a:off x="618082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3" name="Rectangle 282"/>
          <p:cNvSpPr/>
          <p:nvPr/>
        </p:nvSpPr>
        <p:spPr bwMode="auto">
          <a:xfrm>
            <a:off x="672883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4" name="Rectangle 283"/>
          <p:cNvSpPr/>
          <p:nvPr/>
        </p:nvSpPr>
        <p:spPr bwMode="auto">
          <a:xfrm>
            <a:off x="727684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5" name="Rectangle 284"/>
          <p:cNvSpPr/>
          <p:nvPr/>
        </p:nvSpPr>
        <p:spPr bwMode="auto">
          <a:xfrm>
            <a:off x="604739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6" name="Rectangle 285"/>
          <p:cNvSpPr/>
          <p:nvPr/>
        </p:nvSpPr>
        <p:spPr bwMode="auto">
          <a:xfrm>
            <a:off x="659540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7" name="Rectangle 286"/>
          <p:cNvSpPr/>
          <p:nvPr/>
        </p:nvSpPr>
        <p:spPr bwMode="auto">
          <a:xfrm>
            <a:off x="714341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8" name="Rectangle 287"/>
          <p:cNvSpPr/>
          <p:nvPr/>
        </p:nvSpPr>
        <p:spPr bwMode="auto">
          <a:xfrm>
            <a:off x="591396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9" name="Rectangle 288"/>
          <p:cNvSpPr/>
          <p:nvPr/>
        </p:nvSpPr>
        <p:spPr bwMode="auto">
          <a:xfrm>
            <a:off x="6461973"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0" name="Rectangle 289"/>
          <p:cNvSpPr/>
          <p:nvPr/>
        </p:nvSpPr>
        <p:spPr bwMode="auto">
          <a:xfrm>
            <a:off x="700998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1" name="TextBox 290"/>
          <p:cNvSpPr txBox="1"/>
          <p:nvPr/>
        </p:nvSpPr>
        <p:spPr>
          <a:xfrm>
            <a:off x="381000" y="381000"/>
            <a:ext cx="6697667" cy="461665"/>
          </a:xfrm>
          <a:prstGeom prst="rect">
            <a:avLst/>
          </a:prstGeom>
          <a:noFill/>
        </p:spPr>
        <p:txBody>
          <a:bodyPr wrap="none" rtlCol="0">
            <a:spAutoFit/>
          </a:bodyPr>
          <a:lstStyle/>
          <a:p>
            <a:r>
              <a:rPr lang="en-GB" sz="2400" b="1" dirty="0" err="1"/>
              <a:t>Y,Cb,Cr</a:t>
            </a:r>
            <a:r>
              <a:rPr lang="en-GB" sz="2400" b="1" dirty="0"/>
              <a:t> – for image of </a:t>
            </a:r>
            <a:r>
              <a:rPr lang="en-GB" sz="2400" b="1" i="1" dirty="0"/>
              <a:t>x</a:t>
            </a:r>
            <a:r>
              <a:rPr lang="en-GB" sz="2400" b="1" dirty="0"/>
              <a:t> </a:t>
            </a:r>
            <a:r>
              <a:rPr lang="en-GB" sz="1400" b="1" dirty="0"/>
              <a:t>x </a:t>
            </a:r>
            <a:r>
              <a:rPr lang="en-GB" sz="2400" b="1" i="1" dirty="0"/>
              <a:t>y</a:t>
            </a:r>
            <a:r>
              <a:rPr lang="en-GB" sz="2400" b="1" dirty="0"/>
              <a:t> pixels in “4:4:4”</a:t>
            </a:r>
          </a:p>
        </p:txBody>
      </p:sp>
      <p:cxnSp>
        <p:nvCxnSpPr>
          <p:cNvPr id="293" name="Straight Arrow Connector 292"/>
          <p:cNvCxnSpPr/>
          <p:nvPr/>
        </p:nvCxnSpPr>
        <p:spPr bwMode="auto">
          <a:xfrm>
            <a:off x="1003852" y="6092687"/>
            <a:ext cx="6738731" cy="9939"/>
          </a:xfrm>
          <a:prstGeom prst="straightConnector1">
            <a:avLst/>
          </a:prstGeom>
          <a:noFill/>
          <a:ln w="9525" cap="flat" cmpd="sng" algn="ctr">
            <a:solidFill>
              <a:schemeClr val="tx1"/>
            </a:solidFill>
            <a:prstDash val="solid"/>
            <a:round/>
            <a:headEnd type="none" w="med" len="med"/>
            <a:tailEnd type="arrow"/>
          </a:ln>
          <a:effectLst/>
        </p:spPr>
      </p:cxnSp>
      <p:cxnSp>
        <p:nvCxnSpPr>
          <p:cNvPr id="294" name="Straight Arrow Connector 293"/>
          <p:cNvCxnSpPr/>
          <p:nvPr/>
        </p:nvCxnSpPr>
        <p:spPr bwMode="auto">
          <a:xfrm flipH="1" flipV="1">
            <a:off x="7861853" y="1023730"/>
            <a:ext cx="29817" cy="5049078"/>
          </a:xfrm>
          <a:prstGeom prst="straightConnector1">
            <a:avLst/>
          </a:prstGeom>
          <a:noFill/>
          <a:ln w="9525" cap="flat" cmpd="sng" algn="ctr">
            <a:solidFill>
              <a:schemeClr val="tx1"/>
            </a:solidFill>
            <a:prstDash val="solid"/>
            <a:round/>
            <a:headEnd type="none" w="med" len="med"/>
            <a:tailEnd type="arrow"/>
          </a:ln>
          <a:effectLst/>
        </p:spPr>
      </p:cxnSp>
      <p:sp>
        <p:nvSpPr>
          <p:cNvPr id="296" name="TextBox 295"/>
          <p:cNvSpPr txBox="1"/>
          <p:nvPr/>
        </p:nvSpPr>
        <p:spPr>
          <a:xfrm>
            <a:off x="3916017" y="6132443"/>
            <a:ext cx="970137" cy="338554"/>
          </a:xfrm>
          <a:prstGeom prst="rect">
            <a:avLst/>
          </a:prstGeom>
          <a:noFill/>
        </p:spPr>
        <p:txBody>
          <a:bodyPr wrap="none" rtlCol="0">
            <a:spAutoFit/>
          </a:bodyPr>
          <a:lstStyle/>
          <a:p>
            <a:r>
              <a:rPr lang="en-GB" i="1" dirty="0"/>
              <a:t>x pixels</a:t>
            </a:r>
          </a:p>
        </p:txBody>
      </p:sp>
      <p:sp>
        <p:nvSpPr>
          <p:cNvPr id="297" name="TextBox 296"/>
          <p:cNvSpPr txBox="1"/>
          <p:nvPr/>
        </p:nvSpPr>
        <p:spPr>
          <a:xfrm>
            <a:off x="7955202" y="3190460"/>
            <a:ext cx="970137" cy="338554"/>
          </a:xfrm>
          <a:prstGeom prst="rect">
            <a:avLst/>
          </a:prstGeom>
          <a:noFill/>
        </p:spPr>
        <p:txBody>
          <a:bodyPr wrap="none" rtlCol="0">
            <a:spAutoFit/>
          </a:bodyPr>
          <a:lstStyle/>
          <a:p>
            <a:r>
              <a:rPr lang="en-GB" i="1" dirty="0"/>
              <a:t>y pixels</a:t>
            </a:r>
          </a:p>
        </p:txBody>
      </p:sp>
      <p:sp>
        <p:nvSpPr>
          <p:cNvPr id="295" name="Rectangle 294"/>
          <p:cNvSpPr/>
          <p:nvPr/>
        </p:nvSpPr>
        <p:spPr bwMode="auto">
          <a:xfrm>
            <a:off x="535604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Tree>
    <p:extLst>
      <p:ext uri="{BB962C8B-B14F-4D97-AF65-F5344CB8AC3E}">
        <p14:creationId xmlns:p14="http://schemas.microsoft.com/office/powerpoint/2010/main" val="27713082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121716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 name="Rectangle 2"/>
          <p:cNvSpPr/>
          <p:nvPr/>
        </p:nvSpPr>
        <p:spPr bwMode="auto">
          <a:xfrm>
            <a:off x="176517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 name="Rectangle 3"/>
          <p:cNvSpPr/>
          <p:nvPr/>
        </p:nvSpPr>
        <p:spPr bwMode="auto">
          <a:xfrm>
            <a:off x="231318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 name="Rectangle 4"/>
          <p:cNvSpPr/>
          <p:nvPr/>
        </p:nvSpPr>
        <p:spPr bwMode="auto">
          <a:xfrm>
            <a:off x="108373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 name="Rectangle 7"/>
          <p:cNvSpPr/>
          <p:nvPr/>
        </p:nvSpPr>
        <p:spPr bwMode="auto">
          <a:xfrm>
            <a:off x="95030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 name="Rectangle 10"/>
          <p:cNvSpPr/>
          <p:nvPr/>
        </p:nvSpPr>
        <p:spPr bwMode="auto">
          <a:xfrm>
            <a:off x="288517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 name="Rectangle 11"/>
          <p:cNvSpPr/>
          <p:nvPr/>
        </p:nvSpPr>
        <p:spPr bwMode="auto">
          <a:xfrm>
            <a:off x="3433180"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 name="Rectangle 12"/>
          <p:cNvSpPr/>
          <p:nvPr/>
        </p:nvSpPr>
        <p:spPr bwMode="auto">
          <a:xfrm>
            <a:off x="3981191" y="127701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 name="Rectangle 14"/>
          <p:cNvSpPr/>
          <p:nvPr/>
        </p:nvSpPr>
        <p:spPr bwMode="auto">
          <a:xfrm>
            <a:off x="3299752" y="115562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 name="Rectangle 17"/>
          <p:cNvSpPr/>
          <p:nvPr/>
        </p:nvSpPr>
        <p:spPr bwMode="auto">
          <a:xfrm>
            <a:off x="3166323" y="98568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 name="Rectangle 19"/>
          <p:cNvSpPr/>
          <p:nvPr/>
        </p:nvSpPr>
        <p:spPr bwMode="auto">
          <a:xfrm>
            <a:off x="121716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 name="Rectangle 20"/>
          <p:cNvSpPr/>
          <p:nvPr/>
        </p:nvSpPr>
        <p:spPr bwMode="auto">
          <a:xfrm>
            <a:off x="176517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 name="Rectangle 21"/>
          <p:cNvSpPr/>
          <p:nvPr/>
        </p:nvSpPr>
        <p:spPr bwMode="auto">
          <a:xfrm>
            <a:off x="231318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 name="Rectangle 22"/>
          <p:cNvSpPr/>
          <p:nvPr/>
        </p:nvSpPr>
        <p:spPr bwMode="auto">
          <a:xfrm>
            <a:off x="108373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 name="Rectangle 25"/>
          <p:cNvSpPr/>
          <p:nvPr/>
        </p:nvSpPr>
        <p:spPr bwMode="auto">
          <a:xfrm>
            <a:off x="95030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 name="Rectangle 28"/>
          <p:cNvSpPr/>
          <p:nvPr/>
        </p:nvSpPr>
        <p:spPr bwMode="auto">
          <a:xfrm>
            <a:off x="288517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0" name="Rectangle 29"/>
          <p:cNvSpPr/>
          <p:nvPr/>
        </p:nvSpPr>
        <p:spPr bwMode="auto">
          <a:xfrm>
            <a:off x="3433180"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1" name="Rectangle 30"/>
          <p:cNvSpPr/>
          <p:nvPr/>
        </p:nvSpPr>
        <p:spPr bwMode="auto">
          <a:xfrm>
            <a:off x="3981191" y="185620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 name="Rectangle 32"/>
          <p:cNvSpPr/>
          <p:nvPr/>
        </p:nvSpPr>
        <p:spPr bwMode="auto">
          <a:xfrm>
            <a:off x="3299752" y="173481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6" name="Rectangle 35"/>
          <p:cNvSpPr/>
          <p:nvPr/>
        </p:nvSpPr>
        <p:spPr bwMode="auto">
          <a:xfrm>
            <a:off x="3166323" y="156487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8" name="Rectangle 37"/>
          <p:cNvSpPr/>
          <p:nvPr/>
        </p:nvSpPr>
        <p:spPr bwMode="auto">
          <a:xfrm>
            <a:off x="121091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9" name="Rectangle 38"/>
          <p:cNvSpPr/>
          <p:nvPr/>
        </p:nvSpPr>
        <p:spPr bwMode="auto">
          <a:xfrm>
            <a:off x="175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0" name="Rectangle 39"/>
          <p:cNvSpPr/>
          <p:nvPr/>
        </p:nvSpPr>
        <p:spPr bwMode="auto">
          <a:xfrm>
            <a:off x="230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1" name="Rectangle 40"/>
          <p:cNvSpPr/>
          <p:nvPr/>
        </p:nvSpPr>
        <p:spPr bwMode="auto">
          <a:xfrm>
            <a:off x="107749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4" name="Rectangle 43"/>
          <p:cNvSpPr/>
          <p:nvPr/>
        </p:nvSpPr>
        <p:spPr bwMode="auto">
          <a:xfrm>
            <a:off x="94406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7" name="Rectangle 46"/>
          <p:cNvSpPr/>
          <p:nvPr/>
        </p:nvSpPr>
        <p:spPr bwMode="auto">
          <a:xfrm>
            <a:off x="287892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8" name="Rectangle 47"/>
          <p:cNvSpPr/>
          <p:nvPr/>
        </p:nvSpPr>
        <p:spPr bwMode="auto">
          <a:xfrm>
            <a:off x="3426939"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9" name="Rectangle 48"/>
          <p:cNvSpPr/>
          <p:nvPr/>
        </p:nvSpPr>
        <p:spPr bwMode="auto">
          <a:xfrm>
            <a:off x="3974950" y="244521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3293511" y="232383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4" name="Rectangle 53"/>
          <p:cNvSpPr/>
          <p:nvPr/>
        </p:nvSpPr>
        <p:spPr bwMode="auto">
          <a:xfrm>
            <a:off x="3160082" y="215388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6" name="Rectangle 55"/>
          <p:cNvSpPr/>
          <p:nvPr/>
        </p:nvSpPr>
        <p:spPr bwMode="auto">
          <a:xfrm>
            <a:off x="121716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7" name="Rectangle 56"/>
          <p:cNvSpPr/>
          <p:nvPr/>
        </p:nvSpPr>
        <p:spPr bwMode="auto">
          <a:xfrm>
            <a:off x="176517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8" name="Rectangle 57"/>
          <p:cNvSpPr/>
          <p:nvPr/>
        </p:nvSpPr>
        <p:spPr bwMode="auto">
          <a:xfrm>
            <a:off x="231318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9" name="Rectangle 58"/>
          <p:cNvSpPr/>
          <p:nvPr/>
        </p:nvSpPr>
        <p:spPr bwMode="auto">
          <a:xfrm>
            <a:off x="108373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2" name="Rectangle 61"/>
          <p:cNvSpPr/>
          <p:nvPr/>
        </p:nvSpPr>
        <p:spPr bwMode="auto">
          <a:xfrm>
            <a:off x="95030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5" name="Rectangle 64"/>
          <p:cNvSpPr/>
          <p:nvPr/>
        </p:nvSpPr>
        <p:spPr bwMode="auto">
          <a:xfrm>
            <a:off x="288517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6" name="Rectangle 65"/>
          <p:cNvSpPr/>
          <p:nvPr/>
        </p:nvSpPr>
        <p:spPr bwMode="auto">
          <a:xfrm>
            <a:off x="3433180"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7" name="Rectangle 66"/>
          <p:cNvSpPr/>
          <p:nvPr/>
        </p:nvSpPr>
        <p:spPr bwMode="auto">
          <a:xfrm>
            <a:off x="3981191" y="303610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9" name="Rectangle 68"/>
          <p:cNvSpPr/>
          <p:nvPr/>
        </p:nvSpPr>
        <p:spPr bwMode="auto">
          <a:xfrm>
            <a:off x="3299752" y="291472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2" name="Rectangle 71"/>
          <p:cNvSpPr/>
          <p:nvPr/>
        </p:nvSpPr>
        <p:spPr bwMode="auto">
          <a:xfrm>
            <a:off x="3166323" y="274477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4" name="Rectangle 73"/>
          <p:cNvSpPr/>
          <p:nvPr/>
        </p:nvSpPr>
        <p:spPr bwMode="auto">
          <a:xfrm>
            <a:off x="452233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5" name="Rectangle 74"/>
          <p:cNvSpPr/>
          <p:nvPr/>
        </p:nvSpPr>
        <p:spPr bwMode="auto">
          <a:xfrm>
            <a:off x="507034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6" name="Rectangle 75"/>
          <p:cNvSpPr/>
          <p:nvPr/>
        </p:nvSpPr>
        <p:spPr bwMode="auto">
          <a:xfrm>
            <a:off x="561835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9" name="Rectangle 78"/>
          <p:cNvSpPr/>
          <p:nvPr/>
        </p:nvSpPr>
        <p:spPr bwMode="auto">
          <a:xfrm>
            <a:off x="5484927" y="116514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2" name="Rectangle 81"/>
          <p:cNvSpPr/>
          <p:nvPr/>
        </p:nvSpPr>
        <p:spPr bwMode="auto">
          <a:xfrm>
            <a:off x="5351499" y="99520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3" name="Rectangle 82"/>
          <p:cNvSpPr/>
          <p:nvPr/>
        </p:nvSpPr>
        <p:spPr bwMode="auto">
          <a:xfrm>
            <a:off x="619034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4" name="Rectangle 83"/>
          <p:cNvSpPr/>
          <p:nvPr/>
        </p:nvSpPr>
        <p:spPr bwMode="auto">
          <a:xfrm>
            <a:off x="6738355"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5" name="Rectangle 84"/>
          <p:cNvSpPr/>
          <p:nvPr/>
        </p:nvSpPr>
        <p:spPr bwMode="auto">
          <a:xfrm>
            <a:off x="7286366" y="128653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2" name="Rectangle 91"/>
          <p:cNvSpPr/>
          <p:nvPr/>
        </p:nvSpPr>
        <p:spPr bwMode="auto">
          <a:xfrm>
            <a:off x="452233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3" name="Rectangle 92"/>
          <p:cNvSpPr/>
          <p:nvPr/>
        </p:nvSpPr>
        <p:spPr bwMode="auto">
          <a:xfrm>
            <a:off x="507034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4" name="Rectangle 93"/>
          <p:cNvSpPr/>
          <p:nvPr/>
        </p:nvSpPr>
        <p:spPr bwMode="auto">
          <a:xfrm>
            <a:off x="561835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7" name="Rectangle 96"/>
          <p:cNvSpPr/>
          <p:nvPr/>
        </p:nvSpPr>
        <p:spPr bwMode="auto">
          <a:xfrm>
            <a:off x="5484927" y="174434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0" name="Rectangle 99"/>
          <p:cNvSpPr/>
          <p:nvPr/>
        </p:nvSpPr>
        <p:spPr bwMode="auto">
          <a:xfrm>
            <a:off x="5351499" y="157439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1" name="Rectangle 100"/>
          <p:cNvSpPr/>
          <p:nvPr/>
        </p:nvSpPr>
        <p:spPr bwMode="auto">
          <a:xfrm>
            <a:off x="619034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2" name="Rectangle 101"/>
          <p:cNvSpPr/>
          <p:nvPr/>
        </p:nvSpPr>
        <p:spPr bwMode="auto">
          <a:xfrm>
            <a:off x="6738355"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3" name="Rectangle 102"/>
          <p:cNvSpPr/>
          <p:nvPr/>
        </p:nvSpPr>
        <p:spPr bwMode="auto">
          <a:xfrm>
            <a:off x="7286366" y="186572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0" name="Rectangle 109"/>
          <p:cNvSpPr/>
          <p:nvPr/>
        </p:nvSpPr>
        <p:spPr bwMode="auto">
          <a:xfrm>
            <a:off x="451609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1" name="Rectangle 110"/>
          <p:cNvSpPr/>
          <p:nvPr/>
        </p:nvSpPr>
        <p:spPr bwMode="auto">
          <a:xfrm>
            <a:off x="506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2" name="Rectangle 111"/>
          <p:cNvSpPr/>
          <p:nvPr/>
        </p:nvSpPr>
        <p:spPr bwMode="auto">
          <a:xfrm>
            <a:off x="561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5" name="Rectangle 114"/>
          <p:cNvSpPr/>
          <p:nvPr/>
        </p:nvSpPr>
        <p:spPr bwMode="auto">
          <a:xfrm>
            <a:off x="5478686" y="233335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8" name="Rectangle 117"/>
          <p:cNvSpPr/>
          <p:nvPr/>
        </p:nvSpPr>
        <p:spPr bwMode="auto">
          <a:xfrm>
            <a:off x="5345257" y="216341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9" name="Rectangle 118"/>
          <p:cNvSpPr/>
          <p:nvPr/>
        </p:nvSpPr>
        <p:spPr bwMode="auto">
          <a:xfrm>
            <a:off x="618410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0" name="Rectangle 119"/>
          <p:cNvSpPr/>
          <p:nvPr/>
        </p:nvSpPr>
        <p:spPr bwMode="auto">
          <a:xfrm>
            <a:off x="6732114"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1" name="Rectangle 120"/>
          <p:cNvSpPr/>
          <p:nvPr/>
        </p:nvSpPr>
        <p:spPr bwMode="auto">
          <a:xfrm>
            <a:off x="7280125" y="245474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452233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9" name="Rectangle 128"/>
          <p:cNvSpPr/>
          <p:nvPr/>
        </p:nvSpPr>
        <p:spPr bwMode="auto">
          <a:xfrm>
            <a:off x="507034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561835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3" name="Rectangle 132"/>
          <p:cNvSpPr/>
          <p:nvPr/>
        </p:nvSpPr>
        <p:spPr bwMode="auto">
          <a:xfrm>
            <a:off x="5484927" y="292424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6" name="Rectangle 135"/>
          <p:cNvSpPr/>
          <p:nvPr/>
        </p:nvSpPr>
        <p:spPr bwMode="auto">
          <a:xfrm>
            <a:off x="5351499" y="275430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619034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8" name="Rectangle 137"/>
          <p:cNvSpPr/>
          <p:nvPr/>
        </p:nvSpPr>
        <p:spPr bwMode="auto">
          <a:xfrm>
            <a:off x="6738355"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9" name="Rectangle 138"/>
          <p:cNvSpPr/>
          <p:nvPr/>
        </p:nvSpPr>
        <p:spPr bwMode="auto">
          <a:xfrm>
            <a:off x="7286366" y="304563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6" name="Rectangle 145"/>
          <p:cNvSpPr/>
          <p:nvPr/>
        </p:nvSpPr>
        <p:spPr bwMode="auto">
          <a:xfrm>
            <a:off x="120763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7" name="Rectangle 146"/>
          <p:cNvSpPr/>
          <p:nvPr/>
        </p:nvSpPr>
        <p:spPr bwMode="auto">
          <a:xfrm>
            <a:off x="175564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a:off x="230365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9" name="Rectangle 148"/>
          <p:cNvSpPr/>
          <p:nvPr/>
        </p:nvSpPr>
        <p:spPr bwMode="auto">
          <a:xfrm>
            <a:off x="107420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2" name="Rectangle 151"/>
          <p:cNvSpPr/>
          <p:nvPr/>
        </p:nvSpPr>
        <p:spPr bwMode="auto">
          <a:xfrm>
            <a:off x="94077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5" name="Rectangle 154"/>
          <p:cNvSpPr/>
          <p:nvPr/>
        </p:nvSpPr>
        <p:spPr bwMode="auto">
          <a:xfrm>
            <a:off x="287564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6" name="Rectangle 155"/>
          <p:cNvSpPr/>
          <p:nvPr/>
        </p:nvSpPr>
        <p:spPr bwMode="auto">
          <a:xfrm>
            <a:off x="3423655"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a:off x="3971666" y="3620162"/>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9" name="Rectangle 158"/>
          <p:cNvSpPr/>
          <p:nvPr/>
        </p:nvSpPr>
        <p:spPr bwMode="auto">
          <a:xfrm>
            <a:off x="3290227" y="3498774"/>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2" name="Rectangle 161"/>
          <p:cNvSpPr/>
          <p:nvPr/>
        </p:nvSpPr>
        <p:spPr bwMode="auto">
          <a:xfrm>
            <a:off x="3156798" y="3328831"/>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4" name="Rectangle 163"/>
          <p:cNvSpPr/>
          <p:nvPr/>
        </p:nvSpPr>
        <p:spPr bwMode="auto">
          <a:xfrm>
            <a:off x="120763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5" name="Rectangle 164"/>
          <p:cNvSpPr/>
          <p:nvPr/>
        </p:nvSpPr>
        <p:spPr bwMode="auto">
          <a:xfrm>
            <a:off x="175564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6" name="Rectangle 165"/>
          <p:cNvSpPr/>
          <p:nvPr/>
        </p:nvSpPr>
        <p:spPr bwMode="auto">
          <a:xfrm>
            <a:off x="230365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7" name="Rectangle 166"/>
          <p:cNvSpPr/>
          <p:nvPr/>
        </p:nvSpPr>
        <p:spPr bwMode="auto">
          <a:xfrm>
            <a:off x="107420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0" name="Rectangle 169"/>
          <p:cNvSpPr/>
          <p:nvPr/>
        </p:nvSpPr>
        <p:spPr bwMode="auto">
          <a:xfrm>
            <a:off x="94077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3" name="Rectangle 172"/>
          <p:cNvSpPr/>
          <p:nvPr/>
        </p:nvSpPr>
        <p:spPr bwMode="auto">
          <a:xfrm>
            <a:off x="287564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4" name="Rectangle 173"/>
          <p:cNvSpPr/>
          <p:nvPr/>
        </p:nvSpPr>
        <p:spPr bwMode="auto">
          <a:xfrm>
            <a:off x="3423655"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5" name="Rectangle 174"/>
          <p:cNvSpPr/>
          <p:nvPr/>
        </p:nvSpPr>
        <p:spPr bwMode="auto">
          <a:xfrm>
            <a:off x="3971666" y="419935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77" name="Rectangle 176"/>
          <p:cNvSpPr/>
          <p:nvPr/>
        </p:nvSpPr>
        <p:spPr bwMode="auto">
          <a:xfrm>
            <a:off x="3290227" y="407796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0" name="Rectangle 179"/>
          <p:cNvSpPr/>
          <p:nvPr/>
        </p:nvSpPr>
        <p:spPr bwMode="auto">
          <a:xfrm>
            <a:off x="3156798" y="390802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2" name="Rectangle 181"/>
          <p:cNvSpPr/>
          <p:nvPr/>
        </p:nvSpPr>
        <p:spPr bwMode="auto">
          <a:xfrm>
            <a:off x="120139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3" name="Rectangle 182"/>
          <p:cNvSpPr/>
          <p:nvPr/>
        </p:nvSpPr>
        <p:spPr bwMode="auto">
          <a:xfrm>
            <a:off x="174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4" name="Rectangle 183"/>
          <p:cNvSpPr/>
          <p:nvPr/>
        </p:nvSpPr>
        <p:spPr bwMode="auto">
          <a:xfrm>
            <a:off x="229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5" name="Rectangle 184"/>
          <p:cNvSpPr/>
          <p:nvPr/>
        </p:nvSpPr>
        <p:spPr bwMode="auto">
          <a:xfrm>
            <a:off x="106796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8" name="Rectangle 187"/>
          <p:cNvSpPr/>
          <p:nvPr/>
        </p:nvSpPr>
        <p:spPr bwMode="auto">
          <a:xfrm>
            <a:off x="93453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1" name="Rectangle 190"/>
          <p:cNvSpPr/>
          <p:nvPr/>
        </p:nvSpPr>
        <p:spPr bwMode="auto">
          <a:xfrm>
            <a:off x="286940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2" name="Rectangle 191"/>
          <p:cNvSpPr/>
          <p:nvPr/>
        </p:nvSpPr>
        <p:spPr bwMode="auto">
          <a:xfrm>
            <a:off x="3417414"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3" name="Rectangle 192"/>
          <p:cNvSpPr/>
          <p:nvPr/>
        </p:nvSpPr>
        <p:spPr bwMode="auto">
          <a:xfrm>
            <a:off x="3965425" y="4788368"/>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5" name="Rectangle 194"/>
          <p:cNvSpPr/>
          <p:nvPr/>
        </p:nvSpPr>
        <p:spPr bwMode="auto">
          <a:xfrm>
            <a:off x="3283986" y="4666980"/>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8" name="Rectangle 197"/>
          <p:cNvSpPr/>
          <p:nvPr/>
        </p:nvSpPr>
        <p:spPr bwMode="auto">
          <a:xfrm>
            <a:off x="3150557" y="4497037"/>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0" name="Rectangle 199"/>
          <p:cNvSpPr/>
          <p:nvPr/>
        </p:nvSpPr>
        <p:spPr bwMode="auto">
          <a:xfrm>
            <a:off x="120763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1" name="Rectangle 200"/>
          <p:cNvSpPr/>
          <p:nvPr/>
        </p:nvSpPr>
        <p:spPr bwMode="auto">
          <a:xfrm>
            <a:off x="175564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2" name="Rectangle 201"/>
          <p:cNvSpPr/>
          <p:nvPr/>
        </p:nvSpPr>
        <p:spPr bwMode="auto">
          <a:xfrm>
            <a:off x="230365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3" name="Rectangle 202"/>
          <p:cNvSpPr/>
          <p:nvPr/>
        </p:nvSpPr>
        <p:spPr bwMode="auto">
          <a:xfrm>
            <a:off x="107420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6" name="Rectangle 205"/>
          <p:cNvSpPr/>
          <p:nvPr/>
        </p:nvSpPr>
        <p:spPr bwMode="auto">
          <a:xfrm>
            <a:off x="94077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9" name="Rectangle 208"/>
          <p:cNvSpPr/>
          <p:nvPr/>
        </p:nvSpPr>
        <p:spPr bwMode="auto">
          <a:xfrm>
            <a:off x="287564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0" name="Rectangle 209"/>
          <p:cNvSpPr/>
          <p:nvPr/>
        </p:nvSpPr>
        <p:spPr bwMode="auto">
          <a:xfrm>
            <a:off x="3423655"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1" name="Rectangle 210"/>
          <p:cNvSpPr/>
          <p:nvPr/>
        </p:nvSpPr>
        <p:spPr bwMode="auto">
          <a:xfrm>
            <a:off x="3971666" y="537925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3" name="Rectangle 212"/>
          <p:cNvSpPr/>
          <p:nvPr/>
        </p:nvSpPr>
        <p:spPr bwMode="auto">
          <a:xfrm>
            <a:off x="3290227" y="525787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6" name="Rectangle 215"/>
          <p:cNvSpPr/>
          <p:nvPr/>
        </p:nvSpPr>
        <p:spPr bwMode="auto">
          <a:xfrm>
            <a:off x="3156798" y="508792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8" name="Rectangle 217"/>
          <p:cNvSpPr/>
          <p:nvPr/>
        </p:nvSpPr>
        <p:spPr bwMode="auto">
          <a:xfrm>
            <a:off x="451281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9" name="Rectangle 218"/>
          <p:cNvSpPr/>
          <p:nvPr/>
        </p:nvSpPr>
        <p:spPr bwMode="auto">
          <a:xfrm>
            <a:off x="506082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0" name="Rectangle 219"/>
          <p:cNvSpPr/>
          <p:nvPr/>
        </p:nvSpPr>
        <p:spPr bwMode="auto">
          <a:xfrm>
            <a:off x="560883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3" name="Rectangle 222"/>
          <p:cNvSpPr/>
          <p:nvPr/>
        </p:nvSpPr>
        <p:spPr bwMode="auto">
          <a:xfrm>
            <a:off x="5475402" y="3508299"/>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6" name="Rectangle 225"/>
          <p:cNvSpPr/>
          <p:nvPr/>
        </p:nvSpPr>
        <p:spPr bwMode="auto">
          <a:xfrm>
            <a:off x="5341974" y="3338356"/>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618082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8" name="Rectangle 227"/>
          <p:cNvSpPr/>
          <p:nvPr/>
        </p:nvSpPr>
        <p:spPr bwMode="auto">
          <a:xfrm>
            <a:off x="6728830"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9" name="Rectangle 228"/>
          <p:cNvSpPr/>
          <p:nvPr/>
        </p:nvSpPr>
        <p:spPr bwMode="auto">
          <a:xfrm>
            <a:off x="7276841" y="3629687"/>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6" name="Rectangle 235"/>
          <p:cNvSpPr/>
          <p:nvPr/>
        </p:nvSpPr>
        <p:spPr bwMode="auto">
          <a:xfrm>
            <a:off x="451281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7" name="Rectangle 236"/>
          <p:cNvSpPr/>
          <p:nvPr/>
        </p:nvSpPr>
        <p:spPr bwMode="auto">
          <a:xfrm>
            <a:off x="506082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8" name="Rectangle 237"/>
          <p:cNvSpPr/>
          <p:nvPr/>
        </p:nvSpPr>
        <p:spPr bwMode="auto">
          <a:xfrm>
            <a:off x="560883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1" name="Rectangle 240"/>
          <p:cNvSpPr/>
          <p:nvPr/>
        </p:nvSpPr>
        <p:spPr bwMode="auto">
          <a:xfrm>
            <a:off x="5475402" y="4087491"/>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4" name="Rectangle 243"/>
          <p:cNvSpPr/>
          <p:nvPr/>
        </p:nvSpPr>
        <p:spPr bwMode="auto">
          <a:xfrm>
            <a:off x="5341974" y="3917548"/>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5" name="Rectangle 244"/>
          <p:cNvSpPr/>
          <p:nvPr/>
        </p:nvSpPr>
        <p:spPr bwMode="auto">
          <a:xfrm>
            <a:off x="618082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6" name="Rectangle 245"/>
          <p:cNvSpPr/>
          <p:nvPr/>
        </p:nvSpPr>
        <p:spPr bwMode="auto">
          <a:xfrm>
            <a:off x="6728830"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7" name="Rectangle 246"/>
          <p:cNvSpPr/>
          <p:nvPr/>
        </p:nvSpPr>
        <p:spPr bwMode="auto">
          <a:xfrm>
            <a:off x="7276841" y="4208879"/>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4" name="Rectangle 253"/>
          <p:cNvSpPr/>
          <p:nvPr/>
        </p:nvSpPr>
        <p:spPr bwMode="auto">
          <a:xfrm>
            <a:off x="450656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5" name="Rectangle 254"/>
          <p:cNvSpPr/>
          <p:nvPr/>
        </p:nvSpPr>
        <p:spPr bwMode="auto">
          <a:xfrm>
            <a:off x="505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6" name="Rectangle 255"/>
          <p:cNvSpPr/>
          <p:nvPr/>
        </p:nvSpPr>
        <p:spPr bwMode="auto">
          <a:xfrm>
            <a:off x="560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9" name="Rectangle 258"/>
          <p:cNvSpPr/>
          <p:nvPr/>
        </p:nvSpPr>
        <p:spPr bwMode="auto">
          <a:xfrm>
            <a:off x="5469161" y="4676505"/>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2" name="Rectangle 261"/>
          <p:cNvSpPr/>
          <p:nvPr/>
        </p:nvSpPr>
        <p:spPr bwMode="auto">
          <a:xfrm>
            <a:off x="5335732" y="4506562"/>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3" name="Rectangle 262"/>
          <p:cNvSpPr/>
          <p:nvPr/>
        </p:nvSpPr>
        <p:spPr bwMode="auto">
          <a:xfrm>
            <a:off x="617457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4" name="Rectangle 263"/>
          <p:cNvSpPr/>
          <p:nvPr/>
        </p:nvSpPr>
        <p:spPr bwMode="auto">
          <a:xfrm>
            <a:off x="6722589"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5" name="Rectangle 264"/>
          <p:cNvSpPr/>
          <p:nvPr/>
        </p:nvSpPr>
        <p:spPr bwMode="auto">
          <a:xfrm>
            <a:off x="7270600" y="4797893"/>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2" name="Rectangle 271"/>
          <p:cNvSpPr/>
          <p:nvPr/>
        </p:nvSpPr>
        <p:spPr bwMode="auto">
          <a:xfrm>
            <a:off x="451281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3" name="Rectangle 272"/>
          <p:cNvSpPr/>
          <p:nvPr/>
        </p:nvSpPr>
        <p:spPr bwMode="auto">
          <a:xfrm>
            <a:off x="506082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4" name="Rectangle 273"/>
          <p:cNvSpPr/>
          <p:nvPr/>
        </p:nvSpPr>
        <p:spPr bwMode="auto">
          <a:xfrm>
            <a:off x="560883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7" name="Rectangle 276"/>
          <p:cNvSpPr/>
          <p:nvPr/>
        </p:nvSpPr>
        <p:spPr bwMode="auto">
          <a:xfrm>
            <a:off x="5475402" y="5267396"/>
            <a:ext cx="438408" cy="478615"/>
          </a:xfrm>
          <a:prstGeom prst="rect">
            <a:avLst/>
          </a:prstGeom>
          <a:solidFill>
            <a:srgbClr val="639D8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0" name="Rectangle 279"/>
          <p:cNvSpPr/>
          <p:nvPr/>
        </p:nvSpPr>
        <p:spPr bwMode="auto">
          <a:xfrm>
            <a:off x="5341974" y="5097453"/>
            <a:ext cx="438408" cy="478615"/>
          </a:xfrm>
          <a:prstGeom prst="rect">
            <a:avLst/>
          </a:prstGeom>
          <a:solidFill>
            <a:srgbClr val="E3A4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1" name="Rectangle 280"/>
          <p:cNvSpPr/>
          <p:nvPr/>
        </p:nvSpPr>
        <p:spPr bwMode="auto">
          <a:xfrm>
            <a:off x="618082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2" name="Rectangle 281"/>
          <p:cNvSpPr/>
          <p:nvPr/>
        </p:nvSpPr>
        <p:spPr bwMode="auto">
          <a:xfrm>
            <a:off x="6728830"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3" name="Rectangle 282"/>
          <p:cNvSpPr/>
          <p:nvPr/>
        </p:nvSpPr>
        <p:spPr bwMode="auto">
          <a:xfrm>
            <a:off x="7276841" y="5388784"/>
            <a:ext cx="438408" cy="478615"/>
          </a:xfrm>
          <a:prstGeom prst="rect">
            <a:avLst/>
          </a:prstGeom>
          <a:solidFill>
            <a:schemeClr val="bg1">
              <a:lumMod val="6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0" name="TextBox 289"/>
          <p:cNvSpPr txBox="1"/>
          <p:nvPr/>
        </p:nvSpPr>
        <p:spPr>
          <a:xfrm>
            <a:off x="381000" y="381000"/>
            <a:ext cx="6546985" cy="461665"/>
          </a:xfrm>
          <a:prstGeom prst="rect">
            <a:avLst/>
          </a:prstGeom>
          <a:noFill/>
        </p:spPr>
        <p:txBody>
          <a:bodyPr wrap="none" rtlCol="0">
            <a:spAutoFit/>
          </a:bodyPr>
          <a:lstStyle/>
          <a:p>
            <a:r>
              <a:rPr lang="en-GB" sz="2400" b="1" dirty="0" err="1"/>
              <a:t>Y,Cb,Cr</a:t>
            </a:r>
            <a:r>
              <a:rPr lang="en-GB" sz="2400" b="1" dirty="0"/>
              <a:t> – Chroma Sub-sampled to “4:1:1” </a:t>
            </a:r>
          </a:p>
        </p:txBody>
      </p:sp>
      <p:cxnSp>
        <p:nvCxnSpPr>
          <p:cNvPr id="291" name="Straight Arrow Connector 290"/>
          <p:cNvCxnSpPr/>
          <p:nvPr/>
        </p:nvCxnSpPr>
        <p:spPr bwMode="auto">
          <a:xfrm>
            <a:off x="1003852" y="6092687"/>
            <a:ext cx="6738731" cy="9939"/>
          </a:xfrm>
          <a:prstGeom prst="straightConnector1">
            <a:avLst/>
          </a:prstGeom>
          <a:noFill/>
          <a:ln w="9525" cap="flat" cmpd="sng" algn="ctr">
            <a:solidFill>
              <a:schemeClr val="tx1"/>
            </a:solidFill>
            <a:prstDash val="solid"/>
            <a:round/>
            <a:headEnd type="none" w="med" len="med"/>
            <a:tailEnd type="arrow"/>
          </a:ln>
          <a:effectLst/>
        </p:spPr>
      </p:cxnSp>
      <p:cxnSp>
        <p:nvCxnSpPr>
          <p:cNvPr id="292" name="Straight Arrow Connector 291"/>
          <p:cNvCxnSpPr/>
          <p:nvPr/>
        </p:nvCxnSpPr>
        <p:spPr bwMode="auto">
          <a:xfrm flipH="1" flipV="1">
            <a:off x="7861853" y="1023730"/>
            <a:ext cx="29817" cy="5049078"/>
          </a:xfrm>
          <a:prstGeom prst="straightConnector1">
            <a:avLst/>
          </a:prstGeom>
          <a:noFill/>
          <a:ln w="9525" cap="flat" cmpd="sng" algn="ctr">
            <a:solidFill>
              <a:schemeClr val="tx1"/>
            </a:solidFill>
            <a:prstDash val="solid"/>
            <a:round/>
            <a:headEnd type="none" w="med" len="med"/>
            <a:tailEnd type="arrow"/>
          </a:ln>
          <a:effectLst/>
        </p:spPr>
      </p:cxnSp>
      <p:sp>
        <p:nvSpPr>
          <p:cNvPr id="293" name="TextBox 292"/>
          <p:cNvSpPr txBox="1"/>
          <p:nvPr/>
        </p:nvSpPr>
        <p:spPr>
          <a:xfrm>
            <a:off x="3916017" y="6132443"/>
            <a:ext cx="970137" cy="338554"/>
          </a:xfrm>
          <a:prstGeom prst="rect">
            <a:avLst/>
          </a:prstGeom>
          <a:noFill/>
        </p:spPr>
        <p:txBody>
          <a:bodyPr wrap="none" rtlCol="0">
            <a:spAutoFit/>
          </a:bodyPr>
          <a:lstStyle/>
          <a:p>
            <a:r>
              <a:rPr lang="en-GB" i="1" dirty="0"/>
              <a:t>x pixels</a:t>
            </a:r>
          </a:p>
        </p:txBody>
      </p:sp>
      <p:sp>
        <p:nvSpPr>
          <p:cNvPr id="294" name="TextBox 293"/>
          <p:cNvSpPr txBox="1"/>
          <p:nvPr/>
        </p:nvSpPr>
        <p:spPr>
          <a:xfrm>
            <a:off x="7955202" y="3190460"/>
            <a:ext cx="970137" cy="338554"/>
          </a:xfrm>
          <a:prstGeom prst="rect">
            <a:avLst/>
          </a:prstGeom>
          <a:noFill/>
        </p:spPr>
        <p:txBody>
          <a:bodyPr wrap="none" rtlCol="0">
            <a:spAutoFit/>
          </a:bodyPr>
          <a:lstStyle/>
          <a:p>
            <a:r>
              <a:rPr lang="en-GB" i="1" dirty="0"/>
              <a:t>y pixels</a:t>
            </a:r>
          </a:p>
        </p:txBody>
      </p:sp>
      <p:sp>
        <p:nvSpPr>
          <p:cNvPr id="326" name="TextBox 325"/>
          <p:cNvSpPr txBox="1"/>
          <p:nvPr/>
        </p:nvSpPr>
        <p:spPr>
          <a:xfrm>
            <a:off x="6372750" y="3929932"/>
            <a:ext cx="2507090" cy="1384995"/>
          </a:xfrm>
          <a:prstGeom prst="rect">
            <a:avLst/>
          </a:prstGeom>
          <a:solidFill>
            <a:schemeClr val="bg1">
              <a:alpha val="83000"/>
            </a:schemeClr>
          </a:solidFill>
        </p:spPr>
        <p:txBody>
          <a:bodyPr wrap="square" rtlCol="0">
            <a:spAutoFit/>
          </a:bodyPr>
          <a:lstStyle/>
          <a:p>
            <a:r>
              <a:rPr lang="en-GB" sz="1400" dirty="0"/>
              <a:t>Reason: To greatly reduce the amount of data</a:t>
            </a:r>
          </a:p>
          <a:p>
            <a:endParaRPr lang="en-GB" sz="1400" dirty="0"/>
          </a:p>
          <a:p>
            <a:r>
              <a:rPr lang="en-GB" sz="1400" dirty="0"/>
              <a:t>Rationale: The eye’s resolution of luminance is greater than for colour</a:t>
            </a:r>
          </a:p>
        </p:txBody>
      </p:sp>
    </p:spTree>
    <p:extLst>
      <p:ext uri="{BB962C8B-B14F-4D97-AF65-F5344CB8AC3E}">
        <p14:creationId xmlns:p14="http://schemas.microsoft.com/office/powerpoint/2010/main" val="26512915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450091" y="1728650"/>
            <a:ext cx="5265737" cy="3811587"/>
          </a:xfrm>
          <a:prstGeom prst="rect">
            <a:avLst/>
          </a:prstGeom>
          <a:noFill/>
          <a:ln w="9525">
            <a:noFill/>
            <a:miter lim="800000"/>
            <a:headEnd/>
            <a:tailEnd/>
          </a:ln>
        </p:spPr>
        <p:txBody>
          <a:bodyPr>
            <a:spAutoFit/>
          </a:bodyPr>
          <a:lstStyle/>
          <a:p>
            <a:pPr marL="187325" indent="-187325">
              <a:lnSpc>
                <a:spcPct val="120000"/>
              </a:lnSpc>
            </a:pPr>
            <a:r>
              <a:rPr lang="en-GB" sz="1600" b="1" dirty="0" err="1"/>
              <a:t>YCbCr</a:t>
            </a:r>
            <a:r>
              <a:rPr lang="en-GB" sz="1600" dirty="0"/>
              <a:t> </a:t>
            </a:r>
          </a:p>
          <a:p>
            <a:pPr marL="187325" indent="-187325">
              <a:lnSpc>
                <a:spcPct val="120000"/>
              </a:lnSpc>
            </a:pPr>
            <a:endParaRPr lang="en-GB" sz="1600" dirty="0"/>
          </a:p>
          <a:p>
            <a:pPr marL="187325" indent="-187325">
              <a:lnSpc>
                <a:spcPct val="120000"/>
              </a:lnSpc>
              <a:buFontTx/>
              <a:buChar char="•"/>
            </a:pPr>
            <a:r>
              <a:rPr lang="en-GB" sz="1600" dirty="0"/>
              <a:t>Colour Space: Y = </a:t>
            </a:r>
            <a:r>
              <a:rPr lang="en-GB" sz="1600" dirty="0" err="1"/>
              <a:t>Luminence</a:t>
            </a:r>
            <a:r>
              <a:rPr lang="en-GB" sz="1600" dirty="0"/>
              <a:t> Information; Cr, </a:t>
            </a:r>
            <a:r>
              <a:rPr lang="en-GB" sz="1600" dirty="0" err="1"/>
              <a:t>Cb</a:t>
            </a:r>
            <a:r>
              <a:rPr lang="en-GB" sz="1600" dirty="0"/>
              <a:t> = Chrominance Information</a:t>
            </a:r>
          </a:p>
          <a:p>
            <a:pPr marL="187325" indent="-187325">
              <a:lnSpc>
                <a:spcPct val="120000"/>
              </a:lnSpc>
              <a:buFontTx/>
              <a:buChar char="•"/>
            </a:pPr>
            <a:endParaRPr lang="en-GB" sz="1600" dirty="0"/>
          </a:p>
          <a:p>
            <a:pPr marL="187325" indent="-187325">
              <a:lnSpc>
                <a:spcPct val="120000"/>
              </a:lnSpc>
              <a:buFontTx/>
              <a:buChar char="•"/>
            </a:pPr>
            <a:r>
              <a:rPr lang="en-GB" sz="1600" dirty="0"/>
              <a:t>Derived from RGB (gamma corrected)</a:t>
            </a:r>
          </a:p>
          <a:p>
            <a:pPr marL="187325" indent="-187325">
              <a:lnSpc>
                <a:spcPct val="120000"/>
              </a:lnSpc>
              <a:buFontTx/>
              <a:buChar char="•"/>
            </a:pPr>
            <a:endParaRPr lang="en-GB" sz="1600" dirty="0"/>
          </a:p>
          <a:p>
            <a:pPr marL="187325" indent="-187325">
              <a:lnSpc>
                <a:spcPct val="120000"/>
              </a:lnSpc>
              <a:buFontTx/>
              <a:buChar char="•"/>
            </a:pPr>
            <a:r>
              <a:rPr lang="en-GB" sz="1600" dirty="0"/>
              <a:t>Y is dominant information; RGB colour info derived from Y, Cr, </a:t>
            </a:r>
            <a:r>
              <a:rPr lang="en-GB" sz="1600" dirty="0" err="1"/>
              <a:t>Cb</a:t>
            </a:r>
            <a:r>
              <a:rPr lang="en-GB" sz="1600" dirty="0"/>
              <a:t> relationships</a:t>
            </a:r>
          </a:p>
          <a:p>
            <a:pPr marL="187325" indent="-187325">
              <a:lnSpc>
                <a:spcPct val="120000"/>
              </a:lnSpc>
              <a:buFontTx/>
              <a:buChar char="•"/>
            </a:pPr>
            <a:endParaRPr lang="en-GB" sz="1600" dirty="0"/>
          </a:p>
          <a:p>
            <a:pPr marL="582613" lvl="1" indent="-204788">
              <a:lnSpc>
                <a:spcPct val="120000"/>
              </a:lnSpc>
              <a:buFontTx/>
              <a:buChar char="•"/>
            </a:pPr>
            <a:r>
              <a:rPr lang="en-GB" sz="1600" dirty="0"/>
              <a:t>(simplified</a:t>
            </a:r>
            <a:r>
              <a:rPr lang="en-GB" sz="1600" dirty="0">
                <a:sym typeface="Wingdings" pitchFamily="2" charset="2"/>
              </a:rPr>
              <a:t>):   </a:t>
            </a:r>
            <a:r>
              <a:rPr lang="en-GB" sz="1600" dirty="0" err="1"/>
              <a:t>Cb</a:t>
            </a:r>
            <a:r>
              <a:rPr lang="en-GB" sz="1600" dirty="0"/>
              <a:t> = B-Y ;  Cr = R-Y</a:t>
            </a:r>
          </a:p>
          <a:p>
            <a:pPr marL="187325" indent="-187325"/>
            <a:endParaRPr lang="en-GB" sz="1600" dirty="0"/>
          </a:p>
          <a:p>
            <a:pPr marL="187325" indent="-187325"/>
            <a:endParaRPr lang="en-GB" sz="1600" dirty="0"/>
          </a:p>
        </p:txBody>
      </p:sp>
      <p:pic>
        <p:nvPicPr>
          <p:cNvPr id="9220" name="Picture 4"/>
          <p:cNvPicPr>
            <a:picLocks noChangeAspect="1" noChangeArrowheads="1"/>
          </p:cNvPicPr>
          <p:nvPr/>
        </p:nvPicPr>
        <p:blipFill>
          <a:blip r:embed="rId2" cstate="print"/>
          <a:srcRect/>
          <a:stretch>
            <a:fillRect/>
          </a:stretch>
        </p:blipFill>
        <p:spPr bwMode="auto">
          <a:xfrm>
            <a:off x="6426200" y="527050"/>
            <a:ext cx="1905000" cy="5695950"/>
          </a:xfrm>
          <a:prstGeom prst="rect">
            <a:avLst/>
          </a:prstGeom>
          <a:noFill/>
          <a:ln w="9525" algn="ctr">
            <a:noFill/>
            <a:miter lim="800000"/>
            <a:headEnd/>
            <a:tailEnd/>
          </a:ln>
        </p:spPr>
      </p:pic>
      <p:sp>
        <p:nvSpPr>
          <p:cNvPr id="9221" name="Rectangle 6"/>
          <p:cNvSpPr>
            <a:spLocks noChangeArrowheads="1"/>
          </p:cNvSpPr>
          <p:nvPr/>
        </p:nvSpPr>
        <p:spPr bwMode="auto">
          <a:xfrm>
            <a:off x="8366125" y="5849938"/>
            <a:ext cx="410690" cy="338554"/>
          </a:xfrm>
          <a:prstGeom prst="rect">
            <a:avLst/>
          </a:prstGeom>
          <a:noFill/>
          <a:ln w="9525">
            <a:noFill/>
            <a:miter lim="800000"/>
            <a:headEnd/>
            <a:tailEnd/>
          </a:ln>
        </p:spPr>
        <p:txBody>
          <a:bodyPr wrap="none">
            <a:spAutoFit/>
          </a:bodyPr>
          <a:lstStyle/>
          <a:p>
            <a:r>
              <a:rPr lang="en-GB" sz="1600"/>
              <a:t>Cr</a:t>
            </a:r>
            <a:endParaRPr lang="en-US" sz="1600"/>
          </a:p>
        </p:txBody>
      </p:sp>
      <p:sp>
        <p:nvSpPr>
          <p:cNvPr id="9222" name="Rectangle 7"/>
          <p:cNvSpPr>
            <a:spLocks noChangeArrowheads="1"/>
          </p:cNvSpPr>
          <p:nvPr/>
        </p:nvSpPr>
        <p:spPr bwMode="auto">
          <a:xfrm>
            <a:off x="8347075" y="4452938"/>
            <a:ext cx="457176" cy="338554"/>
          </a:xfrm>
          <a:prstGeom prst="rect">
            <a:avLst/>
          </a:prstGeom>
          <a:noFill/>
          <a:ln w="9525">
            <a:noFill/>
            <a:miter lim="800000"/>
            <a:headEnd/>
            <a:tailEnd/>
          </a:ln>
        </p:spPr>
        <p:txBody>
          <a:bodyPr wrap="none">
            <a:spAutoFit/>
          </a:bodyPr>
          <a:lstStyle/>
          <a:p>
            <a:r>
              <a:rPr lang="en-GB" sz="1600"/>
              <a:t>Cb</a:t>
            </a:r>
            <a:endParaRPr lang="en-US" sz="1600"/>
          </a:p>
        </p:txBody>
      </p:sp>
      <p:sp>
        <p:nvSpPr>
          <p:cNvPr id="9223" name="Rectangle 8"/>
          <p:cNvSpPr>
            <a:spLocks noChangeArrowheads="1"/>
          </p:cNvSpPr>
          <p:nvPr/>
        </p:nvSpPr>
        <p:spPr bwMode="auto">
          <a:xfrm>
            <a:off x="8339138" y="3022600"/>
            <a:ext cx="312906" cy="338554"/>
          </a:xfrm>
          <a:prstGeom prst="rect">
            <a:avLst/>
          </a:prstGeom>
          <a:noFill/>
          <a:ln w="9525">
            <a:noFill/>
            <a:miter lim="800000"/>
            <a:headEnd/>
            <a:tailEnd/>
          </a:ln>
        </p:spPr>
        <p:txBody>
          <a:bodyPr wrap="none">
            <a:spAutoFit/>
          </a:bodyPr>
          <a:lstStyle/>
          <a:p>
            <a:r>
              <a:rPr lang="en-GB" sz="1600"/>
              <a:t>Y</a:t>
            </a:r>
            <a:endParaRPr lang="en-US" sz="1600"/>
          </a:p>
        </p:txBody>
      </p:sp>
      <p:sp>
        <p:nvSpPr>
          <p:cNvPr id="9224" name="Rectangle 9"/>
          <p:cNvSpPr>
            <a:spLocks noChangeArrowheads="1"/>
          </p:cNvSpPr>
          <p:nvPr/>
        </p:nvSpPr>
        <p:spPr bwMode="auto">
          <a:xfrm>
            <a:off x="4603750" y="1541463"/>
            <a:ext cx="1646605" cy="338554"/>
          </a:xfrm>
          <a:prstGeom prst="rect">
            <a:avLst/>
          </a:prstGeom>
          <a:noFill/>
          <a:ln w="9525">
            <a:noFill/>
            <a:miter lim="800000"/>
            <a:headEnd/>
            <a:tailEnd/>
          </a:ln>
        </p:spPr>
        <p:txBody>
          <a:bodyPr wrap="none">
            <a:spAutoFit/>
          </a:bodyPr>
          <a:lstStyle/>
          <a:p>
            <a:r>
              <a:rPr lang="en-GB" sz="1600"/>
              <a:t>Original image</a:t>
            </a:r>
            <a:endParaRPr lang="en-US" sz="1600"/>
          </a:p>
        </p:txBody>
      </p:sp>
      <p:sp>
        <p:nvSpPr>
          <p:cNvPr id="9" name="TextBox 8"/>
          <p:cNvSpPr txBox="1"/>
          <p:nvPr/>
        </p:nvSpPr>
        <p:spPr>
          <a:xfrm>
            <a:off x="381000" y="381000"/>
            <a:ext cx="1319592" cy="461665"/>
          </a:xfrm>
          <a:prstGeom prst="rect">
            <a:avLst/>
          </a:prstGeom>
          <a:noFill/>
        </p:spPr>
        <p:txBody>
          <a:bodyPr wrap="none" rtlCol="0">
            <a:spAutoFit/>
          </a:bodyPr>
          <a:lstStyle/>
          <a:p>
            <a:r>
              <a:rPr lang="en-GB" sz="2400" b="1" dirty="0" err="1"/>
              <a:t>Y,Cb,Cr</a:t>
            </a:r>
            <a:endParaRPr lang="en-GB" sz="2400" b="1" dirty="0"/>
          </a:p>
        </p:txBody>
      </p:sp>
    </p:spTree>
    <p:extLst>
      <p:ext uri="{BB962C8B-B14F-4D97-AF65-F5344CB8AC3E}">
        <p14:creationId xmlns:p14="http://schemas.microsoft.com/office/powerpoint/2010/main" val="1496341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cstate="print"/>
          <a:srcRect/>
          <a:stretch>
            <a:fillRect/>
          </a:stretch>
        </p:blipFill>
        <p:spPr bwMode="auto">
          <a:xfrm>
            <a:off x="6426200" y="527050"/>
            <a:ext cx="1905000" cy="5695950"/>
          </a:xfrm>
          <a:prstGeom prst="rect">
            <a:avLst/>
          </a:prstGeom>
          <a:noFill/>
          <a:ln w="9525" algn="ctr">
            <a:noFill/>
            <a:miter lim="800000"/>
            <a:headEnd/>
            <a:tailEnd/>
          </a:ln>
        </p:spPr>
      </p:pic>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8025" y="2995613"/>
            <a:ext cx="190500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67075" y="4791075"/>
            <a:ext cx="1885950"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38500" y="1195388"/>
            <a:ext cx="19050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p:cNvSpPr>
            <a:spLocks noChangeArrowheads="1"/>
          </p:cNvSpPr>
          <p:nvPr/>
        </p:nvSpPr>
        <p:spPr bwMode="auto">
          <a:xfrm>
            <a:off x="8366125" y="5849938"/>
            <a:ext cx="436563" cy="366712"/>
          </a:xfrm>
          <a:prstGeom prst="rect">
            <a:avLst/>
          </a:prstGeom>
          <a:noFill/>
          <a:ln w="9525">
            <a:noFill/>
            <a:miter lim="800000"/>
            <a:headEnd/>
            <a:tailEnd/>
          </a:ln>
        </p:spPr>
        <p:txBody>
          <a:bodyPr wrap="none">
            <a:spAutoFit/>
          </a:bodyPr>
          <a:lstStyle/>
          <a:p>
            <a:r>
              <a:rPr lang="en-GB"/>
              <a:t>Cr</a:t>
            </a:r>
            <a:endParaRPr lang="en-US"/>
          </a:p>
        </p:txBody>
      </p:sp>
      <p:sp>
        <p:nvSpPr>
          <p:cNvPr id="7" name="Rectangle 7"/>
          <p:cNvSpPr>
            <a:spLocks noChangeArrowheads="1"/>
          </p:cNvSpPr>
          <p:nvPr/>
        </p:nvSpPr>
        <p:spPr bwMode="auto">
          <a:xfrm>
            <a:off x="8347075" y="4452938"/>
            <a:ext cx="487363" cy="366712"/>
          </a:xfrm>
          <a:prstGeom prst="rect">
            <a:avLst/>
          </a:prstGeom>
          <a:noFill/>
          <a:ln w="9525">
            <a:noFill/>
            <a:miter lim="800000"/>
            <a:headEnd/>
            <a:tailEnd/>
          </a:ln>
        </p:spPr>
        <p:txBody>
          <a:bodyPr wrap="none">
            <a:spAutoFit/>
          </a:bodyPr>
          <a:lstStyle/>
          <a:p>
            <a:r>
              <a:rPr lang="en-GB"/>
              <a:t>Cb</a:t>
            </a:r>
            <a:endParaRPr lang="en-US"/>
          </a:p>
        </p:txBody>
      </p:sp>
      <p:sp>
        <p:nvSpPr>
          <p:cNvPr id="8" name="Rectangle 8"/>
          <p:cNvSpPr>
            <a:spLocks noChangeArrowheads="1"/>
          </p:cNvSpPr>
          <p:nvPr/>
        </p:nvSpPr>
        <p:spPr bwMode="auto">
          <a:xfrm>
            <a:off x="8339138" y="3022600"/>
            <a:ext cx="327025" cy="366713"/>
          </a:xfrm>
          <a:prstGeom prst="rect">
            <a:avLst/>
          </a:prstGeom>
          <a:noFill/>
          <a:ln w="9525">
            <a:noFill/>
            <a:miter lim="800000"/>
            <a:headEnd/>
            <a:tailEnd/>
          </a:ln>
        </p:spPr>
        <p:txBody>
          <a:bodyPr wrap="none">
            <a:spAutoFit/>
          </a:bodyPr>
          <a:lstStyle/>
          <a:p>
            <a:r>
              <a:rPr lang="en-GB"/>
              <a:t>Y</a:t>
            </a:r>
            <a:endParaRPr lang="en-US"/>
          </a:p>
        </p:txBody>
      </p:sp>
      <p:sp>
        <p:nvSpPr>
          <p:cNvPr id="9" name="Rectangle 6"/>
          <p:cNvSpPr>
            <a:spLocks noChangeArrowheads="1"/>
          </p:cNvSpPr>
          <p:nvPr/>
        </p:nvSpPr>
        <p:spPr bwMode="auto">
          <a:xfrm>
            <a:off x="5137150" y="5935663"/>
            <a:ext cx="436563" cy="366712"/>
          </a:xfrm>
          <a:prstGeom prst="rect">
            <a:avLst/>
          </a:prstGeom>
          <a:noFill/>
          <a:ln w="9525">
            <a:noFill/>
            <a:miter lim="800000"/>
            <a:headEnd/>
            <a:tailEnd/>
          </a:ln>
        </p:spPr>
        <p:txBody>
          <a:bodyPr wrap="none">
            <a:spAutoFit/>
          </a:bodyPr>
          <a:lstStyle/>
          <a:p>
            <a:r>
              <a:rPr lang="en-GB" dirty="0"/>
              <a:t>Cr</a:t>
            </a:r>
            <a:endParaRPr lang="en-US" dirty="0"/>
          </a:p>
        </p:txBody>
      </p:sp>
      <p:sp>
        <p:nvSpPr>
          <p:cNvPr id="10" name="Rectangle 7"/>
          <p:cNvSpPr>
            <a:spLocks noChangeArrowheads="1"/>
          </p:cNvSpPr>
          <p:nvPr/>
        </p:nvSpPr>
        <p:spPr bwMode="auto">
          <a:xfrm>
            <a:off x="5241925" y="4024313"/>
            <a:ext cx="487363" cy="366712"/>
          </a:xfrm>
          <a:prstGeom prst="rect">
            <a:avLst/>
          </a:prstGeom>
          <a:noFill/>
          <a:ln w="9525">
            <a:noFill/>
            <a:miter lim="800000"/>
            <a:headEnd/>
            <a:tailEnd/>
          </a:ln>
        </p:spPr>
        <p:txBody>
          <a:bodyPr wrap="none">
            <a:spAutoFit/>
          </a:bodyPr>
          <a:lstStyle/>
          <a:p>
            <a:r>
              <a:rPr lang="en-GB" dirty="0" err="1"/>
              <a:t>Cb</a:t>
            </a:r>
            <a:endParaRPr lang="en-US" dirty="0"/>
          </a:p>
        </p:txBody>
      </p:sp>
      <p:sp>
        <p:nvSpPr>
          <p:cNvPr id="11" name="Rectangle 8"/>
          <p:cNvSpPr>
            <a:spLocks noChangeArrowheads="1"/>
          </p:cNvSpPr>
          <p:nvPr/>
        </p:nvSpPr>
        <p:spPr bwMode="auto">
          <a:xfrm>
            <a:off x="5214938" y="2355850"/>
            <a:ext cx="327025" cy="366713"/>
          </a:xfrm>
          <a:prstGeom prst="rect">
            <a:avLst/>
          </a:prstGeom>
          <a:noFill/>
          <a:ln w="9525">
            <a:noFill/>
            <a:miter lim="800000"/>
            <a:headEnd/>
            <a:tailEnd/>
          </a:ln>
        </p:spPr>
        <p:txBody>
          <a:bodyPr wrap="none">
            <a:spAutoFit/>
          </a:bodyPr>
          <a:lstStyle/>
          <a:p>
            <a:r>
              <a:rPr lang="en-GB" dirty="0"/>
              <a:t>Y</a:t>
            </a:r>
            <a:endParaRPr lang="en-US" dirty="0"/>
          </a:p>
        </p:txBody>
      </p:sp>
      <p:sp>
        <p:nvSpPr>
          <p:cNvPr id="12" name="TextBox 11"/>
          <p:cNvSpPr txBox="1"/>
          <p:nvPr/>
        </p:nvSpPr>
        <p:spPr>
          <a:xfrm>
            <a:off x="381000" y="381000"/>
            <a:ext cx="2611612" cy="461665"/>
          </a:xfrm>
          <a:prstGeom prst="rect">
            <a:avLst/>
          </a:prstGeom>
          <a:noFill/>
        </p:spPr>
        <p:txBody>
          <a:bodyPr wrap="none" rtlCol="0">
            <a:spAutoFit/>
          </a:bodyPr>
          <a:lstStyle/>
          <a:p>
            <a:r>
              <a:rPr lang="en-GB" sz="2400" b="1" dirty="0"/>
              <a:t>RGB  to  </a:t>
            </a:r>
            <a:r>
              <a:rPr lang="en-GB" sz="2400" b="1" dirty="0" err="1"/>
              <a:t>Y,Cr,Cb</a:t>
            </a:r>
            <a:endParaRPr lang="en-GB" sz="2400" b="1" dirty="0"/>
          </a:p>
        </p:txBody>
      </p:sp>
      <p:cxnSp>
        <p:nvCxnSpPr>
          <p:cNvPr id="4" name="Straight Arrow Connector 3"/>
          <p:cNvCxnSpPr/>
          <p:nvPr/>
        </p:nvCxnSpPr>
        <p:spPr bwMode="auto">
          <a:xfrm flipH="1" flipV="1">
            <a:off x="5248275" y="1952625"/>
            <a:ext cx="1076325" cy="247650"/>
          </a:xfrm>
          <a:prstGeom prst="straightConnector1">
            <a:avLst/>
          </a:prstGeom>
          <a:noFill/>
          <a:ln w="9525" cap="flat" cmpd="sng" algn="ctr">
            <a:solidFill>
              <a:schemeClr val="tx1"/>
            </a:solidFill>
            <a:prstDash val="solid"/>
            <a:round/>
            <a:headEnd type="none" w="med" len="med"/>
            <a:tailEnd type="arrow"/>
          </a:ln>
          <a:effectLst/>
        </p:spPr>
      </p:cxnSp>
      <p:cxnSp>
        <p:nvCxnSpPr>
          <p:cNvPr id="15" name="Straight Arrow Connector 14"/>
          <p:cNvCxnSpPr/>
          <p:nvPr/>
        </p:nvCxnSpPr>
        <p:spPr bwMode="auto">
          <a:xfrm flipH="1" flipV="1">
            <a:off x="5257800" y="3752850"/>
            <a:ext cx="1095376" cy="161925"/>
          </a:xfrm>
          <a:prstGeom prst="straightConnector1">
            <a:avLst/>
          </a:prstGeom>
          <a:noFill/>
          <a:ln w="9525" cap="flat" cmpd="sng" algn="ctr">
            <a:solidFill>
              <a:schemeClr val="tx1"/>
            </a:solidFill>
            <a:prstDash val="solid"/>
            <a:round/>
            <a:headEnd type="none" w="med" len="med"/>
            <a:tailEnd type="arrow"/>
          </a:ln>
          <a:effectLst/>
        </p:spPr>
      </p:cxnSp>
      <p:cxnSp>
        <p:nvCxnSpPr>
          <p:cNvPr id="16" name="Straight Arrow Connector 15"/>
          <p:cNvCxnSpPr/>
          <p:nvPr/>
        </p:nvCxnSpPr>
        <p:spPr bwMode="auto">
          <a:xfrm flipH="1" flipV="1">
            <a:off x="5305425" y="5381625"/>
            <a:ext cx="1104901" cy="57150"/>
          </a:xfrm>
          <a:prstGeom prst="straightConnector1">
            <a:avLst/>
          </a:prstGeom>
          <a:noFill/>
          <a:ln w="9525" cap="flat" cmpd="sng" algn="ctr">
            <a:solidFill>
              <a:schemeClr val="tx1"/>
            </a:solidFill>
            <a:prstDash val="solid"/>
            <a:round/>
            <a:headEnd type="none" w="med" len="med"/>
            <a:tailEnd type="arrow"/>
          </a:ln>
          <a:effectLst/>
        </p:spPr>
      </p:cxnSp>
      <p:sp>
        <p:nvSpPr>
          <p:cNvPr id="14" name="TextBox 13"/>
          <p:cNvSpPr txBox="1"/>
          <p:nvPr/>
        </p:nvSpPr>
        <p:spPr>
          <a:xfrm flipH="1">
            <a:off x="381000" y="1152525"/>
            <a:ext cx="2162175" cy="4770537"/>
          </a:xfrm>
          <a:prstGeom prst="rect">
            <a:avLst/>
          </a:prstGeom>
          <a:noFill/>
        </p:spPr>
        <p:txBody>
          <a:bodyPr wrap="square" rtlCol="0">
            <a:spAutoFit/>
          </a:bodyPr>
          <a:lstStyle/>
          <a:p>
            <a:r>
              <a:rPr lang="en-GB" dirty="0"/>
              <a:t>i.e. there are now three mappings of the original RGB image:</a:t>
            </a:r>
          </a:p>
          <a:p>
            <a:endParaRPr lang="en-GB" dirty="0"/>
          </a:p>
          <a:p>
            <a:endParaRPr lang="en-GB" dirty="0"/>
          </a:p>
          <a:p>
            <a:r>
              <a:rPr lang="en-GB" dirty="0"/>
              <a:t>Y: Luminance intensity</a:t>
            </a:r>
          </a:p>
          <a:p>
            <a:endParaRPr lang="en-GB" dirty="0"/>
          </a:p>
          <a:p>
            <a:r>
              <a:rPr lang="en-GB" dirty="0" err="1"/>
              <a:t>Cb</a:t>
            </a:r>
            <a:r>
              <a:rPr lang="en-GB" dirty="0"/>
              <a:t>: Intensity of the values of </a:t>
            </a:r>
          </a:p>
          <a:p>
            <a:r>
              <a:rPr lang="en-GB" dirty="0"/>
              <a:t>[B minus Y]</a:t>
            </a:r>
          </a:p>
          <a:p>
            <a:endParaRPr lang="en-GB" dirty="0"/>
          </a:p>
          <a:p>
            <a:r>
              <a:rPr lang="en-GB" dirty="0"/>
              <a:t>Cr: Intensity of the values of </a:t>
            </a:r>
          </a:p>
          <a:p>
            <a:r>
              <a:rPr lang="en-GB" dirty="0"/>
              <a:t>[R minus Y]</a:t>
            </a:r>
          </a:p>
          <a:p>
            <a:endParaRPr lang="en-GB" dirty="0"/>
          </a:p>
          <a:p>
            <a:endParaRPr lang="en-GB" dirty="0"/>
          </a:p>
          <a:p>
            <a:endParaRPr lang="en-GB" dirty="0"/>
          </a:p>
        </p:txBody>
      </p:sp>
      <p:cxnSp>
        <p:nvCxnSpPr>
          <p:cNvPr id="20" name="Straight Arrow Connector 19"/>
          <p:cNvCxnSpPr/>
          <p:nvPr/>
        </p:nvCxnSpPr>
        <p:spPr bwMode="auto">
          <a:xfrm flipV="1">
            <a:off x="1876425" y="2000250"/>
            <a:ext cx="1190626" cy="771525"/>
          </a:xfrm>
          <a:prstGeom prst="straightConnector1">
            <a:avLst/>
          </a:prstGeom>
          <a:noFill/>
          <a:ln w="9525" cap="flat" cmpd="sng" algn="ctr">
            <a:solidFill>
              <a:schemeClr val="tx1"/>
            </a:solidFill>
            <a:prstDash val="solid"/>
            <a:round/>
            <a:headEnd type="none" w="med" len="med"/>
            <a:tailEnd type="arrow"/>
          </a:ln>
          <a:effectLst/>
        </p:spPr>
      </p:cxnSp>
      <p:cxnSp>
        <p:nvCxnSpPr>
          <p:cNvPr id="22" name="Straight Arrow Connector 21"/>
          <p:cNvCxnSpPr/>
          <p:nvPr/>
        </p:nvCxnSpPr>
        <p:spPr bwMode="auto">
          <a:xfrm flipV="1">
            <a:off x="1733550" y="3667125"/>
            <a:ext cx="1381126" cy="152400"/>
          </a:xfrm>
          <a:prstGeom prst="straightConnector1">
            <a:avLst/>
          </a:prstGeom>
          <a:noFill/>
          <a:ln w="9525" cap="flat" cmpd="sng" algn="ctr">
            <a:solidFill>
              <a:schemeClr val="tx1"/>
            </a:solidFill>
            <a:prstDash val="solid"/>
            <a:round/>
            <a:headEnd type="none" w="med" len="med"/>
            <a:tailEnd type="arrow"/>
          </a:ln>
          <a:effectLst/>
        </p:spPr>
      </p:cxnSp>
      <p:cxnSp>
        <p:nvCxnSpPr>
          <p:cNvPr id="24" name="Straight Arrow Connector 23"/>
          <p:cNvCxnSpPr/>
          <p:nvPr/>
        </p:nvCxnSpPr>
        <p:spPr bwMode="auto">
          <a:xfrm>
            <a:off x="1666875" y="4914900"/>
            <a:ext cx="1457326" cy="514350"/>
          </a:xfrm>
          <a:prstGeom prst="straightConnector1">
            <a:avLst/>
          </a:prstGeom>
          <a:noFill/>
          <a:ln w="9525" cap="flat" cmpd="sng" algn="ctr">
            <a:solidFill>
              <a:schemeClr val="tx1"/>
            </a:solidFill>
            <a:prstDash val="solid"/>
            <a:round/>
            <a:headEnd type="none" w="med" len="med"/>
            <a:tailEnd type="arrow"/>
          </a:ln>
          <a:effectLst/>
        </p:spPr>
      </p:cxnSp>
      <p:pic>
        <p:nvPicPr>
          <p:cNvPr id="21"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38900" y="3371850"/>
            <a:ext cx="188595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5275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433802" y="1379902"/>
            <a:ext cx="2930448" cy="2098794"/>
          </a:xfrm>
          <a:prstGeom prst="rect">
            <a:avLst/>
          </a:prstGeom>
          <a:noFill/>
          <a:ln w="9525">
            <a:noFill/>
            <a:miter lim="800000"/>
            <a:headEnd/>
            <a:tailEnd/>
          </a:ln>
        </p:spPr>
      </p:pic>
      <p:sp>
        <p:nvSpPr>
          <p:cNvPr id="337" name="Text Box 2"/>
          <p:cNvSpPr txBox="1">
            <a:spLocks noChangeArrowheads="1"/>
          </p:cNvSpPr>
          <p:nvPr/>
        </p:nvSpPr>
        <p:spPr bwMode="auto">
          <a:xfrm>
            <a:off x="381000" y="381000"/>
            <a:ext cx="3381054" cy="461665"/>
          </a:xfrm>
          <a:prstGeom prst="rect">
            <a:avLst/>
          </a:prstGeom>
          <a:noFill/>
          <a:ln w="9525">
            <a:noFill/>
            <a:miter lim="800000"/>
            <a:headEnd/>
            <a:tailEnd/>
          </a:ln>
        </p:spPr>
        <p:txBody>
          <a:bodyPr wrap="none">
            <a:spAutoFit/>
          </a:bodyPr>
          <a:lstStyle/>
          <a:p>
            <a:r>
              <a:rPr lang="en-GB" sz="2400" b="1" dirty="0" err="1">
                <a:solidFill>
                  <a:srgbClr val="000000"/>
                </a:solidFill>
              </a:rPr>
              <a:t>Chroma</a:t>
            </a:r>
            <a:r>
              <a:rPr lang="en-GB" sz="2400" b="1" dirty="0">
                <a:solidFill>
                  <a:srgbClr val="000000"/>
                </a:solidFill>
              </a:rPr>
              <a:t> </a:t>
            </a:r>
            <a:r>
              <a:rPr lang="en-GB" sz="2400" b="1" dirty="0" err="1">
                <a:solidFill>
                  <a:srgbClr val="000000"/>
                </a:solidFill>
              </a:rPr>
              <a:t>Subsampling</a:t>
            </a:r>
            <a:endParaRPr lang="en-GB" sz="2400" b="1" dirty="0">
              <a:solidFill>
                <a:srgbClr val="000000"/>
              </a:solidFill>
            </a:endParaRPr>
          </a:p>
        </p:txBody>
      </p:sp>
      <p:sp>
        <p:nvSpPr>
          <p:cNvPr id="338" name="TextBox 337"/>
          <p:cNvSpPr txBox="1"/>
          <p:nvPr/>
        </p:nvSpPr>
        <p:spPr>
          <a:xfrm>
            <a:off x="3709778" y="795129"/>
            <a:ext cx="5158411" cy="3539430"/>
          </a:xfrm>
          <a:prstGeom prst="rect">
            <a:avLst/>
          </a:prstGeom>
          <a:noFill/>
        </p:spPr>
        <p:txBody>
          <a:bodyPr wrap="square" rtlCol="0">
            <a:spAutoFit/>
          </a:bodyPr>
          <a:lstStyle/>
          <a:p>
            <a:r>
              <a:rPr lang="en-GB" dirty="0"/>
              <a:t>Left – </a:t>
            </a:r>
            <a:r>
              <a:rPr lang="en-GB" b="1" u="sng" dirty="0"/>
              <a:t>original RGB</a:t>
            </a:r>
            <a:r>
              <a:rPr lang="en-GB" dirty="0"/>
              <a:t> image:</a:t>
            </a:r>
          </a:p>
          <a:p>
            <a:pPr marL="179388" indent="-179388">
              <a:buFont typeface="Arial" pitchFamily="34" charset="0"/>
              <a:buChar char="•"/>
            </a:pPr>
            <a:r>
              <a:rPr lang="en-GB" dirty="0"/>
              <a:t>12 x 8 pixels = 96 pixels</a:t>
            </a:r>
          </a:p>
          <a:p>
            <a:pPr marL="179388" indent="-179388">
              <a:buFont typeface="Arial" pitchFamily="34" charset="0"/>
              <a:buChar char="•"/>
            </a:pPr>
            <a:r>
              <a:rPr lang="en-GB" dirty="0"/>
              <a:t>bits for each pixel = 8 red + 8 green + 8 blue</a:t>
            </a:r>
          </a:p>
          <a:p>
            <a:pPr marL="179388" indent="-179388"/>
            <a:r>
              <a:rPr lang="en-GB" dirty="0"/>
              <a:t>∴ 24b each pixel, total bits = 24 x 96 b </a:t>
            </a:r>
          </a:p>
          <a:p>
            <a:pPr marL="179388" indent="-179388"/>
            <a:r>
              <a:rPr lang="en-GB" dirty="0"/>
              <a:t>	= </a:t>
            </a:r>
            <a:r>
              <a:rPr lang="en-GB" b="1" u="sng" dirty="0"/>
              <a:t>2304b</a:t>
            </a:r>
            <a:r>
              <a:rPr lang="en-GB" u="sng" dirty="0"/>
              <a:t> </a:t>
            </a:r>
            <a:r>
              <a:rPr lang="en-GB" dirty="0"/>
              <a:t> (= 288 Bytes)</a:t>
            </a:r>
          </a:p>
          <a:p>
            <a:endParaRPr lang="en-GB" dirty="0"/>
          </a:p>
          <a:p>
            <a:r>
              <a:rPr lang="en-GB" dirty="0"/>
              <a:t>Bottom left, </a:t>
            </a:r>
            <a:r>
              <a:rPr lang="en-GB" b="1" u="sng" dirty="0" err="1"/>
              <a:t>YCbCr</a:t>
            </a:r>
            <a:r>
              <a:rPr lang="en-GB" b="1" u="sng" dirty="0"/>
              <a:t>, 4:4:4</a:t>
            </a:r>
            <a:r>
              <a:rPr lang="en-GB" dirty="0"/>
              <a:t> : (is also </a:t>
            </a:r>
            <a:r>
              <a:rPr lang="en-GB" b="1" u="sng" dirty="0"/>
              <a:t>2304b</a:t>
            </a:r>
            <a:r>
              <a:rPr lang="en-GB" b="1" dirty="0"/>
              <a:t>)</a:t>
            </a:r>
          </a:p>
          <a:p>
            <a:endParaRPr lang="en-GB" dirty="0"/>
          </a:p>
          <a:p>
            <a:endParaRPr lang="en-GB" dirty="0"/>
          </a:p>
          <a:p>
            <a:r>
              <a:rPr lang="en-GB" dirty="0"/>
              <a:t>Below, </a:t>
            </a:r>
            <a:r>
              <a:rPr lang="en-GB" b="1" dirty="0" err="1"/>
              <a:t>C</a:t>
            </a:r>
            <a:r>
              <a:rPr lang="en-GB" b="1" u="sng" dirty="0" err="1"/>
              <a:t>hroma</a:t>
            </a:r>
            <a:r>
              <a:rPr lang="en-GB" b="1" u="sng" dirty="0"/>
              <a:t> sub-sampled, 4:1:1</a:t>
            </a:r>
            <a:r>
              <a:rPr lang="en-GB" dirty="0"/>
              <a:t>:</a:t>
            </a:r>
          </a:p>
          <a:p>
            <a:pPr marL="179388" indent="-179388">
              <a:buFont typeface="Arial" pitchFamily="34" charset="0"/>
              <a:buChar char="•"/>
            </a:pPr>
            <a:r>
              <a:rPr lang="en-GB" dirty="0" err="1"/>
              <a:t>Luma</a:t>
            </a:r>
            <a:r>
              <a:rPr lang="en-GB" dirty="0"/>
              <a:t> = 96 x 8 = 768</a:t>
            </a:r>
          </a:p>
          <a:p>
            <a:pPr marL="179388" indent="-179388">
              <a:buFont typeface="Arial" pitchFamily="34" charset="0"/>
              <a:buChar char="•"/>
            </a:pPr>
            <a:r>
              <a:rPr lang="en-GB" dirty="0" err="1"/>
              <a:t>Chroma</a:t>
            </a:r>
            <a:r>
              <a:rPr lang="en-GB" dirty="0"/>
              <a:t> = 3 columns of Cr and </a:t>
            </a:r>
            <a:r>
              <a:rPr lang="en-GB" dirty="0" err="1"/>
              <a:t>Cb</a:t>
            </a:r>
            <a:r>
              <a:rPr lang="en-GB" dirty="0"/>
              <a:t>, </a:t>
            </a:r>
          </a:p>
          <a:p>
            <a:pPr marL="636588" lvl="1" indent="-179388"/>
            <a:r>
              <a:rPr lang="en-GB" dirty="0"/>
              <a:t>2 x 8b each C = 8 x 2 x 3 x 8 =  384 b</a:t>
            </a:r>
          </a:p>
          <a:p>
            <a:pPr marL="179388" indent="-179388">
              <a:buFont typeface="Arial" pitchFamily="34" charset="0"/>
              <a:buChar char="•"/>
            </a:pPr>
            <a:r>
              <a:rPr lang="en-GB" dirty="0"/>
              <a:t>Total = 768+384 = </a:t>
            </a:r>
            <a:r>
              <a:rPr lang="en-GB" b="1" u="sng" dirty="0"/>
              <a:t>1152b</a:t>
            </a:r>
            <a:r>
              <a:rPr lang="en-GB" dirty="0"/>
              <a:t> (=144 B)</a:t>
            </a:r>
          </a:p>
        </p:txBody>
      </p:sp>
      <p:sp>
        <p:nvSpPr>
          <p:cNvPr id="340" name="TextBox 339"/>
          <p:cNvSpPr txBox="1"/>
          <p:nvPr/>
        </p:nvSpPr>
        <p:spPr>
          <a:xfrm>
            <a:off x="7017469" y="5125720"/>
            <a:ext cx="1715051" cy="307777"/>
          </a:xfrm>
          <a:prstGeom prst="rect">
            <a:avLst/>
          </a:prstGeom>
          <a:noFill/>
        </p:spPr>
        <p:txBody>
          <a:bodyPr wrap="square" rtlCol="0">
            <a:spAutoFit/>
          </a:bodyPr>
          <a:lstStyle/>
          <a:p>
            <a:r>
              <a:rPr lang="en-GB" sz="1400" dirty="0"/>
              <a:t>i.e. 50% saving</a:t>
            </a: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3939277"/>
            <a:ext cx="3022600" cy="2161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6855" y="4338321"/>
            <a:ext cx="2921455" cy="2103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Arrow Connector 2"/>
          <p:cNvCxnSpPr/>
          <p:nvPr/>
        </p:nvCxnSpPr>
        <p:spPr bwMode="auto">
          <a:xfrm flipH="1">
            <a:off x="3291840" y="987552"/>
            <a:ext cx="470214" cy="392350"/>
          </a:xfrm>
          <a:prstGeom prst="straightConnector1">
            <a:avLst/>
          </a:prstGeom>
          <a:noFill/>
          <a:ln w="952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flipH="1">
            <a:off x="3364250" y="2564844"/>
            <a:ext cx="427546" cy="1370671"/>
          </a:xfrm>
          <a:prstGeom prst="straightConnector1">
            <a:avLst/>
          </a:prstGeom>
          <a:noFill/>
          <a:ln w="9525" cap="flat" cmpd="sng" algn="ctr">
            <a:solidFill>
              <a:schemeClr val="tx1"/>
            </a:solidFill>
            <a:prstDash val="solid"/>
            <a:round/>
            <a:headEnd type="none" w="med" len="med"/>
            <a:tailEnd type="triangle"/>
          </a:ln>
          <a:effectLst/>
        </p:spPr>
      </p:cxnSp>
      <p:cxnSp>
        <p:nvCxnSpPr>
          <p:cNvPr id="12" name="Straight Arrow Connector 11"/>
          <p:cNvCxnSpPr/>
          <p:nvPr/>
        </p:nvCxnSpPr>
        <p:spPr bwMode="auto">
          <a:xfrm flipH="1">
            <a:off x="7017469" y="4316011"/>
            <a:ext cx="213773" cy="432677"/>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9508269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81000" y="381000"/>
            <a:ext cx="3432350" cy="461665"/>
          </a:xfrm>
          <a:prstGeom prst="rect">
            <a:avLst/>
          </a:prstGeom>
          <a:noFill/>
          <a:ln w="9525">
            <a:noFill/>
            <a:miter lim="800000"/>
            <a:headEnd/>
            <a:tailEnd/>
          </a:ln>
        </p:spPr>
        <p:txBody>
          <a:bodyPr wrap="none">
            <a:spAutoFit/>
          </a:bodyPr>
          <a:lstStyle/>
          <a:p>
            <a:r>
              <a:rPr lang="en-GB" sz="2400" b="1" dirty="0">
                <a:solidFill>
                  <a:srgbClr val="000000"/>
                </a:solidFill>
              </a:rPr>
              <a:t>Reception / Decoding</a:t>
            </a:r>
          </a:p>
        </p:txBody>
      </p:sp>
      <p:sp>
        <p:nvSpPr>
          <p:cNvPr id="7" name="Right Arrow 6"/>
          <p:cNvSpPr/>
          <p:nvPr/>
        </p:nvSpPr>
        <p:spPr bwMode="auto">
          <a:xfrm rot="5400000">
            <a:off x="6241773" y="3339546"/>
            <a:ext cx="983975" cy="672525"/>
          </a:xfrm>
          <a:prstGeom prst="rightArrow">
            <a:avLst>
              <a:gd name="adj1" fmla="val 50000"/>
              <a:gd name="adj2" fmla="val 77027"/>
            </a:avLst>
          </a:prstGeom>
          <a:solidFill>
            <a:schemeClr val="accent3">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 name="TextBox 8"/>
          <p:cNvSpPr txBox="1"/>
          <p:nvPr/>
        </p:nvSpPr>
        <p:spPr>
          <a:xfrm>
            <a:off x="501155" y="3525033"/>
            <a:ext cx="4965368" cy="2800767"/>
          </a:xfrm>
          <a:prstGeom prst="rect">
            <a:avLst/>
          </a:prstGeom>
          <a:noFill/>
        </p:spPr>
        <p:txBody>
          <a:bodyPr wrap="square" rtlCol="0">
            <a:spAutoFit/>
          </a:bodyPr>
          <a:lstStyle/>
          <a:p>
            <a:pPr marL="179388" indent="-179388"/>
            <a:r>
              <a:rPr lang="en-GB" dirty="0"/>
              <a:t>Decoding, reverse process ... </a:t>
            </a:r>
          </a:p>
          <a:p>
            <a:pPr marL="636588" lvl="1" indent="-179388"/>
            <a:r>
              <a:rPr lang="en-GB" dirty="0"/>
              <a:t>from </a:t>
            </a:r>
            <a:r>
              <a:rPr lang="en-GB" dirty="0" err="1"/>
              <a:t>Chroma</a:t>
            </a:r>
            <a:r>
              <a:rPr lang="en-GB" dirty="0"/>
              <a:t> sub-sampled to full RGB</a:t>
            </a:r>
          </a:p>
          <a:p>
            <a:pPr marL="636588" lvl="1" indent="-179388"/>
            <a:endParaRPr lang="en-GB" dirty="0"/>
          </a:p>
          <a:p>
            <a:pPr marL="179388" indent="-179388">
              <a:buFont typeface="Arial" pitchFamily="34" charset="0"/>
              <a:buChar char="•"/>
            </a:pPr>
            <a:r>
              <a:rPr lang="en-GB" dirty="0"/>
              <a:t>note – interpolating lost information</a:t>
            </a:r>
          </a:p>
          <a:p>
            <a:pPr marL="179388" indent="-179388"/>
            <a:r>
              <a:rPr lang="en-GB" dirty="0"/>
              <a:t>		∴ detail is lost in the process</a:t>
            </a:r>
          </a:p>
          <a:p>
            <a:pPr marL="179388" indent="-179388">
              <a:buFont typeface="Arial" pitchFamily="34" charset="0"/>
              <a:buChar char="•"/>
            </a:pPr>
            <a:endParaRPr lang="en-GB" dirty="0"/>
          </a:p>
          <a:p>
            <a:pPr marL="179388" indent="-179388">
              <a:buFont typeface="Arial" pitchFamily="34" charset="0"/>
              <a:buChar char="•"/>
            </a:pPr>
            <a:r>
              <a:rPr lang="en-GB" dirty="0"/>
              <a:t>Perceptual (e.g. MPEG, etc ) encoding + decoding is also part of this process and loses a lot more detail </a:t>
            </a:r>
          </a:p>
          <a:p>
            <a:pPr marL="179388" indent="-179388"/>
            <a:endParaRPr lang="en-GB" i="1" dirty="0"/>
          </a:p>
          <a:p>
            <a:pPr marL="179388" indent="-179388"/>
            <a:r>
              <a:rPr lang="en-GB" i="1" dirty="0"/>
              <a:t>... more later in the module</a:t>
            </a:r>
            <a:endParaRPr lang="en-GB" dirty="0"/>
          </a:p>
        </p:txBody>
      </p:sp>
      <p:grpSp>
        <p:nvGrpSpPr>
          <p:cNvPr id="11" name="Group 10"/>
          <p:cNvGrpSpPr/>
          <p:nvPr/>
        </p:nvGrpSpPr>
        <p:grpSpPr>
          <a:xfrm>
            <a:off x="5575852" y="4343401"/>
            <a:ext cx="2991679" cy="2126974"/>
            <a:chOff x="5377069" y="4065106"/>
            <a:chExt cx="2991679" cy="2126974"/>
          </a:xfrm>
        </p:grpSpPr>
        <p:pic>
          <p:nvPicPr>
            <p:cNvPr id="5" name="Picture 2"/>
            <p:cNvPicPr>
              <a:picLocks noChangeAspect="1" noChangeArrowheads="1"/>
            </p:cNvPicPr>
            <p:nvPr/>
          </p:nvPicPr>
          <p:blipFill>
            <a:blip r:embed="rId2" cstate="print"/>
            <a:srcRect/>
            <a:stretch>
              <a:fillRect/>
            </a:stretch>
          </p:blipFill>
          <p:spPr bwMode="auto">
            <a:xfrm>
              <a:off x="5403367" y="4083345"/>
              <a:ext cx="2965381" cy="2098794"/>
            </a:xfrm>
            <a:prstGeom prst="rect">
              <a:avLst/>
            </a:prstGeom>
            <a:noFill/>
            <a:ln w="9525">
              <a:noFill/>
              <a:miter lim="800000"/>
              <a:headEnd/>
              <a:tailEnd/>
            </a:ln>
          </p:spPr>
        </p:pic>
        <p:sp>
          <p:nvSpPr>
            <p:cNvPr id="10" name="Rectangle 9"/>
            <p:cNvSpPr/>
            <p:nvPr/>
          </p:nvSpPr>
          <p:spPr bwMode="auto">
            <a:xfrm>
              <a:off x="5377069" y="4065106"/>
              <a:ext cx="2991679" cy="2126974"/>
            </a:xfrm>
            <a:prstGeom prst="rect">
              <a:avLst/>
            </a:prstGeom>
            <a:blipFill dpi="0" rotWithShape="1">
              <a:blip r:embed="rId3" cstate="print">
                <a:alphaModFix amt="46000"/>
              </a:blip>
              <a:srcRec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sp>
        <p:nvSpPr>
          <p:cNvPr id="12" name="Right Arrow 11"/>
          <p:cNvSpPr/>
          <p:nvPr/>
        </p:nvSpPr>
        <p:spPr bwMode="auto">
          <a:xfrm>
            <a:off x="3916016" y="1202634"/>
            <a:ext cx="983975" cy="672525"/>
          </a:xfrm>
          <a:prstGeom prst="rightArrow">
            <a:avLst>
              <a:gd name="adj1" fmla="val 50000"/>
              <a:gd name="adj2" fmla="val 77027"/>
            </a:avLst>
          </a:prstGeom>
          <a:solidFill>
            <a:schemeClr val="accent3">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14" name="Picture 2"/>
          <p:cNvPicPr>
            <a:picLocks noChangeAspect="1" noChangeArrowheads="1"/>
          </p:cNvPicPr>
          <p:nvPr/>
        </p:nvPicPr>
        <p:blipFill>
          <a:blip r:embed="rId2" cstate="print"/>
          <a:srcRect/>
          <a:stretch>
            <a:fillRect/>
          </a:stretch>
        </p:blipFill>
        <p:spPr bwMode="auto">
          <a:xfrm>
            <a:off x="483497" y="932640"/>
            <a:ext cx="2965381" cy="2098794"/>
          </a:xfrm>
          <a:prstGeom prst="rect">
            <a:avLst/>
          </a:prstGeom>
          <a:noFill/>
          <a:ln w="9525">
            <a:noFill/>
            <a:miter lim="800000"/>
            <a:headEnd/>
            <a:tailEnd/>
          </a:ln>
        </p:spPr>
      </p:pic>
      <p:sp>
        <p:nvSpPr>
          <p:cNvPr id="16" name="TextBox 15"/>
          <p:cNvSpPr txBox="1"/>
          <p:nvPr/>
        </p:nvSpPr>
        <p:spPr>
          <a:xfrm>
            <a:off x="3532592" y="1924832"/>
            <a:ext cx="1625818" cy="584775"/>
          </a:xfrm>
          <a:prstGeom prst="rect">
            <a:avLst/>
          </a:prstGeom>
          <a:noFill/>
        </p:spPr>
        <p:txBody>
          <a:bodyPr wrap="square" rtlCol="0">
            <a:spAutoFit/>
          </a:bodyPr>
          <a:lstStyle/>
          <a:p>
            <a:pPr algn="ctr"/>
            <a:r>
              <a:rPr lang="en-GB" dirty="0"/>
              <a:t>encoding process</a:t>
            </a:r>
          </a:p>
        </p:txBody>
      </p:sp>
      <p:sp>
        <p:nvSpPr>
          <p:cNvPr id="17" name="TextBox 16"/>
          <p:cNvSpPr txBox="1"/>
          <p:nvPr/>
        </p:nvSpPr>
        <p:spPr>
          <a:xfrm>
            <a:off x="7160375" y="3316312"/>
            <a:ext cx="1307765" cy="584775"/>
          </a:xfrm>
          <a:prstGeom prst="rect">
            <a:avLst/>
          </a:prstGeom>
          <a:noFill/>
        </p:spPr>
        <p:txBody>
          <a:bodyPr wrap="square" rtlCol="0">
            <a:spAutoFit/>
          </a:bodyPr>
          <a:lstStyle/>
          <a:p>
            <a:pPr algn="ctr"/>
            <a:r>
              <a:rPr lang="en-GB" dirty="0"/>
              <a:t>decoding process</a:t>
            </a:r>
          </a:p>
        </p:txBody>
      </p:sp>
      <p:pic>
        <p:nvPicPr>
          <p:cNvPr id="1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7335" y="924561"/>
            <a:ext cx="2921455" cy="2103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7589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81000" y="381000"/>
            <a:ext cx="3381054" cy="461665"/>
          </a:xfrm>
          <a:prstGeom prst="rect">
            <a:avLst/>
          </a:prstGeom>
          <a:noFill/>
          <a:ln w="9525">
            <a:noFill/>
            <a:miter lim="800000"/>
            <a:headEnd/>
            <a:tailEnd/>
          </a:ln>
        </p:spPr>
        <p:txBody>
          <a:bodyPr wrap="none">
            <a:spAutoFit/>
          </a:bodyPr>
          <a:lstStyle/>
          <a:p>
            <a:r>
              <a:rPr lang="en-GB" sz="2400" b="1" dirty="0" err="1"/>
              <a:t>Chroma</a:t>
            </a:r>
            <a:r>
              <a:rPr lang="en-GB" sz="2400" b="1" dirty="0"/>
              <a:t> </a:t>
            </a:r>
            <a:r>
              <a:rPr lang="en-GB" sz="2400" b="1" dirty="0" err="1"/>
              <a:t>Subsampling</a:t>
            </a:r>
            <a:endParaRPr lang="en-GB" sz="2400" b="1" dirty="0"/>
          </a:p>
        </p:txBody>
      </p:sp>
      <p:sp>
        <p:nvSpPr>
          <p:cNvPr id="3" name="TextBox 2"/>
          <p:cNvSpPr txBox="1"/>
          <p:nvPr/>
        </p:nvSpPr>
        <p:spPr>
          <a:xfrm>
            <a:off x="381000" y="904874"/>
            <a:ext cx="8467725" cy="2913618"/>
          </a:xfrm>
          <a:prstGeom prst="rect">
            <a:avLst/>
          </a:prstGeom>
          <a:noFill/>
        </p:spPr>
        <p:txBody>
          <a:bodyPr wrap="square" rtlCol="0">
            <a:spAutoFit/>
          </a:bodyPr>
          <a:lstStyle/>
          <a:p>
            <a:pPr marL="180975" indent="-180975">
              <a:lnSpc>
                <a:spcPts val="2200"/>
              </a:lnSpc>
            </a:pPr>
            <a:r>
              <a:rPr lang="en-GB" b="1" dirty="0" err="1"/>
              <a:t>Luma</a:t>
            </a:r>
            <a:r>
              <a:rPr lang="en-GB" b="1" dirty="0"/>
              <a:t> and </a:t>
            </a:r>
            <a:r>
              <a:rPr lang="en-GB" b="1" dirty="0" err="1"/>
              <a:t>chroma</a:t>
            </a:r>
            <a:r>
              <a:rPr lang="en-GB" b="1" dirty="0"/>
              <a:t> components </a:t>
            </a:r>
          </a:p>
          <a:p>
            <a:pPr marL="180975" indent="-180975">
              <a:lnSpc>
                <a:spcPts val="2200"/>
              </a:lnSpc>
              <a:buFont typeface="Arial" pitchFamily="34" charset="0"/>
              <a:buChar char="•"/>
            </a:pPr>
            <a:r>
              <a:rPr lang="en-GB" dirty="0"/>
              <a:t>Weighted sum of </a:t>
            </a:r>
            <a:r>
              <a:rPr lang="en-GB" i="1" dirty="0"/>
              <a:t>gamma-corrected</a:t>
            </a:r>
            <a:r>
              <a:rPr lang="en-GB" dirty="0"/>
              <a:t> R'G'B‘ </a:t>
            </a:r>
            <a:r>
              <a:rPr lang="en-GB" dirty="0" err="1"/>
              <a:t>tristimulus</a:t>
            </a:r>
            <a:r>
              <a:rPr lang="en-GB" dirty="0"/>
              <a:t> components </a:t>
            </a:r>
          </a:p>
          <a:p>
            <a:pPr marL="542925" lvl="1" indent="-180975">
              <a:lnSpc>
                <a:spcPts val="2200"/>
              </a:lnSpc>
              <a:buFont typeface="Arial" pitchFamily="34" charset="0"/>
              <a:buChar char="•"/>
            </a:pPr>
            <a:r>
              <a:rPr lang="en-GB" dirty="0"/>
              <a:t>instead of </a:t>
            </a:r>
            <a:r>
              <a:rPr lang="en-GB" i="1" dirty="0"/>
              <a:t>linear</a:t>
            </a:r>
            <a:r>
              <a:rPr lang="en-GB" dirty="0"/>
              <a:t> (</a:t>
            </a:r>
            <a:r>
              <a:rPr lang="en-GB" dirty="0" err="1"/>
              <a:t>tristimulus</a:t>
            </a:r>
            <a:r>
              <a:rPr lang="en-GB" dirty="0"/>
              <a:t>) RGB components</a:t>
            </a:r>
          </a:p>
          <a:p>
            <a:pPr marL="180975" indent="-180975">
              <a:lnSpc>
                <a:spcPts val="2200"/>
              </a:lnSpc>
              <a:buFont typeface="Arial" pitchFamily="34" charset="0"/>
              <a:buChar char="•"/>
            </a:pPr>
            <a:r>
              <a:rPr lang="en-GB" dirty="0"/>
              <a:t>Luminance and colour detail are not completely independent of each another</a:t>
            </a:r>
          </a:p>
          <a:p>
            <a:pPr marL="542925" lvl="1" indent="-180975">
              <a:lnSpc>
                <a:spcPts val="2200"/>
              </a:lnSpc>
              <a:buFont typeface="Arial" pitchFamily="34" charset="0"/>
              <a:buChar char="•"/>
            </a:pPr>
            <a:r>
              <a:rPr lang="en-GB" dirty="0"/>
              <a:t>"bleeding" of luminance and colour information between the </a:t>
            </a:r>
            <a:r>
              <a:rPr lang="en-GB" dirty="0" err="1"/>
              <a:t>luma</a:t>
            </a:r>
            <a:r>
              <a:rPr lang="en-GB" dirty="0"/>
              <a:t> and </a:t>
            </a:r>
            <a:r>
              <a:rPr lang="en-GB" dirty="0" err="1"/>
              <a:t>chroma</a:t>
            </a:r>
            <a:r>
              <a:rPr lang="en-GB" dirty="0"/>
              <a:t> components </a:t>
            </a:r>
          </a:p>
          <a:p>
            <a:pPr marL="895350" lvl="2" indent="-180975">
              <a:lnSpc>
                <a:spcPts val="2200"/>
              </a:lnSpc>
              <a:buFont typeface="Arial" pitchFamily="34" charset="0"/>
              <a:buChar char="•"/>
            </a:pPr>
            <a:r>
              <a:rPr lang="en-GB" dirty="0"/>
              <a:t>i.e. because of the colour not represented in each pixel, and is interpolated for the final viewed image </a:t>
            </a:r>
          </a:p>
          <a:p>
            <a:pPr marL="895350" lvl="2" indent="-180975">
              <a:lnSpc>
                <a:spcPts val="2200"/>
              </a:lnSpc>
              <a:buFont typeface="Arial" pitchFamily="34" charset="0"/>
              <a:buChar char="•"/>
            </a:pPr>
            <a:r>
              <a:rPr lang="en-GB" dirty="0"/>
              <a:t>greatest for highly-saturated colours</a:t>
            </a:r>
          </a:p>
          <a:p>
            <a:pPr marL="895350" lvl="2" indent="-180975">
              <a:lnSpc>
                <a:spcPts val="2200"/>
              </a:lnSpc>
              <a:buFont typeface="Arial" pitchFamily="34" charset="0"/>
              <a:buChar char="•"/>
            </a:pPr>
            <a:r>
              <a:rPr lang="en-GB" dirty="0"/>
              <a:t>noticeable in between the magenta and green (when </a:t>
            </a:r>
            <a:r>
              <a:rPr lang="en-GB" dirty="0" err="1"/>
              <a:t>chroma</a:t>
            </a:r>
            <a:r>
              <a:rPr lang="en-GB" dirty="0"/>
              <a:t> subsampled)</a:t>
            </a:r>
          </a:p>
        </p:txBody>
      </p:sp>
      <p:pic>
        <p:nvPicPr>
          <p:cNvPr id="40962" name="Picture 2"/>
          <p:cNvPicPr>
            <a:picLocks noChangeAspect="1" noChangeArrowheads="1"/>
          </p:cNvPicPr>
          <p:nvPr/>
        </p:nvPicPr>
        <p:blipFill>
          <a:blip r:embed="rId2" cstate="print"/>
          <a:srcRect/>
          <a:stretch>
            <a:fillRect/>
          </a:stretch>
        </p:blipFill>
        <p:spPr bwMode="auto">
          <a:xfrm>
            <a:off x="381000" y="3957638"/>
            <a:ext cx="7900370" cy="1214437"/>
          </a:xfrm>
          <a:prstGeom prst="rect">
            <a:avLst/>
          </a:prstGeom>
          <a:noFill/>
          <a:ln w="9525">
            <a:noFill/>
            <a:miter lim="800000"/>
            <a:headEnd/>
            <a:tailEnd/>
          </a:ln>
        </p:spPr>
      </p:pic>
      <p:pic>
        <p:nvPicPr>
          <p:cNvPr id="40963" name="Picture 3"/>
          <p:cNvPicPr>
            <a:picLocks noChangeAspect="1" noChangeArrowheads="1"/>
          </p:cNvPicPr>
          <p:nvPr/>
        </p:nvPicPr>
        <p:blipFill>
          <a:blip r:embed="rId3" cstate="print"/>
          <a:srcRect/>
          <a:stretch>
            <a:fillRect/>
          </a:stretch>
        </p:blipFill>
        <p:spPr bwMode="auto">
          <a:xfrm>
            <a:off x="381000" y="5272088"/>
            <a:ext cx="7900370" cy="1214437"/>
          </a:xfrm>
          <a:prstGeom prst="rect">
            <a:avLst/>
          </a:prstGeom>
          <a:noFill/>
          <a:ln w="9525">
            <a:noFill/>
            <a:miter lim="800000"/>
            <a:headEnd/>
            <a:tailEnd/>
          </a:ln>
        </p:spPr>
      </p:pic>
      <p:sp>
        <p:nvSpPr>
          <p:cNvPr id="6" name="TextBox 5"/>
          <p:cNvSpPr txBox="1"/>
          <p:nvPr/>
        </p:nvSpPr>
        <p:spPr>
          <a:xfrm>
            <a:off x="381000" y="4238625"/>
            <a:ext cx="2970685" cy="338554"/>
          </a:xfrm>
          <a:prstGeom prst="rect">
            <a:avLst/>
          </a:prstGeom>
          <a:noFill/>
        </p:spPr>
        <p:txBody>
          <a:bodyPr wrap="none" rtlCol="0">
            <a:spAutoFit/>
          </a:bodyPr>
          <a:lstStyle/>
          <a:p>
            <a:r>
              <a:rPr lang="en-GB" dirty="0"/>
              <a:t>without colour </a:t>
            </a:r>
            <a:r>
              <a:rPr lang="en-GB" dirty="0" err="1"/>
              <a:t>subsampling</a:t>
            </a:r>
            <a:endParaRPr lang="en-GB" dirty="0"/>
          </a:p>
        </p:txBody>
      </p:sp>
      <p:sp>
        <p:nvSpPr>
          <p:cNvPr id="7" name="TextBox 6"/>
          <p:cNvSpPr txBox="1"/>
          <p:nvPr/>
        </p:nvSpPr>
        <p:spPr>
          <a:xfrm>
            <a:off x="381000" y="5438775"/>
            <a:ext cx="2640466" cy="338554"/>
          </a:xfrm>
          <a:prstGeom prst="rect">
            <a:avLst/>
          </a:prstGeom>
          <a:noFill/>
        </p:spPr>
        <p:txBody>
          <a:bodyPr wrap="none" rtlCol="0">
            <a:spAutoFit/>
          </a:bodyPr>
          <a:lstStyle/>
          <a:p>
            <a:r>
              <a:rPr lang="en-GB" dirty="0"/>
              <a:t>with colour </a:t>
            </a:r>
            <a:r>
              <a:rPr lang="en-GB" dirty="0" err="1"/>
              <a:t>subsampling</a:t>
            </a:r>
            <a:endParaRPr lang="en-GB" dirty="0"/>
          </a:p>
        </p:txBody>
      </p:sp>
    </p:spTree>
    <p:extLst>
      <p:ext uri="{BB962C8B-B14F-4D97-AF65-F5344CB8AC3E}">
        <p14:creationId xmlns:p14="http://schemas.microsoft.com/office/powerpoint/2010/main" val="1568983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81000" y="381000"/>
            <a:ext cx="3381054" cy="461665"/>
          </a:xfrm>
          <a:prstGeom prst="rect">
            <a:avLst/>
          </a:prstGeom>
          <a:noFill/>
          <a:ln w="9525">
            <a:noFill/>
            <a:miter lim="800000"/>
            <a:headEnd/>
            <a:tailEnd/>
          </a:ln>
        </p:spPr>
        <p:txBody>
          <a:bodyPr wrap="none">
            <a:spAutoFit/>
          </a:bodyPr>
          <a:lstStyle/>
          <a:p>
            <a:r>
              <a:rPr lang="en-GB" sz="2400" b="1" dirty="0" err="1"/>
              <a:t>Chroma</a:t>
            </a:r>
            <a:r>
              <a:rPr lang="en-GB" sz="2400" b="1" dirty="0"/>
              <a:t> </a:t>
            </a:r>
            <a:r>
              <a:rPr lang="en-GB" sz="2400" b="1" dirty="0" err="1"/>
              <a:t>Subsampling</a:t>
            </a:r>
            <a:endParaRPr lang="en-GB" sz="2400" b="1" dirty="0"/>
          </a:p>
        </p:txBody>
      </p:sp>
      <p:sp>
        <p:nvSpPr>
          <p:cNvPr id="3" name="TextBox 2"/>
          <p:cNvSpPr txBox="1"/>
          <p:nvPr/>
        </p:nvSpPr>
        <p:spPr>
          <a:xfrm>
            <a:off x="381000" y="942975"/>
            <a:ext cx="8115300" cy="5416868"/>
          </a:xfrm>
          <a:prstGeom prst="rect">
            <a:avLst/>
          </a:prstGeom>
          <a:noFill/>
        </p:spPr>
        <p:txBody>
          <a:bodyPr wrap="square" rtlCol="0">
            <a:spAutoFit/>
          </a:bodyPr>
          <a:lstStyle/>
          <a:p>
            <a:pPr marL="180975" indent="-180975">
              <a:lnSpc>
                <a:spcPts val="2200"/>
              </a:lnSpc>
              <a:buFont typeface="Arial" pitchFamily="34" charset="0"/>
              <a:buChar char="•"/>
            </a:pPr>
            <a:r>
              <a:rPr lang="en-GB" dirty="0"/>
              <a:t>commonly expressed as a three part ratio </a:t>
            </a:r>
            <a:r>
              <a:rPr lang="en-GB" i="1" dirty="0"/>
              <a:t>J</a:t>
            </a:r>
            <a:r>
              <a:rPr lang="en-GB" dirty="0"/>
              <a:t>:</a:t>
            </a:r>
            <a:r>
              <a:rPr lang="en-GB" i="1" dirty="0"/>
              <a:t>a</a:t>
            </a:r>
            <a:r>
              <a:rPr lang="en-GB" dirty="0"/>
              <a:t>:</a:t>
            </a:r>
            <a:r>
              <a:rPr lang="en-GB" i="1" dirty="0"/>
              <a:t>b</a:t>
            </a:r>
            <a:r>
              <a:rPr lang="en-GB" dirty="0"/>
              <a:t> (e.g. 4:2:2)</a:t>
            </a:r>
          </a:p>
          <a:p>
            <a:pPr marL="180975" indent="-180975">
              <a:lnSpc>
                <a:spcPts val="2200"/>
              </a:lnSpc>
              <a:buFont typeface="Arial" pitchFamily="34" charset="0"/>
              <a:buChar char="•"/>
            </a:pPr>
            <a:r>
              <a:rPr lang="en-GB" dirty="0"/>
              <a:t>number of luminance and chrominance samples in a conceptual region </a:t>
            </a:r>
          </a:p>
          <a:p>
            <a:pPr marL="638175" lvl="1" indent="-180975">
              <a:lnSpc>
                <a:spcPts val="2200"/>
              </a:lnSpc>
              <a:buFont typeface="Arial" pitchFamily="34" charset="0"/>
              <a:buChar char="•"/>
            </a:pPr>
            <a:r>
              <a:rPr lang="en-GB" i="1" dirty="0"/>
              <a:t>J</a:t>
            </a:r>
            <a:r>
              <a:rPr lang="en-GB" dirty="0"/>
              <a:t> pixels wide</a:t>
            </a:r>
          </a:p>
          <a:p>
            <a:pPr marL="638175" lvl="1" indent="-180975">
              <a:lnSpc>
                <a:spcPts val="2200"/>
              </a:lnSpc>
              <a:buFont typeface="Arial" pitchFamily="34" charset="0"/>
              <a:buChar char="•"/>
            </a:pPr>
            <a:r>
              <a:rPr lang="en-GB" dirty="0"/>
              <a:t>2 pixels high</a:t>
            </a:r>
          </a:p>
          <a:p>
            <a:pPr marL="180975" indent="-180975">
              <a:lnSpc>
                <a:spcPts val="2200"/>
              </a:lnSpc>
              <a:buFont typeface="Arial" pitchFamily="34" charset="0"/>
              <a:buChar char="•"/>
            </a:pPr>
            <a:endParaRPr lang="en-GB" dirty="0"/>
          </a:p>
          <a:p>
            <a:pPr marL="180975" indent="-180975">
              <a:lnSpc>
                <a:spcPts val="2200"/>
              </a:lnSpc>
              <a:buFont typeface="Arial" pitchFamily="34" charset="0"/>
              <a:buChar char="•"/>
            </a:pPr>
            <a:endParaRPr lang="en-GB" dirty="0"/>
          </a:p>
          <a:p>
            <a:pPr marL="180975" indent="-180975">
              <a:lnSpc>
                <a:spcPts val="2200"/>
              </a:lnSpc>
              <a:buFont typeface="Arial" pitchFamily="34" charset="0"/>
              <a:buChar char="•"/>
            </a:pPr>
            <a:endParaRPr lang="en-GB" dirty="0"/>
          </a:p>
          <a:p>
            <a:pPr marL="180975" indent="-180975">
              <a:lnSpc>
                <a:spcPts val="2200"/>
              </a:lnSpc>
            </a:pPr>
            <a:r>
              <a:rPr lang="en-GB" dirty="0"/>
              <a:t>Parts</a:t>
            </a:r>
          </a:p>
          <a:p>
            <a:pPr marL="180975" indent="-180975">
              <a:lnSpc>
                <a:spcPts val="2200"/>
              </a:lnSpc>
              <a:buFont typeface="Arial" pitchFamily="34" charset="0"/>
              <a:buChar char="•"/>
            </a:pPr>
            <a:r>
              <a:rPr lang="en-GB" i="1" dirty="0"/>
              <a:t>J = </a:t>
            </a:r>
            <a:r>
              <a:rPr lang="en-GB" dirty="0"/>
              <a:t>horizontal sampling reference (width of the conceptual region)</a:t>
            </a:r>
          </a:p>
          <a:p>
            <a:pPr marL="638175" lvl="1" indent="-180975">
              <a:lnSpc>
                <a:spcPts val="2200"/>
              </a:lnSpc>
              <a:buFont typeface="Arial" pitchFamily="34" charset="0"/>
              <a:buChar char="•"/>
            </a:pPr>
            <a:r>
              <a:rPr lang="en-GB" dirty="0"/>
              <a:t>usually = 4</a:t>
            </a:r>
          </a:p>
          <a:p>
            <a:pPr marL="180975" indent="-180975">
              <a:lnSpc>
                <a:spcPts val="2200"/>
              </a:lnSpc>
              <a:buFont typeface="Arial" pitchFamily="34" charset="0"/>
              <a:buChar char="•"/>
            </a:pPr>
            <a:r>
              <a:rPr lang="en-GB" i="1" dirty="0"/>
              <a:t>a = </a:t>
            </a:r>
            <a:r>
              <a:rPr lang="en-GB" dirty="0"/>
              <a:t>number of chrominance samples (Cr, </a:t>
            </a:r>
            <a:r>
              <a:rPr lang="en-GB" dirty="0" err="1"/>
              <a:t>Cb</a:t>
            </a:r>
            <a:r>
              <a:rPr lang="en-GB" dirty="0"/>
              <a:t>) in the first row of </a:t>
            </a:r>
            <a:r>
              <a:rPr lang="en-GB" i="1" dirty="0"/>
              <a:t>J</a:t>
            </a:r>
            <a:r>
              <a:rPr lang="en-GB" dirty="0"/>
              <a:t> pixels</a:t>
            </a:r>
          </a:p>
          <a:p>
            <a:pPr marL="180975" indent="-180975">
              <a:lnSpc>
                <a:spcPts val="2200"/>
              </a:lnSpc>
              <a:buFont typeface="Arial" pitchFamily="34" charset="0"/>
              <a:buChar char="•"/>
            </a:pPr>
            <a:r>
              <a:rPr lang="en-GB" i="1" dirty="0"/>
              <a:t>b = </a:t>
            </a:r>
            <a:r>
              <a:rPr lang="en-GB" dirty="0"/>
              <a:t>number of changes of chrominance samples (Cr, </a:t>
            </a:r>
            <a:r>
              <a:rPr lang="en-GB" dirty="0" err="1"/>
              <a:t>Cb</a:t>
            </a:r>
            <a:r>
              <a:rPr lang="en-GB" dirty="0"/>
              <a:t>) between first and second row of </a:t>
            </a:r>
            <a:r>
              <a:rPr lang="en-GB" i="1" dirty="0"/>
              <a:t>J</a:t>
            </a:r>
            <a:r>
              <a:rPr lang="en-GB" dirty="0"/>
              <a:t> pixels </a:t>
            </a:r>
          </a:p>
          <a:p>
            <a:pPr marL="180975" indent="-180975">
              <a:lnSpc>
                <a:spcPts val="2200"/>
              </a:lnSpc>
              <a:buFont typeface="Arial" pitchFamily="34" charset="0"/>
              <a:buChar char="•"/>
            </a:pPr>
            <a:endParaRPr lang="en-GB" dirty="0"/>
          </a:p>
          <a:p>
            <a:pPr marL="180975" indent="-180975">
              <a:lnSpc>
                <a:spcPts val="2200"/>
              </a:lnSpc>
              <a:buFont typeface="Arial" pitchFamily="34" charset="0"/>
              <a:buChar char="•"/>
            </a:pPr>
            <a:endParaRPr lang="en-GB" dirty="0"/>
          </a:p>
          <a:p>
            <a:pPr marL="180975" indent="-180975">
              <a:lnSpc>
                <a:spcPts val="2200"/>
              </a:lnSpc>
              <a:buFont typeface="Arial" pitchFamily="34" charset="0"/>
              <a:buChar char="•"/>
            </a:pPr>
            <a:r>
              <a:rPr lang="en-GB" dirty="0"/>
              <a:t>Alpha - horizontal factor (relative to first digit)</a:t>
            </a:r>
          </a:p>
          <a:p>
            <a:pPr marL="638175" lvl="1" indent="-180975">
              <a:lnSpc>
                <a:spcPts val="2200"/>
              </a:lnSpc>
              <a:buFont typeface="Arial" pitchFamily="34" charset="0"/>
              <a:buChar char="•"/>
            </a:pPr>
            <a:r>
              <a:rPr lang="en-GB" dirty="0"/>
              <a:t>omitted if alpha component is not present</a:t>
            </a:r>
          </a:p>
          <a:p>
            <a:pPr marL="638175" lvl="1" indent="-180975">
              <a:lnSpc>
                <a:spcPts val="2200"/>
              </a:lnSpc>
              <a:buFont typeface="Arial" pitchFamily="34" charset="0"/>
              <a:buChar char="•"/>
            </a:pPr>
            <a:r>
              <a:rPr lang="en-GB" dirty="0"/>
              <a:t>equal to </a:t>
            </a:r>
            <a:r>
              <a:rPr lang="en-GB" i="1" dirty="0"/>
              <a:t>J</a:t>
            </a:r>
            <a:r>
              <a:rPr lang="en-GB" dirty="0"/>
              <a:t> when present</a:t>
            </a:r>
          </a:p>
          <a:p>
            <a:endParaRPr lang="en-GB" dirty="0"/>
          </a:p>
        </p:txBody>
      </p:sp>
    </p:spTree>
    <p:extLst>
      <p:ext uri="{BB962C8B-B14F-4D97-AF65-F5344CB8AC3E}">
        <p14:creationId xmlns:p14="http://schemas.microsoft.com/office/powerpoint/2010/main" val="6456142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81000" y="381000"/>
            <a:ext cx="3381054" cy="461665"/>
          </a:xfrm>
          <a:prstGeom prst="rect">
            <a:avLst/>
          </a:prstGeom>
          <a:noFill/>
          <a:ln w="9525">
            <a:noFill/>
            <a:miter lim="800000"/>
            <a:headEnd/>
            <a:tailEnd/>
          </a:ln>
        </p:spPr>
        <p:txBody>
          <a:bodyPr wrap="none">
            <a:spAutoFit/>
          </a:bodyPr>
          <a:lstStyle/>
          <a:p>
            <a:r>
              <a:rPr lang="en-GB" sz="2400" b="1" dirty="0" err="1"/>
              <a:t>Chroma</a:t>
            </a:r>
            <a:r>
              <a:rPr lang="en-GB" sz="2400" b="1" dirty="0"/>
              <a:t> </a:t>
            </a:r>
            <a:r>
              <a:rPr lang="en-GB" sz="2400" b="1" dirty="0" err="1"/>
              <a:t>Subsampling</a:t>
            </a:r>
            <a:endParaRPr lang="en-GB" sz="2400" b="1" dirty="0"/>
          </a:p>
        </p:txBody>
      </p:sp>
      <p:grpSp>
        <p:nvGrpSpPr>
          <p:cNvPr id="2" name="Group 3"/>
          <p:cNvGrpSpPr>
            <a:grpSpLocks/>
          </p:cNvGrpSpPr>
          <p:nvPr/>
        </p:nvGrpSpPr>
        <p:grpSpPr bwMode="auto">
          <a:xfrm>
            <a:off x="381000" y="990600"/>
            <a:ext cx="4810125" cy="825500"/>
            <a:chOff x="384" y="624"/>
            <a:chExt cx="3030" cy="520"/>
          </a:xfrm>
        </p:grpSpPr>
        <p:sp>
          <p:nvSpPr>
            <p:cNvPr id="10523" name="Text Box 4"/>
            <p:cNvSpPr txBox="1">
              <a:spLocks noChangeArrowheads="1"/>
            </p:cNvSpPr>
            <p:nvPr/>
          </p:nvSpPr>
          <p:spPr bwMode="auto">
            <a:xfrm>
              <a:off x="480" y="624"/>
              <a:ext cx="2934" cy="520"/>
            </a:xfrm>
            <a:prstGeom prst="rect">
              <a:avLst/>
            </a:prstGeom>
            <a:noFill/>
            <a:ln w="9525">
              <a:noFill/>
              <a:miter lim="800000"/>
              <a:headEnd/>
              <a:tailEnd/>
            </a:ln>
          </p:spPr>
          <p:txBody>
            <a:bodyPr wrap="none">
              <a:spAutoFit/>
            </a:bodyPr>
            <a:lstStyle/>
            <a:p>
              <a:pPr>
                <a:tabLst>
                  <a:tab pos="190500" algn="l"/>
                  <a:tab pos="2667000" algn="l"/>
                  <a:tab pos="3048000" algn="l"/>
                </a:tabLst>
              </a:pPr>
              <a:r>
                <a:rPr lang="en-GB"/>
                <a:t>Y = Luminance	Cb	= Blue - Luma</a:t>
              </a:r>
            </a:p>
            <a:p>
              <a:pPr>
                <a:tabLst>
                  <a:tab pos="190500" algn="l"/>
                  <a:tab pos="2667000" algn="l"/>
                  <a:tab pos="3048000" algn="l"/>
                </a:tabLst>
              </a:pPr>
              <a:r>
                <a:rPr lang="en-GB"/>
                <a:t>		Cr 	= Red - Luma</a:t>
              </a:r>
            </a:p>
            <a:p>
              <a:pPr>
                <a:tabLst>
                  <a:tab pos="190500" algn="l"/>
                  <a:tab pos="2667000" algn="l"/>
                  <a:tab pos="3048000" algn="l"/>
                </a:tabLst>
              </a:pPr>
              <a:endParaRPr lang="en-GB"/>
            </a:p>
          </p:txBody>
        </p:sp>
        <p:sp>
          <p:nvSpPr>
            <p:cNvPr id="10524" name="Oval 5"/>
            <p:cNvSpPr>
              <a:spLocks noChangeArrowheads="1"/>
            </p:cNvSpPr>
            <p:nvPr/>
          </p:nvSpPr>
          <p:spPr bwMode="auto">
            <a:xfrm>
              <a:off x="2064" y="816"/>
              <a:ext cx="96" cy="96"/>
            </a:xfrm>
            <a:prstGeom prst="ellipse">
              <a:avLst/>
            </a:prstGeom>
            <a:solidFill>
              <a:srgbClr val="639D8A"/>
            </a:solidFill>
            <a:ln w="9525">
              <a:noFill/>
              <a:round/>
              <a:headEnd/>
              <a:tailEnd/>
            </a:ln>
          </p:spPr>
          <p:txBody>
            <a:bodyPr wrap="none" anchor="ctr">
              <a:spAutoFit/>
            </a:bodyPr>
            <a:lstStyle/>
            <a:p>
              <a:endParaRPr lang="en-US"/>
            </a:p>
          </p:txBody>
        </p:sp>
        <p:sp>
          <p:nvSpPr>
            <p:cNvPr id="10525" name="Oval 6"/>
            <p:cNvSpPr>
              <a:spLocks noChangeArrowheads="1"/>
            </p:cNvSpPr>
            <p:nvPr/>
          </p:nvSpPr>
          <p:spPr bwMode="auto">
            <a:xfrm>
              <a:off x="2064" y="672"/>
              <a:ext cx="96" cy="96"/>
            </a:xfrm>
            <a:prstGeom prst="ellipse">
              <a:avLst/>
            </a:prstGeom>
            <a:solidFill>
              <a:srgbClr val="E3A4EA"/>
            </a:solidFill>
            <a:ln w="9525">
              <a:noFill/>
              <a:round/>
              <a:headEnd/>
              <a:tailEnd/>
            </a:ln>
          </p:spPr>
          <p:txBody>
            <a:bodyPr wrap="none" anchor="ctr">
              <a:spAutoFit/>
            </a:bodyPr>
            <a:lstStyle/>
            <a:p>
              <a:endParaRPr lang="en-US"/>
            </a:p>
          </p:txBody>
        </p:sp>
        <p:sp>
          <p:nvSpPr>
            <p:cNvPr id="10526" name="Oval 7"/>
            <p:cNvSpPr>
              <a:spLocks noChangeArrowheads="1"/>
            </p:cNvSpPr>
            <p:nvPr/>
          </p:nvSpPr>
          <p:spPr bwMode="auto">
            <a:xfrm>
              <a:off x="384" y="672"/>
              <a:ext cx="96" cy="96"/>
            </a:xfrm>
            <a:prstGeom prst="ellipse">
              <a:avLst/>
            </a:prstGeom>
            <a:solidFill>
              <a:schemeClr val="folHlink"/>
            </a:solidFill>
            <a:ln w="9525">
              <a:noFill/>
              <a:round/>
              <a:headEnd/>
              <a:tailEnd/>
            </a:ln>
          </p:spPr>
          <p:txBody>
            <a:bodyPr wrap="none" anchor="ctr">
              <a:spAutoFit/>
            </a:bodyPr>
            <a:lstStyle/>
            <a:p>
              <a:endParaRPr lang="en-US"/>
            </a:p>
          </p:txBody>
        </p:sp>
      </p:grpSp>
      <p:grpSp>
        <p:nvGrpSpPr>
          <p:cNvPr id="9" name="Group 8"/>
          <p:cNvGrpSpPr/>
          <p:nvPr/>
        </p:nvGrpSpPr>
        <p:grpSpPr>
          <a:xfrm>
            <a:off x="381000" y="1905000"/>
            <a:ext cx="8407400" cy="4343400"/>
            <a:chOff x="381000" y="1905000"/>
            <a:chExt cx="8407400" cy="4343400"/>
          </a:xfrm>
        </p:grpSpPr>
        <p:sp>
          <p:nvSpPr>
            <p:cNvPr id="10475" name="Oval 10"/>
            <p:cNvSpPr>
              <a:spLocks noChangeArrowheads="1"/>
            </p:cNvSpPr>
            <p:nvPr/>
          </p:nvSpPr>
          <p:spPr bwMode="auto">
            <a:xfrm>
              <a:off x="51054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76" name="Oval 11"/>
            <p:cNvSpPr>
              <a:spLocks noChangeArrowheads="1"/>
            </p:cNvSpPr>
            <p:nvPr/>
          </p:nvSpPr>
          <p:spPr bwMode="auto">
            <a:xfrm>
              <a:off x="55626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77" name="Oval 12"/>
            <p:cNvSpPr>
              <a:spLocks noChangeArrowheads="1"/>
            </p:cNvSpPr>
            <p:nvPr/>
          </p:nvSpPr>
          <p:spPr bwMode="auto">
            <a:xfrm>
              <a:off x="60198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78" name="Oval 13"/>
            <p:cNvSpPr>
              <a:spLocks noChangeArrowheads="1"/>
            </p:cNvSpPr>
            <p:nvPr/>
          </p:nvSpPr>
          <p:spPr bwMode="auto">
            <a:xfrm>
              <a:off x="64770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79" name="Oval 14"/>
            <p:cNvSpPr>
              <a:spLocks noChangeArrowheads="1"/>
            </p:cNvSpPr>
            <p:nvPr/>
          </p:nvSpPr>
          <p:spPr bwMode="auto">
            <a:xfrm>
              <a:off x="6934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0" name="Oval 15"/>
            <p:cNvSpPr>
              <a:spLocks noChangeArrowheads="1"/>
            </p:cNvSpPr>
            <p:nvPr/>
          </p:nvSpPr>
          <p:spPr bwMode="auto">
            <a:xfrm>
              <a:off x="73914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1" name="Oval 16"/>
            <p:cNvSpPr>
              <a:spLocks noChangeArrowheads="1"/>
            </p:cNvSpPr>
            <p:nvPr/>
          </p:nvSpPr>
          <p:spPr bwMode="auto">
            <a:xfrm>
              <a:off x="78486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2" name="Oval 17"/>
            <p:cNvSpPr>
              <a:spLocks noChangeArrowheads="1"/>
            </p:cNvSpPr>
            <p:nvPr/>
          </p:nvSpPr>
          <p:spPr bwMode="auto">
            <a:xfrm>
              <a:off x="83058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3" name="Oval 18"/>
            <p:cNvSpPr>
              <a:spLocks noChangeArrowheads="1"/>
            </p:cNvSpPr>
            <p:nvPr/>
          </p:nvSpPr>
          <p:spPr bwMode="auto">
            <a:xfrm>
              <a:off x="51054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4" name="Oval 19"/>
            <p:cNvSpPr>
              <a:spLocks noChangeArrowheads="1"/>
            </p:cNvSpPr>
            <p:nvPr/>
          </p:nvSpPr>
          <p:spPr bwMode="auto">
            <a:xfrm>
              <a:off x="55626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5" name="Oval 20"/>
            <p:cNvSpPr>
              <a:spLocks noChangeArrowheads="1"/>
            </p:cNvSpPr>
            <p:nvPr/>
          </p:nvSpPr>
          <p:spPr bwMode="auto">
            <a:xfrm>
              <a:off x="60198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6" name="Oval 21"/>
            <p:cNvSpPr>
              <a:spLocks noChangeArrowheads="1"/>
            </p:cNvSpPr>
            <p:nvPr/>
          </p:nvSpPr>
          <p:spPr bwMode="auto">
            <a:xfrm>
              <a:off x="64770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7" name="Oval 22"/>
            <p:cNvSpPr>
              <a:spLocks noChangeArrowheads="1"/>
            </p:cNvSpPr>
            <p:nvPr/>
          </p:nvSpPr>
          <p:spPr bwMode="auto">
            <a:xfrm>
              <a:off x="6934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8" name="Oval 23"/>
            <p:cNvSpPr>
              <a:spLocks noChangeArrowheads="1"/>
            </p:cNvSpPr>
            <p:nvPr/>
          </p:nvSpPr>
          <p:spPr bwMode="auto">
            <a:xfrm>
              <a:off x="73914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89" name="Oval 24"/>
            <p:cNvSpPr>
              <a:spLocks noChangeArrowheads="1"/>
            </p:cNvSpPr>
            <p:nvPr/>
          </p:nvSpPr>
          <p:spPr bwMode="auto">
            <a:xfrm>
              <a:off x="78486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0" name="Oval 25"/>
            <p:cNvSpPr>
              <a:spLocks noChangeArrowheads="1"/>
            </p:cNvSpPr>
            <p:nvPr/>
          </p:nvSpPr>
          <p:spPr bwMode="auto">
            <a:xfrm>
              <a:off x="83058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1" name="Oval 26"/>
            <p:cNvSpPr>
              <a:spLocks noChangeArrowheads="1"/>
            </p:cNvSpPr>
            <p:nvPr/>
          </p:nvSpPr>
          <p:spPr bwMode="auto">
            <a:xfrm>
              <a:off x="51054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2" name="Oval 27"/>
            <p:cNvSpPr>
              <a:spLocks noChangeArrowheads="1"/>
            </p:cNvSpPr>
            <p:nvPr/>
          </p:nvSpPr>
          <p:spPr bwMode="auto">
            <a:xfrm>
              <a:off x="55626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3" name="Oval 28"/>
            <p:cNvSpPr>
              <a:spLocks noChangeArrowheads="1"/>
            </p:cNvSpPr>
            <p:nvPr/>
          </p:nvSpPr>
          <p:spPr bwMode="auto">
            <a:xfrm>
              <a:off x="60198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4" name="Oval 29"/>
            <p:cNvSpPr>
              <a:spLocks noChangeArrowheads="1"/>
            </p:cNvSpPr>
            <p:nvPr/>
          </p:nvSpPr>
          <p:spPr bwMode="auto">
            <a:xfrm>
              <a:off x="64770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5" name="Oval 30"/>
            <p:cNvSpPr>
              <a:spLocks noChangeArrowheads="1"/>
            </p:cNvSpPr>
            <p:nvPr/>
          </p:nvSpPr>
          <p:spPr bwMode="auto">
            <a:xfrm>
              <a:off x="6934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6" name="Oval 31"/>
            <p:cNvSpPr>
              <a:spLocks noChangeArrowheads="1"/>
            </p:cNvSpPr>
            <p:nvPr/>
          </p:nvSpPr>
          <p:spPr bwMode="auto">
            <a:xfrm>
              <a:off x="73914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7" name="Oval 32"/>
            <p:cNvSpPr>
              <a:spLocks noChangeArrowheads="1"/>
            </p:cNvSpPr>
            <p:nvPr/>
          </p:nvSpPr>
          <p:spPr bwMode="auto">
            <a:xfrm>
              <a:off x="78486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8" name="Oval 33"/>
            <p:cNvSpPr>
              <a:spLocks noChangeArrowheads="1"/>
            </p:cNvSpPr>
            <p:nvPr/>
          </p:nvSpPr>
          <p:spPr bwMode="auto">
            <a:xfrm>
              <a:off x="83058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99" name="Oval 34"/>
            <p:cNvSpPr>
              <a:spLocks noChangeArrowheads="1"/>
            </p:cNvSpPr>
            <p:nvPr/>
          </p:nvSpPr>
          <p:spPr bwMode="auto">
            <a:xfrm>
              <a:off x="51054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0" name="Oval 35"/>
            <p:cNvSpPr>
              <a:spLocks noChangeArrowheads="1"/>
            </p:cNvSpPr>
            <p:nvPr/>
          </p:nvSpPr>
          <p:spPr bwMode="auto">
            <a:xfrm>
              <a:off x="55626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1" name="Oval 36"/>
            <p:cNvSpPr>
              <a:spLocks noChangeArrowheads="1"/>
            </p:cNvSpPr>
            <p:nvPr/>
          </p:nvSpPr>
          <p:spPr bwMode="auto">
            <a:xfrm>
              <a:off x="60198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2" name="Oval 37"/>
            <p:cNvSpPr>
              <a:spLocks noChangeArrowheads="1"/>
            </p:cNvSpPr>
            <p:nvPr/>
          </p:nvSpPr>
          <p:spPr bwMode="auto">
            <a:xfrm>
              <a:off x="64770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3" name="Oval 38"/>
            <p:cNvSpPr>
              <a:spLocks noChangeArrowheads="1"/>
            </p:cNvSpPr>
            <p:nvPr/>
          </p:nvSpPr>
          <p:spPr bwMode="auto">
            <a:xfrm>
              <a:off x="6934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4" name="Oval 39"/>
            <p:cNvSpPr>
              <a:spLocks noChangeArrowheads="1"/>
            </p:cNvSpPr>
            <p:nvPr/>
          </p:nvSpPr>
          <p:spPr bwMode="auto">
            <a:xfrm>
              <a:off x="73914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5" name="Oval 40"/>
            <p:cNvSpPr>
              <a:spLocks noChangeArrowheads="1"/>
            </p:cNvSpPr>
            <p:nvPr/>
          </p:nvSpPr>
          <p:spPr bwMode="auto">
            <a:xfrm>
              <a:off x="78486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6" name="Oval 41"/>
            <p:cNvSpPr>
              <a:spLocks noChangeArrowheads="1"/>
            </p:cNvSpPr>
            <p:nvPr/>
          </p:nvSpPr>
          <p:spPr bwMode="auto">
            <a:xfrm>
              <a:off x="83058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507" name="Oval 42"/>
            <p:cNvSpPr>
              <a:spLocks noChangeArrowheads="1"/>
            </p:cNvSpPr>
            <p:nvPr/>
          </p:nvSpPr>
          <p:spPr bwMode="auto">
            <a:xfrm>
              <a:off x="50292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08" name="Oval 43"/>
            <p:cNvSpPr>
              <a:spLocks noChangeArrowheads="1"/>
            </p:cNvSpPr>
            <p:nvPr/>
          </p:nvSpPr>
          <p:spPr bwMode="auto">
            <a:xfrm>
              <a:off x="51816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509" name="Oval 44"/>
            <p:cNvSpPr>
              <a:spLocks noChangeArrowheads="1"/>
            </p:cNvSpPr>
            <p:nvPr/>
          </p:nvSpPr>
          <p:spPr bwMode="auto">
            <a:xfrm>
              <a:off x="6858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10" name="Oval 45"/>
            <p:cNvSpPr>
              <a:spLocks noChangeArrowheads="1"/>
            </p:cNvSpPr>
            <p:nvPr/>
          </p:nvSpPr>
          <p:spPr bwMode="auto">
            <a:xfrm>
              <a:off x="7010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511" name="Oval 46"/>
            <p:cNvSpPr>
              <a:spLocks noChangeArrowheads="1"/>
            </p:cNvSpPr>
            <p:nvPr/>
          </p:nvSpPr>
          <p:spPr bwMode="auto">
            <a:xfrm>
              <a:off x="50292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12" name="Oval 47"/>
            <p:cNvSpPr>
              <a:spLocks noChangeArrowheads="1"/>
            </p:cNvSpPr>
            <p:nvPr/>
          </p:nvSpPr>
          <p:spPr bwMode="auto">
            <a:xfrm>
              <a:off x="51816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513" name="Oval 48"/>
            <p:cNvSpPr>
              <a:spLocks noChangeArrowheads="1"/>
            </p:cNvSpPr>
            <p:nvPr/>
          </p:nvSpPr>
          <p:spPr bwMode="auto">
            <a:xfrm>
              <a:off x="6858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14" name="Oval 49"/>
            <p:cNvSpPr>
              <a:spLocks noChangeArrowheads="1"/>
            </p:cNvSpPr>
            <p:nvPr/>
          </p:nvSpPr>
          <p:spPr bwMode="auto">
            <a:xfrm>
              <a:off x="7010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515" name="Oval 50"/>
            <p:cNvSpPr>
              <a:spLocks noChangeArrowheads="1"/>
            </p:cNvSpPr>
            <p:nvPr/>
          </p:nvSpPr>
          <p:spPr bwMode="auto">
            <a:xfrm>
              <a:off x="50292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16" name="Oval 51"/>
            <p:cNvSpPr>
              <a:spLocks noChangeArrowheads="1"/>
            </p:cNvSpPr>
            <p:nvPr/>
          </p:nvSpPr>
          <p:spPr bwMode="auto">
            <a:xfrm>
              <a:off x="51816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517" name="Oval 52"/>
            <p:cNvSpPr>
              <a:spLocks noChangeArrowheads="1"/>
            </p:cNvSpPr>
            <p:nvPr/>
          </p:nvSpPr>
          <p:spPr bwMode="auto">
            <a:xfrm>
              <a:off x="6858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18" name="Oval 53"/>
            <p:cNvSpPr>
              <a:spLocks noChangeArrowheads="1"/>
            </p:cNvSpPr>
            <p:nvPr/>
          </p:nvSpPr>
          <p:spPr bwMode="auto">
            <a:xfrm>
              <a:off x="7010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519" name="Oval 54"/>
            <p:cNvSpPr>
              <a:spLocks noChangeArrowheads="1"/>
            </p:cNvSpPr>
            <p:nvPr/>
          </p:nvSpPr>
          <p:spPr bwMode="auto">
            <a:xfrm>
              <a:off x="50292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20" name="Oval 55"/>
            <p:cNvSpPr>
              <a:spLocks noChangeArrowheads="1"/>
            </p:cNvSpPr>
            <p:nvPr/>
          </p:nvSpPr>
          <p:spPr bwMode="auto">
            <a:xfrm>
              <a:off x="51816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521" name="Oval 56"/>
            <p:cNvSpPr>
              <a:spLocks noChangeArrowheads="1"/>
            </p:cNvSpPr>
            <p:nvPr/>
          </p:nvSpPr>
          <p:spPr bwMode="auto">
            <a:xfrm>
              <a:off x="6858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522" name="Oval 57"/>
            <p:cNvSpPr>
              <a:spLocks noChangeArrowheads="1"/>
            </p:cNvSpPr>
            <p:nvPr/>
          </p:nvSpPr>
          <p:spPr bwMode="auto">
            <a:xfrm>
              <a:off x="7010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74" name="Text Box 58"/>
            <p:cNvSpPr txBox="1">
              <a:spLocks noChangeArrowheads="1"/>
            </p:cNvSpPr>
            <p:nvPr/>
          </p:nvSpPr>
          <p:spPr bwMode="auto">
            <a:xfrm>
              <a:off x="4876800" y="1905000"/>
              <a:ext cx="3911600" cy="336550"/>
            </a:xfrm>
            <a:prstGeom prst="rect">
              <a:avLst/>
            </a:prstGeom>
            <a:noFill/>
            <a:ln w="9525">
              <a:noFill/>
              <a:miter lim="800000"/>
              <a:headEnd/>
              <a:tailEnd/>
            </a:ln>
          </p:spPr>
          <p:txBody>
            <a:bodyPr wrap="none">
              <a:spAutoFit/>
            </a:bodyPr>
            <a:lstStyle/>
            <a:p>
              <a:pPr algn="ctr"/>
              <a:r>
                <a:rPr lang="en-GB" b="1"/>
                <a:t>4:1:1 </a:t>
              </a:r>
              <a:r>
                <a:rPr lang="en-GB"/>
                <a:t>- Widely used in JPEG and MPEG</a:t>
              </a:r>
            </a:p>
          </p:txBody>
        </p:sp>
        <p:sp>
          <p:nvSpPr>
            <p:cNvPr id="10425" name="Oval 61"/>
            <p:cNvSpPr>
              <a:spLocks noChangeArrowheads="1"/>
            </p:cNvSpPr>
            <p:nvPr/>
          </p:nvSpPr>
          <p:spPr bwMode="auto">
            <a:xfrm>
              <a:off x="50292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26" name="Oval 62"/>
            <p:cNvSpPr>
              <a:spLocks noChangeArrowheads="1"/>
            </p:cNvSpPr>
            <p:nvPr/>
          </p:nvSpPr>
          <p:spPr bwMode="auto">
            <a:xfrm>
              <a:off x="54864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27" name="Oval 63"/>
            <p:cNvSpPr>
              <a:spLocks noChangeArrowheads="1"/>
            </p:cNvSpPr>
            <p:nvPr/>
          </p:nvSpPr>
          <p:spPr bwMode="auto">
            <a:xfrm>
              <a:off x="64008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28" name="Oval 64"/>
            <p:cNvSpPr>
              <a:spLocks noChangeArrowheads="1"/>
            </p:cNvSpPr>
            <p:nvPr/>
          </p:nvSpPr>
          <p:spPr bwMode="auto">
            <a:xfrm>
              <a:off x="68580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29" name="Oval 65"/>
            <p:cNvSpPr>
              <a:spLocks noChangeArrowheads="1"/>
            </p:cNvSpPr>
            <p:nvPr/>
          </p:nvSpPr>
          <p:spPr bwMode="auto">
            <a:xfrm>
              <a:off x="73152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0" name="Oval 66"/>
            <p:cNvSpPr>
              <a:spLocks noChangeArrowheads="1"/>
            </p:cNvSpPr>
            <p:nvPr/>
          </p:nvSpPr>
          <p:spPr bwMode="auto">
            <a:xfrm>
              <a:off x="82296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1" name="Oval 67"/>
            <p:cNvSpPr>
              <a:spLocks noChangeArrowheads="1"/>
            </p:cNvSpPr>
            <p:nvPr/>
          </p:nvSpPr>
          <p:spPr bwMode="auto">
            <a:xfrm>
              <a:off x="50292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2" name="Oval 68"/>
            <p:cNvSpPr>
              <a:spLocks noChangeArrowheads="1"/>
            </p:cNvSpPr>
            <p:nvPr/>
          </p:nvSpPr>
          <p:spPr bwMode="auto">
            <a:xfrm>
              <a:off x="54864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3" name="Oval 69"/>
            <p:cNvSpPr>
              <a:spLocks noChangeArrowheads="1"/>
            </p:cNvSpPr>
            <p:nvPr/>
          </p:nvSpPr>
          <p:spPr bwMode="auto">
            <a:xfrm>
              <a:off x="64008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4" name="Oval 70"/>
            <p:cNvSpPr>
              <a:spLocks noChangeArrowheads="1"/>
            </p:cNvSpPr>
            <p:nvPr/>
          </p:nvSpPr>
          <p:spPr bwMode="auto">
            <a:xfrm>
              <a:off x="68580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5" name="Oval 71"/>
            <p:cNvSpPr>
              <a:spLocks noChangeArrowheads="1"/>
            </p:cNvSpPr>
            <p:nvPr/>
          </p:nvSpPr>
          <p:spPr bwMode="auto">
            <a:xfrm>
              <a:off x="73152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6" name="Oval 72"/>
            <p:cNvSpPr>
              <a:spLocks noChangeArrowheads="1"/>
            </p:cNvSpPr>
            <p:nvPr/>
          </p:nvSpPr>
          <p:spPr bwMode="auto">
            <a:xfrm>
              <a:off x="82296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7" name="Oval 73"/>
            <p:cNvSpPr>
              <a:spLocks noChangeArrowheads="1"/>
            </p:cNvSpPr>
            <p:nvPr/>
          </p:nvSpPr>
          <p:spPr bwMode="auto">
            <a:xfrm>
              <a:off x="50292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8" name="Oval 74"/>
            <p:cNvSpPr>
              <a:spLocks noChangeArrowheads="1"/>
            </p:cNvSpPr>
            <p:nvPr/>
          </p:nvSpPr>
          <p:spPr bwMode="auto">
            <a:xfrm>
              <a:off x="54864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39" name="Oval 75"/>
            <p:cNvSpPr>
              <a:spLocks noChangeArrowheads="1"/>
            </p:cNvSpPr>
            <p:nvPr/>
          </p:nvSpPr>
          <p:spPr bwMode="auto">
            <a:xfrm>
              <a:off x="64008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0" name="Oval 76"/>
            <p:cNvSpPr>
              <a:spLocks noChangeArrowheads="1"/>
            </p:cNvSpPr>
            <p:nvPr/>
          </p:nvSpPr>
          <p:spPr bwMode="auto">
            <a:xfrm>
              <a:off x="68580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1" name="Oval 77"/>
            <p:cNvSpPr>
              <a:spLocks noChangeArrowheads="1"/>
            </p:cNvSpPr>
            <p:nvPr/>
          </p:nvSpPr>
          <p:spPr bwMode="auto">
            <a:xfrm>
              <a:off x="73152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2" name="Oval 78"/>
            <p:cNvSpPr>
              <a:spLocks noChangeArrowheads="1"/>
            </p:cNvSpPr>
            <p:nvPr/>
          </p:nvSpPr>
          <p:spPr bwMode="auto">
            <a:xfrm>
              <a:off x="82296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3" name="Oval 79"/>
            <p:cNvSpPr>
              <a:spLocks noChangeArrowheads="1"/>
            </p:cNvSpPr>
            <p:nvPr/>
          </p:nvSpPr>
          <p:spPr bwMode="auto">
            <a:xfrm>
              <a:off x="50292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4" name="Oval 80"/>
            <p:cNvSpPr>
              <a:spLocks noChangeArrowheads="1"/>
            </p:cNvSpPr>
            <p:nvPr/>
          </p:nvSpPr>
          <p:spPr bwMode="auto">
            <a:xfrm>
              <a:off x="54864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5" name="Oval 81"/>
            <p:cNvSpPr>
              <a:spLocks noChangeArrowheads="1"/>
            </p:cNvSpPr>
            <p:nvPr/>
          </p:nvSpPr>
          <p:spPr bwMode="auto">
            <a:xfrm>
              <a:off x="64008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6" name="Oval 82"/>
            <p:cNvSpPr>
              <a:spLocks noChangeArrowheads="1"/>
            </p:cNvSpPr>
            <p:nvPr/>
          </p:nvSpPr>
          <p:spPr bwMode="auto">
            <a:xfrm>
              <a:off x="68580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7" name="Oval 83"/>
            <p:cNvSpPr>
              <a:spLocks noChangeArrowheads="1"/>
            </p:cNvSpPr>
            <p:nvPr/>
          </p:nvSpPr>
          <p:spPr bwMode="auto">
            <a:xfrm>
              <a:off x="73152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8" name="Oval 84"/>
            <p:cNvSpPr>
              <a:spLocks noChangeArrowheads="1"/>
            </p:cNvSpPr>
            <p:nvPr/>
          </p:nvSpPr>
          <p:spPr bwMode="auto">
            <a:xfrm>
              <a:off x="82296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49" name="Oval 85"/>
            <p:cNvSpPr>
              <a:spLocks noChangeArrowheads="1"/>
            </p:cNvSpPr>
            <p:nvPr/>
          </p:nvSpPr>
          <p:spPr bwMode="auto">
            <a:xfrm>
              <a:off x="49530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50" name="Oval 86"/>
            <p:cNvSpPr>
              <a:spLocks noChangeArrowheads="1"/>
            </p:cNvSpPr>
            <p:nvPr/>
          </p:nvSpPr>
          <p:spPr bwMode="auto">
            <a:xfrm>
              <a:off x="67818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51" name="Oval 87"/>
            <p:cNvSpPr>
              <a:spLocks noChangeArrowheads="1"/>
            </p:cNvSpPr>
            <p:nvPr/>
          </p:nvSpPr>
          <p:spPr bwMode="auto">
            <a:xfrm>
              <a:off x="51054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52" name="Oval 88"/>
            <p:cNvSpPr>
              <a:spLocks noChangeArrowheads="1"/>
            </p:cNvSpPr>
            <p:nvPr/>
          </p:nvSpPr>
          <p:spPr bwMode="auto">
            <a:xfrm>
              <a:off x="69342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53" name="Oval 89"/>
            <p:cNvSpPr>
              <a:spLocks noChangeArrowheads="1"/>
            </p:cNvSpPr>
            <p:nvPr/>
          </p:nvSpPr>
          <p:spPr bwMode="auto">
            <a:xfrm>
              <a:off x="49530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54" name="Oval 90"/>
            <p:cNvSpPr>
              <a:spLocks noChangeArrowheads="1"/>
            </p:cNvSpPr>
            <p:nvPr/>
          </p:nvSpPr>
          <p:spPr bwMode="auto">
            <a:xfrm>
              <a:off x="67818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55" name="Oval 91"/>
            <p:cNvSpPr>
              <a:spLocks noChangeArrowheads="1"/>
            </p:cNvSpPr>
            <p:nvPr/>
          </p:nvSpPr>
          <p:spPr bwMode="auto">
            <a:xfrm>
              <a:off x="51054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56" name="Oval 92"/>
            <p:cNvSpPr>
              <a:spLocks noChangeArrowheads="1"/>
            </p:cNvSpPr>
            <p:nvPr/>
          </p:nvSpPr>
          <p:spPr bwMode="auto">
            <a:xfrm>
              <a:off x="69342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57" name="Oval 93"/>
            <p:cNvSpPr>
              <a:spLocks noChangeArrowheads="1"/>
            </p:cNvSpPr>
            <p:nvPr/>
          </p:nvSpPr>
          <p:spPr bwMode="auto">
            <a:xfrm>
              <a:off x="59436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58" name="Oval 94"/>
            <p:cNvSpPr>
              <a:spLocks noChangeArrowheads="1"/>
            </p:cNvSpPr>
            <p:nvPr/>
          </p:nvSpPr>
          <p:spPr bwMode="auto">
            <a:xfrm>
              <a:off x="59436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59" name="Oval 95"/>
            <p:cNvSpPr>
              <a:spLocks noChangeArrowheads="1"/>
            </p:cNvSpPr>
            <p:nvPr/>
          </p:nvSpPr>
          <p:spPr bwMode="auto">
            <a:xfrm>
              <a:off x="59436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60" name="Oval 96"/>
            <p:cNvSpPr>
              <a:spLocks noChangeArrowheads="1"/>
            </p:cNvSpPr>
            <p:nvPr/>
          </p:nvSpPr>
          <p:spPr bwMode="auto">
            <a:xfrm>
              <a:off x="59436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61" name="Oval 97"/>
            <p:cNvSpPr>
              <a:spLocks noChangeArrowheads="1"/>
            </p:cNvSpPr>
            <p:nvPr/>
          </p:nvSpPr>
          <p:spPr bwMode="auto">
            <a:xfrm>
              <a:off x="58674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62" name="Oval 98"/>
            <p:cNvSpPr>
              <a:spLocks noChangeArrowheads="1"/>
            </p:cNvSpPr>
            <p:nvPr/>
          </p:nvSpPr>
          <p:spPr bwMode="auto">
            <a:xfrm>
              <a:off x="60198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63" name="Oval 99"/>
            <p:cNvSpPr>
              <a:spLocks noChangeArrowheads="1"/>
            </p:cNvSpPr>
            <p:nvPr/>
          </p:nvSpPr>
          <p:spPr bwMode="auto">
            <a:xfrm>
              <a:off x="58674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64" name="Oval 100"/>
            <p:cNvSpPr>
              <a:spLocks noChangeArrowheads="1"/>
            </p:cNvSpPr>
            <p:nvPr/>
          </p:nvSpPr>
          <p:spPr bwMode="auto">
            <a:xfrm>
              <a:off x="60198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65" name="Oval 101"/>
            <p:cNvSpPr>
              <a:spLocks noChangeArrowheads="1"/>
            </p:cNvSpPr>
            <p:nvPr/>
          </p:nvSpPr>
          <p:spPr bwMode="auto">
            <a:xfrm>
              <a:off x="77724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66" name="Oval 102"/>
            <p:cNvSpPr>
              <a:spLocks noChangeArrowheads="1"/>
            </p:cNvSpPr>
            <p:nvPr/>
          </p:nvSpPr>
          <p:spPr bwMode="auto">
            <a:xfrm>
              <a:off x="77724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67" name="Oval 103"/>
            <p:cNvSpPr>
              <a:spLocks noChangeArrowheads="1"/>
            </p:cNvSpPr>
            <p:nvPr/>
          </p:nvSpPr>
          <p:spPr bwMode="auto">
            <a:xfrm>
              <a:off x="77724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68" name="Oval 104"/>
            <p:cNvSpPr>
              <a:spLocks noChangeArrowheads="1"/>
            </p:cNvSpPr>
            <p:nvPr/>
          </p:nvSpPr>
          <p:spPr bwMode="auto">
            <a:xfrm>
              <a:off x="77724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469" name="Oval 105"/>
            <p:cNvSpPr>
              <a:spLocks noChangeArrowheads="1"/>
            </p:cNvSpPr>
            <p:nvPr/>
          </p:nvSpPr>
          <p:spPr bwMode="auto">
            <a:xfrm>
              <a:off x="76962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70" name="Oval 106"/>
            <p:cNvSpPr>
              <a:spLocks noChangeArrowheads="1"/>
            </p:cNvSpPr>
            <p:nvPr/>
          </p:nvSpPr>
          <p:spPr bwMode="auto">
            <a:xfrm>
              <a:off x="78486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71" name="Oval 107"/>
            <p:cNvSpPr>
              <a:spLocks noChangeArrowheads="1"/>
            </p:cNvSpPr>
            <p:nvPr/>
          </p:nvSpPr>
          <p:spPr bwMode="auto">
            <a:xfrm>
              <a:off x="76962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72" name="Oval 108"/>
            <p:cNvSpPr>
              <a:spLocks noChangeArrowheads="1"/>
            </p:cNvSpPr>
            <p:nvPr/>
          </p:nvSpPr>
          <p:spPr bwMode="auto">
            <a:xfrm>
              <a:off x="78486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24" name="Text Box 109"/>
            <p:cNvSpPr txBox="1">
              <a:spLocks noChangeArrowheads="1"/>
            </p:cNvSpPr>
            <p:nvPr/>
          </p:nvSpPr>
          <p:spPr bwMode="auto">
            <a:xfrm>
              <a:off x="4876800" y="4343400"/>
              <a:ext cx="3424238" cy="336550"/>
            </a:xfrm>
            <a:prstGeom prst="rect">
              <a:avLst/>
            </a:prstGeom>
            <a:noFill/>
            <a:ln w="9525">
              <a:noFill/>
              <a:miter lim="800000"/>
              <a:headEnd/>
              <a:tailEnd/>
            </a:ln>
          </p:spPr>
          <p:txBody>
            <a:bodyPr wrap="none">
              <a:spAutoFit/>
            </a:bodyPr>
            <a:lstStyle/>
            <a:p>
              <a:pPr algn="ctr"/>
              <a:r>
                <a:rPr lang="en-GB" b="1"/>
                <a:t>4:2:0 - </a:t>
              </a:r>
              <a:r>
                <a:rPr lang="en-GB"/>
                <a:t>Used in DVD, JPEG, MPEG</a:t>
              </a:r>
            </a:p>
          </p:txBody>
        </p:sp>
        <p:sp>
          <p:nvSpPr>
            <p:cNvPr id="10358" name="Oval 111"/>
            <p:cNvSpPr>
              <a:spLocks noChangeArrowheads="1"/>
            </p:cNvSpPr>
            <p:nvPr/>
          </p:nvSpPr>
          <p:spPr bwMode="auto">
            <a:xfrm>
              <a:off x="4572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59" name="Oval 112"/>
            <p:cNvSpPr>
              <a:spLocks noChangeArrowheads="1"/>
            </p:cNvSpPr>
            <p:nvPr/>
          </p:nvSpPr>
          <p:spPr bwMode="auto">
            <a:xfrm>
              <a:off x="9144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0" name="Oval 113"/>
            <p:cNvSpPr>
              <a:spLocks noChangeArrowheads="1"/>
            </p:cNvSpPr>
            <p:nvPr/>
          </p:nvSpPr>
          <p:spPr bwMode="auto">
            <a:xfrm>
              <a:off x="13716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1" name="Oval 114"/>
            <p:cNvSpPr>
              <a:spLocks noChangeArrowheads="1"/>
            </p:cNvSpPr>
            <p:nvPr/>
          </p:nvSpPr>
          <p:spPr bwMode="auto">
            <a:xfrm>
              <a:off x="18288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2" name="Oval 115"/>
            <p:cNvSpPr>
              <a:spLocks noChangeArrowheads="1"/>
            </p:cNvSpPr>
            <p:nvPr/>
          </p:nvSpPr>
          <p:spPr bwMode="auto">
            <a:xfrm>
              <a:off x="22860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3" name="Oval 116"/>
            <p:cNvSpPr>
              <a:spLocks noChangeArrowheads="1"/>
            </p:cNvSpPr>
            <p:nvPr/>
          </p:nvSpPr>
          <p:spPr bwMode="auto">
            <a:xfrm>
              <a:off x="27432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4" name="Oval 117"/>
            <p:cNvSpPr>
              <a:spLocks noChangeArrowheads="1"/>
            </p:cNvSpPr>
            <p:nvPr/>
          </p:nvSpPr>
          <p:spPr bwMode="auto">
            <a:xfrm>
              <a:off x="32004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5" name="Oval 118"/>
            <p:cNvSpPr>
              <a:spLocks noChangeArrowheads="1"/>
            </p:cNvSpPr>
            <p:nvPr/>
          </p:nvSpPr>
          <p:spPr bwMode="auto">
            <a:xfrm>
              <a:off x="3657600" y="4800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6" name="Oval 119"/>
            <p:cNvSpPr>
              <a:spLocks noChangeArrowheads="1"/>
            </p:cNvSpPr>
            <p:nvPr/>
          </p:nvSpPr>
          <p:spPr bwMode="auto">
            <a:xfrm>
              <a:off x="4572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7" name="Oval 120"/>
            <p:cNvSpPr>
              <a:spLocks noChangeArrowheads="1"/>
            </p:cNvSpPr>
            <p:nvPr/>
          </p:nvSpPr>
          <p:spPr bwMode="auto">
            <a:xfrm>
              <a:off x="9144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8" name="Oval 121"/>
            <p:cNvSpPr>
              <a:spLocks noChangeArrowheads="1"/>
            </p:cNvSpPr>
            <p:nvPr/>
          </p:nvSpPr>
          <p:spPr bwMode="auto">
            <a:xfrm>
              <a:off x="13716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69" name="Oval 122"/>
            <p:cNvSpPr>
              <a:spLocks noChangeArrowheads="1"/>
            </p:cNvSpPr>
            <p:nvPr/>
          </p:nvSpPr>
          <p:spPr bwMode="auto">
            <a:xfrm>
              <a:off x="18288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0" name="Oval 123"/>
            <p:cNvSpPr>
              <a:spLocks noChangeArrowheads="1"/>
            </p:cNvSpPr>
            <p:nvPr/>
          </p:nvSpPr>
          <p:spPr bwMode="auto">
            <a:xfrm>
              <a:off x="22860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1" name="Oval 124"/>
            <p:cNvSpPr>
              <a:spLocks noChangeArrowheads="1"/>
            </p:cNvSpPr>
            <p:nvPr/>
          </p:nvSpPr>
          <p:spPr bwMode="auto">
            <a:xfrm>
              <a:off x="27432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2" name="Oval 125"/>
            <p:cNvSpPr>
              <a:spLocks noChangeArrowheads="1"/>
            </p:cNvSpPr>
            <p:nvPr/>
          </p:nvSpPr>
          <p:spPr bwMode="auto">
            <a:xfrm>
              <a:off x="32004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3" name="Oval 126"/>
            <p:cNvSpPr>
              <a:spLocks noChangeArrowheads="1"/>
            </p:cNvSpPr>
            <p:nvPr/>
          </p:nvSpPr>
          <p:spPr bwMode="auto">
            <a:xfrm>
              <a:off x="3657600" y="5181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4" name="Oval 127"/>
            <p:cNvSpPr>
              <a:spLocks noChangeArrowheads="1"/>
            </p:cNvSpPr>
            <p:nvPr/>
          </p:nvSpPr>
          <p:spPr bwMode="auto">
            <a:xfrm>
              <a:off x="4572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5" name="Oval 128"/>
            <p:cNvSpPr>
              <a:spLocks noChangeArrowheads="1"/>
            </p:cNvSpPr>
            <p:nvPr/>
          </p:nvSpPr>
          <p:spPr bwMode="auto">
            <a:xfrm>
              <a:off x="9144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6" name="Oval 129"/>
            <p:cNvSpPr>
              <a:spLocks noChangeArrowheads="1"/>
            </p:cNvSpPr>
            <p:nvPr/>
          </p:nvSpPr>
          <p:spPr bwMode="auto">
            <a:xfrm>
              <a:off x="13716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7" name="Oval 130"/>
            <p:cNvSpPr>
              <a:spLocks noChangeArrowheads="1"/>
            </p:cNvSpPr>
            <p:nvPr/>
          </p:nvSpPr>
          <p:spPr bwMode="auto">
            <a:xfrm>
              <a:off x="18288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8" name="Oval 131"/>
            <p:cNvSpPr>
              <a:spLocks noChangeArrowheads="1"/>
            </p:cNvSpPr>
            <p:nvPr/>
          </p:nvSpPr>
          <p:spPr bwMode="auto">
            <a:xfrm>
              <a:off x="22860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79" name="Oval 132"/>
            <p:cNvSpPr>
              <a:spLocks noChangeArrowheads="1"/>
            </p:cNvSpPr>
            <p:nvPr/>
          </p:nvSpPr>
          <p:spPr bwMode="auto">
            <a:xfrm>
              <a:off x="27432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0" name="Oval 133"/>
            <p:cNvSpPr>
              <a:spLocks noChangeArrowheads="1"/>
            </p:cNvSpPr>
            <p:nvPr/>
          </p:nvSpPr>
          <p:spPr bwMode="auto">
            <a:xfrm>
              <a:off x="32004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1" name="Oval 134"/>
            <p:cNvSpPr>
              <a:spLocks noChangeArrowheads="1"/>
            </p:cNvSpPr>
            <p:nvPr/>
          </p:nvSpPr>
          <p:spPr bwMode="auto">
            <a:xfrm>
              <a:off x="3657600" y="5562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2" name="Oval 135"/>
            <p:cNvSpPr>
              <a:spLocks noChangeArrowheads="1"/>
            </p:cNvSpPr>
            <p:nvPr/>
          </p:nvSpPr>
          <p:spPr bwMode="auto">
            <a:xfrm>
              <a:off x="4572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3" name="Oval 136"/>
            <p:cNvSpPr>
              <a:spLocks noChangeArrowheads="1"/>
            </p:cNvSpPr>
            <p:nvPr/>
          </p:nvSpPr>
          <p:spPr bwMode="auto">
            <a:xfrm>
              <a:off x="9144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4" name="Oval 137"/>
            <p:cNvSpPr>
              <a:spLocks noChangeArrowheads="1"/>
            </p:cNvSpPr>
            <p:nvPr/>
          </p:nvSpPr>
          <p:spPr bwMode="auto">
            <a:xfrm>
              <a:off x="13716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5" name="Oval 138"/>
            <p:cNvSpPr>
              <a:spLocks noChangeArrowheads="1"/>
            </p:cNvSpPr>
            <p:nvPr/>
          </p:nvSpPr>
          <p:spPr bwMode="auto">
            <a:xfrm>
              <a:off x="18288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6" name="Oval 139"/>
            <p:cNvSpPr>
              <a:spLocks noChangeArrowheads="1"/>
            </p:cNvSpPr>
            <p:nvPr/>
          </p:nvSpPr>
          <p:spPr bwMode="auto">
            <a:xfrm>
              <a:off x="22860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7" name="Oval 140"/>
            <p:cNvSpPr>
              <a:spLocks noChangeArrowheads="1"/>
            </p:cNvSpPr>
            <p:nvPr/>
          </p:nvSpPr>
          <p:spPr bwMode="auto">
            <a:xfrm>
              <a:off x="27432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8" name="Oval 141"/>
            <p:cNvSpPr>
              <a:spLocks noChangeArrowheads="1"/>
            </p:cNvSpPr>
            <p:nvPr/>
          </p:nvSpPr>
          <p:spPr bwMode="auto">
            <a:xfrm>
              <a:off x="32004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89" name="Oval 142"/>
            <p:cNvSpPr>
              <a:spLocks noChangeArrowheads="1"/>
            </p:cNvSpPr>
            <p:nvPr/>
          </p:nvSpPr>
          <p:spPr bwMode="auto">
            <a:xfrm>
              <a:off x="3657600" y="59436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90" name="Oval 143"/>
            <p:cNvSpPr>
              <a:spLocks noChangeArrowheads="1"/>
            </p:cNvSpPr>
            <p:nvPr/>
          </p:nvSpPr>
          <p:spPr bwMode="auto">
            <a:xfrm>
              <a:off x="3810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91" name="Oval 144"/>
            <p:cNvSpPr>
              <a:spLocks noChangeArrowheads="1"/>
            </p:cNvSpPr>
            <p:nvPr/>
          </p:nvSpPr>
          <p:spPr bwMode="auto">
            <a:xfrm>
              <a:off x="533400" y="4953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92" name="Oval 145"/>
            <p:cNvSpPr>
              <a:spLocks noChangeArrowheads="1"/>
            </p:cNvSpPr>
            <p:nvPr/>
          </p:nvSpPr>
          <p:spPr bwMode="auto">
            <a:xfrm>
              <a:off x="12954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93" name="Oval 146"/>
            <p:cNvSpPr>
              <a:spLocks noChangeArrowheads="1"/>
            </p:cNvSpPr>
            <p:nvPr/>
          </p:nvSpPr>
          <p:spPr bwMode="auto">
            <a:xfrm>
              <a:off x="1447800" y="4953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94" name="Oval 147"/>
            <p:cNvSpPr>
              <a:spLocks noChangeArrowheads="1"/>
            </p:cNvSpPr>
            <p:nvPr/>
          </p:nvSpPr>
          <p:spPr bwMode="auto">
            <a:xfrm>
              <a:off x="22098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95" name="Oval 148"/>
            <p:cNvSpPr>
              <a:spLocks noChangeArrowheads="1"/>
            </p:cNvSpPr>
            <p:nvPr/>
          </p:nvSpPr>
          <p:spPr bwMode="auto">
            <a:xfrm>
              <a:off x="2362200" y="4953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96" name="Oval 149"/>
            <p:cNvSpPr>
              <a:spLocks noChangeArrowheads="1"/>
            </p:cNvSpPr>
            <p:nvPr/>
          </p:nvSpPr>
          <p:spPr bwMode="auto">
            <a:xfrm>
              <a:off x="3124200" y="4953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97" name="Oval 150"/>
            <p:cNvSpPr>
              <a:spLocks noChangeArrowheads="1"/>
            </p:cNvSpPr>
            <p:nvPr/>
          </p:nvSpPr>
          <p:spPr bwMode="auto">
            <a:xfrm>
              <a:off x="3276600" y="4953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98" name="Oval 151"/>
            <p:cNvSpPr>
              <a:spLocks noChangeArrowheads="1"/>
            </p:cNvSpPr>
            <p:nvPr/>
          </p:nvSpPr>
          <p:spPr bwMode="auto">
            <a:xfrm>
              <a:off x="381000" y="5334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99" name="Oval 152"/>
            <p:cNvSpPr>
              <a:spLocks noChangeArrowheads="1"/>
            </p:cNvSpPr>
            <p:nvPr/>
          </p:nvSpPr>
          <p:spPr bwMode="auto">
            <a:xfrm>
              <a:off x="5334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00" name="Oval 153"/>
            <p:cNvSpPr>
              <a:spLocks noChangeArrowheads="1"/>
            </p:cNvSpPr>
            <p:nvPr/>
          </p:nvSpPr>
          <p:spPr bwMode="auto">
            <a:xfrm>
              <a:off x="1295400" y="5334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01" name="Oval 154"/>
            <p:cNvSpPr>
              <a:spLocks noChangeArrowheads="1"/>
            </p:cNvSpPr>
            <p:nvPr/>
          </p:nvSpPr>
          <p:spPr bwMode="auto">
            <a:xfrm>
              <a:off x="14478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02" name="Oval 155"/>
            <p:cNvSpPr>
              <a:spLocks noChangeArrowheads="1"/>
            </p:cNvSpPr>
            <p:nvPr/>
          </p:nvSpPr>
          <p:spPr bwMode="auto">
            <a:xfrm>
              <a:off x="2209800" y="5334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03" name="Oval 156"/>
            <p:cNvSpPr>
              <a:spLocks noChangeArrowheads="1"/>
            </p:cNvSpPr>
            <p:nvPr/>
          </p:nvSpPr>
          <p:spPr bwMode="auto">
            <a:xfrm>
              <a:off x="23622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04" name="Oval 157"/>
            <p:cNvSpPr>
              <a:spLocks noChangeArrowheads="1"/>
            </p:cNvSpPr>
            <p:nvPr/>
          </p:nvSpPr>
          <p:spPr bwMode="auto">
            <a:xfrm>
              <a:off x="3124200" y="5334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05" name="Oval 158"/>
            <p:cNvSpPr>
              <a:spLocks noChangeArrowheads="1"/>
            </p:cNvSpPr>
            <p:nvPr/>
          </p:nvSpPr>
          <p:spPr bwMode="auto">
            <a:xfrm>
              <a:off x="3276600" y="5334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06" name="Oval 159"/>
            <p:cNvSpPr>
              <a:spLocks noChangeArrowheads="1"/>
            </p:cNvSpPr>
            <p:nvPr/>
          </p:nvSpPr>
          <p:spPr bwMode="auto">
            <a:xfrm>
              <a:off x="3810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07" name="Oval 160"/>
            <p:cNvSpPr>
              <a:spLocks noChangeArrowheads="1"/>
            </p:cNvSpPr>
            <p:nvPr/>
          </p:nvSpPr>
          <p:spPr bwMode="auto">
            <a:xfrm>
              <a:off x="533400" y="5715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08" name="Oval 161"/>
            <p:cNvSpPr>
              <a:spLocks noChangeArrowheads="1"/>
            </p:cNvSpPr>
            <p:nvPr/>
          </p:nvSpPr>
          <p:spPr bwMode="auto">
            <a:xfrm>
              <a:off x="12954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09" name="Oval 162"/>
            <p:cNvSpPr>
              <a:spLocks noChangeArrowheads="1"/>
            </p:cNvSpPr>
            <p:nvPr/>
          </p:nvSpPr>
          <p:spPr bwMode="auto">
            <a:xfrm>
              <a:off x="1447800" y="5715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10" name="Oval 163"/>
            <p:cNvSpPr>
              <a:spLocks noChangeArrowheads="1"/>
            </p:cNvSpPr>
            <p:nvPr/>
          </p:nvSpPr>
          <p:spPr bwMode="auto">
            <a:xfrm>
              <a:off x="22098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11" name="Oval 164"/>
            <p:cNvSpPr>
              <a:spLocks noChangeArrowheads="1"/>
            </p:cNvSpPr>
            <p:nvPr/>
          </p:nvSpPr>
          <p:spPr bwMode="auto">
            <a:xfrm>
              <a:off x="2362200" y="5715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12" name="Oval 165"/>
            <p:cNvSpPr>
              <a:spLocks noChangeArrowheads="1"/>
            </p:cNvSpPr>
            <p:nvPr/>
          </p:nvSpPr>
          <p:spPr bwMode="auto">
            <a:xfrm>
              <a:off x="3124200" y="5715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13" name="Oval 166"/>
            <p:cNvSpPr>
              <a:spLocks noChangeArrowheads="1"/>
            </p:cNvSpPr>
            <p:nvPr/>
          </p:nvSpPr>
          <p:spPr bwMode="auto">
            <a:xfrm>
              <a:off x="3276600" y="5715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14" name="Oval 167"/>
            <p:cNvSpPr>
              <a:spLocks noChangeArrowheads="1"/>
            </p:cNvSpPr>
            <p:nvPr/>
          </p:nvSpPr>
          <p:spPr bwMode="auto">
            <a:xfrm>
              <a:off x="381000" y="6096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15" name="Oval 168"/>
            <p:cNvSpPr>
              <a:spLocks noChangeArrowheads="1"/>
            </p:cNvSpPr>
            <p:nvPr/>
          </p:nvSpPr>
          <p:spPr bwMode="auto">
            <a:xfrm>
              <a:off x="5334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16" name="Oval 169"/>
            <p:cNvSpPr>
              <a:spLocks noChangeArrowheads="1"/>
            </p:cNvSpPr>
            <p:nvPr/>
          </p:nvSpPr>
          <p:spPr bwMode="auto">
            <a:xfrm>
              <a:off x="1295400" y="6096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17" name="Oval 170"/>
            <p:cNvSpPr>
              <a:spLocks noChangeArrowheads="1"/>
            </p:cNvSpPr>
            <p:nvPr/>
          </p:nvSpPr>
          <p:spPr bwMode="auto">
            <a:xfrm>
              <a:off x="14478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18" name="Oval 171"/>
            <p:cNvSpPr>
              <a:spLocks noChangeArrowheads="1"/>
            </p:cNvSpPr>
            <p:nvPr/>
          </p:nvSpPr>
          <p:spPr bwMode="auto">
            <a:xfrm>
              <a:off x="2209800" y="6096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19" name="Oval 172"/>
            <p:cNvSpPr>
              <a:spLocks noChangeArrowheads="1"/>
            </p:cNvSpPr>
            <p:nvPr/>
          </p:nvSpPr>
          <p:spPr bwMode="auto">
            <a:xfrm>
              <a:off x="23622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20" name="Oval 173"/>
            <p:cNvSpPr>
              <a:spLocks noChangeArrowheads="1"/>
            </p:cNvSpPr>
            <p:nvPr/>
          </p:nvSpPr>
          <p:spPr bwMode="auto">
            <a:xfrm>
              <a:off x="3124200" y="60960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421" name="Oval 174"/>
            <p:cNvSpPr>
              <a:spLocks noChangeArrowheads="1"/>
            </p:cNvSpPr>
            <p:nvPr/>
          </p:nvSpPr>
          <p:spPr bwMode="auto">
            <a:xfrm>
              <a:off x="3276600" y="60960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422" name="Text Box 175"/>
            <p:cNvSpPr txBox="1">
              <a:spLocks noChangeArrowheads="1"/>
            </p:cNvSpPr>
            <p:nvPr/>
          </p:nvSpPr>
          <p:spPr bwMode="auto">
            <a:xfrm>
              <a:off x="381000" y="4343400"/>
              <a:ext cx="3487738" cy="336550"/>
            </a:xfrm>
            <a:prstGeom prst="rect">
              <a:avLst/>
            </a:prstGeom>
            <a:noFill/>
            <a:ln w="9525">
              <a:noFill/>
              <a:miter lim="800000"/>
              <a:headEnd/>
              <a:tailEnd/>
            </a:ln>
          </p:spPr>
          <p:txBody>
            <a:bodyPr wrap="none">
              <a:spAutoFit/>
            </a:bodyPr>
            <a:lstStyle/>
            <a:p>
              <a:r>
                <a:rPr lang="en-GB" b="1"/>
                <a:t>4:2:2 - </a:t>
              </a:r>
              <a:r>
                <a:rPr lang="en-GB"/>
                <a:t>Used in Studio recordings</a:t>
              </a:r>
            </a:p>
          </p:txBody>
        </p:sp>
        <p:sp>
          <p:nvSpPr>
            <p:cNvPr id="10249" name="Oval 177"/>
            <p:cNvSpPr>
              <a:spLocks noChangeArrowheads="1"/>
            </p:cNvSpPr>
            <p:nvPr/>
          </p:nvSpPr>
          <p:spPr bwMode="auto">
            <a:xfrm>
              <a:off x="457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50" name="Oval 178"/>
            <p:cNvSpPr>
              <a:spLocks noChangeArrowheads="1"/>
            </p:cNvSpPr>
            <p:nvPr/>
          </p:nvSpPr>
          <p:spPr bwMode="auto">
            <a:xfrm>
              <a:off x="457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51" name="Oval 179"/>
            <p:cNvSpPr>
              <a:spLocks noChangeArrowheads="1"/>
            </p:cNvSpPr>
            <p:nvPr/>
          </p:nvSpPr>
          <p:spPr bwMode="auto">
            <a:xfrm>
              <a:off x="1219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52" name="Oval 180"/>
            <p:cNvSpPr>
              <a:spLocks noChangeArrowheads="1"/>
            </p:cNvSpPr>
            <p:nvPr/>
          </p:nvSpPr>
          <p:spPr bwMode="auto">
            <a:xfrm>
              <a:off x="1219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53" name="Oval 181"/>
            <p:cNvSpPr>
              <a:spLocks noChangeArrowheads="1"/>
            </p:cNvSpPr>
            <p:nvPr/>
          </p:nvSpPr>
          <p:spPr bwMode="auto">
            <a:xfrm>
              <a:off x="381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54" name="Oval 182"/>
            <p:cNvSpPr>
              <a:spLocks noChangeArrowheads="1"/>
            </p:cNvSpPr>
            <p:nvPr/>
          </p:nvSpPr>
          <p:spPr bwMode="auto">
            <a:xfrm>
              <a:off x="533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55" name="Oval 183"/>
            <p:cNvSpPr>
              <a:spLocks noChangeArrowheads="1"/>
            </p:cNvSpPr>
            <p:nvPr/>
          </p:nvSpPr>
          <p:spPr bwMode="auto">
            <a:xfrm>
              <a:off x="381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56" name="Oval 184"/>
            <p:cNvSpPr>
              <a:spLocks noChangeArrowheads="1"/>
            </p:cNvSpPr>
            <p:nvPr/>
          </p:nvSpPr>
          <p:spPr bwMode="auto">
            <a:xfrm>
              <a:off x="533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57" name="Oval 185"/>
            <p:cNvSpPr>
              <a:spLocks noChangeArrowheads="1"/>
            </p:cNvSpPr>
            <p:nvPr/>
          </p:nvSpPr>
          <p:spPr bwMode="auto">
            <a:xfrm>
              <a:off x="1143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58" name="Oval 186"/>
            <p:cNvSpPr>
              <a:spLocks noChangeArrowheads="1"/>
            </p:cNvSpPr>
            <p:nvPr/>
          </p:nvSpPr>
          <p:spPr bwMode="auto">
            <a:xfrm>
              <a:off x="1295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59" name="Oval 187"/>
            <p:cNvSpPr>
              <a:spLocks noChangeArrowheads="1"/>
            </p:cNvSpPr>
            <p:nvPr/>
          </p:nvSpPr>
          <p:spPr bwMode="auto">
            <a:xfrm>
              <a:off x="1143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60" name="Oval 188"/>
            <p:cNvSpPr>
              <a:spLocks noChangeArrowheads="1"/>
            </p:cNvSpPr>
            <p:nvPr/>
          </p:nvSpPr>
          <p:spPr bwMode="auto">
            <a:xfrm>
              <a:off x="1295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61" name="Oval 189"/>
            <p:cNvSpPr>
              <a:spLocks noChangeArrowheads="1"/>
            </p:cNvSpPr>
            <p:nvPr/>
          </p:nvSpPr>
          <p:spPr bwMode="auto">
            <a:xfrm>
              <a:off x="838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62" name="Oval 190"/>
            <p:cNvSpPr>
              <a:spLocks noChangeArrowheads="1"/>
            </p:cNvSpPr>
            <p:nvPr/>
          </p:nvSpPr>
          <p:spPr bwMode="auto">
            <a:xfrm>
              <a:off x="838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63" name="Oval 191"/>
            <p:cNvSpPr>
              <a:spLocks noChangeArrowheads="1"/>
            </p:cNvSpPr>
            <p:nvPr/>
          </p:nvSpPr>
          <p:spPr bwMode="auto">
            <a:xfrm>
              <a:off x="762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64" name="Oval 192"/>
            <p:cNvSpPr>
              <a:spLocks noChangeArrowheads="1"/>
            </p:cNvSpPr>
            <p:nvPr/>
          </p:nvSpPr>
          <p:spPr bwMode="auto">
            <a:xfrm>
              <a:off x="914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65" name="Oval 193"/>
            <p:cNvSpPr>
              <a:spLocks noChangeArrowheads="1"/>
            </p:cNvSpPr>
            <p:nvPr/>
          </p:nvSpPr>
          <p:spPr bwMode="auto">
            <a:xfrm>
              <a:off x="762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66" name="Oval 194"/>
            <p:cNvSpPr>
              <a:spLocks noChangeArrowheads="1"/>
            </p:cNvSpPr>
            <p:nvPr/>
          </p:nvSpPr>
          <p:spPr bwMode="auto">
            <a:xfrm>
              <a:off x="914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67" name="Oval 195"/>
            <p:cNvSpPr>
              <a:spLocks noChangeArrowheads="1"/>
            </p:cNvSpPr>
            <p:nvPr/>
          </p:nvSpPr>
          <p:spPr bwMode="auto">
            <a:xfrm>
              <a:off x="457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68" name="Oval 196"/>
            <p:cNvSpPr>
              <a:spLocks noChangeArrowheads="1"/>
            </p:cNvSpPr>
            <p:nvPr/>
          </p:nvSpPr>
          <p:spPr bwMode="auto">
            <a:xfrm>
              <a:off x="1219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69" name="Oval 197"/>
            <p:cNvSpPr>
              <a:spLocks noChangeArrowheads="1"/>
            </p:cNvSpPr>
            <p:nvPr/>
          </p:nvSpPr>
          <p:spPr bwMode="auto">
            <a:xfrm>
              <a:off x="381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70" name="Oval 198"/>
            <p:cNvSpPr>
              <a:spLocks noChangeArrowheads="1"/>
            </p:cNvSpPr>
            <p:nvPr/>
          </p:nvSpPr>
          <p:spPr bwMode="auto">
            <a:xfrm>
              <a:off x="533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71" name="Oval 199"/>
            <p:cNvSpPr>
              <a:spLocks noChangeArrowheads="1"/>
            </p:cNvSpPr>
            <p:nvPr/>
          </p:nvSpPr>
          <p:spPr bwMode="auto">
            <a:xfrm>
              <a:off x="1143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72" name="Oval 200"/>
            <p:cNvSpPr>
              <a:spLocks noChangeArrowheads="1"/>
            </p:cNvSpPr>
            <p:nvPr/>
          </p:nvSpPr>
          <p:spPr bwMode="auto">
            <a:xfrm>
              <a:off x="1295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73" name="Oval 201"/>
            <p:cNvSpPr>
              <a:spLocks noChangeArrowheads="1"/>
            </p:cNvSpPr>
            <p:nvPr/>
          </p:nvSpPr>
          <p:spPr bwMode="auto">
            <a:xfrm>
              <a:off x="838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74" name="Oval 202"/>
            <p:cNvSpPr>
              <a:spLocks noChangeArrowheads="1"/>
            </p:cNvSpPr>
            <p:nvPr/>
          </p:nvSpPr>
          <p:spPr bwMode="auto">
            <a:xfrm>
              <a:off x="762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75" name="Oval 203"/>
            <p:cNvSpPr>
              <a:spLocks noChangeArrowheads="1"/>
            </p:cNvSpPr>
            <p:nvPr/>
          </p:nvSpPr>
          <p:spPr bwMode="auto">
            <a:xfrm>
              <a:off x="914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76" name="Oval 204"/>
            <p:cNvSpPr>
              <a:spLocks noChangeArrowheads="1"/>
            </p:cNvSpPr>
            <p:nvPr/>
          </p:nvSpPr>
          <p:spPr bwMode="auto">
            <a:xfrm>
              <a:off x="1600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77" name="Oval 205"/>
            <p:cNvSpPr>
              <a:spLocks noChangeArrowheads="1"/>
            </p:cNvSpPr>
            <p:nvPr/>
          </p:nvSpPr>
          <p:spPr bwMode="auto">
            <a:xfrm>
              <a:off x="1600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78" name="Oval 206"/>
            <p:cNvSpPr>
              <a:spLocks noChangeArrowheads="1"/>
            </p:cNvSpPr>
            <p:nvPr/>
          </p:nvSpPr>
          <p:spPr bwMode="auto">
            <a:xfrm>
              <a:off x="1524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79" name="Oval 207"/>
            <p:cNvSpPr>
              <a:spLocks noChangeArrowheads="1"/>
            </p:cNvSpPr>
            <p:nvPr/>
          </p:nvSpPr>
          <p:spPr bwMode="auto">
            <a:xfrm>
              <a:off x="1676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80" name="Oval 208"/>
            <p:cNvSpPr>
              <a:spLocks noChangeArrowheads="1"/>
            </p:cNvSpPr>
            <p:nvPr/>
          </p:nvSpPr>
          <p:spPr bwMode="auto">
            <a:xfrm>
              <a:off x="1524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81" name="Oval 209"/>
            <p:cNvSpPr>
              <a:spLocks noChangeArrowheads="1"/>
            </p:cNvSpPr>
            <p:nvPr/>
          </p:nvSpPr>
          <p:spPr bwMode="auto">
            <a:xfrm>
              <a:off x="1676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82" name="Oval 210"/>
            <p:cNvSpPr>
              <a:spLocks noChangeArrowheads="1"/>
            </p:cNvSpPr>
            <p:nvPr/>
          </p:nvSpPr>
          <p:spPr bwMode="auto">
            <a:xfrm>
              <a:off x="1600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83" name="Oval 211"/>
            <p:cNvSpPr>
              <a:spLocks noChangeArrowheads="1"/>
            </p:cNvSpPr>
            <p:nvPr/>
          </p:nvSpPr>
          <p:spPr bwMode="auto">
            <a:xfrm>
              <a:off x="1524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84" name="Oval 212"/>
            <p:cNvSpPr>
              <a:spLocks noChangeArrowheads="1"/>
            </p:cNvSpPr>
            <p:nvPr/>
          </p:nvSpPr>
          <p:spPr bwMode="auto">
            <a:xfrm>
              <a:off x="1676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85" name="Text Box 213"/>
            <p:cNvSpPr txBox="1">
              <a:spLocks noChangeArrowheads="1"/>
            </p:cNvSpPr>
            <p:nvPr/>
          </p:nvSpPr>
          <p:spPr bwMode="auto">
            <a:xfrm>
              <a:off x="381000" y="1905000"/>
              <a:ext cx="3098800" cy="336550"/>
            </a:xfrm>
            <a:prstGeom prst="rect">
              <a:avLst/>
            </a:prstGeom>
            <a:noFill/>
            <a:ln w="9525">
              <a:noFill/>
              <a:miter lim="800000"/>
              <a:headEnd/>
              <a:tailEnd/>
            </a:ln>
          </p:spPr>
          <p:txBody>
            <a:bodyPr wrap="none">
              <a:spAutoFit/>
            </a:bodyPr>
            <a:lstStyle/>
            <a:p>
              <a:r>
                <a:rPr lang="en-GB" b="1"/>
                <a:t>4:4:4 </a:t>
              </a:r>
              <a:r>
                <a:rPr lang="en-GB"/>
                <a:t>- High end applications</a:t>
              </a:r>
            </a:p>
          </p:txBody>
        </p:sp>
        <p:sp>
          <p:nvSpPr>
            <p:cNvPr id="10286" name="Oval 214"/>
            <p:cNvSpPr>
              <a:spLocks noChangeArrowheads="1"/>
            </p:cNvSpPr>
            <p:nvPr/>
          </p:nvSpPr>
          <p:spPr bwMode="auto">
            <a:xfrm>
              <a:off x="1981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87" name="Oval 215"/>
            <p:cNvSpPr>
              <a:spLocks noChangeArrowheads="1"/>
            </p:cNvSpPr>
            <p:nvPr/>
          </p:nvSpPr>
          <p:spPr bwMode="auto">
            <a:xfrm>
              <a:off x="1981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88" name="Oval 216"/>
            <p:cNvSpPr>
              <a:spLocks noChangeArrowheads="1"/>
            </p:cNvSpPr>
            <p:nvPr/>
          </p:nvSpPr>
          <p:spPr bwMode="auto">
            <a:xfrm>
              <a:off x="1905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89" name="Oval 217"/>
            <p:cNvSpPr>
              <a:spLocks noChangeArrowheads="1"/>
            </p:cNvSpPr>
            <p:nvPr/>
          </p:nvSpPr>
          <p:spPr bwMode="auto">
            <a:xfrm>
              <a:off x="2057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90" name="Oval 218"/>
            <p:cNvSpPr>
              <a:spLocks noChangeArrowheads="1"/>
            </p:cNvSpPr>
            <p:nvPr/>
          </p:nvSpPr>
          <p:spPr bwMode="auto">
            <a:xfrm>
              <a:off x="1905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91" name="Oval 219"/>
            <p:cNvSpPr>
              <a:spLocks noChangeArrowheads="1"/>
            </p:cNvSpPr>
            <p:nvPr/>
          </p:nvSpPr>
          <p:spPr bwMode="auto">
            <a:xfrm>
              <a:off x="2057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92" name="Oval 220"/>
            <p:cNvSpPr>
              <a:spLocks noChangeArrowheads="1"/>
            </p:cNvSpPr>
            <p:nvPr/>
          </p:nvSpPr>
          <p:spPr bwMode="auto">
            <a:xfrm>
              <a:off x="1981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93" name="Oval 221"/>
            <p:cNvSpPr>
              <a:spLocks noChangeArrowheads="1"/>
            </p:cNvSpPr>
            <p:nvPr/>
          </p:nvSpPr>
          <p:spPr bwMode="auto">
            <a:xfrm>
              <a:off x="1905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94" name="Oval 222"/>
            <p:cNvSpPr>
              <a:spLocks noChangeArrowheads="1"/>
            </p:cNvSpPr>
            <p:nvPr/>
          </p:nvSpPr>
          <p:spPr bwMode="auto">
            <a:xfrm>
              <a:off x="2057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95" name="Oval 223"/>
            <p:cNvSpPr>
              <a:spLocks noChangeArrowheads="1"/>
            </p:cNvSpPr>
            <p:nvPr/>
          </p:nvSpPr>
          <p:spPr bwMode="auto">
            <a:xfrm>
              <a:off x="2362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96" name="Oval 224"/>
            <p:cNvSpPr>
              <a:spLocks noChangeArrowheads="1"/>
            </p:cNvSpPr>
            <p:nvPr/>
          </p:nvSpPr>
          <p:spPr bwMode="auto">
            <a:xfrm>
              <a:off x="2362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297" name="Oval 225"/>
            <p:cNvSpPr>
              <a:spLocks noChangeArrowheads="1"/>
            </p:cNvSpPr>
            <p:nvPr/>
          </p:nvSpPr>
          <p:spPr bwMode="auto">
            <a:xfrm>
              <a:off x="2286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298" name="Oval 226"/>
            <p:cNvSpPr>
              <a:spLocks noChangeArrowheads="1"/>
            </p:cNvSpPr>
            <p:nvPr/>
          </p:nvSpPr>
          <p:spPr bwMode="auto">
            <a:xfrm>
              <a:off x="2438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299" name="Oval 227"/>
            <p:cNvSpPr>
              <a:spLocks noChangeArrowheads="1"/>
            </p:cNvSpPr>
            <p:nvPr/>
          </p:nvSpPr>
          <p:spPr bwMode="auto">
            <a:xfrm>
              <a:off x="2286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00" name="Oval 228"/>
            <p:cNvSpPr>
              <a:spLocks noChangeArrowheads="1"/>
            </p:cNvSpPr>
            <p:nvPr/>
          </p:nvSpPr>
          <p:spPr bwMode="auto">
            <a:xfrm>
              <a:off x="2438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01" name="Oval 229"/>
            <p:cNvSpPr>
              <a:spLocks noChangeArrowheads="1"/>
            </p:cNvSpPr>
            <p:nvPr/>
          </p:nvSpPr>
          <p:spPr bwMode="auto">
            <a:xfrm>
              <a:off x="2362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02" name="Oval 230"/>
            <p:cNvSpPr>
              <a:spLocks noChangeArrowheads="1"/>
            </p:cNvSpPr>
            <p:nvPr/>
          </p:nvSpPr>
          <p:spPr bwMode="auto">
            <a:xfrm>
              <a:off x="2286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03" name="Oval 231"/>
            <p:cNvSpPr>
              <a:spLocks noChangeArrowheads="1"/>
            </p:cNvSpPr>
            <p:nvPr/>
          </p:nvSpPr>
          <p:spPr bwMode="auto">
            <a:xfrm>
              <a:off x="2438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04" name="Oval 232"/>
            <p:cNvSpPr>
              <a:spLocks noChangeArrowheads="1"/>
            </p:cNvSpPr>
            <p:nvPr/>
          </p:nvSpPr>
          <p:spPr bwMode="auto">
            <a:xfrm>
              <a:off x="2743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05" name="Oval 233"/>
            <p:cNvSpPr>
              <a:spLocks noChangeArrowheads="1"/>
            </p:cNvSpPr>
            <p:nvPr/>
          </p:nvSpPr>
          <p:spPr bwMode="auto">
            <a:xfrm>
              <a:off x="2743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06" name="Oval 234"/>
            <p:cNvSpPr>
              <a:spLocks noChangeArrowheads="1"/>
            </p:cNvSpPr>
            <p:nvPr/>
          </p:nvSpPr>
          <p:spPr bwMode="auto">
            <a:xfrm>
              <a:off x="2667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07" name="Oval 235"/>
            <p:cNvSpPr>
              <a:spLocks noChangeArrowheads="1"/>
            </p:cNvSpPr>
            <p:nvPr/>
          </p:nvSpPr>
          <p:spPr bwMode="auto">
            <a:xfrm>
              <a:off x="2819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08" name="Oval 236"/>
            <p:cNvSpPr>
              <a:spLocks noChangeArrowheads="1"/>
            </p:cNvSpPr>
            <p:nvPr/>
          </p:nvSpPr>
          <p:spPr bwMode="auto">
            <a:xfrm>
              <a:off x="2667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09" name="Oval 237"/>
            <p:cNvSpPr>
              <a:spLocks noChangeArrowheads="1"/>
            </p:cNvSpPr>
            <p:nvPr/>
          </p:nvSpPr>
          <p:spPr bwMode="auto">
            <a:xfrm>
              <a:off x="2819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10" name="Oval 238"/>
            <p:cNvSpPr>
              <a:spLocks noChangeArrowheads="1"/>
            </p:cNvSpPr>
            <p:nvPr/>
          </p:nvSpPr>
          <p:spPr bwMode="auto">
            <a:xfrm>
              <a:off x="2743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11" name="Oval 239"/>
            <p:cNvSpPr>
              <a:spLocks noChangeArrowheads="1"/>
            </p:cNvSpPr>
            <p:nvPr/>
          </p:nvSpPr>
          <p:spPr bwMode="auto">
            <a:xfrm>
              <a:off x="2667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12" name="Oval 240"/>
            <p:cNvSpPr>
              <a:spLocks noChangeArrowheads="1"/>
            </p:cNvSpPr>
            <p:nvPr/>
          </p:nvSpPr>
          <p:spPr bwMode="auto">
            <a:xfrm>
              <a:off x="2819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13" name="Oval 241"/>
            <p:cNvSpPr>
              <a:spLocks noChangeArrowheads="1"/>
            </p:cNvSpPr>
            <p:nvPr/>
          </p:nvSpPr>
          <p:spPr bwMode="auto">
            <a:xfrm>
              <a:off x="3124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14" name="Oval 242"/>
            <p:cNvSpPr>
              <a:spLocks noChangeArrowheads="1"/>
            </p:cNvSpPr>
            <p:nvPr/>
          </p:nvSpPr>
          <p:spPr bwMode="auto">
            <a:xfrm>
              <a:off x="3124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15" name="Oval 243"/>
            <p:cNvSpPr>
              <a:spLocks noChangeArrowheads="1"/>
            </p:cNvSpPr>
            <p:nvPr/>
          </p:nvSpPr>
          <p:spPr bwMode="auto">
            <a:xfrm>
              <a:off x="3048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16" name="Oval 244"/>
            <p:cNvSpPr>
              <a:spLocks noChangeArrowheads="1"/>
            </p:cNvSpPr>
            <p:nvPr/>
          </p:nvSpPr>
          <p:spPr bwMode="auto">
            <a:xfrm>
              <a:off x="3200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17" name="Oval 245"/>
            <p:cNvSpPr>
              <a:spLocks noChangeArrowheads="1"/>
            </p:cNvSpPr>
            <p:nvPr/>
          </p:nvSpPr>
          <p:spPr bwMode="auto">
            <a:xfrm>
              <a:off x="3048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18" name="Oval 246"/>
            <p:cNvSpPr>
              <a:spLocks noChangeArrowheads="1"/>
            </p:cNvSpPr>
            <p:nvPr/>
          </p:nvSpPr>
          <p:spPr bwMode="auto">
            <a:xfrm>
              <a:off x="3200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19" name="Oval 247"/>
            <p:cNvSpPr>
              <a:spLocks noChangeArrowheads="1"/>
            </p:cNvSpPr>
            <p:nvPr/>
          </p:nvSpPr>
          <p:spPr bwMode="auto">
            <a:xfrm>
              <a:off x="3124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20" name="Oval 248"/>
            <p:cNvSpPr>
              <a:spLocks noChangeArrowheads="1"/>
            </p:cNvSpPr>
            <p:nvPr/>
          </p:nvSpPr>
          <p:spPr bwMode="auto">
            <a:xfrm>
              <a:off x="3048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21" name="Oval 249"/>
            <p:cNvSpPr>
              <a:spLocks noChangeArrowheads="1"/>
            </p:cNvSpPr>
            <p:nvPr/>
          </p:nvSpPr>
          <p:spPr bwMode="auto">
            <a:xfrm>
              <a:off x="3200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22" name="Oval 250"/>
            <p:cNvSpPr>
              <a:spLocks noChangeArrowheads="1"/>
            </p:cNvSpPr>
            <p:nvPr/>
          </p:nvSpPr>
          <p:spPr bwMode="auto">
            <a:xfrm>
              <a:off x="3505200" y="2362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23" name="Oval 251"/>
            <p:cNvSpPr>
              <a:spLocks noChangeArrowheads="1"/>
            </p:cNvSpPr>
            <p:nvPr/>
          </p:nvSpPr>
          <p:spPr bwMode="auto">
            <a:xfrm>
              <a:off x="3505200" y="2743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24" name="Oval 252"/>
            <p:cNvSpPr>
              <a:spLocks noChangeArrowheads="1"/>
            </p:cNvSpPr>
            <p:nvPr/>
          </p:nvSpPr>
          <p:spPr bwMode="auto">
            <a:xfrm>
              <a:off x="3429000" y="2514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25" name="Oval 253"/>
            <p:cNvSpPr>
              <a:spLocks noChangeArrowheads="1"/>
            </p:cNvSpPr>
            <p:nvPr/>
          </p:nvSpPr>
          <p:spPr bwMode="auto">
            <a:xfrm>
              <a:off x="3581400" y="2514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26" name="Oval 254"/>
            <p:cNvSpPr>
              <a:spLocks noChangeArrowheads="1"/>
            </p:cNvSpPr>
            <p:nvPr/>
          </p:nvSpPr>
          <p:spPr bwMode="auto">
            <a:xfrm>
              <a:off x="3429000" y="2895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27" name="Oval 255"/>
            <p:cNvSpPr>
              <a:spLocks noChangeArrowheads="1"/>
            </p:cNvSpPr>
            <p:nvPr/>
          </p:nvSpPr>
          <p:spPr bwMode="auto">
            <a:xfrm>
              <a:off x="3581400" y="2895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28" name="Oval 256"/>
            <p:cNvSpPr>
              <a:spLocks noChangeArrowheads="1"/>
            </p:cNvSpPr>
            <p:nvPr/>
          </p:nvSpPr>
          <p:spPr bwMode="auto">
            <a:xfrm>
              <a:off x="3505200" y="3124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29" name="Oval 257"/>
            <p:cNvSpPr>
              <a:spLocks noChangeArrowheads="1"/>
            </p:cNvSpPr>
            <p:nvPr/>
          </p:nvSpPr>
          <p:spPr bwMode="auto">
            <a:xfrm>
              <a:off x="3429000" y="3276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30" name="Oval 258"/>
            <p:cNvSpPr>
              <a:spLocks noChangeArrowheads="1"/>
            </p:cNvSpPr>
            <p:nvPr/>
          </p:nvSpPr>
          <p:spPr bwMode="auto">
            <a:xfrm>
              <a:off x="3581400" y="3276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31" name="Oval 259"/>
            <p:cNvSpPr>
              <a:spLocks noChangeArrowheads="1"/>
            </p:cNvSpPr>
            <p:nvPr/>
          </p:nvSpPr>
          <p:spPr bwMode="auto">
            <a:xfrm>
              <a:off x="457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32" name="Oval 260"/>
            <p:cNvSpPr>
              <a:spLocks noChangeArrowheads="1"/>
            </p:cNvSpPr>
            <p:nvPr/>
          </p:nvSpPr>
          <p:spPr bwMode="auto">
            <a:xfrm>
              <a:off x="1219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33" name="Oval 261"/>
            <p:cNvSpPr>
              <a:spLocks noChangeArrowheads="1"/>
            </p:cNvSpPr>
            <p:nvPr/>
          </p:nvSpPr>
          <p:spPr bwMode="auto">
            <a:xfrm>
              <a:off x="381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34" name="Oval 262"/>
            <p:cNvSpPr>
              <a:spLocks noChangeArrowheads="1"/>
            </p:cNvSpPr>
            <p:nvPr/>
          </p:nvSpPr>
          <p:spPr bwMode="auto">
            <a:xfrm>
              <a:off x="533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35" name="Oval 263"/>
            <p:cNvSpPr>
              <a:spLocks noChangeArrowheads="1"/>
            </p:cNvSpPr>
            <p:nvPr/>
          </p:nvSpPr>
          <p:spPr bwMode="auto">
            <a:xfrm>
              <a:off x="1143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36" name="Oval 264"/>
            <p:cNvSpPr>
              <a:spLocks noChangeArrowheads="1"/>
            </p:cNvSpPr>
            <p:nvPr/>
          </p:nvSpPr>
          <p:spPr bwMode="auto">
            <a:xfrm>
              <a:off x="1295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37" name="Oval 265"/>
            <p:cNvSpPr>
              <a:spLocks noChangeArrowheads="1"/>
            </p:cNvSpPr>
            <p:nvPr/>
          </p:nvSpPr>
          <p:spPr bwMode="auto">
            <a:xfrm>
              <a:off x="838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38" name="Oval 266"/>
            <p:cNvSpPr>
              <a:spLocks noChangeArrowheads="1"/>
            </p:cNvSpPr>
            <p:nvPr/>
          </p:nvSpPr>
          <p:spPr bwMode="auto">
            <a:xfrm>
              <a:off x="762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39" name="Oval 267"/>
            <p:cNvSpPr>
              <a:spLocks noChangeArrowheads="1"/>
            </p:cNvSpPr>
            <p:nvPr/>
          </p:nvSpPr>
          <p:spPr bwMode="auto">
            <a:xfrm>
              <a:off x="914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40" name="Oval 268"/>
            <p:cNvSpPr>
              <a:spLocks noChangeArrowheads="1"/>
            </p:cNvSpPr>
            <p:nvPr/>
          </p:nvSpPr>
          <p:spPr bwMode="auto">
            <a:xfrm>
              <a:off x="1600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41" name="Oval 269"/>
            <p:cNvSpPr>
              <a:spLocks noChangeArrowheads="1"/>
            </p:cNvSpPr>
            <p:nvPr/>
          </p:nvSpPr>
          <p:spPr bwMode="auto">
            <a:xfrm>
              <a:off x="1524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42" name="Oval 270"/>
            <p:cNvSpPr>
              <a:spLocks noChangeArrowheads="1"/>
            </p:cNvSpPr>
            <p:nvPr/>
          </p:nvSpPr>
          <p:spPr bwMode="auto">
            <a:xfrm>
              <a:off x="1676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43" name="Oval 271"/>
            <p:cNvSpPr>
              <a:spLocks noChangeArrowheads="1"/>
            </p:cNvSpPr>
            <p:nvPr/>
          </p:nvSpPr>
          <p:spPr bwMode="auto">
            <a:xfrm>
              <a:off x="1981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44" name="Oval 272"/>
            <p:cNvSpPr>
              <a:spLocks noChangeArrowheads="1"/>
            </p:cNvSpPr>
            <p:nvPr/>
          </p:nvSpPr>
          <p:spPr bwMode="auto">
            <a:xfrm>
              <a:off x="1905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45" name="Oval 273"/>
            <p:cNvSpPr>
              <a:spLocks noChangeArrowheads="1"/>
            </p:cNvSpPr>
            <p:nvPr/>
          </p:nvSpPr>
          <p:spPr bwMode="auto">
            <a:xfrm>
              <a:off x="2057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46" name="Oval 274"/>
            <p:cNvSpPr>
              <a:spLocks noChangeArrowheads="1"/>
            </p:cNvSpPr>
            <p:nvPr/>
          </p:nvSpPr>
          <p:spPr bwMode="auto">
            <a:xfrm>
              <a:off x="2362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47" name="Oval 275"/>
            <p:cNvSpPr>
              <a:spLocks noChangeArrowheads="1"/>
            </p:cNvSpPr>
            <p:nvPr/>
          </p:nvSpPr>
          <p:spPr bwMode="auto">
            <a:xfrm>
              <a:off x="2286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48" name="Oval 276"/>
            <p:cNvSpPr>
              <a:spLocks noChangeArrowheads="1"/>
            </p:cNvSpPr>
            <p:nvPr/>
          </p:nvSpPr>
          <p:spPr bwMode="auto">
            <a:xfrm>
              <a:off x="2438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49" name="Oval 277"/>
            <p:cNvSpPr>
              <a:spLocks noChangeArrowheads="1"/>
            </p:cNvSpPr>
            <p:nvPr/>
          </p:nvSpPr>
          <p:spPr bwMode="auto">
            <a:xfrm>
              <a:off x="2743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50" name="Oval 278"/>
            <p:cNvSpPr>
              <a:spLocks noChangeArrowheads="1"/>
            </p:cNvSpPr>
            <p:nvPr/>
          </p:nvSpPr>
          <p:spPr bwMode="auto">
            <a:xfrm>
              <a:off x="2667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51" name="Oval 279"/>
            <p:cNvSpPr>
              <a:spLocks noChangeArrowheads="1"/>
            </p:cNvSpPr>
            <p:nvPr/>
          </p:nvSpPr>
          <p:spPr bwMode="auto">
            <a:xfrm>
              <a:off x="2819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52" name="Oval 280"/>
            <p:cNvSpPr>
              <a:spLocks noChangeArrowheads="1"/>
            </p:cNvSpPr>
            <p:nvPr/>
          </p:nvSpPr>
          <p:spPr bwMode="auto">
            <a:xfrm>
              <a:off x="3124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53" name="Oval 281"/>
            <p:cNvSpPr>
              <a:spLocks noChangeArrowheads="1"/>
            </p:cNvSpPr>
            <p:nvPr/>
          </p:nvSpPr>
          <p:spPr bwMode="auto">
            <a:xfrm>
              <a:off x="3048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54" name="Oval 282"/>
            <p:cNvSpPr>
              <a:spLocks noChangeArrowheads="1"/>
            </p:cNvSpPr>
            <p:nvPr/>
          </p:nvSpPr>
          <p:spPr bwMode="auto">
            <a:xfrm>
              <a:off x="3200400" y="3657600"/>
              <a:ext cx="152400" cy="152400"/>
            </a:xfrm>
            <a:prstGeom prst="ellipse">
              <a:avLst/>
            </a:prstGeom>
            <a:solidFill>
              <a:srgbClr val="E3A4EA"/>
            </a:solidFill>
            <a:ln w="9525">
              <a:noFill/>
              <a:round/>
              <a:headEnd/>
              <a:tailEnd/>
            </a:ln>
          </p:spPr>
          <p:txBody>
            <a:bodyPr wrap="none" anchor="ctr">
              <a:spAutoFit/>
            </a:bodyPr>
            <a:lstStyle/>
            <a:p>
              <a:endParaRPr lang="en-US"/>
            </a:p>
          </p:txBody>
        </p:sp>
        <p:sp>
          <p:nvSpPr>
            <p:cNvPr id="10355" name="Oval 283"/>
            <p:cNvSpPr>
              <a:spLocks noChangeArrowheads="1"/>
            </p:cNvSpPr>
            <p:nvPr/>
          </p:nvSpPr>
          <p:spPr bwMode="auto">
            <a:xfrm>
              <a:off x="3505200" y="3505200"/>
              <a:ext cx="152400" cy="152400"/>
            </a:xfrm>
            <a:prstGeom prst="ellipse">
              <a:avLst/>
            </a:prstGeom>
            <a:solidFill>
              <a:schemeClr val="folHlink"/>
            </a:solidFill>
            <a:ln w="9525">
              <a:noFill/>
              <a:round/>
              <a:headEnd/>
              <a:tailEnd/>
            </a:ln>
          </p:spPr>
          <p:txBody>
            <a:bodyPr wrap="none" anchor="ctr">
              <a:spAutoFit/>
            </a:bodyPr>
            <a:lstStyle/>
            <a:p>
              <a:endParaRPr lang="en-US"/>
            </a:p>
          </p:txBody>
        </p:sp>
        <p:sp>
          <p:nvSpPr>
            <p:cNvPr id="10356" name="Oval 284"/>
            <p:cNvSpPr>
              <a:spLocks noChangeArrowheads="1"/>
            </p:cNvSpPr>
            <p:nvPr/>
          </p:nvSpPr>
          <p:spPr bwMode="auto">
            <a:xfrm>
              <a:off x="3429000" y="3657600"/>
              <a:ext cx="152400" cy="152400"/>
            </a:xfrm>
            <a:prstGeom prst="ellipse">
              <a:avLst/>
            </a:prstGeom>
            <a:solidFill>
              <a:srgbClr val="639D8A"/>
            </a:solidFill>
            <a:ln w="9525">
              <a:noFill/>
              <a:round/>
              <a:headEnd/>
              <a:tailEnd/>
            </a:ln>
          </p:spPr>
          <p:txBody>
            <a:bodyPr wrap="none" anchor="ctr">
              <a:spAutoFit/>
            </a:bodyPr>
            <a:lstStyle/>
            <a:p>
              <a:endParaRPr lang="en-US"/>
            </a:p>
          </p:txBody>
        </p:sp>
        <p:sp>
          <p:nvSpPr>
            <p:cNvPr id="10357" name="Oval 285"/>
            <p:cNvSpPr>
              <a:spLocks noChangeArrowheads="1"/>
            </p:cNvSpPr>
            <p:nvPr/>
          </p:nvSpPr>
          <p:spPr bwMode="auto">
            <a:xfrm>
              <a:off x="3581400" y="3657600"/>
              <a:ext cx="152400" cy="152400"/>
            </a:xfrm>
            <a:prstGeom prst="ellipse">
              <a:avLst/>
            </a:prstGeom>
            <a:solidFill>
              <a:srgbClr val="E3A4EA"/>
            </a:solidFill>
            <a:ln w="9525">
              <a:noFill/>
              <a:round/>
              <a:headEnd/>
              <a:tailEnd/>
            </a:ln>
          </p:spPr>
          <p:txBody>
            <a:bodyPr wrap="none" anchor="ctr">
              <a:spAutoFit/>
            </a:bodyPr>
            <a:lstStyle/>
            <a:p>
              <a:endParaRPr lang="en-US"/>
            </a:p>
          </p:txBody>
        </p:sp>
      </p:grpSp>
      <p:sp>
        <p:nvSpPr>
          <p:cNvPr id="10248" name="Text Box 286"/>
          <p:cNvSpPr txBox="1">
            <a:spLocks noChangeArrowheads="1"/>
          </p:cNvSpPr>
          <p:nvPr/>
        </p:nvSpPr>
        <p:spPr bwMode="auto">
          <a:xfrm>
            <a:off x="6019800" y="990600"/>
            <a:ext cx="2868613" cy="549275"/>
          </a:xfrm>
          <a:prstGeom prst="rect">
            <a:avLst/>
          </a:prstGeom>
          <a:noFill/>
          <a:ln w="9525">
            <a:noFill/>
            <a:miter lim="800000"/>
            <a:headEnd/>
            <a:tailEnd/>
          </a:ln>
        </p:spPr>
        <p:txBody>
          <a:bodyPr>
            <a:spAutoFit/>
          </a:bodyPr>
          <a:lstStyle/>
          <a:p>
            <a:r>
              <a:rPr lang="en-GB" sz="1000"/>
              <a:t>(Note - Cb and Cr is colour </a:t>
            </a:r>
            <a:r>
              <a:rPr lang="en-GB" sz="1000" u="sng"/>
              <a:t>difference </a:t>
            </a:r>
            <a:r>
              <a:rPr lang="en-GB" sz="1000"/>
              <a:t>information for the related pixel; </a:t>
            </a:r>
            <a:r>
              <a:rPr lang="en-GB" sz="1000" b="1" u="sng"/>
              <a:t>not</a:t>
            </a:r>
            <a:r>
              <a:rPr lang="en-GB" sz="1000"/>
              <a:t> the red/blue value itself!)</a:t>
            </a:r>
            <a:endParaRPr lang="en-GB"/>
          </a:p>
        </p:txBody>
      </p:sp>
      <p:sp>
        <p:nvSpPr>
          <p:cNvPr id="10" name="TextBox 9"/>
          <p:cNvSpPr txBox="1"/>
          <p:nvPr/>
        </p:nvSpPr>
        <p:spPr>
          <a:xfrm>
            <a:off x="2177986" y="3525192"/>
            <a:ext cx="2090738" cy="461665"/>
          </a:xfrm>
          <a:prstGeom prst="rect">
            <a:avLst/>
          </a:prstGeom>
          <a:solidFill>
            <a:srgbClr val="FFFF00">
              <a:alpha val="58039"/>
            </a:srgbClr>
          </a:solidFill>
        </p:spPr>
        <p:txBody>
          <a:bodyPr wrap="square" rtlCol="0">
            <a:spAutoFit/>
          </a:bodyPr>
          <a:lstStyle/>
          <a:p>
            <a:r>
              <a:rPr lang="en-GB" sz="1200" dirty="0"/>
              <a:t>full horizontal resolution,</a:t>
            </a:r>
            <a:br>
              <a:rPr lang="en-GB" sz="1200" dirty="0"/>
            </a:br>
            <a:r>
              <a:rPr lang="en-GB" sz="1200" dirty="0"/>
              <a:t>full vertical resolution</a:t>
            </a:r>
          </a:p>
        </p:txBody>
      </p:sp>
      <p:sp>
        <p:nvSpPr>
          <p:cNvPr id="291" name="TextBox 290"/>
          <p:cNvSpPr txBox="1"/>
          <p:nvPr/>
        </p:nvSpPr>
        <p:spPr>
          <a:xfrm>
            <a:off x="6697662" y="3595042"/>
            <a:ext cx="2090738" cy="461665"/>
          </a:xfrm>
          <a:prstGeom prst="rect">
            <a:avLst/>
          </a:prstGeom>
          <a:solidFill>
            <a:srgbClr val="FFFF00">
              <a:alpha val="58039"/>
            </a:srgbClr>
          </a:solidFill>
        </p:spPr>
        <p:txBody>
          <a:bodyPr wrap="square" rtlCol="0">
            <a:spAutoFit/>
          </a:bodyPr>
          <a:lstStyle/>
          <a:p>
            <a:r>
              <a:rPr lang="en-GB" sz="1200" dirty="0"/>
              <a:t>¼ horizontal resolution,</a:t>
            </a:r>
            <a:br>
              <a:rPr lang="en-GB" sz="1200" dirty="0"/>
            </a:br>
            <a:r>
              <a:rPr lang="en-GB" sz="1200" dirty="0"/>
              <a:t>full vertical resolution</a:t>
            </a:r>
          </a:p>
        </p:txBody>
      </p:sp>
      <p:sp>
        <p:nvSpPr>
          <p:cNvPr id="292" name="TextBox 291"/>
          <p:cNvSpPr txBox="1"/>
          <p:nvPr/>
        </p:nvSpPr>
        <p:spPr>
          <a:xfrm>
            <a:off x="2177986" y="6017567"/>
            <a:ext cx="2090738" cy="461665"/>
          </a:xfrm>
          <a:prstGeom prst="rect">
            <a:avLst/>
          </a:prstGeom>
          <a:solidFill>
            <a:srgbClr val="FFFF00">
              <a:alpha val="58039"/>
            </a:srgbClr>
          </a:solidFill>
        </p:spPr>
        <p:txBody>
          <a:bodyPr wrap="square" rtlCol="0">
            <a:spAutoFit/>
          </a:bodyPr>
          <a:lstStyle/>
          <a:p>
            <a:r>
              <a:rPr lang="en-GB" sz="1200" dirty="0"/>
              <a:t>½ horizontal resolution,</a:t>
            </a:r>
            <a:br>
              <a:rPr lang="en-GB" sz="1200" dirty="0"/>
            </a:br>
            <a:r>
              <a:rPr lang="en-GB" sz="1200" dirty="0"/>
              <a:t>full vertical resolution</a:t>
            </a:r>
          </a:p>
        </p:txBody>
      </p:sp>
      <p:sp>
        <p:nvSpPr>
          <p:cNvPr id="293" name="TextBox 292"/>
          <p:cNvSpPr txBox="1"/>
          <p:nvPr/>
        </p:nvSpPr>
        <p:spPr>
          <a:xfrm>
            <a:off x="6697662" y="5944415"/>
            <a:ext cx="2090738" cy="461665"/>
          </a:xfrm>
          <a:prstGeom prst="rect">
            <a:avLst/>
          </a:prstGeom>
          <a:solidFill>
            <a:srgbClr val="FFFF00">
              <a:alpha val="58039"/>
            </a:srgbClr>
          </a:solidFill>
        </p:spPr>
        <p:txBody>
          <a:bodyPr wrap="square" rtlCol="0">
            <a:spAutoFit/>
          </a:bodyPr>
          <a:lstStyle/>
          <a:p>
            <a:r>
              <a:rPr lang="en-GB" sz="1200" dirty="0"/>
              <a:t>½ horizontal resolution,</a:t>
            </a:r>
            <a:br>
              <a:rPr lang="en-GB" sz="1200" dirty="0"/>
            </a:br>
            <a:r>
              <a:rPr lang="en-GB" sz="1200" dirty="0"/>
              <a:t>½ vertical resolution</a:t>
            </a:r>
          </a:p>
        </p:txBody>
      </p:sp>
    </p:spTree>
    <p:extLst>
      <p:ext uri="{BB962C8B-B14F-4D97-AF65-F5344CB8AC3E}">
        <p14:creationId xmlns:p14="http://schemas.microsoft.com/office/powerpoint/2010/main" val="31715433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9979" y="1137992"/>
            <a:ext cx="8230138" cy="3724096"/>
          </a:xfrm>
          <a:prstGeom prst="rect">
            <a:avLst/>
          </a:prstGeom>
          <a:noFill/>
        </p:spPr>
        <p:txBody>
          <a:bodyPr wrap="none" rtlCol="0">
            <a:spAutoFit/>
          </a:bodyPr>
          <a:lstStyle/>
          <a:p>
            <a:r>
              <a:rPr lang="en-GB" sz="6000" b="1" dirty="0"/>
              <a:t>MPEG – </a:t>
            </a:r>
          </a:p>
          <a:p>
            <a:r>
              <a:rPr lang="en-GB" sz="6000" b="1" dirty="0"/>
              <a:t>Coding For </a:t>
            </a:r>
          </a:p>
          <a:p>
            <a:r>
              <a:rPr lang="en-GB" sz="6000" b="1" dirty="0"/>
              <a:t>Moving Images</a:t>
            </a:r>
          </a:p>
          <a:p>
            <a:endParaRPr lang="en-GB" sz="2400" b="1" dirty="0"/>
          </a:p>
          <a:p>
            <a:r>
              <a:rPr lang="en-GB" sz="3200" b="1" dirty="0"/>
              <a:t>Intraframe and Interframe Compression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3810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39" name="Rectangle 5"/>
          <p:cNvSpPr>
            <a:spLocks noChangeArrowheads="1"/>
          </p:cNvSpPr>
          <p:nvPr/>
        </p:nvSpPr>
        <p:spPr bwMode="auto">
          <a:xfrm>
            <a:off x="12954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0" name="Rectangle 6"/>
          <p:cNvSpPr>
            <a:spLocks noChangeArrowheads="1"/>
          </p:cNvSpPr>
          <p:nvPr/>
        </p:nvSpPr>
        <p:spPr bwMode="auto">
          <a:xfrm>
            <a:off x="6858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1" name="Rectangle 7"/>
          <p:cNvSpPr>
            <a:spLocks noChangeArrowheads="1"/>
          </p:cNvSpPr>
          <p:nvPr/>
        </p:nvSpPr>
        <p:spPr bwMode="auto">
          <a:xfrm>
            <a:off x="16002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2" name="Rectangle 8"/>
          <p:cNvSpPr>
            <a:spLocks noChangeArrowheads="1"/>
          </p:cNvSpPr>
          <p:nvPr/>
        </p:nvSpPr>
        <p:spPr bwMode="auto">
          <a:xfrm>
            <a:off x="9906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43" name="Rectangle 9"/>
          <p:cNvSpPr>
            <a:spLocks noChangeArrowheads="1"/>
          </p:cNvSpPr>
          <p:nvPr/>
        </p:nvSpPr>
        <p:spPr bwMode="auto">
          <a:xfrm>
            <a:off x="1905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4" name="Rectangle 10"/>
          <p:cNvSpPr>
            <a:spLocks noChangeArrowheads="1"/>
          </p:cNvSpPr>
          <p:nvPr/>
        </p:nvSpPr>
        <p:spPr bwMode="auto">
          <a:xfrm>
            <a:off x="2209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5" name="Rectangle 11"/>
          <p:cNvSpPr>
            <a:spLocks noChangeArrowheads="1"/>
          </p:cNvSpPr>
          <p:nvPr/>
        </p:nvSpPr>
        <p:spPr bwMode="auto">
          <a:xfrm>
            <a:off x="31242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6" name="Rectangle 12"/>
          <p:cNvSpPr>
            <a:spLocks noChangeArrowheads="1"/>
          </p:cNvSpPr>
          <p:nvPr/>
        </p:nvSpPr>
        <p:spPr bwMode="auto">
          <a:xfrm>
            <a:off x="2514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7" name="Rectangle 13"/>
          <p:cNvSpPr>
            <a:spLocks noChangeArrowheads="1"/>
          </p:cNvSpPr>
          <p:nvPr/>
        </p:nvSpPr>
        <p:spPr bwMode="auto">
          <a:xfrm>
            <a:off x="3429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8" name="Rectangle 14"/>
          <p:cNvSpPr>
            <a:spLocks noChangeArrowheads="1"/>
          </p:cNvSpPr>
          <p:nvPr/>
        </p:nvSpPr>
        <p:spPr bwMode="auto">
          <a:xfrm>
            <a:off x="28194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49" name="Rectangle 15"/>
          <p:cNvSpPr>
            <a:spLocks noChangeArrowheads="1"/>
          </p:cNvSpPr>
          <p:nvPr/>
        </p:nvSpPr>
        <p:spPr bwMode="auto">
          <a:xfrm>
            <a:off x="3733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0" name="Rectangle 16"/>
          <p:cNvSpPr>
            <a:spLocks noChangeArrowheads="1"/>
          </p:cNvSpPr>
          <p:nvPr/>
        </p:nvSpPr>
        <p:spPr bwMode="auto">
          <a:xfrm>
            <a:off x="4038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1" name="Rectangle 17"/>
          <p:cNvSpPr>
            <a:spLocks noChangeArrowheads="1"/>
          </p:cNvSpPr>
          <p:nvPr/>
        </p:nvSpPr>
        <p:spPr bwMode="auto">
          <a:xfrm>
            <a:off x="4953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2" name="Rectangle 18"/>
          <p:cNvSpPr>
            <a:spLocks noChangeArrowheads="1"/>
          </p:cNvSpPr>
          <p:nvPr/>
        </p:nvSpPr>
        <p:spPr bwMode="auto">
          <a:xfrm>
            <a:off x="43434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3" name="Rectangle 19"/>
          <p:cNvSpPr>
            <a:spLocks noChangeArrowheads="1"/>
          </p:cNvSpPr>
          <p:nvPr/>
        </p:nvSpPr>
        <p:spPr bwMode="auto">
          <a:xfrm>
            <a:off x="5257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4" name="Rectangle 20"/>
          <p:cNvSpPr>
            <a:spLocks noChangeArrowheads="1"/>
          </p:cNvSpPr>
          <p:nvPr/>
        </p:nvSpPr>
        <p:spPr bwMode="auto">
          <a:xfrm>
            <a:off x="46482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5" name="Rectangle 21"/>
          <p:cNvSpPr>
            <a:spLocks noChangeArrowheads="1"/>
          </p:cNvSpPr>
          <p:nvPr/>
        </p:nvSpPr>
        <p:spPr bwMode="auto">
          <a:xfrm>
            <a:off x="5562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6" name="Rectangle 22"/>
          <p:cNvSpPr>
            <a:spLocks noChangeArrowheads="1"/>
          </p:cNvSpPr>
          <p:nvPr/>
        </p:nvSpPr>
        <p:spPr bwMode="auto">
          <a:xfrm>
            <a:off x="58674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7" name="Rectangle 23"/>
          <p:cNvSpPr>
            <a:spLocks noChangeArrowheads="1"/>
          </p:cNvSpPr>
          <p:nvPr/>
        </p:nvSpPr>
        <p:spPr bwMode="auto">
          <a:xfrm>
            <a:off x="67818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8" name="Rectangle 24"/>
          <p:cNvSpPr>
            <a:spLocks noChangeArrowheads="1"/>
          </p:cNvSpPr>
          <p:nvPr/>
        </p:nvSpPr>
        <p:spPr bwMode="auto">
          <a:xfrm>
            <a:off x="61722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59" name="Rectangle 25"/>
          <p:cNvSpPr>
            <a:spLocks noChangeArrowheads="1"/>
          </p:cNvSpPr>
          <p:nvPr/>
        </p:nvSpPr>
        <p:spPr bwMode="auto">
          <a:xfrm>
            <a:off x="70866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60" name="Rectangle 26"/>
          <p:cNvSpPr>
            <a:spLocks noChangeArrowheads="1"/>
          </p:cNvSpPr>
          <p:nvPr/>
        </p:nvSpPr>
        <p:spPr bwMode="auto">
          <a:xfrm>
            <a:off x="6477000" y="1295400"/>
            <a:ext cx="228600" cy="530225"/>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14361" name="Rectangle 27"/>
          <p:cNvSpPr>
            <a:spLocks noChangeArrowheads="1"/>
          </p:cNvSpPr>
          <p:nvPr/>
        </p:nvSpPr>
        <p:spPr bwMode="auto">
          <a:xfrm>
            <a:off x="73914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2" name="Rectangle 28"/>
          <p:cNvSpPr>
            <a:spLocks noChangeArrowheads="1"/>
          </p:cNvSpPr>
          <p:nvPr/>
        </p:nvSpPr>
        <p:spPr bwMode="auto">
          <a:xfrm>
            <a:off x="80010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3" name="Rectangle 29"/>
          <p:cNvSpPr>
            <a:spLocks noChangeArrowheads="1"/>
          </p:cNvSpPr>
          <p:nvPr/>
        </p:nvSpPr>
        <p:spPr bwMode="auto">
          <a:xfrm>
            <a:off x="83058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4" name="Rectangle 30"/>
          <p:cNvSpPr>
            <a:spLocks noChangeArrowheads="1"/>
          </p:cNvSpPr>
          <p:nvPr/>
        </p:nvSpPr>
        <p:spPr bwMode="auto">
          <a:xfrm>
            <a:off x="76962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5" name="Rectangle 31"/>
          <p:cNvSpPr>
            <a:spLocks noChangeArrowheads="1"/>
          </p:cNvSpPr>
          <p:nvPr/>
        </p:nvSpPr>
        <p:spPr bwMode="auto">
          <a:xfrm>
            <a:off x="8610600" y="1295400"/>
            <a:ext cx="228600" cy="530225"/>
          </a:xfrm>
          <a:prstGeom prst="rect">
            <a:avLst/>
          </a:prstGeom>
          <a:solidFill>
            <a:srgbClr val="FFCC66"/>
          </a:solidFill>
          <a:ln w="9525">
            <a:solidFill>
              <a:schemeClr val="tx1"/>
            </a:solidFill>
            <a:miter lim="800000"/>
            <a:headEnd/>
            <a:tailEnd/>
          </a:ln>
        </p:spPr>
        <p:txBody>
          <a:bodyPr wrap="none" anchor="ctr"/>
          <a:lstStyle/>
          <a:p>
            <a:endParaRPr lang="en-US"/>
          </a:p>
        </p:txBody>
      </p:sp>
      <p:sp>
        <p:nvSpPr>
          <p:cNvPr id="14366" name="Text Box 104"/>
          <p:cNvSpPr txBox="1">
            <a:spLocks noChangeArrowheads="1"/>
          </p:cNvSpPr>
          <p:nvPr/>
        </p:nvSpPr>
        <p:spPr bwMode="auto">
          <a:xfrm>
            <a:off x="381000" y="990600"/>
            <a:ext cx="1739900" cy="336550"/>
          </a:xfrm>
          <a:prstGeom prst="rect">
            <a:avLst/>
          </a:prstGeom>
          <a:noFill/>
          <a:ln w="9525">
            <a:noFill/>
            <a:miter lim="800000"/>
            <a:headEnd/>
            <a:tailEnd/>
          </a:ln>
        </p:spPr>
        <p:txBody>
          <a:bodyPr wrap="none">
            <a:spAutoFit/>
          </a:bodyPr>
          <a:lstStyle/>
          <a:p>
            <a:r>
              <a:rPr lang="en-GB"/>
              <a:t>Video Sequence</a:t>
            </a:r>
            <a:endParaRPr lang="en-GB" sz="2400"/>
          </a:p>
        </p:txBody>
      </p:sp>
      <p:sp>
        <p:nvSpPr>
          <p:cNvPr id="14367" name="Line 105"/>
          <p:cNvSpPr>
            <a:spLocks noChangeShapeType="1"/>
          </p:cNvSpPr>
          <p:nvPr/>
        </p:nvSpPr>
        <p:spPr bwMode="auto">
          <a:xfrm>
            <a:off x="2133600" y="1143000"/>
            <a:ext cx="6629400" cy="0"/>
          </a:xfrm>
          <a:prstGeom prst="line">
            <a:avLst/>
          </a:prstGeom>
          <a:noFill/>
          <a:ln w="9525">
            <a:solidFill>
              <a:schemeClr val="tx1"/>
            </a:solidFill>
            <a:round/>
            <a:headEnd/>
            <a:tailEnd type="triangle" w="med" len="med"/>
          </a:ln>
        </p:spPr>
        <p:txBody>
          <a:bodyPr wrap="none" anchor="ctr"/>
          <a:lstStyle/>
          <a:p>
            <a:endParaRPr lang="en-GB"/>
          </a:p>
        </p:txBody>
      </p:sp>
      <p:sp>
        <p:nvSpPr>
          <p:cNvPr id="14368" name="Line 106"/>
          <p:cNvSpPr>
            <a:spLocks noChangeShapeType="1"/>
          </p:cNvSpPr>
          <p:nvPr/>
        </p:nvSpPr>
        <p:spPr bwMode="auto">
          <a:xfrm>
            <a:off x="1828800" y="1600200"/>
            <a:ext cx="5410200" cy="0"/>
          </a:xfrm>
          <a:prstGeom prst="line">
            <a:avLst/>
          </a:prstGeom>
          <a:noFill/>
          <a:ln w="9525">
            <a:solidFill>
              <a:schemeClr val="tx1"/>
            </a:solidFill>
            <a:round/>
            <a:headEnd type="triangle" w="med" len="med"/>
            <a:tailEnd type="triangle" w="med" len="med"/>
          </a:ln>
        </p:spPr>
        <p:txBody>
          <a:bodyPr wrap="none" anchor="ctr"/>
          <a:lstStyle/>
          <a:p>
            <a:endParaRPr lang="en-GB"/>
          </a:p>
        </p:txBody>
      </p:sp>
      <p:sp>
        <p:nvSpPr>
          <p:cNvPr id="14369" name="Text Box 107"/>
          <p:cNvSpPr txBox="1">
            <a:spLocks noChangeArrowheads="1"/>
          </p:cNvSpPr>
          <p:nvPr/>
        </p:nvSpPr>
        <p:spPr bwMode="auto">
          <a:xfrm>
            <a:off x="3352800" y="1492250"/>
            <a:ext cx="1951038" cy="274638"/>
          </a:xfrm>
          <a:prstGeom prst="rect">
            <a:avLst/>
          </a:prstGeom>
          <a:solidFill>
            <a:schemeClr val="bg1">
              <a:alpha val="88000"/>
            </a:schemeClr>
          </a:solidFill>
          <a:ln w="9525">
            <a:noFill/>
            <a:miter lim="800000"/>
            <a:headEnd/>
            <a:tailEnd/>
          </a:ln>
        </p:spPr>
        <p:txBody>
          <a:bodyPr wrap="none">
            <a:spAutoFit/>
          </a:bodyPr>
          <a:lstStyle/>
          <a:p>
            <a:r>
              <a:rPr lang="en-GB" sz="1200" dirty="0"/>
              <a:t>Group Of Pictures (GOP)</a:t>
            </a:r>
          </a:p>
        </p:txBody>
      </p:sp>
      <p:sp>
        <p:nvSpPr>
          <p:cNvPr id="14370" name="Text Box 120"/>
          <p:cNvSpPr txBox="1">
            <a:spLocks noChangeArrowheads="1"/>
          </p:cNvSpPr>
          <p:nvPr/>
        </p:nvSpPr>
        <p:spPr bwMode="auto">
          <a:xfrm>
            <a:off x="381000" y="392113"/>
            <a:ext cx="4129657" cy="461665"/>
          </a:xfrm>
          <a:prstGeom prst="rect">
            <a:avLst/>
          </a:prstGeom>
          <a:noFill/>
          <a:ln w="9525">
            <a:noFill/>
            <a:miter lim="800000"/>
            <a:headEnd/>
            <a:tailEnd/>
          </a:ln>
        </p:spPr>
        <p:txBody>
          <a:bodyPr wrap="none">
            <a:spAutoFit/>
          </a:bodyPr>
          <a:lstStyle/>
          <a:p>
            <a:r>
              <a:rPr lang="en-GB" sz="2400" b="1" dirty="0"/>
              <a:t>GOPs – Groups Of Pictures</a:t>
            </a:r>
            <a:endParaRPr lang="en-GB" sz="2400" dirty="0"/>
          </a:p>
        </p:txBody>
      </p:sp>
      <p:sp>
        <p:nvSpPr>
          <p:cNvPr id="14371" name="Rectangle 134"/>
          <p:cNvSpPr>
            <a:spLocks noChangeArrowheads="1"/>
          </p:cNvSpPr>
          <p:nvPr/>
        </p:nvSpPr>
        <p:spPr bwMode="auto">
          <a:xfrm>
            <a:off x="380999" y="1997075"/>
            <a:ext cx="8315325" cy="1569660"/>
          </a:xfrm>
          <a:prstGeom prst="rect">
            <a:avLst/>
          </a:prstGeom>
          <a:noFill/>
          <a:ln w="9525">
            <a:noFill/>
            <a:miter lim="800000"/>
            <a:headEnd/>
            <a:tailEnd/>
          </a:ln>
        </p:spPr>
        <p:txBody>
          <a:bodyPr wrap="square">
            <a:spAutoFit/>
          </a:bodyPr>
          <a:lstStyle/>
          <a:p>
            <a:r>
              <a:rPr lang="en-GB" b="1" dirty="0"/>
              <a:t>Group of Pictures (GOP)</a:t>
            </a:r>
          </a:p>
          <a:p>
            <a:pPr marL="180975" indent="-180975">
              <a:buFont typeface="Arial" panose="020B0604020202020204" pitchFamily="34" charset="0"/>
              <a:buChar char="•"/>
            </a:pPr>
            <a:r>
              <a:rPr lang="en-GB" dirty="0"/>
              <a:t>Header + series of one of more pictures</a:t>
            </a:r>
          </a:p>
          <a:p>
            <a:pPr marL="180975" indent="-180975">
              <a:buFont typeface="Arial" panose="020B0604020202020204" pitchFamily="34" charset="0"/>
              <a:buChar char="•"/>
            </a:pPr>
            <a:r>
              <a:rPr lang="en-GB" dirty="0"/>
              <a:t>3 types of pictures: I, P, B</a:t>
            </a:r>
          </a:p>
          <a:p>
            <a:pPr marL="180975" indent="-180975">
              <a:buFont typeface="Arial" panose="020B0604020202020204" pitchFamily="34" charset="0"/>
              <a:buChar char="•"/>
            </a:pPr>
            <a:r>
              <a:rPr lang="en-GB" dirty="0"/>
              <a:t>Provides a regular structure of video content </a:t>
            </a:r>
          </a:p>
          <a:p>
            <a:pPr marL="638175" lvl="1" indent="-180975">
              <a:buFont typeface="Arial" panose="020B0604020202020204" pitchFamily="34" charset="0"/>
              <a:buChar char="•"/>
            </a:pPr>
            <a:r>
              <a:rPr lang="en-GB" dirty="0"/>
              <a:t>recurring pattern of pictures </a:t>
            </a:r>
          </a:p>
          <a:p>
            <a:pPr marL="638175" lvl="1" indent="-180975">
              <a:buFont typeface="Arial" panose="020B0604020202020204" pitchFamily="34" charset="0"/>
              <a:buChar char="•"/>
            </a:pPr>
            <a:r>
              <a:rPr lang="en-GB" dirty="0"/>
              <a:t>allow easy access to the video stream</a:t>
            </a:r>
          </a:p>
        </p:txBody>
      </p:sp>
      <p:pic>
        <p:nvPicPr>
          <p:cNvPr id="37"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4220"/>
          <a:stretch/>
        </p:blipFill>
        <p:spPr bwMode="auto">
          <a:xfrm>
            <a:off x="381000" y="3848100"/>
            <a:ext cx="8296275" cy="1548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Rectangle 37"/>
          <p:cNvSpPr/>
          <p:nvPr/>
        </p:nvSpPr>
        <p:spPr>
          <a:xfrm>
            <a:off x="381000" y="5644545"/>
            <a:ext cx="8362950" cy="584775"/>
          </a:xfrm>
          <a:prstGeom prst="rect">
            <a:avLst/>
          </a:prstGeom>
        </p:spPr>
        <p:txBody>
          <a:bodyPr wrap="square">
            <a:spAutoFit/>
          </a:bodyPr>
          <a:lstStyle/>
          <a:p>
            <a:pPr marL="180975" indent="-180975">
              <a:buFont typeface="Arial" panose="020B0604020202020204" pitchFamily="34" charset="0"/>
              <a:buChar char="•"/>
            </a:pPr>
            <a:r>
              <a:rPr lang="en-US" dirty="0"/>
              <a:t>For TV the GOP is 12 pictures ( </a:t>
            </a:r>
            <a:r>
              <a:rPr lang="en-US" i="1" dirty="0"/>
              <a:t>0.5 s of a projected at 24 frames / s movie</a:t>
            </a:r>
            <a:r>
              <a:rPr lang="en-US" dirty="0"/>
              <a:t> </a:t>
            </a:r>
          </a:p>
          <a:p>
            <a:pPr marL="180975" indent="-180975">
              <a:buFont typeface="Arial" panose="020B0604020202020204" pitchFamily="34" charset="0"/>
              <a:buChar char="•"/>
            </a:pPr>
            <a:r>
              <a:rPr lang="en-US" dirty="0"/>
              <a:t>For NTSC 30 fps, uses 15 pictures</a:t>
            </a:r>
            <a:endParaRPr lang="en-GB" dirty="0"/>
          </a:p>
        </p:txBody>
      </p:sp>
      <p:sp>
        <p:nvSpPr>
          <p:cNvPr id="40" name="Rectangle 31"/>
          <p:cNvSpPr>
            <a:spLocks noChangeArrowheads="1"/>
          </p:cNvSpPr>
          <p:nvPr/>
        </p:nvSpPr>
        <p:spPr bwMode="auto">
          <a:xfrm>
            <a:off x="8924924" y="1295399"/>
            <a:ext cx="228600" cy="530225"/>
          </a:xfrm>
          <a:prstGeom prst="rect">
            <a:avLst/>
          </a:prstGeom>
          <a:gradFill flip="none" rotWithShape="1">
            <a:gsLst>
              <a:gs pos="0">
                <a:srgbClr val="FFC000"/>
              </a:gs>
              <a:gs pos="100000">
                <a:schemeClr val="bg1"/>
              </a:gs>
            </a:gsLst>
            <a:lin ang="0" scaled="1"/>
            <a:tileRect/>
          </a:gradFill>
          <a:ln w="9525">
            <a:solidFill>
              <a:schemeClr val="tx1"/>
            </a:solidFill>
            <a:miter lim="800000"/>
            <a:headEnd/>
            <a:tailEnd/>
          </a:ln>
        </p:spPr>
        <p:txBody>
          <a:bodyPr wrap="none" anchor="ctr"/>
          <a:lstStyle/>
          <a:p>
            <a:endParaRPr lang="en-US"/>
          </a:p>
        </p:txBody>
      </p:sp>
      <p:sp>
        <p:nvSpPr>
          <p:cNvPr id="41" name="Rectangle 31"/>
          <p:cNvSpPr>
            <a:spLocks noChangeArrowheads="1"/>
          </p:cNvSpPr>
          <p:nvPr/>
        </p:nvSpPr>
        <p:spPr bwMode="auto">
          <a:xfrm>
            <a:off x="67083" y="1295399"/>
            <a:ext cx="228600" cy="530225"/>
          </a:xfrm>
          <a:prstGeom prst="rect">
            <a:avLst/>
          </a:prstGeom>
          <a:gradFill flip="none" rotWithShape="1">
            <a:gsLst>
              <a:gs pos="0">
                <a:srgbClr val="FFC000"/>
              </a:gs>
              <a:gs pos="100000">
                <a:schemeClr val="bg1"/>
              </a:gs>
            </a:gsLst>
            <a:lin ang="10800000" scaled="1"/>
            <a:tileRect/>
          </a:gradFill>
          <a:ln w="9525">
            <a:solidFill>
              <a:schemeClr val="tx1"/>
            </a:solidFill>
            <a:miter lim="800000"/>
            <a:headEnd/>
            <a:tailEnd/>
          </a:ln>
        </p:spPr>
        <p:txBody>
          <a:bodyPr wrap="none" anchor="ct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109663"/>
            <a:ext cx="82581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4481513"/>
            <a:ext cx="8258175"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p:cNvGrpSpPr/>
          <p:nvPr/>
        </p:nvGrpSpPr>
        <p:grpSpPr>
          <a:xfrm>
            <a:off x="1385887" y="1838325"/>
            <a:ext cx="3305175" cy="1466850"/>
            <a:chOff x="1447800" y="2466975"/>
            <a:chExt cx="3305175" cy="1466850"/>
          </a:xfrm>
        </p:grpSpPr>
        <p:cxnSp>
          <p:nvCxnSpPr>
            <p:cNvPr id="7" name="Straight Arrow Connector 6"/>
            <p:cNvCxnSpPr/>
            <p:nvPr/>
          </p:nvCxnSpPr>
          <p:spPr bwMode="auto">
            <a:xfrm>
              <a:off x="1719263" y="3524250"/>
              <a:ext cx="3019425" cy="9525"/>
            </a:xfrm>
            <a:prstGeom prst="straightConnector1">
              <a:avLst/>
            </a:prstGeom>
            <a:noFill/>
            <a:ln w="19050" cap="flat" cmpd="sng" algn="ctr">
              <a:solidFill>
                <a:schemeClr val="accent1">
                  <a:lumMod val="75000"/>
                </a:schemeClr>
              </a:solidFill>
              <a:prstDash val="dash"/>
              <a:round/>
              <a:headEnd type="none" w="med" len="med"/>
              <a:tailEnd type="arrow"/>
            </a:ln>
            <a:effectLst/>
          </p:spPr>
        </p:cxnSp>
        <p:cxnSp>
          <p:nvCxnSpPr>
            <p:cNvPr id="12" name="Straight Arrow Connector 11"/>
            <p:cNvCxnSpPr/>
            <p:nvPr/>
          </p:nvCxnSpPr>
          <p:spPr bwMode="auto">
            <a:xfrm>
              <a:off x="1447800" y="2466975"/>
              <a:ext cx="2695575" cy="9525"/>
            </a:xfrm>
            <a:prstGeom prst="straightConnector1">
              <a:avLst/>
            </a:prstGeom>
            <a:noFill/>
            <a:ln w="19050" cap="flat" cmpd="sng" algn="ctr">
              <a:solidFill>
                <a:schemeClr val="accent1">
                  <a:lumMod val="75000"/>
                </a:schemeClr>
              </a:solidFill>
              <a:prstDash val="dash"/>
              <a:round/>
              <a:headEnd type="none" w="med" len="med"/>
              <a:tailEnd type="arrow"/>
            </a:ln>
            <a:effectLst/>
          </p:spPr>
        </p:cxnSp>
        <p:cxnSp>
          <p:nvCxnSpPr>
            <p:cNvPr id="14" name="Straight Arrow Connector 13"/>
            <p:cNvCxnSpPr/>
            <p:nvPr/>
          </p:nvCxnSpPr>
          <p:spPr bwMode="auto">
            <a:xfrm>
              <a:off x="1857375" y="3905250"/>
              <a:ext cx="2895600" cy="28575"/>
            </a:xfrm>
            <a:prstGeom prst="straightConnector1">
              <a:avLst/>
            </a:prstGeom>
            <a:noFill/>
            <a:ln w="19050" cap="flat" cmpd="sng" algn="ctr">
              <a:solidFill>
                <a:schemeClr val="accent1">
                  <a:lumMod val="75000"/>
                </a:schemeClr>
              </a:solidFill>
              <a:prstDash val="dash"/>
              <a:round/>
              <a:headEnd type="none" w="med" len="med"/>
              <a:tailEnd type="arrow"/>
            </a:ln>
            <a:effectLst/>
          </p:spPr>
        </p:cxnSp>
      </p:grpSp>
      <p:sp>
        <p:nvSpPr>
          <p:cNvPr id="17" name="Text Box 120"/>
          <p:cNvSpPr txBox="1">
            <a:spLocks noChangeArrowheads="1"/>
          </p:cNvSpPr>
          <p:nvPr/>
        </p:nvSpPr>
        <p:spPr bwMode="auto">
          <a:xfrm>
            <a:off x="381000" y="392113"/>
            <a:ext cx="7170553" cy="461665"/>
          </a:xfrm>
          <a:prstGeom prst="rect">
            <a:avLst/>
          </a:prstGeom>
          <a:noFill/>
          <a:ln w="9525">
            <a:noFill/>
            <a:miter lim="800000"/>
            <a:headEnd/>
            <a:tailEnd/>
          </a:ln>
        </p:spPr>
        <p:txBody>
          <a:bodyPr wrap="none">
            <a:spAutoFit/>
          </a:bodyPr>
          <a:lstStyle/>
          <a:p>
            <a:r>
              <a:rPr lang="en-GB" sz="2400" b="1" dirty="0"/>
              <a:t>Basic Principles for Moving Elements in Images</a:t>
            </a:r>
            <a:endParaRPr lang="en-GB" sz="2400" dirty="0"/>
          </a:p>
        </p:txBody>
      </p:sp>
      <p:sp>
        <p:nvSpPr>
          <p:cNvPr id="13" name="TextBox 12"/>
          <p:cNvSpPr txBox="1"/>
          <p:nvPr/>
        </p:nvSpPr>
        <p:spPr>
          <a:xfrm>
            <a:off x="609599" y="4086225"/>
            <a:ext cx="2943226" cy="830997"/>
          </a:xfrm>
          <a:prstGeom prst="rect">
            <a:avLst/>
          </a:prstGeom>
          <a:noFill/>
        </p:spPr>
        <p:txBody>
          <a:bodyPr wrap="square" rtlCol="0">
            <a:spAutoFit/>
          </a:bodyPr>
          <a:lstStyle/>
          <a:p>
            <a:pPr algn="ctr"/>
            <a:r>
              <a:rPr lang="en-GB" dirty="0"/>
              <a:t>Blocks Identical or nearly-identical in following frames</a:t>
            </a:r>
          </a:p>
        </p:txBody>
      </p:sp>
      <p:sp>
        <p:nvSpPr>
          <p:cNvPr id="19" name="TextBox 18"/>
          <p:cNvSpPr txBox="1"/>
          <p:nvPr/>
        </p:nvSpPr>
        <p:spPr>
          <a:xfrm>
            <a:off x="4552949" y="4076700"/>
            <a:ext cx="3533776" cy="1785104"/>
          </a:xfrm>
          <a:prstGeom prst="rect">
            <a:avLst/>
          </a:prstGeom>
          <a:noFill/>
        </p:spPr>
        <p:txBody>
          <a:bodyPr wrap="square" rtlCol="0">
            <a:spAutoFit/>
          </a:bodyPr>
          <a:lstStyle/>
          <a:p>
            <a:pPr algn="ctr"/>
            <a:r>
              <a:rPr lang="en-GB" dirty="0"/>
              <a:t>Blocks with </a:t>
            </a:r>
            <a:r>
              <a:rPr lang="en-GB" b="1" i="1" dirty="0"/>
              <a:t>nearly*</a:t>
            </a:r>
            <a:r>
              <a:rPr lang="en-GB" dirty="0"/>
              <a:t> identical characteristics are replicated; spatial displacement is coded with a </a:t>
            </a:r>
            <a:r>
              <a:rPr lang="en-GB" i="1" dirty="0"/>
              <a:t>motion vector</a:t>
            </a:r>
          </a:p>
          <a:p>
            <a:pPr algn="ctr"/>
            <a:endParaRPr lang="en-GB" sz="1400" dirty="0"/>
          </a:p>
          <a:p>
            <a:pPr algn="ctr"/>
            <a:r>
              <a:rPr lang="en-GB" sz="1400" dirty="0"/>
              <a:t>*we’ll deal with the “</a:t>
            </a:r>
            <a:r>
              <a:rPr lang="en-GB" sz="1400" i="1" dirty="0"/>
              <a:t>nearly” </a:t>
            </a:r>
            <a:r>
              <a:rPr lang="en-GB" sz="1400" dirty="0"/>
              <a:t>part shortly …</a:t>
            </a:r>
            <a:endParaRPr lang="en-GB" sz="1400" i="1" dirty="0"/>
          </a:p>
        </p:txBody>
      </p:sp>
    </p:spTree>
    <p:extLst>
      <p:ext uri="{BB962C8B-B14F-4D97-AF65-F5344CB8AC3E}">
        <p14:creationId xmlns:p14="http://schemas.microsoft.com/office/powerpoint/2010/main" val="3538092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381000" y="1495425"/>
            <a:ext cx="8437563" cy="3978275"/>
          </a:xfrm>
          <a:prstGeom prst="rect">
            <a:avLst/>
          </a:prstGeom>
          <a:noFill/>
          <a:ln w="9525" algn="ctr">
            <a:noFill/>
            <a:miter lim="800000"/>
            <a:headEnd/>
            <a:tailEnd/>
          </a:ln>
        </p:spPr>
      </p:pic>
      <p:sp>
        <p:nvSpPr>
          <p:cNvPr id="28675" name="Rectangle 2"/>
          <p:cNvSpPr>
            <a:spLocks noChangeArrowheads="1"/>
          </p:cNvSpPr>
          <p:nvPr/>
        </p:nvSpPr>
        <p:spPr bwMode="auto">
          <a:xfrm>
            <a:off x="382588" y="392113"/>
            <a:ext cx="2889250" cy="461962"/>
          </a:xfrm>
          <a:prstGeom prst="rect">
            <a:avLst/>
          </a:prstGeom>
          <a:noFill/>
          <a:ln w="9525">
            <a:noFill/>
            <a:miter lim="800000"/>
            <a:headEnd/>
            <a:tailEnd/>
          </a:ln>
        </p:spPr>
        <p:txBody>
          <a:bodyPr wrap="none">
            <a:spAutoFit/>
          </a:bodyPr>
          <a:lstStyle/>
          <a:p>
            <a:r>
              <a:rPr lang="en-GB" sz="2400" b="1" dirty="0"/>
              <a:t>Difference Coding</a:t>
            </a:r>
          </a:p>
        </p:txBody>
      </p:sp>
      <p:sp>
        <p:nvSpPr>
          <p:cNvPr id="28676" name="TextBox 3"/>
          <p:cNvSpPr txBox="1">
            <a:spLocks noChangeArrowheads="1"/>
          </p:cNvSpPr>
          <p:nvPr/>
        </p:nvSpPr>
        <p:spPr bwMode="auto">
          <a:xfrm>
            <a:off x="381000" y="873125"/>
            <a:ext cx="7346950" cy="585788"/>
          </a:xfrm>
          <a:prstGeom prst="rect">
            <a:avLst/>
          </a:prstGeom>
          <a:noFill/>
          <a:ln w="9525">
            <a:noFill/>
            <a:miter lim="800000"/>
            <a:headEnd/>
            <a:tailEnd/>
          </a:ln>
        </p:spPr>
        <p:txBody>
          <a:bodyPr>
            <a:spAutoFit/>
          </a:bodyPr>
          <a:lstStyle/>
          <a:p>
            <a:r>
              <a:rPr lang="en-GB" dirty="0"/>
              <a:t>Amount of information in the difference between the two frames is a lot less than in Frame 2</a:t>
            </a:r>
          </a:p>
        </p:txBody>
      </p:sp>
      <p:sp>
        <p:nvSpPr>
          <p:cNvPr id="28677" name="TextBox 4"/>
          <p:cNvSpPr txBox="1">
            <a:spLocks noChangeArrowheads="1"/>
          </p:cNvSpPr>
          <p:nvPr/>
        </p:nvSpPr>
        <p:spPr bwMode="auto">
          <a:xfrm>
            <a:off x="381000" y="4147245"/>
            <a:ext cx="5518638" cy="2308324"/>
          </a:xfrm>
          <a:prstGeom prst="rect">
            <a:avLst/>
          </a:prstGeom>
          <a:noFill/>
          <a:ln w="9525">
            <a:noFill/>
            <a:miter lim="800000"/>
            <a:headEnd/>
            <a:tailEnd/>
          </a:ln>
        </p:spPr>
        <p:txBody>
          <a:bodyPr wrap="square">
            <a:spAutoFit/>
          </a:bodyPr>
          <a:lstStyle/>
          <a:p>
            <a:pPr marL="180975" indent="-180975">
              <a:buFont typeface="Arial" charset="0"/>
              <a:buChar char="•"/>
            </a:pPr>
            <a:r>
              <a:rPr lang="en-GB" dirty="0"/>
              <a:t>motion in the scene will increase the differences</a:t>
            </a:r>
          </a:p>
          <a:p>
            <a:pPr marL="180975" indent="-180975">
              <a:buFont typeface="Arial" charset="0"/>
              <a:buChar char="•"/>
            </a:pPr>
            <a:r>
              <a:rPr lang="en-GB" dirty="0"/>
              <a:t>analyse motion </a:t>
            </a:r>
          </a:p>
          <a:p>
            <a:pPr marL="180975" lvl="1"/>
            <a:r>
              <a:rPr lang="en-GB" dirty="0"/>
              <a:t>… where each block moved since previous frame</a:t>
            </a:r>
          </a:p>
          <a:p>
            <a:pPr marL="361950" lvl="1" indent="-180975">
              <a:buFont typeface="Arial" charset="0"/>
              <a:buChar char="•"/>
            </a:pPr>
            <a:r>
              <a:rPr lang="en-GB" dirty="0"/>
              <a:t>encode motion as vector - </a:t>
            </a:r>
          </a:p>
          <a:p>
            <a:pPr marL="638175" lvl="2"/>
            <a:r>
              <a:rPr lang="en-GB" dirty="0"/>
              <a:t>x- and y- direction vectors</a:t>
            </a:r>
          </a:p>
          <a:p>
            <a:pPr marL="361950" lvl="1" indent="-180975">
              <a:buFont typeface="Arial" charset="0"/>
              <a:buChar char="•"/>
            </a:pPr>
            <a:r>
              <a:rPr lang="en-GB" dirty="0"/>
              <a:t>encode differences for the moved block like a jpg, </a:t>
            </a:r>
          </a:p>
          <a:p>
            <a:pPr marL="180975" lvl="1"/>
            <a:r>
              <a:rPr lang="en-GB" dirty="0"/>
              <a:t>	</a:t>
            </a:r>
            <a:r>
              <a:rPr lang="en-GB" sz="1200" dirty="0"/>
              <a:t>i.e. DCT, quantization, RLE (zig-</a:t>
            </a:r>
            <a:r>
              <a:rPr lang="en-GB" sz="1200" dirty="0" err="1"/>
              <a:t>zag</a:t>
            </a:r>
            <a:r>
              <a:rPr lang="en-GB" sz="1200" dirty="0"/>
              <a:t>), Huffman</a:t>
            </a:r>
          </a:p>
          <a:p>
            <a:pPr marL="180975" lvl="1"/>
            <a:r>
              <a:rPr lang="en-GB" i="1" dirty="0"/>
              <a:t>(… but this jpeg is very simple to encode due to little changed information in the image)</a:t>
            </a:r>
          </a:p>
        </p:txBody>
      </p:sp>
      <p:sp>
        <p:nvSpPr>
          <p:cNvPr id="28678" name="Rectangle 5"/>
          <p:cNvSpPr>
            <a:spLocks noChangeArrowheads="1"/>
          </p:cNvSpPr>
          <p:nvPr/>
        </p:nvSpPr>
        <p:spPr bwMode="auto">
          <a:xfrm>
            <a:off x="5826125" y="6348413"/>
            <a:ext cx="3317875" cy="214312"/>
          </a:xfrm>
          <a:prstGeom prst="rect">
            <a:avLst/>
          </a:prstGeom>
          <a:solidFill>
            <a:schemeClr val="accent6">
              <a:lumMod val="40000"/>
              <a:lumOff val="60000"/>
            </a:schemeClr>
          </a:solidFill>
          <a:ln w="9525">
            <a:noFill/>
            <a:miter lim="800000"/>
            <a:headEnd/>
            <a:tailEnd/>
          </a:ln>
        </p:spPr>
        <p:txBody>
          <a:bodyPr>
            <a:spAutoFit/>
          </a:bodyPr>
          <a:lstStyle/>
          <a:p>
            <a:r>
              <a:rPr lang="en-GB" sz="800" dirty="0"/>
              <a:t>see - </a:t>
            </a:r>
            <a:r>
              <a:rPr lang="en-GB" sz="800" dirty="0">
                <a:hlinkClick r:id="rId3"/>
              </a:rPr>
              <a:t>http://www.cs.ucl.ac.uk/teaching/GZ05/08-h261.pdf</a:t>
            </a:r>
            <a:r>
              <a:rPr lang="en-GB" sz="800" dirty="0"/>
              <a:t> </a:t>
            </a:r>
          </a:p>
        </p:txBody>
      </p:sp>
      <p:cxnSp>
        <p:nvCxnSpPr>
          <p:cNvPr id="3" name="Straight Arrow Connector 2"/>
          <p:cNvCxnSpPr/>
          <p:nvPr/>
        </p:nvCxnSpPr>
        <p:spPr bwMode="auto">
          <a:xfrm flipV="1">
            <a:off x="5565531" y="5418382"/>
            <a:ext cx="1248507" cy="534010"/>
          </a:xfrm>
          <a:prstGeom prst="straightConnector1">
            <a:avLst/>
          </a:prstGeom>
          <a:noFill/>
          <a:ln w="9525" cap="flat" cmpd="sng" algn="ctr">
            <a:solidFill>
              <a:schemeClr val="tx1"/>
            </a:solidFill>
            <a:prstDash val="solid"/>
            <a:round/>
            <a:headEnd type="none" w="med" len="med"/>
            <a:tailEnd type="triangle"/>
          </a:ln>
          <a:effectLst/>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288" y="908720"/>
            <a:ext cx="8378825" cy="4339650"/>
          </a:xfrm>
          <a:prstGeom prst="rect">
            <a:avLst/>
          </a:prstGeom>
          <a:noFill/>
        </p:spPr>
        <p:txBody>
          <a:bodyPr wrap="square" rtlCol="0">
            <a:spAutoFit/>
          </a:bodyPr>
          <a:lstStyle/>
          <a:p>
            <a:r>
              <a:rPr lang="en-GB" sz="9600" dirty="0">
                <a:latin typeface="Lucida Sans Unicode" pitchFamily="34" charset="0"/>
                <a:cs typeface="Lucida Sans Unicode" pitchFamily="34" charset="0"/>
              </a:rPr>
              <a:t>Streaming</a:t>
            </a:r>
          </a:p>
          <a:p>
            <a:pPr marL="541338" indent="-541338">
              <a:buFont typeface="Arial" pitchFamily="34" charset="0"/>
              <a:buChar char="•"/>
            </a:pPr>
            <a:r>
              <a:rPr lang="en-GB" sz="6000" dirty="0">
                <a:latin typeface="Lucida Sans Unicode" pitchFamily="34" charset="0"/>
                <a:cs typeface="Lucida Sans Unicode" pitchFamily="34" charset="0"/>
              </a:rPr>
              <a:t>HTTP, HLS</a:t>
            </a:r>
          </a:p>
          <a:p>
            <a:pPr marL="998538" lvl="1" indent="-541338">
              <a:buFont typeface="Arial" pitchFamily="34" charset="0"/>
              <a:buChar char="•"/>
            </a:pPr>
            <a:r>
              <a:rPr lang="en-GB" sz="6000" dirty="0">
                <a:latin typeface="Lucida Sans Unicode" pitchFamily="34" charset="0"/>
                <a:cs typeface="Lucida Sans Unicode" pitchFamily="34" charset="0"/>
              </a:rPr>
              <a:t>MPEG-DASH</a:t>
            </a:r>
          </a:p>
          <a:p>
            <a:pPr marL="541338" indent="-541338">
              <a:buFont typeface="Arial" pitchFamily="34" charset="0"/>
              <a:buChar char="•"/>
            </a:pPr>
            <a:r>
              <a:rPr lang="en-GB" sz="6000" dirty="0">
                <a:latin typeface="Lucida Sans Unicode" pitchFamily="34" charset="0"/>
                <a:cs typeface="Lucida Sans Unicode" pitchFamily="34" charset="0"/>
              </a:rPr>
              <a:t>RTP/RTSP</a:t>
            </a:r>
          </a:p>
        </p:txBody>
      </p:sp>
    </p:spTree>
    <p:extLst>
      <p:ext uri="{BB962C8B-B14F-4D97-AF65-F5344CB8AC3E}">
        <p14:creationId xmlns:p14="http://schemas.microsoft.com/office/powerpoint/2010/main" val="1310796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288" y="1223755"/>
            <a:ext cx="8114196" cy="1567096"/>
          </a:xfrm>
          <a:prstGeom prst="rect">
            <a:avLst/>
          </a:prstGeom>
        </p:spPr>
        <p:txBody>
          <a:bodyPr wrap="square">
            <a:spAutoFit/>
          </a:bodyPr>
          <a:lstStyle/>
          <a:p>
            <a:pPr marL="177800" indent="-177800">
              <a:lnSpc>
                <a:spcPts val="2300"/>
              </a:lnSpc>
            </a:pPr>
            <a:r>
              <a:rPr lang="en-GB" sz="1600" b="1" dirty="0"/>
              <a:t>The original solution for streaming</a:t>
            </a:r>
          </a:p>
          <a:p>
            <a:pPr lvl="1">
              <a:lnSpc>
                <a:spcPts val="2300"/>
              </a:lnSpc>
            </a:pPr>
            <a:r>
              <a:rPr lang="en-GB" sz="1600" dirty="0"/>
              <a:t>... overtaken by RTP/RTSP based for large IPTV deployments</a:t>
            </a:r>
          </a:p>
          <a:p>
            <a:pPr lvl="1">
              <a:lnSpc>
                <a:spcPts val="2300"/>
              </a:lnSpc>
            </a:pPr>
            <a:r>
              <a:rPr lang="en-GB" sz="1600" dirty="0"/>
              <a:t>	... more recently back in favour</a:t>
            </a:r>
          </a:p>
          <a:p>
            <a:pPr lvl="1">
              <a:lnSpc>
                <a:spcPts val="2300"/>
              </a:lnSpc>
            </a:pPr>
            <a:endParaRPr lang="en-GB" sz="1600" dirty="0"/>
          </a:p>
          <a:p>
            <a:pPr marL="177800" indent="-177800">
              <a:lnSpc>
                <a:spcPts val="2300"/>
              </a:lnSpc>
              <a:buFont typeface="Arial" pitchFamily="34" charset="0"/>
              <a:buChar char="•"/>
            </a:pPr>
            <a:r>
              <a:rPr lang="en-GB" sz="1600" dirty="0"/>
              <a:t>used generic HTTP servers (often based on Apache or Windows Server) </a:t>
            </a:r>
          </a:p>
        </p:txBody>
      </p:sp>
      <p:sp>
        <p:nvSpPr>
          <p:cNvPr id="3" name="TextBox 2"/>
          <p:cNvSpPr txBox="1"/>
          <p:nvPr/>
        </p:nvSpPr>
        <p:spPr>
          <a:xfrm>
            <a:off x="395288" y="331788"/>
            <a:ext cx="7389469" cy="461665"/>
          </a:xfrm>
          <a:prstGeom prst="rect">
            <a:avLst/>
          </a:prstGeom>
          <a:noFill/>
        </p:spPr>
        <p:txBody>
          <a:bodyPr wrap="square" rtlCol="0">
            <a:spAutoFit/>
          </a:bodyPr>
          <a:lstStyle/>
          <a:p>
            <a:pPr marL="180975" indent="-180975"/>
            <a:r>
              <a:rPr lang="en-GB" sz="2400" b="1" dirty="0"/>
              <a:t>HTTP Streaming</a:t>
            </a:r>
          </a:p>
        </p:txBody>
      </p:sp>
      <p:sp>
        <p:nvSpPr>
          <p:cNvPr id="4" name="Rectangle 3"/>
          <p:cNvSpPr/>
          <p:nvPr/>
        </p:nvSpPr>
        <p:spPr>
          <a:xfrm>
            <a:off x="395288" y="3248980"/>
            <a:ext cx="8002137" cy="2157001"/>
          </a:xfrm>
          <a:prstGeom prst="rect">
            <a:avLst/>
          </a:prstGeom>
        </p:spPr>
        <p:txBody>
          <a:bodyPr wrap="square">
            <a:spAutoFit/>
          </a:bodyPr>
          <a:lstStyle/>
          <a:p>
            <a:pPr marL="179388" indent="-179388">
              <a:lnSpc>
                <a:spcPts val="2300"/>
              </a:lnSpc>
            </a:pPr>
            <a:r>
              <a:rPr lang="en-GB" sz="1600" b="1" dirty="0"/>
              <a:t>Early days </a:t>
            </a:r>
          </a:p>
          <a:p>
            <a:pPr marL="182563" indent="-182563">
              <a:lnSpc>
                <a:spcPts val="2300"/>
              </a:lnSpc>
              <a:buFont typeface="Arial" pitchFamily="34" charset="0"/>
              <a:buChar char="•"/>
            </a:pPr>
            <a:r>
              <a:rPr lang="en-GB" sz="1600" dirty="0"/>
              <a:t>Limited bandwidth available </a:t>
            </a:r>
          </a:p>
          <a:p>
            <a:pPr marL="638175" lvl="2" indent="-179388">
              <a:lnSpc>
                <a:spcPts val="2300"/>
              </a:lnSpc>
              <a:buFont typeface="Arial" pitchFamily="34" charset="0"/>
              <a:buChar char="•"/>
            </a:pPr>
            <a:r>
              <a:rPr lang="en-GB" sz="1600" dirty="0"/>
              <a:t>“Download and play”  </a:t>
            </a:r>
          </a:p>
          <a:p>
            <a:pPr marL="1273175" lvl="4" indent="-179388">
              <a:lnSpc>
                <a:spcPts val="2300"/>
              </a:lnSpc>
              <a:buFont typeface="Arial" pitchFamily="34" charset="0"/>
              <a:buChar char="•"/>
            </a:pPr>
            <a:r>
              <a:rPr lang="en-GB" sz="1600" dirty="0"/>
              <a:t>no </a:t>
            </a:r>
            <a:r>
              <a:rPr lang="en-GB" sz="1600" i="1" dirty="0" err="1"/>
              <a:t>lookahead</a:t>
            </a:r>
            <a:r>
              <a:rPr lang="en-GB" sz="1600" i="1" dirty="0"/>
              <a:t> seeking  </a:t>
            </a:r>
            <a:r>
              <a:rPr lang="en-GB" sz="1600" dirty="0"/>
              <a:t>or random access</a:t>
            </a:r>
          </a:p>
          <a:p>
            <a:pPr marL="914400" lvl="3" indent="-277813">
              <a:lnSpc>
                <a:spcPts val="2300"/>
              </a:lnSpc>
              <a:buFont typeface="Arial" pitchFamily="34" charset="0"/>
              <a:buChar char="•"/>
            </a:pPr>
            <a:r>
              <a:rPr lang="en-GB" sz="1600" dirty="0"/>
              <a:t>Multiple viewers – server bandwidth issues</a:t>
            </a:r>
          </a:p>
          <a:p>
            <a:pPr marL="180975" indent="-179388">
              <a:lnSpc>
                <a:spcPts val="2300"/>
              </a:lnSpc>
              <a:buFont typeface="Arial" pitchFamily="34" charset="0"/>
              <a:buChar char="•"/>
            </a:pPr>
            <a:endParaRPr lang="en-GB" sz="1600" dirty="0"/>
          </a:p>
          <a:p>
            <a:pPr marL="180975" indent="-179388">
              <a:lnSpc>
                <a:spcPts val="2300"/>
              </a:lnSpc>
              <a:buFont typeface="Arial" pitchFamily="34" charset="0"/>
              <a:buChar char="•"/>
            </a:pPr>
            <a:r>
              <a:rPr lang="en-GB" sz="1600" dirty="0"/>
              <a:t>Apple introduce progressive download</a:t>
            </a:r>
          </a:p>
        </p:txBody>
      </p:sp>
    </p:spTree>
    <p:extLst>
      <p:ext uri="{BB962C8B-B14F-4D97-AF65-F5344CB8AC3E}">
        <p14:creationId xmlns:p14="http://schemas.microsoft.com/office/powerpoint/2010/main" val="3749228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813645"/>
            <a:ext cx="8090342" cy="3029676"/>
          </a:xfrm>
          <a:prstGeom prst="rect">
            <a:avLst/>
          </a:prstGeom>
        </p:spPr>
        <p:txBody>
          <a:bodyPr wrap="square">
            <a:spAutoFit/>
          </a:bodyPr>
          <a:lstStyle/>
          <a:p>
            <a:pPr marL="179388" indent="-179388">
              <a:lnSpc>
                <a:spcPts val="2300"/>
              </a:lnSpc>
            </a:pPr>
            <a:r>
              <a:rPr lang="en-GB" sz="1600" b="1" dirty="0"/>
              <a:t>HTTP server/client – </a:t>
            </a:r>
            <a:r>
              <a:rPr lang="en-GB" sz="1600" b="1" i="1" dirty="0"/>
              <a:t>stateless</a:t>
            </a:r>
          </a:p>
          <a:p>
            <a:pPr marL="182563" lvl="1" indent="-182563">
              <a:lnSpc>
                <a:spcPts val="2300"/>
              </a:lnSpc>
              <a:buFont typeface="Arial" pitchFamily="34" charset="0"/>
              <a:buChar char="•"/>
            </a:pPr>
            <a:r>
              <a:rPr lang="en-GB" sz="1600" dirty="0"/>
              <a:t>HTTP-streaming: retrieves consecutive short chunks on as-needed basis</a:t>
            </a:r>
          </a:p>
          <a:p>
            <a:pPr marL="895350" lvl="3" indent="-182563">
              <a:lnSpc>
                <a:spcPts val="2300"/>
              </a:lnSpc>
              <a:buFont typeface="Arial" pitchFamily="34" charset="0"/>
              <a:buChar char="•"/>
            </a:pPr>
            <a:r>
              <a:rPr lang="en-GB" sz="1600" dirty="0"/>
              <a:t>little waste (the video is delivered as it is watched) </a:t>
            </a:r>
          </a:p>
          <a:p>
            <a:pPr marL="895350" lvl="5" indent="-182563">
              <a:lnSpc>
                <a:spcPts val="2300"/>
              </a:lnSpc>
              <a:buFont typeface="Arial" pitchFamily="34" charset="0"/>
              <a:buChar char="•"/>
            </a:pPr>
            <a:r>
              <a:rPr lang="en-GB" sz="1600" dirty="0"/>
              <a:t>server efficiently serves more streams</a:t>
            </a:r>
          </a:p>
          <a:p>
            <a:pPr marL="895350" lvl="3" indent="-182563">
              <a:lnSpc>
                <a:spcPts val="2300"/>
              </a:lnSpc>
              <a:buFont typeface="Arial" pitchFamily="34" charset="0"/>
              <a:buChar char="•"/>
            </a:pPr>
            <a:r>
              <a:rPr lang="en-GB" sz="1600" dirty="0"/>
              <a:t>Random seeking</a:t>
            </a:r>
          </a:p>
          <a:p>
            <a:pPr marL="1169987" lvl="4">
              <a:lnSpc>
                <a:spcPts val="2300"/>
              </a:lnSpc>
            </a:pPr>
            <a:r>
              <a:rPr lang="en-GB" sz="1600" dirty="0"/>
              <a:t>(viewer selects – player retrieves the appropriate chunks)</a:t>
            </a:r>
          </a:p>
          <a:p>
            <a:pPr marL="895350" lvl="2" indent="-182563">
              <a:lnSpc>
                <a:spcPts val="2300"/>
              </a:lnSpc>
              <a:buFont typeface="Arial" pitchFamily="34" charset="0"/>
              <a:buChar char="•"/>
            </a:pPr>
            <a:r>
              <a:rPr lang="en-GB" sz="1600" dirty="0"/>
              <a:t>firewall friendly </a:t>
            </a:r>
          </a:p>
          <a:p>
            <a:pPr marL="895350" lvl="2" indent="-182563">
              <a:lnSpc>
                <a:spcPts val="2300"/>
              </a:lnSpc>
              <a:buFont typeface="Arial" pitchFamily="34" charset="0"/>
              <a:buChar char="•"/>
            </a:pPr>
            <a:r>
              <a:rPr lang="en-GB" sz="1600" dirty="0"/>
              <a:t>can utilise HTTP caching mechanisms</a:t>
            </a:r>
          </a:p>
          <a:p>
            <a:pPr marL="895350" lvl="2" indent="-182563">
              <a:lnSpc>
                <a:spcPts val="2300"/>
              </a:lnSpc>
              <a:buFont typeface="Arial" pitchFamily="34" charset="0"/>
              <a:buChar char="•"/>
            </a:pPr>
            <a:r>
              <a:rPr lang="en-GB" sz="1600" dirty="0"/>
              <a:t>less expensive to implement (no streaming server required)</a:t>
            </a:r>
          </a:p>
          <a:p>
            <a:pPr marL="895350" lvl="3" indent="-182563">
              <a:lnSpc>
                <a:spcPts val="2300"/>
              </a:lnSpc>
              <a:buFont typeface="Arial" pitchFamily="34" charset="0"/>
              <a:buChar char="•"/>
            </a:pPr>
            <a:r>
              <a:rPr lang="en-GB" sz="1600" dirty="0"/>
              <a:t>scale more cheaply and effectively to serve available users</a:t>
            </a:r>
            <a:endParaRPr lang="en-GB" sz="1600" b="1" dirty="0">
              <a:latin typeface="Lucida Sans Unicode" pitchFamily="34" charset="0"/>
            </a:endParaRPr>
          </a:p>
        </p:txBody>
      </p:sp>
      <p:sp>
        <p:nvSpPr>
          <p:cNvPr id="3" name="Rectangle 2"/>
          <p:cNvSpPr/>
          <p:nvPr/>
        </p:nvSpPr>
        <p:spPr>
          <a:xfrm>
            <a:off x="393700" y="331788"/>
            <a:ext cx="8079456" cy="461665"/>
          </a:xfrm>
          <a:prstGeom prst="rect">
            <a:avLst/>
          </a:prstGeom>
        </p:spPr>
        <p:txBody>
          <a:bodyPr wrap="none">
            <a:spAutoFit/>
          </a:bodyPr>
          <a:lstStyle/>
          <a:p>
            <a:r>
              <a:rPr lang="en-GB" sz="2400" b="1" dirty="0"/>
              <a:t>Streaming Media Protocols </a:t>
            </a:r>
            <a:r>
              <a:rPr lang="en-GB" sz="2000" b="1" dirty="0"/>
              <a:t>– HTTP addresses RTMP Issues</a:t>
            </a:r>
            <a:endParaRPr lang="en-GB" sz="2000" dirty="0"/>
          </a:p>
        </p:txBody>
      </p:sp>
      <p:sp>
        <p:nvSpPr>
          <p:cNvPr id="4" name="Rectangle 3"/>
          <p:cNvSpPr/>
          <p:nvPr/>
        </p:nvSpPr>
        <p:spPr>
          <a:xfrm>
            <a:off x="395288" y="4329100"/>
            <a:ext cx="8465581" cy="1538883"/>
          </a:xfrm>
          <a:prstGeom prst="rect">
            <a:avLst/>
          </a:prstGeom>
          <a:solidFill>
            <a:srgbClr val="FFFFCC"/>
          </a:solidFill>
        </p:spPr>
        <p:txBody>
          <a:bodyPr wrap="square">
            <a:spAutoFit/>
          </a:bodyPr>
          <a:lstStyle/>
          <a:p>
            <a:pPr>
              <a:lnSpc>
                <a:spcPct val="150000"/>
              </a:lnSpc>
            </a:pPr>
            <a:r>
              <a:rPr lang="en-GB" sz="1600" b="1" dirty="0"/>
              <a:t>RTMP/RTSP/HTTP – state of the market</a:t>
            </a:r>
          </a:p>
          <a:p>
            <a:pPr marL="182563" indent="-182563">
              <a:lnSpc>
                <a:spcPct val="150000"/>
              </a:lnSpc>
              <a:buFont typeface="Arial" pitchFamily="34" charset="0"/>
              <a:buChar char="•"/>
            </a:pPr>
            <a:r>
              <a:rPr lang="en-GB" sz="1600" dirty="0"/>
              <a:t>little impetus for RTMP/RTSP sites to change –still widely used</a:t>
            </a:r>
          </a:p>
          <a:p>
            <a:pPr marL="179388" indent="-179388">
              <a:lnSpc>
                <a:spcPct val="150000"/>
              </a:lnSpc>
              <a:buFont typeface="Arial" pitchFamily="34" charset="0"/>
              <a:buChar char="•"/>
            </a:pPr>
            <a:r>
              <a:rPr lang="en-GB" sz="1600" dirty="0"/>
              <a:t>new installations - overwhelming view – HTTP</a:t>
            </a:r>
          </a:p>
          <a:p>
            <a:pPr marL="179388" indent="-179388">
              <a:lnSpc>
                <a:spcPct val="150000"/>
              </a:lnSpc>
              <a:buFont typeface="Arial" pitchFamily="34" charset="0"/>
              <a:buChar char="•"/>
            </a:pPr>
            <a:r>
              <a:rPr lang="en-GB" sz="1600" dirty="0"/>
              <a:t>in fact most video content is delivered via plain old HTTP </a:t>
            </a:r>
            <a:r>
              <a:rPr lang="en-GB" sz="1600" i="1" dirty="0"/>
              <a:t>progressive download</a:t>
            </a:r>
          </a:p>
        </p:txBody>
      </p:sp>
    </p:spTree>
    <p:extLst>
      <p:ext uri="{BB962C8B-B14F-4D97-AF65-F5344CB8AC3E}">
        <p14:creationId xmlns:p14="http://schemas.microsoft.com/office/powerpoint/2010/main" val="4897795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4283" y="1043735"/>
            <a:ext cx="1027368" cy="720080"/>
          </a:xfrm>
          <a:prstGeom prst="rect">
            <a:avLst/>
          </a:prstGeom>
          <a:solidFill>
            <a:schemeClr val="accent5">
              <a:lumMod val="20000"/>
              <a:lumOff val="80000"/>
            </a:schemeClr>
          </a:solidFill>
          <a:ln>
            <a:solidFill>
              <a:schemeClr val="accent1"/>
            </a:solidFill>
          </a:ln>
        </p:spPr>
        <p:txBody>
          <a:bodyPr wrap="square" rtlCol="0">
            <a:noAutofit/>
          </a:bodyPr>
          <a:lstStyle/>
          <a:p>
            <a:pPr algn="ctr"/>
            <a:endParaRPr lang="en-GB" sz="1600">
              <a:latin typeface="Lucida Sans Unicode" pitchFamily="34" charset="0"/>
            </a:endParaRPr>
          </a:p>
          <a:p>
            <a:pPr algn="ctr"/>
            <a:r>
              <a:rPr lang="en-GB" sz="1600">
                <a:latin typeface="Lucida Sans Unicode" pitchFamily="34" charset="0"/>
              </a:rPr>
              <a:t>Client</a:t>
            </a:r>
            <a:endParaRPr lang="en-GB" sz="1600" dirty="0">
              <a:latin typeface="Lucida Sans Unicode" pitchFamily="34" charset="0"/>
            </a:endParaRPr>
          </a:p>
        </p:txBody>
      </p:sp>
      <p:sp>
        <p:nvSpPr>
          <p:cNvPr id="3" name="TextBox 2"/>
          <p:cNvSpPr txBox="1"/>
          <p:nvPr/>
        </p:nvSpPr>
        <p:spPr>
          <a:xfrm>
            <a:off x="4058316" y="1043735"/>
            <a:ext cx="1027368" cy="720080"/>
          </a:xfrm>
          <a:prstGeom prst="rect">
            <a:avLst/>
          </a:prstGeom>
          <a:solidFill>
            <a:schemeClr val="accent5">
              <a:lumMod val="20000"/>
              <a:lumOff val="80000"/>
            </a:schemeClr>
          </a:solidFill>
          <a:ln>
            <a:solidFill>
              <a:schemeClr val="accent1"/>
            </a:solidFill>
          </a:ln>
        </p:spPr>
        <p:txBody>
          <a:bodyPr wrap="square" rtlCol="0">
            <a:noAutofit/>
          </a:bodyPr>
          <a:lstStyle/>
          <a:p>
            <a:pPr algn="ctr"/>
            <a:endParaRPr lang="en-GB" sz="1600">
              <a:latin typeface="Lucida Sans Unicode" pitchFamily="34" charset="0"/>
            </a:endParaRPr>
          </a:p>
          <a:p>
            <a:pPr algn="ctr"/>
            <a:r>
              <a:rPr lang="en-GB" sz="1600">
                <a:latin typeface="Lucida Sans Unicode" pitchFamily="34" charset="0"/>
              </a:rPr>
              <a:t>Server</a:t>
            </a:r>
            <a:endParaRPr lang="en-GB" sz="1600" dirty="0">
              <a:latin typeface="Lucida Sans Unicode" pitchFamily="34" charset="0"/>
            </a:endParaRPr>
          </a:p>
        </p:txBody>
      </p:sp>
      <p:cxnSp>
        <p:nvCxnSpPr>
          <p:cNvPr id="5" name="Straight Arrow Connector 4"/>
          <p:cNvCxnSpPr>
            <a:cxnSpLocks/>
          </p:cNvCxnSpPr>
          <p:nvPr/>
        </p:nvCxnSpPr>
        <p:spPr>
          <a:xfrm>
            <a:off x="881590" y="2348880"/>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074223" y="2036747"/>
            <a:ext cx="1305145" cy="338554"/>
          </a:xfrm>
          <a:prstGeom prst="rect">
            <a:avLst/>
          </a:prstGeom>
          <a:noFill/>
        </p:spPr>
        <p:txBody>
          <a:bodyPr wrap="square" rtlCol="0">
            <a:spAutoFit/>
          </a:bodyPr>
          <a:lstStyle/>
          <a:p>
            <a:pPr algn="ctr"/>
            <a:r>
              <a:rPr lang="en-GB" sz="1600">
                <a:latin typeface="Lucida Sans Unicode" pitchFamily="34" charset="0"/>
              </a:rPr>
              <a:t>http GET</a:t>
            </a:r>
            <a:endParaRPr lang="en-GB" sz="1600" dirty="0">
              <a:latin typeface="Lucida Sans Unicode" pitchFamily="34" charset="0"/>
            </a:endParaRPr>
          </a:p>
        </p:txBody>
      </p:sp>
      <p:cxnSp>
        <p:nvCxnSpPr>
          <p:cNvPr id="8" name="Straight Arrow Connector 7"/>
          <p:cNvCxnSpPr>
            <a:cxnSpLocks/>
          </p:cNvCxnSpPr>
          <p:nvPr/>
        </p:nvCxnSpPr>
        <p:spPr>
          <a:xfrm flipH="1">
            <a:off x="883824" y="2962237"/>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flipH="1">
            <a:off x="883824" y="4104401"/>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079976" y="3206013"/>
            <a:ext cx="1305145" cy="338554"/>
          </a:xfrm>
          <a:prstGeom prst="rect">
            <a:avLst/>
          </a:prstGeom>
          <a:noFill/>
        </p:spPr>
        <p:txBody>
          <a:bodyPr wrap="square" rtlCol="0">
            <a:spAutoFit/>
          </a:bodyPr>
          <a:lstStyle/>
          <a:p>
            <a:pPr algn="ctr"/>
            <a:r>
              <a:rPr lang="en-GB" sz="1600">
                <a:latin typeface="Lucida Sans Unicode" pitchFamily="34" charset="0"/>
              </a:rPr>
              <a:t>http GET</a:t>
            </a:r>
            <a:endParaRPr lang="en-GB" sz="1600" dirty="0">
              <a:latin typeface="Lucida Sans Unicode" pitchFamily="34" charset="0"/>
            </a:endParaRPr>
          </a:p>
        </p:txBody>
      </p:sp>
      <p:cxnSp>
        <p:nvCxnSpPr>
          <p:cNvPr id="12" name="Straight Arrow Connector 11"/>
          <p:cNvCxnSpPr>
            <a:cxnSpLocks/>
          </p:cNvCxnSpPr>
          <p:nvPr/>
        </p:nvCxnSpPr>
        <p:spPr>
          <a:xfrm>
            <a:off x="883824" y="3522071"/>
            <a:ext cx="3690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225046" y="808430"/>
            <a:ext cx="3570457" cy="5262979"/>
          </a:xfrm>
          <a:prstGeom prst="rect">
            <a:avLst/>
          </a:prstGeom>
          <a:noFill/>
        </p:spPr>
        <p:txBody>
          <a:bodyPr wrap="square" rtlCol="0">
            <a:spAutoFit/>
          </a:bodyPr>
          <a:lstStyle/>
          <a:p>
            <a:r>
              <a:rPr lang="en-GB" sz="1600" b="1"/>
              <a:t>Segment timing:</a:t>
            </a:r>
          </a:p>
          <a:p>
            <a:pPr marL="180975" indent="-180975">
              <a:buFont typeface="Arial" panose="020B0604020202020204" pitchFamily="34" charset="0"/>
              <a:buChar char="•"/>
            </a:pPr>
            <a:r>
              <a:rPr lang="en-GB" sz="1600"/>
              <a:t>10 seconds = reasonable balance for most broadcast content</a:t>
            </a:r>
            <a:endParaRPr lang="en-GB" sz="1200">
              <a:latin typeface="Lucida Sans Unicode" pitchFamily="34" charset="0"/>
            </a:endParaRPr>
          </a:p>
          <a:p>
            <a:pPr marL="180975" indent="-180975">
              <a:buFont typeface="Arial" panose="020B0604020202020204" pitchFamily="34" charset="0"/>
              <a:buChar char="•"/>
            </a:pPr>
            <a:r>
              <a:rPr lang="en-GB" sz="1600"/>
              <a:t>Shorter segments </a:t>
            </a:r>
          </a:p>
          <a:p>
            <a:pPr marL="180975"/>
            <a:r>
              <a:rPr lang="en-GB" sz="1600"/>
              <a:t>= more frequent refreshes of the index file</a:t>
            </a:r>
          </a:p>
          <a:p>
            <a:pPr marL="180975"/>
            <a:r>
              <a:rPr lang="en-GB" sz="1600"/>
              <a:t>.. unnecessary network overhead for the client</a:t>
            </a:r>
          </a:p>
          <a:p>
            <a:pPr marL="180975" indent="-180975">
              <a:buFont typeface="Arial" panose="020B0604020202020204" pitchFamily="34" charset="0"/>
              <a:buChar char="•"/>
            </a:pPr>
            <a:r>
              <a:rPr lang="en-GB" sz="1600"/>
              <a:t>Longer segments </a:t>
            </a:r>
          </a:p>
          <a:p>
            <a:pPr marL="180975"/>
            <a:r>
              <a:rPr lang="en-GB" sz="1600"/>
              <a:t>= latency and initial startup time</a:t>
            </a:r>
          </a:p>
          <a:p>
            <a:pPr marL="180975"/>
            <a:endParaRPr lang="en-GB" sz="1600"/>
          </a:p>
          <a:p>
            <a:r>
              <a:rPr lang="en-GB" sz="1600" b="1"/>
              <a:t>Media Formats</a:t>
            </a:r>
          </a:p>
          <a:p>
            <a:pPr marL="180975"/>
            <a:r>
              <a:rPr lang="en-GB" sz="1600"/>
              <a:t>e.g. video: H.264 / VP9, </a:t>
            </a:r>
          </a:p>
          <a:p>
            <a:pPr lvl="1"/>
            <a:r>
              <a:rPr lang="en-GB" sz="1600"/>
              <a:t>audio: .aac / Opus, etc</a:t>
            </a:r>
          </a:p>
          <a:p>
            <a:pPr marL="180975" lvl="1" indent="-180975">
              <a:buFont typeface="Arial" panose="020B0604020202020204" pitchFamily="34" charset="0"/>
              <a:buChar char="•"/>
            </a:pPr>
            <a:r>
              <a:rPr lang="en-GB" sz="1600"/>
              <a:t>video + audio file segments unwrapped</a:t>
            </a:r>
          </a:p>
          <a:p>
            <a:pPr marL="180975" lvl="1"/>
            <a:r>
              <a:rPr lang="en-GB" sz="1600"/>
              <a:t>… but certain applications – </a:t>
            </a:r>
          </a:p>
          <a:p>
            <a:pPr marL="180975" lvl="1"/>
            <a:r>
              <a:rPr lang="en-GB" sz="1600"/>
              <a:t>can be wrapped in MPEG-TS (DVB)</a:t>
            </a:r>
          </a:p>
        </p:txBody>
      </p:sp>
      <p:cxnSp>
        <p:nvCxnSpPr>
          <p:cNvPr id="17" name="Straight Connector 16"/>
          <p:cNvCxnSpPr>
            <a:cxnSpLocks/>
          </p:cNvCxnSpPr>
          <p:nvPr/>
        </p:nvCxnSpPr>
        <p:spPr>
          <a:xfrm>
            <a:off x="881590" y="1748846"/>
            <a:ext cx="0" cy="3088632"/>
          </a:xfrm>
          <a:prstGeom prst="line">
            <a:avLst/>
          </a:prstGeom>
          <a:ln>
            <a:solidFill>
              <a:schemeClr val="accent1"/>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4572000" y="1763815"/>
            <a:ext cx="0" cy="3088632"/>
          </a:xfrm>
          <a:prstGeom prst="line">
            <a:avLst/>
          </a:prstGeom>
          <a:ln>
            <a:solidFill>
              <a:schemeClr val="accent1"/>
            </a:solidFill>
            <a:prstDash val="lg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1279522" y="2404592"/>
            <a:ext cx="2410799" cy="686000"/>
            <a:chOff x="1534796" y="2764632"/>
            <a:chExt cx="2410799" cy="686000"/>
          </a:xfrm>
        </p:grpSpPr>
        <p:sp>
          <p:nvSpPr>
            <p:cNvPr id="9" name="TextBox 8"/>
            <p:cNvSpPr txBox="1"/>
            <p:nvPr/>
          </p:nvSpPr>
          <p:spPr>
            <a:xfrm>
              <a:off x="2023010" y="2933945"/>
              <a:ext cx="1922585" cy="338554"/>
            </a:xfrm>
            <a:prstGeom prst="rect">
              <a:avLst/>
            </a:prstGeom>
            <a:solidFill>
              <a:schemeClr val="bg1">
                <a:lumMod val="85000"/>
              </a:schemeClr>
            </a:solidFill>
          </p:spPr>
          <p:txBody>
            <a:bodyPr wrap="square" rtlCol="0">
              <a:spAutoFit/>
            </a:bodyPr>
            <a:lstStyle/>
            <a:p>
              <a:pPr algn="ctr"/>
              <a:r>
                <a:rPr lang="en-GB" sz="1600">
                  <a:latin typeface="Lucida Sans Unicode" pitchFamily="34" charset="0"/>
                </a:rPr>
                <a:t>Audio segment</a:t>
              </a:r>
              <a:endParaRPr lang="en-GB" sz="1600" dirty="0">
                <a:latin typeface="Lucida Sans Unicode" pitchFamily="34" charset="0"/>
              </a:endParaRPr>
            </a:p>
          </p:txBody>
        </p:sp>
        <p:sp>
          <p:nvSpPr>
            <p:cNvPr id="20" name="Arrow: Right 19"/>
            <p:cNvSpPr/>
            <p:nvPr/>
          </p:nvSpPr>
          <p:spPr>
            <a:xfrm flipH="1">
              <a:off x="1534796" y="2764632"/>
              <a:ext cx="495055" cy="686000"/>
            </a:xfrm>
            <a:prstGeom prst="rightArrow">
              <a:avLst>
                <a:gd name="adj1" fmla="val 50000"/>
                <a:gd name="adj2" fmla="val 79025"/>
              </a:avLst>
            </a:prstGeom>
            <a:solidFill>
              <a:schemeClr val="bg1">
                <a:lumMod val="85000"/>
              </a:schemeClr>
            </a:solidFill>
            <a:ln>
              <a:noFill/>
            </a:ln>
          </p:spPr>
          <p:txBody>
            <a:bodyPr wrap="square" rtlCol="0" anchor="ctr">
              <a:noAutofit/>
            </a:bodyPr>
            <a:lstStyle/>
            <a:p>
              <a:pPr algn="ctr"/>
              <a:endParaRPr lang="en-GB" sz="1600" b="1" dirty="0"/>
            </a:p>
          </p:txBody>
        </p:sp>
      </p:grpSp>
      <p:grpSp>
        <p:nvGrpSpPr>
          <p:cNvPr id="22" name="Group 21"/>
          <p:cNvGrpSpPr/>
          <p:nvPr/>
        </p:nvGrpSpPr>
        <p:grpSpPr>
          <a:xfrm>
            <a:off x="1279522" y="3528274"/>
            <a:ext cx="2417640" cy="686000"/>
            <a:chOff x="1534796" y="3888314"/>
            <a:chExt cx="2417640" cy="686000"/>
          </a:xfrm>
        </p:grpSpPr>
        <p:sp>
          <p:nvSpPr>
            <p:cNvPr id="13" name="TextBox 12"/>
            <p:cNvSpPr txBox="1"/>
            <p:nvPr/>
          </p:nvSpPr>
          <p:spPr>
            <a:xfrm>
              <a:off x="2029851" y="4059070"/>
              <a:ext cx="1922585" cy="338554"/>
            </a:xfrm>
            <a:prstGeom prst="rect">
              <a:avLst/>
            </a:prstGeom>
            <a:solidFill>
              <a:schemeClr val="bg1">
                <a:lumMod val="85000"/>
              </a:schemeClr>
            </a:solidFill>
          </p:spPr>
          <p:txBody>
            <a:bodyPr wrap="square" rtlCol="0">
              <a:spAutoFit/>
            </a:bodyPr>
            <a:lstStyle/>
            <a:p>
              <a:pPr algn="ctr"/>
              <a:r>
                <a:rPr lang="en-GB" sz="1600">
                  <a:latin typeface="Lucida Sans Unicode" pitchFamily="34" charset="0"/>
                </a:rPr>
                <a:t>Video segment</a:t>
              </a:r>
              <a:endParaRPr lang="en-GB" sz="1600" dirty="0">
                <a:latin typeface="Lucida Sans Unicode" pitchFamily="34" charset="0"/>
              </a:endParaRPr>
            </a:p>
          </p:txBody>
        </p:sp>
        <p:sp>
          <p:nvSpPr>
            <p:cNvPr id="21" name="Arrow: Right 20"/>
            <p:cNvSpPr/>
            <p:nvPr/>
          </p:nvSpPr>
          <p:spPr>
            <a:xfrm flipH="1">
              <a:off x="1534796" y="3888314"/>
              <a:ext cx="495055" cy="686000"/>
            </a:xfrm>
            <a:prstGeom prst="rightArrow">
              <a:avLst>
                <a:gd name="adj1" fmla="val 50000"/>
                <a:gd name="adj2" fmla="val 79025"/>
              </a:avLst>
            </a:prstGeom>
            <a:solidFill>
              <a:schemeClr val="bg1">
                <a:lumMod val="85000"/>
              </a:schemeClr>
            </a:solidFill>
            <a:ln>
              <a:noFill/>
            </a:ln>
          </p:spPr>
          <p:txBody>
            <a:bodyPr wrap="square" rtlCol="0" anchor="ctr">
              <a:noAutofit/>
            </a:bodyPr>
            <a:lstStyle/>
            <a:p>
              <a:pPr algn="ctr"/>
              <a:endParaRPr lang="en-GB" sz="1600" b="1" dirty="0"/>
            </a:p>
          </p:txBody>
        </p:sp>
      </p:grpSp>
      <p:sp>
        <p:nvSpPr>
          <p:cNvPr id="24" name="TextBox 23"/>
          <p:cNvSpPr txBox="1"/>
          <p:nvPr/>
        </p:nvSpPr>
        <p:spPr>
          <a:xfrm>
            <a:off x="2014721" y="4316232"/>
            <a:ext cx="1305145" cy="338554"/>
          </a:xfrm>
          <a:prstGeom prst="rect">
            <a:avLst/>
          </a:prstGeom>
          <a:noFill/>
        </p:spPr>
        <p:txBody>
          <a:bodyPr wrap="square" rtlCol="0">
            <a:spAutoFit/>
          </a:bodyPr>
          <a:lstStyle/>
          <a:p>
            <a:pPr algn="ctr"/>
            <a:r>
              <a:rPr lang="en-GB" sz="1600">
                <a:latin typeface="Lucida Sans Unicode" pitchFamily="34" charset="0"/>
              </a:rPr>
              <a:t>etc</a:t>
            </a:r>
            <a:endParaRPr lang="en-GB" sz="1600" dirty="0">
              <a:latin typeface="Lucida Sans Unicode" pitchFamily="34" charset="0"/>
            </a:endParaRPr>
          </a:p>
        </p:txBody>
      </p:sp>
      <p:cxnSp>
        <p:nvCxnSpPr>
          <p:cNvPr id="25" name="Straight Connector 24"/>
          <p:cNvCxnSpPr>
            <a:cxnSpLocks/>
          </p:cNvCxnSpPr>
          <p:nvPr/>
        </p:nvCxnSpPr>
        <p:spPr>
          <a:xfrm>
            <a:off x="2660236" y="4732867"/>
            <a:ext cx="14114" cy="1081398"/>
          </a:xfrm>
          <a:prstGeom prst="line">
            <a:avLst/>
          </a:prstGeom>
          <a:ln>
            <a:solidFill>
              <a:schemeClr val="accent1"/>
            </a:solidFill>
            <a:prstDash val="lgDash"/>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93700" y="331788"/>
            <a:ext cx="2579552" cy="461665"/>
          </a:xfrm>
          <a:prstGeom prst="rect">
            <a:avLst/>
          </a:prstGeom>
        </p:spPr>
        <p:txBody>
          <a:bodyPr wrap="none">
            <a:spAutoFit/>
          </a:bodyPr>
          <a:lstStyle/>
          <a:p>
            <a:r>
              <a:rPr lang="en-GB" sz="2400" b="1"/>
              <a:t>HTTP Streaming</a:t>
            </a:r>
            <a:endParaRPr lang="en-GB" sz="2000" dirty="0"/>
          </a:p>
        </p:txBody>
      </p:sp>
    </p:spTree>
    <p:extLst>
      <p:ext uri="{BB962C8B-B14F-4D97-AF65-F5344CB8AC3E}">
        <p14:creationId xmlns:p14="http://schemas.microsoft.com/office/powerpoint/2010/main" val="21076741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rticle4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6755" y="1133745"/>
            <a:ext cx="6695327" cy="532667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93700" y="331788"/>
            <a:ext cx="6779420" cy="461665"/>
          </a:xfrm>
          <a:prstGeom prst="rect">
            <a:avLst/>
          </a:prstGeom>
        </p:spPr>
        <p:txBody>
          <a:bodyPr wrap="none">
            <a:spAutoFit/>
          </a:bodyPr>
          <a:lstStyle/>
          <a:p>
            <a:r>
              <a:rPr lang="en-GB" sz="2400" b="1" dirty="0"/>
              <a:t>HTTP Live Streaming </a:t>
            </a:r>
            <a:r>
              <a:rPr lang="en-GB" sz="2400" b="1"/>
              <a:t>- HLS (DASH is similar)</a:t>
            </a:r>
            <a:endParaRPr lang="en-GB" sz="2400" b="1" dirty="0"/>
          </a:p>
        </p:txBody>
      </p:sp>
      <p:sp>
        <p:nvSpPr>
          <p:cNvPr id="4" name="Rectangle 3"/>
          <p:cNvSpPr/>
          <p:nvPr/>
        </p:nvSpPr>
        <p:spPr>
          <a:xfrm>
            <a:off x="395288" y="834535"/>
            <a:ext cx="2995973" cy="1754326"/>
          </a:xfrm>
          <a:prstGeom prst="rect">
            <a:avLst/>
          </a:prstGeom>
        </p:spPr>
        <p:txBody>
          <a:bodyPr wrap="square">
            <a:spAutoFit/>
          </a:bodyPr>
          <a:lstStyle/>
          <a:p>
            <a:pPr marL="182563" indent="-182563"/>
            <a:r>
              <a:rPr lang="en-GB" dirty="0"/>
              <a:t>Apple (part of QuickTime and iOS)</a:t>
            </a:r>
          </a:p>
          <a:p>
            <a:pPr marL="182563" indent="-182563"/>
            <a:r>
              <a:rPr lang="en-GB" dirty="0"/>
              <a:t>HLS v5 announced in Sept16</a:t>
            </a:r>
          </a:p>
          <a:p>
            <a:pPr marL="182563" indent="-182563">
              <a:buFont typeface="Arial" pitchFamily="34" charset="0"/>
              <a:buChar char="•"/>
            </a:pPr>
            <a:r>
              <a:rPr lang="en-GB" dirty="0"/>
              <a:t>support for Fragmented MP4</a:t>
            </a:r>
          </a:p>
        </p:txBody>
      </p:sp>
    </p:spTree>
    <p:extLst>
      <p:ext uri="{BB962C8B-B14F-4D97-AF65-F5344CB8AC3E}">
        <p14:creationId xmlns:p14="http://schemas.microsoft.com/office/powerpoint/2010/main" val="28294114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ChangeArrowheads="1"/>
          </p:cNvSpPr>
          <p:nvPr/>
        </p:nvSpPr>
        <p:spPr bwMode="auto">
          <a:xfrm>
            <a:off x="0" y="1809750"/>
            <a:ext cx="9144000" cy="3262313"/>
          </a:xfrm>
          <a:prstGeom prst="rect">
            <a:avLst/>
          </a:prstGeom>
          <a:gradFill rotWithShape="0">
            <a:gsLst>
              <a:gs pos="0">
                <a:schemeClr val="bg1"/>
              </a:gs>
              <a:gs pos="100000">
                <a:srgbClr val="FFCC99"/>
              </a:gs>
            </a:gsLst>
            <a:lin ang="0" scaled="1"/>
          </a:gradFill>
          <a:ln w="9525">
            <a:noFill/>
            <a:miter lim="800000"/>
            <a:headEnd/>
            <a:tailEnd/>
          </a:ln>
        </p:spPr>
        <p:txBody>
          <a:bodyPr wrap="none" anchor="ctr"/>
          <a:lstStyle/>
          <a:p>
            <a:pPr algn="ctr"/>
            <a:endParaRPr lang="en-US" sz="2400"/>
          </a:p>
        </p:txBody>
      </p:sp>
      <p:sp>
        <p:nvSpPr>
          <p:cNvPr id="3075" name="Text Box 9"/>
          <p:cNvSpPr txBox="1">
            <a:spLocks noChangeArrowheads="1"/>
          </p:cNvSpPr>
          <p:nvPr/>
        </p:nvSpPr>
        <p:spPr bwMode="auto">
          <a:xfrm>
            <a:off x="395288" y="2111375"/>
            <a:ext cx="8561387" cy="2492990"/>
          </a:xfrm>
          <a:prstGeom prst="rect">
            <a:avLst/>
          </a:prstGeom>
          <a:noFill/>
          <a:ln w="9525">
            <a:noFill/>
            <a:miter lim="800000"/>
            <a:headEnd/>
            <a:tailEnd/>
          </a:ln>
        </p:spPr>
        <p:txBody>
          <a:bodyPr>
            <a:spAutoFit/>
          </a:bodyPr>
          <a:lstStyle/>
          <a:p>
            <a:r>
              <a:rPr lang="en-GB" sz="2400" dirty="0"/>
              <a:t>Production and Distribution Technology UG2</a:t>
            </a:r>
          </a:p>
          <a:p>
            <a:endParaRPr lang="en-GB" sz="2800"/>
          </a:p>
          <a:p>
            <a:r>
              <a:rPr lang="en-GB" sz="2800"/>
              <a:t>T3: Harmonic Analysis </a:t>
            </a:r>
            <a:endParaRPr lang="en-GB" sz="2800" dirty="0"/>
          </a:p>
          <a:p>
            <a:endParaRPr lang="en-GB" sz="3200" dirty="0"/>
          </a:p>
          <a:p>
            <a:r>
              <a:rPr lang="en-GB" sz="2800" dirty="0"/>
              <a:t>Jerry Foss</a:t>
            </a:r>
          </a:p>
          <a:p>
            <a:r>
              <a:rPr lang="en-GB" dirty="0"/>
              <a:t>jeremy.foss@bcu.ac.uk</a:t>
            </a:r>
          </a:p>
        </p:txBody>
      </p:sp>
    </p:spTree>
    <p:extLst>
      <p:ext uri="{BB962C8B-B14F-4D97-AF65-F5344CB8AC3E}">
        <p14:creationId xmlns:p14="http://schemas.microsoft.com/office/powerpoint/2010/main" val="31843438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30213" y="366713"/>
            <a:ext cx="4575175" cy="457200"/>
          </a:xfrm>
          <a:prstGeom prst="rect">
            <a:avLst/>
          </a:prstGeom>
          <a:noFill/>
          <a:ln w="9525" algn="ctr">
            <a:noFill/>
            <a:miter lim="800000"/>
            <a:headEnd/>
            <a:tailEnd/>
          </a:ln>
        </p:spPr>
        <p:txBody>
          <a:bodyPr wrap="none">
            <a:spAutoFit/>
          </a:bodyPr>
          <a:lstStyle/>
          <a:p>
            <a:r>
              <a:rPr lang="en-GB" sz="2400" b="1" dirty="0"/>
              <a:t>Time and Frequency Domains</a:t>
            </a:r>
            <a:endParaRPr lang="en-US" sz="2400" b="1" dirty="0"/>
          </a:p>
        </p:txBody>
      </p:sp>
      <p:sp>
        <p:nvSpPr>
          <p:cNvPr id="8195" name="Text Box 3"/>
          <p:cNvSpPr txBox="1">
            <a:spLocks noChangeArrowheads="1"/>
          </p:cNvSpPr>
          <p:nvPr/>
        </p:nvSpPr>
        <p:spPr bwMode="auto">
          <a:xfrm>
            <a:off x="430213" y="833438"/>
            <a:ext cx="7750175" cy="2098675"/>
          </a:xfrm>
          <a:prstGeom prst="rect">
            <a:avLst/>
          </a:prstGeom>
          <a:noFill/>
          <a:ln w="9525" algn="ctr">
            <a:noFill/>
            <a:miter lim="800000"/>
            <a:headEnd/>
            <a:tailEnd/>
          </a:ln>
        </p:spPr>
        <p:txBody>
          <a:bodyPr wrap="none">
            <a:spAutoFit/>
          </a:bodyPr>
          <a:lstStyle/>
          <a:p>
            <a:pPr marL="182563" indent="-182563">
              <a:lnSpc>
                <a:spcPct val="120000"/>
              </a:lnSpc>
              <a:buFontTx/>
              <a:buChar char="•"/>
            </a:pPr>
            <a:r>
              <a:rPr lang="en-GB"/>
              <a:t>represents a signal as a mathematical function a computer* can handle</a:t>
            </a:r>
          </a:p>
          <a:p>
            <a:pPr marL="182563" indent="-182563">
              <a:lnSpc>
                <a:spcPct val="120000"/>
              </a:lnSpc>
            </a:pPr>
            <a:r>
              <a:rPr lang="en-GB"/>
              <a:t>				</a:t>
            </a:r>
            <a:r>
              <a:rPr lang="en-GB" i="1"/>
              <a:t>*computer = PC, Set Top Box, Console, player …</a:t>
            </a:r>
          </a:p>
          <a:p>
            <a:pPr marL="182563" indent="-182563">
              <a:lnSpc>
                <a:spcPct val="120000"/>
              </a:lnSpc>
              <a:buFontTx/>
              <a:buChar char="•"/>
            </a:pPr>
            <a:r>
              <a:rPr lang="en-GB"/>
              <a:t>converts a time-based signal into a frequency-based signal for processing</a:t>
            </a:r>
          </a:p>
          <a:p>
            <a:pPr lvl="1">
              <a:lnSpc>
                <a:spcPct val="120000"/>
              </a:lnSpc>
              <a:buFontTx/>
              <a:buChar char="•"/>
            </a:pPr>
            <a:r>
              <a:rPr lang="en-GB"/>
              <a:t>… and back again for playout</a:t>
            </a:r>
          </a:p>
          <a:p>
            <a:pPr marL="182563" indent="-182563">
              <a:lnSpc>
                <a:spcPct val="120000"/>
              </a:lnSpc>
              <a:buFontTx/>
              <a:buChar char="•"/>
            </a:pPr>
            <a:endParaRPr lang="en-GB"/>
          </a:p>
          <a:p>
            <a:pPr marL="182563" indent="-182563">
              <a:lnSpc>
                <a:spcPct val="120000"/>
              </a:lnSpc>
              <a:buFontTx/>
              <a:buChar char="•"/>
            </a:pPr>
            <a:endParaRPr lang="en-GB"/>
          </a:p>
          <a:p>
            <a:pPr marL="182563" indent="-182563"/>
            <a:endParaRPr lang="en-US"/>
          </a:p>
        </p:txBody>
      </p:sp>
      <p:pic>
        <p:nvPicPr>
          <p:cNvPr id="8196" name="Picture 4"/>
          <p:cNvPicPr>
            <a:picLocks noChangeAspect="1" noChangeArrowheads="1"/>
          </p:cNvPicPr>
          <p:nvPr/>
        </p:nvPicPr>
        <p:blipFill>
          <a:blip r:embed="rId2" cstate="print"/>
          <a:srcRect/>
          <a:stretch>
            <a:fillRect/>
          </a:stretch>
        </p:blipFill>
        <p:spPr bwMode="auto">
          <a:xfrm>
            <a:off x="2224088" y="2265363"/>
            <a:ext cx="4895850" cy="3887787"/>
          </a:xfrm>
          <a:prstGeom prst="rect">
            <a:avLst/>
          </a:prstGeom>
          <a:noFill/>
          <a:ln w="9525" algn="ctr">
            <a:noFill/>
            <a:miter lim="800000"/>
            <a:headEnd/>
            <a:tailEnd/>
          </a:ln>
        </p:spPr>
      </p:pic>
      <p:sp>
        <p:nvSpPr>
          <p:cNvPr id="8197" name="Text Box 5"/>
          <p:cNvSpPr txBox="1">
            <a:spLocks noChangeArrowheads="1"/>
          </p:cNvSpPr>
          <p:nvPr/>
        </p:nvSpPr>
        <p:spPr bwMode="auto">
          <a:xfrm>
            <a:off x="0" y="2695575"/>
            <a:ext cx="1736725" cy="701675"/>
          </a:xfrm>
          <a:prstGeom prst="rect">
            <a:avLst/>
          </a:prstGeom>
          <a:solidFill>
            <a:srgbClr val="3333CC"/>
          </a:solidFill>
          <a:ln w="9525" algn="ctr">
            <a:noFill/>
            <a:miter lim="800000"/>
            <a:headEnd/>
            <a:tailEnd/>
          </a:ln>
        </p:spPr>
        <p:txBody>
          <a:bodyPr>
            <a:spAutoFit/>
          </a:bodyPr>
          <a:lstStyle/>
          <a:p>
            <a:pPr algn="ctr"/>
            <a:r>
              <a:rPr lang="en-GB" sz="2000" b="1">
                <a:solidFill>
                  <a:schemeClr val="bg1"/>
                </a:solidFill>
              </a:rPr>
              <a:t>Time Domain</a:t>
            </a:r>
            <a:endParaRPr lang="en-US" sz="2000" b="1">
              <a:solidFill>
                <a:schemeClr val="bg1"/>
              </a:solidFill>
            </a:endParaRPr>
          </a:p>
        </p:txBody>
      </p:sp>
      <p:sp>
        <p:nvSpPr>
          <p:cNvPr id="8198" name="Line 6"/>
          <p:cNvSpPr>
            <a:spLocks noChangeShapeType="1"/>
          </p:cNvSpPr>
          <p:nvPr/>
        </p:nvSpPr>
        <p:spPr bwMode="auto">
          <a:xfrm>
            <a:off x="1628775" y="3203575"/>
            <a:ext cx="833438" cy="620713"/>
          </a:xfrm>
          <a:prstGeom prst="line">
            <a:avLst/>
          </a:prstGeom>
          <a:noFill/>
          <a:ln w="57150">
            <a:solidFill>
              <a:srgbClr val="FF0000"/>
            </a:solidFill>
            <a:round/>
            <a:headEnd/>
            <a:tailEnd type="triangle" w="med" len="med"/>
          </a:ln>
        </p:spPr>
        <p:txBody>
          <a:bodyPr/>
          <a:lstStyle/>
          <a:p>
            <a:endParaRPr lang="en-GB"/>
          </a:p>
        </p:txBody>
      </p:sp>
      <p:sp>
        <p:nvSpPr>
          <p:cNvPr id="8199" name="Text Box 7"/>
          <p:cNvSpPr txBox="1">
            <a:spLocks noChangeArrowheads="1"/>
          </p:cNvSpPr>
          <p:nvPr/>
        </p:nvSpPr>
        <p:spPr bwMode="auto">
          <a:xfrm>
            <a:off x="7405688" y="2643188"/>
            <a:ext cx="1738312" cy="701675"/>
          </a:xfrm>
          <a:prstGeom prst="rect">
            <a:avLst/>
          </a:prstGeom>
          <a:solidFill>
            <a:srgbClr val="C0C0C0"/>
          </a:solidFill>
          <a:ln w="9525" algn="ctr">
            <a:noFill/>
            <a:miter lim="800000"/>
            <a:headEnd/>
            <a:tailEnd/>
          </a:ln>
        </p:spPr>
        <p:txBody>
          <a:bodyPr>
            <a:spAutoFit/>
          </a:bodyPr>
          <a:lstStyle/>
          <a:p>
            <a:pPr algn="ctr"/>
            <a:r>
              <a:rPr lang="en-GB" sz="2000" b="1"/>
              <a:t>Frequency Domain</a:t>
            </a:r>
            <a:endParaRPr lang="en-US" sz="2000" b="1"/>
          </a:p>
        </p:txBody>
      </p:sp>
      <p:sp>
        <p:nvSpPr>
          <p:cNvPr id="8200" name="Line 8"/>
          <p:cNvSpPr>
            <a:spLocks noChangeShapeType="1"/>
          </p:cNvSpPr>
          <p:nvPr/>
        </p:nvSpPr>
        <p:spPr bwMode="auto">
          <a:xfrm flipH="1">
            <a:off x="6821488" y="3252788"/>
            <a:ext cx="712787" cy="609600"/>
          </a:xfrm>
          <a:prstGeom prst="line">
            <a:avLst/>
          </a:prstGeom>
          <a:noFill/>
          <a:ln w="57150">
            <a:solidFill>
              <a:srgbClr val="FF0000"/>
            </a:solidFill>
            <a:round/>
            <a:headEnd/>
            <a:tailEnd type="triangle" w="med" len="med"/>
          </a:ln>
        </p:spPr>
        <p:txBody>
          <a:bodyPr/>
          <a:lstStyle/>
          <a:p>
            <a:endParaRPr lang="en-GB"/>
          </a:p>
        </p:txBody>
      </p:sp>
      <p:sp>
        <p:nvSpPr>
          <p:cNvPr id="8201" name="Text Box 9"/>
          <p:cNvSpPr txBox="1">
            <a:spLocks noChangeArrowheads="1"/>
          </p:cNvSpPr>
          <p:nvPr/>
        </p:nvSpPr>
        <p:spPr bwMode="auto">
          <a:xfrm>
            <a:off x="430213" y="6192838"/>
            <a:ext cx="3856037" cy="304800"/>
          </a:xfrm>
          <a:prstGeom prst="rect">
            <a:avLst/>
          </a:prstGeom>
          <a:noFill/>
          <a:ln w="9525" algn="ctr">
            <a:noFill/>
            <a:miter lim="800000"/>
            <a:headEnd/>
            <a:tailEnd/>
          </a:ln>
        </p:spPr>
        <p:txBody>
          <a:bodyPr wrap="none">
            <a:spAutoFit/>
          </a:bodyPr>
          <a:lstStyle/>
          <a:p>
            <a:r>
              <a:rPr lang="en-GB" sz="1400"/>
              <a:t>From the Goldwave Audio editing program</a:t>
            </a:r>
            <a:endParaRPr lang="en-US" sz="1400"/>
          </a:p>
        </p:txBody>
      </p:sp>
      <p:sp>
        <p:nvSpPr>
          <p:cNvPr id="8202" name="Line 10"/>
          <p:cNvSpPr>
            <a:spLocks noChangeShapeType="1"/>
          </p:cNvSpPr>
          <p:nvPr/>
        </p:nvSpPr>
        <p:spPr bwMode="auto">
          <a:xfrm>
            <a:off x="2032000" y="3962400"/>
            <a:ext cx="0" cy="1320800"/>
          </a:xfrm>
          <a:prstGeom prst="line">
            <a:avLst/>
          </a:prstGeom>
          <a:noFill/>
          <a:ln w="28575">
            <a:solidFill>
              <a:schemeClr val="tx1"/>
            </a:solidFill>
            <a:round/>
            <a:headEnd type="triangle" w="med" len="med"/>
            <a:tailEnd type="triangle" w="med" len="med"/>
          </a:ln>
        </p:spPr>
        <p:txBody>
          <a:bodyPr/>
          <a:lstStyle/>
          <a:p>
            <a:endParaRPr lang="en-GB"/>
          </a:p>
        </p:txBody>
      </p:sp>
      <p:sp>
        <p:nvSpPr>
          <p:cNvPr id="8203" name="Text Box 11"/>
          <p:cNvSpPr txBox="1">
            <a:spLocks noChangeArrowheads="1"/>
          </p:cNvSpPr>
          <p:nvPr/>
        </p:nvSpPr>
        <p:spPr bwMode="auto">
          <a:xfrm>
            <a:off x="568325" y="4108450"/>
            <a:ext cx="1471613" cy="581025"/>
          </a:xfrm>
          <a:prstGeom prst="rect">
            <a:avLst/>
          </a:prstGeom>
          <a:noFill/>
          <a:ln w="9525" algn="ctr">
            <a:noFill/>
            <a:miter lim="800000"/>
            <a:headEnd/>
            <a:tailEnd/>
          </a:ln>
        </p:spPr>
        <p:txBody>
          <a:bodyPr>
            <a:spAutoFit/>
          </a:bodyPr>
          <a:lstStyle/>
          <a:p>
            <a:pPr algn="r"/>
            <a:r>
              <a:rPr lang="en-GB"/>
              <a:t>signal amplitude</a:t>
            </a:r>
            <a:endParaRPr lang="en-US"/>
          </a:p>
        </p:txBody>
      </p:sp>
      <p:sp>
        <p:nvSpPr>
          <p:cNvPr id="8204" name="Line 12"/>
          <p:cNvSpPr>
            <a:spLocks noChangeShapeType="1"/>
          </p:cNvSpPr>
          <p:nvPr/>
        </p:nvSpPr>
        <p:spPr bwMode="auto">
          <a:xfrm>
            <a:off x="792163" y="5343525"/>
            <a:ext cx="1371600" cy="0"/>
          </a:xfrm>
          <a:prstGeom prst="line">
            <a:avLst/>
          </a:prstGeom>
          <a:noFill/>
          <a:ln w="28575">
            <a:solidFill>
              <a:schemeClr val="tx1"/>
            </a:solidFill>
            <a:round/>
            <a:headEnd/>
            <a:tailEnd type="triangle" w="med" len="med"/>
          </a:ln>
        </p:spPr>
        <p:txBody>
          <a:bodyPr/>
          <a:lstStyle/>
          <a:p>
            <a:endParaRPr lang="en-GB"/>
          </a:p>
        </p:txBody>
      </p:sp>
      <p:sp>
        <p:nvSpPr>
          <p:cNvPr id="8205" name="Text Box 13"/>
          <p:cNvSpPr txBox="1">
            <a:spLocks noChangeArrowheads="1"/>
          </p:cNvSpPr>
          <p:nvPr/>
        </p:nvSpPr>
        <p:spPr bwMode="auto">
          <a:xfrm>
            <a:off x="552450" y="5065713"/>
            <a:ext cx="760413" cy="336550"/>
          </a:xfrm>
          <a:prstGeom prst="rect">
            <a:avLst/>
          </a:prstGeom>
          <a:noFill/>
          <a:ln w="9525" algn="ctr">
            <a:noFill/>
            <a:miter lim="800000"/>
            <a:headEnd/>
            <a:tailEnd/>
          </a:ln>
        </p:spPr>
        <p:txBody>
          <a:bodyPr>
            <a:spAutoFit/>
          </a:bodyPr>
          <a:lstStyle/>
          <a:p>
            <a:pPr algn="r"/>
            <a:r>
              <a:rPr lang="en-GB"/>
              <a:t>time</a:t>
            </a:r>
            <a:endParaRPr lang="en-US"/>
          </a:p>
        </p:txBody>
      </p:sp>
      <p:sp>
        <p:nvSpPr>
          <p:cNvPr id="8206" name="Line 14"/>
          <p:cNvSpPr>
            <a:spLocks noChangeShapeType="1"/>
          </p:cNvSpPr>
          <p:nvPr/>
        </p:nvSpPr>
        <p:spPr bwMode="auto">
          <a:xfrm>
            <a:off x="7508875" y="5507038"/>
            <a:ext cx="1270000" cy="0"/>
          </a:xfrm>
          <a:prstGeom prst="line">
            <a:avLst/>
          </a:prstGeom>
          <a:noFill/>
          <a:ln w="28575">
            <a:solidFill>
              <a:schemeClr val="tx1"/>
            </a:solidFill>
            <a:round/>
            <a:headEnd type="triangle" w="med" len="med"/>
            <a:tailEnd type="triangle" w="med" len="med"/>
          </a:ln>
        </p:spPr>
        <p:txBody>
          <a:bodyPr/>
          <a:lstStyle/>
          <a:p>
            <a:endParaRPr lang="en-GB"/>
          </a:p>
        </p:txBody>
      </p:sp>
      <p:sp>
        <p:nvSpPr>
          <p:cNvPr id="8207" name="Text Box 15"/>
          <p:cNvSpPr txBox="1">
            <a:spLocks noChangeArrowheads="1"/>
          </p:cNvSpPr>
          <p:nvPr/>
        </p:nvSpPr>
        <p:spPr bwMode="auto">
          <a:xfrm>
            <a:off x="7367588" y="5195888"/>
            <a:ext cx="1319212" cy="336550"/>
          </a:xfrm>
          <a:prstGeom prst="rect">
            <a:avLst/>
          </a:prstGeom>
          <a:noFill/>
          <a:ln w="9525" algn="ctr">
            <a:noFill/>
            <a:miter lim="800000"/>
            <a:headEnd/>
            <a:tailEnd/>
          </a:ln>
        </p:spPr>
        <p:txBody>
          <a:bodyPr>
            <a:spAutoFit/>
          </a:bodyPr>
          <a:lstStyle/>
          <a:p>
            <a:pPr algn="r"/>
            <a:r>
              <a:rPr lang="en-GB"/>
              <a:t>frequency</a:t>
            </a:r>
            <a:endParaRPr lang="en-US"/>
          </a:p>
        </p:txBody>
      </p:sp>
      <p:sp>
        <p:nvSpPr>
          <p:cNvPr id="8208" name="Line 16"/>
          <p:cNvSpPr>
            <a:spLocks noChangeShapeType="1"/>
          </p:cNvSpPr>
          <p:nvPr/>
        </p:nvSpPr>
        <p:spPr bwMode="auto">
          <a:xfrm>
            <a:off x="7458075" y="4186238"/>
            <a:ext cx="0" cy="1320800"/>
          </a:xfrm>
          <a:prstGeom prst="line">
            <a:avLst/>
          </a:prstGeom>
          <a:noFill/>
          <a:ln w="28575">
            <a:solidFill>
              <a:schemeClr val="tx1"/>
            </a:solidFill>
            <a:round/>
            <a:headEnd type="triangle" w="med" len="med"/>
            <a:tailEnd type="triangle" w="med" len="med"/>
          </a:ln>
        </p:spPr>
        <p:txBody>
          <a:bodyPr/>
          <a:lstStyle/>
          <a:p>
            <a:endParaRPr lang="en-GB"/>
          </a:p>
        </p:txBody>
      </p:sp>
      <p:sp>
        <p:nvSpPr>
          <p:cNvPr id="8209" name="Text Box 17"/>
          <p:cNvSpPr txBox="1">
            <a:spLocks noChangeArrowheads="1"/>
          </p:cNvSpPr>
          <p:nvPr/>
        </p:nvSpPr>
        <p:spPr bwMode="auto">
          <a:xfrm>
            <a:off x="7437438" y="4311650"/>
            <a:ext cx="1471612" cy="581025"/>
          </a:xfrm>
          <a:prstGeom prst="rect">
            <a:avLst/>
          </a:prstGeom>
          <a:noFill/>
          <a:ln w="9525" algn="ctr">
            <a:noFill/>
            <a:miter lim="800000"/>
            <a:headEnd/>
            <a:tailEnd/>
          </a:ln>
        </p:spPr>
        <p:txBody>
          <a:bodyPr>
            <a:spAutoFit/>
          </a:bodyPr>
          <a:lstStyle/>
          <a:p>
            <a:r>
              <a:rPr lang="en-GB"/>
              <a:t>signal amplitude</a:t>
            </a:r>
            <a:endParaRPr lang="en-US"/>
          </a:p>
        </p:txBody>
      </p:sp>
    </p:spTree>
    <p:extLst>
      <p:ext uri="{BB962C8B-B14F-4D97-AF65-F5344CB8AC3E}">
        <p14:creationId xmlns:p14="http://schemas.microsoft.com/office/powerpoint/2010/main" val="311112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430213" y="366713"/>
            <a:ext cx="4575175" cy="457200"/>
          </a:xfrm>
          <a:prstGeom prst="rect">
            <a:avLst/>
          </a:prstGeom>
          <a:noFill/>
          <a:ln w="9525" algn="ctr">
            <a:noFill/>
            <a:miter lim="800000"/>
            <a:headEnd/>
            <a:tailEnd/>
          </a:ln>
        </p:spPr>
        <p:txBody>
          <a:bodyPr wrap="none">
            <a:spAutoFit/>
          </a:bodyPr>
          <a:lstStyle/>
          <a:p>
            <a:r>
              <a:rPr lang="en-GB" sz="2400" b="1" dirty="0"/>
              <a:t>Time and Frequency Domains</a:t>
            </a:r>
            <a:endParaRPr lang="en-US" sz="2400" b="1" dirty="0"/>
          </a:p>
        </p:txBody>
      </p:sp>
      <p:pic>
        <p:nvPicPr>
          <p:cNvPr id="4098" name="Picture 2" descr="http://upload.wikimedia.org/wikipedia/commons/8/8c/Time_domain_to_frequency_domai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150" y="1354137"/>
            <a:ext cx="6962775" cy="4229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4118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430213" y="366713"/>
            <a:ext cx="1067921" cy="461665"/>
          </a:xfrm>
          <a:prstGeom prst="rect">
            <a:avLst/>
          </a:prstGeom>
          <a:noFill/>
          <a:ln w="9525" algn="ctr">
            <a:noFill/>
            <a:miter lim="800000"/>
            <a:headEnd/>
            <a:tailEnd/>
          </a:ln>
        </p:spPr>
        <p:txBody>
          <a:bodyPr wrap="none">
            <a:spAutoFit/>
          </a:bodyPr>
          <a:lstStyle/>
          <a:p>
            <a:r>
              <a:rPr lang="en-GB" sz="2400" b="1" dirty="0"/>
              <a:t>Series</a:t>
            </a:r>
            <a:endParaRPr lang="en-US" sz="2400" b="1" dirty="0"/>
          </a:p>
        </p:txBody>
      </p:sp>
      <p:pic>
        <p:nvPicPr>
          <p:cNvPr id="11265" name="Picture 1"/>
          <p:cNvPicPr>
            <a:picLocks noChangeAspect="1" noChangeArrowheads="1"/>
          </p:cNvPicPr>
          <p:nvPr/>
        </p:nvPicPr>
        <p:blipFill>
          <a:blip r:embed="rId2" cstate="print"/>
          <a:srcRect r="72688"/>
          <a:stretch>
            <a:fillRect/>
          </a:stretch>
        </p:blipFill>
        <p:spPr bwMode="auto">
          <a:xfrm>
            <a:off x="3753983" y="2369004"/>
            <a:ext cx="1225720" cy="1172482"/>
          </a:xfrm>
          <a:prstGeom prst="rect">
            <a:avLst/>
          </a:prstGeom>
          <a:noFill/>
          <a:ln w="9525">
            <a:noFill/>
            <a:miter lim="800000"/>
            <a:headEnd/>
            <a:tailEnd/>
          </a:ln>
        </p:spPr>
      </p:pic>
      <p:sp>
        <p:nvSpPr>
          <p:cNvPr id="5" name="TextBox 4"/>
          <p:cNvSpPr txBox="1"/>
          <p:nvPr/>
        </p:nvSpPr>
        <p:spPr>
          <a:xfrm>
            <a:off x="430213" y="972457"/>
            <a:ext cx="3211135" cy="338554"/>
          </a:xfrm>
          <a:prstGeom prst="rect">
            <a:avLst/>
          </a:prstGeom>
          <a:noFill/>
        </p:spPr>
        <p:txBody>
          <a:bodyPr wrap="none" rtlCol="0">
            <a:spAutoFit/>
          </a:bodyPr>
          <a:lstStyle/>
          <a:p>
            <a:r>
              <a:rPr lang="en-GB" dirty="0"/>
              <a:t>Mathematical Series, example:</a:t>
            </a:r>
          </a:p>
        </p:txBody>
      </p:sp>
      <p:sp>
        <p:nvSpPr>
          <p:cNvPr id="6" name="TextBox 5"/>
          <p:cNvSpPr txBox="1"/>
          <p:nvPr/>
        </p:nvSpPr>
        <p:spPr>
          <a:xfrm>
            <a:off x="2897641" y="2801258"/>
            <a:ext cx="607859" cy="338554"/>
          </a:xfrm>
          <a:prstGeom prst="rect">
            <a:avLst/>
          </a:prstGeom>
          <a:noFill/>
        </p:spPr>
        <p:txBody>
          <a:bodyPr wrap="none" rtlCol="0">
            <a:spAutoFit/>
          </a:bodyPr>
          <a:lstStyle/>
          <a:p>
            <a:r>
              <a:rPr lang="en-GB" dirty="0"/>
              <a:t>sum</a:t>
            </a:r>
          </a:p>
        </p:txBody>
      </p:sp>
      <p:sp>
        <p:nvSpPr>
          <p:cNvPr id="7" name="TextBox 6"/>
          <p:cNvSpPr txBox="1"/>
          <p:nvPr/>
        </p:nvSpPr>
        <p:spPr>
          <a:xfrm>
            <a:off x="1039814" y="2772229"/>
            <a:ext cx="736099" cy="338554"/>
          </a:xfrm>
          <a:prstGeom prst="rect">
            <a:avLst/>
          </a:prstGeom>
          <a:noFill/>
        </p:spPr>
        <p:txBody>
          <a:bodyPr wrap="none" rtlCol="0">
            <a:spAutoFit/>
          </a:bodyPr>
          <a:lstStyle/>
          <a:p>
            <a:r>
              <a:rPr lang="en-GB" dirty="0"/>
              <a:t>limits</a:t>
            </a:r>
          </a:p>
        </p:txBody>
      </p:sp>
      <p:cxnSp>
        <p:nvCxnSpPr>
          <p:cNvPr id="9" name="Straight Arrow Connector 8"/>
          <p:cNvCxnSpPr/>
          <p:nvPr/>
        </p:nvCxnSpPr>
        <p:spPr bwMode="auto">
          <a:xfrm flipV="1">
            <a:off x="3468914" y="2926218"/>
            <a:ext cx="343125" cy="2018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0" name="Straight Arrow Connector 9"/>
          <p:cNvCxnSpPr/>
          <p:nvPr/>
        </p:nvCxnSpPr>
        <p:spPr bwMode="auto">
          <a:xfrm>
            <a:off x="1814286" y="2946400"/>
            <a:ext cx="1886857" cy="39188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2" name="Straight Arrow Connector 11"/>
          <p:cNvCxnSpPr/>
          <p:nvPr/>
        </p:nvCxnSpPr>
        <p:spPr bwMode="auto">
          <a:xfrm flipV="1">
            <a:off x="1799771" y="2496457"/>
            <a:ext cx="2017486" cy="44994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pic>
        <p:nvPicPr>
          <p:cNvPr id="15" name="Picture 1"/>
          <p:cNvPicPr>
            <a:picLocks noChangeAspect="1" noChangeArrowheads="1"/>
          </p:cNvPicPr>
          <p:nvPr/>
        </p:nvPicPr>
        <p:blipFill>
          <a:blip r:embed="rId2" cstate="print"/>
          <a:srcRect l="26392"/>
          <a:stretch>
            <a:fillRect/>
          </a:stretch>
        </p:blipFill>
        <p:spPr bwMode="auto">
          <a:xfrm>
            <a:off x="3410858" y="3951062"/>
            <a:ext cx="2321932" cy="824139"/>
          </a:xfrm>
          <a:prstGeom prst="rect">
            <a:avLst/>
          </a:prstGeom>
          <a:noFill/>
          <a:ln w="9525">
            <a:noFill/>
            <a:miter lim="800000"/>
            <a:headEnd/>
            <a:tailEnd/>
          </a:ln>
        </p:spPr>
      </p:pic>
    </p:spTree>
    <p:extLst>
      <p:ext uri="{BB962C8B-B14F-4D97-AF65-F5344CB8AC3E}">
        <p14:creationId xmlns:p14="http://schemas.microsoft.com/office/powerpoint/2010/main" val="14130743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1885950" y="1443039"/>
            <a:ext cx="7086600" cy="403264"/>
            <a:chOff x="990600" y="642938"/>
            <a:chExt cx="7086600" cy="1673225"/>
          </a:xfrm>
        </p:grpSpPr>
        <p:sp>
          <p:nvSpPr>
            <p:cNvPr id="4" name="Freeform 2"/>
            <p:cNvSpPr>
              <a:spLocks/>
            </p:cNvSpPr>
            <p:nvPr/>
          </p:nvSpPr>
          <p:spPr bwMode="auto">
            <a:xfrm>
              <a:off x="1001713" y="657225"/>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6" name="Group 5"/>
            <p:cNvGrpSpPr>
              <a:grpSpLocks/>
            </p:cNvGrpSpPr>
            <p:nvPr/>
          </p:nvGrpSpPr>
          <p:grpSpPr bwMode="auto">
            <a:xfrm>
              <a:off x="4535488" y="642938"/>
              <a:ext cx="3541712" cy="1660525"/>
              <a:chOff x="3263" y="625"/>
              <a:chExt cx="2256" cy="826"/>
            </a:xfrm>
          </p:grpSpPr>
          <p:sp>
            <p:nvSpPr>
              <p:cNvPr id="7"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9"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5" name="Freeform 14"/>
            <p:cNvSpPr>
              <a:spLocks/>
            </p:cNvSpPr>
            <p:nvPr/>
          </p:nvSpPr>
          <p:spPr bwMode="auto">
            <a:xfrm>
              <a:off x="4533900" y="642938"/>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6" name="Rectangle 15"/>
            <p:cNvSpPr>
              <a:spLocks noChangeArrowheads="1"/>
            </p:cNvSpPr>
            <p:nvPr/>
          </p:nvSpPr>
          <p:spPr bwMode="auto">
            <a:xfrm>
              <a:off x="1876425"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7" name="Rectangle 16"/>
            <p:cNvSpPr>
              <a:spLocks noChangeArrowheads="1"/>
            </p:cNvSpPr>
            <p:nvPr/>
          </p:nvSpPr>
          <p:spPr bwMode="auto">
            <a:xfrm>
              <a:off x="2762250" y="642938"/>
              <a:ext cx="884238" cy="830262"/>
            </a:xfrm>
            <a:prstGeom prst="rect">
              <a:avLst/>
            </a:prstGeom>
            <a:noFill/>
            <a:ln w="9525">
              <a:solidFill>
                <a:srgbClr val="99CCFF"/>
              </a:solidFill>
              <a:miter lim="800000"/>
              <a:headEnd/>
              <a:tailEnd/>
            </a:ln>
          </p:spPr>
          <p:txBody>
            <a:bodyPr wrap="none" anchor="ctr"/>
            <a:lstStyle/>
            <a:p>
              <a:endParaRPr lang="en-US"/>
            </a:p>
          </p:txBody>
        </p:sp>
        <p:sp>
          <p:nvSpPr>
            <p:cNvPr id="18" name="Rectangle 17"/>
            <p:cNvSpPr>
              <a:spLocks noChangeArrowheads="1"/>
            </p:cNvSpPr>
            <p:nvPr/>
          </p:nvSpPr>
          <p:spPr bwMode="auto">
            <a:xfrm>
              <a:off x="3646488"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9" name="Rectangle 18"/>
            <p:cNvSpPr>
              <a:spLocks noChangeArrowheads="1"/>
            </p:cNvSpPr>
            <p:nvPr/>
          </p:nvSpPr>
          <p:spPr bwMode="auto">
            <a:xfrm>
              <a:off x="990600"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20" name="Rectangle 19"/>
            <p:cNvSpPr>
              <a:spLocks noChangeArrowheads="1"/>
            </p:cNvSpPr>
            <p:nvPr/>
          </p:nvSpPr>
          <p:spPr bwMode="auto">
            <a:xfrm>
              <a:off x="1876425"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21" name="Rectangle 20"/>
            <p:cNvSpPr>
              <a:spLocks noChangeArrowheads="1"/>
            </p:cNvSpPr>
            <p:nvPr/>
          </p:nvSpPr>
          <p:spPr bwMode="auto">
            <a:xfrm>
              <a:off x="2762250" y="1473200"/>
              <a:ext cx="884238" cy="830263"/>
            </a:xfrm>
            <a:prstGeom prst="rect">
              <a:avLst/>
            </a:prstGeom>
            <a:noFill/>
            <a:ln w="9525">
              <a:solidFill>
                <a:srgbClr val="99CCFF"/>
              </a:solidFill>
              <a:miter lim="800000"/>
              <a:headEnd/>
              <a:tailEnd/>
            </a:ln>
          </p:spPr>
          <p:txBody>
            <a:bodyPr wrap="none" anchor="ctr"/>
            <a:lstStyle/>
            <a:p>
              <a:endParaRPr lang="en-US"/>
            </a:p>
          </p:txBody>
        </p:sp>
        <p:sp>
          <p:nvSpPr>
            <p:cNvPr id="22" name="Rectangle 21"/>
            <p:cNvSpPr>
              <a:spLocks noChangeArrowheads="1"/>
            </p:cNvSpPr>
            <p:nvPr/>
          </p:nvSpPr>
          <p:spPr bwMode="auto">
            <a:xfrm>
              <a:off x="3646488"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23" name="Rectangle 22"/>
            <p:cNvSpPr>
              <a:spLocks noChangeArrowheads="1"/>
            </p:cNvSpPr>
            <p:nvPr/>
          </p:nvSpPr>
          <p:spPr bwMode="auto">
            <a:xfrm>
              <a:off x="990600" y="1473200"/>
              <a:ext cx="885825" cy="830263"/>
            </a:xfrm>
            <a:prstGeom prst="rect">
              <a:avLst/>
            </a:prstGeom>
            <a:noFill/>
            <a:ln w="9525">
              <a:solidFill>
                <a:srgbClr val="99CCFF"/>
              </a:solidFill>
              <a:miter lim="800000"/>
              <a:headEnd/>
              <a:tailEnd/>
            </a:ln>
          </p:spPr>
          <p:txBody>
            <a:bodyPr wrap="none" anchor="ctr"/>
            <a:lstStyle/>
            <a:p>
              <a:endParaRPr lang="en-US"/>
            </a:p>
          </p:txBody>
        </p:sp>
      </p:grpSp>
      <p:grpSp>
        <p:nvGrpSpPr>
          <p:cNvPr id="65" name="Group 64"/>
          <p:cNvGrpSpPr/>
          <p:nvPr/>
        </p:nvGrpSpPr>
        <p:grpSpPr>
          <a:xfrm>
            <a:off x="1866900" y="604838"/>
            <a:ext cx="7096125" cy="400203"/>
            <a:chOff x="4514850" y="633413"/>
            <a:chExt cx="3543300" cy="827111"/>
          </a:xfrm>
        </p:grpSpPr>
        <p:grpSp>
          <p:nvGrpSpPr>
            <p:cNvPr id="47" name="Group 46"/>
            <p:cNvGrpSpPr>
              <a:grpSpLocks/>
            </p:cNvGrpSpPr>
            <p:nvPr/>
          </p:nvGrpSpPr>
          <p:grpSpPr bwMode="auto">
            <a:xfrm>
              <a:off x="4516438" y="633413"/>
              <a:ext cx="3541712" cy="827111"/>
              <a:chOff x="3263" y="625"/>
              <a:chExt cx="2256" cy="826"/>
            </a:xfrm>
          </p:grpSpPr>
          <p:sp>
            <p:nvSpPr>
              <p:cNvPr id="57" name="Rectangle 5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58" name="Rectangle 5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59" name="Rectangle 5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60" name="Rectangle 5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61" name="Rectangle 6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62" name="Rectangle 6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63" name="Rectangle 6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64" name="Rectangle 6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48" name="Freeform 47"/>
            <p:cNvSpPr>
              <a:spLocks/>
            </p:cNvSpPr>
            <p:nvPr/>
          </p:nvSpPr>
          <p:spPr bwMode="auto">
            <a:xfrm>
              <a:off x="4514850" y="633413"/>
              <a:ext cx="3541713"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nvGrpSpPr>
          <p:cNvPr id="96" name="Group 95"/>
          <p:cNvGrpSpPr/>
          <p:nvPr/>
        </p:nvGrpSpPr>
        <p:grpSpPr>
          <a:xfrm>
            <a:off x="1895476" y="2386013"/>
            <a:ext cx="7067550" cy="404812"/>
            <a:chOff x="990600" y="2586038"/>
            <a:chExt cx="6657975" cy="836636"/>
          </a:xfrm>
        </p:grpSpPr>
        <p:sp>
          <p:nvSpPr>
            <p:cNvPr id="67" name="Freeform 2"/>
            <p:cNvSpPr>
              <a:spLocks/>
            </p:cNvSpPr>
            <p:nvPr/>
          </p:nvSpPr>
          <p:spPr bwMode="auto">
            <a:xfrm>
              <a:off x="997561" y="2593154"/>
              <a:ext cx="2218330"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68" name="Group 67"/>
            <p:cNvGrpSpPr>
              <a:grpSpLocks/>
            </p:cNvGrpSpPr>
            <p:nvPr/>
          </p:nvGrpSpPr>
          <p:grpSpPr bwMode="auto">
            <a:xfrm>
              <a:off x="3210920" y="2586038"/>
              <a:ext cx="2218330" cy="827111"/>
              <a:chOff x="3263" y="625"/>
              <a:chExt cx="2256" cy="826"/>
            </a:xfrm>
          </p:grpSpPr>
          <p:sp>
            <p:nvSpPr>
              <p:cNvPr id="78" name="Rectangle 7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79" name="Rectangle 7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0" name="Rectangle 7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1" name="Rectangle 8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2" name="Rectangle 8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3" name="Rectangle 8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4" name="Rectangle 8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5" name="Rectangle 8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69" name="Freeform 68"/>
            <p:cNvSpPr>
              <a:spLocks/>
            </p:cNvSpPr>
            <p:nvPr/>
          </p:nvSpPr>
          <p:spPr bwMode="auto">
            <a:xfrm>
              <a:off x="3209925" y="2586038"/>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70" name="Rectangle 69"/>
            <p:cNvSpPr>
              <a:spLocks noChangeArrowheads="1"/>
            </p:cNvSpPr>
            <p:nvPr/>
          </p:nvSpPr>
          <p:spPr bwMode="auto">
            <a:xfrm>
              <a:off x="1545431"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71" name="Rectangle 70"/>
            <p:cNvSpPr>
              <a:spLocks noChangeArrowheads="1"/>
            </p:cNvSpPr>
            <p:nvPr/>
          </p:nvSpPr>
          <p:spPr bwMode="auto">
            <a:xfrm>
              <a:off x="2100263" y="2586038"/>
              <a:ext cx="553837" cy="413555"/>
            </a:xfrm>
            <a:prstGeom prst="rect">
              <a:avLst/>
            </a:prstGeom>
            <a:noFill/>
            <a:ln w="9525">
              <a:solidFill>
                <a:srgbClr val="99CCFF"/>
              </a:solidFill>
              <a:miter lim="800000"/>
              <a:headEnd/>
              <a:tailEnd/>
            </a:ln>
          </p:spPr>
          <p:txBody>
            <a:bodyPr wrap="none" anchor="ctr"/>
            <a:lstStyle/>
            <a:p>
              <a:endParaRPr lang="en-US"/>
            </a:p>
          </p:txBody>
        </p:sp>
        <p:sp>
          <p:nvSpPr>
            <p:cNvPr id="72" name="Rectangle 71"/>
            <p:cNvSpPr>
              <a:spLocks noChangeArrowheads="1"/>
            </p:cNvSpPr>
            <p:nvPr/>
          </p:nvSpPr>
          <p:spPr bwMode="auto">
            <a:xfrm>
              <a:off x="26541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73" name="Rectangle 72"/>
            <p:cNvSpPr>
              <a:spLocks noChangeArrowheads="1"/>
            </p:cNvSpPr>
            <p:nvPr/>
          </p:nvSpPr>
          <p:spPr bwMode="auto">
            <a:xfrm>
              <a:off x="9906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74" name="Rectangle 73"/>
            <p:cNvSpPr>
              <a:spLocks noChangeArrowheads="1"/>
            </p:cNvSpPr>
            <p:nvPr/>
          </p:nvSpPr>
          <p:spPr bwMode="auto">
            <a:xfrm>
              <a:off x="1545431"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75" name="Rectangle 74"/>
            <p:cNvSpPr>
              <a:spLocks noChangeArrowheads="1"/>
            </p:cNvSpPr>
            <p:nvPr/>
          </p:nvSpPr>
          <p:spPr bwMode="auto">
            <a:xfrm>
              <a:off x="2100263" y="2999593"/>
              <a:ext cx="553837" cy="413556"/>
            </a:xfrm>
            <a:prstGeom prst="rect">
              <a:avLst/>
            </a:prstGeom>
            <a:noFill/>
            <a:ln w="9525">
              <a:solidFill>
                <a:srgbClr val="99CCFF"/>
              </a:solidFill>
              <a:miter lim="800000"/>
              <a:headEnd/>
              <a:tailEnd/>
            </a:ln>
          </p:spPr>
          <p:txBody>
            <a:bodyPr wrap="none" anchor="ctr"/>
            <a:lstStyle/>
            <a:p>
              <a:endParaRPr lang="en-US"/>
            </a:p>
          </p:txBody>
        </p:sp>
        <p:sp>
          <p:nvSpPr>
            <p:cNvPr id="76" name="Rectangle 75"/>
            <p:cNvSpPr>
              <a:spLocks noChangeArrowheads="1"/>
            </p:cNvSpPr>
            <p:nvPr/>
          </p:nvSpPr>
          <p:spPr bwMode="auto">
            <a:xfrm>
              <a:off x="2654100"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77" name="Rectangle 76"/>
            <p:cNvSpPr>
              <a:spLocks noChangeArrowheads="1"/>
            </p:cNvSpPr>
            <p:nvPr/>
          </p:nvSpPr>
          <p:spPr bwMode="auto">
            <a:xfrm>
              <a:off x="990600" y="2999593"/>
              <a:ext cx="554831" cy="413556"/>
            </a:xfrm>
            <a:prstGeom prst="rect">
              <a:avLst/>
            </a:prstGeom>
            <a:noFill/>
            <a:ln w="9525">
              <a:solidFill>
                <a:srgbClr val="99CCFF"/>
              </a:solidFill>
              <a:miter lim="800000"/>
              <a:headEnd/>
              <a:tailEnd/>
            </a:ln>
          </p:spPr>
          <p:txBody>
            <a:bodyPr wrap="none" anchor="ctr"/>
            <a:lstStyle/>
            <a:p>
              <a:endParaRPr lang="en-US"/>
            </a:p>
          </p:txBody>
        </p:sp>
        <p:grpSp>
          <p:nvGrpSpPr>
            <p:cNvPr id="86" name="Group 85"/>
            <p:cNvGrpSpPr>
              <a:grpSpLocks/>
            </p:cNvGrpSpPr>
            <p:nvPr/>
          </p:nvGrpSpPr>
          <p:grpSpPr bwMode="auto">
            <a:xfrm>
              <a:off x="5430245" y="2586038"/>
              <a:ext cx="2218330" cy="827111"/>
              <a:chOff x="3263" y="625"/>
              <a:chExt cx="2256" cy="826"/>
            </a:xfrm>
          </p:grpSpPr>
          <p:sp>
            <p:nvSpPr>
              <p:cNvPr id="87" name="Rectangle 8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8" name="Rectangle 8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89" name="Rectangle 8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90" name="Rectangle 8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91" name="Rectangle 9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92" name="Rectangle 9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93" name="Rectangle 9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94" name="Rectangle 9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95" name="Freeform 94"/>
            <p:cNvSpPr>
              <a:spLocks/>
            </p:cNvSpPr>
            <p:nvPr/>
          </p:nvSpPr>
          <p:spPr bwMode="auto">
            <a:xfrm>
              <a:off x="5429250" y="2595563"/>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nvGrpSpPr>
          <p:cNvPr id="137" name="Group 136"/>
          <p:cNvGrpSpPr/>
          <p:nvPr/>
        </p:nvGrpSpPr>
        <p:grpSpPr>
          <a:xfrm>
            <a:off x="1895475" y="3309939"/>
            <a:ext cx="7038975" cy="403264"/>
            <a:chOff x="990600" y="3490913"/>
            <a:chExt cx="7038975" cy="833437"/>
          </a:xfrm>
        </p:grpSpPr>
        <p:grpSp>
          <p:nvGrpSpPr>
            <p:cNvPr id="97" name="Group 96"/>
            <p:cNvGrpSpPr/>
            <p:nvPr/>
          </p:nvGrpSpPr>
          <p:grpSpPr>
            <a:xfrm>
              <a:off x="990600" y="3490913"/>
              <a:ext cx="3524250" cy="833437"/>
              <a:chOff x="990600" y="642938"/>
              <a:chExt cx="7086600" cy="1673225"/>
            </a:xfrm>
          </p:grpSpPr>
          <p:sp>
            <p:nvSpPr>
              <p:cNvPr id="98" name="Freeform 2"/>
              <p:cNvSpPr>
                <a:spLocks/>
              </p:cNvSpPr>
              <p:nvPr/>
            </p:nvSpPr>
            <p:spPr bwMode="auto">
              <a:xfrm>
                <a:off x="1001713" y="657225"/>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99" name="Group 98"/>
              <p:cNvGrpSpPr>
                <a:grpSpLocks/>
              </p:cNvGrpSpPr>
              <p:nvPr/>
            </p:nvGrpSpPr>
            <p:grpSpPr bwMode="auto">
              <a:xfrm>
                <a:off x="4535488" y="642938"/>
                <a:ext cx="3541712" cy="1660525"/>
                <a:chOff x="3263" y="625"/>
                <a:chExt cx="2256" cy="826"/>
              </a:xfrm>
            </p:grpSpPr>
            <p:sp>
              <p:nvSpPr>
                <p:cNvPr id="109" name="Rectangle 108"/>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0" name="Rectangle 109"/>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1" name="Rectangle 110"/>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 name="Rectangle 111"/>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 name="Rectangle 112"/>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4" name="Rectangle 113"/>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5" name="Rectangle 114"/>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6" name="Rectangle 115"/>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00" name="Freeform 99"/>
              <p:cNvSpPr>
                <a:spLocks/>
              </p:cNvSpPr>
              <p:nvPr/>
            </p:nvSpPr>
            <p:spPr bwMode="auto">
              <a:xfrm>
                <a:off x="4533900" y="642938"/>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01" name="Rectangle 100"/>
              <p:cNvSpPr>
                <a:spLocks noChangeArrowheads="1"/>
              </p:cNvSpPr>
              <p:nvPr/>
            </p:nvSpPr>
            <p:spPr bwMode="auto">
              <a:xfrm>
                <a:off x="1876425"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02" name="Rectangle 101"/>
              <p:cNvSpPr>
                <a:spLocks noChangeArrowheads="1"/>
              </p:cNvSpPr>
              <p:nvPr/>
            </p:nvSpPr>
            <p:spPr bwMode="auto">
              <a:xfrm>
                <a:off x="2762250" y="642938"/>
                <a:ext cx="884238" cy="830262"/>
              </a:xfrm>
              <a:prstGeom prst="rect">
                <a:avLst/>
              </a:prstGeom>
              <a:noFill/>
              <a:ln w="9525">
                <a:solidFill>
                  <a:srgbClr val="99CCFF"/>
                </a:solidFill>
                <a:miter lim="800000"/>
                <a:headEnd/>
                <a:tailEnd/>
              </a:ln>
            </p:spPr>
            <p:txBody>
              <a:bodyPr wrap="none" anchor="ctr"/>
              <a:lstStyle/>
              <a:p>
                <a:endParaRPr lang="en-US"/>
              </a:p>
            </p:txBody>
          </p:sp>
          <p:sp>
            <p:nvSpPr>
              <p:cNvPr id="103" name="Rectangle 102"/>
              <p:cNvSpPr>
                <a:spLocks noChangeArrowheads="1"/>
              </p:cNvSpPr>
              <p:nvPr/>
            </p:nvSpPr>
            <p:spPr bwMode="auto">
              <a:xfrm>
                <a:off x="3646488"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04" name="Rectangle 103"/>
              <p:cNvSpPr>
                <a:spLocks noChangeArrowheads="1"/>
              </p:cNvSpPr>
              <p:nvPr/>
            </p:nvSpPr>
            <p:spPr bwMode="auto">
              <a:xfrm>
                <a:off x="990600"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05" name="Rectangle 104"/>
              <p:cNvSpPr>
                <a:spLocks noChangeArrowheads="1"/>
              </p:cNvSpPr>
              <p:nvPr/>
            </p:nvSpPr>
            <p:spPr bwMode="auto">
              <a:xfrm>
                <a:off x="1876425"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106" name="Rectangle 105"/>
              <p:cNvSpPr>
                <a:spLocks noChangeArrowheads="1"/>
              </p:cNvSpPr>
              <p:nvPr/>
            </p:nvSpPr>
            <p:spPr bwMode="auto">
              <a:xfrm>
                <a:off x="2762250" y="1473200"/>
                <a:ext cx="884238" cy="830263"/>
              </a:xfrm>
              <a:prstGeom prst="rect">
                <a:avLst/>
              </a:prstGeom>
              <a:noFill/>
              <a:ln w="9525">
                <a:solidFill>
                  <a:srgbClr val="99CCFF"/>
                </a:solidFill>
                <a:miter lim="800000"/>
                <a:headEnd/>
                <a:tailEnd/>
              </a:ln>
            </p:spPr>
            <p:txBody>
              <a:bodyPr wrap="none" anchor="ctr"/>
              <a:lstStyle/>
              <a:p>
                <a:endParaRPr lang="en-US"/>
              </a:p>
            </p:txBody>
          </p:sp>
          <p:sp>
            <p:nvSpPr>
              <p:cNvPr id="107" name="Rectangle 106"/>
              <p:cNvSpPr>
                <a:spLocks noChangeArrowheads="1"/>
              </p:cNvSpPr>
              <p:nvPr/>
            </p:nvSpPr>
            <p:spPr bwMode="auto">
              <a:xfrm>
                <a:off x="3646488"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108" name="Rectangle 107"/>
              <p:cNvSpPr>
                <a:spLocks noChangeArrowheads="1"/>
              </p:cNvSpPr>
              <p:nvPr/>
            </p:nvSpPr>
            <p:spPr bwMode="auto">
              <a:xfrm>
                <a:off x="990600" y="1473200"/>
                <a:ext cx="885825" cy="830263"/>
              </a:xfrm>
              <a:prstGeom prst="rect">
                <a:avLst/>
              </a:prstGeom>
              <a:noFill/>
              <a:ln w="9525">
                <a:solidFill>
                  <a:srgbClr val="99CCFF"/>
                </a:solidFill>
                <a:miter lim="800000"/>
                <a:headEnd/>
                <a:tailEnd/>
              </a:ln>
            </p:spPr>
            <p:txBody>
              <a:bodyPr wrap="none" anchor="ctr"/>
              <a:lstStyle/>
              <a:p>
                <a:endParaRPr lang="en-US"/>
              </a:p>
            </p:txBody>
          </p:sp>
        </p:grpSp>
        <p:grpSp>
          <p:nvGrpSpPr>
            <p:cNvPr id="117" name="Group 116"/>
            <p:cNvGrpSpPr/>
            <p:nvPr/>
          </p:nvGrpSpPr>
          <p:grpSpPr>
            <a:xfrm>
              <a:off x="4505325" y="3490913"/>
              <a:ext cx="3524250" cy="833437"/>
              <a:chOff x="990600" y="642938"/>
              <a:chExt cx="7086600" cy="1673225"/>
            </a:xfrm>
          </p:grpSpPr>
          <p:sp>
            <p:nvSpPr>
              <p:cNvPr id="118" name="Freeform 2"/>
              <p:cNvSpPr>
                <a:spLocks/>
              </p:cNvSpPr>
              <p:nvPr/>
            </p:nvSpPr>
            <p:spPr bwMode="auto">
              <a:xfrm>
                <a:off x="1001713" y="657225"/>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19" name="Group 118"/>
              <p:cNvGrpSpPr>
                <a:grpSpLocks/>
              </p:cNvGrpSpPr>
              <p:nvPr/>
            </p:nvGrpSpPr>
            <p:grpSpPr bwMode="auto">
              <a:xfrm>
                <a:off x="4535488" y="642938"/>
                <a:ext cx="3541712" cy="1660525"/>
                <a:chOff x="3263" y="625"/>
                <a:chExt cx="2256" cy="826"/>
              </a:xfrm>
            </p:grpSpPr>
            <p:sp>
              <p:nvSpPr>
                <p:cNvPr id="129" name="Rectangle 128"/>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0" name="Rectangle 129"/>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1" name="Rectangle 130"/>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2" name="Rectangle 131"/>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 name="Rectangle 132"/>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4" name="Rectangle 133"/>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5" name="Rectangle 134"/>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6" name="Rectangle 135"/>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20" name="Freeform 119"/>
              <p:cNvSpPr>
                <a:spLocks/>
              </p:cNvSpPr>
              <p:nvPr/>
            </p:nvSpPr>
            <p:spPr bwMode="auto">
              <a:xfrm>
                <a:off x="4533900" y="642938"/>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21" name="Rectangle 120"/>
              <p:cNvSpPr>
                <a:spLocks noChangeArrowheads="1"/>
              </p:cNvSpPr>
              <p:nvPr/>
            </p:nvSpPr>
            <p:spPr bwMode="auto">
              <a:xfrm>
                <a:off x="1876425"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22" name="Rectangle 121"/>
              <p:cNvSpPr>
                <a:spLocks noChangeArrowheads="1"/>
              </p:cNvSpPr>
              <p:nvPr/>
            </p:nvSpPr>
            <p:spPr bwMode="auto">
              <a:xfrm>
                <a:off x="2762250" y="642938"/>
                <a:ext cx="884238" cy="830262"/>
              </a:xfrm>
              <a:prstGeom prst="rect">
                <a:avLst/>
              </a:prstGeom>
              <a:noFill/>
              <a:ln w="9525">
                <a:solidFill>
                  <a:srgbClr val="99CCFF"/>
                </a:solidFill>
                <a:miter lim="800000"/>
                <a:headEnd/>
                <a:tailEnd/>
              </a:ln>
            </p:spPr>
            <p:txBody>
              <a:bodyPr wrap="none" anchor="ctr"/>
              <a:lstStyle/>
              <a:p>
                <a:endParaRPr lang="en-US"/>
              </a:p>
            </p:txBody>
          </p:sp>
          <p:sp>
            <p:nvSpPr>
              <p:cNvPr id="123" name="Rectangle 122"/>
              <p:cNvSpPr>
                <a:spLocks noChangeArrowheads="1"/>
              </p:cNvSpPr>
              <p:nvPr/>
            </p:nvSpPr>
            <p:spPr bwMode="auto">
              <a:xfrm>
                <a:off x="3646488"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24" name="Rectangle 123"/>
              <p:cNvSpPr>
                <a:spLocks noChangeArrowheads="1"/>
              </p:cNvSpPr>
              <p:nvPr/>
            </p:nvSpPr>
            <p:spPr bwMode="auto">
              <a:xfrm>
                <a:off x="990600"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25" name="Rectangle 124"/>
              <p:cNvSpPr>
                <a:spLocks noChangeArrowheads="1"/>
              </p:cNvSpPr>
              <p:nvPr/>
            </p:nvSpPr>
            <p:spPr bwMode="auto">
              <a:xfrm>
                <a:off x="1876425"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126" name="Rectangle 125"/>
              <p:cNvSpPr>
                <a:spLocks noChangeArrowheads="1"/>
              </p:cNvSpPr>
              <p:nvPr/>
            </p:nvSpPr>
            <p:spPr bwMode="auto">
              <a:xfrm>
                <a:off x="2762250" y="1473200"/>
                <a:ext cx="884238" cy="830263"/>
              </a:xfrm>
              <a:prstGeom prst="rect">
                <a:avLst/>
              </a:prstGeom>
              <a:noFill/>
              <a:ln w="9525">
                <a:solidFill>
                  <a:srgbClr val="99CCFF"/>
                </a:solidFill>
                <a:miter lim="800000"/>
                <a:headEnd/>
                <a:tailEnd/>
              </a:ln>
            </p:spPr>
            <p:txBody>
              <a:bodyPr wrap="none" anchor="ctr"/>
              <a:lstStyle/>
              <a:p>
                <a:endParaRPr lang="en-US"/>
              </a:p>
            </p:txBody>
          </p:sp>
          <p:sp>
            <p:nvSpPr>
              <p:cNvPr id="127" name="Rectangle 126"/>
              <p:cNvSpPr>
                <a:spLocks noChangeArrowheads="1"/>
              </p:cNvSpPr>
              <p:nvPr/>
            </p:nvSpPr>
            <p:spPr bwMode="auto">
              <a:xfrm>
                <a:off x="3646488"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128" name="Rectangle 127"/>
              <p:cNvSpPr>
                <a:spLocks noChangeArrowheads="1"/>
              </p:cNvSpPr>
              <p:nvPr/>
            </p:nvSpPr>
            <p:spPr bwMode="auto">
              <a:xfrm>
                <a:off x="990600" y="1473200"/>
                <a:ext cx="885825" cy="830263"/>
              </a:xfrm>
              <a:prstGeom prst="rect">
                <a:avLst/>
              </a:prstGeom>
              <a:noFill/>
              <a:ln w="9525">
                <a:solidFill>
                  <a:srgbClr val="99CCFF"/>
                </a:solidFill>
                <a:miter lim="800000"/>
                <a:headEnd/>
                <a:tailEnd/>
              </a:ln>
            </p:spPr>
            <p:txBody>
              <a:bodyPr wrap="none" anchor="ctr"/>
              <a:lstStyle/>
              <a:p>
                <a:endParaRPr lang="en-US"/>
              </a:p>
            </p:txBody>
          </p:sp>
        </p:grpSp>
      </p:grpSp>
      <p:grpSp>
        <p:nvGrpSpPr>
          <p:cNvPr id="189" name="Group 188"/>
          <p:cNvGrpSpPr/>
          <p:nvPr/>
        </p:nvGrpSpPr>
        <p:grpSpPr>
          <a:xfrm>
            <a:off x="1876425" y="4262438"/>
            <a:ext cx="7058025" cy="404812"/>
            <a:chOff x="971550" y="4462463"/>
            <a:chExt cx="8801100" cy="836636"/>
          </a:xfrm>
        </p:grpSpPr>
        <p:grpSp>
          <p:nvGrpSpPr>
            <p:cNvPr id="139" name="Group 138"/>
            <p:cNvGrpSpPr/>
            <p:nvPr/>
          </p:nvGrpSpPr>
          <p:grpSpPr>
            <a:xfrm>
              <a:off x="971550" y="4462463"/>
              <a:ext cx="3524250" cy="833437"/>
              <a:chOff x="990600" y="642938"/>
              <a:chExt cx="7086600" cy="1673225"/>
            </a:xfrm>
          </p:grpSpPr>
          <p:sp>
            <p:nvSpPr>
              <p:cNvPr id="160" name="Freeform 2"/>
              <p:cNvSpPr>
                <a:spLocks/>
              </p:cNvSpPr>
              <p:nvPr/>
            </p:nvSpPr>
            <p:spPr bwMode="auto">
              <a:xfrm>
                <a:off x="1001713" y="657225"/>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61" name="Group 160"/>
              <p:cNvGrpSpPr>
                <a:grpSpLocks/>
              </p:cNvGrpSpPr>
              <p:nvPr/>
            </p:nvGrpSpPr>
            <p:grpSpPr bwMode="auto">
              <a:xfrm>
                <a:off x="4535488" y="642938"/>
                <a:ext cx="3541712" cy="1660525"/>
                <a:chOff x="3263" y="625"/>
                <a:chExt cx="2256" cy="826"/>
              </a:xfrm>
            </p:grpSpPr>
            <p:sp>
              <p:nvSpPr>
                <p:cNvPr id="171" name="Rectangle 170"/>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72" name="Rectangle 171"/>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73" name="Rectangle 172"/>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74" name="Rectangle 173"/>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75" name="Rectangle 174"/>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76" name="Rectangle 175"/>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77" name="Rectangle 176"/>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78" name="Rectangle 177"/>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62" name="Freeform 161"/>
              <p:cNvSpPr>
                <a:spLocks/>
              </p:cNvSpPr>
              <p:nvPr/>
            </p:nvSpPr>
            <p:spPr bwMode="auto">
              <a:xfrm>
                <a:off x="4533900" y="642938"/>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63" name="Rectangle 162"/>
              <p:cNvSpPr>
                <a:spLocks noChangeArrowheads="1"/>
              </p:cNvSpPr>
              <p:nvPr/>
            </p:nvSpPr>
            <p:spPr bwMode="auto">
              <a:xfrm>
                <a:off x="1876425"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64" name="Rectangle 163"/>
              <p:cNvSpPr>
                <a:spLocks noChangeArrowheads="1"/>
              </p:cNvSpPr>
              <p:nvPr/>
            </p:nvSpPr>
            <p:spPr bwMode="auto">
              <a:xfrm>
                <a:off x="2762250" y="642938"/>
                <a:ext cx="884238" cy="830262"/>
              </a:xfrm>
              <a:prstGeom prst="rect">
                <a:avLst/>
              </a:prstGeom>
              <a:noFill/>
              <a:ln w="9525">
                <a:solidFill>
                  <a:srgbClr val="99CCFF"/>
                </a:solidFill>
                <a:miter lim="800000"/>
                <a:headEnd/>
                <a:tailEnd/>
              </a:ln>
            </p:spPr>
            <p:txBody>
              <a:bodyPr wrap="none" anchor="ctr"/>
              <a:lstStyle/>
              <a:p>
                <a:endParaRPr lang="en-US"/>
              </a:p>
            </p:txBody>
          </p:sp>
          <p:sp>
            <p:nvSpPr>
              <p:cNvPr id="165" name="Rectangle 164"/>
              <p:cNvSpPr>
                <a:spLocks noChangeArrowheads="1"/>
              </p:cNvSpPr>
              <p:nvPr/>
            </p:nvSpPr>
            <p:spPr bwMode="auto">
              <a:xfrm>
                <a:off x="3646488"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66" name="Rectangle 165"/>
              <p:cNvSpPr>
                <a:spLocks noChangeArrowheads="1"/>
              </p:cNvSpPr>
              <p:nvPr/>
            </p:nvSpPr>
            <p:spPr bwMode="auto">
              <a:xfrm>
                <a:off x="990600" y="642938"/>
                <a:ext cx="885825" cy="830262"/>
              </a:xfrm>
              <a:prstGeom prst="rect">
                <a:avLst/>
              </a:prstGeom>
              <a:noFill/>
              <a:ln w="9525">
                <a:solidFill>
                  <a:srgbClr val="99CCFF"/>
                </a:solidFill>
                <a:miter lim="800000"/>
                <a:headEnd/>
                <a:tailEnd/>
              </a:ln>
            </p:spPr>
            <p:txBody>
              <a:bodyPr wrap="none" anchor="ctr"/>
              <a:lstStyle/>
              <a:p>
                <a:endParaRPr lang="en-US"/>
              </a:p>
            </p:txBody>
          </p:sp>
          <p:sp>
            <p:nvSpPr>
              <p:cNvPr id="167" name="Rectangle 166"/>
              <p:cNvSpPr>
                <a:spLocks noChangeArrowheads="1"/>
              </p:cNvSpPr>
              <p:nvPr/>
            </p:nvSpPr>
            <p:spPr bwMode="auto">
              <a:xfrm>
                <a:off x="1876425"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168" name="Rectangle 167"/>
              <p:cNvSpPr>
                <a:spLocks noChangeArrowheads="1"/>
              </p:cNvSpPr>
              <p:nvPr/>
            </p:nvSpPr>
            <p:spPr bwMode="auto">
              <a:xfrm>
                <a:off x="2762250" y="1473200"/>
                <a:ext cx="884238" cy="830263"/>
              </a:xfrm>
              <a:prstGeom prst="rect">
                <a:avLst/>
              </a:prstGeom>
              <a:noFill/>
              <a:ln w="9525">
                <a:solidFill>
                  <a:srgbClr val="99CCFF"/>
                </a:solidFill>
                <a:miter lim="800000"/>
                <a:headEnd/>
                <a:tailEnd/>
              </a:ln>
            </p:spPr>
            <p:txBody>
              <a:bodyPr wrap="none" anchor="ctr"/>
              <a:lstStyle/>
              <a:p>
                <a:endParaRPr lang="en-US"/>
              </a:p>
            </p:txBody>
          </p:sp>
          <p:sp>
            <p:nvSpPr>
              <p:cNvPr id="169" name="Rectangle 168"/>
              <p:cNvSpPr>
                <a:spLocks noChangeArrowheads="1"/>
              </p:cNvSpPr>
              <p:nvPr/>
            </p:nvSpPr>
            <p:spPr bwMode="auto">
              <a:xfrm>
                <a:off x="3646488" y="1473200"/>
                <a:ext cx="885825" cy="830263"/>
              </a:xfrm>
              <a:prstGeom prst="rect">
                <a:avLst/>
              </a:prstGeom>
              <a:noFill/>
              <a:ln w="9525">
                <a:solidFill>
                  <a:srgbClr val="99CCFF"/>
                </a:solidFill>
                <a:miter lim="800000"/>
                <a:headEnd/>
                <a:tailEnd/>
              </a:ln>
            </p:spPr>
            <p:txBody>
              <a:bodyPr wrap="none" anchor="ctr"/>
              <a:lstStyle/>
              <a:p>
                <a:endParaRPr lang="en-US"/>
              </a:p>
            </p:txBody>
          </p:sp>
          <p:sp>
            <p:nvSpPr>
              <p:cNvPr id="170" name="Rectangle 169"/>
              <p:cNvSpPr>
                <a:spLocks noChangeArrowheads="1"/>
              </p:cNvSpPr>
              <p:nvPr/>
            </p:nvSpPr>
            <p:spPr bwMode="auto">
              <a:xfrm>
                <a:off x="990600" y="1473200"/>
                <a:ext cx="885825" cy="830263"/>
              </a:xfrm>
              <a:prstGeom prst="rect">
                <a:avLst/>
              </a:prstGeom>
              <a:noFill/>
              <a:ln w="9525">
                <a:solidFill>
                  <a:srgbClr val="99CCFF"/>
                </a:solidFill>
                <a:miter lim="800000"/>
                <a:headEnd/>
                <a:tailEnd/>
              </a:ln>
            </p:spPr>
            <p:txBody>
              <a:bodyPr wrap="none" anchor="ctr"/>
              <a:lstStyle/>
              <a:p>
                <a:endParaRPr lang="en-US"/>
              </a:p>
            </p:txBody>
          </p:sp>
        </p:grpSp>
        <p:sp>
          <p:nvSpPr>
            <p:cNvPr id="141" name="Freeform 2"/>
            <p:cNvSpPr>
              <a:spLocks/>
            </p:cNvSpPr>
            <p:nvPr/>
          </p:nvSpPr>
          <p:spPr bwMode="auto">
            <a:xfrm>
              <a:off x="4491802" y="4469579"/>
              <a:ext cx="1761335"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42" name="Group 141"/>
            <p:cNvGrpSpPr>
              <a:grpSpLocks/>
            </p:cNvGrpSpPr>
            <p:nvPr/>
          </p:nvGrpSpPr>
          <p:grpSpPr bwMode="auto">
            <a:xfrm>
              <a:off x="6249190" y="4462463"/>
              <a:ext cx="1761335" cy="827111"/>
              <a:chOff x="3263" y="625"/>
              <a:chExt cx="2256" cy="826"/>
            </a:xfrm>
          </p:grpSpPr>
          <p:sp>
            <p:nvSpPr>
              <p:cNvPr id="152" name="Rectangle 151"/>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3" name="Rectangle 152"/>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 name="Rectangle 153"/>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5" name="Rectangle 154"/>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6" name="Rectangle 155"/>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7" name="Rectangle 156"/>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8" name="Rectangle 157"/>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9" name="Rectangle 158"/>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43" name="Freeform 142"/>
            <p:cNvSpPr>
              <a:spLocks/>
            </p:cNvSpPr>
            <p:nvPr/>
          </p:nvSpPr>
          <p:spPr bwMode="auto">
            <a:xfrm>
              <a:off x="6248400" y="4462463"/>
              <a:ext cx="1761336"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44" name="Rectangle 143"/>
            <p:cNvSpPr>
              <a:spLocks noChangeArrowheads="1"/>
            </p:cNvSpPr>
            <p:nvPr/>
          </p:nvSpPr>
          <p:spPr bwMode="auto">
            <a:xfrm>
              <a:off x="4926806" y="4462463"/>
              <a:ext cx="440531" cy="413555"/>
            </a:xfrm>
            <a:prstGeom prst="rect">
              <a:avLst/>
            </a:prstGeom>
            <a:noFill/>
            <a:ln w="9525">
              <a:solidFill>
                <a:srgbClr val="99CCFF"/>
              </a:solidFill>
              <a:miter lim="800000"/>
              <a:headEnd/>
              <a:tailEnd/>
            </a:ln>
          </p:spPr>
          <p:txBody>
            <a:bodyPr wrap="none" anchor="ctr"/>
            <a:lstStyle/>
            <a:p>
              <a:endParaRPr lang="en-US"/>
            </a:p>
          </p:txBody>
        </p:sp>
        <p:sp>
          <p:nvSpPr>
            <p:cNvPr id="145" name="Rectangle 144"/>
            <p:cNvSpPr>
              <a:spLocks noChangeArrowheads="1"/>
            </p:cNvSpPr>
            <p:nvPr/>
          </p:nvSpPr>
          <p:spPr bwMode="auto">
            <a:xfrm>
              <a:off x="5367338" y="4462463"/>
              <a:ext cx="439742" cy="413555"/>
            </a:xfrm>
            <a:prstGeom prst="rect">
              <a:avLst/>
            </a:prstGeom>
            <a:noFill/>
            <a:ln w="9525">
              <a:solidFill>
                <a:srgbClr val="99CCFF"/>
              </a:solidFill>
              <a:miter lim="800000"/>
              <a:headEnd/>
              <a:tailEnd/>
            </a:ln>
          </p:spPr>
          <p:txBody>
            <a:bodyPr wrap="none" anchor="ctr"/>
            <a:lstStyle/>
            <a:p>
              <a:endParaRPr lang="en-US"/>
            </a:p>
          </p:txBody>
        </p:sp>
        <p:sp>
          <p:nvSpPr>
            <p:cNvPr id="146" name="Rectangle 145"/>
            <p:cNvSpPr>
              <a:spLocks noChangeArrowheads="1"/>
            </p:cNvSpPr>
            <p:nvPr/>
          </p:nvSpPr>
          <p:spPr bwMode="auto">
            <a:xfrm>
              <a:off x="5807080" y="4462463"/>
              <a:ext cx="440531" cy="413555"/>
            </a:xfrm>
            <a:prstGeom prst="rect">
              <a:avLst/>
            </a:prstGeom>
            <a:noFill/>
            <a:ln w="9525">
              <a:solidFill>
                <a:srgbClr val="99CCFF"/>
              </a:solidFill>
              <a:miter lim="800000"/>
              <a:headEnd/>
              <a:tailEnd/>
            </a:ln>
          </p:spPr>
          <p:txBody>
            <a:bodyPr wrap="none" anchor="ctr"/>
            <a:lstStyle/>
            <a:p>
              <a:endParaRPr lang="en-US"/>
            </a:p>
          </p:txBody>
        </p:sp>
        <p:sp>
          <p:nvSpPr>
            <p:cNvPr id="147" name="Rectangle 146"/>
            <p:cNvSpPr>
              <a:spLocks noChangeArrowheads="1"/>
            </p:cNvSpPr>
            <p:nvPr/>
          </p:nvSpPr>
          <p:spPr bwMode="auto">
            <a:xfrm>
              <a:off x="4486275" y="4462463"/>
              <a:ext cx="440531" cy="413555"/>
            </a:xfrm>
            <a:prstGeom prst="rect">
              <a:avLst/>
            </a:prstGeom>
            <a:noFill/>
            <a:ln w="9525">
              <a:solidFill>
                <a:srgbClr val="99CCFF"/>
              </a:solidFill>
              <a:miter lim="800000"/>
              <a:headEnd/>
              <a:tailEnd/>
            </a:ln>
          </p:spPr>
          <p:txBody>
            <a:bodyPr wrap="none" anchor="ctr"/>
            <a:lstStyle/>
            <a:p>
              <a:endParaRPr lang="en-US"/>
            </a:p>
          </p:txBody>
        </p:sp>
        <p:sp>
          <p:nvSpPr>
            <p:cNvPr id="148" name="Rectangle 147"/>
            <p:cNvSpPr>
              <a:spLocks noChangeArrowheads="1"/>
            </p:cNvSpPr>
            <p:nvPr/>
          </p:nvSpPr>
          <p:spPr bwMode="auto">
            <a:xfrm>
              <a:off x="4926806" y="4876018"/>
              <a:ext cx="440531" cy="413556"/>
            </a:xfrm>
            <a:prstGeom prst="rect">
              <a:avLst/>
            </a:prstGeom>
            <a:noFill/>
            <a:ln w="9525">
              <a:solidFill>
                <a:srgbClr val="99CCFF"/>
              </a:solidFill>
              <a:miter lim="800000"/>
              <a:headEnd/>
              <a:tailEnd/>
            </a:ln>
          </p:spPr>
          <p:txBody>
            <a:bodyPr wrap="none" anchor="ctr"/>
            <a:lstStyle/>
            <a:p>
              <a:endParaRPr lang="en-US"/>
            </a:p>
          </p:txBody>
        </p:sp>
        <p:sp>
          <p:nvSpPr>
            <p:cNvPr id="149" name="Rectangle 148"/>
            <p:cNvSpPr>
              <a:spLocks noChangeArrowheads="1"/>
            </p:cNvSpPr>
            <p:nvPr/>
          </p:nvSpPr>
          <p:spPr bwMode="auto">
            <a:xfrm>
              <a:off x="5367338" y="4876018"/>
              <a:ext cx="439742" cy="413556"/>
            </a:xfrm>
            <a:prstGeom prst="rect">
              <a:avLst/>
            </a:prstGeom>
            <a:noFill/>
            <a:ln w="9525">
              <a:solidFill>
                <a:srgbClr val="99CCFF"/>
              </a:solidFill>
              <a:miter lim="800000"/>
              <a:headEnd/>
              <a:tailEnd/>
            </a:ln>
          </p:spPr>
          <p:txBody>
            <a:bodyPr wrap="none" anchor="ctr"/>
            <a:lstStyle/>
            <a:p>
              <a:endParaRPr lang="en-US"/>
            </a:p>
          </p:txBody>
        </p:sp>
        <p:sp>
          <p:nvSpPr>
            <p:cNvPr id="150" name="Rectangle 149"/>
            <p:cNvSpPr>
              <a:spLocks noChangeArrowheads="1"/>
            </p:cNvSpPr>
            <p:nvPr/>
          </p:nvSpPr>
          <p:spPr bwMode="auto">
            <a:xfrm>
              <a:off x="5807080" y="4876018"/>
              <a:ext cx="440531" cy="413556"/>
            </a:xfrm>
            <a:prstGeom prst="rect">
              <a:avLst/>
            </a:prstGeom>
            <a:noFill/>
            <a:ln w="9525">
              <a:solidFill>
                <a:srgbClr val="99CCFF"/>
              </a:solidFill>
              <a:miter lim="800000"/>
              <a:headEnd/>
              <a:tailEnd/>
            </a:ln>
          </p:spPr>
          <p:txBody>
            <a:bodyPr wrap="none" anchor="ctr"/>
            <a:lstStyle/>
            <a:p>
              <a:endParaRPr lang="en-US"/>
            </a:p>
          </p:txBody>
        </p:sp>
        <p:sp>
          <p:nvSpPr>
            <p:cNvPr id="151" name="Rectangle 150"/>
            <p:cNvSpPr>
              <a:spLocks noChangeArrowheads="1"/>
            </p:cNvSpPr>
            <p:nvPr/>
          </p:nvSpPr>
          <p:spPr bwMode="auto">
            <a:xfrm>
              <a:off x="4486275" y="4876018"/>
              <a:ext cx="440531" cy="413556"/>
            </a:xfrm>
            <a:prstGeom prst="rect">
              <a:avLst/>
            </a:prstGeom>
            <a:noFill/>
            <a:ln w="9525">
              <a:solidFill>
                <a:srgbClr val="99CCFF"/>
              </a:solidFill>
              <a:miter lim="800000"/>
              <a:headEnd/>
              <a:tailEnd/>
            </a:ln>
          </p:spPr>
          <p:txBody>
            <a:bodyPr wrap="none" anchor="ctr"/>
            <a:lstStyle/>
            <a:p>
              <a:endParaRPr lang="en-US"/>
            </a:p>
          </p:txBody>
        </p:sp>
        <p:grpSp>
          <p:nvGrpSpPr>
            <p:cNvPr id="179" name="Group 178"/>
            <p:cNvGrpSpPr>
              <a:grpSpLocks/>
            </p:cNvGrpSpPr>
            <p:nvPr/>
          </p:nvGrpSpPr>
          <p:grpSpPr bwMode="auto">
            <a:xfrm>
              <a:off x="8011315" y="4462463"/>
              <a:ext cx="1761335" cy="827111"/>
              <a:chOff x="3263" y="625"/>
              <a:chExt cx="2256" cy="826"/>
            </a:xfrm>
          </p:grpSpPr>
          <p:sp>
            <p:nvSpPr>
              <p:cNvPr id="180" name="Rectangle 179"/>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81" name="Rectangle 180"/>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82" name="Rectangle 181"/>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83" name="Rectangle 182"/>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84" name="Rectangle 183"/>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85" name="Rectangle 184"/>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86" name="Rectangle 185"/>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87" name="Rectangle 186"/>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88" name="Freeform 187"/>
            <p:cNvSpPr>
              <a:spLocks/>
            </p:cNvSpPr>
            <p:nvPr/>
          </p:nvSpPr>
          <p:spPr bwMode="auto">
            <a:xfrm>
              <a:off x="8010525" y="4471988"/>
              <a:ext cx="1761336"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nvGrpSpPr>
          <p:cNvPr id="250" name="Group 249"/>
          <p:cNvGrpSpPr/>
          <p:nvPr/>
        </p:nvGrpSpPr>
        <p:grpSpPr>
          <a:xfrm>
            <a:off x="1885951" y="5110163"/>
            <a:ext cx="7077074" cy="404812"/>
            <a:chOff x="981076" y="5414963"/>
            <a:chExt cx="7077074" cy="836636"/>
          </a:xfrm>
        </p:grpSpPr>
        <p:grpSp>
          <p:nvGrpSpPr>
            <p:cNvPr id="190" name="Group 189"/>
            <p:cNvGrpSpPr/>
            <p:nvPr/>
          </p:nvGrpSpPr>
          <p:grpSpPr>
            <a:xfrm>
              <a:off x="981076" y="5414963"/>
              <a:ext cx="3533774" cy="836636"/>
              <a:chOff x="990600" y="2586038"/>
              <a:chExt cx="6657975" cy="836636"/>
            </a:xfrm>
          </p:grpSpPr>
          <p:sp>
            <p:nvSpPr>
              <p:cNvPr id="191" name="Freeform 2"/>
              <p:cNvSpPr>
                <a:spLocks/>
              </p:cNvSpPr>
              <p:nvPr/>
            </p:nvSpPr>
            <p:spPr bwMode="auto">
              <a:xfrm>
                <a:off x="997561" y="2593154"/>
                <a:ext cx="2218330"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92" name="Group 191"/>
              <p:cNvGrpSpPr>
                <a:grpSpLocks/>
              </p:cNvGrpSpPr>
              <p:nvPr/>
            </p:nvGrpSpPr>
            <p:grpSpPr bwMode="auto">
              <a:xfrm>
                <a:off x="3210920" y="2586038"/>
                <a:ext cx="2218330" cy="827111"/>
                <a:chOff x="3263" y="625"/>
                <a:chExt cx="2256" cy="826"/>
              </a:xfrm>
            </p:grpSpPr>
            <p:sp>
              <p:nvSpPr>
                <p:cNvPr id="212" name="Rectangle 211"/>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3" name="Rectangle 212"/>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4" name="Rectangle 213"/>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5" name="Rectangle 214"/>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6" name="Rectangle 215"/>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7" name="Rectangle 216"/>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8" name="Rectangle 217"/>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9" name="Rectangle 218"/>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93" name="Freeform 192"/>
              <p:cNvSpPr>
                <a:spLocks/>
              </p:cNvSpPr>
              <p:nvPr/>
            </p:nvSpPr>
            <p:spPr bwMode="auto">
              <a:xfrm>
                <a:off x="3209925" y="2586038"/>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94" name="Rectangle 193"/>
              <p:cNvSpPr>
                <a:spLocks noChangeArrowheads="1"/>
              </p:cNvSpPr>
              <p:nvPr/>
            </p:nvSpPr>
            <p:spPr bwMode="auto">
              <a:xfrm>
                <a:off x="1545431"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195" name="Rectangle 194"/>
              <p:cNvSpPr>
                <a:spLocks noChangeArrowheads="1"/>
              </p:cNvSpPr>
              <p:nvPr/>
            </p:nvSpPr>
            <p:spPr bwMode="auto">
              <a:xfrm>
                <a:off x="2100263" y="2586038"/>
                <a:ext cx="553837" cy="413555"/>
              </a:xfrm>
              <a:prstGeom prst="rect">
                <a:avLst/>
              </a:prstGeom>
              <a:noFill/>
              <a:ln w="9525">
                <a:solidFill>
                  <a:srgbClr val="99CCFF"/>
                </a:solidFill>
                <a:miter lim="800000"/>
                <a:headEnd/>
                <a:tailEnd/>
              </a:ln>
            </p:spPr>
            <p:txBody>
              <a:bodyPr wrap="none" anchor="ctr"/>
              <a:lstStyle/>
              <a:p>
                <a:endParaRPr lang="en-US"/>
              </a:p>
            </p:txBody>
          </p:sp>
          <p:sp>
            <p:nvSpPr>
              <p:cNvPr id="196" name="Rectangle 195"/>
              <p:cNvSpPr>
                <a:spLocks noChangeArrowheads="1"/>
              </p:cNvSpPr>
              <p:nvPr/>
            </p:nvSpPr>
            <p:spPr bwMode="auto">
              <a:xfrm>
                <a:off x="26541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197" name="Rectangle 196"/>
              <p:cNvSpPr>
                <a:spLocks noChangeArrowheads="1"/>
              </p:cNvSpPr>
              <p:nvPr/>
            </p:nvSpPr>
            <p:spPr bwMode="auto">
              <a:xfrm>
                <a:off x="9906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198" name="Rectangle 197"/>
              <p:cNvSpPr>
                <a:spLocks noChangeArrowheads="1"/>
              </p:cNvSpPr>
              <p:nvPr/>
            </p:nvSpPr>
            <p:spPr bwMode="auto">
              <a:xfrm>
                <a:off x="1545431"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199" name="Rectangle 198"/>
              <p:cNvSpPr>
                <a:spLocks noChangeArrowheads="1"/>
              </p:cNvSpPr>
              <p:nvPr/>
            </p:nvSpPr>
            <p:spPr bwMode="auto">
              <a:xfrm>
                <a:off x="2100263" y="2999593"/>
                <a:ext cx="553837" cy="413556"/>
              </a:xfrm>
              <a:prstGeom prst="rect">
                <a:avLst/>
              </a:prstGeom>
              <a:noFill/>
              <a:ln w="9525">
                <a:solidFill>
                  <a:srgbClr val="99CCFF"/>
                </a:solidFill>
                <a:miter lim="800000"/>
                <a:headEnd/>
                <a:tailEnd/>
              </a:ln>
            </p:spPr>
            <p:txBody>
              <a:bodyPr wrap="none" anchor="ctr"/>
              <a:lstStyle/>
              <a:p>
                <a:endParaRPr lang="en-US"/>
              </a:p>
            </p:txBody>
          </p:sp>
          <p:sp>
            <p:nvSpPr>
              <p:cNvPr id="200" name="Rectangle 199"/>
              <p:cNvSpPr>
                <a:spLocks noChangeArrowheads="1"/>
              </p:cNvSpPr>
              <p:nvPr/>
            </p:nvSpPr>
            <p:spPr bwMode="auto">
              <a:xfrm>
                <a:off x="2654100"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201" name="Rectangle 200"/>
              <p:cNvSpPr>
                <a:spLocks noChangeArrowheads="1"/>
              </p:cNvSpPr>
              <p:nvPr/>
            </p:nvSpPr>
            <p:spPr bwMode="auto">
              <a:xfrm>
                <a:off x="990600" y="2999593"/>
                <a:ext cx="554831" cy="413556"/>
              </a:xfrm>
              <a:prstGeom prst="rect">
                <a:avLst/>
              </a:prstGeom>
              <a:noFill/>
              <a:ln w="9525">
                <a:solidFill>
                  <a:srgbClr val="99CCFF"/>
                </a:solidFill>
                <a:miter lim="800000"/>
                <a:headEnd/>
                <a:tailEnd/>
              </a:ln>
            </p:spPr>
            <p:txBody>
              <a:bodyPr wrap="none" anchor="ctr"/>
              <a:lstStyle/>
              <a:p>
                <a:endParaRPr lang="en-US"/>
              </a:p>
            </p:txBody>
          </p:sp>
          <p:grpSp>
            <p:nvGrpSpPr>
              <p:cNvPr id="202" name="Group 201"/>
              <p:cNvGrpSpPr>
                <a:grpSpLocks/>
              </p:cNvGrpSpPr>
              <p:nvPr/>
            </p:nvGrpSpPr>
            <p:grpSpPr bwMode="auto">
              <a:xfrm>
                <a:off x="5430245" y="2586038"/>
                <a:ext cx="2218330" cy="827111"/>
                <a:chOff x="3263" y="625"/>
                <a:chExt cx="2256" cy="826"/>
              </a:xfrm>
            </p:grpSpPr>
            <p:sp>
              <p:nvSpPr>
                <p:cNvPr id="204" name="Rectangle 203"/>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05" name="Rectangle 204"/>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06" name="Rectangle 205"/>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07" name="Rectangle 206"/>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08" name="Rectangle 207"/>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09" name="Rectangle 208"/>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0" name="Rectangle 209"/>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11" name="Rectangle 210"/>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203" name="Freeform 202"/>
              <p:cNvSpPr>
                <a:spLocks/>
              </p:cNvSpPr>
              <p:nvPr/>
            </p:nvSpPr>
            <p:spPr bwMode="auto">
              <a:xfrm>
                <a:off x="5429250" y="2595563"/>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nvGrpSpPr>
            <p:cNvPr id="220" name="Group 219"/>
            <p:cNvGrpSpPr/>
            <p:nvPr/>
          </p:nvGrpSpPr>
          <p:grpSpPr>
            <a:xfrm>
              <a:off x="4524376" y="5414963"/>
              <a:ext cx="3533774" cy="836636"/>
              <a:chOff x="990600" y="2586038"/>
              <a:chExt cx="6657975" cy="836636"/>
            </a:xfrm>
          </p:grpSpPr>
          <p:sp>
            <p:nvSpPr>
              <p:cNvPr id="221" name="Freeform 2"/>
              <p:cNvSpPr>
                <a:spLocks/>
              </p:cNvSpPr>
              <p:nvPr/>
            </p:nvSpPr>
            <p:spPr bwMode="auto">
              <a:xfrm>
                <a:off x="997561" y="2593154"/>
                <a:ext cx="2218330"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222" name="Group 221"/>
              <p:cNvGrpSpPr>
                <a:grpSpLocks/>
              </p:cNvGrpSpPr>
              <p:nvPr/>
            </p:nvGrpSpPr>
            <p:grpSpPr bwMode="auto">
              <a:xfrm>
                <a:off x="3210920" y="2586038"/>
                <a:ext cx="2218330" cy="827111"/>
                <a:chOff x="3263" y="625"/>
                <a:chExt cx="2256" cy="826"/>
              </a:xfrm>
            </p:grpSpPr>
            <p:sp>
              <p:nvSpPr>
                <p:cNvPr id="242" name="Rectangle 241"/>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3" name="Rectangle 242"/>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4" name="Rectangle 243"/>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5" name="Rectangle 244"/>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6" name="Rectangle 245"/>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7" name="Rectangle 246"/>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8" name="Rectangle 247"/>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9" name="Rectangle 248"/>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223" name="Freeform 222"/>
              <p:cNvSpPr>
                <a:spLocks/>
              </p:cNvSpPr>
              <p:nvPr/>
            </p:nvSpPr>
            <p:spPr bwMode="auto">
              <a:xfrm>
                <a:off x="3209925" y="2586038"/>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224" name="Rectangle 223"/>
              <p:cNvSpPr>
                <a:spLocks noChangeArrowheads="1"/>
              </p:cNvSpPr>
              <p:nvPr/>
            </p:nvSpPr>
            <p:spPr bwMode="auto">
              <a:xfrm>
                <a:off x="1545431"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25" name="Rectangle 224"/>
              <p:cNvSpPr>
                <a:spLocks noChangeArrowheads="1"/>
              </p:cNvSpPr>
              <p:nvPr/>
            </p:nvSpPr>
            <p:spPr bwMode="auto">
              <a:xfrm>
                <a:off x="2100263" y="2586038"/>
                <a:ext cx="553837" cy="413555"/>
              </a:xfrm>
              <a:prstGeom prst="rect">
                <a:avLst/>
              </a:prstGeom>
              <a:noFill/>
              <a:ln w="9525">
                <a:solidFill>
                  <a:srgbClr val="99CCFF"/>
                </a:solidFill>
                <a:miter lim="800000"/>
                <a:headEnd/>
                <a:tailEnd/>
              </a:ln>
            </p:spPr>
            <p:txBody>
              <a:bodyPr wrap="none" anchor="ctr"/>
              <a:lstStyle/>
              <a:p>
                <a:endParaRPr lang="en-US"/>
              </a:p>
            </p:txBody>
          </p:sp>
          <p:sp>
            <p:nvSpPr>
              <p:cNvPr id="226" name="Rectangle 225"/>
              <p:cNvSpPr>
                <a:spLocks noChangeArrowheads="1"/>
              </p:cNvSpPr>
              <p:nvPr/>
            </p:nvSpPr>
            <p:spPr bwMode="auto">
              <a:xfrm>
                <a:off x="26541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27" name="Rectangle 226"/>
              <p:cNvSpPr>
                <a:spLocks noChangeArrowheads="1"/>
              </p:cNvSpPr>
              <p:nvPr/>
            </p:nvSpPr>
            <p:spPr bwMode="auto">
              <a:xfrm>
                <a:off x="9906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28" name="Rectangle 227"/>
              <p:cNvSpPr>
                <a:spLocks noChangeArrowheads="1"/>
              </p:cNvSpPr>
              <p:nvPr/>
            </p:nvSpPr>
            <p:spPr bwMode="auto">
              <a:xfrm>
                <a:off x="1545431"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229" name="Rectangle 228"/>
              <p:cNvSpPr>
                <a:spLocks noChangeArrowheads="1"/>
              </p:cNvSpPr>
              <p:nvPr/>
            </p:nvSpPr>
            <p:spPr bwMode="auto">
              <a:xfrm>
                <a:off x="2100263" y="2999593"/>
                <a:ext cx="553837" cy="413556"/>
              </a:xfrm>
              <a:prstGeom prst="rect">
                <a:avLst/>
              </a:prstGeom>
              <a:noFill/>
              <a:ln w="9525">
                <a:solidFill>
                  <a:srgbClr val="99CCFF"/>
                </a:solidFill>
                <a:miter lim="800000"/>
                <a:headEnd/>
                <a:tailEnd/>
              </a:ln>
            </p:spPr>
            <p:txBody>
              <a:bodyPr wrap="none" anchor="ctr"/>
              <a:lstStyle/>
              <a:p>
                <a:endParaRPr lang="en-US"/>
              </a:p>
            </p:txBody>
          </p:sp>
          <p:sp>
            <p:nvSpPr>
              <p:cNvPr id="230" name="Rectangle 229"/>
              <p:cNvSpPr>
                <a:spLocks noChangeArrowheads="1"/>
              </p:cNvSpPr>
              <p:nvPr/>
            </p:nvSpPr>
            <p:spPr bwMode="auto">
              <a:xfrm>
                <a:off x="2654100"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231" name="Rectangle 230"/>
              <p:cNvSpPr>
                <a:spLocks noChangeArrowheads="1"/>
              </p:cNvSpPr>
              <p:nvPr/>
            </p:nvSpPr>
            <p:spPr bwMode="auto">
              <a:xfrm>
                <a:off x="990600" y="2999593"/>
                <a:ext cx="554831" cy="413556"/>
              </a:xfrm>
              <a:prstGeom prst="rect">
                <a:avLst/>
              </a:prstGeom>
              <a:noFill/>
              <a:ln w="9525">
                <a:solidFill>
                  <a:srgbClr val="99CCFF"/>
                </a:solidFill>
                <a:miter lim="800000"/>
                <a:headEnd/>
                <a:tailEnd/>
              </a:ln>
            </p:spPr>
            <p:txBody>
              <a:bodyPr wrap="none" anchor="ctr"/>
              <a:lstStyle/>
              <a:p>
                <a:endParaRPr lang="en-US"/>
              </a:p>
            </p:txBody>
          </p:sp>
          <p:grpSp>
            <p:nvGrpSpPr>
              <p:cNvPr id="232" name="Group 231"/>
              <p:cNvGrpSpPr>
                <a:grpSpLocks/>
              </p:cNvGrpSpPr>
              <p:nvPr/>
            </p:nvGrpSpPr>
            <p:grpSpPr bwMode="auto">
              <a:xfrm>
                <a:off x="5430245" y="2586038"/>
                <a:ext cx="2218330" cy="827111"/>
                <a:chOff x="3263" y="625"/>
                <a:chExt cx="2256" cy="826"/>
              </a:xfrm>
            </p:grpSpPr>
            <p:sp>
              <p:nvSpPr>
                <p:cNvPr id="234" name="Rectangle 233"/>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35" name="Rectangle 234"/>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36" name="Rectangle 235"/>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37" name="Rectangle 236"/>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38" name="Rectangle 237"/>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39" name="Rectangle 238"/>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0" name="Rectangle 239"/>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41" name="Rectangle 240"/>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233" name="Freeform 232"/>
              <p:cNvSpPr>
                <a:spLocks/>
              </p:cNvSpPr>
              <p:nvPr/>
            </p:nvSpPr>
            <p:spPr bwMode="auto">
              <a:xfrm>
                <a:off x="5429250" y="2595563"/>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sp>
        <p:nvSpPr>
          <p:cNvPr id="251" name="TextBox 250"/>
          <p:cNvSpPr txBox="1"/>
          <p:nvPr/>
        </p:nvSpPr>
        <p:spPr>
          <a:xfrm>
            <a:off x="430213" y="695325"/>
            <a:ext cx="1414170" cy="5678478"/>
          </a:xfrm>
          <a:prstGeom prst="rect">
            <a:avLst/>
          </a:prstGeom>
          <a:noFill/>
        </p:spPr>
        <p:txBody>
          <a:bodyPr wrap="none" rtlCol="0">
            <a:spAutoFit/>
          </a:bodyPr>
          <a:lstStyle/>
          <a:p>
            <a:pPr>
              <a:lnSpc>
                <a:spcPts val="2200"/>
              </a:lnSpc>
            </a:pPr>
            <a:r>
              <a:rPr lang="en-GB" sz="1400" dirty="0"/>
              <a:t>Fundamental</a:t>
            </a:r>
          </a:p>
          <a:p>
            <a:pPr>
              <a:lnSpc>
                <a:spcPts val="2200"/>
              </a:lnSpc>
            </a:pPr>
            <a:r>
              <a:rPr lang="en-GB" sz="1400" dirty="0"/>
              <a:t>(1</a:t>
            </a:r>
            <a:r>
              <a:rPr lang="en-GB" sz="1400" baseline="30000" dirty="0"/>
              <a:t>st</a:t>
            </a:r>
            <a:r>
              <a:rPr lang="en-GB" sz="1400" dirty="0"/>
              <a:t> Harmonic)</a:t>
            </a:r>
          </a:p>
          <a:p>
            <a:pPr>
              <a:lnSpc>
                <a:spcPts val="2200"/>
              </a:lnSpc>
            </a:pPr>
            <a:endParaRPr lang="en-GB" sz="1400" dirty="0"/>
          </a:p>
          <a:p>
            <a:pPr>
              <a:lnSpc>
                <a:spcPts val="2400"/>
              </a:lnSpc>
            </a:pPr>
            <a:r>
              <a:rPr lang="en-GB" sz="1400" dirty="0"/>
              <a:t>2</a:t>
            </a:r>
            <a:r>
              <a:rPr lang="en-GB" sz="1400" baseline="30000" dirty="0"/>
              <a:t>nd</a:t>
            </a:r>
            <a:r>
              <a:rPr lang="en-GB" sz="1400" dirty="0"/>
              <a:t> Harmonic</a:t>
            </a:r>
          </a:p>
          <a:p>
            <a:pPr>
              <a:lnSpc>
                <a:spcPts val="2400"/>
              </a:lnSpc>
            </a:pPr>
            <a:endParaRPr lang="en-GB" sz="1400" dirty="0"/>
          </a:p>
          <a:p>
            <a:pPr>
              <a:lnSpc>
                <a:spcPts val="2400"/>
              </a:lnSpc>
            </a:pPr>
            <a:endParaRPr lang="en-GB" sz="1400" dirty="0"/>
          </a:p>
          <a:p>
            <a:pPr>
              <a:lnSpc>
                <a:spcPts val="2400"/>
              </a:lnSpc>
            </a:pPr>
            <a:r>
              <a:rPr lang="en-GB" sz="1400" dirty="0"/>
              <a:t>3</a:t>
            </a:r>
            <a:r>
              <a:rPr lang="en-GB" sz="1400" baseline="30000" dirty="0"/>
              <a:t>rd</a:t>
            </a:r>
            <a:r>
              <a:rPr lang="en-GB" sz="1400" dirty="0"/>
              <a:t>  Harmonic</a:t>
            </a:r>
          </a:p>
          <a:p>
            <a:pPr>
              <a:lnSpc>
                <a:spcPts val="2400"/>
              </a:lnSpc>
            </a:pPr>
            <a:endParaRPr lang="en-GB" sz="1400" dirty="0"/>
          </a:p>
          <a:p>
            <a:pPr>
              <a:lnSpc>
                <a:spcPts val="2400"/>
              </a:lnSpc>
            </a:pPr>
            <a:endParaRPr lang="en-GB" sz="1400" dirty="0"/>
          </a:p>
          <a:p>
            <a:pPr>
              <a:lnSpc>
                <a:spcPts val="2400"/>
              </a:lnSpc>
            </a:pPr>
            <a:r>
              <a:rPr lang="en-GB" sz="1400" dirty="0"/>
              <a:t>4</a:t>
            </a:r>
            <a:r>
              <a:rPr lang="en-GB" sz="1400" baseline="30000" dirty="0"/>
              <a:t>th</a:t>
            </a:r>
            <a:r>
              <a:rPr lang="en-GB" sz="1400" dirty="0"/>
              <a:t>  Harmonic</a:t>
            </a:r>
          </a:p>
          <a:p>
            <a:pPr>
              <a:lnSpc>
                <a:spcPts val="2400"/>
              </a:lnSpc>
            </a:pPr>
            <a:endParaRPr lang="en-GB" sz="1400" dirty="0"/>
          </a:p>
          <a:p>
            <a:pPr>
              <a:lnSpc>
                <a:spcPts val="2400"/>
              </a:lnSpc>
            </a:pPr>
            <a:endParaRPr lang="en-GB" sz="1400" dirty="0"/>
          </a:p>
          <a:p>
            <a:pPr>
              <a:lnSpc>
                <a:spcPts val="2400"/>
              </a:lnSpc>
            </a:pPr>
            <a:r>
              <a:rPr lang="en-GB" sz="1400" dirty="0"/>
              <a:t>5</a:t>
            </a:r>
            <a:r>
              <a:rPr lang="en-GB" sz="1400" baseline="30000" dirty="0"/>
              <a:t>th</a:t>
            </a:r>
            <a:r>
              <a:rPr lang="en-GB" sz="1400" dirty="0"/>
              <a:t>  Harmonic</a:t>
            </a:r>
          </a:p>
          <a:p>
            <a:pPr>
              <a:lnSpc>
                <a:spcPts val="2400"/>
              </a:lnSpc>
            </a:pPr>
            <a:endParaRPr lang="en-GB" sz="1400" dirty="0"/>
          </a:p>
          <a:p>
            <a:pPr>
              <a:lnSpc>
                <a:spcPts val="2400"/>
              </a:lnSpc>
            </a:pPr>
            <a:endParaRPr lang="en-GB" sz="1400" dirty="0"/>
          </a:p>
          <a:p>
            <a:pPr>
              <a:lnSpc>
                <a:spcPts val="2400"/>
              </a:lnSpc>
            </a:pPr>
            <a:r>
              <a:rPr lang="en-GB" sz="1400" dirty="0"/>
              <a:t>6</a:t>
            </a:r>
            <a:r>
              <a:rPr lang="en-GB" sz="1400" baseline="30000" dirty="0"/>
              <a:t>th</a:t>
            </a:r>
            <a:r>
              <a:rPr lang="en-GB" sz="1400" dirty="0"/>
              <a:t>  Harmonic</a:t>
            </a:r>
          </a:p>
          <a:p>
            <a:pPr>
              <a:lnSpc>
                <a:spcPts val="2400"/>
              </a:lnSpc>
            </a:pPr>
            <a:r>
              <a:rPr lang="en-GB" sz="1400" dirty="0"/>
              <a:t>  :</a:t>
            </a:r>
          </a:p>
          <a:p>
            <a:r>
              <a:rPr lang="en-GB" sz="1400" dirty="0"/>
              <a:t>  :</a:t>
            </a:r>
          </a:p>
          <a:p>
            <a:r>
              <a:rPr lang="en-GB" sz="1400" dirty="0"/>
              <a:t>12</a:t>
            </a:r>
            <a:r>
              <a:rPr lang="en-GB" sz="1400" baseline="30000" dirty="0"/>
              <a:t>th</a:t>
            </a:r>
            <a:r>
              <a:rPr lang="en-GB" sz="1400" dirty="0"/>
              <a:t> Harmonic</a:t>
            </a:r>
          </a:p>
        </p:txBody>
      </p:sp>
      <p:sp>
        <p:nvSpPr>
          <p:cNvPr id="252" name="Text Box 2"/>
          <p:cNvSpPr txBox="1">
            <a:spLocks noChangeArrowheads="1"/>
          </p:cNvSpPr>
          <p:nvPr/>
        </p:nvSpPr>
        <p:spPr bwMode="auto">
          <a:xfrm>
            <a:off x="430213" y="366713"/>
            <a:ext cx="1778051" cy="461665"/>
          </a:xfrm>
          <a:prstGeom prst="rect">
            <a:avLst/>
          </a:prstGeom>
          <a:noFill/>
          <a:ln w="9525" algn="ctr">
            <a:noFill/>
            <a:miter lim="800000"/>
            <a:headEnd/>
            <a:tailEnd/>
          </a:ln>
        </p:spPr>
        <p:txBody>
          <a:bodyPr wrap="none">
            <a:spAutoFit/>
          </a:bodyPr>
          <a:lstStyle/>
          <a:p>
            <a:r>
              <a:rPr lang="en-GB" sz="2400" b="1" dirty="0"/>
              <a:t>Harmonics</a:t>
            </a:r>
            <a:endParaRPr lang="en-US" sz="2400" b="1" dirty="0"/>
          </a:p>
        </p:txBody>
      </p:sp>
      <p:grpSp>
        <p:nvGrpSpPr>
          <p:cNvPr id="253" name="Group 252"/>
          <p:cNvGrpSpPr/>
          <p:nvPr/>
        </p:nvGrpSpPr>
        <p:grpSpPr>
          <a:xfrm>
            <a:off x="1866901" y="5976938"/>
            <a:ext cx="3533774" cy="404812"/>
            <a:chOff x="981076" y="5414963"/>
            <a:chExt cx="7077074" cy="836636"/>
          </a:xfrm>
        </p:grpSpPr>
        <p:grpSp>
          <p:nvGrpSpPr>
            <p:cNvPr id="254" name="Group 253"/>
            <p:cNvGrpSpPr/>
            <p:nvPr/>
          </p:nvGrpSpPr>
          <p:grpSpPr>
            <a:xfrm>
              <a:off x="981076" y="5414963"/>
              <a:ext cx="3533774" cy="836636"/>
              <a:chOff x="990600" y="2586038"/>
              <a:chExt cx="6657975" cy="836636"/>
            </a:xfrm>
          </p:grpSpPr>
          <p:sp>
            <p:nvSpPr>
              <p:cNvPr id="285" name="Freeform 2"/>
              <p:cNvSpPr>
                <a:spLocks/>
              </p:cNvSpPr>
              <p:nvPr/>
            </p:nvSpPr>
            <p:spPr bwMode="auto">
              <a:xfrm>
                <a:off x="997561" y="2593154"/>
                <a:ext cx="2218330"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286" name="Group 285"/>
              <p:cNvGrpSpPr>
                <a:grpSpLocks/>
              </p:cNvGrpSpPr>
              <p:nvPr/>
            </p:nvGrpSpPr>
            <p:grpSpPr bwMode="auto">
              <a:xfrm>
                <a:off x="3210920" y="2586038"/>
                <a:ext cx="2218330" cy="827111"/>
                <a:chOff x="3263" y="625"/>
                <a:chExt cx="2256" cy="826"/>
              </a:xfrm>
            </p:grpSpPr>
            <p:sp>
              <p:nvSpPr>
                <p:cNvPr id="306" name="Rectangle 305"/>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7" name="Rectangle 306"/>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8" name="Rectangle 307"/>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9" name="Rectangle 308"/>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 name="Rectangle 309"/>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1" name="Rectangle 310"/>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2" name="Rectangle 311"/>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3" name="Rectangle 312"/>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287" name="Freeform 286"/>
              <p:cNvSpPr>
                <a:spLocks/>
              </p:cNvSpPr>
              <p:nvPr/>
            </p:nvSpPr>
            <p:spPr bwMode="auto">
              <a:xfrm>
                <a:off x="3209925" y="2586038"/>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288" name="Rectangle 287"/>
              <p:cNvSpPr>
                <a:spLocks noChangeArrowheads="1"/>
              </p:cNvSpPr>
              <p:nvPr/>
            </p:nvSpPr>
            <p:spPr bwMode="auto">
              <a:xfrm>
                <a:off x="1545431"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89" name="Rectangle 288"/>
              <p:cNvSpPr>
                <a:spLocks noChangeArrowheads="1"/>
              </p:cNvSpPr>
              <p:nvPr/>
            </p:nvSpPr>
            <p:spPr bwMode="auto">
              <a:xfrm>
                <a:off x="2100263" y="2586038"/>
                <a:ext cx="553837" cy="413555"/>
              </a:xfrm>
              <a:prstGeom prst="rect">
                <a:avLst/>
              </a:prstGeom>
              <a:noFill/>
              <a:ln w="9525">
                <a:solidFill>
                  <a:srgbClr val="99CCFF"/>
                </a:solidFill>
                <a:miter lim="800000"/>
                <a:headEnd/>
                <a:tailEnd/>
              </a:ln>
            </p:spPr>
            <p:txBody>
              <a:bodyPr wrap="none" anchor="ctr"/>
              <a:lstStyle/>
              <a:p>
                <a:endParaRPr lang="en-US"/>
              </a:p>
            </p:txBody>
          </p:sp>
          <p:sp>
            <p:nvSpPr>
              <p:cNvPr id="290" name="Rectangle 289"/>
              <p:cNvSpPr>
                <a:spLocks noChangeArrowheads="1"/>
              </p:cNvSpPr>
              <p:nvPr/>
            </p:nvSpPr>
            <p:spPr bwMode="auto">
              <a:xfrm>
                <a:off x="26541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91" name="Rectangle 290"/>
              <p:cNvSpPr>
                <a:spLocks noChangeArrowheads="1"/>
              </p:cNvSpPr>
              <p:nvPr/>
            </p:nvSpPr>
            <p:spPr bwMode="auto">
              <a:xfrm>
                <a:off x="9906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92" name="Rectangle 291"/>
              <p:cNvSpPr>
                <a:spLocks noChangeArrowheads="1"/>
              </p:cNvSpPr>
              <p:nvPr/>
            </p:nvSpPr>
            <p:spPr bwMode="auto">
              <a:xfrm>
                <a:off x="1545431"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293" name="Rectangle 292"/>
              <p:cNvSpPr>
                <a:spLocks noChangeArrowheads="1"/>
              </p:cNvSpPr>
              <p:nvPr/>
            </p:nvSpPr>
            <p:spPr bwMode="auto">
              <a:xfrm>
                <a:off x="2100263" y="2999593"/>
                <a:ext cx="553837" cy="413556"/>
              </a:xfrm>
              <a:prstGeom prst="rect">
                <a:avLst/>
              </a:prstGeom>
              <a:noFill/>
              <a:ln w="9525">
                <a:solidFill>
                  <a:srgbClr val="99CCFF"/>
                </a:solidFill>
                <a:miter lim="800000"/>
                <a:headEnd/>
                <a:tailEnd/>
              </a:ln>
            </p:spPr>
            <p:txBody>
              <a:bodyPr wrap="none" anchor="ctr"/>
              <a:lstStyle/>
              <a:p>
                <a:endParaRPr lang="en-US"/>
              </a:p>
            </p:txBody>
          </p:sp>
          <p:sp>
            <p:nvSpPr>
              <p:cNvPr id="294" name="Rectangle 293"/>
              <p:cNvSpPr>
                <a:spLocks noChangeArrowheads="1"/>
              </p:cNvSpPr>
              <p:nvPr/>
            </p:nvSpPr>
            <p:spPr bwMode="auto">
              <a:xfrm>
                <a:off x="2654100"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295" name="Rectangle 294"/>
              <p:cNvSpPr>
                <a:spLocks noChangeArrowheads="1"/>
              </p:cNvSpPr>
              <p:nvPr/>
            </p:nvSpPr>
            <p:spPr bwMode="auto">
              <a:xfrm>
                <a:off x="990600" y="2999593"/>
                <a:ext cx="554831" cy="413556"/>
              </a:xfrm>
              <a:prstGeom prst="rect">
                <a:avLst/>
              </a:prstGeom>
              <a:noFill/>
              <a:ln w="9525">
                <a:solidFill>
                  <a:srgbClr val="99CCFF"/>
                </a:solidFill>
                <a:miter lim="800000"/>
                <a:headEnd/>
                <a:tailEnd/>
              </a:ln>
            </p:spPr>
            <p:txBody>
              <a:bodyPr wrap="none" anchor="ctr"/>
              <a:lstStyle/>
              <a:p>
                <a:endParaRPr lang="en-US"/>
              </a:p>
            </p:txBody>
          </p:sp>
          <p:grpSp>
            <p:nvGrpSpPr>
              <p:cNvPr id="296" name="Group 295"/>
              <p:cNvGrpSpPr>
                <a:grpSpLocks/>
              </p:cNvGrpSpPr>
              <p:nvPr/>
            </p:nvGrpSpPr>
            <p:grpSpPr bwMode="auto">
              <a:xfrm>
                <a:off x="5430245" y="2586038"/>
                <a:ext cx="2218330" cy="827111"/>
                <a:chOff x="3263" y="625"/>
                <a:chExt cx="2256" cy="826"/>
              </a:xfrm>
            </p:grpSpPr>
            <p:sp>
              <p:nvSpPr>
                <p:cNvPr id="298" name="Rectangle 29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99" name="Rectangle 29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0" name="Rectangle 29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1" name="Rectangle 30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2" name="Rectangle 30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3" name="Rectangle 30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4" name="Rectangle 30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5" name="Rectangle 30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297" name="Freeform 296"/>
              <p:cNvSpPr>
                <a:spLocks/>
              </p:cNvSpPr>
              <p:nvPr/>
            </p:nvSpPr>
            <p:spPr bwMode="auto">
              <a:xfrm>
                <a:off x="5429250" y="2595563"/>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nvGrpSpPr>
            <p:cNvPr id="255" name="Group 254"/>
            <p:cNvGrpSpPr/>
            <p:nvPr/>
          </p:nvGrpSpPr>
          <p:grpSpPr>
            <a:xfrm>
              <a:off x="4524376" y="5414963"/>
              <a:ext cx="3533774" cy="836636"/>
              <a:chOff x="990600" y="2586038"/>
              <a:chExt cx="6657975" cy="836636"/>
            </a:xfrm>
          </p:grpSpPr>
          <p:sp>
            <p:nvSpPr>
              <p:cNvPr id="256" name="Freeform 2"/>
              <p:cNvSpPr>
                <a:spLocks/>
              </p:cNvSpPr>
              <p:nvPr/>
            </p:nvSpPr>
            <p:spPr bwMode="auto">
              <a:xfrm>
                <a:off x="997561" y="2593154"/>
                <a:ext cx="2218330"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257" name="Group 256"/>
              <p:cNvGrpSpPr>
                <a:grpSpLocks/>
              </p:cNvGrpSpPr>
              <p:nvPr/>
            </p:nvGrpSpPr>
            <p:grpSpPr bwMode="auto">
              <a:xfrm>
                <a:off x="3210920" y="2586038"/>
                <a:ext cx="2218330" cy="827111"/>
                <a:chOff x="3263" y="625"/>
                <a:chExt cx="2256" cy="826"/>
              </a:xfrm>
            </p:grpSpPr>
            <p:sp>
              <p:nvSpPr>
                <p:cNvPr id="277" name="Rectangle 27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8" name="Rectangle 27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9" name="Rectangle 27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80" name="Rectangle 27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81" name="Rectangle 28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82" name="Rectangle 28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83" name="Rectangle 28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84" name="Rectangle 28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258" name="Freeform 257"/>
              <p:cNvSpPr>
                <a:spLocks/>
              </p:cNvSpPr>
              <p:nvPr/>
            </p:nvSpPr>
            <p:spPr bwMode="auto">
              <a:xfrm>
                <a:off x="3209925" y="2586038"/>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259" name="Rectangle 258"/>
              <p:cNvSpPr>
                <a:spLocks noChangeArrowheads="1"/>
              </p:cNvSpPr>
              <p:nvPr/>
            </p:nvSpPr>
            <p:spPr bwMode="auto">
              <a:xfrm>
                <a:off x="1545431"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60" name="Rectangle 259"/>
              <p:cNvSpPr>
                <a:spLocks noChangeArrowheads="1"/>
              </p:cNvSpPr>
              <p:nvPr/>
            </p:nvSpPr>
            <p:spPr bwMode="auto">
              <a:xfrm>
                <a:off x="2100263" y="2586038"/>
                <a:ext cx="553837" cy="413555"/>
              </a:xfrm>
              <a:prstGeom prst="rect">
                <a:avLst/>
              </a:prstGeom>
              <a:noFill/>
              <a:ln w="9525">
                <a:solidFill>
                  <a:srgbClr val="99CCFF"/>
                </a:solidFill>
                <a:miter lim="800000"/>
                <a:headEnd/>
                <a:tailEnd/>
              </a:ln>
            </p:spPr>
            <p:txBody>
              <a:bodyPr wrap="none" anchor="ctr"/>
              <a:lstStyle/>
              <a:p>
                <a:endParaRPr lang="en-US"/>
              </a:p>
            </p:txBody>
          </p:sp>
          <p:sp>
            <p:nvSpPr>
              <p:cNvPr id="261" name="Rectangle 260"/>
              <p:cNvSpPr>
                <a:spLocks noChangeArrowheads="1"/>
              </p:cNvSpPr>
              <p:nvPr/>
            </p:nvSpPr>
            <p:spPr bwMode="auto">
              <a:xfrm>
                <a:off x="26541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62" name="Rectangle 261"/>
              <p:cNvSpPr>
                <a:spLocks noChangeArrowheads="1"/>
              </p:cNvSpPr>
              <p:nvPr/>
            </p:nvSpPr>
            <p:spPr bwMode="auto">
              <a:xfrm>
                <a:off x="9906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263" name="Rectangle 262"/>
              <p:cNvSpPr>
                <a:spLocks noChangeArrowheads="1"/>
              </p:cNvSpPr>
              <p:nvPr/>
            </p:nvSpPr>
            <p:spPr bwMode="auto">
              <a:xfrm>
                <a:off x="1545431"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264" name="Rectangle 263"/>
              <p:cNvSpPr>
                <a:spLocks noChangeArrowheads="1"/>
              </p:cNvSpPr>
              <p:nvPr/>
            </p:nvSpPr>
            <p:spPr bwMode="auto">
              <a:xfrm>
                <a:off x="2100263" y="2999593"/>
                <a:ext cx="553837" cy="413556"/>
              </a:xfrm>
              <a:prstGeom prst="rect">
                <a:avLst/>
              </a:prstGeom>
              <a:noFill/>
              <a:ln w="9525">
                <a:solidFill>
                  <a:srgbClr val="99CCFF"/>
                </a:solidFill>
                <a:miter lim="800000"/>
                <a:headEnd/>
                <a:tailEnd/>
              </a:ln>
            </p:spPr>
            <p:txBody>
              <a:bodyPr wrap="none" anchor="ctr"/>
              <a:lstStyle/>
              <a:p>
                <a:endParaRPr lang="en-US"/>
              </a:p>
            </p:txBody>
          </p:sp>
          <p:sp>
            <p:nvSpPr>
              <p:cNvPr id="265" name="Rectangle 264"/>
              <p:cNvSpPr>
                <a:spLocks noChangeArrowheads="1"/>
              </p:cNvSpPr>
              <p:nvPr/>
            </p:nvSpPr>
            <p:spPr bwMode="auto">
              <a:xfrm>
                <a:off x="2654100"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266" name="Rectangle 265"/>
              <p:cNvSpPr>
                <a:spLocks noChangeArrowheads="1"/>
              </p:cNvSpPr>
              <p:nvPr/>
            </p:nvSpPr>
            <p:spPr bwMode="auto">
              <a:xfrm>
                <a:off x="990600" y="2999593"/>
                <a:ext cx="554831" cy="413556"/>
              </a:xfrm>
              <a:prstGeom prst="rect">
                <a:avLst/>
              </a:prstGeom>
              <a:noFill/>
              <a:ln w="9525">
                <a:solidFill>
                  <a:srgbClr val="99CCFF"/>
                </a:solidFill>
                <a:miter lim="800000"/>
                <a:headEnd/>
                <a:tailEnd/>
              </a:ln>
            </p:spPr>
            <p:txBody>
              <a:bodyPr wrap="none" anchor="ctr"/>
              <a:lstStyle/>
              <a:p>
                <a:endParaRPr lang="en-US"/>
              </a:p>
            </p:txBody>
          </p:sp>
          <p:grpSp>
            <p:nvGrpSpPr>
              <p:cNvPr id="267" name="Group 266"/>
              <p:cNvGrpSpPr>
                <a:grpSpLocks/>
              </p:cNvGrpSpPr>
              <p:nvPr/>
            </p:nvGrpSpPr>
            <p:grpSpPr bwMode="auto">
              <a:xfrm>
                <a:off x="5430245" y="2586038"/>
                <a:ext cx="2218330" cy="827111"/>
                <a:chOff x="3263" y="625"/>
                <a:chExt cx="2256" cy="826"/>
              </a:xfrm>
            </p:grpSpPr>
            <p:sp>
              <p:nvSpPr>
                <p:cNvPr id="269" name="Rectangle 268"/>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0" name="Rectangle 269"/>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1" name="Rectangle 270"/>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2" name="Rectangle 271"/>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3" name="Rectangle 272"/>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4" name="Rectangle 273"/>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5" name="Rectangle 274"/>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276" name="Rectangle 275"/>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268" name="Freeform 267"/>
              <p:cNvSpPr>
                <a:spLocks/>
              </p:cNvSpPr>
              <p:nvPr/>
            </p:nvSpPr>
            <p:spPr bwMode="auto">
              <a:xfrm>
                <a:off x="5429250" y="2595563"/>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grpSp>
        <p:nvGrpSpPr>
          <p:cNvPr id="314" name="Group 313"/>
          <p:cNvGrpSpPr/>
          <p:nvPr/>
        </p:nvGrpSpPr>
        <p:grpSpPr>
          <a:xfrm>
            <a:off x="5400676" y="5976938"/>
            <a:ext cx="3533774" cy="404812"/>
            <a:chOff x="981076" y="5414963"/>
            <a:chExt cx="7077074" cy="836636"/>
          </a:xfrm>
        </p:grpSpPr>
        <p:grpSp>
          <p:nvGrpSpPr>
            <p:cNvPr id="315" name="Group 314"/>
            <p:cNvGrpSpPr/>
            <p:nvPr/>
          </p:nvGrpSpPr>
          <p:grpSpPr>
            <a:xfrm>
              <a:off x="981076" y="5414963"/>
              <a:ext cx="3533774" cy="836636"/>
              <a:chOff x="990600" y="2586038"/>
              <a:chExt cx="6657975" cy="836636"/>
            </a:xfrm>
          </p:grpSpPr>
          <p:sp>
            <p:nvSpPr>
              <p:cNvPr id="346" name="Freeform 2"/>
              <p:cNvSpPr>
                <a:spLocks/>
              </p:cNvSpPr>
              <p:nvPr/>
            </p:nvSpPr>
            <p:spPr bwMode="auto">
              <a:xfrm>
                <a:off x="997561" y="2593154"/>
                <a:ext cx="2218330"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347" name="Group 346"/>
              <p:cNvGrpSpPr>
                <a:grpSpLocks/>
              </p:cNvGrpSpPr>
              <p:nvPr/>
            </p:nvGrpSpPr>
            <p:grpSpPr bwMode="auto">
              <a:xfrm>
                <a:off x="3210920" y="2586038"/>
                <a:ext cx="2218330" cy="827111"/>
                <a:chOff x="3263" y="625"/>
                <a:chExt cx="2256" cy="826"/>
              </a:xfrm>
            </p:grpSpPr>
            <p:sp>
              <p:nvSpPr>
                <p:cNvPr id="367" name="Rectangle 36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8" name="Rectangle 36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9" name="Rectangle 36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70" name="Rectangle 36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71" name="Rectangle 37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72" name="Rectangle 37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73" name="Rectangle 37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74" name="Rectangle 37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348" name="Freeform 347"/>
              <p:cNvSpPr>
                <a:spLocks/>
              </p:cNvSpPr>
              <p:nvPr/>
            </p:nvSpPr>
            <p:spPr bwMode="auto">
              <a:xfrm>
                <a:off x="3209925" y="2586038"/>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349" name="Rectangle 348"/>
              <p:cNvSpPr>
                <a:spLocks noChangeArrowheads="1"/>
              </p:cNvSpPr>
              <p:nvPr/>
            </p:nvSpPr>
            <p:spPr bwMode="auto">
              <a:xfrm>
                <a:off x="1545431"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350" name="Rectangle 349"/>
              <p:cNvSpPr>
                <a:spLocks noChangeArrowheads="1"/>
              </p:cNvSpPr>
              <p:nvPr/>
            </p:nvSpPr>
            <p:spPr bwMode="auto">
              <a:xfrm>
                <a:off x="2100263" y="2586038"/>
                <a:ext cx="553837" cy="413555"/>
              </a:xfrm>
              <a:prstGeom prst="rect">
                <a:avLst/>
              </a:prstGeom>
              <a:noFill/>
              <a:ln w="9525">
                <a:solidFill>
                  <a:srgbClr val="99CCFF"/>
                </a:solidFill>
                <a:miter lim="800000"/>
                <a:headEnd/>
                <a:tailEnd/>
              </a:ln>
            </p:spPr>
            <p:txBody>
              <a:bodyPr wrap="none" anchor="ctr"/>
              <a:lstStyle/>
              <a:p>
                <a:endParaRPr lang="en-US"/>
              </a:p>
            </p:txBody>
          </p:sp>
          <p:sp>
            <p:nvSpPr>
              <p:cNvPr id="351" name="Rectangle 350"/>
              <p:cNvSpPr>
                <a:spLocks noChangeArrowheads="1"/>
              </p:cNvSpPr>
              <p:nvPr/>
            </p:nvSpPr>
            <p:spPr bwMode="auto">
              <a:xfrm>
                <a:off x="26541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352" name="Rectangle 351"/>
              <p:cNvSpPr>
                <a:spLocks noChangeArrowheads="1"/>
              </p:cNvSpPr>
              <p:nvPr/>
            </p:nvSpPr>
            <p:spPr bwMode="auto">
              <a:xfrm>
                <a:off x="9906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353" name="Rectangle 352"/>
              <p:cNvSpPr>
                <a:spLocks noChangeArrowheads="1"/>
              </p:cNvSpPr>
              <p:nvPr/>
            </p:nvSpPr>
            <p:spPr bwMode="auto">
              <a:xfrm>
                <a:off x="1545431"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354" name="Rectangle 353"/>
              <p:cNvSpPr>
                <a:spLocks noChangeArrowheads="1"/>
              </p:cNvSpPr>
              <p:nvPr/>
            </p:nvSpPr>
            <p:spPr bwMode="auto">
              <a:xfrm>
                <a:off x="2100263" y="2999593"/>
                <a:ext cx="553837" cy="413556"/>
              </a:xfrm>
              <a:prstGeom prst="rect">
                <a:avLst/>
              </a:prstGeom>
              <a:noFill/>
              <a:ln w="9525">
                <a:solidFill>
                  <a:srgbClr val="99CCFF"/>
                </a:solidFill>
                <a:miter lim="800000"/>
                <a:headEnd/>
                <a:tailEnd/>
              </a:ln>
            </p:spPr>
            <p:txBody>
              <a:bodyPr wrap="none" anchor="ctr"/>
              <a:lstStyle/>
              <a:p>
                <a:endParaRPr lang="en-US"/>
              </a:p>
            </p:txBody>
          </p:sp>
          <p:sp>
            <p:nvSpPr>
              <p:cNvPr id="355" name="Rectangle 354"/>
              <p:cNvSpPr>
                <a:spLocks noChangeArrowheads="1"/>
              </p:cNvSpPr>
              <p:nvPr/>
            </p:nvSpPr>
            <p:spPr bwMode="auto">
              <a:xfrm>
                <a:off x="2654100"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356" name="Rectangle 355"/>
              <p:cNvSpPr>
                <a:spLocks noChangeArrowheads="1"/>
              </p:cNvSpPr>
              <p:nvPr/>
            </p:nvSpPr>
            <p:spPr bwMode="auto">
              <a:xfrm>
                <a:off x="990600" y="2999593"/>
                <a:ext cx="554831" cy="413556"/>
              </a:xfrm>
              <a:prstGeom prst="rect">
                <a:avLst/>
              </a:prstGeom>
              <a:noFill/>
              <a:ln w="9525">
                <a:solidFill>
                  <a:srgbClr val="99CCFF"/>
                </a:solidFill>
                <a:miter lim="800000"/>
                <a:headEnd/>
                <a:tailEnd/>
              </a:ln>
            </p:spPr>
            <p:txBody>
              <a:bodyPr wrap="none" anchor="ctr"/>
              <a:lstStyle/>
              <a:p>
                <a:endParaRPr lang="en-US"/>
              </a:p>
            </p:txBody>
          </p:sp>
          <p:grpSp>
            <p:nvGrpSpPr>
              <p:cNvPr id="357" name="Group 356"/>
              <p:cNvGrpSpPr>
                <a:grpSpLocks/>
              </p:cNvGrpSpPr>
              <p:nvPr/>
            </p:nvGrpSpPr>
            <p:grpSpPr bwMode="auto">
              <a:xfrm>
                <a:off x="5430245" y="2586038"/>
                <a:ext cx="2218330" cy="827111"/>
                <a:chOff x="3263" y="625"/>
                <a:chExt cx="2256" cy="826"/>
              </a:xfrm>
            </p:grpSpPr>
            <p:sp>
              <p:nvSpPr>
                <p:cNvPr id="359" name="Rectangle 358"/>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0" name="Rectangle 359"/>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1" name="Rectangle 360"/>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2" name="Rectangle 361"/>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3" name="Rectangle 362"/>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4" name="Rectangle 363"/>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5" name="Rectangle 364"/>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66" name="Rectangle 365"/>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358" name="Freeform 357"/>
              <p:cNvSpPr>
                <a:spLocks/>
              </p:cNvSpPr>
              <p:nvPr/>
            </p:nvSpPr>
            <p:spPr bwMode="auto">
              <a:xfrm>
                <a:off x="5429250" y="2595563"/>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nvGrpSpPr>
            <p:cNvPr id="316" name="Group 315"/>
            <p:cNvGrpSpPr/>
            <p:nvPr/>
          </p:nvGrpSpPr>
          <p:grpSpPr>
            <a:xfrm>
              <a:off x="4524376" y="5414963"/>
              <a:ext cx="3533774" cy="836636"/>
              <a:chOff x="990600" y="2586038"/>
              <a:chExt cx="6657975" cy="836636"/>
            </a:xfrm>
          </p:grpSpPr>
          <p:sp>
            <p:nvSpPr>
              <p:cNvPr id="317" name="Freeform 2"/>
              <p:cNvSpPr>
                <a:spLocks/>
              </p:cNvSpPr>
              <p:nvPr/>
            </p:nvSpPr>
            <p:spPr bwMode="auto">
              <a:xfrm>
                <a:off x="997561" y="2593154"/>
                <a:ext cx="2218330" cy="82632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318" name="Group 317"/>
              <p:cNvGrpSpPr>
                <a:grpSpLocks/>
              </p:cNvGrpSpPr>
              <p:nvPr/>
            </p:nvGrpSpPr>
            <p:grpSpPr bwMode="auto">
              <a:xfrm>
                <a:off x="3210920" y="2586038"/>
                <a:ext cx="2218330" cy="827111"/>
                <a:chOff x="3263" y="625"/>
                <a:chExt cx="2256" cy="826"/>
              </a:xfrm>
            </p:grpSpPr>
            <p:sp>
              <p:nvSpPr>
                <p:cNvPr id="338" name="Rectangle 33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9" name="Rectangle 33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40" name="Rectangle 33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41" name="Rectangle 34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42" name="Rectangle 34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43" name="Rectangle 34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44" name="Rectangle 34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45" name="Rectangle 34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319" name="Freeform 318"/>
              <p:cNvSpPr>
                <a:spLocks/>
              </p:cNvSpPr>
              <p:nvPr/>
            </p:nvSpPr>
            <p:spPr bwMode="auto">
              <a:xfrm>
                <a:off x="3209925" y="2586038"/>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320" name="Rectangle 319"/>
              <p:cNvSpPr>
                <a:spLocks noChangeArrowheads="1"/>
              </p:cNvSpPr>
              <p:nvPr/>
            </p:nvSpPr>
            <p:spPr bwMode="auto">
              <a:xfrm>
                <a:off x="1545431"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321" name="Rectangle 320"/>
              <p:cNvSpPr>
                <a:spLocks noChangeArrowheads="1"/>
              </p:cNvSpPr>
              <p:nvPr/>
            </p:nvSpPr>
            <p:spPr bwMode="auto">
              <a:xfrm>
                <a:off x="2100263" y="2586038"/>
                <a:ext cx="553837" cy="413555"/>
              </a:xfrm>
              <a:prstGeom prst="rect">
                <a:avLst/>
              </a:prstGeom>
              <a:noFill/>
              <a:ln w="9525">
                <a:solidFill>
                  <a:srgbClr val="99CCFF"/>
                </a:solidFill>
                <a:miter lim="800000"/>
                <a:headEnd/>
                <a:tailEnd/>
              </a:ln>
            </p:spPr>
            <p:txBody>
              <a:bodyPr wrap="none" anchor="ctr"/>
              <a:lstStyle/>
              <a:p>
                <a:endParaRPr lang="en-US"/>
              </a:p>
            </p:txBody>
          </p:sp>
          <p:sp>
            <p:nvSpPr>
              <p:cNvPr id="322" name="Rectangle 321"/>
              <p:cNvSpPr>
                <a:spLocks noChangeArrowheads="1"/>
              </p:cNvSpPr>
              <p:nvPr/>
            </p:nvSpPr>
            <p:spPr bwMode="auto">
              <a:xfrm>
                <a:off x="26541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323" name="Rectangle 322"/>
              <p:cNvSpPr>
                <a:spLocks noChangeArrowheads="1"/>
              </p:cNvSpPr>
              <p:nvPr/>
            </p:nvSpPr>
            <p:spPr bwMode="auto">
              <a:xfrm>
                <a:off x="990600" y="2586038"/>
                <a:ext cx="554831" cy="413555"/>
              </a:xfrm>
              <a:prstGeom prst="rect">
                <a:avLst/>
              </a:prstGeom>
              <a:noFill/>
              <a:ln w="9525">
                <a:solidFill>
                  <a:srgbClr val="99CCFF"/>
                </a:solidFill>
                <a:miter lim="800000"/>
                <a:headEnd/>
                <a:tailEnd/>
              </a:ln>
            </p:spPr>
            <p:txBody>
              <a:bodyPr wrap="none" anchor="ctr"/>
              <a:lstStyle/>
              <a:p>
                <a:endParaRPr lang="en-US"/>
              </a:p>
            </p:txBody>
          </p:sp>
          <p:sp>
            <p:nvSpPr>
              <p:cNvPr id="324" name="Rectangle 323"/>
              <p:cNvSpPr>
                <a:spLocks noChangeArrowheads="1"/>
              </p:cNvSpPr>
              <p:nvPr/>
            </p:nvSpPr>
            <p:spPr bwMode="auto">
              <a:xfrm>
                <a:off x="1545431"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325" name="Rectangle 324"/>
              <p:cNvSpPr>
                <a:spLocks noChangeArrowheads="1"/>
              </p:cNvSpPr>
              <p:nvPr/>
            </p:nvSpPr>
            <p:spPr bwMode="auto">
              <a:xfrm>
                <a:off x="2100263" y="2999593"/>
                <a:ext cx="553837" cy="413556"/>
              </a:xfrm>
              <a:prstGeom prst="rect">
                <a:avLst/>
              </a:prstGeom>
              <a:noFill/>
              <a:ln w="9525">
                <a:solidFill>
                  <a:srgbClr val="99CCFF"/>
                </a:solidFill>
                <a:miter lim="800000"/>
                <a:headEnd/>
                <a:tailEnd/>
              </a:ln>
            </p:spPr>
            <p:txBody>
              <a:bodyPr wrap="none" anchor="ctr"/>
              <a:lstStyle/>
              <a:p>
                <a:endParaRPr lang="en-US"/>
              </a:p>
            </p:txBody>
          </p:sp>
          <p:sp>
            <p:nvSpPr>
              <p:cNvPr id="326" name="Rectangle 325"/>
              <p:cNvSpPr>
                <a:spLocks noChangeArrowheads="1"/>
              </p:cNvSpPr>
              <p:nvPr/>
            </p:nvSpPr>
            <p:spPr bwMode="auto">
              <a:xfrm>
                <a:off x="2654100" y="2999593"/>
                <a:ext cx="554831" cy="413556"/>
              </a:xfrm>
              <a:prstGeom prst="rect">
                <a:avLst/>
              </a:prstGeom>
              <a:noFill/>
              <a:ln w="9525">
                <a:solidFill>
                  <a:srgbClr val="99CCFF"/>
                </a:solidFill>
                <a:miter lim="800000"/>
                <a:headEnd/>
                <a:tailEnd/>
              </a:ln>
            </p:spPr>
            <p:txBody>
              <a:bodyPr wrap="none" anchor="ctr"/>
              <a:lstStyle/>
              <a:p>
                <a:endParaRPr lang="en-US"/>
              </a:p>
            </p:txBody>
          </p:sp>
          <p:sp>
            <p:nvSpPr>
              <p:cNvPr id="327" name="Rectangle 326"/>
              <p:cNvSpPr>
                <a:spLocks noChangeArrowheads="1"/>
              </p:cNvSpPr>
              <p:nvPr/>
            </p:nvSpPr>
            <p:spPr bwMode="auto">
              <a:xfrm>
                <a:off x="990600" y="2999593"/>
                <a:ext cx="554831" cy="413556"/>
              </a:xfrm>
              <a:prstGeom prst="rect">
                <a:avLst/>
              </a:prstGeom>
              <a:noFill/>
              <a:ln w="9525">
                <a:solidFill>
                  <a:srgbClr val="99CCFF"/>
                </a:solidFill>
                <a:miter lim="800000"/>
                <a:headEnd/>
                <a:tailEnd/>
              </a:ln>
            </p:spPr>
            <p:txBody>
              <a:bodyPr wrap="none" anchor="ctr"/>
              <a:lstStyle/>
              <a:p>
                <a:endParaRPr lang="en-US"/>
              </a:p>
            </p:txBody>
          </p:sp>
          <p:grpSp>
            <p:nvGrpSpPr>
              <p:cNvPr id="328" name="Group 327"/>
              <p:cNvGrpSpPr>
                <a:grpSpLocks/>
              </p:cNvGrpSpPr>
              <p:nvPr/>
            </p:nvGrpSpPr>
            <p:grpSpPr bwMode="auto">
              <a:xfrm>
                <a:off x="5430245" y="2586038"/>
                <a:ext cx="2218330" cy="827111"/>
                <a:chOff x="3263" y="625"/>
                <a:chExt cx="2256" cy="826"/>
              </a:xfrm>
            </p:grpSpPr>
            <p:sp>
              <p:nvSpPr>
                <p:cNvPr id="330" name="Rectangle 329"/>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1" name="Rectangle 330"/>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2" name="Rectangle 331"/>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3" name="Rectangle 332"/>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4" name="Rectangle 333"/>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5" name="Rectangle 334"/>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6" name="Rectangle 335"/>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37" name="Rectangle 336"/>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329" name="Freeform 328"/>
              <p:cNvSpPr>
                <a:spLocks/>
              </p:cNvSpPr>
              <p:nvPr/>
            </p:nvSpPr>
            <p:spPr bwMode="auto">
              <a:xfrm>
                <a:off x="5429250" y="2595563"/>
                <a:ext cx="2218331" cy="827111"/>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grpSp>
    </p:spTree>
    <p:extLst>
      <p:ext uri="{BB962C8B-B14F-4D97-AF65-F5344CB8AC3E}">
        <p14:creationId xmlns:p14="http://schemas.microsoft.com/office/powerpoint/2010/main" val="6613578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reeform 2"/>
          <p:cNvSpPr>
            <a:spLocks/>
          </p:cNvSpPr>
          <p:nvPr/>
        </p:nvSpPr>
        <p:spPr bwMode="auto">
          <a:xfrm>
            <a:off x="1601788" y="933450"/>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0243" name="Text Box 3"/>
          <p:cNvSpPr txBox="1">
            <a:spLocks noChangeArrowheads="1"/>
          </p:cNvSpPr>
          <p:nvPr/>
        </p:nvSpPr>
        <p:spPr bwMode="auto">
          <a:xfrm>
            <a:off x="430213" y="366713"/>
            <a:ext cx="3132137" cy="457200"/>
          </a:xfrm>
          <a:prstGeom prst="rect">
            <a:avLst/>
          </a:prstGeom>
          <a:noFill/>
          <a:ln w="9525">
            <a:noFill/>
            <a:miter lim="800000"/>
            <a:headEnd/>
            <a:tailEnd/>
          </a:ln>
        </p:spPr>
        <p:txBody>
          <a:bodyPr wrap="none" anchor="ctr">
            <a:spAutoFit/>
          </a:bodyPr>
          <a:lstStyle/>
          <a:p>
            <a:pPr algn="ctr"/>
            <a:r>
              <a:rPr lang="en-GB" sz="2400" b="1" dirty="0"/>
              <a:t>Waveform Synthesis</a:t>
            </a:r>
          </a:p>
        </p:txBody>
      </p:sp>
      <p:sp>
        <p:nvSpPr>
          <p:cNvPr id="10244" name="Text Box 4"/>
          <p:cNvSpPr txBox="1">
            <a:spLocks noChangeArrowheads="1"/>
          </p:cNvSpPr>
          <p:nvPr/>
        </p:nvSpPr>
        <p:spPr bwMode="auto">
          <a:xfrm>
            <a:off x="385763" y="1231900"/>
            <a:ext cx="1096962" cy="336550"/>
          </a:xfrm>
          <a:prstGeom prst="rect">
            <a:avLst/>
          </a:prstGeom>
          <a:noFill/>
          <a:ln w="9525">
            <a:noFill/>
            <a:miter lim="800000"/>
            <a:headEnd/>
            <a:tailEnd/>
          </a:ln>
        </p:spPr>
        <p:txBody>
          <a:bodyPr wrap="none" anchor="ctr">
            <a:spAutoFit/>
          </a:bodyPr>
          <a:lstStyle/>
          <a:p>
            <a:pPr algn="ctr"/>
            <a:r>
              <a:rPr lang="en-GB"/>
              <a:t>f = sin(x)</a:t>
            </a:r>
          </a:p>
        </p:txBody>
      </p:sp>
      <p:grpSp>
        <p:nvGrpSpPr>
          <p:cNvPr id="10245" name="Group 5"/>
          <p:cNvGrpSpPr>
            <a:grpSpLocks/>
          </p:cNvGrpSpPr>
          <p:nvPr/>
        </p:nvGrpSpPr>
        <p:grpSpPr bwMode="auto">
          <a:xfrm>
            <a:off x="5135563" y="919163"/>
            <a:ext cx="3541712" cy="1660525"/>
            <a:chOff x="3263" y="625"/>
            <a:chExt cx="2256" cy="826"/>
          </a:xfrm>
        </p:grpSpPr>
        <p:sp>
          <p:nvSpPr>
            <p:cNvPr id="10255"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56"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57"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58"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59"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60"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61"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62"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0246" name="Freeform 14"/>
          <p:cNvSpPr>
            <a:spLocks/>
          </p:cNvSpPr>
          <p:nvPr/>
        </p:nvSpPr>
        <p:spPr bwMode="auto">
          <a:xfrm>
            <a:off x="5133975" y="919163"/>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0247" name="Rectangle 15"/>
          <p:cNvSpPr>
            <a:spLocks noChangeArrowheads="1"/>
          </p:cNvSpPr>
          <p:nvPr/>
        </p:nvSpPr>
        <p:spPr bwMode="auto">
          <a:xfrm>
            <a:off x="2476500" y="919163"/>
            <a:ext cx="885825" cy="830262"/>
          </a:xfrm>
          <a:prstGeom prst="rect">
            <a:avLst/>
          </a:prstGeom>
          <a:noFill/>
          <a:ln w="9525">
            <a:solidFill>
              <a:srgbClr val="99CCFF"/>
            </a:solidFill>
            <a:miter lim="800000"/>
            <a:headEnd/>
            <a:tailEnd/>
          </a:ln>
        </p:spPr>
        <p:txBody>
          <a:bodyPr wrap="none" anchor="ctr"/>
          <a:lstStyle/>
          <a:p>
            <a:endParaRPr lang="en-US"/>
          </a:p>
        </p:txBody>
      </p:sp>
      <p:sp>
        <p:nvSpPr>
          <p:cNvPr id="10248" name="Rectangle 16"/>
          <p:cNvSpPr>
            <a:spLocks noChangeArrowheads="1"/>
          </p:cNvSpPr>
          <p:nvPr/>
        </p:nvSpPr>
        <p:spPr bwMode="auto">
          <a:xfrm>
            <a:off x="3362325" y="919163"/>
            <a:ext cx="884238" cy="830262"/>
          </a:xfrm>
          <a:prstGeom prst="rect">
            <a:avLst/>
          </a:prstGeom>
          <a:noFill/>
          <a:ln w="9525">
            <a:solidFill>
              <a:srgbClr val="99CCFF"/>
            </a:solidFill>
            <a:miter lim="800000"/>
            <a:headEnd/>
            <a:tailEnd/>
          </a:ln>
        </p:spPr>
        <p:txBody>
          <a:bodyPr wrap="none" anchor="ctr"/>
          <a:lstStyle/>
          <a:p>
            <a:endParaRPr lang="en-US"/>
          </a:p>
        </p:txBody>
      </p:sp>
      <p:sp>
        <p:nvSpPr>
          <p:cNvPr id="10249" name="Rectangle 17"/>
          <p:cNvSpPr>
            <a:spLocks noChangeArrowheads="1"/>
          </p:cNvSpPr>
          <p:nvPr/>
        </p:nvSpPr>
        <p:spPr bwMode="auto">
          <a:xfrm>
            <a:off x="4246563" y="919163"/>
            <a:ext cx="885825" cy="830262"/>
          </a:xfrm>
          <a:prstGeom prst="rect">
            <a:avLst/>
          </a:prstGeom>
          <a:noFill/>
          <a:ln w="9525">
            <a:solidFill>
              <a:srgbClr val="99CCFF"/>
            </a:solidFill>
            <a:miter lim="800000"/>
            <a:headEnd/>
            <a:tailEnd/>
          </a:ln>
        </p:spPr>
        <p:txBody>
          <a:bodyPr wrap="none" anchor="ctr"/>
          <a:lstStyle/>
          <a:p>
            <a:endParaRPr lang="en-US"/>
          </a:p>
        </p:txBody>
      </p:sp>
      <p:sp>
        <p:nvSpPr>
          <p:cNvPr id="10250" name="Rectangle 18"/>
          <p:cNvSpPr>
            <a:spLocks noChangeArrowheads="1"/>
          </p:cNvSpPr>
          <p:nvPr/>
        </p:nvSpPr>
        <p:spPr bwMode="auto">
          <a:xfrm>
            <a:off x="1590675" y="919163"/>
            <a:ext cx="885825" cy="830262"/>
          </a:xfrm>
          <a:prstGeom prst="rect">
            <a:avLst/>
          </a:prstGeom>
          <a:noFill/>
          <a:ln w="9525">
            <a:solidFill>
              <a:srgbClr val="99CCFF"/>
            </a:solidFill>
            <a:miter lim="800000"/>
            <a:headEnd/>
            <a:tailEnd/>
          </a:ln>
        </p:spPr>
        <p:txBody>
          <a:bodyPr wrap="none" anchor="ctr"/>
          <a:lstStyle/>
          <a:p>
            <a:endParaRPr lang="en-US"/>
          </a:p>
        </p:txBody>
      </p:sp>
      <p:sp>
        <p:nvSpPr>
          <p:cNvPr id="10251" name="Rectangle 19"/>
          <p:cNvSpPr>
            <a:spLocks noChangeArrowheads="1"/>
          </p:cNvSpPr>
          <p:nvPr/>
        </p:nvSpPr>
        <p:spPr bwMode="auto">
          <a:xfrm>
            <a:off x="2476500" y="1749425"/>
            <a:ext cx="885825" cy="830263"/>
          </a:xfrm>
          <a:prstGeom prst="rect">
            <a:avLst/>
          </a:prstGeom>
          <a:noFill/>
          <a:ln w="9525">
            <a:solidFill>
              <a:srgbClr val="99CCFF"/>
            </a:solidFill>
            <a:miter lim="800000"/>
            <a:headEnd/>
            <a:tailEnd/>
          </a:ln>
        </p:spPr>
        <p:txBody>
          <a:bodyPr wrap="none" anchor="ctr"/>
          <a:lstStyle/>
          <a:p>
            <a:endParaRPr lang="en-US"/>
          </a:p>
        </p:txBody>
      </p:sp>
      <p:sp>
        <p:nvSpPr>
          <p:cNvPr id="10252" name="Rectangle 20"/>
          <p:cNvSpPr>
            <a:spLocks noChangeArrowheads="1"/>
          </p:cNvSpPr>
          <p:nvPr/>
        </p:nvSpPr>
        <p:spPr bwMode="auto">
          <a:xfrm>
            <a:off x="3362325" y="1749425"/>
            <a:ext cx="884238" cy="830263"/>
          </a:xfrm>
          <a:prstGeom prst="rect">
            <a:avLst/>
          </a:prstGeom>
          <a:noFill/>
          <a:ln w="9525">
            <a:solidFill>
              <a:srgbClr val="99CCFF"/>
            </a:solidFill>
            <a:miter lim="800000"/>
            <a:headEnd/>
            <a:tailEnd/>
          </a:ln>
        </p:spPr>
        <p:txBody>
          <a:bodyPr wrap="none" anchor="ctr"/>
          <a:lstStyle/>
          <a:p>
            <a:endParaRPr lang="en-US"/>
          </a:p>
        </p:txBody>
      </p:sp>
      <p:sp>
        <p:nvSpPr>
          <p:cNvPr id="10253" name="Rectangle 21"/>
          <p:cNvSpPr>
            <a:spLocks noChangeArrowheads="1"/>
          </p:cNvSpPr>
          <p:nvPr/>
        </p:nvSpPr>
        <p:spPr bwMode="auto">
          <a:xfrm>
            <a:off x="4246563" y="1749425"/>
            <a:ext cx="885825" cy="830263"/>
          </a:xfrm>
          <a:prstGeom prst="rect">
            <a:avLst/>
          </a:prstGeom>
          <a:noFill/>
          <a:ln w="9525">
            <a:solidFill>
              <a:srgbClr val="99CCFF"/>
            </a:solidFill>
            <a:miter lim="800000"/>
            <a:headEnd/>
            <a:tailEnd/>
          </a:ln>
        </p:spPr>
        <p:txBody>
          <a:bodyPr wrap="none" anchor="ctr"/>
          <a:lstStyle/>
          <a:p>
            <a:endParaRPr lang="en-US"/>
          </a:p>
        </p:txBody>
      </p:sp>
      <p:sp>
        <p:nvSpPr>
          <p:cNvPr id="10254" name="Rectangle 22"/>
          <p:cNvSpPr>
            <a:spLocks noChangeArrowheads="1"/>
          </p:cNvSpPr>
          <p:nvPr/>
        </p:nvSpPr>
        <p:spPr bwMode="auto">
          <a:xfrm>
            <a:off x="1590675" y="1749425"/>
            <a:ext cx="885825" cy="830263"/>
          </a:xfrm>
          <a:prstGeom prst="rect">
            <a:avLst/>
          </a:prstGeom>
          <a:noFill/>
          <a:ln w="9525">
            <a:solidFill>
              <a:srgbClr val="99CCFF"/>
            </a:solidFill>
            <a:miter lim="800000"/>
            <a:headEnd/>
            <a:tailEnd/>
          </a:ln>
        </p:spPr>
        <p:txBody>
          <a:bodyPr wrap="none" anchor="ctr"/>
          <a:lstStyle/>
          <a:p>
            <a:endParaRPr lang="en-US"/>
          </a:p>
        </p:txBody>
      </p:sp>
    </p:spTree>
    <p:extLst>
      <p:ext uri="{BB962C8B-B14F-4D97-AF65-F5344CB8AC3E}">
        <p14:creationId xmlns:p14="http://schemas.microsoft.com/office/powerpoint/2010/main" val="10739996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2"/>
          <p:cNvSpPr>
            <a:spLocks/>
          </p:cNvSpPr>
          <p:nvPr/>
        </p:nvSpPr>
        <p:spPr bwMode="auto">
          <a:xfrm>
            <a:off x="1601788" y="933450"/>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1267" name="Text Box 4"/>
          <p:cNvSpPr txBox="1">
            <a:spLocks noChangeArrowheads="1"/>
          </p:cNvSpPr>
          <p:nvPr/>
        </p:nvSpPr>
        <p:spPr bwMode="auto">
          <a:xfrm>
            <a:off x="385763" y="1231900"/>
            <a:ext cx="1096962" cy="336550"/>
          </a:xfrm>
          <a:prstGeom prst="rect">
            <a:avLst/>
          </a:prstGeom>
          <a:noFill/>
          <a:ln w="9525">
            <a:noFill/>
            <a:miter lim="800000"/>
            <a:headEnd/>
            <a:tailEnd/>
          </a:ln>
        </p:spPr>
        <p:txBody>
          <a:bodyPr wrap="none" anchor="ctr">
            <a:spAutoFit/>
          </a:bodyPr>
          <a:lstStyle/>
          <a:p>
            <a:pPr algn="ctr"/>
            <a:r>
              <a:rPr lang="en-GB"/>
              <a:t>f = sin(x)</a:t>
            </a:r>
          </a:p>
        </p:txBody>
      </p:sp>
      <p:grpSp>
        <p:nvGrpSpPr>
          <p:cNvPr id="11268" name="Group 5"/>
          <p:cNvGrpSpPr>
            <a:grpSpLocks/>
          </p:cNvGrpSpPr>
          <p:nvPr/>
        </p:nvGrpSpPr>
        <p:grpSpPr bwMode="auto">
          <a:xfrm>
            <a:off x="5135563" y="919163"/>
            <a:ext cx="3541712" cy="1660525"/>
            <a:chOff x="3263" y="625"/>
            <a:chExt cx="2256" cy="826"/>
          </a:xfrm>
        </p:grpSpPr>
        <p:sp>
          <p:nvSpPr>
            <p:cNvPr id="11308"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9"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10"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11"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12"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13"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14"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15"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1269" name="Freeform 14"/>
          <p:cNvSpPr>
            <a:spLocks/>
          </p:cNvSpPr>
          <p:nvPr/>
        </p:nvSpPr>
        <p:spPr bwMode="auto">
          <a:xfrm>
            <a:off x="5133975" y="919163"/>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1270" name="Group 15"/>
          <p:cNvGrpSpPr>
            <a:grpSpLocks/>
          </p:cNvGrpSpPr>
          <p:nvPr/>
        </p:nvGrpSpPr>
        <p:grpSpPr bwMode="auto">
          <a:xfrm>
            <a:off x="1574800" y="2651125"/>
            <a:ext cx="7138988" cy="1676400"/>
            <a:chOff x="992" y="1670"/>
            <a:chExt cx="4497" cy="1056"/>
          </a:xfrm>
        </p:grpSpPr>
        <p:grpSp>
          <p:nvGrpSpPr>
            <p:cNvPr id="11284" name="Group 16"/>
            <p:cNvGrpSpPr>
              <a:grpSpLocks/>
            </p:cNvGrpSpPr>
            <p:nvPr/>
          </p:nvGrpSpPr>
          <p:grpSpPr bwMode="auto">
            <a:xfrm>
              <a:off x="992" y="1670"/>
              <a:ext cx="2256" cy="1056"/>
              <a:chOff x="3263" y="625"/>
              <a:chExt cx="2256" cy="826"/>
            </a:xfrm>
          </p:grpSpPr>
          <p:sp>
            <p:nvSpPr>
              <p:cNvPr id="11300" name="Rectangle 1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1" name="Rectangle 1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2" name="Rectangle 1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3" name="Rectangle 2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4" name="Rectangle 2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5" name="Rectangle 2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6" name="Rectangle 2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07" name="Rectangle 2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1285" name="Freeform 25"/>
            <p:cNvSpPr>
              <a:spLocks/>
            </p:cNvSpPr>
            <p:nvPr/>
          </p:nvSpPr>
          <p:spPr bwMode="auto">
            <a:xfrm>
              <a:off x="1007" y="204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nvGrpSpPr>
            <p:cNvPr id="11286" name="Group 26"/>
            <p:cNvGrpSpPr>
              <a:grpSpLocks/>
            </p:cNvGrpSpPr>
            <p:nvPr/>
          </p:nvGrpSpPr>
          <p:grpSpPr bwMode="auto">
            <a:xfrm>
              <a:off x="3233" y="1670"/>
              <a:ext cx="2256" cy="1056"/>
              <a:chOff x="3263" y="625"/>
              <a:chExt cx="2256" cy="826"/>
            </a:xfrm>
          </p:grpSpPr>
          <p:sp>
            <p:nvSpPr>
              <p:cNvPr id="11292" name="Rectangle 2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93" name="Rectangle 2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94" name="Rectangle 2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95" name="Rectangle 3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96" name="Rectangle 3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97" name="Rectangle 3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98" name="Rectangle 3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99" name="Rectangle 3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1287" name="Freeform 35"/>
            <p:cNvSpPr>
              <a:spLocks/>
            </p:cNvSpPr>
            <p:nvPr/>
          </p:nvSpPr>
          <p:spPr bwMode="auto">
            <a:xfrm>
              <a:off x="1751" y="2025"/>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1288" name="Freeform 36"/>
            <p:cNvSpPr>
              <a:spLocks/>
            </p:cNvSpPr>
            <p:nvPr/>
          </p:nvSpPr>
          <p:spPr bwMode="auto">
            <a:xfrm>
              <a:off x="2503" y="2026"/>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1289" name="Freeform 37"/>
            <p:cNvSpPr>
              <a:spLocks/>
            </p:cNvSpPr>
            <p:nvPr/>
          </p:nvSpPr>
          <p:spPr bwMode="auto">
            <a:xfrm>
              <a:off x="3240" y="2041"/>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1290" name="Freeform 38"/>
            <p:cNvSpPr>
              <a:spLocks/>
            </p:cNvSpPr>
            <p:nvPr/>
          </p:nvSpPr>
          <p:spPr bwMode="auto">
            <a:xfrm>
              <a:off x="3984" y="201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1291" name="Freeform 39"/>
            <p:cNvSpPr>
              <a:spLocks/>
            </p:cNvSpPr>
            <p:nvPr/>
          </p:nvSpPr>
          <p:spPr bwMode="auto">
            <a:xfrm>
              <a:off x="4736" y="2019"/>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grpSp>
        <p:nvGrpSpPr>
          <p:cNvPr id="11271" name="Group 40"/>
          <p:cNvGrpSpPr>
            <a:grpSpLocks/>
          </p:cNvGrpSpPr>
          <p:nvPr/>
        </p:nvGrpSpPr>
        <p:grpSpPr bwMode="auto">
          <a:xfrm>
            <a:off x="1590675" y="919163"/>
            <a:ext cx="3541713" cy="1660525"/>
            <a:chOff x="3263" y="625"/>
            <a:chExt cx="2256" cy="826"/>
          </a:xfrm>
        </p:grpSpPr>
        <p:sp>
          <p:nvSpPr>
            <p:cNvPr id="11276" name="Rectangle 41"/>
            <p:cNvSpPr>
              <a:spLocks noChangeArrowheads="1"/>
            </p:cNvSpPr>
            <p:nvPr/>
          </p:nvSpPr>
          <p:spPr bwMode="auto">
            <a:xfrm>
              <a:off x="3827" y="625"/>
              <a:ext cx="564" cy="413"/>
            </a:xfrm>
            <a:prstGeom prst="rect">
              <a:avLst/>
            </a:prstGeom>
            <a:noFill/>
            <a:ln w="9525">
              <a:solidFill>
                <a:srgbClr val="99CCFF"/>
              </a:solidFill>
              <a:miter lim="800000"/>
              <a:headEnd/>
              <a:tailEnd/>
            </a:ln>
          </p:spPr>
          <p:txBody>
            <a:bodyPr wrap="none" anchor="ctr"/>
            <a:lstStyle/>
            <a:p>
              <a:endParaRPr lang="en-US"/>
            </a:p>
          </p:txBody>
        </p:sp>
        <p:sp>
          <p:nvSpPr>
            <p:cNvPr id="11277" name="Rectangle 42"/>
            <p:cNvSpPr>
              <a:spLocks noChangeArrowheads="1"/>
            </p:cNvSpPr>
            <p:nvPr/>
          </p:nvSpPr>
          <p:spPr bwMode="auto">
            <a:xfrm>
              <a:off x="4391" y="625"/>
              <a:ext cx="564" cy="413"/>
            </a:xfrm>
            <a:prstGeom prst="rect">
              <a:avLst/>
            </a:prstGeom>
            <a:noFill/>
            <a:ln w="9525">
              <a:solidFill>
                <a:srgbClr val="99CCFF"/>
              </a:solidFill>
              <a:miter lim="800000"/>
              <a:headEnd/>
              <a:tailEnd/>
            </a:ln>
          </p:spPr>
          <p:txBody>
            <a:bodyPr wrap="none" anchor="ctr"/>
            <a:lstStyle/>
            <a:p>
              <a:endParaRPr lang="en-US"/>
            </a:p>
          </p:txBody>
        </p:sp>
        <p:sp>
          <p:nvSpPr>
            <p:cNvPr id="11278" name="Rectangle 43"/>
            <p:cNvSpPr>
              <a:spLocks noChangeArrowheads="1"/>
            </p:cNvSpPr>
            <p:nvPr/>
          </p:nvSpPr>
          <p:spPr bwMode="auto">
            <a:xfrm>
              <a:off x="4955" y="625"/>
              <a:ext cx="564" cy="413"/>
            </a:xfrm>
            <a:prstGeom prst="rect">
              <a:avLst/>
            </a:prstGeom>
            <a:noFill/>
            <a:ln w="9525">
              <a:solidFill>
                <a:srgbClr val="99CCFF"/>
              </a:solidFill>
              <a:miter lim="800000"/>
              <a:headEnd/>
              <a:tailEnd/>
            </a:ln>
          </p:spPr>
          <p:txBody>
            <a:bodyPr wrap="none" anchor="ctr"/>
            <a:lstStyle/>
            <a:p>
              <a:endParaRPr lang="en-US"/>
            </a:p>
          </p:txBody>
        </p:sp>
        <p:sp>
          <p:nvSpPr>
            <p:cNvPr id="11279" name="Rectangle 44"/>
            <p:cNvSpPr>
              <a:spLocks noChangeArrowheads="1"/>
            </p:cNvSpPr>
            <p:nvPr/>
          </p:nvSpPr>
          <p:spPr bwMode="auto">
            <a:xfrm>
              <a:off x="3263" y="625"/>
              <a:ext cx="564" cy="413"/>
            </a:xfrm>
            <a:prstGeom prst="rect">
              <a:avLst/>
            </a:prstGeom>
            <a:noFill/>
            <a:ln w="9525">
              <a:solidFill>
                <a:srgbClr val="99CCFF"/>
              </a:solidFill>
              <a:miter lim="800000"/>
              <a:headEnd/>
              <a:tailEnd/>
            </a:ln>
          </p:spPr>
          <p:txBody>
            <a:bodyPr wrap="none" anchor="ctr"/>
            <a:lstStyle/>
            <a:p>
              <a:endParaRPr lang="en-US"/>
            </a:p>
          </p:txBody>
        </p:sp>
        <p:sp>
          <p:nvSpPr>
            <p:cNvPr id="11280" name="Rectangle 45"/>
            <p:cNvSpPr>
              <a:spLocks noChangeArrowheads="1"/>
            </p:cNvSpPr>
            <p:nvPr/>
          </p:nvSpPr>
          <p:spPr bwMode="auto">
            <a:xfrm>
              <a:off x="3827" y="1038"/>
              <a:ext cx="564" cy="413"/>
            </a:xfrm>
            <a:prstGeom prst="rect">
              <a:avLst/>
            </a:prstGeom>
            <a:noFill/>
            <a:ln w="9525">
              <a:solidFill>
                <a:srgbClr val="99CCFF"/>
              </a:solidFill>
              <a:miter lim="800000"/>
              <a:headEnd/>
              <a:tailEnd/>
            </a:ln>
          </p:spPr>
          <p:txBody>
            <a:bodyPr wrap="none" anchor="ctr"/>
            <a:lstStyle/>
            <a:p>
              <a:endParaRPr lang="en-US"/>
            </a:p>
          </p:txBody>
        </p:sp>
        <p:sp>
          <p:nvSpPr>
            <p:cNvPr id="11281" name="Rectangle 46"/>
            <p:cNvSpPr>
              <a:spLocks noChangeArrowheads="1"/>
            </p:cNvSpPr>
            <p:nvPr/>
          </p:nvSpPr>
          <p:spPr bwMode="auto">
            <a:xfrm>
              <a:off x="4391" y="1038"/>
              <a:ext cx="564" cy="413"/>
            </a:xfrm>
            <a:prstGeom prst="rect">
              <a:avLst/>
            </a:prstGeom>
            <a:noFill/>
            <a:ln w="9525">
              <a:solidFill>
                <a:srgbClr val="99CCFF"/>
              </a:solidFill>
              <a:miter lim="800000"/>
              <a:headEnd/>
              <a:tailEnd/>
            </a:ln>
          </p:spPr>
          <p:txBody>
            <a:bodyPr wrap="none" anchor="ctr"/>
            <a:lstStyle/>
            <a:p>
              <a:endParaRPr lang="en-US"/>
            </a:p>
          </p:txBody>
        </p:sp>
        <p:sp>
          <p:nvSpPr>
            <p:cNvPr id="11282" name="Rectangle 47"/>
            <p:cNvSpPr>
              <a:spLocks noChangeArrowheads="1"/>
            </p:cNvSpPr>
            <p:nvPr/>
          </p:nvSpPr>
          <p:spPr bwMode="auto">
            <a:xfrm>
              <a:off x="4955" y="1038"/>
              <a:ext cx="564" cy="413"/>
            </a:xfrm>
            <a:prstGeom prst="rect">
              <a:avLst/>
            </a:prstGeom>
            <a:noFill/>
            <a:ln w="9525">
              <a:solidFill>
                <a:srgbClr val="99CCFF"/>
              </a:solidFill>
              <a:miter lim="800000"/>
              <a:headEnd/>
              <a:tailEnd/>
            </a:ln>
          </p:spPr>
          <p:txBody>
            <a:bodyPr wrap="none" anchor="ctr"/>
            <a:lstStyle/>
            <a:p>
              <a:endParaRPr lang="en-US"/>
            </a:p>
          </p:txBody>
        </p:sp>
        <p:sp>
          <p:nvSpPr>
            <p:cNvPr id="11283" name="Rectangle 48"/>
            <p:cNvSpPr>
              <a:spLocks noChangeArrowheads="1"/>
            </p:cNvSpPr>
            <p:nvPr/>
          </p:nvSpPr>
          <p:spPr bwMode="auto">
            <a:xfrm>
              <a:off x="3263" y="1038"/>
              <a:ext cx="564" cy="413"/>
            </a:xfrm>
            <a:prstGeom prst="rect">
              <a:avLst/>
            </a:prstGeom>
            <a:noFill/>
            <a:ln w="9525">
              <a:solidFill>
                <a:srgbClr val="99CCFF"/>
              </a:solidFill>
              <a:miter lim="800000"/>
              <a:headEnd/>
              <a:tailEnd/>
            </a:ln>
          </p:spPr>
          <p:txBody>
            <a:bodyPr wrap="none" anchor="ctr"/>
            <a:lstStyle/>
            <a:p>
              <a:endParaRPr lang="en-US"/>
            </a:p>
          </p:txBody>
        </p:sp>
      </p:grpSp>
      <p:grpSp>
        <p:nvGrpSpPr>
          <p:cNvPr id="11272" name="Group 49"/>
          <p:cNvGrpSpPr>
            <a:grpSpLocks/>
          </p:cNvGrpSpPr>
          <p:nvPr/>
        </p:nvGrpSpPr>
        <p:grpSpPr bwMode="auto">
          <a:xfrm>
            <a:off x="439738" y="2986088"/>
            <a:ext cx="1379537" cy="581025"/>
            <a:chOff x="277" y="1881"/>
            <a:chExt cx="869" cy="366"/>
          </a:xfrm>
        </p:grpSpPr>
        <p:sp>
          <p:nvSpPr>
            <p:cNvPr id="11274" name="Text Box 50"/>
            <p:cNvSpPr txBox="1">
              <a:spLocks noChangeArrowheads="1"/>
            </p:cNvSpPr>
            <p:nvPr/>
          </p:nvSpPr>
          <p:spPr bwMode="auto">
            <a:xfrm>
              <a:off x="277" y="1881"/>
              <a:ext cx="853" cy="366"/>
            </a:xfrm>
            <a:prstGeom prst="rect">
              <a:avLst/>
            </a:prstGeom>
            <a:noFill/>
            <a:ln w="9525">
              <a:noFill/>
              <a:miter lim="800000"/>
              <a:headEnd/>
              <a:tailEnd/>
            </a:ln>
          </p:spPr>
          <p:txBody>
            <a:bodyPr wrap="none" anchor="ctr">
              <a:spAutoFit/>
            </a:bodyPr>
            <a:lstStyle/>
            <a:p>
              <a:r>
                <a:rPr lang="en-GB">
                  <a:solidFill>
                    <a:schemeClr val="accent1"/>
                  </a:solidFill>
                </a:rPr>
                <a:t>f = </a:t>
              </a:r>
              <a:r>
                <a:rPr lang="en-GB" u="sng">
                  <a:solidFill>
                    <a:schemeClr val="accent1"/>
                  </a:solidFill>
                </a:rPr>
                <a:t>1</a:t>
              </a:r>
              <a:r>
                <a:rPr lang="en-GB">
                  <a:solidFill>
                    <a:schemeClr val="accent1"/>
                  </a:solidFill>
                </a:rPr>
                <a:t>sin(3x)</a:t>
              </a:r>
            </a:p>
            <a:p>
              <a:r>
                <a:rPr lang="en-GB">
                  <a:solidFill>
                    <a:schemeClr val="accent1"/>
                  </a:solidFill>
                </a:rPr>
                <a:t>     3</a:t>
              </a:r>
              <a:endParaRPr lang="en-GB"/>
            </a:p>
          </p:txBody>
        </p:sp>
        <p:sp>
          <p:nvSpPr>
            <p:cNvPr id="11275" name="Line 51"/>
            <p:cNvSpPr>
              <a:spLocks noChangeShapeType="1"/>
            </p:cNvSpPr>
            <p:nvPr/>
          </p:nvSpPr>
          <p:spPr bwMode="auto">
            <a:xfrm flipV="1">
              <a:off x="900" y="2064"/>
              <a:ext cx="246" cy="12"/>
            </a:xfrm>
            <a:prstGeom prst="line">
              <a:avLst/>
            </a:prstGeom>
            <a:noFill/>
            <a:ln w="12700">
              <a:solidFill>
                <a:schemeClr val="tx1"/>
              </a:solidFill>
              <a:round/>
              <a:headEnd/>
              <a:tailEnd type="triangle" w="med" len="med"/>
            </a:ln>
          </p:spPr>
          <p:txBody>
            <a:bodyPr wrap="none" anchor="ctr"/>
            <a:lstStyle/>
            <a:p>
              <a:endParaRPr lang="en-GB"/>
            </a:p>
          </p:txBody>
        </p:sp>
      </p:grpSp>
      <p:sp>
        <p:nvSpPr>
          <p:cNvPr id="11273" name="Text Box 52"/>
          <p:cNvSpPr txBox="1">
            <a:spLocks noChangeArrowheads="1"/>
          </p:cNvSpPr>
          <p:nvPr/>
        </p:nvSpPr>
        <p:spPr bwMode="auto">
          <a:xfrm>
            <a:off x="430213" y="366713"/>
            <a:ext cx="3132137" cy="457200"/>
          </a:xfrm>
          <a:prstGeom prst="rect">
            <a:avLst/>
          </a:prstGeom>
          <a:noFill/>
          <a:ln w="9525">
            <a:noFill/>
            <a:miter lim="800000"/>
            <a:headEnd/>
            <a:tailEnd/>
          </a:ln>
        </p:spPr>
        <p:txBody>
          <a:bodyPr wrap="none" anchor="ctr">
            <a:spAutoFit/>
          </a:bodyPr>
          <a:lstStyle/>
          <a:p>
            <a:pPr algn="ctr"/>
            <a:r>
              <a:rPr lang="en-GB" sz="2400" b="1"/>
              <a:t>Waveform Synthesis</a:t>
            </a:r>
          </a:p>
        </p:txBody>
      </p:sp>
    </p:spTree>
    <p:extLst>
      <p:ext uri="{BB962C8B-B14F-4D97-AF65-F5344CB8AC3E}">
        <p14:creationId xmlns:p14="http://schemas.microsoft.com/office/powerpoint/2010/main" val="36745876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reeform 2"/>
          <p:cNvSpPr>
            <a:spLocks/>
          </p:cNvSpPr>
          <p:nvPr/>
        </p:nvSpPr>
        <p:spPr bwMode="auto">
          <a:xfrm>
            <a:off x="1601788" y="933450"/>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2291" name="Text Box 4"/>
          <p:cNvSpPr txBox="1">
            <a:spLocks noChangeArrowheads="1"/>
          </p:cNvSpPr>
          <p:nvPr/>
        </p:nvSpPr>
        <p:spPr bwMode="auto">
          <a:xfrm>
            <a:off x="385763" y="1231900"/>
            <a:ext cx="1096962" cy="336550"/>
          </a:xfrm>
          <a:prstGeom prst="rect">
            <a:avLst/>
          </a:prstGeom>
          <a:noFill/>
          <a:ln w="9525">
            <a:noFill/>
            <a:miter lim="800000"/>
            <a:headEnd/>
            <a:tailEnd/>
          </a:ln>
        </p:spPr>
        <p:txBody>
          <a:bodyPr wrap="none" anchor="ctr">
            <a:spAutoFit/>
          </a:bodyPr>
          <a:lstStyle/>
          <a:p>
            <a:pPr algn="ctr"/>
            <a:r>
              <a:rPr lang="en-GB"/>
              <a:t>f = sin(x)</a:t>
            </a:r>
          </a:p>
        </p:txBody>
      </p:sp>
      <p:grpSp>
        <p:nvGrpSpPr>
          <p:cNvPr id="12292" name="Group 5"/>
          <p:cNvGrpSpPr>
            <a:grpSpLocks/>
          </p:cNvGrpSpPr>
          <p:nvPr/>
        </p:nvGrpSpPr>
        <p:grpSpPr bwMode="auto">
          <a:xfrm>
            <a:off x="5135563" y="919163"/>
            <a:ext cx="3541712" cy="1660525"/>
            <a:chOff x="3263" y="625"/>
            <a:chExt cx="2256" cy="826"/>
          </a:xfrm>
        </p:grpSpPr>
        <p:sp>
          <p:nvSpPr>
            <p:cNvPr id="12338"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9"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40"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41"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42"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43"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44"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45"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2293" name="Freeform 14"/>
          <p:cNvSpPr>
            <a:spLocks/>
          </p:cNvSpPr>
          <p:nvPr/>
        </p:nvSpPr>
        <p:spPr bwMode="auto">
          <a:xfrm>
            <a:off x="5133975" y="919163"/>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2294" name="Group 15"/>
          <p:cNvGrpSpPr>
            <a:grpSpLocks/>
          </p:cNvGrpSpPr>
          <p:nvPr/>
        </p:nvGrpSpPr>
        <p:grpSpPr bwMode="auto">
          <a:xfrm>
            <a:off x="1574800" y="2651125"/>
            <a:ext cx="7138988" cy="1676400"/>
            <a:chOff x="992" y="1670"/>
            <a:chExt cx="4497" cy="1056"/>
          </a:xfrm>
        </p:grpSpPr>
        <p:grpSp>
          <p:nvGrpSpPr>
            <p:cNvPr id="12314" name="Group 16"/>
            <p:cNvGrpSpPr>
              <a:grpSpLocks/>
            </p:cNvGrpSpPr>
            <p:nvPr/>
          </p:nvGrpSpPr>
          <p:grpSpPr bwMode="auto">
            <a:xfrm>
              <a:off x="992" y="1670"/>
              <a:ext cx="2256" cy="1056"/>
              <a:chOff x="3263" y="625"/>
              <a:chExt cx="2256" cy="826"/>
            </a:xfrm>
          </p:grpSpPr>
          <p:sp>
            <p:nvSpPr>
              <p:cNvPr id="12330" name="Rectangle 1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1" name="Rectangle 1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2" name="Rectangle 1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3" name="Rectangle 2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4" name="Rectangle 2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5" name="Rectangle 2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6" name="Rectangle 2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37" name="Rectangle 2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2315" name="Freeform 25"/>
            <p:cNvSpPr>
              <a:spLocks/>
            </p:cNvSpPr>
            <p:nvPr/>
          </p:nvSpPr>
          <p:spPr bwMode="auto">
            <a:xfrm>
              <a:off x="1007" y="204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nvGrpSpPr>
            <p:cNvPr id="12316" name="Group 26"/>
            <p:cNvGrpSpPr>
              <a:grpSpLocks/>
            </p:cNvGrpSpPr>
            <p:nvPr/>
          </p:nvGrpSpPr>
          <p:grpSpPr bwMode="auto">
            <a:xfrm>
              <a:off x="3233" y="1670"/>
              <a:ext cx="2256" cy="1056"/>
              <a:chOff x="3263" y="625"/>
              <a:chExt cx="2256" cy="826"/>
            </a:xfrm>
          </p:grpSpPr>
          <p:sp>
            <p:nvSpPr>
              <p:cNvPr id="12322" name="Rectangle 2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23" name="Rectangle 2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24" name="Rectangle 2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25" name="Rectangle 3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26" name="Rectangle 3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27" name="Rectangle 3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28" name="Rectangle 3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29" name="Rectangle 3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2317" name="Freeform 35"/>
            <p:cNvSpPr>
              <a:spLocks/>
            </p:cNvSpPr>
            <p:nvPr/>
          </p:nvSpPr>
          <p:spPr bwMode="auto">
            <a:xfrm>
              <a:off x="1751" y="2025"/>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2318" name="Freeform 36"/>
            <p:cNvSpPr>
              <a:spLocks/>
            </p:cNvSpPr>
            <p:nvPr/>
          </p:nvSpPr>
          <p:spPr bwMode="auto">
            <a:xfrm>
              <a:off x="2503" y="2026"/>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2319" name="Freeform 37"/>
            <p:cNvSpPr>
              <a:spLocks/>
            </p:cNvSpPr>
            <p:nvPr/>
          </p:nvSpPr>
          <p:spPr bwMode="auto">
            <a:xfrm>
              <a:off x="3240" y="2041"/>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2320" name="Freeform 38"/>
            <p:cNvSpPr>
              <a:spLocks/>
            </p:cNvSpPr>
            <p:nvPr/>
          </p:nvSpPr>
          <p:spPr bwMode="auto">
            <a:xfrm>
              <a:off x="3984" y="201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2321" name="Freeform 39"/>
            <p:cNvSpPr>
              <a:spLocks/>
            </p:cNvSpPr>
            <p:nvPr/>
          </p:nvSpPr>
          <p:spPr bwMode="auto">
            <a:xfrm>
              <a:off x="4736" y="2019"/>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grpSp>
        <p:nvGrpSpPr>
          <p:cNvPr id="12295" name="Group 40"/>
          <p:cNvGrpSpPr>
            <a:grpSpLocks/>
          </p:cNvGrpSpPr>
          <p:nvPr/>
        </p:nvGrpSpPr>
        <p:grpSpPr bwMode="auto">
          <a:xfrm>
            <a:off x="2459038" y="928688"/>
            <a:ext cx="3014662" cy="3013075"/>
            <a:chOff x="1549" y="585"/>
            <a:chExt cx="1899" cy="1898"/>
          </a:xfrm>
        </p:grpSpPr>
        <p:grpSp>
          <p:nvGrpSpPr>
            <p:cNvPr id="12309" name="Group 41"/>
            <p:cNvGrpSpPr>
              <a:grpSpLocks/>
            </p:cNvGrpSpPr>
            <p:nvPr/>
          </p:nvGrpSpPr>
          <p:grpSpPr bwMode="auto">
            <a:xfrm>
              <a:off x="1549" y="585"/>
              <a:ext cx="1129" cy="1898"/>
              <a:chOff x="1549" y="585"/>
              <a:chExt cx="1129" cy="1898"/>
            </a:xfrm>
          </p:grpSpPr>
          <p:sp>
            <p:nvSpPr>
              <p:cNvPr id="12311" name="Line 42"/>
              <p:cNvSpPr>
                <a:spLocks noChangeShapeType="1"/>
              </p:cNvSpPr>
              <p:nvPr/>
            </p:nvSpPr>
            <p:spPr bwMode="auto">
              <a:xfrm flipV="1">
                <a:off x="1549" y="585"/>
                <a:ext cx="0" cy="1898"/>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2312" name="Line 43"/>
              <p:cNvSpPr>
                <a:spLocks noChangeShapeType="1"/>
              </p:cNvSpPr>
              <p:nvPr/>
            </p:nvSpPr>
            <p:spPr bwMode="auto">
              <a:xfrm flipV="1">
                <a:off x="2678" y="1630"/>
                <a:ext cx="0" cy="380"/>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2313" name="Line 44"/>
              <p:cNvSpPr>
                <a:spLocks noChangeShapeType="1"/>
              </p:cNvSpPr>
              <p:nvPr/>
            </p:nvSpPr>
            <p:spPr bwMode="auto">
              <a:xfrm flipV="1">
                <a:off x="2122" y="1123"/>
                <a:ext cx="7" cy="1093"/>
              </a:xfrm>
              <a:prstGeom prst="line">
                <a:avLst/>
              </a:prstGeom>
              <a:noFill/>
              <a:ln w="28575">
                <a:solidFill>
                  <a:schemeClr val="accent2"/>
                </a:solidFill>
                <a:round/>
                <a:headEnd type="triangle" w="med" len="med"/>
                <a:tailEnd type="triangle" w="med" len="med"/>
              </a:ln>
            </p:spPr>
            <p:txBody>
              <a:bodyPr wrap="none" anchor="ctr"/>
              <a:lstStyle/>
              <a:p>
                <a:endParaRPr lang="en-GB"/>
              </a:p>
            </p:txBody>
          </p:sp>
        </p:grpSp>
        <p:sp>
          <p:nvSpPr>
            <p:cNvPr id="12310" name="Text Box 45"/>
            <p:cNvSpPr txBox="1">
              <a:spLocks noChangeArrowheads="1"/>
            </p:cNvSpPr>
            <p:nvPr/>
          </p:nvSpPr>
          <p:spPr bwMode="auto">
            <a:xfrm>
              <a:off x="1736" y="866"/>
              <a:ext cx="1712" cy="212"/>
            </a:xfrm>
            <a:prstGeom prst="rect">
              <a:avLst/>
            </a:prstGeom>
            <a:noFill/>
            <a:ln w="28575">
              <a:noFill/>
              <a:miter lim="800000"/>
              <a:headEnd/>
              <a:tailEnd/>
            </a:ln>
          </p:spPr>
          <p:txBody>
            <a:bodyPr wrap="none" anchor="ctr">
              <a:spAutoFit/>
            </a:bodyPr>
            <a:lstStyle/>
            <a:p>
              <a:pPr algn="ctr"/>
              <a:r>
                <a:rPr lang="en-GB">
                  <a:solidFill>
                    <a:srgbClr val="242492"/>
                  </a:solidFill>
                </a:rPr>
                <a:t>summation of amplitudes</a:t>
              </a:r>
            </a:p>
          </p:txBody>
        </p:sp>
      </p:grpSp>
      <p:grpSp>
        <p:nvGrpSpPr>
          <p:cNvPr id="12296" name="Group 46"/>
          <p:cNvGrpSpPr>
            <a:grpSpLocks/>
          </p:cNvGrpSpPr>
          <p:nvPr/>
        </p:nvGrpSpPr>
        <p:grpSpPr bwMode="auto">
          <a:xfrm>
            <a:off x="1590675" y="919163"/>
            <a:ext cx="3541713" cy="1660525"/>
            <a:chOff x="3263" y="625"/>
            <a:chExt cx="2256" cy="826"/>
          </a:xfrm>
        </p:grpSpPr>
        <p:sp>
          <p:nvSpPr>
            <p:cNvPr id="12301" name="Rectangle 47"/>
            <p:cNvSpPr>
              <a:spLocks noChangeArrowheads="1"/>
            </p:cNvSpPr>
            <p:nvPr/>
          </p:nvSpPr>
          <p:spPr bwMode="auto">
            <a:xfrm>
              <a:off x="3827" y="625"/>
              <a:ext cx="564" cy="413"/>
            </a:xfrm>
            <a:prstGeom prst="rect">
              <a:avLst/>
            </a:prstGeom>
            <a:noFill/>
            <a:ln w="9525">
              <a:solidFill>
                <a:srgbClr val="99CCFF"/>
              </a:solidFill>
              <a:miter lim="800000"/>
              <a:headEnd/>
              <a:tailEnd/>
            </a:ln>
          </p:spPr>
          <p:txBody>
            <a:bodyPr wrap="none" anchor="ctr"/>
            <a:lstStyle/>
            <a:p>
              <a:endParaRPr lang="en-US"/>
            </a:p>
          </p:txBody>
        </p:sp>
        <p:sp>
          <p:nvSpPr>
            <p:cNvPr id="12302" name="Rectangle 48"/>
            <p:cNvSpPr>
              <a:spLocks noChangeArrowheads="1"/>
            </p:cNvSpPr>
            <p:nvPr/>
          </p:nvSpPr>
          <p:spPr bwMode="auto">
            <a:xfrm>
              <a:off x="4391" y="625"/>
              <a:ext cx="564" cy="413"/>
            </a:xfrm>
            <a:prstGeom prst="rect">
              <a:avLst/>
            </a:prstGeom>
            <a:noFill/>
            <a:ln w="9525">
              <a:solidFill>
                <a:srgbClr val="99CCFF"/>
              </a:solidFill>
              <a:miter lim="800000"/>
              <a:headEnd/>
              <a:tailEnd/>
            </a:ln>
          </p:spPr>
          <p:txBody>
            <a:bodyPr wrap="none" anchor="ctr"/>
            <a:lstStyle/>
            <a:p>
              <a:endParaRPr lang="en-US"/>
            </a:p>
          </p:txBody>
        </p:sp>
        <p:sp>
          <p:nvSpPr>
            <p:cNvPr id="12303" name="Rectangle 49"/>
            <p:cNvSpPr>
              <a:spLocks noChangeArrowheads="1"/>
            </p:cNvSpPr>
            <p:nvPr/>
          </p:nvSpPr>
          <p:spPr bwMode="auto">
            <a:xfrm>
              <a:off x="4955" y="625"/>
              <a:ext cx="564" cy="413"/>
            </a:xfrm>
            <a:prstGeom prst="rect">
              <a:avLst/>
            </a:prstGeom>
            <a:noFill/>
            <a:ln w="9525">
              <a:solidFill>
                <a:srgbClr val="99CCFF"/>
              </a:solidFill>
              <a:miter lim="800000"/>
              <a:headEnd/>
              <a:tailEnd/>
            </a:ln>
          </p:spPr>
          <p:txBody>
            <a:bodyPr wrap="none" anchor="ctr"/>
            <a:lstStyle/>
            <a:p>
              <a:endParaRPr lang="en-US"/>
            </a:p>
          </p:txBody>
        </p:sp>
        <p:sp>
          <p:nvSpPr>
            <p:cNvPr id="12304" name="Rectangle 50"/>
            <p:cNvSpPr>
              <a:spLocks noChangeArrowheads="1"/>
            </p:cNvSpPr>
            <p:nvPr/>
          </p:nvSpPr>
          <p:spPr bwMode="auto">
            <a:xfrm>
              <a:off x="3263" y="625"/>
              <a:ext cx="564" cy="413"/>
            </a:xfrm>
            <a:prstGeom prst="rect">
              <a:avLst/>
            </a:prstGeom>
            <a:noFill/>
            <a:ln w="9525">
              <a:solidFill>
                <a:srgbClr val="99CCFF"/>
              </a:solidFill>
              <a:miter lim="800000"/>
              <a:headEnd/>
              <a:tailEnd/>
            </a:ln>
          </p:spPr>
          <p:txBody>
            <a:bodyPr wrap="none" anchor="ctr"/>
            <a:lstStyle/>
            <a:p>
              <a:endParaRPr lang="en-US"/>
            </a:p>
          </p:txBody>
        </p:sp>
        <p:sp>
          <p:nvSpPr>
            <p:cNvPr id="12305" name="Rectangle 51"/>
            <p:cNvSpPr>
              <a:spLocks noChangeArrowheads="1"/>
            </p:cNvSpPr>
            <p:nvPr/>
          </p:nvSpPr>
          <p:spPr bwMode="auto">
            <a:xfrm>
              <a:off x="3827" y="1038"/>
              <a:ext cx="564" cy="413"/>
            </a:xfrm>
            <a:prstGeom prst="rect">
              <a:avLst/>
            </a:prstGeom>
            <a:noFill/>
            <a:ln w="9525">
              <a:solidFill>
                <a:srgbClr val="99CCFF"/>
              </a:solidFill>
              <a:miter lim="800000"/>
              <a:headEnd/>
              <a:tailEnd/>
            </a:ln>
          </p:spPr>
          <p:txBody>
            <a:bodyPr wrap="none" anchor="ctr"/>
            <a:lstStyle/>
            <a:p>
              <a:endParaRPr lang="en-US"/>
            </a:p>
          </p:txBody>
        </p:sp>
        <p:sp>
          <p:nvSpPr>
            <p:cNvPr id="12306" name="Rectangle 52"/>
            <p:cNvSpPr>
              <a:spLocks noChangeArrowheads="1"/>
            </p:cNvSpPr>
            <p:nvPr/>
          </p:nvSpPr>
          <p:spPr bwMode="auto">
            <a:xfrm>
              <a:off x="4391" y="1038"/>
              <a:ext cx="564" cy="413"/>
            </a:xfrm>
            <a:prstGeom prst="rect">
              <a:avLst/>
            </a:prstGeom>
            <a:noFill/>
            <a:ln w="9525">
              <a:solidFill>
                <a:srgbClr val="99CCFF"/>
              </a:solidFill>
              <a:miter lim="800000"/>
              <a:headEnd/>
              <a:tailEnd/>
            </a:ln>
          </p:spPr>
          <p:txBody>
            <a:bodyPr wrap="none" anchor="ctr"/>
            <a:lstStyle/>
            <a:p>
              <a:endParaRPr lang="en-US"/>
            </a:p>
          </p:txBody>
        </p:sp>
        <p:sp>
          <p:nvSpPr>
            <p:cNvPr id="12307" name="Rectangle 53"/>
            <p:cNvSpPr>
              <a:spLocks noChangeArrowheads="1"/>
            </p:cNvSpPr>
            <p:nvPr/>
          </p:nvSpPr>
          <p:spPr bwMode="auto">
            <a:xfrm>
              <a:off x="4955" y="1038"/>
              <a:ext cx="564" cy="413"/>
            </a:xfrm>
            <a:prstGeom prst="rect">
              <a:avLst/>
            </a:prstGeom>
            <a:noFill/>
            <a:ln w="9525">
              <a:solidFill>
                <a:srgbClr val="99CCFF"/>
              </a:solidFill>
              <a:miter lim="800000"/>
              <a:headEnd/>
              <a:tailEnd/>
            </a:ln>
          </p:spPr>
          <p:txBody>
            <a:bodyPr wrap="none" anchor="ctr"/>
            <a:lstStyle/>
            <a:p>
              <a:endParaRPr lang="en-US"/>
            </a:p>
          </p:txBody>
        </p:sp>
        <p:sp>
          <p:nvSpPr>
            <p:cNvPr id="12308" name="Rectangle 54"/>
            <p:cNvSpPr>
              <a:spLocks noChangeArrowheads="1"/>
            </p:cNvSpPr>
            <p:nvPr/>
          </p:nvSpPr>
          <p:spPr bwMode="auto">
            <a:xfrm>
              <a:off x="3263" y="1038"/>
              <a:ext cx="564" cy="413"/>
            </a:xfrm>
            <a:prstGeom prst="rect">
              <a:avLst/>
            </a:prstGeom>
            <a:noFill/>
            <a:ln w="9525">
              <a:solidFill>
                <a:srgbClr val="99CCFF"/>
              </a:solidFill>
              <a:miter lim="800000"/>
              <a:headEnd/>
              <a:tailEnd/>
            </a:ln>
          </p:spPr>
          <p:txBody>
            <a:bodyPr wrap="none" anchor="ctr"/>
            <a:lstStyle/>
            <a:p>
              <a:endParaRPr lang="en-US"/>
            </a:p>
          </p:txBody>
        </p:sp>
      </p:grpSp>
      <p:grpSp>
        <p:nvGrpSpPr>
          <p:cNvPr id="12297" name="Group 55"/>
          <p:cNvGrpSpPr>
            <a:grpSpLocks/>
          </p:cNvGrpSpPr>
          <p:nvPr/>
        </p:nvGrpSpPr>
        <p:grpSpPr bwMode="auto">
          <a:xfrm>
            <a:off x="439738" y="2986088"/>
            <a:ext cx="1379537" cy="581025"/>
            <a:chOff x="277" y="1881"/>
            <a:chExt cx="869" cy="366"/>
          </a:xfrm>
        </p:grpSpPr>
        <p:sp>
          <p:nvSpPr>
            <p:cNvPr id="12299" name="Text Box 56"/>
            <p:cNvSpPr txBox="1">
              <a:spLocks noChangeArrowheads="1"/>
            </p:cNvSpPr>
            <p:nvPr/>
          </p:nvSpPr>
          <p:spPr bwMode="auto">
            <a:xfrm>
              <a:off x="277" y="1881"/>
              <a:ext cx="853" cy="366"/>
            </a:xfrm>
            <a:prstGeom prst="rect">
              <a:avLst/>
            </a:prstGeom>
            <a:noFill/>
            <a:ln w="9525">
              <a:noFill/>
              <a:miter lim="800000"/>
              <a:headEnd/>
              <a:tailEnd/>
            </a:ln>
          </p:spPr>
          <p:txBody>
            <a:bodyPr wrap="none" anchor="ctr">
              <a:spAutoFit/>
            </a:bodyPr>
            <a:lstStyle/>
            <a:p>
              <a:r>
                <a:rPr lang="en-GB">
                  <a:solidFill>
                    <a:schemeClr val="accent1"/>
                  </a:solidFill>
                </a:rPr>
                <a:t>f = </a:t>
              </a:r>
              <a:r>
                <a:rPr lang="en-GB" u="sng">
                  <a:solidFill>
                    <a:schemeClr val="accent1"/>
                  </a:solidFill>
                </a:rPr>
                <a:t>1</a:t>
              </a:r>
              <a:r>
                <a:rPr lang="en-GB">
                  <a:solidFill>
                    <a:schemeClr val="accent1"/>
                  </a:solidFill>
                </a:rPr>
                <a:t>sin(3x)</a:t>
              </a:r>
            </a:p>
            <a:p>
              <a:r>
                <a:rPr lang="en-GB">
                  <a:solidFill>
                    <a:schemeClr val="accent1"/>
                  </a:solidFill>
                </a:rPr>
                <a:t>     3</a:t>
              </a:r>
              <a:endParaRPr lang="en-GB"/>
            </a:p>
          </p:txBody>
        </p:sp>
        <p:sp>
          <p:nvSpPr>
            <p:cNvPr id="12300" name="Line 57"/>
            <p:cNvSpPr>
              <a:spLocks noChangeShapeType="1"/>
            </p:cNvSpPr>
            <p:nvPr/>
          </p:nvSpPr>
          <p:spPr bwMode="auto">
            <a:xfrm flipV="1">
              <a:off x="900" y="2064"/>
              <a:ext cx="246" cy="12"/>
            </a:xfrm>
            <a:prstGeom prst="line">
              <a:avLst/>
            </a:prstGeom>
            <a:noFill/>
            <a:ln w="12700">
              <a:solidFill>
                <a:schemeClr val="tx1"/>
              </a:solidFill>
              <a:round/>
              <a:headEnd/>
              <a:tailEnd type="triangle" w="med" len="med"/>
            </a:ln>
          </p:spPr>
          <p:txBody>
            <a:bodyPr wrap="none" anchor="ctr"/>
            <a:lstStyle/>
            <a:p>
              <a:endParaRPr lang="en-GB"/>
            </a:p>
          </p:txBody>
        </p:sp>
      </p:grpSp>
      <p:sp>
        <p:nvSpPr>
          <p:cNvPr id="12298" name="Text Box 58"/>
          <p:cNvSpPr txBox="1">
            <a:spLocks noChangeArrowheads="1"/>
          </p:cNvSpPr>
          <p:nvPr/>
        </p:nvSpPr>
        <p:spPr bwMode="auto">
          <a:xfrm>
            <a:off x="430213" y="366713"/>
            <a:ext cx="3132137" cy="457200"/>
          </a:xfrm>
          <a:prstGeom prst="rect">
            <a:avLst/>
          </a:prstGeom>
          <a:noFill/>
          <a:ln w="9525">
            <a:noFill/>
            <a:miter lim="800000"/>
            <a:headEnd/>
            <a:tailEnd/>
          </a:ln>
        </p:spPr>
        <p:txBody>
          <a:bodyPr wrap="none" anchor="ctr">
            <a:spAutoFit/>
          </a:bodyPr>
          <a:lstStyle/>
          <a:p>
            <a:pPr algn="ctr"/>
            <a:r>
              <a:rPr lang="en-GB" sz="2400" b="1"/>
              <a:t>Waveform Synthesis</a:t>
            </a:r>
          </a:p>
        </p:txBody>
      </p:sp>
    </p:spTree>
    <p:extLst>
      <p:ext uri="{BB962C8B-B14F-4D97-AF65-F5344CB8AC3E}">
        <p14:creationId xmlns:p14="http://schemas.microsoft.com/office/powerpoint/2010/main" val="30455862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reeform 2"/>
          <p:cNvSpPr>
            <a:spLocks/>
          </p:cNvSpPr>
          <p:nvPr/>
        </p:nvSpPr>
        <p:spPr bwMode="auto">
          <a:xfrm>
            <a:off x="1601788" y="933450"/>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3315" name="Text Box 4"/>
          <p:cNvSpPr txBox="1">
            <a:spLocks noChangeArrowheads="1"/>
          </p:cNvSpPr>
          <p:nvPr/>
        </p:nvSpPr>
        <p:spPr bwMode="auto">
          <a:xfrm>
            <a:off x="385763" y="1231900"/>
            <a:ext cx="1096962" cy="336550"/>
          </a:xfrm>
          <a:prstGeom prst="rect">
            <a:avLst/>
          </a:prstGeom>
          <a:noFill/>
          <a:ln w="9525">
            <a:noFill/>
            <a:miter lim="800000"/>
            <a:headEnd/>
            <a:tailEnd/>
          </a:ln>
        </p:spPr>
        <p:txBody>
          <a:bodyPr wrap="none" anchor="ctr">
            <a:spAutoFit/>
          </a:bodyPr>
          <a:lstStyle/>
          <a:p>
            <a:pPr algn="ctr"/>
            <a:r>
              <a:rPr lang="en-GB"/>
              <a:t>f = sin(x)</a:t>
            </a:r>
          </a:p>
        </p:txBody>
      </p:sp>
      <p:grpSp>
        <p:nvGrpSpPr>
          <p:cNvPr id="13316" name="Group 5"/>
          <p:cNvGrpSpPr>
            <a:grpSpLocks/>
          </p:cNvGrpSpPr>
          <p:nvPr/>
        </p:nvGrpSpPr>
        <p:grpSpPr bwMode="auto">
          <a:xfrm>
            <a:off x="5135563" y="919163"/>
            <a:ext cx="3541712" cy="1660525"/>
            <a:chOff x="3263" y="625"/>
            <a:chExt cx="2256" cy="826"/>
          </a:xfrm>
        </p:grpSpPr>
        <p:sp>
          <p:nvSpPr>
            <p:cNvPr id="13368"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9"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70"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71"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72"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73"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74"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75"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3317" name="Freeform 14"/>
          <p:cNvSpPr>
            <a:spLocks/>
          </p:cNvSpPr>
          <p:nvPr/>
        </p:nvSpPr>
        <p:spPr bwMode="auto">
          <a:xfrm>
            <a:off x="5133975" y="919163"/>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3318" name="Group 15"/>
          <p:cNvGrpSpPr>
            <a:grpSpLocks/>
          </p:cNvGrpSpPr>
          <p:nvPr/>
        </p:nvGrpSpPr>
        <p:grpSpPr bwMode="auto">
          <a:xfrm>
            <a:off x="1574800" y="2651125"/>
            <a:ext cx="7138988" cy="1676400"/>
            <a:chOff x="992" y="1670"/>
            <a:chExt cx="4497" cy="1056"/>
          </a:xfrm>
        </p:grpSpPr>
        <p:grpSp>
          <p:nvGrpSpPr>
            <p:cNvPr id="13344" name="Group 16"/>
            <p:cNvGrpSpPr>
              <a:grpSpLocks/>
            </p:cNvGrpSpPr>
            <p:nvPr/>
          </p:nvGrpSpPr>
          <p:grpSpPr bwMode="auto">
            <a:xfrm>
              <a:off x="992" y="1670"/>
              <a:ext cx="2256" cy="1056"/>
              <a:chOff x="3263" y="625"/>
              <a:chExt cx="2256" cy="826"/>
            </a:xfrm>
          </p:grpSpPr>
          <p:sp>
            <p:nvSpPr>
              <p:cNvPr id="13360" name="Rectangle 1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1" name="Rectangle 1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2" name="Rectangle 1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3" name="Rectangle 2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4" name="Rectangle 2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5" name="Rectangle 2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6" name="Rectangle 2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67" name="Rectangle 2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3345" name="Freeform 25"/>
            <p:cNvSpPr>
              <a:spLocks/>
            </p:cNvSpPr>
            <p:nvPr/>
          </p:nvSpPr>
          <p:spPr bwMode="auto">
            <a:xfrm>
              <a:off x="1007" y="204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nvGrpSpPr>
            <p:cNvPr id="13346" name="Group 26"/>
            <p:cNvGrpSpPr>
              <a:grpSpLocks/>
            </p:cNvGrpSpPr>
            <p:nvPr/>
          </p:nvGrpSpPr>
          <p:grpSpPr bwMode="auto">
            <a:xfrm>
              <a:off x="3233" y="1670"/>
              <a:ext cx="2256" cy="1056"/>
              <a:chOff x="3263" y="625"/>
              <a:chExt cx="2256" cy="826"/>
            </a:xfrm>
          </p:grpSpPr>
          <p:sp>
            <p:nvSpPr>
              <p:cNvPr id="13352" name="Rectangle 2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53" name="Rectangle 2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54" name="Rectangle 2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55" name="Rectangle 3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56" name="Rectangle 3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57" name="Rectangle 3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58" name="Rectangle 3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3359" name="Rectangle 3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3347" name="Freeform 35"/>
            <p:cNvSpPr>
              <a:spLocks/>
            </p:cNvSpPr>
            <p:nvPr/>
          </p:nvSpPr>
          <p:spPr bwMode="auto">
            <a:xfrm>
              <a:off x="1751" y="2025"/>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3348" name="Freeform 36"/>
            <p:cNvSpPr>
              <a:spLocks/>
            </p:cNvSpPr>
            <p:nvPr/>
          </p:nvSpPr>
          <p:spPr bwMode="auto">
            <a:xfrm>
              <a:off x="2503" y="2026"/>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3349" name="Freeform 37"/>
            <p:cNvSpPr>
              <a:spLocks/>
            </p:cNvSpPr>
            <p:nvPr/>
          </p:nvSpPr>
          <p:spPr bwMode="auto">
            <a:xfrm>
              <a:off x="3240" y="2041"/>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3350" name="Freeform 38"/>
            <p:cNvSpPr>
              <a:spLocks/>
            </p:cNvSpPr>
            <p:nvPr/>
          </p:nvSpPr>
          <p:spPr bwMode="auto">
            <a:xfrm>
              <a:off x="3984" y="201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3351" name="Freeform 39"/>
            <p:cNvSpPr>
              <a:spLocks/>
            </p:cNvSpPr>
            <p:nvPr/>
          </p:nvSpPr>
          <p:spPr bwMode="auto">
            <a:xfrm>
              <a:off x="4736" y="2019"/>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grpSp>
        <p:nvGrpSpPr>
          <p:cNvPr id="13319" name="Group 40"/>
          <p:cNvGrpSpPr>
            <a:grpSpLocks/>
          </p:cNvGrpSpPr>
          <p:nvPr/>
        </p:nvGrpSpPr>
        <p:grpSpPr bwMode="auto">
          <a:xfrm>
            <a:off x="1577975" y="2541588"/>
            <a:ext cx="7092950" cy="1879600"/>
            <a:chOff x="995" y="2396"/>
            <a:chExt cx="4468" cy="926"/>
          </a:xfrm>
        </p:grpSpPr>
        <p:sp>
          <p:nvSpPr>
            <p:cNvPr id="13340" name="Freeform 41"/>
            <p:cNvSpPr>
              <a:spLocks/>
            </p:cNvSpPr>
            <p:nvPr/>
          </p:nvSpPr>
          <p:spPr bwMode="auto">
            <a:xfrm>
              <a:off x="995" y="240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3341" name="Freeform 42"/>
            <p:cNvSpPr>
              <a:spLocks/>
            </p:cNvSpPr>
            <p:nvPr/>
          </p:nvSpPr>
          <p:spPr bwMode="auto">
            <a:xfrm>
              <a:off x="3218" y="239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3342" name="Freeform 43"/>
            <p:cNvSpPr>
              <a:spLocks/>
            </p:cNvSpPr>
            <p:nvPr/>
          </p:nvSpPr>
          <p:spPr bwMode="auto">
            <a:xfrm flipV="1">
              <a:off x="4347" y="2849"/>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3343" name="Freeform 44"/>
            <p:cNvSpPr>
              <a:spLocks/>
            </p:cNvSpPr>
            <p:nvPr/>
          </p:nvSpPr>
          <p:spPr bwMode="auto">
            <a:xfrm flipV="1">
              <a:off x="2114" y="2834"/>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grpSp>
      <p:grpSp>
        <p:nvGrpSpPr>
          <p:cNvPr id="13320" name="Group 45"/>
          <p:cNvGrpSpPr>
            <a:grpSpLocks/>
          </p:cNvGrpSpPr>
          <p:nvPr/>
        </p:nvGrpSpPr>
        <p:grpSpPr bwMode="auto">
          <a:xfrm>
            <a:off x="2459038" y="928688"/>
            <a:ext cx="3014662" cy="3013075"/>
            <a:chOff x="1549" y="585"/>
            <a:chExt cx="1899" cy="1898"/>
          </a:xfrm>
        </p:grpSpPr>
        <p:grpSp>
          <p:nvGrpSpPr>
            <p:cNvPr id="13335" name="Group 46"/>
            <p:cNvGrpSpPr>
              <a:grpSpLocks/>
            </p:cNvGrpSpPr>
            <p:nvPr/>
          </p:nvGrpSpPr>
          <p:grpSpPr bwMode="auto">
            <a:xfrm>
              <a:off x="1549" y="585"/>
              <a:ext cx="1129" cy="1898"/>
              <a:chOff x="1549" y="585"/>
              <a:chExt cx="1129" cy="1898"/>
            </a:xfrm>
          </p:grpSpPr>
          <p:sp>
            <p:nvSpPr>
              <p:cNvPr id="13337" name="Line 47"/>
              <p:cNvSpPr>
                <a:spLocks noChangeShapeType="1"/>
              </p:cNvSpPr>
              <p:nvPr/>
            </p:nvSpPr>
            <p:spPr bwMode="auto">
              <a:xfrm flipV="1">
                <a:off x="1549" y="585"/>
                <a:ext cx="0" cy="1898"/>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3338" name="Line 48"/>
              <p:cNvSpPr>
                <a:spLocks noChangeShapeType="1"/>
              </p:cNvSpPr>
              <p:nvPr/>
            </p:nvSpPr>
            <p:spPr bwMode="auto">
              <a:xfrm flipV="1">
                <a:off x="2678" y="1630"/>
                <a:ext cx="0" cy="380"/>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3339" name="Line 49"/>
              <p:cNvSpPr>
                <a:spLocks noChangeShapeType="1"/>
              </p:cNvSpPr>
              <p:nvPr/>
            </p:nvSpPr>
            <p:spPr bwMode="auto">
              <a:xfrm flipV="1">
                <a:off x="2122" y="1123"/>
                <a:ext cx="7" cy="1093"/>
              </a:xfrm>
              <a:prstGeom prst="line">
                <a:avLst/>
              </a:prstGeom>
              <a:noFill/>
              <a:ln w="28575">
                <a:solidFill>
                  <a:schemeClr val="accent2"/>
                </a:solidFill>
                <a:round/>
                <a:headEnd type="triangle" w="med" len="med"/>
                <a:tailEnd type="triangle" w="med" len="med"/>
              </a:ln>
            </p:spPr>
            <p:txBody>
              <a:bodyPr wrap="none" anchor="ctr"/>
              <a:lstStyle/>
              <a:p>
                <a:endParaRPr lang="en-GB"/>
              </a:p>
            </p:txBody>
          </p:sp>
        </p:grpSp>
        <p:sp>
          <p:nvSpPr>
            <p:cNvPr id="13336" name="Text Box 50"/>
            <p:cNvSpPr txBox="1">
              <a:spLocks noChangeArrowheads="1"/>
            </p:cNvSpPr>
            <p:nvPr/>
          </p:nvSpPr>
          <p:spPr bwMode="auto">
            <a:xfrm>
              <a:off x="1736" y="866"/>
              <a:ext cx="1712" cy="212"/>
            </a:xfrm>
            <a:prstGeom prst="rect">
              <a:avLst/>
            </a:prstGeom>
            <a:noFill/>
            <a:ln w="28575">
              <a:noFill/>
              <a:miter lim="800000"/>
              <a:headEnd/>
              <a:tailEnd/>
            </a:ln>
          </p:spPr>
          <p:txBody>
            <a:bodyPr wrap="none" anchor="ctr">
              <a:spAutoFit/>
            </a:bodyPr>
            <a:lstStyle/>
            <a:p>
              <a:pPr algn="ctr"/>
              <a:r>
                <a:rPr lang="en-GB">
                  <a:solidFill>
                    <a:srgbClr val="242492"/>
                  </a:solidFill>
                </a:rPr>
                <a:t>summation of amplitudes</a:t>
              </a:r>
            </a:p>
          </p:txBody>
        </p:sp>
      </p:grpSp>
      <p:grpSp>
        <p:nvGrpSpPr>
          <p:cNvPr id="13321" name="Group 51"/>
          <p:cNvGrpSpPr>
            <a:grpSpLocks/>
          </p:cNvGrpSpPr>
          <p:nvPr/>
        </p:nvGrpSpPr>
        <p:grpSpPr bwMode="auto">
          <a:xfrm>
            <a:off x="1590675" y="919163"/>
            <a:ext cx="3541713" cy="1660525"/>
            <a:chOff x="3263" y="625"/>
            <a:chExt cx="2256" cy="826"/>
          </a:xfrm>
        </p:grpSpPr>
        <p:sp>
          <p:nvSpPr>
            <p:cNvPr id="13327" name="Rectangle 52"/>
            <p:cNvSpPr>
              <a:spLocks noChangeArrowheads="1"/>
            </p:cNvSpPr>
            <p:nvPr/>
          </p:nvSpPr>
          <p:spPr bwMode="auto">
            <a:xfrm>
              <a:off x="3827" y="625"/>
              <a:ext cx="564" cy="413"/>
            </a:xfrm>
            <a:prstGeom prst="rect">
              <a:avLst/>
            </a:prstGeom>
            <a:noFill/>
            <a:ln w="9525">
              <a:solidFill>
                <a:srgbClr val="99CCFF"/>
              </a:solidFill>
              <a:miter lim="800000"/>
              <a:headEnd/>
              <a:tailEnd/>
            </a:ln>
          </p:spPr>
          <p:txBody>
            <a:bodyPr wrap="none" anchor="ctr"/>
            <a:lstStyle/>
            <a:p>
              <a:endParaRPr lang="en-US"/>
            </a:p>
          </p:txBody>
        </p:sp>
        <p:sp>
          <p:nvSpPr>
            <p:cNvPr id="13328" name="Rectangle 53"/>
            <p:cNvSpPr>
              <a:spLocks noChangeArrowheads="1"/>
            </p:cNvSpPr>
            <p:nvPr/>
          </p:nvSpPr>
          <p:spPr bwMode="auto">
            <a:xfrm>
              <a:off x="4391" y="625"/>
              <a:ext cx="564" cy="413"/>
            </a:xfrm>
            <a:prstGeom prst="rect">
              <a:avLst/>
            </a:prstGeom>
            <a:noFill/>
            <a:ln w="9525">
              <a:solidFill>
                <a:srgbClr val="99CCFF"/>
              </a:solidFill>
              <a:miter lim="800000"/>
              <a:headEnd/>
              <a:tailEnd/>
            </a:ln>
          </p:spPr>
          <p:txBody>
            <a:bodyPr wrap="none" anchor="ctr"/>
            <a:lstStyle/>
            <a:p>
              <a:endParaRPr lang="en-US"/>
            </a:p>
          </p:txBody>
        </p:sp>
        <p:sp>
          <p:nvSpPr>
            <p:cNvPr id="13329" name="Rectangle 54"/>
            <p:cNvSpPr>
              <a:spLocks noChangeArrowheads="1"/>
            </p:cNvSpPr>
            <p:nvPr/>
          </p:nvSpPr>
          <p:spPr bwMode="auto">
            <a:xfrm>
              <a:off x="4955" y="625"/>
              <a:ext cx="564" cy="413"/>
            </a:xfrm>
            <a:prstGeom prst="rect">
              <a:avLst/>
            </a:prstGeom>
            <a:noFill/>
            <a:ln w="9525">
              <a:solidFill>
                <a:srgbClr val="99CCFF"/>
              </a:solidFill>
              <a:miter lim="800000"/>
              <a:headEnd/>
              <a:tailEnd/>
            </a:ln>
          </p:spPr>
          <p:txBody>
            <a:bodyPr wrap="none" anchor="ctr"/>
            <a:lstStyle/>
            <a:p>
              <a:endParaRPr lang="en-US"/>
            </a:p>
          </p:txBody>
        </p:sp>
        <p:sp>
          <p:nvSpPr>
            <p:cNvPr id="13330" name="Rectangle 55"/>
            <p:cNvSpPr>
              <a:spLocks noChangeArrowheads="1"/>
            </p:cNvSpPr>
            <p:nvPr/>
          </p:nvSpPr>
          <p:spPr bwMode="auto">
            <a:xfrm>
              <a:off x="3263" y="625"/>
              <a:ext cx="564" cy="413"/>
            </a:xfrm>
            <a:prstGeom prst="rect">
              <a:avLst/>
            </a:prstGeom>
            <a:noFill/>
            <a:ln w="9525">
              <a:solidFill>
                <a:srgbClr val="99CCFF"/>
              </a:solidFill>
              <a:miter lim="800000"/>
              <a:headEnd/>
              <a:tailEnd/>
            </a:ln>
          </p:spPr>
          <p:txBody>
            <a:bodyPr wrap="none" anchor="ctr"/>
            <a:lstStyle/>
            <a:p>
              <a:endParaRPr lang="en-US"/>
            </a:p>
          </p:txBody>
        </p:sp>
        <p:sp>
          <p:nvSpPr>
            <p:cNvPr id="13331" name="Rectangle 56"/>
            <p:cNvSpPr>
              <a:spLocks noChangeArrowheads="1"/>
            </p:cNvSpPr>
            <p:nvPr/>
          </p:nvSpPr>
          <p:spPr bwMode="auto">
            <a:xfrm>
              <a:off x="3827" y="1038"/>
              <a:ext cx="564" cy="413"/>
            </a:xfrm>
            <a:prstGeom prst="rect">
              <a:avLst/>
            </a:prstGeom>
            <a:noFill/>
            <a:ln w="9525">
              <a:solidFill>
                <a:srgbClr val="99CCFF"/>
              </a:solidFill>
              <a:miter lim="800000"/>
              <a:headEnd/>
              <a:tailEnd/>
            </a:ln>
          </p:spPr>
          <p:txBody>
            <a:bodyPr wrap="none" anchor="ctr"/>
            <a:lstStyle/>
            <a:p>
              <a:endParaRPr lang="en-US"/>
            </a:p>
          </p:txBody>
        </p:sp>
        <p:sp>
          <p:nvSpPr>
            <p:cNvPr id="13332" name="Rectangle 57"/>
            <p:cNvSpPr>
              <a:spLocks noChangeArrowheads="1"/>
            </p:cNvSpPr>
            <p:nvPr/>
          </p:nvSpPr>
          <p:spPr bwMode="auto">
            <a:xfrm>
              <a:off x="4391" y="1038"/>
              <a:ext cx="564" cy="413"/>
            </a:xfrm>
            <a:prstGeom prst="rect">
              <a:avLst/>
            </a:prstGeom>
            <a:noFill/>
            <a:ln w="9525">
              <a:solidFill>
                <a:srgbClr val="99CCFF"/>
              </a:solidFill>
              <a:miter lim="800000"/>
              <a:headEnd/>
              <a:tailEnd/>
            </a:ln>
          </p:spPr>
          <p:txBody>
            <a:bodyPr wrap="none" anchor="ctr"/>
            <a:lstStyle/>
            <a:p>
              <a:endParaRPr lang="en-US"/>
            </a:p>
          </p:txBody>
        </p:sp>
        <p:sp>
          <p:nvSpPr>
            <p:cNvPr id="13333" name="Rectangle 58"/>
            <p:cNvSpPr>
              <a:spLocks noChangeArrowheads="1"/>
            </p:cNvSpPr>
            <p:nvPr/>
          </p:nvSpPr>
          <p:spPr bwMode="auto">
            <a:xfrm>
              <a:off x="4955" y="1038"/>
              <a:ext cx="564" cy="413"/>
            </a:xfrm>
            <a:prstGeom prst="rect">
              <a:avLst/>
            </a:prstGeom>
            <a:noFill/>
            <a:ln w="9525">
              <a:solidFill>
                <a:srgbClr val="99CCFF"/>
              </a:solidFill>
              <a:miter lim="800000"/>
              <a:headEnd/>
              <a:tailEnd/>
            </a:ln>
          </p:spPr>
          <p:txBody>
            <a:bodyPr wrap="none" anchor="ctr"/>
            <a:lstStyle/>
            <a:p>
              <a:endParaRPr lang="en-US"/>
            </a:p>
          </p:txBody>
        </p:sp>
        <p:sp>
          <p:nvSpPr>
            <p:cNvPr id="13334" name="Rectangle 59"/>
            <p:cNvSpPr>
              <a:spLocks noChangeArrowheads="1"/>
            </p:cNvSpPr>
            <p:nvPr/>
          </p:nvSpPr>
          <p:spPr bwMode="auto">
            <a:xfrm>
              <a:off x="3263" y="1038"/>
              <a:ext cx="564" cy="413"/>
            </a:xfrm>
            <a:prstGeom prst="rect">
              <a:avLst/>
            </a:prstGeom>
            <a:noFill/>
            <a:ln w="9525">
              <a:solidFill>
                <a:srgbClr val="99CCFF"/>
              </a:solidFill>
              <a:miter lim="800000"/>
              <a:headEnd/>
              <a:tailEnd/>
            </a:ln>
          </p:spPr>
          <p:txBody>
            <a:bodyPr wrap="none" anchor="ctr"/>
            <a:lstStyle/>
            <a:p>
              <a:endParaRPr lang="en-US"/>
            </a:p>
          </p:txBody>
        </p:sp>
      </p:grpSp>
      <p:grpSp>
        <p:nvGrpSpPr>
          <p:cNvPr id="13322" name="Group 60"/>
          <p:cNvGrpSpPr>
            <a:grpSpLocks/>
          </p:cNvGrpSpPr>
          <p:nvPr/>
        </p:nvGrpSpPr>
        <p:grpSpPr bwMode="auto">
          <a:xfrm>
            <a:off x="439738" y="2986088"/>
            <a:ext cx="1379537" cy="581025"/>
            <a:chOff x="277" y="1881"/>
            <a:chExt cx="869" cy="366"/>
          </a:xfrm>
        </p:grpSpPr>
        <p:sp>
          <p:nvSpPr>
            <p:cNvPr id="13325" name="Text Box 61"/>
            <p:cNvSpPr txBox="1">
              <a:spLocks noChangeArrowheads="1"/>
            </p:cNvSpPr>
            <p:nvPr/>
          </p:nvSpPr>
          <p:spPr bwMode="auto">
            <a:xfrm>
              <a:off x="277" y="1881"/>
              <a:ext cx="853" cy="366"/>
            </a:xfrm>
            <a:prstGeom prst="rect">
              <a:avLst/>
            </a:prstGeom>
            <a:noFill/>
            <a:ln w="9525">
              <a:noFill/>
              <a:miter lim="800000"/>
              <a:headEnd/>
              <a:tailEnd/>
            </a:ln>
          </p:spPr>
          <p:txBody>
            <a:bodyPr wrap="none" anchor="ctr">
              <a:spAutoFit/>
            </a:bodyPr>
            <a:lstStyle/>
            <a:p>
              <a:r>
                <a:rPr lang="en-GB">
                  <a:solidFill>
                    <a:schemeClr val="accent1"/>
                  </a:solidFill>
                </a:rPr>
                <a:t>f = </a:t>
              </a:r>
              <a:r>
                <a:rPr lang="en-GB" u="sng">
                  <a:solidFill>
                    <a:schemeClr val="accent1"/>
                  </a:solidFill>
                </a:rPr>
                <a:t>1</a:t>
              </a:r>
              <a:r>
                <a:rPr lang="en-GB">
                  <a:solidFill>
                    <a:schemeClr val="accent1"/>
                  </a:solidFill>
                </a:rPr>
                <a:t>sin(3x)</a:t>
              </a:r>
            </a:p>
            <a:p>
              <a:r>
                <a:rPr lang="en-GB">
                  <a:solidFill>
                    <a:schemeClr val="accent1"/>
                  </a:solidFill>
                </a:rPr>
                <a:t>      3</a:t>
              </a:r>
              <a:endParaRPr lang="en-GB"/>
            </a:p>
          </p:txBody>
        </p:sp>
        <p:sp>
          <p:nvSpPr>
            <p:cNvPr id="13326" name="Line 62"/>
            <p:cNvSpPr>
              <a:spLocks noChangeShapeType="1"/>
            </p:cNvSpPr>
            <p:nvPr/>
          </p:nvSpPr>
          <p:spPr bwMode="auto">
            <a:xfrm flipV="1">
              <a:off x="900" y="2064"/>
              <a:ext cx="246" cy="12"/>
            </a:xfrm>
            <a:prstGeom prst="line">
              <a:avLst/>
            </a:prstGeom>
            <a:noFill/>
            <a:ln w="12700">
              <a:solidFill>
                <a:schemeClr val="tx1"/>
              </a:solidFill>
              <a:round/>
              <a:headEnd/>
              <a:tailEnd type="triangle" w="med" len="med"/>
            </a:ln>
          </p:spPr>
          <p:txBody>
            <a:bodyPr wrap="none" anchor="ctr"/>
            <a:lstStyle/>
            <a:p>
              <a:endParaRPr lang="en-GB"/>
            </a:p>
          </p:txBody>
        </p:sp>
      </p:grpSp>
      <p:sp>
        <p:nvSpPr>
          <p:cNvPr id="13323" name="Text Box 63"/>
          <p:cNvSpPr txBox="1">
            <a:spLocks noChangeArrowheads="1"/>
          </p:cNvSpPr>
          <p:nvPr/>
        </p:nvSpPr>
        <p:spPr bwMode="auto">
          <a:xfrm>
            <a:off x="444500" y="3843338"/>
            <a:ext cx="2613025" cy="581025"/>
          </a:xfrm>
          <a:prstGeom prst="rect">
            <a:avLst/>
          </a:prstGeom>
          <a:solidFill>
            <a:schemeClr val="bg1"/>
          </a:solidFill>
          <a:ln w="28575">
            <a:noFill/>
            <a:miter lim="800000"/>
            <a:headEnd/>
            <a:tailEnd/>
          </a:ln>
        </p:spPr>
        <p:txBody>
          <a:bodyPr anchor="ctr">
            <a:spAutoFit/>
          </a:bodyPr>
          <a:lstStyle/>
          <a:p>
            <a:r>
              <a:rPr lang="en-GB">
                <a:solidFill>
                  <a:srgbClr val="FF0000"/>
                </a:solidFill>
              </a:rPr>
              <a:t>f = sin(x) + </a:t>
            </a:r>
            <a:r>
              <a:rPr lang="en-GB" u="sng">
                <a:solidFill>
                  <a:srgbClr val="FF0000"/>
                </a:solidFill>
              </a:rPr>
              <a:t>1</a:t>
            </a:r>
            <a:r>
              <a:rPr lang="en-GB">
                <a:solidFill>
                  <a:srgbClr val="FF0000"/>
                </a:solidFill>
              </a:rPr>
              <a:t>sin(3x)                            	    3</a:t>
            </a:r>
            <a:r>
              <a:rPr lang="en-GB"/>
              <a:t> </a:t>
            </a:r>
          </a:p>
        </p:txBody>
      </p:sp>
      <p:sp>
        <p:nvSpPr>
          <p:cNvPr id="13324" name="Text Box 64"/>
          <p:cNvSpPr txBox="1">
            <a:spLocks noChangeArrowheads="1"/>
          </p:cNvSpPr>
          <p:nvPr/>
        </p:nvSpPr>
        <p:spPr bwMode="auto">
          <a:xfrm>
            <a:off x="430213" y="366713"/>
            <a:ext cx="3132137" cy="457200"/>
          </a:xfrm>
          <a:prstGeom prst="rect">
            <a:avLst/>
          </a:prstGeom>
          <a:noFill/>
          <a:ln w="9525">
            <a:noFill/>
            <a:miter lim="800000"/>
            <a:headEnd/>
            <a:tailEnd/>
          </a:ln>
        </p:spPr>
        <p:txBody>
          <a:bodyPr wrap="none" anchor="ctr">
            <a:spAutoFit/>
          </a:bodyPr>
          <a:lstStyle/>
          <a:p>
            <a:pPr algn="ctr"/>
            <a:r>
              <a:rPr lang="en-GB" sz="2400" b="1"/>
              <a:t>Waveform Synthesis</a:t>
            </a:r>
          </a:p>
        </p:txBody>
      </p:sp>
    </p:spTree>
    <p:extLst>
      <p:ext uri="{BB962C8B-B14F-4D97-AF65-F5344CB8AC3E}">
        <p14:creationId xmlns:p14="http://schemas.microsoft.com/office/powerpoint/2010/main" val="1571626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2"/>
          <p:cNvSpPr>
            <a:spLocks/>
          </p:cNvSpPr>
          <p:nvPr/>
        </p:nvSpPr>
        <p:spPr bwMode="auto">
          <a:xfrm>
            <a:off x="1601788" y="933450"/>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4339" name="Text Box 4"/>
          <p:cNvSpPr txBox="1">
            <a:spLocks noChangeArrowheads="1"/>
          </p:cNvSpPr>
          <p:nvPr/>
        </p:nvSpPr>
        <p:spPr bwMode="auto">
          <a:xfrm>
            <a:off x="385763" y="1231900"/>
            <a:ext cx="1096962" cy="336550"/>
          </a:xfrm>
          <a:prstGeom prst="rect">
            <a:avLst/>
          </a:prstGeom>
          <a:noFill/>
          <a:ln w="9525">
            <a:noFill/>
            <a:miter lim="800000"/>
            <a:headEnd/>
            <a:tailEnd/>
          </a:ln>
        </p:spPr>
        <p:txBody>
          <a:bodyPr wrap="none" anchor="ctr">
            <a:spAutoFit/>
          </a:bodyPr>
          <a:lstStyle/>
          <a:p>
            <a:pPr algn="ctr"/>
            <a:r>
              <a:rPr lang="en-GB"/>
              <a:t>f = sin(x)</a:t>
            </a:r>
          </a:p>
        </p:txBody>
      </p:sp>
      <p:grpSp>
        <p:nvGrpSpPr>
          <p:cNvPr id="14340" name="Group 5"/>
          <p:cNvGrpSpPr>
            <a:grpSpLocks/>
          </p:cNvGrpSpPr>
          <p:nvPr/>
        </p:nvGrpSpPr>
        <p:grpSpPr bwMode="auto">
          <a:xfrm>
            <a:off x="5135563" y="919163"/>
            <a:ext cx="3541712" cy="1660525"/>
            <a:chOff x="3263" y="625"/>
            <a:chExt cx="2256" cy="826"/>
          </a:xfrm>
        </p:grpSpPr>
        <p:sp>
          <p:nvSpPr>
            <p:cNvPr id="14426"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7"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8"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9"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30"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31"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32"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33"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4341" name="Freeform 14"/>
          <p:cNvSpPr>
            <a:spLocks/>
          </p:cNvSpPr>
          <p:nvPr/>
        </p:nvSpPr>
        <p:spPr bwMode="auto">
          <a:xfrm>
            <a:off x="5133975" y="919163"/>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4342" name="Group 15"/>
          <p:cNvGrpSpPr>
            <a:grpSpLocks/>
          </p:cNvGrpSpPr>
          <p:nvPr/>
        </p:nvGrpSpPr>
        <p:grpSpPr bwMode="auto">
          <a:xfrm>
            <a:off x="1574800" y="2651125"/>
            <a:ext cx="7138988" cy="1676400"/>
            <a:chOff x="992" y="1670"/>
            <a:chExt cx="4497" cy="1056"/>
          </a:xfrm>
        </p:grpSpPr>
        <p:grpSp>
          <p:nvGrpSpPr>
            <p:cNvPr id="14402" name="Group 16"/>
            <p:cNvGrpSpPr>
              <a:grpSpLocks/>
            </p:cNvGrpSpPr>
            <p:nvPr/>
          </p:nvGrpSpPr>
          <p:grpSpPr bwMode="auto">
            <a:xfrm>
              <a:off x="992" y="1670"/>
              <a:ext cx="2256" cy="1056"/>
              <a:chOff x="3263" y="625"/>
              <a:chExt cx="2256" cy="826"/>
            </a:xfrm>
          </p:grpSpPr>
          <p:sp>
            <p:nvSpPr>
              <p:cNvPr id="14418" name="Rectangle 1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9" name="Rectangle 1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0" name="Rectangle 1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1" name="Rectangle 2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2" name="Rectangle 2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3" name="Rectangle 2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4" name="Rectangle 2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25" name="Rectangle 2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4403" name="Freeform 25"/>
            <p:cNvSpPr>
              <a:spLocks/>
            </p:cNvSpPr>
            <p:nvPr/>
          </p:nvSpPr>
          <p:spPr bwMode="auto">
            <a:xfrm>
              <a:off x="1007" y="204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nvGrpSpPr>
            <p:cNvPr id="14404" name="Group 26"/>
            <p:cNvGrpSpPr>
              <a:grpSpLocks/>
            </p:cNvGrpSpPr>
            <p:nvPr/>
          </p:nvGrpSpPr>
          <p:grpSpPr bwMode="auto">
            <a:xfrm>
              <a:off x="3233" y="1670"/>
              <a:ext cx="2256" cy="1056"/>
              <a:chOff x="3263" y="625"/>
              <a:chExt cx="2256" cy="826"/>
            </a:xfrm>
          </p:grpSpPr>
          <p:sp>
            <p:nvSpPr>
              <p:cNvPr id="14410" name="Rectangle 2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1" name="Rectangle 2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2" name="Rectangle 2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3" name="Rectangle 3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4" name="Rectangle 3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5" name="Rectangle 3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6" name="Rectangle 3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417" name="Rectangle 3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4405" name="Freeform 35"/>
            <p:cNvSpPr>
              <a:spLocks/>
            </p:cNvSpPr>
            <p:nvPr/>
          </p:nvSpPr>
          <p:spPr bwMode="auto">
            <a:xfrm>
              <a:off x="1751" y="2025"/>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4406" name="Freeform 36"/>
            <p:cNvSpPr>
              <a:spLocks/>
            </p:cNvSpPr>
            <p:nvPr/>
          </p:nvSpPr>
          <p:spPr bwMode="auto">
            <a:xfrm>
              <a:off x="2503" y="2026"/>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4407" name="Freeform 37"/>
            <p:cNvSpPr>
              <a:spLocks/>
            </p:cNvSpPr>
            <p:nvPr/>
          </p:nvSpPr>
          <p:spPr bwMode="auto">
            <a:xfrm>
              <a:off x="3240" y="2041"/>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4408" name="Freeform 38"/>
            <p:cNvSpPr>
              <a:spLocks/>
            </p:cNvSpPr>
            <p:nvPr/>
          </p:nvSpPr>
          <p:spPr bwMode="auto">
            <a:xfrm>
              <a:off x="3984" y="201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4409" name="Freeform 39"/>
            <p:cNvSpPr>
              <a:spLocks/>
            </p:cNvSpPr>
            <p:nvPr/>
          </p:nvSpPr>
          <p:spPr bwMode="auto">
            <a:xfrm>
              <a:off x="4736" y="2019"/>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grpSp>
        <p:nvGrpSpPr>
          <p:cNvPr id="14343" name="Group 40"/>
          <p:cNvGrpSpPr>
            <a:grpSpLocks/>
          </p:cNvGrpSpPr>
          <p:nvPr/>
        </p:nvGrpSpPr>
        <p:grpSpPr bwMode="auto">
          <a:xfrm>
            <a:off x="1577975" y="2541588"/>
            <a:ext cx="7092950" cy="1879600"/>
            <a:chOff x="995" y="2396"/>
            <a:chExt cx="4468" cy="926"/>
          </a:xfrm>
        </p:grpSpPr>
        <p:sp>
          <p:nvSpPr>
            <p:cNvPr id="14398" name="Freeform 41"/>
            <p:cNvSpPr>
              <a:spLocks/>
            </p:cNvSpPr>
            <p:nvPr/>
          </p:nvSpPr>
          <p:spPr bwMode="auto">
            <a:xfrm>
              <a:off x="995" y="240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4399" name="Freeform 42"/>
            <p:cNvSpPr>
              <a:spLocks/>
            </p:cNvSpPr>
            <p:nvPr/>
          </p:nvSpPr>
          <p:spPr bwMode="auto">
            <a:xfrm>
              <a:off x="3218" y="239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4400" name="Freeform 43"/>
            <p:cNvSpPr>
              <a:spLocks/>
            </p:cNvSpPr>
            <p:nvPr/>
          </p:nvSpPr>
          <p:spPr bwMode="auto">
            <a:xfrm flipV="1">
              <a:off x="4347" y="2849"/>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4401" name="Freeform 44"/>
            <p:cNvSpPr>
              <a:spLocks/>
            </p:cNvSpPr>
            <p:nvPr/>
          </p:nvSpPr>
          <p:spPr bwMode="auto">
            <a:xfrm flipV="1">
              <a:off x="2114" y="2834"/>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grpSp>
      <p:grpSp>
        <p:nvGrpSpPr>
          <p:cNvPr id="14344" name="Group 45"/>
          <p:cNvGrpSpPr>
            <a:grpSpLocks/>
          </p:cNvGrpSpPr>
          <p:nvPr/>
        </p:nvGrpSpPr>
        <p:grpSpPr bwMode="auto">
          <a:xfrm>
            <a:off x="2459038" y="928688"/>
            <a:ext cx="3014662" cy="3013075"/>
            <a:chOff x="1549" y="585"/>
            <a:chExt cx="1899" cy="1898"/>
          </a:xfrm>
        </p:grpSpPr>
        <p:grpSp>
          <p:nvGrpSpPr>
            <p:cNvPr id="14393" name="Group 46"/>
            <p:cNvGrpSpPr>
              <a:grpSpLocks/>
            </p:cNvGrpSpPr>
            <p:nvPr/>
          </p:nvGrpSpPr>
          <p:grpSpPr bwMode="auto">
            <a:xfrm>
              <a:off x="1549" y="585"/>
              <a:ext cx="1129" cy="1898"/>
              <a:chOff x="1549" y="585"/>
              <a:chExt cx="1129" cy="1898"/>
            </a:xfrm>
          </p:grpSpPr>
          <p:sp>
            <p:nvSpPr>
              <p:cNvPr id="14395" name="Line 47"/>
              <p:cNvSpPr>
                <a:spLocks noChangeShapeType="1"/>
              </p:cNvSpPr>
              <p:nvPr/>
            </p:nvSpPr>
            <p:spPr bwMode="auto">
              <a:xfrm flipV="1">
                <a:off x="1549" y="585"/>
                <a:ext cx="0" cy="1898"/>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4396" name="Line 48"/>
              <p:cNvSpPr>
                <a:spLocks noChangeShapeType="1"/>
              </p:cNvSpPr>
              <p:nvPr/>
            </p:nvSpPr>
            <p:spPr bwMode="auto">
              <a:xfrm flipV="1">
                <a:off x="2678" y="1630"/>
                <a:ext cx="0" cy="380"/>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4397" name="Line 49"/>
              <p:cNvSpPr>
                <a:spLocks noChangeShapeType="1"/>
              </p:cNvSpPr>
              <p:nvPr/>
            </p:nvSpPr>
            <p:spPr bwMode="auto">
              <a:xfrm flipV="1">
                <a:off x="2122" y="1123"/>
                <a:ext cx="7" cy="1093"/>
              </a:xfrm>
              <a:prstGeom prst="line">
                <a:avLst/>
              </a:prstGeom>
              <a:noFill/>
              <a:ln w="28575">
                <a:solidFill>
                  <a:schemeClr val="accent2"/>
                </a:solidFill>
                <a:round/>
                <a:headEnd type="triangle" w="med" len="med"/>
                <a:tailEnd type="triangle" w="med" len="med"/>
              </a:ln>
            </p:spPr>
            <p:txBody>
              <a:bodyPr wrap="none" anchor="ctr"/>
              <a:lstStyle/>
              <a:p>
                <a:endParaRPr lang="en-GB"/>
              </a:p>
            </p:txBody>
          </p:sp>
        </p:grpSp>
        <p:sp>
          <p:nvSpPr>
            <p:cNvPr id="14394" name="Text Box 50"/>
            <p:cNvSpPr txBox="1">
              <a:spLocks noChangeArrowheads="1"/>
            </p:cNvSpPr>
            <p:nvPr/>
          </p:nvSpPr>
          <p:spPr bwMode="auto">
            <a:xfrm>
              <a:off x="1736" y="866"/>
              <a:ext cx="1712" cy="212"/>
            </a:xfrm>
            <a:prstGeom prst="rect">
              <a:avLst/>
            </a:prstGeom>
            <a:noFill/>
            <a:ln w="28575">
              <a:noFill/>
              <a:miter lim="800000"/>
              <a:headEnd/>
              <a:tailEnd/>
            </a:ln>
          </p:spPr>
          <p:txBody>
            <a:bodyPr wrap="none" anchor="ctr">
              <a:spAutoFit/>
            </a:bodyPr>
            <a:lstStyle/>
            <a:p>
              <a:pPr algn="ctr"/>
              <a:r>
                <a:rPr lang="en-GB">
                  <a:solidFill>
                    <a:srgbClr val="242492"/>
                  </a:solidFill>
                </a:rPr>
                <a:t>summation of amplitudes</a:t>
              </a:r>
            </a:p>
          </p:txBody>
        </p:sp>
      </p:grpSp>
      <p:grpSp>
        <p:nvGrpSpPr>
          <p:cNvPr id="14346" name="Group 82"/>
          <p:cNvGrpSpPr>
            <a:grpSpLocks/>
          </p:cNvGrpSpPr>
          <p:nvPr/>
        </p:nvGrpSpPr>
        <p:grpSpPr bwMode="auto">
          <a:xfrm>
            <a:off x="1590675" y="919163"/>
            <a:ext cx="3541713" cy="1660525"/>
            <a:chOff x="3263" y="625"/>
            <a:chExt cx="2256" cy="826"/>
          </a:xfrm>
        </p:grpSpPr>
        <p:sp>
          <p:nvSpPr>
            <p:cNvPr id="14355" name="Rectangle 83"/>
            <p:cNvSpPr>
              <a:spLocks noChangeArrowheads="1"/>
            </p:cNvSpPr>
            <p:nvPr/>
          </p:nvSpPr>
          <p:spPr bwMode="auto">
            <a:xfrm>
              <a:off x="3827" y="625"/>
              <a:ext cx="564" cy="413"/>
            </a:xfrm>
            <a:prstGeom prst="rect">
              <a:avLst/>
            </a:prstGeom>
            <a:noFill/>
            <a:ln w="9525">
              <a:solidFill>
                <a:srgbClr val="99CCFF"/>
              </a:solidFill>
              <a:miter lim="800000"/>
              <a:headEnd/>
              <a:tailEnd/>
            </a:ln>
          </p:spPr>
          <p:txBody>
            <a:bodyPr wrap="none" anchor="ctr"/>
            <a:lstStyle/>
            <a:p>
              <a:endParaRPr lang="en-US"/>
            </a:p>
          </p:txBody>
        </p:sp>
        <p:sp>
          <p:nvSpPr>
            <p:cNvPr id="14356" name="Rectangle 84"/>
            <p:cNvSpPr>
              <a:spLocks noChangeArrowheads="1"/>
            </p:cNvSpPr>
            <p:nvPr/>
          </p:nvSpPr>
          <p:spPr bwMode="auto">
            <a:xfrm>
              <a:off x="4391" y="625"/>
              <a:ext cx="564" cy="413"/>
            </a:xfrm>
            <a:prstGeom prst="rect">
              <a:avLst/>
            </a:prstGeom>
            <a:noFill/>
            <a:ln w="9525">
              <a:solidFill>
                <a:srgbClr val="99CCFF"/>
              </a:solidFill>
              <a:miter lim="800000"/>
              <a:headEnd/>
              <a:tailEnd/>
            </a:ln>
          </p:spPr>
          <p:txBody>
            <a:bodyPr wrap="none" anchor="ctr"/>
            <a:lstStyle/>
            <a:p>
              <a:endParaRPr lang="en-US"/>
            </a:p>
          </p:txBody>
        </p:sp>
        <p:sp>
          <p:nvSpPr>
            <p:cNvPr id="14357" name="Rectangle 85"/>
            <p:cNvSpPr>
              <a:spLocks noChangeArrowheads="1"/>
            </p:cNvSpPr>
            <p:nvPr/>
          </p:nvSpPr>
          <p:spPr bwMode="auto">
            <a:xfrm>
              <a:off x="4955" y="625"/>
              <a:ext cx="564" cy="413"/>
            </a:xfrm>
            <a:prstGeom prst="rect">
              <a:avLst/>
            </a:prstGeom>
            <a:noFill/>
            <a:ln w="9525">
              <a:solidFill>
                <a:srgbClr val="99CCFF"/>
              </a:solidFill>
              <a:miter lim="800000"/>
              <a:headEnd/>
              <a:tailEnd/>
            </a:ln>
          </p:spPr>
          <p:txBody>
            <a:bodyPr wrap="none" anchor="ctr"/>
            <a:lstStyle/>
            <a:p>
              <a:endParaRPr lang="en-US"/>
            </a:p>
          </p:txBody>
        </p:sp>
        <p:sp>
          <p:nvSpPr>
            <p:cNvPr id="14358" name="Rectangle 86"/>
            <p:cNvSpPr>
              <a:spLocks noChangeArrowheads="1"/>
            </p:cNvSpPr>
            <p:nvPr/>
          </p:nvSpPr>
          <p:spPr bwMode="auto">
            <a:xfrm>
              <a:off x="3263" y="625"/>
              <a:ext cx="564" cy="413"/>
            </a:xfrm>
            <a:prstGeom prst="rect">
              <a:avLst/>
            </a:prstGeom>
            <a:noFill/>
            <a:ln w="9525">
              <a:solidFill>
                <a:srgbClr val="99CCFF"/>
              </a:solidFill>
              <a:miter lim="800000"/>
              <a:headEnd/>
              <a:tailEnd/>
            </a:ln>
          </p:spPr>
          <p:txBody>
            <a:bodyPr wrap="none" anchor="ctr"/>
            <a:lstStyle/>
            <a:p>
              <a:endParaRPr lang="en-US"/>
            </a:p>
          </p:txBody>
        </p:sp>
        <p:sp>
          <p:nvSpPr>
            <p:cNvPr id="14359" name="Rectangle 87"/>
            <p:cNvSpPr>
              <a:spLocks noChangeArrowheads="1"/>
            </p:cNvSpPr>
            <p:nvPr/>
          </p:nvSpPr>
          <p:spPr bwMode="auto">
            <a:xfrm>
              <a:off x="3827" y="1038"/>
              <a:ext cx="564" cy="413"/>
            </a:xfrm>
            <a:prstGeom prst="rect">
              <a:avLst/>
            </a:prstGeom>
            <a:noFill/>
            <a:ln w="9525">
              <a:solidFill>
                <a:srgbClr val="99CCFF"/>
              </a:solidFill>
              <a:miter lim="800000"/>
              <a:headEnd/>
              <a:tailEnd/>
            </a:ln>
          </p:spPr>
          <p:txBody>
            <a:bodyPr wrap="none" anchor="ctr"/>
            <a:lstStyle/>
            <a:p>
              <a:endParaRPr lang="en-US"/>
            </a:p>
          </p:txBody>
        </p:sp>
        <p:sp>
          <p:nvSpPr>
            <p:cNvPr id="14360" name="Rectangle 88"/>
            <p:cNvSpPr>
              <a:spLocks noChangeArrowheads="1"/>
            </p:cNvSpPr>
            <p:nvPr/>
          </p:nvSpPr>
          <p:spPr bwMode="auto">
            <a:xfrm>
              <a:off x="4391" y="1038"/>
              <a:ext cx="564" cy="413"/>
            </a:xfrm>
            <a:prstGeom prst="rect">
              <a:avLst/>
            </a:prstGeom>
            <a:noFill/>
            <a:ln w="9525">
              <a:solidFill>
                <a:srgbClr val="99CCFF"/>
              </a:solidFill>
              <a:miter lim="800000"/>
              <a:headEnd/>
              <a:tailEnd/>
            </a:ln>
          </p:spPr>
          <p:txBody>
            <a:bodyPr wrap="none" anchor="ctr"/>
            <a:lstStyle/>
            <a:p>
              <a:endParaRPr lang="en-US"/>
            </a:p>
          </p:txBody>
        </p:sp>
        <p:sp>
          <p:nvSpPr>
            <p:cNvPr id="14361" name="Rectangle 89"/>
            <p:cNvSpPr>
              <a:spLocks noChangeArrowheads="1"/>
            </p:cNvSpPr>
            <p:nvPr/>
          </p:nvSpPr>
          <p:spPr bwMode="auto">
            <a:xfrm>
              <a:off x="4955" y="1038"/>
              <a:ext cx="564" cy="413"/>
            </a:xfrm>
            <a:prstGeom prst="rect">
              <a:avLst/>
            </a:prstGeom>
            <a:noFill/>
            <a:ln w="9525">
              <a:solidFill>
                <a:srgbClr val="99CCFF"/>
              </a:solidFill>
              <a:miter lim="800000"/>
              <a:headEnd/>
              <a:tailEnd/>
            </a:ln>
          </p:spPr>
          <p:txBody>
            <a:bodyPr wrap="none" anchor="ctr"/>
            <a:lstStyle/>
            <a:p>
              <a:endParaRPr lang="en-US"/>
            </a:p>
          </p:txBody>
        </p:sp>
        <p:sp>
          <p:nvSpPr>
            <p:cNvPr id="14362" name="Rectangle 90"/>
            <p:cNvSpPr>
              <a:spLocks noChangeArrowheads="1"/>
            </p:cNvSpPr>
            <p:nvPr/>
          </p:nvSpPr>
          <p:spPr bwMode="auto">
            <a:xfrm>
              <a:off x="3263" y="1038"/>
              <a:ext cx="564" cy="413"/>
            </a:xfrm>
            <a:prstGeom prst="rect">
              <a:avLst/>
            </a:prstGeom>
            <a:noFill/>
            <a:ln w="9525">
              <a:solidFill>
                <a:srgbClr val="99CCFF"/>
              </a:solidFill>
              <a:miter lim="800000"/>
              <a:headEnd/>
              <a:tailEnd/>
            </a:ln>
          </p:spPr>
          <p:txBody>
            <a:bodyPr wrap="none" anchor="ctr"/>
            <a:lstStyle/>
            <a:p>
              <a:endParaRPr lang="en-US"/>
            </a:p>
          </p:txBody>
        </p:sp>
      </p:grpSp>
      <p:grpSp>
        <p:nvGrpSpPr>
          <p:cNvPr id="14347" name="Group 91"/>
          <p:cNvGrpSpPr>
            <a:grpSpLocks/>
          </p:cNvGrpSpPr>
          <p:nvPr/>
        </p:nvGrpSpPr>
        <p:grpSpPr bwMode="auto">
          <a:xfrm>
            <a:off x="436563" y="4641850"/>
            <a:ext cx="1658937" cy="581025"/>
            <a:chOff x="275" y="2924"/>
            <a:chExt cx="853" cy="366"/>
          </a:xfrm>
        </p:grpSpPr>
        <p:sp>
          <p:nvSpPr>
            <p:cNvPr id="14353" name="Text Box 92"/>
            <p:cNvSpPr txBox="1">
              <a:spLocks noChangeArrowheads="1"/>
            </p:cNvSpPr>
            <p:nvPr/>
          </p:nvSpPr>
          <p:spPr bwMode="auto">
            <a:xfrm>
              <a:off x="275" y="2924"/>
              <a:ext cx="853" cy="366"/>
            </a:xfrm>
            <a:prstGeom prst="rect">
              <a:avLst/>
            </a:prstGeom>
            <a:noFill/>
            <a:ln w="9525">
              <a:noFill/>
              <a:miter lim="800000"/>
              <a:headEnd/>
              <a:tailEnd/>
            </a:ln>
          </p:spPr>
          <p:txBody>
            <a:bodyPr anchor="ctr">
              <a:spAutoFit/>
            </a:bodyPr>
            <a:lstStyle/>
            <a:p>
              <a:r>
                <a:rPr lang="en-GB">
                  <a:solidFill>
                    <a:srgbClr val="CC6600"/>
                  </a:solidFill>
                </a:rPr>
                <a:t>f = </a:t>
              </a:r>
              <a:r>
                <a:rPr lang="en-GB" u="sng">
                  <a:solidFill>
                    <a:srgbClr val="CC6600"/>
                  </a:solidFill>
                </a:rPr>
                <a:t>1</a:t>
              </a:r>
              <a:r>
                <a:rPr lang="en-GB">
                  <a:solidFill>
                    <a:srgbClr val="CC6600"/>
                  </a:solidFill>
                </a:rPr>
                <a:t>sin(5x)</a:t>
              </a:r>
            </a:p>
            <a:p>
              <a:r>
                <a:rPr lang="en-GB">
                  <a:solidFill>
                    <a:srgbClr val="CC6600"/>
                  </a:solidFill>
                </a:rPr>
                <a:t>      5</a:t>
              </a:r>
              <a:endParaRPr lang="en-GB"/>
            </a:p>
          </p:txBody>
        </p:sp>
        <p:sp>
          <p:nvSpPr>
            <p:cNvPr id="14354" name="Line 93"/>
            <p:cNvSpPr>
              <a:spLocks noChangeShapeType="1"/>
            </p:cNvSpPr>
            <p:nvPr/>
          </p:nvSpPr>
          <p:spPr bwMode="auto">
            <a:xfrm>
              <a:off x="930" y="3138"/>
              <a:ext cx="162" cy="48"/>
            </a:xfrm>
            <a:prstGeom prst="line">
              <a:avLst/>
            </a:prstGeom>
            <a:noFill/>
            <a:ln w="12700">
              <a:solidFill>
                <a:schemeClr val="tx1"/>
              </a:solidFill>
              <a:round/>
              <a:headEnd/>
              <a:tailEnd type="triangle" w="med" len="med"/>
            </a:ln>
          </p:spPr>
          <p:txBody>
            <a:bodyPr wrap="none" anchor="ctr"/>
            <a:lstStyle/>
            <a:p>
              <a:endParaRPr lang="en-GB"/>
            </a:p>
          </p:txBody>
        </p:sp>
      </p:grpSp>
      <p:grpSp>
        <p:nvGrpSpPr>
          <p:cNvPr id="14348" name="Group 94"/>
          <p:cNvGrpSpPr>
            <a:grpSpLocks/>
          </p:cNvGrpSpPr>
          <p:nvPr/>
        </p:nvGrpSpPr>
        <p:grpSpPr bwMode="auto">
          <a:xfrm>
            <a:off x="439738" y="2986088"/>
            <a:ext cx="1379537" cy="581025"/>
            <a:chOff x="277" y="1881"/>
            <a:chExt cx="869" cy="366"/>
          </a:xfrm>
        </p:grpSpPr>
        <p:sp>
          <p:nvSpPr>
            <p:cNvPr id="14351" name="Text Box 95"/>
            <p:cNvSpPr txBox="1">
              <a:spLocks noChangeArrowheads="1"/>
            </p:cNvSpPr>
            <p:nvPr/>
          </p:nvSpPr>
          <p:spPr bwMode="auto">
            <a:xfrm>
              <a:off x="277" y="1881"/>
              <a:ext cx="853" cy="366"/>
            </a:xfrm>
            <a:prstGeom prst="rect">
              <a:avLst/>
            </a:prstGeom>
            <a:noFill/>
            <a:ln w="9525">
              <a:noFill/>
              <a:miter lim="800000"/>
              <a:headEnd/>
              <a:tailEnd/>
            </a:ln>
          </p:spPr>
          <p:txBody>
            <a:bodyPr wrap="none" anchor="ctr">
              <a:spAutoFit/>
            </a:bodyPr>
            <a:lstStyle/>
            <a:p>
              <a:r>
                <a:rPr lang="en-GB">
                  <a:solidFill>
                    <a:schemeClr val="accent1"/>
                  </a:solidFill>
                </a:rPr>
                <a:t>f = </a:t>
              </a:r>
              <a:r>
                <a:rPr lang="en-GB" u="sng">
                  <a:solidFill>
                    <a:schemeClr val="accent1"/>
                  </a:solidFill>
                </a:rPr>
                <a:t>1</a:t>
              </a:r>
              <a:r>
                <a:rPr lang="en-GB">
                  <a:solidFill>
                    <a:schemeClr val="accent1"/>
                  </a:solidFill>
                </a:rPr>
                <a:t>sin(3x)</a:t>
              </a:r>
            </a:p>
            <a:p>
              <a:r>
                <a:rPr lang="en-GB">
                  <a:solidFill>
                    <a:schemeClr val="accent1"/>
                  </a:solidFill>
                </a:rPr>
                <a:t>     3</a:t>
              </a:r>
              <a:endParaRPr lang="en-GB"/>
            </a:p>
          </p:txBody>
        </p:sp>
        <p:sp>
          <p:nvSpPr>
            <p:cNvPr id="14352" name="Line 96"/>
            <p:cNvSpPr>
              <a:spLocks noChangeShapeType="1"/>
            </p:cNvSpPr>
            <p:nvPr/>
          </p:nvSpPr>
          <p:spPr bwMode="auto">
            <a:xfrm flipV="1">
              <a:off x="900" y="2064"/>
              <a:ext cx="246" cy="12"/>
            </a:xfrm>
            <a:prstGeom prst="line">
              <a:avLst/>
            </a:prstGeom>
            <a:noFill/>
            <a:ln w="12700">
              <a:solidFill>
                <a:schemeClr val="tx1"/>
              </a:solidFill>
              <a:round/>
              <a:headEnd/>
              <a:tailEnd type="triangle" w="med" len="med"/>
            </a:ln>
          </p:spPr>
          <p:txBody>
            <a:bodyPr wrap="none" anchor="ctr"/>
            <a:lstStyle/>
            <a:p>
              <a:endParaRPr lang="en-GB"/>
            </a:p>
          </p:txBody>
        </p:sp>
      </p:grpSp>
      <p:sp>
        <p:nvSpPr>
          <p:cNvPr id="14349" name="Text Box 97"/>
          <p:cNvSpPr txBox="1">
            <a:spLocks noChangeArrowheads="1"/>
          </p:cNvSpPr>
          <p:nvPr/>
        </p:nvSpPr>
        <p:spPr bwMode="auto">
          <a:xfrm>
            <a:off x="444500" y="3843338"/>
            <a:ext cx="2613025" cy="581025"/>
          </a:xfrm>
          <a:prstGeom prst="rect">
            <a:avLst/>
          </a:prstGeom>
          <a:solidFill>
            <a:schemeClr val="bg1"/>
          </a:solidFill>
          <a:ln w="28575">
            <a:noFill/>
            <a:miter lim="800000"/>
            <a:headEnd/>
            <a:tailEnd/>
          </a:ln>
        </p:spPr>
        <p:txBody>
          <a:bodyPr anchor="ctr">
            <a:spAutoFit/>
          </a:bodyPr>
          <a:lstStyle/>
          <a:p>
            <a:r>
              <a:rPr lang="en-GB">
                <a:solidFill>
                  <a:srgbClr val="FF0000"/>
                </a:solidFill>
              </a:rPr>
              <a:t>f = sin(x) + </a:t>
            </a:r>
            <a:r>
              <a:rPr lang="en-GB" u="sng">
                <a:solidFill>
                  <a:srgbClr val="FF0000"/>
                </a:solidFill>
              </a:rPr>
              <a:t>1</a:t>
            </a:r>
            <a:r>
              <a:rPr lang="en-GB">
                <a:solidFill>
                  <a:srgbClr val="FF0000"/>
                </a:solidFill>
              </a:rPr>
              <a:t>sin(3x)                            	    3</a:t>
            </a:r>
            <a:r>
              <a:rPr lang="en-GB"/>
              <a:t> </a:t>
            </a:r>
          </a:p>
        </p:txBody>
      </p:sp>
      <p:sp>
        <p:nvSpPr>
          <p:cNvPr id="14350" name="Text Box 98"/>
          <p:cNvSpPr txBox="1">
            <a:spLocks noChangeArrowheads="1"/>
          </p:cNvSpPr>
          <p:nvPr/>
        </p:nvSpPr>
        <p:spPr bwMode="auto">
          <a:xfrm>
            <a:off x="430213" y="366713"/>
            <a:ext cx="3132137" cy="457200"/>
          </a:xfrm>
          <a:prstGeom prst="rect">
            <a:avLst/>
          </a:prstGeom>
          <a:noFill/>
          <a:ln w="9525">
            <a:noFill/>
            <a:miter lim="800000"/>
            <a:headEnd/>
            <a:tailEnd/>
          </a:ln>
        </p:spPr>
        <p:txBody>
          <a:bodyPr wrap="none" anchor="ctr">
            <a:spAutoFit/>
          </a:bodyPr>
          <a:lstStyle/>
          <a:p>
            <a:pPr algn="ctr"/>
            <a:r>
              <a:rPr lang="en-GB" sz="2400" b="1"/>
              <a:t>Waveform Synthesis</a:t>
            </a:r>
          </a:p>
        </p:txBody>
      </p:sp>
      <p:grpSp>
        <p:nvGrpSpPr>
          <p:cNvPr id="110" name="Group 109"/>
          <p:cNvGrpSpPr/>
          <p:nvPr/>
        </p:nvGrpSpPr>
        <p:grpSpPr>
          <a:xfrm>
            <a:off x="1572986" y="4513263"/>
            <a:ext cx="7164614" cy="1684338"/>
            <a:chOff x="1572986" y="4513263"/>
            <a:chExt cx="7164614" cy="1684338"/>
          </a:xfrm>
        </p:grpSpPr>
        <p:sp>
          <p:nvSpPr>
            <p:cNvPr id="14379" name="Rectangle 53"/>
            <p:cNvSpPr>
              <a:spLocks noChangeArrowheads="1"/>
            </p:cNvSpPr>
            <p:nvPr/>
          </p:nvSpPr>
          <p:spPr bwMode="auto">
            <a:xfrm>
              <a:off x="60515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80" name="Rectangle 54"/>
            <p:cNvSpPr>
              <a:spLocks noChangeArrowheads="1"/>
            </p:cNvSpPr>
            <p:nvPr/>
          </p:nvSpPr>
          <p:spPr bwMode="auto">
            <a:xfrm>
              <a:off x="69469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81" name="Rectangle 55"/>
            <p:cNvSpPr>
              <a:spLocks noChangeArrowheads="1"/>
            </p:cNvSpPr>
            <p:nvPr/>
          </p:nvSpPr>
          <p:spPr bwMode="auto">
            <a:xfrm>
              <a:off x="78422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82" name="Rectangle 56"/>
            <p:cNvSpPr>
              <a:spLocks noChangeArrowheads="1"/>
            </p:cNvSpPr>
            <p:nvPr/>
          </p:nvSpPr>
          <p:spPr bwMode="auto">
            <a:xfrm>
              <a:off x="51562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83" name="Rectangle 57"/>
            <p:cNvSpPr>
              <a:spLocks noChangeArrowheads="1"/>
            </p:cNvSpPr>
            <p:nvPr/>
          </p:nvSpPr>
          <p:spPr bwMode="auto">
            <a:xfrm>
              <a:off x="60515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84" name="Rectangle 58"/>
            <p:cNvSpPr>
              <a:spLocks noChangeArrowheads="1"/>
            </p:cNvSpPr>
            <p:nvPr/>
          </p:nvSpPr>
          <p:spPr bwMode="auto">
            <a:xfrm>
              <a:off x="69469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85" name="Rectangle 59"/>
            <p:cNvSpPr>
              <a:spLocks noChangeArrowheads="1"/>
            </p:cNvSpPr>
            <p:nvPr/>
          </p:nvSpPr>
          <p:spPr bwMode="auto">
            <a:xfrm>
              <a:off x="78422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86" name="Rectangle 60"/>
            <p:cNvSpPr>
              <a:spLocks noChangeArrowheads="1"/>
            </p:cNvSpPr>
            <p:nvPr/>
          </p:nvSpPr>
          <p:spPr bwMode="auto">
            <a:xfrm>
              <a:off x="51562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65" name="Rectangle 68"/>
            <p:cNvSpPr>
              <a:spLocks noChangeArrowheads="1"/>
            </p:cNvSpPr>
            <p:nvPr/>
          </p:nvSpPr>
          <p:spPr bwMode="auto">
            <a:xfrm>
              <a:off x="24701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66" name="Rectangle 69"/>
            <p:cNvSpPr>
              <a:spLocks noChangeArrowheads="1"/>
            </p:cNvSpPr>
            <p:nvPr/>
          </p:nvSpPr>
          <p:spPr bwMode="auto">
            <a:xfrm>
              <a:off x="33655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67" name="Rectangle 70"/>
            <p:cNvSpPr>
              <a:spLocks noChangeArrowheads="1"/>
            </p:cNvSpPr>
            <p:nvPr/>
          </p:nvSpPr>
          <p:spPr bwMode="auto">
            <a:xfrm>
              <a:off x="42608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68" name="Rectangle 71"/>
            <p:cNvSpPr>
              <a:spLocks noChangeArrowheads="1"/>
            </p:cNvSpPr>
            <p:nvPr/>
          </p:nvSpPr>
          <p:spPr bwMode="auto">
            <a:xfrm>
              <a:off x="15748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69" name="Rectangle 72"/>
            <p:cNvSpPr>
              <a:spLocks noChangeArrowheads="1"/>
            </p:cNvSpPr>
            <p:nvPr/>
          </p:nvSpPr>
          <p:spPr bwMode="auto">
            <a:xfrm>
              <a:off x="24701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70" name="Rectangle 73"/>
            <p:cNvSpPr>
              <a:spLocks noChangeArrowheads="1"/>
            </p:cNvSpPr>
            <p:nvPr/>
          </p:nvSpPr>
          <p:spPr bwMode="auto">
            <a:xfrm>
              <a:off x="33655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71" name="Rectangle 74"/>
            <p:cNvSpPr>
              <a:spLocks noChangeArrowheads="1"/>
            </p:cNvSpPr>
            <p:nvPr/>
          </p:nvSpPr>
          <p:spPr bwMode="auto">
            <a:xfrm>
              <a:off x="42608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4372" name="Rectangle 75"/>
            <p:cNvSpPr>
              <a:spLocks noChangeArrowheads="1"/>
            </p:cNvSpPr>
            <p:nvPr/>
          </p:nvSpPr>
          <p:spPr bwMode="auto">
            <a:xfrm>
              <a:off x="15748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grpSp>
          <p:nvGrpSpPr>
            <p:cNvPr id="98" name="Group 61"/>
            <p:cNvGrpSpPr>
              <a:grpSpLocks/>
            </p:cNvGrpSpPr>
            <p:nvPr/>
          </p:nvGrpSpPr>
          <p:grpSpPr bwMode="auto">
            <a:xfrm>
              <a:off x="5154386" y="5204126"/>
              <a:ext cx="3563938" cy="286271"/>
              <a:chOff x="1021" y="2632"/>
              <a:chExt cx="2245" cy="363"/>
            </a:xfrm>
          </p:grpSpPr>
          <p:sp>
            <p:nvSpPr>
              <p:cNvPr id="99" name="Freeform 62"/>
              <p:cNvSpPr>
                <a:spLocks/>
              </p:cNvSpPr>
              <p:nvPr/>
            </p:nvSpPr>
            <p:spPr bwMode="auto">
              <a:xfrm>
                <a:off x="1021" y="2640"/>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0" name="Freeform 63"/>
              <p:cNvSpPr>
                <a:spLocks/>
              </p:cNvSpPr>
              <p:nvPr/>
            </p:nvSpPr>
            <p:spPr bwMode="auto">
              <a:xfrm>
                <a:off x="1477"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1" name="Freeform 64"/>
              <p:cNvSpPr>
                <a:spLocks/>
              </p:cNvSpPr>
              <p:nvPr/>
            </p:nvSpPr>
            <p:spPr bwMode="auto">
              <a:xfrm>
                <a:off x="1925"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2" name="Freeform 65"/>
              <p:cNvSpPr>
                <a:spLocks/>
              </p:cNvSpPr>
              <p:nvPr/>
            </p:nvSpPr>
            <p:spPr bwMode="auto">
              <a:xfrm>
                <a:off x="2366"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3" name="Freeform 66"/>
              <p:cNvSpPr>
                <a:spLocks/>
              </p:cNvSpPr>
              <p:nvPr/>
            </p:nvSpPr>
            <p:spPr bwMode="auto">
              <a:xfrm>
                <a:off x="2821"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grpSp>
        <p:grpSp>
          <p:nvGrpSpPr>
            <p:cNvPr id="104" name="Group 76"/>
            <p:cNvGrpSpPr>
              <a:grpSpLocks/>
            </p:cNvGrpSpPr>
            <p:nvPr/>
          </p:nvGrpSpPr>
          <p:grpSpPr bwMode="auto">
            <a:xfrm>
              <a:off x="1572986" y="5212443"/>
              <a:ext cx="3563938" cy="286271"/>
              <a:chOff x="1021" y="2632"/>
              <a:chExt cx="2245" cy="363"/>
            </a:xfrm>
          </p:grpSpPr>
          <p:sp>
            <p:nvSpPr>
              <p:cNvPr id="105" name="Freeform 77"/>
              <p:cNvSpPr>
                <a:spLocks/>
              </p:cNvSpPr>
              <p:nvPr/>
            </p:nvSpPr>
            <p:spPr bwMode="auto">
              <a:xfrm>
                <a:off x="1021" y="2640"/>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6" name="Freeform 78"/>
              <p:cNvSpPr>
                <a:spLocks/>
              </p:cNvSpPr>
              <p:nvPr/>
            </p:nvSpPr>
            <p:spPr bwMode="auto">
              <a:xfrm>
                <a:off x="1477"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7" name="Freeform 79"/>
              <p:cNvSpPr>
                <a:spLocks/>
              </p:cNvSpPr>
              <p:nvPr/>
            </p:nvSpPr>
            <p:spPr bwMode="auto">
              <a:xfrm>
                <a:off x="1925"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8" name="Freeform 80"/>
              <p:cNvSpPr>
                <a:spLocks/>
              </p:cNvSpPr>
              <p:nvPr/>
            </p:nvSpPr>
            <p:spPr bwMode="auto">
              <a:xfrm>
                <a:off x="2366"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09" name="Freeform 81"/>
              <p:cNvSpPr>
                <a:spLocks/>
              </p:cNvSpPr>
              <p:nvPr/>
            </p:nvSpPr>
            <p:spPr bwMode="auto">
              <a:xfrm>
                <a:off x="2821"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grpSp>
      </p:grpSp>
    </p:spTree>
    <p:extLst>
      <p:ext uri="{BB962C8B-B14F-4D97-AF65-F5344CB8AC3E}">
        <p14:creationId xmlns:p14="http://schemas.microsoft.com/office/powerpoint/2010/main" val="4131798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Group 99"/>
          <p:cNvGrpSpPr/>
          <p:nvPr/>
        </p:nvGrpSpPr>
        <p:grpSpPr>
          <a:xfrm>
            <a:off x="1572986" y="4513263"/>
            <a:ext cx="7164614" cy="1684338"/>
            <a:chOff x="1572986" y="4513263"/>
            <a:chExt cx="7164614" cy="1684338"/>
          </a:xfrm>
        </p:grpSpPr>
        <p:sp>
          <p:nvSpPr>
            <p:cNvPr id="101" name="Rectangle 53"/>
            <p:cNvSpPr>
              <a:spLocks noChangeArrowheads="1"/>
            </p:cNvSpPr>
            <p:nvPr/>
          </p:nvSpPr>
          <p:spPr bwMode="auto">
            <a:xfrm>
              <a:off x="60515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2" name="Rectangle 54"/>
            <p:cNvSpPr>
              <a:spLocks noChangeArrowheads="1"/>
            </p:cNvSpPr>
            <p:nvPr/>
          </p:nvSpPr>
          <p:spPr bwMode="auto">
            <a:xfrm>
              <a:off x="69469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3" name="Rectangle 55"/>
            <p:cNvSpPr>
              <a:spLocks noChangeArrowheads="1"/>
            </p:cNvSpPr>
            <p:nvPr/>
          </p:nvSpPr>
          <p:spPr bwMode="auto">
            <a:xfrm>
              <a:off x="78422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4" name="Rectangle 56"/>
            <p:cNvSpPr>
              <a:spLocks noChangeArrowheads="1"/>
            </p:cNvSpPr>
            <p:nvPr/>
          </p:nvSpPr>
          <p:spPr bwMode="auto">
            <a:xfrm>
              <a:off x="51562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5" name="Rectangle 57"/>
            <p:cNvSpPr>
              <a:spLocks noChangeArrowheads="1"/>
            </p:cNvSpPr>
            <p:nvPr/>
          </p:nvSpPr>
          <p:spPr bwMode="auto">
            <a:xfrm>
              <a:off x="60515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6" name="Rectangle 58"/>
            <p:cNvSpPr>
              <a:spLocks noChangeArrowheads="1"/>
            </p:cNvSpPr>
            <p:nvPr/>
          </p:nvSpPr>
          <p:spPr bwMode="auto">
            <a:xfrm>
              <a:off x="69469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7" name="Rectangle 59"/>
            <p:cNvSpPr>
              <a:spLocks noChangeArrowheads="1"/>
            </p:cNvSpPr>
            <p:nvPr/>
          </p:nvSpPr>
          <p:spPr bwMode="auto">
            <a:xfrm>
              <a:off x="78422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8" name="Rectangle 60"/>
            <p:cNvSpPr>
              <a:spLocks noChangeArrowheads="1"/>
            </p:cNvSpPr>
            <p:nvPr/>
          </p:nvSpPr>
          <p:spPr bwMode="auto">
            <a:xfrm>
              <a:off x="51562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09" name="Rectangle 68"/>
            <p:cNvSpPr>
              <a:spLocks noChangeArrowheads="1"/>
            </p:cNvSpPr>
            <p:nvPr/>
          </p:nvSpPr>
          <p:spPr bwMode="auto">
            <a:xfrm>
              <a:off x="24701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0" name="Rectangle 69"/>
            <p:cNvSpPr>
              <a:spLocks noChangeArrowheads="1"/>
            </p:cNvSpPr>
            <p:nvPr/>
          </p:nvSpPr>
          <p:spPr bwMode="auto">
            <a:xfrm>
              <a:off x="33655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1" name="Rectangle 70"/>
            <p:cNvSpPr>
              <a:spLocks noChangeArrowheads="1"/>
            </p:cNvSpPr>
            <p:nvPr/>
          </p:nvSpPr>
          <p:spPr bwMode="auto">
            <a:xfrm>
              <a:off x="42608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 name="Rectangle 71"/>
            <p:cNvSpPr>
              <a:spLocks noChangeArrowheads="1"/>
            </p:cNvSpPr>
            <p:nvPr/>
          </p:nvSpPr>
          <p:spPr bwMode="auto">
            <a:xfrm>
              <a:off x="15748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 name="Rectangle 72"/>
            <p:cNvSpPr>
              <a:spLocks noChangeArrowheads="1"/>
            </p:cNvSpPr>
            <p:nvPr/>
          </p:nvSpPr>
          <p:spPr bwMode="auto">
            <a:xfrm>
              <a:off x="24701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4" name="Rectangle 73"/>
            <p:cNvSpPr>
              <a:spLocks noChangeArrowheads="1"/>
            </p:cNvSpPr>
            <p:nvPr/>
          </p:nvSpPr>
          <p:spPr bwMode="auto">
            <a:xfrm>
              <a:off x="33655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5" name="Rectangle 74"/>
            <p:cNvSpPr>
              <a:spLocks noChangeArrowheads="1"/>
            </p:cNvSpPr>
            <p:nvPr/>
          </p:nvSpPr>
          <p:spPr bwMode="auto">
            <a:xfrm>
              <a:off x="42608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6" name="Rectangle 75"/>
            <p:cNvSpPr>
              <a:spLocks noChangeArrowheads="1"/>
            </p:cNvSpPr>
            <p:nvPr/>
          </p:nvSpPr>
          <p:spPr bwMode="auto">
            <a:xfrm>
              <a:off x="15748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grpSp>
          <p:nvGrpSpPr>
            <p:cNvPr id="117" name="Group 61"/>
            <p:cNvGrpSpPr>
              <a:grpSpLocks/>
            </p:cNvGrpSpPr>
            <p:nvPr/>
          </p:nvGrpSpPr>
          <p:grpSpPr bwMode="auto">
            <a:xfrm>
              <a:off x="5154386" y="5204126"/>
              <a:ext cx="3563938" cy="286271"/>
              <a:chOff x="1021" y="2632"/>
              <a:chExt cx="2245" cy="363"/>
            </a:xfrm>
          </p:grpSpPr>
          <p:sp>
            <p:nvSpPr>
              <p:cNvPr id="124" name="Freeform 62"/>
              <p:cNvSpPr>
                <a:spLocks/>
              </p:cNvSpPr>
              <p:nvPr/>
            </p:nvSpPr>
            <p:spPr bwMode="auto">
              <a:xfrm>
                <a:off x="1021" y="2640"/>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5" name="Freeform 63"/>
              <p:cNvSpPr>
                <a:spLocks/>
              </p:cNvSpPr>
              <p:nvPr/>
            </p:nvSpPr>
            <p:spPr bwMode="auto">
              <a:xfrm>
                <a:off x="1477"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6" name="Freeform 64"/>
              <p:cNvSpPr>
                <a:spLocks/>
              </p:cNvSpPr>
              <p:nvPr/>
            </p:nvSpPr>
            <p:spPr bwMode="auto">
              <a:xfrm>
                <a:off x="1925"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7" name="Freeform 65"/>
              <p:cNvSpPr>
                <a:spLocks/>
              </p:cNvSpPr>
              <p:nvPr/>
            </p:nvSpPr>
            <p:spPr bwMode="auto">
              <a:xfrm>
                <a:off x="2366"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8" name="Freeform 66"/>
              <p:cNvSpPr>
                <a:spLocks/>
              </p:cNvSpPr>
              <p:nvPr/>
            </p:nvSpPr>
            <p:spPr bwMode="auto">
              <a:xfrm>
                <a:off x="2821"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grpSp>
        <p:grpSp>
          <p:nvGrpSpPr>
            <p:cNvPr id="118" name="Group 76"/>
            <p:cNvGrpSpPr>
              <a:grpSpLocks/>
            </p:cNvGrpSpPr>
            <p:nvPr/>
          </p:nvGrpSpPr>
          <p:grpSpPr bwMode="auto">
            <a:xfrm>
              <a:off x="1572986" y="5212443"/>
              <a:ext cx="3563938" cy="286271"/>
              <a:chOff x="1021" y="2632"/>
              <a:chExt cx="2245" cy="363"/>
            </a:xfrm>
          </p:grpSpPr>
          <p:sp>
            <p:nvSpPr>
              <p:cNvPr id="119" name="Freeform 77"/>
              <p:cNvSpPr>
                <a:spLocks/>
              </p:cNvSpPr>
              <p:nvPr/>
            </p:nvSpPr>
            <p:spPr bwMode="auto">
              <a:xfrm>
                <a:off x="1021" y="2640"/>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0" name="Freeform 78"/>
              <p:cNvSpPr>
                <a:spLocks/>
              </p:cNvSpPr>
              <p:nvPr/>
            </p:nvSpPr>
            <p:spPr bwMode="auto">
              <a:xfrm>
                <a:off x="1477"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1" name="Freeform 79"/>
              <p:cNvSpPr>
                <a:spLocks/>
              </p:cNvSpPr>
              <p:nvPr/>
            </p:nvSpPr>
            <p:spPr bwMode="auto">
              <a:xfrm>
                <a:off x="1925"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2" name="Freeform 80"/>
              <p:cNvSpPr>
                <a:spLocks/>
              </p:cNvSpPr>
              <p:nvPr/>
            </p:nvSpPr>
            <p:spPr bwMode="auto">
              <a:xfrm>
                <a:off x="2366"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3" name="Freeform 81"/>
              <p:cNvSpPr>
                <a:spLocks/>
              </p:cNvSpPr>
              <p:nvPr/>
            </p:nvSpPr>
            <p:spPr bwMode="auto">
              <a:xfrm>
                <a:off x="2821"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grpSp>
      </p:grpSp>
      <p:sp>
        <p:nvSpPr>
          <p:cNvPr id="15362" name="Freeform 2"/>
          <p:cNvSpPr>
            <a:spLocks/>
          </p:cNvSpPr>
          <p:nvPr/>
        </p:nvSpPr>
        <p:spPr bwMode="auto">
          <a:xfrm>
            <a:off x="1601788" y="933450"/>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5363" name="Text Box 4"/>
          <p:cNvSpPr txBox="1">
            <a:spLocks noChangeArrowheads="1"/>
          </p:cNvSpPr>
          <p:nvPr/>
        </p:nvSpPr>
        <p:spPr bwMode="auto">
          <a:xfrm>
            <a:off x="385763" y="1231900"/>
            <a:ext cx="1096962" cy="336550"/>
          </a:xfrm>
          <a:prstGeom prst="rect">
            <a:avLst/>
          </a:prstGeom>
          <a:noFill/>
          <a:ln w="9525">
            <a:noFill/>
            <a:miter lim="800000"/>
            <a:headEnd/>
            <a:tailEnd/>
          </a:ln>
        </p:spPr>
        <p:txBody>
          <a:bodyPr wrap="none" anchor="ctr">
            <a:spAutoFit/>
          </a:bodyPr>
          <a:lstStyle/>
          <a:p>
            <a:pPr algn="ctr"/>
            <a:r>
              <a:rPr lang="en-GB"/>
              <a:t>f = sin(x)</a:t>
            </a:r>
          </a:p>
        </p:txBody>
      </p:sp>
      <p:grpSp>
        <p:nvGrpSpPr>
          <p:cNvPr id="15364" name="Group 5"/>
          <p:cNvGrpSpPr>
            <a:grpSpLocks/>
          </p:cNvGrpSpPr>
          <p:nvPr/>
        </p:nvGrpSpPr>
        <p:grpSpPr bwMode="auto">
          <a:xfrm>
            <a:off x="5135563" y="919163"/>
            <a:ext cx="3541712" cy="1660525"/>
            <a:chOff x="3263" y="625"/>
            <a:chExt cx="2256" cy="826"/>
          </a:xfrm>
        </p:grpSpPr>
        <p:sp>
          <p:nvSpPr>
            <p:cNvPr id="15456"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7"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8"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9"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60"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61"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62"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63"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5365" name="Freeform 14"/>
          <p:cNvSpPr>
            <a:spLocks/>
          </p:cNvSpPr>
          <p:nvPr/>
        </p:nvSpPr>
        <p:spPr bwMode="auto">
          <a:xfrm>
            <a:off x="5133975" y="919163"/>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5432" name="Group 16"/>
          <p:cNvGrpSpPr>
            <a:grpSpLocks/>
          </p:cNvGrpSpPr>
          <p:nvPr/>
        </p:nvGrpSpPr>
        <p:grpSpPr bwMode="auto">
          <a:xfrm>
            <a:off x="1574800" y="2651125"/>
            <a:ext cx="3581400" cy="1676400"/>
            <a:chOff x="3263" y="625"/>
            <a:chExt cx="2256" cy="826"/>
          </a:xfrm>
        </p:grpSpPr>
        <p:sp>
          <p:nvSpPr>
            <p:cNvPr id="15448" name="Rectangle 1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9" name="Rectangle 1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0" name="Rectangle 1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1" name="Rectangle 2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2" name="Rectangle 2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3" name="Rectangle 2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4" name="Rectangle 2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55" name="Rectangle 2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5433" name="Freeform 25"/>
          <p:cNvSpPr>
            <a:spLocks/>
          </p:cNvSpPr>
          <p:nvPr/>
        </p:nvSpPr>
        <p:spPr bwMode="auto">
          <a:xfrm>
            <a:off x="1598613" y="3251200"/>
            <a:ext cx="1165225" cy="706438"/>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nvGrpSpPr>
          <p:cNvPr id="15434" name="Group 26"/>
          <p:cNvGrpSpPr>
            <a:grpSpLocks/>
          </p:cNvGrpSpPr>
          <p:nvPr/>
        </p:nvGrpSpPr>
        <p:grpSpPr bwMode="auto">
          <a:xfrm>
            <a:off x="5132388" y="2651125"/>
            <a:ext cx="3581400" cy="1676400"/>
            <a:chOff x="3263" y="625"/>
            <a:chExt cx="2256" cy="826"/>
          </a:xfrm>
        </p:grpSpPr>
        <p:sp>
          <p:nvSpPr>
            <p:cNvPr id="15440" name="Rectangle 2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1" name="Rectangle 2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2" name="Rectangle 2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3" name="Rectangle 3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4" name="Rectangle 3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5" name="Rectangle 3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6" name="Rectangle 3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5447" name="Rectangle 3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5435" name="Freeform 35"/>
          <p:cNvSpPr>
            <a:spLocks/>
          </p:cNvSpPr>
          <p:nvPr/>
        </p:nvSpPr>
        <p:spPr bwMode="auto">
          <a:xfrm>
            <a:off x="2779713" y="3214688"/>
            <a:ext cx="1165225" cy="706438"/>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5436" name="Freeform 36"/>
          <p:cNvSpPr>
            <a:spLocks/>
          </p:cNvSpPr>
          <p:nvPr/>
        </p:nvSpPr>
        <p:spPr bwMode="auto">
          <a:xfrm>
            <a:off x="3973513" y="3216275"/>
            <a:ext cx="1165225" cy="706438"/>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5437" name="Freeform 37"/>
          <p:cNvSpPr>
            <a:spLocks/>
          </p:cNvSpPr>
          <p:nvPr/>
        </p:nvSpPr>
        <p:spPr bwMode="auto">
          <a:xfrm>
            <a:off x="5143500" y="3240088"/>
            <a:ext cx="1165225" cy="706438"/>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5438" name="Freeform 38"/>
          <p:cNvSpPr>
            <a:spLocks/>
          </p:cNvSpPr>
          <p:nvPr/>
        </p:nvSpPr>
        <p:spPr bwMode="auto">
          <a:xfrm>
            <a:off x="6324600" y="3203575"/>
            <a:ext cx="1165225" cy="706438"/>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5439" name="Freeform 39"/>
          <p:cNvSpPr>
            <a:spLocks/>
          </p:cNvSpPr>
          <p:nvPr/>
        </p:nvSpPr>
        <p:spPr bwMode="auto">
          <a:xfrm>
            <a:off x="7518400" y="3205163"/>
            <a:ext cx="1165225" cy="706438"/>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nvGrpSpPr>
          <p:cNvPr id="15367" name="Group 40"/>
          <p:cNvGrpSpPr>
            <a:grpSpLocks/>
          </p:cNvGrpSpPr>
          <p:nvPr/>
        </p:nvGrpSpPr>
        <p:grpSpPr bwMode="auto">
          <a:xfrm>
            <a:off x="1577975" y="2541588"/>
            <a:ext cx="7092950" cy="1879600"/>
            <a:chOff x="995" y="2396"/>
            <a:chExt cx="4468" cy="926"/>
          </a:xfrm>
        </p:grpSpPr>
        <p:sp>
          <p:nvSpPr>
            <p:cNvPr id="15428" name="Freeform 41"/>
            <p:cNvSpPr>
              <a:spLocks/>
            </p:cNvSpPr>
            <p:nvPr/>
          </p:nvSpPr>
          <p:spPr bwMode="auto">
            <a:xfrm>
              <a:off x="995" y="240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5429" name="Freeform 42"/>
            <p:cNvSpPr>
              <a:spLocks/>
            </p:cNvSpPr>
            <p:nvPr/>
          </p:nvSpPr>
          <p:spPr bwMode="auto">
            <a:xfrm>
              <a:off x="3218" y="239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5430" name="Freeform 43"/>
            <p:cNvSpPr>
              <a:spLocks/>
            </p:cNvSpPr>
            <p:nvPr/>
          </p:nvSpPr>
          <p:spPr bwMode="auto">
            <a:xfrm flipV="1">
              <a:off x="4347" y="2849"/>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5431" name="Freeform 44"/>
            <p:cNvSpPr>
              <a:spLocks/>
            </p:cNvSpPr>
            <p:nvPr/>
          </p:nvSpPr>
          <p:spPr bwMode="auto">
            <a:xfrm flipV="1">
              <a:off x="2114" y="2834"/>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grpSp>
      <p:grpSp>
        <p:nvGrpSpPr>
          <p:cNvPr id="15368" name="Group 45"/>
          <p:cNvGrpSpPr>
            <a:grpSpLocks/>
          </p:cNvGrpSpPr>
          <p:nvPr/>
        </p:nvGrpSpPr>
        <p:grpSpPr bwMode="auto">
          <a:xfrm>
            <a:off x="2459038" y="928688"/>
            <a:ext cx="3014662" cy="3013075"/>
            <a:chOff x="1549" y="585"/>
            <a:chExt cx="1899" cy="1898"/>
          </a:xfrm>
        </p:grpSpPr>
        <p:grpSp>
          <p:nvGrpSpPr>
            <p:cNvPr id="15423" name="Group 46"/>
            <p:cNvGrpSpPr>
              <a:grpSpLocks/>
            </p:cNvGrpSpPr>
            <p:nvPr/>
          </p:nvGrpSpPr>
          <p:grpSpPr bwMode="auto">
            <a:xfrm>
              <a:off x="1549" y="585"/>
              <a:ext cx="1129" cy="1898"/>
              <a:chOff x="1549" y="585"/>
              <a:chExt cx="1129" cy="1898"/>
            </a:xfrm>
          </p:grpSpPr>
          <p:sp>
            <p:nvSpPr>
              <p:cNvPr id="15425" name="Line 47"/>
              <p:cNvSpPr>
                <a:spLocks noChangeShapeType="1"/>
              </p:cNvSpPr>
              <p:nvPr/>
            </p:nvSpPr>
            <p:spPr bwMode="auto">
              <a:xfrm flipV="1">
                <a:off x="1549" y="585"/>
                <a:ext cx="0" cy="1898"/>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5426" name="Line 48"/>
              <p:cNvSpPr>
                <a:spLocks noChangeShapeType="1"/>
              </p:cNvSpPr>
              <p:nvPr/>
            </p:nvSpPr>
            <p:spPr bwMode="auto">
              <a:xfrm flipV="1">
                <a:off x="2678" y="1630"/>
                <a:ext cx="0" cy="380"/>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5427" name="Line 49"/>
              <p:cNvSpPr>
                <a:spLocks noChangeShapeType="1"/>
              </p:cNvSpPr>
              <p:nvPr/>
            </p:nvSpPr>
            <p:spPr bwMode="auto">
              <a:xfrm flipV="1">
                <a:off x="2122" y="1123"/>
                <a:ext cx="7" cy="1093"/>
              </a:xfrm>
              <a:prstGeom prst="line">
                <a:avLst/>
              </a:prstGeom>
              <a:noFill/>
              <a:ln w="28575">
                <a:solidFill>
                  <a:schemeClr val="accent2"/>
                </a:solidFill>
                <a:round/>
                <a:headEnd type="triangle" w="med" len="med"/>
                <a:tailEnd type="triangle" w="med" len="med"/>
              </a:ln>
            </p:spPr>
            <p:txBody>
              <a:bodyPr wrap="none" anchor="ctr"/>
              <a:lstStyle/>
              <a:p>
                <a:endParaRPr lang="en-GB"/>
              </a:p>
            </p:txBody>
          </p:sp>
        </p:grpSp>
        <p:sp>
          <p:nvSpPr>
            <p:cNvPr id="15424" name="Text Box 50"/>
            <p:cNvSpPr txBox="1">
              <a:spLocks noChangeArrowheads="1"/>
            </p:cNvSpPr>
            <p:nvPr/>
          </p:nvSpPr>
          <p:spPr bwMode="auto">
            <a:xfrm>
              <a:off x="1736" y="866"/>
              <a:ext cx="1712" cy="212"/>
            </a:xfrm>
            <a:prstGeom prst="rect">
              <a:avLst/>
            </a:prstGeom>
            <a:noFill/>
            <a:ln w="28575">
              <a:noFill/>
              <a:miter lim="800000"/>
              <a:headEnd/>
              <a:tailEnd/>
            </a:ln>
          </p:spPr>
          <p:txBody>
            <a:bodyPr wrap="none" anchor="ctr">
              <a:spAutoFit/>
            </a:bodyPr>
            <a:lstStyle/>
            <a:p>
              <a:pPr algn="ctr"/>
              <a:r>
                <a:rPr lang="en-GB">
                  <a:solidFill>
                    <a:srgbClr val="242492"/>
                  </a:solidFill>
                </a:rPr>
                <a:t>summation of amplitudes</a:t>
              </a:r>
            </a:p>
          </p:txBody>
        </p:sp>
      </p:grpSp>
      <p:grpSp>
        <p:nvGrpSpPr>
          <p:cNvPr id="15370" name="Group 82"/>
          <p:cNvGrpSpPr>
            <a:grpSpLocks/>
          </p:cNvGrpSpPr>
          <p:nvPr/>
        </p:nvGrpSpPr>
        <p:grpSpPr bwMode="auto">
          <a:xfrm>
            <a:off x="1590675" y="919163"/>
            <a:ext cx="3541713" cy="1660525"/>
            <a:chOff x="3263" y="625"/>
            <a:chExt cx="2256" cy="826"/>
          </a:xfrm>
        </p:grpSpPr>
        <p:sp>
          <p:nvSpPr>
            <p:cNvPr id="15385" name="Rectangle 83"/>
            <p:cNvSpPr>
              <a:spLocks noChangeArrowheads="1"/>
            </p:cNvSpPr>
            <p:nvPr/>
          </p:nvSpPr>
          <p:spPr bwMode="auto">
            <a:xfrm>
              <a:off x="3827" y="625"/>
              <a:ext cx="564" cy="413"/>
            </a:xfrm>
            <a:prstGeom prst="rect">
              <a:avLst/>
            </a:prstGeom>
            <a:noFill/>
            <a:ln w="9525">
              <a:solidFill>
                <a:srgbClr val="99CCFF"/>
              </a:solidFill>
              <a:miter lim="800000"/>
              <a:headEnd/>
              <a:tailEnd/>
            </a:ln>
          </p:spPr>
          <p:txBody>
            <a:bodyPr wrap="none" anchor="ctr"/>
            <a:lstStyle/>
            <a:p>
              <a:endParaRPr lang="en-US"/>
            </a:p>
          </p:txBody>
        </p:sp>
        <p:sp>
          <p:nvSpPr>
            <p:cNvPr id="15386" name="Rectangle 84"/>
            <p:cNvSpPr>
              <a:spLocks noChangeArrowheads="1"/>
            </p:cNvSpPr>
            <p:nvPr/>
          </p:nvSpPr>
          <p:spPr bwMode="auto">
            <a:xfrm>
              <a:off x="4391" y="625"/>
              <a:ext cx="564" cy="413"/>
            </a:xfrm>
            <a:prstGeom prst="rect">
              <a:avLst/>
            </a:prstGeom>
            <a:noFill/>
            <a:ln w="9525">
              <a:solidFill>
                <a:srgbClr val="99CCFF"/>
              </a:solidFill>
              <a:miter lim="800000"/>
              <a:headEnd/>
              <a:tailEnd/>
            </a:ln>
          </p:spPr>
          <p:txBody>
            <a:bodyPr wrap="none" anchor="ctr"/>
            <a:lstStyle/>
            <a:p>
              <a:endParaRPr lang="en-US"/>
            </a:p>
          </p:txBody>
        </p:sp>
        <p:sp>
          <p:nvSpPr>
            <p:cNvPr id="15387" name="Rectangle 85"/>
            <p:cNvSpPr>
              <a:spLocks noChangeArrowheads="1"/>
            </p:cNvSpPr>
            <p:nvPr/>
          </p:nvSpPr>
          <p:spPr bwMode="auto">
            <a:xfrm>
              <a:off x="4955" y="625"/>
              <a:ext cx="564" cy="413"/>
            </a:xfrm>
            <a:prstGeom prst="rect">
              <a:avLst/>
            </a:prstGeom>
            <a:noFill/>
            <a:ln w="9525">
              <a:solidFill>
                <a:srgbClr val="99CCFF"/>
              </a:solidFill>
              <a:miter lim="800000"/>
              <a:headEnd/>
              <a:tailEnd/>
            </a:ln>
          </p:spPr>
          <p:txBody>
            <a:bodyPr wrap="none" anchor="ctr"/>
            <a:lstStyle/>
            <a:p>
              <a:endParaRPr lang="en-US"/>
            </a:p>
          </p:txBody>
        </p:sp>
        <p:sp>
          <p:nvSpPr>
            <p:cNvPr id="15388" name="Rectangle 86"/>
            <p:cNvSpPr>
              <a:spLocks noChangeArrowheads="1"/>
            </p:cNvSpPr>
            <p:nvPr/>
          </p:nvSpPr>
          <p:spPr bwMode="auto">
            <a:xfrm>
              <a:off x="3263" y="625"/>
              <a:ext cx="564" cy="413"/>
            </a:xfrm>
            <a:prstGeom prst="rect">
              <a:avLst/>
            </a:prstGeom>
            <a:noFill/>
            <a:ln w="9525">
              <a:solidFill>
                <a:srgbClr val="99CCFF"/>
              </a:solidFill>
              <a:miter lim="800000"/>
              <a:headEnd/>
              <a:tailEnd/>
            </a:ln>
          </p:spPr>
          <p:txBody>
            <a:bodyPr wrap="none" anchor="ctr"/>
            <a:lstStyle/>
            <a:p>
              <a:endParaRPr lang="en-US"/>
            </a:p>
          </p:txBody>
        </p:sp>
        <p:sp>
          <p:nvSpPr>
            <p:cNvPr id="15389" name="Rectangle 87"/>
            <p:cNvSpPr>
              <a:spLocks noChangeArrowheads="1"/>
            </p:cNvSpPr>
            <p:nvPr/>
          </p:nvSpPr>
          <p:spPr bwMode="auto">
            <a:xfrm>
              <a:off x="3827" y="1038"/>
              <a:ext cx="564" cy="413"/>
            </a:xfrm>
            <a:prstGeom prst="rect">
              <a:avLst/>
            </a:prstGeom>
            <a:noFill/>
            <a:ln w="9525">
              <a:solidFill>
                <a:srgbClr val="99CCFF"/>
              </a:solidFill>
              <a:miter lim="800000"/>
              <a:headEnd/>
              <a:tailEnd/>
            </a:ln>
          </p:spPr>
          <p:txBody>
            <a:bodyPr wrap="none" anchor="ctr"/>
            <a:lstStyle/>
            <a:p>
              <a:endParaRPr lang="en-US"/>
            </a:p>
          </p:txBody>
        </p:sp>
        <p:sp>
          <p:nvSpPr>
            <p:cNvPr id="15390" name="Rectangle 88"/>
            <p:cNvSpPr>
              <a:spLocks noChangeArrowheads="1"/>
            </p:cNvSpPr>
            <p:nvPr/>
          </p:nvSpPr>
          <p:spPr bwMode="auto">
            <a:xfrm>
              <a:off x="4391" y="1038"/>
              <a:ext cx="564" cy="413"/>
            </a:xfrm>
            <a:prstGeom prst="rect">
              <a:avLst/>
            </a:prstGeom>
            <a:noFill/>
            <a:ln w="9525">
              <a:solidFill>
                <a:srgbClr val="99CCFF"/>
              </a:solidFill>
              <a:miter lim="800000"/>
              <a:headEnd/>
              <a:tailEnd/>
            </a:ln>
          </p:spPr>
          <p:txBody>
            <a:bodyPr wrap="none" anchor="ctr"/>
            <a:lstStyle/>
            <a:p>
              <a:endParaRPr lang="en-US"/>
            </a:p>
          </p:txBody>
        </p:sp>
        <p:sp>
          <p:nvSpPr>
            <p:cNvPr id="15391" name="Rectangle 89"/>
            <p:cNvSpPr>
              <a:spLocks noChangeArrowheads="1"/>
            </p:cNvSpPr>
            <p:nvPr/>
          </p:nvSpPr>
          <p:spPr bwMode="auto">
            <a:xfrm>
              <a:off x="4955" y="1038"/>
              <a:ext cx="564" cy="413"/>
            </a:xfrm>
            <a:prstGeom prst="rect">
              <a:avLst/>
            </a:prstGeom>
            <a:noFill/>
            <a:ln w="9525">
              <a:solidFill>
                <a:srgbClr val="99CCFF"/>
              </a:solidFill>
              <a:miter lim="800000"/>
              <a:headEnd/>
              <a:tailEnd/>
            </a:ln>
          </p:spPr>
          <p:txBody>
            <a:bodyPr wrap="none" anchor="ctr"/>
            <a:lstStyle/>
            <a:p>
              <a:endParaRPr lang="en-US"/>
            </a:p>
          </p:txBody>
        </p:sp>
        <p:sp>
          <p:nvSpPr>
            <p:cNvPr id="15392" name="Rectangle 90"/>
            <p:cNvSpPr>
              <a:spLocks noChangeArrowheads="1"/>
            </p:cNvSpPr>
            <p:nvPr/>
          </p:nvSpPr>
          <p:spPr bwMode="auto">
            <a:xfrm>
              <a:off x="3263" y="1038"/>
              <a:ext cx="564" cy="413"/>
            </a:xfrm>
            <a:prstGeom prst="rect">
              <a:avLst/>
            </a:prstGeom>
            <a:noFill/>
            <a:ln w="9525">
              <a:solidFill>
                <a:srgbClr val="99CCFF"/>
              </a:solidFill>
              <a:miter lim="800000"/>
              <a:headEnd/>
              <a:tailEnd/>
            </a:ln>
          </p:spPr>
          <p:txBody>
            <a:bodyPr wrap="none" anchor="ctr"/>
            <a:lstStyle/>
            <a:p>
              <a:endParaRPr lang="en-US"/>
            </a:p>
          </p:txBody>
        </p:sp>
      </p:grpSp>
      <p:grpSp>
        <p:nvGrpSpPr>
          <p:cNvPr id="15371" name="Group 91"/>
          <p:cNvGrpSpPr>
            <a:grpSpLocks/>
          </p:cNvGrpSpPr>
          <p:nvPr/>
        </p:nvGrpSpPr>
        <p:grpSpPr bwMode="auto">
          <a:xfrm>
            <a:off x="6030913" y="2843213"/>
            <a:ext cx="2514600" cy="2871787"/>
            <a:chOff x="3799" y="1791"/>
            <a:chExt cx="1584" cy="1809"/>
          </a:xfrm>
        </p:grpSpPr>
        <p:grpSp>
          <p:nvGrpSpPr>
            <p:cNvPr id="15380" name="Group 92"/>
            <p:cNvGrpSpPr>
              <a:grpSpLocks/>
            </p:cNvGrpSpPr>
            <p:nvPr/>
          </p:nvGrpSpPr>
          <p:grpSpPr bwMode="auto">
            <a:xfrm>
              <a:off x="3799" y="1791"/>
              <a:ext cx="1135" cy="1809"/>
              <a:chOff x="3799" y="1791"/>
              <a:chExt cx="1135" cy="1809"/>
            </a:xfrm>
          </p:grpSpPr>
          <p:sp>
            <p:nvSpPr>
              <p:cNvPr id="15382" name="Line 93"/>
              <p:cNvSpPr>
                <a:spLocks noChangeShapeType="1"/>
              </p:cNvSpPr>
              <p:nvPr/>
            </p:nvSpPr>
            <p:spPr bwMode="auto">
              <a:xfrm flipH="1" flipV="1">
                <a:off x="3799" y="1791"/>
                <a:ext cx="0" cy="1358"/>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5383" name="Line 94"/>
              <p:cNvSpPr>
                <a:spLocks noChangeShapeType="1"/>
              </p:cNvSpPr>
              <p:nvPr/>
            </p:nvSpPr>
            <p:spPr bwMode="auto">
              <a:xfrm flipH="1" flipV="1">
                <a:off x="4928" y="2584"/>
                <a:ext cx="6" cy="1016"/>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5384" name="Line 95"/>
              <p:cNvSpPr>
                <a:spLocks noChangeShapeType="1"/>
              </p:cNvSpPr>
              <p:nvPr/>
            </p:nvSpPr>
            <p:spPr bwMode="auto">
              <a:xfrm flipH="1" flipV="1">
                <a:off x="4361" y="2263"/>
                <a:ext cx="11" cy="1159"/>
              </a:xfrm>
              <a:prstGeom prst="line">
                <a:avLst/>
              </a:prstGeom>
              <a:noFill/>
              <a:ln w="28575">
                <a:solidFill>
                  <a:schemeClr val="accent2"/>
                </a:solidFill>
                <a:round/>
                <a:headEnd type="triangle" w="med" len="med"/>
                <a:tailEnd type="triangle" w="med" len="med"/>
              </a:ln>
            </p:spPr>
            <p:txBody>
              <a:bodyPr wrap="none" anchor="ctr"/>
              <a:lstStyle/>
              <a:p>
                <a:endParaRPr lang="en-GB"/>
              </a:p>
            </p:txBody>
          </p:sp>
        </p:grpSp>
        <p:sp>
          <p:nvSpPr>
            <p:cNvPr id="15381" name="Text Box 96"/>
            <p:cNvSpPr txBox="1">
              <a:spLocks noChangeArrowheads="1"/>
            </p:cNvSpPr>
            <p:nvPr/>
          </p:nvSpPr>
          <p:spPr bwMode="auto">
            <a:xfrm>
              <a:off x="4300" y="1812"/>
              <a:ext cx="1083" cy="366"/>
            </a:xfrm>
            <a:prstGeom prst="rect">
              <a:avLst/>
            </a:prstGeom>
            <a:noFill/>
            <a:ln w="28575">
              <a:noFill/>
              <a:miter lim="800000"/>
              <a:headEnd/>
              <a:tailEnd/>
            </a:ln>
          </p:spPr>
          <p:txBody>
            <a:bodyPr anchor="ctr">
              <a:spAutoFit/>
            </a:bodyPr>
            <a:lstStyle/>
            <a:p>
              <a:pPr algn="ctr"/>
              <a:r>
                <a:rPr lang="en-GB">
                  <a:solidFill>
                    <a:srgbClr val="242492"/>
                  </a:solidFill>
                </a:rPr>
                <a:t>summation of amplitudes</a:t>
              </a:r>
              <a:endParaRPr lang="en-GB"/>
            </a:p>
          </p:txBody>
        </p:sp>
      </p:grpSp>
      <p:grpSp>
        <p:nvGrpSpPr>
          <p:cNvPr id="15372" name="Group 97"/>
          <p:cNvGrpSpPr>
            <a:grpSpLocks/>
          </p:cNvGrpSpPr>
          <p:nvPr/>
        </p:nvGrpSpPr>
        <p:grpSpPr bwMode="auto">
          <a:xfrm>
            <a:off x="436563" y="4641850"/>
            <a:ext cx="1354137" cy="581025"/>
            <a:chOff x="275" y="2924"/>
            <a:chExt cx="853" cy="366"/>
          </a:xfrm>
        </p:grpSpPr>
        <p:sp>
          <p:nvSpPr>
            <p:cNvPr id="15378" name="Text Box 98"/>
            <p:cNvSpPr txBox="1">
              <a:spLocks noChangeArrowheads="1"/>
            </p:cNvSpPr>
            <p:nvPr/>
          </p:nvSpPr>
          <p:spPr bwMode="auto">
            <a:xfrm>
              <a:off x="275" y="2924"/>
              <a:ext cx="853" cy="366"/>
            </a:xfrm>
            <a:prstGeom prst="rect">
              <a:avLst/>
            </a:prstGeom>
            <a:noFill/>
            <a:ln w="9525">
              <a:noFill/>
              <a:miter lim="800000"/>
              <a:headEnd/>
              <a:tailEnd/>
            </a:ln>
          </p:spPr>
          <p:txBody>
            <a:bodyPr wrap="none" anchor="ctr">
              <a:spAutoFit/>
            </a:bodyPr>
            <a:lstStyle/>
            <a:p>
              <a:r>
                <a:rPr lang="en-GB">
                  <a:solidFill>
                    <a:srgbClr val="CC6600"/>
                  </a:solidFill>
                </a:rPr>
                <a:t>f = </a:t>
              </a:r>
              <a:r>
                <a:rPr lang="en-GB" u="sng">
                  <a:solidFill>
                    <a:srgbClr val="CC6600"/>
                  </a:solidFill>
                </a:rPr>
                <a:t>1</a:t>
              </a:r>
              <a:r>
                <a:rPr lang="en-GB">
                  <a:solidFill>
                    <a:srgbClr val="CC6600"/>
                  </a:solidFill>
                </a:rPr>
                <a:t>sin(5x)</a:t>
              </a:r>
            </a:p>
            <a:p>
              <a:r>
                <a:rPr lang="en-GB">
                  <a:solidFill>
                    <a:srgbClr val="CC6600"/>
                  </a:solidFill>
                </a:rPr>
                <a:t>      5</a:t>
              </a:r>
              <a:endParaRPr lang="en-GB"/>
            </a:p>
          </p:txBody>
        </p:sp>
        <p:sp>
          <p:nvSpPr>
            <p:cNvPr id="15379" name="Line 99"/>
            <p:cNvSpPr>
              <a:spLocks noChangeShapeType="1"/>
            </p:cNvSpPr>
            <p:nvPr/>
          </p:nvSpPr>
          <p:spPr bwMode="auto">
            <a:xfrm>
              <a:off x="930" y="3138"/>
              <a:ext cx="162" cy="48"/>
            </a:xfrm>
            <a:prstGeom prst="line">
              <a:avLst/>
            </a:prstGeom>
            <a:noFill/>
            <a:ln w="12700">
              <a:solidFill>
                <a:schemeClr val="tx1"/>
              </a:solidFill>
              <a:round/>
              <a:headEnd/>
              <a:tailEnd type="triangle" w="med" len="med"/>
            </a:ln>
          </p:spPr>
          <p:txBody>
            <a:bodyPr wrap="none" anchor="ctr"/>
            <a:lstStyle/>
            <a:p>
              <a:endParaRPr lang="en-GB"/>
            </a:p>
          </p:txBody>
        </p:sp>
      </p:grpSp>
      <p:grpSp>
        <p:nvGrpSpPr>
          <p:cNvPr id="15373" name="Group 100"/>
          <p:cNvGrpSpPr>
            <a:grpSpLocks/>
          </p:cNvGrpSpPr>
          <p:nvPr/>
        </p:nvGrpSpPr>
        <p:grpSpPr bwMode="auto">
          <a:xfrm>
            <a:off x="439738" y="2986088"/>
            <a:ext cx="1379537" cy="581025"/>
            <a:chOff x="277" y="1881"/>
            <a:chExt cx="869" cy="366"/>
          </a:xfrm>
        </p:grpSpPr>
        <p:sp>
          <p:nvSpPr>
            <p:cNvPr id="15376" name="Text Box 101"/>
            <p:cNvSpPr txBox="1">
              <a:spLocks noChangeArrowheads="1"/>
            </p:cNvSpPr>
            <p:nvPr/>
          </p:nvSpPr>
          <p:spPr bwMode="auto">
            <a:xfrm>
              <a:off x="277" y="1881"/>
              <a:ext cx="853" cy="366"/>
            </a:xfrm>
            <a:prstGeom prst="rect">
              <a:avLst/>
            </a:prstGeom>
            <a:noFill/>
            <a:ln w="9525">
              <a:noFill/>
              <a:miter lim="800000"/>
              <a:headEnd/>
              <a:tailEnd/>
            </a:ln>
          </p:spPr>
          <p:txBody>
            <a:bodyPr wrap="none" anchor="ctr">
              <a:spAutoFit/>
            </a:bodyPr>
            <a:lstStyle/>
            <a:p>
              <a:r>
                <a:rPr lang="en-GB">
                  <a:solidFill>
                    <a:schemeClr val="accent1"/>
                  </a:solidFill>
                </a:rPr>
                <a:t>f = </a:t>
              </a:r>
              <a:r>
                <a:rPr lang="en-GB" u="sng">
                  <a:solidFill>
                    <a:schemeClr val="accent1"/>
                  </a:solidFill>
                </a:rPr>
                <a:t>1</a:t>
              </a:r>
              <a:r>
                <a:rPr lang="en-GB">
                  <a:solidFill>
                    <a:schemeClr val="accent1"/>
                  </a:solidFill>
                </a:rPr>
                <a:t>sin(3x)</a:t>
              </a:r>
            </a:p>
            <a:p>
              <a:r>
                <a:rPr lang="en-GB">
                  <a:solidFill>
                    <a:schemeClr val="accent1"/>
                  </a:solidFill>
                </a:rPr>
                <a:t>      3</a:t>
              </a:r>
              <a:endParaRPr lang="en-GB"/>
            </a:p>
          </p:txBody>
        </p:sp>
        <p:sp>
          <p:nvSpPr>
            <p:cNvPr id="15377" name="Line 102"/>
            <p:cNvSpPr>
              <a:spLocks noChangeShapeType="1"/>
            </p:cNvSpPr>
            <p:nvPr/>
          </p:nvSpPr>
          <p:spPr bwMode="auto">
            <a:xfrm flipV="1">
              <a:off x="900" y="2064"/>
              <a:ext cx="246" cy="12"/>
            </a:xfrm>
            <a:prstGeom prst="line">
              <a:avLst/>
            </a:prstGeom>
            <a:noFill/>
            <a:ln w="12700">
              <a:solidFill>
                <a:schemeClr val="tx1"/>
              </a:solidFill>
              <a:round/>
              <a:headEnd/>
              <a:tailEnd type="triangle" w="med" len="med"/>
            </a:ln>
          </p:spPr>
          <p:txBody>
            <a:bodyPr wrap="none" anchor="ctr"/>
            <a:lstStyle/>
            <a:p>
              <a:endParaRPr lang="en-GB"/>
            </a:p>
          </p:txBody>
        </p:sp>
      </p:grpSp>
      <p:sp>
        <p:nvSpPr>
          <p:cNvPr id="15374" name="Text Box 103"/>
          <p:cNvSpPr txBox="1">
            <a:spLocks noChangeArrowheads="1"/>
          </p:cNvSpPr>
          <p:nvPr/>
        </p:nvSpPr>
        <p:spPr bwMode="auto">
          <a:xfrm>
            <a:off x="444500" y="3843338"/>
            <a:ext cx="2511425" cy="581025"/>
          </a:xfrm>
          <a:prstGeom prst="rect">
            <a:avLst/>
          </a:prstGeom>
          <a:solidFill>
            <a:schemeClr val="bg1"/>
          </a:solidFill>
          <a:ln w="28575">
            <a:noFill/>
            <a:miter lim="800000"/>
            <a:headEnd/>
            <a:tailEnd/>
          </a:ln>
        </p:spPr>
        <p:txBody>
          <a:bodyPr anchor="ctr">
            <a:spAutoFit/>
          </a:bodyPr>
          <a:lstStyle/>
          <a:p>
            <a:r>
              <a:rPr lang="en-GB">
                <a:solidFill>
                  <a:srgbClr val="FF0000"/>
                </a:solidFill>
              </a:rPr>
              <a:t>f = sin(x) + </a:t>
            </a:r>
            <a:r>
              <a:rPr lang="en-GB" u="sng">
                <a:solidFill>
                  <a:srgbClr val="FF0000"/>
                </a:solidFill>
              </a:rPr>
              <a:t>1</a:t>
            </a:r>
            <a:r>
              <a:rPr lang="en-GB">
                <a:solidFill>
                  <a:srgbClr val="FF0000"/>
                </a:solidFill>
              </a:rPr>
              <a:t>sin(3x)                            	    3</a:t>
            </a:r>
            <a:r>
              <a:rPr lang="en-GB"/>
              <a:t> </a:t>
            </a:r>
          </a:p>
        </p:txBody>
      </p:sp>
      <p:sp>
        <p:nvSpPr>
          <p:cNvPr id="15375" name="Text Box 104"/>
          <p:cNvSpPr txBox="1">
            <a:spLocks noChangeArrowheads="1"/>
          </p:cNvSpPr>
          <p:nvPr/>
        </p:nvSpPr>
        <p:spPr bwMode="auto">
          <a:xfrm>
            <a:off x="430213" y="366713"/>
            <a:ext cx="3132137" cy="457200"/>
          </a:xfrm>
          <a:prstGeom prst="rect">
            <a:avLst/>
          </a:prstGeom>
          <a:noFill/>
          <a:ln w="9525">
            <a:noFill/>
            <a:miter lim="800000"/>
            <a:headEnd/>
            <a:tailEnd/>
          </a:ln>
        </p:spPr>
        <p:txBody>
          <a:bodyPr wrap="none" anchor="ctr">
            <a:spAutoFit/>
          </a:bodyPr>
          <a:lstStyle/>
          <a:p>
            <a:pPr algn="ctr"/>
            <a:r>
              <a:rPr lang="en-GB" sz="2400" b="1"/>
              <a:t>Waveform Synthesis</a:t>
            </a:r>
          </a:p>
        </p:txBody>
      </p:sp>
    </p:spTree>
    <p:extLst>
      <p:ext uri="{BB962C8B-B14F-4D97-AF65-F5344CB8AC3E}">
        <p14:creationId xmlns:p14="http://schemas.microsoft.com/office/powerpoint/2010/main" val="10426602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reeform 2"/>
          <p:cNvSpPr>
            <a:spLocks/>
          </p:cNvSpPr>
          <p:nvPr/>
        </p:nvSpPr>
        <p:spPr bwMode="auto">
          <a:xfrm>
            <a:off x="1601788" y="933450"/>
            <a:ext cx="3541712" cy="1658938"/>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sp>
        <p:nvSpPr>
          <p:cNvPr id="16387" name="Text Box 4"/>
          <p:cNvSpPr txBox="1">
            <a:spLocks noChangeArrowheads="1"/>
          </p:cNvSpPr>
          <p:nvPr/>
        </p:nvSpPr>
        <p:spPr bwMode="auto">
          <a:xfrm>
            <a:off x="385763" y="1231900"/>
            <a:ext cx="1096962" cy="336550"/>
          </a:xfrm>
          <a:prstGeom prst="rect">
            <a:avLst/>
          </a:prstGeom>
          <a:noFill/>
          <a:ln w="9525">
            <a:noFill/>
            <a:miter lim="800000"/>
            <a:headEnd/>
            <a:tailEnd/>
          </a:ln>
        </p:spPr>
        <p:txBody>
          <a:bodyPr wrap="none" anchor="ctr">
            <a:spAutoFit/>
          </a:bodyPr>
          <a:lstStyle/>
          <a:p>
            <a:pPr algn="ctr"/>
            <a:r>
              <a:rPr lang="en-GB"/>
              <a:t>f = sin(x)</a:t>
            </a:r>
          </a:p>
        </p:txBody>
      </p:sp>
      <p:grpSp>
        <p:nvGrpSpPr>
          <p:cNvPr id="16388" name="Group 5"/>
          <p:cNvGrpSpPr>
            <a:grpSpLocks/>
          </p:cNvGrpSpPr>
          <p:nvPr/>
        </p:nvGrpSpPr>
        <p:grpSpPr bwMode="auto">
          <a:xfrm>
            <a:off x="5135563" y="919163"/>
            <a:ext cx="3541712" cy="1660525"/>
            <a:chOff x="3263" y="625"/>
            <a:chExt cx="2256" cy="826"/>
          </a:xfrm>
        </p:grpSpPr>
        <p:sp>
          <p:nvSpPr>
            <p:cNvPr id="16484" name="Rectangle 6"/>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5" name="Rectangle 7"/>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6" name="Rectangle 8"/>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7" name="Rectangle 9"/>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8" name="Rectangle 10"/>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9" name="Rectangle 11"/>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90" name="Rectangle 12"/>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91" name="Rectangle 13"/>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6389" name="Freeform 14"/>
          <p:cNvSpPr>
            <a:spLocks/>
          </p:cNvSpPr>
          <p:nvPr/>
        </p:nvSpPr>
        <p:spPr bwMode="auto">
          <a:xfrm>
            <a:off x="5133975" y="919163"/>
            <a:ext cx="3541713" cy="1660525"/>
          </a:xfrm>
          <a:custGeom>
            <a:avLst/>
            <a:gdLst>
              <a:gd name="T0" fmla="*/ 0 w 1536"/>
              <a:gd name="T1" fmla="*/ 2147483647 h 1632"/>
              <a:gd name="T2" fmla="*/ 2147483647 w 1536"/>
              <a:gd name="T3" fmla="*/ 0 h 1632"/>
              <a:gd name="T4" fmla="*/ 2147483647 w 1536"/>
              <a:gd name="T5" fmla="*/ 2147483647 h 1632"/>
              <a:gd name="T6" fmla="*/ 2147483647 w 1536"/>
              <a:gd name="T7" fmla="*/ 2147483647 h 1632"/>
              <a:gd name="T8" fmla="*/ 2147483647 w 1536"/>
              <a:gd name="T9" fmla="*/ 2147483647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tx1"/>
            </a:solidFill>
            <a:prstDash val="solid"/>
            <a:round/>
            <a:headEnd type="none" w="med" len="med"/>
            <a:tailEnd type="triangle" w="med" len="med"/>
          </a:ln>
        </p:spPr>
        <p:txBody>
          <a:bodyPr wrap="none" anchor="ctr"/>
          <a:lstStyle/>
          <a:p>
            <a:endParaRPr lang="en-GB"/>
          </a:p>
        </p:txBody>
      </p:sp>
      <p:grpSp>
        <p:nvGrpSpPr>
          <p:cNvPr id="16390" name="Group 15"/>
          <p:cNvGrpSpPr>
            <a:grpSpLocks/>
          </p:cNvGrpSpPr>
          <p:nvPr/>
        </p:nvGrpSpPr>
        <p:grpSpPr bwMode="auto">
          <a:xfrm>
            <a:off x="1574800" y="2651125"/>
            <a:ext cx="7138988" cy="1676400"/>
            <a:chOff x="992" y="1670"/>
            <a:chExt cx="4497" cy="1056"/>
          </a:xfrm>
        </p:grpSpPr>
        <p:grpSp>
          <p:nvGrpSpPr>
            <p:cNvPr id="16460" name="Group 16"/>
            <p:cNvGrpSpPr>
              <a:grpSpLocks/>
            </p:cNvGrpSpPr>
            <p:nvPr/>
          </p:nvGrpSpPr>
          <p:grpSpPr bwMode="auto">
            <a:xfrm>
              <a:off x="992" y="1670"/>
              <a:ext cx="2256" cy="1056"/>
              <a:chOff x="3263" y="625"/>
              <a:chExt cx="2256" cy="826"/>
            </a:xfrm>
          </p:grpSpPr>
          <p:sp>
            <p:nvSpPr>
              <p:cNvPr id="16476" name="Rectangle 1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7" name="Rectangle 1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8" name="Rectangle 1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9" name="Rectangle 2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0" name="Rectangle 2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1" name="Rectangle 2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2" name="Rectangle 2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83" name="Rectangle 2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6461" name="Freeform 25"/>
            <p:cNvSpPr>
              <a:spLocks/>
            </p:cNvSpPr>
            <p:nvPr/>
          </p:nvSpPr>
          <p:spPr bwMode="auto">
            <a:xfrm>
              <a:off x="1007" y="204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nvGrpSpPr>
            <p:cNvPr id="16462" name="Group 26"/>
            <p:cNvGrpSpPr>
              <a:grpSpLocks/>
            </p:cNvGrpSpPr>
            <p:nvPr/>
          </p:nvGrpSpPr>
          <p:grpSpPr bwMode="auto">
            <a:xfrm>
              <a:off x="3233" y="1670"/>
              <a:ext cx="2256" cy="1056"/>
              <a:chOff x="3263" y="625"/>
              <a:chExt cx="2256" cy="826"/>
            </a:xfrm>
          </p:grpSpPr>
          <p:sp>
            <p:nvSpPr>
              <p:cNvPr id="16468" name="Rectangle 27"/>
              <p:cNvSpPr>
                <a:spLocks noChangeArrowheads="1"/>
              </p:cNvSpPr>
              <p:nvPr/>
            </p:nvSpPr>
            <p:spPr bwMode="auto">
              <a:xfrm>
                <a:off x="3827"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69" name="Rectangle 28"/>
              <p:cNvSpPr>
                <a:spLocks noChangeArrowheads="1"/>
              </p:cNvSpPr>
              <p:nvPr/>
            </p:nvSpPr>
            <p:spPr bwMode="auto">
              <a:xfrm>
                <a:off x="4391"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0" name="Rectangle 29"/>
              <p:cNvSpPr>
                <a:spLocks noChangeArrowheads="1"/>
              </p:cNvSpPr>
              <p:nvPr/>
            </p:nvSpPr>
            <p:spPr bwMode="auto">
              <a:xfrm>
                <a:off x="4955"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1" name="Rectangle 30"/>
              <p:cNvSpPr>
                <a:spLocks noChangeArrowheads="1"/>
              </p:cNvSpPr>
              <p:nvPr/>
            </p:nvSpPr>
            <p:spPr bwMode="auto">
              <a:xfrm>
                <a:off x="3263" y="625"/>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2" name="Rectangle 31"/>
              <p:cNvSpPr>
                <a:spLocks noChangeArrowheads="1"/>
              </p:cNvSpPr>
              <p:nvPr/>
            </p:nvSpPr>
            <p:spPr bwMode="auto">
              <a:xfrm>
                <a:off x="3827"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3" name="Rectangle 32"/>
              <p:cNvSpPr>
                <a:spLocks noChangeArrowheads="1"/>
              </p:cNvSpPr>
              <p:nvPr/>
            </p:nvSpPr>
            <p:spPr bwMode="auto">
              <a:xfrm>
                <a:off x="4391"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4" name="Rectangle 33"/>
              <p:cNvSpPr>
                <a:spLocks noChangeArrowheads="1"/>
              </p:cNvSpPr>
              <p:nvPr/>
            </p:nvSpPr>
            <p:spPr bwMode="auto">
              <a:xfrm>
                <a:off x="4955"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75" name="Rectangle 34"/>
              <p:cNvSpPr>
                <a:spLocks noChangeArrowheads="1"/>
              </p:cNvSpPr>
              <p:nvPr/>
            </p:nvSpPr>
            <p:spPr bwMode="auto">
              <a:xfrm>
                <a:off x="3263" y="1038"/>
                <a:ext cx="564" cy="413"/>
              </a:xfrm>
              <a:prstGeom prst="rect">
                <a:avLst/>
              </a:prstGeom>
              <a:solidFill>
                <a:srgbClr val="FFFFFF"/>
              </a:solidFill>
              <a:ln w="9525">
                <a:solidFill>
                  <a:srgbClr val="99CCFF"/>
                </a:solidFill>
                <a:miter lim="800000"/>
                <a:headEnd/>
                <a:tailEnd/>
              </a:ln>
            </p:spPr>
            <p:txBody>
              <a:bodyPr wrap="none" anchor="ctr"/>
              <a:lstStyle/>
              <a:p>
                <a:endParaRPr lang="en-US"/>
              </a:p>
            </p:txBody>
          </p:sp>
        </p:grpSp>
        <p:sp>
          <p:nvSpPr>
            <p:cNvPr id="16463" name="Freeform 35"/>
            <p:cNvSpPr>
              <a:spLocks/>
            </p:cNvSpPr>
            <p:nvPr/>
          </p:nvSpPr>
          <p:spPr bwMode="auto">
            <a:xfrm>
              <a:off x="1751" y="2025"/>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6464" name="Freeform 36"/>
            <p:cNvSpPr>
              <a:spLocks/>
            </p:cNvSpPr>
            <p:nvPr/>
          </p:nvSpPr>
          <p:spPr bwMode="auto">
            <a:xfrm>
              <a:off x="2503" y="2026"/>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6465" name="Freeform 37"/>
            <p:cNvSpPr>
              <a:spLocks/>
            </p:cNvSpPr>
            <p:nvPr/>
          </p:nvSpPr>
          <p:spPr bwMode="auto">
            <a:xfrm>
              <a:off x="3240" y="2041"/>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6466" name="Freeform 38"/>
            <p:cNvSpPr>
              <a:spLocks/>
            </p:cNvSpPr>
            <p:nvPr/>
          </p:nvSpPr>
          <p:spPr bwMode="auto">
            <a:xfrm>
              <a:off x="3984" y="2018"/>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sp>
          <p:nvSpPr>
            <p:cNvPr id="16467" name="Freeform 39"/>
            <p:cNvSpPr>
              <a:spLocks/>
            </p:cNvSpPr>
            <p:nvPr/>
          </p:nvSpPr>
          <p:spPr bwMode="auto">
            <a:xfrm>
              <a:off x="4736" y="2019"/>
              <a:ext cx="734" cy="445"/>
            </a:xfrm>
            <a:custGeom>
              <a:avLst/>
              <a:gdLst>
                <a:gd name="T0" fmla="*/ 0 w 1536"/>
                <a:gd name="T1" fmla="*/ 1 h 1632"/>
                <a:gd name="T2" fmla="*/ 10 w 1536"/>
                <a:gd name="T3" fmla="*/ 0 h 1632"/>
                <a:gd name="T4" fmla="*/ 19 w 1536"/>
                <a:gd name="T5" fmla="*/ 1 h 1632"/>
                <a:gd name="T6" fmla="*/ 29 w 1536"/>
                <a:gd name="T7" fmla="*/ 2 h 1632"/>
                <a:gd name="T8" fmla="*/ 38 w 1536"/>
                <a:gd name="T9" fmla="*/ 1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chemeClr val="accent1"/>
              </a:solidFill>
              <a:prstDash val="solid"/>
              <a:round/>
              <a:headEnd type="none" w="med" len="med"/>
              <a:tailEnd type="triangle" w="med" len="med"/>
            </a:ln>
          </p:spPr>
          <p:txBody>
            <a:bodyPr wrap="none" anchor="ctr"/>
            <a:lstStyle/>
            <a:p>
              <a:endParaRPr lang="en-GB"/>
            </a:p>
          </p:txBody>
        </p:sp>
      </p:grpSp>
      <p:grpSp>
        <p:nvGrpSpPr>
          <p:cNvPr id="16391" name="Group 40"/>
          <p:cNvGrpSpPr>
            <a:grpSpLocks/>
          </p:cNvGrpSpPr>
          <p:nvPr/>
        </p:nvGrpSpPr>
        <p:grpSpPr bwMode="auto">
          <a:xfrm>
            <a:off x="1577975" y="2541588"/>
            <a:ext cx="7092950" cy="1879600"/>
            <a:chOff x="995" y="2396"/>
            <a:chExt cx="4468" cy="926"/>
          </a:xfrm>
        </p:grpSpPr>
        <p:sp>
          <p:nvSpPr>
            <p:cNvPr id="16456" name="Freeform 41"/>
            <p:cNvSpPr>
              <a:spLocks/>
            </p:cNvSpPr>
            <p:nvPr/>
          </p:nvSpPr>
          <p:spPr bwMode="auto">
            <a:xfrm>
              <a:off x="995" y="240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6457" name="Freeform 42"/>
            <p:cNvSpPr>
              <a:spLocks/>
            </p:cNvSpPr>
            <p:nvPr/>
          </p:nvSpPr>
          <p:spPr bwMode="auto">
            <a:xfrm>
              <a:off x="3218" y="2396"/>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6458" name="Freeform 43"/>
            <p:cNvSpPr>
              <a:spLocks/>
            </p:cNvSpPr>
            <p:nvPr/>
          </p:nvSpPr>
          <p:spPr bwMode="auto">
            <a:xfrm flipV="1">
              <a:off x="4347" y="2849"/>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sp>
          <p:nvSpPr>
            <p:cNvPr id="16459" name="Freeform 44"/>
            <p:cNvSpPr>
              <a:spLocks/>
            </p:cNvSpPr>
            <p:nvPr/>
          </p:nvSpPr>
          <p:spPr bwMode="auto">
            <a:xfrm flipV="1">
              <a:off x="2114" y="2834"/>
              <a:ext cx="1116" cy="473"/>
            </a:xfrm>
            <a:custGeom>
              <a:avLst/>
              <a:gdLst>
                <a:gd name="T0" fmla="*/ 0 w 1116"/>
                <a:gd name="T1" fmla="*/ 473 h 473"/>
                <a:gd name="T2" fmla="*/ 168 w 1116"/>
                <a:gd name="T3" fmla="*/ 54 h 473"/>
                <a:gd name="T4" fmla="*/ 547 w 1116"/>
                <a:gd name="T5" fmla="*/ 169 h 473"/>
                <a:gd name="T6" fmla="*/ 912 w 1116"/>
                <a:gd name="T7" fmla="*/ 47 h 473"/>
                <a:gd name="T8" fmla="*/ 1116 w 1116"/>
                <a:gd name="T9" fmla="*/ 450 h 473"/>
                <a:gd name="T10" fmla="*/ 0 60000 65536"/>
                <a:gd name="T11" fmla="*/ 0 60000 65536"/>
                <a:gd name="T12" fmla="*/ 0 60000 65536"/>
                <a:gd name="T13" fmla="*/ 0 60000 65536"/>
                <a:gd name="T14" fmla="*/ 0 60000 65536"/>
                <a:gd name="T15" fmla="*/ 0 w 1116"/>
                <a:gd name="T16" fmla="*/ 0 h 473"/>
                <a:gd name="T17" fmla="*/ 1116 w 1116"/>
                <a:gd name="T18" fmla="*/ 473 h 473"/>
              </a:gdLst>
              <a:ahLst/>
              <a:cxnLst>
                <a:cxn ang="T10">
                  <a:pos x="T0" y="T1"/>
                </a:cxn>
                <a:cxn ang="T11">
                  <a:pos x="T2" y="T3"/>
                </a:cxn>
                <a:cxn ang="T12">
                  <a:pos x="T4" y="T5"/>
                </a:cxn>
                <a:cxn ang="T13">
                  <a:pos x="T6" y="T7"/>
                </a:cxn>
                <a:cxn ang="T14">
                  <a:pos x="T8" y="T9"/>
                </a:cxn>
              </a:cxnLst>
              <a:rect l="T15" t="T16" r="T17" b="T18"/>
              <a:pathLst>
                <a:path w="1116" h="473">
                  <a:moveTo>
                    <a:pt x="0" y="473"/>
                  </a:moveTo>
                  <a:cubicBezTo>
                    <a:pt x="28" y="403"/>
                    <a:pt x="77" y="105"/>
                    <a:pt x="168" y="54"/>
                  </a:cubicBezTo>
                  <a:cubicBezTo>
                    <a:pt x="259" y="3"/>
                    <a:pt x="423" y="170"/>
                    <a:pt x="547" y="169"/>
                  </a:cubicBezTo>
                  <a:cubicBezTo>
                    <a:pt x="671" y="168"/>
                    <a:pt x="817" y="0"/>
                    <a:pt x="912" y="47"/>
                  </a:cubicBezTo>
                  <a:cubicBezTo>
                    <a:pt x="1007" y="94"/>
                    <a:pt x="1074" y="366"/>
                    <a:pt x="1116" y="450"/>
                  </a:cubicBezTo>
                </a:path>
              </a:pathLst>
            </a:custGeom>
            <a:noFill/>
            <a:ln w="38100" cap="flat" cmpd="sng">
              <a:solidFill>
                <a:srgbClr val="FF0000"/>
              </a:solidFill>
              <a:prstDash val="solid"/>
              <a:round/>
              <a:headEnd/>
              <a:tailEnd/>
            </a:ln>
          </p:spPr>
          <p:txBody>
            <a:bodyPr wrap="none" anchor="ctr"/>
            <a:lstStyle/>
            <a:p>
              <a:endParaRPr lang="en-GB"/>
            </a:p>
          </p:txBody>
        </p:sp>
      </p:grpSp>
      <p:grpSp>
        <p:nvGrpSpPr>
          <p:cNvPr id="16392" name="Group 45"/>
          <p:cNvGrpSpPr>
            <a:grpSpLocks/>
          </p:cNvGrpSpPr>
          <p:nvPr/>
        </p:nvGrpSpPr>
        <p:grpSpPr bwMode="auto">
          <a:xfrm>
            <a:off x="2459038" y="928688"/>
            <a:ext cx="3014662" cy="3013075"/>
            <a:chOff x="1549" y="585"/>
            <a:chExt cx="1899" cy="1898"/>
          </a:xfrm>
        </p:grpSpPr>
        <p:grpSp>
          <p:nvGrpSpPr>
            <p:cNvPr id="16451" name="Group 46"/>
            <p:cNvGrpSpPr>
              <a:grpSpLocks/>
            </p:cNvGrpSpPr>
            <p:nvPr/>
          </p:nvGrpSpPr>
          <p:grpSpPr bwMode="auto">
            <a:xfrm>
              <a:off x="1549" y="585"/>
              <a:ext cx="1129" cy="1898"/>
              <a:chOff x="1549" y="585"/>
              <a:chExt cx="1129" cy="1898"/>
            </a:xfrm>
          </p:grpSpPr>
          <p:sp>
            <p:nvSpPr>
              <p:cNvPr id="16453" name="Line 47"/>
              <p:cNvSpPr>
                <a:spLocks noChangeShapeType="1"/>
              </p:cNvSpPr>
              <p:nvPr/>
            </p:nvSpPr>
            <p:spPr bwMode="auto">
              <a:xfrm flipV="1">
                <a:off x="1549" y="585"/>
                <a:ext cx="0" cy="1898"/>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6454" name="Line 48"/>
              <p:cNvSpPr>
                <a:spLocks noChangeShapeType="1"/>
              </p:cNvSpPr>
              <p:nvPr/>
            </p:nvSpPr>
            <p:spPr bwMode="auto">
              <a:xfrm flipV="1">
                <a:off x="2678" y="1630"/>
                <a:ext cx="0" cy="380"/>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6455" name="Line 49"/>
              <p:cNvSpPr>
                <a:spLocks noChangeShapeType="1"/>
              </p:cNvSpPr>
              <p:nvPr/>
            </p:nvSpPr>
            <p:spPr bwMode="auto">
              <a:xfrm flipV="1">
                <a:off x="2122" y="1123"/>
                <a:ext cx="7" cy="1093"/>
              </a:xfrm>
              <a:prstGeom prst="line">
                <a:avLst/>
              </a:prstGeom>
              <a:noFill/>
              <a:ln w="28575">
                <a:solidFill>
                  <a:schemeClr val="accent2"/>
                </a:solidFill>
                <a:round/>
                <a:headEnd type="triangle" w="med" len="med"/>
                <a:tailEnd type="triangle" w="med" len="med"/>
              </a:ln>
            </p:spPr>
            <p:txBody>
              <a:bodyPr wrap="none" anchor="ctr"/>
              <a:lstStyle/>
              <a:p>
                <a:endParaRPr lang="en-GB"/>
              </a:p>
            </p:txBody>
          </p:sp>
        </p:grpSp>
        <p:sp>
          <p:nvSpPr>
            <p:cNvPr id="16452" name="Text Box 50"/>
            <p:cNvSpPr txBox="1">
              <a:spLocks noChangeArrowheads="1"/>
            </p:cNvSpPr>
            <p:nvPr/>
          </p:nvSpPr>
          <p:spPr bwMode="auto">
            <a:xfrm>
              <a:off x="1736" y="866"/>
              <a:ext cx="1712" cy="212"/>
            </a:xfrm>
            <a:prstGeom prst="rect">
              <a:avLst/>
            </a:prstGeom>
            <a:noFill/>
            <a:ln w="28575">
              <a:noFill/>
              <a:miter lim="800000"/>
              <a:headEnd/>
              <a:tailEnd/>
            </a:ln>
          </p:spPr>
          <p:txBody>
            <a:bodyPr wrap="none" anchor="ctr">
              <a:spAutoFit/>
            </a:bodyPr>
            <a:lstStyle/>
            <a:p>
              <a:pPr algn="ctr"/>
              <a:r>
                <a:rPr lang="en-GB">
                  <a:solidFill>
                    <a:srgbClr val="242492"/>
                  </a:solidFill>
                </a:rPr>
                <a:t>summation of amplitudes</a:t>
              </a:r>
            </a:p>
          </p:txBody>
        </p:sp>
      </p:grpSp>
      <p:sp>
        <p:nvSpPr>
          <p:cNvPr id="16437" name="Rectangle 53"/>
          <p:cNvSpPr>
            <a:spLocks noChangeArrowheads="1"/>
          </p:cNvSpPr>
          <p:nvPr/>
        </p:nvSpPr>
        <p:spPr bwMode="auto">
          <a:xfrm>
            <a:off x="60515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38" name="Rectangle 54"/>
          <p:cNvSpPr>
            <a:spLocks noChangeArrowheads="1"/>
          </p:cNvSpPr>
          <p:nvPr/>
        </p:nvSpPr>
        <p:spPr bwMode="auto">
          <a:xfrm>
            <a:off x="69469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39" name="Rectangle 55"/>
          <p:cNvSpPr>
            <a:spLocks noChangeArrowheads="1"/>
          </p:cNvSpPr>
          <p:nvPr/>
        </p:nvSpPr>
        <p:spPr bwMode="auto">
          <a:xfrm>
            <a:off x="78422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40" name="Rectangle 56"/>
          <p:cNvSpPr>
            <a:spLocks noChangeArrowheads="1"/>
          </p:cNvSpPr>
          <p:nvPr/>
        </p:nvSpPr>
        <p:spPr bwMode="auto">
          <a:xfrm>
            <a:off x="51562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41" name="Rectangle 57"/>
          <p:cNvSpPr>
            <a:spLocks noChangeArrowheads="1"/>
          </p:cNvSpPr>
          <p:nvPr/>
        </p:nvSpPr>
        <p:spPr bwMode="auto">
          <a:xfrm>
            <a:off x="60515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42" name="Rectangle 58"/>
          <p:cNvSpPr>
            <a:spLocks noChangeArrowheads="1"/>
          </p:cNvSpPr>
          <p:nvPr/>
        </p:nvSpPr>
        <p:spPr bwMode="auto">
          <a:xfrm>
            <a:off x="69469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43" name="Rectangle 59"/>
          <p:cNvSpPr>
            <a:spLocks noChangeArrowheads="1"/>
          </p:cNvSpPr>
          <p:nvPr/>
        </p:nvSpPr>
        <p:spPr bwMode="auto">
          <a:xfrm>
            <a:off x="78422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44" name="Rectangle 60"/>
          <p:cNvSpPr>
            <a:spLocks noChangeArrowheads="1"/>
          </p:cNvSpPr>
          <p:nvPr/>
        </p:nvSpPr>
        <p:spPr bwMode="auto">
          <a:xfrm>
            <a:off x="51562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23" name="Rectangle 68"/>
          <p:cNvSpPr>
            <a:spLocks noChangeArrowheads="1"/>
          </p:cNvSpPr>
          <p:nvPr/>
        </p:nvSpPr>
        <p:spPr bwMode="auto">
          <a:xfrm>
            <a:off x="24701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24" name="Rectangle 69"/>
          <p:cNvSpPr>
            <a:spLocks noChangeArrowheads="1"/>
          </p:cNvSpPr>
          <p:nvPr/>
        </p:nvSpPr>
        <p:spPr bwMode="auto">
          <a:xfrm>
            <a:off x="33655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25" name="Rectangle 70"/>
          <p:cNvSpPr>
            <a:spLocks noChangeArrowheads="1"/>
          </p:cNvSpPr>
          <p:nvPr/>
        </p:nvSpPr>
        <p:spPr bwMode="auto">
          <a:xfrm>
            <a:off x="42608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26" name="Rectangle 71"/>
          <p:cNvSpPr>
            <a:spLocks noChangeArrowheads="1"/>
          </p:cNvSpPr>
          <p:nvPr/>
        </p:nvSpPr>
        <p:spPr bwMode="auto">
          <a:xfrm>
            <a:off x="15748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27" name="Rectangle 72"/>
          <p:cNvSpPr>
            <a:spLocks noChangeArrowheads="1"/>
          </p:cNvSpPr>
          <p:nvPr/>
        </p:nvSpPr>
        <p:spPr bwMode="auto">
          <a:xfrm>
            <a:off x="24701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28" name="Rectangle 73"/>
          <p:cNvSpPr>
            <a:spLocks noChangeArrowheads="1"/>
          </p:cNvSpPr>
          <p:nvPr/>
        </p:nvSpPr>
        <p:spPr bwMode="auto">
          <a:xfrm>
            <a:off x="33655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29" name="Rectangle 74"/>
          <p:cNvSpPr>
            <a:spLocks noChangeArrowheads="1"/>
          </p:cNvSpPr>
          <p:nvPr/>
        </p:nvSpPr>
        <p:spPr bwMode="auto">
          <a:xfrm>
            <a:off x="42608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6430" name="Rectangle 75"/>
          <p:cNvSpPr>
            <a:spLocks noChangeArrowheads="1"/>
          </p:cNvSpPr>
          <p:nvPr/>
        </p:nvSpPr>
        <p:spPr bwMode="auto">
          <a:xfrm>
            <a:off x="15748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grpSp>
        <p:nvGrpSpPr>
          <p:cNvPr id="108" name="Group 107"/>
          <p:cNvGrpSpPr/>
          <p:nvPr/>
        </p:nvGrpSpPr>
        <p:grpSpPr>
          <a:xfrm>
            <a:off x="1572986" y="4513263"/>
            <a:ext cx="7164614" cy="1684338"/>
            <a:chOff x="1572986" y="4513263"/>
            <a:chExt cx="7164614" cy="1684338"/>
          </a:xfrm>
        </p:grpSpPr>
        <p:sp>
          <p:nvSpPr>
            <p:cNvPr id="109" name="Rectangle 53"/>
            <p:cNvSpPr>
              <a:spLocks noChangeArrowheads="1"/>
            </p:cNvSpPr>
            <p:nvPr/>
          </p:nvSpPr>
          <p:spPr bwMode="auto">
            <a:xfrm>
              <a:off x="60515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0" name="Rectangle 54"/>
            <p:cNvSpPr>
              <a:spLocks noChangeArrowheads="1"/>
            </p:cNvSpPr>
            <p:nvPr/>
          </p:nvSpPr>
          <p:spPr bwMode="auto">
            <a:xfrm>
              <a:off x="69469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1" name="Rectangle 55"/>
            <p:cNvSpPr>
              <a:spLocks noChangeArrowheads="1"/>
            </p:cNvSpPr>
            <p:nvPr/>
          </p:nvSpPr>
          <p:spPr bwMode="auto">
            <a:xfrm>
              <a:off x="784225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2" name="Rectangle 56"/>
            <p:cNvSpPr>
              <a:spLocks noChangeArrowheads="1"/>
            </p:cNvSpPr>
            <p:nvPr/>
          </p:nvSpPr>
          <p:spPr bwMode="auto">
            <a:xfrm>
              <a:off x="5156200" y="45132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3" name="Rectangle 57"/>
            <p:cNvSpPr>
              <a:spLocks noChangeArrowheads="1"/>
            </p:cNvSpPr>
            <p:nvPr/>
          </p:nvSpPr>
          <p:spPr bwMode="auto">
            <a:xfrm>
              <a:off x="60515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4" name="Rectangle 58"/>
            <p:cNvSpPr>
              <a:spLocks noChangeArrowheads="1"/>
            </p:cNvSpPr>
            <p:nvPr/>
          </p:nvSpPr>
          <p:spPr bwMode="auto">
            <a:xfrm>
              <a:off x="69469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5" name="Rectangle 59"/>
            <p:cNvSpPr>
              <a:spLocks noChangeArrowheads="1"/>
            </p:cNvSpPr>
            <p:nvPr/>
          </p:nvSpPr>
          <p:spPr bwMode="auto">
            <a:xfrm>
              <a:off x="784225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6" name="Rectangle 60"/>
            <p:cNvSpPr>
              <a:spLocks noChangeArrowheads="1"/>
            </p:cNvSpPr>
            <p:nvPr/>
          </p:nvSpPr>
          <p:spPr bwMode="auto">
            <a:xfrm>
              <a:off x="5156200" y="53490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7" name="Rectangle 68"/>
            <p:cNvSpPr>
              <a:spLocks noChangeArrowheads="1"/>
            </p:cNvSpPr>
            <p:nvPr/>
          </p:nvSpPr>
          <p:spPr bwMode="auto">
            <a:xfrm>
              <a:off x="24701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8" name="Rectangle 69"/>
            <p:cNvSpPr>
              <a:spLocks noChangeArrowheads="1"/>
            </p:cNvSpPr>
            <p:nvPr/>
          </p:nvSpPr>
          <p:spPr bwMode="auto">
            <a:xfrm>
              <a:off x="33655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19" name="Rectangle 70"/>
            <p:cNvSpPr>
              <a:spLocks noChangeArrowheads="1"/>
            </p:cNvSpPr>
            <p:nvPr/>
          </p:nvSpPr>
          <p:spPr bwMode="auto">
            <a:xfrm>
              <a:off x="426085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0" name="Rectangle 71"/>
            <p:cNvSpPr>
              <a:spLocks noChangeArrowheads="1"/>
            </p:cNvSpPr>
            <p:nvPr/>
          </p:nvSpPr>
          <p:spPr bwMode="auto">
            <a:xfrm>
              <a:off x="1574800" y="4525963"/>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1" name="Rectangle 72"/>
            <p:cNvSpPr>
              <a:spLocks noChangeArrowheads="1"/>
            </p:cNvSpPr>
            <p:nvPr/>
          </p:nvSpPr>
          <p:spPr bwMode="auto">
            <a:xfrm>
              <a:off x="24701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2" name="Rectangle 73"/>
            <p:cNvSpPr>
              <a:spLocks noChangeArrowheads="1"/>
            </p:cNvSpPr>
            <p:nvPr/>
          </p:nvSpPr>
          <p:spPr bwMode="auto">
            <a:xfrm>
              <a:off x="33655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3" name="Rectangle 74"/>
            <p:cNvSpPr>
              <a:spLocks noChangeArrowheads="1"/>
            </p:cNvSpPr>
            <p:nvPr/>
          </p:nvSpPr>
          <p:spPr bwMode="auto">
            <a:xfrm>
              <a:off x="426085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124" name="Rectangle 75"/>
            <p:cNvSpPr>
              <a:spLocks noChangeArrowheads="1"/>
            </p:cNvSpPr>
            <p:nvPr/>
          </p:nvSpPr>
          <p:spPr bwMode="auto">
            <a:xfrm>
              <a:off x="1574800" y="5361782"/>
              <a:ext cx="895350" cy="835819"/>
            </a:xfrm>
            <a:prstGeom prst="rect">
              <a:avLst/>
            </a:prstGeom>
            <a:solidFill>
              <a:srgbClr val="FFFFFF"/>
            </a:solidFill>
            <a:ln w="9525">
              <a:solidFill>
                <a:srgbClr val="99CCFF"/>
              </a:solidFill>
              <a:miter lim="800000"/>
              <a:headEnd/>
              <a:tailEnd/>
            </a:ln>
          </p:spPr>
          <p:txBody>
            <a:bodyPr wrap="none" anchor="ctr"/>
            <a:lstStyle/>
            <a:p>
              <a:endParaRPr lang="en-US"/>
            </a:p>
          </p:txBody>
        </p:sp>
        <p:grpSp>
          <p:nvGrpSpPr>
            <p:cNvPr id="125" name="Group 61"/>
            <p:cNvGrpSpPr>
              <a:grpSpLocks/>
            </p:cNvGrpSpPr>
            <p:nvPr/>
          </p:nvGrpSpPr>
          <p:grpSpPr bwMode="auto">
            <a:xfrm>
              <a:off x="5154386" y="5204126"/>
              <a:ext cx="3563938" cy="286271"/>
              <a:chOff x="1021" y="2632"/>
              <a:chExt cx="2245" cy="363"/>
            </a:xfrm>
          </p:grpSpPr>
          <p:sp>
            <p:nvSpPr>
              <p:cNvPr id="132" name="Freeform 62"/>
              <p:cNvSpPr>
                <a:spLocks/>
              </p:cNvSpPr>
              <p:nvPr/>
            </p:nvSpPr>
            <p:spPr bwMode="auto">
              <a:xfrm>
                <a:off x="1021" y="2640"/>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33" name="Freeform 63"/>
              <p:cNvSpPr>
                <a:spLocks/>
              </p:cNvSpPr>
              <p:nvPr/>
            </p:nvSpPr>
            <p:spPr bwMode="auto">
              <a:xfrm>
                <a:off x="1477"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34" name="Freeform 64"/>
              <p:cNvSpPr>
                <a:spLocks/>
              </p:cNvSpPr>
              <p:nvPr/>
            </p:nvSpPr>
            <p:spPr bwMode="auto">
              <a:xfrm>
                <a:off x="1925"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35" name="Freeform 65"/>
              <p:cNvSpPr>
                <a:spLocks/>
              </p:cNvSpPr>
              <p:nvPr/>
            </p:nvSpPr>
            <p:spPr bwMode="auto">
              <a:xfrm>
                <a:off x="2366"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36" name="Freeform 66"/>
              <p:cNvSpPr>
                <a:spLocks/>
              </p:cNvSpPr>
              <p:nvPr/>
            </p:nvSpPr>
            <p:spPr bwMode="auto">
              <a:xfrm>
                <a:off x="2821"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grpSp>
        <p:grpSp>
          <p:nvGrpSpPr>
            <p:cNvPr id="126" name="Group 76"/>
            <p:cNvGrpSpPr>
              <a:grpSpLocks/>
            </p:cNvGrpSpPr>
            <p:nvPr/>
          </p:nvGrpSpPr>
          <p:grpSpPr bwMode="auto">
            <a:xfrm>
              <a:off x="1572986" y="5212443"/>
              <a:ext cx="3563938" cy="286271"/>
              <a:chOff x="1021" y="2632"/>
              <a:chExt cx="2245" cy="363"/>
            </a:xfrm>
          </p:grpSpPr>
          <p:sp>
            <p:nvSpPr>
              <p:cNvPr id="127" name="Freeform 77"/>
              <p:cNvSpPr>
                <a:spLocks/>
              </p:cNvSpPr>
              <p:nvPr/>
            </p:nvSpPr>
            <p:spPr bwMode="auto">
              <a:xfrm>
                <a:off x="1021" y="2640"/>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8" name="Freeform 78"/>
              <p:cNvSpPr>
                <a:spLocks/>
              </p:cNvSpPr>
              <p:nvPr/>
            </p:nvSpPr>
            <p:spPr bwMode="auto">
              <a:xfrm>
                <a:off x="1477"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29" name="Freeform 79"/>
              <p:cNvSpPr>
                <a:spLocks/>
              </p:cNvSpPr>
              <p:nvPr/>
            </p:nvSpPr>
            <p:spPr bwMode="auto">
              <a:xfrm>
                <a:off x="1925" y="2632"/>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30" name="Freeform 80"/>
              <p:cNvSpPr>
                <a:spLocks/>
              </p:cNvSpPr>
              <p:nvPr/>
            </p:nvSpPr>
            <p:spPr bwMode="auto">
              <a:xfrm>
                <a:off x="2366"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sp>
            <p:nvSpPr>
              <p:cNvPr id="131" name="Freeform 81"/>
              <p:cNvSpPr>
                <a:spLocks/>
              </p:cNvSpPr>
              <p:nvPr/>
            </p:nvSpPr>
            <p:spPr bwMode="auto">
              <a:xfrm>
                <a:off x="2821" y="2647"/>
                <a:ext cx="445" cy="348"/>
              </a:xfrm>
              <a:custGeom>
                <a:avLst/>
                <a:gdLst>
                  <a:gd name="T0" fmla="*/ 0 w 1536"/>
                  <a:gd name="T1" fmla="*/ 0 h 1632"/>
                  <a:gd name="T2" fmla="*/ 1 w 1536"/>
                  <a:gd name="T3" fmla="*/ 0 h 1632"/>
                  <a:gd name="T4" fmla="*/ 2 w 1536"/>
                  <a:gd name="T5" fmla="*/ 0 h 1632"/>
                  <a:gd name="T6" fmla="*/ 2 w 1536"/>
                  <a:gd name="T7" fmla="*/ 1 h 1632"/>
                  <a:gd name="T8" fmla="*/ 3 w 1536"/>
                  <a:gd name="T9" fmla="*/ 0 h 1632"/>
                  <a:gd name="T10" fmla="*/ 0 60000 65536"/>
                  <a:gd name="T11" fmla="*/ 0 60000 65536"/>
                  <a:gd name="T12" fmla="*/ 0 60000 65536"/>
                  <a:gd name="T13" fmla="*/ 0 60000 65536"/>
                  <a:gd name="T14" fmla="*/ 0 60000 65536"/>
                  <a:gd name="T15" fmla="*/ 0 w 1536"/>
                  <a:gd name="T16" fmla="*/ 0 h 1632"/>
                  <a:gd name="T17" fmla="*/ 1536 w 1536"/>
                  <a:gd name="T18" fmla="*/ 1632 h 1632"/>
                </a:gdLst>
                <a:ahLst/>
                <a:cxnLst>
                  <a:cxn ang="T10">
                    <a:pos x="T0" y="T1"/>
                  </a:cxn>
                  <a:cxn ang="T11">
                    <a:pos x="T2" y="T3"/>
                  </a:cxn>
                  <a:cxn ang="T12">
                    <a:pos x="T4" y="T5"/>
                  </a:cxn>
                  <a:cxn ang="T13">
                    <a:pos x="T6" y="T7"/>
                  </a:cxn>
                  <a:cxn ang="T14">
                    <a:pos x="T8" y="T9"/>
                  </a:cxn>
                </a:cxnLst>
                <a:rect l="T15" t="T16" r="T17" b="T18"/>
                <a:pathLst>
                  <a:path w="1536" h="1632">
                    <a:moveTo>
                      <a:pt x="0" y="816"/>
                    </a:moveTo>
                    <a:cubicBezTo>
                      <a:pt x="128" y="408"/>
                      <a:pt x="256" y="0"/>
                      <a:pt x="384" y="0"/>
                    </a:cubicBezTo>
                    <a:cubicBezTo>
                      <a:pt x="512" y="0"/>
                      <a:pt x="640" y="544"/>
                      <a:pt x="768" y="816"/>
                    </a:cubicBezTo>
                    <a:cubicBezTo>
                      <a:pt x="896" y="1088"/>
                      <a:pt x="1024" y="1632"/>
                      <a:pt x="1152" y="1632"/>
                    </a:cubicBezTo>
                    <a:cubicBezTo>
                      <a:pt x="1280" y="1632"/>
                      <a:pt x="1408" y="1224"/>
                      <a:pt x="1536" y="816"/>
                    </a:cubicBezTo>
                  </a:path>
                </a:pathLst>
              </a:custGeom>
              <a:noFill/>
              <a:ln w="12700" cap="flat" cmpd="sng">
                <a:solidFill>
                  <a:srgbClr val="CC6600"/>
                </a:solidFill>
                <a:prstDash val="solid"/>
                <a:round/>
                <a:headEnd type="none" w="med" len="med"/>
                <a:tailEnd type="triangle" w="med" len="med"/>
              </a:ln>
            </p:spPr>
            <p:txBody>
              <a:bodyPr wrap="none" anchor="ctr"/>
              <a:lstStyle/>
              <a:p>
                <a:endParaRPr lang="en-GB"/>
              </a:p>
            </p:txBody>
          </p:sp>
        </p:grpSp>
      </p:grpSp>
      <p:grpSp>
        <p:nvGrpSpPr>
          <p:cNvPr id="16394" name="Group 82"/>
          <p:cNvGrpSpPr>
            <a:grpSpLocks/>
          </p:cNvGrpSpPr>
          <p:nvPr/>
        </p:nvGrpSpPr>
        <p:grpSpPr bwMode="auto">
          <a:xfrm>
            <a:off x="1587500" y="4440238"/>
            <a:ext cx="7161213" cy="1836737"/>
            <a:chOff x="1009" y="3247"/>
            <a:chExt cx="4511" cy="907"/>
          </a:xfrm>
        </p:grpSpPr>
        <p:sp>
          <p:nvSpPr>
            <p:cNvPr id="16417" name="Freeform 83"/>
            <p:cNvSpPr>
              <a:spLocks/>
            </p:cNvSpPr>
            <p:nvPr/>
          </p:nvSpPr>
          <p:spPr bwMode="auto">
            <a:xfrm>
              <a:off x="3272" y="3247"/>
              <a:ext cx="1124" cy="466"/>
            </a:xfrm>
            <a:custGeom>
              <a:avLst/>
              <a:gdLst>
                <a:gd name="T0" fmla="*/ 0 w 1124"/>
                <a:gd name="T1" fmla="*/ 466 h 466"/>
                <a:gd name="T2" fmla="*/ 107 w 1124"/>
                <a:gd name="T3" fmla="*/ 48 h 466"/>
                <a:gd name="T4" fmla="*/ 327 w 1124"/>
                <a:gd name="T5" fmla="*/ 178 h 466"/>
                <a:gd name="T6" fmla="*/ 555 w 1124"/>
                <a:gd name="T7" fmla="*/ 56 h 466"/>
                <a:gd name="T8" fmla="*/ 767 w 1124"/>
                <a:gd name="T9" fmla="*/ 162 h 466"/>
                <a:gd name="T10" fmla="*/ 995 w 1124"/>
                <a:gd name="T11" fmla="*/ 48 h 466"/>
                <a:gd name="T12" fmla="*/ 1124 w 1124"/>
                <a:gd name="T13" fmla="*/ 443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sp>
          <p:nvSpPr>
            <p:cNvPr id="16418" name="Freeform 84"/>
            <p:cNvSpPr>
              <a:spLocks/>
            </p:cNvSpPr>
            <p:nvPr/>
          </p:nvSpPr>
          <p:spPr bwMode="auto">
            <a:xfrm>
              <a:off x="1009" y="3255"/>
              <a:ext cx="1124" cy="466"/>
            </a:xfrm>
            <a:custGeom>
              <a:avLst/>
              <a:gdLst>
                <a:gd name="T0" fmla="*/ 0 w 1124"/>
                <a:gd name="T1" fmla="*/ 466 h 466"/>
                <a:gd name="T2" fmla="*/ 107 w 1124"/>
                <a:gd name="T3" fmla="*/ 48 h 466"/>
                <a:gd name="T4" fmla="*/ 327 w 1124"/>
                <a:gd name="T5" fmla="*/ 178 h 466"/>
                <a:gd name="T6" fmla="*/ 555 w 1124"/>
                <a:gd name="T7" fmla="*/ 56 h 466"/>
                <a:gd name="T8" fmla="*/ 767 w 1124"/>
                <a:gd name="T9" fmla="*/ 162 h 466"/>
                <a:gd name="T10" fmla="*/ 995 w 1124"/>
                <a:gd name="T11" fmla="*/ 48 h 466"/>
                <a:gd name="T12" fmla="*/ 1124 w 1124"/>
                <a:gd name="T13" fmla="*/ 443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sp>
          <p:nvSpPr>
            <p:cNvPr id="16419" name="Freeform 85"/>
            <p:cNvSpPr>
              <a:spLocks/>
            </p:cNvSpPr>
            <p:nvPr/>
          </p:nvSpPr>
          <p:spPr bwMode="auto">
            <a:xfrm flipV="1">
              <a:off x="2133" y="3688"/>
              <a:ext cx="1124" cy="466"/>
            </a:xfrm>
            <a:custGeom>
              <a:avLst/>
              <a:gdLst>
                <a:gd name="T0" fmla="*/ 0 w 1124"/>
                <a:gd name="T1" fmla="*/ 466 h 466"/>
                <a:gd name="T2" fmla="*/ 107 w 1124"/>
                <a:gd name="T3" fmla="*/ 48 h 466"/>
                <a:gd name="T4" fmla="*/ 327 w 1124"/>
                <a:gd name="T5" fmla="*/ 178 h 466"/>
                <a:gd name="T6" fmla="*/ 555 w 1124"/>
                <a:gd name="T7" fmla="*/ 56 h 466"/>
                <a:gd name="T8" fmla="*/ 767 w 1124"/>
                <a:gd name="T9" fmla="*/ 162 h 466"/>
                <a:gd name="T10" fmla="*/ 995 w 1124"/>
                <a:gd name="T11" fmla="*/ 48 h 466"/>
                <a:gd name="T12" fmla="*/ 1124 w 1124"/>
                <a:gd name="T13" fmla="*/ 443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sp>
          <p:nvSpPr>
            <p:cNvPr id="16420" name="Freeform 86"/>
            <p:cNvSpPr>
              <a:spLocks/>
            </p:cNvSpPr>
            <p:nvPr/>
          </p:nvSpPr>
          <p:spPr bwMode="auto">
            <a:xfrm flipV="1">
              <a:off x="4396" y="3688"/>
              <a:ext cx="1124" cy="466"/>
            </a:xfrm>
            <a:custGeom>
              <a:avLst/>
              <a:gdLst>
                <a:gd name="T0" fmla="*/ 0 w 1124"/>
                <a:gd name="T1" fmla="*/ 466 h 466"/>
                <a:gd name="T2" fmla="*/ 107 w 1124"/>
                <a:gd name="T3" fmla="*/ 48 h 466"/>
                <a:gd name="T4" fmla="*/ 327 w 1124"/>
                <a:gd name="T5" fmla="*/ 178 h 466"/>
                <a:gd name="T6" fmla="*/ 555 w 1124"/>
                <a:gd name="T7" fmla="*/ 56 h 466"/>
                <a:gd name="T8" fmla="*/ 767 w 1124"/>
                <a:gd name="T9" fmla="*/ 162 h 466"/>
                <a:gd name="T10" fmla="*/ 995 w 1124"/>
                <a:gd name="T11" fmla="*/ 48 h 466"/>
                <a:gd name="T12" fmla="*/ 1124 w 1124"/>
                <a:gd name="T13" fmla="*/ 443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grpSp>
      <p:grpSp>
        <p:nvGrpSpPr>
          <p:cNvPr id="16395" name="Group 87"/>
          <p:cNvGrpSpPr>
            <a:grpSpLocks/>
          </p:cNvGrpSpPr>
          <p:nvPr/>
        </p:nvGrpSpPr>
        <p:grpSpPr bwMode="auto">
          <a:xfrm>
            <a:off x="1590675" y="919163"/>
            <a:ext cx="3541713" cy="1660525"/>
            <a:chOff x="3263" y="625"/>
            <a:chExt cx="2256" cy="826"/>
          </a:xfrm>
        </p:grpSpPr>
        <p:sp>
          <p:nvSpPr>
            <p:cNvPr id="16409" name="Rectangle 88"/>
            <p:cNvSpPr>
              <a:spLocks noChangeArrowheads="1"/>
            </p:cNvSpPr>
            <p:nvPr/>
          </p:nvSpPr>
          <p:spPr bwMode="auto">
            <a:xfrm>
              <a:off x="3827" y="625"/>
              <a:ext cx="564" cy="413"/>
            </a:xfrm>
            <a:prstGeom prst="rect">
              <a:avLst/>
            </a:prstGeom>
            <a:noFill/>
            <a:ln w="9525">
              <a:solidFill>
                <a:srgbClr val="99CCFF"/>
              </a:solidFill>
              <a:miter lim="800000"/>
              <a:headEnd/>
              <a:tailEnd/>
            </a:ln>
          </p:spPr>
          <p:txBody>
            <a:bodyPr wrap="none" anchor="ctr"/>
            <a:lstStyle/>
            <a:p>
              <a:endParaRPr lang="en-US"/>
            </a:p>
          </p:txBody>
        </p:sp>
        <p:sp>
          <p:nvSpPr>
            <p:cNvPr id="16410" name="Rectangle 89"/>
            <p:cNvSpPr>
              <a:spLocks noChangeArrowheads="1"/>
            </p:cNvSpPr>
            <p:nvPr/>
          </p:nvSpPr>
          <p:spPr bwMode="auto">
            <a:xfrm>
              <a:off x="4391" y="625"/>
              <a:ext cx="564" cy="413"/>
            </a:xfrm>
            <a:prstGeom prst="rect">
              <a:avLst/>
            </a:prstGeom>
            <a:noFill/>
            <a:ln w="9525">
              <a:solidFill>
                <a:srgbClr val="99CCFF"/>
              </a:solidFill>
              <a:miter lim="800000"/>
              <a:headEnd/>
              <a:tailEnd/>
            </a:ln>
          </p:spPr>
          <p:txBody>
            <a:bodyPr wrap="none" anchor="ctr"/>
            <a:lstStyle/>
            <a:p>
              <a:endParaRPr lang="en-US"/>
            </a:p>
          </p:txBody>
        </p:sp>
        <p:sp>
          <p:nvSpPr>
            <p:cNvPr id="16411" name="Rectangle 90"/>
            <p:cNvSpPr>
              <a:spLocks noChangeArrowheads="1"/>
            </p:cNvSpPr>
            <p:nvPr/>
          </p:nvSpPr>
          <p:spPr bwMode="auto">
            <a:xfrm>
              <a:off x="4955" y="625"/>
              <a:ext cx="564" cy="413"/>
            </a:xfrm>
            <a:prstGeom prst="rect">
              <a:avLst/>
            </a:prstGeom>
            <a:noFill/>
            <a:ln w="9525">
              <a:solidFill>
                <a:srgbClr val="99CCFF"/>
              </a:solidFill>
              <a:miter lim="800000"/>
              <a:headEnd/>
              <a:tailEnd/>
            </a:ln>
          </p:spPr>
          <p:txBody>
            <a:bodyPr wrap="none" anchor="ctr"/>
            <a:lstStyle/>
            <a:p>
              <a:endParaRPr lang="en-US"/>
            </a:p>
          </p:txBody>
        </p:sp>
        <p:sp>
          <p:nvSpPr>
            <p:cNvPr id="16412" name="Rectangle 91"/>
            <p:cNvSpPr>
              <a:spLocks noChangeArrowheads="1"/>
            </p:cNvSpPr>
            <p:nvPr/>
          </p:nvSpPr>
          <p:spPr bwMode="auto">
            <a:xfrm>
              <a:off x="3263" y="625"/>
              <a:ext cx="564" cy="413"/>
            </a:xfrm>
            <a:prstGeom prst="rect">
              <a:avLst/>
            </a:prstGeom>
            <a:noFill/>
            <a:ln w="9525">
              <a:solidFill>
                <a:srgbClr val="99CCFF"/>
              </a:solidFill>
              <a:miter lim="800000"/>
              <a:headEnd/>
              <a:tailEnd/>
            </a:ln>
          </p:spPr>
          <p:txBody>
            <a:bodyPr wrap="none" anchor="ctr"/>
            <a:lstStyle/>
            <a:p>
              <a:endParaRPr lang="en-US"/>
            </a:p>
          </p:txBody>
        </p:sp>
        <p:sp>
          <p:nvSpPr>
            <p:cNvPr id="16413" name="Rectangle 92"/>
            <p:cNvSpPr>
              <a:spLocks noChangeArrowheads="1"/>
            </p:cNvSpPr>
            <p:nvPr/>
          </p:nvSpPr>
          <p:spPr bwMode="auto">
            <a:xfrm>
              <a:off x="3827" y="1038"/>
              <a:ext cx="564" cy="413"/>
            </a:xfrm>
            <a:prstGeom prst="rect">
              <a:avLst/>
            </a:prstGeom>
            <a:noFill/>
            <a:ln w="9525">
              <a:solidFill>
                <a:srgbClr val="99CCFF"/>
              </a:solidFill>
              <a:miter lim="800000"/>
              <a:headEnd/>
              <a:tailEnd/>
            </a:ln>
          </p:spPr>
          <p:txBody>
            <a:bodyPr wrap="none" anchor="ctr"/>
            <a:lstStyle/>
            <a:p>
              <a:endParaRPr lang="en-US"/>
            </a:p>
          </p:txBody>
        </p:sp>
        <p:sp>
          <p:nvSpPr>
            <p:cNvPr id="16414" name="Rectangle 93"/>
            <p:cNvSpPr>
              <a:spLocks noChangeArrowheads="1"/>
            </p:cNvSpPr>
            <p:nvPr/>
          </p:nvSpPr>
          <p:spPr bwMode="auto">
            <a:xfrm>
              <a:off x="4391" y="1038"/>
              <a:ext cx="564" cy="413"/>
            </a:xfrm>
            <a:prstGeom prst="rect">
              <a:avLst/>
            </a:prstGeom>
            <a:noFill/>
            <a:ln w="9525">
              <a:solidFill>
                <a:srgbClr val="99CCFF"/>
              </a:solidFill>
              <a:miter lim="800000"/>
              <a:headEnd/>
              <a:tailEnd/>
            </a:ln>
          </p:spPr>
          <p:txBody>
            <a:bodyPr wrap="none" anchor="ctr"/>
            <a:lstStyle/>
            <a:p>
              <a:endParaRPr lang="en-US"/>
            </a:p>
          </p:txBody>
        </p:sp>
        <p:sp>
          <p:nvSpPr>
            <p:cNvPr id="16415" name="Rectangle 94"/>
            <p:cNvSpPr>
              <a:spLocks noChangeArrowheads="1"/>
            </p:cNvSpPr>
            <p:nvPr/>
          </p:nvSpPr>
          <p:spPr bwMode="auto">
            <a:xfrm>
              <a:off x="4955" y="1038"/>
              <a:ext cx="564" cy="413"/>
            </a:xfrm>
            <a:prstGeom prst="rect">
              <a:avLst/>
            </a:prstGeom>
            <a:noFill/>
            <a:ln w="9525">
              <a:solidFill>
                <a:srgbClr val="99CCFF"/>
              </a:solidFill>
              <a:miter lim="800000"/>
              <a:headEnd/>
              <a:tailEnd/>
            </a:ln>
          </p:spPr>
          <p:txBody>
            <a:bodyPr wrap="none" anchor="ctr"/>
            <a:lstStyle/>
            <a:p>
              <a:endParaRPr lang="en-US"/>
            </a:p>
          </p:txBody>
        </p:sp>
        <p:sp>
          <p:nvSpPr>
            <p:cNvPr id="16416" name="Rectangle 95"/>
            <p:cNvSpPr>
              <a:spLocks noChangeArrowheads="1"/>
            </p:cNvSpPr>
            <p:nvPr/>
          </p:nvSpPr>
          <p:spPr bwMode="auto">
            <a:xfrm>
              <a:off x="3263" y="1038"/>
              <a:ext cx="564" cy="413"/>
            </a:xfrm>
            <a:prstGeom prst="rect">
              <a:avLst/>
            </a:prstGeom>
            <a:noFill/>
            <a:ln w="9525">
              <a:solidFill>
                <a:srgbClr val="99CCFF"/>
              </a:solidFill>
              <a:miter lim="800000"/>
              <a:headEnd/>
              <a:tailEnd/>
            </a:ln>
          </p:spPr>
          <p:txBody>
            <a:bodyPr wrap="none" anchor="ctr"/>
            <a:lstStyle/>
            <a:p>
              <a:endParaRPr lang="en-US"/>
            </a:p>
          </p:txBody>
        </p:sp>
      </p:grpSp>
      <p:grpSp>
        <p:nvGrpSpPr>
          <p:cNvPr id="16396" name="Group 96"/>
          <p:cNvGrpSpPr>
            <a:grpSpLocks/>
          </p:cNvGrpSpPr>
          <p:nvPr/>
        </p:nvGrpSpPr>
        <p:grpSpPr bwMode="auto">
          <a:xfrm>
            <a:off x="6030913" y="2843213"/>
            <a:ext cx="2514600" cy="2871787"/>
            <a:chOff x="3799" y="1791"/>
            <a:chExt cx="1584" cy="1809"/>
          </a:xfrm>
        </p:grpSpPr>
        <p:grpSp>
          <p:nvGrpSpPr>
            <p:cNvPr id="16404" name="Group 97"/>
            <p:cNvGrpSpPr>
              <a:grpSpLocks/>
            </p:cNvGrpSpPr>
            <p:nvPr/>
          </p:nvGrpSpPr>
          <p:grpSpPr bwMode="auto">
            <a:xfrm>
              <a:off x="3799" y="1791"/>
              <a:ext cx="1135" cy="1809"/>
              <a:chOff x="3799" y="1791"/>
              <a:chExt cx="1135" cy="1809"/>
            </a:xfrm>
          </p:grpSpPr>
          <p:sp>
            <p:nvSpPr>
              <p:cNvPr id="16406" name="Line 98"/>
              <p:cNvSpPr>
                <a:spLocks noChangeShapeType="1"/>
              </p:cNvSpPr>
              <p:nvPr/>
            </p:nvSpPr>
            <p:spPr bwMode="auto">
              <a:xfrm flipH="1" flipV="1">
                <a:off x="3799" y="1791"/>
                <a:ext cx="0" cy="1358"/>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6407" name="Line 99"/>
              <p:cNvSpPr>
                <a:spLocks noChangeShapeType="1"/>
              </p:cNvSpPr>
              <p:nvPr/>
            </p:nvSpPr>
            <p:spPr bwMode="auto">
              <a:xfrm flipH="1" flipV="1">
                <a:off x="4928" y="2584"/>
                <a:ext cx="6" cy="1016"/>
              </a:xfrm>
              <a:prstGeom prst="line">
                <a:avLst/>
              </a:prstGeom>
              <a:noFill/>
              <a:ln w="28575">
                <a:solidFill>
                  <a:schemeClr val="accent2"/>
                </a:solidFill>
                <a:round/>
                <a:headEnd type="triangle" w="med" len="med"/>
                <a:tailEnd type="triangle" w="med" len="med"/>
              </a:ln>
            </p:spPr>
            <p:txBody>
              <a:bodyPr wrap="none" anchor="ctr"/>
              <a:lstStyle/>
              <a:p>
                <a:endParaRPr lang="en-GB"/>
              </a:p>
            </p:txBody>
          </p:sp>
          <p:sp>
            <p:nvSpPr>
              <p:cNvPr id="16408" name="Line 100"/>
              <p:cNvSpPr>
                <a:spLocks noChangeShapeType="1"/>
              </p:cNvSpPr>
              <p:nvPr/>
            </p:nvSpPr>
            <p:spPr bwMode="auto">
              <a:xfrm flipH="1" flipV="1">
                <a:off x="4361" y="2263"/>
                <a:ext cx="11" cy="1159"/>
              </a:xfrm>
              <a:prstGeom prst="line">
                <a:avLst/>
              </a:prstGeom>
              <a:noFill/>
              <a:ln w="28575">
                <a:solidFill>
                  <a:schemeClr val="accent2"/>
                </a:solidFill>
                <a:round/>
                <a:headEnd type="triangle" w="med" len="med"/>
                <a:tailEnd type="triangle" w="med" len="med"/>
              </a:ln>
            </p:spPr>
            <p:txBody>
              <a:bodyPr wrap="none" anchor="ctr"/>
              <a:lstStyle/>
              <a:p>
                <a:endParaRPr lang="en-GB"/>
              </a:p>
            </p:txBody>
          </p:sp>
        </p:grpSp>
        <p:sp>
          <p:nvSpPr>
            <p:cNvPr id="16405" name="Text Box 101"/>
            <p:cNvSpPr txBox="1">
              <a:spLocks noChangeArrowheads="1"/>
            </p:cNvSpPr>
            <p:nvPr/>
          </p:nvSpPr>
          <p:spPr bwMode="auto">
            <a:xfrm>
              <a:off x="4300" y="1812"/>
              <a:ext cx="1083" cy="366"/>
            </a:xfrm>
            <a:prstGeom prst="rect">
              <a:avLst/>
            </a:prstGeom>
            <a:noFill/>
            <a:ln w="28575">
              <a:noFill/>
              <a:miter lim="800000"/>
              <a:headEnd/>
              <a:tailEnd/>
            </a:ln>
          </p:spPr>
          <p:txBody>
            <a:bodyPr anchor="ctr">
              <a:spAutoFit/>
            </a:bodyPr>
            <a:lstStyle/>
            <a:p>
              <a:pPr algn="ctr"/>
              <a:r>
                <a:rPr lang="en-GB">
                  <a:solidFill>
                    <a:srgbClr val="242492"/>
                  </a:solidFill>
                </a:rPr>
                <a:t>summation of amplitudes</a:t>
              </a:r>
              <a:endParaRPr lang="en-GB"/>
            </a:p>
          </p:txBody>
        </p:sp>
      </p:grpSp>
      <p:sp>
        <p:nvSpPr>
          <p:cNvPr id="16397" name="Text Box 103"/>
          <p:cNvSpPr txBox="1">
            <a:spLocks noChangeArrowheads="1"/>
          </p:cNvSpPr>
          <p:nvPr/>
        </p:nvSpPr>
        <p:spPr bwMode="auto">
          <a:xfrm>
            <a:off x="161925" y="4691063"/>
            <a:ext cx="1354138" cy="581025"/>
          </a:xfrm>
          <a:prstGeom prst="rect">
            <a:avLst/>
          </a:prstGeom>
          <a:noFill/>
          <a:ln w="9525">
            <a:noFill/>
            <a:miter lim="800000"/>
            <a:headEnd/>
            <a:tailEnd/>
          </a:ln>
        </p:spPr>
        <p:txBody>
          <a:bodyPr wrap="none" anchor="ctr">
            <a:spAutoFit/>
          </a:bodyPr>
          <a:lstStyle/>
          <a:p>
            <a:r>
              <a:rPr lang="en-GB">
                <a:solidFill>
                  <a:srgbClr val="CC6600"/>
                </a:solidFill>
              </a:rPr>
              <a:t>f = </a:t>
            </a:r>
            <a:r>
              <a:rPr lang="en-GB" u="sng">
                <a:solidFill>
                  <a:srgbClr val="CC6600"/>
                </a:solidFill>
              </a:rPr>
              <a:t>1</a:t>
            </a:r>
            <a:r>
              <a:rPr lang="en-GB">
                <a:solidFill>
                  <a:srgbClr val="CC6600"/>
                </a:solidFill>
              </a:rPr>
              <a:t>sin(5x)</a:t>
            </a:r>
          </a:p>
          <a:p>
            <a:r>
              <a:rPr lang="en-GB">
                <a:solidFill>
                  <a:srgbClr val="CC6600"/>
                </a:solidFill>
              </a:rPr>
              <a:t>     5</a:t>
            </a:r>
            <a:endParaRPr lang="en-GB"/>
          </a:p>
        </p:txBody>
      </p:sp>
      <p:sp>
        <p:nvSpPr>
          <p:cNvPr id="16399" name="Text Box 106"/>
          <p:cNvSpPr txBox="1">
            <a:spLocks noChangeArrowheads="1"/>
          </p:cNvSpPr>
          <p:nvPr/>
        </p:nvSpPr>
        <p:spPr bwMode="auto">
          <a:xfrm>
            <a:off x="155575" y="2620963"/>
            <a:ext cx="1354138" cy="581025"/>
          </a:xfrm>
          <a:prstGeom prst="rect">
            <a:avLst/>
          </a:prstGeom>
          <a:noFill/>
          <a:ln w="9525">
            <a:noFill/>
            <a:miter lim="800000"/>
            <a:headEnd/>
            <a:tailEnd/>
          </a:ln>
        </p:spPr>
        <p:txBody>
          <a:bodyPr wrap="none" anchor="ctr">
            <a:spAutoFit/>
          </a:bodyPr>
          <a:lstStyle/>
          <a:p>
            <a:r>
              <a:rPr lang="en-GB">
                <a:solidFill>
                  <a:schemeClr val="accent1"/>
                </a:solidFill>
              </a:rPr>
              <a:t>f = </a:t>
            </a:r>
            <a:r>
              <a:rPr lang="en-GB" u="sng">
                <a:solidFill>
                  <a:schemeClr val="accent1"/>
                </a:solidFill>
              </a:rPr>
              <a:t>1</a:t>
            </a:r>
            <a:r>
              <a:rPr lang="en-GB">
                <a:solidFill>
                  <a:schemeClr val="accent1"/>
                </a:solidFill>
              </a:rPr>
              <a:t>sin(3x)</a:t>
            </a:r>
          </a:p>
          <a:p>
            <a:r>
              <a:rPr lang="en-GB">
                <a:solidFill>
                  <a:schemeClr val="accent1"/>
                </a:solidFill>
              </a:rPr>
              <a:t>     3</a:t>
            </a:r>
            <a:endParaRPr lang="en-GB"/>
          </a:p>
        </p:txBody>
      </p:sp>
      <p:sp>
        <p:nvSpPr>
          <p:cNvPr id="16400" name="Line 107"/>
          <p:cNvSpPr>
            <a:spLocks noChangeShapeType="1"/>
          </p:cNvSpPr>
          <p:nvPr/>
        </p:nvSpPr>
        <p:spPr bwMode="auto">
          <a:xfrm>
            <a:off x="1447800" y="2855913"/>
            <a:ext cx="395288" cy="388937"/>
          </a:xfrm>
          <a:prstGeom prst="line">
            <a:avLst/>
          </a:prstGeom>
          <a:noFill/>
          <a:ln w="12700">
            <a:solidFill>
              <a:schemeClr val="tx1"/>
            </a:solidFill>
            <a:round/>
            <a:headEnd/>
            <a:tailEnd type="triangle" w="med" len="med"/>
          </a:ln>
        </p:spPr>
        <p:txBody>
          <a:bodyPr wrap="none" anchor="ctr"/>
          <a:lstStyle/>
          <a:p>
            <a:endParaRPr lang="en-GB"/>
          </a:p>
        </p:txBody>
      </p:sp>
      <p:sp>
        <p:nvSpPr>
          <p:cNvPr id="16401" name="Text Box 108"/>
          <p:cNvSpPr txBox="1">
            <a:spLocks noChangeArrowheads="1"/>
          </p:cNvSpPr>
          <p:nvPr/>
        </p:nvSpPr>
        <p:spPr bwMode="auto">
          <a:xfrm>
            <a:off x="142875" y="3824288"/>
            <a:ext cx="3148013" cy="581025"/>
          </a:xfrm>
          <a:prstGeom prst="rect">
            <a:avLst/>
          </a:prstGeom>
          <a:noFill/>
          <a:ln w="28575">
            <a:noFill/>
            <a:miter lim="800000"/>
            <a:headEnd/>
            <a:tailEnd/>
          </a:ln>
        </p:spPr>
        <p:txBody>
          <a:bodyPr anchor="ctr">
            <a:spAutoFit/>
          </a:bodyPr>
          <a:lstStyle/>
          <a:p>
            <a:r>
              <a:rPr lang="en-GB" b="1">
                <a:solidFill>
                  <a:srgbClr val="FF0000"/>
                </a:solidFill>
              </a:rPr>
              <a:t>f = sin(x) + </a:t>
            </a:r>
            <a:r>
              <a:rPr lang="en-GB" b="1" u="sng">
                <a:solidFill>
                  <a:srgbClr val="FF0000"/>
                </a:solidFill>
              </a:rPr>
              <a:t>1</a:t>
            </a:r>
            <a:r>
              <a:rPr lang="en-GB" b="1">
                <a:solidFill>
                  <a:srgbClr val="FF0000"/>
                </a:solidFill>
              </a:rPr>
              <a:t>sin(3x)                                               	  </a:t>
            </a:r>
            <a:r>
              <a:rPr lang="en-GB" sz="1400" b="1">
                <a:solidFill>
                  <a:srgbClr val="FF0000"/>
                </a:solidFill>
              </a:rPr>
              <a:t> </a:t>
            </a:r>
            <a:r>
              <a:rPr lang="en-GB" sz="1200" b="1">
                <a:solidFill>
                  <a:srgbClr val="FF0000"/>
                </a:solidFill>
              </a:rPr>
              <a:t> </a:t>
            </a:r>
            <a:r>
              <a:rPr lang="en-GB" sz="1400" b="1">
                <a:solidFill>
                  <a:srgbClr val="FF0000"/>
                </a:solidFill>
              </a:rPr>
              <a:t> </a:t>
            </a:r>
            <a:r>
              <a:rPr lang="en-GB" b="1">
                <a:solidFill>
                  <a:srgbClr val="FF0000"/>
                </a:solidFill>
              </a:rPr>
              <a:t>3</a:t>
            </a:r>
            <a:r>
              <a:rPr lang="en-GB"/>
              <a:t> </a:t>
            </a:r>
          </a:p>
        </p:txBody>
      </p:sp>
      <p:sp>
        <p:nvSpPr>
          <p:cNvPr id="16402" name="Text Box 109"/>
          <p:cNvSpPr txBox="1">
            <a:spLocks noChangeArrowheads="1"/>
          </p:cNvSpPr>
          <p:nvPr/>
        </p:nvSpPr>
        <p:spPr bwMode="auto">
          <a:xfrm>
            <a:off x="198438" y="5942013"/>
            <a:ext cx="3306762" cy="581025"/>
          </a:xfrm>
          <a:prstGeom prst="rect">
            <a:avLst/>
          </a:prstGeom>
          <a:noFill/>
          <a:ln w="28575">
            <a:noFill/>
            <a:miter lim="800000"/>
            <a:headEnd/>
            <a:tailEnd/>
          </a:ln>
        </p:spPr>
        <p:txBody>
          <a:bodyPr anchor="ctr">
            <a:spAutoFit/>
          </a:bodyPr>
          <a:lstStyle/>
          <a:p>
            <a:r>
              <a:rPr lang="en-GB" b="1">
                <a:solidFill>
                  <a:srgbClr val="FF0000"/>
                </a:solidFill>
              </a:rPr>
              <a:t>f = sin(x) + </a:t>
            </a:r>
            <a:r>
              <a:rPr lang="en-GB" b="1" u="sng">
                <a:solidFill>
                  <a:srgbClr val="FF0000"/>
                </a:solidFill>
              </a:rPr>
              <a:t>1</a:t>
            </a:r>
            <a:r>
              <a:rPr lang="en-GB" b="1">
                <a:solidFill>
                  <a:srgbClr val="FF0000"/>
                </a:solidFill>
              </a:rPr>
              <a:t>sin(3x) + </a:t>
            </a:r>
            <a:r>
              <a:rPr lang="en-GB" b="1" u="sng">
                <a:solidFill>
                  <a:srgbClr val="FF0000"/>
                </a:solidFill>
              </a:rPr>
              <a:t>1</a:t>
            </a:r>
            <a:r>
              <a:rPr lang="en-GB" b="1">
                <a:solidFill>
                  <a:srgbClr val="FF0000"/>
                </a:solidFill>
              </a:rPr>
              <a:t>sin(5x)                             	   </a:t>
            </a:r>
            <a:r>
              <a:rPr lang="en-GB" sz="1200" b="1">
                <a:solidFill>
                  <a:srgbClr val="FF0000"/>
                </a:solidFill>
              </a:rPr>
              <a:t>  </a:t>
            </a:r>
            <a:r>
              <a:rPr lang="en-GB" b="1">
                <a:solidFill>
                  <a:srgbClr val="FF0000"/>
                </a:solidFill>
              </a:rPr>
              <a:t>3 	       </a:t>
            </a:r>
            <a:r>
              <a:rPr lang="en-GB" sz="600" b="1">
                <a:solidFill>
                  <a:srgbClr val="FF0000"/>
                </a:solidFill>
              </a:rPr>
              <a:t> </a:t>
            </a:r>
            <a:r>
              <a:rPr lang="en-GB" b="1">
                <a:solidFill>
                  <a:srgbClr val="FF0000"/>
                </a:solidFill>
              </a:rPr>
              <a:t>5</a:t>
            </a:r>
            <a:endParaRPr lang="en-GB" b="1"/>
          </a:p>
        </p:txBody>
      </p:sp>
      <p:sp>
        <p:nvSpPr>
          <p:cNvPr id="16403" name="Text Box 112"/>
          <p:cNvSpPr txBox="1">
            <a:spLocks noChangeArrowheads="1"/>
          </p:cNvSpPr>
          <p:nvPr/>
        </p:nvSpPr>
        <p:spPr bwMode="auto">
          <a:xfrm>
            <a:off x="430213" y="366713"/>
            <a:ext cx="3132137" cy="457200"/>
          </a:xfrm>
          <a:prstGeom prst="rect">
            <a:avLst/>
          </a:prstGeom>
          <a:noFill/>
          <a:ln w="9525">
            <a:noFill/>
            <a:miter lim="800000"/>
            <a:headEnd/>
            <a:tailEnd/>
          </a:ln>
        </p:spPr>
        <p:txBody>
          <a:bodyPr wrap="none" anchor="ctr">
            <a:spAutoFit/>
          </a:bodyPr>
          <a:lstStyle/>
          <a:p>
            <a:pPr algn="ctr"/>
            <a:r>
              <a:rPr lang="en-GB" sz="2400" b="1"/>
              <a:t>Waveform Synthesis</a:t>
            </a:r>
          </a:p>
        </p:txBody>
      </p:sp>
    </p:spTree>
    <p:extLst>
      <p:ext uri="{BB962C8B-B14F-4D97-AF65-F5344CB8AC3E}">
        <p14:creationId xmlns:p14="http://schemas.microsoft.com/office/powerpoint/2010/main" val="36059486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bwMode="auto">
          <a:xfrm>
            <a:off x="430213" y="5410201"/>
            <a:ext cx="3856037" cy="514350"/>
          </a:xfrm>
          <a:prstGeom prst="rect">
            <a:avLst/>
          </a:prstGeom>
          <a:solidFill>
            <a:schemeClr val="accent6">
              <a:lumMod val="20000"/>
              <a:lumOff val="80000"/>
            </a:schemeClr>
          </a:solidFill>
          <a:ln w="9525" cap="flat" cmpd="sng" algn="ctr">
            <a:solidFill>
              <a:schemeClr val="accent6">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29" name="Rectangle 29"/>
          <p:cNvSpPr>
            <a:spLocks noChangeArrowheads="1"/>
          </p:cNvSpPr>
          <p:nvPr/>
        </p:nvSpPr>
        <p:spPr bwMode="auto">
          <a:xfrm>
            <a:off x="4476750" y="1892300"/>
            <a:ext cx="541338" cy="723900"/>
          </a:xfrm>
          <a:prstGeom prst="rect">
            <a:avLst/>
          </a:prstGeom>
          <a:solidFill>
            <a:srgbClr val="FFFF00"/>
          </a:solidFill>
          <a:ln w="9525" algn="ctr">
            <a:noFill/>
            <a:miter lim="800000"/>
            <a:headEnd/>
            <a:tailEnd/>
          </a:ln>
        </p:spPr>
        <p:txBody>
          <a:bodyPr wrap="none" anchor="ctr"/>
          <a:lstStyle/>
          <a:p>
            <a:endParaRPr lang="en-US"/>
          </a:p>
        </p:txBody>
      </p:sp>
      <p:sp>
        <p:nvSpPr>
          <p:cNvPr id="1030" name="Rectangle 24"/>
          <p:cNvSpPr>
            <a:spLocks noChangeArrowheads="1"/>
          </p:cNvSpPr>
          <p:nvPr/>
        </p:nvSpPr>
        <p:spPr bwMode="auto">
          <a:xfrm>
            <a:off x="2498725" y="1914525"/>
            <a:ext cx="615950" cy="711200"/>
          </a:xfrm>
          <a:prstGeom prst="rect">
            <a:avLst/>
          </a:prstGeom>
          <a:solidFill>
            <a:srgbClr val="FFFF00"/>
          </a:solidFill>
          <a:ln w="9525" algn="ctr">
            <a:noFill/>
            <a:miter lim="800000"/>
            <a:headEnd/>
            <a:tailEnd/>
          </a:ln>
        </p:spPr>
        <p:txBody>
          <a:bodyPr wrap="none" anchor="ctr"/>
          <a:lstStyle/>
          <a:p>
            <a:endParaRPr lang="en-US"/>
          </a:p>
        </p:txBody>
      </p:sp>
      <p:sp>
        <p:nvSpPr>
          <p:cNvPr id="1031" name="AutoShape 4"/>
          <p:cNvSpPr>
            <a:spLocks noChangeArrowheads="1"/>
          </p:cNvSpPr>
          <p:nvPr/>
        </p:nvSpPr>
        <p:spPr bwMode="auto">
          <a:xfrm>
            <a:off x="6629400" y="1219200"/>
            <a:ext cx="1676400" cy="304800"/>
          </a:xfrm>
          <a:prstGeom prst="rightArrow">
            <a:avLst>
              <a:gd name="adj1" fmla="val 50000"/>
              <a:gd name="adj2" fmla="val 179692"/>
            </a:avLst>
          </a:prstGeom>
          <a:solidFill>
            <a:schemeClr val="folHlink"/>
          </a:solidFill>
          <a:ln w="9525">
            <a:noFill/>
            <a:miter lim="800000"/>
            <a:headEnd/>
            <a:tailEnd/>
          </a:ln>
        </p:spPr>
        <p:txBody>
          <a:bodyPr wrap="none" anchor="ctr"/>
          <a:lstStyle/>
          <a:p>
            <a:endParaRPr lang="en-US"/>
          </a:p>
        </p:txBody>
      </p:sp>
      <p:sp>
        <p:nvSpPr>
          <p:cNvPr id="1032" name="Text Box 6"/>
          <p:cNvSpPr txBox="1">
            <a:spLocks noChangeArrowheads="1"/>
          </p:cNvSpPr>
          <p:nvPr/>
        </p:nvSpPr>
        <p:spPr bwMode="auto">
          <a:xfrm>
            <a:off x="2141538" y="2179638"/>
            <a:ext cx="184150" cy="336550"/>
          </a:xfrm>
          <a:prstGeom prst="rect">
            <a:avLst/>
          </a:prstGeom>
          <a:noFill/>
          <a:ln w="28575">
            <a:noFill/>
            <a:miter lim="800000"/>
            <a:headEnd/>
            <a:tailEnd/>
          </a:ln>
        </p:spPr>
        <p:txBody>
          <a:bodyPr wrap="none" anchor="ctr">
            <a:spAutoFit/>
          </a:bodyPr>
          <a:lstStyle/>
          <a:p>
            <a:pPr algn="ctr"/>
            <a:endParaRPr lang="en-US"/>
          </a:p>
        </p:txBody>
      </p:sp>
      <p:sp>
        <p:nvSpPr>
          <p:cNvPr id="1033" name="Text Box 7"/>
          <p:cNvSpPr txBox="1">
            <a:spLocks noChangeArrowheads="1"/>
          </p:cNvSpPr>
          <p:nvPr/>
        </p:nvSpPr>
        <p:spPr bwMode="auto">
          <a:xfrm>
            <a:off x="347663" y="366713"/>
            <a:ext cx="5319712" cy="457200"/>
          </a:xfrm>
          <a:prstGeom prst="rect">
            <a:avLst/>
          </a:prstGeom>
          <a:noFill/>
          <a:ln w="28575">
            <a:noFill/>
            <a:miter lim="800000"/>
            <a:headEnd/>
            <a:tailEnd/>
          </a:ln>
        </p:spPr>
        <p:txBody>
          <a:bodyPr wrap="none" anchor="ctr">
            <a:spAutoFit/>
          </a:bodyPr>
          <a:lstStyle/>
          <a:p>
            <a:pPr algn="ctr"/>
            <a:r>
              <a:rPr lang="en-GB" sz="2400" b="1" dirty="0"/>
              <a:t>Fourier Series </a:t>
            </a:r>
            <a:r>
              <a:rPr lang="en-GB" sz="2400" dirty="0"/>
              <a:t>– (here just the sine)</a:t>
            </a:r>
            <a:endParaRPr lang="en-GB" dirty="0"/>
          </a:p>
        </p:txBody>
      </p:sp>
      <p:sp>
        <p:nvSpPr>
          <p:cNvPr id="1034" name="Text Box 9"/>
          <p:cNvSpPr txBox="1">
            <a:spLocks noChangeArrowheads="1"/>
          </p:cNvSpPr>
          <p:nvPr/>
        </p:nvSpPr>
        <p:spPr bwMode="auto">
          <a:xfrm>
            <a:off x="381000" y="3543300"/>
            <a:ext cx="5241925" cy="2301875"/>
          </a:xfrm>
          <a:prstGeom prst="rect">
            <a:avLst/>
          </a:prstGeom>
          <a:noFill/>
          <a:ln w="28575">
            <a:noFill/>
            <a:miter lim="800000"/>
            <a:headEnd/>
            <a:tailEnd/>
          </a:ln>
        </p:spPr>
        <p:txBody>
          <a:bodyPr wrap="none" anchor="ctr">
            <a:spAutoFit/>
          </a:bodyPr>
          <a:lstStyle/>
          <a:p>
            <a:pPr>
              <a:spcAft>
                <a:spcPts val="600"/>
              </a:spcAft>
            </a:pPr>
            <a:r>
              <a:rPr lang="en-GB" sz="2000">
                <a:cs typeface="Times" pitchFamily="18" charset="0"/>
              </a:rPr>
              <a:t>where: </a:t>
            </a:r>
          </a:p>
          <a:p>
            <a:pPr>
              <a:spcAft>
                <a:spcPts val="600"/>
              </a:spcAft>
            </a:pPr>
            <a:r>
              <a:rPr lang="en-GB" sz="2000">
                <a:cs typeface="Times" pitchFamily="18" charset="0"/>
              </a:rPr>
              <a:t>           = the fundamental frequency</a:t>
            </a:r>
          </a:p>
          <a:p>
            <a:pPr>
              <a:spcAft>
                <a:spcPts val="600"/>
              </a:spcAft>
            </a:pPr>
            <a:r>
              <a:rPr lang="en-GB" sz="2000">
                <a:cs typeface="Times" pitchFamily="18" charset="0"/>
              </a:rPr>
              <a:t>	= amplitudes of successive terms</a:t>
            </a:r>
          </a:p>
          <a:p>
            <a:pPr>
              <a:spcAft>
                <a:spcPts val="600"/>
              </a:spcAft>
            </a:pPr>
            <a:endParaRPr lang="en-GB" sz="2000">
              <a:cs typeface="Times" pitchFamily="18" charset="0"/>
            </a:endParaRPr>
          </a:p>
          <a:p>
            <a:pPr>
              <a:spcAft>
                <a:spcPts val="600"/>
              </a:spcAft>
            </a:pPr>
            <a:r>
              <a:rPr lang="en-GB" sz="2000">
                <a:cs typeface="Times" pitchFamily="18" charset="0"/>
              </a:rPr>
              <a:t>n	= the series</a:t>
            </a:r>
          </a:p>
          <a:p>
            <a:pPr>
              <a:spcAft>
                <a:spcPts val="600"/>
              </a:spcAft>
            </a:pPr>
            <a:r>
              <a:rPr lang="en-GB" sz="2000">
                <a:sym typeface="Symbol" pitchFamily="18" charset="2"/>
              </a:rPr>
              <a:t></a:t>
            </a:r>
            <a:r>
              <a:rPr lang="en-GB" sz="2000">
                <a:cs typeface="Times" pitchFamily="18" charset="0"/>
              </a:rPr>
              <a:t>t	= 2</a:t>
            </a:r>
            <a:r>
              <a:rPr lang="en-GB" sz="2000">
                <a:sym typeface="Symbol" pitchFamily="18" charset="2"/>
              </a:rPr>
              <a:t></a:t>
            </a:r>
            <a:r>
              <a:rPr lang="en-GB" sz="2000">
                <a:cs typeface="Times" pitchFamily="18" charset="0"/>
              </a:rPr>
              <a:t>f  (f= frequency)</a:t>
            </a:r>
          </a:p>
        </p:txBody>
      </p:sp>
      <p:graphicFrame>
        <p:nvGraphicFramePr>
          <p:cNvPr id="1026" name="Object 10"/>
          <p:cNvGraphicFramePr>
            <a:graphicFrameLocks noChangeAspect="1"/>
          </p:cNvGraphicFramePr>
          <p:nvPr/>
        </p:nvGraphicFramePr>
        <p:xfrm>
          <a:off x="430213" y="3911600"/>
          <a:ext cx="369887" cy="479425"/>
        </p:xfrm>
        <a:graphic>
          <a:graphicData uri="http://schemas.openxmlformats.org/presentationml/2006/ole">
            <mc:AlternateContent xmlns:mc="http://schemas.openxmlformats.org/markup-compatibility/2006">
              <mc:Choice xmlns:v="urn:schemas-microsoft-com:vml" Requires="v">
                <p:oleObj name="Equation" r:id="rId2" imgW="177646" imgH="228402" progId="Equation.3">
                  <p:embed/>
                </p:oleObj>
              </mc:Choice>
              <mc:Fallback>
                <p:oleObj name="Equation" r:id="rId2" imgW="177646" imgH="228402" progId="Equation.3">
                  <p:embed/>
                  <p:pic>
                    <p:nvPicPr>
                      <p:cNvPr id="1026"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213" y="3911600"/>
                        <a:ext cx="369887"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11"/>
          <p:cNvGraphicFramePr>
            <a:graphicFrameLocks noChangeAspect="1"/>
          </p:cNvGraphicFramePr>
          <p:nvPr/>
        </p:nvGraphicFramePr>
        <p:xfrm>
          <a:off x="430213" y="4313238"/>
          <a:ext cx="387350" cy="436562"/>
        </p:xfrm>
        <a:graphic>
          <a:graphicData uri="http://schemas.openxmlformats.org/presentationml/2006/ole">
            <mc:AlternateContent xmlns:mc="http://schemas.openxmlformats.org/markup-compatibility/2006">
              <mc:Choice xmlns:v="urn:schemas-microsoft-com:vml" Requires="v">
                <p:oleObj name="Equation" r:id="rId4" imgW="190335" imgH="215713" progId="Equation.3">
                  <p:embed/>
                </p:oleObj>
              </mc:Choice>
              <mc:Fallback>
                <p:oleObj name="Equation" r:id="rId4" imgW="190335" imgH="215713" progId="Equation.3">
                  <p:embed/>
                  <p:pic>
                    <p:nvPicPr>
                      <p:cNvPr id="1027"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213" y="4313238"/>
                        <a:ext cx="387350"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5" name="Text Box 14"/>
          <p:cNvSpPr txBox="1">
            <a:spLocks noChangeArrowheads="1"/>
          </p:cNvSpPr>
          <p:nvPr/>
        </p:nvSpPr>
        <p:spPr bwMode="auto">
          <a:xfrm>
            <a:off x="5867400" y="3886200"/>
            <a:ext cx="1598613" cy="701675"/>
          </a:xfrm>
          <a:prstGeom prst="rect">
            <a:avLst/>
          </a:prstGeom>
          <a:noFill/>
          <a:ln w="9525">
            <a:noFill/>
            <a:miter lim="800000"/>
            <a:headEnd/>
            <a:tailEnd/>
          </a:ln>
        </p:spPr>
        <p:txBody>
          <a:bodyPr wrap="none">
            <a:spAutoFit/>
          </a:bodyPr>
          <a:lstStyle/>
          <a:p>
            <a:r>
              <a:rPr lang="en-GB" sz="2000"/>
              <a:t>i.e. the </a:t>
            </a:r>
          </a:p>
          <a:p>
            <a:r>
              <a:rPr lang="en-GB" sz="2000"/>
              <a:t>coefficients</a:t>
            </a:r>
            <a:endParaRPr lang="en-GB" sz="2400"/>
          </a:p>
        </p:txBody>
      </p:sp>
      <p:sp>
        <p:nvSpPr>
          <p:cNvPr id="1036" name="Line 16"/>
          <p:cNvSpPr>
            <a:spLocks noChangeShapeType="1"/>
          </p:cNvSpPr>
          <p:nvPr/>
        </p:nvSpPr>
        <p:spPr bwMode="auto">
          <a:xfrm flipH="1" flipV="1">
            <a:off x="3192463" y="2684463"/>
            <a:ext cx="3055937" cy="1201737"/>
          </a:xfrm>
          <a:prstGeom prst="line">
            <a:avLst/>
          </a:prstGeom>
          <a:noFill/>
          <a:ln w="9525">
            <a:solidFill>
              <a:schemeClr val="tx1"/>
            </a:solidFill>
            <a:round/>
            <a:headEnd/>
            <a:tailEnd type="triangle" w="med" len="med"/>
          </a:ln>
        </p:spPr>
        <p:txBody>
          <a:bodyPr wrap="none" anchor="ctr"/>
          <a:lstStyle/>
          <a:p>
            <a:endParaRPr lang="en-GB"/>
          </a:p>
        </p:txBody>
      </p:sp>
      <p:sp>
        <p:nvSpPr>
          <p:cNvPr id="1037" name="Line 17"/>
          <p:cNvSpPr>
            <a:spLocks noChangeShapeType="1"/>
          </p:cNvSpPr>
          <p:nvPr/>
        </p:nvSpPr>
        <p:spPr bwMode="auto">
          <a:xfrm flipH="1" flipV="1">
            <a:off x="4867275" y="2695575"/>
            <a:ext cx="1609725" cy="1190625"/>
          </a:xfrm>
          <a:prstGeom prst="line">
            <a:avLst/>
          </a:prstGeom>
          <a:noFill/>
          <a:ln w="9525">
            <a:solidFill>
              <a:schemeClr val="tx1"/>
            </a:solidFill>
            <a:round/>
            <a:headEnd/>
            <a:tailEnd type="triangle" w="med" len="med"/>
          </a:ln>
        </p:spPr>
        <p:txBody>
          <a:bodyPr wrap="none" anchor="ctr"/>
          <a:lstStyle/>
          <a:p>
            <a:endParaRPr lang="en-GB"/>
          </a:p>
        </p:txBody>
      </p:sp>
      <p:sp>
        <p:nvSpPr>
          <p:cNvPr id="1038" name="AutoShape 18"/>
          <p:cNvSpPr>
            <a:spLocks/>
          </p:cNvSpPr>
          <p:nvPr/>
        </p:nvSpPr>
        <p:spPr bwMode="auto">
          <a:xfrm>
            <a:off x="5562600" y="3962400"/>
            <a:ext cx="152400" cy="609600"/>
          </a:xfrm>
          <a:prstGeom prst="rightBrace">
            <a:avLst>
              <a:gd name="adj1" fmla="val 33333"/>
              <a:gd name="adj2" fmla="val 50000"/>
            </a:avLst>
          </a:prstGeom>
          <a:noFill/>
          <a:ln w="19050">
            <a:solidFill>
              <a:schemeClr val="tx1"/>
            </a:solidFill>
            <a:round/>
            <a:headEnd/>
            <a:tailEnd/>
          </a:ln>
        </p:spPr>
        <p:txBody>
          <a:bodyPr wrap="none" anchor="ctr"/>
          <a:lstStyle/>
          <a:p>
            <a:endParaRPr lang="en-US"/>
          </a:p>
        </p:txBody>
      </p:sp>
      <p:sp>
        <p:nvSpPr>
          <p:cNvPr id="1039" name="Text Box 19"/>
          <p:cNvSpPr txBox="1">
            <a:spLocks noChangeArrowheads="1"/>
          </p:cNvSpPr>
          <p:nvPr/>
        </p:nvSpPr>
        <p:spPr bwMode="auto">
          <a:xfrm>
            <a:off x="3581400" y="990600"/>
            <a:ext cx="4419600" cy="581025"/>
          </a:xfrm>
          <a:prstGeom prst="rect">
            <a:avLst/>
          </a:prstGeom>
          <a:noFill/>
          <a:ln w="9525">
            <a:noFill/>
            <a:miter lim="800000"/>
            <a:headEnd/>
            <a:tailEnd/>
          </a:ln>
        </p:spPr>
        <p:txBody>
          <a:bodyPr>
            <a:spAutoFit/>
          </a:bodyPr>
          <a:lstStyle/>
          <a:p>
            <a:r>
              <a:rPr lang="en-GB"/>
              <a:t>increasingly high frequency components  … (usually) lower amplitudes</a:t>
            </a:r>
            <a:r>
              <a:rPr lang="en-GB" sz="1800"/>
              <a:t> </a:t>
            </a:r>
          </a:p>
        </p:txBody>
      </p:sp>
      <p:graphicFrame>
        <p:nvGraphicFramePr>
          <p:cNvPr id="1028" name="Object 20"/>
          <p:cNvGraphicFramePr>
            <a:graphicFrameLocks noChangeAspect="1"/>
          </p:cNvGraphicFramePr>
          <p:nvPr/>
        </p:nvGraphicFramePr>
        <p:xfrm>
          <a:off x="1233488" y="1770063"/>
          <a:ext cx="5219700" cy="852487"/>
        </p:xfrm>
        <a:graphic>
          <a:graphicData uri="http://schemas.openxmlformats.org/presentationml/2006/ole">
            <mc:AlternateContent xmlns:mc="http://schemas.openxmlformats.org/markup-compatibility/2006">
              <mc:Choice xmlns:v="urn:schemas-microsoft-com:vml" Requires="v">
                <p:oleObj name="Equation" r:id="rId6" imgW="1688367" imgH="291973" progId="Equation.3">
                  <p:embed/>
                </p:oleObj>
              </mc:Choice>
              <mc:Fallback>
                <p:oleObj name="Equation" r:id="rId6" imgW="1688367" imgH="291973" progId="Equation.3">
                  <p:embed/>
                  <p:pic>
                    <p:nvPicPr>
                      <p:cNvPr id="1028"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3488" y="1770063"/>
                        <a:ext cx="5219700"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0" name="Text Box 21"/>
          <p:cNvSpPr txBox="1">
            <a:spLocks noChangeArrowheads="1"/>
          </p:cNvSpPr>
          <p:nvPr/>
        </p:nvSpPr>
        <p:spPr bwMode="auto">
          <a:xfrm>
            <a:off x="6410325" y="2043113"/>
            <a:ext cx="717550" cy="457200"/>
          </a:xfrm>
          <a:prstGeom prst="rect">
            <a:avLst/>
          </a:prstGeom>
          <a:noFill/>
          <a:ln w="9525">
            <a:noFill/>
            <a:miter lim="800000"/>
            <a:headEnd/>
            <a:tailEnd/>
          </a:ln>
        </p:spPr>
        <p:txBody>
          <a:bodyPr wrap="none">
            <a:spAutoFit/>
          </a:bodyPr>
          <a:lstStyle/>
          <a:p>
            <a:r>
              <a:rPr lang="en-GB" sz="2400" b="1">
                <a:latin typeface="Times New Roman" pitchFamily="18" charset="0"/>
              </a:rPr>
              <a:t>…...</a:t>
            </a:r>
          </a:p>
        </p:txBody>
      </p:sp>
      <p:sp>
        <p:nvSpPr>
          <p:cNvPr id="1041" name="Text Box 22"/>
          <p:cNvSpPr txBox="1">
            <a:spLocks noChangeArrowheads="1"/>
          </p:cNvSpPr>
          <p:nvPr/>
        </p:nvSpPr>
        <p:spPr bwMode="auto">
          <a:xfrm>
            <a:off x="4724400" y="6019800"/>
            <a:ext cx="4035425" cy="336550"/>
          </a:xfrm>
          <a:prstGeom prst="rect">
            <a:avLst/>
          </a:prstGeom>
          <a:noFill/>
          <a:ln w="9525">
            <a:noFill/>
            <a:miter lim="800000"/>
            <a:headEnd/>
            <a:tailEnd/>
          </a:ln>
        </p:spPr>
        <p:txBody>
          <a:bodyPr wrap="none">
            <a:spAutoFit/>
          </a:bodyPr>
          <a:lstStyle/>
          <a:p>
            <a:r>
              <a:rPr lang="en-GB" i="1"/>
              <a:t>… Discrete Cosine Transform is similar</a:t>
            </a:r>
            <a:endParaRPr lang="en-GB" sz="2400"/>
          </a:p>
        </p:txBody>
      </p:sp>
    </p:spTree>
    <p:extLst>
      <p:ext uri="{BB962C8B-B14F-4D97-AF65-F5344CB8AC3E}">
        <p14:creationId xmlns:p14="http://schemas.microsoft.com/office/powerpoint/2010/main" val="2735543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p:cNvSpPr txBox="1">
            <a:spLocks noChangeArrowheads="1"/>
          </p:cNvSpPr>
          <p:nvPr/>
        </p:nvSpPr>
        <p:spPr bwMode="auto">
          <a:xfrm>
            <a:off x="430213" y="376238"/>
            <a:ext cx="1858962" cy="457200"/>
          </a:xfrm>
          <a:prstGeom prst="rect">
            <a:avLst/>
          </a:prstGeom>
          <a:noFill/>
          <a:ln w="9525" algn="ctr">
            <a:noFill/>
            <a:miter lim="800000"/>
            <a:headEnd/>
            <a:tailEnd/>
          </a:ln>
        </p:spPr>
        <p:txBody>
          <a:bodyPr wrap="none">
            <a:spAutoFit/>
          </a:bodyPr>
          <a:lstStyle/>
          <a:p>
            <a:r>
              <a:rPr lang="en-GB" sz="2400" b="1" dirty="0"/>
              <a:t>sin and </a:t>
            </a:r>
            <a:r>
              <a:rPr lang="en-GB" sz="2400" b="1" dirty="0" err="1"/>
              <a:t>cos</a:t>
            </a:r>
            <a:endParaRPr lang="en-GB" sz="2400" b="1" dirty="0"/>
          </a:p>
        </p:txBody>
      </p:sp>
      <p:sp>
        <p:nvSpPr>
          <p:cNvPr id="17411" name="Line 5"/>
          <p:cNvSpPr>
            <a:spLocks noChangeShapeType="1"/>
          </p:cNvSpPr>
          <p:nvPr/>
        </p:nvSpPr>
        <p:spPr bwMode="auto">
          <a:xfrm>
            <a:off x="1133475" y="4479925"/>
            <a:ext cx="1588" cy="1611313"/>
          </a:xfrm>
          <a:prstGeom prst="line">
            <a:avLst/>
          </a:prstGeom>
          <a:noFill/>
          <a:ln w="9525">
            <a:solidFill>
              <a:schemeClr val="tx1"/>
            </a:solidFill>
            <a:round/>
            <a:headEnd/>
            <a:tailEnd/>
          </a:ln>
        </p:spPr>
        <p:txBody>
          <a:bodyPr/>
          <a:lstStyle/>
          <a:p>
            <a:endParaRPr lang="en-GB"/>
          </a:p>
        </p:txBody>
      </p:sp>
      <p:sp>
        <p:nvSpPr>
          <p:cNvPr id="17412" name="Rectangle 6"/>
          <p:cNvSpPr>
            <a:spLocks noChangeArrowheads="1"/>
          </p:cNvSpPr>
          <p:nvPr/>
        </p:nvSpPr>
        <p:spPr bwMode="auto">
          <a:xfrm>
            <a:off x="430213" y="4778375"/>
            <a:ext cx="749300" cy="336550"/>
          </a:xfrm>
          <a:prstGeom prst="rect">
            <a:avLst/>
          </a:prstGeom>
          <a:noFill/>
          <a:ln w="9525" algn="ctr">
            <a:noFill/>
            <a:miter lim="800000"/>
            <a:headEnd/>
            <a:tailEnd/>
          </a:ln>
        </p:spPr>
        <p:txBody>
          <a:bodyPr>
            <a:spAutoFit/>
          </a:bodyPr>
          <a:lstStyle/>
          <a:p>
            <a:r>
              <a:rPr lang="en-GB"/>
              <a:t>cos </a:t>
            </a:r>
            <a:r>
              <a:rPr lang="en-GB">
                <a:sym typeface="Symbol" pitchFamily="18" charset="2"/>
              </a:rPr>
              <a:t></a:t>
            </a:r>
          </a:p>
        </p:txBody>
      </p:sp>
      <p:grpSp>
        <p:nvGrpSpPr>
          <p:cNvPr id="17413" name="Group 7"/>
          <p:cNvGrpSpPr>
            <a:grpSpLocks/>
          </p:cNvGrpSpPr>
          <p:nvPr/>
        </p:nvGrpSpPr>
        <p:grpSpPr bwMode="auto">
          <a:xfrm>
            <a:off x="1095375" y="4591050"/>
            <a:ext cx="7529513" cy="1409700"/>
            <a:chOff x="690" y="2064"/>
            <a:chExt cx="4743" cy="1472"/>
          </a:xfrm>
        </p:grpSpPr>
        <p:sp>
          <p:nvSpPr>
            <p:cNvPr id="17437" name="Line 8"/>
            <p:cNvSpPr>
              <a:spLocks noChangeShapeType="1"/>
            </p:cNvSpPr>
            <p:nvPr/>
          </p:nvSpPr>
          <p:spPr bwMode="auto">
            <a:xfrm>
              <a:off x="690" y="2787"/>
              <a:ext cx="4743" cy="1"/>
            </a:xfrm>
            <a:prstGeom prst="line">
              <a:avLst/>
            </a:prstGeom>
            <a:noFill/>
            <a:ln w="9525">
              <a:solidFill>
                <a:schemeClr val="tx1"/>
              </a:solidFill>
              <a:round/>
              <a:headEnd/>
              <a:tailEnd/>
            </a:ln>
          </p:spPr>
          <p:txBody>
            <a:bodyPr/>
            <a:lstStyle/>
            <a:p>
              <a:endParaRPr lang="en-GB"/>
            </a:p>
          </p:txBody>
        </p:sp>
        <p:sp>
          <p:nvSpPr>
            <p:cNvPr id="17438" name="Freeform 9"/>
            <p:cNvSpPr>
              <a:spLocks/>
            </p:cNvSpPr>
            <p:nvPr/>
          </p:nvSpPr>
          <p:spPr bwMode="auto">
            <a:xfrm>
              <a:off x="710" y="2064"/>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39" name="Line 10"/>
            <p:cNvSpPr>
              <a:spLocks noChangeShapeType="1"/>
            </p:cNvSpPr>
            <p:nvPr/>
          </p:nvSpPr>
          <p:spPr bwMode="auto">
            <a:xfrm>
              <a:off x="720" y="2067"/>
              <a:ext cx="0" cy="733"/>
            </a:xfrm>
            <a:prstGeom prst="line">
              <a:avLst/>
            </a:prstGeom>
            <a:noFill/>
            <a:ln w="9525">
              <a:solidFill>
                <a:schemeClr val="tx1"/>
              </a:solidFill>
              <a:prstDash val="dash"/>
              <a:round/>
              <a:headEnd/>
              <a:tailEnd/>
            </a:ln>
          </p:spPr>
          <p:txBody>
            <a:bodyPr/>
            <a:lstStyle/>
            <a:p>
              <a:endParaRPr lang="en-GB"/>
            </a:p>
          </p:txBody>
        </p:sp>
        <p:sp>
          <p:nvSpPr>
            <p:cNvPr id="17440" name="Freeform 11"/>
            <p:cNvSpPr>
              <a:spLocks/>
            </p:cNvSpPr>
            <p:nvPr/>
          </p:nvSpPr>
          <p:spPr bwMode="auto">
            <a:xfrm flipV="1">
              <a:off x="1174" y="2796"/>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41" name="Freeform 12"/>
            <p:cNvSpPr>
              <a:spLocks/>
            </p:cNvSpPr>
            <p:nvPr/>
          </p:nvSpPr>
          <p:spPr bwMode="auto">
            <a:xfrm flipV="1">
              <a:off x="1635" y="2792"/>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42" name="Line 13"/>
            <p:cNvSpPr>
              <a:spLocks noChangeShapeType="1"/>
            </p:cNvSpPr>
            <p:nvPr/>
          </p:nvSpPr>
          <p:spPr bwMode="auto">
            <a:xfrm flipV="1">
              <a:off x="1644" y="2795"/>
              <a:ext cx="1" cy="733"/>
            </a:xfrm>
            <a:prstGeom prst="line">
              <a:avLst/>
            </a:prstGeom>
            <a:noFill/>
            <a:ln w="9525">
              <a:solidFill>
                <a:schemeClr val="tx1"/>
              </a:solidFill>
              <a:prstDash val="dash"/>
              <a:round/>
              <a:headEnd/>
              <a:tailEnd/>
            </a:ln>
          </p:spPr>
          <p:txBody>
            <a:bodyPr/>
            <a:lstStyle/>
            <a:p>
              <a:endParaRPr lang="en-GB"/>
            </a:p>
          </p:txBody>
        </p:sp>
        <p:sp>
          <p:nvSpPr>
            <p:cNvPr id="17443" name="Freeform 14"/>
            <p:cNvSpPr>
              <a:spLocks/>
            </p:cNvSpPr>
            <p:nvPr/>
          </p:nvSpPr>
          <p:spPr bwMode="auto">
            <a:xfrm>
              <a:off x="2081" y="2076"/>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44" name="Freeform 15"/>
            <p:cNvSpPr>
              <a:spLocks/>
            </p:cNvSpPr>
            <p:nvPr/>
          </p:nvSpPr>
          <p:spPr bwMode="auto">
            <a:xfrm>
              <a:off x="2542" y="2072"/>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45" name="Line 16"/>
            <p:cNvSpPr>
              <a:spLocks noChangeShapeType="1"/>
            </p:cNvSpPr>
            <p:nvPr/>
          </p:nvSpPr>
          <p:spPr bwMode="auto">
            <a:xfrm>
              <a:off x="2552" y="2075"/>
              <a:ext cx="0" cy="733"/>
            </a:xfrm>
            <a:prstGeom prst="line">
              <a:avLst/>
            </a:prstGeom>
            <a:noFill/>
            <a:ln w="9525">
              <a:solidFill>
                <a:schemeClr val="tx1"/>
              </a:solidFill>
              <a:prstDash val="dash"/>
              <a:round/>
              <a:headEnd/>
              <a:tailEnd/>
            </a:ln>
          </p:spPr>
          <p:txBody>
            <a:bodyPr/>
            <a:lstStyle/>
            <a:p>
              <a:endParaRPr lang="en-GB"/>
            </a:p>
          </p:txBody>
        </p:sp>
        <p:sp>
          <p:nvSpPr>
            <p:cNvPr id="17446" name="Freeform 17"/>
            <p:cNvSpPr>
              <a:spLocks/>
            </p:cNvSpPr>
            <p:nvPr/>
          </p:nvSpPr>
          <p:spPr bwMode="auto">
            <a:xfrm flipV="1">
              <a:off x="3006" y="2804"/>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47" name="Freeform 18"/>
            <p:cNvSpPr>
              <a:spLocks/>
            </p:cNvSpPr>
            <p:nvPr/>
          </p:nvSpPr>
          <p:spPr bwMode="auto">
            <a:xfrm flipV="1">
              <a:off x="3467" y="280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48" name="Line 19"/>
            <p:cNvSpPr>
              <a:spLocks noChangeShapeType="1"/>
            </p:cNvSpPr>
            <p:nvPr/>
          </p:nvSpPr>
          <p:spPr bwMode="auto">
            <a:xfrm flipV="1">
              <a:off x="3476" y="2803"/>
              <a:ext cx="1" cy="733"/>
            </a:xfrm>
            <a:prstGeom prst="line">
              <a:avLst/>
            </a:prstGeom>
            <a:noFill/>
            <a:ln w="9525">
              <a:solidFill>
                <a:schemeClr val="tx1"/>
              </a:solidFill>
              <a:prstDash val="dash"/>
              <a:round/>
              <a:headEnd/>
              <a:tailEnd/>
            </a:ln>
          </p:spPr>
          <p:txBody>
            <a:bodyPr/>
            <a:lstStyle/>
            <a:p>
              <a:endParaRPr lang="en-GB"/>
            </a:p>
          </p:txBody>
        </p:sp>
        <p:grpSp>
          <p:nvGrpSpPr>
            <p:cNvPr id="17449" name="Group 20"/>
            <p:cNvGrpSpPr>
              <a:grpSpLocks/>
            </p:cNvGrpSpPr>
            <p:nvPr/>
          </p:nvGrpSpPr>
          <p:grpSpPr bwMode="auto">
            <a:xfrm>
              <a:off x="3929" y="2072"/>
              <a:ext cx="911" cy="736"/>
              <a:chOff x="709" y="1560"/>
              <a:chExt cx="911" cy="736"/>
            </a:xfrm>
          </p:grpSpPr>
          <p:sp>
            <p:nvSpPr>
              <p:cNvPr id="17451" name="Freeform 21"/>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52" name="Freeform 22"/>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53" name="Line 23"/>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17450" name="Freeform 24"/>
            <p:cNvSpPr>
              <a:spLocks/>
            </p:cNvSpPr>
            <p:nvPr/>
          </p:nvSpPr>
          <p:spPr bwMode="auto">
            <a:xfrm flipH="1" flipV="1">
              <a:off x="4846" y="2796"/>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grpSp>
      <p:grpSp>
        <p:nvGrpSpPr>
          <p:cNvPr id="17414" name="Group 25"/>
          <p:cNvGrpSpPr>
            <a:grpSpLocks/>
          </p:cNvGrpSpPr>
          <p:nvPr/>
        </p:nvGrpSpPr>
        <p:grpSpPr bwMode="auto">
          <a:xfrm>
            <a:off x="1095375" y="2538413"/>
            <a:ext cx="7529513" cy="1522412"/>
            <a:chOff x="690" y="900"/>
            <a:chExt cx="4743" cy="1681"/>
          </a:xfrm>
        </p:grpSpPr>
        <p:sp>
          <p:nvSpPr>
            <p:cNvPr id="17418" name="Line 26"/>
            <p:cNvSpPr>
              <a:spLocks noChangeShapeType="1"/>
            </p:cNvSpPr>
            <p:nvPr/>
          </p:nvSpPr>
          <p:spPr bwMode="auto">
            <a:xfrm>
              <a:off x="690" y="1738"/>
              <a:ext cx="4743" cy="1"/>
            </a:xfrm>
            <a:prstGeom prst="line">
              <a:avLst/>
            </a:prstGeom>
            <a:noFill/>
            <a:ln w="9525">
              <a:solidFill>
                <a:schemeClr val="tx1"/>
              </a:solidFill>
              <a:round/>
              <a:headEnd/>
              <a:tailEnd/>
            </a:ln>
          </p:spPr>
          <p:txBody>
            <a:bodyPr/>
            <a:lstStyle/>
            <a:p>
              <a:endParaRPr lang="en-GB"/>
            </a:p>
          </p:txBody>
        </p:sp>
        <p:sp>
          <p:nvSpPr>
            <p:cNvPr id="17419" name="Line 27"/>
            <p:cNvSpPr>
              <a:spLocks noChangeShapeType="1"/>
            </p:cNvSpPr>
            <p:nvPr/>
          </p:nvSpPr>
          <p:spPr bwMode="auto">
            <a:xfrm>
              <a:off x="714" y="900"/>
              <a:ext cx="1" cy="1681"/>
            </a:xfrm>
            <a:prstGeom prst="line">
              <a:avLst/>
            </a:prstGeom>
            <a:noFill/>
            <a:ln w="9525">
              <a:solidFill>
                <a:schemeClr val="tx1"/>
              </a:solidFill>
              <a:round/>
              <a:headEnd/>
              <a:tailEnd/>
            </a:ln>
          </p:spPr>
          <p:txBody>
            <a:bodyPr/>
            <a:lstStyle/>
            <a:p>
              <a:endParaRPr lang="en-GB"/>
            </a:p>
          </p:txBody>
        </p:sp>
        <p:grpSp>
          <p:nvGrpSpPr>
            <p:cNvPr id="17420" name="Group 28"/>
            <p:cNvGrpSpPr>
              <a:grpSpLocks/>
            </p:cNvGrpSpPr>
            <p:nvPr/>
          </p:nvGrpSpPr>
          <p:grpSpPr bwMode="auto">
            <a:xfrm>
              <a:off x="717" y="1015"/>
              <a:ext cx="911" cy="736"/>
              <a:chOff x="709" y="1560"/>
              <a:chExt cx="911" cy="736"/>
            </a:xfrm>
          </p:grpSpPr>
          <p:sp>
            <p:nvSpPr>
              <p:cNvPr id="17434"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35"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36"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17421"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22"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23"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17424"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25"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26"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17427"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28"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29"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17430" name="Group 41"/>
            <p:cNvGrpSpPr>
              <a:grpSpLocks/>
            </p:cNvGrpSpPr>
            <p:nvPr/>
          </p:nvGrpSpPr>
          <p:grpSpPr bwMode="auto">
            <a:xfrm>
              <a:off x="4397" y="1023"/>
              <a:ext cx="911" cy="736"/>
              <a:chOff x="709" y="1560"/>
              <a:chExt cx="911" cy="736"/>
            </a:xfrm>
          </p:grpSpPr>
          <p:sp>
            <p:nvSpPr>
              <p:cNvPr id="17431"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432"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433"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sp>
        <p:nvSpPr>
          <p:cNvPr id="17415" name="Rectangle 45"/>
          <p:cNvSpPr>
            <a:spLocks noChangeArrowheads="1"/>
          </p:cNvSpPr>
          <p:nvPr/>
        </p:nvSpPr>
        <p:spPr bwMode="auto">
          <a:xfrm>
            <a:off x="430213" y="2732088"/>
            <a:ext cx="666750" cy="336550"/>
          </a:xfrm>
          <a:prstGeom prst="rect">
            <a:avLst/>
          </a:prstGeom>
          <a:noFill/>
          <a:ln w="9525" algn="ctr">
            <a:noFill/>
            <a:miter lim="800000"/>
            <a:headEnd/>
            <a:tailEnd/>
          </a:ln>
        </p:spPr>
        <p:txBody>
          <a:bodyPr>
            <a:spAutoFit/>
          </a:bodyPr>
          <a:lstStyle/>
          <a:p>
            <a:r>
              <a:rPr lang="en-GB"/>
              <a:t>sin </a:t>
            </a:r>
            <a:r>
              <a:rPr lang="en-GB">
                <a:sym typeface="Symbol" pitchFamily="18" charset="2"/>
              </a:rPr>
              <a:t></a:t>
            </a:r>
          </a:p>
        </p:txBody>
      </p:sp>
      <p:sp>
        <p:nvSpPr>
          <p:cNvPr id="17416" name="Text Box 46"/>
          <p:cNvSpPr txBox="1">
            <a:spLocks noChangeArrowheads="1"/>
          </p:cNvSpPr>
          <p:nvPr/>
        </p:nvSpPr>
        <p:spPr bwMode="auto">
          <a:xfrm>
            <a:off x="982663" y="4051300"/>
            <a:ext cx="7881937" cy="336550"/>
          </a:xfrm>
          <a:prstGeom prst="rect">
            <a:avLst/>
          </a:prstGeom>
          <a:noFill/>
          <a:ln w="9525" algn="ctr">
            <a:noFill/>
            <a:miter lim="800000"/>
            <a:headEnd/>
            <a:tailEnd/>
          </a:ln>
        </p:spPr>
        <p:txBody>
          <a:bodyPr wrap="none">
            <a:spAutoFit/>
          </a:bodyPr>
          <a:lstStyle/>
          <a:p>
            <a:r>
              <a:rPr lang="en-GB"/>
              <a:t>0         90      180      270    360      450     540      630    720       810     900 </a:t>
            </a:r>
          </a:p>
        </p:txBody>
      </p:sp>
      <p:sp>
        <p:nvSpPr>
          <p:cNvPr id="17417" name="Text Box 47"/>
          <p:cNvSpPr txBox="1">
            <a:spLocks noChangeArrowheads="1"/>
          </p:cNvSpPr>
          <p:nvPr/>
        </p:nvSpPr>
        <p:spPr bwMode="auto">
          <a:xfrm>
            <a:off x="430213" y="896938"/>
            <a:ext cx="5707062" cy="1266825"/>
          </a:xfrm>
          <a:prstGeom prst="rect">
            <a:avLst/>
          </a:prstGeom>
          <a:noFill/>
          <a:ln w="9525" algn="ctr">
            <a:noFill/>
            <a:miter lim="800000"/>
            <a:headEnd/>
            <a:tailEnd/>
          </a:ln>
        </p:spPr>
        <p:txBody>
          <a:bodyPr wrap="none">
            <a:spAutoFit/>
          </a:bodyPr>
          <a:lstStyle/>
          <a:p>
            <a:pPr marL="177800" indent="-177800">
              <a:lnSpc>
                <a:spcPct val="120000"/>
              </a:lnSpc>
            </a:pPr>
            <a:r>
              <a:rPr lang="en-GB"/>
              <a:t>Compare sin and cos:  </a:t>
            </a:r>
          </a:p>
          <a:p>
            <a:pPr marL="177800" indent="-177800">
              <a:lnSpc>
                <a:spcPct val="120000"/>
              </a:lnSpc>
              <a:buFontTx/>
              <a:buChar char="•"/>
            </a:pPr>
            <a:r>
              <a:rPr lang="en-GB"/>
              <a:t>note that for any value of sin, cos got there 90</a:t>
            </a:r>
            <a:r>
              <a:rPr lang="en-US">
                <a:ea typeface="Lucida Sans Unicode" pitchFamily="34" charset="0"/>
                <a:cs typeface="Lucida Sans Unicode" pitchFamily="34" charset="0"/>
              </a:rPr>
              <a:t>° earlier</a:t>
            </a:r>
          </a:p>
          <a:p>
            <a:pPr marL="177800" indent="-177800">
              <a:lnSpc>
                <a:spcPct val="120000"/>
              </a:lnSpc>
              <a:buFontTx/>
              <a:buChar char="•"/>
            </a:pPr>
            <a:r>
              <a:rPr lang="en-US">
                <a:ea typeface="Lucida Sans Unicode" pitchFamily="34" charset="0"/>
                <a:cs typeface="Lucida Sans Unicode" pitchFamily="34" charset="0"/>
              </a:rPr>
              <a:t>i.e. cos </a:t>
            </a:r>
            <a:r>
              <a:rPr lang="en-US" i="1" u="sng">
                <a:ea typeface="Lucida Sans Unicode" pitchFamily="34" charset="0"/>
                <a:cs typeface="Lucida Sans Unicode" pitchFamily="34" charset="0"/>
              </a:rPr>
              <a:t>leads</a:t>
            </a:r>
            <a:r>
              <a:rPr lang="en-US">
                <a:ea typeface="Lucida Sans Unicode" pitchFamily="34" charset="0"/>
                <a:cs typeface="Lucida Sans Unicode" pitchFamily="34" charset="0"/>
              </a:rPr>
              <a:t> sin by 90 </a:t>
            </a:r>
            <a:r>
              <a:rPr lang="en-US"/>
              <a:t>°</a:t>
            </a:r>
          </a:p>
          <a:p>
            <a:pPr marL="177800" indent="-177800">
              <a:lnSpc>
                <a:spcPct val="120000"/>
              </a:lnSpc>
              <a:buFontTx/>
              <a:buChar char="•"/>
            </a:pPr>
            <a:r>
              <a:rPr lang="en-US"/>
              <a:t>... or sin </a:t>
            </a:r>
            <a:r>
              <a:rPr lang="en-US" i="1" u="sng"/>
              <a:t>lags</a:t>
            </a:r>
            <a:r>
              <a:rPr lang="en-US"/>
              <a:t> cos by 90 °</a:t>
            </a:r>
          </a:p>
        </p:txBody>
      </p:sp>
    </p:spTree>
    <p:extLst>
      <p:ext uri="{BB962C8B-B14F-4D97-AF65-F5344CB8AC3E}">
        <p14:creationId xmlns:p14="http://schemas.microsoft.com/office/powerpoint/2010/main" val="12571077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12"/>
          <p:cNvGrpSpPr>
            <a:grpSpLocks/>
          </p:cNvGrpSpPr>
          <p:nvPr/>
        </p:nvGrpSpPr>
        <p:grpSpPr bwMode="auto">
          <a:xfrm>
            <a:off x="1692275" y="2244725"/>
            <a:ext cx="5295900" cy="4160838"/>
            <a:chOff x="2686" y="1307"/>
            <a:chExt cx="3074" cy="2413"/>
          </a:xfrm>
        </p:grpSpPr>
        <p:pic>
          <p:nvPicPr>
            <p:cNvPr id="18437" name="Picture 13"/>
            <p:cNvPicPr>
              <a:picLocks noChangeAspect="1" noChangeArrowheads="1"/>
            </p:cNvPicPr>
            <p:nvPr/>
          </p:nvPicPr>
          <p:blipFill>
            <a:blip r:embed="rId2" cstate="print"/>
            <a:srcRect/>
            <a:stretch>
              <a:fillRect/>
            </a:stretch>
          </p:blipFill>
          <p:spPr bwMode="auto">
            <a:xfrm>
              <a:off x="2686" y="1310"/>
              <a:ext cx="3074" cy="2410"/>
            </a:xfrm>
            <a:prstGeom prst="rect">
              <a:avLst/>
            </a:prstGeom>
            <a:noFill/>
            <a:ln w="9525" algn="ctr">
              <a:noFill/>
              <a:miter lim="800000"/>
              <a:headEnd/>
              <a:tailEnd/>
            </a:ln>
          </p:spPr>
        </p:pic>
        <p:grpSp>
          <p:nvGrpSpPr>
            <p:cNvPr id="18438" name="Group 14"/>
            <p:cNvGrpSpPr>
              <a:grpSpLocks/>
            </p:cNvGrpSpPr>
            <p:nvPr/>
          </p:nvGrpSpPr>
          <p:grpSpPr bwMode="auto">
            <a:xfrm>
              <a:off x="2874" y="1307"/>
              <a:ext cx="2770" cy="2077"/>
              <a:chOff x="2874" y="1307"/>
              <a:chExt cx="2770" cy="2077"/>
            </a:xfrm>
          </p:grpSpPr>
          <p:sp>
            <p:nvSpPr>
              <p:cNvPr id="18439" name="Line 15"/>
              <p:cNvSpPr>
                <a:spLocks noChangeShapeType="1"/>
              </p:cNvSpPr>
              <p:nvPr/>
            </p:nvSpPr>
            <p:spPr bwMode="auto">
              <a:xfrm flipH="1">
                <a:off x="4237" y="1495"/>
                <a:ext cx="5" cy="1889"/>
              </a:xfrm>
              <a:prstGeom prst="line">
                <a:avLst/>
              </a:prstGeom>
              <a:noFill/>
              <a:ln w="28575">
                <a:solidFill>
                  <a:schemeClr val="accent1"/>
                </a:solidFill>
                <a:round/>
                <a:headEnd/>
                <a:tailEnd/>
              </a:ln>
            </p:spPr>
            <p:txBody>
              <a:bodyPr/>
              <a:lstStyle/>
              <a:p>
                <a:endParaRPr lang="en-GB"/>
              </a:p>
            </p:txBody>
          </p:sp>
          <p:sp>
            <p:nvSpPr>
              <p:cNvPr id="18440" name="Line 16"/>
              <p:cNvSpPr>
                <a:spLocks noChangeShapeType="1"/>
              </p:cNvSpPr>
              <p:nvPr/>
            </p:nvSpPr>
            <p:spPr bwMode="auto">
              <a:xfrm>
                <a:off x="2891" y="2426"/>
                <a:ext cx="2697" cy="0"/>
              </a:xfrm>
              <a:prstGeom prst="line">
                <a:avLst/>
              </a:prstGeom>
              <a:noFill/>
              <a:ln w="28575">
                <a:solidFill>
                  <a:schemeClr val="accent1"/>
                </a:solidFill>
                <a:round/>
                <a:headEnd/>
                <a:tailEnd/>
              </a:ln>
            </p:spPr>
            <p:txBody>
              <a:bodyPr/>
              <a:lstStyle/>
              <a:p>
                <a:endParaRPr lang="en-GB"/>
              </a:p>
            </p:txBody>
          </p:sp>
          <p:sp>
            <p:nvSpPr>
              <p:cNvPr id="18441" name="Rectangle 17"/>
              <p:cNvSpPr>
                <a:spLocks noChangeArrowheads="1"/>
              </p:cNvSpPr>
              <p:nvPr/>
            </p:nvSpPr>
            <p:spPr bwMode="auto">
              <a:xfrm>
                <a:off x="2874" y="1307"/>
                <a:ext cx="2770" cy="249"/>
              </a:xfrm>
              <a:prstGeom prst="rect">
                <a:avLst/>
              </a:prstGeom>
              <a:solidFill>
                <a:schemeClr val="bg1"/>
              </a:solidFill>
              <a:ln w="9525" algn="ctr">
                <a:noFill/>
                <a:miter lim="800000"/>
                <a:headEnd/>
                <a:tailEnd/>
              </a:ln>
            </p:spPr>
            <p:txBody>
              <a:bodyPr wrap="none" anchor="ctr"/>
              <a:lstStyle/>
              <a:p>
                <a:endParaRPr lang="en-US"/>
              </a:p>
            </p:txBody>
          </p:sp>
          <p:sp>
            <p:nvSpPr>
              <p:cNvPr id="18442" name="Rectangle 18"/>
              <p:cNvSpPr>
                <a:spLocks noChangeArrowheads="1"/>
              </p:cNvSpPr>
              <p:nvPr/>
            </p:nvSpPr>
            <p:spPr bwMode="auto">
              <a:xfrm>
                <a:off x="5533" y="1523"/>
                <a:ext cx="78" cy="1861"/>
              </a:xfrm>
              <a:prstGeom prst="rect">
                <a:avLst/>
              </a:prstGeom>
              <a:solidFill>
                <a:schemeClr val="bg1"/>
              </a:solidFill>
              <a:ln w="9525" algn="ctr">
                <a:noFill/>
                <a:miter lim="800000"/>
                <a:headEnd/>
                <a:tailEnd/>
              </a:ln>
            </p:spPr>
            <p:txBody>
              <a:bodyPr wrap="none" anchor="ctr"/>
              <a:lstStyle/>
              <a:p>
                <a:endParaRPr lang="en-US"/>
              </a:p>
            </p:txBody>
          </p:sp>
        </p:grpSp>
      </p:grpSp>
      <p:sp>
        <p:nvSpPr>
          <p:cNvPr id="18435" name="Rectangle 2"/>
          <p:cNvSpPr>
            <a:spLocks noChangeArrowheads="1"/>
          </p:cNvSpPr>
          <p:nvPr/>
        </p:nvSpPr>
        <p:spPr bwMode="auto">
          <a:xfrm>
            <a:off x="430213" y="869950"/>
            <a:ext cx="8370887" cy="1962150"/>
          </a:xfrm>
          <a:prstGeom prst="rect">
            <a:avLst/>
          </a:prstGeom>
          <a:noFill/>
          <a:ln w="9525" algn="ctr">
            <a:noFill/>
            <a:miter lim="800000"/>
            <a:headEnd/>
            <a:tailEnd/>
          </a:ln>
        </p:spPr>
        <p:txBody>
          <a:bodyPr>
            <a:spAutoFit/>
          </a:bodyPr>
          <a:lstStyle/>
          <a:p>
            <a:pPr marL="180975" indent="-180975">
              <a:lnSpc>
                <a:spcPct val="120000"/>
              </a:lnSpc>
            </a:pPr>
            <a:r>
              <a:rPr lang="en-US" sz="1800" dirty="0"/>
              <a:t>An expansion of a periodic function f(x) (or f(t)) </a:t>
            </a:r>
          </a:p>
          <a:p>
            <a:pPr marL="630238" lvl="1" indent="-173038">
              <a:lnSpc>
                <a:spcPct val="120000"/>
              </a:lnSpc>
              <a:buFontTx/>
              <a:buChar char="•"/>
            </a:pPr>
            <a:r>
              <a:rPr lang="en-US" sz="1800" dirty="0"/>
              <a:t>in terms of an infinite sum of </a:t>
            </a:r>
            <a:r>
              <a:rPr lang="en-US" sz="1800" dirty="0" err="1"/>
              <a:t>sines</a:t>
            </a:r>
            <a:r>
              <a:rPr lang="en-US" sz="1800" dirty="0"/>
              <a:t> and cosines</a:t>
            </a:r>
          </a:p>
          <a:p>
            <a:pPr marL="180975" indent="-180975">
              <a:lnSpc>
                <a:spcPct val="120000"/>
              </a:lnSpc>
              <a:buFontTx/>
              <a:buChar char="•"/>
            </a:pPr>
            <a:r>
              <a:rPr lang="en-US" sz="1800" dirty="0"/>
              <a:t>makes use of the </a:t>
            </a:r>
            <a:r>
              <a:rPr lang="en-US" sz="1800" i="1" dirty="0" err="1"/>
              <a:t>orthogonality</a:t>
            </a:r>
            <a:r>
              <a:rPr lang="en-US" sz="1800" i="1" dirty="0"/>
              <a:t> </a:t>
            </a:r>
            <a:r>
              <a:rPr lang="en-US" sz="1800" dirty="0"/>
              <a:t>relationships of the sine and cosine functions (odd / even functions)</a:t>
            </a:r>
          </a:p>
          <a:p>
            <a:pPr marL="180975" indent="-180975">
              <a:buFontTx/>
              <a:buChar char="•"/>
            </a:pPr>
            <a:endParaRPr lang="en-US" sz="1800" dirty="0"/>
          </a:p>
          <a:p>
            <a:pPr marL="180975" indent="-180975"/>
            <a:endParaRPr lang="en-US" sz="1800" dirty="0"/>
          </a:p>
        </p:txBody>
      </p:sp>
      <p:sp>
        <p:nvSpPr>
          <p:cNvPr id="18436" name="Text Box 3"/>
          <p:cNvSpPr txBox="1">
            <a:spLocks noChangeArrowheads="1"/>
          </p:cNvSpPr>
          <p:nvPr/>
        </p:nvSpPr>
        <p:spPr bwMode="auto">
          <a:xfrm>
            <a:off x="430213" y="366713"/>
            <a:ext cx="2203450" cy="457200"/>
          </a:xfrm>
          <a:prstGeom prst="rect">
            <a:avLst/>
          </a:prstGeom>
          <a:noFill/>
          <a:ln w="28575">
            <a:noFill/>
            <a:miter lim="800000"/>
            <a:headEnd/>
            <a:tailEnd/>
          </a:ln>
        </p:spPr>
        <p:txBody>
          <a:bodyPr wrap="none" anchor="ctr">
            <a:spAutoFit/>
          </a:bodyPr>
          <a:lstStyle/>
          <a:p>
            <a:pPr algn="ctr"/>
            <a:r>
              <a:rPr lang="en-GB" sz="2400" b="1" dirty="0"/>
              <a:t>Fourier Series</a:t>
            </a:r>
          </a:p>
        </p:txBody>
      </p:sp>
    </p:spTree>
    <p:extLst>
      <p:ext uri="{BB962C8B-B14F-4D97-AF65-F5344CB8AC3E}">
        <p14:creationId xmlns:p14="http://schemas.microsoft.com/office/powerpoint/2010/main" val="6506227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AutoShape 2"/>
          <p:cNvSpPr>
            <a:spLocks noChangeArrowheads="1"/>
          </p:cNvSpPr>
          <p:nvPr/>
        </p:nvSpPr>
        <p:spPr bwMode="auto">
          <a:xfrm>
            <a:off x="6629400" y="1219200"/>
            <a:ext cx="1676400" cy="304800"/>
          </a:xfrm>
          <a:prstGeom prst="rightArrow">
            <a:avLst>
              <a:gd name="adj1" fmla="val 50000"/>
              <a:gd name="adj2" fmla="val 179692"/>
            </a:avLst>
          </a:prstGeom>
          <a:solidFill>
            <a:schemeClr val="folHlink"/>
          </a:solidFill>
          <a:ln w="9525">
            <a:noFill/>
            <a:miter lim="800000"/>
            <a:headEnd/>
            <a:tailEnd/>
          </a:ln>
        </p:spPr>
        <p:txBody>
          <a:bodyPr wrap="none" anchor="ctr"/>
          <a:lstStyle/>
          <a:p>
            <a:endParaRPr lang="en-US"/>
          </a:p>
        </p:txBody>
      </p:sp>
      <p:sp>
        <p:nvSpPr>
          <p:cNvPr id="2054" name="Rectangle 3"/>
          <p:cNvSpPr>
            <a:spLocks noChangeArrowheads="1"/>
          </p:cNvSpPr>
          <p:nvPr/>
        </p:nvSpPr>
        <p:spPr bwMode="auto">
          <a:xfrm>
            <a:off x="1600200" y="1828800"/>
            <a:ext cx="457200" cy="609600"/>
          </a:xfrm>
          <a:prstGeom prst="rect">
            <a:avLst/>
          </a:prstGeom>
          <a:solidFill>
            <a:srgbClr val="FFFF00"/>
          </a:solidFill>
          <a:ln w="9525">
            <a:noFill/>
            <a:miter lim="800000"/>
            <a:headEnd/>
            <a:tailEnd/>
          </a:ln>
        </p:spPr>
        <p:txBody>
          <a:bodyPr wrap="none" anchor="ctr"/>
          <a:lstStyle/>
          <a:p>
            <a:endParaRPr lang="en-US"/>
          </a:p>
        </p:txBody>
      </p:sp>
      <p:sp>
        <p:nvSpPr>
          <p:cNvPr id="2055" name="Text Box 4"/>
          <p:cNvSpPr txBox="1">
            <a:spLocks noChangeArrowheads="1"/>
          </p:cNvSpPr>
          <p:nvPr/>
        </p:nvSpPr>
        <p:spPr bwMode="auto">
          <a:xfrm>
            <a:off x="2141538" y="2179638"/>
            <a:ext cx="184150" cy="336550"/>
          </a:xfrm>
          <a:prstGeom prst="rect">
            <a:avLst/>
          </a:prstGeom>
          <a:noFill/>
          <a:ln w="28575">
            <a:noFill/>
            <a:miter lim="800000"/>
            <a:headEnd/>
            <a:tailEnd/>
          </a:ln>
        </p:spPr>
        <p:txBody>
          <a:bodyPr wrap="none" anchor="ctr">
            <a:spAutoFit/>
          </a:bodyPr>
          <a:lstStyle/>
          <a:p>
            <a:pPr algn="ctr"/>
            <a:endParaRPr lang="en-US"/>
          </a:p>
        </p:txBody>
      </p:sp>
      <p:sp>
        <p:nvSpPr>
          <p:cNvPr id="2056" name="Text Box 5"/>
          <p:cNvSpPr txBox="1">
            <a:spLocks noChangeArrowheads="1"/>
          </p:cNvSpPr>
          <p:nvPr/>
        </p:nvSpPr>
        <p:spPr bwMode="auto">
          <a:xfrm>
            <a:off x="381000" y="381000"/>
            <a:ext cx="2205038" cy="457200"/>
          </a:xfrm>
          <a:prstGeom prst="rect">
            <a:avLst/>
          </a:prstGeom>
          <a:noFill/>
          <a:ln w="28575">
            <a:noFill/>
            <a:miter lim="800000"/>
            <a:headEnd/>
            <a:tailEnd/>
          </a:ln>
        </p:spPr>
        <p:txBody>
          <a:bodyPr wrap="none" anchor="ctr">
            <a:spAutoFit/>
          </a:bodyPr>
          <a:lstStyle/>
          <a:p>
            <a:pPr algn="ctr"/>
            <a:r>
              <a:rPr lang="en-GB" sz="2400" b="1"/>
              <a:t>Fourier Series</a:t>
            </a:r>
            <a:endParaRPr lang="en-GB" b="1"/>
          </a:p>
        </p:txBody>
      </p:sp>
      <p:grpSp>
        <p:nvGrpSpPr>
          <p:cNvPr id="2057" name="Group 6"/>
          <p:cNvGrpSpPr>
            <a:grpSpLocks/>
          </p:cNvGrpSpPr>
          <p:nvPr/>
        </p:nvGrpSpPr>
        <p:grpSpPr bwMode="auto">
          <a:xfrm>
            <a:off x="381000" y="3505200"/>
            <a:ext cx="5241925" cy="2378075"/>
            <a:chOff x="240" y="2400"/>
            <a:chExt cx="3302" cy="1498"/>
          </a:xfrm>
        </p:grpSpPr>
        <p:sp>
          <p:nvSpPr>
            <p:cNvPr id="2068" name="Text Box 7"/>
            <p:cNvSpPr txBox="1">
              <a:spLocks noChangeArrowheads="1"/>
            </p:cNvSpPr>
            <p:nvPr/>
          </p:nvSpPr>
          <p:spPr bwMode="auto">
            <a:xfrm>
              <a:off x="240" y="2400"/>
              <a:ext cx="3302" cy="1498"/>
            </a:xfrm>
            <a:prstGeom prst="rect">
              <a:avLst/>
            </a:prstGeom>
            <a:noFill/>
            <a:ln w="28575">
              <a:noFill/>
              <a:miter lim="800000"/>
              <a:headEnd/>
              <a:tailEnd/>
            </a:ln>
          </p:spPr>
          <p:txBody>
            <a:bodyPr wrap="none" anchor="ctr">
              <a:spAutoFit/>
            </a:bodyPr>
            <a:lstStyle/>
            <a:p>
              <a:pPr>
                <a:spcAft>
                  <a:spcPts val="600"/>
                </a:spcAft>
              </a:pPr>
              <a:r>
                <a:rPr lang="en-GB" sz="2000">
                  <a:cs typeface="Times" pitchFamily="18" charset="0"/>
                </a:rPr>
                <a:t>where: </a:t>
              </a:r>
            </a:p>
            <a:p>
              <a:pPr>
                <a:spcAft>
                  <a:spcPts val="600"/>
                </a:spcAft>
              </a:pPr>
              <a:r>
                <a:rPr lang="en-GB" sz="2000">
                  <a:cs typeface="Times" pitchFamily="18" charset="0"/>
                </a:rPr>
                <a:t>           = the fundamental frequency</a:t>
              </a:r>
            </a:p>
            <a:p>
              <a:pPr>
                <a:spcAft>
                  <a:spcPts val="600"/>
                </a:spcAft>
              </a:pPr>
              <a:r>
                <a:rPr lang="en-GB" sz="2000">
                  <a:cs typeface="Times" pitchFamily="18" charset="0"/>
                </a:rPr>
                <a:t>	= amplitudes of successive terms</a:t>
              </a:r>
            </a:p>
            <a:p>
              <a:pPr>
                <a:spcAft>
                  <a:spcPts val="600"/>
                </a:spcAft>
              </a:pPr>
              <a:endParaRPr lang="en-GB" sz="2000">
                <a:cs typeface="Times" pitchFamily="18" charset="0"/>
              </a:endParaRPr>
            </a:p>
            <a:p>
              <a:pPr>
                <a:spcAft>
                  <a:spcPts val="600"/>
                </a:spcAft>
              </a:pPr>
              <a:r>
                <a:rPr lang="en-GB" sz="2000">
                  <a:cs typeface="Times" pitchFamily="18" charset="0"/>
                </a:rPr>
                <a:t>n	= the series</a:t>
              </a:r>
            </a:p>
            <a:p>
              <a:pPr>
                <a:spcAft>
                  <a:spcPts val="600"/>
                </a:spcAft>
              </a:pPr>
              <a:r>
                <a:rPr lang="en-GB" sz="2000">
                  <a:sym typeface="Symbol" pitchFamily="18" charset="2"/>
                </a:rPr>
                <a:t></a:t>
              </a:r>
              <a:r>
                <a:rPr lang="en-GB" sz="2000">
                  <a:cs typeface="Times" pitchFamily="18" charset="0"/>
                </a:rPr>
                <a:t>t	= 2</a:t>
              </a:r>
              <a:r>
                <a:rPr lang="en-GB" sz="2000">
                  <a:sym typeface="Symbol" pitchFamily="18" charset="2"/>
                </a:rPr>
                <a:t></a:t>
              </a:r>
              <a:r>
                <a:rPr lang="en-GB" sz="2000">
                  <a:cs typeface="Times" pitchFamily="18" charset="0"/>
                </a:rPr>
                <a:t>f  (f= frequency)</a:t>
              </a:r>
            </a:p>
          </p:txBody>
        </p:sp>
        <p:graphicFrame>
          <p:nvGraphicFramePr>
            <p:cNvPr id="2051" name="Object 8"/>
            <p:cNvGraphicFramePr>
              <a:graphicFrameLocks noChangeAspect="1"/>
            </p:cNvGraphicFramePr>
            <p:nvPr/>
          </p:nvGraphicFramePr>
          <p:xfrm>
            <a:off x="240" y="2640"/>
            <a:ext cx="266" cy="310"/>
          </p:xfrm>
          <a:graphic>
            <a:graphicData uri="http://schemas.openxmlformats.org/presentationml/2006/ole">
              <mc:AlternateContent xmlns:mc="http://schemas.openxmlformats.org/markup-compatibility/2006">
                <mc:Choice xmlns:v="urn:schemas-microsoft-com:vml" Requires="v">
                  <p:oleObj name="Equation" r:id="rId2" imgW="164957" imgH="190335" progId="Equation.3">
                    <p:embed/>
                  </p:oleObj>
                </mc:Choice>
                <mc:Fallback>
                  <p:oleObj name="Equation" r:id="rId2" imgW="164957" imgH="190335" progId="Equation.3">
                    <p:embed/>
                    <p:pic>
                      <p:nvPicPr>
                        <p:cNvPr id="2051"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2640"/>
                          <a:ext cx="26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 name="Object 9"/>
            <p:cNvGraphicFramePr>
              <a:graphicFrameLocks noChangeAspect="1"/>
            </p:cNvGraphicFramePr>
            <p:nvPr/>
          </p:nvGraphicFramePr>
          <p:xfrm>
            <a:off x="240" y="2928"/>
            <a:ext cx="515" cy="297"/>
          </p:xfrm>
          <a:graphic>
            <a:graphicData uri="http://schemas.openxmlformats.org/presentationml/2006/ole">
              <mc:AlternateContent xmlns:mc="http://schemas.openxmlformats.org/markup-compatibility/2006">
                <mc:Choice xmlns:v="urn:schemas-microsoft-com:vml" Requires="v">
                  <p:oleObj name="Equation" r:id="rId4" imgW="330057" imgH="190417" progId="Equation.3">
                    <p:embed/>
                  </p:oleObj>
                </mc:Choice>
                <mc:Fallback>
                  <p:oleObj name="Equation" r:id="rId4" imgW="330057" imgH="190417" progId="Equation.3">
                    <p:embed/>
                    <p:pic>
                      <p:nvPicPr>
                        <p:cNvPr id="2052"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 y="2928"/>
                          <a:ext cx="515"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58" name="Rectangle 10"/>
          <p:cNvSpPr>
            <a:spLocks noChangeArrowheads="1"/>
          </p:cNvSpPr>
          <p:nvPr/>
        </p:nvSpPr>
        <p:spPr bwMode="auto">
          <a:xfrm>
            <a:off x="3429000" y="1828800"/>
            <a:ext cx="457200" cy="609600"/>
          </a:xfrm>
          <a:prstGeom prst="rect">
            <a:avLst/>
          </a:prstGeom>
          <a:solidFill>
            <a:srgbClr val="FFFF00"/>
          </a:solidFill>
          <a:ln w="9525">
            <a:noFill/>
            <a:miter lim="800000"/>
            <a:headEnd/>
            <a:tailEnd/>
          </a:ln>
        </p:spPr>
        <p:txBody>
          <a:bodyPr wrap="none" anchor="ctr"/>
          <a:lstStyle/>
          <a:p>
            <a:endParaRPr lang="en-US"/>
          </a:p>
        </p:txBody>
      </p:sp>
      <p:sp>
        <p:nvSpPr>
          <p:cNvPr id="2059" name="Rectangle 11"/>
          <p:cNvSpPr>
            <a:spLocks noChangeArrowheads="1"/>
          </p:cNvSpPr>
          <p:nvPr/>
        </p:nvSpPr>
        <p:spPr bwMode="auto">
          <a:xfrm>
            <a:off x="5562600" y="1828800"/>
            <a:ext cx="457200" cy="609600"/>
          </a:xfrm>
          <a:prstGeom prst="rect">
            <a:avLst/>
          </a:prstGeom>
          <a:solidFill>
            <a:srgbClr val="FFFF00"/>
          </a:solidFill>
          <a:ln w="9525">
            <a:noFill/>
            <a:miter lim="800000"/>
            <a:headEnd/>
            <a:tailEnd/>
          </a:ln>
        </p:spPr>
        <p:txBody>
          <a:bodyPr wrap="none" anchor="ctr"/>
          <a:lstStyle/>
          <a:p>
            <a:endParaRPr lang="en-US"/>
          </a:p>
        </p:txBody>
      </p:sp>
      <p:sp>
        <p:nvSpPr>
          <p:cNvPr id="2060" name="Text Box 12"/>
          <p:cNvSpPr txBox="1">
            <a:spLocks noChangeArrowheads="1"/>
          </p:cNvSpPr>
          <p:nvPr/>
        </p:nvSpPr>
        <p:spPr bwMode="auto">
          <a:xfrm>
            <a:off x="5867400" y="3886200"/>
            <a:ext cx="1598613" cy="701675"/>
          </a:xfrm>
          <a:prstGeom prst="rect">
            <a:avLst/>
          </a:prstGeom>
          <a:noFill/>
          <a:ln w="9525">
            <a:noFill/>
            <a:miter lim="800000"/>
            <a:headEnd/>
            <a:tailEnd/>
          </a:ln>
        </p:spPr>
        <p:txBody>
          <a:bodyPr wrap="none">
            <a:spAutoFit/>
          </a:bodyPr>
          <a:lstStyle/>
          <a:p>
            <a:r>
              <a:rPr lang="en-GB" sz="2000"/>
              <a:t>i.e. the </a:t>
            </a:r>
          </a:p>
          <a:p>
            <a:r>
              <a:rPr lang="en-GB" sz="2000"/>
              <a:t>coefficients</a:t>
            </a:r>
            <a:endParaRPr lang="en-GB" sz="2400"/>
          </a:p>
        </p:txBody>
      </p:sp>
      <p:sp>
        <p:nvSpPr>
          <p:cNvPr id="2061" name="Line 13"/>
          <p:cNvSpPr>
            <a:spLocks noChangeShapeType="1"/>
          </p:cNvSpPr>
          <p:nvPr/>
        </p:nvSpPr>
        <p:spPr bwMode="auto">
          <a:xfrm flipH="1" flipV="1">
            <a:off x="1905000" y="2514600"/>
            <a:ext cx="4114800" cy="1371600"/>
          </a:xfrm>
          <a:prstGeom prst="line">
            <a:avLst/>
          </a:prstGeom>
          <a:noFill/>
          <a:ln w="9525">
            <a:solidFill>
              <a:schemeClr val="tx1"/>
            </a:solidFill>
            <a:round/>
            <a:headEnd/>
            <a:tailEnd type="triangle" w="med" len="med"/>
          </a:ln>
        </p:spPr>
        <p:txBody>
          <a:bodyPr wrap="none" anchor="ctr"/>
          <a:lstStyle/>
          <a:p>
            <a:endParaRPr lang="en-GB"/>
          </a:p>
        </p:txBody>
      </p:sp>
      <p:sp>
        <p:nvSpPr>
          <p:cNvPr id="2062" name="Line 14"/>
          <p:cNvSpPr>
            <a:spLocks noChangeShapeType="1"/>
          </p:cNvSpPr>
          <p:nvPr/>
        </p:nvSpPr>
        <p:spPr bwMode="auto">
          <a:xfrm flipH="1" flipV="1">
            <a:off x="3810000" y="2514600"/>
            <a:ext cx="2438400" cy="1371600"/>
          </a:xfrm>
          <a:prstGeom prst="line">
            <a:avLst/>
          </a:prstGeom>
          <a:noFill/>
          <a:ln w="9525">
            <a:solidFill>
              <a:schemeClr val="tx1"/>
            </a:solidFill>
            <a:round/>
            <a:headEnd/>
            <a:tailEnd type="triangle" w="med" len="med"/>
          </a:ln>
        </p:spPr>
        <p:txBody>
          <a:bodyPr wrap="none" anchor="ctr"/>
          <a:lstStyle/>
          <a:p>
            <a:endParaRPr lang="en-GB"/>
          </a:p>
        </p:txBody>
      </p:sp>
      <p:sp>
        <p:nvSpPr>
          <p:cNvPr id="2063" name="Line 15"/>
          <p:cNvSpPr>
            <a:spLocks noChangeShapeType="1"/>
          </p:cNvSpPr>
          <p:nvPr/>
        </p:nvSpPr>
        <p:spPr bwMode="auto">
          <a:xfrm flipH="1" flipV="1">
            <a:off x="5791200" y="2514600"/>
            <a:ext cx="685800" cy="1371600"/>
          </a:xfrm>
          <a:prstGeom prst="line">
            <a:avLst/>
          </a:prstGeom>
          <a:noFill/>
          <a:ln w="9525">
            <a:solidFill>
              <a:schemeClr val="tx1"/>
            </a:solidFill>
            <a:round/>
            <a:headEnd/>
            <a:tailEnd type="triangle" w="med" len="med"/>
          </a:ln>
        </p:spPr>
        <p:txBody>
          <a:bodyPr wrap="none" anchor="ctr"/>
          <a:lstStyle/>
          <a:p>
            <a:endParaRPr lang="en-GB"/>
          </a:p>
        </p:txBody>
      </p:sp>
      <p:sp>
        <p:nvSpPr>
          <p:cNvPr id="2064" name="AutoShape 16"/>
          <p:cNvSpPr>
            <a:spLocks/>
          </p:cNvSpPr>
          <p:nvPr/>
        </p:nvSpPr>
        <p:spPr bwMode="auto">
          <a:xfrm>
            <a:off x="5562600" y="3962400"/>
            <a:ext cx="152400" cy="609600"/>
          </a:xfrm>
          <a:prstGeom prst="rightBrace">
            <a:avLst>
              <a:gd name="adj1" fmla="val 33333"/>
              <a:gd name="adj2" fmla="val 50000"/>
            </a:avLst>
          </a:prstGeom>
          <a:noFill/>
          <a:ln w="19050">
            <a:solidFill>
              <a:schemeClr val="tx1"/>
            </a:solidFill>
            <a:round/>
            <a:headEnd/>
            <a:tailEnd/>
          </a:ln>
        </p:spPr>
        <p:txBody>
          <a:bodyPr wrap="none" anchor="ctr"/>
          <a:lstStyle/>
          <a:p>
            <a:endParaRPr lang="en-US"/>
          </a:p>
        </p:txBody>
      </p:sp>
      <p:sp>
        <p:nvSpPr>
          <p:cNvPr id="2065" name="Text Box 17"/>
          <p:cNvSpPr txBox="1">
            <a:spLocks noChangeArrowheads="1"/>
          </p:cNvSpPr>
          <p:nvPr/>
        </p:nvSpPr>
        <p:spPr bwMode="auto">
          <a:xfrm>
            <a:off x="3581400" y="990600"/>
            <a:ext cx="4419600" cy="581025"/>
          </a:xfrm>
          <a:prstGeom prst="rect">
            <a:avLst/>
          </a:prstGeom>
          <a:noFill/>
          <a:ln w="9525">
            <a:noFill/>
            <a:miter lim="800000"/>
            <a:headEnd/>
            <a:tailEnd/>
          </a:ln>
        </p:spPr>
        <p:txBody>
          <a:bodyPr>
            <a:spAutoFit/>
          </a:bodyPr>
          <a:lstStyle/>
          <a:p>
            <a:r>
              <a:rPr lang="en-GB"/>
              <a:t>increasingly high frequency components  … (usually) lower amplitudes</a:t>
            </a:r>
            <a:r>
              <a:rPr lang="en-GB" sz="1800"/>
              <a:t> </a:t>
            </a:r>
          </a:p>
        </p:txBody>
      </p:sp>
      <p:graphicFrame>
        <p:nvGraphicFramePr>
          <p:cNvPr id="2050" name="Object 18"/>
          <p:cNvGraphicFramePr>
            <a:graphicFrameLocks noChangeAspect="1"/>
          </p:cNvGraphicFramePr>
          <p:nvPr/>
        </p:nvGraphicFramePr>
        <p:xfrm>
          <a:off x="381000" y="1589088"/>
          <a:ext cx="7010400" cy="928687"/>
        </p:xfrm>
        <a:graphic>
          <a:graphicData uri="http://schemas.openxmlformats.org/presentationml/2006/ole">
            <mc:AlternateContent xmlns:mc="http://schemas.openxmlformats.org/markup-compatibility/2006">
              <mc:Choice xmlns:v="urn:schemas-microsoft-com:vml" Requires="v">
                <p:oleObj name="Equation" r:id="rId6" imgW="2082800" imgH="292100" progId="Equation.3">
                  <p:embed/>
                </p:oleObj>
              </mc:Choice>
              <mc:Fallback>
                <p:oleObj name="Equation" r:id="rId6" imgW="2082800" imgH="292100" progId="Equation.3">
                  <p:embed/>
                  <p:pic>
                    <p:nvPicPr>
                      <p:cNvPr id="205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589088"/>
                        <a:ext cx="7010400" cy="92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6" name="Text Box 19"/>
          <p:cNvSpPr txBox="1">
            <a:spLocks noChangeArrowheads="1"/>
          </p:cNvSpPr>
          <p:nvPr/>
        </p:nvSpPr>
        <p:spPr bwMode="auto">
          <a:xfrm>
            <a:off x="7315200" y="1905000"/>
            <a:ext cx="717550" cy="457200"/>
          </a:xfrm>
          <a:prstGeom prst="rect">
            <a:avLst/>
          </a:prstGeom>
          <a:noFill/>
          <a:ln w="9525">
            <a:noFill/>
            <a:miter lim="800000"/>
            <a:headEnd/>
            <a:tailEnd/>
          </a:ln>
        </p:spPr>
        <p:txBody>
          <a:bodyPr wrap="none">
            <a:spAutoFit/>
          </a:bodyPr>
          <a:lstStyle/>
          <a:p>
            <a:r>
              <a:rPr lang="en-GB" sz="2400" b="1">
                <a:latin typeface="Times New Roman" pitchFamily="18" charset="0"/>
              </a:rPr>
              <a:t>…...</a:t>
            </a:r>
          </a:p>
        </p:txBody>
      </p:sp>
      <p:sp>
        <p:nvSpPr>
          <p:cNvPr id="2067" name="Text Box 21"/>
          <p:cNvSpPr txBox="1">
            <a:spLocks noChangeArrowheads="1"/>
          </p:cNvSpPr>
          <p:nvPr/>
        </p:nvSpPr>
        <p:spPr bwMode="auto">
          <a:xfrm>
            <a:off x="7056438" y="2619375"/>
            <a:ext cx="2087562" cy="822325"/>
          </a:xfrm>
          <a:prstGeom prst="rect">
            <a:avLst/>
          </a:prstGeom>
          <a:solidFill>
            <a:schemeClr val="hlink"/>
          </a:solidFill>
          <a:ln w="9525" algn="ctr">
            <a:noFill/>
            <a:miter lim="800000"/>
            <a:headEnd/>
            <a:tailEnd/>
          </a:ln>
        </p:spPr>
        <p:txBody>
          <a:bodyPr>
            <a:spAutoFit/>
          </a:bodyPr>
          <a:lstStyle/>
          <a:p>
            <a:r>
              <a:rPr lang="en-GB" sz="1200"/>
              <a:t>Series contains sin and cos to accommodate for odd and even functions of f(t)</a:t>
            </a:r>
            <a:endParaRPr lang="en-US" sz="1200"/>
          </a:p>
        </p:txBody>
      </p:sp>
    </p:spTree>
    <p:extLst>
      <p:ext uri="{BB962C8B-B14F-4D97-AF65-F5344CB8AC3E}">
        <p14:creationId xmlns:p14="http://schemas.microsoft.com/office/powerpoint/2010/main" val="3526823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128"/>
          <p:cNvSpPr>
            <a:spLocks noChangeArrowheads="1"/>
          </p:cNvSpPr>
          <p:nvPr/>
        </p:nvSpPr>
        <p:spPr bwMode="auto">
          <a:xfrm>
            <a:off x="939800" y="5434013"/>
            <a:ext cx="295275" cy="620712"/>
          </a:xfrm>
          <a:prstGeom prst="rect">
            <a:avLst/>
          </a:prstGeom>
          <a:solidFill>
            <a:srgbClr val="99CCFF"/>
          </a:solidFill>
          <a:ln w="9525" algn="ctr">
            <a:noFill/>
            <a:miter lim="800000"/>
            <a:headEnd/>
            <a:tailEnd/>
          </a:ln>
        </p:spPr>
        <p:txBody>
          <a:bodyPr wrap="none" anchor="ctr"/>
          <a:lstStyle/>
          <a:p>
            <a:endParaRPr lang="en-US"/>
          </a:p>
        </p:txBody>
      </p:sp>
      <p:sp>
        <p:nvSpPr>
          <p:cNvPr id="3076" name="Rectangle 124"/>
          <p:cNvSpPr>
            <a:spLocks noChangeArrowheads="1"/>
          </p:cNvSpPr>
          <p:nvPr/>
        </p:nvSpPr>
        <p:spPr bwMode="auto">
          <a:xfrm>
            <a:off x="6665913" y="1857375"/>
            <a:ext cx="685800" cy="620713"/>
          </a:xfrm>
          <a:prstGeom prst="rect">
            <a:avLst/>
          </a:prstGeom>
          <a:solidFill>
            <a:srgbClr val="99CCFF"/>
          </a:solidFill>
          <a:ln w="9525" algn="ctr">
            <a:noFill/>
            <a:miter lim="800000"/>
            <a:headEnd/>
            <a:tailEnd/>
          </a:ln>
        </p:spPr>
        <p:txBody>
          <a:bodyPr wrap="none" anchor="ctr"/>
          <a:lstStyle/>
          <a:p>
            <a:endParaRPr lang="en-US"/>
          </a:p>
        </p:txBody>
      </p:sp>
      <p:sp>
        <p:nvSpPr>
          <p:cNvPr id="3077" name="Rectangle 125"/>
          <p:cNvSpPr>
            <a:spLocks noChangeArrowheads="1"/>
          </p:cNvSpPr>
          <p:nvPr/>
        </p:nvSpPr>
        <p:spPr bwMode="auto">
          <a:xfrm>
            <a:off x="4614863" y="1846263"/>
            <a:ext cx="639762" cy="612775"/>
          </a:xfrm>
          <a:prstGeom prst="rect">
            <a:avLst/>
          </a:prstGeom>
          <a:solidFill>
            <a:srgbClr val="99CCFF"/>
          </a:solidFill>
          <a:ln w="9525" algn="ctr">
            <a:noFill/>
            <a:miter lim="800000"/>
            <a:headEnd/>
            <a:tailEnd/>
          </a:ln>
        </p:spPr>
        <p:txBody>
          <a:bodyPr wrap="none" anchor="ctr"/>
          <a:lstStyle/>
          <a:p>
            <a:endParaRPr lang="en-US"/>
          </a:p>
        </p:txBody>
      </p:sp>
      <p:grpSp>
        <p:nvGrpSpPr>
          <p:cNvPr id="3078" name="Group 119"/>
          <p:cNvGrpSpPr>
            <a:grpSpLocks/>
          </p:cNvGrpSpPr>
          <p:nvPr/>
        </p:nvGrpSpPr>
        <p:grpSpPr bwMode="auto">
          <a:xfrm>
            <a:off x="1574800" y="3951288"/>
            <a:ext cx="7173913" cy="1836737"/>
            <a:chOff x="992" y="2797"/>
            <a:chExt cx="4519" cy="1157"/>
          </a:xfrm>
        </p:grpSpPr>
        <p:sp>
          <p:nvSpPr>
            <p:cNvPr id="3096" name="Rectangle 55"/>
            <p:cNvSpPr>
              <a:spLocks noChangeArrowheads="1"/>
            </p:cNvSpPr>
            <p:nvPr/>
          </p:nvSpPr>
          <p:spPr bwMode="auto">
            <a:xfrm>
              <a:off x="3812" y="2843"/>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97" name="Rectangle 56"/>
            <p:cNvSpPr>
              <a:spLocks noChangeArrowheads="1"/>
            </p:cNvSpPr>
            <p:nvPr/>
          </p:nvSpPr>
          <p:spPr bwMode="auto">
            <a:xfrm>
              <a:off x="4376" y="2843"/>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98" name="Rectangle 57"/>
            <p:cNvSpPr>
              <a:spLocks noChangeArrowheads="1"/>
            </p:cNvSpPr>
            <p:nvPr/>
          </p:nvSpPr>
          <p:spPr bwMode="auto">
            <a:xfrm>
              <a:off x="4940" y="2843"/>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099" name="Rectangle 58"/>
            <p:cNvSpPr>
              <a:spLocks noChangeArrowheads="1"/>
            </p:cNvSpPr>
            <p:nvPr/>
          </p:nvSpPr>
          <p:spPr bwMode="auto">
            <a:xfrm>
              <a:off x="3248" y="2843"/>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0" name="Rectangle 59"/>
            <p:cNvSpPr>
              <a:spLocks noChangeArrowheads="1"/>
            </p:cNvSpPr>
            <p:nvPr/>
          </p:nvSpPr>
          <p:spPr bwMode="auto">
            <a:xfrm>
              <a:off x="3812" y="3370"/>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1" name="Rectangle 60"/>
            <p:cNvSpPr>
              <a:spLocks noChangeArrowheads="1"/>
            </p:cNvSpPr>
            <p:nvPr/>
          </p:nvSpPr>
          <p:spPr bwMode="auto">
            <a:xfrm>
              <a:off x="4376" y="3370"/>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2" name="Rectangle 61"/>
            <p:cNvSpPr>
              <a:spLocks noChangeArrowheads="1"/>
            </p:cNvSpPr>
            <p:nvPr/>
          </p:nvSpPr>
          <p:spPr bwMode="auto">
            <a:xfrm>
              <a:off x="4940" y="3370"/>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3" name="Rectangle 62"/>
            <p:cNvSpPr>
              <a:spLocks noChangeArrowheads="1"/>
            </p:cNvSpPr>
            <p:nvPr/>
          </p:nvSpPr>
          <p:spPr bwMode="auto">
            <a:xfrm>
              <a:off x="3248" y="3370"/>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4" name="Rectangle 70"/>
            <p:cNvSpPr>
              <a:spLocks noChangeArrowheads="1"/>
            </p:cNvSpPr>
            <p:nvPr/>
          </p:nvSpPr>
          <p:spPr bwMode="auto">
            <a:xfrm>
              <a:off x="1556" y="2851"/>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5" name="Rectangle 71"/>
            <p:cNvSpPr>
              <a:spLocks noChangeArrowheads="1"/>
            </p:cNvSpPr>
            <p:nvPr/>
          </p:nvSpPr>
          <p:spPr bwMode="auto">
            <a:xfrm>
              <a:off x="2120" y="2851"/>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6" name="Rectangle 72"/>
            <p:cNvSpPr>
              <a:spLocks noChangeArrowheads="1"/>
            </p:cNvSpPr>
            <p:nvPr/>
          </p:nvSpPr>
          <p:spPr bwMode="auto">
            <a:xfrm>
              <a:off x="2684" y="2851"/>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7" name="Rectangle 73"/>
            <p:cNvSpPr>
              <a:spLocks noChangeArrowheads="1"/>
            </p:cNvSpPr>
            <p:nvPr/>
          </p:nvSpPr>
          <p:spPr bwMode="auto">
            <a:xfrm>
              <a:off x="992" y="2851"/>
              <a:ext cx="564" cy="527"/>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8" name="Rectangle 74"/>
            <p:cNvSpPr>
              <a:spLocks noChangeArrowheads="1"/>
            </p:cNvSpPr>
            <p:nvPr/>
          </p:nvSpPr>
          <p:spPr bwMode="auto">
            <a:xfrm>
              <a:off x="1556" y="3378"/>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09" name="Rectangle 75"/>
            <p:cNvSpPr>
              <a:spLocks noChangeArrowheads="1"/>
            </p:cNvSpPr>
            <p:nvPr/>
          </p:nvSpPr>
          <p:spPr bwMode="auto">
            <a:xfrm>
              <a:off x="2120" y="3378"/>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10" name="Rectangle 76"/>
            <p:cNvSpPr>
              <a:spLocks noChangeArrowheads="1"/>
            </p:cNvSpPr>
            <p:nvPr/>
          </p:nvSpPr>
          <p:spPr bwMode="auto">
            <a:xfrm>
              <a:off x="2684" y="3378"/>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11" name="Rectangle 77"/>
            <p:cNvSpPr>
              <a:spLocks noChangeArrowheads="1"/>
            </p:cNvSpPr>
            <p:nvPr/>
          </p:nvSpPr>
          <p:spPr bwMode="auto">
            <a:xfrm>
              <a:off x="992" y="3378"/>
              <a:ext cx="564" cy="526"/>
            </a:xfrm>
            <a:prstGeom prst="rect">
              <a:avLst/>
            </a:prstGeom>
            <a:solidFill>
              <a:srgbClr val="FFFFFF"/>
            </a:solidFill>
            <a:ln w="9525">
              <a:solidFill>
                <a:srgbClr val="99CCFF"/>
              </a:solidFill>
              <a:miter lim="800000"/>
              <a:headEnd/>
              <a:tailEnd/>
            </a:ln>
          </p:spPr>
          <p:txBody>
            <a:bodyPr wrap="none" anchor="ctr"/>
            <a:lstStyle/>
            <a:p>
              <a:endParaRPr lang="en-US"/>
            </a:p>
          </p:txBody>
        </p:sp>
        <p:sp>
          <p:nvSpPr>
            <p:cNvPr id="3112" name="Freeform 85"/>
            <p:cNvSpPr>
              <a:spLocks/>
            </p:cNvSpPr>
            <p:nvPr/>
          </p:nvSpPr>
          <p:spPr bwMode="auto">
            <a:xfrm>
              <a:off x="3263" y="2797"/>
              <a:ext cx="1124" cy="594"/>
            </a:xfrm>
            <a:custGeom>
              <a:avLst/>
              <a:gdLst>
                <a:gd name="T0" fmla="*/ 0 w 1124"/>
                <a:gd name="T1" fmla="*/ 1568 h 466"/>
                <a:gd name="T2" fmla="*/ 107 w 1124"/>
                <a:gd name="T3" fmla="*/ 161 h 466"/>
                <a:gd name="T4" fmla="*/ 327 w 1124"/>
                <a:gd name="T5" fmla="*/ 598 h 466"/>
                <a:gd name="T6" fmla="*/ 555 w 1124"/>
                <a:gd name="T7" fmla="*/ 189 h 466"/>
                <a:gd name="T8" fmla="*/ 767 w 1124"/>
                <a:gd name="T9" fmla="*/ 544 h 466"/>
                <a:gd name="T10" fmla="*/ 995 w 1124"/>
                <a:gd name="T11" fmla="*/ 161 h 466"/>
                <a:gd name="T12" fmla="*/ 1124 w 1124"/>
                <a:gd name="T13" fmla="*/ 1491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sp>
          <p:nvSpPr>
            <p:cNvPr id="3113" name="Freeform 86"/>
            <p:cNvSpPr>
              <a:spLocks/>
            </p:cNvSpPr>
            <p:nvPr/>
          </p:nvSpPr>
          <p:spPr bwMode="auto">
            <a:xfrm>
              <a:off x="1000" y="2807"/>
              <a:ext cx="1124" cy="595"/>
            </a:xfrm>
            <a:custGeom>
              <a:avLst/>
              <a:gdLst>
                <a:gd name="T0" fmla="*/ 0 w 1124"/>
                <a:gd name="T1" fmla="*/ 1582 h 466"/>
                <a:gd name="T2" fmla="*/ 107 w 1124"/>
                <a:gd name="T3" fmla="*/ 163 h 466"/>
                <a:gd name="T4" fmla="*/ 327 w 1124"/>
                <a:gd name="T5" fmla="*/ 603 h 466"/>
                <a:gd name="T6" fmla="*/ 555 w 1124"/>
                <a:gd name="T7" fmla="*/ 190 h 466"/>
                <a:gd name="T8" fmla="*/ 767 w 1124"/>
                <a:gd name="T9" fmla="*/ 549 h 466"/>
                <a:gd name="T10" fmla="*/ 995 w 1124"/>
                <a:gd name="T11" fmla="*/ 163 h 466"/>
                <a:gd name="T12" fmla="*/ 1124 w 1124"/>
                <a:gd name="T13" fmla="*/ 1505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sp>
          <p:nvSpPr>
            <p:cNvPr id="3114" name="Freeform 87"/>
            <p:cNvSpPr>
              <a:spLocks/>
            </p:cNvSpPr>
            <p:nvPr/>
          </p:nvSpPr>
          <p:spPr bwMode="auto">
            <a:xfrm flipV="1">
              <a:off x="2124" y="3360"/>
              <a:ext cx="1124" cy="594"/>
            </a:xfrm>
            <a:custGeom>
              <a:avLst/>
              <a:gdLst>
                <a:gd name="T0" fmla="*/ 0 w 1124"/>
                <a:gd name="T1" fmla="*/ 1568 h 466"/>
                <a:gd name="T2" fmla="*/ 107 w 1124"/>
                <a:gd name="T3" fmla="*/ 161 h 466"/>
                <a:gd name="T4" fmla="*/ 327 w 1124"/>
                <a:gd name="T5" fmla="*/ 598 h 466"/>
                <a:gd name="T6" fmla="*/ 555 w 1124"/>
                <a:gd name="T7" fmla="*/ 189 h 466"/>
                <a:gd name="T8" fmla="*/ 767 w 1124"/>
                <a:gd name="T9" fmla="*/ 544 h 466"/>
                <a:gd name="T10" fmla="*/ 995 w 1124"/>
                <a:gd name="T11" fmla="*/ 161 h 466"/>
                <a:gd name="T12" fmla="*/ 1124 w 1124"/>
                <a:gd name="T13" fmla="*/ 1491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sp>
          <p:nvSpPr>
            <p:cNvPr id="3115" name="Freeform 88"/>
            <p:cNvSpPr>
              <a:spLocks/>
            </p:cNvSpPr>
            <p:nvPr/>
          </p:nvSpPr>
          <p:spPr bwMode="auto">
            <a:xfrm flipV="1">
              <a:off x="4387" y="3360"/>
              <a:ext cx="1124" cy="594"/>
            </a:xfrm>
            <a:custGeom>
              <a:avLst/>
              <a:gdLst>
                <a:gd name="T0" fmla="*/ 0 w 1124"/>
                <a:gd name="T1" fmla="*/ 1568 h 466"/>
                <a:gd name="T2" fmla="*/ 107 w 1124"/>
                <a:gd name="T3" fmla="*/ 161 h 466"/>
                <a:gd name="T4" fmla="*/ 327 w 1124"/>
                <a:gd name="T5" fmla="*/ 598 h 466"/>
                <a:gd name="T6" fmla="*/ 555 w 1124"/>
                <a:gd name="T7" fmla="*/ 189 h 466"/>
                <a:gd name="T8" fmla="*/ 767 w 1124"/>
                <a:gd name="T9" fmla="*/ 544 h 466"/>
                <a:gd name="T10" fmla="*/ 995 w 1124"/>
                <a:gd name="T11" fmla="*/ 161 h 466"/>
                <a:gd name="T12" fmla="*/ 1124 w 1124"/>
                <a:gd name="T13" fmla="*/ 1491 h 466"/>
                <a:gd name="T14" fmla="*/ 0 60000 65536"/>
                <a:gd name="T15" fmla="*/ 0 60000 65536"/>
                <a:gd name="T16" fmla="*/ 0 60000 65536"/>
                <a:gd name="T17" fmla="*/ 0 60000 65536"/>
                <a:gd name="T18" fmla="*/ 0 60000 65536"/>
                <a:gd name="T19" fmla="*/ 0 60000 65536"/>
                <a:gd name="T20" fmla="*/ 0 60000 65536"/>
                <a:gd name="T21" fmla="*/ 0 w 1124"/>
                <a:gd name="T22" fmla="*/ 0 h 466"/>
                <a:gd name="T23" fmla="*/ 1124 w 1124"/>
                <a:gd name="T24" fmla="*/ 466 h 4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4" h="466">
                  <a:moveTo>
                    <a:pt x="0" y="466"/>
                  </a:moveTo>
                  <a:cubicBezTo>
                    <a:pt x="26" y="281"/>
                    <a:pt x="53" y="96"/>
                    <a:pt x="107" y="48"/>
                  </a:cubicBezTo>
                  <a:cubicBezTo>
                    <a:pt x="161" y="0"/>
                    <a:pt x="252" y="177"/>
                    <a:pt x="327" y="178"/>
                  </a:cubicBezTo>
                  <a:cubicBezTo>
                    <a:pt x="402" y="179"/>
                    <a:pt x="482" y="59"/>
                    <a:pt x="555" y="56"/>
                  </a:cubicBezTo>
                  <a:cubicBezTo>
                    <a:pt x="628" y="53"/>
                    <a:pt x="694" y="163"/>
                    <a:pt x="767" y="162"/>
                  </a:cubicBezTo>
                  <a:cubicBezTo>
                    <a:pt x="840" y="161"/>
                    <a:pt x="936" y="1"/>
                    <a:pt x="995" y="48"/>
                  </a:cubicBezTo>
                  <a:cubicBezTo>
                    <a:pt x="1054" y="95"/>
                    <a:pt x="1097" y="361"/>
                    <a:pt x="1124" y="443"/>
                  </a:cubicBezTo>
                </a:path>
              </a:pathLst>
            </a:custGeom>
            <a:noFill/>
            <a:ln w="38100" cap="flat" cmpd="sng">
              <a:solidFill>
                <a:srgbClr val="FF0000"/>
              </a:solidFill>
              <a:prstDash val="solid"/>
              <a:round/>
              <a:headEnd/>
              <a:tailEnd/>
            </a:ln>
          </p:spPr>
          <p:txBody>
            <a:bodyPr wrap="none" anchor="ctr"/>
            <a:lstStyle/>
            <a:p>
              <a:endParaRPr lang="en-GB"/>
            </a:p>
          </p:txBody>
        </p:sp>
      </p:grpSp>
      <p:sp>
        <p:nvSpPr>
          <p:cNvPr id="3079" name="Rectangle 123"/>
          <p:cNvSpPr>
            <a:spLocks noChangeArrowheads="1"/>
          </p:cNvSpPr>
          <p:nvPr/>
        </p:nvSpPr>
        <p:spPr bwMode="auto">
          <a:xfrm>
            <a:off x="2520950" y="5484813"/>
            <a:ext cx="276225" cy="576262"/>
          </a:xfrm>
          <a:prstGeom prst="rect">
            <a:avLst/>
          </a:prstGeom>
          <a:solidFill>
            <a:srgbClr val="FFFF00"/>
          </a:solidFill>
          <a:ln w="9525" algn="ctr">
            <a:noFill/>
            <a:miter lim="800000"/>
            <a:headEnd/>
            <a:tailEnd/>
          </a:ln>
        </p:spPr>
        <p:txBody>
          <a:bodyPr wrap="none" anchor="ctr"/>
          <a:lstStyle/>
          <a:p>
            <a:endParaRPr lang="en-US"/>
          </a:p>
        </p:txBody>
      </p:sp>
      <p:sp>
        <p:nvSpPr>
          <p:cNvPr id="3080" name="Rectangle 118"/>
          <p:cNvSpPr>
            <a:spLocks noChangeArrowheads="1"/>
          </p:cNvSpPr>
          <p:nvPr/>
        </p:nvSpPr>
        <p:spPr bwMode="auto">
          <a:xfrm>
            <a:off x="1411288" y="5422900"/>
            <a:ext cx="284162" cy="639763"/>
          </a:xfrm>
          <a:prstGeom prst="rect">
            <a:avLst/>
          </a:prstGeom>
          <a:solidFill>
            <a:srgbClr val="FFFF00"/>
          </a:solidFill>
          <a:ln w="9525" algn="ctr">
            <a:noFill/>
            <a:miter lim="800000"/>
            <a:headEnd/>
            <a:tailEnd/>
          </a:ln>
        </p:spPr>
        <p:txBody>
          <a:bodyPr wrap="none" anchor="ctr"/>
          <a:lstStyle/>
          <a:p>
            <a:endParaRPr lang="en-US"/>
          </a:p>
        </p:txBody>
      </p:sp>
      <p:sp>
        <p:nvSpPr>
          <p:cNvPr id="3081" name="Text Box 5"/>
          <p:cNvSpPr txBox="1">
            <a:spLocks noChangeArrowheads="1"/>
          </p:cNvSpPr>
          <p:nvPr/>
        </p:nvSpPr>
        <p:spPr bwMode="auto">
          <a:xfrm>
            <a:off x="430213" y="366713"/>
            <a:ext cx="6342062" cy="457200"/>
          </a:xfrm>
          <a:prstGeom prst="rect">
            <a:avLst/>
          </a:prstGeom>
          <a:noFill/>
          <a:ln w="9525">
            <a:noFill/>
            <a:miter lim="800000"/>
            <a:headEnd/>
            <a:tailEnd/>
          </a:ln>
        </p:spPr>
        <p:txBody>
          <a:bodyPr wrap="none" anchor="ctr">
            <a:spAutoFit/>
          </a:bodyPr>
          <a:lstStyle/>
          <a:p>
            <a:pPr algn="ctr"/>
            <a:r>
              <a:rPr lang="en-GB" sz="2400" b="1" dirty="0"/>
              <a:t>Waveform Synthesis - Fourier Transforms</a:t>
            </a:r>
          </a:p>
        </p:txBody>
      </p:sp>
      <p:sp>
        <p:nvSpPr>
          <p:cNvPr id="3082" name="AutoShape 110"/>
          <p:cNvSpPr>
            <a:spLocks noChangeArrowheads="1"/>
          </p:cNvSpPr>
          <p:nvPr/>
        </p:nvSpPr>
        <p:spPr bwMode="auto">
          <a:xfrm>
            <a:off x="6629400" y="1219200"/>
            <a:ext cx="1676400" cy="304800"/>
          </a:xfrm>
          <a:prstGeom prst="rightArrow">
            <a:avLst>
              <a:gd name="adj1" fmla="val 50000"/>
              <a:gd name="adj2" fmla="val 179692"/>
            </a:avLst>
          </a:prstGeom>
          <a:solidFill>
            <a:schemeClr val="folHlink"/>
          </a:solidFill>
          <a:ln w="9525">
            <a:noFill/>
            <a:miter lim="800000"/>
            <a:headEnd/>
            <a:tailEnd/>
          </a:ln>
        </p:spPr>
        <p:txBody>
          <a:bodyPr wrap="none" anchor="ctr"/>
          <a:lstStyle/>
          <a:p>
            <a:endParaRPr lang="en-US"/>
          </a:p>
        </p:txBody>
      </p:sp>
      <p:sp>
        <p:nvSpPr>
          <p:cNvPr id="3083" name="Rectangle 111"/>
          <p:cNvSpPr>
            <a:spLocks noChangeArrowheads="1"/>
          </p:cNvSpPr>
          <p:nvPr/>
        </p:nvSpPr>
        <p:spPr bwMode="auto">
          <a:xfrm>
            <a:off x="1600200" y="1828800"/>
            <a:ext cx="457200" cy="609600"/>
          </a:xfrm>
          <a:prstGeom prst="rect">
            <a:avLst/>
          </a:prstGeom>
          <a:solidFill>
            <a:srgbClr val="FFFF00"/>
          </a:solidFill>
          <a:ln w="9525">
            <a:noFill/>
            <a:miter lim="800000"/>
            <a:headEnd/>
            <a:tailEnd/>
          </a:ln>
        </p:spPr>
        <p:txBody>
          <a:bodyPr wrap="none" anchor="ctr"/>
          <a:lstStyle/>
          <a:p>
            <a:endParaRPr lang="en-US"/>
          </a:p>
        </p:txBody>
      </p:sp>
      <p:sp>
        <p:nvSpPr>
          <p:cNvPr id="3084" name="Text Box 112"/>
          <p:cNvSpPr txBox="1">
            <a:spLocks noChangeArrowheads="1"/>
          </p:cNvSpPr>
          <p:nvPr/>
        </p:nvSpPr>
        <p:spPr bwMode="auto">
          <a:xfrm>
            <a:off x="2141538" y="2179638"/>
            <a:ext cx="184150" cy="336550"/>
          </a:xfrm>
          <a:prstGeom prst="rect">
            <a:avLst/>
          </a:prstGeom>
          <a:noFill/>
          <a:ln w="28575">
            <a:noFill/>
            <a:miter lim="800000"/>
            <a:headEnd/>
            <a:tailEnd/>
          </a:ln>
        </p:spPr>
        <p:txBody>
          <a:bodyPr wrap="none" anchor="ctr">
            <a:spAutoFit/>
          </a:bodyPr>
          <a:lstStyle/>
          <a:p>
            <a:pPr algn="ctr"/>
            <a:endParaRPr lang="en-US"/>
          </a:p>
        </p:txBody>
      </p:sp>
      <p:sp>
        <p:nvSpPr>
          <p:cNvPr id="3085" name="Rectangle 113"/>
          <p:cNvSpPr>
            <a:spLocks noChangeArrowheads="1"/>
          </p:cNvSpPr>
          <p:nvPr/>
        </p:nvSpPr>
        <p:spPr bwMode="auto">
          <a:xfrm>
            <a:off x="3429000" y="1828800"/>
            <a:ext cx="457200" cy="609600"/>
          </a:xfrm>
          <a:prstGeom prst="rect">
            <a:avLst/>
          </a:prstGeom>
          <a:solidFill>
            <a:srgbClr val="FFFF00"/>
          </a:solidFill>
          <a:ln w="9525">
            <a:noFill/>
            <a:miter lim="800000"/>
            <a:headEnd/>
            <a:tailEnd/>
          </a:ln>
        </p:spPr>
        <p:txBody>
          <a:bodyPr wrap="none" anchor="ctr"/>
          <a:lstStyle/>
          <a:p>
            <a:endParaRPr lang="en-US"/>
          </a:p>
        </p:txBody>
      </p:sp>
      <p:sp>
        <p:nvSpPr>
          <p:cNvPr id="3086" name="Rectangle 114"/>
          <p:cNvSpPr>
            <a:spLocks noChangeArrowheads="1"/>
          </p:cNvSpPr>
          <p:nvPr/>
        </p:nvSpPr>
        <p:spPr bwMode="auto">
          <a:xfrm>
            <a:off x="5562600" y="1828800"/>
            <a:ext cx="457200" cy="609600"/>
          </a:xfrm>
          <a:prstGeom prst="rect">
            <a:avLst/>
          </a:prstGeom>
          <a:solidFill>
            <a:srgbClr val="FFFF00"/>
          </a:solidFill>
          <a:ln w="9525">
            <a:noFill/>
            <a:miter lim="800000"/>
            <a:headEnd/>
            <a:tailEnd/>
          </a:ln>
        </p:spPr>
        <p:txBody>
          <a:bodyPr wrap="none" anchor="ctr"/>
          <a:lstStyle/>
          <a:p>
            <a:endParaRPr lang="en-US"/>
          </a:p>
        </p:txBody>
      </p:sp>
      <p:sp>
        <p:nvSpPr>
          <p:cNvPr id="3087" name="Text Box 115"/>
          <p:cNvSpPr txBox="1">
            <a:spLocks noChangeArrowheads="1"/>
          </p:cNvSpPr>
          <p:nvPr/>
        </p:nvSpPr>
        <p:spPr bwMode="auto">
          <a:xfrm>
            <a:off x="3581400" y="990600"/>
            <a:ext cx="4419600" cy="581025"/>
          </a:xfrm>
          <a:prstGeom prst="rect">
            <a:avLst/>
          </a:prstGeom>
          <a:noFill/>
          <a:ln w="9525">
            <a:noFill/>
            <a:miter lim="800000"/>
            <a:headEnd/>
            <a:tailEnd/>
          </a:ln>
        </p:spPr>
        <p:txBody>
          <a:bodyPr>
            <a:spAutoFit/>
          </a:bodyPr>
          <a:lstStyle/>
          <a:p>
            <a:r>
              <a:rPr lang="en-GB"/>
              <a:t>increasingly high frequency components  … (usually) lower amplitudes</a:t>
            </a:r>
            <a:r>
              <a:rPr lang="en-GB" sz="1800"/>
              <a:t> </a:t>
            </a:r>
          </a:p>
        </p:txBody>
      </p:sp>
      <p:graphicFrame>
        <p:nvGraphicFramePr>
          <p:cNvPr id="3074" name="Object 116"/>
          <p:cNvGraphicFramePr>
            <a:graphicFrameLocks noChangeAspect="1"/>
          </p:cNvGraphicFramePr>
          <p:nvPr/>
        </p:nvGraphicFramePr>
        <p:xfrm>
          <a:off x="381000" y="1589088"/>
          <a:ext cx="7010400" cy="928687"/>
        </p:xfrm>
        <a:graphic>
          <a:graphicData uri="http://schemas.openxmlformats.org/presentationml/2006/ole">
            <mc:AlternateContent xmlns:mc="http://schemas.openxmlformats.org/markup-compatibility/2006">
              <mc:Choice xmlns:v="urn:schemas-microsoft-com:vml" Requires="v">
                <p:oleObj name="Equation" r:id="rId2" imgW="2082800" imgH="292100" progId="Equation.3">
                  <p:embed/>
                </p:oleObj>
              </mc:Choice>
              <mc:Fallback>
                <p:oleObj name="Equation" r:id="rId2" imgW="2082800" imgH="292100" progId="Equation.3">
                  <p:embed/>
                  <p:pic>
                    <p:nvPicPr>
                      <p:cNvPr id="3074" name="Object 1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89088"/>
                        <a:ext cx="7010400" cy="92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8" name="Text Box 117"/>
          <p:cNvSpPr txBox="1">
            <a:spLocks noChangeArrowheads="1"/>
          </p:cNvSpPr>
          <p:nvPr/>
        </p:nvSpPr>
        <p:spPr bwMode="auto">
          <a:xfrm>
            <a:off x="7315200" y="1905000"/>
            <a:ext cx="717550" cy="457200"/>
          </a:xfrm>
          <a:prstGeom prst="rect">
            <a:avLst/>
          </a:prstGeom>
          <a:noFill/>
          <a:ln w="9525">
            <a:noFill/>
            <a:miter lim="800000"/>
            <a:headEnd/>
            <a:tailEnd/>
          </a:ln>
        </p:spPr>
        <p:txBody>
          <a:bodyPr wrap="none">
            <a:spAutoFit/>
          </a:bodyPr>
          <a:lstStyle/>
          <a:p>
            <a:r>
              <a:rPr lang="en-GB" sz="2400" b="1">
                <a:latin typeface="Times New Roman" pitchFamily="18" charset="0"/>
              </a:rPr>
              <a:t>…...</a:t>
            </a:r>
          </a:p>
        </p:txBody>
      </p:sp>
      <p:sp>
        <p:nvSpPr>
          <p:cNvPr id="3089" name="Rectangle 126"/>
          <p:cNvSpPr>
            <a:spLocks noChangeArrowheads="1"/>
          </p:cNvSpPr>
          <p:nvPr/>
        </p:nvSpPr>
        <p:spPr bwMode="auto">
          <a:xfrm>
            <a:off x="1916113" y="5443538"/>
            <a:ext cx="401637" cy="620712"/>
          </a:xfrm>
          <a:prstGeom prst="rect">
            <a:avLst/>
          </a:prstGeom>
          <a:solidFill>
            <a:srgbClr val="99CCFF"/>
          </a:solidFill>
          <a:ln w="9525" algn="ctr">
            <a:noFill/>
            <a:miter lim="800000"/>
            <a:headEnd/>
            <a:tailEnd/>
          </a:ln>
        </p:spPr>
        <p:txBody>
          <a:bodyPr wrap="none" anchor="ctr"/>
          <a:lstStyle/>
          <a:p>
            <a:endParaRPr lang="en-US"/>
          </a:p>
        </p:txBody>
      </p:sp>
      <p:sp>
        <p:nvSpPr>
          <p:cNvPr id="3090" name="Rectangle 127"/>
          <p:cNvSpPr>
            <a:spLocks noChangeArrowheads="1"/>
          </p:cNvSpPr>
          <p:nvPr/>
        </p:nvSpPr>
        <p:spPr bwMode="auto">
          <a:xfrm>
            <a:off x="3017838" y="5443538"/>
            <a:ext cx="401637" cy="620712"/>
          </a:xfrm>
          <a:prstGeom prst="rect">
            <a:avLst/>
          </a:prstGeom>
          <a:solidFill>
            <a:srgbClr val="99CCFF"/>
          </a:solidFill>
          <a:ln w="9525" algn="ctr">
            <a:noFill/>
            <a:miter lim="800000"/>
            <a:headEnd/>
            <a:tailEnd/>
          </a:ln>
        </p:spPr>
        <p:txBody>
          <a:bodyPr wrap="none" anchor="ctr"/>
          <a:lstStyle/>
          <a:p>
            <a:endParaRPr lang="en-US"/>
          </a:p>
        </p:txBody>
      </p:sp>
      <p:sp>
        <p:nvSpPr>
          <p:cNvPr id="210029" name="Text Box 109"/>
          <p:cNvSpPr txBox="1">
            <a:spLocks noChangeArrowheads="1"/>
          </p:cNvSpPr>
          <p:nvPr/>
        </p:nvSpPr>
        <p:spPr bwMode="auto">
          <a:xfrm>
            <a:off x="198438" y="5453063"/>
            <a:ext cx="3306762" cy="581025"/>
          </a:xfrm>
          <a:prstGeom prst="rect">
            <a:avLst/>
          </a:prstGeom>
          <a:noFill/>
          <a:ln w="28575">
            <a:noFill/>
            <a:miter lim="800000"/>
            <a:headEnd/>
            <a:tailEnd/>
          </a:ln>
        </p:spPr>
        <p:txBody>
          <a:bodyPr anchor="ctr">
            <a:spAutoFit/>
          </a:bodyPr>
          <a:lstStyle/>
          <a:p>
            <a:r>
              <a:rPr lang="en-GB" b="1">
                <a:solidFill>
                  <a:srgbClr val="FF0000"/>
                </a:solidFill>
              </a:rPr>
              <a:t>f = sin(x) + </a:t>
            </a:r>
            <a:r>
              <a:rPr lang="en-GB" b="1" u="sng">
                <a:solidFill>
                  <a:srgbClr val="FF0000"/>
                </a:solidFill>
              </a:rPr>
              <a:t>1</a:t>
            </a:r>
            <a:r>
              <a:rPr lang="en-GB" b="1">
                <a:solidFill>
                  <a:srgbClr val="FF0000"/>
                </a:solidFill>
              </a:rPr>
              <a:t>sin(3x) + </a:t>
            </a:r>
            <a:r>
              <a:rPr lang="en-GB" b="1" u="sng">
                <a:solidFill>
                  <a:srgbClr val="FF0000"/>
                </a:solidFill>
              </a:rPr>
              <a:t>1</a:t>
            </a:r>
            <a:r>
              <a:rPr lang="en-GB" b="1">
                <a:solidFill>
                  <a:srgbClr val="FF0000"/>
                </a:solidFill>
              </a:rPr>
              <a:t>sin(5x)                             	   </a:t>
            </a:r>
            <a:r>
              <a:rPr lang="en-GB" sz="1200" b="1">
                <a:solidFill>
                  <a:srgbClr val="FF0000"/>
                </a:solidFill>
              </a:rPr>
              <a:t>  </a:t>
            </a:r>
            <a:r>
              <a:rPr lang="en-GB" b="1">
                <a:solidFill>
                  <a:srgbClr val="FF0000"/>
                </a:solidFill>
              </a:rPr>
              <a:t>3 	       </a:t>
            </a:r>
            <a:r>
              <a:rPr lang="en-GB" sz="600" b="1">
                <a:solidFill>
                  <a:srgbClr val="FF0000"/>
                </a:solidFill>
              </a:rPr>
              <a:t> </a:t>
            </a:r>
            <a:r>
              <a:rPr lang="en-GB" b="1">
                <a:solidFill>
                  <a:srgbClr val="FF0000"/>
                </a:solidFill>
              </a:rPr>
              <a:t>5</a:t>
            </a:r>
            <a:endParaRPr lang="en-GB" b="1"/>
          </a:p>
        </p:txBody>
      </p:sp>
      <p:sp>
        <p:nvSpPr>
          <p:cNvPr id="3092" name="Text Box 130"/>
          <p:cNvSpPr txBox="1">
            <a:spLocks noChangeArrowheads="1"/>
          </p:cNvSpPr>
          <p:nvPr/>
        </p:nvSpPr>
        <p:spPr bwMode="auto">
          <a:xfrm>
            <a:off x="430213" y="4848225"/>
            <a:ext cx="446087" cy="336550"/>
          </a:xfrm>
          <a:prstGeom prst="rect">
            <a:avLst/>
          </a:prstGeom>
          <a:solidFill>
            <a:srgbClr val="FFFF00"/>
          </a:solidFill>
          <a:ln w="9525" algn="ctr">
            <a:noFill/>
            <a:miter lim="800000"/>
            <a:headEnd/>
            <a:tailEnd/>
          </a:ln>
        </p:spPr>
        <p:txBody>
          <a:bodyPr wrap="none">
            <a:spAutoFit/>
          </a:bodyPr>
          <a:lstStyle/>
          <a:p>
            <a:r>
              <a:rPr lang="en-GB">
                <a:solidFill>
                  <a:srgbClr val="FF0000"/>
                </a:solidFill>
              </a:rPr>
              <a:t>(1)</a:t>
            </a:r>
            <a:endParaRPr lang="en-US">
              <a:solidFill>
                <a:srgbClr val="FF0000"/>
              </a:solidFill>
            </a:endParaRPr>
          </a:p>
        </p:txBody>
      </p:sp>
      <p:sp>
        <p:nvSpPr>
          <p:cNvPr id="3093" name="Line 131"/>
          <p:cNvSpPr>
            <a:spLocks noChangeShapeType="1"/>
          </p:cNvSpPr>
          <p:nvPr/>
        </p:nvSpPr>
        <p:spPr bwMode="auto">
          <a:xfrm>
            <a:off x="647700" y="5121275"/>
            <a:ext cx="0" cy="390525"/>
          </a:xfrm>
          <a:prstGeom prst="line">
            <a:avLst/>
          </a:prstGeom>
          <a:noFill/>
          <a:ln w="9525">
            <a:solidFill>
              <a:srgbClr val="FF0000"/>
            </a:solidFill>
            <a:round/>
            <a:headEnd/>
            <a:tailEnd type="triangle" w="med" len="med"/>
          </a:ln>
        </p:spPr>
        <p:txBody>
          <a:bodyPr/>
          <a:lstStyle/>
          <a:p>
            <a:endParaRPr lang="en-GB"/>
          </a:p>
        </p:txBody>
      </p:sp>
      <p:sp>
        <p:nvSpPr>
          <p:cNvPr id="3094" name="Text Box 134"/>
          <p:cNvSpPr txBox="1">
            <a:spLocks noChangeArrowheads="1"/>
          </p:cNvSpPr>
          <p:nvPr/>
        </p:nvSpPr>
        <p:spPr bwMode="auto">
          <a:xfrm>
            <a:off x="430213" y="3338513"/>
            <a:ext cx="5556250" cy="336550"/>
          </a:xfrm>
          <a:prstGeom prst="rect">
            <a:avLst/>
          </a:prstGeom>
          <a:noFill/>
          <a:ln w="9525" algn="ctr">
            <a:noFill/>
            <a:miter lim="800000"/>
            <a:headEnd/>
            <a:tailEnd/>
          </a:ln>
        </p:spPr>
        <p:txBody>
          <a:bodyPr wrap="none">
            <a:spAutoFit/>
          </a:bodyPr>
          <a:lstStyle/>
          <a:p>
            <a:r>
              <a:rPr lang="en-GB"/>
              <a:t>e.g. in this waveform (comprising only sine functions):</a:t>
            </a:r>
            <a:endParaRPr lang="en-US"/>
          </a:p>
        </p:txBody>
      </p:sp>
      <p:sp>
        <p:nvSpPr>
          <p:cNvPr id="3095" name="Text Box 135"/>
          <p:cNvSpPr txBox="1">
            <a:spLocks noChangeArrowheads="1"/>
          </p:cNvSpPr>
          <p:nvPr/>
        </p:nvSpPr>
        <p:spPr bwMode="auto">
          <a:xfrm>
            <a:off x="6661150" y="2706688"/>
            <a:ext cx="2482850" cy="1155700"/>
          </a:xfrm>
          <a:prstGeom prst="rect">
            <a:avLst/>
          </a:prstGeom>
          <a:solidFill>
            <a:schemeClr val="hlink"/>
          </a:solidFill>
          <a:ln w="9525" algn="ctr">
            <a:noFill/>
            <a:miter lim="800000"/>
            <a:headEnd/>
            <a:tailEnd/>
          </a:ln>
        </p:spPr>
        <p:txBody>
          <a:bodyPr>
            <a:spAutoFit/>
          </a:bodyPr>
          <a:lstStyle/>
          <a:p>
            <a:r>
              <a:rPr lang="en-GB" sz="1400"/>
              <a:t>Note – the highest frequency in the series is the Nyquist frequency (i.e. below half the sampling frequency)</a:t>
            </a:r>
            <a:endParaRPr lang="en-US" sz="1400"/>
          </a:p>
        </p:txBody>
      </p:sp>
    </p:spTree>
    <p:extLst>
      <p:ext uri="{BB962C8B-B14F-4D97-AF65-F5344CB8AC3E}">
        <p14:creationId xmlns:p14="http://schemas.microsoft.com/office/powerpoint/2010/main" val="68728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0029"/>
                                        </p:tgtEl>
                                        <p:attrNameLst>
                                          <p:attrName>style.visibility</p:attrName>
                                        </p:attrNameLst>
                                      </p:cBhvr>
                                      <p:to>
                                        <p:strVal val="visible"/>
                                      </p:to>
                                    </p:set>
                                    <p:animEffect transition="in" filter="dissolve">
                                      <p:cBhvr>
                                        <p:cTn id="7" dur="500"/>
                                        <p:tgtEl>
                                          <p:spTgt spid="210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02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bwMode="auto">
          <a:xfrm>
            <a:off x="2377028" y="4345875"/>
            <a:ext cx="295170" cy="530352"/>
          </a:xfrm>
          <a:prstGeom prst="rect">
            <a:avLst/>
          </a:prstGeom>
          <a:solidFill>
            <a:srgbClr val="FFC0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9" name="Rectangle 38"/>
          <p:cNvSpPr/>
          <p:nvPr/>
        </p:nvSpPr>
        <p:spPr bwMode="auto">
          <a:xfrm>
            <a:off x="941286" y="4484173"/>
            <a:ext cx="210382" cy="780652"/>
          </a:xfrm>
          <a:prstGeom prst="rect">
            <a:avLst/>
          </a:prstGeom>
          <a:solidFill>
            <a:srgbClr val="FF99CC"/>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7" name="Rectangle 36"/>
          <p:cNvSpPr/>
          <p:nvPr/>
        </p:nvSpPr>
        <p:spPr bwMode="auto">
          <a:xfrm>
            <a:off x="2880844" y="4469037"/>
            <a:ext cx="234243" cy="780652"/>
          </a:xfrm>
          <a:prstGeom prst="rect">
            <a:avLst/>
          </a:prstGeom>
          <a:solidFill>
            <a:srgbClr val="FF99CC"/>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8" name="Rectangle 37"/>
          <p:cNvSpPr/>
          <p:nvPr/>
        </p:nvSpPr>
        <p:spPr bwMode="auto">
          <a:xfrm>
            <a:off x="3867792" y="4475950"/>
            <a:ext cx="234243" cy="780652"/>
          </a:xfrm>
          <a:prstGeom prst="rect">
            <a:avLst/>
          </a:prstGeom>
          <a:solidFill>
            <a:srgbClr val="FF99CC"/>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3" name="Picture 4" descr="Fig.2 - square-wave synthesised from odd harmon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6560" y="1108597"/>
            <a:ext cx="4013744" cy="26340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16927" y="1010212"/>
            <a:ext cx="3249498" cy="584775"/>
          </a:xfrm>
          <a:prstGeom prst="rect">
            <a:avLst/>
          </a:prstGeom>
          <a:noFill/>
        </p:spPr>
        <p:txBody>
          <a:bodyPr wrap="square" rtlCol="0">
            <a:spAutoFit/>
          </a:bodyPr>
          <a:lstStyle/>
          <a:p>
            <a:r>
              <a:rPr lang="en-GB" dirty="0"/>
              <a:t>Example – the square wave and its sine-wave components</a:t>
            </a:r>
          </a:p>
        </p:txBody>
      </p:sp>
      <p:sp>
        <p:nvSpPr>
          <p:cNvPr id="5" name="Rectangle 4"/>
          <p:cNvSpPr/>
          <p:nvPr/>
        </p:nvSpPr>
        <p:spPr bwMode="auto">
          <a:xfrm>
            <a:off x="6386234" y="4286299"/>
            <a:ext cx="2039194" cy="1642683"/>
          </a:xfrm>
          <a:prstGeom prst="rect">
            <a:avLst/>
          </a:prstGeom>
          <a:gradFill flip="none" rotWithShape="1">
            <a:gsLst>
              <a:gs pos="0">
                <a:srgbClr val="DDBA97">
                  <a:tint val="66000"/>
                  <a:satMod val="160000"/>
                </a:srgbClr>
              </a:gs>
              <a:gs pos="50000">
                <a:srgbClr val="DDBA97">
                  <a:tint val="44500"/>
                  <a:satMod val="160000"/>
                </a:srgbClr>
              </a:gs>
              <a:gs pos="100000">
                <a:srgbClr val="DDBA97">
                  <a:tint val="23500"/>
                  <a:satMod val="160000"/>
                </a:srgbClr>
              </a:gs>
            </a:gsLst>
            <a:lin ang="135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6" name="Straight Connector 5"/>
          <p:cNvCxnSpPr/>
          <p:nvPr/>
        </p:nvCxnSpPr>
        <p:spPr bwMode="auto">
          <a:xfrm>
            <a:off x="6637087" y="4496691"/>
            <a:ext cx="0" cy="131091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 name="Straight Connector 6"/>
          <p:cNvCxnSpPr/>
          <p:nvPr/>
        </p:nvCxnSpPr>
        <p:spPr bwMode="auto">
          <a:xfrm flipH="1">
            <a:off x="6548075" y="5734773"/>
            <a:ext cx="1780248" cy="1618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flipH="1" flipV="1">
            <a:off x="6912864" y="4811715"/>
            <a:ext cx="6068" cy="939243"/>
          </a:xfrm>
          <a:prstGeom prst="line">
            <a:avLst/>
          </a:prstGeom>
          <a:solidFill>
            <a:schemeClr val="accent1"/>
          </a:solidFill>
          <a:ln w="38100" cap="flat" cmpd="sng" algn="ctr">
            <a:solidFill>
              <a:srgbClr val="C00000"/>
            </a:solidFill>
            <a:prstDash val="solid"/>
            <a:round/>
            <a:headEnd type="none" w="med" len="med"/>
            <a:tailEnd type="none" w="med" len="med"/>
          </a:ln>
          <a:effectLst/>
        </p:spPr>
      </p:cxnSp>
      <p:sp>
        <p:nvSpPr>
          <p:cNvPr id="9" name="TextBox 8"/>
          <p:cNvSpPr txBox="1"/>
          <p:nvPr/>
        </p:nvSpPr>
        <p:spPr>
          <a:xfrm>
            <a:off x="7907536" y="5710498"/>
            <a:ext cx="484428" cy="276999"/>
          </a:xfrm>
          <a:prstGeom prst="rect">
            <a:avLst/>
          </a:prstGeom>
          <a:noFill/>
        </p:spPr>
        <p:txBody>
          <a:bodyPr wrap="none" rtlCol="0">
            <a:spAutoFit/>
          </a:bodyPr>
          <a:lstStyle/>
          <a:p>
            <a:r>
              <a:rPr lang="en-GB" sz="1200" i="1" dirty="0"/>
              <a:t>freq</a:t>
            </a:r>
          </a:p>
        </p:txBody>
      </p:sp>
      <p:cxnSp>
        <p:nvCxnSpPr>
          <p:cNvPr id="10" name="Straight Connector 9"/>
          <p:cNvCxnSpPr/>
          <p:nvPr/>
        </p:nvCxnSpPr>
        <p:spPr bwMode="auto">
          <a:xfrm flipH="1" flipV="1">
            <a:off x="7178314" y="4939729"/>
            <a:ext cx="6068" cy="811228"/>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1" name="Straight Connector 10"/>
          <p:cNvCxnSpPr/>
          <p:nvPr/>
        </p:nvCxnSpPr>
        <p:spPr bwMode="auto">
          <a:xfrm flipH="1" flipV="1">
            <a:off x="7449831" y="5107640"/>
            <a:ext cx="3034" cy="643320"/>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2" name="Straight Connector 11"/>
          <p:cNvCxnSpPr/>
          <p:nvPr/>
        </p:nvCxnSpPr>
        <p:spPr bwMode="auto">
          <a:xfrm flipH="1" flipV="1">
            <a:off x="7686726" y="5264825"/>
            <a:ext cx="3034" cy="469624"/>
          </a:xfrm>
          <a:prstGeom prst="line">
            <a:avLst/>
          </a:prstGeom>
          <a:solidFill>
            <a:schemeClr val="accent1"/>
          </a:solidFill>
          <a:ln w="38100" cap="flat" cmpd="sng" algn="ctr">
            <a:solidFill>
              <a:srgbClr val="C00000"/>
            </a:solidFill>
            <a:prstDash val="solid"/>
            <a:round/>
            <a:headEnd type="none" w="med" len="med"/>
            <a:tailEnd type="none" w="med" len="med"/>
          </a:ln>
          <a:effectLst/>
        </p:spPr>
      </p:cxnSp>
      <p:cxnSp>
        <p:nvCxnSpPr>
          <p:cNvPr id="13" name="Straight Arrow Connector 12"/>
          <p:cNvCxnSpPr/>
          <p:nvPr/>
        </p:nvCxnSpPr>
        <p:spPr bwMode="auto">
          <a:xfrm>
            <a:off x="4632630" y="2390031"/>
            <a:ext cx="2268071" cy="296810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p:cNvCxnSpPr/>
          <p:nvPr/>
        </p:nvCxnSpPr>
        <p:spPr bwMode="auto">
          <a:xfrm>
            <a:off x="5867667" y="3029611"/>
            <a:ext cx="1282077" cy="23285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5" name="Straight Arrow Connector 14"/>
          <p:cNvCxnSpPr/>
          <p:nvPr/>
        </p:nvCxnSpPr>
        <p:spPr bwMode="auto">
          <a:xfrm>
            <a:off x="6781098" y="3308481"/>
            <a:ext cx="648697" cy="20496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 name="Straight Arrow Connector 15"/>
          <p:cNvCxnSpPr/>
          <p:nvPr/>
        </p:nvCxnSpPr>
        <p:spPr bwMode="auto">
          <a:xfrm>
            <a:off x="7429795" y="3588288"/>
            <a:ext cx="228361" cy="16765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8" name="Rectangle 17"/>
          <p:cNvSpPr>
            <a:spLocks noChangeArrowheads="1"/>
          </p:cNvSpPr>
          <p:nvPr/>
        </p:nvSpPr>
        <p:spPr bwMode="auto">
          <a:xfrm>
            <a:off x="395288" y="331788"/>
            <a:ext cx="6215824" cy="441325"/>
          </a:xfrm>
          <a:prstGeom prst="rect">
            <a:avLst/>
          </a:prstGeom>
          <a:noFill/>
          <a:ln w="9525">
            <a:noFill/>
            <a:miter lim="800000"/>
            <a:headEnd/>
            <a:tailEnd/>
          </a:ln>
        </p:spPr>
        <p:txBody>
          <a:bodyPr anchor="b"/>
          <a:lstStyle/>
          <a:p>
            <a:r>
              <a:rPr lang="en-US" sz="2400" b="1" dirty="0"/>
              <a:t>Time Domain – to Frequency Domain</a:t>
            </a:r>
          </a:p>
        </p:txBody>
      </p:sp>
      <p:sp>
        <p:nvSpPr>
          <p:cNvPr id="25" name="Rectangle 24"/>
          <p:cNvSpPr/>
          <p:nvPr/>
        </p:nvSpPr>
        <p:spPr bwMode="auto">
          <a:xfrm>
            <a:off x="1877335" y="4480592"/>
            <a:ext cx="234243" cy="780652"/>
          </a:xfrm>
          <a:prstGeom prst="rect">
            <a:avLst/>
          </a:prstGeom>
          <a:solidFill>
            <a:srgbClr val="FF99CC"/>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 name="Rectangle 25"/>
          <p:cNvSpPr/>
          <p:nvPr/>
        </p:nvSpPr>
        <p:spPr bwMode="auto">
          <a:xfrm>
            <a:off x="4401818" y="4345875"/>
            <a:ext cx="322960" cy="530352"/>
          </a:xfrm>
          <a:prstGeom prst="rect">
            <a:avLst/>
          </a:prstGeom>
          <a:solidFill>
            <a:srgbClr val="FFC0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 name="Rectangle 26"/>
          <p:cNvSpPr/>
          <p:nvPr/>
        </p:nvSpPr>
        <p:spPr bwMode="auto">
          <a:xfrm>
            <a:off x="3422070" y="4345875"/>
            <a:ext cx="295170" cy="530352"/>
          </a:xfrm>
          <a:prstGeom prst="rect">
            <a:avLst/>
          </a:prstGeom>
          <a:solidFill>
            <a:srgbClr val="FFC0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8" name="Rectangle 27"/>
          <p:cNvSpPr/>
          <p:nvPr/>
        </p:nvSpPr>
        <p:spPr bwMode="auto">
          <a:xfrm>
            <a:off x="1472185" y="4345875"/>
            <a:ext cx="192024" cy="530352"/>
          </a:xfrm>
          <a:prstGeom prst="rect">
            <a:avLst/>
          </a:prstGeom>
          <a:solidFill>
            <a:srgbClr val="FFC0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mc:AlternateContent xmlns:mc="http://schemas.openxmlformats.org/markup-compatibility/2006" xmlns:a14="http://schemas.microsoft.com/office/drawing/2010/main">
        <mc:Choice Requires="a14">
          <p:sp>
            <p:nvSpPr>
              <p:cNvPr id="17" name="TextBox 16"/>
              <p:cNvSpPr txBox="1"/>
              <p:nvPr/>
            </p:nvSpPr>
            <p:spPr>
              <a:xfrm>
                <a:off x="449826" y="4439370"/>
                <a:ext cx="4369062" cy="612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𝑦</m:t>
                      </m:r>
                      <m:r>
                        <a:rPr lang="en-GB" sz="1800" b="0" i="1" smtClean="0">
                          <a:latin typeface="Cambria Math" panose="02040503050406030204" pitchFamily="18" charset="0"/>
                        </a:rPr>
                        <m:t>=1</m:t>
                      </m:r>
                      <m:func>
                        <m:funcPr>
                          <m:ctrlPr>
                            <a:rPr lang="en-GB" sz="1800" b="0" i="1" smtClean="0">
                              <a:latin typeface="Cambria Math" panose="02040503050406030204" pitchFamily="18" charset="0"/>
                            </a:rPr>
                          </m:ctrlPr>
                        </m:funcPr>
                        <m:fName>
                          <m:r>
                            <m:rPr>
                              <m:sty m:val="p"/>
                            </m:rPr>
                            <a:rPr lang="en-GB" sz="1800" b="0" i="0" smtClean="0">
                              <a:latin typeface="Cambria Math" panose="02040503050406030204" pitchFamily="18" charset="0"/>
                            </a:rPr>
                            <m:t>sin</m:t>
                          </m:r>
                        </m:fName>
                        <m:e>
                          <m:r>
                            <a:rPr lang="en-GB" sz="1800" b="0" i="1" smtClean="0">
                              <a:latin typeface="Cambria Math" panose="02040503050406030204" pitchFamily="18" charset="0"/>
                            </a:rPr>
                            <m:t>𝑥</m:t>
                          </m:r>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3</m:t>
                              </m:r>
                            </m:den>
                          </m:f>
                          <m:func>
                            <m:funcPr>
                              <m:ctrlPr>
                                <a:rPr lang="en-GB" sz="1800" b="0" i="1" smtClean="0">
                                  <a:latin typeface="Cambria Math" panose="02040503050406030204" pitchFamily="18" charset="0"/>
                                </a:rPr>
                              </m:ctrlPr>
                            </m:funcPr>
                            <m:fName>
                              <m:r>
                                <m:rPr>
                                  <m:sty m:val="p"/>
                                </m:rPr>
                                <a:rPr lang="en-GB" sz="1800" b="0" i="0" smtClean="0">
                                  <a:latin typeface="Cambria Math" panose="02040503050406030204" pitchFamily="18" charset="0"/>
                                </a:rPr>
                                <m:t>sin</m:t>
                              </m:r>
                            </m:fName>
                            <m:e>
                              <m:r>
                                <a:rPr lang="en-GB" sz="1800" b="0" i="1" smtClean="0">
                                  <a:latin typeface="Cambria Math" panose="02040503050406030204" pitchFamily="18" charset="0"/>
                                </a:rPr>
                                <m:t>3</m:t>
                              </m:r>
                              <m:r>
                                <a:rPr lang="en-GB" sz="1800" b="0" i="1" smtClean="0">
                                  <a:latin typeface="Cambria Math" panose="02040503050406030204" pitchFamily="18" charset="0"/>
                                </a:rPr>
                                <m:t>𝑥</m:t>
                              </m:r>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5</m:t>
                                  </m:r>
                                </m:den>
                              </m:f>
                              <m:func>
                                <m:funcPr>
                                  <m:ctrlPr>
                                    <a:rPr lang="en-GB" sz="1800" b="0" i="1" smtClean="0">
                                      <a:latin typeface="Cambria Math" panose="02040503050406030204" pitchFamily="18" charset="0"/>
                                    </a:rPr>
                                  </m:ctrlPr>
                                </m:funcPr>
                                <m:fName>
                                  <m:r>
                                    <m:rPr>
                                      <m:sty m:val="p"/>
                                    </m:rPr>
                                    <a:rPr lang="en-GB" sz="1800" b="0" i="0" smtClean="0">
                                      <a:latin typeface="Cambria Math" panose="02040503050406030204" pitchFamily="18" charset="0"/>
                                    </a:rPr>
                                    <m:t>sin</m:t>
                                  </m:r>
                                </m:fName>
                                <m:e>
                                  <m:r>
                                    <a:rPr lang="en-GB" sz="1800" b="0" i="1" smtClean="0">
                                      <a:latin typeface="Cambria Math" panose="02040503050406030204" pitchFamily="18" charset="0"/>
                                    </a:rPr>
                                    <m:t>5</m:t>
                                  </m:r>
                                  <m:r>
                                    <a:rPr lang="en-GB" sz="1800" b="0" i="1" smtClean="0">
                                      <a:latin typeface="Cambria Math" panose="02040503050406030204" pitchFamily="18" charset="0"/>
                                    </a:rPr>
                                    <m:t>𝑥</m:t>
                                  </m:r>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7</m:t>
                                      </m:r>
                                    </m:den>
                                  </m:f>
                                  <m:func>
                                    <m:funcPr>
                                      <m:ctrlPr>
                                        <a:rPr lang="en-GB" sz="1800" b="0" i="1" smtClean="0">
                                          <a:latin typeface="Cambria Math" panose="02040503050406030204" pitchFamily="18" charset="0"/>
                                        </a:rPr>
                                      </m:ctrlPr>
                                    </m:funcPr>
                                    <m:fName>
                                      <m:r>
                                        <m:rPr>
                                          <m:sty m:val="p"/>
                                        </m:rPr>
                                        <a:rPr lang="en-GB" sz="1800" b="0" i="0" smtClean="0">
                                          <a:latin typeface="Cambria Math" panose="02040503050406030204" pitchFamily="18" charset="0"/>
                                        </a:rPr>
                                        <m:t>sin</m:t>
                                      </m:r>
                                    </m:fName>
                                    <m:e>
                                      <m:r>
                                        <a:rPr lang="en-GB" sz="1800" b="0" i="1" smtClean="0">
                                          <a:latin typeface="Cambria Math" panose="02040503050406030204" pitchFamily="18" charset="0"/>
                                        </a:rPr>
                                        <m:t>7</m:t>
                                      </m:r>
                                      <m:r>
                                        <a:rPr lang="en-GB" sz="1800" b="0" i="1" smtClean="0">
                                          <a:latin typeface="Cambria Math" panose="02040503050406030204" pitchFamily="18" charset="0"/>
                                        </a:rPr>
                                        <m:t>𝑥</m:t>
                                      </m:r>
                                    </m:e>
                                  </m:func>
                                </m:e>
                              </m:func>
                            </m:e>
                          </m:func>
                        </m:e>
                      </m:func>
                    </m:oMath>
                  </m:oMathPara>
                </a14:m>
                <a:endParaRPr lang="en-GB" sz="1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49826" y="4439370"/>
                <a:ext cx="4369062" cy="612796"/>
              </a:xfrm>
              <a:prstGeom prst="rect">
                <a:avLst/>
              </a:prstGeom>
              <a:blipFill rotWithShape="0">
                <a:blip r:embed="rId3"/>
                <a:stretch>
                  <a:fillRect/>
                </a:stretch>
              </a:blipFill>
            </p:spPr>
            <p:txBody>
              <a:bodyPr/>
              <a:lstStyle/>
              <a:p>
                <a:r>
                  <a:rPr lang="en-GB">
                    <a:noFill/>
                  </a:rPr>
                  <a:t> </a:t>
                </a:r>
              </a:p>
            </p:txBody>
          </p:sp>
        </mc:Fallback>
      </mc:AlternateContent>
      <p:sp>
        <p:nvSpPr>
          <p:cNvPr id="40" name="TextBox 39"/>
          <p:cNvSpPr txBox="1"/>
          <p:nvPr/>
        </p:nvSpPr>
        <p:spPr>
          <a:xfrm>
            <a:off x="1821930" y="3478996"/>
            <a:ext cx="982961" cy="276999"/>
          </a:xfrm>
          <a:prstGeom prst="rect">
            <a:avLst/>
          </a:prstGeom>
          <a:noFill/>
        </p:spPr>
        <p:txBody>
          <a:bodyPr wrap="none" rtlCol="0">
            <a:spAutoFit/>
          </a:bodyPr>
          <a:lstStyle/>
          <a:p>
            <a:r>
              <a:rPr lang="en-GB" sz="1200" dirty="0"/>
              <a:t>Harmonics</a:t>
            </a:r>
          </a:p>
        </p:txBody>
      </p:sp>
      <p:cxnSp>
        <p:nvCxnSpPr>
          <p:cNvPr id="41" name="Straight Arrow Connector 40"/>
          <p:cNvCxnSpPr>
            <a:endCxn id="28" idx="0"/>
          </p:cNvCxnSpPr>
          <p:nvPr/>
        </p:nvCxnSpPr>
        <p:spPr bwMode="auto">
          <a:xfrm flipH="1">
            <a:off x="1568197" y="2425607"/>
            <a:ext cx="3044286" cy="192026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3" name="Straight Arrow Connector 42"/>
          <p:cNvCxnSpPr>
            <a:endCxn id="17" idx="0"/>
          </p:cNvCxnSpPr>
          <p:nvPr/>
        </p:nvCxnSpPr>
        <p:spPr bwMode="auto">
          <a:xfrm flipH="1">
            <a:off x="2634357" y="3029611"/>
            <a:ext cx="3197552" cy="140975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5" name="Straight Arrow Connector 44"/>
          <p:cNvCxnSpPr/>
          <p:nvPr/>
        </p:nvCxnSpPr>
        <p:spPr bwMode="auto">
          <a:xfrm flipH="1">
            <a:off x="3633654" y="3336803"/>
            <a:ext cx="3092446" cy="11322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p:cNvCxnSpPr/>
          <p:nvPr/>
        </p:nvCxnSpPr>
        <p:spPr bwMode="auto">
          <a:xfrm flipH="1">
            <a:off x="4570308" y="3604799"/>
            <a:ext cx="2813297" cy="8757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9" name="TextBox 48"/>
          <p:cNvSpPr txBox="1"/>
          <p:nvPr/>
        </p:nvSpPr>
        <p:spPr>
          <a:xfrm>
            <a:off x="1666650" y="5790482"/>
            <a:ext cx="2318263" cy="276999"/>
          </a:xfrm>
          <a:prstGeom prst="rect">
            <a:avLst/>
          </a:prstGeom>
          <a:noFill/>
        </p:spPr>
        <p:txBody>
          <a:bodyPr wrap="none" rtlCol="0">
            <a:spAutoFit/>
          </a:bodyPr>
          <a:lstStyle/>
          <a:p>
            <a:r>
              <a:rPr lang="en-GB" sz="1200" dirty="0"/>
              <a:t>Coefficients (i.e. amplitudes)</a:t>
            </a:r>
          </a:p>
        </p:txBody>
      </p:sp>
      <p:sp>
        <p:nvSpPr>
          <p:cNvPr id="50" name="Left Brace 49"/>
          <p:cNvSpPr/>
          <p:nvPr/>
        </p:nvSpPr>
        <p:spPr bwMode="auto">
          <a:xfrm>
            <a:off x="6252588" y="4793972"/>
            <a:ext cx="267291" cy="974728"/>
          </a:xfrm>
          <a:prstGeom prst="leftBrace">
            <a:avLst>
              <a:gd name="adj1" fmla="val 45964"/>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cxnSp>
        <p:nvCxnSpPr>
          <p:cNvPr id="51" name="Straight Arrow Connector 50"/>
          <p:cNvCxnSpPr/>
          <p:nvPr/>
        </p:nvCxnSpPr>
        <p:spPr bwMode="auto">
          <a:xfrm flipH="1">
            <a:off x="3952853" y="5281336"/>
            <a:ext cx="2168511" cy="4873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3" name="Straight Arrow Connector 52"/>
          <p:cNvCxnSpPr/>
          <p:nvPr/>
        </p:nvCxnSpPr>
        <p:spPr bwMode="auto">
          <a:xfrm flipH="1" flipV="1">
            <a:off x="1033647" y="5145661"/>
            <a:ext cx="774246" cy="58878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Straight Arrow Connector 54"/>
          <p:cNvCxnSpPr/>
          <p:nvPr/>
        </p:nvCxnSpPr>
        <p:spPr bwMode="auto">
          <a:xfrm flipH="1" flipV="1">
            <a:off x="2012322" y="5154077"/>
            <a:ext cx="243266" cy="5968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7" name="Straight Arrow Connector 56"/>
          <p:cNvCxnSpPr>
            <a:stCxn id="49" idx="0"/>
          </p:cNvCxnSpPr>
          <p:nvPr/>
        </p:nvCxnSpPr>
        <p:spPr bwMode="auto">
          <a:xfrm flipV="1">
            <a:off x="2825782" y="5100538"/>
            <a:ext cx="183927" cy="6899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p:cNvCxnSpPr/>
          <p:nvPr/>
        </p:nvCxnSpPr>
        <p:spPr bwMode="auto">
          <a:xfrm flipV="1">
            <a:off x="3464380" y="5175114"/>
            <a:ext cx="487174" cy="61072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0750344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120900"/>
            <a:ext cx="5819775" cy="2308324"/>
          </a:xfrm>
          <a:prstGeom prst="rect">
            <a:avLst/>
          </a:prstGeom>
          <a:noFill/>
        </p:spPr>
        <p:txBody>
          <a:bodyPr wrap="square" rtlCol="0">
            <a:spAutoFit/>
          </a:bodyPr>
          <a:lstStyle/>
          <a:p>
            <a:r>
              <a:rPr lang="en-GB" sz="4800" b="1" dirty="0"/>
              <a:t>Perceptual Coding </a:t>
            </a:r>
          </a:p>
          <a:p>
            <a:r>
              <a:rPr lang="en-GB" sz="4800" b="1" dirty="0"/>
              <a:t>for JPEG Image Compression</a:t>
            </a:r>
          </a:p>
        </p:txBody>
      </p:sp>
    </p:spTree>
    <p:extLst>
      <p:ext uri="{BB962C8B-B14F-4D97-AF65-F5344CB8AC3E}">
        <p14:creationId xmlns:p14="http://schemas.microsoft.com/office/powerpoint/2010/main" val="37710593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81000" y="333375"/>
            <a:ext cx="4902304" cy="461665"/>
          </a:xfrm>
          <a:prstGeom prst="rect">
            <a:avLst/>
          </a:prstGeom>
          <a:noFill/>
          <a:ln w="9525" algn="ctr">
            <a:noFill/>
            <a:miter lim="800000"/>
            <a:headEnd/>
            <a:tailEnd/>
          </a:ln>
        </p:spPr>
        <p:txBody>
          <a:bodyPr wrap="none">
            <a:spAutoFit/>
          </a:bodyPr>
          <a:lstStyle/>
          <a:p>
            <a:r>
              <a:rPr lang="en-US" sz="2400" b="1" dirty="0"/>
              <a:t>Frequency: amplitude with time</a:t>
            </a:r>
          </a:p>
        </p:txBody>
      </p:sp>
      <p:grpSp>
        <p:nvGrpSpPr>
          <p:cNvPr id="3" name="Group 38"/>
          <p:cNvGrpSpPr/>
          <p:nvPr/>
        </p:nvGrpSpPr>
        <p:grpSpPr>
          <a:xfrm>
            <a:off x="381000" y="3952875"/>
            <a:ext cx="8134351" cy="1651000"/>
            <a:chOff x="381000" y="1400175"/>
            <a:chExt cx="8134351" cy="1651000"/>
          </a:xfrm>
        </p:grpSpPr>
        <p:grpSp>
          <p:nvGrpSpPr>
            <p:cNvPr id="4" name="Group 25"/>
            <p:cNvGrpSpPr>
              <a:grpSpLocks/>
            </p:cNvGrpSpPr>
            <p:nvPr/>
          </p:nvGrpSpPr>
          <p:grpSpPr bwMode="auto">
            <a:xfrm>
              <a:off x="1046163" y="1528763"/>
              <a:ext cx="3792538" cy="1522412"/>
              <a:chOff x="690" y="900"/>
              <a:chExt cx="4743" cy="1681"/>
            </a:xfrm>
          </p:grpSpPr>
          <p:sp>
            <p:nvSpPr>
              <p:cNvPr id="60"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sp>
            <p:nvSpPr>
              <p:cNvPr id="61" name="Line 27"/>
              <p:cNvSpPr>
                <a:spLocks noChangeShapeType="1"/>
              </p:cNvSpPr>
              <p:nvPr/>
            </p:nvSpPr>
            <p:spPr bwMode="auto">
              <a:xfrm>
                <a:off x="714" y="900"/>
                <a:ext cx="1" cy="1681"/>
              </a:xfrm>
              <a:prstGeom prst="line">
                <a:avLst/>
              </a:prstGeom>
              <a:noFill/>
              <a:ln w="28575">
                <a:solidFill>
                  <a:schemeClr val="tx1"/>
                </a:solidFill>
                <a:round/>
                <a:headEnd/>
                <a:tailEnd/>
              </a:ln>
            </p:spPr>
            <p:txBody>
              <a:bodyPr/>
              <a:lstStyle/>
              <a:p>
                <a:endParaRPr lang="en-GB"/>
              </a:p>
            </p:txBody>
          </p:sp>
          <p:grpSp>
            <p:nvGrpSpPr>
              <p:cNvPr id="5" name="Group 28"/>
              <p:cNvGrpSpPr>
                <a:grpSpLocks/>
              </p:cNvGrpSpPr>
              <p:nvPr/>
            </p:nvGrpSpPr>
            <p:grpSpPr bwMode="auto">
              <a:xfrm>
                <a:off x="717" y="1015"/>
                <a:ext cx="911" cy="736"/>
                <a:chOff x="709" y="1560"/>
                <a:chExt cx="911" cy="736"/>
              </a:xfrm>
            </p:grpSpPr>
            <p:sp>
              <p:nvSpPr>
                <p:cNvPr id="76"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77"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78"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63"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64"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65"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66"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67"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68"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69"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70"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71"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6" name="Group 41"/>
              <p:cNvGrpSpPr>
                <a:grpSpLocks/>
              </p:cNvGrpSpPr>
              <p:nvPr/>
            </p:nvGrpSpPr>
            <p:grpSpPr bwMode="auto">
              <a:xfrm>
                <a:off x="4397" y="1023"/>
                <a:ext cx="911" cy="736"/>
                <a:chOff x="709" y="1560"/>
                <a:chExt cx="911" cy="736"/>
              </a:xfrm>
            </p:grpSpPr>
            <p:sp>
              <p:nvSpPr>
                <p:cNvPr id="73"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74"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75"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sp>
          <p:nvSpPr>
            <p:cNvPr id="39" name="Rectangle 45"/>
            <p:cNvSpPr>
              <a:spLocks noChangeArrowheads="1"/>
            </p:cNvSpPr>
            <p:nvPr/>
          </p:nvSpPr>
          <p:spPr bwMode="auto">
            <a:xfrm>
              <a:off x="381000" y="1541463"/>
              <a:ext cx="666750" cy="336550"/>
            </a:xfrm>
            <a:prstGeom prst="rect">
              <a:avLst/>
            </a:prstGeom>
            <a:noFill/>
            <a:ln w="9525" algn="ctr">
              <a:noFill/>
              <a:miter lim="800000"/>
              <a:headEnd/>
              <a:tailEnd/>
            </a:ln>
          </p:spPr>
          <p:txBody>
            <a:bodyPr>
              <a:spAutoFit/>
            </a:bodyPr>
            <a:lstStyle/>
            <a:p>
              <a:r>
                <a:rPr lang="en-GB" dirty="0"/>
                <a:t>sin </a:t>
              </a:r>
              <a:r>
                <a:rPr lang="en-GB" dirty="0">
                  <a:sym typeface="Symbol" pitchFamily="18" charset="2"/>
                </a:rPr>
                <a:t></a:t>
              </a:r>
            </a:p>
          </p:txBody>
        </p:sp>
        <p:cxnSp>
          <p:nvCxnSpPr>
            <p:cNvPr id="40" name="Straight Arrow Connector 39"/>
            <p:cNvCxnSpPr/>
            <p:nvPr/>
          </p:nvCxnSpPr>
          <p:spPr bwMode="auto">
            <a:xfrm flipV="1">
              <a:off x="971551" y="1400175"/>
              <a:ext cx="9524" cy="523878"/>
            </a:xfrm>
            <a:prstGeom prst="straightConnector1">
              <a:avLst/>
            </a:prstGeom>
            <a:noFill/>
            <a:ln w="9525" cap="flat" cmpd="sng" algn="ctr">
              <a:solidFill>
                <a:schemeClr val="tx1"/>
              </a:solidFill>
              <a:prstDash val="solid"/>
              <a:round/>
              <a:headEnd type="none" w="med" len="med"/>
              <a:tailEnd type="arrow"/>
            </a:ln>
            <a:effectLst/>
          </p:spPr>
        </p:cxnSp>
        <p:grpSp>
          <p:nvGrpSpPr>
            <p:cNvPr id="7" name="Group 25"/>
            <p:cNvGrpSpPr>
              <a:grpSpLocks/>
            </p:cNvGrpSpPr>
            <p:nvPr/>
          </p:nvGrpSpPr>
          <p:grpSpPr bwMode="auto">
            <a:xfrm flipV="1">
              <a:off x="4722813" y="1604338"/>
              <a:ext cx="3792538" cy="1333129"/>
              <a:chOff x="690" y="1015"/>
              <a:chExt cx="4743" cy="1472"/>
            </a:xfrm>
          </p:grpSpPr>
          <p:sp>
            <p:nvSpPr>
              <p:cNvPr id="42"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grpSp>
            <p:nvGrpSpPr>
              <p:cNvPr id="8" name="Group 28"/>
              <p:cNvGrpSpPr>
                <a:grpSpLocks/>
              </p:cNvGrpSpPr>
              <p:nvPr/>
            </p:nvGrpSpPr>
            <p:grpSpPr bwMode="auto">
              <a:xfrm>
                <a:off x="717" y="1015"/>
                <a:ext cx="911" cy="736"/>
                <a:chOff x="709" y="1560"/>
                <a:chExt cx="911" cy="736"/>
              </a:xfrm>
            </p:grpSpPr>
            <p:sp>
              <p:nvSpPr>
                <p:cNvPr id="57"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58"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59"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44"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45"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46"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47"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48"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49"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50"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51"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52"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9" name="Group 41"/>
              <p:cNvGrpSpPr>
                <a:grpSpLocks/>
              </p:cNvGrpSpPr>
              <p:nvPr/>
            </p:nvGrpSpPr>
            <p:grpSpPr bwMode="auto">
              <a:xfrm>
                <a:off x="4397" y="1023"/>
                <a:ext cx="911" cy="736"/>
                <a:chOff x="709" y="1560"/>
                <a:chExt cx="911" cy="736"/>
              </a:xfrm>
            </p:grpSpPr>
            <p:sp>
              <p:nvSpPr>
                <p:cNvPr id="54"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55"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56"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grpSp>
      <p:grpSp>
        <p:nvGrpSpPr>
          <p:cNvPr id="10" name="Group 25"/>
          <p:cNvGrpSpPr>
            <a:grpSpLocks/>
          </p:cNvGrpSpPr>
          <p:nvPr/>
        </p:nvGrpSpPr>
        <p:grpSpPr bwMode="auto">
          <a:xfrm>
            <a:off x="1046162" y="1074611"/>
            <a:ext cx="7529513" cy="1522412"/>
            <a:chOff x="690" y="900"/>
            <a:chExt cx="4743" cy="1681"/>
          </a:xfrm>
        </p:grpSpPr>
        <p:sp>
          <p:nvSpPr>
            <p:cNvPr id="94"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sp>
          <p:nvSpPr>
            <p:cNvPr id="95" name="Line 27"/>
            <p:cNvSpPr>
              <a:spLocks noChangeShapeType="1"/>
            </p:cNvSpPr>
            <p:nvPr/>
          </p:nvSpPr>
          <p:spPr bwMode="auto">
            <a:xfrm>
              <a:off x="714" y="900"/>
              <a:ext cx="1" cy="1681"/>
            </a:xfrm>
            <a:prstGeom prst="line">
              <a:avLst/>
            </a:prstGeom>
            <a:noFill/>
            <a:ln w="28575">
              <a:solidFill>
                <a:schemeClr val="tx1"/>
              </a:solidFill>
              <a:round/>
              <a:headEnd/>
              <a:tailEnd/>
            </a:ln>
          </p:spPr>
          <p:txBody>
            <a:bodyPr/>
            <a:lstStyle/>
            <a:p>
              <a:endParaRPr lang="en-GB"/>
            </a:p>
          </p:txBody>
        </p:sp>
        <p:grpSp>
          <p:nvGrpSpPr>
            <p:cNvPr id="11" name="Group 28"/>
            <p:cNvGrpSpPr>
              <a:grpSpLocks/>
            </p:cNvGrpSpPr>
            <p:nvPr/>
          </p:nvGrpSpPr>
          <p:grpSpPr bwMode="auto">
            <a:xfrm>
              <a:off x="717" y="1015"/>
              <a:ext cx="911" cy="736"/>
              <a:chOff x="709" y="1560"/>
              <a:chExt cx="911" cy="736"/>
            </a:xfrm>
          </p:grpSpPr>
          <p:sp>
            <p:nvSpPr>
              <p:cNvPr id="110"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11"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12"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97"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98"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99"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100"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01"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02"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103"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04"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05"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12" name="Group 41"/>
            <p:cNvGrpSpPr>
              <a:grpSpLocks/>
            </p:cNvGrpSpPr>
            <p:nvPr/>
          </p:nvGrpSpPr>
          <p:grpSpPr bwMode="auto">
            <a:xfrm>
              <a:off x="4397" y="1023"/>
              <a:ext cx="911" cy="736"/>
              <a:chOff x="709" y="1560"/>
              <a:chExt cx="911" cy="736"/>
            </a:xfrm>
          </p:grpSpPr>
          <p:sp>
            <p:nvSpPr>
              <p:cNvPr id="107"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08"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09"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sp>
        <p:nvSpPr>
          <p:cNvPr id="113" name="Rectangle 45"/>
          <p:cNvSpPr>
            <a:spLocks noChangeArrowheads="1"/>
          </p:cNvSpPr>
          <p:nvPr/>
        </p:nvSpPr>
        <p:spPr bwMode="auto">
          <a:xfrm>
            <a:off x="381000" y="1087311"/>
            <a:ext cx="666750" cy="336550"/>
          </a:xfrm>
          <a:prstGeom prst="rect">
            <a:avLst/>
          </a:prstGeom>
          <a:noFill/>
          <a:ln w="9525" algn="ctr">
            <a:noFill/>
            <a:miter lim="800000"/>
            <a:headEnd/>
            <a:tailEnd/>
          </a:ln>
        </p:spPr>
        <p:txBody>
          <a:bodyPr>
            <a:spAutoFit/>
          </a:bodyPr>
          <a:lstStyle/>
          <a:p>
            <a:r>
              <a:rPr lang="en-GB" dirty="0"/>
              <a:t>sin </a:t>
            </a:r>
            <a:r>
              <a:rPr lang="en-GB" dirty="0">
                <a:sym typeface="Symbol" pitchFamily="18" charset="2"/>
              </a:rPr>
              <a:t></a:t>
            </a:r>
          </a:p>
        </p:txBody>
      </p:sp>
      <p:sp>
        <p:nvSpPr>
          <p:cNvPr id="114" name="Text Box 46"/>
          <p:cNvSpPr txBox="1">
            <a:spLocks noChangeArrowheads="1"/>
          </p:cNvSpPr>
          <p:nvPr/>
        </p:nvSpPr>
        <p:spPr bwMode="auto">
          <a:xfrm>
            <a:off x="933450" y="2587498"/>
            <a:ext cx="5065810" cy="338554"/>
          </a:xfrm>
          <a:prstGeom prst="rect">
            <a:avLst/>
          </a:prstGeom>
          <a:noFill/>
          <a:ln w="9525" algn="ctr">
            <a:noFill/>
            <a:miter lim="800000"/>
            <a:headEnd/>
            <a:tailEnd/>
          </a:ln>
        </p:spPr>
        <p:txBody>
          <a:bodyPr wrap="none">
            <a:spAutoFit/>
          </a:bodyPr>
          <a:lstStyle/>
          <a:p>
            <a:r>
              <a:rPr lang="en-GB" dirty="0"/>
              <a:t>0         90      180      270    360      450     … </a:t>
            </a:r>
            <a:r>
              <a:rPr lang="en-GB" dirty="0" err="1"/>
              <a:t>etc</a:t>
            </a:r>
            <a:endParaRPr lang="en-GB" dirty="0"/>
          </a:p>
        </p:txBody>
      </p:sp>
      <p:sp>
        <p:nvSpPr>
          <p:cNvPr id="115" name="Rectangle 114"/>
          <p:cNvSpPr/>
          <p:nvPr/>
        </p:nvSpPr>
        <p:spPr>
          <a:xfrm>
            <a:off x="7180037" y="1910221"/>
            <a:ext cx="987771" cy="338554"/>
          </a:xfrm>
          <a:prstGeom prst="rect">
            <a:avLst/>
          </a:prstGeom>
        </p:spPr>
        <p:txBody>
          <a:bodyPr wrap="none">
            <a:spAutoFit/>
          </a:bodyPr>
          <a:lstStyle/>
          <a:p>
            <a:r>
              <a:rPr lang="en-GB" dirty="0">
                <a:sym typeface="Symbol" pitchFamily="18" charset="2"/>
              </a:rPr>
              <a:t>angle  </a:t>
            </a:r>
          </a:p>
        </p:txBody>
      </p:sp>
      <p:cxnSp>
        <p:nvCxnSpPr>
          <p:cNvPr id="116" name="Straight Arrow Connector 115"/>
          <p:cNvCxnSpPr/>
          <p:nvPr/>
        </p:nvCxnSpPr>
        <p:spPr bwMode="auto">
          <a:xfrm flipV="1">
            <a:off x="8067675" y="2069973"/>
            <a:ext cx="466725" cy="1"/>
          </a:xfrm>
          <a:prstGeom prst="straightConnector1">
            <a:avLst/>
          </a:prstGeom>
          <a:noFill/>
          <a:ln w="9525" cap="flat" cmpd="sng" algn="ctr">
            <a:solidFill>
              <a:schemeClr val="tx1"/>
            </a:solidFill>
            <a:prstDash val="solid"/>
            <a:round/>
            <a:headEnd type="none" w="med" len="med"/>
            <a:tailEnd type="arrow"/>
          </a:ln>
          <a:effectLst/>
        </p:spPr>
      </p:cxnSp>
      <p:cxnSp>
        <p:nvCxnSpPr>
          <p:cNvPr id="117" name="Straight Arrow Connector 116"/>
          <p:cNvCxnSpPr/>
          <p:nvPr/>
        </p:nvCxnSpPr>
        <p:spPr bwMode="auto">
          <a:xfrm flipV="1">
            <a:off x="971551" y="946023"/>
            <a:ext cx="9524" cy="523878"/>
          </a:xfrm>
          <a:prstGeom prst="straightConnector1">
            <a:avLst/>
          </a:prstGeom>
          <a:no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9540944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81000" y="333375"/>
            <a:ext cx="4863832" cy="461665"/>
          </a:xfrm>
          <a:prstGeom prst="rect">
            <a:avLst/>
          </a:prstGeom>
          <a:noFill/>
          <a:ln w="9525" algn="ctr">
            <a:noFill/>
            <a:miter lim="800000"/>
            <a:headEnd/>
            <a:tailEnd/>
          </a:ln>
        </p:spPr>
        <p:txBody>
          <a:bodyPr wrap="none">
            <a:spAutoFit/>
          </a:bodyPr>
          <a:lstStyle/>
          <a:p>
            <a:r>
              <a:rPr lang="en-US" sz="2400" b="1" dirty="0"/>
              <a:t>“Spatial” Frequency (horizontal)</a:t>
            </a:r>
          </a:p>
        </p:txBody>
      </p:sp>
      <p:grpSp>
        <p:nvGrpSpPr>
          <p:cNvPr id="3" name="Group 25"/>
          <p:cNvGrpSpPr>
            <a:grpSpLocks/>
          </p:cNvGrpSpPr>
          <p:nvPr/>
        </p:nvGrpSpPr>
        <p:grpSpPr bwMode="auto">
          <a:xfrm>
            <a:off x="1046162" y="1074611"/>
            <a:ext cx="7529513" cy="1522412"/>
            <a:chOff x="690" y="900"/>
            <a:chExt cx="4743" cy="1681"/>
          </a:xfrm>
        </p:grpSpPr>
        <p:sp>
          <p:nvSpPr>
            <p:cNvPr id="4"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sp>
          <p:nvSpPr>
            <p:cNvPr id="5" name="Line 27"/>
            <p:cNvSpPr>
              <a:spLocks noChangeShapeType="1"/>
            </p:cNvSpPr>
            <p:nvPr/>
          </p:nvSpPr>
          <p:spPr bwMode="auto">
            <a:xfrm>
              <a:off x="714" y="900"/>
              <a:ext cx="1" cy="1681"/>
            </a:xfrm>
            <a:prstGeom prst="line">
              <a:avLst/>
            </a:prstGeom>
            <a:noFill/>
            <a:ln w="28575">
              <a:solidFill>
                <a:schemeClr val="tx1"/>
              </a:solidFill>
              <a:round/>
              <a:headEnd/>
              <a:tailEnd/>
            </a:ln>
          </p:spPr>
          <p:txBody>
            <a:bodyPr/>
            <a:lstStyle/>
            <a:p>
              <a:endParaRPr lang="en-GB"/>
            </a:p>
          </p:txBody>
        </p:sp>
        <p:grpSp>
          <p:nvGrpSpPr>
            <p:cNvPr id="6" name="Group 28"/>
            <p:cNvGrpSpPr>
              <a:grpSpLocks/>
            </p:cNvGrpSpPr>
            <p:nvPr/>
          </p:nvGrpSpPr>
          <p:grpSpPr bwMode="auto">
            <a:xfrm>
              <a:off x="717" y="1015"/>
              <a:ext cx="911" cy="736"/>
              <a:chOff x="709" y="1560"/>
              <a:chExt cx="911" cy="736"/>
            </a:xfrm>
          </p:grpSpPr>
          <p:sp>
            <p:nvSpPr>
              <p:cNvPr id="20"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21"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22"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7"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8"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9"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10"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1"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2"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13"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4"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5"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16" name="Group 41"/>
            <p:cNvGrpSpPr>
              <a:grpSpLocks/>
            </p:cNvGrpSpPr>
            <p:nvPr/>
          </p:nvGrpSpPr>
          <p:grpSpPr bwMode="auto">
            <a:xfrm>
              <a:off x="4397" y="1023"/>
              <a:ext cx="911" cy="736"/>
              <a:chOff x="709" y="1560"/>
              <a:chExt cx="911" cy="736"/>
            </a:xfrm>
          </p:grpSpPr>
          <p:sp>
            <p:nvSpPr>
              <p:cNvPr id="17"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8"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9"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sp>
        <p:nvSpPr>
          <p:cNvPr id="23" name="Rectangle 45"/>
          <p:cNvSpPr>
            <a:spLocks noChangeArrowheads="1"/>
          </p:cNvSpPr>
          <p:nvPr/>
        </p:nvSpPr>
        <p:spPr bwMode="auto">
          <a:xfrm>
            <a:off x="381000" y="1087311"/>
            <a:ext cx="666750" cy="336550"/>
          </a:xfrm>
          <a:prstGeom prst="rect">
            <a:avLst/>
          </a:prstGeom>
          <a:noFill/>
          <a:ln w="9525" algn="ctr">
            <a:noFill/>
            <a:miter lim="800000"/>
            <a:headEnd/>
            <a:tailEnd/>
          </a:ln>
        </p:spPr>
        <p:txBody>
          <a:bodyPr>
            <a:spAutoFit/>
          </a:bodyPr>
          <a:lstStyle/>
          <a:p>
            <a:r>
              <a:rPr lang="en-GB" dirty="0"/>
              <a:t>sin </a:t>
            </a:r>
            <a:r>
              <a:rPr lang="en-GB" dirty="0">
                <a:sym typeface="Symbol" pitchFamily="18" charset="2"/>
              </a:rPr>
              <a:t></a:t>
            </a:r>
          </a:p>
        </p:txBody>
      </p:sp>
      <p:sp>
        <p:nvSpPr>
          <p:cNvPr id="24" name="Text Box 46"/>
          <p:cNvSpPr txBox="1">
            <a:spLocks noChangeArrowheads="1"/>
          </p:cNvSpPr>
          <p:nvPr/>
        </p:nvSpPr>
        <p:spPr bwMode="auto">
          <a:xfrm>
            <a:off x="933450" y="2587498"/>
            <a:ext cx="5065810" cy="338554"/>
          </a:xfrm>
          <a:prstGeom prst="rect">
            <a:avLst/>
          </a:prstGeom>
          <a:noFill/>
          <a:ln w="9525" algn="ctr">
            <a:noFill/>
            <a:miter lim="800000"/>
            <a:headEnd/>
            <a:tailEnd/>
          </a:ln>
        </p:spPr>
        <p:txBody>
          <a:bodyPr wrap="none">
            <a:spAutoFit/>
          </a:bodyPr>
          <a:lstStyle/>
          <a:p>
            <a:r>
              <a:rPr lang="en-GB" dirty="0"/>
              <a:t>0         90      180      270    360      450     … </a:t>
            </a:r>
            <a:r>
              <a:rPr lang="en-GB" dirty="0" err="1"/>
              <a:t>etc</a:t>
            </a:r>
            <a:endParaRPr lang="en-GB" dirty="0"/>
          </a:p>
        </p:txBody>
      </p:sp>
      <p:sp>
        <p:nvSpPr>
          <p:cNvPr id="25" name="Rectangle 24"/>
          <p:cNvSpPr/>
          <p:nvPr/>
        </p:nvSpPr>
        <p:spPr>
          <a:xfrm>
            <a:off x="7180037" y="1910221"/>
            <a:ext cx="987771" cy="338554"/>
          </a:xfrm>
          <a:prstGeom prst="rect">
            <a:avLst/>
          </a:prstGeom>
        </p:spPr>
        <p:txBody>
          <a:bodyPr wrap="none">
            <a:spAutoFit/>
          </a:bodyPr>
          <a:lstStyle/>
          <a:p>
            <a:r>
              <a:rPr lang="en-GB" dirty="0">
                <a:sym typeface="Symbol" pitchFamily="18" charset="2"/>
              </a:rPr>
              <a:t>angle  </a:t>
            </a:r>
          </a:p>
        </p:txBody>
      </p:sp>
      <p:cxnSp>
        <p:nvCxnSpPr>
          <p:cNvPr id="26" name="Straight Arrow Connector 25"/>
          <p:cNvCxnSpPr/>
          <p:nvPr/>
        </p:nvCxnSpPr>
        <p:spPr bwMode="auto">
          <a:xfrm flipV="1">
            <a:off x="8067675" y="2069973"/>
            <a:ext cx="466725" cy="1"/>
          </a:xfrm>
          <a:prstGeom prst="straightConnector1">
            <a:avLst/>
          </a:prstGeom>
          <a:noFill/>
          <a:ln w="9525" cap="flat" cmpd="sng" algn="ctr">
            <a:solidFill>
              <a:schemeClr val="tx1"/>
            </a:solidFill>
            <a:prstDash val="solid"/>
            <a:round/>
            <a:headEnd type="none" w="med" len="med"/>
            <a:tailEnd type="arrow"/>
          </a:ln>
          <a:effectLst/>
        </p:spPr>
      </p:cxnSp>
      <p:cxnSp>
        <p:nvCxnSpPr>
          <p:cNvPr id="27" name="Straight Arrow Connector 26"/>
          <p:cNvCxnSpPr/>
          <p:nvPr/>
        </p:nvCxnSpPr>
        <p:spPr bwMode="auto">
          <a:xfrm flipV="1">
            <a:off x="971551" y="946023"/>
            <a:ext cx="9524" cy="523878"/>
          </a:xfrm>
          <a:prstGeom prst="straightConnector1">
            <a:avLst/>
          </a:prstGeom>
          <a:noFill/>
          <a:ln w="9525" cap="flat" cmpd="sng" algn="ctr">
            <a:solidFill>
              <a:schemeClr val="tx1"/>
            </a:solidFill>
            <a:prstDash val="solid"/>
            <a:round/>
            <a:headEnd type="none" w="med" len="med"/>
            <a:tailEnd type="arrow"/>
          </a:ln>
          <a:effectLst/>
        </p:spPr>
      </p:cxnSp>
      <p:grpSp>
        <p:nvGrpSpPr>
          <p:cNvPr id="30" name="Group 37"/>
          <p:cNvGrpSpPr/>
          <p:nvPr/>
        </p:nvGrpSpPr>
        <p:grpSpPr>
          <a:xfrm>
            <a:off x="1085849" y="2874839"/>
            <a:ext cx="7486651" cy="461284"/>
            <a:chOff x="1028699" y="3657600"/>
            <a:chExt cx="7486651" cy="1512252"/>
          </a:xfrm>
        </p:grpSpPr>
        <p:grpSp>
          <p:nvGrpSpPr>
            <p:cNvPr id="31" name="Group 29"/>
            <p:cNvGrpSpPr/>
            <p:nvPr/>
          </p:nvGrpSpPr>
          <p:grpSpPr>
            <a:xfrm>
              <a:off x="1028699" y="3657600"/>
              <a:ext cx="7486651" cy="1512252"/>
              <a:chOff x="1028699" y="3657600"/>
              <a:chExt cx="7486651" cy="1512252"/>
            </a:xfrm>
          </p:grpSpPr>
          <p:sp>
            <p:nvSpPr>
              <p:cNvPr id="28" name="Rectangle 27"/>
              <p:cNvSpPr/>
              <p:nvPr/>
            </p:nvSpPr>
            <p:spPr bwMode="auto">
              <a:xfrm rot="16200000">
                <a:off x="1785938" y="3679193"/>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9" name="Rectangle 28"/>
              <p:cNvSpPr/>
              <p:nvPr/>
            </p:nvSpPr>
            <p:spPr bwMode="auto">
              <a:xfrm rot="5400000" flipH="1">
                <a:off x="3238500" y="3686175"/>
                <a:ext cx="1485899"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6" name="Rectangle 35"/>
              <p:cNvSpPr/>
              <p:nvPr/>
            </p:nvSpPr>
            <p:spPr bwMode="auto">
              <a:xfrm rot="5400000" flipH="1">
                <a:off x="661988" y="4050665"/>
                <a:ext cx="1485898" cy="752476"/>
              </a:xfrm>
              <a:prstGeom prst="rect">
                <a:avLst/>
              </a:prstGeom>
              <a:gradFill>
                <a:gsLst>
                  <a:gs pos="0">
                    <a:schemeClr val="bg1"/>
                  </a:gs>
                  <a:gs pos="100000">
                    <a:schemeClr val="bg1">
                      <a:lumMod val="50000"/>
                    </a:schemeClr>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7" name="Rectangle 36"/>
              <p:cNvSpPr/>
              <p:nvPr/>
            </p:nvSpPr>
            <p:spPr bwMode="auto">
              <a:xfrm rot="5400000" flipV="1">
                <a:off x="7396162" y="4043362"/>
                <a:ext cx="1485900" cy="752476"/>
              </a:xfrm>
              <a:prstGeom prst="rect">
                <a:avLst/>
              </a:prstGeom>
              <a:gradFill>
                <a:gsLst>
                  <a:gs pos="0">
                    <a:schemeClr val="bg1"/>
                  </a:gs>
                  <a:gs pos="100000">
                    <a:schemeClr val="bg1">
                      <a:lumMod val="50000"/>
                    </a:schemeClr>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34" name="Group 30"/>
            <p:cNvGrpSpPr/>
            <p:nvPr/>
          </p:nvGrpSpPr>
          <p:grpSpPr>
            <a:xfrm>
              <a:off x="4762499" y="3667125"/>
              <a:ext cx="2905126" cy="1485900"/>
              <a:chOff x="1790699" y="3676650"/>
              <a:chExt cx="2905126" cy="1485900"/>
            </a:xfrm>
          </p:grpSpPr>
          <p:sp>
            <p:nvSpPr>
              <p:cNvPr id="32" name="Rectangle 31"/>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3" name="Rectangle 32"/>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35" name="Group 38"/>
          <p:cNvGrpSpPr/>
          <p:nvPr/>
        </p:nvGrpSpPr>
        <p:grpSpPr>
          <a:xfrm>
            <a:off x="381000" y="3952875"/>
            <a:ext cx="8134351" cy="1651000"/>
            <a:chOff x="381000" y="1400175"/>
            <a:chExt cx="8134351" cy="1651000"/>
          </a:xfrm>
        </p:grpSpPr>
        <p:grpSp>
          <p:nvGrpSpPr>
            <p:cNvPr id="38" name="Group 25"/>
            <p:cNvGrpSpPr>
              <a:grpSpLocks/>
            </p:cNvGrpSpPr>
            <p:nvPr/>
          </p:nvGrpSpPr>
          <p:grpSpPr bwMode="auto">
            <a:xfrm>
              <a:off x="1046163" y="1528763"/>
              <a:ext cx="3792538" cy="1522412"/>
              <a:chOff x="690" y="900"/>
              <a:chExt cx="4743" cy="1681"/>
            </a:xfrm>
          </p:grpSpPr>
          <p:sp>
            <p:nvSpPr>
              <p:cNvPr id="62"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sp>
            <p:nvSpPr>
              <p:cNvPr id="63" name="Line 27"/>
              <p:cNvSpPr>
                <a:spLocks noChangeShapeType="1"/>
              </p:cNvSpPr>
              <p:nvPr/>
            </p:nvSpPr>
            <p:spPr bwMode="auto">
              <a:xfrm>
                <a:off x="714" y="900"/>
                <a:ext cx="1" cy="1681"/>
              </a:xfrm>
              <a:prstGeom prst="line">
                <a:avLst/>
              </a:prstGeom>
              <a:noFill/>
              <a:ln w="28575">
                <a:solidFill>
                  <a:schemeClr val="tx1"/>
                </a:solidFill>
                <a:round/>
                <a:headEnd/>
                <a:tailEnd/>
              </a:ln>
            </p:spPr>
            <p:txBody>
              <a:bodyPr/>
              <a:lstStyle/>
              <a:p>
                <a:endParaRPr lang="en-GB"/>
              </a:p>
            </p:txBody>
          </p:sp>
          <p:grpSp>
            <p:nvGrpSpPr>
              <p:cNvPr id="39" name="Group 28"/>
              <p:cNvGrpSpPr>
                <a:grpSpLocks/>
              </p:cNvGrpSpPr>
              <p:nvPr/>
            </p:nvGrpSpPr>
            <p:grpSpPr bwMode="auto">
              <a:xfrm>
                <a:off x="717" y="1015"/>
                <a:ext cx="911" cy="736"/>
                <a:chOff x="709" y="1560"/>
                <a:chExt cx="911" cy="736"/>
              </a:xfrm>
            </p:grpSpPr>
            <p:sp>
              <p:nvSpPr>
                <p:cNvPr id="78"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79"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80"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65"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66"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67"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68"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69"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70"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71"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72"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73"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40" name="Group 41"/>
              <p:cNvGrpSpPr>
                <a:grpSpLocks/>
              </p:cNvGrpSpPr>
              <p:nvPr/>
            </p:nvGrpSpPr>
            <p:grpSpPr bwMode="auto">
              <a:xfrm>
                <a:off x="4397" y="1023"/>
                <a:ext cx="911" cy="736"/>
                <a:chOff x="709" y="1560"/>
                <a:chExt cx="911" cy="736"/>
              </a:xfrm>
            </p:grpSpPr>
            <p:sp>
              <p:nvSpPr>
                <p:cNvPr id="75"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76"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77"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sp>
          <p:nvSpPr>
            <p:cNvPr id="41" name="Rectangle 45"/>
            <p:cNvSpPr>
              <a:spLocks noChangeArrowheads="1"/>
            </p:cNvSpPr>
            <p:nvPr/>
          </p:nvSpPr>
          <p:spPr bwMode="auto">
            <a:xfrm>
              <a:off x="381000" y="1541463"/>
              <a:ext cx="666750" cy="336550"/>
            </a:xfrm>
            <a:prstGeom prst="rect">
              <a:avLst/>
            </a:prstGeom>
            <a:noFill/>
            <a:ln w="9525" algn="ctr">
              <a:noFill/>
              <a:miter lim="800000"/>
              <a:headEnd/>
              <a:tailEnd/>
            </a:ln>
          </p:spPr>
          <p:txBody>
            <a:bodyPr>
              <a:spAutoFit/>
            </a:bodyPr>
            <a:lstStyle/>
            <a:p>
              <a:r>
                <a:rPr lang="en-GB" dirty="0"/>
                <a:t>sin </a:t>
              </a:r>
              <a:r>
                <a:rPr lang="en-GB" dirty="0">
                  <a:sym typeface="Symbol" pitchFamily="18" charset="2"/>
                </a:rPr>
                <a:t></a:t>
              </a:r>
            </a:p>
          </p:txBody>
        </p:sp>
        <p:cxnSp>
          <p:nvCxnSpPr>
            <p:cNvPr id="42" name="Straight Arrow Connector 41"/>
            <p:cNvCxnSpPr/>
            <p:nvPr/>
          </p:nvCxnSpPr>
          <p:spPr bwMode="auto">
            <a:xfrm flipV="1">
              <a:off x="971551" y="1400175"/>
              <a:ext cx="9524" cy="523878"/>
            </a:xfrm>
            <a:prstGeom prst="straightConnector1">
              <a:avLst/>
            </a:prstGeom>
            <a:noFill/>
            <a:ln w="9525" cap="flat" cmpd="sng" algn="ctr">
              <a:solidFill>
                <a:schemeClr val="tx1"/>
              </a:solidFill>
              <a:prstDash val="solid"/>
              <a:round/>
              <a:headEnd type="none" w="med" len="med"/>
              <a:tailEnd type="arrow"/>
            </a:ln>
            <a:effectLst/>
          </p:spPr>
        </p:cxnSp>
        <p:grpSp>
          <p:nvGrpSpPr>
            <p:cNvPr id="43" name="Group 25"/>
            <p:cNvGrpSpPr>
              <a:grpSpLocks/>
            </p:cNvGrpSpPr>
            <p:nvPr/>
          </p:nvGrpSpPr>
          <p:grpSpPr bwMode="auto">
            <a:xfrm flipV="1">
              <a:off x="4722813" y="1604338"/>
              <a:ext cx="3792538" cy="1333129"/>
              <a:chOff x="690" y="1015"/>
              <a:chExt cx="4743" cy="1472"/>
            </a:xfrm>
          </p:grpSpPr>
          <p:sp>
            <p:nvSpPr>
              <p:cNvPr id="44"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grpSp>
            <p:nvGrpSpPr>
              <p:cNvPr id="45" name="Group 28"/>
              <p:cNvGrpSpPr>
                <a:grpSpLocks/>
              </p:cNvGrpSpPr>
              <p:nvPr/>
            </p:nvGrpSpPr>
            <p:grpSpPr bwMode="auto">
              <a:xfrm>
                <a:off x="717" y="1015"/>
                <a:ext cx="911" cy="736"/>
                <a:chOff x="709" y="1560"/>
                <a:chExt cx="911" cy="736"/>
              </a:xfrm>
            </p:grpSpPr>
            <p:sp>
              <p:nvSpPr>
                <p:cNvPr id="59"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60"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61"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46"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47"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48"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49"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50"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51"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52"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53"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54"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55" name="Group 41"/>
              <p:cNvGrpSpPr>
                <a:grpSpLocks/>
              </p:cNvGrpSpPr>
              <p:nvPr/>
            </p:nvGrpSpPr>
            <p:grpSpPr bwMode="auto">
              <a:xfrm>
                <a:off x="4397" y="1023"/>
                <a:ext cx="911" cy="736"/>
                <a:chOff x="709" y="1560"/>
                <a:chExt cx="911" cy="736"/>
              </a:xfrm>
            </p:grpSpPr>
            <p:sp>
              <p:nvSpPr>
                <p:cNvPr id="56"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57"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58"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grpSp>
      <p:grpSp>
        <p:nvGrpSpPr>
          <p:cNvPr id="64" name="Group 80"/>
          <p:cNvGrpSpPr/>
          <p:nvPr/>
        </p:nvGrpSpPr>
        <p:grpSpPr>
          <a:xfrm>
            <a:off x="1019174" y="5743575"/>
            <a:ext cx="7486651" cy="514350"/>
            <a:chOff x="1028698" y="3648075"/>
            <a:chExt cx="15088474" cy="1524000"/>
          </a:xfrm>
        </p:grpSpPr>
        <p:grpSp>
          <p:nvGrpSpPr>
            <p:cNvPr id="74" name="Group 81"/>
            <p:cNvGrpSpPr/>
            <p:nvPr/>
          </p:nvGrpSpPr>
          <p:grpSpPr>
            <a:xfrm>
              <a:off x="1028698" y="3667125"/>
              <a:ext cx="9618055" cy="1504950"/>
              <a:chOff x="1028698" y="3667125"/>
              <a:chExt cx="9618055" cy="1504950"/>
            </a:xfrm>
          </p:grpSpPr>
          <p:sp>
            <p:nvSpPr>
              <p:cNvPr id="90" name="Rectangle 89"/>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1" name="Rectangle 90"/>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2" name="Rectangle 91"/>
              <p:cNvSpPr/>
              <p:nvPr/>
            </p:nvSpPr>
            <p:spPr bwMode="auto">
              <a:xfrm rot="5400000" flipH="1">
                <a:off x="661986" y="4052887"/>
                <a:ext cx="1485900" cy="752476"/>
              </a:xfrm>
              <a:prstGeom prst="rect">
                <a:avLst/>
              </a:prstGeom>
              <a:gradFill>
                <a:gsLst>
                  <a:gs pos="0">
                    <a:schemeClr val="bg1"/>
                  </a:gs>
                  <a:gs pos="100000">
                    <a:schemeClr val="bg1">
                      <a:lumMod val="65000"/>
                    </a:schemeClr>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3" name="Rectangle 92"/>
              <p:cNvSpPr/>
              <p:nvPr/>
            </p:nvSpPr>
            <p:spPr bwMode="auto">
              <a:xfrm rot="16200000">
                <a:off x="7736863"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4" name="Rectangle 93"/>
              <p:cNvSpPr/>
              <p:nvPr/>
            </p:nvSpPr>
            <p:spPr bwMode="auto">
              <a:xfrm rot="5400000" flipH="1">
                <a:off x="9189428"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81" name="Group 82"/>
            <p:cNvGrpSpPr/>
            <p:nvPr/>
          </p:nvGrpSpPr>
          <p:grpSpPr>
            <a:xfrm>
              <a:off x="4762499" y="3648075"/>
              <a:ext cx="11354673" cy="1504950"/>
              <a:chOff x="1790699" y="3657600"/>
              <a:chExt cx="11354673" cy="1504950"/>
            </a:xfrm>
          </p:grpSpPr>
          <p:sp>
            <p:nvSpPr>
              <p:cNvPr id="84" name="Rectangle 83"/>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5" name="Rectangle 84"/>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6" name="Rectangle 85"/>
              <p:cNvSpPr/>
              <p:nvPr/>
            </p:nvSpPr>
            <p:spPr bwMode="auto">
              <a:xfrm rot="16200000">
                <a:off x="7736865"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7" name="Rectangle 86"/>
              <p:cNvSpPr/>
              <p:nvPr/>
            </p:nvSpPr>
            <p:spPr bwMode="auto">
              <a:xfrm rot="5400000" flipH="1">
                <a:off x="9189426"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8" name="Rectangle 87"/>
              <p:cNvSpPr/>
              <p:nvPr/>
            </p:nvSpPr>
            <p:spPr bwMode="auto">
              <a:xfrm rot="16200000">
                <a:off x="10693132" y="3662363"/>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9" name="Rectangle 88"/>
              <p:cNvSpPr/>
              <p:nvPr/>
            </p:nvSpPr>
            <p:spPr bwMode="auto">
              <a:xfrm rot="5400000" flipH="1">
                <a:off x="11897671" y="3895799"/>
                <a:ext cx="1485900" cy="1009502"/>
              </a:xfrm>
              <a:prstGeom prst="rect">
                <a:avLst/>
              </a:prstGeom>
              <a:gradFill>
                <a:gsLst>
                  <a:gs pos="0">
                    <a:schemeClr val="bg1">
                      <a:lumMod val="75000"/>
                    </a:schemeClr>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spTree>
    <p:extLst>
      <p:ext uri="{BB962C8B-B14F-4D97-AF65-F5344CB8AC3E}">
        <p14:creationId xmlns:p14="http://schemas.microsoft.com/office/powerpoint/2010/main" val="24376643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81000" y="333375"/>
            <a:ext cx="4411785" cy="461665"/>
          </a:xfrm>
          <a:prstGeom prst="rect">
            <a:avLst/>
          </a:prstGeom>
          <a:noFill/>
          <a:ln w="9525" algn="ctr">
            <a:noFill/>
            <a:miter lim="800000"/>
            <a:headEnd/>
            <a:tailEnd/>
          </a:ln>
        </p:spPr>
        <p:txBody>
          <a:bodyPr wrap="none">
            <a:spAutoFit/>
          </a:bodyPr>
          <a:lstStyle/>
          <a:p>
            <a:r>
              <a:rPr lang="en-US" sz="2400" b="1" dirty="0"/>
              <a:t>“Spatial” </a:t>
            </a:r>
            <a:r>
              <a:rPr lang="en-US" sz="2400" b="1"/>
              <a:t>Frequency </a:t>
            </a:r>
            <a:r>
              <a:rPr lang="en-US" sz="2400"/>
              <a:t>(vertical</a:t>
            </a:r>
            <a:r>
              <a:rPr lang="en-US" sz="2400" dirty="0"/>
              <a:t>)</a:t>
            </a:r>
            <a:endParaRPr lang="en-US" sz="2400" b="1" dirty="0"/>
          </a:p>
        </p:txBody>
      </p:sp>
      <p:grpSp>
        <p:nvGrpSpPr>
          <p:cNvPr id="3" name="Group 166"/>
          <p:cNvGrpSpPr/>
          <p:nvPr/>
        </p:nvGrpSpPr>
        <p:grpSpPr>
          <a:xfrm rot="16200000">
            <a:off x="1901833" y="2735258"/>
            <a:ext cx="4973626" cy="1522412"/>
            <a:chOff x="1046163" y="1528763"/>
            <a:chExt cx="7469188" cy="1522412"/>
          </a:xfrm>
        </p:grpSpPr>
        <p:grpSp>
          <p:nvGrpSpPr>
            <p:cNvPr id="4" name="Group 25"/>
            <p:cNvGrpSpPr>
              <a:grpSpLocks/>
            </p:cNvGrpSpPr>
            <p:nvPr/>
          </p:nvGrpSpPr>
          <p:grpSpPr bwMode="auto">
            <a:xfrm>
              <a:off x="1046163" y="1528763"/>
              <a:ext cx="3792538" cy="1522412"/>
              <a:chOff x="690" y="900"/>
              <a:chExt cx="4743" cy="1681"/>
            </a:xfrm>
          </p:grpSpPr>
          <p:sp>
            <p:nvSpPr>
              <p:cNvPr id="190"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sp>
            <p:nvSpPr>
              <p:cNvPr id="191" name="Line 27"/>
              <p:cNvSpPr>
                <a:spLocks noChangeShapeType="1"/>
              </p:cNvSpPr>
              <p:nvPr/>
            </p:nvSpPr>
            <p:spPr bwMode="auto">
              <a:xfrm>
                <a:off x="714" y="900"/>
                <a:ext cx="1" cy="1681"/>
              </a:xfrm>
              <a:prstGeom prst="line">
                <a:avLst/>
              </a:prstGeom>
              <a:noFill/>
              <a:ln w="28575">
                <a:solidFill>
                  <a:schemeClr val="tx1"/>
                </a:solidFill>
                <a:round/>
                <a:headEnd/>
                <a:tailEnd/>
              </a:ln>
            </p:spPr>
            <p:txBody>
              <a:bodyPr/>
              <a:lstStyle/>
              <a:p>
                <a:endParaRPr lang="en-GB"/>
              </a:p>
            </p:txBody>
          </p:sp>
          <p:grpSp>
            <p:nvGrpSpPr>
              <p:cNvPr id="5" name="Group 28"/>
              <p:cNvGrpSpPr>
                <a:grpSpLocks/>
              </p:cNvGrpSpPr>
              <p:nvPr/>
            </p:nvGrpSpPr>
            <p:grpSpPr bwMode="auto">
              <a:xfrm>
                <a:off x="717" y="1015"/>
                <a:ext cx="911" cy="736"/>
                <a:chOff x="709" y="1560"/>
                <a:chExt cx="911" cy="736"/>
              </a:xfrm>
            </p:grpSpPr>
            <p:sp>
              <p:nvSpPr>
                <p:cNvPr id="206"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207"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208"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193"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94"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95"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196"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97"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98"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199"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200"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201"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6" name="Group 41"/>
              <p:cNvGrpSpPr>
                <a:grpSpLocks/>
              </p:cNvGrpSpPr>
              <p:nvPr/>
            </p:nvGrpSpPr>
            <p:grpSpPr bwMode="auto">
              <a:xfrm>
                <a:off x="4397" y="1023"/>
                <a:ext cx="911" cy="736"/>
                <a:chOff x="709" y="1560"/>
                <a:chExt cx="911" cy="736"/>
              </a:xfrm>
            </p:grpSpPr>
            <p:sp>
              <p:nvSpPr>
                <p:cNvPr id="203"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204"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205"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grpSp>
          <p:nvGrpSpPr>
            <p:cNvPr id="7" name="Group 25"/>
            <p:cNvGrpSpPr>
              <a:grpSpLocks/>
            </p:cNvGrpSpPr>
            <p:nvPr/>
          </p:nvGrpSpPr>
          <p:grpSpPr bwMode="auto">
            <a:xfrm flipV="1">
              <a:off x="4722813" y="1604338"/>
              <a:ext cx="3792538" cy="1333129"/>
              <a:chOff x="690" y="1015"/>
              <a:chExt cx="4743" cy="1472"/>
            </a:xfrm>
          </p:grpSpPr>
          <p:sp>
            <p:nvSpPr>
              <p:cNvPr id="172"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grpSp>
            <p:nvGrpSpPr>
              <p:cNvPr id="8" name="Group 28"/>
              <p:cNvGrpSpPr>
                <a:grpSpLocks/>
              </p:cNvGrpSpPr>
              <p:nvPr/>
            </p:nvGrpSpPr>
            <p:grpSpPr bwMode="auto">
              <a:xfrm>
                <a:off x="717" y="1015"/>
                <a:ext cx="911" cy="736"/>
                <a:chOff x="709" y="1560"/>
                <a:chExt cx="911" cy="736"/>
              </a:xfrm>
            </p:grpSpPr>
            <p:sp>
              <p:nvSpPr>
                <p:cNvPr id="187"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88"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89"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174"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5"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6"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177"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78"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79"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180"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81"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82"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9" name="Group 41"/>
              <p:cNvGrpSpPr>
                <a:grpSpLocks/>
              </p:cNvGrpSpPr>
              <p:nvPr/>
            </p:nvGrpSpPr>
            <p:grpSpPr bwMode="auto">
              <a:xfrm>
                <a:off x="4397" y="1023"/>
                <a:ext cx="911" cy="736"/>
                <a:chOff x="709" y="1560"/>
                <a:chExt cx="911" cy="736"/>
              </a:xfrm>
            </p:grpSpPr>
            <p:sp>
              <p:nvSpPr>
                <p:cNvPr id="184"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85"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86"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grpSp>
      <p:grpSp>
        <p:nvGrpSpPr>
          <p:cNvPr id="10" name="Group 208"/>
          <p:cNvGrpSpPr/>
          <p:nvPr/>
        </p:nvGrpSpPr>
        <p:grpSpPr>
          <a:xfrm rot="16200000">
            <a:off x="3967163" y="2509838"/>
            <a:ext cx="5029200" cy="1952624"/>
            <a:chOff x="1028698" y="3648075"/>
            <a:chExt cx="15088474" cy="1524000"/>
          </a:xfrm>
        </p:grpSpPr>
        <p:grpSp>
          <p:nvGrpSpPr>
            <p:cNvPr id="11" name="Group 209"/>
            <p:cNvGrpSpPr/>
            <p:nvPr/>
          </p:nvGrpSpPr>
          <p:grpSpPr>
            <a:xfrm>
              <a:off x="1028698" y="3667125"/>
              <a:ext cx="9618055" cy="1504950"/>
              <a:chOff x="1028698" y="3667125"/>
              <a:chExt cx="9618055" cy="1504950"/>
            </a:xfrm>
          </p:grpSpPr>
          <p:sp>
            <p:nvSpPr>
              <p:cNvPr id="218" name="Rectangle 217"/>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9" name="Rectangle 218"/>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0" name="Rectangle 219"/>
              <p:cNvSpPr/>
              <p:nvPr/>
            </p:nvSpPr>
            <p:spPr bwMode="auto">
              <a:xfrm rot="5400000" flipH="1">
                <a:off x="661986" y="4052887"/>
                <a:ext cx="1485900" cy="752476"/>
              </a:xfrm>
              <a:prstGeom prst="rect">
                <a:avLst/>
              </a:prstGeom>
              <a:gradFill>
                <a:gsLst>
                  <a:gs pos="0">
                    <a:schemeClr val="bg1"/>
                  </a:gs>
                  <a:gs pos="100000">
                    <a:schemeClr val="bg1">
                      <a:lumMod val="65000"/>
                    </a:schemeClr>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1" name="Rectangle 220"/>
              <p:cNvSpPr/>
              <p:nvPr/>
            </p:nvSpPr>
            <p:spPr bwMode="auto">
              <a:xfrm rot="16200000">
                <a:off x="7736863"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2" name="Rectangle 221"/>
              <p:cNvSpPr/>
              <p:nvPr/>
            </p:nvSpPr>
            <p:spPr bwMode="auto">
              <a:xfrm rot="5400000" flipH="1">
                <a:off x="9189428"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2" name="Group 210"/>
            <p:cNvGrpSpPr/>
            <p:nvPr/>
          </p:nvGrpSpPr>
          <p:grpSpPr>
            <a:xfrm>
              <a:off x="4762499" y="3648075"/>
              <a:ext cx="11354673" cy="1504950"/>
              <a:chOff x="1790699" y="3657600"/>
              <a:chExt cx="11354673" cy="1504950"/>
            </a:xfrm>
          </p:grpSpPr>
          <p:sp>
            <p:nvSpPr>
              <p:cNvPr id="212" name="Rectangle 211"/>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3" name="Rectangle 212"/>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4" name="Rectangle 213"/>
              <p:cNvSpPr/>
              <p:nvPr/>
            </p:nvSpPr>
            <p:spPr bwMode="auto">
              <a:xfrm rot="16200000">
                <a:off x="7736865"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5" name="Rectangle 214"/>
              <p:cNvSpPr/>
              <p:nvPr/>
            </p:nvSpPr>
            <p:spPr bwMode="auto">
              <a:xfrm rot="5400000" flipH="1">
                <a:off x="9189426"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6" name="Rectangle 215"/>
              <p:cNvSpPr/>
              <p:nvPr/>
            </p:nvSpPr>
            <p:spPr bwMode="auto">
              <a:xfrm rot="16200000">
                <a:off x="10693132" y="3662363"/>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7" name="Rectangle 216"/>
              <p:cNvSpPr/>
              <p:nvPr/>
            </p:nvSpPr>
            <p:spPr bwMode="auto">
              <a:xfrm rot="5400000" flipH="1">
                <a:off x="11897671" y="3895799"/>
                <a:ext cx="1485900" cy="1009502"/>
              </a:xfrm>
              <a:prstGeom prst="rect">
                <a:avLst/>
              </a:prstGeom>
              <a:gradFill>
                <a:gsLst>
                  <a:gs pos="0">
                    <a:schemeClr val="bg1">
                      <a:lumMod val="75000"/>
                    </a:schemeClr>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spTree>
    <p:extLst>
      <p:ext uri="{BB962C8B-B14F-4D97-AF65-F5344CB8AC3E}">
        <p14:creationId xmlns:p14="http://schemas.microsoft.com/office/powerpoint/2010/main" val="722659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81000" y="381000"/>
            <a:ext cx="2576346" cy="461665"/>
          </a:xfrm>
          <a:prstGeom prst="rect">
            <a:avLst/>
          </a:prstGeom>
          <a:noFill/>
          <a:ln w="9525" algn="ctr">
            <a:noFill/>
            <a:miter lim="800000"/>
            <a:headEnd/>
            <a:tailEnd/>
          </a:ln>
        </p:spPr>
        <p:txBody>
          <a:bodyPr wrap="none">
            <a:spAutoFit/>
          </a:bodyPr>
          <a:lstStyle/>
          <a:p>
            <a:r>
              <a:rPr lang="en-US" sz="2400" b="1" dirty="0"/>
              <a:t>“DC Conditions”</a:t>
            </a:r>
          </a:p>
        </p:txBody>
      </p:sp>
      <p:grpSp>
        <p:nvGrpSpPr>
          <p:cNvPr id="3" name="Group 25"/>
          <p:cNvGrpSpPr>
            <a:grpSpLocks/>
          </p:cNvGrpSpPr>
          <p:nvPr/>
        </p:nvGrpSpPr>
        <p:grpSpPr bwMode="auto">
          <a:xfrm>
            <a:off x="1046162" y="938213"/>
            <a:ext cx="7529513" cy="1522412"/>
            <a:chOff x="690" y="900"/>
            <a:chExt cx="4743" cy="1681"/>
          </a:xfrm>
        </p:grpSpPr>
        <p:sp>
          <p:nvSpPr>
            <p:cNvPr id="4"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sp>
          <p:nvSpPr>
            <p:cNvPr id="5" name="Line 27"/>
            <p:cNvSpPr>
              <a:spLocks noChangeShapeType="1"/>
            </p:cNvSpPr>
            <p:nvPr/>
          </p:nvSpPr>
          <p:spPr bwMode="auto">
            <a:xfrm>
              <a:off x="714" y="900"/>
              <a:ext cx="1" cy="1681"/>
            </a:xfrm>
            <a:prstGeom prst="line">
              <a:avLst/>
            </a:prstGeom>
            <a:noFill/>
            <a:ln w="28575">
              <a:solidFill>
                <a:schemeClr val="tx1"/>
              </a:solidFill>
              <a:round/>
              <a:headEnd/>
              <a:tailEnd/>
            </a:ln>
          </p:spPr>
          <p:txBody>
            <a:bodyPr/>
            <a:lstStyle/>
            <a:p>
              <a:endParaRPr lang="en-GB"/>
            </a:p>
          </p:txBody>
        </p:sp>
        <p:grpSp>
          <p:nvGrpSpPr>
            <p:cNvPr id="6" name="Group 28"/>
            <p:cNvGrpSpPr>
              <a:grpSpLocks/>
            </p:cNvGrpSpPr>
            <p:nvPr/>
          </p:nvGrpSpPr>
          <p:grpSpPr bwMode="auto">
            <a:xfrm>
              <a:off x="717" y="1015"/>
              <a:ext cx="911" cy="736"/>
              <a:chOff x="709" y="1560"/>
              <a:chExt cx="911" cy="736"/>
            </a:xfrm>
          </p:grpSpPr>
          <p:sp>
            <p:nvSpPr>
              <p:cNvPr id="20"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21"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22"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7" name="Freeform 32"/>
            <p:cNvSpPr>
              <a:spLocks/>
            </p:cNvSpPr>
            <p:nvPr/>
          </p:nvSpPr>
          <p:spPr bwMode="auto">
            <a:xfrm flipV="1">
              <a:off x="1642" y="1747"/>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8" name="Freeform 33"/>
            <p:cNvSpPr>
              <a:spLocks/>
            </p:cNvSpPr>
            <p:nvPr/>
          </p:nvSpPr>
          <p:spPr bwMode="auto">
            <a:xfrm flipV="1">
              <a:off x="2103" y="174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9" name="Line 34"/>
            <p:cNvSpPr>
              <a:spLocks noChangeShapeType="1"/>
            </p:cNvSpPr>
            <p:nvPr/>
          </p:nvSpPr>
          <p:spPr bwMode="auto">
            <a:xfrm flipV="1">
              <a:off x="2112" y="1746"/>
              <a:ext cx="1" cy="733"/>
            </a:xfrm>
            <a:prstGeom prst="line">
              <a:avLst/>
            </a:prstGeom>
            <a:noFill/>
            <a:ln w="9525">
              <a:solidFill>
                <a:schemeClr val="tx1"/>
              </a:solidFill>
              <a:prstDash val="dash"/>
              <a:round/>
              <a:headEnd/>
              <a:tailEnd/>
            </a:ln>
          </p:spPr>
          <p:txBody>
            <a:bodyPr/>
            <a:lstStyle/>
            <a:p>
              <a:endParaRPr lang="en-GB"/>
            </a:p>
          </p:txBody>
        </p:sp>
        <p:sp>
          <p:nvSpPr>
            <p:cNvPr id="10" name="Freeform 35"/>
            <p:cNvSpPr>
              <a:spLocks/>
            </p:cNvSpPr>
            <p:nvPr/>
          </p:nvSpPr>
          <p:spPr bwMode="auto">
            <a:xfrm>
              <a:off x="2549" y="1027"/>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1" name="Freeform 36"/>
            <p:cNvSpPr>
              <a:spLocks/>
            </p:cNvSpPr>
            <p:nvPr/>
          </p:nvSpPr>
          <p:spPr bwMode="auto">
            <a:xfrm>
              <a:off x="3010" y="1023"/>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2" name="Line 37"/>
            <p:cNvSpPr>
              <a:spLocks noChangeShapeType="1"/>
            </p:cNvSpPr>
            <p:nvPr/>
          </p:nvSpPr>
          <p:spPr bwMode="auto">
            <a:xfrm>
              <a:off x="3020" y="1026"/>
              <a:ext cx="0" cy="733"/>
            </a:xfrm>
            <a:prstGeom prst="line">
              <a:avLst/>
            </a:prstGeom>
            <a:noFill/>
            <a:ln w="9525">
              <a:solidFill>
                <a:schemeClr val="tx1"/>
              </a:solidFill>
              <a:prstDash val="dash"/>
              <a:round/>
              <a:headEnd/>
              <a:tailEnd/>
            </a:ln>
          </p:spPr>
          <p:txBody>
            <a:bodyPr/>
            <a:lstStyle/>
            <a:p>
              <a:endParaRPr lang="en-GB"/>
            </a:p>
          </p:txBody>
        </p:sp>
        <p:sp>
          <p:nvSpPr>
            <p:cNvPr id="13" name="Freeform 38"/>
            <p:cNvSpPr>
              <a:spLocks/>
            </p:cNvSpPr>
            <p:nvPr/>
          </p:nvSpPr>
          <p:spPr bwMode="auto">
            <a:xfrm flipV="1">
              <a:off x="3474" y="1755"/>
              <a:ext cx="471"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4" name="Freeform 39"/>
            <p:cNvSpPr>
              <a:spLocks/>
            </p:cNvSpPr>
            <p:nvPr/>
          </p:nvSpPr>
          <p:spPr bwMode="auto">
            <a:xfrm flipV="1">
              <a:off x="3935" y="1751"/>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5" name="Line 40"/>
            <p:cNvSpPr>
              <a:spLocks noChangeShapeType="1"/>
            </p:cNvSpPr>
            <p:nvPr/>
          </p:nvSpPr>
          <p:spPr bwMode="auto">
            <a:xfrm flipV="1">
              <a:off x="3944" y="1754"/>
              <a:ext cx="1" cy="733"/>
            </a:xfrm>
            <a:prstGeom prst="line">
              <a:avLst/>
            </a:prstGeom>
            <a:noFill/>
            <a:ln w="9525">
              <a:solidFill>
                <a:schemeClr val="tx1"/>
              </a:solidFill>
              <a:prstDash val="dash"/>
              <a:round/>
              <a:headEnd/>
              <a:tailEnd/>
            </a:ln>
          </p:spPr>
          <p:txBody>
            <a:bodyPr/>
            <a:lstStyle/>
            <a:p>
              <a:endParaRPr lang="en-GB"/>
            </a:p>
          </p:txBody>
        </p:sp>
        <p:grpSp>
          <p:nvGrpSpPr>
            <p:cNvPr id="16" name="Group 41"/>
            <p:cNvGrpSpPr>
              <a:grpSpLocks/>
            </p:cNvGrpSpPr>
            <p:nvPr/>
          </p:nvGrpSpPr>
          <p:grpSpPr bwMode="auto">
            <a:xfrm>
              <a:off x="4397" y="1023"/>
              <a:ext cx="911" cy="736"/>
              <a:chOff x="709" y="1560"/>
              <a:chExt cx="911" cy="736"/>
            </a:xfrm>
          </p:grpSpPr>
          <p:sp>
            <p:nvSpPr>
              <p:cNvPr id="17"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18"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19"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grpSp>
      <p:sp>
        <p:nvSpPr>
          <p:cNvPr id="23" name="Rectangle 45"/>
          <p:cNvSpPr>
            <a:spLocks noChangeArrowheads="1"/>
          </p:cNvSpPr>
          <p:nvPr/>
        </p:nvSpPr>
        <p:spPr bwMode="auto">
          <a:xfrm>
            <a:off x="381000" y="950913"/>
            <a:ext cx="666750" cy="336550"/>
          </a:xfrm>
          <a:prstGeom prst="rect">
            <a:avLst/>
          </a:prstGeom>
          <a:noFill/>
          <a:ln w="9525" algn="ctr">
            <a:noFill/>
            <a:miter lim="800000"/>
            <a:headEnd/>
            <a:tailEnd/>
          </a:ln>
        </p:spPr>
        <p:txBody>
          <a:bodyPr>
            <a:spAutoFit/>
          </a:bodyPr>
          <a:lstStyle/>
          <a:p>
            <a:r>
              <a:rPr lang="en-GB" dirty="0"/>
              <a:t>sin </a:t>
            </a:r>
            <a:r>
              <a:rPr lang="en-GB" dirty="0">
                <a:sym typeface="Symbol" pitchFamily="18" charset="2"/>
              </a:rPr>
              <a:t></a:t>
            </a:r>
          </a:p>
        </p:txBody>
      </p:sp>
      <p:sp>
        <p:nvSpPr>
          <p:cNvPr id="24" name="Text Box 46"/>
          <p:cNvSpPr txBox="1">
            <a:spLocks noChangeArrowheads="1"/>
          </p:cNvSpPr>
          <p:nvPr/>
        </p:nvSpPr>
        <p:spPr bwMode="auto">
          <a:xfrm>
            <a:off x="933450" y="2451100"/>
            <a:ext cx="5065810" cy="338554"/>
          </a:xfrm>
          <a:prstGeom prst="rect">
            <a:avLst/>
          </a:prstGeom>
          <a:noFill/>
          <a:ln w="9525" algn="ctr">
            <a:noFill/>
            <a:miter lim="800000"/>
            <a:headEnd/>
            <a:tailEnd/>
          </a:ln>
        </p:spPr>
        <p:txBody>
          <a:bodyPr wrap="none">
            <a:spAutoFit/>
          </a:bodyPr>
          <a:lstStyle/>
          <a:p>
            <a:r>
              <a:rPr lang="en-GB" dirty="0"/>
              <a:t>0         90      180      270    360      450     … </a:t>
            </a:r>
            <a:r>
              <a:rPr lang="en-GB" dirty="0" err="1"/>
              <a:t>etc</a:t>
            </a:r>
            <a:endParaRPr lang="en-GB" dirty="0"/>
          </a:p>
        </p:txBody>
      </p:sp>
      <p:sp>
        <p:nvSpPr>
          <p:cNvPr id="25" name="Rectangle 24"/>
          <p:cNvSpPr/>
          <p:nvPr/>
        </p:nvSpPr>
        <p:spPr>
          <a:xfrm>
            <a:off x="7180037" y="1773823"/>
            <a:ext cx="987771" cy="338554"/>
          </a:xfrm>
          <a:prstGeom prst="rect">
            <a:avLst/>
          </a:prstGeom>
        </p:spPr>
        <p:txBody>
          <a:bodyPr wrap="none">
            <a:spAutoFit/>
          </a:bodyPr>
          <a:lstStyle/>
          <a:p>
            <a:r>
              <a:rPr lang="en-GB" dirty="0">
                <a:sym typeface="Symbol" pitchFamily="18" charset="2"/>
              </a:rPr>
              <a:t>angle  </a:t>
            </a:r>
          </a:p>
        </p:txBody>
      </p:sp>
      <p:cxnSp>
        <p:nvCxnSpPr>
          <p:cNvPr id="26" name="Straight Arrow Connector 25"/>
          <p:cNvCxnSpPr/>
          <p:nvPr/>
        </p:nvCxnSpPr>
        <p:spPr bwMode="auto">
          <a:xfrm flipV="1">
            <a:off x="8067675" y="1933575"/>
            <a:ext cx="466725" cy="1"/>
          </a:xfrm>
          <a:prstGeom prst="straightConnector1">
            <a:avLst/>
          </a:prstGeom>
          <a:noFill/>
          <a:ln w="9525" cap="flat" cmpd="sng" algn="ctr">
            <a:solidFill>
              <a:schemeClr val="tx1"/>
            </a:solidFill>
            <a:prstDash val="solid"/>
            <a:round/>
            <a:headEnd type="none" w="med" len="med"/>
            <a:tailEnd type="arrow"/>
          </a:ln>
          <a:effectLst/>
        </p:spPr>
      </p:cxnSp>
      <p:sp>
        <p:nvSpPr>
          <p:cNvPr id="28" name="Line 26"/>
          <p:cNvSpPr>
            <a:spLocks noChangeShapeType="1"/>
          </p:cNvSpPr>
          <p:nvPr/>
        </p:nvSpPr>
        <p:spPr bwMode="auto">
          <a:xfrm>
            <a:off x="1046162" y="4897555"/>
            <a:ext cx="7529513" cy="906"/>
          </a:xfrm>
          <a:prstGeom prst="line">
            <a:avLst/>
          </a:prstGeom>
          <a:noFill/>
          <a:ln w="28575">
            <a:solidFill>
              <a:schemeClr val="tx1"/>
            </a:solidFill>
            <a:round/>
            <a:headEnd/>
            <a:tailEnd/>
          </a:ln>
        </p:spPr>
        <p:txBody>
          <a:bodyPr/>
          <a:lstStyle/>
          <a:p>
            <a:endParaRPr lang="en-GB"/>
          </a:p>
        </p:txBody>
      </p:sp>
      <p:sp>
        <p:nvSpPr>
          <p:cNvPr id="29" name="Line 27"/>
          <p:cNvSpPr>
            <a:spLocks noChangeShapeType="1"/>
          </p:cNvSpPr>
          <p:nvPr/>
        </p:nvSpPr>
        <p:spPr bwMode="auto">
          <a:xfrm>
            <a:off x="1084262" y="4138613"/>
            <a:ext cx="1588" cy="1522412"/>
          </a:xfrm>
          <a:prstGeom prst="line">
            <a:avLst/>
          </a:prstGeom>
          <a:noFill/>
          <a:ln w="28575">
            <a:solidFill>
              <a:schemeClr val="tx1"/>
            </a:solidFill>
            <a:round/>
            <a:headEnd/>
            <a:tailEnd/>
          </a:ln>
        </p:spPr>
        <p:txBody>
          <a:bodyPr/>
          <a:lstStyle/>
          <a:p>
            <a:endParaRPr lang="en-GB"/>
          </a:p>
        </p:txBody>
      </p:sp>
      <p:grpSp>
        <p:nvGrpSpPr>
          <p:cNvPr id="27" name="Group 28"/>
          <p:cNvGrpSpPr>
            <a:grpSpLocks/>
          </p:cNvGrpSpPr>
          <p:nvPr/>
        </p:nvGrpSpPr>
        <p:grpSpPr bwMode="auto">
          <a:xfrm>
            <a:off x="1089025" y="3728414"/>
            <a:ext cx="1446213" cy="666565"/>
            <a:chOff x="709" y="1560"/>
            <a:chExt cx="911" cy="736"/>
          </a:xfrm>
        </p:grpSpPr>
        <p:sp>
          <p:nvSpPr>
            <p:cNvPr id="44" name="Freeform 29"/>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45" name="Freeform 30"/>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46" name="Line 31"/>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31" name="Freeform 32"/>
          <p:cNvSpPr>
            <a:spLocks/>
          </p:cNvSpPr>
          <p:nvPr/>
        </p:nvSpPr>
        <p:spPr bwMode="auto">
          <a:xfrm flipV="1">
            <a:off x="2557462" y="4391356"/>
            <a:ext cx="747713" cy="645735"/>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32" name="Freeform 33"/>
          <p:cNvSpPr>
            <a:spLocks/>
          </p:cNvSpPr>
          <p:nvPr/>
        </p:nvSpPr>
        <p:spPr bwMode="auto">
          <a:xfrm flipV="1">
            <a:off x="3289300" y="4387733"/>
            <a:ext cx="714375" cy="642112"/>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33" name="Line 34"/>
          <p:cNvSpPr>
            <a:spLocks noChangeShapeType="1"/>
          </p:cNvSpPr>
          <p:nvPr/>
        </p:nvSpPr>
        <p:spPr bwMode="auto">
          <a:xfrm flipV="1">
            <a:off x="3303587" y="4904800"/>
            <a:ext cx="1588" cy="663848"/>
          </a:xfrm>
          <a:prstGeom prst="line">
            <a:avLst/>
          </a:prstGeom>
          <a:noFill/>
          <a:ln w="9525">
            <a:solidFill>
              <a:schemeClr val="tx1"/>
            </a:solidFill>
            <a:prstDash val="dash"/>
            <a:round/>
            <a:headEnd/>
            <a:tailEnd/>
          </a:ln>
        </p:spPr>
        <p:txBody>
          <a:bodyPr/>
          <a:lstStyle/>
          <a:p>
            <a:endParaRPr lang="en-GB"/>
          </a:p>
        </p:txBody>
      </p:sp>
      <p:sp>
        <p:nvSpPr>
          <p:cNvPr id="34" name="Freeform 35"/>
          <p:cNvSpPr>
            <a:spLocks/>
          </p:cNvSpPr>
          <p:nvPr/>
        </p:nvSpPr>
        <p:spPr bwMode="auto">
          <a:xfrm>
            <a:off x="3997325" y="3739282"/>
            <a:ext cx="749300" cy="645735"/>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35" name="Freeform 36"/>
          <p:cNvSpPr>
            <a:spLocks/>
          </p:cNvSpPr>
          <p:nvPr/>
        </p:nvSpPr>
        <p:spPr bwMode="auto">
          <a:xfrm>
            <a:off x="4729162" y="3735659"/>
            <a:ext cx="714375" cy="642112"/>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36" name="Line 37"/>
          <p:cNvSpPr>
            <a:spLocks noChangeShapeType="1"/>
          </p:cNvSpPr>
          <p:nvPr/>
        </p:nvSpPr>
        <p:spPr bwMode="auto">
          <a:xfrm>
            <a:off x="4745037" y="4252726"/>
            <a:ext cx="0" cy="663848"/>
          </a:xfrm>
          <a:prstGeom prst="line">
            <a:avLst/>
          </a:prstGeom>
          <a:noFill/>
          <a:ln w="9525">
            <a:solidFill>
              <a:schemeClr val="tx1"/>
            </a:solidFill>
            <a:prstDash val="dash"/>
            <a:round/>
            <a:headEnd/>
            <a:tailEnd/>
          </a:ln>
        </p:spPr>
        <p:txBody>
          <a:bodyPr/>
          <a:lstStyle/>
          <a:p>
            <a:endParaRPr lang="en-GB"/>
          </a:p>
        </p:txBody>
      </p:sp>
      <p:sp>
        <p:nvSpPr>
          <p:cNvPr id="37" name="Freeform 38"/>
          <p:cNvSpPr>
            <a:spLocks/>
          </p:cNvSpPr>
          <p:nvPr/>
        </p:nvSpPr>
        <p:spPr bwMode="auto">
          <a:xfrm flipV="1">
            <a:off x="5465762" y="4398601"/>
            <a:ext cx="747713" cy="645735"/>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38" name="Freeform 39"/>
          <p:cNvSpPr>
            <a:spLocks/>
          </p:cNvSpPr>
          <p:nvPr/>
        </p:nvSpPr>
        <p:spPr bwMode="auto">
          <a:xfrm flipV="1">
            <a:off x="6197600" y="4394978"/>
            <a:ext cx="714375" cy="642112"/>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39" name="Line 40"/>
          <p:cNvSpPr>
            <a:spLocks noChangeShapeType="1"/>
          </p:cNvSpPr>
          <p:nvPr/>
        </p:nvSpPr>
        <p:spPr bwMode="auto">
          <a:xfrm flipV="1">
            <a:off x="6211887" y="4912045"/>
            <a:ext cx="1588" cy="663848"/>
          </a:xfrm>
          <a:prstGeom prst="line">
            <a:avLst/>
          </a:prstGeom>
          <a:noFill/>
          <a:ln w="9525">
            <a:solidFill>
              <a:schemeClr val="tx1"/>
            </a:solidFill>
            <a:prstDash val="dash"/>
            <a:round/>
            <a:headEnd/>
            <a:tailEnd/>
          </a:ln>
        </p:spPr>
        <p:txBody>
          <a:bodyPr/>
          <a:lstStyle/>
          <a:p>
            <a:endParaRPr lang="en-GB"/>
          </a:p>
        </p:txBody>
      </p:sp>
      <p:grpSp>
        <p:nvGrpSpPr>
          <p:cNvPr id="30" name="Group 41"/>
          <p:cNvGrpSpPr>
            <a:grpSpLocks/>
          </p:cNvGrpSpPr>
          <p:nvPr/>
        </p:nvGrpSpPr>
        <p:grpSpPr bwMode="auto">
          <a:xfrm>
            <a:off x="6931025" y="3735659"/>
            <a:ext cx="1446213" cy="666565"/>
            <a:chOff x="709" y="1560"/>
            <a:chExt cx="911" cy="736"/>
          </a:xfrm>
        </p:grpSpPr>
        <p:sp>
          <p:nvSpPr>
            <p:cNvPr id="41" name="Freeform 42"/>
            <p:cNvSpPr>
              <a:spLocks/>
            </p:cNvSpPr>
            <p:nvPr/>
          </p:nvSpPr>
          <p:spPr bwMode="auto">
            <a:xfrm>
              <a:off x="709" y="1564"/>
              <a:ext cx="472" cy="713"/>
            </a:xfrm>
            <a:custGeom>
              <a:avLst/>
              <a:gdLst>
                <a:gd name="T0" fmla="*/ 0 w 1426"/>
                <a:gd name="T1" fmla="*/ 69 h 1277"/>
                <a:gd name="T2" fmla="*/ 2 w 1426"/>
                <a:gd name="T3" fmla="*/ 36 h 1277"/>
                <a:gd name="T4" fmla="*/ 3 w 1426"/>
                <a:gd name="T5" fmla="*/ 13 h 1277"/>
                <a:gd name="T6" fmla="*/ 5 w 1426"/>
                <a:gd name="T7" fmla="*/ 2 h 1277"/>
                <a:gd name="T8" fmla="*/ 6 w 1426"/>
                <a:gd name="T9" fmla="*/ 0 h 1277"/>
                <a:gd name="T10" fmla="*/ 0 60000 65536"/>
                <a:gd name="T11" fmla="*/ 0 60000 65536"/>
                <a:gd name="T12" fmla="*/ 0 60000 65536"/>
                <a:gd name="T13" fmla="*/ 0 60000 65536"/>
                <a:gd name="T14" fmla="*/ 0 60000 65536"/>
                <a:gd name="T15" fmla="*/ 0 w 1426"/>
                <a:gd name="T16" fmla="*/ 0 h 1277"/>
                <a:gd name="T17" fmla="*/ 1426 w 1426"/>
                <a:gd name="T18" fmla="*/ 1277 h 1277"/>
              </a:gdLst>
              <a:ahLst/>
              <a:cxnLst>
                <a:cxn ang="T10">
                  <a:pos x="T0" y="T1"/>
                </a:cxn>
                <a:cxn ang="T11">
                  <a:pos x="T2" y="T3"/>
                </a:cxn>
                <a:cxn ang="T12">
                  <a:pos x="T4" y="T5"/>
                </a:cxn>
                <a:cxn ang="T13">
                  <a:pos x="T6" y="T7"/>
                </a:cxn>
                <a:cxn ang="T14">
                  <a:pos x="T8" y="T9"/>
                </a:cxn>
              </a:cxnLst>
              <a:rect l="T15" t="T16" r="T17" b="T18"/>
              <a:pathLst>
                <a:path w="1426" h="1277">
                  <a:moveTo>
                    <a:pt x="0" y="1277"/>
                  </a:moveTo>
                  <a:cubicBezTo>
                    <a:pt x="78" y="1178"/>
                    <a:pt x="325" y="841"/>
                    <a:pt x="466" y="668"/>
                  </a:cubicBezTo>
                  <a:cubicBezTo>
                    <a:pt x="607" y="495"/>
                    <a:pt x="728" y="342"/>
                    <a:pt x="848" y="239"/>
                  </a:cubicBezTo>
                  <a:cubicBezTo>
                    <a:pt x="967" y="135"/>
                    <a:pt x="1086" y="88"/>
                    <a:pt x="1182" y="48"/>
                  </a:cubicBezTo>
                  <a:cubicBezTo>
                    <a:pt x="1278" y="8"/>
                    <a:pt x="1375" y="10"/>
                    <a:pt x="1426" y="0"/>
                  </a:cubicBezTo>
                </a:path>
              </a:pathLst>
            </a:custGeom>
            <a:noFill/>
            <a:ln w="28575" cap="flat" cmpd="sng">
              <a:solidFill>
                <a:srgbClr val="FF0000"/>
              </a:solidFill>
              <a:prstDash val="solid"/>
              <a:round/>
              <a:headEnd/>
              <a:tailEnd/>
            </a:ln>
          </p:spPr>
          <p:txBody>
            <a:bodyPr/>
            <a:lstStyle/>
            <a:p>
              <a:endParaRPr lang="en-GB"/>
            </a:p>
          </p:txBody>
        </p:sp>
        <p:sp>
          <p:nvSpPr>
            <p:cNvPr id="42" name="Freeform 43"/>
            <p:cNvSpPr>
              <a:spLocks/>
            </p:cNvSpPr>
            <p:nvPr/>
          </p:nvSpPr>
          <p:spPr bwMode="auto">
            <a:xfrm>
              <a:off x="1170" y="1560"/>
              <a:ext cx="450" cy="709"/>
            </a:xfrm>
            <a:custGeom>
              <a:avLst/>
              <a:gdLst>
                <a:gd name="T0" fmla="*/ 5 w 1360"/>
                <a:gd name="T1" fmla="*/ 69 h 1269"/>
                <a:gd name="T2" fmla="*/ 4 w 1360"/>
                <a:gd name="T3" fmla="*/ 36 h 1269"/>
                <a:gd name="T4" fmla="*/ 2 w 1360"/>
                <a:gd name="T5" fmla="*/ 12 h 1269"/>
                <a:gd name="T6" fmla="*/ 1 w 1360"/>
                <a:gd name="T7" fmla="*/ 2 h 1269"/>
                <a:gd name="T8" fmla="*/ 0 w 1360"/>
                <a:gd name="T9" fmla="*/ 0 h 1269"/>
                <a:gd name="T10" fmla="*/ 0 60000 65536"/>
                <a:gd name="T11" fmla="*/ 0 60000 65536"/>
                <a:gd name="T12" fmla="*/ 0 60000 65536"/>
                <a:gd name="T13" fmla="*/ 0 60000 65536"/>
                <a:gd name="T14" fmla="*/ 0 60000 65536"/>
                <a:gd name="T15" fmla="*/ 0 w 1360"/>
                <a:gd name="T16" fmla="*/ 0 h 1269"/>
                <a:gd name="T17" fmla="*/ 1360 w 1360"/>
                <a:gd name="T18" fmla="*/ 1269 h 1269"/>
              </a:gdLst>
              <a:ahLst/>
              <a:cxnLst>
                <a:cxn ang="T10">
                  <a:pos x="T0" y="T1"/>
                </a:cxn>
                <a:cxn ang="T11">
                  <a:pos x="T2" y="T3"/>
                </a:cxn>
                <a:cxn ang="T12">
                  <a:pos x="T4" y="T5"/>
                </a:cxn>
                <a:cxn ang="T13">
                  <a:pos x="T6" y="T7"/>
                </a:cxn>
                <a:cxn ang="T14">
                  <a:pos x="T8" y="T9"/>
                </a:cxn>
              </a:cxnLst>
              <a:rect l="T15" t="T16" r="T17" b="T18"/>
              <a:pathLst>
                <a:path w="1360" h="1269">
                  <a:moveTo>
                    <a:pt x="1360" y="1269"/>
                  </a:moveTo>
                  <a:cubicBezTo>
                    <a:pt x="1282" y="1170"/>
                    <a:pt x="1035" y="833"/>
                    <a:pt x="894" y="660"/>
                  </a:cubicBezTo>
                  <a:cubicBezTo>
                    <a:pt x="753" y="487"/>
                    <a:pt x="632" y="334"/>
                    <a:pt x="512" y="231"/>
                  </a:cubicBezTo>
                  <a:cubicBezTo>
                    <a:pt x="393" y="127"/>
                    <a:pt x="263" y="78"/>
                    <a:pt x="178" y="40"/>
                  </a:cubicBezTo>
                  <a:cubicBezTo>
                    <a:pt x="93" y="2"/>
                    <a:pt x="37" y="8"/>
                    <a:pt x="0" y="0"/>
                  </a:cubicBezTo>
                </a:path>
              </a:pathLst>
            </a:custGeom>
            <a:noFill/>
            <a:ln w="28575" cap="flat" cmpd="sng">
              <a:solidFill>
                <a:srgbClr val="FF0000"/>
              </a:solidFill>
              <a:prstDash val="solid"/>
              <a:round/>
              <a:headEnd/>
              <a:tailEnd/>
            </a:ln>
          </p:spPr>
          <p:txBody>
            <a:bodyPr/>
            <a:lstStyle/>
            <a:p>
              <a:endParaRPr lang="en-GB"/>
            </a:p>
          </p:txBody>
        </p:sp>
        <p:sp>
          <p:nvSpPr>
            <p:cNvPr id="43" name="Line 44"/>
            <p:cNvSpPr>
              <a:spLocks noChangeShapeType="1"/>
            </p:cNvSpPr>
            <p:nvPr/>
          </p:nvSpPr>
          <p:spPr bwMode="auto">
            <a:xfrm>
              <a:off x="1180" y="1563"/>
              <a:ext cx="0" cy="733"/>
            </a:xfrm>
            <a:prstGeom prst="line">
              <a:avLst/>
            </a:prstGeom>
            <a:noFill/>
            <a:ln w="9525">
              <a:solidFill>
                <a:schemeClr val="tx1"/>
              </a:solidFill>
              <a:prstDash val="dash"/>
              <a:round/>
              <a:headEnd/>
              <a:tailEnd/>
            </a:ln>
          </p:spPr>
          <p:txBody>
            <a:bodyPr/>
            <a:lstStyle/>
            <a:p>
              <a:endParaRPr lang="en-GB"/>
            </a:p>
          </p:txBody>
        </p:sp>
      </p:grpSp>
      <p:sp>
        <p:nvSpPr>
          <p:cNvPr id="47" name="Rectangle 45"/>
          <p:cNvSpPr>
            <a:spLocks noChangeArrowheads="1"/>
          </p:cNvSpPr>
          <p:nvPr/>
        </p:nvSpPr>
        <p:spPr bwMode="auto">
          <a:xfrm>
            <a:off x="381000" y="3665538"/>
            <a:ext cx="666750" cy="336550"/>
          </a:xfrm>
          <a:prstGeom prst="rect">
            <a:avLst/>
          </a:prstGeom>
          <a:noFill/>
          <a:ln w="9525" algn="ctr">
            <a:noFill/>
            <a:miter lim="800000"/>
            <a:headEnd/>
            <a:tailEnd/>
          </a:ln>
        </p:spPr>
        <p:txBody>
          <a:bodyPr>
            <a:spAutoFit/>
          </a:bodyPr>
          <a:lstStyle/>
          <a:p>
            <a:r>
              <a:rPr lang="en-GB" dirty="0"/>
              <a:t>sin </a:t>
            </a:r>
            <a:r>
              <a:rPr lang="en-GB" dirty="0">
                <a:sym typeface="Symbol" pitchFamily="18" charset="2"/>
              </a:rPr>
              <a:t></a:t>
            </a:r>
          </a:p>
        </p:txBody>
      </p:sp>
      <p:sp>
        <p:nvSpPr>
          <p:cNvPr id="48" name="Text Box 46"/>
          <p:cNvSpPr txBox="1">
            <a:spLocks noChangeArrowheads="1"/>
          </p:cNvSpPr>
          <p:nvPr/>
        </p:nvSpPr>
        <p:spPr bwMode="auto">
          <a:xfrm>
            <a:off x="933450" y="5651500"/>
            <a:ext cx="5065810" cy="338554"/>
          </a:xfrm>
          <a:prstGeom prst="rect">
            <a:avLst/>
          </a:prstGeom>
          <a:noFill/>
          <a:ln w="9525" algn="ctr">
            <a:noFill/>
            <a:miter lim="800000"/>
            <a:headEnd/>
            <a:tailEnd/>
          </a:ln>
        </p:spPr>
        <p:txBody>
          <a:bodyPr wrap="none">
            <a:spAutoFit/>
          </a:bodyPr>
          <a:lstStyle/>
          <a:p>
            <a:r>
              <a:rPr lang="en-GB" dirty="0"/>
              <a:t>0         90      180      270    360      450     … </a:t>
            </a:r>
            <a:r>
              <a:rPr lang="en-GB" dirty="0" err="1"/>
              <a:t>etc</a:t>
            </a:r>
            <a:endParaRPr lang="en-GB" dirty="0"/>
          </a:p>
        </p:txBody>
      </p:sp>
      <p:sp>
        <p:nvSpPr>
          <p:cNvPr id="49" name="Rectangle 48"/>
          <p:cNvSpPr/>
          <p:nvPr/>
        </p:nvSpPr>
        <p:spPr>
          <a:xfrm>
            <a:off x="7180037" y="4974223"/>
            <a:ext cx="987771" cy="338554"/>
          </a:xfrm>
          <a:prstGeom prst="rect">
            <a:avLst/>
          </a:prstGeom>
        </p:spPr>
        <p:txBody>
          <a:bodyPr wrap="none">
            <a:spAutoFit/>
          </a:bodyPr>
          <a:lstStyle/>
          <a:p>
            <a:r>
              <a:rPr lang="en-GB" dirty="0">
                <a:sym typeface="Symbol" pitchFamily="18" charset="2"/>
              </a:rPr>
              <a:t>angle  </a:t>
            </a:r>
          </a:p>
        </p:txBody>
      </p:sp>
      <p:cxnSp>
        <p:nvCxnSpPr>
          <p:cNvPr id="50" name="Straight Arrow Connector 49"/>
          <p:cNvCxnSpPr/>
          <p:nvPr/>
        </p:nvCxnSpPr>
        <p:spPr bwMode="auto">
          <a:xfrm flipV="1">
            <a:off x="8067675" y="5133975"/>
            <a:ext cx="466725" cy="1"/>
          </a:xfrm>
          <a:prstGeom prst="straightConnector1">
            <a:avLst/>
          </a:prstGeom>
          <a:noFill/>
          <a:ln w="9525" cap="flat" cmpd="sng" algn="ctr">
            <a:solidFill>
              <a:schemeClr val="tx1"/>
            </a:solidFill>
            <a:prstDash val="solid"/>
            <a:round/>
            <a:headEnd type="none" w="med" len="med"/>
            <a:tailEnd type="arrow"/>
          </a:ln>
          <a:effectLst/>
        </p:spPr>
      </p:cxnSp>
      <p:sp>
        <p:nvSpPr>
          <p:cNvPr id="51" name="Line 26"/>
          <p:cNvSpPr>
            <a:spLocks noChangeShapeType="1"/>
          </p:cNvSpPr>
          <p:nvPr/>
        </p:nvSpPr>
        <p:spPr bwMode="auto">
          <a:xfrm>
            <a:off x="1055687" y="4383205"/>
            <a:ext cx="7529513" cy="906"/>
          </a:xfrm>
          <a:prstGeom prst="line">
            <a:avLst/>
          </a:prstGeom>
          <a:noFill/>
          <a:ln w="28575">
            <a:solidFill>
              <a:srgbClr val="3399FF"/>
            </a:solidFill>
            <a:prstDash val="dash"/>
            <a:round/>
            <a:headEnd/>
            <a:tailEnd/>
          </a:ln>
        </p:spPr>
        <p:txBody>
          <a:bodyPr/>
          <a:lstStyle/>
          <a:p>
            <a:endParaRPr lang="en-GB"/>
          </a:p>
        </p:txBody>
      </p:sp>
      <p:cxnSp>
        <p:nvCxnSpPr>
          <p:cNvPr id="52" name="Straight Arrow Connector 51"/>
          <p:cNvCxnSpPr/>
          <p:nvPr/>
        </p:nvCxnSpPr>
        <p:spPr bwMode="auto">
          <a:xfrm flipV="1">
            <a:off x="971551" y="809625"/>
            <a:ext cx="9524" cy="523878"/>
          </a:xfrm>
          <a:prstGeom prst="straightConnector1">
            <a:avLst/>
          </a:prstGeom>
          <a:noFill/>
          <a:ln w="9525" cap="flat" cmpd="sng" algn="ctr">
            <a:solidFill>
              <a:schemeClr val="tx1"/>
            </a:solidFill>
            <a:prstDash val="solid"/>
            <a:round/>
            <a:headEnd type="none" w="med" len="med"/>
            <a:tailEnd type="arrow"/>
          </a:ln>
          <a:effectLst/>
        </p:spPr>
      </p:cxnSp>
      <p:cxnSp>
        <p:nvCxnSpPr>
          <p:cNvPr id="56" name="Straight Arrow Connector 55"/>
          <p:cNvCxnSpPr/>
          <p:nvPr/>
        </p:nvCxnSpPr>
        <p:spPr bwMode="auto">
          <a:xfrm flipV="1">
            <a:off x="990601" y="3581400"/>
            <a:ext cx="9524" cy="523878"/>
          </a:xfrm>
          <a:prstGeom prst="straightConnector1">
            <a:avLst/>
          </a:prstGeom>
          <a:noFill/>
          <a:ln w="9525" cap="flat" cmpd="sng" algn="ctr">
            <a:solidFill>
              <a:schemeClr val="tx1"/>
            </a:solidFill>
            <a:prstDash val="solid"/>
            <a:round/>
            <a:headEnd type="none" w="med" len="med"/>
            <a:tailEnd type="arrow"/>
          </a:ln>
          <a:effectLst/>
        </p:spPr>
      </p:cxnSp>
      <p:sp>
        <p:nvSpPr>
          <p:cNvPr id="57" name="Text Box 46"/>
          <p:cNvSpPr txBox="1">
            <a:spLocks noChangeArrowheads="1"/>
          </p:cNvSpPr>
          <p:nvPr/>
        </p:nvSpPr>
        <p:spPr bwMode="auto">
          <a:xfrm>
            <a:off x="723900" y="4232275"/>
            <a:ext cx="314510" cy="830997"/>
          </a:xfrm>
          <a:prstGeom prst="rect">
            <a:avLst/>
          </a:prstGeom>
          <a:noFill/>
          <a:ln w="9525" algn="ctr">
            <a:noFill/>
            <a:miter lim="800000"/>
            <a:headEnd/>
            <a:tailEnd/>
          </a:ln>
        </p:spPr>
        <p:txBody>
          <a:bodyPr wrap="none">
            <a:spAutoFit/>
          </a:bodyPr>
          <a:lstStyle/>
          <a:p>
            <a:r>
              <a:rPr lang="en-GB" dirty="0"/>
              <a:t>1</a:t>
            </a:r>
          </a:p>
          <a:p>
            <a:endParaRPr lang="en-GB" dirty="0"/>
          </a:p>
          <a:p>
            <a:r>
              <a:rPr lang="en-GB" dirty="0"/>
              <a:t>0</a:t>
            </a:r>
          </a:p>
        </p:txBody>
      </p:sp>
      <p:sp>
        <p:nvSpPr>
          <p:cNvPr id="58" name="TextBox 57"/>
          <p:cNvSpPr txBox="1"/>
          <p:nvPr/>
        </p:nvSpPr>
        <p:spPr>
          <a:xfrm>
            <a:off x="2038350" y="6162675"/>
            <a:ext cx="6752169" cy="338554"/>
          </a:xfrm>
          <a:prstGeom prst="rect">
            <a:avLst/>
          </a:prstGeom>
          <a:noFill/>
        </p:spPr>
        <p:txBody>
          <a:bodyPr wrap="none" rtlCol="0">
            <a:spAutoFit/>
          </a:bodyPr>
          <a:lstStyle/>
          <a:p>
            <a:r>
              <a:rPr lang="en-GB" dirty="0"/>
              <a:t>i.e. the whole sin </a:t>
            </a:r>
            <a:r>
              <a:rPr lang="en-GB" dirty="0">
                <a:sym typeface="Symbol" pitchFamily="18" charset="2"/>
              </a:rPr>
              <a:t> waveform has been lifted by a </a:t>
            </a:r>
            <a:r>
              <a:rPr lang="en-GB" i="1" dirty="0">
                <a:sym typeface="Symbol" pitchFamily="18" charset="2"/>
              </a:rPr>
              <a:t>constant </a:t>
            </a:r>
            <a:r>
              <a:rPr lang="en-GB" dirty="0">
                <a:sym typeface="Symbol" pitchFamily="18" charset="2"/>
              </a:rPr>
              <a:t>1 volt</a:t>
            </a:r>
            <a:r>
              <a:rPr lang="en-GB" dirty="0"/>
              <a:t> </a:t>
            </a:r>
          </a:p>
        </p:txBody>
      </p:sp>
      <p:cxnSp>
        <p:nvCxnSpPr>
          <p:cNvPr id="60" name="Straight Arrow Connector 59"/>
          <p:cNvCxnSpPr/>
          <p:nvPr/>
        </p:nvCxnSpPr>
        <p:spPr bwMode="auto">
          <a:xfrm flipV="1">
            <a:off x="1562100" y="4371975"/>
            <a:ext cx="0" cy="495300"/>
          </a:xfrm>
          <a:prstGeom prst="straightConnector1">
            <a:avLst/>
          </a:prstGeom>
          <a:noFill/>
          <a:ln w="9525" cap="flat" cmpd="sng" algn="ctr">
            <a:solidFill>
              <a:schemeClr val="tx1"/>
            </a:solidFill>
            <a:prstDash val="solid"/>
            <a:round/>
            <a:headEnd type="arrow" w="med" len="med"/>
            <a:tailEnd type="arrow"/>
          </a:ln>
          <a:effectLst/>
        </p:spPr>
      </p:cxnSp>
      <p:sp>
        <p:nvSpPr>
          <p:cNvPr id="61" name="Rectangle 60"/>
          <p:cNvSpPr/>
          <p:nvPr/>
        </p:nvSpPr>
        <p:spPr>
          <a:xfrm>
            <a:off x="1592926" y="4469398"/>
            <a:ext cx="814647" cy="338554"/>
          </a:xfrm>
          <a:prstGeom prst="rect">
            <a:avLst/>
          </a:prstGeom>
        </p:spPr>
        <p:txBody>
          <a:bodyPr wrap="none">
            <a:spAutoFit/>
          </a:bodyPr>
          <a:lstStyle/>
          <a:p>
            <a:r>
              <a:rPr lang="en-GB" dirty="0">
                <a:sym typeface="Symbol" pitchFamily="18" charset="2"/>
              </a:rPr>
              <a:t>1 volt</a:t>
            </a:r>
            <a:r>
              <a:rPr lang="en-GB" dirty="0"/>
              <a:t> </a:t>
            </a:r>
          </a:p>
        </p:txBody>
      </p:sp>
      <p:sp>
        <p:nvSpPr>
          <p:cNvPr id="59" name="Line 26"/>
          <p:cNvSpPr>
            <a:spLocks noChangeShapeType="1"/>
          </p:cNvSpPr>
          <p:nvPr/>
        </p:nvSpPr>
        <p:spPr bwMode="auto">
          <a:xfrm>
            <a:off x="1129474" y="1685771"/>
            <a:ext cx="7529513" cy="906"/>
          </a:xfrm>
          <a:prstGeom prst="line">
            <a:avLst/>
          </a:prstGeom>
          <a:noFill/>
          <a:ln w="28575">
            <a:solidFill>
              <a:srgbClr val="3399FF"/>
            </a:solidFill>
            <a:prstDash val="dash"/>
            <a:round/>
            <a:headEnd/>
            <a:tailEnd/>
          </a:ln>
        </p:spPr>
        <p:txBody>
          <a:bodyPr/>
          <a:lstStyle/>
          <a:p>
            <a:endParaRPr lang="en-GB"/>
          </a:p>
        </p:txBody>
      </p:sp>
    </p:spTree>
    <p:extLst>
      <p:ext uri="{BB962C8B-B14F-4D97-AF65-F5344CB8AC3E}">
        <p14:creationId xmlns:p14="http://schemas.microsoft.com/office/powerpoint/2010/main" val="21190320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81000" y="381000"/>
            <a:ext cx="5083443" cy="461665"/>
          </a:xfrm>
          <a:prstGeom prst="rect">
            <a:avLst/>
          </a:prstGeom>
          <a:noFill/>
          <a:ln w="9525" algn="ctr">
            <a:noFill/>
            <a:miter lim="800000"/>
            <a:headEnd/>
            <a:tailEnd/>
          </a:ln>
        </p:spPr>
        <p:txBody>
          <a:bodyPr wrap="none">
            <a:spAutoFit/>
          </a:bodyPr>
          <a:lstStyle/>
          <a:p>
            <a:r>
              <a:rPr lang="en-US" sz="2400" b="1" dirty="0"/>
              <a:t>DC Conditions </a:t>
            </a:r>
            <a:r>
              <a:rPr lang="en-US" sz="2400" b="1" i="1" dirty="0"/>
              <a:t>… in an image ???</a:t>
            </a:r>
          </a:p>
        </p:txBody>
      </p:sp>
      <p:grpSp>
        <p:nvGrpSpPr>
          <p:cNvPr id="3" name="Group 25"/>
          <p:cNvGrpSpPr>
            <a:grpSpLocks/>
          </p:cNvGrpSpPr>
          <p:nvPr/>
        </p:nvGrpSpPr>
        <p:grpSpPr bwMode="auto">
          <a:xfrm>
            <a:off x="931862" y="1512738"/>
            <a:ext cx="7529513" cy="4107161"/>
            <a:chOff x="690" y="-527"/>
            <a:chExt cx="4743" cy="4535"/>
          </a:xfrm>
        </p:grpSpPr>
        <p:sp>
          <p:nvSpPr>
            <p:cNvPr id="4" name="Line 26"/>
            <p:cNvSpPr>
              <a:spLocks noChangeShapeType="1"/>
            </p:cNvSpPr>
            <p:nvPr/>
          </p:nvSpPr>
          <p:spPr bwMode="auto">
            <a:xfrm>
              <a:off x="690" y="1738"/>
              <a:ext cx="4743" cy="1"/>
            </a:xfrm>
            <a:prstGeom prst="line">
              <a:avLst/>
            </a:prstGeom>
            <a:noFill/>
            <a:ln w="28575">
              <a:solidFill>
                <a:schemeClr val="tx1"/>
              </a:solidFill>
              <a:round/>
              <a:headEnd/>
              <a:tailEnd/>
            </a:ln>
          </p:spPr>
          <p:txBody>
            <a:bodyPr/>
            <a:lstStyle/>
            <a:p>
              <a:endParaRPr lang="en-GB"/>
            </a:p>
          </p:txBody>
        </p:sp>
        <p:sp>
          <p:nvSpPr>
            <p:cNvPr id="5" name="Line 27"/>
            <p:cNvSpPr>
              <a:spLocks noChangeShapeType="1"/>
            </p:cNvSpPr>
            <p:nvPr/>
          </p:nvSpPr>
          <p:spPr bwMode="auto">
            <a:xfrm>
              <a:off x="708" y="-527"/>
              <a:ext cx="13" cy="4535"/>
            </a:xfrm>
            <a:prstGeom prst="line">
              <a:avLst/>
            </a:prstGeom>
            <a:noFill/>
            <a:ln w="28575">
              <a:solidFill>
                <a:schemeClr val="tx1"/>
              </a:solidFill>
              <a:round/>
              <a:headEnd/>
              <a:tailEnd/>
            </a:ln>
          </p:spPr>
          <p:txBody>
            <a:bodyPr/>
            <a:lstStyle/>
            <a:p>
              <a:endParaRPr lang="en-GB"/>
            </a:p>
          </p:txBody>
        </p:sp>
      </p:grpSp>
      <p:sp>
        <p:nvSpPr>
          <p:cNvPr id="24" name="Rectangle 23"/>
          <p:cNvSpPr/>
          <p:nvPr/>
        </p:nvSpPr>
        <p:spPr bwMode="auto">
          <a:xfrm>
            <a:off x="1133475" y="1533525"/>
            <a:ext cx="1485900" cy="4095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2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5675" y="2881313"/>
            <a:ext cx="19050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14725" y="1071563"/>
            <a:ext cx="19050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6150" y="4843463"/>
            <a:ext cx="190500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Arrow Connector 11"/>
          <p:cNvCxnSpPr/>
          <p:nvPr/>
        </p:nvCxnSpPr>
        <p:spPr bwMode="auto">
          <a:xfrm flipH="1">
            <a:off x="2619375" y="4669727"/>
            <a:ext cx="407289" cy="0"/>
          </a:xfrm>
          <a:prstGeom prst="straightConnector1">
            <a:avLst/>
          </a:prstGeom>
          <a:noFill/>
          <a:ln w="28575" cap="flat" cmpd="sng" algn="ctr">
            <a:solidFill>
              <a:schemeClr val="tx1"/>
            </a:solidFill>
            <a:prstDash val="solid"/>
            <a:round/>
            <a:headEnd type="none" w="med" len="med"/>
            <a:tailEnd type="triangle"/>
          </a:ln>
          <a:effectLst/>
        </p:spPr>
      </p:cxnSp>
      <p:cxnSp>
        <p:nvCxnSpPr>
          <p:cNvPr id="17" name="Straight Arrow Connector 16"/>
          <p:cNvCxnSpPr/>
          <p:nvPr/>
        </p:nvCxnSpPr>
        <p:spPr bwMode="auto">
          <a:xfrm flipH="1">
            <a:off x="2619375" y="2365439"/>
            <a:ext cx="407289" cy="0"/>
          </a:xfrm>
          <a:prstGeom prst="straightConnector1">
            <a:avLst/>
          </a:prstGeom>
          <a:noFill/>
          <a:ln w="28575" cap="flat" cmpd="sng" algn="ctr">
            <a:solidFill>
              <a:schemeClr val="tx1"/>
            </a:solidFill>
            <a:prstDash val="solid"/>
            <a:round/>
            <a:headEnd type="none" w="med" len="med"/>
            <a:tailEnd type="triangle"/>
          </a:ln>
          <a:effectLst/>
        </p:spPr>
      </p:cxnSp>
      <p:cxnSp>
        <p:nvCxnSpPr>
          <p:cNvPr id="19" name="Straight Connector 18"/>
          <p:cNvCxnSpPr/>
          <p:nvPr/>
        </p:nvCxnSpPr>
        <p:spPr bwMode="auto">
          <a:xfrm>
            <a:off x="3026664" y="1781175"/>
            <a:ext cx="0" cy="584264"/>
          </a:xfrm>
          <a:prstGeom prst="line">
            <a:avLst/>
          </a:prstGeom>
          <a:noFill/>
          <a:ln w="28575"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3026664" y="4669727"/>
            <a:ext cx="0" cy="950172"/>
          </a:xfrm>
          <a:prstGeom prst="line">
            <a:avLst/>
          </a:prstGeom>
          <a:noFill/>
          <a:ln w="2857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flipH="1">
            <a:off x="3021903" y="5629275"/>
            <a:ext cx="473772" cy="0"/>
          </a:xfrm>
          <a:prstGeom prst="line">
            <a:avLst/>
          </a:prstGeom>
          <a:noFill/>
          <a:ln w="2857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flipH="1">
            <a:off x="3012378" y="1781175"/>
            <a:ext cx="473772" cy="0"/>
          </a:xfrm>
          <a:prstGeom prst="line">
            <a:avLst/>
          </a:prstGeom>
          <a:noFill/>
          <a:ln w="28575" cap="flat" cmpd="sng" algn="ctr">
            <a:solidFill>
              <a:schemeClr val="tx1"/>
            </a:solidFill>
            <a:prstDash val="solid"/>
            <a:round/>
            <a:headEnd type="none" w="med" len="med"/>
            <a:tailEnd type="none" w="med" len="med"/>
          </a:ln>
          <a:effectLst/>
        </p:spPr>
      </p:cxnSp>
      <p:cxnSp>
        <p:nvCxnSpPr>
          <p:cNvPr id="31" name="Straight Arrow Connector 30"/>
          <p:cNvCxnSpPr/>
          <p:nvPr/>
        </p:nvCxnSpPr>
        <p:spPr bwMode="auto">
          <a:xfrm flipH="1">
            <a:off x="2598611" y="3564054"/>
            <a:ext cx="887539" cy="0"/>
          </a:xfrm>
          <a:prstGeom prst="straightConnector1">
            <a:avLst/>
          </a:prstGeom>
          <a:noFill/>
          <a:ln w="28575" cap="flat" cmpd="sng" algn="ctr">
            <a:solidFill>
              <a:schemeClr val="tx1"/>
            </a:solidFill>
            <a:prstDash val="solid"/>
            <a:round/>
            <a:headEnd type="none" w="med" len="med"/>
            <a:tailEnd type="triangle"/>
          </a:ln>
          <a:effectLst/>
        </p:spPr>
      </p:cxnSp>
      <p:sp>
        <p:nvSpPr>
          <p:cNvPr id="29" name="TextBox 28"/>
          <p:cNvSpPr txBox="1"/>
          <p:nvPr/>
        </p:nvSpPr>
        <p:spPr>
          <a:xfrm>
            <a:off x="621792" y="1700784"/>
            <a:ext cx="348172" cy="3539430"/>
          </a:xfrm>
          <a:prstGeom prst="rect">
            <a:avLst/>
          </a:prstGeom>
          <a:noFill/>
        </p:spPr>
        <p:txBody>
          <a:bodyPr wrap="none" rtlCol="0">
            <a:spAutoFit/>
          </a:bodyPr>
          <a:lstStyle/>
          <a:p>
            <a:r>
              <a:rPr lang="en-GB" b="1" dirty="0"/>
              <a:t>+</a:t>
            </a:r>
          </a:p>
          <a:p>
            <a:endParaRPr lang="en-GB" b="1" dirty="0"/>
          </a:p>
          <a:p>
            <a:endParaRPr lang="en-GB" b="1" dirty="0"/>
          </a:p>
          <a:p>
            <a:endParaRPr lang="en-GB" b="1" dirty="0"/>
          </a:p>
          <a:p>
            <a:endParaRPr lang="en-GB" b="1" dirty="0"/>
          </a:p>
          <a:p>
            <a:endParaRPr lang="en-GB" b="1" dirty="0"/>
          </a:p>
          <a:p>
            <a:endParaRPr lang="en-GB" b="1" dirty="0"/>
          </a:p>
          <a:p>
            <a:r>
              <a:rPr lang="en-GB" b="1" dirty="0"/>
              <a:t>0</a:t>
            </a:r>
          </a:p>
          <a:p>
            <a:endParaRPr lang="en-GB" b="1" dirty="0"/>
          </a:p>
          <a:p>
            <a:endParaRPr lang="en-GB" b="1" dirty="0"/>
          </a:p>
          <a:p>
            <a:endParaRPr lang="en-GB" b="1" dirty="0"/>
          </a:p>
          <a:p>
            <a:endParaRPr lang="en-GB" b="1" dirty="0"/>
          </a:p>
          <a:p>
            <a:endParaRPr lang="en-GB" b="1" dirty="0"/>
          </a:p>
          <a:p>
            <a:r>
              <a:rPr lang="en-GB" b="1" dirty="0"/>
              <a:t>-</a:t>
            </a:r>
          </a:p>
        </p:txBody>
      </p:sp>
    </p:spTree>
    <p:extLst>
      <p:ext uri="{BB962C8B-B14F-4D97-AF65-F5344CB8AC3E}">
        <p14:creationId xmlns:p14="http://schemas.microsoft.com/office/powerpoint/2010/main" val="19080371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7"/>
          <p:cNvGrpSpPr/>
          <p:nvPr/>
        </p:nvGrpSpPr>
        <p:grpSpPr>
          <a:xfrm>
            <a:off x="771525" y="1638300"/>
            <a:ext cx="3514725" cy="3495676"/>
            <a:chOff x="771525" y="1638299"/>
            <a:chExt cx="4705350" cy="4486275"/>
          </a:xfrm>
        </p:grpSpPr>
        <p:sp>
          <p:nvSpPr>
            <p:cNvPr id="16" name="Rectangle 15"/>
            <p:cNvSpPr/>
            <p:nvPr/>
          </p:nvSpPr>
          <p:spPr bwMode="auto">
            <a:xfrm>
              <a:off x="2524125" y="2838450"/>
              <a:ext cx="1200150" cy="11049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nvGrpSpPr>
            <p:cNvPr id="3" name="Group 21"/>
            <p:cNvGrpSpPr/>
            <p:nvPr/>
          </p:nvGrpSpPr>
          <p:grpSpPr>
            <a:xfrm>
              <a:off x="800100" y="4991099"/>
              <a:ext cx="1171575" cy="1133475"/>
              <a:chOff x="2857500" y="2514600"/>
              <a:chExt cx="2114550" cy="2000250"/>
            </a:xfrm>
          </p:grpSpPr>
          <p:grpSp>
            <p:nvGrpSpPr>
              <p:cNvPr id="4" name="Group 19"/>
              <p:cNvGrpSpPr/>
              <p:nvPr/>
            </p:nvGrpSpPr>
            <p:grpSpPr>
              <a:xfrm>
                <a:off x="2857500" y="2514600"/>
                <a:ext cx="2114550" cy="1000125"/>
                <a:chOff x="2847975" y="3514725"/>
                <a:chExt cx="2114550" cy="1000125"/>
              </a:xfrm>
            </p:grpSpPr>
            <p:sp>
              <p:nvSpPr>
                <p:cNvPr id="26" name="Rectangle 25"/>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 name="Rectangle 26"/>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5" name="Group 28"/>
              <p:cNvGrpSpPr/>
              <p:nvPr/>
            </p:nvGrpSpPr>
            <p:grpSpPr>
              <a:xfrm flipV="1">
                <a:off x="2857500" y="3514725"/>
                <a:ext cx="2114550" cy="1000125"/>
                <a:chOff x="2847975" y="3514725"/>
                <a:chExt cx="2114550" cy="1000125"/>
              </a:xfrm>
            </p:grpSpPr>
            <p:sp>
              <p:nvSpPr>
                <p:cNvPr id="30" name="Rectangle 29"/>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1" name="Rectangle 30"/>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6" name="Group 32"/>
            <p:cNvGrpSpPr/>
            <p:nvPr/>
          </p:nvGrpSpPr>
          <p:grpSpPr>
            <a:xfrm>
              <a:off x="1971675" y="4991099"/>
              <a:ext cx="1171575" cy="1133475"/>
              <a:chOff x="2857500" y="2514600"/>
              <a:chExt cx="2114550" cy="2000250"/>
            </a:xfrm>
          </p:grpSpPr>
          <p:grpSp>
            <p:nvGrpSpPr>
              <p:cNvPr id="7" name="Group 33"/>
              <p:cNvGrpSpPr/>
              <p:nvPr/>
            </p:nvGrpSpPr>
            <p:grpSpPr>
              <a:xfrm>
                <a:off x="2857500" y="2514600"/>
                <a:ext cx="2114550" cy="1000125"/>
                <a:chOff x="2847975" y="3514725"/>
                <a:chExt cx="2114550" cy="1000125"/>
              </a:xfrm>
            </p:grpSpPr>
            <p:sp>
              <p:nvSpPr>
                <p:cNvPr id="38" name="Rectangle 37"/>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9" name="Rectangle 38"/>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8" name="Group 34"/>
              <p:cNvGrpSpPr/>
              <p:nvPr/>
            </p:nvGrpSpPr>
            <p:grpSpPr>
              <a:xfrm flipV="1">
                <a:off x="2857500" y="3514725"/>
                <a:ext cx="2114550" cy="1000125"/>
                <a:chOff x="2847975" y="3514725"/>
                <a:chExt cx="2114550" cy="1000125"/>
              </a:xfrm>
            </p:grpSpPr>
            <p:sp>
              <p:nvSpPr>
                <p:cNvPr id="36" name="Rectangle 35"/>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37" name="Rectangle 36"/>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9" name="Group 39"/>
            <p:cNvGrpSpPr/>
            <p:nvPr/>
          </p:nvGrpSpPr>
          <p:grpSpPr>
            <a:xfrm>
              <a:off x="3133725" y="4981574"/>
              <a:ext cx="1171575" cy="1133475"/>
              <a:chOff x="2857500" y="2514600"/>
              <a:chExt cx="2114550" cy="2000250"/>
            </a:xfrm>
          </p:grpSpPr>
          <p:grpSp>
            <p:nvGrpSpPr>
              <p:cNvPr id="10" name="Group 40"/>
              <p:cNvGrpSpPr/>
              <p:nvPr/>
            </p:nvGrpSpPr>
            <p:grpSpPr>
              <a:xfrm>
                <a:off x="2857500" y="2514600"/>
                <a:ext cx="2114550" cy="1000125"/>
                <a:chOff x="2847975" y="3514725"/>
                <a:chExt cx="2114550" cy="1000125"/>
              </a:xfrm>
            </p:grpSpPr>
            <p:sp>
              <p:nvSpPr>
                <p:cNvPr id="45" name="Rectangle 44"/>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6" name="Rectangle 45"/>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1" name="Group 41"/>
              <p:cNvGrpSpPr/>
              <p:nvPr/>
            </p:nvGrpSpPr>
            <p:grpSpPr>
              <a:xfrm flipV="1">
                <a:off x="2857500" y="3514725"/>
                <a:ext cx="2114550" cy="1000125"/>
                <a:chOff x="2847975" y="3514725"/>
                <a:chExt cx="2114550" cy="1000125"/>
              </a:xfrm>
            </p:grpSpPr>
            <p:sp>
              <p:nvSpPr>
                <p:cNvPr id="43" name="Rectangle 42"/>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44" name="Rectangle 43"/>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2" name="Group 46"/>
            <p:cNvGrpSpPr/>
            <p:nvPr/>
          </p:nvGrpSpPr>
          <p:grpSpPr>
            <a:xfrm>
              <a:off x="4305300" y="4981574"/>
              <a:ext cx="1171575" cy="1133475"/>
              <a:chOff x="2857500" y="2514600"/>
              <a:chExt cx="2114550" cy="2000250"/>
            </a:xfrm>
          </p:grpSpPr>
          <p:grpSp>
            <p:nvGrpSpPr>
              <p:cNvPr id="13" name="Group 47"/>
              <p:cNvGrpSpPr/>
              <p:nvPr/>
            </p:nvGrpSpPr>
            <p:grpSpPr>
              <a:xfrm>
                <a:off x="2857500" y="2514600"/>
                <a:ext cx="2114550" cy="1000125"/>
                <a:chOff x="2847975" y="3514725"/>
                <a:chExt cx="2114550" cy="1000125"/>
              </a:xfrm>
            </p:grpSpPr>
            <p:sp>
              <p:nvSpPr>
                <p:cNvPr id="52" name="Rectangle 51"/>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3" name="Rectangle 52"/>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4" name="Group 48"/>
              <p:cNvGrpSpPr/>
              <p:nvPr/>
            </p:nvGrpSpPr>
            <p:grpSpPr>
              <a:xfrm flipV="1">
                <a:off x="2857500" y="3514725"/>
                <a:ext cx="2114550" cy="1000125"/>
                <a:chOff x="2847975" y="3514725"/>
                <a:chExt cx="2114550" cy="1000125"/>
              </a:xfrm>
            </p:grpSpPr>
            <p:sp>
              <p:nvSpPr>
                <p:cNvPr id="50" name="Rectangle 49"/>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1" name="Rectangle 50"/>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5" name="Group 53"/>
            <p:cNvGrpSpPr/>
            <p:nvPr/>
          </p:nvGrpSpPr>
          <p:grpSpPr>
            <a:xfrm>
              <a:off x="790575" y="3867149"/>
              <a:ext cx="1171575" cy="1133475"/>
              <a:chOff x="2857500" y="2514600"/>
              <a:chExt cx="2114550" cy="2000250"/>
            </a:xfrm>
          </p:grpSpPr>
          <p:grpSp>
            <p:nvGrpSpPr>
              <p:cNvPr id="17" name="Group 54"/>
              <p:cNvGrpSpPr/>
              <p:nvPr/>
            </p:nvGrpSpPr>
            <p:grpSpPr>
              <a:xfrm>
                <a:off x="2857500" y="2514600"/>
                <a:ext cx="2114550" cy="1000125"/>
                <a:chOff x="2847975" y="3514725"/>
                <a:chExt cx="2114550" cy="1000125"/>
              </a:xfrm>
            </p:grpSpPr>
            <p:sp>
              <p:nvSpPr>
                <p:cNvPr id="59" name="Rectangle 58"/>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0" name="Rectangle 59"/>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8" name="Group 55"/>
              <p:cNvGrpSpPr/>
              <p:nvPr/>
            </p:nvGrpSpPr>
            <p:grpSpPr>
              <a:xfrm flipV="1">
                <a:off x="2857500" y="3514725"/>
                <a:ext cx="2114550" cy="1000125"/>
                <a:chOff x="2847975" y="3514725"/>
                <a:chExt cx="2114550" cy="1000125"/>
              </a:xfrm>
            </p:grpSpPr>
            <p:sp>
              <p:nvSpPr>
                <p:cNvPr id="57" name="Rectangle 56"/>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58" name="Rectangle 57"/>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9" name="Group 60"/>
            <p:cNvGrpSpPr/>
            <p:nvPr/>
          </p:nvGrpSpPr>
          <p:grpSpPr>
            <a:xfrm>
              <a:off x="1962150" y="3867149"/>
              <a:ext cx="1171575" cy="1133475"/>
              <a:chOff x="2857500" y="2514600"/>
              <a:chExt cx="2114550" cy="2000250"/>
            </a:xfrm>
          </p:grpSpPr>
          <p:grpSp>
            <p:nvGrpSpPr>
              <p:cNvPr id="20" name="Group 61"/>
              <p:cNvGrpSpPr/>
              <p:nvPr/>
            </p:nvGrpSpPr>
            <p:grpSpPr>
              <a:xfrm>
                <a:off x="2857500" y="2514600"/>
                <a:ext cx="2114550" cy="1000125"/>
                <a:chOff x="2847975" y="3514725"/>
                <a:chExt cx="2114550" cy="1000125"/>
              </a:xfrm>
            </p:grpSpPr>
            <p:sp>
              <p:nvSpPr>
                <p:cNvPr id="66" name="Rectangle 65"/>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7" name="Rectangle 66"/>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21" name="Group 62"/>
              <p:cNvGrpSpPr/>
              <p:nvPr/>
            </p:nvGrpSpPr>
            <p:grpSpPr>
              <a:xfrm flipV="1">
                <a:off x="2857500" y="3514725"/>
                <a:ext cx="2114550" cy="1000125"/>
                <a:chOff x="2847975" y="3514725"/>
                <a:chExt cx="2114550" cy="1000125"/>
              </a:xfrm>
            </p:grpSpPr>
            <p:sp>
              <p:nvSpPr>
                <p:cNvPr id="64" name="Rectangle 63"/>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65" name="Rectangle 64"/>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22" name="Group 67"/>
            <p:cNvGrpSpPr/>
            <p:nvPr/>
          </p:nvGrpSpPr>
          <p:grpSpPr>
            <a:xfrm>
              <a:off x="3124200" y="3857624"/>
              <a:ext cx="1171575" cy="1133475"/>
              <a:chOff x="2857500" y="2514600"/>
              <a:chExt cx="2114550" cy="2000250"/>
            </a:xfrm>
          </p:grpSpPr>
          <p:grpSp>
            <p:nvGrpSpPr>
              <p:cNvPr id="23" name="Group 68"/>
              <p:cNvGrpSpPr/>
              <p:nvPr/>
            </p:nvGrpSpPr>
            <p:grpSpPr>
              <a:xfrm>
                <a:off x="2857500" y="2514600"/>
                <a:ext cx="2114550" cy="1000125"/>
                <a:chOff x="2847975" y="3514725"/>
                <a:chExt cx="2114550" cy="1000125"/>
              </a:xfrm>
            </p:grpSpPr>
            <p:sp>
              <p:nvSpPr>
                <p:cNvPr id="73" name="Rectangle 72"/>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4" name="Rectangle 73"/>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24" name="Group 69"/>
              <p:cNvGrpSpPr/>
              <p:nvPr/>
            </p:nvGrpSpPr>
            <p:grpSpPr>
              <a:xfrm flipV="1">
                <a:off x="2857500" y="3514725"/>
                <a:ext cx="2114550" cy="1000125"/>
                <a:chOff x="2847975" y="3514725"/>
                <a:chExt cx="2114550" cy="1000125"/>
              </a:xfrm>
            </p:grpSpPr>
            <p:sp>
              <p:nvSpPr>
                <p:cNvPr id="71" name="Rectangle 70"/>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2" name="Rectangle 71"/>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25" name="Group 74"/>
            <p:cNvGrpSpPr/>
            <p:nvPr/>
          </p:nvGrpSpPr>
          <p:grpSpPr>
            <a:xfrm>
              <a:off x="4295775" y="3857624"/>
              <a:ext cx="1171575" cy="1133475"/>
              <a:chOff x="2857500" y="2514600"/>
              <a:chExt cx="2114550" cy="2000250"/>
            </a:xfrm>
          </p:grpSpPr>
          <p:grpSp>
            <p:nvGrpSpPr>
              <p:cNvPr id="28" name="Group 75"/>
              <p:cNvGrpSpPr/>
              <p:nvPr/>
            </p:nvGrpSpPr>
            <p:grpSpPr>
              <a:xfrm>
                <a:off x="2857500" y="2514600"/>
                <a:ext cx="2114550" cy="1000125"/>
                <a:chOff x="2847975" y="3514725"/>
                <a:chExt cx="2114550" cy="1000125"/>
              </a:xfrm>
            </p:grpSpPr>
            <p:sp>
              <p:nvSpPr>
                <p:cNvPr id="80" name="Rectangle 79"/>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1" name="Rectangle 80"/>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29" name="Group 76"/>
              <p:cNvGrpSpPr/>
              <p:nvPr/>
            </p:nvGrpSpPr>
            <p:grpSpPr>
              <a:xfrm flipV="1">
                <a:off x="2857500" y="3514725"/>
                <a:ext cx="2114550" cy="1000125"/>
                <a:chOff x="2847975" y="3514725"/>
                <a:chExt cx="2114550" cy="1000125"/>
              </a:xfrm>
            </p:grpSpPr>
            <p:sp>
              <p:nvSpPr>
                <p:cNvPr id="78" name="Rectangle 77"/>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79" name="Rectangle 78"/>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32" name="Group 81"/>
            <p:cNvGrpSpPr/>
            <p:nvPr/>
          </p:nvGrpSpPr>
          <p:grpSpPr>
            <a:xfrm>
              <a:off x="781050" y="2771774"/>
              <a:ext cx="1171575" cy="1133475"/>
              <a:chOff x="2857500" y="2514600"/>
              <a:chExt cx="2114550" cy="2000250"/>
            </a:xfrm>
          </p:grpSpPr>
          <p:grpSp>
            <p:nvGrpSpPr>
              <p:cNvPr id="33" name="Group 82"/>
              <p:cNvGrpSpPr/>
              <p:nvPr/>
            </p:nvGrpSpPr>
            <p:grpSpPr>
              <a:xfrm>
                <a:off x="2857500" y="2514600"/>
                <a:ext cx="2114550" cy="1000125"/>
                <a:chOff x="2847975" y="3514725"/>
                <a:chExt cx="2114550" cy="1000125"/>
              </a:xfrm>
            </p:grpSpPr>
            <p:sp>
              <p:nvSpPr>
                <p:cNvPr id="87" name="Rectangle 86"/>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8" name="Rectangle 87"/>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34" name="Group 83"/>
              <p:cNvGrpSpPr/>
              <p:nvPr/>
            </p:nvGrpSpPr>
            <p:grpSpPr>
              <a:xfrm flipV="1">
                <a:off x="2857500" y="3514725"/>
                <a:ext cx="2114550" cy="1000125"/>
                <a:chOff x="2847975" y="3514725"/>
                <a:chExt cx="2114550" cy="1000125"/>
              </a:xfrm>
            </p:grpSpPr>
            <p:sp>
              <p:nvSpPr>
                <p:cNvPr id="85" name="Rectangle 84"/>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86" name="Rectangle 85"/>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35" name="Group 88"/>
            <p:cNvGrpSpPr/>
            <p:nvPr/>
          </p:nvGrpSpPr>
          <p:grpSpPr>
            <a:xfrm>
              <a:off x="1952625" y="2771774"/>
              <a:ext cx="1171575" cy="1133475"/>
              <a:chOff x="2857500" y="2514600"/>
              <a:chExt cx="2114550" cy="2000250"/>
            </a:xfrm>
          </p:grpSpPr>
          <p:grpSp>
            <p:nvGrpSpPr>
              <p:cNvPr id="40" name="Group 89"/>
              <p:cNvGrpSpPr/>
              <p:nvPr/>
            </p:nvGrpSpPr>
            <p:grpSpPr>
              <a:xfrm>
                <a:off x="2857500" y="2514600"/>
                <a:ext cx="2114550" cy="1000125"/>
                <a:chOff x="2847975" y="3514725"/>
                <a:chExt cx="2114550" cy="1000125"/>
              </a:xfrm>
            </p:grpSpPr>
            <p:sp>
              <p:nvSpPr>
                <p:cNvPr id="94" name="Rectangle 93"/>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5" name="Rectangle 94"/>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41" name="Group 90"/>
              <p:cNvGrpSpPr/>
              <p:nvPr/>
            </p:nvGrpSpPr>
            <p:grpSpPr>
              <a:xfrm flipV="1">
                <a:off x="2857500" y="3514725"/>
                <a:ext cx="2114550" cy="1000125"/>
                <a:chOff x="2847975" y="3514725"/>
                <a:chExt cx="2114550" cy="1000125"/>
              </a:xfrm>
            </p:grpSpPr>
            <p:sp>
              <p:nvSpPr>
                <p:cNvPr id="92" name="Rectangle 91"/>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93" name="Rectangle 92"/>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42" name="Group 95"/>
            <p:cNvGrpSpPr/>
            <p:nvPr/>
          </p:nvGrpSpPr>
          <p:grpSpPr>
            <a:xfrm>
              <a:off x="3114675" y="2762249"/>
              <a:ext cx="1171575" cy="1133475"/>
              <a:chOff x="2857500" y="2514600"/>
              <a:chExt cx="2114550" cy="2000250"/>
            </a:xfrm>
          </p:grpSpPr>
          <p:grpSp>
            <p:nvGrpSpPr>
              <p:cNvPr id="47" name="Group 96"/>
              <p:cNvGrpSpPr/>
              <p:nvPr/>
            </p:nvGrpSpPr>
            <p:grpSpPr>
              <a:xfrm>
                <a:off x="2857500" y="2514600"/>
                <a:ext cx="2114550" cy="1000125"/>
                <a:chOff x="2847975" y="3514725"/>
                <a:chExt cx="2114550" cy="1000125"/>
              </a:xfrm>
            </p:grpSpPr>
            <p:sp>
              <p:nvSpPr>
                <p:cNvPr id="101" name="Rectangle 100"/>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2" name="Rectangle 101"/>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48" name="Group 97"/>
              <p:cNvGrpSpPr/>
              <p:nvPr/>
            </p:nvGrpSpPr>
            <p:grpSpPr>
              <a:xfrm flipV="1">
                <a:off x="2857500" y="3514725"/>
                <a:ext cx="2114550" cy="1000125"/>
                <a:chOff x="2847975" y="3514725"/>
                <a:chExt cx="2114550" cy="1000125"/>
              </a:xfrm>
            </p:grpSpPr>
            <p:sp>
              <p:nvSpPr>
                <p:cNvPr id="99" name="Rectangle 98"/>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0" name="Rectangle 99"/>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49" name="Group 102"/>
            <p:cNvGrpSpPr/>
            <p:nvPr/>
          </p:nvGrpSpPr>
          <p:grpSpPr>
            <a:xfrm>
              <a:off x="4286250" y="2762249"/>
              <a:ext cx="1171575" cy="1133475"/>
              <a:chOff x="2857500" y="2514600"/>
              <a:chExt cx="2114550" cy="2000250"/>
            </a:xfrm>
          </p:grpSpPr>
          <p:grpSp>
            <p:nvGrpSpPr>
              <p:cNvPr id="54" name="Group 103"/>
              <p:cNvGrpSpPr/>
              <p:nvPr/>
            </p:nvGrpSpPr>
            <p:grpSpPr>
              <a:xfrm>
                <a:off x="2857500" y="2514600"/>
                <a:ext cx="2114550" cy="1000125"/>
                <a:chOff x="2847975" y="3514725"/>
                <a:chExt cx="2114550" cy="1000125"/>
              </a:xfrm>
            </p:grpSpPr>
            <p:sp>
              <p:nvSpPr>
                <p:cNvPr id="108" name="Rectangle 107"/>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9" name="Rectangle 108"/>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55" name="Group 104"/>
              <p:cNvGrpSpPr/>
              <p:nvPr/>
            </p:nvGrpSpPr>
            <p:grpSpPr>
              <a:xfrm flipV="1">
                <a:off x="2857500" y="3514725"/>
                <a:ext cx="2114550" cy="1000125"/>
                <a:chOff x="2847975" y="3514725"/>
                <a:chExt cx="2114550" cy="1000125"/>
              </a:xfrm>
            </p:grpSpPr>
            <p:sp>
              <p:nvSpPr>
                <p:cNvPr id="106" name="Rectangle 105"/>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07" name="Rectangle 106"/>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56" name="Group 109"/>
            <p:cNvGrpSpPr/>
            <p:nvPr/>
          </p:nvGrpSpPr>
          <p:grpSpPr>
            <a:xfrm>
              <a:off x="771525" y="1647824"/>
              <a:ext cx="1171575" cy="1133475"/>
              <a:chOff x="2857500" y="2514600"/>
              <a:chExt cx="2114550" cy="2000250"/>
            </a:xfrm>
          </p:grpSpPr>
          <p:grpSp>
            <p:nvGrpSpPr>
              <p:cNvPr id="61" name="Group 110"/>
              <p:cNvGrpSpPr/>
              <p:nvPr/>
            </p:nvGrpSpPr>
            <p:grpSpPr>
              <a:xfrm>
                <a:off x="2857500" y="2514600"/>
                <a:ext cx="2114550" cy="1000125"/>
                <a:chOff x="2847975" y="3514725"/>
                <a:chExt cx="2114550" cy="1000125"/>
              </a:xfrm>
            </p:grpSpPr>
            <p:sp>
              <p:nvSpPr>
                <p:cNvPr id="115" name="Rectangle 114"/>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6" name="Rectangle 115"/>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62" name="Group 111"/>
              <p:cNvGrpSpPr/>
              <p:nvPr/>
            </p:nvGrpSpPr>
            <p:grpSpPr>
              <a:xfrm flipV="1">
                <a:off x="2857500" y="3514725"/>
                <a:ext cx="2114550" cy="1000125"/>
                <a:chOff x="2847975" y="3514725"/>
                <a:chExt cx="2114550" cy="1000125"/>
              </a:xfrm>
            </p:grpSpPr>
            <p:sp>
              <p:nvSpPr>
                <p:cNvPr id="113" name="Rectangle 112"/>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14" name="Rectangle 113"/>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63" name="Group 116"/>
            <p:cNvGrpSpPr/>
            <p:nvPr/>
          </p:nvGrpSpPr>
          <p:grpSpPr>
            <a:xfrm>
              <a:off x="1943100" y="1647824"/>
              <a:ext cx="1171575" cy="1133475"/>
              <a:chOff x="2857500" y="2514600"/>
              <a:chExt cx="2114550" cy="2000250"/>
            </a:xfrm>
          </p:grpSpPr>
          <p:grpSp>
            <p:nvGrpSpPr>
              <p:cNvPr id="68" name="Group 117"/>
              <p:cNvGrpSpPr/>
              <p:nvPr/>
            </p:nvGrpSpPr>
            <p:grpSpPr>
              <a:xfrm>
                <a:off x="2857500" y="2514600"/>
                <a:ext cx="2114550" cy="1000125"/>
                <a:chOff x="2847975" y="3514725"/>
                <a:chExt cx="2114550" cy="1000125"/>
              </a:xfrm>
            </p:grpSpPr>
            <p:sp>
              <p:nvSpPr>
                <p:cNvPr id="122" name="Rectangle 121"/>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3" name="Rectangle 122"/>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69" name="Group 118"/>
              <p:cNvGrpSpPr/>
              <p:nvPr/>
            </p:nvGrpSpPr>
            <p:grpSpPr>
              <a:xfrm flipV="1">
                <a:off x="2857500" y="3514725"/>
                <a:ext cx="2114550" cy="1000125"/>
                <a:chOff x="2847975" y="3514725"/>
                <a:chExt cx="2114550" cy="1000125"/>
              </a:xfrm>
            </p:grpSpPr>
            <p:sp>
              <p:nvSpPr>
                <p:cNvPr id="120" name="Rectangle 119"/>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1" name="Rectangle 120"/>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70" name="Group 123"/>
            <p:cNvGrpSpPr/>
            <p:nvPr/>
          </p:nvGrpSpPr>
          <p:grpSpPr>
            <a:xfrm>
              <a:off x="3105150" y="1638299"/>
              <a:ext cx="1171575" cy="1133475"/>
              <a:chOff x="2857500" y="2514600"/>
              <a:chExt cx="2114550" cy="2000250"/>
            </a:xfrm>
          </p:grpSpPr>
          <p:grpSp>
            <p:nvGrpSpPr>
              <p:cNvPr id="75" name="Group 124"/>
              <p:cNvGrpSpPr/>
              <p:nvPr/>
            </p:nvGrpSpPr>
            <p:grpSpPr>
              <a:xfrm>
                <a:off x="2857500" y="2514600"/>
                <a:ext cx="2114550" cy="1000125"/>
                <a:chOff x="2847975" y="3514725"/>
                <a:chExt cx="2114550" cy="1000125"/>
              </a:xfrm>
            </p:grpSpPr>
            <p:sp>
              <p:nvSpPr>
                <p:cNvPr id="129" name="Rectangle 128"/>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0" name="Rectangle 129"/>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76" name="Group 125"/>
              <p:cNvGrpSpPr/>
              <p:nvPr/>
            </p:nvGrpSpPr>
            <p:grpSpPr>
              <a:xfrm flipV="1">
                <a:off x="2857500" y="3514725"/>
                <a:ext cx="2114550" cy="1000125"/>
                <a:chOff x="2847975" y="3514725"/>
                <a:chExt cx="2114550" cy="1000125"/>
              </a:xfrm>
            </p:grpSpPr>
            <p:sp>
              <p:nvSpPr>
                <p:cNvPr id="127" name="Rectangle 126"/>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28" name="Rectangle 127"/>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77" name="Group 130"/>
            <p:cNvGrpSpPr/>
            <p:nvPr/>
          </p:nvGrpSpPr>
          <p:grpSpPr>
            <a:xfrm>
              <a:off x="4276725" y="1638299"/>
              <a:ext cx="1171575" cy="1133475"/>
              <a:chOff x="2857500" y="2514600"/>
              <a:chExt cx="2114550" cy="2000250"/>
            </a:xfrm>
          </p:grpSpPr>
          <p:grpSp>
            <p:nvGrpSpPr>
              <p:cNvPr id="82" name="Group 131"/>
              <p:cNvGrpSpPr/>
              <p:nvPr/>
            </p:nvGrpSpPr>
            <p:grpSpPr>
              <a:xfrm>
                <a:off x="2857500" y="2514600"/>
                <a:ext cx="2114550" cy="1000125"/>
                <a:chOff x="2847975" y="3514725"/>
                <a:chExt cx="2114550" cy="1000125"/>
              </a:xfrm>
            </p:grpSpPr>
            <p:sp>
              <p:nvSpPr>
                <p:cNvPr id="136" name="Rectangle 135"/>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7" name="Rectangle 136"/>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83" name="Group 132"/>
              <p:cNvGrpSpPr/>
              <p:nvPr/>
            </p:nvGrpSpPr>
            <p:grpSpPr>
              <a:xfrm flipV="1">
                <a:off x="2857500" y="3514725"/>
                <a:ext cx="2114550" cy="1000125"/>
                <a:chOff x="2847975" y="3514725"/>
                <a:chExt cx="2114550" cy="1000125"/>
              </a:xfrm>
            </p:grpSpPr>
            <p:sp>
              <p:nvSpPr>
                <p:cNvPr id="134" name="Rectangle 133"/>
                <p:cNvSpPr/>
                <p:nvPr/>
              </p:nvSpPr>
              <p:spPr bwMode="auto">
                <a:xfrm flipH="1">
                  <a:off x="3905250"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35" name="Rectangle 134"/>
                <p:cNvSpPr/>
                <p:nvPr/>
              </p:nvSpPr>
              <p:spPr bwMode="auto">
                <a:xfrm>
                  <a:off x="2847975" y="3514725"/>
                  <a:ext cx="1057275" cy="1000125"/>
                </a:xfrm>
                <a:prstGeom prst="rect">
                  <a:avLst/>
                </a:prstGeom>
                <a:gradFill flip="none" rotWithShape="1">
                  <a:gsLst>
                    <a:gs pos="67000">
                      <a:srgbClr val="6F6F6F"/>
                    </a:gs>
                    <a:gs pos="0">
                      <a:schemeClr val="bg1"/>
                    </a:gs>
                    <a:gs pos="100000">
                      <a:schemeClr val="tx1"/>
                    </a:gs>
                  </a:gsLst>
                  <a:lin ang="27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grpSp>
        <p:nvGrpSpPr>
          <p:cNvPr id="84" name="Group 137"/>
          <p:cNvGrpSpPr/>
          <p:nvPr/>
        </p:nvGrpSpPr>
        <p:grpSpPr>
          <a:xfrm rot="16200000">
            <a:off x="3056111" y="3041227"/>
            <a:ext cx="3508031" cy="658416"/>
            <a:chOff x="1790699" y="3657600"/>
            <a:chExt cx="11827852" cy="1504950"/>
          </a:xfrm>
        </p:grpSpPr>
        <p:grpSp>
          <p:nvGrpSpPr>
            <p:cNvPr id="89" name="Group 138"/>
            <p:cNvGrpSpPr/>
            <p:nvPr/>
          </p:nvGrpSpPr>
          <p:grpSpPr>
            <a:xfrm>
              <a:off x="1790699" y="3667125"/>
              <a:ext cx="8856054" cy="1495425"/>
              <a:chOff x="1790699" y="3667125"/>
              <a:chExt cx="8856054" cy="1495425"/>
            </a:xfrm>
          </p:grpSpPr>
          <p:sp>
            <p:nvSpPr>
              <p:cNvPr id="147" name="Rectangle 146"/>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8" name="Rectangle 147"/>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0" name="Rectangle 149"/>
              <p:cNvSpPr/>
              <p:nvPr/>
            </p:nvSpPr>
            <p:spPr bwMode="auto">
              <a:xfrm rot="16200000">
                <a:off x="7736863"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1" name="Rectangle 150"/>
              <p:cNvSpPr/>
              <p:nvPr/>
            </p:nvSpPr>
            <p:spPr bwMode="auto">
              <a:xfrm rot="5400000" flipH="1">
                <a:off x="9189428"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90" name="Group 139"/>
            <p:cNvGrpSpPr/>
            <p:nvPr/>
          </p:nvGrpSpPr>
          <p:grpSpPr>
            <a:xfrm>
              <a:off x="4762499" y="3657600"/>
              <a:ext cx="8856052" cy="1495425"/>
              <a:chOff x="1790699" y="3667125"/>
              <a:chExt cx="8856052" cy="1495425"/>
            </a:xfrm>
          </p:grpSpPr>
          <p:sp>
            <p:nvSpPr>
              <p:cNvPr id="141" name="Rectangle 140"/>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2" name="Rectangle 141"/>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3" name="Rectangle 142"/>
              <p:cNvSpPr/>
              <p:nvPr/>
            </p:nvSpPr>
            <p:spPr bwMode="auto">
              <a:xfrm rot="16200000">
                <a:off x="7736865"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44" name="Rectangle 143"/>
              <p:cNvSpPr/>
              <p:nvPr/>
            </p:nvSpPr>
            <p:spPr bwMode="auto">
              <a:xfrm rot="5400000" flipH="1">
                <a:off x="9189426"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91" name="Group 152"/>
          <p:cNvGrpSpPr/>
          <p:nvPr/>
        </p:nvGrpSpPr>
        <p:grpSpPr>
          <a:xfrm>
            <a:off x="779637" y="5298652"/>
            <a:ext cx="3508031" cy="658416"/>
            <a:chOff x="1790699" y="3657600"/>
            <a:chExt cx="11827852" cy="1504950"/>
          </a:xfrm>
        </p:grpSpPr>
        <p:grpSp>
          <p:nvGrpSpPr>
            <p:cNvPr id="96" name="Group 153"/>
            <p:cNvGrpSpPr/>
            <p:nvPr/>
          </p:nvGrpSpPr>
          <p:grpSpPr>
            <a:xfrm>
              <a:off x="1790699" y="3667125"/>
              <a:ext cx="8856054" cy="1495425"/>
              <a:chOff x="1790699" y="3667125"/>
              <a:chExt cx="8856054" cy="1495425"/>
            </a:xfrm>
          </p:grpSpPr>
          <p:sp>
            <p:nvSpPr>
              <p:cNvPr id="160" name="Rectangle 159"/>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1" name="Rectangle 160"/>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2" name="Rectangle 161"/>
              <p:cNvSpPr/>
              <p:nvPr/>
            </p:nvSpPr>
            <p:spPr bwMode="auto">
              <a:xfrm rot="16200000">
                <a:off x="7736863"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63" name="Rectangle 162"/>
              <p:cNvSpPr/>
              <p:nvPr/>
            </p:nvSpPr>
            <p:spPr bwMode="auto">
              <a:xfrm rot="5400000" flipH="1">
                <a:off x="9189428"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97" name="Group 154"/>
            <p:cNvGrpSpPr/>
            <p:nvPr/>
          </p:nvGrpSpPr>
          <p:grpSpPr>
            <a:xfrm>
              <a:off x="4762499" y="3657600"/>
              <a:ext cx="8856052" cy="1495425"/>
              <a:chOff x="1790699" y="3667125"/>
              <a:chExt cx="8856052" cy="1495425"/>
            </a:xfrm>
          </p:grpSpPr>
          <p:sp>
            <p:nvSpPr>
              <p:cNvPr id="156" name="Rectangle 155"/>
              <p:cNvSpPr/>
              <p:nvPr/>
            </p:nvSpPr>
            <p:spPr bwMode="auto">
              <a:xfrm rot="16200000">
                <a:off x="1785937" y="3681412"/>
                <a:ext cx="1485900" cy="1476375"/>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7" name="Rectangle 156"/>
              <p:cNvSpPr/>
              <p:nvPr/>
            </p:nvSpPr>
            <p:spPr bwMode="auto">
              <a:xfrm rot="5400000" flipH="1">
                <a:off x="3238500" y="3705225"/>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8" name="Rectangle 157"/>
              <p:cNvSpPr/>
              <p:nvPr/>
            </p:nvSpPr>
            <p:spPr bwMode="auto">
              <a:xfrm rot="16200000">
                <a:off x="7736865" y="3671887"/>
                <a:ext cx="1485900" cy="1476376"/>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59" name="Rectangle 158"/>
              <p:cNvSpPr/>
              <p:nvPr/>
            </p:nvSpPr>
            <p:spPr bwMode="auto">
              <a:xfrm rot="5400000" flipH="1">
                <a:off x="9189426" y="3695700"/>
                <a:ext cx="1485900" cy="1428750"/>
              </a:xfrm>
              <a:prstGeom prst="rect">
                <a:avLst/>
              </a:prstGeom>
              <a:gradFill>
                <a:gsLst>
                  <a:gs pos="0">
                    <a:schemeClr val="bg1"/>
                  </a:gs>
                  <a:gs pos="100000">
                    <a:schemeClr val="tx1"/>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98" name="Group 163"/>
          <p:cNvGrpSpPr/>
          <p:nvPr/>
        </p:nvGrpSpPr>
        <p:grpSpPr>
          <a:xfrm>
            <a:off x="6610350" y="4714875"/>
            <a:ext cx="1809750" cy="1533526"/>
            <a:chOff x="771525" y="1638299"/>
            <a:chExt cx="4705350" cy="4486275"/>
          </a:xfrm>
          <a:solidFill>
            <a:schemeClr val="bg1">
              <a:lumMod val="85000"/>
            </a:schemeClr>
          </a:solidFill>
        </p:grpSpPr>
        <p:sp>
          <p:nvSpPr>
            <p:cNvPr id="165" name="Rectangle 164"/>
            <p:cNvSpPr/>
            <p:nvPr/>
          </p:nvSpPr>
          <p:spPr bwMode="auto">
            <a:xfrm>
              <a:off x="2524125" y="2838450"/>
              <a:ext cx="1200150" cy="1104900"/>
            </a:xfrm>
            <a:prstGeom prst="rect">
              <a:avLst/>
            </a:prstGeom>
            <a:grp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nvGrpSpPr>
            <p:cNvPr id="103" name="Group 165"/>
            <p:cNvGrpSpPr/>
            <p:nvPr/>
          </p:nvGrpSpPr>
          <p:grpSpPr>
            <a:xfrm>
              <a:off x="800100" y="4991099"/>
              <a:ext cx="1171575" cy="1133475"/>
              <a:chOff x="2857500" y="2514600"/>
              <a:chExt cx="2114550" cy="2000250"/>
            </a:xfrm>
            <a:grpFill/>
          </p:grpSpPr>
          <p:grpSp>
            <p:nvGrpSpPr>
              <p:cNvPr id="104" name="Group 271"/>
              <p:cNvGrpSpPr/>
              <p:nvPr/>
            </p:nvGrpSpPr>
            <p:grpSpPr>
              <a:xfrm>
                <a:off x="2857500" y="2514600"/>
                <a:ext cx="2114550" cy="1000125"/>
                <a:chOff x="2847975" y="3514725"/>
                <a:chExt cx="2114550" cy="1000125"/>
              </a:xfrm>
              <a:grpFill/>
            </p:grpSpPr>
            <p:sp>
              <p:nvSpPr>
                <p:cNvPr id="276" name="Rectangle 275"/>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7" name="Rectangle 276"/>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05" name="Group 272"/>
              <p:cNvGrpSpPr/>
              <p:nvPr/>
            </p:nvGrpSpPr>
            <p:grpSpPr>
              <a:xfrm flipV="1">
                <a:off x="2857500" y="3514725"/>
                <a:ext cx="2114550" cy="1000125"/>
                <a:chOff x="2847975" y="3514725"/>
                <a:chExt cx="2114550" cy="1000125"/>
              </a:xfrm>
              <a:grpFill/>
            </p:grpSpPr>
            <p:sp>
              <p:nvSpPr>
                <p:cNvPr id="274" name="Rectangle 273"/>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5" name="Rectangle 274"/>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10" name="Group 166"/>
            <p:cNvGrpSpPr/>
            <p:nvPr/>
          </p:nvGrpSpPr>
          <p:grpSpPr>
            <a:xfrm>
              <a:off x="1971675" y="4991099"/>
              <a:ext cx="1171575" cy="1133475"/>
              <a:chOff x="2857500" y="2514600"/>
              <a:chExt cx="2114550" cy="2000250"/>
            </a:xfrm>
            <a:grpFill/>
          </p:grpSpPr>
          <p:grpSp>
            <p:nvGrpSpPr>
              <p:cNvPr id="111" name="Group 265"/>
              <p:cNvGrpSpPr/>
              <p:nvPr/>
            </p:nvGrpSpPr>
            <p:grpSpPr>
              <a:xfrm>
                <a:off x="2857500" y="2514600"/>
                <a:ext cx="2114550" cy="1000125"/>
                <a:chOff x="2847975" y="3514725"/>
                <a:chExt cx="2114550" cy="1000125"/>
              </a:xfrm>
              <a:grpFill/>
            </p:grpSpPr>
            <p:sp>
              <p:nvSpPr>
                <p:cNvPr id="270" name="Rectangle 269"/>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71" name="Rectangle 270"/>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12" name="Group 266"/>
              <p:cNvGrpSpPr/>
              <p:nvPr/>
            </p:nvGrpSpPr>
            <p:grpSpPr>
              <a:xfrm flipV="1">
                <a:off x="2857500" y="3514725"/>
                <a:ext cx="2114550" cy="1000125"/>
                <a:chOff x="2847975" y="3514725"/>
                <a:chExt cx="2114550" cy="1000125"/>
              </a:xfrm>
              <a:grpFill/>
            </p:grpSpPr>
            <p:sp>
              <p:nvSpPr>
                <p:cNvPr id="268" name="Rectangle 267"/>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9" name="Rectangle 268"/>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17" name="Group 167"/>
            <p:cNvGrpSpPr/>
            <p:nvPr/>
          </p:nvGrpSpPr>
          <p:grpSpPr>
            <a:xfrm>
              <a:off x="3133725" y="4981574"/>
              <a:ext cx="1171575" cy="1133475"/>
              <a:chOff x="2857500" y="2514600"/>
              <a:chExt cx="2114550" cy="2000250"/>
            </a:xfrm>
            <a:grpFill/>
          </p:grpSpPr>
          <p:grpSp>
            <p:nvGrpSpPr>
              <p:cNvPr id="118" name="Group 259"/>
              <p:cNvGrpSpPr/>
              <p:nvPr/>
            </p:nvGrpSpPr>
            <p:grpSpPr>
              <a:xfrm>
                <a:off x="2857500" y="2514600"/>
                <a:ext cx="2114550" cy="1000125"/>
                <a:chOff x="2847975" y="3514725"/>
                <a:chExt cx="2114550" cy="1000125"/>
              </a:xfrm>
              <a:grpFill/>
            </p:grpSpPr>
            <p:sp>
              <p:nvSpPr>
                <p:cNvPr id="264" name="Rectangle 263"/>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5" name="Rectangle 264"/>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19" name="Group 260"/>
              <p:cNvGrpSpPr/>
              <p:nvPr/>
            </p:nvGrpSpPr>
            <p:grpSpPr>
              <a:xfrm flipV="1">
                <a:off x="2857500" y="3514725"/>
                <a:ext cx="2114550" cy="1000125"/>
                <a:chOff x="2847975" y="3514725"/>
                <a:chExt cx="2114550" cy="1000125"/>
              </a:xfrm>
              <a:grpFill/>
            </p:grpSpPr>
            <p:sp>
              <p:nvSpPr>
                <p:cNvPr id="262" name="Rectangle 261"/>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63" name="Rectangle 262"/>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24" name="Group 168"/>
            <p:cNvGrpSpPr/>
            <p:nvPr/>
          </p:nvGrpSpPr>
          <p:grpSpPr>
            <a:xfrm>
              <a:off x="4305300" y="4981574"/>
              <a:ext cx="1171575" cy="1133475"/>
              <a:chOff x="2857500" y="2514600"/>
              <a:chExt cx="2114550" cy="2000250"/>
            </a:xfrm>
            <a:grpFill/>
          </p:grpSpPr>
          <p:grpSp>
            <p:nvGrpSpPr>
              <p:cNvPr id="125" name="Group 253"/>
              <p:cNvGrpSpPr/>
              <p:nvPr/>
            </p:nvGrpSpPr>
            <p:grpSpPr>
              <a:xfrm>
                <a:off x="2857500" y="2514600"/>
                <a:ext cx="2114550" cy="1000125"/>
                <a:chOff x="2847975" y="3514725"/>
                <a:chExt cx="2114550" cy="1000125"/>
              </a:xfrm>
              <a:grpFill/>
            </p:grpSpPr>
            <p:sp>
              <p:nvSpPr>
                <p:cNvPr id="258" name="Rectangle 257"/>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9" name="Rectangle 258"/>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26" name="Group 254"/>
              <p:cNvGrpSpPr/>
              <p:nvPr/>
            </p:nvGrpSpPr>
            <p:grpSpPr>
              <a:xfrm flipV="1">
                <a:off x="2857500" y="3514725"/>
                <a:ext cx="2114550" cy="1000125"/>
                <a:chOff x="2847975" y="3514725"/>
                <a:chExt cx="2114550" cy="1000125"/>
              </a:xfrm>
              <a:grpFill/>
            </p:grpSpPr>
            <p:sp>
              <p:nvSpPr>
                <p:cNvPr id="256" name="Rectangle 255"/>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7" name="Rectangle 256"/>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31" name="Group 169"/>
            <p:cNvGrpSpPr/>
            <p:nvPr/>
          </p:nvGrpSpPr>
          <p:grpSpPr>
            <a:xfrm>
              <a:off x="790575" y="3867149"/>
              <a:ext cx="1171575" cy="1133475"/>
              <a:chOff x="2857500" y="2514600"/>
              <a:chExt cx="2114550" cy="2000250"/>
            </a:xfrm>
            <a:grpFill/>
          </p:grpSpPr>
          <p:grpSp>
            <p:nvGrpSpPr>
              <p:cNvPr id="132" name="Group 247"/>
              <p:cNvGrpSpPr/>
              <p:nvPr/>
            </p:nvGrpSpPr>
            <p:grpSpPr>
              <a:xfrm>
                <a:off x="2857500" y="2514600"/>
                <a:ext cx="2114550" cy="1000125"/>
                <a:chOff x="2847975" y="3514725"/>
                <a:chExt cx="2114550" cy="1000125"/>
              </a:xfrm>
              <a:grpFill/>
            </p:grpSpPr>
            <p:sp>
              <p:nvSpPr>
                <p:cNvPr id="252" name="Rectangle 251"/>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3" name="Rectangle 252"/>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33" name="Group 248"/>
              <p:cNvGrpSpPr/>
              <p:nvPr/>
            </p:nvGrpSpPr>
            <p:grpSpPr>
              <a:xfrm flipV="1">
                <a:off x="2857500" y="3514725"/>
                <a:ext cx="2114550" cy="1000125"/>
                <a:chOff x="2847975" y="3514725"/>
                <a:chExt cx="2114550" cy="1000125"/>
              </a:xfrm>
              <a:grpFill/>
            </p:grpSpPr>
            <p:sp>
              <p:nvSpPr>
                <p:cNvPr id="250" name="Rectangle 249"/>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51" name="Rectangle 250"/>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38" name="Group 170"/>
            <p:cNvGrpSpPr/>
            <p:nvPr/>
          </p:nvGrpSpPr>
          <p:grpSpPr>
            <a:xfrm>
              <a:off x="1962150" y="3867149"/>
              <a:ext cx="1171575" cy="1133475"/>
              <a:chOff x="2857500" y="2514600"/>
              <a:chExt cx="2114550" cy="2000250"/>
            </a:xfrm>
            <a:grpFill/>
          </p:grpSpPr>
          <p:grpSp>
            <p:nvGrpSpPr>
              <p:cNvPr id="139" name="Group 241"/>
              <p:cNvGrpSpPr/>
              <p:nvPr/>
            </p:nvGrpSpPr>
            <p:grpSpPr>
              <a:xfrm>
                <a:off x="2857500" y="2514600"/>
                <a:ext cx="2114550" cy="1000125"/>
                <a:chOff x="2847975" y="3514725"/>
                <a:chExt cx="2114550" cy="1000125"/>
              </a:xfrm>
              <a:grpFill/>
            </p:grpSpPr>
            <p:sp>
              <p:nvSpPr>
                <p:cNvPr id="246" name="Rectangle 245"/>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7" name="Rectangle 246"/>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40" name="Group 242"/>
              <p:cNvGrpSpPr/>
              <p:nvPr/>
            </p:nvGrpSpPr>
            <p:grpSpPr>
              <a:xfrm flipV="1">
                <a:off x="2857500" y="3514725"/>
                <a:ext cx="2114550" cy="1000125"/>
                <a:chOff x="2847975" y="3514725"/>
                <a:chExt cx="2114550" cy="1000125"/>
              </a:xfrm>
              <a:grpFill/>
            </p:grpSpPr>
            <p:sp>
              <p:nvSpPr>
                <p:cNvPr id="244" name="Rectangle 243"/>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5" name="Rectangle 244"/>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45" name="Group 171"/>
            <p:cNvGrpSpPr/>
            <p:nvPr/>
          </p:nvGrpSpPr>
          <p:grpSpPr>
            <a:xfrm>
              <a:off x="3124200" y="3857624"/>
              <a:ext cx="1171575" cy="1133475"/>
              <a:chOff x="2857500" y="2514600"/>
              <a:chExt cx="2114550" cy="2000250"/>
            </a:xfrm>
            <a:grpFill/>
          </p:grpSpPr>
          <p:grpSp>
            <p:nvGrpSpPr>
              <p:cNvPr id="146" name="Group 235"/>
              <p:cNvGrpSpPr/>
              <p:nvPr/>
            </p:nvGrpSpPr>
            <p:grpSpPr>
              <a:xfrm>
                <a:off x="2857500" y="2514600"/>
                <a:ext cx="2114550" cy="1000125"/>
                <a:chOff x="2847975" y="3514725"/>
                <a:chExt cx="2114550" cy="1000125"/>
              </a:xfrm>
              <a:grpFill/>
            </p:grpSpPr>
            <p:sp>
              <p:nvSpPr>
                <p:cNvPr id="240" name="Rectangle 239"/>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41" name="Rectangle 240"/>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49" name="Group 236"/>
              <p:cNvGrpSpPr/>
              <p:nvPr/>
            </p:nvGrpSpPr>
            <p:grpSpPr>
              <a:xfrm flipV="1">
                <a:off x="2857500" y="3514725"/>
                <a:ext cx="2114550" cy="1000125"/>
                <a:chOff x="2847975" y="3514725"/>
                <a:chExt cx="2114550" cy="1000125"/>
              </a:xfrm>
              <a:grpFill/>
            </p:grpSpPr>
            <p:sp>
              <p:nvSpPr>
                <p:cNvPr id="238" name="Rectangle 237"/>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9" name="Rectangle 238"/>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52" name="Group 172"/>
            <p:cNvGrpSpPr/>
            <p:nvPr/>
          </p:nvGrpSpPr>
          <p:grpSpPr>
            <a:xfrm>
              <a:off x="4295775" y="3857624"/>
              <a:ext cx="1171575" cy="1133475"/>
              <a:chOff x="2857500" y="2514600"/>
              <a:chExt cx="2114550" cy="2000250"/>
            </a:xfrm>
            <a:grpFill/>
          </p:grpSpPr>
          <p:grpSp>
            <p:nvGrpSpPr>
              <p:cNvPr id="153" name="Group 229"/>
              <p:cNvGrpSpPr/>
              <p:nvPr/>
            </p:nvGrpSpPr>
            <p:grpSpPr>
              <a:xfrm>
                <a:off x="2857500" y="2514600"/>
                <a:ext cx="2114550" cy="1000125"/>
                <a:chOff x="2847975" y="3514725"/>
                <a:chExt cx="2114550" cy="1000125"/>
              </a:xfrm>
              <a:grpFill/>
            </p:grpSpPr>
            <p:sp>
              <p:nvSpPr>
                <p:cNvPr id="234" name="Rectangle 233"/>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5" name="Rectangle 234"/>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54" name="Group 230"/>
              <p:cNvGrpSpPr/>
              <p:nvPr/>
            </p:nvGrpSpPr>
            <p:grpSpPr>
              <a:xfrm flipV="1">
                <a:off x="2857500" y="3514725"/>
                <a:ext cx="2114550" cy="1000125"/>
                <a:chOff x="2847975" y="3514725"/>
                <a:chExt cx="2114550" cy="1000125"/>
              </a:xfrm>
              <a:grpFill/>
            </p:grpSpPr>
            <p:sp>
              <p:nvSpPr>
                <p:cNvPr id="232" name="Rectangle 231"/>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33" name="Rectangle 232"/>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55" name="Group 173"/>
            <p:cNvGrpSpPr/>
            <p:nvPr/>
          </p:nvGrpSpPr>
          <p:grpSpPr>
            <a:xfrm>
              <a:off x="781050" y="2771774"/>
              <a:ext cx="1171575" cy="1133475"/>
              <a:chOff x="2857500" y="2514600"/>
              <a:chExt cx="2114550" cy="2000250"/>
            </a:xfrm>
            <a:grpFill/>
          </p:grpSpPr>
          <p:grpSp>
            <p:nvGrpSpPr>
              <p:cNvPr id="164" name="Group 223"/>
              <p:cNvGrpSpPr/>
              <p:nvPr/>
            </p:nvGrpSpPr>
            <p:grpSpPr>
              <a:xfrm>
                <a:off x="2857500" y="2514600"/>
                <a:ext cx="2114550" cy="1000125"/>
                <a:chOff x="2847975" y="3514725"/>
                <a:chExt cx="2114550" cy="1000125"/>
              </a:xfrm>
              <a:grpFill/>
            </p:grpSpPr>
            <p:sp>
              <p:nvSpPr>
                <p:cNvPr id="228" name="Rectangle 227"/>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9" name="Rectangle 228"/>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66" name="Group 224"/>
              <p:cNvGrpSpPr/>
              <p:nvPr/>
            </p:nvGrpSpPr>
            <p:grpSpPr>
              <a:xfrm flipV="1">
                <a:off x="2857500" y="3514725"/>
                <a:ext cx="2114550" cy="1000125"/>
                <a:chOff x="2847975" y="3514725"/>
                <a:chExt cx="2114550" cy="1000125"/>
              </a:xfrm>
              <a:grpFill/>
            </p:grpSpPr>
            <p:sp>
              <p:nvSpPr>
                <p:cNvPr id="226" name="Rectangle 225"/>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7" name="Rectangle 226"/>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67" name="Group 174"/>
            <p:cNvGrpSpPr/>
            <p:nvPr/>
          </p:nvGrpSpPr>
          <p:grpSpPr>
            <a:xfrm>
              <a:off x="1952625" y="2771774"/>
              <a:ext cx="1171575" cy="1133475"/>
              <a:chOff x="2857500" y="2514600"/>
              <a:chExt cx="2114550" cy="2000250"/>
            </a:xfrm>
            <a:grpFill/>
          </p:grpSpPr>
          <p:grpSp>
            <p:nvGrpSpPr>
              <p:cNvPr id="168" name="Group 217"/>
              <p:cNvGrpSpPr/>
              <p:nvPr/>
            </p:nvGrpSpPr>
            <p:grpSpPr>
              <a:xfrm>
                <a:off x="2857500" y="2514600"/>
                <a:ext cx="2114550" cy="1000125"/>
                <a:chOff x="2847975" y="3514725"/>
                <a:chExt cx="2114550" cy="1000125"/>
              </a:xfrm>
              <a:grpFill/>
            </p:grpSpPr>
            <p:sp>
              <p:nvSpPr>
                <p:cNvPr id="222" name="Rectangle 221"/>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3" name="Rectangle 222"/>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69" name="Group 218"/>
              <p:cNvGrpSpPr/>
              <p:nvPr/>
            </p:nvGrpSpPr>
            <p:grpSpPr>
              <a:xfrm flipV="1">
                <a:off x="2857500" y="3514725"/>
                <a:ext cx="2114550" cy="1000125"/>
                <a:chOff x="2847975" y="3514725"/>
                <a:chExt cx="2114550" cy="1000125"/>
              </a:xfrm>
              <a:grpFill/>
            </p:grpSpPr>
            <p:sp>
              <p:nvSpPr>
                <p:cNvPr id="220" name="Rectangle 219"/>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21" name="Rectangle 220"/>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70" name="Group 175"/>
            <p:cNvGrpSpPr/>
            <p:nvPr/>
          </p:nvGrpSpPr>
          <p:grpSpPr>
            <a:xfrm>
              <a:off x="3114675" y="2762249"/>
              <a:ext cx="1171575" cy="1133475"/>
              <a:chOff x="2857500" y="2514600"/>
              <a:chExt cx="2114550" cy="2000250"/>
            </a:xfrm>
            <a:grpFill/>
          </p:grpSpPr>
          <p:grpSp>
            <p:nvGrpSpPr>
              <p:cNvPr id="171" name="Group 211"/>
              <p:cNvGrpSpPr/>
              <p:nvPr/>
            </p:nvGrpSpPr>
            <p:grpSpPr>
              <a:xfrm>
                <a:off x="2857500" y="2514600"/>
                <a:ext cx="2114550" cy="1000125"/>
                <a:chOff x="2847975" y="3514725"/>
                <a:chExt cx="2114550" cy="1000125"/>
              </a:xfrm>
              <a:grpFill/>
            </p:grpSpPr>
            <p:sp>
              <p:nvSpPr>
                <p:cNvPr id="216" name="Rectangle 215"/>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7" name="Rectangle 216"/>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72" name="Group 212"/>
              <p:cNvGrpSpPr/>
              <p:nvPr/>
            </p:nvGrpSpPr>
            <p:grpSpPr>
              <a:xfrm flipV="1">
                <a:off x="2857500" y="3514725"/>
                <a:ext cx="2114550" cy="1000125"/>
                <a:chOff x="2847975" y="3514725"/>
                <a:chExt cx="2114550" cy="1000125"/>
              </a:xfrm>
              <a:grpFill/>
            </p:grpSpPr>
            <p:sp>
              <p:nvSpPr>
                <p:cNvPr id="214" name="Rectangle 213"/>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5" name="Rectangle 214"/>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73" name="Group 176"/>
            <p:cNvGrpSpPr/>
            <p:nvPr/>
          </p:nvGrpSpPr>
          <p:grpSpPr>
            <a:xfrm>
              <a:off x="4286250" y="2762249"/>
              <a:ext cx="1171575" cy="1133475"/>
              <a:chOff x="2857500" y="2514600"/>
              <a:chExt cx="2114550" cy="2000250"/>
            </a:xfrm>
            <a:grpFill/>
          </p:grpSpPr>
          <p:grpSp>
            <p:nvGrpSpPr>
              <p:cNvPr id="174" name="Group 205"/>
              <p:cNvGrpSpPr/>
              <p:nvPr/>
            </p:nvGrpSpPr>
            <p:grpSpPr>
              <a:xfrm>
                <a:off x="2857500" y="2514600"/>
                <a:ext cx="2114550" cy="1000125"/>
                <a:chOff x="2847975" y="3514725"/>
                <a:chExt cx="2114550" cy="1000125"/>
              </a:xfrm>
              <a:grpFill/>
            </p:grpSpPr>
            <p:sp>
              <p:nvSpPr>
                <p:cNvPr id="210" name="Rectangle 209"/>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11" name="Rectangle 210"/>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75" name="Group 206"/>
              <p:cNvGrpSpPr/>
              <p:nvPr/>
            </p:nvGrpSpPr>
            <p:grpSpPr>
              <a:xfrm flipV="1">
                <a:off x="2857500" y="3514725"/>
                <a:ext cx="2114550" cy="1000125"/>
                <a:chOff x="2847975" y="3514725"/>
                <a:chExt cx="2114550" cy="1000125"/>
              </a:xfrm>
              <a:grpFill/>
            </p:grpSpPr>
            <p:sp>
              <p:nvSpPr>
                <p:cNvPr id="208" name="Rectangle 207"/>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9" name="Rectangle 208"/>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76" name="Group 177"/>
            <p:cNvGrpSpPr/>
            <p:nvPr/>
          </p:nvGrpSpPr>
          <p:grpSpPr>
            <a:xfrm>
              <a:off x="771525" y="1647824"/>
              <a:ext cx="1171575" cy="1133475"/>
              <a:chOff x="2857500" y="2514600"/>
              <a:chExt cx="2114550" cy="2000250"/>
            </a:xfrm>
            <a:grpFill/>
          </p:grpSpPr>
          <p:grpSp>
            <p:nvGrpSpPr>
              <p:cNvPr id="177" name="Group 199"/>
              <p:cNvGrpSpPr/>
              <p:nvPr/>
            </p:nvGrpSpPr>
            <p:grpSpPr>
              <a:xfrm>
                <a:off x="2857500" y="2514600"/>
                <a:ext cx="2114550" cy="1000125"/>
                <a:chOff x="2847975" y="3514725"/>
                <a:chExt cx="2114550" cy="1000125"/>
              </a:xfrm>
              <a:grpFill/>
            </p:grpSpPr>
            <p:sp>
              <p:nvSpPr>
                <p:cNvPr id="204" name="Rectangle 203"/>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5" name="Rectangle 204"/>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78" name="Group 200"/>
              <p:cNvGrpSpPr/>
              <p:nvPr/>
            </p:nvGrpSpPr>
            <p:grpSpPr>
              <a:xfrm flipV="1">
                <a:off x="2857500" y="3514725"/>
                <a:ext cx="2114550" cy="1000125"/>
                <a:chOff x="2847975" y="3514725"/>
                <a:chExt cx="2114550" cy="1000125"/>
              </a:xfrm>
              <a:grpFill/>
            </p:grpSpPr>
            <p:sp>
              <p:nvSpPr>
                <p:cNvPr id="202" name="Rectangle 201"/>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203" name="Rectangle 202"/>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79" name="Group 178"/>
            <p:cNvGrpSpPr/>
            <p:nvPr/>
          </p:nvGrpSpPr>
          <p:grpSpPr>
            <a:xfrm>
              <a:off x="1943100" y="1647824"/>
              <a:ext cx="1171575" cy="1133475"/>
              <a:chOff x="2857500" y="2514600"/>
              <a:chExt cx="2114550" cy="2000250"/>
            </a:xfrm>
            <a:grpFill/>
          </p:grpSpPr>
          <p:grpSp>
            <p:nvGrpSpPr>
              <p:cNvPr id="180" name="Group 193"/>
              <p:cNvGrpSpPr/>
              <p:nvPr/>
            </p:nvGrpSpPr>
            <p:grpSpPr>
              <a:xfrm>
                <a:off x="2857500" y="2514600"/>
                <a:ext cx="2114550" cy="1000125"/>
                <a:chOff x="2847975" y="3514725"/>
                <a:chExt cx="2114550" cy="1000125"/>
              </a:xfrm>
              <a:grpFill/>
            </p:grpSpPr>
            <p:sp>
              <p:nvSpPr>
                <p:cNvPr id="198" name="Rectangle 197"/>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9" name="Rectangle 198"/>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81" name="Group 194"/>
              <p:cNvGrpSpPr/>
              <p:nvPr/>
            </p:nvGrpSpPr>
            <p:grpSpPr>
              <a:xfrm flipV="1">
                <a:off x="2857500" y="3514725"/>
                <a:ext cx="2114550" cy="1000125"/>
                <a:chOff x="2847975" y="3514725"/>
                <a:chExt cx="2114550" cy="1000125"/>
              </a:xfrm>
              <a:grpFill/>
            </p:grpSpPr>
            <p:sp>
              <p:nvSpPr>
                <p:cNvPr id="196" name="Rectangle 195"/>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7" name="Rectangle 196"/>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82" name="Group 179"/>
            <p:cNvGrpSpPr/>
            <p:nvPr/>
          </p:nvGrpSpPr>
          <p:grpSpPr>
            <a:xfrm>
              <a:off x="3105150" y="1638299"/>
              <a:ext cx="1171575" cy="1133475"/>
              <a:chOff x="2857500" y="2514600"/>
              <a:chExt cx="2114550" cy="2000250"/>
            </a:xfrm>
            <a:grpFill/>
          </p:grpSpPr>
          <p:grpSp>
            <p:nvGrpSpPr>
              <p:cNvPr id="183" name="Group 187"/>
              <p:cNvGrpSpPr/>
              <p:nvPr/>
            </p:nvGrpSpPr>
            <p:grpSpPr>
              <a:xfrm>
                <a:off x="2857500" y="2514600"/>
                <a:ext cx="2114550" cy="1000125"/>
                <a:chOff x="2847975" y="3514725"/>
                <a:chExt cx="2114550" cy="1000125"/>
              </a:xfrm>
              <a:grpFill/>
            </p:grpSpPr>
            <p:sp>
              <p:nvSpPr>
                <p:cNvPr id="192" name="Rectangle 191"/>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3" name="Rectangle 192"/>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88" name="Group 188"/>
              <p:cNvGrpSpPr/>
              <p:nvPr/>
            </p:nvGrpSpPr>
            <p:grpSpPr>
              <a:xfrm flipV="1">
                <a:off x="2857500" y="3514725"/>
                <a:ext cx="2114550" cy="1000125"/>
                <a:chOff x="2847975" y="3514725"/>
                <a:chExt cx="2114550" cy="1000125"/>
              </a:xfrm>
              <a:grpFill/>
            </p:grpSpPr>
            <p:sp>
              <p:nvSpPr>
                <p:cNvPr id="190" name="Rectangle 189"/>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91" name="Rectangle 190"/>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nvGrpSpPr>
            <p:cNvPr id="189" name="Group 180"/>
            <p:cNvGrpSpPr/>
            <p:nvPr/>
          </p:nvGrpSpPr>
          <p:grpSpPr>
            <a:xfrm>
              <a:off x="4276725" y="1638299"/>
              <a:ext cx="1171575" cy="1133475"/>
              <a:chOff x="2857500" y="2514600"/>
              <a:chExt cx="2114550" cy="2000250"/>
            </a:xfrm>
            <a:grpFill/>
          </p:grpSpPr>
          <p:grpSp>
            <p:nvGrpSpPr>
              <p:cNvPr id="194" name="Group 181"/>
              <p:cNvGrpSpPr/>
              <p:nvPr/>
            </p:nvGrpSpPr>
            <p:grpSpPr>
              <a:xfrm>
                <a:off x="2857500" y="2514600"/>
                <a:ext cx="2114550" cy="1000125"/>
                <a:chOff x="2847975" y="3514725"/>
                <a:chExt cx="2114550" cy="1000125"/>
              </a:xfrm>
              <a:grpFill/>
            </p:grpSpPr>
            <p:sp>
              <p:nvSpPr>
                <p:cNvPr id="186" name="Rectangle 185"/>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7" name="Rectangle 186"/>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nvGrpSpPr>
              <p:cNvPr id="195" name="Group 182"/>
              <p:cNvGrpSpPr/>
              <p:nvPr/>
            </p:nvGrpSpPr>
            <p:grpSpPr>
              <a:xfrm flipV="1">
                <a:off x="2857500" y="3514725"/>
                <a:ext cx="2114550" cy="1000125"/>
                <a:chOff x="2847975" y="3514725"/>
                <a:chExt cx="2114550" cy="1000125"/>
              </a:xfrm>
              <a:grpFill/>
            </p:grpSpPr>
            <p:sp>
              <p:nvSpPr>
                <p:cNvPr id="184" name="Rectangle 183"/>
                <p:cNvSpPr/>
                <p:nvPr/>
              </p:nvSpPr>
              <p:spPr bwMode="auto">
                <a:xfrm flipH="1">
                  <a:off x="3905250"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sp>
              <p:nvSpPr>
                <p:cNvPr id="185" name="Rectangle 184"/>
                <p:cNvSpPr/>
                <p:nvPr/>
              </p:nvSpPr>
              <p:spPr bwMode="auto">
                <a:xfrm>
                  <a:off x="2847975" y="3514725"/>
                  <a:ext cx="1057275" cy="1000125"/>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grpSp>
        </p:grpSp>
      </p:grpSp>
      <p:sp>
        <p:nvSpPr>
          <p:cNvPr id="279" name="TextBox 278"/>
          <p:cNvSpPr txBox="1"/>
          <p:nvPr/>
        </p:nvSpPr>
        <p:spPr>
          <a:xfrm>
            <a:off x="381000" y="333375"/>
            <a:ext cx="5288627" cy="461665"/>
          </a:xfrm>
          <a:prstGeom prst="rect">
            <a:avLst/>
          </a:prstGeom>
          <a:noFill/>
        </p:spPr>
        <p:txBody>
          <a:bodyPr wrap="none" rtlCol="0">
            <a:spAutoFit/>
          </a:bodyPr>
          <a:lstStyle/>
          <a:p>
            <a:r>
              <a:rPr lang="en-GB" sz="2400" b="1"/>
              <a:t>The </a:t>
            </a:r>
            <a:r>
              <a:rPr lang="en-GB" sz="2400" b="1" dirty="0"/>
              <a:t>image is the correlation of … </a:t>
            </a:r>
          </a:p>
        </p:txBody>
      </p:sp>
      <p:sp>
        <p:nvSpPr>
          <p:cNvPr id="281" name="TextBox 280"/>
          <p:cNvSpPr txBox="1"/>
          <p:nvPr/>
        </p:nvSpPr>
        <p:spPr>
          <a:xfrm>
            <a:off x="5861050" y="1534584"/>
            <a:ext cx="2994731" cy="830997"/>
          </a:xfrm>
          <a:prstGeom prst="rect">
            <a:avLst/>
          </a:prstGeom>
          <a:noFill/>
        </p:spPr>
        <p:txBody>
          <a:bodyPr wrap="none" rtlCol="0">
            <a:spAutoFit/>
          </a:bodyPr>
          <a:lstStyle/>
          <a:p>
            <a:r>
              <a:rPr lang="en-GB"/>
              <a:t>… </a:t>
            </a:r>
            <a:r>
              <a:rPr lang="en-GB" dirty="0"/>
              <a:t>this harmonic content </a:t>
            </a:r>
          </a:p>
          <a:p>
            <a:r>
              <a:rPr lang="en-GB"/>
              <a:t>     + </a:t>
            </a:r>
            <a:r>
              <a:rPr lang="en-GB" dirty="0"/>
              <a:t>this harmonic content </a:t>
            </a:r>
          </a:p>
          <a:p>
            <a:r>
              <a:rPr lang="en-GB"/>
              <a:t>        + </a:t>
            </a:r>
            <a:r>
              <a:rPr lang="en-GB" dirty="0"/>
              <a:t>this DC</a:t>
            </a:r>
          </a:p>
        </p:txBody>
      </p:sp>
      <p:cxnSp>
        <p:nvCxnSpPr>
          <p:cNvPr id="282" name="Straight Arrow Connector 281"/>
          <p:cNvCxnSpPr/>
          <p:nvPr/>
        </p:nvCxnSpPr>
        <p:spPr bwMode="auto">
          <a:xfrm flipH="1">
            <a:off x="5173133" y="1809750"/>
            <a:ext cx="775759" cy="594783"/>
          </a:xfrm>
          <a:prstGeom prst="straightConnector1">
            <a:avLst/>
          </a:prstGeom>
          <a:noFill/>
          <a:ln w="9525" cap="flat" cmpd="sng" algn="ctr">
            <a:solidFill>
              <a:schemeClr val="tx1"/>
            </a:solidFill>
            <a:prstDash val="solid"/>
            <a:round/>
            <a:headEnd type="none" w="med" len="med"/>
            <a:tailEnd type="arrow"/>
          </a:ln>
          <a:effectLst/>
        </p:spPr>
      </p:cxnSp>
      <p:cxnSp>
        <p:nvCxnSpPr>
          <p:cNvPr id="284" name="Straight Arrow Connector 283"/>
          <p:cNvCxnSpPr/>
          <p:nvPr/>
        </p:nvCxnSpPr>
        <p:spPr bwMode="auto">
          <a:xfrm flipH="1">
            <a:off x="4171950" y="2074333"/>
            <a:ext cx="2042583" cy="3545417"/>
          </a:xfrm>
          <a:prstGeom prst="straightConnector1">
            <a:avLst/>
          </a:prstGeom>
          <a:noFill/>
          <a:ln w="9525" cap="flat" cmpd="sng" algn="ctr">
            <a:solidFill>
              <a:schemeClr val="tx1"/>
            </a:solidFill>
            <a:prstDash val="solid"/>
            <a:round/>
            <a:headEnd type="none" w="med" len="med"/>
            <a:tailEnd type="arrow"/>
          </a:ln>
          <a:effectLst/>
        </p:spPr>
      </p:cxnSp>
      <p:cxnSp>
        <p:nvCxnSpPr>
          <p:cNvPr id="288" name="Straight Arrow Connector 287"/>
          <p:cNvCxnSpPr/>
          <p:nvPr/>
        </p:nvCxnSpPr>
        <p:spPr bwMode="auto">
          <a:xfrm>
            <a:off x="6832600" y="2379133"/>
            <a:ext cx="625475" cy="2250017"/>
          </a:xfrm>
          <a:prstGeom prst="straightConnector1">
            <a:avLst/>
          </a:prstGeom>
          <a:noFill/>
          <a:ln w="9525" cap="flat" cmpd="sng" algn="ctr">
            <a:solidFill>
              <a:schemeClr val="tx1"/>
            </a:solidFill>
            <a:prstDash val="solid"/>
            <a:round/>
            <a:headEnd type="none" w="med" len="med"/>
            <a:tailEnd type="arrow"/>
          </a:ln>
          <a:effectLst/>
        </p:spPr>
      </p:cxnSp>
      <p:sp>
        <p:nvSpPr>
          <p:cNvPr id="320" name="TextBox 319"/>
          <p:cNvSpPr txBox="1"/>
          <p:nvPr/>
        </p:nvSpPr>
        <p:spPr>
          <a:xfrm>
            <a:off x="381000" y="855134"/>
            <a:ext cx="7125669" cy="584775"/>
          </a:xfrm>
          <a:prstGeom prst="rect">
            <a:avLst/>
          </a:prstGeom>
          <a:noFill/>
        </p:spPr>
        <p:txBody>
          <a:bodyPr wrap="none" rtlCol="0">
            <a:spAutoFit/>
          </a:bodyPr>
          <a:lstStyle/>
          <a:p>
            <a:pPr marL="177800" indent="-177800">
              <a:buFont typeface="Arial" pitchFamily="34" charset="0"/>
              <a:buChar char="•"/>
            </a:pPr>
            <a:r>
              <a:rPr lang="en-GB"/>
              <a:t>Image broken in to 8 x 8 pixel blocks</a:t>
            </a:r>
          </a:p>
          <a:p>
            <a:pPr marL="177800" indent="-177800">
              <a:buFont typeface="Arial" pitchFamily="34" charset="0"/>
              <a:buChar char="•"/>
            </a:pPr>
            <a:r>
              <a:rPr lang="en-GB"/>
              <a:t>The codec decides how to describe each block as a correlation of ... </a:t>
            </a:r>
          </a:p>
        </p:txBody>
      </p:sp>
    </p:spTree>
    <p:extLst>
      <p:ext uri="{BB962C8B-B14F-4D97-AF65-F5344CB8AC3E}">
        <p14:creationId xmlns:p14="http://schemas.microsoft.com/office/powerpoint/2010/main" val="4620255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0" y="0"/>
            <a:ext cx="9144000" cy="6858001"/>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Lucida Sans Unicode" pitchFamily="34" charset="0"/>
            </a:endParaRPr>
          </a:p>
        </p:txBody>
      </p:sp>
      <p:pic>
        <p:nvPicPr>
          <p:cNvPr id="4" name="Picture 2" descr="maxresdefault.jpg (1280×720)"/>
          <p:cNvPicPr>
            <a:picLocks noChangeAspect="1" noChangeArrowheads="1"/>
          </p:cNvPicPr>
          <p:nvPr/>
        </p:nvPicPr>
        <p:blipFill rotWithShape="1">
          <a:blip r:embed="rId2">
            <a:extLst>
              <a:ext uri="{28A0092B-C50C-407E-A947-70E740481C1C}">
                <a14:useLocalDpi xmlns:a14="http://schemas.microsoft.com/office/drawing/2010/main" val="0"/>
              </a:ext>
            </a:extLst>
          </a:blip>
          <a:srcRect t="1793" r="3572" b="2062"/>
          <a:stretch/>
        </p:blipFill>
        <p:spPr bwMode="auto">
          <a:xfrm>
            <a:off x="0" y="933061"/>
            <a:ext cx="9150162" cy="5131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51137"/>
      </p:ext>
    </p:extLst>
  </p:cSld>
  <p:clrMapOvr>
    <a:masterClrMapping/>
  </p:clrMapOvr>
</p:sld>
</file>

<file path=ppt/theme/theme1.xml><?xml version="1.0" encoding="utf-8"?>
<a:theme xmlns:a="http://schemas.openxmlformats.org/drawingml/2006/main" name="Template">
  <a:themeElements>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plate">
      <a:majorFont>
        <a:latin typeface="Lucida Sans Unicode"/>
        <a:ea typeface=""/>
        <a:cs typeface=""/>
      </a:majorFont>
      <a:minorFont>
        <a:latin typeface="Lucida Sans Unicod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600" b="0" i="0" u="none" strike="noStrike" cap="none" normalizeH="0" baseline="0" smtClean="0">
            <a:ln>
              <a:noFill/>
            </a:ln>
            <a:solidFill>
              <a:schemeClr val="tx1"/>
            </a:solidFill>
            <a:effectLst/>
            <a:latin typeface="Lucida Sans Unicode"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1242</TotalTime>
  <Words>4158</Words>
  <Application>Microsoft Office PowerPoint</Application>
  <PresentationFormat>On-screen Show (4:3)</PresentationFormat>
  <Paragraphs>796</Paragraphs>
  <Slides>82</Slides>
  <Notes>10</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2</vt:i4>
      </vt:variant>
      <vt:variant>
        <vt:lpstr>Slide Titles</vt:lpstr>
      </vt:variant>
      <vt:variant>
        <vt:i4>82</vt:i4>
      </vt:variant>
    </vt:vector>
  </HeadingPairs>
  <TitlesOfParts>
    <vt:vector size="90" baseType="lpstr">
      <vt:lpstr>Arial</vt:lpstr>
      <vt:lpstr>Cambria Math</vt:lpstr>
      <vt:lpstr>Lucida Sans Unicode</vt:lpstr>
      <vt:lpstr>Times New Roman</vt:lpstr>
      <vt:lpstr>Template</vt:lpstr>
      <vt:lpstr>Custom Design</vt:lpstr>
      <vt:lpstr>Bitmap Image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Compress Audio?</vt:lpstr>
      <vt:lpstr>Why Compress Video</vt:lpstr>
      <vt:lpstr>Compressed and Uncompressed Images</vt:lpstr>
      <vt:lpstr>Compression Techniques: Lossless</vt:lpstr>
      <vt:lpstr>Compression – Information Theory</vt:lpstr>
      <vt:lpstr>Lossless Compression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JFoss</dc:creator>
  <cp:lastModifiedBy>Jeremy Foss</cp:lastModifiedBy>
  <cp:revision>130</cp:revision>
  <cp:lastPrinted>2019-05-20T11:44:17Z</cp:lastPrinted>
  <dcterms:created xsi:type="dcterms:W3CDTF">2006-09-10T21:25:56Z</dcterms:created>
  <dcterms:modified xsi:type="dcterms:W3CDTF">2021-06-08T10:32:06Z</dcterms:modified>
</cp:coreProperties>
</file>