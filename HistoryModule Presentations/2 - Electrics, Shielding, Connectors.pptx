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08"/>
  </p:notesMasterIdLst>
  <p:handoutMasterIdLst>
    <p:handoutMasterId r:id="rId109"/>
  </p:handoutMasterIdLst>
  <p:sldIdLst>
    <p:sldId id="256" r:id="rId3"/>
    <p:sldId id="283" r:id="rId4"/>
    <p:sldId id="380" r:id="rId5"/>
    <p:sldId id="381" r:id="rId6"/>
    <p:sldId id="284" r:id="rId7"/>
    <p:sldId id="285" r:id="rId8"/>
    <p:sldId id="286" r:id="rId9"/>
    <p:sldId id="287" r:id="rId10"/>
    <p:sldId id="288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73" r:id="rId19"/>
    <p:sldId id="374" r:id="rId20"/>
    <p:sldId id="375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21" r:id="rId38"/>
    <p:sldId id="322" r:id="rId39"/>
    <p:sldId id="323" r:id="rId40"/>
    <p:sldId id="324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76" r:id="rId54"/>
    <p:sldId id="377" r:id="rId55"/>
    <p:sldId id="382" r:id="rId56"/>
    <p:sldId id="383" r:id="rId57"/>
    <p:sldId id="378" r:id="rId58"/>
    <p:sldId id="379" r:id="rId59"/>
    <p:sldId id="319" r:id="rId60"/>
    <p:sldId id="320" r:id="rId61"/>
    <p:sldId id="325" r:id="rId62"/>
    <p:sldId id="326" r:id="rId63"/>
    <p:sldId id="327" r:id="rId64"/>
    <p:sldId id="328" r:id="rId65"/>
    <p:sldId id="278" r:id="rId66"/>
    <p:sldId id="329" r:id="rId67"/>
    <p:sldId id="330" r:id="rId68"/>
    <p:sldId id="331" r:id="rId69"/>
    <p:sldId id="332" r:id="rId70"/>
    <p:sldId id="333" r:id="rId71"/>
    <p:sldId id="334" r:id="rId72"/>
    <p:sldId id="335" r:id="rId73"/>
    <p:sldId id="336" r:id="rId74"/>
    <p:sldId id="337" r:id="rId75"/>
    <p:sldId id="338" r:id="rId76"/>
    <p:sldId id="339" r:id="rId77"/>
    <p:sldId id="340" r:id="rId78"/>
    <p:sldId id="341" r:id="rId79"/>
    <p:sldId id="342" r:id="rId80"/>
    <p:sldId id="343" r:id="rId81"/>
    <p:sldId id="344" r:id="rId82"/>
    <p:sldId id="345" r:id="rId83"/>
    <p:sldId id="346" r:id="rId84"/>
    <p:sldId id="347" r:id="rId85"/>
    <p:sldId id="348" r:id="rId86"/>
    <p:sldId id="349" r:id="rId87"/>
    <p:sldId id="350" r:id="rId88"/>
    <p:sldId id="351" r:id="rId89"/>
    <p:sldId id="352" r:id="rId90"/>
    <p:sldId id="353" r:id="rId91"/>
    <p:sldId id="354" r:id="rId92"/>
    <p:sldId id="355" r:id="rId93"/>
    <p:sldId id="356" r:id="rId94"/>
    <p:sldId id="357" r:id="rId95"/>
    <p:sldId id="358" r:id="rId96"/>
    <p:sldId id="359" r:id="rId97"/>
    <p:sldId id="360" r:id="rId98"/>
    <p:sldId id="361" r:id="rId99"/>
    <p:sldId id="362" r:id="rId100"/>
    <p:sldId id="363" r:id="rId101"/>
    <p:sldId id="364" r:id="rId102"/>
    <p:sldId id="365" r:id="rId103"/>
    <p:sldId id="281" r:id="rId104"/>
    <p:sldId id="279" r:id="rId105"/>
    <p:sldId id="280" r:id="rId106"/>
    <p:sldId id="282" r:id="rId107"/>
  </p:sldIdLst>
  <p:sldSz cx="9144000" cy="6858000" type="screen4x3"/>
  <p:notesSz cx="6781800" cy="991235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2" userDrawn="1">
          <p15:clr>
            <a:srgbClr val="A4A3A4"/>
          </p15:clr>
        </p15:guide>
        <p15:guide id="2" pos="21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800000"/>
    <a:srgbClr val="FFFFCC"/>
    <a:srgbClr val="CCECFF"/>
    <a:srgbClr val="99CCFF"/>
    <a:srgbClr val="663300"/>
    <a:srgbClr val="990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86" y="96"/>
      </p:cViewPr>
      <p:guideLst>
        <p:guide orient="horz" pos="232"/>
        <p:guide pos="2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-1092" y="-72"/>
      </p:cViewPr>
      <p:guideLst>
        <p:guide orient="horz" pos="3122"/>
        <p:guide pos="2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slide" Target="slides/slide100.xml"/><Relationship Id="rId110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microsoft.com/office/2016/11/relationships/changesInfo" Target="changesInfos/changesInfo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" userId="09ac0925-c8bb-438c-a205-6311faa2bcaf" providerId="ADAL" clId="{CC76D3D6-E446-43DC-A09E-B0DE5C27417A}"/>
    <pc:docChg chg="custSel modSld">
      <pc:chgData name="Jeremy" userId="09ac0925-c8bb-438c-a205-6311faa2bcaf" providerId="ADAL" clId="{CC76D3D6-E446-43DC-A09E-B0DE5C27417A}" dt="2020-04-24T12:33:40.155" v="40" actId="6549"/>
      <pc:docMkLst>
        <pc:docMk/>
      </pc:docMkLst>
      <pc:sldChg chg="modSp mod">
        <pc:chgData name="Jeremy" userId="09ac0925-c8bb-438c-a205-6311faa2bcaf" providerId="ADAL" clId="{CC76D3D6-E446-43DC-A09E-B0DE5C27417A}" dt="2020-04-24T12:33:40.155" v="40" actId="6549"/>
        <pc:sldMkLst>
          <pc:docMk/>
          <pc:sldMk cId="0" sldId="256"/>
        </pc:sldMkLst>
        <pc:spChg chg="mod">
          <ac:chgData name="Jeremy" userId="09ac0925-c8bb-438c-a205-6311faa2bcaf" providerId="ADAL" clId="{CC76D3D6-E446-43DC-A09E-B0DE5C27417A}" dt="2020-04-24T12:33:40.155" v="40" actId="6549"/>
          <ac:spMkLst>
            <pc:docMk/>
            <pc:sldMk cId="0" sldId="256"/>
            <ac:spMk id="6147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451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CF019E-1375-4D69-90D7-05D62CCBD7E5}" type="datetimeFigureOut">
              <a:rPr lang="en-US"/>
              <a:pPr>
                <a:defRPr/>
              </a:pPr>
              <a:t>4/24/2020</a:t>
            </a:fld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501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451" y="941501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0E66841-25FA-4912-8AB9-E1C40B086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82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302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42950"/>
            <a:ext cx="4956175" cy="3717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240" y="4708366"/>
            <a:ext cx="4973320" cy="4460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673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3020" y="941673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FA0F4D4-A3A6-48C1-B1F1-4280E9CA5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817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32FAAA-12F3-4BC2-A6AB-5F2151B69C26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6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fld id="{F3241684-7BBE-4427-A86A-41A23C2A2CBA}" type="slidenum">
              <a:rPr lang="en-GB" sz="1200" smtClean="0"/>
              <a:pPr/>
              <a:t>58</a:t>
            </a:fld>
            <a:endParaRPr lang="en-GB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69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0238B-0726-474E-B974-88CBDE8C0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416D4-773B-48A2-8963-76985CBDF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CD34A-EAD6-4A2B-83C8-A41A7A636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2F47E-1FAC-4F39-B0C2-6BDEE08DC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F5F79-2FCA-49FD-9F46-111551135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5E2EB-362B-43CF-A641-DDD132543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EFDB2-3113-4A37-B07C-D041BB6DF6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4BBE9-EDC8-4FC6-8E4A-9557837D9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7EF81-6B76-4DEC-98FB-1D4D8A5EAB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B5DE6-76C7-4CED-BEDC-D3B153CD27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64A3C-67AD-4626-8890-8B49EF23BC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 rot="10800000" flipH="1">
            <a:off x="0" y="0"/>
            <a:ext cx="9144000" cy="457200"/>
          </a:xfrm>
          <a:prstGeom prst="rect">
            <a:avLst/>
          </a:prstGeom>
          <a:gradFill rotWithShape="0">
            <a:gsLst>
              <a:gs pos="0">
                <a:srgbClr val="CC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0" y="6400800"/>
            <a:ext cx="91440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8" name="Rectangle 9"/>
          <p:cNvSpPr>
            <a:spLocks noChangeArrowheads="1"/>
          </p:cNvSpPr>
          <p:nvPr/>
        </p:nvSpPr>
        <p:spPr bwMode="auto">
          <a:xfrm>
            <a:off x="2387600" y="6591300"/>
            <a:ext cx="439261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GB" sz="1200" dirty="0">
                <a:solidFill>
                  <a:srgbClr val="000066"/>
                </a:solidFill>
              </a:rPr>
              <a:t> Broadcast Technology UG1</a:t>
            </a:r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solidFill>
                  <a:srgbClr val="000066"/>
                </a:solidFill>
              </a:rPr>
              <a:t>jeremy.foss@bcu.ac.uk</a:t>
            </a:r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5868988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200">
              <a:solidFill>
                <a:srgbClr val="000066"/>
              </a:solidFill>
            </a:endParaRPr>
          </a:p>
        </p:txBody>
      </p:sp>
      <p:sp>
        <p:nvSpPr>
          <p:cNvPr id="1031" name="Rectangle 13"/>
          <p:cNvSpPr>
            <a:spLocks noChangeArrowheads="1"/>
          </p:cNvSpPr>
          <p:nvPr/>
        </p:nvSpPr>
        <p:spPr bwMode="auto">
          <a:xfrm>
            <a:off x="0" y="0"/>
            <a:ext cx="3492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200" b="1">
              <a:solidFill>
                <a:srgbClr val="000066"/>
              </a:solidFill>
            </a:endParaRPr>
          </a:p>
          <a:p>
            <a:pPr>
              <a:defRPr/>
            </a:pPr>
            <a:endParaRPr lang="en-GB" sz="1200">
              <a:solidFill>
                <a:srgbClr val="000066"/>
              </a:solidFill>
            </a:endParaRPr>
          </a:p>
        </p:txBody>
      </p:sp>
      <p:sp>
        <p:nvSpPr>
          <p:cNvPr id="1032" name="Rectangle 15"/>
          <p:cNvSpPr>
            <a:spLocks noChangeArrowheads="1"/>
          </p:cNvSpPr>
          <p:nvPr userDrawn="1"/>
        </p:nvSpPr>
        <p:spPr bwMode="auto">
          <a:xfrm>
            <a:off x="624840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GB" sz="1200">
                <a:solidFill>
                  <a:srgbClr val="000066"/>
                </a:solidFill>
              </a:rPr>
              <a:t>Jerry Foss, CEng, MIET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6144C6-4CBB-464E-8B86-D02262D719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gif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7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gif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gif"/><Relationship Id="rId2" Type="http://schemas.openxmlformats.org/officeDocument/2006/relationships/image" Target="../media/image82.gif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hyperlink" Target="http://www.ngsir.netfirms.com/englishhtm/RC_dc.ht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1.w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19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7.w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1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3" Type="http://schemas.openxmlformats.org/officeDocument/2006/relationships/image" Target="../media/image119.jpeg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24.jpeg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8.bin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://www3.eng.cam.ac.uk/DesignOffice/mdp/electric_web/AC/AC_14.html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3.wmf"/><Relationship Id="rId4" Type="http://schemas.openxmlformats.org/officeDocument/2006/relationships/oleObject" Target="../embeddings/oleObject10.bin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7.wmf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29.wmf"/><Relationship Id="rId4" Type="http://schemas.openxmlformats.org/officeDocument/2006/relationships/oleObject" Target="../embeddings/oleObject13.bin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jpe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C9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6147" name="Text Box 9"/>
          <p:cNvSpPr txBox="1">
            <a:spLocks noChangeArrowheads="1"/>
          </p:cNvSpPr>
          <p:nvPr/>
        </p:nvSpPr>
        <p:spPr bwMode="auto">
          <a:xfrm>
            <a:off x="612775" y="2058988"/>
            <a:ext cx="856138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dirty="0"/>
              <a:t>Broadcast Technology UG1</a:t>
            </a:r>
          </a:p>
          <a:p>
            <a:endParaRPr lang="en-GB" sz="2800" b="1" dirty="0"/>
          </a:p>
          <a:p>
            <a:r>
              <a:rPr lang="en-GB" sz="3200" dirty="0"/>
              <a:t>2</a:t>
            </a:r>
            <a:r>
              <a:rPr lang="en-GB" sz="3200"/>
              <a:t>: Electronics for Broadcast – Review</a:t>
            </a:r>
          </a:p>
          <a:p>
            <a:endParaRPr lang="en-GB" sz="3200" dirty="0"/>
          </a:p>
          <a:p>
            <a:r>
              <a:rPr lang="en-GB" sz="2800" dirty="0"/>
              <a:t>Jerry Foss</a:t>
            </a:r>
          </a:p>
          <a:p>
            <a:r>
              <a:rPr lang="en-GB" dirty="0"/>
              <a:t>jeremy.foss@bcu.ac.uk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288" y="5184857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shielding, ground</a:t>
            </a:r>
          </a:p>
          <a:p>
            <a:r>
              <a:rPr lang="en-GB" dirty="0"/>
              <a:t>coax</a:t>
            </a:r>
          </a:p>
          <a:p>
            <a:r>
              <a:rPr lang="en-GB" dirty="0"/>
              <a:t>impedance</a:t>
            </a:r>
          </a:p>
          <a:p>
            <a:r>
              <a:rPr lang="en-GB" dirty="0"/>
              <a:t>characteristic impedance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976645"/>
            <a:ext cx="4572000" cy="500136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Earth, Chassis, </a:t>
            </a:r>
            <a:r>
              <a:rPr lang="en-US" sz="1800" dirty="0" err="1"/>
              <a:t>etc</a:t>
            </a:r>
            <a:endParaRPr lang="en-US" sz="1800" dirty="0"/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Circuit Interconnects, Interference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Shielding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Grounding/</a:t>
            </a:r>
            <a:r>
              <a:rPr lang="en-US" sz="1800" dirty="0" err="1"/>
              <a:t>Earthing</a:t>
            </a:r>
            <a:endParaRPr lang="en-US" sz="1800" dirty="0"/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Unbalanced Connections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Ground Loops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Twisted Pair Cable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Balanced Lines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Balanced Connectors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Unbalanced-To- Balanced 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Balanced -To- Unbalanced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Phantom Power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Line Level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 err="1"/>
              <a:t>Multistages</a:t>
            </a:r>
            <a:endParaRPr lang="en-US" sz="1800" dirty="0"/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Impedance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US" sz="1800" dirty="0"/>
              <a:t>Characteristic Impedance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40628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ChangeArrowheads="1"/>
          </p:cNvSpPr>
          <p:nvPr/>
        </p:nvSpPr>
        <p:spPr bwMode="auto">
          <a:xfrm>
            <a:off x="430213" y="830263"/>
            <a:ext cx="7405687" cy="2357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sz="1600" b="0" dirty="0"/>
              <a:t>Movement of electrons in ONE direction gives rise to ELECTRIC current </a:t>
            </a:r>
          </a:p>
          <a:p>
            <a:r>
              <a:rPr lang="en-GB" sz="1600" b="0" dirty="0"/>
              <a:t>... is really a movement of CHARGE</a:t>
            </a:r>
          </a:p>
          <a:p>
            <a:endParaRPr lang="en-GB" sz="1600" b="0" dirty="0"/>
          </a:p>
          <a:p>
            <a:r>
              <a:rPr lang="en-GB" sz="1600" b="0" dirty="0"/>
              <a:t>No field – haphazard movement</a:t>
            </a:r>
          </a:p>
          <a:p>
            <a:r>
              <a:rPr lang="en-GB" sz="1600" b="0" dirty="0"/>
              <a:t>... net current flow is zero</a:t>
            </a:r>
          </a:p>
          <a:p>
            <a:endParaRPr lang="en-GB" sz="1600" b="0" dirty="0"/>
          </a:p>
          <a:p>
            <a:r>
              <a:rPr lang="en-GB" sz="1600" b="0" dirty="0"/>
              <a:t>Conductors (metals, e.g. Copper) – have loose bindings to their outer electrons</a:t>
            </a:r>
          </a:p>
          <a:p>
            <a:pPr lvl="1"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endParaRPr lang="en-GB" sz="1600" b="1" dirty="0">
              <a:solidFill>
                <a:schemeClr val="tx2"/>
              </a:solidFill>
            </a:endParaRPr>
          </a:p>
        </p:txBody>
      </p:sp>
      <p:sp>
        <p:nvSpPr>
          <p:cNvPr id="189443" name="Text Box 3"/>
          <p:cNvSpPr txBox="1">
            <a:spLocks noChangeArrowheads="1"/>
          </p:cNvSpPr>
          <p:nvPr/>
        </p:nvSpPr>
        <p:spPr bwMode="auto">
          <a:xfrm>
            <a:off x="430213" y="376238"/>
            <a:ext cx="1887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400" b="1"/>
              <a:t>Conduction</a:t>
            </a:r>
          </a:p>
        </p:txBody>
      </p:sp>
      <p:pic>
        <p:nvPicPr>
          <p:cNvPr id="18944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025" y="2911550"/>
            <a:ext cx="2525713" cy="238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944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463" y="2879725"/>
            <a:ext cx="2525712" cy="238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9446" name="Oval 6"/>
          <p:cNvSpPr>
            <a:spLocks noChangeArrowheads="1"/>
          </p:cNvSpPr>
          <p:nvPr/>
        </p:nvSpPr>
        <p:spPr bwMode="auto">
          <a:xfrm>
            <a:off x="3629025" y="2784475"/>
            <a:ext cx="409575" cy="436563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502275" y="3052763"/>
            <a:ext cx="301625" cy="336550"/>
            <a:chOff x="3965" y="1734"/>
            <a:chExt cx="190" cy="212"/>
          </a:xfrm>
        </p:grpSpPr>
        <p:sp>
          <p:nvSpPr>
            <p:cNvPr id="189448" name="Oval 8"/>
            <p:cNvSpPr>
              <a:spLocks noChangeArrowheads="1"/>
            </p:cNvSpPr>
            <p:nvPr/>
          </p:nvSpPr>
          <p:spPr bwMode="auto">
            <a:xfrm>
              <a:off x="3989" y="1771"/>
              <a:ext cx="138" cy="12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89449" name="Text Box 9"/>
            <p:cNvSpPr txBox="1">
              <a:spLocks noChangeArrowheads="1"/>
            </p:cNvSpPr>
            <p:nvPr/>
          </p:nvSpPr>
          <p:spPr bwMode="auto">
            <a:xfrm>
              <a:off x="3965" y="1734"/>
              <a:ext cx="1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600"/>
                <a:t>-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146300" y="3108325"/>
            <a:ext cx="301625" cy="336550"/>
            <a:chOff x="3965" y="1734"/>
            <a:chExt cx="190" cy="212"/>
          </a:xfrm>
        </p:grpSpPr>
        <p:sp>
          <p:nvSpPr>
            <p:cNvPr id="189451" name="Oval 11"/>
            <p:cNvSpPr>
              <a:spLocks noChangeArrowheads="1"/>
            </p:cNvSpPr>
            <p:nvPr/>
          </p:nvSpPr>
          <p:spPr bwMode="auto">
            <a:xfrm>
              <a:off x="3989" y="1771"/>
              <a:ext cx="138" cy="12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89452" name="Text Box 12"/>
            <p:cNvSpPr txBox="1">
              <a:spLocks noChangeArrowheads="1"/>
            </p:cNvSpPr>
            <p:nvPr/>
          </p:nvSpPr>
          <p:spPr bwMode="auto">
            <a:xfrm>
              <a:off x="3965" y="1734"/>
              <a:ext cx="1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600"/>
                <a:t>-</a:t>
              </a:r>
            </a:p>
          </p:txBody>
        </p:sp>
      </p:grpSp>
      <p:sp>
        <p:nvSpPr>
          <p:cNvPr id="189453" name="AutoShape 13" descr="Dark upward diagonal"/>
          <p:cNvSpPr>
            <a:spLocks noChangeArrowheads="1"/>
          </p:cNvSpPr>
          <p:nvPr/>
        </p:nvSpPr>
        <p:spPr bwMode="auto">
          <a:xfrm rot="-1938016">
            <a:off x="2447925" y="2916238"/>
            <a:ext cx="1125538" cy="469900"/>
          </a:xfrm>
          <a:prstGeom prst="lightningBolt">
            <a:avLst/>
          </a:prstGeom>
          <a:pattFill prst="dkUpDiag">
            <a:fgClr>
              <a:srgbClr val="800000"/>
            </a:fgClr>
            <a:bgClr>
              <a:srgbClr val="FFFFFF"/>
            </a:bgClr>
          </a:pattFill>
          <a:ln w="9525" algn="ctr">
            <a:solidFill>
              <a:srgbClr val="99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822325" y="3324225"/>
            <a:ext cx="301625" cy="336550"/>
            <a:chOff x="3965" y="1734"/>
            <a:chExt cx="190" cy="212"/>
          </a:xfrm>
        </p:grpSpPr>
        <p:sp>
          <p:nvSpPr>
            <p:cNvPr id="189455" name="Oval 15"/>
            <p:cNvSpPr>
              <a:spLocks noChangeArrowheads="1"/>
            </p:cNvSpPr>
            <p:nvPr/>
          </p:nvSpPr>
          <p:spPr bwMode="auto">
            <a:xfrm>
              <a:off x="3989" y="1771"/>
              <a:ext cx="138" cy="12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89456" name="Text Box 16"/>
            <p:cNvSpPr txBox="1">
              <a:spLocks noChangeArrowheads="1"/>
            </p:cNvSpPr>
            <p:nvPr/>
          </p:nvSpPr>
          <p:spPr bwMode="auto">
            <a:xfrm>
              <a:off x="3965" y="1734"/>
              <a:ext cx="1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600"/>
                <a:t>-</a:t>
              </a:r>
            </a:p>
          </p:txBody>
        </p:sp>
      </p:grpSp>
      <p:sp>
        <p:nvSpPr>
          <p:cNvPr id="189457" name="AutoShape 17" descr="Dark upward diagonal"/>
          <p:cNvSpPr>
            <a:spLocks noChangeArrowheads="1"/>
          </p:cNvSpPr>
          <p:nvPr/>
        </p:nvSpPr>
        <p:spPr bwMode="auto">
          <a:xfrm rot="-1938016">
            <a:off x="895350" y="3419475"/>
            <a:ext cx="1376363" cy="469900"/>
          </a:xfrm>
          <a:prstGeom prst="lightningBolt">
            <a:avLst/>
          </a:prstGeom>
          <a:pattFill prst="dkUpDiag">
            <a:fgClr>
              <a:srgbClr val="800000"/>
            </a:fgClr>
            <a:bgClr>
              <a:srgbClr val="FFFFFF"/>
            </a:bgClr>
          </a:pattFill>
          <a:ln w="9525" algn="ctr">
            <a:solidFill>
              <a:srgbClr val="99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89458" name="AutoShape 18"/>
          <p:cNvSpPr>
            <a:spLocks noChangeArrowheads="1"/>
          </p:cNvSpPr>
          <p:nvPr/>
        </p:nvSpPr>
        <p:spPr bwMode="auto">
          <a:xfrm rot="-2157145">
            <a:off x="4121150" y="2838450"/>
            <a:ext cx="1146175" cy="709613"/>
          </a:xfrm>
          <a:prstGeom prst="lightningBolt">
            <a:avLst/>
          </a:prstGeom>
          <a:solidFill>
            <a:srgbClr val="9900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7589838" y="2374900"/>
            <a:ext cx="1309687" cy="1419225"/>
            <a:chOff x="4746" y="1719"/>
            <a:chExt cx="825" cy="894"/>
          </a:xfrm>
        </p:grpSpPr>
        <p:sp>
          <p:nvSpPr>
            <p:cNvPr id="189460" name="AutoShape 20" descr="Zig zag"/>
            <p:cNvSpPr>
              <a:spLocks noChangeArrowheads="1"/>
            </p:cNvSpPr>
            <p:nvPr/>
          </p:nvSpPr>
          <p:spPr bwMode="auto">
            <a:xfrm>
              <a:off x="4746" y="1719"/>
              <a:ext cx="825" cy="894"/>
            </a:xfrm>
            <a:prstGeom prst="plus">
              <a:avLst>
                <a:gd name="adj" fmla="val 33333"/>
              </a:avLst>
            </a:prstGeom>
            <a:pattFill prst="zigZag">
              <a:fgClr>
                <a:srgbClr val="FF6600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FF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89461" name="AutoShape 21"/>
            <p:cNvSpPr>
              <a:spLocks noChangeArrowheads="1"/>
            </p:cNvSpPr>
            <p:nvPr/>
          </p:nvSpPr>
          <p:spPr bwMode="auto">
            <a:xfrm>
              <a:off x="4815" y="1770"/>
              <a:ext cx="688" cy="773"/>
            </a:xfrm>
            <a:prstGeom prst="plus">
              <a:avLst>
                <a:gd name="adj" fmla="val 35468"/>
              </a:avLst>
            </a:prstGeom>
            <a:solidFill>
              <a:srgbClr val="FF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FF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165100" y="4667250"/>
            <a:ext cx="927100" cy="355600"/>
            <a:chOff x="963" y="1788"/>
            <a:chExt cx="584" cy="224"/>
          </a:xfrm>
        </p:grpSpPr>
        <p:sp>
          <p:nvSpPr>
            <p:cNvPr id="189463" name="Rectangle 23"/>
            <p:cNvSpPr>
              <a:spLocks noChangeArrowheads="1"/>
            </p:cNvSpPr>
            <p:nvPr/>
          </p:nvSpPr>
          <p:spPr bwMode="auto">
            <a:xfrm>
              <a:off x="963" y="1788"/>
              <a:ext cx="584" cy="2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89464" name="Rectangle 24"/>
            <p:cNvSpPr>
              <a:spLocks noChangeArrowheads="1"/>
            </p:cNvSpPr>
            <p:nvPr/>
          </p:nvSpPr>
          <p:spPr bwMode="auto">
            <a:xfrm>
              <a:off x="1023" y="1831"/>
              <a:ext cx="446" cy="1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89465" name="Text Box 25"/>
          <p:cNvSpPr txBox="1">
            <a:spLocks noChangeArrowheads="1"/>
          </p:cNvSpPr>
          <p:nvPr/>
        </p:nvSpPr>
        <p:spPr bwMode="auto">
          <a:xfrm>
            <a:off x="388938" y="5575300"/>
            <a:ext cx="832961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sz="1600" b="0" dirty="0"/>
              <a:t>electrons progress through conducting medium attracted towards positive electrode of the electric field. 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b="0" dirty="0"/>
              <a:t>they may be attracted to a nearby positive ion, or may continue drifting towards the anode</a:t>
            </a:r>
          </a:p>
        </p:txBody>
      </p:sp>
    </p:spTree>
    <p:extLst>
      <p:ext uri="{BB962C8B-B14F-4D97-AF65-F5344CB8AC3E}">
        <p14:creationId xmlns:p14="http://schemas.microsoft.com/office/powerpoint/2010/main" val="2623396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 Box 2"/>
          <p:cNvSpPr txBox="1">
            <a:spLocks noChangeArrowheads="1"/>
          </p:cNvSpPr>
          <p:nvPr/>
        </p:nvSpPr>
        <p:spPr bwMode="auto">
          <a:xfrm>
            <a:off x="430213" y="365125"/>
            <a:ext cx="198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400" b="1"/>
              <a:t>Conductors </a:t>
            </a:r>
          </a:p>
        </p:txBody>
      </p:sp>
      <p:pic>
        <p:nvPicPr>
          <p:cNvPr id="19046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025" y="2935288"/>
            <a:ext cx="2525713" cy="238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6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463" y="2879725"/>
            <a:ext cx="2525712" cy="238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0469" name="Oval 5"/>
          <p:cNvSpPr>
            <a:spLocks noChangeArrowheads="1"/>
          </p:cNvSpPr>
          <p:nvPr/>
        </p:nvSpPr>
        <p:spPr bwMode="auto">
          <a:xfrm>
            <a:off x="3629025" y="2784475"/>
            <a:ext cx="409575" cy="436563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502275" y="3052763"/>
            <a:ext cx="301625" cy="336550"/>
            <a:chOff x="3965" y="1734"/>
            <a:chExt cx="190" cy="212"/>
          </a:xfrm>
        </p:grpSpPr>
        <p:sp>
          <p:nvSpPr>
            <p:cNvPr id="190471" name="Oval 7"/>
            <p:cNvSpPr>
              <a:spLocks noChangeArrowheads="1"/>
            </p:cNvSpPr>
            <p:nvPr/>
          </p:nvSpPr>
          <p:spPr bwMode="auto">
            <a:xfrm>
              <a:off x="3989" y="1771"/>
              <a:ext cx="138" cy="12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0472" name="Text Box 8"/>
            <p:cNvSpPr txBox="1">
              <a:spLocks noChangeArrowheads="1"/>
            </p:cNvSpPr>
            <p:nvPr/>
          </p:nvSpPr>
          <p:spPr bwMode="auto">
            <a:xfrm>
              <a:off x="3965" y="1734"/>
              <a:ext cx="1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600"/>
                <a:t>-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146300" y="3108325"/>
            <a:ext cx="301625" cy="336550"/>
            <a:chOff x="3965" y="1734"/>
            <a:chExt cx="190" cy="212"/>
          </a:xfrm>
        </p:grpSpPr>
        <p:sp>
          <p:nvSpPr>
            <p:cNvPr id="190474" name="Oval 10"/>
            <p:cNvSpPr>
              <a:spLocks noChangeArrowheads="1"/>
            </p:cNvSpPr>
            <p:nvPr/>
          </p:nvSpPr>
          <p:spPr bwMode="auto">
            <a:xfrm>
              <a:off x="3989" y="1771"/>
              <a:ext cx="138" cy="12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0475" name="Text Box 11"/>
            <p:cNvSpPr txBox="1">
              <a:spLocks noChangeArrowheads="1"/>
            </p:cNvSpPr>
            <p:nvPr/>
          </p:nvSpPr>
          <p:spPr bwMode="auto">
            <a:xfrm>
              <a:off x="3965" y="1734"/>
              <a:ext cx="1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600"/>
                <a:t>-</a:t>
              </a:r>
            </a:p>
          </p:txBody>
        </p:sp>
      </p:grpSp>
      <p:sp>
        <p:nvSpPr>
          <p:cNvPr id="190476" name="AutoShape 12" descr="Dark upward diagonal"/>
          <p:cNvSpPr>
            <a:spLocks noChangeArrowheads="1"/>
          </p:cNvSpPr>
          <p:nvPr/>
        </p:nvSpPr>
        <p:spPr bwMode="auto">
          <a:xfrm rot="-1938016">
            <a:off x="2447925" y="2916238"/>
            <a:ext cx="1125538" cy="469900"/>
          </a:xfrm>
          <a:prstGeom prst="lightningBolt">
            <a:avLst/>
          </a:prstGeom>
          <a:pattFill prst="dkUpDiag">
            <a:fgClr>
              <a:srgbClr val="800000"/>
            </a:fgClr>
            <a:bgClr>
              <a:srgbClr val="FFFFFF"/>
            </a:bgClr>
          </a:pattFill>
          <a:ln w="9525" algn="ctr">
            <a:solidFill>
              <a:srgbClr val="99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822325" y="3324225"/>
            <a:ext cx="301625" cy="336550"/>
            <a:chOff x="3965" y="1734"/>
            <a:chExt cx="190" cy="212"/>
          </a:xfrm>
        </p:grpSpPr>
        <p:sp>
          <p:nvSpPr>
            <p:cNvPr id="190478" name="Oval 14"/>
            <p:cNvSpPr>
              <a:spLocks noChangeArrowheads="1"/>
            </p:cNvSpPr>
            <p:nvPr/>
          </p:nvSpPr>
          <p:spPr bwMode="auto">
            <a:xfrm>
              <a:off x="3989" y="1771"/>
              <a:ext cx="138" cy="12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0479" name="Text Box 15"/>
            <p:cNvSpPr txBox="1">
              <a:spLocks noChangeArrowheads="1"/>
            </p:cNvSpPr>
            <p:nvPr/>
          </p:nvSpPr>
          <p:spPr bwMode="auto">
            <a:xfrm>
              <a:off x="3965" y="1734"/>
              <a:ext cx="1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600"/>
                <a:t>-</a:t>
              </a:r>
            </a:p>
          </p:txBody>
        </p:sp>
      </p:grpSp>
      <p:sp>
        <p:nvSpPr>
          <p:cNvPr id="190480" name="AutoShape 16" descr="Dark upward diagonal"/>
          <p:cNvSpPr>
            <a:spLocks noChangeArrowheads="1"/>
          </p:cNvSpPr>
          <p:nvPr/>
        </p:nvSpPr>
        <p:spPr bwMode="auto">
          <a:xfrm rot="-1938016">
            <a:off x="895350" y="3419475"/>
            <a:ext cx="1376363" cy="469900"/>
          </a:xfrm>
          <a:prstGeom prst="lightningBolt">
            <a:avLst/>
          </a:prstGeom>
          <a:pattFill prst="dkUpDiag">
            <a:fgClr>
              <a:srgbClr val="800000"/>
            </a:fgClr>
            <a:bgClr>
              <a:srgbClr val="FFFFFF"/>
            </a:bgClr>
          </a:pattFill>
          <a:ln w="9525" algn="ctr">
            <a:solidFill>
              <a:srgbClr val="99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0481" name="AutoShape 17"/>
          <p:cNvSpPr>
            <a:spLocks noChangeArrowheads="1"/>
          </p:cNvSpPr>
          <p:nvPr/>
        </p:nvSpPr>
        <p:spPr bwMode="auto">
          <a:xfrm rot="-2157145">
            <a:off x="4121150" y="2838450"/>
            <a:ext cx="1146175" cy="709613"/>
          </a:xfrm>
          <a:prstGeom prst="lightningBolt">
            <a:avLst/>
          </a:prstGeom>
          <a:solidFill>
            <a:srgbClr val="9900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7589838" y="2374900"/>
            <a:ext cx="1309687" cy="1419225"/>
            <a:chOff x="4746" y="1719"/>
            <a:chExt cx="825" cy="894"/>
          </a:xfrm>
        </p:grpSpPr>
        <p:sp>
          <p:nvSpPr>
            <p:cNvPr id="190483" name="AutoShape 19" descr="Zig zag"/>
            <p:cNvSpPr>
              <a:spLocks noChangeArrowheads="1"/>
            </p:cNvSpPr>
            <p:nvPr/>
          </p:nvSpPr>
          <p:spPr bwMode="auto">
            <a:xfrm>
              <a:off x="4746" y="1719"/>
              <a:ext cx="825" cy="894"/>
            </a:xfrm>
            <a:prstGeom prst="plus">
              <a:avLst>
                <a:gd name="adj" fmla="val 33333"/>
              </a:avLst>
            </a:prstGeom>
            <a:pattFill prst="zigZag">
              <a:fgClr>
                <a:srgbClr val="FF6600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FF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0484" name="AutoShape 20"/>
            <p:cNvSpPr>
              <a:spLocks noChangeArrowheads="1"/>
            </p:cNvSpPr>
            <p:nvPr/>
          </p:nvSpPr>
          <p:spPr bwMode="auto">
            <a:xfrm>
              <a:off x="4815" y="1770"/>
              <a:ext cx="688" cy="773"/>
            </a:xfrm>
            <a:prstGeom prst="plus">
              <a:avLst>
                <a:gd name="adj" fmla="val 35468"/>
              </a:avLst>
            </a:prstGeom>
            <a:solidFill>
              <a:srgbClr val="FF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FF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165100" y="4667250"/>
            <a:ext cx="927100" cy="355600"/>
            <a:chOff x="963" y="1788"/>
            <a:chExt cx="584" cy="224"/>
          </a:xfrm>
        </p:grpSpPr>
        <p:sp>
          <p:nvSpPr>
            <p:cNvPr id="190486" name="Rectangle 22"/>
            <p:cNvSpPr>
              <a:spLocks noChangeArrowheads="1"/>
            </p:cNvSpPr>
            <p:nvPr/>
          </p:nvSpPr>
          <p:spPr bwMode="auto">
            <a:xfrm>
              <a:off x="963" y="1788"/>
              <a:ext cx="584" cy="2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0487" name="Rectangle 23"/>
            <p:cNvSpPr>
              <a:spLocks noChangeArrowheads="1"/>
            </p:cNvSpPr>
            <p:nvPr/>
          </p:nvSpPr>
          <p:spPr bwMode="auto">
            <a:xfrm>
              <a:off x="1023" y="1831"/>
              <a:ext cx="446" cy="1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90488" name="AutoShape 24" descr="Large confetti"/>
          <p:cNvSpPr>
            <a:spLocks noChangeArrowheads="1"/>
          </p:cNvSpPr>
          <p:nvPr/>
        </p:nvSpPr>
        <p:spPr bwMode="auto">
          <a:xfrm rot="-2104579">
            <a:off x="0" y="1196975"/>
            <a:ext cx="8012113" cy="3705225"/>
          </a:xfrm>
          <a:prstGeom prst="lightningBolt">
            <a:avLst/>
          </a:prstGeom>
          <a:pattFill prst="lgConfetti">
            <a:fgClr>
              <a:schemeClr val="accent1">
                <a:alpha val="30000"/>
              </a:schemeClr>
            </a:fgClr>
            <a:bgClr>
              <a:schemeClr val="bg1">
                <a:alpha val="30000"/>
              </a:schemeClr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0489" name="AutoShape 25" descr="Large confetti"/>
          <p:cNvSpPr>
            <a:spLocks noChangeArrowheads="1"/>
          </p:cNvSpPr>
          <p:nvPr/>
        </p:nvSpPr>
        <p:spPr bwMode="auto">
          <a:xfrm rot="8483052">
            <a:off x="1131888" y="3479800"/>
            <a:ext cx="8012112" cy="3705225"/>
          </a:xfrm>
          <a:prstGeom prst="lightningBolt">
            <a:avLst/>
          </a:prstGeom>
          <a:pattFill prst="lgConfetti">
            <a:fgClr>
              <a:srgbClr val="FF6600">
                <a:alpha val="30000"/>
              </a:srgbClr>
            </a:fgClr>
            <a:bgClr>
              <a:schemeClr val="bg1">
                <a:alpha val="30000"/>
              </a:schemeClr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0490" name="Text Box 26"/>
          <p:cNvSpPr txBox="1">
            <a:spLocks noChangeArrowheads="1"/>
          </p:cNvSpPr>
          <p:nvPr/>
        </p:nvSpPr>
        <p:spPr bwMode="auto">
          <a:xfrm rot="-387529">
            <a:off x="1677031" y="2546936"/>
            <a:ext cx="14782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600" b="1">
                <a:solidFill>
                  <a:srgbClr val="006600"/>
                </a:solidFill>
              </a:rPr>
              <a:t>electron flow</a:t>
            </a:r>
            <a:endParaRPr lang="en-US" sz="1600" b="1">
              <a:solidFill>
                <a:srgbClr val="006600"/>
              </a:solidFill>
            </a:endParaRPr>
          </a:p>
        </p:txBody>
      </p:sp>
      <p:sp>
        <p:nvSpPr>
          <p:cNvPr id="190491" name="AutoShape 27"/>
          <p:cNvSpPr>
            <a:spLocks noChangeArrowheads="1"/>
          </p:cNvSpPr>
          <p:nvPr/>
        </p:nvSpPr>
        <p:spPr bwMode="auto">
          <a:xfrm rot="-209019">
            <a:off x="3298825" y="2403475"/>
            <a:ext cx="1003300" cy="311150"/>
          </a:xfrm>
          <a:prstGeom prst="rightArrow">
            <a:avLst>
              <a:gd name="adj1" fmla="val 58019"/>
              <a:gd name="adj2" fmla="val 154522"/>
            </a:avLst>
          </a:prstGeom>
          <a:solidFill>
            <a:srgbClr val="0066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0492" name="Text Box 28"/>
          <p:cNvSpPr txBox="1">
            <a:spLocks noChangeArrowheads="1"/>
          </p:cNvSpPr>
          <p:nvPr/>
        </p:nvSpPr>
        <p:spPr bwMode="auto">
          <a:xfrm rot="-387529">
            <a:off x="5641975" y="5670550"/>
            <a:ext cx="1377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600" b="1">
                <a:solidFill>
                  <a:srgbClr val="FF6600"/>
                </a:solidFill>
              </a:rPr>
              <a:t>current flow</a:t>
            </a:r>
            <a:endParaRPr lang="en-US" sz="1600" b="1">
              <a:solidFill>
                <a:srgbClr val="FF6600"/>
              </a:solidFill>
            </a:endParaRPr>
          </a:p>
        </p:txBody>
      </p:sp>
      <p:sp>
        <p:nvSpPr>
          <p:cNvPr id="190493" name="AutoShape 29"/>
          <p:cNvSpPr>
            <a:spLocks noChangeArrowheads="1"/>
          </p:cNvSpPr>
          <p:nvPr/>
        </p:nvSpPr>
        <p:spPr bwMode="auto">
          <a:xfrm rot="10800000">
            <a:off x="4441825" y="5716588"/>
            <a:ext cx="1003300" cy="311150"/>
          </a:xfrm>
          <a:prstGeom prst="rightArrow">
            <a:avLst>
              <a:gd name="adj1" fmla="val 58019"/>
              <a:gd name="adj2" fmla="val 154522"/>
            </a:avLst>
          </a:prstGeom>
          <a:solidFill>
            <a:srgbClr val="FF66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0494" name="Rectangle 30"/>
          <p:cNvSpPr>
            <a:spLocks noChangeArrowheads="1"/>
          </p:cNvSpPr>
          <p:nvPr/>
        </p:nvSpPr>
        <p:spPr bwMode="auto">
          <a:xfrm>
            <a:off x="430213" y="827236"/>
            <a:ext cx="8496300" cy="160659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177800" indent="-177800">
              <a:lnSpc>
                <a:spcPct val="120000"/>
              </a:lnSpc>
            </a:pPr>
            <a:r>
              <a:rPr lang="en-US" sz="1600" dirty="0"/>
              <a:t>CONDUCTORS</a:t>
            </a:r>
          </a:p>
          <a:p>
            <a:pPr marL="180975" indent="-180975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600" b="0" dirty="0"/>
              <a:t>allow electrons to flow</a:t>
            </a:r>
          </a:p>
          <a:p>
            <a:pPr marL="180975" indent="-180975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600" b="0" dirty="0"/>
              <a:t>electrons easily freed and move through lattice of atoms when electric field is applied</a:t>
            </a:r>
          </a:p>
          <a:p>
            <a:pPr marL="180975" indent="-180975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600" b="0" dirty="0"/>
              <a:t>e.g. – gold, copper, tin, carbon</a:t>
            </a:r>
          </a:p>
        </p:txBody>
      </p:sp>
      <p:sp>
        <p:nvSpPr>
          <p:cNvPr id="190495" name="Rectangle 31"/>
          <p:cNvSpPr>
            <a:spLocks noChangeArrowheads="1"/>
          </p:cNvSpPr>
          <p:nvPr/>
        </p:nvSpPr>
        <p:spPr bwMode="auto">
          <a:xfrm>
            <a:off x="430213" y="5557838"/>
            <a:ext cx="3613150" cy="9787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177800" indent="-177800">
              <a:lnSpc>
                <a:spcPct val="120000"/>
              </a:lnSpc>
            </a:pPr>
            <a:r>
              <a:rPr lang="en-US" sz="1600" dirty="0"/>
              <a:t>INSULATORS </a:t>
            </a:r>
          </a:p>
          <a:p>
            <a:pPr marL="177800" indent="-177800">
              <a:lnSpc>
                <a:spcPct val="120000"/>
              </a:lnSpc>
              <a:buFontTx/>
              <a:buChar char="•"/>
            </a:pPr>
            <a:r>
              <a:rPr lang="en-US" sz="1600" b="0" dirty="0"/>
              <a:t>restrict movement of electrons </a:t>
            </a:r>
          </a:p>
          <a:p>
            <a:pPr marL="177800" indent="-177800">
              <a:lnSpc>
                <a:spcPct val="120000"/>
              </a:lnSpc>
              <a:buFontTx/>
              <a:buChar char="•"/>
            </a:pPr>
            <a:r>
              <a:rPr lang="en-US" sz="1600" b="0" dirty="0"/>
              <a:t>electrons firmly bound to atom</a:t>
            </a:r>
          </a:p>
        </p:txBody>
      </p:sp>
    </p:spTree>
    <p:extLst>
      <p:ext uri="{BB962C8B-B14F-4D97-AF65-F5344CB8AC3E}">
        <p14:creationId xmlns:p14="http://schemas.microsoft.com/office/powerpoint/2010/main" val="655940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95288" y="331788"/>
            <a:ext cx="4100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/>
              <a:t>Shure</a:t>
            </a:r>
            <a:r>
              <a:rPr lang="en-GB" sz="2400" b="1" dirty="0"/>
              <a:t> SM58 Specifications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95288" y="735679"/>
            <a:ext cx="8259509" cy="5750846"/>
            <a:chOff x="395288" y="735679"/>
            <a:chExt cx="8259509" cy="5750846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b="4906"/>
            <a:stretch>
              <a:fillRect/>
            </a:stretch>
          </p:blipFill>
          <p:spPr bwMode="auto">
            <a:xfrm>
              <a:off x="395288" y="735679"/>
              <a:ext cx="4338637" cy="30709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12" name="Rectangle 11"/>
            <p:cNvSpPr/>
            <p:nvPr/>
          </p:nvSpPr>
          <p:spPr bwMode="auto">
            <a:xfrm>
              <a:off x="490538" y="2667001"/>
              <a:ext cx="3290887" cy="1085850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 b="4271"/>
            <a:stretch>
              <a:fillRect/>
            </a:stretch>
          </p:blipFill>
          <p:spPr bwMode="auto">
            <a:xfrm>
              <a:off x="714375" y="3284419"/>
              <a:ext cx="7940422" cy="32021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</p:pic>
        <p:cxnSp>
          <p:nvCxnSpPr>
            <p:cNvPr id="14" name="Straight Connector 13"/>
            <p:cNvCxnSpPr/>
            <p:nvPr/>
          </p:nvCxnSpPr>
          <p:spPr bwMode="auto">
            <a:xfrm>
              <a:off x="3790950" y="2695575"/>
              <a:ext cx="4791075" cy="55245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/>
            <p:cNvCxnSpPr/>
            <p:nvPr/>
          </p:nvCxnSpPr>
          <p:spPr bwMode="auto">
            <a:xfrm>
              <a:off x="514350" y="3762375"/>
              <a:ext cx="171450" cy="27051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Rounded Rectangular Callout 10"/>
            <p:cNvSpPr/>
            <p:nvPr/>
          </p:nvSpPr>
          <p:spPr bwMode="auto">
            <a:xfrm>
              <a:off x="5619749" y="3676650"/>
              <a:ext cx="3019425" cy="476249"/>
            </a:xfrm>
            <a:prstGeom prst="wedgeRoundRectCallout">
              <a:avLst>
                <a:gd name="adj1" fmla="val -40370"/>
                <a:gd name="adj2" fmla="val 125048"/>
                <a:gd name="adj3" fmla="val 16667"/>
              </a:avLst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GB" sz="1400" dirty="0"/>
                <a:t>Output voltage ~ 0.19mV = </a:t>
              </a:r>
            </a:p>
          </p:txBody>
        </p:sp>
      </p:grp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8096250" y="3698875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5" imgW="495000" imgH="393480" progId="">
                  <p:embed/>
                </p:oleObj>
              </mc:Choice>
              <mc:Fallback>
                <p:oleObj name="Equation" r:id="rId5" imgW="495000" imgH="393480" progId="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0" y="3698875"/>
                        <a:ext cx="4953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/>
          <p:cNvSpPr/>
          <p:nvPr/>
        </p:nvSpPr>
        <p:spPr>
          <a:xfrm>
            <a:off x="5334000" y="708452"/>
            <a:ext cx="3448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http://www.shure.com/idc/groups/public/documents/webcontent/us_pro_sm58_specsheet.pdf</a:t>
            </a:r>
          </a:p>
        </p:txBody>
      </p:sp>
    </p:spTree>
    <p:extLst>
      <p:ext uri="{BB962C8B-B14F-4D97-AF65-F5344CB8AC3E}">
        <p14:creationId xmlns:p14="http://schemas.microsoft.com/office/powerpoint/2010/main" val="1534655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288" y="331788"/>
            <a:ext cx="4100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/>
              <a:t>Shure</a:t>
            </a:r>
            <a:r>
              <a:rPr lang="en-GB" sz="2400" b="1" dirty="0"/>
              <a:t> SM58 Specifications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828675"/>
            <a:ext cx="4992545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1" y="3439027"/>
            <a:ext cx="4495800" cy="3076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334000" y="708452"/>
            <a:ext cx="3448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http://www.shure.com/idc/groups/public/documents/webcontent/us_pro_sm58_specsheet.pdf</a:t>
            </a:r>
          </a:p>
        </p:txBody>
      </p:sp>
    </p:spTree>
    <p:extLst>
      <p:ext uri="{BB962C8B-B14F-4D97-AF65-F5344CB8AC3E}">
        <p14:creationId xmlns:p14="http://schemas.microsoft.com/office/powerpoint/2010/main" val="2777955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/>
          <p:cNvSpPr/>
          <p:nvPr/>
        </p:nvSpPr>
        <p:spPr bwMode="auto">
          <a:xfrm>
            <a:off x="3373821" y="5139559"/>
            <a:ext cx="5092262" cy="11981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95288" y="331788"/>
            <a:ext cx="345598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/>
              <a:t>Dynamic Microphones</a:t>
            </a:r>
            <a:endParaRPr lang="en-GB" sz="3600"/>
          </a:p>
        </p:txBody>
      </p:sp>
      <p:sp>
        <p:nvSpPr>
          <p:cNvPr id="40" name="Text Box 42"/>
          <p:cNvSpPr txBox="1">
            <a:spLocks noChangeArrowheads="1"/>
          </p:cNvSpPr>
          <p:nvPr/>
        </p:nvSpPr>
        <p:spPr bwMode="auto">
          <a:xfrm>
            <a:off x="785813" y="2952750"/>
            <a:ext cx="1041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/>
              <a:t>sound in</a:t>
            </a:r>
          </a:p>
        </p:txBody>
      </p:sp>
      <p:grpSp>
        <p:nvGrpSpPr>
          <p:cNvPr id="5" name="Group 38"/>
          <p:cNvGrpSpPr>
            <a:grpSpLocks/>
          </p:cNvGrpSpPr>
          <p:nvPr/>
        </p:nvGrpSpPr>
        <p:grpSpPr bwMode="auto">
          <a:xfrm flipH="1">
            <a:off x="2279651" y="1058334"/>
            <a:ext cx="2376487" cy="4470400"/>
            <a:chOff x="542" y="572"/>
            <a:chExt cx="1910" cy="3451"/>
          </a:xfrm>
        </p:grpSpPr>
        <p:grpSp>
          <p:nvGrpSpPr>
            <p:cNvPr id="6" name="Group 35"/>
            <p:cNvGrpSpPr>
              <a:grpSpLocks/>
            </p:cNvGrpSpPr>
            <p:nvPr/>
          </p:nvGrpSpPr>
          <p:grpSpPr bwMode="auto">
            <a:xfrm>
              <a:off x="975" y="572"/>
              <a:ext cx="1477" cy="3451"/>
              <a:chOff x="385" y="577"/>
              <a:chExt cx="1477" cy="3451"/>
            </a:xfrm>
          </p:grpSpPr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927" y="1539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385" y="1540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385" y="1546"/>
                <a:ext cx="364" cy="1493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385" y="1556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393" y="2821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393" y="2169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934" y="2721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934" y="2089"/>
                <a:ext cx="198" cy="382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>
                <a:off x="931" y="2054"/>
                <a:ext cx="235" cy="0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Oval 14"/>
              <p:cNvSpPr>
                <a:spLocks noChangeArrowheads="1"/>
              </p:cNvSpPr>
              <p:nvPr/>
            </p:nvSpPr>
            <p:spPr bwMode="auto">
              <a:xfrm>
                <a:off x="91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Oval 15"/>
              <p:cNvSpPr>
                <a:spLocks noChangeArrowheads="1"/>
              </p:cNvSpPr>
              <p:nvPr/>
            </p:nvSpPr>
            <p:spPr bwMode="auto">
              <a:xfrm>
                <a:off x="969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Oval 16"/>
              <p:cNvSpPr>
                <a:spLocks noChangeArrowheads="1"/>
              </p:cNvSpPr>
              <p:nvPr/>
            </p:nvSpPr>
            <p:spPr bwMode="auto">
              <a:xfrm>
                <a:off x="1031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Oval 17"/>
              <p:cNvSpPr>
                <a:spLocks noChangeArrowheads="1"/>
              </p:cNvSpPr>
              <p:nvPr/>
            </p:nvSpPr>
            <p:spPr bwMode="auto">
              <a:xfrm>
                <a:off x="109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>
                <a:off x="936" y="2500"/>
                <a:ext cx="230" cy="6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Oval 19"/>
              <p:cNvSpPr>
                <a:spLocks noChangeArrowheads="1"/>
              </p:cNvSpPr>
              <p:nvPr/>
            </p:nvSpPr>
            <p:spPr bwMode="auto">
              <a:xfrm>
                <a:off x="91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Oval 20"/>
              <p:cNvSpPr>
                <a:spLocks noChangeArrowheads="1"/>
              </p:cNvSpPr>
              <p:nvPr/>
            </p:nvSpPr>
            <p:spPr bwMode="auto">
              <a:xfrm>
                <a:off x="974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Oval 21"/>
              <p:cNvSpPr>
                <a:spLocks noChangeArrowheads="1"/>
              </p:cNvSpPr>
              <p:nvPr/>
            </p:nvSpPr>
            <p:spPr bwMode="auto">
              <a:xfrm>
                <a:off x="1036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Oval 22"/>
              <p:cNvSpPr>
                <a:spLocks noChangeArrowheads="1"/>
              </p:cNvSpPr>
              <p:nvPr/>
            </p:nvSpPr>
            <p:spPr bwMode="auto">
              <a:xfrm>
                <a:off x="109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 rot="-3169744">
                <a:off x="674" y="1188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 rot="3169744" flipV="1">
                <a:off x="674" y="3312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1689" y="684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1690" y="3695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27"/>
              <p:cNvSpPr>
                <a:spLocks noChangeShapeType="1"/>
              </p:cNvSpPr>
              <p:nvPr/>
            </p:nvSpPr>
            <p:spPr bwMode="auto">
              <a:xfrm flipV="1">
                <a:off x="1167" y="1076"/>
                <a:ext cx="663" cy="972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28"/>
              <p:cNvSpPr>
                <a:spLocks noChangeShapeType="1"/>
              </p:cNvSpPr>
              <p:nvPr/>
            </p:nvSpPr>
            <p:spPr bwMode="auto">
              <a:xfrm>
                <a:off x="1154" y="2500"/>
                <a:ext cx="688" cy="997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29"/>
              <p:cNvSpPr>
                <a:spLocks/>
              </p:cNvSpPr>
              <p:nvPr/>
            </p:nvSpPr>
            <p:spPr bwMode="auto">
              <a:xfrm>
                <a:off x="1791" y="908"/>
                <a:ext cx="71" cy="174"/>
              </a:xfrm>
              <a:custGeom>
                <a:avLst/>
                <a:gdLst>
                  <a:gd name="T0" fmla="*/ 38 w 102"/>
                  <a:gd name="T1" fmla="*/ 0 h 310"/>
                  <a:gd name="T2" fmla="*/ 7 w 102"/>
                  <a:gd name="T3" fmla="*/ 99 h 310"/>
                  <a:gd name="T4" fmla="*/ 82 w 102"/>
                  <a:gd name="T5" fmla="*/ 143 h 310"/>
                  <a:gd name="T6" fmla="*/ 7 w 102"/>
                  <a:gd name="T7" fmla="*/ 205 h 310"/>
                  <a:gd name="T8" fmla="*/ 94 w 102"/>
                  <a:gd name="T9" fmla="*/ 260 h 310"/>
                  <a:gd name="T10" fmla="*/ 57 w 102"/>
                  <a:gd name="T11" fmla="*/ 310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0"/>
              <p:cNvSpPr>
                <a:spLocks/>
              </p:cNvSpPr>
              <p:nvPr/>
            </p:nvSpPr>
            <p:spPr bwMode="auto">
              <a:xfrm flipV="1">
                <a:off x="1785" y="3478"/>
                <a:ext cx="71" cy="205"/>
              </a:xfrm>
              <a:custGeom>
                <a:avLst/>
                <a:gdLst>
                  <a:gd name="T0" fmla="*/ 38 w 102"/>
                  <a:gd name="T1" fmla="*/ 0 h 310"/>
                  <a:gd name="T2" fmla="*/ 7 w 102"/>
                  <a:gd name="T3" fmla="*/ 99 h 310"/>
                  <a:gd name="T4" fmla="*/ 82 w 102"/>
                  <a:gd name="T5" fmla="*/ 143 h 310"/>
                  <a:gd name="T6" fmla="*/ 7 w 102"/>
                  <a:gd name="T7" fmla="*/ 205 h 310"/>
                  <a:gd name="T8" fmla="*/ 94 w 102"/>
                  <a:gd name="T9" fmla="*/ 260 h 310"/>
                  <a:gd name="T10" fmla="*/ 57 w 102"/>
                  <a:gd name="T11" fmla="*/ 310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1"/>
              <p:cNvSpPr>
                <a:spLocks/>
              </p:cNvSpPr>
              <p:nvPr/>
            </p:nvSpPr>
            <p:spPr bwMode="auto">
              <a:xfrm>
                <a:off x="1154" y="2054"/>
                <a:ext cx="75" cy="434"/>
              </a:xfrm>
              <a:custGeom>
                <a:avLst/>
                <a:gdLst>
                  <a:gd name="T0" fmla="*/ 7 w 131"/>
                  <a:gd name="T1" fmla="*/ 0 h 434"/>
                  <a:gd name="T2" fmla="*/ 130 w 131"/>
                  <a:gd name="T3" fmla="*/ 236 h 434"/>
                  <a:gd name="T4" fmla="*/ 0 w 131"/>
                  <a:gd name="T5" fmla="*/ 434 h 434"/>
                  <a:gd name="T6" fmla="*/ 0 60000 65536"/>
                  <a:gd name="T7" fmla="*/ 0 60000 65536"/>
                  <a:gd name="T8" fmla="*/ 0 60000 65536"/>
                  <a:gd name="T9" fmla="*/ 0 w 131"/>
                  <a:gd name="T10" fmla="*/ 0 h 434"/>
                  <a:gd name="T11" fmla="*/ 131 w 131"/>
                  <a:gd name="T12" fmla="*/ 434 h 4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1" h="434">
                    <a:moveTo>
                      <a:pt x="7" y="0"/>
                    </a:moveTo>
                    <a:cubicBezTo>
                      <a:pt x="69" y="82"/>
                      <a:pt x="131" y="164"/>
                      <a:pt x="130" y="236"/>
                    </a:cubicBezTo>
                    <a:cubicBezTo>
                      <a:pt x="129" y="308"/>
                      <a:pt x="64" y="371"/>
                      <a:pt x="0" y="43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 Box 33"/>
              <p:cNvSpPr txBox="1">
                <a:spLocks noChangeArrowheads="1"/>
              </p:cNvSpPr>
              <p:nvPr/>
            </p:nvSpPr>
            <p:spPr bwMode="auto">
              <a:xfrm>
                <a:off x="385" y="3023"/>
                <a:ext cx="148" cy="2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GB" dirty="0"/>
              </a:p>
            </p:txBody>
          </p:sp>
        </p:grpSp>
        <p:sp>
          <p:nvSpPr>
            <p:cNvPr id="7" name="Freeform 36"/>
            <p:cNvSpPr>
              <a:spLocks/>
            </p:cNvSpPr>
            <p:nvPr/>
          </p:nvSpPr>
          <p:spPr bwMode="auto">
            <a:xfrm>
              <a:off x="542" y="1961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37"/>
            <p:cNvSpPr>
              <a:spLocks/>
            </p:cNvSpPr>
            <p:nvPr/>
          </p:nvSpPr>
          <p:spPr bwMode="auto">
            <a:xfrm>
              <a:off x="567" y="2478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Freeform 39"/>
          <p:cNvSpPr>
            <a:spLocks/>
          </p:cNvSpPr>
          <p:nvPr/>
        </p:nvSpPr>
        <p:spPr bwMode="auto">
          <a:xfrm flipH="1">
            <a:off x="2136776" y="2209271"/>
            <a:ext cx="287337" cy="2305050"/>
          </a:xfrm>
          <a:custGeom>
            <a:avLst/>
            <a:gdLst>
              <a:gd name="T0" fmla="*/ 181 w 181"/>
              <a:gd name="T1" fmla="*/ 0 h 1452"/>
              <a:gd name="T2" fmla="*/ 45 w 181"/>
              <a:gd name="T3" fmla="*/ 363 h 1452"/>
              <a:gd name="T4" fmla="*/ 0 w 181"/>
              <a:gd name="T5" fmla="*/ 681 h 1452"/>
              <a:gd name="T6" fmla="*/ 45 w 181"/>
              <a:gd name="T7" fmla="*/ 1089 h 1452"/>
              <a:gd name="T8" fmla="*/ 181 w 181"/>
              <a:gd name="T9" fmla="*/ 1452 h 14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1"/>
              <a:gd name="T16" fmla="*/ 0 h 1452"/>
              <a:gd name="T17" fmla="*/ 181 w 181"/>
              <a:gd name="T18" fmla="*/ 1452 h 14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1" h="1452">
                <a:moveTo>
                  <a:pt x="181" y="0"/>
                </a:moveTo>
                <a:cubicBezTo>
                  <a:pt x="128" y="125"/>
                  <a:pt x="75" y="250"/>
                  <a:pt x="45" y="363"/>
                </a:cubicBezTo>
                <a:cubicBezTo>
                  <a:pt x="15" y="476"/>
                  <a:pt x="0" y="560"/>
                  <a:pt x="0" y="681"/>
                </a:cubicBezTo>
                <a:cubicBezTo>
                  <a:pt x="0" y="802"/>
                  <a:pt x="15" y="961"/>
                  <a:pt x="45" y="1089"/>
                </a:cubicBezTo>
                <a:cubicBezTo>
                  <a:pt x="75" y="1217"/>
                  <a:pt x="158" y="1392"/>
                  <a:pt x="181" y="1452"/>
                </a:cubicBezTo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 40"/>
          <p:cNvSpPr>
            <a:spLocks/>
          </p:cNvSpPr>
          <p:nvPr/>
        </p:nvSpPr>
        <p:spPr bwMode="auto">
          <a:xfrm flipH="1">
            <a:off x="1920876" y="2209271"/>
            <a:ext cx="287337" cy="2305050"/>
          </a:xfrm>
          <a:custGeom>
            <a:avLst/>
            <a:gdLst>
              <a:gd name="T0" fmla="*/ 181 w 181"/>
              <a:gd name="T1" fmla="*/ 0 h 1452"/>
              <a:gd name="T2" fmla="*/ 45 w 181"/>
              <a:gd name="T3" fmla="*/ 363 h 1452"/>
              <a:gd name="T4" fmla="*/ 0 w 181"/>
              <a:gd name="T5" fmla="*/ 681 h 1452"/>
              <a:gd name="T6" fmla="*/ 45 w 181"/>
              <a:gd name="T7" fmla="*/ 1089 h 1452"/>
              <a:gd name="T8" fmla="*/ 181 w 181"/>
              <a:gd name="T9" fmla="*/ 1452 h 14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1"/>
              <a:gd name="T16" fmla="*/ 0 h 1452"/>
              <a:gd name="T17" fmla="*/ 181 w 181"/>
              <a:gd name="T18" fmla="*/ 1452 h 14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1" h="1452">
                <a:moveTo>
                  <a:pt x="181" y="0"/>
                </a:moveTo>
                <a:cubicBezTo>
                  <a:pt x="128" y="125"/>
                  <a:pt x="75" y="250"/>
                  <a:pt x="45" y="363"/>
                </a:cubicBezTo>
                <a:cubicBezTo>
                  <a:pt x="15" y="476"/>
                  <a:pt x="0" y="560"/>
                  <a:pt x="0" y="681"/>
                </a:cubicBezTo>
                <a:cubicBezTo>
                  <a:pt x="0" y="802"/>
                  <a:pt x="15" y="961"/>
                  <a:pt x="45" y="1089"/>
                </a:cubicBezTo>
                <a:cubicBezTo>
                  <a:pt x="75" y="1217"/>
                  <a:pt x="158" y="1392"/>
                  <a:pt x="181" y="1452"/>
                </a:cubicBezTo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" name="Freeform 41"/>
          <p:cNvSpPr>
            <a:spLocks/>
          </p:cNvSpPr>
          <p:nvPr/>
        </p:nvSpPr>
        <p:spPr bwMode="auto">
          <a:xfrm flipH="1">
            <a:off x="1704976" y="2209271"/>
            <a:ext cx="287337" cy="2305050"/>
          </a:xfrm>
          <a:custGeom>
            <a:avLst/>
            <a:gdLst>
              <a:gd name="T0" fmla="*/ 181 w 181"/>
              <a:gd name="T1" fmla="*/ 0 h 1452"/>
              <a:gd name="T2" fmla="*/ 45 w 181"/>
              <a:gd name="T3" fmla="*/ 363 h 1452"/>
              <a:gd name="T4" fmla="*/ 0 w 181"/>
              <a:gd name="T5" fmla="*/ 681 h 1452"/>
              <a:gd name="T6" fmla="*/ 45 w 181"/>
              <a:gd name="T7" fmla="*/ 1089 h 1452"/>
              <a:gd name="T8" fmla="*/ 181 w 181"/>
              <a:gd name="T9" fmla="*/ 1452 h 14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1"/>
              <a:gd name="T16" fmla="*/ 0 h 1452"/>
              <a:gd name="T17" fmla="*/ 181 w 181"/>
              <a:gd name="T18" fmla="*/ 1452 h 14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1" h="1452">
                <a:moveTo>
                  <a:pt x="181" y="0"/>
                </a:moveTo>
                <a:cubicBezTo>
                  <a:pt x="128" y="125"/>
                  <a:pt x="75" y="250"/>
                  <a:pt x="45" y="363"/>
                </a:cubicBezTo>
                <a:cubicBezTo>
                  <a:pt x="15" y="476"/>
                  <a:pt x="0" y="560"/>
                  <a:pt x="0" y="681"/>
                </a:cubicBezTo>
                <a:cubicBezTo>
                  <a:pt x="0" y="802"/>
                  <a:pt x="15" y="961"/>
                  <a:pt x="45" y="1089"/>
                </a:cubicBezTo>
                <a:cubicBezTo>
                  <a:pt x="75" y="1217"/>
                  <a:pt x="158" y="1392"/>
                  <a:pt x="181" y="1452"/>
                </a:cubicBezTo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>
            <a:off x="766763" y="3361796"/>
            <a:ext cx="1081088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5" name="Rectangle 47"/>
          <p:cNvSpPr>
            <a:spLocks noChangeArrowheads="1"/>
          </p:cNvSpPr>
          <p:nvPr/>
        </p:nvSpPr>
        <p:spPr bwMode="auto">
          <a:xfrm>
            <a:off x="4628620" y="3042179"/>
            <a:ext cx="120067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dirty="0"/>
              <a:t>signal out</a:t>
            </a:r>
          </a:p>
        </p:txBody>
      </p:sp>
      <p:sp>
        <p:nvSpPr>
          <p:cNvPr id="50" name="Freeform 36"/>
          <p:cNvSpPr>
            <a:spLocks/>
          </p:cNvSpPr>
          <p:nvPr/>
        </p:nvSpPr>
        <p:spPr bwMode="auto">
          <a:xfrm flipH="1">
            <a:off x="4608361" y="2886075"/>
            <a:ext cx="2544913" cy="171450"/>
          </a:xfrm>
          <a:custGeom>
            <a:avLst/>
            <a:gdLst>
              <a:gd name="T0" fmla="*/ 0 w 980"/>
              <a:gd name="T1" fmla="*/ 76 h 82"/>
              <a:gd name="T2" fmla="*/ 96 w 980"/>
              <a:gd name="T3" fmla="*/ 34 h 82"/>
              <a:gd name="T4" fmla="*/ 219 w 980"/>
              <a:gd name="T5" fmla="*/ 0 h 82"/>
              <a:gd name="T6" fmla="*/ 795 w 980"/>
              <a:gd name="T7" fmla="*/ 62 h 82"/>
              <a:gd name="T8" fmla="*/ 980 w 980"/>
              <a:gd name="T9" fmla="*/ 34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80"/>
              <a:gd name="T16" fmla="*/ 0 h 82"/>
              <a:gd name="T17" fmla="*/ 980 w 980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80" h="82">
                <a:moveTo>
                  <a:pt x="0" y="76"/>
                </a:moveTo>
                <a:cubicBezTo>
                  <a:pt x="36" y="67"/>
                  <a:pt x="64" y="50"/>
                  <a:pt x="96" y="34"/>
                </a:cubicBezTo>
                <a:cubicBezTo>
                  <a:pt x="133" y="16"/>
                  <a:pt x="178" y="7"/>
                  <a:pt x="219" y="0"/>
                </a:cubicBezTo>
                <a:cubicBezTo>
                  <a:pt x="433" y="8"/>
                  <a:pt x="569" y="82"/>
                  <a:pt x="795" y="62"/>
                </a:cubicBezTo>
                <a:cubicBezTo>
                  <a:pt x="843" y="64"/>
                  <a:pt x="980" y="34"/>
                  <a:pt x="98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36"/>
          <p:cNvSpPr>
            <a:spLocks/>
          </p:cNvSpPr>
          <p:nvPr/>
        </p:nvSpPr>
        <p:spPr bwMode="auto">
          <a:xfrm flipH="1">
            <a:off x="4579786" y="3552825"/>
            <a:ext cx="2544913" cy="171450"/>
          </a:xfrm>
          <a:custGeom>
            <a:avLst/>
            <a:gdLst>
              <a:gd name="T0" fmla="*/ 0 w 980"/>
              <a:gd name="T1" fmla="*/ 76 h 82"/>
              <a:gd name="T2" fmla="*/ 96 w 980"/>
              <a:gd name="T3" fmla="*/ 34 h 82"/>
              <a:gd name="T4" fmla="*/ 219 w 980"/>
              <a:gd name="T5" fmla="*/ 0 h 82"/>
              <a:gd name="T6" fmla="*/ 795 w 980"/>
              <a:gd name="T7" fmla="*/ 62 h 82"/>
              <a:gd name="T8" fmla="*/ 980 w 980"/>
              <a:gd name="T9" fmla="*/ 34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80"/>
              <a:gd name="T16" fmla="*/ 0 h 82"/>
              <a:gd name="T17" fmla="*/ 980 w 980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80" h="82">
                <a:moveTo>
                  <a:pt x="0" y="76"/>
                </a:moveTo>
                <a:cubicBezTo>
                  <a:pt x="36" y="67"/>
                  <a:pt x="64" y="50"/>
                  <a:pt x="96" y="34"/>
                </a:cubicBezTo>
                <a:cubicBezTo>
                  <a:pt x="133" y="16"/>
                  <a:pt x="178" y="7"/>
                  <a:pt x="219" y="0"/>
                </a:cubicBezTo>
                <a:cubicBezTo>
                  <a:pt x="433" y="8"/>
                  <a:pt x="569" y="82"/>
                  <a:pt x="795" y="62"/>
                </a:cubicBezTo>
                <a:cubicBezTo>
                  <a:pt x="843" y="64"/>
                  <a:pt x="980" y="34"/>
                  <a:pt x="98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/>
          <p:cNvSpPr/>
          <p:nvPr/>
        </p:nvSpPr>
        <p:spPr bwMode="auto">
          <a:xfrm>
            <a:off x="7153275" y="2209800"/>
            <a:ext cx="1638300" cy="2428875"/>
          </a:xfrm>
          <a:prstGeom prst="rect">
            <a:avLst/>
          </a:prstGeom>
          <a:solidFill>
            <a:srgbClr val="FFCC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200900" y="2914650"/>
            <a:ext cx="1466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 Stage:</a:t>
            </a:r>
          </a:p>
          <a:p>
            <a:r>
              <a:rPr lang="en-GB" dirty="0"/>
              <a:t>Preamplifier, Mixer, etc</a:t>
            </a:r>
          </a:p>
        </p:txBody>
      </p:sp>
      <p:cxnSp>
        <p:nvCxnSpPr>
          <p:cNvPr id="57" name="Straight Arrow Connector 56"/>
          <p:cNvCxnSpPr/>
          <p:nvPr/>
        </p:nvCxnSpPr>
        <p:spPr bwMode="auto">
          <a:xfrm flipH="1">
            <a:off x="4676775" y="4057650"/>
            <a:ext cx="2018248" cy="190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4638675" y="4152900"/>
            <a:ext cx="2282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cable: several metres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4506912" y="2419350"/>
            <a:ext cx="1760537" cy="380471"/>
            <a:chOff x="5840412" y="704850"/>
            <a:chExt cx="1760537" cy="380471"/>
          </a:xfrm>
        </p:grpSpPr>
        <p:sp>
          <p:nvSpPr>
            <p:cNvPr id="44" name="Freeform 46"/>
            <p:cNvSpPr>
              <a:spLocks/>
            </p:cNvSpPr>
            <p:nvPr/>
          </p:nvSpPr>
          <p:spPr bwMode="auto">
            <a:xfrm flipH="1">
              <a:off x="5840412" y="723900"/>
              <a:ext cx="884237" cy="361421"/>
            </a:xfrm>
            <a:custGeom>
              <a:avLst/>
              <a:gdLst>
                <a:gd name="T0" fmla="*/ 0 w 2449"/>
                <a:gd name="T1" fmla="*/ 363 h 726"/>
                <a:gd name="T2" fmla="*/ 408 w 2449"/>
                <a:gd name="T3" fmla="*/ 0 h 726"/>
                <a:gd name="T4" fmla="*/ 816 w 2449"/>
                <a:gd name="T5" fmla="*/ 363 h 726"/>
                <a:gd name="T6" fmla="*/ 1224 w 2449"/>
                <a:gd name="T7" fmla="*/ 726 h 726"/>
                <a:gd name="T8" fmla="*/ 1633 w 2449"/>
                <a:gd name="T9" fmla="*/ 363 h 726"/>
                <a:gd name="T10" fmla="*/ 2041 w 2449"/>
                <a:gd name="T11" fmla="*/ 0 h 726"/>
                <a:gd name="T12" fmla="*/ 2449 w 2449"/>
                <a:gd name="T13" fmla="*/ 363 h 7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49"/>
                <a:gd name="T22" fmla="*/ 0 h 726"/>
                <a:gd name="T23" fmla="*/ 2449 w 2449"/>
                <a:gd name="T24" fmla="*/ 726 h 7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49" h="726">
                  <a:moveTo>
                    <a:pt x="0" y="363"/>
                  </a:moveTo>
                  <a:cubicBezTo>
                    <a:pt x="136" y="181"/>
                    <a:pt x="272" y="0"/>
                    <a:pt x="408" y="0"/>
                  </a:cubicBezTo>
                  <a:cubicBezTo>
                    <a:pt x="544" y="0"/>
                    <a:pt x="680" y="242"/>
                    <a:pt x="816" y="363"/>
                  </a:cubicBezTo>
                  <a:cubicBezTo>
                    <a:pt x="952" y="484"/>
                    <a:pt x="1088" y="726"/>
                    <a:pt x="1224" y="726"/>
                  </a:cubicBezTo>
                  <a:cubicBezTo>
                    <a:pt x="1360" y="726"/>
                    <a:pt x="1497" y="484"/>
                    <a:pt x="1633" y="363"/>
                  </a:cubicBezTo>
                  <a:cubicBezTo>
                    <a:pt x="1769" y="242"/>
                    <a:pt x="1905" y="0"/>
                    <a:pt x="2041" y="0"/>
                  </a:cubicBezTo>
                  <a:cubicBezTo>
                    <a:pt x="2177" y="0"/>
                    <a:pt x="2313" y="181"/>
                    <a:pt x="2449" y="363"/>
                  </a:cubicBezTo>
                </a:path>
              </a:pathLst>
            </a:custGeom>
            <a:noFill/>
            <a:ln w="38100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46"/>
            <p:cNvSpPr>
              <a:spLocks/>
            </p:cNvSpPr>
            <p:nvPr/>
          </p:nvSpPr>
          <p:spPr bwMode="auto">
            <a:xfrm flipH="1" flipV="1">
              <a:off x="6716712" y="704850"/>
              <a:ext cx="884237" cy="361421"/>
            </a:xfrm>
            <a:custGeom>
              <a:avLst/>
              <a:gdLst>
                <a:gd name="T0" fmla="*/ 0 w 2449"/>
                <a:gd name="T1" fmla="*/ 363 h 726"/>
                <a:gd name="T2" fmla="*/ 408 w 2449"/>
                <a:gd name="T3" fmla="*/ 0 h 726"/>
                <a:gd name="T4" fmla="*/ 816 w 2449"/>
                <a:gd name="T5" fmla="*/ 363 h 726"/>
                <a:gd name="T6" fmla="*/ 1224 w 2449"/>
                <a:gd name="T7" fmla="*/ 726 h 726"/>
                <a:gd name="T8" fmla="*/ 1633 w 2449"/>
                <a:gd name="T9" fmla="*/ 363 h 726"/>
                <a:gd name="T10" fmla="*/ 2041 w 2449"/>
                <a:gd name="T11" fmla="*/ 0 h 726"/>
                <a:gd name="T12" fmla="*/ 2449 w 2449"/>
                <a:gd name="T13" fmla="*/ 363 h 7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49"/>
                <a:gd name="T22" fmla="*/ 0 h 726"/>
                <a:gd name="T23" fmla="*/ 2449 w 2449"/>
                <a:gd name="T24" fmla="*/ 726 h 7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49" h="726">
                  <a:moveTo>
                    <a:pt x="0" y="363"/>
                  </a:moveTo>
                  <a:cubicBezTo>
                    <a:pt x="136" y="181"/>
                    <a:pt x="272" y="0"/>
                    <a:pt x="408" y="0"/>
                  </a:cubicBezTo>
                  <a:cubicBezTo>
                    <a:pt x="544" y="0"/>
                    <a:pt x="680" y="242"/>
                    <a:pt x="816" y="363"/>
                  </a:cubicBezTo>
                  <a:cubicBezTo>
                    <a:pt x="952" y="484"/>
                    <a:pt x="1088" y="726"/>
                    <a:pt x="1224" y="726"/>
                  </a:cubicBezTo>
                  <a:cubicBezTo>
                    <a:pt x="1360" y="726"/>
                    <a:pt x="1497" y="484"/>
                    <a:pt x="1633" y="363"/>
                  </a:cubicBezTo>
                  <a:cubicBezTo>
                    <a:pt x="1769" y="242"/>
                    <a:pt x="1905" y="0"/>
                    <a:pt x="2041" y="0"/>
                  </a:cubicBezTo>
                  <a:cubicBezTo>
                    <a:pt x="2177" y="0"/>
                    <a:pt x="2313" y="181"/>
                    <a:pt x="2449" y="363"/>
                  </a:cubicBezTo>
                </a:path>
              </a:pathLst>
            </a:custGeom>
            <a:noFill/>
            <a:ln w="38100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52" name="Straight Connector 51"/>
          <p:cNvCxnSpPr/>
          <p:nvPr/>
        </p:nvCxnSpPr>
        <p:spPr bwMode="auto">
          <a:xfrm>
            <a:off x="4352433" y="5990897"/>
            <a:ext cx="1733056" cy="1576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6" name="Group 55"/>
          <p:cNvGrpSpPr/>
          <p:nvPr/>
        </p:nvGrpSpPr>
        <p:grpSpPr>
          <a:xfrm>
            <a:off x="4336446" y="5502003"/>
            <a:ext cx="1760537" cy="380471"/>
            <a:chOff x="5840412" y="704850"/>
            <a:chExt cx="1760537" cy="380471"/>
          </a:xfrm>
        </p:grpSpPr>
        <p:sp>
          <p:nvSpPr>
            <p:cNvPr id="59" name="Freeform 46"/>
            <p:cNvSpPr>
              <a:spLocks/>
            </p:cNvSpPr>
            <p:nvPr/>
          </p:nvSpPr>
          <p:spPr bwMode="auto">
            <a:xfrm flipH="1">
              <a:off x="5840412" y="723900"/>
              <a:ext cx="884237" cy="361421"/>
            </a:xfrm>
            <a:custGeom>
              <a:avLst/>
              <a:gdLst>
                <a:gd name="T0" fmla="*/ 0 w 2449"/>
                <a:gd name="T1" fmla="*/ 363 h 726"/>
                <a:gd name="T2" fmla="*/ 408 w 2449"/>
                <a:gd name="T3" fmla="*/ 0 h 726"/>
                <a:gd name="T4" fmla="*/ 816 w 2449"/>
                <a:gd name="T5" fmla="*/ 363 h 726"/>
                <a:gd name="T6" fmla="*/ 1224 w 2449"/>
                <a:gd name="T7" fmla="*/ 726 h 726"/>
                <a:gd name="T8" fmla="*/ 1633 w 2449"/>
                <a:gd name="T9" fmla="*/ 363 h 726"/>
                <a:gd name="T10" fmla="*/ 2041 w 2449"/>
                <a:gd name="T11" fmla="*/ 0 h 726"/>
                <a:gd name="T12" fmla="*/ 2449 w 2449"/>
                <a:gd name="T13" fmla="*/ 363 h 7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49"/>
                <a:gd name="T22" fmla="*/ 0 h 726"/>
                <a:gd name="T23" fmla="*/ 2449 w 2449"/>
                <a:gd name="T24" fmla="*/ 726 h 7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49" h="726">
                  <a:moveTo>
                    <a:pt x="0" y="363"/>
                  </a:moveTo>
                  <a:cubicBezTo>
                    <a:pt x="136" y="181"/>
                    <a:pt x="272" y="0"/>
                    <a:pt x="408" y="0"/>
                  </a:cubicBezTo>
                  <a:cubicBezTo>
                    <a:pt x="544" y="0"/>
                    <a:pt x="680" y="242"/>
                    <a:pt x="816" y="363"/>
                  </a:cubicBezTo>
                  <a:cubicBezTo>
                    <a:pt x="952" y="484"/>
                    <a:pt x="1088" y="726"/>
                    <a:pt x="1224" y="726"/>
                  </a:cubicBezTo>
                  <a:cubicBezTo>
                    <a:pt x="1360" y="726"/>
                    <a:pt x="1497" y="484"/>
                    <a:pt x="1633" y="363"/>
                  </a:cubicBezTo>
                  <a:cubicBezTo>
                    <a:pt x="1769" y="242"/>
                    <a:pt x="1905" y="0"/>
                    <a:pt x="2041" y="0"/>
                  </a:cubicBezTo>
                  <a:cubicBezTo>
                    <a:pt x="2177" y="0"/>
                    <a:pt x="2313" y="181"/>
                    <a:pt x="2449" y="363"/>
                  </a:cubicBezTo>
                </a:path>
              </a:pathLst>
            </a:custGeom>
            <a:noFill/>
            <a:ln w="38100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46"/>
            <p:cNvSpPr>
              <a:spLocks/>
            </p:cNvSpPr>
            <p:nvPr/>
          </p:nvSpPr>
          <p:spPr bwMode="auto">
            <a:xfrm flipH="1" flipV="1">
              <a:off x="6716712" y="704850"/>
              <a:ext cx="884237" cy="361421"/>
            </a:xfrm>
            <a:custGeom>
              <a:avLst/>
              <a:gdLst>
                <a:gd name="T0" fmla="*/ 0 w 2449"/>
                <a:gd name="T1" fmla="*/ 363 h 726"/>
                <a:gd name="T2" fmla="*/ 408 w 2449"/>
                <a:gd name="T3" fmla="*/ 0 h 726"/>
                <a:gd name="T4" fmla="*/ 816 w 2449"/>
                <a:gd name="T5" fmla="*/ 363 h 726"/>
                <a:gd name="T6" fmla="*/ 1224 w 2449"/>
                <a:gd name="T7" fmla="*/ 726 h 726"/>
                <a:gd name="T8" fmla="*/ 1633 w 2449"/>
                <a:gd name="T9" fmla="*/ 363 h 726"/>
                <a:gd name="T10" fmla="*/ 2041 w 2449"/>
                <a:gd name="T11" fmla="*/ 0 h 726"/>
                <a:gd name="T12" fmla="*/ 2449 w 2449"/>
                <a:gd name="T13" fmla="*/ 363 h 7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49"/>
                <a:gd name="T22" fmla="*/ 0 h 726"/>
                <a:gd name="T23" fmla="*/ 2449 w 2449"/>
                <a:gd name="T24" fmla="*/ 726 h 7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49" h="726">
                  <a:moveTo>
                    <a:pt x="0" y="363"/>
                  </a:moveTo>
                  <a:cubicBezTo>
                    <a:pt x="136" y="181"/>
                    <a:pt x="272" y="0"/>
                    <a:pt x="408" y="0"/>
                  </a:cubicBezTo>
                  <a:cubicBezTo>
                    <a:pt x="544" y="0"/>
                    <a:pt x="680" y="242"/>
                    <a:pt x="816" y="363"/>
                  </a:cubicBezTo>
                  <a:cubicBezTo>
                    <a:pt x="952" y="484"/>
                    <a:pt x="1088" y="726"/>
                    <a:pt x="1224" y="726"/>
                  </a:cubicBezTo>
                  <a:cubicBezTo>
                    <a:pt x="1360" y="726"/>
                    <a:pt x="1497" y="484"/>
                    <a:pt x="1633" y="363"/>
                  </a:cubicBezTo>
                  <a:cubicBezTo>
                    <a:pt x="1769" y="242"/>
                    <a:pt x="1905" y="0"/>
                    <a:pt x="2041" y="0"/>
                  </a:cubicBezTo>
                  <a:cubicBezTo>
                    <a:pt x="2177" y="0"/>
                    <a:pt x="2313" y="181"/>
                    <a:pt x="2449" y="363"/>
                  </a:cubicBezTo>
                </a:path>
              </a:pathLst>
            </a:custGeom>
            <a:noFill/>
            <a:ln w="38100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6416565" y="5312979"/>
            <a:ext cx="2285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Voltage difference between the two wires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31475" y="5817477"/>
            <a:ext cx="853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0 volts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6882" y="5249918"/>
            <a:ext cx="127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/>
                </a:solidFill>
              </a:rPr>
              <a:t>Signal voltage</a:t>
            </a:r>
          </a:p>
        </p:txBody>
      </p:sp>
      <p:cxnSp>
        <p:nvCxnSpPr>
          <p:cNvPr id="68" name="Straight Arrow Connector 67"/>
          <p:cNvCxnSpPr/>
          <p:nvPr/>
        </p:nvCxnSpPr>
        <p:spPr bwMode="auto">
          <a:xfrm flipV="1">
            <a:off x="6211614" y="5344510"/>
            <a:ext cx="15765" cy="6936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630137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95288" y="329556"/>
            <a:ext cx="469231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Interference Affects the Signal</a:t>
            </a:r>
            <a:endParaRPr lang="en-GB" sz="3600" dirty="0"/>
          </a:p>
        </p:txBody>
      </p:sp>
      <p:sp>
        <p:nvSpPr>
          <p:cNvPr id="5" name="Text Box 42"/>
          <p:cNvSpPr txBox="1">
            <a:spLocks noChangeArrowheads="1"/>
          </p:cNvSpPr>
          <p:nvPr/>
        </p:nvSpPr>
        <p:spPr bwMode="auto">
          <a:xfrm>
            <a:off x="785813" y="2952750"/>
            <a:ext cx="1041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/>
              <a:t>sound in</a:t>
            </a:r>
          </a:p>
        </p:txBody>
      </p:sp>
      <p:grpSp>
        <p:nvGrpSpPr>
          <p:cNvPr id="6" name="Group 38"/>
          <p:cNvGrpSpPr>
            <a:grpSpLocks/>
          </p:cNvGrpSpPr>
          <p:nvPr/>
        </p:nvGrpSpPr>
        <p:grpSpPr bwMode="auto">
          <a:xfrm flipH="1">
            <a:off x="2279651" y="1058334"/>
            <a:ext cx="2376487" cy="4470400"/>
            <a:chOff x="542" y="572"/>
            <a:chExt cx="1910" cy="3451"/>
          </a:xfrm>
        </p:grpSpPr>
        <p:grpSp>
          <p:nvGrpSpPr>
            <p:cNvPr id="7" name="Group 35"/>
            <p:cNvGrpSpPr>
              <a:grpSpLocks/>
            </p:cNvGrpSpPr>
            <p:nvPr/>
          </p:nvGrpSpPr>
          <p:grpSpPr bwMode="auto">
            <a:xfrm>
              <a:off x="975" y="572"/>
              <a:ext cx="1477" cy="3451"/>
              <a:chOff x="385" y="577"/>
              <a:chExt cx="1477" cy="3451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927" y="1539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385" y="1540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385" y="1546"/>
                <a:ext cx="364" cy="1493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85" y="1556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393" y="2821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Rectangle 10"/>
              <p:cNvSpPr>
                <a:spLocks noChangeArrowheads="1"/>
              </p:cNvSpPr>
              <p:nvPr/>
            </p:nvSpPr>
            <p:spPr bwMode="auto">
              <a:xfrm>
                <a:off x="393" y="2169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Rectangle 11"/>
              <p:cNvSpPr>
                <a:spLocks noChangeArrowheads="1"/>
              </p:cNvSpPr>
              <p:nvPr/>
            </p:nvSpPr>
            <p:spPr bwMode="auto">
              <a:xfrm>
                <a:off x="934" y="2721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934" y="2089"/>
                <a:ext cx="198" cy="382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13"/>
              <p:cNvSpPr>
                <a:spLocks noChangeShapeType="1"/>
              </p:cNvSpPr>
              <p:nvPr/>
            </p:nvSpPr>
            <p:spPr bwMode="auto">
              <a:xfrm>
                <a:off x="931" y="2054"/>
                <a:ext cx="235" cy="0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Oval 14"/>
              <p:cNvSpPr>
                <a:spLocks noChangeArrowheads="1"/>
              </p:cNvSpPr>
              <p:nvPr/>
            </p:nvSpPr>
            <p:spPr bwMode="auto">
              <a:xfrm>
                <a:off x="91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Oval 15"/>
              <p:cNvSpPr>
                <a:spLocks noChangeArrowheads="1"/>
              </p:cNvSpPr>
              <p:nvPr/>
            </p:nvSpPr>
            <p:spPr bwMode="auto">
              <a:xfrm>
                <a:off x="969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Oval 16"/>
              <p:cNvSpPr>
                <a:spLocks noChangeArrowheads="1"/>
              </p:cNvSpPr>
              <p:nvPr/>
            </p:nvSpPr>
            <p:spPr bwMode="auto">
              <a:xfrm>
                <a:off x="1031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Oval 17"/>
              <p:cNvSpPr>
                <a:spLocks noChangeArrowheads="1"/>
              </p:cNvSpPr>
              <p:nvPr/>
            </p:nvSpPr>
            <p:spPr bwMode="auto">
              <a:xfrm>
                <a:off x="109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Line 18"/>
              <p:cNvSpPr>
                <a:spLocks noChangeShapeType="1"/>
              </p:cNvSpPr>
              <p:nvPr/>
            </p:nvSpPr>
            <p:spPr bwMode="auto">
              <a:xfrm>
                <a:off x="936" y="2500"/>
                <a:ext cx="230" cy="6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Oval 19"/>
              <p:cNvSpPr>
                <a:spLocks noChangeArrowheads="1"/>
              </p:cNvSpPr>
              <p:nvPr/>
            </p:nvSpPr>
            <p:spPr bwMode="auto">
              <a:xfrm>
                <a:off x="91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Oval 20"/>
              <p:cNvSpPr>
                <a:spLocks noChangeArrowheads="1"/>
              </p:cNvSpPr>
              <p:nvPr/>
            </p:nvSpPr>
            <p:spPr bwMode="auto">
              <a:xfrm>
                <a:off x="974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Oval 21"/>
              <p:cNvSpPr>
                <a:spLocks noChangeArrowheads="1"/>
              </p:cNvSpPr>
              <p:nvPr/>
            </p:nvSpPr>
            <p:spPr bwMode="auto">
              <a:xfrm>
                <a:off x="1036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Oval 22"/>
              <p:cNvSpPr>
                <a:spLocks noChangeArrowheads="1"/>
              </p:cNvSpPr>
              <p:nvPr/>
            </p:nvSpPr>
            <p:spPr bwMode="auto">
              <a:xfrm>
                <a:off x="109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Rectangle 23"/>
              <p:cNvSpPr>
                <a:spLocks noChangeArrowheads="1"/>
              </p:cNvSpPr>
              <p:nvPr/>
            </p:nvSpPr>
            <p:spPr bwMode="auto">
              <a:xfrm rot="-3169744">
                <a:off x="674" y="1188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Rectangle 24"/>
              <p:cNvSpPr>
                <a:spLocks noChangeArrowheads="1"/>
              </p:cNvSpPr>
              <p:nvPr/>
            </p:nvSpPr>
            <p:spPr bwMode="auto">
              <a:xfrm rot="3169744" flipV="1">
                <a:off x="674" y="3312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Rectangle 25"/>
              <p:cNvSpPr>
                <a:spLocks noChangeArrowheads="1"/>
              </p:cNvSpPr>
              <p:nvPr/>
            </p:nvSpPr>
            <p:spPr bwMode="auto">
              <a:xfrm>
                <a:off x="1689" y="684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Rectangle 26"/>
              <p:cNvSpPr>
                <a:spLocks noChangeArrowheads="1"/>
              </p:cNvSpPr>
              <p:nvPr/>
            </p:nvSpPr>
            <p:spPr bwMode="auto">
              <a:xfrm>
                <a:off x="1690" y="3695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27"/>
              <p:cNvSpPr>
                <a:spLocks noChangeShapeType="1"/>
              </p:cNvSpPr>
              <p:nvPr/>
            </p:nvSpPr>
            <p:spPr bwMode="auto">
              <a:xfrm flipV="1">
                <a:off x="1167" y="1076"/>
                <a:ext cx="663" cy="972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Line 28"/>
              <p:cNvSpPr>
                <a:spLocks noChangeShapeType="1"/>
              </p:cNvSpPr>
              <p:nvPr/>
            </p:nvSpPr>
            <p:spPr bwMode="auto">
              <a:xfrm>
                <a:off x="1154" y="2500"/>
                <a:ext cx="688" cy="997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29"/>
              <p:cNvSpPr>
                <a:spLocks/>
              </p:cNvSpPr>
              <p:nvPr/>
            </p:nvSpPr>
            <p:spPr bwMode="auto">
              <a:xfrm>
                <a:off x="1791" y="908"/>
                <a:ext cx="71" cy="174"/>
              </a:xfrm>
              <a:custGeom>
                <a:avLst/>
                <a:gdLst>
                  <a:gd name="T0" fmla="*/ 38 w 102"/>
                  <a:gd name="T1" fmla="*/ 0 h 310"/>
                  <a:gd name="T2" fmla="*/ 7 w 102"/>
                  <a:gd name="T3" fmla="*/ 99 h 310"/>
                  <a:gd name="T4" fmla="*/ 82 w 102"/>
                  <a:gd name="T5" fmla="*/ 143 h 310"/>
                  <a:gd name="T6" fmla="*/ 7 w 102"/>
                  <a:gd name="T7" fmla="*/ 205 h 310"/>
                  <a:gd name="T8" fmla="*/ 94 w 102"/>
                  <a:gd name="T9" fmla="*/ 260 h 310"/>
                  <a:gd name="T10" fmla="*/ 57 w 102"/>
                  <a:gd name="T11" fmla="*/ 310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0"/>
              <p:cNvSpPr>
                <a:spLocks/>
              </p:cNvSpPr>
              <p:nvPr/>
            </p:nvSpPr>
            <p:spPr bwMode="auto">
              <a:xfrm flipV="1">
                <a:off x="1785" y="3478"/>
                <a:ext cx="71" cy="205"/>
              </a:xfrm>
              <a:custGeom>
                <a:avLst/>
                <a:gdLst>
                  <a:gd name="T0" fmla="*/ 38 w 102"/>
                  <a:gd name="T1" fmla="*/ 0 h 310"/>
                  <a:gd name="T2" fmla="*/ 7 w 102"/>
                  <a:gd name="T3" fmla="*/ 99 h 310"/>
                  <a:gd name="T4" fmla="*/ 82 w 102"/>
                  <a:gd name="T5" fmla="*/ 143 h 310"/>
                  <a:gd name="T6" fmla="*/ 7 w 102"/>
                  <a:gd name="T7" fmla="*/ 205 h 310"/>
                  <a:gd name="T8" fmla="*/ 94 w 102"/>
                  <a:gd name="T9" fmla="*/ 260 h 310"/>
                  <a:gd name="T10" fmla="*/ 57 w 102"/>
                  <a:gd name="T11" fmla="*/ 310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31"/>
              <p:cNvSpPr>
                <a:spLocks/>
              </p:cNvSpPr>
              <p:nvPr/>
            </p:nvSpPr>
            <p:spPr bwMode="auto">
              <a:xfrm>
                <a:off x="1154" y="2054"/>
                <a:ext cx="75" cy="434"/>
              </a:xfrm>
              <a:custGeom>
                <a:avLst/>
                <a:gdLst>
                  <a:gd name="T0" fmla="*/ 7 w 131"/>
                  <a:gd name="T1" fmla="*/ 0 h 434"/>
                  <a:gd name="T2" fmla="*/ 130 w 131"/>
                  <a:gd name="T3" fmla="*/ 236 h 434"/>
                  <a:gd name="T4" fmla="*/ 0 w 131"/>
                  <a:gd name="T5" fmla="*/ 434 h 434"/>
                  <a:gd name="T6" fmla="*/ 0 60000 65536"/>
                  <a:gd name="T7" fmla="*/ 0 60000 65536"/>
                  <a:gd name="T8" fmla="*/ 0 60000 65536"/>
                  <a:gd name="T9" fmla="*/ 0 w 131"/>
                  <a:gd name="T10" fmla="*/ 0 h 434"/>
                  <a:gd name="T11" fmla="*/ 131 w 131"/>
                  <a:gd name="T12" fmla="*/ 434 h 4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1" h="434">
                    <a:moveTo>
                      <a:pt x="7" y="0"/>
                    </a:moveTo>
                    <a:cubicBezTo>
                      <a:pt x="69" y="82"/>
                      <a:pt x="131" y="164"/>
                      <a:pt x="130" y="236"/>
                    </a:cubicBezTo>
                    <a:cubicBezTo>
                      <a:pt x="129" y="308"/>
                      <a:pt x="64" y="371"/>
                      <a:pt x="0" y="43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 Box 33"/>
              <p:cNvSpPr txBox="1">
                <a:spLocks noChangeArrowheads="1"/>
              </p:cNvSpPr>
              <p:nvPr/>
            </p:nvSpPr>
            <p:spPr bwMode="auto">
              <a:xfrm>
                <a:off x="385" y="3023"/>
                <a:ext cx="148" cy="2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GB" dirty="0"/>
              </a:p>
            </p:txBody>
          </p:sp>
        </p:grpSp>
        <p:sp>
          <p:nvSpPr>
            <p:cNvPr id="8" name="Freeform 36"/>
            <p:cNvSpPr>
              <a:spLocks/>
            </p:cNvSpPr>
            <p:nvPr/>
          </p:nvSpPr>
          <p:spPr bwMode="auto">
            <a:xfrm>
              <a:off x="542" y="1961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37"/>
            <p:cNvSpPr>
              <a:spLocks/>
            </p:cNvSpPr>
            <p:nvPr/>
          </p:nvSpPr>
          <p:spPr bwMode="auto">
            <a:xfrm>
              <a:off x="567" y="2478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Freeform 39"/>
          <p:cNvSpPr>
            <a:spLocks/>
          </p:cNvSpPr>
          <p:nvPr/>
        </p:nvSpPr>
        <p:spPr bwMode="auto">
          <a:xfrm flipH="1">
            <a:off x="2136776" y="2209271"/>
            <a:ext cx="287337" cy="2305050"/>
          </a:xfrm>
          <a:custGeom>
            <a:avLst/>
            <a:gdLst>
              <a:gd name="T0" fmla="*/ 181 w 181"/>
              <a:gd name="T1" fmla="*/ 0 h 1452"/>
              <a:gd name="T2" fmla="*/ 45 w 181"/>
              <a:gd name="T3" fmla="*/ 363 h 1452"/>
              <a:gd name="T4" fmla="*/ 0 w 181"/>
              <a:gd name="T5" fmla="*/ 681 h 1452"/>
              <a:gd name="T6" fmla="*/ 45 w 181"/>
              <a:gd name="T7" fmla="*/ 1089 h 1452"/>
              <a:gd name="T8" fmla="*/ 181 w 181"/>
              <a:gd name="T9" fmla="*/ 1452 h 14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1"/>
              <a:gd name="T16" fmla="*/ 0 h 1452"/>
              <a:gd name="T17" fmla="*/ 181 w 181"/>
              <a:gd name="T18" fmla="*/ 1452 h 14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1" h="1452">
                <a:moveTo>
                  <a:pt x="181" y="0"/>
                </a:moveTo>
                <a:cubicBezTo>
                  <a:pt x="128" y="125"/>
                  <a:pt x="75" y="250"/>
                  <a:pt x="45" y="363"/>
                </a:cubicBezTo>
                <a:cubicBezTo>
                  <a:pt x="15" y="476"/>
                  <a:pt x="0" y="560"/>
                  <a:pt x="0" y="681"/>
                </a:cubicBezTo>
                <a:cubicBezTo>
                  <a:pt x="0" y="802"/>
                  <a:pt x="15" y="961"/>
                  <a:pt x="45" y="1089"/>
                </a:cubicBezTo>
                <a:cubicBezTo>
                  <a:pt x="75" y="1217"/>
                  <a:pt x="158" y="1392"/>
                  <a:pt x="181" y="1452"/>
                </a:cubicBezTo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" name="Freeform 40"/>
          <p:cNvSpPr>
            <a:spLocks/>
          </p:cNvSpPr>
          <p:nvPr/>
        </p:nvSpPr>
        <p:spPr bwMode="auto">
          <a:xfrm flipH="1">
            <a:off x="1920876" y="2209271"/>
            <a:ext cx="287337" cy="2305050"/>
          </a:xfrm>
          <a:custGeom>
            <a:avLst/>
            <a:gdLst>
              <a:gd name="T0" fmla="*/ 181 w 181"/>
              <a:gd name="T1" fmla="*/ 0 h 1452"/>
              <a:gd name="T2" fmla="*/ 45 w 181"/>
              <a:gd name="T3" fmla="*/ 363 h 1452"/>
              <a:gd name="T4" fmla="*/ 0 w 181"/>
              <a:gd name="T5" fmla="*/ 681 h 1452"/>
              <a:gd name="T6" fmla="*/ 45 w 181"/>
              <a:gd name="T7" fmla="*/ 1089 h 1452"/>
              <a:gd name="T8" fmla="*/ 181 w 181"/>
              <a:gd name="T9" fmla="*/ 1452 h 14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1"/>
              <a:gd name="T16" fmla="*/ 0 h 1452"/>
              <a:gd name="T17" fmla="*/ 181 w 181"/>
              <a:gd name="T18" fmla="*/ 1452 h 14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1" h="1452">
                <a:moveTo>
                  <a:pt x="181" y="0"/>
                </a:moveTo>
                <a:cubicBezTo>
                  <a:pt x="128" y="125"/>
                  <a:pt x="75" y="250"/>
                  <a:pt x="45" y="363"/>
                </a:cubicBezTo>
                <a:cubicBezTo>
                  <a:pt x="15" y="476"/>
                  <a:pt x="0" y="560"/>
                  <a:pt x="0" y="681"/>
                </a:cubicBezTo>
                <a:cubicBezTo>
                  <a:pt x="0" y="802"/>
                  <a:pt x="15" y="961"/>
                  <a:pt x="45" y="1089"/>
                </a:cubicBezTo>
                <a:cubicBezTo>
                  <a:pt x="75" y="1217"/>
                  <a:pt x="158" y="1392"/>
                  <a:pt x="181" y="1452"/>
                </a:cubicBezTo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" name="Freeform 41"/>
          <p:cNvSpPr>
            <a:spLocks/>
          </p:cNvSpPr>
          <p:nvPr/>
        </p:nvSpPr>
        <p:spPr bwMode="auto">
          <a:xfrm flipH="1">
            <a:off x="1704976" y="2209271"/>
            <a:ext cx="287337" cy="2305050"/>
          </a:xfrm>
          <a:custGeom>
            <a:avLst/>
            <a:gdLst>
              <a:gd name="T0" fmla="*/ 181 w 181"/>
              <a:gd name="T1" fmla="*/ 0 h 1452"/>
              <a:gd name="T2" fmla="*/ 45 w 181"/>
              <a:gd name="T3" fmla="*/ 363 h 1452"/>
              <a:gd name="T4" fmla="*/ 0 w 181"/>
              <a:gd name="T5" fmla="*/ 681 h 1452"/>
              <a:gd name="T6" fmla="*/ 45 w 181"/>
              <a:gd name="T7" fmla="*/ 1089 h 1452"/>
              <a:gd name="T8" fmla="*/ 181 w 181"/>
              <a:gd name="T9" fmla="*/ 1452 h 14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1"/>
              <a:gd name="T16" fmla="*/ 0 h 1452"/>
              <a:gd name="T17" fmla="*/ 181 w 181"/>
              <a:gd name="T18" fmla="*/ 1452 h 14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1" h="1452">
                <a:moveTo>
                  <a:pt x="181" y="0"/>
                </a:moveTo>
                <a:cubicBezTo>
                  <a:pt x="128" y="125"/>
                  <a:pt x="75" y="250"/>
                  <a:pt x="45" y="363"/>
                </a:cubicBezTo>
                <a:cubicBezTo>
                  <a:pt x="15" y="476"/>
                  <a:pt x="0" y="560"/>
                  <a:pt x="0" y="681"/>
                </a:cubicBezTo>
                <a:cubicBezTo>
                  <a:pt x="0" y="802"/>
                  <a:pt x="15" y="961"/>
                  <a:pt x="45" y="1089"/>
                </a:cubicBezTo>
                <a:cubicBezTo>
                  <a:pt x="75" y="1217"/>
                  <a:pt x="158" y="1392"/>
                  <a:pt x="181" y="1452"/>
                </a:cubicBezTo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>
            <a:off x="766763" y="3361796"/>
            <a:ext cx="1081088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3" name="Freeform 36"/>
          <p:cNvSpPr>
            <a:spLocks/>
          </p:cNvSpPr>
          <p:nvPr/>
        </p:nvSpPr>
        <p:spPr bwMode="auto">
          <a:xfrm flipH="1">
            <a:off x="4608361" y="2886075"/>
            <a:ext cx="2544913" cy="171450"/>
          </a:xfrm>
          <a:custGeom>
            <a:avLst/>
            <a:gdLst>
              <a:gd name="T0" fmla="*/ 0 w 980"/>
              <a:gd name="T1" fmla="*/ 76 h 82"/>
              <a:gd name="T2" fmla="*/ 96 w 980"/>
              <a:gd name="T3" fmla="*/ 34 h 82"/>
              <a:gd name="T4" fmla="*/ 219 w 980"/>
              <a:gd name="T5" fmla="*/ 0 h 82"/>
              <a:gd name="T6" fmla="*/ 795 w 980"/>
              <a:gd name="T7" fmla="*/ 62 h 82"/>
              <a:gd name="T8" fmla="*/ 980 w 980"/>
              <a:gd name="T9" fmla="*/ 34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80"/>
              <a:gd name="T16" fmla="*/ 0 h 82"/>
              <a:gd name="T17" fmla="*/ 980 w 980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80" h="82">
                <a:moveTo>
                  <a:pt x="0" y="76"/>
                </a:moveTo>
                <a:cubicBezTo>
                  <a:pt x="36" y="67"/>
                  <a:pt x="64" y="50"/>
                  <a:pt x="96" y="34"/>
                </a:cubicBezTo>
                <a:cubicBezTo>
                  <a:pt x="133" y="16"/>
                  <a:pt x="178" y="7"/>
                  <a:pt x="219" y="0"/>
                </a:cubicBezTo>
                <a:cubicBezTo>
                  <a:pt x="433" y="8"/>
                  <a:pt x="569" y="82"/>
                  <a:pt x="795" y="62"/>
                </a:cubicBezTo>
                <a:cubicBezTo>
                  <a:pt x="843" y="64"/>
                  <a:pt x="980" y="34"/>
                  <a:pt x="98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 36"/>
          <p:cNvSpPr>
            <a:spLocks/>
          </p:cNvSpPr>
          <p:nvPr/>
        </p:nvSpPr>
        <p:spPr bwMode="auto">
          <a:xfrm flipH="1">
            <a:off x="4579786" y="3552825"/>
            <a:ext cx="2544913" cy="171450"/>
          </a:xfrm>
          <a:custGeom>
            <a:avLst/>
            <a:gdLst>
              <a:gd name="T0" fmla="*/ 0 w 980"/>
              <a:gd name="T1" fmla="*/ 76 h 82"/>
              <a:gd name="T2" fmla="*/ 96 w 980"/>
              <a:gd name="T3" fmla="*/ 34 h 82"/>
              <a:gd name="T4" fmla="*/ 219 w 980"/>
              <a:gd name="T5" fmla="*/ 0 h 82"/>
              <a:gd name="T6" fmla="*/ 795 w 980"/>
              <a:gd name="T7" fmla="*/ 62 h 82"/>
              <a:gd name="T8" fmla="*/ 980 w 980"/>
              <a:gd name="T9" fmla="*/ 34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80"/>
              <a:gd name="T16" fmla="*/ 0 h 82"/>
              <a:gd name="T17" fmla="*/ 980 w 980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80" h="82">
                <a:moveTo>
                  <a:pt x="0" y="76"/>
                </a:moveTo>
                <a:cubicBezTo>
                  <a:pt x="36" y="67"/>
                  <a:pt x="64" y="50"/>
                  <a:pt x="96" y="34"/>
                </a:cubicBezTo>
                <a:cubicBezTo>
                  <a:pt x="133" y="16"/>
                  <a:pt x="178" y="7"/>
                  <a:pt x="219" y="0"/>
                </a:cubicBezTo>
                <a:cubicBezTo>
                  <a:pt x="433" y="8"/>
                  <a:pt x="569" y="82"/>
                  <a:pt x="795" y="62"/>
                </a:cubicBezTo>
                <a:cubicBezTo>
                  <a:pt x="843" y="64"/>
                  <a:pt x="980" y="34"/>
                  <a:pt x="98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/>
          <p:cNvSpPr/>
          <p:nvPr/>
        </p:nvSpPr>
        <p:spPr bwMode="auto">
          <a:xfrm>
            <a:off x="7153275" y="2209800"/>
            <a:ext cx="1638300" cy="2428875"/>
          </a:xfrm>
          <a:prstGeom prst="rect">
            <a:avLst/>
          </a:prstGeom>
          <a:solidFill>
            <a:srgbClr val="FFCC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200900" y="2914650"/>
            <a:ext cx="1466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 Stage:</a:t>
            </a:r>
          </a:p>
          <a:p>
            <a:r>
              <a:rPr lang="en-GB" dirty="0"/>
              <a:t>Preamplifier, Mixer, etc</a:t>
            </a:r>
          </a:p>
        </p:txBody>
      </p:sp>
      <p:cxnSp>
        <p:nvCxnSpPr>
          <p:cNvPr id="47" name="Straight Arrow Connector 46"/>
          <p:cNvCxnSpPr/>
          <p:nvPr/>
        </p:nvCxnSpPr>
        <p:spPr bwMode="auto">
          <a:xfrm flipH="1">
            <a:off x="4676775" y="4057650"/>
            <a:ext cx="2018248" cy="190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4638675" y="4152900"/>
            <a:ext cx="2282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cable: several metres</a:t>
            </a:r>
          </a:p>
        </p:txBody>
      </p:sp>
      <p:sp>
        <p:nvSpPr>
          <p:cNvPr id="52" name="Rectangle 47"/>
          <p:cNvSpPr>
            <a:spLocks noChangeArrowheads="1"/>
          </p:cNvSpPr>
          <p:nvPr/>
        </p:nvSpPr>
        <p:spPr bwMode="auto">
          <a:xfrm>
            <a:off x="4266670" y="3042179"/>
            <a:ext cx="281040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/>
              <a:t>signal out </a:t>
            </a:r>
          </a:p>
          <a:p>
            <a:r>
              <a:rPr lang="en-GB" sz="1400" dirty="0"/>
              <a:t>– distorted by interference</a:t>
            </a:r>
          </a:p>
        </p:txBody>
      </p:sp>
      <p:grpSp>
        <p:nvGrpSpPr>
          <p:cNvPr id="90" name="Group 89"/>
          <p:cNvGrpSpPr/>
          <p:nvPr/>
        </p:nvGrpSpPr>
        <p:grpSpPr>
          <a:xfrm>
            <a:off x="4506912" y="2316145"/>
            <a:ext cx="1760537" cy="582805"/>
            <a:chOff x="4506912" y="2316145"/>
            <a:chExt cx="1760537" cy="582805"/>
          </a:xfrm>
        </p:grpSpPr>
        <p:sp>
          <p:nvSpPr>
            <p:cNvPr id="54" name="Freeform 46"/>
            <p:cNvSpPr>
              <a:spLocks/>
            </p:cNvSpPr>
            <p:nvPr/>
          </p:nvSpPr>
          <p:spPr bwMode="auto">
            <a:xfrm flipH="1">
              <a:off x="4506912" y="2438400"/>
              <a:ext cx="884237" cy="361421"/>
            </a:xfrm>
            <a:custGeom>
              <a:avLst/>
              <a:gdLst>
                <a:gd name="T0" fmla="*/ 0 w 2449"/>
                <a:gd name="T1" fmla="*/ 363 h 726"/>
                <a:gd name="T2" fmla="*/ 408 w 2449"/>
                <a:gd name="T3" fmla="*/ 0 h 726"/>
                <a:gd name="T4" fmla="*/ 816 w 2449"/>
                <a:gd name="T5" fmla="*/ 363 h 726"/>
                <a:gd name="T6" fmla="*/ 1224 w 2449"/>
                <a:gd name="T7" fmla="*/ 726 h 726"/>
                <a:gd name="T8" fmla="*/ 1633 w 2449"/>
                <a:gd name="T9" fmla="*/ 363 h 726"/>
                <a:gd name="T10" fmla="*/ 2041 w 2449"/>
                <a:gd name="T11" fmla="*/ 0 h 726"/>
                <a:gd name="T12" fmla="*/ 2449 w 2449"/>
                <a:gd name="T13" fmla="*/ 363 h 7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49"/>
                <a:gd name="T22" fmla="*/ 0 h 726"/>
                <a:gd name="T23" fmla="*/ 2449 w 2449"/>
                <a:gd name="T24" fmla="*/ 726 h 7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49" h="726">
                  <a:moveTo>
                    <a:pt x="0" y="363"/>
                  </a:moveTo>
                  <a:cubicBezTo>
                    <a:pt x="136" y="181"/>
                    <a:pt x="272" y="0"/>
                    <a:pt x="408" y="0"/>
                  </a:cubicBezTo>
                  <a:cubicBezTo>
                    <a:pt x="544" y="0"/>
                    <a:pt x="680" y="242"/>
                    <a:pt x="816" y="363"/>
                  </a:cubicBezTo>
                  <a:cubicBezTo>
                    <a:pt x="952" y="484"/>
                    <a:pt x="1088" y="726"/>
                    <a:pt x="1224" y="726"/>
                  </a:cubicBezTo>
                  <a:cubicBezTo>
                    <a:pt x="1360" y="726"/>
                    <a:pt x="1497" y="484"/>
                    <a:pt x="1633" y="363"/>
                  </a:cubicBezTo>
                  <a:cubicBezTo>
                    <a:pt x="1769" y="242"/>
                    <a:pt x="1905" y="0"/>
                    <a:pt x="2041" y="0"/>
                  </a:cubicBezTo>
                  <a:cubicBezTo>
                    <a:pt x="2177" y="0"/>
                    <a:pt x="2313" y="181"/>
                    <a:pt x="2449" y="363"/>
                  </a:cubicBezTo>
                </a:path>
              </a:pathLst>
            </a:custGeom>
            <a:solidFill>
              <a:schemeClr val="bg1"/>
            </a:solidFill>
            <a:ln w="38100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6"/>
            <p:cNvSpPr>
              <a:spLocks/>
            </p:cNvSpPr>
            <p:nvPr/>
          </p:nvSpPr>
          <p:spPr bwMode="auto">
            <a:xfrm flipH="1" flipV="1">
              <a:off x="5383212" y="2419350"/>
              <a:ext cx="884237" cy="361421"/>
            </a:xfrm>
            <a:custGeom>
              <a:avLst/>
              <a:gdLst>
                <a:gd name="T0" fmla="*/ 0 w 2449"/>
                <a:gd name="T1" fmla="*/ 363 h 726"/>
                <a:gd name="T2" fmla="*/ 408 w 2449"/>
                <a:gd name="T3" fmla="*/ 0 h 726"/>
                <a:gd name="T4" fmla="*/ 816 w 2449"/>
                <a:gd name="T5" fmla="*/ 363 h 726"/>
                <a:gd name="T6" fmla="*/ 1224 w 2449"/>
                <a:gd name="T7" fmla="*/ 726 h 726"/>
                <a:gd name="T8" fmla="*/ 1633 w 2449"/>
                <a:gd name="T9" fmla="*/ 363 h 726"/>
                <a:gd name="T10" fmla="*/ 2041 w 2449"/>
                <a:gd name="T11" fmla="*/ 0 h 726"/>
                <a:gd name="T12" fmla="*/ 2449 w 2449"/>
                <a:gd name="T13" fmla="*/ 363 h 7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49"/>
                <a:gd name="T22" fmla="*/ 0 h 726"/>
                <a:gd name="T23" fmla="*/ 2449 w 2449"/>
                <a:gd name="T24" fmla="*/ 726 h 7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49" h="726">
                  <a:moveTo>
                    <a:pt x="0" y="363"/>
                  </a:moveTo>
                  <a:cubicBezTo>
                    <a:pt x="136" y="181"/>
                    <a:pt x="272" y="0"/>
                    <a:pt x="408" y="0"/>
                  </a:cubicBezTo>
                  <a:cubicBezTo>
                    <a:pt x="544" y="0"/>
                    <a:pt x="680" y="242"/>
                    <a:pt x="816" y="363"/>
                  </a:cubicBezTo>
                  <a:cubicBezTo>
                    <a:pt x="952" y="484"/>
                    <a:pt x="1088" y="726"/>
                    <a:pt x="1224" y="726"/>
                  </a:cubicBezTo>
                  <a:cubicBezTo>
                    <a:pt x="1360" y="726"/>
                    <a:pt x="1497" y="484"/>
                    <a:pt x="1633" y="363"/>
                  </a:cubicBezTo>
                  <a:cubicBezTo>
                    <a:pt x="1769" y="242"/>
                    <a:pt x="1905" y="0"/>
                    <a:pt x="2041" y="0"/>
                  </a:cubicBezTo>
                  <a:cubicBezTo>
                    <a:pt x="2177" y="0"/>
                    <a:pt x="2313" y="181"/>
                    <a:pt x="2449" y="363"/>
                  </a:cubicBezTo>
                </a:path>
              </a:pathLst>
            </a:custGeom>
            <a:solidFill>
              <a:schemeClr val="bg1"/>
            </a:solidFill>
            <a:ln w="38100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/>
            <p:cNvSpPr/>
            <p:nvPr/>
          </p:nvSpPr>
          <p:spPr bwMode="auto">
            <a:xfrm>
              <a:off x="4762919" y="2366387"/>
              <a:ext cx="25121" cy="276329"/>
            </a:xfrm>
            <a:custGeom>
              <a:avLst/>
              <a:gdLst>
                <a:gd name="connsiteX0" fmla="*/ 0 w 25121"/>
                <a:gd name="connsiteY0" fmla="*/ 221063 h 276329"/>
                <a:gd name="connsiteX1" fmla="*/ 0 w 25121"/>
                <a:gd name="connsiteY1" fmla="*/ 221063 h 276329"/>
                <a:gd name="connsiteX2" fmla="*/ 20096 w 25121"/>
                <a:gd name="connsiteY2" fmla="*/ 0 h 276329"/>
                <a:gd name="connsiteX3" fmla="*/ 25121 w 25121"/>
                <a:gd name="connsiteY3" fmla="*/ 276329 h 27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1" h="276329">
                  <a:moveTo>
                    <a:pt x="0" y="221063"/>
                  </a:moveTo>
                  <a:lnTo>
                    <a:pt x="0" y="221063"/>
                  </a:lnTo>
                  <a:lnTo>
                    <a:pt x="20096" y="0"/>
                  </a:lnTo>
                  <a:lnTo>
                    <a:pt x="25121" y="276329"/>
                  </a:lnTo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68" name="Freeform 67"/>
            <p:cNvSpPr/>
            <p:nvPr/>
          </p:nvSpPr>
          <p:spPr bwMode="auto">
            <a:xfrm>
              <a:off x="5406013" y="2366387"/>
              <a:ext cx="45719" cy="401933"/>
            </a:xfrm>
            <a:custGeom>
              <a:avLst/>
              <a:gdLst>
                <a:gd name="connsiteX0" fmla="*/ 0 w 25121"/>
                <a:gd name="connsiteY0" fmla="*/ 221063 h 276329"/>
                <a:gd name="connsiteX1" fmla="*/ 0 w 25121"/>
                <a:gd name="connsiteY1" fmla="*/ 221063 h 276329"/>
                <a:gd name="connsiteX2" fmla="*/ 20096 w 25121"/>
                <a:gd name="connsiteY2" fmla="*/ 0 h 276329"/>
                <a:gd name="connsiteX3" fmla="*/ 25121 w 25121"/>
                <a:gd name="connsiteY3" fmla="*/ 276329 h 27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1" h="276329">
                  <a:moveTo>
                    <a:pt x="0" y="221063"/>
                  </a:moveTo>
                  <a:lnTo>
                    <a:pt x="0" y="221063"/>
                  </a:lnTo>
                  <a:lnTo>
                    <a:pt x="20096" y="0"/>
                  </a:lnTo>
                  <a:lnTo>
                    <a:pt x="25121" y="276329"/>
                  </a:lnTo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71" name="Freeform 70"/>
            <p:cNvSpPr/>
            <p:nvPr/>
          </p:nvSpPr>
          <p:spPr bwMode="auto">
            <a:xfrm>
              <a:off x="5114611" y="2476919"/>
              <a:ext cx="35169" cy="306475"/>
            </a:xfrm>
            <a:custGeom>
              <a:avLst/>
              <a:gdLst>
                <a:gd name="connsiteX0" fmla="*/ 0 w 35169"/>
                <a:gd name="connsiteY0" fmla="*/ 85411 h 306475"/>
                <a:gd name="connsiteX1" fmla="*/ 0 w 35169"/>
                <a:gd name="connsiteY1" fmla="*/ 85411 h 306475"/>
                <a:gd name="connsiteX2" fmla="*/ 5024 w 35169"/>
                <a:gd name="connsiteY2" fmla="*/ 155750 h 306475"/>
                <a:gd name="connsiteX3" fmla="*/ 10048 w 35169"/>
                <a:gd name="connsiteY3" fmla="*/ 170822 h 306475"/>
                <a:gd name="connsiteX4" fmla="*/ 15073 w 35169"/>
                <a:gd name="connsiteY4" fmla="*/ 205991 h 306475"/>
                <a:gd name="connsiteX5" fmla="*/ 20097 w 35169"/>
                <a:gd name="connsiteY5" fmla="*/ 306475 h 306475"/>
                <a:gd name="connsiteX6" fmla="*/ 35169 w 35169"/>
                <a:gd name="connsiteY6" fmla="*/ 0 h 30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69" h="306475">
                  <a:moveTo>
                    <a:pt x="0" y="85411"/>
                  </a:moveTo>
                  <a:lnTo>
                    <a:pt x="0" y="85411"/>
                  </a:lnTo>
                  <a:cubicBezTo>
                    <a:pt x="1675" y="108857"/>
                    <a:pt x="2278" y="132405"/>
                    <a:pt x="5024" y="155750"/>
                  </a:cubicBezTo>
                  <a:cubicBezTo>
                    <a:pt x="5643" y="161009"/>
                    <a:pt x="9009" y="165629"/>
                    <a:pt x="10048" y="170822"/>
                  </a:cubicBezTo>
                  <a:cubicBezTo>
                    <a:pt x="12371" y="182434"/>
                    <a:pt x="13765" y="194221"/>
                    <a:pt x="15073" y="205991"/>
                  </a:cubicBezTo>
                  <a:cubicBezTo>
                    <a:pt x="21462" y="263484"/>
                    <a:pt x="20097" y="253175"/>
                    <a:pt x="20097" y="306475"/>
                  </a:cubicBezTo>
                  <a:lnTo>
                    <a:pt x="35169" y="0"/>
                  </a:lnTo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75" name="Freeform 74"/>
            <p:cNvSpPr/>
            <p:nvPr/>
          </p:nvSpPr>
          <p:spPr bwMode="auto">
            <a:xfrm>
              <a:off x="5200647" y="2316145"/>
              <a:ext cx="24830" cy="208503"/>
            </a:xfrm>
            <a:custGeom>
              <a:avLst/>
              <a:gdLst>
                <a:gd name="connsiteX0" fmla="*/ 4399 w 24830"/>
                <a:gd name="connsiteY0" fmla="*/ 205991 h 208503"/>
                <a:gd name="connsiteX1" fmla="*/ 4399 w 24830"/>
                <a:gd name="connsiteY1" fmla="*/ 115556 h 208503"/>
                <a:gd name="connsiteX2" fmla="*/ 9423 w 24830"/>
                <a:gd name="connsiteY2" fmla="*/ 0 h 208503"/>
                <a:gd name="connsiteX3" fmla="*/ 14447 w 24830"/>
                <a:gd name="connsiteY3" fmla="*/ 60290 h 208503"/>
                <a:gd name="connsiteX4" fmla="*/ 19472 w 24830"/>
                <a:gd name="connsiteY4" fmla="*/ 100484 h 208503"/>
                <a:gd name="connsiteX5" fmla="*/ 4399 w 24830"/>
                <a:gd name="connsiteY5" fmla="*/ 205991 h 20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30" h="208503">
                  <a:moveTo>
                    <a:pt x="4399" y="205991"/>
                  </a:moveTo>
                  <a:cubicBezTo>
                    <a:pt x="1887" y="208503"/>
                    <a:pt x="0" y="199136"/>
                    <a:pt x="4399" y="115556"/>
                  </a:cubicBezTo>
                  <a:cubicBezTo>
                    <a:pt x="6425" y="77054"/>
                    <a:pt x="7748" y="38519"/>
                    <a:pt x="9423" y="0"/>
                  </a:cubicBezTo>
                  <a:cubicBezTo>
                    <a:pt x="11098" y="20097"/>
                    <a:pt x="12440" y="40224"/>
                    <a:pt x="14447" y="60290"/>
                  </a:cubicBezTo>
                  <a:cubicBezTo>
                    <a:pt x="15791" y="73725"/>
                    <a:pt x="18302" y="87032"/>
                    <a:pt x="19472" y="100484"/>
                  </a:cubicBezTo>
                  <a:cubicBezTo>
                    <a:pt x="24830" y="162099"/>
                    <a:pt x="6911" y="203479"/>
                    <a:pt x="4399" y="205991"/>
                  </a:cubicBezTo>
                  <a:close/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76" name="Freeform 75"/>
            <p:cNvSpPr/>
            <p:nvPr/>
          </p:nvSpPr>
          <p:spPr bwMode="auto">
            <a:xfrm>
              <a:off x="5320259" y="2373122"/>
              <a:ext cx="19778" cy="219352"/>
            </a:xfrm>
            <a:custGeom>
              <a:avLst/>
              <a:gdLst>
                <a:gd name="connsiteX0" fmla="*/ 343 w 19778"/>
                <a:gd name="connsiteY0" fmla="*/ 164086 h 219352"/>
                <a:gd name="connsiteX1" fmla="*/ 5367 w 19778"/>
                <a:gd name="connsiteY1" fmla="*/ 18385 h 219352"/>
                <a:gd name="connsiteX2" fmla="*/ 10392 w 19778"/>
                <a:gd name="connsiteY2" fmla="*/ 73651 h 219352"/>
                <a:gd name="connsiteX3" fmla="*/ 15416 w 19778"/>
                <a:gd name="connsiteY3" fmla="*/ 219352 h 21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78" h="219352">
                  <a:moveTo>
                    <a:pt x="343" y="164086"/>
                  </a:moveTo>
                  <a:cubicBezTo>
                    <a:pt x="2018" y="115519"/>
                    <a:pt x="0" y="66684"/>
                    <a:pt x="5367" y="18385"/>
                  </a:cubicBezTo>
                  <a:cubicBezTo>
                    <a:pt x="7410" y="0"/>
                    <a:pt x="8455" y="55255"/>
                    <a:pt x="10392" y="73651"/>
                  </a:cubicBezTo>
                  <a:cubicBezTo>
                    <a:pt x="19778" y="162813"/>
                    <a:pt x="15416" y="63690"/>
                    <a:pt x="15416" y="219352"/>
                  </a:cubicBezTo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79" name="Freeform 78"/>
            <p:cNvSpPr/>
            <p:nvPr/>
          </p:nvSpPr>
          <p:spPr bwMode="auto">
            <a:xfrm>
              <a:off x="5561763" y="2662813"/>
              <a:ext cx="50242" cy="236137"/>
            </a:xfrm>
            <a:custGeom>
              <a:avLst/>
              <a:gdLst>
                <a:gd name="connsiteX0" fmla="*/ 0 w 50242"/>
                <a:gd name="connsiteY0" fmla="*/ 55266 h 236137"/>
                <a:gd name="connsiteX1" fmla="*/ 30145 w 50242"/>
                <a:gd name="connsiteY1" fmla="*/ 236137 h 236137"/>
                <a:gd name="connsiteX2" fmla="*/ 50242 w 50242"/>
                <a:gd name="connsiteY2" fmla="*/ 0 h 236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242" h="236137">
                  <a:moveTo>
                    <a:pt x="0" y="55266"/>
                  </a:moveTo>
                  <a:lnTo>
                    <a:pt x="30145" y="236137"/>
                  </a:lnTo>
                  <a:lnTo>
                    <a:pt x="50242" y="0"/>
                  </a:lnTo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0" name="Freeform 79"/>
            <p:cNvSpPr/>
            <p:nvPr/>
          </p:nvSpPr>
          <p:spPr bwMode="auto">
            <a:xfrm>
              <a:off x="4587073" y="2411605"/>
              <a:ext cx="25121" cy="291403"/>
            </a:xfrm>
            <a:custGeom>
              <a:avLst/>
              <a:gdLst>
                <a:gd name="connsiteX0" fmla="*/ 0 w 25121"/>
                <a:gd name="connsiteY0" fmla="*/ 50242 h 291403"/>
                <a:gd name="connsiteX1" fmla="*/ 25121 w 25121"/>
                <a:gd name="connsiteY1" fmla="*/ 291403 h 291403"/>
                <a:gd name="connsiteX2" fmla="*/ 25121 w 25121"/>
                <a:gd name="connsiteY2" fmla="*/ 0 h 291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121" h="291403">
                  <a:moveTo>
                    <a:pt x="0" y="50242"/>
                  </a:moveTo>
                  <a:lnTo>
                    <a:pt x="25121" y="291403"/>
                  </a:lnTo>
                  <a:lnTo>
                    <a:pt x="25121" y="0"/>
                  </a:lnTo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2" name="Freeform 81"/>
            <p:cNvSpPr/>
            <p:nvPr/>
          </p:nvSpPr>
          <p:spPr bwMode="auto">
            <a:xfrm>
              <a:off x="5682343" y="2497016"/>
              <a:ext cx="35169" cy="256233"/>
            </a:xfrm>
            <a:custGeom>
              <a:avLst/>
              <a:gdLst>
                <a:gd name="connsiteX0" fmla="*/ 0 w 35169"/>
                <a:gd name="connsiteY0" fmla="*/ 60290 h 256233"/>
                <a:gd name="connsiteX1" fmla="*/ 35169 w 35169"/>
                <a:gd name="connsiteY1" fmla="*/ 256233 h 256233"/>
                <a:gd name="connsiteX2" fmla="*/ 35169 w 35169"/>
                <a:gd name="connsiteY2" fmla="*/ 0 h 25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69" h="256233">
                  <a:moveTo>
                    <a:pt x="0" y="60290"/>
                  </a:moveTo>
                  <a:lnTo>
                    <a:pt x="35169" y="256233"/>
                  </a:lnTo>
                  <a:lnTo>
                    <a:pt x="35169" y="0"/>
                  </a:lnTo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5" name="Freeform 84"/>
            <p:cNvSpPr/>
            <p:nvPr/>
          </p:nvSpPr>
          <p:spPr bwMode="auto">
            <a:xfrm>
              <a:off x="5878286" y="2426676"/>
              <a:ext cx="35169" cy="366765"/>
            </a:xfrm>
            <a:custGeom>
              <a:avLst/>
              <a:gdLst>
                <a:gd name="connsiteX0" fmla="*/ 0 w 35169"/>
                <a:gd name="connsiteY0" fmla="*/ 0 h 366765"/>
                <a:gd name="connsiteX1" fmla="*/ 15072 w 35169"/>
                <a:gd name="connsiteY1" fmla="*/ 366765 h 366765"/>
                <a:gd name="connsiteX2" fmla="*/ 35169 w 35169"/>
                <a:gd name="connsiteY2" fmla="*/ 50242 h 366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69" h="366765">
                  <a:moveTo>
                    <a:pt x="0" y="0"/>
                  </a:moveTo>
                  <a:lnTo>
                    <a:pt x="15072" y="366765"/>
                  </a:lnTo>
                  <a:lnTo>
                    <a:pt x="35169" y="50242"/>
                  </a:lnTo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7" name="Freeform 86"/>
            <p:cNvSpPr/>
            <p:nvPr/>
          </p:nvSpPr>
          <p:spPr bwMode="auto">
            <a:xfrm>
              <a:off x="5948624" y="2391508"/>
              <a:ext cx="50242" cy="291402"/>
            </a:xfrm>
            <a:custGeom>
              <a:avLst/>
              <a:gdLst>
                <a:gd name="connsiteX0" fmla="*/ 0 w 50242"/>
                <a:gd name="connsiteY0" fmla="*/ 195943 h 291402"/>
                <a:gd name="connsiteX1" fmla="*/ 25121 w 50242"/>
                <a:gd name="connsiteY1" fmla="*/ 0 h 291402"/>
                <a:gd name="connsiteX2" fmla="*/ 50242 w 50242"/>
                <a:gd name="connsiteY2" fmla="*/ 291402 h 2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242" h="291402">
                  <a:moveTo>
                    <a:pt x="0" y="195943"/>
                  </a:moveTo>
                  <a:lnTo>
                    <a:pt x="25121" y="0"/>
                  </a:lnTo>
                  <a:lnTo>
                    <a:pt x="50242" y="291402"/>
                  </a:lnTo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8" name="Freeform 87"/>
            <p:cNvSpPr/>
            <p:nvPr/>
          </p:nvSpPr>
          <p:spPr bwMode="auto">
            <a:xfrm>
              <a:off x="6023987" y="2542233"/>
              <a:ext cx="40193" cy="231112"/>
            </a:xfrm>
            <a:custGeom>
              <a:avLst/>
              <a:gdLst>
                <a:gd name="connsiteX0" fmla="*/ 0 w 40193"/>
                <a:gd name="connsiteY0" fmla="*/ 185894 h 231112"/>
                <a:gd name="connsiteX1" fmla="*/ 20097 w 40193"/>
                <a:gd name="connsiteY1" fmla="*/ 0 h 231112"/>
                <a:gd name="connsiteX2" fmla="*/ 40193 w 40193"/>
                <a:gd name="connsiteY2" fmla="*/ 231112 h 231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193" h="231112">
                  <a:moveTo>
                    <a:pt x="0" y="185894"/>
                  </a:moveTo>
                  <a:lnTo>
                    <a:pt x="20097" y="0"/>
                  </a:lnTo>
                  <a:lnTo>
                    <a:pt x="40193" y="231112"/>
                  </a:lnTo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9" name="Freeform 88"/>
            <p:cNvSpPr/>
            <p:nvPr/>
          </p:nvSpPr>
          <p:spPr bwMode="auto">
            <a:xfrm>
              <a:off x="6149591" y="2682910"/>
              <a:ext cx="40193" cy="190918"/>
            </a:xfrm>
            <a:custGeom>
              <a:avLst/>
              <a:gdLst>
                <a:gd name="connsiteX0" fmla="*/ 0 w 40193"/>
                <a:gd name="connsiteY0" fmla="*/ 50241 h 190918"/>
                <a:gd name="connsiteX1" fmla="*/ 15072 w 40193"/>
                <a:gd name="connsiteY1" fmla="*/ 190918 h 190918"/>
                <a:gd name="connsiteX2" fmla="*/ 40193 w 40193"/>
                <a:gd name="connsiteY2" fmla="*/ 0 h 19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193" h="190918">
                  <a:moveTo>
                    <a:pt x="0" y="50241"/>
                  </a:moveTo>
                  <a:lnTo>
                    <a:pt x="15072" y="190918"/>
                  </a:lnTo>
                  <a:lnTo>
                    <a:pt x="40193" y="0"/>
                  </a:lnTo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sp>
        <p:nvSpPr>
          <p:cNvPr id="91" name="Lightning Bolt 90"/>
          <p:cNvSpPr/>
          <p:nvPr/>
        </p:nvSpPr>
        <p:spPr bwMode="auto">
          <a:xfrm rot="2892750">
            <a:off x="5753101" y="866776"/>
            <a:ext cx="390525" cy="1428750"/>
          </a:xfrm>
          <a:prstGeom prst="lightningBolt">
            <a:avLst/>
          </a:prstGeom>
          <a:solidFill>
            <a:srgbClr val="CCECFF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2" name="Lightning Bolt 91"/>
          <p:cNvSpPr/>
          <p:nvPr/>
        </p:nvSpPr>
        <p:spPr bwMode="auto">
          <a:xfrm rot="2525272">
            <a:off x="5600702" y="590551"/>
            <a:ext cx="390525" cy="1428750"/>
          </a:xfrm>
          <a:prstGeom prst="lightningBolt">
            <a:avLst/>
          </a:prstGeom>
          <a:solidFill>
            <a:srgbClr val="CCECFF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534150" y="733425"/>
            <a:ext cx="2228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interference</a:t>
            </a:r>
          </a:p>
          <a:p>
            <a:r>
              <a:rPr lang="en-GB" dirty="0"/>
              <a:t>- airborne </a:t>
            </a:r>
          </a:p>
          <a:p>
            <a:r>
              <a:rPr lang="en-GB" dirty="0"/>
              <a:t>– various sources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3373821" y="5139559"/>
            <a:ext cx="5092262" cy="11981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416566" y="5312979"/>
            <a:ext cx="1963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 – noise often affecting both conductors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31475" y="5817477"/>
            <a:ext cx="853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0 volts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36882" y="5249918"/>
            <a:ext cx="127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/>
                </a:solidFill>
              </a:rPr>
              <a:t>Signal voltage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4338100" y="5344510"/>
            <a:ext cx="1889279" cy="986955"/>
            <a:chOff x="4338100" y="5344510"/>
            <a:chExt cx="1889279" cy="986955"/>
          </a:xfrm>
        </p:grpSpPr>
        <p:cxnSp>
          <p:nvCxnSpPr>
            <p:cNvPr id="70" name="Straight Connector 69"/>
            <p:cNvCxnSpPr/>
            <p:nvPr/>
          </p:nvCxnSpPr>
          <p:spPr bwMode="auto">
            <a:xfrm>
              <a:off x="4352433" y="5990897"/>
              <a:ext cx="1733056" cy="15766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Straight Arrow Connector 82"/>
            <p:cNvCxnSpPr/>
            <p:nvPr/>
          </p:nvCxnSpPr>
          <p:spPr bwMode="auto">
            <a:xfrm flipV="1">
              <a:off x="6211614" y="5344510"/>
              <a:ext cx="15765" cy="69368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108" name="Freeform 46"/>
            <p:cNvSpPr>
              <a:spLocks/>
            </p:cNvSpPr>
            <p:nvPr/>
          </p:nvSpPr>
          <p:spPr bwMode="auto">
            <a:xfrm flipH="1">
              <a:off x="4338100" y="5519224"/>
              <a:ext cx="884237" cy="361421"/>
            </a:xfrm>
            <a:custGeom>
              <a:avLst/>
              <a:gdLst>
                <a:gd name="T0" fmla="*/ 0 w 2449"/>
                <a:gd name="T1" fmla="*/ 363 h 726"/>
                <a:gd name="T2" fmla="*/ 408 w 2449"/>
                <a:gd name="T3" fmla="*/ 0 h 726"/>
                <a:gd name="T4" fmla="*/ 816 w 2449"/>
                <a:gd name="T5" fmla="*/ 363 h 726"/>
                <a:gd name="T6" fmla="*/ 1224 w 2449"/>
                <a:gd name="T7" fmla="*/ 726 h 726"/>
                <a:gd name="T8" fmla="*/ 1633 w 2449"/>
                <a:gd name="T9" fmla="*/ 363 h 726"/>
                <a:gd name="T10" fmla="*/ 2041 w 2449"/>
                <a:gd name="T11" fmla="*/ 0 h 726"/>
                <a:gd name="T12" fmla="*/ 2449 w 2449"/>
                <a:gd name="T13" fmla="*/ 363 h 7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49"/>
                <a:gd name="T22" fmla="*/ 0 h 726"/>
                <a:gd name="T23" fmla="*/ 2449 w 2449"/>
                <a:gd name="T24" fmla="*/ 726 h 7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49" h="726">
                  <a:moveTo>
                    <a:pt x="0" y="363"/>
                  </a:moveTo>
                  <a:cubicBezTo>
                    <a:pt x="136" y="181"/>
                    <a:pt x="272" y="0"/>
                    <a:pt x="408" y="0"/>
                  </a:cubicBezTo>
                  <a:cubicBezTo>
                    <a:pt x="544" y="0"/>
                    <a:pt x="680" y="242"/>
                    <a:pt x="816" y="363"/>
                  </a:cubicBezTo>
                  <a:cubicBezTo>
                    <a:pt x="952" y="484"/>
                    <a:pt x="1088" y="726"/>
                    <a:pt x="1224" y="726"/>
                  </a:cubicBezTo>
                  <a:cubicBezTo>
                    <a:pt x="1360" y="726"/>
                    <a:pt x="1497" y="484"/>
                    <a:pt x="1633" y="363"/>
                  </a:cubicBezTo>
                  <a:cubicBezTo>
                    <a:pt x="1769" y="242"/>
                    <a:pt x="1905" y="0"/>
                    <a:pt x="2041" y="0"/>
                  </a:cubicBezTo>
                  <a:cubicBezTo>
                    <a:pt x="2177" y="0"/>
                    <a:pt x="2313" y="181"/>
                    <a:pt x="2449" y="363"/>
                  </a:cubicBez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6"/>
            <p:cNvSpPr>
              <a:spLocks/>
            </p:cNvSpPr>
            <p:nvPr/>
          </p:nvSpPr>
          <p:spPr bwMode="auto">
            <a:xfrm flipH="1" flipV="1">
              <a:off x="5214400" y="5500174"/>
              <a:ext cx="884237" cy="361421"/>
            </a:xfrm>
            <a:custGeom>
              <a:avLst/>
              <a:gdLst>
                <a:gd name="T0" fmla="*/ 0 w 2449"/>
                <a:gd name="T1" fmla="*/ 363 h 726"/>
                <a:gd name="T2" fmla="*/ 408 w 2449"/>
                <a:gd name="T3" fmla="*/ 0 h 726"/>
                <a:gd name="T4" fmla="*/ 816 w 2449"/>
                <a:gd name="T5" fmla="*/ 363 h 726"/>
                <a:gd name="T6" fmla="*/ 1224 w 2449"/>
                <a:gd name="T7" fmla="*/ 726 h 726"/>
                <a:gd name="T8" fmla="*/ 1633 w 2449"/>
                <a:gd name="T9" fmla="*/ 363 h 726"/>
                <a:gd name="T10" fmla="*/ 2041 w 2449"/>
                <a:gd name="T11" fmla="*/ 0 h 726"/>
                <a:gd name="T12" fmla="*/ 2449 w 2449"/>
                <a:gd name="T13" fmla="*/ 363 h 7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49"/>
                <a:gd name="T22" fmla="*/ 0 h 726"/>
                <a:gd name="T23" fmla="*/ 2449 w 2449"/>
                <a:gd name="T24" fmla="*/ 726 h 7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49" h="726">
                  <a:moveTo>
                    <a:pt x="0" y="363"/>
                  </a:moveTo>
                  <a:cubicBezTo>
                    <a:pt x="136" y="181"/>
                    <a:pt x="272" y="0"/>
                    <a:pt x="408" y="0"/>
                  </a:cubicBezTo>
                  <a:cubicBezTo>
                    <a:pt x="544" y="0"/>
                    <a:pt x="680" y="242"/>
                    <a:pt x="816" y="363"/>
                  </a:cubicBezTo>
                  <a:cubicBezTo>
                    <a:pt x="952" y="484"/>
                    <a:pt x="1088" y="726"/>
                    <a:pt x="1224" y="726"/>
                  </a:cubicBezTo>
                  <a:cubicBezTo>
                    <a:pt x="1360" y="726"/>
                    <a:pt x="1497" y="484"/>
                    <a:pt x="1633" y="363"/>
                  </a:cubicBezTo>
                  <a:cubicBezTo>
                    <a:pt x="1769" y="242"/>
                    <a:pt x="1905" y="0"/>
                    <a:pt x="2041" y="0"/>
                  </a:cubicBezTo>
                  <a:cubicBezTo>
                    <a:pt x="2177" y="0"/>
                    <a:pt x="2313" y="181"/>
                    <a:pt x="2449" y="363"/>
                  </a:cubicBez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09"/>
            <p:cNvSpPr/>
            <p:nvPr/>
          </p:nvSpPr>
          <p:spPr bwMode="auto">
            <a:xfrm>
              <a:off x="4594107" y="5447211"/>
              <a:ext cx="25121" cy="276329"/>
            </a:xfrm>
            <a:custGeom>
              <a:avLst/>
              <a:gdLst>
                <a:gd name="connsiteX0" fmla="*/ 0 w 25121"/>
                <a:gd name="connsiteY0" fmla="*/ 221063 h 276329"/>
                <a:gd name="connsiteX1" fmla="*/ 0 w 25121"/>
                <a:gd name="connsiteY1" fmla="*/ 221063 h 276329"/>
                <a:gd name="connsiteX2" fmla="*/ 20096 w 25121"/>
                <a:gd name="connsiteY2" fmla="*/ 0 h 276329"/>
                <a:gd name="connsiteX3" fmla="*/ 25121 w 25121"/>
                <a:gd name="connsiteY3" fmla="*/ 276329 h 27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1" h="276329">
                  <a:moveTo>
                    <a:pt x="0" y="221063"/>
                  </a:moveTo>
                  <a:lnTo>
                    <a:pt x="0" y="221063"/>
                  </a:lnTo>
                  <a:lnTo>
                    <a:pt x="20096" y="0"/>
                  </a:lnTo>
                  <a:lnTo>
                    <a:pt x="25121" y="276329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1" name="Freeform 110"/>
            <p:cNvSpPr/>
            <p:nvPr/>
          </p:nvSpPr>
          <p:spPr bwMode="auto">
            <a:xfrm>
              <a:off x="5237201" y="5447211"/>
              <a:ext cx="45719" cy="401933"/>
            </a:xfrm>
            <a:custGeom>
              <a:avLst/>
              <a:gdLst>
                <a:gd name="connsiteX0" fmla="*/ 0 w 25121"/>
                <a:gd name="connsiteY0" fmla="*/ 221063 h 276329"/>
                <a:gd name="connsiteX1" fmla="*/ 0 w 25121"/>
                <a:gd name="connsiteY1" fmla="*/ 221063 h 276329"/>
                <a:gd name="connsiteX2" fmla="*/ 20096 w 25121"/>
                <a:gd name="connsiteY2" fmla="*/ 0 h 276329"/>
                <a:gd name="connsiteX3" fmla="*/ 25121 w 25121"/>
                <a:gd name="connsiteY3" fmla="*/ 276329 h 27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1" h="276329">
                  <a:moveTo>
                    <a:pt x="0" y="221063"/>
                  </a:moveTo>
                  <a:lnTo>
                    <a:pt x="0" y="221063"/>
                  </a:lnTo>
                  <a:lnTo>
                    <a:pt x="20096" y="0"/>
                  </a:lnTo>
                  <a:lnTo>
                    <a:pt x="25121" y="276329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2" name="Freeform 111"/>
            <p:cNvSpPr/>
            <p:nvPr/>
          </p:nvSpPr>
          <p:spPr bwMode="auto">
            <a:xfrm>
              <a:off x="4945799" y="5557743"/>
              <a:ext cx="35169" cy="306475"/>
            </a:xfrm>
            <a:custGeom>
              <a:avLst/>
              <a:gdLst>
                <a:gd name="connsiteX0" fmla="*/ 0 w 35169"/>
                <a:gd name="connsiteY0" fmla="*/ 85411 h 306475"/>
                <a:gd name="connsiteX1" fmla="*/ 0 w 35169"/>
                <a:gd name="connsiteY1" fmla="*/ 85411 h 306475"/>
                <a:gd name="connsiteX2" fmla="*/ 5024 w 35169"/>
                <a:gd name="connsiteY2" fmla="*/ 155750 h 306475"/>
                <a:gd name="connsiteX3" fmla="*/ 10048 w 35169"/>
                <a:gd name="connsiteY3" fmla="*/ 170822 h 306475"/>
                <a:gd name="connsiteX4" fmla="*/ 15073 w 35169"/>
                <a:gd name="connsiteY4" fmla="*/ 205991 h 306475"/>
                <a:gd name="connsiteX5" fmla="*/ 20097 w 35169"/>
                <a:gd name="connsiteY5" fmla="*/ 306475 h 306475"/>
                <a:gd name="connsiteX6" fmla="*/ 35169 w 35169"/>
                <a:gd name="connsiteY6" fmla="*/ 0 h 30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69" h="306475">
                  <a:moveTo>
                    <a:pt x="0" y="85411"/>
                  </a:moveTo>
                  <a:lnTo>
                    <a:pt x="0" y="85411"/>
                  </a:lnTo>
                  <a:cubicBezTo>
                    <a:pt x="1675" y="108857"/>
                    <a:pt x="2278" y="132405"/>
                    <a:pt x="5024" y="155750"/>
                  </a:cubicBezTo>
                  <a:cubicBezTo>
                    <a:pt x="5643" y="161009"/>
                    <a:pt x="9009" y="165629"/>
                    <a:pt x="10048" y="170822"/>
                  </a:cubicBezTo>
                  <a:cubicBezTo>
                    <a:pt x="12371" y="182434"/>
                    <a:pt x="13765" y="194221"/>
                    <a:pt x="15073" y="205991"/>
                  </a:cubicBezTo>
                  <a:cubicBezTo>
                    <a:pt x="21462" y="263484"/>
                    <a:pt x="20097" y="253175"/>
                    <a:pt x="20097" y="306475"/>
                  </a:cubicBezTo>
                  <a:lnTo>
                    <a:pt x="35169" y="0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3" name="Freeform 112"/>
            <p:cNvSpPr/>
            <p:nvPr/>
          </p:nvSpPr>
          <p:spPr bwMode="auto">
            <a:xfrm>
              <a:off x="5031835" y="5396969"/>
              <a:ext cx="24830" cy="208503"/>
            </a:xfrm>
            <a:custGeom>
              <a:avLst/>
              <a:gdLst>
                <a:gd name="connsiteX0" fmla="*/ 4399 w 24830"/>
                <a:gd name="connsiteY0" fmla="*/ 205991 h 208503"/>
                <a:gd name="connsiteX1" fmla="*/ 4399 w 24830"/>
                <a:gd name="connsiteY1" fmla="*/ 115556 h 208503"/>
                <a:gd name="connsiteX2" fmla="*/ 9423 w 24830"/>
                <a:gd name="connsiteY2" fmla="*/ 0 h 208503"/>
                <a:gd name="connsiteX3" fmla="*/ 14447 w 24830"/>
                <a:gd name="connsiteY3" fmla="*/ 60290 h 208503"/>
                <a:gd name="connsiteX4" fmla="*/ 19472 w 24830"/>
                <a:gd name="connsiteY4" fmla="*/ 100484 h 208503"/>
                <a:gd name="connsiteX5" fmla="*/ 4399 w 24830"/>
                <a:gd name="connsiteY5" fmla="*/ 205991 h 20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30" h="208503">
                  <a:moveTo>
                    <a:pt x="4399" y="205991"/>
                  </a:moveTo>
                  <a:cubicBezTo>
                    <a:pt x="1887" y="208503"/>
                    <a:pt x="0" y="199136"/>
                    <a:pt x="4399" y="115556"/>
                  </a:cubicBezTo>
                  <a:cubicBezTo>
                    <a:pt x="6425" y="77054"/>
                    <a:pt x="7748" y="38519"/>
                    <a:pt x="9423" y="0"/>
                  </a:cubicBezTo>
                  <a:cubicBezTo>
                    <a:pt x="11098" y="20097"/>
                    <a:pt x="12440" y="40224"/>
                    <a:pt x="14447" y="60290"/>
                  </a:cubicBezTo>
                  <a:cubicBezTo>
                    <a:pt x="15791" y="73725"/>
                    <a:pt x="18302" y="87032"/>
                    <a:pt x="19472" y="100484"/>
                  </a:cubicBezTo>
                  <a:cubicBezTo>
                    <a:pt x="24830" y="162099"/>
                    <a:pt x="6911" y="203479"/>
                    <a:pt x="4399" y="205991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4" name="Freeform 113"/>
            <p:cNvSpPr/>
            <p:nvPr/>
          </p:nvSpPr>
          <p:spPr bwMode="auto">
            <a:xfrm>
              <a:off x="5151447" y="5453946"/>
              <a:ext cx="19778" cy="219352"/>
            </a:xfrm>
            <a:custGeom>
              <a:avLst/>
              <a:gdLst>
                <a:gd name="connsiteX0" fmla="*/ 343 w 19778"/>
                <a:gd name="connsiteY0" fmla="*/ 164086 h 219352"/>
                <a:gd name="connsiteX1" fmla="*/ 5367 w 19778"/>
                <a:gd name="connsiteY1" fmla="*/ 18385 h 219352"/>
                <a:gd name="connsiteX2" fmla="*/ 10392 w 19778"/>
                <a:gd name="connsiteY2" fmla="*/ 73651 h 219352"/>
                <a:gd name="connsiteX3" fmla="*/ 15416 w 19778"/>
                <a:gd name="connsiteY3" fmla="*/ 219352 h 21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78" h="219352">
                  <a:moveTo>
                    <a:pt x="343" y="164086"/>
                  </a:moveTo>
                  <a:cubicBezTo>
                    <a:pt x="2018" y="115519"/>
                    <a:pt x="0" y="66684"/>
                    <a:pt x="5367" y="18385"/>
                  </a:cubicBezTo>
                  <a:cubicBezTo>
                    <a:pt x="7410" y="0"/>
                    <a:pt x="8455" y="55255"/>
                    <a:pt x="10392" y="73651"/>
                  </a:cubicBezTo>
                  <a:cubicBezTo>
                    <a:pt x="19778" y="162813"/>
                    <a:pt x="15416" y="63690"/>
                    <a:pt x="15416" y="219352"/>
                  </a:cubicBez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5" name="Freeform 114"/>
            <p:cNvSpPr/>
            <p:nvPr/>
          </p:nvSpPr>
          <p:spPr bwMode="auto">
            <a:xfrm>
              <a:off x="5392951" y="5743637"/>
              <a:ext cx="50242" cy="236137"/>
            </a:xfrm>
            <a:custGeom>
              <a:avLst/>
              <a:gdLst>
                <a:gd name="connsiteX0" fmla="*/ 0 w 50242"/>
                <a:gd name="connsiteY0" fmla="*/ 55266 h 236137"/>
                <a:gd name="connsiteX1" fmla="*/ 30145 w 50242"/>
                <a:gd name="connsiteY1" fmla="*/ 236137 h 236137"/>
                <a:gd name="connsiteX2" fmla="*/ 50242 w 50242"/>
                <a:gd name="connsiteY2" fmla="*/ 0 h 236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242" h="236137">
                  <a:moveTo>
                    <a:pt x="0" y="55266"/>
                  </a:moveTo>
                  <a:lnTo>
                    <a:pt x="30145" y="236137"/>
                  </a:lnTo>
                  <a:lnTo>
                    <a:pt x="50242" y="0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6" name="Freeform 115"/>
            <p:cNvSpPr/>
            <p:nvPr/>
          </p:nvSpPr>
          <p:spPr bwMode="auto">
            <a:xfrm>
              <a:off x="4418261" y="5492429"/>
              <a:ext cx="25121" cy="291403"/>
            </a:xfrm>
            <a:custGeom>
              <a:avLst/>
              <a:gdLst>
                <a:gd name="connsiteX0" fmla="*/ 0 w 25121"/>
                <a:gd name="connsiteY0" fmla="*/ 50242 h 291403"/>
                <a:gd name="connsiteX1" fmla="*/ 25121 w 25121"/>
                <a:gd name="connsiteY1" fmla="*/ 291403 h 291403"/>
                <a:gd name="connsiteX2" fmla="*/ 25121 w 25121"/>
                <a:gd name="connsiteY2" fmla="*/ 0 h 291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121" h="291403">
                  <a:moveTo>
                    <a:pt x="0" y="50242"/>
                  </a:moveTo>
                  <a:lnTo>
                    <a:pt x="25121" y="291403"/>
                  </a:lnTo>
                  <a:lnTo>
                    <a:pt x="25121" y="0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7" name="Freeform 116"/>
            <p:cNvSpPr/>
            <p:nvPr/>
          </p:nvSpPr>
          <p:spPr bwMode="auto">
            <a:xfrm>
              <a:off x="5513531" y="5577840"/>
              <a:ext cx="35169" cy="256233"/>
            </a:xfrm>
            <a:custGeom>
              <a:avLst/>
              <a:gdLst>
                <a:gd name="connsiteX0" fmla="*/ 0 w 35169"/>
                <a:gd name="connsiteY0" fmla="*/ 60290 h 256233"/>
                <a:gd name="connsiteX1" fmla="*/ 35169 w 35169"/>
                <a:gd name="connsiteY1" fmla="*/ 256233 h 256233"/>
                <a:gd name="connsiteX2" fmla="*/ 35169 w 35169"/>
                <a:gd name="connsiteY2" fmla="*/ 0 h 25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69" h="256233">
                  <a:moveTo>
                    <a:pt x="0" y="60290"/>
                  </a:moveTo>
                  <a:lnTo>
                    <a:pt x="35169" y="256233"/>
                  </a:lnTo>
                  <a:lnTo>
                    <a:pt x="35169" y="0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8" name="Freeform 117"/>
            <p:cNvSpPr/>
            <p:nvPr/>
          </p:nvSpPr>
          <p:spPr bwMode="auto">
            <a:xfrm>
              <a:off x="5709474" y="5507500"/>
              <a:ext cx="35169" cy="366765"/>
            </a:xfrm>
            <a:custGeom>
              <a:avLst/>
              <a:gdLst>
                <a:gd name="connsiteX0" fmla="*/ 0 w 35169"/>
                <a:gd name="connsiteY0" fmla="*/ 0 h 366765"/>
                <a:gd name="connsiteX1" fmla="*/ 15072 w 35169"/>
                <a:gd name="connsiteY1" fmla="*/ 366765 h 366765"/>
                <a:gd name="connsiteX2" fmla="*/ 35169 w 35169"/>
                <a:gd name="connsiteY2" fmla="*/ 50242 h 366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69" h="366765">
                  <a:moveTo>
                    <a:pt x="0" y="0"/>
                  </a:moveTo>
                  <a:lnTo>
                    <a:pt x="15072" y="366765"/>
                  </a:lnTo>
                  <a:lnTo>
                    <a:pt x="35169" y="50242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9" name="Freeform 118"/>
            <p:cNvSpPr/>
            <p:nvPr/>
          </p:nvSpPr>
          <p:spPr bwMode="auto">
            <a:xfrm>
              <a:off x="5779812" y="5472332"/>
              <a:ext cx="50242" cy="291402"/>
            </a:xfrm>
            <a:custGeom>
              <a:avLst/>
              <a:gdLst>
                <a:gd name="connsiteX0" fmla="*/ 0 w 50242"/>
                <a:gd name="connsiteY0" fmla="*/ 195943 h 291402"/>
                <a:gd name="connsiteX1" fmla="*/ 25121 w 50242"/>
                <a:gd name="connsiteY1" fmla="*/ 0 h 291402"/>
                <a:gd name="connsiteX2" fmla="*/ 50242 w 50242"/>
                <a:gd name="connsiteY2" fmla="*/ 291402 h 2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242" h="291402">
                  <a:moveTo>
                    <a:pt x="0" y="195943"/>
                  </a:moveTo>
                  <a:lnTo>
                    <a:pt x="25121" y="0"/>
                  </a:lnTo>
                  <a:lnTo>
                    <a:pt x="50242" y="291402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0" name="Freeform 119"/>
            <p:cNvSpPr/>
            <p:nvPr/>
          </p:nvSpPr>
          <p:spPr bwMode="auto">
            <a:xfrm>
              <a:off x="5855175" y="5623057"/>
              <a:ext cx="40193" cy="231112"/>
            </a:xfrm>
            <a:custGeom>
              <a:avLst/>
              <a:gdLst>
                <a:gd name="connsiteX0" fmla="*/ 0 w 40193"/>
                <a:gd name="connsiteY0" fmla="*/ 185894 h 231112"/>
                <a:gd name="connsiteX1" fmla="*/ 20097 w 40193"/>
                <a:gd name="connsiteY1" fmla="*/ 0 h 231112"/>
                <a:gd name="connsiteX2" fmla="*/ 40193 w 40193"/>
                <a:gd name="connsiteY2" fmla="*/ 231112 h 231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193" h="231112">
                  <a:moveTo>
                    <a:pt x="0" y="185894"/>
                  </a:moveTo>
                  <a:lnTo>
                    <a:pt x="20097" y="0"/>
                  </a:lnTo>
                  <a:lnTo>
                    <a:pt x="40193" y="231112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1" name="Freeform 120"/>
            <p:cNvSpPr/>
            <p:nvPr/>
          </p:nvSpPr>
          <p:spPr bwMode="auto">
            <a:xfrm>
              <a:off x="5980779" y="5763734"/>
              <a:ext cx="40193" cy="190918"/>
            </a:xfrm>
            <a:custGeom>
              <a:avLst/>
              <a:gdLst>
                <a:gd name="connsiteX0" fmla="*/ 0 w 40193"/>
                <a:gd name="connsiteY0" fmla="*/ 50241 h 190918"/>
                <a:gd name="connsiteX1" fmla="*/ 15072 w 40193"/>
                <a:gd name="connsiteY1" fmla="*/ 190918 h 190918"/>
                <a:gd name="connsiteX2" fmla="*/ 40193 w 40193"/>
                <a:gd name="connsiteY2" fmla="*/ 0 h 19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193" h="190918">
                  <a:moveTo>
                    <a:pt x="0" y="50241"/>
                  </a:moveTo>
                  <a:lnTo>
                    <a:pt x="15072" y="190918"/>
                  </a:lnTo>
                  <a:lnTo>
                    <a:pt x="40193" y="0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4" name="Freeform 123"/>
            <p:cNvSpPr/>
            <p:nvPr/>
          </p:nvSpPr>
          <p:spPr bwMode="auto">
            <a:xfrm>
              <a:off x="4437311" y="5962329"/>
              <a:ext cx="25121" cy="291403"/>
            </a:xfrm>
            <a:custGeom>
              <a:avLst/>
              <a:gdLst>
                <a:gd name="connsiteX0" fmla="*/ 0 w 25121"/>
                <a:gd name="connsiteY0" fmla="*/ 50242 h 291403"/>
                <a:gd name="connsiteX1" fmla="*/ 25121 w 25121"/>
                <a:gd name="connsiteY1" fmla="*/ 291403 h 291403"/>
                <a:gd name="connsiteX2" fmla="*/ 25121 w 25121"/>
                <a:gd name="connsiteY2" fmla="*/ 0 h 291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121" h="291403">
                  <a:moveTo>
                    <a:pt x="0" y="50242"/>
                  </a:moveTo>
                  <a:lnTo>
                    <a:pt x="25121" y="291403"/>
                  </a:lnTo>
                  <a:lnTo>
                    <a:pt x="25121" y="0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5" name="Freeform 124"/>
            <p:cNvSpPr/>
            <p:nvPr/>
          </p:nvSpPr>
          <p:spPr bwMode="auto">
            <a:xfrm>
              <a:off x="4702057" y="5764711"/>
              <a:ext cx="25121" cy="276329"/>
            </a:xfrm>
            <a:custGeom>
              <a:avLst/>
              <a:gdLst>
                <a:gd name="connsiteX0" fmla="*/ 0 w 25121"/>
                <a:gd name="connsiteY0" fmla="*/ 221063 h 276329"/>
                <a:gd name="connsiteX1" fmla="*/ 0 w 25121"/>
                <a:gd name="connsiteY1" fmla="*/ 221063 h 276329"/>
                <a:gd name="connsiteX2" fmla="*/ 20096 w 25121"/>
                <a:gd name="connsiteY2" fmla="*/ 0 h 276329"/>
                <a:gd name="connsiteX3" fmla="*/ 25121 w 25121"/>
                <a:gd name="connsiteY3" fmla="*/ 276329 h 27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1" h="276329">
                  <a:moveTo>
                    <a:pt x="0" y="221063"/>
                  </a:moveTo>
                  <a:lnTo>
                    <a:pt x="0" y="221063"/>
                  </a:lnTo>
                  <a:lnTo>
                    <a:pt x="20096" y="0"/>
                  </a:lnTo>
                  <a:lnTo>
                    <a:pt x="25121" y="276329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8" name="Freeform 127"/>
            <p:cNvSpPr/>
            <p:nvPr/>
          </p:nvSpPr>
          <p:spPr bwMode="auto">
            <a:xfrm>
              <a:off x="4863249" y="5919693"/>
              <a:ext cx="35169" cy="306475"/>
            </a:xfrm>
            <a:custGeom>
              <a:avLst/>
              <a:gdLst>
                <a:gd name="connsiteX0" fmla="*/ 0 w 35169"/>
                <a:gd name="connsiteY0" fmla="*/ 85411 h 306475"/>
                <a:gd name="connsiteX1" fmla="*/ 0 w 35169"/>
                <a:gd name="connsiteY1" fmla="*/ 85411 h 306475"/>
                <a:gd name="connsiteX2" fmla="*/ 5024 w 35169"/>
                <a:gd name="connsiteY2" fmla="*/ 155750 h 306475"/>
                <a:gd name="connsiteX3" fmla="*/ 10048 w 35169"/>
                <a:gd name="connsiteY3" fmla="*/ 170822 h 306475"/>
                <a:gd name="connsiteX4" fmla="*/ 15073 w 35169"/>
                <a:gd name="connsiteY4" fmla="*/ 205991 h 306475"/>
                <a:gd name="connsiteX5" fmla="*/ 20097 w 35169"/>
                <a:gd name="connsiteY5" fmla="*/ 306475 h 306475"/>
                <a:gd name="connsiteX6" fmla="*/ 35169 w 35169"/>
                <a:gd name="connsiteY6" fmla="*/ 0 h 30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69" h="306475">
                  <a:moveTo>
                    <a:pt x="0" y="85411"/>
                  </a:moveTo>
                  <a:lnTo>
                    <a:pt x="0" y="85411"/>
                  </a:lnTo>
                  <a:cubicBezTo>
                    <a:pt x="1675" y="108857"/>
                    <a:pt x="2278" y="132405"/>
                    <a:pt x="5024" y="155750"/>
                  </a:cubicBezTo>
                  <a:cubicBezTo>
                    <a:pt x="5643" y="161009"/>
                    <a:pt x="9009" y="165629"/>
                    <a:pt x="10048" y="170822"/>
                  </a:cubicBezTo>
                  <a:cubicBezTo>
                    <a:pt x="12371" y="182434"/>
                    <a:pt x="13765" y="194221"/>
                    <a:pt x="15073" y="205991"/>
                  </a:cubicBezTo>
                  <a:cubicBezTo>
                    <a:pt x="21462" y="263484"/>
                    <a:pt x="20097" y="253175"/>
                    <a:pt x="20097" y="306475"/>
                  </a:cubicBezTo>
                  <a:lnTo>
                    <a:pt x="35169" y="0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9" name="Freeform 128"/>
            <p:cNvSpPr/>
            <p:nvPr/>
          </p:nvSpPr>
          <p:spPr bwMode="auto">
            <a:xfrm>
              <a:off x="5526231" y="5920740"/>
              <a:ext cx="35169" cy="256233"/>
            </a:xfrm>
            <a:custGeom>
              <a:avLst/>
              <a:gdLst>
                <a:gd name="connsiteX0" fmla="*/ 0 w 35169"/>
                <a:gd name="connsiteY0" fmla="*/ 60290 h 256233"/>
                <a:gd name="connsiteX1" fmla="*/ 35169 w 35169"/>
                <a:gd name="connsiteY1" fmla="*/ 256233 h 256233"/>
                <a:gd name="connsiteX2" fmla="*/ 35169 w 35169"/>
                <a:gd name="connsiteY2" fmla="*/ 0 h 25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69" h="256233">
                  <a:moveTo>
                    <a:pt x="0" y="60290"/>
                  </a:moveTo>
                  <a:lnTo>
                    <a:pt x="35169" y="256233"/>
                  </a:lnTo>
                  <a:lnTo>
                    <a:pt x="35169" y="0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2" name="Freeform 131"/>
            <p:cNvSpPr/>
            <p:nvPr/>
          </p:nvSpPr>
          <p:spPr bwMode="auto">
            <a:xfrm>
              <a:off x="5715824" y="5964700"/>
              <a:ext cx="35169" cy="366765"/>
            </a:xfrm>
            <a:custGeom>
              <a:avLst/>
              <a:gdLst>
                <a:gd name="connsiteX0" fmla="*/ 0 w 35169"/>
                <a:gd name="connsiteY0" fmla="*/ 0 h 366765"/>
                <a:gd name="connsiteX1" fmla="*/ 15072 w 35169"/>
                <a:gd name="connsiteY1" fmla="*/ 366765 h 366765"/>
                <a:gd name="connsiteX2" fmla="*/ 35169 w 35169"/>
                <a:gd name="connsiteY2" fmla="*/ 50242 h 366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69" h="366765">
                  <a:moveTo>
                    <a:pt x="0" y="0"/>
                  </a:moveTo>
                  <a:lnTo>
                    <a:pt x="15072" y="366765"/>
                  </a:lnTo>
                  <a:lnTo>
                    <a:pt x="35169" y="50242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3" name="Freeform 132"/>
            <p:cNvSpPr/>
            <p:nvPr/>
          </p:nvSpPr>
          <p:spPr bwMode="auto">
            <a:xfrm>
              <a:off x="5760762" y="5789832"/>
              <a:ext cx="50242" cy="291402"/>
            </a:xfrm>
            <a:custGeom>
              <a:avLst/>
              <a:gdLst>
                <a:gd name="connsiteX0" fmla="*/ 0 w 50242"/>
                <a:gd name="connsiteY0" fmla="*/ 195943 h 291402"/>
                <a:gd name="connsiteX1" fmla="*/ 25121 w 50242"/>
                <a:gd name="connsiteY1" fmla="*/ 0 h 291402"/>
                <a:gd name="connsiteX2" fmla="*/ 50242 w 50242"/>
                <a:gd name="connsiteY2" fmla="*/ 291402 h 2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242" h="291402">
                  <a:moveTo>
                    <a:pt x="0" y="195943"/>
                  </a:moveTo>
                  <a:lnTo>
                    <a:pt x="25121" y="0"/>
                  </a:lnTo>
                  <a:lnTo>
                    <a:pt x="50242" y="291402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4" name="Freeform 133"/>
            <p:cNvSpPr/>
            <p:nvPr/>
          </p:nvSpPr>
          <p:spPr bwMode="auto">
            <a:xfrm>
              <a:off x="5855175" y="5800857"/>
              <a:ext cx="40193" cy="231112"/>
            </a:xfrm>
            <a:custGeom>
              <a:avLst/>
              <a:gdLst>
                <a:gd name="connsiteX0" fmla="*/ 0 w 40193"/>
                <a:gd name="connsiteY0" fmla="*/ 185894 h 231112"/>
                <a:gd name="connsiteX1" fmla="*/ 20097 w 40193"/>
                <a:gd name="connsiteY1" fmla="*/ 0 h 231112"/>
                <a:gd name="connsiteX2" fmla="*/ 40193 w 40193"/>
                <a:gd name="connsiteY2" fmla="*/ 231112 h 231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193" h="231112">
                  <a:moveTo>
                    <a:pt x="0" y="185894"/>
                  </a:moveTo>
                  <a:lnTo>
                    <a:pt x="20097" y="0"/>
                  </a:lnTo>
                  <a:lnTo>
                    <a:pt x="40193" y="231112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5" name="Freeform 134"/>
            <p:cNvSpPr/>
            <p:nvPr/>
          </p:nvSpPr>
          <p:spPr bwMode="auto">
            <a:xfrm>
              <a:off x="4971199" y="5906993"/>
              <a:ext cx="35169" cy="306475"/>
            </a:xfrm>
            <a:custGeom>
              <a:avLst/>
              <a:gdLst>
                <a:gd name="connsiteX0" fmla="*/ 0 w 35169"/>
                <a:gd name="connsiteY0" fmla="*/ 85411 h 306475"/>
                <a:gd name="connsiteX1" fmla="*/ 0 w 35169"/>
                <a:gd name="connsiteY1" fmla="*/ 85411 h 306475"/>
                <a:gd name="connsiteX2" fmla="*/ 5024 w 35169"/>
                <a:gd name="connsiteY2" fmla="*/ 155750 h 306475"/>
                <a:gd name="connsiteX3" fmla="*/ 10048 w 35169"/>
                <a:gd name="connsiteY3" fmla="*/ 170822 h 306475"/>
                <a:gd name="connsiteX4" fmla="*/ 15073 w 35169"/>
                <a:gd name="connsiteY4" fmla="*/ 205991 h 306475"/>
                <a:gd name="connsiteX5" fmla="*/ 20097 w 35169"/>
                <a:gd name="connsiteY5" fmla="*/ 306475 h 306475"/>
                <a:gd name="connsiteX6" fmla="*/ 35169 w 35169"/>
                <a:gd name="connsiteY6" fmla="*/ 0 h 30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69" h="306475">
                  <a:moveTo>
                    <a:pt x="0" y="85411"/>
                  </a:moveTo>
                  <a:lnTo>
                    <a:pt x="0" y="85411"/>
                  </a:lnTo>
                  <a:cubicBezTo>
                    <a:pt x="1675" y="108857"/>
                    <a:pt x="2278" y="132405"/>
                    <a:pt x="5024" y="155750"/>
                  </a:cubicBezTo>
                  <a:cubicBezTo>
                    <a:pt x="5643" y="161009"/>
                    <a:pt x="9009" y="165629"/>
                    <a:pt x="10048" y="170822"/>
                  </a:cubicBezTo>
                  <a:cubicBezTo>
                    <a:pt x="12371" y="182434"/>
                    <a:pt x="13765" y="194221"/>
                    <a:pt x="15073" y="205991"/>
                  </a:cubicBezTo>
                  <a:cubicBezTo>
                    <a:pt x="21462" y="263484"/>
                    <a:pt x="20097" y="253175"/>
                    <a:pt x="20097" y="306475"/>
                  </a:cubicBezTo>
                  <a:lnTo>
                    <a:pt x="35169" y="0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6" name="Freeform 135"/>
            <p:cNvSpPr/>
            <p:nvPr/>
          </p:nvSpPr>
          <p:spPr bwMode="auto">
            <a:xfrm>
              <a:off x="5230851" y="5644061"/>
              <a:ext cx="45719" cy="401933"/>
            </a:xfrm>
            <a:custGeom>
              <a:avLst/>
              <a:gdLst>
                <a:gd name="connsiteX0" fmla="*/ 0 w 25121"/>
                <a:gd name="connsiteY0" fmla="*/ 221063 h 276329"/>
                <a:gd name="connsiteX1" fmla="*/ 0 w 25121"/>
                <a:gd name="connsiteY1" fmla="*/ 221063 h 276329"/>
                <a:gd name="connsiteX2" fmla="*/ 20096 w 25121"/>
                <a:gd name="connsiteY2" fmla="*/ 0 h 276329"/>
                <a:gd name="connsiteX3" fmla="*/ 25121 w 25121"/>
                <a:gd name="connsiteY3" fmla="*/ 276329 h 27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1" h="276329">
                  <a:moveTo>
                    <a:pt x="0" y="221063"/>
                  </a:moveTo>
                  <a:lnTo>
                    <a:pt x="0" y="221063"/>
                  </a:lnTo>
                  <a:lnTo>
                    <a:pt x="20096" y="0"/>
                  </a:lnTo>
                  <a:lnTo>
                    <a:pt x="25121" y="276329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7" name="Freeform 136"/>
            <p:cNvSpPr/>
            <p:nvPr/>
          </p:nvSpPr>
          <p:spPr bwMode="auto">
            <a:xfrm>
              <a:off x="5974429" y="5960584"/>
              <a:ext cx="40193" cy="190918"/>
            </a:xfrm>
            <a:custGeom>
              <a:avLst/>
              <a:gdLst>
                <a:gd name="connsiteX0" fmla="*/ 0 w 40193"/>
                <a:gd name="connsiteY0" fmla="*/ 50241 h 190918"/>
                <a:gd name="connsiteX1" fmla="*/ 15072 w 40193"/>
                <a:gd name="connsiteY1" fmla="*/ 190918 h 190918"/>
                <a:gd name="connsiteX2" fmla="*/ 40193 w 40193"/>
                <a:gd name="connsiteY2" fmla="*/ 0 h 19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193" h="190918">
                  <a:moveTo>
                    <a:pt x="0" y="50241"/>
                  </a:moveTo>
                  <a:lnTo>
                    <a:pt x="15072" y="190918"/>
                  </a:lnTo>
                  <a:lnTo>
                    <a:pt x="40193" y="0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8" name="Freeform 137"/>
            <p:cNvSpPr/>
            <p:nvPr/>
          </p:nvSpPr>
          <p:spPr bwMode="auto">
            <a:xfrm>
              <a:off x="4587757" y="5764711"/>
              <a:ext cx="25121" cy="276329"/>
            </a:xfrm>
            <a:custGeom>
              <a:avLst/>
              <a:gdLst>
                <a:gd name="connsiteX0" fmla="*/ 0 w 25121"/>
                <a:gd name="connsiteY0" fmla="*/ 221063 h 276329"/>
                <a:gd name="connsiteX1" fmla="*/ 0 w 25121"/>
                <a:gd name="connsiteY1" fmla="*/ 221063 h 276329"/>
                <a:gd name="connsiteX2" fmla="*/ 20096 w 25121"/>
                <a:gd name="connsiteY2" fmla="*/ 0 h 276329"/>
                <a:gd name="connsiteX3" fmla="*/ 25121 w 25121"/>
                <a:gd name="connsiteY3" fmla="*/ 276329 h 27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1" h="276329">
                  <a:moveTo>
                    <a:pt x="0" y="221063"/>
                  </a:moveTo>
                  <a:lnTo>
                    <a:pt x="0" y="221063"/>
                  </a:lnTo>
                  <a:lnTo>
                    <a:pt x="20096" y="0"/>
                  </a:lnTo>
                  <a:lnTo>
                    <a:pt x="25121" y="276329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9" name="Freeform 138"/>
            <p:cNvSpPr/>
            <p:nvPr/>
          </p:nvSpPr>
          <p:spPr bwMode="auto">
            <a:xfrm>
              <a:off x="5050885" y="5790669"/>
              <a:ext cx="24830" cy="208503"/>
            </a:xfrm>
            <a:custGeom>
              <a:avLst/>
              <a:gdLst>
                <a:gd name="connsiteX0" fmla="*/ 4399 w 24830"/>
                <a:gd name="connsiteY0" fmla="*/ 205991 h 208503"/>
                <a:gd name="connsiteX1" fmla="*/ 4399 w 24830"/>
                <a:gd name="connsiteY1" fmla="*/ 115556 h 208503"/>
                <a:gd name="connsiteX2" fmla="*/ 9423 w 24830"/>
                <a:gd name="connsiteY2" fmla="*/ 0 h 208503"/>
                <a:gd name="connsiteX3" fmla="*/ 14447 w 24830"/>
                <a:gd name="connsiteY3" fmla="*/ 60290 h 208503"/>
                <a:gd name="connsiteX4" fmla="*/ 19472 w 24830"/>
                <a:gd name="connsiteY4" fmla="*/ 100484 h 208503"/>
                <a:gd name="connsiteX5" fmla="*/ 4399 w 24830"/>
                <a:gd name="connsiteY5" fmla="*/ 205991 h 20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30" h="208503">
                  <a:moveTo>
                    <a:pt x="4399" y="205991"/>
                  </a:moveTo>
                  <a:cubicBezTo>
                    <a:pt x="1887" y="208503"/>
                    <a:pt x="0" y="199136"/>
                    <a:pt x="4399" y="115556"/>
                  </a:cubicBezTo>
                  <a:cubicBezTo>
                    <a:pt x="6425" y="77054"/>
                    <a:pt x="7748" y="38519"/>
                    <a:pt x="9423" y="0"/>
                  </a:cubicBezTo>
                  <a:cubicBezTo>
                    <a:pt x="11098" y="20097"/>
                    <a:pt x="12440" y="40224"/>
                    <a:pt x="14447" y="60290"/>
                  </a:cubicBezTo>
                  <a:cubicBezTo>
                    <a:pt x="15791" y="73725"/>
                    <a:pt x="18302" y="87032"/>
                    <a:pt x="19472" y="100484"/>
                  </a:cubicBezTo>
                  <a:cubicBezTo>
                    <a:pt x="24830" y="162099"/>
                    <a:pt x="6911" y="203479"/>
                    <a:pt x="4399" y="205991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7389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2350" y="1876424"/>
            <a:ext cx="5055450" cy="4505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14176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Chassis </a:t>
            </a:r>
            <a:endParaRPr lang="en-US" sz="2400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 t="16988" b="19691"/>
          <a:stretch>
            <a:fillRect/>
          </a:stretch>
        </p:blipFill>
        <p:spPr bwMode="auto">
          <a:xfrm>
            <a:off x="395288" y="4662065"/>
            <a:ext cx="2881312" cy="1824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 t="12546" b="13653"/>
          <a:stretch>
            <a:fillRect/>
          </a:stretch>
        </p:blipFill>
        <p:spPr bwMode="auto">
          <a:xfrm>
            <a:off x="395287" y="2381250"/>
            <a:ext cx="2955559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95288" y="781050"/>
            <a:ext cx="780534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dirty="0"/>
              <a:t>box to contain and surround circuit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/>
              <a:t>electrically conductive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/>
              <a:t>protects from external interference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/>
              <a:t>needs chassis to be connected to a common zero volts level, or even earth</a:t>
            </a:r>
          </a:p>
          <a:p>
            <a:pPr marL="180975" indent="-180975">
              <a:buFont typeface="Arial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9556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6" name="Picture 8" descr="C:\Documents and Settings\jeremy.foss\Desktop\Clipboard01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291"/>
          <a:stretch/>
        </p:blipFill>
        <p:spPr bwMode="auto">
          <a:xfrm flipH="1">
            <a:off x="5688414" y="2115878"/>
            <a:ext cx="3339560" cy="209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650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1404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Chassis </a:t>
            </a:r>
            <a:endParaRPr lang="en-US" sz="2400" b="1" dirty="0"/>
          </a:p>
        </p:txBody>
      </p:sp>
      <p:sp>
        <p:nvSpPr>
          <p:cNvPr id="27651" name="Rounded Rectangular Callout 59"/>
          <p:cNvSpPr>
            <a:spLocks noChangeArrowheads="1"/>
          </p:cNvSpPr>
          <p:nvPr/>
        </p:nvSpPr>
        <p:spPr bwMode="auto">
          <a:xfrm>
            <a:off x="2473325" y="5621338"/>
            <a:ext cx="4065588" cy="808037"/>
          </a:xfrm>
          <a:prstGeom prst="wedgeRoundRectCallout">
            <a:avLst>
              <a:gd name="adj1" fmla="val -13546"/>
              <a:gd name="adj2" fmla="val -139699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GB"/>
              <a:t>Chassis – is connected to all 0V points in the circuit as a “common rail”</a:t>
            </a:r>
            <a:endParaRPr lang="en-US"/>
          </a:p>
        </p:txBody>
      </p:sp>
      <p:sp>
        <p:nvSpPr>
          <p:cNvPr id="43" name="Rounded Rectangle 42"/>
          <p:cNvSpPr/>
          <p:nvPr/>
        </p:nvSpPr>
        <p:spPr bwMode="auto">
          <a:xfrm>
            <a:off x="1122716" y="1273175"/>
            <a:ext cx="4252678" cy="3532088"/>
          </a:xfrm>
          <a:prstGeom prst="roundRect">
            <a:avLst/>
          </a:prstGeom>
          <a:gradFill>
            <a:gsLst>
              <a:gs pos="0">
                <a:schemeClr val="accent6">
                  <a:lumMod val="40000"/>
                  <a:lumOff val="60000"/>
                  <a:alpha val="78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5875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>
              <a:prstClr val="black">
                <a:alpha val="50000"/>
              </a:prstClr>
            </a:innerShdw>
          </a:effectLst>
          <a:scene3d>
            <a:camera prst="isometricOffAxis2Left">
              <a:rot lat="600000" lon="600000" rev="0"/>
            </a:camera>
            <a:lightRig rig="chilly" dir="t"/>
          </a:scene3d>
          <a:sp3d z="133350" extrusionH="1270000" contourW="19050" prstMaterial="metal">
            <a:bevelB h="190500"/>
            <a:extrusionClr>
              <a:schemeClr val="accent6">
                <a:lumMod val="20000"/>
                <a:lumOff val="80000"/>
              </a:schemeClr>
            </a:extrusionClr>
            <a:contourClr>
              <a:schemeClr val="accent6">
                <a:lumMod val="50000"/>
              </a:schemeClr>
            </a:contourClr>
          </a:sp3d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661" name="Text Box 36"/>
          <p:cNvSpPr txBox="1">
            <a:spLocks noChangeArrowheads="1"/>
          </p:cNvSpPr>
          <p:nvPr/>
        </p:nvSpPr>
        <p:spPr bwMode="auto">
          <a:xfrm>
            <a:off x="3462974" y="4544759"/>
            <a:ext cx="446117" cy="336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0V</a:t>
            </a:r>
            <a:endParaRPr lang="en-US" dirty="0"/>
          </a:p>
        </p:txBody>
      </p:sp>
      <p:sp>
        <p:nvSpPr>
          <p:cNvPr id="27664" name="Oval 33"/>
          <p:cNvSpPr>
            <a:spLocks noChangeArrowheads="1"/>
          </p:cNvSpPr>
          <p:nvPr/>
        </p:nvSpPr>
        <p:spPr bwMode="auto">
          <a:xfrm>
            <a:off x="2907244" y="4752014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3" name="Oval 47"/>
          <p:cNvSpPr>
            <a:spLocks noChangeArrowheads="1"/>
          </p:cNvSpPr>
          <p:nvPr/>
        </p:nvSpPr>
        <p:spPr bwMode="auto">
          <a:xfrm>
            <a:off x="3970405" y="4772166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4" name="TextBox 48"/>
          <p:cNvSpPr txBox="1">
            <a:spLocks noChangeArrowheads="1"/>
          </p:cNvSpPr>
          <p:nvPr/>
        </p:nvSpPr>
        <p:spPr bwMode="auto">
          <a:xfrm>
            <a:off x="5650620" y="2586614"/>
            <a:ext cx="546980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Out</a:t>
            </a:r>
            <a:endParaRPr lang="en-US"/>
          </a:p>
        </p:txBody>
      </p:sp>
      <p:sp>
        <p:nvSpPr>
          <p:cNvPr id="27675" name="TextBox 49"/>
          <p:cNvSpPr txBox="1">
            <a:spLocks noChangeArrowheads="1"/>
          </p:cNvSpPr>
          <p:nvPr/>
        </p:nvSpPr>
        <p:spPr bwMode="auto">
          <a:xfrm>
            <a:off x="5258969" y="3521878"/>
            <a:ext cx="449191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0V</a:t>
            </a:r>
            <a:endParaRPr lang="en-US" dirty="0"/>
          </a:p>
        </p:txBody>
      </p:sp>
      <p:sp>
        <p:nvSpPr>
          <p:cNvPr id="27679" name="Oval 54"/>
          <p:cNvSpPr>
            <a:spLocks noChangeArrowheads="1"/>
          </p:cNvSpPr>
          <p:nvPr/>
        </p:nvSpPr>
        <p:spPr bwMode="auto">
          <a:xfrm>
            <a:off x="1187823" y="3264041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81" name="TextBox 56"/>
          <p:cNvSpPr txBox="1">
            <a:spLocks noChangeArrowheads="1"/>
          </p:cNvSpPr>
          <p:nvPr/>
        </p:nvSpPr>
        <p:spPr bwMode="auto">
          <a:xfrm>
            <a:off x="430213" y="2213881"/>
            <a:ext cx="370638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In</a:t>
            </a:r>
            <a:endParaRPr lang="en-US"/>
          </a:p>
        </p:txBody>
      </p:sp>
      <p:sp>
        <p:nvSpPr>
          <p:cNvPr id="27682" name="TextBox 57"/>
          <p:cNvSpPr txBox="1">
            <a:spLocks noChangeArrowheads="1"/>
          </p:cNvSpPr>
          <p:nvPr/>
        </p:nvSpPr>
        <p:spPr bwMode="auto">
          <a:xfrm>
            <a:off x="395288" y="3349574"/>
            <a:ext cx="449191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0V</a:t>
            </a:r>
            <a:endParaRPr lang="en-US" dirty="0"/>
          </a:p>
        </p:txBody>
      </p:sp>
      <p:pic>
        <p:nvPicPr>
          <p:cNvPr id="63493" name="Picture 5" descr="C:\Documents and Settings\jeremy.foss\Desktop\Clipboard0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123" y="1722476"/>
            <a:ext cx="3521898" cy="256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2"/>
          <p:cNvSpPr/>
          <p:nvPr/>
        </p:nvSpPr>
        <p:spPr bwMode="auto">
          <a:xfrm>
            <a:off x="1692505" y="3530009"/>
            <a:ext cx="1569119" cy="1254642"/>
          </a:xfrm>
          <a:custGeom>
            <a:avLst/>
            <a:gdLst>
              <a:gd name="connsiteX0" fmla="*/ 455272 w 1569119"/>
              <a:gd name="connsiteY0" fmla="*/ 0 h 1254642"/>
              <a:gd name="connsiteX1" fmla="*/ 8704 w 1569119"/>
              <a:gd name="connsiteY1" fmla="*/ 318977 h 1254642"/>
              <a:gd name="connsiteX2" fmla="*/ 221355 w 1569119"/>
              <a:gd name="connsiteY2" fmla="*/ 808075 h 1254642"/>
              <a:gd name="connsiteX3" fmla="*/ 944369 w 1569119"/>
              <a:gd name="connsiteY3" fmla="*/ 871870 h 1254642"/>
              <a:gd name="connsiteX4" fmla="*/ 1465365 w 1569119"/>
              <a:gd name="connsiteY4" fmla="*/ 733647 h 1254642"/>
              <a:gd name="connsiteX5" fmla="*/ 1550425 w 1569119"/>
              <a:gd name="connsiteY5" fmla="*/ 988828 h 1254642"/>
              <a:gd name="connsiteX6" fmla="*/ 1220816 w 1569119"/>
              <a:gd name="connsiteY6" fmla="*/ 1084521 h 1254642"/>
              <a:gd name="connsiteX7" fmla="*/ 1252714 w 1569119"/>
              <a:gd name="connsiteY7" fmla="*/ 1254642 h 125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69119" h="1254642">
                <a:moveTo>
                  <a:pt x="455272" y="0"/>
                </a:moveTo>
                <a:cubicBezTo>
                  <a:pt x="251481" y="92149"/>
                  <a:pt x="47690" y="184298"/>
                  <a:pt x="8704" y="318977"/>
                </a:cubicBezTo>
                <a:cubicBezTo>
                  <a:pt x="-30282" y="453656"/>
                  <a:pt x="65411" y="715926"/>
                  <a:pt x="221355" y="808075"/>
                </a:cubicBezTo>
                <a:cubicBezTo>
                  <a:pt x="377299" y="900224"/>
                  <a:pt x="737034" y="884275"/>
                  <a:pt x="944369" y="871870"/>
                </a:cubicBezTo>
                <a:cubicBezTo>
                  <a:pt x="1151704" y="859465"/>
                  <a:pt x="1364356" y="714154"/>
                  <a:pt x="1465365" y="733647"/>
                </a:cubicBezTo>
                <a:cubicBezTo>
                  <a:pt x="1566374" y="753140"/>
                  <a:pt x="1591183" y="930349"/>
                  <a:pt x="1550425" y="988828"/>
                </a:cubicBezTo>
                <a:cubicBezTo>
                  <a:pt x="1509667" y="1047307"/>
                  <a:pt x="1270434" y="1040219"/>
                  <a:pt x="1220816" y="1084521"/>
                </a:cubicBezTo>
                <a:cubicBezTo>
                  <a:pt x="1171198" y="1128823"/>
                  <a:pt x="1211956" y="1191732"/>
                  <a:pt x="1252714" y="1254642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8" name="Oval 54"/>
          <p:cNvSpPr>
            <a:spLocks noChangeArrowheads="1"/>
          </p:cNvSpPr>
          <p:nvPr/>
        </p:nvSpPr>
        <p:spPr bwMode="auto">
          <a:xfrm>
            <a:off x="2030662" y="3351505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54"/>
          <p:cNvSpPr>
            <a:spLocks noChangeArrowheads="1"/>
          </p:cNvSpPr>
          <p:nvPr/>
        </p:nvSpPr>
        <p:spPr bwMode="auto">
          <a:xfrm>
            <a:off x="2149931" y="3478726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63494" name="Picture 6" descr="C:\Documents and Settings\jeremy.foss\Desktop\Clipboard04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23" y="2878371"/>
            <a:ext cx="775200" cy="71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6" descr="C:\Documents and Settings\jeremy.foss\Desktop\Clipboard04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82101" y="2727295"/>
            <a:ext cx="905648" cy="71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1"/>
          <p:cNvSpPr/>
          <p:nvPr/>
        </p:nvSpPr>
        <p:spPr bwMode="auto">
          <a:xfrm>
            <a:off x="1375575" y="3291840"/>
            <a:ext cx="708405" cy="346740"/>
          </a:xfrm>
          <a:custGeom>
            <a:avLst/>
            <a:gdLst>
              <a:gd name="connsiteX0" fmla="*/ 1134 w 809208"/>
              <a:gd name="connsiteY0" fmla="*/ 0 h 321222"/>
              <a:gd name="connsiteX1" fmla="*/ 128725 w 809208"/>
              <a:gd name="connsiteY1" fmla="*/ 318977 h 321222"/>
              <a:gd name="connsiteX2" fmla="*/ 809208 w 809208"/>
              <a:gd name="connsiteY2" fmla="*/ 116958 h 321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208" h="321222">
                <a:moveTo>
                  <a:pt x="1134" y="0"/>
                </a:moveTo>
                <a:cubicBezTo>
                  <a:pt x="-2410" y="149742"/>
                  <a:pt x="-5954" y="299484"/>
                  <a:pt x="128725" y="318977"/>
                </a:cubicBezTo>
                <a:cubicBezTo>
                  <a:pt x="263404" y="338470"/>
                  <a:pt x="536306" y="227714"/>
                  <a:pt x="809208" y="11695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4" name="Oval 53"/>
          <p:cNvSpPr>
            <a:spLocks noChangeArrowheads="1"/>
          </p:cNvSpPr>
          <p:nvPr/>
        </p:nvSpPr>
        <p:spPr bwMode="auto">
          <a:xfrm>
            <a:off x="1346850" y="3210186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8" name="Oval 53"/>
          <p:cNvSpPr>
            <a:spLocks noChangeArrowheads="1"/>
          </p:cNvSpPr>
          <p:nvPr/>
        </p:nvSpPr>
        <p:spPr bwMode="auto">
          <a:xfrm>
            <a:off x="1259385" y="2939843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 bwMode="auto">
          <a:xfrm>
            <a:off x="1335819" y="2124827"/>
            <a:ext cx="914400" cy="833058"/>
          </a:xfrm>
          <a:custGeom>
            <a:avLst/>
            <a:gdLst>
              <a:gd name="connsiteX0" fmla="*/ 0 w 914400"/>
              <a:gd name="connsiteY0" fmla="*/ 833058 h 833058"/>
              <a:gd name="connsiteX1" fmla="*/ 182880 w 914400"/>
              <a:gd name="connsiteY1" fmla="*/ 141295 h 833058"/>
              <a:gd name="connsiteX2" fmla="*/ 580445 w 914400"/>
              <a:gd name="connsiteY2" fmla="*/ 22025 h 833058"/>
              <a:gd name="connsiteX3" fmla="*/ 914400 w 914400"/>
              <a:gd name="connsiteY3" fmla="*/ 443444 h 83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833058">
                <a:moveTo>
                  <a:pt x="0" y="833058"/>
                </a:moveTo>
                <a:cubicBezTo>
                  <a:pt x="43069" y="554762"/>
                  <a:pt x="86139" y="276467"/>
                  <a:pt x="182880" y="141295"/>
                </a:cubicBezTo>
                <a:cubicBezTo>
                  <a:pt x="279621" y="6123"/>
                  <a:pt x="458525" y="-28333"/>
                  <a:pt x="580445" y="22025"/>
                </a:cubicBezTo>
                <a:cubicBezTo>
                  <a:pt x="702365" y="72383"/>
                  <a:pt x="808382" y="257913"/>
                  <a:pt x="914400" y="443444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2213541" y="2502522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1" name="Oval 44"/>
          <p:cNvSpPr>
            <a:spLocks noChangeArrowheads="1"/>
          </p:cNvSpPr>
          <p:nvPr/>
        </p:nvSpPr>
        <p:spPr bwMode="auto">
          <a:xfrm>
            <a:off x="5033666" y="2783532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0" name="Oval 43"/>
          <p:cNvSpPr>
            <a:spLocks noChangeArrowheads="1"/>
          </p:cNvSpPr>
          <p:nvPr/>
        </p:nvSpPr>
        <p:spPr bwMode="auto">
          <a:xfrm>
            <a:off x="4990041" y="3059108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 bwMode="auto">
          <a:xfrm>
            <a:off x="4007457" y="3062938"/>
            <a:ext cx="1074072" cy="1715796"/>
          </a:xfrm>
          <a:custGeom>
            <a:avLst/>
            <a:gdLst>
              <a:gd name="connsiteX0" fmla="*/ 0 w 1074072"/>
              <a:gd name="connsiteY0" fmla="*/ 1715796 h 1715796"/>
              <a:gd name="connsiteX1" fmla="*/ 246491 w 1074072"/>
              <a:gd name="connsiteY1" fmla="*/ 1206912 h 1715796"/>
              <a:gd name="connsiteX2" fmla="*/ 803082 w 1074072"/>
              <a:gd name="connsiteY2" fmla="*/ 1254620 h 1715796"/>
              <a:gd name="connsiteX3" fmla="*/ 1073426 w 1074072"/>
              <a:gd name="connsiteY3" fmla="*/ 1000179 h 1715796"/>
              <a:gd name="connsiteX4" fmla="*/ 882595 w 1074072"/>
              <a:gd name="connsiteY4" fmla="*/ 364074 h 1715796"/>
              <a:gd name="connsiteX5" fmla="*/ 1017767 w 1074072"/>
              <a:gd name="connsiteY5" fmla="*/ 22168 h 1715796"/>
              <a:gd name="connsiteX6" fmla="*/ 1073426 w 1074072"/>
              <a:gd name="connsiteY6" fmla="*/ 61925 h 171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4072" h="1715796">
                <a:moveTo>
                  <a:pt x="0" y="1715796"/>
                </a:moveTo>
                <a:cubicBezTo>
                  <a:pt x="56322" y="1499785"/>
                  <a:pt x="112644" y="1283775"/>
                  <a:pt x="246491" y="1206912"/>
                </a:cubicBezTo>
                <a:cubicBezTo>
                  <a:pt x="380338" y="1130049"/>
                  <a:pt x="665260" y="1289075"/>
                  <a:pt x="803082" y="1254620"/>
                </a:cubicBezTo>
                <a:cubicBezTo>
                  <a:pt x="940904" y="1220165"/>
                  <a:pt x="1060174" y="1148603"/>
                  <a:pt x="1073426" y="1000179"/>
                </a:cubicBezTo>
                <a:cubicBezTo>
                  <a:pt x="1086678" y="851755"/>
                  <a:pt x="891872" y="527076"/>
                  <a:pt x="882595" y="364074"/>
                </a:cubicBezTo>
                <a:cubicBezTo>
                  <a:pt x="873319" y="201072"/>
                  <a:pt x="985962" y="72526"/>
                  <a:pt x="1017767" y="22168"/>
                </a:cubicBezTo>
                <a:cubicBezTo>
                  <a:pt x="1049572" y="-28190"/>
                  <a:pt x="1061499" y="16867"/>
                  <a:pt x="1073426" y="61925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9" name="Oval 44"/>
          <p:cNvSpPr>
            <a:spLocks noChangeArrowheads="1"/>
          </p:cNvSpPr>
          <p:nvPr/>
        </p:nvSpPr>
        <p:spPr bwMode="auto">
          <a:xfrm>
            <a:off x="2767545" y="3753591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7"/>
          <p:cNvSpPr/>
          <p:nvPr/>
        </p:nvSpPr>
        <p:spPr bwMode="auto">
          <a:xfrm>
            <a:off x="2862470" y="2754877"/>
            <a:ext cx="2234316" cy="1411311"/>
          </a:xfrm>
          <a:custGeom>
            <a:avLst/>
            <a:gdLst>
              <a:gd name="connsiteX0" fmla="*/ 0 w 2234316"/>
              <a:gd name="connsiteY0" fmla="*/ 1069700 h 1411311"/>
              <a:gd name="connsiteX1" fmla="*/ 341906 w 2234316"/>
              <a:gd name="connsiteY1" fmla="*/ 1379801 h 1411311"/>
              <a:gd name="connsiteX2" fmla="*/ 1089328 w 2234316"/>
              <a:gd name="connsiteY2" fmla="*/ 1371850 h 1411311"/>
              <a:gd name="connsiteX3" fmla="*/ 1598212 w 2234316"/>
              <a:gd name="connsiteY3" fmla="*/ 1371850 h 1411311"/>
              <a:gd name="connsiteX4" fmla="*/ 2019631 w 2234316"/>
              <a:gd name="connsiteY4" fmla="*/ 1371850 h 1411311"/>
              <a:gd name="connsiteX5" fmla="*/ 1916264 w 2234316"/>
              <a:gd name="connsiteY5" fmla="*/ 839113 h 1411311"/>
              <a:gd name="connsiteX6" fmla="*/ 1812897 w 2234316"/>
              <a:gd name="connsiteY6" fmla="*/ 274570 h 1411311"/>
              <a:gd name="connsiteX7" fmla="*/ 1828800 w 2234316"/>
              <a:gd name="connsiteY7" fmla="*/ 12177 h 1411311"/>
              <a:gd name="connsiteX8" fmla="*/ 2234316 w 2234316"/>
              <a:gd name="connsiteY8" fmla="*/ 67836 h 1411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4316" h="1411311">
                <a:moveTo>
                  <a:pt x="0" y="1069700"/>
                </a:moveTo>
                <a:cubicBezTo>
                  <a:pt x="80175" y="1199571"/>
                  <a:pt x="160351" y="1329443"/>
                  <a:pt x="341906" y="1379801"/>
                </a:cubicBezTo>
                <a:cubicBezTo>
                  <a:pt x="523461" y="1430159"/>
                  <a:pt x="1089328" y="1371850"/>
                  <a:pt x="1089328" y="1371850"/>
                </a:cubicBezTo>
                <a:lnTo>
                  <a:pt x="1598212" y="1371850"/>
                </a:lnTo>
                <a:cubicBezTo>
                  <a:pt x="1753262" y="1371850"/>
                  <a:pt x="1966622" y="1460639"/>
                  <a:pt x="2019631" y="1371850"/>
                </a:cubicBezTo>
                <a:cubicBezTo>
                  <a:pt x="2072640" y="1283061"/>
                  <a:pt x="1950720" y="1021993"/>
                  <a:pt x="1916264" y="839113"/>
                </a:cubicBezTo>
                <a:cubicBezTo>
                  <a:pt x="1881808" y="656233"/>
                  <a:pt x="1827474" y="412393"/>
                  <a:pt x="1812897" y="274570"/>
                </a:cubicBezTo>
                <a:cubicBezTo>
                  <a:pt x="1798320" y="136747"/>
                  <a:pt x="1758564" y="46633"/>
                  <a:pt x="1828800" y="12177"/>
                </a:cubicBezTo>
                <a:cubicBezTo>
                  <a:pt x="1899037" y="-22279"/>
                  <a:pt x="2066676" y="22778"/>
                  <a:pt x="2234316" y="6783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3" name="TextBox 49"/>
          <p:cNvSpPr txBox="1">
            <a:spLocks noChangeArrowheads="1"/>
          </p:cNvSpPr>
          <p:nvPr/>
        </p:nvSpPr>
        <p:spPr bwMode="auto">
          <a:xfrm>
            <a:off x="7619397" y="2086483"/>
            <a:ext cx="449191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0V</a:t>
            </a:r>
            <a:endParaRPr lang="en-US" dirty="0"/>
          </a:p>
        </p:txBody>
      </p:sp>
      <p:cxnSp>
        <p:nvCxnSpPr>
          <p:cNvPr id="10" name="Straight Arrow Connector 9"/>
          <p:cNvCxnSpPr>
            <a:stCxn id="63" idx="2"/>
          </p:cNvCxnSpPr>
          <p:nvPr/>
        </p:nvCxnSpPr>
        <p:spPr bwMode="auto">
          <a:xfrm flipH="1">
            <a:off x="7538485" y="2424920"/>
            <a:ext cx="305508" cy="6159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704751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1042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Earth </a:t>
            </a:r>
            <a:endParaRPr lang="en-US" sz="2400" b="1" dirty="0"/>
          </a:p>
        </p:txBody>
      </p:sp>
      <p:sp>
        <p:nvSpPr>
          <p:cNvPr id="51" name="Rounded Rectangle 50"/>
          <p:cNvSpPr/>
          <p:nvPr/>
        </p:nvSpPr>
        <p:spPr bwMode="auto">
          <a:xfrm>
            <a:off x="1122716" y="1273175"/>
            <a:ext cx="4252678" cy="3532088"/>
          </a:xfrm>
          <a:prstGeom prst="roundRect">
            <a:avLst/>
          </a:prstGeom>
          <a:gradFill>
            <a:gsLst>
              <a:gs pos="0">
                <a:schemeClr val="accent6">
                  <a:lumMod val="40000"/>
                  <a:lumOff val="60000"/>
                  <a:alpha val="78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5875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>
              <a:prstClr val="black">
                <a:alpha val="50000"/>
              </a:prstClr>
            </a:innerShdw>
          </a:effectLst>
          <a:scene3d>
            <a:camera prst="isometricOffAxis2Left">
              <a:rot lat="600000" lon="600000" rev="0"/>
            </a:camera>
            <a:lightRig rig="chilly" dir="t"/>
          </a:scene3d>
          <a:sp3d z="133350" extrusionH="1270000" contourW="19050" prstMaterial="metal">
            <a:bevelB h="190500"/>
            <a:extrusionClr>
              <a:schemeClr val="accent6">
                <a:lumMod val="20000"/>
                <a:lumOff val="80000"/>
              </a:schemeClr>
            </a:extrusionClr>
            <a:contourClr>
              <a:schemeClr val="accent6">
                <a:lumMod val="50000"/>
              </a:schemeClr>
            </a:contourClr>
          </a:sp3d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" name="Text Box 36"/>
          <p:cNvSpPr txBox="1">
            <a:spLocks noChangeArrowheads="1"/>
          </p:cNvSpPr>
          <p:nvPr/>
        </p:nvSpPr>
        <p:spPr bwMode="auto">
          <a:xfrm>
            <a:off x="3462974" y="4544759"/>
            <a:ext cx="446117" cy="336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0V</a:t>
            </a:r>
            <a:endParaRPr lang="en-US" dirty="0"/>
          </a:p>
        </p:txBody>
      </p:sp>
      <p:sp>
        <p:nvSpPr>
          <p:cNvPr id="53" name="Oval 33"/>
          <p:cNvSpPr>
            <a:spLocks noChangeArrowheads="1"/>
          </p:cNvSpPr>
          <p:nvPr/>
        </p:nvSpPr>
        <p:spPr bwMode="auto">
          <a:xfrm>
            <a:off x="2907244" y="4752014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" name="Oval 47"/>
          <p:cNvSpPr>
            <a:spLocks noChangeArrowheads="1"/>
          </p:cNvSpPr>
          <p:nvPr/>
        </p:nvSpPr>
        <p:spPr bwMode="auto">
          <a:xfrm>
            <a:off x="3970405" y="4772166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 48"/>
          <p:cNvSpPr txBox="1">
            <a:spLocks noChangeArrowheads="1"/>
          </p:cNvSpPr>
          <p:nvPr/>
        </p:nvSpPr>
        <p:spPr bwMode="auto">
          <a:xfrm>
            <a:off x="5650620" y="2586614"/>
            <a:ext cx="546980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Out</a:t>
            </a:r>
            <a:endParaRPr lang="en-US"/>
          </a:p>
        </p:txBody>
      </p:sp>
      <p:sp>
        <p:nvSpPr>
          <p:cNvPr id="56" name="TextBox 49"/>
          <p:cNvSpPr txBox="1">
            <a:spLocks noChangeArrowheads="1"/>
          </p:cNvSpPr>
          <p:nvPr/>
        </p:nvSpPr>
        <p:spPr bwMode="auto">
          <a:xfrm>
            <a:off x="5258969" y="3521878"/>
            <a:ext cx="449191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0V</a:t>
            </a:r>
            <a:endParaRPr lang="en-US" dirty="0"/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1187823" y="3264041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 56"/>
          <p:cNvSpPr txBox="1">
            <a:spLocks noChangeArrowheads="1"/>
          </p:cNvSpPr>
          <p:nvPr/>
        </p:nvSpPr>
        <p:spPr bwMode="auto">
          <a:xfrm>
            <a:off x="430213" y="2213881"/>
            <a:ext cx="370638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In</a:t>
            </a:r>
            <a:endParaRPr lang="en-US"/>
          </a:p>
        </p:txBody>
      </p:sp>
      <p:sp>
        <p:nvSpPr>
          <p:cNvPr id="59" name="TextBox 57"/>
          <p:cNvSpPr txBox="1">
            <a:spLocks noChangeArrowheads="1"/>
          </p:cNvSpPr>
          <p:nvPr/>
        </p:nvSpPr>
        <p:spPr bwMode="auto">
          <a:xfrm>
            <a:off x="395288" y="3349574"/>
            <a:ext cx="449191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0V</a:t>
            </a:r>
            <a:endParaRPr lang="en-US" dirty="0"/>
          </a:p>
        </p:txBody>
      </p:sp>
      <p:pic>
        <p:nvPicPr>
          <p:cNvPr id="60" name="Picture 5" descr="C:\Documents and Settings\jeremy.foss\Desktop\Clipboard0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123" y="1722476"/>
            <a:ext cx="3521898" cy="256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Freeform 60"/>
          <p:cNvSpPr/>
          <p:nvPr/>
        </p:nvSpPr>
        <p:spPr bwMode="auto">
          <a:xfrm>
            <a:off x="1692505" y="3530009"/>
            <a:ext cx="1569119" cy="1254642"/>
          </a:xfrm>
          <a:custGeom>
            <a:avLst/>
            <a:gdLst>
              <a:gd name="connsiteX0" fmla="*/ 455272 w 1569119"/>
              <a:gd name="connsiteY0" fmla="*/ 0 h 1254642"/>
              <a:gd name="connsiteX1" fmla="*/ 8704 w 1569119"/>
              <a:gd name="connsiteY1" fmla="*/ 318977 h 1254642"/>
              <a:gd name="connsiteX2" fmla="*/ 221355 w 1569119"/>
              <a:gd name="connsiteY2" fmla="*/ 808075 h 1254642"/>
              <a:gd name="connsiteX3" fmla="*/ 944369 w 1569119"/>
              <a:gd name="connsiteY3" fmla="*/ 871870 h 1254642"/>
              <a:gd name="connsiteX4" fmla="*/ 1465365 w 1569119"/>
              <a:gd name="connsiteY4" fmla="*/ 733647 h 1254642"/>
              <a:gd name="connsiteX5" fmla="*/ 1550425 w 1569119"/>
              <a:gd name="connsiteY5" fmla="*/ 988828 h 1254642"/>
              <a:gd name="connsiteX6" fmla="*/ 1220816 w 1569119"/>
              <a:gd name="connsiteY6" fmla="*/ 1084521 h 1254642"/>
              <a:gd name="connsiteX7" fmla="*/ 1252714 w 1569119"/>
              <a:gd name="connsiteY7" fmla="*/ 1254642 h 125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69119" h="1254642">
                <a:moveTo>
                  <a:pt x="455272" y="0"/>
                </a:moveTo>
                <a:cubicBezTo>
                  <a:pt x="251481" y="92149"/>
                  <a:pt x="47690" y="184298"/>
                  <a:pt x="8704" y="318977"/>
                </a:cubicBezTo>
                <a:cubicBezTo>
                  <a:pt x="-30282" y="453656"/>
                  <a:pt x="65411" y="715926"/>
                  <a:pt x="221355" y="808075"/>
                </a:cubicBezTo>
                <a:cubicBezTo>
                  <a:pt x="377299" y="900224"/>
                  <a:pt x="737034" y="884275"/>
                  <a:pt x="944369" y="871870"/>
                </a:cubicBezTo>
                <a:cubicBezTo>
                  <a:pt x="1151704" y="859465"/>
                  <a:pt x="1364356" y="714154"/>
                  <a:pt x="1465365" y="733647"/>
                </a:cubicBezTo>
                <a:cubicBezTo>
                  <a:pt x="1566374" y="753140"/>
                  <a:pt x="1591183" y="930349"/>
                  <a:pt x="1550425" y="988828"/>
                </a:cubicBezTo>
                <a:cubicBezTo>
                  <a:pt x="1509667" y="1047307"/>
                  <a:pt x="1270434" y="1040219"/>
                  <a:pt x="1220816" y="1084521"/>
                </a:cubicBezTo>
                <a:cubicBezTo>
                  <a:pt x="1171198" y="1128823"/>
                  <a:pt x="1211956" y="1191732"/>
                  <a:pt x="1252714" y="1254642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2" name="Oval 54"/>
          <p:cNvSpPr>
            <a:spLocks noChangeArrowheads="1"/>
          </p:cNvSpPr>
          <p:nvPr/>
        </p:nvSpPr>
        <p:spPr bwMode="auto">
          <a:xfrm>
            <a:off x="2030662" y="3351505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" name="Oval 54"/>
          <p:cNvSpPr>
            <a:spLocks noChangeArrowheads="1"/>
          </p:cNvSpPr>
          <p:nvPr/>
        </p:nvSpPr>
        <p:spPr bwMode="auto">
          <a:xfrm>
            <a:off x="2149931" y="3478726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64" name="Picture 6" descr="C:\Documents and Settings\jeremy.foss\Desktop\Clipboard0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23" y="2878371"/>
            <a:ext cx="775200" cy="71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" descr="C:\Documents and Settings\jeremy.foss\Desktop\Clipboard0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82101" y="2727295"/>
            <a:ext cx="905648" cy="71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reeform 65"/>
          <p:cNvSpPr/>
          <p:nvPr/>
        </p:nvSpPr>
        <p:spPr bwMode="auto">
          <a:xfrm>
            <a:off x="1375575" y="3291840"/>
            <a:ext cx="708405" cy="346740"/>
          </a:xfrm>
          <a:custGeom>
            <a:avLst/>
            <a:gdLst>
              <a:gd name="connsiteX0" fmla="*/ 1134 w 809208"/>
              <a:gd name="connsiteY0" fmla="*/ 0 h 321222"/>
              <a:gd name="connsiteX1" fmla="*/ 128725 w 809208"/>
              <a:gd name="connsiteY1" fmla="*/ 318977 h 321222"/>
              <a:gd name="connsiteX2" fmla="*/ 809208 w 809208"/>
              <a:gd name="connsiteY2" fmla="*/ 116958 h 321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208" h="321222">
                <a:moveTo>
                  <a:pt x="1134" y="0"/>
                </a:moveTo>
                <a:cubicBezTo>
                  <a:pt x="-2410" y="149742"/>
                  <a:pt x="-5954" y="299484"/>
                  <a:pt x="128725" y="318977"/>
                </a:cubicBezTo>
                <a:cubicBezTo>
                  <a:pt x="263404" y="338470"/>
                  <a:pt x="536306" y="227714"/>
                  <a:pt x="809208" y="11695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7" name="Oval 66"/>
          <p:cNvSpPr>
            <a:spLocks noChangeArrowheads="1"/>
          </p:cNvSpPr>
          <p:nvPr/>
        </p:nvSpPr>
        <p:spPr bwMode="auto">
          <a:xfrm>
            <a:off x="1346850" y="3210186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8" name="Oval 53"/>
          <p:cNvSpPr>
            <a:spLocks noChangeArrowheads="1"/>
          </p:cNvSpPr>
          <p:nvPr/>
        </p:nvSpPr>
        <p:spPr bwMode="auto">
          <a:xfrm>
            <a:off x="1259385" y="2939843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" name="Freeform 68"/>
          <p:cNvSpPr/>
          <p:nvPr/>
        </p:nvSpPr>
        <p:spPr bwMode="auto">
          <a:xfrm>
            <a:off x="1335819" y="2124827"/>
            <a:ext cx="914400" cy="833058"/>
          </a:xfrm>
          <a:custGeom>
            <a:avLst/>
            <a:gdLst>
              <a:gd name="connsiteX0" fmla="*/ 0 w 914400"/>
              <a:gd name="connsiteY0" fmla="*/ 833058 h 833058"/>
              <a:gd name="connsiteX1" fmla="*/ 182880 w 914400"/>
              <a:gd name="connsiteY1" fmla="*/ 141295 h 833058"/>
              <a:gd name="connsiteX2" fmla="*/ 580445 w 914400"/>
              <a:gd name="connsiteY2" fmla="*/ 22025 h 833058"/>
              <a:gd name="connsiteX3" fmla="*/ 914400 w 914400"/>
              <a:gd name="connsiteY3" fmla="*/ 443444 h 83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833058">
                <a:moveTo>
                  <a:pt x="0" y="833058"/>
                </a:moveTo>
                <a:cubicBezTo>
                  <a:pt x="43069" y="554762"/>
                  <a:pt x="86139" y="276467"/>
                  <a:pt x="182880" y="141295"/>
                </a:cubicBezTo>
                <a:cubicBezTo>
                  <a:pt x="279621" y="6123"/>
                  <a:pt x="458525" y="-28333"/>
                  <a:pt x="580445" y="22025"/>
                </a:cubicBezTo>
                <a:cubicBezTo>
                  <a:pt x="702365" y="72383"/>
                  <a:pt x="808382" y="257913"/>
                  <a:pt x="914400" y="443444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0" name="Oval 53"/>
          <p:cNvSpPr>
            <a:spLocks noChangeArrowheads="1"/>
          </p:cNvSpPr>
          <p:nvPr/>
        </p:nvSpPr>
        <p:spPr bwMode="auto">
          <a:xfrm>
            <a:off x="2213541" y="2502522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44"/>
          <p:cNvSpPr>
            <a:spLocks noChangeArrowheads="1"/>
          </p:cNvSpPr>
          <p:nvPr/>
        </p:nvSpPr>
        <p:spPr bwMode="auto">
          <a:xfrm>
            <a:off x="5033666" y="2783532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" name="Oval 43"/>
          <p:cNvSpPr>
            <a:spLocks noChangeArrowheads="1"/>
          </p:cNvSpPr>
          <p:nvPr/>
        </p:nvSpPr>
        <p:spPr bwMode="auto">
          <a:xfrm>
            <a:off x="4990041" y="3059108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 72"/>
          <p:cNvSpPr/>
          <p:nvPr/>
        </p:nvSpPr>
        <p:spPr bwMode="auto">
          <a:xfrm>
            <a:off x="4007457" y="3062938"/>
            <a:ext cx="1074072" cy="1715796"/>
          </a:xfrm>
          <a:custGeom>
            <a:avLst/>
            <a:gdLst>
              <a:gd name="connsiteX0" fmla="*/ 0 w 1074072"/>
              <a:gd name="connsiteY0" fmla="*/ 1715796 h 1715796"/>
              <a:gd name="connsiteX1" fmla="*/ 246491 w 1074072"/>
              <a:gd name="connsiteY1" fmla="*/ 1206912 h 1715796"/>
              <a:gd name="connsiteX2" fmla="*/ 803082 w 1074072"/>
              <a:gd name="connsiteY2" fmla="*/ 1254620 h 1715796"/>
              <a:gd name="connsiteX3" fmla="*/ 1073426 w 1074072"/>
              <a:gd name="connsiteY3" fmla="*/ 1000179 h 1715796"/>
              <a:gd name="connsiteX4" fmla="*/ 882595 w 1074072"/>
              <a:gd name="connsiteY4" fmla="*/ 364074 h 1715796"/>
              <a:gd name="connsiteX5" fmla="*/ 1017767 w 1074072"/>
              <a:gd name="connsiteY5" fmla="*/ 22168 h 1715796"/>
              <a:gd name="connsiteX6" fmla="*/ 1073426 w 1074072"/>
              <a:gd name="connsiteY6" fmla="*/ 61925 h 171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4072" h="1715796">
                <a:moveTo>
                  <a:pt x="0" y="1715796"/>
                </a:moveTo>
                <a:cubicBezTo>
                  <a:pt x="56322" y="1499785"/>
                  <a:pt x="112644" y="1283775"/>
                  <a:pt x="246491" y="1206912"/>
                </a:cubicBezTo>
                <a:cubicBezTo>
                  <a:pt x="380338" y="1130049"/>
                  <a:pt x="665260" y="1289075"/>
                  <a:pt x="803082" y="1254620"/>
                </a:cubicBezTo>
                <a:cubicBezTo>
                  <a:pt x="940904" y="1220165"/>
                  <a:pt x="1060174" y="1148603"/>
                  <a:pt x="1073426" y="1000179"/>
                </a:cubicBezTo>
                <a:cubicBezTo>
                  <a:pt x="1086678" y="851755"/>
                  <a:pt x="891872" y="527076"/>
                  <a:pt x="882595" y="364074"/>
                </a:cubicBezTo>
                <a:cubicBezTo>
                  <a:pt x="873319" y="201072"/>
                  <a:pt x="985962" y="72526"/>
                  <a:pt x="1017767" y="22168"/>
                </a:cubicBezTo>
                <a:cubicBezTo>
                  <a:pt x="1049572" y="-28190"/>
                  <a:pt x="1061499" y="16867"/>
                  <a:pt x="1073426" y="61925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4" name="Oval 44"/>
          <p:cNvSpPr>
            <a:spLocks noChangeArrowheads="1"/>
          </p:cNvSpPr>
          <p:nvPr/>
        </p:nvSpPr>
        <p:spPr bwMode="auto">
          <a:xfrm>
            <a:off x="2767545" y="3753591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" name="Freeform 74"/>
          <p:cNvSpPr/>
          <p:nvPr/>
        </p:nvSpPr>
        <p:spPr bwMode="auto">
          <a:xfrm>
            <a:off x="2862470" y="2754877"/>
            <a:ext cx="2234316" cy="1411311"/>
          </a:xfrm>
          <a:custGeom>
            <a:avLst/>
            <a:gdLst>
              <a:gd name="connsiteX0" fmla="*/ 0 w 2234316"/>
              <a:gd name="connsiteY0" fmla="*/ 1069700 h 1411311"/>
              <a:gd name="connsiteX1" fmla="*/ 341906 w 2234316"/>
              <a:gd name="connsiteY1" fmla="*/ 1379801 h 1411311"/>
              <a:gd name="connsiteX2" fmla="*/ 1089328 w 2234316"/>
              <a:gd name="connsiteY2" fmla="*/ 1371850 h 1411311"/>
              <a:gd name="connsiteX3" fmla="*/ 1598212 w 2234316"/>
              <a:gd name="connsiteY3" fmla="*/ 1371850 h 1411311"/>
              <a:gd name="connsiteX4" fmla="*/ 2019631 w 2234316"/>
              <a:gd name="connsiteY4" fmla="*/ 1371850 h 1411311"/>
              <a:gd name="connsiteX5" fmla="*/ 1916264 w 2234316"/>
              <a:gd name="connsiteY5" fmla="*/ 839113 h 1411311"/>
              <a:gd name="connsiteX6" fmla="*/ 1812897 w 2234316"/>
              <a:gd name="connsiteY6" fmla="*/ 274570 h 1411311"/>
              <a:gd name="connsiteX7" fmla="*/ 1828800 w 2234316"/>
              <a:gd name="connsiteY7" fmla="*/ 12177 h 1411311"/>
              <a:gd name="connsiteX8" fmla="*/ 2234316 w 2234316"/>
              <a:gd name="connsiteY8" fmla="*/ 67836 h 1411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4316" h="1411311">
                <a:moveTo>
                  <a:pt x="0" y="1069700"/>
                </a:moveTo>
                <a:cubicBezTo>
                  <a:pt x="80175" y="1199571"/>
                  <a:pt x="160351" y="1329443"/>
                  <a:pt x="341906" y="1379801"/>
                </a:cubicBezTo>
                <a:cubicBezTo>
                  <a:pt x="523461" y="1430159"/>
                  <a:pt x="1089328" y="1371850"/>
                  <a:pt x="1089328" y="1371850"/>
                </a:cubicBezTo>
                <a:lnTo>
                  <a:pt x="1598212" y="1371850"/>
                </a:lnTo>
                <a:cubicBezTo>
                  <a:pt x="1753262" y="1371850"/>
                  <a:pt x="1966622" y="1460639"/>
                  <a:pt x="2019631" y="1371850"/>
                </a:cubicBezTo>
                <a:cubicBezTo>
                  <a:pt x="2072640" y="1283061"/>
                  <a:pt x="1950720" y="1021993"/>
                  <a:pt x="1916264" y="839113"/>
                </a:cubicBezTo>
                <a:cubicBezTo>
                  <a:pt x="1881808" y="656233"/>
                  <a:pt x="1827474" y="412393"/>
                  <a:pt x="1812897" y="274570"/>
                </a:cubicBezTo>
                <a:cubicBezTo>
                  <a:pt x="1798320" y="136747"/>
                  <a:pt x="1758564" y="46633"/>
                  <a:pt x="1828800" y="12177"/>
                </a:cubicBezTo>
                <a:cubicBezTo>
                  <a:pt x="1899037" y="-22279"/>
                  <a:pt x="2066676" y="22778"/>
                  <a:pt x="2234316" y="6783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28676" name="Group 150"/>
          <p:cNvGrpSpPr>
            <a:grpSpLocks/>
          </p:cNvGrpSpPr>
          <p:nvPr/>
        </p:nvGrpSpPr>
        <p:grpSpPr bwMode="auto">
          <a:xfrm>
            <a:off x="430213" y="4738688"/>
            <a:ext cx="6416675" cy="1909762"/>
            <a:chOff x="430213" y="4739268"/>
            <a:chExt cx="6416636" cy="1909162"/>
          </a:xfrm>
        </p:grpSpPr>
        <p:sp>
          <p:nvSpPr>
            <p:cNvPr id="28677" name="Freeform 141"/>
            <p:cNvSpPr>
              <a:spLocks noChangeArrowheads="1"/>
            </p:cNvSpPr>
            <p:nvPr/>
          </p:nvSpPr>
          <p:spPr bwMode="auto">
            <a:xfrm>
              <a:off x="769434" y="5177910"/>
              <a:ext cx="6021657" cy="1330685"/>
            </a:xfrm>
            <a:custGeom>
              <a:avLst/>
              <a:gdLst>
                <a:gd name="T0" fmla="*/ 0 w 6021657"/>
                <a:gd name="T1" fmla="*/ 353094 h 1330685"/>
                <a:gd name="T2" fmla="*/ 858643 w 6021657"/>
                <a:gd name="T3" fmla="*/ 7408 h 1330685"/>
                <a:gd name="T4" fmla="*/ 1226633 w 6021657"/>
                <a:gd name="T5" fmla="*/ 308645 h 1330685"/>
                <a:gd name="T6" fmla="*/ 1661530 w 6021657"/>
                <a:gd name="T7" fmla="*/ 631875 h 1330685"/>
                <a:gd name="T8" fmla="*/ 3858320 w 6021657"/>
                <a:gd name="T9" fmla="*/ 1289797 h 1330685"/>
                <a:gd name="T10" fmla="*/ 5307977 w 6021657"/>
                <a:gd name="T11" fmla="*/ 877202 h 1330685"/>
                <a:gd name="T12" fmla="*/ 6021657 w 6021657"/>
                <a:gd name="T13" fmla="*/ 832597 h 1330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21657"/>
                <a:gd name="T22" fmla="*/ 0 h 1330685"/>
                <a:gd name="T23" fmla="*/ 6021657 w 6021657"/>
                <a:gd name="T24" fmla="*/ 1330685 h 1330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21657" h="1330685">
                  <a:moveTo>
                    <a:pt x="0" y="353094"/>
                  </a:moveTo>
                  <a:cubicBezTo>
                    <a:pt x="0" y="356811"/>
                    <a:pt x="654204" y="14816"/>
                    <a:pt x="858643" y="7408"/>
                  </a:cubicBezTo>
                  <a:cubicBezTo>
                    <a:pt x="1063082" y="0"/>
                    <a:pt x="1092819" y="204567"/>
                    <a:pt x="1226633" y="308645"/>
                  </a:cubicBezTo>
                  <a:cubicBezTo>
                    <a:pt x="1360447" y="412723"/>
                    <a:pt x="1222915" y="468350"/>
                    <a:pt x="1661530" y="631875"/>
                  </a:cubicBezTo>
                  <a:cubicBezTo>
                    <a:pt x="2100145" y="795400"/>
                    <a:pt x="3250580" y="1248909"/>
                    <a:pt x="3858321" y="1289797"/>
                  </a:cubicBezTo>
                  <a:cubicBezTo>
                    <a:pt x="4466063" y="1330685"/>
                    <a:pt x="4947423" y="953402"/>
                    <a:pt x="5307979" y="877202"/>
                  </a:cubicBezTo>
                  <a:cubicBezTo>
                    <a:pt x="5668535" y="801002"/>
                    <a:pt x="5845096" y="816799"/>
                    <a:pt x="6021657" y="832597"/>
                  </a:cubicBezTo>
                </a:path>
              </a:pathLst>
            </a:custGeom>
            <a:noFill/>
            <a:ln w="101600" algn="ctr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678" name="Freeform 142"/>
            <p:cNvSpPr>
              <a:spLocks noChangeArrowheads="1"/>
            </p:cNvSpPr>
            <p:nvPr/>
          </p:nvSpPr>
          <p:spPr bwMode="auto">
            <a:xfrm rot="-241357">
              <a:off x="825192" y="5317745"/>
              <a:ext cx="6021657" cy="1330685"/>
            </a:xfrm>
            <a:custGeom>
              <a:avLst/>
              <a:gdLst>
                <a:gd name="T0" fmla="*/ 0 w 6021657"/>
                <a:gd name="T1" fmla="*/ 353094 h 1330685"/>
                <a:gd name="T2" fmla="*/ 858643 w 6021657"/>
                <a:gd name="T3" fmla="*/ 7408 h 1330685"/>
                <a:gd name="T4" fmla="*/ 1226633 w 6021657"/>
                <a:gd name="T5" fmla="*/ 308645 h 1330685"/>
                <a:gd name="T6" fmla="*/ 1661530 w 6021657"/>
                <a:gd name="T7" fmla="*/ 631875 h 1330685"/>
                <a:gd name="T8" fmla="*/ 3858320 w 6021657"/>
                <a:gd name="T9" fmla="*/ 1289797 h 1330685"/>
                <a:gd name="T10" fmla="*/ 5307977 w 6021657"/>
                <a:gd name="T11" fmla="*/ 877202 h 1330685"/>
                <a:gd name="T12" fmla="*/ 6021657 w 6021657"/>
                <a:gd name="T13" fmla="*/ 832597 h 1330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21657"/>
                <a:gd name="T22" fmla="*/ 0 h 1330685"/>
                <a:gd name="T23" fmla="*/ 6021657 w 6021657"/>
                <a:gd name="T24" fmla="*/ 1330685 h 1330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21657" h="1330685">
                  <a:moveTo>
                    <a:pt x="0" y="353094"/>
                  </a:moveTo>
                  <a:cubicBezTo>
                    <a:pt x="0" y="356811"/>
                    <a:pt x="654204" y="14816"/>
                    <a:pt x="858643" y="7408"/>
                  </a:cubicBezTo>
                  <a:cubicBezTo>
                    <a:pt x="1063082" y="0"/>
                    <a:pt x="1092819" y="204567"/>
                    <a:pt x="1226633" y="308645"/>
                  </a:cubicBezTo>
                  <a:cubicBezTo>
                    <a:pt x="1360447" y="412723"/>
                    <a:pt x="1222915" y="468350"/>
                    <a:pt x="1661530" y="631875"/>
                  </a:cubicBezTo>
                  <a:cubicBezTo>
                    <a:pt x="2100145" y="795400"/>
                    <a:pt x="3250580" y="1248909"/>
                    <a:pt x="3858321" y="1289797"/>
                  </a:cubicBezTo>
                  <a:cubicBezTo>
                    <a:pt x="4466063" y="1330685"/>
                    <a:pt x="4947423" y="953402"/>
                    <a:pt x="5307979" y="877202"/>
                  </a:cubicBezTo>
                  <a:cubicBezTo>
                    <a:pt x="5668535" y="801002"/>
                    <a:pt x="5845096" y="816799"/>
                    <a:pt x="6021657" y="832597"/>
                  </a:cubicBezTo>
                </a:path>
              </a:pathLst>
            </a:custGeom>
            <a:noFill/>
            <a:ln w="1016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8679" name="Group 143"/>
            <p:cNvGrpSpPr>
              <a:grpSpLocks/>
            </p:cNvGrpSpPr>
            <p:nvPr/>
          </p:nvGrpSpPr>
          <p:grpSpPr bwMode="auto">
            <a:xfrm>
              <a:off x="2062975" y="4783873"/>
              <a:ext cx="4705815" cy="1590908"/>
              <a:chOff x="2062975" y="4783873"/>
              <a:chExt cx="4705815" cy="1590908"/>
            </a:xfrm>
          </p:grpSpPr>
          <p:sp>
            <p:nvSpPr>
              <p:cNvPr id="28684" name="Freeform 144"/>
              <p:cNvSpPr>
                <a:spLocks noChangeArrowheads="1"/>
              </p:cNvSpPr>
              <p:nvPr/>
            </p:nvSpPr>
            <p:spPr bwMode="auto">
              <a:xfrm>
                <a:off x="2085278" y="4783873"/>
                <a:ext cx="4683512" cy="1590908"/>
              </a:xfrm>
              <a:custGeom>
                <a:avLst/>
                <a:gdLst>
                  <a:gd name="T0" fmla="*/ 579863 w 4683512"/>
                  <a:gd name="T1" fmla="*/ 0 h 1590908"/>
                  <a:gd name="T2" fmla="*/ 323385 w 4683512"/>
                  <a:gd name="T3" fmla="*/ 892098 h 1590908"/>
                  <a:gd name="T4" fmla="*/ 2520176 w 4683512"/>
                  <a:gd name="T5" fmla="*/ 1550020 h 1590908"/>
                  <a:gd name="T6" fmla="*/ 3969823 w 4683512"/>
                  <a:gd name="T7" fmla="*/ 1137425 h 1590908"/>
                  <a:gd name="T8" fmla="*/ 4683512 w 4683512"/>
                  <a:gd name="T9" fmla="*/ 1092820 h 15909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683512"/>
                  <a:gd name="T16" fmla="*/ 0 h 1590908"/>
                  <a:gd name="T17" fmla="*/ 4683512 w 4683512"/>
                  <a:gd name="T18" fmla="*/ 1590908 h 15909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683512" h="1590908">
                    <a:moveTo>
                      <a:pt x="579863" y="0"/>
                    </a:moveTo>
                    <a:cubicBezTo>
                      <a:pt x="289931" y="316880"/>
                      <a:pt x="0" y="633761"/>
                      <a:pt x="323385" y="892098"/>
                    </a:cubicBezTo>
                    <a:cubicBezTo>
                      <a:pt x="646770" y="1150435"/>
                      <a:pt x="1912435" y="1509132"/>
                      <a:pt x="2520176" y="1550020"/>
                    </a:cubicBezTo>
                    <a:cubicBezTo>
                      <a:pt x="3127918" y="1590908"/>
                      <a:pt x="3609278" y="1213625"/>
                      <a:pt x="3969834" y="1137425"/>
                    </a:cubicBezTo>
                    <a:cubicBezTo>
                      <a:pt x="4330390" y="1061225"/>
                      <a:pt x="4506951" y="1077022"/>
                      <a:pt x="4683512" y="1092820"/>
                    </a:cubicBezTo>
                  </a:path>
                </a:pathLst>
              </a:custGeom>
              <a:noFill/>
              <a:ln w="101600" algn="ctr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685" name="Freeform 145"/>
              <p:cNvSpPr>
                <a:spLocks noChangeArrowheads="1"/>
              </p:cNvSpPr>
              <p:nvPr/>
            </p:nvSpPr>
            <p:spPr bwMode="auto">
              <a:xfrm>
                <a:off x="2062975" y="4783873"/>
                <a:ext cx="4683512" cy="1590908"/>
              </a:xfrm>
              <a:custGeom>
                <a:avLst/>
                <a:gdLst>
                  <a:gd name="T0" fmla="*/ 579863 w 4683512"/>
                  <a:gd name="T1" fmla="*/ 0 h 1590908"/>
                  <a:gd name="T2" fmla="*/ 323385 w 4683512"/>
                  <a:gd name="T3" fmla="*/ 892098 h 1590908"/>
                  <a:gd name="T4" fmla="*/ 2520176 w 4683512"/>
                  <a:gd name="T5" fmla="*/ 1550020 h 1590908"/>
                  <a:gd name="T6" fmla="*/ 3969823 w 4683512"/>
                  <a:gd name="T7" fmla="*/ 1137425 h 1590908"/>
                  <a:gd name="T8" fmla="*/ 4683512 w 4683512"/>
                  <a:gd name="T9" fmla="*/ 1092820 h 15909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683512"/>
                  <a:gd name="T16" fmla="*/ 0 h 1590908"/>
                  <a:gd name="T17" fmla="*/ 4683512 w 4683512"/>
                  <a:gd name="T18" fmla="*/ 1590908 h 15909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683512" h="1590908">
                    <a:moveTo>
                      <a:pt x="579863" y="0"/>
                    </a:moveTo>
                    <a:cubicBezTo>
                      <a:pt x="289931" y="316880"/>
                      <a:pt x="0" y="633761"/>
                      <a:pt x="323385" y="892098"/>
                    </a:cubicBezTo>
                    <a:cubicBezTo>
                      <a:pt x="646770" y="1150435"/>
                      <a:pt x="1912435" y="1509132"/>
                      <a:pt x="2520176" y="1550020"/>
                    </a:cubicBezTo>
                    <a:cubicBezTo>
                      <a:pt x="3127918" y="1590908"/>
                      <a:pt x="3609278" y="1213625"/>
                      <a:pt x="3969834" y="1137425"/>
                    </a:cubicBezTo>
                    <a:cubicBezTo>
                      <a:pt x="4330390" y="1061225"/>
                      <a:pt x="4506951" y="1077022"/>
                      <a:pt x="4683512" y="1092820"/>
                    </a:cubicBezTo>
                  </a:path>
                </a:pathLst>
              </a:custGeom>
              <a:noFill/>
              <a:ln w="101600" algn="ctr">
                <a:solidFill>
                  <a:srgbClr val="00B05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8680" name="TextBox 146"/>
            <p:cNvSpPr txBox="1">
              <a:spLocks noChangeArrowheads="1"/>
            </p:cNvSpPr>
            <p:nvPr/>
          </p:nvSpPr>
          <p:spPr bwMode="auto">
            <a:xfrm>
              <a:off x="2430966" y="5140712"/>
              <a:ext cx="69923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earth</a:t>
              </a:r>
              <a:endParaRPr lang="en-US"/>
            </a:p>
          </p:txBody>
        </p:sp>
        <p:sp>
          <p:nvSpPr>
            <p:cNvPr id="28681" name="TextBox 147"/>
            <p:cNvSpPr txBox="1">
              <a:spLocks noChangeArrowheads="1"/>
            </p:cNvSpPr>
            <p:nvPr/>
          </p:nvSpPr>
          <p:spPr bwMode="auto">
            <a:xfrm>
              <a:off x="430213" y="5062653"/>
              <a:ext cx="5229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live</a:t>
              </a:r>
              <a:endParaRPr lang="en-US"/>
            </a:p>
          </p:txBody>
        </p:sp>
        <p:sp>
          <p:nvSpPr>
            <p:cNvPr id="28682" name="TextBox 148"/>
            <p:cNvSpPr txBox="1">
              <a:spLocks noChangeArrowheads="1"/>
            </p:cNvSpPr>
            <p:nvPr/>
          </p:nvSpPr>
          <p:spPr bwMode="auto">
            <a:xfrm>
              <a:off x="430213" y="5921297"/>
              <a:ext cx="8851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neutral</a:t>
              </a:r>
              <a:endParaRPr lang="en-US"/>
            </a:p>
          </p:txBody>
        </p:sp>
        <p:sp>
          <p:nvSpPr>
            <p:cNvPr id="28683" name="Oval 149"/>
            <p:cNvSpPr>
              <a:spLocks noChangeArrowheads="1"/>
            </p:cNvSpPr>
            <p:nvPr/>
          </p:nvSpPr>
          <p:spPr bwMode="auto">
            <a:xfrm>
              <a:off x="2542478" y="4739268"/>
              <a:ext cx="178420" cy="14496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8188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53" descr="http://www.bbc.co.uk/schools/gcsebitesize/science/images/68_wiring_a_plug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75" y="3098800"/>
            <a:ext cx="281940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Freeform 64"/>
          <p:cNvSpPr>
            <a:spLocks noChangeArrowheads="1"/>
          </p:cNvSpPr>
          <p:nvPr/>
        </p:nvSpPr>
        <p:spPr bwMode="auto">
          <a:xfrm>
            <a:off x="769938" y="5178425"/>
            <a:ext cx="6021387" cy="1330325"/>
          </a:xfrm>
          <a:custGeom>
            <a:avLst/>
            <a:gdLst>
              <a:gd name="T0" fmla="*/ 0 w 6021657"/>
              <a:gd name="T1" fmla="*/ 352617 h 1330685"/>
              <a:gd name="T2" fmla="*/ 858453 w 6021657"/>
              <a:gd name="T3" fmla="*/ 7398 h 1330685"/>
              <a:gd name="T4" fmla="*/ 1226358 w 6021657"/>
              <a:gd name="T5" fmla="*/ 308230 h 1330685"/>
              <a:gd name="T6" fmla="*/ 1661160 w 6021657"/>
              <a:gd name="T7" fmla="*/ 631020 h 1330685"/>
              <a:gd name="T8" fmla="*/ 3857451 w 6021657"/>
              <a:gd name="T9" fmla="*/ 1288052 h 1330685"/>
              <a:gd name="T10" fmla="*/ 5306779 w 6021657"/>
              <a:gd name="T11" fmla="*/ 876017 h 1330685"/>
              <a:gd name="T12" fmla="*/ 6020299 w 6021657"/>
              <a:gd name="T13" fmla="*/ 831472 h 13306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021657"/>
              <a:gd name="T22" fmla="*/ 0 h 1330685"/>
              <a:gd name="T23" fmla="*/ 6021657 w 6021657"/>
              <a:gd name="T24" fmla="*/ 1330685 h 133068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021657" h="1330685">
                <a:moveTo>
                  <a:pt x="0" y="353094"/>
                </a:moveTo>
                <a:cubicBezTo>
                  <a:pt x="0" y="356811"/>
                  <a:pt x="654204" y="14816"/>
                  <a:pt x="858643" y="7408"/>
                </a:cubicBezTo>
                <a:cubicBezTo>
                  <a:pt x="1063082" y="0"/>
                  <a:pt x="1092819" y="204567"/>
                  <a:pt x="1226633" y="308645"/>
                </a:cubicBezTo>
                <a:cubicBezTo>
                  <a:pt x="1360447" y="412723"/>
                  <a:pt x="1222915" y="468350"/>
                  <a:pt x="1661530" y="631875"/>
                </a:cubicBezTo>
                <a:cubicBezTo>
                  <a:pt x="2100145" y="795400"/>
                  <a:pt x="3250580" y="1248909"/>
                  <a:pt x="3858321" y="1289797"/>
                </a:cubicBezTo>
                <a:cubicBezTo>
                  <a:pt x="4466063" y="1330685"/>
                  <a:pt x="4947423" y="953402"/>
                  <a:pt x="5307979" y="877202"/>
                </a:cubicBezTo>
                <a:cubicBezTo>
                  <a:pt x="5668535" y="801002"/>
                  <a:pt x="5845096" y="816799"/>
                  <a:pt x="6021657" y="832597"/>
                </a:cubicBezTo>
              </a:path>
            </a:pathLst>
          </a:custGeom>
          <a:noFill/>
          <a:ln w="101600" algn="ctr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00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2820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Mains Plug Wiring</a:t>
            </a:r>
            <a:endParaRPr lang="en-US" sz="2400" b="1" dirty="0"/>
          </a:p>
        </p:txBody>
      </p:sp>
      <p:sp>
        <p:nvSpPr>
          <p:cNvPr id="29702" name="Freeform 66"/>
          <p:cNvSpPr>
            <a:spLocks noChangeArrowheads="1"/>
          </p:cNvSpPr>
          <p:nvPr/>
        </p:nvSpPr>
        <p:spPr bwMode="auto">
          <a:xfrm rot="-241357">
            <a:off x="825500" y="5318125"/>
            <a:ext cx="6021388" cy="1330325"/>
          </a:xfrm>
          <a:custGeom>
            <a:avLst/>
            <a:gdLst>
              <a:gd name="T0" fmla="*/ 0 w 6021657"/>
              <a:gd name="T1" fmla="*/ 352617 h 1330685"/>
              <a:gd name="T2" fmla="*/ 858453 w 6021657"/>
              <a:gd name="T3" fmla="*/ 7398 h 1330685"/>
              <a:gd name="T4" fmla="*/ 1226363 w 6021657"/>
              <a:gd name="T5" fmla="*/ 308230 h 1330685"/>
              <a:gd name="T6" fmla="*/ 1661160 w 6021657"/>
              <a:gd name="T7" fmla="*/ 631020 h 1330685"/>
              <a:gd name="T8" fmla="*/ 3857460 w 6021657"/>
              <a:gd name="T9" fmla="*/ 1288052 h 1330685"/>
              <a:gd name="T10" fmla="*/ 5306796 w 6021657"/>
              <a:gd name="T11" fmla="*/ 876017 h 1330685"/>
              <a:gd name="T12" fmla="*/ 6020316 w 6021657"/>
              <a:gd name="T13" fmla="*/ 831472 h 13306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021657"/>
              <a:gd name="T22" fmla="*/ 0 h 1330685"/>
              <a:gd name="T23" fmla="*/ 6021657 w 6021657"/>
              <a:gd name="T24" fmla="*/ 1330685 h 133068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021657" h="1330685">
                <a:moveTo>
                  <a:pt x="0" y="353094"/>
                </a:moveTo>
                <a:cubicBezTo>
                  <a:pt x="0" y="356811"/>
                  <a:pt x="654204" y="14816"/>
                  <a:pt x="858643" y="7408"/>
                </a:cubicBezTo>
                <a:cubicBezTo>
                  <a:pt x="1063082" y="0"/>
                  <a:pt x="1092819" y="204567"/>
                  <a:pt x="1226633" y="308645"/>
                </a:cubicBezTo>
                <a:cubicBezTo>
                  <a:pt x="1360447" y="412723"/>
                  <a:pt x="1222915" y="468350"/>
                  <a:pt x="1661530" y="631875"/>
                </a:cubicBezTo>
                <a:cubicBezTo>
                  <a:pt x="2100145" y="795400"/>
                  <a:pt x="3250580" y="1248909"/>
                  <a:pt x="3858321" y="1289797"/>
                </a:cubicBezTo>
                <a:cubicBezTo>
                  <a:pt x="4466063" y="1330685"/>
                  <a:pt x="4947423" y="953402"/>
                  <a:pt x="5307979" y="877202"/>
                </a:cubicBezTo>
                <a:cubicBezTo>
                  <a:pt x="5668535" y="801002"/>
                  <a:pt x="5845096" y="816799"/>
                  <a:pt x="6021657" y="832597"/>
                </a:cubicBezTo>
              </a:path>
            </a:pathLst>
          </a:custGeom>
          <a:noFill/>
          <a:ln w="101600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29703" name="Group 62"/>
          <p:cNvGrpSpPr>
            <a:grpSpLocks/>
          </p:cNvGrpSpPr>
          <p:nvPr/>
        </p:nvGrpSpPr>
        <p:grpSpPr bwMode="auto">
          <a:xfrm>
            <a:off x="2063750" y="4783138"/>
            <a:ext cx="4705350" cy="1592262"/>
            <a:chOff x="2062975" y="4783873"/>
            <a:chExt cx="4705815" cy="1590908"/>
          </a:xfrm>
        </p:grpSpPr>
        <p:sp>
          <p:nvSpPr>
            <p:cNvPr id="29709" name="Freeform 60"/>
            <p:cNvSpPr>
              <a:spLocks noChangeArrowheads="1"/>
            </p:cNvSpPr>
            <p:nvPr/>
          </p:nvSpPr>
          <p:spPr bwMode="auto">
            <a:xfrm>
              <a:off x="2085278" y="4783873"/>
              <a:ext cx="4683512" cy="1590908"/>
            </a:xfrm>
            <a:custGeom>
              <a:avLst/>
              <a:gdLst>
                <a:gd name="T0" fmla="*/ 579863 w 4683512"/>
                <a:gd name="T1" fmla="*/ 0 h 1590908"/>
                <a:gd name="T2" fmla="*/ 323385 w 4683512"/>
                <a:gd name="T3" fmla="*/ 892098 h 1590908"/>
                <a:gd name="T4" fmla="*/ 2520176 w 4683512"/>
                <a:gd name="T5" fmla="*/ 1550020 h 1590908"/>
                <a:gd name="T6" fmla="*/ 3969823 w 4683512"/>
                <a:gd name="T7" fmla="*/ 1137425 h 1590908"/>
                <a:gd name="T8" fmla="*/ 4683512 w 4683512"/>
                <a:gd name="T9" fmla="*/ 1092820 h 15909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3512"/>
                <a:gd name="T16" fmla="*/ 0 h 1590908"/>
                <a:gd name="T17" fmla="*/ 4683512 w 4683512"/>
                <a:gd name="T18" fmla="*/ 1590908 h 15909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3512" h="1590908">
                  <a:moveTo>
                    <a:pt x="579863" y="0"/>
                  </a:moveTo>
                  <a:cubicBezTo>
                    <a:pt x="289931" y="316880"/>
                    <a:pt x="0" y="633761"/>
                    <a:pt x="323385" y="892098"/>
                  </a:cubicBezTo>
                  <a:cubicBezTo>
                    <a:pt x="646770" y="1150435"/>
                    <a:pt x="1912435" y="1509132"/>
                    <a:pt x="2520176" y="1550020"/>
                  </a:cubicBezTo>
                  <a:cubicBezTo>
                    <a:pt x="3127918" y="1590908"/>
                    <a:pt x="3609278" y="1213625"/>
                    <a:pt x="3969834" y="1137425"/>
                  </a:cubicBezTo>
                  <a:cubicBezTo>
                    <a:pt x="4330390" y="1061225"/>
                    <a:pt x="4506951" y="1077022"/>
                    <a:pt x="4683512" y="1092820"/>
                  </a:cubicBezTo>
                </a:path>
              </a:pathLst>
            </a:custGeom>
            <a:noFill/>
            <a:ln w="101600" algn="ctr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10" name="Freeform 61"/>
            <p:cNvSpPr>
              <a:spLocks noChangeArrowheads="1"/>
            </p:cNvSpPr>
            <p:nvPr/>
          </p:nvSpPr>
          <p:spPr bwMode="auto">
            <a:xfrm>
              <a:off x="2062975" y="4783873"/>
              <a:ext cx="4683512" cy="1590908"/>
            </a:xfrm>
            <a:custGeom>
              <a:avLst/>
              <a:gdLst>
                <a:gd name="T0" fmla="*/ 579863 w 4683512"/>
                <a:gd name="T1" fmla="*/ 0 h 1590908"/>
                <a:gd name="T2" fmla="*/ 323385 w 4683512"/>
                <a:gd name="T3" fmla="*/ 892098 h 1590908"/>
                <a:gd name="T4" fmla="*/ 2520176 w 4683512"/>
                <a:gd name="T5" fmla="*/ 1550020 h 1590908"/>
                <a:gd name="T6" fmla="*/ 3969823 w 4683512"/>
                <a:gd name="T7" fmla="*/ 1137425 h 1590908"/>
                <a:gd name="T8" fmla="*/ 4683512 w 4683512"/>
                <a:gd name="T9" fmla="*/ 1092820 h 15909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3512"/>
                <a:gd name="T16" fmla="*/ 0 h 1590908"/>
                <a:gd name="T17" fmla="*/ 4683512 w 4683512"/>
                <a:gd name="T18" fmla="*/ 1590908 h 15909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3512" h="1590908">
                  <a:moveTo>
                    <a:pt x="579863" y="0"/>
                  </a:moveTo>
                  <a:cubicBezTo>
                    <a:pt x="289931" y="316880"/>
                    <a:pt x="0" y="633761"/>
                    <a:pt x="323385" y="892098"/>
                  </a:cubicBezTo>
                  <a:cubicBezTo>
                    <a:pt x="646770" y="1150435"/>
                    <a:pt x="1912435" y="1509132"/>
                    <a:pt x="2520176" y="1550020"/>
                  </a:cubicBezTo>
                  <a:cubicBezTo>
                    <a:pt x="3127918" y="1590908"/>
                    <a:pt x="3609278" y="1213625"/>
                    <a:pt x="3969834" y="1137425"/>
                  </a:cubicBezTo>
                  <a:cubicBezTo>
                    <a:pt x="4330390" y="1061225"/>
                    <a:pt x="4506951" y="1077022"/>
                    <a:pt x="4683512" y="1092820"/>
                  </a:cubicBezTo>
                </a:path>
              </a:pathLst>
            </a:custGeom>
            <a:noFill/>
            <a:ln w="101600" algn="ctr">
              <a:solidFill>
                <a:srgbClr val="00B05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9704" name="TextBox 67"/>
          <p:cNvSpPr txBox="1">
            <a:spLocks noChangeArrowheads="1"/>
          </p:cNvSpPr>
          <p:nvPr/>
        </p:nvSpPr>
        <p:spPr bwMode="auto">
          <a:xfrm>
            <a:off x="2430463" y="5140325"/>
            <a:ext cx="7000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earth</a:t>
            </a:r>
            <a:endParaRPr lang="en-US"/>
          </a:p>
        </p:txBody>
      </p:sp>
      <p:sp>
        <p:nvSpPr>
          <p:cNvPr id="29705" name="TextBox 68"/>
          <p:cNvSpPr txBox="1">
            <a:spLocks noChangeArrowheads="1"/>
          </p:cNvSpPr>
          <p:nvPr/>
        </p:nvSpPr>
        <p:spPr bwMode="auto">
          <a:xfrm>
            <a:off x="430213" y="5062538"/>
            <a:ext cx="5222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live</a:t>
            </a:r>
            <a:endParaRPr lang="en-US"/>
          </a:p>
        </p:txBody>
      </p:sp>
      <p:sp>
        <p:nvSpPr>
          <p:cNvPr id="29706" name="TextBox 69"/>
          <p:cNvSpPr txBox="1">
            <a:spLocks noChangeArrowheads="1"/>
          </p:cNvSpPr>
          <p:nvPr/>
        </p:nvSpPr>
        <p:spPr bwMode="auto">
          <a:xfrm>
            <a:off x="430213" y="5921375"/>
            <a:ext cx="885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neutral</a:t>
            </a:r>
            <a:endParaRPr lang="en-US"/>
          </a:p>
        </p:txBody>
      </p:sp>
      <p:sp>
        <p:nvSpPr>
          <p:cNvPr id="29707" name="Oval 70"/>
          <p:cNvSpPr>
            <a:spLocks noChangeArrowheads="1"/>
          </p:cNvSpPr>
          <p:nvPr/>
        </p:nvSpPr>
        <p:spPr bwMode="auto">
          <a:xfrm>
            <a:off x="2543175" y="4738688"/>
            <a:ext cx="177800" cy="14605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" name="Rounded Rectangle 76"/>
          <p:cNvSpPr/>
          <p:nvPr/>
        </p:nvSpPr>
        <p:spPr bwMode="auto">
          <a:xfrm>
            <a:off x="1122716" y="1273175"/>
            <a:ext cx="4252678" cy="3532088"/>
          </a:xfrm>
          <a:prstGeom prst="roundRect">
            <a:avLst/>
          </a:prstGeom>
          <a:gradFill>
            <a:gsLst>
              <a:gs pos="0">
                <a:schemeClr val="accent6">
                  <a:lumMod val="40000"/>
                  <a:lumOff val="60000"/>
                  <a:alpha val="78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5875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>
              <a:prstClr val="black">
                <a:alpha val="50000"/>
              </a:prstClr>
            </a:innerShdw>
          </a:effectLst>
          <a:scene3d>
            <a:camera prst="isometricOffAxis2Left">
              <a:rot lat="600000" lon="600000" rev="0"/>
            </a:camera>
            <a:lightRig rig="chilly" dir="t"/>
          </a:scene3d>
          <a:sp3d z="133350" extrusionH="1270000" contourW="19050" prstMaterial="metal">
            <a:bevelB h="190500"/>
            <a:extrusionClr>
              <a:schemeClr val="accent6">
                <a:lumMod val="20000"/>
                <a:lumOff val="80000"/>
              </a:schemeClr>
            </a:extrusionClr>
            <a:contourClr>
              <a:schemeClr val="accent6">
                <a:lumMod val="50000"/>
              </a:schemeClr>
            </a:contourClr>
          </a:sp3d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" name="Text Box 36"/>
          <p:cNvSpPr txBox="1">
            <a:spLocks noChangeArrowheads="1"/>
          </p:cNvSpPr>
          <p:nvPr/>
        </p:nvSpPr>
        <p:spPr bwMode="auto">
          <a:xfrm>
            <a:off x="3462974" y="4544759"/>
            <a:ext cx="446117" cy="336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0V</a:t>
            </a:r>
            <a:endParaRPr lang="en-US" dirty="0"/>
          </a:p>
        </p:txBody>
      </p:sp>
      <p:sp>
        <p:nvSpPr>
          <p:cNvPr id="79" name="Oval 33"/>
          <p:cNvSpPr>
            <a:spLocks noChangeArrowheads="1"/>
          </p:cNvSpPr>
          <p:nvPr/>
        </p:nvSpPr>
        <p:spPr bwMode="auto">
          <a:xfrm>
            <a:off x="2907244" y="4752014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0" name="Oval 47"/>
          <p:cNvSpPr>
            <a:spLocks noChangeArrowheads="1"/>
          </p:cNvSpPr>
          <p:nvPr/>
        </p:nvSpPr>
        <p:spPr bwMode="auto">
          <a:xfrm>
            <a:off x="3970405" y="4772166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 48"/>
          <p:cNvSpPr txBox="1">
            <a:spLocks noChangeArrowheads="1"/>
          </p:cNvSpPr>
          <p:nvPr/>
        </p:nvSpPr>
        <p:spPr bwMode="auto">
          <a:xfrm>
            <a:off x="5650620" y="2586614"/>
            <a:ext cx="546980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Out</a:t>
            </a:r>
            <a:endParaRPr lang="en-US"/>
          </a:p>
        </p:txBody>
      </p:sp>
      <p:sp>
        <p:nvSpPr>
          <p:cNvPr id="82" name="TextBox 49"/>
          <p:cNvSpPr txBox="1">
            <a:spLocks noChangeArrowheads="1"/>
          </p:cNvSpPr>
          <p:nvPr/>
        </p:nvSpPr>
        <p:spPr bwMode="auto">
          <a:xfrm>
            <a:off x="5258969" y="3521878"/>
            <a:ext cx="449191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0V</a:t>
            </a:r>
            <a:endParaRPr lang="en-US" dirty="0"/>
          </a:p>
        </p:txBody>
      </p:sp>
      <p:sp>
        <p:nvSpPr>
          <p:cNvPr id="83" name="Oval 54"/>
          <p:cNvSpPr>
            <a:spLocks noChangeArrowheads="1"/>
          </p:cNvSpPr>
          <p:nvPr/>
        </p:nvSpPr>
        <p:spPr bwMode="auto">
          <a:xfrm>
            <a:off x="1187823" y="3264041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Box 56"/>
          <p:cNvSpPr txBox="1">
            <a:spLocks noChangeArrowheads="1"/>
          </p:cNvSpPr>
          <p:nvPr/>
        </p:nvSpPr>
        <p:spPr bwMode="auto">
          <a:xfrm>
            <a:off x="430213" y="2213881"/>
            <a:ext cx="370638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In</a:t>
            </a:r>
            <a:endParaRPr lang="en-US"/>
          </a:p>
        </p:txBody>
      </p:sp>
      <p:sp>
        <p:nvSpPr>
          <p:cNvPr id="85" name="TextBox 57"/>
          <p:cNvSpPr txBox="1">
            <a:spLocks noChangeArrowheads="1"/>
          </p:cNvSpPr>
          <p:nvPr/>
        </p:nvSpPr>
        <p:spPr bwMode="auto">
          <a:xfrm>
            <a:off x="395288" y="3349574"/>
            <a:ext cx="449191" cy="3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0V</a:t>
            </a:r>
            <a:endParaRPr lang="en-US" dirty="0"/>
          </a:p>
        </p:txBody>
      </p:sp>
      <p:pic>
        <p:nvPicPr>
          <p:cNvPr id="86" name="Picture 5" descr="C:\Documents and Settings\jeremy.foss\Desktop\Clipboard0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123" y="1722476"/>
            <a:ext cx="3521898" cy="256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Freeform 86"/>
          <p:cNvSpPr/>
          <p:nvPr/>
        </p:nvSpPr>
        <p:spPr bwMode="auto">
          <a:xfrm>
            <a:off x="1692505" y="3530009"/>
            <a:ext cx="1569119" cy="1254642"/>
          </a:xfrm>
          <a:custGeom>
            <a:avLst/>
            <a:gdLst>
              <a:gd name="connsiteX0" fmla="*/ 455272 w 1569119"/>
              <a:gd name="connsiteY0" fmla="*/ 0 h 1254642"/>
              <a:gd name="connsiteX1" fmla="*/ 8704 w 1569119"/>
              <a:gd name="connsiteY1" fmla="*/ 318977 h 1254642"/>
              <a:gd name="connsiteX2" fmla="*/ 221355 w 1569119"/>
              <a:gd name="connsiteY2" fmla="*/ 808075 h 1254642"/>
              <a:gd name="connsiteX3" fmla="*/ 944369 w 1569119"/>
              <a:gd name="connsiteY3" fmla="*/ 871870 h 1254642"/>
              <a:gd name="connsiteX4" fmla="*/ 1465365 w 1569119"/>
              <a:gd name="connsiteY4" fmla="*/ 733647 h 1254642"/>
              <a:gd name="connsiteX5" fmla="*/ 1550425 w 1569119"/>
              <a:gd name="connsiteY5" fmla="*/ 988828 h 1254642"/>
              <a:gd name="connsiteX6" fmla="*/ 1220816 w 1569119"/>
              <a:gd name="connsiteY6" fmla="*/ 1084521 h 1254642"/>
              <a:gd name="connsiteX7" fmla="*/ 1252714 w 1569119"/>
              <a:gd name="connsiteY7" fmla="*/ 1254642 h 125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69119" h="1254642">
                <a:moveTo>
                  <a:pt x="455272" y="0"/>
                </a:moveTo>
                <a:cubicBezTo>
                  <a:pt x="251481" y="92149"/>
                  <a:pt x="47690" y="184298"/>
                  <a:pt x="8704" y="318977"/>
                </a:cubicBezTo>
                <a:cubicBezTo>
                  <a:pt x="-30282" y="453656"/>
                  <a:pt x="65411" y="715926"/>
                  <a:pt x="221355" y="808075"/>
                </a:cubicBezTo>
                <a:cubicBezTo>
                  <a:pt x="377299" y="900224"/>
                  <a:pt x="737034" y="884275"/>
                  <a:pt x="944369" y="871870"/>
                </a:cubicBezTo>
                <a:cubicBezTo>
                  <a:pt x="1151704" y="859465"/>
                  <a:pt x="1364356" y="714154"/>
                  <a:pt x="1465365" y="733647"/>
                </a:cubicBezTo>
                <a:cubicBezTo>
                  <a:pt x="1566374" y="753140"/>
                  <a:pt x="1591183" y="930349"/>
                  <a:pt x="1550425" y="988828"/>
                </a:cubicBezTo>
                <a:cubicBezTo>
                  <a:pt x="1509667" y="1047307"/>
                  <a:pt x="1270434" y="1040219"/>
                  <a:pt x="1220816" y="1084521"/>
                </a:cubicBezTo>
                <a:cubicBezTo>
                  <a:pt x="1171198" y="1128823"/>
                  <a:pt x="1211956" y="1191732"/>
                  <a:pt x="1252714" y="1254642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8" name="Oval 54"/>
          <p:cNvSpPr>
            <a:spLocks noChangeArrowheads="1"/>
          </p:cNvSpPr>
          <p:nvPr/>
        </p:nvSpPr>
        <p:spPr bwMode="auto">
          <a:xfrm>
            <a:off x="2030662" y="3351505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" name="Oval 54"/>
          <p:cNvSpPr>
            <a:spLocks noChangeArrowheads="1"/>
          </p:cNvSpPr>
          <p:nvPr/>
        </p:nvSpPr>
        <p:spPr bwMode="auto">
          <a:xfrm>
            <a:off x="2149931" y="3478726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90" name="Picture 6" descr="C:\Documents and Settings\jeremy.foss\Desktop\Clipboard04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23" y="2878371"/>
            <a:ext cx="775200" cy="71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6" descr="C:\Documents and Settings\jeremy.foss\Desktop\Clipboard04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82101" y="2727295"/>
            <a:ext cx="905648" cy="71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Freeform 91"/>
          <p:cNvSpPr/>
          <p:nvPr/>
        </p:nvSpPr>
        <p:spPr bwMode="auto">
          <a:xfrm>
            <a:off x="1375575" y="3291840"/>
            <a:ext cx="708405" cy="346740"/>
          </a:xfrm>
          <a:custGeom>
            <a:avLst/>
            <a:gdLst>
              <a:gd name="connsiteX0" fmla="*/ 1134 w 809208"/>
              <a:gd name="connsiteY0" fmla="*/ 0 h 321222"/>
              <a:gd name="connsiteX1" fmla="*/ 128725 w 809208"/>
              <a:gd name="connsiteY1" fmla="*/ 318977 h 321222"/>
              <a:gd name="connsiteX2" fmla="*/ 809208 w 809208"/>
              <a:gd name="connsiteY2" fmla="*/ 116958 h 321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208" h="321222">
                <a:moveTo>
                  <a:pt x="1134" y="0"/>
                </a:moveTo>
                <a:cubicBezTo>
                  <a:pt x="-2410" y="149742"/>
                  <a:pt x="-5954" y="299484"/>
                  <a:pt x="128725" y="318977"/>
                </a:cubicBezTo>
                <a:cubicBezTo>
                  <a:pt x="263404" y="338470"/>
                  <a:pt x="536306" y="227714"/>
                  <a:pt x="809208" y="11695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3" name="Oval 92"/>
          <p:cNvSpPr>
            <a:spLocks noChangeArrowheads="1"/>
          </p:cNvSpPr>
          <p:nvPr/>
        </p:nvSpPr>
        <p:spPr bwMode="auto">
          <a:xfrm>
            <a:off x="1346850" y="3210186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" name="Oval 53"/>
          <p:cNvSpPr>
            <a:spLocks noChangeArrowheads="1"/>
          </p:cNvSpPr>
          <p:nvPr/>
        </p:nvSpPr>
        <p:spPr bwMode="auto">
          <a:xfrm>
            <a:off x="1259385" y="2939843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5" name="Freeform 94"/>
          <p:cNvSpPr/>
          <p:nvPr/>
        </p:nvSpPr>
        <p:spPr bwMode="auto">
          <a:xfrm>
            <a:off x="1335819" y="2124827"/>
            <a:ext cx="914400" cy="833058"/>
          </a:xfrm>
          <a:custGeom>
            <a:avLst/>
            <a:gdLst>
              <a:gd name="connsiteX0" fmla="*/ 0 w 914400"/>
              <a:gd name="connsiteY0" fmla="*/ 833058 h 833058"/>
              <a:gd name="connsiteX1" fmla="*/ 182880 w 914400"/>
              <a:gd name="connsiteY1" fmla="*/ 141295 h 833058"/>
              <a:gd name="connsiteX2" fmla="*/ 580445 w 914400"/>
              <a:gd name="connsiteY2" fmla="*/ 22025 h 833058"/>
              <a:gd name="connsiteX3" fmla="*/ 914400 w 914400"/>
              <a:gd name="connsiteY3" fmla="*/ 443444 h 83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833058">
                <a:moveTo>
                  <a:pt x="0" y="833058"/>
                </a:moveTo>
                <a:cubicBezTo>
                  <a:pt x="43069" y="554762"/>
                  <a:pt x="86139" y="276467"/>
                  <a:pt x="182880" y="141295"/>
                </a:cubicBezTo>
                <a:cubicBezTo>
                  <a:pt x="279621" y="6123"/>
                  <a:pt x="458525" y="-28333"/>
                  <a:pt x="580445" y="22025"/>
                </a:cubicBezTo>
                <a:cubicBezTo>
                  <a:pt x="702365" y="72383"/>
                  <a:pt x="808382" y="257913"/>
                  <a:pt x="914400" y="443444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6" name="Oval 53"/>
          <p:cNvSpPr>
            <a:spLocks noChangeArrowheads="1"/>
          </p:cNvSpPr>
          <p:nvPr/>
        </p:nvSpPr>
        <p:spPr bwMode="auto">
          <a:xfrm>
            <a:off x="2213541" y="2502522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7" name="Oval 44"/>
          <p:cNvSpPr>
            <a:spLocks noChangeArrowheads="1"/>
          </p:cNvSpPr>
          <p:nvPr/>
        </p:nvSpPr>
        <p:spPr bwMode="auto">
          <a:xfrm>
            <a:off x="5033666" y="2783532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8" name="Oval 43"/>
          <p:cNvSpPr>
            <a:spLocks noChangeArrowheads="1"/>
          </p:cNvSpPr>
          <p:nvPr/>
        </p:nvSpPr>
        <p:spPr bwMode="auto">
          <a:xfrm>
            <a:off x="4990041" y="3059108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9" name="Freeform 98"/>
          <p:cNvSpPr/>
          <p:nvPr/>
        </p:nvSpPr>
        <p:spPr bwMode="auto">
          <a:xfrm>
            <a:off x="4007457" y="3062938"/>
            <a:ext cx="1074072" cy="1715796"/>
          </a:xfrm>
          <a:custGeom>
            <a:avLst/>
            <a:gdLst>
              <a:gd name="connsiteX0" fmla="*/ 0 w 1074072"/>
              <a:gd name="connsiteY0" fmla="*/ 1715796 h 1715796"/>
              <a:gd name="connsiteX1" fmla="*/ 246491 w 1074072"/>
              <a:gd name="connsiteY1" fmla="*/ 1206912 h 1715796"/>
              <a:gd name="connsiteX2" fmla="*/ 803082 w 1074072"/>
              <a:gd name="connsiteY2" fmla="*/ 1254620 h 1715796"/>
              <a:gd name="connsiteX3" fmla="*/ 1073426 w 1074072"/>
              <a:gd name="connsiteY3" fmla="*/ 1000179 h 1715796"/>
              <a:gd name="connsiteX4" fmla="*/ 882595 w 1074072"/>
              <a:gd name="connsiteY4" fmla="*/ 364074 h 1715796"/>
              <a:gd name="connsiteX5" fmla="*/ 1017767 w 1074072"/>
              <a:gd name="connsiteY5" fmla="*/ 22168 h 1715796"/>
              <a:gd name="connsiteX6" fmla="*/ 1073426 w 1074072"/>
              <a:gd name="connsiteY6" fmla="*/ 61925 h 171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4072" h="1715796">
                <a:moveTo>
                  <a:pt x="0" y="1715796"/>
                </a:moveTo>
                <a:cubicBezTo>
                  <a:pt x="56322" y="1499785"/>
                  <a:pt x="112644" y="1283775"/>
                  <a:pt x="246491" y="1206912"/>
                </a:cubicBezTo>
                <a:cubicBezTo>
                  <a:pt x="380338" y="1130049"/>
                  <a:pt x="665260" y="1289075"/>
                  <a:pt x="803082" y="1254620"/>
                </a:cubicBezTo>
                <a:cubicBezTo>
                  <a:pt x="940904" y="1220165"/>
                  <a:pt x="1060174" y="1148603"/>
                  <a:pt x="1073426" y="1000179"/>
                </a:cubicBezTo>
                <a:cubicBezTo>
                  <a:pt x="1086678" y="851755"/>
                  <a:pt x="891872" y="527076"/>
                  <a:pt x="882595" y="364074"/>
                </a:cubicBezTo>
                <a:cubicBezTo>
                  <a:pt x="873319" y="201072"/>
                  <a:pt x="985962" y="72526"/>
                  <a:pt x="1017767" y="22168"/>
                </a:cubicBezTo>
                <a:cubicBezTo>
                  <a:pt x="1049572" y="-28190"/>
                  <a:pt x="1061499" y="16867"/>
                  <a:pt x="1073426" y="61925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0" name="Oval 44"/>
          <p:cNvSpPr>
            <a:spLocks noChangeArrowheads="1"/>
          </p:cNvSpPr>
          <p:nvPr/>
        </p:nvSpPr>
        <p:spPr bwMode="auto">
          <a:xfrm>
            <a:off x="2767545" y="3753591"/>
            <a:ext cx="106539" cy="88746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1" name="Freeform 100"/>
          <p:cNvSpPr/>
          <p:nvPr/>
        </p:nvSpPr>
        <p:spPr bwMode="auto">
          <a:xfrm>
            <a:off x="2862470" y="2754877"/>
            <a:ext cx="2234316" cy="1411311"/>
          </a:xfrm>
          <a:custGeom>
            <a:avLst/>
            <a:gdLst>
              <a:gd name="connsiteX0" fmla="*/ 0 w 2234316"/>
              <a:gd name="connsiteY0" fmla="*/ 1069700 h 1411311"/>
              <a:gd name="connsiteX1" fmla="*/ 341906 w 2234316"/>
              <a:gd name="connsiteY1" fmla="*/ 1379801 h 1411311"/>
              <a:gd name="connsiteX2" fmla="*/ 1089328 w 2234316"/>
              <a:gd name="connsiteY2" fmla="*/ 1371850 h 1411311"/>
              <a:gd name="connsiteX3" fmla="*/ 1598212 w 2234316"/>
              <a:gd name="connsiteY3" fmla="*/ 1371850 h 1411311"/>
              <a:gd name="connsiteX4" fmla="*/ 2019631 w 2234316"/>
              <a:gd name="connsiteY4" fmla="*/ 1371850 h 1411311"/>
              <a:gd name="connsiteX5" fmla="*/ 1916264 w 2234316"/>
              <a:gd name="connsiteY5" fmla="*/ 839113 h 1411311"/>
              <a:gd name="connsiteX6" fmla="*/ 1812897 w 2234316"/>
              <a:gd name="connsiteY6" fmla="*/ 274570 h 1411311"/>
              <a:gd name="connsiteX7" fmla="*/ 1828800 w 2234316"/>
              <a:gd name="connsiteY7" fmla="*/ 12177 h 1411311"/>
              <a:gd name="connsiteX8" fmla="*/ 2234316 w 2234316"/>
              <a:gd name="connsiteY8" fmla="*/ 67836 h 1411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4316" h="1411311">
                <a:moveTo>
                  <a:pt x="0" y="1069700"/>
                </a:moveTo>
                <a:cubicBezTo>
                  <a:pt x="80175" y="1199571"/>
                  <a:pt x="160351" y="1329443"/>
                  <a:pt x="341906" y="1379801"/>
                </a:cubicBezTo>
                <a:cubicBezTo>
                  <a:pt x="523461" y="1430159"/>
                  <a:pt x="1089328" y="1371850"/>
                  <a:pt x="1089328" y="1371850"/>
                </a:cubicBezTo>
                <a:lnTo>
                  <a:pt x="1598212" y="1371850"/>
                </a:lnTo>
                <a:cubicBezTo>
                  <a:pt x="1753262" y="1371850"/>
                  <a:pt x="1966622" y="1460639"/>
                  <a:pt x="2019631" y="1371850"/>
                </a:cubicBezTo>
                <a:cubicBezTo>
                  <a:pt x="2072640" y="1283061"/>
                  <a:pt x="1950720" y="1021993"/>
                  <a:pt x="1916264" y="839113"/>
                </a:cubicBezTo>
                <a:cubicBezTo>
                  <a:pt x="1881808" y="656233"/>
                  <a:pt x="1827474" y="412393"/>
                  <a:pt x="1812897" y="274570"/>
                </a:cubicBezTo>
                <a:cubicBezTo>
                  <a:pt x="1798320" y="136747"/>
                  <a:pt x="1758564" y="46633"/>
                  <a:pt x="1828800" y="12177"/>
                </a:cubicBezTo>
                <a:cubicBezTo>
                  <a:pt x="1899037" y="-22279"/>
                  <a:pt x="2066676" y="22778"/>
                  <a:pt x="2234316" y="6783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708" name="Rectangle 72"/>
          <p:cNvSpPr>
            <a:spLocks noChangeArrowheads="1"/>
          </p:cNvSpPr>
          <p:nvPr/>
        </p:nvSpPr>
        <p:spPr bwMode="auto">
          <a:xfrm>
            <a:off x="395288" y="861237"/>
            <a:ext cx="5702300" cy="4922875"/>
          </a:xfrm>
          <a:prstGeom prst="rect">
            <a:avLst/>
          </a:prstGeom>
          <a:solidFill>
            <a:schemeClr val="bg1">
              <a:alpha val="7803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5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92350" y="1457325"/>
            <a:ext cx="63373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23823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Earth, Chassis </a:t>
            </a:r>
            <a:endParaRPr lang="en-US" sz="2400" b="1" dirty="0"/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1943100" y="4257675"/>
            <a:ext cx="1343025" cy="85725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395288" y="3962400"/>
            <a:ext cx="18565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Earth connection</a:t>
            </a:r>
          </a:p>
        </p:txBody>
      </p:sp>
    </p:spTree>
    <p:extLst>
      <p:ext uri="{BB962C8B-B14F-4D97-AF65-F5344CB8AC3E}">
        <p14:creationId xmlns:p14="http://schemas.microsoft.com/office/powerpoint/2010/main" val="2019111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871538" y="733425"/>
            <a:ext cx="7862887" cy="5842772"/>
            <a:chOff x="881063" y="666750"/>
            <a:chExt cx="7862887" cy="5842772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4124" t="40003"/>
            <a:stretch>
              <a:fillRect/>
            </a:stretch>
          </p:blipFill>
          <p:spPr bwMode="auto">
            <a:xfrm>
              <a:off x="5200650" y="752475"/>
              <a:ext cx="3543300" cy="57570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9" name="Group 28"/>
            <p:cNvGrpSpPr/>
            <p:nvPr/>
          </p:nvGrpSpPr>
          <p:grpSpPr>
            <a:xfrm>
              <a:off x="881063" y="666750"/>
              <a:ext cx="7767638" cy="4848226"/>
              <a:chOff x="881063" y="666750"/>
              <a:chExt cx="7767638" cy="4848226"/>
            </a:xfrm>
          </p:grpSpPr>
          <p:pic>
            <p:nvPicPr>
              <p:cNvPr id="71684" name="Picture 4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3393" b="61307"/>
              <a:stretch>
                <a:fillRect/>
              </a:stretch>
            </p:blipFill>
            <p:spPr bwMode="auto">
              <a:xfrm>
                <a:off x="881063" y="866775"/>
                <a:ext cx="3586162" cy="32869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7" name="Straight Connector 6"/>
              <p:cNvCxnSpPr/>
              <p:nvPr/>
            </p:nvCxnSpPr>
            <p:spPr bwMode="auto">
              <a:xfrm flipH="1">
                <a:off x="962025" y="4105276"/>
                <a:ext cx="2" cy="1400174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" name="Straight Connector 7"/>
              <p:cNvCxnSpPr/>
              <p:nvPr/>
            </p:nvCxnSpPr>
            <p:spPr bwMode="auto">
              <a:xfrm>
                <a:off x="952500" y="5505450"/>
                <a:ext cx="4400550" cy="9526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Straight Connector 14"/>
              <p:cNvCxnSpPr/>
              <p:nvPr/>
            </p:nvCxnSpPr>
            <p:spPr bwMode="auto">
              <a:xfrm>
                <a:off x="4867275" y="666750"/>
                <a:ext cx="2857500" cy="9525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" name="Rectangle 16"/>
              <p:cNvSpPr/>
              <p:nvPr/>
            </p:nvSpPr>
            <p:spPr bwMode="auto">
              <a:xfrm>
                <a:off x="8267701" y="676274"/>
                <a:ext cx="381000" cy="73342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Sans Unicode" pitchFamily="34" charset="0"/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 bwMode="auto">
              <a:xfrm>
                <a:off x="2847975" y="3990976"/>
                <a:ext cx="1600201" cy="809624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Sans Unicode" pitchFamily="34" charset="0"/>
                </a:endParaRPr>
              </a:p>
            </p:txBody>
          </p:sp>
          <p:cxnSp>
            <p:nvCxnSpPr>
              <p:cNvPr id="19" name="Straight Connector 18"/>
              <p:cNvCxnSpPr/>
              <p:nvPr/>
            </p:nvCxnSpPr>
            <p:spPr bwMode="auto">
              <a:xfrm flipH="1">
                <a:off x="4867275" y="685800"/>
                <a:ext cx="9525" cy="33528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Straight Connector 21"/>
              <p:cNvCxnSpPr/>
              <p:nvPr/>
            </p:nvCxnSpPr>
            <p:spPr bwMode="auto">
              <a:xfrm flipV="1">
                <a:off x="2867025" y="4038600"/>
                <a:ext cx="2000250" cy="1905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Straight Connector 24"/>
              <p:cNvCxnSpPr/>
              <p:nvPr/>
            </p:nvCxnSpPr>
            <p:spPr bwMode="auto">
              <a:xfrm flipH="1">
                <a:off x="7724775" y="676275"/>
                <a:ext cx="1" cy="180975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44967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Power Distribution, using AC</a:t>
            </a:r>
          </a:p>
        </p:txBody>
      </p:sp>
    </p:spTree>
    <p:extLst>
      <p:ext uri="{BB962C8B-B14F-4D97-AF65-F5344CB8AC3E}">
        <p14:creationId xmlns:p14="http://schemas.microsoft.com/office/powerpoint/2010/main" val="3261587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62312" y="457200"/>
            <a:ext cx="5513721" cy="239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1562100"/>
            <a:ext cx="5967412" cy="2988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23519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Electric Supply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95288" y="4867275"/>
            <a:ext cx="68437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/>
            <a:r>
              <a:rPr lang="en-GB" b="1" dirty="0"/>
              <a:t>230V supply from electrical distribution network – live and neutral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/>
              <a:t>distributed from consumer unit (fuse board)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/>
              <a:t>a number of circuits throughout the premises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dirty="0"/>
              <a:t>fused at different current ratings for ring main (pictured), lighting, heating, etc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/>
              <a:t>earth connected locally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9172" y="2002423"/>
            <a:ext cx="15698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live,  neutral and earth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4345" y="3088273"/>
            <a:ext cx="1055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neutral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20" y="1821448"/>
            <a:ext cx="1055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3620" y="2897773"/>
            <a:ext cx="1055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earth</a:t>
            </a:r>
          </a:p>
        </p:txBody>
      </p:sp>
    </p:spTree>
    <p:extLst>
      <p:ext uri="{BB962C8B-B14F-4D97-AF65-F5344CB8AC3E}">
        <p14:creationId xmlns:p14="http://schemas.microsoft.com/office/powerpoint/2010/main" val="1646183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512" y="711052"/>
            <a:ext cx="5029200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 cstate="print"/>
          <a:srcRect l="8112"/>
          <a:stretch/>
        </p:blipFill>
        <p:spPr bwMode="auto">
          <a:xfrm>
            <a:off x="4253022" y="1897910"/>
            <a:ext cx="4627931" cy="218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2901802"/>
            <a:ext cx="5967412" cy="2988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23519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Electric Supply</a:t>
            </a:r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5354875" y="3310244"/>
            <a:ext cx="24242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ring circuit (preferred for wall sockets)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2735" y="1306021"/>
            <a:ext cx="24242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radial circuit</a:t>
            </a:r>
          </a:p>
        </p:txBody>
      </p:sp>
    </p:spTree>
    <p:extLst>
      <p:ext uri="{BB962C8B-B14F-4D97-AF65-F5344CB8AC3E}">
        <p14:creationId xmlns:p14="http://schemas.microsoft.com/office/powerpoint/2010/main" val="700476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62312" y="457200"/>
            <a:ext cx="5513721" cy="239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1562100"/>
            <a:ext cx="5967412" cy="2988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23519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Electric Supply</a:t>
            </a:r>
            <a:endParaRPr lang="en-US" sz="2400" b="1" dirty="0"/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 flipV="1">
            <a:off x="3667125" y="2667000"/>
            <a:ext cx="981075" cy="514351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 cstate="print"/>
          <a:srcRect l="6021" b="21344"/>
          <a:stretch>
            <a:fillRect/>
          </a:stretch>
        </p:blipFill>
        <p:spPr bwMode="auto">
          <a:xfrm>
            <a:off x="4705350" y="2997685"/>
            <a:ext cx="4019549" cy="3326916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55799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3713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House Ring Main Wiring</a:t>
            </a:r>
            <a:endParaRPr lang="en-US" sz="2400" b="1" dirty="0"/>
          </a:p>
        </p:txBody>
      </p:sp>
      <p:pic>
        <p:nvPicPr>
          <p:cNvPr id="30723" name="Picture 4" descr="File:Ring circuit.sv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1125538"/>
            <a:ext cx="4487862" cy="483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24" name="Group 24"/>
          <p:cNvGrpSpPr>
            <a:grpSpLocks/>
          </p:cNvGrpSpPr>
          <p:nvPr/>
        </p:nvGrpSpPr>
        <p:grpSpPr bwMode="auto">
          <a:xfrm>
            <a:off x="1895475" y="5062538"/>
            <a:ext cx="3825875" cy="1171575"/>
            <a:chOff x="2107580" y="5062654"/>
            <a:chExt cx="3824869" cy="1170878"/>
          </a:xfrm>
        </p:grpSpPr>
        <p:cxnSp>
          <p:nvCxnSpPr>
            <p:cNvPr id="30733" name="Elbow Connector 11"/>
            <p:cNvCxnSpPr>
              <a:cxnSpLocks noChangeShapeType="1"/>
            </p:cNvCxnSpPr>
            <p:nvPr/>
          </p:nvCxnSpPr>
          <p:spPr bwMode="auto">
            <a:xfrm>
              <a:off x="2107580" y="5062654"/>
              <a:ext cx="3813718" cy="1170878"/>
            </a:xfrm>
            <a:prstGeom prst="bentConnector3">
              <a:avLst>
                <a:gd name="adj1" fmla="val 8185"/>
              </a:avLst>
            </a:prstGeom>
            <a:noFill/>
            <a:ln w="44450" algn="ctr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4" name="Elbow Connector 20"/>
            <p:cNvCxnSpPr>
              <a:cxnSpLocks noChangeShapeType="1"/>
            </p:cNvCxnSpPr>
            <p:nvPr/>
          </p:nvCxnSpPr>
          <p:spPr bwMode="auto">
            <a:xfrm>
              <a:off x="2118731" y="5062654"/>
              <a:ext cx="3813718" cy="1170878"/>
            </a:xfrm>
            <a:prstGeom prst="bentConnector3">
              <a:avLst>
                <a:gd name="adj1" fmla="val 8185"/>
              </a:avLst>
            </a:prstGeom>
            <a:noFill/>
            <a:ln w="44450" algn="ctr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725" name="Rectangle 23"/>
          <p:cNvSpPr>
            <a:spLocks noChangeArrowheads="1"/>
          </p:cNvSpPr>
          <p:nvPr/>
        </p:nvSpPr>
        <p:spPr bwMode="auto">
          <a:xfrm>
            <a:off x="5386388" y="412750"/>
            <a:ext cx="33893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/>
              <a:t>Earth is locally connected to suitable earth point, typically a water pipe, or an earth spike</a:t>
            </a:r>
            <a:endParaRPr lang="en-US"/>
          </a:p>
        </p:txBody>
      </p:sp>
      <p:grpSp>
        <p:nvGrpSpPr>
          <p:cNvPr id="30726" name="Group 35"/>
          <p:cNvGrpSpPr>
            <a:grpSpLocks/>
          </p:cNvGrpSpPr>
          <p:nvPr/>
        </p:nvGrpSpPr>
        <p:grpSpPr bwMode="auto">
          <a:xfrm>
            <a:off x="5754688" y="6223000"/>
            <a:ext cx="1973262" cy="22225"/>
            <a:chOff x="5754029" y="6222380"/>
            <a:chExt cx="1973766" cy="22301"/>
          </a:xfrm>
        </p:grpSpPr>
        <p:cxnSp>
          <p:nvCxnSpPr>
            <p:cNvPr id="30731" name="Straight Connector 33"/>
            <p:cNvCxnSpPr>
              <a:cxnSpLocks noChangeShapeType="1"/>
            </p:cNvCxnSpPr>
            <p:nvPr/>
          </p:nvCxnSpPr>
          <p:spPr bwMode="auto">
            <a:xfrm flipV="1">
              <a:off x="5765180" y="6222380"/>
              <a:ext cx="1962615" cy="11151"/>
            </a:xfrm>
            <a:prstGeom prst="line">
              <a:avLst/>
            </a:prstGeom>
            <a:noFill/>
            <a:ln w="44450" algn="ctr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2" name="Straight Connector 34"/>
            <p:cNvCxnSpPr>
              <a:cxnSpLocks noChangeShapeType="1"/>
            </p:cNvCxnSpPr>
            <p:nvPr/>
          </p:nvCxnSpPr>
          <p:spPr bwMode="auto">
            <a:xfrm flipV="1">
              <a:off x="5754029" y="6233530"/>
              <a:ext cx="1962615" cy="11151"/>
            </a:xfrm>
            <a:prstGeom prst="line">
              <a:avLst/>
            </a:prstGeom>
            <a:noFill/>
            <a:ln w="44450" algn="ctr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727" name="Group 39"/>
          <p:cNvGrpSpPr>
            <a:grpSpLocks/>
          </p:cNvGrpSpPr>
          <p:nvPr/>
        </p:nvGrpSpPr>
        <p:grpSpPr bwMode="auto">
          <a:xfrm rot="-5400000">
            <a:off x="6712745" y="5263356"/>
            <a:ext cx="1973262" cy="22225"/>
            <a:chOff x="5754029" y="6222380"/>
            <a:chExt cx="1973766" cy="22301"/>
          </a:xfrm>
        </p:grpSpPr>
        <p:cxnSp>
          <p:nvCxnSpPr>
            <p:cNvPr id="30729" name="Straight Connector 40"/>
            <p:cNvCxnSpPr>
              <a:cxnSpLocks noChangeShapeType="1"/>
            </p:cNvCxnSpPr>
            <p:nvPr/>
          </p:nvCxnSpPr>
          <p:spPr bwMode="auto">
            <a:xfrm flipV="1">
              <a:off x="5765180" y="6222380"/>
              <a:ext cx="1962615" cy="11151"/>
            </a:xfrm>
            <a:prstGeom prst="line">
              <a:avLst/>
            </a:prstGeom>
            <a:noFill/>
            <a:ln w="44450" algn="ctr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0" name="Straight Connector 41"/>
            <p:cNvCxnSpPr>
              <a:cxnSpLocks noChangeShapeType="1"/>
            </p:cNvCxnSpPr>
            <p:nvPr/>
          </p:nvCxnSpPr>
          <p:spPr bwMode="auto">
            <a:xfrm flipV="1">
              <a:off x="5754029" y="6233530"/>
              <a:ext cx="1962615" cy="11151"/>
            </a:xfrm>
            <a:prstGeom prst="line">
              <a:avLst/>
            </a:prstGeom>
            <a:noFill/>
            <a:ln w="44450" algn="ctr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30728" name="Picture 6" descr="tighten scre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1362075"/>
            <a:ext cx="3543300" cy="427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05516" y="2658140"/>
            <a:ext cx="782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“spur”</a:t>
            </a:r>
          </a:p>
        </p:txBody>
      </p:sp>
    </p:spTree>
    <p:extLst>
      <p:ext uri="{BB962C8B-B14F-4D97-AF65-F5344CB8AC3E}">
        <p14:creationId xmlns:p14="http://schemas.microsoft.com/office/powerpoint/2010/main" val="4212813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3713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House Ring Main Wiring</a:t>
            </a:r>
            <a:endParaRPr lang="en-US" sz="2400" b="1"/>
          </a:p>
        </p:txBody>
      </p:sp>
      <p:pic>
        <p:nvPicPr>
          <p:cNvPr id="31747" name="Picture 4" descr="File:Ring circuit.sv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1125538"/>
            <a:ext cx="4487862" cy="483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748" name="Group 5"/>
          <p:cNvGrpSpPr>
            <a:grpSpLocks/>
          </p:cNvGrpSpPr>
          <p:nvPr/>
        </p:nvGrpSpPr>
        <p:grpSpPr bwMode="auto">
          <a:xfrm>
            <a:off x="1895475" y="5062538"/>
            <a:ext cx="3825875" cy="1171575"/>
            <a:chOff x="2107580" y="5062654"/>
            <a:chExt cx="3824869" cy="1170878"/>
          </a:xfrm>
        </p:grpSpPr>
        <p:cxnSp>
          <p:nvCxnSpPr>
            <p:cNvPr id="31757" name="Elbow Connector 6"/>
            <p:cNvCxnSpPr>
              <a:cxnSpLocks noChangeShapeType="1"/>
            </p:cNvCxnSpPr>
            <p:nvPr/>
          </p:nvCxnSpPr>
          <p:spPr bwMode="auto">
            <a:xfrm>
              <a:off x="2107580" y="5062654"/>
              <a:ext cx="3813718" cy="1170878"/>
            </a:xfrm>
            <a:prstGeom prst="bentConnector3">
              <a:avLst>
                <a:gd name="adj1" fmla="val 8185"/>
              </a:avLst>
            </a:prstGeom>
            <a:noFill/>
            <a:ln w="44450" algn="ctr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8" name="Elbow Connector 7"/>
            <p:cNvCxnSpPr>
              <a:cxnSpLocks noChangeShapeType="1"/>
            </p:cNvCxnSpPr>
            <p:nvPr/>
          </p:nvCxnSpPr>
          <p:spPr bwMode="auto">
            <a:xfrm>
              <a:off x="2118731" y="5062654"/>
              <a:ext cx="3813718" cy="1170878"/>
            </a:xfrm>
            <a:prstGeom prst="bentConnector3">
              <a:avLst>
                <a:gd name="adj1" fmla="val 8185"/>
              </a:avLst>
            </a:prstGeom>
            <a:noFill/>
            <a:ln w="44450" algn="ctr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749" name="Group 9"/>
          <p:cNvGrpSpPr>
            <a:grpSpLocks/>
          </p:cNvGrpSpPr>
          <p:nvPr/>
        </p:nvGrpSpPr>
        <p:grpSpPr bwMode="auto">
          <a:xfrm>
            <a:off x="5754688" y="6223000"/>
            <a:ext cx="1973262" cy="22225"/>
            <a:chOff x="5754029" y="6222380"/>
            <a:chExt cx="1973766" cy="22301"/>
          </a:xfrm>
        </p:grpSpPr>
        <p:cxnSp>
          <p:nvCxnSpPr>
            <p:cNvPr id="31755" name="Straight Connector 10"/>
            <p:cNvCxnSpPr>
              <a:cxnSpLocks noChangeShapeType="1"/>
            </p:cNvCxnSpPr>
            <p:nvPr/>
          </p:nvCxnSpPr>
          <p:spPr bwMode="auto">
            <a:xfrm flipV="1">
              <a:off x="5765180" y="6222380"/>
              <a:ext cx="1962615" cy="11151"/>
            </a:xfrm>
            <a:prstGeom prst="line">
              <a:avLst/>
            </a:prstGeom>
            <a:noFill/>
            <a:ln w="44450" algn="ctr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6" name="Straight Connector 11"/>
            <p:cNvCxnSpPr>
              <a:cxnSpLocks noChangeShapeType="1"/>
            </p:cNvCxnSpPr>
            <p:nvPr/>
          </p:nvCxnSpPr>
          <p:spPr bwMode="auto">
            <a:xfrm flipV="1">
              <a:off x="5754029" y="6233530"/>
              <a:ext cx="1962615" cy="11151"/>
            </a:xfrm>
            <a:prstGeom prst="line">
              <a:avLst/>
            </a:prstGeom>
            <a:noFill/>
            <a:ln w="44450" algn="ctr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750" name="Group 12"/>
          <p:cNvGrpSpPr>
            <a:grpSpLocks/>
          </p:cNvGrpSpPr>
          <p:nvPr/>
        </p:nvGrpSpPr>
        <p:grpSpPr bwMode="auto">
          <a:xfrm rot="-5400000">
            <a:off x="6712745" y="5263356"/>
            <a:ext cx="1973262" cy="22225"/>
            <a:chOff x="5754029" y="6222380"/>
            <a:chExt cx="1973766" cy="22301"/>
          </a:xfrm>
        </p:grpSpPr>
        <p:cxnSp>
          <p:nvCxnSpPr>
            <p:cNvPr id="31753" name="Straight Connector 13"/>
            <p:cNvCxnSpPr>
              <a:cxnSpLocks noChangeShapeType="1"/>
            </p:cNvCxnSpPr>
            <p:nvPr/>
          </p:nvCxnSpPr>
          <p:spPr bwMode="auto">
            <a:xfrm flipV="1">
              <a:off x="5765180" y="6222380"/>
              <a:ext cx="1962615" cy="11151"/>
            </a:xfrm>
            <a:prstGeom prst="line">
              <a:avLst/>
            </a:prstGeom>
            <a:noFill/>
            <a:ln w="44450" algn="ctr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4" name="Straight Connector 14"/>
            <p:cNvCxnSpPr>
              <a:cxnSpLocks noChangeShapeType="1"/>
            </p:cNvCxnSpPr>
            <p:nvPr/>
          </p:nvCxnSpPr>
          <p:spPr bwMode="auto">
            <a:xfrm flipV="1">
              <a:off x="5754029" y="6233530"/>
              <a:ext cx="1962615" cy="11151"/>
            </a:xfrm>
            <a:prstGeom prst="line">
              <a:avLst/>
            </a:prstGeom>
            <a:noFill/>
            <a:ln w="44450" algn="ctr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31751" name="Picture 2" descr="http://www.thinkspace.com/blog/wp-content/uploads/2009/01/earth-transpare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58"/>
          <a:stretch>
            <a:fillRect/>
          </a:stretch>
        </p:blipFill>
        <p:spPr bwMode="auto">
          <a:xfrm>
            <a:off x="5141913" y="1952625"/>
            <a:ext cx="3798887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2" name="TextBox 17"/>
          <p:cNvSpPr txBox="1">
            <a:spLocks noChangeArrowheads="1"/>
          </p:cNvSpPr>
          <p:nvPr/>
        </p:nvSpPr>
        <p:spPr bwMode="auto">
          <a:xfrm>
            <a:off x="5373688" y="1060450"/>
            <a:ext cx="335438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Earth is big (!) and a sufficient conductor to be a central point of reference for electrical potential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57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4429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Circuits - Input and Outputs</a:t>
            </a:r>
          </a:p>
        </p:txBody>
      </p:sp>
      <p:grpSp>
        <p:nvGrpSpPr>
          <p:cNvPr id="6147" name="Group 73"/>
          <p:cNvGrpSpPr>
            <a:grpSpLocks/>
          </p:cNvGrpSpPr>
          <p:nvPr/>
        </p:nvGrpSpPr>
        <p:grpSpPr bwMode="auto">
          <a:xfrm>
            <a:off x="2392363" y="1147763"/>
            <a:ext cx="5584825" cy="2968625"/>
            <a:chOff x="657" y="754"/>
            <a:chExt cx="3518" cy="1870"/>
          </a:xfrm>
        </p:grpSpPr>
        <p:grpSp>
          <p:nvGrpSpPr>
            <p:cNvPr id="6190" name="Group 68"/>
            <p:cNvGrpSpPr>
              <a:grpSpLocks/>
            </p:cNvGrpSpPr>
            <p:nvPr/>
          </p:nvGrpSpPr>
          <p:grpSpPr bwMode="auto">
            <a:xfrm>
              <a:off x="657" y="754"/>
              <a:ext cx="3518" cy="1870"/>
              <a:chOff x="1655" y="1253"/>
              <a:chExt cx="3518" cy="1870"/>
            </a:xfrm>
          </p:grpSpPr>
          <p:sp>
            <p:nvSpPr>
              <p:cNvPr id="6193" name="Line 36"/>
              <p:cNvSpPr>
                <a:spLocks noChangeShapeType="1"/>
              </p:cNvSpPr>
              <p:nvPr/>
            </p:nvSpPr>
            <p:spPr bwMode="auto">
              <a:xfrm>
                <a:off x="2925" y="1298"/>
                <a:ext cx="0" cy="17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94" name="Line 31"/>
              <p:cNvSpPr>
                <a:spLocks noChangeShapeType="1"/>
              </p:cNvSpPr>
              <p:nvPr/>
            </p:nvSpPr>
            <p:spPr bwMode="auto">
              <a:xfrm flipV="1">
                <a:off x="4059" y="2387"/>
                <a:ext cx="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95" name="Line 30"/>
              <p:cNvSpPr>
                <a:spLocks noChangeShapeType="1"/>
              </p:cNvSpPr>
              <p:nvPr/>
            </p:nvSpPr>
            <p:spPr bwMode="auto">
              <a:xfrm>
                <a:off x="3560" y="2387"/>
                <a:ext cx="10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6196" name="Group 9"/>
              <p:cNvGrpSpPr>
                <a:grpSpLocks/>
              </p:cNvGrpSpPr>
              <p:nvPr/>
            </p:nvGrpSpPr>
            <p:grpSpPr bwMode="auto">
              <a:xfrm>
                <a:off x="3052" y="1307"/>
                <a:ext cx="512" cy="1705"/>
                <a:chOff x="1465" y="1162"/>
                <a:chExt cx="589" cy="2223"/>
              </a:xfrm>
            </p:grpSpPr>
            <p:grpSp>
              <p:nvGrpSpPr>
                <p:cNvPr id="6231" name="Group 9"/>
                <p:cNvGrpSpPr>
                  <a:grpSpLocks/>
                </p:cNvGrpSpPr>
                <p:nvPr/>
              </p:nvGrpSpPr>
              <p:grpSpPr bwMode="auto">
                <a:xfrm>
                  <a:off x="1465" y="1162"/>
                  <a:ext cx="589" cy="2223"/>
                  <a:chOff x="3606" y="1344"/>
                  <a:chExt cx="589" cy="2223"/>
                </a:xfrm>
              </p:grpSpPr>
              <p:sp>
                <p:nvSpPr>
                  <p:cNvPr id="6233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296"/>
                    <a:ext cx="18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234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614"/>
                    <a:ext cx="18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235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206"/>
                    <a:ext cx="0" cy="49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236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4195" y="1344"/>
                    <a:ext cx="0" cy="95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237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4195" y="2614"/>
                    <a:ext cx="0" cy="95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238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606" y="2432"/>
                    <a:ext cx="40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6232" name="AutoShape 16"/>
                <p:cNvSpPr>
                  <a:spLocks noChangeArrowheads="1"/>
                </p:cNvSpPr>
                <p:nvPr/>
              </p:nvSpPr>
              <p:spPr bwMode="auto">
                <a:xfrm rot="5400000">
                  <a:off x="1759" y="2200"/>
                  <a:ext cx="116" cy="9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197" name="Rectangle 23"/>
              <p:cNvSpPr>
                <a:spLocks noChangeArrowheads="1"/>
              </p:cNvSpPr>
              <p:nvPr/>
            </p:nvSpPr>
            <p:spPr bwMode="auto">
              <a:xfrm>
                <a:off x="4014" y="2568"/>
                <a:ext cx="91" cy="318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8" name="Line 24"/>
              <p:cNvSpPr>
                <a:spLocks noChangeShapeType="1"/>
              </p:cNvSpPr>
              <p:nvPr/>
            </p:nvSpPr>
            <p:spPr bwMode="auto">
              <a:xfrm>
                <a:off x="2925" y="1298"/>
                <a:ext cx="10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99" name="Line 25"/>
              <p:cNvSpPr>
                <a:spLocks noChangeShapeType="1"/>
              </p:cNvSpPr>
              <p:nvPr/>
            </p:nvSpPr>
            <p:spPr bwMode="auto">
              <a:xfrm>
                <a:off x="2154" y="3022"/>
                <a:ext cx="24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6200" name="Group 26"/>
              <p:cNvGrpSpPr>
                <a:grpSpLocks/>
              </p:cNvGrpSpPr>
              <p:nvPr/>
            </p:nvGrpSpPr>
            <p:grpSpPr bwMode="auto">
              <a:xfrm>
                <a:off x="4195" y="2251"/>
                <a:ext cx="88" cy="272"/>
                <a:chOff x="1689" y="1298"/>
                <a:chExt cx="88" cy="272"/>
              </a:xfrm>
            </p:grpSpPr>
            <p:sp>
              <p:nvSpPr>
                <p:cNvPr id="6228" name="Line 27"/>
                <p:cNvSpPr>
                  <a:spLocks noChangeShapeType="1"/>
                </p:cNvSpPr>
                <p:nvPr/>
              </p:nvSpPr>
              <p:spPr bwMode="auto">
                <a:xfrm>
                  <a:off x="1689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229" name="Line 28"/>
                <p:cNvSpPr>
                  <a:spLocks noChangeShapeType="1"/>
                </p:cNvSpPr>
                <p:nvPr/>
              </p:nvSpPr>
              <p:spPr bwMode="auto">
                <a:xfrm>
                  <a:off x="1777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230" name="Rectangle 29"/>
                <p:cNvSpPr>
                  <a:spLocks noChangeArrowheads="1"/>
                </p:cNvSpPr>
                <p:nvPr/>
              </p:nvSpPr>
              <p:spPr bwMode="auto">
                <a:xfrm>
                  <a:off x="1704" y="1298"/>
                  <a:ext cx="64" cy="2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201" name="Rectangle 32"/>
              <p:cNvSpPr>
                <a:spLocks noChangeArrowheads="1"/>
              </p:cNvSpPr>
              <p:nvPr/>
            </p:nvSpPr>
            <p:spPr bwMode="auto">
              <a:xfrm>
                <a:off x="2880" y="1570"/>
                <a:ext cx="91" cy="290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2" name="Rectangle 33"/>
              <p:cNvSpPr>
                <a:spLocks noChangeArrowheads="1"/>
              </p:cNvSpPr>
              <p:nvPr/>
            </p:nvSpPr>
            <p:spPr bwMode="auto">
              <a:xfrm>
                <a:off x="2880" y="2387"/>
                <a:ext cx="91" cy="289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3" name="Line 37"/>
              <p:cNvSpPr>
                <a:spLocks noChangeShapeType="1"/>
              </p:cNvSpPr>
              <p:nvPr/>
            </p:nvSpPr>
            <p:spPr bwMode="auto">
              <a:xfrm flipV="1">
                <a:off x="2917" y="2148"/>
                <a:ext cx="371" cy="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204" name="Line 38"/>
              <p:cNvSpPr>
                <a:spLocks noChangeShapeType="1"/>
              </p:cNvSpPr>
              <p:nvPr/>
            </p:nvSpPr>
            <p:spPr bwMode="auto">
              <a:xfrm>
                <a:off x="2154" y="1979"/>
                <a:ext cx="77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6205" name="Group 39"/>
              <p:cNvGrpSpPr>
                <a:grpSpLocks/>
              </p:cNvGrpSpPr>
              <p:nvPr/>
            </p:nvGrpSpPr>
            <p:grpSpPr bwMode="auto">
              <a:xfrm>
                <a:off x="2608" y="1842"/>
                <a:ext cx="88" cy="272"/>
                <a:chOff x="1689" y="1298"/>
                <a:chExt cx="88" cy="272"/>
              </a:xfrm>
            </p:grpSpPr>
            <p:sp>
              <p:nvSpPr>
                <p:cNvPr id="6225" name="Line 40"/>
                <p:cNvSpPr>
                  <a:spLocks noChangeShapeType="1"/>
                </p:cNvSpPr>
                <p:nvPr/>
              </p:nvSpPr>
              <p:spPr bwMode="auto">
                <a:xfrm>
                  <a:off x="1689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226" name="Line 41"/>
                <p:cNvSpPr>
                  <a:spLocks noChangeShapeType="1"/>
                </p:cNvSpPr>
                <p:nvPr/>
              </p:nvSpPr>
              <p:spPr bwMode="auto">
                <a:xfrm>
                  <a:off x="1777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227" name="Rectangle 42"/>
                <p:cNvSpPr>
                  <a:spLocks noChangeArrowheads="1"/>
                </p:cNvSpPr>
                <p:nvPr/>
              </p:nvSpPr>
              <p:spPr bwMode="auto">
                <a:xfrm>
                  <a:off x="1704" y="1298"/>
                  <a:ext cx="64" cy="2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206" name="Oval 44"/>
              <p:cNvSpPr>
                <a:spLocks noChangeArrowheads="1"/>
              </p:cNvSpPr>
              <p:nvPr/>
            </p:nvSpPr>
            <p:spPr bwMode="auto">
              <a:xfrm>
                <a:off x="3969" y="1253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7" name="Oval 45"/>
              <p:cNvSpPr>
                <a:spLocks noChangeArrowheads="1"/>
              </p:cNvSpPr>
              <p:nvPr/>
            </p:nvSpPr>
            <p:spPr bwMode="auto">
              <a:xfrm>
                <a:off x="4558" y="2341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8" name="Oval 47"/>
              <p:cNvSpPr>
                <a:spLocks noChangeArrowheads="1"/>
              </p:cNvSpPr>
              <p:nvPr/>
            </p:nvSpPr>
            <p:spPr bwMode="auto">
              <a:xfrm>
                <a:off x="2109" y="1933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9" name="Oval 48"/>
              <p:cNvSpPr>
                <a:spLocks noChangeArrowheads="1"/>
              </p:cNvSpPr>
              <p:nvPr/>
            </p:nvSpPr>
            <p:spPr bwMode="auto">
              <a:xfrm>
                <a:off x="2109" y="2976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10" name="Text Box 49"/>
              <p:cNvSpPr txBox="1">
                <a:spLocks noChangeArrowheads="1"/>
              </p:cNvSpPr>
              <p:nvPr/>
            </p:nvSpPr>
            <p:spPr bwMode="auto">
              <a:xfrm>
                <a:off x="3379" y="1797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D</a:t>
                </a:r>
                <a:endParaRPr lang="en-US" sz="1400"/>
              </a:p>
            </p:txBody>
          </p:sp>
          <p:sp>
            <p:nvSpPr>
              <p:cNvPr id="6211" name="Text Box 50"/>
              <p:cNvSpPr txBox="1">
                <a:spLocks noChangeArrowheads="1"/>
              </p:cNvSpPr>
              <p:nvPr/>
            </p:nvSpPr>
            <p:spPr bwMode="auto">
              <a:xfrm>
                <a:off x="3198" y="1933"/>
                <a:ext cx="19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G</a:t>
                </a:r>
                <a:endParaRPr lang="en-US" sz="1400"/>
              </a:p>
            </p:txBody>
          </p:sp>
          <p:sp>
            <p:nvSpPr>
              <p:cNvPr id="6212" name="Text Box 51"/>
              <p:cNvSpPr txBox="1">
                <a:spLocks noChangeArrowheads="1"/>
              </p:cNvSpPr>
              <p:nvPr/>
            </p:nvSpPr>
            <p:spPr bwMode="auto">
              <a:xfrm>
                <a:off x="3379" y="2341"/>
                <a:ext cx="17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S</a:t>
                </a:r>
                <a:endParaRPr lang="en-US" sz="1400"/>
              </a:p>
            </p:txBody>
          </p:sp>
          <p:sp>
            <p:nvSpPr>
              <p:cNvPr id="6213" name="Rectangle 52"/>
              <p:cNvSpPr>
                <a:spLocks noChangeArrowheads="1"/>
              </p:cNvSpPr>
              <p:nvPr/>
            </p:nvSpPr>
            <p:spPr bwMode="auto">
              <a:xfrm>
                <a:off x="3515" y="2568"/>
                <a:ext cx="91" cy="289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14" name="Text Box 53"/>
              <p:cNvSpPr txBox="1">
                <a:spLocks noChangeArrowheads="1"/>
              </p:cNvSpPr>
              <p:nvPr/>
            </p:nvSpPr>
            <p:spPr bwMode="auto">
              <a:xfrm>
                <a:off x="1655" y="1888"/>
                <a:ext cx="4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input</a:t>
                </a:r>
                <a:endParaRPr lang="en-US" sz="1400"/>
              </a:p>
            </p:txBody>
          </p:sp>
          <p:sp>
            <p:nvSpPr>
              <p:cNvPr id="6215" name="Text Box 54"/>
              <p:cNvSpPr txBox="1">
                <a:spLocks noChangeArrowheads="1"/>
              </p:cNvSpPr>
              <p:nvPr/>
            </p:nvSpPr>
            <p:spPr bwMode="auto">
              <a:xfrm>
                <a:off x="4694" y="2296"/>
                <a:ext cx="47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output</a:t>
                </a:r>
                <a:endParaRPr lang="en-US" sz="1400"/>
              </a:p>
            </p:txBody>
          </p:sp>
          <p:sp>
            <p:nvSpPr>
              <p:cNvPr id="6216" name="Text Box 55"/>
              <p:cNvSpPr txBox="1">
                <a:spLocks noChangeArrowheads="1"/>
              </p:cNvSpPr>
              <p:nvPr/>
            </p:nvSpPr>
            <p:spPr bwMode="auto">
              <a:xfrm>
                <a:off x="4150" y="1253"/>
                <a:ext cx="2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V</a:t>
                </a:r>
                <a:r>
                  <a:rPr lang="en-GB" sz="1400" baseline="-25000"/>
                  <a:t>CC</a:t>
                </a:r>
                <a:endParaRPr lang="en-US" sz="1400" baseline="-25000"/>
              </a:p>
            </p:txBody>
          </p:sp>
          <p:sp>
            <p:nvSpPr>
              <p:cNvPr id="6217" name="Text Box 56"/>
              <p:cNvSpPr txBox="1">
                <a:spLocks noChangeArrowheads="1"/>
              </p:cNvSpPr>
              <p:nvPr/>
            </p:nvSpPr>
            <p:spPr bwMode="auto">
              <a:xfrm>
                <a:off x="1837" y="2931"/>
                <a:ext cx="2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0V</a:t>
                </a:r>
                <a:endParaRPr lang="en-US" sz="1400" baseline="-25000"/>
              </a:p>
            </p:txBody>
          </p:sp>
          <p:sp>
            <p:nvSpPr>
              <p:cNvPr id="6218" name="Freeform 59"/>
              <p:cNvSpPr>
                <a:spLocks/>
              </p:cNvSpPr>
              <p:nvPr/>
            </p:nvSpPr>
            <p:spPr bwMode="auto">
              <a:xfrm>
                <a:off x="2072" y="1774"/>
                <a:ext cx="204" cy="91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19" name="Freeform 62"/>
              <p:cNvSpPr>
                <a:spLocks/>
              </p:cNvSpPr>
              <p:nvPr/>
            </p:nvSpPr>
            <p:spPr bwMode="auto">
              <a:xfrm>
                <a:off x="4519" y="1825"/>
                <a:ext cx="318" cy="454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20" name="Oval 63"/>
              <p:cNvSpPr>
                <a:spLocks noChangeArrowheads="1"/>
              </p:cNvSpPr>
              <p:nvPr/>
            </p:nvSpPr>
            <p:spPr bwMode="auto">
              <a:xfrm>
                <a:off x="4558" y="2976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21" name="Text Box 64"/>
              <p:cNvSpPr txBox="1">
                <a:spLocks noChangeArrowheads="1"/>
              </p:cNvSpPr>
              <p:nvPr/>
            </p:nvSpPr>
            <p:spPr bwMode="auto">
              <a:xfrm>
                <a:off x="4105" y="2659"/>
                <a:ext cx="38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LOAD</a:t>
                </a:r>
                <a:endParaRPr lang="en-US" sz="1400" baseline="-25000"/>
              </a:p>
            </p:txBody>
          </p:sp>
          <p:sp>
            <p:nvSpPr>
              <p:cNvPr id="6222" name="Text Box 65"/>
              <p:cNvSpPr txBox="1">
                <a:spLocks noChangeArrowheads="1"/>
              </p:cNvSpPr>
              <p:nvPr/>
            </p:nvSpPr>
            <p:spPr bwMode="auto">
              <a:xfrm>
                <a:off x="2971" y="1616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1</a:t>
                </a:r>
                <a:endParaRPr lang="en-US" sz="1400" baseline="-25000"/>
              </a:p>
            </p:txBody>
          </p:sp>
          <p:sp>
            <p:nvSpPr>
              <p:cNvPr id="6223" name="Text Box 66"/>
              <p:cNvSpPr txBox="1">
                <a:spLocks noChangeArrowheads="1"/>
              </p:cNvSpPr>
              <p:nvPr/>
            </p:nvSpPr>
            <p:spPr bwMode="auto">
              <a:xfrm>
                <a:off x="2971" y="2432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2</a:t>
                </a:r>
                <a:endParaRPr lang="en-US" sz="1400" baseline="-25000"/>
              </a:p>
            </p:txBody>
          </p:sp>
          <p:sp>
            <p:nvSpPr>
              <p:cNvPr id="6224" name="Text Box 67"/>
              <p:cNvSpPr txBox="1">
                <a:spLocks noChangeArrowheads="1"/>
              </p:cNvSpPr>
              <p:nvPr/>
            </p:nvSpPr>
            <p:spPr bwMode="auto">
              <a:xfrm>
                <a:off x="3606" y="2659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3</a:t>
                </a:r>
                <a:endParaRPr lang="en-US" sz="1400" baseline="-25000"/>
              </a:p>
            </p:txBody>
          </p:sp>
        </p:grpSp>
        <p:sp>
          <p:nvSpPr>
            <p:cNvPr id="6191" name="Text Box 69"/>
            <p:cNvSpPr txBox="1">
              <a:spLocks noChangeArrowheads="1"/>
            </p:cNvSpPr>
            <p:nvPr/>
          </p:nvSpPr>
          <p:spPr bwMode="auto">
            <a:xfrm>
              <a:off x="1474" y="1117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C</a:t>
              </a:r>
              <a:r>
                <a:rPr lang="en-GB" baseline="-25000"/>
                <a:t>1</a:t>
              </a:r>
              <a:endParaRPr lang="en-US" baseline="-25000"/>
            </a:p>
          </p:txBody>
        </p:sp>
        <p:sp>
          <p:nvSpPr>
            <p:cNvPr id="6192" name="Text Box 70"/>
            <p:cNvSpPr txBox="1">
              <a:spLocks noChangeArrowheads="1"/>
            </p:cNvSpPr>
            <p:nvPr/>
          </p:nvSpPr>
          <p:spPr bwMode="auto">
            <a:xfrm>
              <a:off x="3061" y="1525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C</a:t>
              </a:r>
              <a:r>
                <a:rPr lang="en-GB" baseline="-25000"/>
                <a:t>2</a:t>
              </a:r>
              <a:endParaRPr lang="en-US" baseline="-25000"/>
            </a:p>
          </p:txBody>
        </p:sp>
      </p:grpSp>
      <p:grpSp>
        <p:nvGrpSpPr>
          <p:cNvPr id="6148" name="Group 38"/>
          <p:cNvGrpSpPr>
            <a:grpSpLocks/>
          </p:cNvGrpSpPr>
          <p:nvPr/>
        </p:nvGrpSpPr>
        <p:grpSpPr bwMode="auto">
          <a:xfrm flipH="1">
            <a:off x="379413" y="1050925"/>
            <a:ext cx="2376487" cy="4470400"/>
            <a:chOff x="542" y="572"/>
            <a:chExt cx="1910" cy="3451"/>
          </a:xfrm>
        </p:grpSpPr>
        <p:grpSp>
          <p:nvGrpSpPr>
            <p:cNvPr id="6160" name="Group 35"/>
            <p:cNvGrpSpPr>
              <a:grpSpLocks/>
            </p:cNvGrpSpPr>
            <p:nvPr/>
          </p:nvGrpSpPr>
          <p:grpSpPr bwMode="auto">
            <a:xfrm>
              <a:off x="975" y="572"/>
              <a:ext cx="1477" cy="3451"/>
              <a:chOff x="385" y="577"/>
              <a:chExt cx="1477" cy="3451"/>
            </a:xfrm>
          </p:grpSpPr>
          <p:sp>
            <p:nvSpPr>
              <p:cNvPr id="6163" name="Rectangle 5"/>
              <p:cNvSpPr>
                <a:spLocks noChangeArrowheads="1"/>
              </p:cNvSpPr>
              <p:nvPr/>
            </p:nvSpPr>
            <p:spPr bwMode="auto">
              <a:xfrm>
                <a:off x="927" y="1539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64" name="Rectangle 6"/>
              <p:cNvSpPr>
                <a:spLocks noChangeArrowheads="1"/>
              </p:cNvSpPr>
              <p:nvPr/>
            </p:nvSpPr>
            <p:spPr bwMode="auto">
              <a:xfrm>
                <a:off x="385" y="1540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65" name="Rectangle 7"/>
              <p:cNvSpPr>
                <a:spLocks noChangeArrowheads="1"/>
              </p:cNvSpPr>
              <p:nvPr/>
            </p:nvSpPr>
            <p:spPr bwMode="auto">
              <a:xfrm>
                <a:off x="385" y="1546"/>
                <a:ext cx="364" cy="1493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66" name="Rectangle 8"/>
              <p:cNvSpPr>
                <a:spLocks noChangeArrowheads="1"/>
              </p:cNvSpPr>
              <p:nvPr/>
            </p:nvSpPr>
            <p:spPr bwMode="auto">
              <a:xfrm>
                <a:off x="385" y="1556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67" name="Rectangle 9"/>
              <p:cNvSpPr>
                <a:spLocks noChangeArrowheads="1"/>
              </p:cNvSpPr>
              <p:nvPr/>
            </p:nvSpPr>
            <p:spPr bwMode="auto">
              <a:xfrm>
                <a:off x="393" y="2821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68" name="Rectangle 10"/>
              <p:cNvSpPr>
                <a:spLocks noChangeArrowheads="1"/>
              </p:cNvSpPr>
              <p:nvPr/>
            </p:nvSpPr>
            <p:spPr bwMode="auto">
              <a:xfrm>
                <a:off x="393" y="2169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69" name="Rectangle 11"/>
              <p:cNvSpPr>
                <a:spLocks noChangeArrowheads="1"/>
              </p:cNvSpPr>
              <p:nvPr/>
            </p:nvSpPr>
            <p:spPr bwMode="auto">
              <a:xfrm>
                <a:off x="934" y="2721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0" name="Rectangle 12"/>
              <p:cNvSpPr>
                <a:spLocks noChangeArrowheads="1"/>
              </p:cNvSpPr>
              <p:nvPr/>
            </p:nvSpPr>
            <p:spPr bwMode="auto">
              <a:xfrm>
                <a:off x="934" y="2089"/>
                <a:ext cx="198" cy="382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1" name="Line 13"/>
              <p:cNvSpPr>
                <a:spLocks noChangeShapeType="1"/>
              </p:cNvSpPr>
              <p:nvPr/>
            </p:nvSpPr>
            <p:spPr bwMode="auto">
              <a:xfrm>
                <a:off x="931" y="2054"/>
                <a:ext cx="235" cy="0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72" name="Oval 14"/>
              <p:cNvSpPr>
                <a:spLocks noChangeArrowheads="1"/>
              </p:cNvSpPr>
              <p:nvPr/>
            </p:nvSpPr>
            <p:spPr bwMode="auto">
              <a:xfrm>
                <a:off x="91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3" name="Oval 15"/>
              <p:cNvSpPr>
                <a:spLocks noChangeArrowheads="1"/>
              </p:cNvSpPr>
              <p:nvPr/>
            </p:nvSpPr>
            <p:spPr bwMode="auto">
              <a:xfrm>
                <a:off x="969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4" name="Oval 16"/>
              <p:cNvSpPr>
                <a:spLocks noChangeArrowheads="1"/>
              </p:cNvSpPr>
              <p:nvPr/>
            </p:nvSpPr>
            <p:spPr bwMode="auto">
              <a:xfrm>
                <a:off x="1031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5" name="Oval 17"/>
              <p:cNvSpPr>
                <a:spLocks noChangeArrowheads="1"/>
              </p:cNvSpPr>
              <p:nvPr/>
            </p:nvSpPr>
            <p:spPr bwMode="auto">
              <a:xfrm>
                <a:off x="109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6" name="Line 18"/>
              <p:cNvSpPr>
                <a:spLocks noChangeShapeType="1"/>
              </p:cNvSpPr>
              <p:nvPr/>
            </p:nvSpPr>
            <p:spPr bwMode="auto">
              <a:xfrm>
                <a:off x="936" y="2500"/>
                <a:ext cx="230" cy="6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77" name="Oval 19"/>
              <p:cNvSpPr>
                <a:spLocks noChangeArrowheads="1"/>
              </p:cNvSpPr>
              <p:nvPr/>
            </p:nvSpPr>
            <p:spPr bwMode="auto">
              <a:xfrm>
                <a:off x="91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8" name="Oval 20"/>
              <p:cNvSpPr>
                <a:spLocks noChangeArrowheads="1"/>
              </p:cNvSpPr>
              <p:nvPr/>
            </p:nvSpPr>
            <p:spPr bwMode="auto">
              <a:xfrm>
                <a:off x="974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9" name="Oval 21"/>
              <p:cNvSpPr>
                <a:spLocks noChangeArrowheads="1"/>
              </p:cNvSpPr>
              <p:nvPr/>
            </p:nvSpPr>
            <p:spPr bwMode="auto">
              <a:xfrm>
                <a:off x="1036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0" name="Oval 22"/>
              <p:cNvSpPr>
                <a:spLocks noChangeArrowheads="1"/>
              </p:cNvSpPr>
              <p:nvPr/>
            </p:nvSpPr>
            <p:spPr bwMode="auto">
              <a:xfrm>
                <a:off x="109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1" name="Rectangle 23"/>
              <p:cNvSpPr>
                <a:spLocks noChangeArrowheads="1"/>
              </p:cNvSpPr>
              <p:nvPr/>
            </p:nvSpPr>
            <p:spPr bwMode="auto">
              <a:xfrm rot="-3169744">
                <a:off x="674" y="1188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2" name="Rectangle 24"/>
              <p:cNvSpPr>
                <a:spLocks noChangeArrowheads="1"/>
              </p:cNvSpPr>
              <p:nvPr/>
            </p:nvSpPr>
            <p:spPr bwMode="auto">
              <a:xfrm rot="3169744" flipV="1">
                <a:off x="674" y="3312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3" name="Rectangle 25"/>
              <p:cNvSpPr>
                <a:spLocks noChangeArrowheads="1"/>
              </p:cNvSpPr>
              <p:nvPr/>
            </p:nvSpPr>
            <p:spPr bwMode="auto">
              <a:xfrm>
                <a:off x="1689" y="684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4" name="Rectangle 26"/>
              <p:cNvSpPr>
                <a:spLocks noChangeArrowheads="1"/>
              </p:cNvSpPr>
              <p:nvPr/>
            </p:nvSpPr>
            <p:spPr bwMode="auto">
              <a:xfrm>
                <a:off x="1690" y="3695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5" name="Line 27"/>
              <p:cNvSpPr>
                <a:spLocks noChangeShapeType="1"/>
              </p:cNvSpPr>
              <p:nvPr/>
            </p:nvSpPr>
            <p:spPr bwMode="auto">
              <a:xfrm flipV="1">
                <a:off x="1167" y="1076"/>
                <a:ext cx="663" cy="972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86" name="Line 28"/>
              <p:cNvSpPr>
                <a:spLocks noChangeShapeType="1"/>
              </p:cNvSpPr>
              <p:nvPr/>
            </p:nvSpPr>
            <p:spPr bwMode="auto">
              <a:xfrm>
                <a:off x="1154" y="2500"/>
                <a:ext cx="688" cy="997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87" name="Freeform 29"/>
              <p:cNvSpPr>
                <a:spLocks/>
              </p:cNvSpPr>
              <p:nvPr/>
            </p:nvSpPr>
            <p:spPr bwMode="auto">
              <a:xfrm>
                <a:off x="1791" y="908"/>
                <a:ext cx="71" cy="174"/>
              </a:xfrm>
              <a:custGeom>
                <a:avLst/>
                <a:gdLst>
                  <a:gd name="T0" fmla="*/ 1 w 102"/>
                  <a:gd name="T1" fmla="*/ 0 h 310"/>
                  <a:gd name="T2" fmla="*/ 1 w 102"/>
                  <a:gd name="T3" fmla="*/ 1 h 310"/>
                  <a:gd name="T4" fmla="*/ 1 w 102"/>
                  <a:gd name="T5" fmla="*/ 1 h 310"/>
                  <a:gd name="T6" fmla="*/ 1 w 102"/>
                  <a:gd name="T7" fmla="*/ 1 h 310"/>
                  <a:gd name="T8" fmla="*/ 1 w 102"/>
                  <a:gd name="T9" fmla="*/ 1 h 310"/>
                  <a:gd name="T10" fmla="*/ 1 w 102"/>
                  <a:gd name="T11" fmla="*/ 1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88" name="Freeform 30"/>
              <p:cNvSpPr>
                <a:spLocks/>
              </p:cNvSpPr>
              <p:nvPr/>
            </p:nvSpPr>
            <p:spPr bwMode="auto">
              <a:xfrm flipV="1">
                <a:off x="1785" y="3478"/>
                <a:ext cx="71" cy="205"/>
              </a:xfrm>
              <a:custGeom>
                <a:avLst/>
                <a:gdLst>
                  <a:gd name="T0" fmla="*/ 1 w 102"/>
                  <a:gd name="T1" fmla="*/ 0 h 310"/>
                  <a:gd name="T2" fmla="*/ 1 w 102"/>
                  <a:gd name="T3" fmla="*/ 1 h 310"/>
                  <a:gd name="T4" fmla="*/ 1 w 102"/>
                  <a:gd name="T5" fmla="*/ 2 h 310"/>
                  <a:gd name="T6" fmla="*/ 1 w 102"/>
                  <a:gd name="T7" fmla="*/ 2 h 310"/>
                  <a:gd name="T8" fmla="*/ 1 w 102"/>
                  <a:gd name="T9" fmla="*/ 3 h 310"/>
                  <a:gd name="T10" fmla="*/ 1 w 102"/>
                  <a:gd name="T11" fmla="*/ 3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89" name="Freeform 31"/>
              <p:cNvSpPr>
                <a:spLocks/>
              </p:cNvSpPr>
              <p:nvPr/>
            </p:nvSpPr>
            <p:spPr bwMode="auto">
              <a:xfrm>
                <a:off x="1154" y="2054"/>
                <a:ext cx="75" cy="434"/>
              </a:xfrm>
              <a:custGeom>
                <a:avLst/>
                <a:gdLst>
                  <a:gd name="T0" fmla="*/ 1 w 131"/>
                  <a:gd name="T1" fmla="*/ 0 h 434"/>
                  <a:gd name="T2" fmla="*/ 1 w 131"/>
                  <a:gd name="T3" fmla="*/ 236 h 434"/>
                  <a:gd name="T4" fmla="*/ 0 w 131"/>
                  <a:gd name="T5" fmla="*/ 434 h 434"/>
                  <a:gd name="T6" fmla="*/ 0 60000 65536"/>
                  <a:gd name="T7" fmla="*/ 0 60000 65536"/>
                  <a:gd name="T8" fmla="*/ 0 60000 65536"/>
                  <a:gd name="T9" fmla="*/ 0 w 131"/>
                  <a:gd name="T10" fmla="*/ 0 h 434"/>
                  <a:gd name="T11" fmla="*/ 131 w 131"/>
                  <a:gd name="T12" fmla="*/ 434 h 4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1" h="434">
                    <a:moveTo>
                      <a:pt x="7" y="0"/>
                    </a:moveTo>
                    <a:cubicBezTo>
                      <a:pt x="69" y="82"/>
                      <a:pt x="131" y="164"/>
                      <a:pt x="130" y="236"/>
                    </a:cubicBezTo>
                    <a:cubicBezTo>
                      <a:pt x="129" y="308"/>
                      <a:pt x="64" y="371"/>
                      <a:pt x="0" y="43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6161" name="Freeform 36"/>
            <p:cNvSpPr>
              <a:spLocks/>
            </p:cNvSpPr>
            <p:nvPr/>
          </p:nvSpPr>
          <p:spPr bwMode="auto">
            <a:xfrm>
              <a:off x="542" y="1961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2" name="Freeform 37"/>
            <p:cNvSpPr>
              <a:spLocks/>
            </p:cNvSpPr>
            <p:nvPr/>
          </p:nvSpPr>
          <p:spPr bwMode="auto">
            <a:xfrm>
              <a:off x="567" y="2478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149" name="Freeform 46"/>
          <p:cNvSpPr>
            <a:spLocks/>
          </p:cNvSpPr>
          <p:nvPr/>
        </p:nvSpPr>
        <p:spPr bwMode="auto">
          <a:xfrm>
            <a:off x="361950" y="3429000"/>
            <a:ext cx="469900" cy="215900"/>
          </a:xfrm>
          <a:custGeom>
            <a:avLst/>
            <a:gdLst>
              <a:gd name="T0" fmla="*/ 0 w 2449"/>
              <a:gd name="T1" fmla="*/ 2147483647 h 726"/>
              <a:gd name="T2" fmla="*/ 2147483647 w 2449"/>
              <a:gd name="T3" fmla="*/ 0 h 726"/>
              <a:gd name="T4" fmla="*/ 2147483647 w 2449"/>
              <a:gd name="T5" fmla="*/ 2147483647 h 726"/>
              <a:gd name="T6" fmla="*/ 2147483647 w 2449"/>
              <a:gd name="T7" fmla="*/ 2147483647 h 726"/>
              <a:gd name="T8" fmla="*/ 2147483647 w 2449"/>
              <a:gd name="T9" fmla="*/ 2147483647 h 726"/>
              <a:gd name="T10" fmla="*/ 2147483647 w 2449"/>
              <a:gd name="T11" fmla="*/ 0 h 726"/>
              <a:gd name="T12" fmla="*/ 2147483647 w 2449"/>
              <a:gd name="T13" fmla="*/ 2147483647 h 7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49"/>
              <a:gd name="T22" fmla="*/ 0 h 726"/>
              <a:gd name="T23" fmla="*/ 2449 w 2449"/>
              <a:gd name="T24" fmla="*/ 726 h 72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49" h="726">
                <a:moveTo>
                  <a:pt x="0" y="363"/>
                </a:moveTo>
                <a:cubicBezTo>
                  <a:pt x="136" y="181"/>
                  <a:pt x="272" y="0"/>
                  <a:pt x="408" y="0"/>
                </a:cubicBezTo>
                <a:cubicBezTo>
                  <a:pt x="544" y="0"/>
                  <a:pt x="680" y="242"/>
                  <a:pt x="816" y="363"/>
                </a:cubicBezTo>
                <a:cubicBezTo>
                  <a:pt x="952" y="484"/>
                  <a:pt x="1088" y="726"/>
                  <a:pt x="1224" y="726"/>
                </a:cubicBezTo>
                <a:cubicBezTo>
                  <a:pt x="1360" y="726"/>
                  <a:pt x="1497" y="484"/>
                  <a:pt x="1633" y="363"/>
                </a:cubicBezTo>
                <a:cubicBezTo>
                  <a:pt x="1769" y="242"/>
                  <a:pt x="1905" y="0"/>
                  <a:pt x="2041" y="0"/>
                </a:cubicBezTo>
                <a:cubicBezTo>
                  <a:pt x="2177" y="0"/>
                  <a:pt x="2313" y="181"/>
                  <a:pt x="2449" y="363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4" name="Freeform 93"/>
          <p:cNvSpPr/>
          <p:nvPr/>
        </p:nvSpPr>
        <p:spPr bwMode="auto">
          <a:xfrm>
            <a:off x="2728913" y="2341563"/>
            <a:ext cx="444500" cy="636587"/>
          </a:xfrm>
          <a:custGeom>
            <a:avLst/>
            <a:gdLst>
              <a:gd name="connsiteX0" fmla="*/ 0 w 443346"/>
              <a:gd name="connsiteY0" fmla="*/ 595746 h 636679"/>
              <a:gd name="connsiteX1" fmla="*/ 207818 w 443346"/>
              <a:gd name="connsiteY1" fmla="*/ 609600 h 636679"/>
              <a:gd name="connsiteX2" fmla="*/ 235528 w 443346"/>
              <a:gd name="connsiteY2" fmla="*/ 290946 h 636679"/>
              <a:gd name="connsiteX3" fmla="*/ 249382 w 443346"/>
              <a:gd name="connsiteY3" fmla="*/ 235527 h 636679"/>
              <a:gd name="connsiteX4" fmla="*/ 332509 w 443346"/>
              <a:gd name="connsiteY4" fmla="*/ 180109 h 636679"/>
              <a:gd name="connsiteX5" fmla="*/ 360218 w 443346"/>
              <a:gd name="connsiteY5" fmla="*/ 138546 h 636679"/>
              <a:gd name="connsiteX6" fmla="*/ 415637 w 443346"/>
              <a:gd name="connsiteY6" fmla="*/ 83127 h 636679"/>
              <a:gd name="connsiteX7" fmla="*/ 443346 w 443346"/>
              <a:gd name="connsiteY7" fmla="*/ 0 h 636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3346" h="636679">
                <a:moveTo>
                  <a:pt x="0" y="595746"/>
                </a:moveTo>
                <a:cubicBezTo>
                  <a:pt x="122801" y="636679"/>
                  <a:pt x="54098" y="626681"/>
                  <a:pt x="207818" y="609600"/>
                </a:cubicBezTo>
                <a:cubicBezTo>
                  <a:pt x="252966" y="474164"/>
                  <a:pt x="207981" y="621508"/>
                  <a:pt x="235528" y="290946"/>
                </a:cubicBezTo>
                <a:cubicBezTo>
                  <a:pt x="237109" y="271970"/>
                  <a:pt x="236843" y="249857"/>
                  <a:pt x="249382" y="235527"/>
                </a:cubicBezTo>
                <a:cubicBezTo>
                  <a:pt x="271311" y="210464"/>
                  <a:pt x="332509" y="180109"/>
                  <a:pt x="332509" y="180109"/>
                </a:cubicBezTo>
                <a:cubicBezTo>
                  <a:pt x="341745" y="166255"/>
                  <a:pt x="349382" y="151188"/>
                  <a:pt x="360218" y="138546"/>
                </a:cubicBezTo>
                <a:cubicBezTo>
                  <a:pt x="377220" y="118711"/>
                  <a:pt x="415637" y="83127"/>
                  <a:pt x="415637" y="83127"/>
                </a:cubicBezTo>
                <a:lnTo>
                  <a:pt x="443346" y="0"/>
                </a:lnTo>
              </a:path>
            </a:pathLst>
          </a:custGeom>
          <a:noFill/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" name="Freeform 95"/>
          <p:cNvSpPr/>
          <p:nvPr/>
        </p:nvSpPr>
        <p:spPr bwMode="auto">
          <a:xfrm>
            <a:off x="2716213" y="3511550"/>
            <a:ext cx="469900" cy="458788"/>
          </a:xfrm>
          <a:custGeom>
            <a:avLst/>
            <a:gdLst>
              <a:gd name="connsiteX0" fmla="*/ 0 w 471054"/>
              <a:gd name="connsiteY0" fmla="*/ 118821 h 458517"/>
              <a:gd name="connsiteX1" fmla="*/ 124691 w 471054"/>
              <a:gd name="connsiteY1" fmla="*/ 174239 h 458517"/>
              <a:gd name="connsiteX2" fmla="*/ 180109 w 471054"/>
              <a:gd name="connsiteY2" fmla="*/ 160385 h 458517"/>
              <a:gd name="connsiteX3" fmla="*/ 221672 w 471054"/>
              <a:gd name="connsiteY3" fmla="*/ 132675 h 458517"/>
              <a:gd name="connsiteX4" fmla="*/ 263236 w 471054"/>
              <a:gd name="connsiteY4" fmla="*/ 118821 h 458517"/>
              <a:gd name="connsiteX5" fmla="*/ 346363 w 471054"/>
              <a:gd name="connsiteY5" fmla="*/ 77257 h 458517"/>
              <a:gd name="connsiteX6" fmla="*/ 387927 w 471054"/>
              <a:gd name="connsiteY6" fmla="*/ 91112 h 458517"/>
              <a:gd name="connsiteX7" fmla="*/ 415636 w 471054"/>
              <a:gd name="connsiteY7" fmla="*/ 395912 h 458517"/>
              <a:gd name="connsiteX8" fmla="*/ 471054 w 471054"/>
              <a:gd name="connsiteY8" fmla="*/ 423621 h 45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1054" h="458517">
                <a:moveTo>
                  <a:pt x="0" y="118821"/>
                </a:moveTo>
                <a:cubicBezTo>
                  <a:pt x="98924" y="151796"/>
                  <a:pt x="58825" y="130329"/>
                  <a:pt x="124691" y="174239"/>
                </a:cubicBezTo>
                <a:cubicBezTo>
                  <a:pt x="143164" y="169621"/>
                  <a:pt x="162607" y="167886"/>
                  <a:pt x="180109" y="160385"/>
                </a:cubicBezTo>
                <a:cubicBezTo>
                  <a:pt x="195414" y="153826"/>
                  <a:pt x="206779" y="140122"/>
                  <a:pt x="221672" y="132675"/>
                </a:cubicBezTo>
                <a:cubicBezTo>
                  <a:pt x="234734" y="126144"/>
                  <a:pt x="249381" y="123439"/>
                  <a:pt x="263236" y="118821"/>
                </a:cubicBezTo>
                <a:cubicBezTo>
                  <a:pt x="284249" y="104813"/>
                  <a:pt x="317685" y="77257"/>
                  <a:pt x="346363" y="77257"/>
                </a:cubicBezTo>
                <a:cubicBezTo>
                  <a:pt x="360967" y="77257"/>
                  <a:pt x="374072" y="86494"/>
                  <a:pt x="387927" y="91112"/>
                </a:cubicBezTo>
                <a:cubicBezTo>
                  <a:pt x="436112" y="235660"/>
                  <a:pt x="361649" y="0"/>
                  <a:pt x="415636" y="395912"/>
                </a:cubicBezTo>
                <a:cubicBezTo>
                  <a:pt x="424173" y="458517"/>
                  <a:pt x="443894" y="437200"/>
                  <a:pt x="471054" y="423621"/>
                </a:cubicBezTo>
              </a:path>
            </a:pathLst>
          </a:custGeom>
          <a:noFill/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6152" name="Straight Arrow Connector 97"/>
          <p:cNvCxnSpPr>
            <a:cxnSpLocks noChangeShapeType="1"/>
          </p:cNvCxnSpPr>
          <p:nvPr/>
        </p:nvCxnSpPr>
        <p:spPr bwMode="auto">
          <a:xfrm rot="16200000" flipV="1">
            <a:off x="2590800" y="3117850"/>
            <a:ext cx="1371600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53" name="TextBox 98"/>
          <p:cNvSpPr txBox="1">
            <a:spLocks noChangeArrowheads="1"/>
          </p:cNvSpPr>
          <p:nvPr/>
        </p:nvSpPr>
        <p:spPr bwMode="auto">
          <a:xfrm>
            <a:off x="2355850" y="4267200"/>
            <a:ext cx="236855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If one side of the </a:t>
            </a:r>
            <a:r>
              <a:rPr lang="en-GB" dirty="0" err="1"/>
              <a:t>mic</a:t>
            </a:r>
            <a:r>
              <a:rPr lang="en-GB" dirty="0"/>
              <a:t> coil is held at 0V, the other side of the coil is at whatever voltage is generated by the input sound; typically fraction of a volt</a:t>
            </a:r>
            <a:endParaRPr lang="en-US" dirty="0"/>
          </a:p>
        </p:txBody>
      </p:sp>
      <p:sp>
        <p:nvSpPr>
          <p:cNvPr id="6154" name="TextBox 99"/>
          <p:cNvSpPr txBox="1">
            <a:spLocks noChangeArrowheads="1"/>
          </p:cNvSpPr>
          <p:nvPr/>
        </p:nvSpPr>
        <p:spPr bwMode="auto">
          <a:xfrm>
            <a:off x="5832475" y="4129088"/>
            <a:ext cx="2813050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The output of the circuit varies with the input signal.  If one terminal is held at 0V, the output varies by the amplification of the circuit (i.e. input x Gain)</a:t>
            </a:r>
          </a:p>
          <a:p>
            <a:r>
              <a:rPr lang="en-GB" dirty="0"/>
              <a:t> </a:t>
            </a:r>
            <a:endParaRPr lang="en-US" dirty="0"/>
          </a:p>
        </p:txBody>
      </p:sp>
      <p:cxnSp>
        <p:nvCxnSpPr>
          <p:cNvPr id="6155" name="Straight Arrow Connector 100"/>
          <p:cNvCxnSpPr>
            <a:cxnSpLocks noChangeShapeType="1"/>
          </p:cNvCxnSpPr>
          <p:nvPr/>
        </p:nvCxnSpPr>
        <p:spPr bwMode="auto">
          <a:xfrm rot="16200000" flipV="1">
            <a:off x="6782593" y="3456782"/>
            <a:ext cx="677863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9" name="TextBox 158"/>
          <p:cNvSpPr txBox="1"/>
          <p:nvPr/>
        </p:nvSpPr>
        <p:spPr>
          <a:xfrm>
            <a:off x="5818188" y="6069013"/>
            <a:ext cx="279876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Zero Volts (could be Earth, maybe not)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705225" y="2105025"/>
            <a:ext cx="1971675" cy="1077218"/>
          </a:xfrm>
          <a:prstGeom prst="rect">
            <a:avLst/>
          </a:prstGeom>
          <a:solidFill>
            <a:srgbClr val="FFFFCC">
              <a:alpha val="85000"/>
            </a:srgbClr>
          </a:solidFill>
          <a:ln w="31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(Amplifier Circuit – the circuit details aren’t important)</a:t>
            </a:r>
          </a:p>
        </p:txBody>
      </p:sp>
      <p:grpSp>
        <p:nvGrpSpPr>
          <p:cNvPr id="102" name="Group 101"/>
          <p:cNvGrpSpPr/>
          <p:nvPr/>
        </p:nvGrpSpPr>
        <p:grpSpPr>
          <a:xfrm>
            <a:off x="5029200" y="3876674"/>
            <a:ext cx="769938" cy="2436814"/>
            <a:chOff x="5029200" y="3876674"/>
            <a:chExt cx="769938" cy="2436814"/>
          </a:xfrm>
        </p:grpSpPr>
        <p:cxnSp>
          <p:nvCxnSpPr>
            <p:cNvPr id="98" name="Straight Connector 97"/>
            <p:cNvCxnSpPr/>
            <p:nvPr/>
          </p:nvCxnSpPr>
          <p:spPr bwMode="auto">
            <a:xfrm>
              <a:off x="5114925" y="3933825"/>
              <a:ext cx="0" cy="180022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Straight Connector 99"/>
            <p:cNvCxnSpPr/>
            <p:nvPr/>
          </p:nvCxnSpPr>
          <p:spPr bwMode="auto">
            <a:xfrm>
              <a:off x="5114925" y="5705475"/>
              <a:ext cx="684213" cy="608013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1" name="Oval 100"/>
            <p:cNvSpPr/>
            <p:nvPr/>
          </p:nvSpPr>
          <p:spPr bwMode="auto">
            <a:xfrm>
              <a:off x="5029200" y="3876674"/>
              <a:ext cx="152400" cy="161925"/>
            </a:xfrm>
            <a:prstGeom prst="ellipse">
              <a:avLst/>
            </a:prstGeom>
            <a:solidFill>
              <a:schemeClr val="tx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4406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488" y="1158875"/>
            <a:ext cx="18859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Explosion 2 105"/>
          <p:cNvSpPr>
            <a:spLocks noChangeArrowheads="1"/>
          </p:cNvSpPr>
          <p:nvPr/>
        </p:nvSpPr>
        <p:spPr bwMode="auto">
          <a:xfrm>
            <a:off x="6470650" y="2382838"/>
            <a:ext cx="1620838" cy="1662112"/>
          </a:xfrm>
          <a:prstGeom prst="irregularSeal2">
            <a:avLst/>
          </a:prstGeom>
          <a:solidFill>
            <a:srgbClr val="FF0000">
              <a:alpha val="25882"/>
            </a:srgbClr>
          </a:soli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6" name="Explosion 2 104"/>
          <p:cNvSpPr>
            <a:spLocks noChangeArrowheads="1"/>
          </p:cNvSpPr>
          <p:nvPr/>
        </p:nvSpPr>
        <p:spPr bwMode="auto">
          <a:xfrm>
            <a:off x="2397125" y="2244725"/>
            <a:ext cx="1620838" cy="1662113"/>
          </a:xfrm>
          <a:prstGeom prst="irregularSeal2">
            <a:avLst/>
          </a:prstGeom>
          <a:solidFill>
            <a:srgbClr val="FF0000">
              <a:alpha val="25882"/>
            </a:srgbClr>
          </a:soli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3492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Circuits - Interference</a:t>
            </a:r>
          </a:p>
        </p:txBody>
      </p:sp>
      <p:grpSp>
        <p:nvGrpSpPr>
          <p:cNvPr id="8198" name="Group 73"/>
          <p:cNvGrpSpPr>
            <a:grpSpLocks/>
          </p:cNvGrpSpPr>
          <p:nvPr/>
        </p:nvGrpSpPr>
        <p:grpSpPr bwMode="auto">
          <a:xfrm>
            <a:off x="2392363" y="1147763"/>
            <a:ext cx="4752975" cy="2968625"/>
            <a:chOff x="657" y="754"/>
            <a:chExt cx="2994" cy="1870"/>
          </a:xfrm>
        </p:grpSpPr>
        <p:grpSp>
          <p:nvGrpSpPr>
            <p:cNvPr id="8248" name="Group 68"/>
            <p:cNvGrpSpPr>
              <a:grpSpLocks/>
            </p:cNvGrpSpPr>
            <p:nvPr/>
          </p:nvGrpSpPr>
          <p:grpSpPr bwMode="auto">
            <a:xfrm>
              <a:off x="657" y="754"/>
              <a:ext cx="2994" cy="1870"/>
              <a:chOff x="1655" y="1253"/>
              <a:chExt cx="2994" cy="1870"/>
            </a:xfrm>
          </p:grpSpPr>
          <p:sp>
            <p:nvSpPr>
              <p:cNvPr id="8251" name="Line 36"/>
              <p:cNvSpPr>
                <a:spLocks noChangeShapeType="1"/>
              </p:cNvSpPr>
              <p:nvPr/>
            </p:nvSpPr>
            <p:spPr bwMode="auto">
              <a:xfrm>
                <a:off x="2925" y="1298"/>
                <a:ext cx="0" cy="17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52" name="Line 31"/>
              <p:cNvSpPr>
                <a:spLocks noChangeShapeType="1"/>
              </p:cNvSpPr>
              <p:nvPr/>
            </p:nvSpPr>
            <p:spPr bwMode="auto">
              <a:xfrm flipV="1">
                <a:off x="4059" y="2387"/>
                <a:ext cx="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53" name="Line 30"/>
              <p:cNvSpPr>
                <a:spLocks noChangeShapeType="1"/>
              </p:cNvSpPr>
              <p:nvPr/>
            </p:nvSpPr>
            <p:spPr bwMode="auto">
              <a:xfrm>
                <a:off x="3560" y="2387"/>
                <a:ext cx="10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8254" name="Group 11"/>
              <p:cNvGrpSpPr>
                <a:grpSpLocks/>
              </p:cNvGrpSpPr>
              <p:nvPr/>
            </p:nvGrpSpPr>
            <p:grpSpPr bwMode="auto">
              <a:xfrm>
                <a:off x="3052" y="1307"/>
                <a:ext cx="512" cy="1705"/>
                <a:chOff x="1465" y="1162"/>
                <a:chExt cx="589" cy="2223"/>
              </a:xfrm>
            </p:grpSpPr>
            <p:grpSp>
              <p:nvGrpSpPr>
                <p:cNvPr id="8288" name="Group 9"/>
                <p:cNvGrpSpPr>
                  <a:grpSpLocks/>
                </p:cNvGrpSpPr>
                <p:nvPr/>
              </p:nvGrpSpPr>
              <p:grpSpPr bwMode="auto">
                <a:xfrm>
                  <a:off x="1465" y="1162"/>
                  <a:ext cx="589" cy="2223"/>
                  <a:chOff x="3606" y="1344"/>
                  <a:chExt cx="589" cy="2223"/>
                </a:xfrm>
              </p:grpSpPr>
              <p:sp>
                <p:nvSpPr>
                  <p:cNvPr id="8290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296"/>
                    <a:ext cx="18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8291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614"/>
                    <a:ext cx="18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8292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206"/>
                    <a:ext cx="0" cy="49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829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4195" y="1344"/>
                    <a:ext cx="0" cy="95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829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4195" y="2614"/>
                    <a:ext cx="0" cy="95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8295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606" y="2432"/>
                    <a:ext cx="40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8289" name="AutoShape 16"/>
                <p:cNvSpPr>
                  <a:spLocks noChangeArrowheads="1"/>
                </p:cNvSpPr>
                <p:nvPr/>
              </p:nvSpPr>
              <p:spPr bwMode="auto">
                <a:xfrm rot="5400000">
                  <a:off x="1759" y="2200"/>
                  <a:ext cx="116" cy="9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255" name="Rectangle 23"/>
              <p:cNvSpPr>
                <a:spLocks noChangeArrowheads="1"/>
              </p:cNvSpPr>
              <p:nvPr/>
            </p:nvSpPr>
            <p:spPr bwMode="auto">
              <a:xfrm>
                <a:off x="4014" y="2568"/>
                <a:ext cx="91" cy="318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6" name="Line 24"/>
              <p:cNvSpPr>
                <a:spLocks noChangeShapeType="1"/>
              </p:cNvSpPr>
              <p:nvPr/>
            </p:nvSpPr>
            <p:spPr bwMode="auto">
              <a:xfrm>
                <a:off x="2925" y="1298"/>
                <a:ext cx="10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57" name="Line 25"/>
              <p:cNvSpPr>
                <a:spLocks noChangeShapeType="1"/>
              </p:cNvSpPr>
              <p:nvPr/>
            </p:nvSpPr>
            <p:spPr bwMode="auto">
              <a:xfrm>
                <a:off x="2154" y="3022"/>
                <a:ext cx="24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8258" name="Group 26"/>
              <p:cNvGrpSpPr>
                <a:grpSpLocks/>
              </p:cNvGrpSpPr>
              <p:nvPr/>
            </p:nvGrpSpPr>
            <p:grpSpPr bwMode="auto">
              <a:xfrm>
                <a:off x="4195" y="2251"/>
                <a:ext cx="88" cy="272"/>
                <a:chOff x="1689" y="1298"/>
                <a:chExt cx="88" cy="272"/>
              </a:xfrm>
            </p:grpSpPr>
            <p:sp>
              <p:nvSpPr>
                <p:cNvPr id="8285" name="Line 27"/>
                <p:cNvSpPr>
                  <a:spLocks noChangeShapeType="1"/>
                </p:cNvSpPr>
                <p:nvPr/>
              </p:nvSpPr>
              <p:spPr bwMode="auto">
                <a:xfrm>
                  <a:off x="1689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8286" name="Line 28"/>
                <p:cNvSpPr>
                  <a:spLocks noChangeShapeType="1"/>
                </p:cNvSpPr>
                <p:nvPr/>
              </p:nvSpPr>
              <p:spPr bwMode="auto">
                <a:xfrm>
                  <a:off x="1777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8287" name="Rectangle 29"/>
                <p:cNvSpPr>
                  <a:spLocks noChangeArrowheads="1"/>
                </p:cNvSpPr>
                <p:nvPr/>
              </p:nvSpPr>
              <p:spPr bwMode="auto">
                <a:xfrm>
                  <a:off x="1704" y="1298"/>
                  <a:ext cx="64" cy="2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259" name="Rectangle 32"/>
              <p:cNvSpPr>
                <a:spLocks noChangeArrowheads="1"/>
              </p:cNvSpPr>
              <p:nvPr/>
            </p:nvSpPr>
            <p:spPr bwMode="auto">
              <a:xfrm>
                <a:off x="2880" y="1570"/>
                <a:ext cx="91" cy="290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60" name="Rectangle 33"/>
              <p:cNvSpPr>
                <a:spLocks noChangeArrowheads="1"/>
              </p:cNvSpPr>
              <p:nvPr/>
            </p:nvSpPr>
            <p:spPr bwMode="auto">
              <a:xfrm>
                <a:off x="2880" y="2387"/>
                <a:ext cx="91" cy="289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61" name="Line 37"/>
              <p:cNvSpPr>
                <a:spLocks noChangeShapeType="1"/>
              </p:cNvSpPr>
              <p:nvPr/>
            </p:nvSpPr>
            <p:spPr bwMode="auto">
              <a:xfrm flipV="1">
                <a:off x="2917" y="2148"/>
                <a:ext cx="371" cy="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62" name="Line 38"/>
              <p:cNvSpPr>
                <a:spLocks noChangeShapeType="1"/>
              </p:cNvSpPr>
              <p:nvPr/>
            </p:nvSpPr>
            <p:spPr bwMode="auto">
              <a:xfrm>
                <a:off x="2154" y="1979"/>
                <a:ext cx="77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8263" name="Group 39"/>
              <p:cNvGrpSpPr>
                <a:grpSpLocks/>
              </p:cNvGrpSpPr>
              <p:nvPr/>
            </p:nvGrpSpPr>
            <p:grpSpPr bwMode="auto">
              <a:xfrm>
                <a:off x="2608" y="1842"/>
                <a:ext cx="88" cy="272"/>
                <a:chOff x="1689" y="1298"/>
                <a:chExt cx="88" cy="272"/>
              </a:xfrm>
            </p:grpSpPr>
            <p:sp>
              <p:nvSpPr>
                <p:cNvPr id="8282" name="Line 40"/>
                <p:cNvSpPr>
                  <a:spLocks noChangeShapeType="1"/>
                </p:cNvSpPr>
                <p:nvPr/>
              </p:nvSpPr>
              <p:spPr bwMode="auto">
                <a:xfrm>
                  <a:off x="1689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8283" name="Line 41"/>
                <p:cNvSpPr>
                  <a:spLocks noChangeShapeType="1"/>
                </p:cNvSpPr>
                <p:nvPr/>
              </p:nvSpPr>
              <p:spPr bwMode="auto">
                <a:xfrm>
                  <a:off x="1777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8284" name="Rectangle 42"/>
                <p:cNvSpPr>
                  <a:spLocks noChangeArrowheads="1"/>
                </p:cNvSpPr>
                <p:nvPr/>
              </p:nvSpPr>
              <p:spPr bwMode="auto">
                <a:xfrm>
                  <a:off x="1704" y="1298"/>
                  <a:ext cx="64" cy="2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264" name="Oval 44"/>
              <p:cNvSpPr>
                <a:spLocks noChangeArrowheads="1"/>
              </p:cNvSpPr>
              <p:nvPr/>
            </p:nvSpPr>
            <p:spPr bwMode="auto">
              <a:xfrm>
                <a:off x="3969" y="1253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65" name="Oval 45"/>
              <p:cNvSpPr>
                <a:spLocks noChangeArrowheads="1"/>
              </p:cNvSpPr>
              <p:nvPr/>
            </p:nvSpPr>
            <p:spPr bwMode="auto">
              <a:xfrm>
                <a:off x="4558" y="2341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66" name="Oval 47"/>
              <p:cNvSpPr>
                <a:spLocks noChangeArrowheads="1"/>
              </p:cNvSpPr>
              <p:nvPr/>
            </p:nvSpPr>
            <p:spPr bwMode="auto">
              <a:xfrm>
                <a:off x="2109" y="1933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67" name="Oval 48"/>
              <p:cNvSpPr>
                <a:spLocks noChangeArrowheads="1"/>
              </p:cNvSpPr>
              <p:nvPr/>
            </p:nvSpPr>
            <p:spPr bwMode="auto">
              <a:xfrm>
                <a:off x="2109" y="2976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68" name="Text Box 49"/>
              <p:cNvSpPr txBox="1">
                <a:spLocks noChangeArrowheads="1"/>
              </p:cNvSpPr>
              <p:nvPr/>
            </p:nvSpPr>
            <p:spPr bwMode="auto">
              <a:xfrm>
                <a:off x="3379" y="1797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D</a:t>
                </a:r>
                <a:endParaRPr lang="en-US" sz="1400"/>
              </a:p>
            </p:txBody>
          </p:sp>
          <p:sp>
            <p:nvSpPr>
              <p:cNvPr id="8269" name="Text Box 50"/>
              <p:cNvSpPr txBox="1">
                <a:spLocks noChangeArrowheads="1"/>
              </p:cNvSpPr>
              <p:nvPr/>
            </p:nvSpPr>
            <p:spPr bwMode="auto">
              <a:xfrm>
                <a:off x="3198" y="1933"/>
                <a:ext cx="19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G</a:t>
                </a:r>
                <a:endParaRPr lang="en-US" sz="1400"/>
              </a:p>
            </p:txBody>
          </p:sp>
          <p:sp>
            <p:nvSpPr>
              <p:cNvPr id="8270" name="Text Box 51"/>
              <p:cNvSpPr txBox="1">
                <a:spLocks noChangeArrowheads="1"/>
              </p:cNvSpPr>
              <p:nvPr/>
            </p:nvSpPr>
            <p:spPr bwMode="auto">
              <a:xfrm>
                <a:off x="3379" y="2341"/>
                <a:ext cx="17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S</a:t>
                </a:r>
                <a:endParaRPr lang="en-US" sz="1400"/>
              </a:p>
            </p:txBody>
          </p:sp>
          <p:sp>
            <p:nvSpPr>
              <p:cNvPr id="8271" name="Rectangle 52"/>
              <p:cNvSpPr>
                <a:spLocks noChangeArrowheads="1"/>
              </p:cNvSpPr>
              <p:nvPr/>
            </p:nvSpPr>
            <p:spPr bwMode="auto">
              <a:xfrm>
                <a:off x="3515" y="2568"/>
                <a:ext cx="91" cy="289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72" name="Text Box 53"/>
              <p:cNvSpPr txBox="1">
                <a:spLocks noChangeArrowheads="1"/>
              </p:cNvSpPr>
              <p:nvPr/>
            </p:nvSpPr>
            <p:spPr bwMode="auto">
              <a:xfrm>
                <a:off x="1655" y="1888"/>
                <a:ext cx="4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input</a:t>
                </a:r>
                <a:endParaRPr lang="en-US" sz="1400"/>
              </a:p>
            </p:txBody>
          </p:sp>
          <p:sp>
            <p:nvSpPr>
              <p:cNvPr id="8273" name="Text Box 55"/>
              <p:cNvSpPr txBox="1">
                <a:spLocks noChangeArrowheads="1"/>
              </p:cNvSpPr>
              <p:nvPr/>
            </p:nvSpPr>
            <p:spPr bwMode="auto">
              <a:xfrm>
                <a:off x="4150" y="1253"/>
                <a:ext cx="2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V</a:t>
                </a:r>
                <a:r>
                  <a:rPr lang="en-GB" sz="1400" baseline="-25000"/>
                  <a:t>CC</a:t>
                </a:r>
                <a:endParaRPr lang="en-US" sz="1400" baseline="-25000"/>
              </a:p>
            </p:txBody>
          </p:sp>
          <p:sp>
            <p:nvSpPr>
              <p:cNvPr id="8274" name="Text Box 56"/>
              <p:cNvSpPr txBox="1">
                <a:spLocks noChangeArrowheads="1"/>
              </p:cNvSpPr>
              <p:nvPr/>
            </p:nvSpPr>
            <p:spPr bwMode="auto">
              <a:xfrm>
                <a:off x="1837" y="2931"/>
                <a:ext cx="2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0V</a:t>
                </a:r>
                <a:endParaRPr lang="en-US" sz="1400" baseline="-25000"/>
              </a:p>
            </p:txBody>
          </p:sp>
          <p:sp>
            <p:nvSpPr>
              <p:cNvPr id="8277" name="Oval 63"/>
              <p:cNvSpPr>
                <a:spLocks noChangeArrowheads="1"/>
              </p:cNvSpPr>
              <p:nvPr/>
            </p:nvSpPr>
            <p:spPr bwMode="auto">
              <a:xfrm>
                <a:off x="4558" y="2976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78" name="Text Box 64"/>
              <p:cNvSpPr txBox="1">
                <a:spLocks noChangeArrowheads="1"/>
              </p:cNvSpPr>
              <p:nvPr/>
            </p:nvSpPr>
            <p:spPr bwMode="auto">
              <a:xfrm>
                <a:off x="4105" y="2659"/>
                <a:ext cx="38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LOAD</a:t>
                </a:r>
                <a:endParaRPr lang="en-US" sz="1400" baseline="-25000"/>
              </a:p>
            </p:txBody>
          </p:sp>
          <p:sp>
            <p:nvSpPr>
              <p:cNvPr id="8279" name="Text Box 65"/>
              <p:cNvSpPr txBox="1">
                <a:spLocks noChangeArrowheads="1"/>
              </p:cNvSpPr>
              <p:nvPr/>
            </p:nvSpPr>
            <p:spPr bwMode="auto">
              <a:xfrm>
                <a:off x="2971" y="1616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1</a:t>
                </a:r>
                <a:endParaRPr lang="en-US" sz="1400" baseline="-25000"/>
              </a:p>
            </p:txBody>
          </p:sp>
          <p:sp>
            <p:nvSpPr>
              <p:cNvPr id="8280" name="Text Box 66"/>
              <p:cNvSpPr txBox="1">
                <a:spLocks noChangeArrowheads="1"/>
              </p:cNvSpPr>
              <p:nvPr/>
            </p:nvSpPr>
            <p:spPr bwMode="auto">
              <a:xfrm>
                <a:off x="2971" y="2432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2</a:t>
                </a:r>
                <a:endParaRPr lang="en-US" sz="1400" baseline="-25000"/>
              </a:p>
            </p:txBody>
          </p:sp>
          <p:sp>
            <p:nvSpPr>
              <p:cNvPr id="8281" name="Text Box 67"/>
              <p:cNvSpPr txBox="1">
                <a:spLocks noChangeArrowheads="1"/>
              </p:cNvSpPr>
              <p:nvPr/>
            </p:nvSpPr>
            <p:spPr bwMode="auto">
              <a:xfrm>
                <a:off x="3606" y="2659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3</a:t>
                </a:r>
                <a:endParaRPr lang="en-US" sz="1400" baseline="-25000"/>
              </a:p>
            </p:txBody>
          </p:sp>
        </p:grpSp>
        <p:sp>
          <p:nvSpPr>
            <p:cNvPr id="8249" name="Text Box 69"/>
            <p:cNvSpPr txBox="1">
              <a:spLocks noChangeArrowheads="1"/>
            </p:cNvSpPr>
            <p:nvPr/>
          </p:nvSpPr>
          <p:spPr bwMode="auto">
            <a:xfrm>
              <a:off x="1474" y="1117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C</a:t>
              </a:r>
              <a:r>
                <a:rPr lang="en-GB" baseline="-25000"/>
                <a:t>1</a:t>
              </a:r>
              <a:endParaRPr lang="en-US" baseline="-25000"/>
            </a:p>
          </p:txBody>
        </p:sp>
        <p:sp>
          <p:nvSpPr>
            <p:cNvPr id="8250" name="Text Box 70"/>
            <p:cNvSpPr txBox="1">
              <a:spLocks noChangeArrowheads="1"/>
            </p:cNvSpPr>
            <p:nvPr/>
          </p:nvSpPr>
          <p:spPr bwMode="auto">
            <a:xfrm>
              <a:off x="3061" y="1525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C</a:t>
              </a:r>
              <a:r>
                <a:rPr lang="en-GB" baseline="-25000"/>
                <a:t>2</a:t>
              </a:r>
              <a:endParaRPr lang="en-US" baseline="-25000"/>
            </a:p>
          </p:txBody>
        </p:sp>
      </p:grpSp>
      <p:grpSp>
        <p:nvGrpSpPr>
          <p:cNvPr id="8199" name="Group 38"/>
          <p:cNvGrpSpPr>
            <a:grpSpLocks/>
          </p:cNvGrpSpPr>
          <p:nvPr/>
        </p:nvGrpSpPr>
        <p:grpSpPr bwMode="auto">
          <a:xfrm flipH="1">
            <a:off x="379413" y="1050925"/>
            <a:ext cx="2376487" cy="4470400"/>
            <a:chOff x="542" y="572"/>
            <a:chExt cx="1910" cy="3451"/>
          </a:xfrm>
        </p:grpSpPr>
        <p:grpSp>
          <p:nvGrpSpPr>
            <p:cNvPr id="8218" name="Group 35"/>
            <p:cNvGrpSpPr>
              <a:grpSpLocks/>
            </p:cNvGrpSpPr>
            <p:nvPr/>
          </p:nvGrpSpPr>
          <p:grpSpPr bwMode="auto">
            <a:xfrm>
              <a:off x="975" y="572"/>
              <a:ext cx="1477" cy="3451"/>
              <a:chOff x="385" y="577"/>
              <a:chExt cx="1477" cy="3451"/>
            </a:xfrm>
          </p:grpSpPr>
          <p:sp>
            <p:nvSpPr>
              <p:cNvPr id="8221" name="Rectangle 5"/>
              <p:cNvSpPr>
                <a:spLocks noChangeArrowheads="1"/>
              </p:cNvSpPr>
              <p:nvPr/>
            </p:nvSpPr>
            <p:spPr bwMode="auto">
              <a:xfrm>
                <a:off x="927" y="1539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2" name="Rectangle 6"/>
              <p:cNvSpPr>
                <a:spLocks noChangeArrowheads="1"/>
              </p:cNvSpPr>
              <p:nvPr/>
            </p:nvSpPr>
            <p:spPr bwMode="auto">
              <a:xfrm>
                <a:off x="385" y="1540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3" name="Rectangle 7"/>
              <p:cNvSpPr>
                <a:spLocks noChangeArrowheads="1"/>
              </p:cNvSpPr>
              <p:nvPr/>
            </p:nvSpPr>
            <p:spPr bwMode="auto">
              <a:xfrm>
                <a:off x="385" y="1546"/>
                <a:ext cx="364" cy="1493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4" name="Rectangle 8"/>
              <p:cNvSpPr>
                <a:spLocks noChangeArrowheads="1"/>
              </p:cNvSpPr>
              <p:nvPr/>
            </p:nvSpPr>
            <p:spPr bwMode="auto">
              <a:xfrm>
                <a:off x="385" y="1556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5" name="Rectangle 9"/>
              <p:cNvSpPr>
                <a:spLocks noChangeArrowheads="1"/>
              </p:cNvSpPr>
              <p:nvPr/>
            </p:nvSpPr>
            <p:spPr bwMode="auto">
              <a:xfrm>
                <a:off x="393" y="2821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6" name="Rectangle 10"/>
              <p:cNvSpPr>
                <a:spLocks noChangeArrowheads="1"/>
              </p:cNvSpPr>
              <p:nvPr/>
            </p:nvSpPr>
            <p:spPr bwMode="auto">
              <a:xfrm>
                <a:off x="393" y="2169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7" name="Rectangle 11"/>
              <p:cNvSpPr>
                <a:spLocks noChangeArrowheads="1"/>
              </p:cNvSpPr>
              <p:nvPr/>
            </p:nvSpPr>
            <p:spPr bwMode="auto">
              <a:xfrm>
                <a:off x="934" y="2721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8" name="Rectangle 12"/>
              <p:cNvSpPr>
                <a:spLocks noChangeArrowheads="1"/>
              </p:cNvSpPr>
              <p:nvPr/>
            </p:nvSpPr>
            <p:spPr bwMode="auto">
              <a:xfrm>
                <a:off x="934" y="2089"/>
                <a:ext cx="198" cy="382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9" name="Line 13"/>
              <p:cNvSpPr>
                <a:spLocks noChangeShapeType="1"/>
              </p:cNvSpPr>
              <p:nvPr/>
            </p:nvSpPr>
            <p:spPr bwMode="auto">
              <a:xfrm>
                <a:off x="931" y="2054"/>
                <a:ext cx="235" cy="0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30" name="Oval 14"/>
              <p:cNvSpPr>
                <a:spLocks noChangeArrowheads="1"/>
              </p:cNvSpPr>
              <p:nvPr/>
            </p:nvSpPr>
            <p:spPr bwMode="auto">
              <a:xfrm>
                <a:off x="91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1" name="Oval 15"/>
              <p:cNvSpPr>
                <a:spLocks noChangeArrowheads="1"/>
              </p:cNvSpPr>
              <p:nvPr/>
            </p:nvSpPr>
            <p:spPr bwMode="auto">
              <a:xfrm>
                <a:off x="969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2" name="Oval 16"/>
              <p:cNvSpPr>
                <a:spLocks noChangeArrowheads="1"/>
              </p:cNvSpPr>
              <p:nvPr/>
            </p:nvSpPr>
            <p:spPr bwMode="auto">
              <a:xfrm>
                <a:off x="1031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3" name="Oval 17"/>
              <p:cNvSpPr>
                <a:spLocks noChangeArrowheads="1"/>
              </p:cNvSpPr>
              <p:nvPr/>
            </p:nvSpPr>
            <p:spPr bwMode="auto">
              <a:xfrm>
                <a:off x="109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4" name="Line 18"/>
              <p:cNvSpPr>
                <a:spLocks noChangeShapeType="1"/>
              </p:cNvSpPr>
              <p:nvPr/>
            </p:nvSpPr>
            <p:spPr bwMode="auto">
              <a:xfrm>
                <a:off x="936" y="2500"/>
                <a:ext cx="230" cy="6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35" name="Oval 19"/>
              <p:cNvSpPr>
                <a:spLocks noChangeArrowheads="1"/>
              </p:cNvSpPr>
              <p:nvPr/>
            </p:nvSpPr>
            <p:spPr bwMode="auto">
              <a:xfrm>
                <a:off x="91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6" name="Oval 20"/>
              <p:cNvSpPr>
                <a:spLocks noChangeArrowheads="1"/>
              </p:cNvSpPr>
              <p:nvPr/>
            </p:nvSpPr>
            <p:spPr bwMode="auto">
              <a:xfrm>
                <a:off x="974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7" name="Oval 21"/>
              <p:cNvSpPr>
                <a:spLocks noChangeArrowheads="1"/>
              </p:cNvSpPr>
              <p:nvPr/>
            </p:nvSpPr>
            <p:spPr bwMode="auto">
              <a:xfrm>
                <a:off x="1036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8" name="Oval 22"/>
              <p:cNvSpPr>
                <a:spLocks noChangeArrowheads="1"/>
              </p:cNvSpPr>
              <p:nvPr/>
            </p:nvSpPr>
            <p:spPr bwMode="auto">
              <a:xfrm>
                <a:off x="109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9" name="Rectangle 23"/>
              <p:cNvSpPr>
                <a:spLocks noChangeArrowheads="1"/>
              </p:cNvSpPr>
              <p:nvPr/>
            </p:nvSpPr>
            <p:spPr bwMode="auto">
              <a:xfrm rot="-3169744">
                <a:off x="674" y="1188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40" name="Rectangle 24"/>
              <p:cNvSpPr>
                <a:spLocks noChangeArrowheads="1"/>
              </p:cNvSpPr>
              <p:nvPr/>
            </p:nvSpPr>
            <p:spPr bwMode="auto">
              <a:xfrm rot="3169744" flipV="1">
                <a:off x="674" y="3312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41" name="Rectangle 25"/>
              <p:cNvSpPr>
                <a:spLocks noChangeArrowheads="1"/>
              </p:cNvSpPr>
              <p:nvPr/>
            </p:nvSpPr>
            <p:spPr bwMode="auto">
              <a:xfrm>
                <a:off x="1689" y="684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42" name="Rectangle 26"/>
              <p:cNvSpPr>
                <a:spLocks noChangeArrowheads="1"/>
              </p:cNvSpPr>
              <p:nvPr/>
            </p:nvSpPr>
            <p:spPr bwMode="auto">
              <a:xfrm>
                <a:off x="1690" y="3695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43" name="Line 27"/>
              <p:cNvSpPr>
                <a:spLocks noChangeShapeType="1"/>
              </p:cNvSpPr>
              <p:nvPr/>
            </p:nvSpPr>
            <p:spPr bwMode="auto">
              <a:xfrm flipV="1">
                <a:off x="1167" y="1076"/>
                <a:ext cx="663" cy="972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44" name="Line 28"/>
              <p:cNvSpPr>
                <a:spLocks noChangeShapeType="1"/>
              </p:cNvSpPr>
              <p:nvPr/>
            </p:nvSpPr>
            <p:spPr bwMode="auto">
              <a:xfrm>
                <a:off x="1154" y="2500"/>
                <a:ext cx="688" cy="997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45" name="Freeform 29"/>
              <p:cNvSpPr>
                <a:spLocks/>
              </p:cNvSpPr>
              <p:nvPr/>
            </p:nvSpPr>
            <p:spPr bwMode="auto">
              <a:xfrm>
                <a:off x="1791" y="908"/>
                <a:ext cx="71" cy="174"/>
              </a:xfrm>
              <a:custGeom>
                <a:avLst/>
                <a:gdLst>
                  <a:gd name="T0" fmla="*/ 1 w 102"/>
                  <a:gd name="T1" fmla="*/ 0 h 310"/>
                  <a:gd name="T2" fmla="*/ 1 w 102"/>
                  <a:gd name="T3" fmla="*/ 1 h 310"/>
                  <a:gd name="T4" fmla="*/ 1 w 102"/>
                  <a:gd name="T5" fmla="*/ 1 h 310"/>
                  <a:gd name="T6" fmla="*/ 1 w 102"/>
                  <a:gd name="T7" fmla="*/ 1 h 310"/>
                  <a:gd name="T8" fmla="*/ 1 w 102"/>
                  <a:gd name="T9" fmla="*/ 1 h 310"/>
                  <a:gd name="T10" fmla="*/ 1 w 102"/>
                  <a:gd name="T11" fmla="*/ 1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46" name="Freeform 30"/>
              <p:cNvSpPr>
                <a:spLocks/>
              </p:cNvSpPr>
              <p:nvPr/>
            </p:nvSpPr>
            <p:spPr bwMode="auto">
              <a:xfrm flipV="1">
                <a:off x="1785" y="3478"/>
                <a:ext cx="71" cy="205"/>
              </a:xfrm>
              <a:custGeom>
                <a:avLst/>
                <a:gdLst>
                  <a:gd name="T0" fmla="*/ 1 w 102"/>
                  <a:gd name="T1" fmla="*/ 0 h 310"/>
                  <a:gd name="T2" fmla="*/ 1 w 102"/>
                  <a:gd name="T3" fmla="*/ 1 h 310"/>
                  <a:gd name="T4" fmla="*/ 1 w 102"/>
                  <a:gd name="T5" fmla="*/ 2 h 310"/>
                  <a:gd name="T6" fmla="*/ 1 w 102"/>
                  <a:gd name="T7" fmla="*/ 2 h 310"/>
                  <a:gd name="T8" fmla="*/ 1 w 102"/>
                  <a:gd name="T9" fmla="*/ 3 h 310"/>
                  <a:gd name="T10" fmla="*/ 1 w 102"/>
                  <a:gd name="T11" fmla="*/ 3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47" name="Freeform 31"/>
              <p:cNvSpPr>
                <a:spLocks/>
              </p:cNvSpPr>
              <p:nvPr/>
            </p:nvSpPr>
            <p:spPr bwMode="auto">
              <a:xfrm>
                <a:off x="1154" y="2054"/>
                <a:ext cx="75" cy="434"/>
              </a:xfrm>
              <a:custGeom>
                <a:avLst/>
                <a:gdLst>
                  <a:gd name="T0" fmla="*/ 1 w 131"/>
                  <a:gd name="T1" fmla="*/ 0 h 434"/>
                  <a:gd name="T2" fmla="*/ 1 w 131"/>
                  <a:gd name="T3" fmla="*/ 236 h 434"/>
                  <a:gd name="T4" fmla="*/ 0 w 131"/>
                  <a:gd name="T5" fmla="*/ 434 h 434"/>
                  <a:gd name="T6" fmla="*/ 0 60000 65536"/>
                  <a:gd name="T7" fmla="*/ 0 60000 65536"/>
                  <a:gd name="T8" fmla="*/ 0 60000 65536"/>
                  <a:gd name="T9" fmla="*/ 0 w 131"/>
                  <a:gd name="T10" fmla="*/ 0 h 434"/>
                  <a:gd name="T11" fmla="*/ 131 w 131"/>
                  <a:gd name="T12" fmla="*/ 434 h 4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1" h="434">
                    <a:moveTo>
                      <a:pt x="7" y="0"/>
                    </a:moveTo>
                    <a:cubicBezTo>
                      <a:pt x="69" y="82"/>
                      <a:pt x="131" y="164"/>
                      <a:pt x="130" y="236"/>
                    </a:cubicBezTo>
                    <a:cubicBezTo>
                      <a:pt x="129" y="308"/>
                      <a:pt x="64" y="371"/>
                      <a:pt x="0" y="43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8219" name="Freeform 36"/>
            <p:cNvSpPr>
              <a:spLocks/>
            </p:cNvSpPr>
            <p:nvPr/>
          </p:nvSpPr>
          <p:spPr bwMode="auto">
            <a:xfrm>
              <a:off x="542" y="1961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20" name="Freeform 37"/>
            <p:cNvSpPr>
              <a:spLocks/>
            </p:cNvSpPr>
            <p:nvPr/>
          </p:nvSpPr>
          <p:spPr bwMode="auto">
            <a:xfrm>
              <a:off x="567" y="2478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200" name="Freeform 46"/>
          <p:cNvSpPr>
            <a:spLocks/>
          </p:cNvSpPr>
          <p:nvPr/>
        </p:nvSpPr>
        <p:spPr bwMode="auto">
          <a:xfrm>
            <a:off x="361950" y="3429000"/>
            <a:ext cx="469900" cy="215900"/>
          </a:xfrm>
          <a:custGeom>
            <a:avLst/>
            <a:gdLst>
              <a:gd name="T0" fmla="*/ 0 w 2449"/>
              <a:gd name="T1" fmla="*/ 2147483647 h 726"/>
              <a:gd name="T2" fmla="*/ 2147483647 w 2449"/>
              <a:gd name="T3" fmla="*/ 0 h 726"/>
              <a:gd name="T4" fmla="*/ 2147483647 w 2449"/>
              <a:gd name="T5" fmla="*/ 2147483647 h 726"/>
              <a:gd name="T6" fmla="*/ 2147483647 w 2449"/>
              <a:gd name="T7" fmla="*/ 2147483647 h 726"/>
              <a:gd name="T8" fmla="*/ 2147483647 w 2449"/>
              <a:gd name="T9" fmla="*/ 2147483647 h 726"/>
              <a:gd name="T10" fmla="*/ 2147483647 w 2449"/>
              <a:gd name="T11" fmla="*/ 0 h 726"/>
              <a:gd name="T12" fmla="*/ 2147483647 w 2449"/>
              <a:gd name="T13" fmla="*/ 2147483647 h 7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49"/>
              <a:gd name="T22" fmla="*/ 0 h 726"/>
              <a:gd name="T23" fmla="*/ 2449 w 2449"/>
              <a:gd name="T24" fmla="*/ 726 h 72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49" h="726">
                <a:moveTo>
                  <a:pt x="0" y="363"/>
                </a:moveTo>
                <a:cubicBezTo>
                  <a:pt x="136" y="181"/>
                  <a:pt x="272" y="0"/>
                  <a:pt x="408" y="0"/>
                </a:cubicBezTo>
                <a:cubicBezTo>
                  <a:pt x="544" y="0"/>
                  <a:pt x="680" y="242"/>
                  <a:pt x="816" y="363"/>
                </a:cubicBezTo>
                <a:cubicBezTo>
                  <a:pt x="952" y="484"/>
                  <a:pt x="1088" y="726"/>
                  <a:pt x="1224" y="726"/>
                </a:cubicBezTo>
                <a:cubicBezTo>
                  <a:pt x="1360" y="726"/>
                  <a:pt x="1497" y="484"/>
                  <a:pt x="1633" y="363"/>
                </a:cubicBezTo>
                <a:cubicBezTo>
                  <a:pt x="1769" y="242"/>
                  <a:pt x="1905" y="0"/>
                  <a:pt x="2041" y="0"/>
                </a:cubicBezTo>
                <a:cubicBezTo>
                  <a:pt x="2177" y="0"/>
                  <a:pt x="2313" y="181"/>
                  <a:pt x="2449" y="363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" name="Freeform 85"/>
          <p:cNvSpPr/>
          <p:nvPr/>
        </p:nvSpPr>
        <p:spPr bwMode="auto">
          <a:xfrm>
            <a:off x="2728913" y="2341563"/>
            <a:ext cx="444500" cy="636587"/>
          </a:xfrm>
          <a:custGeom>
            <a:avLst/>
            <a:gdLst>
              <a:gd name="connsiteX0" fmla="*/ 0 w 443346"/>
              <a:gd name="connsiteY0" fmla="*/ 595746 h 636679"/>
              <a:gd name="connsiteX1" fmla="*/ 207818 w 443346"/>
              <a:gd name="connsiteY1" fmla="*/ 609600 h 636679"/>
              <a:gd name="connsiteX2" fmla="*/ 235528 w 443346"/>
              <a:gd name="connsiteY2" fmla="*/ 290946 h 636679"/>
              <a:gd name="connsiteX3" fmla="*/ 249382 w 443346"/>
              <a:gd name="connsiteY3" fmla="*/ 235527 h 636679"/>
              <a:gd name="connsiteX4" fmla="*/ 332509 w 443346"/>
              <a:gd name="connsiteY4" fmla="*/ 180109 h 636679"/>
              <a:gd name="connsiteX5" fmla="*/ 360218 w 443346"/>
              <a:gd name="connsiteY5" fmla="*/ 138546 h 636679"/>
              <a:gd name="connsiteX6" fmla="*/ 415637 w 443346"/>
              <a:gd name="connsiteY6" fmla="*/ 83127 h 636679"/>
              <a:gd name="connsiteX7" fmla="*/ 443346 w 443346"/>
              <a:gd name="connsiteY7" fmla="*/ 0 h 636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3346" h="636679">
                <a:moveTo>
                  <a:pt x="0" y="595746"/>
                </a:moveTo>
                <a:cubicBezTo>
                  <a:pt x="122801" y="636679"/>
                  <a:pt x="54098" y="626681"/>
                  <a:pt x="207818" y="609600"/>
                </a:cubicBezTo>
                <a:cubicBezTo>
                  <a:pt x="252966" y="474164"/>
                  <a:pt x="207981" y="621508"/>
                  <a:pt x="235528" y="290946"/>
                </a:cubicBezTo>
                <a:cubicBezTo>
                  <a:pt x="237109" y="271970"/>
                  <a:pt x="236843" y="249857"/>
                  <a:pt x="249382" y="235527"/>
                </a:cubicBezTo>
                <a:cubicBezTo>
                  <a:pt x="271311" y="210464"/>
                  <a:pt x="332509" y="180109"/>
                  <a:pt x="332509" y="180109"/>
                </a:cubicBezTo>
                <a:cubicBezTo>
                  <a:pt x="341745" y="166255"/>
                  <a:pt x="349382" y="151188"/>
                  <a:pt x="360218" y="138546"/>
                </a:cubicBezTo>
                <a:cubicBezTo>
                  <a:pt x="377220" y="118711"/>
                  <a:pt x="415637" y="83127"/>
                  <a:pt x="415637" y="83127"/>
                </a:cubicBezTo>
                <a:lnTo>
                  <a:pt x="443346" y="0"/>
                </a:lnTo>
              </a:path>
            </a:pathLst>
          </a:custGeom>
          <a:noFill/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" name="Freeform 86"/>
          <p:cNvSpPr/>
          <p:nvPr/>
        </p:nvSpPr>
        <p:spPr bwMode="auto">
          <a:xfrm>
            <a:off x="2716213" y="3511550"/>
            <a:ext cx="469900" cy="458788"/>
          </a:xfrm>
          <a:custGeom>
            <a:avLst/>
            <a:gdLst>
              <a:gd name="connsiteX0" fmla="*/ 0 w 471054"/>
              <a:gd name="connsiteY0" fmla="*/ 118821 h 458517"/>
              <a:gd name="connsiteX1" fmla="*/ 124691 w 471054"/>
              <a:gd name="connsiteY1" fmla="*/ 174239 h 458517"/>
              <a:gd name="connsiteX2" fmla="*/ 180109 w 471054"/>
              <a:gd name="connsiteY2" fmla="*/ 160385 h 458517"/>
              <a:gd name="connsiteX3" fmla="*/ 221672 w 471054"/>
              <a:gd name="connsiteY3" fmla="*/ 132675 h 458517"/>
              <a:gd name="connsiteX4" fmla="*/ 263236 w 471054"/>
              <a:gd name="connsiteY4" fmla="*/ 118821 h 458517"/>
              <a:gd name="connsiteX5" fmla="*/ 346363 w 471054"/>
              <a:gd name="connsiteY5" fmla="*/ 77257 h 458517"/>
              <a:gd name="connsiteX6" fmla="*/ 387927 w 471054"/>
              <a:gd name="connsiteY6" fmla="*/ 91112 h 458517"/>
              <a:gd name="connsiteX7" fmla="*/ 415636 w 471054"/>
              <a:gd name="connsiteY7" fmla="*/ 395912 h 458517"/>
              <a:gd name="connsiteX8" fmla="*/ 471054 w 471054"/>
              <a:gd name="connsiteY8" fmla="*/ 423621 h 45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1054" h="458517">
                <a:moveTo>
                  <a:pt x="0" y="118821"/>
                </a:moveTo>
                <a:cubicBezTo>
                  <a:pt x="98924" y="151796"/>
                  <a:pt x="58825" y="130329"/>
                  <a:pt x="124691" y="174239"/>
                </a:cubicBezTo>
                <a:cubicBezTo>
                  <a:pt x="143164" y="169621"/>
                  <a:pt x="162607" y="167886"/>
                  <a:pt x="180109" y="160385"/>
                </a:cubicBezTo>
                <a:cubicBezTo>
                  <a:pt x="195414" y="153826"/>
                  <a:pt x="206779" y="140122"/>
                  <a:pt x="221672" y="132675"/>
                </a:cubicBezTo>
                <a:cubicBezTo>
                  <a:pt x="234734" y="126144"/>
                  <a:pt x="249381" y="123439"/>
                  <a:pt x="263236" y="118821"/>
                </a:cubicBezTo>
                <a:cubicBezTo>
                  <a:pt x="284249" y="104813"/>
                  <a:pt x="317685" y="77257"/>
                  <a:pt x="346363" y="77257"/>
                </a:cubicBezTo>
                <a:cubicBezTo>
                  <a:pt x="360967" y="77257"/>
                  <a:pt x="374072" y="86494"/>
                  <a:pt x="387927" y="91112"/>
                </a:cubicBezTo>
                <a:cubicBezTo>
                  <a:pt x="436112" y="235660"/>
                  <a:pt x="361649" y="0"/>
                  <a:pt x="415636" y="395912"/>
                </a:cubicBezTo>
                <a:cubicBezTo>
                  <a:pt x="424173" y="458517"/>
                  <a:pt x="443894" y="437200"/>
                  <a:pt x="471054" y="423621"/>
                </a:cubicBezTo>
              </a:path>
            </a:pathLst>
          </a:custGeom>
          <a:noFill/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8203" name="Straight Arrow Connector 87"/>
          <p:cNvCxnSpPr>
            <a:cxnSpLocks noChangeShapeType="1"/>
          </p:cNvCxnSpPr>
          <p:nvPr/>
        </p:nvCxnSpPr>
        <p:spPr bwMode="auto">
          <a:xfrm rot="16200000" flipV="1">
            <a:off x="2590800" y="3117850"/>
            <a:ext cx="1371600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4" name="Straight Arrow Connector 88"/>
          <p:cNvCxnSpPr>
            <a:cxnSpLocks noChangeShapeType="1"/>
          </p:cNvCxnSpPr>
          <p:nvPr/>
        </p:nvCxnSpPr>
        <p:spPr bwMode="auto">
          <a:xfrm rot="16200000" flipV="1">
            <a:off x="6850063" y="3414713"/>
            <a:ext cx="6794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6" name="Freeform 93"/>
          <p:cNvSpPr>
            <a:spLocks/>
          </p:cNvSpPr>
          <p:nvPr/>
        </p:nvSpPr>
        <p:spPr bwMode="auto">
          <a:xfrm>
            <a:off x="7135813" y="2312988"/>
            <a:ext cx="206375" cy="596900"/>
          </a:xfrm>
          <a:custGeom>
            <a:avLst/>
            <a:gdLst>
              <a:gd name="T0" fmla="*/ 0 w 207818"/>
              <a:gd name="T1" fmla="*/ 607386 h 595746"/>
              <a:gd name="T2" fmla="*/ 38764 w 207818"/>
              <a:gd name="T3" fmla="*/ 579135 h 595746"/>
              <a:gd name="T4" fmla="*/ 77533 w 207818"/>
              <a:gd name="T5" fmla="*/ 565012 h 595746"/>
              <a:gd name="T6" fmla="*/ 90456 w 207818"/>
              <a:gd name="T7" fmla="*/ 522634 h 595746"/>
              <a:gd name="T8" fmla="*/ 77533 w 207818"/>
              <a:gd name="T9" fmla="*/ 466133 h 595746"/>
              <a:gd name="T10" fmla="*/ 90456 w 207818"/>
              <a:gd name="T11" fmla="*/ 381382 h 595746"/>
              <a:gd name="T12" fmla="*/ 129219 w 207818"/>
              <a:gd name="T13" fmla="*/ 367257 h 595746"/>
              <a:gd name="T14" fmla="*/ 155065 w 207818"/>
              <a:gd name="T15" fmla="*/ 324881 h 595746"/>
              <a:gd name="T16" fmla="*/ 167986 w 207818"/>
              <a:gd name="T17" fmla="*/ 56501 h 595746"/>
              <a:gd name="T18" fmla="*/ 180908 w 207818"/>
              <a:gd name="T19" fmla="*/ 14125 h 595746"/>
              <a:gd name="T20" fmla="*/ 193831 w 207818"/>
              <a:gd name="T21" fmla="*/ 0 h 59574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07818"/>
              <a:gd name="T34" fmla="*/ 0 h 595746"/>
              <a:gd name="T35" fmla="*/ 207818 w 207818"/>
              <a:gd name="T36" fmla="*/ 595746 h 59574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07818" h="595746">
                <a:moveTo>
                  <a:pt x="0" y="595746"/>
                </a:moveTo>
                <a:cubicBezTo>
                  <a:pt x="13855" y="586509"/>
                  <a:pt x="26671" y="575483"/>
                  <a:pt x="41564" y="568036"/>
                </a:cubicBezTo>
                <a:cubicBezTo>
                  <a:pt x="54626" y="561505"/>
                  <a:pt x="72801" y="564508"/>
                  <a:pt x="83127" y="554182"/>
                </a:cubicBezTo>
                <a:cubicBezTo>
                  <a:pt x="93454" y="543855"/>
                  <a:pt x="92364" y="526473"/>
                  <a:pt x="96982" y="512618"/>
                </a:cubicBezTo>
                <a:cubicBezTo>
                  <a:pt x="92364" y="494145"/>
                  <a:pt x="88358" y="475509"/>
                  <a:pt x="83127" y="457200"/>
                </a:cubicBezTo>
                <a:cubicBezTo>
                  <a:pt x="71343" y="415956"/>
                  <a:pt x="52809" y="409412"/>
                  <a:pt x="96982" y="374073"/>
                </a:cubicBezTo>
                <a:cubicBezTo>
                  <a:pt x="108386" y="364950"/>
                  <a:pt x="124691" y="364836"/>
                  <a:pt x="138545" y="360218"/>
                </a:cubicBezTo>
                <a:cubicBezTo>
                  <a:pt x="147781" y="346364"/>
                  <a:pt x="164004" y="335153"/>
                  <a:pt x="166254" y="318655"/>
                </a:cubicBezTo>
                <a:cubicBezTo>
                  <a:pt x="178126" y="231594"/>
                  <a:pt x="172154" y="142924"/>
                  <a:pt x="180109" y="55418"/>
                </a:cubicBezTo>
                <a:cubicBezTo>
                  <a:pt x="181431" y="40874"/>
                  <a:pt x="187433" y="26917"/>
                  <a:pt x="193964" y="13855"/>
                </a:cubicBezTo>
                <a:cubicBezTo>
                  <a:pt x="196885" y="8013"/>
                  <a:pt x="203200" y="4618"/>
                  <a:pt x="207818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7" name="Freeform 94"/>
          <p:cNvSpPr>
            <a:spLocks/>
          </p:cNvSpPr>
          <p:nvPr/>
        </p:nvSpPr>
        <p:spPr bwMode="auto">
          <a:xfrm>
            <a:off x="7080250" y="3944938"/>
            <a:ext cx="298450" cy="128587"/>
          </a:xfrm>
          <a:custGeom>
            <a:avLst/>
            <a:gdLst>
              <a:gd name="T0" fmla="*/ 0 w 299204"/>
              <a:gd name="T1" fmla="*/ 60440 h 128396"/>
              <a:gd name="T2" fmla="*/ 40528 w 299204"/>
              <a:gd name="T3" fmla="*/ 102624 h 128396"/>
              <a:gd name="T4" fmla="*/ 162109 w 299204"/>
              <a:gd name="T5" fmla="*/ 102624 h 128396"/>
              <a:gd name="T6" fmla="*/ 229657 w 299204"/>
              <a:gd name="T7" fmla="*/ 32316 h 128396"/>
              <a:gd name="T8" fmla="*/ 283696 w 299204"/>
              <a:gd name="T9" fmla="*/ 4188 h 1283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9204"/>
              <a:gd name="T16" fmla="*/ 0 h 128396"/>
              <a:gd name="T17" fmla="*/ 299204 w 299204"/>
              <a:gd name="T18" fmla="*/ 128396 h 1283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9204" h="128396">
                <a:moveTo>
                  <a:pt x="0" y="59547"/>
                </a:moveTo>
                <a:cubicBezTo>
                  <a:pt x="13854" y="73401"/>
                  <a:pt x="25261" y="90242"/>
                  <a:pt x="41563" y="101110"/>
                </a:cubicBezTo>
                <a:cubicBezTo>
                  <a:pt x="82492" y="128396"/>
                  <a:pt x="121204" y="108619"/>
                  <a:pt x="166254" y="101110"/>
                </a:cubicBezTo>
                <a:cubicBezTo>
                  <a:pt x="193964" y="59546"/>
                  <a:pt x="189345" y="54929"/>
                  <a:pt x="235527" y="31838"/>
                </a:cubicBezTo>
                <a:cubicBezTo>
                  <a:pt x="299204" y="0"/>
                  <a:pt x="259647" y="35429"/>
                  <a:pt x="290945" y="412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8" name="Lightning Bolt 96"/>
          <p:cNvSpPr>
            <a:spLocks noChangeArrowheads="1"/>
          </p:cNvSpPr>
          <p:nvPr/>
        </p:nvSpPr>
        <p:spPr bwMode="auto">
          <a:xfrm rot="-701474">
            <a:off x="1900238" y="963613"/>
            <a:ext cx="773112" cy="1095375"/>
          </a:xfrm>
          <a:prstGeom prst="lightningBol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9" name="Lightning Bolt 97"/>
          <p:cNvSpPr>
            <a:spLocks noChangeArrowheads="1"/>
          </p:cNvSpPr>
          <p:nvPr/>
        </p:nvSpPr>
        <p:spPr bwMode="auto">
          <a:xfrm rot="967107">
            <a:off x="6653213" y="673100"/>
            <a:ext cx="773112" cy="1095375"/>
          </a:xfrm>
          <a:prstGeom prst="lightningBol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0" name="Lightning Bolt 98"/>
          <p:cNvSpPr>
            <a:spLocks noChangeArrowheads="1"/>
          </p:cNvSpPr>
          <p:nvPr/>
        </p:nvSpPr>
        <p:spPr bwMode="auto">
          <a:xfrm rot="967107">
            <a:off x="4560888" y="728663"/>
            <a:ext cx="773112" cy="1093787"/>
          </a:xfrm>
          <a:prstGeom prst="lightningBol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1" name="Lightning Bolt 99"/>
          <p:cNvSpPr>
            <a:spLocks noChangeArrowheads="1"/>
          </p:cNvSpPr>
          <p:nvPr/>
        </p:nvSpPr>
        <p:spPr bwMode="auto">
          <a:xfrm rot="-6729692">
            <a:off x="2620963" y="4289425"/>
            <a:ext cx="773112" cy="1093788"/>
          </a:xfrm>
          <a:prstGeom prst="lightningBol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2" name="Lightning Bolt 100"/>
          <p:cNvSpPr>
            <a:spLocks noChangeArrowheads="1"/>
          </p:cNvSpPr>
          <p:nvPr/>
        </p:nvSpPr>
        <p:spPr bwMode="auto">
          <a:xfrm rot="-8673104">
            <a:off x="5349875" y="4192588"/>
            <a:ext cx="773113" cy="1093787"/>
          </a:xfrm>
          <a:prstGeom prst="lightningBol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3" name="Lightning Bolt 101"/>
          <p:cNvSpPr>
            <a:spLocks noChangeArrowheads="1"/>
          </p:cNvSpPr>
          <p:nvPr/>
        </p:nvSpPr>
        <p:spPr bwMode="auto">
          <a:xfrm rot="9682839">
            <a:off x="8216900" y="4054475"/>
            <a:ext cx="773113" cy="1093788"/>
          </a:xfrm>
          <a:prstGeom prst="lightningBol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4" name="TextBox 106"/>
          <p:cNvSpPr txBox="1">
            <a:spLocks noChangeArrowheads="1"/>
          </p:cNvSpPr>
          <p:nvPr/>
        </p:nvSpPr>
        <p:spPr bwMode="auto">
          <a:xfrm>
            <a:off x="395288" y="5583238"/>
            <a:ext cx="36782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However, all parts of a circuit are susceptible to interference</a:t>
            </a:r>
          </a:p>
          <a:p>
            <a:r>
              <a:rPr lang="en-GB"/>
              <a:t>(including interconnects, cables)</a:t>
            </a:r>
            <a:endParaRPr lang="en-US"/>
          </a:p>
        </p:txBody>
      </p:sp>
      <p:sp>
        <p:nvSpPr>
          <p:cNvPr id="103" name="Rectangle 102"/>
          <p:cNvSpPr/>
          <p:nvPr/>
        </p:nvSpPr>
        <p:spPr>
          <a:xfrm rot="10800000" flipV="1">
            <a:off x="5675313" y="5935663"/>
            <a:ext cx="514350" cy="33813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0V </a:t>
            </a:r>
            <a:endParaRPr lang="en-GB" dirty="0"/>
          </a:p>
        </p:txBody>
      </p:sp>
      <p:grpSp>
        <p:nvGrpSpPr>
          <p:cNvPr id="106" name="Group 105"/>
          <p:cNvGrpSpPr/>
          <p:nvPr/>
        </p:nvGrpSpPr>
        <p:grpSpPr>
          <a:xfrm>
            <a:off x="5029200" y="3876674"/>
            <a:ext cx="769938" cy="2436814"/>
            <a:chOff x="5029200" y="3876674"/>
            <a:chExt cx="769938" cy="2436814"/>
          </a:xfrm>
        </p:grpSpPr>
        <p:cxnSp>
          <p:nvCxnSpPr>
            <p:cNvPr id="107" name="Straight Connector 106"/>
            <p:cNvCxnSpPr/>
            <p:nvPr/>
          </p:nvCxnSpPr>
          <p:spPr bwMode="auto">
            <a:xfrm>
              <a:off x="5114925" y="3933825"/>
              <a:ext cx="0" cy="180022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Straight Connector 107"/>
            <p:cNvCxnSpPr/>
            <p:nvPr/>
          </p:nvCxnSpPr>
          <p:spPr bwMode="auto">
            <a:xfrm>
              <a:off x="5114925" y="5705475"/>
              <a:ext cx="684213" cy="608013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9" name="Oval 108"/>
            <p:cNvSpPr/>
            <p:nvPr/>
          </p:nvSpPr>
          <p:spPr bwMode="auto">
            <a:xfrm>
              <a:off x="5029200" y="3876674"/>
              <a:ext cx="152400" cy="161925"/>
            </a:xfrm>
            <a:prstGeom prst="ellipse">
              <a:avLst/>
            </a:prstGeom>
            <a:solidFill>
              <a:schemeClr val="tx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2849563" y="1800225"/>
            <a:ext cx="708026" cy="370063"/>
            <a:chOff x="4506912" y="2316145"/>
            <a:chExt cx="1760537" cy="582805"/>
          </a:xfrm>
        </p:grpSpPr>
        <p:sp>
          <p:nvSpPr>
            <p:cNvPr id="110" name="Freeform 46"/>
            <p:cNvSpPr>
              <a:spLocks/>
            </p:cNvSpPr>
            <p:nvPr/>
          </p:nvSpPr>
          <p:spPr bwMode="auto">
            <a:xfrm flipH="1">
              <a:off x="4506912" y="2438400"/>
              <a:ext cx="884237" cy="361421"/>
            </a:xfrm>
            <a:custGeom>
              <a:avLst/>
              <a:gdLst>
                <a:gd name="T0" fmla="*/ 0 w 2449"/>
                <a:gd name="T1" fmla="*/ 363 h 726"/>
                <a:gd name="T2" fmla="*/ 408 w 2449"/>
                <a:gd name="T3" fmla="*/ 0 h 726"/>
                <a:gd name="T4" fmla="*/ 816 w 2449"/>
                <a:gd name="T5" fmla="*/ 363 h 726"/>
                <a:gd name="T6" fmla="*/ 1224 w 2449"/>
                <a:gd name="T7" fmla="*/ 726 h 726"/>
                <a:gd name="T8" fmla="*/ 1633 w 2449"/>
                <a:gd name="T9" fmla="*/ 363 h 726"/>
                <a:gd name="T10" fmla="*/ 2041 w 2449"/>
                <a:gd name="T11" fmla="*/ 0 h 726"/>
                <a:gd name="T12" fmla="*/ 2449 w 2449"/>
                <a:gd name="T13" fmla="*/ 363 h 7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49"/>
                <a:gd name="T22" fmla="*/ 0 h 726"/>
                <a:gd name="T23" fmla="*/ 2449 w 2449"/>
                <a:gd name="T24" fmla="*/ 726 h 7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49" h="726">
                  <a:moveTo>
                    <a:pt x="0" y="363"/>
                  </a:moveTo>
                  <a:cubicBezTo>
                    <a:pt x="136" y="181"/>
                    <a:pt x="272" y="0"/>
                    <a:pt x="408" y="0"/>
                  </a:cubicBezTo>
                  <a:cubicBezTo>
                    <a:pt x="544" y="0"/>
                    <a:pt x="680" y="242"/>
                    <a:pt x="816" y="363"/>
                  </a:cubicBezTo>
                  <a:cubicBezTo>
                    <a:pt x="952" y="484"/>
                    <a:pt x="1088" y="726"/>
                    <a:pt x="1224" y="726"/>
                  </a:cubicBezTo>
                  <a:cubicBezTo>
                    <a:pt x="1360" y="726"/>
                    <a:pt x="1497" y="484"/>
                    <a:pt x="1633" y="363"/>
                  </a:cubicBezTo>
                  <a:cubicBezTo>
                    <a:pt x="1769" y="242"/>
                    <a:pt x="1905" y="0"/>
                    <a:pt x="2041" y="0"/>
                  </a:cubicBezTo>
                  <a:cubicBezTo>
                    <a:pt x="2177" y="0"/>
                    <a:pt x="2313" y="181"/>
                    <a:pt x="2449" y="363"/>
                  </a:cubicBezTo>
                </a:path>
              </a:pathLst>
            </a:custGeom>
            <a:solidFill>
              <a:schemeClr val="bg1"/>
            </a:solidFill>
            <a:ln w="19050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46"/>
            <p:cNvSpPr>
              <a:spLocks/>
            </p:cNvSpPr>
            <p:nvPr/>
          </p:nvSpPr>
          <p:spPr bwMode="auto">
            <a:xfrm flipH="1" flipV="1">
              <a:off x="5383212" y="2419350"/>
              <a:ext cx="884237" cy="361421"/>
            </a:xfrm>
            <a:custGeom>
              <a:avLst/>
              <a:gdLst>
                <a:gd name="T0" fmla="*/ 0 w 2449"/>
                <a:gd name="T1" fmla="*/ 363 h 726"/>
                <a:gd name="T2" fmla="*/ 408 w 2449"/>
                <a:gd name="T3" fmla="*/ 0 h 726"/>
                <a:gd name="T4" fmla="*/ 816 w 2449"/>
                <a:gd name="T5" fmla="*/ 363 h 726"/>
                <a:gd name="T6" fmla="*/ 1224 w 2449"/>
                <a:gd name="T7" fmla="*/ 726 h 726"/>
                <a:gd name="T8" fmla="*/ 1633 w 2449"/>
                <a:gd name="T9" fmla="*/ 363 h 726"/>
                <a:gd name="T10" fmla="*/ 2041 w 2449"/>
                <a:gd name="T11" fmla="*/ 0 h 726"/>
                <a:gd name="T12" fmla="*/ 2449 w 2449"/>
                <a:gd name="T13" fmla="*/ 363 h 7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49"/>
                <a:gd name="T22" fmla="*/ 0 h 726"/>
                <a:gd name="T23" fmla="*/ 2449 w 2449"/>
                <a:gd name="T24" fmla="*/ 726 h 7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49" h="726">
                  <a:moveTo>
                    <a:pt x="0" y="363"/>
                  </a:moveTo>
                  <a:cubicBezTo>
                    <a:pt x="136" y="181"/>
                    <a:pt x="272" y="0"/>
                    <a:pt x="408" y="0"/>
                  </a:cubicBezTo>
                  <a:cubicBezTo>
                    <a:pt x="544" y="0"/>
                    <a:pt x="680" y="242"/>
                    <a:pt x="816" y="363"/>
                  </a:cubicBezTo>
                  <a:cubicBezTo>
                    <a:pt x="952" y="484"/>
                    <a:pt x="1088" y="726"/>
                    <a:pt x="1224" y="726"/>
                  </a:cubicBezTo>
                  <a:cubicBezTo>
                    <a:pt x="1360" y="726"/>
                    <a:pt x="1497" y="484"/>
                    <a:pt x="1633" y="363"/>
                  </a:cubicBezTo>
                  <a:cubicBezTo>
                    <a:pt x="1769" y="242"/>
                    <a:pt x="1905" y="0"/>
                    <a:pt x="2041" y="0"/>
                  </a:cubicBezTo>
                  <a:cubicBezTo>
                    <a:pt x="2177" y="0"/>
                    <a:pt x="2313" y="181"/>
                    <a:pt x="2449" y="363"/>
                  </a:cubicBezTo>
                </a:path>
              </a:pathLst>
            </a:custGeom>
            <a:solidFill>
              <a:schemeClr val="bg1"/>
            </a:solidFill>
            <a:ln w="19050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11"/>
            <p:cNvSpPr/>
            <p:nvPr/>
          </p:nvSpPr>
          <p:spPr bwMode="auto">
            <a:xfrm>
              <a:off x="4762919" y="2366387"/>
              <a:ext cx="25121" cy="276329"/>
            </a:xfrm>
            <a:custGeom>
              <a:avLst/>
              <a:gdLst>
                <a:gd name="connsiteX0" fmla="*/ 0 w 25121"/>
                <a:gd name="connsiteY0" fmla="*/ 221063 h 276329"/>
                <a:gd name="connsiteX1" fmla="*/ 0 w 25121"/>
                <a:gd name="connsiteY1" fmla="*/ 221063 h 276329"/>
                <a:gd name="connsiteX2" fmla="*/ 20096 w 25121"/>
                <a:gd name="connsiteY2" fmla="*/ 0 h 276329"/>
                <a:gd name="connsiteX3" fmla="*/ 25121 w 25121"/>
                <a:gd name="connsiteY3" fmla="*/ 276329 h 27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1" h="276329">
                  <a:moveTo>
                    <a:pt x="0" y="221063"/>
                  </a:moveTo>
                  <a:lnTo>
                    <a:pt x="0" y="221063"/>
                  </a:lnTo>
                  <a:lnTo>
                    <a:pt x="20096" y="0"/>
                  </a:lnTo>
                  <a:lnTo>
                    <a:pt x="25121" y="276329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3" name="Freeform 112"/>
            <p:cNvSpPr/>
            <p:nvPr/>
          </p:nvSpPr>
          <p:spPr bwMode="auto">
            <a:xfrm>
              <a:off x="5406013" y="2366387"/>
              <a:ext cx="45719" cy="401933"/>
            </a:xfrm>
            <a:custGeom>
              <a:avLst/>
              <a:gdLst>
                <a:gd name="connsiteX0" fmla="*/ 0 w 25121"/>
                <a:gd name="connsiteY0" fmla="*/ 221063 h 276329"/>
                <a:gd name="connsiteX1" fmla="*/ 0 w 25121"/>
                <a:gd name="connsiteY1" fmla="*/ 221063 h 276329"/>
                <a:gd name="connsiteX2" fmla="*/ 20096 w 25121"/>
                <a:gd name="connsiteY2" fmla="*/ 0 h 276329"/>
                <a:gd name="connsiteX3" fmla="*/ 25121 w 25121"/>
                <a:gd name="connsiteY3" fmla="*/ 276329 h 27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1" h="276329">
                  <a:moveTo>
                    <a:pt x="0" y="221063"/>
                  </a:moveTo>
                  <a:lnTo>
                    <a:pt x="0" y="221063"/>
                  </a:lnTo>
                  <a:lnTo>
                    <a:pt x="20096" y="0"/>
                  </a:lnTo>
                  <a:lnTo>
                    <a:pt x="25121" y="276329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4" name="Freeform 113"/>
            <p:cNvSpPr/>
            <p:nvPr/>
          </p:nvSpPr>
          <p:spPr bwMode="auto">
            <a:xfrm>
              <a:off x="5114611" y="2476919"/>
              <a:ext cx="35169" cy="306475"/>
            </a:xfrm>
            <a:custGeom>
              <a:avLst/>
              <a:gdLst>
                <a:gd name="connsiteX0" fmla="*/ 0 w 35169"/>
                <a:gd name="connsiteY0" fmla="*/ 85411 h 306475"/>
                <a:gd name="connsiteX1" fmla="*/ 0 w 35169"/>
                <a:gd name="connsiteY1" fmla="*/ 85411 h 306475"/>
                <a:gd name="connsiteX2" fmla="*/ 5024 w 35169"/>
                <a:gd name="connsiteY2" fmla="*/ 155750 h 306475"/>
                <a:gd name="connsiteX3" fmla="*/ 10048 w 35169"/>
                <a:gd name="connsiteY3" fmla="*/ 170822 h 306475"/>
                <a:gd name="connsiteX4" fmla="*/ 15073 w 35169"/>
                <a:gd name="connsiteY4" fmla="*/ 205991 h 306475"/>
                <a:gd name="connsiteX5" fmla="*/ 20097 w 35169"/>
                <a:gd name="connsiteY5" fmla="*/ 306475 h 306475"/>
                <a:gd name="connsiteX6" fmla="*/ 35169 w 35169"/>
                <a:gd name="connsiteY6" fmla="*/ 0 h 30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69" h="306475">
                  <a:moveTo>
                    <a:pt x="0" y="85411"/>
                  </a:moveTo>
                  <a:lnTo>
                    <a:pt x="0" y="85411"/>
                  </a:lnTo>
                  <a:cubicBezTo>
                    <a:pt x="1675" y="108857"/>
                    <a:pt x="2278" y="132405"/>
                    <a:pt x="5024" y="155750"/>
                  </a:cubicBezTo>
                  <a:cubicBezTo>
                    <a:pt x="5643" y="161009"/>
                    <a:pt x="9009" y="165629"/>
                    <a:pt x="10048" y="170822"/>
                  </a:cubicBezTo>
                  <a:cubicBezTo>
                    <a:pt x="12371" y="182434"/>
                    <a:pt x="13765" y="194221"/>
                    <a:pt x="15073" y="205991"/>
                  </a:cubicBezTo>
                  <a:cubicBezTo>
                    <a:pt x="21462" y="263484"/>
                    <a:pt x="20097" y="253175"/>
                    <a:pt x="20097" y="306475"/>
                  </a:cubicBezTo>
                  <a:lnTo>
                    <a:pt x="35169" y="0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5" name="Freeform 114"/>
            <p:cNvSpPr/>
            <p:nvPr/>
          </p:nvSpPr>
          <p:spPr bwMode="auto">
            <a:xfrm>
              <a:off x="5200647" y="2316145"/>
              <a:ext cx="24830" cy="208503"/>
            </a:xfrm>
            <a:custGeom>
              <a:avLst/>
              <a:gdLst>
                <a:gd name="connsiteX0" fmla="*/ 4399 w 24830"/>
                <a:gd name="connsiteY0" fmla="*/ 205991 h 208503"/>
                <a:gd name="connsiteX1" fmla="*/ 4399 w 24830"/>
                <a:gd name="connsiteY1" fmla="*/ 115556 h 208503"/>
                <a:gd name="connsiteX2" fmla="*/ 9423 w 24830"/>
                <a:gd name="connsiteY2" fmla="*/ 0 h 208503"/>
                <a:gd name="connsiteX3" fmla="*/ 14447 w 24830"/>
                <a:gd name="connsiteY3" fmla="*/ 60290 h 208503"/>
                <a:gd name="connsiteX4" fmla="*/ 19472 w 24830"/>
                <a:gd name="connsiteY4" fmla="*/ 100484 h 208503"/>
                <a:gd name="connsiteX5" fmla="*/ 4399 w 24830"/>
                <a:gd name="connsiteY5" fmla="*/ 205991 h 20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30" h="208503">
                  <a:moveTo>
                    <a:pt x="4399" y="205991"/>
                  </a:moveTo>
                  <a:cubicBezTo>
                    <a:pt x="1887" y="208503"/>
                    <a:pt x="0" y="199136"/>
                    <a:pt x="4399" y="115556"/>
                  </a:cubicBezTo>
                  <a:cubicBezTo>
                    <a:pt x="6425" y="77054"/>
                    <a:pt x="7748" y="38519"/>
                    <a:pt x="9423" y="0"/>
                  </a:cubicBezTo>
                  <a:cubicBezTo>
                    <a:pt x="11098" y="20097"/>
                    <a:pt x="12440" y="40224"/>
                    <a:pt x="14447" y="60290"/>
                  </a:cubicBezTo>
                  <a:cubicBezTo>
                    <a:pt x="15791" y="73725"/>
                    <a:pt x="18302" y="87032"/>
                    <a:pt x="19472" y="100484"/>
                  </a:cubicBezTo>
                  <a:cubicBezTo>
                    <a:pt x="24830" y="162099"/>
                    <a:pt x="6911" y="203479"/>
                    <a:pt x="4399" y="205991"/>
                  </a:cubicBezTo>
                  <a:close/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6" name="Freeform 115"/>
            <p:cNvSpPr/>
            <p:nvPr/>
          </p:nvSpPr>
          <p:spPr bwMode="auto">
            <a:xfrm>
              <a:off x="5320259" y="2373122"/>
              <a:ext cx="19778" cy="219352"/>
            </a:xfrm>
            <a:custGeom>
              <a:avLst/>
              <a:gdLst>
                <a:gd name="connsiteX0" fmla="*/ 343 w 19778"/>
                <a:gd name="connsiteY0" fmla="*/ 164086 h 219352"/>
                <a:gd name="connsiteX1" fmla="*/ 5367 w 19778"/>
                <a:gd name="connsiteY1" fmla="*/ 18385 h 219352"/>
                <a:gd name="connsiteX2" fmla="*/ 10392 w 19778"/>
                <a:gd name="connsiteY2" fmla="*/ 73651 h 219352"/>
                <a:gd name="connsiteX3" fmla="*/ 15416 w 19778"/>
                <a:gd name="connsiteY3" fmla="*/ 219352 h 21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78" h="219352">
                  <a:moveTo>
                    <a:pt x="343" y="164086"/>
                  </a:moveTo>
                  <a:cubicBezTo>
                    <a:pt x="2018" y="115519"/>
                    <a:pt x="0" y="66684"/>
                    <a:pt x="5367" y="18385"/>
                  </a:cubicBezTo>
                  <a:cubicBezTo>
                    <a:pt x="7410" y="0"/>
                    <a:pt x="8455" y="55255"/>
                    <a:pt x="10392" y="73651"/>
                  </a:cubicBezTo>
                  <a:cubicBezTo>
                    <a:pt x="19778" y="162813"/>
                    <a:pt x="15416" y="63690"/>
                    <a:pt x="15416" y="219352"/>
                  </a:cubicBez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7" name="Freeform 116"/>
            <p:cNvSpPr/>
            <p:nvPr/>
          </p:nvSpPr>
          <p:spPr bwMode="auto">
            <a:xfrm>
              <a:off x="5561763" y="2662813"/>
              <a:ext cx="50242" cy="236137"/>
            </a:xfrm>
            <a:custGeom>
              <a:avLst/>
              <a:gdLst>
                <a:gd name="connsiteX0" fmla="*/ 0 w 50242"/>
                <a:gd name="connsiteY0" fmla="*/ 55266 h 236137"/>
                <a:gd name="connsiteX1" fmla="*/ 30145 w 50242"/>
                <a:gd name="connsiteY1" fmla="*/ 236137 h 236137"/>
                <a:gd name="connsiteX2" fmla="*/ 50242 w 50242"/>
                <a:gd name="connsiteY2" fmla="*/ 0 h 236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242" h="236137">
                  <a:moveTo>
                    <a:pt x="0" y="55266"/>
                  </a:moveTo>
                  <a:lnTo>
                    <a:pt x="30145" y="236137"/>
                  </a:lnTo>
                  <a:lnTo>
                    <a:pt x="50242" y="0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8" name="Freeform 117"/>
            <p:cNvSpPr/>
            <p:nvPr/>
          </p:nvSpPr>
          <p:spPr bwMode="auto">
            <a:xfrm>
              <a:off x="4587073" y="2411605"/>
              <a:ext cx="25121" cy="291403"/>
            </a:xfrm>
            <a:custGeom>
              <a:avLst/>
              <a:gdLst>
                <a:gd name="connsiteX0" fmla="*/ 0 w 25121"/>
                <a:gd name="connsiteY0" fmla="*/ 50242 h 291403"/>
                <a:gd name="connsiteX1" fmla="*/ 25121 w 25121"/>
                <a:gd name="connsiteY1" fmla="*/ 291403 h 291403"/>
                <a:gd name="connsiteX2" fmla="*/ 25121 w 25121"/>
                <a:gd name="connsiteY2" fmla="*/ 0 h 291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121" h="291403">
                  <a:moveTo>
                    <a:pt x="0" y="50242"/>
                  </a:moveTo>
                  <a:lnTo>
                    <a:pt x="25121" y="291403"/>
                  </a:lnTo>
                  <a:lnTo>
                    <a:pt x="25121" y="0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9" name="Freeform 118"/>
            <p:cNvSpPr/>
            <p:nvPr/>
          </p:nvSpPr>
          <p:spPr bwMode="auto">
            <a:xfrm>
              <a:off x="5682343" y="2497016"/>
              <a:ext cx="35169" cy="256233"/>
            </a:xfrm>
            <a:custGeom>
              <a:avLst/>
              <a:gdLst>
                <a:gd name="connsiteX0" fmla="*/ 0 w 35169"/>
                <a:gd name="connsiteY0" fmla="*/ 60290 h 256233"/>
                <a:gd name="connsiteX1" fmla="*/ 35169 w 35169"/>
                <a:gd name="connsiteY1" fmla="*/ 256233 h 256233"/>
                <a:gd name="connsiteX2" fmla="*/ 35169 w 35169"/>
                <a:gd name="connsiteY2" fmla="*/ 0 h 25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69" h="256233">
                  <a:moveTo>
                    <a:pt x="0" y="60290"/>
                  </a:moveTo>
                  <a:lnTo>
                    <a:pt x="35169" y="256233"/>
                  </a:lnTo>
                  <a:lnTo>
                    <a:pt x="35169" y="0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0" name="Freeform 119"/>
            <p:cNvSpPr/>
            <p:nvPr/>
          </p:nvSpPr>
          <p:spPr bwMode="auto">
            <a:xfrm>
              <a:off x="5878286" y="2426676"/>
              <a:ext cx="35169" cy="366765"/>
            </a:xfrm>
            <a:custGeom>
              <a:avLst/>
              <a:gdLst>
                <a:gd name="connsiteX0" fmla="*/ 0 w 35169"/>
                <a:gd name="connsiteY0" fmla="*/ 0 h 366765"/>
                <a:gd name="connsiteX1" fmla="*/ 15072 w 35169"/>
                <a:gd name="connsiteY1" fmla="*/ 366765 h 366765"/>
                <a:gd name="connsiteX2" fmla="*/ 35169 w 35169"/>
                <a:gd name="connsiteY2" fmla="*/ 50242 h 366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69" h="366765">
                  <a:moveTo>
                    <a:pt x="0" y="0"/>
                  </a:moveTo>
                  <a:lnTo>
                    <a:pt x="15072" y="366765"/>
                  </a:lnTo>
                  <a:lnTo>
                    <a:pt x="35169" y="50242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1" name="Freeform 120"/>
            <p:cNvSpPr/>
            <p:nvPr/>
          </p:nvSpPr>
          <p:spPr bwMode="auto">
            <a:xfrm>
              <a:off x="5948624" y="2391508"/>
              <a:ext cx="50242" cy="291402"/>
            </a:xfrm>
            <a:custGeom>
              <a:avLst/>
              <a:gdLst>
                <a:gd name="connsiteX0" fmla="*/ 0 w 50242"/>
                <a:gd name="connsiteY0" fmla="*/ 195943 h 291402"/>
                <a:gd name="connsiteX1" fmla="*/ 25121 w 50242"/>
                <a:gd name="connsiteY1" fmla="*/ 0 h 291402"/>
                <a:gd name="connsiteX2" fmla="*/ 50242 w 50242"/>
                <a:gd name="connsiteY2" fmla="*/ 291402 h 2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242" h="291402">
                  <a:moveTo>
                    <a:pt x="0" y="195943"/>
                  </a:moveTo>
                  <a:lnTo>
                    <a:pt x="25121" y="0"/>
                  </a:lnTo>
                  <a:lnTo>
                    <a:pt x="50242" y="291402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2" name="Freeform 121"/>
            <p:cNvSpPr/>
            <p:nvPr/>
          </p:nvSpPr>
          <p:spPr bwMode="auto">
            <a:xfrm>
              <a:off x="6023987" y="2542233"/>
              <a:ext cx="40193" cy="231112"/>
            </a:xfrm>
            <a:custGeom>
              <a:avLst/>
              <a:gdLst>
                <a:gd name="connsiteX0" fmla="*/ 0 w 40193"/>
                <a:gd name="connsiteY0" fmla="*/ 185894 h 231112"/>
                <a:gd name="connsiteX1" fmla="*/ 20097 w 40193"/>
                <a:gd name="connsiteY1" fmla="*/ 0 h 231112"/>
                <a:gd name="connsiteX2" fmla="*/ 40193 w 40193"/>
                <a:gd name="connsiteY2" fmla="*/ 231112 h 231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193" h="231112">
                  <a:moveTo>
                    <a:pt x="0" y="185894"/>
                  </a:moveTo>
                  <a:lnTo>
                    <a:pt x="20097" y="0"/>
                  </a:lnTo>
                  <a:lnTo>
                    <a:pt x="40193" y="231112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3" name="Freeform 122"/>
            <p:cNvSpPr/>
            <p:nvPr/>
          </p:nvSpPr>
          <p:spPr bwMode="auto">
            <a:xfrm>
              <a:off x="6149591" y="2682910"/>
              <a:ext cx="40193" cy="190918"/>
            </a:xfrm>
            <a:custGeom>
              <a:avLst/>
              <a:gdLst>
                <a:gd name="connsiteX0" fmla="*/ 0 w 40193"/>
                <a:gd name="connsiteY0" fmla="*/ 50241 h 190918"/>
                <a:gd name="connsiteX1" fmla="*/ 15072 w 40193"/>
                <a:gd name="connsiteY1" fmla="*/ 190918 h 190918"/>
                <a:gd name="connsiteX2" fmla="*/ 40193 w 40193"/>
                <a:gd name="connsiteY2" fmla="*/ 0 h 19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193" h="190918">
                  <a:moveTo>
                    <a:pt x="0" y="50241"/>
                  </a:moveTo>
                  <a:lnTo>
                    <a:pt x="15072" y="190918"/>
                  </a:lnTo>
                  <a:lnTo>
                    <a:pt x="40193" y="0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6792912" y="1643064"/>
            <a:ext cx="922338" cy="627237"/>
            <a:chOff x="4506912" y="2316145"/>
            <a:chExt cx="1760537" cy="582805"/>
          </a:xfrm>
        </p:grpSpPr>
        <p:sp>
          <p:nvSpPr>
            <p:cNvPr id="125" name="Freeform 46"/>
            <p:cNvSpPr>
              <a:spLocks/>
            </p:cNvSpPr>
            <p:nvPr/>
          </p:nvSpPr>
          <p:spPr bwMode="auto">
            <a:xfrm flipH="1">
              <a:off x="4506912" y="2438400"/>
              <a:ext cx="884237" cy="361421"/>
            </a:xfrm>
            <a:custGeom>
              <a:avLst/>
              <a:gdLst>
                <a:gd name="T0" fmla="*/ 0 w 2449"/>
                <a:gd name="T1" fmla="*/ 363 h 726"/>
                <a:gd name="T2" fmla="*/ 408 w 2449"/>
                <a:gd name="T3" fmla="*/ 0 h 726"/>
                <a:gd name="T4" fmla="*/ 816 w 2449"/>
                <a:gd name="T5" fmla="*/ 363 h 726"/>
                <a:gd name="T6" fmla="*/ 1224 w 2449"/>
                <a:gd name="T7" fmla="*/ 726 h 726"/>
                <a:gd name="T8" fmla="*/ 1633 w 2449"/>
                <a:gd name="T9" fmla="*/ 363 h 726"/>
                <a:gd name="T10" fmla="*/ 2041 w 2449"/>
                <a:gd name="T11" fmla="*/ 0 h 726"/>
                <a:gd name="T12" fmla="*/ 2449 w 2449"/>
                <a:gd name="T13" fmla="*/ 363 h 7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49"/>
                <a:gd name="T22" fmla="*/ 0 h 726"/>
                <a:gd name="T23" fmla="*/ 2449 w 2449"/>
                <a:gd name="T24" fmla="*/ 726 h 7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49" h="726">
                  <a:moveTo>
                    <a:pt x="0" y="363"/>
                  </a:moveTo>
                  <a:cubicBezTo>
                    <a:pt x="136" y="181"/>
                    <a:pt x="272" y="0"/>
                    <a:pt x="408" y="0"/>
                  </a:cubicBezTo>
                  <a:cubicBezTo>
                    <a:pt x="544" y="0"/>
                    <a:pt x="680" y="242"/>
                    <a:pt x="816" y="363"/>
                  </a:cubicBezTo>
                  <a:cubicBezTo>
                    <a:pt x="952" y="484"/>
                    <a:pt x="1088" y="726"/>
                    <a:pt x="1224" y="726"/>
                  </a:cubicBezTo>
                  <a:cubicBezTo>
                    <a:pt x="1360" y="726"/>
                    <a:pt x="1497" y="484"/>
                    <a:pt x="1633" y="363"/>
                  </a:cubicBezTo>
                  <a:cubicBezTo>
                    <a:pt x="1769" y="242"/>
                    <a:pt x="1905" y="0"/>
                    <a:pt x="2041" y="0"/>
                  </a:cubicBezTo>
                  <a:cubicBezTo>
                    <a:pt x="2177" y="0"/>
                    <a:pt x="2313" y="181"/>
                    <a:pt x="2449" y="363"/>
                  </a:cubicBezTo>
                </a:path>
              </a:pathLst>
            </a:custGeom>
            <a:solidFill>
              <a:schemeClr val="bg1"/>
            </a:solidFill>
            <a:ln w="19050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46"/>
            <p:cNvSpPr>
              <a:spLocks/>
            </p:cNvSpPr>
            <p:nvPr/>
          </p:nvSpPr>
          <p:spPr bwMode="auto">
            <a:xfrm flipH="1" flipV="1">
              <a:off x="5383212" y="2419350"/>
              <a:ext cx="884237" cy="361421"/>
            </a:xfrm>
            <a:custGeom>
              <a:avLst/>
              <a:gdLst>
                <a:gd name="T0" fmla="*/ 0 w 2449"/>
                <a:gd name="T1" fmla="*/ 363 h 726"/>
                <a:gd name="T2" fmla="*/ 408 w 2449"/>
                <a:gd name="T3" fmla="*/ 0 h 726"/>
                <a:gd name="T4" fmla="*/ 816 w 2449"/>
                <a:gd name="T5" fmla="*/ 363 h 726"/>
                <a:gd name="T6" fmla="*/ 1224 w 2449"/>
                <a:gd name="T7" fmla="*/ 726 h 726"/>
                <a:gd name="T8" fmla="*/ 1633 w 2449"/>
                <a:gd name="T9" fmla="*/ 363 h 726"/>
                <a:gd name="T10" fmla="*/ 2041 w 2449"/>
                <a:gd name="T11" fmla="*/ 0 h 726"/>
                <a:gd name="T12" fmla="*/ 2449 w 2449"/>
                <a:gd name="T13" fmla="*/ 363 h 7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49"/>
                <a:gd name="T22" fmla="*/ 0 h 726"/>
                <a:gd name="T23" fmla="*/ 2449 w 2449"/>
                <a:gd name="T24" fmla="*/ 726 h 7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49" h="726">
                  <a:moveTo>
                    <a:pt x="0" y="363"/>
                  </a:moveTo>
                  <a:cubicBezTo>
                    <a:pt x="136" y="181"/>
                    <a:pt x="272" y="0"/>
                    <a:pt x="408" y="0"/>
                  </a:cubicBezTo>
                  <a:cubicBezTo>
                    <a:pt x="544" y="0"/>
                    <a:pt x="680" y="242"/>
                    <a:pt x="816" y="363"/>
                  </a:cubicBezTo>
                  <a:cubicBezTo>
                    <a:pt x="952" y="484"/>
                    <a:pt x="1088" y="726"/>
                    <a:pt x="1224" y="726"/>
                  </a:cubicBezTo>
                  <a:cubicBezTo>
                    <a:pt x="1360" y="726"/>
                    <a:pt x="1497" y="484"/>
                    <a:pt x="1633" y="363"/>
                  </a:cubicBezTo>
                  <a:cubicBezTo>
                    <a:pt x="1769" y="242"/>
                    <a:pt x="1905" y="0"/>
                    <a:pt x="2041" y="0"/>
                  </a:cubicBezTo>
                  <a:cubicBezTo>
                    <a:pt x="2177" y="0"/>
                    <a:pt x="2313" y="181"/>
                    <a:pt x="2449" y="363"/>
                  </a:cubicBezTo>
                </a:path>
              </a:pathLst>
            </a:custGeom>
            <a:solidFill>
              <a:schemeClr val="bg1"/>
            </a:solidFill>
            <a:ln w="19050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126"/>
            <p:cNvSpPr/>
            <p:nvPr/>
          </p:nvSpPr>
          <p:spPr bwMode="auto">
            <a:xfrm>
              <a:off x="4762919" y="2366387"/>
              <a:ext cx="25121" cy="276329"/>
            </a:xfrm>
            <a:custGeom>
              <a:avLst/>
              <a:gdLst>
                <a:gd name="connsiteX0" fmla="*/ 0 w 25121"/>
                <a:gd name="connsiteY0" fmla="*/ 221063 h 276329"/>
                <a:gd name="connsiteX1" fmla="*/ 0 w 25121"/>
                <a:gd name="connsiteY1" fmla="*/ 221063 h 276329"/>
                <a:gd name="connsiteX2" fmla="*/ 20096 w 25121"/>
                <a:gd name="connsiteY2" fmla="*/ 0 h 276329"/>
                <a:gd name="connsiteX3" fmla="*/ 25121 w 25121"/>
                <a:gd name="connsiteY3" fmla="*/ 276329 h 27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1" h="276329">
                  <a:moveTo>
                    <a:pt x="0" y="221063"/>
                  </a:moveTo>
                  <a:lnTo>
                    <a:pt x="0" y="221063"/>
                  </a:lnTo>
                  <a:lnTo>
                    <a:pt x="20096" y="0"/>
                  </a:lnTo>
                  <a:lnTo>
                    <a:pt x="25121" y="276329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8" name="Freeform 127"/>
            <p:cNvSpPr/>
            <p:nvPr/>
          </p:nvSpPr>
          <p:spPr bwMode="auto">
            <a:xfrm>
              <a:off x="5406013" y="2366387"/>
              <a:ext cx="45719" cy="401933"/>
            </a:xfrm>
            <a:custGeom>
              <a:avLst/>
              <a:gdLst>
                <a:gd name="connsiteX0" fmla="*/ 0 w 25121"/>
                <a:gd name="connsiteY0" fmla="*/ 221063 h 276329"/>
                <a:gd name="connsiteX1" fmla="*/ 0 w 25121"/>
                <a:gd name="connsiteY1" fmla="*/ 221063 h 276329"/>
                <a:gd name="connsiteX2" fmla="*/ 20096 w 25121"/>
                <a:gd name="connsiteY2" fmla="*/ 0 h 276329"/>
                <a:gd name="connsiteX3" fmla="*/ 25121 w 25121"/>
                <a:gd name="connsiteY3" fmla="*/ 276329 h 27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1" h="276329">
                  <a:moveTo>
                    <a:pt x="0" y="221063"/>
                  </a:moveTo>
                  <a:lnTo>
                    <a:pt x="0" y="221063"/>
                  </a:lnTo>
                  <a:lnTo>
                    <a:pt x="20096" y="0"/>
                  </a:lnTo>
                  <a:lnTo>
                    <a:pt x="25121" y="276329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9" name="Freeform 128"/>
            <p:cNvSpPr/>
            <p:nvPr/>
          </p:nvSpPr>
          <p:spPr bwMode="auto">
            <a:xfrm>
              <a:off x="5114611" y="2476919"/>
              <a:ext cx="35169" cy="306475"/>
            </a:xfrm>
            <a:custGeom>
              <a:avLst/>
              <a:gdLst>
                <a:gd name="connsiteX0" fmla="*/ 0 w 35169"/>
                <a:gd name="connsiteY0" fmla="*/ 85411 h 306475"/>
                <a:gd name="connsiteX1" fmla="*/ 0 w 35169"/>
                <a:gd name="connsiteY1" fmla="*/ 85411 h 306475"/>
                <a:gd name="connsiteX2" fmla="*/ 5024 w 35169"/>
                <a:gd name="connsiteY2" fmla="*/ 155750 h 306475"/>
                <a:gd name="connsiteX3" fmla="*/ 10048 w 35169"/>
                <a:gd name="connsiteY3" fmla="*/ 170822 h 306475"/>
                <a:gd name="connsiteX4" fmla="*/ 15073 w 35169"/>
                <a:gd name="connsiteY4" fmla="*/ 205991 h 306475"/>
                <a:gd name="connsiteX5" fmla="*/ 20097 w 35169"/>
                <a:gd name="connsiteY5" fmla="*/ 306475 h 306475"/>
                <a:gd name="connsiteX6" fmla="*/ 35169 w 35169"/>
                <a:gd name="connsiteY6" fmla="*/ 0 h 30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69" h="306475">
                  <a:moveTo>
                    <a:pt x="0" y="85411"/>
                  </a:moveTo>
                  <a:lnTo>
                    <a:pt x="0" y="85411"/>
                  </a:lnTo>
                  <a:cubicBezTo>
                    <a:pt x="1675" y="108857"/>
                    <a:pt x="2278" y="132405"/>
                    <a:pt x="5024" y="155750"/>
                  </a:cubicBezTo>
                  <a:cubicBezTo>
                    <a:pt x="5643" y="161009"/>
                    <a:pt x="9009" y="165629"/>
                    <a:pt x="10048" y="170822"/>
                  </a:cubicBezTo>
                  <a:cubicBezTo>
                    <a:pt x="12371" y="182434"/>
                    <a:pt x="13765" y="194221"/>
                    <a:pt x="15073" y="205991"/>
                  </a:cubicBezTo>
                  <a:cubicBezTo>
                    <a:pt x="21462" y="263484"/>
                    <a:pt x="20097" y="253175"/>
                    <a:pt x="20097" y="306475"/>
                  </a:cubicBezTo>
                  <a:lnTo>
                    <a:pt x="35169" y="0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0" name="Freeform 129"/>
            <p:cNvSpPr/>
            <p:nvPr/>
          </p:nvSpPr>
          <p:spPr bwMode="auto">
            <a:xfrm>
              <a:off x="5200647" y="2316145"/>
              <a:ext cx="24830" cy="208503"/>
            </a:xfrm>
            <a:custGeom>
              <a:avLst/>
              <a:gdLst>
                <a:gd name="connsiteX0" fmla="*/ 4399 w 24830"/>
                <a:gd name="connsiteY0" fmla="*/ 205991 h 208503"/>
                <a:gd name="connsiteX1" fmla="*/ 4399 w 24830"/>
                <a:gd name="connsiteY1" fmla="*/ 115556 h 208503"/>
                <a:gd name="connsiteX2" fmla="*/ 9423 w 24830"/>
                <a:gd name="connsiteY2" fmla="*/ 0 h 208503"/>
                <a:gd name="connsiteX3" fmla="*/ 14447 w 24830"/>
                <a:gd name="connsiteY3" fmla="*/ 60290 h 208503"/>
                <a:gd name="connsiteX4" fmla="*/ 19472 w 24830"/>
                <a:gd name="connsiteY4" fmla="*/ 100484 h 208503"/>
                <a:gd name="connsiteX5" fmla="*/ 4399 w 24830"/>
                <a:gd name="connsiteY5" fmla="*/ 205991 h 20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30" h="208503">
                  <a:moveTo>
                    <a:pt x="4399" y="205991"/>
                  </a:moveTo>
                  <a:cubicBezTo>
                    <a:pt x="1887" y="208503"/>
                    <a:pt x="0" y="199136"/>
                    <a:pt x="4399" y="115556"/>
                  </a:cubicBezTo>
                  <a:cubicBezTo>
                    <a:pt x="6425" y="77054"/>
                    <a:pt x="7748" y="38519"/>
                    <a:pt x="9423" y="0"/>
                  </a:cubicBezTo>
                  <a:cubicBezTo>
                    <a:pt x="11098" y="20097"/>
                    <a:pt x="12440" y="40224"/>
                    <a:pt x="14447" y="60290"/>
                  </a:cubicBezTo>
                  <a:cubicBezTo>
                    <a:pt x="15791" y="73725"/>
                    <a:pt x="18302" y="87032"/>
                    <a:pt x="19472" y="100484"/>
                  </a:cubicBezTo>
                  <a:cubicBezTo>
                    <a:pt x="24830" y="162099"/>
                    <a:pt x="6911" y="203479"/>
                    <a:pt x="4399" y="205991"/>
                  </a:cubicBezTo>
                  <a:close/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1" name="Freeform 130"/>
            <p:cNvSpPr/>
            <p:nvPr/>
          </p:nvSpPr>
          <p:spPr bwMode="auto">
            <a:xfrm>
              <a:off x="5320259" y="2373122"/>
              <a:ext cx="19778" cy="219352"/>
            </a:xfrm>
            <a:custGeom>
              <a:avLst/>
              <a:gdLst>
                <a:gd name="connsiteX0" fmla="*/ 343 w 19778"/>
                <a:gd name="connsiteY0" fmla="*/ 164086 h 219352"/>
                <a:gd name="connsiteX1" fmla="*/ 5367 w 19778"/>
                <a:gd name="connsiteY1" fmla="*/ 18385 h 219352"/>
                <a:gd name="connsiteX2" fmla="*/ 10392 w 19778"/>
                <a:gd name="connsiteY2" fmla="*/ 73651 h 219352"/>
                <a:gd name="connsiteX3" fmla="*/ 15416 w 19778"/>
                <a:gd name="connsiteY3" fmla="*/ 219352 h 21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78" h="219352">
                  <a:moveTo>
                    <a:pt x="343" y="164086"/>
                  </a:moveTo>
                  <a:cubicBezTo>
                    <a:pt x="2018" y="115519"/>
                    <a:pt x="0" y="66684"/>
                    <a:pt x="5367" y="18385"/>
                  </a:cubicBezTo>
                  <a:cubicBezTo>
                    <a:pt x="7410" y="0"/>
                    <a:pt x="8455" y="55255"/>
                    <a:pt x="10392" y="73651"/>
                  </a:cubicBezTo>
                  <a:cubicBezTo>
                    <a:pt x="19778" y="162813"/>
                    <a:pt x="15416" y="63690"/>
                    <a:pt x="15416" y="219352"/>
                  </a:cubicBez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2" name="Freeform 131"/>
            <p:cNvSpPr/>
            <p:nvPr/>
          </p:nvSpPr>
          <p:spPr bwMode="auto">
            <a:xfrm>
              <a:off x="5561763" y="2662813"/>
              <a:ext cx="50242" cy="236137"/>
            </a:xfrm>
            <a:custGeom>
              <a:avLst/>
              <a:gdLst>
                <a:gd name="connsiteX0" fmla="*/ 0 w 50242"/>
                <a:gd name="connsiteY0" fmla="*/ 55266 h 236137"/>
                <a:gd name="connsiteX1" fmla="*/ 30145 w 50242"/>
                <a:gd name="connsiteY1" fmla="*/ 236137 h 236137"/>
                <a:gd name="connsiteX2" fmla="*/ 50242 w 50242"/>
                <a:gd name="connsiteY2" fmla="*/ 0 h 236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242" h="236137">
                  <a:moveTo>
                    <a:pt x="0" y="55266"/>
                  </a:moveTo>
                  <a:lnTo>
                    <a:pt x="30145" y="236137"/>
                  </a:lnTo>
                  <a:lnTo>
                    <a:pt x="50242" y="0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3" name="Freeform 132"/>
            <p:cNvSpPr/>
            <p:nvPr/>
          </p:nvSpPr>
          <p:spPr bwMode="auto">
            <a:xfrm>
              <a:off x="4587073" y="2411605"/>
              <a:ext cx="25121" cy="291403"/>
            </a:xfrm>
            <a:custGeom>
              <a:avLst/>
              <a:gdLst>
                <a:gd name="connsiteX0" fmla="*/ 0 w 25121"/>
                <a:gd name="connsiteY0" fmla="*/ 50242 h 291403"/>
                <a:gd name="connsiteX1" fmla="*/ 25121 w 25121"/>
                <a:gd name="connsiteY1" fmla="*/ 291403 h 291403"/>
                <a:gd name="connsiteX2" fmla="*/ 25121 w 25121"/>
                <a:gd name="connsiteY2" fmla="*/ 0 h 291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121" h="291403">
                  <a:moveTo>
                    <a:pt x="0" y="50242"/>
                  </a:moveTo>
                  <a:lnTo>
                    <a:pt x="25121" y="291403"/>
                  </a:lnTo>
                  <a:lnTo>
                    <a:pt x="25121" y="0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4" name="Freeform 133"/>
            <p:cNvSpPr/>
            <p:nvPr/>
          </p:nvSpPr>
          <p:spPr bwMode="auto">
            <a:xfrm>
              <a:off x="5682343" y="2497016"/>
              <a:ext cx="35169" cy="256233"/>
            </a:xfrm>
            <a:custGeom>
              <a:avLst/>
              <a:gdLst>
                <a:gd name="connsiteX0" fmla="*/ 0 w 35169"/>
                <a:gd name="connsiteY0" fmla="*/ 60290 h 256233"/>
                <a:gd name="connsiteX1" fmla="*/ 35169 w 35169"/>
                <a:gd name="connsiteY1" fmla="*/ 256233 h 256233"/>
                <a:gd name="connsiteX2" fmla="*/ 35169 w 35169"/>
                <a:gd name="connsiteY2" fmla="*/ 0 h 25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69" h="256233">
                  <a:moveTo>
                    <a:pt x="0" y="60290"/>
                  </a:moveTo>
                  <a:lnTo>
                    <a:pt x="35169" y="256233"/>
                  </a:lnTo>
                  <a:lnTo>
                    <a:pt x="35169" y="0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5" name="Freeform 134"/>
            <p:cNvSpPr/>
            <p:nvPr/>
          </p:nvSpPr>
          <p:spPr bwMode="auto">
            <a:xfrm>
              <a:off x="5878286" y="2426676"/>
              <a:ext cx="35169" cy="366765"/>
            </a:xfrm>
            <a:custGeom>
              <a:avLst/>
              <a:gdLst>
                <a:gd name="connsiteX0" fmla="*/ 0 w 35169"/>
                <a:gd name="connsiteY0" fmla="*/ 0 h 366765"/>
                <a:gd name="connsiteX1" fmla="*/ 15072 w 35169"/>
                <a:gd name="connsiteY1" fmla="*/ 366765 h 366765"/>
                <a:gd name="connsiteX2" fmla="*/ 35169 w 35169"/>
                <a:gd name="connsiteY2" fmla="*/ 50242 h 366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69" h="366765">
                  <a:moveTo>
                    <a:pt x="0" y="0"/>
                  </a:moveTo>
                  <a:lnTo>
                    <a:pt x="15072" y="366765"/>
                  </a:lnTo>
                  <a:lnTo>
                    <a:pt x="35169" y="50242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6" name="Freeform 135"/>
            <p:cNvSpPr/>
            <p:nvPr/>
          </p:nvSpPr>
          <p:spPr bwMode="auto">
            <a:xfrm>
              <a:off x="5948624" y="2391508"/>
              <a:ext cx="50242" cy="291402"/>
            </a:xfrm>
            <a:custGeom>
              <a:avLst/>
              <a:gdLst>
                <a:gd name="connsiteX0" fmla="*/ 0 w 50242"/>
                <a:gd name="connsiteY0" fmla="*/ 195943 h 291402"/>
                <a:gd name="connsiteX1" fmla="*/ 25121 w 50242"/>
                <a:gd name="connsiteY1" fmla="*/ 0 h 291402"/>
                <a:gd name="connsiteX2" fmla="*/ 50242 w 50242"/>
                <a:gd name="connsiteY2" fmla="*/ 291402 h 2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242" h="291402">
                  <a:moveTo>
                    <a:pt x="0" y="195943"/>
                  </a:moveTo>
                  <a:lnTo>
                    <a:pt x="25121" y="0"/>
                  </a:lnTo>
                  <a:lnTo>
                    <a:pt x="50242" y="291402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7" name="Freeform 136"/>
            <p:cNvSpPr/>
            <p:nvPr/>
          </p:nvSpPr>
          <p:spPr bwMode="auto">
            <a:xfrm>
              <a:off x="6023987" y="2542233"/>
              <a:ext cx="40193" cy="231112"/>
            </a:xfrm>
            <a:custGeom>
              <a:avLst/>
              <a:gdLst>
                <a:gd name="connsiteX0" fmla="*/ 0 w 40193"/>
                <a:gd name="connsiteY0" fmla="*/ 185894 h 231112"/>
                <a:gd name="connsiteX1" fmla="*/ 20097 w 40193"/>
                <a:gd name="connsiteY1" fmla="*/ 0 h 231112"/>
                <a:gd name="connsiteX2" fmla="*/ 40193 w 40193"/>
                <a:gd name="connsiteY2" fmla="*/ 231112 h 231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193" h="231112">
                  <a:moveTo>
                    <a:pt x="0" y="185894"/>
                  </a:moveTo>
                  <a:lnTo>
                    <a:pt x="20097" y="0"/>
                  </a:lnTo>
                  <a:lnTo>
                    <a:pt x="40193" y="231112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8" name="Freeform 137"/>
            <p:cNvSpPr/>
            <p:nvPr/>
          </p:nvSpPr>
          <p:spPr bwMode="auto">
            <a:xfrm>
              <a:off x="6149591" y="2682910"/>
              <a:ext cx="40193" cy="190918"/>
            </a:xfrm>
            <a:custGeom>
              <a:avLst/>
              <a:gdLst>
                <a:gd name="connsiteX0" fmla="*/ 0 w 40193"/>
                <a:gd name="connsiteY0" fmla="*/ 50241 h 190918"/>
                <a:gd name="connsiteX1" fmla="*/ 15072 w 40193"/>
                <a:gd name="connsiteY1" fmla="*/ 190918 h 190918"/>
                <a:gd name="connsiteX2" fmla="*/ 40193 w 40193"/>
                <a:gd name="connsiteY2" fmla="*/ 0 h 19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193" h="190918">
                  <a:moveTo>
                    <a:pt x="0" y="50241"/>
                  </a:moveTo>
                  <a:lnTo>
                    <a:pt x="15072" y="190918"/>
                  </a:lnTo>
                  <a:lnTo>
                    <a:pt x="40193" y="0"/>
                  </a:lnTo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1794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/>
          <p:cNvGrpSpPr/>
          <p:nvPr/>
        </p:nvGrpSpPr>
        <p:grpSpPr>
          <a:xfrm>
            <a:off x="5029200" y="3876674"/>
            <a:ext cx="769938" cy="2436814"/>
            <a:chOff x="5029200" y="3876674"/>
            <a:chExt cx="769938" cy="2436814"/>
          </a:xfrm>
        </p:grpSpPr>
        <p:cxnSp>
          <p:nvCxnSpPr>
            <p:cNvPr id="104" name="Straight Connector 103"/>
            <p:cNvCxnSpPr/>
            <p:nvPr/>
          </p:nvCxnSpPr>
          <p:spPr bwMode="auto">
            <a:xfrm>
              <a:off x="5114925" y="3933825"/>
              <a:ext cx="0" cy="180022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Straight Connector 104"/>
            <p:cNvCxnSpPr/>
            <p:nvPr/>
          </p:nvCxnSpPr>
          <p:spPr bwMode="auto">
            <a:xfrm>
              <a:off x="5114925" y="5705475"/>
              <a:ext cx="684213" cy="608013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6" name="Oval 105"/>
            <p:cNvSpPr/>
            <p:nvPr/>
          </p:nvSpPr>
          <p:spPr bwMode="auto">
            <a:xfrm>
              <a:off x="5029200" y="3876674"/>
              <a:ext cx="152400" cy="161925"/>
            </a:xfrm>
            <a:prstGeom prst="ellipse">
              <a:avLst/>
            </a:prstGeom>
            <a:solidFill>
              <a:schemeClr val="tx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488" y="1158875"/>
            <a:ext cx="18859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58213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Circuits – Shielding and Interconnects</a:t>
            </a:r>
          </a:p>
        </p:txBody>
      </p:sp>
      <p:grpSp>
        <p:nvGrpSpPr>
          <p:cNvPr id="9220" name="Group 73"/>
          <p:cNvGrpSpPr>
            <a:grpSpLocks/>
          </p:cNvGrpSpPr>
          <p:nvPr/>
        </p:nvGrpSpPr>
        <p:grpSpPr bwMode="auto">
          <a:xfrm>
            <a:off x="2392363" y="1147763"/>
            <a:ext cx="5564187" cy="2968625"/>
            <a:chOff x="657" y="754"/>
            <a:chExt cx="3505" cy="1870"/>
          </a:xfrm>
        </p:grpSpPr>
        <p:grpSp>
          <p:nvGrpSpPr>
            <p:cNvPr id="9271" name="Group 68"/>
            <p:cNvGrpSpPr>
              <a:grpSpLocks/>
            </p:cNvGrpSpPr>
            <p:nvPr/>
          </p:nvGrpSpPr>
          <p:grpSpPr bwMode="auto">
            <a:xfrm>
              <a:off x="657" y="754"/>
              <a:ext cx="3505" cy="1870"/>
              <a:chOff x="1655" y="1253"/>
              <a:chExt cx="3505" cy="1870"/>
            </a:xfrm>
          </p:grpSpPr>
          <p:sp>
            <p:nvSpPr>
              <p:cNvPr id="9274" name="Line 36"/>
              <p:cNvSpPr>
                <a:spLocks noChangeShapeType="1"/>
              </p:cNvSpPr>
              <p:nvPr/>
            </p:nvSpPr>
            <p:spPr bwMode="auto">
              <a:xfrm>
                <a:off x="2925" y="1298"/>
                <a:ext cx="0" cy="17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75" name="Line 31"/>
              <p:cNvSpPr>
                <a:spLocks noChangeShapeType="1"/>
              </p:cNvSpPr>
              <p:nvPr/>
            </p:nvSpPr>
            <p:spPr bwMode="auto">
              <a:xfrm flipV="1">
                <a:off x="4059" y="2387"/>
                <a:ext cx="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76" name="Line 30"/>
              <p:cNvSpPr>
                <a:spLocks noChangeShapeType="1"/>
              </p:cNvSpPr>
              <p:nvPr/>
            </p:nvSpPr>
            <p:spPr bwMode="auto">
              <a:xfrm>
                <a:off x="3560" y="2387"/>
                <a:ext cx="10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9277" name="Group 11"/>
              <p:cNvGrpSpPr>
                <a:grpSpLocks/>
              </p:cNvGrpSpPr>
              <p:nvPr/>
            </p:nvGrpSpPr>
            <p:grpSpPr bwMode="auto">
              <a:xfrm>
                <a:off x="3052" y="1307"/>
                <a:ext cx="512" cy="1705"/>
                <a:chOff x="1465" y="1162"/>
                <a:chExt cx="589" cy="2223"/>
              </a:xfrm>
            </p:grpSpPr>
            <p:grpSp>
              <p:nvGrpSpPr>
                <p:cNvPr id="9311" name="Group 9"/>
                <p:cNvGrpSpPr>
                  <a:grpSpLocks/>
                </p:cNvGrpSpPr>
                <p:nvPr/>
              </p:nvGrpSpPr>
              <p:grpSpPr bwMode="auto">
                <a:xfrm>
                  <a:off x="1465" y="1162"/>
                  <a:ext cx="589" cy="2223"/>
                  <a:chOff x="3606" y="1344"/>
                  <a:chExt cx="589" cy="2223"/>
                </a:xfrm>
              </p:grpSpPr>
              <p:sp>
                <p:nvSpPr>
                  <p:cNvPr id="9313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296"/>
                    <a:ext cx="18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9314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614"/>
                    <a:ext cx="18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9315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206"/>
                    <a:ext cx="0" cy="49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9316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4195" y="1344"/>
                    <a:ext cx="0" cy="95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9317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4195" y="2614"/>
                    <a:ext cx="0" cy="95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9318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606" y="2432"/>
                    <a:ext cx="40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9312" name="AutoShape 16"/>
                <p:cNvSpPr>
                  <a:spLocks noChangeArrowheads="1"/>
                </p:cNvSpPr>
                <p:nvPr/>
              </p:nvSpPr>
              <p:spPr bwMode="auto">
                <a:xfrm rot="5400000">
                  <a:off x="1759" y="2200"/>
                  <a:ext cx="116" cy="9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9278" name="Rectangle 23"/>
              <p:cNvSpPr>
                <a:spLocks noChangeArrowheads="1"/>
              </p:cNvSpPr>
              <p:nvPr/>
            </p:nvSpPr>
            <p:spPr bwMode="auto">
              <a:xfrm>
                <a:off x="4014" y="2568"/>
                <a:ext cx="91" cy="318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79" name="Line 24"/>
              <p:cNvSpPr>
                <a:spLocks noChangeShapeType="1"/>
              </p:cNvSpPr>
              <p:nvPr/>
            </p:nvSpPr>
            <p:spPr bwMode="auto">
              <a:xfrm>
                <a:off x="2925" y="1298"/>
                <a:ext cx="10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80" name="Line 25"/>
              <p:cNvSpPr>
                <a:spLocks noChangeShapeType="1"/>
              </p:cNvSpPr>
              <p:nvPr/>
            </p:nvSpPr>
            <p:spPr bwMode="auto">
              <a:xfrm>
                <a:off x="2154" y="3022"/>
                <a:ext cx="24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9281" name="Group 26"/>
              <p:cNvGrpSpPr>
                <a:grpSpLocks/>
              </p:cNvGrpSpPr>
              <p:nvPr/>
            </p:nvGrpSpPr>
            <p:grpSpPr bwMode="auto">
              <a:xfrm>
                <a:off x="4195" y="2251"/>
                <a:ext cx="88" cy="272"/>
                <a:chOff x="1689" y="1298"/>
                <a:chExt cx="88" cy="272"/>
              </a:xfrm>
            </p:grpSpPr>
            <p:sp>
              <p:nvSpPr>
                <p:cNvPr id="9308" name="Line 27"/>
                <p:cNvSpPr>
                  <a:spLocks noChangeShapeType="1"/>
                </p:cNvSpPr>
                <p:nvPr/>
              </p:nvSpPr>
              <p:spPr bwMode="auto">
                <a:xfrm>
                  <a:off x="1689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309" name="Line 28"/>
                <p:cNvSpPr>
                  <a:spLocks noChangeShapeType="1"/>
                </p:cNvSpPr>
                <p:nvPr/>
              </p:nvSpPr>
              <p:spPr bwMode="auto">
                <a:xfrm>
                  <a:off x="1777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310" name="Rectangle 29"/>
                <p:cNvSpPr>
                  <a:spLocks noChangeArrowheads="1"/>
                </p:cNvSpPr>
                <p:nvPr/>
              </p:nvSpPr>
              <p:spPr bwMode="auto">
                <a:xfrm>
                  <a:off x="1704" y="1298"/>
                  <a:ext cx="64" cy="2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9282" name="Rectangle 32"/>
              <p:cNvSpPr>
                <a:spLocks noChangeArrowheads="1"/>
              </p:cNvSpPr>
              <p:nvPr/>
            </p:nvSpPr>
            <p:spPr bwMode="auto">
              <a:xfrm>
                <a:off x="2880" y="1570"/>
                <a:ext cx="91" cy="290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83" name="Rectangle 33"/>
              <p:cNvSpPr>
                <a:spLocks noChangeArrowheads="1"/>
              </p:cNvSpPr>
              <p:nvPr/>
            </p:nvSpPr>
            <p:spPr bwMode="auto">
              <a:xfrm>
                <a:off x="2880" y="2387"/>
                <a:ext cx="91" cy="289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84" name="Line 37"/>
              <p:cNvSpPr>
                <a:spLocks noChangeShapeType="1"/>
              </p:cNvSpPr>
              <p:nvPr/>
            </p:nvSpPr>
            <p:spPr bwMode="auto">
              <a:xfrm flipV="1">
                <a:off x="2917" y="2148"/>
                <a:ext cx="371" cy="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85" name="Line 38"/>
              <p:cNvSpPr>
                <a:spLocks noChangeShapeType="1"/>
              </p:cNvSpPr>
              <p:nvPr/>
            </p:nvSpPr>
            <p:spPr bwMode="auto">
              <a:xfrm>
                <a:off x="2154" y="1979"/>
                <a:ext cx="77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9286" name="Group 39"/>
              <p:cNvGrpSpPr>
                <a:grpSpLocks/>
              </p:cNvGrpSpPr>
              <p:nvPr/>
            </p:nvGrpSpPr>
            <p:grpSpPr bwMode="auto">
              <a:xfrm>
                <a:off x="2608" y="1842"/>
                <a:ext cx="88" cy="272"/>
                <a:chOff x="1689" y="1298"/>
                <a:chExt cx="88" cy="272"/>
              </a:xfrm>
            </p:grpSpPr>
            <p:sp>
              <p:nvSpPr>
                <p:cNvPr id="9305" name="Line 40"/>
                <p:cNvSpPr>
                  <a:spLocks noChangeShapeType="1"/>
                </p:cNvSpPr>
                <p:nvPr/>
              </p:nvSpPr>
              <p:spPr bwMode="auto">
                <a:xfrm>
                  <a:off x="1689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306" name="Line 41"/>
                <p:cNvSpPr>
                  <a:spLocks noChangeShapeType="1"/>
                </p:cNvSpPr>
                <p:nvPr/>
              </p:nvSpPr>
              <p:spPr bwMode="auto">
                <a:xfrm>
                  <a:off x="1777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307" name="Rectangle 42"/>
                <p:cNvSpPr>
                  <a:spLocks noChangeArrowheads="1"/>
                </p:cNvSpPr>
                <p:nvPr/>
              </p:nvSpPr>
              <p:spPr bwMode="auto">
                <a:xfrm>
                  <a:off x="1704" y="1298"/>
                  <a:ext cx="64" cy="2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9287" name="Oval 44"/>
              <p:cNvSpPr>
                <a:spLocks noChangeArrowheads="1"/>
              </p:cNvSpPr>
              <p:nvPr/>
            </p:nvSpPr>
            <p:spPr bwMode="auto">
              <a:xfrm>
                <a:off x="3969" y="1253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88" name="Oval 45"/>
              <p:cNvSpPr>
                <a:spLocks noChangeArrowheads="1"/>
              </p:cNvSpPr>
              <p:nvPr/>
            </p:nvSpPr>
            <p:spPr bwMode="auto">
              <a:xfrm>
                <a:off x="4558" y="2341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89" name="Oval 47"/>
              <p:cNvSpPr>
                <a:spLocks noChangeArrowheads="1"/>
              </p:cNvSpPr>
              <p:nvPr/>
            </p:nvSpPr>
            <p:spPr bwMode="auto">
              <a:xfrm>
                <a:off x="2109" y="1933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90" name="Oval 48"/>
              <p:cNvSpPr>
                <a:spLocks noChangeArrowheads="1"/>
              </p:cNvSpPr>
              <p:nvPr/>
            </p:nvSpPr>
            <p:spPr bwMode="auto">
              <a:xfrm>
                <a:off x="2109" y="2976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91" name="Text Box 49"/>
              <p:cNvSpPr txBox="1">
                <a:spLocks noChangeArrowheads="1"/>
              </p:cNvSpPr>
              <p:nvPr/>
            </p:nvSpPr>
            <p:spPr bwMode="auto">
              <a:xfrm>
                <a:off x="3379" y="1797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D</a:t>
                </a:r>
                <a:endParaRPr lang="en-US" sz="1400"/>
              </a:p>
            </p:txBody>
          </p:sp>
          <p:sp>
            <p:nvSpPr>
              <p:cNvPr id="9292" name="Text Box 50"/>
              <p:cNvSpPr txBox="1">
                <a:spLocks noChangeArrowheads="1"/>
              </p:cNvSpPr>
              <p:nvPr/>
            </p:nvSpPr>
            <p:spPr bwMode="auto">
              <a:xfrm>
                <a:off x="3198" y="1933"/>
                <a:ext cx="19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G</a:t>
                </a:r>
                <a:endParaRPr lang="en-US" sz="1400"/>
              </a:p>
            </p:txBody>
          </p:sp>
          <p:sp>
            <p:nvSpPr>
              <p:cNvPr id="9293" name="Text Box 51"/>
              <p:cNvSpPr txBox="1">
                <a:spLocks noChangeArrowheads="1"/>
              </p:cNvSpPr>
              <p:nvPr/>
            </p:nvSpPr>
            <p:spPr bwMode="auto">
              <a:xfrm>
                <a:off x="3379" y="2341"/>
                <a:ext cx="17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S</a:t>
                </a:r>
                <a:endParaRPr lang="en-US" sz="1400"/>
              </a:p>
            </p:txBody>
          </p:sp>
          <p:sp>
            <p:nvSpPr>
              <p:cNvPr id="9294" name="Rectangle 52"/>
              <p:cNvSpPr>
                <a:spLocks noChangeArrowheads="1"/>
              </p:cNvSpPr>
              <p:nvPr/>
            </p:nvSpPr>
            <p:spPr bwMode="auto">
              <a:xfrm>
                <a:off x="3515" y="2568"/>
                <a:ext cx="91" cy="289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95" name="Text Box 53"/>
              <p:cNvSpPr txBox="1">
                <a:spLocks noChangeArrowheads="1"/>
              </p:cNvSpPr>
              <p:nvPr/>
            </p:nvSpPr>
            <p:spPr bwMode="auto">
              <a:xfrm>
                <a:off x="1655" y="1888"/>
                <a:ext cx="4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input</a:t>
                </a:r>
                <a:endParaRPr lang="en-US" sz="1400"/>
              </a:p>
            </p:txBody>
          </p:sp>
          <p:sp>
            <p:nvSpPr>
              <p:cNvPr id="9296" name="Text Box 55"/>
              <p:cNvSpPr txBox="1">
                <a:spLocks noChangeArrowheads="1"/>
              </p:cNvSpPr>
              <p:nvPr/>
            </p:nvSpPr>
            <p:spPr bwMode="auto">
              <a:xfrm>
                <a:off x="4150" y="1253"/>
                <a:ext cx="2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V</a:t>
                </a:r>
                <a:r>
                  <a:rPr lang="en-GB" sz="1400" baseline="-25000"/>
                  <a:t>CC</a:t>
                </a:r>
                <a:endParaRPr lang="en-US" sz="1400" baseline="-25000"/>
              </a:p>
            </p:txBody>
          </p:sp>
          <p:sp>
            <p:nvSpPr>
              <p:cNvPr id="9297" name="Text Box 56"/>
              <p:cNvSpPr txBox="1">
                <a:spLocks noChangeArrowheads="1"/>
              </p:cNvSpPr>
              <p:nvPr/>
            </p:nvSpPr>
            <p:spPr bwMode="auto">
              <a:xfrm>
                <a:off x="1837" y="2931"/>
                <a:ext cx="2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0V</a:t>
                </a:r>
                <a:endParaRPr lang="en-US" sz="1400" baseline="-25000"/>
              </a:p>
            </p:txBody>
          </p:sp>
          <p:sp>
            <p:nvSpPr>
              <p:cNvPr id="9298" name="Freeform 59"/>
              <p:cNvSpPr>
                <a:spLocks/>
              </p:cNvSpPr>
              <p:nvPr/>
            </p:nvSpPr>
            <p:spPr bwMode="auto">
              <a:xfrm>
                <a:off x="2072" y="1774"/>
                <a:ext cx="204" cy="91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299" name="Freeform 62"/>
              <p:cNvSpPr>
                <a:spLocks/>
              </p:cNvSpPr>
              <p:nvPr/>
            </p:nvSpPr>
            <p:spPr bwMode="auto">
              <a:xfrm>
                <a:off x="4842" y="2322"/>
                <a:ext cx="318" cy="454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300" name="Oval 63"/>
              <p:cNvSpPr>
                <a:spLocks noChangeArrowheads="1"/>
              </p:cNvSpPr>
              <p:nvPr/>
            </p:nvSpPr>
            <p:spPr bwMode="auto">
              <a:xfrm>
                <a:off x="4558" y="2976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01" name="Text Box 64"/>
              <p:cNvSpPr txBox="1">
                <a:spLocks noChangeArrowheads="1"/>
              </p:cNvSpPr>
              <p:nvPr/>
            </p:nvSpPr>
            <p:spPr bwMode="auto">
              <a:xfrm>
                <a:off x="4105" y="2659"/>
                <a:ext cx="38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LOAD</a:t>
                </a:r>
                <a:endParaRPr lang="en-US" sz="1400" baseline="-25000"/>
              </a:p>
            </p:txBody>
          </p:sp>
          <p:sp>
            <p:nvSpPr>
              <p:cNvPr id="9302" name="Text Box 65"/>
              <p:cNvSpPr txBox="1">
                <a:spLocks noChangeArrowheads="1"/>
              </p:cNvSpPr>
              <p:nvPr/>
            </p:nvSpPr>
            <p:spPr bwMode="auto">
              <a:xfrm>
                <a:off x="2971" y="1616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1</a:t>
                </a:r>
                <a:endParaRPr lang="en-US" sz="1400" baseline="-25000"/>
              </a:p>
            </p:txBody>
          </p:sp>
          <p:sp>
            <p:nvSpPr>
              <p:cNvPr id="9303" name="Text Box 66"/>
              <p:cNvSpPr txBox="1">
                <a:spLocks noChangeArrowheads="1"/>
              </p:cNvSpPr>
              <p:nvPr/>
            </p:nvSpPr>
            <p:spPr bwMode="auto">
              <a:xfrm>
                <a:off x="2971" y="2432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2</a:t>
                </a:r>
                <a:endParaRPr lang="en-US" sz="1400" baseline="-25000"/>
              </a:p>
            </p:txBody>
          </p:sp>
          <p:sp>
            <p:nvSpPr>
              <p:cNvPr id="9304" name="Text Box 67"/>
              <p:cNvSpPr txBox="1">
                <a:spLocks noChangeArrowheads="1"/>
              </p:cNvSpPr>
              <p:nvPr/>
            </p:nvSpPr>
            <p:spPr bwMode="auto">
              <a:xfrm>
                <a:off x="3606" y="2659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3</a:t>
                </a:r>
                <a:endParaRPr lang="en-US" sz="1400" baseline="-25000"/>
              </a:p>
            </p:txBody>
          </p:sp>
        </p:grpSp>
        <p:sp>
          <p:nvSpPr>
            <p:cNvPr id="9272" name="Text Box 69"/>
            <p:cNvSpPr txBox="1">
              <a:spLocks noChangeArrowheads="1"/>
            </p:cNvSpPr>
            <p:nvPr/>
          </p:nvSpPr>
          <p:spPr bwMode="auto">
            <a:xfrm>
              <a:off x="1474" y="1117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C</a:t>
              </a:r>
              <a:r>
                <a:rPr lang="en-GB" baseline="-25000"/>
                <a:t>1</a:t>
              </a:r>
              <a:endParaRPr lang="en-US" baseline="-25000"/>
            </a:p>
          </p:txBody>
        </p:sp>
        <p:sp>
          <p:nvSpPr>
            <p:cNvPr id="9273" name="Text Box 70"/>
            <p:cNvSpPr txBox="1">
              <a:spLocks noChangeArrowheads="1"/>
            </p:cNvSpPr>
            <p:nvPr/>
          </p:nvSpPr>
          <p:spPr bwMode="auto">
            <a:xfrm>
              <a:off x="3061" y="1525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C</a:t>
              </a:r>
              <a:r>
                <a:rPr lang="en-GB" baseline="-25000"/>
                <a:t>2</a:t>
              </a:r>
              <a:endParaRPr lang="en-US" baseline="-25000"/>
            </a:p>
          </p:txBody>
        </p:sp>
      </p:grpSp>
      <p:grpSp>
        <p:nvGrpSpPr>
          <p:cNvPr id="9221" name="Group 38"/>
          <p:cNvGrpSpPr>
            <a:grpSpLocks/>
          </p:cNvGrpSpPr>
          <p:nvPr/>
        </p:nvGrpSpPr>
        <p:grpSpPr bwMode="auto">
          <a:xfrm flipH="1">
            <a:off x="379413" y="1050925"/>
            <a:ext cx="2376487" cy="4470400"/>
            <a:chOff x="542" y="572"/>
            <a:chExt cx="1910" cy="3451"/>
          </a:xfrm>
        </p:grpSpPr>
        <p:grpSp>
          <p:nvGrpSpPr>
            <p:cNvPr id="9241" name="Group 35"/>
            <p:cNvGrpSpPr>
              <a:grpSpLocks/>
            </p:cNvGrpSpPr>
            <p:nvPr/>
          </p:nvGrpSpPr>
          <p:grpSpPr bwMode="auto">
            <a:xfrm>
              <a:off x="975" y="572"/>
              <a:ext cx="1477" cy="3451"/>
              <a:chOff x="385" y="577"/>
              <a:chExt cx="1477" cy="3451"/>
            </a:xfrm>
          </p:grpSpPr>
          <p:sp>
            <p:nvSpPr>
              <p:cNvPr id="9244" name="Rectangle 5"/>
              <p:cNvSpPr>
                <a:spLocks noChangeArrowheads="1"/>
              </p:cNvSpPr>
              <p:nvPr/>
            </p:nvSpPr>
            <p:spPr bwMode="auto">
              <a:xfrm>
                <a:off x="927" y="1539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5" name="Rectangle 6"/>
              <p:cNvSpPr>
                <a:spLocks noChangeArrowheads="1"/>
              </p:cNvSpPr>
              <p:nvPr/>
            </p:nvSpPr>
            <p:spPr bwMode="auto">
              <a:xfrm>
                <a:off x="385" y="1540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6" name="Rectangle 7"/>
              <p:cNvSpPr>
                <a:spLocks noChangeArrowheads="1"/>
              </p:cNvSpPr>
              <p:nvPr/>
            </p:nvSpPr>
            <p:spPr bwMode="auto">
              <a:xfrm>
                <a:off x="385" y="1546"/>
                <a:ext cx="364" cy="1493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7" name="Rectangle 8"/>
              <p:cNvSpPr>
                <a:spLocks noChangeArrowheads="1"/>
              </p:cNvSpPr>
              <p:nvPr/>
            </p:nvSpPr>
            <p:spPr bwMode="auto">
              <a:xfrm>
                <a:off x="385" y="1556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8" name="Rectangle 9"/>
              <p:cNvSpPr>
                <a:spLocks noChangeArrowheads="1"/>
              </p:cNvSpPr>
              <p:nvPr/>
            </p:nvSpPr>
            <p:spPr bwMode="auto">
              <a:xfrm>
                <a:off x="393" y="2821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9" name="Rectangle 10"/>
              <p:cNvSpPr>
                <a:spLocks noChangeArrowheads="1"/>
              </p:cNvSpPr>
              <p:nvPr/>
            </p:nvSpPr>
            <p:spPr bwMode="auto">
              <a:xfrm>
                <a:off x="393" y="2169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0" name="Rectangle 11"/>
              <p:cNvSpPr>
                <a:spLocks noChangeArrowheads="1"/>
              </p:cNvSpPr>
              <p:nvPr/>
            </p:nvSpPr>
            <p:spPr bwMode="auto">
              <a:xfrm>
                <a:off x="934" y="2721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1" name="Rectangle 12"/>
              <p:cNvSpPr>
                <a:spLocks noChangeArrowheads="1"/>
              </p:cNvSpPr>
              <p:nvPr/>
            </p:nvSpPr>
            <p:spPr bwMode="auto">
              <a:xfrm>
                <a:off x="934" y="2089"/>
                <a:ext cx="198" cy="382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2" name="Line 13"/>
              <p:cNvSpPr>
                <a:spLocks noChangeShapeType="1"/>
              </p:cNvSpPr>
              <p:nvPr/>
            </p:nvSpPr>
            <p:spPr bwMode="auto">
              <a:xfrm>
                <a:off x="931" y="2054"/>
                <a:ext cx="235" cy="0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53" name="Oval 14"/>
              <p:cNvSpPr>
                <a:spLocks noChangeArrowheads="1"/>
              </p:cNvSpPr>
              <p:nvPr/>
            </p:nvSpPr>
            <p:spPr bwMode="auto">
              <a:xfrm>
                <a:off x="91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4" name="Oval 15"/>
              <p:cNvSpPr>
                <a:spLocks noChangeArrowheads="1"/>
              </p:cNvSpPr>
              <p:nvPr/>
            </p:nvSpPr>
            <p:spPr bwMode="auto">
              <a:xfrm>
                <a:off x="969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5" name="Oval 16"/>
              <p:cNvSpPr>
                <a:spLocks noChangeArrowheads="1"/>
              </p:cNvSpPr>
              <p:nvPr/>
            </p:nvSpPr>
            <p:spPr bwMode="auto">
              <a:xfrm>
                <a:off x="1031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6" name="Oval 17"/>
              <p:cNvSpPr>
                <a:spLocks noChangeArrowheads="1"/>
              </p:cNvSpPr>
              <p:nvPr/>
            </p:nvSpPr>
            <p:spPr bwMode="auto">
              <a:xfrm>
                <a:off x="109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7" name="Line 18"/>
              <p:cNvSpPr>
                <a:spLocks noChangeShapeType="1"/>
              </p:cNvSpPr>
              <p:nvPr/>
            </p:nvSpPr>
            <p:spPr bwMode="auto">
              <a:xfrm>
                <a:off x="936" y="2500"/>
                <a:ext cx="230" cy="6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58" name="Oval 19"/>
              <p:cNvSpPr>
                <a:spLocks noChangeArrowheads="1"/>
              </p:cNvSpPr>
              <p:nvPr/>
            </p:nvSpPr>
            <p:spPr bwMode="auto">
              <a:xfrm>
                <a:off x="91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9" name="Oval 20"/>
              <p:cNvSpPr>
                <a:spLocks noChangeArrowheads="1"/>
              </p:cNvSpPr>
              <p:nvPr/>
            </p:nvSpPr>
            <p:spPr bwMode="auto">
              <a:xfrm>
                <a:off x="974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60" name="Oval 21"/>
              <p:cNvSpPr>
                <a:spLocks noChangeArrowheads="1"/>
              </p:cNvSpPr>
              <p:nvPr/>
            </p:nvSpPr>
            <p:spPr bwMode="auto">
              <a:xfrm>
                <a:off x="1036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61" name="Oval 22"/>
              <p:cNvSpPr>
                <a:spLocks noChangeArrowheads="1"/>
              </p:cNvSpPr>
              <p:nvPr/>
            </p:nvSpPr>
            <p:spPr bwMode="auto">
              <a:xfrm>
                <a:off x="109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62" name="Rectangle 23"/>
              <p:cNvSpPr>
                <a:spLocks noChangeArrowheads="1"/>
              </p:cNvSpPr>
              <p:nvPr/>
            </p:nvSpPr>
            <p:spPr bwMode="auto">
              <a:xfrm rot="-3169744">
                <a:off x="674" y="1188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63" name="Rectangle 24"/>
              <p:cNvSpPr>
                <a:spLocks noChangeArrowheads="1"/>
              </p:cNvSpPr>
              <p:nvPr/>
            </p:nvSpPr>
            <p:spPr bwMode="auto">
              <a:xfrm rot="3169744" flipV="1">
                <a:off x="674" y="3312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64" name="Rectangle 25"/>
              <p:cNvSpPr>
                <a:spLocks noChangeArrowheads="1"/>
              </p:cNvSpPr>
              <p:nvPr/>
            </p:nvSpPr>
            <p:spPr bwMode="auto">
              <a:xfrm>
                <a:off x="1689" y="684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65" name="Rectangle 26"/>
              <p:cNvSpPr>
                <a:spLocks noChangeArrowheads="1"/>
              </p:cNvSpPr>
              <p:nvPr/>
            </p:nvSpPr>
            <p:spPr bwMode="auto">
              <a:xfrm>
                <a:off x="1690" y="3695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66" name="Line 27"/>
              <p:cNvSpPr>
                <a:spLocks noChangeShapeType="1"/>
              </p:cNvSpPr>
              <p:nvPr/>
            </p:nvSpPr>
            <p:spPr bwMode="auto">
              <a:xfrm flipV="1">
                <a:off x="1167" y="1076"/>
                <a:ext cx="663" cy="972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67" name="Line 28"/>
              <p:cNvSpPr>
                <a:spLocks noChangeShapeType="1"/>
              </p:cNvSpPr>
              <p:nvPr/>
            </p:nvSpPr>
            <p:spPr bwMode="auto">
              <a:xfrm>
                <a:off x="1154" y="2500"/>
                <a:ext cx="688" cy="997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68" name="Freeform 29"/>
              <p:cNvSpPr>
                <a:spLocks/>
              </p:cNvSpPr>
              <p:nvPr/>
            </p:nvSpPr>
            <p:spPr bwMode="auto">
              <a:xfrm>
                <a:off x="1791" y="908"/>
                <a:ext cx="71" cy="174"/>
              </a:xfrm>
              <a:custGeom>
                <a:avLst/>
                <a:gdLst>
                  <a:gd name="T0" fmla="*/ 1 w 102"/>
                  <a:gd name="T1" fmla="*/ 0 h 310"/>
                  <a:gd name="T2" fmla="*/ 1 w 102"/>
                  <a:gd name="T3" fmla="*/ 1 h 310"/>
                  <a:gd name="T4" fmla="*/ 1 w 102"/>
                  <a:gd name="T5" fmla="*/ 1 h 310"/>
                  <a:gd name="T6" fmla="*/ 1 w 102"/>
                  <a:gd name="T7" fmla="*/ 1 h 310"/>
                  <a:gd name="T8" fmla="*/ 1 w 102"/>
                  <a:gd name="T9" fmla="*/ 1 h 310"/>
                  <a:gd name="T10" fmla="*/ 1 w 102"/>
                  <a:gd name="T11" fmla="*/ 1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69" name="Freeform 30"/>
              <p:cNvSpPr>
                <a:spLocks/>
              </p:cNvSpPr>
              <p:nvPr/>
            </p:nvSpPr>
            <p:spPr bwMode="auto">
              <a:xfrm flipV="1">
                <a:off x="1785" y="3478"/>
                <a:ext cx="71" cy="205"/>
              </a:xfrm>
              <a:custGeom>
                <a:avLst/>
                <a:gdLst>
                  <a:gd name="T0" fmla="*/ 1 w 102"/>
                  <a:gd name="T1" fmla="*/ 0 h 310"/>
                  <a:gd name="T2" fmla="*/ 1 w 102"/>
                  <a:gd name="T3" fmla="*/ 1 h 310"/>
                  <a:gd name="T4" fmla="*/ 1 w 102"/>
                  <a:gd name="T5" fmla="*/ 2 h 310"/>
                  <a:gd name="T6" fmla="*/ 1 w 102"/>
                  <a:gd name="T7" fmla="*/ 2 h 310"/>
                  <a:gd name="T8" fmla="*/ 1 w 102"/>
                  <a:gd name="T9" fmla="*/ 3 h 310"/>
                  <a:gd name="T10" fmla="*/ 1 w 102"/>
                  <a:gd name="T11" fmla="*/ 3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70" name="Freeform 31"/>
              <p:cNvSpPr>
                <a:spLocks/>
              </p:cNvSpPr>
              <p:nvPr/>
            </p:nvSpPr>
            <p:spPr bwMode="auto">
              <a:xfrm>
                <a:off x="1154" y="2054"/>
                <a:ext cx="75" cy="434"/>
              </a:xfrm>
              <a:custGeom>
                <a:avLst/>
                <a:gdLst>
                  <a:gd name="T0" fmla="*/ 1 w 131"/>
                  <a:gd name="T1" fmla="*/ 0 h 434"/>
                  <a:gd name="T2" fmla="*/ 1 w 131"/>
                  <a:gd name="T3" fmla="*/ 236 h 434"/>
                  <a:gd name="T4" fmla="*/ 0 w 131"/>
                  <a:gd name="T5" fmla="*/ 434 h 434"/>
                  <a:gd name="T6" fmla="*/ 0 60000 65536"/>
                  <a:gd name="T7" fmla="*/ 0 60000 65536"/>
                  <a:gd name="T8" fmla="*/ 0 60000 65536"/>
                  <a:gd name="T9" fmla="*/ 0 w 131"/>
                  <a:gd name="T10" fmla="*/ 0 h 434"/>
                  <a:gd name="T11" fmla="*/ 131 w 131"/>
                  <a:gd name="T12" fmla="*/ 434 h 4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1" h="434">
                    <a:moveTo>
                      <a:pt x="7" y="0"/>
                    </a:moveTo>
                    <a:cubicBezTo>
                      <a:pt x="69" y="82"/>
                      <a:pt x="131" y="164"/>
                      <a:pt x="130" y="236"/>
                    </a:cubicBezTo>
                    <a:cubicBezTo>
                      <a:pt x="129" y="308"/>
                      <a:pt x="64" y="371"/>
                      <a:pt x="0" y="43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9242" name="Freeform 36"/>
            <p:cNvSpPr>
              <a:spLocks/>
            </p:cNvSpPr>
            <p:nvPr/>
          </p:nvSpPr>
          <p:spPr bwMode="auto">
            <a:xfrm>
              <a:off x="542" y="1961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43" name="Freeform 37"/>
            <p:cNvSpPr>
              <a:spLocks/>
            </p:cNvSpPr>
            <p:nvPr/>
          </p:nvSpPr>
          <p:spPr bwMode="auto">
            <a:xfrm>
              <a:off x="567" y="2478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222" name="Freeform 46"/>
          <p:cNvSpPr>
            <a:spLocks/>
          </p:cNvSpPr>
          <p:nvPr/>
        </p:nvSpPr>
        <p:spPr bwMode="auto">
          <a:xfrm>
            <a:off x="361950" y="3429000"/>
            <a:ext cx="469900" cy="215900"/>
          </a:xfrm>
          <a:custGeom>
            <a:avLst/>
            <a:gdLst>
              <a:gd name="T0" fmla="*/ 0 w 2449"/>
              <a:gd name="T1" fmla="*/ 2147483647 h 726"/>
              <a:gd name="T2" fmla="*/ 2147483647 w 2449"/>
              <a:gd name="T3" fmla="*/ 0 h 726"/>
              <a:gd name="T4" fmla="*/ 2147483647 w 2449"/>
              <a:gd name="T5" fmla="*/ 2147483647 h 726"/>
              <a:gd name="T6" fmla="*/ 2147483647 w 2449"/>
              <a:gd name="T7" fmla="*/ 2147483647 h 726"/>
              <a:gd name="T8" fmla="*/ 2147483647 w 2449"/>
              <a:gd name="T9" fmla="*/ 2147483647 h 726"/>
              <a:gd name="T10" fmla="*/ 2147483647 w 2449"/>
              <a:gd name="T11" fmla="*/ 0 h 726"/>
              <a:gd name="T12" fmla="*/ 2147483647 w 2449"/>
              <a:gd name="T13" fmla="*/ 2147483647 h 7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49"/>
              <a:gd name="T22" fmla="*/ 0 h 726"/>
              <a:gd name="T23" fmla="*/ 2449 w 2449"/>
              <a:gd name="T24" fmla="*/ 726 h 72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49" h="726">
                <a:moveTo>
                  <a:pt x="0" y="363"/>
                </a:moveTo>
                <a:cubicBezTo>
                  <a:pt x="136" y="181"/>
                  <a:pt x="272" y="0"/>
                  <a:pt x="408" y="0"/>
                </a:cubicBezTo>
                <a:cubicBezTo>
                  <a:pt x="544" y="0"/>
                  <a:pt x="680" y="242"/>
                  <a:pt x="816" y="363"/>
                </a:cubicBezTo>
                <a:cubicBezTo>
                  <a:pt x="952" y="484"/>
                  <a:pt x="1088" y="726"/>
                  <a:pt x="1224" y="726"/>
                </a:cubicBezTo>
                <a:cubicBezTo>
                  <a:pt x="1360" y="726"/>
                  <a:pt x="1497" y="484"/>
                  <a:pt x="1633" y="363"/>
                </a:cubicBezTo>
                <a:cubicBezTo>
                  <a:pt x="1769" y="242"/>
                  <a:pt x="1905" y="0"/>
                  <a:pt x="2041" y="0"/>
                </a:cubicBezTo>
                <a:cubicBezTo>
                  <a:pt x="2177" y="0"/>
                  <a:pt x="2313" y="181"/>
                  <a:pt x="2449" y="363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" name="Freeform 85"/>
          <p:cNvSpPr/>
          <p:nvPr/>
        </p:nvSpPr>
        <p:spPr bwMode="auto">
          <a:xfrm>
            <a:off x="2728913" y="2341563"/>
            <a:ext cx="444500" cy="636587"/>
          </a:xfrm>
          <a:custGeom>
            <a:avLst/>
            <a:gdLst>
              <a:gd name="connsiteX0" fmla="*/ 0 w 443346"/>
              <a:gd name="connsiteY0" fmla="*/ 595746 h 636679"/>
              <a:gd name="connsiteX1" fmla="*/ 207818 w 443346"/>
              <a:gd name="connsiteY1" fmla="*/ 609600 h 636679"/>
              <a:gd name="connsiteX2" fmla="*/ 235528 w 443346"/>
              <a:gd name="connsiteY2" fmla="*/ 290946 h 636679"/>
              <a:gd name="connsiteX3" fmla="*/ 249382 w 443346"/>
              <a:gd name="connsiteY3" fmla="*/ 235527 h 636679"/>
              <a:gd name="connsiteX4" fmla="*/ 332509 w 443346"/>
              <a:gd name="connsiteY4" fmla="*/ 180109 h 636679"/>
              <a:gd name="connsiteX5" fmla="*/ 360218 w 443346"/>
              <a:gd name="connsiteY5" fmla="*/ 138546 h 636679"/>
              <a:gd name="connsiteX6" fmla="*/ 415637 w 443346"/>
              <a:gd name="connsiteY6" fmla="*/ 83127 h 636679"/>
              <a:gd name="connsiteX7" fmla="*/ 443346 w 443346"/>
              <a:gd name="connsiteY7" fmla="*/ 0 h 636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3346" h="636679">
                <a:moveTo>
                  <a:pt x="0" y="595746"/>
                </a:moveTo>
                <a:cubicBezTo>
                  <a:pt x="122801" y="636679"/>
                  <a:pt x="54098" y="626681"/>
                  <a:pt x="207818" y="609600"/>
                </a:cubicBezTo>
                <a:cubicBezTo>
                  <a:pt x="252966" y="474164"/>
                  <a:pt x="207981" y="621508"/>
                  <a:pt x="235528" y="290946"/>
                </a:cubicBezTo>
                <a:cubicBezTo>
                  <a:pt x="237109" y="271970"/>
                  <a:pt x="236843" y="249857"/>
                  <a:pt x="249382" y="235527"/>
                </a:cubicBezTo>
                <a:cubicBezTo>
                  <a:pt x="271311" y="210464"/>
                  <a:pt x="332509" y="180109"/>
                  <a:pt x="332509" y="180109"/>
                </a:cubicBezTo>
                <a:cubicBezTo>
                  <a:pt x="341745" y="166255"/>
                  <a:pt x="349382" y="151188"/>
                  <a:pt x="360218" y="138546"/>
                </a:cubicBezTo>
                <a:cubicBezTo>
                  <a:pt x="377220" y="118711"/>
                  <a:pt x="415637" y="83127"/>
                  <a:pt x="415637" y="83127"/>
                </a:cubicBezTo>
                <a:lnTo>
                  <a:pt x="443346" y="0"/>
                </a:lnTo>
              </a:path>
            </a:pathLst>
          </a:custGeom>
          <a:noFill/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" name="Freeform 86"/>
          <p:cNvSpPr/>
          <p:nvPr/>
        </p:nvSpPr>
        <p:spPr bwMode="auto">
          <a:xfrm>
            <a:off x="2716213" y="3511550"/>
            <a:ext cx="469900" cy="458788"/>
          </a:xfrm>
          <a:custGeom>
            <a:avLst/>
            <a:gdLst>
              <a:gd name="connsiteX0" fmla="*/ 0 w 471054"/>
              <a:gd name="connsiteY0" fmla="*/ 118821 h 458517"/>
              <a:gd name="connsiteX1" fmla="*/ 124691 w 471054"/>
              <a:gd name="connsiteY1" fmla="*/ 174239 h 458517"/>
              <a:gd name="connsiteX2" fmla="*/ 180109 w 471054"/>
              <a:gd name="connsiteY2" fmla="*/ 160385 h 458517"/>
              <a:gd name="connsiteX3" fmla="*/ 221672 w 471054"/>
              <a:gd name="connsiteY3" fmla="*/ 132675 h 458517"/>
              <a:gd name="connsiteX4" fmla="*/ 263236 w 471054"/>
              <a:gd name="connsiteY4" fmla="*/ 118821 h 458517"/>
              <a:gd name="connsiteX5" fmla="*/ 346363 w 471054"/>
              <a:gd name="connsiteY5" fmla="*/ 77257 h 458517"/>
              <a:gd name="connsiteX6" fmla="*/ 387927 w 471054"/>
              <a:gd name="connsiteY6" fmla="*/ 91112 h 458517"/>
              <a:gd name="connsiteX7" fmla="*/ 415636 w 471054"/>
              <a:gd name="connsiteY7" fmla="*/ 395912 h 458517"/>
              <a:gd name="connsiteX8" fmla="*/ 471054 w 471054"/>
              <a:gd name="connsiteY8" fmla="*/ 423621 h 45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1054" h="458517">
                <a:moveTo>
                  <a:pt x="0" y="118821"/>
                </a:moveTo>
                <a:cubicBezTo>
                  <a:pt x="98924" y="151796"/>
                  <a:pt x="58825" y="130329"/>
                  <a:pt x="124691" y="174239"/>
                </a:cubicBezTo>
                <a:cubicBezTo>
                  <a:pt x="143164" y="169621"/>
                  <a:pt x="162607" y="167886"/>
                  <a:pt x="180109" y="160385"/>
                </a:cubicBezTo>
                <a:cubicBezTo>
                  <a:pt x="195414" y="153826"/>
                  <a:pt x="206779" y="140122"/>
                  <a:pt x="221672" y="132675"/>
                </a:cubicBezTo>
                <a:cubicBezTo>
                  <a:pt x="234734" y="126144"/>
                  <a:pt x="249381" y="123439"/>
                  <a:pt x="263236" y="118821"/>
                </a:cubicBezTo>
                <a:cubicBezTo>
                  <a:pt x="284249" y="104813"/>
                  <a:pt x="317685" y="77257"/>
                  <a:pt x="346363" y="77257"/>
                </a:cubicBezTo>
                <a:cubicBezTo>
                  <a:pt x="360967" y="77257"/>
                  <a:pt x="374072" y="86494"/>
                  <a:pt x="387927" y="91112"/>
                </a:cubicBezTo>
                <a:cubicBezTo>
                  <a:pt x="436112" y="235660"/>
                  <a:pt x="361649" y="0"/>
                  <a:pt x="415636" y="395912"/>
                </a:cubicBezTo>
                <a:cubicBezTo>
                  <a:pt x="424173" y="458517"/>
                  <a:pt x="443894" y="437200"/>
                  <a:pt x="471054" y="423621"/>
                </a:cubicBezTo>
              </a:path>
            </a:pathLst>
          </a:custGeom>
          <a:noFill/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9225" name="Straight Arrow Connector 87"/>
          <p:cNvCxnSpPr>
            <a:cxnSpLocks noChangeShapeType="1"/>
          </p:cNvCxnSpPr>
          <p:nvPr/>
        </p:nvCxnSpPr>
        <p:spPr bwMode="auto">
          <a:xfrm rot="16200000" flipV="1">
            <a:off x="2590800" y="3117850"/>
            <a:ext cx="1371600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26" name="Straight Arrow Connector 88"/>
          <p:cNvCxnSpPr>
            <a:cxnSpLocks noChangeShapeType="1"/>
          </p:cNvCxnSpPr>
          <p:nvPr/>
        </p:nvCxnSpPr>
        <p:spPr bwMode="auto">
          <a:xfrm rot="16200000" flipV="1">
            <a:off x="6850063" y="3414713"/>
            <a:ext cx="6794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8" name="Freeform 92"/>
          <p:cNvSpPr>
            <a:spLocks/>
          </p:cNvSpPr>
          <p:nvPr/>
        </p:nvSpPr>
        <p:spPr bwMode="auto">
          <a:xfrm>
            <a:off x="7135813" y="2312988"/>
            <a:ext cx="206375" cy="596900"/>
          </a:xfrm>
          <a:custGeom>
            <a:avLst/>
            <a:gdLst>
              <a:gd name="T0" fmla="*/ 0 w 207818"/>
              <a:gd name="T1" fmla="*/ 607386 h 595746"/>
              <a:gd name="T2" fmla="*/ 38764 w 207818"/>
              <a:gd name="T3" fmla="*/ 579135 h 595746"/>
              <a:gd name="T4" fmla="*/ 77533 w 207818"/>
              <a:gd name="T5" fmla="*/ 565012 h 595746"/>
              <a:gd name="T6" fmla="*/ 90456 w 207818"/>
              <a:gd name="T7" fmla="*/ 522634 h 595746"/>
              <a:gd name="T8" fmla="*/ 77533 w 207818"/>
              <a:gd name="T9" fmla="*/ 466133 h 595746"/>
              <a:gd name="T10" fmla="*/ 90456 w 207818"/>
              <a:gd name="T11" fmla="*/ 381382 h 595746"/>
              <a:gd name="T12" fmla="*/ 129219 w 207818"/>
              <a:gd name="T13" fmla="*/ 367257 h 595746"/>
              <a:gd name="T14" fmla="*/ 155065 w 207818"/>
              <a:gd name="T15" fmla="*/ 324881 h 595746"/>
              <a:gd name="T16" fmla="*/ 167986 w 207818"/>
              <a:gd name="T17" fmla="*/ 56501 h 595746"/>
              <a:gd name="T18" fmla="*/ 180908 w 207818"/>
              <a:gd name="T19" fmla="*/ 14125 h 595746"/>
              <a:gd name="T20" fmla="*/ 193831 w 207818"/>
              <a:gd name="T21" fmla="*/ 0 h 59574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07818"/>
              <a:gd name="T34" fmla="*/ 0 h 595746"/>
              <a:gd name="T35" fmla="*/ 207818 w 207818"/>
              <a:gd name="T36" fmla="*/ 595746 h 59574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07818" h="595746">
                <a:moveTo>
                  <a:pt x="0" y="595746"/>
                </a:moveTo>
                <a:cubicBezTo>
                  <a:pt x="13855" y="586509"/>
                  <a:pt x="26671" y="575483"/>
                  <a:pt x="41564" y="568036"/>
                </a:cubicBezTo>
                <a:cubicBezTo>
                  <a:pt x="54626" y="561505"/>
                  <a:pt x="72801" y="564508"/>
                  <a:pt x="83127" y="554182"/>
                </a:cubicBezTo>
                <a:cubicBezTo>
                  <a:pt x="93454" y="543855"/>
                  <a:pt x="92364" y="526473"/>
                  <a:pt x="96982" y="512618"/>
                </a:cubicBezTo>
                <a:cubicBezTo>
                  <a:pt x="92364" y="494145"/>
                  <a:pt x="88358" y="475509"/>
                  <a:pt x="83127" y="457200"/>
                </a:cubicBezTo>
                <a:cubicBezTo>
                  <a:pt x="71343" y="415956"/>
                  <a:pt x="52809" y="409412"/>
                  <a:pt x="96982" y="374073"/>
                </a:cubicBezTo>
                <a:cubicBezTo>
                  <a:pt x="108386" y="364950"/>
                  <a:pt x="124691" y="364836"/>
                  <a:pt x="138545" y="360218"/>
                </a:cubicBezTo>
                <a:cubicBezTo>
                  <a:pt x="147781" y="346364"/>
                  <a:pt x="164004" y="335153"/>
                  <a:pt x="166254" y="318655"/>
                </a:cubicBezTo>
                <a:cubicBezTo>
                  <a:pt x="178126" y="231594"/>
                  <a:pt x="172154" y="142924"/>
                  <a:pt x="180109" y="55418"/>
                </a:cubicBezTo>
                <a:cubicBezTo>
                  <a:pt x="181431" y="40874"/>
                  <a:pt x="187433" y="26917"/>
                  <a:pt x="193964" y="13855"/>
                </a:cubicBezTo>
                <a:cubicBezTo>
                  <a:pt x="196885" y="8013"/>
                  <a:pt x="203200" y="4618"/>
                  <a:pt x="207818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9" name="Freeform 93"/>
          <p:cNvSpPr>
            <a:spLocks/>
          </p:cNvSpPr>
          <p:nvPr/>
        </p:nvSpPr>
        <p:spPr bwMode="auto">
          <a:xfrm>
            <a:off x="7080250" y="3944938"/>
            <a:ext cx="298450" cy="128587"/>
          </a:xfrm>
          <a:custGeom>
            <a:avLst/>
            <a:gdLst>
              <a:gd name="T0" fmla="*/ 0 w 299204"/>
              <a:gd name="T1" fmla="*/ 60440 h 128396"/>
              <a:gd name="T2" fmla="*/ 40528 w 299204"/>
              <a:gd name="T3" fmla="*/ 102624 h 128396"/>
              <a:gd name="T4" fmla="*/ 162109 w 299204"/>
              <a:gd name="T5" fmla="*/ 102624 h 128396"/>
              <a:gd name="T6" fmla="*/ 229657 w 299204"/>
              <a:gd name="T7" fmla="*/ 32316 h 128396"/>
              <a:gd name="T8" fmla="*/ 283696 w 299204"/>
              <a:gd name="T9" fmla="*/ 4188 h 1283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9204"/>
              <a:gd name="T16" fmla="*/ 0 h 128396"/>
              <a:gd name="T17" fmla="*/ 299204 w 299204"/>
              <a:gd name="T18" fmla="*/ 128396 h 1283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9204" h="128396">
                <a:moveTo>
                  <a:pt x="0" y="59547"/>
                </a:moveTo>
                <a:cubicBezTo>
                  <a:pt x="13854" y="73401"/>
                  <a:pt x="25261" y="90242"/>
                  <a:pt x="41563" y="101110"/>
                </a:cubicBezTo>
                <a:cubicBezTo>
                  <a:pt x="82492" y="128396"/>
                  <a:pt x="121204" y="108619"/>
                  <a:pt x="166254" y="101110"/>
                </a:cubicBezTo>
                <a:cubicBezTo>
                  <a:pt x="193964" y="59546"/>
                  <a:pt x="189345" y="54929"/>
                  <a:pt x="235527" y="31838"/>
                </a:cubicBezTo>
                <a:cubicBezTo>
                  <a:pt x="299204" y="0"/>
                  <a:pt x="259647" y="35429"/>
                  <a:pt x="290945" y="412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0" name="TextBox 94"/>
          <p:cNvSpPr txBox="1">
            <a:spLocks noChangeArrowheads="1"/>
          </p:cNvSpPr>
          <p:nvPr/>
        </p:nvSpPr>
        <p:spPr bwMode="auto">
          <a:xfrm>
            <a:off x="395288" y="5583238"/>
            <a:ext cx="36782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So all circuitry and interconnects should be shielded to reduce interference</a:t>
            </a:r>
            <a:endParaRPr lang="en-US"/>
          </a:p>
        </p:txBody>
      </p:sp>
      <p:sp>
        <p:nvSpPr>
          <p:cNvPr id="9231" name="Lightning Bolt 95"/>
          <p:cNvSpPr>
            <a:spLocks noChangeArrowheads="1"/>
          </p:cNvSpPr>
          <p:nvPr/>
        </p:nvSpPr>
        <p:spPr bwMode="auto">
          <a:xfrm rot="-7478527">
            <a:off x="3852862" y="5453063"/>
            <a:ext cx="773113" cy="1093788"/>
          </a:xfrm>
          <a:prstGeom prst="lightningBol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7" name="Rectangle 96"/>
          <p:cNvSpPr/>
          <p:nvPr/>
        </p:nvSpPr>
        <p:spPr bwMode="auto">
          <a:xfrm>
            <a:off x="941388" y="858838"/>
            <a:ext cx="8202612" cy="4530725"/>
          </a:xfrm>
          <a:prstGeom prst="rect">
            <a:avLst/>
          </a:prstGeom>
          <a:solidFill>
            <a:schemeClr val="accent1">
              <a:lumMod val="20000"/>
              <a:lumOff val="80000"/>
              <a:alpha val="54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9233" name="Straight Connector 97"/>
          <p:cNvCxnSpPr>
            <a:cxnSpLocks noChangeShapeType="1"/>
          </p:cNvCxnSpPr>
          <p:nvPr/>
        </p:nvCxnSpPr>
        <p:spPr bwMode="auto">
          <a:xfrm rot="5400000" flipH="1" flipV="1">
            <a:off x="4232275" y="4592638"/>
            <a:ext cx="998538" cy="430212"/>
          </a:xfrm>
          <a:prstGeom prst="line">
            <a:avLst/>
          </a:prstGeom>
          <a:noFill/>
          <a:ln w="9525" algn="ctr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34" name="Lightning Bolt 98"/>
          <p:cNvSpPr>
            <a:spLocks noChangeArrowheads="1"/>
          </p:cNvSpPr>
          <p:nvPr/>
        </p:nvSpPr>
        <p:spPr bwMode="auto">
          <a:xfrm rot="5229652">
            <a:off x="8191501" y="-133350"/>
            <a:ext cx="773112" cy="1093787"/>
          </a:xfrm>
          <a:prstGeom prst="lightningBol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9235" name="Straight Connector 99"/>
          <p:cNvCxnSpPr>
            <a:cxnSpLocks noChangeShapeType="1"/>
          </p:cNvCxnSpPr>
          <p:nvPr/>
        </p:nvCxnSpPr>
        <p:spPr bwMode="auto">
          <a:xfrm flipV="1">
            <a:off x="7148513" y="803275"/>
            <a:ext cx="887412" cy="679450"/>
          </a:xfrm>
          <a:prstGeom prst="line">
            <a:avLst/>
          </a:prstGeom>
          <a:noFill/>
          <a:ln w="9525" algn="ctr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36" name="TextBox 100"/>
          <p:cNvSpPr txBox="1">
            <a:spLocks noChangeArrowheads="1"/>
          </p:cNvSpPr>
          <p:nvPr/>
        </p:nvSpPr>
        <p:spPr bwMode="auto">
          <a:xfrm>
            <a:off x="5784850" y="4419600"/>
            <a:ext cx="33591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The shield is metallic, and fixed to the (zero) reference voltage of the circuit, usually 0V</a:t>
            </a:r>
            <a:endParaRPr lang="en-US"/>
          </a:p>
        </p:txBody>
      </p:sp>
      <p:sp>
        <p:nvSpPr>
          <p:cNvPr id="9237" name="TextBox 101"/>
          <p:cNvSpPr txBox="1">
            <a:spLocks noChangeArrowheads="1"/>
          </p:cNvSpPr>
          <p:nvPr/>
        </p:nvSpPr>
        <p:spPr bwMode="auto">
          <a:xfrm>
            <a:off x="6040438" y="5445125"/>
            <a:ext cx="3103562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Circuits can be easily housed in metal cases, but cables present a problem (due to their required flexibility) …</a:t>
            </a:r>
            <a:endParaRPr lang="en-US"/>
          </a:p>
        </p:txBody>
      </p:sp>
      <p:sp>
        <p:nvSpPr>
          <p:cNvPr id="102" name="Rectangle 101"/>
          <p:cNvSpPr/>
          <p:nvPr/>
        </p:nvSpPr>
        <p:spPr>
          <a:xfrm rot="10800000" flipV="1">
            <a:off x="5675313" y="5935663"/>
            <a:ext cx="514350" cy="33813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0V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4177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/>
          <p:cNvGrpSpPr/>
          <p:nvPr/>
        </p:nvGrpSpPr>
        <p:grpSpPr>
          <a:xfrm>
            <a:off x="5029200" y="3876674"/>
            <a:ext cx="769938" cy="2436814"/>
            <a:chOff x="5029200" y="3876674"/>
            <a:chExt cx="769938" cy="2436814"/>
          </a:xfrm>
        </p:grpSpPr>
        <p:cxnSp>
          <p:nvCxnSpPr>
            <p:cNvPr id="103" name="Straight Connector 102"/>
            <p:cNvCxnSpPr/>
            <p:nvPr/>
          </p:nvCxnSpPr>
          <p:spPr bwMode="auto">
            <a:xfrm>
              <a:off x="5114925" y="3933825"/>
              <a:ext cx="0" cy="180022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Straight Connector 104"/>
            <p:cNvCxnSpPr/>
            <p:nvPr/>
          </p:nvCxnSpPr>
          <p:spPr bwMode="auto">
            <a:xfrm>
              <a:off x="5114925" y="5705475"/>
              <a:ext cx="684213" cy="608013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6" name="Oval 105"/>
            <p:cNvSpPr/>
            <p:nvPr/>
          </p:nvSpPr>
          <p:spPr bwMode="auto">
            <a:xfrm>
              <a:off x="5029200" y="3876674"/>
              <a:ext cx="152400" cy="161925"/>
            </a:xfrm>
            <a:prstGeom prst="ellipse">
              <a:avLst/>
            </a:prstGeom>
            <a:solidFill>
              <a:schemeClr val="tx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488" y="1158875"/>
            <a:ext cx="18859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3073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Circuits - Shielding</a:t>
            </a:r>
          </a:p>
        </p:txBody>
      </p:sp>
      <p:grpSp>
        <p:nvGrpSpPr>
          <p:cNvPr id="10244" name="Group 73"/>
          <p:cNvGrpSpPr>
            <a:grpSpLocks/>
          </p:cNvGrpSpPr>
          <p:nvPr/>
        </p:nvGrpSpPr>
        <p:grpSpPr bwMode="auto">
          <a:xfrm>
            <a:off x="2392363" y="1147763"/>
            <a:ext cx="5564187" cy="2968625"/>
            <a:chOff x="657" y="754"/>
            <a:chExt cx="3505" cy="1870"/>
          </a:xfrm>
        </p:grpSpPr>
        <p:grpSp>
          <p:nvGrpSpPr>
            <p:cNvPr id="10294" name="Group 68"/>
            <p:cNvGrpSpPr>
              <a:grpSpLocks/>
            </p:cNvGrpSpPr>
            <p:nvPr/>
          </p:nvGrpSpPr>
          <p:grpSpPr bwMode="auto">
            <a:xfrm>
              <a:off x="657" y="754"/>
              <a:ext cx="3505" cy="1870"/>
              <a:chOff x="1655" y="1253"/>
              <a:chExt cx="3505" cy="1870"/>
            </a:xfrm>
          </p:grpSpPr>
          <p:sp>
            <p:nvSpPr>
              <p:cNvPr id="10297" name="Line 36"/>
              <p:cNvSpPr>
                <a:spLocks noChangeShapeType="1"/>
              </p:cNvSpPr>
              <p:nvPr/>
            </p:nvSpPr>
            <p:spPr bwMode="auto">
              <a:xfrm>
                <a:off x="2925" y="1298"/>
                <a:ext cx="0" cy="17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98" name="Line 31"/>
              <p:cNvSpPr>
                <a:spLocks noChangeShapeType="1"/>
              </p:cNvSpPr>
              <p:nvPr/>
            </p:nvSpPr>
            <p:spPr bwMode="auto">
              <a:xfrm flipV="1">
                <a:off x="4059" y="2387"/>
                <a:ext cx="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99" name="Line 30"/>
              <p:cNvSpPr>
                <a:spLocks noChangeShapeType="1"/>
              </p:cNvSpPr>
              <p:nvPr/>
            </p:nvSpPr>
            <p:spPr bwMode="auto">
              <a:xfrm>
                <a:off x="3560" y="2387"/>
                <a:ext cx="10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0300" name="Group 11"/>
              <p:cNvGrpSpPr>
                <a:grpSpLocks/>
              </p:cNvGrpSpPr>
              <p:nvPr/>
            </p:nvGrpSpPr>
            <p:grpSpPr bwMode="auto">
              <a:xfrm>
                <a:off x="3052" y="1307"/>
                <a:ext cx="512" cy="1705"/>
                <a:chOff x="1465" y="1162"/>
                <a:chExt cx="589" cy="2223"/>
              </a:xfrm>
            </p:grpSpPr>
            <p:grpSp>
              <p:nvGrpSpPr>
                <p:cNvPr id="10334" name="Group 9"/>
                <p:cNvGrpSpPr>
                  <a:grpSpLocks/>
                </p:cNvGrpSpPr>
                <p:nvPr/>
              </p:nvGrpSpPr>
              <p:grpSpPr bwMode="auto">
                <a:xfrm>
                  <a:off x="1465" y="1162"/>
                  <a:ext cx="589" cy="2223"/>
                  <a:chOff x="3606" y="1344"/>
                  <a:chExt cx="589" cy="2223"/>
                </a:xfrm>
              </p:grpSpPr>
              <p:sp>
                <p:nvSpPr>
                  <p:cNvPr id="10336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296"/>
                    <a:ext cx="18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337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614"/>
                    <a:ext cx="18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338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206"/>
                    <a:ext cx="0" cy="49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339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4195" y="1344"/>
                    <a:ext cx="0" cy="95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340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4195" y="2614"/>
                    <a:ext cx="0" cy="95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341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606" y="2432"/>
                    <a:ext cx="40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0335" name="AutoShape 16"/>
                <p:cNvSpPr>
                  <a:spLocks noChangeArrowheads="1"/>
                </p:cNvSpPr>
                <p:nvPr/>
              </p:nvSpPr>
              <p:spPr bwMode="auto">
                <a:xfrm rot="5400000">
                  <a:off x="1759" y="2200"/>
                  <a:ext cx="116" cy="9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301" name="Rectangle 23"/>
              <p:cNvSpPr>
                <a:spLocks noChangeArrowheads="1"/>
              </p:cNvSpPr>
              <p:nvPr/>
            </p:nvSpPr>
            <p:spPr bwMode="auto">
              <a:xfrm>
                <a:off x="4014" y="2568"/>
                <a:ext cx="91" cy="318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2" name="Line 24"/>
              <p:cNvSpPr>
                <a:spLocks noChangeShapeType="1"/>
              </p:cNvSpPr>
              <p:nvPr/>
            </p:nvSpPr>
            <p:spPr bwMode="auto">
              <a:xfrm>
                <a:off x="2925" y="1298"/>
                <a:ext cx="10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303" name="Line 25"/>
              <p:cNvSpPr>
                <a:spLocks noChangeShapeType="1"/>
              </p:cNvSpPr>
              <p:nvPr/>
            </p:nvSpPr>
            <p:spPr bwMode="auto">
              <a:xfrm>
                <a:off x="2154" y="3022"/>
                <a:ext cx="24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0304" name="Group 26"/>
              <p:cNvGrpSpPr>
                <a:grpSpLocks/>
              </p:cNvGrpSpPr>
              <p:nvPr/>
            </p:nvGrpSpPr>
            <p:grpSpPr bwMode="auto">
              <a:xfrm>
                <a:off x="4195" y="2251"/>
                <a:ext cx="88" cy="272"/>
                <a:chOff x="1689" y="1298"/>
                <a:chExt cx="88" cy="272"/>
              </a:xfrm>
            </p:grpSpPr>
            <p:sp>
              <p:nvSpPr>
                <p:cNvPr id="10331" name="Line 27"/>
                <p:cNvSpPr>
                  <a:spLocks noChangeShapeType="1"/>
                </p:cNvSpPr>
                <p:nvPr/>
              </p:nvSpPr>
              <p:spPr bwMode="auto">
                <a:xfrm>
                  <a:off x="1689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332" name="Line 28"/>
                <p:cNvSpPr>
                  <a:spLocks noChangeShapeType="1"/>
                </p:cNvSpPr>
                <p:nvPr/>
              </p:nvSpPr>
              <p:spPr bwMode="auto">
                <a:xfrm>
                  <a:off x="1777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333" name="Rectangle 29"/>
                <p:cNvSpPr>
                  <a:spLocks noChangeArrowheads="1"/>
                </p:cNvSpPr>
                <p:nvPr/>
              </p:nvSpPr>
              <p:spPr bwMode="auto">
                <a:xfrm>
                  <a:off x="1704" y="1298"/>
                  <a:ext cx="64" cy="2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305" name="Rectangle 32"/>
              <p:cNvSpPr>
                <a:spLocks noChangeArrowheads="1"/>
              </p:cNvSpPr>
              <p:nvPr/>
            </p:nvSpPr>
            <p:spPr bwMode="auto">
              <a:xfrm>
                <a:off x="2880" y="1570"/>
                <a:ext cx="91" cy="290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6" name="Rectangle 33"/>
              <p:cNvSpPr>
                <a:spLocks noChangeArrowheads="1"/>
              </p:cNvSpPr>
              <p:nvPr/>
            </p:nvSpPr>
            <p:spPr bwMode="auto">
              <a:xfrm>
                <a:off x="2880" y="2387"/>
                <a:ext cx="91" cy="289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7" name="Line 37"/>
              <p:cNvSpPr>
                <a:spLocks noChangeShapeType="1"/>
              </p:cNvSpPr>
              <p:nvPr/>
            </p:nvSpPr>
            <p:spPr bwMode="auto">
              <a:xfrm flipV="1">
                <a:off x="2917" y="2148"/>
                <a:ext cx="371" cy="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308" name="Line 38"/>
              <p:cNvSpPr>
                <a:spLocks noChangeShapeType="1"/>
              </p:cNvSpPr>
              <p:nvPr/>
            </p:nvSpPr>
            <p:spPr bwMode="auto">
              <a:xfrm>
                <a:off x="2154" y="1979"/>
                <a:ext cx="77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0309" name="Group 39"/>
              <p:cNvGrpSpPr>
                <a:grpSpLocks/>
              </p:cNvGrpSpPr>
              <p:nvPr/>
            </p:nvGrpSpPr>
            <p:grpSpPr bwMode="auto">
              <a:xfrm>
                <a:off x="2608" y="1842"/>
                <a:ext cx="88" cy="272"/>
                <a:chOff x="1689" y="1298"/>
                <a:chExt cx="88" cy="272"/>
              </a:xfrm>
            </p:grpSpPr>
            <p:sp>
              <p:nvSpPr>
                <p:cNvPr id="10328" name="Line 40"/>
                <p:cNvSpPr>
                  <a:spLocks noChangeShapeType="1"/>
                </p:cNvSpPr>
                <p:nvPr/>
              </p:nvSpPr>
              <p:spPr bwMode="auto">
                <a:xfrm>
                  <a:off x="1689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329" name="Line 41"/>
                <p:cNvSpPr>
                  <a:spLocks noChangeShapeType="1"/>
                </p:cNvSpPr>
                <p:nvPr/>
              </p:nvSpPr>
              <p:spPr bwMode="auto">
                <a:xfrm>
                  <a:off x="1777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330" name="Rectangle 42"/>
                <p:cNvSpPr>
                  <a:spLocks noChangeArrowheads="1"/>
                </p:cNvSpPr>
                <p:nvPr/>
              </p:nvSpPr>
              <p:spPr bwMode="auto">
                <a:xfrm>
                  <a:off x="1704" y="1298"/>
                  <a:ext cx="64" cy="2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310" name="Oval 44"/>
              <p:cNvSpPr>
                <a:spLocks noChangeArrowheads="1"/>
              </p:cNvSpPr>
              <p:nvPr/>
            </p:nvSpPr>
            <p:spPr bwMode="auto">
              <a:xfrm>
                <a:off x="3969" y="1253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1" name="Oval 45"/>
              <p:cNvSpPr>
                <a:spLocks noChangeArrowheads="1"/>
              </p:cNvSpPr>
              <p:nvPr/>
            </p:nvSpPr>
            <p:spPr bwMode="auto">
              <a:xfrm>
                <a:off x="4558" y="2341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2" name="Oval 47"/>
              <p:cNvSpPr>
                <a:spLocks noChangeArrowheads="1"/>
              </p:cNvSpPr>
              <p:nvPr/>
            </p:nvSpPr>
            <p:spPr bwMode="auto">
              <a:xfrm>
                <a:off x="2109" y="1933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3" name="Oval 48"/>
              <p:cNvSpPr>
                <a:spLocks noChangeArrowheads="1"/>
              </p:cNvSpPr>
              <p:nvPr/>
            </p:nvSpPr>
            <p:spPr bwMode="auto">
              <a:xfrm>
                <a:off x="2109" y="2976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4" name="Text Box 49"/>
              <p:cNvSpPr txBox="1">
                <a:spLocks noChangeArrowheads="1"/>
              </p:cNvSpPr>
              <p:nvPr/>
            </p:nvSpPr>
            <p:spPr bwMode="auto">
              <a:xfrm>
                <a:off x="3379" y="1797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D</a:t>
                </a:r>
                <a:endParaRPr lang="en-US" sz="1400"/>
              </a:p>
            </p:txBody>
          </p:sp>
          <p:sp>
            <p:nvSpPr>
              <p:cNvPr id="10315" name="Text Box 50"/>
              <p:cNvSpPr txBox="1">
                <a:spLocks noChangeArrowheads="1"/>
              </p:cNvSpPr>
              <p:nvPr/>
            </p:nvSpPr>
            <p:spPr bwMode="auto">
              <a:xfrm>
                <a:off x="3198" y="1933"/>
                <a:ext cx="19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G</a:t>
                </a:r>
                <a:endParaRPr lang="en-US" sz="1400"/>
              </a:p>
            </p:txBody>
          </p:sp>
          <p:sp>
            <p:nvSpPr>
              <p:cNvPr id="10316" name="Text Box 51"/>
              <p:cNvSpPr txBox="1">
                <a:spLocks noChangeArrowheads="1"/>
              </p:cNvSpPr>
              <p:nvPr/>
            </p:nvSpPr>
            <p:spPr bwMode="auto">
              <a:xfrm>
                <a:off x="3379" y="2341"/>
                <a:ext cx="17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S</a:t>
                </a:r>
                <a:endParaRPr lang="en-US" sz="1400"/>
              </a:p>
            </p:txBody>
          </p:sp>
          <p:sp>
            <p:nvSpPr>
              <p:cNvPr id="10317" name="Rectangle 52"/>
              <p:cNvSpPr>
                <a:spLocks noChangeArrowheads="1"/>
              </p:cNvSpPr>
              <p:nvPr/>
            </p:nvSpPr>
            <p:spPr bwMode="auto">
              <a:xfrm>
                <a:off x="3515" y="2568"/>
                <a:ext cx="91" cy="289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8" name="Text Box 53"/>
              <p:cNvSpPr txBox="1">
                <a:spLocks noChangeArrowheads="1"/>
              </p:cNvSpPr>
              <p:nvPr/>
            </p:nvSpPr>
            <p:spPr bwMode="auto">
              <a:xfrm>
                <a:off x="1655" y="1888"/>
                <a:ext cx="4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input</a:t>
                </a:r>
                <a:endParaRPr lang="en-US" sz="1400"/>
              </a:p>
            </p:txBody>
          </p:sp>
          <p:sp>
            <p:nvSpPr>
              <p:cNvPr id="10319" name="Text Box 55"/>
              <p:cNvSpPr txBox="1">
                <a:spLocks noChangeArrowheads="1"/>
              </p:cNvSpPr>
              <p:nvPr/>
            </p:nvSpPr>
            <p:spPr bwMode="auto">
              <a:xfrm>
                <a:off x="4150" y="1253"/>
                <a:ext cx="2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V</a:t>
                </a:r>
                <a:r>
                  <a:rPr lang="en-GB" sz="1400" baseline="-25000"/>
                  <a:t>CC</a:t>
                </a:r>
                <a:endParaRPr lang="en-US" sz="1400" baseline="-25000"/>
              </a:p>
            </p:txBody>
          </p:sp>
          <p:sp>
            <p:nvSpPr>
              <p:cNvPr id="10320" name="Text Box 56"/>
              <p:cNvSpPr txBox="1">
                <a:spLocks noChangeArrowheads="1"/>
              </p:cNvSpPr>
              <p:nvPr/>
            </p:nvSpPr>
            <p:spPr bwMode="auto">
              <a:xfrm>
                <a:off x="1837" y="2931"/>
                <a:ext cx="2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0V</a:t>
                </a:r>
                <a:endParaRPr lang="en-US" sz="1400" baseline="-25000"/>
              </a:p>
            </p:txBody>
          </p:sp>
          <p:sp>
            <p:nvSpPr>
              <p:cNvPr id="10321" name="Freeform 59"/>
              <p:cNvSpPr>
                <a:spLocks/>
              </p:cNvSpPr>
              <p:nvPr/>
            </p:nvSpPr>
            <p:spPr bwMode="auto">
              <a:xfrm>
                <a:off x="2072" y="1774"/>
                <a:ext cx="204" cy="91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22" name="Freeform 62"/>
              <p:cNvSpPr>
                <a:spLocks/>
              </p:cNvSpPr>
              <p:nvPr/>
            </p:nvSpPr>
            <p:spPr bwMode="auto">
              <a:xfrm>
                <a:off x="4842" y="2322"/>
                <a:ext cx="318" cy="454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23" name="Oval 63"/>
              <p:cNvSpPr>
                <a:spLocks noChangeArrowheads="1"/>
              </p:cNvSpPr>
              <p:nvPr/>
            </p:nvSpPr>
            <p:spPr bwMode="auto">
              <a:xfrm>
                <a:off x="4558" y="2976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4" name="Text Box 64"/>
              <p:cNvSpPr txBox="1">
                <a:spLocks noChangeArrowheads="1"/>
              </p:cNvSpPr>
              <p:nvPr/>
            </p:nvSpPr>
            <p:spPr bwMode="auto">
              <a:xfrm>
                <a:off x="4105" y="2659"/>
                <a:ext cx="38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LOAD</a:t>
                </a:r>
                <a:endParaRPr lang="en-US" sz="1400" baseline="-25000"/>
              </a:p>
            </p:txBody>
          </p:sp>
          <p:sp>
            <p:nvSpPr>
              <p:cNvPr id="10325" name="Text Box 65"/>
              <p:cNvSpPr txBox="1">
                <a:spLocks noChangeArrowheads="1"/>
              </p:cNvSpPr>
              <p:nvPr/>
            </p:nvSpPr>
            <p:spPr bwMode="auto">
              <a:xfrm>
                <a:off x="2971" y="1616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1</a:t>
                </a:r>
                <a:endParaRPr lang="en-US" sz="1400" baseline="-25000"/>
              </a:p>
            </p:txBody>
          </p:sp>
          <p:sp>
            <p:nvSpPr>
              <p:cNvPr id="10326" name="Text Box 66"/>
              <p:cNvSpPr txBox="1">
                <a:spLocks noChangeArrowheads="1"/>
              </p:cNvSpPr>
              <p:nvPr/>
            </p:nvSpPr>
            <p:spPr bwMode="auto">
              <a:xfrm>
                <a:off x="2971" y="2432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2</a:t>
                </a:r>
                <a:endParaRPr lang="en-US" sz="1400" baseline="-25000"/>
              </a:p>
            </p:txBody>
          </p:sp>
          <p:sp>
            <p:nvSpPr>
              <p:cNvPr id="10327" name="Text Box 67"/>
              <p:cNvSpPr txBox="1">
                <a:spLocks noChangeArrowheads="1"/>
              </p:cNvSpPr>
              <p:nvPr/>
            </p:nvSpPr>
            <p:spPr bwMode="auto">
              <a:xfrm>
                <a:off x="3606" y="2659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3</a:t>
                </a:r>
                <a:endParaRPr lang="en-US" sz="1400" baseline="-25000"/>
              </a:p>
            </p:txBody>
          </p:sp>
        </p:grpSp>
        <p:sp>
          <p:nvSpPr>
            <p:cNvPr id="10295" name="Text Box 69"/>
            <p:cNvSpPr txBox="1">
              <a:spLocks noChangeArrowheads="1"/>
            </p:cNvSpPr>
            <p:nvPr/>
          </p:nvSpPr>
          <p:spPr bwMode="auto">
            <a:xfrm>
              <a:off x="1474" y="1117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C</a:t>
              </a:r>
              <a:r>
                <a:rPr lang="en-GB" baseline="-25000"/>
                <a:t>1</a:t>
              </a:r>
              <a:endParaRPr lang="en-US" baseline="-25000"/>
            </a:p>
          </p:txBody>
        </p:sp>
        <p:sp>
          <p:nvSpPr>
            <p:cNvPr id="10296" name="Text Box 70"/>
            <p:cNvSpPr txBox="1">
              <a:spLocks noChangeArrowheads="1"/>
            </p:cNvSpPr>
            <p:nvPr/>
          </p:nvSpPr>
          <p:spPr bwMode="auto">
            <a:xfrm>
              <a:off x="3061" y="1525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C</a:t>
              </a:r>
              <a:r>
                <a:rPr lang="en-GB" baseline="-25000"/>
                <a:t>2</a:t>
              </a:r>
              <a:endParaRPr lang="en-US" baseline="-25000"/>
            </a:p>
          </p:txBody>
        </p:sp>
      </p:grpSp>
      <p:grpSp>
        <p:nvGrpSpPr>
          <p:cNvPr id="10245" name="Group 38"/>
          <p:cNvGrpSpPr>
            <a:grpSpLocks/>
          </p:cNvGrpSpPr>
          <p:nvPr/>
        </p:nvGrpSpPr>
        <p:grpSpPr bwMode="auto">
          <a:xfrm flipH="1">
            <a:off x="379413" y="1050925"/>
            <a:ext cx="2376487" cy="4470400"/>
            <a:chOff x="542" y="572"/>
            <a:chExt cx="1910" cy="3451"/>
          </a:xfrm>
        </p:grpSpPr>
        <p:grpSp>
          <p:nvGrpSpPr>
            <p:cNvPr id="10264" name="Group 35"/>
            <p:cNvGrpSpPr>
              <a:grpSpLocks/>
            </p:cNvGrpSpPr>
            <p:nvPr/>
          </p:nvGrpSpPr>
          <p:grpSpPr bwMode="auto">
            <a:xfrm>
              <a:off x="975" y="572"/>
              <a:ext cx="1477" cy="3451"/>
              <a:chOff x="385" y="577"/>
              <a:chExt cx="1477" cy="3451"/>
            </a:xfrm>
          </p:grpSpPr>
          <p:sp>
            <p:nvSpPr>
              <p:cNvPr id="10267" name="Rectangle 5"/>
              <p:cNvSpPr>
                <a:spLocks noChangeArrowheads="1"/>
              </p:cNvSpPr>
              <p:nvPr/>
            </p:nvSpPr>
            <p:spPr bwMode="auto">
              <a:xfrm>
                <a:off x="927" y="1539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8" name="Rectangle 6"/>
              <p:cNvSpPr>
                <a:spLocks noChangeArrowheads="1"/>
              </p:cNvSpPr>
              <p:nvPr/>
            </p:nvSpPr>
            <p:spPr bwMode="auto">
              <a:xfrm>
                <a:off x="385" y="1540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9" name="Rectangle 7"/>
              <p:cNvSpPr>
                <a:spLocks noChangeArrowheads="1"/>
              </p:cNvSpPr>
              <p:nvPr/>
            </p:nvSpPr>
            <p:spPr bwMode="auto">
              <a:xfrm>
                <a:off x="385" y="1546"/>
                <a:ext cx="364" cy="1493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70" name="Rectangle 8"/>
              <p:cNvSpPr>
                <a:spLocks noChangeArrowheads="1"/>
              </p:cNvSpPr>
              <p:nvPr/>
            </p:nvSpPr>
            <p:spPr bwMode="auto">
              <a:xfrm>
                <a:off x="385" y="1556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71" name="Rectangle 9"/>
              <p:cNvSpPr>
                <a:spLocks noChangeArrowheads="1"/>
              </p:cNvSpPr>
              <p:nvPr/>
            </p:nvSpPr>
            <p:spPr bwMode="auto">
              <a:xfrm>
                <a:off x="393" y="2821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72" name="Rectangle 10"/>
              <p:cNvSpPr>
                <a:spLocks noChangeArrowheads="1"/>
              </p:cNvSpPr>
              <p:nvPr/>
            </p:nvSpPr>
            <p:spPr bwMode="auto">
              <a:xfrm>
                <a:off x="393" y="2169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73" name="Rectangle 11"/>
              <p:cNvSpPr>
                <a:spLocks noChangeArrowheads="1"/>
              </p:cNvSpPr>
              <p:nvPr/>
            </p:nvSpPr>
            <p:spPr bwMode="auto">
              <a:xfrm>
                <a:off x="934" y="2721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74" name="Rectangle 12"/>
              <p:cNvSpPr>
                <a:spLocks noChangeArrowheads="1"/>
              </p:cNvSpPr>
              <p:nvPr/>
            </p:nvSpPr>
            <p:spPr bwMode="auto">
              <a:xfrm>
                <a:off x="934" y="2089"/>
                <a:ext cx="198" cy="382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75" name="Line 13"/>
              <p:cNvSpPr>
                <a:spLocks noChangeShapeType="1"/>
              </p:cNvSpPr>
              <p:nvPr/>
            </p:nvSpPr>
            <p:spPr bwMode="auto">
              <a:xfrm>
                <a:off x="931" y="2054"/>
                <a:ext cx="235" cy="0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76" name="Oval 14"/>
              <p:cNvSpPr>
                <a:spLocks noChangeArrowheads="1"/>
              </p:cNvSpPr>
              <p:nvPr/>
            </p:nvSpPr>
            <p:spPr bwMode="auto">
              <a:xfrm>
                <a:off x="91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77" name="Oval 15"/>
              <p:cNvSpPr>
                <a:spLocks noChangeArrowheads="1"/>
              </p:cNvSpPr>
              <p:nvPr/>
            </p:nvSpPr>
            <p:spPr bwMode="auto">
              <a:xfrm>
                <a:off x="969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78" name="Oval 16"/>
              <p:cNvSpPr>
                <a:spLocks noChangeArrowheads="1"/>
              </p:cNvSpPr>
              <p:nvPr/>
            </p:nvSpPr>
            <p:spPr bwMode="auto">
              <a:xfrm>
                <a:off x="1031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79" name="Oval 17"/>
              <p:cNvSpPr>
                <a:spLocks noChangeArrowheads="1"/>
              </p:cNvSpPr>
              <p:nvPr/>
            </p:nvSpPr>
            <p:spPr bwMode="auto">
              <a:xfrm>
                <a:off x="109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80" name="Line 18"/>
              <p:cNvSpPr>
                <a:spLocks noChangeShapeType="1"/>
              </p:cNvSpPr>
              <p:nvPr/>
            </p:nvSpPr>
            <p:spPr bwMode="auto">
              <a:xfrm>
                <a:off x="936" y="2500"/>
                <a:ext cx="230" cy="6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1" name="Oval 19"/>
              <p:cNvSpPr>
                <a:spLocks noChangeArrowheads="1"/>
              </p:cNvSpPr>
              <p:nvPr/>
            </p:nvSpPr>
            <p:spPr bwMode="auto">
              <a:xfrm>
                <a:off x="91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82" name="Oval 20"/>
              <p:cNvSpPr>
                <a:spLocks noChangeArrowheads="1"/>
              </p:cNvSpPr>
              <p:nvPr/>
            </p:nvSpPr>
            <p:spPr bwMode="auto">
              <a:xfrm>
                <a:off x="974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83" name="Oval 21"/>
              <p:cNvSpPr>
                <a:spLocks noChangeArrowheads="1"/>
              </p:cNvSpPr>
              <p:nvPr/>
            </p:nvSpPr>
            <p:spPr bwMode="auto">
              <a:xfrm>
                <a:off x="1036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84" name="Oval 22"/>
              <p:cNvSpPr>
                <a:spLocks noChangeArrowheads="1"/>
              </p:cNvSpPr>
              <p:nvPr/>
            </p:nvSpPr>
            <p:spPr bwMode="auto">
              <a:xfrm>
                <a:off x="109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85" name="Rectangle 23"/>
              <p:cNvSpPr>
                <a:spLocks noChangeArrowheads="1"/>
              </p:cNvSpPr>
              <p:nvPr/>
            </p:nvSpPr>
            <p:spPr bwMode="auto">
              <a:xfrm rot="-3169744">
                <a:off x="674" y="1188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86" name="Rectangle 24"/>
              <p:cNvSpPr>
                <a:spLocks noChangeArrowheads="1"/>
              </p:cNvSpPr>
              <p:nvPr/>
            </p:nvSpPr>
            <p:spPr bwMode="auto">
              <a:xfrm rot="3169744" flipV="1">
                <a:off x="674" y="3312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87" name="Rectangle 25"/>
              <p:cNvSpPr>
                <a:spLocks noChangeArrowheads="1"/>
              </p:cNvSpPr>
              <p:nvPr/>
            </p:nvSpPr>
            <p:spPr bwMode="auto">
              <a:xfrm>
                <a:off x="1689" y="684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88" name="Rectangle 26"/>
              <p:cNvSpPr>
                <a:spLocks noChangeArrowheads="1"/>
              </p:cNvSpPr>
              <p:nvPr/>
            </p:nvSpPr>
            <p:spPr bwMode="auto">
              <a:xfrm>
                <a:off x="1690" y="3695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89" name="Line 27"/>
              <p:cNvSpPr>
                <a:spLocks noChangeShapeType="1"/>
              </p:cNvSpPr>
              <p:nvPr/>
            </p:nvSpPr>
            <p:spPr bwMode="auto">
              <a:xfrm flipV="1">
                <a:off x="1167" y="1076"/>
                <a:ext cx="663" cy="972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90" name="Line 28"/>
              <p:cNvSpPr>
                <a:spLocks noChangeShapeType="1"/>
              </p:cNvSpPr>
              <p:nvPr/>
            </p:nvSpPr>
            <p:spPr bwMode="auto">
              <a:xfrm>
                <a:off x="1154" y="2500"/>
                <a:ext cx="688" cy="997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91" name="Freeform 29"/>
              <p:cNvSpPr>
                <a:spLocks/>
              </p:cNvSpPr>
              <p:nvPr/>
            </p:nvSpPr>
            <p:spPr bwMode="auto">
              <a:xfrm>
                <a:off x="1791" y="908"/>
                <a:ext cx="71" cy="174"/>
              </a:xfrm>
              <a:custGeom>
                <a:avLst/>
                <a:gdLst>
                  <a:gd name="T0" fmla="*/ 1 w 102"/>
                  <a:gd name="T1" fmla="*/ 0 h 310"/>
                  <a:gd name="T2" fmla="*/ 1 w 102"/>
                  <a:gd name="T3" fmla="*/ 1 h 310"/>
                  <a:gd name="T4" fmla="*/ 1 w 102"/>
                  <a:gd name="T5" fmla="*/ 1 h 310"/>
                  <a:gd name="T6" fmla="*/ 1 w 102"/>
                  <a:gd name="T7" fmla="*/ 1 h 310"/>
                  <a:gd name="T8" fmla="*/ 1 w 102"/>
                  <a:gd name="T9" fmla="*/ 1 h 310"/>
                  <a:gd name="T10" fmla="*/ 1 w 102"/>
                  <a:gd name="T11" fmla="*/ 1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92" name="Freeform 30"/>
              <p:cNvSpPr>
                <a:spLocks/>
              </p:cNvSpPr>
              <p:nvPr/>
            </p:nvSpPr>
            <p:spPr bwMode="auto">
              <a:xfrm flipV="1">
                <a:off x="1785" y="3478"/>
                <a:ext cx="71" cy="205"/>
              </a:xfrm>
              <a:custGeom>
                <a:avLst/>
                <a:gdLst>
                  <a:gd name="T0" fmla="*/ 1 w 102"/>
                  <a:gd name="T1" fmla="*/ 0 h 310"/>
                  <a:gd name="T2" fmla="*/ 1 w 102"/>
                  <a:gd name="T3" fmla="*/ 1 h 310"/>
                  <a:gd name="T4" fmla="*/ 1 w 102"/>
                  <a:gd name="T5" fmla="*/ 2 h 310"/>
                  <a:gd name="T6" fmla="*/ 1 w 102"/>
                  <a:gd name="T7" fmla="*/ 2 h 310"/>
                  <a:gd name="T8" fmla="*/ 1 w 102"/>
                  <a:gd name="T9" fmla="*/ 3 h 310"/>
                  <a:gd name="T10" fmla="*/ 1 w 102"/>
                  <a:gd name="T11" fmla="*/ 3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93" name="Freeform 31"/>
              <p:cNvSpPr>
                <a:spLocks/>
              </p:cNvSpPr>
              <p:nvPr/>
            </p:nvSpPr>
            <p:spPr bwMode="auto">
              <a:xfrm>
                <a:off x="1154" y="2054"/>
                <a:ext cx="75" cy="434"/>
              </a:xfrm>
              <a:custGeom>
                <a:avLst/>
                <a:gdLst>
                  <a:gd name="T0" fmla="*/ 1 w 131"/>
                  <a:gd name="T1" fmla="*/ 0 h 434"/>
                  <a:gd name="T2" fmla="*/ 1 w 131"/>
                  <a:gd name="T3" fmla="*/ 236 h 434"/>
                  <a:gd name="T4" fmla="*/ 0 w 131"/>
                  <a:gd name="T5" fmla="*/ 434 h 434"/>
                  <a:gd name="T6" fmla="*/ 0 60000 65536"/>
                  <a:gd name="T7" fmla="*/ 0 60000 65536"/>
                  <a:gd name="T8" fmla="*/ 0 60000 65536"/>
                  <a:gd name="T9" fmla="*/ 0 w 131"/>
                  <a:gd name="T10" fmla="*/ 0 h 434"/>
                  <a:gd name="T11" fmla="*/ 131 w 131"/>
                  <a:gd name="T12" fmla="*/ 434 h 4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1" h="434">
                    <a:moveTo>
                      <a:pt x="7" y="0"/>
                    </a:moveTo>
                    <a:cubicBezTo>
                      <a:pt x="69" y="82"/>
                      <a:pt x="131" y="164"/>
                      <a:pt x="130" y="236"/>
                    </a:cubicBezTo>
                    <a:cubicBezTo>
                      <a:pt x="129" y="308"/>
                      <a:pt x="64" y="371"/>
                      <a:pt x="0" y="43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0265" name="Freeform 36"/>
            <p:cNvSpPr>
              <a:spLocks/>
            </p:cNvSpPr>
            <p:nvPr/>
          </p:nvSpPr>
          <p:spPr bwMode="auto">
            <a:xfrm>
              <a:off x="542" y="1961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6" name="Freeform 37"/>
            <p:cNvSpPr>
              <a:spLocks/>
            </p:cNvSpPr>
            <p:nvPr/>
          </p:nvSpPr>
          <p:spPr bwMode="auto">
            <a:xfrm>
              <a:off x="567" y="2478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246" name="Freeform 46"/>
          <p:cNvSpPr>
            <a:spLocks/>
          </p:cNvSpPr>
          <p:nvPr/>
        </p:nvSpPr>
        <p:spPr bwMode="auto">
          <a:xfrm>
            <a:off x="361950" y="3429000"/>
            <a:ext cx="469900" cy="215900"/>
          </a:xfrm>
          <a:custGeom>
            <a:avLst/>
            <a:gdLst>
              <a:gd name="T0" fmla="*/ 0 w 2449"/>
              <a:gd name="T1" fmla="*/ 2147483647 h 726"/>
              <a:gd name="T2" fmla="*/ 2147483647 w 2449"/>
              <a:gd name="T3" fmla="*/ 0 h 726"/>
              <a:gd name="T4" fmla="*/ 2147483647 w 2449"/>
              <a:gd name="T5" fmla="*/ 2147483647 h 726"/>
              <a:gd name="T6" fmla="*/ 2147483647 w 2449"/>
              <a:gd name="T7" fmla="*/ 2147483647 h 726"/>
              <a:gd name="T8" fmla="*/ 2147483647 w 2449"/>
              <a:gd name="T9" fmla="*/ 2147483647 h 726"/>
              <a:gd name="T10" fmla="*/ 2147483647 w 2449"/>
              <a:gd name="T11" fmla="*/ 0 h 726"/>
              <a:gd name="T12" fmla="*/ 2147483647 w 2449"/>
              <a:gd name="T13" fmla="*/ 2147483647 h 7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49"/>
              <a:gd name="T22" fmla="*/ 0 h 726"/>
              <a:gd name="T23" fmla="*/ 2449 w 2449"/>
              <a:gd name="T24" fmla="*/ 726 h 72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49" h="726">
                <a:moveTo>
                  <a:pt x="0" y="363"/>
                </a:moveTo>
                <a:cubicBezTo>
                  <a:pt x="136" y="181"/>
                  <a:pt x="272" y="0"/>
                  <a:pt x="408" y="0"/>
                </a:cubicBezTo>
                <a:cubicBezTo>
                  <a:pt x="544" y="0"/>
                  <a:pt x="680" y="242"/>
                  <a:pt x="816" y="363"/>
                </a:cubicBezTo>
                <a:cubicBezTo>
                  <a:pt x="952" y="484"/>
                  <a:pt x="1088" y="726"/>
                  <a:pt x="1224" y="726"/>
                </a:cubicBezTo>
                <a:cubicBezTo>
                  <a:pt x="1360" y="726"/>
                  <a:pt x="1497" y="484"/>
                  <a:pt x="1633" y="363"/>
                </a:cubicBezTo>
                <a:cubicBezTo>
                  <a:pt x="1769" y="242"/>
                  <a:pt x="1905" y="0"/>
                  <a:pt x="2041" y="0"/>
                </a:cubicBezTo>
                <a:cubicBezTo>
                  <a:pt x="2177" y="0"/>
                  <a:pt x="2313" y="181"/>
                  <a:pt x="2449" y="363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8" name="Freeform 87"/>
          <p:cNvSpPr/>
          <p:nvPr/>
        </p:nvSpPr>
        <p:spPr bwMode="auto">
          <a:xfrm>
            <a:off x="2728913" y="2341563"/>
            <a:ext cx="444500" cy="636587"/>
          </a:xfrm>
          <a:custGeom>
            <a:avLst/>
            <a:gdLst>
              <a:gd name="connsiteX0" fmla="*/ 0 w 443346"/>
              <a:gd name="connsiteY0" fmla="*/ 595746 h 636679"/>
              <a:gd name="connsiteX1" fmla="*/ 207818 w 443346"/>
              <a:gd name="connsiteY1" fmla="*/ 609600 h 636679"/>
              <a:gd name="connsiteX2" fmla="*/ 235528 w 443346"/>
              <a:gd name="connsiteY2" fmla="*/ 290946 h 636679"/>
              <a:gd name="connsiteX3" fmla="*/ 249382 w 443346"/>
              <a:gd name="connsiteY3" fmla="*/ 235527 h 636679"/>
              <a:gd name="connsiteX4" fmla="*/ 332509 w 443346"/>
              <a:gd name="connsiteY4" fmla="*/ 180109 h 636679"/>
              <a:gd name="connsiteX5" fmla="*/ 360218 w 443346"/>
              <a:gd name="connsiteY5" fmla="*/ 138546 h 636679"/>
              <a:gd name="connsiteX6" fmla="*/ 415637 w 443346"/>
              <a:gd name="connsiteY6" fmla="*/ 83127 h 636679"/>
              <a:gd name="connsiteX7" fmla="*/ 443346 w 443346"/>
              <a:gd name="connsiteY7" fmla="*/ 0 h 636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3346" h="636679">
                <a:moveTo>
                  <a:pt x="0" y="595746"/>
                </a:moveTo>
                <a:cubicBezTo>
                  <a:pt x="122801" y="636679"/>
                  <a:pt x="54098" y="626681"/>
                  <a:pt x="207818" y="609600"/>
                </a:cubicBezTo>
                <a:cubicBezTo>
                  <a:pt x="252966" y="474164"/>
                  <a:pt x="207981" y="621508"/>
                  <a:pt x="235528" y="290946"/>
                </a:cubicBezTo>
                <a:cubicBezTo>
                  <a:pt x="237109" y="271970"/>
                  <a:pt x="236843" y="249857"/>
                  <a:pt x="249382" y="235527"/>
                </a:cubicBezTo>
                <a:cubicBezTo>
                  <a:pt x="271311" y="210464"/>
                  <a:pt x="332509" y="180109"/>
                  <a:pt x="332509" y="180109"/>
                </a:cubicBezTo>
                <a:cubicBezTo>
                  <a:pt x="341745" y="166255"/>
                  <a:pt x="349382" y="151188"/>
                  <a:pt x="360218" y="138546"/>
                </a:cubicBezTo>
                <a:cubicBezTo>
                  <a:pt x="377220" y="118711"/>
                  <a:pt x="415637" y="83127"/>
                  <a:pt x="415637" y="83127"/>
                </a:cubicBezTo>
                <a:lnTo>
                  <a:pt x="443346" y="0"/>
                </a:lnTo>
              </a:path>
            </a:pathLst>
          </a:custGeom>
          <a:noFill/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" name="Freeform 88"/>
          <p:cNvSpPr/>
          <p:nvPr/>
        </p:nvSpPr>
        <p:spPr bwMode="auto">
          <a:xfrm>
            <a:off x="2716213" y="3511550"/>
            <a:ext cx="469900" cy="458788"/>
          </a:xfrm>
          <a:custGeom>
            <a:avLst/>
            <a:gdLst>
              <a:gd name="connsiteX0" fmla="*/ 0 w 471054"/>
              <a:gd name="connsiteY0" fmla="*/ 118821 h 458517"/>
              <a:gd name="connsiteX1" fmla="*/ 124691 w 471054"/>
              <a:gd name="connsiteY1" fmla="*/ 174239 h 458517"/>
              <a:gd name="connsiteX2" fmla="*/ 180109 w 471054"/>
              <a:gd name="connsiteY2" fmla="*/ 160385 h 458517"/>
              <a:gd name="connsiteX3" fmla="*/ 221672 w 471054"/>
              <a:gd name="connsiteY3" fmla="*/ 132675 h 458517"/>
              <a:gd name="connsiteX4" fmla="*/ 263236 w 471054"/>
              <a:gd name="connsiteY4" fmla="*/ 118821 h 458517"/>
              <a:gd name="connsiteX5" fmla="*/ 346363 w 471054"/>
              <a:gd name="connsiteY5" fmla="*/ 77257 h 458517"/>
              <a:gd name="connsiteX6" fmla="*/ 387927 w 471054"/>
              <a:gd name="connsiteY6" fmla="*/ 91112 h 458517"/>
              <a:gd name="connsiteX7" fmla="*/ 415636 w 471054"/>
              <a:gd name="connsiteY7" fmla="*/ 395912 h 458517"/>
              <a:gd name="connsiteX8" fmla="*/ 471054 w 471054"/>
              <a:gd name="connsiteY8" fmla="*/ 423621 h 45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1054" h="458517">
                <a:moveTo>
                  <a:pt x="0" y="118821"/>
                </a:moveTo>
                <a:cubicBezTo>
                  <a:pt x="98924" y="151796"/>
                  <a:pt x="58825" y="130329"/>
                  <a:pt x="124691" y="174239"/>
                </a:cubicBezTo>
                <a:cubicBezTo>
                  <a:pt x="143164" y="169621"/>
                  <a:pt x="162607" y="167886"/>
                  <a:pt x="180109" y="160385"/>
                </a:cubicBezTo>
                <a:cubicBezTo>
                  <a:pt x="195414" y="153826"/>
                  <a:pt x="206779" y="140122"/>
                  <a:pt x="221672" y="132675"/>
                </a:cubicBezTo>
                <a:cubicBezTo>
                  <a:pt x="234734" y="126144"/>
                  <a:pt x="249381" y="123439"/>
                  <a:pt x="263236" y="118821"/>
                </a:cubicBezTo>
                <a:cubicBezTo>
                  <a:pt x="284249" y="104813"/>
                  <a:pt x="317685" y="77257"/>
                  <a:pt x="346363" y="77257"/>
                </a:cubicBezTo>
                <a:cubicBezTo>
                  <a:pt x="360967" y="77257"/>
                  <a:pt x="374072" y="86494"/>
                  <a:pt x="387927" y="91112"/>
                </a:cubicBezTo>
                <a:cubicBezTo>
                  <a:pt x="436112" y="235660"/>
                  <a:pt x="361649" y="0"/>
                  <a:pt x="415636" y="395912"/>
                </a:cubicBezTo>
                <a:cubicBezTo>
                  <a:pt x="424173" y="458517"/>
                  <a:pt x="443894" y="437200"/>
                  <a:pt x="471054" y="423621"/>
                </a:cubicBezTo>
              </a:path>
            </a:pathLst>
          </a:custGeom>
          <a:noFill/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10249" name="Straight Arrow Connector 89"/>
          <p:cNvCxnSpPr>
            <a:cxnSpLocks noChangeShapeType="1"/>
          </p:cNvCxnSpPr>
          <p:nvPr/>
        </p:nvCxnSpPr>
        <p:spPr bwMode="auto">
          <a:xfrm rot="16200000" flipV="1">
            <a:off x="2590800" y="3117850"/>
            <a:ext cx="1371600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0" name="Straight Arrow Connector 90"/>
          <p:cNvCxnSpPr>
            <a:cxnSpLocks noChangeShapeType="1"/>
          </p:cNvCxnSpPr>
          <p:nvPr/>
        </p:nvCxnSpPr>
        <p:spPr bwMode="auto">
          <a:xfrm rot="16200000" flipV="1">
            <a:off x="6850063" y="3414713"/>
            <a:ext cx="6794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2" name="Freeform 94"/>
          <p:cNvSpPr>
            <a:spLocks/>
          </p:cNvSpPr>
          <p:nvPr/>
        </p:nvSpPr>
        <p:spPr bwMode="auto">
          <a:xfrm>
            <a:off x="7135813" y="2312988"/>
            <a:ext cx="206375" cy="596900"/>
          </a:xfrm>
          <a:custGeom>
            <a:avLst/>
            <a:gdLst>
              <a:gd name="T0" fmla="*/ 0 w 207818"/>
              <a:gd name="T1" fmla="*/ 607386 h 595746"/>
              <a:gd name="T2" fmla="*/ 38764 w 207818"/>
              <a:gd name="T3" fmla="*/ 579135 h 595746"/>
              <a:gd name="T4" fmla="*/ 77533 w 207818"/>
              <a:gd name="T5" fmla="*/ 565012 h 595746"/>
              <a:gd name="T6" fmla="*/ 90456 w 207818"/>
              <a:gd name="T7" fmla="*/ 522634 h 595746"/>
              <a:gd name="T8" fmla="*/ 77533 w 207818"/>
              <a:gd name="T9" fmla="*/ 466133 h 595746"/>
              <a:gd name="T10" fmla="*/ 90456 w 207818"/>
              <a:gd name="T11" fmla="*/ 381382 h 595746"/>
              <a:gd name="T12" fmla="*/ 129219 w 207818"/>
              <a:gd name="T13" fmla="*/ 367257 h 595746"/>
              <a:gd name="T14" fmla="*/ 155065 w 207818"/>
              <a:gd name="T15" fmla="*/ 324881 h 595746"/>
              <a:gd name="T16" fmla="*/ 167986 w 207818"/>
              <a:gd name="T17" fmla="*/ 56501 h 595746"/>
              <a:gd name="T18" fmla="*/ 180908 w 207818"/>
              <a:gd name="T19" fmla="*/ 14125 h 595746"/>
              <a:gd name="T20" fmla="*/ 193831 w 207818"/>
              <a:gd name="T21" fmla="*/ 0 h 59574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07818"/>
              <a:gd name="T34" fmla="*/ 0 h 595746"/>
              <a:gd name="T35" fmla="*/ 207818 w 207818"/>
              <a:gd name="T36" fmla="*/ 595746 h 59574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07818" h="595746">
                <a:moveTo>
                  <a:pt x="0" y="595746"/>
                </a:moveTo>
                <a:cubicBezTo>
                  <a:pt x="13855" y="586509"/>
                  <a:pt x="26671" y="575483"/>
                  <a:pt x="41564" y="568036"/>
                </a:cubicBezTo>
                <a:cubicBezTo>
                  <a:pt x="54626" y="561505"/>
                  <a:pt x="72801" y="564508"/>
                  <a:pt x="83127" y="554182"/>
                </a:cubicBezTo>
                <a:cubicBezTo>
                  <a:pt x="93454" y="543855"/>
                  <a:pt x="92364" y="526473"/>
                  <a:pt x="96982" y="512618"/>
                </a:cubicBezTo>
                <a:cubicBezTo>
                  <a:pt x="92364" y="494145"/>
                  <a:pt x="88358" y="475509"/>
                  <a:pt x="83127" y="457200"/>
                </a:cubicBezTo>
                <a:cubicBezTo>
                  <a:pt x="71343" y="415956"/>
                  <a:pt x="52809" y="409412"/>
                  <a:pt x="96982" y="374073"/>
                </a:cubicBezTo>
                <a:cubicBezTo>
                  <a:pt x="108386" y="364950"/>
                  <a:pt x="124691" y="364836"/>
                  <a:pt x="138545" y="360218"/>
                </a:cubicBezTo>
                <a:cubicBezTo>
                  <a:pt x="147781" y="346364"/>
                  <a:pt x="164004" y="335153"/>
                  <a:pt x="166254" y="318655"/>
                </a:cubicBezTo>
                <a:cubicBezTo>
                  <a:pt x="178126" y="231594"/>
                  <a:pt x="172154" y="142924"/>
                  <a:pt x="180109" y="55418"/>
                </a:cubicBezTo>
                <a:cubicBezTo>
                  <a:pt x="181431" y="40874"/>
                  <a:pt x="187433" y="26917"/>
                  <a:pt x="193964" y="13855"/>
                </a:cubicBezTo>
                <a:cubicBezTo>
                  <a:pt x="196885" y="8013"/>
                  <a:pt x="203200" y="4618"/>
                  <a:pt x="207818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3" name="Freeform 95"/>
          <p:cNvSpPr>
            <a:spLocks/>
          </p:cNvSpPr>
          <p:nvPr/>
        </p:nvSpPr>
        <p:spPr bwMode="auto">
          <a:xfrm>
            <a:off x="7080250" y="3944938"/>
            <a:ext cx="298450" cy="128587"/>
          </a:xfrm>
          <a:custGeom>
            <a:avLst/>
            <a:gdLst>
              <a:gd name="T0" fmla="*/ 0 w 299204"/>
              <a:gd name="T1" fmla="*/ 60440 h 128396"/>
              <a:gd name="T2" fmla="*/ 40528 w 299204"/>
              <a:gd name="T3" fmla="*/ 102624 h 128396"/>
              <a:gd name="T4" fmla="*/ 162109 w 299204"/>
              <a:gd name="T5" fmla="*/ 102624 h 128396"/>
              <a:gd name="T6" fmla="*/ 229657 w 299204"/>
              <a:gd name="T7" fmla="*/ 32316 h 128396"/>
              <a:gd name="T8" fmla="*/ 283696 w 299204"/>
              <a:gd name="T9" fmla="*/ 4188 h 1283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9204"/>
              <a:gd name="T16" fmla="*/ 0 h 128396"/>
              <a:gd name="T17" fmla="*/ 299204 w 299204"/>
              <a:gd name="T18" fmla="*/ 128396 h 1283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9204" h="128396">
                <a:moveTo>
                  <a:pt x="0" y="59547"/>
                </a:moveTo>
                <a:cubicBezTo>
                  <a:pt x="13854" y="73401"/>
                  <a:pt x="25261" y="90242"/>
                  <a:pt x="41563" y="101110"/>
                </a:cubicBezTo>
                <a:cubicBezTo>
                  <a:pt x="82492" y="128396"/>
                  <a:pt x="121204" y="108619"/>
                  <a:pt x="166254" y="101110"/>
                </a:cubicBezTo>
                <a:cubicBezTo>
                  <a:pt x="193964" y="59546"/>
                  <a:pt x="189345" y="54929"/>
                  <a:pt x="235527" y="31838"/>
                </a:cubicBezTo>
                <a:cubicBezTo>
                  <a:pt x="299204" y="0"/>
                  <a:pt x="259647" y="35429"/>
                  <a:pt x="290945" y="412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4" name="Rectangle 103"/>
          <p:cNvSpPr/>
          <p:nvPr/>
        </p:nvSpPr>
        <p:spPr bwMode="auto">
          <a:xfrm>
            <a:off x="3186113" y="858838"/>
            <a:ext cx="3906837" cy="4530725"/>
          </a:xfrm>
          <a:prstGeom prst="rect">
            <a:avLst/>
          </a:prstGeom>
          <a:solidFill>
            <a:schemeClr val="accent1">
              <a:lumMod val="20000"/>
              <a:lumOff val="80000"/>
              <a:alpha val="54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" name="Rectangle 115"/>
          <p:cNvSpPr/>
          <p:nvPr/>
        </p:nvSpPr>
        <p:spPr bwMode="auto">
          <a:xfrm>
            <a:off x="7370763" y="858838"/>
            <a:ext cx="1773237" cy="4530725"/>
          </a:xfrm>
          <a:prstGeom prst="rect">
            <a:avLst/>
          </a:prstGeom>
          <a:solidFill>
            <a:schemeClr val="accent1">
              <a:lumMod val="20000"/>
              <a:lumOff val="80000"/>
              <a:alpha val="54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56" name="TextBox 116"/>
          <p:cNvSpPr txBox="1">
            <a:spLocks noChangeArrowheads="1"/>
          </p:cNvSpPr>
          <p:nvPr/>
        </p:nvSpPr>
        <p:spPr bwMode="auto">
          <a:xfrm>
            <a:off x="893763" y="5586413"/>
            <a:ext cx="40925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Shielded cases for circuits; case is electrically connected to the reference point of the circuit (usually 0V)</a:t>
            </a:r>
            <a:endParaRPr lang="en-US"/>
          </a:p>
        </p:txBody>
      </p:sp>
      <p:sp>
        <p:nvSpPr>
          <p:cNvPr id="97" name="Rectangle 96"/>
          <p:cNvSpPr/>
          <p:nvPr/>
        </p:nvSpPr>
        <p:spPr>
          <a:xfrm rot="10800000" flipV="1">
            <a:off x="5675313" y="5935663"/>
            <a:ext cx="514350" cy="33813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0V </a:t>
            </a:r>
            <a:endParaRPr lang="en-GB" dirty="0"/>
          </a:p>
        </p:txBody>
      </p:sp>
      <p:sp>
        <p:nvSpPr>
          <p:cNvPr id="10258" name="Lightning Bolt 95"/>
          <p:cNvSpPr>
            <a:spLocks noChangeArrowheads="1"/>
          </p:cNvSpPr>
          <p:nvPr/>
        </p:nvSpPr>
        <p:spPr bwMode="auto">
          <a:xfrm rot="-9585467">
            <a:off x="2611438" y="4716463"/>
            <a:ext cx="392112" cy="573087"/>
          </a:xfrm>
          <a:prstGeom prst="lightningBol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10259" name="Straight Connector 97"/>
          <p:cNvCxnSpPr>
            <a:cxnSpLocks noChangeShapeType="1"/>
          </p:cNvCxnSpPr>
          <p:nvPr/>
        </p:nvCxnSpPr>
        <p:spPr bwMode="auto">
          <a:xfrm rot="16200000" flipV="1">
            <a:off x="2085975" y="4017963"/>
            <a:ext cx="1065213" cy="223837"/>
          </a:xfrm>
          <a:prstGeom prst="line">
            <a:avLst/>
          </a:prstGeom>
          <a:noFill/>
          <a:ln w="9525" algn="ctr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60" name="Lightning Bolt 98"/>
          <p:cNvSpPr>
            <a:spLocks noChangeArrowheads="1"/>
          </p:cNvSpPr>
          <p:nvPr/>
        </p:nvSpPr>
        <p:spPr bwMode="auto">
          <a:xfrm rot="3122712">
            <a:off x="7127876" y="479425"/>
            <a:ext cx="392112" cy="573087"/>
          </a:xfrm>
          <a:prstGeom prst="lightningBol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10261" name="Straight Connector 99"/>
          <p:cNvCxnSpPr>
            <a:cxnSpLocks noChangeShapeType="1"/>
          </p:cNvCxnSpPr>
          <p:nvPr/>
        </p:nvCxnSpPr>
        <p:spPr bwMode="auto">
          <a:xfrm rot="10800000" flipH="1">
            <a:off x="7202488" y="1136650"/>
            <a:ext cx="23812" cy="1503363"/>
          </a:xfrm>
          <a:prstGeom prst="line">
            <a:avLst/>
          </a:prstGeom>
          <a:noFill/>
          <a:ln w="9525" algn="ctr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676453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/>
          <p:cNvGrpSpPr/>
          <p:nvPr/>
        </p:nvGrpSpPr>
        <p:grpSpPr>
          <a:xfrm>
            <a:off x="5029200" y="3876674"/>
            <a:ext cx="769938" cy="2436814"/>
            <a:chOff x="5029200" y="3876674"/>
            <a:chExt cx="769938" cy="2436814"/>
          </a:xfrm>
        </p:grpSpPr>
        <p:cxnSp>
          <p:nvCxnSpPr>
            <p:cNvPr id="118" name="Straight Connector 117"/>
            <p:cNvCxnSpPr/>
            <p:nvPr/>
          </p:nvCxnSpPr>
          <p:spPr bwMode="auto">
            <a:xfrm>
              <a:off x="5114925" y="3933825"/>
              <a:ext cx="0" cy="180022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Straight Connector 118"/>
            <p:cNvCxnSpPr/>
            <p:nvPr/>
          </p:nvCxnSpPr>
          <p:spPr bwMode="auto">
            <a:xfrm>
              <a:off x="5114925" y="5705475"/>
              <a:ext cx="684213" cy="608013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0" name="Oval 119"/>
            <p:cNvSpPr/>
            <p:nvPr/>
          </p:nvSpPr>
          <p:spPr bwMode="auto">
            <a:xfrm>
              <a:off x="5029200" y="3876674"/>
              <a:ext cx="152400" cy="161925"/>
            </a:xfrm>
            <a:prstGeom prst="ellipse">
              <a:avLst/>
            </a:prstGeom>
            <a:solidFill>
              <a:schemeClr val="tx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488" y="1158875"/>
            <a:ext cx="18859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5168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Circuits – Shielding Interconnects</a:t>
            </a:r>
          </a:p>
        </p:txBody>
      </p:sp>
      <p:grpSp>
        <p:nvGrpSpPr>
          <p:cNvPr id="11268" name="Group 73"/>
          <p:cNvGrpSpPr>
            <a:grpSpLocks/>
          </p:cNvGrpSpPr>
          <p:nvPr/>
        </p:nvGrpSpPr>
        <p:grpSpPr bwMode="auto">
          <a:xfrm>
            <a:off x="2392363" y="1147763"/>
            <a:ext cx="5564187" cy="2968625"/>
            <a:chOff x="657" y="754"/>
            <a:chExt cx="3505" cy="1870"/>
          </a:xfrm>
        </p:grpSpPr>
        <p:grpSp>
          <p:nvGrpSpPr>
            <p:cNvPr id="11333" name="Group 68"/>
            <p:cNvGrpSpPr>
              <a:grpSpLocks/>
            </p:cNvGrpSpPr>
            <p:nvPr/>
          </p:nvGrpSpPr>
          <p:grpSpPr bwMode="auto">
            <a:xfrm>
              <a:off x="657" y="754"/>
              <a:ext cx="3505" cy="1870"/>
              <a:chOff x="1655" y="1253"/>
              <a:chExt cx="3505" cy="1870"/>
            </a:xfrm>
          </p:grpSpPr>
          <p:sp>
            <p:nvSpPr>
              <p:cNvPr id="11336" name="Line 36"/>
              <p:cNvSpPr>
                <a:spLocks noChangeShapeType="1"/>
              </p:cNvSpPr>
              <p:nvPr/>
            </p:nvSpPr>
            <p:spPr bwMode="auto">
              <a:xfrm>
                <a:off x="2925" y="1298"/>
                <a:ext cx="0" cy="17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37" name="Line 31"/>
              <p:cNvSpPr>
                <a:spLocks noChangeShapeType="1"/>
              </p:cNvSpPr>
              <p:nvPr/>
            </p:nvSpPr>
            <p:spPr bwMode="auto">
              <a:xfrm flipV="1">
                <a:off x="4059" y="2387"/>
                <a:ext cx="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38" name="Line 30"/>
              <p:cNvSpPr>
                <a:spLocks noChangeShapeType="1"/>
              </p:cNvSpPr>
              <p:nvPr/>
            </p:nvSpPr>
            <p:spPr bwMode="auto">
              <a:xfrm>
                <a:off x="3560" y="2387"/>
                <a:ext cx="10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1339" name="Group 11"/>
              <p:cNvGrpSpPr>
                <a:grpSpLocks/>
              </p:cNvGrpSpPr>
              <p:nvPr/>
            </p:nvGrpSpPr>
            <p:grpSpPr bwMode="auto">
              <a:xfrm>
                <a:off x="3052" y="1307"/>
                <a:ext cx="512" cy="1705"/>
                <a:chOff x="1465" y="1162"/>
                <a:chExt cx="589" cy="2223"/>
              </a:xfrm>
            </p:grpSpPr>
            <p:grpSp>
              <p:nvGrpSpPr>
                <p:cNvPr id="11373" name="Group 9"/>
                <p:cNvGrpSpPr>
                  <a:grpSpLocks/>
                </p:cNvGrpSpPr>
                <p:nvPr/>
              </p:nvGrpSpPr>
              <p:grpSpPr bwMode="auto">
                <a:xfrm>
                  <a:off x="1465" y="1162"/>
                  <a:ext cx="589" cy="2223"/>
                  <a:chOff x="3606" y="1344"/>
                  <a:chExt cx="589" cy="2223"/>
                </a:xfrm>
              </p:grpSpPr>
              <p:sp>
                <p:nvSpPr>
                  <p:cNvPr id="11375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296"/>
                    <a:ext cx="18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76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614"/>
                    <a:ext cx="18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77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206"/>
                    <a:ext cx="0" cy="49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78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4195" y="1344"/>
                    <a:ext cx="0" cy="95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79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4195" y="2614"/>
                    <a:ext cx="0" cy="95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80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606" y="2432"/>
                    <a:ext cx="40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1374" name="AutoShape 16"/>
                <p:cNvSpPr>
                  <a:spLocks noChangeArrowheads="1"/>
                </p:cNvSpPr>
                <p:nvPr/>
              </p:nvSpPr>
              <p:spPr bwMode="auto">
                <a:xfrm rot="5400000">
                  <a:off x="1759" y="2200"/>
                  <a:ext cx="116" cy="9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340" name="Rectangle 23"/>
              <p:cNvSpPr>
                <a:spLocks noChangeArrowheads="1"/>
              </p:cNvSpPr>
              <p:nvPr/>
            </p:nvSpPr>
            <p:spPr bwMode="auto">
              <a:xfrm>
                <a:off x="4014" y="2568"/>
                <a:ext cx="91" cy="318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41" name="Line 24"/>
              <p:cNvSpPr>
                <a:spLocks noChangeShapeType="1"/>
              </p:cNvSpPr>
              <p:nvPr/>
            </p:nvSpPr>
            <p:spPr bwMode="auto">
              <a:xfrm>
                <a:off x="2925" y="1298"/>
                <a:ext cx="10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42" name="Line 25"/>
              <p:cNvSpPr>
                <a:spLocks noChangeShapeType="1"/>
              </p:cNvSpPr>
              <p:nvPr/>
            </p:nvSpPr>
            <p:spPr bwMode="auto">
              <a:xfrm>
                <a:off x="2154" y="3022"/>
                <a:ext cx="24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1343" name="Group 26"/>
              <p:cNvGrpSpPr>
                <a:grpSpLocks/>
              </p:cNvGrpSpPr>
              <p:nvPr/>
            </p:nvGrpSpPr>
            <p:grpSpPr bwMode="auto">
              <a:xfrm>
                <a:off x="4195" y="2251"/>
                <a:ext cx="88" cy="272"/>
                <a:chOff x="1689" y="1298"/>
                <a:chExt cx="88" cy="272"/>
              </a:xfrm>
            </p:grpSpPr>
            <p:sp>
              <p:nvSpPr>
                <p:cNvPr id="11370" name="Line 27"/>
                <p:cNvSpPr>
                  <a:spLocks noChangeShapeType="1"/>
                </p:cNvSpPr>
                <p:nvPr/>
              </p:nvSpPr>
              <p:spPr bwMode="auto">
                <a:xfrm>
                  <a:off x="1689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71" name="Line 28"/>
                <p:cNvSpPr>
                  <a:spLocks noChangeShapeType="1"/>
                </p:cNvSpPr>
                <p:nvPr/>
              </p:nvSpPr>
              <p:spPr bwMode="auto">
                <a:xfrm>
                  <a:off x="1777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72" name="Rectangle 29"/>
                <p:cNvSpPr>
                  <a:spLocks noChangeArrowheads="1"/>
                </p:cNvSpPr>
                <p:nvPr/>
              </p:nvSpPr>
              <p:spPr bwMode="auto">
                <a:xfrm>
                  <a:off x="1704" y="1298"/>
                  <a:ext cx="64" cy="2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344" name="Rectangle 32"/>
              <p:cNvSpPr>
                <a:spLocks noChangeArrowheads="1"/>
              </p:cNvSpPr>
              <p:nvPr/>
            </p:nvSpPr>
            <p:spPr bwMode="auto">
              <a:xfrm>
                <a:off x="2880" y="1570"/>
                <a:ext cx="91" cy="290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45" name="Rectangle 33"/>
              <p:cNvSpPr>
                <a:spLocks noChangeArrowheads="1"/>
              </p:cNvSpPr>
              <p:nvPr/>
            </p:nvSpPr>
            <p:spPr bwMode="auto">
              <a:xfrm>
                <a:off x="2880" y="2387"/>
                <a:ext cx="91" cy="289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46" name="Line 37"/>
              <p:cNvSpPr>
                <a:spLocks noChangeShapeType="1"/>
              </p:cNvSpPr>
              <p:nvPr/>
            </p:nvSpPr>
            <p:spPr bwMode="auto">
              <a:xfrm flipV="1">
                <a:off x="2917" y="2148"/>
                <a:ext cx="371" cy="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47" name="Line 38"/>
              <p:cNvSpPr>
                <a:spLocks noChangeShapeType="1"/>
              </p:cNvSpPr>
              <p:nvPr/>
            </p:nvSpPr>
            <p:spPr bwMode="auto">
              <a:xfrm>
                <a:off x="2154" y="1979"/>
                <a:ext cx="77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1348" name="Group 39"/>
              <p:cNvGrpSpPr>
                <a:grpSpLocks/>
              </p:cNvGrpSpPr>
              <p:nvPr/>
            </p:nvGrpSpPr>
            <p:grpSpPr bwMode="auto">
              <a:xfrm>
                <a:off x="2608" y="1842"/>
                <a:ext cx="88" cy="272"/>
                <a:chOff x="1689" y="1298"/>
                <a:chExt cx="88" cy="272"/>
              </a:xfrm>
            </p:grpSpPr>
            <p:sp>
              <p:nvSpPr>
                <p:cNvPr id="11367" name="Line 40"/>
                <p:cNvSpPr>
                  <a:spLocks noChangeShapeType="1"/>
                </p:cNvSpPr>
                <p:nvPr/>
              </p:nvSpPr>
              <p:spPr bwMode="auto">
                <a:xfrm>
                  <a:off x="1689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68" name="Line 41"/>
                <p:cNvSpPr>
                  <a:spLocks noChangeShapeType="1"/>
                </p:cNvSpPr>
                <p:nvPr/>
              </p:nvSpPr>
              <p:spPr bwMode="auto">
                <a:xfrm>
                  <a:off x="1777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69" name="Rectangle 42"/>
                <p:cNvSpPr>
                  <a:spLocks noChangeArrowheads="1"/>
                </p:cNvSpPr>
                <p:nvPr/>
              </p:nvSpPr>
              <p:spPr bwMode="auto">
                <a:xfrm>
                  <a:off x="1704" y="1298"/>
                  <a:ext cx="64" cy="2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349" name="Oval 44"/>
              <p:cNvSpPr>
                <a:spLocks noChangeArrowheads="1"/>
              </p:cNvSpPr>
              <p:nvPr/>
            </p:nvSpPr>
            <p:spPr bwMode="auto">
              <a:xfrm>
                <a:off x="3969" y="1253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50" name="Oval 45"/>
              <p:cNvSpPr>
                <a:spLocks noChangeArrowheads="1"/>
              </p:cNvSpPr>
              <p:nvPr/>
            </p:nvSpPr>
            <p:spPr bwMode="auto">
              <a:xfrm>
                <a:off x="4558" y="2341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51" name="Oval 47"/>
              <p:cNvSpPr>
                <a:spLocks noChangeArrowheads="1"/>
              </p:cNvSpPr>
              <p:nvPr/>
            </p:nvSpPr>
            <p:spPr bwMode="auto">
              <a:xfrm>
                <a:off x="2109" y="1933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52" name="Oval 48"/>
              <p:cNvSpPr>
                <a:spLocks noChangeArrowheads="1"/>
              </p:cNvSpPr>
              <p:nvPr/>
            </p:nvSpPr>
            <p:spPr bwMode="auto">
              <a:xfrm>
                <a:off x="2109" y="2976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53" name="Text Box 49"/>
              <p:cNvSpPr txBox="1">
                <a:spLocks noChangeArrowheads="1"/>
              </p:cNvSpPr>
              <p:nvPr/>
            </p:nvSpPr>
            <p:spPr bwMode="auto">
              <a:xfrm>
                <a:off x="3379" y="1797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D</a:t>
                </a:r>
                <a:endParaRPr lang="en-US" sz="1400"/>
              </a:p>
            </p:txBody>
          </p:sp>
          <p:sp>
            <p:nvSpPr>
              <p:cNvPr id="11354" name="Text Box 50"/>
              <p:cNvSpPr txBox="1">
                <a:spLocks noChangeArrowheads="1"/>
              </p:cNvSpPr>
              <p:nvPr/>
            </p:nvSpPr>
            <p:spPr bwMode="auto">
              <a:xfrm>
                <a:off x="3198" y="1933"/>
                <a:ext cx="19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G</a:t>
                </a:r>
                <a:endParaRPr lang="en-US" sz="1400"/>
              </a:p>
            </p:txBody>
          </p:sp>
          <p:sp>
            <p:nvSpPr>
              <p:cNvPr id="11355" name="Text Box 51"/>
              <p:cNvSpPr txBox="1">
                <a:spLocks noChangeArrowheads="1"/>
              </p:cNvSpPr>
              <p:nvPr/>
            </p:nvSpPr>
            <p:spPr bwMode="auto">
              <a:xfrm>
                <a:off x="3379" y="2341"/>
                <a:ext cx="17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S</a:t>
                </a:r>
                <a:endParaRPr lang="en-US" sz="1400"/>
              </a:p>
            </p:txBody>
          </p:sp>
          <p:sp>
            <p:nvSpPr>
              <p:cNvPr id="11356" name="Rectangle 52"/>
              <p:cNvSpPr>
                <a:spLocks noChangeArrowheads="1"/>
              </p:cNvSpPr>
              <p:nvPr/>
            </p:nvSpPr>
            <p:spPr bwMode="auto">
              <a:xfrm>
                <a:off x="3515" y="2568"/>
                <a:ext cx="91" cy="289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57" name="Text Box 53"/>
              <p:cNvSpPr txBox="1">
                <a:spLocks noChangeArrowheads="1"/>
              </p:cNvSpPr>
              <p:nvPr/>
            </p:nvSpPr>
            <p:spPr bwMode="auto">
              <a:xfrm>
                <a:off x="1655" y="1888"/>
                <a:ext cx="4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input</a:t>
                </a:r>
                <a:endParaRPr lang="en-US" sz="1400"/>
              </a:p>
            </p:txBody>
          </p:sp>
          <p:sp>
            <p:nvSpPr>
              <p:cNvPr id="11358" name="Text Box 55"/>
              <p:cNvSpPr txBox="1">
                <a:spLocks noChangeArrowheads="1"/>
              </p:cNvSpPr>
              <p:nvPr/>
            </p:nvSpPr>
            <p:spPr bwMode="auto">
              <a:xfrm>
                <a:off x="4150" y="1253"/>
                <a:ext cx="2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V</a:t>
                </a:r>
                <a:r>
                  <a:rPr lang="en-GB" sz="1400" baseline="-25000"/>
                  <a:t>CC</a:t>
                </a:r>
                <a:endParaRPr lang="en-US" sz="1400" baseline="-25000"/>
              </a:p>
            </p:txBody>
          </p:sp>
          <p:sp>
            <p:nvSpPr>
              <p:cNvPr id="11359" name="Text Box 56"/>
              <p:cNvSpPr txBox="1">
                <a:spLocks noChangeArrowheads="1"/>
              </p:cNvSpPr>
              <p:nvPr/>
            </p:nvSpPr>
            <p:spPr bwMode="auto">
              <a:xfrm>
                <a:off x="1837" y="2931"/>
                <a:ext cx="2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0V</a:t>
                </a:r>
                <a:endParaRPr lang="en-US" sz="1400" baseline="-25000"/>
              </a:p>
            </p:txBody>
          </p:sp>
          <p:sp>
            <p:nvSpPr>
              <p:cNvPr id="11360" name="Freeform 59"/>
              <p:cNvSpPr>
                <a:spLocks/>
              </p:cNvSpPr>
              <p:nvPr/>
            </p:nvSpPr>
            <p:spPr bwMode="auto">
              <a:xfrm>
                <a:off x="2072" y="1774"/>
                <a:ext cx="204" cy="91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1361" name="Freeform 62"/>
              <p:cNvSpPr>
                <a:spLocks/>
              </p:cNvSpPr>
              <p:nvPr/>
            </p:nvSpPr>
            <p:spPr bwMode="auto">
              <a:xfrm>
                <a:off x="4842" y="2322"/>
                <a:ext cx="318" cy="454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1362" name="Oval 63"/>
              <p:cNvSpPr>
                <a:spLocks noChangeArrowheads="1"/>
              </p:cNvSpPr>
              <p:nvPr/>
            </p:nvSpPr>
            <p:spPr bwMode="auto">
              <a:xfrm>
                <a:off x="4558" y="2976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63" name="Text Box 64"/>
              <p:cNvSpPr txBox="1">
                <a:spLocks noChangeArrowheads="1"/>
              </p:cNvSpPr>
              <p:nvPr/>
            </p:nvSpPr>
            <p:spPr bwMode="auto">
              <a:xfrm>
                <a:off x="4105" y="2659"/>
                <a:ext cx="38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LOAD</a:t>
                </a:r>
                <a:endParaRPr lang="en-US" sz="1400" baseline="-25000"/>
              </a:p>
            </p:txBody>
          </p:sp>
          <p:sp>
            <p:nvSpPr>
              <p:cNvPr id="11364" name="Text Box 65"/>
              <p:cNvSpPr txBox="1">
                <a:spLocks noChangeArrowheads="1"/>
              </p:cNvSpPr>
              <p:nvPr/>
            </p:nvSpPr>
            <p:spPr bwMode="auto">
              <a:xfrm>
                <a:off x="2971" y="1616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1</a:t>
                </a:r>
                <a:endParaRPr lang="en-US" sz="1400" baseline="-25000"/>
              </a:p>
            </p:txBody>
          </p:sp>
          <p:sp>
            <p:nvSpPr>
              <p:cNvPr id="11365" name="Text Box 66"/>
              <p:cNvSpPr txBox="1">
                <a:spLocks noChangeArrowheads="1"/>
              </p:cNvSpPr>
              <p:nvPr/>
            </p:nvSpPr>
            <p:spPr bwMode="auto">
              <a:xfrm>
                <a:off x="2971" y="2432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2</a:t>
                </a:r>
                <a:endParaRPr lang="en-US" sz="1400" baseline="-25000"/>
              </a:p>
            </p:txBody>
          </p:sp>
          <p:sp>
            <p:nvSpPr>
              <p:cNvPr id="11366" name="Text Box 67"/>
              <p:cNvSpPr txBox="1">
                <a:spLocks noChangeArrowheads="1"/>
              </p:cNvSpPr>
              <p:nvPr/>
            </p:nvSpPr>
            <p:spPr bwMode="auto">
              <a:xfrm>
                <a:off x="3606" y="2659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3</a:t>
                </a:r>
                <a:endParaRPr lang="en-US" sz="1400" baseline="-25000"/>
              </a:p>
            </p:txBody>
          </p:sp>
        </p:grpSp>
        <p:sp>
          <p:nvSpPr>
            <p:cNvPr id="11334" name="Text Box 69"/>
            <p:cNvSpPr txBox="1">
              <a:spLocks noChangeArrowheads="1"/>
            </p:cNvSpPr>
            <p:nvPr/>
          </p:nvSpPr>
          <p:spPr bwMode="auto">
            <a:xfrm>
              <a:off x="1474" y="1117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C</a:t>
              </a:r>
              <a:r>
                <a:rPr lang="en-GB" baseline="-25000"/>
                <a:t>1</a:t>
              </a:r>
              <a:endParaRPr lang="en-US" baseline="-25000"/>
            </a:p>
          </p:txBody>
        </p:sp>
        <p:sp>
          <p:nvSpPr>
            <p:cNvPr id="11335" name="Text Box 70"/>
            <p:cNvSpPr txBox="1">
              <a:spLocks noChangeArrowheads="1"/>
            </p:cNvSpPr>
            <p:nvPr/>
          </p:nvSpPr>
          <p:spPr bwMode="auto">
            <a:xfrm>
              <a:off x="3061" y="1525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C</a:t>
              </a:r>
              <a:r>
                <a:rPr lang="en-GB" baseline="-25000"/>
                <a:t>2</a:t>
              </a:r>
              <a:endParaRPr lang="en-US" baseline="-25000"/>
            </a:p>
          </p:txBody>
        </p:sp>
      </p:grpSp>
      <p:grpSp>
        <p:nvGrpSpPr>
          <p:cNvPr id="11269" name="Group 38"/>
          <p:cNvGrpSpPr>
            <a:grpSpLocks/>
          </p:cNvGrpSpPr>
          <p:nvPr/>
        </p:nvGrpSpPr>
        <p:grpSpPr bwMode="auto">
          <a:xfrm flipH="1">
            <a:off x="379413" y="1050925"/>
            <a:ext cx="2376487" cy="4470400"/>
            <a:chOff x="542" y="572"/>
            <a:chExt cx="1910" cy="3451"/>
          </a:xfrm>
        </p:grpSpPr>
        <p:grpSp>
          <p:nvGrpSpPr>
            <p:cNvPr id="11303" name="Group 35"/>
            <p:cNvGrpSpPr>
              <a:grpSpLocks/>
            </p:cNvGrpSpPr>
            <p:nvPr/>
          </p:nvGrpSpPr>
          <p:grpSpPr bwMode="auto">
            <a:xfrm>
              <a:off x="975" y="572"/>
              <a:ext cx="1477" cy="3451"/>
              <a:chOff x="385" y="577"/>
              <a:chExt cx="1477" cy="3451"/>
            </a:xfrm>
          </p:grpSpPr>
          <p:sp>
            <p:nvSpPr>
              <p:cNvPr id="11306" name="Rectangle 5"/>
              <p:cNvSpPr>
                <a:spLocks noChangeArrowheads="1"/>
              </p:cNvSpPr>
              <p:nvPr/>
            </p:nvSpPr>
            <p:spPr bwMode="auto">
              <a:xfrm>
                <a:off x="927" y="1539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7" name="Rectangle 6"/>
              <p:cNvSpPr>
                <a:spLocks noChangeArrowheads="1"/>
              </p:cNvSpPr>
              <p:nvPr/>
            </p:nvSpPr>
            <p:spPr bwMode="auto">
              <a:xfrm>
                <a:off x="385" y="1540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8" name="Rectangle 7"/>
              <p:cNvSpPr>
                <a:spLocks noChangeArrowheads="1"/>
              </p:cNvSpPr>
              <p:nvPr/>
            </p:nvSpPr>
            <p:spPr bwMode="auto">
              <a:xfrm>
                <a:off x="385" y="1546"/>
                <a:ext cx="364" cy="1493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9" name="Rectangle 8"/>
              <p:cNvSpPr>
                <a:spLocks noChangeArrowheads="1"/>
              </p:cNvSpPr>
              <p:nvPr/>
            </p:nvSpPr>
            <p:spPr bwMode="auto">
              <a:xfrm>
                <a:off x="385" y="1556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0" name="Rectangle 9"/>
              <p:cNvSpPr>
                <a:spLocks noChangeArrowheads="1"/>
              </p:cNvSpPr>
              <p:nvPr/>
            </p:nvSpPr>
            <p:spPr bwMode="auto">
              <a:xfrm>
                <a:off x="393" y="2821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1" name="Rectangle 10"/>
              <p:cNvSpPr>
                <a:spLocks noChangeArrowheads="1"/>
              </p:cNvSpPr>
              <p:nvPr/>
            </p:nvSpPr>
            <p:spPr bwMode="auto">
              <a:xfrm>
                <a:off x="393" y="2169"/>
                <a:ext cx="736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2" name="Rectangle 11"/>
              <p:cNvSpPr>
                <a:spLocks noChangeArrowheads="1"/>
              </p:cNvSpPr>
              <p:nvPr/>
            </p:nvSpPr>
            <p:spPr bwMode="auto">
              <a:xfrm>
                <a:off x="934" y="2721"/>
                <a:ext cx="198" cy="326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3" name="Rectangle 12"/>
              <p:cNvSpPr>
                <a:spLocks noChangeArrowheads="1"/>
              </p:cNvSpPr>
              <p:nvPr/>
            </p:nvSpPr>
            <p:spPr bwMode="auto">
              <a:xfrm>
                <a:off x="934" y="2089"/>
                <a:ext cx="198" cy="382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4" name="Line 13"/>
              <p:cNvSpPr>
                <a:spLocks noChangeShapeType="1"/>
              </p:cNvSpPr>
              <p:nvPr/>
            </p:nvSpPr>
            <p:spPr bwMode="auto">
              <a:xfrm>
                <a:off x="931" y="2054"/>
                <a:ext cx="235" cy="0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15" name="Oval 14"/>
              <p:cNvSpPr>
                <a:spLocks noChangeArrowheads="1"/>
              </p:cNvSpPr>
              <p:nvPr/>
            </p:nvSpPr>
            <p:spPr bwMode="auto">
              <a:xfrm>
                <a:off x="91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6" name="Oval 15"/>
              <p:cNvSpPr>
                <a:spLocks noChangeArrowheads="1"/>
              </p:cNvSpPr>
              <p:nvPr/>
            </p:nvSpPr>
            <p:spPr bwMode="auto">
              <a:xfrm>
                <a:off x="969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7" name="Oval 16"/>
              <p:cNvSpPr>
                <a:spLocks noChangeArrowheads="1"/>
              </p:cNvSpPr>
              <p:nvPr/>
            </p:nvSpPr>
            <p:spPr bwMode="auto">
              <a:xfrm>
                <a:off x="1031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8" name="Oval 17"/>
              <p:cNvSpPr>
                <a:spLocks noChangeArrowheads="1"/>
              </p:cNvSpPr>
              <p:nvPr/>
            </p:nvSpPr>
            <p:spPr bwMode="auto">
              <a:xfrm>
                <a:off x="1093" y="1980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9" name="Line 18"/>
              <p:cNvSpPr>
                <a:spLocks noChangeShapeType="1"/>
              </p:cNvSpPr>
              <p:nvPr/>
            </p:nvSpPr>
            <p:spPr bwMode="auto">
              <a:xfrm>
                <a:off x="936" y="2500"/>
                <a:ext cx="230" cy="6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20" name="Oval 19"/>
              <p:cNvSpPr>
                <a:spLocks noChangeArrowheads="1"/>
              </p:cNvSpPr>
              <p:nvPr/>
            </p:nvSpPr>
            <p:spPr bwMode="auto">
              <a:xfrm>
                <a:off x="91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1" name="Oval 20"/>
              <p:cNvSpPr>
                <a:spLocks noChangeArrowheads="1"/>
              </p:cNvSpPr>
              <p:nvPr/>
            </p:nvSpPr>
            <p:spPr bwMode="auto">
              <a:xfrm>
                <a:off x="974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2" name="Oval 21"/>
              <p:cNvSpPr>
                <a:spLocks noChangeArrowheads="1"/>
              </p:cNvSpPr>
              <p:nvPr/>
            </p:nvSpPr>
            <p:spPr bwMode="auto">
              <a:xfrm>
                <a:off x="1036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3" name="Oval 22"/>
              <p:cNvSpPr>
                <a:spLocks noChangeArrowheads="1"/>
              </p:cNvSpPr>
              <p:nvPr/>
            </p:nvSpPr>
            <p:spPr bwMode="auto">
              <a:xfrm>
                <a:off x="1098" y="2518"/>
                <a:ext cx="56" cy="56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4" name="Rectangle 23"/>
              <p:cNvSpPr>
                <a:spLocks noChangeArrowheads="1"/>
              </p:cNvSpPr>
              <p:nvPr/>
            </p:nvSpPr>
            <p:spPr bwMode="auto">
              <a:xfrm rot="-3169744">
                <a:off x="674" y="1188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5" name="Rectangle 24"/>
              <p:cNvSpPr>
                <a:spLocks noChangeArrowheads="1"/>
              </p:cNvSpPr>
              <p:nvPr/>
            </p:nvSpPr>
            <p:spPr bwMode="auto">
              <a:xfrm rot="3169744" flipV="1">
                <a:off x="674" y="3312"/>
                <a:ext cx="1327" cy="105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6" name="Rectangle 25"/>
              <p:cNvSpPr>
                <a:spLocks noChangeArrowheads="1"/>
              </p:cNvSpPr>
              <p:nvPr/>
            </p:nvSpPr>
            <p:spPr bwMode="auto">
              <a:xfrm>
                <a:off x="1689" y="684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7" name="Rectangle 26"/>
              <p:cNvSpPr>
                <a:spLocks noChangeArrowheads="1"/>
              </p:cNvSpPr>
              <p:nvPr/>
            </p:nvSpPr>
            <p:spPr bwMode="auto">
              <a:xfrm>
                <a:off x="1690" y="3695"/>
                <a:ext cx="155" cy="227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8" name="Line 27"/>
              <p:cNvSpPr>
                <a:spLocks noChangeShapeType="1"/>
              </p:cNvSpPr>
              <p:nvPr/>
            </p:nvSpPr>
            <p:spPr bwMode="auto">
              <a:xfrm flipV="1">
                <a:off x="1167" y="1076"/>
                <a:ext cx="663" cy="972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29" name="Line 28"/>
              <p:cNvSpPr>
                <a:spLocks noChangeShapeType="1"/>
              </p:cNvSpPr>
              <p:nvPr/>
            </p:nvSpPr>
            <p:spPr bwMode="auto">
              <a:xfrm>
                <a:off x="1154" y="2500"/>
                <a:ext cx="688" cy="997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30" name="Freeform 29"/>
              <p:cNvSpPr>
                <a:spLocks/>
              </p:cNvSpPr>
              <p:nvPr/>
            </p:nvSpPr>
            <p:spPr bwMode="auto">
              <a:xfrm>
                <a:off x="1791" y="908"/>
                <a:ext cx="71" cy="174"/>
              </a:xfrm>
              <a:custGeom>
                <a:avLst/>
                <a:gdLst>
                  <a:gd name="T0" fmla="*/ 1 w 102"/>
                  <a:gd name="T1" fmla="*/ 0 h 310"/>
                  <a:gd name="T2" fmla="*/ 1 w 102"/>
                  <a:gd name="T3" fmla="*/ 1 h 310"/>
                  <a:gd name="T4" fmla="*/ 1 w 102"/>
                  <a:gd name="T5" fmla="*/ 1 h 310"/>
                  <a:gd name="T6" fmla="*/ 1 w 102"/>
                  <a:gd name="T7" fmla="*/ 1 h 310"/>
                  <a:gd name="T8" fmla="*/ 1 w 102"/>
                  <a:gd name="T9" fmla="*/ 1 h 310"/>
                  <a:gd name="T10" fmla="*/ 1 w 102"/>
                  <a:gd name="T11" fmla="*/ 1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31" name="Freeform 30"/>
              <p:cNvSpPr>
                <a:spLocks/>
              </p:cNvSpPr>
              <p:nvPr/>
            </p:nvSpPr>
            <p:spPr bwMode="auto">
              <a:xfrm flipV="1">
                <a:off x="1785" y="3478"/>
                <a:ext cx="71" cy="205"/>
              </a:xfrm>
              <a:custGeom>
                <a:avLst/>
                <a:gdLst>
                  <a:gd name="T0" fmla="*/ 1 w 102"/>
                  <a:gd name="T1" fmla="*/ 0 h 310"/>
                  <a:gd name="T2" fmla="*/ 1 w 102"/>
                  <a:gd name="T3" fmla="*/ 1 h 310"/>
                  <a:gd name="T4" fmla="*/ 1 w 102"/>
                  <a:gd name="T5" fmla="*/ 1 h 310"/>
                  <a:gd name="T6" fmla="*/ 1 w 102"/>
                  <a:gd name="T7" fmla="*/ 1 h 310"/>
                  <a:gd name="T8" fmla="*/ 1 w 102"/>
                  <a:gd name="T9" fmla="*/ 2 h 310"/>
                  <a:gd name="T10" fmla="*/ 1 w 102"/>
                  <a:gd name="T11" fmla="*/ 2 h 3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2"/>
                  <a:gd name="T19" fmla="*/ 0 h 310"/>
                  <a:gd name="T20" fmla="*/ 102 w 102"/>
                  <a:gd name="T21" fmla="*/ 310 h 3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2" h="310">
                    <a:moveTo>
                      <a:pt x="38" y="0"/>
                    </a:moveTo>
                    <a:cubicBezTo>
                      <a:pt x="19" y="37"/>
                      <a:pt x="0" y="75"/>
                      <a:pt x="7" y="99"/>
                    </a:cubicBezTo>
                    <a:cubicBezTo>
                      <a:pt x="14" y="123"/>
                      <a:pt x="82" y="125"/>
                      <a:pt x="82" y="143"/>
                    </a:cubicBezTo>
                    <a:cubicBezTo>
                      <a:pt x="82" y="161"/>
                      <a:pt x="5" y="186"/>
                      <a:pt x="7" y="205"/>
                    </a:cubicBezTo>
                    <a:cubicBezTo>
                      <a:pt x="9" y="224"/>
                      <a:pt x="86" y="243"/>
                      <a:pt x="94" y="260"/>
                    </a:cubicBezTo>
                    <a:cubicBezTo>
                      <a:pt x="102" y="277"/>
                      <a:pt x="79" y="293"/>
                      <a:pt x="57" y="310"/>
                    </a:cubicBezTo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32" name="Freeform 31"/>
              <p:cNvSpPr>
                <a:spLocks/>
              </p:cNvSpPr>
              <p:nvPr/>
            </p:nvSpPr>
            <p:spPr bwMode="auto">
              <a:xfrm>
                <a:off x="1154" y="2054"/>
                <a:ext cx="75" cy="434"/>
              </a:xfrm>
              <a:custGeom>
                <a:avLst/>
                <a:gdLst>
                  <a:gd name="T0" fmla="*/ 1 w 131"/>
                  <a:gd name="T1" fmla="*/ 0 h 434"/>
                  <a:gd name="T2" fmla="*/ 1 w 131"/>
                  <a:gd name="T3" fmla="*/ 236 h 434"/>
                  <a:gd name="T4" fmla="*/ 0 w 131"/>
                  <a:gd name="T5" fmla="*/ 434 h 434"/>
                  <a:gd name="T6" fmla="*/ 0 60000 65536"/>
                  <a:gd name="T7" fmla="*/ 0 60000 65536"/>
                  <a:gd name="T8" fmla="*/ 0 60000 65536"/>
                  <a:gd name="T9" fmla="*/ 0 w 131"/>
                  <a:gd name="T10" fmla="*/ 0 h 434"/>
                  <a:gd name="T11" fmla="*/ 131 w 131"/>
                  <a:gd name="T12" fmla="*/ 434 h 4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1" h="434">
                    <a:moveTo>
                      <a:pt x="7" y="0"/>
                    </a:moveTo>
                    <a:cubicBezTo>
                      <a:pt x="69" y="82"/>
                      <a:pt x="131" y="164"/>
                      <a:pt x="130" y="236"/>
                    </a:cubicBezTo>
                    <a:cubicBezTo>
                      <a:pt x="129" y="308"/>
                      <a:pt x="64" y="371"/>
                      <a:pt x="0" y="43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1304" name="Freeform 36"/>
            <p:cNvSpPr>
              <a:spLocks/>
            </p:cNvSpPr>
            <p:nvPr/>
          </p:nvSpPr>
          <p:spPr bwMode="auto">
            <a:xfrm>
              <a:off x="542" y="1961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5" name="Freeform 37"/>
            <p:cNvSpPr>
              <a:spLocks/>
            </p:cNvSpPr>
            <p:nvPr/>
          </p:nvSpPr>
          <p:spPr bwMode="auto">
            <a:xfrm>
              <a:off x="567" y="2478"/>
              <a:ext cx="980" cy="82"/>
            </a:xfrm>
            <a:custGeom>
              <a:avLst/>
              <a:gdLst>
                <a:gd name="T0" fmla="*/ 0 w 980"/>
                <a:gd name="T1" fmla="*/ 76 h 82"/>
                <a:gd name="T2" fmla="*/ 96 w 980"/>
                <a:gd name="T3" fmla="*/ 34 h 82"/>
                <a:gd name="T4" fmla="*/ 219 w 980"/>
                <a:gd name="T5" fmla="*/ 0 h 82"/>
                <a:gd name="T6" fmla="*/ 795 w 980"/>
                <a:gd name="T7" fmla="*/ 62 h 82"/>
                <a:gd name="T8" fmla="*/ 980 w 980"/>
                <a:gd name="T9" fmla="*/ 34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0"/>
                <a:gd name="T16" fmla="*/ 0 h 82"/>
                <a:gd name="T17" fmla="*/ 980 w 98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0" h="82">
                  <a:moveTo>
                    <a:pt x="0" y="76"/>
                  </a:moveTo>
                  <a:cubicBezTo>
                    <a:pt x="36" y="67"/>
                    <a:pt x="64" y="50"/>
                    <a:pt x="96" y="34"/>
                  </a:cubicBezTo>
                  <a:cubicBezTo>
                    <a:pt x="133" y="16"/>
                    <a:pt x="178" y="7"/>
                    <a:pt x="219" y="0"/>
                  </a:cubicBezTo>
                  <a:cubicBezTo>
                    <a:pt x="433" y="8"/>
                    <a:pt x="569" y="82"/>
                    <a:pt x="795" y="62"/>
                  </a:cubicBezTo>
                  <a:cubicBezTo>
                    <a:pt x="843" y="64"/>
                    <a:pt x="980" y="34"/>
                    <a:pt x="980" y="3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270" name="Freeform 46"/>
          <p:cNvSpPr>
            <a:spLocks/>
          </p:cNvSpPr>
          <p:nvPr/>
        </p:nvSpPr>
        <p:spPr bwMode="auto">
          <a:xfrm>
            <a:off x="361950" y="3429000"/>
            <a:ext cx="469900" cy="215900"/>
          </a:xfrm>
          <a:custGeom>
            <a:avLst/>
            <a:gdLst>
              <a:gd name="T0" fmla="*/ 0 w 2449"/>
              <a:gd name="T1" fmla="*/ 2147483647 h 726"/>
              <a:gd name="T2" fmla="*/ 2147483647 w 2449"/>
              <a:gd name="T3" fmla="*/ 0 h 726"/>
              <a:gd name="T4" fmla="*/ 2147483647 w 2449"/>
              <a:gd name="T5" fmla="*/ 2147483647 h 726"/>
              <a:gd name="T6" fmla="*/ 2147483647 w 2449"/>
              <a:gd name="T7" fmla="*/ 2147483647 h 726"/>
              <a:gd name="T8" fmla="*/ 2147483647 w 2449"/>
              <a:gd name="T9" fmla="*/ 2147483647 h 726"/>
              <a:gd name="T10" fmla="*/ 2147483647 w 2449"/>
              <a:gd name="T11" fmla="*/ 0 h 726"/>
              <a:gd name="T12" fmla="*/ 2147483647 w 2449"/>
              <a:gd name="T13" fmla="*/ 2147483647 h 7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49"/>
              <a:gd name="T22" fmla="*/ 0 h 726"/>
              <a:gd name="T23" fmla="*/ 2449 w 2449"/>
              <a:gd name="T24" fmla="*/ 726 h 72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49" h="726">
                <a:moveTo>
                  <a:pt x="0" y="363"/>
                </a:moveTo>
                <a:cubicBezTo>
                  <a:pt x="136" y="181"/>
                  <a:pt x="272" y="0"/>
                  <a:pt x="408" y="0"/>
                </a:cubicBezTo>
                <a:cubicBezTo>
                  <a:pt x="544" y="0"/>
                  <a:pt x="680" y="242"/>
                  <a:pt x="816" y="363"/>
                </a:cubicBezTo>
                <a:cubicBezTo>
                  <a:pt x="952" y="484"/>
                  <a:pt x="1088" y="726"/>
                  <a:pt x="1224" y="726"/>
                </a:cubicBezTo>
                <a:cubicBezTo>
                  <a:pt x="1360" y="726"/>
                  <a:pt x="1497" y="484"/>
                  <a:pt x="1633" y="363"/>
                </a:cubicBezTo>
                <a:cubicBezTo>
                  <a:pt x="1769" y="242"/>
                  <a:pt x="1905" y="0"/>
                  <a:pt x="2041" y="0"/>
                </a:cubicBezTo>
                <a:cubicBezTo>
                  <a:pt x="2177" y="0"/>
                  <a:pt x="2313" y="181"/>
                  <a:pt x="2449" y="363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1" name="Freeform 183"/>
          <p:cNvSpPr>
            <a:spLocks/>
          </p:cNvSpPr>
          <p:nvPr/>
        </p:nvSpPr>
        <p:spPr bwMode="auto">
          <a:xfrm>
            <a:off x="2728913" y="2341563"/>
            <a:ext cx="444500" cy="636587"/>
          </a:xfrm>
          <a:custGeom>
            <a:avLst/>
            <a:gdLst>
              <a:gd name="T0" fmla="*/ 0 w 443346"/>
              <a:gd name="T1" fmla="*/ 595230 h 636679"/>
              <a:gd name="T2" fmla="*/ 211085 w 443346"/>
              <a:gd name="T3" fmla="*/ 609072 h 636679"/>
              <a:gd name="T4" fmla="*/ 239230 w 443346"/>
              <a:gd name="T5" fmla="*/ 290694 h 636679"/>
              <a:gd name="T6" fmla="*/ 253303 w 443346"/>
              <a:gd name="T7" fmla="*/ 235323 h 636679"/>
              <a:gd name="T8" fmla="*/ 337737 w 443346"/>
              <a:gd name="T9" fmla="*/ 179953 h 636679"/>
              <a:gd name="T10" fmla="*/ 365881 w 443346"/>
              <a:gd name="T11" fmla="*/ 138426 h 636679"/>
              <a:gd name="T12" fmla="*/ 422171 w 443346"/>
              <a:gd name="T13" fmla="*/ 83055 h 636679"/>
              <a:gd name="T14" fmla="*/ 450315 w 443346"/>
              <a:gd name="T15" fmla="*/ 0 h 63667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43346"/>
              <a:gd name="T25" fmla="*/ 0 h 636679"/>
              <a:gd name="T26" fmla="*/ 443346 w 443346"/>
              <a:gd name="T27" fmla="*/ 636679 h 63667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43346" h="636679">
                <a:moveTo>
                  <a:pt x="0" y="595746"/>
                </a:moveTo>
                <a:cubicBezTo>
                  <a:pt x="122801" y="636679"/>
                  <a:pt x="54098" y="626681"/>
                  <a:pt x="207818" y="609600"/>
                </a:cubicBezTo>
                <a:cubicBezTo>
                  <a:pt x="252966" y="474164"/>
                  <a:pt x="207981" y="621508"/>
                  <a:pt x="235528" y="290946"/>
                </a:cubicBezTo>
                <a:cubicBezTo>
                  <a:pt x="237109" y="271970"/>
                  <a:pt x="236843" y="249857"/>
                  <a:pt x="249382" y="235527"/>
                </a:cubicBezTo>
                <a:cubicBezTo>
                  <a:pt x="271311" y="210464"/>
                  <a:pt x="332509" y="180109"/>
                  <a:pt x="332509" y="180109"/>
                </a:cubicBezTo>
                <a:cubicBezTo>
                  <a:pt x="341745" y="166255"/>
                  <a:pt x="349382" y="151188"/>
                  <a:pt x="360218" y="138546"/>
                </a:cubicBezTo>
                <a:cubicBezTo>
                  <a:pt x="377220" y="118711"/>
                  <a:pt x="415637" y="83127"/>
                  <a:pt x="415637" y="83127"/>
                </a:cubicBezTo>
                <a:lnTo>
                  <a:pt x="443346" y="0"/>
                </a:ln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5" name="Freeform 184"/>
          <p:cNvSpPr/>
          <p:nvPr/>
        </p:nvSpPr>
        <p:spPr bwMode="auto">
          <a:xfrm>
            <a:off x="2716213" y="3511550"/>
            <a:ext cx="469900" cy="458788"/>
          </a:xfrm>
          <a:custGeom>
            <a:avLst/>
            <a:gdLst>
              <a:gd name="connsiteX0" fmla="*/ 0 w 471054"/>
              <a:gd name="connsiteY0" fmla="*/ 118821 h 458517"/>
              <a:gd name="connsiteX1" fmla="*/ 124691 w 471054"/>
              <a:gd name="connsiteY1" fmla="*/ 174239 h 458517"/>
              <a:gd name="connsiteX2" fmla="*/ 180109 w 471054"/>
              <a:gd name="connsiteY2" fmla="*/ 160385 h 458517"/>
              <a:gd name="connsiteX3" fmla="*/ 221672 w 471054"/>
              <a:gd name="connsiteY3" fmla="*/ 132675 h 458517"/>
              <a:gd name="connsiteX4" fmla="*/ 263236 w 471054"/>
              <a:gd name="connsiteY4" fmla="*/ 118821 h 458517"/>
              <a:gd name="connsiteX5" fmla="*/ 346363 w 471054"/>
              <a:gd name="connsiteY5" fmla="*/ 77257 h 458517"/>
              <a:gd name="connsiteX6" fmla="*/ 387927 w 471054"/>
              <a:gd name="connsiteY6" fmla="*/ 91112 h 458517"/>
              <a:gd name="connsiteX7" fmla="*/ 415636 w 471054"/>
              <a:gd name="connsiteY7" fmla="*/ 395912 h 458517"/>
              <a:gd name="connsiteX8" fmla="*/ 471054 w 471054"/>
              <a:gd name="connsiteY8" fmla="*/ 423621 h 45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1054" h="458517">
                <a:moveTo>
                  <a:pt x="0" y="118821"/>
                </a:moveTo>
                <a:cubicBezTo>
                  <a:pt x="98924" y="151796"/>
                  <a:pt x="58825" y="130329"/>
                  <a:pt x="124691" y="174239"/>
                </a:cubicBezTo>
                <a:cubicBezTo>
                  <a:pt x="143164" y="169621"/>
                  <a:pt x="162607" y="167886"/>
                  <a:pt x="180109" y="160385"/>
                </a:cubicBezTo>
                <a:cubicBezTo>
                  <a:pt x="195414" y="153826"/>
                  <a:pt x="206779" y="140122"/>
                  <a:pt x="221672" y="132675"/>
                </a:cubicBezTo>
                <a:cubicBezTo>
                  <a:pt x="234734" y="126144"/>
                  <a:pt x="249381" y="123439"/>
                  <a:pt x="263236" y="118821"/>
                </a:cubicBezTo>
                <a:cubicBezTo>
                  <a:pt x="284249" y="104813"/>
                  <a:pt x="317685" y="77257"/>
                  <a:pt x="346363" y="77257"/>
                </a:cubicBezTo>
                <a:cubicBezTo>
                  <a:pt x="360967" y="77257"/>
                  <a:pt x="374072" y="86494"/>
                  <a:pt x="387927" y="91112"/>
                </a:cubicBezTo>
                <a:cubicBezTo>
                  <a:pt x="436112" y="235660"/>
                  <a:pt x="361649" y="0"/>
                  <a:pt x="415636" y="395912"/>
                </a:cubicBezTo>
                <a:cubicBezTo>
                  <a:pt x="424173" y="458517"/>
                  <a:pt x="443894" y="437200"/>
                  <a:pt x="471054" y="423621"/>
                </a:cubicBezTo>
              </a:path>
            </a:pathLst>
          </a:custGeom>
          <a:noFill/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11273" name="Straight Arrow Connector 87"/>
          <p:cNvCxnSpPr>
            <a:cxnSpLocks noChangeShapeType="1"/>
          </p:cNvCxnSpPr>
          <p:nvPr/>
        </p:nvCxnSpPr>
        <p:spPr bwMode="auto">
          <a:xfrm rot="16200000" flipV="1">
            <a:off x="2590800" y="3117850"/>
            <a:ext cx="1371600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75" name="Freeform 93"/>
          <p:cNvSpPr>
            <a:spLocks/>
          </p:cNvSpPr>
          <p:nvPr/>
        </p:nvSpPr>
        <p:spPr bwMode="auto">
          <a:xfrm>
            <a:off x="7080250" y="3944938"/>
            <a:ext cx="298450" cy="128587"/>
          </a:xfrm>
          <a:custGeom>
            <a:avLst/>
            <a:gdLst>
              <a:gd name="T0" fmla="*/ 0 w 299204"/>
              <a:gd name="T1" fmla="*/ 60530 h 128396"/>
              <a:gd name="T2" fmla="*/ 40426 w 299204"/>
              <a:gd name="T3" fmla="*/ 102777 h 128396"/>
              <a:gd name="T4" fmla="*/ 161700 w 299204"/>
              <a:gd name="T5" fmla="*/ 102777 h 128396"/>
              <a:gd name="T6" fmla="*/ 229078 w 299204"/>
              <a:gd name="T7" fmla="*/ 32364 h 128396"/>
              <a:gd name="T8" fmla="*/ 282981 w 299204"/>
              <a:gd name="T9" fmla="*/ 4194 h 1283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9204"/>
              <a:gd name="T16" fmla="*/ 0 h 128396"/>
              <a:gd name="T17" fmla="*/ 299204 w 299204"/>
              <a:gd name="T18" fmla="*/ 128396 h 1283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9204" h="128396">
                <a:moveTo>
                  <a:pt x="0" y="59547"/>
                </a:moveTo>
                <a:cubicBezTo>
                  <a:pt x="13854" y="73401"/>
                  <a:pt x="25261" y="90242"/>
                  <a:pt x="41563" y="101110"/>
                </a:cubicBezTo>
                <a:cubicBezTo>
                  <a:pt x="82492" y="128396"/>
                  <a:pt x="121204" y="108619"/>
                  <a:pt x="166254" y="101110"/>
                </a:cubicBezTo>
                <a:cubicBezTo>
                  <a:pt x="193964" y="59546"/>
                  <a:pt x="189345" y="54929"/>
                  <a:pt x="235527" y="31838"/>
                </a:cubicBezTo>
                <a:cubicBezTo>
                  <a:pt x="299204" y="0"/>
                  <a:pt x="259647" y="35429"/>
                  <a:pt x="290945" y="4128"/>
                </a:cubicBezTo>
              </a:path>
            </a:pathLst>
          </a:cu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1" name="Rectangle 190"/>
          <p:cNvSpPr/>
          <p:nvPr/>
        </p:nvSpPr>
        <p:spPr bwMode="auto">
          <a:xfrm>
            <a:off x="3186113" y="858838"/>
            <a:ext cx="3906837" cy="4530725"/>
          </a:xfrm>
          <a:prstGeom prst="rect">
            <a:avLst/>
          </a:prstGeom>
          <a:solidFill>
            <a:schemeClr val="accent1">
              <a:lumMod val="20000"/>
              <a:lumOff val="80000"/>
              <a:alpha val="54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" name="Rectangle 191"/>
          <p:cNvSpPr/>
          <p:nvPr/>
        </p:nvSpPr>
        <p:spPr bwMode="auto">
          <a:xfrm>
            <a:off x="7370763" y="858838"/>
            <a:ext cx="1773237" cy="4530725"/>
          </a:xfrm>
          <a:prstGeom prst="rect">
            <a:avLst/>
          </a:prstGeom>
          <a:solidFill>
            <a:schemeClr val="accent1">
              <a:lumMod val="20000"/>
              <a:lumOff val="80000"/>
              <a:alpha val="54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8" name="TextBox 96"/>
          <p:cNvSpPr txBox="1">
            <a:spLocks noChangeArrowheads="1"/>
          </p:cNvSpPr>
          <p:nvPr/>
        </p:nvSpPr>
        <p:spPr bwMode="auto">
          <a:xfrm>
            <a:off x="395288" y="5649913"/>
            <a:ext cx="43910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Interconnects are shielded cable, the shield surrounds the signal wire, and is connected at the plug to the circuit shield </a:t>
            </a:r>
            <a:endParaRPr lang="en-US"/>
          </a:p>
        </p:txBody>
      </p:sp>
      <p:grpSp>
        <p:nvGrpSpPr>
          <p:cNvPr id="11279" name="Group 193"/>
          <p:cNvGrpSpPr>
            <a:grpSpLocks/>
          </p:cNvGrpSpPr>
          <p:nvPr/>
        </p:nvGrpSpPr>
        <p:grpSpPr bwMode="auto">
          <a:xfrm>
            <a:off x="2274888" y="2676525"/>
            <a:ext cx="690562" cy="1014413"/>
            <a:chOff x="2274849" y="2676294"/>
            <a:chExt cx="691374" cy="1014761"/>
          </a:xfrm>
        </p:grpSpPr>
        <p:sp>
          <p:nvSpPr>
            <p:cNvPr id="11287" name="Oval 194"/>
            <p:cNvSpPr>
              <a:spLocks noChangeArrowheads="1"/>
            </p:cNvSpPr>
            <p:nvPr/>
          </p:nvSpPr>
          <p:spPr bwMode="auto">
            <a:xfrm>
              <a:off x="2341756" y="2676294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Oval 195"/>
            <p:cNvSpPr>
              <a:spLocks noChangeArrowheads="1"/>
            </p:cNvSpPr>
            <p:nvPr/>
          </p:nvSpPr>
          <p:spPr bwMode="auto">
            <a:xfrm>
              <a:off x="2397512" y="2676294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Oval 196"/>
            <p:cNvSpPr>
              <a:spLocks noChangeArrowheads="1"/>
            </p:cNvSpPr>
            <p:nvPr/>
          </p:nvSpPr>
          <p:spPr bwMode="auto">
            <a:xfrm>
              <a:off x="2464419" y="2709748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Oval 197"/>
            <p:cNvSpPr>
              <a:spLocks noChangeArrowheads="1"/>
            </p:cNvSpPr>
            <p:nvPr/>
          </p:nvSpPr>
          <p:spPr bwMode="auto">
            <a:xfrm>
              <a:off x="2520175" y="2732051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Oval 198"/>
            <p:cNvSpPr>
              <a:spLocks noChangeArrowheads="1"/>
            </p:cNvSpPr>
            <p:nvPr/>
          </p:nvSpPr>
          <p:spPr bwMode="auto">
            <a:xfrm>
              <a:off x="2575931" y="2765505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Oval 199"/>
            <p:cNvSpPr>
              <a:spLocks noChangeArrowheads="1"/>
            </p:cNvSpPr>
            <p:nvPr/>
          </p:nvSpPr>
          <p:spPr bwMode="auto">
            <a:xfrm>
              <a:off x="2609385" y="2787807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Oval 200"/>
            <p:cNvSpPr>
              <a:spLocks noChangeArrowheads="1"/>
            </p:cNvSpPr>
            <p:nvPr/>
          </p:nvSpPr>
          <p:spPr bwMode="auto">
            <a:xfrm>
              <a:off x="2665141" y="2810109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Oval 201"/>
            <p:cNvSpPr>
              <a:spLocks noChangeArrowheads="1"/>
            </p:cNvSpPr>
            <p:nvPr/>
          </p:nvSpPr>
          <p:spPr bwMode="auto">
            <a:xfrm>
              <a:off x="2698594" y="2821261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Oval 202"/>
            <p:cNvSpPr>
              <a:spLocks noChangeArrowheads="1"/>
            </p:cNvSpPr>
            <p:nvPr/>
          </p:nvSpPr>
          <p:spPr bwMode="auto">
            <a:xfrm>
              <a:off x="2754350" y="2843563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Oval 203"/>
            <p:cNvSpPr>
              <a:spLocks noChangeArrowheads="1"/>
            </p:cNvSpPr>
            <p:nvPr/>
          </p:nvSpPr>
          <p:spPr bwMode="auto">
            <a:xfrm>
              <a:off x="2787804" y="2843563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Oval 204"/>
            <p:cNvSpPr>
              <a:spLocks noChangeArrowheads="1"/>
            </p:cNvSpPr>
            <p:nvPr/>
          </p:nvSpPr>
          <p:spPr bwMode="auto">
            <a:xfrm>
              <a:off x="2821258" y="2843563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Oval 205"/>
            <p:cNvSpPr>
              <a:spLocks noChangeArrowheads="1"/>
            </p:cNvSpPr>
            <p:nvPr/>
          </p:nvSpPr>
          <p:spPr bwMode="auto">
            <a:xfrm>
              <a:off x="2865862" y="2821260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Oval 206"/>
            <p:cNvSpPr>
              <a:spLocks noChangeArrowheads="1"/>
            </p:cNvSpPr>
            <p:nvPr/>
          </p:nvSpPr>
          <p:spPr bwMode="auto">
            <a:xfrm>
              <a:off x="2319454" y="2698597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Oval 207"/>
            <p:cNvSpPr>
              <a:spLocks noChangeArrowheads="1"/>
            </p:cNvSpPr>
            <p:nvPr/>
          </p:nvSpPr>
          <p:spPr bwMode="auto">
            <a:xfrm>
              <a:off x="2274849" y="2720899"/>
              <a:ext cx="100361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80" name="Freeform 208"/>
          <p:cNvSpPr>
            <a:spLocks/>
          </p:cNvSpPr>
          <p:nvPr/>
        </p:nvSpPr>
        <p:spPr bwMode="auto">
          <a:xfrm>
            <a:off x="7126288" y="2330450"/>
            <a:ext cx="217487" cy="708025"/>
          </a:xfrm>
          <a:custGeom>
            <a:avLst/>
            <a:gdLst>
              <a:gd name="T0" fmla="*/ 0 w 217449"/>
              <a:gd name="T1" fmla="*/ 624128 h 708102"/>
              <a:gd name="T2" fmla="*/ 89290 w 217449"/>
              <a:gd name="T3" fmla="*/ 668708 h 708102"/>
              <a:gd name="T4" fmla="*/ 156252 w 217449"/>
              <a:gd name="T5" fmla="*/ 679854 h 708102"/>
              <a:gd name="T6" fmla="*/ 212058 w 217449"/>
              <a:gd name="T7" fmla="*/ 657563 h 708102"/>
              <a:gd name="T8" fmla="*/ 189736 w 217449"/>
              <a:gd name="T9" fmla="*/ 378936 h 708102"/>
              <a:gd name="T10" fmla="*/ 156252 w 217449"/>
              <a:gd name="T11" fmla="*/ 256338 h 708102"/>
              <a:gd name="T12" fmla="*/ 156252 w 217449"/>
              <a:gd name="T13" fmla="*/ 167178 h 708102"/>
              <a:gd name="T14" fmla="*/ 212058 w 217449"/>
              <a:gd name="T15" fmla="*/ 0 h 70810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17449"/>
              <a:gd name="T25" fmla="*/ 0 h 708102"/>
              <a:gd name="T26" fmla="*/ 217449 w 217449"/>
              <a:gd name="T27" fmla="*/ 708102 h 70810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7449" h="708102">
                <a:moveTo>
                  <a:pt x="0" y="624468"/>
                </a:moveTo>
                <a:cubicBezTo>
                  <a:pt x="31595" y="642124"/>
                  <a:pt x="63191" y="659780"/>
                  <a:pt x="89210" y="669073"/>
                </a:cubicBezTo>
                <a:cubicBezTo>
                  <a:pt x="115229" y="678366"/>
                  <a:pt x="135673" y="682083"/>
                  <a:pt x="156117" y="680224"/>
                </a:cubicBezTo>
                <a:cubicBezTo>
                  <a:pt x="176561" y="678366"/>
                  <a:pt x="206297" y="708102"/>
                  <a:pt x="211873" y="657922"/>
                </a:cubicBezTo>
                <a:cubicBezTo>
                  <a:pt x="217449" y="607742"/>
                  <a:pt x="198864" y="446048"/>
                  <a:pt x="189571" y="379141"/>
                </a:cubicBezTo>
                <a:cubicBezTo>
                  <a:pt x="180278" y="312234"/>
                  <a:pt x="161693" y="291790"/>
                  <a:pt x="156117" y="256478"/>
                </a:cubicBezTo>
                <a:cubicBezTo>
                  <a:pt x="150541" y="221166"/>
                  <a:pt x="146824" y="210014"/>
                  <a:pt x="156117" y="167268"/>
                </a:cubicBezTo>
                <a:cubicBezTo>
                  <a:pt x="165410" y="124522"/>
                  <a:pt x="188641" y="62261"/>
                  <a:pt x="211873" y="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1281" name="Group 209"/>
          <p:cNvGrpSpPr>
            <a:grpSpLocks/>
          </p:cNvGrpSpPr>
          <p:nvPr/>
        </p:nvGrpSpPr>
        <p:grpSpPr bwMode="auto">
          <a:xfrm>
            <a:off x="7121525" y="2776538"/>
            <a:ext cx="204788" cy="1293812"/>
            <a:chOff x="7300271" y="5542157"/>
            <a:chExt cx="304860" cy="869795"/>
          </a:xfrm>
        </p:grpSpPr>
        <p:sp>
          <p:nvSpPr>
            <p:cNvPr id="11283" name="Oval 210"/>
            <p:cNvSpPr>
              <a:spLocks noChangeArrowheads="1"/>
            </p:cNvSpPr>
            <p:nvPr/>
          </p:nvSpPr>
          <p:spPr bwMode="auto">
            <a:xfrm>
              <a:off x="7300271" y="5564460"/>
              <a:ext cx="126800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Oval 211"/>
            <p:cNvSpPr>
              <a:spLocks noChangeArrowheads="1"/>
            </p:cNvSpPr>
            <p:nvPr/>
          </p:nvSpPr>
          <p:spPr bwMode="auto">
            <a:xfrm>
              <a:off x="7353690" y="5564460"/>
              <a:ext cx="126800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Oval 212"/>
            <p:cNvSpPr>
              <a:spLocks noChangeArrowheads="1"/>
            </p:cNvSpPr>
            <p:nvPr/>
          </p:nvSpPr>
          <p:spPr bwMode="auto">
            <a:xfrm>
              <a:off x="7407108" y="5564460"/>
              <a:ext cx="126800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Oval 213"/>
            <p:cNvSpPr>
              <a:spLocks noChangeArrowheads="1"/>
            </p:cNvSpPr>
            <p:nvPr/>
          </p:nvSpPr>
          <p:spPr bwMode="auto">
            <a:xfrm>
              <a:off x="7478331" y="5542157"/>
              <a:ext cx="126800" cy="847492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6" name="Rectangle 115"/>
          <p:cNvSpPr/>
          <p:nvPr/>
        </p:nvSpPr>
        <p:spPr>
          <a:xfrm rot="10800000" flipV="1">
            <a:off x="5675313" y="5935663"/>
            <a:ext cx="514350" cy="33813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Lucida Sans Unicode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0V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2009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://www.bhphotovideo.com/images/images345x345/49663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963" y="530225"/>
            <a:ext cx="3286125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6" descr="http://www.computercablestore.com/images/products/Superior%20Essex%20Inc/0-5EOSP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63" b="40572"/>
          <a:stretch>
            <a:fillRect/>
          </a:stretch>
        </p:blipFill>
        <p:spPr bwMode="auto">
          <a:xfrm>
            <a:off x="3794125" y="3144838"/>
            <a:ext cx="3810000" cy="55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 descr="C:\Documents and Settings\jeremy.foss\Desktop\Clipboard01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519113"/>
            <a:ext cx="330517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5168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Circuits – Shielding Interconnects</a:t>
            </a:r>
          </a:p>
        </p:txBody>
      </p:sp>
      <p:sp>
        <p:nvSpPr>
          <p:cNvPr id="12294" name="TextBox 6"/>
          <p:cNvSpPr txBox="1">
            <a:spLocks noChangeArrowheads="1"/>
          </p:cNvSpPr>
          <p:nvPr/>
        </p:nvSpPr>
        <p:spPr bwMode="auto">
          <a:xfrm>
            <a:off x="395288" y="889000"/>
            <a:ext cx="26844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One or more signal wires</a:t>
            </a:r>
            <a:endParaRPr lang="en-US"/>
          </a:p>
        </p:txBody>
      </p:sp>
      <p:cxnSp>
        <p:nvCxnSpPr>
          <p:cNvPr id="12295" name="Straight Arrow Connector 8"/>
          <p:cNvCxnSpPr>
            <a:cxnSpLocks noChangeShapeType="1"/>
          </p:cNvCxnSpPr>
          <p:nvPr/>
        </p:nvCxnSpPr>
        <p:spPr bwMode="auto">
          <a:xfrm rot="16200000" flipH="1">
            <a:off x="973932" y="1461294"/>
            <a:ext cx="852487" cy="4413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6" name="TextBox 9"/>
          <p:cNvSpPr txBox="1">
            <a:spLocks noChangeArrowheads="1"/>
          </p:cNvSpPr>
          <p:nvPr/>
        </p:nvSpPr>
        <p:spPr bwMode="auto">
          <a:xfrm>
            <a:off x="3595688" y="954088"/>
            <a:ext cx="50546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metallic shield (often a mesh) surrounding the signals, connected at plug via a wire running the length of the cable</a:t>
            </a:r>
            <a:endParaRPr lang="en-US"/>
          </a:p>
        </p:txBody>
      </p:sp>
      <p:cxnSp>
        <p:nvCxnSpPr>
          <p:cNvPr id="12297" name="Straight Arrow Connector 12"/>
          <p:cNvCxnSpPr>
            <a:cxnSpLocks noChangeShapeType="1"/>
          </p:cNvCxnSpPr>
          <p:nvPr/>
        </p:nvCxnSpPr>
        <p:spPr bwMode="auto">
          <a:xfrm>
            <a:off x="6665913" y="1508125"/>
            <a:ext cx="704850" cy="4984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8" name="TextBox 14"/>
          <p:cNvSpPr txBox="1">
            <a:spLocks noChangeArrowheads="1"/>
          </p:cNvSpPr>
          <p:nvPr/>
        </p:nvSpPr>
        <p:spPr bwMode="auto">
          <a:xfrm>
            <a:off x="395288" y="2921000"/>
            <a:ext cx="35147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This still allows signal wires to interfere with each other, so the signals may be individually shielded</a:t>
            </a:r>
            <a:endParaRPr lang="en-US"/>
          </a:p>
        </p:txBody>
      </p:sp>
      <p:pic>
        <p:nvPicPr>
          <p:cNvPr id="12299" name="Picture 8" descr="http://mytestautomation.com/attachments/Image/mytestautomation_ate/shielded_cable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138" y="4562475"/>
            <a:ext cx="3217862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0" name="TextBox 17"/>
          <p:cNvSpPr txBox="1">
            <a:spLocks noChangeArrowheads="1"/>
          </p:cNvSpPr>
          <p:nvPr/>
        </p:nvSpPr>
        <p:spPr bwMode="auto">
          <a:xfrm>
            <a:off x="3825875" y="4552950"/>
            <a:ext cx="2005013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/>
            <a:r>
              <a:rPr lang="en-GB"/>
              <a:t>For radio frequencies, coax cable is required – shield has special resistive properties (see later)</a:t>
            </a:r>
            <a:endParaRPr lang="en-US"/>
          </a:p>
        </p:txBody>
      </p:sp>
      <p:pic>
        <p:nvPicPr>
          <p:cNvPr id="12301" name="Picture 1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214813"/>
            <a:ext cx="16668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743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663" y="5353050"/>
            <a:ext cx="819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2" descr="http://media.digikey.com/photos/Alpha%20Wire%20Photos/2466C%20SERIE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3" y="601663"/>
            <a:ext cx="4006850" cy="400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2" descr="http://www.thinkspace.com/blog/wp-content/uploads/2009/01/earth-transparen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58"/>
          <a:stretch>
            <a:fillRect/>
          </a:stretch>
        </p:blipFill>
        <p:spPr bwMode="auto">
          <a:xfrm>
            <a:off x="5141913" y="1952625"/>
            <a:ext cx="3798887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313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Grounded Shielding</a:t>
            </a:r>
            <a:endParaRPr lang="en-US" sz="2400" b="1"/>
          </a:p>
        </p:txBody>
      </p:sp>
      <p:sp>
        <p:nvSpPr>
          <p:cNvPr id="6" name="Freeform 5"/>
          <p:cNvSpPr/>
          <p:nvPr/>
        </p:nvSpPr>
        <p:spPr bwMode="auto">
          <a:xfrm>
            <a:off x="5899150" y="785813"/>
            <a:ext cx="781050" cy="1779587"/>
          </a:xfrm>
          <a:custGeom>
            <a:avLst/>
            <a:gdLst>
              <a:gd name="connsiteX0" fmla="*/ 0 w 780586"/>
              <a:gd name="connsiteY0" fmla="*/ 306658 h 1778619"/>
              <a:gd name="connsiteX1" fmla="*/ 635620 w 780586"/>
              <a:gd name="connsiteY1" fmla="*/ 195146 h 1778619"/>
              <a:gd name="connsiteX2" fmla="*/ 189571 w 780586"/>
              <a:gd name="connsiteY2" fmla="*/ 1477536 h 1778619"/>
              <a:gd name="connsiteX3" fmla="*/ 780586 w 780586"/>
              <a:gd name="connsiteY3" fmla="*/ 1778619 h 1778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586" h="1778619">
                <a:moveTo>
                  <a:pt x="0" y="306658"/>
                </a:moveTo>
                <a:cubicBezTo>
                  <a:pt x="302012" y="153329"/>
                  <a:pt x="604025" y="0"/>
                  <a:pt x="635620" y="195146"/>
                </a:cubicBezTo>
                <a:cubicBezTo>
                  <a:pt x="667215" y="390292"/>
                  <a:pt x="165410" y="1213624"/>
                  <a:pt x="189571" y="1477536"/>
                </a:cubicBezTo>
                <a:cubicBezTo>
                  <a:pt x="213732" y="1741448"/>
                  <a:pt x="497159" y="1760033"/>
                  <a:pt x="780586" y="1778619"/>
                </a:cubicBezTo>
              </a:path>
            </a:pathLst>
          </a:custGeom>
          <a:noFill/>
          <a:ln w="476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19" name="Lightning Bolt 9"/>
          <p:cNvSpPr>
            <a:spLocks noChangeArrowheads="1"/>
          </p:cNvSpPr>
          <p:nvPr/>
        </p:nvSpPr>
        <p:spPr bwMode="auto">
          <a:xfrm>
            <a:off x="430213" y="2487613"/>
            <a:ext cx="2636837" cy="1281112"/>
          </a:xfrm>
          <a:prstGeom prst="lightningBolt">
            <a:avLst/>
          </a:prstGeom>
          <a:gradFill rotWithShape="0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5400000"/>
          </a:gra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0" name="TextBox 10"/>
          <p:cNvSpPr txBox="1">
            <a:spLocks noChangeArrowheads="1"/>
          </p:cNvSpPr>
          <p:nvPr/>
        </p:nvSpPr>
        <p:spPr bwMode="auto">
          <a:xfrm>
            <a:off x="430213" y="5051425"/>
            <a:ext cx="54911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buFont typeface="Arial" charset="0"/>
              <a:buChar char="•"/>
            </a:pPr>
            <a:r>
              <a:rPr lang="en-GB"/>
              <a:t>An earth shield provides protection</a:t>
            </a:r>
          </a:p>
          <a:p>
            <a:pPr>
              <a:buFont typeface="Arial" charset="0"/>
              <a:buChar char="•"/>
            </a:pPr>
            <a:r>
              <a:rPr lang="en-GB"/>
              <a:t>Shown here – a four signal lead with individual shielding</a:t>
            </a:r>
            <a:endParaRPr lang="en-US"/>
          </a:p>
        </p:txBody>
      </p:sp>
      <p:sp>
        <p:nvSpPr>
          <p:cNvPr id="13321" name="TextBox 11"/>
          <p:cNvSpPr txBox="1">
            <a:spLocks noChangeArrowheads="1"/>
          </p:cNvSpPr>
          <p:nvPr/>
        </p:nvSpPr>
        <p:spPr bwMode="auto">
          <a:xfrm>
            <a:off x="395288" y="827088"/>
            <a:ext cx="4313237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Urually shields are </a:t>
            </a:r>
            <a:r>
              <a:rPr lang="en-GB" i="1"/>
              <a:t>grounded</a:t>
            </a:r>
            <a:r>
              <a:rPr lang="en-GB"/>
              <a:t> i.e. connected to Earth</a:t>
            </a:r>
          </a:p>
          <a:p>
            <a:r>
              <a:rPr lang="en-GB"/>
              <a:t>Earth is an absolute 0V (compared to all other electrical activity on the earth, e.g. electronic circuits, natural phenomena, lightening, etc)</a:t>
            </a:r>
          </a:p>
        </p:txBody>
      </p:sp>
    </p:spTree>
    <p:extLst>
      <p:ext uri="{BB962C8B-B14F-4D97-AF65-F5344CB8AC3E}">
        <p14:creationId xmlns:p14="http://schemas.microsoft.com/office/powerpoint/2010/main" val="164656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57134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Circuit Interconnection - Unbalanced</a:t>
            </a:r>
          </a:p>
        </p:txBody>
      </p: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395288" y="960438"/>
            <a:ext cx="7773987" cy="2992437"/>
            <a:chOff x="519113" y="1165225"/>
            <a:chExt cx="7773987" cy="2992438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7150" y="1195388"/>
              <a:ext cx="1885950" cy="296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" name="Group 73"/>
            <p:cNvGrpSpPr>
              <a:grpSpLocks/>
            </p:cNvGrpSpPr>
            <p:nvPr/>
          </p:nvGrpSpPr>
          <p:grpSpPr bwMode="auto">
            <a:xfrm>
              <a:off x="519113" y="1165225"/>
              <a:ext cx="4752975" cy="2968625"/>
              <a:chOff x="657" y="754"/>
              <a:chExt cx="2994" cy="1870"/>
            </a:xfrm>
          </p:grpSpPr>
          <p:grpSp>
            <p:nvGrpSpPr>
              <p:cNvPr id="13" name="Group 68"/>
              <p:cNvGrpSpPr>
                <a:grpSpLocks/>
              </p:cNvGrpSpPr>
              <p:nvPr/>
            </p:nvGrpSpPr>
            <p:grpSpPr bwMode="auto">
              <a:xfrm>
                <a:off x="657" y="754"/>
                <a:ext cx="2994" cy="1870"/>
                <a:chOff x="1655" y="1253"/>
                <a:chExt cx="2994" cy="1870"/>
              </a:xfrm>
            </p:grpSpPr>
            <p:sp>
              <p:nvSpPr>
                <p:cNvPr id="16" name="Line 36"/>
                <p:cNvSpPr>
                  <a:spLocks noChangeShapeType="1"/>
                </p:cNvSpPr>
                <p:nvPr/>
              </p:nvSpPr>
              <p:spPr bwMode="auto">
                <a:xfrm>
                  <a:off x="2925" y="1298"/>
                  <a:ext cx="0" cy="172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4059" y="2387"/>
                  <a:ext cx="0" cy="63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8" name="Line 30"/>
                <p:cNvSpPr>
                  <a:spLocks noChangeShapeType="1"/>
                </p:cNvSpPr>
                <p:nvPr/>
              </p:nvSpPr>
              <p:spPr bwMode="auto">
                <a:xfrm>
                  <a:off x="3560" y="2387"/>
                  <a:ext cx="10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19" name="Group 18"/>
                <p:cNvGrpSpPr>
                  <a:grpSpLocks/>
                </p:cNvGrpSpPr>
                <p:nvPr/>
              </p:nvGrpSpPr>
              <p:grpSpPr bwMode="auto">
                <a:xfrm>
                  <a:off x="3052" y="1307"/>
                  <a:ext cx="512" cy="1705"/>
                  <a:chOff x="1465" y="1162"/>
                  <a:chExt cx="589" cy="2223"/>
                </a:xfrm>
              </p:grpSpPr>
              <p:grpSp>
                <p:nvGrpSpPr>
                  <p:cNvPr id="50" name="Group 9"/>
                  <p:cNvGrpSpPr>
                    <a:grpSpLocks/>
                  </p:cNvGrpSpPr>
                  <p:nvPr/>
                </p:nvGrpSpPr>
                <p:grpSpPr bwMode="auto">
                  <a:xfrm>
                    <a:off x="1465" y="1162"/>
                    <a:ext cx="589" cy="2223"/>
                    <a:chOff x="3606" y="1344"/>
                    <a:chExt cx="589" cy="2223"/>
                  </a:xfrm>
                </p:grpSpPr>
                <p:sp>
                  <p:nvSpPr>
                    <p:cNvPr id="52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14" y="2296"/>
                      <a:ext cx="181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14" y="2614"/>
                      <a:ext cx="181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14" y="2206"/>
                      <a:ext cx="0" cy="49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95" y="1344"/>
                      <a:ext cx="0" cy="953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95" y="2614"/>
                      <a:ext cx="0" cy="953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7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06" y="2432"/>
                      <a:ext cx="40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51" name="AutoShape 16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1759" y="2200"/>
                    <a:ext cx="116" cy="9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 w="9525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0" name="Rectangle 23"/>
                <p:cNvSpPr>
                  <a:spLocks noChangeArrowheads="1"/>
                </p:cNvSpPr>
                <p:nvPr/>
              </p:nvSpPr>
              <p:spPr bwMode="auto">
                <a:xfrm>
                  <a:off x="4014" y="2568"/>
                  <a:ext cx="91" cy="318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24"/>
                <p:cNvSpPr>
                  <a:spLocks noChangeShapeType="1"/>
                </p:cNvSpPr>
                <p:nvPr/>
              </p:nvSpPr>
              <p:spPr bwMode="auto">
                <a:xfrm>
                  <a:off x="2925" y="1298"/>
                  <a:ext cx="10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2" name="Line 25"/>
                <p:cNvSpPr>
                  <a:spLocks noChangeShapeType="1"/>
                </p:cNvSpPr>
                <p:nvPr/>
              </p:nvSpPr>
              <p:spPr bwMode="auto">
                <a:xfrm>
                  <a:off x="2154" y="3022"/>
                  <a:ext cx="245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23" name="Group 26"/>
                <p:cNvGrpSpPr>
                  <a:grpSpLocks/>
                </p:cNvGrpSpPr>
                <p:nvPr/>
              </p:nvGrpSpPr>
              <p:grpSpPr bwMode="auto">
                <a:xfrm>
                  <a:off x="4195" y="2251"/>
                  <a:ext cx="88" cy="272"/>
                  <a:chOff x="1689" y="1298"/>
                  <a:chExt cx="88" cy="272"/>
                </a:xfrm>
              </p:grpSpPr>
              <p:sp>
                <p:nvSpPr>
                  <p:cNvPr id="47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1689" y="1298"/>
                    <a:ext cx="0" cy="2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48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777" y="1298"/>
                    <a:ext cx="0" cy="2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49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1704" y="1298"/>
                    <a:ext cx="64" cy="22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4" name="Rectangle 32"/>
                <p:cNvSpPr>
                  <a:spLocks noChangeArrowheads="1"/>
                </p:cNvSpPr>
                <p:nvPr/>
              </p:nvSpPr>
              <p:spPr bwMode="auto">
                <a:xfrm>
                  <a:off x="2880" y="1570"/>
                  <a:ext cx="91" cy="290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Rectangle 33"/>
                <p:cNvSpPr>
                  <a:spLocks noChangeArrowheads="1"/>
                </p:cNvSpPr>
                <p:nvPr/>
              </p:nvSpPr>
              <p:spPr bwMode="auto">
                <a:xfrm>
                  <a:off x="2880" y="2387"/>
                  <a:ext cx="91" cy="289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2917" y="2148"/>
                  <a:ext cx="371" cy="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7" name="Line 38"/>
                <p:cNvSpPr>
                  <a:spLocks noChangeShapeType="1"/>
                </p:cNvSpPr>
                <p:nvPr/>
              </p:nvSpPr>
              <p:spPr bwMode="auto">
                <a:xfrm>
                  <a:off x="2154" y="1979"/>
                  <a:ext cx="77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28" name="Group 39"/>
                <p:cNvGrpSpPr>
                  <a:grpSpLocks/>
                </p:cNvGrpSpPr>
                <p:nvPr/>
              </p:nvGrpSpPr>
              <p:grpSpPr bwMode="auto">
                <a:xfrm>
                  <a:off x="2608" y="1842"/>
                  <a:ext cx="88" cy="272"/>
                  <a:chOff x="1689" y="1298"/>
                  <a:chExt cx="88" cy="272"/>
                </a:xfrm>
              </p:grpSpPr>
              <p:sp>
                <p:nvSpPr>
                  <p:cNvPr id="44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1689" y="1298"/>
                    <a:ext cx="0" cy="2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45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1777" y="1298"/>
                    <a:ext cx="0" cy="2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46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1704" y="1298"/>
                    <a:ext cx="64" cy="22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9" name="Oval 44"/>
                <p:cNvSpPr>
                  <a:spLocks noChangeArrowheads="1"/>
                </p:cNvSpPr>
                <p:nvPr/>
              </p:nvSpPr>
              <p:spPr bwMode="auto">
                <a:xfrm>
                  <a:off x="3969" y="1253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45"/>
                <p:cNvSpPr>
                  <a:spLocks noChangeArrowheads="1"/>
                </p:cNvSpPr>
                <p:nvPr/>
              </p:nvSpPr>
              <p:spPr bwMode="auto">
                <a:xfrm>
                  <a:off x="4558" y="2341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Oval 47"/>
                <p:cNvSpPr>
                  <a:spLocks noChangeArrowheads="1"/>
                </p:cNvSpPr>
                <p:nvPr/>
              </p:nvSpPr>
              <p:spPr bwMode="auto">
                <a:xfrm>
                  <a:off x="2109" y="1933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48"/>
                <p:cNvSpPr>
                  <a:spLocks noChangeArrowheads="1"/>
                </p:cNvSpPr>
                <p:nvPr/>
              </p:nvSpPr>
              <p:spPr bwMode="auto">
                <a:xfrm>
                  <a:off x="2109" y="2976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379" y="1797"/>
                  <a:ext cx="20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D</a:t>
                  </a:r>
                  <a:endParaRPr lang="en-US" sz="1400"/>
                </a:p>
              </p:txBody>
            </p:sp>
            <p:sp>
              <p:nvSpPr>
                <p:cNvPr id="34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198" y="1933"/>
                  <a:ext cx="19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G</a:t>
                  </a:r>
                  <a:endParaRPr lang="en-US" sz="1400"/>
                </a:p>
              </p:txBody>
            </p:sp>
            <p:sp>
              <p:nvSpPr>
                <p:cNvPr id="35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3379" y="2341"/>
                  <a:ext cx="17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S</a:t>
                  </a:r>
                  <a:endParaRPr lang="en-US" sz="1400"/>
                </a:p>
              </p:txBody>
            </p:sp>
            <p:sp>
              <p:nvSpPr>
                <p:cNvPr id="36" name="Rectangle 52"/>
                <p:cNvSpPr>
                  <a:spLocks noChangeArrowheads="1"/>
                </p:cNvSpPr>
                <p:nvPr/>
              </p:nvSpPr>
              <p:spPr bwMode="auto">
                <a:xfrm>
                  <a:off x="3515" y="2568"/>
                  <a:ext cx="91" cy="289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1655" y="1888"/>
                  <a:ext cx="40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input</a:t>
                  </a:r>
                  <a:endParaRPr lang="en-US" sz="1400"/>
                </a:p>
              </p:txBody>
            </p:sp>
            <p:sp>
              <p:nvSpPr>
                <p:cNvPr id="38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1837" y="2931"/>
                  <a:ext cx="26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0V</a:t>
                  </a:r>
                  <a:endParaRPr lang="en-US" sz="1400" baseline="-25000"/>
                </a:p>
              </p:txBody>
            </p:sp>
            <p:sp>
              <p:nvSpPr>
                <p:cNvPr id="39" name="Oval 63"/>
                <p:cNvSpPr>
                  <a:spLocks noChangeArrowheads="1"/>
                </p:cNvSpPr>
                <p:nvPr/>
              </p:nvSpPr>
              <p:spPr bwMode="auto">
                <a:xfrm>
                  <a:off x="4558" y="2976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105" y="2659"/>
                  <a:ext cx="385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R</a:t>
                  </a:r>
                  <a:r>
                    <a:rPr lang="en-GB" sz="1400" baseline="-25000"/>
                    <a:t>LOAD</a:t>
                  </a:r>
                  <a:endParaRPr lang="en-US" sz="1400" baseline="-25000"/>
                </a:p>
              </p:txBody>
            </p:sp>
            <p:sp>
              <p:nvSpPr>
                <p:cNvPr id="41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2971" y="1616"/>
                  <a:ext cx="23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R</a:t>
                  </a:r>
                  <a:r>
                    <a:rPr lang="en-GB" sz="1400" baseline="-25000"/>
                    <a:t>1</a:t>
                  </a:r>
                  <a:endParaRPr lang="en-US" sz="1400" baseline="-25000"/>
                </a:p>
              </p:txBody>
            </p:sp>
            <p:sp>
              <p:nvSpPr>
                <p:cNvPr id="42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2971" y="2432"/>
                  <a:ext cx="23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R</a:t>
                  </a:r>
                  <a:r>
                    <a:rPr lang="en-GB" sz="1400" baseline="-25000"/>
                    <a:t>2</a:t>
                  </a:r>
                  <a:endParaRPr lang="en-US" sz="1400" baseline="-25000"/>
                </a:p>
              </p:txBody>
            </p:sp>
            <p:sp>
              <p:nvSpPr>
                <p:cNvPr id="43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3606" y="2659"/>
                  <a:ext cx="23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R</a:t>
                  </a:r>
                  <a:r>
                    <a:rPr lang="en-GB" sz="1400" baseline="-25000"/>
                    <a:t>3</a:t>
                  </a:r>
                  <a:endParaRPr lang="en-US" sz="1400" baseline="-25000"/>
                </a:p>
              </p:txBody>
            </p:sp>
          </p:grpSp>
          <p:sp>
            <p:nvSpPr>
              <p:cNvPr id="14" name="Text Box 69"/>
              <p:cNvSpPr txBox="1">
                <a:spLocks noChangeArrowheads="1"/>
              </p:cNvSpPr>
              <p:nvPr/>
            </p:nvSpPr>
            <p:spPr bwMode="auto">
              <a:xfrm>
                <a:off x="1474" y="1117"/>
                <a:ext cx="26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/>
                  <a:t>C</a:t>
                </a:r>
                <a:r>
                  <a:rPr lang="en-GB" baseline="-25000"/>
                  <a:t>1</a:t>
                </a:r>
                <a:endParaRPr lang="en-US" baseline="-25000"/>
              </a:p>
            </p:txBody>
          </p:sp>
          <p:sp>
            <p:nvSpPr>
              <p:cNvPr id="15" name="Text Box 70"/>
              <p:cNvSpPr txBox="1">
                <a:spLocks noChangeArrowheads="1"/>
              </p:cNvSpPr>
              <p:nvPr/>
            </p:nvSpPr>
            <p:spPr bwMode="auto">
              <a:xfrm>
                <a:off x="3061" y="1525"/>
                <a:ext cx="26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/>
                  <a:t>C</a:t>
                </a:r>
                <a:r>
                  <a:rPr lang="en-GB" baseline="-25000"/>
                  <a:t>2</a:t>
                </a:r>
                <a:endParaRPr lang="en-US" baseline="-25000"/>
              </a:p>
            </p:txBody>
          </p:sp>
        </p:grpSp>
        <p:cxnSp>
          <p:nvCxnSpPr>
            <p:cNvPr id="6" name="Straight Connector 104"/>
            <p:cNvCxnSpPr>
              <a:cxnSpLocks noChangeShapeType="1"/>
            </p:cNvCxnSpPr>
            <p:nvPr/>
          </p:nvCxnSpPr>
          <p:spPr bwMode="auto">
            <a:xfrm>
              <a:off x="5278438" y="3273425"/>
              <a:ext cx="1277937" cy="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Straight Connector 107"/>
            <p:cNvCxnSpPr>
              <a:cxnSpLocks noChangeShapeType="1"/>
              <a:stCxn id="30" idx="5"/>
            </p:cNvCxnSpPr>
            <p:nvPr/>
          </p:nvCxnSpPr>
          <p:spPr bwMode="auto">
            <a:xfrm rot="16200000" flipH="1">
              <a:off x="5142707" y="3121819"/>
              <a:ext cx="268287" cy="53975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Straight Connector 109"/>
            <p:cNvCxnSpPr>
              <a:cxnSpLocks noChangeShapeType="1"/>
            </p:cNvCxnSpPr>
            <p:nvPr/>
          </p:nvCxnSpPr>
          <p:spPr bwMode="auto">
            <a:xfrm rot="5400000">
              <a:off x="6103143" y="2783682"/>
              <a:ext cx="906463" cy="3810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Straight Connector 112"/>
            <p:cNvCxnSpPr>
              <a:cxnSpLocks noChangeShapeType="1"/>
            </p:cNvCxnSpPr>
            <p:nvPr/>
          </p:nvCxnSpPr>
          <p:spPr bwMode="auto">
            <a:xfrm>
              <a:off x="5286375" y="3373438"/>
              <a:ext cx="1279525" cy="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Straight Connector 113"/>
            <p:cNvCxnSpPr>
              <a:cxnSpLocks noChangeShapeType="1"/>
              <a:endCxn id="39" idx="4"/>
            </p:cNvCxnSpPr>
            <p:nvPr/>
          </p:nvCxnSpPr>
          <p:spPr bwMode="auto">
            <a:xfrm rot="5400000">
              <a:off x="4906962" y="3663951"/>
              <a:ext cx="671513" cy="87312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Straight Connector 115"/>
            <p:cNvCxnSpPr>
              <a:cxnSpLocks noChangeShapeType="1"/>
            </p:cNvCxnSpPr>
            <p:nvPr/>
          </p:nvCxnSpPr>
          <p:spPr bwMode="auto">
            <a:xfrm rot="16200000" flipH="1">
              <a:off x="6254750" y="3667126"/>
              <a:ext cx="650875" cy="4445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" name="Group 73"/>
          <p:cNvGrpSpPr/>
          <p:nvPr/>
        </p:nvGrpSpPr>
        <p:grpSpPr>
          <a:xfrm>
            <a:off x="3487330" y="4280320"/>
            <a:ext cx="3623082" cy="1898230"/>
            <a:chOff x="3487330" y="4280320"/>
            <a:chExt cx="3623082" cy="1898230"/>
          </a:xfrm>
        </p:grpSpPr>
        <p:pic>
          <p:nvPicPr>
            <p:cNvPr id="4104" name="Picture 8"/>
            <p:cNvPicPr>
              <a:picLocks noChangeAspect="1" noChangeArrowheads="1"/>
            </p:cNvPicPr>
            <p:nvPr/>
          </p:nvPicPr>
          <p:blipFill>
            <a:blip r:embed="rId3" cstate="print"/>
            <a:srcRect l="32188" t="7115"/>
            <a:stretch>
              <a:fillRect/>
            </a:stretch>
          </p:blipFill>
          <p:spPr bwMode="auto">
            <a:xfrm rot="513151">
              <a:off x="4363630" y="4280320"/>
              <a:ext cx="2451307" cy="7529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" name="Picture 8"/>
            <p:cNvPicPr>
              <a:picLocks noChangeAspect="1" noChangeArrowheads="1"/>
            </p:cNvPicPr>
            <p:nvPr/>
          </p:nvPicPr>
          <p:blipFill>
            <a:blip r:embed="rId3" cstate="print"/>
            <a:srcRect l="32188" t="7115"/>
            <a:stretch>
              <a:fillRect/>
            </a:stretch>
          </p:blipFill>
          <p:spPr bwMode="auto">
            <a:xfrm rot="11614746">
              <a:off x="3487330" y="5356646"/>
              <a:ext cx="2451307" cy="7529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" name="Freeform 71"/>
            <p:cNvSpPr/>
            <p:nvPr/>
          </p:nvSpPr>
          <p:spPr bwMode="auto">
            <a:xfrm>
              <a:off x="3500438" y="4375150"/>
              <a:ext cx="3609974" cy="1803400"/>
            </a:xfrm>
            <a:custGeom>
              <a:avLst/>
              <a:gdLst>
                <a:gd name="connsiteX0" fmla="*/ 900112 w 3609974"/>
                <a:gd name="connsiteY0" fmla="*/ 25400 h 1803400"/>
                <a:gd name="connsiteX1" fmla="*/ 471487 w 3609974"/>
                <a:gd name="connsiteY1" fmla="*/ 15875 h 1803400"/>
                <a:gd name="connsiteX2" fmla="*/ 128587 w 3609974"/>
                <a:gd name="connsiteY2" fmla="*/ 120650 h 1803400"/>
                <a:gd name="connsiteX3" fmla="*/ 14287 w 3609974"/>
                <a:gd name="connsiteY3" fmla="*/ 444500 h 1803400"/>
                <a:gd name="connsiteX4" fmla="*/ 214312 w 3609974"/>
                <a:gd name="connsiteY4" fmla="*/ 777875 h 1803400"/>
                <a:gd name="connsiteX5" fmla="*/ 1090612 w 3609974"/>
                <a:gd name="connsiteY5" fmla="*/ 815975 h 1803400"/>
                <a:gd name="connsiteX6" fmla="*/ 1938337 w 3609974"/>
                <a:gd name="connsiteY6" fmla="*/ 692150 h 1803400"/>
                <a:gd name="connsiteX7" fmla="*/ 2586037 w 3609974"/>
                <a:gd name="connsiteY7" fmla="*/ 596900 h 1803400"/>
                <a:gd name="connsiteX8" fmla="*/ 3033712 w 3609974"/>
                <a:gd name="connsiteY8" fmla="*/ 587375 h 1803400"/>
                <a:gd name="connsiteX9" fmla="*/ 3328987 w 3609974"/>
                <a:gd name="connsiteY9" fmla="*/ 692150 h 1803400"/>
                <a:gd name="connsiteX10" fmla="*/ 3529012 w 3609974"/>
                <a:gd name="connsiteY10" fmla="*/ 958850 h 1803400"/>
                <a:gd name="connsiteX11" fmla="*/ 3605212 w 3609974"/>
                <a:gd name="connsiteY11" fmla="*/ 1254125 h 1803400"/>
                <a:gd name="connsiteX12" fmla="*/ 3557587 w 3609974"/>
                <a:gd name="connsiteY12" fmla="*/ 1616075 h 1803400"/>
                <a:gd name="connsiteX13" fmla="*/ 3328987 w 3609974"/>
                <a:gd name="connsiteY13" fmla="*/ 1778000 h 1803400"/>
                <a:gd name="connsiteX14" fmla="*/ 2986087 w 3609974"/>
                <a:gd name="connsiteY14" fmla="*/ 1768475 h 1803400"/>
                <a:gd name="connsiteX15" fmla="*/ 2652712 w 3609974"/>
                <a:gd name="connsiteY15" fmla="*/ 1749425 h 1803400"/>
                <a:gd name="connsiteX16" fmla="*/ 2376487 w 3609974"/>
                <a:gd name="connsiteY16" fmla="*/ 1692275 h 1803400"/>
                <a:gd name="connsiteX17" fmla="*/ 2328862 w 3609974"/>
                <a:gd name="connsiteY17" fmla="*/ 1692275 h 1803400"/>
                <a:gd name="connsiteX18" fmla="*/ 2376487 w 3609974"/>
                <a:gd name="connsiteY18" fmla="*/ 1692275 h 180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09974" h="1803400">
                  <a:moveTo>
                    <a:pt x="900112" y="25400"/>
                  </a:moveTo>
                  <a:cubicBezTo>
                    <a:pt x="750093" y="12700"/>
                    <a:pt x="600074" y="0"/>
                    <a:pt x="471487" y="15875"/>
                  </a:cubicBezTo>
                  <a:cubicBezTo>
                    <a:pt x="342900" y="31750"/>
                    <a:pt x="204787" y="49213"/>
                    <a:pt x="128587" y="120650"/>
                  </a:cubicBezTo>
                  <a:cubicBezTo>
                    <a:pt x="52387" y="192088"/>
                    <a:pt x="0" y="334963"/>
                    <a:pt x="14287" y="444500"/>
                  </a:cubicBezTo>
                  <a:cubicBezTo>
                    <a:pt x="28574" y="554037"/>
                    <a:pt x="34925" y="715963"/>
                    <a:pt x="214312" y="777875"/>
                  </a:cubicBezTo>
                  <a:cubicBezTo>
                    <a:pt x="393700" y="839788"/>
                    <a:pt x="803275" y="830262"/>
                    <a:pt x="1090612" y="815975"/>
                  </a:cubicBezTo>
                  <a:cubicBezTo>
                    <a:pt x="1377949" y="801688"/>
                    <a:pt x="1938337" y="692150"/>
                    <a:pt x="1938337" y="692150"/>
                  </a:cubicBezTo>
                  <a:cubicBezTo>
                    <a:pt x="2187574" y="655638"/>
                    <a:pt x="2403475" y="614362"/>
                    <a:pt x="2586037" y="596900"/>
                  </a:cubicBezTo>
                  <a:cubicBezTo>
                    <a:pt x="2768599" y="579438"/>
                    <a:pt x="2909887" y="571500"/>
                    <a:pt x="3033712" y="587375"/>
                  </a:cubicBezTo>
                  <a:cubicBezTo>
                    <a:pt x="3157537" y="603250"/>
                    <a:pt x="3246437" y="630238"/>
                    <a:pt x="3328987" y="692150"/>
                  </a:cubicBezTo>
                  <a:cubicBezTo>
                    <a:pt x="3411537" y="754062"/>
                    <a:pt x="3482975" y="865188"/>
                    <a:pt x="3529012" y="958850"/>
                  </a:cubicBezTo>
                  <a:cubicBezTo>
                    <a:pt x="3575050" y="1052513"/>
                    <a:pt x="3600450" y="1144588"/>
                    <a:pt x="3605212" y="1254125"/>
                  </a:cubicBezTo>
                  <a:cubicBezTo>
                    <a:pt x="3609974" y="1363662"/>
                    <a:pt x="3603624" y="1528763"/>
                    <a:pt x="3557587" y="1616075"/>
                  </a:cubicBezTo>
                  <a:cubicBezTo>
                    <a:pt x="3511550" y="1703387"/>
                    <a:pt x="3424237" y="1752600"/>
                    <a:pt x="3328987" y="1778000"/>
                  </a:cubicBezTo>
                  <a:cubicBezTo>
                    <a:pt x="3233737" y="1803400"/>
                    <a:pt x="3098800" y="1773238"/>
                    <a:pt x="2986087" y="1768475"/>
                  </a:cubicBezTo>
                  <a:cubicBezTo>
                    <a:pt x="2873375" y="1763713"/>
                    <a:pt x="2754312" y="1762125"/>
                    <a:pt x="2652712" y="1749425"/>
                  </a:cubicBezTo>
                  <a:cubicBezTo>
                    <a:pt x="2551112" y="1736725"/>
                    <a:pt x="2430462" y="1701800"/>
                    <a:pt x="2376487" y="1692275"/>
                  </a:cubicBezTo>
                  <a:cubicBezTo>
                    <a:pt x="2322512" y="1682750"/>
                    <a:pt x="2328862" y="1692275"/>
                    <a:pt x="2328862" y="1692275"/>
                  </a:cubicBezTo>
                  <a:lnTo>
                    <a:pt x="2376487" y="1692275"/>
                  </a:lnTo>
                </a:path>
              </a:pathLst>
            </a:custGeom>
            <a:noFill/>
            <a:ln w="136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7224712" y="4384023"/>
            <a:ext cx="1919288" cy="1631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2828925"/>
            <a:ext cx="3327302" cy="20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8" name="Picture 12" descr="C:\Users\jdfoss\Desktop\Clipboard02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33588" y="5005388"/>
            <a:ext cx="1552575" cy="1266825"/>
          </a:xfrm>
          <a:prstGeom prst="rect">
            <a:avLst/>
          </a:prstGeom>
          <a:noFill/>
        </p:spPr>
      </p:pic>
      <p:cxnSp>
        <p:nvCxnSpPr>
          <p:cNvPr id="79" name="Straight Arrow Connector 78"/>
          <p:cNvCxnSpPr/>
          <p:nvPr/>
        </p:nvCxnSpPr>
        <p:spPr bwMode="auto">
          <a:xfrm flipH="1" flipV="1">
            <a:off x="6667500" y="3905250"/>
            <a:ext cx="485775" cy="4762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2" name="TextBox 81"/>
          <p:cNvSpPr txBox="1"/>
          <p:nvPr/>
        </p:nvSpPr>
        <p:spPr>
          <a:xfrm>
            <a:off x="4810126" y="1704975"/>
            <a:ext cx="1657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single signal connector  with shield</a:t>
            </a:r>
          </a:p>
        </p:txBody>
      </p:sp>
      <p:cxnSp>
        <p:nvCxnSpPr>
          <p:cNvPr id="84" name="Straight Arrow Connector 83"/>
          <p:cNvCxnSpPr/>
          <p:nvPr/>
        </p:nvCxnSpPr>
        <p:spPr bwMode="auto">
          <a:xfrm>
            <a:off x="5886450" y="2514600"/>
            <a:ext cx="57150" cy="5143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5" name="Straight Arrow Connector 84"/>
          <p:cNvCxnSpPr/>
          <p:nvPr/>
        </p:nvCxnSpPr>
        <p:spPr bwMode="auto">
          <a:xfrm flipV="1">
            <a:off x="6172201" y="3619500"/>
            <a:ext cx="219074" cy="8191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163770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56169" y="684506"/>
            <a:ext cx="2687831" cy="2182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 cstate="print"/>
          <a:srcRect l="18700" t="21240" b="15303"/>
          <a:stretch>
            <a:fillRect/>
          </a:stretch>
        </p:blipFill>
        <p:spPr bwMode="auto">
          <a:xfrm>
            <a:off x="723901" y="1257301"/>
            <a:ext cx="2514599" cy="1487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4" cstate="print"/>
          <a:srcRect r="5437" b="18029"/>
          <a:stretch>
            <a:fillRect/>
          </a:stretch>
        </p:blipFill>
        <p:spPr bwMode="auto">
          <a:xfrm>
            <a:off x="4371975" y="3245156"/>
            <a:ext cx="4591050" cy="3336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552450" y="1200150"/>
            <a:ext cx="2066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mono 3.5mm jack </a:t>
            </a:r>
          </a:p>
        </p:txBody>
      </p:sp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5" cstate="print"/>
          <a:srcRect l="25625" t="32813" r="27031" b="34062"/>
          <a:stretch>
            <a:fillRect/>
          </a:stretch>
        </p:blipFill>
        <p:spPr bwMode="auto">
          <a:xfrm>
            <a:off x="1876425" y="2533650"/>
            <a:ext cx="2257425" cy="1579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04825" y="3181350"/>
            <a:ext cx="21130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stereo 3.5mm jack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1104900"/>
            <a:ext cx="1645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stereo ¼” jack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1025" y="3257550"/>
            <a:ext cx="1095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wiring a mono ¼” jack </a:t>
            </a:r>
          </a:p>
        </p:txBody>
      </p:sp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52474" y="4243639"/>
            <a:ext cx="2527081" cy="1928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428625" y="6076950"/>
            <a:ext cx="36295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two mono </a:t>
            </a:r>
            <a:r>
              <a:rPr lang="en-GB" dirty="0" err="1"/>
              <a:t>phono</a:t>
            </a:r>
            <a:r>
              <a:rPr lang="en-GB" dirty="0"/>
              <a:t> jacks (for stereo)</a:t>
            </a:r>
          </a:p>
        </p:txBody>
      </p:sp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581526" y="685800"/>
            <a:ext cx="104887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438651" y="2619375"/>
            <a:ext cx="1352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 pin DIN plug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62440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Other Plugs for Unbalanced Connections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9150" y="6274653"/>
            <a:ext cx="4314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 the heat dissipation precautions</a:t>
            </a:r>
          </a:p>
        </p:txBody>
      </p:sp>
    </p:spTree>
    <p:extLst>
      <p:ext uri="{BB962C8B-B14F-4D97-AF65-F5344CB8AC3E}">
        <p14:creationId xmlns:p14="http://schemas.microsoft.com/office/powerpoint/2010/main" val="2158655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5210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Circuits – Unbalanced Connection</a:t>
            </a:r>
          </a:p>
        </p:txBody>
      </p:sp>
      <p:grpSp>
        <p:nvGrpSpPr>
          <p:cNvPr id="15363" name="Group 58"/>
          <p:cNvGrpSpPr>
            <a:grpSpLocks/>
          </p:cNvGrpSpPr>
          <p:nvPr/>
        </p:nvGrpSpPr>
        <p:grpSpPr bwMode="auto">
          <a:xfrm>
            <a:off x="395288" y="960438"/>
            <a:ext cx="7773987" cy="2992437"/>
            <a:chOff x="519113" y="1165225"/>
            <a:chExt cx="7773987" cy="2992438"/>
          </a:xfrm>
        </p:grpSpPr>
        <p:pic>
          <p:nvPicPr>
            <p:cNvPr id="1536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7150" y="1195388"/>
              <a:ext cx="1885950" cy="296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367" name="Group 73"/>
            <p:cNvGrpSpPr>
              <a:grpSpLocks/>
            </p:cNvGrpSpPr>
            <p:nvPr/>
          </p:nvGrpSpPr>
          <p:grpSpPr bwMode="auto">
            <a:xfrm>
              <a:off x="519113" y="1165225"/>
              <a:ext cx="4752975" cy="2968625"/>
              <a:chOff x="657" y="754"/>
              <a:chExt cx="2994" cy="1870"/>
            </a:xfrm>
          </p:grpSpPr>
          <p:grpSp>
            <p:nvGrpSpPr>
              <p:cNvPr id="15375" name="Group 68"/>
              <p:cNvGrpSpPr>
                <a:grpSpLocks/>
              </p:cNvGrpSpPr>
              <p:nvPr/>
            </p:nvGrpSpPr>
            <p:grpSpPr bwMode="auto">
              <a:xfrm>
                <a:off x="657" y="754"/>
                <a:ext cx="2994" cy="1870"/>
                <a:chOff x="1655" y="1253"/>
                <a:chExt cx="2994" cy="1870"/>
              </a:xfrm>
            </p:grpSpPr>
            <p:sp>
              <p:nvSpPr>
                <p:cNvPr id="15378" name="Line 36"/>
                <p:cNvSpPr>
                  <a:spLocks noChangeShapeType="1"/>
                </p:cNvSpPr>
                <p:nvPr/>
              </p:nvSpPr>
              <p:spPr bwMode="auto">
                <a:xfrm>
                  <a:off x="2925" y="1298"/>
                  <a:ext cx="0" cy="172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5379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4059" y="2387"/>
                  <a:ext cx="0" cy="63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5380" name="Line 30"/>
                <p:cNvSpPr>
                  <a:spLocks noChangeShapeType="1"/>
                </p:cNvSpPr>
                <p:nvPr/>
              </p:nvSpPr>
              <p:spPr bwMode="auto">
                <a:xfrm>
                  <a:off x="3560" y="2387"/>
                  <a:ext cx="10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15381" name="Group 18"/>
                <p:cNvGrpSpPr>
                  <a:grpSpLocks/>
                </p:cNvGrpSpPr>
                <p:nvPr/>
              </p:nvGrpSpPr>
              <p:grpSpPr bwMode="auto">
                <a:xfrm>
                  <a:off x="3052" y="1307"/>
                  <a:ext cx="512" cy="1705"/>
                  <a:chOff x="1465" y="1162"/>
                  <a:chExt cx="589" cy="2223"/>
                </a:xfrm>
              </p:grpSpPr>
              <p:grpSp>
                <p:nvGrpSpPr>
                  <p:cNvPr id="15412" name="Group 9"/>
                  <p:cNvGrpSpPr>
                    <a:grpSpLocks/>
                  </p:cNvGrpSpPr>
                  <p:nvPr/>
                </p:nvGrpSpPr>
                <p:grpSpPr bwMode="auto">
                  <a:xfrm>
                    <a:off x="1465" y="1162"/>
                    <a:ext cx="589" cy="2223"/>
                    <a:chOff x="3606" y="1344"/>
                    <a:chExt cx="589" cy="2223"/>
                  </a:xfrm>
                </p:grpSpPr>
                <p:sp>
                  <p:nvSpPr>
                    <p:cNvPr id="15414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14" y="2296"/>
                      <a:ext cx="181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5415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14" y="2614"/>
                      <a:ext cx="181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5416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14" y="2206"/>
                      <a:ext cx="0" cy="49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5417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95" y="1344"/>
                      <a:ext cx="0" cy="953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5418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95" y="2614"/>
                      <a:ext cx="0" cy="953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5419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06" y="2432"/>
                      <a:ext cx="40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15413" name="AutoShape 16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1759" y="2200"/>
                    <a:ext cx="116" cy="9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 w="9525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382" name="Rectangle 23"/>
                <p:cNvSpPr>
                  <a:spLocks noChangeArrowheads="1"/>
                </p:cNvSpPr>
                <p:nvPr/>
              </p:nvSpPr>
              <p:spPr bwMode="auto">
                <a:xfrm>
                  <a:off x="4014" y="2568"/>
                  <a:ext cx="91" cy="318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3" name="Line 24"/>
                <p:cNvSpPr>
                  <a:spLocks noChangeShapeType="1"/>
                </p:cNvSpPr>
                <p:nvPr/>
              </p:nvSpPr>
              <p:spPr bwMode="auto">
                <a:xfrm>
                  <a:off x="2925" y="1298"/>
                  <a:ext cx="10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5384" name="Line 25"/>
                <p:cNvSpPr>
                  <a:spLocks noChangeShapeType="1"/>
                </p:cNvSpPr>
                <p:nvPr/>
              </p:nvSpPr>
              <p:spPr bwMode="auto">
                <a:xfrm>
                  <a:off x="2154" y="3022"/>
                  <a:ext cx="245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15385" name="Group 26"/>
                <p:cNvGrpSpPr>
                  <a:grpSpLocks/>
                </p:cNvGrpSpPr>
                <p:nvPr/>
              </p:nvGrpSpPr>
              <p:grpSpPr bwMode="auto">
                <a:xfrm>
                  <a:off x="4195" y="2251"/>
                  <a:ext cx="88" cy="272"/>
                  <a:chOff x="1689" y="1298"/>
                  <a:chExt cx="88" cy="272"/>
                </a:xfrm>
              </p:grpSpPr>
              <p:sp>
                <p:nvSpPr>
                  <p:cNvPr id="15409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1689" y="1298"/>
                    <a:ext cx="0" cy="2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5410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777" y="1298"/>
                    <a:ext cx="0" cy="2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5411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1704" y="1298"/>
                    <a:ext cx="64" cy="22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386" name="Rectangle 32"/>
                <p:cNvSpPr>
                  <a:spLocks noChangeArrowheads="1"/>
                </p:cNvSpPr>
                <p:nvPr/>
              </p:nvSpPr>
              <p:spPr bwMode="auto">
                <a:xfrm>
                  <a:off x="2880" y="1570"/>
                  <a:ext cx="91" cy="290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7" name="Rectangle 33"/>
                <p:cNvSpPr>
                  <a:spLocks noChangeArrowheads="1"/>
                </p:cNvSpPr>
                <p:nvPr/>
              </p:nvSpPr>
              <p:spPr bwMode="auto">
                <a:xfrm>
                  <a:off x="2880" y="2387"/>
                  <a:ext cx="91" cy="289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8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2917" y="2148"/>
                  <a:ext cx="371" cy="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5389" name="Line 38"/>
                <p:cNvSpPr>
                  <a:spLocks noChangeShapeType="1"/>
                </p:cNvSpPr>
                <p:nvPr/>
              </p:nvSpPr>
              <p:spPr bwMode="auto">
                <a:xfrm>
                  <a:off x="2154" y="1979"/>
                  <a:ext cx="77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15390" name="Group 39"/>
                <p:cNvGrpSpPr>
                  <a:grpSpLocks/>
                </p:cNvGrpSpPr>
                <p:nvPr/>
              </p:nvGrpSpPr>
              <p:grpSpPr bwMode="auto">
                <a:xfrm>
                  <a:off x="2608" y="1842"/>
                  <a:ext cx="88" cy="272"/>
                  <a:chOff x="1689" y="1298"/>
                  <a:chExt cx="88" cy="272"/>
                </a:xfrm>
              </p:grpSpPr>
              <p:sp>
                <p:nvSpPr>
                  <p:cNvPr id="15406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1689" y="1298"/>
                    <a:ext cx="0" cy="2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5407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1777" y="1298"/>
                    <a:ext cx="0" cy="2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5408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1704" y="1298"/>
                    <a:ext cx="64" cy="22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391" name="Oval 44"/>
                <p:cNvSpPr>
                  <a:spLocks noChangeArrowheads="1"/>
                </p:cNvSpPr>
                <p:nvPr/>
              </p:nvSpPr>
              <p:spPr bwMode="auto">
                <a:xfrm>
                  <a:off x="3969" y="1253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2" name="Oval 45"/>
                <p:cNvSpPr>
                  <a:spLocks noChangeArrowheads="1"/>
                </p:cNvSpPr>
                <p:nvPr/>
              </p:nvSpPr>
              <p:spPr bwMode="auto">
                <a:xfrm>
                  <a:off x="4558" y="2341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3" name="Oval 47"/>
                <p:cNvSpPr>
                  <a:spLocks noChangeArrowheads="1"/>
                </p:cNvSpPr>
                <p:nvPr/>
              </p:nvSpPr>
              <p:spPr bwMode="auto">
                <a:xfrm>
                  <a:off x="2109" y="1933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4" name="Oval 48"/>
                <p:cNvSpPr>
                  <a:spLocks noChangeArrowheads="1"/>
                </p:cNvSpPr>
                <p:nvPr/>
              </p:nvSpPr>
              <p:spPr bwMode="auto">
                <a:xfrm>
                  <a:off x="2109" y="2976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5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379" y="1797"/>
                  <a:ext cx="20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D</a:t>
                  </a:r>
                  <a:endParaRPr lang="en-US" sz="1400"/>
                </a:p>
              </p:txBody>
            </p:sp>
            <p:sp>
              <p:nvSpPr>
                <p:cNvPr id="15396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198" y="1933"/>
                  <a:ext cx="19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G</a:t>
                  </a:r>
                  <a:endParaRPr lang="en-US" sz="1400"/>
                </a:p>
              </p:txBody>
            </p:sp>
            <p:sp>
              <p:nvSpPr>
                <p:cNvPr id="15397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3379" y="2341"/>
                  <a:ext cx="17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S</a:t>
                  </a:r>
                  <a:endParaRPr lang="en-US" sz="1400"/>
                </a:p>
              </p:txBody>
            </p:sp>
            <p:sp>
              <p:nvSpPr>
                <p:cNvPr id="15398" name="Rectangle 52"/>
                <p:cNvSpPr>
                  <a:spLocks noChangeArrowheads="1"/>
                </p:cNvSpPr>
                <p:nvPr/>
              </p:nvSpPr>
              <p:spPr bwMode="auto">
                <a:xfrm>
                  <a:off x="3515" y="2568"/>
                  <a:ext cx="91" cy="289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9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1655" y="1888"/>
                  <a:ext cx="40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input</a:t>
                  </a:r>
                  <a:endParaRPr lang="en-US" sz="1400"/>
                </a:p>
              </p:txBody>
            </p:sp>
            <p:sp>
              <p:nvSpPr>
                <p:cNvPr id="15400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1837" y="2931"/>
                  <a:ext cx="26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0V</a:t>
                  </a:r>
                  <a:endParaRPr lang="en-US" sz="1400" baseline="-25000"/>
                </a:p>
              </p:txBody>
            </p:sp>
            <p:sp>
              <p:nvSpPr>
                <p:cNvPr id="15401" name="Oval 63"/>
                <p:cNvSpPr>
                  <a:spLocks noChangeArrowheads="1"/>
                </p:cNvSpPr>
                <p:nvPr/>
              </p:nvSpPr>
              <p:spPr bwMode="auto">
                <a:xfrm>
                  <a:off x="4558" y="2976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02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105" y="2659"/>
                  <a:ext cx="385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R</a:t>
                  </a:r>
                  <a:r>
                    <a:rPr lang="en-GB" sz="1400" baseline="-25000"/>
                    <a:t>LOAD</a:t>
                  </a:r>
                  <a:endParaRPr lang="en-US" sz="1400" baseline="-25000"/>
                </a:p>
              </p:txBody>
            </p:sp>
            <p:sp>
              <p:nvSpPr>
                <p:cNvPr id="15403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2971" y="1616"/>
                  <a:ext cx="23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R</a:t>
                  </a:r>
                  <a:r>
                    <a:rPr lang="en-GB" sz="1400" baseline="-25000"/>
                    <a:t>1</a:t>
                  </a:r>
                  <a:endParaRPr lang="en-US" sz="1400" baseline="-25000"/>
                </a:p>
              </p:txBody>
            </p:sp>
            <p:sp>
              <p:nvSpPr>
                <p:cNvPr id="15404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2971" y="2432"/>
                  <a:ext cx="23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R</a:t>
                  </a:r>
                  <a:r>
                    <a:rPr lang="en-GB" sz="1400" baseline="-25000"/>
                    <a:t>2</a:t>
                  </a:r>
                  <a:endParaRPr lang="en-US" sz="1400" baseline="-25000"/>
                </a:p>
              </p:txBody>
            </p:sp>
            <p:sp>
              <p:nvSpPr>
                <p:cNvPr id="15405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3606" y="2659"/>
                  <a:ext cx="23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Lucida Sans Unicode" pitchFamily="34" charset="0"/>
                    </a:defRPr>
                  </a:lvl9pPr>
                </a:lstStyle>
                <a:p>
                  <a:r>
                    <a:rPr lang="en-GB" sz="1400"/>
                    <a:t>R</a:t>
                  </a:r>
                  <a:r>
                    <a:rPr lang="en-GB" sz="1400" baseline="-25000"/>
                    <a:t>3</a:t>
                  </a:r>
                  <a:endParaRPr lang="en-US" sz="1400" baseline="-25000"/>
                </a:p>
              </p:txBody>
            </p:sp>
          </p:grpSp>
          <p:sp>
            <p:nvSpPr>
              <p:cNvPr id="15376" name="Text Box 69"/>
              <p:cNvSpPr txBox="1">
                <a:spLocks noChangeArrowheads="1"/>
              </p:cNvSpPr>
              <p:nvPr/>
            </p:nvSpPr>
            <p:spPr bwMode="auto">
              <a:xfrm>
                <a:off x="1474" y="1117"/>
                <a:ext cx="26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/>
                  <a:t>C</a:t>
                </a:r>
                <a:r>
                  <a:rPr lang="en-GB" baseline="-25000"/>
                  <a:t>1</a:t>
                </a:r>
                <a:endParaRPr lang="en-US" baseline="-25000"/>
              </a:p>
            </p:txBody>
          </p:sp>
          <p:sp>
            <p:nvSpPr>
              <p:cNvPr id="15377" name="Text Box 70"/>
              <p:cNvSpPr txBox="1">
                <a:spLocks noChangeArrowheads="1"/>
              </p:cNvSpPr>
              <p:nvPr/>
            </p:nvSpPr>
            <p:spPr bwMode="auto">
              <a:xfrm>
                <a:off x="3061" y="1525"/>
                <a:ext cx="26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/>
                  <a:t>C</a:t>
                </a:r>
                <a:r>
                  <a:rPr lang="en-GB" baseline="-25000"/>
                  <a:t>2</a:t>
                </a:r>
                <a:endParaRPr lang="en-US" baseline="-25000"/>
              </a:p>
            </p:txBody>
          </p:sp>
        </p:grpSp>
        <p:cxnSp>
          <p:nvCxnSpPr>
            <p:cNvPr id="15368" name="Straight Connector 104"/>
            <p:cNvCxnSpPr>
              <a:cxnSpLocks noChangeShapeType="1"/>
            </p:cNvCxnSpPr>
            <p:nvPr/>
          </p:nvCxnSpPr>
          <p:spPr bwMode="auto">
            <a:xfrm>
              <a:off x="5278438" y="3273425"/>
              <a:ext cx="1277937" cy="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69" name="Straight Connector 107"/>
            <p:cNvCxnSpPr>
              <a:cxnSpLocks noChangeShapeType="1"/>
              <a:stCxn id="15392" idx="5"/>
            </p:cNvCxnSpPr>
            <p:nvPr/>
          </p:nvCxnSpPr>
          <p:spPr bwMode="auto">
            <a:xfrm rot="16200000" flipH="1">
              <a:off x="5142707" y="3121819"/>
              <a:ext cx="268287" cy="53975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70" name="Straight Connector 109"/>
            <p:cNvCxnSpPr>
              <a:cxnSpLocks noChangeShapeType="1"/>
            </p:cNvCxnSpPr>
            <p:nvPr/>
          </p:nvCxnSpPr>
          <p:spPr bwMode="auto">
            <a:xfrm rot="5400000">
              <a:off x="6103143" y="2783682"/>
              <a:ext cx="906463" cy="3810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71" name="Straight Connector 112"/>
            <p:cNvCxnSpPr>
              <a:cxnSpLocks noChangeShapeType="1"/>
            </p:cNvCxnSpPr>
            <p:nvPr/>
          </p:nvCxnSpPr>
          <p:spPr bwMode="auto">
            <a:xfrm>
              <a:off x="5286375" y="3373438"/>
              <a:ext cx="1279525" cy="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72" name="Straight Connector 113"/>
            <p:cNvCxnSpPr>
              <a:cxnSpLocks noChangeShapeType="1"/>
              <a:endCxn id="15401" idx="4"/>
            </p:cNvCxnSpPr>
            <p:nvPr/>
          </p:nvCxnSpPr>
          <p:spPr bwMode="auto">
            <a:xfrm rot="5400000">
              <a:off x="4906962" y="3663951"/>
              <a:ext cx="671513" cy="87312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73" name="Straight Connector 115"/>
            <p:cNvCxnSpPr>
              <a:cxnSpLocks noChangeShapeType="1"/>
            </p:cNvCxnSpPr>
            <p:nvPr/>
          </p:nvCxnSpPr>
          <p:spPr bwMode="auto">
            <a:xfrm rot="16200000" flipH="1">
              <a:off x="6254750" y="3667126"/>
              <a:ext cx="650875" cy="4445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74" name="TextBox 117"/>
            <p:cNvSpPr txBox="1">
              <a:spLocks noChangeArrowheads="1"/>
            </p:cNvSpPr>
            <p:nvPr/>
          </p:nvSpPr>
          <p:spPr bwMode="auto">
            <a:xfrm>
              <a:off x="5394325" y="3465513"/>
              <a:ext cx="1069975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/>
                <a:t>shielded cable</a:t>
              </a:r>
              <a:endParaRPr lang="en-US"/>
            </a:p>
          </p:txBody>
        </p:sp>
      </p:grpSp>
      <p:sp>
        <p:nvSpPr>
          <p:cNvPr id="17420" name="TextBox 118"/>
          <p:cNvSpPr txBox="1">
            <a:spLocks noChangeArrowheads="1"/>
          </p:cNvSpPr>
          <p:nvPr/>
        </p:nvSpPr>
        <p:spPr bwMode="auto">
          <a:xfrm>
            <a:off x="395288" y="4259263"/>
            <a:ext cx="75501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b="1" dirty="0"/>
              <a:t>These interconnects (shown up to here) are </a:t>
            </a:r>
            <a:r>
              <a:rPr lang="en-GB" b="1" u="sng" dirty="0"/>
              <a:t>unbalanced</a:t>
            </a:r>
            <a:endParaRPr lang="en-GB" b="1" dirty="0"/>
          </a:p>
          <a:p>
            <a:pPr marL="174625" indent="-174625">
              <a:buFont typeface="Arial" pitchFamily="34" charset="0"/>
              <a:buChar char="•"/>
              <a:defRPr/>
            </a:pPr>
            <a:r>
              <a:rPr lang="en-GB" dirty="0"/>
              <a:t>i.e. signal on one lead; the return path is via the shield / 0V / earth lead</a:t>
            </a:r>
            <a:endParaRPr lang="en-US" dirty="0"/>
          </a:p>
        </p:txBody>
      </p:sp>
      <p:sp>
        <p:nvSpPr>
          <p:cNvPr id="58" name="TextBox 118"/>
          <p:cNvSpPr txBox="1">
            <a:spLocks noChangeArrowheads="1"/>
          </p:cNvSpPr>
          <p:nvPr/>
        </p:nvSpPr>
        <p:spPr bwMode="auto">
          <a:xfrm>
            <a:off x="395288" y="5018088"/>
            <a:ext cx="8397875" cy="132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GB" b="1" dirty="0"/>
              <a:t>Prone to noise, especially as length increases</a:t>
            </a:r>
          </a:p>
          <a:p>
            <a:pPr marL="174625" indent="-174625">
              <a:buFont typeface="Arial" pitchFamily="34" charset="0"/>
              <a:buChar char="•"/>
              <a:defRPr/>
            </a:pPr>
            <a:r>
              <a:rPr lang="en-GB" dirty="0"/>
              <a:t>This is sufficient for domestic audio equipment (short distances, less demanding than professional applications)</a:t>
            </a:r>
          </a:p>
          <a:p>
            <a:pPr marL="174625" indent="-174625">
              <a:buFont typeface="Arial" pitchFamily="34" charset="0"/>
              <a:buChar char="•"/>
              <a:defRPr/>
            </a:pPr>
            <a:r>
              <a:rPr lang="en-GB" dirty="0"/>
              <a:t>For longer signal runs (stage work, event recordings,  broadcast, etc) – need more robust signal protection 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371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395288" y="798513"/>
            <a:ext cx="7897812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2563" indent="-182563">
              <a:buFont typeface="Arial" charset="0"/>
              <a:buChar char="•"/>
            </a:pPr>
            <a:r>
              <a:rPr lang="en-US"/>
              <a:t>noise often traced to ground loops, grounding or lack of... </a:t>
            </a:r>
          </a:p>
          <a:p>
            <a:pPr marL="182563" indent="-182563">
              <a:buFont typeface="Arial" charset="0"/>
              <a:buChar char="•"/>
            </a:pPr>
            <a:r>
              <a:rPr lang="en-US"/>
              <a:t>loops occur when the grounds of the two units are also tied together in another place</a:t>
            </a:r>
          </a:p>
          <a:p>
            <a:pPr marL="182563" indent="-182563">
              <a:buFont typeface="Arial" charset="0"/>
              <a:buChar char="•"/>
            </a:pPr>
            <a:r>
              <a:rPr lang="en-US"/>
              <a:t>connections often (inadvertantly) earth the circuit in more than one place, causes loops</a:t>
            </a:r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395288" y="331788"/>
            <a:ext cx="2289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000000"/>
                </a:solidFill>
              </a:rPr>
              <a:t>Ground Loops</a:t>
            </a:r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325" y="2584450"/>
            <a:ext cx="18859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89" name="Group 73"/>
          <p:cNvGrpSpPr>
            <a:grpSpLocks/>
          </p:cNvGrpSpPr>
          <p:nvPr/>
        </p:nvGrpSpPr>
        <p:grpSpPr bwMode="auto">
          <a:xfrm>
            <a:off x="395288" y="2555875"/>
            <a:ext cx="4752975" cy="2968625"/>
            <a:chOff x="657" y="754"/>
            <a:chExt cx="2994" cy="1870"/>
          </a:xfrm>
        </p:grpSpPr>
        <p:grpSp>
          <p:nvGrpSpPr>
            <p:cNvPr id="16407" name="Group 68"/>
            <p:cNvGrpSpPr>
              <a:grpSpLocks/>
            </p:cNvGrpSpPr>
            <p:nvPr/>
          </p:nvGrpSpPr>
          <p:grpSpPr bwMode="auto">
            <a:xfrm>
              <a:off x="657" y="754"/>
              <a:ext cx="2994" cy="1870"/>
              <a:chOff x="1655" y="1253"/>
              <a:chExt cx="2994" cy="1870"/>
            </a:xfrm>
          </p:grpSpPr>
          <p:sp>
            <p:nvSpPr>
              <p:cNvPr id="16410" name="Line 36"/>
              <p:cNvSpPr>
                <a:spLocks noChangeShapeType="1"/>
              </p:cNvSpPr>
              <p:nvPr/>
            </p:nvSpPr>
            <p:spPr bwMode="auto">
              <a:xfrm>
                <a:off x="2925" y="1298"/>
                <a:ext cx="0" cy="17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411" name="Line 31"/>
              <p:cNvSpPr>
                <a:spLocks noChangeShapeType="1"/>
              </p:cNvSpPr>
              <p:nvPr/>
            </p:nvSpPr>
            <p:spPr bwMode="auto">
              <a:xfrm flipV="1">
                <a:off x="4059" y="2387"/>
                <a:ext cx="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412" name="Line 30"/>
              <p:cNvSpPr>
                <a:spLocks noChangeShapeType="1"/>
              </p:cNvSpPr>
              <p:nvPr/>
            </p:nvSpPr>
            <p:spPr bwMode="auto">
              <a:xfrm>
                <a:off x="3560" y="2387"/>
                <a:ext cx="10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6413" name="Group 18"/>
              <p:cNvGrpSpPr>
                <a:grpSpLocks/>
              </p:cNvGrpSpPr>
              <p:nvPr/>
            </p:nvGrpSpPr>
            <p:grpSpPr bwMode="auto">
              <a:xfrm>
                <a:off x="3052" y="1307"/>
                <a:ext cx="512" cy="1705"/>
                <a:chOff x="1465" y="1162"/>
                <a:chExt cx="589" cy="2223"/>
              </a:xfrm>
            </p:grpSpPr>
            <p:grpSp>
              <p:nvGrpSpPr>
                <p:cNvPr id="16444" name="Group 9"/>
                <p:cNvGrpSpPr>
                  <a:grpSpLocks/>
                </p:cNvGrpSpPr>
                <p:nvPr/>
              </p:nvGrpSpPr>
              <p:grpSpPr bwMode="auto">
                <a:xfrm>
                  <a:off x="1465" y="1162"/>
                  <a:ext cx="589" cy="2223"/>
                  <a:chOff x="3606" y="1344"/>
                  <a:chExt cx="589" cy="2223"/>
                </a:xfrm>
              </p:grpSpPr>
              <p:sp>
                <p:nvSpPr>
                  <p:cNvPr id="16446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296"/>
                    <a:ext cx="18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6447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614"/>
                    <a:ext cx="18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6448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4014" y="2206"/>
                    <a:ext cx="0" cy="49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6449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4195" y="1344"/>
                    <a:ext cx="0" cy="95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6450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4195" y="2614"/>
                    <a:ext cx="0" cy="95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6451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606" y="2432"/>
                    <a:ext cx="40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6445" name="AutoShape 16"/>
                <p:cNvSpPr>
                  <a:spLocks noChangeArrowheads="1"/>
                </p:cNvSpPr>
                <p:nvPr/>
              </p:nvSpPr>
              <p:spPr bwMode="auto">
                <a:xfrm rot="5400000">
                  <a:off x="1759" y="2200"/>
                  <a:ext cx="116" cy="9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414" name="Rectangle 23"/>
              <p:cNvSpPr>
                <a:spLocks noChangeArrowheads="1"/>
              </p:cNvSpPr>
              <p:nvPr/>
            </p:nvSpPr>
            <p:spPr bwMode="auto">
              <a:xfrm>
                <a:off x="4014" y="2568"/>
                <a:ext cx="91" cy="318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5" name="Line 24"/>
              <p:cNvSpPr>
                <a:spLocks noChangeShapeType="1"/>
              </p:cNvSpPr>
              <p:nvPr/>
            </p:nvSpPr>
            <p:spPr bwMode="auto">
              <a:xfrm>
                <a:off x="2925" y="1298"/>
                <a:ext cx="10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416" name="Line 25"/>
              <p:cNvSpPr>
                <a:spLocks noChangeShapeType="1"/>
              </p:cNvSpPr>
              <p:nvPr/>
            </p:nvSpPr>
            <p:spPr bwMode="auto">
              <a:xfrm>
                <a:off x="2154" y="3022"/>
                <a:ext cx="24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6417" name="Group 26"/>
              <p:cNvGrpSpPr>
                <a:grpSpLocks/>
              </p:cNvGrpSpPr>
              <p:nvPr/>
            </p:nvGrpSpPr>
            <p:grpSpPr bwMode="auto">
              <a:xfrm>
                <a:off x="4195" y="2251"/>
                <a:ext cx="88" cy="272"/>
                <a:chOff x="1689" y="1298"/>
                <a:chExt cx="88" cy="272"/>
              </a:xfrm>
            </p:grpSpPr>
            <p:sp>
              <p:nvSpPr>
                <p:cNvPr id="16441" name="Line 27"/>
                <p:cNvSpPr>
                  <a:spLocks noChangeShapeType="1"/>
                </p:cNvSpPr>
                <p:nvPr/>
              </p:nvSpPr>
              <p:spPr bwMode="auto">
                <a:xfrm>
                  <a:off x="1689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42" name="Line 28"/>
                <p:cNvSpPr>
                  <a:spLocks noChangeShapeType="1"/>
                </p:cNvSpPr>
                <p:nvPr/>
              </p:nvSpPr>
              <p:spPr bwMode="auto">
                <a:xfrm>
                  <a:off x="1777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43" name="Rectangle 29"/>
                <p:cNvSpPr>
                  <a:spLocks noChangeArrowheads="1"/>
                </p:cNvSpPr>
                <p:nvPr/>
              </p:nvSpPr>
              <p:spPr bwMode="auto">
                <a:xfrm>
                  <a:off x="1704" y="1298"/>
                  <a:ext cx="64" cy="2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418" name="Rectangle 32"/>
              <p:cNvSpPr>
                <a:spLocks noChangeArrowheads="1"/>
              </p:cNvSpPr>
              <p:nvPr/>
            </p:nvSpPr>
            <p:spPr bwMode="auto">
              <a:xfrm>
                <a:off x="2880" y="1570"/>
                <a:ext cx="91" cy="290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9" name="Rectangle 33"/>
              <p:cNvSpPr>
                <a:spLocks noChangeArrowheads="1"/>
              </p:cNvSpPr>
              <p:nvPr/>
            </p:nvSpPr>
            <p:spPr bwMode="auto">
              <a:xfrm>
                <a:off x="2880" y="2387"/>
                <a:ext cx="91" cy="289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0" name="Line 37"/>
              <p:cNvSpPr>
                <a:spLocks noChangeShapeType="1"/>
              </p:cNvSpPr>
              <p:nvPr/>
            </p:nvSpPr>
            <p:spPr bwMode="auto">
              <a:xfrm flipV="1">
                <a:off x="2917" y="2148"/>
                <a:ext cx="371" cy="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421" name="Line 38"/>
              <p:cNvSpPr>
                <a:spLocks noChangeShapeType="1"/>
              </p:cNvSpPr>
              <p:nvPr/>
            </p:nvSpPr>
            <p:spPr bwMode="auto">
              <a:xfrm>
                <a:off x="2154" y="1979"/>
                <a:ext cx="77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6422" name="Group 39"/>
              <p:cNvGrpSpPr>
                <a:grpSpLocks/>
              </p:cNvGrpSpPr>
              <p:nvPr/>
            </p:nvGrpSpPr>
            <p:grpSpPr bwMode="auto">
              <a:xfrm>
                <a:off x="2608" y="1842"/>
                <a:ext cx="88" cy="272"/>
                <a:chOff x="1689" y="1298"/>
                <a:chExt cx="88" cy="272"/>
              </a:xfrm>
            </p:grpSpPr>
            <p:sp>
              <p:nvSpPr>
                <p:cNvPr id="16438" name="Line 40"/>
                <p:cNvSpPr>
                  <a:spLocks noChangeShapeType="1"/>
                </p:cNvSpPr>
                <p:nvPr/>
              </p:nvSpPr>
              <p:spPr bwMode="auto">
                <a:xfrm>
                  <a:off x="1689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39" name="Line 41"/>
                <p:cNvSpPr>
                  <a:spLocks noChangeShapeType="1"/>
                </p:cNvSpPr>
                <p:nvPr/>
              </p:nvSpPr>
              <p:spPr bwMode="auto">
                <a:xfrm>
                  <a:off x="1777" y="1298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40" name="Rectangle 42"/>
                <p:cNvSpPr>
                  <a:spLocks noChangeArrowheads="1"/>
                </p:cNvSpPr>
                <p:nvPr/>
              </p:nvSpPr>
              <p:spPr bwMode="auto">
                <a:xfrm>
                  <a:off x="1704" y="1298"/>
                  <a:ext cx="64" cy="2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423" name="Oval 44"/>
              <p:cNvSpPr>
                <a:spLocks noChangeArrowheads="1"/>
              </p:cNvSpPr>
              <p:nvPr/>
            </p:nvSpPr>
            <p:spPr bwMode="auto">
              <a:xfrm>
                <a:off x="3969" y="1253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4" name="Oval 45"/>
              <p:cNvSpPr>
                <a:spLocks noChangeArrowheads="1"/>
              </p:cNvSpPr>
              <p:nvPr/>
            </p:nvSpPr>
            <p:spPr bwMode="auto">
              <a:xfrm>
                <a:off x="4558" y="2341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5" name="Oval 47"/>
              <p:cNvSpPr>
                <a:spLocks noChangeArrowheads="1"/>
              </p:cNvSpPr>
              <p:nvPr/>
            </p:nvSpPr>
            <p:spPr bwMode="auto">
              <a:xfrm>
                <a:off x="2109" y="1933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6" name="Oval 48"/>
              <p:cNvSpPr>
                <a:spLocks noChangeArrowheads="1"/>
              </p:cNvSpPr>
              <p:nvPr/>
            </p:nvSpPr>
            <p:spPr bwMode="auto">
              <a:xfrm>
                <a:off x="2109" y="2976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7" name="Text Box 49"/>
              <p:cNvSpPr txBox="1">
                <a:spLocks noChangeArrowheads="1"/>
              </p:cNvSpPr>
              <p:nvPr/>
            </p:nvSpPr>
            <p:spPr bwMode="auto">
              <a:xfrm>
                <a:off x="3379" y="1797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D</a:t>
                </a:r>
                <a:endParaRPr lang="en-US" sz="1400"/>
              </a:p>
            </p:txBody>
          </p:sp>
          <p:sp>
            <p:nvSpPr>
              <p:cNvPr id="16428" name="Text Box 50"/>
              <p:cNvSpPr txBox="1">
                <a:spLocks noChangeArrowheads="1"/>
              </p:cNvSpPr>
              <p:nvPr/>
            </p:nvSpPr>
            <p:spPr bwMode="auto">
              <a:xfrm>
                <a:off x="3198" y="1933"/>
                <a:ext cx="19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G</a:t>
                </a:r>
                <a:endParaRPr lang="en-US" sz="1400"/>
              </a:p>
            </p:txBody>
          </p:sp>
          <p:sp>
            <p:nvSpPr>
              <p:cNvPr id="16429" name="Text Box 51"/>
              <p:cNvSpPr txBox="1">
                <a:spLocks noChangeArrowheads="1"/>
              </p:cNvSpPr>
              <p:nvPr/>
            </p:nvSpPr>
            <p:spPr bwMode="auto">
              <a:xfrm>
                <a:off x="3379" y="2341"/>
                <a:ext cx="17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S</a:t>
                </a:r>
                <a:endParaRPr lang="en-US" sz="1400"/>
              </a:p>
            </p:txBody>
          </p:sp>
          <p:sp>
            <p:nvSpPr>
              <p:cNvPr id="16430" name="Rectangle 52"/>
              <p:cNvSpPr>
                <a:spLocks noChangeArrowheads="1"/>
              </p:cNvSpPr>
              <p:nvPr/>
            </p:nvSpPr>
            <p:spPr bwMode="auto">
              <a:xfrm>
                <a:off x="3515" y="2568"/>
                <a:ext cx="91" cy="289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1" name="Text Box 53"/>
              <p:cNvSpPr txBox="1">
                <a:spLocks noChangeArrowheads="1"/>
              </p:cNvSpPr>
              <p:nvPr/>
            </p:nvSpPr>
            <p:spPr bwMode="auto">
              <a:xfrm>
                <a:off x="1655" y="1888"/>
                <a:ext cx="4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input</a:t>
                </a:r>
                <a:endParaRPr lang="en-US" sz="1400"/>
              </a:p>
            </p:txBody>
          </p:sp>
          <p:sp>
            <p:nvSpPr>
              <p:cNvPr id="16432" name="Text Box 56"/>
              <p:cNvSpPr txBox="1">
                <a:spLocks noChangeArrowheads="1"/>
              </p:cNvSpPr>
              <p:nvPr/>
            </p:nvSpPr>
            <p:spPr bwMode="auto">
              <a:xfrm>
                <a:off x="1837" y="2931"/>
                <a:ext cx="2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0V</a:t>
                </a:r>
                <a:endParaRPr lang="en-US" sz="1400" baseline="-25000"/>
              </a:p>
            </p:txBody>
          </p:sp>
          <p:sp>
            <p:nvSpPr>
              <p:cNvPr id="16433" name="Oval 63"/>
              <p:cNvSpPr>
                <a:spLocks noChangeArrowheads="1"/>
              </p:cNvSpPr>
              <p:nvPr/>
            </p:nvSpPr>
            <p:spPr bwMode="auto">
              <a:xfrm>
                <a:off x="4558" y="2976"/>
                <a:ext cx="91" cy="9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4" name="Text Box 64"/>
              <p:cNvSpPr txBox="1">
                <a:spLocks noChangeArrowheads="1"/>
              </p:cNvSpPr>
              <p:nvPr/>
            </p:nvSpPr>
            <p:spPr bwMode="auto">
              <a:xfrm>
                <a:off x="4105" y="2659"/>
                <a:ext cx="38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LOAD</a:t>
                </a:r>
                <a:endParaRPr lang="en-US" sz="1400" baseline="-25000"/>
              </a:p>
            </p:txBody>
          </p:sp>
          <p:sp>
            <p:nvSpPr>
              <p:cNvPr id="16435" name="Text Box 65"/>
              <p:cNvSpPr txBox="1">
                <a:spLocks noChangeArrowheads="1"/>
              </p:cNvSpPr>
              <p:nvPr/>
            </p:nvSpPr>
            <p:spPr bwMode="auto">
              <a:xfrm>
                <a:off x="2971" y="1616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1</a:t>
                </a:r>
                <a:endParaRPr lang="en-US" sz="1400" baseline="-25000"/>
              </a:p>
            </p:txBody>
          </p:sp>
          <p:sp>
            <p:nvSpPr>
              <p:cNvPr id="16436" name="Text Box 66"/>
              <p:cNvSpPr txBox="1">
                <a:spLocks noChangeArrowheads="1"/>
              </p:cNvSpPr>
              <p:nvPr/>
            </p:nvSpPr>
            <p:spPr bwMode="auto">
              <a:xfrm>
                <a:off x="2971" y="2432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2</a:t>
                </a:r>
                <a:endParaRPr lang="en-US" sz="1400" baseline="-25000"/>
              </a:p>
            </p:txBody>
          </p:sp>
          <p:sp>
            <p:nvSpPr>
              <p:cNvPr id="16437" name="Text Box 67"/>
              <p:cNvSpPr txBox="1">
                <a:spLocks noChangeArrowheads="1"/>
              </p:cNvSpPr>
              <p:nvPr/>
            </p:nvSpPr>
            <p:spPr bwMode="auto">
              <a:xfrm>
                <a:off x="3606" y="2659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400"/>
                  <a:t>R</a:t>
                </a:r>
                <a:r>
                  <a:rPr lang="en-GB" sz="1400" baseline="-25000"/>
                  <a:t>3</a:t>
                </a:r>
                <a:endParaRPr lang="en-US" sz="1400" baseline="-25000"/>
              </a:p>
            </p:txBody>
          </p:sp>
        </p:grpSp>
        <p:sp>
          <p:nvSpPr>
            <p:cNvPr id="16408" name="Text Box 69"/>
            <p:cNvSpPr txBox="1">
              <a:spLocks noChangeArrowheads="1"/>
            </p:cNvSpPr>
            <p:nvPr/>
          </p:nvSpPr>
          <p:spPr bwMode="auto">
            <a:xfrm>
              <a:off x="1474" y="1117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C</a:t>
              </a:r>
              <a:r>
                <a:rPr lang="en-GB" baseline="-25000"/>
                <a:t>1</a:t>
              </a:r>
              <a:endParaRPr lang="en-US" baseline="-25000"/>
            </a:p>
          </p:txBody>
        </p:sp>
        <p:sp>
          <p:nvSpPr>
            <p:cNvPr id="16409" name="Text Box 70"/>
            <p:cNvSpPr txBox="1">
              <a:spLocks noChangeArrowheads="1"/>
            </p:cNvSpPr>
            <p:nvPr/>
          </p:nvSpPr>
          <p:spPr bwMode="auto">
            <a:xfrm>
              <a:off x="3061" y="1525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C</a:t>
              </a:r>
              <a:r>
                <a:rPr lang="en-GB" baseline="-25000"/>
                <a:t>2</a:t>
              </a:r>
              <a:endParaRPr lang="en-US" baseline="-25000"/>
            </a:p>
          </p:txBody>
        </p:sp>
      </p:grpSp>
      <p:cxnSp>
        <p:nvCxnSpPr>
          <p:cNvPr id="16390" name="Straight Connector 52"/>
          <p:cNvCxnSpPr>
            <a:cxnSpLocks noChangeShapeType="1"/>
          </p:cNvCxnSpPr>
          <p:nvPr/>
        </p:nvCxnSpPr>
        <p:spPr bwMode="auto">
          <a:xfrm>
            <a:off x="5154613" y="4662488"/>
            <a:ext cx="1277937" cy="15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1" name="Straight Connector 53"/>
          <p:cNvCxnSpPr>
            <a:cxnSpLocks noChangeShapeType="1"/>
          </p:cNvCxnSpPr>
          <p:nvPr/>
        </p:nvCxnSpPr>
        <p:spPr bwMode="auto">
          <a:xfrm rot="16200000" flipH="1">
            <a:off x="5020469" y="4512469"/>
            <a:ext cx="266700" cy="523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2" name="Straight Connector 54"/>
          <p:cNvCxnSpPr>
            <a:cxnSpLocks noChangeShapeType="1"/>
          </p:cNvCxnSpPr>
          <p:nvPr/>
        </p:nvCxnSpPr>
        <p:spPr bwMode="auto">
          <a:xfrm rot="5400000">
            <a:off x="5980907" y="4172744"/>
            <a:ext cx="906462" cy="3810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3" name="Straight Connector 55"/>
          <p:cNvCxnSpPr>
            <a:cxnSpLocks noChangeShapeType="1"/>
          </p:cNvCxnSpPr>
          <p:nvPr/>
        </p:nvCxnSpPr>
        <p:spPr bwMode="auto">
          <a:xfrm>
            <a:off x="5164138" y="4762500"/>
            <a:ext cx="1277937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4" name="Straight Connector 56"/>
          <p:cNvCxnSpPr>
            <a:cxnSpLocks noChangeShapeType="1"/>
          </p:cNvCxnSpPr>
          <p:nvPr/>
        </p:nvCxnSpPr>
        <p:spPr bwMode="auto">
          <a:xfrm rot="5400000">
            <a:off x="4783932" y="5053806"/>
            <a:ext cx="673100" cy="8731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5" name="Straight Connector 57"/>
          <p:cNvCxnSpPr>
            <a:cxnSpLocks noChangeShapeType="1"/>
          </p:cNvCxnSpPr>
          <p:nvPr/>
        </p:nvCxnSpPr>
        <p:spPr bwMode="auto">
          <a:xfrm rot="16200000" flipH="1">
            <a:off x="6131719" y="5056982"/>
            <a:ext cx="649287" cy="4445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6" name="TextBox 58"/>
          <p:cNvSpPr txBox="1">
            <a:spLocks noChangeArrowheads="1"/>
          </p:cNvSpPr>
          <p:nvPr/>
        </p:nvSpPr>
        <p:spPr bwMode="auto">
          <a:xfrm>
            <a:off x="5272088" y="4856163"/>
            <a:ext cx="10699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/>
              <a:t>shielded cable</a:t>
            </a:r>
            <a:endParaRPr lang="en-US"/>
          </a:p>
        </p:txBody>
      </p:sp>
      <p:pic>
        <p:nvPicPr>
          <p:cNvPr id="16397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675" y="5691188"/>
            <a:ext cx="819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8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00" y="5572125"/>
            <a:ext cx="819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399" name="Straight Connector 62"/>
          <p:cNvCxnSpPr>
            <a:cxnSpLocks noChangeShapeType="1"/>
          </p:cNvCxnSpPr>
          <p:nvPr/>
        </p:nvCxnSpPr>
        <p:spPr bwMode="auto">
          <a:xfrm rot="5400000" flipH="1" flipV="1">
            <a:off x="1813720" y="5491956"/>
            <a:ext cx="258762" cy="952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0" name="Straight Connector 70"/>
          <p:cNvCxnSpPr>
            <a:cxnSpLocks noChangeShapeType="1"/>
          </p:cNvCxnSpPr>
          <p:nvPr/>
        </p:nvCxnSpPr>
        <p:spPr bwMode="auto">
          <a:xfrm rot="16200000" flipV="1">
            <a:off x="7309644" y="5557044"/>
            <a:ext cx="341312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" name="Arc 73"/>
          <p:cNvSpPr/>
          <p:nvPr/>
        </p:nvSpPr>
        <p:spPr bwMode="auto">
          <a:xfrm flipV="1">
            <a:off x="1673225" y="5970588"/>
            <a:ext cx="5788025" cy="476250"/>
          </a:xfrm>
          <a:prstGeom prst="arc">
            <a:avLst>
              <a:gd name="adj1" fmla="val 16200376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" name="Arc 74"/>
          <p:cNvSpPr/>
          <p:nvPr/>
        </p:nvSpPr>
        <p:spPr bwMode="auto">
          <a:xfrm flipH="1" flipV="1">
            <a:off x="1901825" y="5522913"/>
            <a:ext cx="5267325" cy="914400"/>
          </a:xfrm>
          <a:prstGeom prst="arc">
            <a:avLst>
              <a:gd name="adj1" fmla="val 16200204"/>
              <a:gd name="adj2" fmla="val 2153325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6403" name="Group 81"/>
          <p:cNvGrpSpPr>
            <a:grpSpLocks/>
          </p:cNvGrpSpPr>
          <p:nvPr/>
        </p:nvGrpSpPr>
        <p:grpSpPr bwMode="auto">
          <a:xfrm>
            <a:off x="2158409" y="5605463"/>
            <a:ext cx="5039833" cy="859132"/>
            <a:chOff x="2889504" y="5577840"/>
            <a:chExt cx="3989832" cy="698677"/>
          </a:xfrm>
        </p:grpSpPr>
        <p:sp>
          <p:nvSpPr>
            <p:cNvPr id="79" name="Freeform 78"/>
            <p:cNvSpPr/>
            <p:nvPr/>
          </p:nvSpPr>
          <p:spPr bwMode="auto">
            <a:xfrm>
              <a:off x="2889504" y="5577840"/>
              <a:ext cx="3989832" cy="698677"/>
            </a:xfrm>
            <a:custGeom>
              <a:avLst/>
              <a:gdLst>
                <a:gd name="connsiteX0" fmla="*/ 0 w 3989832"/>
                <a:gd name="connsiteY0" fmla="*/ 403860 h 830580"/>
                <a:gd name="connsiteX1" fmla="*/ 274320 w 3989832"/>
                <a:gd name="connsiteY1" fmla="*/ 175260 h 830580"/>
                <a:gd name="connsiteX2" fmla="*/ 1499616 w 3989832"/>
                <a:gd name="connsiteY2" fmla="*/ 19812 h 830580"/>
                <a:gd name="connsiteX3" fmla="*/ 2715768 w 3989832"/>
                <a:gd name="connsiteY3" fmla="*/ 56388 h 830580"/>
                <a:gd name="connsiteX4" fmla="*/ 3685032 w 3989832"/>
                <a:gd name="connsiteY4" fmla="*/ 175260 h 830580"/>
                <a:gd name="connsiteX5" fmla="*/ 3959352 w 3989832"/>
                <a:gd name="connsiteY5" fmla="*/ 367284 h 830580"/>
                <a:gd name="connsiteX6" fmla="*/ 3867912 w 3989832"/>
                <a:gd name="connsiteY6" fmla="*/ 559308 h 830580"/>
                <a:gd name="connsiteX7" fmla="*/ 3392424 w 3989832"/>
                <a:gd name="connsiteY7" fmla="*/ 687324 h 830580"/>
                <a:gd name="connsiteX8" fmla="*/ 2395728 w 3989832"/>
                <a:gd name="connsiteY8" fmla="*/ 787908 h 830580"/>
                <a:gd name="connsiteX9" fmla="*/ 1682496 w 3989832"/>
                <a:gd name="connsiteY9" fmla="*/ 815340 h 830580"/>
                <a:gd name="connsiteX10" fmla="*/ 612648 w 3989832"/>
                <a:gd name="connsiteY10" fmla="*/ 696468 h 830580"/>
                <a:gd name="connsiteX11" fmla="*/ 155448 w 3989832"/>
                <a:gd name="connsiteY11" fmla="*/ 550164 h 830580"/>
                <a:gd name="connsiteX12" fmla="*/ 155448 w 3989832"/>
                <a:gd name="connsiteY12" fmla="*/ 550164 h 830580"/>
                <a:gd name="connsiteX0" fmla="*/ 0 w 3989832"/>
                <a:gd name="connsiteY0" fmla="*/ 403860 h 806736"/>
                <a:gd name="connsiteX1" fmla="*/ 274320 w 3989832"/>
                <a:gd name="connsiteY1" fmla="*/ 175260 h 806736"/>
                <a:gd name="connsiteX2" fmla="*/ 1499616 w 3989832"/>
                <a:gd name="connsiteY2" fmla="*/ 19812 h 806736"/>
                <a:gd name="connsiteX3" fmla="*/ 2715768 w 3989832"/>
                <a:gd name="connsiteY3" fmla="*/ 56388 h 806736"/>
                <a:gd name="connsiteX4" fmla="*/ 3685032 w 3989832"/>
                <a:gd name="connsiteY4" fmla="*/ 175260 h 806736"/>
                <a:gd name="connsiteX5" fmla="*/ 3959352 w 3989832"/>
                <a:gd name="connsiteY5" fmla="*/ 367284 h 806736"/>
                <a:gd name="connsiteX6" fmla="*/ 3867912 w 3989832"/>
                <a:gd name="connsiteY6" fmla="*/ 559308 h 806736"/>
                <a:gd name="connsiteX7" fmla="*/ 3392424 w 3989832"/>
                <a:gd name="connsiteY7" fmla="*/ 687324 h 806736"/>
                <a:gd name="connsiteX8" fmla="*/ 2395728 w 3989832"/>
                <a:gd name="connsiteY8" fmla="*/ 787908 h 806736"/>
                <a:gd name="connsiteX9" fmla="*/ 1664208 w 3989832"/>
                <a:gd name="connsiteY9" fmla="*/ 791496 h 806736"/>
                <a:gd name="connsiteX10" fmla="*/ 612648 w 3989832"/>
                <a:gd name="connsiteY10" fmla="*/ 696468 h 806736"/>
                <a:gd name="connsiteX11" fmla="*/ 155448 w 3989832"/>
                <a:gd name="connsiteY11" fmla="*/ 550164 h 806736"/>
                <a:gd name="connsiteX12" fmla="*/ 155448 w 3989832"/>
                <a:gd name="connsiteY12" fmla="*/ 550164 h 806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89832" h="806736">
                  <a:moveTo>
                    <a:pt x="0" y="403860"/>
                  </a:moveTo>
                  <a:cubicBezTo>
                    <a:pt x="12192" y="321564"/>
                    <a:pt x="24384" y="239268"/>
                    <a:pt x="274320" y="175260"/>
                  </a:cubicBezTo>
                  <a:cubicBezTo>
                    <a:pt x="524256" y="111252"/>
                    <a:pt x="1092708" y="39624"/>
                    <a:pt x="1499616" y="19812"/>
                  </a:cubicBezTo>
                  <a:cubicBezTo>
                    <a:pt x="1906524" y="0"/>
                    <a:pt x="2351532" y="30480"/>
                    <a:pt x="2715768" y="56388"/>
                  </a:cubicBezTo>
                  <a:cubicBezTo>
                    <a:pt x="3080004" y="82296"/>
                    <a:pt x="3477768" y="123444"/>
                    <a:pt x="3685032" y="175260"/>
                  </a:cubicBezTo>
                  <a:cubicBezTo>
                    <a:pt x="3892296" y="227076"/>
                    <a:pt x="3928872" y="303276"/>
                    <a:pt x="3959352" y="367284"/>
                  </a:cubicBezTo>
                  <a:cubicBezTo>
                    <a:pt x="3989832" y="431292"/>
                    <a:pt x="3962400" y="505968"/>
                    <a:pt x="3867912" y="559308"/>
                  </a:cubicBezTo>
                  <a:cubicBezTo>
                    <a:pt x="3773424" y="612648"/>
                    <a:pt x="3637788" y="649224"/>
                    <a:pt x="3392424" y="687324"/>
                  </a:cubicBezTo>
                  <a:cubicBezTo>
                    <a:pt x="3147060" y="725424"/>
                    <a:pt x="2683764" y="770546"/>
                    <a:pt x="2395728" y="787908"/>
                  </a:cubicBezTo>
                  <a:cubicBezTo>
                    <a:pt x="2107692" y="805270"/>
                    <a:pt x="1961388" y="806736"/>
                    <a:pt x="1664208" y="791496"/>
                  </a:cubicBezTo>
                  <a:cubicBezTo>
                    <a:pt x="1367028" y="776256"/>
                    <a:pt x="864108" y="736690"/>
                    <a:pt x="612648" y="696468"/>
                  </a:cubicBezTo>
                  <a:cubicBezTo>
                    <a:pt x="361188" y="656246"/>
                    <a:pt x="155448" y="550164"/>
                    <a:pt x="155448" y="550164"/>
                  </a:cubicBezTo>
                  <a:lnTo>
                    <a:pt x="155448" y="550164"/>
                  </a:lnTo>
                </a:path>
              </a:pathLst>
            </a:custGeom>
            <a:noFill/>
            <a:ln w="254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cxnSp>
          <p:nvCxnSpPr>
            <p:cNvPr id="81" name="Straight Arrow Connector 80"/>
            <p:cNvCxnSpPr/>
            <p:nvPr/>
          </p:nvCxnSpPr>
          <p:spPr bwMode="auto">
            <a:xfrm rot="10800000">
              <a:off x="2999053" y="6016752"/>
              <a:ext cx="155592" cy="7345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6404" name="TextBox 82"/>
          <p:cNvSpPr txBox="1">
            <a:spLocks noChangeArrowheads="1"/>
          </p:cNvSpPr>
          <p:nvPr/>
        </p:nvSpPr>
        <p:spPr bwMode="auto">
          <a:xfrm>
            <a:off x="2767382" y="5717215"/>
            <a:ext cx="383543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1200" dirty="0"/>
              <a:t>Complete electrical circuit within the earth section – because there is often a small resistive part of the circuit to ground (more in UG2)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 bwMode="auto">
          <a:xfrm>
            <a:off x="7410893" y="5539563"/>
            <a:ext cx="138223" cy="26581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4" name="Straight Arrow Connector 3"/>
          <p:cNvCxnSpPr>
            <a:stCxn id="16404" idx="3"/>
            <a:endCxn id="16397" idx="0"/>
          </p:cNvCxnSpPr>
          <p:nvPr/>
        </p:nvCxnSpPr>
        <p:spPr bwMode="auto">
          <a:xfrm flipV="1">
            <a:off x="6602818" y="5691188"/>
            <a:ext cx="858432" cy="3491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5123410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5" y="1764416"/>
            <a:ext cx="8123313" cy="2734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95288" y="331788"/>
            <a:ext cx="43332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Ground Loops – Ground Lift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36874" y="5556232"/>
            <a:ext cx="4331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/>
              <a:t>should be Ok on professional equipment </a:t>
            </a:r>
          </a:p>
          <a:p>
            <a:r>
              <a:rPr lang="en-GB" b="1" i="1" dirty="0"/>
              <a:t>… but always beware the safety aspects!!!</a:t>
            </a:r>
          </a:p>
        </p:txBody>
      </p:sp>
    </p:spTree>
    <p:extLst>
      <p:ext uri="{BB962C8B-B14F-4D97-AF65-F5344CB8AC3E}">
        <p14:creationId xmlns:p14="http://schemas.microsoft.com/office/powerpoint/2010/main" val="37504569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395288" y="331788"/>
            <a:ext cx="60901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Professional Audio Signal Interconnects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1028700"/>
            <a:ext cx="824388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Via a balanced line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/>
              <a:t>two signal conductors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/>
              <a:t>plus earth shielding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Uses circuitry to convert ...</a:t>
            </a:r>
          </a:p>
          <a:p>
            <a:r>
              <a:rPr lang="en-GB" b="1" i="1" dirty="0"/>
              <a:t>	single-ended (unbalanced) line → balanced line → input to circuit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... achieved by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/>
              <a:t>transformer circuit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dirty="0"/>
              <a:t>passive – no amplifier – no induced noise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dirty="0"/>
              <a:t>op-amp (electronic circuit)</a:t>
            </a:r>
          </a:p>
          <a:p>
            <a:pPr marL="1095375" lvl="2" indent="-180975">
              <a:buFont typeface="Arial" pitchFamily="34" charset="0"/>
              <a:buChar char="•"/>
            </a:pPr>
            <a:r>
              <a:rPr lang="en-GB" dirty="0"/>
              <a:t>could introduce noise in op-amp electronics</a:t>
            </a:r>
          </a:p>
          <a:p>
            <a:pPr marL="180975" indent="-180975"/>
            <a:r>
              <a:rPr lang="en-GB" dirty="0"/>
              <a:t>		... (considering we are aiming to eliminate noise in the first place ...)</a:t>
            </a:r>
          </a:p>
        </p:txBody>
      </p:sp>
    </p:spTree>
    <p:extLst>
      <p:ext uri="{BB962C8B-B14F-4D97-AF65-F5344CB8AC3E}">
        <p14:creationId xmlns:p14="http://schemas.microsoft.com/office/powerpoint/2010/main" val="13209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Radio Shack Audio Transformer, Catalog # 273-138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330647"/>
            <a:ext cx="2840257" cy="269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95288" y="331788"/>
            <a:ext cx="234711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800" b="1" dirty="0"/>
              <a:t>Audio </a:t>
            </a:r>
          </a:p>
          <a:p>
            <a:r>
              <a:rPr lang="en-GB" sz="2800" b="1" dirty="0"/>
              <a:t>Transformer</a:t>
            </a:r>
            <a:endParaRPr lang="en-US" sz="2800" b="1" dirty="0"/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655" y="0"/>
            <a:ext cx="5779909" cy="4334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3608671" y="2650448"/>
            <a:ext cx="11272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dirty="0"/>
              <a:t>M Audio Luna</a:t>
            </a:r>
          </a:p>
          <a:p>
            <a:r>
              <a:rPr lang="en-GB" sz="1100" dirty="0"/>
              <a:t>Capacitor </a:t>
            </a:r>
            <a:r>
              <a:rPr lang="en-GB" sz="1100" dirty="0" err="1"/>
              <a:t>mic</a:t>
            </a:r>
            <a:endParaRPr lang="en-GB" sz="1100" dirty="0"/>
          </a:p>
        </p:txBody>
      </p:sp>
      <p:pic>
        <p:nvPicPr>
          <p:cNvPr id="11" name="Picture 10" descr="http://www.cybermarket.co.uk/images/product/main/g_NTE-10-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33" y="4329177"/>
            <a:ext cx="2240280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344" y="3225697"/>
            <a:ext cx="2663321" cy="335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15820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www.circuitstoday.com/wp-content/uploads/2011/12/Transformer-Working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74"/>
          <a:stretch/>
        </p:blipFill>
        <p:spPr bwMode="auto">
          <a:xfrm>
            <a:off x="1233605" y="885524"/>
            <a:ext cx="4438650" cy="2802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\begin{figure}&#10;\epsfysize =2.5in&#10;\centerline{\epsffile{trans.eps}}&#10;\end{figure}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025" y="4812632"/>
            <a:ext cx="3046631" cy="1523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/>
          <a:srcRect l="17428" b="51562"/>
          <a:stretch>
            <a:fillRect/>
          </a:stretch>
        </p:blipFill>
        <p:spPr bwMode="auto">
          <a:xfrm>
            <a:off x="395288" y="1982805"/>
            <a:ext cx="882829" cy="66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/>
          <a:srcRect l="17428" b="51562"/>
          <a:stretch>
            <a:fillRect/>
          </a:stretch>
        </p:blipFill>
        <p:spPr bwMode="auto">
          <a:xfrm>
            <a:off x="5487053" y="1482292"/>
            <a:ext cx="882829" cy="66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95288" y="2675824"/>
            <a:ext cx="106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voltage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8177" y="2146435"/>
            <a:ext cx="106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voltage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1687" y="4312119"/>
            <a:ext cx="2675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Circuit schematic</a:t>
            </a:r>
          </a:p>
        </p:txBody>
      </p:sp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395288" y="331788"/>
            <a:ext cx="23471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800" b="1" dirty="0"/>
              <a:t>Transformer</a:t>
            </a:r>
            <a:endParaRPr 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95288" y="4013733"/>
            <a:ext cx="46868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B050"/>
                </a:solidFill>
              </a:rPr>
              <a:t>Voltage in to primary winding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B050"/>
                </a:solidFill>
              </a:rPr>
              <a:t>induces a magnetic field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B050"/>
                </a:solidFill>
              </a:rPr>
              <a:t>magnetic field strength is relative to the input signal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B050"/>
                </a:solidFill>
              </a:rPr>
              <a:t>magnetic field induces voltage in secondary winding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B050"/>
                </a:solidFill>
              </a:rPr>
              <a:t>… voltage out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err="1">
                <a:solidFill>
                  <a:srgbClr val="00B050"/>
                </a:solidFill>
              </a:rPr>
              <a:t>V</a:t>
            </a:r>
            <a:r>
              <a:rPr lang="en-GB" baseline="-25000" dirty="0" err="1">
                <a:solidFill>
                  <a:srgbClr val="00B050"/>
                </a:solidFill>
              </a:rPr>
              <a:t>out</a:t>
            </a:r>
            <a:r>
              <a:rPr lang="en-GB" baseline="-25000" dirty="0">
                <a:solidFill>
                  <a:srgbClr val="00B050"/>
                </a:solidFill>
              </a:rPr>
              <a:t> </a:t>
            </a:r>
            <a:r>
              <a:rPr lang="en-GB" dirty="0">
                <a:solidFill>
                  <a:srgbClr val="00B050"/>
                </a:solidFill>
              </a:rPr>
              <a:t> depends on numbers of windings </a:t>
            </a:r>
            <a:r>
              <a:rPr lang="en-GB" dirty="0" err="1">
                <a:solidFill>
                  <a:srgbClr val="00B050"/>
                </a:solidFill>
              </a:rPr>
              <a:t>Primary:Secondary</a:t>
            </a:r>
            <a:endParaRPr lang="en-GB" baseline="-25000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4657" y="1828800"/>
            <a:ext cx="314510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7793" y="1222409"/>
            <a:ext cx="314510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1876926" y="1540042"/>
            <a:ext cx="288758" cy="1828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 flipV="1">
            <a:off x="1520791" y="1973179"/>
            <a:ext cx="9626" cy="5775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stealth" w="med" len="med"/>
            <a:tailEnd type="stealth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3205211" y="1953929"/>
            <a:ext cx="314510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</a:p>
        </p:txBody>
      </p:sp>
      <p:cxnSp>
        <p:nvCxnSpPr>
          <p:cNvPr id="21" name="Straight Arrow Connector 20"/>
          <p:cNvCxnSpPr>
            <a:stCxn id="20" idx="0"/>
          </p:cNvCxnSpPr>
          <p:nvPr/>
        </p:nvCxnSpPr>
        <p:spPr bwMode="auto">
          <a:xfrm flipH="1" flipV="1">
            <a:off x="3214838" y="1799924"/>
            <a:ext cx="147628" cy="1540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4822256" y="1001028"/>
            <a:ext cx="314510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4</a:t>
            </a:r>
          </a:p>
        </p:txBody>
      </p:sp>
      <p:cxnSp>
        <p:nvCxnSpPr>
          <p:cNvPr id="24" name="Straight Arrow Connector 23"/>
          <p:cNvCxnSpPr/>
          <p:nvPr/>
        </p:nvCxnSpPr>
        <p:spPr bwMode="auto">
          <a:xfrm flipH="1">
            <a:off x="4254366" y="1328286"/>
            <a:ext cx="539015" cy="6160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4928134" y="2002056"/>
            <a:ext cx="314510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5</a:t>
            </a:r>
          </a:p>
        </p:txBody>
      </p:sp>
      <p:cxnSp>
        <p:nvCxnSpPr>
          <p:cNvPr id="27" name="Straight Arrow Connector 26"/>
          <p:cNvCxnSpPr/>
          <p:nvPr/>
        </p:nvCxnSpPr>
        <p:spPr bwMode="auto">
          <a:xfrm flipH="1" flipV="1">
            <a:off x="4860758" y="1511166"/>
            <a:ext cx="9626" cy="9240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stealth" w="med" len="med"/>
            <a:tailEnd type="stealth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2608446" y="3339967"/>
            <a:ext cx="314510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6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 bwMode="auto">
          <a:xfrm flipH="1" flipV="1">
            <a:off x="2348564" y="2560320"/>
            <a:ext cx="417137" cy="7796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/>
          <p:nvPr/>
        </p:nvCxnSpPr>
        <p:spPr bwMode="auto">
          <a:xfrm flipV="1">
            <a:off x="2743200" y="2521820"/>
            <a:ext cx="1318662" cy="8085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8736177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143" y="873793"/>
            <a:ext cx="4438650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 l="17428" b="51562"/>
          <a:stretch>
            <a:fillRect/>
          </a:stretch>
        </p:blipFill>
        <p:spPr bwMode="auto">
          <a:xfrm>
            <a:off x="395288" y="1982805"/>
            <a:ext cx="882829" cy="66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 l="17428" b="51562"/>
          <a:stretch>
            <a:fillRect/>
          </a:stretch>
        </p:blipFill>
        <p:spPr bwMode="auto">
          <a:xfrm>
            <a:off x="5236798" y="1414912"/>
            <a:ext cx="627132" cy="472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95288" y="2675824"/>
            <a:ext cx="106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voltage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2694" y="1511166"/>
            <a:ext cx="1395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voltage out</a:t>
            </a:r>
          </a:p>
          <a:p>
            <a:pPr algn="ctr"/>
            <a:r>
              <a:rPr lang="en-GB" dirty="0"/>
              <a:t>divided by “tap”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0188" y="4292869"/>
            <a:ext cx="2675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Circuit schematic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395288" y="331788"/>
            <a:ext cx="23471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800" b="1" dirty="0"/>
              <a:t>Transformer</a:t>
            </a:r>
            <a:endParaRPr lang="en-US" sz="2800" b="1" dirty="0"/>
          </a:p>
        </p:txBody>
      </p:sp>
      <p:cxnSp>
        <p:nvCxnSpPr>
          <p:cNvPr id="14" name="Straight Arrow Connector 13"/>
          <p:cNvCxnSpPr/>
          <p:nvPr/>
        </p:nvCxnSpPr>
        <p:spPr bwMode="auto">
          <a:xfrm flipH="1" flipV="1">
            <a:off x="1520791" y="1973179"/>
            <a:ext cx="9626" cy="5775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stealth" w="med" len="med"/>
            <a:tailEnd type="stealth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V="1">
            <a:off x="5053263" y="1424541"/>
            <a:ext cx="0" cy="5390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stealth" w="med" len="med"/>
            <a:tailEnd type="stealth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 flipV="1">
            <a:off x="4629752" y="1982804"/>
            <a:ext cx="731520" cy="962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3" cstate="print"/>
          <a:srcRect l="17428" b="51562"/>
          <a:stretch>
            <a:fillRect/>
          </a:stretch>
        </p:blipFill>
        <p:spPr bwMode="auto">
          <a:xfrm>
            <a:off x="5236798" y="2011679"/>
            <a:ext cx="627132" cy="472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9" name="Straight Arrow Connector 28"/>
          <p:cNvCxnSpPr/>
          <p:nvPr/>
        </p:nvCxnSpPr>
        <p:spPr bwMode="auto">
          <a:xfrm flipV="1">
            <a:off x="5120640" y="2011680"/>
            <a:ext cx="0" cy="433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stealth" w="med" len="med"/>
            <a:tailEnd type="stealth"/>
          </a:ln>
          <a:effectLst/>
        </p:spPr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072" y="4620929"/>
            <a:ext cx="30480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6058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464" y="1675597"/>
            <a:ext cx="4195010" cy="2097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399" y="2737183"/>
            <a:ext cx="519012" cy="429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03159" y="1395665"/>
            <a:ext cx="612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+5V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0938" y="1799924"/>
            <a:ext cx="808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+2.5V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5788" y="3436218"/>
            <a:ext cx="7633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-2.5V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 cstate="print"/>
          <a:srcRect l="17428" b="51562"/>
          <a:stretch>
            <a:fillRect/>
          </a:stretch>
        </p:blipFill>
        <p:spPr bwMode="auto">
          <a:xfrm>
            <a:off x="520417" y="2377441"/>
            <a:ext cx="882829" cy="66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Arrow Connector 4"/>
          <p:cNvCxnSpPr>
            <a:stCxn id="3" idx="2"/>
          </p:cNvCxnSpPr>
          <p:nvPr/>
        </p:nvCxnSpPr>
        <p:spPr bwMode="auto">
          <a:xfrm flipH="1">
            <a:off x="1097280" y="1734219"/>
            <a:ext cx="412213" cy="6720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395288" y="331788"/>
            <a:ext cx="68804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800" b="1" dirty="0"/>
              <a:t>Transformer – Centre Tapped, Earthed</a:t>
            </a:r>
            <a:endParaRPr lang="en-US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95288" y="952904"/>
            <a:ext cx="5630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Input signal – at an instant when it reaches (e.g.) 5V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8392" y="4369872"/>
            <a:ext cx="44198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Output signal is divided to reach peaks of:</a:t>
            </a:r>
          </a:p>
          <a:p>
            <a:pPr marL="400050" indent="-400050">
              <a:buAutoNum type="romanLcParenBoth"/>
            </a:pPr>
            <a:r>
              <a:rPr lang="en-GB" dirty="0"/>
              <a:t>+2.5V</a:t>
            </a:r>
          </a:p>
          <a:p>
            <a:pPr marL="400050" indent="-400050">
              <a:buAutoNum type="romanLcParenBoth"/>
            </a:pPr>
            <a:r>
              <a:rPr lang="en-GB" dirty="0"/>
              <a:t>-2.5V</a:t>
            </a:r>
          </a:p>
        </p:txBody>
      </p:sp>
      <p:cxnSp>
        <p:nvCxnSpPr>
          <p:cNvPr id="17" name="Straight Arrow Connector 16"/>
          <p:cNvCxnSpPr/>
          <p:nvPr/>
        </p:nvCxnSpPr>
        <p:spPr bwMode="auto">
          <a:xfrm flipH="1" flipV="1">
            <a:off x="6400801" y="3667226"/>
            <a:ext cx="317633" cy="7218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9" name="Picture 18"/>
          <p:cNvPicPr>
            <a:picLocks noChangeAspect="1" noChangeArrowheads="1"/>
          </p:cNvPicPr>
          <p:nvPr/>
        </p:nvPicPr>
        <p:blipFill>
          <a:blip r:embed="rId4" cstate="print"/>
          <a:srcRect l="17428" b="51562"/>
          <a:stretch>
            <a:fillRect/>
          </a:stretch>
        </p:blipFill>
        <p:spPr bwMode="auto">
          <a:xfrm>
            <a:off x="5795061" y="1876928"/>
            <a:ext cx="882829" cy="66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Freeform 62"/>
          <p:cNvSpPr>
            <a:spLocks/>
          </p:cNvSpPr>
          <p:nvPr/>
        </p:nvSpPr>
        <p:spPr bwMode="auto">
          <a:xfrm flipH="1" flipV="1">
            <a:off x="5823284" y="2790699"/>
            <a:ext cx="750772" cy="56851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cxnSp>
        <p:nvCxnSpPr>
          <p:cNvPr id="23" name="Straight Arrow Connector 22"/>
          <p:cNvCxnSpPr/>
          <p:nvPr/>
        </p:nvCxnSpPr>
        <p:spPr bwMode="auto">
          <a:xfrm flipV="1">
            <a:off x="6901314" y="2127184"/>
            <a:ext cx="105879" cy="2242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9885178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13326" y="1162580"/>
            <a:ext cx="1352550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5"/>
          <p:cNvSpPr txBox="1">
            <a:spLocks noChangeArrowheads="1"/>
          </p:cNvSpPr>
          <p:nvPr/>
        </p:nvSpPr>
        <p:spPr bwMode="auto">
          <a:xfrm>
            <a:off x="395288" y="331788"/>
            <a:ext cx="23471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800" b="1" dirty="0"/>
              <a:t>Transformer</a:t>
            </a:r>
            <a:endParaRPr lang="en-US" sz="2800" b="1" dirty="0"/>
          </a:p>
        </p:txBody>
      </p:sp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754" y="1311850"/>
            <a:ext cx="1333500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067" y="4318476"/>
            <a:ext cx="1315453" cy="123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reeform 62"/>
          <p:cNvSpPr>
            <a:spLocks/>
          </p:cNvSpPr>
          <p:nvPr/>
        </p:nvSpPr>
        <p:spPr bwMode="auto">
          <a:xfrm>
            <a:off x="660464" y="1504799"/>
            <a:ext cx="504825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6" name="Freeform 62"/>
          <p:cNvSpPr>
            <a:spLocks/>
          </p:cNvSpPr>
          <p:nvPr/>
        </p:nvSpPr>
        <p:spPr bwMode="auto">
          <a:xfrm>
            <a:off x="5298820" y="4362892"/>
            <a:ext cx="504825" cy="36195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" name="Freeform 62"/>
          <p:cNvSpPr>
            <a:spLocks/>
          </p:cNvSpPr>
          <p:nvPr/>
        </p:nvSpPr>
        <p:spPr bwMode="auto">
          <a:xfrm flipH="1">
            <a:off x="5318378" y="5104572"/>
            <a:ext cx="508000" cy="36195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239840" y="1402578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</a:t>
            </a:r>
            <a:r>
              <a:rPr lang="en-GB" baseline="-25000" dirty="0"/>
              <a:t>in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5719127" y="4215599"/>
            <a:ext cx="1439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V</a:t>
            </a:r>
            <a:r>
              <a:rPr lang="en-GB" baseline="-25000" dirty="0" err="1"/>
              <a:t>out</a:t>
            </a:r>
            <a:r>
              <a:rPr lang="en-GB" baseline="-25000" dirty="0"/>
              <a:t>+</a:t>
            </a:r>
            <a:r>
              <a:rPr lang="en-GB" dirty="0"/>
              <a:t> = V</a:t>
            </a:r>
            <a:r>
              <a:rPr lang="en-GB" baseline="-25000" dirty="0"/>
              <a:t>in</a:t>
            </a:r>
            <a:r>
              <a:rPr lang="en-GB" dirty="0"/>
              <a:t>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0839" y="5276303"/>
            <a:ext cx="1527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V</a:t>
            </a:r>
            <a:r>
              <a:rPr lang="en-GB" baseline="-25000" dirty="0" err="1"/>
              <a:t>out</a:t>
            </a:r>
            <a:r>
              <a:rPr lang="en-GB" baseline="-25000" dirty="0"/>
              <a:t>-</a:t>
            </a:r>
            <a:r>
              <a:rPr lang="en-GB" dirty="0"/>
              <a:t> = </a:t>
            </a:r>
            <a:r>
              <a:rPr lang="en-GB" b="1" dirty="0"/>
              <a:t>-</a:t>
            </a:r>
            <a:r>
              <a:rPr lang="en-GB" dirty="0"/>
              <a:t>V</a:t>
            </a:r>
            <a:r>
              <a:rPr lang="en-GB" baseline="-25000" dirty="0"/>
              <a:t>in</a:t>
            </a:r>
            <a:r>
              <a:rPr lang="en-GB" dirty="0"/>
              <a:t>/2</a:t>
            </a:r>
          </a:p>
        </p:txBody>
      </p:sp>
      <p:sp>
        <p:nvSpPr>
          <p:cNvPr id="11" name="Freeform 62"/>
          <p:cNvSpPr>
            <a:spLocks/>
          </p:cNvSpPr>
          <p:nvPr/>
        </p:nvSpPr>
        <p:spPr bwMode="auto">
          <a:xfrm>
            <a:off x="2388680" y="1523087"/>
            <a:ext cx="504825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1810575" y="2355980"/>
            <a:ext cx="1347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V</a:t>
            </a:r>
            <a:r>
              <a:rPr lang="en-GB" baseline="-25000" dirty="0" err="1"/>
              <a:t>out</a:t>
            </a:r>
            <a:r>
              <a:rPr lang="en-GB" dirty="0"/>
              <a:t> = V</a:t>
            </a:r>
            <a:r>
              <a:rPr lang="en-GB" baseline="-25000" dirty="0"/>
              <a:t>in</a:t>
            </a:r>
          </a:p>
        </p:txBody>
      </p:sp>
      <p:sp>
        <p:nvSpPr>
          <p:cNvPr id="13" name="Freeform 62"/>
          <p:cNvSpPr>
            <a:spLocks/>
          </p:cNvSpPr>
          <p:nvPr/>
        </p:nvSpPr>
        <p:spPr bwMode="auto">
          <a:xfrm>
            <a:off x="3396551" y="4617146"/>
            <a:ext cx="504825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3041055" y="4459874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</a:t>
            </a:r>
            <a:r>
              <a:rPr lang="en-GB" baseline="-25000" dirty="0"/>
              <a:t>in</a:t>
            </a:r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>
            <a:off x="1280161" y="1020956"/>
            <a:ext cx="978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turns ratio = 1:1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5912" y="3538570"/>
            <a:ext cx="2081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“centre tapped”</a:t>
            </a:r>
          </a:p>
          <a:p>
            <a:pPr algn="ctr"/>
            <a:r>
              <a:rPr lang="en-GB" sz="1200" dirty="0"/>
              <a:t>(and connected to earth)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2668" y="5684611"/>
            <a:ext cx="1901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one side earthed, forms a shield for the other side</a:t>
            </a:r>
          </a:p>
        </p:txBody>
      </p:sp>
      <p:cxnSp>
        <p:nvCxnSpPr>
          <p:cNvPr id="18" name="Straight Arrow Connector 17"/>
          <p:cNvCxnSpPr/>
          <p:nvPr/>
        </p:nvCxnSpPr>
        <p:spPr bwMode="auto">
          <a:xfrm flipV="1">
            <a:off x="3689116" y="5240846"/>
            <a:ext cx="317241" cy="4478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>
            <a:off x="4855443" y="4018536"/>
            <a:ext cx="522514" cy="7744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4080256" y="4014431"/>
            <a:ext cx="978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turns ratio = 1:1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4883434" y="4886283"/>
            <a:ext cx="9331" cy="55983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/>
          <p:nvPr/>
        </p:nvCxnSpPr>
        <p:spPr bwMode="auto">
          <a:xfrm flipH="1">
            <a:off x="4248952" y="5259507"/>
            <a:ext cx="1" cy="1772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 flipH="1">
            <a:off x="4248952" y="5436789"/>
            <a:ext cx="62515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5023395" y="5684611"/>
            <a:ext cx="1901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CC6600"/>
                </a:solidFill>
              </a:rPr>
              <a:t>i.e. these are connected together through earth</a:t>
            </a:r>
          </a:p>
        </p:txBody>
      </p:sp>
      <p:cxnSp>
        <p:nvCxnSpPr>
          <p:cNvPr id="25" name="Straight Arrow Connector 24"/>
          <p:cNvCxnSpPr/>
          <p:nvPr/>
        </p:nvCxnSpPr>
        <p:spPr bwMode="auto">
          <a:xfrm flipH="1" flipV="1">
            <a:off x="4883435" y="5511433"/>
            <a:ext cx="513183" cy="2985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ight Brace 25"/>
          <p:cNvSpPr/>
          <p:nvPr/>
        </p:nvSpPr>
        <p:spPr bwMode="auto">
          <a:xfrm>
            <a:off x="7143495" y="4328499"/>
            <a:ext cx="137160" cy="1225296"/>
          </a:xfrm>
          <a:prstGeom prst="rightBrace">
            <a:avLst>
              <a:gd name="adj1" fmla="val 40591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25208" y="4694259"/>
            <a:ext cx="1307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differential voltage</a:t>
            </a:r>
          </a:p>
        </p:txBody>
      </p:sp>
      <p:sp>
        <p:nvSpPr>
          <p:cNvPr id="29" name="Freeform 62"/>
          <p:cNvSpPr>
            <a:spLocks/>
          </p:cNvSpPr>
          <p:nvPr/>
        </p:nvSpPr>
        <p:spPr bwMode="auto">
          <a:xfrm>
            <a:off x="4605930" y="1394732"/>
            <a:ext cx="504825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" name="TextBox 29"/>
          <p:cNvSpPr txBox="1"/>
          <p:nvPr/>
        </p:nvSpPr>
        <p:spPr>
          <a:xfrm>
            <a:off x="4185306" y="1292511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</a:t>
            </a:r>
            <a:r>
              <a:rPr lang="en-GB" baseline="-25000" dirty="0"/>
              <a:t>in</a:t>
            </a:r>
            <a:endParaRPr lang="en-GB" dirty="0"/>
          </a:p>
        </p:txBody>
      </p:sp>
      <p:sp>
        <p:nvSpPr>
          <p:cNvPr id="31" name="Freeform 62"/>
          <p:cNvSpPr>
            <a:spLocks/>
          </p:cNvSpPr>
          <p:nvPr/>
        </p:nvSpPr>
        <p:spPr bwMode="auto">
          <a:xfrm>
            <a:off x="6334146" y="1413020"/>
            <a:ext cx="504825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2" name="TextBox 31"/>
          <p:cNvSpPr txBox="1"/>
          <p:nvPr/>
        </p:nvSpPr>
        <p:spPr>
          <a:xfrm>
            <a:off x="4536841" y="2305180"/>
            <a:ext cx="3049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e.g. 240V in ... 120 V out</a:t>
            </a:r>
            <a:endParaRPr lang="en-GB" baseline="-25000" dirty="0"/>
          </a:p>
        </p:txBody>
      </p:sp>
      <p:sp>
        <p:nvSpPr>
          <p:cNvPr id="33" name="TextBox 32"/>
          <p:cNvSpPr txBox="1"/>
          <p:nvPr/>
        </p:nvSpPr>
        <p:spPr>
          <a:xfrm>
            <a:off x="5225627" y="910889"/>
            <a:ext cx="978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turns ratio = 2:1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288" y="3363513"/>
            <a:ext cx="3049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For an Audio Transformer:</a:t>
            </a:r>
            <a:endParaRPr lang="en-GB" b="1" baseline="-25000" dirty="0"/>
          </a:p>
        </p:txBody>
      </p:sp>
    </p:spTree>
    <p:extLst>
      <p:ext uri="{BB962C8B-B14F-4D97-AF65-F5344CB8AC3E}">
        <p14:creationId xmlns:p14="http://schemas.microsoft.com/office/powerpoint/2010/main" val="20402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5"/>
          <p:cNvSpPr txBox="1">
            <a:spLocks noChangeArrowheads="1"/>
          </p:cNvSpPr>
          <p:nvPr/>
        </p:nvSpPr>
        <p:spPr bwMode="auto">
          <a:xfrm>
            <a:off x="395288" y="331788"/>
            <a:ext cx="55034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Balanced Line – Transformer Circuit</a:t>
            </a:r>
            <a:endParaRPr lang="en-US" sz="2400" b="1" dirty="0"/>
          </a:p>
        </p:txBody>
      </p:sp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395288" y="3546475"/>
            <a:ext cx="8447087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indent="-18256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GB" b="1" dirty="0"/>
              <a:t>Unbalanced “single ended” source is converted to balanced signal 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e.g. via transformer</a:t>
            </a:r>
          </a:p>
          <a:p>
            <a:pPr>
              <a:lnSpc>
                <a:spcPts val="2300"/>
              </a:lnSpc>
            </a:pPr>
            <a:r>
              <a:rPr lang="en-GB" b="1" dirty="0"/>
              <a:t>Signal is conveyed in a go/return normal/inverted circuit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two lines are out of phase with each other 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ground noise (power line hum and buzz)  and other interference imposed on one line is cancelled on the other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transformer at load-end converts back to single ended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cable signals are twisted together – further immunity to EM radiation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signal conductors have equal impedances to ground</a:t>
            </a:r>
            <a:endParaRPr lang="en-US" dirty="0"/>
          </a:p>
        </p:txBody>
      </p:sp>
      <p:pic>
        <p:nvPicPr>
          <p:cNvPr id="19460" name="Picture 4" descr="http://www.phoenixcomputerlabs.com/All-About-Mixers/images/Balanced-Line-Pairs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9" r="11053"/>
          <a:stretch>
            <a:fillRect/>
          </a:stretch>
        </p:blipFill>
        <p:spPr bwMode="auto">
          <a:xfrm>
            <a:off x="831850" y="704850"/>
            <a:ext cx="6894513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9"/>
          <p:cNvSpPr>
            <a:spLocks noChangeArrowheads="1"/>
          </p:cNvSpPr>
          <p:nvPr/>
        </p:nvSpPr>
        <p:spPr bwMode="auto">
          <a:xfrm>
            <a:off x="3822700" y="2532063"/>
            <a:ext cx="4572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800"/>
              <a:t>http://www.phoenixcomputerlabs.com/All-About-Mixers/Ballanced-Audio.html</a:t>
            </a:r>
          </a:p>
        </p:txBody>
      </p:sp>
      <p:pic>
        <p:nvPicPr>
          <p:cNvPr id="19462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1" r="15747" b="6056"/>
          <a:stretch>
            <a:fillRect/>
          </a:stretch>
        </p:blipFill>
        <p:spPr bwMode="auto">
          <a:xfrm>
            <a:off x="822325" y="1206500"/>
            <a:ext cx="132715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6" r="20255"/>
          <a:stretch>
            <a:fillRect/>
          </a:stretch>
        </p:blipFill>
        <p:spPr bwMode="auto">
          <a:xfrm>
            <a:off x="6437313" y="1216025"/>
            <a:ext cx="1298575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4" name="Freeform 62"/>
          <p:cNvSpPr>
            <a:spLocks/>
          </p:cNvSpPr>
          <p:nvPr/>
        </p:nvSpPr>
        <p:spPr bwMode="auto">
          <a:xfrm>
            <a:off x="7908925" y="1443038"/>
            <a:ext cx="504825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5" name="Freeform 62"/>
          <p:cNvSpPr>
            <a:spLocks/>
          </p:cNvSpPr>
          <p:nvPr/>
        </p:nvSpPr>
        <p:spPr bwMode="auto">
          <a:xfrm>
            <a:off x="395288" y="1423988"/>
            <a:ext cx="504825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6" name="Freeform 62"/>
          <p:cNvSpPr>
            <a:spLocks/>
          </p:cNvSpPr>
          <p:nvPr/>
        </p:nvSpPr>
        <p:spPr bwMode="auto">
          <a:xfrm>
            <a:off x="4098925" y="858838"/>
            <a:ext cx="504825" cy="36195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7" name="Freeform 62"/>
          <p:cNvSpPr>
            <a:spLocks/>
          </p:cNvSpPr>
          <p:nvPr/>
        </p:nvSpPr>
        <p:spPr bwMode="auto">
          <a:xfrm>
            <a:off x="1731963" y="1187450"/>
            <a:ext cx="269875" cy="1746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8" name="Freeform 62"/>
          <p:cNvSpPr>
            <a:spLocks/>
          </p:cNvSpPr>
          <p:nvPr/>
        </p:nvSpPr>
        <p:spPr bwMode="auto">
          <a:xfrm flipV="1">
            <a:off x="1741488" y="2198688"/>
            <a:ext cx="268287" cy="1746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9" name="Freeform 62"/>
          <p:cNvSpPr>
            <a:spLocks/>
          </p:cNvSpPr>
          <p:nvPr/>
        </p:nvSpPr>
        <p:spPr bwMode="auto">
          <a:xfrm flipV="1">
            <a:off x="4054475" y="2063750"/>
            <a:ext cx="504825" cy="36195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0" name="Freeform 62"/>
          <p:cNvSpPr>
            <a:spLocks/>
          </p:cNvSpPr>
          <p:nvPr/>
        </p:nvSpPr>
        <p:spPr bwMode="auto">
          <a:xfrm>
            <a:off x="6532563" y="1195388"/>
            <a:ext cx="269875" cy="1746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1" name="Freeform 62"/>
          <p:cNvSpPr>
            <a:spLocks/>
          </p:cNvSpPr>
          <p:nvPr/>
        </p:nvSpPr>
        <p:spPr bwMode="auto">
          <a:xfrm flipV="1">
            <a:off x="6532563" y="2189163"/>
            <a:ext cx="269875" cy="1746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2" name="Right Brace 22"/>
          <p:cNvSpPr>
            <a:spLocks/>
          </p:cNvSpPr>
          <p:nvPr/>
        </p:nvSpPr>
        <p:spPr bwMode="auto">
          <a:xfrm rot="5400000">
            <a:off x="1385094" y="2202656"/>
            <a:ext cx="184150" cy="966788"/>
          </a:xfrm>
          <a:prstGeom prst="rightBrace">
            <a:avLst>
              <a:gd name="adj1" fmla="val 46667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3" name="TextBox 23"/>
          <p:cNvSpPr txBox="1">
            <a:spLocks noChangeArrowheads="1"/>
          </p:cNvSpPr>
          <p:nvPr/>
        </p:nvSpPr>
        <p:spPr bwMode="auto">
          <a:xfrm>
            <a:off x="395288" y="2813050"/>
            <a:ext cx="2840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1200"/>
              <a:t>audio transformer – or other suitable circuit to derive the differential signal voltage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4150985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>
            <a:spLocks noChangeArrowheads="1"/>
          </p:cNvSpPr>
          <p:nvPr/>
        </p:nvSpPr>
        <p:spPr bwMode="auto">
          <a:xfrm>
            <a:off x="395288" y="331788"/>
            <a:ext cx="58737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Balanced Line – Semiconductor Circuit</a:t>
            </a:r>
            <a:endParaRPr lang="en-US" sz="2400" b="1" dirty="0"/>
          </a:p>
        </p:txBody>
      </p:sp>
      <p:pic>
        <p:nvPicPr>
          <p:cNvPr id="5" name="Picture 4" descr="http://www.phoenixcomputerlabs.com/All-About-Mixers/images/Balanced-Line-Pairs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9" r="11053"/>
          <a:stretch>
            <a:fillRect/>
          </a:stretch>
        </p:blipFill>
        <p:spPr bwMode="auto">
          <a:xfrm>
            <a:off x="831850" y="704850"/>
            <a:ext cx="6894513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1" r="15747" b="6056"/>
          <a:stretch>
            <a:fillRect/>
          </a:stretch>
        </p:blipFill>
        <p:spPr bwMode="auto">
          <a:xfrm>
            <a:off x="822325" y="1206500"/>
            <a:ext cx="132715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reeform 62"/>
          <p:cNvSpPr>
            <a:spLocks/>
          </p:cNvSpPr>
          <p:nvPr/>
        </p:nvSpPr>
        <p:spPr bwMode="auto">
          <a:xfrm>
            <a:off x="4098925" y="858838"/>
            <a:ext cx="504825" cy="36195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" name="Freeform 62"/>
          <p:cNvSpPr>
            <a:spLocks/>
          </p:cNvSpPr>
          <p:nvPr/>
        </p:nvSpPr>
        <p:spPr bwMode="auto">
          <a:xfrm flipV="1">
            <a:off x="4054475" y="2063750"/>
            <a:ext cx="504825" cy="36195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" name="Freeform 62"/>
          <p:cNvSpPr>
            <a:spLocks/>
          </p:cNvSpPr>
          <p:nvPr/>
        </p:nvSpPr>
        <p:spPr bwMode="auto">
          <a:xfrm>
            <a:off x="5722938" y="1319213"/>
            <a:ext cx="269875" cy="1746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" name="Freeform 62"/>
          <p:cNvSpPr>
            <a:spLocks/>
          </p:cNvSpPr>
          <p:nvPr/>
        </p:nvSpPr>
        <p:spPr bwMode="auto">
          <a:xfrm flipV="1">
            <a:off x="5684838" y="2046288"/>
            <a:ext cx="269875" cy="1746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" name="Rectangle 19"/>
          <p:cNvSpPr/>
          <p:nvPr/>
        </p:nvSpPr>
        <p:spPr bwMode="auto">
          <a:xfrm>
            <a:off x="904874" y="1304925"/>
            <a:ext cx="1676401" cy="1219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81923" name="Picture 3" descr="C:\Users\Jeremy\Desktop\Clipboard02.gif"/>
          <p:cNvPicPr>
            <a:picLocks noChangeAspect="1" noChangeArrowheads="1"/>
          </p:cNvPicPr>
          <p:nvPr/>
        </p:nvPicPr>
        <p:blipFill>
          <a:blip r:embed="rId4" cstate="print"/>
          <a:srcRect r="52985"/>
          <a:stretch>
            <a:fillRect/>
          </a:stretch>
        </p:blipFill>
        <p:spPr bwMode="auto">
          <a:xfrm>
            <a:off x="395288" y="930109"/>
            <a:ext cx="2207155" cy="1829028"/>
          </a:xfrm>
          <a:prstGeom prst="rect">
            <a:avLst/>
          </a:prstGeom>
          <a:noFill/>
        </p:spPr>
      </p:pic>
      <p:sp>
        <p:nvSpPr>
          <p:cNvPr id="10" name="Freeform 62"/>
          <p:cNvSpPr>
            <a:spLocks/>
          </p:cNvSpPr>
          <p:nvPr/>
        </p:nvSpPr>
        <p:spPr bwMode="auto">
          <a:xfrm>
            <a:off x="261937" y="1595438"/>
            <a:ext cx="504825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" name="Rectangle 20"/>
          <p:cNvSpPr/>
          <p:nvPr/>
        </p:nvSpPr>
        <p:spPr bwMode="auto">
          <a:xfrm>
            <a:off x="6010275" y="1304926"/>
            <a:ext cx="1771650" cy="1219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19" name="Picture 3" descr="C:\Users\Jeremy\Desktop\Clipboard02.gif"/>
          <p:cNvPicPr>
            <a:picLocks noChangeAspect="1" noChangeArrowheads="1"/>
          </p:cNvPicPr>
          <p:nvPr/>
        </p:nvPicPr>
        <p:blipFill>
          <a:blip r:embed="rId4" cstate="print"/>
          <a:srcRect l="67451"/>
          <a:stretch>
            <a:fillRect/>
          </a:stretch>
        </p:blipFill>
        <p:spPr bwMode="auto">
          <a:xfrm>
            <a:off x="6000749" y="806284"/>
            <a:ext cx="1724025" cy="2063633"/>
          </a:xfrm>
          <a:prstGeom prst="rect">
            <a:avLst/>
          </a:prstGeom>
          <a:noFill/>
        </p:spPr>
      </p:pic>
      <p:cxnSp>
        <p:nvCxnSpPr>
          <p:cNvPr id="23" name="Straight Connector 22"/>
          <p:cNvCxnSpPr/>
          <p:nvPr/>
        </p:nvCxnSpPr>
        <p:spPr bwMode="auto">
          <a:xfrm flipH="1">
            <a:off x="819150" y="2581275"/>
            <a:ext cx="45720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 flipV="1">
            <a:off x="685800" y="1333500"/>
            <a:ext cx="0" cy="12096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6"/>
            </a:solidFill>
            <a:prstDash val="lgDash"/>
            <a:round/>
            <a:headEnd type="none" w="med" len="med"/>
            <a:tailEnd type="arrow"/>
          </a:ln>
          <a:effectLst/>
        </p:spPr>
      </p:cxnSp>
      <p:sp>
        <p:nvSpPr>
          <p:cNvPr id="12" name="Freeform 62"/>
          <p:cNvSpPr>
            <a:spLocks/>
          </p:cNvSpPr>
          <p:nvPr/>
        </p:nvSpPr>
        <p:spPr bwMode="auto">
          <a:xfrm>
            <a:off x="2465388" y="1330325"/>
            <a:ext cx="269875" cy="1746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" name="Freeform 62"/>
          <p:cNvSpPr>
            <a:spLocks/>
          </p:cNvSpPr>
          <p:nvPr/>
        </p:nvSpPr>
        <p:spPr bwMode="auto">
          <a:xfrm flipV="1">
            <a:off x="2551113" y="2103438"/>
            <a:ext cx="268287" cy="1746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cxnSp>
        <p:nvCxnSpPr>
          <p:cNvPr id="28" name="Straight Connector 27"/>
          <p:cNvCxnSpPr/>
          <p:nvPr/>
        </p:nvCxnSpPr>
        <p:spPr bwMode="auto">
          <a:xfrm flipH="1" flipV="1">
            <a:off x="6629401" y="2428875"/>
            <a:ext cx="904874" cy="95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 flipV="1">
            <a:off x="7477125" y="1857376"/>
            <a:ext cx="0" cy="4952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6"/>
            </a:solidFill>
            <a:prstDash val="lgDash"/>
            <a:round/>
            <a:headEnd type="none" w="med" len="med"/>
            <a:tailEnd type="arrow"/>
          </a:ln>
          <a:effectLst/>
        </p:spPr>
      </p:cxnSp>
      <p:sp>
        <p:nvSpPr>
          <p:cNvPr id="9" name="Freeform 62"/>
          <p:cNvSpPr>
            <a:spLocks/>
          </p:cNvSpPr>
          <p:nvPr/>
        </p:nvSpPr>
        <p:spPr bwMode="auto">
          <a:xfrm>
            <a:off x="7623175" y="1785938"/>
            <a:ext cx="504825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" name="TextBox 6"/>
          <p:cNvSpPr txBox="1">
            <a:spLocks noChangeArrowheads="1"/>
          </p:cNvSpPr>
          <p:nvPr/>
        </p:nvSpPr>
        <p:spPr bwMode="auto">
          <a:xfrm>
            <a:off x="395288" y="3241675"/>
            <a:ext cx="8447087" cy="3041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indent="-18256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GB" dirty="0"/>
              <a:t>Unbalanced “single ended” source is converted to balanced signal 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e.g. via op-amp circuit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endParaRPr lang="en-GB" dirty="0"/>
          </a:p>
          <a:p>
            <a:pPr>
              <a:lnSpc>
                <a:spcPts val="2300"/>
              </a:lnSpc>
            </a:pPr>
            <a:r>
              <a:rPr lang="en-GB" dirty="0"/>
              <a:t>Signal is conveyed in a go/return normal/inverted circuit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two lines are out of phase with each other 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ground noise (power line hum and buzz)  and other interference imposed on one line is cancelled on the other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op-amp circuit at load-end converts back to single ended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cable signals are twisted together – further immunity to EM radiation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signal conductors have equal impedances to ground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9972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/>
          <p:cNvSpPr txBox="1">
            <a:spLocks noChangeArrowheads="1"/>
          </p:cNvSpPr>
          <p:nvPr/>
        </p:nvSpPr>
        <p:spPr bwMode="auto">
          <a:xfrm>
            <a:off x="395288" y="331788"/>
            <a:ext cx="44069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Balance Line Signal Voltages</a:t>
            </a:r>
            <a:endParaRPr lang="en-US" sz="2400" b="1" dirty="0"/>
          </a:p>
        </p:txBody>
      </p:sp>
      <p:pic>
        <p:nvPicPr>
          <p:cNvPr id="98307" name="Picture 3"/>
          <p:cNvPicPr>
            <a:picLocks noChangeAspect="1" noChangeArrowheads="1"/>
          </p:cNvPicPr>
          <p:nvPr/>
        </p:nvPicPr>
        <p:blipFill>
          <a:blip r:embed="rId2" cstate="print"/>
          <a:srcRect l="17428" b="51562"/>
          <a:stretch>
            <a:fillRect/>
          </a:stretch>
        </p:blipFill>
        <p:spPr bwMode="auto">
          <a:xfrm>
            <a:off x="1590675" y="2494492"/>
            <a:ext cx="1481667" cy="1115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 bwMode="auto">
          <a:xfrm flipH="1">
            <a:off x="1363133" y="965200"/>
            <a:ext cx="8468" cy="41148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762001" y="931334"/>
            <a:ext cx="482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1" y="4792133"/>
            <a:ext cx="437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668" y="1329266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+48V</a:t>
            </a:r>
          </a:p>
        </p:txBody>
      </p:sp>
      <p:grpSp>
        <p:nvGrpSpPr>
          <p:cNvPr id="3" name="Group 26"/>
          <p:cNvGrpSpPr/>
          <p:nvPr/>
        </p:nvGrpSpPr>
        <p:grpSpPr>
          <a:xfrm>
            <a:off x="3733800" y="1894417"/>
            <a:ext cx="3815292" cy="2360084"/>
            <a:chOff x="3914775" y="1913467"/>
            <a:chExt cx="3815292" cy="2360084"/>
          </a:xfrm>
        </p:grpSpPr>
        <p:pic>
          <p:nvPicPr>
            <p:cNvPr id="9830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348163" y="3328988"/>
              <a:ext cx="447675" cy="200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17428"/>
            <a:stretch>
              <a:fillRect/>
            </a:stretch>
          </p:blipFill>
          <p:spPr bwMode="auto">
            <a:xfrm>
              <a:off x="4086225" y="1970617"/>
              <a:ext cx="1481667" cy="23029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510338" y="3328988"/>
              <a:ext cx="447675" cy="200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17428"/>
            <a:stretch>
              <a:fillRect/>
            </a:stretch>
          </p:blipFill>
          <p:spPr bwMode="auto">
            <a:xfrm>
              <a:off x="3914775" y="1913467"/>
              <a:ext cx="1481667" cy="23029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17428"/>
            <a:stretch>
              <a:fillRect/>
            </a:stretch>
          </p:blipFill>
          <p:spPr bwMode="auto">
            <a:xfrm>
              <a:off x="5076825" y="1932517"/>
              <a:ext cx="1481667" cy="23029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17428"/>
            <a:stretch>
              <a:fillRect/>
            </a:stretch>
          </p:blipFill>
          <p:spPr bwMode="auto">
            <a:xfrm>
              <a:off x="6248400" y="1970617"/>
              <a:ext cx="1481667" cy="23029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10" name="Straight Connector 9"/>
          <p:cNvCxnSpPr/>
          <p:nvPr/>
        </p:nvCxnSpPr>
        <p:spPr bwMode="auto">
          <a:xfrm flipH="1" flipV="1">
            <a:off x="1143000" y="3090333"/>
            <a:ext cx="6443133" cy="1693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1495425" y="4591050"/>
            <a:ext cx="16690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“Single-ended”</a:t>
            </a:r>
          </a:p>
          <a:p>
            <a:pPr algn="ctr"/>
            <a:r>
              <a:rPr lang="en-GB" dirty="0"/>
              <a:t>signal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9025" y="4486275"/>
            <a:ext cx="4095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Balanced Line signals are differential:</a:t>
            </a:r>
          </a:p>
          <a:p>
            <a:pPr algn="ctr"/>
            <a:r>
              <a:rPr lang="en-GB" dirty="0"/>
              <a:t>equal and opposite on each of the two lines (“hot and “cold”)</a:t>
            </a:r>
          </a:p>
        </p:txBody>
      </p:sp>
    </p:spTree>
    <p:extLst>
      <p:ext uri="{BB962C8B-B14F-4D97-AF65-F5344CB8AC3E}">
        <p14:creationId xmlns:p14="http://schemas.microsoft.com/office/powerpoint/2010/main" val="26711237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>
            <a:spLocks noChangeArrowheads="1"/>
          </p:cNvSpPr>
          <p:nvPr/>
        </p:nvSpPr>
        <p:spPr bwMode="auto">
          <a:xfrm>
            <a:off x="395288" y="331788"/>
            <a:ext cx="2219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Balanced Line</a:t>
            </a:r>
            <a:endParaRPr lang="en-US" sz="2400" b="1"/>
          </a:p>
        </p:txBody>
      </p:sp>
      <p:sp>
        <p:nvSpPr>
          <p:cNvPr id="10" name="Freeform 62"/>
          <p:cNvSpPr>
            <a:spLocks/>
          </p:cNvSpPr>
          <p:nvPr/>
        </p:nvSpPr>
        <p:spPr bwMode="auto">
          <a:xfrm>
            <a:off x="4384675" y="1414463"/>
            <a:ext cx="958851" cy="42068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" name="Freeform 62"/>
          <p:cNvSpPr>
            <a:spLocks/>
          </p:cNvSpPr>
          <p:nvPr/>
        </p:nvSpPr>
        <p:spPr bwMode="auto">
          <a:xfrm flipV="1">
            <a:off x="4354513" y="2876550"/>
            <a:ext cx="958851" cy="42068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7" name="Group 46"/>
          <p:cNvGrpSpPr/>
          <p:nvPr/>
        </p:nvGrpSpPr>
        <p:grpSpPr>
          <a:xfrm>
            <a:off x="395288" y="1932426"/>
            <a:ext cx="1023609" cy="877777"/>
            <a:chOff x="395288" y="1932426"/>
            <a:chExt cx="1023609" cy="877777"/>
          </a:xfrm>
        </p:grpSpPr>
        <p:sp>
          <p:nvSpPr>
            <p:cNvPr id="20" name="Freeform 62"/>
            <p:cNvSpPr>
              <a:spLocks/>
            </p:cNvSpPr>
            <p:nvPr/>
          </p:nvSpPr>
          <p:spPr bwMode="auto">
            <a:xfrm>
              <a:off x="395288" y="1932426"/>
              <a:ext cx="1023609" cy="720725"/>
            </a:xfrm>
            <a:custGeom>
              <a:avLst/>
              <a:gdLst>
                <a:gd name="T0" fmla="*/ 0 w 1536"/>
                <a:gd name="T1" fmla="*/ 2147483647 h 1152"/>
                <a:gd name="T2" fmla="*/ 2147483647 w 1536"/>
                <a:gd name="T3" fmla="*/ 0 h 1152"/>
                <a:gd name="T4" fmla="*/ 2147483647 w 1536"/>
                <a:gd name="T5" fmla="*/ 2147483647 h 1152"/>
                <a:gd name="T6" fmla="*/ 2147483647 w 1536"/>
                <a:gd name="T7" fmla="*/ 2147483647 h 1152"/>
                <a:gd name="T8" fmla="*/ 2147483647 w 1536"/>
                <a:gd name="T9" fmla="*/ 214748364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cxnSp>
          <p:nvCxnSpPr>
            <p:cNvPr id="22" name="Straight Connector 21"/>
            <p:cNvCxnSpPr/>
            <p:nvPr/>
          </p:nvCxnSpPr>
          <p:spPr bwMode="auto">
            <a:xfrm>
              <a:off x="395288" y="2810203"/>
              <a:ext cx="960546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2" name="Group 41"/>
          <p:cNvGrpSpPr/>
          <p:nvPr/>
        </p:nvGrpSpPr>
        <p:grpSpPr>
          <a:xfrm>
            <a:off x="4750075" y="4207040"/>
            <a:ext cx="920776" cy="911607"/>
            <a:chOff x="1921149" y="3678402"/>
            <a:chExt cx="920776" cy="911607"/>
          </a:xfrm>
        </p:grpSpPr>
        <p:sp>
          <p:nvSpPr>
            <p:cNvPr id="23" name="Freeform 62"/>
            <p:cNvSpPr>
              <a:spLocks/>
            </p:cNvSpPr>
            <p:nvPr/>
          </p:nvSpPr>
          <p:spPr bwMode="auto">
            <a:xfrm>
              <a:off x="1921149" y="3678402"/>
              <a:ext cx="916644" cy="357570"/>
            </a:xfrm>
            <a:custGeom>
              <a:avLst/>
              <a:gdLst>
                <a:gd name="T0" fmla="*/ 0 w 1536"/>
                <a:gd name="T1" fmla="*/ 2147483647 h 1152"/>
                <a:gd name="T2" fmla="*/ 2147483647 w 1536"/>
                <a:gd name="T3" fmla="*/ 0 h 1152"/>
                <a:gd name="T4" fmla="*/ 2147483647 w 1536"/>
                <a:gd name="T5" fmla="*/ 2147483647 h 1152"/>
                <a:gd name="T6" fmla="*/ 2147483647 w 1536"/>
                <a:gd name="T7" fmla="*/ 2147483647 h 1152"/>
                <a:gd name="T8" fmla="*/ 2147483647 w 1536"/>
                <a:gd name="T9" fmla="*/ 214748364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" name="Freeform 62"/>
            <p:cNvSpPr>
              <a:spLocks/>
            </p:cNvSpPr>
            <p:nvPr/>
          </p:nvSpPr>
          <p:spPr bwMode="auto">
            <a:xfrm flipV="1">
              <a:off x="1930675" y="4232439"/>
              <a:ext cx="911250" cy="357570"/>
            </a:xfrm>
            <a:custGeom>
              <a:avLst/>
              <a:gdLst>
                <a:gd name="T0" fmla="*/ 0 w 1536"/>
                <a:gd name="T1" fmla="*/ 2147483647 h 1152"/>
                <a:gd name="T2" fmla="*/ 2147483647 w 1536"/>
                <a:gd name="T3" fmla="*/ 0 h 1152"/>
                <a:gd name="T4" fmla="*/ 2147483647 w 1536"/>
                <a:gd name="T5" fmla="*/ 2147483647 h 1152"/>
                <a:gd name="T6" fmla="*/ 2147483647 w 1536"/>
                <a:gd name="T7" fmla="*/ 2147483647 h 1152"/>
                <a:gd name="T8" fmla="*/ 2147483647 w 1536"/>
                <a:gd name="T9" fmla="*/ 214748364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cxnSp>
        <p:nvCxnSpPr>
          <p:cNvPr id="26" name="Straight Connector 25"/>
          <p:cNvCxnSpPr/>
          <p:nvPr/>
        </p:nvCxnSpPr>
        <p:spPr bwMode="auto">
          <a:xfrm>
            <a:off x="1525806" y="1991875"/>
            <a:ext cx="6189444" cy="226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 flipV="1">
            <a:off x="1525806" y="2700338"/>
            <a:ext cx="6175157" cy="98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Rectangle 18"/>
          <p:cNvSpPr/>
          <p:nvPr/>
        </p:nvSpPr>
        <p:spPr bwMode="auto">
          <a:xfrm>
            <a:off x="1800225" y="1928812"/>
            <a:ext cx="809459" cy="838200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6615112" y="1928813"/>
            <a:ext cx="809459" cy="838200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1" name="Freeform 62"/>
          <p:cNvSpPr>
            <a:spLocks/>
          </p:cNvSpPr>
          <p:nvPr/>
        </p:nvSpPr>
        <p:spPr bwMode="auto">
          <a:xfrm>
            <a:off x="7839075" y="1975289"/>
            <a:ext cx="1023609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cxnSp>
        <p:nvCxnSpPr>
          <p:cNvPr id="32" name="Straight Connector 31"/>
          <p:cNvCxnSpPr/>
          <p:nvPr/>
        </p:nvCxnSpPr>
        <p:spPr bwMode="auto">
          <a:xfrm>
            <a:off x="7839075" y="2853066"/>
            <a:ext cx="96054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8" name="Group 47"/>
          <p:cNvGrpSpPr/>
          <p:nvPr/>
        </p:nvGrpSpPr>
        <p:grpSpPr>
          <a:xfrm>
            <a:off x="3067050" y="4247001"/>
            <a:ext cx="1023609" cy="877777"/>
            <a:chOff x="395288" y="1932426"/>
            <a:chExt cx="1023609" cy="877777"/>
          </a:xfrm>
        </p:grpSpPr>
        <p:sp>
          <p:nvSpPr>
            <p:cNvPr id="49" name="Freeform 62"/>
            <p:cNvSpPr>
              <a:spLocks/>
            </p:cNvSpPr>
            <p:nvPr/>
          </p:nvSpPr>
          <p:spPr bwMode="auto">
            <a:xfrm>
              <a:off x="395288" y="1932426"/>
              <a:ext cx="1023609" cy="720725"/>
            </a:xfrm>
            <a:custGeom>
              <a:avLst/>
              <a:gdLst>
                <a:gd name="T0" fmla="*/ 0 w 1536"/>
                <a:gd name="T1" fmla="*/ 2147483647 h 1152"/>
                <a:gd name="T2" fmla="*/ 2147483647 w 1536"/>
                <a:gd name="T3" fmla="*/ 0 h 1152"/>
                <a:gd name="T4" fmla="*/ 2147483647 w 1536"/>
                <a:gd name="T5" fmla="*/ 2147483647 h 1152"/>
                <a:gd name="T6" fmla="*/ 2147483647 w 1536"/>
                <a:gd name="T7" fmla="*/ 2147483647 h 1152"/>
                <a:gd name="T8" fmla="*/ 2147483647 w 1536"/>
                <a:gd name="T9" fmla="*/ 214748364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cxnSp>
          <p:nvCxnSpPr>
            <p:cNvPr id="50" name="Straight Connector 49"/>
            <p:cNvCxnSpPr/>
            <p:nvPr/>
          </p:nvCxnSpPr>
          <p:spPr bwMode="auto">
            <a:xfrm>
              <a:off x="395288" y="2810203"/>
              <a:ext cx="960546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1" name="TextBox 50"/>
          <p:cNvSpPr txBox="1"/>
          <p:nvPr/>
        </p:nvSpPr>
        <p:spPr>
          <a:xfrm>
            <a:off x="395288" y="4241416"/>
            <a:ext cx="2285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Voltage difference between the two wires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02228" y="4269992"/>
            <a:ext cx="2285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Voltage difference between the two wires</a:t>
            </a:r>
          </a:p>
        </p:txBody>
      </p:sp>
      <p:cxnSp>
        <p:nvCxnSpPr>
          <p:cNvPr id="54" name="Straight Arrow Connector 53"/>
          <p:cNvCxnSpPr/>
          <p:nvPr/>
        </p:nvCxnSpPr>
        <p:spPr bwMode="auto">
          <a:xfrm>
            <a:off x="2814638" y="4200525"/>
            <a:ext cx="0" cy="9858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55" name="Straight Arrow Connector 54"/>
          <p:cNvCxnSpPr/>
          <p:nvPr/>
        </p:nvCxnSpPr>
        <p:spPr bwMode="auto">
          <a:xfrm>
            <a:off x="5915026" y="4157663"/>
            <a:ext cx="0" cy="9858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159140" y="4384293"/>
            <a:ext cx="470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=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91117" y="3384645"/>
            <a:ext cx="19527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/>
              <a:t>Differential signal</a:t>
            </a:r>
          </a:p>
        </p:txBody>
      </p:sp>
      <p:cxnSp>
        <p:nvCxnSpPr>
          <p:cNvPr id="59" name="Straight Arrow Connector 58"/>
          <p:cNvCxnSpPr/>
          <p:nvPr/>
        </p:nvCxnSpPr>
        <p:spPr bwMode="auto">
          <a:xfrm flipH="1">
            <a:off x="5049672" y="3575713"/>
            <a:ext cx="600501" cy="5322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0" name="Straight Arrow Connector 59"/>
          <p:cNvCxnSpPr/>
          <p:nvPr/>
        </p:nvCxnSpPr>
        <p:spPr bwMode="auto">
          <a:xfrm flipH="1" flipV="1">
            <a:off x="4804012" y="3289110"/>
            <a:ext cx="859809" cy="1910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577155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>
            <a:spLocks noChangeArrowheads="1"/>
          </p:cNvSpPr>
          <p:nvPr/>
        </p:nvSpPr>
        <p:spPr bwMode="auto">
          <a:xfrm>
            <a:off x="395288" y="331788"/>
            <a:ext cx="2219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Balanced Line</a:t>
            </a:r>
            <a:endParaRPr lang="en-US" sz="2400" b="1"/>
          </a:p>
        </p:txBody>
      </p:sp>
      <p:sp>
        <p:nvSpPr>
          <p:cNvPr id="3" name="Freeform 62"/>
          <p:cNvSpPr>
            <a:spLocks/>
          </p:cNvSpPr>
          <p:nvPr/>
        </p:nvSpPr>
        <p:spPr bwMode="auto">
          <a:xfrm>
            <a:off x="4376051" y="2061444"/>
            <a:ext cx="549634" cy="25043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" name="Freeform 62"/>
          <p:cNvSpPr>
            <a:spLocks/>
          </p:cNvSpPr>
          <p:nvPr/>
        </p:nvSpPr>
        <p:spPr bwMode="auto">
          <a:xfrm flipV="1">
            <a:off x="4380393" y="2441275"/>
            <a:ext cx="571170" cy="234862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" name="Group 4"/>
          <p:cNvGrpSpPr/>
          <p:nvPr/>
        </p:nvGrpSpPr>
        <p:grpSpPr>
          <a:xfrm>
            <a:off x="395288" y="1932426"/>
            <a:ext cx="1023609" cy="877777"/>
            <a:chOff x="395288" y="1932426"/>
            <a:chExt cx="1023609" cy="877777"/>
          </a:xfrm>
        </p:grpSpPr>
        <p:sp>
          <p:nvSpPr>
            <p:cNvPr id="6" name="Freeform 62"/>
            <p:cNvSpPr>
              <a:spLocks/>
            </p:cNvSpPr>
            <p:nvPr/>
          </p:nvSpPr>
          <p:spPr bwMode="auto">
            <a:xfrm>
              <a:off x="395288" y="1932426"/>
              <a:ext cx="1023609" cy="720725"/>
            </a:xfrm>
            <a:custGeom>
              <a:avLst/>
              <a:gdLst>
                <a:gd name="T0" fmla="*/ 0 w 1536"/>
                <a:gd name="T1" fmla="*/ 2147483647 h 1152"/>
                <a:gd name="T2" fmla="*/ 2147483647 w 1536"/>
                <a:gd name="T3" fmla="*/ 0 h 1152"/>
                <a:gd name="T4" fmla="*/ 2147483647 w 1536"/>
                <a:gd name="T5" fmla="*/ 2147483647 h 1152"/>
                <a:gd name="T6" fmla="*/ 2147483647 w 1536"/>
                <a:gd name="T7" fmla="*/ 2147483647 h 1152"/>
                <a:gd name="T8" fmla="*/ 2147483647 w 1536"/>
                <a:gd name="T9" fmla="*/ 214748364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395288" y="2810203"/>
              <a:ext cx="960546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1" name="Straight Connector 10"/>
          <p:cNvCxnSpPr/>
          <p:nvPr/>
        </p:nvCxnSpPr>
        <p:spPr bwMode="auto">
          <a:xfrm>
            <a:off x="1525806" y="1991875"/>
            <a:ext cx="6189444" cy="226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 flipV="1">
            <a:off x="1525806" y="2700338"/>
            <a:ext cx="6175157" cy="98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ctangle 12"/>
          <p:cNvSpPr/>
          <p:nvPr/>
        </p:nvSpPr>
        <p:spPr bwMode="auto">
          <a:xfrm>
            <a:off x="1800225" y="1928812"/>
            <a:ext cx="809459" cy="838200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615112" y="1928813"/>
            <a:ext cx="809459" cy="838200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" name="Freeform 62"/>
          <p:cNvSpPr>
            <a:spLocks/>
          </p:cNvSpPr>
          <p:nvPr/>
        </p:nvSpPr>
        <p:spPr bwMode="auto">
          <a:xfrm>
            <a:off x="7839075" y="1975289"/>
            <a:ext cx="1023609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cxnSp>
        <p:nvCxnSpPr>
          <p:cNvPr id="16" name="Straight Connector 15"/>
          <p:cNvCxnSpPr/>
          <p:nvPr/>
        </p:nvCxnSpPr>
        <p:spPr bwMode="auto">
          <a:xfrm>
            <a:off x="7839075" y="2853066"/>
            <a:ext cx="96054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Can 24"/>
          <p:cNvSpPr/>
          <p:nvPr/>
        </p:nvSpPr>
        <p:spPr bwMode="auto">
          <a:xfrm rot="16200000">
            <a:off x="4111228" y="489347"/>
            <a:ext cx="1014412" cy="3764757"/>
          </a:xfrm>
          <a:prstGeom prst="can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27" name="Straight Connector 26"/>
          <p:cNvCxnSpPr/>
          <p:nvPr/>
        </p:nvCxnSpPr>
        <p:spPr bwMode="auto">
          <a:xfrm flipV="1">
            <a:off x="2631057" y="2001328"/>
            <a:ext cx="319177" cy="862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/>
          <p:nvPr/>
        </p:nvCxnSpPr>
        <p:spPr bwMode="auto">
          <a:xfrm flipV="1">
            <a:off x="2639683" y="2691442"/>
            <a:ext cx="310551" cy="862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Freeform 45"/>
          <p:cNvSpPr/>
          <p:nvPr/>
        </p:nvSpPr>
        <p:spPr bwMode="auto">
          <a:xfrm>
            <a:off x="6167887" y="2846717"/>
            <a:ext cx="1302588" cy="474453"/>
          </a:xfrm>
          <a:custGeom>
            <a:avLst/>
            <a:gdLst>
              <a:gd name="connsiteX0" fmla="*/ 0 w 1302588"/>
              <a:gd name="connsiteY0" fmla="*/ 0 h 474453"/>
              <a:gd name="connsiteX1" fmla="*/ 17253 w 1302588"/>
              <a:gd name="connsiteY1" fmla="*/ 301925 h 474453"/>
              <a:gd name="connsiteX2" fmla="*/ 517585 w 1302588"/>
              <a:gd name="connsiteY2" fmla="*/ 474453 h 474453"/>
              <a:gd name="connsiteX3" fmla="*/ 1302588 w 1302588"/>
              <a:gd name="connsiteY3" fmla="*/ 474453 h 4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588" h="474453">
                <a:moveTo>
                  <a:pt x="0" y="0"/>
                </a:moveTo>
                <a:lnTo>
                  <a:pt x="17253" y="301925"/>
                </a:lnTo>
                <a:lnTo>
                  <a:pt x="517585" y="474453"/>
                </a:lnTo>
                <a:lnTo>
                  <a:pt x="1302588" y="474453"/>
                </a:lnTo>
              </a:path>
            </a:pathLst>
          </a:cu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7" name="Oval 46"/>
          <p:cNvSpPr/>
          <p:nvPr/>
        </p:nvSpPr>
        <p:spPr bwMode="auto">
          <a:xfrm>
            <a:off x="6116128" y="2829464"/>
            <a:ext cx="94891" cy="103517"/>
          </a:xfrm>
          <a:prstGeom prst="ellipse">
            <a:avLst/>
          </a:prstGeom>
          <a:solidFill>
            <a:schemeClr val="accent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20310" y="3364302"/>
            <a:ext cx="853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 volts</a:t>
            </a:r>
          </a:p>
        </p:txBody>
      </p:sp>
      <p:sp>
        <p:nvSpPr>
          <p:cNvPr id="49" name="Lightning Bolt 48"/>
          <p:cNvSpPr/>
          <p:nvPr/>
        </p:nvSpPr>
        <p:spPr bwMode="auto">
          <a:xfrm rot="14247302">
            <a:off x="3652576" y="2936988"/>
            <a:ext cx="777735" cy="1520045"/>
          </a:xfrm>
          <a:prstGeom prst="lightningBolt">
            <a:avLst/>
          </a:prstGeom>
          <a:solidFill>
            <a:srgbClr val="FFC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95288" y="887106"/>
            <a:ext cx="6394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signal is carried as a differential signal on two conductors</a:t>
            </a:r>
          </a:p>
          <a:p>
            <a:r>
              <a:rPr lang="en-GB" dirty="0"/>
              <a:t>A third conductor forms the shield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15407" y="4367285"/>
            <a:ext cx="2034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Shield provides noise immunity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85149" y="4544706"/>
            <a:ext cx="34260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... any noise which does affect the signal will affect both signal conductors equal and opposite, and will be eradicated at the receiving transformer</a:t>
            </a:r>
          </a:p>
        </p:txBody>
      </p:sp>
      <p:cxnSp>
        <p:nvCxnSpPr>
          <p:cNvPr id="54" name="Straight Arrow Connector 53"/>
          <p:cNvCxnSpPr/>
          <p:nvPr/>
        </p:nvCxnSpPr>
        <p:spPr bwMode="auto">
          <a:xfrm flipH="1" flipV="1">
            <a:off x="5104263" y="2497541"/>
            <a:ext cx="573206" cy="20198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6191" y="4351901"/>
            <a:ext cx="1511916" cy="1498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" name="TextBox 56"/>
          <p:cNvSpPr txBox="1"/>
          <p:nvPr/>
        </p:nvSpPr>
        <p:spPr>
          <a:xfrm>
            <a:off x="231514" y="5786652"/>
            <a:ext cx="2034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Audio transformer</a:t>
            </a:r>
          </a:p>
        </p:txBody>
      </p:sp>
      <p:cxnSp>
        <p:nvCxnSpPr>
          <p:cNvPr id="58" name="Straight Arrow Connector 57"/>
          <p:cNvCxnSpPr>
            <a:stCxn id="73730" idx="0"/>
          </p:cNvCxnSpPr>
          <p:nvPr/>
        </p:nvCxnSpPr>
        <p:spPr bwMode="auto">
          <a:xfrm flipV="1">
            <a:off x="1332149" y="2811439"/>
            <a:ext cx="728663" cy="15404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1871927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5"/>
          <p:cNvSpPr txBox="1">
            <a:spLocks noChangeArrowheads="1"/>
          </p:cNvSpPr>
          <p:nvPr/>
        </p:nvSpPr>
        <p:spPr bwMode="auto">
          <a:xfrm>
            <a:off x="395288" y="331788"/>
            <a:ext cx="72875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Balanced Line </a:t>
            </a:r>
            <a:r>
              <a:rPr lang="en-GB" sz="2400" i="1" dirty="0"/>
              <a:t>(will be explained further in UG2)</a:t>
            </a:r>
            <a:endParaRPr lang="en-US" sz="2400" i="1" dirty="0"/>
          </a:p>
        </p:txBody>
      </p:sp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395288" y="3546475"/>
            <a:ext cx="8447087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indent="-18256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GB"/>
              <a:t>Unbalanced “single ended” source is converted to balanced signal 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/>
              <a:t>e.g. via transformer</a:t>
            </a:r>
          </a:p>
          <a:p>
            <a:pPr>
              <a:lnSpc>
                <a:spcPts val="2300"/>
              </a:lnSpc>
            </a:pPr>
            <a:r>
              <a:rPr lang="en-GB"/>
              <a:t>Signal is conveyed in a go/return normal/inverted circuit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/>
              <a:t>two lines are out of phase with each other 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/>
              <a:t>ground noise (power line hum and buzz)  and other interference imposed on one line is cancelled on the other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/>
              <a:t>transformer at load-end converts back to single ended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/>
              <a:t>cable signals are twisted together – further immunity to EM radiation</a:t>
            </a:r>
          </a:p>
          <a:p>
            <a:pPr>
              <a:lnSpc>
                <a:spcPts val="2300"/>
              </a:lnSpc>
              <a:buFont typeface="Arial" charset="0"/>
              <a:buChar char="•"/>
            </a:pPr>
            <a:r>
              <a:rPr lang="en-GB"/>
              <a:t>signal conductors have equal impedances to ground</a:t>
            </a:r>
            <a:endParaRPr lang="en-US"/>
          </a:p>
        </p:txBody>
      </p:sp>
      <p:pic>
        <p:nvPicPr>
          <p:cNvPr id="19460" name="Picture 4" descr="http://www.phoenixcomputerlabs.com/All-About-Mixers/images/Balanced-Line-Pairs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9" r="11053"/>
          <a:stretch>
            <a:fillRect/>
          </a:stretch>
        </p:blipFill>
        <p:spPr bwMode="auto">
          <a:xfrm>
            <a:off x="831850" y="704850"/>
            <a:ext cx="6894513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9"/>
          <p:cNvSpPr>
            <a:spLocks noChangeArrowheads="1"/>
          </p:cNvSpPr>
          <p:nvPr/>
        </p:nvSpPr>
        <p:spPr bwMode="auto">
          <a:xfrm>
            <a:off x="3822700" y="2532063"/>
            <a:ext cx="4572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800"/>
              <a:t>http://www.phoenixcomputerlabs.com/All-About-Mixers/Ballanced-Audio.html</a:t>
            </a:r>
          </a:p>
        </p:txBody>
      </p:sp>
      <p:pic>
        <p:nvPicPr>
          <p:cNvPr id="19462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1" r="15747" b="6056"/>
          <a:stretch>
            <a:fillRect/>
          </a:stretch>
        </p:blipFill>
        <p:spPr bwMode="auto">
          <a:xfrm>
            <a:off x="822325" y="1206500"/>
            <a:ext cx="132715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6" r="20255"/>
          <a:stretch>
            <a:fillRect/>
          </a:stretch>
        </p:blipFill>
        <p:spPr bwMode="auto">
          <a:xfrm>
            <a:off x="6437313" y="1216025"/>
            <a:ext cx="1298575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4" name="Freeform 62"/>
          <p:cNvSpPr>
            <a:spLocks/>
          </p:cNvSpPr>
          <p:nvPr/>
        </p:nvSpPr>
        <p:spPr bwMode="auto">
          <a:xfrm>
            <a:off x="7908925" y="1443038"/>
            <a:ext cx="504825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5" name="Freeform 62"/>
          <p:cNvSpPr>
            <a:spLocks/>
          </p:cNvSpPr>
          <p:nvPr/>
        </p:nvSpPr>
        <p:spPr bwMode="auto">
          <a:xfrm>
            <a:off x="395288" y="1423988"/>
            <a:ext cx="504825" cy="7207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6" name="Freeform 62"/>
          <p:cNvSpPr>
            <a:spLocks/>
          </p:cNvSpPr>
          <p:nvPr/>
        </p:nvSpPr>
        <p:spPr bwMode="auto">
          <a:xfrm>
            <a:off x="4098925" y="858838"/>
            <a:ext cx="504825" cy="36195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7" name="Freeform 62"/>
          <p:cNvSpPr>
            <a:spLocks/>
          </p:cNvSpPr>
          <p:nvPr/>
        </p:nvSpPr>
        <p:spPr bwMode="auto">
          <a:xfrm>
            <a:off x="1731963" y="1187450"/>
            <a:ext cx="269875" cy="1746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8" name="Freeform 62"/>
          <p:cNvSpPr>
            <a:spLocks/>
          </p:cNvSpPr>
          <p:nvPr/>
        </p:nvSpPr>
        <p:spPr bwMode="auto">
          <a:xfrm flipV="1">
            <a:off x="1741488" y="2198688"/>
            <a:ext cx="268287" cy="1746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9" name="Freeform 62"/>
          <p:cNvSpPr>
            <a:spLocks/>
          </p:cNvSpPr>
          <p:nvPr/>
        </p:nvSpPr>
        <p:spPr bwMode="auto">
          <a:xfrm flipV="1">
            <a:off x="4054475" y="2063750"/>
            <a:ext cx="504825" cy="36195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0" name="Freeform 62"/>
          <p:cNvSpPr>
            <a:spLocks/>
          </p:cNvSpPr>
          <p:nvPr/>
        </p:nvSpPr>
        <p:spPr bwMode="auto">
          <a:xfrm>
            <a:off x="6532563" y="1195388"/>
            <a:ext cx="269875" cy="1746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1" name="Freeform 62"/>
          <p:cNvSpPr>
            <a:spLocks/>
          </p:cNvSpPr>
          <p:nvPr/>
        </p:nvSpPr>
        <p:spPr bwMode="auto">
          <a:xfrm flipV="1">
            <a:off x="6532563" y="2189163"/>
            <a:ext cx="269875" cy="17462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2" name="Right Brace 22"/>
          <p:cNvSpPr>
            <a:spLocks/>
          </p:cNvSpPr>
          <p:nvPr/>
        </p:nvSpPr>
        <p:spPr bwMode="auto">
          <a:xfrm rot="5400000">
            <a:off x="1385094" y="2202656"/>
            <a:ext cx="184150" cy="966788"/>
          </a:xfrm>
          <a:prstGeom prst="rightBrace">
            <a:avLst>
              <a:gd name="adj1" fmla="val 46667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3" name="TextBox 23"/>
          <p:cNvSpPr txBox="1">
            <a:spLocks noChangeArrowheads="1"/>
          </p:cNvSpPr>
          <p:nvPr/>
        </p:nvSpPr>
        <p:spPr bwMode="auto">
          <a:xfrm>
            <a:off x="395288" y="2813050"/>
            <a:ext cx="2840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1200"/>
              <a:t>audio transformer – or other suitable circuit to derive the differential signal voltage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971056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Diagram illustrating the concept of an unbalanced lin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906463"/>
            <a:ext cx="6257925" cy="225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4" descr="Diagram illustrating the concept of a balanced lin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056063"/>
            <a:ext cx="8286750" cy="236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395288" y="331788"/>
            <a:ext cx="7866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Balanced / Unbalanced -</a:t>
            </a:r>
            <a:r>
              <a:rPr lang="en-GB" sz="1800" b="1"/>
              <a:t> Comparison of Noise Performance </a:t>
            </a:r>
            <a:endParaRPr lang="en-US" sz="1800" b="1"/>
          </a:p>
        </p:txBody>
      </p:sp>
    </p:spTree>
    <p:extLst>
      <p:ext uri="{BB962C8B-B14F-4D97-AF65-F5344CB8AC3E}">
        <p14:creationId xmlns:p14="http://schemas.microsoft.com/office/powerpoint/2010/main" val="17797256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10" descr="xl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23988"/>
            <a:ext cx="3333750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4" descr="http://www.planetoftunes.com/record/re_media/connectors/bal_jack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092575"/>
            <a:ext cx="3333750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6" descr="xlr plug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600" y="1882775"/>
            <a:ext cx="1905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8" descr="stereo jack plu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863" y="4284663"/>
            <a:ext cx="12192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Box 8"/>
          <p:cNvSpPr txBox="1">
            <a:spLocks noChangeArrowheads="1"/>
          </p:cNvSpPr>
          <p:nvPr/>
        </p:nvSpPr>
        <p:spPr bwMode="auto">
          <a:xfrm>
            <a:off x="395288" y="331788"/>
            <a:ext cx="4017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Balanced Line Connectors</a:t>
            </a:r>
            <a:endParaRPr lang="en-US" sz="2400" b="1"/>
          </a:p>
        </p:txBody>
      </p:sp>
      <p:pic>
        <p:nvPicPr>
          <p:cNvPr id="24583" name="Picture 8" descr="File:XLR pinouts.sv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075" y="457200"/>
            <a:ext cx="28289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84863" y="2411413"/>
          <a:ext cx="3141662" cy="1859216"/>
        </p:xfrm>
        <a:graphic>
          <a:graphicData uri="http://schemas.openxmlformats.org/drawingml/2006/table">
            <a:tbl>
              <a:tblPr/>
              <a:tblGrid>
                <a:gridCol w="471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4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Pin</a:t>
                      </a:r>
                    </a:p>
                  </a:txBody>
                  <a:tcPr marL="91429" marR="91429" marT="45712" marB="4571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Function</a:t>
                      </a:r>
                    </a:p>
                  </a:txBody>
                  <a:tcPr marL="91429" marR="91429" marT="45712" marB="4571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71">
                <a:tc>
                  <a:txBody>
                    <a:bodyPr/>
                    <a:lstStyle/>
                    <a:p>
                      <a:pPr algn="ctr"/>
                      <a:r>
                        <a:rPr lang="en-GB" sz="1400"/>
                        <a:t>1</a:t>
                      </a:r>
                    </a:p>
                  </a:txBody>
                  <a:tcPr marL="91429" marR="91429" marT="45712" marB="4571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chassis </a:t>
                      </a:r>
                      <a:r>
                        <a:rPr lang="en-GB" sz="1400" u="none" strike="noStrike" dirty="0">
                          <a:solidFill>
                            <a:schemeClr val="tx1"/>
                          </a:solidFill>
                        </a:rPr>
                        <a:t>ground</a:t>
                      </a: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 </a:t>
                      </a:r>
                    </a:p>
                    <a:p>
                      <a:pPr marL="180975" indent="-180975" algn="l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      (cable shield)</a:t>
                      </a:r>
                    </a:p>
                  </a:txBody>
                  <a:tcPr marL="91429" marR="91429" marT="45712" marB="4571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7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L="91429" marR="91429" marT="45712" marB="4571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positive polarity terminal</a:t>
                      </a:r>
                    </a:p>
                    <a:p>
                      <a:pPr algn="l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      ("hot")</a:t>
                      </a:r>
                    </a:p>
                  </a:txBody>
                  <a:tcPr marL="91429" marR="91429" marT="45712" marB="4571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7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 marL="91429" marR="91429" marT="45712" marB="4571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return terminal</a:t>
                      </a:r>
                    </a:p>
                    <a:p>
                      <a:pPr algn="l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      ("cold")</a:t>
                      </a:r>
                    </a:p>
                  </a:txBody>
                  <a:tcPr marL="91429" marR="91429" marT="45712" marB="4571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60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545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82184" y="3484395"/>
            <a:ext cx="2797791" cy="284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 bwMode="auto">
          <a:xfrm>
            <a:off x="1525806" y="1978227"/>
            <a:ext cx="6189444" cy="226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 flipV="1">
            <a:off x="1525806" y="2686690"/>
            <a:ext cx="6175157" cy="98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95288" y="318140"/>
            <a:ext cx="2489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Phantom Power</a:t>
            </a:r>
            <a:endParaRPr lang="en-US" sz="2400" b="1" dirty="0"/>
          </a:p>
        </p:txBody>
      </p:sp>
      <p:pic>
        <p:nvPicPr>
          <p:cNvPr id="8" name="Picture 9" descr="http://s3.hubimg.com/u/5116374_f26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1502415"/>
            <a:ext cx="1176396" cy="1570037"/>
          </a:xfrm>
          <a:prstGeom prst="rect">
            <a:avLst/>
          </a:prstGeom>
          <a:noFill/>
        </p:spPr>
      </p:pic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1198" y="1903792"/>
            <a:ext cx="801877" cy="853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63449" y="1903792"/>
            <a:ext cx="801877" cy="853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Freeform 62"/>
          <p:cNvSpPr>
            <a:spLocks/>
          </p:cNvSpPr>
          <p:nvPr/>
        </p:nvSpPr>
        <p:spPr bwMode="auto">
          <a:xfrm>
            <a:off x="1524693" y="2240368"/>
            <a:ext cx="306363" cy="173453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" name="Freeform 62"/>
          <p:cNvSpPr>
            <a:spLocks/>
          </p:cNvSpPr>
          <p:nvPr/>
        </p:nvSpPr>
        <p:spPr bwMode="auto">
          <a:xfrm>
            <a:off x="7619546" y="2272293"/>
            <a:ext cx="306363" cy="173453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cxnSp>
        <p:nvCxnSpPr>
          <p:cNvPr id="15" name="Straight Connector 14"/>
          <p:cNvCxnSpPr/>
          <p:nvPr/>
        </p:nvCxnSpPr>
        <p:spPr bwMode="auto">
          <a:xfrm flipV="1">
            <a:off x="1512159" y="2809520"/>
            <a:ext cx="6175157" cy="98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892764" y="2804744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ground</a:t>
            </a:r>
          </a:p>
        </p:txBody>
      </p:sp>
      <p:sp>
        <p:nvSpPr>
          <p:cNvPr id="17" name="Rounded Rectangular Callout 16"/>
          <p:cNvSpPr/>
          <p:nvPr/>
        </p:nvSpPr>
        <p:spPr bwMode="auto">
          <a:xfrm>
            <a:off x="6482687" y="1828800"/>
            <a:ext cx="1015393" cy="1041621"/>
          </a:xfrm>
          <a:prstGeom prst="wedgeRoundRectCallout">
            <a:avLst>
              <a:gd name="adj1" fmla="val -18291"/>
              <a:gd name="adj2" fmla="val 50567"/>
              <a:gd name="adj3" fmla="val 16667"/>
            </a:avLst>
          </a:prstGeom>
          <a:solidFill>
            <a:schemeClr val="bg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" name="Rounded Rectangle 17"/>
          <p:cNvSpPr/>
          <p:nvPr/>
        </p:nvSpPr>
        <p:spPr bwMode="auto">
          <a:xfrm>
            <a:off x="1842448" y="1815152"/>
            <a:ext cx="764274" cy="1118879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49362" y="4161853"/>
            <a:ext cx="1445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48V  supply from mixer</a:t>
            </a:r>
          </a:p>
        </p:txBody>
      </p:sp>
      <p:cxnSp>
        <p:nvCxnSpPr>
          <p:cNvPr id="20" name="Straight Arrow Connector 19"/>
          <p:cNvCxnSpPr/>
          <p:nvPr/>
        </p:nvCxnSpPr>
        <p:spPr bwMode="auto">
          <a:xfrm flipV="1">
            <a:off x="5534108" y="3144444"/>
            <a:ext cx="1258798" cy="9822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1039344" y="4690319"/>
            <a:ext cx="1958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48V  to power condenser </a:t>
            </a:r>
            <a:r>
              <a:rPr lang="en-GB" dirty="0" err="1"/>
              <a:t>mic</a:t>
            </a:r>
            <a:endParaRPr lang="en-GB" dirty="0"/>
          </a:p>
        </p:txBody>
      </p:sp>
      <p:cxnSp>
        <p:nvCxnSpPr>
          <p:cNvPr id="22" name="Straight Arrow Connector 21"/>
          <p:cNvCxnSpPr/>
          <p:nvPr/>
        </p:nvCxnSpPr>
        <p:spPr bwMode="auto">
          <a:xfrm flipH="1" flipV="1">
            <a:off x="1678675" y="3411940"/>
            <a:ext cx="232012" cy="1269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Freeform 22"/>
          <p:cNvSpPr/>
          <p:nvPr/>
        </p:nvSpPr>
        <p:spPr bwMode="auto">
          <a:xfrm>
            <a:off x="6807780" y="2886323"/>
            <a:ext cx="322997" cy="577954"/>
          </a:xfrm>
          <a:custGeom>
            <a:avLst/>
            <a:gdLst>
              <a:gd name="connsiteX0" fmla="*/ 9098 w 322997"/>
              <a:gd name="connsiteY0" fmla="*/ 0 h 805218"/>
              <a:gd name="connsiteX1" fmla="*/ 36394 w 322997"/>
              <a:gd name="connsiteY1" fmla="*/ 395785 h 805218"/>
              <a:gd name="connsiteX2" fmla="*/ 227462 w 322997"/>
              <a:gd name="connsiteY2" fmla="*/ 423081 h 805218"/>
              <a:gd name="connsiteX3" fmla="*/ 322997 w 322997"/>
              <a:gd name="connsiteY3" fmla="*/ 805218 h 80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997" h="805218">
                <a:moveTo>
                  <a:pt x="9098" y="0"/>
                </a:moveTo>
                <a:cubicBezTo>
                  <a:pt x="4549" y="162636"/>
                  <a:pt x="0" y="325272"/>
                  <a:pt x="36394" y="395785"/>
                </a:cubicBezTo>
                <a:cubicBezTo>
                  <a:pt x="72788" y="466298"/>
                  <a:pt x="179695" y="354842"/>
                  <a:pt x="227462" y="423081"/>
                </a:cubicBezTo>
                <a:cubicBezTo>
                  <a:pt x="275229" y="491320"/>
                  <a:pt x="299113" y="648269"/>
                  <a:pt x="322997" y="805218"/>
                </a:cubicBezTo>
              </a:path>
            </a:pathLst>
          </a:custGeom>
          <a:solidFill>
            <a:srgbClr val="C00000">
              <a:alpha val="0"/>
            </a:srgbClr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" name="Freeform 23"/>
          <p:cNvSpPr/>
          <p:nvPr/>
        </p:nvSpPr>
        <p:spPr bwMode="auto">
          <a:xfrm>
            <a:off x="1175981" y="2579427"/>
            <a:ext cx="1205355" cy="780196"/>
          </a:xfrm>
          <a:custGeom>
            <a:avLst/>
            <a:gdLst>
              <a:gd name="connsiteX0" fmla="*/ 1307911 w 1323833"/>
              <a:gd name="connsiteY0" fmla="*/ 122829 h 780196"/>
              <a:gd name="connsiteX1" fmla="*/ 1294263 w 1323833"/>
              <a:gd name="connsiteY1" fmla="*/ 464024 h 780196"/>
              <a:gd name="connsiteX2" fmla="*/ 1130490 w 1323833"/>
              <a:gd name="connsiteY2" fmla="*/ 682388 h 780196"/>
              <a:gd name="connsiteX3" fmla="*/ 802943 w 1323833"/>
              <a:gd name="connsiteY3" fmla="*/ 750626 h 780196"/>
              <a:gd name="connsiteX4" fmla="*/ 284328 w 1323833"/>
              <a:gd name="connsiteY4" fmla="*/ 777922 h 780196"/>
              <a:gd name="connsiteX5" fmla="*/ 93260 w 1323833"/>
              <a:gd name="connsiteY5" fmla="*/ 736979 h 780196"/>
              <a:gd name="connsiteX6" fmla="*/ 11373 w 1323833"/>
              <a:gd name="connsiteY6" fmla="*/ 600501 h 780196"/>
              <a:gd name="connsiteX7" fmla="*/ 161499 w 1323833"/>
              <a:gd name="connsiteY7" fmla="*/ 354841 h 780196"/>
              <a:gd name="connsiteX8" fmla="*/ 106908 w 1323833"/>
              <a:gd name="connsiteY8" fmla="*/ 0 h 780196"/>
              <a:gd name="connsiteX0" fmla="*/ 1307911 w 1331784"/>
              <a:gd name="connsiteY0" fmla="*/ 122829 h 780196"/>
              <a:gd name="connsiteX1" fmla="*/ 1302214 w 1331784"/>
              <a:gd name="connsiteY1" fmla="*/ 607148 h 780196"/>
              <a:gd name="connsiteX2" fmla="*/ 1130490 w 1331784"/>
              <a:gd name="connsiteY2" fmla="*/ 682388 h 780196"/>
              <a:gd name="connsiteX3" fmla="*/ 802943 w 1331784"/>
              <a:gd name="connsiteY3" fmla="*/ 750626 h 780196"/>
              <a:gd name="connsiteX4" fmla="*/ 284328 w 1331784"/>
              <a:gd name="connsiteY4" fmla="*/ 777922 h 780196"/>
              <a:gd name="connsiteX5" fmla="*/ 93260 w 1331784"/>
              <a:gd name="connsiteY5" fmla="*/ 736979 h 780196"/>
              <a:gd name="connsiteX6" fmla="*/ 11373 w 1331784"/>
              <a:gd name="connsiteY6" fmla="*/ 600501 h 780196"/>
              <a:gd name="connsiteX7" fmla="*/ 161499 w 1331784"/>
              <a:gd name="connsiteY7" fmla="*/ 354841 h 780196"/>
              <a:gd name="connsiteX8" fmla="*/ 106908 w 1331784"/>
              <a:gd name="connsiteY8" fmla="*/ 0 h 780196"/>
              <a:gd name="connsiteX0" fmla="*/ 1307911 w 1310047"/>
              <a:gd name="connsiteY0" fmla="*/ 122829 h 780196"/>
              <a:gd name="connsiteX1" fmla="*/ 1129895 w 1310047"/>
              <a:gd name="connsiteY1" fmla="*/ 569290 h 780196"/>
              <a:gd name="connsiteX2" fmla="*/ 1302214 w 1310047"/>
              <a:gd name="connsiteY2" fmla="*/ 607148 h 780196"/>
              <a:gd name="connsiteX3" fmla="*/ 1130490 w 1310047"/>
              <a:gd name="connsiteY3" fmla="*/ 682388 h 780196"/>
              <a:gd name="connsiteX4" fmla="*/ 802943 w 1310047"/>
              <a:gd name="connsiteY4" fmla="*/ 750626 h 780196"/>
              <a:gd name="connsiteX5" fmla="*/ 284328 w 1310047"/>
              <a:gd name="connsiteY5" fmla="*/ 777922 h 780196"/>
              <a:gd name="connsiteX6" fmla="*/ 93260 w 1310047"/>
              <a:gd name="connsiteY6" fmla="*/ 736979 h 780196"/>
              <a:gd name="connsiteX7" fmla="*/ 11373 w 1310047"/>
              <a:gd name="connsiteY7" fmla="*/ 600501 h 780196"/>
              <a:gd name="connsiteX8" fmla="*/ 161499 w 1310047"/>
              <a:gd name="connsiteY8" fmla="*/ 354841 h 780196"/>
              <a:gd name="connsiteX9" fmla="*/ 106908 w 1310047"/>
              <a:gd name="connsiteY9" fmla="*/ 0 h 780196"/>
              <a:gd name="connsiteX0" fmla="*/ 1307911 w 1308722"/>
              <a:gd name="connsiteY0" fmla="*/ 122829 h 780196"/>
              <a:gd name="connsiteX1" fmla="*/ 1249166 w 1308722"/>
              <a:gd name="connsiteY1" fmla="*/ 513630 h 780196"/>
              <a:gd name="connsiteX2" fmla="*/ 1129895 w 1308722"/>
              <a:gd name="connsiteY2" fmla="*/ 569290 h 780196"/>
              <a:gd name="connsiteX3" fmla="*/ 1302214 w 1308722"/>
              <a:gd name="connsiteY3" fmla="*/ 607148 h 780196"/>
              <a:gd name="connsiteX4" fmla="*/ 1130490 w 1308722"/>
              <a:gd name="connsiteY4" fmla="*/ 682388 h 780196"/>
              <a:gd name="connsiteX5" fmla="*/ 802943 w 1308722"/>
              <a:gd name="connsiteY5" fmla="*/ 750626 h 780196"/>
              <a:gd name="connsiteX6" fmla="*/ 284328 w 1308722"/>
              <a:gd name="connsiteY6" fmla="*/ 777922 h 780196"/>
              <a:gd name="connsiteX7" fmla="*/ 93260 w 1308722"/>
              <a:gd name="connsiteY7" fmla="*/ 736979 h 780196"/>
              <a:gd name="connsiteX8" fmla="*/ 11373 w 1308722"/>
              <a:gd name="connsiteY8" fmla="*/ 600501 h 780196"/>
              <a:gd name="connsiteX9" fmla="*/ 161499 w 1308722"/>
              <a:gd name="connsiteY9" fmla="*/ 354841 h 780196"/>
              <a:gd name="connsiteX10" fmla="*/ 106908 w 1308722"/>
              <a:gd name="connsiteY10" fmla="*/ 0 h 780196"/>
              <a:gd name="connsiteX0" fmla="*/ 1307911 w 1308722"/>
              <a:gd name="connsiteY0" fmla="*/ 520394 h 780196"/>
              <a:gd name="connsiteX1" fmla="*/ 1249166 w 1308722"/>
              <a:gd name="connsiteY1" fmla="*/ 513630 h 780196"/>
              <a:gd name="connsiteX2" fmla="*/ 1129895 w 1308722"/>
              <a:gd name="connsiteY2" fmla="*/ 569290 h 780196"/>
              <a:gd name="connsiteX3" fmla="*/ 1302214 w 1308722"/>
              <a:gd name="connsiteY3" fmla="*/ 607148 h 780196"/>
              <a:gd name="connsiteX4" fmla="*/ 1130490 w 1308722"/>
              <a:gd name="connsiteY4" fmla="*/ 682388 h 780196"/>
              <a:gd name="connsiteX5" fmla="*/ 802943 w 1308722"/>
              <a:gd name="connsiteY5" fmla="*/ 750626 h 780196"/>
              <a:gd name="connsiteX6" fmla="*/ 284328 w 1308722"/>
              <a:gd name="connsiteY6" fmla="*/ 777922 h 780196"/>
              <a:gd name="connsiteX7" fmla="*/ 93260 w 1308722"/>
              <a:gd name="connsiteY7" fmla="*/ 736979 h 780196"/>
              <a:gd name="connsiteX8" fmla="*/ 11373 w 1308722"/>
              <a:gd name="connsiteY8" fmla="*/ 600501 h 780196"/>
              <a:gd name="connsiteX9" fmla="*/ 161499 w 1308722"/>
              <a:gd name="connsiteY9" fmla="*/ 354841 h 780196"/>
              <a:gd name="connsiteX10" fmla="*/ 106908 w 1308722"/>
              <a:gd name="connsiteY10" fmla="*/ 0 h 780196"/>
              <a:gd name="connsiteX0" fmla="*/ 1204544 w 1302313"/>
              <a:gd name="connsiteY0" fmla="*/ 337514 h 780196"/>
              <a:gd name="connsiteX1" fmla="*/ 1249166 w 1302313"/>
              <a:gd name="connsiteY1" fmla="*/ 513630 h 780196"/>
              <a:gd name="connsiteX2" fmla="*/ 1129895 w 1302313"/>
              <a:gd name="connsiteY2" fmla="*/ 569290 h 780196"/>
              <a:gd name="connsiteX3" fmla="*/ 1302214 w 1302313"/>
              <a:gd name="connsiteY3" fmla="*/ 607148 h 780196"/>
              <a:gd name="connsiteX4" fmla="*/ 1130490 w 1302313"/>
              <a:gd name="connsiteY4" fmla="*/ 682388 h 780196"/>
              <a:gd name="connsiteX5" fmla="*/ 802943 w 1302313"/>
              <a:gd name="connsiteY5" fmla="*/ 750626 h 780196"/>
              <a:gd name="connsiteX6" fmla="*/ 284328 w 1302313"/>
              <a:gd name="connsiteY6" fmla="*/ 777922 h 780196"/>
              <a:gd name="connsiteX7" fmla="*/ 93260 w 1302313"/>
              <a:gd name="connsiteY7" fmla="*/ 736979 h 780196"/>
              <a:gd name="connsiteX8" fmla="*/ 11373 w 1302313"/>
              <a:gd name="connsiteY8" fmla="*/ 600501 h 780196"/>
              <a:gd name="connsiteX9" fmla="*/ 161499 w 1302313"/>
              <a:gd name="connsiteY9" fmla="*/ 354841 h 780196"/>
              <a:gd name="connsiteX10" fmla="*/ 106908 w 1302313"/>
              <a:gd name="connsiteY10" fmla="*/ 0 h 780196"/>
              <a:gd name="connsiteX0" fmla="*/ 1204544 w 1302313"/>
              <a:gd name="connsiteY0" fmla="*/ 337514 h 780196"/>
              <a:gd name="connsiteX1" fmla="*/ 1177604 w 1302313"/>
              <a:gd name="connsiteY1" fmla="*/ 465922 h 780196"/>
              <a:gd name="connsiteX2" fmla="*/ 1129895 w 1302313"/>
              <a:gd name="connsiteY2" fmla="*/ 569290 h 780196"/>
              <a:gd name="connsiteX3" fmla="*/ 1302214 w 1302313"/>
              <a:gd name="connsiteY3" fmla="*/ 607148 h 780196"/>
              <a:gd name="connsiteX4" fmla="*/ 1130490 w 1302313"/>
              <a:gd name="connsiteY4" fmla="*/ 682388 h 780196"/>
              <a:gd name="connsiteX5" fmla="*/ 802943 w 1302313"/>
              <a:gd name="connsiteY5" fmla="*/ 750626 h 780196"/>
              <a:gd name="connsiteX6" fmla="*/ 284328 w 1302313"/>
              <a:gd name="connsiteY6" fmla="*/ 777922 h 780196"/>
              <a:gd name="connsiteX7" fmla="*/ 93260 w 1302313"/>
              <a:gd name="connsiteY7" fmla="*/ 736979 h 780196"/>
              <a:gd name="connsiteX8" fmla="*/ 11373 w 1302313"/>
              <a:gd name="connsiteY8" fmla="*/ 600501 h 780196"/>
              <a:gd name="connsiteX9" fmla="*/ 161499 w 1302313"/>
              <a:gd name="connsiteY9" fmla="*/ 354841 h 780196"/>
              <a:gd name="connsiteX10" fmla="*/ 106908 w 1302313"/>
              <a:gd name="connsiteY10" fmla="*/ 0 h 780196"/>
              <a:gd name="connsiteX0" fmla="*/ 1204544 w 1205355"/>
              <a:gd name="connsiteY0" fmla="*/ 337514 h 780196"/>
              <a:gd name="connsiteX1" fmla="*/ 1177604 w 1205355"/>
              <a:gd name="connsiteY1" fmla="*/ 465922 h 780196"/>
              <a:gd name="connsiteX2" fmla="*/ 1129895 w 1205355"/>
              <a:gd name="connsiteY2" fmla="*/ 569290 h 780196"/>
              <a:gd name="connsiteX3" fmla="*/ 1198847 w 1205355"/>
              <a:gd name="connsiteY3" fmla="*/ 631002 h 780196"/>
              <a:gd name="connsiteX4" fmla="*/ 1130490 w 1205355"/>
              <a:gd name="connsiteY4" fmla="*/ 682388 h 780196"/>
              <a:gd name="connsiteX5" fmla="*/ 802943 w 1205355"/>
              <a:gd name="connsiteY5" fmla="*/ 750626 h 780196"/>
              <a:gd name="connsiteX6" fmla="*/ 284328 w 1205355"/>
              <a:gd name="connsiteY6" fmla="*/ 777922 h 780196"/>
              <a:gd name="connsiteX7" fmla="*/ 93260 w 1205355"/>
              <a:gd name="connsiteY7" fmla="*/ 736979 h 780196"/>
              <a:gd name="connsiteX8" fmla="*/ 11373 w 1205355"/>
              <a:gd name="connsiteY8" fmla="*/ 600501 h 780196"/>
              <a:gd name="connsiteX9" fmla="*/ 161499 w 1205355"/>
              <a:gd name="connsiteY9" fmla="*/ 354841 h 780196"/>
              <a:gd name="connsiteX10" fmla="*/ 106908 w 1205355"/>
              <a:gd name="connsiteY10" fmla="*/ 0 h 78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5355" h="780196">
                <a:moveTo>
                  <a:pt x="1204544" y="337514"/>
                </a:moveTo>
                <a:cubicBezTo>
                  <a:pt x="1205355" y="340362"/>
                  <a:pt x="1190045" y="427293"/>
                  <a:pt x="1177604" y="465922"/>
                </a:cubicBezTo>
                <a:cubicBezTo>
                  <a:pt x="1165163" y="504551"/>
                  <a:pt x="1126355" y="541777"/>
                  <a:pt x="1129895" y="569290"/>
                </a:cubicBezTo>
                <a:cubicBezTo>
                  <a:pt x="1133435" y="596803"/>
                  <a:pt x="1198748" y="612152"/>
                  <a:pt x="1198847" y="631002"/>
                </a:cubicBezTo>
                <a:cubicBezTo>
                  <a:pt x="1198946" y="649852"/>
                  <a:pt x="1196474" y="662451"/>
                  <a:pt x="1130490" y="682388"/>
                </a:cubicBezTo>
                <a:cubicBezTo>
                  <a:pt x="1064506" y="702325"/>
                  <a:pt x="943970" y="734704"/>
                  <a:pt x="802943" y="750626"/>
                </a:cubicBezTo>
                <a:cubicBezTo>
                  <a:pt x="661916" y="766548"/>
                  <a:pt x="402608" y="780196"/>
                  <a:pt x="284328" y="777922"/>
                </a:cubicBezTo>
                <a:cubicBezTo>
                  <a:pt x="166048" y="775648"/>
                  <a:pt x="138753" y="766549"/>
                  <a:pt x="93260" y="736979"/>
                </a:cubicBezTo>
                <a:cubicBezTo>
                  <a:pt x="47768" y="707409"/>
                  <a:pt x="0" y="664191"/>
                  <a:pt x="11373" y="600501"/>
                </a:cubicBezTo>
                <a:cubicBezTo>
                  <a:pt x="22746" y="536811"/>
                  <a:pt x="145577" y="454924"/>
                  <a:pt x="161499" y="354841"/>
                </a:cubicBezTo>
                <a:cubicBezTo>
                  <a:pt x="177421" y="254758"/>
                  <a:pt x="142164" y="127379"/>
                  <a:pt x="106908" y="0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 bwMode="auto">
          <a:xfrm flipH="1">
            <a:off x="2393345" y="3061252"/>
            <a:ext cx="4357312" cy="1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rgbClr val="FF0000"/>
            </a:solidFill>
            <a:prstDash val="sysDot"/>
            <a:round/>
            <a:headEnd type="none" w="med" len="med"/>
            <a:tailEnd type="arrow"/>
          </a:ln>
          <a:effectLst/>
        </p:spPr>
      </p:cxnSp>
      <p:sp>
        <p:nvSpPr>
          <p:cNvPr id="28" name="Freeform 62"/>
          <p:cNvSpPr>
            <a:spLocks/>
          </p:cNvSpPr>
          <p:nvPr/>
        </p:nvSpPr>
        <p:spPr bwMode="auto">
          <a:xfrm>
            <a:off x="3281931" y="2240368"/>
            <a:ext cx="306363" cy="173453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" name="TextBox 32"/>
          <p:cNvSpPr txBox="1"/>
          <p:nvPr/>
        </p:nvSpPr>
        <p:spPr>
          <a:xfrm>
            <a:off x="3641696" y="2174028"/>
            <a:ext cx="1733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signal transfer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3744" y="3080476"/>
            <a:ext cx="1733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DC voltage transfer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287" y="774598"/>
            <a:ext cx="8041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Microphone signal and DV voltage supply are supported on the two connectors between the microphone and the mixer</a:t>
            </a:r>
          </a:p>
        </p:txBody>
      </p:sp>
      <p:cxnSp>
        <p:nvCxnSpPr>
          <p:cNvPr id="37" name="Straight Arrow Connector 36"/>
          <p:cNvCxnSpPr/>
          <p:nvPr/>
        </p:nvCxnSpPr>
        <p:spPr bwMode="auto">
          <a:xfrm>
            <a:off x="5255812" y="2313830"/>
            <a:ext cx="596348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8068615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54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82184" y="3484395"/>
            <a:ext cx="2797791" cy="284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reeform 62"/>
          <p:cNvSpPr>
            <a:spLocks/>
          </p:cNvSpPr>
          <p:nvPr/>
        </p:nvSpPr>
        <p:spPr bwMode="auto">
          <a:xfrm>
            <a:off x="3620401" y="1482701"/>
            <a:ext cx="958851" cy="42068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" name="Freeform 62"/>
          <p:cNvSpPr>
            <a:spLocks/>
          </p:cNvSpPr>
          <p:nvPr/>
        </p:nvSpPr>
        <p:spPr bwMode="auto">
          <a:xfrm flipV="1">
            <a:off x="3631182" y="2958453"/>
            <a:ext cx="958851" cy="42068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1525806" y="1978227"/>
            <a:ext cx="6189444" cy="226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 flipV="1">
            <a:off x="1525806" y="2686690"/>
            <a:ext cx="6175157" cy="98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TextBox 8"/>
          <p:cNvSpPr txBox="1">
            <a:spLocks noChangeArrowheads="1"/>
          </p:cNvSpPr>
          <p:nvPr/>
        </p:nvSpPr>
        <p:spPr bwMode="auto">
          <a:xfrm>
            <a:off x="395288" y="318140"/>
            <a:ext cx="2489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Phantom Power</a:t>
            </a:r>
            <a:endParaRPr lang="en-US" sz="2400" b="1" dirty="0"/>
          </a:p>
        </p:txBody>
      </p:sp>
      <p:pic>
        <p:nvPicPr>
          <p:cNvPr id="31753" name="Picture 9" descr="http://s3.hubimg.com/u/5116374_f26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1502415"/>
            <a:ext cx="1176396" cy="1570037"/>
          </a:xfrm>
          <a:prstGeom prst="rect">
            <a:avLst/>
          </a:prstGeom>
          <a:noFill/>
        </p:spPr>
      </p:pic>
      <p:pic>
        <p:nvPicPr>
          <p:cNvPr id="31755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1198" y="1903792"/>
            <a:ext cx="801877" cy="853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63449" y="1903792"/>
            <a:ext cx="801877" cy="853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Freeform 62"/>
          <p:cNvSpPr>
            <a:spLocks/>
          </p:cNvSpPr>
          <p:nvPr/>
        </p:nvSpPr>
        <p:spPr bwMode="auto">
          <a:xfrm>
            <a:off x="1508790" y="2129050"/>
            <a:ext cx="306363" cy="173453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cxnSp>
        <p:nvCxnSpPr>
          <p:cNvPr id="35" name="Straight Connector 34"/>
          <p:cNvCxnSpPr/>
          <p:nvPr/>
        </p:nvCxnSpPr>
        <p:spPr bwMode="auto">
          <a:xfrm>
            <a:off x="1508789" y="2377669"/>
            <a:ext cx="28748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Freeform 62"/>
          <p:cNvSpPr>
            <a:spLocks/>
          </p:cNvSpPr>
          <p:nvPr/>
        </p:nvSpPr>
        <p:spPr bwMode="auto">
          <a:xfrm>
            <a:off x="7595692" y="2224585"/>
            <a:ext cx="306363" cy="173453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cxnSp>
        <p:nvCxnSpPr>
          <p:cNvPr id="40" name="Straight Connector 39"/>
          <p:cNvCxnSpPr/>
          <p:nvPr/>
        </p:nvCxnSpPr>
        <p:spPr bwMode="auto">
          <a:xfrm>
            <a:off x="7595691" y="2473204"/>
            <a:ext cx="28748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/>
          <p:nvPr/>
        </p:nvCxnSpPr>
        <p:spPr bwMode="auto">
          <a:xfrm flipV="1">
            <a:off x="1512159" y="2809520"/>
            <a:ext cx="6175157" cy="98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6892764" y="2804744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ground</a:t>
            </a:r>
          </a:p>
        </p:txBody>
      </p:sp>
      <p:sp>
        <p:nvSpPr>
          <p:cNvPr id="55" name="Rounded Rectangular Callout 54"/>
          <p:cNvSpPr/>
          <p:nvPr/>
        </p:nvSpPr>
        <p:spPr bwMode="auto">
          <a:xfrm>
            <a:off x="6482687" y="1828800"/>
            <a:ext cx="1610435" cy="1446662"/>
          </a:xfrm>
          <a:prstGeom prst="wedgeRoundRectCallout">
            <a:avLst>
              <a:gd name="adj1" fmla="val -18291"/>
              <a:gd name="adj2" fmla="val 87972"/>
              <a:gd name="adj3" fmla="val 16667"/>
            </a:avLst>
          </a:prstGeom>
          <a:solidFill>
            <a:srgbClr val="C00000">
              <a:alpha val="10000"/>
            </a:srgb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6" name="Rounded Rectangle 55"/>
          <p:cNvSpPr/>
          <p:nvPr/>
        </p:nvSpPr>
        <p:spPr bwMode="auto">
          <a:xfrm>
            <a:off x="1842448" y="1815152"/>
            <a:ext cx="764274" cy="1269242"/>
          </a:xfrm>
          <a:prstGeom prst="roundRect">
            <a:avLst/>
          </a:prstGeom>
          <a:solidFill>
            <a:srgbClr val="C00000">
              <a:alpha val="12000"/>
            </a:srgb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702259" y="3589360"/>
            <a:ext cx="30636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48V  imposed on conductors</a:t>
            </a:r>
          </a:p>
        </p:txBody>
      </p:sp>
      <p:cxnSp>
        <p:nvCxnSpPr>
          <p:cNvPr id="59" name="Straight Arrow Connector 58"/>
          <p:cNvCxnSpPr/>
          <p:nvPr/>
        </p:nvCxnSpPr>
        <p:spPr bwMode="auto">
          <a:xfrm flipV="1">
            <a:off x="5377218" y="2961564"/>
            <a:ext cx="1201003" cy="586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1583143" y="4722125"/>
            <a:ext cx="3903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48V  available for use at microphone,</a:t>
            </a:r>
          </a:p>
          <a:p>
            <a:r>
              <a:rPr lang="en-GB" dirty="0"/>
              <a:t>but the voltage isn’t transferred in to the signal path at the microphone</a:t>
            </a:r>
          </a:p>
        </p:txBody>
      </p:sp>
      <p:cxnSp>
        <p:nvCxnSpPr>
          <p:cNvPr id="61" name="Straight Arrow Connector 60"/>
          <p:cNvCxnSpPr/>
          <p:nvPr/>
        </p:nvCxnSpPr>
        <p:spPr bwMode="auto">
          <a:xfrm flipH="1" flipV="1">
            <a:off x="1678675" y="3411940"/>
            <a:ext cx="232012" cy="1269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4" name="Freeform 63"/>
          <p:cNvSpPr/>
          <p:nvPr/>
        </p:nvSpPr>
        <p:spPr bwMode="auto">
          <a:xfrm>
            <a:off x="6664657" y="2674961"/>
            <a:ext cx="322997" cy="805218"/>
          </a:xfrm>
          <a:custGeom>
            <a:avLst/>
            <a:gdLst>
              <a:gd name="connsiteX0" fmla="*/ 9098 w 322997"/>
              <a:gd name="connsiteY0" fmla="*/ 0 h 805218"/>
              <a:gd name="connsiteX1" fmla="*/ 36394 w 322997"/>
              <a:gd name="connsiteY1" fmla="*/ 395785 h 805218"/>
              <a:gd name="connsiteX2" fmla="*/ 227462 w 322997"/>
              <a:gd name="connsiteY2" fmla="*/ 423081 h 805218"/>
              <a:gd name="connsiteX3" fmla="*/ 322997 w 322997"/>
              <a:gd name="connsiteY3" fmla="*/ 805218 h 80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997" h="805218">
                <a:moveTo>
                  <a:pt x="9098" y="0"/>
                </a:moveTo>
                <a:cubicBezTo>
                  <a:pt x="4549" y="162636"/>
                  <a:pt x="0" y="325272"/>
                  <a:pt x="36394" y="395785"/>
                </a:cubicBezTo>
                <a:cubicBezTo>
                  <a:pt x="72788" y="466298"/>
                  <a:pt x="179695" y="354842"/>
                  <a:pt x="227462" y="423081"/>
                </a:cubicBezTo>
                <a:cubicBezTo>
                  <a:pt x="275229" y="491320"/>
                  <a:pt x="299113" y="648269"/>
                  <a:pt x="322997" y="805218"/>
                </a:cubicBezTo>
              </a:path>
            </a:pathLst>
          </a:custGeom>
          <a:solidFill>
            <a:srgbClr val="C00000">
              <a:alpha val="0"/>
            </a:srgbClr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9" name="Freeform 68"/>
          <p:cNvSpPr/>
          <p:nvPr/>
        </p:nvSpPr>
        <p:spPr bwMode="auto">
          <a:xfrm>
            <a:off x="1175982" y="2579427"/>
            <a:ext cx="1323833" cy="780196"/>
          </a:xfrm>
          <a:custGeom>
            <a:avLst/>
            <a:gdLst>
              <a:gd name="connsiteX0" fmla="*/ 1307911 w 1323833"/>
              <a:gd name="connsiteY0" fmla="*/ 122829 h 780196"/>
              <a:gd name="connsiteX1" fmla="*/ 1294263 w 1323833"/>
              <a:gd name="connsiteY1" fmla="*/ 464024 h 780196"/>
              <a:gd name="connsiteX2" fmla="*/ 1130490 w 1323833"/>
              <a:gd name="connsiteY2" fmla="*/ 682388 h 780196"/>
              <a:gd name="connsiteX3" fmla="*/ 802943 w 1323833"/>
              <a:gd name="connsiteY3" fmla="*/ 750626 h 780196"/>
              <a:gd name="connsiteX4" fmla="*/ 284328 w 1323833"/>
              <a:gd name="connsiteY4" fmla="*/ 777922 h 780196"/>
              <a:gd name="connsiteX5" fmla="*/ 93260 w 1323833"/>
              <a:gd name="connsiteY5" fmla="*/ 736979 h 780196"/>
              <a:gd name="connsiteX6" fmla="*/ 11373 w 1323833"/>
              <a:gd name="connsiteY6" fmla="*/ 600501 h 780196"/>
              <a:gd name="connsiteX7" fmla="*/ 161499 w 1323833"/>
              <a:gd name="connsiteY7" fmla="*/ 354841 h 780196"/>
              <a:gd name="connsiteX8" fmla="*/ 106908 w 1323833"/>
              <a:gd name="connsiteY8" fmla="*/ 0 h 78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3833" h="780196">
                <a:moveTo>
                  <a:pt x="1307911" y="122829"/>
                </a:moveTo>
                <a:cubicBezTo>
                  <a:pt x="1315872" y="246796"/>
                  <a:pt x="1323833" y="370764"/>
                  <a:pt x="1294263" y="464024"/>
                </a:cubicBezTo>
                <a:cubicBezTo>
                  <a:pt x="1264693" y="557284"/>
                  <a:pt x="1212377" y="634621"/>
                  <a:pt x="1130490" y="682388"/>
                </a:cubicBezTo>
                <a:cubicBezTo>
                  <a:pt x="1048603" y="730155"/>
                  <a:pt x="943970" y="734704"/>
                  <a:pt x="802943" y="750626"/>
                </a:cubicBezTo>
                <a:cubicBezTo>
                  <a:pt x="661916" y="766548"/>
                  <a:pt x="402608" y="780196"/>
                  <a:pt x="284328" y="777922"/>
                </a:cubicBezTo>
                <a:cubicBezTo>
                  <a:pt x="166048" y="775648"/>
                  <a:pt x="138753" y="766549"/>
                  <a:pt x="93260" y="736979"/>
                </a:cubicBezTo>
                <a:cubicBezTo>
                  <a:pt x="47768" y="707409"/>
                  <a:pt x="0" y="664191"/>
                  <a:pt x="11373" y="600501"/>
                </a:cubicBezTo>
                <a:cubicBezTo>
                  <a:pt x="22746" y="536811"/>
                  <a:pt x="145577" y="454924"/>
                  <a:pt x="161499" y="354841"/>
                </a:cubicBezTo>
                <a:cubicBezTo>
                  <a:pt x="177421" y="254758"/>
                  <a:pt x="142164" y="127379"/>
                  <a:pt x="106908" y="0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6381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 bwMode="auto">
          <a:xfrm>
            <a:off x="1525806" y="1978227"/>
            <a:ext cx="6189444" cy="226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 flipV="1">
            <a:off x="1525806" y="2686690"/>
            <a:ext cx="6175157" cy="98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395288" y="318140"/>
            <a:ext cx="2489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Phantom Power</a:t>
            </a:r>
            <a:endParaRPr lang="en-US" sz="2400" b="1" dirty="0"/>
          </a:p>
        </p:txBody>
      </p:sp>
      <p:pic>
        <p:nvPicPr>
          <p:cNvPr id="9" name="Picture 9" descr="http://s3.hubimg.com/u/5116374_f26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502415"/>
            <a:ext cx="1176396" cy="1570037"/>
          </a:xfrm>
          <a:prstGeom prst="rect">
            <a:avLst/>
          </a:prstGeom>
          <a:noFill/>
        </p:spPr>
      </p:pic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1198" y="1903792"/>
            <a:ext cx="801877" cy="853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3449" y="1903792"/>
            <a:ext cx="801877" cy="853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Freeform 62"/>
          <p:cNvSpPr>
            <a:spLocks/>
          </p:cNvSpPr>
          <p:nvPr/>
        </p:nvSpPr>
        <p:spPr bwMode="auto">
          <a:xfrm>
            <a:off x="1508790" y="2129050"/>
            <a:ext cx="306363" cy="173453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1508789" y="2377669"/>
            <a:ext cx="28748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Freeform 62"/>
          <p:cNvSpPr>
            <a:spLocks/>
          </p:cNvSpPr>
          <p:nvPr/>
        </p:nvSpPr>
        <p:spPr bwMode="auto">
          <a:xfrm>
            <a:off x="6899007" y="4949370"/>
            <a:ext cx="953222" cy="888553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6899006" y="5913089"/>
            <a:ext cx="89449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 flipV="1">
            <a:off x="1512159" y="2809520"/>
            <a:ext cx="6175157" cy="98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892764" y="2804744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ground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001485" y="3715657"/>
            <a:ext cx="6923314" cy="2423887"/>
            <a:chOff x="1030514" y="3135086"/>
            <a:chExt cx="6923314" cy="2423887"/>
          </a:xfrm>
        </p:grpSpPr>
        <p:cxnSp>
          <p:nvCxnSpPr>
            <p:cNvPr id="29" name="Straight Connector 28"/>
            <p:cNvCxnSpPr/>
            <p:nvPr/>
          </p:nvCxnSpPr>
          <p:spPr bwMode="auto">
            <a:xfrm flipV="1">
              <a:off x="1161142" y="3135086"/>
              <a:ext cx="1" cy="242388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 flipH="1">
              <a:off x="1030514" y="5341257"/>
              <a:ext cx="6908800" cy="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 flipH="1">
              <a:off x="1045028" y="3497943"/>
              <a:ext cx="6908800" cy="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5" name="Freeform 62"/>
          <p:cNvSpPr>
            <a:spLocks/>
          </p:cNvSpPr>
          <p:nvPr/>
        </p:nvSpPr>
        <p:spPr bwMode="auto">
          <a:xfrm>
            <a:off x="1470658" y="4949370"/>
            <a:ext cx="953222" cy="888553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cxnSp>
        <p:nvCxnSpPr>
          <p:cNvPr id="46" name="Straight Connector 45"/>
          <p:cNvCxnSpPr/>
          <p:nvPr/>
        </p:nvCxnSpPr>
        <p:spPr bwMode="auto">
          <a:xfrm>
            <a:off x="1470657" y="5913089"/>
            <a:ext cx="89449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8" name="Freeform 62"/>
          <p:cNvSpPr>
            <a:spLocks/>
          </p:cNvSpPr>
          <p:nvPr/>
        </p:nvSpPr>
        <p:spPr bwMode="auto">
          <a:xfrm>
            <a:off x="3865521" y="4136570"/>
            <a:ext cx="953222" cy="888553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9" name="Freeform 62"/>
          <p:cNvSpPr>
            <a:spLocks/>
          </p:cNvSpPr>
          <p:nvPr/>
        </p:nvSpPr>
        <p:spPr bwMode="auto">
          <a:xfrm flipV="1">
            <a:off x="3894550" y="3091541"/>
            <a:ext cx="953222" cy="888553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0" name="TextBox 49"/>
          <p:cNvSpPr txBox="1"/>
          <p:nvPr/>
        </p:nvSpPr>
        <p:spPr>
          <a:xfrm rot="16200000">
            <a:off x="714603" y="3472402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volts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6686" y="575114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9601" y="393685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48</a:t>
            </a:r>
          </a:p>
        </p:txBody>
      </p:sp>
      <p:sp>
        <p:nvSpPr>
          <p:cNvPr id="77" name="Rounded Rectangular Callout 76"/>
          <p:cNvSpPr/>
          <p:nvPr/>
        </p:nvSpPr>
        <p:spPr bwMode="auto">
          <a:xfrm>
            <a:off x="6618514" y="4586514"/>
            <a:ext cx="1611086" cy="1683657"/>
          </a:xfrm>
          <a:prstGeom prst="wedgeRoundRectCallout">
            <a:avLst>
              <a:gd name="adj1" fmla="val 20608"/>
              <a:gd name="adj2" fmla="val -165086"/>
              <a:gd name="adj3" fmla="val 16667"/>
            </a:avLst>
          </a:prstGeom>
          <a:solidFill>
            <a:srgbClr val="C00000">
              <a:alpha val="10000"/>
            </a:srgb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8" name="Rounded Rectangular Callout 77"/>
          <p:cNvSpPr/>
          <p:nvPr/>
        </p:nvSpPr>
        <p:spPr bwMode="auto">
          <a:xfrm>
            <a:off x="1277257" y="4601028"/>
            <a:ext cx="1611086" cy="1683657"/>
          </a:xfrm>
          <a:prstGeom prst="wedgeRoundRectCallout">
            <a:avLst>
              <a:gd name="adj1" fmla="val -22635"/>
              <a:gd name="adj2" fmla="val -175431"/>
              <a:gd name="adj3" fmla="val 16667"/>
            </a:avLst>
          </a:prstGeom>
          <a:solidFill>
            <a:srgbClr val="C00000">
              <a:alpha val="10000"/>
            </a:srgb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9" name="Freeform 62"/>
          <p:cNvSpPr>
            <a:spLocks/>
          </p:cNvSpPr>
          <p:nvPr/>
        </p:nvSpPr>
        <p:spPr bwMode="auto">
          <a:xfrm>
            <a:off x="7517704" y="2216136"/>
            <a:ext cx="306363" cy="173453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cxnSp>
        <p:nvCxnSpPr>
          <p:cNvPr id="80" name="Straight Connector 79"/>
          <p:cNvCxnSpPr/>
          <p:nvPr/>
        </p:nvCxnSpPr>
        <p:spPr bwMode="auto">
          <a:xfrm>
            <a:off x="7517703" y="2464755"/>
            <a:ext cx="28748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1" name="Rounded Rectangular Callout 80"/>
          <p:cNvSpPr/>
          <p:nvPr/>
        </p:nvSpPr>
        <p:spPr bwMode="auto">
          <a:xfrm>
            <a:off x="3570514" y="2946400"/>
            <a:ext cx="1611086" cy="2220686"/>
          </a:xfrm>
          <a:prstGeom prst="wedgeRoundRectCallout">
            <a:avLst>
              <a:gd name="adj1" fmla="val 26914"/>
              <a:gd name="adj2" fmla="val -89269"/>
              <a:gd name="adj3" fmla="val 16667"/>
            </a:avLst>
          </a:prstGeom>
          <a:solidFill>
            <a:srgbClr val="C00000">
              <a:alpha val="10000"/>
            </a:srgb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815770" y="986970"/>
            <a:ext cx="3526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DC voltage is not transferred with signal beyond the transformer</a:t>
            </a:r>
          </a:p>
        </p:txBody>
      </p:sp>
      <p:cxnSp>
        <p:nvCxnSpPr>
          <p:cNvPr id="84" name="Straight Arrow Connector 83"/>
          <p:cNvCxnSpPr/>
          <p:nvPr/>
        </p:nvCxnSpPr>
        <p:spPr bwMode="auto">
          <a:xfrm>
            <a:off x="5979886" y="1277257"/>
            <a:ext cx="798285" cy="2612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8" name="Straight Arrow Connector 87"/>
          <p:cNvCxnSpPr/>
          <p:nvPr/>
        </p:nvCxnSpPr>
        <p:spPr bwMode="auto">
          <a:xfrm flipH="1">
            <a:off x="2598057" y="1248229"/>
            <a:ext cx="551543" cy="2757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8" name="Curved Down Arrow 97"/>
          <p:cNvSpPr/>
          <p:nvPr/>
        </p:nvSpPr>
        <p:spPr bwMode="auto">
          <a:xfrm>
            <a:off x="6604001" y="1553028"/>
            <a:ext cx="1001485" cy="377372"/>
          </a:xfrm>
          <a:prstGeom prst="curvedDownArrow">
            <a:avLst>
              <a:gd name="adj1" fmla="val 23654"/>
              <a:gd name="adj2" fmla="val 64400"/>
              <a:gd name="adj3" fmla="val 2500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0" name="Curved Down Arrow 99"/>
          <p:cNvSpPr/>
          <p:nvPr/>
        </p:nvSpPr>
        <p:spPr bwMode="auto">
          <a:xfrm flipH="1">
            <a:off x="1799773" y="1553028"/>
            <a:ext cx="1001485" cy="377372"/>
          </a:xfrm>
          <a:prstGeom prst="curvedDownArrow">
            <a:avLst>
              <a:gd name="adj1" fmla="val 23654"/>
              <a:gd name="adj2" fmla="val 64400"/>
              <a:gd name="adj3" fmla="val 2500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749141" y="1069913"/>
            <a:ext cx="740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>
                <a:latin typeface="Forte" pitchFamily="66" charset="0"/>
              </a:rPr>
              <a:t>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73941" y="1084428"/>
            <a:ext cx="740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>
                <a:latin typeface="Forte" pitchFamily="66" charset="0"/>
              </a:rPr>
              <a:t>x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500913" y="2119085"/>
            <a:ext cx="1436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Signal is transferred</a:t>
            </a:r>
          </a:p>
        </p:txBody>
      </p:sp>
      <p:sp>
        <p:nvSpPr>
          <p:cNvPr id="105" name="Right Arrow 104"/>
          <p:cNvSpPr/>
          <p:nvPr/>
        </p:nvSpPr>
        <p:spPr bwMode="auto">
          <a:xfrm>
            <a:off x="6691086" y="2104572"/>
            <a:ext cx="812800" cy="493486"/>
          </a:xfrm>
          <a:prstGeom prst="rightArrow">
            <a:avLst>
              <a:gd name="adj1" fmla="val 50000"/>
              <a:gd name="adj2" fmla="val 91176"/>
            </a:avLst>
          </a:prstGeom>
          <a:solidFill>
            <a:schemeClr val="accent6">
              <a:lumMod val="20000"/>
              <a:lumOff val="80000"/>
              <a:alpha val="6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6" name="Right Arrow 105"/>
          <p:cNvSpPr/>
          <p:nvPr/>
        </p:nvSpPr>
        <p:spPr bwMode="auto">
          <a:xfrm flipH="1">
            <a:off x="1814286" y="2104572"/>
            <a:ext cx="812800" cy="493486"/>
          </a:xfrm>
          <a:prstGeom prst="rightArrow">
            <a:avLst>
              <a:gd name="adj1" fmla="val 50000"/>
              <a:gd name="adj2" fmla="val 91176"/>
            </a:avLst>
          </a:prstGeom>
          <a:solidFill>
            <a:schemeClr val="accent6">
              <a:lumMod val="20000"/>
              <a:lumOff val="80000"/>
              <a:alpha val="6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2539998" y="2119085"/>
            <a:ext cx="1436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Signal is transferred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91540" y="5239657"/>
            <a:ext cx="317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Signal is conveyed at a constant 48V dc level, so not affected</a:t>
            </a:r>
          </a:p>
        </p:txBody>
      </p:sp>
    </p:spTree>
    <p:extLst>
      <p:ext uri="{BB962C8B-B14F-4D97-AF65-F5344CB8AC3E}">
        <p14:creationId xmlns:p14="http://schemas.microsoft.com/office/powerpoint/2010/main" val="5272051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2587097"/>
            <a:ext cx="3486150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6541" y="2461684"/>
            <a:ext cx="2457450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42391" y="2905125"/>
            <a:ext cx="742950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 bwMode="auto">
          <a:xfrm>
            <a:off x="395288" y="2523067"/>
            <a:ext cx="3507845" cy="3395134"/>
          </a:xfrm>
          <a:prstGeom prst="rect">
            <a:avLst/>
          </a:prstGeom>
          <a:noFill/>
          <a:ln w="50800" cap="flat" cmpd="sng" algn="ctr">
            <a:solidFill>
              <a:schemeClr val="accent1">
                <a:lumMod val="40000"/>
                <a:lumOff val="6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6172200" y="2540000"/>
            <a:ext cx="2700867" cy="3395134"/>
          </a:xfrm>
          <a:prstGeom prst="rect">
            <a:avLst/>
          </a:prstGeom>
          <a:noFill/>
          <a:ln w="50800" cap="flat" cmpd="sng" algn="ctr">
            <a:solidFill>
              <a:schemeClr val="accent6">
                <a:lumMod val="40000"/>
                <a:lumOff val="6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" name="TextBox 21"/>
          <p:cNvSpPr txBox="1">
            <a:spLocks noChangeArrowheads="1"/>
          </p:cNvSpPr>
          <p:nvPr/>
        </p:nvSpPr>
        <p:spPr bwMode="auto">
          <a:xfrm>
            <a:off x="395288" y="770467"/>
            <a:ext cx="850317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2563" indent="-18256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buFont typeface="Arial" charset="0"/>
              <a:buChar char="•"/>
            </a:pPr>
            <a:r>
              <a:rPr lang="en-GB" dirty="0"/>
              <a:t>Power is often required to (e.g.) condenser microphones</a:t>
            </a:r>
          </a:p>
          <a:p>
            <a:pPr>
              <a:buFont typeface="Arial" charset="0"/>
              <a:buChar char="•"/>
            </a:pPr>
            <a:r>
              <a:rPr lang="en-GB" dirty="0"/>
              <a:t>DC voltage is applied to the balanced cable without being transferred to the microphone </a:t>
            </a:r>
          </a:p>
          <a:p>
            <a:pPr>
              <a:buFont typeface="Arial" charset="0"/>
              <a:buChar char="•"/>
            </a:pPr>
            <a:r>
              <a:rPr lang="en-GB" dirty="0"/>
              <a:t>The signals on the cable are merely superimposed over the (stable) phantom voltage</a:t>
            </a:r>
          </a:p>
          <a:p>
            <a:pPr>
              <a:buFont typeface="Arial" charset="0"/>
              <a:buChar char="•"/>
            </a:pPr>
            <a:r>
              <a:rPr lang="en-GB" dirty="0"/>
              <a:t>Typical voltage = 48V, resistors typically 6.8k</a:t>
            </a:r>
            <a:r>
              <a:rPr lang="el-GR" dirty="0"/>
              <a:t>Ω</a:t>
            </a:r>
            <a:r>
              <a:rPr lang="en-GB" dirty="0"/>
              <a:t>, within 0.4% of each other.</a:t>
            </a:r>
            <a:endParaRPr lang="en-US" dirty="0"/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395288" y="331788"/>
            <a:ext cx="82958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Phantom Power – DV Voltages to Feed the Microphone</a:t>
            </a:r>
            <a:endParaRPr lang="en-US" sz="2400" b="1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6273271"/>
            <a:ext cx="3860800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1000" dirty="0"/>
              <a:t>	http://neatcircuits.com/audio/phantom.htm</a:t>
            </a:r>
          </a:p>
        </p:txBody>
      </p:sp>
      <p:cxnSp>
        <p:nvCxnSpPr>
          <p:cNvPr id="14" name="Straight Connector 13"/>
          <p:cNvCxnSpPr/>
          <p:nvPr/>
        </p:nvCxnSpPr>
        <p:spPr bwMode="auto">
          <a:xfrm flipV="1">
            <a:off x="3429000" y="3149600"/>
            <a:ext cx="3310467" cy="846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 flipV="1">
            <a:off x="2887133" y="4461934"/>
            <a:ext cx="3835401" cy="846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 flipH="1" flipV="1">
            <a:off x="6722533" y="3175000"/>
            <a:ext cx="8467" cy="131233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>
            <a:off x="6731000" y="3826933"/>
            <a:ext cx="304801" cy="846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41" idx="0"/>
          </p:cNvCxnSpPr>
          <p:nvPr/>
        </p:nvCxnSpPr>
        <p:spPr bwMode="auto">
          <a:xfrm flipV="1">
            <a:off x="7065902" y="3835402"/>
            <a:ext cx="7999" cy="183832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2878666" y="3496733"/>
            <a:ext cx="50800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/>
          <p:nvPr/>
        </p:nvCxnSpPr>
        <p:spPr bwMode="auto">
          <a:xfrm flipV="1">
            <a:off x="3395133" y="3141134"/>
            <a:ext cx="8468" cy="35559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 flipV="1">
            <a:off x="1744133" y="2997202"/>
            <a:ext cx="2" cy="44026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/>
          <p:cNvCxnSpPr/>
          <p:nvPr/>
        </p:nvCxnSpPr>
        <p:spPr bwMode="auto">
          <a:xfrm flipV="1">
            <a:off x="1761066" y="3005667"/>
            <a:ext cx="1464734" cy="846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 flipV="1">
            <a:off x="3217333" y="3005668"/>
            <a:ext cx="8468" cy="98213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 flipV="1">
            <a:off x="2861733" y="3987800"/>
            <a:ext cx="364067" cy="846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/>
          <p:cNvCxnSpPr/>
          <p:nvPr/>
        </p:nvCxnSpPr>
        <p:spPr bwMode="auto">
          <a:xfrm flipH="1" flipV="1">
            <a:off x="2853268" y="3488270"/>
            <a:ext cx="8465" cy="99059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6541559" y="5673724"/>
            <a:ext cx="1048685" cy="307777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</a:rPr>
              <a:t>+48 Volts</a:t>
            </a:r>
          </a:p>
        </p:txBody>
      </p:sp>
      <p:cxnSp>
        <p:nvCxnSpPr>
          <p:cNvPr id="42" name="Straight Connector 41"/>
          <p:cNvCxnSpPr/>
          <p:nvPr/>
        </p:nvCxnSpPr>
        <p:spPr bwMode="auto">
          <a:xfrm flipV="1">
            <a:off x="2541058" y="4868334"/>
            <a:ext cx="4097867" cy="846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/>
          <p:cNvCxnSpPr/>
          <p:nvPr/>
        </p:nvCxnSpPr>
        <p:spPr bwMode="auto">
          <a:xfrm flipV="1">
            <a:off x="1727200" y="4224867"/>
            <a:ext cx="804333" cy="846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/>
          <p:cNvCxnSpPr/>
          <p:nvPr/>
        </p:nvCxnSpPr>
        <p:spPr bwMode="auto">
          <a:xfrm flipH="1" flipV="1">
            <a:off x="2523067" y="4241801"/>
            <a:ext cx="8466" cy="64346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/>
          <p:cNvCxnSpPr/>
          <p:nvPr/>
        </p:nvCxnSpPr>
        <p:spPr bwMode="auto">
          <a:xfrm flipV="1">
            <a:off x="1735667" y="3835401"/>
            <a:ext cx="0" cy="40639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/>
          <p:cNvCxnSpPr/>
          <p:nvPr/>
        </p:nvCxnSpPr>
        <p:spPr bwMode="auto">
          <a:xfrm flipV="1">
            <a:off x="6654800" y="4859869"/>
            <a:ext cx="0" cy="41486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6190193" y="5269439"/>
            <a:ext cx="792205" cy="30777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75000"/>
                  </a:schemeClr>
                </a:solidFill>
              </a:rPr>
              <a:t>0 Volts</a:t>
            </a:r>
          </a:p>
        </p:txBody>
      </p:sp>
    </p:spTree>
    <p:extLst>
      <p:ext uri="{BB962C8B-B14F-4D97-AF65-F5344CB8AC3E}">
        <p14:creationId xmlns:p14="http://schemas.microsoft.com/office/powerpoint/2010/main" val="2891703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2587097"/>
            <a:ext cx="3486150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6541" y="2461684"/>
            <a:ext cx="2457450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42391" y="2877081"/>
            <a:ext cx="742950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 bwMode="auto">
          <a:xfrm flipV="1">
            <a:off x="4047067" y="3132668"/>
            <a:ext cx="2032000" cy="846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 flipV="1">
            <a:off x="4030133" y="4436534"/>
            <a:ext cx="2032000" cy="846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 flipV="1">
            <a:off x="4038600" y="4842934"/>
            <a:ext cx="2032000" cy="846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7"/>
          <p:cNvSpPr/>
          <p:nvPr/>
        </p:nvSpPr>
        <p:spPr bwMode="auto">
          <a:xfrm>
            <a:off x="395288" y="2523067"/>
            <a:ext cx="3507845" cy="3395134"/>
          </a:xfrm>
          <a:prstGeom prst="rect">
            <a:avLst/>
          </a:prstGeom>
          <a:noFill/>
          <a:ln w="50800" cap="flat" cmpd="sng" algn="ctr">
            <a:solidFill>
              <a:schemeClr val="accent1">
                <a:lumMod val="40000"/>
                <a:lumOff val="6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6172200" y="2540000"/>
            <a:ext cx="2700867" cy="3395134"/>
          </a:xfrm>
          <a:prstGeom prst="rect">
            <a:avLst/>
          </a:prstGeom>
          <a:noFill/>
          <a:ln w="50800" cap="flat" cmpd="sng" algn="ctr">
            <a:solidFill>
              <a:schemeClr val="accent6">
                <a:lumMod val="40000"/>
                <a:lumOff val="6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" name="TextBox 21"/>
          <p:cNvSpPr txBox="1">
            <a:spLocks noChangeArrowheads="1"/>
          </p:cNvSpPr>
          <p:nvPr/>
        </p:nvSpPr>
        <p:spPr bwMode="auto">
          <a:xfrm>
            <a:off x="395288" y="770467"/>
            <a:ext cx="850317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2563" indent="-18256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buFont typeface="Arial" charset="0"/>
              <a:buChar char="•"/>
            </a:pPr>
            <a:r>
              <a:rPr lang="en-GB" dirty="0"/>
              <a:t>Power is often required to (e.g.) condenser microphones</a:t>
            </a:r>
          </a:p>
          <a:p>
            <a:pPr>
              <a:buFont typeface="Arial" charset="0"/>
              <a:buChar char="•"/>
            </a:pPr>
            <a:r>
              <a:rPr lang="en-GB" dirty="0"/>
              <a:t>DC voltage is applied to the balanced cable without being transferred to the microphone </a:t>
            </a:r>
          </a:p>
          <a:p>
            <a:pPr>
              <a:buFont typeface="Arial" charset="0"/>
              <a:buChar char="•"/>
            </a:pPr>
            <a:r>
              <a:rPr lang="en-GB" dirty="0"/>
              <a:t>The signals on the cable are merely superimposed over the (stable) phantom voltage</a:t>
            </a:r>
          </a:p>
          <a:p>
            <a:pPr>
              <a:buFont typeface="Arial" charset="0"/>
              <a:buChar char="•"/>
            </a:pPr>
            <a:r>
              <a:rPr lang="en-GB" dirty="0"/>
              <a:t>Typical voltage = 48V, resistors typically 6.8k</a:t>
            </a:r>
            <a:r>
              <a:rPr lang="el-GR" dirty="0"/>
              <a:t>Ω</a:t>
            </a:r>
            <a:r>
              <a:rPr lang="en-GB" dirty="0"/>
              <a:t>, within 0.4% of each other.</a:t>
            </a:r>
            <a:endParaRPr lang="en-US" dirty="0"/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395288" y="331788"/>
            <a:ext cx="51283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Phantom Power – The Signal Path</a:t>
            </a:r>
            <a:endParaRPr lang="en-US" sz="2400" b="1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6273271"/>
            <a:ext cx="3860800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1000" dirty="0"/>
              <a:t>	http://neatcircuits.com/audio/phantom.htm</a:t>
            </a: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 cstate="print"/>
          <a:srcRect l="14839" b="51562"/>
          <a:stretch>
            <a:fillRect/>
          </a:stretch>
        </p:blipFill>
        <p:spPr bwMode="auto">
          <a:xfrm>
            <a:off x="2000250" y="3013962"/>
            <a:ext cx="646864" cy="47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 cstate="print"/>
          <a:srcRect l="13629" b="52741"/>
          <a:stretch>
            <a:fillRect/>
          </a:stretch>
        </p:blipFill>
        <p:spPr bwMode="auto">
          <a:xfrm>
            <a:off x="3990975" y="2504983"/>
            <a:ext cx="895351" cy="628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5" cstate="print"/>
          <a:srcRect l="9035" t="51555"/>
          <a:stretch>
            <a:fillRect/>
          </a:stretch>
        </p:blipFill>
        <p:spPr bwMode="auto">
          <a:xfrm>
            <a:off x="3971925" y="3790950"/>
            <a:ext cx="942976" cy="644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5" cstate="print"/>
          <a:srcRect l="14839" b="51562"/>
          <a:stretch>
            <a:fillRect/>
          </a:stretch>
        </p:blipFill>
        <p:spPr bwMode="auto">
          <a:xfrm>
            <a:off x="8143875" y="3147312"/>
            <a:ext cx="646864" cy="47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943388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/>
          <p:cNvSpPr txBox="1">
            <a:spLocks noChangeArrowheads="1"/>
          </p:cNvSpPr>
          <p:nvPr/>
        </p:nvSpPr>
        <p:spPr bwMode="auto">
          <a:xfrm>
            <a:off x="395288" y="331788"/>
            <a:ext cx="5976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Phantom Power – Signal Voltage Levels</a:t>
            </a:r>
            <a:endParaRPr lang="en-US" sz="24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8163" y="3844925"/>
            <a:ext cx="447675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 b="51562"/>
          <a:stretch>
            <a:fillRect/>
          </a:stretch>
        </p:blipFill>
        <p:spPr bwMode="auto">
          <a:xfrm>
            <a:off x="1230312" y="2981854"/>
            <a:ext cx="1794405" cy="1115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 bwMode="auto">
          <a:xfrm flipH="1">
            <a:off x="1363133" y="1481137"/>
            <a:ext cx="8468" cy="41148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62001" y="1447271"/>
            <a:ext cx="482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1" y="5308070"/>
            <a:ext cx="437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668" y="1845203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+48V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8946" y="828675"/>
            <a:ext cx="1794405" cy="2302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44812" y="2429404"/>
            <a:ext cx="1794405" cy="2302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Connector 10"/>
          <p:cNvCxnSpPr/>
          <p:nvPr/>
        </p:nvCxnSpPr>
        <p:spPr bwMode="auto">
          <a:xfrm flipH="1" flipV="1">
            <a:off x="1380068" y="1989137"/>
            <a:ext cx="7163857" cy="127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1504950" y="4792662"/>
            <a:ext cx="1562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“single-ended”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8000" y="5335587"/>
            <a:ext cx="19335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normal balanced line signals (i.e. not phantom powered)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525962"/>
            <a:ext cx="1562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balanced line signals lifted 48V on phantom power along the two connectors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1325" y="5021262"/>
            <a:ext cx="1943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“single-ended” voltage recovered at the mixer end </a:t>
            </a:r>
          </a:p>
        </p:txBody>
      </p:sp>
      <p:sp>
        <p:nvSpPr>
          <p:cNvPr id="22" name="Down Arrow 21"/>
          <p:cNvSpPr/>
          <p:nvPr/>
        </p:nvSpPr>
        <p:spPr bwMode="auto">
          <a:xfrm rot="10800000">
            <a:off x="2009775" y="4097338"/>
            <a:ext cx="581025" cy="666750"/>
          </a:xfrm>
          <a:prstGeom prst="downArrow">
            <a:avLst>
              <a:gd name="adj1" fmla="val 50000"/>
              <a:gd name="adj2" fmla="val 6639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" name="Down Arrow 22"/>
          <p:cNvSpPr/>
          <p:nvPr/>
        </p:nvSpPr>
        <p:spPr bwMode="auto">
          <a:xfrm rot="10800000">
            <a:off x="3762375" y="4659313"/>
            <a:ext cx="581025" cy="666750"/>
          </a:xfrm>
          <a:prstGeom prst="downArrow">
            <a:avLst>
              <a:gd name="adj1" fmla="val 50000"/>
              <a:gd name="adj2" fmla="val 6639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" name="Down Arrow 23"/>
          <p:cNvSpPr/>
          <p:nvPr/>
        </p:nvSpPr>
        <p:spPr bwMode="auto">
          <a:xfrm rot="10800000">
            <a:off x="5476875" y="3735388"/>
            <a:ext cx="581025" cy="666750"/>
          </a:xfrm>
          <a:prstGeom prst="downArrow">
            <a:avLst>
              <a:gd name="adj1" fmla="val 50000"/>
              <a:gd name="adj2" fmla="val 6639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3" cstate="print"/>
          <a:srcRect b="51562"/>
          <a:stretch>
            <a:fillRect/>
          </a:stretch>
        </p:blipFill>
        <p:spPr bwMode="auto">
          <a:xfrm>
            <a:off x="6611937" y="2991379"/>
            <a:ext cx="1794405" cy="1115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/>
          <p:cNvCxnSpPr/>
          <p:nvPr/>
        </p:nvCxnSpPr>
        <p:spPr bwMode="auto">
          <a:xfrm flipH="1" flipV="1">
            <a:off x="1143001" y="3606270"/>
            <a:ext cx="7477124" cy="1481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Down Arrow 25"/>
          <p:cNvSpPr/>
          <p:nvPr/>
        </p:nvSpPr>
        <p:spPr bwMode="auto">
          <a:xfrm rot="10800000">
            <a:off x="7419975" y="4125913"/>
            <a:ext cx="581025" cy="666750"/>
          </a:xfrm>
          <a:prstGeom prst="downArrow">
            <a:avLst>
              <a:gd name="adj1" fmla="val 50000"/>
              <a:gd name="adj2" fmla="val 6639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4568" y="3454928"/>
            <a:ext cx="612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+0V</a:t>
            </a:r>
          </a:p>
        </p:txBody>
      </p:sp>
    </p:spTree>
    <p:extLst>
      <p:ext uri="{BB962C8B-B14F-4D97-AF65-F5344CB8AC3E}">
        <p14:creationId xmlns:p14="http://schemas.microsoft.com/office/powerpoint/2010/main" val="42287432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333375"/>
            <a:ext cx="3475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Serial Digital Interface</a:t>
            </a:r>
            <a:endParaRPr lang="en-GB" sz="2400" b="1" i="0">
              <a:solidFill>
                <a:srgbClr val="000000"/>
              </a:solidFill>
              <a:effectLst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2050" name="Picture 2" descr="http://recursostic.educacion.es/observatorio/web/images/upload/Daniel/Tipos_conexiones/image0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316" y="3133533"/>
            <a:ext cx="4274270" cy="331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95288" y="890691"/>
            <a:ext cx="763766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Family of interfaces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SMPTE ITU-R BT.656,  SMPTE 259M - broadcast-grade 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HD-SDI - SMPTE 292M - nominal data rate = 1.485 Gb/s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r>
              <a:rPr lang="en-GB" sz="16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Recent interfaces for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HD, UHD, higher frame rates, 3D, increased color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b="1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r>
              <a:rPr lang="en-GB" sz="16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Dual link HD-SDI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pair of SMPTE 292M links (SMPTE 372M) = 2.970 Gbs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digital cinema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HDTV 1080P</a:t>
            </a:r>
          </a:p>
        </p:txBody>
      </p:sp>
      <p:sp>
        <p:nvSpPr>
          <p:cNvPr id="5" name="Rectangle 4"/>
          <p:cNvSpPr/>
          <p:nvPr/>
        </p:nvSpPr>
        <p:spPr>
          <a:xfrm>
            <a:off x="395288" y="3797215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Uncompressed, unencrypted digital video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may include embedded audio + time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also for packetized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288" y="5262362"/>
            <a:ext cx="536641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SDI and HD-SDI usually only in professional video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due to licensing restrictions of unencrypted digital interfaces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alternative - consumer cameras - HDMI </a:t>
            </a:r>
          </a:p>
        </p:txBody>
      </p:sp>
    </p:spTree>
    <p:extLst>
      <p:ext uri="{BB962C8B-B14F-4D97-AF65-F5344CB8AC3E}">
        <p14:creationId xmlns:p14="http://schemas.microsoft.com/office/powerpoint/2010/main" val="12385464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nibroadcast.co.uk/images/uploads/0_01_2014_jan/chrisfr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75284"/>
            <a:ext cx="5722374" cy="240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95288" y="333375"/>
            <a:ext cx="3475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Serial Digital Interface</a:t>
            </a:r>
            <a:endParaRPr lang="en-GB" sz="2400" b="1" i="0">
              <a:solidFill>
                <a:srgbClr val="000000"/>
              </a:solidFill>
              <a:effectLst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5288" y="666960"/>
            <a:ext cx="83062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16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r>
              <a:rPr lang="en-GB" sz="16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Electrical / Physical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coaxial cables, BNC connectors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nominal impedance of 75</a:t>
            </a:r>
            <a:r>
              <a:rPr lang="el-GR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Ω</a:t>
            </a:r>
            <a:endParaRPr lang="en-GB" sz="16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signal amplitude at source = 800 mV (±10%) p-p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270 Mbs SDI over 300 m; but shorter lengths preferred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length of transmission typically &lt;300 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fibre variants  - eg 297M for long-distance transmission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HD bitrates - typically 100 meters 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1353" y="3078663"/>
            <a:ext cx="302633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Lucida Sans Unicode" panose="020B0602030504020204" pitchFamily="34" charset="0"/>
                <a:cs typeface="Lucida Sans Unicode" panose="020B0602030504020204" pitchFamily="34" charset="0"/>
              </a:rPr>
              <a:t>Uncompressed digital component signals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Lucida Sans Unicode" panose="020B0602030504020204" pitchFamily="34" charset="0"/>
                <a:cs typeface="Lucida Sans Unicode" panose="020B0602030504020204" pitchFamily="34" charset="0"/>
              </a:rPr>
              <a:t>NRZI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Lucida Sans Unicode" panose="020B0602030504020204" pitchFamily="34" charset="0"/>
                <a:cs typeface="Lucida Sans Unicode" panose="020B0602030504020204" pitchFamily="34" charset="0"/>
              </a:rPr>
              <a:t>data scrambled to reduce long strings of 0's and 1's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Lucida Sans Unicode" panose="020B0602030504020204" pitchFamily="34" charset="0"/>
                <a:cs typeface="Lucida Sans Unicode" panose="020B0602030504020204" pitchFamily="34" charset="0"/>
              </a:rPr>
              <a:t>self-synchronizing and self-clocking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764594" y="444698"/>
            <a:ext cx="2163097" cy="2479991"/>
            <a:chOff x="6980903" y="1484671"/>
            <a:chExt cx="2163097" cy="2479991"/>
          </a:xfrm>
        </p:grpSpPr>
        <p:sp>
          <p:nvSpPr>
            <p:cNvPr id="8" name="Rectangle 7"/>
            <p:cNvSpPr/>
            <p:nvPr/>
          </p:nvSpPr>
          <p:spPr>
            <a:xfrm>
              <a:off x="6980903" y="1484671"/>
              <a:ext cx="2163097" cy="24799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>
              <a:off x="7131378" y="1603554"/>
              <a:ext cx="2012622" cy="9002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050">
                  <a:solidFill>
                    <a:srgbClr val="30303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NRZI</a:t>
              </a:r>
            </a:p>
            <a:p>
              <a:r>
                <a:rPr lang="en-GB" sz="1050">
                  <a:solidFill>
                    <a:srgbClr val="30303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bit = 1, the signal changes state after the clock tick. </a:t>
              </a:r>
            </a:p>
            <a:p>
              <a:r>
                <a:rPr lang="en-GB" sz="1050">
                  <a:solidFill>
                    <a:srgbClr val="30303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bit = 0, the signal does not change state.</a:t>
              </a:r>
              <a:endParaRPr lang="en-GB" sz="1050"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pic>
          <p:nvPicPr>
            <p:cNvPr id="3076" name="Picture 4" descr="NRZI encodi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4784" y="2460641"/>
              <a:ext cx="1697990" cy="10474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7131378" y="3569401"/>
              <a:ext cx="1855306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700"/>
                <a:t>http://ccm.net/contents/703-data-transmission-digital-data-transmission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95288" y="5682393"/>
            <a:ext cx="689163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>
                <a:latin typeface="Lucida Sans Unicode" pitchFamily="34" charset="0"/>
                <a:cs typeface="Lucida Sans Unicode" pitchFamily="34" charset="0"/>
              </a:rPr>
              <a:t>SMPTE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digital video over IP network, includes MPEG-2 (systems) and SDI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702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975112-BC41-49D4-909F-D3C8CA88BF17}"/>
              </a:ext>
            </a:extLst>
          </p:cNvPr>
          <p:cNvSpPr/>
          <p:nvPr/>
        </p:nvSpPr>
        <p:spPr>
          <a:xfrm>
            <a:off x="395288" y="333375"/>
            <a:ext cx="3475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Serial Digital Interface</a:t>
            </a:r>
            <a:endParaRPr lang="en-GB" sz="2400" b="1" i="0">
              <a:solidFill>
                <a:srgbClr val="000000"/>
              </a:solidFill>
              <a:effectLst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38F689-8AC1-4CC4-BB45-224BC34FC8A4}"/>
              </a:ext>
            </a:extLst>
          </p:cNvPr>
          <p:cNvSpPr/>
          <p:nvPr/>
        </p:nvSpPr>
        <p:spPr>
          <a:xfrm>
            <a:off x="350922" y="887255"/>
            <a:ext cx="814059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/>
              <a:t>Data Format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/>
              <a:t>SD: 10b samples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/>
              <a:t>HD: 20b: 2 x 10-bit datastreams (10b Y then 10b C)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GB"/>
          </a:p>
          <a:p>
            <a:r>
              <a:rPr lang="en-GB" b="1"/>
              <a:t>Datastream 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/>
              <a:t>color encoding  4:2:2 YCbCr 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/>
              <a:t>SD:   … Cb Y Cr Y' Cb Y Cr Y’ … 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/>
              <a:t>HD:   … Luma - Y Y' Y Y' Y Y' Y Y’ … Chroma - Cb Cr Cb Cr Cb Cr Cb Cr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GB"/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/>
              <a:t>luminance channel (Y) </a:t>
            </a:r>
          </a:p>
          <a:p>
            <a:pPr marL="635000" lvl="1" indent="-177800">
              <a:buFont typeface="Arial" panose="020B0604020202020204" pitchFamily="34" charset="0"/>
              <a:buChar char="•"/>
            </a:pPr>
            <a:r>
              <a:rPr lang="en-GB"/>
              <a:t>full bandwidth (13.5 MHz @ 270 Mbit/s SD; ~75 MHz HD)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/>
              <a:t>chrominance channels (Cb and Cr) </a:t>
            </a:r>
          </a:p>
          <a:p>
            <a:pPr marL="635000" lvl="1" indent="-177800">
              <a:buFont typeface="Arial" panose="020B0604020202020204" pitchFamily="34" charset="0"/>
              <a:buChar char="•"/>
            </a:pPr>
            <a:r>
              <a:rPr lang="en-GB"/>
              <a:t>subsampled horizontally, encoded at half bandwidth </a:t>
            </a:r>
          </a:p>
          <a:p>
            <a:pPr lvl="2"/>
            <a:r>
              <a:rPr lang="en-GB"/>
              <a:t>(SD: 6.75 MHz or HD: 37.5 MHz). 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GB"/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GB"/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/>
              <a:t>Y, Cr, and Cb samples are co-sited - acquired at the same instance in time</a:t>
            </a:r>
          </a:p>
          <a:p>
            <a:pPr marL="635000" lvl="1" indent="-177800">
              <a:buFont typeface="Arial" panose="020B0604020202020204" pitchFamily="34" charset="0"/>
              <a:buChar char="•"/>
            </a:pPr>
            <a:r>
              <a:rPr lang="en-GB"/>
              <a:t>Y' sample - acquired halfway between two adjacent Y samples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GB"/>
          </a:p>
          <a:p>
            <a:r>
              <a:rPr lang="en-GB" b="1"/>
              <a:t>Video payload 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/>
              <a:t>10b word: 4 to 1,019 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/>
              <a:t>0–3 and 1,020–1,023 reserved - Synchronization, Ancillary data </a:t>
            </a:r>
          </a:p>
        </p:txBody>
      </p:sp>
    </p:spTree>
    <p:extLst>
      <p:ext uri="{BB962C8B-B14F-4D97-AF65-F5344CB8AC3E}">
        <p14:creationId xmlns:p14="http://schemas.microsoft.com/office/powerpoint/2010/main" val="14177169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B47F75-0890-48B9-9060-7D3DA175A1F5}"/>
              </a:ext>
            </a:extLst>
          </p:cNvPr>
          <p:cNvSpPr/>
          <p:nvPr/>
        </p:nvSpPr>
        <p:spPr>
          <a:xfrm>
            <a:off x="395288" y="1076664"/>
            <a:ext cx="782566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Line counter and CRC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 dirty="0"/>
              <a:t>add additional check words </a:t>
            </a:r>
          </a:p>
          <a:p>
            <a:pPr marL="635000" lvl="1" indent="-177800">
              <a:buFont typeface="Arial" panose="020B0604020202020204" pitchFamily="34" charset="0"/>
              <a:buChar char="•"/>
            </a:pPr>
            <a:r>
              <a:rPr lang="en-GB" dirty="0"/>
              <a:t>HD: CRC field = CRC of the preceding line </a:t>
            </a:r>
          </a:p>
          <a:p>
            <a:pPr lvl="2"/>
            <a:r>
              <a:rPr lang="en-GB" dirty="0"/>
              <a:t>.. computed independently for the Y and C streams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GB" dirty="0"/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Line and sample numbering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 dirty="0"/>
              <a:t>Each sample within a </a:t>
            </a:r>
            <a:r>
              <a:rPr lang="en-GB" dirty="0" err="1"/>
              <a:t>datastream</a:t>
            </a:r>
            <a:r>
              <a:rPr lang="en-GB" dirty="0"/>
              <a:t> is assigned a unique line and sample number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 dirty="0"/>
              <a:t>Lines numbered sequentially</a:t>
            </a:r>
          </a:p>
          <a:p>
            <a:pPr marL="635000" lvl="1" indent="-177800">
              <a:buFont typeface="Arial" panose="020B0604020202020204" pitchFamily="34" charset="0"/>
              <a:buChar char="•"/>
            </a:pPr>
            <a:r>
              <a:rPr lang="en-GB" dirty="0"/>
              <a:t>starting from 1, up to the number of lines per frame of the indicated format </a:t>
            </a:r>
          </a:p>
          <a:p>
            <a:pPr lvl="2"/>
            <a:r>
              <a:rPr lang="en-GB" dirty="0"/>
              <a:t>… typically 525, 625, 750 (1125 for Sony HDVS)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GB" dirty="0"/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Link numbering - for multi-link interfaces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 dirty="0"/>
              <a:t>first link - the primary link - link number = 1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 dirty="0"/>
              <a:t>subsequent links are assigned increasing link numbers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D05B79-8E50-4640-8457-6BD8FB0A13B0}"/>
              </a:ext>
            </a:extLst>
          </p:cNvPr>
          <p:cNvSpPr/>
          <p:nvPr/>
        </p:nvSpPr>
        <p:spPr>
          <a:xfrm>
            <a:off x="395288" y="333375"/>
            <a:ext cx="3475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Serial Digital Interface</a:t>
            </a:r>
            <a:endParaRPr lang="en-GB" sz="2400" b="1" i="0">
              <a:solidFill>
                <a:srgbClr val="000000"/>
              </a:solidFill>
              <a:effectLst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263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947" y="5289006"/>
            <a:ext cx="1607042" cy="1198585"/>
          </a:xfrm>
          <a:prstGeom prst="rect">
            <a:avLst/>
          </a:prstGeom>
        </p:spPr>
      </p:pic>
      <p:pic>
        <p:nvPicPr>
          <p:cNvPr id="19460" name="Picture 4" descr="Image result for F05 fibre toslin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611" y="4010664"/>
            <a:ext cx="1313232" cy="131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Text Box 4"/>
          <p:cNvSpPr txBox="1">
            <a:spLocks noChangeArrowheads="1"/>
          </p:cNvSpPr>
          <p:nvPr/>
        </p:nvSpPr>
        <p:spPr bwMode="auto">
          <a:xfrm>
            <a:off x="395288" y="368300"/>
            <a:ext cx="102463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AES 3</a:t>
            </a:r>
            <a:endParaRPr lang="en-GB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11301" y="792866"/>
            <a:ext cx="7710487" cy="57010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b="1"/>
              <a:t>AES/EBU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digital audio signals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two channels PCM audio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balanced lines, unbalanced lines, and optical fiber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1985, revised in 1992 and 2003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r>
              <a:rPr lang="en-GB" b="1"/>
              <a:t>IEC 60958 Type I—Balanced, XLR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3-conductor, 110-ohm twisted pair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professional installations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r>
              <a:rPr lang="en-GB" b="1"/>
              <a:t>IEC 60958 Type II—Unbalanced, RCA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unbalanced, 2-conductor, 75-ohm coax, RCA connectors (phono)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consumer, coaxial S/PDIF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r>
              <a:rPr lang="en-GB" b="1"/>
              <a:t>IEC 60958 Type III Optical—Fiber, F05/TOSLINK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optical fiber, typ plastic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Toshiba brand name, TOSLINK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consumer, optical S/PDIF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r>
              <a:rPr lang="en-GB" b="1"/>
              <a:t>AES-3id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75-ohm BNC electrical variant of AES3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analogue or digital 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common in the broadcast industry</a:t>
            </a:r>
            <a:endParaRPr lang="en-GB" dirty="0"/>
          </a:p>
        </p:txBody>
      </p:sp>
      <p:pic>
        <p:nvPicPr>
          <p:cNvPr id="19462" name="Picture 6" descr="Image result for rca phon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337" y="2726840"/>
            <a:ext cx="1446533" cy="144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4" name="Picture 8" descr="Image result for xl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762" y="1951413"/>
            <a:ext cx="2260719" cy="155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7884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 bwMode="auto">
          <a:xfrm>
            <a:off x="0" y="800100"/>
            <a:ext cx="9143999" cy="178120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95288" y="368300"/>
            <a:ext cx="234391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AES 3 Framing</a:t>
            </a:r>
            <a:endParaRPr lang="en-GB" sz="2400" b="1" dirty="0"/>
          </a:p>
        </p:txBody>
      </p:sp>
      <p:pic>
        <p:nvPicPr>
          <p:cNvPr id="20486" name="Picture 6" descr="https://upload.wikimedia.org/wikipedia/commons/0/0d/Frame_AES_EBU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25" y="2619407"/>
            <a:ext cx="67722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8" name="Picture 8" descr="https://upload.wikimedia.org/wikipedia/commons/thumb/0/0a/Subframe_AES_EBU.gif/800px-Subframe_AES_EBU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25" y="4746491"/>
            <a:ext cx="762000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95288" y="5651366"/>
            <a:ext cx="2273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when sample is 20bit coded …</a:t>
            </a:r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 bwMode="auto">
          <a:xfrm flipH="1">
            <a:off x="710119" y="3219450"/>
            <a:ext cx="2125180" cy="16293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cxnSpLocks/>
          </p:cNvCxnSpPr>
          <p:nvPr/>
        </p:nvCxnSpPr>
        <p:spPr bwMode="auto">
          <a:xfrm>
            <a:off x="3990975" y="3218691"/>
            <a:ext cx="3962400" cy="16769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395288" y="4453481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subframes: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8450" y="959352"/>
            <a:ext cx="3529324" cy="338554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/>
              <a:t>Audio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4" y="960642"/>
            <a:ext cx="2714625" cy="338554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0" y="959352"/>
            <a:ext cx="2755685" cy="338554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2571750" y="1482885"/>
            <a:ext cx="97155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/>
              <a:t>Frame 0</a:t>
            </a:r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3638550" y="1482884"/>
            <a:ext cx="97155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/>
              <a:t>Frame 1</a:t>
            </a:r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638800" y="1482240"/>
            <a:ext cx="114807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/>
              <a:t>Frame 191</a:t>
            </a:r>
            <a:endParaRPr lang="en-GB"/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4610100" y="1482240"/>
            <a:ext cx="10287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>
            <a:off x="4603112" y="1790017"/>
            <a:ext cx="10287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3013751" y="2151768"/>
            <a:ext cx="666750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/>
              <a:t>TS0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6225" y="2149209"/>
            <a:ext cx="676275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/>
              <a:t>TS1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662" y="2149209"/>
            <a:ext cx="759463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/>
              <a:t>TS31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>
            <a:off x="4187863" y="2487763"/>
            <a:ext cx="10287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/>
          <p:nvPr/>
        </p:nvCxnSpPr>
        <p:spPr bwMode="auto">
          <a:xfrm>
            <a:off x="4187863" y="2149209"/>
            <a:ext cx="10287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>
            <a:cxnSpLocks/>
          </p:cNvCxnSpPr>
          <p:nvPr/>
        </p:nvCxnSpPr>
        <p:spPr bwMode="auto">
          <a:xfrm flipV="1">
            <a:off x="3086100" y="1790017"/>
            <a:ext cx="552450" cy="33663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>
            <a:cxnSpLocks/>
          </p:cNvCxnSpPr>
          <p:nvPr/>
        </p:nvCxnSpPr>
        <p:spPr bwMode="auto">
          <a:xfrm flipH="1" flipV="1">
            <a:off x="4591051" y="1800226"/>
            <a:ext cx="1040761" cy="348339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Straight Connector 42"/>
          <p:cNvCxnSpPr>
            <a:cxnSpLocks/>
          </p:cNvCxnSpPr>
          <p:nvPr/>
        </p:nvCxnSpPr>
        <p:spPr bwMode="auto">
          <a:xfrm flipV="1">
            <a:off x="2571750" y="1248746"/>
            <a:ext cx="307025" cy="21262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/>
          <p:cNvCxnSpPr>
            <a:cxnSpLocks/>
          </p:cNvCxnSpPr>
          <p:nvPr/>
        </p:nvCxnSpPr>
        <p:spPr bwMode="auto">
          <a:xfrm flipH="1" flipV="1">
            <a:off x="6360318" y="1303379"/>
            <a:ext cx="364799" cy="19358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1395785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C99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3075" name="Text Box 9"/>
          <p:cNvSpPr txBox="1">
            <a:spLocks noChangeArrowheads="1"/>
          </p:cNvSpPr>
          <p:nvPr/>
        </p:nvSpPr>
        <p:spPr bwMode="auto">
          <a:xfrm>
            <a:off x="395288" y="1948189"/>
            <a:ext cx="8561388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dirty="0"/>
              <a:t>Media Technology, Moving Image Technology UG1</a:t>
            </a:r>
          </a:p>
          <a:p>
            <a:r>
              <a:rPr lang="en-GB" sz="2800" b="1" dirty="0"/>
              <a:t>16: </a:t>
            </a:r>
          </a:p>
          <a:p>
            <a:r>
              <a:rPr lang="en-GB" sz="2800" b="1" dirty="0"/>
              <a:t>Signals, Balanced Lines, Impedance</a:t>
            </a:r>
            <a:endParaRPr lang="en-GB" sz="3200" b="1" dirty="0"/>
          </a:p>
          <a:p>
            <a:endParaRPr lang="en-GB" sz="3200" dirty="0"/>
          </a:p>
          <a:p>
            <a:endParaRPr lang="en-GB" sz="3200" dirty="0"/>
          </a:p>
          <a:p>
            <a:r>
              <a:rPr lang="en-GB" sz="2800" dirty="0"/>
              <a:t>Jerry Foss</a:t>
            </a:r>
          </a:p>
          <a:p>
            <a:r>
              <a:rPr lang="en-GB" dirty="0"/>
              <a:t>jeremy.foss@bcu.ac.uk</a:t>
            </a:r>
          </a:p>
        </p:txBody>
      </p:sp>
    </p:spTree>
    <p:extLst>
      <p:ext uri="{BB962C8B-B14F-4D97-AF65-F5344CB8AC3E}">
        <p14:creationId xmlns:p14="http://schemas.microsoft.com/office/powerpoint/2010/main" val="36789172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2130725"/>
            <a:ext cx="51539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/>
              <a:t>additional</a:t>
            </a:r>
          </a:p>
        </p:txBody>
      </p:sp>
    </p:spTree>
    <p:extLst>
      <p:ext uri="{BB962C8B-B14F-4D97-AF65-F5344CB8AC3E}">
        <p14:creationId xmlns:p14="http://schemas.microsoft.com/office/powerpoint/2010/main" val="23699452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4"/>
          <p:cNvSpPr txBox="1">
            <a:spLocks noChangeArrowheads="1"/>
          </p:cNvSpPr>
          <p:nvPr/>
        </p:nvSpPr>
        <p:spPr bwMode="auto">
          <a:xfrm>
            <a:off x="430213" y="366713"/>
            <a:ext cx="1881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Multistages</a:t>
            </a:r>
            <a:endParaRPr lang="en-US" sz="2400" b="1"/>
          </a:p>
        </p:txBody>
      </p:sp>
      <p:sp>
        <p:nvSpPr>
          <p:cNvPr id="32771" name="Text Box 5"/>
          <p:cNvSpPr txBox="1">
            <a:spLocks noChangeArrowheads="1"/>
          </p:cNvSpPr>
          <p:nvPr/>
        </p:nvSpPr>
        <p:spPr bwMode="auto">
          <a:xfrm>
            <a:off x="430213" y="1025525"/>
            <a:ext cx="8353425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Much gain is required to lift an input signal to a level suitable for driving speakers, especially for high power PA systems</a:t>
            </a:r>
          </a:p>
          <a:p>
            <a:endParaRPr lang="en-GB"/>
          </a:p>
          <a:p>
            <a:r>
              <a:rPr lang="en-GB"/>
              <a:t>This will often be implemented by several different units</a:t>
            </a:r>
          </a:p>
          <a:p>
            <a:r>
              <a:rPr lang="en-GB"/>
              <a:t>… preamplifiers, equalisers, mixing, processing stages, etc</a:t>
            </a:r>
          </a:p>
          <a:p>
            <a:pPr>
              <a:buFontTx/>
              <a:buChar char="-"/>
            </a:pPr>
            <a:endParaRPr lang="en-GB"/>
          </a:p>
          <a:p>
            <a:r>
              <a:rPr lang="en-GB"/>
              <a:t>The earlier stages may have little power amplification – they are mainly concerned with effects, processing, EQ, etc</a:t>
            </a:r>
          </a:p>
          <a:p>
            <a:endParaRPr lang="en-GB"/>
          </a:p>
          <a:p>
            <a:r>
              <a:rPr lang="en-GB"/>
              <a:t>However, where pure amplification is needed the signal may need many stages of amplification.</a:t>
            </a:r>
          </a:p>
          <a:p>
            <a:endParaRPr lang="en-GB"/>
          </a:p>
          <a:p>
            <a:r>
              <a:rPr lang="en-GB"/>
              <a:t>Theoretically, for noise considerations it is better to have as much gain as possible (e.g. without distortion, etc) in the early stage(s)</a:t>
            </a:r>
          </a:p>
          <a:p>
            <a:endParaRPr lang="en-GB"/>
          </a:p>
          <a:p>
            <a:r>
              <a:rPr lang="en-GB"/>
              <a:t>e.g. if a gain of 1000 is required, two stages may be needed:</a:t>
            </a:r>
          </a:p>
          <a:p>
            <a:endParaRPr lang="en-GB"/>
          </a:p>
          <a:p>
            <a:endParaRPr lang="en-US"/>
          </a:p>
        </p:txBody>
      </p:sp>
      <p:sp>
        <p:nvSpPr>
          <p:cNvPr id="32772" name="AutoShape 6"/>
          <p:cNvSpPr>
            <a:spLocks noChangeArrowheads="1"/>
          </p:cNvSpPr>
          <p:nvPr/>
        </p:nvSpPr>
        <p:spPr bwMode="auto">
          <a:xfrm rot="5400000">
            <a:off x="2998788" y="5291138"/>
            <a:ext cx="717550" cy="882650"/>
          </a:xfrm>
          <a:prstGeom prst="triangle">
            <a:avLst>
              <a:gd name="adj" fmla="val 50000"/>
            </a:avLst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3" name="AutoShape 7"/>
          <p:cNvSpPr>
            <a:spLocks noChangeArrowheads="1"/>
          </p:cNvSpPr>
          <p:nvPr/>
        </p:nvSpPr>
        <p:spPr bwMode="auto">
          <a:xfrm rot="5400000">
            <a:off x="4438650" y="5291138"/>
            <a:ext cx="717550" cy="882650"/>
          </a:xfrm>
          <a:prstGeom prst="triangle">
            <a:avLst>
              <a:gd name="adj" fmla="val 50000"/>
            </a:avLst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4" name="Line 8"/>
          <p:cNvSpPr>
            <a:spLocks noChangeShapeType="1"/>
          </p:cNvSpPr>
          <p:nvPr/>
        </p:nvSpPr>
        <p:spPr bwMode="auto">
          <a:xfrm>
            <a:off x="2051050" y="5734050"/>
            <a:ext cx="865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75" name="Line 9"/>
          <p:cNvSpPr>
            <a:spLocks noChangeShapeType="1"/>
          </p:cNvSpPr>
          <p:nvPr/>
        </p:nvSpPr>
        <p:spPr bwMode="auto">
          <a:xfrm>
            <a:off x="3779838" y="5734050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76" name="Line 10"/>
          <p:cNvSpPr>
            <a:spLocks noChangeShapeType="1"/>
          </p:cNvSpPr>
          <p:nvPr/>
        </p:nvSpPr>
        <p:spPr bwMode="auto">
          <a:xfrm>
            <a:off x="5219700" y="5734050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77" name="Text Box 11"/>
          <p:cNvSpPr txBox="1">
            <a:spLocks noChangeArrowheads="1"/>
          </p:cNvSpPr>
          <p:nvPr/>
        </p:nvSpPr>
        <p:spPr bwMode="auto">
          <a:xfrm>
            <a:off x="2195513" y="5300663"/>
            <a:ext cx="4445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V</a:t>
            </a:r>
            <a:r>
              <a:rPr lang="en-GB" baseline="-25000"/>
              <a:t>in</a:t>
            </a:r>
            <a:endParaRPr lang="en-US" baseline="-25000"/>
          </a:p>
        </p:txBody>
      </p:sp>
      <p:sp>
        <p:nvSpPr>
          <p:cNvPr id="32778" name="Text Box 12"/>
          <p:cNvSpPr txBox="1">
            <a:spLocks noChangeArrowheads="1"/>
          </p:cNvSpPr>
          <p:nvPr/>
        </p:nvSpPr>
        <p:spPr bwMode="auto">
          <a:xfrm>
            <a:off x="5292725" y="5300663"/>
            <a:ext cx="542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V</a:t>
            </a:r>
            <a:r>
              <a:rPr lang="en-GB" baseline="-25000"/>
              <a:t>out</a:t>
            </a:r>
            <a:endParaRPr lang="en-US" baseline="-25000"/>
          </a:p>
        </p:txBody>
      </p:sp>
      <p:sp>
        <p:nvSpPr>
          <p:cNvPr id="32779" name="Text Box 13"/>
          <p:cNvSpPr txBox="1">
            <a:spLocks noChangeArrowheads="1"/>
          </p:cNvSpPr>
          <p:nvPr/>
        </p:nvSpPr>
        <p:spPr bwMode="auto">
          <a:xfrm>
            <a:off x="2916238" y="5589588"/>
            <a:ext cx="695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x100</a:t>
            </a:r>
            <a:endParaRPr lang="en-US" baseline="-25000"/>
          </a:p>
        </p:txBody>
      </p:sp>
      <p:sp>
        <p:nvSpPr>
          <p:cNvPr id="32780" name="Text Box 14"/>
          <p:cNvSpPr txBox="1">
            <a:spLocks noChangeArrowheads="1"/>
          </p:cNvSpPr>
          <p:nvPr/>
        </p:nvSpPr>
        <p:spPr bwMode="auto">
          <a:xfrm>
            <a:off x="4356100" y="5589588"/>
            <a:ext cx="566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x10</a:t>
            </a:r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3042977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4"/>
          <p:cNvSpPr txBox="1">
            <a:spLocks noChangeArrowheads="1"/>
          </p:cNvSpPr>
          <p:nvPr/>
        </p:nvSpPr>
        <p:spPr bwMode="auto">
          <a:xfrm>
            <a:off x="430213" y="366713"/>
            <a:ext cx="1792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Impedance</a:t>
            </a:r>
            <a:endParaRPr lang="en-US" sz="2400" b="1"/>
          </a:p>
        </p:txBody>
      </p:sp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430213" y="3946525"/>
            <a:ext cx="8601075" cy="225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6213" indent="-17621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Impedance is resistance, but includes reactance (capacitive and inductive resistance)</a:t>
            </a:r>
          </a:p>
          <a:p>
            <a:pPr>
              <a:lnSpc>
                <a:spcPct val="110000"/>
              </a:lnSpc>
            </a:pPr>
            <a:r>
              <a:rPr lang="en-GB">
                <a:cs typeface="Lucida Sans Unicode" pitchFamily="34" charset="0"/>
              </a:rPr>
              <a:t>	∴ can vary with frequency (because X</a:t>
            </a:r>
            <a:r>
              <a:rPr lang="en-GB" baseline="-25000">
                <a:cs typeface="Lucida Sans Unicode" pitchFamily="34" charset="0"/>
              </a:rPr>
              <a:t>C</a:t>
            </a:r>
            <a:r>
              <a:rPr lang="en-GB">
                <a:cs typeface="Lucida Sans Unicode" pitchFamily="34" charset="0"/>
              </a:rPr>
              <a:t> and X</a:t>
            </a:r>
            <a:r>
              <a:rPr lang="en-GB" baseline="-25000">
                <a:cs typeface="Lucida Sans Unicode" pitchFamily="34" charset="0"/>
              </a:rPr>
              <a:t>L</a:t>
            </a:r>
            <a:r>
              <a:rPr lang="en-GB">
                <a:cs typeface="Lucida Sans Unicode" pitchFamily="34" charset="0"/>
              </a:rPr>
              <a:t> does)</a:t>
            </a:r>
          </a:p>
          <a:p>
            <a:pPr>
              <a:lnSpc>
                <a:spcPct val="110000"/>
              </a:lnSpc>
            </a:pPr>
            <a:endParaRPr lang="en-GB">
              <a:cs typeface="Lucida Sans Unicode" pitchFamily="34" charset="0"/>
            </a:endParaRPr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/>
              <a:t>an important consideration when coupling equipment together</a:t>
            </a:r>
          </a:p>
          <a:p>
            <a:pPr>
              <a:lnSpc>
                <a:spcPct val="110000"/>
              </a:lnSpc>
              <a:buFontTx/>
              <a:buChar char="•"/>
            </a:pPr>
            <a:endParaRPr lang="en-GB"/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/>
              <a:t>impedance matching enables maximum power transfer between devices</a:t>
            </a:r>
          </a:p>
          <a:p>
            <a:pPr>
              <a:lnSpc>
                <a:spcPct val="110000"/>
              </a:lnSpc>
              <a:buFontTx/>
              <a:buChar char="•"/>
            </a:pPr>
            <a:endParaRPr lang="en-GB"/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/>
              <a:t>denoted as Z, and expressed in ohms (</a:t>
            </a:r>
            <a:r>
              <a:rPr lang="el-GR">
                <a:cs typeface="Lucida Sans Unicode" pitchFamily="34" charset="0"/>
              </a:rPr>
              <a:t>Ω</a:t>
            </a:r>
            <a:r>
              <a:rPr lang="en-GB">
                <a:cs typeface="Lucida Sans Unicode" pitchFamily="34" charset="0"/>
              </a:rPr>
              <a:t>)</a:t>
            </a:r>
            <a:endParaRPr lang="el-GR">
              <a:cs typeface="Lucida Sans Unicode" pitchFamily="34" charset="0"/>
            </a:endParaRPr>
          </a:p>
        </p:txBody>
      </p:sp>
      <p:grpSp>
        <p:nvGrpSpPr>
          <p:cNvPr id="33796" name="Group 18"/>
          <p:cNvGrpSpPr>
            <a:grpSpLocks/>
          </p:cNvGrpSpPr>
          <p:nvPr/>
        </p:nvGrpSpPr>
        <p:grpSpPr bwMode="auto">
          <a:xfrm>
            <a:off x="2806700" y="1336675"/>
            <a:ext cx="3362325" cy="1368425"/>
            <a:chOff x="1709" y="1389"/>
            <a:chExt cx="2118" cy="862"/>
          </a:xfrm>
        </p:grpSpPr>
        <p:sp>
          <p:nvSpPr>
            <p:cNvPr id="33808" name="Rectangle 6"/>
            <p:cNvSpPr>
              <a:spLocks noChangeArrowheads="1"/>
            </p:cNvSpPr>
            <p:nvPr/>
          </p:nvSpPr>
          <p:spPr bwMode="auto">
            <a:xfrm>
              <a:off x="2018" y="1389"/>
              <a:ext cx="1452" cy="862"/>
            </a:xfrm>
            <a:prstGeom prst="rect">
              <a:avLst/>
            </a:prstGeom>
            <a:solidFill>
              <a:srgbClr val="FFCC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3809" name="Line 7"/>
            <p:cNvSpPr>
              <a:spLocks noChangeShapeType="1"/>
            </p:cNvSpPr>
            <p:nvPr/>
          </p:nvSpPr>
          <p:spPr bwMode="auto">
            <a:xfrm>
              <a:off x="1746" y="2115"/>
              <a:ext cx="2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810" name="Line 8"/>
            <p:cNvSpPr>
              <a:spLocks noChangeShapeType="1"/>
            </p:cNvSpPr>
            <p:nvPr/>
          </p:nvSpPr>
          <p:spPr bwMode="auto">
            <a:xfrm>
              <a:off x="1746" y="161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811" name="Line 9"/>
            <p:cNvSpPr>
              <a:spLocks noChangeShapeType="1"/>
            </p:cNvSpPr>
            <p:nvPr/>
          </p:nvSpPr>
          <p:spPr bwMode="auto">
            <a:xfrm>
              <a:off x="3288" y="161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812" name="Line 11"/>
            <p:cNvSpPr>
              <a:spLocks noChangeShapeType="1"/>
            </p:cNvSpPr>
            <p:nvPr/>
          </p:nvSpPr>
          <p:spPr bwMode="auto">
            <a:xfrm>
              <a:off x="2245" y="1616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813" name="Rectangle 10"/>
            <p:cNvSpPr>
              <a:spLocks noChangeArrowheads="1"/>
            </p:cNvSpPr>
            <p:nvPr/>
          </p:nvSpPr>
          <p:spPr bwMode="auto">
            <a:xfrm>
              <a:off x="2175" y="1661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4" name="Line 12"/>
            <p:cNvSpPr>
              <a:spLocks noChangeShapeType="1"/>
            </p:cNvSpPr>
            <p:nvPr/>
          </p:nvSpPr>
          <p:spPr bwMode="auto">
            <a:xfrm>
              <a:off x="3279" y="1622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815" name="Rectangle 13"/>
            <p:cNvSpPr>
              <a:spLocks noChangeArrowheads="1"/>
            </p:cNvSpPr>
            <p:nvPr/>
          </p:nvSpPr>
          <p:spPr bwMode="auto">
            <a:xfrm>
              <a:off x="3209" y="1667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6" name="Oval 14"/>
            <p:cNvSpPr>
              <a:spLocks noChangeArrowheads="1"/>
            </p:cNvSpPr>
            <p:nvPr/>
          </p:nvSpPr>
          <p:spPr bwMode="auto">
            <a:xfrm>
              <a:off x="3764" y="1584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7" name="Oval 15"/>
            <p:cNvSpPr>
              <a:spLocks noChangeArrowheads="1"/>
            </p:cNvSpPr>
            <p:nvPr/>
          </p:nvSpPr>
          <p:spPr bwMode="auto">
            <a:xfrm>
              <a:off x="3771" y="2088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8" name="Oval 16"/>
            <p:cNvSpPr>
              <a:spLocks noChangeArrowheads="1"/>
            </p:cNvSpPr>
            <p:nvPr/>
          </p:nvSpPr>
          <p:spPr bwMode="auto">
            <a:xfrm>
              <a:off x="1709" y="1590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9" name="Oval 17"/>
            <p:cNvSpPr>
              <a:spLocks noChangeArrowheads="1"/>
            </p:cNvSpPr>
            <p:nvPr/>
          </p:nvSpPr>
          <p:spPr bwMode="auto">
            <a:xfrm>
              <a:off x="1709" y="2087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797" name="Text Box 19"/>
          <p:cNvSpPr txBox="1">
            <a:spLocks noChangeArrowheads="1"/>
          </p:cNvSpPr>
          <p:nvPr/>
        </p:nvSpPr>
        <p:spPr bwMode="auto">
          <a:xfrm>
            <a:off x="3949700" y="1427163"/>
            <a:ext cx="973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/>
              <a:t>Amplifier</a:t>
            </a:r>
            <a:endParaRPr lang="en-US" sz="1400"/>
          </a:p>
        </p:txBody>
      </p:sp>
      <p:sp>
        <p:nvSpPr>
          <p:cNvPr id="33798" name="Text Box 20"/>
          <p:cNvSpPr txBox="1">
            <a:spLocks noChangeArrowheads="1"/>
          </p:cNvSpPr>
          <p:nvPr/>
        </p:nvSpPr>
        <p:spPr bwMode="auto">
          <a:xfrm>
            <a:off x="1738313" y="3076575"/>
            <a:ext cx="2174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1400"/>
              <a:t>input impedance = Z</a:t>
            </a:r>
            <a:r>
              <a:rPr lang="en-GB" sz="1400" baseline="-25000"/>
              <a:t>in</a:t>
            </a:r>
            <a:endParaRPr lang="en-US" sz="1400" baseline="-25000"/>
          </a:p>
        </p:txBody>
      </p:sp>
      <p:sp>
        <p:nvSpPr>
          <p:cNvPr id="33799" name="Text Box 21"/>
          <p:cNvSpPr txBox="1">
            <a:spLocks noChangeArrowheads="1"/>
          </p:cNvSpPr>
          <p:nvPr/>
        </p:nvSpPr>
        <p:spPr bwMode="auto">
          <a:xfrm>
            <a:off x="4656138" y="3065463"/>
            <a:ext cx="2603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1400"/>
              <a:t>output impedance = Z</a:t>
            </a:r>
            <a:r>
              <a:rPr lang="en-GB" sz="1400" baseline="-25000"/>
              <a:t>out</a:t>
            </a:r>
            <a:endParaRPr lang="en-US" sz="1400" baseline="-25000"/>
          </a:p>
        </p:txBody>
      </p:sp>
      <p:sp>
        <p:nvSpPr>
          <p:cNvPr id="33800" name="Line 22"/>
          <p:cNvSpPr>
            <a:spLocks noChangeShapeType="1"/>
          </p:cNvSpPr>
          <p:nvPr/>
        </p:nvSpPr>
        <p:spPr bwMode="auto">
          <a:xfrm flipV="1">
            <a:off x="3125788" y="2414588"/>
            <a:ext cx="396875" cy="623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01" name="Line 23"/>
          <p:cNvSpPr>
            <a:spLocks noChangeShapeType="1"/>
          </p:cNvSpPr>
          <p:nvPr/>
        </p:nvSpPr>
        <p:spPr bwMode="auto">
          <a:xfrm flipH="1" flipV="1">
            <a:off x="5465763" y="2373313"/>
            <a:ext cx="455612" cy="67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02" name="Rectangle 24"/>
          <p:cNvSpPr>
            <a:spLocks noChangeArrowheads="1"/>
          </p:cNvSpPr>
          <p:nvPr/>
        </p:nvSpPr>
        <p:spPr bwMode="auto">
          <a:xfrm>
            <a:off x="3771900" y="1906588"/>
            <a:ext cx="396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1400"/>
              <a:t>Z</a:t>
            </a:r>
            <a:r>
              <a:rPr lang="en-GB" sz="1400" baseline="-25000"/>
              <a:t>in</a:t>
            </a:r>
            <a:endParaRPr lang="en-US" sz="1400" baseline="-25000"/>
          </a:p>
        </p:txBody>
      </p:sp>
      <p:sp>
        <p:nvSpPr>
          <p:cNvPr id="33803" name="Rectangle 25"/>
          <p:cNvSpPr>
            <a:spLocks noChangeArrowheads="1"/>
          </p:cNvSpPr>
          <p:nvPr/>
        </p:nvSpPr>
        <p:spPr bwMode="auto">
          <a:xfrm>
            <a:off x="4770438" y="1916113"/>
            <a:ext cx="476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1400"/>
              <a:t>Z</a:t>
            </a:r>
            <a:r>
              <a:rPr lang="en-GB" sz="1400" baseline="-25000"/>
              <a:t>out</a:t>
            </a:r>
            <a:endParaRPr lang="en-US" sz="1400" baseline="-25000"/>
          </a:p>
        </p:txBody>
      </p:sp>
      <p:sp>
        <p:nvSpPr>
          <p:cNvPr id="33804" name="AutoShape 26"/>
          <p:cNvSpPr>
            <a:spLocks noChangeArrowheads="1"/>
          </p:cNvSpPr>
          <p:nvPr/>
        </p:nvSpPr>
        <p:spPr bwMode="auto">
          <a:xfrm>
            <a:off x="2141538" y="1873250"/>
            <a:ext cx="727075" cy="446088"/>
          </a:xfrm>
          <a:prstGeom prst="rightArrow">
            <a:avLst>
              <a:gd name="adj1" fmla="val 59435"/>
              <a:gd name="adj2" fmla="val 8006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5" name="AutoShape 27"/>
          <p:cNvSpPr>
            <a:spLocks noChangeArrowheads="1"/>
          </p:cNvSpPr>
          <p:nvPr/>
        </p:nvSpPr>
        <p:spPr bwMode="auto">
          <a:xfrm flipH="1">
            <a:off x="6132513" y="1863725"/>
            <a:ext cx="727075" cy="446088"/>
          </a:xfrm>
          <a:prstGeom prst="rightArrow">
            <a:avLst>
              <a:gd name="adj1" fmla="val 59435"/>
              <a:gd name="adj2" fmla="val 8006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6" name="Text Box 28"/>
          <p:cNvSpPr txBox="1">
            <a:spLocks noChangeArrowheads="1"/>
          </p:cNvSpPr>
          <p:nvPr/>
        </p:nvSpPr>
        <p:spPr bwMode="auto">
          <a:xfrm>
            <a:off x="430213" y="1536700"/>
            <a:ext cx="1763712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1400"/>
              <a:t>equipment</a:t>
            </a:r>
          </a:p>
          <a:p>
            <a:pPr algn="ctr"/>
            <a:r>
              <a:rPr lang="en-GB" sz="1400"/>
              <a:t>looking into the amplifier input (e.g. microphone) will “see” the input impedance</a:t>
            </a:r>
            <a:endParaRPr lang="en-US" sz="1400"/>
          </a:p>
        </p:txBody>
      </p:sp>
      <p:sp>
        <p:nvSpPr>
          <p:cNvPr id="33807" name="Text Box 29"/>
          <p:cNvSpPr txBox="1">
            <a:spLocks noChangeArrowheads="1"/>
          </p:cNvSpPr>
          <p:nvPr/>
        </p:nvSpPr>
        <p:spPr bwMode="auto">
          <a:xfrm>
            <a:off x="7173913" y="1371600"/>
            <a:ext cx="1597025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1400"/>
              <a:t>equipment looking into the amplifier output (e.g. speakers) will “see” the output impedance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883739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4"/>
          <p:cNvSpPr txBox="1">
            <a:spLocks noChangeArrowheads="1"/>
          </p:cNvSpPr>
          <p:nvPr/>
        </p:nvSpPr>
        <p:spPr bwMode="auto">
          <a:xfrm>
            <a:off x="430213" y="366713"/>
            <a:ext cx="1792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Impedance</a:t>
            </a:r>
            <a:endParaRPr lang="en-US" sz="2400" b="1"/>
          </a:p>
        </p:txBody>
      </p:sp>
      <p:sp>
        <p:nvSpPr>
          <p:cNvPr id="34819" name="Text Box 30"/>
          <p:cNvSpPr txBox="1">
            <a:spLocks noChangeArrowheads="1"/>
          </p:cNvSpPr>
          <p:nvPr/>
        </p:nvSpPr>
        <p:spPr bwMode="auto">
          <a:xfrm>
            <a:off x="430213" y="4122738"/>
            <a:ext cx="855345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6213" indent="-17621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539750" indent="-176213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  <a:buFontTx/>
              <a:buChar char="•"/>
            </a:pPr>
            <a:r>
              <a:rPr lang="en-GB"/>
              <a:t>impedance is unavoidable, so the circuit must be designed to manufacture a favourable impedance figure</a:t>
            </a:r>
          </a:p>
          <a:p>
            <a:pPr>
              <a:lnSpc>
                <a:spcPct val="110000"/>
              </a:lnSpc>
              <a:buFontTx/>
              <a:buChar char="•"/>
            </a:pPr>
            <a:endParaRPr lang="en-GB"/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/>
              <a:t>impedance values are often standardised to allow equipment to work together</a:t>
            </a:r>
          </a:p>
          <a:p>
            <a:pPr lvl="1">
              <a:lnSpc>
                <a:spcPct val="110000"/>
              </a:lnSpc>
              <a:buFontTx/>
              <a:buChar char="•"/>
            </a:pPr>
            <a:r>
              <a:rPr lang="en-GB">
                <a:cs typeface="Lucida Sans Unicode" pitchFamily="34" charset="0"/>
              </a:rPr>
              <a:t>e.g. common impedance for loudspeaker systems is 8</a:t>
            </a:r>
            <a:r>
              <a:rPr lang="el-GR"/>
              <a:t>Ω</a:t>
            </a:r>
          </a:p>
        </p:txBody>
      </p:sp>
      <p:grpSp>
        <p:nvGrpSpPr>
          <p:cNvPr id="34820" name="Group 18"/>
          <p:cNvGrpSpPr>
            <a:grpSpLocks/>
          </p:cNvGrpSpPr>
          <p:nvPr/>
        </p:nvGrpSpPr>
        <p:grpSpPr bwMode="auto">
          <a:xfrm>
            <a:off x="2806700" y="1336675"/>
            <a:ext cx="3362325" cy="1368425"/>
            <a:chOff x="1709" y="1389"/>
            <a:chExt cx="2118" cy="862"/>
          </a:xfrm>
        </p:grpSpPr>
        <p:sp>
          <p:nvSpPr>
            <p:cNvPr id="34832" name="Rectangle 6"/>
            <p:cNvSpPr>
              <a:spLocks noChangeArrowheads="1"/>
            </p:cNvSpPr>
            <p:nvPr/>
          </p:nvSpPr>
          <p:spPr bwMode="auto">
            <a:xfrm>
              <a:off x="2018" y="1389"/>
              <a:ext cx="1452" cy="862"/>
            </a:xfrm>
            <a:prstGeom prst="rect">
              <a:avLst/>
            </a:prstGeom>
            <a:solidFill>
              <a:srgbClr val="FFCC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4833" name="Line 7"/>
            <p:cNvSpPr>
              <a:spLocks noChangeShapeType="1"/>
            </p:cNvSpPr>
            <p:nvPr/>
          </p:nvSpPr>
          <p:spPr bwMode="auto">
            <a:xfrm>
              <a:off x="1746" y="2115"/>
              <a:ext cx="2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34" name="Line 8"/>
            <p:cNvSpPr>
              <a:spLocks noChangeShapeType="1"/>
            </p:cNvSpPr>
            <p:nvPr/>
          </p:nvSpPr>
          <p:spPr bwMode="auto">
            <a:xfrm>
              <a:off x="1746" y="161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35" name="Line 9"/>
            <p:cNvSpPr>
              <a:spLocks noChangeShapeType="1"/>
            </p:cNvSpPr>
            <p:nvPr/>
          </p:nvSpPr>
          <p:spPr bwMode="auto">
            <a:xfrm>
              <a:off x="3288" y="161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36" name="Line 11"/>
            <p:cNvSpPr>
              <a:spLocks noChangeShapeType="1"/>
            </p:cNvSpPr>
            <p:nvPr/>
          </p:nvSpPr>
          <p:spPr bwMode="auto">
            <a:xfrm>
              <a:off x="2245" y="1616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37" name="Rectangle 10"/>
            <p:cNvSpPr>
              <a:spLocks noChangeArrowheads="1"/>
            </p:cNvSpPr>
            <p:nvPr/>
          </p:nvSpPr>
          <p:spPr bwMode="auto">
            <a:xfrm>
              <a:off x="2175" y="1661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8" name="Line 12"/>
            <p:cNvSpPr>
              <a:spLocks noChangeShapeType="1"/>
            </p:cNvSpPr>
            <p:nvPr/>
          </p:nvSpPr>
          <p:spPr bwMode="auto">
            <a:xfrm>
              <a:off x="3279" y="1622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39" name="Rectangle 13"/>
            <p:cNvSpPr>
              <a:spLocks noChangeArrowheads="1"/>
            </p:cNvSpPr>
            <p:nvPr/>
          </p:nvSpPr>
          <p:spPr bwMode="auto">
            <a:xfrm>
              <a:off x="3209" y="1667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0" name="Oval 14"/>
            <p:cNvSpPr>
              <a:spLocks noChangeArrowheads="1"/>
            </p:cNvSpPr>
            <p:nvPr/>
          </p:nvSpPr>
          <p:spPr bwMode="auto">
            <a:xfrm>
              <a:off x="3764" y="1584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1" name="Oval 15"/>
            <p:cNvSpPr>
              <a:spLocks noChangeArrowheads="1"/>
            </p:cNvSpPr>
            <p:nvPr/>
          </p:nvSpPr>
          <p:spPr bwMode="auto">
            <a:xfrm>
              <a:off x="3771" y="2088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2" name="Oval 16"/>
            <p:cNvSpPr>
              <a:spLocks noChangeArrowheads="1"/>
            </p:cNvSpPr>
            <p:nvPr/>
          </p:nvSpPr>
          <p:spPr bwMode="auto">
            <a:xfrm>
              <a:off x="1709" y="1590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3" name="Oval 17"/>
            <p:cNvSpPr>
              <a:spLocks noChangeArrowheads="1"/>
            </p:cNvSpPr>
            <p:nvPr/>
          </p:nvSpPr>
          <p:spPr bwMode="auto">
            <a:xfrm>
              <a:off x="1709" y="2087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821" name="Text Box 19"/>
          <p:cNvSpPr txBox="1">
            <a:spLocks noChangeArrowheads="1"/>
          </p:cNvSpPr>
          <p:nvPr/>
        </p:nvSpPr>
        <p:spPr bwMode="auto">
          <a:xfrm>
            <a:off x="3949700" y="1427163"/>
            <a:ext cx="973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/>
              <a:t>Amplifier</a:t>
            </a:r>
            <a:endParaRPr lang="en-US" sz="1400"/>
          </a:p>
        </p:txBody>
      </p:sp>
      <p:sp>
        <p:nvSpPr>
          <p:cNvPr id="34822" name="Text Box 20"/>
          <p:cNvSpPr txBox="1">
            <a:spLocks noChangeArrowheads="1"/>
          </p:cNvSpPr>
          <p:nvPr/>
        </p:nvSpPr>
        <p:spPr bwMode="auto">
          <a:xfrm>
            <a:off x="1738313" y="3076575"/>
            <a:ext cx="2174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1400"/>
              <a:t>input impedance = Z</a:t>
            </a:r>
            <a:r>
              <a:rPr lang="en-GB" sz="1400" baseline="-25000"/>
              <a:t>in</a:t>
            </a:r>
            <a:endParaRPr lang="en-US" sz="1400" baseline="-25000"/>
          </a:p>
        </p:txBody>
      </p:sp>
      <p:sp>
        <p:nvSpPr>
          <p:cNvPr id="34823" name="Text Box 21"/>
          <p:cNvSpPr txBox="1">
            <a:spLocks noChangeArrowheads="1"/>
          </p:cNvSpPr>
          <p:nvPr/>
        </p:nvSpPr>
        <p:spPr bwMode="auto">
          <a:xfrm>
            <a:off x="4656138" y="3065463"/>
            <a:ext cx="2603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1400"/>
              <a:t>input impedance = Z</a:t>
            </a:r>
            <a:r>
              <a:rPr lang="en-GB" sz="1400" baseline="-25000"/>
              <a:t>out</a:t>
            </a:r>
            <a:endParaRPr lang="en-US" sz="1400" baseline="-25000"/>
          </a:p>
        </p:txBody>
      </p:sp>
      <p:sp>
        <p:nvSpPr>
          <p:cNvPr id="34824" name="Line 22"/>
          <p:cNvSpPr>
            <a:spLocks noChangeShapeType="1"/>
          </p:cNvSpPr>
          <p:nvPr/>
        </p:nvSpPr>
        <p:spPr bwMode="auto">
          <a:xfrm flipV="1">
            <a:off x="3125788" y="2414588"/>
            <a:ext cx="396875" cy="623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25" name="Line 23"/>
          <p:cNvSpPr>
            <a:spLocks noChangeShapeType="1"/>
          </p:cNvSpPr>
          <p:nvPr/>
        </p:nvSpPr>
        <p:spPr bwMode="auto">
          <a:xfrm flipH="1" flipV="1">
            <a:off x="5465763" y="2373313"/>
            <a:ext cx="455612" cy="67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26" name="Rectangle 24"/>
          <p:cNvSpPr>
            <a:spLocks noChangeArrowheads="1"/>
          </p:cNvSpPr>
          <p:nvPr/>
        </p:nvSpPr>
        <p:spPr bwMode="auto">
          <a:xfrm>
            <a:off x="3771900" y="1906588"/>
            <a:ext cx="396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1400"/>
              <a:t>Z</a:t>
            </a:r>
            <a:r>
              <a:rPr lang="en-GB" sz="1400" baseline="-25000"/>
              <a:t>in</a:t>
            </a:r>
            <a:endParaRPr lang="en-US" sz="1400" baseline="-25000"/>
          </a:p>
        </p:txBody>
      </p:sp>
      <p:sp>
        <p:nvSpPr>
          <p:cNvPr id="34827" name="Rectangle 25"/>
          <p:cNvSpPr>
            <a:spLocks noChangeArrowheads="1"/>
          </p:cNvSpPr>
          <p:nvPr/>
        </p:nvSpPr>
        <p:spPr bwMode="auto">
          <a:xfrm>
            <a:off x="4770438" y="1916113"/>
            <a:ext cx="476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1400"/>
              <a:t>Z</a:t>
            </a:r>
            <a:r>
              <a:rPr lang="en-GB" sz="1400" baseline="-25000"/>
              <a:t>out</a:t>
            </a:r>
            <a:endParaRPr lang="en-US" sz="1400" baseline="-25000"/>
          </a:p>
        </p:txBody>
      </p:sp>
      <p:sp>
        <p:nvSpPr>
          <p:cNvPr id="34828" name="AutoShape 26"/>
          <p:cNvSpPr>
            <a:spLocks noChangeArrowheads="1"/>
          </p:cNvSpPr>
          <p:nvPr/>
        </p:nvSpPr>
        <p:spPr bwMode="auto">
          <a:xfrm>
            <a:off x="2141538" y="1873250"/>
            <a:ext cx="727075" cy="446088"/>
          </a:xfrm>
          <a:prstGeom prst="rightArrow">
            <a:avLst>
              <a:gd name="adj1" fmla="val 59435"/>
              <a:gd name="adj2" fmla="val 8006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9" name="AutoShape 27"/>
          <p:cNvSpPr>
            <a:spLocks noChangeArrowheads="1"/>
          </p:cNvSpPr>
          <p:nvPr/>
        </p:nvSpPr>
        <p:spPr bwMode="auto">
          <a:xfrm flipH="1">
            <a:off x="6132513" y="1863725"/>
            <a:ext cx="727075" cy="446088"/>
          </a:xfrm>
          <a:prstGeom prst="rightArrow">
            <a:avLst>
              <a:gd name="adj1" fmla="val 59435"/>
              <a:gd name="adj2" fmla="val 8006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0" name="Text Box 28"/>
          <p:cNvSpPr txBox="1">
            <a:spLocks noChangeArrowheads="1"/>
          </p:cNvSpPr>
          <p:nvPr/>
        </p:nvSpPr>
        <p:spPr bwMode="auto">
          <a:xfrm>
            <a:off x="430213" y="1536700"/>
            <a:ext cx="1763712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1400"/>
              <a:t>equipment</a:t>
            </a:r>
          </a:p>
          <a:p>
            <a:pPr algn="ctr"/>
            <a:r>
              <a:rPr lang="en-GB" sz="1400"/>
              <a:t>looking into the amplifier input (e.g. microphone) will “see” the input impedance</a:t>
            </a:r>
            <a:endParaRPr lang="en-US" sz="1400"/>
          </a:p>
        </p:txBody>
      </p:sp>
      <p:sp>
        <p:nvSpPr>
          <p:cNvPr id="34831" name="Text Box 29"/>
          <p:cNvSpPr txBox="1">
            <a:spLocks noChangeArrowheads="1"/>
          </p:cNvSpPr>
          <p:nvPr/>
        </p:nvSpPr>
        <p:spPr bwMode="auto">
          <a:xfrm>
            <a:off x="7173913" y="1371600"/>
            <a:ext cx="1597025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1400"/>
              <a:t>equipment looking into the amplifier output (e.g. speakers) will “see” the output impedance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3760491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6"/>
          <p:cNvSpPr txBox="1">
            <a:spLocks noChangeArrowheads="1"/>
          </p:cNvSpPr>
          <p:nvPr/>
        </p:nvSpPr>
        <p:spPr bwMode="auto">
          <a:xfrm>
            <a:off x="430213" y="366713"/>
            <a:ext cx="1792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Impedance</a:t>
            </a:r>
            <a:endParaRPr lang="en-US" sz="2400" b="1"/>
          </a:p>
        </p:txBody>
      </p:sp>
      <p:sp>
        <p:nvSpPr>
          <p:cNvPr id="35843" name="Text Box 28"/>
          <p:cNvSpPr txBox="1">
            <a:spLocks noChangeArrowheads="1"/>
          </p:cNvSpPr>
          <p:nvPr/>
        </p:nvSpPr>
        <p:spPr bwMode="auto">
          <a:xfrm>
            <a:off x="430213" y="2947988"/>
            <a:ext cx="75485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Consider the impedances connected together as a potential divider circuit:</a:t>
            </a:r>
            <a:endParaRPr lang="en-US"/>
          </a:p>
        </p:txBody>
      </p:sp>
      <p:grpSp>
        <p:nvGrpSpPr>
          <p:cNvPr id="35844" name="Group 51"/>
          <p:cNvGrpSpPr>
            <a:grpSpLocks/>
          </p:cNvGrpSpPr>
          <p:nvPr/>
        </p:nvGrpSpPr>
        <p:grpSpPr bwMode="auto">
          <a:xfrm>
            <a:off x="1476375" y="1362075"/>
            <a:ext cx="6170613" cy="1381125"/>
            <a:chOff x="930" y="858"/>
            <a:chExt cx="3887" cy="870"/>
          </a:xfrm>
        </p:grpSpPr>
        <p:sp>
          <p:nvSpPr>
            <p:cNvPr id="35859" name="Rectangle 36"/>
            <p:cNvSpPr>
              <a:spLocks noChangeArrowheads="1"/>
            </p:cNvSpPr>
            <p:nvPr/>
          </p:nvSpPr>
          <p:spPr bwMode="auto">
            <a:xfrm>
              <a:off x="930" y="858"/>
              <a:ext cx="1296" cy="858"/>
            </a:xfrm>
            <a:prstGeom prst="rect">
              <a:avLst/>
            </a:prstGeom>
            <a:solidFill>
              <a:srgbClr val="FFCC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0" name="Rectangle 5"/>
            <p:cNvSpPr>
              <a:spLocks noChangeArrowheads="1"/>
            </p:cNvSpPr>
            <p:nvPr/>
          </p:nvSpPr>
          <p:spPr bwMode="auto">
            <a:xfrm>
              <a:off x="3008" y="866"/>
              <a:ext cx="1452" cy="862"/>
            </a:xfrm>
            <a:prstGeom prst="rect">
              <a:avLst/>
            </a:prstGeom>
            <a:solidFill>
              <a:srgbClr val="FFCC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5861" name="Line 6"/>
            <p:cNvSpPr>
              <a:spLocks noChangeShapeType="1"/>
            </p:cNvSpPr>
            <p:nvPr/>
          </p:nvSpPr>
          <p:spPr bwMode="auto">
            <a:xfrm>
              <a:off x="2736" y="1592"/>
              <a:ext cx="2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62" name="Line 7"/>
            <p:cNvSpPr>
              <a:spLocks noChangeShapeType="1"/>
            </p:cNvSpPr>
            <p:nvPr/>
          </p:nvSpPr>
          <p:spPr bwMode="auto">
            <a:xfrm>
              <a:off x="2736" y="1093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63" name="Line 8"/>
            <p:cNvSpPr>
              <a:spLocks noChangeShapeType="1"/>
            </p:cNvSpPr>
            <p:nvPr/>
          </p:nvSpPr>
          <p:spPr bwMode="auto">
            <a:xfrm>
              <a:off x="4278" y="1093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64" name="Line 9"/>
            <p:cNvSpPr>
              <a:spLocks noChangeShapeType="1"/>
            </p:cNvSpPr>
            <p:nvPr/>
          </p:nvSpPr>
          <p:spPr bwMode="auto">
            <a:xfrm>
              <a:off x="3235" y="1093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65" name="Rectangle 10"/>
            <p:cNvSpPr>
              <a:spLocks noChangeArrowheads="1"/>
            </p:cNvSpPr>
            <p:nvPr/>
          </p:nvSpPr>
          <p:spPr bwMode="auto">
            <a:xfrm>
              <a:off x="3165" y="1138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6" name="Line 11"/>
            <p:cNvSpPr>
              <a:spLocks noChangeShapeType="1"/>
            </p:cNvSpPr>
            <p:nvPr/>
          </p:nvSpPr>
          <p:spPr bwMode="auto">
            <a:xfrm>
              <a:off x="4269" y="1099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67" name="Rectangle 12"/>
            <p:cNvSpPr>
              <a:spLocks noChangeArrowheads="1"/>
            </p:cNvSpPr>
            <p:nvPr/>
          </p:nvSpPr>
          <p:spPr bwMode="auto">
            <a:xfrm>
              <a:off x="4199" y="1144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8" name="Oval 13"/>
            <p:cNvSpPr>
              <a:spLocks noChangeArrowheads="1"/>
            </p:cNvSpPr>
            <p:nvPr/>
          </p:nvSpPr>
          <p:spPr bwMode="auto">
            <a:xfrm>
              <a:off x="4754" y="1061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9" name="Oval 14"/>
            <p:cNvSpPr>
              <a:spLocks noChangeArrowheads="1"/>
            </p:cNvSpPr>
            <p:nvPr/>
          </p:nvSpPr>
          <p:spPr bwMode="auto">
            <a:xfrm>
              <a:off x="4761" y="1565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0" name="Oval 15"/>
            <p:cNvSpPr>
              <a:spLocks noChangeArrowheads="1"/>
            </p:cNvSpPr>
            <p:nvPr/>
          </p:nvSpPr>
          <p:spPr bwMode="auto">
            <a:xfrm>
              <a:off x="2699" y="1067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Oval 16"/>
            <p:cNvSpPr>
              <a:spLocks noChangeArrowheads="1"/>
            </p:cNvSpPr>
            <p:nvPr/>
          </p:nvSpPr>
          <p:spPr bwMode="auto">
            <a:xfrm>
              <a:off x="2699" y="1564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2" name="Text Box 17"/>
            <p:cNvSpPr txBox="1">
              <a:spLocks noChangeArrowheads="1"/>
            </p:cNvSpPr>
            <p:nvPr/>
          </p:nvSpPr>
          <p:spPr bwMode="auto">
            <a:xfrm>
              <a:off x="3451" y="858"/>
              <a:ext cx="6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400"/>
                <a:t>Amplifier</a:t>
              </a:r>
              <a:endParaRPr lang="en-US" sz="1400"/>
            </a:p>
          </p:txBody>
        </p:sp>
        <p:sp>
          <p:nvSpPr>
            <p:cNvPr id="35873" name="Rectangle 22"/>
            <p:cNvSpPr>
              <a:spLocks noChangeArrowheads="1"/>
            </p:cNvSpPr>
            <p:nvPr/>
          </p:nvSpPr>
          <p:spPr bwMode="auto">
            <a:xfrm>
              <a:off x="3339" y="1160"/>
              <a:ext cx="25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400"/>
                <a:t>Z</a:t>
              </a:r>
              <a:r>
                <a:rPr lang="en-GB" sz="1400" baseline="-25000"/>
                <a:t>in</a:t>
              </a:r>
              <a:endParaRPr lang="en-US" sz="1400" baseline="-25000"/>
            </a:p>
          </p:txBody>
        </p:sp>
        <p:sp>
          <p:nvSpPr>
            <p:cNvPr id="35874" name="Rectangle 23"/>
            <p:cNvSpPr>
              <a:spLocks noChangeArrowheads="1"/>
            </p:cNvSpPr>
            <p:nvPr/>
          </p:nvSpPr>
          <p:spPr bwMode="auto">
            <a:xfrm>
              <a:off x="3947" y="1166"/>
              <a:ext cx="3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400"/>
                <a:t>Z</a:t>
              </a:r>
              <a:r>
                <a:rPr lang="en-GB" sz="1400" baseline="-25000"/>
                <a:t>out</a:t>
              </a:r>
              <a:endParaRPr lang="en-US" sz="1400" baseline="-25000"/>
            </a:p>
          </p:txBody>
        </p:sp>
        <p:sp>
          <p:nvSpPr>
            <p:cNvPr id="35875" name="Line 37"/>
            <p:cNvSpPr>
              <a:spLocks noChangeShapeType="1"/>
            </p:cNvSpPr>
            <p:nvPr/>
          </p:nvSpPr>
          <p:spPr bwMode="auto">
            <a:xfrm flipV="1">
              <a:off x="1263" y="1591"/>
              <a:ext cx="14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76" name="Line 38"/>
            <p:cNvSpPr>
              <a:spLocks noChangeShapeType="1"/>
            </p:cNvSpPr>
            <p:nvPr/>
          </p:nvSpPr>
          <p:spPr bwMode="auto">
            <a:xfrm>
              <a:off x="1255" y="1093"/>
              <a:ext cx="1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5877" name="Group 35"/>
            <p:cNvGrpSpPr>
              <a:grpSpLocks/>
            </p:cNvGrpSpPr>
            <p:nvPr/>
          </p:nvGrpSpPr>
          <p:grpSpPr bwMode="auto">
            <a:xfrm>
              <a:off x="1099" y="1198"/>
              <a:ext cx="276" cy="276"/>
              <a:chOff x="1119" y="1204"/>
              <a:chExt cx="276" cy="276"/>
            </a:xfrm>
          </p:grpSpPr>
          <p:sp>
            <p:nvSpPr>
              <p:cNvPr id="35881" name="Oval 29"/>
              <p:cNvSpPr>
                <a:spLocks noChangeArrowheads="1"/>
              </p:cNvSpPr>
              <p:nvPr/>
            </p:nvSpPr>
            <p:spPr bwMode="auto">
              <a:xfrm>
                <a:off x="1119" y="1204"/>
                <a:ext cx="276" cy="276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2" name="Freeform 31"/>
              <p:cNvSpPr>
                <a:spLocks/>
              </p:cNvSpPr>
              <p:nvPr/>
            </p:nvSpPr>
            <p:spPr bwMode="auto">
              <a:xfrm>
                <a:off x="1177" y="1251"/>
                <a:ext cx="179" cy="169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5878" name="Line 39"/>
            <p:cNvSpPr>
              <a:spLocks noChangeShapeType="1"/>
            </p:cNvSpPr>
            <p:nvPr/>
          </p:nvSpPr>
          <p:spPr bwMode="auto">
            <a:xfrm flipV="1">
              <a:off x="1270" y="1095"/>
              <a:ext cx="1468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79" name="Rectangle 42"/>
            <p:cNvSpPr>
              <a:spLocks noChangeArrowheads="1"/>
            </p:cNvSpPr>
            <p:nvPr/>
          </p:nvSpPr>
          <p:spPr bwMode="auto">
            <a:xfrm rot="5400000">
              <a:off x="1730" y="916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0" name="Rectangle 43"/>
            <p:cNvSpPr>
              <a:spLocks noChangeArrowheads="1"/>
            </p:cNvSpPr>
            <p:nvPr/>
          </p:nvSpPr>
          <p:spPr bwMode="auto">
            <a:xfrm>
              <a:off x="1643" y="1166"/>
              <a:ext cx="3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400"/>
                <a:t>Z</a:t>
              </a:r>
              <a:r>
                <a:rPr lang="en-GB" sz="1400" baseline="-25000"/>
                <a:t>out</a:t>
              </a:r>
              <a:endParaRPr lang="en-US" sz="1400" baseline="-25000"/>
            </a:p>
          </p:txBody>
        </p:sp>
      </p:grpSp>
      <p:sp>
        <p:nvSpPr>
          <p:cNvPr id="35845" name="Text Box 45"/>
          <p:cNvSpPr txBox="1">
            <a:spLocks noChangeArrowheads="1"/>
          </p:cNvSpPr>
          <p:nvPr/>
        </p:nvSpPr>
        <p:spPr bwMode="auto">
          <a:xfrm>
            <a:off x="430213" y="828675"/>
            <a:ext cx="59324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A voltage source (e.g. microphone) feeds into an amplifier</a:t>
            </a:r>
            <a:endParaRPr lang="en-US"/>
          </a:p>
        </p:txBody>
      </p:sp>
      <p:sp>
        <p:nvSpPr>
          <p:cNvPr id="35846" name="Text Box 46"/>
          <p:cNvSpPr txBox="1">
            <a:spLocks noChangeArrowheads="1"/>
          </p:cNvSpPr>
          <p:nvPr/>
        </p:nvSpPr>
        <p:spPr bwMode="auto">
          <a:xfrm>
            <a:off x="2049463" y="1350963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/>
              <a:t>Source</a:t>
            </a:r>
            <a:endParaRPr lang="en-US" sz="1400"/>
          </a:p>
        </p:txBody>
      </p:sp>
      <p:grpSp>
        <p:nvGrpSpPr>
          <p:cNvPr id="35847" name="Group 61"/>
          <p:cNvGrpSpPr>
            <a:grpSpLocks/>
          </p:cNvGrpSpPr>
          <p:nvPr/>
        </p:nvGrpSpPr>
        <p:grpSpPr bwMode="auto">
          <a:xfrm>
            <a:off x="1250950" y="3724275"/>
            <a:ext cx="2024063" cy="2182813"/>
            <a:chOff x="788" y="2402"/>
            <a:chExt cx="1275" cy="1375"/>
          </a:xfrm>
        </p:grpSpPr>
        <p:grpSp>
          <p:nvGrpSpPr>
            <p:cNvPr id="35850" name="Group 52"/>
            <p:cNvGrpSpPr>
              <a:grpSpLocks/>
            </p:cNvGrpSpPr>
            <p:nvPr/>
          </p:nvGrpSpPr>
          <p:grpSpPr bwMode="auto">
            <a:xfrm>
              <a:off x="1314" y="2402"/>
              <a:ext cx="136" cy="1361"/>
              <a:chOff x="2653" y="2296"/>
              <a:chExt cx="136" cy="1361"/>
            </a:xfrm>
          </p:grpSpPr>
          <p:sp>
            <p:nvSpPr>
              <p:cNvPr id="35856" name="Line 50"/>
              <p:cNvSpPr>
                <a:spLocks noChangeShapeType="1"/>
              </p:cNvSpPr>
              <p:nvPr/>
            </p:nvSpPr>
            <p:spPr bwMode="auto">
              <a:xfrm>
                <a:off x="2723" y="2296"/>
                <a:ext cx="0" cy="13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857" name="Rectangle 48"/>
              <p:cNvSpPr>
                <a:spLocks noChangeArrowheads="1"/>
              </p:cNvSpPr>
              <p:nvPr/>
            </p:nvSpPr>
            <p:spPr bwMode="auto">
              <a:xfrm rot="10800000">
                <a:off x="2653" y="2478"/>
                <a:ext cx="136" cy="36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58" name="Rectangle 49"/>
              <p:cNvSpPr>
                <a:spLocks noChangeArrowheads="1"/>
              </p:cNvSpPr>
              <p:nvPr/>
            </p:nvSpPr>
            <p:spPr bwMode="auto">
              <a:xfrm rot="10800000">
                <a:off x="2653" y="3057"/>
                <a:ext cx="136" cy="36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851" name="Line 53"/>
            <p:cNvSpPr>
              <a:spLocks noChangeShapeType="1"/>
            </p:cNvSpPr>
            <p:nvPr/>
          </p:nvSpPr>
          <p:spPr bwMode="auto">
            <a:xfrm>
              <a:off x="809" y="2416"/>
              <a:ext cx="5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52" name="Line 54"/>
            <p:cNvSpPr>
              <a:spLocks noChangeShapeType="1"/>
            </p:cNvSpPr>
            <p:nvPr/>
          </p:nvSpPr>
          <p:spPr bwMode="auto">
            <a:xfrm>
              <a:off x="788" y="3777"/>
              <a:ext cx="11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53" name="Line 55"/>
            <p:cNvSpPr>
              <a:spLocks noChangeShapeType="1"/>
            </p:cNvSpPr>
            <p:nvPr/>
          </p:nvSpPr>
          <p:spPr bwMode="auto">
            <a:xfrm>
              <a:off x="1382" y="3051"/>
              <a:ext cx="5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54" name="Rectangle 56"/>
            <p:cNvSpPr>
              <a:spLocks noChangeArrowheads="1"/>
            </p:cNvSpPr>
            <p:nvPr/>
          </p:nvSpPr>
          <p:spPr bwMode="auto">
            <a:xfrm>
              <a:off x="1455" y="2619"/>
              <a:ext cx="4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400"/>
                <a:t>Source</a:t>
              </a:r>
            </a:p>
            <a:p>
              <a:r>
                <a:rPr lang="en-GB" sz="1400"/>
                <a:t>Z</a:t>
              </a:r>
              <a:r>
                <a:rPr lang="en-GB" sz="1400" baseline="-25000"/>
                <a:t>out</a:t>
              </a:r>
              <a:endParaRPr lang="en-US" sz="1400" baseline="-25000"/>
            </a:p>
          </p:txBody>
        </p:sp>
        <p:sp>
          <p:nvSpPr>
            <p:cNvPr id="35855" name="Rectangle 57"/>
            <p:cNvSpPr>
              <a:spLocks noChangeArrowheads="1"/>
            </p:cNvSpPr>
            <p:nvPr/>
          </p:nvSpPr>
          <p:spPr bwMode="auto">
            <a:xfrm>
              <a:off x="1450" y="3169"/>
              <a:ext cx="613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400"/>
                <a:t>Amplifier</a:t>
              </a:r>
            </a:p>
            <a:p>
              <a:r>
                <a:rPr lang="en-GB" sz="1400"/>
                <a:t>Z</a:t>
              </a:r>
              <a:r>
                <a:rPr lang="en-GB" sz="1400" baseline="-25000"/>
                <a:t>in</a:t>
              </a:r>
              <a:endParaRPr lang="en-US" sz="1400" baseline="-25000"/>
            </a:p>
          </p:txBody>
        </p:sp>
      </p:grpSp>
      <p:sp>
        <p:nvSpPr>
          <p:cNvPr id="35848" name="Text Box 62"/>
          <p:cNvSpPr txBox="1">
            <a:spLocks noChangeArrowheads="1"/>
          </p:cNvSpPr>
          <p:nvPr/>
        </p:nvSpPr>
        <p:spPr bwMode="auto">
          <a:xfrm>
            <a:off x="3667125" y="3511550"/>
            <a:ext cx="5162550" cy="267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6213" indent="-17621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  <a:buFontTx/>
              <a:buChar char="•"/>
            </a:pPr>
            <a:r>
              <a:rPr lang="en-GB"/>
              <a:t>Here, to maximise power transfer, Z</a:t>
            </a:r>
            <a:r>
              <a:rPr lang="en-GB" baseline="-25000"/>
              <a:t>out </a:t>
            </a:r>
            <a:r>
              <a:rPr lang="en-GB"/>
              <a:t>should be as low as possible;</a:t>
            </a:r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/>
              <a:t>Z</a:t>
            </a:r>
            <a:r>
              <a:rPr lang="en-GB" baseline="-25000"/>
              <a:t>in</a:t>
            </a:r>
            <a:r>
              <a:rPr lang="en-GB"/>
              <a:t> should be high as possible</a:t>
            </a:r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/>
              <a:t>This means the amp input is (virtually) higher towards the top of the divider circuit, so more signal is delivered, rather than being lost in Z</a:t>
            </a:r>
            <a:r>
              <a:rPr lang="en-GB" baseline="-25000"/>
              <a:t>out</a:t>
            </a:r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/>
              <a:t>If Z</a:t>
            </a:r>
            <a:r>
              <a:rPr lang="en-GB" baseline="-25000"/>
              <a:t>in</a:t>
            </a:r>
            <a:r>
              <a:rPr lang="en-GB"/>
              <a:t> is very low, it is virtually a short circuit, and the signal would be shunted down to earth (or 0V)</a:t>
            </a:r>
            <a:endParaRPr lang="en-GB" baseline="-25000"/>
          </a:p>
          <a:p>
            <a:endParaRPr lang="en-US" baseline="-25000"/>
          </a:p>
        </p:txBody>
      </p:sp>
      <p:sp>
        <p:nvSpPr>
          <p:cNvPr id="35849" name="Text Box 63"/>
          <p:cNvSpPr txBox="1">
            <a:spLocks noChangeArrowheads="1"/>
          </p:cNvSpPr>
          <p:nvPr/>
        </p:nvSpPr>
        <p:spPr bwMode="auto">
          <a:xfrm>
            <a:off x="430213" y="6119813"/>
            <a:ext cx="7832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However, must also consider the connecting cable, especially long mic cables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681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68.media.tumblr.com/3a08f3947b016dbac889a97c1eae06c7/tumblr_noe42t9Xdv1uvcudho1_128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8003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332163" y="2874963"/>
            <a:ext cx="217399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INDUCTANCE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211092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4284" y="920237"/>
            <a:ext cx="4289716" cy="4289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395288" y="333375"/>
            <a:ext cx="396935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</a:pPr>
            <a:r>
              <a:rPr lang="en-GB" sz="2400" i="1" dirty="0"/>
              <a:t>(Not Capacitors …)</a:t>
            </a:r>
          </a:p>
          <a:p>
            <a:pPr algn="l">
              <a:spcBef>
                <a:spcPct val="0"/>
              </a:spcBef>
              <a:buClrTx/>
            </a:pPr>
            <a:r>
              <a:rPr lang="en-GB" sz="2400" b="1" dirty="0"/>
              <a:t>Inductors and Inductance</a:t>
            </a:r>
            <a:endParaRPr lang="en-US" sz="2400" b="1" dirty="0"/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395288" y="1539784"/>
            <a:ext cx="8504163" cy="27654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Filters: Crossover networks – Bass, Treble</a:t>
            </a: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Timing</a:t>
            </a: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Mains interference suppression</a:t>
            </a: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Radio Frequency / station tuning</a:t>
            </a: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endParaRPr lang="en-GB" kern="0" dirty="0">
              <a:solidFill>
                <a:srgbClr val="000000"/>
              </a:solidFill>
              <a:latin typeface="+mn-lt"/>
            </a:endParaRP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endParaRPr lang="en-GB" kern="0" dirty="0">
              <a:solidFill>
                <a:srgbClr val="000000"/>
              </a:solidFill>
              <a:latin typeface="+mn-lt"/>
            </a:endParaRP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endParaRPr lang="en-GB" kern="0" dirty="0">
              <a:solidFill>
                <a:srgbClr val="000000"/>
              </a:solidFill>
              <a:latin typeface="+mn-lt"/>
            </a:endParaRP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endParaRPr lang="en-GB" kern="0" dirty="0">
              <a:solidFill>
                <a:srgbClr val="000000"/>
              </a:solidFill>
              <a:latin typeface="+mn-lt"/>
            </a:endParaRP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endParaRPr lang="en-GB" kern="0" dirty="0">
              <a:solidFill>
                <a:srgbClr val="000000"/>
              </a:solidFill>
              <a:latin typeface="+mn-lt"/>
            </a:endParaRP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endParaRPr lang="en-GB" kern="0" dirty="0">
              <a:solidFill>
                <a:srgbClr val="000000"/>
              </a:solidFill>
              <a:latin typeface="+mn-lt"/>
            </a:endParaRP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Inductance is denoted by “L”</a:t>
            </a: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  <a:tabLst/>
              <a:defRPr/>
            </a:pPr>
            <a:r>
              <a:rPr lang="en-GB" kern="0" dirty="0">
                <a:solidFill>
                  <a:srgbClr val="000000"/>
                </a:solidFill>
                <a:latin typeface="+mn-lt"/>
              </a:rPr>
              <a:t>Inductive Reactance is X</a:t>
            </a:r>
            <a:r>
              <a:rPr lang="en-GB" kern="0" baseline="-25000" dirty="0">
                <a:solidFill>
                  <a:srgbClr val="000000"/>
                </a:solidFill>
                <a:latin typeface="+mn-lt"/>
              </a:rPr>
              <a:t>L   </a:t>
            </a:r>
            <a:r>
              <a:rPr lang="en-GB" kern="0" dirty="0">
                <a:solidFill>
                  <a:srgbClr val="000000"/>
                </a:solidFill>
                <a:latin typeface="+mn-lt"/>
              </a:rPr>
              <a:t>(</a:t>
            </a:r>
            <a:r>
              <a:rPr lang="en-GB" i="1" kern="0" dirty="0">
                <a:solidFill>
                  <a:srgbClr val="000000"/>
                </a:solidFill>
                <a:latin typeface="+mn-lt"/>
              </a:rPr>
              <a:t>c.f.</a:t>
            </a:r>
            <a:r>
              <a:rPr lang="en-GB" kern="0" dirty="0">
                <a:solidFill>
                  <a:srgbClr val="000000"/>
                </a:solidFill>
                <a:latin typeface="+mn-lt"/>
              </a:rPr>
              <a:t> Capacitive Reactance = X</a:t>
            </a:r>
            <a:r>
              <a:rPr lang="en-GB" kern="0" baseline="-25000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GB" kern="0" dirty="0">
                <a:solidFill>
                  <a:srgbClr val="000000"/>
                </a:solidFill>
                <a:latin typeface="+mn-lt"/>
              </a:rPr>
              <a:t>) </a:t>
            </a: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603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Line 14"/>
          <p:cNvSpPr>
            <a:spLocks noChangeShapeType="1"/>
          </p:cNvSpPr>
          <p:nvPr/>
        </p:nvSpPr>
        <p:spPr bwMode="auto">
          <a:xfrm>
            <a:off x="1080982" y="5054445"/>
            <a:ext cx="227929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9" name="Line 15"/>
          <p:cNvSpPr>
            <a:spLocks noChangeShapeType="1"/>
          </p:cNvSpPr>
          <p:nvPr/>
        </p:nvSpPr>
        <p:spPr bwMode="auto">
          <a:xfrm flipV="1">
            <a:off x="1188915" y="3481950"/>
            <a:ext cx="0" cy="162967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0" name="Line 16"/>
          <p:cNvSpPr>
            <a:spLocks noChangeShapeType="1"/>
          </p:cNvSpPr>
          <p:nvPr/>
        </p:nvSpPr>
        <p:spPr bwMode="auto">
          <a:xfrm flipV="1">
            <a:off x="1224566" y="3436375"/>
            <a:ext cx="2064324" cy="161864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2567182" y="4923140"/>
            <a:ext cx="1245994" cy="47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  <a:buClrTx/>
            </a:pPr>
            <a:endParaRPr lang="en-GB" sz="1000" i="1">
              <a:solidFill>
                <a:schemeClr val="tx1"/>
              </a:solidFill>
              <a:cs typeface="Times New Roman" pitchFamily="18" charset="0"/>
            </a:endParaRPr>
          </a:p>
          <a:p>
            <a:pPr eaLnBrk="0" hangingPunct="0">
              <a:spcBef>
                <a:spcPct val="0"/>
              </a:spcBef>
              <a:buClrTx/>
            </a:pPr>
            <a:r>
              <a:rPr lang="en-GB" sz="1400" i="1">
                <a:cs typeface="Times New Roman" pitchFamily="18" charset="0"/>
              </a:rPr>
              <a:t>f </a:t>
            </a:r>
            <a:r>
              <a:rPr lang="en-GB" sz="1400">
                <a:cs typeface="Times New Roman" pitchFamily="18" charset="0"/>
              </a:rPr>
              <a:t>(Hz)</a:t>
            </a:r>
            <a:endParaRPr lang="en-GB" sz="1400"/>
          </a:p>
        </p:txBody>
      </p:sp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395288" y="3540721"/>
            <a:ext cx="1079333" cy="398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  <a:buClrTx/>
            </a:pPr>
            <a:r>
              <a:rPr lang="en-GB" sz="1400" dirty="0">
                <a:cs typeface="Times New Roman" pitchFamily="18" charset="0"/>
              </a:rPr>
              <a:t>X</a:t>
            </a:r>
            <a:r>
              <a:rPr lang="en-GB" sz="1400" baseline="-30000" dirty="0">
                <a:cs typeface="Times New Roman" pitchFamily="18" charset="0"/>
              </a:rPr>
              <a:t>L</a:t>
            </a:r>
            <a:r>
              <a:rPr lang="en-GB" sz="1400" dirty="0">
                <a:cs typeface="Times New Roman" pitchFamily="18" charset="0"/>
              </a:rPr>
              <a:t> (</a:t>
            </a:r>
            <a:r>
              <a:rPr lang="en-GB" sz="1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GB" sz="1400" dirty="0">
                <a:cs typeface="Times New Roman" pitchFamily="18" charset="0"/>
              </a:rPr>
              <a:t>)</a:t>
            </a:r>
            <a:endParaRPr lang="en-GB" sz="1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324212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0"/>
          <p:cNvGrpSpPr>
            <a:grpSpLocks/>
          </p:cNvGrpSpPr>
          <p:nvPr/>
        </p:nvGrpSpPr>
        <p:grpSpPr bwMode="auto">
          <a:xfrm>
            <a:off x="395288" y="938213"/>
            <a:ext cx="3182937" cy="2865437"/>
            <a:chOff x="385763" y="1776413"/>
            <a:chExt cx="3182937" cy="2865437"/>
          </a:xfrm>
        </p:grpSpPr>
        <p:sp>
          <p:nvSpPr>
            <p:cNvPr id="33834" name="Text Box 7"/>
            <p:cNvSpPr txBox="1">
              <a:spLocks noChangeArrowheads="1"/>
            </p:cNvSpPr>
            <p:nvPr/>
          </p:nvSpPr>
          <p:spPr bwMode="auto">
            <a:xfrm>
              <a:off x="1919289" y="2382839"/>
              <a:ext cx="404812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GB" sz="1400"/>
                <a:t>C</a:t>
              </a:r>
              <a:endParaRPr lang="en-GB" sz="2000"/>
            </a:p>
          </p:txBody>
        </p:sp>
        <p:sp>
          <p:nvSpPr>
            <p:cNvPr id="33835" name="Line 10"/>
            <p:cNvSpPr>
              <a:spLocks noChangeShapeType="1"/>
            </p:cNvSpPr>
            <p:nvPr/>
          </p:nvSpPr>
          <p:spPr bwMode="auto">
            <a:xfrm flipV="1">
              <a:off x="661988" y="2036763"/>
              <a:ext cx="0" cy="12160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36" name="Line 11"/>
            <p:cNvSpPr>
              <a:spLocks noChangeShapeType="1"/>
            </p:cNvSpPr>
            <p:nvPr/>
          </p:nvSpPr>
          <p:spPr bwMode="auto">
            <a:xfrm flipV="1">
              <a:off x="661988" y="2036763"/>
              <a:ext cx="13271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37" name="Line 13"/>
            <p:cNvSpPr>
              <a:spLocks noChangeShapeType="1"/>
            </p:cNvSpPr>
            <p:nvPr/>
          </p:nvSpPr>
          <p:spPr bwMode="auto">
            <a:xfrm>
              <a:off x="3435351" y="2028825"/>
              <a:ext cx="11112" cy="26098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38" name="Line 14"/>
            <p:cNvSpPr>
              <a:spLocks noChangeShapeType="1"/>
            </p:cNvSpPr>
            <p:nvPr/>
          </p:nvSpPr>
          <p:spPr bwMode="auto">
            <a:xfrm>
              <a:off x="679451" y="4641850"/>
              <a:ext cx="2765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39" name="Line 15"/>
            <p:cNvSpPr>
              <a:spLocks noChangeShapeType="1"/>
            </p:cNvSpPr>
            <p:nvPr/>
          </p:nvSpPr>
          <p:spPr bwMode="auto">
            <a:xfrm flipV="1">
              <a:off x="679451" y="3425825"/>
              <a:ext cx="0" cy="12160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40" name="Line 16"/>
            <p:cNvSpPr>
              <a:spLocks noChangeShapeType="1"/>
            </p:cNvSpPr>
            <p:nvPr/>
          </p:nvSpPr>
          <p:spPr bwMode="auto">
            <a:xfrm flipH="1">
              <a:off x="385763" y="3276600"/>
              <a:ext cx="608013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41" name="Line 17"/>
            <p:cNvSpPr>
              <a:spLocks noChangeShapeType="1"/>
            </p:cNvSpPr>
            <p:nvPr/>
          </p:nvSpPr>
          <p:spPr bwMode="auto">
            <a:xfrm flipV="1">
              <a:off x="534988" y="3405188"/>
              <a:ext cx="29527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3" name="Group 18"/>
            <p:cNvGrpSpPr>
              <a:grpSpLocks/>
            </p:cNvGrpSpPr>
            <p:nvPr/>
          </p:nvGrpSpPr>
          <p:grpSpPr bwMode="auto">
            <a:xfrm>
              <a:off x="1989138" y="1776413"/>
              <a:ext cx="147638" cy="542925"/>
              <a:chOff x="5580" y="11600"/>
              <a:chExt cx="160" cy="500"/>
            </a:xfrm>
          </p:grpSpPr>
          <p:sp>
            <p:nvSpPr>
              <p:cNvPr id="33846" name="Line 19"/>
              <p:cNvSpPr>
                <a:spLocks noChangeShapeType="1"/>
              </p:cNvSpPr>
              <p:nvPr/>
            </p:nvSpPr>
            <p:spPr bwMode="auto">
              <a:xfrm>
                <a:off x="5580" y="11600"/>
                <a:ext cx="0" cy="5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847" name="Line 20"/>
              <p:cNvSpPr>
                <a:spLocks noChangeShapeType="1"/>
              </p:cNvSpPr>
              <p:nvPr/>
            </p:nvSpPr>
            <p:spPr bwMode="auto">
              <a:xfrm>
                <a:off x="5740" y="11600"/>
                <a:ext cx="0" cy="5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3843" name="Line 21"/>
            <p:cNvSpPr>
              <a:spLocks noChangeShapeType="1"/>
            </p:cNvSpPr>
            <p:nvPr/>
          </p:nvSpPr>
          <p:spPr bwMode="auto">
            <a:xfrm flipV="1">
              <a:off x="2174876" y="2036763"/>
              <a:ext cx="127158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44" name="Rectangle 88"/>
            <p:cNvSpPr>
              <a:spLocks noChangeArrowheads="1"/>
            </p:cNvSpPr>
            <p:nvPr/>
          </p:nvSpPr>
          <p:spPr bwMode="auto">
            <a:xfrm>
              <a:off x="3340100" y="2933700"/>
              <a:ext cx="228600" cy="74930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45" name="Text Box 7"/>
            <p:cNvSpPr txBox="1">
              <a:spLocks noChangeArrowheads="1"/>
            </p:cNvSpPr>
            <p:nvPr/>
          </p:nvSpPr>
          <p:spPr bwMode="auto">
            <a:xfrm>
              <a:off x="3049589" y="3144839"/>
              <a:ext cx="404812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GB" sz="1400"/>
                <a:t>R</a:t>
              </a:r>
              <a:endParaRPr lang="en-GB" sz="2000"/>
            </a:p>
          </p:txBody>
        </p:sp>
      </p:grpSp>
      <p:cxnSp>
        <p:nvCxnSpPr>
          <p:cNvPr id="33795" name="Straight Connector 92"/>
          <p:cNvCxnSpPr>
            <a:cxnSpLocks noChangeShapeType="1"/>
          </p:cNvCxnSpPr>
          <p:nvPr/>
        </p:nvCxnSpPr>
        <p:spPr bwMode="auto">
          <a:xfrm rot="5400000">
            <a:off x="58738" y="5138738"/>
            <a:ext cx="18542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796" name="Straight Connector 94"/>
          <p:cNvCxnSpPr>
            <a:cxnSpLocks noChangeShapeType="1"/>
          </p:cNvCxnSpPr>
          <p:nvPr/>
        </p:nvCxnSpPr>
        <p:spPr bwMode="auto">
          <a:xfrm>
            <a:off x="896938" y="5862638"/>
            <a:ext cx="217328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3797" name="Freeform 95"/>
          <p:cNvSpPr>
            <a:spLocks/>
          </p:cNvSpPr>
          <p:nvPr/>
        </p:nvSpPr>
        <p:spPr bwMode="auto">
          <a:xfrm>
            <a:off x="998538" y="4214813"/>
            <a:ext cx="2057400" cy="1647825"/>
          </a:xfrm>
          <a:custGeom>
            <a:avLst/>
            <a:gdLst>
              <a:gd name="T0" fmla="*/ 0 w 2825750"/>
              <a:gd name="T1" fmla="*/ 1648884 h 1646767"/>
              <a:gd name="T2" fmla="*/ 24510 w 2825750"/>
              <a:gd name="T3" fmla="*/ 1178380 h 1646767"/>
              <a:gd name="T4" fmla="*/ 127448 w 2825750"/>
              <a:gd name="T5" fmla="*/ 593429 h 1646767"/>
              <a:gd name="T6" fmla="*/ 348031 w 2825750"/>
              <a:gd name="T7" fmla="*/ 224655 h 1646767"/>
              <a:gd name="T8" fmla="*/ 686257 w 2825750"/>
              <a:gd name="T9" fmla="*/ 84775 h 1646767"/>
              <a:gd name="T10" fmla="*/ 1024484 w 2825750"/>
              <a:gd name="T11" fmla="*/ 8477 h 1646767"/>
              <a:gd name="T12" fmla="*/ 1083305 w 2825750"/>
              <a:gd name="T13" fmla="*/ 33911 h 16467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25750"/>
              <a:gd name="T22" fmla="*/ 0 h 1646767"/>
              <a:gd name="T23" fmla="*/ 2825750 w 2825750"/>
              <a:gd name="T24" fmla="*/ 1646767 h 164676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25750" h="1646767">
                <a:moveTo>
                  <a:pt x="0" y="1646767"/>
                </a:moveTo>
                <a:cubicBezTo>
                  <a:pt x="4233" y="1499658"/>
                  <a:pt x="8467" y="1352550"/>
                  <a:pt x="63500" y="1176867"/>
                </a:cubicBezTo>
                <a:cubicBezTo>
                  <a:pt x="118533" y="1001184"/>
                  <a:pt x="190500" y="751417"/>
                  <a:pt x="330200" y="592667"/>
                </a:cubicBezTo>
                <a:cubicBezTo>
                  <a:pt x="469900" y="433917"/>
                  <a:pt x="660400" y="309034"/>
                  <a:pt x="901700" y="224367"/>
                </a:cubicBezTo>
                <a:cubicBezTo>
                  <a:pt x="1143000" y="139700"/>
                  <a:pt x="1485900" y="120650"/>
                  <a:pt x="1778000" y="84667"/>
                </a:cubicBezTo>
                <a:cubicBezTo>
                  <a:pt x="2070100" y="48684"/>
                  <a:pt x="2482850" y="16934"/>
                  <a:pt x="2654300" y="8467"/>
                </a:cubicBezTo>
                <a:cubicBezTo>
                  <a:pt x="2825750" y="0"/>
                  <a:pt x="2816225" y="16933"/>
                  <a:pt x="2806700" y="33867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97" name="Freeform 96"/>
          <p:cNvSpPr/>
          <p:nvPr/>
        </p:nvSpPr>
        <p:spPr bwMode="auto">
          <a:xfrm flipV="1">
            <a:off x="1011238" y="4202113"/>
            <a:ext cx="2057400" cy="1647825"/>
          </a:xfrm>
          <a:custGeom>
            <a:avLst/>
            <a:gdLst>
              <a:gd name="connsiteX0" fmla="*/ 0 w 2825750"/>
              <a:gd name="connsiteY0" fmla="*/ 1646767 h 1646767"/>
              <a:gd name="connsiteX1" fmla="*/ 63500 w 2825750"/>
              <a:gd name="connsiteY1" fmla="*/ 1176867 h 1646767"/>
              <a:gd name="connsiteX2" fmla="*/ 330200 w 2825750"/>
              <a:gd name="connsiteY2" fmla="*/ 592667 h 1646767"/>
              <a:gd name="connsiteX3" fmla="*/ 901700 w 2825750"/>
              <a:gd name="connsiteY3" fmla="*/ 224367 h 1646767"/>
              <a:gd name="connsiteX4" fmla="*/ 1778000 w 2825750"/>
              <a:gd name="connsiteY4" fmla="*/ 84667 h 1646767"/>
              <a:gd name="connsiteX5" fmla="*/ 2654300 w 2825750"/>
              <a:gd name="connsiteY5" fmla="*/ 8467 h 1646767"/>
              <a:gd name="connsiteX6" fmla="*/ 2806700 w 2825750"/>
              <a:gd name="connsiteY6" fmla="*/ 33867 h 1646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5750" h="1646767">
                <a:moveTo>
                  <a:pt x="0" y="1646767"/>
                </a:moveTo>
                <a:cubicBezTo>
                  <a:pt x="4233" y="1499658"/>
                  <a:pt x="8467" y="1352550"/>
                  <a:pt x="63500" y="1176867"/>
                </a:cubicBezTo>
                <a:cubicBezTo>
                  <a:pt x="118533" y="1001184"/>
                  <a:pt x="190500" y="751417"/>
                  <a:pt x="330200" y="592667"/>
                </a:cubicBezTo>
                <a:cubicBezTo>
                  <a:pt x="469900" y="433917"/>
                  <a:pt x="660400" y="309034"/>
                  <a:pt x="901700" y="224367"/>
                </a:cubicBezTo>
                <a:cubicBezTo>
                  <a:pt x="1143000" y="139700"/>
                  <a:pt x="1485900" y="120650"/>
                  <a:pt x="1778000" y="84667"/>
                </a:cubicBezTo>
                <a:cubicBezTo>
                  <a:pt x="2070100" y="48684"/>
                  <a:pt x="2482850" y="16934"/>
                  <a:pt x="2654300" y="8467"/>
                </a:cubicBezTo>
                <a:cubicBezTo>
                  <a:pt x="2825750" y="0"/>
                  <a:pt x="2816225" y="16933"/>
                  <a:pt x="2806700" y="33867"/>
                </a:cubicBezTo>
              </a:path>
            </a:pathLst>
          </a:custGeom>
          <a:noFill/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 sz="1600"/>
          </a:p>
        </p:txBody>
      </p:sp>
      <p:sp>
        <p:nvSpPr>
          <p:cNvPr id="33799" name="TextBox 100"/>
          <p:cNvSpPr txBox="1">
            <a:spLocks noChangeArrowheads="1"/>
          </p:cNvSpPr>
          <p:nvPr/>
        </p:nvSpPr>
        <p:spPr bwMode="auto">
          <a:xfrm>
            <a:off x="2611438" y="4300538"/>
            <a:ext cx="1930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Voltage rises to maximum</a:t>
            </a:r>
          </a:p>
        </p:txBody>
      </p:sp>
      <p:sp>
        <p:nvSpPr>
          <p:cNvPr id="33800" name="TextBox 101"/>
          <p:cNvSpPr txBox="1">
            <a:spLocks noChangeArrowheads="1"/>
          </p:cNvSpPr>
          <p:nvPr/>
        </p:nvSpPr>
        <p:spPr bwMode="auto">
          <a:xfrm>
            <a:off x="2573338" y="5151438"/>
            <a:ext cx="1930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Current falls to zero</a:t>
            </a:r>
          </a:p>
        </p:txBody>
      </p:sp>
      <p:grpSp>
        <p:nvGrpSpPr>
          <p:cNvPr id="4" name="Group 102"/>
          <p:cNvGrpSpPr>
            <a:grpSpLocks/>
          </p:cNvGrpSpPr>
          <p:nvPr/>
        </p:nvGrpSpPr>
        <p:grpSpPr bwMode="auto">
          <a:xfrm>
            <a:off x="5208588" y="1266825"/>
            <a:ext cx="3182937" cy="2613025"/>
            <a:chOff x="385763" y="2028825"/>
            <a:chExt cx="3182937" cy="2613025"/>
          </a:xfrm>
        </p:grpSpPr>
        <p:sp>
          <p:nvSpPr>
            <p:cNvPr id="33823" name="Text Box 7"/>
            <p:cNvSpPr txBox="1">
              <a:spLocks noChangeArrowheads="1"/>
            </p:cNvSpPr>
            <p:nvPr/>
          </p:nvSpPr>
          <p:spPr bwMode="auto">
            <a:xfrm>
              <a:off x="1906589" y="2217739"/>
              <a:ext cx="404812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GB" sz="1200"/>
                <a:t>L</a:t>
              </a:r>
              <a:endParaRPr lang="en-GB"/>
            </a:p>
          </p:txBody>
        </p:sp>
        <p:sp>
          <p:nvSpPr>
            <p:cNvPr id="33824" name="Line 10"/>
            <p:cNvSpPr>
              <a:spLocks noChangeShapeType="1"/>
            </p:cNvSpPr>
            <p:nvPr/>
          </p:nvSpPr>
          <p:spPr bwMode="auto">
            <a:xfrm flipV="1">
              <a:off x="661988" y="2036763"/>
              <a:ext cx="0" cy="12160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25" name="Line 11"/>
            <p:cNvSpPr>
              <a:spLocks noChangeShapeType="1"/>
            </p:cNvSpPr>
            <p:nvPr/>
          </p:nvSpPr>
          <p:spPr bwMode="auto">
            <a:xfrm flipV="1">
              <a:off x="661988" y="2036763"/>
              <a:ext cx="13271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26" name="Line 13"/>
            <p:cNvSpPr>
              <a:spLocks noChangeShapeType="1"/>
            </p:cNvSpPr>
            <p:nvPr/>
          </p:nvSpPr>
          <p:spPr bwMode="auto">
            <a:xfrm>
              <a:off x="3435351" y="2028825"/>
              <a:ext cx="11112" cy="26098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27" name="Line 14"/>
            <p:cNvSpPr>
              <a:spLocks noChangeShapeType="1"/>
            </p:cNvSpPr>
            <p:nvPr/>
          </p:nvSpPr>
          <p:spPr bwMode="auto">
            <a:xfrm>
              <a:off x="679451" y="4641850"/>
              <a:ext cx="2765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28" name="Line 15"/>
            <p:cNvSpPr>
              <a:spLocks noChangeShapeType="1"/>
            </p:cNvSpPr>
            <p:nvPr/>
          </p:nvSpPr>
          <p:spPr bwMode="auto">
            <a:xfrm flipV="1">
              <a:off x="679451" y="3425825"/>
              <a:ext cx="0" cy="12160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29" name="Line 16"/>
            <p:cNvSpPr>
              <a:spLocks noChangeShapeType="1"/>
            </p:cNvSpPr>
            <p:nvPr/>
          </p:nvSpPr>
          <p:spPr bwMode="auto">
            <a:xfrm flipH="1">
              <a:off x="385763" y="3276600"/>
              <a:ext cx="608013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30" name="Line 17"/>
            <p:cNvSpPr>
              <a:spLocks noChangeShapeType="1"/>
            </p:cNvSpPr>
            <p:nvPr/>
          </p:nvSpPr>
          <p:spPr bwMode="auto">
            <a:xfrm flipV="1">
              <a:off x="534988" y="3405188"/>
              <a:ext cx="29527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31" name="Line 21"/>
            <p:cNvSpPr>
              <a:spLocks noChangeShapeType="1"/>
            </p:cNvSpPr>
            <p:nvPr/>
          </p:nvSpPr>
          <p:spPr bwMode="auto">
            <a:xfrm flipV="1">
              <a:off x="2174876" y="2036763"/>
              <a:ext cx="127158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32" name="Rectangle 113"/>
            <p:cNvSpPr>
              <a:spLocks noChangeArrowheads="1"/>
            </p:cNvSpPr>
            <p:nvPr/>
          </p:nvSpPr>
          <p:spPr bwMode="auto">
            <a:xfrm>
              <a:off x="3340100" y="2933700"/>
              <a:ext cx="228600" cy="74930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833" name="Text Box 7"/>
            <p:cNvSpPr txBox="1">
              <a:spLocks noChangeArrowheads="1"/>
            </p:cNvSpPr>
            <p:nvPr/>
          </p:nvSpPr>
          <p:spPr bwMode="auto">
            <a:xfrm>
              <a:off x="3049589" y="3144839"/>
              <a:ext cx="404812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GB" sz="1200"/>
                <a:t>R</a:t>
              </a:r>
              <a:endParaRPr lang="en-GB"/>
            </a:p>
          </p:txBody>
        </p:sp>
      </p:grpSp>
      <p:pic>
        <p:nvPicPr>
          <p:cNvPr id="33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00775" y="1136650"/>
            <a:ext cx="1292225" cy="269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33803" name="Straight Connector 133"/>
          <p:cNvCxnSpPr>
            <a:cxnSpLocks noChangeShapeType="1"/>
          </p:cNvCxnSpPr>
          <p:nvPr/>
        </p:nvCxnSpPr>
        <p:spPr bwMode="auto">
          <a:xfrm rot="5400000">
            <a:off x="4660900" y="5168900"/>
            <a:ext cx="18542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04" name="Straight Connector 134"/>
          <p:cNvCxnSpPr>
            <a:cxnSpLocks noChangeShapeType="1"/>
          </p:cNvCxnSpPr>
          <p:nvPr/>
        </p:nvCxnSpPr>
        <p:spPr bwMode="auto">
          <a:xfrm>
            <a:off x="5499100" y="5892800"/>
            <a:ext cx="217328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6" name="Freeform 135"/>
          <p:cNvSpPr/>
          <p:nvPr/>
        </p:nvSpPr>
        <p:spPr bwMode="auto">
          <a:xfrm>
            <a:off x="5600700" y="4246563"/>
            <a:ext cx="2057400" cy="1646237"/>
          </a:xfrm>
          <a:custGeom>
            <a:avLst/>
            <a:gdLst>
              <a:gd name="connsiteX0" fmla="*/ 0 w 2825750"/>
              <a:gd name="connsiteY0" fmla="*/ 1646767 h 1646767"/>
              <a:gd name="connsiteX1" fmla="*/ 63500 w 2825750"/>
              <a:gd name="connsiteY1" fmla="*/ 1176867 h 1646767"/>
              <a:gd name="connsiteX2" fmla="*/ 330200 w 2825750"/>
              <a:gd name="connsiteY2" fmla="*/ 592667 h 1646767"/>
              <a:gd name="connsiteX3" fmla="*/ 901700 w 2825750"/>
              <a:gd name="connsiteY3" fmla="*/ 224367 h 1646767"/>
              <a:gd name="connsiteX4" fmla="*/ 1778000 w 2825750"/>
              <a:gd name="connsiteY4" fmla="*/ 84667 h 1646767"/>
              <a:gd name="connsiteX5" fmla="*/ 2654300 w 2825750"/>
              <a:gd name="connsiteY5" fmla="*/ 8467 h 1646767"/>
              <a:gd name="connsiteX6" fmla="*/ 2806700 w 2825750"/>
              <a:gd name="connsiteY6" fmla="*/ 33867 h 1646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5750" h="1646767">
                <a:moveTo>
                  <a:pt x="0" y="1646767"/>
                </a:moveTo>
                <a:cubicBezTo>
                  <a:pt x="4233" y="1499658"/>
                  <a:pt x="8467" y="1352550"/>
                  <a:pt x="63500" y="1176867"/>
                </a:cubicBezTo>
                <a:cubicBezTo>
                  <a:pt x="118533" y="1001184"/>
                  <a:pt x="190500" y="751417"/>
                  <a:pt x="330200" y="592667"/>
                </a:cubicBezTo>
                <a:cubicBezTo>
                  <a:pt x="469900" y="433917"/>
                  <a:pt x="660400" y="309034"/>
                  <a:pt x="901700" y="224367"/>
                </a:cubicBezTo>
                <a:cubicBezTo>
                  <a:pt x="1143000" y="139700"/>
                  <a:pt x="1485900" y="120650"/>
                  <a:pt x="1778000" y="84667"/>
                </a:cubicBezTo>
                <a:cubicBezTo>
                  <a:pt x="2070100" y="48684"/>
                  <a:pt x="2482850" y="16934"/>
                  <a:pt x="2654300" y="8467"/>
                </a:cubicBezTo>
                <a:cubicBezTo>
                  <a:pt x="2825750" y="0"/>
                  <a:pt x="2816225" y="16933"/>
                  <a:pt x="2806700" y="33867"/>
                </a:cubicBezTo>
              </a:path>
            </a:pathLst>
          </a:custGeom>
          <a:noFill/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 sz="1600"/>
          </a:p>
        </p:txBody>
      </p:sp>
      <p:sp>
        <p:nvSpPr>
          <p:cNvPr id="33806" name="Freeform 136"/>
          <p:cNvSpPr>
            <a:spLocks/>
          </p:cNvSpPr>
          <p:nvPr/>
        </p:nvSpPr>
        <p:spPr bwMode="auto">
          <a:xfrm flipV="1">
            <a:off x="5613400" y="4233863"/>
            <a:ext cx="2057400" cy="1646237"/>
          </a:xfrm>
          <a:custGeom>
            <a:avLst/>
            <a:gdLst>
              <a:gd name="T0" fmla="*/ 0 w 2825750"/>
              <a:gd name="T1" fmla="*/ 1645707 h 1646767"/>
              <a:gd name="T2" fmla="*/ 24510 w 2825750"/>
              <a:gd name="T3" fmla="*/ 1176109 h 1646767"/>
              <a:gd name="T4" fmla="*/ 127448 w 2825750"/>
              <a:gd name="T5" fmla="*/ 592285 h 1646767"/>
              <a:gd name="T6" fmla="*/ 348031 w 2825750"/>
              <a:gd name="T7" fmla="*/ 224223 h 1646767"/>
              <a:gd name="T8" fmla="*/ 686257 w 2825750"/>
              <a:gd name="T9" fmla="*/ 84613 h 1646767"/>
              <a:gd name="T10" fmla="*/ 1024484 w 2825750"/>
              <a:gd name="T11" fmla="*/ 8461 h 1646767"/>
              <a:gd name="T12" fmla="*/ 1083305 w 2825750"/>
              <a:gd name="T13" fmla="*/ 33845 h 16467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25750"/>
              <a:gd name="T22" fmla="*/ 0 h 1646767"/>
              <a:gd name="T23" fmla="*/ 2825750 w 2825750"/>
              <a:gd name="T24" fmla="*/ 1646767 h 164676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25750" h="1646767">
                <a:moveTo>
                  <a:pt x="0" y="1646767"/>
                </a:moveTo>
                <a:cubicBezTo>
                  <a:pt x="4233" y="1499658"/>
                  <a:pt x="8467" y="1352550"/>
                  <a:pt x="63500" y="1176867"/>
                </a:cubicBezTo>
                <a:cubicBezTo>
                  <a:pt x="118533" y="1001184"/>
                  <a:pt x="190500" y="751417"/>
                  <a:pt x="330200" y="592667"/>
                </a:cubicBezTo>
                <a:cubicBezTo>
                  <a:pt x="469900" y="433917"/>
                  <a:pt x="660400" y="309034"/>
                  <a:pt x="901700" y="224367"/>
                </a:cubicBezTo>
                <a:cubicBezTo>
                  <a:pt x="1143000" y="139700"/>
                  <a:pt x="1485900" y="120650"/>
                  <a:pt x="1778000" y="84667"/>
                </a:cubicBezTo>
                <a:cubicBezTo>
                  <a:pt x="2070100" y="48684"/>
                  <a:pt x="2482850" y="16934"/>
                  <a:pt x="2654300" y="8467"/>
                </a:cubicBezTo>
                <a:cubicBezTo>
                  <a:pt x="2825750" y="0"/>
                  <a:pt x="2816225" y="16933"/>
                  <a:pt x="2806700" y="33867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33807" name="TextBox 137"/>
          <p:cNvSpPr txBox="1">
            <a:spLocks noChangeArrowheads="1"/>
          </p:cNvSpPr>
          <p:nvPr/>
        </p:nvSpPr>
        <p:spPr bwMode="auto">
          <a:xfrm>
            <a:off x="7213600" y="4330700"/>
            <a:ext cx="1930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Current rises to maximum</a:t>
            </a:r>
          </a:p>
        </p:txBody>
      </p:sp>
      <p:sp>
        <p:nvSpPr>
          <p:cNvPr id="33808" name="TextBox 138"/>
          <p:cNvSpPr txBox="1">
            <a:spLocks noChangeArrowheads="1"/>
          </p:cNvSpPr>
          <p:nvPr/>
        </p:nvSpPr>
        <p:spPr bwMode="auto">
          <a:xfrm>
            <a:off x="7175500" y="5181600"/>
            <a:ext cx="1930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Voltage falls to zero</a:t>
            </a:r>
          </a:p>
        </p:txBody>
      </p:sp>
      <p:sp>
        <p:nvSpPr>
          <p:cNvPr id="33809" name="TextBox 139"/>
          <p:cNvSpPr txBox="1">
            <a:spLocks noChangeArrowheads="1"/>
          </p:cNvSpPr>
          <p:nvPr/>
        </p:nvSpPr>
        <p:spPr bwMode="auto">
          <a:xfrm>
            <a:off x="395288" y="331788"/>
            <a:ext cx="81216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Capacitor and Inductor – when </a:t>
            </a:r>
            <a:r>
              <a:rPr lang="en-GB" sz="2400" b="1" i="1"/>
              <a:t>DC  </a:t>
            </a:r>
            <a:r>
              <a:rPr lang="en-GB" sz="2400" b="1"/>
              <a:t>voltage is applied</a:t>
            </a:r>
          </a:p>
        </p:txBody>
      </p:sp>
      <p:grpSp>
        <p:nvGrpSpPr>
          <p:cNvPr id="5" name="Group 144"/>
          <p:cNvGrpSpPr>
            <a:grpSpLocks/>
          </p:cNvGrpSpPr>
          <p:nvPr/>
        </p:nvGrpSpPr>
        <p:grpSpPr bwMode="auto">
          <a:xfrm>
            <a:off x="2489200" y="5862638"/>
            <a:ext cx="528638" cy="338137"/>
            <a:chOff x="2651760" y="6309360"/>
            <a:chExt cx="528320" cy="338554"/>
          </a:xfrm>
        </p:grpSpPr>
        <p:sp>
          <p:nvSpPr>
            <p:cNvPr id="33821" name="TextBox 140"/>
            <p:cNvSpPr txBox="1">
              <a:spLocks noChangeArrowheads="1"/>
            </p:cNvSpPr>
            <p:nvPr/>
          </p:nvSpPr>
          <p:spPr bwMode="auto">
            <a:xfrm>
              <a:off x="2651760" y="6309360"/>
              <a:ext cx="26161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i="1"/>
                <a:t>t</a:t>
              </a:r>
            </a:p>
          </p:txBody>
        </p:sp>
        <p:cxnSp>
          <p:nvCxnSpPr>
            <p:cNvPr id="33822" name="Straight Arrow Connector 142"/>
            <p:cNvCxnSpPr>
              <a:cxnSpLocks noChangeShapeType="1"/>
              <a:stCxn id="33821" idx="3"/>
            </p:cNvCxnSpPr>
            <p:nvPr/>
          </p:nvCxnSpPr>
          <p:spPr bwMode="auto">
            <a:xfrm>
              <a:off x="2913370" y="6478637"/>
              <a:ext cx="266710" cy="344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grpSp>
        <p:nvGrpSpPr>
          <p:cNvPr id="6" name="Group 145"/>
          <p:cNvGrpSpPr>
            <a:grpSpLocks/>
          </p:cNvGrpSpPr>
          <p:nvPr/>
        </p:nvGrpSpPr>
        <p:grpSpPr bwMode="auto">
          <a:xfrm>
            <a:off x="7285038" y="5872163"/>
            <a:ext cx="528637" cy="338137"/>
            <a:chOff x="2651760" y="6309360"/>
            <a:chExt cx="528320" cy="338554"/>
          </a:xfrm>
        </p:grpSpPr>
        <p:sp>
          <p:nvSpPr>
            <p:cNvPr id="33819" name="TextBox 146"/>
            <p:cNvSpPr txBox="1">
              <a:spLocks noChangeArrowheads="1"/>
            </p:cNvSpPr>
            <p:nvPr/>
          </p:nvSpPr>
          <p:spPr bwMode="auto">
            <a:xfrm>
              <a:off x="2651760" y="6309360"/>
              <a:ext cx="26161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i="1"/>
                <a:t>t</a:t>
              </a:r>
            </a:p>
          </p:txBody>
        </p:sp>
        <p:cxnSp>
          <p:nvCxnSpPr>
            <p:cNvPr id="33820" name="Straight Arrow Connector 147"/>
            <p:cNvCxnSpPr>
              <a:cxnSpLocks noChangeShapeType="1"/>
              <a:stCxn id="33819" idx="3"/>
            </p:cNvCxnSpPr>
            <p:nvPr/>
          </p:nvCxnSpPr>
          <p:spPr bwMode="auto">
            <a:xfrm>
              <a:off x="2913370" y="6478637"/>
              <a:ext cx="266710" cy="344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grpSp>
        <p:nvGrpSpPr>
          <p:cNvPr id="7" name="Group 151"/>
          <p:cNvGrpSpPr>
            <a:grpSpLocks/>
          </p:cNvGrpSpPr>
          <p:nvPr/>
        </p:nvGrpSpPr>
        <p:grpSpPr bwMode="auto">
          <a:xfrm>
            <a:off x="5038725" y="4156075"/>
            <a:ext cx="482600" cy="447675"/>
            <a:chOff x="4511040" y="4298474"/>
            <a:chExt cx="481222" cy="447040"/>
          </a:xfrm>
        </p:grpSpPr>
        <p:sp>
          <p:nvSpPr>
            <p:cNvPr id="149" name="TextBox 148"/>
            <p:cNvSpPr txBox="1"/>
            <p:nvPr/>
          </p:nvSpPr>
          <p:spPr>
            <a:xfrm>
              <a:off x="4511040" y="4368225"/>
              <a:ext cx="481222" cy="3392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00" i="1" dirty="0">
                  <a:solidFill>
                    <a:srgbClr val="FF0066"/>
                  </a:solidFill>
                </a:rPr>
                <a:t>v</a:t>
              </a:r>
              <a:r>
                <a:rPr lang="en-GB" sz="1600" i="1" dirty="0"/>
                <a:t>, </a:t>
              </a:r>
              <a:r>
                <a:rPr lang="en-GB" sz="1600" i="1" dirty="0" err="1">
                  <a:solidFill>
                    <a:schemeClr val="accent1">
                      <a:lumMod val="75000"/>
                    </a:schemeClr>
                  </a:solidFill>
                </a:rPr>
                <a:t>i</a:t>
              </a:r>
              <a:endParaRPr lang="en-GB" sz="16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3818" name="Straight Arrow Connector 150"/>
            <p:cNvCxnSpPr>
              <a:cxnSpLocks noChangeShapeType="1"/>
            </p:cNvCxnSpPr>
            <p:nvPr/>
          </p:nvCxnSpPr>
          <p:spPr bwMode="auto">
            <a:xfrm rot="5400000" flipH="1" flipV="1">
              <a:off x="4765040" y="4521200"/>
              <a:ext cx="44704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grpSp>
        <p:nvGrpSpPr>
          <p:cNvPr id="8" name="Group 152"/>
          <p:cNvGrpSpPr>
            <a:grpSpLocks/>
          </p:cNvGrpSpPr>
          <p:nvPr/>
        </p:nvGrpSpPr>
        <p:grpSpPr bwMode="auto">
          <a:xfrm>
            <a:off x="395288" y="4125913"/>
            <a:ext cx="481012" cy="447675"/>
            <a:chOff x="4511040" y="4298474"/>
            <a:chExt cx="481222" cy="447040"/>
          </a:xfrm>
        </p:grpSpPr>
        <p:sp>
          <p:nvSpPr>
            <p:cNvPr id="154" name="TextBox 153"/>
            <p:cNvSpPr txBox="1"/>
            <p:nvPr/>
          </p:nvSpPr>
          <p:spPr>
            <a:xfrm>
              <a:off x="4511040" y="4368225"/>
              <a:ext cx="481222" cy="3392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00" i="1" dirty="0">
                  <a:solidFill>
                    <a:srgbClr val="FF0066"/>
                  </a:solidFill>
                </a:rPr>
                <a:t>v</a:t>
              </a:r>
              <a:r>
                <a:rPr lang="en-GB" sz="1600" i="1" dirty="0"/>
                <a:t>, </a:t>
              </a:r>
              <a:r>
                <a:rPr lang="en-GB" sz="1600" i="1" dirty="0" err="1">
                  <a:solidFill>
                    <a:schemeClr val="accent1">
                      <a:lumMod val="75000"/>
                    </a:schemeClr>
                  </a:solidFill>
                </a:rPr>
                <a:t>i</a:t>
              </a:r>
              <a:endParaRPr lang="en-GB" sz="16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3816" name="Straight Arrow Connector 154"/>
            <p:cNvCxnSpPr>
              <a:cxnSpLocks noChangeShapeType="1"/>
            </p:cNvCxnSpPr>
            <p:nvPr/>
          </p:nvCxnSpPr>
          <p:spPr bwMode="auto">
            <a:xfrm rot="5400000" flipH="1" flipV="1">
              <a:off x="4765040" y="4521200"/>
              <a:ext cx="44704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sp>
        <p:nvSpPr>
          <p:cNvPr id="33814" name="Rectangle 155"/>
          <p:cNvSpPr>
            <a:spLocks noChangeArrowheads="1"/>
          </p:cNvSpPr>
          <p:nvPr/>
        </p:nvSpPr>
        <p:spPr bwMode="auto">
          <a:xfrm>
            <a:off x="4281488" y="6337300"/>
            <a:ext cx="4862512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050" b="1"/>
              <a:t>for further detail – see http://www.opamp-electronics.com/tutorials</a:t>
            </a:r>
          </a:p>
        </p:txBody>
      </p:sp>
    </p:spTree>
    <p:extLst>
      <p:ext uri="{BB962C8B-B14F-4D97-AF65-F5344CB8AC3E}">
        <p14:creationId xmlns:p14="http://schemas.microsoft.com/office/powerpoint/2010/main" val="29759896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/>
          <p:cNvSpPr txBox="1">
            <a:spLocks noChangeArrowheads="1"/>
          </p:cNvSpPr>
          <p:nvPr/>
        </p:nvSpPr>
        <p:spPr bwMode="auto">
          <a:xfrm>
            <a:off x="3332163" y="2874963"/>
            <a:ext cx="1925637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IMPEDANCE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64482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179228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Impedance</a:t>
            </a:r>
            <a:endParaRPr lang="en-US" sz="2400" b="1"/>
          </a:p>
        </p:txBody>
      </p:sp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430213" y="3946525"/>
            <a:ext cx="8600431" cy="22929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76213" indent="-176213">
              <a:lnSpc>
                <a:spcPct val="110000"/>
              </a:lnSpc>
            </a:pPr>
            <a:r>
              <a:rPr lang="en-GB" sz="1600" dirty="0"/>
              <a:t>Impedance is resistance, but includes reactance (capacitive and inductive resistance)</a:t>
            </a:r>
          </a:p>
          <a:p>
            <a:pPr marL="176213" indent="-176213">
              <a:lnSpc>
                <a:spcPct val="110000"/>
              </a:lnSpc>
            </a:pPr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	∴ can vary with frequency (because X</a:t>
            </a:r>
            <a:r>
              <a:rPr lang="en-GB" sz="1600" baseline="-25000" dirty="0">
                <a:ea typeface="Lucida Sans Unicode" pitchFamily="34" charset="0"/>
                <a:cs typeface="Lucida Sans Unicode" pitchFamily="34" charset="0"/>
              </a:rPr>
              <a:t>C</a:t>
            </a:r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 and X</a:t>
            </a:r>
            <a:r>
              <a:rPr lang="en-GB" sz="1600" baseline="-25000" dirty="0">
                <a:ea typeface="Lucida Sans Unicode" pitchFamily="34" charset="0"/>
                <a:cs typeface="Lucida Sans Unicode" pitchFamily="34" charset="0"/>
              </a:rPr>
              <a:t>L</a:t>
            </a:r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 does)</a:t>
            </a:r>
          </a:p>
          <a:p>
            <a:pPr marL="176213" indent="-176213">
              <a:lnSpc>
                <a:spcPct val="110000"/>
              </a:lnSpc>
            </a:pPr>
            <a:endParaRPr lang="en-GB" sz="1600" dirty="0">
              <a:ea typeface="Lucida Sans Unicode" pitchFamily="34" charset="0"/>
              <a:cs typeface="Lucida Sans Unicode" pitchFamily="34" charset="0"/>
            </a:endParaRPr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GB" sz="1600" dirty="0"/>
              <a:t>an important consideration when coupling equipment together</a:t>
            </a:r>
          </a:p>
          <a:p>
            <a:pPr marL="176213" indent="-176213">
              <a:lnSpc>
                <a:spcPct val="110000"/>
              </a:lnSpc>
              <a:buFontTx/>
              <a:buChar char="•"/>
            </a:pPr>
            <a:endParaRPr lang="en-GB" sz="1600" dirty="0"/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GB" sz="1600" dirty="0"/>
              <a:t>impedance matching enables maximum power transfer between devices</a:t>
            </a:r>
          </a:p>
          <a:p>
            <a:pPr marL="176213" indent="-176213">
              <a:lnSpc>
                <a:spcPct val="110000"/>
              </a:lnSpc>
              <a:buFontTx/>
              <a:buChar char="•"/>
            </a:pPr>
            <a:endParaRPr lang="en-GB" sz="1600" dirty="0"/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GB" sz="1600" dirty="0"/>
              <a:t>denoted as Z, and expressed in ohms (</a:t>
            </a:r>
            <a:r>
              <a:rPr lang="el-GR" sz="1600" dirty="0">
                <a:ea typeface="Lucida Sans Unicode" pitchFamily="34" charset="0"/>
                <a:cs typeface="Lucida Sans Unicode" pitchFamily="34" charset="0"/>
              </a:rPr>
              <a:t>Ω</a:t>
            </a:r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)</a:t>
            </a:r>
            <a:endParaRPr lang="el-GR" sz="1600" dirty="0">
              <a:ea typeface="Lucida Sans Unicode" pitchFamily="34" charset="0"/>
              <a:cs typeface="Lucida Sans Unicode" pitchFamily="34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806700" y="1336675"/>
            <a:ext cx="3362325" cy="1368425"/>
            <a:chOff x="1709" y="1389"/>
            <a:chExt cx="2118" cy="862"/>
          </a:xfrm>
        </p:grpSpPr>
        <p:sp>
          <p:nvSpPr>
            <p:cNvPr id="28688" name="Rectangle 6"/>
            <p:cNvSpPr>
              <a:spLocks noChangeArrowheads="1"/>
            </p:cNvSpPr>
            <p:nvPr/>
          </p:nvSpPr>
          <p:spPr bwMode="auto">
            <a:xfrm>
              <a:off x="2018" y="1389"/>
              <a:ext cx="1452" cy="862"/>
            </a:xfrm>
            <a:prstGeom prst="rect">
              <a:avLst/>
            </a:prstGeom>
            <a:solidFill>
              <a:srgbClr val="FFCC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8689" name="Line 7"/>
            <p:cNvSpPr>
              <a:spLocks noChangeShapeType="1"/>
            </p:cNvSpPr>
            <p:nvPr/>
          </p:nvSpPr>
          <p:spPr bwMode="auto">
            <a:xfrm>
              <a:off x="1746" y="2115"/>
              <a:ext cx="2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690" name="Line 8"/>
            <p:cNvSpPr>
              <a:spLocks noChangeShapeType="1"/>
            </p:cNvSpPr>
            <p:nvPr/>
          </p:nvSpPr>
          <p:spPr bwMode="auto">
            <a:xfrm>
              <a:off x="1746" y="161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691" name="Line 9"/>
            <p:cNvSpPr>
              <a:spLocks noChangeShapeType="1"/>
            </p:cNvSpPr>
            <p:nvPr/>
          </p:nvSpPr>
          <p:spPr bwMode="auto">
            <a:xfrm>
              <a:off x="3288" y="161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692" name="Line 11"/>
            <p:cNvSpPr>
              <a:spLocks noChangeShapeType="1"/>
            </p:cNvSpPr>
            <p:nvPr/>
          </p:nvSpPr>
          <p:spPr bwMode="auto">
            <a:xfrm>
              <a:off x="2245" y="1616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693" name="Rectangle 10"/>
            <p:cNvSpPr>
              <a:spLocks noChangeArrowheads="1"/>
            </p:cNvSpPr>
            <p:nvPr/>
          </p:nvSpPr>
          <p:spPr bwMode="auto">
            <a:xfrm>
              <a:off x="2175" y="1661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4" name="Line 12"/>
            <p:cNvSpPr>
              <a:spLocks noChangeShapeType="1"/>
            </p:cNvSpPr>
            <p:nvPr/>
          </p:nvSpPr>
          <p:spPr bwMode="auto">
            <a:xfrm>
              <a:off x="3279" y="1622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695" name="Rectangle 13"/>
            <p:cNvSpPr>
              <a:spLocks noChangeArrowheads="1"/>
            </p:cNvSpPr>
            <p:nvPr/>
          </p:nvSpPr>
          <p:spPr bwMode="auto">
            <a:xfrm>
              <a:off x="3209" y="1667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6" name="Oval 14"/>
            <p:cNvSpPr>
              <a:spLocks noChangeArrowheads="1"/>
            </p:cNvSpPr>
            <p:nvPr/>
          </p:nvSpPr>
          <p:spPr bwMode="auto">
            <a:xfrm>
              <a:off x="3764" y="1584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7" name="Oval 15"/>
            <p:cNvSpPr>
              <a:spLocks noChangeArrowheads="1"/>
            </p:cNvSpPr>
            <p:nvPr/>
          </p:nvSpPr>
          <p:spPr bwMode="auto">
            <a:xfrm>
              <a:off x="3771" y="2088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8" name="Oval 16"/>
            <p:cNvSpPr>
              <a:spLocks noChangeArrowheads="1"/>
            </p:cNvSpPr>
            <p:nvPr/>
          </p:nvSpPr>
          <p:spPr bwMode="auto">
            <a:xfrm>
              <a:off x="1709" y="1590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9" name="Oval 17"/>
            <p:cNvSpPr>
              <a:spLocks noChangeArrowheads="1"/>
            </p:cNvSpPr>
            <p:nvPr/>
          </p:nvSpPr>
          <p:spPr bwMode="auto">
            <a:xfrm>
              <a:off x="1709" y="2087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77" name="Text Box 19"/>
          <p:cNvSpPr txBox="1">
            <a:spLocks noChangeArrowheads="1"/>
          </p:cNvSpPr>
          <p:nvPr/>
        </p:nvSpPr>
        <p:spPr bwMode="auto">
          <a:xfrm>
            <a:off x="3949700" y="1427163"/>
            <a:ext cx="973138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/>
              <a:t>Amplifier</a:t>
            </a:r>
            <a:endParaRPr lang="en-US" sz="1400"/>
          </a:p>
        </p:txBody>
      </p:sp>
      <p:sp>
        <p:nvSpPr>
          <p:cNvPr id="28678" name="Text Box 20"/>
          <p:cNvSpPr txBox="1">
            <a:spLocks noChangeArrowheads="1"/>
          </p:cNvSpPr>
          <p:nvPr/>
        </p:nvSpPr>
        <p:spPr bwMode="auto">
          <a:xfrm>
            <a:off x="1738313" y="3076575"/>
            <a:ext cx="217487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/>
              <a:t>input impedance = Z</a:t>
            </a:r>
            <a:r>
              <a:rPr lang="en-GB" sz="1400" baseline="-25000"/>
              <a:t>in</a:t>
            </a:r>
            <a:endParaRPr lang="en-US" sz="1400" baseline="-25000"/>
          </a:p>
        </p:txBody>
      </p:sp>
      <p:sp>
        <p:nvSpPr>
          <p:cNvPr id="28679" name="Text Box 21"/>
          <p:cNvSpPr txBox="1">
            <a:spLocks noChangeArrowheads="1"/>
          </p:cNvSpPr>
          <p:nvPr/>
        </p:nvSpPr>
        <p:spPr bwMode="auto">
          <a:xfrm>
            <a:off x="4656138" y="3065463"/>
            <a:ext cx="26035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/>
              <a:t>output impedance = Z</a:t>
            </a:r>
            <a:r>
              <a:rPr lang="en-GB" sz="1400" baseline="-25000"/>
              <a:t>out</a:t>
            </a:r>
            <a:endParaRPr lang="en-US" sz="1400" baseline="-25000"/>
          </a:p>
        </p:txBody>
      </p:sp>
      <p:sp>
        <p:nvSpPr>
          <p:cNvPr id="28680" name="Line 22"/>
          <p:cNvSpPr>
            <a:spLocks noChangeShapeType="1"/>
          </p:cNvSpPr>
          <p:nvPr/>
        </p:nvSpPr>
        <p:spPr bwMode="auto">
          <a:xfrm flipV="1">
            <a:off x="3125788" y="2414588"/>
            <a:ext cx="396875" cy="623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8681" name="Line 23"/>
          <p:cNvSpPr>
            <a:spLocks noChangeShapeType="1"/>
          </p:cNvSpPr>
          <p:nvPr/>
        </p:nvSpPr>
        <p:spPr bwMode="auto">
          <a:xfrm flipH="1" flipV="1">
            <a:off x="5465763" y="2373313"/>
            <a:ext cx="455612" cy="67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8682" name="Rectangle 24"/>
          <p:cNvSpPr>
            <a:spLocks noChangeArrowheads="1"/>
          </p:cNvSpPr>
          <p:nvPr/>
        </p:nvSpPr>
        <p:spPr bwMode="auto">
          <a:xfrm>
            <a:off x="3771900" y="1906588"/>
            <a:ext cx="39687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/>
              <a:t>Z</a:t>
            </a:r>
            <a:r>
              <a:rPr lang="en-GB" sz="1400" baseline="-25000"/>
              <a:t>in</a:t>
            </a:r>
            <a:endParaRPr lang="en-US" sz="1400" baseline="-25000"/>
          </a:p>
        </p:txBody>
      </p:sp>
      <p:sp>
        <p:nvSpPr>
          <p:cNvPr id="28683" name="Rectangle 25"/>
          <p:cNvSpPr>
            <a:spLocks noChangeArrowheads="1"/>
          </p:cNvSpPr>
          <p:nvPr/>
        </p:nvSpPr>
        <p:spPr bwMode="auto">
          <a:xfrm>
            <a:off x="4770438" y="1916113"/>
            <a:ext cx="47625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/>
              <a:t>Z</a:t>
            </a:r>
            <a:r>
              <a:rPr lang="en-GB" sz="1400" baseline="-25000"/>
              <a:t>out</a:t>
            </a:r>
            <a:endParaRPr lang="en-US" sz="1400" baseline="-25000"/>
          </a:p>
        </p:txBody>
      </p:sp>
      <p:sp>
        <p:nvSpPr>
          <p:cNvPr id="28684" name="AutoShape 26"/>
          <p:cNvSpPr>
            <a:spLocks noChangeArrowheads="1"/>
          </p:cNvSpPr>
          <p:nvPr/>
        </p:nvSpPr>
        <p:spPr bwMode="auto">
          <a:xfrm>
            <a:off x="2141538" y="1873250"/>
            <a:ext cx="727075" cy="446088"/>
          </a:xfrm>
          <a:prstGeom prst="rightArrow">
            <a:avLst>
              <a:gd name="adj1" fmla="val 59435"/>
              <a:gd name="adj2" fmla="val 8006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AutoShape 27"/>
          <p:cNvSpPr>
            <a:spLocks noChangeArrowheads="1"/>
          </p:cNvSpPr>
          <p:nvPr/>
        </p:nvSpPr>
        <p:spPr bwMode="auto">
          <a:xfrm flipH="1">
            <a:off x="6132513" y="1863725"/>
            <a:ext cx="727075" cy="446088"/>
          </a:xfrm>
          <a:prstGeom prst="rightArrow">
            <a:avLst>
              <a:gd name="adj1" fmla="val 59435"/>
              <a:gd name="adj2" fmla="val 8006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Text Box 28"/>
          <p:cNvSpPr txBox="1">
            <a:spLocks noChangeArrowheads="1"/>
          </p:cNvSpPr>
          <p:nvPr/>
        </p:nvSpPr>
        <p:spPr bwMode="auto">
          <a:xfrm>
            <a:off x="430213" y="1536700"/>
            <a:ext cx="1763712" cy="1368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/>
              <a:t>equipment</a:t>
            </a:r>
          </a:p>
          <a:p>
            <a:pPr algn="ctr"/>
            <a:r>
              <a:rPr lang="en-GB" sz="1400"/>
              <a:t>looking into the amplifier input (e.g. microphone) will “see” the input impedance</a:t>
            </a:r>
            <a:endParaRPr lang="en-US" sz="1400"/>
          </a:p>
        </p:txBody>
      </p:sp>
      <p:sp>
        <p:nvSpPr>
          <p:cNvPr id="28687" name="Text Box 29"/>
          <p:cNvSpPr txBox="1">
            <a:spLocks noChangeArrowheads="1"/>
          </p:cNvSpPr>
          <p:nvPr/>
        </p:nvSpPr>
        <p:spPr bwMode="auto">
          <a:xfrm>
            <a:off x="7173913" y="1371600"/>
            <a:ext cx="1597025" cy="1581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/>
              <a:t>equipment looking into the amplifier output (e.g. speakers) will “see” the output impedance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9952995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179228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Impedance</a:t>
            </a:r>
            <a:endParaRPr lang="en-US" sz="2400" b="1"/>
          </a:p>
        </p:txBody>
      </p:sp>
      <p:sp>
        <p:nvSpPr>
          <p:cNvPr id="29699" name="Text Box 30"/>
          <p:cNvSpPr txBox="1">
            <a:spLocks noChangeArrowheads="1"/>
          </p:cNvSpPr>
          <p:nvPr/>
        </p:nvSpPr>
        <p:spPr bwMode="auto">
          <a:xfrm>
            <a:off x="430213" y="4122738"/>
            <a:ext cx="8553450" cy="148040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GB" sz="1600" dirty="0"/>
              <a:t>impedance is unavoidable, so the circuit must be designed to manufacture a favourable impedance figure</a:t>
            </a:r>
          </a:p>
          <a:p>
            <a:pPr marL="176213" indent="-176213">
              <a:lnSpc>
                <a:spcPct val="110000"/>
              </a:lnSpc>
              <a:buFontTx/>
              <a:buChar char="•"/>
            </a:pPr>
            <a:endParaRPr lang="en-GB" sz="1600" dirty="0"/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GB" sz="1600" dirty="0"/>
              <a:t>impedance values are often standardised to allow equipment to work together</a:t>
            </a:r>
          </a:p>
          <a:p>
            <a:pPr marL="539750" lvl="1" indent="-176213">
              <a:lnSpc>
                <a:spcPct val="110000"/>
              </a:lnSpc>
              <a:buFontTx/>
              <a:buChar char="•"/>
            </a:pPr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e.g. common impedance for loudspeaker systems is 8</a:t>
            </a:r>
            <a:r>
              <a:rPr lang="el-GR" sz="1600" dirty="0"/>
              <a:t>Ω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806700" y="1336675"/>
            <a:ext cx="3362325" cy="1368425"/>
            <a:chOff x="1709" y="1389"/>
            <a:chExt cx="2118" cy="862"/>
          </a:xfrm>
        </p:grpSpPr>
        <p:sp>
          <p:nvSpPr>
            <p:cNvPr id="29712" name="Rectangle 6"/>
            <p:cNvSpPr>
              <a:spLocks noChangeArrowheads="1"/>
            </p:cNvSpPr>
            <p:nvPr/>
          </p:nvSpPr>
          <p:spPr bwMode="auto">
            <a:xfrm>
              <a:off x="2018" y="1389"/>
              <a:ext cx="1452" cy="862"/>
            </a:xfrm>
            <a:prstGeom prst="rect">
              <a:avLst/>
            </a:prstGeom>
            <a:solidFill>
              <a:srgbClr val="FFCC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9713" name="Line 7"/>
            <p:cNvSpPr>
              <a:spLocks noChangeShapeType="1"/>
            </p:cNvSpPr>
            <p:nvPr/>
          </p:nvSpPr>
          <p:spPr bwMode="auto">
            <a:xfrm>
              <a:off x="1746" y="2115"/>
              <a:ext cx="2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714" name="Line 8"/>
            <p:cNvSpPr>
              <a:spLocks noChangeShapeType="1"/>
            </p:cNvSpPr>
            <p:nvPr/>
          </p:nvSpPr>
          <p:spPr bwMode="auto">
            <a:xfrm>
              <a:off x="1746" y="161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715" name="Line 9"/>
            <p:cNvSpPr>
              <a:spLocks noChangeShapeType="1"/>
            </p:cNvSpPr>
            <p:nvPr/>
          </p:nvSpPr>
          <p:spPr bwMode="auto">
            <a:xfrm>
              <a:off x="3288" y="161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716" name="Line 11"/>
            <p:cNvSpPr>
              <a:spLocks noChangeShapeType="1"/>
            </p:cNvSpPr>
            <p:nvPr/>
          </p:nvSpPr>
          <p:spPr bwMode="auto">
            <a:xfrm>
              <a:off x="2245" y="1616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717" name="Rectangle 10"/>
            <p:cNvSpPr>
              <a:spLocks noChangeArrowheads="1"/>
            </p:cNvSpPr>
            <p:nvPr/>
          </p:nvSpPr>
          <p:spPr bwMode="auto">
            <a:xfrm>
              <a:off x="2175" y="1661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8" name="Line 12"/>
            <p:cNvSpPr>
              <a:spLocks noChangeShapeType="1"/>
            </p:cNvSpPr>
            <p:nvPr/>
          </p:nvSpPr>
          <p:spPr bwMode="auto">
            <a:xfrm>
              <a:off x="3279" y="1622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719" name="Rectangle 13"/>
            <p:cNvSpPr>
              <a:spLocks noChangeArrowheads="1"/>
            </p:cNvSpPr>
            <p:nvPr/>
          </p:nvSpPr>
          <p:spPr bwMode="auto">
            <a:xfrm>
              <a:off x="3209" y="1667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0" name="Oval 14"/>
            <p:cNvSpPr>
              <a:spLocks noChangeArrowheads="1"/>
            </p:cNvSpPr>
            <p:nvPr/>
          </p:nvSpPr>
          <p:spPr bwMode="auto">
            <a:xfrm>
              <a:off x="3764" y="1584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1" name="Oval 15"/>
            <p:cNvSpPr>
              <a:spLocks noChangeArrowheads="1"/>
            </p:cNvSpPr>
            <p:nvPr/>
          </p:nvSpPr>
          <p:spPr bwMode="auto">
            <a:xfrm>
              <a:off x="3771" y="2088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2" name="Oval 16"/>
            <p:cNvSpPr>
              <a:spLocks noChangeArrowheads="1"/>
            </p:cNvSpPr>
            <p:nvPr/>
          </p:nvSpPr>
          <p:spPr bwMode="auto">
            <a:xfrm>
              <a:off x="1709" y="1590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3" name="Oval 17"/>
            <p:cNvSpPr>
              <a:spLocks noChangeArrowheads="1"/>
            </p:cNvSpPr>
            <p:nvPr/>
          </p:nvSpPr>
          <p:spPr bwMode="auto">
            <a:xfrm>
              <a:off x="1709" y="2087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01" name="Text Box 19"/>
          <p:cNvSpPr txBox="1">
            <a:spLocks noChangeArrowheads="1"/>
          </p:cNvSpPr>
          <p:nvPr/>
        </p:nvSpPr>
        <p:spPr bwMode="auto">
          <a:xfrm>
            <a:off x="3949700" y="1427163"/>
            <a:ext cx="973138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/>
              <a:t>Amplifier</a:t>
            </a:r>
            <a:endParaRPr lang="en-US" sz="1400"/>
          </a:p>
        </p:txBody>
      </p:sp>
      <p:sp>
        <p:nvSpPr>
          <p:cNvPr id="29702" name="Text Box 20"/>
          <p:cNvSpPr txBox="1">
            <a:spLocks noChangeArrowheads="1"/>
          </p:cNvSpPr>
          <p:nvPr/>
        </p:nvSpPr>
        <p:spPr bwMode="auto">
          <a:xfrm>
            <a:off x="1738313" y="3076575"/>
            <a:ext cx="217487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/>
              <a:t>input impedance = Z</a:t>
            </a:r>
            <a:r>
              <a:rPr lang="en-GB" sz="1400" baseline="-25000"/>
              <a:t>in</a:t>
            </a:r>
            <a:endParaRPr lang="en-US" sz="1400" baseline="-25000"/>
          </a:p>
        </p:txBody>
      </p:sp>
      <p:sp>
        <p:nvSpPr>
          <p:cNvPr id="29703" name="Text Box 21"/>
          <p:cNvSpPr txBox="1">
            <a:spLocks noChangeArrowheads="1"/>
          </p:cNvSpPr>
          <p:nvPr/>
        </p:nvSpPr>
        <p:spPr bwMode="auto">
          <a:xfrm>
            <a:off x="4656138" y="3065463"/>
            <a:ext cx="26035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/>
              <a:t>input impedance = Z</a:t>
            </a:r>
            <a:r>
              <a:rPr lang="en-GB" sz="1400" baseline="-25000"/>
              <a:t>out</a:t>
            </a:r>
            <a:endParaRPr lang="en-US" sz="1400" baseline="-25000"/>
          </a:p>
        </p:txBody>
      </p:sp>
      <p:sp>
        <p:nvSpPr>
          <p:cNvPr id="29704" name="Line 22"/>
          <p:cNvSpPr>
            <a:spLocks noChangeShapeType="1"/>
          </p:cNvSpPr>
          <p:nvPr/>
        </p:nvSpPr>
        <p:spPr bwMode="auto">
          <a:xfrm flipV="1">
            <a:off x="3125788" y="2414588"/>
            <a:ext cx="396875" cy="623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9705" name="Line 23"/>
          <p:cNvSpPr>
            <a:spLocks noChangeShapeType="1"/>
          </p:cNvSpPr>
          <p:nvPr/>
        </p:nvSpPr>
        <p:spPr bwMode="auto">
          <a:xfrm flipH="1" flipV="1">
            <a:off x="5465763" y="2373313"/>
            <a:ext cx="455612" cy="67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9706" name="Rectangle 24"/>
          <p:cNvSpPr>
            <a:spLocks noChangeArrowheads="1"/>
          </p:cNvSpPr>
          <p:nvPr/>
        </p:nvSpPr>
        <p:spPr bwMode="auto">
          <a:xfrm>
            <a:off x="3771900" y="1906588"/>
            <a:ext cx="39687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/>
              <a:t>Z</a:t>
            </a:r>
            <a:r>
              <a:rPr lang="en-GB" sz="1400" baseline="-25000"/>
              <a:t>in</a:t>
            </a:r>
            <a:endParaRPr lang="en-US" sz="1400" baseline="-25000"/>
          </a:p>
        </p:txBody>
      </p:sp>
      <p:sp>
        <p:nvSpPr>
          <p:cNvPr id="29707" name="Rectangle 25"/>
          <p:cNvSpPr>
            <a:spLocks noChangeArrowheads="1"/>
          </p:cNvSpPr>
          <p:nvPr/>
        </p:nvSpPr>
        <p:spPr bwMode="auto">
          <a:xfrm>
            <a:off x="4770438" y="1916113"/>
            <a:ext cx="47625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/>
              <a:t>Z</a:t>
            </a:r>
            <a:r>
              <a:rPr lang="en-GB" sz="1400" baseline="-25000"/>
              <a:t>out</a:t>
            </a:r>
            <a:endParaRPr lang="en-US" sz="1400" baseline="-25000"/>
          </a:p>
        </p:txBody>
      </p:sp>
      <p:sp>
        <p:nvSpPr>
          <p:cNvPr id="29708" name="AutoShape 26"/>
          <p:cNvSpPr>
            <a:spLocks noChangeArrowheads="1"/>
          </p:cNvSpPr>
          <p:nvPr/>
        </p:nvSpPr>
        <p:spPr bwMode="auto">
          <a:xfrm>
            <a:off x="2141538" y="1873250"/>
            <a:ext cx="727075" cy="446088"/>
          </a:xfrm>
          <a:prstGeom prst="rightArrow">
            <a:avLst>
              <a:gd name="adj1" fmla="val 59435"/>
              <a:gd name="adj2" fmla="val 8006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9" name="AutoShape 27"/>
          <p:cNvSpPr>
            <a:spLocks noChangeArrowheads="1"/>
          </p:cNvSpPr>
          <p:nvPr/>
        </p:nvSpPr>
        <p:spPr bwMode="auto">
          <a:xfrm flipH="1">
            <a:off x="6132513" y="1863725"/>
            <a:ext cx="727075" cy="446088"/>
          </a:xfrm>
          <a:prstGeom prst="rightArrow">
            <a:avLst>
              <a:gd name="adj1" fmla="val 59435"/>
              <a:gd name="adj2" fmla="val 8006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Text Box 28"/>
          <p:cNvSpPr txBox="1">
            <a:spLocks noChangeArrowheads="1"/>
          </p:cNvSpPr>
          <p:nvPr/>
        </p:nvSpPr>
        <p:spPr bwMode="auto">
          <a:xfrm>
            <a:off x="430213" y="1536700"/>
            <a:ext cx="1763712" cy="1368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/>
              <a:t>equipment</a:t>
            </a:r>
          </a:p>
          <a:p>
            <a:pPr algn="ctr"/>
            <a:r>
              <a:rPr lang="en-GB" sz="1400"/>
              <a:t>looking into the amplifier input (e.g. microphone) will “see” the input impedance</a:t>
            </a:r>
            <a:endParaRPr lang="en-US" sz="1400"/>
          </a:p>
        </p:txBody>
      </p:sp>
      <p:sp>
        <p:nvSpPr>
          <p:cNvPr id="29711" name="Text Box 29"/>
          <p:cNvSpPr txBox="1">
            <a:spLocks noChangeArrowheads="1"/>
          </p:cNvSpPr>
          <p:nvPr/>
        </p:nvSpPr>
        <p:spPr bwMode="auto">
          <a:xfrm>
            <a:off x="7173913" y="1371600"/>
            <a:ext cx="1597025" cy="1581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/>
              <a:t>equipment looking into the amplifier output (e.g. speakers) will “see” the output impedance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323688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7866062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Impedance Bridging – to transfer maximum voltage</a:t>
            </a:r>
            <a:endParaRPr lang="en-US" sz="2400" b="1"/>
          </a:p>
        </p:txBody>
      </p:sp>
      <p:sp>
        <p:nvSpPr>
          <p:cNvPr id="30723" name="Text Box 28"/>
          <p:cNvSpPr txBox="1">
            <a:spLocks noChangeArrowheads="1"/>
          </p:cNvSpPr>
          <p:nvPr/>
        </p:nvSpPr>
        <p:spPr bwMode="auto">
          <a:xfrm>
            <a:off x="430213" y="2947988"/>
            <a:ext cx="7548562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Consider the impedances connected together as a potential divider circuit:</a:t>
            </a:r>
            <a:endParaRPr lang="en-US" sz="1600"/>
          </a:p>
        </p:txBody>
      </p: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1476375" y="1362075"/>
            <a:ext cx="6170613" cy="1381125"/>
            <a:chOff x="930" y="858"/>
            <a:chExt cx="3887" cy="870"/>
          </a:xfrm>
        </p:grpSpPr>
        <p:sp>
          <p:nvSpPr>
            <p:cNvPr id="30739" name="Rectangle 36"/>
            <p:cNvSpPr>
              <a:spLocks noChangeArrowheads="1"/>
            </p:cNvSpPr>
            <p:nvPr/>
          </p:nvSpPr>
          <p:spPr bwMode="auto">
            <a:xfrm>
              <a:off x="930" y="858"/>
              <a:ext cx="1296" cy="858"/>
            </a:xfrm>
            <a:prstGeom prst="rect">
              <a:avLst/>
            </a:prstGeom>
            <a:solidFill>
              <a:srgbClr val="FFCC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0740" name="Rectangle 5"/>
            <p:cNvSpPr>
              <a:spLocks noChangeArrowheads="1"/>
            </p:cNvSpPr>
            <p:nvPr/>
          </p:nvSpPr>
          <p:spPr bwMode="auto">
            <a:xfrm>
              <a:off x="3008" y="866"/>
              <a:ext cx="1452" cy="862"/>
            </a:xfrm>
            <a:prstGeom prst="rect">
              <a:avLst/>
            </a:prstGeom>
            <a:solidFill>
              <a:srgbClr val="FFCC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/>
            </a:p>
          </p:txBody>
        </p:sp>
        <p:sp>
          <p:nvSpPr>
            <p:cNvPr id="30741" name="Line 6"/>
            <p:cNvSpPr>
              <a:spLocks noChangeShapeType="1"/>
            </p:cNvSpPr>
            <p:nvPr/>
          </p:nvSpPr>
          <p:spPr bwMode="auto">
            <a:xfrm>
              <a:off x="2736" y="1592"/>
              <a:ext cx="2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0742" name="Line 7"/>
            <p:cNvSpPr>
              <a:spLocks noChangeShapeType="1"/>
            </p:cNvSpPr>
            <p:nvPr/>
          </p:nvSpPr>
          <p:spPr bwMode="auto">
            <a:xfrm>
              <a:off x="2736" y="1093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0743" name="Line 8"/>
            <p:cNvSpPr>
              <a:spLocks noChangeShapeType="1"/>
            </p:cNvSpPr>
            <p:nvPr/>
          </p:nvSpPr>
          <p:spPr bwMode="auto">
            <a:xfrm>
              <a:off x="4278" y="1093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0744" name="Line 9"/>
            <p:cNvSpPr>
              <a:spLocks noChangeShapeType="1"/>
            </p:cNvSpPr>
            <p:nvPr/>
          </p:nvSpPr>
          <p:spPr bwMode="auto">
            <a:xfrm>
              <a:off x="3235" y="1093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0745" name="Rectangle 10"/>
            <p:cNvSpPr>
              <a:spLocks noChangeArrowheads="1"/>
            </p:cNvSpPr>
            <p:nvPr/>
          </p:nvSpPr>
          <p:spPr bwMode="auto">
            <a:xfrm>
              <a:off x="3165" y="1138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0746" name="Line 11"/>
            <p:cNvSpPr>
              <a:spLocks noChangeShapeType="1"/>
            </p:cNvSpPr>
            <p:nvPr/>
          </p:nvSpPr>
          <p:spPr bwMode="auto">
            <a:xfrm>
              <a:off x="4269" y="1099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0747" name="Rectangle 12"/>
            <p:cNvSpPr>
              <a:spLocks noChangeArrowheads="1"/>
            </p:cNvSpPr>
            <p:nvPr/>
          </p:nvSpPr>
          <p:spPr bwMode="auto">
            <a:xfrm>
              <a:off x="4199" y="1144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0748" name="Oval 13"/>
            <p:cNvSpPr>
              <a:spLocks noChangeArrowheads="1"/>
            </p:cNvSpPr>
            <p:nvPr/>
          </p:nvSpPr>
          <p:spPr bwMode="auto">
            <a:xfrm>
              <a:off x="4754" y="1061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0749" name="Oval 14"/>
            <p:cNvSpPr>
              <a:spLocks noChangeArrowheads="1"/>
            </p:cNvSpPr>
            <p:nvPr/>
          </p:nvSpPr>
          <p:spPr bwMode="auto">
            <a:xfrm>
              <a:off x="4761" y="1565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0750" name="Oval 15"/>
            <p:cNvSpPr>
              <a:spLocks noChangeArrowheads="1"/>
            </p:cNvSpPr>
            <p:nvPr/>
          </p:nvSpPr>
          <p:spPr bwMode="auto">
            <a:xfrm>
              <a:off x="2699" y="1067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0751" name="Oval 16"/>
            <p:cNvSpPr>
              <a:spLocks noChangeArrowheads="1"/>
            </p:cNvSpPr>
            <p:nvPr/>
          </p:nvSpPr>
          <p:spPr bwMode="auto">
            <a:xfrm>
              <a:off x="2699" y="1564"/>
              <a:ext cx="56" cy="59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0752" name="Text Box 17"/>
            <p:cNvSpPr txBox="1">
              <a:spLocks noChangeArrowheads="1"/>
            </p:cNvSpPr>
            <p:nvPr/>
          </p:nvSpPr>
          <p:spPr bwMode="auto">
            <a:xfrm>
              <a:off x="3451" y="858"/>
              <a:ext cx="547" cy="17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/>
                <a:t>Amplifier</a:t>
              </a:r>
              <a:endParaRPr lang="en-US" sz="1200"/>
            </a:p>
          </p:txBody>
        </p:sp>
        <p:sp>
          <p:nvSpPr>
            <p:cNvPr id="30753" name="Rectangle 22"/>
            <p:cNvSpPr>
              <a:spLocks noChangeArrowheads="1"/>
            </p:cNvSpPr>
            <p:nvPr/>
          </p:nvSpPr>
          <p:spPr bwMode="auto">
            <a:xfrm>
              <a:off x="3339" y="1160"/>
              <a:ext cx="234" cy="17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/>
                <a:t>Z</a:t>
              </a:r>
              <a:r>
                <a:rPr lang="en-GB" sz="1200" baseline="-25000"/>
                <a:t>in</a:t>
              </a:r>
              <a:endParaRPr lang="en-US" sz="1200" baseline="-25000"/>
            </a:p>
          </p:txBody>
        </p:sp>
        <p:sp>
          <p:nvSpPr>
            <p:cNvPr id="30754" name="Rectangle 23"/>
            <p:cNvSpPr>
              <a:spLocks noChangeArrowheads="1"/>
            </p:cNvSpPr>
            <p:nvPr/>
          </p:nvSpPr>
          <p:spPr bwMode="auto">
            <a:xfrm>
              <a:off x="3947" y="1166"/>
              <a:ext cx="279" cy="17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/>
                <a:t>Z</a:t>
              </a:r>
              <a:r>
                <a:rPr lang="en-GB" sz="1200" baseline="-25000"/>
                <a:t>out</a:t>
              </a:r>
              <a:endParaRPr lang="en-US" sz="1200" baseline="-25000"/>
            </a:p>
          </p:txBody>
        </p:sp>
        <p:sp>
          <p:nvSpPr>
            <p:cNvPr id="30755" name="Line 37"/>
            <p:cNvSpPr>
              <a:spLocks noChangeShapeType="1"/>
            </p:cNvSpPr>
            <p:nvPr/>
          </p:nvSpPr>
          <p:spPr bwMode="auto">
            <a:xfrm flipV="1">
              <a:off x="1263" y="1591"/>
              <a:ext cx="14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0756" name="Line 38"/>
            <p:cNvSpPr>
              <a:spLocks noChangeShapeType="1"/>
            </p:cNvSpPr>
            <p:nvPr/>
          </p:nvSpPr>
          <p:spPr bwMode="auto">
            <a:xfrm>
              <a:off x="1255" y="1093"/>
              <a:ext cx="1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grpSp>
          <p:nvGrpSpPr>
            <p:cNvPr id="3" name="Group 35"/>
            <p:cNvGrpSpPr>
              <a:grpSpLocks/>
            </p:cNvGrpSpPr>
            <p:nvPr/>
          </p:nvGrpSpPr>
          <p:grpSpPr bwMode="auto">
            <a:xfrm>
              <a:off x="1099" y="1198"/>
              <a:ext cx="276" cy="276"/>
              <a:chOff x="1119" y="1204"/>
              <a:chExt cx="276" cy="276"/>
            </a:xfrm>
          </p:grpSpPr>
          <p:sp>
            <p:nvSpPr>
              <p:cNvPr id="30761" name="Oval 29"/>
              <p:cNvSpPr>
                <a:spLocks noChangeArrowheads="1"/>
              </p:cNvSpPr>
              <p:nvPr/>
            </p:nvSpPr>
            <p:spPr bwMode="auto">
              <a:xfrm>
                <a:off x="1119" y="1204"/>
                <a:ext cx="276" cy="276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30762" name="Freeform 31"/>
              <p:cNvSpPr>
                <a:spLocks/>
              </p:cNvSpPr>
              <p:nvPr/>
            </p:nvSpPr>
            <p:spPr bwMode="auto">
              <a:xfrm>
                <a:off x="1177" y="1251"/>
                <a:ext cx="179" cy="169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30758" name="Line 39"/>
            <p:cNvSpPr>
              <a:spLocks noChangeShapeType="1"/>
            </p:cNvSpPr>
            <p:nvPr/>
          </p:nvSpPr>
          <p:spPr bwMode="auto">
            <a:xfrm flipV="1">
              <a:off x="1270" y="1095"/>
              <a:ext cx="1468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0759" name="Rectangle 42"/>
            <p:cNvSpPr>
              <a:spLocks noChangeArrowheads="1"/>
            </p:cNvSpPr>
            <p:nvPr/>
          </p:nvSpPr>
          <p:spPr bwMode="auto">
            <a:xfrm rot="5400000">
              <a:off x="1730" y="916"/>
              <a:ext cx="136" cy="3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0760" name="Rectangle 43"/>
            <p:cNvSpPr>
              <a:spLocks noChangeArrowheads="1"/>
            </p:cNvSpPr>
            <p:nvPr/>
          </p:nvSpPr>
          <p:spPr bwMode="auto">
            <a:xfrm>
              <a:off x="1643" y="1166"/>
              <a:ext cx="279" cy="17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/>
                <a:t>Z</a:t>
              </a:r>
              <a:r>
                <a:rPr lang="en-GB" sz="1200" baseline="-25000"/>
                <a:t>out</a:t>
              </a:r>
              <a:endParaRPr lang="en-US" sz="1200" baseline="-25000"/>
            </a:p>
          </p:txBody>
        </p:sp>
      </p:grpSp>
      <p:sp>
        <p:nvSpPr>
          <p:cNvPr id="30725" name="Text Box 45"/>
          <p:cNvSpPr txBox="1">
            <a:spLocks noChangeArrowheads="1"/>
          </p:cNvSpPr>
          <p:nvPr/>
        </p:nvSpPr>
        <p:spPr bwMode="auto">
          <a:xfrm>
            <a:off x="430213" y="828675"/>
            <a:ext cx="59324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A voltage source (e.g. microphone) feeds into an amplifier</a:t>
            </a:r>
            <a:endParaRPr lang="en-US" sz="1600" dirty="0"/>
          </a:p>
        </p:txBody>
      </p:sp>
      <p:sp>
        <p:nvSpPr>
          <p:cNvPr id="30726" name="Text Box 46"/>
          <p:cNvSpPr txBox="1">
            <a:spLocks noChangeArrowheads="1"/>
          </p:cNvSpPr>
          <p:nvPr/>
        </p:nvSpPr>
        <p:spPr bwMode="auto">
          <a:xfrm>
            <a:off x="2049463" y="1350963"/>
            <a:ext cx="684803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Source</a:t>
            </a:r>
            <a:endParaRPr lang="en-US" sz="1200"/>
          </a:p>
        </p:txBody>
      </p: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1250950" y="3724275"/>
            <a:ext cx="1919288" cy="2182813"/>
            <a:chOff x="788" y="2402"/>
            <a:chExt cx="1209" cy="1375"/>
          </a:xfrm>
        </p:grpSpPr>
        <p:grpSp>
          <p:nvGrpSpPr>
            <p:cNvPr id="5" name="Group 52"/>
            <p:cNvGrpSpPr>
              <a:grpSpLocks/>
            </p:cNvGrpSpPr>
            <p:nvPr/>
          </p:nvGrpSpPr>
          <p:grpSpPr bwMode="auto">
            <a:xfrm>
              <a:off x="1314" y="2402"/>
              <a:ext cx="136" cy="1361"/>
              <a:chOff x="2653" y="2296"/>
              <a:chExt cx="136" cy="1361"/>
            </a:xfrm>
          </p:grpSpPr>
          <p:sp>
            <p:nvSpPr>
              <p:cNvPr id="30736" name="Line 50"/>
              <p:cNvSpPr>
                <a:spLocks noChangeShapeType="1"/>
              </p:cNvSpPr>
              <p:nvPr/>
            </p:nvSpPr>
            <p:spPr bwMode="auto">
              <a:xfrm>
                <a:off x="2723" y="2296"/>
                <a:ext cx="0" cy="13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30737" name="Rectangle 48"/>
              <p:cNvSpPr>
                <a:spLocks noChangeArrowheads="1"/>
              </p:cNvSpPr>
              <p:nvPr/>
            </p:nvSpPr>
            <p:spPr bwMode="auto">
              <a:xfrm rot="10800000">
                <a:off x="2653" y="2478"/>
                <a:ext cx="136" cy="36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30738" name="Rectangle 49"/>
              <p:cNvSpPr>
                <a:spLocks noChangeArrowheads="1"/>
              </p:cNvSpPr>
              <p:nvPr/>
            </p:nvSpPr>
            <p:spPr bwMode="auto">
              <a:xfrm rot="10800000">
                <a:off x="2653" y="3057"/>
                <a:ext cx="136" cy="36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</p:grpSp>
        <p:sp>
          <p:nvSpPr>
            <p:cNvPr id="30731" name="Line 53"/>
            <p:cNvSpPr>
              <a:spLocks noChangeShapeType="1"/>
            </p:cNvSpPr>
            <p:nvPr/>
          </p:nvSpPr>
          <p:spPr bwMode="auto">
            <a:xfrm>
              <a:off x="809" y="2416"/>
              <a:ext cx="5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0732" name="Line 54"/>
            <p:cNvSpPr>
              <a:spLocks noChangeShapeType="1"/>
            </p:cNvSpPr>
            <p:nvPr/>
          </p:nvSpPr>
          <p:spPr bwMode="auto">
            <a:xfrm>
              <a:off x="788" y="3777"/>
              <a:ext cx="11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0733" name="Line 55"/>
            <p:cNvSpPr>
              <a:spLocks noChangeShapeType="1"/>
            </p:cNvSpPr>
            <p:nvPr/>
          </p:nvSpPr>
          <p:spPr bwMode="auto">
            <a:xfrm>
              <a:off x="1382" y="3051"/>
              <a:ext cx="5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0734" name="Rectangle 56"/>
            <p:cNvSpPr>
              <a:spLocks noChangeArrowheads="1"/>
            </p:cNvSpPr>
            <p:nvPr/>
          </p:nvSpPr>
          <p:spPr bwMode="auto">
            <a:xfrm>
              <a:off x="1455" y="2619"/>
              <a:ext cx="431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/>
                <a:t>Source</a:t>
              </a:r>
            </a:p>
            <a:p>
              <a:r>
                <a:rPr lang="en-GB" sz="1200"/>
                <a:t>Z</a:t>
              </a:r>
              <a:r>
                <a:rPr lang="en-GB" sz="1200" baseline="-25000"/>
                <a:t>out</a:t>
              </a:r>
              <a:endParaRPr lang="en-US" sz="1200" baseline="-25000"/>
            </a:p>
          </p:txBody>
        </p:sp>
        <p:sp>
          <p:nvSpPr>
            <p:cNvPr id="30735" name="Rectangle 57"/>
            <p:cNvSpPr>
              <a:spLocks noChangeArrowheads="1"/>
            </p:cNvSpPr>
            <p:nvPr/>
          </p:nvSpPr>
          <p:spPr bwMode="auto">
            <a:xfrm>
              <a:off x="1450" y="3169"/>
              <a:ext cx="547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/>
                <a:t>Amplifier</a:t>
              </a:r>
            </a:p>
            <a:p>
              <a:r>
                <a:rPr lang="en-GB" sz="1200"/>
                <a:t>Z</a:t>
              </a:r>
              <a:r>
                <a:rPr lang="en-GB" sz="1200" baseline="-25000"/>
                <a:t>in</a:t>
              </a:r>
              <a:endParaRPr lang="en-US" sz="1200" baseline="-25000"/>
            </a:p>
          </p:txBody>
        </p:sp>
      </p:grpSp>
      <p:sp>
        <p:nvSpPr>
          <p:cNvPr id="30728" name="Text Box 62"/>
          <p:cNvSpPr txBox="1">
            <a:spLocks noChangeArrowheads="1"/>
          </p:cNvSpPr>
          <p:nvPr/>
        </p:nvSpPr>
        <p:spPr bwMode="auto">
          <a:xfrm>
            <a:off x="3667125" y="3511550"/>
            <a:ext cx="5162550" cy="26940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GB" sz="1600" dirty="0"/>
              <a:t>Here, to maximise power transfer, </a:t>
            </a:r>
            <a:r>
              <a:rPr lang="en-GB" sz="1600" dirty="0" err="1"/>
              <a:t>Z</a:t>
            </a:r>
            <a:r>
              <a:rPr lang="en-GB" sz="1600" baseline="-25000" dirty="0" err="1"/>
              <a:t>out</a:t>
            </a:r>
            <a:r>
              <a:rPr lang="en-GB" sz="1600" baseline="-25000" dirty="0"/>
              <a:t> </a:t>
            </a:r>
            <a:r>
              <a:rPr lang="en-GB" sz="1600" dirty="0"/>
              <a:t>should be as low as possible;</a:t>
            </a:r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GB" sz="1600" dirty="0" err="1"/>
              <a:t>Z</a:t>
            </a:r>
            <a:r>
              <a:rPr lang="en-GB" sz="1600" baseline="-25000" dirty="0" err="1"/>
              <a:t>in</a:t>
            </a:r>
            <a:r>
              <a:rPr lang="en-GB" sz="1600" dirty="0"/>
              <a:t> should be high as possible</a:t>
            </a:r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GB" sz="1600" dirty="0"/>
              <a:t>This means the amp input is (virtually) higher towards the top of the divider circuit, so more signal is delivered, rather than being lost in </a:t>
            </a:r>
            <a:r>
              <a:rPr lang="en-GB" sz="1600" dirty="0" err="1"/>
              <a:t>Z</a:t>
            </a:r>
            <a:r>
              <a:rPr lang="en-GB" sz="1600" baseline="-25000" dirty="0" err="1"/>
              <a:t>out</a:t>
            </a:r>
            <a:endParaRPr lang="en-GB" sz="1600" baseline="-25000" dirty="0"/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GB" sz="1600" dirty="0"/>
              <a:t>If </a:t>
            </a:r>
            <a:r>
              <a:rPr lang="en-GB" sz="1600" dirty="0" err="1"/>
              <a:t>Z</a:t>
            </a:r>
            <a:r>
              <a:rPr lang="en-GB" sz="1600" baseline="-25000" dirty="0" err="1"/>
              <a:t>in</a:t>
            </a:r>
            <a:r>
              <a:rPr lang="en-GB" sz="1600" dirty="0"/>
              <a:t> is very low, it is virtually a short circuit, and the signal would be shunted down to earth (or 0V)</a:t>
            </a:r>
            <a:endParaRPr lang="en-GB" sz="1600" baseline="-25000" dirty="0"/>
          </a:p>
          <a:p>
            <a:pPr marL="176213" indent="-176213"/>
            <a:endParaRPr lang="en-US" sz="1600" baseline="-25000" dirty="0"/>
          </a:p>
        </p:txBody>
      </p:sp>
      <p:sp>
        <p:nvSpPr>
          <p:cNvPr id="30729" name="Text Box 63"/>
          <p:cNvSpPr txBox="1">
            <a:spLocks noChangeArrowheads="1"/>
          </p:cNvSpPr>
          <p:nvPr/>
        </p:nvSpPr>
        <p:spPr bwMode="auto">
          <a:xfrm>
            <a:off x="430213" y="6119813"/>
            <a:ext cx="78327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However, must also consider the connecting cable, especially long mic cables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9667287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06638" y="2154238"/>
            <a:ext cx="5098191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 b="1" dirty="0"/>
              <a:t>Further Impedance Issues:</a:t>
            </a:r>
          </a:p>
          <a:p>
            <a:pPr>
              <a:defRPr/>
            </a:pPr>
            <a:endParaRPr lang="en-GB" sz="1600" dirty="0"/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Need to consider reactive components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current and voltage phase 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calculation and representation of phase vectors</a:t>
            </a:r>
          </a:p>
          <a:p>
            <a:pPr>
              <a:defRPr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4567426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8621712" cy="4460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300" b="1"/>
              <a:t>Reactance – Phase Difference between Voltage and Current</a:t>
            </a:r>
            <a:endParaRPr lang="en-US" sz="2300" b="1"/>
          </a:p>
        </p:txBody>
      </p:sp>
      <p:sp>
        <p:nvSpPr>
          <p:cNvPr id="32771" name="Rectangle 6"/>
          <p:cNvSpPr>
            <a:spLocks noChangeArrowheads="1"/>
          </p:cNvSpPr>
          <p:nvPr/>
        </p:nvSpPr>
        <p:spPr bwMode="auto">
          <a:xfrm>
            <a:off x="395288" y="758825"/>
            <a:ext cx="66055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>
                <a:hlinkClick r:id="rId2"/>
              </a:rPr>
              <a:t>http://www.ngsir.netfirms.com/englishhtm/RC_dc.htm</a:t>
            </a:r>
            <a:endParaRPr lang="en-GB"/>
          </a:p>
        </p:txBody>
      </p:sp>
      <p:pic>
        <p:nvPicPr>
          <p:cNvPr id="3277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68800" y="3390900"/>
            <a:ext cx="4572000" cy="29130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277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1143000"/>
            <a:ext cx="4171950" cy="2646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5159375" y="1503363"/>
            <a:ext cx="398538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dirty="0"/>
              <a:t>See applet – shows capacitor charging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Initial voltage across C is zero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Initial current flowing is maximum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Voltage increases to maximum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current reduces to zero</a:t>
            </a:r>
          </a:p>
        </p:txBody>
      </p:sp>
    </p:spTree>
    <p:extLst>
      <p:ext uri="{BB962C8B-B14F-4D97-AF65-F5344CB8AC3E}">
        <p14:creationId xmlns:p14="http://schemas.microsoft.com/office/powerpoint/2010/main" val="20119194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0"/>
          <p:cNvGrpSpPr>
            <a:grpSpLocks/>
          </p:cNvGrpSpPr>
          <p:nvPr/>
        </p:nvGrpSpPr>
        <p:grpSpPr bwMode="auto">
          <a:xfrm>
            <a:off x="395288" y="938213"/>
            <a:ext cx="3182937" cy="2865437"/>
            <a:chOff x="385763" y="1776413"/>
            <a:chExt cx="3182937" cy="2865437"/>
          </a:xfrm>
        </p:grpSpPr>
        <p:sp>
          <p:nvSpPr>
            <p:cNvPr id="33834" name="Text Box 7"/>
            <p:cNvSpPr txBox="1">
              <a:spLocks noChangeArrowheads="1"/>
            </p:cNvSpPr>
            <p:nvPr/>
          </p:nvSpPr>
          <p:spPr bwMode="auto">
            <a:xfrm>
              <a:off x="1919289" y="2382839"/>
              <a:ext cx="404812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GB" sz="1400"/>
                <a:t>C</a:t>
              </a:r>
              <a:endParaRPr lang="en-GB" sz="2000"/>
            </a:p>
          </p:txBody>
        </p:sp>
        <p:sp>
          <p:nvSpPr>
            <p:cNvPr id="33835" name="Line 10"/>
            <p:cNvSpPr>
              <a:spLocks noChangeShapeType="1"/>
            </p:cNvSpPr>
            <p:nvPr/>
          </p:nvSpPr>
          <p:spPr bwMode="auto">
            <a:xfrm flipV="1">
              <a:off x="661988" y="2036763"/>
              <a:ext cx="0" cy="12160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36" name="Line 11"/>
            <p:cNvSpPr>
              <a:spLocks noChangeShapeType="1"/>
            </p:cNvSpPr>
            <p:nvPr/>
          </p:nvSpPr>
          <p:spPr bwMode="auto">
            <a:xfrm flipV="1">
              <a:off x="661988" y="2036763"/>
              <a:ext cx="13271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37" name="Line 13"/>
            <p:cNvSpPr>
              <a:spLocks noChangeShapeType="1"/>
            </p:cNvSpPr>
            <p:nvPr/>
          </p:nvSpPr>
          <p:spPr bwMode="auto">
            <a:xfrm>
              <a:off x="3435351" y="2028825"/>
              <a:ext cx="11112" cy="26098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38" name="Line 14"/>
            <p:cNvSpPr>
              <a:spLocks noChangeShapeType="1"/>
            </p:cNvSpPr>
            <p:nvPr/>
          </p:nvSpPr>
          <p:spPr bwMode="auto">
            <a:xfrm>
              <a:off x="679451" y="4641850"/>
              <a:ext cx="2765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39" name="Line 15"/>
            <p:cNvSpPr>
              <a:spLocks noChangeShapeType="1"/>
            </p:cNvSpPr>
            <p:nvPr/>
          </p:nvSpPr>
          <p:spPr bwMode="auto">
            <a:xfrm flipV="1">
              <a:off x="679451" y="3425825"/>
              <a:ext cx="0" cy="12160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40" name="Line 16"/>
            <p:cNvSpPr>
              <a:spLocks noChangeShapeType="1"/>
            </p:cNvSpPr>
            <p:nvPr/>
          </p:nvSpPr>
          <p:spPr bwMode="auto">
            <a:xfrm flipH="1">
              <a:off x="385763" y="3276600"/>
              <a:ext cx="608013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41" name="Line 17"/>
            <p:cNvSpPr>
              <a:spLocks noChangeShapeType="1"/>
            </p:cNvSpPr>
            <p:nvPr/>
          </p:nvSpPr>
          <p:spPr bwMode="auto">
            <a:xfrm flipV="1">
              <a:off x="534988" y="3405188"/>
              <a:ext cx="29527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3" name="Group 18"/>
            <p:cNvGrpSpPr>
              <a:grpSpLocks/>
            </p:cNvGrpSpPr>
            <p:nvPr/>
          </p:nvGrpSpPr>
          <p:grpSpPr bwMode="auto">
            <a:xfrm>
              <a:off x="1989138" y="1776413"/>
              <a:ext cx="147638" cy="542925"/>
              <a:chOff x="5580" y="11600"/>
              <a:chExt cx="160" cy="500"/>
            </a:xfrm>
          </p:grpSpPr>
          <p:sp>
            <p:nvSpPr>
              <p:cNvPr id="33846" name="Line 19"/>
              <p:cNvSpPr>
                <a:spLocks noChangeShapeType="1"/>
              </p:cNvSpPr>
              <p:nvPr/>
            </p:nvSpPr>
            <p:spPr bwMode="auto">
              <a:xfrm>
                <a:off x="5580" y="11600"/>
                <a:ext cx="0" cy="5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847" name="Line 20"/>
              <p:cNvSpPr>
                <a:spLocks noChangeShapeType="1"/>
              </p:cNvSpPr>
              <p:nvPr/>
            </p:nvSpPr>
            <p:spPr bwMode="auto">
              <a:xfrm>
                <a:off x="5740" y="11600"/>
                <a:ext cx="0" cy="5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3843" name="Line 21"/>
            <p:cNvSpPr>
              <a:spLocks noChangeShapeType="1"/>
            </p:cNvSpPr>
            <p:nvPr/>
          </p:nvSpPr>
          <p:spPr bwMode="auto">
            <a:xfrm flipV="1">
              <a:off x="2174876" y="2036763"/>
              <a:ext cx="127158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844" name="Rectangle 88"/>
            <p:cNvSpPr>
              <a:spLocks noChangeArrowheads="1"/>
            </p:cNvSpPr>
            <p:nvPr/>
          </p:nvSpPr>
          <p:spPr bwMode="auto">
            <a:xfrm>
              <a:off x="3340100" y="2933700"/>
              <a:ext cx="228600" cy="74930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45" name="Text Box 7"/>
            <p:cNvSpPr txBox="1">
              <a:spLocks noChangeArrowheads="1"/>
            </p:cNvSpPr>
            <p:nvPr/>
          </p:nvSpPr>
          <p:spPr bwMode="auto">
            <a:xfrm>
              <a:off x="3049589" y="3144839"/>
              <a:ext cx="404812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GB" sz="1400"/>
                <a:t>R</a:t>
              </a:r>
              <a:endParaRPr lang="en-GB" sz="2000"/>
            </a:p>
          </p:txBody>
        </p:sp>
      </p:grpSp>
      <p:cxnSp>
        <p:nvCxnSpPr>
          <p:cNvPr id="33795" name="Straight Connector 92"/>
          <p:cNvCxnSpPr>
            <a:cxnSpLocks noChangeShapeType="1"/>
          </p:cNvCxnSpPr>
          <p:nvPr/>
        </p:nvCxnSpPr>
        <p:spPr bwMode="auto">
          <a:xfrm rot="5400000">
            <a:off x="58738" y="5138738"/>
            <a:ext cx="18542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796" name="Straight Connector 94"/>
          <p:cNvCxnSpPr>
            <a:cxnSpLocks noChangeShapeType="1"/>
          </p:cNvCxnSpPr>
          <p:nvPr/>
        </p:nvCxnSpPr>
        <p:spPr bwMode="auto">
          <a:xfrm>
            <a:off x="896938" y="5862638"/>
            <a:ext cx="217328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3797" name="Freeform 95"/>
          <p:cNvSpPr>
            <a:spLocks/>
          </p:cNvSpPr>
          <p:nvPr/>
        </p:nvSpPr>
        <p:spPr bwMode="auto">
          <a:xfrm>
            <a:off x="998538" y="4214813"/>
            <a:ext cx="2057400" cy="1647825"/>
          </a:xfrm>
          <a:custGeom>
            <a:avLst/>
            <a:gdLst>
              <a:gd name="T0" fmla="*/ 0 w 2825750"/>
              <a:gd name="T1" fmla="*/ 1648884 h 1646767"/>
              <a:gd name="T2" fmla="*/ 24510 w 2825750"/>
              <a:gd name="T3" fmla="*/ 1178380 h 1646767"/>
              <a:gd name="T4" fmla="*/ 127448 w 2825750"/>
              <a:gd name="T5" fmla="*/ 593429 h 1646767"/>
              <a:gd name="T6" fmla="*/ 348031 w 2825750"/>
              <a:gd name="T7" fmla="*/ 224655 h 1646767"/>
              <a:gd name="T8" fmla="*/ 686257 w 2825750"/>
              <a:gd name="T9" fmla="*/ 84775 h 1646767"/>
              <a:gd name="T10" fmla="*/ 1024484 w 2825750"/>
              <a:gd name="T11" fmla="*/ 8477 h 1646767"/>
              <a:gd name="T12" fmla="*/ 1083305 w 2825750"/>
              <a:gd name="T13" fmla="*/ 33911 h 16467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25750"/>
              <a:gd name="T22" fmla="*/ 0 h 1646767"/>
              <a:gd name="T23" fmla="*/ 2825750 w 2825750"/>
              <a:gd name="T24" fmla="*/ 1646767 h 164676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25750" h="1646767">
                <a:moveTo>
                  <a:pt x="0" y="1646767"/>
                </a:moveTo>
                <a:cubicBezTo>
                  <a:pt x="4233" y="1499658"/>
                  <a:pt x="8467" y="1352550"/>
                  <a:pt x="63500" y="1176867"/>
                </a:cubicBezTo>
                <a:cubicBezTo>
                  <a:pt x="118533" y="1001184"/>
                  <a:pt x="190500" y="751417"/>
                  <a:pt x="330200" y="592667"/>
                </a:cubicBezTo>
                <a:cubicBezTo>
                  <a:pt x="469900" y="433917"/>
                  <a:pt x="660400" y="309034"/>
                  <a:pt x="901700" y="224367"/>
                </a:cubicBezTo>
                <a:cubicBezTo>
                  <a:pt x="1143000" y="139700"/>
                  <a:pt x="1485900" y="120650"/>
                  <a:pt x="1778000" y="84667"/>
                </a:cubicBezTo>
                <a:cubicBezTo>
                  <a:pt x="2070100" y="48684"/>
                  <a:pt x="2482850" y="16934"/>
                  <a:pt x="2654300" y="8467"/>
                </a:cubicBezTo>
                <a:cubicBezTo>
                  <a:pt x="2825750" y="0"/>
                  <a:pt x="2816225" y="16933"/>
                  <a:pt x="2806700" y="33867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97" name="Freeform 96"/>
          <p:cNvSpPr/>
          <p:nvPr/>
        </p:nvSpPr>
        <p:spPr bwMode="auto">
          <a:xfrm flipV="1">
            <a:off x="1011238" y="4202113"/>
            <a:ext cx="2057400" cy="1647825"/>
          </a:xfrm>
          <a:custGeom>
            <a:avLst/>
            <a:gdLst>
              <a:gd name="connsiteX0" fmla="*/ 0 w 2825750"/>
              <a:gd name="connsiteY0" fmla="*/ 1646767 h 1646767"/>
              <a:gd name="connsiteX1" fmla="*/ 63500 w 2825750"/>
              <a:gd name="connsiteY1" fmla="*/ 1176867 h 1646767"/>
              <a:gd name="connsiteX2" fmla="*/ 330200 w 2825750"/>
              <a:gd name="connsiteY2" fmla="*/ 592667 h 1646767"/>
              <a:gd name="connsiteX3" fmla="*/ 901700 w 2825750"/>
              <a:gd name="connsiteY3" fmla="*/ 224367 h 1646767"/>
              <a:gd name="connsiteX4" fmla="*/ 1778000 w 2825750"/>
              <a:gd name="connsiteY4" fmla="*/ 84667 h 1646767"/>
              <a:gd name="connsiteX5" fmla="*/ 2654300 w 2825750"/>
              <a:gd name="connsiteY5" fmla="*/ 8467 h 1646767"/>
              <a:gd name="connsiteX6" fmla="*/ 2806700 w 2825750"/>
              <a:gd name="connsiteY6" fmla="*/ 33867 h 1646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5750" h="1646767">
                <a:moveTo>
                  <a:pt x="0" y="1646767"/>
                </a:moveTo>
                <a:cubicBezTo>
                  <a:pt x="4233" y="1499658"/>
                  <a:pt x="8467" y="1352550"/>
                  <a:pt x="63500" y="1176867"/>
                </a:cubicBezTo>
                <a:cubicBezTo>
                  <a:pt x="118533" y="1001184"/>
                  <a:pt x="190500" y="751417"/>
                  <a:pt x="330200" y="592667"/>
                </a:cubicBezTo>
                <a:cubicBezTo>
                  <a:pt x="469900" y="433917"/>
                  <a:pt x="660400" y="309034"/>
                  <a:pt x="901700" y="224367"/>
                </a:cubicBezTo>
                <a:cubicBezTo>
                  <a:pt x="1143000" y="139700"/>
                  <a:pt x="1485900" y="120650"/>
                  <a:pt x="1778000" y="84667"/>
                </a:cubicBezTo>
                <a:cubicBezTo>
                  <a:pt x="2070100" y="48684"/>
                  <a:pt x="2482850" y="16934"/>
                  <a:pt x="2654300" y="8467"/>
                </a:cubicBezTo>
                <a:cubicBezTo>
                  <a:pt x="2825750" y="0"/>
                  <a:pt x="2816225" y="16933"/>
                  <a:pt x="2806700" y="33867"/>
                </a:cubicBezTo>
              </a:path>
            </a:pathLst>
          </a:custGeom>
          <a:noFill/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 sz="1600"/>
          </a:p>
        </p:txBody>
      </p:sp>
      <p:sp>
        <p:nvSpPr>
          <p:cNvPr id="33799" name="TextBox 100"/>
          <p:cNvSpPr txBox="1">
            <a:spLocks noChangeArrowheads="1"/>
          </p:cNvSpPr>
          <p:nvPr/>
        </p:nvSpPr>
        <p:spPr bwMode="auto">
          <a:xfrm>
            <a:off x="2611438" y="4300538"/>
            <a:ext cx="1930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Voltage rises to maximum</a:t>
            </a:r>
          </a:p>
        </p:txBody>
      </p:sp>
      <p:sp>
        <p:nvSpPr>
          <p:cNvPr id="33800" name="TextBox 101"/>
          <p:cNvSpPr txBox="1">
            <a:spLocks noChangeArrowheads="1"/>
          </p:cNvSpPr>
          <p:nvPr/>
        </p:nvSpPr>
        <p:spPr bwMode="auto">
          <a:xfrm>
            <a:off x="2573338" y="5151438"/>
            <a:ext cx="1930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Current falls to zero</a:t>
            </a:r>
          </a:p>
        </p:txBody>
      </p:sp>
      <p:grpSp>
        <p:nvGrpSpPr>
          <p:cNvPr id="4" name="Group 102"/>
          <p:cNvGrpSpPr>
            <a:grpSpLocks/>
          </p:cNvGrpSpPr>
          <p:nvPr/>
        </p:nvGrpSpPr>
        <p:grpSpPr bwMode="auto">
          <a:xfrm>
            <a:off x="5208588" y="1266825"/>
            <a:ext cx="3182937" cy="2613025"/>
            <a:chOff x="385763" y="2028825"/>
            <a:chExt cx="3182937" cy="2613025"/>
          </a:xfrm>
        </p:grpSpPr>
        <p:sp>
          <p:nvSpPr>
            <p:cNvPr id="33823" name="Text Box 7"/>
            <p:cNvSpPr txBox="1">
              <a:spLocks noChangeArrowheads="1"/>
            </p:cNvSpPr>
            <p:nvPr/>
          </p:nvSpPr>
          <p:spPr bwMode="auto">
            <a:xfrm>
              <a:off x="1906589" y="2217739"/>
              <a:ext cx="404812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GB" sz="1200"/>
                <a:t>L</a:t>
              </a:r>
              <a:endParaRPr lang="en-GB"/>
            </a:p>
          </p:txBody>
        </p:sp>
        <p:sp>
          <p:nvSpPr>
            <p:cNvPr id="33824" name="Line 10"/>
            <p:cNvSpPr>
              <a:spLocks noChangeShapeType="1"/>
            </p:cNvSpPr>
            <p:nvPr/>
          </p:nvSpPr>
          <p:spPr bwMode="auto">
            <a:xfrm flipV="1">
              <a:off x="661988" y="2036763"/>
              <a:ext cx="0" cy="12160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25" name="Line 11"/>
            <p:cNvSpPr>
              <a:spLocks noChangeShapeType="1"/>
            </p:cNvSpPr>
            <p:nvPr/>
          </p:nvSpPr>
          <p:spPr bwMode="auto">
            <a:xfrm flipV="1">
              <a:off x="661988" y="2036763"/>
              <a:ext cx="13271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26" name="Line 13"/>
            <p:cNvSpPr>
              <a:spLocks noChangeShapeType="1"/>
            </p:cNvSpPr>
            <p:nvPr/>
          </p:nvSpPr>
          <p:spPr bwMode="auto">
            <a:xfrm>
              <a:off x="3435351" y="2028825"/>
              <a:ext cx="11112" cy="26098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27" name="Line 14"/>
            <p:cNvSpPr>
              <a:spLocks noChangeShapeType="1"/>
            </p:cNvSpPr>
            <p:nvPr/>
          </p:nvSpPr>
          <p:spPr bwMode="auto">
            <a:xfrm>
              <a:off x="679451" y="4641850"/>
              <a:ext cx="2765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28" name="Line 15"/>
            <p:cNvSpPr>
              <a:spLocks noChangeShapeType="1"/>
            </p:cNvSpPr>
            <p:nvPr/>
          </p:nvSpPr>
          <p:spPr bwMode="auto">
            <a:xfrm flipV="1">
              <a:off x="679451" y="3425825"/>
              <a:ext cx="0" cy="12160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29" name="Line 16"/>
            <p:cNvSpPr>
              <a:spLocks noChangeShapeType="1"/>
            </p:cNvSpPr>
            <p:nvPr/>
          </p:nvSpPr>
          <p:spPr bwMode="auto">
            <a:xfrm flipH="1">
              <a:off x="385763" y="3276600"/>
              <a:ext cx="608013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30" name="Line 17"/>
            <p:cNvSpPr>
              <a:spLocks noChangeShapeType="1"/>
            </p:cNvSpPr>
            <p:nvPr/>
          </p:nvSpPr>
          <p:spPr bwMode="auto">
            <a:xfrm flipV="1">
              <a:off x="534988" y="3405188"/>
              <a:ext cx="29527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31" name="Line 21"/>
            <p:cNvSpPr>
              <a:spLocks noChangeShapeType="1"/>
            </p:cNvSpPr>
            <p:nvPr/>
          </p:nvSpPr>
          <p:spPr bwMode="auto">
            <a:xfrm flipV="1">
              <a:off x="2174876" y="2036763"/>
              <a:ext cx="127158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3832" name="Rectangle 113"/>
            <p:cNvSpPr>
              <a:spLocks noChangeArrowheads="1"/>
            </p:cNvSpPr>
            <p:nvPr/>
          </p:nvSpPr>
          <p:spPr bwMode="auto">
            <a:xfrm>
              <a:off x="3340100" y="2933700"/>
              <a:ext cx="228600" cy="74930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833" name="Text Box 7"/>
            <p:cNvSpPr txBox="1">
              <a:spLocks noChangeArrowheads="1"/>
            </p:cNvSpPr>
            <p:nvPr/>
          </p:nvSpPr>
          <p:spPr bwMode="auto">
            <a:xfrm>
              <a:off x="3049589" y="3144839"/>
              <a:ext cx="404812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GB" sz="1200"/>
                <a:t>R</a:t>
              </a:r>
              <a:endParaRPr lang="en-GB"/>
            </a:p>
          </p:txBody>
        </p:sp>
      </p:grpSp>
      <p:pic>
        <p:nvPicPr>
          <p:cNvPr id="33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00775" y="1136650"/>
            <a:ext cx="1292225" cy="269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33803" name="Straight Connector 133"/>
          <p:cNvCxnSpPr>
            <a:cxnSpLocks noChangeShapeType="1"/>
          </p:cNvCxnSpPr>
          <p:nvPr/>
        </p:nvCxnSpPr>
        <p:spPr bwMode="auto">
          <a:xfrm rot="5400000">
            <a:off x="4660900" y="5168900"/>
            <a:ext cx="18542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04" name="Straight Connector 134"/>
          <p:cNvCxnSpPr>
            <a:cxnSpLocks noChangeShapeType="1"/>
          </p:cNvCxnSpPr>
          <p:nvPr/>
        </p:nvCxnSpPr>
        <p:spPr bwMode="auto">
          <a:xfrm>
            <a:off x="5499100" y="5892800"/>
            <a:ext cx="217328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6" name="Freeform 135"/>
          <p:cNvSpPr/>
          <p:nvPr/>
        </p:nvSpPr>
        <p:spPr bwMode="auto">
          <a:xfrm>
            <a:off x="5600700" y="4246563"/>
            <a:ext cx="2057400" cy="1646237"/>
          </a:xfrm>
          <a:custGeom>
            <a:avLst/>
            <a:gdLst>
              <a:gd name="connsiteX0" fmla="*/ 0 w 2825750"/>
              <a:gd name="connsiteY0" fmla="*/ 1646767 h 1646767"/>
              <a:gd name="connsiteX1" fmla="*/ 63500 w 2825750"/>
              <a:gd name="connsiteY1" fmla="*/ 1176867 h 1646767"/>
              <a:gd name="connsiteX2" fmla="*/ 330200 w 2825750"/>
              <a:gd name="connsiteY2" fmla="*/ 592667 h 1646767"/>
              <a:gd name="connsiteX3" fmla="*/ 901700 w 2825750"/>
              <a:gd name="connsiteY3" fmla="*/ 224367 h 1646767"/>
              <a:gd name="connsiteX4" fmla="*/ 1778000 w 2825750"/>
              <a:gd name="connsiteY4" fmla="*/ 84667 h 1646767"/>
              <a:gd name="connsiteX5" fmla="*/ 2654300 w 2825750"/>
              <a:gd name="connsiteY5" fmla="*/ 8467 h 1646767"/>
              <a:gd name="connsiteX6" fmla="*/ 2806700 w 2825750"/>
              <a:gd name="connsiteY6" fmla="*/ 33867 h 1646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5750" h="1646767">
                <a:moveTo>
                  <a:pt x="0" y="1646767"/>
                </a:moveTo>
                <a:cubicBezTo>
                  <a:pt x="4233" y="1499658"/>
                  <a:pt x="8467" y="1352550"/>
                  <a:pt x="63500" y="1176867"/>
                </a:cubicBezTo>
                <a:cubicBezTo>
                  <a:pt x="118533" y="1001184"/>
                  <a:pt x="190500" y="751417"/>
                  <a:pt x="330200" y="592667"/>
                </a:cubicBezTo>
                <a:cubicBezTo>
                  <a:pt x="469900" y="433917"/>
                  <a:pt x="660400" y="309034"/>
                  <a:pt x="901700" y="224367"/>
                </a:cubicBezTo>
                <a:cubicBezTo>
                  <a:pt x="1143000" y="139700"/>
                  <a:pt x="1485900" y="120650"/>
                  <a:pt x="1778000" y="84667"/>
                </a:cubicBezTo>
                <a:cubicBezTo>
                  <a:pt x="2070100" y="48684"/>
                  <a:pt x="2482850" y="16934"/>
                  <a:pt x="2654300" y="8467"/>
                </a:cubicBezTo>
                <a:cubicBezTo>
                  <a:pt x="2825750" y="0"/>
                  <a:pt x="2816225" y="16933"/>
                  <a:pt x="2806700" y="33867"/>
                </a:cubicBezTo>
              </a:path>
            </a:pathLst>
          </a:custGeom>
          <a:noFill/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 sz="1600"/>
          </a:p>
        </p:txBody>
      </p:sp>
      <p:sp>
        <p:nvSpPr>
          <p:cNvPr id="33806" name="Freeform 136"/>
          <p:cNvSpPr>
            <a:spLocks/>
          </p:cNvSpPr>
          <p:nvPr/>
        </p:nvSpPr>
        <p:spPr bwMode="auto">
          <a:xfrm flipV="1">
            <a:off x="5613400" y="4233863"/>
            <a:ext cx="2057400" cy="1646237"/>
          </a:xfrm>
          <a:custGeom>
            <a:avLst/>
            <a:gdLst>
              <a:gd name="T0" fmla="*/ 0 w 2825750"/>
              <a:gd name="T1" fmla="*/ 1645707 h 1646767"/>
              <a:gd name="T2" fmla="*/ 24510 w 2825750"/>
              <a:gd name="T3" fmla="*/ 1176109 h 1646767"/>
              <a:gd name="T4" fmla="*/ 127448 w 2825750"/>
              <a:gd name="T5" fmla="*/ 592285 h 1646767"/>
              <a:gd name="T6" fmla="*/ 348031 w 2825750"/>
              <a:gd name="T7" fmla="*/ 224223 h 1646767"/>
              <a:gd name="T8" fmla="*/ 686257 w 2825750"/>
              <a:gd name="T9" fmla="*/ 84613 h 1646767"/>
              <a:gd name="T10" fmla="*/ 1024484 w 2825750"/>
              <a:gd name="T11" fmla="*/ 8461 h 1646767"/>
              <a:gd name="T12" fmla="*/ 1083305 w 2825750"/>
              <a:gd name="T13" fmla="*/ 33845 h 16467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25750"/>
              <a:gd name="T22" fmla="*/ 0 h 1646767"/>
              <a:gd name="T23" fmla="*/ 2825750 w 2825750"/>
              <a:gd name="T24" fmla="*/ 1646767 h 164676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25750" h="1646767">
                <a:moveTo>
                  <a:pt x="0" y="1646767"/>
                </a:moveTo>
                <a:cubicBezTo>
                  <a:pt x="4233" y="1499658"/>
                  <a:pt x="8467" y="1352550"/>
                  <a:pt x="63500" y="1176867"/>
                </a:cubicBezTo>
                <a:cubicBezTo>
                  <a:pt x="118533" y="1001184"/>
                  <a:pt x="190500" y="751417"/>
                  <a:pt x="330200" y="592667"/>
                </a:cubicBezTo>
                <a:cubicBezTo>
                  <a:pt x="469900" y="433917"/>
                  <a:pt x="660400" y="309034"/>
                  <a:pt x="901700" y="224367"/>
                </a:cubicBezTo>
                <a:cubicBezTo>
                  <a:pt x="1143000" y="139700"/>
                  <a:pt x="1485900" y="120650"/>
                  <a:pt x="1778000" y="84667"/>
                </a:cubicBezTo>
                <a:cubicBezTo>
                  <a:pt x="2070100" y="48684"/>
                  <a:pt x="2482850" y="16934"/>
                  <a:pt x="2654300" y="8467"/>
                </a:cubicBezTo>
                <a:cubicBezTo>
                  <a:pt x="2825750" y="0"/>
                  <a:pt x="2816225" y="16933"/>
                  <a:pt x="2806700" y="33867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33807" name="TextBox 137"/>
          <p:cNvSpPr txBox="1">
            <a:spLocks noChangeArrowheads="1"/>
          </p:cNvSpPr>
          <p:nvPr/>
        </p:nvSpPr>
        <p:spPr bwMode="auto">
          <a:xfrm>
            <a:off x="7213600" y="4330700"/>
            <a:ext cx="1930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Current rises to maximum</a:t>
            </a:r>
          </a:p>
        </p:txBody>
      </p:sp>
      <p:sp>
        <p:nvSpPr>
          <p:cNvPr id="33808" name="TextBox 138"/>
          <p:cNvSpPr txBox="1">
            <a:spLocks noChangeArrowheads="1"/>
          </p:cNvSpPr>
          <p:nvPr/>
        </p:nvSpPr>
        <p:spPr bwMode="auto">
          <a:xfrm>
            <a:off x="7175500" y="5181600"/>
            <a:ext cx="1930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Voltage falls to zero</a:t>
            </a:r>
          </a:p>
        </p:txBody>
      </p:sp>
      <p:sp>
        <p:nvSpPr>
          <p:cNvPr id="33809" name="TextBox 139"/>
          <p:cNvSpPr txBox="1">
            <a:spLocks noChangeArrowheads="1"/>
          </p:cNvSpPr>
          <p:nvPr/>
        </p:nvSpPr>
        <p:spPr bwMode="auto">
          <a:xfrm>
            <a:off x="395288" y="331788"/>
            <a:ext cx="81216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Capacitor and Inductor – when </a:t>
            </a:r>
            <a:r>
              <a:rPr lang="en-GB" sz="2400" b="1" i="1"/>
              <a:t>DC  </a:t>
            </a:r>
            <a:r>
              <a:rPr lang="en-GB" sz="2400" b="1"/>
              <a:t>voltage is applied</a:t>
            </a:r>
          </a:p>
        </p:txBody>
      </p:sp>
      <p:grpSp>
        <p:nvGrpSpPr>
          <p:cNvPr id="5" name="Group 144"/>
          <p:cNvGrpSpPr>
            <a:grpSpLocks/>
          </p:cNvGrpSpPr>
          <p:nvPr/>
        </p:nvGrpSpPr>
        <p:grpSpPr bwMode="auto">
          <a:xfrm>
            <a:off x="2489200" y="5862638"/>
            <a:ext cx="528638" cy="338137"/>
            <a:chOff x="2651760" y="6309360"/>
            <a:chExt cx="528320" cy="338554"/>
          </a:xfrm>
        </p:grpSpPr>
        <p:sp>
          <p:nvSpPr>
            <p:cNvPr id="33821" name="TextBox 140"/>
            <p:cNvSpPr txBox="1">
              <a:spLocks noChangeArrowheads="1"/>
            </p:cNvSpPr>
            <p:nvPr/>
          </p:nvSpPr>
          <p:spPr bwMode="auto">
            <a:xfrm>
              <a:off x="2651760" y="6309360"/>
              <a:ext cx="26161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i="1"/>
                <a:t>t</a:t>
              </a:r>
            </a:p>
          </p:txBody>
        </p:sp>
        <p:cxnSp>
          <p:nvCxnSpPr>
            <p:cNvPr id="33822" name="Straight Arrow Connector 142"/>
            <p:cNvCxnSpPr>
              <a:cxnSpLocks noChangeShapeType="1"/>
              <a:stCxn id="33821" idx="3"/>
            </p:cNvCxnSpPr>
            <p:nvPr/>
          </p:nvCxnSpPr>
          <p:spPr bwMode="auto">
            <a:xfrm>
              <a:off x="2913370" y="6478637"/>
              <a:ext cx="266710" cy="344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grpSp>
        <p:nvGrpSpPr>
          <p:cNvPr id="6" name="Group 145"/>
          <p:cNvGrpSpPr>
            <a:grpSpLocks/>
          </p:cNvGrpSpPr>
          <p:nvPr/>
        </p:nvGrpSpPr>
        <p:grpSpPr bwMode="auto">
          <a:xfrm>
            <a:off x="7285038" y="5872163"/>
            <a:ext cx="528637" cy="338137"/>
            <a:chOff x="2651760" y="6309360"/>
            <a:chExt cx="528320" cy="338554"/>
          </a:xfrm>
        </p:grpSpPr>
        <p:sp>
          <p:nvSpPr>
            <p:cNvPr id="33819" name="TextBox 146"/>
            <p:cNvSpPr txBox="1">
              <a:spLocks noChangeArrowheads="1"/>
            </p:cNvSpPr>
            <p:nvPr/>
          </p:nvSpPr>
          <p:spPr bwMode="auto">
            <a:xfrm>
              <a:off x="2651760" y="6309360"/>
              <a:ext cx="26161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i="1"/>
                <a:t>t</a:t>
              </a:r>
            </a:p>
          </p:txBody>
        </p:sp>
        <p:cxnSp>
          <p:nvCxnSpPr>
            <p:cNvPr id="33820" name="Straight Arrow Connector 147"/>
            <p:cNvCxnSpPr>
              <a:cxnSpLocks noChangeShapeType="1"/>
              <a:stCxn id="33819" idx="3"/>
            </p:cNvCxnSpPr>
            <p:nvPr/>
          </p:nvCxnSpPr>
          <p:spPr bwMode="auto">
            <a:xfrm>
              <a:off x="2913370" y="6478637"/>
              <a:ext cx="266710" cy="344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grpSp>
        <p:nvGrpSpPr>
          <p:cNvPr id="7" name="Group 151"/>
          <p:cNvGrpSpPr>
            <a:grpSpLocks/>
          </p:cNvGrpSpPr>
          <p:nvPr/>
        </p:nvGrpSpPr>
        <p:grpSpPr bwMode="auto">
          <a:xfrm>
            <a:off x="5038725" y="4156075"/>
            <a:ext cx="482600" cy="447675"/>
            <a:chOff x="4511040" y="4298474"/>
            <a:chExt cx="481222" cy="447040"/>
          </a:xfrm>
        </p:grpSpPr>
        <p:sp>
          <p:nvSpPr>
            <p:cNvPr id="149" name="TextBox 148"/>
            <p:cNvSpPr txBox="1"/>
            <p:nvPr/>
          </p:nvSpPr>
          <p:spPr>
            <a:xfrm>
              <a:off x="4511040" y="4368225"/>
              <a:ext cx="481222" cy="3392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00" i="1" dirty="0">
                  <a:solidFill>
                    <a:srgbClr val="FF0066"/>
                  </a:solidFill>
                </a:rPr>
                <a:t>v</a:t>
              </a:r>
              <a:r>
                <a:rPr lang="en-GB" sz="1600" i="1" dirty="0"/>
                <a:t>, </a:t>
              </a:r>
              <a:r>
                <a:rPr lang="en-GB" sz="1600" i="1" dirty="0" err="1">
                  <a:solidFill>
                    <a:schemeClr val="accent1">
                      <a:lumMod val="75000"/>
                    </a:schemeClr>
                  </a:solidFill>
                </a:rPr>
                <a:t>i</a:t>
              </a:r>
              <a:endParaRPr lang="en-GB" sz="16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3818" name="Straight Arrow Connector 150"/>
            <p:cNvCxnSpPr>
              <a:cxnSpLocks noChangeShapeType="1"/>
            </p:cNvCxnSpPr>
            <p:nvPr/>
          </p:nvCxnSpPr>
          <p:spPr bwMode="auto">
            <a:xfrm rot="5400000" flipH="1" flipV="1">
              <a:off x="4765040" y="4521200"/>
              <a:ext cx="44704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grpSp>
        <p:nvGrpSpPr>
          <p:cNvPr id="8" name="Group 152"/>
          <p:cNvGrpSpPr>
            <a:grpSpLocks/>
          </p:cNvGrpSpPr>
          <p:nvPr/>
        </p:nvGrpSpPr>
        <p:grpSpPr bwMode="auto">
          <a:xfrm>
            <a:off x="395288" y="4125913"/>
            <a:ext cx="481012" cy="447675"/>
            <a:chOff x="4511040" y="4298474"/>
            <a:chExt cx="481222" cy="447040"/>
          </a:xfrm>
        </p:grpSpPr>
        <p:sp>
          <p:nvSpPr>
            <p:cNvPr id="154" name="TextBox 153"/>
            <p:cNvSpPr txBox="1"/>
            <p:nvPr/>
          </p:nvSpPr>
          <p:spPr>
            <a:xfrm>
              <a:off x="4511040" y="4368225"/>
              <a:ext cx="481222" cy="3392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00" i="1" dirty="0">
                  <a:solidFill>
                    <a:srgbClr val="FF0066"/>
                  </a:solidFill>
                </a:rPr>
                <a:t>v</a:t>
              </a:r>
              <a:r>
                <a:rPr lang="en-GB" sz="1600" i="1" dirty="0"/>
                <a:t>, </a:t>
              </a:r>
              <a:r>
                <a:rPr lang="en-GB" sz="1600" i="1" dirty="0" err="1">
                  <a:solidFill>
                    <a:schemeClr val="accent1">
                      <a:lumMod val="75000"/>
                    </a:schemeClr>
                  </a:solidFill>
                </a:rPr>
                <a:t>i</a:t>
              </a:r>
              <a:endParaRPr lang="en-GB" sz="16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3816" name="Straight Arrow Connector 154"/>
            <p:cNvCxnSpPr>
              <a:cxnSpLocks noChangeShapeType="1"/>
            </p:cNvCxnSpPr>
            <p:nvPr/>
          </p:nvCxnSpPr>
          <p:spPr bwMode="auto">
            <a:xfrm rot="5400000" flipH="1" flipV="1">
              <a:off x="4765040" y="4521200"/>
              <a:ext cx="44704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sp>
        <p:nvSpPr>
          <p:cNvPr id="33814" name="Rectangle 155"/>
          <p:cNvSpPr>
            <a:spLocks noChangeArrowheads="1"/>
          </p:cNvSpPr>
          <p:nvPr/>
        </p:nvSpPr>
        <p:spPr bwMode="auto">
          <a:xfrm>
            <a:off x="4281488" y="6337300"/>
            <a:ext cx="4862512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050" b="1"/>
              <a:t>for further detail – see http://www.opamp-electronics.com/tutorials</a:t>
            </a:r>
          </a:p>
        </p:txBody>
      </p:sp>
    </p:spTree>
    <p:extLst>
      <p:ext uri="{BB962C8B-B14F-4D97-AF65-F5344CB8AC3E}">
        <p14:creationId xmlns:p14="http://schemas.microsoft.com/office/powerpoint/2010/main" val="13165959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4033837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Resistance – to </a:t>
            </a:r>
            <a:r>
              <a:rPr lang="en-GB" sz="2400" b="1" i="1"/>
              <a:t>AC  </a:t>
            </a:r>
            <a:r>
              <a:rPr lang="en-GB" sz="2400" b="1"/>
              <a:t>Signal</a:t>
            </a:r>
            <a:endParaRPr lang="en-US" sz="2400" b="1"/>
          </a:p>
        </p:txBody>
      </p:sp>
      <p:pic>
        <p:nvPicPr>
          <p:cNvPr id="34819" name="Picture 2" descr="http://www.faqs.org/docs/electric/AC/0205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7963" y="784225"/>
            <a:ext cx="163830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0" name="Picture 4" descr="http://www.faqs.org/docs/electric/AC/0205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8250" y="2297113"/>
            <a:ext cx="3790950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1" name="Picture 6" descr="http://www.faqs.org/docs/electric/AC/02055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18088" y="4246563"/>
            <a:ext cx="379095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2" name="TextBox 5"/>
          <p:cNvSpPr txBox="1">
            <a:spLocks noChangeArrowheads="1"/>
          </p:cNvSpPr>
          <p:nvPr/>
        </p:nvSpPr>
        <p:spPr bwMode="auto">
          <a:xfrm>
            <a:off x="395288" y="1127125"/>
            <a:ext cx="150812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Pure resistive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288" y="3952875"/>
            <a:ext cx="4359275" cy="163121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/>
              <a:t>power also </a:t>
            </a:r>
            <a:r>
              <a:rPr lang="en-GB" sz="1600" i="1" dirty="0"/>
              <a:t>in phase 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when </a:t>
            </a:r>
            <a:r>
              <a:rPr lang="en-GB" sz="1600" dirty="0" err="1"/>
              <a:t>i</a:t>
            </a:r>
            <a:r>
              <a:rPr lang="en-GB" sz="1600" dirty="0"/>
              <a:t> and e both +</a:t>
            </a:r>
            <a:r>
              <a:rPr lang="en-GB" sz="1600" dirty="0" err="1"/>
              <a:t>ve</a:t>
            </a:r>
            <a:r>
              <a:rPr lang="en-GB" sz="1600" dirty="0"/>
              <a:t>; p is +</a:t>
            </a:r>
            <a:r>
              <a:rPr lang="en-GB" sz="1600" dirty="0" err="1"/>
              <a:t>ve</a:t>
            </a:r>
            <a:endParaRPr lang="en-GB" sz="1600" dirty="0"/>
          </a:p>
          <a:p>
            <a:pPr marL="182563" indent="-182563">
              <a:buFont typeface="Arial" pitchFamily="34" charset="0"/>
              <a:buChar char="•"/>
              <a:defRPr/>
            </a:pPr>
            <a:endParaRPr lang="en-GB" sz="1600" dirty="0"/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since p=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050" dirty="0"/>
              <a:t>x</a:t>
            </a:r>
            <a:r>
              <a:rPr lang="en-GB" sz="1600" dirty="0"/>
              <a:t> e ...</a:t>
            </a:r>
          </a:p>
          <a:p>
            <a:pPr marL="182563" indent="-182563">
              <a:tabLst>
                <a:tab pos="355600" algn="l"/>
              </a:tabLst>
              <a:defRPr/>
            </a:pPr>
            <a:r>
              <a:rPr lang="en-GB" sz="1600" dirty="0"/>
              <a:t>	when </a:t>
            </a:r>
            <a:r>
              <a:rPr lang="en-GB" sz="1600" dirty="0" err="1"/>
              <a:t>i</a:t>
            </a:r>
            <a:r>
              <a:rPr lang="en-GB" sz="1600" dirty="0"/>
              <a:t> and e both -</a:t>
            </a:r>
            <a:r>
              <a:rPr lang="en-GB" sz="1600" dirty="0" err="1"/>
              <a:t>ve</a:t>
            </a:r>
            <a:r>
              <a:rPr lang="en-GB" sz="1600" dirty="0"/>
              <a:t>; p is still +</a:t>
            </a:r>
            <a:r>
              <a:rPr lang="en-GB" sz="1600" dirty="0" err="1"/>
              <a:t>ve</a:t>
            </a:r>
            <a:r>
              <a:rPr lang="en-GB" sz="1600" dirty="0"/>
              <a:t> </a:t>
            </a:r>
          </a:p>
          <a:p>
            <a:pPr>
              <a:defRPr/>
            </a:pPr>
            <a:r>
              <a:rPr lang="en-GB" sz="1600" dirty="0"/>
              <a:t>	</a:t>
            </a:r>
          </a:p>
        </p:txBody>
      </p:sp>
      <p:sp>
        <p:nvSpPr>
          <p:cNvPr id="34824" name="TextBox 7"/>
          <p:cNvSpPr txBox="1">
            <a:spLocks noChangeArrowheads="1"/>
          </p:cNvSpPr>
          <p:nvPr/>
        </p:nvSpPr>
        <p:spPr bwMode="auto">
          <a:xfrm>
            <a:off x="395288" y="2692400"/>
            <a:ext cx="46132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current (</a:t>
            </a:r>
            <a:r>
              <a:rPr lang="en-GB" sz="1600" dirty="0" err="1"/>
              <a:t>i</a:t>
            </a:r>
            <a:r>
              <a:rPr lang="en-GB" sz="1600" dirty="0"/>
              <a:t>) and voltage (e) are in phase</a:t>
            </a:r>
          </a:p>
        </p:txBody>
      </p:sp>
    </p:spTree>
    <p:extLst>
      <p:ext uri="{BB962C8B-B14F-4D97-AF65-F5344CB8AC3E}">
        <p14:creationId xmlns:p14="http://schemas.microsoft.com/office/powerpoint/2010/main" val="35793564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http://www.faqs.org/docs/electric/AC/0205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18250" y="565150"/>
            <a:ext cx="163830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http://www.faqs.org/docs/electric/AC/02057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1400" y="2089150"/>
            <a:ext cx="37909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6" descr="http://www.faqs.org/docs/electric/AC/02059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02200" y="4530725"/>
            <a:ext cx="37909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4946650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Inductor Reactance to </a:t>
            </a:r>
            <a:r>
              <a:rPr lang="en-GB" sz="2400" b="1" i="1"/>
              <a:t>AC </a:t>
            </a:r>
            <a:r>
              <a:rPr lang="en-GB" sz="2400" b="1"/>
              <a:t>signal</a:t>
            </a:r>
            <a:endParaRPr lang="en-US" sz="2400" b="1"/>
          </a:p>
        </p:txBody>
      </p:sp>
      <p:sp>
        <p:nvSpPr>
          <p:cNvPr id="1031" name="TextBox 5"/>
          <p:cNvSpPr txBox="1">
            <a:spLocks noChangeArrowheads="1"/>
          </p:cNvSpPr>
          <p:nvPr/>
        </p:nvSpPr>
        <p:spPr bwMode="auto">
          <a:xfrm>
            <a:off x="5089525" y="836613"/>
            <a:ext cx="108902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Inductive</a:t>
            </a:r>
          </a:p>
        </p:txBody>
      </p:sp>
      <p:sp>
        <p:nvSpPr>
          <p:cNvPr id="1032" name="TextBox 6"/>
          <p:cNvSpPr txBox="1">
            <a:spLocks noChangeArrowheads="1"/>
          </p:cNvSpPr>
          <p:nvPr/>
        </p:nvSpPr>
        <p:spPr bwMode="auto">
          <a:xfrm>
            <a:off x="395288" y="873125"/>
            <a:ext cx="412591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>
              <a:buFont typeface="Arial" charset="0"/>
              <a:buChar char="•"/>
            </a:pPr>
            <a:r>
              <a:rPr lang="en-GB" sz="1600" dirty="0"/>
              <a:t>voltage is applied to inductor, but due to the windings of the inductor, self-inductance occurs which forma a current which opposes the applied current</a:t>
            </a:r>
          </a:p>
          <a:p>
            <a:pPr marL="182563" indent="-182563">
              <a:buFont typeface="Arial" charset="0"/>
              <a:buChar char="•"/>
            </a:pPr>
            <a:endParaRPr lang="en-GB" sz="1600" dirty="0"/>
          </a:p>
          <a:p>
            <a:pPr marL="182563" indent="-182563">
              <a:buFont typeface="Arial" charset="0"/>
              <a:buChar char="•"/>
            </a:pPr>
            <a:r>
              <a:rPr lang="en-GB" sz="1600" b="1" dirty="0"/>
              <a:t>The over all effect is that the resulting current lags the voltage applied by 90º</a:t>
            </a:r>
          </a:p>
        </p:txBody>
      </p:sp>
      <p:sp>
        <p:nvSpPr>
          <p:cNvPr id="1033" name="TextBox 7"/>
          <p:cNvSpPr txBox="1">
            <a:spLocks noChangeArrowheads="1"/>
          </p:cNvSpPr>
          <p:nvPr/>
        </p:nvSpPr>
        <p:spPr bwMode="auto">
          <a:xfrm>
            <a:off x="395288" y="3402013"/>
            <a:ext cx="4471987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>
              <a:buFont typeface="Arial" charset="0"/>
              <a:buChar char="•"/>
            </a:pPr>
            <a:r>
              <a:rPr lang="en-GB" sz="1600"/>
              <a:t>Because instantaneous power p=i </a:t>
            </a:r>
            <a:r>
              <a:rPr lang="en-GB" sz="1050"/>
              <a:t>x</a:t>
            </a:r>
            <a:r>
              <a:rPr lang="en-GB" sz="1600"/>
              <a:t> e </a:t>
            </a:r>
          </a:p>
          <a:p>
            <a:pPr marL="182563" indent="-182563">
              <a:buFont typeface="Arial" charset="0"/>
              <a:buChar char="•"/>
            </a:pPr>
            <a:r>
              <a:rPr lang="en-GB" sz="1600"/>
              <a:t>p =0 whenever i=0 or e=0</a:t>
            </a:r>
          </a:p>
          <a:p>
            <a:pPr marL="182563" indent="-182563">
              <a:buFont typeface="Arial" charset="0"/>
              <a:buChar char="•"/>
            </a:pPr>
            <a:r>
              <a:rPr lang="en-GB" sz="1600"/>
              <a:t>when i and e are both +ve power is positive</a:t>
            </a:r>
          </a:p>
          <a:p>
            <a:pPr marL="182563" indent="-182563">
              <a:buFont typeface="Arial" charset="0"/>
              <a:buChar char="•"/>
            </a:pPr>
            <a:r>
              <a:rPr lang="en-GB" sz="1600"/>
              <a:t>when i and e are both -ve power is still positive</a:t>
            </a:r>
          </a:p>
          <a:p>
            <a:pPr marL="182563" indent="-182563">
              <a:buFont typeface="Arial" charset="0"/>
              <a:buChar char="•"/>
            </a:pPr>
            <a:endParaRPr lang="en-GB" sz="1600"/>
          </a:p>
          <a:p>
            <a:pPr marL="182563" indent="-182563">
              <a:buFont typeface="Arial" charset="0"/>
              <a:buChar char="•"/>
            </a:pPr>
            <a:r>
              <a:rPr lang="en-GB" sz="1600"/>
              <a:t>However, since i and e are now 90</a:t>
            </a:r>
            <a:r>
              <a:rPr lang="en-GB" sz="1600" baseline="30000"/>
              <a:t>o</a:t>
            </a:r>
            <a:r>
              <a:rPr lang="en-GB" sz="1600"/>
              <a:t> out of phase, there are times when one is positive while the other is negative</a:t>
            </a:r>
          </a:p>
          <a:p>
            <a:pPr marL="182563" indent="-182563">
              <a:buFont typeface="Arial" charset="0"/>
              <a:buChar char="•"/>
            </a:pPr>
            <a:r>
              <a:rPr lang="en-GB" sz="1600"/>
              <a:t>resulting in equally frequent occurrences of </a:t>
            </a:r>
            <a:r>
              <a:rPr lang="en-GB" sz="1600" i="1"/>
              <a:t>negative instantaneous power</a:t>
            </a:r>
            <a:endParaRPr lang="en-GB" sz="1600"/>
          </a:p>
        </p:txBody>
      </p:sp>
      <p:graphicFrame>
        <p:nvGraphicFramePr>
          <p:cNvPr id="1026" name="Object 9"/>
          <p:cNvGraphicFramePr>
            <a:graphicFrameLocks noChangeAspect="1"/>
          </p:cNvGraphicFramePr>
          <p:nvPr/>
        </p:nvGraphicFramePr>
        <p:xfrm>
          <a:off x="5216525" y="1298575"/>
          <a:ext cx="10937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6" imgW="723586" imgH="215806" progId="">
                  <p:embed/>
                </p:oleObj>
              </mc:Choice>
              <mc:Fallback>
                <p:oleObj name="Equation" r:id="rId6" imgW="723586" imgH="215806" progId="">
                  <p:embed/>
                  <p:pic>
                    <p:nvPicPr>
                      <p:cNvPr id="102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525" y="1298575"/>
                        <a:ext cx="1093788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42655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5119687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Capacitor Reactance to </a:t>
            </a:r>
            <a:r>
              <a:rPr lang="en-GB" sz="2400" b="1" i="1"/>
              <a:t>AC </a:t>
            </a:r>
            <a:r>
              <a:rPr lang="en-GB" sz="2400" b="1"/>
              <a:t>signal</a:t>
            </a:r>
            <a:endParaRPr lang="en-US" sz="2400" b="1"/>
          </a:p>
        </p:txBody>
      </p:sp>
      <p:pic>
        <p:nvPicPr>
          <p:cNvPr id="2052" name="Picture 2" descr="Simple capacitor circui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906463"/>
            <a:ext cx="17335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4" descr="Plot of the current and voltage of the simple circuit abov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2295525"/>
            <a:ext cx="37909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 descr="Plot showing the 90 degree phase shift between voltage and current results in a power wave that alternates equally between positive and negativ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288" y="4410075"/>
            <a:ext cx="37909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50" name="Object 9"/>
          <p:cNvGraphicFramePr>
            <a:graphicFrameLocks noChangeAspect="1"/>
          </p:cNvGraphicFramePr>
          <p:nvPr/>
        </p:nvGraphicFramePr>
        <p:xfrm>
          <a:off x="2582863" y="1025525"/>
          <a:ext cx="1204912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6" imgW="787400" imgH="419100" progId="">
                  <p:embed/>
                </p:oleObj>
              </mc:Choice>
              <mc:Fallback>
                <p:oleObj name="Equation" r:id="rId6" imgW="787400" imgH="419100" progId="">
                  <p:embed/>
                  <p:pic>
                    <p:nvPicPr>
                      <p:cNvPr id="205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3" y="1025525"/>
                        <a:ext cx="1204912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TextBox 13"/>
          <p:cNvSpPr txBox="1">
            <a:spLocks noChangeArrowheads="1"/>
          </p:cNvSpPr>
          <p:nvPr/>
        </p:nvSpPr>
        <p:spPr bwMode="auto">
          <a:xfrm>
            <a:off x="5375275" y="2316163"/>
            <a:ext cx="29908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1" dirty="0"/>
              <a:t>For a capacitor, the ac voltage lags the current by 90º</a:t>
            </a:r>
          </a:p>
        </p:txBody>
      </p:sp>
    </p:spTree>
    <p:extLst>
      <p:ext uri="{BB962C8B-B14F-4D97-AF65-F5344CB8AC3E}">
        <p14:creationId xmlns:p14="http://schemas.microsoft.com/office/powerpoint/2010/main" val="135302536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5443537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Impedance – Resistive and Reactive</a:t>
            </a:r>
            <a:endParaRPr lang="en-US" sz="2400" b="1"/>
          </a:p>
        </p:txBody>
      </p:sp>
      <p:pic>
        <p:nvPicPr>
          <p:cNvPr id="35843" name="Picture 4" descr="http://www.faqs.org/docs/electric/AC/1200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049338"/>
            <a:ext cx="4162425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4" name="Picture 6" descr="http://www.faqs.org/docs/electric/AC/1200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5208588"/>
            <a:ext cx="436245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5" name="Picture 2" descr="http://www.faqs.org/docs/electric/AC/02018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97213" y="1211263"/>
            <a:ext cx="30765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687389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www.faqs.org/docs/electric/AC/0234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298575"/>
            <a:ext cx="2762250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3524250" y="1290638"/>
            <a:ext cx="5095875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/>
            <a:r>
              <a:rPr lang="en-GB" sz="1600" b="1" i="1" dirty="0"/>
              <a:t>Impedance phase angle for any component is the phase shift between voltage across that component and current through that component. </a:t>
            </a:r>
          </a:p>
          <a:p>
            <a:pPr marL="182563" indent="-182563"/>
            <a:endParaRPr lang="en-GB" sz="1600" dirty="0"/>
          </a:p>
          <a:p>
            <a:pPr marL="182563" indent="-182563"/>
            <a:r>
              <a:rPr lang="en-GB" sz="1600" b="1" dirty="0"/>
              <a:t>For a perfect resistor</a:t>
            </a:r>
          </a:p>
          <a:p>
            <a:pPr marL="182563" indent="-182563">
              <a:buFont typeface="Arial" charset="0"/>
              <a:buChar char="•"/>
            </a:pPr>
            <a:r>
              <a:rPr lang="en-GB" sz="1600" dirty="0"/>
              <a:t>voltage drop and current are </a:t>
            </a:r>
            <a:r>
              <a:rPr lang="en-GB" sz="1600" i="1" dirty="0"/>
              <a:t>always</a:t>
            </a:r>
            <a:r>
              <a:rPr lang="en-GB" sz="1600" dirty="0"/>
              <a:t> in phase with each other</a:t>
            </a:r>
          </a:p>
          <a:p>
            <a:pPr marL="182563" indent="-182563"/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	∴ </a:t>
            </a:r>
            <a:r>
              <a:rPr lang="en-GB" sz="1600" dirty="0"/>
              <a:t>impedance angle of a resistor = 0</a:t>
            </a:r>
            <a:r>
              <a:rPr lang="en-GB" sz="1600" baseline="30000" dirty="0"/>
              <a:t>o</a:t>
            </a:r>
          </a:p>
          <a:p>
            <a:pPr marL="182563" indent="-182563"/>
            <a:endParaRPr lang="en-GB" sz="1600" dirty="0"/>
          </a:p>
          <a:p>
            <a:pPr marL="182563" indent="-182563"/>
            <a:r>
              <a:rPr lang="en-GB" sz="1600" b="1" dirty="0"/>
              <a:t>For an perfect inductor</a:t>
            </a:r>
          </a:p>
          <a:p>
            <a:pPr marL="182563" indent="-182563">
              <a:buFont typeface="Arial" charset="0"/>
              <a:buChar char="•"/>
            </a:pPr>
            <a:r>
              <a:rPr lang="en-GB" sz="1600" dirty="0"/>
              <a:t>voltage drop always leads current by 90</a:t>
            </a:r>
            <a:r>
              <a:rPr lang="en-GB" sz="1600" baseline="30000" dirty="0"/>
              <a:t>o</a:t>
            </a:r>
            <a:r>
              <a:rPr lang="en-GB" sz="1600" dirty="0"/>
              <a:t> </a:t>
            </a:r>
          </a:p>
          <a:p>
            <a:pPr marL="182563" indent="-182563"/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	∴  </a:t>
            </a:r>
            <a:r>
              <a:rPr lang="en-GB" sz="1600" dirty="0"/>
              <a:t>inductor's impedance phase angle = +90</a:t>
            </a:r>
            <a:r>
              <a:rPr lang="en-GB" sz="1600" baseline="30000" dirty="0"/>
              <a:t>o</a:t>
            </a:r>
          </a:p>
          <a:p>
            <a:pPr marL="182563" indent="-182563"/>
            <a:endParaRPr lang="en-GB" sz="1600" dirty="0"/>
          </a:p>
          <a:p>
            <a:pPr marL="182563" indent="-182563"/>
            <a:r>
              <a:rPr lang="en-GB" sz="1600" b="1" dirty="0"/>
              <a:t>For a perfect capacitor</a:t>
            </a:r>
          </a:p>
          <a:p>
            <a:pPr marL="182563" indent="-182563">
              <a:buFont typeface="Arial" charset="0"/>
              <a:buChar char="•"/>
            </a:pPr>
            <a:r>
              <a:rPr lang="en-GB" sz="1600" dirty="0"/>
              <a:t>voltage drop always lags current by 90</a:t>
            </a:r>
            <a:r>
              <a:rPr lang="en-GB" sz="1600" baseline="30000" dirty="0"/>
              <a:t>o</a:t>
            </a:r>
          </a:p>
          <a:p>
            <a:pPr marL="182563" indent="-182563"/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	∴  </a:t>
            </a:r>
            <a:r>
              <a:rPr lang="en-GB" sz="1600" dirty="0"/>
              <a:t>capacitor's impedance phase angle = -90</a:t>
            </a:r>
            <a:r>
              <a:rPr lang="en-GB" sz="1600" baseline="30000" dirty="0"/>
              <a:t>o</a:t>
            </a:r>
            <a:r>
              <a:rPr lang="en-GB" sz="1600" dirty="0"/>
              <a:t>.</a:t>
            </a:r>
          </a:p>
          <a:p>
            <a:pPr marL="182563" indent="-182563"/>
            <a:endParaRPr lang="en-GB" sz="1600" dirty="0"/>
          </a:p>
        </p:txBody>
      </p:sp>
      <p:sp>
        <p:nvSpPr>
          <p:cNvPr id="36868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5443537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Impedance – Resistive and Reactive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12221107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4" descr="http://www.faqs.org/docs/electric/AC/0202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7525" y="1609725"/>
            <a:ext cx="70405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1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1044575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Phase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7594780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http://www.faqs.org/docs/electric/AC/0202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189038"/>
            <a:ext cx="5191125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1044575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Phase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26646288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4" descr="http://www.faqs.org/docs/electric/AC/0203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149350"/>
            <a:ext cx="7097712" cy="513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39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2536825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Phase - Vectors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24555063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2536825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Phase - Vectors</a:t>
            </a:r>
            <a:endParaRPr lang="en-US" sz="2400" b="1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95288" y="1258888"/>
            <a:ext cx="7958137" cy="2449512"/>
            <a:chOff x="395288" y="1696720"/>
            <a:chExt cx="7958054" cy="2448560"/>
          </a:xfrm>
        </p:grpSpPr>
        <p:pic>
          <p:nvPicPr>
            <p:cNvPr id="40965" name="Picture 2" descr="http://www.faqs.org/docs/electric/AC/02038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5288" y="2062797"/>
              <a:ext cx="7958054" cy="20824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66" name="TextBox 14"/>
            <p:cNvSpPr txBox="1">
              <a:spLocks noChangeArrowheads="1"/>
            </p:cNvSpPr>
            <p:nvPr/>
          </p:nvSpPr>
          <p:spPr bwMode="auto">
            <a:xfrm>
              <a:off x="995680" y="1696720"/>
              <a:ext cx="124745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srgbClr val="FF0000"/>
                  </a:solidFill>
                </a:rPr>
                <a:t>0 .. </a:t>
              </a:r>
              <a:r>
                <a:rPr lang="el-GR">
                  <a:solidFill>
                    <a:srgbClr val="FF0000"/>
                  </a:solidFill>
                </a:rPr>
                <a:t>α</a:t>
              </a:r>
              <a:r>
                <a:rPr lang="en-GB">
                  <a:solidFill>
                    <a:srgbClr val="FF0000"/>
                  </a:solidFill>
                </a:rPr>
                <a:t> .. 90</a:t>
              </a:r>
            </a:p>
          </p:txBody>
        </p:sp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1097280" y="2011680"/>
              <a:ext cx="853440" cy="1259840"/>
              <a:chOff x="1097280" y="2580640"/>
              <a:chExt cx="853440" cy="690880"/>
            </a:xfrm>
          </p:grpSpPr>
          <p:cxnSp>
            <p:nvCxnSpPr>
              <p:cNvPr id="40972" name="Straight Connector 4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1198880" y="2915920"/>
                <a:ext cx="670560" cy="0"/>
              </a:xfrm>
              <a:prstGeom prst="line">
                <a:avLst/>
              </a:prstGeom>
              <a:noFill/>
              <a:ln w="9525" algn="ctr">
                <a:solidFill>
                  <a:srgbClr val="FF0000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40973" name="Straight Connector 6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62000" y="2926080"/>
                <a:ext cx="670560" cy="0"/>
              </a:xfrm>
              <a:prstGeom prst="line">
                <a:avLst/>
              </a:prstGeom>
              <a:noFill/>
              <a:ln w="9525" algn="ctr">
                <a:solidFill>
                  <a:srgbClr val="FF0000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40974" name="Straight Connector 15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1615440" y="2936240"/>
                <a:ext cx="670560" cy="0"/>
              </a:xfrm>
              <a:prstGeom prst="line">
                <a:avLst/>
              </a:prstGeom>
              <a:noFill/>
              <a:ln w="9525" algn="ctr">
                <a:solidFill>
                  <a:srgbClr val="FF0000"/>
                </a:solidFill>
                <a:prstDash val="dash"/>
                <a:round/>
                <a:headEnd/>
                <a:tailEnd/>
              </a:ln>
            </p:spPr>
          </p:cxnSp>
        </p:grpSp>
        <p:cxnSp>
          <p:nvCxnSpPr>
            <p:cNvPr id="40968" name="Straight Connector 24"/>
            <p:cNvCxnSpPr>
              <a:cxnSpLocks noChangeShapeType="1"/>
            </p:cNvCxnSpPr>
            <p:nvPr/>
          </p:nvCxnSpPr>
          <p:spPr bwMode="auto">
            <a:xfrm>
              <a:off x="1127760" y="3251200"/>
              <a:ext cx="1229360" cy="10160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40969" name="Straight Connector 25"/>
            <p:cNvCxnSpPr>
              <a:cxnSpLocks noChangeShapeType="1"/>
            </p:cNvCxnSpPr>
            <p:nvPr/>
          </p:nvCxnSpPr>
          <p:spPr bwMode="auto">
            <a:xfrm>
              <a:off x="1117600" y="2702560"/>
              <a:ext cx="1229360" cy="10160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40970" name="Straight Connector 26"/>
            <p:cNvCxnSpPr>
              <a:cxnSpLocks noChangeShapeType="1"/>
            </p:cNvCxnSpPr>
            <p:nvPr/>
          </p:nvCxnSpPr>
          <p:spPr bwMode="auto">
            <a:xfrm>
              <a:off x="1117600" y="2489200"/>
              <a:ext cx="1229360" cy="10160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sp>
          <p:nvSpPr>
            <p:cNvPr id="40971" name="TextBox 28"/>
            <p:cNvSpPr txBox="1">
              <a:spLocks noChangeArrowheads="1"/>
            </p:cNvSpPr>
            <p:nvPr/>
          </p:nvSpPr>
          <p:spPr bwMode="auto">
            <a:xfrm>
              <a:off x="8006080" y="2824480"/>
              <a:ext cx="33214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l-GR">
                  <a:solidFill>
                    <a:srgbClr val="FF0000"/>
                  </a:solidFill>
                </a:rPr>
                <a:t>α</a:t>
              </a:r>
              <a:endParaRPr lang="en-GB">
                <a:solidFill>
                  <a:srgbClr val="FF0000"/>
                </a:solidFill>
              </a:endParaRPr>
            </a:p>
          </p:txBody>
        </p:sp>
      </p:grpSp>
      <p:pic>
        <p:nvPicPr>
          <p:cNvPr id="40964" name="Picture 4" descr="http://www.faqs.org/docs/electric/AC/0202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08650" y="3351213"/>
            <a:ext cx="2886075" cy="291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46704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4329112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Phase – Vectors,  </a:t>
            </a:r>
            <a:r>
              <a:rPr lang="en-GB" sz="2400" b="1" i="1"/>
              <a:t>j</a:t>
            </a:r>
            <a:r>
              <a:rPr lang="en-GB" sz="2400" b="1"/>
              <a:t>-notation</a:t>
            </a:r>
            <a:endParaRPr lang="en-US" sz="2400" b="1"/>
          </a:p>
        </p:txBody>
      </p:sp>
      <p:pic>
        <p:nvPicPr>
          <p:cNvPr id="41987" name="Picture 2" descr="http://www.faqs.org/docs/electric/AC/0204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4888" y="1479550"/>
            <a:ext cx="4176712" cy="368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95288" y="1177925"/>
            <a:ext cx="4491037" cy="37856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sz="1600" dirty="0"/>
              <a:t>When dealing with phase in electronic engineering, the “j notation” is adopted for the vertical axis. </a:t>
            </a:r>
          </a:p>
          <a:p>
            <a:pPr>
              <a:lnSpc>
                <a:spcPct val="150000"/>
              </a:lnSpc>
              <a:defRPr/>
            </a:pPr>
            <a:endParaRPr lang="en-GB" sz="1600" dirty="0"/>
          </a:p>
          <a:p>
            <a:pPr>
              <a:lnSpc>
                <a:spcPct val="150000"/>
              </a:lnSpc>
              <a:defRPr/>
            </a:pPr>
            <a:r>
              <a:rPr lang="en-GB" sz="1600" dirty="0"/>
              <a:t>j = √-1</a:t>
            </a:r>
          </a:p>
          <a:p>
            <a:pPr>
              <a:lnSpc>
                <a:spcPct val="150000"/>
              </a:lnSpc>
              <a:defRPr/>
            </a:pPr>
            <a:endParaRPr lang="en-GB" sz="1600" b="1" i="1" dirty="0"/>
          </a:p>
          <a:p>
            <a:pPr marL="182563" indent="-18256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GB" sz="1600" dirty="0"/>
              <a:t>numbers relating to j are dealt with in a separate plane, the vertical axis</a:t>
            </a:r>
          </a:p>
          <a:p>
            <a:pPr marL="182563" indent="-18256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GB" sz="1600" dirty="0"/>
              <a:t>real numbers are kept on the horizontal plane</a:t>
            </a:r>
          </a:p>
        </p:txBody>
      </p:sp>
    </p:spTree>
    <p:extLst>
      <p:ext uri="{BB962C8B-B14F-4D97-AF65-F5344CB8AC3E}">
        <p14:creationId xmlns:p14="http://schemas.microsoft.com/office/powerpoint/2010/main" val="19951467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http://www.faqs.org/docs/electric/AC/0204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0963" y="893763"/>
            <a:ext cx="6583362" cy="453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24088" y="5588000"/>
            <a:ext cx="4732386" cy="830997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dirty="0">
                <a:solidFill>
                  <a:srgbClr val="FF0066"/>
                </a:solidFill>
              </a:rPr>
              <a:t>Consequently Impedance can be represented: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>
                <a:solidFill>
                  <a:srgbClr val="FF0066"/>
                </a:solidFill>
              </a:rPr>
              <a:t>REAL axis – for pure resistance 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>
                <a:solidFill>
                  <a:srgbClr val="FF0066"/>
                </a:solidFill>
              </a:rPr>
              <a:t>IMAGINARY (J) axis for Reactance</a:t>
            </a:r>
          </a:p>
        </p:txBody>
      </p:sp>
      <p:sp>
        <p:nvSpPr>
          <p:cNvPr id="43012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4329112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Phase – Vectors,  </a:t>
            </a:r>
            <a:r>
              <a:rPr lang="en-GB" sz="2400" b="1" i="1"/>
              <a:t>j</a:t>
            </a:r>
            <a:r>
              <a:rPr lang="en-GB" sz="2400" b="1"/>
              <a:t>-notation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4703779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"/>
          <p:cNvSpPr>
            <a:spLocks noChangeArrowheads="1"/>
          </p:cNvSpPr>
          <p:nvPr/>
        </p:nvSpPr>
        <p:spPr bwMode="auto">
          <a:xfrm>
            <a:off x="395288" y="1317625"/>
            <a:ext cx="7177087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Impedances in AC behave similar to resistances in DC circuits: </a:t>
            </a:r>
          </a:p>
          <a:p>
            <a:r>
              <a:rPr lang="en-GB" sz="1600" dirty="0"/>
              <a:t>they add in series, they diminish in parallel</a:t>
            </a:r>
          </a:p>
          <a:p>
            <a:endParaRPr lang="en-GB" sz="1600" dirty="0"/>
          </a:p>
          <a:p>
            <a:r>
              <a:rPr lang="en-GB" sz="1600" dirty="0"/>
              <a:t>A revised version of Ohm's Law, based on impedance rather than resistance, looks like this:</a:t>
            </a:r>
          </a:p>
        </p:txBody>
      </p:sp>
      <p:sp>
        <p:nvSpPr>
          <p:cNvPr id="3076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5443537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Impedance – Resistive and Reactive</a:t>
            </a:r>
            <a:endParaRPr lang="en-US" sz="2400" b="1"/>
          </a:p>
        </p:txBody>
      </p:sp>
      <p:sp>
        <p:nvSpPr>
          <p:cNvPr id="3077" name="TextBox 4"/>
          <p:cNvSpPr txBox="1">
            <a:spLocks noChangeArrowheads="1"/>
          </p:cNvSpPr>
          <p:nvPr/>
        </p:nvSpPr>
        <p:spPr bwMode="auto">
          <a:xfrm>
            <a:off x="6042025" y="3886200"/>
            <a:ext cx="204946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where </a:t>
            </a:r>
          </a:p>
          <a:p>
            <a:r>
              <a:rPr lang="en-GB"/>
              <a:t>	E = voltage</a:t>
            </a:r>
          </a:p>
          <a:p>
            <a:r>
              <a:rPr lang="en-GB"/>
              <a:t>	I = current</a:t>
            </a:r>
          </a:p>
          <a:p>
            <a:r>
              <a:rPr lang="en-GB"/>
              <a:t>	Z = Impedance</a:t>
            </a:r>
          </a:p>
        </p:txBody>
      </p:sp>
      <p:sp>
        <p:nvSpPr>
          <p:cNvPr id="3078" name="TextBox 5"/>
          <p:cNvSpPr txBox="1">
            <a:spLocks noChangeArrowheads="1"/>
          </p:cNvSpPr>
          <p:nvPr/>
        </p:nvSpPr>
        <p:spPr bwMode="auto">
          <a:xfrm>
            <a:off x="395288" y="3840163"/>
            <a:ext cx="276701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/>
              <a:t>Ohm’s Law for AC circuits</a:t>
            </a:r>
          </a:p>
        </p:txBody>
      </p:sp>
      <p:graphicFrame>
        <p:nvGraphicFramePr>
          <p:cNvPr id="3074" name="Object 6"/>
          <p:cNvGraphicFramePr>
            <a:graphicFrameLocks noChangeAspect="1"/>
          </p:cNvGraphicFramePr>
          <p:nvPr/>
        </p:nvGraphicFramePr>
        <p:xfrm>
          <a:off x="4011613" y="3332163"/>
          <a:ext cx="1119187" cy="221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469900" imgH="1016000" progId="">
                  <p:embed/>
                </p:oleObj>
              </mc:Choice>
              <mc:Fallback>
                <p:oleObj name="Equation" r:id="rId3" imgW="469900" imgH="1016000" progId="">
                  <p:embed/>
                  <p:pic>
                    <p:nvPicPr>
                      <p:cNvPr id="30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3" y="3332163"/>
                        <a:ext cx="1119187" cy="2212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33242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http://www.faqs.org/docs/electric/AC/0207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923925"/>
            <a:ext cx="3163887" cy="209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5" name="Picture 4" descr="http://www.faqs.org/docs/electric/AC/1205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3271838"/>
            <a:ext cx="223837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4237038" y="973138"/>
            <a:ext cx="45720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Now express all resistances and </a:t>
            </a:r>
            <a:r>
              <a:rPr lang="en-GB" sz="1600" dirty="0" err="1"/>
              <a:t>reactances</a:t>
            </a:r>
            <a:r>
              <a:rPr lang="en-GB" sz="1600" dirty="0"/>
              <a:t> in a mathematically common form: impedance</a:t>
            </a:r>
          </a:p>
          <a:p>
            <a:endParaRPr lang="en-GB" sz="1600" dirty="0"/>
          </a:p>
          <a:p>
            <a:r>
              <a:rPr lang="en-GB" sz="1600" dirty="0"/>
              <a:t>an inductive reactance translates into a positive imaginary impedance (or an impedance at +90</a:t>
            </a:r>
            <a:r>
              <a:rPr lang="en-GB" sz="1600" baseline="30000" dirty="0"/>
              <a:t>o</a:t>
            </a:r>
            <a:r>
              <a:rPr lang="en-GB" sz="1600" dirty="0"/>
              <a:t>)</a:t>
            </a:r>
          </a:p>
          <a:p>
            <a:endParaRPr lang="en-GB" sz="1600" dirty="0"/>
          </a:p>
          <a:p>
            <a:r>
              <a:rPr lang="en-GB" sz="1600" dirty="0"/>
              <a:t>a capacitive reactance translates into a negative imaginary impedance (impedance at -90</a:t>
            </a:r>
            <a:r>
              <a:rPr lang="en-GB" sz="1600" baseline="30000" dirty="0"/>
              <a:t>o</a:t>
            </a:r>
            <a:r>
              <a:rPr lang="en-GB" sz="1600" dirty="0"/>
              <a:t>)</a:t>
            </a:r>
          </a:p>
          <a:p>
            <a:endParaRPr lang="en-GB" sz="1600" dirty="0"/>
          </a:p>
          <a:p>
            <a:r>
              <a:rPr lang="en-GB" sz="1600" dirty="0"/>
              <a:t>Resistance is still regarded as a purely "real" impedance (polar angle of 0</a:t>
            </a:r>
            <a:r>
              <a:rPr lang="en-GB" sz="1600" baseline="30000" dirty="0"/>
              <a:t>o</a:t>
            </a:r>
            <a:r>
              <a:rPr lang="en-GB" sz="1600" dirty="0"/>
              <a:t>):</a:t>
            </a:r>
          </a:p>
        </p:txBody>
      </p:sp>
      <p:cxnSp>
        <p:nvCxnSpPr>
          <p:cNvPr id="44037" name="Straight Connector 6"/>
          <p:cNvCxnSpPr>
            <a:cxnSpLocks noChangeShapeType="1"/>
          </p:cNvCxnSpPr>
          <p:nvPr/>
        </p:nvCxnSpPr>
        <p:spPr bwMode="auto">
          <a:xfrm rot="5400000">
            <a:off x="1189831" y="3698082"/>
            <a:ext cx="552608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44038" name="Picture 6" descr="http://www.faqs.org/docs/electric/AC/12057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41800" y="4827588"/>
            <a:ext cx="36385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9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5748337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Impedance – example - Series R, L, C</a:t>
            </a:r>
            <a:endParaRPr lang="en-US" sz="2400" b="1"/>
          </a:p>
        </p:txBody>
      </p:sp>
      <p:sp>
        <p:nvSpPr>
          <p:cNvPr id="44040" name="Right Brace 9"/>
          <p:cNvSpPr>
            <a:spLocks/>
          </p:cNvSpPr>
          <p:nvPr/>
        </p:nvSpPr>
        <p:spPr bwMode="auto">
          <a:xfrm>
            <a:off x="7712075" y="4826000"/>
            <a:ext cx="222250" cy="1279525"/>
          </a:xfrm>
          <a:prstGeom prst="rightBrace">
            <a:avLst>
              <a:gd name="adj1" fmla="val 51228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4041" name="Straight Arrow Connector 11"/>
          <p:cNvCxnSpPr>
            <a:cxnSpLocks noChangeShapeType="1"/>
          </p:cNvCxnSpPr>
          <p:nvPr/>
        </p:nvCxnSpPr>
        <p:spPr bwMode="auto">
          <a:xfrm>
            <a:off x="8128000" y="5456238"/>
            <a:ext cx="568325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4042" name="TextBox 13"/>
          <p:cNvSpPr txBox="1">
            <a:spLocks noChangeArrowheads="1"/>
          </p:cNvSpPr>
          <p:nvPr/>
        </p:nvSpPr>
        <p:spPr bwMode="auto">
          <a:xfrm>
            <a:off x="8086725" y="5710238"/>
            <a:ext cx="8175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i="1"/>
              <a:t>cont’d</a:t>
            </a:r>
          </a:p>
        </p:txBody>
      </p:sp>
    </p:spTree>
    <p:extLst>
      <p:ext uri="{BB962C8B-B14F-4D97-AF65-F5344CB8AC3E}">
        <p14:creationId xmlns:p14="http://schemas.microsoft.com/office/powerpoint/2010/main" val="20127712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6" descr="http://www.faqs.org/docs/electric/AC/1205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1343025"/>
            <a:ext cx="36385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59" name="Picture 2" descr="http://www.faqs.org/docs/electric/AC/0207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892175"/>
            <a:ext cx="3163887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0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5748337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Impedance – example - Series R, L, C</a:t>
            </a:r>
            <a:endParaRPr lang="en-US" sz="2400" b="1"/>
          </a:p>
        </p:txBody>
      </p:sp>
      <p:cxnSp>
        <p:nvCxnSpPr>
          <p:cNvPr id="45061" name="Straight Connector 5"/>
          <p:cNvCxnSpPr>
            <a:cxnSpLocks noChangeShapeType="1"/>
          </p:cNvCxnSpPr>
          <p:nvPr/>
        </p:nvCxnSpPr>
        <p:spPr bwMode="auto">
          <a:xfrm>
            <a:off x="3851275" y="4511675"/>
            <a:ext cx="25590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5062" name="Straight Connector 7"/>
          <p:cNvCxnSpPr>
            <a:cxnSpLocks noChangeShapeType="1"/>
          </p:cNvCxnSpPr>
          <p:nvPr/>
        </p:nvCxnSpPr>
        <p:spPr bwMode="auto">
          <a:xfrm rot="5400000">
            <a:off x="3236119" y="3998119"/>
            <a:ext cx="21637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5063" name="Straight Arrow Connector 10"/>
          <p:cNvCxnSpPr>
            <a:cxnSpLocks noChangeShapeType="1"/>
          </p:cNvCxnSpPr>
          <p:nvPr/>
        </p:nvCxnSpPr>
        <p:spPr bwMode="auto">
          <a:xfrm>
            <a:off x="4338638" y="4491038"/>
            <a:ext cx="1858962" cy="1587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45064" name="Straight Arrow Connector 12"/>
          <p:cNvCxnSpPr>
            <a:cxnSpLocks noChangeShapeType="1"/>
          </p:cNvCxnSpPr>
          <p:nvPr/>
        </p:nvCxnSpPr>
        <p:spPr bwMode="auto">
          <a:xfrm rot="16200000" flipV="1">
            <a:off x="3545681" y="3677445"/>
            <a:ext cx="1616075" cy="11112"/>
          </a:xfrm>
          <a:prstGeom prst="straightConnector1">
            <a:avLst/>
          </a:prstGeom>
          <a:noFill/>
          <a:ln w="28575" algn="ctr">
            <a:solidFill>
              <a:srgbClr val="0070C0"/>
            </a:solidFill>
            <a:round/>
            <a:headEnd/>
            <a:tailEnd type="arrow" w="med" len="med"/>
          </a:ln>
        </p:spPr>
      </p:cxnSp>
      <p:cxnSp>
        <p:nvCxnSpPr>
          <p:cNvPr id="15" name="Straight Arrow Connector 14"/>
          <p:cNvCxnSpPr/>
          <p:nvPr/>
        </p:nvCxnSpPr>
        <p:spPr bwMode="auto">
          <a:xfrm rot="5400000">
            <a:off x="4252913" y="4597400"/>
            <a:ext cx="192088" cy="15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066" name="Straight Arrow Connector 19"/>
          <p:cNvCxnSpPr>
            <a:cxnSpLocks noChangeShapeType="1"/>
          </p:cNvCxnSpPr>
          <p:nvPr/>
        </p:nvCxnSpPr>
        <p:spPr bwMode="auto">
          <a:xfrm flipV="1">
            <a:off x="4378325" y="4267200"/>
            <a:ext cx="1789113" cy="193675"/>
          </a:xfrm>
          <a:prstGeom prst="straightConnector1">
            <a:avLst/>
          </a:prstGeom>
          <a:noFill/>
          <a:ln w="38100" algn="ctr">
            <a:solidFill>
              <a:srgbClr val="FFC000"/>
            </a:solidFill>
            <a:round/>
            <a:headEnd/>
            <a:tailEnd type="arrow" w="med" len="med"/>
          </a:ln>
        </p:spPr>
      </p:cxnSp>
      <p:sp>
        <p:nvSpPr>
          <p:cNvPr id="45067" name="TextBox 22"/>
          <p:cNvSpPr txBox="1">
            <a:spLocks noChangeArrowheads="1"/>
          </p:cNvSpPr>
          <p:nvPr/>
        </p:nvSpPr>
        <p:spPr bwMode="auto">
          <a:xfrm>
            <a:off x="5680075" y="4521200"/>
            <a:ext cx="3937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>
                <a:solidFill>
                  <a:srgbClr val="FF0000"/>
                </a:solidFill>
              </a:rPr>
              <a:t>Z</a:t>
            </a:r>
            <a:r>
              <a:rPr lang="en-GB" sz="1600" b="1" baseline="-2500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45068" name="TextBox 23"/>
          <p:cNvSpPr txBox="1">
            <a:spLocks noChangeArrowheads="1"/>
          </p:cNvSpPr>
          <p:nvPr/>
        </p:nvSpPr>
        <p:spPr bwMode="auto">
          <a:xfrm>
            <a:off x="4359275" y="3332163"/>
            <a:ext cx="40163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>
                <a:solidFill>
                  <a:srgbClr val="0070C0"/>
                </a:solidFill>
              </a:rPr>
              <a:t>Z</a:t>
            </a:r>
            <a:r>
              <a:rPr lang="en-GB" b="1" baseline="-2500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9275" y="4652963"/>
            <a:ext cx="381000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Z</a:t>
            </a:r>
            <a:r>
              <a:rPr lang="en-GB" b="1" baseline="-25000" dirty="0">
                <a:solidFill>
                  <a:schemeClr val="accent1">
                    <a:lumMod val="75000"/>
                  </a:schemeClr>
                </a:solidFill>
              </a:rPr>
              <a:t>L</a:t>
            </a:r>
          </a:p>
        </p:txBody>
      </p:sp>
      <p:sp>
        <p:nvSpPr>
          <p:cNvPr id="45070" name="TextBox 25"/>
          <p:cNvSpPr txBox="1">
            <a:spLocks noChangeArrowheads="1"/>
          </p:cNvSpPr>
          <p:nvPr/>
        </p:nvSpPr>
        <p:spPr bwMode="auto">
          <a:xfrm>
            <a:off x="5181600" y="3597275"/>
            <a:ext cx="21034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1" dirty="0">
                <a:solidFill>
                  <a:srgbClr val="990000"/>
                </a:solidFill>
              </a:rPr>
              <a:t>Resultant effective Impedance , Z</a:t>
            </a:r>
            <a:endParaRPr lang="en-GB" sz="1600" b="1" baseline="-25000" dirty="0">
              <a:solidFill>
                <a:srgbClr val="990000"/>
              </a:solidFill>
            </a:endParaRPr>
          </a:p>
        </p:txBody>
      </p:sp>
      <p:sp>
        <p:nvSpPr>
          <p:cNvPr id="31" name="Arc 30"/>
          <p:cNvSpPr/>
          <p:nvPr/>
        </p:nvSpPr>
        <p:spPr bwMode="auto">
          <a:xfrm>
            <a:off x="5334000" y="4359275"/>
            <a:ext cx="60325" cy="284163"/>
          </a:xfrm>
          <a:prstGeom prst="arc">
            <a:avLst/>
          </a:prstGeom>
          <a:noFill/>
          <a:ln w="2857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 sz="1600"/>
          </a:p>
        </p:txBody>
      </p:sp>
      <p:sp>
        <p:nvSpPr>
          <p:cNvPr id="45072" name="TextBox 31"/>
          <p:cNvSpPr txBox="1">
            <a:spLocks noChangeArrowheads="1"/>
          </p:cNvSpPr>
          <p:nvPr/>
        </p:nvSpPr>
        <p:spPr bwMode="auto">
          <a:xfrm>
            <a:off x="6980238" y="4156075"/>
            <a:ext cx="14303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Phase angle </a:t>
            </a:r>
          </a:p>
        </p:txBody>
      </p:sp>
      <p:cxnSp>
        <p:nvCxnSpPr>
          <p:cNvPr id="45073" name="Straight Arrow Connector 33"/>
          <p:cNvCxnSpPr>
            <a:cxnSpLocks noChangeShapeType="1"/>
            <a:stCxn id="45072" idx="1"/>
          </p:cNvCxnSpPr>
          <p:nvPr/>
        </p:nvCxnSpPr>
        <p:spPr bwMode="auto">
          <a:xfrm rot="10800000" flipV="1">
            <a:off x="5465763" y="4324350"/>
            <a:ext cx="1514475" cy="952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17905160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http://www.faqs.org/docs/electric/AC/0208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038225"/>
            <a:ext cx="5738812" cy="129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3" name="Text Box 26"/>
          <p:cNvSpPr txBox="1">
            <a:spLocks noChangeArrowheads="1"/>
          </p:cNvSpPr>
          <p:nvPr/>
        </p:nvSpPr>
        <p:spPr bwMode="auto">
          <a:xfrm>
            <a:off x="395288" y="331788"/>
            <a:ext cx="5942012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Impedance – example – Parallel R, L, C</a:t>
            </a:r>
            <a:endParaRPr lang="en-US" sz="2400" b="1"/>
          </a:p>
        </p:txBody>
      </p:sp>
      <p:pic>
        <p:nvPicPr>
          <p:cNvPr id="46084" name="Picture 4" descr="http://www.faqs.org/docs/electric/AC/0208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3209925"/>
            <a:ext cx="5935662" cy="187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3062288" y="2492375"/>
            <a:ext cx="550862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3600" b="1">
                <a:solidFill>
                  <a:srgbClr val="000000"/>
                </a:solidFill>
                <a:ea typeface="Lucida Sans Unicode" pitchFamily="34" charset="0"/>
                <a:cs typeface="Lucida Sans Unicode" pitchFamily="34" charset="0"/>
              </a:rPr>
              <a:t>≡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04063227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3700" y="2484408"/>
            <a:ext cx="84224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Lucida Sans Unicode" pitchFamily="34" charset="0"/>
                <a:cs typeface="Lucida Sans Unicode" pitchFamily="34" charset="0"/>
              </a:rPr>
              <a:t>Transmission Lines,</a:t>
            </a:r>
          </a:p>
          <a:p>
            <a:r>
              <a:rPr lang="en-GB" sz="4000" b="1" dirty="0">
                <a:latin typeface="Lucida Sans Unicode" pitchFamily="34" charset="0"/>
                <a:cs typeface="Lucida Sans Unicode" pitchFamily="34" charset="0"/>
              </a:rPr>
              <a:t>Characteristic Impedance</a:t>
            </a:r>
          </a:p>
        </p:txBody>
      </p:sp>
    </p:spTree>
    <p:extLst>
      <p:ext uri="{BB962C8B-B14F-4D97-AF65-F5344CB8AC3E}">
        <p14:creationId xmlns:p14="http://schemas.microsoft.com/office/powerpoint/2010/main" val="153010997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440213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Characteristic Impedance, </a:t>
            </a:r>
            <a:r>
              <a:rPr lang="en-GB" sz="2400" b="1" dirty="0" err="1"/>
              <a:t>Z</a:t>
            </a:r>
            <a:r>
              <a:rPr lang="en-GB" sz="2400" b="1" baseline="-25000" dirty="0" err="1"/>
              <a:t>c</a:t>
            </a:r>
            <a:endParaRPr lang="en-US" sz="2400" b="1" baseline="-25000" dirty="0"/>
          </a:p>
        </p:txBody>
      </p:sp>
      <p:sp>
        <p:nvSpPr>
          <p:cNvPr id="3" name="Rectangle 2"/>
          <p:cNvSpPr/>
          <p:nvPr/>
        </p:nvSpPr>
        <p:spPr>
          <a:xfrm>
            <a:off x="393699" y="939019"/>
            <a:ext cx="819371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Consider an </a:t>
            </a:r>
            <a:r>
              <a:rPr lang="en-GB" sz="1600" i="1" dirty="0"/>
              <a:t>infinitely long </a:t>
            </a:r>
            <a:r>
              <a:rPr lang="en-GB" sz="1600" dirty="0"/>
              <a:t>transmission line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600" dirty="0"/>
              <a:t>no reflections from the load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600" dirty="0"/>
              <a:t>Input (ac) voltage = V</a:t>
            </a:r>
            <a:r>
              <a:rPr lang="en-GB" sz="1600" baseline="-25000" dirty="0"/>
              <a:t>in</a:t>
            </a:r>
            <a:r>
              <a:rPr lang="en-GB" sz="1600" dirty="0"/>
              <a:t>(t); results in current = </a:t>
            </a:r>
            <a:r>
              <a:rPr lang="en-GB" sz="1600" dirty="0" err="1"/>
              <a:t>I</a:t>
            </a:r>
            <a:r>
              <a:rPr lang="en-GB" sz="1600" baseline="-25000" dirty="0" err="1"/>
              <a:t>in</a:t>
            </a:r>
            <a:r>
              <a:rPr lang="en-GB" sz="1600" dirty="0"/>
              <a:t>(t)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Impedance of the transmission line is then:</a:t>
            </a:r>
          </a:p>
          <a:p>
            <a:endParaRPr lang="en-GB" sz="1600" dirty="0"/>
          </a:p>
          <a:p>
            <a:r>
              <a:rPr lang="en-GB" sz="1600" dirty="0"/>
              <a:t>                     (c.f. Ohm’s Law          )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However - no transmission line is infinitely long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862182" y="2074636"/>
          <a:ext cx="965581" cy="619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672808" imgH="431613" progId="Equation.3">
                  <p:embed/>
                </p:oleObj>
              </mc:Choice>
              <mc:Fallback>
                <p:oleObj name="Equation" r:id="rId3" imgW="672808" imgH="431613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182" y="2074636"/>
                        <a:ext cx="965581" cy="6194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448766" y="2538942"/>
          <a:ext cx="520285" cy="504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406048" imgH="393359" progId="Equation.3">
                  <p:embed/>
                </p:oleObj>
              </mc:Choice>
              <mc:Fallback>
                <p:oleObj name="Equation" r:id="rId5" imgW="406048" imgH="393359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766" y="2538942"/>
                        <a:ext cx="520285" cy="5046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286247" y="3281164"/>
            <a:ext cx="8667972" cy="1947966"/>
            <a:chOff x="277620" y="3117263"/>
            <a:chExt cx="8667972" cy="1947966"/>
          </a:xfrm>
        </p:grpSpPr>
        <p:grpSp>
          <p:nvGrpSpPr>
            <p:cNvPr id="7" name="Group 6"/>
            <p:cNvGrpSpPr/>
            <p:nvPr/>
          </p:nvGrpSpPr>
          <p:grpSpPr>
            <a:xfrm>
              <a:off x="1076158" y="3419737"/>
              <a:ext cx="7700312" cy="1335819"/>
              <a:chOff x="759458" y="1224502"/>
              <a:chExt cx="7700312" cy="1335819"/>
            </a:xfrm>
          </p:grpSpPr>
          <p:grpSp>
            <p:nvGrpSpPr>
              <p:cNvPr id="8" name="Group 12"/>
              <p:cNvGrpSpPr/>
              <p:nvPr/>
            </p:nvGrpSpPr>
            <p:grpSpPr>
              <a:xfrm>
                <a:off x="759458" y="1317890"/>
                <a:ext cx="7700312" cy="983392"/>
                <a:chOff x="393700" y="912372"/>
                <a:chExt cx="7700312" cy="983392"/>
              </a:xfrm>
            </p:grpSpPr>
            <p:pic>
              <p:nvPicPr>
                <p:cNvPr id="10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393700" y="912372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11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1888545" y="912372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12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3383391" y="920323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13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4870284" y="920324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14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6365129" y="920324"/>
                  <a:ext cx="1728883" cy="975440"/>
                </a:xfrm>
                <a:prstGeom prst="rect">
                  <a:avLst/>
                </a:prstGeom>
                <a:noFill/>
              </p:spPr>
            </p:pic>
          </p:grpSp>
          <p:sp>
            <p:nvSpPr>
              <p:cNvPr id="9" name="Rectangle 8"/>
              <p:cNvSpPr/>
              <p:nvPr/>
            </p:nvSpPr>
            <p:spPr>
              <a:xfrm>
                <a:off x="3776869" y="1224502"/>
                <a:ext cx="1510747" cy="1335819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GB" sz="1600" dirty="0">
                  <a:latin typeface="Lucida Sans Unicode" pitchFamily="34" charset="0"/>
                  <a:cs typeface="Lucida Sans Unicode" pitchFamily="34" charset="0"/>
                </a:endParaRPr>
              </a:p>
            </p:txBody>
          </p:sp>
        </p:grpSp>
        <p:cxnSp>
          <p:nvCxnSpPr>
            <p:cNvPr id="16" name="Straight Arrow Connector 15"/>
            <p:cNvCxnSpPr/>
            <p:nvPr/>
          </p:nvCxnSpPr>
          <p:spPr>
            <a:xfrm flipV="1">
              <a:off x="937577" y="3646123"/>
              <a:ext cx="0" cy="65200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277620" y="3789449"/>
              <a:ext cx="78739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/>
                <a:t>V</a:t>
              </a:r>
              <a:r>
                <a:rPr lang="en-GB" baseline="-25000" dirty="0"/>
                <a:t>in</a:t>
              </a:r>
              <a:r>
                <a:rPr lang="en-GB" dirty="0"/>
                <a:t>(t) 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V="1">
              <a:off x="2297400" y="3493473"/>
              <a:ext cx="612249" cy="79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2209785" y="4632085"/>
              <a:ext cx="61225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2189636" y="4695897"/>
              <a:ext cx="6286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err="1"/>
                <a:t>I</a:t>
              </a:r>
              <a:r>
                <a:rPr lang="en-GB" baseline="-25000" dirty="0" err="1"/>
                <a:t>in</a:t>
              </a:r>
              <a:r>
                <a:rPr lang="en-GB" dirty="0"/>
                <a:t>(t)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470782" y="4451230"/>
              <a:ext cx="474810" cy="405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GB" sz="2400" b="1" dirty="0">
                  <a:latin typeface="Lucida Sans Unicode" pitchFamily="34" charset="0"/>
                  <a:cs typeface="Lucida Sans Unicode" pitchFamily="34" charset="0"/>
                </a:rPr>
                <a:t>∞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7763774" y="4615132"/>
              <a:ext cx="763259" cy="43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2301779" y="3117263"/>
              <a:ext cx="6286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err="1"/>
                <a:t>I</a:t>
              </a:r>
              <a:r>
                <a:rPr lang="en-GB" baseline="-25000" dirty="0" err="1"/>
                <a:t>in</a:t>
              </a:r>
              <a:r>
                <a:rPr lang="en-GB" dirty="0"/>
                <a:t>(t)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243294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3700" y="2727329"/>
            <a:ext cx="83606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Consider general equivalent circuit of an unit section of the transmission line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600" dirty="0"/>
              <a:t>units of    R = </a:t>
            </a:r>
            <a:r>
              <a:rPr lang="el-GR" sz="1600" dirty="0"/>
              <a:t>Ω</a:t>
            </a:r>
            <a:r>
              <a:rPr lang="en-GB" sz="1600" dirty="0"/>
              <a:t>/m;   C = F/m;  G =    /m;    L = H/m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289855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Transmission Line</a:t>
            </a:r>
            <a:endParaRPr lang="en-US" sz="2400" b="1" baseline="-250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759458" y="1224502"/>
            <a:ext cx="7700312" cy="1335819"/>
            <a:chOff x="759458" y="1224502"/>
            <a:chExt cx="7700312" cy="1335819"/>
          </a:xfrm>
        </p:grpSpPr>
        <p:grpSp>
          <p:nvGrpSpPr>
            <p:cNvPr id="13" name="Group 12"/>
            <p:cNvGrpSpPr/>
            <p:nvPr/>
          </p:nvGrpSpPr>
          <p:grpSpPr>
            <a:xfrm>
              <a:off x="759458" y="1317890"/>
              <a:ext cx="7700312" cy="983392"/>
              <a:chOff x="393700" y="912372"/>
              <a:chExt cx="7700312" cy="983392"/>
            </a:xfrm>
          </p:grpSpPr>
          <p:pic>
            <p:nvPicPr>
              <p:cNvPr id="115714" name="Picture 2" descr="http://www.microwaves101.com/encyclopedia/images/Transmission%20lines/general_Tline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93700" y="912372"/>
                <a:ext cx="1728883" cy="975440"/>
              </a:xfrm>
              <a:prstGeom prst="rect">
                <a:avLst/>
              </a:prstGeom>
              <a:noFill/>
            </p:spPr>
          </p:pic>
          <p:pic>
            <p:nvPicPr>
              <p:cNvPr id="8" name="Picture 2" descr="http://www.microwaves101.com/encyclopedia/images/Transmission%20lines/general_Tline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888545" y="912372"/>
                <a:ext cx="1728883" cy="975440"/>
              </a:xfrm>
              <a:prstGeom prst="rect">
                <a:avLst/>
              </a:prstGeom>
              <a:noFill/>
            </p:spPr>
          </p:pic>
          <p:pic>
            <p:nvPicPr>
              <p:cNvPr id="9" name="Picture 2" descr="http://www.microwaves101.com/encyclopedia/images/Transmission%20lines/general_Tline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383391" y="920323"/>
                <a:ext cx="1728883" cy="975440"/>
              </a:xfrm>
              <a:prstGeom prst="rect">
                <a:avLst/>
              </a:prstGeom>
              <a:noFill/>
            </p:spPr>
          </p:pic>
          <p:pic>
            <p:nvPicPr>
              <p:cNvPr id="10" name="Picture 2" descr="http://www.microwaves101.com/encyclopedia/images/Transmission%20lines/general_Tline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870284" y="920324"/>
                <a:ext cx="1728883" cy="975440"/>
              </a:xfrm>
              <a:prstGeom prst="rect">
                <a:avLst/>
              </a:prstGeom>
              <a:noFill/>
            </p:spPr>
          </p:pic>
          <p:pic>
            <p:nvPicPr>
              <p:cNvPr id="11" name="Picture 2" descr="http://www.microwaves101.com/encyclopedia/images/Transmission%20lines/general_Tline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365129" y="920324"/>
                <a:ext cx="1728883" cy="975440"/>
              </a:xfrm>
              <a:prstGeom prst="rect">
                <a:avLst/>
              </a:prstGeom>
              <a:noFill/>
            </p:spPr>
          </p:pic>
        </p:grpSp>
        <p:sp>
          <p:nvSpPr>
            <p:cNvPr id="14" name="Rectangle 13"/>
            <p:cNvSpPr/>
            <p:nvPr/>
          </p:nvSpPr>
          <p:spPr>
            <a:xfrm>
              <a:off x="3776869" y="1224502"/>
              <a:ext cx="1510747" cy="1335819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393699" y="752249"/>
            <a:ext cx="64126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Transmission line lumped element equivalent circuit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700" y="3412779"/>
            <a:ext cx="85674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Each section is repeated infinite times along the length of the transmission line</a:t>
            </a:r>
          </a:p>
          <a:p>
            <a:endParaRPr lang="en-GB" sz="1600" dirty="0"/>
          </a:p>
          <a:p>
            <a:r>
              <a:rPr lang="en-GB" sz="1600" b="1" dirty="0"/>
              <a:t>Telegrapher’s Equation</a:t>
            </a:r>
          </a:p>
          <a:p>
            <a:r>
              <a:rPr lang="en-GB" sz="1600" dirty="0"/>
              <a:t>The general expression that defines characteristic impedance is:</a:t>
            </a:r>
          </a:p>
          <a:p>
            <a:endParaRPr lang="en-GB" sz="1600" dirty="0"/>
          </a:p>
          <a:p>
            <a:endParaRPr lang="en-GB" sz="1600" dirty="0"/>
          </a:p>
        </p:txBody>
      </p:sp>
      <p:pic>
        <p:nvPicPr>
          <p:cNvPr id="11571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5017" y="3029132"/>
            <a:ext cx="175964" cy="174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5716" name="Object 4"/>
          <p:cNvGraphicFramePr>
            <a:graphicFrameLocks noChangeAspect="1"/>
          </p:cNvGraphicFramePr>
          <p:nvPr/>
        </p:nvGraphicFramePr>
        <p:xfrm>
          <a:off x="2128748" y="4408698"/>
          <a:ext cx="15621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5" imgW="1091726" imgH="482391" progId="Equation.3">
                  <p:embed/>
                </p:oleObj>
              </mc:Choice>
              <mc:Fallback>
                <p:oleObj name="Equation" r:id="rId5" imgW="1091726" imgH="482391" progId="Equation.3">
                  <p:embed/>
                  <p:pic>
                    <p:nvPicPr>
                      <p:cNvPr id="1157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748" y="4408698"/>
                        <a:ext cx="1562100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661249" y="5216284"/>
            <a:ext cx="559854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where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 is the “imaginary” component (i.e. reactive phase related)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ω if the angular frequency (i.e. ω =2</a:t>
            </a:r>
            <a:r>
              <a:rPr lang="el-GR" sz="1400" dirty="0">
                <a:latin typeface="Lucida Sans Unicode" pitchFamily="34" charset="0"/>
                <a:cs typeface="Lucida Sans Unicode" pitchFamily="34" charset="0"/>
              </a:rPr>
              <a:t>π</a:t>
            </a: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f)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/>
              <a:t>"prime" notation to show quantities are normalized per unit length</a:t>
            </a: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46496" y="2337758"/>
            <a:ext cx="474810" cy="405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∞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7539488" y="2501660"/>
            <a:ext cx="763259" cy="43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1950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3700" y="2455442"/>
            <a:ext cx="802673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itchFamily="34" charset="0"/>
              <a:buChar char="•"/>
            </a:pPr>
            <a:r>
              <a:rPr lang="en-GB" sz="1600" dirty="0"/>
              <a:t>in its general form, characteristic impedance can be a complex number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For a low-loss transmission line, the following relationships will occur: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24952" y="1008842"/>
            <a:ext cx="7700312" cy="1335819"/>
            <a:chOff x="759458" y="1224502"/>
            <a:chExt cx="7700312" cy="1335819"/>
          </a:xfrm>
        </p:grpSpPr>
        <p:grpSp>
          <p:nvGrpSpPr>
            <p:cNvPr id="5" name="Group 12"/>
            <p:cNvGrpSpPr/>
            <p:nvPr/>
          </p:nvGrpSpPr>
          <p:grpSpPr>
            <a:xfrm>
              <a:off x="759458" y="1317890"/>
              <a:ext cx="7700312" cy="983392"/>
              <a:chOff x="393700" y="912372"/>
              <a:chExt cx="7700312" cy="983392"/>
            </a:xfrm>
          </p:grpSpPr>
          <p:pic>
            <p:nvPicPr>
              <p:cNvPr id="7" name="Picture 2" descr="http://www.microwaves101.com/encyclopedia/images/Transmission%20lines/general_Tline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93700" y="912372"/>
                <a:ext cx="1728883" cy="975440"/>
              </a:xfrm>
              <a:prstGeom prst="rect">
                <a:avLst/>
              </a:prstGeom>
              <a:noFill/>
            </p:spPr>
          </p:pic>
          <p:pic>
            <p:nvPicPr>
              <p:cNvPr id="8" name="Picture 2" descr="http://www.microwaves101.com/encyclopedia/images/Transmission%20lines/general_Tline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888545" y="912372"/>
                <a:ext cx="1728883" cy="975440"/>
              </a:xfrm>
              <a:prstGeom prst="rect">
                <a:avLst/>
              </a:prstGeom>
              <a:noFill/>
            </p:spPr>
          </p:pic>
          <p:pic>
            <p:nvPicPr>
              <p:cNvPr id="9" name="Picture 2" descr="http://www.microwaves101.com/encyclopedia/images/Transmission%20lines/general_Tline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383391" y="920323"/>
                <a:ext cx="1728883" cy="975440"/>
              </a:xfrm>
              <a:prstGeom prst="rect">
                <a:avLst/>
              </a:prstGeom>
              <a:noFill/>
            </p:spPr>
          </p:pic>
          <p:pic>
            <p:nvPicPr>
              <p:cNvPr id="10" name="Picture 2" descr="http://www.microwaves101.com/encyclopedia/images/Transmission%20lines/general_Tline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870284" y="920324"/>
                <a:ext cx="1728883" cy="975440"/>
              </a:xfrm>
              <a:prstGeom prst="rect">
                <a:avLst/>
              </a:prstGeom>
              <a:noFill/>
            </p:spPr>
          </p:pic>
          <p:pic>
            <p:nvPicPr>
              <p:cNvPr id="11" name="Picture 2" descr="http://www.microwaves101.com/encyclopedia/images/Transmission%20lines/general_Tline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365129" y="920324"/>
                <a:ext cx="1728883" cy="975440"/>
              </a:xfrm>
              <a:prstGeom prst="rect">
                <a:avLst/>
              </a:prstGeom>
              <a:noFill/>
            </p:spPr>
          </p:pic>
        </p:grpSp>
        <p:sp>
          <p:nvSpPr>
            <p:cNvPr id="6" name="Rectangle 5"/>
            <p:cNvSpPr/>
            <p:nvPr/>
          </p:nvSpPr>
          <p:spPr>
            <a:xfrm>
              <a:off x="3776869" y="1224502"/>
              <a:ext cx="1510747" cy="1335819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</p:grp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289855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Transmission Line</a:t>
            </a:r>
            <a:endParaRPr lang="en-US" sz="2400" b="1" baseline="-25000" dirty="0"/>
          </a:p>
        </p:txBody>
      </p:sp>
      <p:graphicFrame>
        <p:nvGraphicFramePr>
          <p:cNvPr id="126978" name="Object 2"/>
          <p:cNvGraphicFramePr>
            <a:graphicFrameLocks noChangeAspect="1"/>
          </p:cNvGraphicFramePr>
          <p:nvPr/>
        </p:nvGraphicFramePr>
        <p:xfrm>
          <a:off x="7686899" y="3045876"/>
          <a:ext cx="1001713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4" imgW="698197" imgH="431613" progId="Equation.3">
                  <p:embed/>
                </p:oleObj>
              </mc:Choice>
              <mc:Fallback>
                <p:oleObj name="Equation" r:id="rId4" imgW="698197" imgH="431613" progId="Equation.3">
                  <p:embed/>
                  <p:pic>
                    <p:nvPicPr>
                      <p:cNvPr id="1269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6899" y="3045876"/>
                        <a:ext cx="1001713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393700" y="3784609"/>
            <a:ext cx="85197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... so we can ignore the contributions of R' and G' from the equation </a:t>
            </a:r>
          </a:p>
          <a:p>
            <a:r>
              <a:rPr lang="en-GB" sz="1600" dirty="0"/>
              <a:t>this results in a scalar quantity for characteristic impedance</a:t>
            </a:r>
          </a:p>
          <a:p>
            <a:endParaRPr lang="en-GB" sz="1600" dirty="0"/>
          </a:p>
          <a:p>
            <a:r>
              <a:rPr lang="en-GB" sz="1600" dirty="0"/>
              <a:t>So for lossless transmission lines the transmission line model reduces to this:</a:t>
            </a:r>
          </a:p>
        </p:txBody>
      </p:sp>
      <p:pic>
        <p:nvPicPr>
          <p:cNvPr id="126980" name="Picture 4" descr="http://www.microwaves101.com/encyclopedia/images/Transmission%20lines/Tline_lossless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39109" y="4948785"/>
            <a:ext cx="1140487" cy="1198339"/>
          </a:xfrm>
          <a:prstGeom prst="rect">
            <a:avLst/>
          </a:prstGeom>
          <a:noFill/>
        </p:spPr>
      </p:pic>
      <p:graphicFrame>
        <p:nvGraphicFramePr>
          <p:cNvPr id="126981" name="Object 5"/>
          <p:cNvGraphicFramePr>
            <a:graphicFrameLocks noChangeAspect="1"/>
          </p:cNvGraphicFramePr>
          <p:nvPr/>
        </p:nvGraphicFramePr>
        <p:xfrm>
          <a:off x="4162245" y="5263561"/>
          <a:ext cx="1200150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7" imgW="837836" imgH="444307" progId="Equation.3">
                  <p:embed/>
                </p:oleObj>
              </mc:Choice>
              <mc:Fallback>
                <p:oleObj name="Equation" r:id="rId7" imgW="837836" imgH="444307" progId="Equation.3">
                  <p:embed/>
                  <p:pic>
                    <p:nvPicPr>
                      <p:cNvPr id="1269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245" y="5263561"/>
                        <a:ext cx="1200150" cy="639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Left Brace 1"/>
          <p:cNvSpPr/>
          <p:nvPr/>
        </p:nvSpPr>
        <p:spPr>
          <a:xfrm>
            <a:off x="7530860" y="3114138"/>
            <a:ext cx="129397" cy="457200"/>
          </a:xfrm>
          <a:prstGeom prst="leftBrace">
            <a:avLst>
              <a:gd name="adj1" fmla="val 46171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36431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1761050"/>
            <a:ext cx="806018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sz="1600" b="1" dirty="0"/>
              <a:t>The </a:t>
            </a:r>
            <a:r>
              <a:rPr lang="en-US" sz="1600" b="1" i="1" dirty="0"/>
              <a:t>characteristic impedance</a:t>
            </a:r>
            <a:r>
              <a:rPr lang="en-US" sz="1600" b="1" dirty="0"/>
              <a:t> (Z</a:t>
            </a:r>
            <a:r>
              <a:rPr lang="en-US" sz="1600" b="1" baseline="-25000" dirty="0"/>
              <a:t>0</a:t>
            </a:r>
            <a:r>
              <a:rPr lang="en-US" sz="1600" b="1" dirty="0"/>
              <a:t>) of a transmission line is …</a:t>
            </a:r>
          </a:p>
          <a:p>
            <a:pPr marL="180975" indent="-180975">
              <a:lnSpc>
                <a:spcPts val="2400"/>
              </a:lnSpc>
            </a:pPr>
            <a:r>
              <a:rPr lang="en-US" sz="1600" dirty="0"/>
              <a:t>	… the resistance it would exhibit if it were infinite in length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dirty="0"/>
              <a:t>Characteristic impedance is …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US" sz="1600" dirty="0"/>
              <a:t>purely a function of the capacitance and inductance distributed along the line's length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US" sz="1600" dirty="0"/>
              <a:t>it would exist even if the dielectric were perfect (infinite parallel resistance) and the wires had zero series resistance</a:t>
            </a:r>
            <a:endParaRPr lang="en-GB" sz="1600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742062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Transmission Line and Characteristic Impedance</a:t>
            </a:r>
            <a:endParaRPr lang="en-US" sz="2400" b="1" baseline="-25000" dirty="0"/>
          </a:p>
        </p:txBody>
      </p:sp>
      <p:sp>
        <p:nvSpPr>
          <p:cNvPr id="4" name="Rectangle 3"/>
          <p:cNvSpPr/>
          <p:nvPr/>
        </p:nvSpPr>
        <p:spPr>
          <a:xfrm>
            <a:off x="7867291" y="5348703"/>
            <a:ext cx="1276709" cy="861774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GB" sz="1000" dirty="0">
                <a:hlinkClick r:id="rId3"/>
              </a:rPr>
              <a:t>http://www3.eng.cam.ac.uk/DesignOffice/mdp/electric_web/AC/AC_14.html</a:t>
            </a:r>
            <a:r>
              <a:rPr lang="en-GB" sz="1000" dirty="0"/>
              <a:t> </a:t>
            </a:r>
          </a:p>
        </p:txBody>
      </p:sp>
      <p:graphicFrame>
        <p:nvGraphicFramePr>
          <p:cNvPr id="131074" name="Object 2"/>
          <p:cNvGraphicFramePr>
            <a:graphicFrameLocks noChangeAspect="1"/>
          </p:cNvGraphicFramePr>
          <p:nvPr/>
        </p:nvGraphicFramePr>
        <p:xfrm>
          <a:off x="3558576" y="950943"/>
          <a:ext cx="120015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4" imgW="837836" imgH="444307" progId="Equation.3">
                  <p:embed/>
                </p:oleObj>
              </mc:Choice>
              <mc:Fallback>
                <p:oleObj name="Equation" r:id="rId4" imgW="837836" imgH="444307" progId="Equation.3">
                  <p:embed/>
                  <p:pic>
                    <p:nvPicPr>
                      <p:cNvPr id="131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8576" y="950943"/>
                        <a:ext cx="120015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393700" y="4969552"/>
            <a:ext cx="6692900" cy="12721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82563" indent="-182563">
              <a:lnSpc>
                <a:spcPts val="2300"/>
              </a:lnSpc>
            </a:pPr>
            <a:r>
              <a:rPr lang="en-GB" sz="1600" dirty="0"/>
              <a:t>For example 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Coaxial cables - impedance of 50 or 75 Ohms at high frequencies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Twisted-pair cables - impedance of 100 Ohms above 1 MHz</a:t>
            </a:r>
          </a:p>
        </p:txBody>
      </p:sp>
    </p:spTree>
    <p:extLst>
      <p:ext uri="{BB962C8B-B14F-4D97-AF65-F5344CB8AC3E}">
        <p14:creationId xmlns:p14="http://schemas.microsoft.com/office/powerpoint/2010/main" val="3239932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1230821"/>
            <a:ext cx="8472004" cy="4811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lnSpc>
                <a:spcPts val="2300"/>
              </a:lnSpc>
            </a:pPr>
            <a:r>
              <a:rPr lang="en-GB" b="1" dirty="0"/>
              <a:t>Characteristic impedance is of prime importance for good transmission</a:t>
            </a:r>
          </a:p>
          <a:p>
            <a:pPr marL="182563" indent="-182563">
              <a:lnSpc>
                <a:spcPts val="2300"/>
              </a:lnSpc>
            </a:pPr>
            <a:endParaRPr lang="en-GB" b="1" dirty="0"/>
          </a:p>
          <a:p>
            <a:pPr marL="182563" indent="-182563">
              <a:lnSpc>
                <a:spcPts val="2300"/>
              </a:lnSpc>
            </a:pPr>
            <a:r>
              <a:rPr lang="en-GB" sz="1600" dirty="0"/>
              <a:t>Maximum power transfer occurs when the source has the same impedance as the load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Thus for sending signals over a line, the transmitting equipment must have the same characteristic impedance as the line to get the maximum signal into the line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endParaRPr lang="en-GB" sz="1600" dirty="0"/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endParaRPr lang="en-GB" sz="1600" dirty="0"/>
          </a:p>
          <a:p>
            <a:pPr marL="182563" indent="-182563">
              <a:lnSpc>
                <a:spcPts val="2300"/>
              </a:lnSpc>
            </a:pPr>
            <a:r>
              <a:rPr lang="en-GB" sz="1600" b="1" dirty="0"/>
              <a:t>Receiving equipment must also have the same impedance as the line to be able to get the maximum signal out of the line.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Where impedances do not match, some of the signal is </a:t>
            </a:r>
            <a:r>
              <a:rPr lang="en-GB" sz="2000" b="1" dirty="0"/>
              <a:t>reflected back </a:t>
            </a:r>
            <a:r>
              <a:rPr lang="en-GB" sz="1600" dirty="0"/>
              <a:t>towards the source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Usually - the reflected signal causes problems - therefore undesirable.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endParaRPr lang="en-GB" sz="1600" dirty="0"/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endParaRPr lang="en-GB" sz="1600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742062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Transmission Line and Characteristic Impedance</a:t>
            </a:r>
            <a:endParaRPr lang="en-US" sz="2400" b="1" baseline="-25000" dirty="0"/>
          </a:p>
        </p:txBody>
      </p:sp>
    </p:spTree>
    <p:extLst>
      <p:ext uri="{BB962C8B-B14F-4D97-AF65-F5344CB8AC3E}">
        <p14:creationId xmlns:p14="http://schemas.microsoft.com/office/powerpoint/2010/main" val="369467808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8" name="Picture 4" descr="http://www3.eng.cam.ac.uk/DesignOffice/mdp/electric_web/AC/0237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707" y="968277"/>
            <a:ext cx="2848334" cy="5407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026" name="Picture 2" descr="http://www3.eng.cam.ac.uk/DesignOffice/mdp/electric_web/AC/0237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59" y="940281"/>
            <a:ext cx="2822515" cy="546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16994" y="4601922"/>
            <a:ext cx="207004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Consider …</a:t>
            </a:r>
          </a:p>
          <a:p>
            <a:r>
              <a:rPr lang="en-US" sz="1400" dirty="0"/>
              <a:t>An </a:t>
            </a:r>
            <a:r>
              <a:rPr lang="en-US" sz="1400" b="1" dirty="0">
                <a:solidFill>
                  <a:srgbClr val="00B050"/>
                </a:solidFill>
              </a:rPr>
              <a:t>incident waveform </a:t>
            </a:r>
          </a:p>
          <a:p>
            <a:r>
              <a:rPr lang="en-US" sz="1400" dirty="0">
                <a:solidFill>
                  <a:srgbClr val="6666FF"/>
                </a:solidFill>
              </a:rPr>
              <a:t>… is </a:t>
            </a:r>
            <a:r>
              <a:rPr lang="en-US" sz="1400" b="1" dirty="0">
                <a:solidFill>
                  <a:srgbClr val="6666FF"/>
                </a:solidFill>
              </a:rPr>
              <a:t>reflected</a:t>
            </a:r>
            <a:r>
              <a:rPr lang="en-US" sz="1400" dirty="0">
                <a:solidFill>
                  <a:srgbClr val="6666FF"/>
                </a:solidFill>
              </a:rPr>
              <a:t> </a:t>
            </a:r>
            <a:r>
              <a:rPr lang="en-US" sz="1400" dirty="0"/>
              <a:t>when it reaches the unterminated end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742062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Transmission Line and Characteristic Impedance</a:t>
            </a:r>
            <a:endParaRPr lang="en-US" sz="2400" b="1" baseline="-25000" dirty="0"/>
          </a:p>
        </p:txBody>
      </p:sp>
      <p:sp>
        <p:nvSpPr>
          <p:cNvPr id="4" name="Rectangle 3"/>
          <p:cNvSpPr/>
          <p:nvPr/>
        </p:nvSpPr>
        <p:spPr>
          <a:xfrm>
            <a:off x="3665627" y="4631599"/>
            <a:ext cx="196682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… </a:t>
            </a:r>
            <a:r>
              <a:rPr lang="en-US" sz="1400" b="1" dirty="0"/>
              <a:t>sum the two waveforms </a:t>
            </a:r>
            <a:r>
              <a:rPr lang="en-US" sz="1400" dirty="0"/>
              <a:t>together</a:t>
            </a:r>
          </a:p>
          <a:p>
            <a:r>
              <a:rPr lang="en-US" sz="1400" dirty="0"/>
              <a:t>… a </a:t>
            </a:r>
            <a:r>
              <a:rPr lang="en-US" sz="1400" b="1" dirty="0">
                <a:solidFill>
                  <a:srgbClr val="FF0000"/>
                </a:solidFill>
              </a:rPr>
              <a:t>stationary waveform </a:t>
            </a:r>
            <a:r>
              <a:rPr lang="en-US" sz="1400" dirty="0"/>
              <a:t>is created along the line's length:</a:t>
            </a:r>
            <a:endParaRPr lang="en-GB" dirty="0"/>
          </a:p>
        </p:txBody>
      </p:sp>
      <p:sp>
        <p:nvSpPr>
          <p:cNvPr id="9" name="Right Arrow 8"/>
          <p:cNvSpPr/>
          <p:nvPr/>
        </p:nvSpPr>
        <p:spPr>
          <a:xfrm>
            <a:off x="4105598" y="3308908"/>
            <a:ext cx="1102659" cy="726141"/>
          </a:xfrm>
          <a:prstGeom prst="rightArrow">
            <a:avLst>
              <a:gd name="adj1" fmla="val 50000"/>
              <a:gd name="adj2" fmla="val 72222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5719482" y="2070847"/>
            <a:ext cx="914401" cy="4089564"/>
            <a:chOff x="5719482" y="2070847"/>
            <a:chExt cx="914401" cy="4089564"/>
          </a:xfrm>
        </p:grpSpPr>
        <p:cxnSp>
          <p:nvCxnSpPr>
            <p:cNvPr id="13" name="Straight Connector 12"/>
            <p:cNvCxnSpPr/>
            <p:nvPr/>
          </p:nvCxnSpPr>
          <p:spPr>
            <a:xfrm flipH="1" flipV="1">
              <a:off x="6544235" y="2070847"/>
              <a:ext cx="89647" cy="17929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427694" y="2671643"/>
              <a:ext cx="206189" cy="528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6530788" y="3103717"/>
              <a:ext cx="103095" cy="17482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6351492" y="3265299"/>
              <a:ext cx="19274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6427694" y="3561134"/>
              <a:ext cx="197223" cy="30265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 flipV="1">
              <a:off x="6251877" y="3520651"/>
              <a:ext cx="195986" cy="30265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6526304" y="3967812"/>
              <a:ext cx="98612" cy="17856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6349870" y="4125339"/>
              <a:ext cx="176434" cy="2104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6173436" y="3863788"/>
              <a:ext cx="166039" cy="28259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6069106" y="4433876"/>
              <a:ext cx="56315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6349870" y="4715435"/>
              <a:ext cx="17643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526304" y="4715435"/>
              <a:ext cx="71717" cy="16136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6158753" y="4713525"/>
              <a:ext cx="180723" cy="30671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997001" y="5020235"/>
              <a:ext cx="17643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6447863" y="5003965"/>
              <a:ext cx="177053" cy="32013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892053" y="5286462"/>
              <a:ext cx="177053" cy="32013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6073993" y="4988216"/>
              <a:ext cx="346975" cy="61837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>
              <a:off x="6158753" y="5574574"/>
              <a:ext cx="180723" cy="30671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6331533" y="5581817"/>
              <a:ext cx="20485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H="1" flipV="1">
              <a:off x="6544235" y="5586868"/>
              <a:ext cx="89647" cy="17929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H="1" flipV="1">
              <a:off x="5890932" y="5732567"/>
              <a:ext cx="89647" cy="17929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5997001" y="5911861"/>
              <a:ext cx="20485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5719482" y="6160411"/>
              <a:ext cx="86957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024" name="Straight Arrow Connector 129023"/>
          <p:cNvCxnSpPr/>
          <p:nvPr/>
        </p:nvCxnSpPr>
        <p:spPr>
          <a:xfrm>
            <a:off x="3299012" y="1219200"/>
            <a:ext cx="366615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60476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888996"/>
            <a:ext cx="8042934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ts val="2100"/>
              </a:lnSpc>
            </a:pPr>
            <a:r>
              <a:rPr lang="en-US" sz="1600" b="1" dirty="0"/>
              <a:t>Reflections may be eliminated from the transmission line if the load's impedance exactly equals the characteristic impedance of the line</a:t>
            </a:r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endParaRPr lang="en-US" sz="1600" dirty="0"/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r>
              <a:rPr lang="en-US" sz="1600" dirty="0"/>
              <a:t>For example: 50 Ω coaxial cable that is either open-circuited or short-circuited will reflect all of the incident energy back to the source</a:t>
            </a:r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r>
              <a:rPr lang="en-US" sz="1600" dirty="0"/>
              <a:t>However, if a 50 Ω resistor is connected at the end of the cable, there will be no reflected energy, all signal energy being dissipated by the resistor</a:t>
            </a:r>
            <a:endParaRPr lang="en-US" sz="1600" i="1" dirty="0"/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endParaRPr lang="en-US" sz="1600" dirty="0"/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endParaRPr lang="en-US" sz="1600" dirty="0"/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endParaRPr lang="en-US" sz="1600" dirty="0"/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endParaRPr lang="en-US" sz="1600" dirty="0"/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endParaRPr lang="en-US" sz="1600" dirty="0"/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endParaRPr lang="en-US" sz="1600" dirty="0"/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endParaRPr lang="en-US" sz="1600" dirty="0"/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endParaRPr lang="en-US" sz="1600" dirty="0"/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r>
              <a:rPr lang="en-US" sz="1600" dirty="0"/>
              <a:t>Reflected waves will occur if  </a:t>
            </a:r>
            <a:r>
              <a:rPr lang="en-US" sz="2000" b="1" dirty="0"/>
              <a:t>R </a:t>
            </a:r>
            <a:r>
              <a:rPr lang="en-US" sz="2000" b="1" baseline="-25000" dirty="0"/>
              <a:t>terminating</a:t>
            </a:r>
            <a:r>
              <a:rPr lang="en-US" sz="2000" b="1" dirty="0"/>
              <a:t>  ≠  Z</a:t>
            </a:r>
            <a:r>
              <a:rPr lang="en-US" sz="2000" b="1" baseline="-25000" dirty="0"/>
              <a:t>0</a:t>
            </a:r>
          </a:p>
          <a:p>
            <a:pPr marL="180975" indent="-180975">
              <a:lnSpc>
                <a:spcPts val="2100"/>
              </a:lnSpc>
            </a:pPr>
            <a:r>
              <a:rPr lang="en-US" sz="1600" dirty="0"/>
              <a:t>	… here, energy reflection will partial</a:t>
            </a:r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endParaRPr lang="en-US" sz="1600" dirty="0"/>
          </a:p>
          <a:p>
            <a:pPr marL="180975" indent="-180975">
              <a:lnSpc>
                <a:spcPts val="2100"/>
              </a:lnSpc>
              <a:buFont typeface="Arial" pitchFamily="34" charset="0"/>
              <a:buChar char="•"/>
            </a:pPr>
            <a:r>
              <a:rPr lang="en-US" sz="1600" dirty="0"/>
              <a:t>Reflected waves may be re-reflected from the source (simulating a separate transmission of a signal)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3700" y="337149"/>
            <a:ext cx="742062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Transmission Line and Characteristic Impedance</a:t>
            </a:r>
            <a:endParaRPr lang="en-US" sz="2400" b="1" baseline="-25000" dirty="0"/>
          </a:p>
        </p:txBody>
      </p:sp>
      <p:sp>
        <p:nvSpPr>
          <p:cNvPr id="4" name="Rectangle 3"/>
          <p:cNvSpPr/>
          <p:nvPr/>
        </p:nvSpPr>
        <p:spPr>
          <a:xfrm>
            <a:off x="393700" y="3088839"/>
            <a:ext cx="8083550" cy="13029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80975" indent="-180975"/>
            <a:r>
              <a:rPr lang="en-US" sz="1600" dirty="0"/>
              <a:t>So if:       </a:t>
            </a:r>
            <a:r>
              <a:rPr lang="en-US" sz="2000" b="1" dirty="0"/>
              <a:t>R </a:t>
            </a:r>
            <a:r>
              <a:rPr lang="en-US" sz="2000" b="1" baseline="-25000" dirty="0"/>
              <a:t>terminating</a:t>
            </a:r>
            <a:r>
              <a:rPr lang="en-US" sz="2000" b="1" dirty="0"/>
              <a:t>  =  Z</a:t>
            </a:r>
            <a:r>
              <a:rPr lang="en-US" sz="2000" b="1" baseline="-25000" dirty="0"/>
              <a:t>0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600" b="1" baseline="-25000" dirty="0"/>
          </a:p>
          <a:p>
            <a:pPr marL="180975" indent="-180975">
              <a:buFont typeface="Arial" pitchFamily="34" charset="0"/>
              <a:buChar char="•"/>
            </a:pPr>
            <a:r>
              <a:rPr lang="en-US" sz="1600" dirty="0"/>
              <a:t>line appears infinitely long from the perspective of the source</a:t>
            </a:r>
          </a:p>
          <a:p>
            <a:pPr marL="361950"/>
            <a:r>
              <a:rPr lang="en-US" sz="1600" dirty="0"/>
              <a:t>… (because </a:t>
            </a:r>
            <a:r>
              <a:rPr lang="en-US" sz="1600" b="1" dirty="0"/>
              <a:t>R </a:t>
            </a:r>
            <a:r>
              <a:rPr lang="en-US" sz="1600" b="1" baseline="-25000" dirty="0"/>
              <a:t>terminating  </a:t>
            </a:r>
            <a:r>
              <a:rPr lang="en-US" sz="1600" dirty="0"/>
              <a:t>dissipates the energy in the same way a transmission line of infinite length is able to eternally absorb energy</a:t>
            </a:r>
          </a:p>
        </p:txBody>
      </p:sp>
    </p:spTree>
    <p:extLst>
      <p:ext uri="{BB962C8B-B14F-4D97-AF65-F5344CB8AC3E}">
        <p14:creationId xmlns:p14="http://schemas.microsoft.com/office/powerpoint/2010/main" val="329532889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916462"/>
            <a:ext cx="848790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/>
              <a:t>The practical implications of L' and C'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600" b="1" dirty="0"/>
              <a:t>L' </a:t>
            </a:r>
            <a:r>
              <a:rPr lang="en-GB" sz="1600" dirty="0"/>
              <a:t>is the tendency of a transmission line to </a:t>
            </a:r>
            <a:r>
              <a:rPr lang="en-GB" sz="1600" b="1" dirty="0"/>
              <a:t>oppose a change in current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600" b="1" dirty="0"/>
              <a:t>C'</a:t>
            </a:r>
            <a:r>
              <a:rPr lang="en-GB" sz="1600" dirty="0"/>
              <a:t> is the tendency of a transmission line to </a:t>
            </a:r>
            <a:r>
              <a:rPr lang="en-GB" sz="1600" b="1" dirty="0"/>
              <a:t>oppose a change in voltage</a:t>
            </a:r>
          </a:p>
          <a:p>
            <a:pPr marL="182563" indent="-182563">
              <a:buFont typeface="Arial" pitchFamily="34" charset="0"/>
              <a:buChar char="•"/>
            </a:pPr>
            <a:endParaRPr lang="en-GB" sz="1600" dirty="0"/>
          </a:p>
          <a:p>
            <a:pPr marL="182563" indent="-182563"/>
            <a:r>
              <a:rPr lang="en-GB" sz="1600" b="1" dirty="0"/>
              <a:t>Characteristic Impedance </a:t>
            </a:r>
          </a:p>
          <a:p>
            <a:pPr marL="182563" indent="-182563"/>
            <a:r>
              <a:rPr lang="en-GB" sz="1600" dirty="0"/>
              <a:t>... is a measure of the balance between the two</a:t>
            </a:r>
          </a:p>
          <a:p>
            <a:pPr marL="182563" indent="-182563"/>
            <a:endParaRPr lang="en-GB" sz="1600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3700" y="337149"/>
            <a:ext cx="742062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Transmission Line and Characteristic Impedance</a:t>
            </a:r>
            <a:endParaRPr lang="en-US" sz="2400" b="1" baseline="-25000" dirty="0"/>
          </a:p>
        </p:txBody>
      </p:sp>
      <p:sp>
        <p:nvSpPr>
          <p:cNvPr id="4" name="Rectangle 3"/>
          <p:cNvSpPr/>
          <p:nvPr/>
        </p:nvSpPr>
        <p:spPr>
          <a:xfrm>
            <a:off x="393700" y="2453442"/>
            <a:ext cx="812214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itchFamily="34" charset="0"/>
              <a:buChar char="•"/>
            </a:pPr>
            <a:r>
              <a:rPr lang="en-GB" sz="1600" dirty="0"/>
              <a:t>Typically - characteristic impedance has resistive and reactive component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600" dirty="0"/>
              <a:t>It is a function of the frequency of the applied signal, and is unrelated to length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600" dirty="0"/>
              <a:t>At very high frequencies, the characteristic impedance asymptotes to a fixed value which is resistive</a:t>
            </a:r>
          </a:p>
          <a:p>
            <a:endParaRPr lang="en-GB" sz="1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751151" y="3951798"/>
            <a:ext cx="0" cy="2456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647785" y="6130456"/>
            <a:ext cx="5112688" cy="238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35534" y="3983602"/>
            <a:ext cx="607859" cy="387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dirty="0" err="1">
                <a:latin typeface="Lucida Sans Unicode" pitchFamily="34" charset="0"/>
                <a:cs typeface="Lucida Sans Unicode" pitchFamily="34" charset="0"/>
              </a:rPr>
              <a:t>Z</a:t>
            </a:r>
            <a:r>
              <a:rPr lang="en-GB" sz="1600" baseline="-25000" dirty="0" err="1">
                <a:latin typeface="Lucida Sans Unicode" pitchFamily="34" charset="0"/>
                <a:cs typeface="Lucida Sans Unicode" pitchFamily="34" charset="0"/>
              </a:rPr>
              <a:t>c</a:t>
            </a:r>
            <a:r>
              <a:rPr lang="en-GB" sz="1600" baseline="-25000" dirty="0">
                <a:latin typeface="Lucida Sans Unicode" pitchFamily="34" charset="0"/>
                <a:cs typeface="Lucida Sans Unicode" pitchFamily="34" charset="0"/>
              </a:rPr>
              <a:t> ,</a:t>
            </a:r>
            <a:r>
              <a:rPr lang="el-GR" sz="1400" dirty="0">
                <a:latin typeface="Lucida Sans Unicode" pitchFamily="34" charset="0"/>
                <a:cs typeface="Lucida Sans Unicode" pitchFamily="34" charset="0"/>
              </a:rPr>
              <a:t>Ω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graphicFrame>
        <p:nvGraphicFramePr>
          <p:cNvPr id="128002" name="Object 2"/>
          <p:cNvGraphicFramePr>
            <a:graphicFrameLocks noChangeAspect="1"/>
          </p:cNvGraphicFramePr>
          <p:nvPr/>
        </p:nvGraphicFramePr>
        <p:xfrm>
          <a:off x="6453034" y="4071552"/>
          <a:ext cx="901921" cy="503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799753" imgH="444307" progId="Equation.3">
                  <p:embed/>
                </p:oleObj>
              </mc:Choice>
              <mc:Fallback>
                <p:oleObj name="Equation" r:id="rId3" imgW="799753" imgH="444307" progId="Equation.3">
                  <p:embed/>
                  <p:pic>
                    <p:nvPicPr>
                      <p:cNvPr id="1280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3034" y="4071552"/>
                        <a:ext cx="901921" cy="5037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6523453" y="4946262"/>
          <a:ext cx="838990" cy="468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799753" imgH="444307" progId="Equation.3">
                  <p:embed/>
                </p:oleObj>
              </mc:Choice>
              <mc:Fallback>
                <p:oleObj name="Equation" r:id="rId5" imgW="799753" imgH="444307" progId="Equation.3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3453" y="4946262"/>
                        <a:ext cx="838990" cy="4685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Arrow Connector 14"/>
          <p:cNvCxnSpPr/>
          <p:nvPr/>
        </p:nvCxnSpPr>
        <p:spPr>
          <a:xfrm flipV="1">
            <a:off x="6973294" y="6217920"/>
            <a:ext cx="715617" cy="795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2798859" y="4333461"/>
            <a:ext cx="3641698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814762" y="5208105"/>
            <a:ext cx="3641698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2790904" y="3498574"/>
            <a:ext cx="3609896" cy="1701579"/>
            <a:chOff x="2790904" y="3498574"/>
            <a:chExt cx="3609896" cy="1701579"/>
          </a:xfrm>
        </p:grpSpPr>
        <p:sp>
          <p:nvSpPr>
            <p:cNvPr id="20" name="Arc 19"/>
            <p:cNvSpPr/>
            <p:nvPr/>
          </p:nvSpPr>
          <p:spPr>
            <a:xfrm rot="10800000">
              <a:off x="2790904" y="3498574"/>
              <a:ext cx="2568274" cy="1693627"/>
            </a:xfrm>
            <a:prstGeom prst="arc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2" name="Straight Connector 21"/>
            <p:cNvCxnSpPr>
              <a:stCxn id="20" idx="0"/>
            </p:cNvCxnSpPr>
            <p:nvPr/>
          </p:nvCxnSpPr>
          <p:spPr>
            <a:xfrm>
              <a:off x="4075040" y="5192201"/>
              <a:ext cx="2325760" cy="795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7084613" y="6178163"/>
            <a:ext cx="625492" cy="375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f, </a:t>
            </a: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Hz</a:t>
            </a:r>
            <a:endParaRPr lang="en-GB" sz="1600" baseline="-250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631882" y="3991555"/>
            <a:ext cx="7951" cy="5565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13686" y="917771"/>
            <a:ext cx="1230314" cy="1107996"/>
          </a:xfrm>
          <a:prstGeom prst="rect">
            <a:avLst/>
          </a:prstGeom>
          <a:solidFill>
            <a:srgbClr val="CCCCFF"/>
          </a:solidFill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ucida Sans Unicode" pitchFamily="34" charset="0"/>
                <a:cs typeface="Lucida Sans Unicode" pitchFamily="34" charset="0"/>
              </a:rPr>
              <a:t>Prime (‘) … because these are quantities per unit length</a:t>
            </a:r>
          </a:p>
          <a:p>
            <a:r>
              <a:rPr lang="en-GB" sz="1100" dirty="0">
                <a:latin typeface="Lucida Sans Unicode" pitchFamily="34" charset="0"/>
                <a:cs typeface="Lucida Sans Unicode" pitchFamily="34" charset="0"/>
              </a:rPr>
              <a:t>(lumped parameters)</a:t>
            </a:r>
          </a:p>
        </p:txBody>
      </p:sp>
    </p:spTree>
    <p:extLst>
      <p:ext uri="{BB962C8B-B14F-4D97-AF65-F5344CB8AC3E}">
        <p14:creationId xmlns:p14="http://schemas.microsoft.com/office/powerpoint/2010/main" val="287230434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1207707"/>
            <a:ext cx="7835900" cy="2157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lnSpc>
                <a:spcPts val="2300"/>
              </a:lnSpc>
            </a:pPr>
            <a:r>
              <a:rPr lang="en-GB" sz="1600" dirty="0"/>
              <a:t>For twisted pair and coaxial cables: 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resistance is determined by the diameter or weight of copper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inductance (L) is very small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shunt conductance (G) is small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endParaRPr lang="en-GB" sz="1600" dirty="0"/>
          </a:p>
          <a:p>
            <a:pPr marL="182563" indent="-182563">
              <a:lnSpc>
                <a:spcPts val="2300"/>
              </a:lnSpc>
            </a:pPr>
            <a:r>
              <a:rPr lang="en-GB" sz="1600" dirty="0"/>
              <a:t>The major influence on characteristic impedance is the capacitance (C)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This is largely determined by the type of insulation (dielectric) used.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742062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Transmission Line and Characteristic Impedance</a:t>
            </a:r>
            <a:endParaRPr lang="en-US" sz="2400" b="1" baseline="-25000" dirty="0"/>
          </a:p>
        </p:txBody>
      </p:sp>
    </p:spTree>
    <p:extLst>
      <p:ext uri="{BB962C8B-B14F-4D97-AF65-F5344CB8AC3E}">
        <p14:creationId xmlns:p14="http://schemas.microsoft.com/office/powerpoint/2010/main" val="366189043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896607"/>
            <a:ext cx="8189583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For limited lengths – consider Z</a:t>
            </a:r>
            <a:r>
              <a:rPr lang="en-US" sz="1600" b="1" baseline="-25000" dirty="0"/>
              <a:t>0</a:t>
            </a:r>
            <a:r>
              <a:rPr lang="en-US" sz="1600" b="1" dirty="0"/>
              <a:t> as </a:t>
            </a:r>
            <a:r>
              <a:rPr lang="en-US" sz="1600" b="1" i="1" dirty="0"/>
              <a:t>surge impedance</a:t>
            </a:r>
          </a:p>
          <a:p>
            <a:endParaRPr lang="en-US" sz="1600" b="1" i="1" dirty="0"/>
          </a:p>
          <a:p>
            <a:pPr marL="180975" indent="-180975">
              <a:buFont typeface="Arial" pitchFamily="34" charset="0"/>
              <a:buChar char="•"/>
            </a:pPr>
            <a:r>
              <a:rPr lang="en-US" sz="1600" dirty="0"/>
              <a:t>i.e. a transient voltage applied to one end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600" dirty="0"/>
              <a:t>from   I=E/Z   the line will draw a current: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sz="1400" dirty="0"/>
              <a:t>If the end is open-circuited, the current "wave" will stop at the end  </a:t>
            </a:r>
          </a:p>
          <a:p>
            <a:pPr marL="177800" indent="-177800"/>
            <a:r>
              <a:rPr lang="en-US" sz="1400" dirty="0"/>
              <a:t>	… since electrons cannot flow any further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sz="1400" dirty="0"/>
              <a:t>causes a "pile-up" of electrons,  backing up the line 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sz="1400" dirty="0"/>
              <a:t>"pile-up" propagates back to the supply/signal </a:t>
            </a:r>
          </a:p>
          <a:p>
            <a:pPr marL="177800" indent="-177800"/>
            <a:r>
              <a:rPr lang="en-US" sz="1400" dirty="0"/>
              <a:t>	- ceases to drive for electrons … and the line acts as a simple open circuit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93700" y="337149"/>
            <a:ext cx="742062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Transmission Line and Characteristic Impedance</a:t>
            </a:r>
            <a:endParaRPr lang="en-US" sz="2400" b="1" baseline="-25000" dirty="0"/>
          </a:p>
        </p:txBody>
      </p:sp>
      <p:sp>
        <p:nvSpPr>
          <p:cNvPr id="30" name="Rectangle 29"/>
          <p:cNvSpPr/>
          <p:nvPr/>
        </p:nvSpPr>
        <p:spPr>
          <a:xfrm>
            <a:off x="382609" y="2156851"/>
            <a:ext cx="80688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… this relationship will for a limited period of time, but not indefinitely …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1307980" y="2577002"/>
            <a:ext cx="6218069" cy="1402900"/>
            <a:chOff x="1321417" y="2903575"/>
            <a:chExt cx="6218069" cy="1402900"/>
          </a:xfrm>
        </p:grpSpPr>
        <p:grpSp>
          <p:nvGrpSpPr>
            <p:cNvPr id="13" name="Group 12"/>
            <p:cNvGrpSpPr/>
            <p:nvPr/>
          </p:nvGrpSpPr>
          <p:grpSpPr>
            <a:xfrm>
              <a:off x="1321417" y="2903575"/>
              <a:ext cx="6181462" cy="905647"/>
              <a:chOff x="277620" y="3361502"/>
              <a:chExt cx="8498850" cy="1135015"/>
            </a:xfrm>
          </p:grpSpPr>
          <p:grpSp>
            <p:nvGrpSpPr>
              <p:cNvPr id="23" name="Group 12"/>
              <p:cNvGrpSpPr/>
              <p:nvPr/>
            </p:nvGrpSpPr>
            <p:grpSpPr>
              <a:xfrm>
                <a:off x="1076158" y="3513125"/>
                <a:ext cx="7700312" cy="983392"/>
                <a:chOff x="393700" y="912372"/>
                <a:chExt cx="7700312" cy="983392"/>
              </a:xfrm>
            </p:grpSpPr>
            <p:pic>
              <p:nvPicPr>
                <p:cNvPr id="25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393700" y="912372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26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1888545" y="912372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27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3383391" y="920323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28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4870284" y="920324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29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6365129" y="920324"/>
                  <a:ext cx="1728883" cy="975440"/>
                </a:xfrm>
                <a:prstGeom prst="rect">
                  <a:avLst/>
                </a:prstGeom>
                <a:noFill/>
              </p:spPr>
            </p:pic>
          </p:grpSp>
          <p:cxnSp>
            <p:nvCxnSpPr>
              <p:cNvPr id="15" name="Straight Arrow Connector 14"/>
              <p:cNvCxnSpPr/>
              <p:nvPr/>
            </p:nvCxnSpPr>
            <p:spPr>
              <a:xfrm flipV="1">
                <a:off x="937577" y="3754230"/>
                <a:ext cx="0" cy="65200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 15"/>
              <p:cNvSpPr/>
              <p:nvPr/>
            </p:nvSpPr>
            <p:spPr>
              <a:xfrm>
                <a:off x="277620" y="3789448"/>
                <a:ext cx="858302" cy="421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1050" dirty="0"/>
                  <a:t>V</a:t>
                </a:r>
                <a:r>
                  <a:rPr lang="en-GB" sz="1050" baseline="-25000" dirty="0"/>
                  <a:t>in</a:t>
                </a:r>
                <a:r>
                  <a:rPr lang="en-GB" sz="1050" dirty="0"/>
                  <a:t>(t) </a:t>
                </a:r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 flipV="1">
                <a:off x="2489816" y="3517099"/>
                <a:ext cx="612250" cy="795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/>
              <p:cNvSpPr/>
              <p:nvPr/>
            </p:nvSpPr>
            <p:spPr>
              <a:xfrm>
                <a:off x="1958113" y="3361502"/>
                <a:ext cx="706632" cy="421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1050" dirty="0" err="1"/>
                  <a:t>I</a:t>
                </a:r>
                <a:r>
                  <a:rPr lang="en-GB" sz="1050" baseline="-25000" dirty="0" err="1"/>
                  <a:t>in</a:t>
                </a:r>
                <a:r>
                  <a:rPr lang="en-GB" sz="1050" dirty="0"/>
                  <a:t>(t)</a:t>
                </a:r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 flipH="1">
              <a:off x="6173067" y="3683480"/>
              <a:ext cx="1366419" cy="622995"/>
              <a:chOff x="1863306" y="3735238"/>
              <a:chExt cx="1333650" cy="622995"/>
            </a:xfrm>
          </p:grpSpPr>
          <p:sp>
            <p:nvSpPr>
              <p:cNvPr id="42" name="TextBox 41"/>
              <p:cNvSpPr txBox="1"/>
              <p:nvPr/>
            </p:nvSpPr>
            <p:spPr>
              <a:xfrm>
                <a:off x="1923690" y="376111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984075" y="381287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2061712" y="375249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2035833" y="385600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1984074" y="391639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1871931" y="393364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1871931" y="3864634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2173856" y="389051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2251494" y="389051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389517" y="388188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475781" y="388188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691442" y="3899139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2242868" y="379562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096219" y="395952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337759" y="385600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2147978" y="377837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1863306" y="373523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897812" y="399403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2898476" y="389914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</p:grpSp>
        <p:sp>
          <p:nvSpPr>
            <p:cNvPr id="65" name="Right Arrow 64"/>
            <p:cNvSpPr/>
            <p:nvPr/>
          </p:nvSpPr>
          <p:spPr>
            <a:xfrm>
              <a:off x="5598544" y="3933646"/>
              <a:ext cx="603849" cy="250166"/>
            </a:xfrm>
            <a:prstGeom prst="rightArrow">
              <a:avLst>
                <a:gd name="adj1" fmla="val 50000"/>
                <a:gd name="adj2" fmla="val 94828"/>
              </a:avLst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5279115" y="1268804"/>
            <a:ext cx="3419475" cy="806450"/>
            <a:chOff x="4933950" y="1393825"/>
            <a:chExt cx="3419475" cy="806450"/>
          </a:xfrm>
        </p:grpSpPr>
        <p:sp>
          <p:nvSpPr>
            <p:cNvPr id="68" name="Rectangle 67"/>
            <p:cNvSpPr/>
            <p:nvPr/>
          </p:nvSpPr>
          <p:spPr>
            <a:xfrm>
              <a:off x="4933950" y="1400175"/>
              <a:ext cx="3419475" cy="8001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graphicFrame>
          <p:nvGraphicFramePr>
            <p:cNvPr id="67" name="Object 66"/>
            <p:cNvGraphicFramePr>
              <a:graphicFrameLocks noChangeAspect="1"/>
            </p:cNvGraphicFramePr>
            <p:nvPr/>
          </p:nvGraphicFramePr>
          <p:xfrm>
            <a:off x="5006974" y="1393825"/>
            <a:ext cx="3242235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" name="Equation" r:id="rId4" imgW="1777229" imgH="431613" progId="Equation.3">
                    <p:embed/>
                  </p:oleObj>
                </mc:Choice>
                <mc:Fallback>
                  <p:oleObj name="Equation" r:id="rId4" imgW="1777229" imgH="431613" progId="Equation.3">
                    <p:embed/>
                    <p:pic>
                      <p:nvPicPr>
                        <p:cNvPr id="67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6974" y="1393825"/>
                          <a:ext cx="3242235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2" name="Group 131"/>
          <p:cNvGrpSpPr/>
          <p:nvPr/>
        </p:nvGrpSpPr>
        <p:grpSpPr>
          <a:xfrm>
            <a:off x="1307980" y="3929941"/>
            <a:ext cx="6218069" cy="1402900"/>
            <a:chOff x="1321417" y="2903575"/>
            <a:chExt cx="6218069" cy="1402900"/>
          </a:xfrm>
        </p:grpSpPr>
        <p:grpSp>
          <p:nvGrpSpPr>
            <p:cNvPr id="133" name="Group 132"/>
            <p:cNvGrpSpPr/>
            <p:nvPr/>
          </p:nvGrpSpPr>
          <p:grpSpPr>
            <a:xfrm>
              <a:off x="1321417" y="2903575"/>
              <a:ext cx="6181462" cy="905647"/>
              <a:chOff x="277620" y="3361502"/>
              <a:chExt cx="8498850" cy="1135015"/>
            </a:xfrm>
          </p:grpSpPr>
          <p:grpSp>
            <p:nvGrpSpPr>
              <p:cNvPr id="200" name="Group 12"/>
              <p:cNvGrpSpPr/>
              <p:nvPr/>
            </p:nvGrpSpPr>
            <p:grpSpPr>
              <a:xfrm>
                <a:off x="1076158" y="3513125"/>
                <a:ext cx="7700312" cy="983392"/>
                <a:chOff x="393700" y="912372"/>
                <a:chExt cx="7700312" cy="983392"/>
              </a:xfrm>
            </p:grpSpPr>
            <p:pic>
              <p:nvPicPr>
                <p:cNvPr id="205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393700" y="912372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6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1888545" y="912372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7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3383391" y="920323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8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4870284" y="920324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9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6365129" y="920324"/>
                  <a:ext cx="1728883" cy="975440"/>
                </a:xfrm>
                <a:prstGeom prst="rect">
                  <a:avLst/>
                </a:prstGeom>
                <a:noFill/>
              </p:spPr>
            </p:pic>
          </p:grpSp>
          <p:cxnSp>
            <p:nvCxnSpPr>
              <p:cNvPr id="201" name="Straight Arrow Connector 200"/>
              <p:cNvCxnSpPr/>
              <p:nvPr/>
            </p:nvCxnSpPr>
            <p:spPr>
              <a:xfrm flipV="1">
                <a:off x="937577" y="3754230"/>
                <a:ext cx="0" cy="65200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2" name="Rectangle 201"/>
              <p:cNvSpPr/>
              <p:nvPr/>
            </p:nvSpPr>
            <p:spPr>
              <a:xfrm>
                <a:off x="277620" y="3789448"/>
                <a:ext cx="858302" cy="421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1050" dirty="0"/>
                  <a:t>V</a:t>
                </a:r>
                <a:r>
                  <a:rPr lang="en-GB" sz="1050" baseline="-25000" dirty="0"/>
                  <a:t>in</a:t>
                </a:r>
                <a:r>
                  <a:rPr lang="en-GB" sz="1050" dirty="0"/>
                  <a:t>(t) </a:t>
                </a:r>
              </a:p>
            </p:txBody>
          </p:sp>
          <p:cxnSp>
            <p:nvCxnSpPr>
              <p:cNvPr id="203" name="Straight Arrow Connector 202"/>
              <p:cNvCxnSpPr/>
              <p:nvPr/>
            </p:nvCxnSpPr>
            <p:spPr>
              <a:xfrm flipV="1">
                <a:off x="2489816" y="3521075"/>
                <a:ext cx="214212" cy="397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4" name="Rectangle 203"/>
              <p:cNvSpPr/>
              <p:nvPr/>
            </p:nvSpPr>
            <p:spPr>
              <a:xfrm>
                <a:off x="1958113" y="3361502"/>
                <a:ext cx="706632" cy="421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1050" dirty="0" err="1"/>
                  <a:t>I</a:t>
                </a:r>
                <a:r>
                  <a:rPr lang="en-GB" sz="1050" baseline="-25000" dirty="0" err="1"/>
                  <a:t>in</a:t>
                </a:r>
                <a:r>
                  <a:rPr lang="en-GB" sz="1050" dirty="0"/>
                  <a:t>(t)</a:t>
                </a:r>
              </a:p>
            </p:txBody>
          </p:sp>
        </p:grpSp>
        <p:grpSp>
          <p:nvGrpSpPr>
            <p:cNvPr id="134" name="Group 133"/>
            <p:cNvGrpSpPr/>
            <p:nvPr/>
          </p:nvGrpSpPr>
          <p:grpSpPr>
            <a:xfrm flipH="1">
              <a:off x="2716552" y="3665037"/>
              <a:ext cx="4822934" cy="641438"/>
              <a:chOff x="1863306" y="3716795"/>
              <a:chExt cx="4707272" cy="641438"/>
            </a:xfrm>
          </p:grpSpPr>
          <p:sp>
            <p:nvSpPr>
              <p:cNvPr id="136" name="TextBox 135"/>
              <p:cNvSpPr txBox="1"/>
              <p:nvPr/>
            </p:nvSpPr>
            <p:spPr>
              <a:xfrm>
                <a:off x="1923690" y="376111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37" name="TextBox 136"/>
              <p:cNvSpPr txBox="1"/>
              <p:nvPr/>
            </p:nvSpPr>
            <p:spPr>
              <a:xfrm>
                <a:off x="1984075" y="381287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38" name="TextBox 137"/>
              <p:cNvSpPr txBox="1"/>
              <p:nvPr/>
            </p:nvSpPr>
            <p:spPr>
              <a:xfrm>
                <a:off x="2061712" y="375249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39" name="TextBox 138"/>
              <p:cNvSpPr txBox="1"/>
              <p:nvPr/>
            </p:nvSpPr>
            <p:spPr>
              <a:xfrm>
                <a:off x="2035833" y="385600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40" name="TextBox 139"/>
              <p:cNvSpPr txBox="1"/>
              <p:nvPr/>
            </p:nvSpPr>
            <p:spPr>
              <a:xfrm>
                <a:off x="1984074" y="391639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41" name="TextBox 140"/>
              <p:cNvSpPr txBox="1"/>
              <p:nvPr/>
            </p:nvSpPr>
            <p:spPr>
              <a:xfrm>
                <a:off x="1871931" y="393364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42" name="TextBox 141"/>
              <p:cNvSpPr txBox="1"/>
              <p:nvPr/>
            </p:nvSpPr>
            <p:spPr>
              <a:xfrm>
                <a:off x="1871931" y="3864634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43" name="TextBox 142"/>
              <p:cNvSpPr txBox="1"/>
              <p:nvPr/>
            </p:nvSpPr>
            <p:spPr>
              <a:xfrm>
                <a:off x="2173856" y="389051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2251494" y="389051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45" name="TextBox 144"/>
              <p:cNvSpPr txBox="1"/>
              <p:nvPr/>
            </p:nvSpPr>
            <p:spPr>
              <a:xfrm>
                <a:off x="2389517" y="388188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46" name="TextBox 145"/>
              <p:cNvSpPr txBox="1"/>
              <p:nvPr/>
            </p:nvSpPr>
            <p:spPr>
              <a:xfrm>
                <a:off x="2475781" y="388188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>
                <a:off x="2691442" y="3899139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>
                <a:off x="2242868" y="379562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>
                <a:off x="2096219" y="395952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50" name="TextBox 149"/>
              <p:cNvSpPr txBox="1"/>
              <p:nvPr/>
            </p:nvSpPr>
            <p:spPr>
              <a:xfrm>
                <a:off x="2337759" y="385600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2147978" y="377837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52" name="TextBox 151"/>
              <p:cNvSpPr txBox="1"/>
              <p:nvPr/>
            </p:nvSpPr>
            <p:spPr>
              <a:xfrm>
                <a:off x="1863306" y="373523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53" name="TextBox 152"/>
              <p:cNvSpPr txBox="1"/>
              <p:nvPr/>
            </p:nvSpPr>
            <p:spPr>
              <a:xfrm>
                <a:off x="1897812" y="399403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54" name="TextBox 153"/>
              <p:cNvSpPr txBox="1"/>
              <p:nvPr/>
            </p:nvSpPr>
            <p:spPr>
              <a:xfrm>
                <a:off x="2898476" y="389914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55" name="TextBox 154"/>
              <p:cNvSpPr txBox="1"/>
              <p:nvPr/>
            </p:nvSpPr>
            <p:spPr>
              <a:xfrm>
                <a:off x="6272098" y="3917339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5776443" y="391027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57" name="TextBox 156"/>
              <p:cNvSpPr txBox="1"/>
              <p:nvPr/>
            </p:nvSpPr>
            <p:spPr>
              <a:xfrm>
                <a:off x="5420169" y="391027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5270929" y="385325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5210928" y="393861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5061688" y="388160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61" name="TextBox 160"/>
              <p:cNvSpPr txBox="1"/>
              <p:nvPr/>
            </p:nvSpPr>
            <p:spPr>
              <a:xfrm>
                <a:off x="4920780" y="387447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62" name="TextBox 161"/>
              <p:cNvSpPr txBox="1"/>
              <p:nvPr/>
            </p:nvSpPr>
            <p:spPr>
              <a:xfrm>
                <a:off x="4771540" y="3817452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63" name="TextBox 162"/>
              <p:cNvSpPr txBox="1"/>
              <p:nvPr/>
            </p:nvSpPr>
            <p:spPr>
              <a:xfrm>
                <a:off x="4677425" y="393861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64" name="TextBox 163"/>
              <p:cNvSpPr txBox="1"/>
              <p:nvPr/>
            </p:nvSpPr>
            <p:spPr>
              <a:xfrm>
                <a:off x="4528185" y="388160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65" name="TextBox 164"/>
              <p:cNvSpPr txBox="1"/>
              <p:nvPr/>
            </p:nvSpPr>
            <p:spPr>
              <a:xfrm>
                <a:off x="4537666" y="387447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66" name="TextBox 165"/>
              <p:cNvSpPr txBox="1"/>
              <p:nvPr/>
            </p:nvSpPr>
            <p:spPr>
              <a:xfrm>
                <a:off x="4388425" y="3817452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67" name="TextBox 166"/>
              <p:cNvSpPr txBox="1"/>
              <p:nvPr/>
            </p:nvSpPr>
            <p:spPr>
              <a:xfrm>
                <a:off x="4401218" y="393861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68" name="TextBox 167"/>
              <p:cNvSpPr txBox="1"/>
              <p:nvPr/>
            </p:nvSpPr>
            <p:spPr>
              <a:xfrm>
                <a:off x="4251977" y="388160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69" name="TextBox 168"/>
              <p:cNvSpPr txBox="1"/>
              <p:nvPr/>
            </p:nvSpPr>
            <p:spPr>
              <a:xfrm>
                <a:off x="4183090" y="393364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70" name="TextBox 169"/>
              <p:cNvSpPr txBox="1"/>
              <p:nvPr/>
            </p:nvSpPr>
            <p:spPr>
              <a:xfrm>
                <a:off x="4091682" y="387482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71" name="TextBox 170"/>
              <p:cNvSpPr txBox="1"/>
              <p:nvPr/>
            </p:nvSpPr>
            <p:spPr>
              <a:xfrm>
                <a:off x="3964822" y="387447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72" name="TextBox 171"/>
              <p:cNvSpPr txBox="1"/>
              <p:nvPr/>
            </p:nvSpPr>
            <p:spPr>
              <a:xfrm>
                <a:off x="3891766" y="394321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73" name="TextBox 172"/>
              <p:cNvSpPr txBox="1"/>
              <p:nvPr/>
            </p:nvSpPr>
            <p:spPr>
              <a:xfrm>
                <a:off x="4193331" y="3780592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74" name="TextBox 173"/>
              <p:cNvSpPr txBox="1"/>
              <p:nvPr/>
            </p:nvSpPr>
            <p:spPr>
              <a:xfrm>
                <a:off x="3883795" y="371679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75" name="TextBox 174"/>
              <p:cNvSpPr txBox="1"/>
              <p:nvPr/>
            </p:nvSpPr>
            <p:spPr>
              <a:xfrm>
                <a:off x="3683879" y="3785192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76" name="TextBox 175"/>
              <p:cNvSpPr txBox="1"/>
              <p:nvPr/>
            </p:nvSpPr>
            <p:spPr>
              <a:xfrm>
                <a:off x="3847548" y="384617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77" name="TextBox 176"/>
              <p:cNvSpPr txBox="1"/>
              <p:nvPr/>
            </p:nvSpPr>
            <p:spPr>
              <a:xfrm>
                <a:off x="3538012" y="3782374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78" name="TextBox 177"/>
              <p:cNvSpPr txBox="1"/>
              <p:nvPr/>
            </p:nvSpPr>
            <p:spPr>
              <a:xfrm>
                <a:off x="3338096" y="385077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79" name="TextBox 178"/>
              <p:cNvSpPr txBox="1"/>
              <p:nvPr/>
            </p:nvSpPr>
            <p:spPr>
              <a:xfrm>
                <a:off x="3766769" y="395587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80" name="TextBox 179"/>
              <p:cNvSpPr txBox="1"/>
              <p:nvPr/>
            </p:nvSpPr>
            <p:spPr>
              <a:xfrm>
                <a:off x="3457233" y="3892074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81" name="TextBox 180"/>
              <p:cNvSpPr txBox="1"/>
              <p:nvPr/>
            </p:nvSpPr>
            <p:spPr>
              <a:xfrm>
                <a:off x="3257317" y="396047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82" name="TextBox 181"/>
              <p:cNvSpPr txBox="1"/>
              <p:nvPr/>
            </p:nvSpPr>
            <p:spPr>
              <a:xfrm>
                <a:off x="3648861" y="392904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83" name="TextBox 182"/>
              <p:cNvSpPr txBox="1"/>
              <p:nvPr/>
            </p:nvSpPr>
            <p:spPr>
              <a:xfrm>
                <a:off x="3339325" y="386524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84" name="TextBox 183"/>
              <p:cNvSpPr txBox="1"/>
              <p:nvPr/>
            </p:nvSpPr>
            <p:spPr>
              <a:xfrm>
                <a:off x="3139409" y="393364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85" name="TextBox 184"/>
              <p:cNvSpPr txBox="1"/>
              <p:nvPr/>
            </p:nvSpPr>
            <p:spPr>
              <a:xfrm>
                <a:off x="3403010" y="386274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86" name="TextBox 185"/>
              <p:cNvSpPr txBox="1"/>
              <p:nvPr/>
            </p:nvSpPr>
            <p:spPr>
              <a:xfrm>
                <a:off x="3093474" y="379894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2893558" y="386734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>
                <a:off x="3275131" y="391665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89" name="TextBox 188"/>
              <p:cNvSpPr txBox="1"/>
              <p:nvPr/>
            </p:nvSpPr>
            <p:spPr>
              <a:xfrm>
                <a:off x="2965595" y="385285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90" name="TextBox 189"/>
              <p:cNvSpPr txBox="1"/>
              <p:nvPr/>
            </p:nvSpPr>
            <p:spPr>
              <a:xfrm>
                <a:off x="2765679" y="392125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91" name="TextBox 190"/>
              <p:cNvSpPr txBox="1"/>
              <p:nvPr/>
            </p:nvSpPr>
            <p:spPr>
              <a:xfrm>
                <a:off x="3139032" y="387700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92" name="TextBox 191"/>
              <p:cNvSpPr txBox="1"/>
              <p:nvPr/>
            </p:nvSpPr>
            <p:spPr>
              <a:xfrm>
                <a:off x="2829496" y="381320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93" name="TextBox 192"/>
              <p:cNvSpPr txBox="1"/>
              <p:nvPr/>
            </p:nvSpPr>
            <p:spPr>
              <a:xfrm>
                <a:off x="2629580" y="388160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94" name="TextBox 193"/>
              <p:cNvSpPr txBox="1"/>
              <p:nvPr/>
            </p:nvSpPr>
            <p:spPr>
              <a:xfrm>
                <a:off x="2911091" y="382966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95" name="TextBox 194"/>
              <p:cNvSpPr txBox="1"/>
              <p:nvPr/>
            </p:nvSpPr>
            <p:spPr>
              <a:xfrm>
                <a:off x="2601555" y="376587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96" name="TextBox 195"/>
              <p:cNvSpPr txBox="1"/>
              <p:nvPr/>
            </p:nvSpPr>
            <p:spPr>
              <a:xfrm>
                <a:off x="2401639" y="383426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97" name="TextBox 196"/>
              <p:cNvSpPr txBox="1"/>
              <p:nvPr/>
            </p:nvSpPr>
            <p:spPr>
              <a:xfrm>
                <a:off x="2856084" y="3979484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98" name="TextBox 197"/>
              <p:cNvSpPr txBox="1"/>
              <p:nvPr/>
            </p:nvSpPr>
            <p:spPr>
              <a:xfrm>
                <a:off x="2546547" y="391568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99" name="TextBox 198"/>
              <p:cNvSpPr txBox="1"/>
              <p:nvPr/>
            </p:nvSpPr>
            <p:spPr>
              <a:xfrm>
                <a:off x="2346631" y="3984084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</p:grpSp>
        <p:sp>
          <p:nvSpPr>
            <p:cNvPr id="135" name="Right Arrow 134"/>
            <p:cNvSpPr/>
            <p:nvPr/>
          </p:nvSpPr>
          <p:spPr>
            <a:xfrm>
              <a:off x="1929315" y="3915535"/>
              <a:ext cx="286146" cy="250166"/>
            </a:xfrm>
            <a:prstGeom prst="rightArrow">
              <a:avLst>
                <a:gd name="adj1" fmla="val 50000"/>
                <a:gd name="adj2" fmla="val 94828"/>
              </a:avLst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922067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307980" y="3929941"/>
            <a:ext cx="6218069" cy="1402900"/>
            <a:chOff x="1321417" y="2903575"/>
            <a:chExt cx="6218069" cy="1402900"/>
          </a:xfrm>
        </p:grpSpPr>
        <p:grpSp>
          <p:nvGrpSpPr>
            <p:cNvPr id="37" name="Group 36"/>
            <p:cNvGrpSpPr/>
            <p:nvPr/>
          </p:nvGrpSpPr>
          <p:grpSpPr>
            <a:xfrm>
              <a:off x="1321417" y="2903575"/>
              <a:ext cx="6181462" cy="905647"/>
              <a:chOff x="277620" y="3361502"/>
              <a:chExt cx="8498850" cy="1135015"/>
            </a:xfrm>
          </p:grpSpPr>
          <p:grpSp>
            <p:nvGrpSpPr>
              <p:cNvPr id="59" name="Group 12"/>
              <p:cNvGrpSpPr/>
              <p:nvPr/>
            </p:nvGrpSpPr>
            <p:grpSpPr>
              <a:xfrm>
                <a:off x="1076158" y="3513125"/>
                <a:ext cx="7700312" cy="983392"/>
                <a:chOff x="393700" y="912372"/>
                <a:chExt cx="7700312" cy="983392"/>
              </a:xfrm>
            </p:grpSpPr>
            <p:pic>
              <p:nvPicPr>
                <p:cNvPr id="64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393700" y="912372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65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888545" y="912372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66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3383391" y="920323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67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4870284" y="920324"/>
                  <a:ext cx="1728883" cy="975440"/>
                </a:xfrm>
                <a:prstGeom prst="rect">
                  <a:avLst/>
                </a:prstGeom>
                <a:noFill/>
              </p:spPr>
            </p:pic>
            <p:pic>
              <p:nvPicPr>
                <p:cNvPr id="68" name="Picture 2" descr="http://www.microwaves101.com/encyclopedia/images/Transmission%20lines/general_Tline.jpg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6365129" y="920324"/>
                  <a:ext cx="1728883" cy="975440"/>
                </a:xfrm>
                <a:prstGeom prst="rect">
                  <a:avLst/>
                </a:prstGeom>
                <a:noFill/>
              </p:spPr>
            </p:pic>
          </p:grpSp>
          <p:cxnSp>
            <p:nvCxnSpPr>
              <p:cNvPr id="60" name="Straight Arrow Connector 59"/>
              <p:cNvCxnSpPr/>
              <p:nvPr/>
            </p:nvCxnSpPr>
            <p:spPr>
              <a:xfrm flipV="1">
                <a:off x="937577" y="3754230"/>
                <a:ext cx="0" cy="65200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Rectangle 60"/>
              <p:cNvSpPr/>
              <p:nvPr/>
            </p:nvSpPr>
            <p:spPr>
              <a:xfrm>
                <a:off x="277620" y="3789448"/>
                <a:ext cx="858302" cy="421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1050" dirty="0"/>
                  <a:t>V</a:t>
                </a:r>
                <a:r>
                  <a:rPr lang="en-GB" sz="1050" baseline="-25000" dirty="0"/>
                  <a:t>in</a:t>
                </a:r>
                <a:r>
                  <a:rPr lang="en-GB" sz="1050" dirty="0"/>
                  <a:t>(t) </a:t>
                </a:r>
              </a:p>
            </p:txBody>
          </p:sp>
          <p:cxnSp>
            <p:nvCxnSpPr>
              <p:cNvPr id="62" name="Straight Arrow Connector 61"/>
              <p:cNvCxnSpPr/>
              <p:nvPr/>
            </p:nvCxnSpPr>
            <p:spPr>
              <a:xfrm flipV="1">
                <a:off x="2489816" y="3521075"/>
                <a:ext cx="214212" cy="397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 62"/>
              <p:cNvSpPr/>
              <p:nvPr/>
            </p:nvSpPr>
            <p:spPr>
              <a:xfrm>
                <a:off x="1958113" y="3361502"/>
                <a:ext cx="706632" cy="421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1050" dirty="0" err="1"/>
                  <a:t>I</a:t>
                </a:r>
                <a:r>
                  <a:rPr lang="en-GB" sz="1050" baseline="-25000" dirty="0" err="1"/>
                  <a:t>in</a:t>
                </a:r>
                <a:r>
                  <a:rPr lang="en-GB" sz="1050" dirty="0"/>
                  <a:t>(t)</a:t>
                </a: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 flipH="1">
              <a:off x="2716552" y="3665037"/>
              <a:ext cx="4822934" cy="641438"/>
              <a:chOff x="1863306" y="3716795"/>
              <a:chExt cx="4707272" cy="641438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1923690" y="376111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1984075" y="381287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2061712" y="375249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2035833" y="385600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1984074" y="391639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1871931" y="393364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1871931" y="3864634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2173856" y="389051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2251494" y="389051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2389517" y="388188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2475781" y="388188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691442" y="3899139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242868" y="379562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096219" y="395952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337759" y="385600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2147978" y="377837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1863306" y="373523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897812" y="399403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898476" y="389914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6272098" y="3917339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5776443" y="391027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5420169" y="391027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5270929" y="385325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5210928" y="393861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5061688" y="388160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4920780" y="387447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4771540" y="3817452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4677425" y="393861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4528185" y="388160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4537666" y="387447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4388425" y="3817452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401218" y="393861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4251977" y="388160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183090" y="393364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4091682" y="387482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3964822" y="387447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3891766" y="394321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193331" y="3780592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3883795" y="371679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3683879" y="3785192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3847548" y="384617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3538012" y="3782374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3338096" y="385077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3766769" y="395587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3457233" y="3892074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3257317" y="3960471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3648861" y="392904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3339325" y="386524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3139409" y="393364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3403010" y="386274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3093474" y="379894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2893558" y="386734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3275131" y="391665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2965595" y="3852858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2765679" y="3921255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3139032" y="387700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2829496" y="3813203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07" name="TextBox 106"/>
              <p:cNvSpPr txBox="1"/>
              <p:nvPr/>
            </p:nvSpPr>
            <p:spPr>
              <a:xfrm>
                <a:off x="2629580" y="388160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2911091" y="382966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2601555" y="3765870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2401639" y="383426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2856084" y="3979484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2546547" y="3915687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2346631" y="3984084"/>
                <a:ext cx="298480" cy="364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GB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Bauhaus 93" pitchFamily="82" charset="0"/>
                    <a:cs typeface="Lucida Sans Unicode" pitchFamily="34" charset="0"/>
                  </a:rPr>
                  <a:t>e</a:t>
                </a:r>
              </a:p>
            </p:txBody>
          </p:sp>
        </p:grpSp>
        <p:sp>
          <p:nvSpPr>
            <p:cNvPr id="39" name="Right Arrow 38"/>
            <p:cNvSpPr/>
            <p:nvPr/>
          </p:nvSpPr>
          <p:spPr>
            <a:xfrm>
              <a:off x="1929315" y="3915535"/>
              <a:ext cx="286146" cy="250166"/>
            </a:xfrm>
            <a:prstGeom prst="rightArrow">
              <a:avLst>
                <a:gd name="adj1" fmla="val 50000"/>
                <a:gd name="adj2" fmla="val 94828"/>
              </a:avLst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82698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4" name="Picture 2" descr="maxresdefault.jpg (1280×720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" r="3572" b="2062"/>
          <a:stretch/>
        </p:blipFill>
        <p:spPr bwMode="auto">
          <a:xfrm>
            <a:off x="0" y="933061"/>
            <a:ext cx="9150162" cy="51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85113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1026" name="Picture 2" descr="https://i.ytimg.com/vi/tuhA8fc7m1Y/maxresdefau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3730"/>
            <a:ext cx="9139853" cy="514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70226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2050" name="Picture 2" descr="BBCHD_testcard_big.jpg (1920×108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" y="857509"/>
            <a:ext cx="9143079" cy="514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98741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/>
          <p:cNvSpPr txBox="1">
            <a:spLocks noChangeArrowheads="1"/>
          </p:cNvSpPr>
          <p:nvPr/>
        </p:nvSpPr>
        <p:spPr bwMode="auto">
          <a:xfrm>
            <a:off x="433388" y="361950"/>
            <a:ext cx="165622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Slide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3388" y="1265874"/>
            <a:ext cx="2329484" cy="5883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dirty="0"/>
              <a:t>text </a:t>
            </a:r>
            <a:r>
              <a:rPr lang="en-GB" dirty="0" err="1"/>
              <a:t>text</a:t>
            </a:r>
            <a:r>
              <a:rPr lang="en-GB" dirty="0"/>
              <a:t> </a:t>
            </a:r>
            <a:r>
              <a:rPr lang="en-GB" dirty="0" err="1"/>
              <a:t>text</a:t>
            </a:r>
            <a:endParaRPr lang="en-GB" dirty="0"/>
          </a:p>
          <a:p>
            <a:r>
              <a:rPr lang="en-GB" dirty="0"/>
              <a:t>no text refit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3388" y="2286710"/>
            <a:ext cx="109869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Bullets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dirty="0"/>
              <a:t>bullets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dirty="0"/>
              <a:t>bullets 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dirty="0"/>
              <a:t>bullets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3388" y="3855904"/>
            <a:ext cx="27027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/>
              <a:t>caption … caption …  caption .. caption .. caption </a:t>
            </a:r>
            <a:r>
              <a:rPr lang="en-GB" sz="1400" i="1" dirty="0" err="1"/>
              <a:t>caption</a:t>
            </a:r>
            <a:r>
              <a:rPr lang="en-GB" sz="1400" i="1" dirty="0"/>
              <a:t> . caption . caption </a:t>
            </a:r>
            <a:r>
              <a:rPr lang="en-GB" sz="1400" i="1" dirty="0" err="1"/>
              <a:t>caption</a:t>
            </a:r>
            <a:r>
              <a:rPr lang="en-GB" sz="1400" i="1" dirty="0"/>
              <a:t> </a:t>
            </a:r>
            <a:r>
              <a:rPr lang="en-GB" sz="1400" i="1" dirty="0" err="1"/>
              <a:t>caption</a:t>
            </a:r>
            <a:endParaRPr lang="en-GB" sz="1400" i="1" dirty="0"/>
          </a:p>
          <a:p>
            <a:pPr algn="ctr"/>
            <a:endParaRPr lang="en-GB" sz="1400" i="1" dirty="0"/>
          </a:p>
        </p:txBody>
      </p:sp>
    </p:spTree>
    <p:extLst>
      <p:ext uri="{BB962C8B-B14F-4D97-AF65-F5344CB8AC3E}">
        <p14:creationId xmlns:p14="http://schemas.microsoft.com/office/powerpoint/2010/main" val="233744577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1150</TotalTime>
  <Words>5621</Words>
  <Application>Microsoft Office PowerPoint</Application>
  <PresentationFormat>On-screen Show (4:3)</PresentationFormat>
  <Paragraphs>1148</Paragraphs>
  <Slides>105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3" baseType="lpstr">
      <vt:lpstr>Arial</vt:lpstr>
      <vt:lpstr>Bauhaus 93</vt:lpstr>
      <vt:lpstr>Forte</vt:lpstr>
      <vt:lpstr>Lucida Sans Unicode</vt:lpstr>
      <vt:lpstr>Times New Roman</vt:lpstr>
      <vt:lpstr>Template</vt:lpstr>
      <vt:lpstr>Custom Design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n/a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JFoss</dc:creator>
  <cp:lastModifiedBy>Jeremy Foss</cp:lastModifiedBy>
  <cp:revision>103</cp:revision>
  <cp:lastPrinted>2017-04-20T07:50:46Z</cp:lastPrinted>
  <dcterms:created xsi:type="dcterms:W3CDTF">2006-09-10T21:25:56Z</dcterms:created>
  <dcterms:modified xsi:type="dcterms:W3CDTF">2020-04-24T12:33:43Z</dcterms:modified>
</cp:coreProperties>
</file>